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cb9a763d-a33d-ba2c-03ce-8a37bcd38004}">
          <p14:sldIdLst>
            <p14:sldId id="256"/>
          </p14:sldIdLst>
        </p14:section>
        <p14:section name="Découvrir" id="{109c143c-d9fc-606d-b809-1127e80a279e}">
          <p14:sldIdLst>
            <p14:sldId id="257"/>
            <p14:sldId id="258"/>
            <p14:sldId id="259"/>
            <p14:sldId id="260"/>
            <p14:sldId id="261"/>
          </p14:sldIdLst>
        </p14:section>
        <p14:section name="Verbe → nom" id="{36d7ce93-3d56-31f0-93c5-51658a18079e}">
          <p14:sldIdLst>
            <p14:sldId id="262"/>
            <p14:sldId id="263"/>
            <p14:sldId id="264"/>
            <p14:sldId id="265"/>
            <p14:sldId id="266"/>
          </p14:sldIdLst>
        </p14:section>
        <p14:section name="Adjectif → nom" id="{a4dda23c-1643-f6d1-ee74-c99d0e6f6bbf}">
          <p14:sldIdLst>
            <p14:sldId id="267"/>
            <p14:sldId id="268"/>
          </p14:sldIdLst>
        </p14:section>
        <p14:section name="Nom → adjectif" id="{ed3076df-c467-f5f3-5382-f29dc7d39597}">
          <p14:sldIdLst>
            <p14:sldId id="269"/>
            <p14:sldId id="270"/>
          </p14:sldIdLst>
        </p14:section>
        <p14:section name="Verbe → adjectif" id="{f90c920e-3a40-6395-2397-63f3069a144e}">
          <p14:sldIdLst>
            <p14:sldId id="271"/>
            <p14:sldId id="272"/>
          </p14:sldIdLst>
        </p14:section>
        <p14:section name="Vers le verbe" id="{fd16d6ff-a891-80a2-f6d3-630d0e5be11e}">
          <p14:sldIdLst>
            <p14:sldId id="273"/>
            <p14:sldId id="274"/>
          </p14:sldIdLst>
        </p14:section>
        <p14:section name="Adjectif et adverbe" id="{e85b3a3b-0fe1-8f74-088a-a9055738641b}">
          <p14:sldIdLst>
            <p14:sldId id="275"/>
            <p14:sldId id="276"/>
          </p14:sldIdLst>
        </p14:section>
        <p14:section name="Combiner" id="{f7976bbb-755d-9d7f-2946-9320b3da1045}">
          <p14:sldIdLst>
            <p14:sldId id="277"/>
            <p14:sldId id="278"/>
            <p14:sldId id="279"/>
            <p14:sldId id="280"/>
            <p14:sldId id="281"/>
            <p14:sldId id="282"/>
            <p14:sldId id="283"/>
          </p14:sldIdLst>
        </p14:section>
        <p14:section name="Oefeningen" id="{36b8d6cc-99a8-9060-2273-1b4248aed0bf}">
          <p14:sldIdLst>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Clôture" id="{4cffb03a-3cc0-7da0-7482-2542a4e29e06}">
          <p14:sldIdLst>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un même mot change de catégorie avec un petit morceau.
Demandez : « En français, combien de mots connaissez-vous avec travail ? » (travailler, travailleur, travailleuse, travaillé…). Le néerlandais fait pareil, avec ses propres suffixes.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Le M14 a présenté -ing, -er, -heid, on-, -loos : on systématise et on ajoute les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observer, sans règle, que des suffixes changent la catégorie.
Par deux, 3 minutes : classer les huit mots et souligner le « morceau » ajouté. Réponses (diapo 24) : noms het werk, de werker, de werking, de werkloosheid · verbes werken, bewerken · adjectifs werkloos, werkbaar. Indices : de / het devant = nom ; -en = verbe ; -loos, -baar = adjectif.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Rappeler les catégories et leur rôle (sujet, verbe, complément, adjectif, adverbe).
Insistez sur le lien catégorie → fonction : pour qu'une action devienne sujet (Het roken is verboden), il faut un nom ; pour décrire un nom, un adjectif.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la carte complète (schéma DV1).
Cette carte revient en miniature sur chaque diapo de règle (en haut à droite). Invitez à la photographier : elle sert de sommaire.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construction d'un mot dérivé (schéma DV3).
Même logique qu'au M14 (« le dernier mot commande ») : ici, le dernier morceau commande. ver- s'ajoute devant l'adjectif et -en est la terminaison de l'infinitif (ik vergroot) : comme le français a-grand-ir.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Nominaliser un verbe avec het + infinitif (la règle sans exception).
het + infinitif est la « roue de secours » : quand on ne connaît pas le nom, il marche toujours. het ge- (het geblaf, het geroep, het gedoe) se reconnaît facilement à l'oral. ⚠ het gebruik (diapo 9) est un radical à préfixe, pas un het + infinitif.
Sur les panneaux et dans les règlements : Het parkeren is verboden. Het betreden van het gras is verboden.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noms en -ing et connaître leurs limites.
Lien M14. Astuce : -ing fonctionne très bien avec les verbes à préfixe ou à particule (de opleiding, de aanmelding, de inschrijving, de bestelling). Quand -ing n'existe pas, utilisez het + infinitif.
Le sens glisse parfois vers le résultat : de lezing = la conférence (la lecture = het lezen) ; de woning = le logement ; de regering = le gouvernement ; de opleiding = la formation. -ing est très fréquent avec un préfixe ou une particule : be-, ver-, uit-, op-… Pluriel en -en : de vergaderingen.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noms formés sur le radical seul et leur article.
La règle « préfixe inséparable → souvent het » est une tendance, pas une loi. Les changements de voyelle sont à apprendre comme du vocabulaire ; certains rappellent l'imperfectum (springen → sprong → de sprong), d'autres non (spreken → het gesprek).
Le radical seul désigne l’acte ou le résultat : de start, het vertrek, de vraag. Autres exceptions : de verhuis (BE, verhuizen) ; het spel. Vérifiez l’article au dictionnaire.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nom de la personne (et de l'appareil) à partir du verbe.
leraar est une exception (leren ne finit pas par -el, -er, -en non accentué). Aujourd'hui, la forme en -er s'emploie souvent pour tout le monde (Ze is een goede werker) ; les formes féminines restent courantes pour les métiers (verkoopster, lerares). Consonne double après voyelle courte : bakken → bakker (M1).
Au féminin, si on le précise : -ster (de verkoopster, de schrijfster), -es (de lerares), -in (de vriendin). Souvent la même forme pour tous : de manager, de collega, de dokter. Attention : leren → de leraar (-aar malgré l’accent).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Exploiter la ressemblance avec le français (-er → -ation).
Prononciation : -tie se dit [tsi] ou [si], et l'accent tombe sur la syllabe d'avant (informatie, organisatie). En Belgique, de reservatie est courant ; aux Pays-Bas, de reservering.
Les verbes en -eren viennent souvent du français : le nom ressemble au mot français en -tion. L’accent tombe avant -tie : informatie. Dans l’autre sens (diapo 18) : de organisatie → organiseren. Aux Pays-Bas : de reservering.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-heid et -te pour former un nom à partir d'un adjectif.
Les dimensions vont par paires : lang / lengte, breed / breedte, hoog / hoogte, diep / diepte, groot / grootte, dik / dikte. Gezondheid! = « À tes souhaits ! » (M14).
Pluriel : -heden, -tes (de mogelijkheden). En cas de doute, -heid est le plus fréquent et le plus productif. Autres exceptions : lang → de lengte (la voyelle change), koud → de kou(de).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noms en -iteit et utiliser l'adjectif comme nom.
« le plus difficile » = het moeilijkste (superlatif). -iteit porte l'accent (activiteit). Het leuke is dat… est très fréquent à l'oral pour donner un avis (lien M27).
Le français fait pareil : « le difficile, c’est… », « les malades ». De nieuwe begint maandag : la nouvelle / le nouveau.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adjectifs à partir d'un nom avec -ig, -lijk, -isch.
Prononciation de -lijk : [lək], avec le e de « le », jamais « laïk ». dagelijks, jaarlijks, wekelijks : le -s est fixe ; devant un nom : de dagelijkse vergadering.
-ig = qui a… ; -lijk = qui est comme… ; -isch = le français -ique. Orthographe : voyelle courte → consonne double (de zon → zonnig, diapo 23). Prononciation : -lijk se dit [lək]. Avec -e de liaison : vriendelijk, vrouwelijk ; avec -s : dagelijks.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adjectifs de manque et d'abondance, et des adjectifs de matière.
-rijk (riche en) : kleurrijk, leerrijk (BE : instructif), succesrijk. -vol est plus fréquent. glas → glazen : s → z entre voyelles (diapo 23).
werkloos = sans emploi · draadloos = sans fil. -e- de liaison : hopeloos, nutteloos. Les adjectifs de matière en -en sont invariables (M21) : een houten tafel ; plastic ne change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adjectifs de possibilité avec -baar et leur contraire avec on-.
betaalbaar = abordable (pas cher) ; onbetaalbaar = hors de prix… ou inestimable. L'accent reste sur la racine : betaalbaar.
Le radical est la forme de ik : lezen → ik lees → leesbaar ; eten → ik eet → eetbaar. Mots d’origine française : acceptabel, flexibel, rendabel.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participes présent et passé comme adjectifs.
Lien M15 (formation du participe) et M21 (le -e). dringend est fréquent dans les e-mails (Dringend: …).
Participe présent : infinitif + -d = « -ant » (een spannende film). Participe passé : pas de ge- après be-, ver- (vermoeid). Attention : interessant = intéressant ; geïnteresseerd = intéressé.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verbes à partir de noms.
antwoorden op een vraag = een vraag beantwoorden : be- rend le verbe transitif (sans préposition). Autres : het oordeel → beoordelen (évaluer). Le radical du nouveau verbe = le nom : ik fiets, ik mail.
Très productif avec les mots anglais : appen, googelen, sms’en, filmen. Et -eren pour les mots français : de organisatie → organiseren ; de controle → controleren. be- + nom donne un verbe avec un complément direct : het antwoord → beantwoorden (een vraag beantwoorden).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verbes de changement à partir d'adjectifs.
Le nom en -ing suit : de vergroting, de verbetering, de verlenging (diapo 25, ex. 13). Vocabulaire très utile au travail : een contract verlengen, de service verbeteren.
Avec le comparatif : verbeteren, verergeren, verminderen. Le contraire se forme avec un autre adjectif : vergroten ↔ verkleinen, verlengen ↔ verkorten. (ge)makkelijk → vergemakkelijken.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que l'adverbe a la même forme que l'adjectif (sans -e).
C'est la meilleure nouvelle du module : aucune transformation. Le piège vient du français (-ment) : certain·es apprenant·es inventent -lijk (snellijk). goed = bon et bien (Het eten is goed. Je kookt goed.).
Adverbes sans adjectif : helaas (malheureusement), misschien, graag. gelukkig = heureux et heureusement. -erwijs / -gewijs : gelukkigerwijs, stapsgewijs. L’adverbe ne prend jamais de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quatre préfixes fréquents qui changent le sens sans changer la catégorie.
mislopen = rater (Ik ben de trein misgelopen, BE). ontdekken = dé-couvrir, ontwikkelen = dé-velopper : un pont avec le français. ⚠ ontevreden = on- + tevreden (pas ont-). on- s'utilise surtout avec des adjectifs « positifs » (ongelukkig, onvriendelijk) ; pour les autres, on prend l'antonyme (slecht ↔ goed).
Le préfixe garde la catégorie (sauf be- et ver-, qui font des verbes). on- ne marche pas avec tous les adjectifs : ✗ onslecht → goed. Certains sens sont figés : herhalen = répéter.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Déduire de ou het du suffixe.
Lien M5 (les familles DE / HET). -schap : de vriendschap, de wetenschap mais het lidmaatschap, het voorzitterschap, het ouderschap (statut) et het landschap, het gezelschap, het gereedschap. -er : seulement pour les personnes et les appareils (het nummer, het water ne sont pas dérivés).
Comme au M14 : le dernier élément commande. Exceptions à apprendre : het schilderij, de datum, het gebergte, de verkoop.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les règles d'orthographe aux mots dérivés.
Rien de nouveau : ce sont les règles du pluriel et du verbe (M4). Faites couper au tableau : ver-gro-ten, zon-nig, gla-zen.
Syllabe fermée : deux lettres (lezen → leesbaar). Voyelle courte : bakken → de bakker ; de pot → potten. f / v, s / z : lief → de liefde (f reste devant consonne). Avant d’écrire le mot dérivé : coupez en syllabes et appliquez la règle (M1,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l'échauffement et montrer que les suffixes s'empilent.
Comparez avec l'hypothèse des apprenant·es (diapo 3). de werking = le fonctionnement (de werking van de machine) ; bewerken = travailler, modifier (een tekst bewerken).
Les suffixes s’empilent : nom → adjectif → nom. Chaque suffixe change la catégorie ; le dernier décide (de werkloosheid). Apprenez les mots en familles : un mot connu en donne cinq ou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une phrase verbale en groupe nominal (et inversement).
Le style nominal est typique des titres de presse, des notes de service et des e-mails administratifs. À l'oral, il paraît lourd : on revient au verbe. Faites lire un titre de journal flamand (Stijging van de energieprijzen) et reformuler à l'oral.
Le style nominal sert à l’écrit : titres, notes de service, e-mails formels. Le verbe devient un nom (-ing, radical…) ; le sujet et le complément passent derrière van ; l’adverbe devient un adjectif (+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correspondances de suffixes entre le français et le néerlandais.
Jeu rapide : l'enseignant·e dit un mot français en -tion, -ité, -ique, le groupe propose la forme néerlandaise, puis vérifie au dictionnaire. Attention : -tie = de, -isme = het.
Le pont aide, le dictionnaire confirme. Faux ami : de lezing = la conférence (la lecture = het lezen).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Anticiper les erreurs typiques.
Pour chaque piège, renvoyez à la diapo de règle (20, 8, 12, 22, 16,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Invitez à photographier la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 1 et 2 en séance 1, ex. 3 à 6 en séance 2, ex. 7 à 13 en séance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la catégorie d'un mot grâce à son suffixe ou à son article.
Faites entourer l'indice : article, suffixe (-ing, -heid, -te, -baar, -ig, -lijk, -loos, -isch), -en / -eren du verbe. het lezen : un infinitif avec het = un nom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Reconnaître la catégorie d'un mot grâce à son suffixe ou à son article.
Faites entourer l'indice : article, suffixe (-ing, -heid, -te, -baar, -ig, -lijk, -loos, -isch), -en / -eren du verbe. het lezen : un infinitif avec het = un nom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nom demandé (action, personne, appareil) avec son article.
Les cases incluent l'article : le trouver fait partie de l'exercice. N° 2 : ✗ de roking. N° 6 : au masculin, de verkoper. N° 3 : -der après r ; n° 9 : -aar après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le nom demandé (action, personne, appareil) avec son article.
Les cases incluent l'article : le trouver fait partie de l'exercice. N° 2 : ✗ de roking. N° 6 : au masculin, de verkoper. N° 3 : -der après r ; n° 9 : -aar après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le bon suffixe pour nominaliser un adjectif.
Faites justifier : qualité abstraite ou mesure ? lang → lengte : la voyelle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le bon suffixe pour nominaliser un adjectif.
Faites justifier : qualité abstraite ou mesure ? lang → lengte : la voyelle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et accorder un adjectif dérivé d'un nom, en contexte.
N° 4 : houten est invariable (M21). N° 3 : een technisch probleem (het probleem, pas de -e après 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et accorder un adjectif dérivé d'un nom, en contexte.
N° 4 : houten est invariable (M21). N° 3 : een technisch probleem (het probleem, pas de -e après 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Répondre avec un adjectif en -baar ou on-…-baar.
N° 6 : zichtbaar (exception, diapo 16). Prolongement : chacun·e invente une question pour un·e voisin·e.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Répondre avec un adjectif en -baar ou on-…-baar.
N° 6 : zichtbaar (exception, diapo 16). Prolongement : chacun·e invente une question pour un·e voisin·e.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verbes de changement à partir d'adjectifs.
Demandez ensuite le nom en -ing : de vergroting, de verkorting, de verbetering, de verlenging, de verwarming, de vernieuwing. de refter (BE) = la cantine.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des verbes de changement à partir d'adjectifs.
Demandez ensuite le nom en -ing : de vergroting, de verkorting, de verbetering, de verlenging, de verwarming, de vernieuwing. de refter (BE) = la cantine.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les adverbes français en -ment sans transformation.
N° 3 : l'impératif = la forme de ik : Rijd! (Rij! à l'oral). N° 5 et 6 : adverbes « à part » (diapo 20). Rappel M3 : l'adverbe en case ① entraîne l'inversion.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Traduire les adverbes français en -ment sans transformation.
N° 3 : l'impératif = la forme de ik : Rijd! (Rij! à l'oral). N° 5 et 6 : adverbes « à part » (diapo 20). Rappel M3 : l'adverbe en case ① entraîne l'inversion.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une famille complète à partir d'un verbe.
lezen : l'action est het lezen (✗ de lezing = la conférence). gebruiken : het gebruik (radical à préfixe, het), bruikbaar (exception). Accepter aussi het betalen.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Construire une famille complète à partir d'un verbe.
lezen : l'action est het lezen (✗ de lezing = la conférence). gebruiken : het gebruik (radical à préfixe, het), bruikbaar (exception). Accepter aussi het betalen.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des phrases en style nominal.
N° 5 : tevreden (adjectif) → de tevredenheid. N° 6 : dans un courrier formel, on lit souvent Spoedige betaling gevraagd. Variante : faire le chemin inverse avec des titres de journaux.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des phrases en style nominal.
N° 5 : tevreden (adjectif) → de tevredenheid. N° 6 : dans un courrier formel, on lit souvent Spoedige betaling gevraagd. Variante : faire le chemin inverse avec des titres de journaux.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Déduire l'article du suffixe.
Faites citer le suffixe-indice pour chaque mot (boussole, diapo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Déduire l'article du suffixe.
Faites citer le suffixe-indice pour chaque mot (boussole, diapo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de dérivation dans un écrit professionnel.
Faites nommer la règle pour chaque erreur (diapos 8, 11, 12, 16, 20). a.u.b. = alstublieft.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de dérivation dans un écrit professionnel.
Faites nommer la règle pour chaque erreur (diapos 8, 11, 12, 16, 20). a.u.b. = alstublieft.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un maximum de mots dérivés, de façon ludique.
Imprimez les cartes. L'équipe adverse peut contester un mot : on vérifie au dictionnaire (Van Dale, woorden.org). Exemples de réponses : speel- → spelen, de speler, het spel, speels, het speelgoed · groot- → de grootte, vergroten, de vergroting.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passer du style verbal (oral) au style nominal (avis écrit).
Wegens werken (BE) = « pour cause de travaux » (de werken = les travaux en Belgique ; NL : de werkzaamheden). Gelieve … te + infinitif = formule polie des avis (Gelieve de trap te gebruiken). Exemple d'avis : Verbouwing – Vergroting van de refter · Vernieuwing van de computers · Verbetering van de verwarming · Lift buiten gebruik tot 15 mei · Sluiting van de parking op 3 mei · Heropening van het kantoor op 1 juni.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de vergadering
2. gevaarlijk
3. Hij werkt snel.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A2–B1 · La dérivation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A2–B1 · La dérivation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F_PAG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6B7686"/>
                </a:solidFill>
              </a:rPr>
              <a:t>Néerlandais · A2–B1 · La dérivation</a:t>
            </a:r>
            <a:endParaRPr lang="en-US" sz="1000" dirty="0"/>
          </a:p>
        </p:txBody>
      </p:sp>
      <p:sp>
        <p:nvSpPr>
          <p:cNvPr id="3" name="Text 1"/>
          <p:cNvSpPr/>
          <p:nvPr>
            <p:ph idx="101" type="title" hasCustomPrompt="1"/>
          </p:nvPr>
        </p:nvSpPr>
        <p:spPr>
          <a:xfrm>
            <a:off x="1371600" y="548640"/>
            <a:ext cx="9445752" cy="731520"/>
          </a:xfrm>
          <a:prstGeom prst="rect">
            <a:avLst/>
          </a:prstGeom>
          <a:noFill/>
          <a:ln/>
        </p:spPr>
        <p:txBody>
          <a:bodyPr wrap="square" rtlCol="0"/>
          <a:lstStyle>
            <a:lvl1pPr algn="ctr" indent="0" marL="0">
              <a:buNone/>
              <a:defRPr lang="en-US" sz="3000" b="1" dirty="0">
                <a:solidFill>
                  <a:srgbClr val="17375E"/>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F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C9D4E2"/>
                </a:solidFill>
              </a:rPr>
              <a:t>Néerlandais · A2–B1 · La dérivation</a:t>
            </a:r>
            <a:endParaRPr lang="en-US" sz="1000" dirty="0"/>
          </a:p>
        </p:txBody>
      </p:sp>
      <p:sp>
        <p:nvSpPr>
          <p:cNvPr id="3" name="Text 1"/>
          <p:cNvSpPr/>
          <p:nvPr>
            <p:ph idx="101" type="title" hasCustomPrompt="1"/>
          </p:nvPr>
        </p:nvSpPr>
        <p:spPr>
          <a:xfrm>
            <a:off x="1371600" y="548640"/>
            <a:ext cx="9445752" cy="731520"/>
          </a:xfrm>
          <a:prstGeom prst="rect">
            <a:avLst/>
          </a:prstGeom>
          <a:noFill/>
          <a:ln/>
        </p:spPr>
        <p:txBody>
          <a:bodyPr wrap="square" rtlCol="0"/>
          <a:lstStyle>
            <a:lvl1pPr algn="ctr" indent="0" marL="0">
              <a:buNone/>
              <a:defRPr lang="en-US" sz="3000" b="1" dirty="0">
                <a:solidFill>
                  <a:srgbClr val="FFFFFF"/>
                </a:solidFill>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2"/>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slideLayout" Target="../slideLayouts/slideLayout5.xml"/><Relationship Id="rId11"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Werken,</a:t>
            </a:r>
            <a:endParaRPr lang="en-US" sz="4200" dirty="0"/>
          </a:p>
          <a:p>
            <a:pPr algn="l" indent="0" marL="0">
              <a:buNone/>
            </a:pPr>
            <a:r>
              <a:rPr lang="en-US" sz="4200" b="1" dirty="0">
                <a:solidFill>
                  <a:schemeClr val="bg1"/>
                </a:solidFill>
              </a:rPr>
              <a:t>de werking,</a:t>
            </a:r>
            <a:endParaRPr lang="en-US" sz="4200" dirty="0"/>
          </a:p>
          <a:p>
            <a:pPr algn="l" indent="0" marL="0">
              <a:buNone/>
            </a:pPr>
            <a:r>
              <a:rPr lang="en-US" sz="4200" b="1" dirty="0">
                <a:solidFill>
                  <a:schemeClr val="bg1"/>
                </a:solidFill>
              </a:rPr>
              <a:t>werkbaar</a:t>
            </a:r>
            <a:endParaRPr lang="en-US" sz="4200" dirty="0"/>
          </a:p>
        </p:txBody>
      </p:sp>
      <p:sp>
        <p:nvSpPr>
          <p:cNvPr id="3"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buNone/>
            </a:pPr>
            <a:r>
              <a:rPr lang="en-US" sz="2000" i="1" dirty="0">
                <a:solidFill>
                  <a:schemeClr val="bg2"/>
                </a:solidFill>
              </a:rPr>
              <a:t>La dérivation : passer d’une catégorie de mot à l’autre</a:t>
            </a:r>
            <a:endParaRPr lang="en-US" sz="2000" dirty="0"/>
          </a:p>
          <a:p>
            <a:pPr algn="l" indent="0" marL="0">
              <a:buNone/>
            </a:pPr>
            <a:r>
              <a:rPr lang="en-US" sz="1000" dirty="0">
                <a:solidFill>
                  <a:schemeClr val="bg2"/>
                </a:solidFill>
              </a:rPr>
              <a:t> </a:t>
            </a:r>
            <a:endParaRPr lang="en-US" sz="2000" dirty="0"/>
          </a:p>
          <a:p>
            <a:pPr algn="l" indent="0" marL="0">
              <a:buNone/>
            </a:pPr>
            <a:r>
              <a:rPr lang="en-US" sz="2000" b="1" dirty="0">
                <a:solidFill>
                  <a:srgbClr val="FFFFFF"/>
                </a:solidFill>
              </a:rPr>
              <a:t>nom · verbe · adjectif · adverbe</a:t>
            </a:r>
            <a:endParaRPr lang="en-US" sz="2000" dirty="0"/>
          </a:p>
        </p:txBody>
      </p:sp>
      <p:sp>
        <p:nvSpPr>
          <p:cNvPr id="4" name="Shape 2"/>
          <p:cNvSpPr/>
          <p:nvPr/>
        </p:nvSpPr>
        <p:spPr>
          <a:xfrm>
            <a:off x="548640" y="640080"/>
            <a:ext cx="2514600" cy="384048"/>
          </a:xfrm>
          <a:prstGeom prst="roundRect">
            <a:avLst>
              <a:gd name="adj" fmla="val 14286"/>
            </a:avLst>
          </a:prstGeom>
          <a:solidFill>
            <a:srgbClr val="D9700F"/>
          </a:solidFill>
          <a:ln w="12700">
            <a:solidFill>
              <a:srgbClr val="FFFFFF">
                <a:alpha val="0"/>
              </a:srgbClr>
            </a:solidFill>
            <a:prstDash val="solid"/>
          </a:ln>
        </p:spPr>
      </p:sp>
      <p:sp>
        <p:nvSpPr>
          <p:cNvPr id="5" name="Text 3"/>
          <p:cNvSpPr txBox="1"/>
          <p:nvPr/>
        </p:nvSpPr>
        <p:spPr>
          <a:xfrm>
            <a:off x="548640" y="640080"/>
            <a:ext cx="2514600"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COMPLÉMENT · A2–B1</a:t>
            </a:r>
            <a:endParaRPr lang="en-US" sz="1300" dirty="0"/>
          </a:p>
        </p:txBody>
      </p:sp>
      <p:sp>
        <p:nvSpPr>
          <p:cNvPr id="7" name="Shape 4"/>
          <p:cNvSpPr/>
          <p:nvPr/>
        </p:nvSpPr>
        <p:spPr>
          <a:xfrm>
            <a:off x="6583680" y="1234440"/>
            <a:ext cx="5029200" cy="3977640"/>
          </a:xfrm>
          <a:prstGeom prst="roundRect">
            <a:avLst>
              <a:gd name="adj" fmla="val 3218"/>
            </a:avLst>
          </a:prstGeom>
          <a:solidFill>
            <a:srgbClr val="FFFFFF"/>
          </a:solidFill>
          <a:ln w="12700">
            <a:solidFill>
              <a:srgbClr val="FFFFFF">
                <a:alpha val="0"/>
              </a:srgbClr>
            </a:solidFill>
            <a:prstDash val="solid"/>
          </a:ln>
        </p:spPr>
      </p:sp>
      <p:sp>
        <p:nvSpPr>
          <p:cNvPr id="8" name="Shape 5"/>
          <p:cNvSpPr/>
          <p:nvPr/>
        </p:nvSpPr>
        <p:spPr>
          <a:xfrm>
            <a:off x="7068312" y="2651760"/>
            <a:ext cx="1133856" cy="1133856"/>
          </a:xfrm>
          <a:prstGeom prst="ellipse">
            <a:avLst/>
          </a:prstGeom>
          <a:solidFill>
            <a:srgbClr val="17375E"/>
          </a:solidFill>
          <a:ln w="12700">
            <a:solidFill>
              <a:srgbClr val="FFFFFF">
                <a:alpha val="0"/>
              </a:srgbClr>
            </a:solidFill>
            <a:prstDash val="solid"/>
          </a:ln>
        </p:spPr>
      </p:sp>
      <p:sp>
        <p:nvSpPr>
          <p:cNvPr id="9" name="Text 6"/>
          <p:cNvSpPr txBox="1"/>
          <p:nvPr/>
        </p:nvSpPr>
        <p:spPr>
          <a:xfrm>
            <a:off x="7068312" y="2926080"/>
            <a:ext cx="113385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werk-</a:t>
            </a:r>
            <a:endParaRPr lang="en-US" sz="1800" dirty="0"/>
          </a:p>
        </p:txBody>
      </p:sp>
      <p:sp>
        <p:nvSpPr>
          <p:cNvPr id="10" name="Shape 7"/>
          <p:cNvSpPr/>
          <p:nvPr/>
        </p:nvSpPr>
        <p:spPr>
          <a:xfrm flipV="1">
            <a:off x="8202168" y="2103120"/>
            <a:ext cx="530352" cy="1115568"/>
          </a:xfrm>
          <a:prstGeom prst="line">
            <a:avLst/>
          </a:prstGeom>
          <a:noFill/>
          <a:ln w="15875">
            <a:solidFill>
              <a:srgbClr val="B83227"/>
            </a:solidFill>
            <a:prstDash val="solid"/>
          </a:ln>
        </p:spPr>
      </p:sp>
      <p:sp>
        <p:nvSpPr>
          <p:cNvPr id="11" name="Text 8"/>
          <p:cNvSpPr txBox="1"/>
          <p:nvPr/>
        </p:nvSpPr>
        <p:spPr>
          <a:xfrm>
            <a:off x="8823960" y="1783080"/>
            <a:ext cx="2651760" cy="237744"/>
          </a:xfrm>
          <a:prstGeom prst="rect">
            <a:avLst/>
          </a:prstGeom>
          <a:noFill/>
          <a:ln/>
        </p:spPr>
        <p:txBody>
          <a:bodyPr wrap="square" lIns="0" tIns="0" rIns="0" bIns="0" rtlCol="0" anchor="ctr"/>
          <a:lstStyle/>
          <a:p>
            <a:pPr algn="l" indent="0" marL="0">
              <a:buNone/>
            </a:pPr>
            <a:r>
              <a:rPr lang="en-US" sz="950" b="1" spc="200" kern="0" dirty="0">
                <a:solidFill>
                  <a:srgbClr val="B83227"/>
                </a:solidFill>
                <a:latin typeface="Calibri" pitchFamily="34" charset="0"/>
                <a:ea typeface="Calibri" pitchFamily="34" charset="-122"/>
                <a:cs typeface="Calibri" pitchFamily="34" charset="-120"/>
              </a:rPr>
              <a:t>VERBE</a:t>
            </a:r>
            <a:endParaRPr lang="en-US" sz="950" dirty="0"/>
          </a:p>
        </p:txBody>
      </p:sp>
      <p:sp>
        <p:nvSpPr>
          <p:cNvPr id="12" name="Text 9"/>
          <p:cNvSpPr txBox="1"/>
          <p:nvPr/>
        </p:nvSpPr>
        <p:spPr>
          <a:xfrm>
            <a:off x="8823960" y="1984248"/>
            <a:ext cx="2651760" cy="384048"/>
          </a:xfrm>
          <a:prstGeom prst="rect">
            <a:avLst/>
          </a:prstGeom>
          <a:noFill/>
          <a:ln/>
        </p:spPr>
        <p:txBody>
          <a:bodyPr wrap="square" lIns="0" tIns="0" rIns="0" bIns="0" rtlCol="0" anchor="ctr"/>
          <a:lstStyle/>
          <a:p>
            <a:pPr algn="l" indent="0" marL="0">
              <a:buNone/>
            </a:pPr>
            <a:r>
              <a:rPr lang="en-US" sz="1900" b="1" i="1" dirty="0">
                <a:solidFill>
                  <a:srgbClr val="B83227"/>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en</a:t>
            </a:r>
            <a:endParaRPr lang="en-US" sz="1900" dirty="0"/>
          </a:p>
        </p:txBody>
      </p:sp>
      <p:sp>
        <p:nvSpPr>
          <p:cNvPr id="13" name="Shape 10"/>
          <p:cNvSpPr/>
          <p:nvPr/>
        </p:nvSpPr>
        <p:spPr>
          <a:xfrm flipV="1">
            <a:off x="8202168" y="2926080"/>
            <a:ext cx="530352" cy="292608"/>
          </a:xfrm>
          <a:prstGeom prst="line">
            <a:avLst/>
          </a:prstGeom>
          <a:noFill/>
          <a:ln w="15875">
            <a:solidFill>
              <a:srgbClr val="2A6FB0"/>
            </a:solidFill>
            <a:prstDash val="solid"/>
          </a:ln>
        </p:spPr>
      </p:sp>
      <p:sp>
        <p:nvSpPr>
          <p:cNvPr id="14" name="Text 11"/>
          <p:cNvSpPr txBox="1"/>
          <p:nvPr/>
        </p:nvSpPr>
        <p:spPr>
          <a:xfrm>
            <a:off x="8823960" y="2606040"/>
            <a:ext cx="2651760" cy="237744"/>
          </a:xfrm>
          <a:prstGeom prst="rect">
            <a:avLst/>
          </a:prstGeom>
          <a:noFill/>
          <a:ln/>
        </p:spPr>
        <p:txBody>
          <a:bodyPr wrap="square" lIns="0" tIns="0" rIns="0" bIns="0" rtlCol="0" anchor="ctr"/>
          <a:lstStyle/>
          <a:p>
            <a:pPr algn="l" indent="0" marL="0">
              <a:buNone/>
            </a:pPr>
            <a:r>
              <a:rPr lang="en-US" sz="950" b="1" spc="200" kern="0" dirty="0">
                <a:solidFill>
                  <a:srgbClr val="2A6FB0"/>
                </a:solidFill>
                <a:latin typeface="Calibri" pitchFamily="34" charset="0"/>
                <a:ea typeface="Calibri" pitchFamily="34" charset="-122"/>
                <a:cs typeface="Calibri" pitchFamily="34" charset="-120"/>
              </a:rPr>
              <a:t>NOM</a:t>
            </a:r>
            <a:endParaRPr lang="en-US" sz="950" dirty="0"/>
          </a:p>
        </p:txBody>
      </p:sp>
      <p:sp>
        <p:nvSpPr>
          <p:cNvPr id="15" name="Text 12"/>
          <p:cNvSpPr txBox="1"/>
          <p:nvPr/>
        </p:nvSpPr>
        <p:spPr>
          <a:xfrm>
            <a:off x="8823960" y="2807208"/>
            <a:ext cx="2651760" cy="384048"/>
          </a:xfrm>
          <a:prstGeom prst="rect">
            <a:avLst/>
          </a:prstGeom>
          <a:noFill/>
          <a:ln/>
        </p:spPr>
        <p:txBody>
          <a:bodyPr wrap="square" lIns="0" tIns="0" rIns="0" bIns="0" rtlCol="0" anchor="ctr"/>
          <a:lstStyle/>
          <a:p>
            <a:pPr algn="l" indent="0" marL="0">
              <a:buNone/>
            </a:pPr>
            <a:r>
              <a:rPr lang="en-US" sz="1900" b="1" i="1" dirty="0">
                <a:solidFill>
                  <a:srgbClr val="2A6FB0"/>
                </a:solidFill>
                <a:latin typeface="Calibri" pitchFamily="34" charset="0"/>
                <a:ea typeface="Calibri" pitchFamily="34" charset="-122"/>
                <a:cs typeface="Calibri" pitchFamily="34" charset="-120"/>
              </a:rPr>
              <a:t>de werk</a:t>
            </a:r>
            <a:r>
              <a:rPr lang="en-US" sz="1900" b="1" i="1" dirty="0">
                <a:solidFill>
                  <a:srgbClr val="6E4A9E"/>
                </a:solidFill>
                <a:latin typeface="Calibri" pitchFamily="34" charset="0"/>
                <a:ea typeface="Calibri" pitchFamily="34" charset="-122"/>
                <a:cs typeface="Calibri" pitchFamily="34" charset="-120"/>
              </a:rPr>
              <a:t>ing</a:t>
            </a:r>
            <a:endParaRPr lang="en-US" sz="1900" dirty="0"/>
          </a:p>
        </p:txBody>
      </p:sp>
      <p:sp>
        <p:nvSpPr>
          <p:cNvPr id="16" name="Shape 13"/>
          <p:cNvSpPr/>
          <p:nvPr/>
        </p:nvSpPr>
        <p:spPr>
          <a:xfrm>
            <a:off x="8202168" y="3218688"/>
            <a:ext cx="530352" cy="530352"/>
          </a:xfrm>
          <a:prstGeom prst="line">
            <a:avLst/>
          </a:prstGeom>
          <a:noFill/>
          <a:ln w="15875">
            <a:solidFill>
              <a:srgbClr val="D9700F"/>
            </a:solidFill>
            <a:prstDash val="solid"/>
          </a:ln>
        </p:spPr>
      </p:sp>
      <p:sp>
        <p:nvSpPr>
          <p:cNvPr id="17" name="Text 14"/>
          <p:cNvSpPr txBox="1"/>
          <p:nvPr/>
        </p:nvSpPr>
        <p:spPr>
          <a:xfrm>
            <a:off x="8823960" y="3429000"/>
            <a:ext cx="2651760" cy="237744"/>
          </a:xfrm>
          <a:prstGeom prst="rect">
            <a:avLst/>
          </a:prstGeom>
          <a:noFill/>
          <a:ln/>
        </p:spPr>
        <p:txBody>
          <a:bodyPr wrap="square" lIns="0" tIns="0" rIns="0" bIns="0" rtlCol="0" anchor="ctr"/>
          <a:lstStyle/>
          <a:p>
            <a:pPr algn="l" indent="0" marL="0">
              <a:buNone/>
            </a:pPr>
            <a:r>
              <a:rPr lang="en-US" sz="950" b="1" spc="200" kern="0" dirty="0">
                <a:solidFill>
                  <a:srgbClr val="D9700F"/>
                </a:solidFill>
                <a:latin typeface="Calibri" pitchFamily="34" charset="0"/>
                <a:ea typeface="Calibri" pitchFamily="34" charset="-122"/>
                <a:cs typeface="Calibri" pitchFamily="34" charset="-120"/>
              </a:rPr>
              <a:t>ADJECTIF</a:t>
            </a:r>
            <a:endParaRPr lang="en-US" sz="950" dirty="0"/>
          </a:p>
        </p:txBody>
      </p:sp>
      <p:sp>
        <p:nvSpPr>
          <p:cNvPr id="18" name="Text 15"/>
          <p:cNvSpPr txBox="1"/>
          <p:nvPr/>
        </p:nvSpPr>
        <p:spPr>
          <a:xfrm>
            <a:off x="8823960" y="3630168"/>
            <a:ext cx="2651760" cy="384048"/>
          </a:xfrm>
          <a:prstGeom prst="rect">
            <a:avLst/>
          </a:prstGeom>
          <a:noFill/>
          <a:ln/>
        </p:spPr>
        <p:txBody>
          <a:bodyPr wrap="square" lIns="0" tIns="0" rIns="0" bIns="0" rtlCol="0" anchor="ctr"/>
          <a:lstStyle/>
          <a:p>
            <a:pPr algn="l" indent="0" marL="0">
              <a:buNone/>
            </a:pPr>
            <a:r>
              <a:rPr lang="en-US" sz="1900" b="1" i="1" dirty="0">
                <a:solidFill>
                  <a:srgbClr val="D9700F"/>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baar</a:t>
            </a:r>
            <a:endParaRPr lang="en-US" sz="1900" dirty="0"/>
          </a:p>
        </p:txBody>
      </p:sp>
      <p:sp>
        <p:nvSpPr>
          <p:cNvPr id="19" name="Shape 16"/>
          <p:cNvSpPr/>
          <p:nvPr/>
        </p:nvSpPr>
        <p:spPr>
          <a:xfrm>
            <a:off x="8202168" y="3218688"/>
            <a:ext cx="530352" cy="1353312"/>
          </a:xfrm>
          <a:prstGeom prst="line">
            <a:avLst/>
          </a:prstGeom>
          <a:noFill/>
          <a:ln w="15875">
            <a:solidFill>
              <a:srgbClr val="2A6FB0"/>
            </a:solidFill>
            <a:prstDash val="solid"/>
          </a:ln>
        </p:spPr>
      </p:sp>
      <p:sp>
        <p:nvSpPr>
          <p:cNvPr id="20" name="Text 17"/>
          <p:cNvSpPr txBox="1"/>
          <p:nvPr/>
        </p:nvSpPr>
        <p:spPr>
          <a:xfrm>
            <a:off x="8823960" y="4251960"/>
            <a:ext cx="2651760" cy="237744"/>
          </a:xfrm>
          <a:prstGeom prst="rect">
            <a:avLst/>
          </a:prstGeom>
          <a:noFill/>
          <a:ln/>
        </p:spPr>
        <p:txBody>
          <a:bodyPr wrap="square" lIns="0" tIns="0" rIns="0" bIns="0" rtlCol="0" anchor="ctr"/>
          <a:lstStyle/>
          <a:p>
            <a:pPr algn="l" indent="0" marL="0">
              <a:buNone/>
            </a:pPr>
            <a:r>
              <a:rPr lang="en-US" sz="950" b="1" spc="200" kern="0" dirty="0">
                <a:solidFill>
                  <a:srgbClr val="2A6FB0"/>
                </a:solidFill>
                <a:latin typeface="Calibri" pitchFamily="34" charset="0"/>
                <a:ea typeface="Calibri" pitchFamily="34" charset="-122"/>
                <a:cs typeface="Calibri" pitchFamily="34" charset="-120"/>
              </a:rPr>
              <a:t>NOM</a:t>
            </a:r>
            <a:endParaRPr lang="en-US" sz="950" dirty="0"/>
          </a:p>
        </p:txBody>
      </p:sp>
      <p:sp>
        <p:nvSpPr>
          <p:cNvPr id="21" name="Text 18"/>
          <p:cNvSpPr txBox="1"/>
          <p:nvPr/>
        </p:nvSpPr>
        <p:spPr>
          <a:xfrm>
            <a:off x="8823960" y="4453128"/>
            <a:ext cx="2651760" cy="384048"/>
          </a:xfrm>
          <a:prstGeom prst="rect">
            <a:avLst/>
          </a:prstGeom>
          <a:noFill/>
          <a:ln/>
        </p:spPr>
        <p:txBody>
          <a:bodyPr wrap="square" lIns="0" tIns="0" rIns="0" bIns="0" rtlCol="0" anchor="ctr"/>
          <a:lstStyle/>
          <a:p>
            <a:pPr algn="l" indent="0" marL="0">
              <a:buNone/>
            </a:pPr>
            <a:r>
              <a:rPr lang="en-US" sz="1900" b="1" i="1" dirty="0">
                <a:solidFill>
                  <a:srgbClr val="2A6FB0"/>
                </a:solidFill>
                <a:latin typeface="Calibri" pitchFamily="34" charset="0"/>
                <a:ea typeface="Calibri" pitchFamily="34" charset="-122"/>
                <a:cs typeface="Calibri" pitchFamily="34" charset="-120"/>
              </a:rPr>
              <a:t>de werk</a:t>
            </a:r>
            <a:r>
              <a:rPr lang="en-US" sz="1900" b="1" i="1" dirty="0">
                <a:solidFill>
                  <a:srgbClr val="6E4A9E"/>
                </a:solidFill>
                <a:latin typeface="Calibri" pitchFamily="34" charset="0"/>
                <a:ea typeface="Calibri" pitchFamily="34" charset="-122"/>
                <a:cs typeface="Calibri" pitchFamily="34" charset="-120"/>
              </a:rPr>
              <a:t>loosheid</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Missie van vandaag</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MISSIE</a:t>
            </a:r>
            <a:endParaRPr lang="en-US" sz="1100" dirty="0"/>
          </a:p>
        </p:txBody>
      </p:sp>
      <p:sp>
        <p:nvSpPr>
          <p:cNvPr id="5" name="Shape 2"/>
          <p:cNvSpPr/>
          <p:nvPr/>
        </p:nvSpPr>
        <p:spPr>
          <a:xfrm>
            <a:off x="2276856" y="2093976"/>
            <a:ext cx="1024128" cy="1024128"/>
          </a:xfrm>
          <a:prstGeom prst="ellipse">
            <a:avLst/>
          </a:prstGeom>
          <a:solidFill>
            <a:srgbClr val="EAF2FB"/>
          </a:solidFill>
          <a:ln w="12700">
            <a:solidFill>
              <a:srgbClr val="FFFFFF">
                <a:alpha val="0"/>
              </a:srgbClr>
            </a:solidFill>
            <a:prstDash val="solid"/>
          </a:ln>
        </p:spPr>
      </p:sp>
      <p:pic>
        <p:nvPicPr>
          <p:cNvPr id="6" name="Image 0" descr="Search">    </p:cNvPr>
          <p:cNvPicPr>
            <a:picLocks noChangeAspect="1"/>
          </p:cNvPicPr>
          <p:nvPr/>
        </p:nvPicPr>
        <p:blipFill>
          <a:blip r:embed="rId1"/>
          <a:stretch>
            <a:fillRect/>
          </a:stretch>
        </p:blipFill>
        <p:spPr>
          <a:xfrm>
            <a:off x="2551176" y="2368296"/>
            <a:ext cx="475488" cy="475488"/>
          </a:xfrm>
          <a:prstGeom prst="rect">
            <a:avLst/>
          </a:prstGeom>
        </p:spPr>
      </p:pic>
      <p:sp>
        <p:nvSpPr>
          <p:cNvPr id="7" name="Text 3"/>
          <p:cNvSpPr txBox="1"/>
          <p:nvPr/>
        </p:nvSpPr>
        <p:spPr>
          <a:xfrm>
            <a:off x="1325880" y="3337560"/>
            <a:ext cx="2926080" cy="457200"/>
          </a:xfrm>
          <a:prstGeom prst="rect">
            <a:avLst/>
          </a:prstGeom>
          <a:noFill/>
          <a:ln/>
        </p:spPr>
        <p:txBody>
          <a:bodyPr wrap="square" lIns="0" tIns="0" rIns="0" bIns="0" rtlCol="0" anchor="ctr"/>
          <a:lstStyle/>
          <a:p>
            <a:pPr algn="ctr" indent="0" marL="0">
              <a:buNone/>
            </a:pPr>
            <a:r>
              <a:rPr lang="en-US" sz="2200" b="1" dirty="0">
                <a:solidFill>
                  <a:srgbClr val="2A6FB0"/>
                </a:solidFill>
                <a:latin typeface="Calibri" pitchFamily="34" charset="0"/>
                <a:ea typeface="Calibri" pitchFamily="34" charset="-122"/>
                <a:cs typeface="Calibri" pitchFamily="34" charset="-120"/>
              </a:rPr>
              <a:t>Reconnaître</a:t>
            </a:r>
            <a:endParaRPr lang="en-US" sz="2200" dirty="0"/>
          </a:p>
        </p:txBody>
      </p:sp>
      <p:sp>
        <p:nvSpPr>
          <p:cNvPr id="8" name="Text 4"/>
          <p:cNvSpPr txBox="1"/>
          <p:nvPr/>
        </p:nvSpPr>
        <p:spPr>
          <a:xfrm>
            <a:off x="1508760" y="3794760"/>
            <a:ext cx="2560320" cy="822960"/>
          </a:xfrm>
          <a:prstGeom prst="rect">
            <a:avLst/>
          </a:prstGeom>
          <a:noFill/>
          <a:ln/>
        </p:spPr>
        <p:txBody>
          <a:bodyPr wrap="square" lIns="0" tIns="0" rIns="0" bIns="0" rtlCol="0" anchor="t"/>
          <a:lstStyle/>
          <a:p>
            <a:pPr algn="ctr" indent="0" marL="0">
              <a:buNone/>
            </a:pPr>
            <a:r>
              <a:rPr lang="en-US" sz="1600" dirty="0">
                <a:solidFill>
                  <a:srgbClr val="6B7686"/>
                </a:solidFill>
                <a:latin typeface="Calibri" pitchFamily="34" charset="0"/>
                <a:ea typeface="Calibri" pitchFamily="34" charset="-122"/>
                <a:cs typeface="Calibri" pitchFamily="34" charset="-120"/>
              </a:rPr>
              <a:t>la catégorie d’un mot grâce à son suffixe</a:t>
            </a:r>
            <a:endParaRPr lang="en-US" sz="1600" dirty="0"/>
          </a:p>
        </p:txBody>
      </p:sp>
      <p:sp>
        <p:nvSpPr>
          <p:cNvPr id="9" name="Shape 5"/>
          <p:cNvSpPr/>
          <p:nvPr/>
        </p:nvSpPr>
        <p:spPr>
          <a:xfrm>
            <a:off x="5614416" y="2093976"/>
            <a:ext cx="1024128" cy="1024128"/>
          </a:xfrm>
          <a:prstGeom prst="ellipse">
            <a:avLst/>
          </a:prstGeom>
          <a:solidFill>
            <a:srgbClr val="F1ECF7"/>
          </a:solidFill>
          <a:ln w="12700">
            <a:solidFill>
              <a:srgbClr val="FFFFFF">
                <a:alpha val="0"/>
              </a:srgbClr>
            </a:solidFill>
            <a:prstDash val="solid"/>
          </a:ln>
        </p:spPr>
      </p:sp>
      <p:pic>
        <p:nvPicPr>
          <p:cNvPr id="10" name="Image 1" descr="Cogs">    </p:cNvPr>
          <p:cNvPicPr>
            <a:picLocks noChangeAspect="1"/>
          </p:cNvPicPr>
          <p:nvPr/>
        </p:nvPicPr>
        <p:blipFill>
          <a:blip r:embed="rId2"/>
          <a:stretch>
            <a:fillRect/>
          </a:stretch>
        </p:blipFill>
        <p:spPr>
          <a:xfrm>
            <a:off x="5888736" y="2368296"/>
            <a:ext cx="475488" cy="475488"/>
          </a:xfrm>
          <a:prstGeom prst="rect">
            <a:avLst/>
          </a:prstGeom>
        </p:spPr>
      </p:pic>
      <p:sp>
        <p:nvSpPr>
          <p:cNvPr id="11" name="Text 6"/>
          <p:cNvSpPr txBox="1"/>
          <p:nvPr/>
        </p:nvSpPr>
        <p:spPr>
          <a:xfrm>
            <a:off x="4663440" y="3337560"/>
            <a:ext cx="2926080" cy="457200"/>
          </a:xfrm>
          <a:prstGeom prst="rect">
            <a:avLst/>
          </a:prstGeom>
          <a:noFill/>
          <a:ln/>
        </p:spPr>
        <p:txBody>
          <a:bodyPr wrap="square" lIns="0" tIns="0" rIns="0" bIns="0" rtlCol="0" anchor="ctr"/>
          <a:lstStyle/>
          <a:p>
            <a:pPr algn="ctr" indent="0" marL="0">
              <a:buNone/>
            </a:pPr>
            <a:r>
              <a:rPr lang="en-US" sz="2200" b="1" dirty="0">
                <a:solidFill>
                  <a:srgbClr val="6E4A9E"/>
                </a:solidFill>
                <a:latin typeface="Calibri" pitchFamily="34" charset="0"/>
                <a:ea typeface="Calibri" pitchFamily="34" charset="-122"/>
                <a:cs typeface="Calibri" pitchFamily="34" charset="-120"/>
              </a:rPr>
              <a:t>Transformer</a:t>
            </a:r>
            <a:endParaRPr lang="en-US" sz="2200" dirty="0"/>
          </a:p>
        </p:txBody>
      </p:sp>
      <p:sp>
        <p:nvSpPr>
          <p:cNvPr id="12" name="Text 7"/>
          <p:cNvSpPr txBox="1"/>
          <p:nvPr/>
        </p:nvSpPr>
        <p:spPr>
          <a:xfrm>
            <a:off x="4846320" y="3794760"/>
            <a:ext cx="2560320" cy="822960"/>
          </a:xfrm>
          <a:prstGeom prst="rect">
            <a:avLst/>
          </a:prstGeom>
          <a:noFill/>
          <a:ln/>
        </p:spPr>
        <p:txBody>
          <a:bodyPr wrap="square" lIns="0" tIns="0" rIns="0" bIns="0" rtlCol="0" anchor="t"/>
          <a:lstStyle/>
          <a:p>
            <a:pPr algn="ctr" indent="0" marL="0">
              <a:buNone/>
            </a:pPr>
            <a:r>
              <a:rPr lang="en-US" sz="1600" dirty="0">
                <a:solidFill>
                  <a:srgbClr val="6B7686"/>
                </a:solidFill>
                <a:latin typeface="Calibri" pitchFamily="34" charset="0"/>
                <a:ea typeface="Calibri" pitchFamily="34" charset="-122"/>
                <a:cs typeface="Calibri" pitchFamily="34" charset="-120"/>
              </a:rPr>
              <a:t>verbe → nom, nom → adjectif… avec la bonne règle</a:t>
            </a:r>
            <a:endParaRPr lang="en-US" sz="1600" dirty="0"/>
          </a:p>
        </p:txBody>
      </p:sp>
      <p:sp>
        <p:nvSpPr>
          <p:cNvPr id="13" name="Shape 8"/>
          <p:cNvSpPr/>
          <p:nvPr/>
        </p:nvSpPr>
        <p:spPr>
          <a:xfrm>
            <a:off x="8951976" y="2093976"/>
            <a:ext cx="1024128" cy="1024128"/>
          </a:xfrm>
          <a:prstGeom prst="ellipse">
            <a:avLst/>
          </a:prstGeom>
          <a:solidFill>
            <a:srgbClr val="FDF1E6"/>
          </a:solidFill>
          <a:ln w="12700">
            <a:solidFill>
              <a:srgbClr val="FFFFFF">
                <a:alpha val="0"/>
              </a:srgbClr>
            </a:solidFill>
            <a:prstDash val="solid"/>
          </a:ln>
        </p:spPr>
      </p:sp>
      <p:pic>
        <p:nvPicPr>
          <p:cNvPr id="14" name="Image 2" descr="PenFancy">    </p:cNvPr>
          <p:cNvPicPr>
            <a:picLocks noChangeAspect="1"/>
          </p:cNvPicPr>
          <p:nvPr/>
        </p:nvPicPr>
        <p:blipFill>
          <a:blip r:embed="rId3"/>
          <a:stretch>
            <a:fillRect/>
          </a:stretch>
        </p:blipFill>
        <p:spPr>
          <a:xfrm>
            <a:off x="9226296" y="2368296"/>
            <a:ext cx="475488" cy="475488"/>
          </a:xfrm>
          <a:prstGeom prst="rect">
            <a:avLst/>
          </a:prstGeom>
        </p:spPr>
      </p:pic>
      <p:sp>
        <p:nvSpPr>
          <p:cNvPr id="15" name="Text 9"/>
          <p:cNvSpPr txBox="1"/>
          <p:nvPr/>
        </p:nvSpPr>
        <p:spPr>
          <a:xfrm>
            <a:off x="8001000" y="3337560"/>
            <a:ext cx="2926080" cy="457200"/>
          </a:xfrm>
          <a:prstGeom prst="rect">
            <a:avLst/>
          </a:prstGeom>
          <a:noFill/>
          <a:ln/>
        </p:spPr>
        <p:txBody>
          <a:bodyPr wrap="square" lIns="0" tIns="0" rIns="0" bIns="0" rtlCol="0" anchor="ctr"/>
          <a:lstStyle/>
          <a:p>
            <a:pPr algn="ctr" indent="0" marL="0">
              <a:buNone/>
            </a:pPr>
            <a:r>
              <a:rPr lang="en-US" sz="2200" b="1" dirty="0">
                <a:solidFill>
                  <a:srgbClr val="D9700F"/>
                </a:solidFill>
                <a:latin typeface="Calibri" pitchFamily="34" charset="0"/>
                <a:ea typeface="Calibri" pitchFamily="34" charset="-122"/>
                <a:cs typeface="Calibri" pitchFamily="34" charset="-120"/>
              </a:rPr>
              <a:t>Écrire</a:t>
            </a:r>
            <a:endParaRPr lang="en-US" sz="2200" dirty="0"/>
          </a:p>
        </p:txBody>
      </p:sp>
      <p:sp>
        <p:nvSpPr>
          <p:cNvPr id="16" name="Text 10"/>
          <p:cNvSpPr txBox="1"/>
          <p:nvPr/>
        </p:nvSpPr>
        <p:spPr>
          <a:xfrm>
            <a:off x="8183880" y="3794760"/>
            <a:ext cx="2560320" cy="822960"/>
          </a:xfrm>
          <a:prstGeom prst="rect">
            <a:avLst/>
          </a:prstGeom>
          <a:noFill/>
          <a:ln/>
        </p:spPr>
        <p:txBody>
          <a:bodyPr wrap="square" lIns="0" tIns="0" rIns="0" bIns="0" rtlCol="0" anchor="t"/>
          <a:lstStyle/>
          <a:p>
            <a:pPr algn="ctr" indent="0" marL="0">
              <a:buNone/>
            </a:pPr>
            <a:r>
              <a:rPr lang="en-US" sz="1600" dirty="0">
                <a:solidFill>
                  <a:srgbClr val="6B7686"/>
                </a:solidFill>
                <a:latin typeface="Calibri" pitchFamily="34" charset="0"/>
                <a:ea typeface="Calibri" pitchFamily="34" charset="-122"/>
                <a:cs typeface="Calibri" pitchFamily="34" charset="-120"/>
              </a:rPr>
              <a:t>en style verbal (oral) ou nominal (écrit)</a:t>
            </a:r>
            <a:endParaRPr lang="en-US" sz="1600" dirty="0"/>
          </a:p>
        </p:txBody>
      </p:sp>
      <p:sp>
        <p:nvSpPr>
          <p:cNvPr id="17" name="Text 11"/>
          <p:cNvSpPr txBox="1"/>
          <p:nvPr/>
        </p:nvSpPr>
        <p:spPr>
          <a:xfrm>
            <a:off x="822960" y="525780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Un mot connu = toute une famille de mots en plus.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Une racine, toute une famille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ÉCHAUFFEMENT</a:t>
            </a:r>
            <a:endParaRPr lang="en-US" sz="1100" dirty="0"/>
          </a:p>
        </p:txBody>
      </p:sp>
      <p:sp>
        <p:nvSpPr>
          <p:cNvPr id="5" name="Shape 2"/>
          <p:cNvSpPr/>
          <p:nvPr/>
        </p:nvSpPr>
        <p:spPr>
          <a:xfrm>
            <a:off x="5527548" y="2862072"/>
            <a:ext cx="1133856" cy="1133856"/>
          </a:xfrm>
          <a:prstGeom prst="ellipse">
            <a:avLst/>
          </a:prstGeom>
          <a:solidFill>
            <a:srgbClr val="17375E"/>
          </a:solidFill>
          <a:ln w="12700">
            <a:solidFill>
              <a:srgbClr val="FFFFFF">
                <a:alpha val="0"/>
              </a:srgbClr>
            </a:solidFill>
            <a:prstDash val="solid"/>
          </a:ln>
        </p:spPr>
      </p:sp>
      <p:sp>
        <p:nvSpPr>
          <p:cNvPr id="6" name="Text 3"/>
          <p:cNvSpPr txBox="1"/>
          <p:nvPr/>
        </p:nvSpPr>
        <p:spPr>
          <a:xfrm>
            <a:off x="5527548" y="3136392"/>
            <a:ext cx="113385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werk-</a:t>
            </a:r>
            <a:endParaRPr lang="en-US" sz="2200" dirty="0"/>
          </a:p>
        </p:txBody>
      </p:sp>
      <p:sp>
        <p:nvSpPr>
          <p:cNvPr id="7" name="Shape 4"/>
          <p:cNvSpPr/>
          <p:nvPr/>
        </p:nvSpPr>
        <p:spPr>
          <a:xfrm flipV="1">
            <a:off x="6094476" y="2084832"/>
            <a:ext cx="914" cy="740664"/>
          </a:xfrm>
          <a:prstGeom prst="line">
            <a:avLst/>
          </a:prstGeom>
          <a:noFill/>
          <a:ln w="15875">
            <a:solidFill>
              <a:srgbClr val="DDE3EA"/>
            </a:solidFill>
            <a:prstDash val="solid"/>
          </a:ln>
        </p:spPr>
      </p:sp>
      <p:sp>
        <p:nvSpPr>
          <p:cNvPr id="8" name="Shape 5"/>
          <p:cNvSpPr/>
          <p:nvPr/>
        </p:nvSpPr>
        <p:spPr>
          <a:xfrm>
            <a:off x="5419954" y="1572768"/>
            <a:ext cx="1349045" cy="512064"/>
          </a:xfrm>
          <a:prstGeom prst="roundRect">
            <a:avLst>
              <a:gd name="adj" fmla="val 50000"/>
            </a:avLst>
          </a:prstGeom>
          <a:solidFill>
            <a:srgbClr val="FFFFFF"/>
          </a:solidFill>
          <a:ln w="12700">
            <a:solidFill>
              <a:srgbClr val="DDE3EA"/>
            </a:solidFill>
            <a:prstDash val="solid"/>
          </a:ln>
        </p:spPr>
      </p:sp>
      <p:sp>
        <p:nvSpPr>
          <p:cNvPr id="9" name="Text 6"/>
          <p:cNvSpPr txBox="1"/>
          <p:nvPr/>
        </p:nvSpPr>
        <p:spPr>
          <a:xfrm>
            <a:off x="5419954" y="1572768"/>
            <a:ext cx="1349045"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het werk</a:t>
            </a:r>
            <a:endParaRPr lang="en-US" sz="1900" dirty="0"/>
          </a:p>
        </p:txBody>
      </p:sp>
      <p:sp>
        <p:nvSpPr>
          <p:cNvPr id="10" name="Shape 7"/>
          <p:cNvSpPr/>
          <p:nvPr/>
        </p:nvSpPr>
        <p:spPr>
          <a:xfrm flipV="1">
            <a:off x="6521218" y="2478530"/>
            <a:ext cx="1666839" cy="523729"/>
          </a:xfrm>
          <a:prstGeom prst="line">
            <a:avLst/>
          </a:prstGeom>
          <a:noFill/>
          <a:ln w="15875">
            <a:solidFill>
              <a:srgbClr val="DDE3EA"/>
            </a:solidFill>
            <a:prstDash val="solid"/>
          </a:ln>
        </p:spPr>
      </p:sp>
      <p:sp>
        <p:nvSpPr>
          <p:cNvPr id="11" name="Shape 8"/>
          <p:cNvSpPr/>
          <p:nvPr/>
        </p:nvSpPr>
        <p:spPr>
          <a:xfrm>
            <a:off x="8010742" y="2041456"/>
            <a:ext cx="1210780" cy="512064"/>
          </a:xfrm>
          <a:prstGeom prst="roundRect">
            <a:avLst>
              <a:gd name="adj" fmla="val 50000"/>
            </a:avLst>
          </a:prstGeom>
          <a:solidFill>
            <a:srgbClr val="FFFFFF"/>
          </a:solidFill>
          <a:ln w="12700">
            <a:solidFill>
              <a:srgbClr val="DDE3EA"/>
            </a:solidFill>
            <a:prstDash val="solid"/>
          </a:ln>
        </p:spPr>
      </p:sp>
      <p:sp>
        <p:nvSpPr>
          <p:cNvPr id="12" name="Text 9"/>
          <p:cNvSpPr txBox="1"/>
          <p:nvPr/>
        </p:nvSpPr>
        <p:spPr>
          <a:xfrm>
            <a:off x="8010742" y="2041456"/>
            <a:ext cx="1210780"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en</a:t>
            </a:r>
            <a:endParaRPr lang="en-US" sz="1900" dirty="0"/>
          </a:p>
        </p:txBody>
      </p:sp>
      <p:sp>
        <p:nvSpPr>
          <p:cNvPr id="13" name="Shape 10"/>
          <p:cNvSpPr/>
          <p:nvPr/>
        </p:nvSpPr>
        <p:spPr>
          <a:xfrm>
            <a:off x="6697980" y="3429000"/>
            <a:ext cx="2226481" cy="914"/>
          </a:xfrm>
          <a:prstGeom prst="line">
            <a:avLst/>
          </a:prstGeom>
          <a:noFill/>
          <a:ln w="15875">
            <a:solidFill>
              <a:srgbClr val="DDE3EA"/>
            </a:solidFill>
            <a:prstDash val="solid"/>
          </a:ln>
        </p:spPr>
      </p:sp>
      <p:sp>
        <p:nvSpPr>
          <p:cNvPr id="14" name="Shape 11"/>
          <p:cNvSpPr/>
          <p:nvPr/>
        </p:nvSpPr>
        <p:spPr>
          <a:xfrm>
            <a:off x="8924461" y="3172968"/>
            <a:ext cx="1472349" cy="512064"/>
          </a:xfrm>
          <a:prstGeom prst="roundRect">
            <a:avLst>
              <a:gd name="adj" fmla="val 50000"/>
            </a:avLst>
          </a:prstGeom>
          <a:solidFill>
            <a:srgbClr val="FFFFFF"/>
          </a:solidFill>
          <a:ln w="12700">
            <a:solidFill>
              <a:srgbClr val="DDE3EA"/>
            </a:solidFill>
            <a:prstDash val="solid"/>
          </a:ln>
        </p:spPr>
      </p:sp>
      <p:sp>
        <p:nvSpPr>
          <p:cNvPr id="15" name="Text 12"/>
          <p:cNvSpPr txBox="1"/>
          <p:nvPr/>
        </p:nvSpPr>
        <p:spPr>
          <a:xfrm>
            <a:off x="8924461" y="3172968"/>
            <a:ext cx="1472349"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de werk</a:t>
            </a:r>
            <a:r>
              <a:rPr lang="en-US" sz="1900" b="1" i="1" dirty="0">
                <a:solidFill>
                  <a:srgbClr val="6E4A9E"/>
                </a:solidFill>
                <a:latin typeface="Calibri" pitchFamily="34" charset="0"/>
                <a:ea typeface="Calibri" pitchFamily="34" charset="-122"/>
                <a:cs typeface="Calibri" pitchFamily="34" charset="-120"/>
              </a:rPr>
              <a:t>er</a:t>
            </a:r>
            <a:endParaRPr lang="en-US" sz="1900" dirty="0"/>
          </a:p>
        </p:txBody>
      </p:sp>
      <p:sp>
        <p:nvSpPr>
          <p:cNvPr id="16" name="Shape 13"/>
          <p:cNvSpPr/>
          <p:nvPr/>
        </p:nvSpPr>
        <p:spPr>
          <a:xfrm>
            <a:off x="6521218" y="3855742"/>
            <a:ext cx="1540320" cy="523729"/>
          </a:xfrm>
          <a:prstGeom prst="line">
            <a:avLst/>
          </a:prstGeom>
          <a:noFill/>
          <a:ln w="15875">
            <a:solidFill>
              <a:srgbClr val="DDE3EA"/>
            </a:solidFill>
            <a:prstDash val="solid"/>
          </a:ln>
        </p:spPr>
      </p:sp>
      <p:sp>
        <p:nvSpPr>
          <p:cNvPr id="17" name="Shape 14"/>
          <p:cNvSpPr/>
          <p:nvPr/>
        </p:nvSpPr>
        <p:spPr>
          <a:xfrm>
            <a:off x="7831818" y="4304480"/>
            <a:ext cx="1568628" cy="512064"/>
          </a:xfrm>
          <a:prstGeom prst="roundRect">
            <a:avLst>
              <a:gd name="adj" fmla="val 50000"/>
            </a:avLst>
          </a:prstGeom>
          <a:solidFill>
            <a:srgbClr val="FFFFFF"/>
          </a:solidFill>
          <a:ln w="12700">
            <a:solidFill>
              <a:srgbClr val="DDE3EA"/>
            </a:solidFill>
            <a:prstDash val="solid"/>
          </a:ln>
        </p:spPr>
      </p:sp>
      <p:sp>
        <p:nvSpPr>
          <p:cNvPr id="18" name="Text 15"/>
          <p:cNvSpPr txBox="1"/>
          <p:nvPr/>
        </p:nvSpPr>
        <p:spPr>
          <a:xfrm>
            <a:off x="7831818" y="4304480"/>
            <a:ext cx="1568628"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de werk</a:t>
            </a:r>
            <a:r>
              <a:rPr lang="en-US" sz="1900" b="1" i="1" dirty="0">
                <a:solidFill>
                  <a:srgbClr val="6E4A9E"/>
                </a:solidFill>
                <a:latin typeface="Calibri" pitchFamily="34" charset="0"/>
                <a:ea typeface="Calibri" pitchFamily="34" charset="-122"/>
                <a:cs typeface="Calibri" pitchFamily="34" charset="-120"/>
              </a:rPr>
              <a:t>ing</a:t>
            </a:r>
            <a:endParaRPr lang="en-US" sz="1900" dirty="0"/>
          </a:p>
        </p:txBody>
      </p:sp>
      <p:sp>
        <p:nvSpPr>
          <p:cNvPr id="19" name="Shape 16"/>
          <p:cNvSpPr/>
          <p:nvPr/>
        </p:nvSpPr>
        <p:spPr>
          <a:xfrm>
            <a:off x="6094476" y="4032504"/>
            <a:ext cx="914" cy="740664"/>
          </a:xfrm>
          <a:prstGeom prst="line">
            <a:avLst/>
          </a:prstGeom>
          <a:noFill/>
          <a:ln w="15875">
            <a:solidFill>
              <a:srgbClr val="DDE3EA"/>
            </a:solidFill>
            <a:prstDash val="solid"/>
          </a:ln>
        </p:spPr>
      </p:sp>
      <p:sp>
        <p:nvSpPr>
          <p:cNvPr id="20" name="Shape 17"/>
          <p:cNvSpPr/>
          <p:nvPr/>
        </p:nvSpPr>
        <p:spPr>
          <a:xfrm>
            <a:off x="5406923" y="4773168"/>
            <a:ext cx="1375105" cy="512064"/>
          </a:xfrm>
          <a:prstGeom prst="roundRect">
            <a:avLst>
              <a:gd name="adj" fmla="val 50000"/>
            </a:avLst>
          </a:prstGeom>
          <a:solidFill>
            <a:srgbClr val="FFFFFF"/>
          </a:solidFill>
          <a:ln w="12700">
            <a:solidFill>
              <a:srgbClr val="DDE3EA"/>
            </a:solidFill>
            <a:prstDash val="solid"/>
          </a:ln>
        </p:spPr>
      </p:sp>
      <p:sp>
        <p:nvSpPr>
          <p:cNvPr id="21" name="Text 18"/>
          <p:cNvSpPr txBox="1"/>
          <p:nvPr/>
        </p:nvSpPr>
        <p:spPr>
          <a:xfrm>
            <a:off x="5406923" y="4773168"/>
            <a:ext cx="1375105"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loos</a:t>
            </a:r>
            <a:endParaRPr lang="en-US" sz="1900" dirty="0"/>
          </a:p>
        </p:txBody>
      </p:sp>
      <p:sp>
        <p:nvSpPr>
          <p:cNvPr id="22" name="Shape 19"/>
          <p:cNvSpPr/>
          <p:nvPr/>
        </p:nvSpPr>
        <p:spPr>
          <a:xfrm flipH="1">
            <a:off x="4322523" y="3855742"/>
            <a:ext cx="1345211" cy="523729"/>
          </a:xfrm>
          <a:prstGeom prst="line">
            <a:avLst/>
          </a:prstGeom>
          <a:noFill/>
          <a:ln w="15875">
            <a:solidFill>
              <a:srgbClr val="DDE3EA"/>
            </a:solidFill>
            <a:prstDash val="solid"/>
          </a:ln>
        </p:spPr>
      </p:sp>
      <p:sp>
        <p:nvSpPr>
          <p:cNvPr id="23" name="Shape 20"/>
          <p:cNvSpPr/>
          <p:nvPr/>
        </p:nvSpPr>
        <p:spPr>
          <a:xfrm>
            <a:off x="2512580" y="4304480"/>
            <a:ext cx="2120481" cy="512064"/>
          </a:xfrm>
          <a:prstGeom prst="roundRect">
            <a:avLst>
              <a:gd name="adj" fmla="val 50000"/>
            </a:avLst>
          </a:prstGeom>
          <a:solidFill>
            <a:srgbClr val="FFFFFF"/>
          </a:solidFill>
          <a:ln w="12700">
            <a:solidFill>
              <a:srgbClr val="DDE3EA"/>
            </a:solidFill>
            <a:prstDash val="solid"/>
          </a:ln>
        </p:spPr>
      </p:sp>
      <p:sp>
        <p:nvSpPr>
          <p:cNvPr id="24" name="Text 21"/>
          <p:cNvSpPr txBox="1"/>
          <p:nvPr/>
        </p:nvSpPr>
        <p:spPr>
          <a:xfrm>
            <a:off x="2512580" y="4304480"/>
            <a:ext cx="2120481"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de werk</a:t>
            </a:r>
            <a:r>
              <a:rPr lang="en-US" sz="1900" b="1" i="1" dirty="0">
                <a:solidFill>
                  <a:srgbClr val="6E4A9E"/>
                </a:solidFill>
                <a:latin typeface="Calibri" pitchFamily="34" charset="0"/>
                <a:ea typeface="Calibri" pitchFamily="34" charset="-122"/>
                <a:cs typeface="Calibri" pitchFamily="34" charset="-120"/>
              </a:rPr>
              <a:t>loosheid</a:t>
            </a:r>
            <a:endParaRPr lang="en-US" sz="1900" dirty="0"/>
          </a:p>
        </p:txBody>
      </p:sp>
      <p:sp>
        <p:nvSpPr>
          <p:cNvPr id="25" name="Shape 22"/>
          <p:cNvSpPr/>
          <p:nvPr/>
        </p:nvSpPr>
        <p:spPr>
          <a:xfrm flipH="1">
            <a:off x="3235052" y="3429000"/>
            <a:ext cx="2255920" cy="914"/>
          </a:xfrm>
          <a:prstGeom prst="line">
            <a:avLst/>
          </a:prstGeom>
          <a:noFill/>
          <a:ln w="15875">
            <a:solidFill>
              <a:srgbClr val="DDE3EA"/>
            </a:solidFill>
            <a:prstDash val="solid"/>
          </a:ln>
        </p:spPr>
      </p:sp>
      <p:sp>
        <p:nvSpPr>
          <p:cNvPr id="26" name="Shape 23"/>
          <p:cNvSpPr/>
          <p:nvPr/>
        </p:nvSpPr>
        <p:spPr>
          <a:xfrm>
            <a:off x="1821580" y="3172968"/>
            <a:ext cx="1413472" cy="512064"/>
          </a:xfrm>
          <a:prstGeom prst="roundRect">
            <a:avLst>
              <a:gd name="adj" fmla="val 50000"/>
            </a:avLst>
          </a:prstGeom>
          <a:solidFill>
            <a:srgbClr val="FFFFFF"/>
          </a:solidFill>
          <a:ln w="12700">
            <a:solidFill>
              <a:srgbClr val="DDE3EA"/>
            </a:solidFill>
            <a:prstDash val="solid"/>
          </a:ln>
        </p:spPr>
      </p:sp>
      <p:sp>
        <p:nvSpPr>
          <p:cNvPr id="27" name="Text 24"/>
          <p:cNvSpPr txBox="1"/>
          <p:nvPr/>
        </p:nvSpPr>
        <p:spPr>
          <a:xfrm>
            <a:off x="1821580" y="3172968"/>
            <a:ext cx="1413472" cy="512064"/>
          </a:xfrm>
          <a:prstGeom prst="rect">
            <a:avLst/>
          </a:prstGeom>
          <a:noFill/>
          <a:ln/>
        </p:spPr>
        <p:txBody>
          <a:bodyPr wrap="square" lIns="0" tIns="0" rIns="0" bIns="0" rtlCol="0" anchor="ctr"/>
          <a:lstStyle/>
          <a:p>
            <a:pPr algn="ctr" indent="0" marL="0">
              <a:buNone/>
            </a:pPr>
            <a:r>
              <a:rPr lang="en-US" sz="1900" i="1" dirty="0">
                <a:solidFill>
                  <a:srgbClr val="17375E"/>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baar</a:t>
            </a:r>
            <a:endParaRPr lang="en-US" sz="1900" dirty="0"/>
          </a:p>
        </p:txBody>
      </p:sp>
      <p:sp>
        <p:nvSpPr>
          <p:cNvPr id="28" name="Shape 25"/>
          <p:cNvSpPr/>
          <p:nvPr/>
        </p:nvSpPr>
        <p:spPr>
          <a:xfrm flipH="1" flipV="1">
            <a:off x="4089620" y="2478530"/>
            <a:ext cx="1578114" cy="523729"/>
          </a:xfrm>
          <a:prstGeom prst="line">
            <a:avLst/>
          </a:prstGeom>
          <a:noFill/>
          <a:ln w="15875">
            <a:solidFill>
              <a:srgbClr val="DDE3EA"/>
            </a:solidFill>
            <a:prstDash val="solid"/>
          </a:ln>
        </p:spPr>
      </p:sp>
      <p:sp>
        <p:nvSpPr>
          <p:cNvPr id="29" name="Shape 26"/>
          <p:cNvSpPr/>
          <p:nvPr/>
        </p:nvSpPr>
        <p:spPr>
          <a:xfrm>
            <a:off x="2841954" y="2041456"/>
            <a:ext cx="1461732" cy="512064"/>
          </a:xfrm>
          <a:prstGeom prst="roundRect">
            <a:avLst>
              <a:gd name="adj" fmla="val 50000"/>
            </a:avLst>
          </a:prstGeom>
          <a:solidFill>
            <a:srgbClr val="FFFFFF"/>
          </a:solidFill>
          <a:ln w="12700">
            <a:solidFill>
              <a:srgbClr val="DDE3EA"/>
            </a:solidFill>
            <a:prstDash val="solid"/>
          </a:ln>
        </p:spPr>
      </p:sp>
      <p:sp>
        <p:nvSpPr>
          <p:cNvPr id="30" name="Text 27"/>
          <p:cNvSpPr txBox="1"/>
          <p:nvPr/>
        </p:nvSpPr>
        <p:spPr>
          <a:xfrm>
            <a:off x="2841954" y="2041456"/>
            <a:ext cx="1461732" cy="512064"/>
          </a:xfrm>
          <a:prstGeom prst="rect">
            <a:avLst/>
          </a:prstGeom>
          <a:noFill/>
          <a:ln/>
        </p:spPr>
        <p:txBody>
          <a:bodyPr wrap="square" lIns="0" tIns="0" rIns="0" bIns="0" rtlCol="0" anchor="ctr"/>
          <a:lstStyle/>
          <a:p>
            <a:pPr algn="ctr" indent="0" marL="0">
              <a:buNone/>
            </a:pPr>
            <a:r>
              <a:rPr lang="en-US" sz="1900" b="1" i="1" dirty="0">
                <a:solidFill>
                  <a:srgbClr val="6E4A9E"/>
                </a:solidFill>
                <a:latin typeface="Calibri" pitchFamily="34" charset="0"/>
                <a:ea typeface="Calibri" pitchFamily="34" charset="-122"/>
                <a:cs typeface="Calibri" pitchFamily="34" charset="-120"/>
              </a:rPr>
              <a:t>be</a:t>
            </a:r>
            <a:r>
              <a:rPr lang="en-US" sz="1900" i="1" dirty="0">
                <a:solidFill>
                  <a:srgbClr val="17375E"/>
                </a:solidFill>
                <a:latin typeface="Calibri" pitchFamily="34" charset="0"/>
                <a:ea typeface="Calibri" pitchFamily="34" charset="-122"/>
                <a:cs typeface="Calibri" pitchFamily="34" charset="-120"/>
              </a:rPr>
              <a:t>werk</a:t>
            </a:r>
            <a:r>
              <a:rPr lang="en-US" sz="1900" b="1" i="1" dirty="0">
                <a:solidFill>
                  <a:srgbClr val="6E4A9E"/>
                </a:solidFill>
                <a:latin typeface="Calibri" pitchFamily="34" charset="0"/>
                <a:ea typeface="Calibri" pitchFamily="34" charset="-122"/>
                <a:cs typeface="Calibri" pitchFamily="34" charset="-120"/>
              </a:rPr>
              <a:t>en</a:t>
            </a:r>
            <a:endParaRPr lang="en-US" sz="1900" dirty="0"/>
          </a:p>
        </p:txBody>
      </p:sp>
      <p:sp>
        <p:nvSpPr>
          <p:cNvPr id="31" name="Text 28"/>
          <p:cNvSpPr txBox="1"/>
          <p:nvPr/>
        </p:nvSpPr>
        <p:spPr>
          <a:xfrm>
            <a:off x="822960" y="566928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Nom, verbe ou adjectif ? Quel petit morceau change la catégorie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Quatre catégories, quatre rôles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RAPPEL</a:t>
            </a:r>
            <a:endParaRPr lang="en-US" sz="1100" dirty="0"/>
          </a:p>
        </p:txBody>
      </p:sp>
      <p:sp>
        <p:nvSpPr>
          <p:cNvPr id="5" name="Text 2"/>
          <p:cNvSpPr txBox="1"/>
          <p:nvPr/>
        </p:nvSpPr>
        <p:spPr>
          <a:xfrm>
            <a:off x="2258593" y="1417320"/>
            <a:ext cx="630149" cy="548640"/>
          </a:xfrm>
          <a:prstGeom prst="rect">
            <a:avLst/>
          </a:prstGeom>
          <a:noFill/>
          <a:ln/>
        </p:spPr>
        <p:txBody>
          <a:bodyPr wrap="square" lIns="0" tIns="0" rIns="0" bIns="0" rtlCol="0" anchor="ctr"/>
          <a:lstStyle/>
          <a:p>
            <a:pPr algn="ctr" indent="0" marL="0">
              <a:buNone/>
            </a:pPr>
            <a:r>
              <a:rPr lang="en-US" sz="2600" i="1" dirty="0">
                <a:solidFill>
                  <a:srgbClr val="6B7686"/>
                </a:solidFill>
                <a:latin typeface="Calibri" pitchFamily="34" charset="0"/>
                <a:ea typeface="Calibri" pitchFamily="34" charset="-122"/>
                <a:cs typeface="Calibri" pitchFamily="34" charset="-120"/>
              </a:rPr>
              <a:t>De</a:t>
            </a:r>
            <a:endParaRPr lang="en-US" sz="2600" dirty="0"/>
          </a:p>
        </p:txBody>
      </p:sp>
      <p:sp>
        <p:nvSpPr>
          <p:cNvPr id="6" name="Text 3"/>
          <p:cNvSpPr txBox="1"/>
          <p:nvPr/>
        </p:nvSpPr>
        <p:spPr>
          <a:xfrm>
            <a:off x="2888742" y="1417320"/>
            <a:ext cx="1270076" cy="548640"/>
          </a:xfrm>
          <a:prstGeom prst="rect">
            <a:avLst/>
          </a:prstGeom>
          <a:noFill/>
          <a:ln/>
        </p:spPr>
        <p:txBody>
          <a:bodyPr wrap="square" lIns="0" tIns="0" rIns="0" bIns="0" rtlCol="0" anchor="ctr"/>
          <a:lstStyle/>
          <a:p>
            <a:pPr algn="ctr" indent="0" marL="0">
              <a:buNone/>
            </a:pPr>
            <a:r>
              <a:rPr lang="en-US" sz="2600" b="1" i="1" dirty="0">
                <a:solidFill>
                  <a:srgbClr val="D9700F"/>
                </a:solidFill>
                <a:latin typeface="Calibri" pitchFamily="34" charset="0"/>
                <a:ea typeface="Calibri" pitchFamily="34" charset="-122"/>
                <a:cs typeface="Calibri" pitchFamily="34" charset="-120"/>
              </a:rPr>
              <a:t>nieuwe</a:t>
            </a:r>
            <a:endParaRPr lang="en-US" sz="2600" dirty="0"/>
          </a:p>
        </p:txBody>
      </p:sp>
      <p:sp>
        <p:nvSpPr>
          <p:cNvPr id="7" name="Shape 4"/>
          <p:cNvSpPr/>
          <p:nvPr/>
        </p:nvSpPr>
        <p:spPr>
          <a:xfrm>
            <a:off x="2961894" y="1984248"/>
            <a:ext cx="1123772" cy="914"/>
          </a:xfrm>
          <a:prstGeom prst="line">
            <a:avLst/>
          </a:prstGeom>
          <a:noFill/>
          <a:ln w="19050">
            <a:solidFill>
              <a:srgbClr val="D9700F"/>
            </a:solidFill>
            <a:prstDash val="solid"/>
          </a:ln>
        </p:spPr>
      </p:sp>
      <p:sp>
        <p:nvSpPr>
          <p:cNvPr id="8" name="Text 5"/>
          <p:cNvSpPr txBox="1"/>
          <p:nvPr/>
        </p:nvSpPr>
        <p:spPr>
          <a:xfrm>
            <a:off x="2705862" y="2029968"/>
            <a:ext cx="1635836" cy="256032"/>
          </a:xfrm>
          <a:prstGeom prst="rect">
            <a:avLst/>
          </a:prstGeom>
          <a:noFill/>
          <a:ln/>
        </p:spPr>
        <p:txBody>
          <a:bodyPr wrap="square" lIns="0" tIns="0" rIns="0" bIns="0" rtlCol="0" anchor="ctr"/>
          <a:lstStyle/>
          <a:p>
            <a:pPr algn="ctr" indent="0" marL="0">
              <a:buNone/>
            </a:pPr>
            <a:r>
              <a:rPr lang="en-US" sz="1000" b="1" spc="200" kern="0" dirty="0">
                <a:solidFill>
                  <a:srgbClr val="D9700F"/>
                </a:solidFill>
                <a:latin typeface="Calibri" pitchFamily="34" charset="0"/>
                <a:ea typeface="Calibri" pitchFamily="34" charset="-122"/>
                <a:cs typeface="Calibri" pitchFamily="34" charset="-120"/>
              </a:rPr>
              <a:t>ADJ.</a:t>
            </a:r>
            <a:endParaRPr lang="en-US" sz="1000" dirty="0"/>
          </a:p>
        </p:txBody>
      </p:sp>
      <p:sp>
        <p:nvSpPr>
          <p:cNvPr id="9" name="Text 6"/>
          <p:cNvSpPr txBox="1"/>
          <p:nvPr/>
        </p:nvSpPr>
        <p:spPr>
          <a:xfrm>
            <a:off x="4158818" y="1417320"/>
            <a:ext cx="1219886" cy="548640"/>
          </a:xfrm>
          <a:prstGeom prst="rect">
            <a:avLst/>
          </a:prstGeom>
          <a:noFill/>
          <a:ln/>
        </p:spPr>
        <p:txBody>
          <a:bodyPr wrap="square" lIns="0" tIns="0" rIns="0" bIns="0" rtlCol="0" anchor="ctr"/>
          <a:lstStyle/>
          <a:p>
            <a:pPr algn="ctr" indent="0" marL="0">
              <a:buNone/>
            </a:pPr>
            <a:r>
              <a:rPr lang="en-US" sz="2600" b="1" i="1" dirty="0">
                <a:solidFill>
                  <a:srgbClr val="2A6FB0"/>
                </a:solidFill>
                <a:latin typeface="Calibri" pitchFamily="34" charset="0"/>
                <a:ea typeface="Calibri" pitchFamily="34" charset="-122"/>
                <a:cs typeface="Calibri" pitchFamily="34" charset="-120"/>
              </a:rPr>
              <a:t>collega</a:t>
            </a:r>
            <a:endParaRPr lang="en-US" sz="2600" dirty="0"/>
          </a:p>
        </p:txBody>
      </p:sp>
      <p:sp>
        <p:nvSpPr>
          <p:cNvPr id="10" name="Shape 7"/>
          <p:cNvSpPr/>
          <p:nvPr/>
        </p:nvSpPr>
        <p:spPr>
          <a:xfrm>
            <a:off x="4231970" y="1984248"/>
            <a:ext cx="1073582" cy="914"/>
          </a:xfrm>
          <a:prstGeom prst="line">
            <a:avLst/>
          </a:prstGeom>
          <a:noFill/>
          <a:ln w="19050">
            <a:solidFill>
              <a:srgbClr val="2A6FB0"/>
            </a:solidFill>
            <a:prstDash val="solid"/>
          </a:ln>
        </p:spPr>
      </p:sp>
      <p:sp>
        <p:nvSpPr>
          <p:cNvPr id="11" name="Text 8"/>
          <p:cNvSpPr txBox="1"/>
          <p:nvPr/>
        </p:nvSpPr>
        <p:spPr>
          <a:xfrm>
            <a:off x="3975938" y="2029968"/>
            <a:ext cx="1585646" cy="256032"/>
          </a:xfrm>
          <a:prstGeom prst="rect">
            <a:avLst/>
          </a:prstGeom>
          <a:noFill/>
          <a:ln/>
        </p:spPr>
        <p:txBody>
          <a:bodyPr wrap="square" lIns="0" tIns="0" rIns="0" bIns="0" rtlCol="0" anchor="ctr"/>
          <a:lstStyle/>
          <a:p>
            <a:pPr algn="ctr" indent="0" marL="0">
              <a:buNone/>
            </a:pPr>
            <a:r>
              <a:rPr lang="en-US" sz="1000" b="1" spc="200" kern="0" dirty="0">
                <a:solidFill>
                  <a:srgbClr val="2A6FB0"/>
                </a:solidFill>
                <a:latin typeface="Calibri" pitchFamily="34" charset="0"/>
                <a:ea typeface="Calibri" pitchFamily="34" charset="-122"/>
                <a:cs typeface="Calibri" pitchFamily="34" charset="-120"/>
              </a:rPr>
              <a:t>NOM</a:t>
            </a:r>
            <a:endParaRPr lang="en-US" sz="1000" dirty="0"/>
          </a:p>
        </p:txBody>
      </p:sp>
      <p:sp>
        <p:nvSpPr>
          <p:cNvPr id="12" name="Text 9"/>
          <p:cNvSpPr txBox="1"/>
          <p:nvPr/>
        </p:nvSpPr>
        <p:spPr>
          <a:xfrm>
            <a:off x="5378704" y="1417320"/>
            <a:ext cx="1058418" cy="548640"/>
          </a:xfrm>
          <a:prstGeom prst="rect">
            <a:avLst/>
          </a:prstGeom>
          <a:noFill/>
          <a:ln/>
        </p:spPr>
        <p:txBody>
          <a:bodyPr wrap="square" lIns="0" tIns="0" rIns="0" bIns="0" rtlCol="0" anchor="ctr"/>
          <a:lstStyle/>
          <a:p>
            <a:pPr algn="ctr" indent="0" marL="0">
              <a:buNone/>
            </a:pPr>
            <a:r>
              <a:rPr lang="en-US" sz="2600" b="1" i="1" dirty="0">
                <a:solidFill>
                  <a:srgbClr val="B83227"/>
                </a:solidFill>
                <a:latin typeface="Calibri" pitchFamily="34" charset="0"/>
                <a:ea typeface="Calibri" pitchFamily="34" charset="-122"/>
                <a:cs typeface="Calibri" pitchFamily="34" charset="-120"/>
              </a:rPr>
              <a:t>werkt</a:t>
            </a:r>
            <a:endParaRPr lang="en-US" sz="2600" dirty="0"/>
          </a:p>
        </p:txBody>
      </p:sp>
      <p:sp>
        <p:nvSpPr>
          <p:cNvPr id="13" name="Shape 10"/>
          <p:cNvSpPr/>
          <p:nvPr/>
        </p:nvSpPr>
        <p:spPr>
          <a:xfrm>
            <a:off x="5451856" y="1984248"/>
            <a:ext cx="912114" cy="914"/>
          </a:xfrm>
          <a:prstGeom prst="line">
            <a:avLst/>
          </a:prstGeom>
          <a:noFill/>
          <a:ln w="19050">
            <a:solidFill>
              <a:srgbClr val="B83227"/>
            </a:solidFill>
            <a:prstDash val="solid"/>
          </a:ln>
        </p:spPr>
      </p:sp>
      <p:sp>
        <p:nvSpPr>
          <p:cNvPr id="14" name="Text 11"/>
          <p:cNvSpPr txBox="1"/>
          <p:nvPr/>
        </p:nvSpPr>
        <p:spPr>
          <a:xfrm>
            <a:off x="5195824" y="2029968"/>
            <a:ext cx="1424178" cy="256032"/>
          </a:xfrm>
          <a:prstGeom prst="rect">
            <a:avLst/>
          </a:prstGeom>
          <a:noFill/>
          <a:ln/>
        </p:spPr>
        <p:txBody>
          <a:bodyPr wrap="square" lIns="0" tIns="0" rIns="0" bIns="0" rtlCol="0" anchor="ctr"/>
          <a:lstStyle/>
          <a:p>
            <a:pPr algn="ctr" indent="0" marL="0">
              <a:buNone/>
            </a:pPr>
            <a:r>
              <a:rPr lang="en-US" sz="1000" b="1" spc="200" kern="0" dirty="0">
                <a:solidFill>
                  <a:srgbClr val="B83227"/>
                </a:solidFill>
                <a:latin typeface="Calibri" pitchFamily="34" charset="0"/>
                <a:ea typeface="Calibri" pitchFamily="34" charset="-122"/>
                <a:cs typeface="Calibri" pitchFamily="34" charset="-120"/>
              </a:rPr>
              <a:t>VERBE</a:t>
            </a:r>
            <a:endParaRPr lang="en-US" sz="1000" dirty="0"/>
          </a:p>
        </p:txBody>
      </p:sp>
      <p:sp>
        <p:nvSpPr>
          <p:cNvPr id="15" name="Text 12"/>
          <p:cNvSpPr txBox="1"/>
          <p:nvPr/>
        </p:nvSpPr>
        <p:spPr>
          <a:xfrm>
            <a:off x="6437122" y="1417320"/>
            <a:ext cx="812419" cy="548640"/>
          </a:xfrm>
          <a:prstGeom prst="rect">
            <a:avLst/>
          </a:prstGeom>
          <a:noFill/>
          <a:ln/>
        </p:spPr>
        <p:txBody>
          <a:bodyPr wrap="square" lIns="0" tIns="0" rIns="0" bIns="0" rtlCol="0" anchor="ctr"/>
          <a:lstStyle/>
          <a:p>
            <a:pPr algn="ctr" indent="0" marL="0">
              <a:buNone/>
            </a:pPr>
            <a:r>
              <a:rPr lang="en-US" sz="2600" b="1" i="1" dirty="0">
                <a:solidFill>
                  <a:srgbClr val="2E7D4F"/>
                </a:solidFill>
                <a:latin typeface="Calibri" pitchFamily="34" charset="0"/>
                <a:ea typeface="Calibri" pitchFamily="34" charset="-122"/>
                <a:cs typeface="Calibri" pitchFamily="34" charset="-120"/>
              </a:rPr>
              <a:t>snel</a:t>
            </a:r>
            <a:endParaRPr lang="en-US" sz="2600" dirty="0"/>
          </a:p>
        </p:txBody>
      </p:sp>
      <p:sp>
        <p:nvSpPr>
          <p:cNvPr id="16" name="Shape 13"/>
          <p:cNvSpPr/>
          <p:nvPr/>
        </p:nvSpPr>
        <p:spPr>
          <a:xfrm>
            <a:off x="6510274" y="1984248"/>
            <a:ext cx="666115" cy="914"/>
          </a:xfrm>
          <a:prstGeom prst="line">
            <a:avLst/>
          </a:prstGeom>
          <a:noFill/>
          <a:ln w="19050">
            <a:solidFill>
              <a:srgbClr val="2E7D4F"/>
            </a:solidFill>
            <a:prstDash val="solid"/>
          </a:ln>
        </p:spPr>
      </p:sp>
      <p:sp>
        <p:nvSpPr>
          <p:cNvPr id="17" name="Text 14"/>
          <p:cNvSpPr txBox="1"/>
          <p:nvPr/>
        </p:nvSpPr>
        <p:spPr>
          <a:xfrm>
            <a:off x="6254242" y="2029968"/>
            <a:ext cx="1178179" cy="256032"/>
          </a:xfrm>
          <a:prstGeom prst="rect">
            <a:avLst/>
          </a:prstGeom>
          <a:noFill/>
          <a:ln/>
        </p:spPr>
        <p:txBody>
          <a:bodyPr wrap="square" lIns="0" tIns="0" rIns="0" bIns="0" rtlCol="0" anchor="ctr"/>
          <a:lstStyle/>
          <a:p>
            <a:pPr algn="ctr" indent="0" marL="0">
              <a:buNone/>
            </a:pPr>
            <a:r>
              <a:rPr lang="en-US" sz="1000" b="1" spc="200" kern="0" dirty="0">
                <a:solidFill>
                  <a:srgbClr val="2E7D4F"/>
                </a:solidFill>
                <a:latin typeface="Calibri" pitchFamily="34" charset="0"/>
                <a:ea typeface="Calibri" pitchFamily="34" charset="-122"/>
                <a:cs typeface="Calibri" pitchFamily="34" charset="-120"/>
              </a:rPr>
              <a:t>ADV.</a:t>
            </a:r>
            <a:endParaRPr lang="en-US" sz="1000" dirty="0"/>
          </a:p>
        </p:txBody>
      </p:sp>
      <p:sp>
        <p:nvSpPr>
          <p:cNvPr id="18" name="Text 15"/>
          <p:cNvSpPr txBox="1"/>
          <p:nvPr/>
        </p:nvSpPr>
        <p:spPr>
          <a:xfrm>
            <a:off x="7249541" y="1417320"/>
            <a:ext cx="759587" cy="548640"/>
          </a:xfrm>
          <a:prstGeom prst="rect">
            <a:avLst/>
          </a:prstGeom>
          <a:noFill/>
          <a:ln/>
        </p:spPr>
        <p:txBody>
          <a:bodyPr wrap="square" lIns="0" tIns="0" rIns="0" bIns="0" rtlCol="0" anchor="ctr"/>
          <a:lstStyle/>
          <a:p>
            <a:pPr algn="ctr" indent="0" marL="0">
              <a:buNone/>
            </a:pPr>
            <a:r>
              <a:rPr lang="en-US" sz="2600" i="1" dirty="0">
                <a:solidFill>
                  <a:srgbClr val="6B7686"/>
                </a:solidFill>
                <a:latin typeface="Calibri" pitchFamily="34" charset="0"/>
                <a:ea typeface="Calibri" pitchFamily="34" charset="-122"/>
                <a:cs typeface="Calibri" pitchFamily="34" charset="-120"/>
              </a:rPr>
              <a:t>aan</a:t>
            </a:r>
            <a:endParaRPr lang="en-US" sz="2600" dirty="0"/>
          </a:p>
        </p:txBody>
      </p:sp>
      <p:sp>
        <p:nvSpPr>
          <p:cNvPr id="19" name="Text 16"/>
          <p:cNvSpPr txBox="1"/>
          <p:nvPr/>
        </p:nvSpPr>
        <p:spPr>
          <a:xfrm>
            <a:off x="8009128" y="1417320"/>
            <a:ext cx="1921231" cy="548640"/>
          </a:xfrm>
          <a:prstGeom prst="rect">
            <a:avLst/>
          </a:prstGeom>
          <a:noFill/>
          <a:ln/>
        </p:spPr>
        <p:txBody>
          <a:bodyPr wrap="square" lIns="0" tIns="0" rIns="0" bIns="0" rtlCol="0" anchor="ctr"/>
          <a:lstStyle/>
          <a:p>
            <a:pPr algn="ctr" indent="0" marL="0">
              <a:buNone/>
            </a:pPr>
            <a:r>
              <a:rPr lang="en-US" sz="2600" b="1" i="1" dirty="0">
                <a:solidFill>
                  <a:srgbClr val="2A6FB0"/>
                </a:solidFill>
                <a:latin typeface="Calibri" pitchFamily="34" charset="0"/>
                <a:ea typeface="Calibri" pitchFamily="34" charset="-122"/>
                <a:cs typeface="Calibri" pitchFamily="34" charset="-120"/>
              </a:rPr>
              <a:t>het rapport.</a:t>
            </a:r>
            <a:endParaRPr lang="en-US" sz="2600" dirty="0"/>
          </a:p>
        </p:txBody>
      </p:sp>
      <p:sp>
        <p:nvSpPr>
          <p:cNvPr id="20" name="Shape 17"/>
          <p:cNvSpPr/>
          <p:nvPr/>
        </p:nvSpPr>
        <p:spPr>
          <a:xfrm>
            <a:off x="8082280" y="1984248"/>
            <a:ext cx="1774927" cy="914"/>
          </a:xfrm>
          <a:prstGeom prst="line">
            <a:avLst/>
          </a:prstGeom>
          <a:noFill/>
          <a:ln w="19050">
            <a:solidFill>
              <a:srgbClr val="2A6FB0"/>
            </a:solidFill>
            <a:prstDash val="solid"/>
          </a:ln>
        </p:spPr>
      </p:sp>
      <p:sp>
        <p:nvSpPr>
          <p:cNvPr id="21" name="Text 18"/>
          <p:cNvSpPr txBox="1"/>
          <p:nvPr/>
        </p:nvSpPr>
        <p:spPr>
          <a:xfrm>
            <a:off x="7826248" y="2029968"/>
            <a:ext cx="2286991" cy="256032"/>
          </a:xfrm>
          <a:prstGeom prst="rect">
            <a:avLst/>
          </a:prstGeom>
          <a:noFill/>
          <a:ln/>
        </p:spPr>
        <p:txBody>
          <a:bodyPr wrap="square" lIns="0" tIns="0" rIns="0" bIns="0" rtlCol="0" anchor="ctr"/>
          <a:lstStyle/>
          <a:p>
            <a:pPr algn="ctr" indent="0" marL="0">
              <a:buNone/>
            </a:pPr>
            <a:r>
              <a:rPr lang="en-US" sz="1000" b="1" spc="200" kern="0" dirty="0">
                <a:solidFill>
                  <a:srgbClr val="2A6FB0"/>
                </a:solidFill>
                <a:latin typeface="Calibri" pitchFamily="34" charset="0"/>
                <a:ea typeface="Calibri" pitchFamily="34" charset="-122"/>
                <a:cs typeface="Calibri" pitchFamily="34" charset="-120"/>
              </a:rPr>
              <a:t>NOM</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606040"/>
          <a:ext cx="10543032" cy="914400"/>
        </p:xfrm>
        <a:graphic>
          <a:graphicData uri="http://schemas.openxmlformats.org/drawingml/2006/table">
            <a:tbl>
              <a:tblPr/>
              <a:tblGrid>
                <a:gridCol w="1737360"/>
                <a:gridCol w="3383280"/>
                <a:gridCol w="3044952"/>
                <a:gridCol w="2377440"/>
              </a:tblGrid>
              <a:tr h="502920">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CATÉGORIE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ON LA RECONNAÎT…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EXEMPLE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SON RÔLE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de / het</a:t>
                      </a:r>
                      <a:r>
                        <a:rPr lang="en-US" sz="1600" dirty="0">
                          <a:solidFill>
                            <a:srgbClr val="1B2333"/>
                          </a:solidFill>
                          <a:latin typeface="Calibri" pitchFamily="34" charset="0"/>
                          <a:ea typeface="Calibri" pitchFamily="34" charset="-122"/>
                          <a:cs typeface="Calibri" pitchFamily="34" charset="-120"/>
                        </a:rPr>
                        <a:t> devant · un pluriel</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2A6FB0"/>
                          </a:solidFill>
                          <a:latin typeface="Calibri" pitchFamily="34" charset="0"/>
                          <a:ea typeface="Calibri" pitchFamily="34" charset="-122"/>
                          <a:cs typeface="Calibri" pitchFamily="34" charset="-120"/>
                        </a:rPr>
                        <a:t>de collega · het rapport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sujet ou complément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il se conjugue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B83227"/>
                          </a:solidFill>
                          <a:latin typeface="Calibri" pitchFamily="34" charset="0"/>
                          <a:ea typeface="Calibri" pitchFamily="34" charset="-122"/>
                          <a:cs typeface="Calibri" pitchFamily="34" charset="-120"/>
                        </a:rPr>
                        <a:t>ik werk · hij werkte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le cœur de la phrase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avant le nom (+ </a:t>
                      </a:r>
                      <a:r>
                        <a:rPr lang="en-US" sz="1600" i="1" dirty="0">
                          <a:solidFill>
                            <a:srgbClr val="1B2333"/>
                          </a:solidFill>
                          <a:latin typeface="Calibri" pitchFamily="34" charset="0"/>
                          <a:ea typeface="Calibri" pitchFamily="34" charset="-122"/>
                          <a:cs typeface="Calibri" pitchFamily="34" charset="-120"/>
                        </a:rPr>
                        <a:t>-e</a:t>
                      </a:r>
                      <a:r>
                        <a:rPr lang="en-US" sz="1600" dirty="0">
                          <a:solidFill>
                            <a:srgbClr val="1B2333"/>
                          </a:solidFill>
                          <a:latin typeface="Calibri" pitchFamily="34" charset="0"/>
                          <a:ea typeface="Calibri" pitchFamily="34" charset="-122"/>
                          <a:cs typeface="Calibri" pitchFamily="34" charset="-120"/>
                        </a:rPr>
                        <a:t>) ou après </a:t>
                      </a:r>
                      <a:r>
                        <a:rPr lang="en-US" sz="1600" i="1" dirty="0">
                          <a:solidFill>
                            <a:srgbClr val="1B2333"/>
                          </a:solidFill>
                          <a:latin typeface="Calibri" pitchFamily="34" charset="0"/>
                          <a:ea typeface="Calibri" pitchFamily="34" charset="-122"/>
                          <a:cs typeface="Calibri" pitchFamily="34" charset="-120"/>
                        </a:rPr>
                        <a:t>zijn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de </a:t>
                      </a:r>
                      <a:r>
                        <a:rPr lang="en-US" sz="1600" b="1" i="1" dirty="0">
                          <a:solidFill>
                            <a:srgbClr val="D9700F"/>
                          </a:solidFill>
                          <a:latin typeface="Calibri" pitchFamily="34" charset="0"/>
                          <a:ea typeface="Calibri" pitchFamily="34" charset="-122"/>
                          <a:cs typeface="Calibri" pitchFamily="34" charset="-120"/>
                        </a:rPr>
                        <a:t>nieuwe</a:t>
                      </a:r>
                      <a:r>
                        <a:rPr lang="en-US" sz="1600" i="1" dirty="0">
                          <a:solidFill>
                            <a:srgbClr val="1B2333"/>
                          </a:solidFill>
                          <a:latin typeface="Calibri" pitchFamily="34" charset="0"/>
                          <a:ea typeface="Calibri" pitchFamily="34" charset="-122"/>
                          <a:cs typeface="Calibri" pitchFamily="34" charset="-120"/>
                        </a:rPr>
                        <a:t> collega</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décrit un 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2E7D4F"/>
                          </a:solidFill>
                          <a:latin typeface="Calibri" pitchFamily="34" charset="0"/>
                          <a:ea typeface="Calibri" pitchFamily="34" charset="-122"/>
                          <a:cs typeface="Calibri" pitchFamily="34" charset="-120"/>
                        </a:rPr>
                        <a:t>adverbe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il dit comment, quand, où</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Ze werkt </a:t>
                      </a:r>
                      <a:r>
                        <a:rPr lang="en-US" sz="1600" b="1" i="1" dirty="0">
                          <a:solidFill>
                            <a:srgbClr val="2E7D4F"/>
                          </a:solidFill>
                          <a:latin typeface="Calibri" pitchFamily="34" charset="0"/>
                          <a:ea typeface="Calibri" pitchFamily="34" charset="-122"/>
                          <a:cs typeface="Calibri" pitchFamily="34" charset="-120"/>
                        </a:rPr>
                        <a:t>snel</a:t>
                      </a:r>
                      <a:r>
                        <a:rPr lang="en-US" sz="1600" i="1" dirty="0">
                          <a:solidFill>
                            <a:srgbClr val="1B2333"/>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décrit un 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3" name="Text 19"/>
          <p:cNvSpPr txBox="1"/>
          <p:nvPr/>
        </p:nvSpPr>
        <p:spPr>
          <a:xfrm>
            <a:off x="822960" y="562356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Dériver = changer la </a:t>
            </a:r>
            <a:r>
              <a:rPr lang="en-US" sz="1600" b="1" i="1" dirty="0">
                <a:solidFill>
                  <a:srgbClr val="17375E"/>
                </a:solidFill>
                <a:latin typeface="Calibri" pitchFamily="34" charset="0"/>
                <a:ea typeface="Calibri" pitchFamily="34" charset="-122"/>
                <a:cs typeface="Calibri" pitchFamily="34" charset="-120"/>
              </a:rPr>
              <a:t>catégorie</a:t>
            </a:r>
            <a:r>
              <a:rPr lang="en-US" sz="1600" i="1" dirty="0">
                <a:solidFill>
                  <a:srgbClr val="17375E"/>
                </a:solidFill>
                <a:latin typeface="Calibri" pitchFamily="34" charset="0"/>
                <a:ea typeface="Calibri" pitchFamily="34" charset="-122"/>
                <a:cs typeface="Calibri" pitchFamily="34" charset="-120"/>
              </a:rPr>
              <a:t> d’un mot… donc son </a:t>
            </a:r>
            <a:r>
              <a:rPr lang="en-US" sz="1600" b="1" i="1" dirty="0">
                <a:solidFill>
                  <a:srgbClr val="17375E"/>
                </a:solidFill>
                <a:latin typeface="Calibri" pitchFamily="34" charset="0"/>
                <a:ea typeface="Calibri" pitchFamily="34" charset="-122"/>
                <a:cs typeface="Calibri" pitchFamily="34" charset="-120"/>
              </a:rPr>
              <a:t>rôle</a:t>
            </a:r>
            <a:r>
              <a:rPr lang="en-US" sz="1600" i="1" dirty="0">
                <a:solidFill>
                  <a:srgbClr val="17375E"/>
                </a:solidFill>
                <a:latin typeface="Calibri" pitchFamily="34" charset="0"/>
                <a:ea typeface="Calibri" pitchFamily="34" charset="-122"/>
                <a:cs typeface="Calibri" pitchFamily="34" charset="-120"/>
              </a:rPr>
              <a:t> dans la phrase.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carrefour des catégories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LA CARTE</a:t>
            </a:r>
            <a:endParaRPr lang="en-US" sz="1100" dirty="0"/>
          </a:p>
        </p:txBody>
      </p:sp>
      <p:sp>
        <p:nvSpPr>
          <p:cNvPr id="5" name="Shape 2"/>
          <p:cNvSpPr/>
          <p:nvPr/>
        </p:nvSpPr>
        <p:spPr>
          <a:xfrm flipV="1">
            <a:off x="3753121" y="2531480"/>
            <a:ext cx="1952060" cy="1848660"/>
          </a:xfrm>
          <a:prstGeom prst="line">
            <a:avLst/>
          </a:prstGeom>
          <a:noFill/>
          <a:ln w="22225">
            <a:solidFill>
              <a:srgbClr val="2A6FB0"/>
            </a:solidFill>
            <a:prstDash val="solid"/>
            <a:tailEnd type="triangle"/>
          </a:ln>
        </p:spPr>
      </p:sp>
      <p:sp>
        <p:nvSpPr>
          <p:cNvPr id="6" name="Shape 3"/>
          <p:cNvSpPr/>
          <p:nvPr/>
        </p:nvSpPr>
        <p:spPr>
          <a:xfrm flipH="1">
            <a:off x="3635416" y="2340700"/>
            <a:ext cx="1952060" cy="1848660"/>
          </a:xfrm>
          <a:prstGeom prst="line">
            <a:avLst/>
          </a:prstGeom>
          <a:noFill/>
          <a:ln w="22225">
            <a:solidFill>
              <a:srgbClr val="B83227"/>
            </a:solidFill>
            <a:prstDash val="solid"/>
            <a:tailEnd type="triangle"/>
          </a:ln>
        </p:spPr>
      </p:sp>
      <p:sp>
        <p:nvSpPr>
          <p:cNvPr id="7" name="Shape 4"/>
          <p:cNvSpPr/>
          <p:nvPr/>
        </p:nvSpPr>
        <p:spPr>
          <a:xfrm>
            <a:off x="6450575" y="2500042"/>
            <a:ext cx="1952060" cy="1848660"/>
          </a:xfrm>
          <a:prstGeom prst="line">
            <a:avLst/>
          </a:prstGeom>
          <a:noFill/>
          <a:ln w="22225">
            <a:solidFill>
              <a:srgbClr val="D9700F"/>
            </a:solidFill>
            <a:prstDash val="solid"/>
            <a:tailEnd type="triangle"/>
          </a:ln>
        </p:spPr>
      </p:sp>
      <p:sp>
        <p:nvSpPr>
          <p:cNvPr id="8" name="Shape 5"/>
          <p:cNvSpPr/>
          <p:nvPr/>
        </p:nvSpPr>
        <p:spPr>
          <a:xfrm flipH="1" flipV="1">
            <a:off x="6634673" y="2372138"/>
            <a:ext cx="1952060" cy="1848660"/>
          </a:xfrm>
          <a:prstGeom prst="line">
            <a:avLst/>
          </a:prstGeom>
          <a:noFill/>
          <a:ln w="22225">
            <a:solidFill>
              <a:srgbClr val="2A6FB0"/>
            </a:solidFill>
            <a:prstDash val="solid"/>
            <a:tailEnd type="triangle"/>
          </a:ln>
        </p:spPr>
      </p:sp>
      <p:sp>
        <p:nvSpPr>
          <p:cNvPr id="9" name="Shape 6"/>
          <p:cNvSpPr/>
          <p:nvPr/>
        </p:nvSpPr>
        <p:spPr>
          <a:xfrm>
            <a:off x="3840480" y="4818888"/>
            <a:ext cx="4462272" cy="914"/>
          </a:xfrm>
          <a:prstGeom prst="line">
            <a:avLst/>
          </a:prstGeom>
          <a:noFill/>
          <a:ln w="22225">
            <a:solidFill>
              <a:srgbClr val="D9700F"/>
            </a:solidFill>
            <a:prstDash val="solid"/>
            <a:tailEnd type="triangle"/>
          </a:ln>
        </p:spPr>
      </p:sp>
      <p:sp>
        <p:nvSpPr>
          <p:cNvPr id="10" name="Shape 7"/>
          <p:cNvSpPr/>
          <p:nvPr/>
        </p:nvSpPr>
        <p:spPr>
          <a:xfrm flipH="1">
            <a:off x="3886200" y="4599432"/>
            <a:ext cx="4462272" cy="914"/>
          </a:xfrm>
          <a:prstGeom prst="line">
            <a:avLst/>
          </a:prstGeom>
          <a:noFill/>
          <a:ln w="22225">
            <a:solidFill>
              <a:srgbClr val="B83227"/>
            </a:solidFill>
            <a:prstDash val="solid"/>
            <a:tailEnd type="triangle"/>
          </a:ln>
        </p:spPr>
      </p:sp>
      <p:sp>
        <p:nvSpPr>
          <p:cNvPr id="11" name="Shape 8"/>
          <p:cNvSpPr/>
          <p:nvPr/>
        </p:nvSpPr>
        <p:spPr>
          <a:xfrm>
            <a:off x="5545836" y="1463040"/>
            <a:ext cx="1097280" cy="1097280"/>
          </a:xfrm>
          <a:prstGeom prst="ellipse">
            <a:avLst/>
          </a:prstGeom>
          <a:solidFill>
            <a:srgbClr val="2A6FB0"/>
          </a:solidFill>
          <a:ln w="12700">
            <a:solidFill>
              <a:srgbClr val="FFFFFF">
                <a:alpha val="0"/>
              </a:srgbClr>
            </a:solidFill>
            <a:prstDash val="solid"/>
          </a:ln>
        </p:spPr>
      </p:sp>
      <p:sp>
        <p:nvSpPr>
          <p:cNvPr id="12" name="Text 9"/>
          <p:cNvSpPr txBox="1"/>
          <p:nvPr/>
        </p:nvSpPr>
        <p:spPr>
          <a:xfrm>
            <a:off x="5362956" y="1828800"/>
            <a:ext cx="1463040" cy="36576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NOM</a:t>
            </a:r>
            <a:endParaRPr lang="en-US" sz="1250" dirty="0"/>
          </a:p>
        </p:txBody>
      </p:sp>
      <p:sp>
        <p:nvSpPr>
          <p:cNvPr id="13" name="Shape 10"/>
          <p:cNvSpPr/>
          <p:nvPr/>
        </p:nvSpPr>
        <p:spPr>
          <a:xfrm>
            <a:off x="2697480" y="4160520"/>
            <a:ext cx="1097280" cy="1097280"/>
          </a:xfrm>
          <a:prstGeom prst="ellipse">
            <a:avLst/>
          </a:prstGeom>
          <a:solidFill>
            <a:srgbClr val="B83227"/>
          </a:solidFill>
          <a:ln w="12700">
            <a:solidFill>
              <a:srgbClr val="FFFFFF">
                <a:alpha val="0"/>
              </a:srgbClr>
            </a:solidFill>
            <a:prstDash val="solid"/>
          </a:ln>
        </p:spPr>
      </p:sp>
      <p:sp>
        <p:nvSpPr>
          <p:cNvPr id="14" name="Text 11"/>
          <p:cNvSpPr txBox="1"/>
          <p:nvPr/>
        </p:nvSpPr>
        <p:spPr>
          <a:xfrm>
            <a:off x="2514600" y="4526280"/>
            <a:ext cx="1463040" cy="36576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VERBE</a:t>
            </a:r>
            <a:endParaRPr lang="en-US" sz="1250" dirty="0"/>
          </a:p>
        </p:txBody>
      </p:sp>
      <p:sp>
        <p:nvSpPr>
          <p:cNvPr id="15" name="Shape 12"/>
          <p:cNvSpPr/>
          <p:nvPr/>
        </p:nvSpPr>
        <p:spPr>
          <a:xfrm>
            <a:off x="8394192" y="4160520"/>
            <a:ext cx="1097280" cy="1097280"/>
          </a:xfrm>
          <a:prstGeom prst="ellipse">
            <a:avLst/>
          </a:prstGeom>
          <a:solidFill>
            <a:srgbClr val="D9700F"/>
          </a:solidFill>
          <a:ln w="12700">
            <a:solidFill>
              <a:srgbClr val="FFFFFF">
                <a:alpha val="0"/>
              </a:srgbClr>
            </a:solidFill>
            <a:prstDash val="solid"/>
          </a:ln>
        </p:spPr>
      </p:sp>
      <p:sp>
        <p:nvSpPr>
          <p:cNvPr id="16" name="Text 13"/>
          <p:cNvSpPr txBox="1"/>
          <p:nvPr/>
        </p:nvSpPr>
        <p:spPr>
          <a:xfrm>
            <a:off x="8211312" y="4526280"/>
            <a:ext cx="1463040" cy="365760"/>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ADJECTIF</a:t>
            </a:r>
            <a:endParaRPr lang="en-US" sz="1250" dirty="0"/>
          </a:p>
        </p:txBody>
      </p:sp>
      <p:sp>
        <p:nvSpPr>
          <p:cNvPr id="17" name="Shape 14"/>
          <p:cNvSpPr/>
          <p:nvPr/>
        </p:nvSpPr>
        <p:spPr>
          <a:xfrm>
            <a:off x="10451592" y="4325112"/>
            <a:ext cx="768096" cy="768096"/>
          </a:xfrm>
          <a:prstGeom prst="ellipse">
            <a:avLst/>
          </a:prstGeom>
          <a:solidFill>
            <a:srgbClr val="2E7D4F"/>
          </a:solidFill>
          <a:ln w="12700">
            <a:solidFill>
              <a:srgbClr val="FFFFFF">
                <a:alpha val="0"/>
              </a:srgbClr>
            </a:solidFill>
            <a:prstDash val="solid"/>
          </a:ln>
        </p:spPr>
      </p:sp>
      <p:sp>
        <p:nvSpPr>
          <p:cNvPr id="18" name="Text 15"/>
          <p:cNvSpPr txBox="1"/>
          <p:nvPr/>
        </p:nvSpPr>
        <p:spPr>
          <a:xfrm>
            <a:off x="10360152" y="4562856"/>
            <a:ext cx="950976"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ADVERBE</a:t>
            </a:r>
            <a:endParaRPr lang="en-US" sz="900" dirty="0"/>
          </a:p>
        </p:txBody>
      </p:sp>
      <p:sp>
        <p:nvSpPr>
          <p:cNvPr id="19" name="Text 16"/>
          <p:cNvSpPr txBox="1"/>
          <p:nvPr/>
        </p:nvSpPr>
        <p:spPr>
          <a:xfrm>
            <a:off x="9646920" y="4480560"/>
            <a:ext cx="566928" cy="457200"/>
          </a:xfrm>
          <a:prstGeom prst="rect">
            <a:avLst/>
          </a:prstGeom>
          <a:noFill/>
          <a:ln/>
        </p:spPr>
        <p:txBody>
          <a:bodyPr wrap="square" lIns="0" tIns="0" rIns="0" bIns="0" rtlCol="0" anchor="ctr"/>
          <a:lstStyle/>
          <a:p>
            <a:pPr algn="ctr" indent="0" marL="0">
              <a:buNone/>
            </a:pPr>
            <a:r>
              <a:rPr lang="en-US" sz="2200" b="1" dirty="0">
                <a:solidFill>
                  <a:srgbClr val="2E7D4F"/>
                </a:solidFill>
                <a:latin typeface="Calibri" pitchFamily="34" charset="0"/>
                <a:ea typeface="Calibri" pitchFamily="34" charset="-122"/>
                <a:cs typeface="Calibri" pitchFamily="34" charset="-120"/>
              </a:rPr>
              <a:t>=</a:t>
            </a:r>
            <a:endParaRPr lang="en-US" sz="2200" dirty="0"/>
          </a:p>
        </p:txBody>
      </p:sp>
      <p:sp>
        <p:nvSpPr>
          <p:cNvPr id="20" name="Text 17"/>
          <p:cNvSpPr txBox="1"/>
          <p:nvPr/>
        </p:nvSpPr>
        <p:spPr>
          <a:xfrm>
            <a:off x="4937760" y="3429000"/>
            <a:ext cx="2313432" cy="365760"/>
          </a:xfrm>
          <a:prstGeom prst="rect">
            <a:avLst/>
          </a:prstGeom>
          <a:noFill/>
          <a:ln/>
        </p:spPr>
        <p:txBody>
          <a:bodyPr wrap="square" lIns="0" tIns="0" rIns="0" bIns="0" rtlCol="0" anchor="ctr"/>
          <a:lstStyle/>
          <a:p>
            <a:pPr algn="ctr" indent="0" marL="0">
              <a:buNone/>
            </a:pPr>
            <a:r>
              <a:rPr lang="en-US" sz="1400" i="1" dirty="0">
                <a:solidFill>
                  <a:srgbClr val="6E4A9E"/>
                </a:solidFill>
                <a:latin typeface="Calibri" pitchFamily="34" charset="0"/>
                <a:ea typeface="Calibri" pitchFamily="34" charset="-122"/>
                <a:cs typeface="Calibri" pitchFamily="34" charset="-120"/>
              </a:rPr>
              <a:t>le suffixe décide</a:t>
            </a:r>
            <a:endParaRPr lang="en-US" sz="1400" dirty="0"/>
          </a:p>
        </p:txBody>
      </p:sp>
      <p:sp>
        <p:nvSpPr>
          <p:cNvPr id="21" name="Text 18"/>
          <p:cNvSpPr txBox="1"/>
          <p:nvPr/>
        </p:nvSpPr>
        <p:spPr>
          <a:xfrm>
            <a:off x="640080" y="2057400"/>
            <a:ext cx="4206240" cy="256032"/>
          </a:xfrm>
          <a:prstGeom prst="rect">
            <a:avLst/>
          </a:prstGeom>
          <a:noFill/>
          <a:ln/>
        </p:spPr>
        <p:txBody>
          <a:bodyPr wrap="square" lIns="0" tIns="0" rIns="0" bIns="0" rtlCol="0" anchor="ctr"/>
          <a:lstStyle/>
          <a:p>
            <a:pPr algn="r" indent="0" marL="0">
              <a:buNone/>
            </a:pPr>
            <a:r>
              <a:rPr lang="en-US" sz="1050" b="1" spc="100" kern="0" dirty="0">
                <a:solidFill>
                  <a:srgbClr val="B83227"/>
                </a:solidFill>
                <a:latin typeface="Calibri" pitchFamily="34" charset="0"/>
                <a:ea typeface="Calibri" pitchFamily="34" charset="-122"/>
                <a:cs typeface="Calibri" pitchFamily="34" charset="-120"/>
              </a:rPr>
              <a:t>VERBE</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2A6FB0"/>
                </a:solidFill>
                <a:latin typeface="Calibri" pitchFamily="34" charset="0"/>
                <a:ea typeface="Calibri" pitchFamily="34" charset="-122"/>
                <a:cs typeface="Calibri" pitchFamily="34" charset="-120"/>
              </a:rPr>
              <a:t>NOM</a:t>
            </a:r>
            <a:endParaRPr lang="en-US" sz="1050" dirty="0"/>
          </a:p>
        </p:txBody>
      </p:sp>
      <p:sp>
        <p:nvSpPr>
          <p:cNvPr id="22" name="Text 19"/>
          <p:cNvSpPr txBox="1"/>
          <p:nvPr/>
        </p:nvSpPr>
        <p:spPr>
          <a:xfrm>
            <a:off x="640080" y="2313432"/>
            <a:ext cx="4206240" cy="548640"/>
          </a:xfrm>
          <a:prstGeom prst="rect">
            <a:avLst/>
          </a:prstGeom>
          <a:noFill/>
          <a:ln/>
        </p:spPr>
        <p:txBody>
          <a:bodyPr wrap="square" lIns="0" tIns="0" rIns="0" bIns="0" rtlCol="0" anchor="t"/>
          <a:lstStyle/>
          <a:p>
            <a:pPr algn="r" indent="0" marL="0">
              <a:buNone/>
            </a:pPr>
            <a:r>
              <a:rPr lang="en-US" sz="1450" b="1" dirty="0">
                <a:solidFill>
                  <a:srgbClr val="6E4A9E"/>
                </a:solidFill>
                <a:latin typeface="Calibri" pitchFamily="34" charset="0"/>
                <a:ea typeface="Calibri" pitchFamily="34" charset="-122"/>
                <a:cs typeface="Calibri" pitchFamily="34" charset="-120"/>
              </a:rPr>
              <a:t>het + inf. · radical · -ing · -er · -atie</a:t>
            </a:r>
            <a:endParaRPr lang="en-US" sz="1450" dirty="0"/>
          </a:p>
        </p:txBody>
      </p:sp>
      <p:sp>
        <p:nvSpPr>
          <p:cNvPr id="23" name="Text 20"/>
          <p:cNvSpPr txBox="1"/>
          <p:nvPr/>
        </p:nvSpPr>
        <p:spPr>
          <a:xfrm>
            <a:off x="640080" y="2926080"/>
            <a:ext cx="3611880" cy="256032"/>
          </a:xfrm>
          <a:prstGeom prst="rect">
            <a:avLst/>
          </a:prstGeom>
          <a:noFill/>
          <a:ln/>
        </p:spPr>
        <p:txBody>
          <a:bodyPr wrap="square" lIns="0" tIns="0" rIns="0" bIns="0" rtlCol="0" anchor="ctr"/>
          <a:lstStyle/>
          <a:p>
            <a:pPr algn="r" indent="0" marL="0">
              <a:buNone/>
            </a:pPr>
            <a:r>
              <a:rPr lang="en-US" sz="1050" b="1" spc="100" kern="0" dirty="0">
                <a:solidFill>
                  <a:srgbClr val="2A6FB0"/>
                </a:solidFill>
                <a:latin typeface="Calibri" pitchFamily="34" charset="0"/>
                <a:ea typeface="Calibri" pitchFamily="34" charset="-122"/>
                <a:cs typeface="Calibri" pitchFamily="34" charset="-120"/>
              </a:rPr>
              <a:t>NOM</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B83227"/>
                </a:solidFill>
                <a:latin typeface="Calibri" pitchFamily="34" charset="0"/>
                <a:ea typeface="Calibri" pitchFamily="34" charset="-122"/>
                <a:cs typeface="Calibri" pitchFamily="34" charset="-120"/>
              </a:rPr>
              <a:t>VERBE</a:t>
            </a:r>
            <a:endParaRPr lang="en-US" sz="1050" dirty="0"/>
          </a:p>
        </p:txBody>
      </p:sp>
      <p:sp>
        <p:nvSpPr>
          <p:cNvPr id="24" name="Text 21"/>
          <p:cNvSpPr txBox="1"/>
          <p:nvPr/>
        </p:nvSpPr>
        <p:spPr>
          <a:xfrm>
            <a:off x="640080" y="3182112"/>
            <a:ext cx="3611880" cy="548640"/>
          </a:xfrm>
          <a:prstGeom prst="rect">
            <a:avLst/>
          </a:prstGeom>
          <a:noFill/>
          <a:ln/>
        </p:spPr>
        <p:txBody>
          <a:bodyPr wrap="square" lIns="0" tIns="0" rIns="0" bIns="0" rtlCol="0" anchor="t"/>
          <a:lstStyle/>
          <a:p>
            <a:pPr algn="r" indent="0" marL="0">
              <a:buNone/>
            </a:pPr>
            <a:r>
              <a:rPr lang="en-US" sz="1450" b="1" dirty="0">
                <a:solidFill>
                  <a:srgbClr val="6E4A9E"/>
                </a:solidFill>
                <a:latin typeface="Calibri" pitchFamily="34" charset="0"/>
                <a:ea typeface="Calibri" pitchFamily="34" charset="-122"/>
                <a:cs typeface="Calibri" pitchFamily="34" charset="-120"/>
              </a:rPr>
              <a:t>+ -en · -eren · be-</a:t>
            </a:r>
            <a:endParaRPr lang="en-US" sz="1450" dirty="0"/>
          </a:p>
        </p:txBody>
      </p:sp>
      <p:sp>
        <p:nvSpPr>
          <p:cNvPr id="25" name="Text 22"/>
          <p:cNvSpPr txBox="1"/>
          <p:nvPr/>
        </p:nvSpPr>
        <p:spPr>
          <a:xfrm>
            <a:off x="7360920" y="2057400"/>
            <a:ext cx="4206240" cy="256032"/>
          </a:xfrm>
          <a:prstGeom prst="rect">
            <a:avLst/>
          </a:prstGeom>
          <a:noFill/>
          <a:ln/>
        </p:spPr>
        <p:txBody>
          <a:bodyPr wrap="square" lIns="0" tIns="0" rIns="0" bIns="0" rtlCol="0" anchor="ctr"/>
          <a:lstStyle/>
          <a:p>
            <a:pPr algn="l" indent="0" marL="0">
              <a:buNone/>
            </a:pPr>
            <a:r>
              <a:rPr lang="en-US" sz="1050" b="1" spc="100" kern="0" dirty="0">
                <a:solidFill>
                  <a:srgbClr val="D9700F"/>
                </a:solidFill>
                <a:latin typeface="Calibri" pitchFamily="34" charset="0"/>
                <a:ea typeface="Calibri" pitchFamily="34" charset="-122"/>
                <a:cs typeface="Calibri" pitchFamily="34" charset="-120"/>
              </a:rPr>
              <a:t>ADJECTIF</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2A6FB0"/>
                </a:solidFill>
                <a:latin typeface="Calibri" pitchFamily="34" charset="0"/>
                <a:ea typeface="Calibri" pitchFamily="34" charset="-122"/>
                <a:cs typeface="Calibri" pitchFamily="34" charset="-120"/>
              </a:rPr>
              <a:t>NOM</a:t>
            </a:r>
            <a:endParaRPr lang="en-US" sz="1050" dirty="0"/>
          </a:p>
        </p:txBody>
      </p:sp>
      <p:sp>
        <p:nvSpPr>
          <p:cNvPr id="26" name="Text 23"/>
          <p:cNvSpPr txBox="1"/>
          <p:nvPr/>
        </p:nvSpPr>
        <p:spPr>
          <a:xfrm>
            <a:off x="7360920" y="2313432"/>
            <a:ext cx="4206240" cy="548640"/>
          </a:xfrm>
          <a:prstGeom prst="rect">
            <a:avLst/>
          </a:prstGeom>
          <a:noFill/>
          <a:ln/>
        </p:spPr>
        <p:txBody>
          <a:bodyPr wrap="square" lIns="0" tIns="0" rIns="0" bIns="0" rtlCol="0" anchor="t"/>
          <a:lstStyle/>
          <a:p>
            <a:pPr algn="l" indent="0" marL="0">
              <a:buNone/>
            </a:pPr>
            <a:r>
              <a:rPr lang="en-US" sz="1450" b="1" dirty="0">
                <a:solidFill>
                  <a:srgbClr val="6E4A9E"/>
                </a:solidFill>
                <a:latin typeface="Calibri" pitchFamily="34" charset="0"/>
                <a:ea typeface="Calibri" pitchFamily="34" charset="-122"/>
                <a:cs typeface="Calibri" pitchFamily="34" charset="-120"/>
              </a:rPr>
              <a:t>-heid · -te · -iteit</a:t>
            </a:r>
            <a:endParaRPr lang="en-US" sz="1450" dirty="0"/>
          </a:p>
        </p:txBody>
      </p:sp>
      <p:sp>
        <p:nvSpPr>
          <p:cNvPr id="27" name="Text 24"/>
          <p:cNvSpPr txBox="1"/>
          <p:nvPr/>
        </p:nvSpPr>
        <p:spPr>
          <a:xfrm>
            <a:off x="7955280" y="2926080"/>
            <a:ext cx="3611880" cy="256032"/>
          </a:xfrm>
          <a:prstGeom prst="rect">
            <a:avLst/>
          </a:prstGeom>
          <a:noFill/>
          <a:ln/>
        </p:spPr>
        <p:txBody>
          <a:bodyPr wrap="square" lIns="0" tIns="0" rIns="0" bIns="0" rtlCol="0" anchor="ctr"/>
          <a:lstStyle/>
          <a:p>
            <a:pPr algn="l" indent="0" marL="0">
              <a:buNone/>
            </a:pPr>
            <a:r>
              <a:rPr lang="en-US" sz="1050" b="1" spc="100" kern="0" dirty="0">
                <a:solidFill>
                  <a:srgbClr val="2A6FB0"/>
                </a:solidFill>
                <a:latin typeface="Calibri" pitchFamily="34" charset="0"/>
                <a:ea typeface="Calibri" pitchFamily="34" charset="-122"/>
                <a:cs typeface="Calibri" pitchFamily="34" charset="-120"/>
              </a:rPr>
              <a:t>NOM</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D9700F"/>
                </a:solidFill>
                <a:latin typeface="Calibri" pitchFamily="34" charset="0"/>
                <a:ea typeface="Calibri" pitchFamily="34" charset="-122"/>
                <a:cs typeface="Calibri" pitchFamily="34" charset="-120"/>
              </a:rPr>
              <a:t>ADJECTIF</a:t>
            </a:r>
            <a:endParaRPr lang="en-US" sz="1050" dirty="0"/>
          </a:p>
        </p:txBody>
      </p:sp>
      <p:sp>
        <p:nvSpPr>
          <p:cNvPr id="28" name="Text 25"/>
          <p:cNvSpPr txBox="1"/>
          <p:nvPr/>
        </p:nvSpPr>
        <p:spPr>
          <a:xfrm>
            <a:off x="7955280" y="3182112"/>
            <a:ext cx="3611880" cy="548640"/>
          </a:xfrm>
          <a:prstGeom prst="rect">
            <a:avLst/>
          </a:prstGeom>
          <a:noFill/>
          <a:ln/>
        </p:spPr>
        <p:txBody>
          <a:bodyPr wrap="square" lIns="0" tIns="0" rIns="0" bIns="0" rtlCol="0" anchor="t"/>
          <a:lstStyle/>
          <a:p>
            <a:pPr algn="l" indent="0" marL="0">
              <a:buNone/>
            </a:pPr>
            <a:r>
              <a:rPr lang="en-US" sz="1450" b="1" dirty="0">
                <a:solidFill>
                  <a:srgbClr val="6E4A9E"/>
                </a:solidFill>
                <a:latin typeface="Calibri" pitchFamily="34" charset="0"/>
                <a:ea typeface="Calibri" pitchFamily="34" charset="-122"/>
                <a:cs typeface="Calibri" pitchFamily="34" charset="-120"/>
              </a:rPr>
              <a:t>-ig · -lijk · -isch · -loos · -en</a:t>
            </a:r>
            <a:endParaRPr lang="en-US" sz="1450" dirty="0"/>
          </a:p>
        </p:txBody>
      </p:sp>
      <p:sp>
        <p:nvSpPr>
          <p:cNvPr id="29" name="Text 26"/>
          <p:cNvSpPr txBox="1"/>
          <p:nvPr/>
        </p:nvSpPr>
        <p:spPr>
          <a:xfrm>
            <a:off x="4023360" y="5394960"/>
            <a:ext cx="2194560" cy="256032"/>
          </a:xfrm>
          <a:prstGeom prst="rect">
            <a:avLst/>
          </a:prstGeom>
          <a:noFill/>
          <a:ln/>
        </p:spPr>
        <p:txBody>
          <a:bodyPr wrap="square" lIns="0" tIns="0" rIns="0" bIns="0" rtlCol="0" anchor="ctr"/>
          <a:lstStyle/>
          <a:p>
            <a:pPr algn="ctr" indent="0" marL="0">
              <a:buNone/>
            </a:pPr>
            <a:r>
              <a:rPr lang="en-US" sz="1050" b="1" spc="100" kern="0" dirty="0">
                <a:solidFill>
                  <a:srgbClr val="B83227"/>
                </a:solidFill>
                <a:latin typeface="Calibri" pitchFamily="34" charset="0"/>
                <a:ea typeface="Calibri" pitchFamily="34" charset="-122"/>
                <a:cs typeface="Calibri" pitchFamily="34" charset="-120"/>
              </a:rPr>
              <a:t>VERBE</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D9700F"/>
                </a:solidFill>
                <a:latin typeface="Calibri" pitchFamily="34" charset="0"/>
                <a:ea typeface="Calibri" pitchFamily="34" charset="-122"/>
                <a:cs typeface="Calibri" pitchFamily="34" charset="-120"/>
              </a:rPr>
              <a:t>ADJECTIF</a:t>
            </a:r>
            <a:endParaRPr lang="en-US" sz="1050" dirty="0"/>
          </a:p>
        </p:txBody>
      </p:sp>
      <p:sp>
        <p:nvSpPr>
          <p:cNvPr id="30" name="Text 27"/>
          <p:cNvSpPr txBox="1"/>
          <p:nvPr/>
        </p:nvSpPr>
        <p:spPr>
          <a:xfrm>
            <a:off x="4023360" y="5650992"/>
            <a:ext cx="2194560" cy="548640"/>
          </a:xfrm>
          <a:prstGeom prst="rect">
            <a:avLst/>
          </a:prstGeom>
          <a:noFill/>
          <a:ln/>
        </p:spPr>
        <p:txBody>
          <a:bodyPr wrap="square" lIns="0" tIns="0" rIns="0" bIns="0" rtlCol="0" anchor="t"/>
          <a:lstStyle/>
          <a:p>
            <a:pPr algn="ctr" indent="0" marL="0">
              <a:buNone/>
            </a:pPr>
            <a:r>
              <a:rPr lang="en-US" sz="1450" b="1" dirty="0">
                <a:solidFill>
                  <a:srgbClr val="6E4A9E"/>
                </a:solidFill>
                <a:latin typeface="Calibri" pitchFamily="34" charset="0"/>
                <a:ea typeface="Calibri" pitchFamily="34" charset="-122"/>
                <a:cs typeface="Calibri" pitchFamily="34" charset="-120"/>
              </a:rPr>
              <a:t>-baar · -end · participe</a:t>
            </a:r>
            <a:endParaRPr lang="en-US" sz="1450" dirty="0"/>
          </a:p>
        </p:txBody>
      </p:sp>
      <p:sp>
        <p:nvSpPr>
          <p:cNvPr id="31" name="Text 28"/>
          <p:cNvSpPr txBox="1"/>
          <p:nvPr/>
        </p:nvSpPr>
        <p:spPr>
          <a:xfrm>
            <a:off x="6035040" y="5394960"/>
            <a:ext cx="2194560" cy="256032"/>
          </a:xfrm>
          <a:prstGeom prst="rect">
            <a:avLst/>
          </a:prstGeom>
          <a:noFill/>
          <a:ln/>
        </p:spPr>
        <p:txBody>
          <a:bodyPr wrap="square" lIns="0" tIns="0" rIns="0" bIns="0" rtlCol="0" anchor="ctr"/>
          <a:lstStyle/>
          <a:p>
            <a:pPr algn="ctr" indent="0" marL="0">
              <a:buNone/>
            </a:pPr>
            <a:r>
              <a:rPr lang="en-US" sz="1050" b="1" spc="100" kern="0" dirty="0">
                <a:solidFill>
                  <a:srgbClr val="D9700F"/>
                </a:solidFill>
                <a:latin typeface="Calibri" pitchFamily="34" charset="0"/>
                <a:ea typeface="Calibri" pitchFamily="34" charset="-122"/>
                <a:cs typeface="Calibri" pitchFamily="34" charset="-120"/>
              </a:rPr>
              <a:t>ADJECTIF</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B83227"/>
                </a:solidFill>
                <a:latin typeface="Calibri" pitchFamily="34" charset="0"/>
                <a:ea typeface="Calibri" pitchFamily="34" charset="-122"/>
                <a:cs typeface="Calibri" pitchFamily="34" charset="-120"/>
              </a:rPr>
              <a:t>VERBE</a:t>
            </a:r>
            <a:endParaRPr lang="en-US" sz="1050" dirty="0"/>
          </a:p>
        </p:txBody>
      </p:sp>
      <p:sp>
        <p:nvSpPr>
          <p:cNvPr id="32" name="Text 29"/>
          <p:cNvSpPr txBox="1"/>
          <p:nvPr/>
        </p:nvSpPr>
        <p:spPr>
          <a:xfrm>
            <a:off x="6035040" y="5650992"/>
            <a:ext cx="2194560" cy="548640"/>
          </a:xfrm>
          <a:prstGeom prst="rect">
            <a:avLst/>
          </a:prstGeom>
          <a:noFill/>
          <a:ln/>
        </p:spPr>
        <p:txBody>
          <a:bodyPr wrap="square" lIns="0" tIns="0" rIns="0" bIns="0" rtlCol="0" anchor="t"/>
          <a:lstStyle/>
          <a:p>
            <a:pPr algn="ctr" indent="0" marL="0">
              <a:buNone/>
            </a:pPr>
            <a:r>
              <a:rPr lang="en-US" sz="1450" b="1" dirty="0">
                <a:solidFill>
                  <a:srgbClr val="6E4A9E"/>
                </a:solidFill>
                <a:latin typeface="Calibri" pitchFamily="34" charset="0"/>
                <a:ea typeface="Calibri" pitchFamily="34" charset="-122"/>
                <a:cs typeface="Calibri" pitchFamily="34" charset="-120"/>
              </a:rPr>
              <a:t>ver- … -en</a:t>
            </a:r>
            <a:endParaRPr lang="en-US" sz="1450" dirty="0"/>
          </a:p>
        </p:txBody>
      </p:sp>
      <p:sp>
        <p:nvSpPr>
          <p:cNvPr id="33" name="Text 30"/>
          <p:cNvSpPr txBox="1"/>
          <p:nvPr/>
        </p:nvSpPr>
        <p:spPr>
          <a:xfrm>
            <a:off x="9464040" y="5349240"/>
            <a:ext cx="2377440" cy="256032"/>
          </a:xfrm>
          <a:prstGeom prst="rect">
            <a:avLst/>
          </a:prstGeom>
          <a:noFill/>
          <a:ln/>
        </p:spPr>
        <p:txBody>
          <a:bodyPr wrap="square" lIns="0" tIns="0" rIns="0" bIns="0" rtlCol="0" anchor="ctr"/>
          <a:lstStyle/>
          <a:p>
            <a:pPr algn="ctr" indent="0" marL="0">
              <a:buNone/>
            </a:pPr>
            <a:r>
              <a:rPr lang="en-US" sz="1050" b="1" spc="100" kern="0" dirty="0">
                <a:solidFill>
                  <a:srgbClr val="D9700F"/>
                </a:solidFill>
                <a:latin typeface="Calibri" pitchFamily="34" charset="0"/>
                <a:ea typeface="Calibri" pitchFamily="34" charset="-122"/>
                <a:cs typeface="Calibri" pitchFamily="34" charset="-120"/>
              </a:rPr>
              <a:t>ADJECTIF</a:t>
            </a:r>
            <a:r>
              <a:rPr lang="en-US" sz="1050" b="1" spc="100" kern="0" dirty="0">
                <a:solidFill>
                  <a:srgbClr val="6B7686"/>
                </a:solidFill>
                <a:latin typeface="Calibri" pitchFamily="34" charset="0"/>
                <a:ea typeface="Calibri" pitchFamily="34" charset="-122"/>
                <a:cs typeface="Calibri" pitchFamily="34" charset="-120"/>
              </a:rPr>
              <a:t> = </a:t>
            </a:r>
            <a:r>
              <a:rPr lang="en-US" sz="1050" b="1" spc="100" kern="0" dirty="0">
                <a:solidFill>
                  <a:srgbClr val="2E7D4F"/>
                </a:solidFill>
                <a:latin typeface="Calibri" pitchFamily="34" charset="0"/>
                <a:ea typeface="Calibri" pitchFamily="34" charset="-122"/>
                <a:cs typeface="Calibri" pitchFamily="34" charset="-120"/>
              </a:rPr>
              <a:t>ADVERBE</a:t>
            </a:r>
            <a:endParaRPr lang="en-US" sz="1050" dirty="0"/>
          </a:p>
        </p:txBody>
      </p:sp>
      <p:sp>
        <p:nvSpPr>
          <p:cNvPr id="34" name="Text 31"/>
          <p:cNvSpPr txBox="1"/>
          <p:nvPr/>
        </p:nvSpPr>
        <p:spPr>
          <a:xfrm>
            <a:off x="9464040" y="5605272"/>
            <a:ext cx="2377440" cy="548640"/>
          </a:xfrm>
          <a:prstGeom prst="rect">
            <a:avLst/>
          </a:prstGeom>
          <a:noFill/>
          <a:ln/>
        </p:spPr>
        <p:txBody>
          <a:bodyPr wrap="square" lIns="0" tIns="0" rIns="0" bIns="0" rtlCol="0" anchor="t"/>
          <a:lstStyle/>
          <a:p>
            <a:pPr algn="ctr" indent="0" marL="0">
              <a:buNone/>
            </a:pPr>
            <a:r>
              <a:rPr lang="en-US" sz="1450" b="1" dirty="0">
                <a:solidFill>
                  <a:srgbClr val="6E4A9E"/>
                </a:solidFill>
                <a:latin typeface="Calibri" pitchFamily="34" charset="0"/>
                <a:ea typeface="Calibri" pitchFamily="34" charset="-122"/>
                <a:cs typeface="Calibri" pitchFamily="34" charset="-120"/>
              </a:rPr>
              <a:t>rien ne change !</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Préfixe + racine + suffixe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LE PRINCIPE</a:t>
            </a:r>
            <a:endParaRPr lang="en-US" sz="1100" dirty="0"/>
          </a:p>
        </p:txBody>
      </p:sp>
      <p:sp>
        <p:nvSpPr>
          <p:cNvPr id="5" name="Shape 2"/>
          <p:cNvSpPr/>
          <p:nvPr/>
        </p:nvSpPr>
        <p:spPr>
          <a:xfrm>
            <a:off x="1188720" y="1600200"/>
            <a:ext cx="716534" cy="566928"/>
          </a:xfrm>
          <a:prstGeom prst="roundRect">
            <a:avLst>
              <a:gd name="adj" fmla="val 12903"/>
            </a:avLst>
          </a:prstGeom>
          <a:solidFill>
            <a:srgbClr val="6E4A9E"/>
          </a:solidFill>
          <a:ln w="12700">
            <a:solidFill>
              <a:srgbClr val="FFFFFF">
                <a:alpha val="0"/>
              </a:srgbClr>
            </a:solidFill>
            <a:prstDash val="solid"/>
          </a:ln>
        </p:spPr>
      </p:sp>
      <p:sp>
        <p:nvSpPr>
          <p:cNvPr id="6" name="Text 3"/>
          <p:cNvSpPr txBox="1"/>
          <p:nvPr/>
        </p:nvSpPr>
        <p:spPr>
          <a:xfrm>
            <a:off x="1188720" y="1600200"/>
            <a:ext cx="716534"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on-</a:t>
            </a:r>
            <a:endParaRPr lang="en-US" sz="2000" dirty="0"/>
          </a:p>
        </p:txBody>
      </p:sp>
      <p:sp>
        <p:nvSpPr>
          <p:cNvPr id="7" name="Shape 4"/>
          <p:cNvSpPr/>
          <p:nvPr/>
        </p:nvSpPr>
        <p:spPr>
          <a:xfrm>
            <a:off x="1978406" y="1600200"/>
            <a:ext cx="707644" cy="566928"/>
          </a:xfrm>
          <a:prstGeom prst="roundRect">
            <a:avLst>
              <a:gd name="adj" fmla="val 12903"/>
            </a:avLst>
          </a:prstGeom>
          <a:solidFill>
            <a:srgbClr val="6E4A9E"/>
          </a:solidFill>
          <a:ln w="12700">
            <a:solidFill>
              <a:srgbClr val="FFFFFF">
                <a:alpha val="0"/>
              </a:srgbClr>
            </a:solidFill>
            <a:prstDash val="solid"/>
          </a:ln>
        </p:spPr>
      </p:sp>
      <p:sp>
        <p:nvSpPr>
          <p:cNvPr id="8" name="Text 5"/>
          <p:cNvSpPr txBox="1"/>
          <p:nvPr/>
        </p:nvSpPr>
        <p:spPr>
          <a:xfrm>
            <a:off x="1978406" y="1600200"/>
            <a:ext cx="707644"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be-</a:t>
            </a:r>
            <a:endParaRPr lang="en-US" sz="2000" dirty="0"/>
          </a:p>
        </p:txBody>
      </p:sp>
      <p:sp>
        <p:nvSpPr>
          <p:cNvPr id="9" name="Shape 6"/>
          <p:cNvSpPr/>
          <p:nvPr/>
        </p:nvSpPr>
        <p:spPr>
          <a:xfrm>
            <a:off x="2759202" y="1600200"/>
            <a:ext cx="768096" cy="566928"/>
          </a:xfrm>
          <a:prstGeom prst="roundRect">
            <a:avLst>
              <a:gd name="adj" fmla="val 12903"/>
            </a:avLst>
          </a:prstGeom>
          <a:solidFill>
            <a:srgbClr val="B83227"/>
          </a:solidFill>
          <a:ln w="12700">
            <a:solidFill>
              <a:srgbClr val="FFFFFF">
                <a:alpha val="0"/>
              </a:srgbClr>
            </a:solidFill>
            <a:prstDash val="solid"/>
          </a:ln>
        </p:spPr>
      </p:sp>
      <p:sp>
        <p:nvSpPr>
          <p:cNvPr id="10" name="Text 7"/>
          <p:cNvSpPr txBox="1"/>
          <p:nvPr/>
        </p:nvSpPr>
        <p:spPr>
          <a:xfrm>
            <a:off x="2759202" y="1600200"/>
            <a:ext cx="768096"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reik</a:t>
            </a:r>
            <a:endParaRPr lang="en-US" sz="2000" dirty="0"/>
          </a:p>
        </p:txBody>
      </p:sp>
      <p:sp>
        <p:nvSpPr>
          <p:cNvPr id="11" name="Shape 8"/>
          <p:cNvSpPr/>
          <p:nvPr/>
        </p:nvSpPr>
        <p:spPr>
          <a:xfrm>
            <a:off x="3600450" y="1600200"/>
            <a:ext cx="921004" cy="566928"/>
          </a:xfrm>
          <a:prstGeom prst="roundRect">
            <a:avLst>
              <a:gd name="adj" fmla="val 12903"/>
            </a:avLst>
          </a:prstGeom>
          <a:solidFill>
            <a:srgbClr val="6E4A9E"/>
          </a:solidFill>
          <a:ln w="12700">
            <a:solidFill>
              <a:srgbClr val="FFFFFF">
                <a:alpha val="0"/>
              </a:srgbClr>
            </a:solidFill>
            <a:prstDash val="solid"/>
          </a:ln>
        </p:spPr>
      </p:sp>
      <p:sp>
        <p:nvSpPr>
          <p:cNvPr id="12" name="Text 9"/>
          <p:cNvSpPr txBox="1"/>
          <p:nvPr/>
        </p:nvSpPr>
        <p:spPr>
          <a:xfrm>
            <a:off x="3600450" y="1600200"/>
            <a:ext cx="921004"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-baar</a:t>
            </a:r>
            <a:endParaRPr lang="en-US" sz="2000" dirty="0"/>
          </a:p>
        </p:txBody>
      </p:sp>
      <p:sp>
        <p:nvSpPr>
          <p:cNvPr id="13" name="Text 10"/>
          <p:cNvSpPr txBox="1"/>
          <p:nvPr/>
        </p:nvSpPr>
        <p:spPr>
          <a:xfrm>
            <a:off x="5486400" y="1600200"/>
            <a:ext cx="548640" cy="566928"/>
          </a:xfrm>
          <a:prstGeom prst="rect">
            <a:avLst/>
          </a:prstGeom>
          <a:noFill/>
          <a:ln/>
        </p:spPr>
        <p:txBody>
          <a:bodyPr wrap="square" lIns="0" tIns="0" rIns="0" bIns="0" rtlCol="0" anchor="ctr"/>
          <a:lstStyle/>
          <a:p>
            <a:pPr algn="ctr" indent="0" marL="0">
              <a:buNone/>
            </a:pPr>
            <a:r>
              <a:rPr lang="en-US" sz="2200" dirty="0">
                <a:solidFill>
                  <a:srgbClr val="6B7686"/>
                </a:solidFill>
                <a:latin typeface="Calibri" pitchFamily="34" charset="0"/>
                <a:ea typeface="Calibri" pitchFamily="34" charset="-122"/>
                <a:cs typeface="Calibri" pitchFamily="34" charset="-120"/>
              </a:rPr>
              <a:t>→</a:t>
            </a:r>
            <a:endParaRPr lang="en-US" sz="2200" dirty="0"/>
          </a:p>
        </p:txBody>
      </p:sp>
      <p:sp>
        <p:nvSpPr>
          <p:cNvPr id="14" name="Text 11"/>
          <p:cNvSpPr txBox="1"/>
          <p:nvPr/>
        </p:nvSpPr>
        <p:spPr>
          <a:xfrm>
            <a:off x="6126480" y="1600200"/>
            <a:ext cx="2926080" cy="566928"/>
          </a:xfrm>
          <a:prstGeom prst="rect">
            <a:avLst/>
          </a:prstGeom>
          <a:noFill/>
          <a:ln/>
        </p:spPr>
        <p:txBody>
          <a:bodyPr wrap="square" lIns="0" tIns="0" rIns="0" bIns="0" rtlCol="0" anchor="ctr"/>
          <a:lstStyle/>
          <a:p>
            <a:pPr algn="l" indent="0" marL="0">
              <a:buNone/>
            </a:pPr>
            <a:r>
              <a:rPr lang="en-US" sz="2100" b="1" i="1" dirty="0">
                <a:solidFill>
                  <a:srgbClr val="D9700F"/>
                </a:solidFill>
                <a:latin typeface="Calibri" pitchFamily="34" charset="0"/>
                <a:ea typeface="Calibri" pitchFamily="34" charset="-122"/>
                <a:cs typeface="Calibri" pitchFamily="34" charset="-120"/>
              </a:rPr>
              <a:t>onbereikbaar</a:t>
            </a:r>
            <a:endParaRPr lang="en-US" sz="2100" dirty="0"/>
          </a:p>
        </p:txBody>
      </p:sp>
      <p:sp>
        <p:nvSpPr>
          <p:cNvPr id="15" name="Text 12"/>
          <p:cNvSpPr txBox="1"/>
          <p:nvPr/>
        </p:nvSpPr>
        <p:spPr>
          <a:xfrm>
            <a:off x="9052560" y="1581912"/>
            <a:ext cx="2377440" cy="603504"/>
          </a:xfrm>
          <a:prstGeom prst="rect">
            <a:avLst/>
          </a:prstGeom>
          <a:noFill/>
          <a:ln/>
        </p:spPr>
        <p:txBody>
          <a:bodyPr wrap="square" lIns="0" tIns="0" rIns="0" bIns="0" rtlCol="0" anchor="ctr"/>
          <a:lstStyle/>
          <a:p>
            <a:pPr algn="l" indent="0" marL="0">
              <a:buNone/>
            </a:pPr>
            <a:r>
              <a:rPr lang="en-US" sz="1300" b="1" dirty="0">
                <a:solidFill>
                  <a:srgbClr val="D9700F"/>
                </a:solidFill>
                <a:latin typeface="Calibri" pitchFamily="34" charset="0"/>
                <a:ea typeface="Calibri" pitchFamily="34" charset="-122"/>
                <a:cs typeface="Calibri" pitchFamily="34" charset="-120"/>
              </a:rPr>
              <a:t>adjectif</a:t>
            </a:r>
            <a:endParaRPr lang="en-US" sz="1300" dirty="0"/>
          </a:p>
          <a:p>
            <a:pPr algn="l" indent="0" marL="0">
              <a:buNone/>
            </a:pPr>
            <a:r>
              <a:rPr lang="en-US" sz="1300" dirty="0">
                <a:solidFill>
                  <a:srgbClr val="D9700F"/>
                </a:solidFill>
                <a:latin typeface="Calibri" pitchFamily="34" charset="0"/>
                <a:ea typeface="Calibri" pitchFamily="34" charset="-122"/>
                <a:cs typeface="Calibri" pitchFamily="34" charset="-120"/>
              </a:rPr>
              <a:t>« injoignable »</a:t>
            </a:r>
            <a:endParaRPr lang="en-US" sz="1300" dirty="0"/>
          </a:p>
        </p:txBody>
      </p:sp>
      <p:sp>
        <p:nvSpPr>
          <p:cNvPr id="16" name="Shape 13"/>
          <p:cNvSpPr/>
          <p:nvPr/>
        </p:nvSpPr>
        <p:spPr>
          <a:xfrm>
            <a:off x="1188720" y="2560320"/>
            <a:ext cx="781558" cy="566928"/>
          </a:xfrm>
          <a:prstGeom prst="roundRect">
            <a:avLst>
              <a:gd name="adj" fmla="val 12903"/>
            </a:avLst>
          </a:prstGeom>
          <a:solidFill>
            <a:srgbClr val="6E4A9E"/>
          </a:solidFill>
          <a:ln w="12700">
            <a:solidFill>
              <a:srgbClr val="FFFFFF">
                <a:alpha val="0"/>
              </a:srgbClr>
            </a:solidFill>
            <a:prstDash val="solid"/>
          </a:ln>
        </p:spPr>
      </p:sp>
      <p:sp>
        <p:nvSpPr>
          <p:cNvPr id="17" name="Text 14"/>
          <p:cNvSpPr txBox="1"/>
          <p:nvPr/>
        </p:nvSpPr>
        <p:spPr>
          <a:xfrm>
            <a:off x="1188720" y="2560320"/>
            <a:ext cx="78155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ver-</a:t>
            </a:r>
            <a:endParaRPr lang="en-US" sz="2000" dirty="0"/>
          </a:p>
        </p:txBody>
      </p:sp>
      <p:sp>
        <p:nvSpPr>
          <p:cNvPr id="18" name="Shape 15"/>
          <p:cNvSpPr/>
          <p:nvPr/>
        </p:nvSpPr>
        <p:spPr>
          <a:xfrm>
            <a:off x="2043430" y="2560320"/>
            <a:ext cx="937768" cy="566928"/>
          </a:xfrm>
          <a:prstGeom prst="roundRect">
            <a:avLst>
              <a:gd name="adj" fmla="val 12903"/>
            </a:avLst>
          </a:prstGeom>
          <a:solidFill>
            <a:srgbClr val="D9700F"/>
          </a:solidFill>
          <a:ln w="12700">
            <a:solidFill>
              <a:srgbClr val="FFFFFF">
                <a:alpha val="0"/>
              </a:srgbClr>
            </a:solidFill>
            <a:prstDash val="solid"/>
          </a:ln>
        </p:spPr>
      </p:sp>
      <p:sp>
        <p:nvSpPr>
          <p:cNvPr id="19" name="Text 16"/>
          <p:cNvSpPr txBox="1"/>
          <p:nvPr/>
        </p:nvSpPr>
        <p:spPr>
          <a:xfrm>
            <a:off x="2043430" y="2560320"/>
            <a:ext cx="93776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groot</a:t>
            </a:r>
            <a:endParaRPr lang="en-US" sz="2000" dirty="0"/>
          </a:p>
        </p:txBody>
      </p:sp>
      <p:sp>
        <p:nvSpPr>
          <p:cNvPr id="20" name="Shape 17"/>
          <p:cNvSpPr/>
          <p:nvPr/>
        </p:nvSpPr>
        <p:spPr>
          <a:xfrm>
            <a:off x="3054350" y="2560320"/>
            <a:ext cx="707644" cy="566928"/>
          </a:xfrm>
          <a:prstGeom prst="roundRect">
            <a:avLst>
              <a:gd name="adj" fmla="val 12903"/>
            </a:avLst>
          </a:prstGeom>
          <a:solidFill>
            <a:srgbClr val="6E4A9E"/>
          </a:solidFill>
          <a:ln w="12700">
            <a:solidFill>
              <a:srgbClr val="FFFFFF">
                <a:alpha val="0"/>
              </a:srgbClr>
            </a:solidFill>
            <a:prstDash val="solid"/>
          </a:ln>
        </p:spPr>
      </p:sp>
      <p:sp>
        <p:nvSpPr>
          <p:cNvPr id="21" name="Text 18"/>
          <p:cNvSpPr txBox="1"/>
          <p:nvPr/>
        </p:nvSpPr>
        <p:spPr>
          <a:xfrm>
            <a:off x="3054350" y="2560320"/>
            <a:ext cx="707644"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-en</a:t>
            </a:r>
            <a:endParaRPr lang="en-US" sz="2000" dirty="0"/>
          </a:p>
        </p:txBody>
      </p:sp>
      <p:sp>
        <p:nvSpPr>
          <p:cNvPr id="22" name="Text 19"/>
          <p:cNvSpPr txBox="1"/>
          <p:nvPr/>
        </p:nvSpPr>
        <p:spPr>
          <a:xfrm>
            <a:off x="5486400" y="2560320"/>
            <a:ext cx="548640" cy="566928"/>
          </a:xfrm>
          <a:prstGeom prst="rect">
            <a:avLst/>
          </a:prstGeom>
          <a:noFill/>
          <a:ln/>
        </p:spPr>
        <p:txBody>
          <a:bodyPr wrap="square" lIns="0" tIns="0" rIns="0" bIns="0" rtlCol="0" anchor="ctr"/>
          <a:lstStyle/>
          <a:p>
            <a:pPr algn="ctr" indent="0" marL="0">
              <a:buNone/>
            </a:pPr>
            <a:r>
              <a:rPr lang="en-US" sz="2200" dirty="0">
                <a:solidFill>
                  <a:srgbClr val="6B7686"/>
                </a:solidFill>
                <a:latin typeface="Calibri" pitchFamily="34" charset="0"/>
                <a:ea typeface="Calibri" pitchFamily="34" charset="-122"/>
                <a:cs typeface="Calibri" pitchFamily="34" charset="-120"/>
              </a:rPr>
              <a:t>→</a:t>
            </a:r>
            <a:endParaRPr lang="en-US" sz="2200" dirty="0"/>
          </a:p>
        </p:txBody>
      </p:sp>
      <p:sp>
        <p:nvSpPr>
          <p:cNvPr id="23" name="Text 20"/>
          <p:cNvSpPr txBox="1"/>
          <p:nvPr/>
        </p:nvSpPr>
        <p:spPr>
          <a:xfrm>
            <a:off x="6126480" y="2560320"/>
            <a:ext cx="2926080" cy="566928"/>
          </a:xfrm>
          <a:prstGeom prst="rect">
            <a:avLst/>
          </a:prstGeom>
          <a:noFill/>
          <a:ln/>
        </p:spPr>
        <p:txBody>
          <a:bodyPr wrap="square" lIns="0" tIns="0" rIns="0" bIns="0" rtlCol="0" anchor="ctr"/>
          <a:lstStyle/>
          <a:p>
            <a:pPr algn="l" indent="0" marL="0">
              <a:buNone/>
            </a:pPr>
            <a:r>
              <a:rPr lang="en-US" sz="2100" b="1" i="1" dirty="0">
                <a:solidFill>
                  <a:srgbClr val="B83227"/>
                </a:solidFill>
                <a:latin typeface="Calibri" pitchFamily="34" charset="0"/>
                <a:ea typeface="Calibri" pitchFamily="34" charset="-122"/>
                <a:cs typeface="Calibri" pitchFamily="34" charset="-120"/>
              </a:rPr>
              <a:t>vergroten</a:t>
            </a:r>
            <a:endParaRPr lang="en-US" sz="2100" dirty="0"/>
          </a:p>
        </p:txBody>
      </p:sp>
      <p:sp>
        <p:nvSpPr>
          <p:cNvPr id="24" name="Text 21"/>
          <p:cNvSpPr txBox="1"/>
          <p:nvPr/>
        </p:nvSpPr>
        <p:spPr>
          <a:xfrm>
            <a:off x="9052560" y="2542032"/>
            <a:ext cx="2377440" cy="603504"/>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verbe</a:t>
            </a:r>
            <a:endParaRPr lang="en-US" sz="1300" dirty="0"/>
          </a:p>
          <a:p>
            <a:pPr algn="l" indent="0" marL="0">
              <a:buNone/>
            </a:pPr>
            <a:r>
              <a:rPr lang="en-US" sz="1300" dirty="0">
                <a:solidFill>
                  <a:srgbClr val="B83227"/>
                </a:solidFill>
                <a:latin typeface="Calibri" pitchFamily="34" charset="0"/>
                <a:ea typeface="Calibri" pitchFamily="34" charset="-122"/>
                <a:cs typeface="Calibri" pitchFamily="34" charset="-120"/>
              </a:rPr>
              <a:t>« agrandir »</a:t>
            </a:r>
            <a:endParaRPr lang="en-US" sz="1300" dirty="0"/>
          </a:p>
        </p:txBody>
      </p:sp>
      <p:sp>
        <p:nvSpPr>
          <p:cNvPr id="25" name="Shape 22"/>
          <p:cNvSpPr/>
          <p:nvPr/>
        </p:nvSpPr>
        <p:spPr>
          <a:xfrm>
            <a:off x="1188720" y="3520440"/>
            <a:ext cx="894842" cy="566928"/>
          </a:xfrm>
          <a:prstGeom prst="roundRect">
            <a:avLst>
              <a:gd name="adj" fmla="val 12903"/>
            </a:avLst>
          </a:prstGeom>
          <a:solidFill>
            <a:srgbClr val="2A6FB0"/>
          </a:solidFill>
          <a:ln w="12700">
            <a:solidFill>
              <a:srgbClr val="FFFFFF">
                <a:alpha val="0"/>
              </a:srgbClr>
            </a:solidFill>
            <a:prstDash val="solid"/>
          </a:ln>
        </p:spPr>
      </p:sp>
      <p:sp>
        <p:nvSpPr>
          <p:cNvPr id="26" name="Text 23"/>
          <p:cNvSpPr txBox="1"/>
          <p:nvPr/>
        </p:nvSpPr>
        <p:spPr>
          <a:xfrm>
            <a:off x="1188720" y="3520440"/>
            <a:ext cx="894842"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werk</a:t>
            </a:r>
            <a:endParaRPr lang="en-US" sz="2000" dirty="0"/>
          </a:p>
        </p:txBody>
      </p:sp>
      <p:sp>
        <p:nvSpPr>
          <p:cNvPr id="27" name="Shape 24"/>
          <p:cNvSpPr/>
          <p:nvPr/>
        </p:nvSpPr>
        <p:spPr>
          <a:xfrm>
            <a:off x="2156714" y="3520440"/>
            <a:ext cx="880618" cy="566928"/>
          </a:xfrm>
          <a:prstGeom prst="roundRect">
            <a:avLst>
              <a:gd name="adj" fmla="val 12903"/>
            </a:avLst>
          </a:prstGeom>
          <a:solidFill>
            <a:srgbClr val="6E4A9E"/>
          </a:solidFill>
          <a:ln w="12700">
            <a:solidFill>
              <a:srgbClr val="FFFFFF">
                <a:alpha val="0"/>
              </a:srgbClr>
            </a:solidFill>
            <a:prstDash val="solid"/>
          </a:ln>
        </p:spPr>
      </p:sp>
      <p:sp>
        <p:nvSpPr>
          <p:cNvPr id="28" name="Text 25"/>
          <p:cNvSpPr txBox="1"/>
          <p:nvPr/>
        </p:nvSpPr>
        <p:spPr>
          <a:xfrm>
            <a:off x="2156714" y="3520440"/>
            <a:ext cx="88061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-loos</a:t>
            </a:r>
            <a:endParaRPr lang="en-US" sz="2000" dirty="0"/>
          </a:p>
        </p:txBody>
      </p:sp>
      <p:sp>
        <p:nvSpPr>
          <p:cNvPr id="29" name="Shape 26"/>
          <p:cNvSpPr/>
          <p:nvPr/>
        </p:nvSpPr>
        <p:spPr>
          <a:xfrm>
            <a:off x="3110484" y="3520440"/>
            <a:ext cx="906526" cy="566928"/>
          </a:xfrm>
          <a:prstGeom prst="roundRect">
            <a:avLst>
              <a:gd name="adj" fmla="val 12903"/>
            </a:avLst>
          </a:prstGeom>
          <a:solidFill>
            <a:srgbClr val="6E4A9E"/>
          </a:solidFill>
          <a:ln w="12700">
            <a:solidFill>
              <a:srgbClr val="FFFFFF">
                <a:alpha val="0"/>
              </a:srgbClr>
            </a:solidFill>
            <a:prstDash val="solid"/>
          </a:ln>
        </p:spPr>
      </p:sp>
      <p:sp>
        <p:nvSpPr>
          <p:cNvPr id="30" name="Text 27"/>
          <p:cNvSpPr txBox="1"/>
          <p:nvPr/>
        </p:nvSpPr>
        <p:spPr>
          <a:xfrm>
            <a:off x="3110484" y="3520440"/>
            <a:ext cx="906526"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-heid</a:t>
            </a:r>
            <a:endParaRPr lang="en-US" sz="2000" dirty="0"/>
          </a:p>
        </p:txBody>
      </p:sp>
      <p:sp>
        <p:nvSpPr>
          <p:cNvPr id="31" name="Text 28"/>
          <p:cNvSpPr txBox="1"/>
          <p:nvPr/>
        </p:nvSpPr>
        <p:spPr>
          <a:xfrm>
            <a:off x="5486400" y="3520440"/>
            <a:ext cx="548640" cy="566928"/>
          </a:xfrm>
          <a:prstGeom prst="rect">
            <a:avLst/>
          </a:prstGeom>
          <a:noFill/>
          <a:ln/>
        </p:spPr>
        <p:txBody>
          <a:bodyPr wrap="square" lIns="0" tIns="0" rIns="0" bIns="0" rtlCol="0" anchor="ctr"/>
          <a:lstStyle/>
          <a:p>
            <a:pPr algn="ctr" indent="0" marL="0">
              <a:buNone/>
            </a:pPr>
            <a:r>
              <a:rPr lang="en-US" sz="2200" dirty="0">
                <a:solidFill>
                  <a:srgbClr val="6B7686"/>
                </a:solidFill>
                <a:latin typeface="Calibri" pitchFamily="34" charset="0"/>
                <a:ea typeface="Calibri" pitchFamily="34" charset="-122"/>
                <a:cs typeface="Calibri" pitchFamily="34" charset="-120"/>
              </a:rPr>
              <a:t>→</a:t>
            </a:r>
            <a:endParaRPr lang="en-US" sz="2200" dirty="0"/>
          </a:p>
        </p:txBody>
      </p:sp>
      <p:sp>
        <p:nvSpPr>
          <p:cNvPr id="32" name="Text 29"/>
          <p:cNvSpPr txBox="1"/>
          <p:nvPr/>
        </p:nvSpPr>
        <p:spPr>
          <a:xfrm>
            <a:off x="6126480" y="3520440"/>
            <a:ext cx="2926080" cy="566928"/>
          </a:xfrm>
          <a:prstGeom prst="rect">
            <a:avLst/>
          </a:prstGeom>
          <a:noFill/>
          <a:ln/>
        </p:spPr>
        <p:txBody>
          <a:bodyPr wrap="square" lIns="0" tIns="0" rIns="0" bIns="0" rtlCol="0" anchor="ctr"/>
          <a:lstStyle/>
          <a:p>
            <a:pPr algn="l" indent="0" marL="0">
              <a:buNone/>
            </a:pPr>
            <a:r>
              <a:rPr lang="en-US" sz="2100" b="1" i="1" dirty="0">
                <a:solidFill>
                  <a:srgbClr val="2A6FB0"/>
                </a:solidFill>
                <a:latin typeface="Calibri" pitchFamily="34" charset="0"/>
                <a:ea typeface="Calibri" pitchFamily="34" charset="-122"/>
                <a:cs typeface="Calibri" pitchFamily="34" charset="-120"/>
              </a:rPr>
              <a:t>de werkloosheid</a:t>
            </a:r>
            <a:endParaRPr lang="en-US" sz="2100" dirty="0"/>
          </a:p>
        </p:txBody>
      </p:sp>
      <p:sp>
        <p:nvSpPr>
          <p:cNvPr id="33" name="Text 30"/>
          <p:cNvSpPr txBox="1"/>
          <p:nvPr/>
        </p:nvSpPr>
        <p:spPr>
          <a:xfrm>
            <a:off x="9052560" y="3502152"/>
            <a:ext cx="2377440" cy="603504"/>
          </a:xfrm>
          <a:prstGeom prst="rect">
            <a:avLst/>
          </a:prstGeom>
          <a:noFill/>
          <a:ln/>
        </p:spPr>
        <p:txBody>
          <a:bodyPr wrap="square" lIns="0" tIns="0" rIns="0" bIns="0" rtlCol="0" anchor="ctr"/>
          <a:lstStyle/>
          <a:p>
            <a:pPr algn="l" indent="0" marL="0">
              <a:buNone/>
            </a:pPr>
            <a:r>
              <a:rPr lang="en-US" sz="1300" b="1" dirty="0">
                <a:solidFill>
                  <a:srgbClr val="2A6FB0"/>
                </a:solidFill>
                <a:latin typeface="Calibri" pitchFamily="34" charset="0"/>
                <a:ea typeface="Calibri" pitchFamily="34" charset="-122"/>
                <a:cs typeface="Calibri" pitchFamily="34" charset="-120"/>
              </a:rPr>
              <a:t>nom</a:t>
            </a:r>
            <a:endParaRPr lang="en-US" sz="1300" dirty="0"/>
          </a:p>
          <a:p>
            <a:pPr algn="l" indent="0" marL="0">
              <a:buNone/>
            </a:pPr>
            <a:r>
              <a:rPr lang="en-US" sz="1300" dirty="0">
                <a:solidFill>
                  <a:srgbClr val="2A6FB0"/>
                </a:solidFill>
                <a:latin typeface="Calibri" pitchFamily="34" charset="0"/>
                <a:ea typeface="Calibri" pitchFamily="34" charset="-122"/>
                <a:cs typeface="Calibri" pitchFamily="34" charset="-120"/>
              </a:rPr>
              <a:t>« le chômage »</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4617720"/>
          <a:ext cx="10543032" cy="914400"/>
        </p:xfrm>
        <a:graphic>
          <a:graphicData uri="http://schemas.openxmlformats.org/drawingml/2006/table">
            <a:tbl>
              <a:tblPr/>
              <a:tblGrid>
                <a:gridCol w="3291840"/>
                <a:gridCol w="2743200"/>
                <a:gridCol w="4507992"/>
              </a:tblGrid>
              <a:tr h="438912">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PRÉFIXE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RACINE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SUFFIXE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change le </a:t>
                      </a:r>
                      <a:r>
                        <a:rPr lang="en-US" sz="1450" b="1" dirty="0">
                          <a:solidFill>
                            <a:srgbClr val="1B2333"/>
                          </a:solidFill>
                          <a:latin typeface="Calibri" pitchFamily="34" charset="0"/>
                          <a:ea typeface="Calibri" pitchFamily="34" charset="-122"/>
                          <a:cs typeface="Calibri" pitchFamily="34" charset="-120"/>
                        </a:rPr>
                        <a:t>sens</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porte l’</a:t>
                      </a:r>
                      <a:r>
                        <a:rPr lang="en-US" sz="1450" b="1" dirty="0">
                          <a:solidFill>
                            <a:srgbClr val="1B2333"/>
                          </a:solidFill>
                          <a:latin typeface="Calibri" pitchFamily="34" charset="0"/>
                          <a:ea typeface="Calibri" pitchFamily="34" charset="-122"/>
                          <a:cs typeface="Calibri" pitchFamily="34" charset="-120"/>
                        </a:rPr>
                        <a:t>idée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décide la </a:t>
                      </a:r>
                      <a:r>
                        <a:rPr lang="en-US" sz="1450" b="1" dirty="0">
                          <a:solidFill>
                            <a:srgbClr val="1B2333"/>
                          </a:solidFill>
                          <a:latin typeface="Calibri" pitchFamily="34" charset="0"/>
                          <a:ea typeface="Calibri" pitchFamily="34" charset="-122"/>
                          <a:cs typeface="Calibri" pitchFamily="34" charset="-120"/>
                        </a:rPr>
                        <a:t>catégorie</a:t>
                      </a:r>
                      <a:r>
                        <a:rPr lang="en-US" sz="1450" dirty="0">
                          <a:solidFill>
                            <a:srgbClr val="1B2333"/>
                          </a:solidFill>
                          <a:latin typeface="Calibri" pitchFamily="34" charset="0"/>
                          <a:ea typeface="Calibri" pitchFamily="34" charset="-122"/>
                          <a:cs typeface="Calibri" pitchFamily="34" charset="-120"/>
                        </a:rPr>
                        <a:t> et l’</a:t>
                      </a:r>
                      <a:r>
                        <a:rPr lang="en-US" sz="1450" b="1" dirty="0">
                          <a:solidFill>
                            <a:srgbClr val="1B2333"/>
                          </a:solidFill>
                          <a:latin typeface="Calibri" pitchFamily="34" charset="0"/>
                          <a:ea typeface="Calibri" pitchFamily="34" charset="-122"/>
                          <a:cs typeface="Calibri" pitchFamily="34" charset="-120"/>
                        </a:rPr>
                        <a:t>article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450" b="1" i="1" dirty="0">
                          <a:solidFill>
                            <a:srgbClr val="6E4A9E"/>
                          </a:solidFill>
                          <a:latin typeface="Calibri" pitchFamily="34" charset="0"/>
                          <a:ea typeface="Calibri" pitchFamily="34" charset="-122"/>
                          <a:cs typeface="Calibri" pitchFamily="34" charset="-120"/>
                        </a:rPr>
                        <a:t>on</a:t>
                      </a:r>
                      <a:r>
                        <a:rPr lang="en-US" sz="1450" i="1" dirty="0">
                          <a:solidFill>
                            <a:srgbClr val="1B2333"/>
                          </a:solidFill>
                          <a:latin typeface="Calibri" pitchFamily="34" charset="0"/>
                          <a:ea typeface="Calibri" pitchFamily="34" charset="-122"/>
                          <a:cs typeface="Calibri" pitchFamily="34" charset="-120"/>
                        </a:rPr>
                        <a:t>bereikbaar</a:t>
                      </a:r>
                      <a:r>
                        <a:rPr lang="en-US" sz="1450" dirty="0">
                          <a:solidFill>
                            <a:srgbClr val="1B2333"/>
                          </a:solidFill>
                          <a:latin typeface="Calibri" pitchFamily="34" charset="0"/>
                          <a:ea typeface="Calibri" pitchFamily="34" charset="-122"/>
                          <a:cs typeface="Calibri" pitchFamily="34" charset="-120"/>
                        </a:rPr>
                        <a:t> = le contraire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50" i="1" dirty="0">
                          <a:solidFill>
                            <a:srgbClr val="1B2333"/>
                          </a:solidFill>
                          <a:latin typeface="Calibri" pitchFamily="34" charset="0"/>
                          <a:ea typeface="Calibri" pitchFamily="34" charset="-122"/>
                          <a:cs typeface="Calibri" pitchFamily="34" charset="-120"/>
                        </a:rPr>
                        <a:t>reik, groot, werk</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50" i="1" dirty="0">
                          <a:solidFill>
                            <a:srgbClr val="1B2333"/>
                          </a:solidFill>
                          <a:latin typeface="Calibri" pitchFamily="34" charset="0"/>
                          <a:ea typeface="Calibri" pitchFamily="34" charset="-122"/>
                          <a:cs typeface="Calibri" pitchFamily="34" charset="-120"/>
                        </a:rPr>
                        <a:t>-</a:t>
                      </a:r>
                      <a:r>
                        <a:rPr lang="en-US" sz="1450" b="1" i="1" dirty="0">
                          <a:solidFill>
                            <a:srgbClr val="6E4A9E"/>
                          </a:solidFill>
                          <a:latin typeface="Calibri" pitchFamily="34" charset="0"/>
                          <a:ea typeface="Calibri" pitchFamily="34" charset="-122"/>
                          <a:cs typeface="Calibri" pitchFamily="34" charset="-120"/>
                        </a:rPr>
                        <a:t>baar</a:t>
                      </a:r>
                      <a:r>
                        <a:rPr lang="en-US" sz="1450" dirty="0">
                          <a:solidFill>
                            <a:srgbClr val="1B2333"/>
                          </a:solidFill>
                          <a:latin typeface="Calibri" pitchFamily="34" charset="0"/>
                          <a:ea typeface="Calibri" pitchFamily="34" charset="-122"/>
                          <a:cs typeface="Calibri" pitchFamily="34" charset="-120"/>
                        </a:rPr>
                        <a:t> → adjectif · </a:t>
                      </a:r>
                      <a:r>
                        <a:rPr lang="en-US" sz="1450" i="1" dirty="0">
                          <a:solidFill>
                            <a:srgbClr val="1B2333"/>
                          </a:solidFill>
                          <a:latin typeface="Calibri" pitchFamily="34" charset="0"/>
                          <a:ea typeface="Calibri" pitchFamily="34" charset="-122"/>
                          <a:cs typeface="Calibri" pitchFamily="34" charset="-120"/>
                        </a:rPr>
                        <a:t>-</a:t>
                      </a:r>
                      <a:r>
                        <a:rPr lang="en-US" sz="1450" b="1" i="1" dirty="0">
                          <a:solidFill>
                            <a:srgbClr val="6E4A9E"/>
                          </a:solidFill>
                          <a:latin typeface="Calibri" pitchFamily="34" charset="0"/>
                          <a:ea typeface="Calibri" pitchFamily="34" charset="-122"/>
                          <a:cs typeface="Calibri" pitchFamily="34" charset="-120"/>
                        </a:rPr>
                        <a:t>heid</a:t>
                      </a:r>
                      <a:r>
                        <a:rPr lang="en-US" sz="1450" dirty="0">
                          <a:solidFill>
                            <a:srgbClr val="1B2333"/>
                          </a:solidFill>
                          <a:latin typeface="Calibri" pitchFamily="34" charset="0"/>
                          <a:ea typeface="Calibri" pitchFamily="34" charset="-122"/>
                          <a:cs typeface="Calibri" pitchFamily="34" charset="-120"/>
                        </a:rPr>
                        <a:t> → </a:t>
                      </a:r>
                      <a:r>
                        <a:rPr lang="en-US" sz="1450" i="1" dirty="0">
                          <a:solidFill>
                            <a:srgbClr val="1B2333"/>
                          </a:solidFill>
                          <a:latin typeface="Calibri" pitchFamily="34" charset="0"/>
                          <a:ea typeface="Calibri" pitchFamily="34" charset="-122"/>
                          <a:cs typeface="Calibri" pitchFamily="34" charset="-120"/>
                        </a:rPr>
                        <a:t>de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L’action : het + infinitif</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V="1">
            <a:off x="10799507"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4258951" y="1444752"/>
            <a:ext cx="3671049"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258951" y="1444752"/>
            <a:ext cx="3671049" cy="566928"/>
          </a:xfrm>
          <a:prstGeom prst="rect">
            <a:avLst/>
          </a:prstGeom>
          <a:noFill/>
          <a:ln/>
        </p:spPr>
        <p:txBody>
          <a:bodyPr wrap="square" lIns="0" tIns="0" rIns="0" bIns="0" rtlCol="0" anchor="ctr"/>
          <a:lstStyle/>
          <a:p>
            <a:pPr algn="ctr" indent="0" marL="0">
              <a:buNone/>
            </a:pPr>
            <a:r>
              <a:rPr lang="en-US" sz="2100" b="1" dirty="0">
                <a:solidFill>
                  <a:srgbClr val="6E4A9E"/>
                </a:solidFill>
                <a:latin typeface="Calibri" pitchFamily="34" charset="0"/>
                <a:ea typeface="Calibri" pitchFamily="34" charset="-122"/>
                <a:cs typeface="Calibri" pitchFamily="34" charset="-120"/>
              </a:rPr>
              <a:t>het</a:t>
            </a:r>
            <a:r>
              <a:rPr lang="en-US" sz="2100" b="1" dirty="0">
                <a:solidFill>
                  <a:srgbClr val="17375E"/>
                </a:solidFill>
                <a:latin typeface="Calibri" pitchFamily="34" charset="0"/>
                <a:ea typeface="Calibri" pitchFamily="34" charset="-122"/>
                <a:cs typeface="Calibri" pitchFamily="34" charset="-120"/>
              </a:rPr>
              <a:t> + infinitif = le fait de…</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286000"/>
          <a:ext cx="10543032" cy="914400"/>
        </p:xfrm>
        <a:graphic>
          <a:graphicData uri="http://schemas.openxmlformats.org/drawingml/2006/table">
            <a:tbl>
              <a:tblPr/>
              <a:tblGrid>
                <a:gridCol w="2011680"/>
                <a:gridCol w="2194560"/>
                <a:gridCol w="6336792"/>
              </a:tblGrid>
              <a:tr h="512064">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EXEMPLE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roken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het</a:t>
                      </a:r>
                      <a:r>
                        <a:rPr lang="en-US" sz="1600" b="1" i="1" dirty="0">
                          <a:solidFill>
                            <a:srgbClr val="2A6FB0"/>
                          </a:solidFill>
                          <a:latin typeface="Calibri" pitchFamily="34" charset="0"/>
                          <a:ea typeface="Calibri" pitchFamily="34" charset="-122"/>
                          <a:cs typeface="Calibri" pitchFamily="34" charset="-120"/>
                        </a:rPr>
                        <a:t> roken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Het roken is hier verboden.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betalen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het</a:t>
                      </a:r>
                      <a:r>
                        <a:rPr lang="en-US" sz="1600" b="1" i="1" dirty="0">
                          <a:solidFill>
                            <a:srgbClr val="2A6FB0"/>
                          </a:solidFill>
                          <a:latin typeface="Calibri" pitchFamily="34" charset="0"/>
                          <a:ea typeface="Calibri" pitchFamily="34" charset="-122"/>
                          <a:cs typeface="Calibri" pitchFamily="34" charset="-120"/>
                        </a:rPr>
                        <a:t> betalen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Het betalen kan met de kaart.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leren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het</a:t>
                      </a:r>
                      <a:r>
                        <a:rPr lang="en-US" sz="1600" b="1" i="1" dirty="0">
                          <a:solidFill>
                            <a:srgbClr val="2A6FB0"/>
                          </a:solidFill>
                          <a:latin typeface="Calibri" pitchFamily="34" charset="0"/>
                          <a:ea typeface="Calibri" pitchFamily="34" charset="-122"/>
                          <a:cs typeface="Calibri" pitchFamily="34" charset="-120"/>
                        </a:rPr>
                        <a:t> leren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i="1" dirty="0">
                          <a:solidFill>
                            <a:srgbClr val="1B2333"/>
                          </a:solidFill>
                          <a:latin typeface="Calibri" pitchFamily="34" charset="0"/>
                          <a:ea typeface="Calibri" pitchFamily="34" charset="-122"/>
                          <a:cs typeface="Calibri" pitchFamily="34" charset="-120"/>
                        </a:rPr>
                        <a:t>Het leren van een taal kost tijd.</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572000"/>
            <a:ext cx="5138928" cy="914400"/>
          </a:xfrm>
          <a:prstGeom prst="roundRect">
            <a:avLst>
              <a:gd name="adj" fmla="val 10000"/>
            </a:avLst>
          </a:prstGeom>
          <a:solidFill>
            <a:srgbClr val="E8F4EC"/>
          </a:solidFill>
          <a:ln w="12700">
            <a:solidFill>
              <a:srgbClr val="FFFFFF">
                <a:alpha val="0"/>
              </a:srgbClr>
            </a:solidFill>
            <a:prstDash val="solid"/>
          </a:ln>
        </p:spPr>
      </p:sp>
      <p:sp>
        <p:nvSpPr>
          <p:cNvPr id="19" name="Shape 15"/>
          <p:cNvSpPr/>
          <p:nvPr/>
        </p:nvSpPr>
        <p:spPr>
          <a:xfrm>
            <a:off x="996696" y="4745736"/>
            <a:ext cx="310896" cy="310896"/>
          </a:xfrm>
          <a:prstGeom prst="ellipse">
            <a:avLst/>
          </a:prstGeom>
          <a:solidFill>
            <a:srgbClr val="2E7D4F"/>
          </a:solidFill>
          <a:ln w="12700">
            <a:solidFill>
              <a:srgbClr val="FFFFFF">
                <a:alpha val="0"/>
              </a:srgbClr>
            </a:solidFill>
            <a:prstDash val="solid"/>
          </a:ln>
        </p:spPr>
      </p:sp>
      <p:sp>
        <p:nvSpPr>
          <p:cNvPr id="20" name="Text 16"/>
          <p:cNvSpPr txBox="1"/>
          <p:nvPr/>
        </p:nvSpPr>
        <p:spPr>
          <a:xfrm>
            <a:off x="996696"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468172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22" name="Text 18"/>
          <p:cNvSpPr txBox="1"/>
          <p:nvPr/>
        </p:nvSpPr>
        <p:spPr>
          <a:xfrm>
            <a:off x="1444752" y="4974336"/>
            <a:ext cx="4361688"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toujours possible · toujours </a:t>
            </a:r>
            <a:r>
              <a:rPr lang="en-US" sz="1400" i="1" dirty="0">
                <a:solidFill>
                  <a:srgbClr val="1B2333"/>
                </a:solidFill>
                <a:latin typeface="Calibri" pitchFamily="34" charset="0"/>
                <a:ea typeface="Calibri" pitchFamily="34" charset="-122"/>
                <a:cs typeface="Calibri" pitchFamily="34" charset="-120"/>
              </a:rPr>
              <a:t>het</a:t>
            </a:r>
            <a:r>
              <a:rPr lang="en-US" sz="1400" dirty="0">
                <a:solidFill>
                  <a:srgbClr val="1B2333"/>
                </a:solidFill>
                <a:latin typeface="Calibri" pitchFamily="34" charset="0"/>
                <a:ea typeface="Calibri" pitchFamily="34" charset="-122"/>
                <a:cs typeface="Calibri" pitchFamily="34" charset="-120"/>
              </a:rPr>
              <a:t> · pas de pluriel</a:t>
            </a:r>
            <a:endParaRPr lang="en-US" sz="1400" dirty="0"/>
          </a:p>
        </p:txBody>
      </p:sp>
      <p:sp>
        <p:nvSpPr>
          <p:cNvPr id="23" name="Shape 19"/>
          <p:cNvSpPr/>
          <p:nvPr/>
        </p:nvSpPr>
        <p:spPr>
          <a:xfrm>
            <a:off x="6236208" y="4572000"/>
            <a:ext cx="5138928" cy="914400"/>
          </a:xfrm>
          <a:prstGeom prst="roundRect">
            <a:avLst>
              <a:gd name="adj" fmla="val 10000"/>
            </a:avLst>
          </a:prstGeom>
          <a:solidFill>
            <a:srgbClr val="F1ECF7"/>
          </a:solidFill>
          <a:ln w="12700">
            <a:solidFill>
              <a:srgbClr val="FFFFFF">
                <a:alpha val="0"/>
              </a:srgbClr>
            </a:solidFill>
            <a:prstDash val="solid"/>
          </a:ln>
        </p:spPr>
      </p:sp>
      <p:sp>
        <p:nvSpPr>
          <p:cNvPr id="24" name="Shape 20"/>
          <p:cNvSpPr/>
          <p:nvPr/>
        </p:nvSpPr>
        <p:spPr>
          <a:xfrm>
            <a:off x="6409944" y="4745736"/>
            <a:ext cx="310896" cy="310896"/>
          </a:xfrm>
          <a:prstGeom prst="ellipse">
            <a:avLst/>
          </a:prstGeom>
          <a:solidFill>
            <a:srgbClr val="6E4A9E"/>
          </a:solidFill>
          <a:ln w="12700">
            <a:solidFill>
              <a:srgbClr val="FFFFFF">
                <a:alpha val="0"/>
              </a:srgbClr>
            </a:solidFill>
            <a:prstDash val="solid"/>
          </a:ln>
        </p:spPr>
      </p:sp>
      <p:sp>
        <p:nvSpPr>
          <p:cNvPr id="25" name="Text 21"/>
          <p:cNvSpPr txBox="1"/>
          <p:nvPr/>
        </p:nvSpPr>
        <p:spPr>
          <a:xfrm>
            <a:off x="6409944"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4681728"/>
            <a:ext cx="4361688" cy="292608"/>
          </a:xfrm>
          <a:prstGeom prst="rect">
            <a:avLst/>
          </a:prstGeom>
          <a:noFill/>
          <a:ln/>
        </p:spPr>
        <p:txBody>
          <a:bodyPr wrap="square" lIns="0" tIns="0" rIns="0" bIns="0" rtlCol="0" anchor="ctr"/>
          <a:lstStyle/>
          <a:p>
            <a:pPr algn="l" indent="0" marL="0">
              <a:buNone/>
            </a:pPr>
            <a:r>
              <a:rPr lang="en-US" sz="1300" b="1" dirty="0">
                <a:solidFill>
                  <a:srgbClr val="6E4A9E"/>
                </a:solidFill>
                <a:latin typeface="Calibri" pitchFamily="34" charset="0"/>
                <a:ea typeface="Calibri" pitchFamily="34" charset="-122"/>
                <a:cs typeface="Calibri" pitchFamily="34" charset="-120"/>
              </a:rPr>
              <a:t>het ge- + radical</a:t>
            </a:r>
            <a:endParaRPr lang="en-US" sz="1300" dirty="0"/>
          </a:p>
        </p:txBody>
      </p:sp>
      <p:sp>
        <p:nvSpPr>
          <p:cNvPr id="27" name="Text 23"/>
          <p:cNvSpPr txBox="1"/>
          <p:nvPr/>
        </p:nvSpPr>
        <p:spPr>
          <a:xfrm>
            <a:off x="6858000" y="4974336"/>
            <a:ext cx="4361688"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l’action qui se répète : </a:t>
            </a:r>
            <a:r>
              <a:rPr lang="en-US" sz="1400" i="1" dirty="0">
                <a:solidFill>
                  <a:srgbClr val="1B2333"/>
                </a:solidFill>
                <a:latin typeface="Calibri" pitchFamily="34" charset="0"/>
                <a:ea typeface="Calibri" pitchFamily="34" charset="-122"/>
                <a:cs typeface="Calibri" pitchFamily="34" charset="-120"/>
              </a:rPr>
              <a:t>praten → het </a:t>
            </a:r>
            <a:r>
              <a:rPr lang="en-US" sz="1400" b="1" i="1" dirty="0">
                <a:solidFill>
                  <a:srgbClr val="6E4A9E"/>
                </a:solidFill>
                <a:latin typeface="Calibri" pitchFamily="34" charset="0"/>
                <a:ea typeface="Calibri" pitchFamily="34" charset="-122"/>
                <a:cs typeface="Calibri" pitchFamily="34" charset="-120"/>
              </a:rPr>
              <a:t>ge</a:t>
            </a:r>
            <a:r>
              <a:rPr lang="en-US" sz="1400" i="1" dirty="0">
                <a:solidFill>
                  <a:srgbClr val="1B2333"/>
                </a:solidFill>
                <a:latin typeface="Calibri" pitchFamily="34" charset="0"/>
                <a:ea typeface="Calibri" pitchFamily="34" charset="-122"/>
                <a:cs typeface="Calibri" pitchFamily="34" charset="-120"/>
              </a:rPr>
              <a:t>praat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radical + -ing = de …ing</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V="1">
            <a:off x="10799507"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4582592" y="1444752"/>
            <a:ext cx="3023768"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582592" y="1444752"/>
            <a:ext cx="3023768" cy="566928"/>
          </a:xfrm>
          <a:prstGeom prst="rect">
            <a:avLst/>
          </a:prstGeom>
          <a:noFill/>
          <a:ln/>
        </p:spPr>
        <p:txBody>
          <a:bodyPr wrap="square" lIns="0" tIns="0" rIns="0" bIns="0" rtlCol="0" anchor="ctr"/>
          <a:lstStyle/>
          <a:p>
            <a:pPr algn="ctr" indent="0" marL="0">
              <a:buNone/>
            </a:pPr>
            <a:r>
              <a:rPr lang="en-US" sz="2100" b="1" dirty="0">
                <a:solidFill>
                  <a:srgbClr val="17375E"/>
                </a:solidFill>
                <a:latin typeface="Calibri" pitchFamily="34" charset="0"/>
                <a:ea typeface="Calibri" pitchFamily="34" charset="-122"/>
                <a:cs typeface="Calibri" pitchFamily="34" charset="-120"/>
              </a:rPr>
              <a:t>radical + </a:t>
            </a:r>
            <a:r>
              <a:rPr lang="en-US" sz="2100" b="1" dirty="0">
                <a:solidFill>
                  <a:srgbClr val="6E4A9E"/>
                </a:solidFill>
                <a:latin typeface="Calibri" pitchFamily="34" charset="0"/>
                <a:ea typeface="Calibri" pitchFamily="34" charset="-122"/>
                <a:cs typeface="Calibri" pitchFamily="34" charset="-120"/>
              </a:rPr>
              <a:t>-ing</a:t>
            </a:r>
            <a:r>
              <a:rPr lang="en-US" sz="2100" b="1" dirty="0">
                <a:solidFill>
                  <a:srgbClr val="17375E"/>
                </a:solidFill>
                <a:latin typeface="Calibri" pitchFamily="34" charset="0"/>
                <a:ea typeface="Calibri" pitchFamily="34" charset="-122"/>
                <a:cs typeface="Calibri" pitchFamily="34" charset="-120"/>
              </a:rPr>
              <a:t> → de …</a:t>
            </a:r>
            <a:endParaRPr lang="en-US" sz="2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979676" y="2286000"/>
          <a:ext cx="8229600" cy="914400"/>
        </p:xfrm>
        <a:graphic>
          <a:graphicData uri="http://schemas.openxmlformats.org/drawingml/2006/table">
            <a:tbl>
              <a:tblPr/>
              <a:tblGrid>
                <a:gridCol w="2743200"/>
                <a:gridCol w="2743200"/>
                <a:gridCol w="2743200"/>
              </a:tblGrid>
              <a:tr h="457200">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SENS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vergaderen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vergader</a:t>
                      </a:r>
                      <a:r>
                        <a:rPr lang="en-US" sz="1600" b="1" i="1" dirty="0">
                          <a:solidFill>
                            <a:srgbClr val="6E4A9E"/>
                          </a:solidFill>
                          <a:latin typeface="Calibri" pitchFamily="34" charset="0"/>
                          <a:ea typeface="Calibri" pitchFamily="34" charset="-122"/>
                          <a:cs typeface="Calibri" pitchFamily="34" charset="-120"/>
                        </a:rPr>
                        <a:t>ing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la réunion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betalen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betal</a:t>
                      </a:r>
                      <a:r>
                        <a:rPr lang="en-US" sz="1600" b="1" i="1" dirty="0">
                          <a:solidFill>
                            <a:srgbClr val="6E4A9E"/>
                          </a:solidFill>
                          <a:latin typeface="Calibri" pitchFamily="34" charset="0"/>
                          <a:ea typeface="Calibri" pitchFamily="34" charset="-122"/>
                          <a:cs typeface="Calibri" pitchFamily="34" charset="-120"/>
                        </a:rPr>
                        <a:t>ing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le paiement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verwarmen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verwarm</a:t>
                      </a:r>
                      <a:r>
                        <a:rPr lang="en-US" sz="1600" b="1" i="1" dirty="0">
                          <a:solidFill>
                            <a:srgbClr val="6E4A9E"/>
                          </a:solidFill>
                          <a:latin typeface="Calibri" pitchFamily="34" charset="0"/>
                          <a:ea typeface="Calibri" pitchFamily="34" charset="-122"/>
                          <a:cs typeface="Calibri" pitchFamily="34" charset="-120"/>
                        </a:rPr>
                        <a:t>ing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le chauffage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uitnodigen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uitnodig</a:t>
                      </a:r>
                      <a:r>
                        <a:rPr lang="en-US" sz="1600" b="1" i="1" dirty="0">
                          <a:solidFill>
                            <a:srgbClr val="6E4A9E"/>
                          </a:solidFill>
                          <a:latin typeface="Calibri" pitchFamily="34" charset="0"/>
                          <a:ea typeface="Calibri" pitchFamily="34" charset="-122"/>
                          <a:cs typeface="Calibri" pitchFamily="34" charset="-120"/>
                        </a:rPr>
                        <a:t>ing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l’invitation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892040"/>
            <a:ext cx="5138928" cy="914400"/>
          </a:xfrm>
          <a:prstGeom prst="roundRect">
            <a:avLst>
              <a:gd name="adj" fmla="val 10000"/>
            </a:avLst>
          </a:prstGeom>
          <a:solidFill>
            <a:srgbClr val="E8F4EC"/>
          </a:solidFill>
          <a:ln w="12700">
            <a:solidFill>
              <a:srgbClr val="FFFFFF">
                <a:alpha val="0"/>
              </a:srgbClr>
            </a:solidFill>
            <a:prstDash val="solid"/>
          </a:ln>
        </p:spPr>
      </p:sp>
      <p:sp>
        <p:nvSpPr>
          <p:cNvPr id="19" name="Shape 15"/>
          <p:cNvSpPr/>
          <p:nvPr/>
        </p:nvSpPr>
        <p:spPr>
          <a:xfrm>
            <a:off x="996696" y="5065776"/>
            <a:ext cx="310896" cy="310896"/>
          </a:xfrm>
          <a:prstGeom prst="ellipse">
            <a:avLst/>
          </a:prstGeom>
          <a:solidFill>
            <a:srgbClr val="2E7D4F"/>
          </a:solidFill>
          <a:ln w="12700">
            <a:solidFill>
              <a:srgbClr val="FFFFFF">
                <a:alpha val="0"/>
              </a:srgbClr>
            </a:solidFill>
            <a:prstDash val="solid"/>
          </a:ln>
        </p:spPr>
      </p:sp>
      <p:sp>
        <p:nvSpPr>
          <p:cNvPr id="20" name="Text 16"/>
          <p:cNvSpPr txBox="1"/>
          <p:nvPr/>
        </p:nvSpPr>
        <p:spPr>
          <a:xfrm>
            <a:off x="996696" y="5065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500176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22" name="Text 18"/>
          <p:cNvSpPr txBox="1"/>
          <p:nvPr/>
        </p:nvSpPr>
        <p:spPr>
          <a:xfrm>
            <a:off x="1444752" y="5294376"/>
            <a:ext cx="4361688"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toujours </a:t>
            </a:r>
            <a:r>
              <a:rPr lang="en-US" sz="1400" i="1" dirty="0">
                <a:solidFill>
                  <a:srgbClr val="1B2333"/>
                </a:solidFill>
                <a:latin typeface="Calibri" pitchFamily="34" charset="0"/>
                <a:ea typeface="Calibri" pitchFamily="34" charset="-122"/>
                <a:cs typeface="Calibri" pitchFamily="34" charset="-120"/>
              </a:rPr>
              <a:t>de</a:t>
            </a:r>
            <a:r>
              <a:rPr lang="en-US" sz="1400" dirty="0">
                <a:solidFill>
                  <a:srgbClr val="1B2333"/>
                </a:solidFill>
                <a:latin typeface="Calibri" pitchFamily="34" charset="0"/>
                <a:ea typeface="Calibri" pitchFamily="34" charset="-122"/>
                <a:cs typeface="Calibri" pitchFamily="34" charset="-120"/>
              </a:rPr>
              <a:t> · pluriel </a:t>
            </a:r>
            <a:r>
              <a:rPr lang="en-US" sz="1400" i="1" dirty="0">
                <a:solidFill>
                  <a:srgbClr val="1B2333"/>
                </a:solidFill>
                <a:latin typeface="Calibri" pitchFamily="34" charset="0"/>
                <a:ea typeface="Calibri" pitchFamily="34" charset="-122"/>
                <a:cs typeface="Calibri" pitchFamily="34" charset="-120"/>
              </a:rPr>
              <a:t>-en</a:t>
            </a:r>
            <a:endParaRPr lang="en-US" sz="1400" dirty="0"/>
          </a:p>
        </p:txBody>
      </p:sp>
      <p:sp>
        <p:nvSpPr>
          <p:cNvPr id="23" name="Shape 19"/>
          <p:cNvSpPr/>
          <p:nvPr/>
        </p:nvSpPr>
        <p:spPr>
          <a:xfrm>
            <a:off x="6236208" y="4892040"/>
            <a:ext cx="5138928" cy="914400"/>
          </a:xfrm>
          <a:prstGeom prst="roundRect">
            <a:avLst>
              <a:gd name="adj" fmla="val 10000"/>
            </a:avLst>
          </a:prstGeom>
          <a:solidFill>
            <a:srgbClr val="FBEDEB"/>
          </a:solidFill>
          <a:ln w="12700">
            <a:solidFill>
              <a:srgbClr val="FFFFFF">
                <a:alpha val="0"/>
              </a:srgbClr>
            </a:solidFill>
            <a:prstDash val="solid"/>
          </a:ln>
        </p:spPr>
      </p:sp>
      <p:sp>
        <p:nvSpPr>
          <p:cNvPr id="24" name="Shape 20"/>
          <p:cNvSpPr/>
          <p:nvPr/>
        </p:nvSpPr>
        <p:spPr>
          <a:xfrm>
            <a:off x="6409944" y="5065776"/>
            <a:ext cx="310896" cy="310896"/>
          </a:xfrm>
          <a:prstGeom prst="ellipse">
            <a:avLst/>
          </a:prstGeom>
          <a:solidFill>
            <a:srgbClr val="B83227"/>
          </a:solidFill>
          <a:ln w="12700">
            <a:solidFill>
              <a:srgbClr val="FFFFFF">
                <a:alpha val="0"/>
              </a:srgbClr>
            </a:solidFill>
            <a:prstDash val="solid"/>
          </a:ln>
        </p:spPr>
      </p:sp>
      <p:sp>
        <p:nvSpPr>
          <p:cNvPr id="25" name="Text 21"/>
          <p:cNvSpPr txBox="1"/>
          <p:nvPr/>
        </p:nvSpPr>
        <p:spPr>
          <a:xfrm>
            <a:off x="6409944" y="5065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500176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Pas avec tous les verbes</a:t>
            </a:r>
            <a:endParaRPr lang="en-US" sz="1300" dirty="0"/>
          </a:p>
        </p:txBody>
      </p:sp>
      <p:sp>
        <p:nvSpPr>
          <p:cNvPr id="27" name="Text 23"/>
          <p:cNvSpPr txBox="1"/>
          <p:nvPr/>
        </p:nvSpPr>
        <p:spPr>
          <a:xfrm>
            <a:off x="6858000" y="5294376"/>
            <a:ext cx="4361688" cy="438912"/>
          </a:xfrm>
          <a:prstGeom prst="rect">
            <a:avLst/>
          </a:prstGeom>
          <a:noFill/>
          <a:ln/>
        </p:spPr>
        <p:txBody>
          <a:bodyPr wrap="square" lIns="0" tIns="0" rIns="0" bIns="0" rtlCol="0" anchor="t"/>
          <a:lstStyle/>
          <a:p>
            <a:pPr algn="l" indent="0" marL="0">
              <a:spcAft>
                <a:spcPts val="200"/>
              </a:spcAft>
              <a:buNone/>
            </a:pPr>
            <a:r>
              <a:rPr lang="en-US" sz="1400" i="1" strike="sngStrike" dirty="0">
                <a:solidFill>
                  <a:srgbClr val="B5473C"/>
                </a:solidFill>
                <a:latin typeface="Calibri" pitchFamily="34" charset="0"/>
                <a:ea typeface="Calibri" pitchFamily="34" charset="-122"/>
                <a:cs typeface="Calibri" pitchFamily="34" charset="-120"/>
              </a:rPr>
              <a:t>de eting</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het eten</a:t>
            </a:r>
            <a:r>
              <a:rPr lang="en-US" sz="1400" dirty="0">
                <a:solidFill>
                  <a:srgbClr val="1B2333"/>
                </a:solidFill>
                <a:latin typeface="Calibri" pitchFamily="34" charset="0"/>
                <a:ea typeface="Calibri" pitchFamily="34" charset="-122"/>
                <a:cs typeface="Calibri" pitchFamily="34" charset="-120"/>
              </a:rPr>
              <a:t> · en cas de doute : </a:t>
            </a:r>
            <a:r>
              <a:rPr lang="en-US" sz="1400" i="1" dirty="0">
                <a:solidFill>
                  <a:srgbClr val="1B2333"/>
                </a:solidFill>
                <a:latin typeface="Calibri" pitchFamily="34" charset="0"/>
                <a:ea typeface="Calibri" pitchFamily="34" charset="-122"/>
                <a:cs typeface="Calibri" pitchFamily="34" charset="-120"/>
              </a:rPr>
              <a:t>het</a:t>
            </a:r>
            <a:r>
              <a:rPr lang="en-US" sz="1400" dirty="0">
                <a:solidFill>
                  <a:srgbClr val="1B2333"/>
                </a:solidFill>
                <a:latin typeface="Calibri" pitchFamily="34" charset="0"/>
                <a:ea typeface="Calibri" pitchFamily="34" charset="-122"/>
                <a:cs typeface="Calibri" pitchFamily="34" charset="-120"/>
              </a:rPr>
              <a:t> + infinitif</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radical seul : de start, het begin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V="1">
            <a:off x="10799507"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3733152" y="1444752"/>
            <a:ext cx="4722647"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3733152" y="1444752"/>
            <a:ext cx="4722647" cy="566928"/>
          </a:xfrm>
          <a:prstGeom prst="rect">
            <a:avLst/>
          </a:prstGeom>
          <a:noFill/>
          <a:ln/>
        </p:spPr>
        <p:txBody>
          <a:bodyPr wrap="square" lIns="0" tIns="0" rIns="0" bIns="0" rtlCol="0" anchor="ctr"/>
          <a:lstStyle/>
          <a:p>
            <a:pPr algn="ctr" indent="0" marL="0">
              <a:buNone/>
            </a:pPr>
            <a:r>
              <a:rPr lang="en-US" sz="2100" b="1" dirty="0">
                <a:solidFill>
                  <a:srgbClr val="17375E"/>
                </a:solidFill>
                <a:latin typeface="Calibri" pitchFamily="34" charset="0"/>
                <a:ea typeface="Calibri" pitchFamily="34" charset="-122"/>
                <a:cs typeface="Calibri" pitchFamily="34" charset="-120"/>
              </a:rPr>
              <a:t>le radical seul = l’acte ou le résultat</a:t>
            </a:r>
            <a:endParaRPr lang="en-US" sz="2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2286000"/>
          <a:ext cx="10543032" cy="914400"/>
        </p:xfrm>
        <a:graphic>
          <a:graphicData uri="http://schemas.openxmlformats.org/drawingml/2006/table">
            <a:tbl>
              <a:tblPr/>
              <a:tblGrid>
                <a:gridCol w="3514344"/>
                <a:gridCol w="3514344"/>
                <a:gridCol w="3514344"/>
              </a:tblGrid>
              <a:tr h="457200">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DE</a:t>
                      </a:r>
                      <a:r>
                        <a:rPr lang="en-US" sz="1150" b="1" spc="200" kern="0" dirty="0">
                          <a:solidFill>
                            <a:srgbClr val="17375E"/>
                          </a:solidFill>
                          <a:latin typeface="Calibri" pitchFamily="34" charset="0"/>
                          <a:ea typeface="Calibri" pitchFamily="34" charset="-122"/>
                          <a:cs typeface="Calibri" pitchFamily="34" charset="-120"/>
                        </a:rPr>
                        <a:t> + RADICAL</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HET</a:t>
                      </a:r>
                      <a:r>
                        <a:rPr lang="en-US" sz="1150" b="1" spc="200" kern="0" dirty="0">
                          <a:solidFill>
                            <a:srgbClr val="17375E"/>
                          </a:solidFill>
                          <a:latin typeface="Calibri" pitchFamily="34" charset="0"/>
                          <a:ea typeface="Calibri" pitchFamily="34" charset="-122"/>
                          <a:cs typeface="Calibri" pitchFamily="34" charset="-120"/>
                        </a:rPr>
                        <a:t> + RADICAL (BE-, GE-, VER-)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LA VOYELLE CHANGE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starten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start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beginnen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begin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springen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sprong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wensen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wens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gebruiken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gebruik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grijpen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greep</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vragen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vraag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vertrekken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vertrek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spreken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gesprek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groeien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de groei</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bezoeken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bezoek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verbieden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2A6FB0"/>
                          </a:solidFill>
                          <a:latin typeface="Calibri" pitchFamily="34" charset="0"/>
                          <a:ea typeface="Calibri" pitchFamily="34" charset="-122"/>
                          <a:cs typeface="Calibri" pitchFamily="34" charset="-120"/>
                        </a:rPr>
                        <a:t>het verbod</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1888236" y="4892040"/>
            <a:ext cx="8412480" cy="914400"/>
          </a:xfrm>
          <a:prstGeom prst="roundRect">
            <a:avLst>
              <a:gd name="adj" fmla="val 10000"/>
            </a:avLst>
          </a:prstGeom>
          <a:solidFill>
            <a:srgbClr val="FBEDEB"/>
          </a:solidFill>
          <a:ln w="12700">
            <a:solidFill>
              <a:srgbClr val="FFFFFF">
                <a:alpha val="0"/>
              </a:srgbClr>
            </a:solidFill>
            <a:prstDash val="solid"/>
          </a:ln>
        </p:spPr>
      </p:sp>
      <p:sp>
        <p:nvSpPr>
          <p:cNvPr id="19" name="Shape 15"/>
          <p:cNvSpPr/>
          <p:nvPr/>
        </p:nvSpPr>
        <p:spPr>
          <a:xfrm>
            <a:off x="2061972" y="5065776"/>
            <a:ext cx="310896" cy="310896"/>
          </a:xfrm>
          <a:prstGeom prst="ellipse">
            <a:avLst/>
          </a:prstGeom>
          <a:solidFill>
            <a:srgbClr val="B83227"/>
          </a:solidFill>
          <a:ln w="12700">
            <a:solidFill>
              <a:srgbClr val="FFFFFF">
                <a:alpha val="0"/>
              </a:srgbClr>
            </a:solidFill>
            <a:prstDash val="solid"/>
          </a:ln>
        </p:spPr>
      </p:sp>
      <p:sp>
        <p:nvSpPr>
          <p:cNvPr id="20" name="Text 16"/>
          <p:cNvSpPr txBox="1"/>
          <p:nvPr/>
        </p:nvSpPr>
        <p:spPr>
          <a:xfrm>
            <a:off x="2061972" y="5065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2510028" y="5001768"/>
            <a:ext cx="7635240"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À retenir</a:t>
            </a:r>
            <a:endParaRPr lang="en-US" sz="1300" dirty="0"/>
          </a:p>
        </p:txBody>
      </p:sp>
      <p:sp>
        <p:nvSpPr>
          <p:cNvPr id="22" name="Text 18"/>
          <p:cNvSpPr txBox="1"/>
          <p:nvPr/>
        </p:nvSpPr>
        <p:spPr>
          <a:xfrm>
            <a:off x="2510028" y="5294376"/>
            <a:ext cx="7635240" cy="438912"/>
          </a:xfrm>
          <a:prstGeom prst="rect">
            <a:avLst/>
          </a:prstGeom>
          <a:noFill/>
          <a:ln/>
        </p:spPr>
        <p:txBody>
          <a:bodyPr wrap="square" lIns="0" tIns="0" rIns="0" bIns="0" rtlCol="0" anchor="t"/>
          <a:lstStyle/>
          <a:p>
            <a:pPr algn="l" indent="0" marL="0">
              <a:spcAft>
                <a:spcPts val="200"/>
              </a:spcAft>
              <a:buNone/>
            </a:pPr>
            <a:r>
              <a:rPr lang="en-US" sz="1400" b="1" i="1" dirty="0">
                <a:solidFill>
                  <a:srgbClr val="1B2333"/>
                </a:solidFill>
                <a:latin typeface="Calibri" pitchFamily="34" charset="0"/>
                <a:ea typeface="Calibri" pitchFamily="34" charset="-122"/>
                <a:cs typeface="Calibri" pitchFamily="34" charset="-120"/>
              </a:rPr>
              <a:t>de</a:t>
            </a:r>
            <a:r>
              <a:rPr lang="en-US" sz="1400" i="1" dirty="0">
                <a:solidFill>
                  <a:srgbClr val="1B2333"/>
                </a:solidFill>
                <a:latin typeface="Calibri" pitchFamily="34" charset="0"/>
                <a:ea typeface="Calibri" pitchFamily="34" charset="-122"/>
                <a:cs typeface="Calibri" pitchFamily="34" charset="-120"/>
              </a:rPr>
              <a:t> verkoop</a:t>
            </a:r>
            <a:r>
              <a:rPr lang="en-US" sz="1400" dirty="0">
                <a:solidFill>
                  <a:srgbClr val="1B2333"/>
                </a:solidFill>
                <a:latin typeface="Calibri" pitchFamily="34" charset="0"/>
                <a:ea typeface="Calibri" pitchFamily="34" charset="-122"/>
                <a:cs typeface="Calibri" pitchFamily="34" charset="-120"/>
              </a:rPr>
              <a:t> (verkopen) · </a:t>
            </a:r>
            <a:r>
              <a:rPr lang="en-US" sz="1400" b="1" i="1" dirty="0">
                <a:solidFill>
                  <a:srgbClr val="1B2333"/>
                </a:solidFill>
                <a:latin typeface="Calibri" pitchFamily="34" charset="0"/>
                <a:ea typeface="Calibri" pitchFamily="34" charset="-122"/>
                <a:cs typeface="Calibri" pitchFamily="34" charset="-120"/>
              </a:rPr>
              <a:t>het</a:t>
            </a:r>
            <a:r>
              <a:rPr lang="en-US" sz="1400" i="1" dirty="0">
                <a:solidFill>
                  <a:srgbClr val="1B2333"/>
                </a:solidFill>
                <a:latin typeface="Calibri" pitchFamily="34" charset="0"/>
                <a:ea typeface="Calibri" pitchFamily="34" charset="-122"/>
                <a:cs typeface="Calibri" pitchFamily="34" charset="-120"/>
              </a:rPr>
              <a:t> slot</a:t>
            </a:r>
            <a:r>
              <a:rPr lang="en-US" sz="1400" dirty="0">
                <a:solidFill>
                  <a:srgbClr val="1B2333"/>
                </a:solidFill>
                <a:latin typeface="Calibri" pitchFamily="34" charset="0"/>
                <a:ea typeface="Calibri" pitchFamily="34" charset="-122"/>
                <a:cs typeface="Calibri" pitchFamily="34" charset="-120"/>
              </a:rPr>
              <a:t> (sluiten) · </a:t>
            </a:r>
            <a:r>
              <a:rPr lang="en-US" sz="1400" b="1" i="1" dirty="0">
                <a:solidFill>
                  <a:srgbClr val="1B2333"/>
                </a:solidFill>
                <a:latin typeface="Calibri" pitchFamily="34" charset="0"/>
                <a:ea typeface="Calibri" pitchFamily="34" charset="-122"/>
                <a:cs typeface="Calibri" pitchFamily="34" charset="-120"/>
              </a:rPr>
              <a:t>het</a:t>
            </a:r>
            <a:r>
              <a:rPr lang="en-US" sz="1400" i="1" dirty="0">
                <a:solidFill>
                  <a:srgbClr val="1B2333"/>
                </a:solidFill>
                <a:latin typeface="Calibri" pitchFamily="34" charset="0"/>
                <a:ea typeface="Calibri" pitchFamily="34" charset="-122"/>
                <a:cs typeface="Calibri" pitchFamily="34" charset="-120"/>
              </a:rPr>
              <a:t> werk</a:t>
            </a:r>
            <a:r>
              <a:rPr lang="en-US" sz="1400" dirty="0">
                <a:solidFill>
                  <a:srgbClr val="1B2333"/>
                </a:solidFill>
                <a:latin typeface="Calibri" pitchFamily="34" charset="0"/>
                <a:ea typeface="Calibri" pitchFamily="34" charset="-122"/>
                <a:cs typeface="Calibri" pitchFamily="34" charset="-120"/>
              </a:rPr>
              <a:t> : vérifiez l’article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Qui fait l’action ? -er, -aar, -der</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V="1">
            <a:off x="10799507"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1371600"/>
                <a:gridCol w="3474720"/>
                <a:gridCol w="5696712"/>
              </a:tblGrid>
              <a:tr h="566928">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SUFFIXE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QUAND ?</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2A6FB0"/>
                          </a:solidFill>
                          <a:latin typeface="Calibri" pitchFamily="34" charset="0"/>
                          <a:ea typeface="Calibri" pitchFamily="34" charset="-122"/>
                          <a:cs typeface="Calibri" pitchFamily="34" charset="-120"/>
                        </a:rPr>
                        <a:t>EXEMPLES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le cas normal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werk</a:t>
                      </a:r>
                      <a:r>
                        <a:rPr lang="en-US" sz="1700" b="1" i="1" dirty="0">
                          <a:solidFill>
                            <a:srgbClr val="6E4A9E"/>
                          </a:solidFill>
                          <a:latin typeface="Calibri" pitchFamily="34" charset="0"/>
                          <a:ea typeface="Calibri" pitchFamily="34" charset="-122"/>
                          <a:cs typeface="Calibri" pitchFamily="34" charset="-120"/>
                        </a:rPr>
                        <a:t>er</a:t>
                      </a:r>
                      <a:r>
                        <a:rPr lang="en-US" sz="1700" b="1" i="1" dirty="0">
                          <a:solidFill>
                            <a:srgbClr val="2A6FB0"/>
                          </a:solidFill>
                          <a:latin typeface="Calibri" pitchFamily="34" charset="0"/>
                          <a:ea typeface="Calibri" pitchFamily="34" charset="-122"/>
                          <a:cs typeface="Calibri" pitchFamily="34" charset="-120"/>
                        </a:rPr>
                        <a:t> · de bakk</a:t>
                      </a:r>
                      <a:r>
                        <a:rPr lang="en-US" sz="1700" b="1" i="1" dirty="0">
                          <a:solidFill>
                            <a:srgbClr val="6E4A9E"/>
                          </a:solidFill>
                          <a:latin typeface="Calibri" pitchFamily="34" charset="0"/>
                          <a:ea typeface="Calibri" pitchFamily="34" charset="-122"/>
                          <a:cs typeface="Calibri" pitchFamily="34" charset="-120"/>
                        </a:rPr>
                        <a:t>er</a:t>
                      </a:r>
                      <a:r>
                        <a:rPr lang="en-US" sz="1700" b="1" i="1" dirty="0">
                          <a:solidFill>
                            <a:srgbClr val="2A6FB0"/>
                          </a:solidFill>
                          <a:latin typeface="Calibri" pitchFamily="34" charset="0"/>
                          <a:ea typeface="Calibri" pitchFamily="34" charset="-122"/>
                          <a:cs typeface="Calibri" pitchFamily="34" charset="-120"/>
                        </a:rPr>
                        <a:t> · de schrijv</a:t>
                      </a:r>
                      <a:r>
                        <a:rPr lang="en-US" sz="1700" b="1" i="1" dirty="0">
                          <a:solidFill>
                            <a:srgbClr val="6E4A9E"/>
                          </a:solidFill>
                          <a:latin typeface="Calibri" pitchFamily="34" charset="0"/>
                          <a:ea typeface="Calibri" pitchFamily="34" charset="-122"/>
                          <a:cs typeface="Calibri" pitchFamily="34" charset="-120"/>
                        </a:rPr>
                        <a:t>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après </a:t>
                      </a:r>
                      <a:r>
                        <a:rPr lang="en-US" sz="1700" i="1" dirty="0">
                          <a:solidFill>
                            <a:srgbClr val="1B2333"/>
                          </a:solidFill>
                          <a:latin typeface="Calibri" pitchFamily="34" charset="0"/>
                          <a:ea typeface="Calibri" pitchFamily="34" charset="-122"/>
                          <a:cs typeface="Calibri" pitchFamily="34" charset="-120"/>
                        </a:rPr>
                        <a:t>-el, -er, -en</a:t>
                      </a:r>
                      <a:r>
                        <a:rPr lang="en-US" sz="1700" dirty="0">
                          <a:solidFill>
                            <a:srgbClr val="1B2333"/>
                          </a:solidFill>
                          <a:latin typeface="Calibri" pitchFamily="34" charset="0"/>
                          <a:ea typeface="Calibri" pitchFamily="34" charset="-122"/>
                          <a:cs typeface="Calibri" pitchFamily="34" charset="-120"/>
                        </a:rPr>
                        <a:t> non accentué</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wandel</a:t>
                      </a:r>
                      <a:r>
                        <a:rPr lang="en-US" sz="1700" b="1" i="1" dirty="0">
                          <a:solidFill>
                            <a:srgbClr val="6E4A9E"/>
                          </a:solidFill>
                          <a:latin typeface="Calibri" pitchFamily="34" charset="0"/>
                          <a:ea typeface="Calibri" pitchFamily="34" charset="-122"/>
                          <a:cs typeface="Calibri" pitchFamily="34" charset="-120"/>
                        </a:rPr>
                        <a:t>aar</a:t>
                      </a:r>
                      <a:r>
                        <a:rPr lang="en-US" sz="1700" b="1" i="1" dirty="0">
                          <a:solidFill>
                            <a:srgbClr val="2A6FB0"/>
                          </a:solidFill>
                          <a:latin typeface="Calibri" pitchFamily="34" charset="0"/>
                          <a:ea typeface="Calibri" pitchFamily="34" charset="-122"/>
                          <a:cs typeface="Calibri" pitchFamily="34" charset="-120"/>
                        </a:rPr>
                        <a:t> · de luister</a:t>
                      </a:r>
                      <a:r>
                        <a:rPr lang="en-US" sz="1700" b="1" i="1" dirty="0">
                          <a:solidFill>
                            <a:srgbClr val="6E4A9E"/>
                          </a:solidFill>
                          <a:latin typeface="Calibri" pitchFamily="34" charset="0"/>
                          <a:ea typeface="Calibri" pitchFamily="34" charset="-122"/>
                          <a:cs typeface="Calibri" pitchFamily="34" charset="-120"/>
                        </a:rPr>
                        <a:t>aar</a:t>
                      </a:r>
                      <a:r>
                        <a:rPr lang="en-US" sz="1700" b="1" i="1" dirty="0">
                          <a:solidFill>
                            <a:srgbClr val="2A6FB0"/>
                          </a:solidFill>
                          <a:latin typeface="Calibri" pitchFamily="34" charset="0"/>
                          <a:ea typeface="Calibri" pitchFamily="34" charset="-122"/>
                          <a:cs typeface="Calibri" pitchFamily="34" charset="-120"/>
                        </a:rPr>
                        <a:t> · de tekn</a:t>
                      </a:r>
                      <a:r>
                        <a:rPr lang="en-US" sz="1700" b="1" i="1" dirty="0">
                          <a:solidFill>
                            <a:srgbClr val="6E4A9E"/>
                          </a:solidFill>
                          <a:latin typeface="Calibri" pitchFamily="34" charset="0"/>
                          <a:ea typeface="Calibri" pitchFamily="34" charset="-122"/>
                          <a:cs typeface="Calibri" pitchFamily="34" charset="-120"/>
                        </a:rPr>
                        <a:t>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-der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radical en </a:t>
                      </a:r>
                      <a:r>
                        <a:rPr lang="en-US" sz="1700" i="1" dirty="0">
                          <a:solidFill>
                            <a:srgbClr val="1B2333"/>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bestuur</a:t>
                      </a:r>
                      <a:r>
                        <a:rPr lang="en-US" sz="1700" b="1" i="1" dirty="0">
                          <a:solidFill>
                            <a:srgbClr val="6E4A9E"/>
                          </a:solidFill>
                          <a:latin typeface="Calibri" pitchFamily="34" charset="0"/>
                          <a:ea typeface="Calibri" pitchFamily="34" charset="-122"/>
                          <a:cs typeface="Calibri" pitchFamily="34" charset="-120"/>
                        </a:rPr>
                        <a:t>der</a:t>
                      </a:r>
                      <a:r>
                        <a:rPr lang="en-US" sz="1700" b="1" i="1" dirty="0">
                          <a:solidFill>
                            <a:srgbClr val="2A6FB0"/>
                          </a:solidFill>
                          <a:latin typeface="Calibri" pitchFamily="34" charset="0"/>
                          <a:ea typeface="Calibri" pitchFamily="34" charset="-122"/>
                          <a:cs typeface="Calibri" pitchFamily="34" charset="-120"/>
                        </a:rPr>
                        <a:t> · de huur</a:t>
                      </a:r>
                      <a:r>
                        <a:rPr lang="en-US" sz="1700" b="1" i="1" dirty="0">
                          <a:solidFill>
                            <a:srgbClr val="6E4A9E"/>
                          </a:solidFill>
                          <a:latin typeface="Calibri" pitchFamily="34" charset="0"/>
                          <a:ea typeface="Calibri" pitchFamily="34" charset="-122"/>
                          <a:cs typeface="Calibri" pitchFamily="34" charset="-120"/>
                        </a:rPr>
                        <a:t>der</a:t>
                      </a:r>
                      <a:r>
                        <a:rPr lang="en-US" sz="1700" b="1" i="1" dirty="0">
                          <a:solidFill>
                            <a:srgbClr val="2A6FB0"/>
                          </a:solidFill>
                          <a:latin typeface="Calibri" pitchFamily="34" charset="0"/>
                          <a:ea typeface="Calibri" pitchFamily="34" charset="-122"/>
                          <a:cs typeface="Calibri" pitchFamily="34" charset="-120"/>
                        </a:rPr>
                        <a:t> · de bewaar</a:t>
                      </a:r>
                      <a:r>
                        <a:rPr lang="en-US" sz="1700" b="1" i="1" dirty="0">
                          <a:solidFill>
                            <a:srgbClr val="6E4A9E"/>
                          </a:solidFill>
                          <a:latin typeface="Calibri" pitchFamily="34" charset="0"/>
                          <a:ea typeface="Calibri" pitchFamily="34" charset="-122"/>
                          <a:cs typeface="Calibri" pitchFamily="34" charset="-120"/>
                        </a:rPr>
                        <a:t>der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l’appareil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print</a:t>
                      </a:r>
                      <a:r>
                        <a:rPr lang="en-US" sz="1700" b="1" i="1" dirty="0">
                          <a:solidFill>
                            <a:srgbClr val="6E4A9E"/>
                          </a:solidFill>
                          <a:latin typeface="Calibri" pitchFamily="34" charset="0"/>
                          <a:ea typeface="Calibri" pitchFamily="34" charset="-122"/>
                          <a:cs typeface="Calibri" pitchFamily="34" charset="-120"/>
                        </a:rPr>
                        <a:t>er</a:t>
                      </a:r>
                      <a:r>
                        <a:rPr lang="en-US" sz="1700" b="1" i="1" dirty="0">
                          <a:solidFill>
                            <a:srgbClr val="2A6FB0"/>
                          </a:solidFill>
                          <a:latin typeface="Calibri" pitchFamily="34" charset="0"/>
                          <a:ea typeface="Calibri" pitchFamily="34" charset="-122"/>
                          <a:cs typeface="Calibri" pitchFamily="34" charset="-120"/>
                        </a:rPr>
                        <a:t> · de wekk</a:t>
                      </a:r>
                      <a:r>
                        <a:rPr lang="en-US" sz="1700" b="1" i="1" dirty="0">
                          <a:solidFill>
                            <a:srgbClr val="6E4A9E"/>
                          </a:solidFill>
                          <a:latin typeface="Calibri" pitchFamily="34" charset="0"/>
                          <a:ea typeface="Calibri" pitchFamily="34" charset="-122"/>
                          <a:cs typeface="Calibri" pitchFamily="34" charset="-120"/>
                        </a:rPr>
                        <a:t>er</a:t>
                      </a:r>
                      <a:r>
                        <a:rPr lang="en-US" sz="1700" b="1" i="1" dirty="0">
                          <a:solidFill>
                            <a:srgbClr val="2A6FB0"/>
                          </a:solidFill>
                          <a:latin typeface="Calibri" pitchFamily="34" charset="0"/>
                          <a:ea typeface="Calibri" pitchFamily="34" charset="-122"/>
                          <a:cs typeface="Calibri" pitchFamily="34" charset="-120"/>
                        </a:rPr>
                        <a:t> · de aanstek</a:t>
                      </a:r>
                      <a:r>
                        <a:rPr lang="en-US" sz="1700" b="1" i="1" dirty="0">
                          <a:solidFill>
                            <a:srgbClr val="6E4A9E"/>
                          </a:solidFill>
                          <a:latin typeface="Calibri" pitchFamily="34" charset="0"/>
                          <a:ea typeface="Calibri" pitchFamily="34" charset="-122"/>
                          <a:cs typeface="Calibri" pitchFamily="34" charset="-120"/>
                        </a:rPr>
                        <a:t>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6" name="Shape 12"/>
          <p:cNvSpPr/>
          <p:nvPr/>
        </p:nvSpPr>
        <p:spPr>
          <a:xfrm>
            <a:off x="822960" y="4754880"/>
            <a:ext cx="5138928" cy="914400"/>
          </a:xfrm>
          <a:prstGeom prst="roundRect">
            <a:avLst>
              <a:gd name="adj" fmla="val 10000"/>
            </a:avLst>
          </a:prstGeom>
          <a:solidFill>
            <a:srgbClr val="F1ECF7"/>
          </a:solidFill>
          <a:ln w="12700">
            <a:solidFill>
              <a:srgbClr val="FFFFFF">
                <a:alpha val="0"/>
              </a:srgbClr>
            </a:solidFill>
            <a:prstDash val="solid"/>
          </a:ln>
        </p:spPr>
      </p:sp>
      <p:sp>
        <p:nvSpPr>
          <p:cNvPr id="17" name="Shape 13"/>
          <p:cNvSpPr/>
          <p:nvPr/>
        </p:nvSpPr>
        <p:spPr>
          <a:xfrm>
            <a:off x="996696" y="4928616"/>
            <a:ext cx="310896" cy="310896"/>
          </a:xfrm>
          <a:prstGeom prst="ellipse">
            <a:avLst/>
          </a:prstGeom>
          <a:solidFill>
            <a:srgbClr val="6E4A9E"/>
          </a:solidFill>
          <a:ln w="12700">
            <a:solidFill>
              <a:srgbClr val="FFFFFF">
                <a:alpha val="0"/>
              </a:srgbClr>
            </a:solidFill>
            <a:prstDash val="solid"/>
          </a:ln>
        </p:spPr>
      </p:sp>
      <p:sp>
        <p:nvSpPr>
          <p:cNvPr id="18" name="Text 14"/>
          <p:cNvSpPr txBox="1"/>
          <p:nvPr/>
        </p:nvSpPr>
        <p:spPr>
          <a:xfrm>
            <a:off x="996696" y="4928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5"/>
          <p:cNvSpPr txBox="1"/>
          <p:nvPr/>
        </p:nvSpPr>
        <p:spPr>
          <a:xfrm>
            <a:off x="1444752" y="4864608"/>
            <a:ext cx="4361688" cy="292608"/>
          </a:xfrm>
          <a:prstGeom prst="rect">
            <a:avLst/>
          </a:prstGeom>
          <a:noFill/>
          <a:ln/>
        </p:spPr>
        <p:txBody>
          <a:bodyPr wrap="square" lIns="0" tIns="0" rIns="0" bIns="0" rtlCol="0" anchor="ctr"/>
          <a:lstStyle/>
          <a:p>
            <a:pPr algn="l" indent="0" marL="0">
              <a:buNone/>
            </a:pPr>
            <a:r>
              <a:rPr lang="en-US" sz="1300" b="1" dirty="0">
                <a:solidFill>
                  <a:srgbClr val="6E4A9E"/>
                </a:solidFill>
                <a:latin typeface="Calibri" pitchFamily="34" charset="0"/>
                <a:ea typeface="Calibri" pitchFamily="34" charset="-122"/>
                <a:cs typeface="Calibri" pitchFamily="34" charset="-120"/>
              </a:rPr>
              <a:t>Au féminin</a:t>
            </a:r>
            <a:endParaRPr lang="en-US" sz="1300" dirty="0"/>
          </a:p>
        </p:txBody>
      </p:sp>
      <p:sp>
        <p:nvSpPr>
          <p:cNvPr id="20" name="Text 16"/>
          <p:cNvSpPr txBox="1"/>
          <p:nvPr/>
        </p:nvSpPr>
        <p:spPr>
          <a:xfrm>
            <a:off x="1444752" y="5157216"/>
            <a:ext cx="4361688"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-ster, -es, -in</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de verkoopster, de lerares, de vriendin</a:t>
            </a:r>
            <a:endParaRPr lang="en-US" sz="1400" dirty="0"/>
          </a:p>
        </p:txBody>
      </p:sp>
      <p:sp>
        <p:nvSpPr>
          <p:cNvPr id="21" name="Shape 17"/>
          <p:cNvSpPr/>
          <p:nvPr/>
        </p:nvSpPr>
        <p:spPr>
          <a:xfrm>
            <a:off x="6236208" y="4754880"/>
            <a:ext cx="5138928" cy="914400"/>
          </a:xfrm>
          <a:prstGeom prst="roundRect">
            <a:avLst>
              <a:gd name="adj" fmla="val 10000"/>
            </a:avLst>
          </a:prstGeom>
          <a:solidFill>
            <a:srgbClr val="FBEDEB"/>
          </a:solidFill>
          <a:ln w="12700">
            <a:solidFill>
              <a:srgbClr val="FFFFFF">
                <a:alpha val="0"/>
              </a:srgbClr>
            </a:solidFill>
            <a:prstDash val="solid"/>
          </a:ln>
        </p:spPr>
      </p:sp>
      <p:sp>
        <p:nvSpPr>
          <p:cNvPr id="22" name="Shape 18"/>
          <p:cNvSpPr/>
          <p:nvPr/>
        </p:nvSpPr>
        <p:spPr>
          <a:xfrm>
            <a:off x="6409944" y="4928616"/>
            <a:ext cx="310896" cy="310896"/>
          </a:xfrm>
          <a:prstGeom prst="ellipse">
            <a:avLst/>
          </a:prstGeom>
          <a:solidFill>
            <a:srgbClr val="B83227"/>
          </a:solidFill>
          <a:ln w="12700">
            <a:solidFill>
              <a:srgbClr val="FFFFFF">
                <a:alpha val="0"/>
              </a:srgbClr>
            </a:solidFill>
            <a:prstDash val="solid"/>
          </a:ln>
        </p:spPr>
      </p:sp>
      <p:sp>
        <p:nvSpPr>
          <p:cNvPr id="23" name="Text 19"/>
          <p:cNvSpPr txBox="1"/>
          <p:nvPr/>
        </p:nvSpPr>
        <p:spPr>
          <a:xfrm>
            <a:off x="6409944" y="4928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0"/>
          <p:cNvSpPr txBox="1"/>
          <p:nvPr/>
        </p:nvSpPr>
        <p:spPr>
          <a:xfrm>
            <a:off x="6858000" y="486460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À retenir</a:t>
            </a:r>
            <a:endParaRPr lang="en-US" sz="1300" dirty="0"/>
          </a:p>
        </p:txBody>
      </p:sp>
      <p:sp>
        <p:nvSpPr>
          <p:cNvPr id="25" name="Text 21"/>
          <p:cNvSpPr txBox="1"/>
          <p:nvPr/>
        </p:nvSpPr>
        <p:spPr>
          <a:xfrm>
            <a:off x="6858000" y="5157216"/>
            <a:ext cx="4361688"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leren → de leraar</a:t>
            </a:r>
            <a:r>
              <a:rPr lang="en-US" sz="1400" dirty="0">
                <a:solidFill>
                  <a:srgbClr val="1B2333"/>
                </a:solidFill>
                <a:latin typeface="Calibri" pitchFamily="34" charset="0"/>
                <a:ea typeface="Calibri" pitchFamily="34" charset="-122"/>
                <a:cs typeface="Calibri" pitchFamily="34" charset="-120"/>
              </a:rPr>
              <a:t> · souvent une seule forme : </a:t>
            </a:r>
            <a:r>
              <a:rPr lang="en-US" sz="1400" i="1" dirty="0">
                <a:solidFill>
                  <a:srgbClr val="1B2333"/>
                </a:solidFill>
                <a:latin typeface="Calibri" pitchFamily="34" charset="0"/>
                <a:ea typeface="Calibri" pitchFamily="34" charset="-122"/>
                <a:cs typeface="Calibri" pitchFamily="34" charset="-120"/>
              </a:rPr>
              <a:t>de collega</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pont des francophones : -eren → -atie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V="1">
            <a:off x="10799507"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4052659" y="1444752"/>
            <a:ext cx="4083634"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052659" y="1444752"/>
            <a:ext cx="4083634" cy="566928"/>
          </a:xfrm>
          <a:prstGeom prst="rect">
            <a:avLst/>
          </a:prstGeom>
          <a:noFill/>
          <a:ln/>
        </p:spPr>
        <p:txBody>
          <a:bodyPr wrap="square" lIns="0" tIns="0" rIns="0" bIns="0" rtlCol="0" anchor="ctr"/>
          <a:lstStyle/>
          <a:p>
            <a:pPr algn="ctr" indent="0" marL="0">
              <a:buNone/>
            </a:pPr>
            <a:r>
              <a:rPr lang="en-US" sz="2100" b="1" dirty="0">
                <a:solidFill>
                  <a:srgbClr val="17375E"/>
                </a:solidFill>
                <a:latin typeface="Calibri" pitchFamily="34" charset="0"/>
                <a:ea typeface="Calibri" pitchFamily="34" charset="-122"/>
                <a:cs typeface="Calibri" pitchFamily="34" charset="-120"/>
              </a:rPr>
              <a:t>-</a:t>
            </a:r>
            <a:r>
              <a:rPr lang="en-US" sz="2100" b="1" dirty="0">
                <a:solidFill>
                  <a:srgbClr val="6E4A9E"/>
                </a:solidFill>
                <a:latin typeface="Calibri" pitchFamily="34" charset="0"/>
                <a:ea typeface="Calibri" pitchFamily="34" charset="-122"/>
                <a:cs typeface="Calibri" pitchFamily="34" charset="-120"/>
              </a:rPr>
              <a:t>eren</a:t>
            </a:r>
            <a:r>
              <a:rPr lang="en-US" sz="2100" b="1" dirty="0">
                <a:solidFill>
                  <a:srgbClr val="17375E"/>
                </a:solidFill>
                <a:latin typeface="Calibri" pitchFamily="34" charset="0"/>
                <a:ea typeface="Calibri" pitchFamily="34" charset="-122"/>
                <a:cs typeface="Calibri" pitchFamily="34" charset="-120"/>
              </a:rPr>
              <a:t> → -</a:t>
            </a:r>
            <a:r>
              <a:rPr lang="en-US" sz="2100" b="1" dirty="0">
                <a:solidFill>
                  <a:srgbClr val="6E4A9E"/>
                </a:solidFill>
                <a:latin typeface="Calibri" pitchFamily="34" charset="0"/>
                <a:ea typeface="Calibri" pitchFamily="34" charset="-122"/>
                <a:cs typeface="Calibri" pitchFamily="34" charset="-120"/>
              </a:rPr>
              <a:t>atie</a:t>
            </a:r>
            <a:r>
              <a:rPr lang="en-US" sz="2100" b="1" dirty="0">
                <a:solidFill>
                  <a:srgbClr val="17375E"/>
                </a:solidFill>
                <a:latin typeface="Calibri" pitchFamily="34" charset="0"/>
                <a:ea typeface="Calibri" pitchFamily="34" charset="-122"/>
                <a:cs typeface="Calibri" pitchFamily="34" charset="-120"/>
              </a:rPr>
              <a:t> · le français -tion</a:t>
            </a:r>
            <a:endParaRPr lang="en-US" sz="2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751076" y="2240280"/>
          <a:ext cx="8686800" cy="914400"/>
        </p:xfrm>
        <a:graphic>
          <a:graphicData uri="http://schemas.openxmlformats.org/drawingml/2006/table">
            <a:tbl>
              <a:tblPr/>
              <a:tblGrid>
                <a:gridCol w="2895600"/>
                <a:gridCol w="2895600"/>
                <a:gridCol w="2895600"/>
              </a:tblGrid>
              <a:tr h="420624">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FRANÇAIS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organis</a:t>
                      </a:r>
                      <a:r>
                        <a:rPr lang="en-US" sz="1600" b="1" i="1" dirty="0">
                          <a:solidFill>
                            <a:srgbClr val="6E4A9E"/>
                          </a:solidFill>
                          <a:latin typeface="Calibri" pitchFamily="34" charset="0"/>
                          <a:ea typeface="Calibri" pitchFamily="34" charset="-122"/>
                          <a:cs typeface="Calibri" pitchFamily="34" charset="-120"/>
                        </a:rPr>
                        <a:t>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organis</a:t>
                      </a:r>
                      <a:r>
                        <a:rPr lang="en-US" sz="1600" b="1" i="1" dirty="0">
                          <a:solidFill>
                            <a:srgbClr val="6E4A9E"/>
                          </a:solidFill>
                          <a:latin typeface="Calibri" pitchFamily="34" charset="0"/>
                          <a:ea typeface="Calibri" pitchFamily="34" charset="-122"/>
                          <a:cs typeface="Calibri" pitchFamily="34" charset="-120"/>
                        </a:rPr>
                        <a:t>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l’organisation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inform</a:t>
                      </a:r>
                      <a:r>
                        <a:rPr lang="en-US" sz="1600" b="1" i="1" dirty="0">
                          <a:solidFill>
                            <a:srgbClr val="6E4A9E"/>
                          </a:solidFill>
                          <a:latin typeface="Calibri" pitchFamily="34" charset="0"/>
                          <a:ea typeface="Calibri" pitchFamily="34" charset="-122"/>
                          <a:cs typeface="Calibri" pitchFamily="34" charset="-120"/>
                        </a:rPr>
                        <a:t>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inform</a:t>
                      </a:r>
                      <a:r>
                        <a:rPr lang="en-US" sz="1600" b="1" i="1" dirty="0">
                          <a:solidFill>
                            <a:srgbClr val="6E4A9E"/>
                          </a:solidFill>
                          <a:latin typeface="Calibri" pitchFamily="34" charset="0"/>
                          <a:ea typeface="Calibri" pitchFamily="34" charset="-122"/>
                          <a:cs typeface="Calibri" pitchFamily="34" charset="-120"/>
                        </a:rPr>
                        <a:t>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l’information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present</a:t>
                      </a:r>
                      <a:r>
                        <a:rPr lang="en-US" sz="1600" b="1" i="1" dirty="0">
                          <a:solidFill>
                            <a:srgbClr val="6E4A9E"/>
                          </a:solidFill>
                          <a:latin typeface="Calibri" pitchFamily="34" charset="0"/>
                          <a:ea typeface="Calibri" pitchFamily="34" charset="-122"/>
                          <a:cs typeface="Calibri" pitchFamily="34" charset="-120"/>
                        </a:rPr>
                        <a:t>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present</a:t>
                      </a:r>
                      <a:r>
                        <a:rPr lang="en-US" sz="1600" b="1" i="1" dirty="0">
                          <a:solidFill>
                            <a:srgbClr val="6E4A9E"/>
                          </a:solidFill>
                          <a:latin typeface="Calibri" pitchFamily="34" charset="0"/>
                          <a:ea typeface="Calibri" pitchFamily="34" charset="-122"/>
                          <a:cs typeface="Calibri" pitchFamily="34" charset="-120"/>
                        </a:rPr>
                        <a:t>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la présentation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communic</a:t>
                      </a:r>
                      <a:r>
                        <a:rPr lang="en-US" sz="1600" b="1" i="1" dirty="0">
                          <a:solidFill>
                            <a:srgbClr val="6E4A9E"/>
                          </a:solidFill>
                          <a:latin typeface="Calibri" pitchFamily="34" charset="0"/>
                          <a:ea typeface="Calibri" pitchFamily="34" charset="-122"/>
                          <a:cs typeface="Calibri" pitchFamily="34" charset="-120"/>
                        </a:rPr>
                        <a:t>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communic</a:t>
                      </a:r>
                      <a:r>
                        <a:rPr lang="en-US" sz="1600" b="1" i="1" dirty="0">
                          <a:solidFill>
                            <a:srgbClr val="6E4A9E"/>
                          </a:solidFill>
                          <a:latin typeface="Calibri" pitchFamily="34" charset="0"/>
                          <a:ea typeface="Calibri" pitchFamily="34" charset="-122"/>
                          <a:cs typeface="Calibri" pitchFamily="34" charset="-120"/>
                        </a:rPr>
                        <a:t>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la communication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reserv</a:t>
                      </a:r>
                      <a:r>
                        <a:rPr lang="en-US" sz="1600" b="1" i="1" dirty="0">
                          <a:solidFill>
                            <a:srgbClr val="6E4A9E"/>
                          </a:solidFill>
                          <a:latin typeface="Calibri" pitchFamily="34" charset="0"/>
                          <a:ea typeface="Calibri" pitchFamily="34" charset="-122"/>
                          <a:cs typeface="Calibri" pitchFamily="34" charset="-120"/>
                        </a:rPr>
                        <a:t>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reserv</a:t>
                      </a:r>
                      <a:r>
                        <a:rPr lang="en-US" sz="1600" b="1" i="1" dirty="0">
                          <a:solidFill>
                            <a:srgbClr val="6E4A9E"/>
                          </a:solidFill>
                          <a:latin typeface="Calibri" pitchFamily="34" charset="0"/>
                          <a:ea typeface="Calibri" pitchFamily="34" charset="-122"/>
                          <a:cs typeface="Calibri" pitchFamily="34" charset="-120"/>
                        </a:rPr>
                        <a:t>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la réservation (BE)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983480"/>
            <a:ext cx="5138928" cy="868680"/>
          </a:xfrm>
          <a:prstGeom prst="roundRect">
            <a:avLst>
              <a:gd name="adj" fmla="val 10526"/>
            </a:avLst>
          </a:prstGeom>
          <a:solidFill>
            <a:srgbClr val="E8F4EC"/>
          </a:solidFill>
          <a:ln w="12700">
            <a:solidFill>
              <a:srgbClr val="FFFFFF">
                <a:alpha val="0"/>
              </a:srgbClr>
            </a:solidFill>
            <a:prstDash val="solid"/>
          </a:ln>
        </p:spPr>
      </p:sp>
      <p:sp>
        <p:nvSpPr>
          <p:cNvPr id="19" name="Shape 15"/>
          <p:cNvSpPr/>
          <p:nvPr/>
        </p:nvSpPr>
        <p:spPr>
          <a:xfrm>
            <a:off x="996696" y="5157216"/>
            <a:ext cx="310896" cy="310896"/>
          </a:xfrm>
          <a:prstGeom prst="ellipse">
            <a:avLst/>
          </a:prstGeom>
          <a:solidFill>
            <a:srgbClr val="2E7D4F"/>
          </a:solidFill>
          <a:ln w="12700">
            <a:solidFill>
              <a:srgbClr val="FFFFFF">
                <a:alpha val="0"/>
              </a:srgbClr>
            </a:solidFill>
            <a:prstDash val="solid"/>
          </a:ln>
        </p:spPr>
      </p:sp>
      <p:sp>
        <p:nvSpPr>
          <p:cNvPr id="20" name="Text 16"/>
          <p:cNvSpPr txBox="1"/>
          <p:nvPr/>
        </p:nvSpPr>
        <p:spPr>
          <a:xfrm>
            <a:off x="996696"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509320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22" name="Text 18"/>
          <p:cNvSpPr txBox="1"/>
          <p:nvPr/>
        </p:nvSpPr>
        <p:spPr>
          <a:xfrm>
            <a:off x="1444752" y="5385816"/>
            <a:ext cx="4361688" cy="39319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toujours </a:t>
            </a:r>
            <a:r>
              <a:rPr lang="en-US" sz="1400" i="1" dirty="0">
                <a:solidFill>
                  <a:srgbClr val="1B2333"/>
                </a:solidFill>
                <a:latin typeface="Calibri" pitchFamily="34" charset="0"/>
                <a:ea typeface="Calibri" pitchFamily="34" charset="-122"/>
                <a:cs typeface="Calibri" pitchFamily="34" charset="-120"/>
              </a:rPr>
              <a:t>de</a:t>
            </a:r>
            <a:r>
              <a:rPr lang="en-US" sz="1400" dirty="0">
                <a:solidFill>
                  <a:srgbClr val="1B2333"/>
                </a:solidFill>
                <a:latin typeface="Calibri" pitchFamily="34" charset="0"/>
                <a:ea typeface="Calibri" pitchFamily="34" charset="-122"/>
                <a:cs typeface="Calibri" pitchFamily="34" charset="-120"/>
              </a:rPr>
              <a:t> · l’accent avant </a:t>
            </a:r>
            <a:r>
              <a:rPr lang="en-US" sz="1400" i="1" dirty="0">
                <a:solidFill>
                  <a:srgbClr val="1B2333"/>
                </a:solidFill>
                <a:latin typeface="Calibri" pitchFamily="34" charset="0"/>
                <a:ea typeface="Calibri" pitchFamily="34" charset="-122"/>
                <a:cs typeface="Calibri" pitchFamily="34" charset="-120"/>
              </a:rPr>
              <a:t>-tie</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infor</a:t>
            </a:r>
            <a:r>
              <a:rPr lang="en-US" sz="1400" b="1" i="1" dirty="0">
                <a:solidFill>
                  <a:srgbClr val="1B2333"/>
                </a:solidFill>
                <a:latin typeface="Calibri" pitchFamily="34" charset="0"/>
                <a:ea typeface="Calibri" pitchFamily="34" charset="-122"/>
                <a:cs typeface="Calibri" pitchFamily="34" charset="-120"/>
              </a:rPr>
              <a:t>ma</a:t>
            </a:r>
            <a:r>
              <a:rPr lang="en-US" sz="1400" i="1" dirty="0">
                <a:solidFill>
                  <a:srgbClr val="1B2333"/>
                </a:solidFill>
                <a:latin typeface="Calibri" pitchFamily="34" charset="0"/>
                <a:ea typeface="Calibri" pitchFamily="34" charset="-122"/>
                <a:cs typeface="Calibri" pitchFamily="34" charset="-120"/>
              </a:rPr>
              <a:t>tie</a:t>
            </a:r>
            <a:endParaRPr lang="en-US" sz="1400" dirty="0"/>
          </a:p>
        </p:txBody>
      </p:sp>
      <p:sp>
        <p:nvSpPr>
          <p:cNvPr id="23" name="Shape 19"/>
          <p:cNvSpPr/>
          <p:nvPr/>
        </p:nvSpPr>
        <p:spPr>
          <a:xfrm>
            <a:off x="6236208" y="4983480"/>
            <a:ext cx="5138928" cy="868680"/>
          </a:xfrm>
          <a:prstGeom prst="roundRect">
            <a:avLst>
              <a:gd name="adj" fmla="val 10526"/>
            </a:avLst>
          </a:prstGeom>
          <a:solidFill>
            <a:srgbClr val="FBEDEB"/>
          </a:solidFill>
          <a:ln w="12700">
            <a:solidFill>
              <a:srgbClr val="FFFFFF">
                <a:alpha val="0"/>
              </a:srgbClr>
            </a:solidFill>
            <a:prstDash val="solid"/>
          </a:ln>
        </p:spPr>
      </p:sp>
      <p:sp>
        <p:nvSpPr>
          <p:cNvPr id="24" name="Shape 20"/>
          <p:cNvSpPr/>
          <p:nvPr/>
        </p:nvSpPr>
        <p:spPr>
          <a:xfrm>
            <a:off x="6409944" y="5157216"/>
            <a:ext cx="310896" cy="310896"/>
          </a:xfrm>
          <a:prstGeom prst="ellipse">
            <a:avLst/>
          </a:prstGeom>
          <a:solidFill>
            <a:srgbClr val="B83227"/>
          </a:solidFill>
          <a:ln w="12700">
            <a:solidFill>
              <a:srgbClr val="FFFFFF">
                <a:alpha val="0"/>
              </a:srgbClr>
            </a:solidFill>
            <a:prstDash val="solid"/>
          </a:ln>
        </p:spPr>
      </p:sp>
      <p:sp>
        <p:nvSpPr>
          <p:cNvPr id="25" name="Text 21"/>
          <p:cNvSpPr txBox="1"/>
          <p:nvPr/>
        </p:nvSpPr>
        <p:spPr>
          <a:xfrm>
            <a:off x="6409944"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509320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Exceptions</a:t>
            </a:r>
            <a:endParaRPr lang="en-US" sz="1300" dirty="0"/>
          </a:p>
        </p:txBody>
      </p:sp>
      <p:sp>
        <p:nvSpPr>
          <p:cNvPr id="27" name="Text 23"/>
          <p:cNvSpPr txBox="1"/>
          <p:nvPr/>
        </p:nvSpPr>
        <p:spPr>
          <a:xfrm>
            <a:off x="6858000" y="5385816"/>
            <a:ext cx="4361688"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de controle · de discussie · de reservering</a:t>
            </a:r>
            <a:r>
              <a:rPr lang="en-US" sz="1400" dirty="0">
                <a:solidFill>
                  <a:srgbClr val="1B2333"/>
                </a:solidFill>
                <a:latin typeface="Calibri" pitchFamily="34" charset="0"/>
                <a:ea typeface="Calibri" pitchFamily="34" charset="-122"/>
                <a:cs typeface="Calibri" pitchFamily="34" charset="-120"/>
              </a:rPr>
              <a:t> (NL)</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 qualité : -heid ou -te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ADJECTIF</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H="1" flipV="1">
            <a:off x="11248761"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5029200" cy="914400"/>
        </p:xfrm>
        <a:graphic>
          <a:graphicData uri="http://schemas.openxmlformats.org/drawingml/2006/table">
            <a:tbl>
              <a:tblPr/>
              <a:tblGrid>
                <a:gridCol w="2011680"/>
                <a:gridCol w="3017520"/>
              </a:tblGrid>
              <a:tr h="512064">
                <a:tc gridSpan="2">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-HEID</a:t>
                      </a:r>
                      <a:r>
                        <a:rPr lang="en-US" sz="1150" b="1" spc="200" kern="0" dirty="0">
                          <a:solidFill>
                            <a:srgbClr val="D9700F"/>
                          </a:solidFill>
                          <a:latin typeface="Calibri" pitchFamily="34" charset="0"/>
                          <a:ea typeface="Calibri" pitchFamily="34" charset="-122"/>
                          <a:cs typeface="Calibri" pitchFamily="34" charset="-120"/>
                        </a:rPr>
                        <a:t> · LA QUALITÉ</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vrij</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vrij</a:t>
                      </a:r>
                      <a:r>
                        <a:rPr lang="en-US" sz="1700" b="1" i="1" dirty="0">
                          <a:solidFill>
                            <a:srgbClr val="6E4A9E"/>
                          </a:solidFill>
                          <a:latin typeface="Calibri" pitchFamily="34" charset="0"/>
                          <a:ea typeface="Calibri" pitchFamily="34" charset="-122"/>
                          <a:cs typeface="Calibri" pitchFamily="34" charset="-120"/>
                        </a:rPr>
                        <a:t>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gezond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gezond</a:t>
                      </a:r>
                      <a:r>
                        <a:rPr lang="en-US" sz="1700" b="1" i="1" dirty="0">
                          <a:solidFill>
                            <a:srgbClr val="6E4A9E"/>
                          </a:solidFill>
                          <a:latin typeface="Calibri" pitchFamily="34" charset="0"/>
                          <a:ea typeface="Calibri" pitchFamily="34" charset="-122"/>
                          <a:cs typeface="Calibri" pitchFamily="34" charset="-120"/>
                        </a:rPr>
                        <a:t>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snel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snel</a:t>
                      </a:r>
                      <a:r>
                        <a:rPr lang="en-US" sz="1700" b="1" i="1" dirty="0">
                          <a:solidFill>
                            <a:srgbClr val="6E4A9E"/>
                          </a:solidFill>
                          <a:latin typeface="Calibri" pitchFamily="34" charset="0"/>
                          <a:ea typeface="Calibri" pitchFamily="34" charset="-122"/>
                          <a:cs typeface="Calibri" pitchFamily="34" charset="-120"/>
                        </a:rPr>
                        <a:t>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mogelijk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mogelijk</a:t>
                      </a:r>
                      <a:r>
                        <a:rPr lang="en-US" sz="1700" b="1" i="1" dirty="0">
                          <a:solidFill>
                            <a:srgbClr val="6E4A9E"/>
                          </a:solidFill>
                          <a:latin typeface="Calibri" pitchFamily="34" charset="0"/>
                          <a:ea typeface="Calibri" pitchFamily="34" charset="-122"/>
                          <a:cs typeface="Calibri" pitchFamily="34" charset="-120"/>
                        </a:rPr>
                        <a:t>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336792" y="1600200"/>
          <a:ext cx="5029200" cy="914400"/>
        </p:xfrm>
        <a:graphic>
          <a:graphicData uri="http://schemas.openxmlformats.org/drawingml/2006/table">
            <a:tbl>
              <a:tblPr/>
              <a:tblGrid>
                <a:gridCol w="2011680"/>
                <a:gridCol w="3017520"/>
              </a:tblGrid>
              <a:tr h="512064">
                <a:tc gridSpan="2">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-TE</a:t>
                      </a:r>
                      <a:r>
                        <a:rPr lang="en-US" sz="1150" b="1" spc="200" kern="0" dirty="0">
                          <a:solidFill>
                            <a:srgbClr val="D9700F"/>
                          </a:solidFill>
                          <a:latin typeface="Calibri" pitchFamily="34" charset="0"/>
                          <a:ea typeface="Calibri" pitchFamily="34" charset="-122"/>
                          <a:cs typeface="Calibri" pitchFamily="34" charset="-120"/>
                        </a:rPr>
                        <a:t> · LA MESURE, LA SENSATION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lang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leng</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warm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warm</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hoog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hoog</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breed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breed</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7" name="Shape 12"/>
          <p:cNvSpPr/>
          <p:nvPr/>
        </p:nvSpPr>
        <p:spPr>
          <a:xfrm>
            <a:off x="822960" y="4617720"/>
            <a:ext cx="5138928" cy="914400"/>
          </a:xfrm>
          <a:prstGeom prst="roundRect">
            <a:avLst>
              <a:gd name="adj" fmla="val 10000"/>
            </a:avLst>
          </a:prstGeom>
          <a:solidFill>
            <a:srgbClr val="E8F4EC"/>
          </a:solidFill>
          <a:ln w="12700">
            <a:solidFill>
              <a:srgbClr val="FFFFFF">
                <a:alpha val="0"/>
              </a:srgbClr>
            </a:solidFill>
            <a:prstDash val="solid"/>
          </a:ln>
        </p:spPr>
      </p:sp>
      <p:sp>
        <p:nvSpPr>
          <p:cNvPr id="18" name="Shape 13"/>
          <p:cNvSpPr/>
          <p:nvPr/>
        </p:nvSpPr>
        <p:spPr>
          <a:xfrm>
            <a:off x="996696" y="4791456"/>
            <a:ext cx="310896" cy="310896"/>
          </a:xfrm>
          <a:prstGeom prst="ellipse">
            <a:avLst/>
          </a:prstGeom>
          <a:solidFill>
            <a:srgbClr val="2E7D4F"/>
          </a:solidFill>
          <a:ln w="12700">
            <a:solidFill>
              <a:srgbClr val="FFFFFF">
                <a:alpha val="0"/>
              </a:srgbClr>
            </a:solidFill>
            <a:prstDash val="solid"/>
          </a:ln>
        </p:spPr>
      </p:sp>
      <p:sp>
        <p:nvSpPr>
          <p:cNvPr id="19" name="Text 14"/>
          <p:cNvSpPr txBox="1"/>
          <p:nvPr/>
        </p:nvSpPr>
        <p:spPr>
          <a:xfrm>
            <a:off x="996696" y="4791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5"/>
          <p:cNvSpPr txBox="1"/>
          <p:nvPr/>
        </p:nvSpPr>
        <p:spPr>
          <a:xfrm>
            <a:off x="1444752" y="472744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21" name="Text 16"/>
          <p:cNvSpPr txBox="1"/>
          <p:nvPr/>
        </p:nvSpPr>
        <p:spPr>
          <a:xfrm>
            <a:off x="1444752" y="5020056"/>
            <a:ext cx="4361688"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toujours </a:t>
            </a:r>
            <a:r>
              <a:rPr lang="en-US" sz="1400" i="1" dirty="0">
                <a:solidFill>
                  <a:srgbClr val="1B2333"/>
                </a:solidFill>
                <a:latin typeface="Calibri" pitchFamily="34" charset="0"/>
                <a:ea typeface="Calibri" pitchFamily="34" charset="-122"/>
                <a:cs typeface="Calibri" pitchFamily="34" charset="-120"/>
              </a:rPr>
              <a:t>de</a:t>
            </a:r>
            <a:r>
              <a:rPr lang="en-US" sz="1400" dirty="0">
                <a:solidFill>
                  <a:srgbClr val="1B2333"/>
                </a:solidFill>
                <a:latin typeface="Calibri" pitchFamily="34" charset="0"/>
                <a:ea typeface="Calibri" pitchFamily="34" charset="-122"/>
                <a:cs typeface="Calibri" pitchFamily="34" charset="-120"/>
              </a:rPr>
              <a:t> · en cas de doute : </a:t>
            </a:r>
            <a:r>
              <a:rPr lang="en-US" sz="1400" i="1" dirty="0">
                <a:solidFill>
                  <a:srgbClr val="1B2333"/>
                </a:solidFill>
                <a:latin typeface="Calibri" pitchFamily="34" charset="0"/>
                <a:ea typeface="Calibri" pitchFamily="34" charset="-122"/>
                <a:cs typeface="Calibri" pitchFamily="34" charset="-120"/>
              </a:rPr>
              <a:t>-heid</a:t>
            </a:r>
            <a:endParaRPr lang="en-US" sz="1400" dirty="0"/>
          </a:p>
        </p:txBody>
      </p:sp>
      <p:sp>
        <p:nvSpPr>
          <p:cNvPr id="22" name="Shape 17"/>
          <p:cNvSpPr/>
          <p:nvPr/>
        </p:nvSpPr>
        <p:spPr>
          <a:xfrm>
            <a:off x="6236208" y="4617720"/>
            <a:ext cx="5138928" cy="914400"/>
          </a:xfrm>
          <a:prstGeom prst="roundRect">
            <a:avLst>
              <a:gd name="adj" fmla="val 10000"/>
            </a:avLst>
          </a:prstGeom>
          <a:solidFill>
            <a:srgbClr val="FBEDEB"/>
          </a:solidFill>
          <a:ln w="12700">
            <a:solidFill>
              <a:srgbClr val="FFFFFF">
                <a:alpha val="0"/>
              </a:srgbClr>
            </a:solidFill>
            <a:prstDash val="solid"/>
          </a:ln>
        </p:spPr>
      </p:sp>
      <p:sp>
        <p:nvSpPr>
          <p:cNvPr id="23" name="Shape 18"/>
          <p:cNvSpPr/>
          <p:nvPr/>
        </p:nvSpPr>
        <p:spPr>
          <a:xfrm>
            <a:off x="6409944" y="4791456"/>
            <a:ext cx="310896" cy="310896"/>
          </a:xfrm>
          <a:prstGeom prst="ellipse">
            <a:avLst/>
          </a:prstGeom>
          <a:solidFill>
            <a:srgbClr val="B83227"/>
          </a:solidFill>
          <a:ln w="12700">
            <a:solidFill>
              <a:srgbClr val="FFFFFF">
                <a:alpha val="0"/>
              </a:srgbClr>
            </a:solidFill>
            <a:prstDash val="solid"/>
          </a:ln>
        </p:spPr>
      </p:sp>
      <p:sp>
        <p:nvSpPr>
          <p:cNvPr id="24" name="Text 19"/>
          <p:cNvSpPr txBox="1"/>
          <p:nvPr/>
        </p:nvSpPr>
        <p:spPr>
          <a:xfrm>
            <a:off x="6409944" y="4791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0"/>
          <p:cNvSpPr txBox="1"/>
          <p:nvPr/>
        </p:nvSpPr>
        <p:spPr>
          <a:xfrm>
            <a:off x="6858000" y="472744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Exceptions</a:t>
            </a:r>
            <a:endParaRPr lang="en-US" sz="1300" dirty="0"/>
          </a:p>
        </p:txBody>
      </p:sp>
      <p:sp>
        <p:nvSpPr>
          <p:cNvPr id="26" name="Text 21"/>
          <p:cNvSpPr txBox="1"/>
          <p:nvPr/>
        </p:nvSpPr>
        <p:spPr>
          <a:xfrm>
            <a:off x="6858000" y="5020056"/>
            <a:ext cx="4361688"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ziek → de ziek</a:t>
            </a:r>
            <a:r>
              <a:rPr lang="en-US" sz="1400" b="1" i="1" dirty="0">
                <a:solidFill>
                  <a:srgbClr val="6E4A9E"/>
                </a:solidFill>
                <a:latin typeface="Calibri" pitchFamily="34" charset="0"/>
                <a:ea typeface="Calibri" pitchFamily="34" charset="-122"/>
                <a:cs typeface="Calibri" pitchFamily="34" charset="-120"/>
              </a:rPr>
              <a:t>te</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lief → de lief</a:t>
            </a:r>
            <a:r>
              <a:rPr lang="en-US" sz="1400" b="1" i="1" dirty="0">
                <a:solidFill>
                  <a:srgbClr val="6E4A9E"/>
                </a:solidFill>
                <a:latin typeface="Calibri" pitchFamily="34" charset="0"/>
                <a:ea typeface="Calibri" pitchFamily="34" charset="-122"/>
                <a:cs typeface="Calibri" pitchFamily="34" charset="-120"/>
              </a:rPr>
              <a:t>de</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koud → de kou(de)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-iteit, et l’adjectif devenu nom</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ADJECTIF</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A6FB0"/>
                </a:solidFill>
                <a:latin typeface="Calibri" pitchFamily="34" charset="0"/>
                <a:ea typeface="Calibri" pitchFamily="34" charset="-122"/>
                <a:cs typeface="Calibri" pitchFamily="34" charset="-120"/>
              </a:rPr>
              <a:t>NOM</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H="1" flipV="1">
            <a:off x="11248761" y="519792"/>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5029200" cy="914400"/>
        </p:xfrm>
        <a:graphic>
          <a:graphicData uri="http://schemas.openxmlformats.org/drawingml/2006/table">
            <a:tbl>
              <a:tblPr/>
              <a:tblGrid>
                <a:gridCol w="2011680"/>
                <a:gridCol w="3017520"/>
              </a:tblGrid>
              <a:tr h="512064">
                <a:tc gridSpan="2">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-ITEIT</a:t>
                      </a:r>
                      <a:r>
                        <a:rPr lang="en-US" sz="1150" b="1" spc="200" kern="0" dirty="0">
                          <a:solidFill>
                            <a:srgbClr val="D9700F"/>
                          </a:solidFill>
                          <a:latin typeface="Calibri" pitchFamily="34" charset="0"/>
                          <a:ea typeface="Calibri" pitchFamily="34" charset="-122"/>
                          <a:cs typeface="Calibri" pitchFamily="34" charset="-120"/>
                        </a:rPr>
                        <a:t> = LE FRANÇAIS -ITÉ</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actief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activ</a:t>
                      </a:r>
                      <a:r>
                        <a:rPr lang="en-US" sz="1700" b="1" i="1" dirty="0">
                          <a:solidFill>
                            <a:srgbClr val="6E4A9E"/>
                          </a:solidFill>
                          <a:latin typeface="Calibri" pitchFamily="34" charset="0"/>
                          <a:ea typeface="Calibri" pitchFamily="34" charset="-122"/>
                          <a:cs typeface="Calibri" pitchFamily="34" charset="-120"/>
                        </a:rPr>
                        <a:t>iteit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creatief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creativ</a:t>
                      </a:r>
                      <a:r>
                        <a:rPr lang="en-US" sz="1700" b="1" i="1" dirty="0">
                          <a:solidFill>
                            <a:srgbClr val="6E4A9E"/>
                          </a:solidFill>
                          <a:latin typeface="Calibri" pitchFamily="34" charset="0"/>
                          <a:ea typeface="Calibri" pitchFamily="34" charset="-122"/>
                          <a:cs typeface="Calibri" pitchFamily="34" charset="-120"/>
                        </a:rPr>
                        <a:t>iteit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flexibel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flexibil</a:t>
                      </a:r>
                      <a:r>
                        <a:rPr lang="en-US" sz="1700" b="1" i="1" dirty="0">
                          <a:solidFill>
                            <a:srgbClr val="6E4A9E"/>
                          </a:solidFill>
                          <a:latin typeface="Calibri" pitchFamily="34" charset="0"/>
                          <a:ea typeface="Calibri" pitchFamily="34" charset="-122"/>
                          <a:cs typeface="Calibri" pitchFamily="34" charset="-120"/>
                        </a:rPr>
                        <a:t>iteit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populair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popular</a:t>
                      </a:r>
                      <a:r>
                        <a:rPr lang="en-US" sz="1700" b="1" i="1" dirty="0">
                          <a:solidFill>
                            <a:srgbClr val="6E4A9E"/>
                          </a:solidFill>
                          <a:latin typeface="Calibri" pitchFamily="34" charset="0"/>
                          <a:ea typeface="Calibri" pitchFamily="34" charset="-122"/>
                          <a:cs typeface="Calibri" pitchFamily="34" charset="-120"/>
                        </a:rPr>
                        <a:t>iteit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6" name="Text 12"/>
          <p:cNvSpPr txBox="1"/>
          <p:nvPr/>
        </p:nvSpPr>
        <p:spPr>
          <a:xfrm>
            <a:off x="6336792" y="1627632"/>
            <a:ext cx="5029200" cy="365760"/>
          </a:xfrm>
          <a:prstGeom prst="rect">
            <a:avLst/>
          </a:prstGeom>
          <a:noFill/>
          <a:ln/>
        </p:spPr>
        <p:txBody>
          <a:bodyPr wrap="square" lIns="0" tIns="0" rIns="0" bIns="0" rtlCol="0" anchor="ct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L’ADJECTIF DEVIENT NOM</a:t>
            </a:r>
            <a:endParaRPr lang="en-US" sz="1150" dirty="0"/>
          </a:p>
        </p:txBody>
      </p:sp>
      <p:sp>
        <p:nvSpPr>
          <p:cNvPr id="17" name="Shape 13"/>
          <p:cNvSpPr/>
          <p:nvPr/>
        </p:nvSpPr>
        <p:spPr>
          <a:xfrm>
            <a:off x="6336792" y="2048256"/>
            <a:ext cx="5029200" cy="914"/>
          </a:xfrm>
          <a:prstGeom prst="line">
            <a:avLst/>
          </a:prstGeom>
          <a:noFill/>
          <a:ln w="15875">
            <a:solidFill>
              <a:srgbClr val="17375E"/>
            </a:solidFill>
            <a:prstDash val="solid"/>
          </a:ln>
        </p:spPr>
      </p:sp>
      <p:sp>
        <p:nvSpPr>
          <p:cNvPr id="18" name="Text 14"/>
          <p:cNvSpPr txBox="1"/>
          <p:nvPr/>
        </p:nvSpPr>
        <p:spPr>
          <a:xfrm>
            <a:off x="6336792" y="2240280"/>
            <a:ext cx="5029200" cy="384048"/>
          </a:xfrm>
          <a:prstGeom prst="rect">
            <a:avLst/>
          </a:prstGeom>
          <a:noFill/>
          <a:ln/>
        </p:spPr>
        <p:txBody>
          <a:bodyPr wrap="square" lIns="0" tIns="0" rIns="0" bIns="0" rtlCol="0" anchor="ctr"/>
          <a:lstStyle/>
          <a:p>
            <a:pPr algn="ctr" indent="0" marL="0">
              <a:buNone/>
            </a:pPr>
            <a:r>
              <a:rPr lang="en-US" sz="1600" b="1" dirty="0">
                <a:solidFill>
                  <a:srgbClr val="6E4A9E"/>
                </a:solidFill>
                <a:latin typeface="Calibri" pitchFamily="34" charset="0"/>
                <a:ea typeface="Calibri" pitchFamily="34" charset="-122"/>
                <a:cs typeface="Calibri" pitchFamily="34" charset="-120"/>
              </a:rPr>
              <a:t>het</a:t>
            </a:r>
            <a:r>
              <a:rPr lang="en-US" sz="1600" b="1" dirty="0">
                <a:solidFill>
                  <a:srgbClr val="17375E"/>
                </a:solidFill>
                <a:latin typeface="Calibri" pitchFamily="34" charset="0"/>
                <a:ea typeface="Calibri" pitchFamily="34" charset="-122"/>
                <a:cs typeface="Calibri" pitchFamily="34" charset="-120"/>
              </a:rPr>
              <a:t> + </a:t>
            </a:r>
            <a:r>
              <a:rPr lang="en-US" sz="1600" b="1" dirty="0">
                <a:solidFill>
                  <a:srgbClr val="D9700F"/>
                </a:solidFill>
                <a:latin typeface="Calibri" pitchFamily="34" charset="0"/>
                <a:ea typeface="Calibri" pitchFamily="34" charset="-122"/>
                <a:cs typeface="Calibri" pitchFamily="34" charset="-120"/>
              </a:rPr>
              <a:t>adjectif</a:t>
            </a:r>
            <a:r>
              <a:rPr lang="en-US" sz="1600" b="1" dirty="0">
                <a:solidFill>
                  <a:srgbClr val="17375E"/>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a:t>
            </a:r>
            <a:r>
              <a:rPr lang="en-US" sz="1600" b="1" dirty="0">
                <a:solidFill>
                  <a:srgbClr val="17375E"/>
                </a:solidFill>
                <a:latin typeface="Calibri" pitchFamily="34" charset="0"/>
                <a:ea typeface="Calibri" pitchFamily="34" charset="-122"/>
                <a:cs typeface="Calibri" pitchFamily="34" charset="-120"/>
              </a:rPr>
              <a:t> = « ce qui est… »</a:t>
            </a:r>
            <a:endParaRPr lang="en-US" sz="1600" dirty="0"/>
          </a:p>
        </p:txBody>
      </p:sp>
      <p:sp>
        <p:nvSpPr>
          <p:cNvPr id="19" name="Text 15"/>
          <p:cNvSpPr txBox="1"/>
          <p:nvPr/>
        </p:nvSpPr>
        <p:spPr>
          <a:xfrm>
            <a:off x="6336792" y="2624328"/>
            <a:ext cx="5029200" cy="411480"/>
          </a:xfrm>
          <a:prstGeom prst="rect">
            <a:avLst/>
          </a:prstGeom>
          <a:noFill/>
          <a:ln/>
        </p:spPr>
        <p:txBody>
          <a:bodyPr wrap="square" lIns="0" tIns="0" rIns="0" bIns="0" rtlCol="0" anchor="ct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leuke</a:t>
            </a:r>
            <a:r>
              <a:rPr lang="en-US" sz="1600" i="1" dirty="0">
                <a:solidFill>
                  <a:srgbClr val="1B2333"/>
                </a:solidFill>
                <a:latin typeface="Calibri" pitchFamily="34" charset="0"/>
                <a:ea typeface="Calibri" pitchFamily="34" charset="-122"/>
                <a:cs typeface="Calibri" pitchFamily="34" charset="-120"/>
              </a:rPr>
              <a:t> is dat we thuis werken.</a:t>
            </a:r>
            <a:endParaRPr lang="en-US" sz="1600" dirty="0"/>
          </a:p>
        </p:txBody>
      </p:sp>
      <p:sp>
        <p:nvSpPr>
          <p:cNvPr id="20" name="Text 16"/>
          <p:cNvSpPr txBox="1"/>
          <p:nvPr/>
        </p:nvSpPr>
        <p:spPr>
          <a:xfrm>
            <a:off x="6336792" y="3264408"/>
            <a:ext cx="5029200" cy="384048"/>
          </a:xfrm>
          <a:prstGeom prst="rect">
            <a:avLst/>
          </a:prstGeom>
          <a:noFill/>
          <a:ln/>
        </p:spPr>
        <p:txBody>
          <a:bodyPr wrap="square" lIns="0" tIns="0" rIns="0" bIns="0" rtlCol="0" anchor="ctr"/>
          <a:lstStyle/>
          <a:p>
            <a:pPr algn="ctr" indent="0" marL="0">
              <a:buNone/>
            </a:pPr>
            <a:r>
              <a:rPr lang="en-US" sz="1600" b="1" dirty="0">
                <a:solidFill>
                  <a:srgbClr val="6E4A9E"/>
                </a:solidFill>
                <a:latin typeface="Calibri" pitchFamily="34" charset="0"/>
                <a:ea typeface="Calibri" pitchFamily="34" charset="-122"/>
                <a:cs typeface="Calibri" pitchFamily="34" charset="-120"/>
              </a:rPr>
              <a:t>de</a:t>
            </a:r>
            <a:r>
              <a:rPr lang="en-US" sz="1600" b="1" dirty="0">
                <a:solidFill>
                  <a:srgbClr val="17375E"/>
                </a:solidFill>
                <a:latin typeface="Calibri" pitchFamily="34" charset="0"/>
                <a:ea typeface="Calibri" pitchFamily="34" charset="-122"/>
                <a:cs typeface="Calibri" pitchFamily="34" charset="-120"/>
              </a:rPr>
              <a:t> + </a:t>
            </a:r>
            <a:r>
              <a:rPr lang="en-US" sz="1600" b="1" dirty="0">
                <a:solidFill>
                  <a:srgbClr val="D9700F"/>
                </a:solidFill>
                <a:latin typeface="Calibri" pitchFamily="34" charset="0"/>
                <a:ea typeface="Calibri" pitchFamily="34" charset="-122"/>
                <a:cs typeface="Calibri" pitchFamily="34" charset="-120"/>
              </a:rPr>
              <a:t>adjectif</a:t>
            </a:r>
            <a:r>
              <a:rPr lang="en-US" sz="1600" b="1" dirty="0">
                <a:solidFill>
                  <a:srgbClr val="17375E"/>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-e(n)</a:t>
            </a:r>
            <a:r>
              <a:rPr lang="en-US" sz="1600" b="1" dirty="0">
                <a:solidFill>
                  <a:srgbClr val="17375E"/>
                </a:solidFill>
                <a:latin typeface="Calibri" pitchFamily="34" charset="0"/>
                <a:ea typeface="Calibri" pitchFamily="34" charset="-122"/>
                <a:cs typeface="Calibri" pitchFamily="34" charset="-120"/>
              </a:rPr>
              <a:t> = les personnes</a:t>
            </a:r>
            <a:endParaRPr lang="en-US" sz="1600" dirty="0"/>
          </a:p>
        </p:txBody>
      </p:sp>
      <p:sp>
        <p:nvSpPr>
          <p:cNvPr id="21" name="Text 17"/>
          <p:cNvSpPr txBox="1"/>
          <p:nvPr/>
        </p:nvSpPr>
        <p:spPr>
          <a:xfrm>
            <a:off x="6336792" y="3648456"/>
            <a:ext cx="5029200" cy="411480"/>
          </a:xfrm>
          <a:prstGeom prst="rect">
            <a:avLst/>
          </a:prstGeom>
          <a:noFill/>
          <a:ln/>
        </p:spPr>
        <p:txBody>
          <a:bodyPr wrap="square" lIns="0" tIns="0" rIns="0" bIns="0" rtlCol="0" anchor="ctr"/>
          <a:lstStyle/>
          <a:p>
            <a:pPr algn="ctr" indent="0" marL="0">
              <a:buNone/>
            </a:pPr>
            <a:r>
              <a:rPr lang="en-US" sz="1600" b="1" i="1" dirty="0">
                <a:solidFill>
                  <a:srgbClr val="2A6FB0"/>
                </a:solidFill>
                <a:latin typeface="Calibri" pitchFamily="34" charset="0"/>
                <a:ea typeface="Calibri" pitchFamily="34" charset="-122"/>
                <a:cs typeface="Calibri" pitchFamily="34" charset="-120"/>
              </a:rPr>
              <a:t>de zieken · de ouderen · de werklozen</a:t>
            </a:r>
            <a:endParaRPr lang="en-US" sz="1600" dirty="0"/>
          </a:p>
        </p:txBody>
      </p:sp>
      <p:sp>
        <p:nvSpPr>
          <p:cNvPr id="22" name="Shape 18"/>
          <p:cNvSpPr/>
          <p:nvPr/>
        </p:nvSpPr>
        <p:spPr>
          <a:xfrm>
            <a:off x="1888236" y="4709160"/>
            <a:ext cx="8412480" cy="868680"/>
          </a:xfrm>
          <a:prstGeom prst="roundRect">
            <a:avLst>
              <a:gd name="adj" fmla="val 10526"/>
            </a:avLst>
          </a:prstGeom>
          <a:solidFill>
            <a:srgbClr val="E8F4EC"/>
          </a:solidFill>
          <a:ln w="12700">
            <a:solidFill>
              <a:srgbClr val="FFFFFF">
                <a:alpha val="0"/>
              </a:srgbClr>
            </a:solidFill>
            <a:prstDash val="solid"/>
          </a:ln>
        </p:spPr>
      </p:sp>
      <p:sp>
        <p:nvSpPr>
          <p:cNvPr id="23" name="Shape 19"/>
          <p:cNvSpPr/>
          <p:nvPr/>
        </p:nvSpPr>
        <p:spPr>
          <a:xfrm>
            <a:off x="2061972" y="4882896"/>
            <a:ext cx="310896" cy="310896"/>
          </a:xfrm>
          <a:prstGeom prst="ellipse">
            <a:avLst/>
          </a:prstGeom>
          <a:solidFill>
            <a:srgbClr val="2E7D4F"/>
          </a:solidFill>
          <a:ln w="12700">
            <a:solidFill>
              <a:srgbClr val="FFFFFF">
                <a:alpha val="0"/>
              </a:srgbClr>
            </a:solidFill>
            <a:prstDash val="solid"/>
          </a:ln>
        </p:spPr>
      </p:sp>
      <p:sp>
        <p:nvSpPr>
          <p:cNvPr id="24" name="Text 20"/>
          <p:cNvSpPr txBox="1"/>
          <p:nvPr/>
        </p:nvSpPr>
        <p:spPr>
          <a:xfrm>
            <a:off x="2061972" y="48828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1"/>
          <p:cNvSpPr txBox="1"/>
          <p:nvPr/>
        </p:nvSpPr>
        <p:spPr>
          <a:xfrm>
            <a:off x="2510028" y="4818888"/>
            <a:ext cx="7635240"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26" name="Text 22"/>
          <p:cNvSpPr txBox="1"/>
          <p:nvPr/>
        </p:nvSpPr>
        <p:spPr>
          <a:xfrm>
            <a:off x="2510028" y="5111496"/>
            <a:ext cx="7635240"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-iteit</a:t>
            </a:r>
            <a:r>
              <a:rPr lang="en-US" sz="1400" dirty="0">
                <a:solidFill>
                  <a:srgbClr val="1B2333"/>
                </a:solidFill>
                <a:latin typeface="Calibri" pitchFamily="34" charset="0"/>
                <a:ea typeface="Calibri" pitchFamily="34" charset="-122"/>
                <a:cs typeface="Calibri" pitchFamily="34" charset="-120"/>
              </a:rPr>
              <a:t> : toujours </a:t>
            </a:r>
            <a:r>
              <a:rPr lang="en-US" sz="1400" i="1" dirty="0">
                <a:solidFill>
                  <a:srgbClr val="1B2333"/>
                </a:solidFill>
                <a:latin typeface="Calibri" pitchFamily="34" charset="0"/>
                <a:ea typeface="Calibri" pitchFamily="34" charset="-122"/>
                <a:cs typeface="Calibri" pitchFamily="34" charset="-120"/>
              </a:rPr>
              <a:t>de</a:t>
            </a:r>
            <a:r>
              <a:rPr lang="en-US" sz="1400" dirty="0">
                <a:solidFill>
                  <a:srgbClr val="1B2333"/>
                </a:solidFill>
                <a:latin typeface="Calibri" pitchFamily="34" charset="0"/>
                <a:ea typeface="Calibri" pitchFamily="34" charset="-122"/>
                <a:cs typeface="Calibri" pitchFamily="34" charset="-120"/>
              </a:rPr>
              <a:t> · l’adjectif devenu nom prend l’article et </a:t>
            </a:r>
            <a:r>
              <a:rPr lang="en-US" sz="1400" i="1" dirty="0">
                <a:solidFill>
                  <a:srgbClr val="1B2333"/>
                </a:solidFill>
                <a:latin typeface="Calibri" pitchFamily="34" charset="0"/>
                <a:ea typeface="Calibri" pitchFamily="34" charset="-122"/>
                <a:cs typeface="Calibri" pitchFamily="34" charset="-120"/>
              </a:rPr>
              <a:t>-e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Trois suffixes : -ig, -lijk, -isch</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A6FB0"/>
                </a:solidFill>
                <a:latin typeface="Calibri" pitchFamily="34" charset="0"/>
                <a:ea typeface="Calibri" pitchFamily="34" charset="-122"/>
                <a:cs typeface="Calibri" pitchFamily="34" charset="-120"/>
              </a:rPr>
              <a:t>NOM</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D9700F"/>
                </a:solidFill>
                <a:latin typeface="Calibri" pitchFamily="34" charset="0"/>
                <a:ea typeface="Calibri" pitchFamily="34" charset="-122"/>
                <a:cs typeface="Calibri" pitchFamily="34" charset="-120"/>
              </a:rPr>
              <a:t>ADJECTIF</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a:off x="11238419" y="504709"/>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3514344"/>
                <a:gridCol w="3514344"/>
                <a:gridCol w="3514344"/>
              </a:tblGrid>
              <a:tr h="512064">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-IG</a:t>
                      </a:r>
                      <a:r>
                        <a:rPr lang="en-US" sz="1150" b="1" spc="200" kern="0" dirty="0">
                          <a:solidFill>
                            <a:srgbClr val="17375E"/>
                          </a:solidFill>
                          <a:latin typeface="Calibri" pitchFamily="34" charset="0"/>
                          <a:ea typeface="Calibri" pitchFamily="34" charset="-122"/>
                          <a:cs typeface="Calibri" pitchFamily="34" charset="-120"/>
                        </a:rPr>
                        <a:t> · QUI A…</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-LIJK</a:t>
                      </a:r>
                      <a:r>
                        <a:rPr lang="en-US" sz="1150" b="1" spc="200" kern="0" dirty="0">
                          <a:solidFill>
                            <a:srgbClr val="17375E"/>
                          </a:solidFill>
                          <a:latin typeface="Calibri" pitchFamily="34" charset="0"/>
                          <a:ea typeface="Calibri" pitchFamily="34" charset="-122"/>
                          <a:cs typeface="Calibri" pitchFamily="34" charset="-120"/>
                        </a:rPr>
                        <a:t> · QUI EST COMME…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-ISCH</a:t>
                      </a:r>
                      <a:r>
                        <a:rPr lang="en-US" sz="1150" b="1" spc="200" kern="0" dirty="0">
                          <a:solidFill>
                            <a:srgbClr val="17375E"/>
                          </a:solidFill>
                          <a:latin typeface="Calibri" pitchFamily="34" charset="0"/>
                          <a:ea typeface="Calibri" pitchFamily="34" charset="-122"/>
                          <a:cs typeface="Calibri" pitchFamily="34" charset="-120"/>
                        </a:rPr>
                        <a:t> · = -IQUE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zon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zonn</a:t>
                      </a:r>
                      <a:r>
                        <a:rPr lang="en-US" sz="1600" b="1" i="1" dirty="0">
                          <a:solidFill>
                            <a:srgbClr val="6E4A9E"/>
                          </a:solidFill>
                          <a:latin typeface="Calibri" pitchFamily="34" charset="0"/>
                          <a:ea typeface="Calibri" pitchFamily="34" charset="-122"/>
                          <a:cs typeface="Calibri" pitchFamily="34" charset="-120"/>
                        </a:rPr>
                        <a:t>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vriend</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vriende</a:t>
                      </a:r>
                      <a:r>
                        <a:rPr lang="en-US" sz="1600" b="1" i="1" dirty="0">
                          <a:solidFill>
                            <a:srgbClr val="6E4A9E"/>
                          </a:solidFill>
                          <a:latin typeface="Calibri" pitchFamily="34" charset="0"/>
                          <a:ea typeface="Calibri" pitchFamily="34" charset="-122"/>
                          <a:cs typeface="Calibri" pitchFamily="34" charset="-120"/>
                        </a:rPr>
                        <a:t>lijk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techniek</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techn</a:t>
                      </a:r>
                      <a:r>
                        <a:rPr lang="en-US" sz="1600" b="1" i="1" dirty="0">
                          <a:solidFill>
                            <a:srgbClr val="6E4A9E"/>
                          </a:solidFill>
                          <a:latin typeface="Calibri" pitchFamily="34" charset="0"/>
                          <a:ea typeface="Calibri" pitchFamily="34" charset="-122"/>
                          <a:cs typeface="Calibri" pitchFamily="34" charset="-120"/>
                        </a:rPr>
                        <a:t>isch</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geluk</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geluk</a:t>
                      </a:r>
                      <a:r>
                        <a:rPr lang="en-US" sz="1600" b="1" i="1" dirty="0">
                          <a:solidFill>
                            <a:srgbClr val="6E4A9E"/>
                          </a:solidFill>
                          <a:latin typeface="Calibri" pitchFamily="34" charset="0"/>
                          <a:ea typeface="Calibri" pitchFamily="34" charset="-122"/>
                          <a:cs typeface="Calibri" pitchFamily="34" charset="-120"/>
                        </a:rPr>
                        <a:t>kig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gevaar</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gevaar</a:t>
                      </a:r>
                      <a:r>
                        <a:rPr lang="en-US" sz="1600" b="1" i="1" dirty="0">
                          <a:solidFill>
                            <a:srgbClr val="6E4A9E"/>
                          </a:solidFill>
                          <a:latin typeface="Calibri" pitchFamily="34" charset="0"/>
                          <a:ea typeface="Calibri" pitchFamily="34" charset="-122"/>
                          <a:cs typeface="Calibri" pitchFamily="34" charset="-120"/>
                        </a:rPr>
                        <a:t>lijk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logica</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log</a:t>
                      </a:r>
                      <a:r>
                        <a:rPr lang="en-US" sz="1600" b="1" i="1" dirty="0">
                          <a:solidFill>
                            <a:srgbClr val="6E4A9E"/>
                          </a:solidFill>
                          <a:latin typeface="Calibri" pitchFamily="34" charset="0"/>
                          <a:ea typeface="Calibri" pitchFamily="34" charset="-122"/>
                          <a:cs typeface="Calibri" pitchFamily="34" charset="-120"/>
                        </a:rPr>
                        <a:t>isch</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moed</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moed</a:t>
                      </a:r>
                      <a:r>
                        <a:rPr lang="en-US" sz="1600" b="1" i="1" dirty="0">
                          <a:solidFill>
                            <a:srgbClr val="6E4A9E"/>
                          </a:solidFill>
                          <a:latin typeface="Calibri" pitchFamily="34" charset="0"/>
                          <a:ea typeface="Calibri" pitchFamily="34" charset="-122"/>
                          <a:cs typeface="Calibri" pitchFamily="34" charset="-120"/>
                        </a:rPr>
                        <a:t>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natuur</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natuur</a:t>
                      </a:r>
                      <a:r>
                        <a:rPr lang="en-US" sz="1600" b="1" i="1" dirty="0">
                          <a:solidFill>
                            <a:srgbClr val="6E4A9E"/>
                          </a:solidFill>
                          <a:latin typeface="Calibri" pitchFamily="34" charset="0"/>
                          <a:ea typeface="Calibri" pitchFamily="34" charset="-122"/>
                          <a:cs typeface="Calibri" pitchFamily="34" charset="-120"/>
                        </a:rPr>
                        <a:t>lijk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praktijk</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prakt</a:t>
                      </a:r>
                      <a:r>
                        <a:rPr lang="en-US" sz="1600" b="1" i="1" dirty="0">
                          <a:solidFill>
                            <a:srgbClr val="6E4A9E"/>
                          </a:solidFill>
                          <a:latin typeface="Calibri" pitchFamily="34" charset="0"/>
                          <a:ea typeface="Calibri" pitchFamily="34" charset="-122"/>
                          <a:cs typeface="Calibri" pitchFamily="34" charset="-120"/>
                        </a:rPr>
                        <a:t>isch</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honger</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honger</a:t>
                      </a:r>
                      <a:r>
                        <a:rPr lang="en-US" sz="1600" b="1" i="1" dirty="0">
                          <a:solidFill>
                            <a:srgbClr val="6E4A9E"/>
                          </a:solidFill>
                          <a:latin typeface="Calibri" pitchFamily="34" charset="0"/>
                          <a:ea typeface="Calibri" pitchFamily="34" charset="-122"/>
                          <a:cs typeface="Calibri" pitchFamily="34" charset="-120"/>
                        </a:rPr>
                        <a:t>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vrouw</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vrouwe</a:t>
                      </a:r>
                      <a:r>
                        <a:rPr lang="en-US" sz="1600" b="1" i="1" dirty="0">
                          <a:solidFill>
                            <a:srgbClr val="6E4A9E"/>
                          </a:solidFill>
                          <a:latin typeface="Calibri" pitchFamily="34" charset="0"/>
                          <a:ea typeface="Calibri" pitchFamily="34" charset="-122"/>
                          <a:cs typeface="Calibri" pitchFamily="34" charset="-120"/>
                        </a:rPr>
                        <a:t>lijk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economie</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econom</a:t>
                      </a:r>
                      <a:r>
                        <a:rPr lang="en-US" sz="1600" b="1" i="1" dirty="0">
                          <a:solidFill>
                            <a:srgbClr val="6E4A9E"/>
                          </a:solidFill>
                          <a:latin typeface="Calibri" pitchFamily="34" charset="0"/>
                          <a:ea typeface="Calibri" pitchFamily="34" charset="-122"/>
                          <a:cs typeface="Calibri" pitchFamily="34" charset="-120"/>
                        </a:rPr>
                        <a:t>isch</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6" name="Shape 12"/>
          <p:cNvSpPr/>
          <p:nvPr/>
        </p:nvSpPr>
        <p:spPr>
          <a:xfrm>
            <a:off x="1339596" y="4572000"/>
            <a:ext cx="9509760" cy="914400"/>
          </a:xfrm>
          <a:prstGeom prst="roundRect">
            <a:avLst>
              <a:gd name="adj" fmla="val 10000"/>
            </a:avLst>
          </a:prstGeom>
          <a:solidFill>
            <a:srgbClr val="FBEDEB"/>
          </a:solidFill>
          <a:ln w="12700">
            <a:solidFill>
              <a:srgbClr val="FFFFFF">
                <a:alpha val="0"/>
              </a:srgbClr>
            </a:solidFill>
            <a:prstDash val="solid"/>
          </a:ln>
        </p:spPr>
      </p:sp>
      <p:sp>
        <p:nvSpPr>
          <p:cNvPr id="17" name="Shape 13"/>
          <p:cNvSpPr/>
          <p:nvPr/>
        </p:nvSpPr>
        <p:spPr>
          <a:xfrm>
            <a:off x="1513332" y="4745736"/>
            <a:ext cx="310896" cy="310896"/>
          </a:xfrm>
          <a:prstGeom prst="ellipse">
            <a:avLst/>
          </a:prstGeom>
          <a:solidFill>
            <a:srgbClr val="B83227"/>
          </a:solidFill>
          <a:ln w="12700">
            <a:solidFill>
              <a:srgbClr val="FFFFFF">
                <a:alpha val="0"/>
              </a:srgbClr>
            </a:solidFill>
            <a:prstDash val="solid"/>
          </a:ln>
        </p:spPr>
      </p:sp>
      <p:sp>
        <p:nvSpPr>
          <p:cNvPr id="18" name="Text 14"/>
          <p:cNvSpPr txBox="1"/>
          <p:nvPr/>
        </p:nvSpPr>
        <p:spPr>
          <a:xfrm>
            <a:off x="1513332"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5"/>
          <p:cNvSpPr txBox="1"/>
          <p:nvPr/>
        </p:nvSpPr>
        <p:spPr>
          <a:xfrm>
            <a:off x="1961388" y="4681728"/>
            <a:ext cx="8732520"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À retenir</a:t>
            </a:r>
            <a:endParaRPr lang="en-US" sz="1300" dirty="0"/>
          </a:p>
        </p:txBody>
      </p:sp>
      <p:sp>
        <p:nvSpPr>
          <p:cNvPr id="20" name="Text 16"/>
          <p:cNvSpPr txBox="1"/>
          <p:nvPr/>
        </p:nvSpPr>
        <p:spPr>
          <a:xfrm>
            <a:off x="1961388" y="4974336"/>
            <a:ext cx="8732520"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de wind → winderig · de nood → nodig · dagelijks · de politiek → politiek</a:t>
            </a:r>
            <a:r>
              <a:rPr lang="en-US" sz="1400" dirty="0">
                <a:solidFill>
                  <a:srgbClr val="1B2333"/>
                </a:solidFill>
                <a:latin typeface="Calibri" pitchFamily="34" charset="0"/>
                <a:ea typeface="Calibri" pitchFamily="34" charset="-122"/>
                <a:cs typeface="Calibri" pitchFamily="34" charset="-120"/>
              </a:rPr>
              <a:t> (même mot)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Sans ou plein de : -loos, -vol, -rijk</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A6FB0"/>
                </a:solidFill>
                <a:latin typeface="Calibri" pitchFamily="34" charset="0"/>
                <a:ea typeface="Calibri" pitchFamily="34" charset="-122"/>
                <a:cs typeface="Calibri" pitchFamily="34" charset="-120"/>
              </a:rPr>
              <a:t>NOM</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D9700F"/>
                </a:solidFill>
                <a:latin typeface="Calibri" pitchFamily="34" charset="0"/>
                <a:ea typeface="Calibri" pitchFamily="34" charset="-122"/>
                <a:cs typeface="Calibri" pitchFamily="34" charset="-120"/>
              </a:rPr>
              <a:t>ADJECTIF</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a:off x="11238419" y="504709"/>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6400800" cy="914400"/>
        </p:xfrm>
        <a:graphic>
          <a:graphicData uri="http://schemas.openxmlformats.org/drawingml/2006/table">
            <a:tbl>
              <a:tblPr/>
              <a:tblGrid>
                <a:gridCol w="2133600"/>
                <a:gridCol w="2133600"/>
                <a:gridCol w="2133600"/>
              </a:tblGrid>
              <a:tr h="512064">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-LOOS</a:t>
                      </a:r>
                      <a:r>
                        <a:rPr lang="en-US" sz="1150" b="1" spc="200" kern="0" dirty="0">
                          <a:solidFill>
                            <a:srgbClr val="D9700F"/>
                          </a:solidFill>
                          <a:latin typeface="Calibri" pitchFamily="34" charset="0"/>
                          <a:ea typeface="Calibri" pitchFamily="34" charset="-122"/>
                          <a:cs typeface="Calibri" pitchFamily="34" charset="-120"/>
                        </a:rPr>
                        <a:t> · SANS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-VOL · -RIJK</a:t>
                      </a:r>
                      <a:r>
                        <a:rPr lang="en-US" sz="1150" b="1" spc="200" kern="0" dirty="0">
                          <a:solidFill>
                            <a:srgbClr val="D9700F"/>
                          </a:solidFill>
                          <a:latin typeface="Calibri" pitchFamily="34" charset="0"/>
                          <a:ea typeface="Calibri" pitchFamily="34" charset="-122"/>
                          <a:cs typeface="Calibri" pitchFamily="34" charset="-120"/>
                        </a:rPr>
                        <a:t> · PLEIN DE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hoop</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hope</a:t>
                      </a:r>
                      <a:r>
                        <a:rPr lang="en-US" sz="1700" b="1" i="1" dirty="0">
                          <a:solidFill>
                            <a:srgbClr val="6E4A9E"/>
                          </a:solidFill>
                          <a:latin typeface="Calibri" pitchFamily="34" charset="0"/>
                          <a:ea typeface="Calibri" pitchFamily="34" charset="-122"/>
                          <a:cs typeface="Calibri" pitchFamily="34" charset="-120"/>
                        </a:rPr>
                        <a:t>loos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hoop</a:t>
                      </a:r>
                      <a:r>
                        <a:rPr lang="en-US" sz="1700" b="1" i="1" dirty="0">
                          <a:solidFill>
                            <a:srgbClr val="6E4A9E"/>
                          </a:solidFill>
                          <a:latin typeface="Calibri" pitchFamily="34" charset="0"/>
                          <a:ea typeface="Calibri" pitchFamily="34" charset="-122"/>
                          <a:cs typeface="Calibri" pitchFamily="34" charset="-120"/>
                        </a:rPr>
                        <a:t>vol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zin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zin</a:t>
                      </a:r>
                      <a:r>
                        <a:rPr lang="en-US" sz="1700" b="1" i="1" dirty="0">
                          <a:solidFill>
                            <a:srgbClr val="6E4A9E"/>
                          </a:solidFill>
                          <a:latin typeface="Calibri" pitchFamily="34" charset="0"/>
                          <a:ea typeface="Calibri" pitchFamily="34" charset="-122"/>
                          <a:cs typeface="Calibri" pitchFamily="34" charset="-120"/>
                        </a:rPr>
                        <a:t>loos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zin</a:t>
                      </a:r>
                      <a:r>
                        <a:rPr lang="en-US" sz="1700" b="1" i="1" dirty="0">
                          <a:solidFill>
                            <a:srgbClr val="6E4A9E"/>
                          </a:solidFill>
                          <a:latin typeface="Calibri" pitchFamily="34" charset="0"/>
                          <a:ea typeface="Calibri" pitchFamily="34" charset="-122"/>
                          <a:cs typeface="Calibri" pitchFamily="34" charset="-120"/>
                        </a:rPr>
                        <a:t>vol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waarde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waarde</a:t>
                      </a:r>
                      <a:r>
                        <a:rPr lang="en-US" sz="1700" b="1" i="1" dirty="0">
                          <a:solidFill>
                            <a:srgbClr val="6E4A9E"/>
                          </a:solidFill>
                          <a:latin typeface="Calibri" pitchFamily="34" charset="0"/>
                          <a:ea typeface="Calibri" pitchFamily="34" charset="-122"/>
                          <a:cs typeface="Calibri" pitchFamily="34" charset="-120"/>
                        </a:rPr>
                        <a:t>loos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waarde</a:t>
                      </a:r>
                      <a:r>
                        <a:rPr lang="en-US" sz="1700" b="1" i="1" dirty="0">
                          <a:solidFill>
                            <a:srgbClr val="6E4A9E"/>
                          </a:solidFill>
                          <a:latin typeface="Calibri" pitchFamily="34" charset="0"/>
                          <a:ea typeface="Calibri" pitchFamily="34" charset="-122"/>
                          <a:cs typeface="Calibri" pitchFamily="34" charset="-120"/>
                        </a:rPr>
                        <a:t>vol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kleur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kleur</a:t>
                      </a:r>
                      <a:r>
                        <a:rPr lang="en-US" sz="1700" b="1" i="1" dirty="0">
                          <a:solidFill>
                            <a:srgbClr val="6E4A9E"/>
                          </a:solidFill>
                          <a:latin typeface="Calibri" pitchFamily="34" charset="0"/>
                          <a:ea typeface="Calibri" pitchFamily="34" charset="-122"/>
                          <a:cs typeface="Calibri" pitchFamily="34" charset="-120"/>
                        </a:rPr>
                        <a:t>loos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kleur</a:t>
                      </a:r>
                      <a:r>
                        <a:rPr lang="en-US" sz="1700" b="1" i="1" dirty="0">
                          <a:solidFill>
                            <a:srgbClr val="6E4A9E"/>
                          </a:solidFill>
                          <a:latin typeface="Calibri" pitchFamily="34" charset="0"/>
                          <a:ea typeface="Calibri" pitchFamily="34" charset="-122"/>
                          <a:cs typeface="Calibri" pitchFamily="34" charset="-120"/>
                        </a:rPr>
                        <a:t>rijk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616952" y="1600200"/>
          <a:ext cx="3749040" cy="914400"/>
        </p:xfrm>
        <a:graphic>
          <a:graphicData uri="http://schemas.openxmlformats.org/drawingml/2006/table">
            <a:tbl>
              <a:tblPr/>
              <a:tblGrid>
                <a:gridCol w="1828800"/>
                <a:gridCol w="1920240"/>
              </a:tblGrid>
              <a:tr h="512064">
                <a:tc gridSpan="2">
                  <a:txBody>
                    <a:bodyP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-EN</a:t>
                      </a:r>
                      <a:r>
                        <a:rPr lang="en-US" sz="1150" b="1" spc="200" kern="0" dirty="0">
                          <a:solidFill>
                            <a:srgbClr val="2A6FB0"/>
                          </a:solidFill>
                          <a:latin typeface="Calibri" pitchFamily="34" charset="0"/>
                          <a:ea typeface="Calibri" pitchFamily="34" charset="-122"/>
                          <a:cs typeface="Calibri" pitchFamily="34" charset="-120"/>
                        </a:rPr>
                        <a:t> · LA MATIÈRE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hout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hout</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goud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goud</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glas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glaz</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wol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woll</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7" name="Shape 12"/>
          <p:cNvSpPr/>
          <p:nvPr/>
        </p:nvSpPr>
        <p:spPr>
          <a:xfrm>
            <a:off x="822960" y="4617720"/>
            <a:ext cx="5138928" cy="914400"/>
          </a:xfrm>
          <a:prstGeom prst="roundRect">
            <a:avLst>
              <a:gd name="adj" fmla="val 10000"/>
            </a:avLst>
          </a:prstGeom>
          <a:solidFill>
            <a:srgbClr val="E8F4EC"/>
          </a:solidFill>
          <a:ln w="12700">
            <a:solidFill>
              <a:srgbClr val="FFFFFF">
                <a:alpha val="0"/>
              </a:srgbClr>
            </a:solidFill>
            <a:prstDash val="solid"/>
          </a:ln>
        </p:spPr>
      </p:sp>
      <p:sp>
        <p:nvSpPr>
          <p:cNvPr id="18" name="Shape 13"/>
          <p:cNvSpPr/>
          <p:nvPr/>
        </p:nvSpPr>
        <p:spPr>
          <a:xfrm>
            <a:off x="996696" y="4791456"/>
            <a:ext cx="310896" cy="310896"/>
          </a:xfrm>
          <a:prstGeom prst="ellipse">
            <a:avLst/>
          </a:prstGeom>
          <a:solidFill>
            <a:srgbClr val="2E7D4F"/>
          </a:solidFill>
          <a:ln w="12700">
            <a:solidFill>
              <a:srgbClr val="FFFFFF">
                <a:alpha val="0"/>
              </a:srgbClr>
            </a:solidFill>
            <a:prstDash val="solid"/>
          </a:ln>
        </p:spPr>
      </p:sp>
      <p:sp>
        <p:nvSpPr>
          <p:cNvPr id="19" name="Text 14"/>
          <p:cNvSpPr txBox="1"/>
          <p:nvPr/>
        </p:nvSpPr>
        <p:spPr>
          <a:xfrm>
            <a:off x="996696" y="4791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5"/>
          <p:cNvSpPr txBox="1"/>
          <p:nvPr/>
        </p:nvSpPr>
        <p:spPr>
          <a:xfrm>
            <a:off x="1444752" y="472744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Des paires de contraires</a:t>
            </a:r>
            <a:endParaRPr lang="en-US" sz="1300" dirty="0"/>
          </a:p>
        </p:txBody>
      </p:sp>
      <p:sp>
        <p:nvSpPr>
          <p:cNvPr id="21" name="Text 16"/>
          <p:cNvSpPr txBox="1"/>
          <p:nvPr/>
        </p:nvSpPr>
        <p:spPr>
          <a:xfrm>
            <a:off x="1444752" y="5020056"/>
            <a:ext cx="4361688"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hopeloos ↔ hoopvol · zinloos ↔ zinvol</a:t>
            </a:r>
            <a:endParaRPr lang="en-US" sz="1400" dirty="0"/>
          </a:p>
        </p:txBody>
      </p:sp>
      <p:sp>
        <p:nvSpPr>
          <p:cNvPr id="22" name="Shape 17"/>
          <p:cNvSpPr/>
          <p:nvPr/>
        </p:nvSpPr>
        <p:spPr>
          <a:xfrm>
            <a:off x="6236208" y="4617720"/>
            <a:ext cx="5138928" cy="914400"/>
          </a:xfrm>
          <a:prstGeom prst="roundRect">
            <a:avLst>
              <a:gd name="adj" fmla="val 10000"/>
            </a:avLst>
          </a:prstGeom>
          <a:solidFill>
            <a:srgbClr val="FBEDEB"/>
          </a:solidFill>
          <a:ln w="12700">
            <a:solidFill>
              <a:srgbClr val="FFFFFF">
                <a:alpha val="0"/>
              </a:srgbClr>
            </a:solidFill>
            <a:prstDash val="solid"/>
          </a:ln>
        </p:spPr>
      </p:sp>
      <p:sp>
        <p:nvSpPr>
          <p:cNvPr id="23" name="Shape 18"/>
          <p:cNvSpPr/>
          <p:nvPr/>
        </p:nvSpPr>
        <p:spPr>
          <a:xfrm>
            <a:off x="6409944" y="4791456"/>
            <a:ext cx="310896" cy="310896"/>
          </a:xfrm>
          <a:prstGeom prst="ellipse">
            <a:avLst/>
          </a:prstGeom>
          <a:solidFill>
            <a:srgbClr val="B83227"/>
          </a:solidFill>
          <a:ln w="12700">
            <a:solidFill>
              <a:srgbClr val="FFFFFF">
                <a:alpha val="0"/>
              </a:srgbClr>
            </a:solidFill>
            <a:prstDash val="solid"/>
          </a:ln>
        </p:spPr>
      </p:sp>
      <p:sp>
        <p:nvSpPr>
          <p:cNvPr id="24" name="Text 19"/>
          <p:cNvSpPr txBox="1"/>
          <p:nvPr/>
        </p:nvSpPr>
        <p:spPr>
          <a:xfrm>
            <a:off x="6409944" y="4791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0"/>
          <p:cNvSpPr txBox="1"/>
          <p:nvPr/>
        </p:nvSpPr>
        <p:spPr>
          <a:xfrm>
            <a:off x="6858000" y="472744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Invariables</a:t>
            </a:r>
            <a:endParaRPr lang="en-US" sz="1300" dirty="0"/>
          </a:p>
        </p:txBody>
      </p:sp>
      <p:sp>
        <p:nvSpPr>
          <p:cNvPr id="26" name="Text 21"/>
          <p:cNvSpPr txBox="1"/>
          <p:nvPr/>
        </p:nvSpPr>
        <p:spPr>
          <a:xfrm>
            <a:off x="6858000" y="5020056"/>
            <a:ext cx="4361688" cy="43891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-en</a:t>
            </a:r>
            <a:r>
              <a:rPr lang="en-US" sz="1400" dirty="0">
                <a:solidFill>
                  <a:srgbClr val="1B2333"/>
                </a:solidFill>
                <a:latin typeface="Calibri" pitchFamily="34" charset="0"/>
                <a:ea typeface="Calibri" pitchFamily="34" charset="-122"/>
                <a:cs typeface="Calibri" pitchFamily="34" charset="-120"/>
              </a:rPr>
              <a:t> de matière ne prend pas de </a:t>
            </a:r>
            <a:r>
              <a:rPr lang="en-US" sz="1400" i="1" dirty="0">
                <a:solidFill>
                  <a:srgbClr val="1B2333"/>
                </a:solidFill>
                <a:latin typeface="Calibri" pitchFamily="34" charset="0"/>
                <a:ea typeface="Calibri" pitchFamily="34" charset="-122"/>
                <a:cs typeface="Calibri" pitchFamily="34" charset="-120"/>
              </a:rPr>
              <a:t>-e</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een houten tafel</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radical + -baar = « qu’on peut…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D9700F"/>
                </a:solidFill>
                <a:latin typeface="Calibri" pitchFamily="34" charset="0"/>
                <a:ea typeface="Calibri" pitchFamily="34" charset="-122"/>
                <a:cs typeface="Calibri" pitchFamily="34" charset="-120"/>
              </a:rPr>
              <a:t>ADJECTIF</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a:off x="10863072" y="1024128"/>
            <a:ext cx="566928" cy="914"/>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4487913" y="1444752"/>
            <a:ext cx="3213125"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487913" y="1444752"/>
            <a:ext cx="3213125" cy="566928"/>
          </a:xfrm>
          <a:prstGeom prst="rect">
            <a:avLst/>
          </a:prstGeom>
          <a:noFill/>
          <a:ln/>
        </p:spPr>
        <p:txBody>
          <a:bodyPr wrap="square" lIns="0" tIns="0" rIns="0" bIns="0" rtlCol="0" anchor="ctr"/>
          <a:lstStyle/>
          <a:p>
            <a:pPr algn="ctr" indent="0" marL="0">
              <a:buNone/>
            </a:pPr>
            <a:r>
              <a:rPr lang="en-US" sz="2100" b="1" dirty="0">
                <a:solidFill>
                  <a:srgbClr val="17375E"/>
                </a:solidFill>
                <a:latin typeface="Calibri" pitchFamily="34" charset="0"/>
                <a:ea typeface="Calibri" pitchFamily="34" charset="-122"/>
                <a:cs typeface="Calibri" pitchFamily="34" charset="-120"/>
              </a:rPr>
              <a:t>radical + </a:t>
            </a:r>
            <a:r>
              <a:rPr lang="en-US" sz="2100" b="1" dirty="0">
                <a:solidFill>
                  <a:srgbClr val="6E4A9E"/>
                </a:solidFill>
                <a:latin typeface="Calibri" pitchFamily="34" charset="0"/>
                <a:ea typeface="Calibri" pitchFamily="34" charset="-122"/>
                <a:cs typeface="Calibri" pitchFamily="34" charset="-120"/>
              </a:rPr>
              <a:t>-baar</a:t>
            </a:r>
            <a:r>
              <a:rPr lang="en-US" sz="2100" b="1" dirty="0">
                <a:solidFill>
                  <a:srgbClr val="17375E"/>
                </a:solidFill>
                <a:latin typeface="Calibri" pitchFamily="34" charset="0"/>
                <a:ea typeface="Calibri" pitchFamily="34" charset="-122"/>
                <a:cs typeface="Calibri" pitchFamily="34" charset="-120"/>
              </a:rPr>
              <a:t> = -able</a:t>
            </a:r>
            <a:endParaRPr lang="en-US" sz="2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979676" y="2240280"/>
          <a:ext cx="8229600" cy="914400"/>
        </p:xfrm>
        <a:graphic>
          <a:graphicData uri="http://schemas.openxmlformats.org/drawingml/2006/table">
            <a:tbl>
              <a:tblPr/>
              <a:tblGrid>
                <a:gridCol w="2743200"/>
                <a:gridCol w="2743200"/>
                <a:gridCol w="2743200"/>
              </a:tblGrid>
              <a:tr h="420624">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SENS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drinken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drink</a:t>
                      </a:r>
                      <a:r>
                        <a:rPr lang="en-US" sz="1600" b="1" i="1" dirty="0">
                          <a:solidFill>
                            <a:srgbClr val="6E4A9E"/>
                          </a:solidFill>
                          <a:latin typeface="Calibri" pitchFamily="34" charset="0"/>
                          <a:ea typeface="Calibri" pitchFamily="34" charset="-122"/>
                          <a:cs typeface="Calibri" pitchFamily="34" charset="-120"/>
                        </a:rPr>
                        <a:t>baar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potable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eten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eet</a:t>
                      </a:r>
                      <a:r>
                        <a:rPr lang="en-US" sz="1600" b="1" i="1" dirty="0">
                          <a:solidFill>
                            <a:srgbClr val="6E4A9E"/>
                          </a:solidFill>
                          <a:latin typeface="Calibri" pitchFamily="34" charset="0"/>
                          <a:ea typeface="Calibri" pitchFamily="34" charset="-122"/>
                          <a:cs typeface="Calibri" pitchFamily="34" charset="-120"/>
                        </a:rPr>
                        <a:t>baar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comestible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betalen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betaal</a:t>
                      </a:r>
                      <a:r>
                        <a:rPr lang="en-US" sz="1600" b="1" i="1" dirty="0">
                          <a:solidFill>
                            <a:srgbClr val="6E4A9E"/>
                          </a:solidFill>
                          <a:latin typeface="Calibri" pitchFamily="34" charset="0"/>
                          <a:ea typeface="Calibri" pitchFamily="34" charset="-122"/>
                          <a:cs typeface="Calibri" pitchFamily="34" charset="-120"/>
                        </a:rPr>
                        <a:t>baar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abordable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bereiken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bereik</a:t>
                      </a:r>
                      <a:r>
                        <a:rPr lang="en-US" sz="1600" b="1" i="1" dirty="0">
                          <a:solidFill>
                            <a:srgbClr val="6E4A9E"/>
                          </a:solidFill>
                          <a:latin typeface="Calibri" pitchFamily="34" charset="0"/>
                          <a:ea typeface="Calibri" pitchFamily="34" charset="-122"/>
                          <a:cs typeface="Calibri" pitchFamily="34" charset="-120"/>
                        </a:rPr>
                        <a:t>baar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accessible, joignable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lezen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lees</a:t>
                      </a:r>
                      <a:r>
                        <a:rPr lang="en-US" sz="1600" b="1" i="1" dirty="0">
                          <a:solidFill>
                            <a:srgbClr val="6E4A9E"/>
                          </a:solidFill>
                          <a:latin typeface="Calibri" pitchFamily="34" charset="0"/>
                          <a:ea typeface="Calibri" pitchFamily="34" charset="-122"/>
                          <a:cs typeface="Calibri" pitchFamily="34" charset="-120"/>
                        </a:rPr>
                        <a:t>baar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lisible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983480"/>
            <a:ext cx="5138928" cy="868680"/>
          </a:xfrm>
          <a:prstGeom prst="roundRect">
            <a:avLst>
              <a:gd name="adj" fmla="val 10526"/>
            </a:avLst>
          </a:prstGeom>
          <a:solidFill>
            <a:srgbClr val="E8F4EC"/>
          </a:solidFill>
          <a:ln w="12700">
            <a:solidFill>
              <a:srgbClr val="FFFFFF">
                <a:alpha val="0"/>
              </a:srgbClr>
            </a:solidFill>
            <a:prstDash val="solid"/>
          </a:ln>
        </p:spPr>
      </p:sp>
      <p:sp>
        <p:nvSpPr>
          <p:cNvPr id="19" name="Shape 15"/>
          <p:cNvSpPr/>
          <p:nvPr/>
        </p:nvSpPr>
        <p:spPr>
          <a:xfrm>
            <a:off x="996696" y="5157216"/>
            <a:ext cx="310896" cy="310896"/>
          </a:xfrm>
          <a:prstGeom prst="ellipse">
            <a:avLst/>
          </a:prstGeom>
          <a:solidFill>
            <a:srgbClr val="2E7D4F"/>
          </a:solidFill>
          <a:ln w="12700">
            <a:solidFill>
              <a:srgbClr val="FFFFFF">
                <a:alpha val="0"/>
              </a:srgbClr>
            </a:solidFill>
            <a:prstDash val="solid"/>
          </a:ln>
        </p:spPr>
      </p:sp>
      <p:sp>
        <p:nvSpPr>
          <p:cNvPr id="20" name="Text 16"/>
          <p:cNvSpPr txBox="1"/>
          <p:nvPr/>
        </p:nvSpPr>
        <p:spPr>
          <a:xfrm>
            <a:off x="996696"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5093208"/>
            <a:ext cx="4361688"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Le contraire : on-</a:t>
            </a:r>
            <a:endParaRPr lang="en-US" sz="1300" dirty="0"/>
          </a:p>
        </p:txBody>
      </p:sp>
      <p:sp>
        <p:nvSpPr>
          <p:cNvPr id="22" name="Text 18"/>
          <p:cNvSpPr txBox="1"/>
          <p:nvPr/>
        </p:nvSpPr>
        <p:spPr>
          <a:xfrm>
            <a:off x="1444752" y="5385816"/>
            <a:ext cx="4361688" cy="393192"/>
          </a:xfrm>
          <a:prstGeom prst="rect">
            <a:avLst/>
          </a:prstGeom>
          <a:noFill/>
          <a:ln/>
        </p:spPr>
        <p:txBody>
          <a:bodyPr wrap="square" lIns="0" tIns="0" rIns="0" bIns="0" rtlCol="0" anchor="t"/>
          <a:lstStyle/>
          <a:p>
            <a:pPr algn="l" indent="0" marL="0">
              <a:spcAft>
                <a:spcPts val="200"/>
              </a:spcAft>
              <a:buNone/>
            </a:pPr>
            <a:r>
              <a:rPr lang="en-US" sz="1400" b="1" i="1" dirty="0">
                <a:solidFill>
                  <a:srgbClr val="6E4A9E"/>
                </a:solidFill>
                <a:latin typeface="Calibri" pitchFamily="34" charset="0"/>
                <a:ea typeface="Calibri" pitchFamily="34" charset="-122"/>
                <a:cs typeface="Calibri" pitchFamily="34" charset="-120"/>
              </a:rPr>
              <a:t>on</a:t>
            </a:r>
            <a:r>
              <a:rPr lang="en-US" sz="1400" i="1" dirty="0">
                <a:solidFill>
                  <a:srgbClr val="1B2333"/>
                </a:solidFill>
                <a:latin typeface="Calibri" pitchFamily="34" charset="0"/>
                <a:ea typeface="Calibri" pitchFamily="34" charset="-122"/>
                <a:cs typeface="Calibri" pitchFamily="34" charset="-120"/>
              </a:rPr>
              <a:t>betaalbaar · </a:t>
            </a:r>
            <a:r>
              <a:rPr lang="en-US" sz="1400" b="1" i="1" dirty="0">
                <a:solidFill>
                  <a:srgbClr val="6E4A9E"/>
                </a:solidFill>
                <a:latin typeface="Calibri" pitchFamily="34" charset="0"/>
                <a:ea typeface="Calibri" pitchFamily="34" charset="-122"/>
                <a:cs typeface="Calibri" pitchFamily="34" charset="-120"/>
              </a:rPr>
              <a:t>on</a:t>
            </a:r>
            <a:r>
              <a:rPr lang="en-US" sz="1400" i="1" dirty="0">
                <a:solidFill>
                  <a:srgbClr val="1B2333"/>
                </a:solidFill>
                <a:latin typeface="Calibri" pitchFamily="34" charset="0"/>
                <a:ea typeface="Calibri" pitchFamily="34" charset="-122"/>
                <a:cs typeface="Calibri" pitchFamily="34" charset="-120"/>
              </a:rPr>
              <a:t>leesbaar</a:t>
            </a:r>
            <a:endParaRPr lang="en-US" sz="1400" dirty="0"/>
          </a:p>
        </p:txBody>
      </p:sp>
      <p:sp>
        <p:nvSpPr>
          <p:cNvPr id="23" name="Shape 19"/>
          <p:cNvSpPr/>
          <p:nvPr/>
        </p:nvSpPr>
        <p:spPr>
          <a:xfrm>
            <a:off x="6236208" y="4983480"/>
            <a:ext cx="5138928" cy="868680"/>
          </a:xfrm>
          <a:prstGeom prst="roundRect">
            <a:avLst>
              <a:gd name="adj" fmla="val 10526"/>
            </a:avLst>
          </a:prstGeom>
          <a:solidFill>
            <a:srgbClr val="FBEDEB"/>
          </a:solidFill>
          <a:ln w="12700">
            <a:solidFill>
              <a:srgbClr val="FFFFFF">
                <a:alpha val="0"/>
              </a:srgbClr>
            </a:solidFill>
            <a:prstDash val="solid"/>
          </a:ln>
        </p:spPr>
      </p:sp>
      <p:sp>
        <p:nvSpPr>
          <p:cNvPr id="24" name="Shape 20"/>
          <p:cNvSpPr/>
          <p:nvPr/>
        </p:nvSpPr>
        <p:spPr>
          <a:xfrm>
            <a:off x="6409944" y="5157216"/>
            <a:ext cx="310896" cy="310896"/>
          </a:xfrm>
          <a:prstGeom prst="ellipse">
            <a:avLst/>
          </a:prstGeom>
          <a:solidFill>
            <a:srgbClr val="B83227"/>
          </a:solidFill>
          <a:ln w="12700">
            <a:solidFill>
              <a:srgbClr val="FFFFFF">
                <a:alpha val="0"/>
              </a:srgbClr>
            </a:solidFill>
            <a:prstDash val="solid"/>
          </a:ln>
        </p:spPr>
      </p:sp>
      <p:sp>
        <p:nvSpPr>
          <p:cNvPr id="25" name="Text 21"/>
          <p:cNvSpPr txBox="1"/>
          <p:nvPr/>
        </p:nvSpPr>
        <p:spPr>
          <a:xfrm>
            <a:off x="6409944"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509320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Exceptions</a:t>
            </a:r>
            <a:endParaRPr lang="en-US" sz="1300" dirty="0"/>
          </a:p>
        </p:txBody>
      </p:sp>
      <p:sp>
        <p:nvSpPr>
          <p:cNvPr id="27" name="Text 23"/>
          <p:cNvSpPr txBox="1"/>
          <p:nvPr/>
        </p:nvSpPr>
        <p:spPr>
          <a:xfrm>
            <a:off x="6858000" y="5385816"/>
            <a:ext cx="4361688"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zien → zicht</a:t>
            </a:r>
            <a:r>
              <a:rPr lang="en-US" sz="1400" b="1" i="1" dirty="0">
                <a:solidFill>
                  <a:srgbClr val="6E4A9E"/>
                </a:solidFill>
                <a:latin typeface="Calibri" pitchFamily="34" charset="0"/>
                <a:ea typeface="Calibri" pitchFamily="34" charset="-122"/>
                <a:cs typeface="Calibri" pitchFamily="34" charset="-120"/>
              </a:rPr>
              <a:t>baar</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gebruiken → bruik</a:t>
            </a:r>
            <a:r>
              <a:rPr lang="en-US" sz="1400" b="1" i="1" dirty="0">
                <a:solidFill>
                  <a:srgbClr val="6E4A9E"/>
                </a:solidFill>
                <a:latin typeface="Calibri" pitchFamily="34" charset="0"/>
                <a:ea typeface="Calibri" pitchFamily="34" charset="-122"/>
                <a:cs typeface="Calibri" pitchFamily="34" charset="-120"/>
              </a:rPr>
              <a:t>baar</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participes deviennent adjectifs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B83227"/>
                </a:solidFill>
                <a:latin typeface="Calibri" pitchFamily="34" charset="0"/>
                <a:ea typeface="Calibri" pitchFamily="34" charset="-122"/>
                <a:cs typeface="Calibri" pitchFamily="34" charset="-120"/>
              </a:rPr>
              <a:t>VERBE</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D9700F"/>
                </a:solidFill>
                <a:latin typeface="Calibri" pitchFamily="34" charset="0"/>
                <a:ea typeface="Calibri" pitchFamily="34" charset="-122"/>
                <a:cs typeface="Calibri" pitchFamily="34" charset="-120"/>
              </a:rPr>
              <a:t>ADJECTIF</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a:off x="10863072" y="1024128"/>
            <a:ext cx="566928" cy="914"/>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5029200" cy="914400"/>
        </p:xfrm>
        <a:graphic>
          <a:graphicData uri="http://schemas.openxmlformats.org/drawingml/2006/table">
            <a:tbl>
              <a:tblPr/>
              <a:tblGrid>
                <a:gridCol w="1737360"/>
                <a:gridCol w="3291840"/>
              </a:tblGrid>
              <a:tr h="512064">
                <a:tc gridSpan="2">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PARTICIPE PRÉSENT · « -ANT »</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boeien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D9700F"/>
                          </a:solidFill>
                          <a:latin typeface="Calibri" pitchFamily="34" charset="0"/>
                          <a:ea typeface="Calibri" pitchFamily="34" charset="-122"/>
                          <a:cs typeface="Calibri" pitchFamily="34" charset="-120"/>
                        </a:rPr>
                        <a:t>boeien</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passionnant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spannen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D9700F"/>
                          </a:solidFill>
                          <a:latin typeface="Calibri" pitchFamily="34" charset="0"/>
                          <a:ea typeface="Calibri" pitchFamily="34" charset="-122"/>
                          <a:cs typeface="Calibri" pitchFamily="34" charset="-120"/>
                        </a:rPr>
                        <a:t>spannen</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palpitant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opvallen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D9700F"/>
                          </a:solidFill>
                          <a:latin typeface="Calibri" pitchFamily="34" charset="0"/>
                          <a:ea typeface="Calibri" pitchFamily="34" charset="-122"/>
                          <a:cs typeface="Calibri" pitchFamily="34" charset="-120"/>
                        </a:rPr>
                        <a:t>opvallen</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frappant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dringen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b="1" i="1" dirty="0">
                          <a:solidFill>
                            <a:srgbClr val="D9700F"/>
                          </a:solidFill>
                          <a:latin typeface="Calibri" pitchFamily="34" charset="0"/>
                          <a:ea typeface="Calibri" pitchFamily="34" charset="-122"/>
                          <a:cs typeface="Calibri" pitchFamily="34" charset="-120"/>
                        </a:rPr>
                        <a:t>dringen</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urgent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336792" y="1600200"/>
          <a:ext cx="5029200" cy="914400"/>
        </p:xfrm>
        <a:graphic>
          <a:graphicData uri="http://schemas.openxmlformats.org/drawingml/2006/table">
            <a:tbl>
              <a:tblPr/>
              <a:tblGrid>
                <a:gridCol w="1737360"/>
                <a:gridCol w="3291840"/>
              </a:tblGrid>
              <a:tr h="512064">
                <a:tc gridSpan="2">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PARTICIPE PASSÉ · « -É »</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sluiten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6E4A9E"/>
                          </a:solidFill>
                          <a:latin typeface="Calibri" pitchFamily="34" charset="0"/>
                          <a:ea typeface="Calibri" pitchFamily="34" charset="-122"/>
                          <a:cs typeface="Calibri" pitchFamily="34" charset="-120"/>
                        </a:rPr>
                        <a:t>ge</a:t>
                      </a:r>
                      <a:r>
                        <a:rPr lang="en-US" sz="1600" b="1" i="1" dirty="0">
                          <a:solidFill>
                            <a:srgbClr val="D9700F"/>
                          </a:solidFill>
                          <a:latin typeface="Calibri" pitchFamily="34" charset="0"/>
                          <a:ea typeface="Calibri" pitchFamily="34" charset="-122"/>
                          <a:cs typeface="Calibri" pitchFamily="34" charset="-120"/>
                        </a:rPr>
                        <a:t>slot</a:t>
                      </a:r>
                      <a:r>
                        <a:rPr lang="en-US" sz="1600" b="1" i="1" dirty="0">
                          <a:solidFill>
                            <a:srgbClr val="6E4A9E"/>
                          </a:solidFill>
                          <a:latin typeface="Calibri" pitchFamily="34" charset="0"/>
                          <a:ea typeface="Calibri" pitchFamily="34" charset="-122"/>
                          <a:cs typeface="Calibri" pitchFamily="34" charset="-120"/>
                        </a:rPr>
                        <a:t>en</a:t>
                      </a:r>
                      <a:r>
                        <a:rPr lang="en-US" sz="1600" dirty="0">
                          <a:solidFill>
                            <a:srgbClr val="1B2333"/>
                          </a:solidFill>
                          <a:latin typeface="Calibri" pitchFamily="34" charset="0"/>
                          <a:ea typeface="Calibri" pitchFamily="34" charset="-122"/>
                          <a:cs typeface="Calibri" pitchFamily="34" charset="-120"/>
                        </a:rPr>
                        <a:t> · fermé</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trouwen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6E4A9E"/>
                          </a:solidFill>
                          <a:latin typeface="Calibri" pitchFamily="34" charset="0"/>
                          <a:ea typeface="Calibri" pitchFamily="34" charset="-122"/>
                          <a:cs typeface="Calibri" pitchFamily="34" charset="-120"/>
                        </a:rPr>
                        <a:t>ge</a:t>
                      </a:r>
                      <a:r>
                        <a:rPr lang="en-US" sz="1600" b="1" i="1" dirty="0">
                          <a:solidFill>
                            <a:srgbClr val="D9700F"/>
                          </a:solidFill>
                          <a:latin typeface="Calibri" pitchFamily="34" charset="0"/>
                          <a:ea typeface="Calibri" pitchFamily="34" charset="-122"/>
                          <a:cs typeface="Calibri" pitchFamily="34" charset="-120"/>
                        </a:rPr>
                        <a:t>trouw</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marié</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vermoeien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i="1" dirty="0">
                          <a:solidFill>
                            <a:srgbClr val="D9700F"/>
                          </a:solidFill>
                          <a:latin typeface="Calibri" pitchFamily="34" charset="0"/>
                          <a:ea typeface="Calibri" pitchFamily="34" charset="-122"/>
                          <a:cs typeface="Calibri" pitchFamily="34" charset="-120"/>
                        </a:rPr>
                        <a:t>vermoei</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fatigué</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interesseren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b="1" i="1" dirty="0">
                          <a:solidFill>
                            <a:srgbClr val="6E4A9E"/>
                          </a:solidFill>
                          <a:latin typeface="Calibri" pitchFamily="34" charset="0"/>
                          <a:ea typeface="Calibri" pitchFamily="34" charset="-122"/>
                          <a:cs typeface="Calibri" pitchFamily="34" charset="-120"/>
                        </a:rPr>
                        <a:t>ge</a:t>
                      </a:r>
                      <a:r>
                        <a:rPr lang="en-US" sz="1600" b="1" i="1" dirty="0">
                          <a:solidFill>
                            <a:srgbClr val="D9700F"/>
                          </a:solidFill>
                          <a:latin typeface="Calibri" pitchFamily="34" charset="0"/>
                          <a:ea typeface="Calibri" pitchFamily="34" charset="-122"/>
                          <a:cs typeface="Calibri" pitchFamily="34" charset="-120"/>
                        </a:rPr>
                        <a:t>ïnteresseer</a:t>
                      </a:r>
                      <a:r>
                        <a:rPr lang="en-US" sz="1600" b="1" i="1" dirty="0">
                          <a:solidFill>
                            <a:srgbClr val="6E4A9E"/>
                          </a:solidFill>
                          <a:latin typeface="Calibri" pitchFamily="34" charset="0"/>
                          <a:ea typeface="Calibri" pitchFamily="34" charset="-122"/>
                          <a:cs typeface="Calibri" pitchFamily="34" charset="-120"/>
                        </a:rPr>
                        <a:t>d</a:t>
                      </a:r>
                      <a:r>
                        <a:rPr lang="en-US" sz="1600" dirty="0">
                          <a:solidFill>
                            <a:srgbClr val="1B2333"/>
                          </a:solidFill>
                          <a:latin typeface="Calibri" pitchFamily="34" charset="0"/>
                          <a:ea typeface="Calibri" pitchFamily="34" charset="-122"/>
                          <a:cs typeface="Calibri" pitchFamily="34" charset="-120"/>
                        </a:rPr>
                        <a:t> · intéressé</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7" name="Shape 12"/>
          <p:cNvSpPr/>
          <p:nvPr/>
        </p:nvSpPr>
        <p:spPr>
          <a:xfrm>
            <a:off x="1339596" y="4617720"/>
            <a:ext cx="9509760" cy="914400"/>
          </a:xfrm>
          <a:prstGeom prst="roundRect">
            <a:avLst>
              <a:gd name="adj" fmla="val 10000"/>
            </a:avLst>
          </a:prstGeom>
          <a:solidFill>
            <a:srgbClr val="FBEDEB"/>
          </a:solidFill>
          <a:ln w="12700">
            <a:solidFill>
              <a:srgbClr val="FFFFFF">
                <a:alpha val="0"/>
              </a:srgbClr>
            </a:solidFill>
            <a:prstDash val="solid"/>
          </a:ln>
        </p:spPr>
      </p:sp>
      <p:sp>
        <p:nvSpPr>
          <p:cNvPr id="18" name="Shape 13"/>
          <p:cNvSpPr/>
          <p:nvPr/>
        </p:nvSpPr>
        <p:spPr>
          <a:xfrm>
            <a:off x="1513332" y="4791456"/>
            <a:ext cx="310896" cy="310896"/>
          </a:xfrm>
          <a:prstGeom prst="ellipse">
            <a:avLst/>
          </a:prstGeom>
          <a:solidFill>
            <a:srgbClr val="B83227"/>
          </a:solidFill>
          <a:ln w="12700">
            <a:solidFill>
              <a:srgbClr val="FFFFFF">
                <a:alpha val="0"/>
              </a:srgbClr>
            </a:solidFill>
            <a:prstDash val="solid"/>
          </a:ln>
        </p:spPr>
      </p:sp>
      <p:sp>
        <p:nvSpPr>
          <p:cNvPr id="19" name="Text 14"/>
          <p:cNvSpPr txBox="1"/>
          <p:nvPr/>
        </p:nvSpPr>
        <p:spPr>
          <a:xfrm>
            <a:off x="1513332" y="4791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5"/>
          <p:cNvSpPr txBox="1"/>
          <p:nvPr/>
        </p:nvSpPr>
        <p:spPr>
          <a:xfrm>
            <a:off x="1961388" y="4727448"/>
            <a:ext cx="8732520"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Le -e de l’adjectif (M21)</a:t>
            </a:r>
            <a:endParaRPr lang="en-US" sz="1300" dirty="0"/>
          </a:p>
        </p:txBody>
      </p:sp>
      <p:sp>
        <p:nvSpPr>
          <p:cNvPr id="21" name="Text 16"/>
          <p:cNvSpPr txBox="1"/>
          <p:nvPr/>
        </p:nvSpPr>
        <p:spPr>
          <a:xfrm>
            <a:off x="1961388" y="5020056"/>
            <a:ext cx="8732520"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participe en </a:t>
            </a:r>
            <a:r>
              <a:rPr lang="en-US" sz="1400" i="1" dirty="0">
                <a:solidFill>
                  <a:srgbClr val="1B2333"/>
                </a:solidFill>
                <a:latin typeface="Calibri" pitchFamily="34" charset="0"/>
                <a:ea typeface="Calibri" pitchFamily="34" charset="-122"/>
                <a:cs typeface="Calibri" pitchFamily="34" charset="-120"/>
              </a:rPr>
              <a:t>-en</a:t>
            </a:r>
            <a:r>
              <a:rPr lang="en-US" sz="1400" dirty="0">
                <a:solidFill>
                  <a:srgbClr val="1B2333"/>
                </a:solidFill>
                <a:latin typeface="Calibri" pitchFamily="34" charset="0"/>
                <a:ea typeface="Calibri" pitchFamily="34" charset="-122"/>
                <a:cs typeface="Calibri" pitchFamily="34" charset="-120"/>
              </a:rPr>
              <a:t> : pas de </a:t>
            </a:r>
            <a:r>
              <a:rPr lang="en-US" sz="1400" i="1" dirty="0">
                <a:solidFill>
                  <a:srgbClr val="1B2333"/>
                </a:solidFill>
                <a:latin typeface="Calibri" pitchFamily="34" charset="0"/>
                <a:ea typeface="Calibri" pitchFamily="34" charset="-122"/>
                <a:cs typeface="Calibri" pitchFamily="34" charset="-120"/>
              </a:rPr>
              <a:t>-e</a:t>
            </a:r>
            <a:r>
              <a:rPr lang="en-US" sz="1400" dirty="0">
                <a:solidFill>
                  <a:srgbClr val="1B2333"/>
                </a:solidFill>
                <a:latin typeface="Calibri" pitchFamily="34" charset="0"/>
                <a:ea typeface="Calibri" pitchFamily="34" charset="-122"/>
                <a:cs typeface="Calibri" pitchFamily="34" charset="-120"/>
              </a:rPr>
              <a:t> en plus → </a:t>
            </a:r>
            <a:r>
              <a:rPr lang="en-US" sz="1400" i="1" dirty="0">
                <a:solidFill>
                  <a:srgbClr val="1B2333"/>
                </a:solidFill>
                <a:latin typeface="Calibri" pitchFamily="34" charset="0"/>
                <a:ea typeface="Calibri" pitchFamily="34" charset="-122"/>
                <a:cs typeface="Calibri" pitchFamily="34" charset="-120"/>
              </a:rPr>
              <a:t>de gesloten deur</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een spannende film</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Du nom au verbe : + -en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 </a:t>
            </a:r>
            <a:r>
              <a:rPr lang="en-US" sz="1100" b="1" spc="300" kern="0" dirty="0">
                <a:solidFill>
                  <a:srgbClr val="B83227"/>
                </a:solidFill>
                <a:latin typeface="Calibri" pitchFamily="34" charset="0"/>
                <a:ea typeface="Calibri" pitchFamily="34" charset="-122"/>
                <a:cs typeface="Calibri" pitchFamily="34" charset="-120"/>
              </a:rPr>
              <a:t>VERBE</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H="1">
            <a:off x="10809849" y="504709"/>
            <a:ext cx="263091" cy="383675"/>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4682204" y="1444752"/>
            <a:ext cx="2824544"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682204" y="1444752"/>
            <a:ext cx="2824544" cy="566928"/>
          </a:xfrm>
          <a:prstGeom prst="rect">
            <a:avLst/>
          </a:prstGeom>
          <a:noFill/>
          <a:ln/>
        </p:spPr>
        <p:txBody>
          <a:bodyPr wrap="square" lIns="0" tIns="0" rIns="0" bIns="0" rtlCol="0" anchor="ctr"/>
          <a:lstStyle/>
          <a:p>
            <a:pPr algn="ctr" indent="0" marL="0">
              <a:buNone/>
            </a:pPr>
            <a:r>
              <a:rPr lang="en-US" sz="2100" b="1" dirty="0">
                <a:solidFill>
                  <a:srgbClr val="17375E"/>
                </a:solidFill>
                <a:latin typeface="Calibri" pitchFamily="34" charset="0"/>
                <a:ea typeface="Calibri" pitchFamily="34" charset="-122"/>
                <a:cs typeface="Calibri" pitchFamily="34" charset="-120"/>
              </a:rPr>
              <a:t>nom + </a:t>
            </a:r>
            <a:r>
              <a:rPr lang="en-US" sz="2100" b="1" dirty="0">
                <a:solidFill>
                  <a:srgbClr val="6E4A9E"/>
                </a:solidFill>
                <a:latin typeface="Calibri" pitchFamily="34" charset="0"/>
                <a:ea typeface="Calibri" pitchFamily="34" charset="-122"/>
                <a:cs typeface="Calibri" pitchFamily="34" charset="-120"/>
              </a:rPr>
              <a:t>-en</a:t>
            </a:r>
            <a:r>
              <a:rPr lang="en-US" sz="2100" b="1" dirty="0">
                <a:solidFill>
                  <a:srgbClr val="17375E"/>
                </a:solidFill>
                <a:latin typeface="Calibri" pitchFamily="34" charset="0"/>
                <a:ea typeface="Calibri" pitchFamily="34" charset="-122"/>
                <a:cs typeface="Calibri" pitchFamily="34" charset="-120"/>
              </a:rPr>
              <a:t> = verbe</a:t>
            </a:r>
            <a:endParaRPr lang="en-US" sz="2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351276" y="2240280"/>
          <a:ext cx="5486400" cy="914400"/>
        </p:xfrm>
        <a:graphic>
          <a:graphicData uri="http://schemas.openxmlformats.org/drawingml/2006/table">
            <a:tbl>
              <a:tblPr/>
              <a:tblGrid>
                <a:gridCol w="2743200"/>
                <a:gridCol w="2743200"/>
              </a:tblGrid>
              <a:tr h="420624">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fiets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fiets</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mail</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mail</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hamer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hamer</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tennis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tenniss</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ski</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B83227"/>
                          </a:solidFill>
                          <a:latin typeface="Calibri" pitchFamily="34" charset="0"/>
                          <a:ea typeface="Calibri" pitchFamily="34" charset="-122"/>
                          <a:cs typeface="Calibri" pitchFamily="34" charset="-120"/>
                        </a:rPr>
                        <a:t>skiën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983480"/>
            <a:ext cx="5138928" cy="868680"/>
          </a:xfrm>
          <a:prstGeom prst="roundRect">
            <a:avLst>
              <a:gd name="adj" fmla="val 10526"/>
            </a:avLst>
          </a:prstGeom>
          <a:solidFill>
            <a:srgbClr val="FBEDEB"/>
          </a:solidFill>
          <a:ln w="12700">
            <a:solidFill>
              <a:srgbClr val="FFFFFF">
                <a:alpha val="0"/>
              </a:srgbClr>
            </a:solidFill>
            <a:prstDash val="solid"/>
          </a:ln>
        </p:spPr>
      </p:sp>
      <p:sp>
        <p:nvSpPr>
          <p:cNvPr id="19" name="Shape 15"/>
          <p:cNvSpPr/>
          <p:nvPr/>
        </p:nvSpPr>
        <p:spPr>
          <a:xfrm>
            <a:off x="996696" y="5157216"/>
            <a:ext cx="310896" cy="310896"/>
          </a:xfrm>
          <a:prstGeom prst="ellipse">
            <a:avLst/>
          </a:prstGeom>
          <a:solidFill>
            <a:srgbClr val="B83227"/>
          </a:solidFill>
          <a:ln w="12700">
            <a:solidFill>
              <a:srgbClr val="FFFFFF">
                <a:alpha val="0"/>
              </a:srgbClr>
            </a:solidFill>
            <a:prstDash val="solid"/>
          </a:ln>
        </p:spPr>
      </p:sp>
      <p:sp>
        <p:nvSpPr>
          <p:cNvPr id="20" name="Text 16"/>
          <p:cNvSpPr txBox="1"/>
          <p:nvPr/>
        </p:nvSpPr>
        <p:spPr>
          <a:xfrm>
            <a:off x="996696"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509320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Orthographe</a:t>
            </a:r>
            <a:endParaRPr lang="en-US" sz="1300" dirty="0"/>
          </a:p>
        </p:txBody>
      </p:sp>
      <p:sp>
        <p:nvSpPr>
          <p:cNvPr id="22" name="Text 18"/>
          <p:cNvSpPr txBox="1"/>
          <p:nvPr/>
        </p:nvSpPr>
        <p:spPr>
          <a:xfrm>
            <a:off x="1444752" y="5385816"/>
            <a:ext cx="4361688"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tenni</a:t>
            </a:r>
            <a:r>
              <a:rPr lang="en-US" sz="1400" b="1" i="1" dirty="0">
                <a:solidFill>
                  <a:srgbClr val="1B2333"/>
                </a:solidFill>
                <a:latin typeface="Calibri" pitchFamily="34" charset="0"/>
                <a:ea typeface="Calibri" pitchFamily="34" charset="-122"/>
                <a:cs typeface="Calibri" pitchFamily="34" charset="-120"/>
              </a:rPr>
              <a:t>ss</a:t>
            </a:r>
            <a:r>
              <a:rPr lang="en-US" sz="1400" i="1" dirty="0">
                <a:solidFill>
                  <a:srgbClr val="1B2333"/>
                </a:solidFill>
                <a:latin typeface="Calibri" pitchFamily="34" charset="0"/>
                <a:ea typeface="Calibri" pitchFamily="34" charset="-122"/>
                <a:cs typeface="Calibri" pitchFamily="34" charset="-120"/>
              </a:rPr>
              <a:t>en, cha</a:t>
            </a:r>
            <a:r>
              <a:rPr lang="en-US" sz="1400" b="1" i="1" dirty="0">
                <a:solidFill>
                  <a:srgbClr val="1B2333"/>
                </a:solidFill>
                <a:latin typeface="Calibri" pitchFamily="34" charset="0"/>
                <a:ea typeface="Calibri" pitchFamily="34" charset="-122"/>
                <a:cs typeface="Calibri" pitchFamily="34" charset="-120"/>
              </a:rPr>
              <a:t>tt</a:t>
            </a:r>
            <a:r>
              <a:rPr lang="en-US" sz="1400" i="1" dirty="0">
                <a:solidFill>
                  <a:srgbClr val="1B2333"/>
                </a:solidFill>
                <a:latin typeface="Calibri" pitchFamily="34" charset="0"/>
                <a:ea typeface="Calibri" pitchFamily="34" charset="-122"/>
                <a:cs typeface="Calibri" pitchFamily="34" charset="-120"/>
              </a:rPr>
              <a:t>en</a:t>
            </a:r>
            <a:r>
              <a:rPr lang="en-US" sz="1400" dirty="0">
                <a:solidFill>
                  <a:srgbClr val="1B2333"/>
                </a:solidFill>
                <a:latin typeface="Calibri" pitchFamily="34" charset="0"/>
                <a:ea typeface="Calibri" pitchFamily="34" charset="-122"/>
                <a:cs typeface="Calibri" pitchFamily="34" charset="-120"/>
              </a:rPr>
              <a:t> · tréma : </a:t>
            </a:r>
            <a:r>
              <a:rPr lang="en-US" sz="1400" i="1" dirty="0">
                <a:solidFill>
                  <a:srgbClr val="1B2333"/>
                </a:solidFill>
                <a:latin typeface="Calibri" pitchFamily="34" charset="0"/>
                <a:ea typeface="Calibri" pitchFamily="34" charset="-122"/>
                <a:cs typeface="Calibri" pitchFamily="34" charset="-120"/>
              </a:rPr>
              <a:t>skiën</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sms’en</a:t>
            </a:r>
            <a:endParaRPr lang="en-US" sz="1400" dirty="0"/>
          </a:p>
        </p:txBody>
      </p:sp>
      <p:sp>
        <p:nvSpPr>
          <p:cNvPr id="23" name="Shape 19"/>
          <p:cNvSpPr/>
          <p:nvPr/>
        </p:nvSpPr>
        <p:spPr>
          <a:xfrm>
            <a:off x="6236208" y="4983480"/>
            <a:ext cx="5138928" cy="868680"/>
          </a:xfrm>
          <a:prstGeom prst="roundRect">
            <a:avLst>
              <a:gd name="adj" fmla="val 10526"/>
            </a:avLst>
          </a:prstGeom>
          <a:solidFill>
            <a:srgbClr val="F1ECF7"/>
          </a:solidFill>
          <a:ln w="12700">
            <a:solidFill>
              <a:srgbClr val="FFFFFF">
                <a:alpha val="0"/>
              </a:srgbClr>
            </a:solidFill>
            <a:prstDash val="solid"/>
          </a:ln>
        </p:spPr>
      </p:sp>
      <p:sp>
        <p:nvSpPr>
          <p:cNvPr id="24" name="Shape 20"/>
          <p:cNvSpPr/>
          <p:nvPr/>
        </p:nvSpPr>
        <p:spPr>
          <a:xfrm>
            <a:off x="6409944" y="5157216"/>
            <a:ext cx="310896" cy="310896"/>
          </a:xfrm>
          <a:prstGeom prst="ellipse">
            <a:avLst/>
          </a:prstGeom>
          <a:solidFill>
            <a:srgbClr val="6E4A9E"/>
          </a:solidFill>
          <a:ln w="12700">
            <a:solidFill>
              <a:srgbClr val="FFFFFF">
                <a:alpha val="0"/>
              </a:srgbClr>
            </a:solidFill>
            <a:prstDash val="solid"/>
          </a:ln>
        </p:spPr>
      </p:sp>
      <p:sp>
        <p:nvSpPr>
          <p:cNvPr id="25" name="Text 21"/>
          <p:cNvSpPr txBox="1"/>
          <p:nvPr/>
        </p:nvSpPr>
        <p:spPr>
          <a:xfrm>
            <a:off x="6409944"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5093208"/>
            <a:ext cx="4361688" cy="292608"/>
          </a:xfrm>
          <a:prstGeom prst="rect">
            <a:avLst/>
          </a:prstGeom>
          <a:noFill/>
          <a:ln/>
        </p:spPr>
        <p:txBody>
          <a:bodyPr wrap="square" lIns="0" tIns="0" rIns="0" bIns="0" rtlCol="0" anchor="ctr"/>
          <a:lstStyle/>
          <a:p>
            <a:pPr algn="l" indent="0" marL="0">
              <a:buNone/>
            </a:pPr>
            <a:r>
              <a:rPr lang="en-US" sz="1300" b="1" dirty="0">
                <a:solidFill>
                  <a:srgbClr val="6E4A9E"/>
                </a:solidFill>
                <a:latin typeface="Calibri" pitchFamily="34" charset="0"/>
                <a:ea typeface="Calibri" pitchFamily="34" charset="-122"/>
                <a:cs typeface="Calibri" pitchFamily="34" charset="-120"/>
              </a:rPr>
              <a:t>be- + nom</a:t>
            </a:r>
            <a:endParaRPr lang="en-US" sz="1300" dirty="0"/>
          </a:p>
        </p:txBody>
      </p:sp>
      <p:sp>
        <p:nvSpPr>
          <p:cNvPr id="27" name="Text 23"/>
          <p:cNvSpPr txBox="1"/>
          <p:nvPr/>
        </p:nvSpPr>
        <p:spPr>
          <a:xfrm>
            <a:off x="6858000" y="5385816"/>
            <a:ext cx="4361688"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het antwoord → </a:t>
            </a:r>
            <a:r>
              <a:rPr lang="en-US" sz="1400" b="1" i="1" dirty="0">
                <a:solidFill>
                  <a:srgbClr val="6E4A9E"/>
                </a:solidFill>
                <a:latin typeface="Calibri" pitchFamily="34" charset="0"/>
                <a:ea typeface="Calibri" pitchFamily="34" charset="-122"/>
                <a:cs typeface="Calibri" pitchFamily="34" charset="-120"/>
              </a:rPr>
              <a:t>be</a:t>
            </a:r>
            <a:r>
              <a:rPr lang="en-US" sz="1400" i="1" dirty="0">
                <a:solidFill>
                  <a:srgbClr val="1B2333"/>
                </a:solidFill>
                <a:latin typeface="Calibri" pitchFamily="34" charset="0"/>
                <a:ea typeface="Calibri" pitchFamily="34" charset="-122"/>
                <a:cs typeface="Calibri" pitchFamily="34" charset="-120"/>
              </a:rPr>
              <a:t>antwoorden</a:t>
            </a:r>
            <a:r>
              <a:rPr lang="en-US" sz="1400" dirty="0">
                <a:solidFill>
                  <a:srgbClr val="1B2333"/>
                </a:solidFill>
                <a:latin typeface="Calibri" pitchFamily="34" charset="0"/>
                <a:ea typeface="Calibri" pitchFamily="34" charset="-122"/>
                <a:cs typeface="Calibri" pitchFamily="34" charset="-120"/>
              </a:rPr>
              <a:t> (+ complément direct)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Rendre plus… : ver- + adjectif + -en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 </a:t>
            </a:r>
            <a:r>
              <a:rPr lang="en-US" sz="1100" b="1" spc="300" kern="0" dirty="0">
                <a:solidFill>
                  <a:srgbClr val="B83227"/>
                </a:solidFill>
                <a:latin typeface="Calibri" pitchFamily="34" charset="0"/>
                <a:ea typeface="Calibri" pitchFamily="34" charset="-122"/>
                <a:cs typeface="Calibri" pitchFamily="34" charset="-120"/>
              </a:rPr>
              <a:t>VERBE</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flipH="1">
            <a:off x="10881360" y="1024128"/>
            <a:ext cx="566928" cy="914"/>
          </a:xfrm>
          <a:prstGeom prst="line">
            <a:avLst/>
          </a:prstGeom>
          <a:noFill/>
          <a:ln w="34925">
            <a:solidFill>
              <a:srgbClr val="6E4A9E"/>
            </a:solidFill>
            <a:prstDash val="solid"/>
            <a:tailEnd type="triangle"/>
          </a:ln>
        </p:spPr>
      </p:sp>
      <p:sp>
        <p:nvSpPr>
          <p:cNvPr id="8" name="Shape 6"/>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9" name="Text 7"/>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0" name="Shape 8"/>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1" name="Text 9"/>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2" name="Shape 10"/>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3" name="Text 11"/>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2"/>
          <p:cNvSpPr/>
          <p:nvPr/>
        </p:nvSpPr>
        <p:spPr>
          <a:xfrm>
            <a:off x="3763423" y="1444752"/>
            <a:ext cx="4662107"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3763423" y="1444752"/>
            <a:ext cx="4662107" cy="566928"/>
          </a:xfrm>
          <a:prstGeom prst="rect">
            <a:avLst/>
          </a:prstGeom>
          <a:noFill/>
          <a:ln/>
        </p:spPr>
        <p:txBody>
          <a:bodyPr wrap="square" lIns="0" tIns="0" rIns="0" bIns="0" rtlCol="0" anchor="ctr"/>
          <a:lstStyle/>
          <a:p>
            <a:pPr algn="ctr" indent="0" marL="0">
              <a:buNone/>
            </a:pPr>
            <a:r>
              <a:rPr lang="en-US" sz="2100" b="1" dirty="0">
                <a:solidFill>
                  <a:srgbClr val="6E4A9E"/>
                </a:solidFill>
                <a:latin typeface="Calibri" pitchFamily="34" charset="0"/>
                <a:ea typeface="Calibri" pitchFamily="34" charset="-122"/>
                <a:cs typeface="Calibri" pitchFamily="34" charset="-120"/>
              </a:rPr>
              <a:t>ver-</a:t>
            </a:r>
            <a:r>
              <a:rPr lang="en-US" sz="2100" b="1" dirty="0">
                <a:solidFill>
                  <a:srgbClr val="17375E"/>
                </a:solidFill>
                <a:latin typeface="Calibri" pitchFamily="34" charset="0"/>
                <a:ea typeface="Calibri" pitchFamily="34" charset="-122"/>
                <a:cs typeface="Calibri" pitchFamily="34" charset="-120"/>
              </a:rPr>
              <a:t> + adjectif + </a:t>
            </a:r>
            <a:r>
              <a:rPr lang="en-US" sz="2100" b="1" dirty="0">
                <a:solidFill>
                  <a:srgbClr val="6E4A9E"/>
                </a:solidFill>
                <a:latin typeface="Calibri" pitchFamily="34" charset="0"/>
                <a:ea typeface="Calibri" pitchFamily="34" charset="-122"/>
                <a:cs typeface="Calibri" pitchFamily="34" charset="-120"/>
              </a:rPr>
              <a:t>-en</a:t>
            </a:r>
            <a:r>
              <a:rPr lang="en-US" sz="2100" b="1" dirty="0">
                <a:solidFill>
                  <a:srgbClr val="17375E"/>
                </a:solidFill>
                <a:latin typeface="Calibri" pitchFamily="34" charset="0"/>
                <a:ea typeface="Calibri" pitchFamily="34" charset="-122"/>
                <a:cs typeface="Calibri" pitchFamily="34" charset="-120"/>
              </a:rPr>
              <a:t> = rendre plus…</a:t>
            </a:r>
            <a:endParaRPr lang="en-US" sz="2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2240280"/>
          <a:ext cx="10543032" cy="914400"/>
        </p:xfrm>
        <a:graphic>
          <a:graphicData uri="http://schemas.openxmlformats.org/drawingml/2006/table">
            <a:tbl>
              <a:tblPr/>
              <a:tblGrid>
                <a:gridCol w="1371600"/>
                <a:gridCol w="2011680"/>
                <a:gridCol w="1783080"/>
                <a:gridCol w="1371600"/>
                <a:gridCol w="2011680"/>
                <a:gridCol w="1993392"/>
              </a:tblGrid>
              <a:tr h="47548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SENS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SENS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75488">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groot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grot</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agrandir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klein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klein</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réduire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beter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beter</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améliorer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warm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warm</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chauffer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nieuw</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nieuw</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renouveler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lang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6E4A9E"/>
                          </a:solidFill>
                          <a:latin typeface="Calibri" pitchFamily="34" charset="0"/>
                          <a:ea typeface="Calibri" pitchFamily="34" charset="-122"/>
                          <a:cs typeface="Calibri" pitchFamily="34" charset="-120"/>
                        </a:rPr>
                        <a:t>ver</a:t>
                      </a:r>
                      <a:r>
                        <a:rPr lang="en-US" sz="1600" b="1" i="1" dirty="0">
                          <a:solidFill>
                            <a:srgbClr val="B83227"/>
                          </a:solidFill>
                          <a:latin typeface="Calibri" pitchFamily="34" charset="0"/>
                          <a:ea typeface="Calibri" pitchFamily="34" charset="-122"/>
                          <a:cs typeface="Calibri" pitchFamily="34" charset="-120"/>
                        </a:rPr>
                        <a:t>leng</a:t>
                      </a:r>
                      <a:r>
                        <a:rPr lang="en-US" sz="1600" b="1" i="1" dirty="0">
                          <a:solidFill>
                            <a:srgbClr val="6E4A9E"/>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prolonger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1339596" y="4572000"/>
            <a:ext cx="9509760" cy="914400"/>
          </a:xfrm>
          <a:prstGeom prst="roundRect">
            <a:avLst>
              <a:gd name="adj" fmla="val 10000"/>
            </a:avLst>
          </a:prstGeom>
          <a:solidFill>
            <a:srgbClr val="FBEDEB"/>
          </a:solidFill>
          <a:ln w="12700">
            <a:solidFill>
              <a:srgbClr val="FFFFFF">
                <a:alpha val="0"/>
              </a:srgbClr>
            </a:solidFill>
            <a:prstDash val="solid"/>
          </a:ln>
        </p:spPr>
      </p:sp>
      <p:sp>
        <p:nvSpPr>
          <p:cNvPr id="19" name="Shape 15"/>
          <p:cNvSpPr/>
          <p:nvPr/>
        </p:nvSpPr>
        <p:spPr>
          <a:xfrm>
            <a:off x="1513332" y="4745736"/>
            <a:ext cx="310896" cy="310896"/>
          </a:xfrm>
          <a:prstGeom prst="ellipse">
            <a:avLst/>
          </a:prstGeom>
          <a:solidFill>
            <a:srgbClr val="B83227"/>
          </a:solidFill>
          <a:ln w="12700">
            <a:solidFill>
              <a:srgbClr val="FFFFFF">
                <a:alpha val="0"/>
              </a:srgbClr>
            </a:solidFill>
            <a:prstDash val="solid"/>
          </a:ln>
        </p:spPr>
      </p:sp>
      <p:sp>
        <p:nvSpPr>
          <p:cNvPr id="20" name="Text 16"/>
          <p:cNvSpPr txBox="1"/>
          <p:nvPr/>
        </p:nvSpPr>
        <p:spPr>
          <a:xfrm>
            <a:off x="1513332"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961388" y="4681728"/>
            <a:ext cx="8732520"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Exceptions</a:t>
            </a:r>
            <a:endParaRPr lang="en-US" sz="1300" dirty="0"/>
          </a:p>
        </p:txBody>
      </p:sp>
      <p:sp>
        <p:nvSpPr>
          <p:cNvPr id="22" name="Text 18"/>
          <p:cNvSpPr txBox="1"/>
          <p:nvPr/>
        </p:nvSpPr>
        <p:spPr>
          <a:xfrm>
            <a:off x="1961388" y="4974336"/>
            <a:ext cx="8732520"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la voyelle change : </a:t>
            </a:r>
            <a:r>
              <a:rPr lang="en-US" sz="1400" i="1" dirty="0">
                <a:solidFill>
                  <a:srgbClr val="1B2333"/>
                </a:solidFill>
                <a:latin typeface="Calibri" pitchFamily="34" charset="0"/>
                <a:ea typeface="Calibri" pitchFamily="34" charset="-122"/>
                <a:cs typeface="Calibri" pitchFamily="34" charset="-120"/>
              </a:rPr>
              <a:t>lang → verl</a:t>
            </a:r>
            <a:r>
              <a:rPr lang="en-US" sz="1400" b="1" i="1" dirty="0">
                <a:solidFill>
                  <a:srgbClr val="1B2333"/>
                </a:solidFill>
                <a:latin typeface="Calibri" pitchFamily="34" charset="0"/>
                <a:ea typeface="Calibri" pitchFamily="34" charset="-122"/>
                <a:cs typeface="Calibri" pitchFamily="34" charset="-120"/>
              </a:rPr>
              <a:t>e</a:t>
            </a:r>
            <a:r>
              <a:rPr lang="en-US" sz="1400" i="1" dirty="0">
                <a:solidFill>
                  <a:srgbClr val="1B2333"/>
                </a:solidFill>
                <a:latin typeface="Calibri" pitchFamily="34" charset="0"/>
                <a:ea typeface="Calibri" pitchFamily="34" charset="-122"/>
                <a:cs typeface="Calibri" pitchFamily="34" charset="-120"/>
              </a:rPr>
              <a:t>ngen</a:t>
            </a:r>
            <a:r>
              <a:rPr lang="en-US" sz="1400" dirty="0">
                <a:solidFill>
                  <a:srgbClr val="1B2333"/>
                </a:solidFill>
                <a:latin typeface="Calibri" pitchFamily="34" charset="0"/>
                <a:ea typeface="Calibri" pitchFamily="34" charset="-122"/>
                <a:cs typeface="Calibri" pitchFamily="34" charset="-120"/>
              </a:rPr>
              <a:t> · sans </a:t>
            </a:r>
            <a:r>
              <a:rPr lang="en-US" sz="1400" i="1" dirty="0">
                <a:solidFill>
                  <a:srgbClr val="1B2333"/>
                </a:solidFill>
                <a:latin typeface="Calibri" pitchFamily="34" charset="0"/>
                <a:ea typeface="Calibri" pitchFamily="34" charset="-122"/>
                <a:cs typeface="Calibri" pitchFamily="34" charset="-120"/>
              </a:rPr>
              <a:t>ver-</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open → openen · leeg → legen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L’adverbe : pas de -ment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ADJECTIF</a:t>
            </a:r>
            <a:r>
              <a:rPr lang="en-US" sz="1100" b="1" spc="300" kern="0" dirty="0">
                <a:solidFill>
                  <a:srgbClr val="17375E"/>
                </a:solidFill>
                <a:latin typeface="Calibri" pitchFamily="34" charset="0"/>
                <a:ea typeface="Calibri" pitchFamily="34" charset="-122"/>
                <a:cs typeface="Calibri" pitchFamily="34" charset="-120"/>
              </a:rPr>
              <a:t> = </a:t>
            </a:r>
            <a:r>
              <a:rPr lang="en-US" sz="1100" b="1" spc="300" kern="0" dirty="0">
                <a:solidFill>
                  <a:srgbClr val="2E7D4F"/>
                </a:solidFill>
                <a:latin typeface="Calibri" pitchFamily="34" charset="0"/>
                <a:ea typeface="Calibri" pitchFamily="34" charset="-122"/>
                <a:cs typeface="Calibri" pitchFamily="34" charset="-120"/>
              </a:rPr>
              <a:t>ADVERBE</a:t>
            </a:r>
            <a:endParaRPr lang="en-US" sz="1100" dirty="0"/>
          </a:p>
        </p:txBody>
      </p:sp>
      <p:sp>
        <p:nvSpPr>
          <p:cNvPr id="4" name="Shape 2"/>
          <p:cNvSpPr/>
          <p:nvPr/>
        </p:nvSpPr>
        <p:spPr>
          <a:xfrm flipH="1">
            <a:off x="10716768" y="384048"/>
            <a:ext cx="438912" cy="640080"/>
          </a:xfrm>
          <a:prstGeom prst="line">
            <a:avLst/>
          </a:prstGeom>
          <a:noFill/>
          <a:ln w="15875">
            <a:solidFill>
              <a:srgbClr val="DDE3EA"/>
            </a:solidFill>
            <a:prstDash val="solid"/>
          </a:ln>
        </p:spPr>
      </p:sp>
      <p:sp>
        <p:nvSpPr>
          <p:cNvPr id="5" name="Shape 3"/>
          <p:cNvSpPr/>
          <p:nvPr/>
        </p:nvSpPr>
        <p:spPr>
          <a:xfrm>
            <a:off x="11155680" y="384048"/>
            <a:ext cx="438912" cy="640080"/>
          </a:xfrm>
          <a:prstGeom prst="line">
            <a:avLst/>
          </a:prstGeom>
          <a:noFill/>
          <a:ln w="15875">
            <a:solidFill>
              <a:srgbClr val="DDE3EA"/>
            </a:solidFill>
            <a:prstDash val="solid"/>
          </a:ln>
        </p:spPr>
      </p:sp>
      <p:sp>
        <p:nvSpPr>
          <p:cNvPr id="6" name="Shape 4"/>
          <p:cNvSpPr/>
          <p:nvPr/>
        </p:nvSpPr>
        <p:spPr>
          <a:xfrm>
            <a:off x="10716768" y="1024128"/>
            <a:ext cx="877824" cy="914"/>
          </a:xfrm>
          <a:prstGeom prst="line">
            <a:avLst/>
          </a:prstGeom>
          <a:noFill/>
          <a:ln w="15875">
            <a:solidFill>
              <a:srgbClr val="DDE3EA"/>
            </a:solidFill>
            <a:prstDash val="solid"/>
          </a:ln>
        </p:spPr>
      </p:sp>
      <p:sp>
        <p:nvSpPr>
          <p:cNvPr id="7" name="Shape 5"/>
          <p:cNvSpPr/>
          <p:nvPr/>
        </p:nvSpPr>
        <p:spPr>
          <a:xfrm>
            <a:off x="11009376" y="237744"/>
            <a:ext cx="292608" cy="292608"/>
          </a:xfrm>
          <a:prstGeom prst="ellipse">
            <a:avLst/>
          </a:prstGeom>
          <a:solidFill>
            <a:srgbClr val="2A6FB0"/>
          </a:solidFill>
          <a:ln w="12700">
            <a:solidFill>
              <a:srgbClr val="FFFFFF">
                <a:alpha val="0"/>
              </a:srgbClr>
            </a:solidFill>
            <a:prstDash val="solid"/>
          </a:ln>
        </p:spPr>
      </p:sp>
      <p:sp>
        <p:nvSpPr>
          <p:cNvPr id="8" name="Text 6"/>
          <p:cNvSpPr txBox="1"/>
          <p:nvPr/>
        </p:nvSpPr>
        <p:spPr>
          <a:xfrm>
            <a:off x="11009376" y="23774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9" name="Shape 7"/>
          <p:cNvSpPr/>
          <p:nvPr/>
        </p:nvSpPr>
        <p:spPr>
          <a:xfrm>
            <a:off x="10570464" y="877824"/>
            <a:ext cx="292608" cy="292608"/>
          </a:xfrm>
          <a:prstGeom prst="ellipse">
            <a:avLst/>
          </a:prstGeom>
          <a:solidFill>
            <a:srgbClr val="B83227"/>
          </a:solidFill>
          <a:ln w="12700">
            <a:solidFill>
              <a:srgbClr val="FFFFFF">
                <a:alpha val="0"/>
              </a:srgbClr>
            </a:solidFill>
            <a:prstDash val="solid"/>
          </a:ln>
        </p:spPr>
      </p:sp>
      <p:sp>
        <p:nvSpPr>
          <p:cNvPr id="10" name="Text 8"/>
          <p:cNvSpPr txBox="1"/>
          <p:nvPr/>
        </p:nvSpPr>
        <p:spPr>
          <a:xfrm>
            <a:off x="10570464"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t>
            </a:r>
            <a:endParaRPr lang="en-US" sz="900" dirty="0"/>
          </a:p>
        </p:txBody>
      </p:sp>
      <p:sp>
        <p:nvSpPr>
          <p:cNvPr id="11" name="Shape 9"/>
          <p:cNvSpPr/>
          <p:nvPr/>
        </p:nvSpPr>
        <p:spPr>
          <a:xfrm>
            <a:off x="11448288" y="877824"/>
            <a:ext cx="292608" cy="292608"/>
          </a:xfrm>
          <a:prstGeom prst="ellipse">
            <a:avLst/>
          </a:prstGeom>
          <a:solidFill>
            <a:srgbClr val="D9700F"/>
          </a:solidFill>
          <a:ln w="12700">
            <a:solidFill>
              <a:srgbClr val="FFFFFF">
                <a:alpha val="0"/>
              </a:srgbClr>
            </a:solidFill>
            <a:prstDash val="solid"/>
          </a:ln>
        </p:spPr>
      </p:sp>
      <p:sp>
        <p:nvSpPr>
          <p:cNvPr id="12" name="Text 10"/>
          <p:cNvSpPr txBox="1"/>
          <p:nvPr/>
        </p:nvSpPr>
        <p:spPr>
          <a:xfrm>
            <a:off x="11448288" y="87782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3" name="Text 11"/>
          <p:cNvSpPr txBox="1"/>
          <p:nvPr/>
        </p:nvSpPr>
        <p:spPr>
          <a:xfrm>
            <a:off x="11777472" y="896112"/>
            <a:ext cx="411480" cy="274320"/>
          </a:xfrm>
          <a:prstGeom prst="rect">
            <a:avLst/>
          </a:prstGeom>
          <a:noFill/>
          <a:ln/>
        </p:spPr>
        <p:txBody>
          <a:bodyPr wrap="square" lIns="0" tIns="0" rIns="0" bIns="0" rtlCol="0" anchor="ctr"/>
          <a:lstStyle/>
          <a:p>
            <a:pPr algn="l" indent="0" marL="0">
              <a:buNone/>
            </a:pPr>
            <a:r>
              <a:rPr lang="en-US" sz="900" b="1" dirty="0">
                <a:solidFill>
                  <a:srgbClr val="2E7D4F"/>
                </a:solidFill>
                <a:latin typeface="Calibri" pitchFamily="34" charset="0"/>
                <a:ea typeface="Calibri" pitchFamily="34" charset="-122"/>
                <a:cs typeface="Calibri" pitchFamily="34" charset="-120"/>
              </a:rPr>
              <a:t>= D</a:t>
            </a:r>
            <a:endParaRPr lang="en-US" sz="900" dirty="0"/>
          </a:p>
        </p:txBody>
      </p:sp>
      <p:sp>
        <p:nvSpPr>
          <p:cNvPr id="15" name="Shape 12"/>
          <p:cNvSpPr/>
          <p:nvPr/>
        </p:nvSpPr>
        <p:spPr>
          <a:xfrm>
            <a:off x="4006653" y="1444752"/>
            <a:ext cx="4175646" cy="566928"/>
          </a:xfrm>
          <a:prstGeom prst="roundRect">
            <a:avLst>
              <a:gd name="adj" fmla="val 50000"/>
            </a:avLst>
          </a:prstGeom>
          <a:solidFill>
            <a:srgbClr val="F1ECF7"/>
          </a:solidFill>
          <a:ln w="12700">
            <a:solidFill>
              <a:srgbClr val="FFFFFF">
                <a:alpha val="0"/>
              </a:srgbClr>
            </a:solidFill>
            <a:prstDash val="solid"/>
          </a:ln>
        </p:spPr>
      </p:sp>
      <p:sp>
        <p:nvSpPr>
          <p:cNvPr id="16" name="Text 13"/>
          <p:cNvSpPr txBox="1"/>
          <p:nvPr/>
        </p:nvSpPr>
        <p:spPr>
          <a:xfrm>
            <a:off x="4006653" y="1444752"/>
            <a:ext cx="4175646" cy="566928"/>
          </a:xfrm>
          <a:prstGeom prst="rect">
            <a:avLst/>
          </a:prstGeom>
          <a:noFill/>
          <a:ln/>
        </p:spPr>
        <p:txBody>
          <a:bodyPr wrap="square" lIns="0" tIns="0" rIns="0" bIns="0" rtlCol="0" anchor="ctr"/>
          <a:lstStyle/>
          <a:p>
            <a:pPr algn="ctr" indent="0" marL="0">
              <a:buNone/>
            </a:pPr>
            <a:r>
              <a:rPr lang="en-US" sz="2100" b="1" i="1" dirty="0">
                <a:solidFill>
                  <a:srgbClr val="17375E"/>
                </a:solidFill>
                <a:latin typeface="Calibri" pitchFamily="34" charset="0"/>
                <a:ea typeface="Calibri" pitchFamily="34" charset="-122"/>
                <a:cs typeface="Calibri" pitchFamily="34" charset="-120"/>
              </a:rPr>
              <a:t>een </a:t>
            </a:r>
            <a:r>
              <a:rPr lang="en-US" sz="2100" b="1" i="1" dirty="0">
                <a:solidFill>
                  <a:srgbClr val="D9700F"/>
                </a:solidFill>
                <a:latin typeface="Calibri" pitchFamily="34" charset="0"/>
                <a:ea typeface="Calibri" pitchFamily="34" charset="-122"/>
                <a:cs typeface="Calibri" pitchFamily="34" charset="-120"/>
              </a:rPr>
              <a:t>snelle</a:t>
            </a:r>
            <a:r>
              <a:rPr lang="en-US" sz="2100" b="1" i="1" dirty="0">
                <a:solidFill>
                  <a:srgbClr val="17375E"/>
                </a:solidFill>
                <a:latin typeface="Calibri" pitchFamily="34" charset="0"/>
                <a:ea typeface="Calibri" pitchFamily="34" charset="-122"/>
                <a:cs typeface="Calibri" pitchFamily="34" charset="-120"/>
              </a:rPr>
              <a:t> auto</a:t>
            </a:r>
            <a:r>
              <a:rPr lang="en-US" sz="2100" b="1" dirty="0">
                <a:solidFill>
                  <a:srgbClr val="17375E"/>
                </a:solidFill>
                <a:latin typeface="Calibri" pitchFamily="34" charset="0"/>
                <a:ea typeface="Calibri" pitchFamily="34" charset="-122"/>
                <a:cs typeface="Calibri" pitchFamily="34" charset="-120"/>
              </a:rPr>
              <a:t> = </a:t>
            </a:r>
            <a:r>
              <a:rPr lang="en-US" sz="2100" b="1" i="1" dirty="0">
                <a:solidFill>
                  <a:srgbClr val="17375E"/>
                </a:solidFill>
                <a:latin typeface="Calibri" pitchFamily="34" charset="0"/>
                <a:ea typeface="Calibri" pitchFamily="34" charset="-122"/>
                <a:cs typeface="Calibri" pitchFamily="34" charset="-120"/>
              </a:rPr>
              <a:t>Hij rijdt </a:t>
            </a:r>
            <a:r>
              <a:rPr lang="en-US" sz="2100" b="1" i="1" dirty="0">
                <a:solidFill>
                  <a:srgbClr val="2E7D4F"/>
                </a:solidFill>
                <a:latin typeface="Calibri" pitchFamily="34" charset="0"/>
                <a:ea typeface="Calibri" pitchFamily="34" charset="-122"/>
                <a:cs typeface="Calibri" pitchFamily="34" charset="-120"/>
              </a:rPr>
              <a:t>snel</a:t>
            </a:r>
            <a:r>
              <a:rPr lang="en-US" sz="2100" b="1" i="1" dirty="0">
                <a:solidFill>
                  <a:srgbClr val="17375E"/>
                </a:solidFill>
                <a:latin typeface="Calibri" pitchFamily="34" charset="0"/>
                <a:ea typeface="Calibri" pitchFamily="34" charset="-122"/>
                <a:cs typeface="Calibri" pitchFamily="34" charset="-120"/>
              </a:rPr>
              <a:t>.</a:t>
            </a:r>
            <a:endParaRPr lang="en-US" sz="2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436876" y="2240280"/>
          <a:ext cx="7315200" cy="914400"/>
        </p:xfrm>
        <a:graphic>
          <a:graphicData uri="http://schemas.openxmlformats.org/drawingml/2006/table">
            <a:tbl>
              <a:tblPr/>
              <a:tblGrid>
                <a:gridCol w="2438400"/>
                <a:gridCol w="2438400"/>
                <a:gridCol w="2438400"/>
              </a:tblGrid>
              <a:tr h="420624">
                <a:tc>
                  <a:txBody>
                    <a:bodyPr/>
                    <a:lstStyle/>
                    <a:p>
                      <a:pPr algn="ctr" indent="0" marL="0">
                        <a:buNone/>
                      </a:pPr>
                      <a:r>
                        <a:rPr lang="en-US" sz="1150" b="1" spc="200" kern="0" dirty="0">
                          <a:solidFill>
                            <a:srgbClr val="2E7D4F"/>
                          </a:solidFill>
                          <a:latin typeface="Calibri" pitchFamily="34" charset="0"/>
                          <a:ea typeface="Calibri" pitchFamily="34" charset="-122"/>
                          <a:cs typeface="Calibri" pitchFamily="34" charset="-120"/>
                        </a:rPr>
                        <a:t>NÉERLANDAIS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 FR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ADVERBE FR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E7D4F"/>
                          </a:solidFill>
                          <a:latin typeface="Calibri" pitchFamily="34" charset="0"/>
                          <a:ea typeface="Calibri" pitchFamily="34" charset="-122"/>
                          <a:cs typeface="Calibri" pitchFamily="34" charset="-120"/>
                        </a:rPr>
                        <a:t>duidelijk</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700F"/>
                          </a:solidFill>
                          <a:latin typeface="Calibri" pitchFamily="34" charset="0"/>
                          <a:ea typeface="Calibri" pitchFamily="34" charset="-122"/>
                          <a:cs typeface="Calibri" pitchFamily="34" charset="-120"/>
                        </a:rPr>
                        <a:t>clair</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clair</a:t>
                      </a:r>
                      <a:r>
                        <a:rPr lang="en-US" sz="1600" b="1" dirty="0">
                          <a:solidFill>
                            <a:srgbClr val="6E4A9E"/>
                          </a:solidFill>
                          <a:latin typeface="Calibri" pitchFamily="34" charset="0"/>
                          <a:ea typeface="Calibri" pitchFamily="34" charset="-122"/>
                          <a:cs typeface="Calibri" pitchFamily="34" charset="-120"/>
                        </a:rPr>
                        <a:t>ement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E7D4F"/>
                          </a:solidFill>
                          <a:latin typeface="Calibri" pitchFamily="34" charset="0"/>
                          <a:ea typeface="Calibri" pitchFamily="34" charset="-122"/>
                          <a:cs typeface="Calibri" pitchFamily="34" charset="-120"/>
                        </a:rPr>
                        <a:t>voorzichtig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700F"/>
                          </a:solidFill>
                          <a:latin typeface="Calibri" pitchFamily="34" charset="0"/>
                          <a:ea typeface="Calibri" pitchFamily="34" charset="-122"/>
                          <a:cs typeface="Calibri" pitchFamily="34" charset="-120"/>
                        </a:rPr>
                        <a:t>prudent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prud</a:t>
                      </a:r>
                      <a:r>
                        <a:rPr lang="en-US" sz="1600" b="1" dirty="0">
                          <a:solidFill>
                            <a:srgbClr val="6E4A9E"/>
                          </a:solidFill>
                          <a:latin typeface="Calibri" pitchFamily="34" charset="0"/>
                          <a:ea typeface="Calibri" pitchFamily="34" charset="-122"/>
                          <a:cs typeface="Calibri" pitchFamily="34" charset="-120"/>
                        </a:rPr>
                        <a:t>emment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E7D4F"/>
                          </a:solidFill>
                          <a:latin typeface="Calibri" pitchFamily="34" charset="0"/>
                          <a:ea typeface="Calibri" pitchFamily="34" charset="-122"/>
                          <a:cs typeface="Calibri" pitchFamily="34" charset="-120"/>
                        </a:rPr>
                        <a:t>langzaam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700F"/>
                          </a:solidFill>
                          <a:latin typeface="Calibri" pitchFamily="34" charset="0"/>
                          <a:ea typeface="Calibri" pitchFamily="34" charset="-122"/>
                          <a:cs typeface="Calibri" pitchFamily="34" charset="-120"/>
                        </a:rPr>
                        <a:t>lent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lent</a:t>
                      </a:r>
                      <a:r>
                        <a:rPr lang="en-US" sz="1600" b="1" dirty="0">
                          <a:solidFill>
                            <a:srgbClr val="6E4A9E"/>
                          </a:solidFill>
                          <a:latin typeface="Calibri" pitchFamily="34" charset="0"/>
                          <a:ea typeface="Calibri" pitchFamily="34" charset="-122"/>
                          <a:cs typeface="Calibri" pitchFamily="34" charset="-120"/>
                        </a:rPr>
                        <a:t>ement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E7D4F"/>
                          </a:solidFill>
                          <a:latin typeface="Calibri" pitchFamily="34" charset="0"/>
                          <a:ea typeface="Calibri" pitchFamily="34" charset="-122"/>
                          <a:cs typeface="Calibri" pitchFamily="34" charset="-120"/>
                        </a:rPr>
                        <a:t>echt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700F"/>
                          </a:solidFill>
                          <a:latin typeface="Calibri" pitchFamily="34" charset="0"/>
                          <a:ea typeface="Calibri" pitchFamily="34" charset="-122"/>
                          <a:cs typeface="Calibri" pitchFamily="34" charset="-120"/>
                        </a:rPr>
                        <a:t>vrai</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vrai</a:t>
                      </a:r>
                      <a:r>
                        <a:rPr lang="en-US" sz="1600" b="1" dirty="0">
                          <a:solidFill>
                            <a:srgbClr val="6E4A9E"/>
                          </a:solidFill>
                          <a:latin typeface="Calibri" pitchFamily="34" charset="0"/>
                          <a:ea typeface="Calibri" pitchFamily="34" charset="-122"/>
                          <a:cs typeface="Calibri" pitchFamily="34" charset="-120"/>
                        </a:rPr>
                        <a:t>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0624">
                <a:tc>
                  <a:txBody>
                    <a:bodyPr/>
                    <a:lstStyle/>
                    <a:p>
                      <a:pPr algn="ctr" indent="0" marL="0">
                        <a:buNone/>
                      </a:pPr>
                      <a:r>
                        <a:rPr lang="en-US" sz="1600" b="1" i="1" dirty="0">
                          <a:solidFill>
                            <a:srgbClr val="2E7D4F"/>
                          </a:solidFill>
                          <a:latin typeface="Calibri" pitchFamily="34" charset="0"/>
                          <a:ea typeface="Calibri" pitchFamily="34" charset="-122"/>
                          <a:cs typeface="Calibri" pitchFamily="34" charset="-120"/>
                        </a:rPr>
                        <a:t>goed</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dirty="0">
                          <a:solidFill>
                            <a:srgbClr val="D9700F"/>
                          </a:solidFill>
                          <a:latin typeface="Calibri" pitchFamily="34" charset="0"/>
                          <a:ea typeface="Calibri" pitchFamily="34" charset="-122"/>
                          <a:cs typeface="Calibri" pitchFamily="34" charset="-120"/>
                        </a:rPr>
                        <a:t>bon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bien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4"/>
          <p:cNvSpPr/>
          <p:nvPr/>
        </p:nvSpPr>
        <p:spPr>
          <a:xfrm>
            <a:off x="822960" y="4983480"/>
            <a:ext cx="5138928" cy="868680"/>
          </a:xfrm>
          <a:prstGeom prst="roundRect">
            <a:avLst>
              <a:gd name="adj" fmla="val 10526"/>
            </a:avLst>
          </a:prstGeom>
          <a:solidFill>
            <a:srgbClr val="FBEDEB"/>
          </a:solidFill>
          <a:ln w="12700">
            <a:solidFill>
              <a:srgbClr val="FFFFFF">
                <a:alpha val="0"/>
              </a:srgbClr>
            </a:solidFill>
            <a:prstDash val="solid"/>
          </a:ln>
        </p:spPr>
      </p:sp>
      <p:sp>
        <p:nvSpPr>
          <p:cNvPr id="19" name="Shape 15"/>
          <p:cNvSpPr/>
          <p:nvPr/>
        </p:nvSpPr>
        <p:spPr>
          <a:xfrm>
            <a:off x="996696" y="5157216"/>
            <a:ext cx="310896" cy="310896"/>
          </a:xfrm>
          <a:prstGeom prst="ellipse">
            <a:avLst/>
          </a:prstGeom>
          <a:solidFill>
            <a:srgbClr val="B83227"/>
          </a:solidFill>
          <a:ln w="12700">
            <a:solidFill>
              <a:srgbClr val="FFFFFF">
                <a:alpha val="0"/>
              </a:srgbClr>
            </a:solidFill>
            <a:prstDash val="solid"/>
          </a:ln>
        </p:spPr>
      </p:sp>
      <p:sp>
        <p:nvSpPr>
          <p:cNvPr id="20" name="Text 16"/>
          <p:cNvSpPr txBox="1"/>
          <p:nvPr/>
        </p:nvSpPr>
        <p:spPr>
          <a:xfrm>
            <a:off x="996696"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7"/>
          <p:cNvSpPr txBox="1"/>
          <p:nvPr/>
        </p:nvSpPr>
        <p:spPr>
          <a:xfrm>
            <a:off x="1444752" y="5093208"/>
            <a:ext cx="4361688"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Pas de -lijk, pas de -e</a:t>
            </a:r>
            <a:endParaRPr lang="en-US" sz="1300" dirty="0"/>
          </a:p>
        </p:txBody>
      </p:sp>
      <p:sp>
        <p:nvSpPr>
          <p:cNvPr id="22" name="Text 18"/>
          <p:cNvSpPr txBox="1"/>
          <p:nvPr/>
        </p:nvSpPr>
        <p:spPr>
          <a:xfrm>
            <a:off x="1444752" y="5385816"/>
            <a:ext cx="4361688" cy="393192"/>
          </a:xfrm>
          <a:prstGeom prst="rect">
            <a:avLst/>
          </a:prstGeom>
          <a:noFill/>
          <a:ln/>
        </p:spPr>
        <p:txBody>
          <a:bodyPr wrap="square" lIns="0" tIns="0" rIns="0" bIns="0" rtlCol="0" anchor="t"/>
          <a:lstStyle/>
          <a:p>
            <a:pPr algn="l" indent="0" marL="0">
              <a:spcAft>
                <a:spcPts val="200"/>
              </a:spcAft>
              <a:buNone/>
            </a:pPr>
            <a:r>
              <a:rPr lang="en-US" sz="1400" i="1" strike="sngStrike" dirty="0">
                <a:solidFill>
                  <a:srgbClr val="B5473C"/>
                </a:solidFill>
                <a:latin typeface="Calibri" pitchFamily="34" charset="0"/>
                <a:ea typeface="Calibri" pitchFamily="34" charset="-122"/>
                <a:cs typeface="Calibri" pitchFamily="34" charset="-120"/>
              </a:rPr>
              <a:t>Hij werkt snellijk.</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Hij werkt </a:t>
            </a:r>
            <a:r>
              <a:rPr lang="en-US" sz="1400" b="1" i="1" dirty="0">
                <a:solidFill>
                  <a:srgbClr val="2E7D4F"/>
                </a:solidFill>
                <a:latin typeface="Calibri" pitchFamily="34" charset="0"/>
                <a:ea typeface="Calibri" pitchFamily="34" charset="-122"/>
                <a:cs typeface="Calibri" pitchFamily="34" charset="-120"/>
              </a:rPr>
              <a:t>snel</a:t>
            </a:r>
            <a:r>
              <a:rPr lang="en-US" sz="1400" i="1" dirty="0">
                <a:solidFill>
                  <a:srgbClr val="1B2333"/>
                </a:solidFill>
                <a:latin typeface="Calibri" pitchFamily="34" charset="0"/>
                <a:ea typeface="Calibri" pitchFamily="34" charset="-122"/>
                <a:cs typeface="Calibri" pitchFamily="34" charset="-120"/>
              </a:rPr>
              <a:t>.</a:t>
            </a:r>
            <a:endParaRPr lang="en-US" sz="1400" dirty="0"/>
          </a:p>
        </p:txBody>
      </p:sp>
      <p:sp>
        <p:nvSpPr>
          <p:cNvPr id="23" name="Shape 19"/>
          <p:cNvSpPr/>
          <p:nvPr/>
        </p:nvSpPr>
        <p:spPr>
          <a:xfrm>
            <a:off x="6236208" y="4983480"/>
            <a:ext cx="5138928" cy="868680"/>
          </a:xfrm>
          <a:prstGeom prst="roundRect">
            <a:avLst>
              <a:gd name="adj" fmla="val 10526"/>
            </a:avLst>
          </a:prstGeom>
          <a:solidFill>
            <a:srgbClr val="F1ECF7"/>
          </a:solidFill>
          <a:ln w="12700">
            <a:solidFill>
              <a:srgbClr val="FFFFFF">
                <a:alpha val="0"/>
              </a:srgbClr>
            </a:solidFill>
            <a:prstDash val="solid"/>
          </a:ln>
        </p:spPr>
      </p:sp>
      <p:sp>
        <p:nvSpPr>
          <p:cNvPr id="24" name="Shape 20"/>
          <p:cNvSpPr/>
          <p:nvPr/>
        </p:nvSpPr>
        <p:spPr>
          <a:xfrm>
            <a:off x="6409944" y="5157216"/>
            <a:ext cx="310896" cy="310896"/>
          </a:xfrm>
          <a:prstGeom prst="ellipse">
            <a:avLst/>
          </a:prstGeom>
          <a:solidFill>
            <a:srgbClr val="6E4A9E"/>
          </a:solidFill>
          <a:ln w="12700">
            <a:solidFill>
              <a:srgbClr val="FFFFFF">
                <a:alpha val="0"/>
              </a:srgbClr>
            </a:solidFill>
            <a:prstDash val="solid"/>
          </a:ln>
        </p:spPr>
      </p:sp>
      <p:sp>
        <p:nvSpPr>
          <p:cNvPr id="25" name="Text 21"/>
          <p:cNvSpPr txBox="1"/>
          <p:nvPr/>
        </p:nvSpPr>
        <p:spPr>
          <a:xfrm>
            <a:off x="6409944"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2"/>
          <p:cNvSpPr txBox="1"/>
          <p:nvPr/>
        </p:nvSpPr>
        <p:spPr>
          <a:xfrm>
            <a:off x="6858000" y="5093208"/>
            <a:ext cx="4361688" cy="292608"/>
          </a:xfrm>
          <a:prstGeom prst="rect">
            <a:avLst/>
          </a:prstGeom>
          <a:noFill/>
          <a:ln/>
        </p:spPr>
        <p:txBody>
          <a:bodyPr wrap="square" lIns="0" tIns="0" rIns="0" bIns="0" rtlCol="0" anchor="ctr"/>
          <a:lstStyle/>
          <a:p>
            <a:pPr algn="l" indent="0" marL="0">
              <a:buNone/>
            </a:pPr>
            <a:r>
              <a:rPr lang="en-US" sz="1300" b="1" dirty="0">
                <a:solidFill>
                  <a:srgbClr val="6E4A9E"/>
                </a:solidFill>
                <a:latin typeface="Calibri" pitchFamily="34" charset="0"/>
                <a:ea typeface="Calibri" pitchFamily="34" charset="-122"/>
                <a:cs typeface="Calibri" pitchFamily="34" charset="-120"/>
              </a:rPr>
              <a:t>Adverbes sans adjectif</a:t>
            </a:r>
            <a:endParaRPr lang="en-US" sz="1300" dirty="0"/>
          </a:p>
        </p:txBody>
      </p:sp>
      <p:sp>
        <p:nvSpPr>
          <p:cNvPr id="27" name="Text 23"/>
          <p:cNvSpPr txBox="1"/>
          <p:nvPr/>
        </p:nvSpPr>
        <p:spPr>
          <a:xfrm>
            <a:off x="6858000" y="5385816"/>
            <a:ext cx="4361688"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helaas · misschien · graag</a:t>
            </a:r>
            <a:r>
              <a:rPr lang="en-US" sz="1400" dirty="0">
                <a:solidFill>
                  <a:srgbClr val="1B2333"/>
                </a:solidFill>
                <a:latin typeface="Calibri" pitchFamily="34" charset="0"/>
                <a:ea typeface="Calibri" pitchFamily="34" charset="-122"/>
                <a:cs typeface="Calibri" pitchFamily="34" charset="-120"/>
              </a:rPr>
              <a:t> · </a:t>
            </a:r>
            <a:r>
              <a:rPr lang="en-US" sz="1400" i="1" dirty="0">
                <a:solidFill>
                  <a:srgbClr val="1B2333"/>
                </a:solidFill>
                <a:latin typeface="Calibri" pitchFamily="34" charset="0"/>
                <a:ea typeface="Calibri" pitchFamily="34" charset="-122"/>
                <a:cs typeface="Calibri" pitchFamily="34" charset="-120"/>
              </a:rPr>
              <a:t>gelukkig</a:t>
            </a:r>
            <a:r>
              <a:rPr lang="en-US" sz="1400" dirty="0">
                <a:solidFill>
                  <a:srgbClr val="1B2333"/>
                </a:solidFill>
                <a:latin typeface="Calibri" pitchFamily="34" charset="0"/>
                <a:ea typeface="Calibri" pitchFamily="34" charset="-122"/>
                <a:cs typeface="Calibri" pitchFamily="34" charset="-120"/>
              </a:rPr>
              <a:t> = heureusement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préfixes changent le sens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LES PRÉFIXES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1463040"/>
                <a:gridCol w="2377440"/>
                <a:gridCol w="6702552"/>
              </a:tblGrid>
              <a:tr h="585216">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PRÉFIXE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SENS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EXEMPLES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on-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le contraire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D9700F"/>
                          </a:solidFill>
                          <a:latin typeface="Calibri" pitchFamily="34" charset="0"/>
                          <a:ea typeface="Calibri" pitchFamily="34" charset="-122"/>
                          <a:cs typeface="Calibri" pitchFamily="34" charset="-120"/>
                        </a:rPr>
                        <a:t>mogelijk → </a:t>
                      </a:r>
                      <a:r>
                        <a:rPr lang="en-US" sz="1700" b="1" i="1" dirty="0">
                          <a:solidFill>
                            <a:srgbClr val="6E4A9E"/>
                          </a:solidFill>
                          <a:latin typeface="Calibri" pitchFamily="34" charset="0"/>
                          <a:ea typeface="Calibri" pitchFamily="34" charset="-122"/>
                          <a:cs typeface="Calibri" pitchFamily="34" charset="-120"/>
                        </a:rPr>
                        <a:t>on</a:t>
                      </a:r>
                      <a:r>
                        <a:rPr lang="en-US" sz="1700" b="1" i="1" dirty="0">
                          <a:solidFill>
                            <a:srgbClr val="D9700F"/>
                          </a:solidFill>
                          <a:latin typeface="Calibri" pitchFamily="34" charset="0"/>
                          <a:ea typeface="Calibri" pitchFamily="34" charset="-122"/>
                          <a:cs typeface="Calibri" pitchFamily="34" charset="-120"/>
                        </a:rPr>
                        <a:t>mogelijk · bekend → </a:t>
                      </a:r>
                      <a:r>
                        <a:rPr lang="en-US" sz="1700" b="1" i="1" dirty="0">
                          <a:solidFill>
                            <a:srgbClr val="6E4A9E"/>
                          </a:solidFill>
                          <a:latin typeface="Calibri" pitchFamily="34" charset="0"/>
                          <a:ea typeface="Calibri" pitchFamily="34" charset="-122"/>
                          <a:cs typeface="Calibri" pitchFamily="34" charset="-120"/>
                        </a:rPr>
                        <a:t>on</a:t>
                      </a:r>
                      <a:r>
                        <a:rPr lang="en-US" sz="1700" b="1" i="1" dirty="0">
                          <a:solidFill>
                            <a:srgbClr val="D9700F"/>
                          </a:solidFill>
                          <a:latin typeface="Calibri" pitchFamily="34" charset="0"/>
                          <a:ea typeface="Calibri" pitchFamily="34" charset="-122"/>
                          <a:cs typeface="Calibri" pitchFamily="34" charset="-120"/>
                        </a:rPr>
                        <a:t>bekend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her-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à nouveau (re-)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B83227"/>
                          </a:solidFill>
                          <a:latin typeface="Calibri" pitchFamily="34" charset="0"/>
                          <a:ea typeface="Calibri" pitchFamily="34" charset="-122"/>
                          <a:cs typeface="Calibri" pitchFamily="34" charset="-120"/>
                        </a:rPr>
                        <a:t>openen → </a:t>
                      </a:r>
                      <a:r>
                        <a:rPr lang="en-US" sz="1700" b="1" i="1" dirty="0">
                          <a:solidFill>
                            <a:srgbClr val="6E4A9E"/>
                          </a:solidFill>
                          <a:latin typeface="Calibri" pitchFamily="34" charset="0"/>
                          <a:ea typeface="Calibri" pitchFamily="34" charset="-122"/>
                          <a:cs typeface="Calibri" pitchFamily="34" charset="-120"/>
                        </a:rPr>
                        <a:t>her</a:t>
                      </a:r>
                      <a:r>
                        <a:rPr lang="en-US" sz="1700" b="1" i="1" dirty="0">
                          <a:solidFill>
                            <a:srgbClr val="B83227"/>
                          </a:solidFill>
                          <a:latin typeface="Calibri" pitchFamily="34" charset="0"/>
                          <a:ea typeface="Calibri" pitchFamily="34" charset="-122"/>
                          <a:cs typeface="Calibri" pitchFamily="34" charset="-120"/>
                        </a:rPr>
                        <a:t>openen · gebruiken → </a:t>
                      </a:r>
                      <a:r>
                        <a:rPr lang="en-US" sz="1700" b="1" i="1" dirty="0">
                          <a:solidFill>
                            <a:srgbClr val="6E4A9E"/>
                          </a:solidFill>
                          <a:latin typeface="Calibri" pitchFamily="34" charset="0"/>
                          <a:ea typeface="Calibri" pitchFamily="34" charset="-122"/>
                          <a:cs typeface="Calibri" pitchFamily="34" charset="-120"/>
                        </a:rPr>
                        <a:t>her</a:t>
                      </a:r>
                      <a:r>
                        <a:rPr lang="en-US" sz="1700" b="1" i="1" dirty="0">
                          <a:solidFill>
                            <a:srgbClr val="B83227"/>
                          </a:solidFill>
                          <a:latin typeface="Calibri" pitchFamily="34" charset="0"/>
                          <a:ea typeface="Calibri" pitchFamily="34" charset="-122"/>
                          <a:cs typeface="Calibri" pitchFamily="34" charset="-120"/>
                        </a:rPr>
                        <a:t>gebruiken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mis-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mal, de travers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B83227"/>
                          </a:solidFill>
                          <a:latin typeface="Calibri" pitchFamily="34" charset="0"/>
                          <a:ea typeface="Calibri" pitchFamily="34" charset="-122"/>
                          <a:cs typeface="Calibri" pitchFamily="34" charset="-120"/>
                        </a:rPr>
                        <a:t>lukken → </a:t>
                      </a:r>
                      <a:r>
                        <a:rPr lang="en-US" sz="1700" b="1" i="1" dirty="0">
                          <a:solidFill>
                            <a:srgbClr val="6E4A9E"/>
                          </a:solidFill>
                          <a:latin typeface="Calibri" pitchFamily="34" charset="0"/>
                          <a:ea typeface="Calibri" pitchFamily="34" charset="-122"/>
                          <a:cs typeface="Calibri" pitchFamily="34" charset="-120"/>
                        </a:rPr>
                        <a:t>mis</a:t>
                      </a:r>
                      <a:r>
                        <a:rPr lang="en-US" sz="1700" b="1" i="1" dirty="0">
                          <a:solidFill>
                            <a:srgbClr val="B83227"/>
                          </a:solidFill>
                          <a:latin typeface="Calibri" pitchFamily="34" charset="0"/>
                          <a:ea typeface="Calibri" pitchFamily="34" charset="-122"/>
                          <a:cs typeface="Calibri" pitchFamily="34" charset="-120"/>
                        </a:rPr>
                        <a:t>lukken · bruiken → </a:t>
                      </a:r>
                      <a:r>
                        <a:rPr lang="en-US" sz="1700" b="1" i="1" dirty="0">
                          <a:solidFill>
                            <a:srgbClr val="6E4A9E"/>
                          </a:solidFill>
                          <a:latin typeface="Calibri" pitchFamily="34" charset="0"/>
                          <a:ea typeface="Calibri" pitchFamily="34" charset="-122"/>
                          <a:cs typeface="Calibri" pitchFamily="34" charset="-120"/>
                        </a:rPr>
                        <a:t>mis</a:t>
                      </a:r>
                      <a:r>
                        <a:rPr lang="en-US" sz="1700" b="1" i="1" dirty="0">
                          <a:solidFill>
                            <a:srgbClr val="B83227"/>
                          </a:solidFill>
                          <a:latin typeface="Calibri" pitchFamily="34" charset="0"/>
                          <a:ea typeface="Calibri" pitchFamily="34" charset="-122"/>
                          <a:cs typeface="Calibri" pitchFamily="34" charset="-120"/>
                        </a:rPr>
                        <a:t>bruiken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85216">
                <a:tc>
                  <a:txBody>
                    <a:bodyPr/>
                    <a:lstStyle/>
                    <a:p>
                      <a:pPr algn="ctr" indent="0" marL="0">
                        <a:buNone/>
                      </a:pPr>
                      <a:r>
                        <a:rPr lang="en-US" sz="1700" b="1" dirty="0">
                          <a:solidFill>
                            <a:srgbClr val="6E4A9E"/>
                          </a:solidFill>
                          <a:latin typeface="Calibri" pitchFamily="34" charset="0"/>
                          <a:ea typeface="Calibri" pitchFamily="34" charset="-122"/>
                          <a:cs typeface="Calibri" pitchFamily="34" charset="-120"/>
                        </a:rPr>
                        <a:t>ont-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enlever, défaire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b="1" i="1" dirty="0">
                          <a:solidFill>
                            <a:srgbClr val="B83227"/>
                          </a:solidFill>
                          <a:latin typeface="Calibri" pitchFamily="34" charset="0"/>
                          <a:ea typeface="Calibri" pitchFamily="34" charset="-122"/>
                          <a:cs typeface="Calibri" pitchFamily="34" charset="-120"/>
                        </a:rPr>
                        <a:t>dekken → </a:t>
                      </a:r>
                      <a:r>
                        <a:rPr lang="en-US" sz="1700" b="1" i="1" dirty="0">
                          <a:solidFill>
                            <a:srgbClr val="6E4A9E"/>
                          </a:solidFill>
                          <a:latin typeface="Calibri" pitchFamily="34" charset="0"/>
                          <a:ea typeface="Calibri" pitchFamily="34" charset="-122"/>
                          <a:cs typeface="Calibri" pitchFamily="34" charset="-120"/>
                        </a:rPr>
                        <a:t>ont</a:t>
                      </a:r>
                      <a:r>
                        <a:rPr lang="en-US" sz="1700" b="1" i="1" dirty="0">
                          <a:solidFill>
                            <a:srgbClr val="B83227"/>
                          </a:solidFill>
                          <a:latin typeface="Calibri" pitchFamily="34" charset="0"/>
                          <a:ea typeface="Calibri" pitchFamily="34" charset="-122"/>
                          <a:cs typeface="Calibri" pitchFamily="34" charset="-120"/>
                        </a:rPr>
                        <a:t>dekken · dooien → </a:t>
                      </a:r>
                      <a:r>
                        <a:rPr lang="en-US" sz="1700" b="1" i="1" dirty="0">
                          <a:solidFill>
                            <a:srgbClr val="6E4A9E"/>
                          </a:solidFill>
                          <a:latin typeface="Calibri" pitchFamily="34" charset="0"/>
                          <a:ea typeface="Calibri" pitchFamily="34" charset="-122"/>
                          <a:cs typeface="Calibri" pitchFamily="34" charset="-120"/>
                        </a:rPr>
                        <a:t>ont</a:t>
                      </a:r>
                      <a:r>
                        <a:rPr lang="en-US" sz="1700" b="1" i="1" dirty="0">
                          <a:solidFill>
                            <a:srgbClr val="B83227"/>
                          </a:solidFill>
                          <a:latin typeface="Calibri" pitchFamily="34" charset="0"/>
                          <a:ea typeface="Calibri" pitchFamily="34" charset="-122"/>
                          <a:cs typeface="Calibri" pitchFamily="34" charset="-120"/>
                        </a:rPr>
                        <a:t>dooien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Shape 2"/>
          <p:cNvSpPr/>
          <p:nvPr/>
        </p:nvSpPr>
        <p:spPr>
          <a:xfrm>
            <a:off x="1888236" y="4754880"/>
            <a:ext cx="8412480" cy="914400"/>
          </a:xfrm>
          <a:prstGeom prst="roundRect">
            <a:avLst>
              <a:gd name="adj" fmla="val 10000"/>
            </a:avLst>
          </a:prstGeom>
          <a:solidFill>
            <a:srgbClr val="E8F4EC"/>
          </a:solidFill>
          <a:ln w="12700">
            <a:solidFill>
              <a:srgbClr val="FFFFFF">
                <a:alpha val="0"/>
              </a:srgbClr>
            </a:solidFill>
            <a:prstDash val="solid"/>
          </a:ln>
        </p:spPr>
      </p:sp>
      <p:sp>
        <p:nvSpPr>
          <p:cNvPr id="7" name="Shape 3"/>
          <p:cNvSpPr/>
          <p:nvPr/>
        </p:nvSpPr>
        <p:spPr>
          <a:xfrm>
            <a:off x="2061972" y="4928616"/>
            <a:ext cx="310896" cy="310896"/>
          </a:xfrm>
          <a:prstGeom prst="ellipse">
            <a:avLst/>
          </a:prstGeom>
          <a:solidFill>
            <a:srgbClr val="2E7D4F"/>
          </a:solidFill>
          <a:ln w="12700">
            <a:solidFill>
              <a:srgbClr val="FFFFFF">
                <a:alpha val="0"/>
              </a:srgbClr>
            </a:solidFill>
            <a:prstDash val="solid"/>
          </a:ln>
        </p:spPr>
      </p:sp>
      <p:sp>
        <p:nvSpPr>
          <p:cNvPr id="8" name="Text 4"/>
          <p:cNvSpPr txBox="1"/>
          <p:nvPr/>
        </p:nvSpPr>
        <p:spPr>
          <a:xfrm>
            <a:off x="2061972" y="4928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5"/>
          <p:cNvSpPr txBox="1"/>
          <p:nvPr/>
        </p:nvSpPr>
        <p:spPr>
          <a:xfrm>
            <a:off x="2510028" y="4864608"/>
            <a:ext cx="7635240" cy="292608"/>
          </a:xfrm>
          <a:prstGeom prst="rect">
            <a:avLst/>
          </a:prstGeom>
          <a:noFill/>
          <a:ln/>
        </p:spPr>
        <p:txBody>
          <a:bodyPr wrap="square" lIns="0" tIns="0" rIns="0" bIns="0" rtlCol="0" anchor="ctr"/>
          <a:lstStyle/>
          <a:p>
            <a:pPr algn="l" indent="0" marL="0">
              <a:buNone/>
            </a:pPr>
            <a:r>
              <a:rPr lang="en-US" sz="1300" b="1" dirty="0">
                <a:solidFill>
                  <a:srgbClr val="2E7D4F"/>
                </a:solidFill>
                <a:latin typeface="Calibri" pitchFamily="34" charset="0"/>
                <a:ea typeface="Calibri" pitchFamily="34" charset="-122"/>
                <a:cs typeface="Calibri" pitchFamily="34" charset="-120"/>
              </a:rPr>
              <a:t>La règle</a:t>
            </a:r>
            <a:endParaRPr lang="en-US" sz="1300" dirty="0"/>
          </a:p>
        </p:txBody>
      </p:sp>
      <p:sp>
        <p:nvSpPr>
          <p:cNvPr id="10" name="Text 6"/>
          <p:cNvSpPr txBox="1"/>
          <p:nvPr/>
        </p:nvSpPr>
        <p:spPr>
          <a:xfrm>
            <a:off x="2510028" y="5157216"/>
            <a:ext cx="7635240"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le préfixe change le </a:t>
            </a:r>
            <a:r>
              <a:rPr lang="en-US" sz="1400" b="1" dirty="0">
                <a:solidFill>
                  <a:srgbClr val="1B2333"/>
                </a:solidFill>
                <a:latin typeface="Calibri" pitchFamily="34" charset="0"/>
                <a:ea typeface="Calibri" pitchFamily="34" charset="-122"/>
                <a:cs typeface="Calibri" pitchFamily="34" charset="-120"/>
              </a:rPr>
              <a:t>sens</a:t>
            </a:r>
            <a:r>
              <a:rPr lang="en-US" sz="1400" dirty="0">
                <a:solidFill>
                  <a:srgbClr val="1B2333"/>
                </a:solidFill>
                <a:latin typeface="Calibri" pitchFamily="34" charset="0"/>
                <a:ea typeface="Calibri" pitchFamily="34" charset="-122"/>
                <a:cs typeface="Calibri" pitchFamily="34" charset="-120"/>
              </a:rPr>
              <a:t> et garde la </a:t>
            </a:r>
            <a:r>
              <a:rPr lang="en-US" sz="1400" b="1" dirty="0">
                <a:solidFill>
                  <a:srgbClr val="1B2333"/>
                </a:solidFill>
                <a:latin typeface="Calibri" pitchFamily="34" charset="0"/>
                <a:ea typeface="Calibri" pitchFamily="34" charset="-122"/>
                <a:cs typeface="Calibri" pitchFamily="34" charset="-120"/>
              </a:rPr>
              <a:t>catégorie</a:t>
            </a:r>
            <a:r>
              <a:rPr lang="en-US" sz="1400" dirty="0">
                <a:solidFill>
                  <a:srgbClr val="1B2333"/>
                </a:solidFill>
                <a:latin typeface="Calibri" pitchFamily="34" charset="0"/>
                <a:ea typeface="Calibri" pitchFamily="34" charset="-122"/>
                <a:cs typeface="Calibri" pitchFamily="34" charset="-120"/>
              </a:rPr>
              <a:t> (sauf </a:t>
            </a:r>
            <a:r>
              <a:rPr lang="en-US" sz="1400" i="1" dirty="0">
                <a:solidFill>
                  <a:srgbClr val="1B2333"/>
                </a:solidFill>
                <a:latin typeface="Calibri" pitchFamily="34" charset="0"/>
                <a:ea typeface="Calibri" pitchFamily="34" charset="-122"/>
                <a:cs typeface="Calibri" pitchFamily="34" charset="-120"/>
              </a:rPr>
              <a:t>be-</a:t>
            </a:r>
            <a:r>
              <a:rPr lang="en-US" sz="1400" dirty="0">
                <a:solidFill>
                  <a:srgbClr val="1B2333"/>
                </a:solidFill>
                <a:latin typeface="Calibri" pitchFamily="34" charset="0"/>
                <a:ea typeface="Calibri" pitchFamily="34" charset="-122"/>
                <a:cs typeface="Calibri" pitchFamily="34" charset="-120"/>
              </a:rPr>
              <a:t>, </a:t>
            </a:r>
            <a:r>
              <a:rPr lang="en-US" sz="1400" i="1" dirty="0">
                <a:solidFill>
                  <a:srgbClr val="1B2333"/>
                </a:solidFill>
                <a:latin typeface="Calibri" pitchFamily="34" charset="0"/>
                <a:ea typeface="Calibri" pitchFamily="34" charset="-122"/>
                <a:cs typeface="Calibri" pitchFamily="34" charset="-120"/>
              </a:rPr>
              <a:t>ver-</a:t>
            </a:r>
            <a:r>
              <a:rPr lang="en-US" sz="1400" dirty="0">
                <a:solidFill>
                  <a:srgbClr val="1B2333"/>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 boussole : le suffixe donne l’article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COMBINER</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1920240"/>
                <a:gridCol w="3337560"/>
                <a:gridCol w="2148840"/>
                <a:gridCol w="3136392"/>
              </a:tblGrid>
              <a:tr h="457200">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DE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c gridSpan="2">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HET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-ing</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vergadering</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D9700F"/>
                          </a:solidFill>
                          <a:latin typeface="Calibri" pitchFamily="34" charset="0"/>
                          <a:ea typeface="Calibri" pitchFamily="34" charset="-122"/>
                          <a:cs typeface="Calibri" pitchFamily="34" charset="-120"/>
                        </a:rPr>
                        <a:t>het</a:t>
                      </a:r>
                      <a:r>
                        <a:rPr lang="en-US" sz="1550" dirty="0">
                          <a:solidFill>
                            <a:srgbClr val="1B2333"/>
                          </a:solidFill>
                          <a:latin typeface="Calibri" pitchFamily="34" charset="0"/>
                          <a:ea typeface="Calibri" pitchFamily="34" charset="-122"/>
                          <a:cs typeface="Calibri" pitchFamily="34" charset="-120"/>
                        </a:rPr>
                        <a:t> + infinitif</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roken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-heid · -te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vrijheid · </a:t>
                      </a: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lengte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ge-</a:t>
                      </a:r>
                      <a:r>
                        <a:rPr lang="en-US" sz="1550" dirty="0">
                          <a:solidFill>
                            <a:srgbClr val="1B2333"/>
                          </a:solidFill>
                          <a:latin typeface="Calibri" pitchFamily="34" charset="0"/>
                          <a:ea typeface="Calibri" pitchFamily="34" charset="-122"/>
                          <a:cs typeface="Calibri" pitchFamily="34" charset="-120"/>
                        </a:rPr>
                        <a:t> + radical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gepraat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-iteit · -(a)tie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kwaliteit · </a:t>
                      </a: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informatie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-je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huisje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-er · -ster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leraar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-isme · -ment · -um</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toerisme · </a:t>
                      </a: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document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-ij · -erij</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bakkerij</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-sel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mengsel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-schap</a:t>
                      </a:r>
                      <a:r>
                        <a:rPr lang="en-US" sz="1550" dirty="0">
                          <a:solidFill>
                            <a:srgbClr val="1B2333"/>
                          </a:solidFill>
                          <a:latin typeface="Calibri" pitchFamily="34" charset="0"/>
                          <a:ea typeface="Calibri" pitchFamily="34" charset="-122"/>
                          <a:cs typeface="Calibri" pitchFamily="34" charset="-120"/>
                        </a:rPr>
                        <a:t> (relation)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b="1" i="1" dirty="0">
                          <a:solidFill>
                            <a:srgbClr val="17375E"/>
                          </a:solidFill>
                          <a:latin typeface="Calibri" pitchFamily="34" charset="0"/>
                          <a:ea typeface="Calibri" pitchFamily="34" charset="-122"/>
                          <a:cs typeface="Calibri" pitchFamily="34" charset="-120"/>
                        </a:rPr>
                        <a:t>de</a:t>
                      </a:r>
                      <a:r>
                        <a:rPr lang="en-US" sz="1550" i="1" dirty="0">
                          <a:solidFill>
                            <a:srgbClr val="1B2333"/>
                          </a:solidFill>
                          <a:latin typeface="Calibri" pitchFamily="34" charset="0"/>
                          <a:ea typeface="Calibri" pitchFamily="34" charset="-122"/>
                          <a:cs typeface="Calibri" pitchFamily="34" charset="-120"/>
                        </a:rPr>
                        <a:t> vriendschap</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-schap</a:t>
                      </a:r>
                      <a:r>
                        <a:rPr lang="en-US" sz="1550" dirty="0">
                          <a:solidFill>
                            <a:srgbClr val="1B2333"/>
                          </a:solidFill>
                          <a:latin typeface="Calibri" pitchFamily="34" charset="0"/>
                          <a:ea typeface="Calibri" pitchFamily="34" charset="-122"/>
                          <a:cs typeface="Calibri" pitchFamily="34" charset="-120"/>
                        </a:rPr>
                        <a:t> (statut)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b="1" i="1" dirty="0">
                          <a:solidFill>
                            <a:srgbClr val="D9700F"/>
                          </a:solidFill>
                          <a:latin typeface="Calibri" pitchFamily="34" charset="0"/>
                          <a:ea typeface="Calibri" pitchFamily="34" charset="-122"/>
                          <a:cs typeface="Calibri" pitchFamily="34" charset="-120"/>
                        </a:rPr>
                        <a:t>het</a:t>
                      </a:r>
                      <a:r>
                        <a:rPr lang="en-US" sz="1550" i="1" dirty="0">
                          <a:solidFill>
                            <a:srgbClr val="1B2333"/>
                          </a:solidFill>
                          <a:latin typeface="Calibri" pitchFamily="34" charset="0"/>
                          <a:ea typeface="Calibri" pitchFamily="34" charset="-122"/>
                          <a:cs typeface="Calibri" pitchFamily="34" charset="-120"/>
                        </a:rPr>
                        <a:t> lidmaatschap</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822960" y="507492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Le </a:t>
            </a:r>
            <a:r>
              <a:rPr lang="en-US" sz="1600" b="1" i="1" dirty="0">
                <a:solidFill>
                  <a:srgbClr val="17375E"/>
                </a:solidFill>
                <a:latin typeface="Calibri" pitchFamily="34" charset="0"/>
                <a:ea typeface="Calibri" pitchFamily="34" charset="-122"/>
                <a:cs typeface="Calibri" pitchFamily="34" charset="-120"/>
              </a:rPr>
              <a:t>dernier</a:t>
            </a:r>
            <a:r>
              <a:rPr lang="en-US" sz="1600" i="1" dirty="0">
                <a:solidFill>
                  <a:srgbClr val="17375E"/>
                </a:solidFill>
                <a:latin typeface="Calibri" pitchFamily="34" charset="0"/>
                <a:ea typeface="Calibri" pitchFamily="34" charset="-122"/>
                <a:cs typeface="Calibri" pitchFamily="34" charset="-120"/>
              </a:rPr>
              <a:t> élément commande : </a:t>
            </a:r>
            <a:r>
              <a:rPr lang="en-US" sz="1600" b="1" i="1" dirty="0">
                <a:solidFill>
                  <a:srgbClr val="6E4A9E"/>
                </a:solidFill>
                <a:latin typeface="Calibri" pitchFamily="34" charset="0"/>
                <a:ea typeface="Calibri" pitchFamily="34" charset="-122"/>
                <a:cs typeface="Calibri" pitchFamily="34" charset="-120"/>
              </a:rPr>
              <a:t>-ing, -heid, -te, -tie</a:t>
            </a:r>
            <a:r>
              <a:rPr lang="en-US" sz="1600" i="1" dirty="0">
                <a:solidFill>
                  <a:srgbClr val="17375E"/>
                </a:solidFill>
                <a:latin typeface="Calibri" pitchFamily="34" charset="0"/>
                <a:ea typeface="Calibri" pitchFamily="34" charset="-122"/>
                <a:cs typeface="Calibri" pitchFamily="34" charset="-120"/>
              </a:rPr>
              <a:t> sont </a:t>
            </a:r>
            <a:r>
              <a:rPr lang="en-US" sz="1600" b="1" i="1" dirty="0">
                <a:solidFill>
                  <a:srgbClr val="17375E"/>
                </a:solidFill>
                <a:latin typeface="Calibri" pitchFamily="34" charset="0"/>
                <a:ea typeface="Calibri" pitchFamily="34" charset="-122"/>
                <a:cs typeface="Calibri" pitchFamily="34" charset="-120"/>
              </a:rPr>
              <a:t>toujours </a:t>
            </a:r>
            <a:r>
              <a:rPr lang="en-US" sz="1600" b="1" i="1" dirty="0">
                <a:solidFill>
                  <a:srgbClr val="17375E"/>
                </a:solidFill>
                <a:latin typeface="Calibri" pitchFamily="34" charset="0"/>
                <a:ea typeface="Calibri" pitchFamily="34" charset="-122"/>
                <a:cs typeface="Calibri" pitchFamily="34" charset="-120"/>
              </a:rPr>
              <a:t>de</a:t>
            </a:r>
            <a:r>
              <a:rPr lang="en-US" sz="1600" i="1" dirty="0">
                <a:solidFill>
                  <a:srgbClr val="17375E"/>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L’orthographe suit les règles du M4</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RAPPEL M4</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3514344"/>
                <a:gridCol w="3514344"/>
                <a:gridCol w="3514344"/>
              </a:tblGrid>
              <a:tr h="512064">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① VOYELLE LONGUE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② VOYELLE COURTE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③ F / V · S / Z</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12064">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syllabe ouverte : une seule lettre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la consonne se double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333"/>
                          </a:solidFill>
                          <a:latin typeface="Calibri" pitchFamily="34" charset="0"/>
                          <a:ea typeface="Calibri" pitchFamily="34" charset="-122"/>
                          <a:cs typeface="Calibri" pitchFamily="34" charset="-120"/>
                        </a:rPr>
                        <a:t>entre deux voyelles : </a:t>
                      </a:r>
                      <a:r>
                        <a:rPr lang="en-US" sz="1600" i="1" dirty="0">
                          <a:solidFill>
                            <a:srgbClr val="1B2333"/>
                          </a:solidFill>
                          <a:latin typeface="Calibri" pitchFamily="34" charset="0"/>
                          <a:ea typeface="Calibri" pitchFamily="34" charset="-122"/>
                          <a:cs typeface="Calibri" pitchFamily="34" charset="-120"/>
                        </a:rPr>
                        <a:t>v, z</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groot</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B83227"/>
                          </a:solidFill>
                          <a:latin typeface="Calibri" pitchFamily="34" charset="0"/>
                          <a:ea typeface="Calibri" pitchFamily="34" charset="-122"/>
                          <a:cs typeface="Calibri" pitchFamily="34" charset="-120"/>
                        </a:rPr>
                        <a:t>ver</a:t>
                      </a:r>
                      <a:r>
                        <a:rPr lang="en-US" sz="1600" b="1" i="1" dirty="0">
                          <a:solidFill>
                            <a:srgbClr val="6E4A9E"/>
                          </a:solidFill>
                          <a:latin typeface="Calibri" pitchFamily="34" charset="0"/>
                          <a:ea typeface="Calibri" pitchFamily="34" charset="-122"/>
                          <a:cs typeface="Calibri" pitchFamily="34" charset="-120"/>
                        </a:rPr>
                        <a:t>gro</a:t>
                      </a:r>
                      <a:r>
                        <a:rPr lang="en-US" sz="1600" b="1" i="1" dirty="0">
                          <a:solidFill>
                            <a:srgbClr val="B83227"/>
                          </a:solidFill>
                          <a:latin typeface="Calibri" pitchFamily="34" charset="0"/>
                          <a:ea typeface="Calibri" pitchFamily="34" charset="-122"/>
                          <a:cs typeface="Calibri" pitchFamily="34" charset="-120"/>
                        </a:rPr>
                        <a:t>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zon</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zo</a:t>
                      </a:r>
                      <a:r>
                        <a:rPr lang="en-US" sz="1600" b="1" i="1" dirty="0">
                          <a:solidFill>
                            <a:srgbClr val="6E4A9E"/>
                          </a:solidFill>
                          <a:latin typeface="Calibri" pitchFamily="34" charset="0"/>
                          <a:ea typeface="Calibri" pitchFamily="34" charset="-122"/>
                          <a:cs typeface="Calibri" pitchFamily="34" charset="-120"/>
                        </a:rPr>
                        <a:t>nn</a:t>
                      </a:r>
                      <a:r>
                        <a:rPr lang="en-US" sz="1600" b="1" i="1" dirty="0">
                          <a:solidFill>
                            <a:srgbClr val="D9700F"/>
                          </a:solidFill>
                          <a:latin typeface="Calibri" pitchFamily="34" charset="0"/>
                          <a:ea typeface="Calibri" pitchFamily="34" charset="-122"/>
                          <a:cs typeface="Calibri" pitchFamily="34" charset="-120"/>
                        </a:rPr>
                        <a:t>ig</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glas</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D9700F"/>
                          </a:solidFill>
                          <a:latin typeface="Calibri" pitchFamily="34" charset="0"/>
                          <a:ea typeface="Calibri" pitchFamily="34" charset="-122"/>
                          <a:cs typeface="Calibri" pitchFamily="34" charset="-120"/>
                        </a:rPr>
                        <a:t>gla</a:t>
                      </a:r>
                      <a:r>
                        <a:rPr lang="en-US" sz="1600" b="1" i="1" dirty="0">
                          <a:solidFill>
                            <a:srgbClr val="6E4A9E"/>
                          </a:solidFill>
                          <a:latin typeface="Calibri" pitchFamily="34" charset="0"/>
                          <a:ea typeface="Calibri" pitchFamily="34" charset="-122"/>
                          <a:cs typeface="Calibri" pitchFamily="34" charset="-120"/>
                        </a:rPr>
                        <a:t>z</a:t>
                      </a:r>
                      <a:r>
                        <a:rPr lang="en-US" sz="1600" b="1" i="1" dirty="0">
                          <a:solidFill>
                            <a:srgbClr val="D9700F"/>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droog</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6E4A9E"/>
                          </a:solidFill>
                          <a:latin typeface="Calibri" pitchFamily="34" charset="0"/>
                          <a:ea typeface="Calibri" pitchFamily="34" charset="-122"/>
                          <a:cs typeface="Calibri" pitchFamily="34" charset="-120"/>
                        </a:rPr>
                        <a:t>dro</a:t>
                      </a:r>
                      <a:r>
                        <a:rPr lang="en-US" sz="1600" b="1" i="1" dirty="0">
                          <a:solidFill>
                            <a:srgbClr val="B83227"/>
                          </a:solidFill>
                          <a:latin typeface="Calibri" pitchFamily="34" charset="0"/>
                          <a:ea typeface="Calibri" pitchFamily="34" charset="-122"/>
                          <a:cs typeface="Calibri" pitchFamily="34" charset="-120"/>
                        </a:rPr>
                        <a:t>gen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D9700F"/>
                          </a:solidFill>
                          <a:latin typeface="Calibri" pitchFamily="34" charset="0"/>
                          <a:ea typeface="Calibri" pitchFamily="34" charset="-122"/>
                          <a:cs typeface="Calibri" pitchFamily="34" charset="-120"/>
                        </a:rPr>
                        <a:t>wit</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B83227"/>
                          </a:solidFill>
                          <a:latin typeface="Calibri" pitchFamily="34" charset="0"/>
                          <a:ea typeface="Calibri" pitchFamily="34" charset="-122"/>
                          <a:cs typeface="Calibri" pitchFamily="34" charset="-120"/>
                        </a:rPr>
                        <a:t>wi</a:t>
                      </a:r>
                      <a:r>
                        <a:rPr lang="en-US" sz="1600" b="1" i="1" dirty="0">
                          <a:solidFill>
                            <a:srgbClr val="6E4A9E"/>
                          </a:solidFill>
                          <a:latin typeface="Calibri" pitchFamily="34" charset="0"/>
                          <a:ea typeface="Calibri" pitchFamily="34" charset="-122"/>
                          <a:cs typeface="Calibri" pitchFamily="34" charset="-120"/>
                        </a:rPr>
                        <a:t>tt</a:t>
                      </a:r>
                      <a:r>
                        <a:rPr lang="en-US" sz="1600" b="1" i="1" dirty="0">
                          <a:solidFill>
                            <a:srgbClr val="B83227"/>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reis</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B83227"/>
                          </a:solidFill>
                          <a:latin typeface="Calibri" pitchFamily="34" charset="0"/>
                          <a:ea typeface="Calibri" pitchFamily="34" charset="-122"/>
                          <a:cs typeface="Calibri" pitchFamily="34" charset="-120"/>
                        </a:rPr>
                        <a:t>rei</a:t>
                      </a:r>
                      <a:r>
                        <a:rPr lang="en-US" sz="1600" b="1" i="1" dirty="0">
                          <a:solidFill>
                            <a:srgbClr val="6E4A9E"/>
                          </a:solidFill>
                          <a:latin typeface="Calibri" pitchFamily="34" charset="0"/>
                          <a:ea typeface="Calibri" pitchFamily="34" charset="-122"/>
                          <a:cs typeface="Calibri" pitchFamily="34" charset="-120"/>
                        </a:rPr>
                        <a:t>z</a:t>
                      </a:r>
                      <a:r>
                        <a:rPr lang="en-US" sz="1600" b="1" i="1" dirty="0">
                          <a:solidFill>
                            <a:srgbClr val="B83227"/>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de droom</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6E4A9E"/>
                          </a:solidFill>
                          <a:latin typeface="Calibri" pitchFamily="34" charset="0"/>
                          <a:ea typeface="Calibri" pitchFamily="34" charset="-122"/>
                          <a:cs typeface="Calibri" pitchFamily="34" charset="-120"/>
                        </a:rPr>
                        <a:t>dro</a:t>
                      </a:r>
                      <a:r>
                        <a:rPr lang="en-US" sz="1600" b="1" i="1" dirty="0">
                          <a:solidFill>
                            <a:srgbClr val="B83227"/>
                          </a:solidFill>
                          <a:latin typeface="Calibri" pitchFamily="34" charset="0"/>
                          <a:ea typeface="Calibri" pitchFamily="34" charset="-122"/>
                          <a:cs typeface="Calibri" pitchFamily="34" charset="-120"/>
                        </a:rPr>
                        <a:t>men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tennis</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B83227"/>
                          </a:solidFill>
                          <a:latin typeface="Calibri" pitchFamily="34" charset="0"/>
                          <a:ea typeface="Calibri" pitchFamily="34" charset="-122"/>
                          <a:cs typeface="Calibri" pitchFamily="34" charset="-120"/>
                        </a:rPr>
                        <a:t>tenni</a:t>
                      </a:r>
                      <a:r>
                        <a:rPr lang="en-US" sz="1600" b="1" i="1" dirty="0">
                          <a:solidFill>
                            <a:srgbClr val="6E4A9E"/>
                          </a:solidFill>
                          <a:latin typeface="Calibri" pitchFamily="34" charset="0"/>
                          <a:ea typeface="Calibri" pitchFamily="34" charset="-122"/>
                          <a:cs typeface="Calibri" pitchFamily="34" charset="-120"/>
                        </a:rPr>
                        <a:t>ss</a:t>
                      </a:r>
                      <a:r>
                        <a:rPr lang="en-US" sz="1600" b="1" i="1" dirty="0">
                          <a:solidFill>
                            <a:srgbClr val="B83227"/>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600" b="1" i="1" dirty="0">
                          <a:solidFill>
                            <a:srgbClr val="2A6FB0"/>
                          </a:solidFill>
                          <a:latin typeface="Calibri" pitchFamily="34" charset="0"/>
                          <a:ea typeface="Calibri" pitchFamily="34" charset="-122"/>
                          <a:cs typeface="Calibri" pitchFamily="34" charset="-120"/>
                        </a:rPr>
                        <a:t>het geloof</a:t>
                      </a:r>
                      <a:r>
                        <a:rPr lang="en-US" sz="1600" i="1" dirty="0">
                          <a:solidFill>
                            <a:srgbClr val="1B2333"/>
                          </a:solidFill>
                          <a:latin typeface="Calibri" pitchFamily="34" charset="0"/>
                          <a:ea typeface="Calibri" pitchFamily="34" charset="-122"/>
                          <a:cs typeface="Calibri" pitchFamily="34" charset="-120"/>
                        </a:rPr>
                        <a:t> → </a:t>
                      </a:r>
                      <a:r>
                        <a:rPr lang="en-US" sz="1600" b="1" i="1" dirty="0">
                          <a:solidFill>
                            <a:srgbClr val="B83227"/>
                          </a:solidFill>
                          <a:latin typeface="Calibri" pitchFamily="34" charset="0"/>
                          <a:ea typeface="Calibri" pitchFamily="34" charset="-122"/>
                          <a:cs typeface="Calibri" pitchFamily="34" charset="-120"/>
                        </a:rPr>
                        <a:t>gelo</a:t>
                      </a:r>
                      <a:r>
                        <a:rPr lang="en-US" sz="1600" b="1" i="1" dirty="0">
                          <a:solidFill>
                            <a:srgbClr val="6E4A9E"/>
                          </a:solidFill>
                          <a:latin typeface="Calibri" pitchFamily="34" charset="0"/>
                          <a:ea typeface="Calibri" pitchFamily="34" charset="-122"/>
                          <a:cs typeface="Calibri" pitchFamily="34" charset="-120"/>
                        </a:rPr>
                        <a:t>v</a:t>
                      </a:r>
                      <a:r>
                        <a:rPr lang="en-US" sz="1600" b="1" i="1" dirty="0">
                          <a:solidFill>
                            <a:srgbClr val="B83227"/>
                          </a:solidFill>
                          <a:latin typeface="Calibri" pitchFamily="34" charset="0"/>
                          <a:ea typeface="Calibri" pitchFamily="34" charset="-122"/>
                          <a:cs typeface="Calibri" pitchFamily="34" charset="-120"/>
                        </a:rPr>
                        <a:t>en</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822960" y="475488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Avant d’écrire le mot dérivé : </a:t>
            </a:r>
            <a:r>
              <a:rPr lang="en-US" sz="1600" b="1" i="1" dirty="0">
                <a:solidFill>
                  <a:srgbClr val="17375E"/>
                </a:solidFill>
                <a:latin typeface="Calibri" pitchFamily="34" charset="0"/>
                <a:ea typeface="Calibri" pitchFamily="34" charset="-122"/>
                <a:cs typeface="Calibri" pitchFamily="34" charset="-120"/>
              </a:rPr>
              <a:t>coupez en syllabes</a:t>
            </a:r>
            <a:r>
              <a:rPr lang="en-US" sz="1600" i="1" dirty="0">
                <a:solidFill>
                  <a:srgbClr val="17375E"/>
                </a:solidFill>
                <a:latin typeface="Calibri" pitchFamily="34" charset="0"/>
                <a:ea typeface="Calibri" pitchFamily="34" charset="-122"/>
                <a:cs typeface="Calibri" pitchFamily="34" charset="-120"/>
              </a:rPr>
              <a:t>, puis appliquez la règle.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 famille werk</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COMBINER</a:t>
            </a:r>
            <a:endParaRPr lang="en-US" sz="1100" dirty="0"/>
          </a:p>
        </p:txBody>
      </p:sp>
      <p:sp>
        <p:nvSpPr>
          <p:cNvPr id="5" name="Shape 2"/>
          <p:cNvSpPr/>
          <p:nvPr/>
        </p:nvSpPr>
        <p:spPr>
          <a:xfrm>
            <a:off x="3246120" y="3017520"/>
            <a:ext cx="1005840" cy="1005840"/>
          </a:xfrm>
          <a:prstGeom prst="ellipse">
            <a:avLst/>
          </a:prstGeom>
          <a:solidFill>
            <a:srgbClr val="17375E"/>
          </a:solidFill>
          <a:ln w="12700">
            <a:solidFill>
              <a:srgbClr val="FFFFFF">
                <a:alpha val="0"/>
              </a:srgbClr>
            </a:solidFill>
            <a:prstDash val="solid"/>
          </a:ln>
        </p:spPr>
      </p:sp>
      <p:sp>
        <p:nvSpPr>
          <p:cNvPr id="6" name="Text 3"/>
          <p:cNvSpPr txBox="1"/>
          <p:nvPr/>
        </p:nvSpPr>
        <p:spPr>
          <a:xfrm>
            <a:off x="3246120" y="3246120"/>
            <a:ext cx="10058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werk-</a:t>
            </a:r>
            <a:endParaRPr lang="en-US" sz="1900" dirty="0"/>
          </a:p>
        </p:txBody>
      </p:sp>
      <p:sp>
        <p:nvSpPr>
          <p:cNvPr id="7" name="Shape 4"/>
          <p:cNvSpPr/>
          <p:nvPr/>
        </p:nvSpPr>
        <p:spPr>
          <a:xfrm flipV="1">
            <a:off x="3749040" y="2194560"/>
            <a:ext cx="914" cy="777240"/>
          </a:xfrm>
          <a:prstGeom prst="line">
            <a:avLst/>
          </a:prstGeom>
          <a:noFill/>
          <a:ln w="15875">
            <a:solidFill>
              <a:srgbClr val="2A6FB0"/>
            </a:solidFill>
            <a:prstDash val="solid"/>
          </a:ln>
        </p:spPr>
      </p:sp>
      <p:sp>
        <p:nvSpPr>
          <p:cNvPr id="8" name="Text 5"/>
          <p:cNvSpPr txBox="1"/>
          <p:nvPr/>
        </p:nvSpPr>
        <p:spPr>
          <a:xfrm>
            <a:off x="2651760" y="1645920"/>
            <a:ext cx="2194560" cy="384048"/>
          </a:xfrm>
          <a:prstGeom prst="rect">
            <a:avLst/>
          </a:prstGeom>
          <a:noFill/>
          <a:ln/>
        </p:spPr>
        <p:txBody>
          <a:bodyPr wrap="square" lIns="0" tIns="0" rIns="0" bIns="0" rtlCol="0" anchor="ct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werk</a:t>
            </a:r>
            <a:endParaRPr lang="en-US" sz="1700" dirty="0"/>
          </a:p>
        </p:txBody>
      </p:sp>
      <p:sp>
        <p:nvSpPr>
          <p:cNvPr id="9" name="Text 6"/>
          <p:cNvSpPr txBox="1"/>
          <p:nvPr/>
        </p:nvSpPr>
        <p:spPr>
          <a:xfrm>
            <a:off x="2651760" y="2011680"/>
            <a:ext cx="2194560" cy="237744"/>
          </a:xfrm>
          <a:prstGeom prst="rect">
            <a:avLst/>
          </a:prstGeom>
          <a:noFill/>
          <a:ln/>
        </p:spPr>
        <p:txBody>
          <a:bodyPr wrap="square" lIns="0" tIns="0" rIns="0" bIns="0" rtlCol="0" anchor="ctr"/>
          <a:lstStyle/>
          <a:p>
            <a:pPr algn="ctr" indent="0" marL="0">
              <a:buNone/>
            </a:pPr>
            <a:r>
              <a:rPr lang="en-US" sz="1050" dirty="0">
                <a:solidFill>
                  <a:srgbClr val="2A6FB0"/>
                </a:solidFill>
                <a:latin typeface="Calibri" pitchFamily="34" charset="0"/>
                <a:ea typeface="Calibri" pitchFamily="34" charset="-122"/>
                <a:cs typeface="Calibri" pitchFamily="34" charset="-120"/>
              </a:rPr>
              <a:t>radical</a:t>
            </a:r>
            <a:endParaRPr lang="en-US" sz="1050" dirty="0"/>
          </a:p>
        </p:txBody>
      </p:sp>
      <p:sp>
        <p:nvSpPr>
          <p:cNvPr id="10" name="Shape 7"/>
          <p:cNvSpPr/>
          <p:nvPr/>
        </p:nvSpPr>
        <p:spPr>
          <a:xfrm flipV="1">
            <a:off x="4136987" y="2582901"/>
            <a:ext cx="808223" cy="549592"/>
          </a:xfrm>
          <a:prstGeom prst="line">
            <a:avLst/>
          </a:prstGeom>
          <a:noFill/>
          <a:ln w="15875">
            <a:solidFill>
              <a:srgbClr val="B83227"/>
            </a:solidFill>
            <a:prstDash val="solid"/>
          </a:ln>
        </p:spPr>
      </p:sp>
      <p:sp>
        <p:nvSpPr>
          <p:cNvPr id="11" name="Text 8"/>
          <p:cNvSpPr txBox="1"/>
          <p:nvPr/>
        </p:nvSpPr>
        <p:spPr>
          <a:xfrm>
            <a:off x="4429851" y="2114608"/>
            <a:ext cx="2194560" cy="384048"/>
          </a:xfrm>
          <a:prstGeom prst="rect">
            <a:avLst/>
          </a:prstGeom>
          <a:noFill/>
          <a:ln/>
        </p:spPr>
        <p:txBody>
          <a:bodyPr wrap="square" lIns="0" tIns="0" rIns="0" bIns="0" rtlCol="0" anchor="ctr"/>
          <a:lstStyle/>
          <a:p>
            <a:pPr algn="ctr" indent="0" marL="0">
              <a:buNone/>
            </a:pPr>
            <a:r>
              <a:rPr lang="en-US" sz="1700" b="1" i="1" dirty="0">
                <a:solidFill>
                  <a:srgbClr val="B83227"/>
                </a:solidFill>
                <a:latin typeface="Calibri" pitchFamily="34" charset="0"/>
                <a:ea typeface="Calibri" pitchFamily="34" charset="-122"/>
                <a:cs typeface="Calibri" pitchFamily="34" charset="-120"/>
              </a:rPr>
              <a:t>werk</a:t>
            </a:r>
            <a:r>
              <a:rPr lang="en-US" sz="1700" b="1" i="1" dirty="0">
                <a:solidFill>
                  <a:srgbClr val="6E4A9E"/>
                </a:solidFill>
                <a:latin typeface="Calibri" pitchFamily="34" charset="0"/>
                <a:ea typeface="Calibri" pitchFamily="34" charset="-122"/>
                <a:cs typeface="Calibri" pitchFamily="34" charset="-120"/>
              </a:rPr>
              <a:t>en</a:t>
            </a:r>
            <a:endParaRPr lang="en-US" sz="1700" dirty="0"/>
          </a:p>
        </p:txBody>
      </p:sp>
      <p:sp>
        <p:nvSpPr>
          <p:cNvPr id="12" name="Text 9"/>
          <p:cNvSpPr txBox="1"/>
          <p:nvPr/>
        </p:nvSpPr>
        <p:spPr>
          <a:xfrm>
            <a:off x="4429851" y="2480368"/>
            <a:ext cx="2194560" cy="237744"/>
          </a:xfrm>
          <a:prstGeom prst="rect">
            <a:avLst/>
          </a:prstGeom>
          <a:noFill/>
          <a:ln/>
        </p:spPr>
        <p:txBody>
          <a:bodyPr wrap="square" lIns="0" tIns="0" rIns="0" bIns="0" rtlCol="0" anchor="ctr"/>
          <a:lstStyle/>
          <a:p>
            <a:pPr algn="ctr" indent="0" marL="0">
              <a:buNone/>
            </a:pPr>
            <a:r>
              <a:rPr lang="en-US" sz="1050" dirty="0">
                <a:solidFill>
                  <a:srgbClr val="B83227"/>
                </a:solidFill>
                <a:latin typeface="Calibri" pitchFamily="34" charset="0"/>
                <a:ea typeface="Calibri" pitchFamily="34" charset="-122"/>
                <a:cs typeface="Calibri" pitchFamily="34" charset="-120"/>
              </a:rPr>
              <a:t>verbe</a:t>
            </a:r>
            <a:endParaRPr lang="en-US" sz="1050" dirty="0"/>
          </a:p>
        </p:txBody>
      </p:sp>
      <p:sp>
        <p:nvSpPr>
          <p:cNvPr id="13" name="Shape 10"/>
          <p:cNvSpPr/>
          <p:nvPr/>
        </p:nvSpPr>
        <p:spPr>
          <a:xfrm>
            <a:off x="4297680" y="3520440"/>
            <a:ext cx="1143000" cy="914"/>
          </a:xfrm>
          <a:prstGeom prst="line">
            <a:avLst/>
          </a:prstGeom>
          <a:noFill/>
          <a:ln w="15875">
            <a:solidFill>
              <a:srgbClr val="2A6FB0"/>
            </a:solidFill>
            <a:prstDash val="solid"/>
          </a:ln>
        </p:spPr>
      </p:sp>
      <p:sp>
        <p:nvSpPr>
          <p:cNvPr id="14" name="Text 11"/>
          <p:cNvSpPr txBox="1"/>
          <p:nvPr/>
        </p:nvSpPr>
        <p:spPr>
          <a:xfrm>
            <a:off x="5166360" y="3246120"/>
            <a:ext cx="2194560" cy="384048"/>
          </a:xfrm>
          <a:prstGeom prst="rect">
            <a:avLst/>
          </a:prstGeom>
          <a:noFill/>
          <a:ln/>
        </p:spPr>
        <p:txBody>
          <a:bodyPr wrap="square" lIns="0" tIns="0" rIns="0" bIns="0" rtlCol="0" anchor="ct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werk</a:t>
            </a:r>
            <a:r>
              <a:rPr lang="en-US" sz="1700" b="1" i="1" dirty="0">
                <a:solidFill>
                  <a:srgbClr val="6E4A9E"/>
                </a:solidFill>
                <a:latin typeface="Calibri" pitchFamily="34" charset="0"/>
                <a:ea typeface="Calibri" pitchFamily="34" charset="-122"/>
                <a:cs typeface="Calibri" pitchFamily="34" charset="-120"/>
              </a:rPr>
              <a:t>er</a:t>
            </a:r>
            <a:endParaRPr lang="en-US" sz="1700" dirty="0"/>
          </a:p>
        </p:txBody>
      </p:sp>
      <p:sp>
        <p:nvSpPr>
          <p:cNvPr id="15" name="Text 12"/>
          <p:cNvSpPr txBox="1"/>
          <p:nvPr/>
        </p:nvSpPr>
        <p:spPr>
          <a:xfrm>
            <a:off x="5166360" y="3611880"/>
            <a:ext cx="2194560" cy="237744"/>
          </a:xfrm>
          <a:prstGeom prst="rect">
            <a:avLst/>
          </a:prstGeom>
          <a:noFill/>
          <a:ln/>
        </p:spPr>
        <p:txBody>
          <a:bodyPr wrap="square" lIns="0" tIns="0" rIns="0" bIns="0" rtlCol="0" anchor="ctr"/>
          <a:lstStyle/>
          <a:p>
            <a:pPr algn="ctr" indent="0" marL="0">
              <a:buNone/>
            </a:pPr>
            <a:r>
              <a:rPr lang="en-US" sz="1050" dirty="0">
                <a:solidFill>
                  <a:srgbClr val="2A6FB0"/>
                </a:solidFill>
                <a:latin typeface="Calibri" pitchFamily="34" charset="0"/>
                <a:ea typeface="Calibri" pitchFamily="34" charset="-122"/>
                <a:cs typeface="Calibri" pitchFamily="34" charset="-120"/>
              </a:rPr>
              <a:t>nom</a:t>
            </a:r>
            <a:endParaRPr lang="en-US" sz="1050" dirty="0"/>
          </a:p>
        </p:txBody>
      </p:sp>
      <p:sp>
        <p:nvSpPr>
          <p:cNvPr id="16" name="Shape 13"/>
          <p:cNvSpPr/>
          <p:nvPr/>
        </p:nvSpPr>
        <p:spPr>
          <a:xfrm>
            <a:off x="4136987" y="3908387"/>
            <a:ext cx="808223" cy="549592"/>
          </a:xfrm>
          <a:prstGeom prst="line">
            <a:avLst/>
          </a:prstGeom>
          <a:noFill/>
          <a:ln w="15875">
            <a:solidFill>
              <a:srgbClr val="2A6FB0"/>
            </a:solidFill>
            <a:prstDash val="solid"/>
          </a:ln>
        </p:spPr>
      </p:sp>
      <p:sp>
        <p:nvSpPr>
          <p:cNvPr id="17" name="Text 14"/>
          <p:cNvSpPr txBox="1"/>
          <p:nvPr/>
        </p:nvSpPr>
        <p:spPr>
          <a:xfrm>
            <a:off x="4429851" y="4377632"/>
            <a:ext cx="2194560" cy="384048"/>
          </a:xfrm>
          <a:prstGeom prst="rect">
            <a:avLst/>
          </a:prstGeom>
          <a:noFill/>
          <a:ln/>
        </p:spPr>
        <p:txBody>
          <a:bodyPr wrap="square" lIns="0" tIns="0" rIns="0" bIns="0" rtlCol="0" anchor="ct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werk</a:t>
            </a:r>
            <a:r>
              <a:rPr lang="en-US" sz="1700" b="1" i="1" dirty="0">
                <a:solidFill>
                  <a:srgbClr val="6E4A9E"/>
                </a:solidFill>
                <a:latin typeface="Calibri" pitchFamily="34" charset="0"/>
                <a:ea typeface="Calibri" pitchFamily="34" charset="-122"/>
                <a:cs typeface="Calibri" pitchFamily="34" charset="-120"/>
              </a:rPr>
              <a:t>ing</a:t>
            </a:r>
            <a:endParaRPr lang="en-US" sz="1700" dirty="0"/>
          </a:p>
        </p:txBody>
      </p:sp>
      <p:sp>
        <p:nvSpPr>
          <p:cNvPr id="18" name="Text 15"/>
          <p:cNvSpPr txBox="1"/>
          <p:nvPr/>
        </p:nvSpPr>
        <p:spPr>
          <a:xfrm>
            <a:off x="4429851" y="4743392"/>
            <a:ext cx="2194560" cy="237744"/>
          </a:xfrm>
          <a:prstGeom prst="rect">
            <a:avLst/>
          </a:prstGeom>
          <a:noFill/>
          <a:ln/>
        </p:spPr>
        <p:txBody>
          <a:bodyPr wrap="square" lIns="0" tIns="0" rIns="0" bIns="0" rtlCol="0" anchor="ctr"/>
          <a:lstStyle/>
          <a:p>
            <a:pPr algn="ctr" indent="0" marL="0">
              <a:buNone/>
            </a:pPr>
            <a:r>
              <a:rPr lang="en-US" sz="1050" dirty="0">
                <a:solidFill>
                  <a:srgbClr val="2A6FB0"/>
                </a:solidFill>
                <a:latin typeface="Calibri" pitchFamily="34" charset="0"/>
                <a:ea typeface="Calibri" pitchFamily="34" charset="-122"/>
                <a:cs typeface="Calibri" pitchFamily="34" charset="-120"/>
              </a:rPr>
              <a:t>nom</a:t>
            </a:r>
            <a:endParaRPr lang="en-US" sz="1050" dirty="0"/>
          </a:p>
        </p:txBody>
      </p:sp>
      <p:sp>
        <p:nvSpPr>
          <p:cNvPr id="19" name="Shape 16"/>
          <p:cNvSpPr/>
          <p:nvPr/>
        </p:nvSpPr>
        <p:spPr>
          <a:xfrm>
            <a:off x="3749040" y="4069080"/>
            <a:ext cx="914" cy="777240"/>
          </a:xfrm>
          <a:prstGeom prst="line">
            <a:avLst/>
          </a:prstGeom>
          <a:noFill/>
          <a:ln w="15875">
            <a:solidFill>
              <a:srgbClr val="D9700F"/>
            </a:solidFill>
            <a:prstDash val="solid"/>
          </a:ln>
        </p:spPr>
      </p:sp>
      <p:sp>
        <p:nvSpPr>
          <p:cNvPr id="20" name="Text 17"/>
          <p:cNvSpPr txBox="1"/>
          <p:nvPr/>
        </p:nvSpPr>
        <p:spPr>
          <a:xfrm>
            <a:off x="2651760" y="4846320"/>
            <a:ext cx="2194560" cy="384048"/>
          </a:xfrm>
          <a:prstGeom prst="rect">
            <a:avLst/>
          </a:prstGeom>
          <a:noFill/>
          <a:ln/>
        </p:spPr>
        <p:txBody>
          <a:bodyPr wrap="square" lIns="0" tIns="0" rIns="0" bIns="0" rtlCol="0" anchor="ctr"/>
          <a:lstStyle/>
          <a:p>
            <a:pPr algn="ctr" indent="0" marL="0">
              <a:buNone/>
            </a:pPr>
            <a:r>
              <a:rPr lang="en-US" sz="1700" b="1" i="1" dirty="0">
                <a:solidFill>
                  <a:srgbClr val="D9700F"/>
                </a:solidFill>
                <a:latin typeface="Calibri" pitchFamily="34" charset="0"/>
                <a:ea typeface="Calibri" pitchFamily="34" charset="-122"/>
                <a:cs typeface="Calibri" pitchFamily="34" charset="-120"/>
              </a:rPr>
              <a:t>werk</a:t>
            </a:r>
            <a:r>
              <a:rPr lang="en-US" sz="1700" b="1" i="1" dirty="0">
                <a:solidFill>
                  <a:srgbClr val="6E4A9E"/>
                </a:solidFill>
                <a:latin typeface="Calibri" pitchFamily="34" charset="0"/>
                <a:ea typeface="Calibri" pitchFamily="34" charset="-122"/>
                <a:cs typeface="Calibri" pitchFamily="34" charset="-120"/>
              </a:rPr>
              <a:t>loos</a:t>
            </a:r>
            <a:endParaRPr lang="en-US" sz="1700" dirty="0"/>
          </a:p>
        </p:txBody>
      </p:sp>
      <p:sp>
        <p:nvSpPr>
          <p:cNvPr id="21" name="Text 18"/>
          <p:cNvSpPr txBox="1"/>
          <p:nvPr/>
        </p:nvSpPr>
        <p:spPr>
          <a:xfrm>
            <a:off x="2651760" y="5212080"/>
            <a:ext cx="2194560" cy="237744"/>
          </a:xfrm>
          <a:prstGeom prst="rect">
            <a:avLst/>
          </a:prstGeom>
          <a:noFill/>
          <a:ln/>
        </p:spPr>
        <p:txBody>
          <a:bodyPr wrap="square" lIns="0" tIns="0" rIns="0" bIns="0" rtlCol="0" anchor="ctr"/>
          <a:lstStyle/>
          <a:p>
            <a:pPr algn="ctr" indent="0" marL="0">
              <a:buNone/>
            </a:pPr>
            <a:r>
              <a:rPr lang="en-US" sz="1050" dirty="0">
                <a:solidFill>
                  <a:srgbClr val="D9700F"/>
                </a:solidFill>
                <a:latin typeface="Calibri" pitchFamily="34" charset="0"/>
                <a:ea typeface="Calibri" pitchFamily="34" charset="-122"/>
                <a:cs typeface="Calibri" pitchFamily="34" charset="-120"/>
              </a:rPr>
              <a:t>adjectif</a:t>
            </a:r>
            <a:endParaRPr lang="en-US" sz="1050" dirty="0"/>
          </a:p>
        </p:txBody>
      </p:sp>
      <p:sp>
        <p:nvSpPr>
          <p:cNvPr id="22" name="Shape 19"/>
          <p:cNvSpPr/>
          <p:nvPr/>
        </p:nvSpPr>
        <p:spPr>
          <a:xfrm flipH="1">
            <a:off x="2552870" y="3908387"/>
            <a:ext cx="808223" cy="549592"/>
          </a:xfrm>
          <a:prstGeom prst="line">
            <a:avLst/>
          </a:prstGeom>
          <a:noFill/>
          <a:ln w="15875">
            <a:solidFill>
              <a:srgbClr val="2A6FB0"/>
            </a:solidFill>
            <a:prstDash val="solid"/>
          </a:ln>
        </p:spPr>
      </p:sp>
      <p:sp>
        <p:nvSpPr>
          <p:cNvPr id="23" name="Text 20"/>
          <p:cNvSpPr txBox="1"/>
          <p:nvPr/>
        </p:nvSpPr>
        <p:spPr>
          <a:xfrm>
            <a:off x="873669" y="4377632"/>
            <a:ext cx="2194560" cy="384048"/>
          </a:xfrm>
          <a:prstGeom prst="rect">
            <a:avLst/>
          </a:prstGeom>
          <a:noFill/>
          <a:ln/>
        </p:spPr>
        <p:txBody>
          <a:bodyPr wrap="square" lIns="0" tIns="0" rIns="0" bIns="0" rtlCol="0" anchor="ct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werk</a:t>
            </a:r>
            <a:r>
              <a:rPr lang="en-US" sz="1700" b="1" i="1" dirty="0">
                <a:solidFill>
                  <a:srgbClr val="6E4A9E"/>
                </a:solidFill>
                <a:latin typeface="Calibri" pitchFamily="34" charset="0"/>
                <a:ea typeface="Calibri" pitchFamily="34" charset="-122"/>
                <a:cs typeface="Calibri" pitchFamily="34" charset="-120"/>
              </a:rPr>
              <a:t>loosheid</a:t>
            </a:r>
            <a:endParaRPr lang="en-US" sz="1700" dirty="0"/>
          </a:p>
        </p:txBody>
      </p:sp>
      <p:sp>
        <p:nvSpPr>
          <p:cNvPr id="24" name="Text 21"/>
          <p:cNvSpPr txBox="1"/>
          <p:nvPr/>
        </p:nvSpPr>
        <p:spPr>
          <a:xfrm>
            <a:off x="873669" y="4743392"/>
            <a:ext cx="2194560" cy="237744"/>
          </a:xfrm>
          <a:prstGeom prst="rect">
            <a:avLst/>
          </a:prstGeom>
          <a:noFill/>
          <a:ln/>
        </p:spPr>
        <p:txBody>
          <a:bodyPr wrap="square" lIns="0" tIns="0" rIns="0" bIns="0" rtlCol="0" anchor="ctr"/>
          <a:lstStyle/>
          <a:p>
            <a:pPr algn="ctr" indent="0" marL="0">
              <a:buNone/>
            </a:pPr>
            <a:r>
              <a:rPr lang="en-US" sz="1050" dirty="0">
                <a:solidFill>
                  <a:srgbClr val="2A6FB0"/>
                </a:solidFill>
                <a:latin typeface="Calibri" pitchFamily="34" charset="0"/>
                <a:ea typeface="Calibri" pitchFamily="34" charset="-122"/>
                <a:cs typeface="Calibri" pitchFamily="34" charset="-120"/>
              </a:rPr>
              <a:t>nom</a:t>
            </a:r>
            <a:endParaRPr lang="en-US" sz="1050" dirty="0"/>
          </a:p>
        </p:txBody>
      </p:sp>
      <p:sp>
        <p:nvSpPr>
          <p:cNvPr id="25" name="Shape 22"/>
          <p:cNvSpPr/>
          <p:nvPr/>
        </p:nvSpPr>
        <p:spPr>
          <a:xfrm flipH="1">
            <a:off x="2057400" y="3520440"/>
            <a:ext cx="1143000" cy="914"/>
          </a:xfrm>
          <a:prstGeom prst="line">
            <a:avLst/>
          </a:prstGeom>
          <a:noFill/>
          <a:ln w="15875">
            <a:solidFill>
              <a:srgbClr val="D9700F"/>
            </a:solidFill>
            <a:prstDash val="solid"/>
          </a:ln>
        </p:spPr>
      </p:sp>
      <p:sp>
        <p:nvSpPr>
          <p:cNvPr id="26" name="Text 23"/>
          <p:cNvSpPr txBox="1"/>
          <p:nvPr/>
        </p:nvSpPr>
        <p:spPr>
          <a:xfrm>
            <a:off x="137160" y="3246120"/>
            <a:ext cx="2194560" cy="384048"/>
          </a:xfrm>
          <a:prstGeom prst="rect">
            <a:avLst/>
          </a:prstGeom>
          <a:noFill/>
          <a:ln/>
        </p:spPr>
        <p:txBody>
          <a:bodyPr wrap="square" lIns="0" tIns="0" rIns="0" bIns="0" rtlCol="0" anchor="ctr"/>
          <a:lstStyle/>
          <a:p>
            <a:pPr algn="ctr" indent="0" marL="0">
              <a:buNone/>
            </a:pPr>
            <a:r>
              <a:rPr lang="en-US" sz="1700" b="1" i="1" dirty="0">
                <a:solidFill>
                  <a:srgbClr val="D9700F"/>
                </a:solidFill>
                <a:latin typeface="Calibri" pitchFamily="34" charset="0"/>
                <a:ea typeface="Calibri" pitchFamily="34" charset="-122"/>
                <a:cs typeface="Calibri" pitchFamily="34" charset="-120"/>
              </a:rPr>
              <a:t>werk</a:t>
            </a:r>
            <a:r>
              <a:rPr lang="en-US" sz="1700" b="1" i="1" dirty="0">
                <a:solidFill>
                  <a:srgbClr val="6E4A9E"/>
                </a:solidFill>
                <a:latin typeface="Calibri" pitchFamily="34" charset="0"/>
                <a:ea typeface="Calibri" pitchFamily="34" charset="-122"/>
                <a:cs typeface="Calibri" pitchFamily="34" charset="-120"/>
              </a:rPr>
              <a:t>baar</a:t>
            </a:r>
            <a:endParaRPr lang="en-US" sz="1700" dirty="0"/>
          </a:p>
        </p:txBody>
      </p:sp>
      <p:sp>
        <p:nvSpPr>
          <p:cNvPr id="27" name="Text 24"/>
          <p:cNvSpPr txBox="1"/>
          <p:nvPr/>
        </p:nvSpPr>
        <p:spPr>
          <a:xfrm>
            <a:off x="137160" y="3611880"/>
            <a:ext cx="2194560" cy="237744"/>
          </a:xfrm>
          <a:prstGeom prst="rect">
            <a:avLst/>
          </a:prstGeom>
          <a:noFill/>
          <a:ln/>
        </p:spPr>
        <p:txBody>
          <a:bodyPr wrap="square" lIns="0" tIns="0" rIns="0" bIns="0" rtlCol="0" anchor="ctr"/>
          <a:lstStyle/>
          <a:p>
            <a:pPr algn="ctr" indent="0" marL="0">
              <a:buNone/>
            </a:pPr>
            <a:r>
              <a:rPr lang="en-US" sz="1050" dirty="0">
                <a:solidFill>
                  <a:srgbClr val="D9700F"/>
                </a:solidFill>
                <a:latin typeface="Calibri" pitchFamily="34" charset="0"/>
                <a:ea typeface="Calibri" pitchFamily="34" charset="-122"/>
                <a:cs typeface="Calibri" pitchFamily="34" charset="-120"/>
              </a:rPr>
              <a:t>adjectif</a:t>
            </a:r>
            <a:endParaRPr lang="en-US" sz="1050" dirty="0"/>
          </a:p>
        </p:txBody>
      </p:sp>
      <p:sp>
        <p:nvSpPr>
          <p:cNvPr id="28" name="Shape 25"/>
          <p:cNvSpPr/>
          <p:nvPr/>
        </p:nvSpPr>
        <p:spPr>
          <a:xfrm flipH="1" flipV="1">
            <a:off x="2552870" y="2582901"/>
            <a:ext cx="808223" cy="549592"/>
          </a:xfrm>
          <a:prstGeom prst="line">
            <a:avLst/>
          </a:prstGeom>
          <a:noFill/>
          <a:ln w="15875">
            <a:solidFill>
              <a:srgbClr val="B83227"/>
            </a:solidFill>
            <a:prstDash val="solid"/>
          </a:ln>
        </p:spPr>
      </p:sp>
      <p:sp>
        <p:nvSpPr>
          <p:cNvPr id="29" name="Text 26"/>
          <p:cNvSpPr txBox="1"/>
          <p:nvPr/>
        </p:nvSpPr>
        <p:spPr>
          <a:xfrm>
            <a:off x="873669" y="2114608"/>
            <a:ext cx="2194560" cy="384048"/>
          </a:xfrm>
          <a:prstGeom prst="rect">
            <a:avLst/>
          </a:prstGeom>
          <a:noFill/>
          <a:ln/>
        </p:spPr>
        <p:txBody>
          <a:bodyPr wrap="square" lIns="0" tIns="0" rIns="0" bIns="0" rtlCol="0" anchor="ctr"/>
          <a:lstStyle/>
          <a:p>
            <a:pPr algn="ctr" indent="0" marL="0">
              <a:buNone/>
            </a:pPr>
            <a:r>
              <a:rPr lang="en-US" sz="1700" b="1" i="1" dirty="0">
                <a:solidFill>
                  <a:srgbClr val="6E4A9E"/>
                </a:solidFill>
                <a:latin typeface="Calibri" pitchFamily="34" charset="0"/>
                <a:ea typeface="Calibri" pitchFamily="34" charset="-122"/>
                <a:cs typeface="Calibri" pitchFamily="34" charset="-120"/>
              </a:rPr>
              <a:t>be</a:t>
            </a:r>
            <a:r>
              <a:rPr lang="en-US" sz="1700" b="1" i="1" dirty="0">
                <a:solidFill>
                  <a:srgbClr val="B83227"/>
                </a:solidFill>
                <a:latin typeface="Calibri" pitchFamily="34" charset="0"/>
                <a:ea typeface="Calibri" pitchFamily="34" charset="-122"/>
                <a:cs typeface="Calibri" pitchFamily="34" charset="-120"/>
              </a:rPr>
              <a:t>werk</a:t>
            </a:r>
            <a:r>
              <a:rPr lang="en-US" sz="1700" b="1" i="1" dirty="0">
                <a:solidFill>
                  <a:srgbClr val="6E4A9E"/>
                </a:solidFill>
                <a:latin typeface="Calibri" pitchFamily="34" charset="0"/>
                <a:ea typeface="Calibri" pitchFamily="34" charset="-122"/>
                <a:cs typeface="Calibri" pitchFamily="34" charset="-120"/>
              </a:rPr>
              <a:t>en</a:t>
            </a:r>
            <a:endParaRPr lang="en-US" sz="1700" dirty="0"/>
          </a:p>
        </p:txBody>
      </p:sp>
      <p:sp>
        <p:nvSpPr>
          <p:cNvPr id="30" name="Text 27"/>
          <p:cNvSpPr txBox="1"/>
          <p:nvPr/>
        </p:nvSpPr>
        <p:spPr>
          <a:xfrm>
            <a:off x="873669" y="2480368"/>
            <a:ext cx="2194560" cy="237744"/>
          </a:xfrm>
          <a:prstGeom prst="rect">
            <a:avLst/>
          </a:prstGeom>
          <a:noFill/>
          <a:ln/>
        </p:spPr>
        <p:txBody>
          <a:bodyPr wrap="square" lIns="0" tIns="0" rIns="0" bIns="0" rtlCol="0" anchor="ctr"/>
          <a:lstStyle/>
          <a:p>
            <a:pPr algn="ctr" indent="0" marL="0">
              <a:buNone/>
            </a:pPr>
            <a:r>
              <a:rPr lang="en-US" sz="1050" dirty="0">
                <a:solidFill>
                  <a:srgbClr val="B83227"/>
                </a:solidFill>
                <a:latin typeface="Calibri" pitchFamily="34" charset="0"/>
                <a:ea typeface="Calibri" pitchFamily="34" charset="-122"/>
                <a:cs typeface="Calibri" pitchFamily="34" charset="-120"/>
              </a:rPr>
              <a:t>verbe</a:t>
            </a:r>
            <a:endParaRPr lang="en-US" sz="1050" dirty="0"/>
          </a:p>
        </p:txBody>
      </p:sp>
      <p:sp>
        <p:nvSpPr>
          <p:cNvPr id="31" name="Text 28"/>
          <p:cNvSpPr txBox="1"/>
          <p:nvPr/>
        </p:nvSpPr>
        <p:spPr>
          <a:xfrm>
            <a:off x="7498080" y="1691640"/>
            <a:ext cx="3840480" cy="365760"/>
          </a:xfrm>
          <a:prstGeom prst="rect">
            <a:avLst/>
          </a:prstGeom>
          <a:noFill/>
          <a:ln/>
        </p:spPr>
        <p:txBody>
          <a:bodyPr wrap="square" lIns="0" tIns="0" rIns="0" bIns="0" rtlCol="0" anchor="ctr"/>
          <a:lstStyle/>
          <a:p>
            <a:pPr algn="ctr" indent="0" marL="0">
              <a:buNone/>
            </a:pPr>
            <a:r>
              <a:rPr lang="en-US" sz="1150" b="1" spc="200" kern="0" dirty="0">
                <a:solidFill>
                  <a:srgbClr val="6E4A9E"/>
                </a:solidFill>
                <a:latin typeface="Calibri" pitchFamily="34" charset="0"/>
                <a:ea typeface="Calibri" pitchFamily="34" charset="-122"/>
                <a:cs typeface="Calibri" pitchFamily="34" charset="-120"/>
              </a:rPr>
              <a:t>LES SUFFIXES S’EMPILENT</a:t>
            </a:r>
            <a:endParaRPr lang="en-US" sz="1150" dirty="0"/>
          </a:p>
        </p:txBody>
      </p:sp>
      <p:sp>
        <p:nvSpPr>
          <p:cNvPr id="32" name="Shape 29"/>
          <p:cNvSpPr/>
          <p:nvPr/>
        </p:nvSpPr>
        <p:spPr>
          <a:xfrm>
            <a:off x="7498080" y="2103120"/>
            <a:ext cx="3840480" cy="914"/>
          </a:xfrm>
          <a:prstGeom prst="line">
            <a:avLst/>
          </a:prstGeom>
          <a:noFill/>
          <a:ln w="15875">
            <a:solidFill>
              <a:srgbClr val="6E4A9E"/>
            </a:solidFill>
            <a:prstDash val="solid"/>
          </a:ln>
        </p:spPr>
      </p:sp>
      <p:sp>
        <p:nvSpPr>
          <p:cNvPr id="33" name="Text 30"/>
          <p:cNvSpPr txBox="1"/>
          <p:nvPr/>
        </p:nvSpPr>
        <p:spPr>
          <a:xfrm>
            <a:off x="7498080" y="2331720"/>
            <a:ext cx="3840480" cy="438912"/>
          </a:xfrm>
          <a:prstGeom prst="rect">
            <a:avLst/>
          </a:prstGeom>
          <a:noFill/>
          <a:ln/>
        </p:spPr>
        <p:txBody>
          <a:bodyPr wrap="square" lIns="0" tIns="0" rIns="0" bIns="0" rtlCol="0" anchor="ctr"/>
          <a:lstStyle/>
          <a:p>
            <a:pPr algn="ctr" indent="0" marL="0">
              <a:buNone/>
            </a:pPr>
            <a:r>
              <a:rPr lang="en-US" sz="2100" b="1" i="1" dirty="0">
                <a:solidFill>
                  <a:srgbClr val="2A6FB0"/>
                </a:solidFill>
                <a:latin typeface="Calibri" pitchFamily="34" charset="0"/>
                <a:ea typeface="Calibri" pitchFamily="34" charset="-122"/>
                <a:cs typeface="Calibri" pitchFamily="34" charset="-120"/>
              </a:rPr>
              <a:t>het werk</a:t>
            </a:r>
            <a:endParaRPr lang="en-US" sz="2100" dirty="0"/>
          </a:p>
        </p:txBody>
      </p:sp>
      <p:sp>
        <p:nvSpPr>
          <p:cNvPr id="34" name="Text 31"/>
          <p:cNvSpPr txBox="1"/>
          <p:nvPr/>
        </p:nvSpPr>
        <p:spPr>
          <a:xfrm>
            <a:off x="7498080" y="2743200"/>
            <a:ext cx="3840480" cy="237744"/>
          </a:xfrm>
          <a:prstGeom prst="rect">
            <a:avLst/>
          </a:prstGeom>
          <a:noFill/>
          <a:ln/>
        </p:spPr>
        <p:txBody>
          <a:bodyPr wrap="square" lIns="0" tIns="0" rIns="0" bIns="0" rtlCol="0" anchor="ctr"/>
          <a:lstStyle/>
          <a:p>
            <a:pPr algn="ctr" indent="0" marL="0">
              <a:buNone/>
            </a:pPr>
            <a:r>
              <a:rPr lang="en-US" sz="1100" dirty="0">
                <a:solidFill>
                  <a:srgbClr val="2A6FB0"/>
                </a:solidFill>
                <a:latin typeface="Calibri" pitchFamily="34" charset="0"/>
                <a:ea typeface="Calibri" pitchFamily="34" charset="-122"/>
                <a:cs typeface="Calibri" pitchFamily="34" charset="-120"/>
              </a:rPr>
              <a:t>nom</a:t>
            </a:r>
            <a:endParaRPr lang="en-US" sz="1100" dirty="0"/>
          </a:p>
        </p:txBody>
      </p:sp>
      <p:sp>
        <p:nvSpPr>
          <p:cNvPr id="35" name="Text 32"/>
          <p:cNvSpPr txBox="1"/>
          <p:nvPr/>
        </p:nvSpPr>
        <p:spPr>
          <a:xfrm>
            <a:off x="7498080" y="2971800"/>
            <a:ext cx="3840480" cy="310896"/>
          </a:xfrm>
          <a:prstGeom prst="rect">
            <a:avLst/>
          </a:prstGeom>
          <a:noFill/>
          <a:ln/>
        </p:spPr>
        <p:txBody>
          <a:bodyPr wrap="square" lIns="0" tIns="0" rIns="0" bIns="0" rtlCol="0" anchor="ctr"/>
          <a:lstStyle/>
          <a:p>
            <a:pPr algn="ctr" indent="0" marL="0">
              <a:buNone/>
            </a:pPr>
            <a:r>
              <a:rPr lang="en-US" sz="1400" dirty="0">
                <a:solidFill>
                  <a:srgbClr val="1B2333"/>
                </a:solidFill>
                <a:latin typeface="Calibri" pitchFamily="34" charset="0"/>
                <a:ea typeface="Calibri" pitchFamily="34" charset="-122"/>
                <a:cs typeface="Calibri" pitchFamily="34" charset="-120"/>
              </a:rPr>
              <a:t>↓  </a:t>
            </a:r>
            <a:r>
              <a:rPr lang="en-US" sz="1400" b="1" dirty="0">
                <a:solidFill>
                  <a:srgbClr val="6E4A9E"/>
                </a:solidFill>
                <a:latin typeface="Calibri" pitchFamily="34" charset="0"/>
                <a:ea typeface="Calibri" pitchFamily="34" charset="-122"/>
                <a:cs typeface="Calibri" pitchFamily="34" charset="-120"/>
              </a:rPr>
              <a:t>-loos</a:t>
            </a:r>
            <a:endParaRPr lang="en-US" sz="1400" dirty="0"/>
          </a:p>
        </p:txBody>
      </p:sp>
      <p:sp>
        <p:nvSpPr>
          <p:cNvPr id="36" name="Text 33"/>
          <p:cNvSpPr txBox="1"/>
          <p:nvPr/>
        </p:nvSpPr>
        <p:spPr>
          <a:xfrm>
            <a:off x="7498080" y="3319272"/>
            <a:ext cx="3840480" cy="438912"/>
          </a:xfrm>
          <a:prstGeom prst="rect">
            <a:avLst/>
          </a:prstGeom>
          <a:noFill/>
          <a:ln/>
        </p:spPr>
        <p:txBody>
          <a:bodyPr wrap="square" lIns="0" tIns="0" rIns="0" bIns="0" rtlCol="0" anchor="ctr"/>
          <a:lstStyle/>
          <a:p>
            <a:pPr algn="ctr" indent="0" marL="0">
              <a:buNone/>
            </a:pPr>
            <a:r>
              <a:rPr lang="en-US" sz="2100" b="1" i="1" dirty="0">
                <a:solidFill>
                  <a:srgbClr val="D9700F"/>
                </a:solidFill>
                <a:latin typeface="Calibri" pitchFamily="34" charset="0"/>
                <a:ea typeface="Calibri" pitchFamily="34" charset="-122"/>
                <a:cs typeface="Calibri" pitchFamily="34" charset="-120"/>
              </a:rPr>
              <a:t>werk</a:t>
            </a:r>
            <a:r>
              <a:rPr lang="en-US" sz="2100" b="1" i="1" dirty="0">
                <a:solidFill>
                  <a:srgbClr val="6E4A9E"/>
                </a:solidFill>
                <a:latin typeface="Calibri" pitchFamily="34" charset="0"/>
                <a:ea typeface="Calibri" pitchFamily="34" charset="-122"/>
                <a:cs typeface="Calibri" pitchFamily="34" charset="-120"/>
              </a:rPr>
              <a:t>loos</a:t>
            </a:r>
            <a:endParaRPr lang="en-US" sz="2100" dirty="0"/>
          </a:p>
        </p:txBody>
      </p:sp>
      <p:sp>
        <p:nvSpPr>
          <p:cNvPr id="37" name="Text 34"/>
          <p:cNvSpPr txBox="1"/>
          <p:nvPr/>
        </p:nvSpPr>
        <p:spPr>
          <a:xfrm>
            <a:off x="7498080" y="3730752"/>
            <a:ext cx="3840480" cy="237744"/>
          </a:xfrm>
          <a:prstGeom prst="rect">
            <a:avLst/>
          </a:prstGeom>
          <a:noFill/>
          <a:ln/>
        </p:spPr>
        <p:txBody>
          <a:bodyPr wrap="square" lIns="0" tIns="0" rIns="0" bIns="0" rtlCol="0" anchor="ctr"/>
          <a:lstStyle/>
          <a:p>
            <a:pPr algn="ctr" indent="0" marL="0">
              <a:buNone/>
            </a:pPr>
            <a:r>
              <a:rPr lang="en-US" sz="1100" dirty="0">
                <a:solidFill>
                  <a:srgbClr val="D9700F"/>
                </a:solidFill>
                <a:latin typeface="Calibri" pitchFamily="34" charset="0"/>
                <a:ea typeface="Calibri" pitchFamily="34" charset="-122"/>
                <a:cs typeface="Calibri" pitchFamily="34" charset="-120"/>
              </a:rPr>
              <a:t>adjectif</a:t>
            </a:r>
            <a:endParaRPr lang="en-US" sz="1100" dirty="0"/>
          </a:p>
        </p:txBody>
      </p:sp>
      <p:sp>
        <p:nvSpPr>
          <p:cNvPr id="38" name="Text 35"/>
          <p:cNvSpPr txBox="1"/>
          <p:nvPr/>
        </p:nvSpPr>
        <p:spPr>
          <a:xfrm>
            <a:off x="7498080" y="3959352"/>
            <a:ext cx="3840480" cy="310896"/>
          </a:xfrm>
          <a:prstGeom prst="rect">
            <a:avLst/>
          </a:prstGeom>
          <a:noFill/>
          <a:ln/>
        </p:spPr>
        <p:txBody>
          <a:bodyPr wrap="square" lIns="0" tIns="0" rIns="0" bIns="0" rtlCol="0" anchor="ctr"/>
          <a:lstStyle/>
          <a:p>
            <a:pPr algn="ctr" indent="0" marL="0">
              <a:buNone/>
            </a:pPr>
            <a:r>
              <a:rPr lang="en-US" sz="1400" dirty="0">
                <a:solidFill>
                  <a:srgbClr val="1B2333"/>
                </a:solidFill>
                <a:latin typeface="Calibri" pitchFamily="34" charset="0"/>
                <a:ea typeface="Calibri" pitchFamily="34" charset="-122"/>
                <a:cs typeface="Calibri" pitchFamily="34" charset="-120"/>
              </a:rPr>
              <a:t>↓  </a:t>
            </a:r>
            <a:r>
              <a:rPr lang="en-US" sz="1400" b="1" dirty="0">
                <a:solidFill>
                  <a:srgbClr val="6E4A9E"/>
                </a:solidFill>
                <a:latin typeface="Calibri" pitchFamily="34" charset="0"/>
                <a:ea typeface="Calibri" pitchFamily="34" charset="-122"/>
                <a:cs typeface="Calibri" pitchFamily="34" charset="-120"/>
              </a:rPr>
              <a:t>-heid</a:t>
            </a:r>
            <a:endParaRPr lang="en-US" sz="1400" dirty="0"/>
          </a:p>
        </p:txBody>
      </p:sp>
      <p:sp>
        <p:nvSpPr>
          <p:cNvPr id="39" name="Text 36"/>
          <p:cNvSpPr txBox="1"/>
          <p:nvPr/>
        </p:nvSpPr>
        <p:spPr>
          <a:xfrm>
            <a:off x="7498080" y="4306824"/>
            <a:ext cx="3840480" cy="438912"/>
          </a:xfrm>
          <a:prstGeom prst="rect">
            <a:avLst/>
          </a:prstGeom>
          <a:noFill/>
          <a:ln/>
        </p:spPr>
        <p:txBody>
          <a:bodyPr wrap="square" lIns="0" tIns="0" rIns="0" bIns="0" rtlCol="0" anchor="ctr"/>
          <a:lstStyle/>
          <a:p>
            <a:pPr algn="ctr" indent="0" marL="0">
              <a:buNone/>
            </a:pPr>
            <a:r>
              <a:rPr lang="en-US" sz="2100" b="1" i="1" dirty="0">
                <a:solidFill>
                  <a:srgbClr val="2A6FB0"/>
                </a:solidFill>
                <a:latin typeface="Calibri" pitchFamily="34" charset="0"/>
                <a:ea typeface="Calibri" pitchFamily="34" charset="-122"/>
                <a:cs typeface="Calibri" pitchFamily="34" charset="-120"/>
              </a:rPr>
              <a:t>de werkloos</a:t>
            </a:r>
            <a:r>
              <a:rPr lang="en-US" sz="2100" b="1" i="1" dirty="0">
                <a:solidFill>
                  <a:srgbClr val="6E4A9E"/>
                </a:solidFill>
                <a:latin typeface="Calibri" pitchFamily="34" charset="0"/>
                <a:ea typeface="Calibri" pitchFamily="34" charset="-122"/>
                <a:cs typeface="Calibri" pitchFamily="34" charset="-120"/>
              </a:rPr>
              <a:t>heid</a:t>
            </a:r>
            <a:endParaRPr lang="en-US" sz="2100" dirty="0"/>
          </a:p>
        </p:txBody>
      </p:sp>
      <p:sp>
        <p:nvSpPr>
          <p:cNvPr id="40" name="Text 37"/>
          <p:cNvSpPr txBox="1"/>
          <p:nvPr/>
        </p:nvSpPr>
        <p:spPr>
          <a:xfrm>
            <a:off x="7498080" y="4718304"/>
            <a:ext cx="3840480" cy="237744"/>
          </a:xfrm>
          <a:prstGeom prst="rect">
            <a:avLst/>
          </a:prstGeom>
          <a:noFill/>
          <a:ln/>
        </p:spPr>
        <p:txBody>
          <a:bodyPr wrap="square" lIns="0" tIns="0" rIns="0" bIns="0" rtlCol="0" anchor="ctr"/>
          <a:lstStyle/>
          <a:p>
            <a:pPr algn="ctr" indent="0" marL="0">
              <a:buNone/>
            </a:pPr>
            <a:r>
              <a:rPr lang="en-US" sz="1100" dirty="0">
                <a:solidFill>
                  <a:srgbClr val="2A6FB0"/>
                </a:solidFill>
                <a:latin typeface="Calibri" pitchFamily="34" charset="0"/>
                <a:ea typeface="Calibri" pitchFamily="34" charset="-122"/>
                <a:cs typeface="Calibri" pitchFamily="34" charset="-120"/>
              </a:rPr>
              <a:t>nom</a:t>
            </a:r>
            <a:endParaRPr lang="en-US" sz="1100" dirty="0"/>
          </a:p>
        </p:txBody>
      </p:sp>
      <p:sp>
        <p:nvSpPr>
          <p:cNvPr id="41" name="Text 38"/>
          <p:cNvSpPr txBox="1"/>
          <p:nvPr/>
        </p:nvSpPr>
        <p:spPr>
          <a:xfrm>
            <a:off x="822960" y="571500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Le </a:t>
            </a:r>
            <a:r>
              <a:rPr lang="en-US" sz="1600" b="1" i="1" dirty="0">
                <a:solidFill>
                  <a:srgbClr val="17375E"/>
                </a:solidFill>
                <a:latin typeface="Calibri" pitchFamily="34" charset="0"/>
                <a:ea typeface="Calibri" pitchFamily="34" charset="-122"/>
                <a:cs typeface="Calibri" pitchFamily="34" charset="-120"/>
              </a:rPr>
              <a:t>dernier</a:t>
            </a:r>
            <a:r>
              <a:rPr lang="en-US" sz="1600" i="1" dirty="0">
                <a:solidFill>
                  <a:srgbClr val="17375E"/>
                </a:solidFill>
                <a:latin typeface="Calibri" pitchFamily="34" charset="0"/>
                <a:ea typeface="Calibri" pitchFamily="34" charset="-122"/>
                <a:cs typeface="Calibri" pitchFamily="34" charset="-120"/>
              </a:rPr>
              <a:t> suffixe décide la catégorie et l’article.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Style verbal (oral) ↔ style nominal (écrit)</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COMBINER</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5271516"/>
                <a:gridCol w="5271516"/>
              </a:tblGrid>
              <a:tr h="512064">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À L’ORAL : DES </a:t>
                      </a:r>
                      <a:r>
                        <a:rPr lang="en-US" sz="1150" b="1" spc="200" kern="0" dirty="0">
                          <a:solidFill>
                            <a:srgbClr val="B83227"/>
                          </a:solidFill>
                          <a:latin typeface="Calibri" pitchFamily="34" charset="0"/>
                          <a:ea typeface="Calibri" pitchFamily="34" charset="-122"/>
                          <a:cs typeface="Calibri" pitchFamily="34" charset="-120"/>
                        </a:rPr>
                        <a:t>VERBES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À L’ÉCRIT : DES </a:t>
                      </a:r>
                      <a:r>
                        <a:rPr lang="en-US" sz="1150" b="1" spc="200" kern="0" dirty="0">
                          <a:solidFill>
                            <a:srgbClr val="2A6FB0"/>
                          </a:solidFill>
                          <a:latin typeface="Calibri" pitchFamily="34" charset="0"/>
                          <a:ea typeface="Calibri" pitchFamily="34" charset="-122"/>
                          <a:cs typeface="Calibri" pitchFamily="34" charset="-120"/>
                        </a:rPr>
                        <a:t>NOMS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12064">
                <a:tc>
                  <a:txBody>
                    <a:bodyPr/>
                    <a:lstStyle/>
                    <a:p>
                      <a:pPr algn="ctr" indent="0" marL="0">
                        <a:buNone/>
                      </a:pPr>
                      <a:r>
                        <a:rPr lang="en-US" sz="1700" i="1" dirty="0">
                          <a:solidFill>
                            <a:srgbClr val="1B2333"/>
                          </a:solidFill>
                          <a:latin typeface="Calibri" pitchFamily="34" charset="0"/>
                          <a:ea typeface="Calibri" pitchFamily="34" charset="-122"/>
                          <a:cs typeface="Calibri" pitchFamily="34" charset="-120"/>
                        </a:rPr>
                        <a:t>De prijzen </a:t>
                      </a:r>
                      <a:r>
                        <a:rPr lang="en-US" sz="1700" b="1" i="1" dirty="0">
                          <a:solidFill>
                            <a:srgbClr val="B83227"/>
                          </a:solidFill>
                          <a:latin typeface="Calibri" pitchFamily="34" charset="0"/>
                          <a:ea typeface="Calibri" pitchFamily="34" charset="-122"/>
                          <a:cs typeface="Calibri" pitchFamily="34" charset="-120"/>
                        </a:rPr>
                        <a:t>stijgen</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stijging</a:t>
                      </a:r>
                      <a:r>
                        <a:rPr lang="en-US" sz="1700" i="1" dirty="0">
                          <a:solidFill>
                            <a:srgbClr val="1B2333"/>
                          </a:solidFill>
                          <a:latin typeface="Calibri" pitchFamily="34" charset="0"/>
                          <a:ea typeface="Calibri" pitchFamily="34" charset="-122"/>
                          <a:cs typeface="Calibri" pitchFamily="34" charset="-120"/>
                        </a:rPr>
                        <a:t> van de prijzen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i="1" dirty="0">
                          <a:solidFill>
                            <a:srgbClr val="1B2333"/>
                          </a:solidFill>
                          <a:latin typeface="Calibri" pitchFamily="34" charset="0"/>
                          <a:ea typeface="Calibri" pitchFamily="34" charset="-122"/>
                          <a:cs typeface="Calibri" pitchFamily="34" charset="-120"/>
                        </a:rPr>
                        <a:t>We </a:t>
                      </a:r>
                      <a:r>
                        <a:rPr lang="en-US" sz="1700" b="1" i="1" dirty="0">
                          <a:solidFill>
                            <a:srgbClr val="B83227"/>
                          </a:solidFill>
                          <a:latin typeface="Calibri" pitchFamily="34" charset="0"/>
                          <a:ea typeface="Calibri" pitchFamily="34" charset="-122"/>
                          <a:cs typeface="Calibri" pitchFamily="34" charset="-120"/>
                        </a:rPr>
                        <a:t>openen</a:t>
                      </a:r>
                      <a:r>
                        <a:rPr lang="en-US" sz="1700" i="1" dirty="0">
                          <a:solidFill>
                            <a:srgbClr val="1B2333"/>
                          </a:solidFill>
                          <a:latin typeface="Calibri" pitchFamily="34" charset="0"/>
                          <a:ea typeface="Calibri" pitchFamily="34" charset="-122"/>
                          <a:cs typeface="Calibri" pitchFamily="34" charset="-120"/>
                        </a:rPr>
                        <a:t> het nieuwe kantoor.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opening</a:t>
                      </a:r>
                      <a:r>
                        <a:rPr lang="en-US" sz="1700" i="1" dirty="0">
                          <a:solidFill>
                            <a:srgbClr val="1B2333"/>
                          </a:solidFill>
                          <a:latin typeface="Calibri" pitchFamily="34" charset="0"/>
                          <a:ea typeface="Calibri" pitchFamily="34" charset="-122"/>
                          <a:cs typeface="Calibri" pitchFamily="34" charset="-120"/>
                        </a:rPr>
                        <a:t> van het nieuwe kantoor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i="1" dirty="0">
                          <a:solidFill>
                            <a:srgbClr val="1B2333"/>
                          </a:solidFill>
                          <a:latin typeface="Calibri" pitchFamily="34" charset="0"/>
                          <a:ea typeface="Calibri" pitchFamily="34" charset="-122"/>
                          <a:cs typeface="Calibri" pitchFamily="34" charset="-120"/>
                        </a:rPr>
                        <a:t>De trein </a:t>
                      </a:r>
                      <a:r>
                        <a:rPr lang="en-US" sz="1700" b="1" i="1" dirty="0">
                          <a:solidFill>
                            <a:srgbClr val="B83227"/>
                          </a:solidFill>
                          <a:latin typeface="Calibri" pitchFamily="34" charset="0"/>
                          <a:ea typeface="Calibri" pitchFamily="34" charset="-122"/>
                          <a:cs typeface="Calibri" pitchFamily="34" charset="-120"/>
                        </a:rPr>
                        <a:t>vertrekt</a:t>
                      </a:r>
                      <a:r>
                        <a:rPr lang="en-US" sz="1700" i="1" dirty="0">
                          <a:solidFill>
                            <a:srgbClr val="1B2333"/>
                          </a:solidFill>
                          <a:latin typeface="Calibri" pitchFamily="34" charset="0"/>
                          <a:ea typeface="Calibri" pitchFamily="34" charset="-122"/>
                          <a:cs typeface="Calibri" pitchFamily="34" charset="-120"/>
                        </a:rPr>
                        <a:t> om 8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vertrek</a:t>
                      </a:r>
                      <a:r>
                        <a:rPr lang="en-US" sz="1700" i="1" dirty="0">
                          <a:solidFill>
                            <a:srgbClr val="1B2333"/>
                          </a:solidFill>
                          <a:latin typeface="Calibri" pitchFamily="34" charset="0"/>
                          <a:ea typeface="Calibri" pitchFamily="34" charset="-122"/>
                          <a:cs typeface="Calibri" pitchFamily="34" charset="-120"/>
                        </a:rPr>
                        <a:t> van de trein: 8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12064">
                <a:tc>
                  <a:txBody>
                    <a:bodyPr/>
                    <a:lstStyle/>
                    <a:p>
                      <a:pPr algn="ctr" indent="0" marL="0">
                        <a:buNone/>
                      </a:pPr>
                      <a:r>
                        <a:rPr lang="en-US" sz="1700" i="1" dirty="0">
                          <a:solidFill>
                            <a:srgbClr val="1B2333"/>
                          </a:solidFill>
                          <a:latin typeface="Calibri" pitchFamily="34" charset="0"/>
                          <a:ea typeface="Calibri" pitchFamily="34" charset="-122"/>
                          <a:cs typeface="Calibri" pitchFamily="34" charset="-120"/>
                        </a:rPr>
                        <a:t>Je moet </a:t>
                      </a:r>
                      <a:r>
                        <a:rPr lang="en-US" sz="1700" b="1" i="1" dirty="0">
                          <a:solidFill>
                            <a:srgbClr val="2E7D4F"/>
                          </a:solidFill>
                          <a:latin typeface="Calibri" pitchFamily="34" charset="0"/>
                          <a:ea typeface="Calibri" pitchFamily="34" charset="-122"/>
                          <a:cs typeface="Calibri" pitchFamily="34" charset="-120"/>
                        </a:rPr>
                        <a:t>snel</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B83227"/>
                          </a:solidFill>
                          <a:latin typeface="Calibri" pitchFamily="34" charset="0"/>
                          <a:ea typeface="Calibri" pitchFamily="34" charset="-122"/>
                          <a:cs typeface="Calibri" pitchFamily="34" charset="-120"/>
                        </a:rPr>
                        <a:t>betalen</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Snelle</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A6FB0"/>
                          </a:solidFill>
                          <a:latin typeface="Calibri" pitchFamily="34" charset="0"/>
                          <a:ea typeface="Calibri" pitchFamily="34" charset="-122"/>
                          <a:cs typeface="Calibri" pitchFamily="34" charset="-120"/>
                        </a:rPr>
                        <a:t>betaling</a:t>
                      </a:r>
                      <a:r>
                        <a:rPr lang="en-US" sz="1700" i="1" dirty="0">
                          <a:solidFill>
                            <a:srgbClr val="1B2333"/>
                          </a:solidFill>
                          <a:latin typeface="Calibri" pitchFamily="34" charset="0"/>
                          <a:ea typeface="Calibri" pitchFamily="34" charset="-122"/>
                          <a:cs typeface="Calibri" pitchFamily="34" charset="-120"/>
                        </a:rPr>
                        <a:t> gevraagd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2253996" y="4434840"/>
          <a:ext cx="7680960" cy="914400"/>
        </p:xfrm>
        <a:graphic>
          <a:graphicData uri="http://schemas.openxmlformats.org/drawingml/2006/table">
            <a:tbl>
              <a:tblPr/>
              <a:tblGrid>
                <a:gridCol w="2926080"/>
                <a:gridCol w="4754880"/>
              </a:tblGrid>
              <a:tr h="384048">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CE QUI CHANGE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384048">
                <a:tc>
                  <a:txBody>
                    <a:bodyPr/>
                    <a:lstStyle/>
                    <a:p>
                      <a:pPr algn="l" indent="0" marL="0">
                        <a:buNone/>
                      </a:pPr>
                      <a:r>
                        <a:rPr lang="en-US" sz="1450" b="1" dirty="0">
                          <a:solidFill>
                            <a:srgbClr val="B83227"/>
                          </a:solidFill>
                          <a:latin typeface="Calibri" pitchFamily="34" charset="0"/>
                          <a:ea typeface="Calibri" pitchFamily="34" charset="-122"/>
                          <a:cs typeface="Calibri" pitchFamily="34" charset="-120"/>
                        </a:rPr>
                        <a:t>le verbe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333"/>
                          </a:solidFill>
                          <a:latin typeface="Calibri" pitchFamily="34" charset="0"/>
                          <a:ea typeface="Calibri" pitchFamily="34" charset="-122"/>
                          <a:cs typeface="Calibri" pitchFamily="34" charset="-120"/>
                        </a:rPr>
                        <a:t>devient un </a:t>
                      </a:r>
                      <a:r>
                        <a:rPr lang="en-US" sz="1450" b="1" dirty="0">
                          <a:solidFill>
                            <a:srgbClr val="2A6FB0"/>
                          </a:solidFill>
                          <a:latin typeface="Calibri" pitchFamily="34" charset="0"/>
                          <a:ea typeface="Calibri" pitchFamily="34" charset="-122"/>
                          <a:cs typeface="Calibri" pitchFamily="34" charset="-120"/>
                        </a:rPr>
                        <a:t>nom</a:t>
                      </a:r>
                      <a:r>
                        <a:rPr lang="en-US" sz="1450" dirty="0">
                          <a:solidFill>
                            <a:srgbClr val="1B2333"/>
                          </a:solidFill>
                          <a:latin typeface="Calibri" pitchFamily="34" charset="0"/>
                          <a:ea typeface="Calibri" pitchFamily="34" charset="-122"/>
                          <a:cs typeface="Calibri" pitchFamily="34" charset="-120"/>
                        </a:rPr>
                        <a:t> (</a:t>
                      </a:r>
                      <a:r>
                        <a:rPr lang="en-US" sz="1450" i="1" dirty="0">
                          <a:solidFill>
                            <a:srgbClr val="1B2333"/>
                          </a:solidFill>
                          <a:latin typeface="Calibri" pitchFamily="34" charset="0"/>
                          <a:ea typeface="Calibri" pitchFamily="34" charset="-122"/>
                          <a:cs typeface="Calibri" pitchFamily="34" charset="-120"/>
                        </a:rPr>
                        <a:t>-</a:t>
                      </a:r>
                      <a:r>
                        <a:rPr lang="en-US" sz="1450" b="1" i="1" dirty="0">
                          <a:solidFill>
                            <a:srgbClr val="6E4A9E"/>
                          </a:solidFill>
                          <a:latin typeface="Calibri" pitchFamily="34" charset="0"/>
                          <a:ea typeface="Calibri" pitchFamily="34" charset="-122"/>
                          <a:cs typeface="Calibri" pitchFamily="34" charset="-120"/>
                        </a:rPr>
                        <a:t>ing</a:t>
                      </a:r>
                      <a:r>
                        <a:rPr lang="en-US" sz="1450" dirty="0">
                          <a:solidFill>
                            <a:srgbClr val="1B2333"/>
                          </a:solidFill>
                          <a:latin typeface="Calibri" pitchFamily="34" charset="0"/>
                          <a:ea typeface="Calibri" pitchFamily="34" charset="-122"/>
                          <a:cs typeface="Calibri" pitchFamily="34" charset="-120"/>
                        </a:rPr>
                        <a:t>, radical…)</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384048">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le sujet, le complément</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333"/>
                          </a:solidFill>
                          <a:latin typeface="Calibri" pitchFamily="34" charset="0"/>
                          <a:ea typeface="Calibri" pitchFamily="34" charset="-122"/>
                          <a:cs typeface="Calibri" pitchFamily="34" charset="-120"/>
                        </a:rPr>
                        <a:t>passent derrière </a:t>
                      </a:r>
                      <a:r>
                        <a:rPr lang="en-US" sz="1450" b="1" i="1" dirty="0">
                          <a:solidFill>
                            <a:srgbClr val="6E4A9E"/>
                          </a:solidFill>
                          <a:latin typeface="Calibri" pitchFamily="34" charset="0"/>
                          <a:ea typeface="Calibri" pitchFamily="34" charset="-122"/>
                          <a:cs typeface="Calibri" pitchFamily="34" charset="-120"/>
                        </a:rPr>
                        <a:t>van</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384048">
                <a:tc>
                  <a:txBody>
                    <a:bodyPr/>
                    <a:lstStyle/>
                    <a:p>
                      <a:pPr algn="l" indent="0" marL="0">
                        <a:buNone/>
                      </a:pPr>
                      <a:r>
                        <a:rPr lang="en-US" sz="1450" b="1" dirty="0">
                          <a:solidFill>
                            <a:srgbClr val="2E7D4F"/>
                          </a:solidFill>
                          <a:latin typeface="Calibri" pitchFamily="34" charset="0"/>
                          <a:ea typeface="Calibri" pitchFamily="34" charset="-122"/>
                          <a:cs typeface="Calibri" pitchFamily="34" charset="-120"/>
                        </a:rPr>
                        <a:t>l’adverbe</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50" dirty="0">
                          <a:solidFill>
                            <a:srgbClr val="1B2333"/>
                          </a:solidFill>
                          <a:latin typeface="Calibri" pitchFamily="34" charset="0"/>
                          <a:ea typeface="Calibri" pitchFamily="34" charset="-122"/>
                          <a:cs typeface="Calibri" pitchFamily="34" charset="-120"/>
                        </a:rPr>
                        <a:t>devient un </a:t>
                      </a:r>
                      <a:r>
                        <a:rPr lang="en-US" sz="1450" b="1" dirty="0">
                          <a:solidFill>
                            <a:srgbClr val="D9700F"/>
                          </a:solidFill>
                          <a:latin typeface="Calibri" pitchFamily="34" charset="0"/>
                          <a:ea typeface="Calibri" pitchFamily="34" charset="-122"/>
                          <a:cs typeface="Calibri" pitchFamily="34" charset="-120"/>
                        </a:rPr>
                        <a:t>adjectif</a:t>
                      </a:r>
                      <a:r>
                        <a:rPr lang="en-US" sz="1450" dirty="0">
                          <a:solidFill>
                            <a:srgbClr val="1B2333"/>
                          </a:solidFill>
                          <a:latin typeface="Calibri" pitchFamily="34" charset="0"/>
                          <a:ea typeface="Calibri" pitchFamily="34" charset="-122"/>
                          <a:cs typeface="Calibri" pitchFamily="34" charset="-120"/>
                        </a:rPr>
                        <a:t> (+ </a:t>
                      </a:r>
                      <a:r>
                        <a:rPr lang="en-US" sz="1450" b="1" i="1" dirty="0">
                          <a:solidFill>
                            <a:srgbClr val="6E4A9E"/>
                          </a:solidFill>
                          <a:latin typeface="Calibri" pitchFamily="34" charset="0"/>
                          <a:ea typeface="Calibri" pitchFamily="34" charset="-122"/>
                          <a:cs typeface="Calibri" pitchFamily="34" charset="-120"/>
                        </a:rPr>
                        <a:t>-e</a:t>
                      </a:r>
                      <a:r>
                        <a:rPr lang="en-US" sz="1450" dirty="0">
                          <a:solidFill>
                            <a:srgbClr val="1B2333"/>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suffixes jumeaux</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FR ↔ NL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2960" y="1508760"/>
          <a:ext cx="10543032" cy="914400"/>
        </p:xfrm>
        <a:graphic>
          <a:graphicData uri="http://schemas.openxmlformats.org/drawingml/2006/table">
            <a:tbl>
              <a:tblPr/>
              <a:tblGrid>
                <a:gridCol w="1554480"/>
                <a:gridCol w="3063240"/>
                <a:gridCol w="1965960"/>
                <a:gridCol w="3959352"/>
              </a:tblGrid>
              <a:tr h="429768">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FRANÇAIS</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NÉERLANDAIS</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l’information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-tie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de informatie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-ité</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la qualité</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-iteit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de kwaliteit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-ique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technique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-isch · -iek</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technisch · de techniek</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-able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payable · acceptable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-baar · -abel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betaalbaar · acceptabel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-er</a:t>
                      </a:r>
                      <a:r>
                        <a:rPr lang="en-US" sz="1550" dirty="0">
                          <a:solidFill>
                            <a:srgbClr val="1B2333"/>
                          </a:solidFill>
                          <a:latin typeface="Calibri" pitchFamily="34" charset="0"/>
                          <a:ea typeface="Calibri" pitchFamily="34" charset="-122"/>
                          <a:cs typeface="Calibri" pitchFamily="34" charset="-120"/>
                        </a:rPr>
                        <a:t> (verbe)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informer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informeren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-isme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le tourisme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-isme</a:t>
                      </a:r>
                      <a:r>
                        <a:rPr lang="en-US" sz="1550" dirty="0">
                          <a:solidFill>
                            <a:srgbClr val="1B2333"/>
                          </a:solidFill>
                          <a:latin typeface="Calibri" pitchFamily="34" charset="0"/>
                          <a:ea typeface="Calibri" pitchFamily="34" charset="-122"/>
                          <a:cs typeface="Calibri" pitchFamily="34" charset="-120"/>
                        </a:rPr>
                        <a:t> (het)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het toerisme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29768">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dirty="0">
                          <a:solidFill>
                            <a:srgbClr val="1B2333"/>
                          </a:solidFill>
                          <a:latin typeface="Calibri" pitchFamily="34" charset="0"/>
                          <a:ea typeface="Calibri" pitchFamily="34" charset="-122"/>
                          <a:cs typeface="Calibri" pitchFamily="34" charset="-120"/>
                        </a:rPr>
                        <a:t>le journaliste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b="1" dirty="0">
                          <a:solidFill>
                            <a:srgbClr val="6E4A9E"/>
                          </a:solidFill>
                          <a:latin typeface="Calibri" pitchFamily="34" charset="0"/>
                          <a:ea typeface="Calibri" pitchFamily="34" charset="-122"/>
                          <a:cs typeface="Calibri" pitchFamily="34" charset="-120"/>
                        </a:rPr>
                        <a:t>-ist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50" i="1" dirty="0">
                          <a:solidFill>
                            <a:srgbClr val="1B2333"/>
                          </a:solidFill>
                          <a:latin typeface="Calibri" pitchFamily="34" charset="0"/>
                          <a:ea typeface="Calibri" pitchFamily="34" charset="-122"/>
                          <a:cs typeface="Calibri" pitchFamily="34" charset="-120"/>
                        </a:rPr>
                        <a:t>de journalist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Shape 2"/>
          <p:cNvSpPr/>
          <p:nvPr/>
        </p:nvSpPr>
        <p:spPr>
          <a:xfrm>
            <a:off x="2619756" y="5120640"/>
            <a:ext cx="6949440" cy="868680"/>
          </a:xfrm>
          <a:prstGeom prst="roundRect">
            <a:avLst>
              <a:gd name="adj" fmla="val 10526"/>
            </a:avLst>
          </a:prstGeom>
          <a:solidFill>
            <a:srgbClr val="FBEDEB"/>
          </a:solidFill>
          <a:ln w="12700">
            <a:solidFill>
              <a:srgbClr val="FFFFFF">
                <a:alpha val="0"/>
              </a:srgbClr>
            </a:solidFill>
            <a:prstDash val="solid"/>
          </a:ln>
        </p:spPr>
      </p:sp>
      <p:sp>
        <p:nvSpPr>
          <p:cNvPr id="7" name="Shape 3"/>
          <p:cNvSpPr/>
          <p:nvPr/>
        </p:nvSpPr>
        <p:spPr>
          <a:xfrm>
            <a:off x="2793492" y="5294376"/>
            <a:ext cx="310896" cy="310896"/>
          </a:xfrm>
          <a:prstGeom prst="ellipse">
            <a:avLst/>
          </a:prstGeom>
          <a:solidFill>
            <a:srgbClr val="B83227"/>
          </a:solidFill>
          <a:ln w="12700">
            <a:solidFill>
              <a:srgbClr val="FFFFFF">
                <a:alpha val="0"/>
              </a:srgbClr>
            </a:solidFill>
            <a:prstDash val="solid"/>
          </a:ln>
        </p:spPr>
      </p:sp>
      <p:sp>
        <p:nvSpPr>
          <p:cNvPr id="8" name="Text 4"/>
          <p:cNvSpPr txBox="1"/>
          <p:nvPr/>
        </p:nvSpPr>
        <p:spPr>
          <a:xfrm>
            <a:off x="2793492" y="52943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5"/>
          <p:cNvSpPr txBox="1"/>
          <p:nvPr/>
        </p:nvSpPr>
        <p:spPr>
          <a:xfrm>
            <a:off x="3241548" y="5230368"/>
            <a:ext cx="6172200" cy="292608"/>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Faux ami</a:t>
            </a:r>
            <a:endParaRPr lang="en-US" sz="1300" dirty="0"/>
          </a:p>
        </p:txBody>
      </p:sp>
      <p:sp>
        <p:nvSpPr>
          <p:cNvPr id="10" name="Text 6"/>
          <p:cNvSpPr txBox="1"/>
          <p:nvPr/>
        </p:nvSpPr>
        <p:spPr>
          <a:xfrm>
            <a:off x="3241548" y="5522976"/>
            <a:ext cx="6172200" cy="393192"/>
          </a:xfrm>
          <a:prstGeom prst="rect">
            <a:avLst/>
          </a:prstGeom>
          <a:noFill/>
          <a:ln/>
        </p:spPr>
        <p:txBody>
          <a:bodyPr wrap="square" lIns="0" tIns="0" rIns="0" bIns="0" rtlCol="0" anchor="t"/>
          <a:lstStyle/>
          <a:p>
            <a:pPr algn="l" indent="0" marL="0">
              <a:spcAft>
                <a:spcPts val="200"/>
              </a:spcAft>
              <a:buNone/>
            </a:pPr>
            <a:r>
              <a:rPr lang="en-US" sz="1400" i="1" dirty="0">
                <a:solidFill>
                  <a:srgbClr val="1B2333"/>
                </a:solidFill>
                <a:latin typeface="Calibri" pitchFamily="34" charset="0"/>
                <a:ea typeface="Calibri" pitchFamily="34" charset="-122"/>
                <a:cs typeface="Calibri" pitchFamily="34" charset="-120"/>
              </a:rPr>
              <a:t>de lezing</a:t>
            </a:r>
            <a:r>
              <a:rPr lang="en-US" sz="1400" dirty="0">
                <a:solidFill>
                  <a:srgbClr val="1B2333"/>
                </a:solidFill>
                <a:latin typeface="Calibri" pitchFamily="34" charset="0"/>
                <a:ea typeface="Calibri" pitchFamily="34" charset="-122"/>
                <a:cs typeface="Calibri" pitchFamily="34" charset="-120"/>
              </a:rPr>
              <a:t> = la </a:t>
            </a:r>
            <a:r>
              <a:rPr lang="en-US" sz="1400" b="1" dirty="0">
                <a:solidFill>
                  <a:srgbClr val="1B2333"/>
                </a:solidFill>
                <a:latin typeface="Calibri" pitchFamily="34" charset="0"/>
                <a:ea typeface="Calibri" pitchFamily="34" charset="-122"/>
                <a:cs typeface="Calibri" pitchFamily="34" charset="-120"/>
              </a:rPr>
              <a:t>conférence</a:t>
            </a:r>
            <a:r>
              <a:rPr lang="en-US" sz="1400" dirty="0">
                <a:solidFill>
                  <a:srgbClr val="1B2333"/>
                </a:solidFill>
                <a:latin typeface="Calibri" pitchFamily="34" charset="0"/>
                <a:ea typeface="Calibri" pitchFamily="34" charset="-122"/>
                <a:cs typeface="Calibri" pitchFamily="34" charset="-120"/>
              </a:rPr>
              <a:t> (la lecture = </a:t>
            </a:r>
            <a:r>
              <a:rPr lang="en-US" sz="1400" i="1" dirty="0">
                <a:solidFill>
                  <a:srgbClr val="1B2333"/>
                </a:solidFill>
                <a:latin typeface="Calibri" pitchFamily="34" charset="0"/>
                <a:ea typeface="Calibri" pitchFamily="34" charset="-122"/>
                <a:cs typeface="Calibri" pitchFamily="34" charset="-120"/>
              </a:rPr>
              <a:t>het lezen</a:t>
            </a:r>
            <a:r>
              <a:rPr lang="en-US" sz="1400" dirty="0">
                <a:solidFill>
                  <a:srgbClr val="1B2333"/>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Six pièges à éviter</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PIÈGES</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43032" cy="914400"/>
        </p:xfrm>
        <a:graphic>
          <a:graphicData uri="http://schemas.openxmlformats.org/drawingml/2006/table">
            <a:tbl>
              <a:tblPr/>
              <a:tblGrid>
                <a:gridCol w="3291840"/>
                <a:gridCol w="3657600"/>
                <a:gridCol w="3593592"/>
              </a:tblGrid>
              <a:tr h="548640">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LE PIÈGE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trike="sngStrike" spc="200" kern="0" dirty="0">
                          <a:solidFill>
                            <a:srgbClr val="B5473C"/>
                          </a:solidFill>
                          <a:latin typeface="Calibri" pitchFamily="34" charset="0"/>
                          <a:ea typeface="Calibri" pitchFamily="34" charset="-122"/>
                          <a:cs typeface="Calibri" pitchFamily="34" charset="-120"/>
                        </a:rPr>
                        <a:t>FAUX</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E7D4F"/>
                          </a:solidFill>
                          <a:latin typeface="Calibri" pitchFamily="34" charset="0"/>
                          <a:ea typeface="Calibri" pitchFamily="34" charset="-122"/>
                          <a:cs typeface="Calibri" pitchFamily="34" charset="-120"/>
                        </a:rPr>
                        <a:t>JUSTE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l’adverbe en </a:t>
                      </a:r>
                      <a:r>
                        <a:rPr lang="en-US" sz="1700" i="1" dirty="0">
                          <a:solidFill>
                            <a:srgbClr val="1B2333"/>
                          </a:solidFill>
                          <a:latin typeface="Calibri" pitchFamily="34" charset="0"/>
                          <a:ea typeface="Calibri" pitchFamily="34" charset="-122"/>
                          <a:cs typeface="Calibri" pitchFamily="34" charset="-120"/>
                        </a:rPr>
                        <a:t>-lijk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Hij werkt snellijk.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E7D4F"/>
                          </a:solidFill>
                          <a:latin typeface="Calibri" pitchFamily="34" charset="0"/>
                          <a:ea typeface="Calibri" pitchFamily="34" charset="-122"/>
                          <a:cs typeface="Calibri" pitchFamily="34" charset="-120"/>
                        </a:rPr>
                        <a:t>Hij werkt </a:t>
                      </a:r>
                      <a:r>
                        <a:rPr lang="en-US" sz="1700" b="1" i="1" dirty="0">
                          <a:solidFill>
                            <a:srgbClr val="6E4A9E"/>
                          </a:solidFill>
                          <a:latin typeface="Calibri" pitchFamily="34" charset="0"/>
                          <a:ea typeface="Calibri" pitchFamily="34" charset="-122"/>
                          <a:cs typeface="Calibri" pitchFamily="34" charset="-120"/>
                        </a:rPr>
                        <a:t>snel</a:t>
                      </a:r>
                      <a:r>
                        <a:rPr lang="en-US" sz="1700" b="1" i="1" dirty="0">
                          <a:solidFill>
                            <a:srgbClr val="2E7D4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-ing</a:t>
                      </a:r>
                      <a:r>
                        <a:rPr lang="en-US" sz="1700" dirty="0">
                          <a:solidFill>
                            <a:srgbClr val="1B2333"/>
                          </a:solidFill>
                          <a:latin typeface="Calibri" pitchFamily="34" charset="0"/>
                          <a:ea typeface="Calibri" pitchFamily="34" charset="-122"/>
                          <a:cs typeface="Calibri" pitchFamily="34" charset="-120"/>
                        </a:rPr>
                        <a:t> partout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de eting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het</a:t>
                      </a:r>
                      <a:r>
                        <a:rPr lang="en-US" sz="1700" b="1" i="1" dirty="0">
                          <a:solidFill>
                            <a:srgbClr val="2E7D4F"/>
                          </a:solidFill>
                          <a:latin typeface="Calibri" pitchFamily="34" charset="0"/>
                          <a:ea typeface="Calibri" pitchFamily="34" charset="-122"/>
                          <a:cs typeface="Calibri" pitchFamily="34" charset="-120"/>
                        </a:rPr>
                        <a:t> eten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-heid</a:t>
                      </a:r>
                      <a:r>
                        <a:rPr lang="en-US" sz="1700" dirty="0">
                          <a:solidFill>
                            <a:srgbClr val="1B2333"/>
                          </a:solidFill>
                          <a:latin typeface="Calibri" pitchFamily="34" charset="0"/>
                          <a:ea typeface="Calibri" pitchFamily="34" charset="-122"/>
                          <a:cs typeface="Calibri" pitchFamily="34" charset="-120"/>
                        </a:rPr>
                        <a:t> au lieu de </a:t>
                      </a:r>
                      <a:r>
                        <a:rPr lang="en-US" sz="1700" i="1" dirty="0">
                          <a:solidFill>
                            <a:srgbClr val="1B2333"/>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de warmheid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E7D4F"/>
                          </a:solidFill>
                          <a:latin typeface="Calibri" pitchFamily="34" charset="0"/>
                          <a:ea typeface="Calibri" pitchFamily="34" charset="-122"/>
                          <a:cs typeface="Calibri" pitchFamily="34" charset="-120"/>
                        </a:rPr>
                        <a:t>de warm</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l’article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het vergadering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de</a:t>
                      </a:r>
                      <a:r>
                        <a:rPr lang="en-US" sz="1700" b="1" i="1" dirty="0">
                          <a:solidFill>
                            <a:srgbClr val="2E7D4F"/>
                          </a:solidFill>
                          <a:latin typeface="Calibri" pitchFamily="34" charset="0"/>
                          <a:ea typeface="Calibri" pitchFamily="34" charset="-122"/>
                          <a:cs typeface="Calibri" pitchFamily="34" charset="-120"/>
                        </a:rPr>
                        <a:t> vergadering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l’orthographe de </a:t>
                      </a:r>
                      <a:r>
                        <a:rPr lang="en-US" sz="1700" i="1" dirty="0">
                          <a:solidFill>
                            <a:srgbClr val="1B2333"/>
                          </a:solidFill>
                          <a:latin typeface="Calibri" pitchFamily="34" charset="0"/>
                          <a:ea typeface="Calibri" pitchFamily="34" charset="-122"/>
                          <a:cs typeface="Calibri" pitchFamily="34" charset="-120"/>
                        </a:rPr>
                        <a:t>-baar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betalbaar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E7D4F"/>
                          </a:solidFill>
                          <a:latin typeface="Calibri" pitchFamily="34" charset="0"/>
                          <a:ea typeface="Calibri" pitchFamily="34" charset="-122"/>
                          <a:cs typeface="Calibri" pitchFamily="34" charset="-120"/>
                        </a:rPr>
                        <a:t>bet</a:t>
                      </a:r>
                      <a:r>
                        <a:rPr lang="en-US" sz="1700" b="1" i="1" dirty="0">
                          <a:solidFill>
                            <a:srgbClr val="6E4A9E"/>
                          </a:solidFill>
                          <a:latin typeface="Calibri" pitchFamily="34" charset="0"/>
                          <a:ea typeface="Calibri" pitchFamily="34" charset="-122"/>
                          <a:cs typeface="Calibri" pitchFamily="34" charset="-120"/>
                        </a:rPr>
                        <a:t>aa</a:t>
                      </a:r>
                      <a:r>
                        <a:rPr lang="en-US" sz="1700" b="1" i="1" dirty="0">
                          <a:solidFill>
                            <a:srgbClr val="2E7D4F"/>
                          </a:solidFill>
                          <a:latin typeface="Calibri" pitchFamily="34" charset="0"/>
                          <a:ea typeface="Calibri" pitchFamily="34" charset="-122"/>
                          <a:cs typeface="Calibri" pitchFamily="34" charset="-120"/>
                        </a:rPr>
                        <a:t>lbaar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le faux ami</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i="1" strike="sngStrike" dirty="0">
                          <a:solidFill>
                            <a:srgbClr val="B5473C"/>
                          </a:solidFill>
                          <a:latin typeface="Calibri" pitchFamily="34" charset="0"/>
                          <a:ea typeface="Calibri" pitchFamily="34" charset="-122"/>
                          <a:cs typeface="Calibri" pitchFamily="34" charset="-120"/>
                        </a:rPr>
                        <a:t>de lezing</a:t>
                      </a:r>
                      <a:r>
                        <a:rPr lang="en-US" sz="1700" strike="sngStrike" dirty="0">
                          <a:solidFill>
                            <a:srgbClr val="B5473C"/>
                          </a:solidFill>
                          <a:latin typeface="Calibri" pitchFamily="34" charset="0"/>
                          <a:ea typeface="Calibri" pitchFamily="34" charset="-122"/>
                          <a:cs typeface="Calibri" pitchFamily="34" charset="-120"/>
                        </a:rPr>
                        <a:t> (= la lecture)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het</a:t>
                      </a:r>
                      <a:r>
                        <a:rPr lang="en-US" sz="1700" b="1" i="1" dirty="0">
                          <a:solidFill>
                            <a:srgbClr val="2E7D4F"/>
                          </a:solidFill>
                          <a:latin typeface="Calibri" pitchFamily="34" charset="0"/>
                          <a:ea typeface="Calibri" pitchFamily="34" charset="-122"/>
                          <a:cs typeface="Calibri" pitchFamily="34" charset="-120"/>
                        </a:rPr>
                        <a:t> lezen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 boîte à suffixes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À RETENIR</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22960" y="1508760"/>
          <a:ext cx="10543032" cy="914400"/>
        </p:xfrm>
        <a:graphic>
          <a:graphicData uri="http://schemas.openxmlformats.org/drawingml/2006/table">
            <a:tbl>
              <a:tblPr/>
              <a:tblGrid>
                <a:gridCol w="2651760"/>
                <a:gridCol w="7891272"/>
              </a:tblGrid>
              <a:tr h="457200">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PASSAGE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SUFFIXES ET PRÉFIXES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B83227"/>
                          </a:solidFill>
                          <a:latin typeface="Calibri" pitchFamily="34" charset="0"/>
                          <a:ea typeface="Calibri" pitchFamily="34" charset="-122"/>
                          <a:cs typeface="Calibri" pitchFamily="34" charset="-120"/>
                        </a:rPr>
                        <a:t>verbe</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6E4A9E"/>
                          </a:solidFill>
                          <a:latin typeface="Calibri" pitchFamily="34" charset="0"/>
                          <a:ea typeface="Calibri" pitchFamily="34" charset="-122"/>
                          <a:cs typeface="Calibri" pitchFamily="34" charset="-120"/>
                        </a:rPr>
                        <a:t>het</a:t>
                      </a:r>
                      <a:r>
                        <a:rPr lang="en-US" sz="1600" dirty="0">
                          <a:solidFill>
                            <a:srgbClr val="1B2333"/>
                          </a:solidFill>
                          <a:latin typeface="Calibri" pitchFamily="34" charset="0"/>
                          <a:ea typeface="Calibri" pitchFamily="34" charset="-122"/>
                          <a:cs typeface="Calibri" pitchFamily="34" charset="-120"/>
                        </a:rPr>
                        <a:t> + infinitif · radical · </a:t>
                      </a:r>
                      <a:r>
                        <a:rPr lang="en-US" sz="1600" b="1" dirty="0">
                          <a:solidFill>
                            <a:srgbClr val="6E4A9E"/>
                          </a:solidFill>
                          <a:latin typeface="Calibri" pitchFamily="34" charset="0"/>
                          <a:ea typeface="Calibri" pitchFamily="34" charset="-122"/>
                          <a:cs typeface="Calibri" pitchFamily="34" charset="-120"/>
                        </a:rPr>
                        <a:t>-ing</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-er / -aar / -der</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-eren → -atie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D9700F"/>
                          </a:solidFill>
                          <a:latin typeface="Calibri" pitchFamily="34" charset="0"/>
                          <a:ea typeface="Calibri" pitchFamily="34" charset="-122"/>
                          <a:cs typeface="Calibri" pitchFamily="34" charset="-120"/>
                        </a:rPr>
                        <a:t>adjectif</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2A6FB0"/>
                          </a:solidFill>
                          <a:latin typeface="Calibri" pitchFamily="34" charset="0"/>
                          <a:ea typeface="Calibri" pitchFamily="34" charset="-122"/>
                          <a:cs typeface="Calibri" pitchFamily="34" charset="-120"/>
                        </a:rPr>
                        <a:t>nom</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6E4A9E"/>
                          </a:solidFill>
                          <a:latin typeface="Calibri" pitchFamily="34" charset="0"/>
                          <a:ea typeface="Calibri" pitchFamily="34" charset="-122"/>
                          <a:cs typeface="Calibri" pitchFamily="34" charset="-120"/>
                        </a:rPr>
                        <a:t>-heid</a:t>
                      </a:r>
                      <a:r>
                        <a:rPr lang="en-US" sz="1600" dirty="0">
                          <a:solidFill>
                            <a:srgbClr val="1B2333"/>
                          </a:solidFill>
                          <a:latin typeface="Calibri" pitchFamily="34" charset="0"/>
                          <a:ea typeface="Calibri" pitchFamily="34" charset="-122"/>
                          <a:cs typeface="Calibri" pitchFamily="34" charset="-120"/>
                        </a:rPr>
                        <a:t> (qualité) · </a:t>
                      </a:r>
                      <a:r>
                        <a:rPr lang="en-US" sz="1600" b="1" dirty="0">
                          <a:solidFill>
                            <a:srgbClr val="6E4A9E"/>
                          </a:solidFill>
                          <a:latin typeface="Calibri" pitchFamily="34" charset="0"/>
                          <a:ea typeface="Calibri" pitchFamily="34" charset="-122"/>
                          <a:cs typeface="Calibri" pitchFamily="34" charset="-120"/>
                        </a:rPr>
                        <a:t>-te</a:t>
                      </a:r>
                      <a:r>
                        <a:rPr lang="en-US" sz="1600" dirty="0">
                          <a:solidFill>
                            <a:srgbClr val="1B2333"/>
                          </a:solidFill>
                          <a:latin typeface="Calibri" pitchFamily="34" charset="0"/>
                          <a:ea typeface="Calibri" pitchFamily="34" charset="-122"/>
                          <a:cs typeface="Calibri" pitchFamily="34" charset="-120"/>
                        </a:rPr>
                        <a:t> (mesure) · </a:t>
                      </a:r>
                      <a:r>
                        <a:rPr lang="en-US" sz="1600" b="1" dirty="0">
                          <a:solidFill>
                            <a:srgbClr val="6E4A9E"/>
                          </a:solidFill>
                          <a:latin typeface="Calibri" pitchFamily="34" charset="0"/>
                          <a:ea typeface="Calibri" pitchFamily="34" charset="-122"/>
                          <a:cs typeface="Calibri" pitchFamily="34" charset="-120"/>
                        </a:rPr>
                        <a:t>-iteit</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het</a:t>
                      </a:r>
                      <a:r>
                        <a:rPr lang="en-US" sz="1600" dirty="0">
                          <a:solidFill>
                            <a:srgbClr val="1B2333"/>
                          </a:solidFill>
                          <a:latin typeface="Calibri" pitchFamily="34" charset="0"/>
                          <a:ea typeface="Calibri" pitchFamily="34" charset="-122"/>
                          <a:cs typeface="Calibri" pitchFamily="34" charset="-120"/>
                        </a:rPr>
                        <a:t> + adj. + </a:t>
                      </a:r>
                      <a:r>
                        <a:rPr lang="en-US" sz="1600" b="1" dirty="0">
                          <a:solidFill>
                            <a:srgbClr val="6E4A9E"/>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2A6FB0"/>
                          </a:solidFill>
                          <a:latin typeface="Calibri" pitchFamily="34" charset="0"/>
                          <a:ea typeface="Calibri" pitchFamily="34" charset="-122"/>
                          <a:cs typeface="Calibri" pitchFamily="34" charset="-120"/>
                        </a:rPr>
                        <a:t>nom</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6E4A9E"/>
                          </a:solidFill>
                          <a:latin typeface="Calibri" pitchFamily="34" charset="0"/>
                          <a:ea typeface="Calibri" pitchFamily="34" charset="-122"/>
                          <a:cs typeface="Calibri" pitchFamily="34" charset="-120"/>
                        </a:rPr>
                        <a:t>-ig</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-lijk</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-isch</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-loos</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-vol</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-en</a:t>
                      </a:r>
                      <a:r>
                        <a:rPr lang="en-US" sz="1600" dirty="0">
                          <a:solidFill>
                            <a:srgbClr val="1B2333"/>
                          </a:solidFill>
                          <a:latin typeface="Calibri" pitchFamily="34" charset="0"/>
                          <a:ea typeface="Calibri" pitchFamily="34" charset="-122"/>
                          <a:cs typeface="Calibri" pitchFamily="34" charset="-120"/>
                        </a:rPr>
                        <a:t> (matière)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B83227"/>
                          </a:solidFill>
                          <a:latin typeface="Calibri" pitchFamily="34" charset="0"/>
                          <a:ea typeface="Calibri" pitchFamily="34" charset="-122"/>
                          <a:cs typeface="Calibri" pitchFamily="34" charset="-120"/>
                        </a:rPr>
                        <a:t>verbe</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D9700F"/>
                          </a:solidFill>
                          <a:latin typeface="Calibri" pitchFamily="34" charset="0"/>
                          <a:ea typeface="Calibri" pitchFamily="34" charset="-122"/>
                          <a:cs typeface="Calibri" pitchFamily="34" charset="-120"/>
                        </a:rPr>
                        <a:t>adjectif</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6E4A9E"/>
                          </a:solidFill>
                          <a:latin typeface="Calibri" pitchFamily="34" charset="0"/>
                          <a:ea typeface="Calibri" pitchFamily="34" charset="-122"/>
                          <a:cs typeface="Calibri" pitchFamily="34" charset="-120"/>
                        </a:rPr>
                        <a:t>-baar</a:t>
                      </a:r>
                      <a:r>
                        <a:rPr lang="en-US" sz="1600" dirty="0">
                          <a:solidFill>
                            <a:srgbClr val="1B2333"/>
                          </a:solidFill>
                          <a:latin typeface="Calibri" pitchFamily="34" charset="0"/>
                          <a:ea typeface="Calibri" pitchFamily="34" charset="-122"/>
                          <a:cs typeface="Calibri" pitchFamily="34" charset="-120"/>
                        </a:rPr>
                        <a:t> (</a:t>
                      </a:r>
                      <a:r>
                        <a:rPr lang="en-US" sz="1600" b="1" dirty="0">
                          <a:solidFill>
                            <a:srgbClr val="6E4A9E"/>
                          </a:solidFill>
                          <a:latin typeface="Calibri" pitchFamily="34" charset="0"/>
                          <a:ea typeface="Calibri" pitchFamily="34" charset="-122"/>
                          <a:cs typeface="Calibri" pitchFamily="34" charset="-120"/>
                        </a:rPr>
                        <a:t>on-</a:t>
                      </a:r>
                      <a:r>
                        <a:rPr lang="en-US" sz="1600" dirty="0">
                          <a:solidFill>
                            <a:srgbClr val="1B2333"/>
                          </a:solidFill>
                          <a:latin typeface="Calibri" pitchFamily="34" charset="0"/>
                          <a:ea typeface="Calibri" pitchFamily="34" charset="-122"/>
                          <a:cs typeface="Calibri" pitchFamily="34" charset="-120"/>
                        </a:rPr>
                        <a:t> = contraire) · </a:t>
                      </a:r>
                      <a:r>
                        <a:rPr lang="en-US" sz="1600" b="1" dirty="0">
                          <a:solidFill>
                            <a:srgbClr val="6E4A9E"/>
                          </a:solidFill>
                          <a:latin typeface="Calibri" pitchFamily="34" charset="0"/>
                          <a:ea typeface="Calibri" pitchFamily="34" charset="-122"/>
                          <a:cs typeface="Calibri" pitchFamily="34" charset="-120"/>
                        </a:rPr>
                        <a:t>-end</a:t>
                      </a:r>
                      <a:r>
                        <a:rPr lang="en-US" sz="1600" dirty="0">
                          <a:solidFill>
                            <a:srgbClr val="1B2333"/>
                          </a:solidFill>
                          <a:latin typeface="Calibri" pitchFamily="34" charset="0"/>
                          <a:ea typeface="Calibri" pitchFamily="34" charset="-122"/>
                          <a:cs typeface="Calibri" pitchFamily="34" charset="-120"/>
                        </a:rPr>
                        <a:t> · participe passé</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2A6FB0"/>
                          </a:solidFill>
                          <a:latin typeface="Calibri" pitchFamily="34" charset="0"/>
                          <a:ea typeface="Calibri" pitchFamily="34" charset="-122"/>
                          <a:cs typeface="Calibri" pitchFamily="34" charset="-120"/>
                        </a:rPr>
                        <a:t>nom</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 </a:t>
                      </a:r>
                      <a:r>
                        <a:rPr lang="en-US" sz="1600" b="1" dirty="0">
                          <a:solidFill>
                            <a:srgbClr val="6E4A9E"/>
                          </a:solidFill>
                          <a:latin typeface="Calibri" pitchFamily="34" charset="0"/>
                          <a:ea typeface="Calibri" pitchFamily="34" charset="-122"/>
                          <a:cs typeface="Calibri" pitchFamily="34" charset="-120"/>
                        </a:rPr>
                        <a:t>-en</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-eren</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D9700F"/>
                          </a:solidFill>
                          <a:latin typeface="Calibri" pitchFamily="34" charset="0"/>
                          <a:ea typeface="Calibri" pitchFamily="34" charset="-122"/>
                          <a:cs typeface="Calibri" pitchFamily="34" charset="-120"/>
                        </a:rPr>
                        <a:t>adjectif</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B83227"/>
                          </a:solidFill>
                          <a:latin typeface="Calibri" pitchFamily="34" charset="0"/>
                          <a:ea typeface="Calibri" pitchFamily="34" charset="-122"/>
                          <a:cs typeface="Calibri" pitchFamily="34" charset="-120"/>
                        </a:rPr>
                        <a:t>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6E4A9E"/>
                          </a:solidFill>
                          <a:latin typeface="Calibri" pitchFamily="34" charset="0"/>
                          <a:ea typeface="Calibri" pitchFamily="34" charset="-122"/>
                          <a:cs typeface="Calibri" pitchFamily="34" charset="-120"/>
                        </a:rPr>
                        <a:t>ver-</a:t>
                      </a:r>
                      <a:r>
                        <a:rPr lang="en-US" sz="1600" dirty="0">
                          <a:solidFill>
                            <a:srgbClr val="1B2333"/>
                          </a:solidFill>
                          <a:latin typeface="Calibri" pitchFamily="34" charset="0"/>
                          <a:ea typeface="Calibri" pitchFamily="34" charset="-122"/>
                          <a:cs typeface="Calibri" pitchFamily="34" charset="-120"/>
                        </a:rPr>
                        <a:t> … </a:t>
                      </a:r>
                      <a:r>
                        <a:rPr lang="en-US" sz="1600" b="1" dirty="0">
                          <a:solidFill>
                            <a:srgbClr val="6E4A9E"/>
                          </a:solidFill>
                          <a:latin typeface="Calibri" pitchFamily="34" charset="0"/>
                          <a:ea typeface="Calibri" pitchFamily="34" charset="-122"/>
                          <a:cs typeface="Calibri" pitchFamily="34" charset="-120"/>
                        </a:rPr>
                        <a:t>-en</a:t>
                      </a:r>
                      <a:r>
                        <a:rPr lang="en-US" sz="1600" dirty="0">
                          <a:solidFill>
                            <a:srgbClr val="1B2333"/>
                          </a:solidFill>
                          <a:latin typeface="Calibri" pitchFamily="34" charset="0"/>
                          <a:ea typeface="Calibri" pitchFamily="34" charset="-122"/>
                          <a:cs typeface="Calibri" pitchFamily="34" charset="-120"/>
                        </a:rPr>
                        <a:t> (rendre plus)</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D9700F"/>
                          </a:solidFill>
                          <a:latin typeface="Calibri" pitchFamily="34" charset="0"/>
                          <a:ea typeface="Calibri" pitchFamily="34" charset="-122"/>
                          <a:cs typeface="Calibri" pitchFamily="34" charset="-120"/>
                        </a:rPr>
                        <a:t>adjectif</a:t>
                      </a:r>
                      <a:r>
                        <a:rPr lang="en-US" sz="1600" b="1" dirty="0">
                          <a:solidFill>
                            <a:srgbClr val="1B2333"/>
                          </a:solidFill>
                          <a:latin typeface="Calibri" pitchFamily="34" charset="0"/>
                          <a:ea typeface="Calibri" pitchFamily="34" charset="-122"/>
                          <a:cs typeface="Calibri" pitchFamily="34" charset="-120"/>
                        </a:rPr>
                        <a:t> = </a:t>
                      </a:r>
                      <a:r>
                        <a:rPr lang="en-US" sz="1600" b="1" dirty="0">
                          <a:solidFill>
                            <a:srgbClr val="2E7D4F"/>
                          </a:solidFill>
                          <a:latin typeface="Calibri" pitchFamily="34" charset="0"/>
                          <a:ea typeface="Calibri" pitchFamily="34" charset="-122"/>
                          <a:cs typeface="Calibri" pitchFamily="34" charset="-120"/>
                        </a:rPr>
                        <a:t>adverbe</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333"/>
                          </a:solidFill>
                          <a:latin typeface="Calibri" pitchFamily="34" charset="0"/>
                          <a:ea typeface="Calibri" pitchFamily="34" charset="-122"/>
                          <a:cs typeface="Calibri" pitchFamily="34" charset="-120"/>
                        </a:rPr>
                        <a:t>rien ne change : </a:t>
                      </a:r>
                      <a:r>
                        <a:rPr lang="en-US" sz="1600" b="1" i="1" dirty="0">
                          <a:solidFill>
                            <a:srgbClr val="2E7D4F"/>
                          </a:solidFill>
                          <a:latin typeface="Calibri" pitchFamily="34" charset="0"/>
                          <a:ea typeface="Calibri" pitchFamily="34" charset="-122"/>
                          <a:cs typeface="Calibri" pitchFamily="34" charset="-120"/>
                        </a:rPr>
                        <a:t>snel</a:t>
                      </a:r>
                      <a:r>
                        <a:rPr lang="en-US" sz="1600" dirty="0">
                          <a:solidFill>
                            <a:srgbClr val="1B2333"/>
                          </a:solidFill>
                          <a:latin typeface="Calibri" pitchFamily="34" charset="0"/>
                          <a:ea typeface="Calibri" pitchFamily="34" charset="-122"/>
                          <a:cs typeface="Calibri" pitchFamily="34" charset="-120"/>
                        </a:rPr>
                        <a:t> = rapide / rapidement</a:t>
                      </a:r>
                      <a:endParaRPr lang="en-US" sz="16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822960" y="5349240"/>
            <a:ext cx="10543032" cy="411480"/>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Le </a:t>
            </a:r>
            <a:r>
              <a:rPr lang="en-US" sz="1600" b="1" i="1" dirty="0">
                <a:solidFill>
                  <a:srgbClr val="17375E"/>
                </a:solidFill>
                <a:latin typeface="Calibri" pitchFamily="34" charset="0"/>
                <a:ea typeface="Calibri" pitchFamily="34" charset="-122"/>
                <a:cs typeface="Calibri" pitchFamily="34" charset="-120"/>
              </a:rPr>
              <a:t>suffixe</a:t>
            </a:r>
            <a:r>
              <a:rPr lang="en-US" sz="1600" i="1" dirty="0">
                <a:solidFill>
                  <a:srgbClr val="17375E"/>
                </a:solidFill>
                <a:latin typeface="Calibri" pitchFamily="34" charset="0"/>
                <a:ea typeface="Calibri" pitchFamily="34" charset="-122"/>
                <a:cs typeface="Calibri" pitchFamily="34" charset="-120"/>
              </a:rPr>
              <a:t> décide la catégorie et l’article · le </a:t>
            </a:r>
            <a:r>
              <a:rPr lang="en-US" sz="1600" b="1" i="1" dirty="0">
                <a:solidFill>
                  <a:srgbClr val="17375E"/>
                </a:solidFill>
                <a:latin typeface="Calibri" pitchFamily="34" charset="0"/>
                <a:ea typeface="Calibri" pitchFamily="34" charset="-122"/>
                <a:cs typeface="Calibri" pitchFamily="34" charset="-120"/>
              </a:rPr>
              <a:t>préfixe</a:t>
            </a:r>
            <a:r>
              <a:rPr lang="en-US" sz="1600" i="1" dirty="0">
                <a:solidFill>
                  <a:srgbClr val="17375E"/>
                </a:solidFill>
                <a:latin typeface="Calibri" pitchFamily="34" charset="0"/>
                <a:ea typeface="Calibri" pitchFamily="34" charset="-122"/>
                <a:cs typeface="Calibri" pitchFamily="34" charset="-120"/>
              </a:rPr>
              <a:t> change le sens.</a:t>
            </a:r>
            <a:endParaRPr lang="en-US" sz="1600" dirty="0"/>
          </a:p>
        </p:txBody>
      </p:sp>
      <p:pic>
        <p:nvPicPr>
          <p:cNvPr id="7" name="Image 0" descr="Camera">    </p:cNvPr>
          <p:cNvPicPr>
            <a:picLocks noChangeAspect="1"/>
          </p:cNvPicPr>
          <p:nvPr/>
        </p:nvPicPr>
        <p:blipFill>
          <a:blip r:embed="rId1"/>
          <a:stretch>
            <a:fillRect/>
          </a:stretch>
        </p:blipFill>
        <p:spPr>
          <a:xfrm>
            <a:off x="11247120" y="274320"/>
            <a:ext cx="292608" cy="292608"/>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FFFFFF"/>
                </a:solidFill>
              </a:rPr>
              <a:t>Oefeningen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F2B36B"/>
                </a:solidFill>
                <a:latin typeface="Calibri" pitchFamily="34" charset="0"/>
                <a:ea typeface="Calibri" pitchFamily="34" charset="-122"/>
                <a:cs typeface="Calibri" pitchFamily="34" charset="-120"/>
              </a:rPr>
              <a:t>JIJ NU !</a:t>
            </a:r>
            <a:endParaRPr lang="en-US" sz="1100" dirty="0"/>
          </a:p>
        </p:txBody>
      </p:sp>
      <p:sp>
        <p:nvSpPr>
          <p:cNvPr id="5" name="Shape 2"/>
          <p:cNvSpPr/>
          <p:nvPr/>
        </p:nvSpPr>
        <p:spPr>
          <a:xfrm>
            <a:off x="640080"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6" name="Text 3"/>
          <p:cNvSpPr txBox="1"/>
          <p:nvPr/>
        </p:nvSpPr>
        <p:spPr>
          <a:xfrm>
            <a:off x="777240"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777240"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Le tri</a:t>
            </a:r>
            <a:endParaRPr lang="en-US" sz="1350" dirty="0"/>
          </a:p>
        </p:txBody>
      </p:sp>
      <p:sp>
        <p:nvSpPr>
          <p:cNvPr id="8" name="Text 5"/>
          <p:cNvSpPr txBox="1"/>
          <p:nvPr/>
        </p:nvSpPr>
        <p:spPr>
          <a:xfrm>
            <a:off x="777240"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9" name="Shape 6"/>
          <p:cNvSpPr/>
          <p:nvPr/>
        </p:nvSpPr>
        <p:spPr>
          <a:xfrm>
            <a:off x="2221992"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10" name="Text 7"/>
          <p:cNvSpPr txBox="1"/>
          <p:nvPr/>
        </p:nvSpPr>
        <p:spPr>
          <a:xfrm>
            <a:off x="2359152"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2359152"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Verbe → nom</a:t>
            </a:r>
            <a:endParaRPr lang="en-US" sz="1350" dirty="0"/>
          </a:p>
        </p:txBody>
      </p:sp>
      <p:sp>
        <p:nvSpPr>
          <p:cNvPr id="12" name="Text 9"/>
          <p:cNvSpPr txBox="1"/>
          <p:nvPr/>
        </p:nvSpPr>
        <p:spPr>
          <a:xfrm>
            <a:off x="2359152"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13" name="Shape 10"/>
          <p:cNvSpPr/>
          <p:nvPr/>
        </p:nvSpPr>
        <p:spPr>
          <a:xfrm>
            <a:off x="3803904"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14" name="Text 11"/>
          <p:cNvSpPr txBox="1"/>
          <p:nvPr/>
        </p:nvSpPr>
        <p:spPr>
          <a:xfrm>
            <a:off x="3941064"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3941064"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-heid ou -te ?</a:t>
            </a:r>
            <a:endParaRPr lang="en-US" sz="1350" dirty="0"/>
          </a:p>
        </p:txBody>
      </p:sp>
      <p:sp>
        <p:nvSpPr>
          <p:cNvPr id="16" name="Text 13"/>
          <p:cNvSpPr txBox="1"/>
          <p:nvPr/>
        </p:nvSpPr>
        <p:spPr>
          <a:xfrm>
            <a:off x="3941064"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17" name="Shape 14"/>
          <p:cNvSpPr/>
          <p:nvPr/>
        </p:nvSpPr>
        <p:spPr>
          <a:xfrm>
            <a:off x="5385816"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18" name="Text 15"/>
          <p:cNvSpPr txBox="1"/>
          <p:nvPr/>
        </p:nvSpPr>
        <p:spPr>
          <a:xfrm>
            <a:off x="5522976"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4</a:t>
            </a:r>
            <a:endParaRPr lang="en-US" sz="2000" dirty="0"/>
          </a:p>
        </p:txBody>
      </p:sp>
      <p:sp>
        <p:nvSpPr>
          <p:cNvPr id="19" name="Text 16"/>
          <p:cNvSpPr txBox="1"/>
          <p:nvPr/>
        </p:nvSpPr>
        <p:spPr>
          <a:xfrm>
            <a:off x="5522976"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Nom → adjectif</a:t>
            </a:r>
            <a:endParaRPr lang="en-US" sz="1350" dirty="0"/>
          </a:p>
        </p:txBody>
      </p:sp>
      <p:sp>
        <p:nvSpPr>
          <p:cNvPr id="20" name="Text 17"/>
          <p:cNvSpPr txBox="1"/>
          <p:nvPr/>
        </p:nvSpPr>
        <p:spPr>
          <a:xfrm>
            <a:off x="5522976"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21" name="Shape 18"/>
          <p:cNvSpPr/>
          <p:nvPr/>
        </p:nvSpPr>
        <p:spPr>
          <a:xfrm>
            <a:off x="6967728"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22" name="Text 19"/>
          <p:cNvSpPr txBox="1"/>
          <p:nvPr/>
        </p:nvSpPr>
        <p:spPr>
          <a:xfrm>
            <a:off x="7104888"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5</a:t>
            </a:r>
            <a:endParaRPr lang="en-US" sz="2000" dirty="0"/>
          </a:p>
        </p:txBody>
      </p:sp>
      <p:sp>
        <p:nvSpPr>
          <p:cNvPr id="23" name="Text 20"/>
          <p:cNvSpPr txBox="1"/>
          <p:nvPr/>
        </p:nvSpPr>
        <p:spPr>
          <a:xfrm>
            <a:off x="7104888"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C’est …baar !</a:t>
            </a:r>
            <a:endParaRPr lang="en-US" sz="1350" dirty="0"/>
          </a:p>
        </p:txBody>
      </p:sp>
      <p:sp>
        <p:nvSpPr>
          <p:cNvPr id="24" name="Text 21"/>
          <p:cNvSpPr txBox="1"/>
          <p:nvPr/>
        </p:nvSpPr>
        <p:spPr>
          <a:xfrm>
            <a:off x="7104888"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8549640"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26" name="Text 23"/>
          <p:cNvSpPr txBox="1"/>
          <p:nvPr/>
        </p:nvSpPr>
        <p:spPr>
          <a:xfrm>
            <a:off x="8686800"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6</a:t>
            </a:r>
            <a:endParaRPr lang="en-US" sz="2000" dirty="0"/>
          </a:p>
        </p:txBody>
      </p:sp>
      <p:sp>
        <p:nvSpPr>
          <p:cNvPr id="27" name="Text 24"/>
          <p:cNvSpPr txBox="1"/>
          <p:nvPr/>
        </p:nvSpPr>
        <p:spPr>
          <a:xfrm>
            <a:off x="8686800"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Rendre plus</a:t>
            </a:r>
            <a:endParaRPr lang="en-US" sz="1350" dirty="0"/>
          </a:p>
        </p:txBody>
      </p:sp>
      <p:sp>
        <p:nvSpPr>
          <p:cNvPr id="28" name="Text 25"/>
          <p:cNvSpPr txBox="1"/>
          <p:nvPr/>
        </p:nvSpPr>
        <p:spPr>
          <a:xfrm>
            <a:off x="8686800"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29" name="Shape 26"/>
          <p:cNvSpPr/>
          <p:nvPr/>
        </p:nvSpPr>
        <p:spPr>
          <a:xfrm>
            <a:off x="10131552" y="1920240"/>
            <a:ext cx="1417320" cy="1417320"/>
          </a:xfrm>
          <a:prstGeom prst="roundRect">
            <a:avLst>
              <a:gd name="adj" fmla="val 6452"/>
            </a:avLst>
          </a:prstGeom>
          <a:solidFill>
            <a:srgbClr val="23466F"/>
          </a:solidFill>
          <a:ln w="12700">
            <a:solidFill>
              <a:srgbClr val="FFFFFF">
                <a:alpha val="0"/>
              </a:srgbClr>
            </a:solidFill>
            <a:prstDash val="solid"/>
          </a:ln>
        </p:spPr>
      </p:sp>
      <p:sp>
        <p:nvSpPr>
          <p:cNvPr id="30" name="Text 27"/>
          <p:cNvSpPr txBox="1"/>
          <p:nvPr/>
        </p:nvSpPr>
        <p:spPr>
          <a:xfrm>
            <a:off x="10268712" y="202996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7</a:t>
            </a:r>
            <a:endParaRPr lang="en-US" sz="2000" dirty="0"/>
          </a:p>
        </p:txBody>
      </p:sp>
      <p:sp>
        <p:nvSpPr>
          <p:cNvPr id="31" name="Text 28"/>
          <p:cNvSpPr txBox="1"/>
          <p:nvPr/>
        </p:nvSpPr>
        <p:spPr>
          <a:xfrm>
            <a:off x="10268712" y="246888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Pas de -ment</a:t>
            </a:r>
            <a:endParaRPr lang="en-US" sz="1350" dirty="0"/>
          </a:p>
        </p:txBody>
      </p:sp>
      <p:sp>
        <p:nvSpPr>
          <p:cNvPr id="32" name="Text 29"/>
          <p:cNvSpPr txBox="1"/>
          <p:nvPr/>
        </p:nvSpPr>
        <p:spPr>
          <a:xfrm>
            <a:off x="10268712" y="299923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1431036"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34" name="Text 31"/>
          <p:cNvSpPr txBox="1"/>
          <p:nvPr/>
        </p:nvSpPr>
        <p:spPr>
          <a:xfrm>
            <a:off x="1568196"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8</a:t>
            </a:r>
            <a:endParaRPr lang="en-US" sz="2000" dirty="0"/>
          </a:p>
        </p:txBody>
      </p:sp>
      <p:sp>
        <p:nvSpPr>
          <p:cNvPr id="35" name="Text 32"/>
          <p:cNvSpPr txBox="1"/>
          <p:nvPr/>
        </p:nvSpPr>
        <p:spPr>
          <a:xfrm>
            <a:off x="1568196"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Les familles</a:t>
            </a:r>
            <a:endParaRPr lang="en-US" sz="1350" dirty="0"/>
          </a:p>
        </p:txBody>
      </p:sp>
      <p:sp>
        <p:nvSpPr>
          <p:cNvPr id="36" name="Text 33"/>
          <p:cNvSpPr txBox="1"/>
          <p:nvPr/>
        </p:nvSpPr>
        <p:spPr>
          <a:xfrm>
            <a:off x="1568196"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37" name="Shape 34"/>
          <p:cNvSpPr/>
          <p:nvPr/>
        </p:nvSpPr>
        <p:spPr>
          <a:xfrm>
            <a:off x="3012948"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38" name="Text 35"/>
          <p:cNvSpPr txBox="1"/>
          <p:nvPr/>
        </p:nvSpPr>
        <p:spPr>
          <a:xfrm>
            <a:off x="3150108"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9</a:t>
            </a:r>
            <a:endParaRPr lang="en-US" sz="2000" dirty="0"/>
          </a:p>
        </p:txBody>
      </p:sp>
      <p:sp>
        <p:nvSpPr>
          <p:cNvPr id="39" name="Text 36"/>
          <p:cNvSpPr txBox="1"/>
          <p:nvPr/>
        </p:nvSpPr>
        <p:spPr>
          <a:xfrm>
            <a:off x="3150108"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Le style écrit</a:t>
            </a:r>
            <a:endParaRPr lang="en-US" sz="1350" dirty="0"/>
          </a:p>
        </p:txBody>
      </p:sp>
      <p:sp>
        <p:nvSpPr>
          <p:cNvPr id="40" name="Text 37"/>
          <p:cNvSpPr txBox="1"/>
          <p:nvPr/>
        </p:nvSpPr>
        <p:spPr>
          <a:xfrm>
            <a:off x="3150108"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41" name="Shape 38"/>
          <p:cNvSpPr/>
          <p:nvPr/>
        </p:nvSpPr>
        <p:spPr>
          <a:xfrm>
            <a:off x="4594860"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42" name="Text 39"/>
          <p:cNvSpPr txBox="1"/>
          <p:nvPr/>
        </p:nvSpPr>
        <p:spPr>
          <a:xfrm>
            <a:off x="4732020"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10</a:t>
            </a:r>
            <a:endParaRPr lang="en-US" sz="2000" dirty="0"/>
          </a:p>
        </p:txBody>
      </p:sp>
      <p:sp>
        <p:nvSpPr>
          <p:cNvPr id="43" name="Text 40"/>
          <p:cNvSpPr txBox="1"/>
          <p:nvPr/>
        </p:nvSpPr>
        <p:spPr>
          <a:xfrm>
            <a:off x="4732020"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De of het ?</a:t>
            </a:r>
            <a:endParaRPr lang="en-US" sz="1350" dirty="0"/>
          </a:p>
        </p:txBody>
      </p:sp>
      <p:sp>
        <p:nvSpPr>
          <p:cNvPr id="44" name="Text 41"/>
          <p:cNvSpPr txBox="1"/>
          <p:nvPr/>
        </p:nvSpPr>
        <p:spPr>
          <a:xfrm>
            <a:off x="4732020"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45" name="Shape 42"/>
          <p:cNvSpPr/>
          <p:nvPr/>
        </p:nvSpPr>
        <p:spPr>
          <a:xfrm>
            <a:off x="6176772"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46" name="Text 43"/>
          <p:cNvSpPr txBox="1"/>
          <p:nvPr/>
        </p:nvSpPr>
        <p:spPr>
          <a:xfrm>
            <a:off x="6313932"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11</a:t>
            </a:r>
            <a:endParaRPr lang="en-US" sz="2000" dirty="0"/>
          </a:p>
        </p:txBody>
      </p:sp>
      <p:sp>
        <p:nvSpPr>
          <p:cNvPr id="47" name="Text 44"/>
          <p:cNvSpPr txBox="1"/>
          <p:nvPr/>
        </p:nvSpPr>
        <p:spPr>
          <a:xfrm>
            <a:off x="6313932"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Le détective</a:t>
            </a:r>
            <a:endParaRPr lang="en-US" sz="1350" dirty="0"/>
          </a:p>
        </p:txBody>
      </p:sp>
      <p:sp>
        <p:nvSpPr>
          <p:cNvPr id="48" name="Text 45"/>
          <p:cNvSpPr txBox="1"/>
          <p:nvPr/>
        </p:nvSpPr>
        <p:spPr>
          <a:xfrm>
            <a:off x="6313932"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49" name="Shape 46"/>
          <p:cNvSpPr/>
          <p:nvPr/>
        </p:nvSpPr>
        <p:spPr>
          <a:xfrm>
            <a:off x="7758684"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50" name="Text 47"/>
          <p:cNvSpPr txBox="1"/>
          <p:nvPr/>
        </p:nvSpPr>
        <p:spPr>
          <a:xfrm>
            <a:off x="7895844"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12</a:t>
            </a:r>
            <a:endParaRPr lang="en-US" sz="2000" dirty="0"/>
          </a:p>
        </p:txBody>
      </p:sp>
      <p:sp>
        <p:nvSpPr>
          <p:cNvPr id="51" name="Text 48"/>
          <p:cNvSpPr txBox="1"/>
          <p:nvPr/>
        </p:nvSpPr>
        <p:spPr>
          <a:xfrm>
            <a:off x="7895844"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La fabrique</a:t>
            </a:r>
            <a:endParaRPr lang="en-US" sz="1350" dirty="0"/>
          </a:p>
        </p:txBody>
      </p:sp>
      <p:sp>
        <p:nvSpPr>
          <p:cNvPr id="52" name="Text 49"/>
          <p:cNvSpPr txBox="1"/>
          <p:nvPr/>
        </p:nvSpPr>
        <p:spPr>
          <a:xfrm>
            <a:off x="7895844"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53" name="Shape 50"/>
          <p:cNvSpPr/>
          <p:nvPr/>
        </p:nvSpPr>
        <p:spPr>
          <a:xfrm>
            <a:off x="9340596" y="3611880"/>
            <a:ext cx="1417320" cy="1417320"/>
          </a:xfrm>
          <a:prstGeom prst="roundRect">
            <a:avLst>
              <a:gd name="adj" fmla="val 6452"/>
            </a:avLst>
          </a:prstGeom>
          <a:solidFill>
            <a:srgbClr val="23466F"/>
          </a:solidFill>
          <a:ln w="12700">
            <a:solidFill>
              <a:srgbClr val="FFFFFF">
                <a:alpha val="0"/>
              </a:srgbClr>
            </a:solidFill>
            <a:prstDash val="solid"/>
          </a:ln>
        </p:spPr>
      </p:sp>
      <p:sp>
        <p:nvSpPr>
          <p:cNvPr id="54" name="Text 51"/>
          <p:cNvSpPr txBox="1"/>
          <p:nvPr/>
        </p:nvSpPr>
        <p:spPr>
          <a:xfrm>
            <a:off x="9477756" y="3721608"/>
            <a:ext cx="548640" cy="411480"/>
          </a:xfrm>
          <a:prstGeom prst="rect">
            <a:avLst/>
          </a:prstGeom>
          <a:noFill/>
          <a:ln/>
        </p:spPr>
        <p:txBody>
          <a:bodyPr wrap="square" lIns="0" tIns="0" rIns="0" bIns="0" rtlCol="0" anchor="ctr"/>
          <a:lstStyle/>
          <a:p>
            <a:pPr algn="l" indent="0" marL="0">
              <a:buNone/>
            </a:pPr>
            <a:r>
              <a:rPr lang="en-US" sz="2000" b="1" dirty="0">
                <a:solidFill>
                  <a:srgbClr val="F0A04B"/>
                </a:solidFill>
                <a:latin typeface="Calibri" pitchFamily="34" charset="0"/>
                <a:ea typeface="Calibri" pitchFamily="34" charset="-122"/>
                <a:cs typeface="Calibri" pitchFamily="34" charset="-120"/>
              </a:rPr>
              <a:t>13</a:t>
            </a:r>
            <a:endParaRPr lang="en-US" sz="2000" dirty="0"/>
          </a:p>
        </p:txBody>
      </p:sp>
      <p:sp>
        <p:nvSpPr>
          <p:cNvPr id="55" name="Text 52"/>
          <p:cNvSpPr txBox="1"/>
          <p:nvPr/>
        </p:nvSpPr>
        <p:spPr>
          <a:xfrm>
            <a:off x="9477756" y="4160520"/>
            <a:ext cx="1143000" cy="502920"/>
          </a:xfrm>
          <a:prstGeom prst="rect">
            <a:avLst/>
          </a:prstGeom>
          <a:noFill/>
          <a:ln/>
        </p:spPr>
        <p:txBody>
          <a:bodyPr wrap="square" lIns="0" tIns="0" rIns="0" bIns="0" rtlCol="0" anchor="t"/>
          <a:lstStyle/>
          <a:p>
            <a:pPr algn="l" indent="0" marL="0">
              <a:buNone/>
            </a:pPr>
            <a:r>
              <a:rPr lang="en-US" sz="1350" b="1" dirty="0">
                <a:solidFill>
                  <a:srgbClr val="FFFFFF"/>
                </a:solidFill>
                <a:latin typeface="Calibri" pitchFamily="34" charset="0"/>
                <a:ea typeface="Calibri" pitchFamily="34" charset="-122"/>
                <a:cs typeface="Calibri" pitchFamily="34" charset="-120"/>
              </a:rPr>
              <a:t>Les travaux</a:t>
            </a:r>
            <a:endParaRPr lang="en-US" sz="1350" dirty="0"/>
          </a:p>
        </p:txBody>
      </p:sp>
      <p:sp>
        <p:nvSpPr>
          <p:cNvPr id="56" name="Text 53"/>
          <p:cNvSpPr txBox="1"/>
          <p:nvPr/>
        </p:nvSpPr>
        <p:spPr>
          <a:xfrm>
            <a:off x="9477756" y="4690872"/>
            <a:ext cx="1143000" cy="256032"/>
          </a:xfrm>
          <a:prstGeom prst="rect">
            <a:avLst/>
          </a:prstGeom>
          <a:noFill/>
          <a:ln/>
        </p:spPr>
        <p:txBody>
          <a:bodyPr wrap="square" lIns="0" tIns="0" rIns="0" bIns="0" rtlCol="0" anchor="ctr"/>
          <a:lstStyle/>
          <a:p>
            <a:pPr algn="l" indent="0" marL="0">
              <a:buNone/>
            </a:pPr>
            <a:r>
              <a:rPr lang="en-US" sz="1100" dirty="0">
                <a:solidFill>
                  <a:srgbClr val="F0A04B"/>
                </a:solidFill>
                <a:latin typeface="Calibri" pitchFamily="34" charset="0"/>
                <a:ea typeface="Calibri" pitchFamily="34" charset="-122"/>
                <a:cs typeface="Calibri" pitchFamily="34" charset="-120"/>
              </a:rPr>
              <a:t>★★★</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Quelle catégorie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1</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Nom, verbe ou adjectif ? Classez les mots et entourez le suffixe qui vous aide.</a:t>
            </a:r>
            <a:endParaRPr lang="en-US" sz="1550" dirty="0"/>
          </a:p>
        </p:txBody>
      </p:sp>
      <p:sp>
        <p:nvSpPr>
          <p:cNvPr id="7" name="Shape 4"/>
          <p:cNvSpPr/>
          <p:nvPr/>
        </p:nvSpPr>
        <p:spPr>
          <a:xfrm>
            <a:off x="905256" y="1874520"/>
            <a:ext cx="1965960" cy="438912"/>
          </a:xfrm>
          <a:prstGeom prst="roundRect">
            <a:avLst>
              <a:gd name="adj" fmla="val 50000"/>
            </a:avLst>
          </a:prstGeom>
          <a:solidFill>
            <a:srgbClr val="F4F6F9"/>
          </a:solidFill>
          <a:ln w="12700">
            <a:solidFill>
              <a:srgbClr val="FFFFFF">
                <a:alpha val="0"/>
              </a:srgbClr>
            </a:solidFill>
            <a:prstDash val="solid"/>
          </a:ln>
        </p:spPr>
      </p:sp>
      <p:sp>
        <p:nvSpPr>
          <p:cNvPr id="8" name="Text 5"/>
          <p:cNvSpPr txBox="1"/>
          <p:nvPr/>
        </p:nvSpPr>
        <p:spPr>
          <a:xfrm>
            <a:off x="905256" y="187452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de vergadering</a:t>
            </a:r>
            <a:endParaRPr lang="en-US" sz="1600" dirty="0"/>
          </a:p>
        </p:txBody>
      </p:sp>
      <p:sp>
        <p:nvSpPr>
          <p:cNvPr id="9" name="Shape 6"/>
          <p:cNvSpPr/>
          <p:nvPr/>
        </p:nvSpPr>
        <p:spPr>
          <a:xfrm>
            <a:off x="3008376" y="1874520"/>
            <a:ext cx="1965960" cy="438912"/>
          </a:xfrm>
          <a:prstGeom prst="roundRect">
            <a:avLst>
              <a:gd name="adj" fmla="val 50000"/>
            </a:avLst>
          </a:prstGeom>
          <a:solidFill>
            <a:srgbClr val="F4F6F9"/>
          </a:solidFill>
          <a:ln w="12700">
            <a:solidFill>
              <a:srgbClr val="FFFFFF">
                <a:alpha val="0"/>
              </a:srgbClr>
            </a:solidFill>
            <a:prstDash val="solid"/>
          </a:ln>
        </p:spPr>
      </p:sp>
      <p:sp>
        <p:nvSpPr>
          <p:cNvPr id="10" name="Text 7"/>
          <p:cNvSpPr txBox="1"/>
          <p:nvPr/>
        </p:nvSpPr>
        <p:spPr>
          <a:xfrm>
            <a:off x="3008376" y="187452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betaalbaar</a:t>
            </a:r>
            <a:endParaRPr lang="en-US" sz="1600" dirty="0"/>
          </a:p>
        </p:txBody>
      </p:sp>
      <p:sp>
        <p:nvSpPr>
          <p:cNvPr id="11" name="Shape 8"/>
          <p:cNvSpPr/>
          <p:nvPr/>
        </p:nvSpPr>
        <p:spPr>
          <a:xfrm>
            <a:off x="5111496" y="1874520"/>
            <a:ext cx="1965960" cy="438912"/>
          </a:xfrm>
          <a:prstGeom prst="roundRect">
            <a:avLst>
              <a:gd name="adj" fmla="val 50000"/>
            </a:avLst>
          </a:prstGeom>
          <a:solidFill>
            <a:srgbClr val="F4F6F9"/>
          </a:solidFill>
          <a:ln w="12700">
            <a:solidFill>
              <a:srgbClr val="FFFFFF">
                <a:alpha val="0"/>
              </a:srgbClr>
            </a:solidFill>
            <a:prstDash val="solid"/>
          </a:ln>
        </p:spPr>
      </p:sp>
      <p:sp>
        <p:nvSpPr>
          <p:cNvPr id="12" name="Text 9"/>
          <p:cNvSpPr txBox="1"/>
          <p:nvPr/>
        </p:nvSpPr>
        <p:spPr>
          <a:xfrm>
            <a:off x="5111496" y="187452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de gezondheid</a:t>
            </a:r>
            <a:endParaRPr lang="en-US" sz="1600" dirty="0"/>
          </a:p>
        </p:txBody>
      </p:sp>
      <p:sp>
        <p:nvSpPr>
          <p:cNvPr id="13" name="Shape 10"/>
          <p:cNvSpPr/>
          <p:nvPr/>
        </p:nvSpPr>
        <p:spPr>
          <a:xfrm>
            <a:off x="7214616" y="1874520"/>
            <a:ext cx="1965960" cy="438912"/>
          </a:xfrm>
          <a:prstGeom prst="roundRect">
            <a:avLst>
              <a:gd name="adj" fmla="val 50000"/>
            </a:avLst>
          </a:prstGeom>
          <a:solidFill>
            <a:srgbClr val="F4F6F9"/>
          </a:solidFill>
          <a:ln w="12700">
            <a:solidFill>
              <a:srgbClr val="FFFFFF">
                <a:alpha val="0"/>
              </a:srgbClr>
            </a:solidFill>
            <a:prstDash val="solid"/>
          </a:ln>
        </p:spPr>
      </p:sp>
      <p:sp>
        <p:nvSpPr>
          <p:cNvPr id="14" name="Text 11"/>
          <p:cNvSpPr txBox="1"/>
          <p:nvPr/>
        </p:nvSpPr>
        <p:spPr>
          <a:xfrm>
            <a:off x="7214616" y="187452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zonnig</a:t>
            </a:r>
            <a:endParaRPr lang="en-US" sz="1600" dirty="0"/>
          </a:p>
        </p:txBody>
      </p:sp>
      <p:sp>
        <p:nvSpPr>
          <p:cNvPr id="15" name="Shape 12"/>
          <p:cNvSpPr/>
          <p:nvPr/>
        </p:nvSpPr>
        <p:spPr>
          <a:xfrm>
            <a:off x="9317736" y="1874520"/>
            <a:ext cx="1965960" cy="438912"/>
          </a:xfrm>
          <a:prstGeom prst="roundRect">
            <a:avLst>
              <a:gd name="adj" fmla="val 50000"/>
            </a:avLst>
          </a:prstGeom>
          <a:solidFill>
            <a:srgbClr val="F4F6F9"/>
          </a:solidFill>
          <a:ln w="12700">
            <a:solidFill>
              <a:srgbClr val="FFFFFF">
                <a:alpha val="0"/>
              </a:srgbClr>
            </a:solidFill>
            <a:prstDash val="solid"/>
          </a:ln>
        </p:spPr>
      </p:sp>
      <p:sp>
        <p:nvSpPr>
          <p:cNvPr id="16" name="Text 13"/>
          <p:cNvSpPr txBox="1"/>
          <p:nvPr/>
        </p:nvSpPr>
        <p:spPr>
          <a:xfrm>
            <a:off x="9317736" y="187452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organiseren</a:t>
            </a:r>
            <a:endParaRPr lang="en-US" sz="1600" dirty="0"/>
          </a:p>
        </p:txBody>
      </p:sp>
      <p:sp>
        <p:nvSpPr>
          <p:cNvPr id="17" name="Shape 14"/>
          <p:cNvSpPr/>
          <p:nvPr/>
        </p:nvSpPr>
        <p:spPr>
          <a:xfrm>
            <a:off x="905256" y="2423160"/>
            <a:ext cx="1965960" cy="438912"/>
          </a:xfrm>
          <a:prstGeom prst="roundRect">
            <a:avLst>
              <a:gd name="adj" fmla="val 50000"/>
            </a:avLst>
          </a:prstGeom>
          <a:solidFill>
            <a:srgbClr val="F4F6F9"/>
          </a:solidFill>
          <a:ln w="12700">
            <a:solidFill>
              <a:srgbClr val="FFFFFF">
                <a:alpha val="0"/>
              </a:srgbClr>
            </a:solidFill>
            <a:prstDash val="solid"/>
          </a:ln>
        </p:spPr>
      </p:sp>
      <p:sp>
        <p:nvSpPr>
          <p:cNvPr id="18" name="Text 15"/>
          <p:cNvSpPr txBox="1"/>
          <p:nvPr/>
        </p:nvSpPr>
        <p:spPr>
          <a:xfrm>
            <a:off x="905256" y="242316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de leraar</a:t>
            </a:r>
            <a:endParaRPr lang="en-US" sz="1600" dirty="0"/>
          </a:p>
        </p:txBody>
      </p:sp>
      <p:sp>
        <p:nvSpPr>
          <p:cNvPr id="19" name="Shape 16"/>
          <p:cNvSpPr/>
          <p:nvPr/>
        </p:nvSpPr>
        <p:spPr>
          <a:xfrm>
            <a:off x="3008376" y="2423160"/>
            <a:ext cx="1965960" cy="438912"/>
          </a:xfrm>
          <a:prstGeom prst="roundRect">
            <a:avLst>
              <a:gd name="adj" fmla="val 50000"/>
            </a:avLst>
          </a:prstGeom>
          <a:solidFill>
            <a:srgbClr val="F4F6F9"/>
          </a:solidFill>
          <a:ln w="12700">
            <a:solidFill>
              <a:srgbClr val="FFFFFF">
                <a:alpha val="0"/>
              </a:srgbClr>
            </a:solidFill>
            <a:prstDash val="solid"/>
          </a:ln>
        </p:spPr>
      </p:sp>
      <p:sp>
        <p:nvSpPr>
          <p:cNvPr id="20" name="Text 17"/>
          <p:cNvSpPr txBox="1"/>
          <p:nvPr/>
        </p:nvSpPr>
        <p:spPr>
          <a:xfrm>
            <a:off x="3008376" y="242316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verbeteren</a:t>
            </a:r>
            <a:endParaRPr lang="en-US" sz="1600" dirty="0"/>
          </a:p>
        </p:txBody>
      </p:sp>
      <p:sp>
        <p:nvSpPr>
          <p:cNvPr id="21" name="Shape 18"/>
          <p:cNvSpPr/>
          <p:nvPr/>
        </p:nvSpPr>
        <p:spPr>
          <a:xfrm>
            <a:off x="5111496" y="2423160"/>
            <a:ext cx="1965960" cy="438912"/>
          </a:xfrm>
          <a:prstGeom prst="roundRect">
            <a:avLst>
              <a:gd name="adj" fmla="val 50000"/>
            </a:avLst>
          </a:prstGeom>
          <a:solidFill>
            <a:srgbClr val="F4F6F9"/>
          </a:solidFill>
          <a:ln w="12700">
            <a:solidFill>
              <a:srgbClr val="FFFFFF">
                <a:alpha val="0"/>
              </a:srgbClr>
            </a:solidFill>
            <a:prstDash val="solid"/>
          </a:ln>
        </p:spPr>
      </p:sp>
      <p:sp>
        <p:nvSpPr>
          <p:cNvPr id="22" name="Text 19"/>
          <p:cNvSpPr txBox="1"/>
          <p:nvPr/>
        </p:nvSpPr>
        <p:spPr>
          <a:xfrm>
            <a:off x="5111496" y="242316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gevaarlijk</a:t>
            </a:r>
            <a:endParaRPr lang="en-US" sz="1600" dirty="0"/>
          </a:p>
        </p:txBody>
      </p:sp>
      <p:sp>
        <p:nvSpPr>
          <p:cNvPr id="23" name="Shape 20"/>
          <p:cNvSpPr/>
          <p:nvPr/>
        </p:nvSpPr>
        <p:spPr>
          <a:xfrm>
            <a:off x="7214616" y="2423160"/>
            <a:ext cx="1965960" cy="438912"/>
          </a:xfrm>
          <a:prstGeom prst="roundRect">
            <a:avLst>
              <a:gd name="adj" fmla="val 50000"/>
            </a:avLst>
          </a:prstGeom>
          <a:solidFill>
            <a:srgbClr val="F4F6F9"/>
          </a:solidFill>
          <a:ln w="12700">
            <a:solidFill>
              <a:srgbClr val="FFFFFF">
                <a:alpha val="0"/>
              </a:srgbClr>
            </a:solidFill>
            <a:prstDash val="solid"/>
          </a:ln>
        </p:spPr>
      </p:sp>
      <p:sp>
        <p:nvSpPr>
          <p:cNvPr id="24" name="Text 21"/>
          <p:cNvSpPr txBox="1"/>
          <p:nvPr/>
        </p:nvSpPr>
        <p:spPr>
          <a:xfrm>
            <a:off x="7214616" y="242316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het lezen</a:t>
            </a:r>
            <a:endParaRPr lang="en-US" sz="1600" dirty="0"/>
          </a:p>
        </p:txBody>
      </p:sp>
      <p:sp>
        <p:nvSpPr>
          <p:cNvPr id="25" name="Shape 22"/>
          <p:cNvSpPr/>
          <p:nvPr/>
        </p:nvSpPr>
        <p:spPr>
          <a:xfrm>
            <a:off x="9317736" y="2423160"/>
            <a:ext cx="1965960" cy="438912"/>
          </a:xfrm>
          <a:prstGeom prst="roundRect">
            <a:avLst>
              <a:gd name="adj" fmla="val 50000"/>
            </a:avLst>
          </a:prstGeom>
          <a:solidFill>
            <a:srgbClr val="F4F6F9"/>
          </a:solidFill>
          <a:ln w="12700">
            <a:solidFill>
              <a:srgbClr val="FFFFFF">
                <a:alpha val="0"/>
              </a:srgbClr>
            </a:solidFill>
            <a:prstDash val="solid"/>
          </a:ln>
        </p:spPr>
      </p:sp>
      <p:sp>
        <p:nvSpPr>
          <p:cNvPr id="26" name="Text 23"/>
          <p:cNvSpPr txBox="1"/>
          <p:nvPr/>
        </p:nvSpPr>
        <p:spPr>
          <a:xfrm>
            <a:off x="9317736" y="242316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werkloos</a:t>
            </a:r>
            <a:endParaRPr lang="en-US" sz="1600" dirty="0"/>
          </a:p>
        </p:txBody>
      </p:sp>
      <p:sp>
        <p:nvSpPr>
          <p:cNvPr id="27" name="Shape 24"/>
          <p:cNvSpPr/>
          <p:nvPr/>
        </p:nvSpPr>
        <p:spPr>
          <a:xfrm>
            <a:off x="905256" y="2971800"/>
            <a:ext cx="1965960" cy="438912"/>
          </a:xfrm>
          <a:prstGeom prst="roundRect">
            <a:avLst>
              <a:gd name="adj" fmla="val 50000"/>
            </a:avLst>
          </a:prstGeom>
          <a:solidFill>
            <a:srgbClr val="F4F6F9"/>
          </a:solidFill>
          <a:ln w="12700">
            <a:solidFill>
              <a:srgbClr val="FFFFFF">
                <a:alpha val="0"/>
              </a:srgbClr>
            </a:solidFill>
            <a:prstDash val="solid"/>
          </a:ln>
        </p:spPr>
      </p:sp>
      <p:sp>
        <p:nvSpPr>
          <p:cNvPr id="28" name="Text 25"/>
          <p:cNvSpPr txBox="1"/>
          <p:nvPr/>
        </p:nvSpPr>
        <p:spPr>
          <a:xfrm>
            <a:off x="905256" y="297180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de lengte</a:t>
            </a:r>
            <a:endParaRPr lang="en-US" sz="1600" dirty="0"/>
          </a:p>
        </p:txBody>
      </p:sp>
      <p:sp>
        <p:nvSpPr>
          <p:cNvPr id="29" name="Shape 26"/>
          <p:cNvSpPr/>
          <p:nvPr/>
        </p:nvSpPr>
        <p:spPr>
          <a:xfrm>
            <a:off x="3008376" y="2971800"/>
            <a:ext cx="1965960" cy="438912"/>
          </a:xfrm>
          <a:prstGeom prst="roundRect">
            <a:avLst>
              <a:gd name="adj" fmla="val 50000"/>
            </a:avLst>
          </a:prstGeom>
          <a:solidFill>
            <a:srgbClr val="F4F6F9"/>
          </a:solidFill>
          <a:ln w="12700">
            <a:solidFill>
              <a:srgbClr val="FFFFFF">
                <a:alpha val="0"/>
              </a:srgbClr>
            </a:solidFill>
            <a:prstDash val="solid"/>
          </a:ln>
        </p:spPr>
      </p:sp>
      <p:sp>
        <p:nvSpPr>
          <p:cNvPr id="30" name="Text 27"/>
          <p:cNvSpPr txBox="1"/>
          <p:nvPr/>
        </p:nvSpPr>
        <p:spPr>
          <a:xfrm>
            <a:off x="3008376" y="297180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vergroten</a:t>
            </a:r>
            <a:endParaRPr lang="en-US" sz="1600" dirty="0"/>
          </a:p>
        </p:txBody>
      </p:sp>
      <p:sp>
        <p:nvSpPr>
          <p:cNvPr id="31" name="Shape 28"/>
          <p:cNvSpPr/>
          <p:nvPr/>
        </p:nvSpPr>
        <p:spPr>
          <a:xfrm>
            <a:off x="5111496" y="2971800"/>
            <a:ext cx="1965960" cy="438912"/>
          </a:xfrm>
          <a:prstGeom prst="roundRect">
            <a:avLst>
              <a:gd name="adj" fmla="val 50000"/>
            </a:avLst>
          </a:prstGeom>
          <a:solidFill>
            <a:srgbClr val="F4F6F9"/>
          </a:solidFill>
          <a:ln w="12700">
            <a:solidFill>
              <a:srgbClr val="FFFFFF">
                <a:alpha val="0"/>
              </a:srgbClr>
            </a:solidFill>
            <a:prstDash val="solid"/>
          </a:ln>
        </p:spPr>
      </p:sp>
      <p:sp>
        <p:nvSpPr>
          <p:cNvPr id="32" name="Text 29"/>
          <p:cNvSpPr txBox="1"/>
          <p:nvPr/>
        </p:nvSpPr>
        <p:spPr>
          <a:xfrm>
            <a:off x="5111496" y="297180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technisch</a:t>
            </a:r>
            <a:endParaRPr lang="en-US" sz="1600" dirty="0"/>
          </a:p>
        </p:txBody>
      </p:sp>
      <p:sp>
        <p:nvSpPr>
          <p:cNvPr id="33" name="Shape 30"/>
          <p:cNvSpPr/>
          <p:nvPr/>
        </p:nvSpPr>
        <p:spPr>
          <a:xfrm>
            <a:off x="7214616" y="2971800"/>
            <a:ext cx="1965960" cy="438912"/>
          </a:xfrm>
          <a:prstGeom prst="roundRect">
            <a:avLst>
              <a:gd name="adj" fmla="val 50000"/>
            </a:avLst>
          </a:prstGeom>
          <a:solidFill>
            <a:srgbClr val="F4F6F9"/>
          </a:solidFill>
          <a:ln w="12700">
            <a:solidFill>
              <a:srgbClr val="FFFFFF">
                <a:alpha val="0"/>
              </a:srgbClr>
            </a:solidFill>
            <a:prstDash val="solid"/>
          </a:ln>
        </p:spPr>
      </p:sp>
      <p:sp>
        <p:nvSpPr>
          <p:cNvPr id="34" name="Text 31"/>
          <p:cNvSpPr txBox="1"/>
          <p:nvPr/>
        </p:nvSpPr>
        <p:spPr>
          <a:xfrm>
            <a:off x="7214616" y="297180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het vertrek</a:t>
            </a:r>
            <a:endParaRPr lang="en-US" sz="1600" dirty="0"/>
          </a:p>
        </p:txBody>
      </p:sp>
      <p:sp>
        <p:nvSpPr>
          <p:cNvPr id="35" name="Shape 32"/>
          <p:cNvSpPr/>
          <p:nvPr/>
        </p:nvSpPr>
        <p:spPr>
          <a:xfrm>
            <a:off x="9317736" y="2971800"/>
            <a:ext cx="1965960" cy="438912"/>
          </a:xfrm>
          <a:prstGeom prst="roundRect">
            <a:avLst>
              <a:gd name="adj" fmla="val 50000"/>
            </a:avLst>
          </a:prstGeom>
          <a:solidFill>
            <a:srgbClr val="F4F6F9"/>
          </a:solidFill>
          <a:ln w="12700">
            <a:solidFill>
              <a:srgbClr val="FFFFFF">
                <a:alpha val="0"/>
              </a:srgbClr>
            </a:solidFill>
            <a:prstDash val="solid"/>
          </a:ln>
        </p:spPr>
      </p:sp>
      <p:sp>
        <p:nvSpPr>
          <p:cNvPr id="36" name="Text 33"/>
          <p:cNvSpPr txBox="1"/>
          <p:nvPr/>
        </p:nvSpPr>
        <p:spPr>
          <a:xfrm>
            <a:off x="9317736" y="2971800"/>
            <a:ext cx="1965960" cy="438912"/>
          </a:xfrm>
          <a:prstGeom prst="rect">
            <a:avLst/>
          </a:prstGeom>
          <a:noFill/>
          <a:ln/>
        </p:spPr>
        <p:txBody>
          <a:bodyPr wrap="square" lIns="0" tIns="0" rIns="0" bIns="0" rtlCol="0" anchor="ctr"/>
          <a:lstStyle/>
          <a:p>
            <a:pPr algn="ctr" indent="0" marL="0">
              <a:buNone/>
            </a:pPr>
            <a:r>
              <a:rPr lang="en-US" sz="1600" i="1" dirty="0">
                <a:solidFill>
                  <a:srgbClr val="17375E"/>
                </a:solidFill>
                <a:latin typeface="Calibri" pitchFamily="34" charset="0"/>
                <a:ea typeface="Calibri" pitchFamily="34" charset="-122"/>
                <a:cs typeface="Calibri" pitchFamily="34" charset="-120"/>
              </a:rPr>
              <a:t>fietsen</a:t>
            </a:r>
            <a:endParaRPr lang="en-US" sz="1600" dirty="0"/>
          </a:p>
        </p:txBody>
      </p:sp>
      <p:sp>
        <p:nvSpPr>
          <p:cNvPr id="37" name="Shape 34"/>
          <p:cNvSpPr/>
          <p:nvPr/>
        </p:nvSpPr>
        <p:spPr>
          <a:xfrm>
            <a:off x="822960" y="3657600"/>
            <a:ext cx="3374136" cy="2514600"/>
          </a:xfrm>
          <a:prstGeom prst="roundRect">
            <a:avLst>
              <a:gd name="adj" fmla="val 2909"/>
            </a:avLst>
          </a:prstGeom>
          <a:solidFill>
            <a:srgbClr val="EAF2FB"/>
          </a:solidFill>
          <a:ln w="12700">
            <a:solidFill>
              <a:srgbClr val="2A6FB0"/>
            </a:solidFill>
            <a:prstDash val="dash"/>
          </a:ln>
        </p:spPr>
      </p:sp>
      <p:sp>
        <p:nvSpPr>
          <p:cNvPr id="38" name="Text 35"/>
          <p:cNvSpPr txBox="1"/>
          <p:nvPr/>
        </p:nvSpPr>
        <p:spPr>
          <a:xfrm>
            <a:off x="822960" y="3749040"/>
            <a:ext cx="3374136" cy="320040"/>
          </a:xfrm>
          <a:prstGeom prst="rect">
            <a:avLst/>
          </a:prstGeom>
          <a:noFill/>
          <a:ln/>
        </p:spPr>
        <p:txBody>
          <a:bodyPr wrap="square" lIns="0" tIns="0" rIns="0" bIns="0" rtlCol="0" anchor="ct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150" dirty="0"/>
          </a:p>
        </p:txBody>
      </p:sp>
      <p:sp>
        <p:nvSpPr>
          <p:cNvPr id="39" name="Shape 36"/>
          <p:cNvSpPr/>
          <p:nvPr/>
        </p:nvSpPr>
        <p:spPr>
          <a:xfrm>
            <a:off x="4407408" y="3657600"/>
            <a:ext cx="3374136" cy="2514600"/>
          </a:xfrm>
          <a:prstGeom prst="roundRect">
            <a:avLst>
              <a:gd name="adj" fmla="val 2909"/>
            </a:avLst>
          </a:prstGeom>
          <a:solidFill>
            <a:srgbClr val="FBEDEB"/>
          </a:solidFill>
          <a:ln w="12700">
            <a:solidFill>
              <a:srgbClr val="B83227"/>
            </a:solidFill>
            <a:prstDash val="dash"/>
          </a:ln>
        </p:spPr>
      </p:sp>
      <p:sp>
        <p:nvSpPr>
          <p:cNvPr id="40" name="Text 37"/>
          <p:cNvSpPr txBox="1"/>
          <p:nvPr/>
        </p:nvSpPr>
        <p:spPr>
          <a:xfrm>
            <a:off x="4407408" y="3749040"/>
            <a:ext cx="3374136" cy="320040"/>
          </a:xfrm>
          <a:prstGeom prst="rect">
            <a:avLst/>
          </a:prstGeom>
          <a:noFill/>
          <a:ln/>
        </p:spPr>
        <p:txBody>
          <a:bodyPr wrap="square" lIns="0" tIns="0" rIns="0" bIns="0" rtlCol="0" anchor="ct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150" dirty="0"/>
          </a:p>
        </p:txBody>
      </p:sp>
      <p:sp>
        <p:nvSpPr>
          <p:cNvPr id="41" name="Shape 38"/>
          <p:cNvSpPr/>
          <p:nvPr/>
        </p:nvSpPr>
        <p:spPr>
          <a:xfrm>
            <a:off x="7991856" y="3657600"/>
            <a:ext cx="3374136" cy="2514600"/>
          </a:xfrm>
          <a:prstGeom prst="roundRect">
            <a:avLst>
              <a:gd name="adj" fmla="val 2909"/>
            </a:avLst>
          </a:prstGeom>
          <a:solidFill>
            <a:srgbClr val="FDF1E6"/>
          </a:solidFill>
          <a:ln w="12700">
            <a:solidFill>
              <a:srgbClr val="D9700F"/>
            </a:solidFill>
            <a:prstDash val="dash"/>
          </a:ln>
        </p:spPr>
      </p:sp>
      <p:sp>
        <p:nvSpPr>
          <p:cNvPr id="42" name="Text 39"/>
          <p:cNvSpPr txBox="1"/>
          <p:nvPr/>
        </p:nvSpPr>
        <p:spPr>
          <a:xfrm>
            <a:off x="7991856" y="3749040"/>
            <a:ext cx="3374136" cy="320040"/>
          </a:xfrm>
          <a:prstGeom prst="rect">
            <a:avLst/>
          </a:prstGeom>
          <a:noFill/>
          <a:ln/>
        </p:spPr>
        <p:txBody>
          <a:bodyPr wrap="square" lIns="0" tIns="0" rIns="0" bIns="0" rtlCol="0" anchor="ct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1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Quelle catégorie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1</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Nom, verbe ou adjectif ? Classez les mots et entourez le suffixe qui vous aide.</a:t>
            </a:r>
            <a:endParaRPr lang="en-US" sz="15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3514344"/>
                <a:gridCol w="3514344"/>
                <a:gridCol w="3514344"/>
              </a:tblGrid>
              <a:tr h="475488">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vergader</a:t>
                      </a:r>
                      <a:r>
                        <a:rPr lang="en-US" sz="1700" b="1" i="1" dirty="0">
                          <a:solidFill>
                            <a:srgbClr val="6E4A9E"/>
                          </a:solidFill>
                          <a:latin typeface="Calibri" pitchFamily="34" charset="0"/>
                          <a:ea typeface="Calibri" pitchFamily="34" charset="-122"/>
                          <a:cs typeface="Calibri" pitchFamily="34" charset="-120"/>
                        </a:rPr>
                        <a:t>ing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B83227"/>
                          </a:solidFill>
                          <a:latin typeface="Calibri" pitchFamily="34" charset="0"/>
                          <a:ea typeface="Calibri" pitchFamily="34" charset="-122"/>
                          <a:cs typeface="Calibri" pitchFamily="34" charset="-120"/>
                        </a:rPr>
                        <a:t>organis</a:t>
                      </a:r>
                      <a:r>
                        <a:rPr lang="en-US" sz="1700" b="1" i="1" dirty="0">
                          <a:solidFill>
                            <a:srgbClr val="6E4A9E"/>
                          </a:solidFill>
                          <a:latin typeface="Calibri" pitchFamily="34" charset="0"/>
                          <a:ea typeface="Calibri" pitchFamily="34" charset="-122"/>
                          <a:cs typeface="Calibri" pitchFamily="34" charset="-120"/>
                        </a:rPr>
                        <a:t>eren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betaal</a:t>
                      </a:r>
                      <a:r>
                        <a:rPr lang="en-US" sz="1700" b="1" i="1" dirty="0">
                          <a:solidFill>
                            <a:srgbClr val="6E4A9E"/>
                          </a:solidFill>
                          <a:latin typeface="Calibri" pitchFamily="34" charset="0"/>
                          <a:ea typeface="Calibri" pitchFamily="34" charset="-122"/>
                          <a:cs typeface="Calibri" pitchFamily="34" charset="-120"/>
                        </a:rPr>
                        <a:t>baar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gezond</a:t>
                      </a:r>
                      <a:r>
                        <a:rPr lang="en-US" sz="1700" b="1" i="1" dirty="0">
                          <a:solidFill>
                            <a:srgbClr val="6E4A9E"/>
                          </a:solidFill>
                          <a:latin typeface="Calibri" pitchFamily="34" charset="0"/>
                          <a:ea typeface="Calibri" pitchFamily="34" charset="-122"/>
                          <a:cs typeface="Calibri" pitchFamily="34" charset="-120"/>
                        </a:rPr>
                        <a:t>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ver</a:t>
                      </a:r>
                      <a:r>
                        <a:rPr lang="en-US" sz="1700" b="1" i="1" dirty="0">
                          <a:solidFill>
                            <a:srgbClr val="B83227"/>
                          </a:solidFill>
                          <a:latin typeface="Calibri" pitchFamily="34" charset="0"/>
                          <a:ea typeface="Calibri" pitchFamily="34" charset="-122"/>
                          <a:cs typeface="Calibri" pitchFamily="34" charset="-120"/>
                        </a:rPr>
                        <a:t>beter</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zonn</a:t>
                      </a:r>
                      <a:r>
                        <a:rPr lang="en-US" sz="1700" b="1" i="1" dirty="0">
                          <a:solidFill>
                            <a:srgbClr val="6E4A9E"/>
                          </a:solidFill>
                          <a:latin typeface="Calibri" pitchFamily="34" charset="0"/>
                          <a:ea typeface="Calibri" pitchFamily="34" charset="-122"/>
                          <a:cs typeface="Calibri" pitchFamily="34" charset="-120"/>
                        </a:rPr>
                        <a:t>ig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ler</a:t>
                      </a:r>
                      <a:r>
                        <a:rPr lang="en-US" sz="1700" b="1" i="1" dirty="0">
                          <a:solidFill>
                            <a:srgbClr val="6E4A9E"/>
                          </a:solidFill>
                          <a:latin typeface="Calibri" pitchFamily="34" charset="0"/>
                          <a:ea typeface="Calibri" pitchFamily="34" charset="-122"/>
                          <a:cs typeface="Calibri" pitchFamily="34" charset="-120"/>
                        </a:rPr>
                        <a:t>aar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ver</a:t>
                      </a:r>
                      <a:r>
                        <a:rPr lang="en-US" sz="1700" b="1" i="1" dirty="0">
                          <a:solidFill>
                            <a:srgbClr val="B83227"/>
                          </a:solidFill>
                          <a:latin typeface="Calibri" pitchFamily="34" charset="0"/>
                          <a:ea typeface="Calibri" pitchFamily="34" charset="-122"/>
                          <a:cs typeface="Calibri" pitchFamily="34" charset="-120"/>
                        </a:rPr>
                        <a:t>grot</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gevaar</a:t>
                      </a:r>
                      <a:r>
                        <a:rPr lang="en-US" sz="1700" b="1" i="1" dirty="0">
                          <a:solidFill>
                            <a:srgbClr val="6E4A9E"/>
                          </a:solidFill>
                          <a:latin typeface="Calibri" pitchFamily="34" charset="0"/>
                          <a:ea typeface="Calibri" pitchFamily="34" charset="-122"/>
                          <a:cs typeface="Calibri" pitchFamily="34" charset="-120"/>
                        </a:rPr>
                        <a:t>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6E4A9E"/>
                          </a:solidFill>
                          <a:latin typeface="Calibri" pitchFamily="34" charset="0"/>
                          <a:ea typeface="Calibri" pitchFamily="34" charset="-122"/>
                          <a:cs typeface="Calibri" pitchFamily="34" charset="-120"/>
                        </a:rPr>
                        <a:t>het</a:t>
                      </a:r>
                      <a:r>
                        <a:rPr lang="en-US" sz="1700" b="1" i="1" dirty="0">
                          <a:solidFill>
                            <a:srgbClr val="2A6FB0"/>
                          </a:solidFill>
                          <a:latin typeface="Calibri" pitchFamily="34" charset="0"/>
                          <a:ea typeface="Calibri" pitchFamily="34" charset="-122"/>
                          <a:cs typeface="Calibri" pitchFamily="34" charset="-120"/>
                        </a:rPr>
                        <a:t> lezen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B83227"/>
                          </a:solidFill>
                          <a:latin typeface="Calibri" pitchFamily="34" charset="0"/>
                          <a:ea typeface="Calibri" pitchFamily="34" charset="-122"/>
                          <a:cs typeface="Calibri" pitchFamily="34" charset="-120"/>
                        </a:rPr>
                        <a:t>fiets</a:t>
                      </a:r>
                      <a:r>
                        <a:rPr lang="en-US" sz="1700" b="1" i="1" dirty="0">
                          <a:solidFill>
                            <a:srgbClr val="6E4A9E"/>
                          </a:solidFill>
                          <a:latin typeface="Calibri" pitchFamily="34" charset="0"/>
                          <a:ea typeface="Calibri" pitchFamily="34" charset="-122"/>
                          <a:cs typeface="Calibri" pitchFamily="34" charset="-120"/>
                        </a:rPr>
                        <a: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werk</a:t>
                      </a:r>
                      <a:r>
                        <a:rPr lang="en-US" sz="1700" b="1" i="1" dirty="0">
                          <a:solidFill>
                            <a:srgbClr val="6E4A9E"/>
                          </a:solidFill>
                          <a:latin typeface="Calibri" pitchFamily="34" charset="0"/>
                          <a:ea typeface="Calibri" pitchFamily="34" charset="-122"/>
                          <a:cs typeface="Calibri" pitchFamily="34" charset="-120"/>
                        </a:rPr>
                        <a:t>loos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leng</a:t>
                      </a:r>
                      <a:r>
                        <a:rPr lang="en-US" sz="1700" b="1" i="1" dirty="0">
                          <a:solidFill>
                            <a:srgbClr val="6E4A9E"/>
                          </a:solidFill>
                          <a:latin typeface="Calibri" pitchFamily="34" charset="0"/>
                          <a:ea typeface="Calibri" pitchFamily="34" charset="-122"/>
                          <a:cs typeface="Calibri" pitchFamily="34" charset="-120"/>
                        </a:rPr>
                        <a:t>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techn</a:t>
                      </a:r>
                      <a:r>
                        <a:rPr lang="en-US" sz="1700" b="1" i="1" dirty="0">
                          <a:solidFill>
                            <a:srgbClr val="6E4A9E"/>
                          </a:solidFill>
                          <a:latin typeface="Calibri" pitchFamily="34" charset="0"/>
                          <a:ea typeface="Calibri" pitchFamily="34" charset="-122"/>
                          <a:cs typeface="Calibri" pitchFamily="34" charset="-120"/>
                        </a:rPr>
                        <a:t>isch</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75488">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het vertrek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Verbe → nom</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2</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Trouvez le nom demandé, avec son article.</a:t>
            </a:r>
            <a:endParaRPr lang="en-US" sz="15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5166360" cy="914400"/>
        </p:xfrm>
        <a:graphic>
          <a:graphicData uri="http://schemas.openxmlformats.org/drawingml/2006/table">
            <a:tbl>
              <a:tblPr/>
              <a:tblGrid>
                <a:gridCol w="1600200"/>
                <a:gridCol w="1554480"/>
                <a:gridCol w="2011680"/>
              </a:tblGrid>
              <a:tr h="566928">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ON CHERCHE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vergaderen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roken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besturen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organiseren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beginnen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le moment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6199632" y="1828800"/>
          <a:ext cx="5166360" cy="914400"/>
        </p:xfrm>
        <a:graphic>
          <a:graphicData uri="http://schemas.openxmlformats.org/drawingml/2006/table">
            <a:tbl>
              <a:tblPr/>
              <a:tblGrid>
                <a:gridCol w="1600200"/>
                <a:gridCol w="1554480"/>
                <a:gridCol w="2011680"/>
              </a:tblGrid>
              <a:tr h="566928">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ON CHERCHE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verkopen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 (f.)</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betalen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vertrekken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wandelen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printen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l’appareil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B8C2CF"/>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Verbe → nom</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2</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Trouvez le nom demandé, avec son article.</a:t>
            </a:r>
            <a:endParaRPr lang="en-US" sz="15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5166360" cy="914400"/>
        </p:xfrm>
        <a:graphic>
          <a:graphicData uri="http://schemas.openxmlformats.org/drawingml/2006/table">
            <a:tbl>
              <a:tblPr/>
              <a:tblGrid>
                <a:gridCol w="1600200"/>
                <a:gridCol w="1554480"/>
                <a:gridCol w="2011680"/>
              </a:tblGrid>
              <a:tr h="566928">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ON CHERCHE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vergaderen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vergadering</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roken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het roken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besturen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bestuurder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organiseren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organisatie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beginnen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le moment</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het begin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6199632" y="1828800"/>
          <a:ext cx="5166360" cy="914400"/>
        </p:xfrm>
        <a:graphic>
          <a:graphicData uri="http://schemas.openxmlformats.org/drawingml/2006/table">
            <a:tbl>
              <a:tblPr/>
              <a:tblGrid>
                <a:gridCol w="1600200"/>
                <a:gridCol w="1554480"/>
                <a:gridCol w="2011680"/>
              </a:tblGrid>
              <a:tr h="566928">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ON CHERCHE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verkopen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 (f.)</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verkoopster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betalen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l’action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betaling</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vertrekken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l’acte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het vertrek</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wandelen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 personne</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wandelaar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50" b="1" i="1" dirty="0">
                          <a:solidFill>
                            <a:srgbClr val="B83227"/>
                          </a:solidFill>
                          <a:latin typeface="Calibri" pitchFamily="34" charset="0"/>
                          <a:ea typeface="Calibri" pitchFamily="34" charset="-122"/>
                          <a:cs typeface="Calibri" pitchFamily="34" charset="-120"/>
                        </a:rPr>
                        <a:t>printen</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dirty="0">
                          <a:solidFill>
                            <a:srgbClr val="1B2333"/>
                          </a:solidFill>
                          <a:latin typeface="Calibri" pitchFamily="34" charset="0"/>
                          <a:ea typeface="Calibri" pitchFamily="34" charset="-122"/>
                          <a:cs typeface="Calibri" pitchFamily="34" charset="-120"/>
                        </a:rPr>
                        <a:t>l’appareil</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50" b="1" i="1" dirty="0">
                          <a:solidFill>
                            <a:srgbClr val="2A6FB0"/>
                          </a:solidFill>
                          <a:latin typeface="Calibri" pitchFamily="34" charset="0"/>
                          <a:ea typeface="Calibri" pitchFamily="34" charset="-122"/>
                          <a:cs typeface="Calibri" pitchFamily="34" charset="-120"/>
                        </a:rPr>
                        <a:t>de printer</a:t>
                      </a:r>
                      <a:endParaRPr lang="en-US" sz="15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Pour l’action, </a:t>
            </a:r>
            <a:r>
              <a:rPr lang="en-US" sz="1300" i="1" dirty="0">
                <a:solidFill>
                  <a:srgbClr val="6B7686"/>
                </a:solidFill>
                <a:latin typeface="Calibri" pitchFamily="34" charset="0"/>
                <a:ea typeface="Calibri" pitchFamily="34" charset="-122"/>
                <a:cs typeface="Calibri" pitchFamily="34" charset="-120"/>
              </a:rPr>
              <a:t>het</a:t>
            </a:r>
            <a:r>
              <a:rPr lang="en-US" sz="1300" i="1" dirty="0">
                <a:solidFill>
                  <a:srgbClr val="6B7686"/>
                </a:solidFill>
                <a:latin typeface="Calibri" pitchFamily="34" charset="0"/>
                <a:ea typeface="Calibri" pitchFamily="34" charset="-122"/>
                <a:cs typeface="Calibri" pitchFamily="34" charset="-120"/>
              </a:rPr>
              <a:t> + infinitif marche toujours : </a:t>
            </a:r>
            <a:r>
              <a:rPr lang="en-US" sz="1300" i="1" dirty="0">
                <a:solidFill>
                  <a:srgbClr val="6B7686"/>
                </a:solidFill>
                <a:latin typeface="Calibri" pitchFamily="34" charset="0"/>
                <a:ea typeface="Calibri" pitchFamily="34" charset="-122"/>
                <a:cs typeface="Calibri" pitchFamily="34" charset="-120"/>
              </a:rPr>
              <a:t>het vergaderen, het organiseren, het betalen</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-heid ou -te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3</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Formez le nom : la qualité (-heid) ou la mesure, la sensation (-te) ?</a:t>
            </a:r>
            <a:endParaRPr lang="en-US" sz="15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1280160" y="1828800"/>
          <a:ext cx="4389120" cy="914400"/>
        </p:xfrm>
        <a:graphic>
          <a:graphicData uri="http://schemas.openxmlformats.org/drawingml/2006/table">
            <a:tbl>
              <a:tblPr/>
              <a:tblGrid>
                <a:gridCol w="2194560"/>
                <a:gridCol w="2194560"/>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ziek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vrij</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lang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mogelijk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warm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336792" y="1828800"/>
          <a:ext cx="4389120" cy="914400"/>
        </p:xfrm>
        <a:graphic>
          <a:graphicData uri="http://schemas.openxmlformats.org/drawingml/2006/table">
            <a:tbl>
              <a:tblPr/>
              <a:tblGrid>
                <a:gridCol w="2194560"/>
                <a:gridCol w="2194560"/>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snel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zeker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breed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gezond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hoog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-heid ou -te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3</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Formez le nom : la qualité (-heid) ou la mesure, la sensation (-te) ?</a:t>
            </a:r>
            <a:endParaRPr lang="en-US" sz="15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280160" y="1828800"/>
          <a:ext cx="4389120" cy="914400"/>
        </p:xfrm>
        <a:graphic>
          <a:graphicData uri="http://schemas.openxmlformats.org/drawingml/2006/table">
            <a:tbl>
              <a:tblPr/>
              <a:tblGrid>
                <a:gridCol w="2194560"/>
                <a:gridCol w="2194560"/>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ziek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ziekte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vrij</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vrijheid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lang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lengte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mogelijk</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mogelijkheid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warm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warmte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336792" y="1828800"/>
          <a:ext cx="4389120" cy="914400"/>
        </p:xfrm>
        <a:graphic>
          <a:graphicData uri="http://schemas.openxmlformats.org/drawingml/2006/table">
            <a:tbl>
              <a:tblPr/>
              <a:tblGrid>
                <a:gridCol w="2194560"/>
                <a:gridCol w="2194560"/>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snel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snelheid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zeker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zekerheid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breed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breedte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gezond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gezondheid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700" b="1" i="1" dirty="0">
                          <a:solidFill>
                            <a:srgbClr val="D9700F"/>
                          </a:solidFill>
                          <a:latin typeface="Calibri" pitchFamily="34" charset="0"/>
                          <a:ea typeface="Calibri" pitchFamily="34" charset="-122"/>
                          <a:cs typeface="Calibri" pitchFamily="34" charset="-120"/>
                        </a:rPr>
                        <a:t>hoog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700" b="1" i="1" dirty="0">
                          <a:solidFill>
                            <a:srgbClr val="2A6FB0"/>
                          </a:solidFill>
                          <a:latin typeface="Calibri" pitchFamily="34" charset="0"/>
                          <a:ea typeface="Calibri" pitchFamily="34" charset="-122"/>
                          <a:cs typeface="Calibri" pitchFamily="34" charset="-120"/>
                        </a:rPr>
                        <a:t>de hoogte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-te</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lengte, warmte, breedte, hoogte</a:t>
            </a:r>
            <a:r>
              <a:rPr lang="en-US" sz="1300" i="1" dirty="0">
                <a:solidFill>
                  <a:srgbClr val="6B7686"/>
                </a:solidFill>
                <a:latin typeface="Calibri" pitchFamily="34" charset="0"/>
                <a:ea typeface="Calibri" pitchFamily="34" charset="-122"/>
                <a:cs typeface="Calibri" pitchFamily="34" charset="-120"/>
              </a:rPr>
              <a:t> (mesures, sensations) · </a:t>
            </a:r>
            <a:r>
              <a:rPr lang="en-US" sz="1300" i="1" dirty="0">
                <a:solidFill>
                  <a:srgbClr val="6B7686"/>
                </a:solidFill>
                <a:latin typeface="Calibri" pitchFamily="34" charset="0"/>
                <a:ea typeface="Calibri" pitchFamily="34" charset="-122"/>
                <a:cs typeface="Calibri" pitchFamily="34" charset="-120"/>
              </a:rPr>
              <a:t>ziekte</a:t>
            </a:r>
            <a:r>
              <a:rPr lang="en-US" sz="1300" i="1" dirty="0">
                <a:solidFill>
                  <a:srgbClr val="6B7686"/>
                </a:solidFill>
                <a:latin typeface="Calibri" pitchFamily="34" charset="0"/>
                <a:ea typeface="Calibri" pitchFamily="34" charset="-122"/>
                <a:cs typeface="Calibri" pitchFamily="34" charset="-120"/>
              </a:rPr>
              <a:t> : exception.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Nom → adjectif</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4</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avec l’adjectif formé sur le nom. Attention au -e devant le nom !</a:t>
            </a:r>
            <a:endParaRPr lang="en-US" sz="15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2194560"/>
                <a:gridCol w="8348472"/>
              </a:tblGrid>
              <a:tr h="438912">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PHRASE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zon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is vandaag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weer.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gevaar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Die straat is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techniek</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hebben een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probleem.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hout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Ik koop een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tafel.</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werk</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Hij is al een jaar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vriend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receptionist is heel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dag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vergadering begint om 9 uur.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waarde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Bedankt! Dat is een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advies.</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Nom → adjectif</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4</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avec l’adjectif formé sur le nom. Attention au -e devant le nom !</a:t>
            </a:r>
            <a:endParaRPr lang="en-US" sz="15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2194560"/>
                <a:gridCol w="8348472"/>
              </a:tblGrid>
              <a:tr h="438912">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NOM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PHRASE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zon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is vandaag </a:t>
                      </a:r>
                      <a:r>
                        <a:rPr lang="en-US" sz="1650" b="1" i="1" dirty="0">
                          <a:solidFill>
                            <a:srgbClr val="D9700F"/>
                          </a:solidFill>
                          <a:latin typeface="Calibri" pitchFamily="34" charset="0"/>
                          <a:ea typeface="Calibri" pitchFamily="34" charset="-122"/>
                          <a:cs typeface="Calibri" pitchFamily="34" charset="-120"/>
                        </a:rPr>
                        <a:t>zonnig</a:t>
                      </a:r>
                      <a:r>
                        <a:rPr lang="en-US" sz="1650" i="1" dirty="0">
                          <a:solidFill>
                            <a:srgbClr val="1B2333"/>
                          </a:solidFill>
                          <a:latin typeface="Calibri" pitchFamily="34" charset="0"/>
                          <a:ea typeface="Calibri" pitchFamily="34" charset="-122"/>
                          <a:cs typeface="Calibri" pitchFamily="34" charset="-120"/>
                        </a:rPr>
                        <a:t> weer.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gevaar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Die straat is </a:t>
                      </a:r>
                      <a:r>
                        <a:rPr lang="en-US" sz="1650" b="1" i="1" dirty="0">
                          <a:solidFill>
                            <a:srgbClr val="D9700F"/>
                          </a:solidFill>
                          <a:latin typeface="Calibri" pitchFamily="34" charset="0"/>
                          <a:ea typeface="Calibri" pitchFamily="34" charset="-122"/>
                          <a:cs typeface="Calibri" pitchFamily="34" charset="-120"/>
                        </a:rPr>
                        <a:t>gevaarlijk</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techniek</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hebben een </a:t>
                      </a:r>
                      <a:r>
                        <a:rPr lang="en-US" sz="1650" b="1" i="1" dirty="0">
                          <a:solidFill>
                            <a:srgbClr val="D9700F"/>
                          </a:solidFill>
                          <a:latin typeface="Calibri" pitchFamily="34" charset="0"/>
                          <a:ea typeface="Calibri" pitchFamily="34" charset="-122"/>
                          <a:cs typeface="Calibri" pitchFamily="34" charset="-120"/>
                        </a:rPr>
                        <a:t>technisch</a:t>
                      </a:r>
                      <a:r>
                        <a:rPr lang="en-US" sz="1650" i="1" dirty="0">
                          <a:solidFill>
                            <a:srgbClr val="1B2333"/>
                          </a:solidFill>
                          <a:latin typeface="Calibri" pitchFamily="34" charset="0"/>
                          <a:ea typeface="Calibri" pitchFamily="34" charset="-122"/>
                          <a:cs typeface="Calibri" pitchFamily="34" charset="-120"/>
                        </a:rPr>
                        <a:t> probleem.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hout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Ik koop een </a:t>
                      </a:r>
                      <a:r>
                        <a:rPr lang="en-US" sz="1650" b="1" i="1" dirty="0">
                          <a:solidFill>
                            <a:srgbClr val="D9700F"/>
                          </a:solidFill>
                          <a:latin typeface="Calibri" pitchFamily="34" charset="0"/>
                          <a:ea typeface="Calibri" pitchFamily="34" charset="-122"/>
                          <a:cs typeface="Calibri" pitchFamily="34" charset="-120"/>
                        </a:rPr>
                        <a:t>houten</a:t>
                      </a:r>
                      <a:r>
                        <a:rPr lang="en-US" sz="1650" i="1" dirty="0">
                          <a:solidFill>
                            <a:srgbClr val="1B2333"/>
                          </a:solidFill>
                          <a:latin typeface="Calibri" pitchFamily="34" charset="0"/>
                          <a:ea typeface="Calibri" pitchFamily="34" charset="-122"/>
                          <a:cs typeface="Calibri" pitchFamily="34" charset="-120"/>
                        </a:rPr>
                        <a:t> tafel.</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het werk</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Hij is al een jaar </a:t>
                      </a:r>
                      <a:r>
                        <a:rPr lang="en-US" sz="1650" b="1" i="1" dirty="0">
                          <a:solidFill>
                            <a:srgbClr val="D9700F"/>
                          </a:solidFill>
                          <a:latin typeface="Calibri" pitchFamily="34" charset="0"/>
                          <a:ea typeface="Calibri" pitchFamily="34" charset="-122"/>
                          <a:cs typeface="Calibri" pitchFamily="34" charset="-120"/>
                        </a:rPr>
                        <a:t>werkloos</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vriend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receptionist is heel </a:t>
                      </a:r>
                      <a:r>
                        <a:rPr lang="en-US" sz="1650" b="1" i="1" dirty="0">
                          <a:solidFill>
                            <a:srgbClr val="D9700F"/>
                          </a:solidFill>
                          <a:latin typeface="Calibri" pitchFamily="34" charset="0"/>
                          <a:ea typeface="Calibri" pitchFamily="34" charset="-122"/>
                          <a:cs typeface="Calibri" pitchFamily="34" charset="-120"/>
                        </a:rPr>
                        <a:t>vriendelijk</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dag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a:t>
                      </a:r>
                      <a:r>
                        <a:rPr lang="en-US" sz="1650" b="1" i="1" dirty="0">
                          <a:solidFill>
                            <a:srgbClr val="D9700F"/>
                          </a:solidFill>
                          <a:latin typeface="Calibri" pitchFamily="34" charset="0"/>
                          <a:ea typeface="Calibri" pitchFamily="34" charset="-122"/>
                          <a:cs typeface="Calibri" pitchFamily="34" charset="-120"/>
                        </a:rPr>
                        <a:t>dagelijkse</a:t>
                      </a:r>
                      <a:r>
                        <a:rPr lang="en-US" sz="1650" i="1" dirty="0">
                          <a:solidFill>
                            <a:srgbClr val="1B2333"/>
                          </a:solidFill>
                          <a:latin typeface="Calibri" pitchFamily="34" charset="0"/>
                          <a:ea typeface="Calibri" pitchFamily="34" charset="-122"/>
                          <a:cs typeface="Calibri" pitchFamily="34" charset="-120"/>
                        </a:rPr>
                        <a:t> vergadering begint om 9 uur.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438912">
                <a:tc>
                  <a:txBody>
                    <a:bodyPr/>
                    <a:lstStyle/>
                    <a:p>
                      <a:pPr algn="ctr" indent="0" marL="0">
                        <a:buNone/>
                      </a:pPr>
                      <a:r>
                        <a:rPr lang="en-US" sz="1650" b="1" i="1" dirty="0">
                          <a:solidFill>
                            <a:srgbClr val="2A6FB0"/>
                          </a:solidFill>
                          <a:latin typeface="Calibri" pitchFamily="34" charset="0"/>
                          <a:ea typeface="Calibri" pitchFamily="34" charset="-122"/>
                          <a:cs typeface="Calibri" pitchFamily="34" charset="-120"/>
                        </a:rPr>
                        <a:t>de waarde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Bedankt! Dat is een </a:t>
                      </a:r>
                      <a:r>
                        <a:rPr lang="en-US" sz="1650" b="1" i="1" dirty="0">
                          <a:solidFill>
                            <a:srgbClr val="D9700F"/>
                          </a:solidFill>
                          <a:latin typeface="Calibri" pitchFamily="34" charset="0"/>
                          <a:ea typeface="Calibri" pitchFamily="34" charset="-122"/>
                          <a:cs typeface="Calibri" pitchFamily="34" charset="-120"/>
                        </a:rPr>
                        <a:t>waardevol</a:t>
                      </a:r>
                      <a:r>
                        <a:rPr lang="en-US" sz="1650" i="1" dirty="0">
                          <a:solidFill>
                            <a:srgbClr val="1B2333"/>
                          </a:solidFill>
                          <a:latin typeface="Calibri" pitchFamily="34" charset="0"/>
                          <a:ea typeface="Calibri" pitchFamily="34" charset="-122"/>
                          <a:cs typeface="Calibri" pitchFamily="34" charset="-120"/>
                        </a:rPr>
                        <a:t> advies.</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N° 7 : </a:t>
            </a:r>
            <a:r>
              <a:rPr lang="en-US" sz="1300" i="1" dirty="0">
                <a:solidFill>
                  <a:srgbClr val="6B7686"/>
                </a:solidFill>
                <a:latin typeface="Calibri" pitchFamily="34" charset="0"/>
                <a:ea typeface="Calibri" pitchFamily="34" charset="-122"/>
                <a:cs typeface="Calibri" pitchFamily="34" charset="-120"/>
              </a:rPr>
              <a:t>dagelijks</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-e</a:t>
            </a:r>
            <a:r>
              <a:rPr lang="en-US" sz="1300" i="1" dirty="0">
                <a:solidFill>
                  <a:srgbClr val="6B7686"/>
                </a:solidFill>
                <a:latin typeface="Calibri" pitchFamily="34" charset="0"/>
                <a:ea typeface="Calibri" pitchFamily="34" charset="-122"/>
                <a:cs typeface="Calibri" pitchFamily="34" charset="-120"/>
              </a:rPr>
              <a:t> devant le nom · n° 8 : </a:t>
            </a:r>
            <a:r>
              <a:rPr lang="en-US" sz="1300" i="1" dirty="0">
                <a:solidFill>
                  <a:srgbClr val="6B7686"/>
                </a:solidFill>
                <a:latin typeface="Calibri" pitchFamily="34" charset="0"/>
                <a:ea typeface="Calibri" pitchFamily="34" charset="-122"/>
                <a:cs typeface="Calibri" pitchFamily="34" charset="-120"/>
              </a:rPr>
              <a:t>het advies</a:t>
            </a:r>
            <a:r>
              <a:rPr lang="en-US" sz="1300" i="1" dirty="0">
                <a:solidFill>
                  <a:srgbClr val="6B7686"/>
                </a:solidFill>
                <a:latin typeface="Calibri" pitchFamily="34" charset="0"/>
                <a:ea typeface="Calibri" pitchFamily="34" charset="-122"/>
                <a:cs typeface="Calibri" pitchFamily="34" charset="-120"/>
              </a:rPr>
              <a:t> → pas de </a:t>
            </a:r>
            <a:r>
              <a:rPr lang="en-US" sz="1300" i="1" dirty="0">
                <a:solidFill>
                  <a:srgbClr val="6B7686"/>
                </a:solidFill>
                <a:latin typeface="Calibri" pitchFamily="34" charset="0"/>
                <a:ea typeface="Calibri" pitchFamily="34" charset="-122"/>
                <a:cs typeface="Calibri" pitchFamily="34" charset="-120"/>
              </a:rPr>
              <a:t>-e</a:t>
            </a:r>
            <a:r>
              <a:rPr lang="en-US" sz="1300" i="1" dirty="0">
                <a:solidFill>
                  <a:srgbClr val="6B7686"/>
                </a:solidFill>
                <a:latin typeface="Calibri" pitchFamily="34" charset="0"/>
                <a:ea typeface="Calibri" pitchFamily="34" charset="-122"/>
                <a:cs typeface="Calibri" pitchFamily="34" charset="-120"/>
              </a:rPr>
              <a:t> après </a:t>
            </a:r>
            <a:r>
              <a:rPr lang="en-US" sz="1300" i="1" dirty="0">
                <a:solidFill>
                  <a:srgbClr val="6B7686"/>
                </a:solidFill>
                <a:latin typeface="Calibri" pitchFamily="34" charset="0"/>
                <a:ea typeface="Calibri" pitchFamily="34" charset="-122"/>
                <a:cs typeface="Calibri" pitchFamily="34" charset="-120"/>
              </a:rPr>
              <a:t>een</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C’est …baar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5</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Répondez avec un adjectif en -baar (ou on-…-baar).</a:t>
            </a:r>
            <a:endParaRPr lang="en-US" sz="15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5669280"/>
                <a:gridCol w="487375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QUESTION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RÉPONSE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dit water drinken?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het is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zijn handschrift lezen?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het is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Kunnen we die prijs betalen?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hij is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het kantoor met de bus bereiken?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het is goed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die paddenstoelen eten?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ze zijn niet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het verschil zien?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het is niet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C’est …baar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5</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Répondez avec un adjectif en -baar (ou on-…-baar).</a:t>
            </a:r>
            <a:endParaRPr lang="en-US" sz="15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5669280"/>
                <a:gridCol w="487375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QUESTION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RÉPONSE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dit water drinken?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het is </a:t>
                      </a:r>
                      <a:r>
                        <a:rPr lang="en-US" sz="1700" b="1" i="1" dirty="0">
                          <a:solidFill>
                            <a:srgbClr val="D9700F"/>
                          </a:solidFill>
                          <a:latin typeface="Calibri" pitchFamily="34" charset="0"/>
                          <a:ea typeface="Calibri" pitchFamily="34" charset="-122"/>
                          <a:cs typeface="Calibri" pitchFamily="34" charset="-120"/>
                        </a:rPr>
                        <a:t>drinkbaar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zijn handschrift lezen?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het is </a:t>
                      </a:r>
                      <a:r>
                        <a:rPr lang="en-US" sz="1700" b="1" i="1" dirty="0">
                          <a:solidFill>
                            <a:srgbClr val="D9700F"/>
                          </a:solidFill>
                          <a:latin typeface="Calibri" pitchFamily="34" charset="0"/>
                          <a:ea typeface="Calibri" pitchFamily="34" charset="-122"/>
                          <a:cs typeface="Calibri" pitchFamily="34" charset="-120"/>
                        </a:rPr>
                        <a:t>onleesbaar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Kunnen we die prijs betalen?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hij is </a:t>
                      </a:r>
                      <a:r>
                        <a:rPr lang="en-US" sz="1700" b="1" i="1" dirty="0">
                          <a:solidFill>
                            <a:srgbClr val="D9700F"/>
                          </a:solidFill>
                          <a:latin typeface="Calibri" pitchFamily="34" charset="0"/>
                          <a:ea typeface="Calibri" pitchFamily="34" charset="-122"/>
                          <a:cs typeface="Calibri" pitchFamily="34" charset="-120"/>
                        </a:rPr>
                        <a:t>betaalbaar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het kantoor met de bus bereiken?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Ja, het is goed </a:t>
                      </a:r>
                      <a:r>
                        <a:rPr lang="en-US" sz="1700" b="1" i="1" dirty="0">
                          <a:solidFill>
                            <a:srgbClr val="D9700F"/>
                          </a:solidFill>
                          <a:latin typeface="Calibri" pitchFamily="34" charset="0"/>
                          <a:ea typeface="Calibri" pitchFamily="34" charset="-122"/>
                          <a:cs typeface="Calibri" pitchFamily="34" charset="-120"/>
                        </a:rPr>
                        <a:t>bereikbaar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die paddenstoelen eten?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ze zijn niet </a:t>
                      </a:r>
                      <a:r>
                        <a:rPr lang="en-US" sz="1700" b="1" i="1" dirty="0">
                          <a:solidFill>
                            <a:srgbClr val="D9700F"/>
                          </a:solidFill>
                          <a:latin typeface="Calibri" pitchFamily="34" charset="0"/>
                          <a:ea typeface="Calibri" pitchFamily="34" charset="-122"/>
                          <a:cs typeface="Calibri" pitchFamily="34" charset="-120"/>
                        </a:rPr>
                        <a:t>eetbaar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Kun je het verschil zien?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Nee, het is niet </a:t>
                      </a:r>
                      <a:r>
                        <a:rPr lang="en-US" sz="1700" b="1" i="1" dirty="0">
                          <a:solidFill>
                            <a:srgbClr val="D9700F"/>
                          </a:solidFill>
                          <a:latin typeface="Calibri" pitchFamily="34" charset="0"/>
                          <a:ea typeface="Calibri" pitchFamily="34" charset="-122"/>
                          <a:cs typeface="Calibri" pitchFamily="34" charset="-120"/>
                        </a:rPr>
                        <a:t>zichtbaar</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N° 2 : aussi </a:t>
            </a:r>
            <a:r>
              <a:rPr lang="en-US" sz="1300" i="1" dirty="0">
                <a:solidFill>
                  <a:srgbClr val="6B7686"/>
                </a:solidFill>
                <a:latin typeface="Calibri" pitchFamily="34" charset="0"/>
                <a:ea typeface="Calibri" pitchFamily="34" charset="-122"/>
                <a:cs typeface="Calibri" pitchFamily="34" charset="-120"/>
              </a:rPr>
              <a:t>niet leesbaar</a:t>
            </a:r>
            <a:r>
              <a:rPr lang="en-US" sz="1300" i="1" dirty="0">
                <a:solidFill>
                  <a:srgbClr val="6B7686"/>
                </a:solidFill>
                <a:latin typeface="Calibri" pitchFamily="34" charset="0"/>
                <a:ea typeface="Calibri" pitchFamily="34" charset="-122"/>
                <a:cs typeface="Calibri" pitchFamily="34" charset="-120"/>
              </a:rPr>
              <a:t> · n° 5 : aussi </a:t>
            </a:r>
            <a:r>
              <a:rPr lang="en-US" sz="1300" i="1" dirty="0">
                <a:solidFill>
                  <a:srgbClr val="6B7686"/>
                </a:solidFill>
                <a:latin typeface="Calibri" pitchFamily="34" charset="0"/>
                <a:ea typeface="Calibri" pitchFamily="34" charset="-122"/>
                <a:cs typeface="Calibri" pitchFamily="34" charset="-120"/>
              </a:rPr>
              <a:t>oneetbaar</a:t>
            </a:r>
            <a:r>
              <a:rPr lang="en-US" sz="1300" i="1" dirty="0">
                <a:solidFill>
                  <a:srgbClr val="6B7686"/>
                </a:solidFill>
                <a:latin typeface="Calibri" pitchFamily="34" charset="0"/>
                <a:ea typeface="Calibri" pitchFamily="34" charset="-122"/>
                <a:cs typeface="Calibri" pitchFamily="34" charset="-120"/>
              </a:rPr>
              <a:t> · n° 6 : aussi </a:t>
            </a:r>
            <a:r>
              <a:rPr lang="en-US" sz="1300" i="1" dirty="0">
                <a:solidFill>
                  <a:srgbClr val="6B7686"/>
                </a:solidFill>
                <a:latin typeface="Calibri" pitchFamily="34" charset="0"/>
                <a:ea typeface="Calibri" pitchFamily="34" charset="-122"/>
                <a:cs typeface="Calibri" pitchFamily="34" charset="-120"/>
              </a:rPr>
              <a:t>onzichtbaar</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Rendre plus : ver- … -en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6</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avec un verbe en ver- … -en formé sur l’adjectif.</a:t>
            </a:r>
            <a:endParaRPr lang="en-US" sz="15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1463040"/>
                <a:gridCol w="4206240"/>
                <a:gridCol w="4873752"/>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SITUATION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PHRASE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groot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kantoor is te klein.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moeten het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kort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tekst is te lang.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Kun je hem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beter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service is niet goed.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willen hem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lang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contract eindigt in juni.</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het tot december.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warm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is koud in de refter.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de refter.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nieuw</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website is oud.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dirty="0">
                          <a:solidFill>
                            <a:srgbClr val="B8C2CF"/>
                          </a:solidFill>
                          <a:latin typeface="Calibri" pitchFamily="34" charset="0"/>
                          <a:ea typeface="Calibri" pitchFamily="34" charset="-122"/>
                          <a:cs typeface="Calibri" pitchFamily="34" charset="-120"/>
                        </a:rPr>
                        <a:t>················</a:t>
                      </a:r>
                      <a:r>
                        <a:rPr lang="en-US" sz="1650" i="1" dirty="0">
                          <a:solidFill>
                            <a:srgbClr val="1B2333"/>
                          </a:solidFill>
                          <a:latin typeface="Calibri" pitchFamily="34" charset="0"/>
                          <a:ea typeface="Calibri" pitchFamily="34" charset="-122"/>
                          <a:cs typeface="Calibri" pitchFamily="34" charset="-120"/>
                        </a:rPr>
                        <a:t> de website.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Rendre plus : ver- … -en</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6</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avec un verbe en ver- … -en formé sur l’adjectif.</a:t>
            </a:r>
            <a:endParaRPr lang="en-US" sz="15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1463040"/>
                <a:gridCol w="4206240"/>
                <a:gridCol w="4873752"/>
              </a:tblGrid>
              <a:tr h="566928">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ADJECTIF</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SITUATION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PHRASE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groot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kantoor is te klein.</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moeten het </a:t>
                      </a:r>
                      <a:r>
                        <a:rPr lang="en-US" sz="1650" b="1" i="1" dirty="0">
                          <a:solidFill>
                            <a:srgbClr val="B83227"/>
                          </a:solidFill>
                          <a:latin typeface="Calibri" pitchFamily="34" charset="0"/>
                          <a:ea typeface="Calibri" pitchFamily="34" charset="-122"/>
                          <a:cs typeface="Calibri" pitchFamily="34" charset="-120"/>
                        </a:rPr>
                        <a:t>vergroten</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kort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tekst is te lang.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Kun je hem </a:t>
                      </a:r>
                      <a:r>
                        <a:rPr lang="en-US" sz="1650" b="1" i="1" dirty="0">
                          <a:solidFill>
                            <a:srgbClr val="B83227"/>
                          </a:solidFill>
                          <a:latin typeface="Calibri" pitchFamily="34" charset="0"/>
                          <a:ea typeface="Calibri" pitchFamily="34" charset="-122"/>
                          <a:cs typeface="Calibri" pitchFamily="34" charset="-120"/>
                        </a:rPr>
                        <a:t>verkorten</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beter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service is niet goed.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willen hem </a:t>
                      </a:r>
                      <a:r>
                        <a:rPr lang="en-US" sz="1650" b="1" i="1" dirty="0">
                          <a:solidFill>
                            <a:srgbClr val="B83227"/>
                          </a:solidFill>
                          <a:latin typeface="Calibri" pitchFamily="34" charset="0"/>
                          <a:ea typeface="Calibri" pitchFamily="34" charset="-122"/>
                          <a:cs typeface="Calibri" pitchFamily="34" charset="-120"/>
                        </a:rPr>
                        <a:t>verbeteren</a:t>
                      </a:r>
                      <a:r>
                        <a:rPr lang="en-US" sz="1650" i="1" dirty="0">
                          <a:solidFill>
                            <a:srgbClr val="1B2333"/>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lang</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contract eindigt in juni.</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b="1" i="1" dirty="0">
                          <a:solidFill>
                            <a:srgbClr val="B83227"/>
                          </a:solidFill>
                          <a:latin typeface="Calibri" pitchFamily="34" charset="0"/>
                          <a:ea typeface="Calibri" pitchFamily="34" charset="-122"/>
                          <a:cs typeface="Calibri" pitchFamily="34" charset="-120"/>
                        </a:rPr>
                        <a:t>verlengen</a:t>
                      </a:r>
                      <a:r>
                        <a:rPr lang="en-US" sz="1650" i="1" dirty="0">
                          <a:solidFill>
                            <a:srgbClr val="1B2333"/>
                          </a:solidFill>
                          <a:latin typeface="Calibri" pitchFamily="34" charset="0"/>
                          <a:ea typeface="Calibri" pitchFamily="34" charset="-122"/>
                          <a:cs typeface="Calibri" pitchFamily="34" charset="-120"/>
                        </a:rPr>
                        <a:t> het tot december.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warm</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Het is koud in de refter.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b="1" i="1" dirty="0">
                          <a:solidFill>
                            <a:srgbClr val="B83227"/>
                          </a:solidFill>
                          <a:latin typeface="Calibri" pitchFamily="34" charset="0"/>
                          <a:ea typeface="Calibri" pitchFamily="34" charset="-122"/>
                          <a:cs typeface="Calibri" pitchFamily="34" charset="-120"/>
                        </a:rPr>
                        <a:t>verwarmen</a:t>
                      </a:r>
                      <a:r>
                        <a:rPr lang="en-US" sz="1650" i="1" dirty="0">
                          <a:solidFill>
                            <a:srgbClr val="1B2333"/>
                          </a:solidFill>
                          <a:latin typeface="Calibri" pitchFamily="34" charset="0"/>
                          <a:ea typeface="Calibri" pitchFamily="34" charset="-122"/>
                          <a:cs typeface="Calibri" pitchFamily="34" charset="-120"/>
                        </a:rPr>
                        <a:t> de refter.</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650" b="1" i="1" dirty="0">
                          <a:solidFill>
                            <a:srgbClr val="D9700F"/>
                          </a:solidFill>
                          <a:latin typeface="Calibri" pitchFamily="34" charset="0"/>
                          <a:ea typeface="Calibri" pitchFamily="34" charset="-122"/>
                          <a:cs typeface="Calibri" pitchFamily="34" charset="-120"/>
                        </a:rPr>
                        <a:t>nieuw</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De website is oud.</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50" i="1" dirty="0">
                          <a:solidFill>
                            <a:srgbClr val="1B2333"/>
                          </a:solidFill>
                          <a:latin typeface="Calibri" pitchFamily="34" charset="0"/>
                          <a:ea typeface="Calibri" pitchFamily="34" charset="-122"/>
                          <a:cs typeface="Calibri" pitchFamily="34" charset="-120"/>
                        </a:rPr>
                        <a:t>We </a:t>
                      </a:r>
                      <a:r>
                        <a:rPr lang="en-US" sz="1650" b="1" i="1" dirty="0">
                          <a:solidFill>
                            <a:srgbClr val="B83227"/>
                          </a:solidFill>
                          <a:latin typeface="Calibri" pitchFamily="34" charset="0"/>
                          <a:ea typeface="Calibri" pitchFamily="34" charset="-122"/>
                          <a:cs typeface="Calibri" pitchFamily="34" charset="-120"/>
                        </a:rPr>
                        <a:t>vernieuwen</a:t>
                      </a:r>
                      <a:r>
                        <a:rPr lang="en-US" sz="1650" i="1" dirty="0">
                          <a:solidFill>
                            <a:srgbClr val="1B2333"/>
                          </a:solidFill>
                          <a:latin typeface="Calibri" pitchFamily="34" charset="0"/>
                          <a:ea typeface="Calibri" pitchFamily="34" charset="-122"/>
                          <a:cs typeface="Calibri" pitchFamily="34" charset="-120"/>
                        </a:rPr>
                        <a:t> de website.</a:t>
                      </a:r>
                      <a:endParaRPr lang="en-US" sz="16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N° 2 : aussi </a:t>
            </a:r>
            <a:r>
              <a:rPr lang="en-US" sz="1300" i="1" dirty="0">
                <a:solidFill>
                  <a:srgbClr val="6B7686"/>
                </a:solidFill>
                <a:latin typeface="Calibri" pitchFamily="34" charset="0"/>
                <a:ea typeface="Calibri" pitchFamily="34" charset="-122"/>
                <a:cs typeface="Calibri" pitchFamily="34" charset="-120"/>
              </a:rPr>
              <a:t>inkorten</a:t>
            </a:r>
            <a:r>
              <a:rPr lang="en-US" sz="1300" i="1" dirty="0">
                <a:solidFill>
                  <a:srgbClr val="6B7686"/>
                </a:solidFill>
                <a:latin typeface="Calibri" pitchFamily="34" charset="0"/>
                <a:ea typeface="Calibri" pitchFamily="34" charset="-122"/>
                <a:cs typeface="Calibri" pitchFamily="34" charset="-120"/>
              </a:rPr>
              <a:t> · n° 4 : la voyelle change (</a:t>
            </a:r>
            <a:r>
              <a:rPr lang="en-US" sz="1300" i="1" dirty="0">
                <a:solidFill>
                  <a:srgbClr val="6B7686"/>
                </a:solidFill>
                <a:latin typeface="Calibri" pitchFamily="34" charset="0"/>
                <a:ea typeface="Calibri" pitchFamily="34" charset="-122"/>
                <a:cs typeface="Calibri" pitchFamily="34" charset="-120"/>
              </a:rPr>
              <a:t>lang → verlengen</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Pas de -ment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7</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Traduisez. Rappel : en néerlandais, l’adverbe = l’adjectif.</a:t>
            </a:r>
            <a:endParaRPr lang="en-US" sz="15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5120640"/>
                <a:gridCol w="542239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FRANÇAIS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NÉERLANDAIS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Il travaille rapidement.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Hij werkt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Elle parle clairement.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Ze spreekt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Conduis prudemment !</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Rijd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Tu parles bien néerlandais.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Je spreekt </a:t>
                      </a: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 Nederlands.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Heureusement, il est là.</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 is hij 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Malheureusement, je ne peux pas venir.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r>
                        <a:rPr lang="en-US" sz="1700" i="1" dirty="0">
                          <a:solidFill>
                            <a:srgbClr val="1B2333"/>
                          </a:solidFill>
                          <a:latin typeface="Calibri" pitchFamily="34" charset="0"/>
                          <a:ea typeface="Calibri" pitchFamily="34" charset="-122"/>
                          <a:cs typeface="Calibri" pitchFamily="34" charset="-120"/>
                        </a:rPr>
                        <a:t> kan ik niet komen.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Pas de -ment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7</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Traduisez. Rappel : en néerlandais, l’adverbe = l’adjectif.</a:t>
            </a:r>
            <a:endParaRPr lang="en-US" sz="15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5120640"/>
                <a:gridCol w="542239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FRANÇAIS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NÉERLANDAIS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Il travaille rapidement.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Hij werkt </a:t>
                      </a:r>
                      <a:r>
                        <a:rPr lang="en-US" sz="1700" b="1" i="1" dirty="0">
                          <a:solidFill>
                            <a:srgbClr val="2E7D4F"/>
                          </a:solidFill>
                          <a:latin typeface="Calibri" pitchFamily="34" charset="0"/>
                          <a:ea typeface="Calibri" pitchFamily="34" charset="-122"/>
                          <a:cs typeface="Calibri" pitchFamily="34" charset="-120"/>
                        </a:rPr>
                        <a:t>snel</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Elle parle clairement.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Ze spreekt </a:t>
                      </a:r>
                      <a:r>
                        <a:rPr lang="en-US" sz="1700" b="1" i="1" dirty="0">
                          <a:solidFill>
                            <a:srgbClr val="2E7D4F"/>
                          </a:solidFill>
                          <a:latin typeface="Calibri" pitchFamily="34" charset="0"/>
                          <a:ea typeface="Calibri" pitchFamily="34" charset="-122"/>
                          <a:cs typeface="Calibri" pitchFamily="34" charset="-120"/>
                        </a:rPr>
                        <a:t>duidelijk</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Conduis prudemment !</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Rijd </a:t>
                      </a:r>
                      <a:r>
                        <a:rPr lang="en-US" sz="1700" b="1" i="1" dirty="0">
                          <a:solidFill>
                            <a:srgbClr val="2E7D4F"/>
                          </a:solidFill>
                          <a:latin typeface="Calibri" pitchFamily="34" charset="0"/>
                          <a:ea typeface="Calibri" pitchFamily="34" charset="-122"/>
                          <a:cs typeface="Calibri" pitchFamily="34" charset="-120"/>
                        </a:rPr>
                        <a:t>voorzichtig</a:t>
                      </a:r>
                      <a:r>
                        <a:rPr lang="en-US" sz="1700" i="1" dirty="0">
                          <a:solidFill>
                            <a:srgbClr val="1B2333"/>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Tu parles bien néerlandais.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Je spreekt </a:t>
                      </a:r>
                      <a:r>
                        <a:rPr lang="en-US" sz="1700" b="1" i="1" dirty="0">
                          <a:solidFill>
                            <a:srgbClr val="2E7D4F"/>
                          </a:solidFill>
                          <a:latin typeface="Calibri" pitchFamily="34" charset="0"/>
                          <a:ea typeface="Calibri" pitchFamily="34" charset="-122"/>
                          <a:cs typeface="Calibri" pitchFamily="34" charset="-120"/>
                        </a:rPr>
                        <a:t>goed</a:t>
                      </a:r>
                      <a:r>
                        <a:rPr lang="en-US" sz="1700" i="1" dirty="0">
                          <a:solidFill>
                            <a:srgbClr val="1B2333"/>
                          </a:solidFill>
                          <a:latin typeface="Calibri" pitchFamily="34" charset="0"/>
                          <a:ea typeface="Calibri" pitchFamily="34" charset="-122"/>
                          <a:cs typeface="Calibri" pitchFamily="34" charset="-120"/>
                        </a:rPr>
                        <a:t> Nederlands.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Heureusement, il est là.</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E7D4F"/>
                          </a:solidFill>
                          <a:latin typeface="Calibri" pitchFamily="34" charset="0"/>
                          <a:ea typeface="Calibri" pitchFamily="34" charset="-122"/>
                          <a:cs typeface="Calibri" pitchFamily="34" charset="-120"/>
                        </a:rPr>
                        <a:t>Gelukkig</a:t>
                      </a:r>
                      <a:r>
                        <a:rPr lang="en-US" sz="1700" i="1" dirty="0">
                          <a:solidFill>
                            <a:srgbClr val="1B2333"/>
                          </a:solidFill>
                          <a:latin typeface="Calibri" pitchFamily="34" charset="0"/>
                          <a:ea typeface="Calibri" pitchFamily="34" charset="-122"/>
                          <a:cs typeface="Calibri" pitchFamily="34" charset="-120"/>
                        </a:rPr>
                        <a:t> is hij 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Malheureusement, je ne peux pas venir.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b="1" i="1" dirty="0">
                          <a:solidFill>
                            <a:srgbClr val="2E7D4F"/>
                          </a:solidFill>
                          <a:latin typeface="Calibri" pitchFamily="34" charset="0"/>
                          <a:ea typeface="Calibri" pitchFamily="34" charset="-122"/>
                          <a:cs typeface="Calibri" pitchFamily="34" charset="-120"/>
                        </a:rPr>
                        <a:t>Helaas</a:t>
                      </a:r>
                      <a:r>
                        <a:rPr lang="en-US" sz="1700" i="1" dirty="0">
                          <a:solidFill>
                            <a:srgbClr val="1B2333"/>
                          </a:solidFill>
                          <a:latin typeface="Calibri" pitchFamily="34" charset="0"/>
                          <a:ea typeface="Calibri" pitchFamily="34" charset="-122"/>
                          <a:cs typeface="Calibri" pitchFamily="34" charset="-120"/>
                        </a:rPr>
                        <a:t> kan ik niet komen.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N° 6 : aussi </a:t>
            </a:r>
            <a:r>
              <a:rPr lang="en-US" sz="1300" i="1" dirty="0">
                <a:solidFill>
                  <a:srgbClr val="6B7686"/>
                </a:solidFill>
                <a:latin typeface="Calibri" pitchFamily="34" charset="0"/>
                <a:ea typeface="Calibri" pitchFamily="34" charset="-122"/>
                <a:cs typeface="Calibri" pitchFamily="34" charset="-120"/>
              </a:rPr>
              <a:t>Jammer genoeg · Spijtig genoeg</a:t>
            </a:r>
            <a:r>
              <a:rPr lang="en-US" sz="1300" i="1" dirty="0">
                <a:solidFill>
                  <a:srgbClr val="6B7686"/>
                </a:solidFill>
                <a:latin typeface="Calibri" pitchFamily="34" charset="0"/>
                <a:ea typeface="Calibri" pitchFamily="34" charset="-122"/>
                <a:cs typeface="Calibri" pitchFamily="34" charset="-120"/>
              </a:rPr>
              <a:t> (BE) · n° 5 et 6 : inversion après l’adverbe en tête.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familles de mots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8</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chaque famille : l’action, la personne, l’adjectif « qu’on peut… » et son contraire.</a:t>
            </a:r>
            <a:endParaRPr lang="en-US" sz="15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43032" cy="914400"/>
        </p:xfrm>
        <a:graphic>
          <a:graphicData uri="http://schemas.openxmlformats.org/drawingml/2006/table">
            <a:tbl>
              <a:tblPr/>
              <a:tblGrid>
                <a:gridCol w="2108606"/>
                <a:gridCol w="2108606"/>
                <a:gridCol w="2108606"/>
                <a:gridCol w="2108606"/>
                <a:gridCol w="2108606"/>
              </a:tblGrid>
              <a:tr h="457200">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PERSONNE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 QU’ON PEUT… »</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CONTRAIRE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betalen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lezen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gebruiken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B8C2C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familles de mots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8</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Complétez chaque famille : l’action, la personne, l’adjectif « qu’on peut… » et son contraire.</a:t>
            </a:r>
            <a:endParaRPr lang="en-US" sz="15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22960" y="1920240"/>
          <a:ext cx="10543032" cy="914400"/>
        </p:xfrm>
        <a:graphic>
          <a:graphicData uri="http://schemas.openxmlformats.org/drawingml/2006/table">
            <a:tbl>
              <a:tblPr/>
              <a:tblGrid>
                <a:gridCol w="2108606"/>
                <a:gridCol w="2108606"/>
                <a:gridCol w="2108606"/>
                <a:gridCol w="2108606"/>
                <a:gridCol w="2108606"/>
              </a:tblGrid>
              <a:tr h="457200">
                <a:tc>
                  <a:txBody>
                    <a:bodyPr/>
                    <a:lstStyle/>
                    <a:p>
                      <a:pPr algn="ctr" indent="0" marL="0">
                        <a:buNone/>
                      </a:pPr>
                      <a:r>
                        <a:rPr lang="en-US" sz="1150" b="1" spc="200" kern="0" dirty="0">
                          <a:solidFill>
                            <a:srgbClr val="B83227"/>
                          </a:solidFill>
                          <a:latin typeface="Calibri" pitchFamily="34" charset="0"/>
                          <a:ea typeface="Calibri" pitchFamily="34" charset="-122"/>
                          <a:cs typeface="Calibri" pitchFamily="34" charset="-120"/>
                        </a:rPr>
                        <a:t>VERBE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2A6FB0"/>
                          </a:solidFill>
                          <a:latin typeface="Calibri" pitchFamily="34" charset="0"/>
                          <a:ea typeface="Calibri" pitchFamily="34" charset="-122"/>
                          <a:cs typeface="Calibri" pitchFamily="34" charset="-120"/>
                        </a:rPr>
                        <a:t>PERSONNE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 QU’ON PEUT… »</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ctr" indent="0" marL="0">
                        <a:buNone/>
                      </a:pPr>
                      <a:r>
                        <a:rPr lang="en-US" sz="1150" b="1" spc="200" kern="0" dirty="0">
                          <a:solidFill>
                            <a:srgbClr val="D9700F"/>
                          </a:solidFill>
                          <a:latin typeface="Calibri" pitchFamily="34" charset="0"/>
                          <a:ea typeface="Calibri" pitchFamily="34" charset="-122"/>
                          <a:cs typeface="Calibri" pitchFamily="34" charset="-120"/>
                        </a:rPr>
                        <a:t>CONTRAIRE</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betalen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de betaling</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de betaler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betaalbaar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onbetaalbaar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lezen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het lezen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de lezer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leesbaar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onleesbaar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868680">
                <a:tc>
                  <a:txBody>
                    <a:bodyPr/>
                    <a:lstStyle/>
                    <a:p>
                      <a:pPr algn="ctr" indent="0" marL="0">
                        <a:buNone/>
                      </a:pPr>
                      <a:r>
                        <a:rPr lang="en-US" sz="1800" b="1" i="1" dirty="0">
                          <a:solidFill>
                            <a:srgbClr val="B83227"/>
                          </a:solidFill>
                          <a:latin typeface="Calibri" pitchFamily="34" charset="0"/>
                          <a:ea typeface="Calibri" pitchFamily="34" charset="-122"/>
                          <a:cs typeface="Calibri" pitchFamily="34" charset="-120"/>
                        </a:rPr>
                        <a:t>gebruiken</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het gebruik</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b="1" i="1" dirty="0">
                          <a:solidFill>
                            <a:srgbClr val="2A6FB0"/>
                          </a:solidFill>
                          <a:latin typeface="Calibri" pitchFamily="34" charset="0"/>
                          <a:ea typeface="Calibri" pitchFamily="34" charset="-122"/>
                          <a:cs typeface="Calibri" pitchFamily="34" charset="-120"/>
                        </a:rPr>
                        <a:t>de gebruiker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bruikbaar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b="1" i="1" dirty="0">
                          <a:solidFill>
                            <a:srgbClr val="D9700F"/>
                          </a:solidFill>
                          <a:latin typeface="Calibri" pitchFamily="34" charset="0"/>
                          <a:ea typeface="Calibri" pitchFamily="34" charset="-122"/>
                          <a:cs typeface="Calibri" pitchFamily="34" charset="-120"/>
                        </a:rPr>
                        <a:t>onbruikbaar</a:t>
                      </a:r>
                      <a:endParaRPr lang="en-US" sz="18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style écrit</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9</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Transformez en style nominal (titre, note de service).</a:t>
            </a:r>
            <a:endParaRPr lang="en-US" sz="15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4846320"/>
                <a:gridCol w="569671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STYLE VERBAL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STYLE NOMINAL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prijzen stijgen.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Het kantoor opent maandag.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We vergaderen om 10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trein vertrekt om 8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klanten zijn tevreden.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Je moet snel betalen.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dirty="0">
                          <a:solidFill>
                            <a:srgbClr val="B8C2CF"/>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style écrit</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9</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Transformez en style nominal (titre, note de service).</a:t>
            </a:r>
            <a:endParaRPr lang="en-US" sz="15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4846320"/>
                <a:gridCol w="5696712"/>
              </a:tblGrid>
              <a:tr h="566928">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STYLE VERBAL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a:txBody>
                    <a:bodyPr/>
                    <a:lstStyle/>
                    <a:p>
                      <a:pPr algn="l" indent="0" marL="0">
                        <a:buNone/>
                      </a:pPr>
                      <a:r>
                        <a:rPr lang="en-US" sz="1150" b="1" spc="200" kern="0" dirty="0">
                          <a:solidFill>
                            <a:srgbClr val="17375E"/>
                          </a:solidFill>
                          <a:latin typeface="Calibri" pitchFamily="34" charset="0"/>
                          <a:ea typeface="Calibri" pitchFamily="34" charset="-122"/>
                          <a:cs typeface="Calibri" pitchFamily="34" charset="-120"/>
                        </a:rPr>
                        <a:t>STYLE NOMINAL</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prijzen stijgen.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stijging van de prijzen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Het kantoor opent maandag.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opening van het kantoor: maandag</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We vergaderen om 10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Vergadering om 10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trein vertrekt om 8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Het vertrek van de trein: 8 uur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De klanten zijn tevreden.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De tevredenheid van de klanten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66928">
                <a:tc>
                  <a:txBody>
                    <a:bodyPr/>
                    <a:lstStyle/>
                    <a:p>
                      <a:pPr algn="l" indent="0" marL="0">
                        <a:buNone/>
                      </a:pPr>
                      <a:r>
                        <a:rPr lang="en-US" sz="1700" i="1" dirty="0">
                          <a:solidFill>
                            <a:srgbClr val="1B2333"/>
                          </a:solidFill>
                          <a:latin typeface="Calibri" pitchFamily="34" charset="0"/>
                          <a:ea typeface="Calibri" pitchFamily="34" charset="-122"/>
                          <a:cs typeface="Calibri" pitchFamily="34" charset="-120"/>
                        </a:rPr>
                        <a:t>Je moet snel betalen.</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700" b="1" i="1" dirty="0">
                          <a:solidFill>
                            <a:srgbClr val="2A6FB0"/>
                          </a:solidFill>
                          <a:latin typeface="Calibri" pitchFamily="34" charset="0"/>
                          <a:ea typeface="Calibri" pitchFamily="34" charset="-122"/>
                          <a:cs typeface="Calibri" pitchFamily="34" charset="-120"/>
                        </a:rPr>
                        <a:t>Snelle betaling gevraagd</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Titres aussi sans article : </a:t>
            </a:r>
            <a:r>
              <a:rPr lang="en-US" sz="1300" i="1" dirty="0">
                <a:solidFill>
                  <a:srgbClr val="6B7686"/>
                </a:solidFill>
                <a:latin typeface="Calibri" pitchFamily="34" charset="0"/>
                <a:ea typeface="Calibri" pitchFamily="34" charset="-122"/>
                <a:cs typeface="Calibri" pitchFamily="34" charset="-120"/>
              </a:rPr>
              <a:t>Prijsstijging</a:t>
            </a:r>
            <a:r>
              <a:rPr lang="en-US" sz="1300" i="1" dirty="0">
                <a:solidFill>
                  <a:srgbClr val="6B7686"/>
                </a:solidFill>
                <a:latin typeface="Calibri" pitchFamily="34" charset="0"/>
                <a:ea typeface="Calibri" pitchFamily="34" charset="-122"/>
                <a:cs typeface="Calibri" pitchFamily="34" charset="-120"/>
              </a:rPr>
              <a:t> · n° 5 : aussi </a:t>
            </a:r>
            <a:r>
              <a:rPr lang="en-US" sz="1300" i="1" dirty="0">
                <a:solidFill>
                  <a:srgbClr val="6B7686"/>
                </a:solidFill>
                <a:latin typeface="Calibri" pitchFamily="34" charset="0"/>
                <a:ea typeface="Calibri" pitchFamily="34" charset="-122"/>
                <a:cs typeface="Calibri" pitchFamily="34" charset="-120"/>
              </a:rPr>
              <a:t>de klanttevredenheid</a:t>
            </a:r>
            <a:r>
              <a:rPr lang="en-US" sz="1300" i="1" dirty="0">
                <a:solidFill>
                  <a:srgbClr val="6B7686"/>
                </a:solidFill>
                <a:latin typeface="Calibri" pitchFamily="34" charset="0"/>
                <a:ea typeface="Calibri" pitchFamily="34" charset="-122"/>
                <a:cs typeface="Calibri" pitchFamily="34" charset="-120"/>
              </a:rPr>
              <a:t> · n° 6 : </a:t>
            </a:r>
            <a:r>
              <a:rPr lang="en-US" sz="1300" i="1" dirty="0">
                <a:solidFill>
                  <a:srgbClr val="6B7686"/>
                </a:solidFill>
                <a:latin typeface="Calibri" pitchFamily="34" charset="0"/>
                <a:ea typeface="Calibri" pitchFamily="34" charset="-122"/>
                <a:cs typeface="Calibri" pitchFamily="34" charset="-120"/>
              </a:rPr>
              <a:t>snel → snelle</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-e</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De of het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10</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Regardez le suffixe : de ou het ? (la boussole, diapo 22)</a:t>
            </a:r>
            <a:endParaRPr lang="en-US" sz="15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10543032" cy="914400"/>
        </p:xfrm>
        <a:graphic>
          <a:graphicData uri="http://schemas.openxmlformats.org/drawingml/2006/table">
            <a:tbl>
              <a:tblPr/>
              <a:tblGrid>
                <a:gridCol w="2635758"/>
                <a:gridCol w="2635758"/>
                <a:gridCol w="2635758"/>
                <a:gridCol w="2635758"/>
              </a:tblGrid>
              <a:tr h="914400">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betaling</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lezen</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vertrek</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begin</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914400">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gezondheid</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toerisme</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document</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organisatie</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914400">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mengsel</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vriendschap</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lidmaatschap</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dirty="0">
                          <a:solidFill>
                            <a:srgbClr val="B8C2CF"/>
                          </a:solidFill>
                          <a:latin typeface="Calibri" pitchFamily="34" charset="0"/>
                          <a:ea typeface="Calibri" pitchFamily="34" charset="-122"/>
                          <a:cs typeface="Calibri" pitchFamily="34" charset="-120"/>
                        </a:rPr>
                        <a:t>········</a:t>
                      </a:r>
                      <a:r>
                        <a:rPr lang="en-US" sz="1900" i="1" dirty="0">
                          <a:solidFill>
                            <a:srgbClr val="1B2333"/>
                          </a:solidFill>
                          <a:latin typeface="Calibri" pitchFamily="34" charset="0"/>
                          <a:ea typeface="Calibri" pitchFamily="34" charset="-122"/>
                          <a:cs typeface="Calibri" pitchFamily="34" charset="-120"/>
                        </a:rPr>
                        <a:t>  bakkerij</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De of het ?</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10</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Regardez le suffixe : de ou het ? (la boussole, diapo 22)</a:t>
            </a:r>
            <a:endParaRPr lang="en-US" sz="15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822960" y="2103120"/>
          <a:ext cx="10543032" cy="914400"/>
        </p:xfrm>
        <a:graphic>
          <a:graphicData uri="http://schemas.openxmlformats.org/drawingml/2006/table">
            <a:tbl>
              <a:tblPr/>
              <a:tblGrid>
                <a:gridCol w="2635758"/>
                <a:gridCol w="2635758"/>
                <a:gridCol w="2635758"/>
                <a:gridCol w="2635758"/>
              </a:tblGrid>
              <a:tr h="914400">
                <a:tc>
                  <a:txBody>
                    <a:bodyPr/>
                    <a:lstStyle/>
                    <a:p>
                      <a:pPr algn="ctr" indent="0" marL="0">
                        <a:buNone/>
                      </a:pPr>
                      <a:r>
                        <a:rPr lang="en-US" sz="1900" b="1" i="1" dirty="0">
                          <a:solidFill>
                            <a:srgbClr val="17375E"/>
                          </a:solidFill>
                          <a:latin typeface="Calibri" pitchFamily="34" charset="0"/>
                          <a:ea typeface="Calibri" pitchFamily="34" charset="-122"/>
                          <a:cs typeface="Calibri" pitchFamily="34" charset="-120"/>
                        </a:rPr>
                        <a:t>de</a:t>
                      </a:r>
                      <a:r>
                        <a:rPr lang="en-US" sz="1900" i="1" dirty="0">
                          <a:solidFill>
                            <a:srgbClr val="1B2333"/>
                          </a:solidFill>
                          <a:latin typeface="Calibri" pitchFamily="34" charset="0"/>
                          <a:ea typeface="Calibri" pitchFamily="34" charset="-122"/>
                          <a:cs typeface="Calibri" pitchFamily="34" charset="-120"/>
                        </a:rPr>
                        <a:t>  betaling</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lezen</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vertrek</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begin</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914400">
                <a:tc>
                  <a:txBody>
                    <a:bodyPr/>
                    <a:lstStyle/>
                    <a:p>
                      <a:pPr algn="ctr" indent="0" marL="0">
                        <a:buNone/>
                      </a:pPr>
                      <a:r>
                        <a:rPr lang="en-US" sz="1900" b="1" i="1" dirty="0">
                          <a:solidFill>
                            <a:srgbClr val="17375E"/>
                          </a:solidFill>
                          <a:latin typeface="Calibri" pitchFamily="34" charset="0"/>
                          <a:ea typeface="Calibri" pitchFamily="34" charset="-122"/>
                          <a:cs typeface="Calibri" pitchFamily="34" charset="-120"/>
                        </a:rPr>
                        <a:t>de</a:t>
                      </a:r>
                      <a:r>
                        <a:rPr lang="en-US" sz="1900" i="1" dirty="0">
                          <a:solidFill>
                            <a:srgbClr val="1B2333"/>
                          </a:solidFill>
                          <a:latin typeface="Calibri" pitchFamily="34" charset="0"/>
                          <a:ea typeface="Calibri" pitchFamily="34" charset="-122"/>
                          <a:cs typeface="Calibri" pitchFamily="34" charset="-120"/>
                        </a:rPr>
                        <a:t>  gezondheid</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toerisme</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document</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900" b="1" i="1" dirty="0">
                          <a:solidFill>
                            <a:srgbClr val="17375E"/>
                          </a:solidFill>
                          <a:latin typeface="Calibri" pitchFamily="34" charset="0"/>
                          <a:ea typeface="Calibri" pitchFamily="34" charset="-122"/>
                          <a:cs typeface="Calibri" pitchFamily="34" charset="-120"/>
                        </a:rPr>
                        <a:t>de</a:t>
                      </a:r>
                      <a:r>
                        <a:rPr lang="en-US" sz="1900" i="1" dirty="0">
                          <a:solidFill>
                            <a:srgbClr val="1B2333"/>
                          </a:solidFill>
                          <a:latin typeface="Calibri" pitchFamily="34" charset="0"/>
                          <a:ea typeface="Calibri" pitchFamily="34" charset="-122"/>
                          <a:cs typeface="Calibri" pitchFamily="34" charset="-120"/>
                        </a:rPr>
                        <a:t>  organisatie</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914400">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mengsel</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b="1" i="1" dirty="0">
                          <a:solidFill>
                            <a:srgbClr val="17375E"/>
                          </a:solidFill>
                          <a:latin typeface="Calibri" pitchFamily="34" charset="0"/>
                          <a:ea typeface="Calibri" pitchFamily="34" charset="-122"/>
                          <a:cs typeface="Calibri" pitchFamily="34" charset="-120"/>
                        </a:rPr>
                        <a:t>de</a:t>
                      </a:r>
                      <a:r>
                        <a:rPr lang="en-US" sz="1900" i="1" dirty="0">
                          <a:solidFill>
                            <a:srgbClr val="1B2333"/>
                          </a:solidFill>
                          <a:latin typeface="Calibri" pitchFamily="34" charset="0"/>
                          <a:ea typeface="Calibri" pitchFamily="34" charset="-122"/>
                          <a:cs typeface="Calibri" pitchFamily="34" charset="-120"/>
                        </a:rPr>
                        <a:t>  vriendschap</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b="1" i="1" dirty="0">
                          <a:solidFill>
                            <a:srgbClr val="D9700F"/>
                          </a:solidFill>
                          <a:latin typeface="Calibri" pitchFamily="34" charset="0"/>
                          <a:ea typeface="Calibri" pitchFamily="34" charset="-122"/>
                          <a:cs typeface="Calibri" pitchFamily="34" charset="-120"/>
                        </a:rPr>
                        <a:t>het</a:t>
                      </a:r>
                      <a:r>
                        <a:rPr lang="en-US" sz="1900" i="1" dirty="0">
                          <a:solidFill>
                            <a:srgbClr val="1B2333"/>
                          </a:solidFill>
                          <a:latin typeface="Calibri" pitchFamily="34" charset="0"/>
                          <a:ea typeface="Calibri" pitchFamily="34" charset="-122"/>
                          <a:cs typeface="Calibri" pitchFamily="34" charset="-120"/>
                        </a:rPr>
                        <a:t>  lidmaatschap</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900" b="1" i="1" dirty="0">
                          <a:solidFill>
                            <a:srgbClr val="17375E"/>
                          </a:solidFill>
                          <a:latin typeface="Calibri" pitchFamily="34" charset="0"/>
                          <a:ea typeface="Calibri" pitchFamily="34" charset="-122"/>
                          <a:cs typeface="Calibri" pitchFamily="34" charset="-120"/>
                        </a:rPr>
                        <a:t>de</a:t>
                      </a:r>
                      <a:r>
                        <a:rPr lang="en-US" sz="1900" i="1" dirty="0">
                          <a:solidFill>
                            <a:srgbClr val="1B2333"/>
                          </a:solidFill>
                          <a:latin typeface="Calibri" pitchFamily="34" charset="0"/>
                          <a:ea typeface="Calibri" pitchFamily="34" charset="-122"/>
                          <a:cs typeface="Calibri" pitchFamily="34" charset="-120"/>
                        </a:rPr>
                        <a:t>  bakkerij</a:t>
                      </a:r>
                      <a:endParaRPr lang="en-US" sz="19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Text 4"/>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het lidmaatschap</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-schap</a:t>
            </a:r>
            <a:r>
              <a:rPr lang="en-US" sz="1300" i="1" dirty="0">
                <a:solidFill>
                  <a:srgbClr val="6B7686"/>
                </a:solidFill>
                <a:latin typeface="Calibri" pitchFamily="34" charset="0"/>
                <a:ea typeface="Calibri" pitchFamily="34" charset="-122"/>
                <a:cs typeface="Calibri" pitchFamily="34" charset="-120"/>
              </a:rPr>
              <a:t> de statut · </a:t>
            </a:r>
            <a:r>
              <a:rPr lang="en-US" sz="1300" i="1" dirty="0">
                <a:solidFill>
                  <a:srgbClr val="6B7686"/>
                </a:solidFill>
                <a:latin typeface="Calibri" pitchFamily="34" charset="0"/>
                <a:ea typeface="Calibri" pitchFamily="34" charset="-122"/>
                <a:cs typeface="Calibri" pitchFamily="34" charset="-120"/>
              </a:rPr>
              <a:t>het vertrek, het begin</a:t>
            </a:r>
            <a:r>
              <a:rPr lang="en-US" sz="1300" i="1" dirty="0">
                <a:solidFill>
                  <a:srgbClr val="6B7686"/>
                </a:solidFill>
                <a:latin typeface="Calibri" pitchFamily="34" charset="0"/>
                <a:ea typeface="Calibri" pitchFamily="34" charset="-122"/>
                <a:cs typeface="Calibri" pitchFamily="34" charset="-120"/>
              </a:rPr>
              <a:t> : radical à préfixe.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détective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11</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Lotte écrit une note de service. Trouvez les 5 erreurs de dérivation.</a:t>
            </a:r>
            <a:endParaRPr lang="en-US" sz="1550" dirty="0"/>
          </a:p>
        </p:txBody>
      </p:sp>
      <p:sp>
        <p:nvSpPr>
          <p:cNvPr id="7" name="Shape 4"/>
          <p:cNvSpPr/>
          <p:nvPr/>
        </p:nvSpPr>
        <p:spPr>
          <a:xfrm>
            <a:off x="1463040" y="1874520"/>
            <a:ext cx="9262872" cy="3977640"/>
          </a:xfrm>
          <a:prstGeom prst="roundRect">
            <a:avLst>
              <a:gd name="adj" fmla="val 1379"/>
            </a:avLst>
          </a:prstGeom>
          <a:solidFill>
            <a:srgbClr val="FFFFFF"/>
          </a:solidFill>
          <a:ln w="12700">
            <a:solidFill>
              <a:srgbClr val="DDE3EA"/>
            </a:solidFill>
            <a:prstDash val="solid"/>
          </a:ln>
          <a:effectLst>
            <a:outerShdw sx="100000" sy="100000" kx="0" ky="0" algn="bl" rotWithShape="0" blurRad="76200" dist="25400" dir="5400000">
              <a:srgbClr val="1B2430">
                <a:alpha val="10000"/>
              </a:srgbClr>
            </a:outerShdw>
          </a:effectLst>
        </p:spPr>
      </p:sp>
      <p:sp>
        <p:nvSpPr>
          <p:cNvPr id="8" name="Text 5"/>
          <p:cNvSpPr txBox="1"/>
          <p:nvPr/>
        </p:nvSpPr>
        <p:spPr>
          <a:xfrm>
            <a:off x="1783080" y="1965960"/>
            <a:ext cx="8686800" cy="365760"/>
          </a:xfrm>
          <a:prstGeom prst="rect">
            <a:avLst/>
          </a:prstGeom>
          <a:noFill/>
          <a:ln/>
        </p:spPr>
        <p:txBody>
          <a:bodyPr wrap="square" lIns="0" tIns="0" rIns="0" bIns="0" rtlCol="0" anchor="ctr"/>
          <a:lstStyle/>
          <a:p>
            <a:pPr algn="l" indent="0" marL="0">
              <a:buNone/>
            </a:pPr>
            <a:r>
              <a:rPr lang="en-US" sz="1200" spc="100" kern="0" dirty="0">
                <a:solidFill>
                  <a:srgbClr val="6B7686"/>
                </a:solidFill>
                <a:latin typeface="Calibri" pitchFamily="34" charset="0"/>
                <a:ea typeface="Calibri" pitchFamily="34" charset="-122"/>
                <a:cs typeface="Calibri" pitchFamily="34" charset="-120"/>
              </a:rPr>
              <a:t>NOTA · Peeters &amp; Co · Van: Lotte Maes, facility manager</a:t>
            </a:r>
            <a:endParaRPr lang="en-US" sz="1200" dirty="0"/>
          </a:p>
        </p:txBody>
      </p:sp>
      <p:sp>
        <p:nvSpPr>
          <p:cNvPr id="9" name="Shape 6"/>
          <p:cNvSpPr/>
          <p:nvPr/>
        </p:nvSpPr>
        <p:spPr>
          <a:xfrm>
            <a:off x="1783080" y="2377440"/>
            <a:ext cx="8622792" cy="914"/>
          </a:xfrm>
          <a:prstGeom prst="line">
            <a:avLst/>
          </a:prstGeom>
          <a:noFill/>
          <a:ln w="12700">
            <a:solidFill>
              <a:srgbClr val="DDE3EA"/>
            </a:solidFill>
            <a:prstDash val="solid"/>
          </a:ln>
        </p:spPr>
      </p:sp>
      <p:sp>
        <p:nvSpPr>
          <p:cNvPr id="10" name="Text 7"/>
          <p:cNvSpPr txBox="1"/>
          <p:nvPr/>
        </p:nvSpPr>
        <p:spPr>
          <a:xfrm>
            <a:off x="1783080" y="2514600"/>
            <a:ext cx="8641080" cy="3200400"/>
          </a:xfrm>
          <a:prstGeom prst="rect">
            <a:avLst/>
          </a:prstGeom>
          <a:noFill/>
          <a:ln/>
        </p:spPr>
        <p:txBody>
          <a:bodyPr wrap="square" lIns="0" tIns="0" rIns="0" bIns="0" rtlCol="0" anchor="t"/>
          <a:lstStyle/>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Beste collega’s,</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Volgende week is er een belangrijke vergaderen over de organisering van het nieuwe kantoor. Door de warmheid in de zomer zoeken we een betalbare airco. De beschikbaarheid van de zalen staat in de agenda. Antwoord snellijk, a.u.b.</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Met vriendelijke groeten,</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Lotte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 détective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2E7D4F"/>
                </a:solidFill>
                <a:latin typeface="Calibri" pitchFamily="34" charset="0"/>
                <a:ea typeface="Calibri" pitchFamily="34" charset="-122"/>
                <a:cs typeface="Calibri" pitchFamily="34" charset="-120"/>
              </a:rPr>
              <a:t>✓ CORRECTIE · EXERCICE 11</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Lotte écrit une note de service. Trouvez les 5 erreurs de dérivation.</a:t>
            </a:r>
            <a:endParaRPr lang="en-US" sz="1550" dirty="0"/>
          </a:p>
        </p:txBody>
      </p:sp>
      <p:sp>
        <p:nvSpPr>
          <p:cNvPr id="7" name="Shape 4"/>
          <p:cNvSpPr/>
          <p:nvPr/>
        </p:nvSpPr>
        <p:spPr>
          <a:xfrm>
            <a:off x="1463040" y="1874520"/>
            <a:ext cx="9262872" cy="3977640"/>
          </a:xfrm>
          <a:prstGeom prst="roundRect">
            <a:avLst>
              <a:gd name="adj" fmla="val 1379"/>
            </a:avLst>
          </a:prstGeom>
          <a:solidFill>
            <a:srgbClr val="FFFFFF"/>
          </a:solidFill>
          <a:ln w="12700">
            <a:solidFill>
              <a:srgbClr val="DDE3EA"/>
            </a:solidFill>
            <a:prstDash val="solid"/>
          </a:ln>
          <a:effectLst>
            <a:outerShdw sx="100000" sy="100000" kx="0" ky="0" algn="bl" rotWithShape="0" blurRad="76200" dist="25400" dir="5400000">
              <a:srgbClr val="1B2430">
                <a:alpha val="10000"/>
              </a:srgbClr>
            </a:outerShdw>
          </a:effectLst>
        </p:spPr>
      </p:sp>
      <p:sp>
        <p:nvSpPr>
          <p:cNvPr id="8" name="Text 5"/>
          <p:cNvSpPr txBox="1"/>
          <p:nvPr/>
        </p:nvSpPr>
        <p:spPr>
          <a:xfrm>
            <a:off x="1783080" y="1965960"/>
            <a:ext cx="8686800" cy="365760"/>
          </a:xfrm>
          <a:prstGeom prst="rect">
            <a:avLst/>
          </a:prstGeom>
          <a:noFill/>
          <a:ln/>
        </p:spPr>
        <p:txBody>
          <a:bodyPr wrap="square" lIns="0" tIns="0" rIns="0" bIns="0" rtlCol="0" anchor="ctr"/>
          <a:lstStyle/>
          <a:p>
            <a:pPr algn="l" indent="0" marL="0">
              <a:buNone/>
            </a:pPr>
            <a:r>
              <a:rPr lang="en-US" sz="1200" spc="100" kern="0" dirty="0">
                <a:solidFill>
                  <a:srgbClr val="6B7686"/>
                </a:solidFill>
                <a:latin typeface="Calibri" pitchFamily="34" charset="0"/>
                <a:ea typeface="Calibri" pitchFamily="34" charset="-122"/>
                <a:cs typeface="Calibri" pitchFamily="34" charset="-120"/>
              </a:rPr>
              <a:t>NOTA · Peeters &amp; Co · Van: Lotte Maes, facility manager</a:t>
            </a:r>
            <a:endParaRPr lang="en-US" sz="1200" dirty="0"/>
          </a:p>
        </p:txBody>
      </p:sp>
      <p:sp>
        <p:nvSpPr>
          <p:cNvPr id="9" name="Shape 6"/>
          <p:cNvSpPr/>
          <p:nvPr/>
        </p:nvSpPr>
        <p:spPr>
          <a:xfrm>
            <a:off x="1783080" y="2377440"/>
            <a:ext cx="8622792" cy="914"/>
          </a:xfrm>
          <a:prstGeom prst="line">
            <a:avLst/>
          </a:prstGeom>
          <a:noFill/>
          <a:ln w="12700">
            <a:solidFill>
              <a:srgbClr val="DDE3EA"/>
            </a:solidFill>
            <a:prstDash val="solid"/>
          </a:ln>
        </p:spPr>
      </p:sp>
      <p:sp>
        <p:nvSpPr>
          <p:cNvPr id="10" name="Text 7"/>
          <p:cNvSpPr txBox="1"/>
          <p:nvPr/>
        </p:nvSpPr>
        <p:spPr>
          <a:xfrm>
            <a:off x="1783080" y="2514600"/>
            <a:ext cx="8641080" cy="3200400"/>
          </a:xfrm>
          <a:prstGeom prst="rect">
            <a:avLst/>
          </a:prstGeom>
          <a:noFill/>
          <a:ln/>
        </p:spPr>
        <p:txBody>
          <a:bodyPr wrap="square" lIns="0" tIns="0" rIns="0" bIns="0" rtlCol="0" anchor="t"/>
          <a:lstStyle/>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Beste collega’s,</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Volgende week is er een belangrijke </a:t>
            </a:r>
            <a:r>
              <a:rPr lang="en-US" sz="1700" i="1" strike="sngStrike" dirty="0">
                <a:solidFill>
                  <a:srgbClr val="B5473C"/>
                </a:solidFill>
                <a:latin typeface="Calibri" pitchFamily="34" charset="0"/>
                <a:ea typeface="Calibri" pitchFamily="34" charset="-122"/>
                <a:cs typeface="Calibri" pitchFamily="34" charset="-120"/>
              </a:rPr>
              <a:t>vergaderen</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E7D4F"/>
                </a:solidFill>
                <a:latin typeface="Calibri" pitchFamily="34" charset="0"/>
                <a:ea typeface="Calibri" pitchFamily="34" charset="-122"/>
                <a:cs typeface="Calibri" pitchFamily="34" charset="-120"/>
              </a:rPr>
              <a:t>vergadering</a:t>
            </a:r>
            <a:r>
              <a:rPr lang="en-US" sz="1700" i="1" dirty="0">
                <a:solidFill>
                  <a:srgbClr val="1B2333"/>
                </a:solidFill>
                <a:latin typeface="Calibri" pitchFamily="34" charset="0"/>
                <a:ea typeface="Calibri" pitchFamily="34" charset="-122"/>
                <a:cs typeface="Calibri" pitchFamily="34" charset="-120"/>
              </a:rPr>
              <a:t> over de </a:t>
            </a:r>
            <a:r>
              <a:rPr lang="en-US" sz="1700" i="1" strike="sngStrike" dirty="0">
                <a:solidFill>
                  <a:srgbClr val="B5473C"/>
                </a:solidFill>
                <a:latin typeface="Calibri" pitchFamily="34" charset="0"/>
                <a:ea typeface="Calibri" pitchFamily="34" charset="-122"/>
                <a:cs typeface="Calibri" pitchFamily="34" charset="-120"/>
              </a:rPr>
              <a:t>organisering</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E7D4F"/>
                </a:solidFill>
                <a:latin typeface="Calibri" pitchFamily="34" charset="0"/>
                <a:ea typeface="Calibri" pitchFamily="34" charset="-122"/>
                <a:cs typeface="Calibri" pitchFamily="34" charset="-120"/>
              </a:rPr>
              <a:t>organisatie</a:t>
            </a:r>
            <a:r>
              <a:rPr lang="en-US" sz="1700" i="1" dirty="0">
                <a:solidFill>
                  <a:srgbClr val="1B2333"/>
                </a:solidFill>
                <a:latin typeface="Calibri" pitchFamily="34" charset="0"/>
                <a:ea typeface="Calibri" pitchFamily="34" charset="-122"/>
                <a:cs typeface="Calibri" pitchFamily="34" charset="-120"/>
              </a:rPr>
              <a:t> van het nieuwe kantoor. Door de </a:t>
            </a:r>
            <a:r>
              <a:rPr lang="en-US" sz="1700" i="1" strike="sngStrike" dirty="0">
                <a:solidFill>
                  <a:srgbClr val="B5473C"/>
                </a:solidFill>
                <a:latin typeface="Calibri" pitchFamily="34" charset="0"/>
                <a:ea typeface="Calibri" pitchFamily="34" charset="-122"/>
                <a:cs typeface="Calibri" pitchFamily="34" charset="-120"/>
              </a:rPr>
              <a:t>warmheid</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E7D4F"/>
                </a:solidFill>
                <a:latin typeface="Calibri" pitchFamily="34" charset="0"/>
                <a:ea typeface="Calibri" pitchFamily="34" charset="-122"/>
                <a:cs typeface="Calibri" pitchFamily="34" charset="-120"/>
              </a:rPr>
              <a:t>warmte</a:t>
            </a:r>
            <a:r>
              <a:rPr lang="en-US" sz="1700" i="1" dirty="0">
                <a:solidFill>
                  <a:srgbClr val="1B2333"/>
                </a:solidFill>
                <a:latin typeface="Calibri" pitchFamily="34" charset="0"/>
                <a:ea typeface="Calibri" pitchFamily="34" charset="-122"/>
                <a:cs typeface="Calibri" pitchFamily="34" charset="-120"/>
              </a:rPr>
              <a:t> in de zomer zoeken we een </a:t>
            </a:r>
            <a:r>
              <a:rPr lang="en-US" sz="1700" i="1" strike="sngStrike" dirty="0">
                <a:solidFill>
                  <a:srgbClr val="B5473C"/>
                </a:solidFill>
                <a:latin typeface="Calibri" pitchFamily="34" charset="0"/>
                <a:ea typeface="Calibri" pitchFamily="34" charset="-122"/>
                <a:cs typeface="Calibri" pitchFamily="34" charset="-120"/>
              </a:rPr>
              <a:t>betalbare</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E7D4F"/>
                </a:solidFill>
                <a:latin typeface="Calibri" pitchFamily="34" charset="0"/>
                <a:ea typeface="Calibri" pitchFamily="34" charset="-122"/>
                <a:cs typeface="Calibri" pitchFamily="34" charset="-120"/>
              </a:rPr>
              <a:t>betaalbare</a:t>
            </a:r>
            <a:r>
              <a:rPr lang="en-US" sz="1700" i="1" dirty="0">
                <a:solidFill>
                  <a:srgbClr val="1B2333"/>
                </a:solidFill>
                <a:latin typeface="Calibri" pitchFamily="34" charset="0"/>
                <a:ea typeface="Calibri" pitchFamily="34" charset="-122"/>
                <a:cs typeface="Calibri" pitchFamily="34" charset="-120"/>
              </a:rPr>
              <a:t> airco. De beschikbaarheid van de zalen staat in de agenda. Antwoord </a:t>
            </a:r>
            <a:r>
              <a:rPr lang="en-US" sz="1700" i="1" strike="sngStrike" dirty="0">
                <a:solidFill>
                  <a:srgbClr val="B5473C"/>
                </a:solidFill>
                <a:latin typeface="Calibri" pitchFamily="34" charset="0"/>
                <a:ea typeface="Calibri" pitchFamily="34" charset="-122"/>
                <a:cs typeface="Calibri" pitchFamily="34" charset="-120"/>
              </a:rPr>
              <a:t>snellijk</a:t>
            </a:r>
            <a:r>
              <a:rPr lang="en-US" sz="1700" i="1" dirty="0">
                <a:solidFill>
                  <a:srgbClr val="1B2333"/>
                </a:solidFill>
                <a:latin typeface="Calibri" pitchFamily="34" charset="0"/>
                <a:ea typeface="Calibri" pitchFamily="34" charset="-122"/>
                <a:cs typeface="Calibri" pitchFamily="34" charset="-120"/>
              </a:rPr>
              <a:t> </a:t>
            </a:r>
            <a:r>
              <a:rPr lang="en-US" sz="1700" b="1" i="1" dirty="0">
                <a:solidFill>
                  <a:srgbClr val="2E7D4F"/>
                </a:solidFill>
                <a:latin typeface="Calibri" pitchFamily="34" charset="0"/>
                <a:ea typeface="Calibri" pitchFamily="34" charset="-122"/>
                <a:cs typeface="Calibri" pitchFamily="34" charset="-120"/>
              </a:rPr>
              <a:t>snel</a:t>
            </a:r>
            <a:r>
              <a:rPr lang="en-US" sz="1700" i="1" dirty="0">
                <a:solidFill>
                  <a:srgbClr val="1B2333"/>
                </a:solidFill>
                <a:latin typeface="Calibri" pitchFamily="34" charset="0"/>
                <a:ea typeface="Calibri" pitchFamily="34" charset="-122"/>
                <a:cs typeface="Calibri" pitchFamily="34" charset="-120"/>
              </a:rPr>
              <a:t>, a.u.b.</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Met vriendelijke groeten,</a:t>
            </a:r>
            <a:endParaRPr lang="en-US" sz="1700" dirty="0"/>
          </a:p>
          <a:p>
            <a:pPr algn="l" indent="0" marL="0">
              <a:lnSpc>
                <a:spcPct val="110000"/>
              </a:lnSpc>
              <a:spcAft>
                <a:spcPts val="600"/>
              </a:spcAft>
              <a:buNone/>
            </a:pPr>
            <a:r>
              <a:rPr lang="en-US" sz="1700" i="1" dirty="0">
                <a:solidFill>
                  <a:srgbClr val="1B2333"/>
                </a:solidFill>
                <a:latin typeface="Calibri" pitchFamily="34" charset="0"/>
                <a:ea typeface="Calibri" pitchFamily="34" charset="-122"/>
                <a:cs typeface="Calibri" pitchFamily="34" charset="-120"/>
              </a:rPr>
              <a:t>Lotte</a:t>
            </a:r>
            <a:endParaRPr lang="en-US" sz="1700" dirty="0"/>
          </a:p>
        </p:txBody>
      </p:sp>
      <p:sp>
        <p:nvSpPr>
          <p:cNvPr id="11" name="Text 8"/>
          <p:cNvSpPr txBox="1"/>
          <p:nvPr/>
        </p:nvSpPr>
        <p:spPr>
          <a:xfrm>
            <a:off x="822960" y="5943600"/>
            <a:ext cx="10543032" cy="320040"/>
          </a:xfrm>
          <a:prstGeom prst="rect">
            <a:avLst/>
          </a:prstGeom>
          <a:noFill/>
          <a:ln/>
        </p:spPr>
        <p:txBody>
          <a:bodyPr wrap="square" lIns="0" tIns="0" rIns="0" bIns="0" rtlCol="0" anchor="ctr"/>
          <a:lstStyle/>
          <a:p>
            <a:pPr algn="ctr" indent="0" marL="0">
              <a:buNone/>
            </a:pPr>
            <a:r>
              <a:rPr lang="en-US" sz="1300" i="1" dirty="0">
                <a:solidFill>
                  <a:srgbClr val="6B7686"/>
                </a:solidFill>
                <a:latin typeface="Calibri" pitchFamily="34" charset="0"/>
                <a:ea typeface="Calibri" pitchFamily="34" charset="-122"/>
                <a:cs typeface="Calibri" pitchFamily="34" charset="-120"/>
              </a:rPr>
              <a:t>Corrects : </a:t>
            </a:r>
            <a:r>
              <a:rPr lang="en-US" sz="1300" i="1" dirty="0">
                <a:solidFill>
                  <a:srgbClr val="6B7686"/>
                </a:solidFill>
                <a:latin typeface="Calibri" pitchFamily="34" charset="0"/>
                <a:ea typeface="Calibri" pitchFamily="34" charset="-122"/>
                <a:cs typeface="Calibri" pitchFamily="34" charset="-120"/>
              </a:rPr>
              <a:t>de beschikbaarheid</a:t>
            </a:r>
            <a:r>
              <a:rPr lang="en-US" sz="1300" i="1" dirty="0">
                <a:solidFill>
                  <a:srgbClr val="6B7686"/>
                </a:solidFill>
                <a:latin typeface="Calibri" pitchFamily="34" charset="0"/>
                <a:ea typeface="Calibri" pitchFamily="34" charset="-122"/>
                <a:cs typeface="Calibri" pitchFamily="34" charset="-120"/>
              </a:rPr>
              <a:t> (</a:t>
            </a:r>
            <a:r>
              <a:rPr lang="en-US" sz="1300" i="1" dirty="0">
                <a:solidFill>
                  <a:srgbClr val="6B7686"/>
                </a:solidFill>
                <a:latin typeface="Calibri" pitchFamily="34" charset="0"/>
                <a:ea typeface="Calibri" pitchFamily="34" charset="-122"/>
                <a:cs typeface="Calibri" pitchFamily="34" charset="-120"/>
              </a:rPr>
              <a:t>beschikbaar</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-heid</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vriendelijke</a:t>
            </a:r>
            <a:r>
              <a:rPr lang="en-US" sz="1300" i="1" dirty="0">
                <a:solidFill>
                  <a:srgbClr val="6B7686"/>
                </a:solidFill>
                <a:latin typeface="Calibri" pitchFamily="34" charset="0"/>
                <a:ea typeface="Calibri" pitchFamily="34" charset="-122"/>
                <a:cs typeface="Calibri" pitchFamily="34" charset="-120"/>
              </a:rPr>
              <a:t> (</a:t>
            </a:r>
            <a:r>
              <a:rPr lang="en-US" sz="1300" i="1" dirty="0">
                <a:solidFill>
                  <a:srgbClr val="6B7686"/>
                </a:solidFill>
                <a:latin typeface="Calibri" pitchFamily="34" charset="0"/>
                <a:ea typeface="Calibri" pitchFamily="34" charset="-122"/>
                <a:cs typeface="Calibri" pitchFamily="34" charset="-120"/>
              </a:rPr>
              <a:t>-lijk</a:t>
            </a:r>
            <a:r>
              <a:rPr lang="en-US" sz="1300" i="1" dirty="0">
                <a:solidFill>
                  <a:srgbClr val="6B7686"/>
                </a:solidFill>
                <a:latin typeface="Calibri" pitchFamily="34" charset="0"/>
                <a:ea typeface="Calibri" pitchFamily="34" charset="-122"/>
                <a:cs typeface="Calibri" pitchFamily="34" charset="-120"/>
              </a:rPr>
              <a:t> + </a:t>
            </a:r>
            <a:r>
              <a:rPr lang="en-US" sz="1300" i="1" dirty="0">
                <a:solidFill>
                  <a:srgbClr val="6B7686"/>
                </a:solidFill>
                <a:latin typeface="Calibri" pitchFamily="34" charset="0"/>
                <a:ea typeface="Calibri" pitchFamily="34" charset="-122"/>
                <a:cs typeface="Calibri" pitchFamily="34" charset="-120"/>
              </a:rPr>
              <a:t>-e</a:t>
            </a:r>
            <a:r>
              <a:rPr lang="en-US" sz="1300" i="1" dirty="0">
                <a:solidFill>
                  <a:srgbClr val="6B7686"/>
                </a:solidFill>
                <a:latin typeface="Calibri" pitchFamily="34" charset="0"/>
                <a:ea typeface="Calibri" pitchFamily="34" charset="-122"/>
                <a:cs typeface="Calibri" pitchFamily="34" charset="-120"/>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La fabrique de mots</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D9700F"/>
                </a:solidFill>
                <a:latin typeface="Calibri" pitchFamily="34" charset="0"/>
                <a:ea typeface="Calibri" pitchFamily="34" charset="-122"/>
                <a:cs typeface="Calibri" pitchFamily="34" charset="-120"/>
              </a:rPr>
              <a:t>JIJ NU ! · EXERCICE 12</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Par équipes : tirez une racine, puis fabriquez un maximum de mots avec les cartes-suffixes en 2 minutes.</a:t>
            </a:r>
            <a:endParaRPr lang="en-US" sz="1550" dirty="0"/>
          </a:p>
        </p:txBody>
      </p:sp>
      <p:sp>
        <p:nvSpPr>
          <p:cNvPr id="7" name="Text 4"/>
          <p:cNvSpPr txBox="1"/>
          <p:nvPr/>
        </p:nvSpPr>
        <p:spPr>
          <a:xfrm>
            <a:off x="1097280" y="1920240"/>
            <a:ext cx="999439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RACINES</a:t>
            </a:r>
            <a:endParaRPr lang="en-US" sz="1100" dirty="0"/>
          </a:p>
        </p:txBody>
      </p:sp>
      <p:sp>
        <p:nvSpPr>
          <p:cNvPr id="8" name="Shape 5"/>
          <p:cNvSpPr/>
          <p:nvPr/>
        </p:nvSpPr>
        <p:spPr>
          <a:xfrm>
            <a:off x="85953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9" name="Text 6"/>
          <p:cNvSpPr txBox="1"/>
          <p:nvPr/>
        </p:nvSpPr>
        <p:spPr>
          <a:xfrm>
            <a:off x="85953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werk-</a:t>
            </a:r>
            <a:endParaRPr lang="en-US" sz="1700" dirty="0"/>
          </a:p>
        </p:txBody>
      </p:sp>
      <p:sp>
        <p:nvSpPr>
          <p:cNvPr id="10" name="Shape 7"/>
          <p:cNvSpPr/>
          <p:nvPr/>
        </p:nvSpPr>
        <p:spPr>
          <a:xfrm>
            <a:off x="218541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11" name="Text 8"/>
          <p:cNvSpPr txBox="1"/>
          <p:nvPr/>
        </p:nvSpPr>
        <p:spPr>
          <a:xfrm>
            <a:off x="218541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speel-</a:t>
            </a:r>
            <a:endParaRPr lang="en-US" sz="1700" dirty="0"/>
          </a:p>
        </p:txBody>
      </p:sp>
      <p:sp>
        <p:nvSpPr>
          <p:cNvPr id="12" name="Shape 9"/>
          <p:cNvSpPr/>
          <p:nvPr/>
        </p:nvSpPr>
        <p:spPr>
          <a:xfrm>
            <a:off x="351129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13" name="Text 10"/>
          <p:cNvSpPr txBox="1"/>
          <p:nvPr/>
        </p:nvSpPr>
        <p:spPr>
          <a:xfrm>
            <a:off x="351129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vrij-</a:t>
            </a:r>
            <a:endParaRPr lang="en-US" sz="1700" dirty="0"/>
          </a:p>
        </p:txBody>
      </p:sp>
      <p:sp>
        <p:nvSpPr>
          <p:cNvPr id="14" name="Shape 11"/>
          <p:cNvSpPr/>
          <p:nvPr/>
        </p:nvSpPr>
        <p:spPr>
          <a:xfrm>
            <a:off x="483717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15" name="Text 12"/>
          <p:cNvSpPr txBox="1"/>
          <p:nvPr/>
        </p:nvSpPr>
        <p:spPr>
          <a:xfrm>
            <a:off x="483717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zon-</a:t>
            </a:r>
            <a:endParaRPr lang="en-US" sz="1700" dirty="0"/>
          </a:p>
        </p:txBody>
      </p:sp>
      <p:sp>
        <p:nvSpPr>
          <p:cNvPr id="16" name="Shape 13"/>
          <p:cNvSpPr/>
          <p:nvPr/>
        </p:nvSpPr>
        <p:spPr>
          <a:xfrm>
            <a:off x="616305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17" name="Text 14"/>
          <p:cNvSpPr txBox="1"/>
          <p:nvPr/>
        </p:nvSpPr>
        <p:spPr>
          <a:xfrm>
            <a:off x="616305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betaal-</a:t>
            </a:r>
            <a:endParaRPr lang="en-US" sz="1700" dirty="0"/>
          </a:p>
        </p:txBody>
      </p:sp>
      <p:sp>
        <p:nvSpPr>
          <p:cNvPr id="18" name="Shape 15"/>
          <p:cNvSpPr/>
          <p:nvPr/>
        </p:nvSpPr>
        <p:spPr>
          <a:xfrm>
            <a:off x="748893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19" name="Text 16"/>
          <p:cNvSpPr txBox="1"/>
          <p:nvPr/>
        </p:nvSpPr>
        <p:spPr>
          <a:xfrm>
            <a:off x="748893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lees-</a:t>
            </a:r>
            <a:endParaRPr lang="en-US" sz="1700" dirty="0"/>
          </a:p>
        </p:txBody>
      </p:sp>
      <p:sp>
        <p:nvSpPr>
          <p:cNvPr id="20" name="Shape 17"/>
          <p:cNvSpPr/>
          <p:nvPr/>
        </p:nvSpPr>
        <p:spPr>
          <a:xfrm>
            <a:off x="881481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21" name="Text 18"/>
          <p:cNvSpPr txBox="1"/>
          <p:nvPr/>
        </p:nvSpPr>
        <p:spPr>
          <a:xfrm>
            <a:off x="881481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gezond-</a:t>
            </a:r>
            <a:endParaRPr lang="en-US" sz="1700" dirty="0"/>
          </a:p>
        </p:txBody>
      </p:sp>
      <p:sp>
        <p:nvSpPr>
          <p:cNvPr id="22" name="Shape 19"/>
          <p:cNvSpPr/>
          <p:nvPr/>
        </p:nvSpPr>
        <p:spPr>
          <a:xfrm>
            <a:off x="10140696" y="2240280"/>
            <a:ext cx="1188720" cy="548640"/>
          </a:xfrm>
          <a:prstGeom prst="roundRect">
            <a:avLst>
              <a:gd name="adj" fmla="val 16667"/>
            </a:avLst>
          </a:prstGeom>
          <a:solidFill>
            <a:srgbClr val="17375E"/>
          </a:solidFill>
          <a:ln w="12700">
            <a:solidFill>
              <a:srgbClr val="FFFFFF">
                <a:alpha val="0"/>
              </a:srgbClr>
            </a:solidFill>
            <a:prstDash val="solid"/>
          </a:ln>
        </p:spPr>
      </p:sp>
      <p:sp>
        <p:nvSpPr>
          <p:cNvPr id="23" name="Text 20"/>
          <p:cNvSpPr txBox="1"/>
          <p:nvPr/>
        </p:nvSpPr>
        <p:spPr>
          <a:xfrm>
            <a:off x="10140696" y="2240280"/>
            <a:ext cx="1188720" cy="548640"/>
          </a:xfrm>
          <a:prstGeom prst="rect">
            <a:avLst/>
          </a:prstGeom>
          <a:noFill/>
          <a:ln/>
        </p:spPr>
        <p:txBody>
          <a:bodyPr wrap="square" lIns="0" tIns="0" rIns="0" bIns="0"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groot-</a:t>
            </a:r>
            <a:endParaRPr lang="en-US" sz="1700" dirty="0"/>
          </a:p>
        </p:txBody>
      </p:sp>
      <p:sp>
        <p:nvSpPr>
          <p:cNvPr id="24" name="Text 21"/>
          <p:cNvSpPr txBox="1"/>
          <p:nvPr/>
        </p:nvSpPr>
        <p:spPr>
          <a:xfrm>
            <a:off x="1097280" y="3017520"/>
            <a:ext cx="9994392" cy="274320"/>
          </a:xfrm>
          <a:prstGeom prst="rect">
            <a:avLst/>
          </a:prstGeom>
          <a:noFill/>
          <a:ln/>
        </p:spPr>
        <p:txBody>
          <a:bodyPr wrap="square" lIns="0" tIns="0" rIns="0" bIns="0" rtlCol="0" anchor="ctr"/>
          <a:lstStyle/>
          <a:p>
            <a:pPr algn="ctr" indent="0" marL="0">
              <a:buNone/>
            </a:pPr>
            <a:r>
              <a:rPr lang="en-US" sz="1100" b="1" spc="300" kern="0" dirty="0">
                <a:solidFill>
                  <a:srgbClr val="6E4A9E"/>
                </a:solidFill>
                <a:latin typeface="Calibri" pitchFamily="34" charset="0"/>
                <a:ea typeface="Calibri" pitchFamily="34" charset="-122"/>
                <a:cs typeface="Calibri" pitchFamily="34" charset="-120"/>
              </a:rPr>
              <a:t>CARTES-SUFFIXES</a:t>
            </a:r>
            <a:endParaRPr lang="en-US" sz="1100" dirty="0"/>
          </a:p>
        </p:txBody>
      </p:sp>
      <p:sp>
        <p:nvSpPr>
          <p:cNvPr id="25" name="Shape 22"/>
          <p:cNvSpPr/>
          <p:nvPr/>
        </p:nvSpPr>
        <p:spPr>
          <a:xfrm>
            <a:off x="149961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26" name="Text 23"/>
          <p:cNvSpPr txBox="1"/>
          <p:nvPr/>
        </p:nvSpPr>
        <p:spPr>
          <a:xfrm>
            <a:off x="149961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-ing</a:t>
            </a:r>
            <a:endParaRPr lang="en-US" sz="1700" dirty="0"/>
          </a:p>
        </p:txBody>
      </p:sp>
      <p:sp>
        <p:nvSpPr>
          <p:cNvPr id="27" name="Shape 24"/>
          <p:cNvSpPr/>
          <p:nvPr/>
        </p:nvSpPr>
        <p:spPr>
          <a:xfrm>
            <a:off x="305409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28" name="Text 25"/>
          <p:cNvSpPr txBox="1"/>
          <p:nvPr/>
        </p:nvSpPr>
        <p:spPr>
          <a:xfrm>
            <a:off x="305409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-er</a:t>
            </a:r>
            <a:endParaRPr lang="en-US" sz="1700" dirty="0"/>
          </a:p>
        </p:txBody>
      </p:sp>
      <p:sp>
        <p:nvSpPr>
          <p:cNvPr id="29" name="Shape 26"/>
          <p:cNvSpPr/>
          <p:nvPr/>
        </p:nvSpPr>
        <p:spPr>
          <a:xfrm>
            <a:off x="460857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30" name="Text 27"/>
          <p:cNvSpPr txBox="1"/>
          <p:nvPr/>
        </p:nvSpPr>
        <p:spPr>
          <a:xfrm>
            <a:off x="460857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-heid</a:t>
            </a:r>
            <a:endParaRPr lang="en-US" sz="1700" dirty="0"/>
          </a:p>
        </p:txBody>
      </p:sp>
      <p:sp>
        <p:nvSpPr>
          <p:cNvPr id="31" name="Shape 28"/>
          <p:cNvSpPr/>
          <p:nvPr/>
        </p:nvSpPr>
        <p:spPr>
          <a:xfrm>
            <a:off x="616305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32" name="Text 29"/>
          <p:cNvSpPr txBox="1"/>
          <p:nvPr/>
        </p:nvSpPr>
        <p:spPr>
          <a:xfrm>
            <a:off x="616305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-te</a:t>
            </a:r>
            <a:endParaRPr lang="en-US" sz="1700" dirty="0"/>
          </a:p>
        </p:txBody>
      </p:sp>
      <p:sp>
        <p:nvSpPr>
          <p:cNvPr id="33" name="Shape 30"/>
          <p:cNvSpPr/>
          <p:nvPr/>
        </p:nvSpPr>
        <p:spPr>
          <a:xfrm>
            <a:off x="771753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34" name="Text 31"/>
          <p:cNvSpPr txBox="1"/>
          <p:nvPr/>
        </p:nvSpPr>
        <p:spPr>
          <a:xfrm>
            <a:off x="771753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-ig</a:t>
            </a:r>
            <a:endParaRPr lang="en-US" sz="1700" dirty="0"/>
          </a:p>
        </p:txBody>
      </p:sp>
      <p:sp>
        <p:nvSpPr>
          <p:cNvPr id="35" name="Shape 32"/>
          <p:cNvSpPr/>
          <p:nvPr/>
        </p:nvSpPr>
        <p:spPr>
          <a:xfrm>
            <a:off x="9272016" y="3337560"/>
            <a:ext cx="1417320" cy="548640"/>
          </a:xfrm>
          <a:prstGeom prst="roundRect">
            <a:avLst>
              <a:gd name="adj" fmla="val 16667"/>
            </a:avLst>
          </a:prstGeom>
          <a:solidFill>
            <a:srgbClr val="6E4A9E"/>
          </a:solidFill>
          <a:ln w="12700">
            <a:solidFill>
              <a:srgbClr val="FFFFFF">
                <a:alpha val="0"/>
              </a:srgbClr>
            </a:solidFill>
            <a:prstDash val="solid"/>
          </a:ln>
        </p:spPr>
      </p:sp>
      <p:sp>
        <p:nvSpPr>
          <p:cNvPr id="36" name="Text 33"/>
          <p:cNvSpPr txBox="1"/>
          <p:nvPr/>
        </p:nvSpPr>
        <p:spPr>
          <a:xfrm>
            <a:off x="9272016" y="333756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-lijk</a:t>
            </a:r>
            <a:endParaRPr lang="en-US" sz="1700" dirty="0"/>
          </a:p>
        </p:txBody>
      </p:sp>
      <p:sp>
        <p:nvSpPr>
          <p:cNvPr id="37" name="Shape 34"/>
          <p:cNvSpPr/>
          <p:nvPr/>
        </p:nvSpPr>
        <p:spPr>
          <a:xfrm>
            <a:off x="149961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38" name="Text 35"/>
          <p:cNvSpPr txBox="1"/>
          <p:nvPr/>
        </p:nvSpPr>
        <p:spPr>
          <a:xfrm>
            <a:off x="149961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-baar</a:t>
            </a:r>
            <a:endParaRPr lang="en-US" sz="1700" dirty="0"/>
          </a:p>
        </p:txBody>
      </p:sp>
      <p:sp>
        <p:nvSpPr>
          <p:cNvPr id="39" name="Shape 36"/>
          <p:cNvSpPr/>
          <p:nvPr/>
        </p:nvSpPr>
        <p:spPr>
          <a:xfrm>
            <a:off x="305409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40" name="Text 37"/>
          <p:cNvSpPr txBox="1"/>
          <p:nvPr/>
        </p:nvSpPr>
        <p:spPr>
          <a:xfrm>
            <a:off x="305409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-loos</a:t>
            </a:r>
            <a:endParaRPr lang="en-US" sz="1700" dirty="0"/>
          </a:p>
        </p:txBody>
      </p:sp>
      <p:sp>
        <p:nvSpPr>
          <p:cNvPr id="41" name="Shape 38"/>
          <p:cNvSpPr/>
          <p:nvPr/>
        </p:nvSpPr>
        <p:spPr>
          <a:xfrm>
            <a:off x="460857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42" name="Text 39"/>
          <p:cNvSpPr txBox="1"/>
          <p:nvPr/>
        </p:nvSpPr>
        <p:spPr>
          <a:xfrm>
            <a:off x="460857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on-</a:t>
            </a:r>
            <a:endParaRPr lang="en-US" sz="1700" dirty="0"/>
          </a:p>
        </p:txBody>
      </p:sp>
      <p:sp>
        <p:nvSpPr>
          <p:cNvPr id="43" name="Shape 40"/>
          <p:cNvSpPr/>
          <p:nvPr/>
        </p:nvSpPr>
        <p:spPr>
          <a:xfrm>
            <a:off x="616305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44" name="Text 41"/>
          <p:cNvSpPr txBox="1"/>
          <p:nvPr/>
        </p:nvSpPr>
        <p:spPr>
          <a:xfrm>
            <a:off x="616305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ver- … -en</a:t>
            </a:r>
            <a:endParaRPr lang="en-US" sz="1700" dirty="0"/>
          </a:p>
        </p:txBody>
      </p:sp>
      <p:sp>
        <p:nvSpPr>
          <p:cNvPr id="45" name="Shape 42"/>
          <p:cNvSpPr/>
          <p:nvPr/>
        </p:nvSpPr>
        <p:spPr>
          <a:xfrm>
            <a:off x="771753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46" name="Text 43"/>
          <p:cNvSpPr txBox="1"/>
          <p:nvPr/>
        </p:nvSpPr>
        <p:spPr>
          <a:xfrm>
            <a:off x="771753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be-</a:t>
            </a:r>
            <a:endParaRPr lang="en-US" sz="1700" dirty="0"/>
          </a:p>
        </p:txBody>
      </p:sp>
      <p:sp>
        <p:nvSpPr>
          <p:cNvPr id="47" name="Shape 44"/>
          <p:cNvSpPr/>
          <p:nvPr/>
        </p:nvSpPr>
        <p:spPr>
          <a:xfrm>
            <a:off x="9272016" y="3977640"/>
            <a:ext cx="1417320" cy="548640"/>
          </a:xfrm>
          <a:prstGeom prst="roundRect">
            <a:avLst>
              <a:gd name="adj" fmla="val 16667"/>
            </a:avLst>
          </a:prstGeom>
          <a:solidFill>
            <a:srgbClr val="6E4A9E"/>
          </a:solidFill>
          <a:ln w="12700">
            <a:solidFill>
              <a:srgbClr val="FFFFFF">
                <a:alpha val="0"/>
              </a:srgbClr>
            </a:solidFill>
            <a:prstDash val="solid"/>
          </a:ln>
        </p:spPr>
      </p:sp>
      <p:sp>
        <p:nvSpPr>
          <p:cNvPr id="48" name="Text 45"/>
          <p:cNvSpPr txBox="1"/>
          <p:nvPr/>
        </p:nvSpPr>
        <p:spPr>
          <a:xfrm>
            <a:off x="9272016" y="3977640"/>
            <a:ext cx="14173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het + inf.</a:t>
            </a:r>
            <a:endParaRPr lang="en-US" sz="17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3122676" y="4709160"/>
          <a:ext cx="5943600" cy="914400"/>
        </p:xfrm>
        <a:graphic>
          <a:graphicData uri="http://schemas.openxmlformats.org/drawingml/2006/table">
            <a:tbl>
              <a:tblPr/>
              <a:tblGrid>
                <a:gridCol w="1371600"/>
                <a:gridCol w="4572000"/>
              </a:tblGrid>
              <a:tr h="329184">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BARÈME</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329184">
                <a:tc>
                  <a:txBody>
                    <a:bodyPr/>
                    <a:lstStyle/>
                    <a:p>
                      <a:pPr algn="ctr" indent="0" marL="0">
                        <a:buNone/>
                      </a:pPr>
                      <a:r>
                        <a:rPr lang="en-US" sz="1400" dirty="0">
                          <a:solidFill>
                            <a:srgbClr val="1B2333"/>
                          </a:solidFill>
                          <a:latin typeface="Calibri" pitchFamily="34" charset="0"/>
                          <a:ea typeface="Calibri" pitchFamily="34" charset="-122"/>
                          <a:cs typeface="Calibri" pitchFamily="34" charset="-120"/>
                        </a:rPr>
                        <a:t>1 point</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333"/>
                          </a:solidFill>
                          <a:latin typeface="Calibri" pitchFamily="34" charset="0"/>
                          <a:ea typeface="Calibri" pitchFamily="34" charset="-122"/>
                          <a:cs typeface="Calibri" pitchFamily="34" charset="-120"/>
                        </a:rPr>
                        <a:t>par mot correct</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B2333"/>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333"/>
                          </a:solidFill>
                          <a:latin typeface="Calibri" pitchFamily="34" charset="0"/>
                          <a:ea typeface="Calibri" pitchFamily="34" charset="-122"/>
                          <a:cs typeface="Calibri" pitchFamily="34" charset="-120"/>
                        </a:rPr>
                        <a:t>si l’article est juste</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B2333"/>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00" dirty="0">
                          <a:solidFill>
                            <a:srgbClr val="1B2333"/>
                          </a:solidFill>
                          <a:latin typeface="Calibri" pitchFamily="34" charset="0"/>
                          <a:ea typeface="Calibri" pitchFamily="34" charset="-122"/>
                          <a:cs typeface="Calibri" pitchFamily="34" charset="-120"/>
                        </a:rPr>
                        <a:t>si l’équipe fait une phrase avec le mot</a:t>
                      </a:r>
                      <a:endParaRPr lang="en-US" sz="14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Les travaux chez Peeters &amp; Co</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6E4A9E"/>
                </a:solidFill>
                <a:latin typeface="Calibri" pitchFamily="34" charset="0"/>
                <a:ea typeface="Calibri" pitchFamily="34" charset="-122"/>
                <a:cs typeface="Calibri" pitchFamily="34" charset="-120"/>
              </a:rPr>
              <a:t>MISE EN SITUATION · EXERCICE 13</a:t>
            </a:r>
            <a:endParaRPr lang="en-US" sz="1100" dirty="0"/>
          </a:p>
        </p:txBody>
      </p:sp>
      <p:sp>
        <p:nvSpPr>
          <p:cNvPr id="4" name="Text 2"/>
          <p:cNvSpPr txBox="1"/>
          <p:nvPr/>
        </p:nvSpPr>
        <p:spPr>
          <a:xfrm>
            <a:off x="10424160" y="256032"/>
            <a:ext cx="1216152" cy="274320"/>
          </a:xfrm>
          <a:prstGeom prst="rect">
            <a:avLst/>
          </a:prstGeom>
          <a:noFill/>
          <a:ln/>
        </p:spPr>
        <p:txBody>
          <a:bodyPr wrap="square" lIns="0" tIns="0" rIns="0" bIns="0" rtlCol="0" anchor="ctr"/>
          <a:lstStyle/>
          <a:p>
            <a:pPr algn="r" indent="0" marL="0">
              <a:buNone/>
            </a:pPr>
            <a:r>
              <a:rPr lang="en-US" sz="1300" dirty="0">
                <a:solidFill>
                  <a:srgbClr val="D9700F"/>
                </a:solidFill>
                <a:latin typeface="Calibri" pitchFamily="34" charset="0"/>
                <a:ea typeface="Calibri" pitchFamily="34" charset="-122"/>
                <a:cs typeface="Calibri" pitchFamily="34" charset="-120"/>
              </a:rPr>
              <a:t>★★★</a:t>
            </a:r>
            <a:endParaRPr lang="en-US" sz="1300" dirty="0"/>
          </a:p>
        </p:txBody>
      </p:sp>
      <p:sp>
        <p:nvSpPr>
          <p:cNvPr id="6" name="Text 3"/>
          <p:cNvSpPr txBox="1"/>
          <p:nvPr/>
        </p:nvSpPr>
        <p:spPr>
          <a:xfrm>
            <a:off x="1097280" y="1325880"/>
            <a:ext cx="9994392" cy="384048"/>
          </a:xfrm>
          <a:prstGeom prst="rect">
            <a:avLst/>
          </a:prstGeom>
          <a:noFill/>
          <a:ln/>
        </p:spPr>
        <p:txBody>
          <a:bodyPr wrap="square" lIns="0" tIns="0" rIns="0" bIns="0" rtlCol="0" anchor="ctr"/>
          <a:lstStyle/>
          <a:p>
            <a:pPr algn="ctr" indent="0" marL="0">
              <a:buNone/>
            </a:pPr>
            <a:r>
              <a:rPr lang="en-US" sz="1550" i="1" dirty="0">
                <a:solidFill>
                  <a:srgbClr val="6B7686"/>
                </a:solidFill>
                <a:latin typeface="Calibri" pitchFamily="34" charset="0"/>
                <a:ea typeface="Calibri" pitchFamily="34" charset="-122"/>
                <a:cs typeface="Calibri" pitchFamily="34" charset="-120"/>
              </a:rPr>
              <a:t>Peeters &amp; Co rénove ses bureaux. A explique les travaux à l’oral ; B écrit l’avis en style nominal.</a:t>
            </a:r>
            <a:endParaRPr lang="en-US" sz="1550" dirty="0"/>
          </a:p>
        </p:txBody>
      </p:sp>
      <p:sp>
        <p:nvSpPr>
          <p:cNvPr id="7" name="Shape 4"/>
          <p:cNvSpPr/>
          <p:nvPr/>
        </p:nvSpPr>
        <p:spPr>
          <a:xfrm>
            <a:off x="822960" y="1920240"/>
            <a:ext cx="6035040" cy="1143000"/>
          </a:xfrm>
          <a:prstGeom prst="roundRect">
            <a:avLst>
              <a:gd name="adj" fmla="val 8000"/>
            </a:avLst>
          </a:prstGeom>
          <a:solidFill>
            <a:srgbClr val="EAF2FB"/>
          </a:solidFill>
          <a:ln w="12700">
            <a:solidFill>
              <a:srgbClr val="FFFFFF">
                <a:alpha val="0"/>
              </a:srgbClr>
            </a:solidFill>
            <a:prstDash val="solid"/>
          </a:ln>
        </p:spPr>
      </p:sp>
      <p:sp>
        <p:nvSpPr>
          <p:cNvPr id="8" name="Shape 5"/>
          <p:cNvSpPr/>
          <p:nvPr/>
        </p:nvSpPr>
        <p:spPr>
          <a:xfrm>
            <a:off x="1005840" y="2212848"/>
            <a:ext cx="548640" cy="548640"/>
          </a:xfrm>
          <a:prstGeom prst="ellipse">
            <a:avLst/>
          </a:prstGeom>
          <a:solidFill>
            <a:srgbClr val="2A6FB0"/>
          </a:solidFill>
          <a:ln w="12700">
            <a:solidFill>
              <a:srgbClr val="FFFFFF">
                <a:alpha val="0"/>
              </a:srgbClr>
            </a:solidFill>
            <a:prstDash val="solid"/>
          </a:ln>
        </p:spPr>
      </p:sp>
      <p:sp>
        <p:nvSpPr>
          <p:cNvPr id="9" name="Text 6"/>
          <p:cNvSpPr txBox="1"/>
          <p:nvPr/>
        </p:nvSpPr>
        <p:spPr>
          <a:xfrm>
            <a:off x="1005840" y="2212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0" name="Text 7"/>
          <p:cNvSpPr txBox="1"/>
          <p:nvPr/>
        </p:nvSpPr>
        <p:spPr>
          <a:xfrm>
            <a:off x="1783080" y="2029968"/>
            <a:ext cx="4937760" cy="329184"/>
          </a:xfrm>
          <a:prstGeom prst="rect">
            <a:avLst/>
          </a:prstGeom>
          <a:noFill/>
          <a:ln/>
        </p:spPr>
        <p:txBody>
          <a:bodyPr wrap="square" lIns="0" tIns="0" rIns="0" bIns="0" rtlCol="0" anchor="ctr"/>
          <a:lstStyle/>
          <a:p>
            <a:pPr algn="l" indent="0" marL="0">
              <a:buNone/>
            </a:pPr>
            <a:r>
              <a:rPr lang="en-US" sz="1500" b="1" dirty="0">
                <a:solidFill>
                  <a:srgbClr val="2A6FB0"/>
                </a:solidFill>
                <a:latin typeface="Calibri" pitchFamily="34" charset="0"/>
                <a:ea typeface="Calibri" pitchFamily="34" charset="-122"/>
                <a:cs typeface="Calibri" pitchFamily="34" charset="-120"/>
              </a:rPr>
              <a:t>Facility manager</a:t>
            </a:r>
            <a:endParaRPr lang="en-US" sz="1500" dirty="0"/>
          </a:p>
        </p:txBody>
      </p:sp>
      <p:sp>
        <p:nvSpPr>
          <p:cNvPr id="11" name="Text 8"/>
          <p:cNvSpPr txBox="1"/>
          <p:nvPr/>
        </p:nvSpPr>
        <p:spPr>
          <a:xfrm>
            <a:off x="1783080" y="2359152"/>
            <a:ext cx="4937760" cy="640080"/>
          </a:xfrm>
          <a:prstGeom prst="rect">
            <a:avLst/>
          </a:prstGeom>
          <a:noFill/>
          <a:ln/>
        </p:spPr>
        <p:txBody>
          <a:bodyPr wrap="square" lIns="0" tIns="0" rIns="0" bIns="0" rtlCol="0" anchor="t"/>
          <a:lstStyle/>
          <a:p>
            <a:pPr algn="l" indent="0" marL="0">
              <a:buNone/>
            </a:pPr>
            <a:r>
              <a:rPr lang="en-US" sz="1450" dirty="0">
                <a:solidFill>
                  <a:srgbClr val="1B2333"/>
                </a:solidFill>
                <a:latin typeface="Calibri" pitchFamily="34" charset="0"/>
                <a:ea typeface="Calibri" pitchFamily="34" charset="-122"/>
                <a:cs typeface="Calibri" pitchFamily="34" charset="-120"/>
              </a:rPr>
              <a:t>Expliquez les travaux avec des </a:t>
            </a:r>
            <a:r>
              <a:rPr lang="en-US" sz="1450" b="1" dirty="0">
                <a:solidFill>
                  <a:srgbClr val="B83227"/>
                </a:solidFill>
                <a:latin typeface="Calibri" pitchFamily="34" charset="0"/>
                <a:ea typeface="Calibri" pitchFamily="34" charset="-122"/>
                <a:cs typeface="Calibri" pitchFamily="34" charset="-120"/>
              </a:rPr>
              <a:t>verbes</a:t>
            </a:r>
            <a:r>
              <a:rPr lang="en-US" sz="1450" dirty="0">
                <a:solidFill>
                  <a:srgbClr val="1B2333"/>
                </a:solidFill>
                <a:latin typeface="Calibri" pitchFamily="34" charset="0"/>
                <a:ea typeface="Calibri" pitchFamily="34" charset="-122"/>
                <a:cs typeface="Calibri" pitchFamily="34" charset="-120"/>
              </a:rPr>
              <a:t> : </a:t>
            </a:r>
            <a:r>
              <a:rPr lang="en-US" sz="1450" i="1" dirty="0">
                <a:solidFill>
                  <a:srgbClr val="1B2333"/>
                </a:solidFill>
                <a:latin typeface="Calibri" pitchFamily="34" charset="0"/>
                <a:ea typeface="Calibri" pitchFamily="34" charset="-122"/>
                <a:cs typeface="Calibri" pitchFamily="34" charset="-120"/>
              </a:rPr>
              <a:t>We </a:t>
            </a:r>
            <a:r>
              <a:rPr lang="en-US" sz="1450" b="1" i="1" dirty="0">
                <a:solidFill>
                  <a:srgbClr val="B83227"/>
                </a:solidFill>
                <a:latin typeface="Calibri" pitchFamily="34" charset="0"/>
                <a:ea typeface="Calibri" pitchFamily="34" charset="-122"/>
                <a:cs typeface="Calibri" pitchFamily="34" charset="-120"/>
              </a:rPr>
              <a:t>vergroten</a:t>
            </a:r>
            <a:r>
              <a:rPr lang="en-US" sz="1450" i="1" dirty="0">
                <a:solidFill>
                  <a:srgbClr val="1B2333"/>
                </a:solidFill>
                <a:latin typeface="Calibri" pitchFamily="34" charset="0"/>
                <a:ea typeface="Calibri" pitchFamily="34" charset="-122"/>
                <a:cs typeface="Calibri" pitchFamily="34" charset="-120"/>
              </a:rPr>
              <a:t> de refter…</a:t>
            </a:r>
            <a:endParaRPr lang="en-US" sz="1450" dirty="0"/>
          </a:p>
        </p:txBody>
      </p:sp>
      <p:sp>
        <p:nvSpPr>
          <p:cNvPr id="12" name="Shape 9"/>
          <p:cNvSpPr/>
          <p:nvPr/>
        </p:nvSpPr>
        <p:spPr>
          <a:xfrm>
            <a:off x="822960" y="3246120"/>
            <a:ext cx="6035040" cy="1143000"/>
          </a:xfrm>
          <a:prstGeom prst="roundRect">
            <a:avLst>
              <a:gd name="adj" fmla="val 8000"/>
            </a:avLst>
          </a:prstGeom>
          <a:solidFill>
            <a:srgbClr val="F1ECF7"/>
          </a:solidFill>
          <a:ln w="12700">
            <a:solidFill>
              <a:srgbClr val="FFFFFF">
                <a:alpha val="0"/>
              </a:srgbClr>
            </a:solidFill>
            <a:prstDash val="solid"/>
          </a:ln>
        </p:spPr>
      </p:sp>
      <p:sp>
        <p:nvSpPr>
          <p:cNvPr id="13" name="Shape 10"/>
          <p:cNvSpPr/>
          <p:nvPr/>
        </p:nvSpPr>
        <p:spPr>
          <a:xfrm>
            <a:off x="1005840" y="3538728"/>
            <a:ext cx="548640" cy="548640"/>
          </a:xfrm>
          <a:prstGeom prst="ellipse">
            <a:avLst/>
          </a:prstGeom>
          <a:solidFill>
            <a:srgbClr val="6E4A9E"/>
          </a:solidFill>
          <a:ln w="12700">
            <a:solidFill>
              <a:srgbClr val="FFFFFF">
                <a:alpha val="0"/>
              </a:srgbClr>
            </a:solidFill>
            <a:prstDash val="solid"/>
          </a:ln>
        </p:spPr>
      </p:sp>
      <p:sp>
        <p:nvSpPr>
          <p:cNvPr id="14" name="Text 11"/>
          <p:cNvSpPr txBox="1"/>
          <p:nvPr/>
        </p:nvSpPr>
        <p:spPr>
          <a:xfrm>
            <a:off x="1005840" y="35387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5" name="Text 12"/>
          <p:cNvSpPr txBox="1"/>
          <p:nvPr/>
        </p:nvSpPr>
        <p:spPr>
          <a:xfrm>
            <a:off x="1783080" y="3355848"/>
            <a:ext cx="4937760" cy="329184"/>
          </a:xfrm>
          <a:prstGeom prst="rect">
            <a:avLst/>
          </a:prstGeom>
          <a:noFill/>
          <a:ln/>
        </p:spPr>
        <p:txBody>
          <a:bodyPr wrap="square" lIns="0" tIns="0" rIns="0" bIns="0" rtlCol="0" anchor="ctr"/>
          <a:lstStyle/>
          <a:p>
            <a:pPr algn="l" indent="0" marL="0">
              <a:buNone/>
            </a:pPr>
            <a:r>
              <a:rPr lang="en-US" sz="1500" b="1" dirty="0">
                <a:solidFill>
                  <a:srgbClr val="6E4A9E"/>
                </a:solidFill>
                <a:latin typeface="Calibri" pitchFamily="34" charset="0"/>
                <a:ea typeface="Calibri" pitchFamily="34" charset="-122"/>
                <a:cs typeface="Calibri" pitchFamily="34" charset="-120"/>
              </a:rPr>
              <a:t>Assistant·e</a:t>
            </a:r>
            <a:endParaRPr lang="en-US" sz="1500" dirty="0"/>
          </a:p>
        </p:txBody>
      </p:sp>
      <p:sp>
        <p:nvSpPr>
          <p:cNvPr id="16" name="Text 13"/>
          <p:cNvSpPr txBox="1"/>
          <p:nvPr/>
        </p:nvSpPr>
        <p:spPr>
          <a:xfrm>
            <a:off x="1783080" y="3685032"/>
            <a:ext cx="4937760" cy="640080"/>
          </a:xfrm>
          <a:prstGeom prst="rect">
            <a:avLst/>
          </a:prstGeom>
          <a:noFill/>
          <a:ln/>
        </p:spPr>
        <p:txBody>
          <a:bodyPr wrap="square" lIns="0" tIns="0" rIns="0" bIns="0" rtlCol="0" anchor="t"/>
          <a:lstStyle/>
          <a:p>
            <a:pPr algn="l" indent="0" marL="0">
              <a:buNone/>
            </a:pPr>
            <a:r>
              <a:rPr lang="en-US" sz="1450" dirty="0">
                <a:solidFill>
                  <a:srgbClr val="1B2333"/>
                </a:solidFill>
                <a:latin typeface="Calibri" pitchFamily="34" charset="0"/>
                <a:ea typeface="Calibri" pitchFamily="34" charset="-122"/>
                <a:cs typeface="Calibri" pitchFamily="34" charset="-120"/>
              </a:rPr>
              <a:t>Écrivez l’avis avec des </a:t>
            </a:r>
            <a:r>
              <a:rPr lang="en-US" sz="1450" b="1" dirty="0">
                <a:solidFill>
                  <a:srgbClr val="2A6FB0"/>
                </a:solidFill>
                <a:latin typeface="Calibri" pitchFamily="34" charset="0"/>
                <a:ea typeface="Calibri" pitchFamily="34" charset="-122"/>
                <a:cs typeface="Calibri" pitchFamily="34" charset="-120"/>
              </a:rPr>
              <a:t>noms</a:t>
            </a:r>
            <a:r>
              <a:rPr lang="en-US" sz="1450" dirty="0">
                <a:solidFill>
                  <a:srgbClr val="1B2333"/>
                </a:solidFill>
                <a:latin typeface="Calibri" pitchFamily="34" charset="0"/>
                <a:ea typeface="Calibri" pitchFamily="34" charset="-122"/>
                <a:cs typeface="Calibri" pitchFamily="34" charset="-120"/>
              </a:rPr>
              <a:t> : </a:t>
            </a:r>
            <a:r>
              <a:rPr lang="en-US" sz="1450" b="1" i="1" dirty="0">
                <a:solidFill>
                  <a:srgbClr val="2A6FB0"/>
                </a:solidFill>
                <a:latin typeface="Calibri" pitchFamily="34" charset="0"/>
                <a:ea typeface="Calibri" pitchFamily="34" charset="-122"/>
                <a:cs typeface="Calibri" pitchFamily="34" charset="-120"/>
              </a:rPr>
              <a:t>Vergroting</a:t>
            </a:r>
            <a:r>
              <a:rPr lang="en-US" sz="1450" i="1" dirty="0">
                <a:solidFill>
                  <a:srgbClr val="1B2333"/>
                </a:solidFill>
                <a:latin typeface="Calibri" pitchFamily="34" charset="0"/>
                <a:ea typeface="Calibri" pitchFamily="34" charset="-122"/>
                <a:cs typeface="Calibri" pitchFamily="34" charset="-120"/>
              </a:rPr>
              <a:t> van de refter…</a:t>
            </a:r>
            <a:r>
              <a:rPr lang="en-US" sz="1450" dirty="0">
                <a:solidFill>
                  <a:srgbClr val="1B2333"/>
                </a:solidFill>
                <a:latin typeface="Calibri" pitchFamily="34" charset="0"/>
                <a:ea typeface="Calibri" pitchFamily="34" charset="-122"/>
                <a:cs typeface="Calibri" pitchFamily="34" charset="-120"/>
              </a:rPr>
              <a:t> Puis A vérifie.</a:t>
            </a:r>
            <a:endParaRPr lang="en-US" sz="1450" dirty="0"/>
          </a:p>
        </p:txBody>
      </p:sp>
      <p:sp>
        <p:nvSpPr>
          <p:cNvPr id="17" name="Text 14"/>
          <p:cNvSpPr txBox="1"/>
          <p:nvPr/>
        </p:nvSpPr>
        <p:spPr>
          <a:xfrm>
            <a:off x="822960" y="4645152"/>
            <a:ext cx="6035040" cy="274320"/>
          </a:xfrm>
          <a:prstGeom prst="rect">
            <a:avLst/>
          </a:prstGeom>
          <a:noFill/>
          <a:ln/>
        </p:spPr>
        <p:txBody>
          <a:bodyPr wrap="square" lIns="0" tIns="0" rIns="0" bIns="0" rtlCol="0" anchor="ctr"/>
          <a:lstStyle/>
          <a:p>
            <a:pPr algn="l" indent="0" marL="0">
              <a:buNone/>
            </a:pPr>
            <a:r>
              <a:rPr lang="en-US" sz="1100" b="1" spc="200" kern="0" dirty="0">
                <a:solidFill>
                  <a:srgbClr val="17375E"/>
                </a:solidFill>
                <a:latin typeface="Calibri" pitchFamily="34" charset="0"/>
                <a:ea typeface="Calibri" pitchFamily="34" charset="-122"/>
                <a:cs typeface="Calibri" pitchFamily="34" charset="-120"/>
              </a:rPr>
              <a:t>BANQUE DE MOTS</a:t>
            </a:r>
            <a:endParaRPr lang="en-US" sz="1100" dirty="0"/>
          </a:p>
        </p:txBody>
      </p:sp>
      <p:sp>
        <p:nvSpPr>
          <p:cNvPr id="18" name="Text 15"/>
          <p:cNvSpPr txBox="1"/>
          <p:nvPr/>
        </p:nvSpPr>
        <p:spPr>
          <a:xfrm>
            <a:off x="822960" y="4937760"/>
            <a:ext cx="6035040" cy="1188720"/>
          </a:xfrm>
          <a:prstGeom prst="rect">
            <a:avLst/>
          </a:prstGeom>
          <a:noFill/>
          <a:ln/>
        </p:spPr>
        <p:txBody>
          <a:bodyPr wrap="square" lIns="0" tIns="0" rIns="0" bIns="0" rtlCol="0" anchor="t"/>
          <a:lstStyle/>
          <a:p>
            <a:pPr algn="l" indent="0" marL="0">
              <a:buNone/>
            </a:pPr>
            <a:r>
              <a:rPr lang="en-US" sz="1400" i="1" dirty="0">
                <a:solidFill>
                  <a:srgbClr val="2A6FB0"/>
                </a:solidFill>
                <a:latin typeface="Calibri" pitchFamily="34" charset="0"/>
                <a:ea typeface="Calibri" pitchFamily="34" charset="-122"/>
                <a:cs typeface="Calibri" pitchFamily="34" charset="-120"/>
              </a:rPr>
              <a:t>de vergroting · de vernieuwing · de verbetering · de sluiting · de heropening</a:t>
            </a:r>
            <a:r>
              <a:rPr lang="en-US" sz="1400" i="1" dirty="0">
                <a:solidFill>
                  <a:srgbClr val="1B2333"/>
                </a:solidFill>
                <a:latin typeface="Calibri" pitchFamily="34" charset="0"/>
                <a:ea typeface="Calibri" pitchFamily="34" charset="-122"/>
                <a:cs typeface="Calibri" pitchFamily="34" charset="-120"/>
              </a:rPr>
              <a:t> · </a:t>
            </a:r>
            <a:r>
              <a:rPr lang="en-US" sz="1400" i="1" dirty="0">
                <a:solidFill>
                  <a:srgbClr val="D9700F"/>
                </a:solidFill>
                <a:latin typeface="Calibri" pitchFamily="34" charset="0"/>
                <a:ea typeface="Calibri" pitchFamily="34" charset="-122"/>
                <a:cs typeface="Calibri" pitchFamily="34" charset="-120"/>
              </a:rPr>
              <a:t>tijdelijk · niet beschikbaar</a:t>
            </a:r>
            <a:r>
              <a:rPr lang="en-US" sz="1400" i="1" dirty="0">
                <a:solidFill>
                  <a:srgbClr val="1B2333"/>
                </a:solidFill>
                <a:latin typeface="Calibri" pitchFamily="34" charset="0"/>
                <a:ea typeface="Calibri" pitchFamily="34" charset="-122"/>
                <a:cs typeface="Calibri" pitchFamily="34" charset="-120"/>
              </a:rPr>
              <a:t> · buiten gebruik · Wegens werken… · Gelieve … te … · Dank voor uw begrip!</a:t>
            </a:r>
            <a:endParaRPr lang="en-US" sz="14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178040" y="1920240"/>
          <a:ext cx="4187952" cy="914400"/>
        </p:xfrm>
        <a:graphic>
          <a:graphicData uri="http://schemas.openxmlformats.org/drawingml/2006/table">
            <a:tbl>
              <a:tblPr/>
              <a:tblGrid>
                <a:gridCol w="457200"/>
                <a:gridCol w="3730752"/>
              </a:tblGrid>
              <a:tr h="548640">
                <a:tc gridSpan="2">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DE WERKEN</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1</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we </a:t>
                      </a:r>
                      <a:r>
                        <a:rPr lang="en-US" sz="1450" b="1" i="1" dirty="0">
                          <a:solidFill>
                            <a:srgbClr val="B83227"/>
                          </a:solidFill>
                          <a:latin typeface="Calibri" pitchFamily="34" charset="0"/>
                          <a:ea typeface="Calibri" pitchFamily="34" charset="-122"/>
                          <a:cs typeface="Calibri" pitchFamily="34" charset="-120"/>
                        </a:rPr>
                        <a:t>vergroten</a:t>
                      </a:r>
                      <a:r>
                        <a:rPr lang="en-US" sz="1450" i="1" dirty="0">
                          <a:solidFill>
                            <a:srgbClr val="1B2333"/>
                          </a:solidFill>
                          <a:latin typeface="Calibri" pitchFamily="34" charset="0"/>
                          <a:ea typeface="Calibri" pitchFamily="34" charset="-122"/>
                          <a:cs typeface="Calibri" pitchFamily="34" charset="-120"/>
                        </a:rPr>
                        <a:t> de refter</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2</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we </a:t>
                      </a:r>
                      <a:r>
                        <a:rPr lang="en-US" sz="1450" b="1" i="1" dirty="0">
                          <a:solidFill>
                            <a:srgbClr val="B83227"/>
                          </a:solidFill>
                          <a:latin typeface="Calibri" pitchFamily="34" charset="0"/>
                          <a:ea typeface="Calibri" pitchFamily="34" charset="-122"/>
                          <a:cs typeface="Calibri" pitchFamily="34" charset="-120"/>
                        </a:rPr>
                        <a:t>vernieuwen</a:t>
                      </a:r>
                      <a:r>
                        <a:rPr lang="en-US" sz="1450" i="1" dirty="0">
                          <a:solidFill>
                            <a:srgbClr val="1B2333"/>
                          </a:solidFill>
                          <a:latin typeface="Calibri" pitchFamily="34" charset="0"/>
                          <a:ea typeface="Calibri" pitchFamily="34" charset="-122"/>
                          <a:cs typeface="Calibri" pitchFamily="34" charset="-120"/>
                        </a:rPr>
                        <a:t> de computers</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3</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we </a:t>
                      </a:r>
                      <a:r>
                        <a:rPr lang="en-US" sz="1450" b="1" i="1" dirty="0">
                          <a:solidFill>
                            <a:srgbClr val="B83227"/>
                          </a:solidFill>
                          <a:latin typeface="Calibri" pitchFamily="34" charset="0"/>
                          <a:ea typeface="Calibri" pitchFamily="34" charset="-122"/>
                          <a:cs typeface="Calibri" pitchFamily="34" charset="-120"/>
                        </a:rPr>
                        <a:t>verbeteren</a:t>
                      </a:r>
                      <a:r>
                        <a:rPr lang="en-US" sz="1450" i="1" dirty="0">
                          <a:solidFill>
                            <a:srgbClr val="1B2333"/>
                          </a:solidFill>
                          <a:latin typeface="Calibri" pitchFamily="34" charset="0"/>
                          <a:ea typeface="Calibri" pitchFamily="34" charset="-122"/>
                          <a:cs typeface="Calibri" pitchFamily="34" charset="-120"/>
                        </a:rPr>
                        <a:t> de verwarming</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4</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de lift </a:t>
                      </a:r>
                      <a:r>
                        <a:rPr lang="en-US" sz="1450" b="1" i="1" dirty="0">
                          <a:solidFill>
                            <a:srgbClr val="B83227"/>
                          </a:solidFill>
                          <a:latin typeface="Calibri" pitchFamily="34" charset="0"/>
                          <a:ea typeface="Calibri" pitchFamily="34" charset="-122"/>
                          <a:cs typeface="Calibri" pitchFamily="34" charset="-120"/>
                        </a:rPr>
                        <a:t>werkt</a:t>
                      </a:r>
                      <a:r>
                        <a:rPr lang="en-US" sz="1450" i="1" dirty="0">
                          <a:solidFill>
                            <a:srgbClr val="1B2333"/>
                          </a:solidFill>
                          <a:latin typeface="Calibri" pitchFamily="34" charset="0"/>
                          <a:ea typeface="Calibri" pitchFamily="34" charset="-122"/>
                          <a:cs typeface="Calibri" pitchFamily="34" charset="-120"/>
                        </a:rPr>
                        <a:t> niet tot 15 mei</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5</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de parking </a:t>
                      </a:r>
                      <a:r>
                        <a:rPr lang="en-US" sz="1450" b="1" i="1" dirty="0">
                          <a:solidFill>
                            <a:srgbClr val="B83227"/>
                          </a:solidFill>
                          <a:latin typeface="Calibri" pitchFamily="34" charset="0"/>
                          <a:ea typeface="Calibri" pitchFamily="34" charset="-122"/>
                          <a:cs typeface="Calibri" pitchFamily="34" charset="-120"/>
                        </a:rPr>
                        <a:t>sluit</a:t>
                      </a:r>
                      <a:r>
                        <a:rPr lang="en-US" sz="1450" i="1" dirty="0">
                          <a:solidFill>
                            <a:srgbClr val="1B2333"/>
                          </a:solidFill>
                          <a:latin typeface="Calibri" pitchFamily="34" charset="0"/>
                          <a:ea typeface="Calibri" pitchFamily="34" charset="-122"/>
                          <a:cs typeface="Calibri" pitchFamily="34" charset="-120"/>
                        </a:rPr>
                        <a:t> op 3 mei</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548640">
                <a:tc>
                  <a:txBody>
                    <a:bodyPr/>
                    <a:lstStyle/>
                    <a:p>
                      <a:pPr algn="ctr" indent="0" marL="0">
                        <a:buNone/>
                      </a:pPr>
                      <a:r>
                        <a:rPr lang="en-US" sz="1450" dirty="0">
                          <a:solidFill>
                            <a:srgbClr val="1B2333"/>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450" i="1" dirty="0">
                          <a:solidFill>
                            <a:srgbClr val="1B2333"/>
                          </a:solidFill>
                          <a:latin typeface="Calibri" pitchFamily="34" charset="0"/>
                          <a:ea typeface="Calibri" pitchFamily="34" charset="-122"/>
                          <a:cs typeface="Calibri" pitchFamily="34" charset="-120"/>
                        </a:rPr>
                        <a:t>we </a:t>
                      </a:r>
                      <a:r>
                        <a:rPr lang="en-US" sz="1450" b="1" i="1" dirty="0">
                          <a:solidFill>
                            <a:srgbClr val="B83227"/>
                          </a:solidFill>
                          <a:latin typeface="Calibri" pitchFamily="34" charset="0"/>
                          <a:ea typeface="Calibri" pitchFamily="34" charset="-122"/>
                          <a:cs typeface="Calibri" pitchFamily="34" charset="-120"/>
                        </a:rPr>
                        <a:t>openen</a:t>
                      </a:r>
                      <a:r>
                        <a:rPr lang="en-US" sz="1450" i="1" dirty="0">
                          <a:solidFill>
                            <a:srgbClr val="1B2333"/>
                          </a:solidFill>
                          <a:latin typeface="Calibri" pitchFamily="34" charset="0"/>
                          <a:ea typeface="Calibri" pitchFamily="34" charset="-122"/>
                          <a:cs typeface="Calibri" pitchFamily="34" charset="-120"/>
                        </a:rPr>
                        <a:t> opnieuw op 1 juni</a:t>
                      </a:r>
                      <a:endParaRPr lang="en-US" sz="14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1371600" y="548640"/>
            <a:ext cx="9445752" cy="731520"/>
          </a:xfrm>
          <a:prstGeom prst="rect">
            <a:avLst/>
          </a:prstGeom>
          <a:noFill/>
          <a:ln/>
        </p:spPr>
        <p:txBody>
          <a:bodyPr wrap="square" lIns="0" tIns="0" rIns="0" bIns="0" rtlCol="0" anchor="ctr"/>
          <a:lstStyle/>
          <a:p>
            <a:pPr algn="ctr" indent="0" marL="0">
              <a:buNone/>
            </a:pPr>
            <a:r>
              <a:rPr lang="en-US" sz="3000" b="1" dirty="0">
                <a:solidFill>
                  <a:srgbClr val="17375E"/>
                </a:solidFill>
              </a:rPr>
              <a:t>Ticket de sortie</a:t>
            </a:r>
            <a:endParaRPr lang="en-US" sz="3000" dirty="0"/>
          </a:p>
        </p:txBody>
      </p:sp>
      <p:sp>
        <p:nvSpPr>
          <p:cNvPr id="3" name="Text 1"/>
          <p:cNvSpPr txBox="1"/>
          <p:nvPr/>
        </p:nvSpPr>
        <p:spPr>
          <a:xfrm>
            <a:off x="1371600" y="256032"/>
            <a:ext cx="9445752" cy="274320"/>
          </a:xfrm>
          <a:prstGeom prst="rect">
            <a:avLst/>
          </a:prstGeom>
          <a:noFill/>
          <a:ln/>
        </p:spPr>
        <p:txBody>
          <a:bodyPr wrap="square" lIns="0" tIns="0" rIns="0" bIns="0" rtlCol="0" anchor="ctr"/>
          <a:lstStyle/>
          <a:p>
            <a:pPr algn="ctr" indent="0" marL="0">
              <a:buNone/>
            </a:pPr>
            <a:r>
              <a:rPr lang="en-US" sz="1100" b="1" spc="300" kern="0" dirty="0">
                <a:solidFill>
                  <a:srgbClr val="17375E"/>
                </a:solidFill>
                <a:latin typeface="Calibri" pitchFamily="34" charset="0"/>
                <a:ea typeface="Calibri" pitchFamily="34" charset="-122"/>
                <a:cs typeface="Calibri" pitchFamily="34" charset="-120"/>
              </a:rPr>
              <a:t>TICKET DE SORTIE</a:t>
            </a:r>
            <a:endParaRPr lang="en-US" sz="1100" dirty="0"/>
          </a:p>
        </p:txBody>
      </p:sp>
      <p:sp>
        <p:nvSpPr>
          <p:cNvPr id="5" name="Shape 2"/>
          <p:cNvSpPr/>
          <p:nvPr/>
        </p:nvSpPr>
        <p:spPr>
          <a:xfrm>
            <a:off x="978408" y="1728216"/>
            <a:ext cx="512064" cy="512064"/>
          </a:xfrm>
          <a:prstGeom prst="ellipse">
            <a:avLst/>
          </a:prstGeom>
          <a:solidFill>
            <a:srgbClr val="D9700F"/>
          </a:solidFill>
          <a:ln w="12700">
            <a:solidFill>
              <a:srgbClr val="FFFFFF">
                <a:alpha val="0"/>
              </a:srgbClr>
            </a:solidFill>
            <a:prstDash val="solid"/>
          </a:ln>
        </p:spPr>
      </p:sp>
      <p:sp>
        <p:nvSpPr>
          <p:cNvPr id="6" name="Text 3"/>
          <p:cNvSpPr txBox="1"/>
          <p:nvPr/>
        </p:nvSpPr>
        <p:spPr>
          <a:xfrm>
            <a:off x="978408" y="172821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691640" y="1600200"/>
            <a:ext cx="4846320" cy="768096"/>
          </a:xfrm>
          <a:prstGeom prst="rect">
            <a:avLst/>
          </a:prstGeom>
          <a:noFill/>
          <a:ln/>
        </p:spPr>
        <p:txBody>
          <a:bodyPr wrap="square" lIns="0" tIns="0" rIns="0" bIns="0" rtlCol="0" anchor="ctr"/>
          <a:lstStyle/>
          <a:p>
            <a:pPr algn="l" indent="0" marL="0">
              <a:buNone/>
            </a:pPr>
            <a:r>
              <a:rPr lang="en-US" sz="1800" dirty="0">
                <a:solidFill>
                  <a:srgbClr val="1B2333"/>
                </a:solidFill>
                <a:latin typeface="Calibri" pitchFamily="34" charset="0"/>
                <a:ea typeface="Calibri" pitchFamily="34" charset="-122"/>
                <a:cs typeface="Calibri" pitchFamily="34" charset="-120"/>
              </a:rPr>
              <a:t>Le nom de </a:t>
            </a:r>
            <a:r>
              <a:rPr lang="en-US" sz="1800" i="1" dirty="0">
                <a:solidFill>
                  <a:srgbClr val="1B2333"/>
                </a:solidFill>
                <a:latin typeface="Calibri" pitchFamily="34" charset="0"/>
                <a:ea typeface="Calibri" pitchFamily="34" charset="-122"/>
                <a:cs typeface="Calibri" pitchFamily="34" charset="-120"/>
              </a:rPr>
              <a:t>vergaderen</a:t>
            </a:r>
            <a:r>
              <a:rPr lang="en-US" sz="1800" dirty="0">
                <a:solidFill>
                  <a:srgbClr val="1B2333"/>
                </a:solidFill>
                <a:latin typeface="Calibri" pitchFamily="34" charset="0"/>
                <a:ea typeface="Calibri" pitchFamily="34" charset="-122"/>
                <a:cs typeface="Calibri" pitchFamily="34" charset="-120"/>
              </a:rPr>
              <a:t>, avec son article ?</a:t>
            </a:r>
            <a:endParaRPr lang="en-US" sz="1800" dirty="0"/>
          </a:p>
        </p:txBody>
      </p:sp>
      <p:sp>
        <p:nvSpPr>
          <p:cNvPr id="8" name="Shape 5"/>
          <p:cNvSpPr/>
          <p:nvPr/>
        </p:nvSpPr>
        <p:spPr>
          <a:xfrm>
            <a:off x="978408" y="2734056"/>
            <a:ext cx="512064" cy="512064"/>
          </a:xfrm>
          <a:prstGeom prst="ellipse">
            <a:avLst/>
          </a:prstGeom>
          <a:solidFill>
            <a:srgbClr val="D9700F"/>
          </a:solidFill>
          <a:ln w="12700">
            <a:solidFill>
              <a:srgbClr val="FFFFFF">
                <a:alpha val="0"/>
              </a:srgbClr>
            </a:solidFill>
            <a:prstDash val="solid"/>
          </a:ln>
        </p:spPr>
      </p:sp>
      <p:sp>
        <p:nvSpPr>
          <p:cNvPr id="9" name="Text 6"/>
          <p:cNvSpPr txBox="1"/>
          <p:nvPr/>
        </p:nvSpPr>
        <p:spPr>
          <a:xfrm>
            <a:off x="978408" y="273405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691640" y="2606040"/>
            <a:ext cx="4846320" cy="768096"/>
          </a:xfrm>
          <a:prstGeom prst="rect">
            <a:avLst/>
          </a:prstGeom>
          <a:noFill/>
          <a:ln/>
        </p:spPr>
        <p:txBody>
          <a:bodyPr wrap="square" lIns="0" tIns="0" rIns="0" bIns="0" rtlCol="0" anchor="ctr"/>
          <a:lstStyle/>
          <a:p>
            <a:pPr algn="l" indent="0" marL="0">
              <a:buNone/>
            </a:pPr>
            <a:r>
              <a:rPr lang="en-US" sz="1800" dirty="0">
                <a:solidFill>
                  <a:srgbClr val="1B2333"/>
                </a:solidFill>
                <a:latin typeface="Calibri" pitchFamily="34" charset="0"/>
                <a:ea typeface="Calibri" pitchFamily="34" charset="-122"/>
                <a:cs typeface="Calibri" pitchFamily="34" charset="-120"/>
              </a:rPr>
              <a:t>L’adjectif formé sur </a:t>
            </a:r>
            <a:r>
              <a:rPr lang="en-US" sz="1800" i="1" dirty="0">
                <a:solidFill>
                  <a:srgbClr val="1B2333"/>
                </a:solidFill>
                <a:latin typeface="Calibri" pitchFamily="34" charset="0"/>
                <a:ea typeface="Calibri" pitchFamily="34" charset="-122"/>
                <a:cs typeface="Calibri" pitchFamily="34" charset="-120"/>
              </a:rPr>
              <a:t>het gevaar</a:t>
            </a:r>
            <a:r>
              <a:rPr lang="en-US" sz="1800" dirty="0">
                <a:solidFill>
                  <a:srgbClr val="1B2333"/>
                </a:solidFill>
                <a:latin typeface="Calibri" pitchFamily="34" charset="0"/>
                <a:ea typeface="Calibri" pitchFamily="34" charset="-122"/>
                <a:cs typeface="Calibri" pitchFamily="34" charset="-120"/>
              </a:rPr>
              <a:t> ?</a:t>
            </a:r>
            <a:endParaRPr lang="en-US" sz="1800" dirty="0"/>
          </a:p>
        </p:txBody>
      </p:sp>
      <p:sp>
        <p:nvSpPr>
          <p:cNvPr id="11" name="Shape 8"/>
          <p:cNvSpPr/>
          <p:nvPr/>
        </p:nvSpPr>
        <p:spPr>
          <a:xfrm>
            <a:off x="978408" y="3739896"/>
            <a:ext cx="512064" cy="512064"/>
          </a:xfrm>
          <a:prstGeom prst="ellipse">
            <a:avLst/>
          </a:prstGeom>
          <a:solidFill>
            <a:srgbClr val="D9700F"/>
          </a:solidFill>
          <a:ln w="12700">
            <a:solidFill>
              <a:srgbClr val="FFFFFF">
                <a:alpha val="0"/>
              </a:srgbClr>
            </a:solidFill>
            <a:prstDash val="solid"/>
          </a:ln>
        </p:spPr>
      </p:sp>
      <p:sp>
        <p:nvSpPr>
          <p:cNvPr id="12" name="Text 9"/>
          <p:cNvSpPr txBox="1"/>
          <p:nvPr/>
        </p:nvSpPr>
        <p:spPr>
          <a:xfrm>
            <a:off x="978408" y="373989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691640" y="3611880"/>
            <a:ext cx="4846320" cy="768096"/>
          </a:xfrm>
          <a:prstGeom prst="rect">
            <a:avLst/>
          </a:prstGeom>
          <a:noFill/>
          <a:ln/>
        </p:spPr>
        <p:txBody>
          <a:bodyPr wrap="square" lIns="0" tIns="0" rIns="0" bIns="0" rtlCol="0" anchor="ctr"/>
          <a:lstStyle/>
          <a:p>
            <a:pPr algn="l" indent="0" marL="0">
              <a:buNone/>
            </a:pPr>
            <a:r>
              <a:rPr lang="en-US" sz="1800" dirty="0">
                <a:solidFill>
                  <a:srgbClr val="1B2333"/>
                </a:solidFill>
                <a:latin typeface="Calibri" pitchFamily="34" charset="0"/>
                <a:ea typeface="Calibri" pitchFamily="34" charset="-122"/>
                <a:cs typeface="Calibri" pitchFamily="34" charset="-120"/>
              </a:rPr>
              <a:t>Traduisez : </a:t>
            </a:r>
            <a:r>
              <a:rPr lang="en-US" sz="1800" i="1" dirty="0">
                <a:solidFill>
                  <a:srgbClr val="1B2333"/>
                </a:solidFill>
                <a:latin typeface="Calibri" pitchFamily="34" charset="0"/>
                <a:ea typeface="Calibri" pitchFamily="34" charset="-122"/>
                <a:cs typeface="Calibri" pitchFamily="34" charset="-120"/>
              </a:rPr>
              <a:t>Il travaille rapidement.</a:t>
            </a:r>
            <a:endParaRPr lang="en-US" sz="1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949440" y="1600200"/>
          <a:ext cx="4416552" cy="914400"/>
        </p:xfrm>
        <a:graphic>
          <a:graphicData uri="http://schemas.openxmlformats.org/drawingml/2006/table">
            <a:tbl>
              <a:tblPr/>
              <a:tblGrid>
                <a:gridCol w="1920240"/>
                <a:gridCol w="832104"/>
                <a:gridCol w="832104"/>
                <a:gridCol w="832104"/>
              </a:tblGrid>
              <a:tr h="411480">
                <a:tc gridSpan="4">
                  <a:txBody>
                    <a:bodyPr/>
                    <a:lstStyle/>
                    <a:p>
                      <a:pPr algn="ctr" indent="0" marL="0">
                        <a:buNone/>
                      </a:pPr>
                      <a:r>
                        <a:rPr lang="en-US" sz="1150" b="1" spc="200" kern="0" dirty="0">
                          <a:solidFill>
                            <a:srgbClr val="17375E"/>
                          </a:solidFill>
                          <a:latin typeface="Calibri" pitchFamily="34" charset="0"/>
                          <a:ea typeface="Calibri" pitchFamily="34" charset="-122"/>
                          <a:cs typeface="Calibri" pitchFamily="34" charset="-120"/>
                        </a:rPr>
                        <a:t>JE SAIS…</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15875" cap="flat" cmpd="sng" algn="ctr">
                      <a:solidFill>
                        <a:srgbClr val="17375E"/>
                      </a:solidFill>
                      <a:prstDash val="solid"/>
                      <a:round/>
                      <a:headEnd type="none" w="med" len="med"/>
                      <a:tailEnd type="none" w="med" len="med"/>
                    </a:lnB>
                    <a:solidFill>
                      <a:srgbClr val="FFFFFF"/>
                    </a:solidFill>
                  </a:tcPr>
                </a:tc>
                <a:tc hMerge="1">
                  <a:tcPr/>
                </a:tc>
                <a:tc hMerge="1">
                  <a:tcPr/>
                </a:tc>
                <a:tc hMerge="1">
                  <a:tcPr/>
                </a:tc>
              </a:tr>
              <a:tr h="713232">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reconnaître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713232">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transformer</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9525" cap="flat" cmpd="sng" algn="ctr">
                      <a:solidFill>
                        <a:srgbClr val="DDE3EA"/>
                      </a:solidFill>
                      <a:prstDash val="solid"/>
                      <a:round/>
                      <a:headEnd type="none" w="med" len="med"/>
                      <a:tailEnd type="none" w="med" len="med"/>
                    </a:lnB>
                    <a:solidFill>
                      <a:srgbClr val="FFFFFF"/>
                    </a:solidFill>
                  </a:tcPr>
                </a:tc>
              </a:tr>
              <a:tr h="713232">
                <a:tc>
                  <a:txBody>
                    <a:bodyPr/>
                    <a:lstStyle/>
                    <a:p>
                      <a:pPr algn="l" indent="0" marL="0">
                        <a:buNone/>
                      </a:pPr>
                      <a:r>
                        <a:rPr lang="en-US" sz="1700" dirty="0">
                          <a:solidFill>
                            <a:srgbClr val="1B2333"/>
                          </a:solidFill>
                          <a:latin typeface="Calibri" pitchFamily="34" charset="0"/>
                          <a:ea typeface="Calibri" pitchFamily="34" charset="-122"/>
                          <a:cs typeface="Calibri" pitchFamily="34" charset="-120"/>
                        </a:rPr>
                        <a:t>écrire</a:t>
                      </a:r>
                      <a:endParaRPr lang="en-US" sz="17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pic>
        <p:nvPicPr>
          <p:cNvPr id="15" name="Image 0" descr="RegFrown">    </p:cNvPr>
          <p:cNvPicPr>
            <a:picLocks noChangeAspect="1"/>
          </p:cNvPicPr>
          <p:nvPr/>
        </p:nvPicPr>
        <p:blipFill>
          <a:blip r:embed="rId1"/>
          <a:stretch>
            <a:fillRect/>
          </a:stretch>
        </p:blipFill>
        <p:spPr>
          <a:xfrm>
            <a:off x="9089136" y="2176272"/>
            <a:ext cx="384048" cy="384048"/>
          </a:xfrm>
          <a:prstGeom prst="rect">
            <a:avLst/>
          </a:prstGeom>
        </p:spPr>
      </p:pic>
      <p:pic>
        <p:nvPicPr>
          <p:cNvPr id="16" name="Image 1" descr="RegMeh">    </p:cNvPr>
          <p:cNvPicPr>
            <a:picLocks noChangeAspect="1"/>
          </p:cNvPicPr>
          <p:nvPr/>
        </p:nvPicPr>
        <p:blipFill>
          <a:blip r:embed="rId2"/>
          <a:stretch>
            <a:fillRect/>
          </a:stretch>
        </p:blipFill>
        <p:spPr>
          <a:xfrm>
            <a:off x="9921240" y="2176272"/>
            <a:ext cx="384048" cy="384048"/>
          </a:xfrm>
          <a:prstGeom prst="rect">
            <a:avLst/>
          </a:prstGeom>
        </p:spPr>
      </p:pic>
      <p:pic>
        <p:nvPicPr>
          <p:cNvPr id="17" name="Image 2" descr="RegSmile">    </p:cNvPr>
          <p:cNvPicPr>
            <a:picLocks noChangeAspect="1"/>
          </p:cNvPicPr>
          <p:nvPr/>
        </p:nvPicPr>
        <p:blipFill>
          <a:blip r:embed="rId3"/>
          <a:stretch>
            <a:fillRect/>
          </a:stretch>
        </p:blipFill>
        <p:spPr>
          <a:xfrm>
            <a:off x="10753344" y="2176272"/>
            <a:ext cx="384048" cy="384048"/>
          </a:xfrm>
          <a:prstGeom prst="rect">
            <a:avLst/>
          </a:prstGeom>
        </p:spPr>
      </p:pic>
      <p:pic>
        <p:nvPicPr>
          <p:cNvPr id="18" name="Image 3" descr="RegFrown">    </p:cNvPr>
          <p:cNvPicPr>
            <a:picLocks noChangeAspect="1"/>
          </p:cNvPicPr>
          <p:nvPr/>
        </p:nvPicPr>
        <p:blipFill>
          <a:blip r:embed="rId4"/>
          <a:stretch>
            <a:fillRect/>
          </a:stretch>
        </p:blipFill>
        <p:spPr>
          <a:xfrm>
            <a:off x="9089136" y="2889504"/>
            <a:ext cx="384048" cy="384048"/>
          </a:xfrm>
          <a:prstGeom prst="rect">
            <a:avLst/>
          </a:prstGeom>
        </p:spPr>
      </p:pic>
      <p:pic>
        <p:nvPicPr>
          <p:cNvPr id="19" name="Image 4" descr="RegMeh">    </p:cNvPr>
          <p:cNvPicPr>
            <a:picLocks noChangeAspect="1"/>
          </p:cNvPicPr>
          <p:nvPr/>
        </p:nvPicPr>
        <p:blipFill>
          <a:blip r:embed="rId5"/>
          <a:stretch>
            <a:fillRect/>
          </a:stretch>
        </p:blipFill>
        <p:spPr>
          <a:xfrm>
            <a:off x="9921240" y="2889504"/>
            <a:ext cx="384048" cy="384048"/>
          </a:xfrm>
          <a:prstGeom prst="rect">
            <a:avLst/>
          </a:prstGeom>
        </p:spPr>
      </p:pic>
      <p:pic>
        <p:nvPicPr>
          <p:cNvPr id="20" name="Image 5" descr="RegSmile">    </p:cNvPr>
          <p:cNvPicPr>
            <a:picLocks noChangeAspect="1"/>
          </p:cNvPicPr>
          <p:nvPr/>
        </p:nvPicPr>
        <p:blipFill>
          <a:blip r:embed="rId6"/>
          <a:stretch>
            <a:fillRect/>
          </a:stretch>
        </p:blipFill>
        <p:spPr>
          <a:xfrm>
            <a:off x="10753344" y="2889504"/>
            <a:ext cx="384048" cy="384048"/>
          </a:xfrm>
          <a:prstGeom prst="rect">
            <a:avLst/>
          </a:prstGeom>
        </p:spPr>
      </p:pic>
      <p:pic>
        <p:nvPicPr>
          <p:cNvPr id="21" name="Image 6" descr="RegFrown">    </p:cNvPr>
          <p:cNvPicPr>
            <a:picLocks noChangeAspect="1"/>
          </p:cNvPicPr>
          <p:nvPr/>
        </p:nvPicPr>
        <p:blipFill>
          <a:blip r:embed="rId7"/>
          <a:stretch>
            <a:fillRect/>
          </a:stretch>
        </p:blipFill>
        <p:spPr>
          <a:xfrm>
            <a:off x="9089136" y="3602736"/>
            <a:ext cx="384048" cy="384048"/>
          </a:xfrm>
          <a:prstGeom prst="rect">
            <a:avLst/>
          </a:prstGeom>
        </p:spPr>
      </p:pic>
      <p:pic>
        <p:nvPicPr>
          <p:cNvPr id="22" name="Image 7" descr="RegMeh">    </p:cNvPr>
          <p:cNvPicPr>
            <a:picLocks noChangeAspect="1"/>
          </p:cNvPicPr>
          <p:nvPr/>
        </p:nvPicPr>
        <p:blipFill>
          <a:blip r:embed="rId8"/>
          <a:stretch>
            <a:fillRect/>
          </a:stretch>
        </p:blipFill>
        <p:spPr>
          <a:xfrm>
            <a:off x="9921240" y="3602736"/>
            <a:ext cx="384048" cy="384048"/>
          </a:xfrm>
          <a:prstGeom prst="rect">
            <a:avLst/>
          </a:prstGeom>
        </p:spPr>
      </p:pic>
      <p:pic>
        <p:nvPicPr>
          <p:cNvPr id="23" name="Image 8" descr="RegSmile">    </p:cNvPr>
          <p:cNvPicPr>
            <a:picLocks noChangeAspect="1"/>
          </p:cNvPicPr>
          <p:nvPr/>
        </p:nvPicPr>
        <p:blipFill>
          <a:blip r:embed="rId9"/>
          <a:stretch>
            <a:fillRect/>
          </a:stretch>
        </p:blipFill>
        <p:spPr>
          <a:xfrm>
            <a:off x="10753344" y="3602736"/>
            <a:ext cx="384048" cy="384048"/>
          </a:xfrm>
          <a:prstGeom prst="rect">
            <a:avLst/>
          </a:prstGeom>
        </p:spPr>
      </p:pic>
      <p:sp>
        <p:nvSpPr>
          <p:cNvPr id="24" name="Shape 11"/>
          <p:cNvSpPr/>
          <p:nvPr/>
        </p:nvSpPr>
        <p:spPr>
          <a:xfrm>
            <a:off x="822960" y="4983480"/>
            <a:ext cx="10543032" cy="914400"/>
          </a:xfrm>
          <a:prstGeom prst="roundRect">
            <a:avLst>
              <a:gd name="adj" fmla="val 10000"/>
            </a:avLst>
          </a:prstGeom>
          <a:solidFill>
            <a:srgbClr val="F1ECF7"/>
          </a:solidFill>
          <a:ln w="12700">
            <a:solidFill>
              <a:srgbClr val="FFFFFF">
                <a:alpha val="0"/>
              </a:srgbClr>
            </a:solidFill>
            <a:prstDash val="solid"/>
          </a:ln>
        </p:spPr>
      </p:sp>
      <p:sp>
        <p:nvSpPr>
          <p:cNvPr id="25" name="Shape 12"/>
          <p:cNvSpPr/>
          <p:nvPr/>
        </p:nvSpPr>
        <p:spPr>
          <a:xfrm>
            <a:off x="996696" y="5157216"/>
            <a:ext cx="310896" cy="310896"/>
          </a:xfrm>
          <a:prstGeom prst="ellipse">
            <a:avLst/>
          </a:prstGeom>
          <a:solidFill>
            <a:srgbClr val="6E4A9E"/>
          </a:solidFill>
          <a:ln w="12700">
            <a:solidFill>
              <a:srgbClr val="FFFFFF">
                <a:alpha val="0"/>
              </a:srgbClr>
            </a:solidFill>
            <a:prstDash val="solid"/>
          </a:ln>
        </p:spPr>
      </p:sp>
      <p:sp>
        <p:nvSpPr>
          <p:cNvPr id="26" name="Text 13"/>
          <p:cNvSpPr txBox="1"/>
          <p:nvPr/>
        </p:nvSpPr>
        <p:spPr>
          <a:xfrm>
            <a:off x="996696" y="5157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14"/>
          <p:cNvSpPr txBox="1"/>
          <p:nvPr/>
        </p:nvSpPr>
        <p:spPr>
          <a:xfrm>
            <a:off x="1444752" y="5093208"/>
            <a:ext cx="9765792" cy="292608"/>
          </a:xfrm>
          <a:prstGeom prst="rect">
            <a:avLst/>
          </a:prstGeom>
          <a:noFill/>
          <a:ln/>
        </p:spPr>
        <p:txBody>
          <a:bodyPr wrap="square" lIns="0" tIns="0" rIns="0" bIns="0" rtlCol="0" anchor="ctr"/>
          <a:lstStyle/>
          <a:p>
            <a:pPr algn="l" indent="0" marL="0">
              <a:buNone/>
            </a:pPr>
            <a:r>
              <a:rPr lang="en-US" sz="1300" b="1" dirty="0">
                <a:solidFill>
                  <a:srgbClr val="6E4A9E"/>
                </a:solidFill>
                <a:latin typeface="Calibri" pitchFamily="34" charset="0"/>
                <a:ea typeface="Calibri" pitchFamily="34" charset="-122"/>
                <a:cs typeface="Calibri" pitchFamily="34" charset="-120"/>
              </a:rPr>
              <a:t>Défi de la semaine</a:t>
            </a:r>
            <a:endParaRPr lang="en-US" sz="1300" dirty="0"/>
          </a:p>
        </p:txBody>
      </p:sp>
      <p:sp>
        <p:nvSpPr>
          <p:cNvPr id="28" name="Text 15"/>
          <p:cNvSpPr txBox="1"/>
          <p:nvPr/>
        </p:nvSpPr>
        <p:spPr>
          <a:xfrm>
            <a:off x="1444752" y="5385816"/>
            <a:ext cx="9765792" cy="438912"/>
          </a:xfrm>
          <a:prstGeom prst="rect">
            <a:avLst/>
          </a:prstGeom>
          <a:noFill/>
          <a:ln/>
        </p:spPr>
        <p:txBody>
          <a:bodyPr wrap="square" lIns="0" tIns="0" rIns="0" bIns="0" rtlCol="0" anchor="t"/>
          <a:lstStyle/>
          <a:p>
            <a:pPr algn="l" indent="0" marL="0">
              <a:spcAft>
                <a:spcPts val="200"/>
              </a:spcAft>
              <a:buNone/>
            </a:pPr>
            <a:r>
              <a:rPr lang="en-US" sz="1400" dirty="0">
                <a:solidFill>
                  <a:srgbClr val="1B2333"/>
                </a:solidFill>
                <a:latin typeface="Calibri" pitchFamily="34" charset="0"/>
                <a:ea typeface="Calibri" pitchFamily="34" charset="-122"/>
                <a:cs typeface="Calibri" pitchFamily="34" charset="-120"/>
              </a:rPr>
              <a:t>choisissez trois mots de votre métier et construisez leur famille (cinq mots chacun)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86"/>
                </a:solidFill>
              </a:defRPr>
            </a:lvl1pPr>
          </a:lstStyle>
          <a:p>
            <a:pPr algn="r"/>
            <a:fld id="{F7021451-1387-4CA6-816F-3879F97B5CBC}" type="slidenum">
              <a:rPr b="0" lang="en-US"/>
              <a:t>54</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Werken, de werking, werkbaar — La dérivation : passer d’une catégorie de mot à l’autre</dc:title>
  <dc:subject>Néerlandais 1 — Langue en situation, en milieu professionnel</dc:subject>
  <dc:creator>A. Jouniaux</dc:creator>
  <cp:lastModifiedBy>A. Jouniaux</cp:lastModifiedBy>
  <cp:revision>1</cp:revision>
  <dcterms:created xsi:type="dcterms:W3CDTF">2026-10-12T09:56:36Z</dcterms:created>
  <dcterms:modified xsi:type="dcterms:W3CDTF">2026-10-12T09:56:36Z</dcterms:modified>
</cp:coreProperties>
</file>