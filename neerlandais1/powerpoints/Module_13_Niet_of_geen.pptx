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f871c593-4a1a-38ec-369b-b2b5e980dd05}">
          <p14:sldIdLst>
            <p14:sldId id="256"/>
          </p14:sldIdLst>
        </p14:section>
        <p14:section name="Découvrir" id="{1087cca4-7698-15af-845f-490a86ea5f13}">
          <p14:sldIdLst>
            <p14:sldId id="257"/>
            <p14:sldId id="258"/>
          </p14:sldIdLst>
        </p14:section>
        <p14:section name="Comprendre" id="{482cbf8b-4c9e-1784-df3b-ce3ca5ee5aa9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3b392f70-e0cb-3630-30a5-103c30933360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Clôture" id="{b395cc4f-c127-6fe3-989b-fe6157497deb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avec deux phrases du quotidien.
Question d'entrée : « Pourquoi geen dans la 1re phrase et niet dans la 2e ? » Laissez émerger l'idée : geen va avec un nom.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La négation est partout : refuser poliment, dire qu'on n'a pas compris, signaler un problème au bureau.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produire spontanément des phrases négatives et observer les erreurs.
Notez au tableau, sans corriger, les phrases produites. Elles serviront à la diapo 7 (Drink je koffie? → Nee, ik drink geen koffie).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visible le contraste structurel FR/NL.
niet een existe dans des cas d'insistance (niet één = pas un seul), mais pour une négation ordinaire on dit geen.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Fixer la formule de geen.
Lien M5 : geen remplace exactement een et l'article zéro (Ø). Avec une langue, Ik spreek geen Japans est la forme courante.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Identifier les cas où l'on emploie niet.
Exemples de l'archive repris (Ik ken Liesbeth niet, We vinden die film niet leuk, Ze leert haar les niet). Règle courte : niet nie tout ce qui n'est pas « un nom avec een ou sans article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Décider en deux questions (tableau DÉFINIS / INDÉFINIS de l'archive, standardisé).
Les exemples sont ceux de l'archive, enfin lisibles. Reprenez les phrases notées à la diapo 3 et faites-les passer dans l'organigramme.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niet correctement dans la phrase (règles de l'archive, simplifiées en 3).
Règle ② = la pince : niet se place juste avant la mâchoire droite. Ik heb niet gestudeerd annonce le M15. Les règles « imparfait » et « om … te » de l'archive sont réservées à Néerlandais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Visualiser la règle ② avec le schéma de la pince.
Faites le geste de la pince : niet « s'accroche » à la mâchoire droite. En Belgique, Ik moet vandaag niet werken = « je ne dois pas travailler aujourd'hui » (pas obligé, M12).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les négations fréquentes au-delà de niet et geen.
niks est familier. nergens (nulle part) peut être ajouté pour les classes rapides. Correction de l'archive : Hij is nog geen 18 = il n'a pas encore 18 ans (geen + nombre = « moins de »). C'est une tournure à reconnaître, pas une règle générale.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Répondre à une question négative (contraste FR/NL : « si »).
En Belgique, on entend aussi Neen. « Si » n'existe pas en néerlandais : on dit jawel ou toch wel. Répondre Ja à une question négative est ambigu.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trois calques fréquents.
Le néerlandais standard n'accepte pas la double négation (niet niemand). honger, dorst, tijd, zin sont des noms : geen honger, geen tijd, geen zin.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Référence pour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 1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niet et geen (phrases illustrées de l'archive, corrigées et complétées).
Les phrases 1 à 4 viennent de l'archive (stappen devient lopen). La phrase « Deze jongen is geen 18 jaar » est retirée : voir la note de la diapo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entre niet et geen (phrases illustrées de l'archive, corrigées et complétées).
Les phrases 1 à 4 viennent de l'archive (stappen devient lopen). La phrase « Deze jongen is geen 18 jaar » est retirée : voir la note de la diapo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Transformer une phrase affirmative en négative (choix + place).
N° 8 : altijd (toujours) ↔ nooit (jamais). N° 2 : op maandag commence par une préposition (règle ③) ; Karim werkt op maandag niet est aussi accepté (ordre plus neutre).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Transformer une phrase affirmative en négative (choix + place).
N° 8 : altijd (toujours) ↔ nooit (jamais). N° 2 : op maandag commence par une préposition (règle ③) ; Karim werkt op maandag niet est aussi accepté (ordre plus neutre).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niet dans une phrase donnée (choix entre plusieurs emplacements).
Faites justifier par la règle (① ② ③). N° 2 : Sofie ziet de klant niet. (fin, règle ①). N° 5 : niet lang (règle ③).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Placer niet dans une phrase donnée (choix entre plusieurs emplacements).
Faites justifier par la règle (① ② ③). N° 2 : Sofie ziet de klant niet. (fin, règle ①). N° 5 : niet lang (règle ③).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Produire des questions et des réponses négatives en circulant (pause active).
Les cases sont formulées en subordonnées (iemand die… drinkt, verbe à la fin, M9) : les apprenants n'ont qu'à les lire. Exigez la réponse complète : Nee, ik drink geen koffie.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Repérer les erreurs de négation dans un texte.
Leurres corrects : Ik spreek nog niet goed Nederlands et Ik ben niet moe. N° 4 : l'infinitif va au bout et niet se place devant la préposition (niet in de garage parkeren).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Repérer les erreurs de négation dans un texte.
Leurres corrects : Ik spreek nog niet goed Nederlands et Ik ben niet moe. N° 4 : l'infinitif va au bout et niet se place devant la préposition (niet in de garage parkeren).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signaler des problèmes au bureau et y répondre.
Dat is niet erg = « ce n'est pas grave ». Faites remarquer le Jawel! de B : il contredit une phrase négative. Inversez les rôles.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geen zin · niet.
2. Ik kan morgen niet komen.
3. Jawel! (Ik heb tijd.)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13 · Niet of geen?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13 · Niet of geen?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13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Niet of geen?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La négation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Ik heb geen tijd. · Ik werk vandaag niet.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1280160"/>
            <a:ext cx="5212080" cy="1874520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rglass not d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600200"/>
            <a:ext cx="1234440" cy="12344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629400" y="1600200"/>
            <a:ext cx="1234440" cy="1234440"/>
          </a:xfrm>
          <a:prstGeom prst="line">
            <a:avLst/>
          </a:prstGeom>
          <a:noFill/>
          <a:ln w="6350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92440" y="1280160"/>
            <a:ext cx="34290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Ik heb </a:t>
            </a:r>
            <a:r>
              <a:rPr lang="en-US" sz="25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geen</a:t>
            </a:r>
            <a:r>
              <a:rPr lang="en-US" sz="2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tijd.</a:t>
            </a:r>
            <a:endParaRPr lang="en-US" sz="2500" dirty="0"/>
          </a:p>
        </p:txBody>
      </p:sp>
      <p:sp>
        <p:nvSpPr>
          <p:cNvPr id="9" name="Shape 6"/>
          <p:cNvSpPr/>
          <p:nvPr/>
        </p:nvSpPr>
        <p:spPr>
          <a:xfrm>
            <a:off x="6400800" y="3566160"/>
            <a:ext cx="5212080" cy="1874520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886200"/>
            <a:ext cx="1234440" cy="12344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629400" y="3886200"/>
            <a:ext cx="1234440" cy="1234440"/>
          </a:xfrm>
          <a:prstGeom prst="line">
            <a:avLst/>
          </a:prstGeom>
          <a:noFill/>
          <a:ln w="63500">
            <a:solidFill>
              <a:srgbClr val="B83227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92440" y="3566160"/>
            <a:ext cx="34290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Ik werk vandaag </a:t>
            </a:r>
            <a:r>
              <a:rPr lang="en-US" sz="25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</a:t>
            </a:r>
            <a:r>
              <a:rPr lang="en-US" sz="2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BalanceSc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entre </a:t>
            </a:r>
            <a:r>
              <a:rPr lang="en-US" sz="2000" i="1" dirty="0">
                <a:solidFill>
                  <a:schemeClr val="tx1"/>
                </a:solidFill>
              </a:rPr>
              <a:t>niet</a:t>
            </a:r>
            <a:r>
              <a:rPr lang="en-US" sz="2000" dirty="0">
                <a:solidFill>
                  <a:schemeClr val="tx1"/>
                </a:solidFill>
              </a:rPr>
              <a:t> et </a:t>
            </a:r>
            <a:r>
              <a:rPr lang="en-US" sz="2000" i="1" dirty="0">
                <a:solidFill>
                  <a:schemeClr val="tx1"/>
                </a:solidFill>
              </a:rPr>
              <a:t>geen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Arrow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Placer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place </a:t>
            </a:r>
            <a:r>
              <a:rPr lang="en-US" sz="2000" i="1" dirty="0">
                <a:solidFill>
                  <a:schemeClr val="tx1"/>
                </a:solidFill>
              </a:rPr>
              <a:t>niet</a:t>
            </a:r>
            <a:r>
              <a:rPr lang="en-US" sz="2000" dirty="0">
                <a:solidFill>
                  <a:schemeClr val="tx1"/>
                </a:solidFill>
              </a:rPr>
              <a:t> au bon endroit.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ommentDo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Répondre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</a:t>
            </a:r>
            <a:r>
              <a:rPr lang="en-US" sz="2000" i="1" dirty="0">
                <a:solidFill>
                  <a:schemeClr val="tx1"/>
                </a:solidFill>
              </a:rPr>
              <a:t>nooit, niets, niemand</a:t>
            </a:r>
            <a:r>
              <a:rPr lang="en-US" sz="2000" dirty="0">
                <a:solidFill>
                  <a:schemeClr val="tx1"/>
                </a:solidFill>
              </a:rPr>
              <a:t>… et je contredis avec </a:t>
            </a:r>
            <a:r>
              <a:rPr lang="en-US" sz="2000" i="1" dirty="0">
                <a:solidFill>
                  <a:schemeClr val="tx1"/>
                </a:solidFill>
              </a:rPr>
              <a:t>jawel!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Refuser poliment, dire qu’on n’a pas compris, signaler un problème au bureau : la négation est partout.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Nee, ik…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6" name="Image 0" descr="automob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96596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00200" y="160020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Heb je een auto?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4297680" y="160020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9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965960"/>
            <a:ext cx="731520" cy="7315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349240" y="160020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Werk je vandaag?</a:t>
            </a:r>
            <a:endParaRPr lang="en-US" sz="2000" dirty="0"/>
          </a:p>
        </p:txBody>
      </p:sp>
      <p:sp>
        <p:nvSpPr>
          <p:cNvPr id="11" name="Shape 6"/>
          <p:cNvSpPr/>
          <p:nvPr/>
        </p:nvSpPr>
        <p:spPr>
          <a:xfrm>
            <a:off x="8046720" y="160020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2" name="Image 2" descr="hot bever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965960"/>
            <a:ext cx="731520" cy="73152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9098280" y="160020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Drink je koffie?</a:t>
            </a:r>
            <a:endParaRPr lang="en-US" sz="2000" dirty="0"/>
          </a:p>
        </p:txBody>
      </p:sp>
      <p:sp>
        <p:nvSpPr>
          <p:cNvPr id="14" name="Shape 8"/>
          <p:cNvSpPr/>
          <p:nvPr/>
        </p:nvSpPr>
        <p:spPr>
          <a:xfrm>
            <a:off x="548640" y="329184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5" name="Image 3" descr="speaking hea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657600"/>
            <a:ext cx="731520" cy="73152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600200" y="329184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Spreek je Japans?</a:t>
            </a:r>
            <a:endParaRPr lang="en-US" sz="2000" dirty="0"/>
          </a:p>
        </p:txBody>
      </p:sp>
      <p:sp>
        <p:nvSpPr>
          <p:cNvPr id="17" name="Shape 10"/>
          <p:cNvSpPr/>
          <p:nvPr/>
        </p:nvSpPr>
        <p:spPr>
          <a:xfrm>
            <a:off x="4297680" y="329184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8" name="Image 4" descr="sleeping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0560" y="3657600"/>
            <a:ext cx="731520" cy="73152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5349240" y="329184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Ben je moe?</a:t>
            </a:r>
            <a:endParaRPr lang="en-US" sz="2000" dirty="0"/>
          </a:p>
        </p:txBody>
      </p:sp>
      <p:sp>
        <p:nvSpPr>
          <p:cNvPr id="20" name="Shape 12"/>
          <p:cNvSpPr/>
          <p:nvPr/>
        </p:nvSpPr>
        <p:spPr>
          <a:xfrm>
            <a:off x="8046720" y="329184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1" name="Image 5" descr="hou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3657600"/>
            <a:ext cx="731520" cy="73152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9098280" y="329184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Woon je in Brussel?</a:t>
            </a:r>
            <a:endParaRPr lang="en-US" sz="2000" dirty="0"/>
          </a:p>
        </p:txBody>
      </p:sp>
      <p:sp>
        <p:nvSpPr>
          <p:cNvPr id="23" name="Shape 14"/>
          <p:cNvSpPr/>
          <p:nvPr/>
        </p:nvSpPr>
        <p:spPr>
          <a:xfrm>
            <a:off x="548640" y="512064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777240" y="519379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MODÈLES</a:t>
            </a:r>
            <a:endParaRPr lang="en-US" sz="1200" dirty="0"/>
          </a:p>
        </p:txBody>
      </p:sp>
      <p:sp>
        <p:nvSpPr>
          <p:cNvPr id="25" name="Text 16"/>
          <p:cNvSpPr txBox="1"/>
          <p:nvPr/>
        </p:nvSpPr>
        <p:spPr>
          <a:xfrm>
            <a:off x="777240" y="548640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Nee, ik heb </a:t>
            </a:r>
            <a:r>
              <a:rPr lang="en-US" sz="2200" b="1" i="1" dirty="0">
                <a:solidFill>
                  <a:schemeClr val="accent1"/>
                </a:solidFill>
              </a:rPr>
              <a:t>geen</a:t>
            </a:r>
            <a:r>
              <a:rPr lang="en-US" sz="2200" i="1" dirty="0">
                <a:solidFill>
                  <a:schemeClr val="tx1"/>
                </a:solidFill>
              </a:rPr>
              <a:t> auto. · Nee, ik werk vandaag </a:t>
            </a:r>
            <a:r>
              <a:rPr lang="en-US" sz="2200" b="1" i="1" dirty="0">
                <a:solidFill>
                  <a:schemeClr val="tx2"/>
                </a:solidFill>
              </a:rPr>
              <a:t>niet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2 mots en français, 1 en néerlandais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2148840"/>
          </a:xfrm>
          <a:prstGeom prst="roundRect">
            <a:avLst>
              <a:gd name="adj" fmla="val 3404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71907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05740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« Je </a:t>
            </a:r>
            <a:r>
              <a:rPr lang="en-US" sz="2200" b="1" strike="sngStrike" dirty="0">
                <a:solidFill>
                  <a:schemeClr val="accent6"/>
                </a:solidFill>
              </a:rPr>
              <a:t>ne</a:t>
            </a:r>
            <a:r>
              <a:rPr lang="en-US" sz="2200" dirty="0">
                <a:solidFill>
                  <a:schemeClr val="tx1"/>
                </a:solidFill>
              </a:rPr>
              <a:t> travaille </a:t>
            </a:r>
            <a:r>
              <a:rPr lang="en-US" sz="2200" b="1" strike="sngStrike" dirty="0">
                <a:solidFill>
                  <a:schemeClr val="accent6"/>
                </a:solidFill>
              </a:rPr>
              <a:t>pas</a:t>
            </a:r>
            <a:r>
              <a:rPr lang="en-US" sz="2200" dirty="0">
                <a:solidFill>
                  <a:schemeClr val="tx1"/>
                </a:solidFill>
              </a:rPr>
              <a:t>. »  (2 mots qui encadrent le verbe)</a:t>
            </a:r>
            <a:endParaRPr lang="en-US" sz="2200" dirty="0"/>
          </a:p>
        </p:txBody>
      </p:sp>
      <p:pic>
        <p:nvPicPr>
          <p:cNvPr id="8" name="Image 0" descr="ArrowD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724912"/>
            <a:ext cx="237744" cy="23774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77240" y="2953512"/>
            <a:ext cx="10634472" cy="649224"/>
          </a:xfrm>
          <a:prstGeom prst="roundRect">
            <a:avLst>
              <a:gd name="adj" fmla="val 11268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14400" y="2953512"/>
            <a:ext cx="103601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werk </a:t>
            </a:r>
            <a:r>
              <a:rPr lang="en-US" sz="2200" b="1" i="1" dirty="0">
                <a:solidFill>
                  <a:schemeClr val="tx2"/>
                </a:solidFill>
              </a:rPr>
              <a:t>niet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r>
              <a:rPr lang="en-US" sz="2200" dirty="0">
                <a:solidFill>
                  <a:schemeClr val="tx1"/>
                </a:solidFill>
              </a:rPr>
              <a:t>  (1 seul mot, après le verbe)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548640" y="3886200"/>
            <a:ext cx="11091672" cy="1828800"/>
          </a:xfrm>
          <a:prstGeom prst="roundRect">
            <a:avLst>
              <a:gd name="adj" fmla="val 4000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12" name="tag"/>
          <p:cNvSpPr/>
          <p:nvPr/>
        </p:nvSpPr>
        <p:spPr>
          <a:xfrm>
            <a:off x="731520" y="405079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4389120"/>
            <a:ext cx="10543032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« Je n’ai </a:t>
            </a:r>
            <a:r>
              <a:rPr lang="en-US" sz="2100" b="1" dirty="0">
                <a:solidFill>
                  <a:schemeClr val="tx1"/>
                </a:solidFill>
              </a:rPr>
              <a:t>pas de</a:t>
            </a:r>
            <a:r>
              <a:rPr lang="en-US" sz="2100" dirty="0">
                <a:solidFill>
                  <a:schemeClr val="tx1"/>
                </a:solidFill>
              </a:rPr>
              <a:t> voiture. » → </a:t>
            </a:r>
            <a:r>
              <a:rPr lang="en-US" sz="2100" i="1" strike="sngStrike" dirty="0">
                <a:solidFill>
                  <a:schemeClr val="accent6"/>
                </a:solidFill>
              </a:rPr>
              <a:t>Ik heb niet een auto.</a:t>
            </a:r>
            <a:endParaRPr lang="en-US" sz="2100" dirty="0"/>
          </a:p>
        </p:txBody>
      </p:sp>
      <p:pic>
        <p:nvPicPr>
          <p:cNvPr id="14" name="Image 1" descr="ArrowDow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896612"/>
            <a:ext cx="237744" cy="23774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777240" y="5125212"/>
            <a:ext cx="10634472" cy="489204"/>
          </a:xfrm>
          <a:prstGeom prst="roundRect">
            <a:avLst>
              <a:gd name="adj" fmla="val 14953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914400" y="5125212"/>
            <a:ext cx="10360152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heb </a:t>
            </a:r>
            <a:r>
              <a:rPr lang="en-US" sz="2100" b="1" i="1" dirty="0">
                <a:solidFill>
                  <a:schemeClr val="accent1"/>
                </a:solidFill>
              </a:rPr>
              <a:t>geen</a:t>
            </a:r>
            <a:r>
              <a:rPr lang="en-US" sz="2100" i="1" dirty="0">
                <a:solidFill>
                  <a:schemeClr val="tx1"/>
                </a:solidFill>
              </a:rPr>
              <a:t> auto.</a:t>
            </a:r>
            <a:r>
              <a:rPr lang="en-US" sz="2100" dirty="0">
                <a:solidFill>
                  <a:schemeClr val="tx1"/>
                </a:solidFill>
              </a:rPr>
              <a:t>  — </a:t>
            </a:r>
            <a:r>
              <a:rPr lang="en-US" sz="2100" b="1" dirty="0">
                <a:solidFill>
                  <a:schemeClr val="tx1"/>
                </a:solidFill>
              </a:rPr>
              <a:t>pas de</a:t>
            </a:r>
            <a:r>
              <a:rPr lang="en-US" sz="2100" dirty="0">
                <a:solidFill>
                  <a:schemeClr val="tx1"/>
                </a:solidFill>
              </a:rPr>
              <a:t> + nom = </a:t>
            </a:r>
            <a:r>
              <a:rPr lang="en-US" sz="2100" i="1" dirty="0">
                <a:solidFill>
                  <a:schemeClr val="tx1"/>
                </a:solidFill>
              </a:rPr>
              <a:t>geen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8521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niet één</a:t>
            </a:r>
            <a:r>
              <a:rPr lang="en-US" sz="1500" i="1" dirty="0">
                <a:solidFill>
                  <a:schemeClr val="accent5"/>
                </a:solidFill>
              </a:rPr>
              <a:t> (pas </a:t>
            </a:r>
            <a:r>
              <a:rPr lang="en-US" sz="1500" b="1" i="1" dirty="0">
                <a:solidFill>
                  <a:schemeClr val="accent5"/>
                </a:solidFill>
              </a:rPr>
              <a:t>un seul</a:t>
            </a:r>
            <a:r>
              <a:rPr lang="en-US" sz="1500" i="1" dirty="0">
                <a:solidFill>
                  <a:schemeClr val="accent5"/>
                </a:solidFill>
              </a:rPr>
              <a:t>) existe pour insister ; pour une négation ordinaire : </a:t>
            </a:r>
            <a:r>
              <a:rPr lang="en-US" sz="1500" i="1" dirty="0">
                <a:solidFill>
                  <a:schemeClr val="accent5"/>
                </a:solidFill>
              </a:rPr>
              <a:t>geen</a:t>
            </a:r>
            <a:r>
              <a:rPr lang="en-US" sz="1500" i="1" dirty="0">
                <a:solidFill>
                  <a:schemeClr val="accent5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GEEN = niet + een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2377440" y="1554480"/>
            <a:ext cx="1737360" cy="777240"/>
          </a:xfrm>
          <a:prstGeom prst="roundRect">
            <a:avLst>
              <a:gd name="adj" fmla="val 1764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2377440" y="15544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206240" y="155448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5"/>
                </a:solidFill>
              </a:rPr>
              <a:t>+</a:t>
            </a:r>
            <a:endParaRPr lang="en-US" sz="3200" dirty="0"/>
          </a:p>
        </p:txBody>
      </p:sp>
      <p:sp>
        <p:nvSpPr>
          <p:cNvPr id="8" name="Shape 5"/>
          <p:cNvSpPr/>
          <p:nvPr/>
        </p:nvSpPr>
        <p:spPr>
          <a:xfrm>
            <a:off x="4754880" y="1554480"/>
            <a:ext cx="1737360" cy="777240"/>
          </a:xfrm>
          <a:prstGeom prst="roundRect">
            <a:avLst>
              <a:gd name="adj" fmla="val 17647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754880" y="15544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een / Ø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155448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5"/>
                </a:solidFill>
              </a:rPr>
              <a:t>=</a:t>
            </a:r>
            <a:endParaRPr lang="en-US" sz="3200" dirty="0"/>
          </a:p>
        </p:txBody>
      </p:sp>
      <p:sp>
        <p:nvSpPr>
          <p:cNvPr id="11" name="Shape 8"/>
          <p:cNvSpPr/>
          <p:nvPr/>
        </p:nvSpPr>
        <p:spPr>
          <a:xfrm>
            <a:off x="7132320" y="1554480"/>
            <a:ext cx="2194560" cy="777240"/>
          </a:xfrm>
          <a:prstGeom prst="roundRect">
            <a:avLst>
              <a:gd name="adj" fmla="val 1764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132320" y="1554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GEEN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548640" y="260604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260604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een + nom</a:t>
            </a:r>
            <a:endParaRPr lang="en-US" sz="1500" dirty="0"/>
          </a:p>
        </p:txBody>
      </p:sp>
      <p:pic>
        <p:nvPicPr>
          <p:cNvPr id="15" name="Image 0" descr="automob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63240" y="2651760"/>
            <a:ext cx="512064" cy="51206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3703320" y="260604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heb een auto.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7178040" y="290779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8" name="Text 14"/>
          <p:cNvSpPr txBox="1"/>
          <p:nvPr/>
        </p:nvSpPr>
        <p:spPr>
          <a:xfrm>
            <a:off x="7955280" y="260604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heb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auto.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548640" y="333756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333756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Ø + indénombrable</a:t>
            </a:r>
            <a:endParaRPr lang="en-US" sz="1500" dirty="0"/>
          </a:p>
        </p:txBody>
      </p:sp>
      <p:pic>
        <p:nvPicPr>
          <p:cNvPr id="21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3383280"/>
            <a:ext cx="512064" cy="512064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3703320" y="333756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drink koffie.</a:t>
            </a:r>
            <a:endParaRPr lang="en-US" sz="2000" dirty="0"/>
          </a:p>
        </p:txBody>
      </p:sp>
      <p:sp>
        <p:nvSpPr>
          <p:cNvPr id="23" name="Shape 18"/>
          <p:cNvSpPr/>
          <p:nvPr/>
        </p:nvSpPr>
        <p:spPr>
          <a:xfrm>
            <a:off x="7178040" y="363931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4" name="Text 19"/>
          <p:cNvSpPr txBox="1"/>
          <p:nvPr/>
        </p:nvSpPr>
        <p:spPr>
          <a:xfrm>
            <a:off x="7955280" y="333756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drink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koffie.</a:t>
            </a:r>
            <a:endParaRPr lang="en-US" sz="2000" dirty="0"/>
          </a:p>
        </p:txBody>
      </p:sp>
      <p:sp>
        <p:nvSpPr>
          <p:cNvPr id="25" name="Shape 20"/>
          <p:cNvSpPr/>
          <p:nvPr/>
        </p:nvSpPr>
        <p:spPr>
          <a:xfrm>
            <a:off x="548640" y="406908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85800" y="406908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Ø + pluriel</a:t>
            </a:r>
            <a:endParaRPr lang="en-US" sz="1500" dirty="0"/>
          </a:p>
        </p:txBody>
      </p:sp>
      <p:pic>
        <p:nvPicPr>
          <p:cNvPr id="27" name="Image 2" descr="children cross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240" y="4114800"/>
            <a:ext cx="512064" cy="512064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3703320" y="406908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heb kinderen.</a:t>
            </a:r>
            <a:endParaRPr lang="en-US" sz="2000" dirty="0"/>
          </a:p>
        </p:txBody>
      </p:sp>
      <p:sp>
        <p:nvSpPr>
          <p:cNvPr id="29" name="Shape 23"/>
          <p:cNvSpPr/>
          <p:nvPr/>
        </p:nvSpPr>
        <p:spPr>
          <a:xfrm>
            <a:off x="7178040" y="437083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0" name="Text 24"/>
          <p:cNvSpPr txBox="1"/>
          <p:nvPr/>
        </p:nvSpPr>
        <p:spPr>
          <a:xfrm>
            <a:off x="7955280" y="406908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heb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kinderen.</a:t>
            </a:r>
            <a:endParaRPr lang="en-US" sz="2000" dirty="0"/>
          </a:p>
        </p:txBody>
      </p:sp>
      <p:sp>
        <p:nvSpPr>
          <p:cNvPr id="31" name="Shape 25"/>
          <p:cNvSpPr/>
          <p:nvPr/>
        </p:nvSpPr>
        <p:spPr>
          <a:xfrm>
            <a:off x="548640" y="480060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685800" y="480060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métier</a:t>
            </a:r>
            <a:endParaRPr lang="en-US" sz="1500" dirty="0"/>
          </a:p>
        </p:txBody>
      </p:sp>
      <p:pic>
        <p:nvPicPr>
          <p:cNvPr id="33" name="Image 3" descr="baguette brea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3240" y="4846320"/>
            <a:ext cx="512064" cy="512064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3703320" y="480060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ben bakker.</a:t>
            </a:r>
            <a:endParaRPr lang="en-US" sz="2000" dirty="0"/>
          </a:p>
        </p:txBody>
      </p:sp>
      <p:sp>
        <p:nvSpPr>
          <p:cNvPr id="35" name="Shape 28"/>
          <p:cNvSpPr/>
          <p:nvPr/>
        </p:nvSpPr>
        <p:spPr>
          <a:xfrm>
            <a:off x="7178040" y="510235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6" name="Text 29"/>
          <p:cNvSpPr txBox="1"/>
          <p:nvPr/>
        </p:nvSpPr>
        <p:spPr>
          <a:xfrm>
            <a:off x="7955280" y="480060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ben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bakker.</a:t>
            </a:r>
            <a:endParaRPr lang="en-US" sz="2000" dirty="0"/>
          </a:p>
        </p:txBody>
      </p:sp>
      <p:sp>
        <p:nvSpPr>
          <p:cNvPr id="37" name="Shape 30"/>
          <p:cNvSpPr/>
          <p:nvPr/>
        </p:nvSpPr>
        <p:spPr>
          <a:xfrm>
            <a:off x="548640" y="553212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685800" y="553212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langue</a:t>
            </a:r>
            <a:endParaRPr lang="en-US" sz="1500" dirty="0"/>
          </a:p>
        </p:txBody>
      </p:sp>
      <p:pic>
        <p:nvPicPr>
          <p:cNvPr id="39" name="Image 4" descr="speaking hea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63240" y="5577840"/>
            <a:ext cx="512064" cy="512064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3703320" y="553212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spreek Japans.</a:t>
            </a:r>
            <a:endParaRPr lang="en-US" sz="2000" dirty="0"/>
          </a:p>
        </p:txBody>
      </p:sp>
      <p:sp>
        <p:nvSpPr>
          <p:cNvPr id="41" name="Shape 33"/>
          <p:cNvSpPr/>
          <p:nvPr/>
        </p:nvSpPr>
        <p:spPr>
          <a:xfrm>
            <a:off x="7178040" y="583387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Text 34"/>
          <p:cNvSpPr txBox="1"/>
          <p:nvPr/>
        </p:nvSpPr>
        <p:spPr>
          <a:xfrm>
            <a:off x="7955280" y="553212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spreek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Japans.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NIET — partout ailleurs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60020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6002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un verbe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2402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4297680" y="160020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297680" y="160020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434840" y="16002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de / het / dit / mijn + nom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480560" y="22402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ken </a:t>
            </a:r>
            <a:r>
              <a:rPr lang="en-US" sz="2000" i="1" u="sng" dirty="0">
                <a:solidFill>
                  <a:schemeClr val="tx1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klant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8046720" y="160020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046720" y="160020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183880" y="16002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un prénom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0" y="22402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ken </a:t>
            </a:r>
            <a:r>
              <a:rPr lang="en-US" sz="2000" i="1" u="sng" dirty="0">
                <a:solidFill>
                  <a:schemeClr val="tx1"/>
                </a:solidFill>
              </a:rPr>
              <a:t>Liesbeth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2423160" y="370332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2423160" y="370332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560320" y="37033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un adjectif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2606040" y="434340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 film is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i="1" u="sng" dirty="0">
                <a:solidFill>
                  <a:schemeClr val="tx1"/>
                </a:solidFill>
              </a:rPr>
              <a:t>leuk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6172200" y="370332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172200" y="370332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309360" y="37033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un adverbe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6355080" y="434340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i="1" u="sng" dirty="0">
                <a:solidFill>
                  <a:schemeClr val="tx1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in het weekend.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960" y="576072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Règle courte : </a:t>
            </a:r>
            <a:r>
              <a:rPr lang="en-US" sz="1800" i="1" dirty="0">
                <a:solidFill>
                  <a:schemeClr val="bg1"/>
                </a:solidFill>
              </a:rPr>
              <a:t>niet</a:t>
            </a:r>
            <a:r>
              <a:rPr lang="en-US" sz="1800" dirty="0">
                <a:solidFill>
                  <a:schemeClr val="bg1"/>
                </a:solidFill>
              </a:rPr>
              <a:t> nie tout ce qui n’est pas « un nom avec </a:t>
            </a:r>
            <a:r>
              <a:rPr lang="en-US" sz="1800" i="1" dirty="0">
                <a:solidFill>
                  <a:schemeClr val="bg1"/>
                </a:solidFill>
              </a:rPr>
              <a:t>een</a:t>
            </a:r>
            <a:r>
              <a:rPr lang="en-US" sz="1800" dirty="0">
                <a:solidFill>
                  <a:schemeClr val="bg1"/>
                </a:solidFill>
              </a:rPr>
              <a:t> ou sans article ».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L’organigramme niet / geen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566160" y="1554480"/>
            <a:ext cx="5029200" cy="105156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333"/>
                </a:solidFill>
              </a:rPr>
              <a:t>Je nie un nom ?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8613648" y="2075688"/>
            <a:ext cx="804672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8686800" y="16916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NON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464040" y="1645920"/>
            <a:ext cx="21762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464040" y="1645920"/>
            <a:ext cx="2176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080760" y="2624328"/>
            <a:ext cx="914" cy="393192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6172200" y="26700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3566160" y="3017520"/>
            <a:ext cx="5029200" cy="105156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333"/>
                </a:solidFill>
              </a:rPr>
              <a:t>Le nom a een… ou pas d’article ?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 flipH="1">
            <a:off x="2743200" y="3538728"/>
            <a:ext cx="80467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2788920" y="31546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3108960"/>
            <a:ext cx="2176272" cy="868680"/>
          </a:xfrm>
          <a:prstGeom prst="roundRect">
            <a:avLst>
              <a:gd name="adj" fmla="val 842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3108960"/>
            <a:ext cx="2176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GEEN</a:t>
            </a:r>
            <a:endParaRPr lang="en-US" sz="2800" dirty="0"/>
          </a:p>
        </p:txBody>
      </p:sp>
      <p:sp>
        <p:nvSpPr>
          <p:cNvPr id="17" name="Shape 14"/>
          <p:cNvSpPr/>
          <p:nvPr/>
        </p:nvSpPr>
        <p:spPr>
          <a:xfrm>
            <a:off x="8613648" y="3538728"/>
            <a:ext cx="804672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8686800" y="31546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NON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9464040" y="3108960"/>
            <a:ext cx="21762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464040" y="3108960"/>
            <a:ext cx="2176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</a:t>
            </a:r>
            <a:endParaRPr lang="en-US" sz="2800" dirty="0"/>
          </a:p>
        </p:txBody>
      </p:sp>
      <p:sp>
        <p:nvSpPr>
          <p:cNvPr id="21" name="Text 18"/>
          <p:cNvSpPr txBox="1"/>
          <p:nvPr/>
        </p:nvSpPr>
        <p:spPr>
          <a:xfrm>
            <a:off x="9464040" y="4005072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de, het, dit, die, mijn…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48640" y="4526280"/>
            <a:ext cx="128016" cy="475488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22960" y="4526280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Dat is </a:t>
            </a:r>
            <a:r>
              <a:rPr lang="en-US" sz="1800" b="1" i="1" dirty="0">
                <a:solidFill>
                  <a:schemeClr val="accent1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boek. · We eten </a:t>
            </a:r>
            <a:r>
              <a:rPr lang="en-US" sz="1800" b="1" i="1" dirty="0">
                <a:solidFill>
                  <a:schemeClr val="accent1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brood.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548640" y="5120640"/>
            <a:ext cx="128016" cy="475488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2960" y="5120640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de Belgische nationaliteit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. · We vinden die film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leuk.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548640" y="5715000"/>
            <a:ext cx="128016" cy="475488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2960" y="5715000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werk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Où placer niet ? Trois règles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1109167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1709928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280160" y="164592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À la fin de la phrase simple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1280160" y="2212848"/>
            <a:ext cx="549372" cy="594360"/>
          </a:xfrm>
          <a:prstGeom prst="roundRect">
            <a:avLst>
              <a:gd name="adj" fmla="val 1331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280160" y="2212848"/>
            <a:ext cx="5493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1884396" y="2212848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884396" y="2212848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ken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2617013" y="2212848"/>
            <a:ext cx="1319662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617013" y="2212848"/>
            <a:ext cx="131966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Liesbeth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3991539" y="2212848"/>
            <a:ext cx="934517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991539" y="2212848"/>
            <a:ext cx="93451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6492240" y="2212848"/>
            <a:ext cx="549372" cy="594360"/>
          </a:xfrm>
          <a:prstGeom prst="roundRect">
            <a:avLst>
              <a:gd name="adj" fmla="val 1331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92240" y="2212848"/>
            <a:ext cx="5493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7096476" y="2212848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096476" y="2212848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zie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7829093" y="2212848"/>
            <a:ext cx="2346716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829093" y="2212848"/>
            <a:ext cx="23467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de klant vandaag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10230673" y="2212848"/>
            <a:ext cx="934517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230673" y="2212848"/>
            <a:ext cx="93451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niet.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3054096"/>
            <a:ext cx="11091672" cy="13716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85800" y="3191256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5800" y="3191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1280160" y="312724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Devant le 2e élément verbal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1280160" y="3694176"/>
            <a:ext cx="549372" cy="594360"/>
          </a:xfrm>
          <a:prstGeom prst="roundRect">
            <a:avLst>
              <a:gd name="adj" fmla="val 1331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280160" y="3694176"/>
            <a:ext cx="5493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1884396" y="3694176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884396" y="3694176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kan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2617013" y="3694176"/>
            <a:ext cx="806135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617013" y="3694176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3478012" y="3694176"/>
            <a:ext cx="1062899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6" name="Text 33"/>
          <p:cNvSpPr txBox="1"/>
          <p:nvPr/>
        </p:nvSpPr>
        <p:spPr>
          <a:xfrm>
            <a:off x="3478012" y="3694176"/>
            <a:ext cx="106289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komen.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6492240" y="3694176"/>
            <a:ext cx="677753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492240" y="3694176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Hij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7224857" y="3694176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224857" y="3694176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eet</a:t>
            </a:r>
            <a:endParaRPr lang="en-US" sz="1800" dirty="0"/>
          </a:p>
        </p:txBody>
      </p:sp>
      <p:sp>
        <p:nvSpPr>
          <p:cNvPr id="41" name="Shape 38"/>
          <p:cNvSpPr/>
          <p:nvPr/>
        </p:nvSpPr>
        <p:spPr>
          <a:xfrm>
            <a:off x="7957475" y="3694176"/>
            <a:ext cx="1833189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957475" y="3694176"/>
            <a:ext cx="18331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zijn frieten</a:t>
            </a:r>
            <a:endParaRPr lang="en-US" sz="1800" dirty="0"/>
          </a:p>
        </p:txBody>
      </p:sp>
      <p:sp>
        <p:nvSpPr>
          <p:cNvPr id="43" name="Shape 40"/>
          <p:cNvSpPr/>
          <p:nvPr/>
        </p:nvSpPr>
        <p:spPr>
          <a:xfrm>
            <a:off x="9845528" y="3694176"/>
            <a:ext cx="806135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845528" y="3694176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</a:t>
            </a:r>
            <a:endParaRPr lang="en-US" sz="1800" dirty="0"/>
          </a:p>
        </p:txBody>
      </p:sp>
      <p:sp>
        <p:nvSpPr>
          <p:cNvPr id="45" name="Shape 42"/>
          <p:cNvSpPr/>
          <p:nvPr/>
        </p:nvSpPr>
        <p:spPr>
          <a:xfrm>
            <a:off x="10706527" y="3694176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46" name="Text 43"/>
          <p:cNvSpPr txBox="1"/>
          <p:nvPr/>
        </p:nvSpPr>
        <p:spPr>
          <a:xfrm>
            <a:off x="10706527" y="3694176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op.</a:t>
            </a:r>
            <a:endParaRPr lang="en-US" sz="1800" dirty="0"/>
          </a:p>
        </p:txBody>
      </p:sp>
      <p:sp>
        <p:nvSpPr>
          <p:cNvPr id="47" name="Shape 44"/>
          <p:cNvSpPr/>
          <p:nvPr/>
        </p:nvSpPr>
        <p:spPr>
          <a:xfrm>
            <a:off x="548640" y="4535424"/>
            <a:ext cx="1109167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685800" y="4672584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85800" y="4672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1280160" y="4608576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Devant préposition, adjectif, adverbe de manière (</a:t>
            </a:r>
            <a:r>
              <a:rPr lang="en-US" sz="1700" b="1" i="1" dirty="0">
                <a:solidFill>
                  <a:schemeClr val="tx2"/>
                </a:solidFill>
              </a:rPr>
              <a:t>vandaag</a:t>
            </a:r>
            <a:r>
              <a:rPr lang="en-US" sz="1700" b="1" dirty="0">
                <a:solidFill>
                  <a:schemeClr val="tx2"/>
                </a:solidFill>
              </a:rPr>
              <a:t> : avant </a:t>
            </a:r>
            <a:r>
              <a:rPr lang="en-US" sz="1700" b="1" i="1" dirty="0">
                <a:solidFill>
                  <a:schemeClr val="tx2"/>
                </a:solidFill>
              </a:rPr>
              <a:t>niet</a:t>
            </a:r>
            <a:r>
              <a:rPr lang="en-US" sz="1700" b="1" dirty="0">
                <a:solidFill>
                  <a:schemeClr val="tx2"/>
                </a:solidFill>
              </a:rPr>
              <a:t>)</a:t>
            </a:r>
            <a:endParaRPr lang="en-US" sz="1700" dirty="0"/>
          </a:p>
        </p:txBody>
      </p:sp>
      <p:sp>
        <p:nvSpPr>
          <p:cNvPr id="51" name="Shape 48"/>
          <p:cNvSpPr/>
          <p:nvPr/>
        </p:nvSpPr>
        <p:spPr>
          <a:xfrm>
            <a:off x="1280160" y="5175504"/>
            <a:ext cx="677753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280160" y="5175504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Zij</a:t>
            </a:r>
            <a:endParaRPr lang="en-US" sz="1800" dirty="0"/>
          </a:p>
        </p:txBody>
      </p:sp>
      <p:sp>
        <p:nvSpPr>
          <p:cNvPr id="53" name="Shape 50"/>
          <p:cNvSpPr/>
          <p:nvPr/>
        </p:nvSpPr>
        <p:spPr>
          <a:xfrm>
            <a:off x="2012777" y="5175504"/>
            <a:ext cx="806135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2012777" y="5175504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gaat</a:t>
            </a:r>
            <a:endParaRPr lang="en-US" sz="1800" dirty="0"/>
          </a:p>
        </p:txBody>
      </p:sp>
      <p:sp>
        <p:nvSpPr>
          <p:cNvPr id="55" name="Shape 52"/>
          <p:cNvSpPr/>
          <p:nvPr/>
        </p:nvSpPr>
        <p:spPr>
          <a:xfrm>
            <a:off x="2873776" y="5175504"/>
            <a:ext cx="806135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2873776" y="5175504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</a:t>
            </a:r>
            <a:endParaRPr lang="en-US" sz="1800" dirty="0"/>
          </a:p>
        </p:txBody>
      </p:sp>
      <p:sp>
        <p:nvSpPr>
          <p:cNvPr id="57" name="Shape 54"/>
          <p:cNvSpPr/>
          <p:nvPr/>
        </p:nvSpPr>
        <p:spPr>
          <a:xfrm>
            <a:off x="3734775" y="5175504"/>
            <a:ext cx="1833189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3734775" y="5175504"/>
            <a:ext cx="18331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naar school.</a:t>
            </a:r>
            <a:endParaRPr lang="en-US" sz="1800" dirty="0"/>
          </a:p>
        </p:txBody>
      </p:sp>
      <p:sp>
        <p:nvSpPr>
          <p:cNvPr id="59" name="Shape 56"/>
          <p:cNvSpPr/>
          <p:nvPr/>
        </p:nvSpPr>
        <p:spPr>
          <a:xfrm>
            <a:off x="6492240" y="5175504"/>
            <a:ext cx="677753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6492240" y="5175504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Het</a:t>
            </a:r>
            <a:endParaRPr lang="en-US" sz="1800" dirty="0"/>
          </a:p>
        </p:txBody>
      </p:sp>
      <p:sp>
        <p:nvSpPr>
          <p:cNvPr id="61" name="Shape 58"/>
          <p:cNvSpPr/>
          <p:nvPr/>
        </p:nvSpPr>
        <p:spPr>
          <a:xfrm>
            <a:off x="7224857" y="5175504"/>
            <a:ext cx="549372" cy="594360"/>
          </a:xfrm>
          <a:prstGeom prst="roundRect">
            <a:avLst>
              <a:gd name="adj" fmla="val 13316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7224857" y="5175504"/>
            <a:ext cx="5493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is</a:t>
            </a:r>
            <a:endParaRPr lang="en-US" sz="1800" dirty="0"/>
          </a:p>
        </p:txBody>
      </p:sp>
      <p:sp>
        <p:nvSpPr>
          <p:cNvPr id="63" name="Shape 60"/>
          <p:cNvSpPr/>
          <p:nvPr/>
        </p:nvSpPr>
        <p:spPr>
          <a:xfrm>
            <a:off x="7829093" y="5175504"/>
            <a:ext cx="806135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7829093" y="5175504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</a:t>
            </a:r>
            <a:endParaRPr lang="en-US" sz="1800" dirty="0"/>
          </a:p>
        </p:txBody>
      </p:sp>
      <p:sp>
        <p:nvSpPr>
          <p:cNvPr id="65" name="Shape 62"/>
          <p:cNvSpPr/>
          <p:nvPr/>
        </p:nvSpPr>
        <p:spPr>
          <a:xfrm>
            <a:off x="8690092" y="5175504"/>
            <a:ext cx="934517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8690092" y="5175504"/>
            <a:ext cx="93451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duur.</a:t>
            </a:r>
            <a:endParaRPr lang="en-US" sz="1800" dirty="0"/>
          </a:p>
        </p:txBody>
      </p:sp>
      <p:sp>
        <p:nvSpPr>
          <p:cNvPr id="67" name="Text 64"/>
          <p:cNvSpPr txBox="1"/>
          <p:nvPr/>
        </p:nvSpPr>
        <p:spPr>
          <a:xfrm>
            <a:off x="548640" y="600760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Règle ② = la pince : </a:t>
            </a:r>
            <a:r>
              <a:rPr lang="en-US" sz="1500" i="1" dirty="0">
                <a:solidFill>
                  <a:schemeClr val="accent5"/>
                </a:solidFill>
              </a:rPr>
              <a:t>niet</a:t>
            </a:r>
            <a:r>
              <a:rPr lang="en-US" sz="1500" i="1" dirty="0">
                <a:solidFill>
                  <a:schemeClr val="accent5"/>
                </a:solidFill>
              </a:rPr>
              <a:t> juste avant la mâchoire droite (infinitif, particule, participe).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niet dans la pince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91640"/>
            <a:ext cx="634959" cy="77724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91640"/>
            <a:ext cx="634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1275039" y="1691640"/>
            <a:ext cx="977311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75039" y="1691640"/>
            <a:ext cx="9773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moet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2343790" y="1691640"/>
            <a:ext cx="1490838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343790" y="1691640"/>
            <a:ext cx="14908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vandaag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3926068" y="1691640"/>
            <a:ext cx="977311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926068" y="1691640"/>
            <a:ext cx="9773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niet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4994819" y="1691640"/>
            <a:ext cx="1490838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4994819" y="1691640"/>
            <a:ext cx="14908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werken.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6805696" y="1691640"/>
            <a:ext cx="48346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modal + infinitif (M12)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1783080" y="1371600"/>
            <a:ext cx="4611136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28575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548640" y="2926080"/>
            <a:ext cx="634959" cy="77724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2926080"/>
            <a:ext cx="634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1275039" y="2926080"/>
            <a:ext cx="806135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275039" y="2926080"/>
            <a:ext cx="806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bel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2172614" y="2926080"/>
            <a:ext cx="3031419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172614" y="2926080"/>
            <a:ext cx="303141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de klant vandaag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5295473" y="2926080"/>
            <a:ext cx="977311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295473" y="2926080"/>
            <a:ext cx="9773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niet</a:t>
            </a:r>
            <a:endParaRPr lang="en-US" sz="2400" dirty="0"/>
          </a:p>
        </p:txBody>
      </p:sp>
      <p:sp>
        <p:nvSpPr>
          <p:cNvPr id="25" name="Shape 22"/>
          <p:cNvSpPr/>
          <p:nvPr/>
        </p:nvSpPr>
        <p:spPr>
          <a:xfrm>
            <a:off x="6364224" y="2926080"/>
            <a:ext cx="806135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6" name="Text 23"/>
          <p:cNvSpPr txBox="1"/>
          <p:nvPr/>
        </p:nvSpPr>
        <p:spPr>
          <a:xfrm>
            <a:off x="6364224" y="2926080"/>
            <a:ext cx="806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op.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7490399" y="2926080"/>
            <a:ext cx="414991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particule (M11)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1783080" y="2606040"/>
            <a:ext cx="5295839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28575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548640" y="4160520"/>
            <a:ext cx="634959" cy="77724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160520"/>
            <a:ext cx="634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31" name="Shape 28"/>
          <p:cNvSpPr/>
          <p:nvPr/>
        </p:nvSpPr>
        <p:spPr>
          <a:xfrm>
            <a:off x="1275039" y="4160520"/>
            <a:ext cx="806135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275039" y="4160520"/>
            <a:ext cx="806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heb</a:t>
            </a:r>
            <a:endParaRPr lang="en-US" sz="2400" dirty="0"/>
          </a:p>
        </p:txBody>
      </p:sp>
      <p:sp>
        <p:nvSpPr>
          <p:cNvPr id="33" name="Shape 30"/>
          <p:cNvSpPr/>
          <p:nvPr/>
        </p:nvSpPr>
        <p:spPr>
          <a:xfrm>
            <a:off x="2172614" y="4160520"/>
            <a:ext cx="1662013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172614" y="4160520"/>
            <a:ext cx="166201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gisteren</a:t>
            </a:r>
            <a:endParaRPr lang="en-US" sz="2400" dirty="0"/>
          </a:p>
        </p:txBody>
      </p:sp>
      <p:sp>
        <p:nvSpPr>
          <p:cNvPr id="35" name="Shape 32"/>
          <p:cNvSpPr/>
          <p:nvPr/>
        </p:nvSpPr>
        <p:spPr>
          <a:xfrm>
            <a:off x="3926068" y="4160520"/>
            <a:ext cx="977311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926068" y="4160520"/>
            <a:ext cx="9773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niet</a:t>
            </a:r>
            <a:endParaRPr lang="en-US" sz="2400" dirty="0"/>
          </a:p>
        </p:txBody>
      </p:sp>
      <p:sp>
        <p:nvSpPr>
          <p:cNvPr id="37" name="Shape 34"/>
          <p:cNvSpPr/>
          <p:nvPr/>
        </p:nvSpPr>
        <p:spPr>
          <a:xfrm>
            <a:off x="4994819" y="4160520"/>
            <a:ext cx="1662013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8" name="Text 35"/>
          <p:cNvSpPr txBox="1"/>
          <p:nvPr/>
        </p:nvSpPr>
        <p:spPr>
          <a:xfrm>
            <a:off x="4994819" y="4160520"/>
            <a:ext cx="166201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gewerkt.</a:t>
            </a:r>
            <a:endParaRPr lang="en-US" sz="2400" dirty="0"/>
          </a:p>
        </p:txBody>
      </p:sp>
      <p:sp>
        <p:nvSpPr>
          <p:cNvPr id="39" name="Text 36"/>
          <p:cNvSpPr txBox="1"/>
          <p:nvPr/>
        </p:nvSpPr>
        <p:spPr>
          <a:xfrm>
            <a:off x="6976872" y="41605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participe (M15)</a:t>
            </a:r>
            <a:endParaRPr lang="en-US" sz="1600" dirty="0"/>
          </a:p>
        </p:txBody>
      </p:sp>
      <p:sp>
        <p:nvSpPr>
          <p:cNvPr id="40" name="Shape 37"/>
          <p:cNvSpPr/>
          <p:nvPr/>
        </p:nvSpPr>
        <p:spPr>
          <a:xfrm>
            <a:off x="1783080" y="3840480"/>
            <a:ext cx="4782312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28575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1" name="Shape 38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2960" y="54864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Geste de la pince : </a:t>
            </a:r>
            <a:r>
              <a:rPr lang="en-US" sz="1800" i="1" dirty="0">
                <a:solidFill>
                  <a:schemeClr val="bg1"/>
                </a:solidFill>
              </a:rPr>
              <a:t>niet</a:t>
            </a:r>
            <a:r>
              <a:rPr lang="en-US" sz="1800" dirty="0">
                <a:solidFill>
                  <a:schemeClr val="bg1"/>
                </a:solidFill>
              </a:rPr>
              <a:t> « s’accroche » à la mâchoire droite. BE : </a:t>
            </a:r>
            <a:r>
              <a:rPr lang="en-US" sz="1800" i="1" dirty="0">
                <a:solidFill>
                  <a:schemeClr val="bg1"/>
                </a:solidFill>
              </a:rPr>
              <a:t>Ik moet vandaag niet werken</a:t>
            </a:r>
            <a:r>
              <a:rPr lang="en-US" sz="1800" dirty="0">
                <a:solidFill>
                  <a:schemeClr val="bg1"/>
                </a:solidFill>
              </a:rPr>
              <a:t> = pas obligé (M12).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autres négations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cigaret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09928"/>
            <a:ext cx="640080" cy="6400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17320" y="166420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nooit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1417320" y="207568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jamais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253288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rook nooit.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3367278" y="157276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see no evil 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4438" y="1709928"/>
            <a:ext cx="640080" cy="6400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235958" y="166420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niets / niks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4235958" y="207568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rien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3504438" y="253288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zie niets.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6185916" y="157276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bust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3076" y="1709928"/>
            <a:ext cx="640080" cy="6400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054596" y="166420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niemand</a:t>
            </a:r>
            <a:endParaRPr lang="en-US" sz="2000" dirty="0"/>
          </a:p>
        </p:txBody>
      </p:sp>
      <p:sp>
        <p:nvSpPr>
          <p:cNvPr id="18" name="Text 12"/>
          <p:cNvSpPr txBox="1"/>
          <p:nvPr/>
        </p:nvSpPr>
        <p:spPr>
          <a:xfrm>
            <a:off x="7054596" y="207568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personne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6323076" y="253288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Niemand weet het.</a:t>
            </a:r>
            <a:endParaRPr lang="en-US" sz="1800" dirty="0"/>
          </a:p>
        </p:txBody>
      </p:sp>
      <p:sp>
        <p:nvSpPr>
          <p:cNvPr id="20" name="Shape 14"/>
          <p:cNvSpPr/>
          <p:nvPr/>
        </p:nvSpPr>
        <p:spPr>
          <a:xfrm>
            <a:off x="9004554" y="157276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3" descr="hourglass not d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1714" y="1709928"/>
            <a:ext cx="640080" cy="64008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9873234" y="166420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nog niet</a:t>
            </a:r>
            <a:endParaRPr lang="en-US" sz="2000" dirty="0"/>
          </a:p>
        </p:txBody>
      </p:sp>
      <p:sp>
        <p:nvSpPr>
          <p:cNvPr id="23" name="Text 16"/>
          <p:cNvSpPr txBox="1"/>
          <p:nvPr/>
        </p:nvSpPr>
        <p:spPr>
          <a:xfrm>
            <a:off x="9873234" y="207568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pas encore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9141714" y="253288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nog niet gegeten.</a:t>
            </a:r>
            <a:endParaRPr lang="en-US" sz="1800" dirty="0"/>
          </a:p>
        </p:txBody>
      </p:sp>
      <p:sp>
        <p:nvSpPr>
          <p:cNvPr id="25" name="Shape 18"/>
          <p:cNvSpPr/>
          <p:nvPr/>
        </p:nvSpPr>
        <p:spPr>
          <a:xfrm>
            <a:off x="1957959" y="381304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4" descr="person in lotus positi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95119" y="3950208"/>
            <a:ext cx="640080" cy="64008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2826639" y="390448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 meer</a:t>
            </a:r>
            <a:endParaRPr lang="en-US" sz="2000" dirty="0"/>
          </a:p>
        </p:txBody>
      </p:sp>
      <p:sp>
        <p:nvSpPr>
          <p:cNvPr id="28" name="Text 20"/>
          <p:cNvSpPr txBox="1"/>
          <p:nvPr/>
        </p:nvSpPr>
        <p:spPr>
          <a:xfrm>
            <a:off x="2826639" y="431596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plus</a:t>
            </a:r>
            <a:endParaRPr lang="en-US" sz="1400" dirty="0"/>
          </a:p>
        </p:txBody>
      </p:sp>
      <p:sp>
        <p:nvSpPr>
          <p:cNvPr id="29" name="Text 21"/>
          <p:cNvSpPr txBox="1"/>
          <p:nvPr/>
        </p:nvSpPr>
        <p:spPr>
          <a:xfrm>
            <a:off x="2095119" y="477316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werk niet meer.</a:t>
            </a:r>
            <a:endParaRPr lang="en-US" sz="1800" dirty="0"/>
          </a:p>
        </p:txBody>
      </p:sp>
      <p:sp>
        <p:nvSpPr>
          <p:cNvPr id="30" name="Shape 22"/>
          <p:cNvSpPr/>
          <p:nvPr/>
        </p:nvSpPr>
        <p:spPr>
          <a:xfrm>
            <a:off x="4776597" y="381304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1" name="Image 5" descr="hot bevera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757" y="3950208"/>
            <a:ext cx="640080" cy="64008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5645277" y="390448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geen … meer</a:t>
            </a:r>
            <a:endParaRPr lang="en-US" sz="2000" dirty="0"/>
          </a:p>
        </p:txBody>
      </p:sp>
      <p:sp>
        <p:nvSpPr>
          <p:cNvPr id="33" name="Text 24"/>
          <p:cNvSpPr txBox="1"/>
          <p:nvPr/>
        </p:nvSpPr>
        <p:spPr>
          <a:xfrm>
            <a:off x="5645277" y="431596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plus de</a:t>
            </a:r>
            <a:endParaRPr lang="en-US" sz="1400" dirty="0"/>
          </a:p>
        </p:txBody>
      </p:sp>
      <p:sp>
        <p:nvSpPr>
          <p:cNvPr id="34" name="Text 25"/>
          <p:cNvSpPr txBox="1"/>
          <p:nvPr/>
        </p:nvSpPr>
        <p:spPr>
          <a:xfrm>
            <a:off x="4913757" y="477316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Er is geen koffie meer.</a:t>
            </a:r>
            <a:endParaRPr lang="en-US" sz="1800" dirty="0"/>
          </a:p>
        </p:txBody>
      </p:sp>
      <p:sp>
        <p:nvSpPr>
          <p:cNvPr id="35" name="Shape 26"/>
          <p:cNvSpPr/>
          <p:nvPr/>
        </p:nvSpPr>
        <p:spPr>
          <a:xfrm>
            <a:off x="7595235" y="381304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6" name="Image 6" descr="person shrugg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2395" y="3950208"/>
            <a:ext cx="640080" cy="64008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8463915" y="390448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ook niet</a:t>
            </a:r>
            <a:endParaRPr lang="en-US" sz="2000" dirty="0"/>
          </a:p>
        </p:txBody>
      </p:sp>
      <p:sp>
        <p:nvSpPr>
          <p:cNvPr id="38" name="Text 28"/>
          <p:cNvSpPr txBox="1"/>
          <p:nvPr/>
        </p:nvSpPr>
        <p:spPr>
          <a:xfrm>
            <a:off x="8463915" y="431596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non plus</a:t>
            </a:r>
            <a:endParaRPr lang="en-US" sz="1400" dirty="0"/>
          </a:p>
        </p:txBody>
      </p:sp>
      <p:sp>
        <p:nvSpPr>
          <p:cNvPr id="39" name="Text 29"/>
          <p:cNvSpPr txBox="1"/>
          <p:nvPr/>
        </p:nvSpPr>
        <p:spPr>
          <a:xfrm>
            <a:off x="7732395" y="477316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ook niet!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Répondre non… et répondre « si !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tx2"/>
                </a:solidFill>
              </a:rPr>
              <a:t>RÉPONDRE NON, POLIMENT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13232" y="196596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Wil je een koffie?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3291840" y="196596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tx2">
              <a:alpha val="15000"/>
            </a:schemeClr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456432" y="196596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Nee, dank je.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48640" y="315468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3232" y="315468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Begrijp je het?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3291840" y="315468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tx2">
              <a:alpha val="15000"/>
            </a:schemeClr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456432" y="315468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Nee, niet helemaal.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1605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2"/>
                </a:solidFill>
              </a:rPr>
              <a:t>Ik denk het niet. · Ik weet het niet.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621792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3"/>
                </a:solidFill>
              </a:rPr>
              <a:t>CONTREDIRE UNE QUESTION NÉGATIVE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217920" y="196596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82512" y="196596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Heb je </a:t>
            </a:r>
            <a:r>
              <a:rPr lang="en-US" sz="1700" b="1" i="1" dirty="0">
                <a:solidFill>
                  <a:schemeClr val="tx1"/>
                </a:solidFill>
              </a:rPr>
              <a:t>geen</a:t>
            </a:r>
            <a:r>
              <a:rPr lang="en-US" sz="1700" i="1" dirty="0">
                <a:solidFill>
                  <a:schemeClr val="tx1"/>
                </a:solidFill>
              </a:rPr>
              <a:t> tijd?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8961120" y="1965960"/>
            <a:ext cx="2679192" cy="960120"/>
          </a:xfrm>
          <a:prstGeom prst="roundRect">
            <a:avLst>
              <a:gd name="adj" fmla="val 17143"/>
            </a:avLst>
          </a:prstGeom>
          <a:solidFill>
            <a:schemeClr val="accent3">
              <a:alpha val="20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125712" y="1965960"/>
            <a:ext cx="23500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b="1" i="1" dirty="0">
                <a:solidFill>
                  <a:schemeClr val="tx1"/>
                </a:solidFill>
              </a:rPr>
              <a:t>Jawel!</a:t>
            </a:r>
            <a:r>
              <a:rPr lang="en-US" sz="1700" i="1" dirty="0">
                <a:solidFill>
                  <a:schemeClr val="tx1"/>
                </a:solidFill>
              </a:rPr>
              <a:t> Ik heb tijd.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6217920" y="315468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82512" y="315468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Kom je </a:t>
            </a:r>
            <a:r>
              <a:rPr lang="en-US" sz="1700" b="1" i="1" dirty="0">
                <a:solidFill>
                  <a:schemeClr val="tx1"/>
                </a:solidFill>
              </a:rPr>
              <a:t>niet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2" name="Shape 19"/>
          <p:cNvSpPr/>
          <p:nvPr/>
        </p:nvSpPr>
        <p:spPr>
          <a:xfrm>
            <a:off x="8961120" y="3154680"/>
            <a:ext cx="2679192" cy="960120"/>
          </a:xfrm>
          <a:prstGeom prst="roundRect">
            <a:avLst>
              <a:gd name="adj" fmla="val 17143"/>
            </a:avLst>
          </a:prstGeom>
          <a:solidFill>
            <a:schemeClr val="accent3">
              <a:alpha val="20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125712" y="3154680"/>
            <a:ext cx="23500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b="1" i="1" dirty="0">
                <a:solidFill>
                  <a:schemeClr val="tx1"/>
                </a:solidFill>
              </a:rPr>
              <a:t>Toch wel!</a:t>
            </a:r>
            <a:endParaRPr lang="en-US" sz="1700" dirty="0"/>
          </a:p>
        </p:txBody>
      </p:sp>
      <p:pic>
        <p:nvPicPr>
          <p:cNvPr id="24" name="Image 0" descr="grinn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7080" y="4069080"/>
            <a:ext cx="640080" cy="64008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548640" y="4709160"/>
            <a:ext cx="11091672" cy="1554480"/>
          </a:xfrm>
          <a:prstGeom prst="roundRect">
            <a:avLst>
              <a:gd name="adj" fmla="val 4706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26" name="tag"/>
          <p:cNvSpPr/>
          <p:nvPr/>
        </p:nvSpPr>
        <p:spPr>
          <a:xfrm>
            <a:off x="731520" y="487375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822960" y="5212080"/>
            <a:ext cx="10543032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Tu n’as pas le temps ? — </a:t>
            </a:r>
            <a:r>
              <a:rPr lang="en-US" sz="1800" b="1" dirty="0">
                <a:solidFill>
                  <a:schemeClr val="tx1"/>
                </a:solidFill>
              </a:rPr>
              <a:t>Si !</a:t>
            </a:r>
            <a:r>
              <a:rPr lang="en-US" sz="1800" dirty="0">
                <a:solidFill>
                  <a:schemeClr val="tx1"/>
                </a:solidFill>
              </a:rPr>
              <a:t> » → </a:t>
            </a:r>
            <a:r>
              <a:rPr lang="en-US" sz="1800" i="1" strike="sngStrike" dirty="0">
                <a:solidFill>
                  <a:schemeClr val="accent6"/>
                </a:solidFill>
              </a:rPr>
              <a:t>Ja!</a:t>
            </a:r>
            <a:r>
              <a:rPr lang="en-US" sz="1800" dirty="0">
                <a:solidFill>
                  <a:schemeClr val="tx1"/>
                </a:solidFill>
              </a:rPr>
              <a:t> (ambigu)</a:t>
            </a:r>
            <a:endParaRPr lang="en-US" sz="1800" dirty="0"/>
          </a:p>
        </p:txBody>
      </p:sp>
      <p:pic>
        <p:nvPicPr>
          <p:cNvPr id="28" name="Image 1" descr="ArrowDow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582412"/>
            <a:ext cx="237744" cy="237744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777240" y="5811012"/>
            <a:ext cx="10634472" cy="352044"/>
          </a:xfrm>
          <a:prstGeom prst="roundRect">
            <a:avLst>
              <a:gd name="adj" fmla="val 20779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914400" y="5811012"/>
            <a:ext cx="1036015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Jawel!</a:t>
            </a:r>
            <a:r>
              <a:rPr lang="en-US" sz="1800" i="1" dirty="0">
                <a:solidFill>
                  <a:schemeClr val="tx1"/>
                </a:solidFill>
              </a:rPr>
              <a:t> / </a:t>
            </a:r>
            <a:r>
              <a:rPr lang="en-US" sz="1800" b="1" i="1" dirty="0">
                <a:solidFill>
                  <a:schemeClr val="tx1"/>
                </a:solidFill>
              </a:rPr>
              <a:t>Toch wel!</a:t>
            </a:r>
            <a:r>
              <a:rPr lang="en-US" sz="1800" dirty="0">
                <a:solidFill>
                  <a:schemeClr val="tx1"/>
                </a:solidFill>
              </a:rPr>
              <a:t> — « si » n’existe pas en néerlandais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ce que le néerlandais ne dit pas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709160"/>
          </a:xfrm>
          <a:prstGeom prst="roundRect">
            <a:avLst>
              <a:gd name="adj" fmla="val 1553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14884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Ce n’est pas un problème. »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4434840" y="21488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strike="sngStrike" dirty="0">
                <a:solidFill>
                  <a:schemeClr val="accent6"/>
                </a:solidFill>
              </a:rPr>
              <a:t>Het is niet een probleem.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7818120" y="2240280"/>
            <a:ext cx="361188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55280" y="224028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Dat is </a:t>
            </a:r>
            <a:r>
              <a:rPr lang="en-US" sz="1900" b="1" i="1" dirty="0">
                <a:solidFill>
                  <a:schemeClr val="accent1"/>
                </a:solidFill>
              </a:rPr>
              <a:t>geen</a:t>
            </a:r>
            <a:r>
              <a:rPr lang="en-US" sz="1900" i="1" dirty="0">
                <a:solidFill>
                  <a:schemeClr val="tx1"/>
                </a:solidFill>
              </a:rPr>
              <a:t> probleem.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24612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Je ne vois personne. »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4434840" y="32461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strike="sngStrike" dirty="0">
                <a:solidFill>
                  <a:schemeClr val="accent6"/>
                </a:solidFill>
              </a:rPr>
              <a:t>Ik zie niet niemand.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7818120" y="3337560"/>
            <a:ext cx="361188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5280" y="333756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zie </a:t>
            </a:r>
            <a:r>
              <a:rPr lang="en-US" sz="1900" b="1" i="1" dirty="0">
                <a:solidFill>
                  <a:schemeClr val="tx1"/>
                </a:solidFill>
              </a:rPr>
              <a:t>niemand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434340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Je n’ai pas faim. »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4434840" y="43434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strike="sngStrike" dirty="0">
                <a:solidFill>
                  <a:schemeClr val="accent6"/>
                </a:solidFill>
              </a:rPr>
              <a:t>Ik heb niet honger.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7818120" y="4434840"/>
            <a:ext cx="361188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955280" y="443484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</a:t>
            </a:r>
            <a:r>
              <a:rPr lang="en-US" sz="1900" b="1" i="1" dirty="0">
                <a:solidFill>
                  <a:schemeClr val="accent1"/>
                </a:solidFill>
              </a:rPr>
              <a:t>geen</a:t>
            </a:r>
            <a:r>
              <a:rPr lang="en-US" sz="1900" i="1" dirty="0">
                <a:solidFill>
                  <a:schemeClr val="tx1"/>
                </a:solidFill>
              </a:rPr>
              <a:t> honger.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5486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Pas de double négation · </a:t>
            </a:r>
            <a:r>
              <a:rPr lang="en-US" sz="1700" i="1" dirty="0">
                <a:solidFill>
                  <a:schemeClr val="tx2"/>
                </a:solidFill>
              </a:rPr>
              <a:t>honger, dorst, tijd, zin</a:t>
            </a:r>
            <a:r>
              <a:rPr lang="en-US" sz="1700" dirty="0">
                <a:solidFill>
                  <a:schemeClr val="tx2"/>
                </a:solidFill>
              </a:rPr>
              <a:t> sont des </a:t>
            </a:r>
            <a:r>
              <a:rPr lang="en-US" sz="1700" b="1" dirty="0">
                <a:solidFill>
                  <a:schemeClr val="tx2"/>
                </a:solidFill>
              </a:rPr>
              <a:t>noms</a:t>
            </a:r>
            <a:r>
              <a:rPr lang="en-US" sz="1700" dirty="0">
                <a:solidFill>
                  <a:schemeClr val="tx2"/>
                </a:solidFill>
              </a:rPr>
              <a:t> → </a:t>
            </a:r>
            <a:r>
              <a:rPr lang="en-US" sz="1700" i="1" dirty="0">
                <a:solidFill>
                  <a:schemeClr val="tx2"/>
                </a:solidFill>
              </a:rPr>
              <a:t>geen</a:t>
            </a:r>
            <a:r>
              <a:rPr lang="en-US" sz="1700" dirty="0">
                <a:solidFill>
                  <a:schemeClr val="tx2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carte de la négation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394960" cy="283464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16916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GEEN</a:t>
            </a:r>
            <a:r>
              <a:rPr lang="en-US" sz="2200" b="1" dirty="0">
                <a:solidFill>
                  <a:schemeClr val="tx1"/>
                </a:solidFill>
              </a:rPr>
              <a:t> = niet + een / Ø (+ nom)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3774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niet</a:t>
            </a:r>
            <a:r>
              <a:rPr lang="en-US" sz="2200" b="1" dirty="0">
                <a:solidFill>
                  <a:schemeClr val="tx1"/>
                </a:solidFill>
              </a:rPr>
              <a:t> = tout le reste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1546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5"/>
                </a:solidFill>
              </a:rPr>
              <a:t>Ik heb geen auto. · Ik werk niet.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245352" y="1554480"/>
            <a:ext cx="5394960" cy="283464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28232" y="16459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tx2"/>
                </a:solidFill>
              </a:rPr>
              <a:t>PLACE DE NIET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428232" y="2057400"/>
            <a:ext cx="5029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①</a:t>
            </a:r>
            <a:r>
              <a:rPr lang="en-US" sz="1700" dirty="0">
                <a:solidFill>
                  <a:schemeClr val="tx1"/>
                </a:solidFill>
              </a:rPr>
              <a:t> à la fin</a:t>
            </a:r>
            <a:endParaRPr lang="en-US" sz="17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②</a:t>
            </a:r>
            <a:r>
              <a:rPr lang="en-US" sz="1700" dirty="0">
                <a:solidFill>
                  <a:schemeClr val="tx1"/>
                </a:solidFill>
              </a:rPr>
              <a:t> devant le 2e verbe</a:t>
            </a:r>
            <a:endParaRPr lang="en-US" sz="17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③</a:t>
            </a:r>
            <a:r>
              <a:rPr lang="en-US" sz="1700" dirty="0">
                <a:solidFill>
                  <a:schemeClr val="tx1"/>
                </a:solidFill>
              </a:rPr>
              <a:t> devant préposition / adjectif / adverbe de manière</a:t>
            </a:r>
            <a:endParaRPr lang="en-US" sz="17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vandaag, morgen</a:t>
            </a:r>
            <a:r>
              <a:rPr lang="en-US" sz="1700" dirty="0">
                <a:solidFill>
                  <a:schemeClr val="tx1"/>
                </a:solidFill>
              </a:rPr>
              <a:t> : avant </a:t>
            </a:r>
            <a:r>
              <a:rPr lang="en-US" sz="1700" i="1" dirty="0">
                <a:solidFill>
                  <a:schemeClr val="tx1"/>
                </a:solidFill>
              </a:rPr>
              <a:t>niet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548640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nooit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2432304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432304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niets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4315968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315968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niemand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199632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199632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nog niet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8083296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83296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niet meer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9966960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966960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jawel!</a:t>
            </a:r>
            <a:endParaRPr lang="en-US" sz="2000" dirty="0"/>
          </a:p>
        </p:txBody>
      </p:sp>
      <p:pic>
        <p:nvPicPr>
          <p:cNvPr id="24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BalanceSc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704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Niet of geen?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376428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90144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90144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Exchange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68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90144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Dites le contraire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90144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97992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1708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11708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1708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Où va niet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11708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864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Use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040" y="45994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8580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Zoek iemand die…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8580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376428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390144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390144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268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390144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390144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697992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711708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711708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Angr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11708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collègue grognon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711708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2" name="Image 6" descr="man teach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Niet of geen?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niet ou geen.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023872"/>
            <a:ext cx="5340096" cy="426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1  </a:t>
            </a:r>
            <a:r>
              <a:rPr lang="en-US" sz="1800" i="1" dirty="0">
                <a:solidFill>
                  <a:schemeClr val="tx1"/>
                </a:solidFill>
              </a:rPr>
              <a:t>Mijn portefeuille is leeg. Ik heb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geld.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2  </a:t>
            </a:r>
            <a:r>
              <a:rPr lang="en-US" sz="1800" i="1" dirty="0">
                <a:solidFill>
                  <a:schemeClr val="tx1"/>
                </a:solidFill>
              </a:rPr>
              <a:t>Je mag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op het gras lopen.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3  </a:t>
            </a:r>
            <a:r>
              <a:rPr lang="en-US" sz="1800" i="1" dirty="0">
                <a:solidFill>
                  <a:schemeClr val="tx1"/>
                </a:solidFill>
              </a:rPr>
              <a:t>Jeroen is moe. Hij wil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studeren.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4  </a:t>
            </a:r>
            <a:r>
              <a:rPr lang="en-US" sz="1800" i="1" dirty="0">
                <a:solidFill>
                  <a:schemeClr val="tx1"/>
                </a:solidFill>
              </a:rPr>
              <a:t>Jan heeft honger. Hij heeft nog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gegeten.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5  </a:t>
            </a:r>
            <a:r>
              <a:rPr lang="en-US" sz="1800" i="1" dirty="0">
                <a:solidFill>
                  <a:schemeClr val="tx1"/>
                </a:solidFill>
              </a:rPr>
              <a:t>Dat is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goed idee.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023872"/>
            <a:ext cx="5340096" cy="426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6  </a:t>
            </a:r>
            <a:r>
              <a:rPr lang="en-US" sz="1800" i="1" dirty="0">
                <a:solidFill>
                  <a:schemeClr val="tx1"/>
                </a:solidFill>
              </a:rPr>
              <a:t>Ik ken de nieuwe directeur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7  </a:t>
            </a:r>
            <a:r>
              <a:rPr lang="en-US" sz="1800" i="1" dirty="0">
                <a:solidFill>
                  <a:schemeClr val="tx1"/>
                </a:solidFill>
              </a:rPr>
              <a:t>Ik drink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alcohol.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8  </a:t>
            </a:r>
            <a:r>
              <a:rPr lang="en-US" sz="1800" i="1" dirty="0">
                <a:solidFill>
                  <a:schemeClr val="tx1"/>
                </a:solidFill>
              </a:rPr>
              <a:t>De koffie is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warm.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9  </a:t>
            </a:r>
            <a:r>
              <a:rPr lang="en-US" sz="1800" i="1" dirty="0">
                <a:solidFill>
                  <a:schemeClr val="tx1"/>
                </a:solidFill>
              </a:rPr>
              <a:t>Sofie is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Nederlandse, ze is Belgische.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10  </a:t>
            </a:r>
            <a:r>
              <a:rPr lang="en-US" sz="1800" i="1" dirty="0">
                <a:solidFill>
                  <a:schemeClr val="tx1"/>
                </a:solidFill>
              </a:rPr>
              <a:t>Ik heb vandaag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tijd.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Niet of geen?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niet ou geen.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23872"/>
            <a:ext cx="5340096" cy="426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1  </a:t>
            </a:r>
            <a:r>
              <a:rPr lang="en-US" sz="1800" i="1" dirty="0">
                <a:solidFill>
                  <a:schemeClr val="tx1"/>
                </a:solidFill>
              </a:rPr>
              <a:t>Mijn portefeuille is leeg. Ik heb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geld.</a:t>
            </a:r>
            <a:r>
              <a:rPr lang="en-US" sz="1800" b="1" dirty="0">
                <a:solidFill>
                  <a:schemeClr val="accent3"/>
                </a:solidFill>
              </a:rPr>
              <a:t> (Ø + nom)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2  </a:t>
            </a:r>
            <a:r>
              <a:rPr lang="en-US" sz="1800" i="1" dirty="0">
                <a:solidFill>
                  <a:schemeClr val="tx1"/>
                </a:solidFill>
              </a:rPr>
              <a:t>Je mag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op het gras lopen.</a:t>
            </a:r>
            <a:r>
              <a:rPr lang="en-US" sz="1800" b="1" dirty="0">
                <a:solidFill>
                  <a:schemeClr val="accent3"/>
                </a:solidFill>
              </a:rPr>
              <a:t> (préposition)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3  </a:t>
            </a:r>
            <a:r>
              <a:rPr lang="en-US" sz="1800" i="1" dirty="0">
                <a:solidFill>
                  <a:schemeClr val="tx1"/>
                </a:solidFill>
              </a:rPr>
              <a:t>Jeroen is moe. Hij wil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studeren.</a:t>
            </a:r>
            <a:r>
              <a:rPr lang="en-US" sz="1800" b="1" dirty="0">
                <a:solidFill>
                  <a:schemeClr val="accent3"/>
                </a:solidFill>
              </a:rPr>
              <a:t> (infinitif)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4  </a:t>
            </a:r>
            <a:r>
              <a:rPr lang="en-US" sz="1800" i="1" dirty="0">
                <a:solidFill>
                  <a:schemeClr val="tx1"/>
                </a:solidFill>
              </a:rPr>
              <a:t>Jan heeft honger. Hij heeft nog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gegeten.</a:t>
            </a:r>
            <a:r>
              <a:rPr lang="en-US" sz="1800" b="1" dirty="0">
                <a:solidFill>
                  <a:schemeClr val="accent3"/>
                </a:solidFill>
              </a:rPr>
              <a:t> (participe)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5  </a:t>
            </a:r>
            <a:r>
              <a:rPr lang="en-US" sz="1800" i="1" dirty="0">
                <a:solidFill>
                  <a:schemeClr val="tx1"/>
                </a:solidFill>
              </a:rPr>
              <a:t>Dat is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goed idee.</a:t>
            </a:r>
            <a:r>
              <a:rPr lang="en-US" sz="1800" b="1" dirty="0">
                <a:solidFill>
                  <a:schemeClr val="accent3"/>
                </a:solidFill>
              </a:rPr>
              <a:t> (een)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023872"/>
            <a:ext cx="5340096" cy="426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6  </a:t>
            </a:r>
            <a:r>
              <a:rPr lang="en-US" sz="1800" i="1" dirty="0">
                <a:solidFill>
                  <a:schemeClr val="tx1"/>
                </a:solidFill>
              </a:rPr>
              <a:t>Ik ken de nieuwe directeur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r>
              <a:rPr lang="en-US" sz="1800" b="1" dirty="0">
                <a:solidFill>
                  <a:schemeClr val="accent3"/>
                </a:solidFill>
              </a:rPr>
              <a:t> (de + nom)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7  </a:t>
            </a:r>
            <a:r>
              <a:rPr lang="en-US" sz="1800" i="1" dirty="0">
                <a:solidFill>
                  <a:schemeClr val="tx1"/>
                </a:solidFill>
              </a:rPr>
              <a:t>Ik drink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alcohol.</a:t>
            </a:r>
            <a:r>
              <a:rPr lang="en-US" sz="1800" b="1" dirty="0">
                <a:solidFill>
                  <a:schemeClr val="accent3"/>
                </a:solidFill>
              </a:rPr>
              <a:t> (Ø)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8  </a:t>
            </a:r>
            <a:r>
              <a:rPr lang="en-US" sz="1800" i="1" dirty="0">
                <a:solidFill>
                  <a:schemeClr val="tx1"/>
                </a:solidFill>
              </a:rPr>
              <a:t>De koffie is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warm.</a:t>
            </a:r>
            <a:r>
              <a:rPr lang="en-US" sz="1800" b="1" dirty="0">
                <a:solidFill>
                  <a:schemeClr val="accent3"/>
                </a:solidFill>
              </a:rPr>
              <a:t> (adjectif)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9  </a:t>
            </a:r>
            <a:r>
              <a:rPr lang="en-US" sz="1800" i="1" dirty="0">
                <a:solidFill>
                  <a:schemeClr val="tx1"/>
                </a:solidFill>
              </a:rPr>
              <a:t>Sofie is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Nederlandse, ze is Belgische.</a:t>
            </a:r>
            <a:r>
              <a:rPr lang="en-US" sz="1800" b="1" dirty="0">
                <a:solidFill>
                  <a:schemeClr val="accent3"/>
                </a:solidFill>
              </a:rPr>
              <a:t> (nationalité)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10  </a:t>
            </a:r>
            <a:r>
              <a:rPr lang="en-US" sz="1800" i="1" dirty="0">
                <a:solidFill>
                  <a:schemeClr val="tx1"/>
                </a:solidFill>
              </a:rPr>
              <a:t>Ik heb vandaag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tijd.</a:t>
            </a:r>
            <a:r>
              <a:rPr lang="en-US" sz="1800" b="1" dirty="0">
                <a:solidFill>
                  <a:schemeClr val="accent3"/>
                </a:solidFill>
              </a:rPr>
              <a:t> (Ø)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Dites le contraire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Mettez chaque phrase à la forme négative.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960120" y="196900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196900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een broer.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5486400" y="218655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172200" y="196900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960120" y="251383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97280" y="251383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werkt op maandag.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5486400" y="273138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172200" y="251383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960120" y="305866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97280" y="305866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kan vandaag komen.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5486400" y="327621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172200" y="305866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960120" y="360349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97280" y="360349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nemen de trein.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0" y="382104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172200" y="360349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4" name="Shape 30"/>
          <p:cNvSpPr/>
          <p:nvPr/>
        </p:nvSpPr>
        <p:spPr>
          <a:xfrm>
            <a:off x="960120" y="414832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97280" y="414832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spreek Duits.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5486400" y="436587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172200" y="414832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>
            <a:off x="960120" y="469315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97280" y="469315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Hij belt de klant op.</a:t>
            </a:r>
            <a:endParaRPr lang="en-US" sz="1800" dirty="0"/>
          </a:p>
        </p:txBody>
      </p:sp>
      <p:sp>
        <p:nvSpPr>
          <p:cNvPr id="42" name="Shape 38"/>
          <p:cNvSpPr/>
          <p:nvPr/>
        </p:nvSpPr>
        <p:spPr>
          <a:xfrm>
            <a:off x="5486400" y="491070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172200" y="469315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6" name="Shape 42"/>
          <p:cNvSpPr/>
          <p:nvPr/>
        </p:nvSpPr>
        <p:spPr>
          <a:xfrm>
            <a:off x="960120" y="523798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97280" y="523798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duur.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5486400" y="545553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172200" y="523798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2" name="Shape 48"/>
          <p:cNvSpPr/>
          <p:nvPr/>
        </p:nvSpPr>
        <p:spPr>
          <a:xfrm>
            <a:off x="960120" y="578281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1097280" y="578281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drink altijd koffie.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>
            <a:off x="5486400" y="600036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6172200" y="578281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Dites le contraire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Mettez chaque phrase à la forme négative.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960120" y="196900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97280" y="196900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een broer.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5486400" y="218655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172200" y="196900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309360" y="196900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</a:t>
            </a:r>
            <a:r>
              <a:rPr lang="en-US" sz="1800" b="1" i="1" dirty="0">
                <a:solidFill>
                  <a:schemeClr val="accent1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broer.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960120" y="251383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97280" y="251383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werkt op maandag.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5486400" y="273138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172200" y="251383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09360" y="251383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werkt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op maandag.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960120" y="305866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97280" y="305866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kan vandaag komen.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5486400" y="327621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172200" y="305866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309360" y="305866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kan vandaag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komen.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960120" y="360349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97280" y="360349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nemen de trein.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486400" y="382104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172200" y="360349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309360" y="360349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nemen de trein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9" name="Shape 35"/>
          <p:cNvSpPr/>
          <p:nvPr/>
        </p:nvSpPr>
        <p:spPr>
          <a:xfrm>
            <a:off x="960120" y="414832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97280" y="414832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spreek Duits.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486400" y="436587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172200" y="414832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309360" y="414832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spreek </a:t>
            </a:r>
            <a:r>
              <a:rPr lang="en-US" sz="1800" b="1" i="1" dirty="0">
                <a:solidFill>
                  <a:schemeClr val="accent1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Duits.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6" name="Shape 42"/>
          <p:cNvSpPr/>
          <p:nvPr/>
        </p:nvSpPr>
        <p:spPr>
          <a:xfrm>
            <a:off x="960120" y="469315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97280" y="469315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Hij belt de klant op.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5486400" y="491070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172200" y="469315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309360" y="469315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Hij belt de klant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op.</a:t>
            </a:r>
            <a:endParaRPr lang="en-US" sz="1800" dirty="0"/>
          </a:p>
        </p:txBody>
      </p:sp>
      <p:sp>
        <p:nvSpPr>
          <p:cNvPr id="51" name="Shape 47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3" name="Shape 49"/>
          <p:cNvSpPr/>
          <p:nvPr/>
        </p:nvSpPr>
        <p:spPr>
          <a:xfrm>
            <a:off x="960120" y="523798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1097280" y="523798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duur.</a:t>
            </a:r>
            <a:endParaRPr lang="en-US" sz="1800" dirty="0"/>
          </a:p>
        </p:txBody>
      </p:sp>
      <p:sp>
        <p:nvSpPr>
          <p:cNvPr id="55" name="Shape 51"/>
          <p:cNvSpPr/>
          <p:nvPr/>
        </p:nvSpPr>
        <p:spPr>
          <a:xfrm>
            <a:off x="5486400" y="545553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56" name="Shape 52"/>
          <p:cNvSpPr/>
          <p:nvPr/>
        </p:nvSpPr>
        <p:spPr>
          <a:xfrm>
            <a:off x="6172200" y="523798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6309360" y="523798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duur.</a:t>
            </a:r>
            <a:endParaRPr lang="en-US" sz="1800" dirty="0"/>
          </a:p>
        </p:txBody>
      </p:sp>
      <p:sp>
        <p:nvSpPr>
          <p:cNvPr id="58" name="Shape 54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60" name="Shape 56"/>
          <p:cNvSpPr/>
          <p:nvPr/>
        </p:nvSpPr>
        <p:spPr>
          <a:xfrm>
            <a:off x="960120" y="578281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1097280" y="578281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drink altijd koffie.</a:t>
            </a:r>
            <a:endParaRPr lang="en-US" sz="1800" dirty="0"/>
          </a:p>
        </p:txBody>
      </p:sp>
      <p:sp>
        <p:nvSpPr>
          <p:cNvPr id="62" name="Shape 58"/>
          <p:cNvSpPr/>
          <p:nvPr/>
        </p:nvSpPr>
        <p:spPr>
          <a:xfrm>
            <a:off x="5486400" y="600036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6172200" y="578281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6309360" y="578281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drink </a:t>
            </a:r>
            <a:r>
              <a:rPr lang="en-US" sz="1800" b="1" i="1" dirty="0">
                <a:solidFill>
                  <a:schemeClr val="tx2"/>
                </a:solidFill>
              </a:rPr>
              <a:t>nooit</a:t>
            </a:r>
            <a:r>
              <a:rPr lang="en-US" sz="1800" i="1" dirty="0">
                <a:solidFill>
                  <a:schemeClr val="tx1"/>
                </a:solidFill>
              </a:rPr>
              <a:t> koffie.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Où va niet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l’emplacement A, B ou C.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1097280" y="193243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11" name="tag"/>
          <p:cNvSpPr/>
          <p:nvPr/>
        </p:nvSpPr>
        <p:spPr>
          <a:xfrm>
            <a:off x="1773936" y="21219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96896" y="1932432"/>
            <a:ext cx="78638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kan</a:t>
            </a:r>
            <a:endParaRPr lang="en-US" sz="2200" dirty="0"/>
          </a:p>
        </p:txBody>
      </p:sp>
      <p:sp>
        <p:nvSpPr>
          <p:cNvPr id="13" name="tag"/>
          <p:cNvSpPr/>
          <p:nvPr/>
        </p:nvSpPr>
        <p:spPr>
          <a:xfrm>
            <a:off x="3429000" y="21219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251960" y="1932432"/>
            <a:ext cx="125272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morgen</a:t>
            </a:r>
            <a:endParaRPr lang="en-US" sz="2200" dirty="0"/>
          </a:p>
        </p:txBody>
      </p:sp>
      <p:sp>
        <p:nvSpPr>
          <p:cNvPr id="15" name="tag"/>
          <p:cNvSpPr/>
          <p:nvPr/>
        </p:nvSpPr>
        <p:spPr>
          <a:xfrm>
            <a:off x="5550408" y="21219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6373368" y="1932432"/>
            <a:ext cx="125272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komen.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1097280" y="265887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Sofie</a:t>
            </a:r>
            <a:endParaRPr lang="en-US" sz="2200" dirty="0"/>
          </a:p>
        </p:txBody>
      </p:sp>
      <p:sp>
        <p:nvSpPr>
          <p:cNvPr id="20" name="tag"/>
          <p:cNvSpPr/>
          <p:nvPr/>
        </p:nvSpPr>
        <p:spPr>
          <a:xfrm>
            <a:off x="2240280" y="284835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3063240" y="265887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ziet</a:t>
            </a:r>
            <a:endParaRPr lang="en-US" sz="2200" dirty="0"/>
          </a:p>
        </p:txBody>
      </p:sp>
      <p:sp>
        <p:nvSpPr>
          <p:cNvPr id="22" name="tag"/>
          <p:cNvSpPr/>
          <p:nvPr/>
        </p:nvSpPr>
        <p:spPr>
          <a:xfrm>
            <a:off x="4050792" y="284835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4873752" y="265887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klant</a:t>
            </a:r>
            <a:endParaRPr lang="en-US" sz="2200" dirty="0"/>
          </a:p>
        </p:txBody>
      </p:sp>
      <p:sp>
        <p:nvSpPr>
          <p:cNvPr id="24" name="tag"/>
          <p:cNvSpPr/>
          <p:nvPr/>
        </p:nvSpPr>
        <p:spPr>
          <a:xfrm>
            <a:off x="6483096" y="284835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7214616" y="2658872"/>
            <a:ext cx="27432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26" name="Shape 22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1097280" y="338531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We</a:t>
            </a:r>
            <a:endParaRPr lang="en-US" sz="2200" dirty="0"/>
          </a:p>
        </p:txBody>
      </p:sp>
      <p:sp>
        <p:nvSpPr>
          <p:cNvPr id="29" name="tag"/>
          <p:cNvSpPr/>
          <p:nvPr/>
        </p:nvSpPr>
        <p:spPr>
          <a:xfrm>
            <a:off x="1773936" y="357479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2596896" y="338531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gaan</a:t>
            </a:r>
            <a:endParaRPr lang="en-US" sz="2200" dirty="0"/>
          </a:p>
        </p:txBody>
      </p:sp>
      <p:sp>
        <p:nvSpPr>
          <p:cNvPr id="31" name="tag"/>
          <p:cNvSpPr/>
          <p:nvPr/>
        </p:nvSpPr>
        <p:spPr>
          <a:xfrm>
            <a:off x="3584448" y="357479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4407408" y="338531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naar</a:t>
            </a:r>
            <a:endParaRPr lang="en-US" sz="2200" dirty="0"/>
          </a:p>
        </p:txBody>
      </p:sp>
      <p:sp>
        <p:nvSpPr>
          <p:cNvPr id="33" name="tag"/>
          <p:cNvSpPr/>
          <p:nvPr/>
        </p:nvSpPr>
        <p:spPr>
          <a:xfrm>
            <a:off x="5394960" y="357479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6217920" y="338531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Gent.</a:t>
            </a:r>
            <a:endParaRPr lang="en-US" sz="2200" dirty="0"/>
          </a:p>
        </p:txBody>
      </p:sp>
      <p:sp>
        <p:nvSpPr>
          <p:cNvPr id="35" name="Shape 31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7" name="Text 33"/>
          <p:cNvSpPr txBox="1"/>
          <p:nvPr/>
        </p:nvSpPr>
        <p:spPr>
          <a:xfrm>
            <a:off x="1097280" y="411175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38" name="tag"/>
          <p:cNvSpPr/>
          <p:nvPr/>
        </p:nvSpPr>
        <p:spPr>
          <a:xfrm>
            <a:off x="1773936" y="430123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2596896" y="411175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neem</a:t>
            </a:r>
            <a:endParaRPr lang="en-US" sz="2200" dirty="0"/>
          </a:p>
        </p:txBody>
      </p:sp>
      <p:sp>
        <p:nvSpPr>
          <p:cNvPr id="40" name="tag"/>
          <p:cNvSpPr/>
          <p:nvPr/>
        </p:nvSpPr>
        <p:spPr>
          <a:xfrm>
            <a:off x="3584448" y="430123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41" name="Text 37"/>
          <p:cNvSpPr txBox="1"/>
          <p:nvPr/>
        </p:nvSpPr>
        <p:spPr>
          <a:xfrm>
            <a:off x="4407408" y="4111752"/>
            <a:ext cx="202996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mijn laptop</a:t>
            </a:r>
            <a:endParaRPr lang="en-US" sz="2200" dirty="0"/>
          </a:p>
        </p:txBody>
      </p:sp>
      <p:sp>
        <p:nvSpPr>
          <p:cNvPr id="42" name="tag"/>
          <p:cNvSpPr/>
          <p:nvPr/>
        </p:nvSpPr>
        <p:spPr>
          <a:xfrm>
            <a:off x="6483096" y="430123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43" name="Text 39"/>
          <p:cNvSpPr txBox="1"/>
          <p:nvPr/>
        </p:nvSpPr>
        <p:spPr>
          <a:xfrm>
            <a:off x="7306056" y="411175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mee.</a:t>
            </a:r>
            <a:endParaRPr lang="en-US" sz="2200" dirty="0"/>
          </a:p>
        </p:txBody>
      </p:sp>
      <p:sp>
        <p:nvSpPr>
          <p:cNvPr id="44" name="Shape 40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6" name="Text 42"/>
          <p:cNvSpPr txBox="1"/>
          <p:nvPr/>
        </p:nvSpPr>
        <p:spPr>
          <a:xfrm>
            <a:off x="1097280" y="4838192"/>
            <a:ext cx="249631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vergadering</a:t>
            </a:r>
            <a:endParaRPr lang="en-US" sz="2200" dirty="0"/>
          </a:p>
        </p:txBody>
      </p:sp>
      <p:sp>
        <p:nvSpPr>
          <p:cNvPr id="47" name="tag"/>
          <p:cNvSpPr/>
          <p:nvPr/>
        </p:nvSpPr>
        <p:spPr>
          <a:xfrm>
            <a:off x="3639312" y="502767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48" name="Text 44"/>
          <p:cNvSpPr txBox="1"/>
          <p:nvPr/>
        </p:nvSpPr>
        <p:spPr>
          <a:xfrm>
            <a:off x="4462272" y="483819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is</a:t>
            </a:r>
            <a:endParaRPr lang="en-US" sz="2200" dirty="0"/>
          </a:p>
        </p:txBody>
      </p:sp>
      <p:sp>
        <p:nvSpPr>
          <p:cNvPr id="49" name="tag"/>
          <p:cNvSpPr/>
          <p:nvPr/>
        </p:nvSpPr>
        <p:spPr>
          <a:xfrm>
            <a:off x="5138928" y="502767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50" name="Text 46"/>
          <p:cNvSpPr txBox="1"/>
          <p:nvPr/>
        </p:nvSpPr>
        <p:spPr>
          <a:xfrm>
            <a:off x="5961888" y="483819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lang</a:t>
            </a:r>
            <a:endParaRPr lang="en-US" sz="2200" dirty="0"/>
          </a:p>
        </p:txBody>
      </p:sp>
      <p:sp>
        <p:nvSpPr>
          <p:cNvPr id="51" name="tag"/>
          <p:cNvSpPr/>
          <p:nvPr/>
        </p:nvSpPr>
        <p:spPr>
          <a:xfrm>
            <a:off x="6949440" y="502767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52" name="Text 48"/>
          <p:cNvSpPr txBox="1"/>
          <p:nvPr/>
        </p:nvSpPr>
        <p:spPr>
          <a:xfrm>
            <a:off x="7680960" y="4838192"/>
            <a:ext cx="27432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53" name="Shape 4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5" name="Text 51"/>
          <p:cNvSpPr txBox="1"/>
          <p:nvPr/>
        </p:nvSpPr>
        <p:spPr>
          <a:xfrm>
            <a:off x="1097280" y="5564632"/>
            <a:ext cx="78638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Hij</a:t>
            </a:r>
            <a:endParaRPr lang="en-US" sz="2200" dirty="0"/>
          </a:p>
        </p:txBody>
      </p:sp>
      <p:sp>
        <p:nvSpPr>
          <p:cNvPr id="56" name="tag"/>
          <p:cNvSpPr/>
          <p:nvPr/>
        </p:nvSpPr>
        <p:spPr>
          <a:xfrm>
            <a:off x="1929384" y="57541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57" name="Text 53"/>
          <p:cNvSpPr txBox="1"/>
          <p:nvPr/>
        </p:nvSpPr>
        <p:spPr>
          <a:xfrm>
            <a:off x="2752344" y="556463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heeft</a:t>
            </a:r>
            <a:endParaRPr lang="en-US" sz="2200" dirty="0"/>
          </a:p>
        </p:txBody>
      </p:sp>
      <p:sp>
        <p:nvSpPr>
          <p:cNvPr id="58" name="tag"/>
          <p:cNvSpPr/>
          <p:nvPr/>
        </p:nvSpPr>
        <p:spPr>
          <a:xfrm>
            <a:off x="3895344" y="57541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59" name="Text 55"/>
          <p:cNvSpPr txBox="1"/>
          <p:nvPr/>
        </p:nvSpPr>
        <p:spPr>
          <a:xfrm>
            <a:off x="4718304" y="556463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gisteren</a:t>
            </a:r>
            <a:endParaRPr lang="en-US" sz="2200" dirty="0"/>
          </a:p>
        </p:txBody>
      </p:sp>
      <p:sp>
        <p:nvSpPr>
          <p:cNvPr id="60" name="tag"/>
          <p:cNvSpPr/>
          <p:nvPr/>
        </p:nvSpPr>
        <p:spPr>
          <a:xfrm>
            <a:off x="6327648" y="57541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61" name="Text 57"/>
          <p:cNvSpPr txBox="1"/>
          <p:nvPr/>
        </p:nvSpPr>
        <p:spPr>
          <a:xfrm>
            <a:off x="7150608" y="556463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gewerkt.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Où va niet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l’emplacement A, B ou C.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1097280" y="193243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1837944" y="1932432"/>
            <a:ext cx="78638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kan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2734056" y="1932432"/>
            <a:ext cx="125272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morgen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4032504" y="202133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032504" y="202133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4855464" y="1932432"/>
            <a:ext cx="125272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komen.</a:t>
            </a:r>
            <a:endParaRPr lang="en-US" sz="2200" dirty="0"/>
          </a:p>
        </p:txBody>
      </p:sp>
      <p:sp>
        <p:nvSpPr>
          <p:cNvPr id="17" name="tag"/>
          <p:cNvSpPr/>
          <p:nvPr/>
        </p:nvSpPr>
        <p:spPr>
          <a:xfrm>
            <a:off x="11064240" y="212191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1097280" y="265887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Sofie</a:t>
            </a:r>
            <a:endParaRPr lang="en-US" sz="2200" dirty="0"/>
          </a:p>
        </p:txBody>
      </p:sp>
      <p:sp>
        <p:nvSpPr>
          <p:cNvPr id="21" name="Text 17"/>
          <p:cNvSpPr txBox="1"/>
          <p:nvPr/>
        </p:nvSpPr>
        <p:spPr>
          <a:xfrm>
            <a:off x="2304288" y="265887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ziet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3355848" y="265887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klant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4965192" y="274777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965192" y="274777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25" name="Text 21"/>
          <p:cNvSpPr txBox="1"/>
          <p:nvPr/>
        </p:nvSpPr>
        <p:spPr>
          <a:xfrm>
            <a:off x="5696712" y="2658872"/>
            <a:ext cx="27432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26" name="tag"/>
          <p:cNvSpPr/>
          <p:nvPr/>
        </p:nvSpPr>
        <p:spPr>
          <a:xfrm>
            <a:off x="11064240" y="284835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1097280" y="338531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We</a:t>
            </a:r>
            <a:endParaRPr lang="en-US" sz="2200" dirty="0"/>
          </a:p>
        </p:txBody>
      </p:sp>
      <p:sp>
        <p:nvSpPr>
          <p:cNvPr id="30" name="Text 26"/>
          <p:cNvSpPr txBox="1"/>
          <p:nvPr/>
        </p:nvSpPr>
        <p:spPr>
          <a:xfrm>
            <a:off x="1837944" y="338531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gaan</a:t>
            </a:r>
            <a:endParaRPr lang="en-US" sz="2200" dirty="0"/>
          </a:p>
        </p:txBody>
      </p:sp>
      <p:sp>
        <p:nvSpPr>
          <p:cNvPr id="31" name="Shape 27"/>
          <p:cNvSpPr/>
          <p:nvPr/>
        </p:nvSpPr>
        <p:spPr>
          <a:xfrm>
            <a:off x="2825496" y="347421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2825496" y="347421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33" name="Text 29"/>
          <p:cNvSpPr txBox="1"/>
          <p:nvPr/>
        </p:nvSpPr>
        <p:spPr>
          <a:xfrm>
            <a:off x="3648456" y="338531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naar</a:t>
            </a:r>
            <a:endParaRPr lang="en-US" sz="2200" dirty="0"/>
          </a:p>
        </p:txBody>
      </p:sp>
      <p:sp>
        <p:nvSpPr>
          <p:cNvPr id="34" name="Text 30"/>
          <p:cNvSpPr txBox="1"/>
          <p:nvPr/>
        </p:nvSpPr>
        <p:spPr>
          <a:xfrm>
            <a:off x="4700016" y="338531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Gent.</a:t>
            </a:r>
            <a:endParaRPr lang="en-US" sz="2200" dirty="0"/>
          </a:p>
        </p:txBody>
      </p:sp>
      <p:sp>
        <p:nvSpPr>
          <p:cNvPr id="35" name="tag"/>
          <p:cNvSpPr/>
          <p:nvPr/>
        </p:nvSpPr>
        <p:spPr>
          <a:xfrm>
            <a:off x="11064240" y="357479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B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8" name="Text 34"/>
          <p:cNvSpPr txBox="1"/>
          <p:nvPr/>
        </p:nvSpPr>
        <p:spPr>
          <a:xfrm>
            <a:off x="1097280" y="411175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39" name="Text 35"/>
          <p:cNvSpPr txBox="1"/>
          <p:nvPr/>
        </p:nvSpPr>
        <p:spPr>
          <a:xfrm>
            <a:off x="1837944" y="411175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neem</a:t>
            </a:r>
            <a:endParaRPr lang="en-US" sz="2200" dirty="0"/>
          </a:p>
        </p:txBody>
      </p:sp>
      <p:sp>
        <p:nvSpPr>
          <p:cNvPr id="40" name="Text 36"/>
          <p:cNvSpPr txBox="1"/>
          <p:nvPr/>
        </p:nvSpPr>
        <p:spPr>
          <a:xfrm>
            <a:off x="2889504" y="4111752"/>
            <a:ext cx="202996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mijn laptop</a:t>
            </a:r>
            <a:endParaRPr lang="en-US" sz="2200" dirty="0"/>
          </a:p>
        </p:txBody>
      </p:sp>
      <p:sp>
        <p:nvSpPr>
          <p:cNvPr id="41" name="Shape 37"/>
          <p:cNvSpPr/>
          <p:nvPr/>
        </p:nvSpPr>
        <p:spPr>
          <a:xfrm>
            <a:off x="4965192" y="420065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4965192" y="420065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43" name="Text 39"/>
          <p:cNvSpPr txBox="1"/>
          <p:nvPr/>
        </p:nvSpPr>
        <p:spPr>
          <a:xfrm>
            <a:off x="5788152" y="411175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mee.</a:t>
            </a:r>
            <a:endParaRPr lang="en-US" sz="2200" dirty="0"/>
          </a:p>
        </p:txBody>
      </p:sp>
      <p:sp>
        <p:nvSpPr>
          <p:cNvPr id="44" name="tag"/>
          <p:cNvSpPr/>
          <p:nvPr/>
        </p:nvSpPr>
        <p:spPr>
          <a:xfrm>
            <a:off x="11064240" y="430123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7" name="Text 43"/>
          <p:cNvSpPr txBox="1"/>
          <p:nvPr/>
        </p:nvSpPr>
        <p:spPr>
          <a:xfrm>
            <a:off x="1097280" y="4838192"/>
            <a:ext cx="249631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vergadering</a:t>
            </a:r>
            <a:endParaRPr lang="en-US" sz="2200" dirty="0"/>
          </a:p>
        </p:txBody>
      </p:sp>
      <p:sp>
        <p:nvSpPr>
          <p:cNvPr id="48" name="Text 44"/>
          <p:cNvSpPr txBox="1"/>
          <p:nvPr/>
        </p:nvSpPr>
        <p:spPr>
          <a:xfrm>
            <a:off x="3703320" y="483819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is</a:t>
            </a:r>
            <a:endParaRPr lang="en-US" sz="2200" dirty="0"/>
          </a:p>
        </p:txBody>
      </p:sp>
      <p:sp>
        <p:nvSpPr>
          <p:cNvPr id="49" name="Shape 45"/>
          <p:cNvSpPr/>
          <p:nvPr/>
        </p:nvSpPr>
        <p:spPr>
          <a:xfrm>
            <a:off x="4379976" y="492709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4379976" y="492709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51" name="Text 47"/>
          <p:cNvSpPr txBox="1"/>
          <p:nvPr/>
        </p:nvSpPr>
        <p:spPr>
          <a:xfrm>
            <a:off x="5202936" y="483819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lang</a:t>
            </a:r>
            <a:endParaRPr lang="en-US" sz="2200" dirty="0"/>
          </a:p>
        </p:txBody>
      </p:sp>
      <p:sp>
        <p:nvSpPr>
          <p:cNvPr id="52" name="Text 48"/>
          <p:cNvSpPr txBox="1"/>
          <p:nvPr/>
        </p:nvSpPr>
        <p:spPr>
          <a:xfrm>
            <a:off x="6163056" y="4838192"/>
            <a:ext cx="27432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53" name="tag"/>
          <p:cNvSpPr/>
          <p:nvPr/>
        </p:nvSpPr>
        <p:spPr>
          <a:xfrm>
            <a:off x="11064240" y="502767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B</a:t>
            </a:r>
            <a:endParaRPr lang="en-US" sz="1300" dirty="0"/>
          </a:p>
        </p:txBody>
      </p:sp>
      <p:sp>
        <p:nvSpPr>
          <p:cNvPr id="54" name="Shape 5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6" name="Text 52"/>
          <p:cNvSpPr txBox="1"/>
          <p:nvPr/>
        </p:nvSpPr>
        <p:spPr>
          <a:xfrm>
            <a:off x="1097280" y="5564632"/>
            <a:ext cx="78638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Hij</a:t>
            </a:r>
            <a:endParaRPr lang="en-US" sz="2200" dirty="0"/>
          </a:p>
        </p:txBody>
      </p:sp>
      <p:sp>
        <p:nvSpPr>
          <p:cNvPr id="57" name="Text 53"/>
          <p:cNvSpPr txBox="1"/>
          <p:nvPr/>
        </p:nvSpPr>
        <p:spPr>
          <a:xfrm>
            <a:off x="1993392" y="556463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heeft</a:t>
            </a:r>
            <a:endParaRPr lang="en-US" sz="2200" dirty="0"/>
          </a:p>
        </p:txBody>
      </p:sp>
      <p:sp>
        <p:nvSpPr>
          <p:cNvPr id="58" name="Text 54"/>
          <p:cNvSpPr txBox="1"/>
          <p:nvPr/>
        </p:nvSpPr>
        <p:spPr>
          <a:xfrm>
            <a:off x="3200400" y="556463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gisteren</a:t>
            </a:r>
            <a:endParaRPr lang="en-US" sz="2200" dirty="0"/>
          </a:p>
        </p:txBody>
      </p:sp>
      <p:sp>
        <p:nvSpPr>
          <p:cNvPr id="59" name="Shape 55"/>
          <p:cNvSpPr/>
          <p:nvPr/>
        </p:nvSpPr>
        <p:spPr>
          <a:xfrm>
            <a:off x="4809744" y="565353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4809744" y="565353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61" name="Text 57"/>
          <p:cNvSpPr txBox="1"/>
          <p:nvPr/>
        </p:nvSpPr>
        <p:spPr>
          <a:xfrm>
            <a:off x="5632704" y="556463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gewerkt.</a:t>
            </a:r>
            <a:endParaRPr lang="en-US" sz="2200" dirty="0"/>
          </a:p>
        </p:txBody>
      </p:sp>
      <p:sp>
        <p:nvSpPr>
          <p:cNvPr id="62" name="tag"/>
          <p:cNvSpPr/>
          <p:nvPr/>
        </p:nvSpPr>
        <p:spPr>
          <a:xfrm>
            <a:off x="11064240" y="575411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Zoek iemand die…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7" name="Image 0" descr="hot bever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1691640"/>
            <a:ext cx="594360" cy="5943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…geen koffie drinkt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822960" y="288036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0" name="Shape 6"/>
          <p:cNvSpPr/>
          <p:nvPr/>
        </p:nvSpPr>
        <p:spPr>
          <a:xfrm>
            <a:off x="3063240" y="160020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citysca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691640"/>
            <a:ext cx="594360" cy="5943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154680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…niet in Brussel woont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3337560" y="288036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4" name="Shape 9"/>
          <p:cNvSpPr/>
          <p:nvPr/>
        </p:nvSpPr>
        <p:spPr>
          <a:xfrm>
            <a:off x="5577840" y="160020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2" descr="do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691640"/>
            <a:ext cx="594360" cy="59436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5669280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…geen huisdieren heeft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5852160" y="288036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8" name="Shape 12"/>
          <p:cNvSpPr/>
          <p:nvPr/>
        </p:nvSpPr>
        <p:spPr>
          <a:xfrm>
            <a:off x="548640" y="315468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3" descr="cook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7320" y="3246120"/>
            <a:ext cx="594360" cy="59436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640080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…niet graag kookt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822960" y="443484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2" name="Shape 15"/>
          <p:cNvSpPr/>
          <p:nvPr/>
        </p:nvSpPr>
        <p:spPr>
          <a:xfrm>
            <a:off x="3063240" y="315468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3" name="Image 4" descr="popcor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3246120"/>
            <a:ext cx="594360" cy="59436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3154680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…nooit naar de cinema gaat</a:t>
            </a:r>
            <a:endParaRPr lang="en-US" sz="1400" dirty="0"/>
          </a:p>
        </p:txBody>
      </p:sp>
      <p:sp>
        <p:nvSpPr>
          <p:cNvPr id="25" name="Shape 17"/>
          <p:cNvSpPr/>
          <p:nvPr/>
        </p:nvSpPr>
        <p:spPr>
          <a:xfrm>
            <a:off x="3337560" y="443484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6" name="Shape 18"/>
          <p:cNvSpPr/>
          <p:nvPr/>
        </p:nvSpPr>
        <p:spPr>
          <a:xfrm>
            <a:off x="5577840" y="315468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5" descr="speaking hea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6520" y="3246120"/>
            <a:ext cx="594360" cy="59436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5669280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…geen Engels spreekt</a:t>
            </a:r>
            <a:endParaRPr lang="en-US" sz="1400" dirty="0"/>
          </a:p>
        </p:txBody>
      </p:sp>
      <p:sp>
        <p:nvSpPr>
          <p:cNvPr id="29" name="Shape 20"/>
          <p:cNvSpPr/>
          <p:nvPr/>
        </p:nvSpPr>
        <p:spPr>
          <a:xfrm>
            <a:off x="5852160" y="443484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0" name="Shape 21"/>
          <p:cNvSpPr/>
          <p:nvPr/>
        </p:nvSpPr>
        <p:spPr>
          <a:xfrm>
            <a:off x="548640" y="470916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1" name="Image 6" descr="automobil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17320" y="4800600"/>
            <a:ext cx="594360" cy="59436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40080" y="5394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…niet met de auto komt</a:t>
            </a:r>
            <a:endParaRPr lang="en-US" sz="1400" dirty="0"/>
          </a:p>
        </p:txBody>
      </p:sp>
      <p:sp>
        <p:nvSpPr>
          <p:cNvPr id="33" name="Shape 23"/>
          <p:cNvSpPr/>
          <p:nvPr/>
        </p:nvSpPr>
        <p:spPr>
          <a:xfrm>
            <a:off x="822960" y="598932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4" name="Shape 24"/>
          <p:cNvSpPr/>
          <p:nvPr/>
        </p:nvSpPr>
        <p:spPr>
          <a:xfrm>
            <a:off x="3063240" y="470916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5" name="Image 7" descr="people huggi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31920" y="4800600"/>
            <a:ext cx="594360" cy="594360"/>
          </a:xfrm>
          <a:prstGeom prst="rect">
            <a:avLst/>
          </a:prstGeom>
        </p:spPr>
      </p:pic>
      <p:sp>
        <p:nvSpPr>
          <p:cNvPr id="36" name="Text 25"/>
          <p:cNvSpPr txBox="1"/>
          <p:nvPr/>
        </p:nvSpPr>
        <p:spPr>
          <a:xfrm>
            <a:off x="3154680" y="5394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…geen broers heeft</a:t>
            </a:r>
            <a:endParaRPr lang="en-US" sz="1400" dirty="0"/>
          </a:p>
        </p:txBody>
      </p:sp>
      <p:sp>
        <p:nvSpPr>
          <p:cNvPr id="37" name="Shape 26"/>
          <p:cNvSpPr/>
          <p:nvPr/>
        </p:nvSpPr>
        <p:spPr>
          <a:xfrm>
            <a:off x="3337560" y="598932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8" name="Shape 27"/>
          <p:cNvSpPr/>
          <p:nvPr/>
        </p:nvSpPr>
        <p:spPr>
          <a:xfrm>
            <a:off x="5577840" y="470916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9" name="Image 8" descr="person runni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6520" y="4800600"/>
            <a:ext cx="594360" cy="594360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5669280" y="5394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…niet sport</a:t>
            </a:r>
            <a:endParaRPr lang="en-US" sz="1400" dirty="0"/>
          </a:p>
        </p:txBody>
      </p:sp>
      <p:sp>
        <p:nvSpPr>
          <p:cNvPr id="41" name="Shape 29"/>
          <p:cNvSpPr/>
          <p:nvPr/>
        </p:nvSpPr>
        <p:spPr>
          <a:xfrm>
            <a:off x="5852160" y="598932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2" name="Text 30"/>
          <p:cNvSpPr txBox="1"/>
          <p:nvPr/>
        </p:nvSpPr>
        <p:spPr>
          <a:xfrm>
            <a:off x="8229600" y="1600200"/>
            <a:ext cx="3410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Zoek iemand die…</a:t>
            </a:r>
            <a:endParaRPr lang="en-US" sz="2400" dirty="0"/>
          </a:p>
        </p:txBody>
      </p:sp>
      <p:sp>
        <p:nvSpPr>
          <p:cNvPr id="43" name="Text 31"/>
          <p:cNvSpPr txBox="1"/>
          <p:nvPr/>
        </p:nvSpPr>
        <p:spPr>
          <a:xfrm>
            <a:off x="8229600" y="2240280"/>
            <a:ext cx="341071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Posez une question : </a:t>
            </a:r>
            <a:r>
              <a:rPr lang="en-US" sz="1600" i="1" dirty="0">
                <a:solidFill>
                  <a:schemeClr val="tx1"/>
                </a:solidFill>
              </a:rPr>
              <a:t>Drink je koffie?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Réponse négative ? Notez le prénom.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3 prénoms en ligne : </a:t>
            </a:r>
            <a:r>
              <a:rPr lang="en-US" sz="1600" i="1" dirty="0">
                <a:solidFill>
                  <a:schemeClr val="tx1"/>
                </a:solidFill>
              </a:rPr>
              <a:t>Bingo!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Exigez la phrase complète : </a:t>
            </a:r>
            <a:r>
              <a:rPr lang="en-US" sz="1600" i="1" dirty="0">
                <a:solidFill>
                  <a:schemeClr val="tx1"/>
                </a:solidFill>
              </a:rPr>
              <a:t>Nee, ik drink geen koffie.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Ahmed décrit son nouveau job.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Mijn nieuwe job — Ahmed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sinds maandag bij Peeters &amp; Co. </a:t>
            </a:r>
            <a:r>
              <a:rPr lang="en-US" sz="2000" i="1" dirty="0">
                <a:solidFill>
                  <a:schemeClr val="tx1"/>
                </a:solidFill>
              </a:rPr>
              <a:t>Ik ken niet de collega’s goed</a:t>
            </a:r>
            <a:r>
              <a:rPr lang="en-US" sz="2000" i="1" dirty="0">
                <a:solidFill>
                  <a:schemeClr val="tx1"/>
                </a:solidFill>
              </a:rPr>
              <a:t>. Ik heb </a:t>
            </a:r>
            <a:r>
              <a:rPr lang="en-US" sz="2000" i="1" dirty="0">
                <a:solidFill>
                  <a:schemeClr val="tx1"/>
                </a:solidFill>
              </a:rPr>
              <a:t>niet een</a:t>
            </a:r>
            <a:r>
              <a:rPr lang="en-US" sz="2000" i="1" dirty="0">
                <a:solidFill>
                  <a:schemeClr val="tx1"/>
                </a:solidFill>
              </a:rPr>
              <a:t> eigen bureau, maar dat is </a:t>
            </a:r>
            <a:r>
              <a:rPr lang="en-US" sz="2000" i="1" dirty="0">
                <a:solidFill>
                  <a:schemeClr val="tx1"/>
                </a:solidFill>
              </a:rPr>
              <a:t>niet een</a:t>
            </a:r>
            <a:r>
              <a:rPr lang="en-US" sz="2000" i="1" dirty="0">
                <a:solidFill>
                  <a:schemeClr val="tx1"/>
                </a:solidFill>
              </a:rPr>
              <a:t> probleem. </a:t>
            </a:r>
            <a:r>
              <a:rPr lang="en-US" sz="2000" i="1" dirty="0">
                <a:solidFill>
                  <a:schemeClr val="tx1"/>
                </a:solidFill>
              </a:rPr>
              <a:t>Ik mag parkeren niet in de garage</a:t>
            </a:r>
            <a:r>
              <a:rPr lang="en-US" sz="2000" i="1" dirty="0">
                <a:solidFill>
                  <a:schemeClr val="tx1"/>
                </a:solidFill>
              </a:rPr>
              <a:t>. Ik spreek nog niet goed Nederlands. Ik heb </a:t>
            </a:r>
            <a:r>
              <a:rPr lang="en-US" sz="2000" i="1" dirty="0">
                <a:solidFill>
                  <a:schemeClr val="tx1"/>
                </a:solidFill>
              </a:rPr>
              <a:t>niet een</a:t>
            </a:r>
            <a:r>
              <a:rPr lang="en-US" sz="2000" i="1" dirty="0">
                <a:solidFill>
                  <a:schemeClr val="tx1"/>
                </a:solidFill>
              </a:rPr>
              <a:t> auto, dus ik kom met de trein. Ik ben niet moe!</a:t>
            </a:r>
            <a:endParaRPr lang="en-US" sz="2000" dirty="0"/>
          </a:p>
        </p:txBody>
      </p:sp>
      <p:pic>
        <p:nvPicPr>
          <p:cNvPr id="12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Ahmed décrit son nouveau job.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Mijn nieuwe job — Ahmed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sinds maandag bij Peeters &amp; Co. </a:t>
            </a:r>
            <a:r>
              <a:rPr lang="en-US" sz="2000" i="1" strike="sngStrike" dirty="0">
                <a:solidFill>
                  <a:schemeClr val="accent6"/>
                </a:solidFill>
              </a:rPr>
              <a:t>Ik ken niet de collega’s goed</a:t>
            </a:r>
            <a:r>
              <a:rPr lang="en-US" sz="2000" b="1" i="1" dirty="0">
                <a:solidFill>
                  <a:schemeClr val="accent3"/>
                </a:solidFill>
              </a:rPr>
              <a:t> Ik ken de collega’s niet goed</a:t>
            </a:r>
            <a:r>
              <a:rPr lang="en-US" sz="2000" i="1" dirty="0">
                <a:solidFill>
                  <a:schemeClr val="tx1"/>
                </a:solidFill>
              </a:rPr>
              <a:t>. Ik heb </a:t>
            </a:r>
            <a:r>
              <a:rPr lang="en-US" sz="2000" i="1" strike="sngStrike" dirty="0">
                <a:solidFill>
                  <a:schemeClr val="accent6"/>
                </a:solidFill>
              </a:rPr>
              <a:t>niet een</a:t>
            </a:r>
            <a:r>
              <a:rPr lang="en-US" sz="2000" b="1" i="1" dirty="0">
                <a:solidFill>
                  <a:schemeClr val="accent3"/>
                </a:solidFill>
              </a:rPr>
              <a:t> geen</a:t>
            </a:r>
            <a:r>
              <a:rPr lang="en-US" sz="2000" i="1" dirty="0">
                <a:solidFill>
                  <a:schemeClr val="tx1"/>
                </a:solidFill>
              </a:rPr>
              <a:t> eigen bureau, maar dat is </a:t>
            </a:r>
            <a:r>
              <a:rPr lang="en-US" sz="2000" i="1" strike="sngStrike" dirty="0">
                <a:solidFill>
                  <a:schemeClr val="accent6"/>
                </a:solidFill>
              </a:rPr>
              <a:t>niet een</a:t>
            </a:r>
            <a:r>
              <a:rPr lang="en-US" sz="2000" b="1" i="1" dirty="0">
                <a:solidFill>
                  <a:schemeClr val="accent3"/>
                </a:solidFill>
              </a:rPr>
              <a:t> geen</a:t>
            </a:r>
            <a:r>
              <a:rPr lang="en-US" sz="2000" i="1" dirty="0">
                <a:solidFill>
                  <a:schemeClr val="tx1"/>
                </a:solidFill>
              </a:rPr>
              <a:t> probleem. </a:t>
            </a:r>
            <a:r>
              <a:rPr lang="en-US" sz="2000" i="1" strike="sngStrike" dirty="0">
                <a:solidFill>
                  <a:schemeClr val="accent6"/>
                </a:solidFill>
              </a:rPr>
              <a:t>Ik mag parkeren niet in de garage</a:t>
            </a:r>
            <a:r>
              <a:rPr lang="en-US" sz="2000" b="1" i="1" dirty="0">
                <a:solidFill>
                  <a:schemeClr val="accent3"/>
                </a:solidFill>
              </a:rPr>
              <a:t> Ik mag niet in de garage parkeren</a:t>
            </a:r>
            <a:r>
              <a:rPr lang="en-US" sz="2000" i="1" dirty="0">
                <a:solidFill>
                  <a:schemeClr val="tx1"/>
                </a:solidFill>
              </a:rPr>
              <a:t>. Ik spreek nog niet goed Nederlands. Ik heb </a:t>
            </a:r>
            <a:r>
              <a:rPr lang="en-US" sz="2000" i="1" strike="sngStrike" dirty="0">
                <a:solidFill>
                  <a:schemeClr val="accent6"/>
                </a:solidFill>
              </a:rPr>
              <a:t>niet een</a:t>
            </a:r>
            <a:r>
              <a:rPr lang="en-US" sz="2000" b="1" i="1" dirty="0">
                <a:solidFill>
                  <a:schemeClr val="accent3"/>
                </a:solidFill>
              </a:rPr>
              <a:t> geen</a:t>
            </a:r>
            <a:r>
              <a:rPr lang="en-US" sz="2000" i="1" dirty="0">
                <a:solidFill>
                  <a:schemeClr val="tx1"/>
                </a:solidFill>
              </a:rPr>
              <a:t> auto, dus ik kom met de trein. Ik ben niet moe!</a:t>
            </a:r>
            <a:endParaRPr lang="en-US" sz="2000" dirty="0"/>
          </a:p>
        </p:txBody>
      </p:sp>
      <p:pic>
        <p:nvPicPr>
          <p:cNvPr id="13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Ik spreek nog niet goed Nederlands · Ik ben niet moe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collègue grognon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3488436" cy="3026664"/>
          </a:xfrm>
          <a:prstGeom prst="roundRect">
            <a:avLst>
              <a:gd name="adj" fmla="val 2417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13232" y="1618488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13232" y="1618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325880" y="1572768"/>
            <a:ext cx="2574036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 grognon</a:t>
            </a:r>
            <a:r>
              <a:rPr lang="en-US" sz="1700" dirty="0">
                <a:solidFill>
                  <a:schemeClr val="tx1"/>
                </a:solidFill>
              </a:rPr>
              <a:t> : vous voyez tout en noir. Signalez 3 problèmes.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4311396" y="1481328"/>
            <a:ext cx="3488436" cy="3026664"/>
          </a:xfrm>
          <a:prstGeom prst="roundRect">
            <a:avLst>
              <a:gd name="adj" fmla="val 2417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475988" y="1618488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475988" y="1618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5088636" y="1572768"/>
            <a:ext cx="2574036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 positif</a:t>
            </a:r>
            <a:r>
              <a:rPr lang="en-US" sz="1700" dirty="0">
                <a:solidFill>
                  <a:schemeClr val="tx1"/>
                </a:solidFill>
              </a:rPr>
              <a:t> : proposez une solution à chaque fois.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Geen probleem! · Dat is niet erg. · Ik bel de technicus. · Je kunt mijn laptop gebruiken. · Jawel, er is nog koffie in de keuken!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074152" y="15544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LES PROBLÈMES</a:t>
            </a:r>
            <a:endParaRPr lang="en-US" sz="1200" dirty="0"/>
          </a:p>
        </p:txBody>
      </p:sp>
      <p:pic>
        <p:nvPicPr>
          <p:cNvPr id="19" name="Image 0" descr="hot bever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1312" y="1984248"/>
            <a:ext cx="548640" cy="54864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8897112" y="19385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Er is geen koffie meer.</a:t>
            </a:r>
            <a:endParaRPr lang="en-US" sz="1400" dirty="0"/>
          </a:p>
        </p:txBody>
      </p:sp>
      <p:pic>
        <p:nvPicPr>
          <p:cNvPr id="21" name="Image 1" descr="prin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1312" y="2694432"/>
            <a:ext cx="548640" cy="54864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897112" y="264871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De printer werkt niet.</a:t>
            </a:r>
            <a:endParaRPr lang="en-US" sz="1400" dirty="0"/>
          </a:p>
        </p:txBody>
      </p:sp>
      <p:pic>
        <p:nvPicPr>
          <p:cNvPr id="23" name="Image 2" descr="antenna ba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3404616"/>
            <a:ext cx="548640" cy="5486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8897112" y="335889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heb geen wifi.</a:t>
            </a:r>
            <a:endParaRPr lang="en-US" sz="1400" dirty="0"/>
          </a:p>
        </p:txBody>
      </p:sp>
      <p:pic>
        <p:nvPicPr>
          <p:cNvPr id="25" name="Image 3" descr="ke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1312" y="4114800"/>
            <a:ext cx="548640" cy="5486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897112" y="40690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vind mijn sleutel niet.</a:t>
            </a:r>
            <a:endParaRPr lang="en-US" sz="1400" dirty="0"/>
          </a:p>
        </p:txBody>
      </p:sp>
      <p:pic>
        <p:nvPicPr>
          <p:cNvPr id="27" name="Image 4" descr="doo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1312" y="4824984"/>
            <a:ext cx="548640" cy="54864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8897112" y="477926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De vergaderzaal is niet vrij.</a:t>
            </a:r>
            <a:endParaRPr lang="en-US" sz="1400" dirty="0"/>
          </a:p>
        </p:txBody>
      </p:sp>
      <p:pic>
        <p:nvPicPr>
          <p:cNvPr id="29" name="Image 5" descr="elevato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11312" y="5535168"/>
            <a:ext cx="548640" cy="54864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8897112" y="54894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De lift werkt niet.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niet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geen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Ik heb …… zin.</a:t>
            </a:r>
            <a:r>
              <a:rPr lang="en-US" sz="2000" dirty="0">
                <a:solidFill>
                  <a:schemeClr val="tx1"/>
                </a:solidFill>
              </a:rPr>
              <a:t> / </a:t>
            </a:r>
            <a:r>
              <a:rPr lang="en-US" sz="2000" i="1" dirty="0">
                <a:solidFill>
                  <a:schemeClr val="tx1"/>
                </a:solidFill>
              </a:rPr>
              <a:t>Ik ken die man ……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Forme négative : </a:t>
            </a:r>
            <a:r>
              <a:rPr lang="en-US" sz="2000" i="1" dirty="0">
                <a:solidFill>
                  <a:schemeClr val="tx1"/>
                </a:solidFill>
              </a:rPr>
              <a:t>Ik kan morgen komen.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Répondez « Si ! » : </a:t>
            </a:r>
            <a:r>
              <a:rPr lang="en-US" sz="2000" i="1" dirty="0">
                <a:solidFill>
                  <a:schemeClr val="tx1"/>
                </a:solidFill>
              </a:rPr>
              <a:t>Heb je geen tijd?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Placer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Répondre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Cube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Woordvorming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vergader + zaal = de vergaderzaal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13 — Niet of geen? — La négation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2026-10-06T17:53:42Z</dcterms:created>
  <dcterms:modified xsi:type="dcterms:W3CDTF">2026-10-06T17:53:42Z</dcterms:modified>
</cp:coreProperties>
</file>