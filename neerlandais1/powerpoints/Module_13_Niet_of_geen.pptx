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uverture" id="{7c2c1813-0e4d-4b73-ecdc-79721384bd01}">
          <p14:sldIdLst>
            <p14:sldId id="256"/>
          </p14:sldIdLst>
        </p14:section>
        <p14:section name="Découvrir" id="{e80af067-231e-4c6f-1aa4-8196c5f7f7ec}">
          <p14:sldIdLst>
            <p14:sldId id="257"/>
            <p14:sldId id="258"/>
          </p14:sldIdLst>
        </p14:section>
        <p14:section name="Comprendre" id="{628b3aa3-ae6e-ba58-e003-3b42443b31b1}">
          <p14:sldIdLst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JIJ NU ! — Oefeningen" id="{0a3c598e-ed82-c55c-e3cc-34f89642e865}">
          <p14:sldIdLst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</p14:sldIdLst>
        </p14:section>
        <p14:section name="Clôture" id="{e8eed038-6f3d-bb74-d325-0e1d216d2dba}">
          <p14:sldIdLst>
            <p14:sldId id="28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le thème avec deux phrases du quotidien.
Question d'entrée : « Pourquoi geen dans la 1re phrase et niet dans la 2e ? » Laissez émerger l'idée : geen va avec un nom.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Rendre les objectifs explicites.
La négation est partout : refuser poliment, dire qu'on n'a pas compris, signaler un problème au bureau.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Faire produire spontanément des phrases négatives et observer les erreurs.
Notez au tableau, sans corriger, les phrases produites. Elles serviront à la diapo 7 (Drink je koffie? → Nee, ik drink geen koffie).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Rendre visible le contraste structurel FR/NL.
niet een existe dans des cas d'insistance (niet één = pas un seul), mais pour une négation ordinaire on dit geen.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Fixer la formule de geen.
Lien M5 : geen remplace exactement een et l'article zéro (Ø). Avec une langue, Ik spreek geen Japans est la forme courante.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Identifier les cas où l'on emploie niet.
Exemples de l'archive repris (Ik ken Liesbeth niet, We vinden die film niet leuk, Ze leert haar les niet). Règle courte : niet nie tout ce qui n'est pas « un nom avec een ou sans article 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Décider en deux questions (tableau DÉFINIS / INDÉFINIS de l'archive, standardisé).
Les exemples sont ceux de l'archive, enfin lisibles. Reprenez les phrases notées à la diapo 3 et faites-les passer dans l'organigramme.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Placer niet correctement dans la phrase (règles de l'archive, simplifiées en 3).
Règle ② = la pince : niet se place juste avant la mâchoire droite. Ik heb niet gestudeerd annonce le M15. Les règles « imparfait » et « om … te » de l'archive sont réservées à Néerlandais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Visualiser la règle ② avec le schéma de la pince.
Faites le geste de la pince : niet « s'accroche » à la mâchoire droite. En Belgique, Ik moet vandaag niet werken = « je ne dois pas travailler aujourd'hui » (pas obligé, M12).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Utiliser les négations fréquentes au-delà de niet et geen.
niks est familier. nergens (nulle part) peut être ajouté pour les classes rapides. Correction de l'archive : Hij is nog geen 18 = il n'a pas encore 18 ans (geen + nombre = « moins de »). C'est une tournure à reconnaître, pas une règle générale.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Répondre à une question négative (contraste FR/NL : « si »).
En Belgique, on entend aussi Neen. « Si » n'existe pas en néerlandais : on dit jawel ou toch wel. Répondre Ja à une question négative est ambigu.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Corriger trois calques fréquents.
Le néerlandais standard n'accepte pas la double négation (niet niemand). honger, dorst, tijd, zin sont des noms : geen honger, geen tijd, geen zin.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Synthèse à photographier.
Référence pour les exercices.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la séquence d'exercices.
Exercice 1 en séance 1, les autres en séance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entre niet et geen (phrases illustrées de l'archive, corrigées et complétées).
Les phrases 1 à 4 viennent de l'archive (stappen devient lopen). La phrase « Deze jongen is geen 18 jaar » est retirée : voir la note de la diapo 10.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Choisir entre niet et geen (phrases illustrées de l'archive, corrigées et complétées).
Les phrases 1 à 4 viennent de l'archive (stappen devient lopen). La phrase « Deze jongen is geen 18 jaar » est retirée : voir la note de la diapo 10.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Transformer une phrase affirmative en négative (choix + place).
N° 8 : altijd (toujours) ↔ nooit (jamais). N° 2 : op maandag commence par une préposition (règle ③) ; Karim werkt op maandag niet est aussi accepté (ordre plus neutre).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Transformer une phrase affirmative en négative (choix + place).
N° 8 : altijd (toujours) ↔ nooit (jamais). N° 2 : op maandag commence par une préposition (règle ③) ; Karim werkt op maandag niet est aussi accepté (ordre plus neutre).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Placer niet dans une phrase donnée (choix entre plusieurs emplacements).
Faites justifier par la règle (① ② ③). N° 2 : Sofie ziet de klant niet. (fin, règle ①). N° 5 : niet lang (règle ③).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Placer niet dans une phrase donnée (choix entre plusieurs emplacements).
Faites justifier par la règle (① ② ③). N° 2 : Sofie ziet de klant niet. (fin, règle ①). N° 5 : niet lang (règle ③).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Produire des questions et des réponses négatives en circulant (pause active).
Les cases sont formulées en subordonnées (iemand die… drinkt, verbe à la fin, M9) : les apprenants n'ont qu'à les lire. Exigez la réponse complète : Nee, ik drink geen koffie.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Repérer les erreurs de négation dans un texte.
Leurres corrects : Ik spreek nog niet goed Nederlands et Ik ben niet moe. N° 4 : l'infinitif va au bout et niet se place devant la préposition (niet in de garage parkeren).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Repérer les erreurs de négation dans un texte.
Leurres corrects : Ik spreek nog niet goed Nederlands et Ik ben niet moe. N° 4 : l'infinitif va au bout et niet se place devant la préposition (niet in de garage parkeren).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Mise en situation : signaler des problèmes au bureau et y répondre.
Dat is niet erg = « ce n'est pas grave ». Faites remarquer le Jawel! de B : il contredit une phrase négative. Inversez les rôles.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Vérifier les 3 objectifs.
Réponses :
1. geen zin · niet.
2. Ik kan morgen niet komen.
3. Jawel! (Ik heb tijd.)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Néerlandais 1 · UE1 · Module 13 · Niet of geen?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DARK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Néerlandais 1 · UE1 · Module 13 · Niet of geen?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VER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263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Néerlandais 1 · UE1 · Langue en situation, en milieu professionnel · A. Jouniaux · IRAM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image" Target="../media/image-21-5.png"/><Relationship Id="rId6" Type="http://schemas.openxmlformats.org/officeDocument/2006/relationships/image" Target="../media/image-21-6.png"/><Relationship Id="rId7" Type="http://schemas.openxmlformats.org/officeDocument/2006/relationships/image" Target="../media/image-21-7.png"/><Relationship Id="rId8" Type="http://schemas.openxmlformats.org/officeDocument/2006/relationships/image" Target="../media/image-21-8.png"/><Relationship Id="rId9" Type="http://schemas.openxmlformats.org/officeDocument/2006/relationships/image" Target="../media/image-21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image" Target="../media/image-24-5.png"/><Relationship Id="rId6" Type="http://schemas.openxmlformats.org/officeDocument/2006/relationships/image" Target="../media/image-24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image" Target="../media/image-25-5.png"/><Relationship Id="rId6" Type="http://schemas.openxmlformats.org/officeDocument/2006/relationships/image" Target="../media/image-25-6.png"/><Relationship Id="rId7" Type="http://schemas.openxmlformats.org/officeDocument/2006/relationships/image" Target="../media/image-25-7.png"/><Relationship Id="rId8" Type="http://schemas.openxmlformats.org/officeDocument/2006/relationships/image" Target="../media/image-25-8.png"/><Relationship Id="rId9" Type="http://schemas.openxmlformats.org/officeDocument/2006/relationships/image" Target="../media/image-25-9.png"/><Relationship Id="rId10" Type="http://schemas.openxmlformats.org/officeDocument/2006/relationships/image" Target="../media/image-25-10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548640" y="640080"/>
            <a:ext cx="2128114" cy="384048"/>
          </a:xfrm>
          <a:prstGeom prst="roundRect">
            <a:avLst>
              <a:gd name="adj" fmla="val 1190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MODULE 13 / 32</a:t>
            </a:r>
            <a:endParaRPr lang="en-US" sz="1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</a:rPr>
              <a:t>Niet of geen?</a:t>
            </a: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2000" i="1" dirty="0">
                <a:solidFill>
                  <a:schemeClr val="bg2"/>
                </a:solidFill>
              </a:rPr>
              <a:t>La négation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Ik heb geen tijd. · Ik werk vandaag niet.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400800" y="1280160"/>
            <a:ext cx="5212080" cy="1874520"/>
          </a:xfrm>
          <a:prstGeom prst="roundRect">
            <a:avLst>
              <a:gd name="adj" fmla="val 1219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hourglass not do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29400" y="1600200"/>
            <a:ext cx="1234440" cy="12344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629400" y="1600200"/>
            <a:ext cx="1234440" cy="1234440"/>
          </a:xfrm>
          <a:prstGeom prst="line">
            <a:avLst/>
          </a:prstGeom>
          <a:noFill/>
          <a:ln w="63500">
            <a:solidFill>
              <a:srgbClr val="B83227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092440" y="1280160"/>
            <a:ext cx="342900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Ik heb </a:t>
            </a:r>
            <a:r>
              <a:rPr lang="en-US" sz="25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geen</a:t>
            </a:r>
            <a:r>
              <a:rPr lang="en-US" sz="25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tijd.</a:t>
            </a:r>
            <a:endParaRPr lang="en-US" sz="2500" dirty="0"/>
          </a:p>
        </p:txBody>
      </p:sp>
      <p:sp>
        <p:nvSpPr>
          <p:cNvPr id="9" name="Shape 6"/>
          <p:cNvSpPr/>
          <p:nvPr/>
        </p:nvSpPr>
        <p:spPr>
          <a:xfrm>
            <a:off x="6400800" y="3566160"/>
            <a:ext cx="5212080" cy="1874520"/>
          </a:xfrm>
          <a:prstGeom prst="roundRect">
            <a:avLst>
              <a:gd name="adj" fmla="val 1219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0" name="Image 1" descr="laptop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3886200"/>
            <a:ext cx="1234440" cy="123444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6629400" y="3886200"/>
            <a:ext cx="1234440" cy="1234440"/>
          </a:xfrm>
          <a:prstGeom prst="line">
            <a:avLst/>
          </a:prstGeom>
          <a:noFill/>
          <a:ln w="63500">
            <a:solidFill>
              <a:srgbClr val="B83227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8092440" y="3566160"/>
            <a:ext cx="342900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Ik werk vandaag </a:t>
            </a:r>
            <a:r>
              <a:rPr lang="en-US" sz="25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niet</a:t>
            </a:r>
            <a:r>
              <a:rPr lang="en-US" sz="25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.</a:t>
            </a:r>
            <a:endParaRPr lang="en-US" sz="2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Missie van vandaag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013155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MISSIE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524000" y="1874520"/>
            <a:ext cx="914400" cy="9144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BalanceSca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43456" y="2093976"/>
            <a:ext cx="475488" cy="47548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3152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Choisir</a:t>
            </a:r>
            <a:endParaRPr lang="en-US" sz="24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choisis entre </a:t>
            </a:r>
            <a:r>
              <a:rPr lang="en-US" sz="2000" i="1" dirty="0">
                <a:solidFill>
                  <a:schemeClr val="tx1"/>
                </a:solidFill>
              </a:rPr>
              <a:t>niet</a:t>
            </a:r>
            <a:r>
              <a:rPr lang="en-US" sz="2000" dirty="0">
                <a:solidFill>
                  <a:schemeClr val="tx1"/>
                </a:solidFill>
              </a:rPr>
              <a:t> et </a:t>
            </a:r>
            <a:r>
              <a:rPr lang="en-US" sz="2000" i="1" dirty="0">
                <a:solidFill>
                  <a:schemeClr val="tx1"/>
                </a:solidFill>
              </a:rPr>
              <a:t>geen</a:t>
            </a:r>
            <a:r>
              <a:rPr lang="en-US" sz="2000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368808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663440" y="1874520"/>
            <a:ext cx="914400" cy="91440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ArrowRigh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2093976"/>
            <a:ext cx="475488" cy="47548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87096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Placer</a:t>
            </a:r>
            <a:endParaRPr lang="en-US" sz="2400" dirty="0"/>
          </a:p>
        </p:txBody>
      </p:sp>
      <p:sp>
        <p:nvSpPr>
          <p:cNvPr id="14" name="Text 9"/>
          <p:cNvSpPr txBox="1"/>
          <p:nvPr/>
        </p:nvSpPr>
        <p:spPr>
          <a:xfrm>
            <a:off x="391668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place </a:t>
            </a:r>
            <a:r>
              <a:rPr lang="en-US" sz="2000" i="1" dirty="0">
                <a:solidFill>
                  <a:schemeClr val="tx1"/>
                </a:solidFill>
              </a:rPr>
              <a:t>niet</a:t>
            </a:r>
            <a:r>
              <a:rPr lang="en-US" sz="2000" dirty="0">
                <a:solidFill>
                  <a:schemeClr val="tx1"/>
                </a:solidFill>
              </a:rPr>
              <a:t> au bon endroit.</a:t>
            </a:r>
            <a:endParaRPr lang="en-US" sz="2000" dirty="0"/>
          </a:p>
        </p:txBody>
      </p:sp>
      <p:sp>
        <p:nvSpPr>
          <p:cNvPr id="15" name="Shape 10"/>
          <p:cNvSpPr/>
          <p:nvPr/>
        </p:nvSpPr>
        <p:spPr>
          <a:xfrm>
            <a:off x="682752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7802880" y="1874520"/>
            <a:ext cx="914400" cy="91440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2" descr="CommentDot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2336" y="2093976"/>
            <a:ext cx="475488" cy="47548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01040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Répondre</a:t>
            </a:r>
            <a:endParaRPr lang="en-US" sz="2400" dirty="0"/>
          </a:p>
        </p:txBody>
      </p:sp>
      <p:sp>
        <p:nvSpPr>
          <p:cNvPr id="19" name="Text 13"/>
          <p:cNvSpPr txBox="1"/>
          <p:nvPr/>
        </p:nvSpPr>
        <p:spPr>
          <a:xfrm>
            <a:off x="705612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dis </a:t>
            </a:r>
            <a:r>
              <a:rPr lang="en-US" sz="2000" i="1" dirty="0">
                <a:solidFill>
                  <a:schemeClr val="tx1"/>
                </a:solidFill>
              </a:rPr>
              <a:t>nooit, niets, niemand</a:t>
            </a:r>
            <a:r>
              <a:rPr lang="en-US" sz="2000" dirty="0">
                <a:solidFill>
                  <a:schemeClr val="tx1"/>
                </a:solidFill>
              </a:rPr>
              <a:t>… et je contredis avec </a:t>
            </a:r>
            <a:r>
              <a:rPr lang="en-US" sz="2000" i="1" dirty="0">
                <a:solidFill>
                  <a:schemeClr val="tx1"/>
                </a:solidFill>
              </a:rPr>
              <a:t>jawel!</a:t>
            </a:r>
            <a:endParaRPr lang="en-US" sz="2000" dirty="0"/>
          </a:p>
        </p:txBody>
      </p:sp>
      <p:pic>
        <p:nvPicPr>
          <p:cNvPr id="20" name="Image 3" descr="man teach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0" y="1737360"/>
            <a:ext cx="1737360" cy="1737360"/>
          </a:xfrm>
          <a:prstGeom prst="rect">
            <a:avLst/>
          </a:prstGeom>
        </p:spPr>
      </p:pic>
      <p:pic>
        <p:nvPicPr>
          <p:cNvPr id="21" name="Image 4" descr="speech ballo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1360" y="1463040"/>
            <a:ext cx="731520" cy="731520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548640" y="56692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9525">
            <a:solidFill>
              <a:srgbClr val="17375E"/>
            </a:solidFill>
            <a:prstDash val="solid"/>
          </a:ln>
        </p:spPr>
      </p:sp>
      <p:pic>
        <p:nvPicPr>
          <p:cNvPr id="23" name="Image 5" descr="Lightbulb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5788152"/>
            <a:ext cx="329184" cy="329184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188720" y="5669280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Refuser poliment, dire qu’on n’a pas compris, signaler un problème au bureau : la négation est partout.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Échauffement — Nee, ik…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70278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ÉCHAUFFEMENT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3520440" cy="1463040"/>
          </a:xfrm>
          <a:prstGeom prst="roundRect">
            <a:avLst>
              <a:gd name="adj" fmla="val 18750"/>
            </a:avLst>
          </a:prstGeom>
          <a:solidFill>
            <a:schemeClr val="accent2">
              <a:alpha val="12000"/>
            </a:schemeClr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6" name="Image 0" descr="automobi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965960"/>
            <a:ext cx="731520" cy="7315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600200" y="1600200"/>
            <a:ext cx="2377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Heb je een auto?</a:t>
            </a:r>
            <a:endParaRPr lang="en-US" sz="2000" dirty="0"/>
          </a:p>
        </p:txBody>
      </p:sp>
      <p:sp>
        <p:nvSpPr>
          <p:cNvPr id="8" name="Shape 4"/>
          <p:cNvSpPr/>
          <p:nvPr/>
        </p:nvSpPr>
        <p:spPr>
          <a:xfrm>
            <a:off x="4297680" y="1600200"/>
            <a:ext cx="3520440" cy="1463040"/>
          </a:xfrm>
          <a:prstGeom prst="roundRect">
            <a:avLst>
              <a:gd name="adj" fmla="val 18750"/>
            </a:avLst>
          </a:prstGeom>
          <a:solidFill>
            <a:schemeClr val="accent2">
              <a:alpha val="12000"/>
            </a:schemeClr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9" name="Image 1" descr="laptop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0560" y="1965960"/>
            <a:ext cx="731520" cy="73152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5349240" y="1600200"/>
            <a:ext cx="2377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Werk je vandaag?</a:t>
            </a:r>
            <a:endParaRPr lang="en-US" sz="2000" dirty="0"/>
          </a:p>
        </p:txBody>
      </p:sp>
      <p:sp>
        <p:nvSpPr>
          <p:cNvPr id="11" name="Shape 6"/>
          <p:cNvSpPr/>
          <p:nvPr/>
        </p:nvSpPr>
        <p:spPr>
          <a:xfrm>
            <a:off x="8046720" y="1600200"/>
            <a:ext cx="3520440" cy="1463040"/>
          </a:xfrm>
          <a:prstGeom prst="roundRect">
            <a:avLst>
              <a:gd name="adj" fmla="val 18750"/>
            </a:avLst>
          </a:prstGeom>
          <a:solidFill>
            <a:schemeClr val="accent2">
              <a:alpha val="12000"/>
            </a:schemeClr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12" name="Image 2" descr="hot beverag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1965960"/>
            <a:ext cx="731520" cy="731520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9098280" y="1600200"/>
            <a:ext cx="2377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Drink je koffie?</a:t>
            </a:r>
            <a:endParaRPr lang="en-US" sz="2000" dirty="0"/>
          </a:p>
        </p:txBody>
      </p:sp>
      <p:sp>
        <p:nvSpPr>
          <p:cNvPr id="14" name="Shape 8"/>
          <p:cNvSpPr/>
          <p:nvPr/>
        </p:nvSpPr>
        <p:spPr>
          <a:xfrm>
            <a:off x="548640" y="3291840"/>
            <a:ext cx="3520440" cy="1463040"/>
          </a:xfrm>
          <a:prstGeom prst="roundRect">
            <a:avLst>
              <a:gd name="adj" fmla="val 18750"/>
            </a:avLst>
          </a:prstGeom>
          <a:solidFill>
            <a:schemeClr val="accent2">
              <a:alpha val="12000"/>
            </a:schemeClr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15" name="Image 3" descr="speaking head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3657600"/>
            <a:ext cx="731520" cy="731520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1600200" y="3291840"/>
            <a:ext cx="2377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Spreek je Japans?</a:t>
            </a:r>
            <a:endParaRPr lang="en-US" sz="2000" dirty="0"/>
          </a:p>
        </p:txBody>
      </p:sp>
      <p:sp>
        <p:nvSpPr>
          <p:cNvPr id="17" name="Shape 10"/>
          <p:cNvSpPr/>
          <p:nvPr/>
        </p:nvSpPr>
        <p:spPr>
          <a:xfrm>
            <a:off x="4297680" y="3291840"/>
            <a:ext cx="3520440" cy="1463040"/>
          </a:xfrm>
          <a:prstGeom prst="roundRect">
            <a:avLst>
              <a:gd name="adj" fmla="val 18750"/>
            </a:avLst>
          </a:prstGeom>
          <a:solidFill>
            <a:schemeClr val="accent2">
              <a:alpha val="12000"/>
            </a:schemeClr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18" name="Image 4" descr="sleeping fac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80560" y="3657600"/>
            <a:ext cx="731520" cy="731520"/>
          </a:xfrm>
          <a:prstGeom prst="rect">
            <a:avLst/>
          </a:prstGeom>
        </p:spPr>
      </p:pic>
      <p:sp>
        <p:nvSpPr>
          <p:cNvPr id="19" name="Text 11"/>
          <p:cNvSpPr txBox="1"/>
          <p:nvPr/>
        </p:nvSpPr>
        <p:spPr>
          <a:xfrm>
            <a:off x="5349240" y="3291840"/>
            <a:ext cx="2377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Ben je moe?</a:t>
            </a:r>
            <a:endParaRPr lang="en-US" sz="2000" dirty="0"/>
          </a:p>
        </p:txBody>
      </p:sp>
      <p:sp>
        <p:nvSpPr>
          <p:cNvPr id="20" name="Shape 12"/>
          <p:cNvSpPr/>
          <p:nvPr/>
        </p:nvSpPr>
        <p:spPr>
          <a:xfrm>
            <a:off x="8046720" y="3291840"/>
            <a:ext cx="3520440" cy="1463040"/>
          </a:xfrm>
          <a:prstGeom prst="roundRect">
            <a:avLst>
              <a:gd name="adj" fmla="val 18750"/>
            </a:avLst>
          </a:prstGeom>
          <a:solidFill>
            <a:schemeClr val="accent2">
              <a:alpha val="12000"/>
            </a:schemeClr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21" name="Image 5" descr="hous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29600" y="3657600"/>
            <a:ext cx="731520" cy="731520"/>
          </a:xfrm>
          <a:prstGeom prst="rect">
            <a:avLst/>
          </a:prstGeom>
        </p:spPr>
      </p:pic>
      <p:sp>
        <p:nvSpPr>
          <p:cNvPr id="22" name="Text 13"/>
          <p:cNvSpPr txBox="1"/>
          <p:nvPr/>
        </p:nvSpPr>
        <p:spPr>
          <a:xfrm>
            <a:off x="9098280" y="3291840"/>
            <a:ext cx="2377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Woon je in Brussel?</a:t>
            </a:r>
            <a:endParaRPr lang="en-US" sz="2000" dirty="0"/>
          </a:p>
        </p:txBody>
      </p:sp>
      <p:sp>
        <p:nvSpPr>
          <p:cNvPr id="23" name="Shape 14"/>
          <p:cNvSpPr/>
          <p:nvPr/>
        </p:nvSpPr>
        <p:spPr>
          <a:xfrm>
            <a:off x="548640" y="5120640"/>
            <a:ext cx="11091672" cy="114300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4" name="Text 15"/>
          <p:cNvSpPr txBox="1"/>
          <p:nvPr/>
        </p:nvSpPr>
        <p:spPr>
          <a:xfrm>
            <a:off x="777240" y="5193792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MODÈLES</a:t>
            </a:r>
            <a:endParaRPr lang="en-US" sz="1200" dirty="0"/>
          </a:p>
        </p:txBody>
      </p:sp>
      <p:sp>
        <p:nvSpPr>
          <p:cNvPr id="25" name="Text 16"/>
          <p:cNvSpPr txBox="1"/>
          <p:nvPr/>
        </p:nvSpPr>
        <p:spPr>
          <a:xfrm>
            <a:off x="777240" y="5486400"/>
            <a:ext cx="10698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Nee, ik heb </a:t>
            </a:r>
            <a:r>
              <a:rPr lang="en-US" sz="2200" b="1" i="1" dirty="0">
                <a:solidFill>
                  <a:schemeClr val="accent1"/>
                </a:solidFill>
              </a:rPr>
              <a:t>geen</a:t>
            </a:r>
            <a:r>
              <a:rPr lang="en-US" sz="2200" i="1" dirty="0">
                <a:solidFill>
                  <a:schemeClr val="tx1"/>
                </a:solidFill>
              </a:rPr>
              <a:t> auto. · Nee, ik werk vandaag </a:t>
            </a:r>
            <a:r>
              <a:rPr lang="en-US" sz="2200" b="1" i="1" dirty="0">
                <a:solidFill>
                  <a:schemeClr val="tx2"/>
                </a:solidFill>
              </a:rPr>
              <a:t>niet</a:t>
            </a:r>
            <a:r>
              <a:rPr lang="en-US" sz="2200" i="1" dirty="0">
                <a:solidFill>
                  <a:schemeClr val="tx1"/>
                </a:solidFill>
              </a:rPr>
              <a:t>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2 mots en français, 1 en néerlandais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2148840"/>
          </a:xfrm>
          <a:prstGeom prst="roundRect">
            <a:avLst>
              <a:gd name="adj" fmla="val 3404"/>
            </a:avLst>
          </a:prstGeom>
          <a:solidFill>
            <a:schemeClr val="accent6">
              <a:alpha val="7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719072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057400"/>
            <a:ext cx="105430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« Je </a:t>
            </a:r>
            <a:r>
              <a:rPr lang="en-US" sz="2200" b="1" strike="sngStrike" dirty="0">
                <a:solidFill>
                  <a:schemeClr val="accent6"/>
                </a:solidFill>
              </a:rPr>
              <a:t>ne</a:t>
            </a:r>
            <a:r>
              <a:rPr lang="en-US" sz="2200" dirty="0">
                <a:solidFill>
                  <a:schemeClr val="tx1"/>
                </a:solidFill>
              </a:rPr>
              <a:t> travaille </a:t>
            </a:r>
            <a:r>
              <a:rPr lang="en-US" sz="2200" b="1" strike="sngStrike" dirty="0">
                <a:solidFill>
                  <a:schemeClr val="accent6"/>
                </a:solidFill>
              </a:rPr>
              <a:t>pas</a:t>
            </a:r>
            <a:r>
              <a:rPr lang="en-US" sz="2200" dirty="0">
                <a:solidFill>
                  <a:schemeClr val="tx1"/>
                </a:solidFill>
              </a:rPr>
              <a:t>. »  (2 mots qui encadrent le verbe)</a:t>
            </a:r>
            <a:endParaRPr lang="en-US" sz="2200" dirty="0"/>
          </a:p>
        </p:txBody>
      </p:sp>
      <p:pic>
        <p:nvPicPr>
          <p:cNvPr id="8" name="Image 0" descr="ArrowD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724912"/>
            <a:ext cx="237744" cy="237744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777240" y="2953512"/>
            <a:ext cx="10634472" cy="649224"/>
          </a:xfrm>
          <a:prstGeom prst="roundRect">
            <a:avLst>
              <a:gd name="adj" fmla="val 11268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914400" y="2953512"/>
            <a:ext cx="1036015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Ik werk </a:t>
            </a:r>
            <a:r>
              <a:rPr lang="en-US" sz="2200" b="1" i="1" dirty="0">
                <a:solidFill>
                  <a:schemeClr val="tx2"/>
                </a:solidFill>
              </a:rPr>
              <a:t>niet</a:t>
            </a:r>
            <a:r>
              <a:rPr lang="en-US" sz="2200" i="1" dirty="0">
                <a:solidFill>
                  <a:schemeClr val="tx1"/>
                </a:solidFill>
              </a:rPr>
              <a:t>.</a:t>
            </a:r>
            <a:r>
              <a:rPr lang="en-US" sz="2200" dirty="0">
                <a:solidFill>
                  <a:schemeClr val="tx1"/>
                </a:solidFill>
              </a:rPr>
              <a:t>  (1 seul mot, après le verbe)</a:t>
            </a:r>
            <a:endParaRPr lang="en-US" sz="2200" dirty="0"/>
          </a:p>
        </p:txBody>
      </p:sp>
      <p:sp>
        <p:nvSpPr>
          <p:cNvPr id="11" name="Shape 7"/>
          <p:cNvSpPr/>
          <p:nvPr/>
        </p:nvSpPr>
        <p:spPr>
          <a:xfrm>
            <a:off x="548640" y="3886200"/>
            <a:ext cx="11091672" cy="1828800"/>
          </a:xfrm>
          <a:prstGeom prst="roundRect">
            <a:avLst>
              <a:gd name="adj" fmla="val 4000"/>
            </a:avLst>
          </a:prstGeom>
          <a:solidFill>
            <a:schemeClr val="accent6">
              <a:alpha val="7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12" name="tag"/>
          <p:cNvSpPr/>
          <p:nvPr/>
        </p:nvSpPr>
        <p:spPr>
          <a:xfrm>
            <a:off x="731520" y="4050792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822960" y="4389120"/>
            <a:ext cx="10543032" cy="5257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« Je n’ai </a:t>
            </a:r>
            <a:r>
              <a:rPr lang="en-US" sz="2100" b="1" dirty="0">
                <a:solidFill>
                  <a:schemeClr val="tx1"/>
                </a:solidFill>
              </a:rPr>
              <a:t>pas de</a:t>
            </a:r>
            <a:r>
              <a:rPr lang="en-US" sz="2100" dirty="0">
                <a:solidFill>
                  <a:schemeClr val="tx1"/>
                </a:solidFill>
              </a:rPr>
              <a:t> voiture. » → </a:t>
            </a:r>
            <a:r>
              <a:rPr lang="en-US" sz="2100" i="1" strike="sngStrike" dirty="0">
                <a:solidFill>
                  <a:schemeClr val="accent6"/>
                </a:solidFill>
              </a:rPr>
              <a:t>Ik heb niet een auto.</a:t>
            </a:r>
            <a:endParaRPr lang="en-US" sz="2100" dirty="0"/>
          </a:p>
        </p:txBody>
      </p:sp>
      <p:pic>
        <p:nvPicPr>
          <p:cNvPr id="14" name="Image 1" descr="ArrowDow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4896612"/>
            <a:ext cx="237744" cy="237744"/>
          </a:xfrm>
          <a:prstGeom prst="rect">
            <a:avLst/>
          </a:prstGeom>
        </p:spPr>
      </p:pic>
      <p:sp>
        <p:nvSpPr>
          <p:cNvPr id="15" name="Shape 10"/>
          <p:cNvSpPr/>
          <p:nvPr/>
        </p:nvSpPr>
        <p:spPr>
          <a:xfrm>
            <a:off x="777240" y="5125212"/>
            <a:ext cx="10634472" cy="489204"/>
          </a:xfrm>
          <a:prstGeom prst="roundRect">
            <a:avLst>
              <a:gd name="adj" fmla="val 14953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914400" y="5125212"/>
            <a:ext cx="10360152" cy="4892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heb </a:t>
            </a:r>
            <a:r>
              <a:rPr lang="en-US" sz="2100" b="1" i="1" dirty="0">
                <a:solidFill>
                  <a:schemeClr val="accent1"/>
                </a:solidFill>
              </a:rPr>
              <a:t>geen</a:t>
            </a:r>
            <a:r>
              <a:rPr lang="en-US" sz="2100" i="1" dirty="0">
                <a:solidFill>
                  <a:schemeClr val="tx1"/>
                </a:solidFill>
              </a:rPr>
              <a:t> auto.</a:t>
            </a:r>
            <a:r>
              <a:rPr lang="en-US" sz="2100" dirty="0">
                <a:solidFill>
                  <a:schemeClr val="tx1"/>
                </a:solidFill>
              </a:rPr>
              <a:t>  — </a:t>
            </a:r>
            <a:r>
              <a:rPr lang="en-US" sz="2100" b="1" dirty="0">
                <a:solidFill>
                  <a:schemeClr val="tx1"/>
                </a:solidFill>
              </a:rPr>
              <a:t>pas de</a:t>
            </a:r>
            <a:r>
              <a:rPr lang="en-US" sz="2100" dirty="0">
                <a:solidFill>
                  <a:schemeClr val="tx1"/>
                </a:solidFill>
              </a:rPr>
              <a:t> + nom = </a:t>
            </a:r>
            <a:r>
              <a:rPr lang="en-US" sz="2100" i="1" dirty="0">
                <a:solidFill>
                  <a:schemeClr val="tx1"/>
                </a:solidFill>
              </a:rPr>
              <a:t>geen</a:t>
            </a:r>
            <a:endParaRPr lang="en-US" sz="2100" dirty="0"/>
          </a:p>
        </p:txBody>
      </p:sp>
      <p:sp>
        <p:nvSpPr>
          <p:cNvPr id="17" name="Text 12"/>
          <p:cNvSpPr txBox="1"/>
          <p:nvPr/>
        </p:nvSpPr>
        <p:spPr>
          <a:xfrm>
            <a:off x="548640" y="585216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niet één</a:t>
            </a:r>
            <a:r>
              <a:rPr lang="en-US" sz="1500" i="1" dirty="0">
                <a:solidFill>
                  <a:schemeClr val="accent5"/>
                </a:solidFill>
              </a:rPr>
              <a:t> (pas </a:t>
            </a:r>
            <a:r>
              <a:rPr lang="en-US" sz="1500" b="1" i="1" dirty="0">
                <a:solidFill>
                  <a:schemeClr val="accent5"/>
                </a:solidFill>
              </a:rPr>
              <a:t>un seul</a:t>
            </a:r>
            <a:r>
              <a:rPr lang="en-US" sz="1500" i="1" dirty="0">
                <a:solidFill>
                  <a:schemeClr val="accent5"/>
                </a:solidFill>
              </a:rPr>
              <a:t>) existe pour insister ; pour une négation ordinaire : </a:t>
            </a:r>
            <a:r>
              <a:rPr lang="en-US" sz="1500" i="1" dirty="0">
                <a:solidFill>
                  <a:schemeClr val="accent5"/>
                </a:solidFill>
              </a:rPr>
              <a:t>geen</a:t>
            </a:r>
            <a:r>
              <a:rPr lang="en-US" sz="1500" i="1" dirty="0">
                <a:solidFill>
                  <a:schemeClr val="accent5"/>
                </a:solidFill>
              </a:rPr>
              <a:t>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GEEN = niet + een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2377440" y="1554480"/>
            <a:ext cx="1737360" cy="777240"/>
          </a:xfrm>
          <a:prstGeom prst="roundRect">
            <a:avLst>
              <a:gd name="adj" fmla="val 17647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2377440" y="155448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niet</a:t>
            </a:r>
            <a:endParaRPr lang="en-US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4206240" y="155448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accent5"/>
                </a:solidFill>
              </a:rPr>
              <a:t>+</a:t>
            </a:r>
            <a:endParaRPr lang="en-US" sz="3200" dirty="0"/>
          </a:p>
        </p:txBody>
      </p:sp>
      <p:sp>
        <p:nvSpPr>
          <p:cNvPr id="8" name="Shape 5"/>
          <p:cNvSpPr/>
          <p:nvPr/>
        </p:nvSpPr>
        <p:spPr>
          <a:xfrm>
            <a:off x="4754880" y="1554480"/>
            <a:ext cx="1737360" cy="777240"/>
          </a:xfrm>
          <a:prstGeom prst="roundRect">
            <a:avLst>
              <a:gd name="adj" fmla="val 17647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754880" y="155448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een / Ø</a:t>
            </a:r>
            <a:endParaRPr lang="en-US" sz="2800" dirty="0"/>
          </a:p>
        </p:txBody>
      </p:sp>
      <p:sp>
        <p:nvSpPr>
          <p:cNvPr id="10" name="Text 7"/>
          <p:cNvSpPr txBox="1"/>
          <p:nvPr/>
        </p:nvSpPr>
        <p:spPr>
          <a:xfrm>
            <a:off x="6583680" y="155448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accent5"/>
                </a:solidFill>
              </a:rPr>
              <a:t>=</a:t>
            </a:r>
            <a:endParaRPr lang="en-US" sz="3200" dirty="0"/>
          </a:p>
        </p:txBody>
      </p:sp>
      <p:sp>
        <p:nvSpPr>
          <p:cNvPr id="11" name="Shape 8"/>
          <p:cNvSpPr/>
          <p:nvPr/>
        </p:nvSpPr>
        <p:spPr>
          <a:xfrm>
            <a:off x="7132320" y="1554480"/>
            <a:ext cx="2194560" cy="777240"/>
          </a:xfrm>
          <a:prstGeom prst="roundRect">
            <a:avLst>
              <a:gd name="adj" fmla="val 17647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132320" y="155448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GEEN</a:t>
            </a:r>
            <a:endParaRPr lang="en-US" sz="2800" dirty="0"/>
          </a:p>
        </p:txBody>
      </p:sp>
      <p:sp>
        <p:nvSpPr>
          <p:cNvPr id="13" name="Shape 10"/>
          <p:cNvSpPr/>
          <p:nvPr/>
        </p:nvSpPr>
        <p:spPr>
          <a:xfrm>
            <a:off x="548640" y="2606040"/>
            <a:ext cx="2377440" cy="603504"/>
          </a:xfrm>
          <a:prstGeom prst="roundRect">
            <a:avLst>
              <a:gd name="adj" fmla="val 12121"/>
            </a:avLst>
          </a:prstGeom>
          <a:solidFill>
            <a:schemeClr val="accent5">
              <a:alpha val="15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85800" y="2606040"/>
            <a:ext cx="2194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een + nom</a:t>
            </a:r>
            <a:endParaRPr lang="en-US" sz="1500" dirty="0"/>
          </a:p>
        </p:txBody>
      </p:sp>
      <p:pic>
        <p:nvPicPr>
          <p:cNvPr id="15" name="Image 0" descr="automobi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63240" y="2651760"/>
            <a:ext cx="512064" cy="512064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3703320" y="2606040"/>
            <a:ext cx="3474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heb een auto.</a:t>
            </a:r>
            <a:endParaRPr lang="en-US" sz="2000" dirty="0"/>
          </a:p>
        </p:txBody>
      </p:sp>
      <p:sp>
        <p:nvSpPr>
          <p:cNvPr id="17" name="Shape 13"/>
          <p:cNvSpPr/>
          <p:nvPr/>
        </p:nvSpPr>
        <p:spPr>
          <a:xfrm>
            <a:off x="7178040" y="2907792"/>
            <a:ext cx="64008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8" name="Text 14"/>
          <p:cNvSpPr txBox="1"/>
          <p:nvPr/>
        </p:nvSpPr>
        <p:spPr>
          <a:xfrm>
            <a:off x="7955280" y="2606040"/>
            <a:ext cx="3657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heb </a:t>
            </a:r>
            <a:r>
              <a:rPr lang="en-US" sz="2000" b="1" i="1" dirty="0">
                <a:solidFill>
                  <a:schemeClr val="accent1"/>
                </a:solidFill>
              </a:rPr>
              <a:t>geen</a:t>
            </a:r>
            <a:r>
              <a:rPr lang="en-US" sz="2000" i="1" dirty="0">
                <a:solidFill>
                  <a:schemeClr val="tx1"/>
                </a:solidFill>
              </a:rPr>
              <a:t> auto.</a:t>
            </a:r>
            <a:endParaRPr lang="en-US" sz="2000" dirty="0"/>
          </a:p>
        </p:txBody>
      </p:sp>
      <p:sp>
        <p:nvSpPr>
          <p:cNvPr id="19" name="Shape 15"/>
          <p:cNvSpPr/>
          <p:nvPr/>
        </p:nvSpPr>
        <p:spPr>
          <a:xfrm>
            <a:off x="548640" y="3337560"/>
            <a:ext cx="2377440" cy="603504"/>
          </a:xfrm>
          <a:prstGeom prst="roundRect">
            <a:avLst>
              <a:gd name="adj" fmla="val 12121"/>
            </a:avLst>
          </a:prstGeom>
          <a:solidFill>
            <a:schemeClr val="accent5">
              <a:alpha val="15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685800" y="3337560"/>
            <a:ext cx="2194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Ø + indénombrable</a:t>
            </a:r>
            <a:endParaRPr lang="en-US" sz="1500" dirty="0"/>
          </a:p>
        </p:txBody>
      </p:sp>
      <p:pic>
        <p:nvPicPr>
          <p:cNvPr id="21" name="Image 1" descr="hot beverag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3240" y="3383280"/>
            <a:ext cx="512064" cy="512064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3703320" y="3337560"/>
            <a:ext cx="3474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drink koffie.</a:t>
            </a:r>
            <a:endParaRPr lang="en-US" sz="2000" dirty="0"/>
          </a:p>
        </p:txBody>
      </p:sp>
      <p:sp>
        <p:nvSpPr>
          <p:cNvPr id="23" name="Shape 18"/>
          <p:cNvSpPr/>
          <p:nvPr/>
        </p:nvSpPr>
        <p:spPr>
          <a:xfrm>
            <a:off x="7178040" y="3639312"/>
            <a:ext cx="64008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4" name="Text 19"/>
          <p:cNvSpPr txBox="1"/>
          <p:nvPr/>
        </p:nvSpPr>
        <p:spPr>
          <a:xfrm>
            <a:off x="7955280" y="3337560"/>
            <a:ext cx="3657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drink </a:t>
            </a:r>
            <a:r>
              <a:rPr lang="en-US" sz="2000" b="1" i="1" dirty="0">
                <a:solidFill>
                  <a:schemeClr val="accent1"/>
                </a:solidFill>
              </a:rPr>
              <a:t>geen</a:t>
            </a:r>
            <a:r>
              <a:rPr lang="en-US" sz="2000" i="1" dirty="0">
                <a:solidFill>
                  <a:schemeClr val="tx1"/>
                </a:solidFill>
              </a:rPr>
              <a:t> koffie.</a:t>
            </a:r>
            <a:endParaRPr lang="en-US" sz="2000" dirty="0"/>
          </a:p>
        </p:txBody>
      </p:sp>
      <p:sp>
        <p:nvSpPr>
          <p:cNvPr id="25" name="Shape 20"/>
          <p:cNvSpPr/>
          <p:nvPr/>
        </p:nvSpPr>
        <p:spPr>
          <a:xfrm>
            <a:off x="548640" y="4069080"/>
            <a:ext cx="2377440" cy="603504"/>
          </a:xfrm>
          <a:prstGeom prst="roundRect">
            <a:avLst>
              <a:gd name="adj" fmla="val 12121"/>
            </a:avLst>
          </a:prstGeom>
          <a:solidFill>
            <a:schemeClr val="accent5">
              <a:alpha val="15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685800" y="4069080"/>
            <a:ext cx="2194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Ø + pluriel</a:t>
            </a:r>
            <a:endParaRPr lang="en-US" sz="1500" dirty="0"/>
          </a:p>
        </p:txBody>
      </p:sp>
      <p:pic>
        <p:nvPicPr>
          <p:cNvPr id="27" name="Image 2" descr="children crossi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63240" y="4114800"/>
            <a:ext cx="512064" cy="512064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3703320" y="4069080"/>
            <a:ext cx="3474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heb kinderen.</a:t>
            </a:r>
            <a:endParaRPr lang="en-US" sz="2000" dirty="0"/>
          </a:p>
        </p:txBody>
      </p:sp>
      <p:sp>
        <p:nvSpPr>
          <p:cNvPr id="29" name="Shape 23"/>
          <p:cNvSpPr/>
          <p:nvPr/>
        </p:nvSpPr>
        <p:spPr>
          <a:xfrm>
            <a:off x="7178040" y="4370832"/>
            <a:ext cx="64008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0" name="Text 24"/>
          <p:cNvSpPr txBox="1"/>
          <p:nvPr/>
        </p:nvSpPr>
        <p:spPr>
          <a:xfrm>
            <a:off x="7955280" y="4069080"/>
            <a:ext cx="3657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heb </a:t>
            </a:r>
            <a:r>
              <a:rPr lang="en-US" sz="2000" b="1" i="1" dirty="0">
                <a:solidFill>
                  <a:schemeClr val="accent1"/>
                </a:solidFill>
              </a:rPr>
              <a:t>geen</a:t>
            </a:r>
            <a:r>
              <a:rPr lang="en-US" sz="2000" i="1" dirty="0">
                <a:solidFill>
                  <a:schemeClr val="tx1"/>
                </a:solidFill>
              </a:rPr>
              <a:t> kinderen.</a:t>
            </a:r>
            <a:endParaRPr lang="en-US" sz="2000" dirty="0"/>
          </a:p>
        </p:txBody>
      </p:sp>
      <p:sp>
        <p:nvSpPr>
          <p:cNvPr id="31" name="Shape 25"/>
          <p:cNvSpPr/>
          <p:nvPr/>
        </p:nvSpPr>
        <p:spPr>
          <a:xfrm>
            <a:off x="548640" y="4800600"/>
            <a:ext cx="2377440" cy="603504"/>
          </a:xfrm>
          <a:prstGeom prst="roundRect">
            <a:avLst>
              <a:gd name="adj" fmla="val 12121"/>
            </a:avLst>
          </a:prstGeom>
          <a:solidFill>
            <a:schemeClr val="accent5">
              <a:alpha val="15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6"/>
          <p:cNvSpPr txBox="1"/>
          <p:nvPr/>
        </p:nvSpPr>
        <p:spPr>
          <a:xfrm>
            <a:off x="685800" y="4800600"/>
            <a:ext cx="2194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métier</a:t>
            </a:r>
            <a:endParaRPr lang="en-US" sz="1500" dirty="0"/>
          </a:p>
        </p:txBody>
      </p:sp>
      <p:pic>
        <p:nvPicPr>
          <p:cNvPr id="33" name="Image 3" descr="baguette bread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63240" y="4846320"/>
            <a:ext cx="512064" cy="512064"/>
          </a:xfrm>
          <a:prstGeom prst="rect">
            <a:avLst/>
          </a:prstGeom>
        </p:spPr>
      </p:pic>
      <p:sp>
        <p:nvSpPr>
          <p:cNvPr id="34" name="Text 27"/>
          <p:cNvSpPr txBox="1"/>
          <p:nvPr/>
        </p:nvSpPr>
        <p:spPr>
          <a:xfrm>
            <a:off x="3703320" y="4800600"/>
            <a:ext cx="3474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ben bakker.</a:t>
            </a:r>
            <a:endParaRPr lang="en-US" sz="2000" dirty="0"/>
          </a:p>
        </p:txBody>
      </p:sp>
      <p:sp>
        <p:nvSpPr>
          <p:cNvPr id="35" name="Shape 28"/>
          <p:cNvSpPr/>
          <p:nvPr/>
        </p:nvSpPr>
        <p:spPr>
          <a:xfrm>
            <a:off x="7178040" y="5102352"/>
            <a:ext cx="64008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6" name="Text 29"/>
          <p:cNvSpPr txBox="1"/>
          <p:nvPr/>
        </p:nvSpPr>
        <p:spPr>
          <a:xfrm>
            <a:off x="7955280" y="4800600"/>
            <a:ext cx="3657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ben </a:t>
            </a:r>
            <a:r>
              <a:rPr lang="en-US" sz="2000" b="1" i="1" dirty="0">
                <a:solidFill>
                  <a:schemeClr val="accent1"/>
                </a:solidFill>
              </a:rPr>
              <a:t>geen</a:t>
            </a:r>
            <a:r>
              <a:rPr lang="en-US" sz="2000" i="1" dirty="0">
                <a:solidFill>
                  <a:schemeClr val="tx1"/>
                </a:solidFill>
              </a:rPr>
              <a:t> bakker.</a:t>
            </a:r>
            <a:endParaRPr lang="en-US" sz="2000" dirty="0"/>
          </a:p>
        </p:txBody>
      </p:sp>
      <p:sp>
        <p:nvSpPr>
          <p:cNvPr id="37" name="Shape 30"/>
          <p:cNvSpPr/>
          <p:nvPr/>
        </p:nvSpPr>
        <p:spPr>
          <a:xfrm>
            <a:off x="548640" y="5532120"/>
            <a:ext cx="2377440" cy="603504"/>
          </a:xfrm>
          <a:prstGeom prst="roundRect">
            <a:avLst>
              <a:gd name="adj" fmla="val 12121"/>
            </a:avLst>
          </a:prstGeom>
          <a:solidFill>
            <a:schemeClr val="accent5">
              <a:alpha val="15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1"/>
          <p:cNvSpPr txBox="1"/>
          <p:nvPr/>
        </p:nvSpPr>
        <p:spPr>
          <a:xfrm>
            <a:off x="685800" y="5532120"/>
            <a:ext cx="2194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langue</a:t>
            </a:r>
            <a:endParaRPr lang="en-US" sz="1500" dirty="0"/>
          </a:p>
        </p:txBody>
      </p:sp>
      <p:pic>
        <p:nvPicPr>
          <p:cNvPr id="39" name="Image 4" descr="speaking head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63240" y="5577840"/>
            <a:ext cx="512064" cy="512064"/>
          </a:xfrm>
          <a:prstGeom prst="rect">
            <a:avLst/>
          </a:prstGeom>
        </p:spPr>
      </p:pic>
      <p:sp>
        <p:nvSpPr>
          <p:cNvPr id="40" name="Text 32"/>
          <p:cNvSpPr txBox="1"/>
          <p:nvPr/>
        </p:nvSpPr>
        <p:spPr>
          <a:xfrm>
            <a:off x="3703320" y="5532120"/>
            <a:ext cx="3474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spreek Japans.</a:t>
            </a:r>
            <a:endParaRPr lang="en-US" sz="2000" dirty="0"/>
          </a:p>
        </p:txBody>
      </p:sp>
      <p:sp>
        <p:nvSpPr>
          <p:cNvPr id="41" name="Shape 33"/>
          <p:cNvSpPr/>
          <p:nvPr/>
        </p:nvSpPr>
        <p:spPr>
          <a:xfrm>
            <a:off x="7178040" y="5833872"/>
            <a:ext cx="64008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2" name="Text 34"/>
          <p:cNvSpPr txBox="1"/>
          <p:nvPr/>
        </p:nvSpPr>
        <p:spPr>
          <a:xfrm>
            <a:off x="7955280" y="5532120"/>
            <a:ext cx="3657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spreek </a:t>
            </a:r>
            <a:r>
              <a:rPr lang="en-US" sz="2000" b="1" i="1" dirty="0">
                <a:solidFill>
                  <a:schemeClr val="accent1"/>
                </a:solidFill>
              </a:rPr>
              <a:t>geen</a:t>
            </a:r>
            <a:r>
              <a:rPr lang="en-US" sz="2000" i="1" dirty="0">
                <a:solidFill>
                  <a:schemeClr val="tx1"/>
                </a:solidFill>
              </a:rPr>
              <a:t> Japans.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NIET — partout ailleurs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3520440" cy="1874520"/>
          </a:xfrm>
          <a:prstGeom prst="roundRect">
            <a:avLst>
              <a:gd name="adj" fmla="val 3902"/>
            </a:avLst>
          </a:prstGeom>
          <a:solidFill>
            <a:schemeClr val="bg1"/>
          </a:solidFill>
          <a:ln w="254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600200"/>
            <a:ext cx="3520440" cy="54864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85800" y="1600200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un verbe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2240280"/>
            <a:ext cx="31546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werk </a:t>
            </a:r>
            <a:r>
              <a:rPr lang="en-US" sz="2000" b="1" i="1" dirty="0">
                <a:solidFill>
                  <a:schemeClr val="tx2"/>
                </a:solidFill>
              </a:rPr>
              <a:t>niet</a:t>
            </a:r>
            <a:r>
              <a:rPr lang="en-US" sz="2000" i="1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4297680" y="1600200"/>
            <a:ext cx="3520440" cy="1874520"/>
          </a:xfrm>
          <a:prstGeom prst="roundRect">
            <a:avLst>
              <a:gd name="adj" fmla="val 3902"/>
            </a:avLst>
          </a:prstGeom>
          <a:solidFill>
            <a:schemeClr val="bg1"/>
          </a:solidFill>
          <a:ln w="254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297680" y="1600200"/>
            <a:ext cx="3520440" cy="54864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434840" y="1600200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de / het / dit / mijn + nom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4480560" y="2240280"/>
            <a:ext cx="31546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ken </a:t>
            </a:r>
            <a:r>
              <a:rPr lang="en-US" sz="2000" i="1" u="sng" dirty="0">
                <a:solidFill>
                  <a:schemeClr val="tx1"/>
                </a:solidFill>
              </a:rPr>
              <a:t>de</a:t>
            </a:r>
            <a:r>
              <a:rPr lang="en-US" sz="2000" i="1" dirty="0">
                <a:solidFill>
                  <a:schemeClr val="tx1"/>
                </a:solidFill>
              </a:rPr>
              <a:t> klant </a:t>
            </a:r>
            <a:r>
              <a:rPr lang="en-US" sz="2000" b="1" i="1" dirty="0">
                <a:solidFill>
                  <a:schemeClr val="tx2"/>
                </a:solidFill>
              </a:rPr>
              <a:t>niet</a:t>
            </a:r>
            <a:r>
              <a:rPr lang="en-US" sz="2000" i="1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8046720" y="1600200"/>
            <a:ext cx="3520440" cy="1874520"/>
          </a:xfrm>
          <a:prstGeom prst="roundRect">
            <a:avLst>
              <a:gd name="adj" fmla="val 3902"/>
            </a:avLst>
          </a:prstGeom>
          <a:solidFill>
            <a:schemeClr val="bg1"/>
          </a:solidFill>
          <a:ln w="254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8046720" y="1600200"/>
            <a:ext cx="3520440" cy="54864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183880" y="1600200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un prénom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8229600" y="2240280"/>
            <a:ext cx="31546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ken </a:t>
            </a:r>
            <a:r>
              <a:rPr lang="en-US" sz="2000" i="1" u="sng" dirty="0">
                <a:solidFill>
                  <a:schemeClr val="tx1"/>
                </a:solidFill>
              </a:rPr>
              <a:t>Liesbeth</a:t>
            </a:r>
            <a:r>
              <a:rPr lang="en-US" sz="2000" i="1" dirty="0">
                <a:solidFill>
                  <a:schemeClr val="tx1"/>
                </a:solidFill>
              </a:rPr>
              <a:t> </a:t>
            </a:r>
            <a:r>
              <a:rPr lang="en-US" sz="2000" b="1" i="1" dirty="0">
                <a:solidFill>
                  <a:schemeClr val="tx2"/>
                </a:solidFill>
              </a:rPr>
              <a:t>niet</a:t>
            </a:r>
            <a:r>
              <a:rPr lang="en-US" sz="2000" i="1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17" name="Shape 14"/>
          <p:cNvSpPr/>
          <p:nvPr/>
        </p:nvSpPr>
        <p:spPr>
          <a:xfrm>
            <a:off x="2423160" y="3703320"/>
            <a:ext cx="3520440" cy="1874520"/>
          </a:xfrm>
          <a:prstGeom prst="roundRect">
            <a:avLst>
              <a:gd name="adj" fmla="val 3902"/>
            </a:avLst>
          </a:prstGeom>
          <a:solidFill>
            <a:schemeClr val="bg1"/>
          </a:solidFill>
          <a:ln w="254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2423160" y="3703320"/>
            <a:ext cx="3520440" cy="54864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2560320" y="3703320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un adjectif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2606040" y="4343400"/>
            <a:ext cx="31546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De film is </a:t>
            </a:r>
            <a:r>
              <a:rPr lang="en-US" sz="2000" b="1" i="1" dirty="0">
                <a:solidFill>
                  <a:schemeClr val="tx2"/>
                </a:solidFill>
              </a:rPr>
              <a:t>niet</a:t>
            </a:r>
            <a:r>
              <a:rPr lang="en-US" sz="2000" i="1" dirty="0">
                <a:solidFill>
                  <a:schemeClr val="tx1"/>
                </a:solidFill>
              </a:rPr>
              <a:t> </a:t>
            </a:r>
            <a:r>
              <a:rPr lang="en-US" sz="2000" i="1" u="sng" dirty="0">
                <a:solidFill>
                  <a:schemeClr val="tx1"/>
                </a:solidFill>
              </a:rPr>
              <a:t>leuk</a:t>
            </a:r>
            <a:r>
              <a:rPr lang="en-US" sz="2000" i="1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21" name="Shape 18"/>
          <p:cNvSpPr/>
          <p:nvPr/>
        </p:nvSpPr>
        <p:spPr>
          <a:xfrm>
            <a:off x="6172200" y="3703320"/>
            <a:ext cx="3520440" cy="1874520"/>
          </a:xfrm>
          <a:prstGeom prst="roundRect">
            <a:avLst>
              <a:gd name="adj" fmla="val 3902"/>
            </a:avLst>
          </a:prstGeom>
          <a:solidFill>
            <a:schemeClr val="bg1"/>
          </a:solidFill>
          <a:ln w="254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6172200" y="3703320"/>
            <a:ext cx="3520440" cy="54864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309360" y="3703320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un adverbe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6355080" y="4343400"/>
            <a:ext cx="31546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werk </a:t>
            </a:r>
            <a:r>
              <a:rPr lang="en-US" sz="2000" b="1" i="1" dirty="0">
                <a:solidFill>
                  <a:schemeClr val="tx2"/>
                </a:solidFill>
              </a:rPr>
              <a:t>niet</a:t>
            </a:r>
            <a:r>
              <a:rPr lang="en-US" sz="2000" i="1" dirty="0">
                <a:solidFill>
                  <a:schemeClr val="tx1"/>
                </a:solidFill>
              </a:rPr>
              <a:t> </a:t>
            </a:r>
            <a:r>
              <a:rPr lang="en-US" sz="2000" i="1" u="sng" dirty="0">
                <a:solidFill>
                  <a:schemeClr val="tx1"/>
                </a:solidFill>
              </a:rPr>
              <a:t>graag</a:t>
            </a:r>
            <a:r>
              <a:rPr lang="en-US" sz="2000" i="1" dirty="0">
                <a:solidFill>
                  <a:schemeClr val="tx1"/>
                </a:solidFill>
              </a:rPr>
              <a:t> in het weekend.</a:t>
            </a:r>
            <a:endParaRPr lang="en-US" sz="2000" dirty="0"/>
          </a:p>
        </p:txBody>
      </p:sp>
      <p:sp>
        <p:nvSpPr>
          <p:cNvPr id="25" name="Shape 22"/>
          <p:cNvSpPr/>
          <p:nvPr/>
        </p:nvSpPr>
        <p:spPr>
          <a:xfrm>
            <a:off x="548640" y="5760720"/>
            <a:ext cx="11091672" cy="502920"/>
          </a:xfrm>
          <a:prstGeom prst="roundRect">
            <a:avLst>
              <a:gd name="adj" fmla="val 1454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22960" y="576072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Règle courte : </a:t>
            </a:r>
            <a:r>
              <a:rPr lang="en-US" sz="1800" i="1" dirty="0">
                <a:solidFill>
                  <a:schemeClr val="bg1"/>
                </a:solidFill>
              </a:rPr>
              <a:t>niet</a:t>
            </a:r>
            <a:r>
              <a:rPr lang="en-US" sz="1800" dirty="0">
                <a:solidFill>
                  <a:schemeClr val="bg1"/>
                </a:solidFill>
              </a:rPr>
              <a:t> nie tout ce qui n’est pas « un nom avec </a:t>
            </a:r>
            <a:r>
              <a:rPr lang="en-US" sz="1800" i="1" dirty="0">
                <a:solidFill>
                  <a:schemeClr val="bg1"/>
                </a:solidFill>
              </a:rPr>
              <a:t>een</a:t>
            </a:r>
            <a:r>
              <a:rPr lang="en-US" sz="1800" dirty="0">
                <a:solidFill>
                  <a:schemeClr val="bg1"/>
                </a:solidFill>
              </a:rPr>
              <a:t> ou sans article ».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L’organigramme niet / geen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658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À RETENIR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3566160" y="1554480"/>
            <a:ext cx="5029200" cy="1051560"/>
          </a:xfrm>
          <a:prstGeom prst="diamond">
            <a:avLst/>
          </a:prstGeom>
          <a:solidFill>
            <a:srgbClr val="EEF3F8"/>
          </a:solidFill>
          <a:ln w="19050">
            <a:solidFill>
              <a:srgbClr val="17375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B2333"/>
                </a:solidFill>
              </a:rPr>
              <a:t>Je nie un nom ?</a:t>
            </a:r>
            <a:endParaRPr lang="en-US" sz="1700" dirty="0"/>
          </a:p>
        </p:txBody>
      </p:sp>
      <p:sp>
        <p:nvSpPr>
          <p:cNvPr id="6" name="Shape 3"/>
          <p:cNvSpPr/>
          <p:nvPr/>
        </p:nvSpPr>
        <p:spPr>
          <a:xfrm>
            <a:off x="8613648" y="2075688"/>
            <a:ext cx="804672" cy="91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7" name="Text 4"/>
          <p:cNvSpPr txBox="1"/>
          <p:nvPr/>
        </p:nvSpPr>
        <p:spPr>
          <a:xfrm>
            <a:off x="8686800" y="169164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NON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9464040" y="1645920"/>
            <a:ext cx="2176272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9464040" y="1645920"/>
            <a:ext cx="21762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niet</a:t>
            </a:r>
            <a:endParaRPr lang="en-US" sz="2800" dirty="0"/>
          </a:p>
        </p:txBody>
      </p:sp>
      <p:sp>
        <p:nvSpPr>
          <p:cNvPr id="10" name="Shape 7"/>
          <p:cNvSpPr/>
          <p:nvPr/>
        </p:nvSpPr>
        <p:spPr>
          <a:xfrm>
            <a:off x="6080760" y="2624328"/>
            <a:ext cx="914" cy="393192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1" name="Text 8"/>
          <p:cNvSpPr txBox="1"/>
          <p:nvPr/>
        </p:nvSpPr>
        <p:spPr>
          <a:xfrm>
            <a:off x="6172200" y="267004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OUI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3566160" y="3017520"/>
            <a:ext cx="5029200" cy="1051560"/>
          </a:xfrm>
          <a:prstGeom prst="diamond">
            <a:avLst/>
          </a:prstGeom>
          <a:solidFill>
            <a:srgbClr val="EEF3F8"/>
          </a:solidFill>
          <a:ln w="19050">
            <a:solidFill>
              <a:srgbClr val="17375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B2333"/>
                </a:solidFill>
              </a:rPr>
              <a:t>Le nom a een… ou pas d’article ?</a:t>
            </a:r>
            <a:endParaRPr lang="en-US" sz="1700" dirty="0"/>
          </a:p>
        </p:txBody>
      </p:sp>
      <p:sp>
        <p:nvSpPr>
          <p:cNvPr id="13" name="Shape 10"/>
          <p:cNvSpPr/>
          <p:nvPr/>
        </p:nvSpPr>
        <p:spPr>
          <a:xfrm flipH="1">
            <a:off x="2743200" y="3538728"/>
            <a:ext cx="804672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4" name="Text 11"/>
          <p:cNvSpPr txBox="1"/>
          <p:nvPr/>
        </p:nvSpPr>
        <p:spPr>
          <a:xfrm>
            <a:off x="2788920" y="31546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OUI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48640" y="3108960"/>
            <a:ext cx="2176272" cy="868680"/>
          </a:xfrm>
          <a:prstGeom prst="roundRect">
            <a:avLst>
              <a:gd name="adj" fmla="val 8421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48640" y="3108960"/>
            <a:ext cx="21762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GEEN</a:t>
            </a:r>
            <a:endParaRPr lang="en-US" sz="2800" dirty="0"/>
          </a:p>
        </p:txBody>
      </p:sp>
      <p:sp>
        <p:nvSpPr>
          <p:cNvPr id="17" name="Shape 14"/>
          <p:cNvSpPr/>
          <p:nvPr/>
        </p:nvSpPr>
        <p:spPr>
          <a:xfrm>
            <a:off x="8613648" y="3538728"/>
            <a:ext cx="804672" cy="91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18" name="Text 15"/>
          <p:cNvSpPr txBox="1"/>
          <p:nvPr/>
        </p:nvSpPr>
        <p:spPr>
          <a:xfrm>
            <a:off x="8686800" y="31546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NON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9464040" y="3108960"/>
            <a:ext cx="2176272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464040" y="3108960"/>
            <a:ext cx="21762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niet</a:t>
            </a:r>
            <a:endParaRPr lang="en-US" sz="2800" dirty="0"/>
          </a:p>
        </p:txBody>
      </p:sp>
      <p:sp>
        <p:nvSpPr>
          <p:cNvPr id="21" name="Text 18"/>
          <p:cNvSpPr txBox="1"/>
          <p:nvPr/>
        </p:nvSpPr>
        <p:spPr>
          <a:xfrm>
            <a:off x="9464040" y="4005072"/>
            <a:ext cx="2176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de, het, dit, die, mijn…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48640" y="4526280"/>
            <a:ext cx="128016" cy="475488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822960" y="4526280"/>
            <a:ext cx="10789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Dat is </a:t>
            </a:r>
            <a:r>
              <a:rPr lang="en-US" sz="1800" b="1" i="1" dirty="0">
                <a:solidFill>
                  <a:schemeClr val="accent1"/>
                </a:solidFill>
              </a:rPr>
              <a:t>geen</a:t>
            </a:r>
            <a:r>
              <a:rPr lang="en-US" sz="1800" i="1" dirty="0">
                <a:solidFill>
                  <a:schemeClr val="tx1"/>
                </a:solidFill>
              </a:rPr>
              <a:t> boek. · We eten </a:t>
            </a:r>
            <a:r>
              <a:rPr lang="en-US" sz="1800" b="1" i="1" dirty="0">
                <a:solidFill>
                  <a:schemeClr val="accent1"/>
                </a:solidFill>
              </a:rPr>
              <a:t>geen</a:t>
            </a:r>
            <a:r>
              <a:rPr lang="en-US" sz="1800" i="1" dirty="0">
                <a:solidFill>
                  <a:schemeClr val="tx1"/>
                </a:solidFill>
              </a:rPr>
              <a:t> brood.</a:t>
            </a:r>
            <a:endParaRPr lang="en-US" sz="1800" dirty="0"/>
          </a:p>
        </p:txBody>
      </p:sp>
      <p:sp>
        <p:nvSpPr>
          <p:cNvPr id="24" name="Shape 21"/>
          <p:cNvSpPr/>
          <p:nvPr/>
        </p:nvSpPr>
        <p:spPr>
          <a:xfrm>
            <a:off x="548640" y="5120640"/>
            <a:ext cx="128016" cy="475488"/>
          </a:xfrm>
          <a:prstGeom prst="rect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822960" y="5120640"/>
            <a:ext cx="10789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heb de Belgische nationaliteit </a:t>
            </a:r>
            <a:r>
              <a:rPr lang="en-US" sz="1800" b="1" i="1" dirty="0">
                <a:solidFill>
                  <a:schemeClr val="tx2"/>
                </a:solidFill>
              </a:rPr>
              <a:t>niet</a:t>
            </a:r>
            <a:r>
              <a:rPr lang="en-US" sz="1800" i="1" dirty="0">
                <a:solidFill>
                  <a:schemeClr val="tx1"/>
                </a:solidFill>
              </a:rPr>
              <a:t>. · We vinden die film </a:t>
            </a:r>
            <a:r>
              <a:rPr lang="en-US" sz="1800" b="1" i="1" dirty="0">
                <a:solidFill>
                  <a:schemeClr val="tx2"/>
                </a:solidFill>
              </a:rPr>
              <a:t>niet</a:t>
            </a:r>
            <a:r>
              <a:rPr lang="en-US" sz="1800" i="1" dirty="0">
                <a:solidFill>
                  <a:schemeClr val="tx1"/>
                </a:solidFill>
              </a:rPr>
              <a:t> leuk.</a:t>
            </a:r>
            <a:endParaRPr lang="en-US" sz="1800" dirty="0"/>
          </a:p>
        </p:txBody>
      </p:sp>
      <p:sp>
        <p:nvSpPr>
          <p:cNvPr id="26" name="Shape 23"/>
          <p:cNvSpPr/>
          <p:nvPr/>
        </p:nvSpPr>
        <p:spPr>
          <a:xfrm>
            <a:off x="548640" y="5715000"/>
            <a:ext cx="128016" cy="475488"/>
          </a:xfrm>
          <a:prstGeom prst="rect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822960" y="5715000"/>
            <a:ext cx="10789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werk </a:t>
            </a:r>
            <a:r>
              <a:rPr lang="en-US" sz="1800" b="1" i="1" dirty="0">
                <a:solidFill>
                  <a:schemeClr val="tx2"/>
                </a:solidFill>
              </a:rPr>
              <a:t>niet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Où placer niet ? Trois règles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72768"/>
            <a:ext cx="11091672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85800" y="1709928"/>
            <a:ext cx="457200" cy="45720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85800" y="17099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1280160" y="1645920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À la fin de la phrase simple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1280160" y="2212848"/>
            <a:ext cx="549372" cy="594360"/>
          </a:xfrm>
          <a:prstGeom prst="roundRect">
            <a:avLst>
              <a:gd name="adj" fmla="val 13316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280160" y="2212848"/>
            <a:ext cx="54937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Ik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1884396" y="2212848"/>
            <a:ext cx="677753" cy="594360"/>
          </a:xfrm>
          <a:prstGeom prst="roundRect">
            <a:avLst>
              <a:gd name="adj" fmla="val 12308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1884396" y="2212848"/>
            <a:ext cx="677753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6"/>
                </a:solidFill>
              </a:rPr>
              <a:t>ken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2617013" y="2212848"/>
            <a:ext cx="1319662" cy="594360"/>
          </a:xfrm>
          <a:prstGeom prst="roundRect">
            <a:avLst>
              <a:gd name="adj" fmla="val 12308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617013" y="2212848"/>
            <a:ext cx="131966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Liesbeth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3991539" y="2212848"/>
            <a:ext cx="934517" cy="594360"/>
          </a:xfrm>
          <a:prstGeom prst="roundRect">
            <a:avLst>
              <a:gd name="adj" fmla="val 12308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991539" y="2212848"/>
            <a:ext cx="93451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niet.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6492240" y="2212848"/>
            <a:ext cx="549372" cy="594360"/>
          </a:xfrm>
          <a:prstGeom prst="roundRect">
            <a:avLst>
              <a:gd name="adj" fmla="val 13316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492240" y="2212848"/>
            <a:ext cx="54937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Ik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7096476" y="2212848"/>
            <a:ext cx="677753" cy="594360"/>
          </a:xfrm>
          <a:prstGeom prst="roundRect">
            <a:avLst>
              <a:gd name="adj" fmla="val 12308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096476" y="2212848"/>
            <a:ext cx="677753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6"/>
                </a:solidFill>
              </a:rPr>
              <a:t>zie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7829093" y="2212848"/>
            <a:ext cx="2346716" cy="594360"/>
          </a:xfrm>
          <a:prstGeom prst="roundRect">
            <a:avLst>
              <a:gd name="adj" fmla="val 12308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7829093" y="2212848"/>
            <a:ext cx="23467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de klant vandaag</a:t>
            </a:r>
            <a:endParaRPr lang="en-US" sz="1800" dirty="0"/>
          </a:p>
        </p:txBody>
      </p:sp>
      <p:sp>
        <p:nvSpPr>
          <p:cNvPr id="23" name="Shape 20"/>
          <p:cNvSpPr/>
          <p:nvPr/>
        </p:nvSpPr>
        <p:spPr>
          <a:xfrm>
            <a:off x="10230673" y="2212848"/>
            <a:ext cx="934517" cy="594360"/>
          </a:xfrm>
          <a:prstGeom prst="roundRect">
            <a:avLst>
              <a:gd name="adj" fmla="val 12308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10230673" y="2212848"/>
            <a:ext cx="93451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niet.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548640" y="3054096"/>
            <a:ext cx="11091672" cy="1371600"/>
          </a:xfrm>
          <a:prstGeom prst="roundRect">
            <a:avLst>
              <a:gd name="adj" fmla="val 5333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685800" y="3191256"/>
            <a:ext cx="457200" cy="45720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85800" y="31912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1280160" y="3127248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Devant le 2e élément verbal</a:t>
            </a:r>
            <a:endParaRPr lang="en-US" sz="1700" dirty="0"/>
          </a:p>
        </p:txBody>
      </p:sp>
      <p:sp>
        <p:nvSpPr>
          <p:cNvPr id="29" name="Shape 26"/>
          <p:cNvSpPr/>
          <p:nvPr/>
        </p:nvSpPr>
        <p:spPr>
          <a:xfrm>
            <a:off x="1280160" y="3694176"/>
            <a:ext cx="549372" cy="594360"/>
          </a:xfrm>
          <a:prstGeom prst="roundRect">
            <a:avLst>
              <a:gd name="adj" fmla="val 13316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1280160" y="3694176"/>
            <a:ext cx="54937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Ik</a:t>
            </a:r>
            <a:endParaRPr lang="en-US" sz="1800" dirty="0"/>
          </a:p>
        </p:txBody>
      </p:sp>
      <p:sp>
        <p:nvSpPr>
          <p:cNvPr id="31" name="Shape 28"/>
          <p:cNvSpPr/>
          <p:nvPr/>
        </p:nvSpPr>
        <p:spPr>
          <a:xfrm>
            <a:off x="1884396" y="3694176"/>
            <a:ext cx="677753" cy="594360"/>
          </a:xfrm>
          <a:prstGeom prst="roundRect">
            <a:avLst>
              <a:gd name="adj" fmla="val 12308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1884396" y="3694176"/>
            <a:ext cx="677753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6"/>
                </a:solidFill>
              </a:rPr>
              <a:t>kan</a:t>
            </a:r>
            <a:endParaRPr lang="en-US" sz="1800" dirty="0"/>
          </a:p>
        </p:txBody>
      </p:sp>
      <p:sp>
        <p:nvSpPr>
          <p:cNvPr id="33" name="Shape 30"/>
          <p:cNvSpPr/>
          <p:nvPr/>
        </p:nvSpPr>
        <p:spPr>
          <a:xfrm>
            <a:off x="2617013" y="3694176"/>
            <a:ext cx="806135" cy="594360"/>
          </a:xfrm>
          <a:prstGeom prst="roundRect">
            <a:avLst>
              <a:gd name="adj" fmla="val 12308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2617013" y="3694176"/>
            <a:ext cx="8061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niet</a:t>
            </a:r>
            <a:endParaRPr lang="en-US" sz="1800" dirty="0"/>
          </a:p>
        </p:txBody>
      </p:sp>
      <p:sp>
        <p:nvSpPr>
          <p:cNvPr id="35" name="Shape 32"/>
          <p:cNvSpPr/>
          <p:nvPr/>
        </p:nvSpPr>
        <p:spPr>
          <a:xfrm>
            <a:off x="3478012" y="3694176"/>
            <a:ext cx="1062899" cy="594360"/>
          </a:xfrm>
          <a:prstGeom prst="roundRect">
            <a:avLst>
              <a:gd name="adj" fmla="val 12308"/>
            </a:avLst>
          </a:prstGeom>
          <a:solidFill>
            <a:srgbClr val="FBEDEB"/>
          </a:solidFill>
          <a:ln w="25400">
            <a:solidFill>
              <a:srgbClr val="B83227"/>
            </a:solidFill>
            <a:prstDash val="dash"/>
          </a:ln>
        </p:spPr>
      </p:sp>
      <p:sp>
        <p:nvSpPr>
          <p:cNvPr id="36" name="Text 33"/>
          <p:cNvSpPr txBox="1"/>
          <p:nvPr/>
        </p:nvSpPr>
        <p:spPr>
          <a:xfrm>
            <a:off x="3478012" y="3694176"/>
            <a:ext cx="106289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6"/>
                </a:solidFill>
              </a:rPr>
              <a:t>komen.</a:t>
            </a:r>
            <a:endParaRPr lang="en-US" sz="1800" dirty="0"/>
          </a:p>
        </p:txBody>
      </p:sp>
      <p:sp>
        <p:nvSpPr>
          <p:cNvPr id="37" name="Shape 34"/>
          <p:cNvSpPr/>
          <p:nvPr/>
        </p:nvSpPr>
        <p:spPr>
          <a:xfrm>
            <a:off x="6492240" y="3694176"/>
            <a:ext cx="677753" cy="594360"/>
          </a:xfrm>
          <a:prstGeom prst="roundRect">
            <a:avLst>
              <a:gd name="adj" fmla="val 12308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6492240" y="3694176"/>
            <a:ext cx="677753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Hij</a:t>
            </a:r>
            <a:endParaRPr lang="en-US" sz="1800" dirty="0"/>
          </a:p>
        </p:txBody>
      </p:sp>
      <p:sp>
        <p:nvSpPr>
          <p:cNvPr id="39" name="Shape 36"/>
          <p:cNvSpPr/>
          <p:nvPr/>
        </p:nvSpPr>
        <p:spPr>
          <a:xfrm>
            <a:off x="7224857" y="3694176"/>
            <a:ext cx="677753" cy="594360"/>
          </a:xfrm>
          <a:prstGeom prst="roundRect">
            <a:avLst>
              <a:gd name="adj" fmla="val 12308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7224857" y="3694176"/>
            <a:ext cx="677753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6"/>
                </a:solidFill>
              </a:rPr>
              <a:t>eet</a:t>
            </a:r>
            <a:endParaRPr lang="en-US" sz="1800" dirty="0"/>
          </a:p>
        </p:txBody>
      </p:sp>
      <p:sp>
        <p:nvSpPr>
          <p:cNvPr id="41" name="Shape 38"/>
          <p:cNvSpPr/>
          <p:nvPr/>
        </p:nvSpPr>
        <p:spPr>
          <a:xfrm>
            <a:off x="7957475" y="3694176"/>
            <a:ext cx="1833189" cy="594360"/>
          </a:xfrm>
          <a:prstGeom prst="roundRect">
            <a:avLst>
              <a:gd name="adj" fmla="val 12308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7957475" y="3694176"/>
            <a:ext cx="183318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zijn frieten</a:t>
            </a:r>
            <a:endParaRPr lang="en-US" sz="1800" dirty="0"/>
          </a:p>
        </p:txBody>
      </p:sp>
      <p:sp>
        <p:nvSpPr>
          <p:cNvPr id="43" name="Shape 40"/>
          <p:cNvSpPr/>
          <p:nvPr/>
        </p:nvSpPr>
        <p:spPr>
          <a:xfrm>
            <a:off x="9845528" y="3694176"/>
            <a:ext cx="806135" cy="594360"/>
          </a:xfrm>
          <a:prstGeom prst="roundRect">
            <a:avLst>
              <a:gd name="adj" fmla="val 12308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9845528" y="3694176"/>
            <a:ext cx="8061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niet</a:t>
            </a:r>
            <a:endParaRPr lang="en-US" sz="1800" dirty="0"/>
          </a:p>
        </p:txBody>
      </p:sp>
      <p:sp>
        <p:nvSpPr>
          <p:cNvPr id="45" name="Shape 42"/>
          <p:cNvSpPr/>
          <p:nvPr/>
        </p:nvSpPr>
        <p:spPr>
          <a:xfrm>
            <a:off x="10706527" y="3694176"/>
            <a:ext cx="677753" cy="594360"/>
          </a:xfrm>
          <a:prstGeom prst="roundRect">
            <a:avLst>
              <a:gd name="adj" fmla="val 12308"/>
            </a:avLst>
          </a:prstGeom>
          <a:solidFill>
            <a:srgbClr val="FBEDEB"/>
          </a:solidFill>
          <a:ln w="25400">
            <a:solidFill>
              <a:srgbClr val="B83227"/>
            </a:solidFill>
            <a:prstDash val="dash"/>
          </a:ln>
        </p:spPr>
      </p:sp>
      <p:sp>
        <p:nvSpPr>
          <p:cNvPr id="46" name="Text 43"/>
          <p:cNvSpPr txBox="1"/>
          <p:nvPr/>
        </p:nvSpPr>
        <p:spPr>
          <a:xfrm>
            <a:off x="10706527" y="3694176"/>
            <a:ext cx="677753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6"/>
                </a:solidFill>
              </a:rPr>
              <a:t>op.</a:t>
            </a:r>
            <a:endParaRPr lang="en-US" sz="1800" dirty="0"/>
          </a:p>
        </p:txBody>
      </p:sp>
      <p:sp>
        <p:nvSpPr>
          <p:cNvPr id="47" name="Shape 44"/>
          <p:cNvSpPr/>
          <p:nvPr/>
        </p:nvSpPr>
        <p:spPr>
          <a:xfrm>
            <a:off x="548640" y="4535424"/>
            <a:ext cx="11091672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685800" y="4672584"/>
            <a:ext cx="457200" cy="45720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685800" y="46725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50" name="Text 47"/>
          <p:cNvSpPr txBox="1"/>
          <p:nvPr/>
        </p:nvSpPr>
        <p:spPr>
          <a:xfrm>
            <a:off x="1280160" y="4608576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Devant préposition, adjectif, adverbe de manière (</a:t>
            </a:r>
            <a:r>
              <a:rPr lang="en-US" sz="1700" b="1" i="1" dirty="0">
                <a:solidFill>
                  <a:schemeClr val="tx2"/>
                </a:solidFill>
              </a:rPr>
              <a:t>vandaag</a:t>
            </a:r>
            <a:r>
              <a:rPr lang="en-US" sz="1700" b="1" dirty="0">
                <a:solidFill>
                  <a:schemeClr val="tx2"/>
                </a:solidFill>
              </a:rPr>
              <a:t> : avant </a:t>
            </a:r>
            <a:r>
              <a:rPr lang="en-US" sz="1700" b="1" i="1" dirty="0">
                <a:solidFill>
                  <a:schemeClr val="tx2"/>
                </a:solidFill>
              </a:rPr>
              <a:t>niet</a:t>
            </a:r>
            <a:r>
              <a:rPr lang="en-US" sz="1700" b="1" dirty="0">
                <a:solidFill>
                  <a:schemeClr val="tx2"/>
                </a:solidFill>
              </a:rPr>
              <a:t>)</a:t>
            </a:r>
            <a:endParaRPr lang="en-US" sz="1700" dirty="0"/>
          </a:p>
        </p:txBody>
      </p:sp>
      <p:sp>
        <p:nvSpPr>
          <p:cNvPr id="51" name="Shape 48"/>
          <p:cNvSpPr/>
          <p:nvPr/>
        </p:nvSpPr>
        <p:spPr>
          <a:xfrm>
            <a:off x="1280160" y="5175504"/>
            <a:ext cx="677753" cy="594360"/>
          </a:xfrm>
          <a:prstGeom prst="roundRect">
            <a:avLst>
              <a:gd name="adj" fmla="val 12308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1280160" y="5175504"/>
            <a:ext cx="677753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Zij</a:t>
            </a:r>
            <a:endParaRPr lang="en-US" sz="1800" dirty="0"/>
          </a:p>
        </p:txBody>
      </p:sp>
      <p:sp>
        <p:nvSpPr>
          <p:cNvPr id="53" name="Shape 50"/>
          <p:cNvSpPr/>
          <p:nvPr/>
        </p:nvSpPr>
        <p:spPr>
          <a:xfrm>
            <a:off x="2012777" y="5175504"/>
            <a:ext cx="806135" cy="594360"/>
          </a:xfrm>
          <a:prstGeom prst="roundRect">
            <a:avLst>
              <a:gd name="adj" fmla="val 12308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2012777" y="5175504"/>
            <a:ext cx="8061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6"/>
                </a:solidFill>
              </a:rPr>
              <a:t>gaat</a:t>
            </a:r>
            <a:endParaRPr lang="en-US" sz="1800" dirty="0"/>
          </a:p>
        </p:txBody>
      </p:sp>
      <p:sp>
        <p:nvSpPr>
          <p:cNvPr id="55" name="Shape 52"/>
          <p:cNvSpPr/>
          <p:nvPr/>
        </p:nvSpPr>
        <p:spPr>
          <a:xfrm>
            <a:off x="2873776" y="5175504"/>
            <a:ext cx="806135" cy="594360"/>
          </a:xfrm>
          <a:prstGeom prst="roundRect">
            <a:avLst>
              <a:gd name="adj" fmla="val 12308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6" name="Text 53"/>
          <p:cNvSpPr txBox="1"/>
          <p:nvPr/>
        </p:nvSpPr>
        <p:spPr>
          <a:xfrm>
            <a:off x="2873776" y="5175504"/>
            <a:ext cx="8061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niet</a:t>
            </a:r>
            <a:endParaRPr lang="en-US" sz="1800" dirty="0"/>
          </a:p>
        </p:txBody>
      </p:sp>
      <p:sp>
        <p:nvSpPr>
          <p:cNvPr id="57" name="Shape 54"/>
          <p:cNvSpPr/>
          <p:nvPr/>
        </p:nvSpPr>
        <p:spPr>
          <a:xfrm>
            <a:off x="3734775" y="5175504"/>
            <a:ext cx="1833189" cy="594360"/>
          </a:xfrm>
          <a:prstGeom prst="roundRect">
            <a:avLst>
              <a:gd name="adj" fmla="val 12308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3734775" y="5175504"/>
            <a:ext cx="183318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naar school.</a:t>
            </a:r>
            <a:endParaRPr lang="en-US" sz="1800" dirty="0"/>
          </a:p>
        </p:txBody>
      </p:sp>
      <p:sp>
        <p:nvSpPr>
          <p:cNvPr id="59" name="Shape 56"/>
          <p:cNvSpPr/>
          <p:nvPr/>
        </p:nvSpPr>
        <p:spPr>
          <a:xfrm>
            <a:off x="6492240" y="5175504"/>
            <a:ext cx="677753" cy="594360"/>
          </a:xfrm>
          <a:prstGeom prst="roundRect">
            <a:avLst>
              <a:gd name="adj" fmla="val 12308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60" name="Text 57"/>
          <p:cNvSpPr txBox="1"/>
          <p:nvPr/>
        </p:nvSpPr>
        <p:spPr>
          <a:xfrm>
            <a:off x="6492240" y="5175504"/>
            <a:ext cx="677753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Het</a:t>
            </a:r>
            <a:endParaRPr lang="en-US" sz="1800" dirty="0"/>
          </a:p>
        </p:txBody>
      </p:sp>
      <p:sp>
        <p:nvSpPr>
          <p:cNvPr id="61" name="Shape 58"/>
          <p:cNvSpPr/>
          <p:nvPr/>
        </p:nvSpPr>
        <p:spPr>
          <a:xfrm>
            <a:off x="7224857" y="5175504"/>
            <a:ext cx="549372" cy="594360"/>
          </a:xfrm>
          <a:prstGeom prst="roundRect">
            <a:avLst>
              <a:gd name="adj" fmla="val 13316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62" name="Text 59"/>
          <p:cNvSpPr txBox="1"/>
          <p:nvPr/>
        </p:nvSpPr>
        <p:spPr>
          <a:xfrm>
            <a:off x="7224857" y="5175504"/>
            <a:ext cx="54937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6"/>
                </a:solidFill>
              </a:rPr>
              <a:t>is</a:t>
            </a:r>
            <a:endParaRPr lang="en-US" sz="1800" dirty="0"/>
          </a:p>
        </p:txBody>
      </p:sp>
      <p:sp>
        <p:nvSpPr>
          <p:cNvPr id="63" name="Shape 60"/>
          <p:cNvSpPr/>
          <p:nvPr/>
        </p:nvSpPr>
        <p:spPr>
          <a:xfrm>
            <a:off x="7829093" y="5175504"/>
            <a:ext cx="806135" cy="594360"/>
          </a:xfrm>
          <a:prstGeom prst="roundRect">
            <a:avLst>
              <a:gd name="adj" fmla="val 12308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7829093" y="5175504"/>
            <a:ext cx="8061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niet</a:t>
            </a:r>
            <a:endParaRPr lang="en-US" sz="1800" dirty="0"/>
          </a:p>
        </p:txBody>
      </p:sp>
      <p:sp>
        <p:nvSpPr>
          <p:cNvPr id="65" name="Shape 62"/>
          <p:cNvSpPr/>
          <p:nvPr/>
        </p:nvSpPr>
        <p:spPr>
          <a:xfrm>
            <a:off x="8690092" y="5175504"/>
            <a:ext cx="934517" cy="594360"/>
          </a:xfrm>
          <a:prstGeom prst="roundRect">
            <a:avLst>
              <a:gd name="adj" fmla="val 12308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66" name="Text 63"/>
          <p:cNvSpPr txBox="1"/>
          <p:nvPr/>
        </p:nvSpPr>
        <p:spPr>
          <a:xfrm>
            <a:off x="8690092" y="5175504"/>
            <a:ext cx="93451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duur.</a:t>
            </a:r>
            <a:endParaRPr lang="en-US" sz="1800" dirty="0"/>
          </a:p>
        </p:txBody>
      </p:sp>
      <p:sp>
        <p:nvSpPr>
          <p:cNvPr id="67" name="Text 64"/>
          <p:cNvSpPr txBox="1"/>
          <p:nvPr/>
        </p:nvSpPr>
        <p:spPr>
          <a:xfrm>
            <a:off x="548640" y="6007608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Règle ② = la pince : </a:t>
            </a:r>
            <a:r>
              <a:rPr lang="en-US" sz="1500" i="1" dirty="0">
                <a:solidFill>
                  <a:schemeClr val="accent5"/>
                </a:solidFill>
              </a:rPr>
              <a:t>niet</a:t>
            </a:r>
            <a:r>
              <a:rPr lang="en-US" sz="1500" i="1" dirty="0">
                <a:solidFill>
                  <a:schemeClr val="accent5"/>
                </a:solidFill>
              </a:rPr>
              <a:t> juste avant la mâchoire droite (infinitif, particule, participe).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niet dans la pince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91640"/>
            <a:ext cx="634959" cy="777240"/>
          </a:xfrm>
          <a:prstGeom prst="roundRect">
            <a:avLst>
              <a:gd name="adj" fmla="val 1152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691640"/>
            <a:ext cx="63495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Ik</a:t>
            </a:r>
            <a:endParaRPr lang="en-US" sz="2400" dirty="0"/>
          </a:p>
        </p:txBody>
      </p:sp>
      <p:sp>
        <p:nvSpPr>
          <p:cNvPr id="7" name="Shape 4"/>
          <p:cNvSpPr/>
          <p:nvPr/>
        </p:nvSpPr>
        <p:spPr>
          <a:xfrm>
            <a:off x="1275039" y="1691640"/>
            <a:ext cx="977311" cy="777240"/>
          </a:xfrm>
          <a:prstGeom prst="roundRect">
            <a:avLst>
              <a:gd name="adj" fmla="val 9412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275039" y="1691640"/>
            <a:ext cx="977311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6"/>
                </a:solidFill>
              </a:rPr>
              <a:t>moet</a:t>
            </a:r>
            <a:endParaRPr lang="en-US" sz="2400" dirty="0"/>
          </a:p>
        </p:txBody>
      </p:sp>
      <p:sp>
        <p:nvSpPr>
          <p:cNvPr id="9" name="Shape 6"/>
          <p:cNvSpPr/>
          <p:nvPr/>
        </p:nvSpPr>
        <p:spPr>
          <a:xfrm>
            <a:off x="2343790" y="1691640"/>
            <a:ext cx="1490838" cy="777240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2343790" y="1691640"/>
            <a:ext cx="14908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vandaag</a:t>
            </a:r>
            <a:endParaRPr lang="en-US" sz="2400" dirty="0"/>
          </a:p>
        </p:txBody>
      </p:sp>
      <p:sp>
        <p:nvSpPr>
          <p:cNvPr id="11" name="Shape 8"/>
          <p:cNvSpPr/>
          <p:nvPr/>
        </p:nvSpPr>
        <p:spPr>
          <a:xfrm>
            <a:off x="3926068" y="1691640"/>
            <a:ext cx="977311" cy="777240"/>
          </a:xfrm>
          <a:prstGeom prst="roundRect">
            <a:avLst>
              <a:gd name="adj" fmla="val 941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926068" y="1691640"/>
            <a:ext cx="977311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niet</a:t>
            </a:r>
            <a:endParaRPr lang="en-US" sz="2400" dirty="0"/>
          </a:p>
        </p:txBody>
      </p:sp>
      <p:sp>
        <p:nvSpPr>
          <p:cNvPr id="13" name="Shape 10"/>
          <p:cNvSpPr/>
          <p:nvPr/>
        </p:nvSpPr>
        <p:spPr>
          <a:xfrm>
            <a:off x="4994819" y="1691640"/>
            <a:ext cx="1490838" cy="777240"/>
          </a:xfrm>
          <a:prstGeom prst="roundRect">
            <a:avLst>
              <a:gd name="adj" fmla="val 9412"/>
            </a:avLst>
          </a:prstGeom>
          <a:solidFill>
            <a:srgbClr val="FBEDEB"/>
          </a:solidFill>
          <a:ln w="25400">
            <a:solidFill>
              <a:srgbClr val="B83227"/>
            </a:solidFill>
            <a:prstDash val="dash"/>
          </a:ln>
        </p:spPr>
      </p:sp>
      <p:sp>
        <p:nvSpPr>
          <p:cNvPr id="14" name="Text 11"/>
          <p:cNvSpPr txBox="1"/>
          <p:nvPr/>
        </p:nvSpPr>
        <p:spPr>
          <a:xfrm>
            <a:off x="4994819" y="1691640"/>
            <a:ext cx="14908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6"/>
                </a:solidFill>
              </a:rPr>
              <a:t>werken.</a:t>
            </a:r>
            <a:endParaRPr lang="en-US" sz="2400" dirty="0"/>
          </a:p>
        </p:txBody>
      </p:sp>
      <p:sp>
        <p:nvSpPr>
          <p:cNvPr id="15" name="Text 12"/>
          <p:cNvSpPr txBox="1"/>
          <p:nvPr/>
        </p:nvSpPr>
        <p:spPr>
          <a:xfrm>
            <a:off x="6805696" y="1691640"/>
            <a:ext cx="483461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accent5"/>
                </a:solidFill>
              </a:rPr>
              <a:t>modal + infinitif (M12)</a:t>
            </a:r>
            <a:endParaRPr lang="en-US" sz="1600" dirty="0"/>
          </a:p>
        </p:txBody>
      </p:sp>
      <p:sp>
        <p:nvSpPr>
          <p:cNvPr id="16" name="Shape 13"/>
          <p:cNvSpPr/>
          <p:nvPr/>
        </p:nvSpPr>
        <p:spPr>
          <a:xfrm>
            <a:off x="1783080" y="1371600"/>
            <a:ext cx="4611136" cy="640080"/>
          </a:xfrm>
          <a:prstGeom prst="arc">
            <a:avLst>
              <a:gd name="adj1" fmla="val 10800000"/>
              <a:gd name="adj2" fmla="val 21600000"/>
            </a:avLst>
          </a:prstGeom>
          <a:solidFill>
            <a:srgbClr val="FFFFFF">
              <a:alpha val="0"/>
            </a:srgbClr>
          </a:solidFill>
          <a:ln w="28575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17" name="Shape 14"/>
          <p:cNvSpPr/>
          <p:nvPr/>
        </p:nvSpPr>
        <p:spPr>
          <a:xfrm>
            <a:off x="548640" y="2926080"/>
            <a:ext cx="634959" cy="777240"/>
          </a:xfrm>
          <a:prstGeom prst="roundRect">
            <a:avLst>
              <a:gd name="adj" fmla="val 1152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48640" y="2926080"/>
            <a:ext cx="63495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Ik</a:t>
            </a:r>
            <a:endParaRPr lang="en-US" sz="2400" dirty="0"/>
          </a:p>
        </p:txBody>
      </p:sp>
      <p:sp>
        <p:nvSpPr>
          <p:cNvPr id="19" name="Shape 16"/>
          <p:cNvSpPr/>
          <p:nvPr/>
        </p:nvSpPr>
        <p:spPr>
          <a:xfrm>
            <a:off x="1275039" y="2926080"/>
            <a:ext cx="806135" cy="777240"/>
          </a:xfrm>
          <a:prstGeom prst="roundRect">
            <a:avLst>
              <a:gd name="adj" fmla="val 9412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275039" y="2926080"/>
            <a:ext cx="8061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6"/>
                </a:solidFill>
              </a:rPr>
              <a:t>bel</a:t>
            </a:r>
            <a:endParaRPr lang="en-US" sz="2400" dirty="0"/>
          </a:p>
        </p:txBody>
      </p:sp>
      <p:sp>
        <p:nvSpPr>
          <p:cNvPr id="21" name="Shape 18"/>
          <p:cNvSpPr/>
          <p:nvPr/>
        </p:nvSpPr>
        <p:spPr>
          <a:xfrm>
            <a:off x="2172614" y="2926080"/>
            <a:ext cx="3031419" cy="777240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2172614" y="2926080"/>
            <a:ext cx="303141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de klant vandaag</a:t>
            </a:r>
            <a:endParaRPr lang="en-US" sz="2400" dirty="0"/>
          </a:p>
        </p:txBody>
      </p:sp>
      <p:sp>
        <p:nvSpPr>
          <p:cNvPr id="23" name="Shape 20"/>
          <p:cNvSpPr/>
          <p:nvPr/>
        </p:nvSpPr>
        <p:spPr>
          <a:xfrm>
            <a:off x="5295473" y="2926080"/>
            <a:ext cx="977311" cy="777240"/>
          </a:xfrm>
          <a:prstGeom prst="roundRect">
            <a:avLst>
              <a:gd name="adj" fmla="val 941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295473" y="2926080"/>
            <a:ext cx="977311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niet</a:t>
            </a:r>
            <a:endParaRPr lang="en-US" sz="2400" dirty="0"/>
          </a:p>
        </p:txBody>
      </p:sp>
      <p:sp>
        <p:nvSpPr>
          <p:cNvPr id="25" name="Shape 22"/>
          <p:cNvSpPr/>
          <p:nvPr/>
        </p:nvSpPr>
        <p:spPr>
          <a:xfrm>
            <a:off x="6364224" y="2926080"/>
            <a:ext cx="806135" cy="777240"/>
          </a:xfrm>
          <a:prstGeom prst="roundRect">
            <a:avLst>
              <a:gd name="adj" fmla="val 9412"/>
            </a:avLst>
          </a:prstGeom>
          <a:solidFill>
            <a:srgbClr val="FBEDEB"/>
          </a:solidFill>
          <a:ln w="25400">
            <a:solidFill>
              <a:srgbClr val="B83227"/>
            </a:solidFill>
            <a:prstDash val="dash"/>
          </a:ln>
        </p:spPr>
      </p:sp>
      <p:sp>
        <p:nvSpPr>
          <p:cNvPr id="26" name="Text 23"/>
          <p:cNvSpPr txBox="1"/>
          <p:nvPr/>
        </p:nvSpPr>
        <p:spPr>
          <a:xfrm>
            <a:off x="6364224" y="2926080"/>
            <a:ext cx="8061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6"/>
                </a:solidFill>
              </a:rPr>
              <a:t>op.</a:t>
            </a:r>
            <a:endParaRPr lang="en-US" sz="2400" dirty="0"/>
          </a:p>
        </p:txBody>
      </p:sp>
      <p:sp>
        <p:nvSpPr>
          <p:cNvPr id="27" name="Text 24"/>
          <p:cNvSpPr txBox="1"/>
          <p:nvPr/>
        </p:nvSpPr>
        <p:spPr>
          <a:xfrm>
            <a:off x="7490399" y="2926080"/>
            <a:ext cx="414991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accent5"/>
                </a:solidFill>
              </a:rPr>
              <a:t>particule (M11)</a:t>
            </a:r>
            <a:endParaRPr lang="en-US" sz="1600" dirty="0"/>
          </a:p>
        </p:txBody>
      </p:sp>
      <p:sp>
        <p:nvSpPr>
          <p:cNvPr id="28" name="Shape 25"/>
          <p:cNvSpPr/>
          <p:nvPr/>
        </p:nvSpPr>
        <p:spPr>
          <a:xfrm>
            <a:off x="1783080" y="2606040"/>
            <a:ext cx="5295839" cy="640080"/>
          </a:xfrm>
          <a:prstGeom prst="arc">
            <a:avLst>
              <a:gd name="adj1" fmla="val 10800000"/>
              <a:gd name="adj2" fmla="val 21600000"/>
            </a:avLst>
          </a:prstGeom>
          <a:solidFill>
            <a:srgbClr val="FFFFFF">
              <a:alpha val="0"/>
            </a:srgbClr>
          </a:solidFill>
          <a:ln w="28575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29" name="Shape 26"/>
          <p:cNvSpPr/>
          <p:nvPr/>
        </p:nvSpPr>
        <p:spPr>
          <a:xfrm>
            <a:off x="548640" y="4160520"/>
            <a:ext cx="634959" cy="777240"/>
          </a:xfrm>
          <a:prstGeom prst="roundRect">
            <a:avLst>
              <a:gd name="adj" fmla="val 1152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548640" y="4160520"/>
            <a:ext cx="63495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Ik</a:t>
            </a:r>
            <a:endParaRPr lang="en-US" sz="2400" dirty="0"/>
          </a:p>
        </p:txBody>
      </p:sp>
      <p:sp>
        <p:nvSpPr>
          <p:cNvPr id="31" name="Shape 28"/>
          <p:cNvSpPr/>
          <p:nvPr/>
        </p:nvSpPr>
        <p:spPr>
          <a:xfrm>
            <a:off x="1275039" y="4160520"/>
            <a:ext cx="806135" cy="777240"/>
          </a:xfrm>
          <a:prstGeom prst="roundRect">
            <a:avLst>
              <a:gd name="adj" fmla="val 9412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1275039" y="4160520"/>
            <a:ext cx="8061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6"/>
                </a:solidFill>
              </a:rPr>
              <a:t>heb</a:t>
            </a:r>
            <a:endParaRPr lang="en-US" sz="2400" dirty="0"/>
          </a:p>
        </p:txBody>
      </p:sp>
      <p:sp>
        <p:nvSpPr>
          <p:cNvPr id="33" name="Shape 30"/>
          <p:cNvSpPr/>
          <p:nvPr/>
        </p:nvSpPr>
        <p:spPr>
          <a:xfrm>
            <a:off x="2172614" y="4160520"/>
            <a:ext cx="1662013" cy="777240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2172614" y="4160520"/>
            <a:ext cx="166201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gisteren</a:t>
            </a:r>
            <a:endParaRPr lang="en-US" sz="2400" dirty="0"/>
          </a:p>
        </p:txBody>
      </p:sp>
      <p:sp>
        <p:nvSpPr>
          <p:cNvPr id="35" name="Shape 32"/>
          <p:cNvSpPr/>
          <p:nvPr/>
        </p:nvSpPr>
        <p:spPr>
          <a:xfrm>
            <a:off x="3926068" y="4160520"/>
            <a:ext cx="977311" cy="777240"/>
          </a:xfrm>
          <a:prstGeom prst="roundRect">
            <a:avLst>
              <a:gd name="adj" fmla="val 941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3926068" y="4160520"/>
            <a:ext cx="977311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niet</a:t>
            </a:r>
            <a:endParaRPr lang="en-US" sz="2400" dirty="0"/>
          </a:p>
        </p:txBody>
      </p:sp>
      <p:sp>
        <p:nvSpPr>
          <p:cNvPr id="37" name="Shape 34"/>
          <p:cNvSpPr/>
          <p:nvPr/>
        </p:nvSpPr>
        <p:spPr>
          <a:xfrm>
            <a:off x="4994819" y="4160520"/>
            <a:ext cx="1662013" cy="777240"/>
          </a:xfrm>
          <a:prstGeom prst="roundRect">
            <a:avLst>
              <a:gd name="adj" fmla="val 9412"/>
            </a:avLst>
          </a:prstGeom>
          <a:solidFill>
            <a:srgbClr val="FBEDEB"/>
          </a:solidFill>
          <a:ln w="25400">
            <a:solidFill>
              <a:srgbClr val="B83227"/>
            </a:solidFill>
            <a:prstDash val="dash"/>
          </a:ln>
        </p:spPr>
      </p:sp>
      <p:sp>
        <p:nvSpPr>
          <p:cNvPr id="38" name="Text 35"/>
          <p:cNvSpPr txBox="1"/>
          <p:nvPr/>
        </p:nvSpPr>
        <p:spPr>
          <a:xfrm>
            <a:off x="4994819" y="4160520"/>
            <a:ext cx="166201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6"/>
                </a:solidFill>
              </a:rPr>
              <a:t>gewerkt.</a:t>
            </a:r>
            <a:endParaRPr lang="en-US" sz="2400" dirty="0"/>
          </a:p>
        </p:txBody>
      </p:sp>
      <p:sp>
        <p:nvSpPr>
          <p:cNvPr id="39" name="Text 36"/>
          <p:cNvSpPr txBox="1"/>
          <p:nvPr/>
        </p:nvSpPr>
        <p:spPr>
          <a:xfrm>
            <a:off x="6976872" y="416052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accent5"/>
                </a:solidFill>
              </a:rPr>
              <a:t>participe (M15)</a:t>
            </a:r>
            <a:endParaRPr lang="en-US" sz="1600" dirty="0"/>
          </a:p>
        </p:txBody>
      </p:sp>
      <p:sp>
        <p:nvSpPr>
          <p:cNvPr id="40" name="Shape 37"/>
          <p:cNvSpPr/>
          <p:nvPr/>
        </p:nvSpPr>
        <p:spPr>
          <a:xfrm>
            <a:off x="1783080" y="3840480"/>
            <a:ext cx="4782312" cy="640080"/>
          </a:xfrm>
          <a:prstGeom prst="arc">
            <a:avLst>
              <a:gd name="adj1" fmla="val 10800000"/>
              <a:gd name="adj2" fmla="val 21600000"/>
            </a:avLst>
          </a:prstGeom>
          <a:solidFill>
            <a:srgbClr val="FFFFFF">
              <a:alpha val="0"/>
            </a:srgbClr>
          </a:solidFill>
          <a:ln w="28575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41" name="Shape 38"/>
          <p:cNvSpPr/>
          <p:nvPr/>
        </p:nvSpPr>
        <p:spPr>
          <a:xfrm>
            <a:off x="548640" y="5486400"/>
            <a:ext cx="11091672" cy="777240"/>
          </a:xfrm>
          <a:prstGeom prst="roundRect">
            <a:avLst>
              <a:gd name="adj" fmla="val 941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22960" y="548640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Geste de la pince : </a:t>
            </a:r>
            <a:r>
              <a:rPr lang="en-US" sz="1800" i="1" dirty="0">
                <a:solidFill>
                  <a:schemeClr val="bg1"/>
                </a:solidFill>
              </a:rPr>
              <a:t>niet</a:t>
            </a:r>
            <a:r>
              <a:rPr lang="en-US" sz="1800" dirty="0">
                <a:solidFill>
                  <a:schemeClr val="bg1"/>
                </a:solidFill>
              </a:rPr>
              <a:t> « s’accroche » à la mâchoire droite. BE : </a:t>
            </a:r>
            <a:r>
              <a:rPr lang="en-US" sz="1800" i="1" dirty="0">
                <a:solidFill>
                  <a:schemeClr val="bg1"/>
                </a:solidFill>
              </a:rPr>
              <a:t>Ik moet vandaag niet werken</a:t>
            </a:r>
            <a:r>
              <a:rPr lang="en-US" sz="1800" dirty="0">
                <a:solidFill>
                  <a:schemeClr val="bg1"/>
                </a:solidFill>
              </a:rPr>
              <a:t> = pas obligé (M12).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autres négations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72768"/>
            <a:ext cx="2635758" cy="2057400"/>
          </a:xfrm>
          <a:prstGeom prst="roundRect">
            <a:avLst>
              <a:gd name="adj" fmla="val 3556"/>
            </a:avLst>
          </a:prstGeom>
          <a:solidFill>
            <a:schemeClr val="bg1"/>
          </a:solidFill>
          <a:ln w="22225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cigarett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709928"/>
            <a:ext cx="640080" cy="64008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417320" y="1664208"/>
            <a:ext cx="16756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nooit</a:t>
            </a:r>
            <a:endParaRPr lang="en-US" sz="2000" dirty="0"/>
          </a:p>
        </p:txBody>
      </p:sp>
      <p:sp>
        <p:nvSpPr>
          <p:cNvPr id="8" name="Text 4"/>
          <p:cNvSpPr txBox="1"/>
          <p:nvPr/>
        </p:nvSpPr>
        <p:spPr>
          <a:xfrm>
            <a:off x="1417320" y="2075688"/>
            <a:ext cx="16756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strike="sngStrike" dirty="0">
                <a:solidFill>
                  <a:schemeClr val="accent6"/>
                </a:solidFill>
              </a:rPr>
              <a:t>ne</a:t>
            </a:r>
            <a:r>
              <a:rPr lang="en-US" sz="1400" i="1" dirty="0">
                <a:solidFill>
                  <a:schemeClr val="accent5"/>
                </a:solidFill>
              </a:rPr>
              <a:t> … jamais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685800" y="2532888"/>
            <a:ext cx="236143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rook nooit.</a:t>
            </a:r>
            <a:endParaRPr lang="en-US" sz="1800" dirty="0"/>
          </a:p>
        </p:txBody>
      </p:sp>
      <p:sp>
        <p:nvSpPr>
          <p:cNvPr id="10" name="Shape 6"/>
          <p:cNvSpPr/>
          <p:nvPr/>
        </p:nvSpPr>
        <p:spPr>
          <a:xfrm>
            <a:off x="3367278" y="1572768"/>
            <a:ext cx="2635758" cy="2057400"/>
          </a:xfrm>
          <a:prstGeom prst="roundRect">
            <a:avLst>
              <a:gd name="adj" fmla="val 3556"/>
            </a:avLst>
          </a:prstGeom>
          <a:solidFill>
            <a:schemeClr val="bg1"/>
          </a:solidFill>
          <a:ln w="22225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1" name="Image 1" descr="see no evil monke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04438" y="1709928"/>
            <a:ext cx="640080" cy="64008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4235958" y="1664208"/>
            <a:ext cx="16756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niets / niks</a:t>
            </a:r>
            <a:endParaRPr lang="en-US" sz="2000" dirty="0"/>
          </a:p>
        </p:txBody>
      </p:sp>
      <p:sp>
        <p:nvSpPr>
          <p:cNvPr id="13" name="Text 8"/>
          <p:cNvSpPr txBox="1"/>
          <p:nvPr/>
        </p:nvSpPr>
        <p:spPr>
          <a:xfrm>
            <a:off x="4235958" y="2075688"/>
            <a:ext cx="16756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strike="sngStrike" dirty="0">
                <a:solidFill>
                  <a:schemeClr val="accent6"/>
                </a:solidFill>
              </a:rPr>
              <a:t>ne</a:t>
            </a:r>
            <a:r>
              <a:rPr lang="en-US" sz="1400" i="1" dirty="0">
                <a:solidFill>
                  <a:schemeClr val="accent5"/>
                </a:solidFill>
              </a:rPr>
              <a:t> … rien</a:t>
            </a:r>
            <a:endParaRPr lang="en-US" sz="1400" dirty="0"/>
          </a:p>
        </p:txBody>
      </p:sp>
      <p:sp>
        <p:nvSpPr>
          <p:cNvPr id="14" name="Text 9"/>
          <p:cNvSpPr txBox="1"/>
          <p:nvPr/>
        </p:nvSpPr>
        <p:spPr>
          <a:xfrm>
            <a:off x="3504438" y="2532888"/>
            <a:ext cx="236143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zie niets.</a:t>
            </a:r>
            <a:endParaRPr lang="en-US" sz="1800" dirty="0"/>
          </a:p>
        </p:txBody>
      </p:sp>
      <p:sp>
        <p:nvSpPr>
          <p:cNvPr id="15" name="Shape 10"/>
          <p:cNvSpPr/>
          <p:nvPr/>
        </p:nvSpPr>
        <p:spPr>
          <a:xfrm>
            <a:off x="6185916" y="1572768"/>
            <a:ext cx="2635758" cy="2057400"/>
          </a:xfrm>
          <a:prstGeom prst="roundRect">
            <a:avLst>
              <a:gd name="adj" fmla="val 3556"/>
            </a:avLst>
          </a:prstGeom>
          <a:solidFill>
            <a:schemeClr val="bg1"/>
          </a:solidFill>
          <a:ln w="22225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6" name="Image 2" descr="bust in silhouett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3076" y="1709928"/>
            <a:ext cx="640080" cy="64008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7054596" y="1664208"/>
            <a:ext cx="16756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niemand</a:t>
            </a:r>
            <a:endParaRPr lang="en-US" sz="2000" dirty="0"/>
          </a:p>
        </p:txBody>
      </p:sp>
      <p:sp>
        <p:nvSpPr>
          <p:cNvPr id="18" name="Text 12"/>
          <p:cNvSpPr txBox="1"/>
          <p:nvPr/>
        </p:nvSpPr>
        <p:spPr>
          <a:xfrm>
            <a:off x="7054596" y="2075688"/>
            <a:ext cx="16756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strike="sngStrike" dirty="0">
                <a:solidFill>
                  <a:schemeClr val="accent6"/>
                </a:solidFill>
              </a:rPr>
              <a:t>ne</a:t>
            </a:r>
            <a:r>
              <a:rPr lang="en-US" sz="1400" i="1" dirty="0">
                <a:solidFill>
                  <a:schemeClr val="accent5"/>
                </a:solidFill>
              </a:rPr>
              <a:t> … personne</a:t>
            </a:r>
            <a:endParaRPr lang="en-US" sz="1400" dirty="0"/>
          </a:p>
        </p:txBody>
      </p:sp>
      <p:sp>
        <p:nvSpPr>
          <p:cNvPr id="19" name="Text 13"/>
          <p:cNvSpPr txBox="1"/>
          <p:nvPr/>
        </p:nvSpPr>
        <p:spPr>
          <a:xfrm>
            <a:off x="6323076" y="2532888"/>
            <a:ext cx="236143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Niemand weet het.</a:t>
            </a:r>
            <a:endParaRPr lang="en-US" sz="1800" dirty="0"/>
          </a:p>
        </p:txBody>
      </p:sp>
      <p:sp>
        <p:nvSpPr>
          <p:cNvPr id="20" name="Shape 14"/>
          <p:cNvSpPr/>
          <p:nvPr/>
        </p:nvSpPr>
        <p:spPr>
          <a:xfrm>
            <a:off x="9004554" y="1572768"/>
            <a:ext cx="2635758" cy="2057400"/>
          </a:xfrm>
          <a:prstGeom prst="roundRect">
            <a:avLst>
              <a:gd name="adj" fmla="val 3556"/>
            </a:avLst>
          </a:prstGeom>
          <a:solidFill>
            <a:schemeClr val="bg1"/>
          </a:solidFill>
          <a:ln w="22225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1" name="Image 3" descr="hourglass not do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1714" y="1709928"/>
            <a:ext cx="640080" cy="640080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9873234" y="1664208"/>
            <a:ext cx="16756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nog niet</a:t>
            </a:r>
            <a:endParaRPr lang="en-US" sz="2000" dirty="0"/>
          </a:p>
        </p:txBody>
      </p:sp>
      <p:sp>
        <p:nvSpPr>
          <p:cNvPr id="23" name="Text 16"/>
          <p:cNvSpPr txBox="1"/>
          <p:nvPr/>
        </p:nvSpPr>
        <p:spPr>
          <a:xfrm>
            <a:off x="9873234" y="2075688"/>
            <a:ext cx="16756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pas encore</a:t>
            </a:r>
            <a:endParaRPr lang="en-US" sz="1400" dirty="0"/>
          </a:p>
        </p:txBody>
      </p:sp>
      <p:sp>
        <p:nvSpPr>
          <p:cNvPr id="24" name="Text 17"/>
          <p:cNvSpPr txBox="1"/>
          <p:nvPr/>
        </p:nvSpPr>
        <p:spPr>
          <a:xfrm>
            <a:off x="9141714" y="2532888"/>
            <a:ext cx="236143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heb nog niet gegeten.</a:t>
            </a:r>
            <a:endParaRPr lang="en-US" sz="1800" dirty="0"/>
          </a:p>
        </p:txBody>
      </p:sp>
      <p:sp>
        <p:nvSpPr>
          <p:cNvPr id="25" name="Shape 18"/>
          <p:cNvSpPr/>
          <p:nvPr/>
        </p:nvSpPr>
        <p:spPr>
          <a:xfrm>
            <a:off x="1957959" y="3813048"/>
            <a:ext cx="2635758" cy="2057400"/>
          </a:xfrm>
          <a:prstGeom prst="roundRect">
            <a:avLst>
              <a:gd name="adj" fmla="val 3556"/>
            </a:avLst>
          </a:prstGeom>
          <a:solidFill>
            <a:schemeClr val="bg1"/>
          </a:solidFill>
          <a:ln w="22225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6" name="Image 4" descr="person in lotus positi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95119" y="3950208"/>
            <a:ext cx="640080" cy="640080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2826639" y="3904488"/>
            <a:ext cx="16756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niet meer</a:t>
            </a:r>
            <a:endParaRPr lang="en-US" sz="2000" dirty="0"/>
          </a:p>
        </p:txBody>
      </p:sp>
      <p:sp>
        <p:nvSpPr>
          <p:cNvPr id="28" name="Text 20"/>
          <p:cNvSpPr txBox="1"/>
          <p:nvPr/>
        </p:nvSpPr>
        <p:spPr>
          <a:xfrm>
            <a:off x="2826639" y="4315968"/>
            <a:ext cx="16756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strike="sngStrike" dirty="0">
                <a:solidFill>
                  <a:schemeClr val="accent6"/>
                </a:solidFill>
              </a:rPr>
              <a:t>ne</a:t>
            </a:r>
            <a:r>
              <a:rPr lang="en-US" sz="1400" i="1" dirty="0">
                <a:solidFill>
                  <a:schemeClr val="accent5"/>
                </a:solidFill>
              </a:rPr>
              <a:t> … plus</a:t>
            </a:r>
            <a:endParaRPr lang="en-US" sz="1400" dirty="0"/>
          </a:p>
        </p:txBody>
      </p:sp>
      <p:sp>
        <p:nvSpPr>
          <p:cNvPr id="29" name="Text 21"/>
          <p:cNvSpPr txBox="1"/>
          <p:nvPr/>
        </p:nvSpPr>
        <p:spPr>
          <a:xfrm>
            <a:off x="2095119" y="4773168"/>
            <a:ext cx="236143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werk niet meer.</a:t>
            </a:r>
            <a:endParaRPr lang="en-US" sz="1800" dirty="0"/>
          </a:p>
        </p:txBody>
      </p:sp>
      <p:sp>
        <p:nvSpPr>
          <p:cNvPr id="30" name="Shape 22"/>
          <p:cNvSpPr/>
          <p:nvPr/>
        </p:nvSpPr>
        <p:spPr>
          <a:xfrm>
            <a:off x="4776597" y="3813048"/>
            <a:ext cx="2635758" cy="2057400"/>
          </a:xfrm>
          <a:prstGeom prst="roundRect">
            <a:avLst>
              <a:gd name="adj" fmla="val 3556"/>
            </a:avLst>
          </a:prstGeom>
          <a:solidFill>
            <a:schemeClr val="bg1"/>
          </a:solidFill>
          <a:ln w="22225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1" name="Image 5" descr="hot beverag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13757" y="3950208"/>
            <a:ext cx="640080" cy="640080"/>
          </a:xfrm>
          <a:prstGeom prst="rect">
            <a:avLst/>
          </a:prstGeom>
        </p:spPr>
      </p:pic>
      <p:sp>
        <p:nvSpPr>
          <p:cNvPr id="32" name="Text 23"/>
          <p:cNvSpPr txBox="1"/>
          <p:nvPr/>
        </p:nvSpPr>
        <p:spPr>
          <a:xfrm>
            <a:off x="5645277" y="3904488"/>
            <a:ext cx="16756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geen … meer</a:t>
            </a:r>
            <a:endParaRPr lang="en-US" sz="2000" dirty="0"/>
          </a:p>
        </p:txBody>
      </p:sp>
      <p:sp>
        <p:nvSpPr>
          <p:cNvPr id="33" name="Text 24"/>
          <p:cNvSpPr txBox="1"/>
          <p:nvPr/>
        </p:nvSpPr>
        <p:spPr>
          <a:xfrm>
            <a:off x="5645277" y="4315968"/>
            <a:ext cx="16756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strike="sngStrike" dirty="0">
                <a:solidFill>
                  <a:schemeClr val="accent6"/>
                </a:solidFill>
              </a:rPr>
              <a:t>ne</a:t>
            </a:r>
            <a:r>
              <a:rPr lang="en-US" sz="1400" i="1" dirty="0">
                <a:solidFill>
                  <a:schemeClr val="accent5"/>
                </a:solidFill>
              </a:rPr>
              <a:t> … plus de</a:t>
            </a:r>
            <a:endParaRPr lang="en-US" sz="1400" dirty="0"/>
          </a:p>
        </p:txBody>
      </p:sp>
      <p:sp>
        <p:nvSpPr>
          <p:cNvPr id="34" name="Text 25"/>
          <p:cNvSpPr txBox="1"/>
          <p:nvPr/>
        </p:nvSpPr>
        <p:spPr>
          <a:xfrm>
            <a:off x="4913757" y="4773168"/>
            <a:ext cx="236143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Er is geen koffie meer.</a:t>
            </a:r>
            <a:endParaRPr lang="en-US" sz="1800" dirty="0"/>
          </a:p>
        </p:txBody>
      </p:sp>
      <p:sp>
        <p:nvSpPr>
          <p:cNvPr id="35" name="Shape 26"/>
          <p:cNvSpPr/>
          <p:nvPr/>
        </p:nvSpPr>
        <p:spPr>
          <a:xfrm>
            <a:off x="7595235" y="3813048"/>
            <a:ext cx="2635758" cy="2057400"/>
          </a:xfrm>
          <a:prstGeom prst="roundRect">
            <a:avLst>
              <a:gd name="adj" fmla="val 3556"/>
            </a:avLst>
          </a:prstGeom>
          <a:solidFill>
            <a:schemeClr val="bg1"/>
          </a:solidFill>
          <a:ln w="22225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6" name="Image 6" descr="person shruggi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32395" y="3950208"/>
            <a:ext cx="640080" cy="640080"/>
          </a:xfrm>
          <a:prstGeom prst="rect">
            <a:avLst/>
          </a:prstGeom>
        </p:spPr>
      </p:pic>
      <p:sp>
        <p:nvSpPr>
          <p:cNvPr id="37" name="Text 27"/>
          <p:cNvSpPr txBox="1"/>
          <p:nvPr/>
        </p:nvSpPr>
        <p:spPr>
          <a:xfrm>
            <a:off x="8463915" y="3904488"/>
            <a:ext cx="16756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ook niet</a:t>
            </a:r>
            <a:endParaRPr lang="en-US" sz="2000" dirty="0"/>
          </a:p>
        </p:txBody>
      </p:sp>
      <p:sp>
        <p:nvSpPr>
          <p:cNvPr id="38" name="Text 28"/>
          <p:cNvSpPr txBox="1"/>
          <p:nvPr/>
        </p:nvSpPr>
        <p:spPr>
          <a:xfrm>
            <a:off x="8463915" y="4315968"/>
            <a:ext cx="16756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non plus</a:t>
            </a:r>
            <a:endParaRPr lang="en-US" sz="1400" dirty="0"/>
          </a:p>
        </p:txBody>
      </p:sp>
      <p:sp>
        <p:nvSpPr>
          <p:cNvPr id="39" name="Text 29"/>
          <p:cNvSpPr txBox="1"/>
          <p:nvPr/>
        </p:nvSpPr>
        <p:spPr>
          <a:xfrm>
            <a:off x="7732395" y="4773168"/>
            <a:ext cx="236143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ook niet!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Répondre non… et répondre « si ! »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chemeClr val="tx2"/>
                </a:solidFill>
              </a:rPr>
              <a:t>RÉPONDRE NON, POLIMENT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548640" y="1965960"/>
            <a:ext cx="2651760" cy="960120"/>
          </a:xfrm>
          <a:prstGeom prst="roundRect">
            <a:avLst>
              <a:gd name="adj" fmla="val 17143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13232" y="1965960"/>
            <a:ext cx="23225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— </a:t>
            </a:r>
            <a:r>
              <a:rPr lang="en-US" sz="1700" i="1" dirty="0">
                <a:solidFill>
                  <a:schemeClr val="tx1"/>
                </a:solidFill>
              </a:rPr>
              <a:t>Wil je een koffie?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3291840" y="1965960"/>
            <a:ext cx="2651760" cy="960120"/>
          </a:xfrm>
          <a:prstGeom prst="roundRect">
            <a:avLst>
              <a:gd name="adj" fmla="val 17143"/>
            </a:avLst>
          </a:prstGeom>
          <a:solidFill>
            <a:schemeClr val="tx2">
              <a:alpha val="15000"/>
            </a:schemeClr>
          </a:solidFill>
          <a:ln w="15875">
            <a:solidFill>
              <a:srgbClr val="17375E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456432" y="1965960"/>
            <a:ext cx="23225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— </a:t>
            </a:r>
            <a:r>
              <a:rPr lang="en-US" sz="1700" i="1" dirty="0">
                <a:solidFill>
                  <a:schemeClr val="tx1"/>
                </a:solidFill>
              </a:rPr>
              <a:t>Nee, dank je.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48640" y="3154680"/>
            <a:ext cx="2651760" cy="960120"/>
          </a:xfrm>
          <a:prstGeom prst="roundRect">
            <a:avLst>
              <a:gd name="adj" fmla="val 17143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13232" y="3154680"/>
            <a:ext cx="23225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— </a:t>
            </a:r>
            <a:r>
              <a:rPr lang="en-US" sz="1700" i="1" dirty="0">
                <a:solidFill>
                  <a:schemeClr val="tx1"/>
                </a:solidFill>
              </a:rPr>
              <a:t>Begrijp je het?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3291840" y="3154680"/>
            <a:ext cx="2651760" cy="960120"/>
          </a:xfrm>
          <a:prstGeom prst="roundRect">
            <a:avLst>
              <a:gd name="adj" fmla="val 17143"/>
            </a:avLst>
          </a:prstGeom>
          <a:solidFill>
            <a:schemeClr val="tx2">
              <a:alpha val="15000"/>
            </a:schemeClr>
          </a:solidFill>
          <a:ln w="15875">
            <a:solidFill>
              <a:srgbClr val="17375E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456432" y="3154680"/>
            <a:ext cx="23225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— </a:t>
            </a:r>
            <a:r>
              <a:rPr lang="en-US" sz="1700" i="1" dirty="0">
                <a:solidFill>
                  <a:schemeClr val="tx1"/>
                </a:solidFill>
              </a:rPr>
              <a:t>Nee, niet helemaal.</a:t>
            </a:r>
            <a:endParaRPr lang="en-US" sz="1700" dirty="0"/>
          </a:p>
        </p:txBody>
      </p:sp>
      <p:sp>
        <p:nvSpPr>
          <p:cNvPr id="14" name="Text 11"/>
          <p:cNvSpPr txBox="1"/>
          <p:nvPr/>
        </p:nvSpPr>
        <p:spPr>
          <a:xfrm>
            <a:off x="548640" y="416052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2"/>
                </a:solidFill>
              </a:rPr>
              <a:t>Ik denk het niet. · Ik weet het niet.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621792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chemeClr val="accent3"/>
                </a:solidFill>
              </a:rPr>
              <a:t>CONTREDIRE UNE QUESTION NÉGATIVE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6217920" y="1965960"/>
            <a:ext cx="2651760" cy="960120"/>
          </a:xfrm>
          <a:prstGeom prst="roundRect">
            <a:avLst>
              <a:gd name="adj" fmla="val 17143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382512" y="1965960"/>
            <a:ext cx="23225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— </a:t>
            </a:r>
            <a:r>
              <a:rPr lang="en-US" sz="1700" i="1" dirty="0">
                <a:solidFill>
                  <a:schemeClr val="tx1"/>
                </a:solidFill>
              </a:rPr>
              <a:t>Heb je </a:t>
            </a:r>
            <a:r>
              <a:rPr lang="en-US" sz="1700" b="1" i="1" dirty="0">
                <a:solidFill>
                  <a:schemeClr val="tx1"/>
                </a:solidFill>
              </a:rPr>
              <a:t>geen</a:t>
            </a:r>
            <a:r>
              <a:rPr lang="en-US" sz="1700" i="1" dirty="0">
                <a:solidFill>
                  <a:schemeClr val="tx1"/>
                </a:solidFill>
              </a:rPr>
              <a:t> tijd?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8961120" y="1965960"/>
            <a:ext cx="2679192" cy="960120"/>
          </a:xfrm>
          <a:prstGeom prst="roundRect">
            <a:avLst>
              <a:gd name="adj" fmla="val 17143"/>
            </a:avLst>
          </a:prstGeom>
          <a:solidFill>
            <a:schemeClr val="accent3">
              <a:alpha val="20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9125712" y="1965960"/>
            <a:ext cx="235000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— </a:t>
            </a:r>
            <a:r>
              <a:rPr lang="en-US" sz="1700" b="1" i="1" dirty="0">
                <a:solidFill>
                  <a:schemeClr val="tx1"/>
                </a:solidFill>
              </a:rPr>
              <a:t>Jawel!</a:t>
            </a:r>
            <a:r>
              <a:rPr lang="en-US" sz="1700" i="1" dirty="0">
                <a:solidFill>
                  <a:schemeClr val="tx1"/>
                </a:solidFill>
              </a:rPr>
              <a:t> Ik heb tijd.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6217920" y="3154680"/>
            <a:ext cx="2651760" cy="960120"/>
          </a:xfrm>
          <a:prstGeom prst="roundRect">
            <a:avLst>
              <a:gd name="adj" fmla="val 17143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382512" y="3154680"/>
            <a:ext cx="23225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— </a:t>
            </a:r>
            <a:r>
              <a:rPr lang="en-US" sz="1700" i="1" dirty="0">
                <a:solidFill>
                  <a:schemeClr val="tx1"/>
                </a:solidFill>
              </a:rPr>
              <a:t>Kom je </a:t>
            </a:r>
            <a:r>
              <a:rPr lang="en-US" sz="1700" b="1" i="1" dirty="0">
                <a:solidFill>
                  <a:schemeClr val="tx1"/>
                </a:solidFill>
              </a:rPr>
              <a:t>niet</a:t>
            </a:r>
            <a:r>
              <a:rPr lang="en-US" sz="1700" i="1" dirty="0">
                <a:solidFill>
                  <a:schemeClr val="tx1"/>
                </a:solidFill>
              </a:rPr>
              <a:t>?</a:t>
            </a:r>
            <a:endParaRPr lang="en-US" sz="1700" dirty="0"/>
          </a:p>
        </p:txBody>
      </p:sp>
      <p:sp>
        <p:nvSpPr>
          <p:cNvPr id="22" name="Shape 19"/>
          <p:cNvSpPr/>
          <p:nvPr/>
        </p:nvSpPr>
        <p:spPr>
          <a:xfrm>
            <a:off x="8961120" y="3154680"/>
            <a:ext cx="2679192" cy="960120"/>
          </a:xfrm>
          <a:prstGeom prst="roundRect">
            <a:avLst>
              <a:gd name="adj" fmla="val 17143"/>
            </a:avLst>
          </a:prstGeom>
          <a:solidFill>
            <a:schemeClr val="accent3">
              <a:alpha val="20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9125712" y="3154680"/>
            <a:ext cx="235000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— </a:t>
            </a:r>
            <a:r>
              <a:rPr lang="en-US" sz="1700" b="1" i="1" dirty="0">
                <a:solidFill>
                  <a:schemeClr val="tx1"/>
                </a:solidFill>
              </a:rPr>
              <a:t>Toch wel!</a:t>
            </a:r>
            <a:endParaRPr lang="en-US" sz="1700" dirty="0"/>
          </a:p>
        </p:txBody>
      </p:sp>
      <p:pic>
        <p:nvPicPr>
          <p:cNvPr id="24" name="Image 0" descr="grinning fac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27080" y="4069080"/>
            <a:ext cx="640080" cy="640080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548640" y="4709160"/>
            <a:ext cx="11091672" cy="1554480"/>
          </a:xfrm>
          <a:prstGeom prst="roundRect">
            <a:avLst>
              <a:gd name="adj" fmla="val 4706"/>
            </a:avLst>
          </a:prstGeom>
          <a:solidFill>
            <a:schemeClr val="accent6">
              <a:alpha val="7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26" name="tag"/>
          <p:cNvSpPr/>
          <p:nvPr/>
        </p:nvSpPr>
        <p:spPr>
          <a:xfrm>
            <a:off x="731520" y="4873752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sp>
        <p:nvSpPr>
          <p:cNvPr id="27" name="Text 23"/>
          <p:cNvSpPr txBox="1"/>
          <p:nvPr/>
        </p:nvSpPr>
        <p:spPr>
          <a:xfrm>
            <a:off x="822960" y="5212080"/>
            <a:ext cx="10543032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« Tu n’as pas le temps ? — </a:t>
            </a:r>
            <a:r>
              <a:rPr lang="en-US" sz="1800" b="1" dirty="0">
                <a:solidFill>
                  <a:schemeClr val="tx1"/>
                </a:solidFill>
              </a:rPr>
              <a:t>Si !</a:t>
            </a:r>
            <a:r>
              <a:rPr lang="en-US" sz="1800" dirty="0">
                <a:solidFill>
                  <a:schemeClr val="tx1"/>
                </a:solidFill>
              </a:rPr>
              <a:t> » → </a:t>
            </a:r>
            <a:r>
              <a:rPr lang="en-US" sz="1800" i="1" strike="sngStrike" dirty="0">
                <a:solidFill>
                  <a:schemeClr val="accent6"/>
                </a:solidFill>
              </a:rPr>
              <a:t>Ja!</a:t>
            </a:r>
            <a:r>
              <a:rPr lang="en-US" sz="1800" dirty="0">
                <a:solidFill>
                  <a:schemeClr val="tx1"/>
                </a:solidFill>
              </a:rPr>
              <a:t> (ambigu)</a:t>
            </a:r>
            <a:endParaRPr lang="en-US" sz="1800" dirty="0"/>
          </a:p>
        </p:txBody>
      </p:sp>
      <p:pic>
        <p:nvPicPr>
          <p:cNvPr id="28" name="Image 1" descr="ArrowDow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582412"/>
            <a:ext cx="237744" cy="237744"/>
          </a:xfrm>
          <a:prstGeom prst="rect">
            <a:avLst/>
          </a:prstGeom>
        </p:spPr>
      </p:pic>
      <p:sp>
        <p:nvSpPr>
          <p:cNvPr id="29" name="Shape 24"/>
          <p:cNvSpPr/>
          <p:nvPr/>
        </p:nvSpPr>
        <p:spPr>
          <a:xfrm>
            <a:off x="777240" y="5811012"/>
            <a:ext cx="10634472" cy="352044"/>
          </a:xfrm>
          <a:prstGeom prst="roundRect">
            <a:avLst>
              <a:gd name="adj" fmla="val 20779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914400" y="5811012"/>
            <a:ext cx="1036015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tx1"/>
                </a:solidFill>
              </a:rPr>
              <a:t>Jawel!</a:t>
            </a:r>
            <a:r>
              <a:rPr lang="en-US" sz="1800" i="1" dirty="0">
                <a:solidFill>
                  <a:schemeClr val="tx1"/>
                </a:solidFill>
              </a:rPr>
              <a:t> / </a:t>
            </a:r>
            <a:r>
              <a:rPr lang="en-US" sz="1800" b="1" i="1" dirty="0">
                <a:solidFill>
                  <a:schemeClr val="tx1"/>
                </a:solidFill>
              </a:rPr>
              <a:t>Toch wel!</a:t>
            </a:r>
            <a:r>
              <a:rPr lang="en-US" sz="1800" dirty="0">
                <a:solidFill>
                  <a:schemeClr val="tx1"/>
                </a:solidFill>
              </a:rPr>
              <a:t> — « si » n’existe pas en néerlandais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ce que le néerlandais ne dit pas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4709160"/>
          </a:xfrm>
          <a:prstGeom prst="roundRect">
            <a:avLst>
              <a:gd name="adj" fmla="val 1553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148840"/>
            <a:ext cx="3566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« Ce n’est pas un problème. »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4434840" y="214884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strike="sngStrike" dirty="0">
                <a:solidFill>
                  <a:schemeClr val="accent6"/>
                </a:solidFill>
              </a:rPr>
              <a:t>Het is niet een probleem.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7818120" y="2240280"/>
            <a:ext cx="3611880" cy="731520"/>
          </a:xfrm>
          <a:prstGeom prst="roundRect">
            <a:avLst>
              <a:gd name="adj" fmla="val 10000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955280" y="2240280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Dat is </a:t>
            </a:r>
            <a:r>
              <a:rPr lang="en-US" sz="1900" b="1" i="1" dirty="0">
                <a:solidFill>
                  <a:schemeClr val="accent1"/>
                </a:solidFill>
              </a:rPr>
              <a:t>geen</a:t>
            </a:r>
            <a:r>
              <a:rPr lang="en-US" sz="1900" i="1" dirty="0">
                <a:solidFill>
                  <a:schemeClr val="tx1"/>
                </a:solidFill>
              </a:rPr>
              <a:t> probleem.</a:t>
            </a:r>
            <a:endParaRPr lang="en-US" sz="1900" dirty="0"/>
          </a:p>
        </p:txBody>
      </p:sp>
      <p:sp>
        <p:nvSpPr>
          <p:cNvPr id="11" name="Text 8"/>
          <p:cNvSpPr txBox="1"/>
          <p:nvPr/>
        </p:nvSpPr>
        <p:spPr>
          <a:xfrm>
            <a:off x="822960" y="3246120"/>
            <a:ext cx="3566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« Je ne vois personne. »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4434840" y="324612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strike="sngStrike" dirty="0">
                <a:solidFill>
                  <a:schemeClr val="accent6"/>
                </a:solidFill>
              </a:rPr>
              <a:t>Ik zie niet niemand.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7818120" y="3337560"/>
            <a:ext cx="3611880" cy="731520"/>
          </a:xfrm>
          <a:prstGeom prst="roundRect">
            <a:avLst>
              <a:gd name="adj" fmla="val 10000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955280" y="3337560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Ik zie </a:t>
            </a:r>
            <a:r>
              <a:rPr lang="en-US" sz="1900" b="1" i="1" dirty="0">
                <a:solidFill>
                  <a:schemeClr val="tx1"/>
                </a:solidFill>
              </a:rPr>
              <a:t>niemand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endParaRPr lang="en-US" sz="1900" dirty="0"/>
          </a:p>
        </p:txBody>
      </p:sp>
      <p:sp>
        <p:nvSpPr>
          <p:cNvPr id="15" name="Text 12"/>
          <p:cNvSpPr txBox="1"/>
          <p:nvPr/>
        </p:nvSpPr>
        <p:spPr>
          <a:xfrm>
            <a:off x="822960" y="4343400"/>
            <a:ext cx="3566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« Je n’ai pas faim. »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4434840" y="434340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strike="sngStrike" dirty="0">
                <a:solidFill>
                  <a:schemeClr val="accent6"/>
                </a:solidFill>
              </a:rPr>
              <a:t>Ik heb niet honger.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7818120" y="4434840"/>
            <a:ext cx="3611880" cy="731520"/>
          </a:xfrm>
          <a:prstGeom prst="roundRect">
            <a:avLst>
              <a:gd name="adj" fmla="val 10000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955280" y="4434840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Ik heb </a:t>
            </a:r>
            <a:r>
              <a:rPr lang="en-US" sz="1900" b="1" i="1" dirty="0">
                <a:solidFill>
                  <a:schemeClr val="accent1"/>
                </a:solidFill>
              </a:rPr>
              <a:t>geen</a:t>
            </a:r>
            <a:r>
              <a:rPr lang="en-US" sz="1900" i="1" dirty="0">
                <a:solidFill>
                  <a:schemeClr val="tx1"/>
                </a:solidFill>
              </a:rPr>
              <a:t> honger.</a:t>
            </a:r>
            <a:endParaRPr lang="en-US" sz="1900" dirty="0"/>
          </a:p>
        </p:txBody>
      </p:sp>
      <p:sp>
        <p:nvSpPr>
          <p:cNvPr id="19" name="Text 16"/>
          <p:cNvSpPr txBox="1"/>
          <p:nvPr/>
        </p:nvSpPr>
        <p:spPr>
          <a:xfrm>
            <a:off x="822960" y="548640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2"/>
                </a:solidFill>
              </a:rPr>
              <a:t>Pas de double négation · </a:t>
            </a:r>
            <a:r>
              <a:rPr lang="en-US" sz="1700" i="1" dirty="0">
                <a:solidFill>
                  <a:schemeClr val="tx2"/>
                </a:solidFill>
              </a:rPr>
              <a:t>honger, dorst, tijd, zin</a:t>
            </a:r>
            <a:r>
              <a:rPr lang="en-US" sz="1700" dirty="0">
                <a:solidFill>
                  <a:schemeClr val="tx2"/>
                </a:solidFill>
              </a:rPr>
              <a:t> sont des </a:t>
            </a:r>
            <a:r>
              <a:rPr lang="en-US" sz="1700" b="1" dirty="0">
                <a:solidFill>
                  <a:schemeClr val="tx2"/>
                </a:solidFill>
              </a:rPr>
              <a:t>noms</a:t>
            </a:r>
            <a:r>
              <a:rPr lang="en-US" sz="1700" dirty="0">
                <a:solidFill>
                  <a:schemeClr val="tx2"/>
                </a:solidFill>
              </a:rPr>
              <a:t> → </a:t>
            </a:r>
            <a:r>
              <a:rPr lang="en-US" sz="1700" i="1" dirty="0">
                <a:solidFill>
                  <a:schemeClr val="tx2"/>
                </a:solidFill>
              </a:rPr>
              <a:t>geen</a:t>
            </a:r>
            <a:r>
              <a:rPr lang="en-US" sz="1700" dirty="0">
                <a:solidFill>
                  <a:schemeClr val="tx2"/>
                </a:solidFill>
              </a:rPr>
              <a:t>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À retenir : la carte de la négation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658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À RETENIR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5394960" cy="2834640"/>
          </a:xfrm>
          <a:prstGeom prst="roundRect">
            <a:avLst>
              <a:gd name="adj" fmla="val 2581"/>
            </a:avLst>
          </a:prstGeom>
          <a:solidFill>
            <a:schemeClr val="bg1"/>
          </a:solidFill>
          <a:ln w="3175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731520" y="1691640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GEEN</a:t>
            </a:r>
            <a:r>
              <a:rPr lang="en-US" sz="2200" b="1" dirty="0">
                <a:solidFill>
                  <a:schemeClr val="tx1"/>
                </a:solidFill>
              </a:rPr>
              <a:t> = niet + een / Ø (+ nom)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2377440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niet</a:t>
            </a:r>
            <a:r>
              <a:rPr lang="en-US" sz="2200" b="1" dirty="0">
                <a:solidFill>
                  <a:schemeClr val="tx1"/>
                </a:solidFill>
              </a:rPr>
              <a:t> = tout le reste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3154680"/>
            <a:ext cx="5029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accent5"/>
                </a:solidFill>
              </a:rPr>
              <a:t>Ik heb geen auto. · Ik werk niet.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6245352" y="1554480"/>
            <a:ext cx="5394960" cy="2834640"/>
          </a:xfrm>
          <a:prstGeom prst="roundRect">
            <a:avLst>
              <a:gd name="adj" fmla="val 2581"/>
            </a:avLst>
          </a:prstGeom>
          <a:solidFill>
            <a:schemeClr val="bg1"/>
          </a:solidFill>
          <a:ln w="317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6428232" y="16459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tx2"/>
                </a:solidFill>
              </a:rPr>
              <a:t>PLACE DE NIET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6428232" y="2057400"/>
            <a:ext cx="50292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①</a:t>
            </a:r>
            <a:r>
              <a:rPr lang="en-US" sz="1700" dirty="0">
                <a:solidFill>
                  <a:schemeClr val="tx1"/>
                </a:solidFill>
              </a:rPr>
              <a:t> à la fin</a:t>
            </a:r>
            <a:endParaRPr lang="en-US" sz="17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②</a:t>
            </a:r>
            <a:r>
              <a:rPr lang="en-US" sz="1700" dirty="0">
                <a:solidFill>
                  <a:schemeClr val="tx1"/>
                </a:solidFill>
              </a:rPr>
              <a:t> devant le 2e verbe</a:t>
            </a:r>
            <a:endParaRPr lang="en-US" sz="17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③</a:t>
            </a:r>
            <a:r>
              <a:rPr lang="en-US" sz="1700" dirty="0">
                <a:solidFill>
                  <a:schemeClr val="tx1"/>
                </a:solidFill>
              </a:rPr>
              <a:t> devant préposition / adjectif / adverbe de manière</a:t>
            </a:r>
            <a:endParaRPr lang="en-US" sz="17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vandaag, morgen</a:t>
            </a:r>
            <a:r>
              <a:rPr lang="en-US" sz="1700" dirty="0">
                <a:solidFill>
                  <a:schemeClr val="tx1"/>
                </a:solidFill>
              </a:rPr>
              <a:t> : avant </a:t>
            </a:r>
            <a:r>
              <a:rPr lang="en-US" sz="1700" i="1" dirty="0">
                <a:solidFill>
                  <a:schemeClr val="tx1"/>
                </a:solidFill>
              </a:rPr>
              <a:t>niet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548640" y="4663440"/>
            <a:ext cx="1737360" cy="868680"/>
          </a:xfrm>
          <a:prstGeom prst="roundRect">
            <a:avLst>
              <a:gd name="adj" fmla="val 1578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48640" y="4663440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bg1"/>
                </a:solidFill>
              </a:rPr>
              <a:t>nooit</a:t>
            </a:r>
            <a:endParaRPr lang="en-US" sz="2000" dirty="0"/>
          </a:p>
        </p:txBody>
      </p:sp>
      <p:sp>
        <p:nvSpPr>
          <p:cNvPr id="14" name="Shape 11"/>
          <p:cNvSpPr/>
          <p:nvPr/>
        </p:nvSpPr>
        <p:spPr>
          <a:xfrm>
            <a:off x="2432304" y="4663440"/>
            <a:ext cx="1737360" cy="868680"/>
          </a:xfrm>
          <a:prstGeom prst="roundRect">
            <a:avLst>
              <a:gd name="adj" fmla="val 1578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2432304" y="4663440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bg1"/>
                </a:solidFill>
              </a:rPr>
              <a:t>niets</a:t>
            </a:r>
            <a:endParaRPr lang="en-US" sz="2000" dirty="0"/>
          </a:p>
        </p:txBody>
      </p:sp>
      <p:sp>
        <p:nvSpPr>
          <p:cNvPr id="16" name="Shape 13"/>
          <p:cNvSpPr/>
          <p:nvPr/>
        </p:nvSpPr>
        <p:spPr>
          <a:xfrm>
            <a:off x="4315968" y="4663440"/>
            <a:ext cx="1737360" cy="868680"/>
          </a:xfrm>
          <a:prstGeom prst="roundRect">
            <a:avLst>
              <a:gd name="adj" fmla="val 1578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4315968" y="4663440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bg1"/>
                </a:solidFill>
              </a:rPr>
              <a:t>niemand</a:t>
            </a:r>
            <a:endParaRPr lang="en-US" sz="2000" dirty="0"/>
          </a:p>
        </p:txBody>
      </p:sp>
      <p:sp>
        <p:nvSpPr>
          <p:cNvPr id="18" name="Shape 15"/>
          <p:cNvSpPr/>
          <p:nvPr/>
        </p:nvSpPr>
        <p:spPr>
          <a:xfrm>
            <a:off x="6199632" y="4663440"/>
            <a:ext cx="1737360" cy="868680"/>
          </a:xfrm>
          <a:prstGeom prst="roundRect">
            <a:avLst>
              <a:gd name="adj" fmla="val 1578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199632" y="4663440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bg1"/>
                </a:solidFill>
              </a:rPr>
              <a:t>nog niet</a:t>
            </a:r>
            <a:endParaRPr lang="en-US" sz="2000" dirty="0"/>
          </a:p>
        </p:txBody>
      </p:sp>
      <p:sp>
        <p:nvSpPr>
          <p:cNvPr id="20" name="Shape 17"/>
          <p:cNvSpPr/>
          <p:nvPr/>
        </p:nvSpPr>
        <p:spPr>
          <a:xfrm>
            <a:off x="8083296" y="4663440"/>
            <a:ext cx="1737360" cy="868680"/>
          </a:xfrm>
          <a:prstGeom prst="roundRect">
            <a:avLst>
              <a:gd name="adj" fmla="val 1578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083296" y="4663440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bg1"/>
                </a:solidFill>
              </a:rPr>
              <a:t>niet meer</a:t>
            </a:r>
            <a:endParaRPr lang="en-US" sz="2000" dirty="0"/>
          </a:p>
        </p:txBody>
      </p:sp>
      <p:sp>
        <p:nvSpPr>
          <p:cNvPr id="22" name="Shape 19"/>
          <p:cNvSpPr/>
          <p:nvPr/>
        </p:nvSpPr>
        <p:spPr>
          <a:xfrm>
            <a:off x="9966960" y="4663440"/>
            <a:ext cx="1737360" cy="868680"/>
          </a:xfrm>
          <a:prstGeom prst="roundRect">
            <a:avLst>
              <a:gd name="adj" fmla="val 15789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9966960" y="4663440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bg1"/>
                </a:solidFill>
              </a:rPr>
              <a:t>jawel!</a:t>
            </a:r>
            <a:endParaRPr lang="en-US" sz="2000" dirty="0"/>
          </a:p>
        </p:txBody>
      </p:sp>
      <p:pic>
        <p:nvPicPr>
          <p:cNvPr id="24" name="Image 0" descr="Camer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47120" y="960120"/>
            <a:ext cx="347472" cy="3474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Oefeningen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JIJ NU !</a:t>
            </a:r>
            <a:endParaRPr lang="en-US" sz="5400" dirty="0"/>
          </a:p>
        </p:txBody>
      </p:sp>
      <p:sp>
        <p:nvSpPr>
          <p:cNvPr id="6" name="Shape 3"/>
          <p:cNvSpPr/>
          <p:nvPr/>
        </p:nvSpPr>
        <p:spPr>
          <a:xfrm>
            <a:off x="548640" y="2606040"/>
            <a:ext cx="298704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8580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pic>
        <p:nvPicPr>
          <p:cNvPr id="9" name="Image 0" descr="BalanceSca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87040" y="2770632"/>
            <a:ext cx="384048" cy="38404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85800" y="3264408"/>
            <a:ext cx="271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Niet of geen?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685800" y="3840480"/>
            <a:ext cx="271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3764280" y="2606040"/>
            <a:ext cx="298704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90144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90144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pic>
        <p:nvPicPr>
          <p:cNvPr id="15" name="Image 1" descr="ExchangeAl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02680" y="2770632"/>
            <a:ext cx="384048" cy="38404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901440" y="3264408"/>
            <a:ext cx="271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Dites le contraire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3901440" y="3840480"/>
            <a:ext cx="271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6979920" y="2606040"/>
            <a:ext cx="298704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711708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711708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pic>
        <p:nvPicPr>
          <p:cNvPr id="21" name="Image 2" descr="ArrowRigh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18320" y="2770632"/>
            <a:ext cx="384048" cy="38404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7117080" y="3264408"/>
            <a:ext cx="271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Où va niet ?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7117080" y="3840480"/>
            <a:ext cx="271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548640" y="4434840"/>
            <a:ext cx="298704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68580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68580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pic>
        <p:nvPicPr>
          <p:cNvPr id="27" name="Image 3" descr="User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87040" y="4599432"/>
            <a:ext cx="384048" cy="384048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685800" y="5093208"/>
            <a:ext cx="271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Zoek iemand die…</a:t>
            </a:r>
            <a:endParaRPr lang="en-US" sz="1600" dirty="0"/>
          </a:p>
        </p:txBody>
      </p:sp>
      <p:sp>
        <p:nvSpPr>
          <p:cNvPr id="29" name="Text 22"/>
          <p:cNvSpPr txBox="1"/>
          <p:nvPr/>
        </p:nvSpPr>
        <p:spPr>
          <a:xfrm>
            <a:off x="685800" y="5669280"/>
            <a:ext cx="271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30" name="Shape 23"/>
          <p:cNvSpPr/>
          <p:nvPr/>
        </p:nvSpPr>
        <p:spPr>
          <a:xfrm>
            <a:off x="3764280" y="4434840"/>
            <a:ext cx="298704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1" name="Shape 24"/>
          <p:cNvSpPr/>
          <p:nvPr/>
        </p:nvSpPr>
        <p:spPr>
          <a:xfrm>
            <a:off x="390144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390144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pic>
        <p:nvPicPr>
          <p:cNvPr id="33" name="Image 4" descr="Searc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02680" y="4599432"/>
            <a:ext cx="384048" cy="384048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3901440" y="5093208"/>
            <a:ext cx="271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détective</a:t>
            </a:r>
            <a:endParaRPr lang="en-US" sz="1600" dirty="0"/>
          </a:p>
        </p:txBody>
      </p:sp>
      <p:sp>
        <p:nvSpPr>
          <p:cNvPr id="35" name="Text 27"/>
          <p:cNvSpPr txBox="1"/>
          <p:nvPr/>
        </p:nvSpPr>
        <p:spPr>
          <a:xfrm>
            <a:off x="3901440" y="5669280"/>
            <a:ext cx="271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6" name="Shape 28"/>
          <p:cNvSpPr/>
          <p:nvPr/>
        </p:nvSpPr>
        <p:spPr>
          <a:xfrm>
            <a:off x="6979920" y="4434840"/>
            <a:ext cx="298704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7" name="Shape 29"/>
          <p:cNvSpPr/>
          <p:nvPr/>
        </p:nvSpPr>
        <p:spPr>
          <a:xfrm>
            <a:off x="711708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0"/>
          <p:cNvSpPr txBox="1"/>
          <p:nvPr/>
        </p:nvSpPr>
        <p:spPr>
          <a:xfrm>
            <a:off x="711708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pic>
        <p:nvPicPr>
          <p:cNvPr id="39" name="Image 5" descr="Angry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18320" y="4599432"/>
            <a:ext cx="384048" cy="384048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7117080" y="5093208"/>
            <a:ext cx="271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collègue grognon</a:t>
            </a:r>
            <a:endParaRPr lang="en-US" sz="1600" dirty="0"/>
          </a:p>
        </p:txBody>
      </p:sp>
      <p:sp>
        <p:nvSpPr>
          <p:cNvPr id="41" name="Text 32"/>
          <p:cNvSpPr txBox="1"/>
          <p:nvPr/>
        </p:nvSpPr>
        <p:spPr>
          <a:xfrm>
            <a:off x="7117080" y="5669280"/>
            <a:ext cx="271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★★★</a:t>
            </a:r>
            <a:endParaRPr lang="en-US" sz="1400" dirty="0"/>
          </a:p>
        </p:txBody>
      </p:sp>
      <p:pic>
        <p:nvPicPr>
          <p:cNvPr id="42" name="Image 6" descr="man teacher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58400" y="3657600"/>
            <a:ext cx="1645920" cy="1645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Niet of geen?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niet ou geen.</a:t>
            </a:r>
            <a:endParaRPr lang="en-US" sz="17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2023872"/>
            <a:ext cx="5340096" cy="426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1  </a:t>
            </a:r>
            <a:r>
              <a:rPr lang="en-US" sz="1800" i="1" dirty="0">
                <a:solidFill>
                  <a:schemeClr val="tx1"/>
                </a:solidFill>
              </a:rPr>
              <a:t>Mijn portefeuille is leeg. Ik heb </a:t>
            </a:r>
            <a:r>
              <a:rPr lang="en-US" sz="1800" i="1" dirty="0">
                <a:solidFill>
                  <a:schemeClr val="accent5"/>
                </a:solidFill>
              </a:rPr>
              <a:t>…………</a:t>
            </a:r>
            <a:r>
              <a:rPr lang="en-US" sz="1800" i="1" dirty="0">
                <a:solidFill>
                  <a:schemeClr val="tx1"/>
                </a:solidFill>
              </a:rPr>
              <a:t> geld.</a:t>
            </a:r>
            <a:endParaRPr lang="en-US" sz="18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2  </a:t>
            </a:r>
            <a:r>
              <a:rPr lang="en-US" sz="1800" i="1" dirty="0">
                <a:solidFill>
                  <a:schemeClr val="tx1"/>
                </a:solidFill>
              </a:rPr>
              <a:t>Je mag </a:t>
            </a:r>
            <a:r>
              <a:rPr lang="en-US" sz="1800" i="1" dirty="0">
                <a:solidFill>
                  <a:schemeClr val="accent5"/>
                </a:solidFill>
              </a:rPr>
              <a:t>…………</a:t>
            </a:r>
            <a:r>
              <a:rPr lang="en-US" sz="1800" i="1" dirty="0">
                <a:solidFill>
                  <a:schemeClr val="tx1"/>
                </a:solidFill>
              </a:rPr>
              <a:t> op het gras lopen.</a:t>
            </a:r>
            <a:endParaRPr lang="en-US" sz="18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3  </a:t>
            </a:r>
            <a:r>
              <a:rPr lang="en-US" sz="1800" i="1" dirty="0">
                <a:solidFill>
                  <a:schemeClr val="tx1"/>
                </a:solidFill>
              </a:rPr>
              <a:t>Jeroen is moe. Hij wil </a:t>
            </a:r>
            <a:r>
              <a:rPr lang="en-US" sz="1800" i="1" dirty="0">
                <a:solidFill>
                  <a:schemeClr val="accent5"/>
                </a:solidFill>
              </a:rPr>
              <a:t>…………</a:t>
            </a:r>
            <a:r>
              <a:rPr lang="en-US" sz="1800" i="1" dirty="0">
                <a:solidFill>
                  <a:schemeClr val="tx1"/>
                </a:solidFill>
              </a:rPr>
              <a:t> studeren.</a:t>
            </a:r>
            <a:endParaRPr lang="en-US" sz="18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4  </a:t>
            </a:r>
            <a:r>
              <a:rPr lang="en-US" sz="1800" i="1" dirty="0">
                <a:solidFill>
                  <a:schemeClr val="tx1"/>
                </a:solidFill>
              </a:rPr>
              <a:t>Jan heeft honger. Hij heeft nog </a:t>
            </a:r>
            <a:r>
              <a:rPr lang="en-US" sz="1800" i="1" dirty="0">
                <a:solidFill>
                  <a:schemeClr val="accent5"/>
                </a:solidFill>
              </a:rPr>
              <a:t>…………</a:t>
            </a:r>
            <a:r>
              <a:rPr lang="en-US" sz="1800" i="1" dirty="0">
                <a:solidFill>
                  <a:schemeClr val="tx1"/>
                </a:solidFill>
              </a:rPr>
              <a:t> gegeten.</a:t>
            </a:r>
            <a:endParaRPr lang="en-US" sz="18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5  </a:t>
            </a:r>
            <a:r>
              <a:rPr lang="en-US" sz="1800" i="1" dirty="0">
                <a:solidFill>
                  <a:schemeClr val="tx1"/>
                </a:solidFill>
              </a:rPr>
              <a:t>Dat is </a:t>
            </a:r>
            <a:r>
              <a:rPr lang="en-US" sz="1800" i="1" dirty="0">
                <a:solidFill>
                  <a:schemeClr val="accent5"/>
                </a:solidFill>
              </a:rPr>
              <a:t>…………</a:t>
            </a:r>
            <a:r>
              <a:rPr lang="en-US" sz="1800" i="1" dirty="0">
                <a:solidFill>
                  <a:schemeClr val="tx1"/>
                </a:solidFill>
              </a:rPr>
              <a:t> goed idee.</a:t>
            </a:r>
            <a:endParaRPr lang="en-US" sz="1800" dirty="0"/>
          </a:p>
        </p:txBody>
      </p:sp>
      <p:sp>
        <p:nvSpPr>
          <p:cNvPr id="9" name="Text 5"/>
          <p:cNvSpPr txBox="1"/>
          <p:nvPr/>
        </p:nvSpPr>
        <p:spPr>
          <a:xfrm>
            <a:off x="6300216" y="2023872"/>
            <a:ext cx="5340096" cy="426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6  </a:t>
            </a:r>
            <a:r>
              <a:rPr lang="en-US" sz="1800" i="1" dirty="0">
                <a:solidFill>
                  <a:schemeClr val="tx1"/>
                </a:solidFill>
              </a:rPr>
              <a:t>Ik ken de nieuwe directeur </a:t>
            </a:r>
            <a:r>
              <a:rPr lang="en-US" sz="1800" i="1" dirty="0">
                <a:solidFill>
                  <a:schemeClr val="accent5"/>
                </a:solidFill>
              </a:rPr>
              <a:t>…………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7  </a:t>
            </a:r>
            <a:r>
              <a:rPr lang="en-US" sz="1800" i="1" dirty="0">
                <a:solidFill>
                  <a:schemeClr val="tx1"/>
                </a:solidFill>
              </a:rPr>
              <a:t>Ik drink </a:t>
            </a:r>
            <a:r>
              <a:rPr lang="en-US" sz="1800" i="1" dirty="0">
                <a:solidFill>
                  <a:schemeClr val="accent5"/>
                </a:solidFill>
              </a:rPr>
              <a:t>…………</a:t>
            </a:r>
            <a:r>
              <a:rPr lang="en-US" sz="1800" i="1" dirty="0">
                <a:solidFill>
                  <a:schemeClr val="tx1"/>
                </a:solidFill>
              </a:rPr>
              <a:t> alcohol.</a:t>
            </a:r>
            <a:endParaRPr lang="en-US" sz="18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8  </a:t>
            </a:r>
            <a:r>
              <a:rPr lang="en-US" sz="1800" i="1" dirty="0">
                <a:solidFill>
                  <a:schemeClr val="tx1"/>
                </a:solidFill>
              </a:rPr>
              <a:t>De koffie is </a:t>
            </a:r>
            <a:r>
              <a:rPr lang="en-US" sz="1800" i="1" dirty="0">
                <a:solidFill>
                  <a:schemeClr val="accent5"/>
                </a:solidFill>
              </a:rPr>
              <a:t>…………</a:t>
            </a:r>
            <a:r>
              <a:rPr lang="en-US" sz="1800" i="1" dirty="0">
                <a:solidFill>
                  <a:schemeClr val="tx1"/>
                </a:solidFill>
              </a:rPr>
              <a:t> warm.</a:t>
            </a:r>
            <a:endParaRPr lang="en-US" sz="18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9  </a:t>
            </a:r>
            <a:r>
              <a:rPr lang="en-US" sz="1800" i="1" dirty="0">
                <a:solidFill>
                  <a:schemeClr val="tx1"/>
                </a:solidFill>
              </a:rPr>
              <a:t>Sofie is </a:t>
            </a:r>
            <a:r>
              <a:rPr lang="en-US" sz="1800" i="1" dirty="0">
                <a:solidFill>
                  <a:schemeClr val="accent5"/>
                </a:solidFill>
              </a:rPr>
              <a:t>…………</a:t>
            </a:r>
            <a:r>
              <a:rPr lang="en-US" sz="1800" i="1" dirty="0">
                <a:solidFill>
                  <a:schemeClr val="tx1"/>
                </a:solidFill>
              </a:rPr>
              <a:t> Nederlandse, ze is Belgische.</a:t>
            </a:r>
            <a:endParaRPr lang="en-US" sz="18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10  </a:t>
            </a:r>
            <a:r>
              <a:rPr lang="en-US" sz="1800" i="1" dirty="0">
                <a:solidFill>
                  <a:schemeClr val="tx1"/>
                </a:solidFill>
              </a:rPr>
              <a:t>Ik heb vandaag </a:t>
            </a:r>
            <a:r>
              <a:rPr lang="en-US" sz="1800" i="1" dirty="0">
                <a:solidFill>
                  <a:schemeClr val="accent5"/>
                </a:solidFill>
              </a:rPr>
              <a:t>…………</a:t>
            </a:r>
            <a:r>
              <a:rPr lang="en-US" sz="1800" i="1" dirty="0">
                <a:solidFill>
                  <a:schemeClr val="tx1"/>
                </a:solidFill>
              </a:rPr>
              <a:t> tijd.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Niet of geen?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niet ou geen.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2023872"/>
            <a:ext cx="5340096" cy="426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1  </a:t>
            </a:r>
            <a:r>
              <a:rPr lang="en-US" sz="1800" i="1" dirty="0">
                <a:solidFill>
                  <a:schemeClr val="tx1"/>
                </a:solidFill>
              </a:rPr>
              <a:t>Mijn portefeuille is leeg. Ik heb </a:t>
            </a:r>
            <a:r>
              <a:rPr lang="en-US" sz="1800" b="1" i="1" dirty="0">
                <a:solidFill>
                  <a:schemeClr val="accent3"/>
                </a:solidFill>
              </a:rPr>
              <a:t>geen</a:t>
            </a:r>
            <a:r>
              <a:rPr lang="en-US" sz="1800" i="1" dirty="0">
                <a:solidFill>
                  <a:schemeClr val="tx1"/>
                </a:solidFill>
              </a:rPr>
              <a:t> geld.</a:t>
            </a:r>
            <a:r>
              <a:rPr lang="en-US" sz="1800" b="1" dirty="0">
                <a:solidFill>
                  <a:schemeClr val="accent3"/>
                </a:solidFill>
              </a:rPr>
              <a:t> (Ø + nom)</a:t>
            </a:r>
            <a:endParaRPr lang="en-US" sz="18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2  </a:t>
            </a:r>
            <a:r>
              <a:rPr lang="en-US" sz="1800" i="1" dirty="0">
                <a:solidFill>
                  <a:schemeClr val="tx1"/>
                </a:solidFill>
              </a:rPr>
              <a:t>Je mag </a:t>
            </a:r>
            <a:r>
              <a:rPr lang="en-US" sz="1800" b="1" i="1" dirty="0">
                <a:solidFill>
                  <a:schemeClr val="accent3"/>
                </a:solidFill>
              </a:rPr>
              <a:t>niet</a:t>
            </a:r>
            <a:r>
              <a:rPr lang="en-US" sz="1800" i="1" dirty="0">
                <a:solidFill>
                  <a:schemeClr val="tx1"/>
                </a:solidFill>
              </a:rPr>
              <a:t> op het gras lopen.</a:t>
            </a:r>
            <a:r>
              <a:rPr lang="en-US" sz="1800" b="1" dirty="0">
                <a:solidFill>
                  <a:schemeClr val="accent3"/>
                </a:solidFill>
              </a:rPr>
              <a:t> (préposition)</a:t>
            </a:r>
            <a:endParaRPr lang="en-US" sz="18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3  </a:t>
            </a:r>
            <a:r>
              <a:rPr lang="en-US" sz="1800" i="1" dirty="0">
                <a:solidFill>
                  <a:schemeClr val="tx1"/>
                </a:solidFill>
              </a:rPr>
              <a:t>Jeroen is moe. Hij wil </a:t>
            </a:r>
            <a:r>
              <a:rPr lang="en-US" sz="1800" b="1" i="1" dirty="0">
                <a:solidFill>
                  <a:schemeClr val="accent3"/>
                </a:solidFill>
              </a:rPr>
              <a:t>niet</a:t>
            </a:r>
            <a:r>
              <a:rPr lang="en-US" sz="1800" i="1" dirty="0">
                <a:solidFill>
                  <a:schemeClr val="tx1"/>
                </a:solidFill>
              </a:rPr>
              <a:t> studeren.</a:t>
            </a:r>
            <a:r>
              <a:rPr lang="en-US" sz="1800" b="1" dirty="0">
                <a:solidFill>
                  <a:schemeClr val="accent3"/>
                </a:solidFill>
              </a:rPr>
              <a:t> (infinitif)</a:t>
            </a:r>
            <a:endParaRPr lang="en-US" sz="18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4  </a:t>
            </a:r>
            <a:r>
              <a:rPr lang="en-US" sz="1800" i="1" dirty="0">
                <a:solidFill>
                  <a:schemeClr val="tx1"/>
                </a:solidFill>
              </a:rPr>
              <a:t>Jan heeft honger. Hij heeft nog </a:t>
            </a:r>
            <a:r>
              <a:rPr lang="en-US" sz="1800" b="1" i="1" dirty="0">
                <a:solidFill>
                  <a:schemeClr val="accent3"/>
                </a:solidFill>
              </a:rPr>
              <a:t>niet</a:t>
            </a:r>
            <a:r>
              <a:rPr lang="en-US" sz="1800" i="1" dirty="0">
                <a:solidFill>
                  <a:schemeClr val="tx1"/>
                </a:solidFill>
              </a:rPr>
              <a:t> gegeten.</a:t>
            </a:r>
            <a:r>
              <a:rPr lang="en-US" sz="1800" b="1" dirty="0">
                <a:solidFill>
                  <a:schemeClr val="accent3"/>
                </a:solidFill>
              </a:rPr>
              <a:t> (participe)</a:t>
            </a:r>
            <a:endParaRPr lang="en-US" sz="18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5  </a:t>
            </a:r>
            <a:r>
              <a:rPr lang="en-US" sz="1800" i="1" dirty="0">
                <a:solidFill>
                  <a:schemeClr val="tx1"/>
                </a:solidFill>
              </a:rPr>
              <a:t>Dat is </a:t>
            </a:r>
            <a:r>
              <a:rPr lang="en-US" sz="1800" b="1" i="1" dirty="0">
                <a:solidFill>
                  <a:schemeClr val="accent3"/>
                </a:solidFill>
              </a:rPr>
              <a:t>geen</a:t>
            </a:r>
            <a:r>
              <a:rPr lang="en-US" sz="1800" i="1" dirty="0">
                <a:solidFill>
                  <a:schemeClr val="tx1"/>
                </a:solidFill>
              </a:rPr>
              <a:t> goed idee.</a:t>
            </a:r>
            <a:r>
              <a:rPr lang="en-US" sz="1800" b="1" dirty="0">
                <a:solidFill>
                  <a:schemeClr val="accent3"/>
                </a:solidFill>
              </a:rPr>
              <a:t> (een)</a:t>
            </a:r>
            <a:endParaRPr lang="en-US" sz="1800" dirty="0"/>
          </a:p>
        </p:txBody>
      </p:sp>
      <p:sp>
        <p:nvSpPr>
          <p:cNvPr id="10" name="Text 6"/>
          <p:cNvSpPr txBox="1"/>
          <p:nvPr/>
        </p:nvSpPr>
        <p:spPr>
          <a:xfrm>
            <a:off x="6300216" y="2023872"/>
            <a:ext cx="5340096" cy="426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6  </a:t>
            </a:r>
            <a:r>
              <a:rPr lang="en-US" sz="1800" i="1" dirty="0">
                <a:solidFill>
                  <a:schemeClr val="tx1"/>
                </a:solidFill>
              </a:rPr>
              <a:t>Ik ken de nieuwe directeur </a:t>
            </a:r>
            <a:r>
              <a:rPr lang="en-US" sz="1800" b="1" i="1" dirty="0">
                <a:solidFill>
                  <a:schemeClr val="accent3"/>
                </a:solidFill>
              </a:rPr>
              <a:t>niet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r>
              <a:rPr lang="en-US" sz="1800" b="1" dirty="0">
                <a:solidFill>
                  <a:schemeClr val="accent3"/>
                </a:solidFill>
              </a:rPr>
              <a:t> (de + nom)</a:t>
            </a:r>
            <a:endParaRPr lang="en-US" sz="18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7  </a:t>
            </a:r>
            <a:r>
              <a:rPr lang="en-US" sz="1800" i="1" dirty="0">
                <a:solidFill>
                  <a:schemeClr val="tx1"/>
                </a:solidFill>
              </a:rPr>
              <a:t>Ik drink </a:t>
            </a:r>
            <a:r>
              <a:rPr lang="en-US" sz="1800" b="1" i="1" dirty="0">
                <a:solidFill>
                  <a:schemeClr val="accent3"/>
                </a:solidFill>
              </a:rPr>
              <a:t>geen</a:t>
            </a:r>
            <a:r>
              <a:rPr lang="en-US" sz="1800" i="1" dirty="0">
                <a:solidFill>
                  <a:schemeClr val="tx1"/>
                </a:solidFill>
              </a:rPr>
              <a:t> alcohol.</a:t>
            </a:r>
            <a:r>
              <a:rPr lang="en-US" sz="1800" b="1" dirty="0">
                <a:solidFill>
                  <a:schemeClr val="accent3"/>
                </a:solidFill>
              </a:rPr>
              <a:t> (Ø)</a:t>
            </a:r>
            <a:endParaRPr lang="en-US" sz="18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8  </a:t>
            </a:r>
            <a:r>
              <a:rPr lang="en-US" sz="1800" i="1" dirty="0">
                <a:solidFill>
                  <a:schemeClr val="tx1"/>
                </a:solidFill>
              </a:rPr>
              <a:t>De koffie is </a:t>
            </a:r>
            <a:r>
              <a:rPr lang="en-US" sz="1800" b="1" i="1" dirty="0">
                <a:solidFill>
                  <a:schemeClr val="accent3"/>
                </a:solidFill>
              </a:rPr>
              <a:t>niet</a:t>
            </a:r>
            <a:r>
              <a:rPr lang="en-US" sz="1800" i="1" dirty="0">
                <a:solidFill>
                  <a:schemeClr val="tx1"/>
                </a:solidFill>
              </a:rPr>
              <a:t> warm.</a:t>
            </a:r>
            <a:r>
              <a:rPr lang="en-US" sz="1800" b="1" dirty="0">
                <a:solidFill>
                  <a:schemeClr val="accent3"/>
                </a:solidFill>
              </a:rPr>
              <a:t> (adjectif)</a:t>
            </a:r>
            <a:endParaRPr lang="en-US" sz="18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9  </a:t>
            </a:r>
            <a:r>
              <a:rPr lang="en-US" sz="1800" i="1" dirty="0">
                <a:solidFill>
                  <a:schemeClr val="tx1"/>
                </a:solidFill>
              </a:rPr>
              <a:t>Sofie is </a:t>
            </a:r>
            <a:r>
              <a:rPr lang="en-US" sz="1800" b="1" i="1" dirty="0">
                <a:solidFill>
                  <a:schemeClr val="accent3"/>
                </a:solidFill>
              </a:rPr>
              <a:t>geen</a:t>
            </a:r>
            <a:r>
              <a:rPr lang="en-US" sz="1800" i="1" dirty="0">
                <a:solidFill>
                  <a:schemeClr val="tx1"/>
                </a:solidFill>
              </a:rPr>
              <a:t> Nederlandse, ze is Belgische.</a:t>
            </a:r>
            <a:r>
              <a:rPr lang="en-US" sz="1800" b="1" dirty="0">
                <a:solidFill>
                  <a:schemeClr val="accent3"/>
                </a:solidFill>
              </a:rPr>
              <a:t> (nationalité)</a:t>
            </a:r>
            <a:endParaRPr lang="en-US" sz="18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10  </a:t>
            </a:r>
            <a:r>
              <a:rPr lang="en-US" sz="1800" i="1" dirty="0">
                <a:solidFill>
                  <a:schemeClr val="tx1"/>
                </a:solidFill>
              </a:rPr>
              <a:t>Ik heb vandaag </a:t>
            </a:r>
            <a:r>
              <a:rPr lang="en-US" sz="1800" b="1" i="1" dirty="0">
                <a:solidFill>
                  <a:schemeClr val="accent3"/>
                </a:solidFill>
              </a:rPr>
              <a:t>geen</a:t>
            </a:r>
            <a:r>
              <a:rPr lang="en-US" sz="1800" i="1" dirty="0">
                <a:solidFill>
                  <a:schemeClr val="tx1"/>
                </a:solidFill>
              </a:rPr>
              <a:t> tijd.</a:t>
            </a:r>
            <a:r>
              <a:rPr lang="en-US" sz="1800" b="1" dirty="0">
                <a:solidFill>
                  <a:schemeClr val="accent3"/>
                </a:solidFill>
              </a:rPr>
              <a:t> (Ø)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Dites le contraire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Mettez chaque phrase à la forme négative.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04025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204025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960120" y="1969008"/>
            <a:ext cx="4480560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1097280" y="1969008"/>
            <a:ext cx="42062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heb een broer.</a:t>
            </a:r>
            <a:endParaRPr lang="en-US" sz="1800" dirty="0"/>
          </a:p>
        </p:txBody>
      </p:sp>
      <p:sp>
        <p:nvSpPr>
          <p:cNvPr id="12" name="Shape 8"/>
          <p:cNvSpPr/>
          <p:nvPr/>
        </p:nvSpPr>
        <p:spPr>
          <a:xfrm>
            <a:off x="5486400" y="2186559"/>
            <a:ext cx="640080" cy="914"/>
          </a:xfrm>
          <a:prstGeom prst="line">
            <a:avLst/>
          </a:prstGeom>
          <a:noFill/>
          <a:ln w="31750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13" name="Shape 9"/>
          <p:cNvSpPr/>
          <p:nvPr/>
        </p:nvSpPr>
        <p:spPr>
          <a:xfrm>
            <a:off x="6172200" y="1969008"/>
            <a:ext cx="546811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548640" y="258508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548640" y="258508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960120" y="2513838"/>
            <a:ext cx="4480560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1097280" y="2513838"/>
            <a:ext cx="42062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Karim werkt op maandag.</a:t>
            </a:r>
            <a:endParaRPr lang="en-US" sz="1800" dirty="0"/>
          </a:p>
        </p:txBody>
      </p:sp>
      <p:sp>
        <p:nvSpPr>
          <p:cNvPr id="18" name="Shape 14"/>
          <p:cNvSpPr/>
          <p:nvPr/>
        </p:nvSpPr>
        <p:spPr>
          <a:xfrm>
            <a:off x="5486400" y="2731389"/>
            <a:ext cx="640080" cy="914"/>
          </a:xfrm>
          <a:prstGeom prst="line">
            <a:avLst/>
          </a:prstGeom>
          <a:noFill/>
          <a:ln w="31750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19" name="Shape 15"/>
          <p:cNvSpPr/>
          <p:nvPr/>
        </p:nvSpPr>
        <p:spPr>
          <a:xfrm>
            <a:off x="6172200" y="2513838"/>
            <a:ext cx="546811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548640" y="312991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548640" y="312991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22" name="Shape 18"/>
          <p:cNvSpPr/>
          <p:nvPr/>
        </p:nvSpPr>
        <p:spPr>
          <a:xfrm>
            <a:off x="960120" y="3058668"/>
            <a:ext cx="4480560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1097280" y="3058668"/>
            <a:ext cx="42062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Sofie kan vandaag komen.</a:t>
            </a:r>
            <a:endParaRPr lang="en-US" sz="1800" dirty="0"/>
          </a:p>
        </p:txBody>
      </p:sp>
      <p:sp>
        <p:nvSpPr>
          <p:cNvPr id="24" name="Shape 20"/>
          <p:cNvSpPr/>
          <p:nvPr/>
        </p:nvSpPr>
        <p:spPr>
          <a:xfrm>
            <a:off x="5486400" y="3276219"/>
            <a:ext cx="640080" cy="914"/>
          </a:xfrm>
          <a:prstGeom prst="line">
            <a:avLst/>
          </a:prstGeom>
          <a:noFill/>
          <a:ln w="31750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25" name="Shape 21"/>
          <p:cNvSpPr/>
          <p:nvPr/>
        </p:nvSpPr>
        <p:spPr>
          <a:xfrm>
            <a:off x="6172200" y="3058668"/>
            <a:ext cx="546811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548640" y="367474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548640" y="367474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28" name="Shape 24"/>
          <p:cNvSpPr/>
          <p:nvPr/>
        </p:nvSpPr>
        <p:spPr>
          <a:xfrm>
            <a:off x="960120" y="3603498"/>
            <a:ext cx="4480560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1097280" y="3603498"/>
            <a:ext cx="42062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We nemen de trein.</a:t>
            </a:r>
            <a:endParaRPr lang="en-US" sz="1800" dirty="0"/>
          </a:p>
        </p:txBody>
      </p:sp>
      <p:sp>
        <p:nvSpPr>
          <p:cNvPr id="30" name="Shape 26"/>
          <p:cNvSpPr/>
          <p:nvPr/>
        </p:nvSpPr>
        <p:spPr>
          <a:xfrm>
            <a:off x="5486400" y="3821049"/>
            <a:ext cx="640080" cy="914"/>
          </a:xfrm>
          <a:prstGeom prst="line">
            <a:avLst/>
          </a:prstGeom>
          <a:noFill/>
          <a:ln w="31750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31" name="Shape 27"/>
          <p:cNvSpPr/>
          <p:nvPr/>
        </p:nvSpPr>
        <p:spPr>
          <a:xfrm>
            <a:off x="6172200" y="3603498"/>
            <a:ext cx="546811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548640" y="421957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548640" y="421957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34" name="Shape 30"/>
          <p:cNvSpPr/>
          <p:nvPr/>
        </p:nvSpPr>
        <p:spPr>
          <a:xfrm>
            <a:off x="960120" y="4148328"/>
            <a:ext cx="4480560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1097280" y="4148328"/>
            <a:ext cx="42062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spreek Duits.</a:t>
            </a:r>
            <a:endParaRPr lang="en-US" sz="1800" dirty="0"/>
          </a:p>
        </p:txBody>
      </p:sp>
      <p:sp>
        <p:nvSpPr>
          <p:cNvPr id="36" name="Shape 32"/>
          <p:cNvSpPr/>
          <p:nvPr/>
        </p:nvSpPr>
        <p:spPr>
          <a:xfrm>
            <a:off x="5486400" y="4365879"/>
            <a:ext cx="640080" cy="914"/>
          </a:xfrm>
          <a:prstGeom prst="line">
            <a:avLst/>
          </a:prstGeom>
          <a:noFill/>
          <a:ln w="31750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37" name="Shape 33"/>
          <p:cNvSpPr/>
          <p:nvPr/>
        </p:nvSpPr>
        <p:spPr>
          <a:xfrm>
            <a:off x="6172200" y="4148328"/>
            <a:ext cx="546811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548640" y="476440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548640" y="476440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40" name="Shape 36"/>
          <p:cNvSpPr/>
          <p:nvPr/>
        </p:nvSpPr>
        <p:spPr>
          <a:xfrm>
            <a:off x="960120" y="4693158"/>
            <a:ext cx="4480560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1097280" y="4693158"/>
            <a:ext cx="42062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Hij belt de klant op.</a:t>
            </a:r>
            <a:endParaRPr lang="en-US" sz="1800" dirty="0"/>
          </a:p>
        </p:txBody>
      </p:sp>
      <p:sp>
        <p:nvSpPr>
          <p:cNvPr id="42" name="Shape 38"/>
          <p:cNvSpPr/>
          <p:nvPr/>
        </p:nvSpPr>
        <p:spPr>
          <a:xfrm>
            <a:off x="5486400" y="4910709"/>
            <a:ext cx="640080" cy="914"/>
          </a:xfrm>
          <a:prstGeom prst="line">
            <a:avLst/>
          </a:prstGeom>
          <a:noFill/>
          <a:ln w="31750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43" name="Shape 39"/>
          <p:cNvSpPr/>
          <p:nvPr/>
        </p:nvSpPr>
        <p:spPr>
          <a:xfrm>
            <a:off x="6172200" y="4693158"/>
            <a:ext cx="546811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4" name="Shape 40"/>
          <p:cNvSpPr/>
          <p:nvPr/>
        </p:nvSpPr>
        <p:spPr>
          <a:xfrm>
            <a:off x="548640" y="530923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548640" y="530923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46" name="Shape 42"/>
          <p:cNvSpPr/>
          <p:nvPr/>
        </p:nvSpPr>
        <p:spPr>
          <a:xfrm>
            <a:off x="960120" y="5237988"/>
            <a:ext cx="4480560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1097280" y="5237988"/>
            <a:ext cx="42062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Het is duur.</a:t>
            </a:r>
            <a:endParaRPr lang="en-US" sz="1800" dirty="0"/>
          </a:p>
        </p:txBody>
      </p:sp>
      <p:sp>
        <p:nvSpPr>
          <p:cNvPr id="48" name="Shape 44"/>
          <p:cNvSpPr/>
          <p:nvPr/>
        </p:nvSpPr>
        <p:spPr>
          <a:xfrm>
            <a:off x="5486400" y="5455539"/>
            <a:ext cx="640080" cy="914"/>
          </a:xfrm>
          <a:prstGeom prst="line">
            <a:avLst/>
          </a:prstGeom>
          <a:noFill/>
          <a:ln w="31750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49" name="Shape 45"/>
          <p:cNvSpPr/>
          <p:nvPr/>
        </p:nvSpPr>
        <p:spPr>
          <a:xfrm>
            <a:off x="6172200" y="5237988"/>
            <a:ext cx="546811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50" name="Shape 46"/>
          <p:cNvSpPr/>
          <p:nvPr/>
        </p:nvSpPr>
        <p:spPr>
          <a:xfrm>
            <a:off x="548640" y="585406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Text 47"/>
          <p:cNvSpPr txBox="1"/>
          <p:nvPr/>
        </p:nvSpPr>
        <p:spPr>
          <a:xfrm>
            <a:off x="548640" y="585406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8</a:t>
            </a:r>
            <a:endParaRPr lang="en-US" sz="1200" dirty="0"/>
          </a:p>
        </p:txBody>
      </p:sp>
      <p:sp>
        <p:nvSpPr>
          <p:cNvPr id="52" name="Shape 48"/>
          <p:cNvSpPr/>
          <p:nvPr/>
        </p:nvSpPr>
        <p:spPr>
          <a:xfrm>
            <a:off x="960120" y="5782818"/>
            <a:ext cx="4480560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53" name="Text 49"/>
          <p:cNvSpPr txBox="1"/>
          <p:nvPr/>
        </p:nvSpPr>
        <p:spPr>
          <a:xfrm>
            <a:off x="1097280" y="5782818"/>
            <a:ext cx="42062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drink altijd koffie.</a:t>
            </a:r>
            <a:endParaRPr lang="en-US" sz="1800" dirty="0"/>
          </a:p>
        </p:txBody>
      </p:sp>
      <p:sp>
        <p:nvSpPr>
          <p:cNvPr id="54" name="Shape 50"/>
          <p:cNvSpPr/>
          <p:nvPr/>
        </p:nvSpPr>
        <p:spPr>
          <a:xfrm>
            <a:off x="5486400" y="6000369"/>
            <a:ext cx="640080" cy="914"/>
          </a:xfrm>
          <a:prstGeom prst="line">
            <a:avLst/>
          </a:prstGeom>
          <a:noFill/>
          <a:ln w="31750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55" name="Shape 51"/>
          <p:cNvSpPr/>
          <p:nvPr/>
        </p:nvSpPr>
        <p:spPr>
          <a:xfrm>
            <a:off x="6172200" y="5782818"/>
            <a:ext cx="546811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Dites le contraire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Mettez chaque phrase à la forme négative.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04025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204025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960120" y="1969008"/>
            <a:ext cx="4480560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097280" y="1969008"/>
            <a:ext cx="42062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heb een broer.</a:t>
            </a:r>
            <a:endParaRPr lang="en-US" sz="1800" dirty="0"/>
          </a:p>
        </p:txBody>
      </p:sp>
      <p:sp>
        <p:nvSpPr>
          <p:cNvPr id="13" name="Shape 9"/>
          <p:cNvSpPr/>
          <p:nvPr/>
        </p:nvSpPr>
        <p:spPr>
          <a:xfrm>
            <a:off x="5486400" y="2186559"/>
            <a:ext cx="640080" cy="914"/>
          </a:xfrm>
          <a:prstGeom prst="line">
            <a:avLst/>
          </a:prstGeom>
          <a:noFill/>
          <a:ln w="31750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6172200" y="1969008"/>
            <a:ext cx="5468112" cy="453390"/>
          </a:xfrm>
          <a:prstGeom prst="roundRect">
            <a:avLst>
              <a:gd name="adj" fmla="val 16134"/>
            </a:avLst>
          </a:prstGeom>
          <a:solidFill>
            <a:srgbClr val="FBEDEB"/>
          </a:solidFill>
          <a:ln w="15875">
            <a:solidFill>
              <a:srgbClr val="B83227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309360" y="1969008"/>
            <a:ext cx="52578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heb </a:t>
            </a:r>
            <a:r>
              <a:rPr lang="en-US" sz="1800" b="1" i="1" dirty="0">
                <a:solidFill>
                  <a:schemeClr val="accent1"/>
                </a:solidFill>
              </a:rPr>
              <a:t>geen</a:t>
            </a:r>
            <a:r>
              <a:rPr lang="en-US" sz="1800" i="1" dirty="0">
                <a:solidFill>
                  <a:schemeClr val="tx1"/>
                </a:solidFill>
              </a:rPr>
              <a:t> broer.</a:t>
            </a:r>
            <a:endParaRPr lang="en-US" sz="1800" dirty="0"/>
          </a:p>
        </p:txBody>
      </p:sp>
      <p:sp>
        <p:nvSpPr>
          <p:cNvPr id="16" name="Shape 12"/>
          <p:cNvSpPr/>
          <p:nvPr/>
        </p:nvSpPr>
        <p:spPr>
          <a:xfrm>
            <a:off x="548640" y="258508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48640" y="258508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960120" y="2513838"/>
            <a:ext cx="4480560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1097280" y="2513838"/>
            <a:ext cx="42062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Karim werkt op maandag.</a:t>
            </a:r>
            <a:endParaRPr lang="en-US" sz="1800" dirty="0"/>
          </a:p>
        </p:txBody>
      </p:sp>
      <p:sp>
        <p:nvSpPr>
          <p:cNvPr id="20" name="Shape 16"/>
          <p:cNvSpPr/>
          <p:nvPr/>
        </p:nvSpPr>
        <p:spPr>
          <a:xfrm>
            <a:off x="5486400" y="2731389"/>
            <a:ext cx="640080" cy="914"/>
          </a:xfrm>
          <a:prstGeom prst="line">
            <a:avLst/>
          </a:prstGeom>
          <a:noFill/>
          <a:ln w="31750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21" name="Shape 17"/>
          <p:cNvSpPr/>
          <p:nvPr/>
        </p:nvSpPr>
        <p:spPr>
          <a:xfrm>
            <a:off x="6172200" y="2513838"/>
            <a:ext cx="5468112" cy="453390"/>
          </a:xfrm>
          <a:prstGeom prst="roundRect">
            <a:avLst>
              <a:gd name="adj" fmla="val 16134"/>
            </a:avLst>
          </a:prstGeom>
          <a:solidFill>
            <a:srgbClr val="FBEDEB"/>
          </a:solidFill>
          <a:ln w="15875">
            <a:solidFill>
              <a:srgbClr val="B83227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309360" y="2513838"/>
            <a:ext cx="52578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Karim werkt </a:t>
            </a:r>
            <a:r>
              <a:rPr lang="en-US" sz="1800" b="1" i="1" dirty="0">
                <a:solidFill>
                  <a:schemeClr val="tx2"/>
                </a:solidFill>
              </a:rPr>
              <a:t>niet</a:t>
            </a:r>
            <a:r>
              <a:rPr lang="en-US" sz="1800" i="1" dirty="0">
                <a:solidFill>
                  <a:schemeClr val="tx1"/>
                </a:solidFill>
              </a:rPr>
              <a:t> op maandag.</a:t>
            </a:r>
            <a:endParaRPr lang="en-US" sz="1800" dirty="0"/>
          </a:p>
        </p:txBody>
      </p:sp>
      <p:sp>
        <p:nvSpPr>
          <p:cNvPr id="23" name="Shape 19"/>
          <p:cNvSpPr/>
          <p:nvPr/>
        </p:nvSpPr>
        <p:spPr>
          <a:xfrm>
            <a:off x="548640" y="312991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548640" y="312991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25" name="Shape 21"/>
          <p:cNvSpPr/>
          <p:nvPr/>
        </p:nvSpPr>
        <p:spPr>
          <a:xfrm>
            <a:off x="960120" y="3058668"/>
            <a:ext cx="4480560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1097280" y="3058668"/>
            <a:ext cx="42062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Sofie kan vandaag komen.</a:t>
            </a:r>
            <a:endParaRPr lang="en-US" sz="1800" dirty="0"/>
          </a:p>
        </p:txBody>
      </p:sp>
      <p:sp>
        <p:nvSpPr>
          <p:cNvPr id="27" name="Shape 23"/>
          <p:cNvSpPr/>
          <p:nvPr/>
        </p:nvSpPr>
        <p:spPr>
          <a:xfrm>
            <a:off x="5486400" y="3276219"/>
            <a:ext cx="640080" cy="914"/>
          </a:xfrm>
          <a:prstGeom prst="line">
            <a:avLst/>
          </a:prstGeom>
          <a:noFill/>
          <a:ln w="31750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28" name="Shape 24"/>
          <p:cNvSpPr/>
          <p:nvPr/>
        </p:nvSpPr>
        <p:spPr>
          <a:xfrm>
            <a:off x="6172200" y="3058668"/>
            <a:ext cx="5468112" cy="453390"/>
          </a:xfrm>
          <a:prstGeom prst="roundRect">
            <a:avLst>
              <a:gd name="adj" fmla="val 16134"/>
            </a:avLst>
          </a:prstGeom>
          <a:solidFill>
            <a:srgbClr val="FBEDEB"/>
          </a:solidFill>
          <a:ln w="15875">
            <a:solidFill>
              <a:srgbClr val="B83227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6309360" y="3058668"/>
            <a:ext cx="52578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Sofie kan vandaag </a:t>
            </a:r>
            <a:r>
              <a:rPr lang="en-US" sz="1800" b="1" i="1" dirty="0">
                <a:solidFill>
                  <a:schemeClr val="tx2"/>
                </a:solidFill>
              </a:rPr>
              <a:t>niet</a:t>
            </a:r>
            <a:r>
              <a:rPr lang="en-US" sz="1800" i="1" dirty="0">
                <a:solidFill>
                  <a:schemeClr val="tx1"/>
                </a:solidFill>
              </a:rPr>
              <a:t> komen.</a:t>
            </a:r>
            <a:endParaRPr lang="en-US" sz="1800" dirty="0"/>
          </a:p>
        </p:txBody>
      </p:sp>
      <p:sp>
        <p:nvSpPr>
          <p:cNvPr id="30" name="Shape 26"/>
          <p:cNvSpPr/>
          <p:nvPr/>
        </p:nvSpPr>
        <p:spPr>
          <a:xfrm>
            <a:off x="548640" y="367474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548640" y="367474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32" name="Shape 28"/>
          <p:cNvSpPr/>
          <p:nvPr/>
        </p:nvSpPr>
        <p:spPr>
          <a:xfrm>
            <a:off x="960120" y="3603498"/>
            <a:ext cx="4480560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1097280" y="3603498"/>
            <a:ext cx="42062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We nemen de trein.</a:t>
            </a:r>
            <a:endParaRPr lang="en-US" sz="1800" dirty="0"/>
          </a:p>
        </p:txBody>
      </p:sp>
      <p:sp>
        <p:nvSpPr>
          <p:cNvPr id="34" name="Shape 30"/>
          <p:cNvSpPr/>
          <p:nvPr/>
        </p:nvSpPr>
        <p:spPr>
          <a:xfrm>
            <a:off x="5486400" y="3821049"/>
            <a:ext cx="640080" cy="914"/>
          </a:xfrm>
          <a:prstGeom prst="line">
            <a:avLst/>
          </a:prstGeom>
          <a:noFill/>
          <a:ln w="31750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35" name="Shape 31"/>
          <p:cNvSpPr/>
          <p:nvPr/>
        </p:nvSpPr>
        <p:spPr>
          <a:xfrm>
            <a:off x="6172200" y="3603498"/>
            <a:ext cx="5468112" cy="453390"/>
          </a:xfrm>
          <a:prstGeom prst="roundRect">
            <a:avLst>
              <a:gd name="adj" fmla="val 16134"/>
            </a:avLst>
          </a:prstGeom>
          <a:solidFill>
            <a:srgbClr val="FBEDEB"/>
          </a:solidFill>
          <a:ln w="15875">
            <a:solidFill>
              <a:srgbClr val="B83227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6309360" y="3603498"/>
            <a:ext cx="52578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We nemen de trein </a:t>
            </a:r>
            <a:r>
              <a:rPr lang="en-US" sz="1800" b="1" i="1" dirty="0">
                <a:solidFill>
                  <a:schemeClr val="tx2"/>
                </a:solidFill>
              </a:rPr>
              <a:t>niet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37" name="Shape 33"/>
          <p:cNvSpPr/>
          <p:nvPr/>
        </p:nvSpPr>
        <p:spPr>
          <a:xfrm>
            <a:off x="548640" y="421957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548640" y="421957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39" name="Shape 35"/>
          <p:cNvSpPr/>
          <p:nvPr/>
        </p:nvSpPr>
        <p:spPr>
          <a:xfrm>
            <a:off x="960120" y="4148328"/>
            <a:ext cx="4480560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1097280" y="4148328"/>
            <a:ext cx="42062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spreek Duits.</a:t>
            </a:r>
            <a:endParaRPr lang="en-US" sz="1800" dirty="0"/>
          </a:p>
        </p:txBody>
      </p:sp>
      <p:sp>
        <p:nvSpPr>
          <p:cNvPr id="41" name="Shape 37"/>
          <p:cNvSpPr/>
          <p:nvPr/>
        </p:nvSpPr>
        <p:spPr>
          <a:xfrm>
            <a:off x="5486400" y="4365879"/>
            <a:ext cx="640080" cy="914"/>
          </a:xfrm>
          <a:prstGeom prst="line">
            <a:avLst/>
          </a:prstGeom>
          <a:noFill/>
          <a:ln w="31750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42" name="Shape 38"/>
          <p:cNvSpPr/>
          <p:nvPr/>
        </p:nvSpPr>
        <p:spPr>
          <a:xfrm>
            <a:off x="6172200" y="4148328"/>
            <a:ext cx="5468112" cy="453390"/>
          </a:xfrm>
          <a:prstGeom prst="roundRect">
            <a:avLst>
              <a:gd name="adj" fmla="val 16134"/>
            </a:avLst>
          </a:prstGeom>
          <a:solidFill>
            <a:srgbClr val="FBEDEB"/>
          </a:solidFill>
          <a:ln w="15875">
            <a:solidFill>
              <a:srgbClr val="B83227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6309360" y="4148328"/>
            <a:ext cx="52578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spreek </a:t>
            </a:r>
            <a:r>
              <a:rPr lang="en-US" sz="1800" b="1" i="1" dirty="0">
                <a:solidFill>
                  <a:schemeClr val="accent1"/>
                </a:solidFill>
              </a:rPr>
              <a:t>geen</a:t>
            </a:r>
            <a:r>
              <a:rPr lang="en-US" sz="1800" i="1" dirty="0">
                <a:solidFill>
                  <a:schemeClr val="tx1"/>
                </a:solidFill>
              </a:rPr>
              <a:t> Duits.</a:t>
            </a:r>
            <a:endParaRPr lang="en-US" sz="1800" dirty="0"/>
          </a:p>
        </p:txBody>
      </p:sp>
      <p:sp>
        <p:nvSpPr>
          <p:cNvPr id="44" name="Shape 40"/>
          <p:cNvSpPr/>
          <p:nvPr/>
        </p:nvSpPr>
        <p:spPr>
          <a:xfrm>
            <a:off x="548640" y="476440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548640" y="476440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46" name="Shape 42"/>
          <p:cNvSpPr/>
          <p:nvPr/>
        </p:nvSpPr>
        <p:spPr>
          <a:xfrm>
            <a:off x="960120" y="4693158"/>
            <a:ext cx="4480560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1097280" y="4693158"/>
            <a:ext cx="42062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Hij belt de klant op.</a:t>
            </a:r>
            <a:endParaRPr lang="en-US" sz="1800" dirty="0"/>
          </a:p>
        </p:txBody>
      </p:sp>
      <p:sp>
        <p:nvSpPr>
          <p:cNvPr id="48" name="Shape 44"/>
          <p:cNvSpPr/>
          <p:nvPr/>
        </p:nvSpPr>
        <p:spPr>
          <a:xfrm>
            <a:off x="5486400" y="4910709"/>
            <a:ext cx="640080" cy="914"/>
          </a:xfrm>
          <a:prstGeom prst="line">
            <a:avLst/>
          </a:prstGeom>
          <a:noFill/>
          <a:ln w="31750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49" name="Shape 45"/>
          <p:cNvSpPr/>
          <p:nvPr/>
        </p:nvSpPr>
        <p:spPr>
          <a:xfrm>
            <a:off x="6172200" y="4693158"/>
            <a:ext cx="5468112" cy="453390"/>
          </a:xfrm>
          <a:prstGeom prst="roundRect">
            <a:avLst>
              <a:gd name="adj" fmla="val 16134"/>
            </a:avLst>
          </a:prstGeom>
          <a:solidFill>
            <a:srgbClr val="FBEDEB"/>
          </a:solidFill>
          <a:ln w="15875">
            <a:solidFill>
              <a:srgbClr val="B83227"/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6309360" y="4693158"/>
            <a:ext cx="52578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Hij belt de klant </a:t>
            </a:r>
            <a:r>
              <a:rPr lang="en-US" sz="1800" b="1" i="1" dirty="0">
                <a:solidFill>
                  <a:schemeClr val="tx2"/>
                </a:solidFill>
              </a:rPr>
              <a:t>niet</a:t>
            </a:r>
            <a:r>
              <a:rPr lang="en-US" sz="1800" i="1" dirty="0">
                <a:solidFill>
                  <a:schemeClr val="tx1"/>
                </a:solidFill>
              </a:rPr>
              <a:t> op.</a:t>
            </a:r>
            <a:endParaRPr lang="en-US" sz="1800" dirty="0"/>
          </a:p>
        </p:txBody>
      </p:sp>
      <p:sp>
        <p:nvSpPr>
          <p:cNvPr id="51" name="Shape 47"/>
          <p:cNvSpPr/>
          <p:nvPr/>
        </p:nvSpPr>
        <p:spPr>
          <a:xfrm>
            <a:off x="548640" y="530923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Text 48"/>
          <p:cNvSpPr txBox="1"/>
          <p:nvPr/>
        </p:nvSpPr>
        <p:spPr>
          <a:xfrm>
            <a:off x="548640" y="530923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53" name="Shape 49"/>
          <p:cNvSpPr/>
          <p:nvPr/>
        </p:nvSpPr>
        <p:spPr>
          <a:xfrm>
            <a:off x="960120" y="5237988"/>
            <a:ext cx="4480560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54" name="Text 50"/>
          <p:cNvSpPr txBox="1"/>
          <p:nvPr/>
        </p:nvSpPr>
        <p:spPr>
          <a:xfrm>
            <a:off x="1097280" y="5237988"/>
            <a:ext cx="42062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Het is duur.</a:t>
            </a:r>
            <a:endParaRPr lang="en-US" sz="1800" dirty="0"/>
          </a:p>
        </p:txBody>
      </p:sp>
      <p:sp>
        <p:nvSpPr>
          <p:cNvPr id="55" name="Shape 51"/>
          <p:cNvSpPr/>
          <p:nvPr/>
        </p:nvSpPr>
        <p:spPr>
          <a:xfrm>
            <a:off x="5486400" y="5455539"/>
            <a:ext cx="640080" cy="914"/>
          </a:xfrm>
          <a:prstGeom prst="line">
            <a:avLst/>
          </a:prstGeom>
          <a:noFill/>
          <a:ln w="31750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56" name="Shape 52"/>
          <p:cNvSpPr/>
          <p:nvPr/>
        </p:nvSpPr>
        <p:spPr>
          <a:xfrm>
            <a:off x="6172200" y="5237988"/>
            <a:ext cx="5468112" cy="453390"/>
          </a:xfrm>
          <a:prstGeom prst="roundRect">
            <a:avLst>
              <a:gd name="adj" fmla="val 16134"/>
            </a:avLst>
          </a:prstGeom>
          <a:solidFill>
            <a:srgbClr val="FBEDEB"/>
          </a:solidFill>
          <a:ln w="15875">
            <a:solidFill>
              <a:srgbClr val="B83227"/>
            </a:solidFill>
            <a:prstDash val="solid"/>
          </a:ln>
        </p:spPr>
      </p:sp>
      <p:sp>
        <p:nvSpPr>
          <p:cNvPr id="57" name="Text 53"/>
          <p:cNvSpPr txBox="1"/>
          <p:nvPr/>
        </p:nvSpPr>
        <p:spPr>
          <a:xfrm>
            <a:off x="6309360" y="5237988"/>
            <a:ext cx="52578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Het is </a:t>
            </a:r>
            <a:r>
              <a:rPr lang="en-US" sz="1800" b="1" i="1" dirty="0">
                <a:solidFill>
                  <a:schemeClr val="tx2"/>
                </a:solidFill>
              </a:rPr>
              <a:t>niet</a:t>
            </a:r>
            <a:r>
              <a:rPr lang="en-US" sz="1800" i="1" dirty="0">
                <a:solidFill>
                  <a:schemeClr val="tx1"/>
                </a:solidFill>
              </a:rPr>
              <a:t> duur.</a:t>
            </a:r>
            <a:endParaRPr lang="en-US" sz="1800" dirty="0"/>
          </a:p>
        </p:txBody>
      </p:sp>
      <p:sp>
        <p:nvSpPr>
          <p:cNvPr id="58" name="Shape 54"/>
          <p:cNvSpPr/>
          <p:nvPr/>
        </p:nvSpPr>
        <p:spPr>
          <a:xfrm>
            <a:off x="548640" y="585406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9" name="Text 55"/>
          <p:cNvSpPr txBox="1"/>
          <p:nvPr/>
        </p:nvSpPr>
        <p:spPr>
          <a:xfrm>
            <a:off x="548640" y="585406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8</a:t>
            </a:r>
            <a:endParaRPr lang="en-US" sz="1200" dirty="0"/>
          </a:p>
        </p:txBody>
      </p:sp>
      <p:sp>
        <p:nvSpPr>
          <p:cNvPr id="60" name="Shape 56"/>
          <p:cNvSpPr/>
          <p:nvPr/>
        </p:nvSpPr>
        <p:spPr>
          <a:xfrm>
            <a:off x="960120" y="5782818"/>
            <a:ext cx="4480560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61" name="Text 57"/>
          <p:cNvSpPr txBox="1"/>
          <p:nvPr/>
        </p:nvSpPr>
        <p:spPr>
          <a:xfrm>
            <a:off x="1097280" y="5782818"/>
            <a:ext cx="42062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drink altijd koffie.</a:t>
            </a:r>
            <a:endParaRPr lang="en-US" sz="1800" dirty="0"/>
          </a:p>
        </p:txBody>
      </p:sp>
      <p:sp>
        <p:nvSpPr>
          <p:cNvPr id="62" name="Shape 58"/>
          <p:cNvSpPr/>
          <p:nvPr/>
        </p:nvSpPr>
        <p:spPr>
          <a:xfrm>
            <a:off x="5486400" y="6000369"/>
            <a:ext cx="640080" cy="914"/>
          </a:xfrm>
          <a:prstGeom prst="line">
            <a:avLst/>
          </a:prstGeom>
          <a:noFill/>
          <a:ln w="31750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63" name="Shape 59"/>
          <p:cNvSpPr/>
          <p:nvPr/>
        </p:nvSpPr>
        <p:spPr>
          <a:xfrm>
            <a:off x="6172200" y="5782818"/>
            <a:ext cx="5468112" cy="453390"/>
          </a:xfrm>
          <a:prstGeom prst="roundRect">
            <a:avLst>
              <a:gd name="adj" fmla="val 16134"/>
            </a:avLst>
          </a:prstGeom>
          <a:solidFill>
            <a:srgbClr val="FBEDEB"/>
          </a:solidFill>
          <a:ln w="15875">
            <a:solidFill>
              <a:srgbClr val="B83227"/>
            </a:solidFill>
            <a:prstDash val="solid"/>
          </a:ln>
        </p:spPr>
      </p:sp>
      <p:sp>
        <p:nvSpPr>
          <p:cNvPr id="64" name="Text 60"/>
          <p:cNvSpPr txBox="1"/>
          <p:nvPr/>
        </p:nvSpPr>
        <p:spPr>
          <a:xfrm>
            <a:off x="6309360" y="5782818"/>
            <a:ext cx="52578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drink </a:t>
            </a:r>
            <a:r>
              <a:rPr lang="en-US" sz="1800" b="1" i="1" dirty="0">
                <a:solidFill>
                  <a:schemeClr val="tx2"/>
                </a:solidFill>
              </a:rPr>
              <a:t>nooit</a:t>
            </a:r>
            <a:r>
              <a:rPr lang="en-US" sz="1800" i="1" dirty="0">
                <a:solidFill>
                  <a:schemeClr val="tx1"/>
                </a:solidFill>
              </a:rPr>
              <a:t> koffie.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Où va niet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Choisissez l’emplacement A, B ou C.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0" name="Text 6"/>
          <p:cNvSpPr txBox="1"/>
          <p:nvPr/>
        </p:nvSpPr>
        <p:spPr>
          <a:xfrm>
            <a:off x="1097280" y="1932432"/>
            <a:ext cx="630936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Ik</a:t>
            </a:r>
            <a:endParaRPr lang="en-US" sz="2200" dirty="0"/>
          </a:p>
        </p:txBody>
      </p:sp>
      <p:sp>
        <p:nvSpPr>
          <p:cNvPr id="11" name="tag"/>
          <p:cNvSpPr/>
          <p:nvPr/>
        </p:nvSpPr>
        <p:spPr>
          <a:xfrm>
            <a:off x="1773936" y="2121916"/>
            <a:ext cx="691286" cy="347472"/>
          </a:xfrm>
          <a:prstGeom prst="roundRect">
            <a:avLst>
              <a:gd name="adj" fmla="val 13158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▲A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2596896" y="1932432"/>
            <a:ext cx="786384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kan</a:t>
            </a:r>
            <a:endParaRPr lang="en-US" sz="2200" dirty="0"/>
          </a:p>
        </p:txBody>
      </p:sp>
      <p:sp>
        <p:nvSpPr>
          <p:cNvPr id="13" name="tag"/>
          <p:cNvSpPr/>
          <p:nvPr/>
        </p:nvSpPr>
        <p:spPr>
          <a:xfrm>
            <a:off x="3429000" y="2121916"/>
            <a:ext cx="691286" cy="347472"/>
          </a:xfrm>
          <a:prstGeom prst="roundRect">
            <a:avLst>
              <a:gd name="adj" fmla="val 13158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▲B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4251960" y="1932432"/>
            <a:ext cx="1252728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morgen</a:t>
            </a:r>
            <a:endParaRPr lang="en-US" sz="2200" dirty="0"/>
          </a:p>
        </p:txBody>
      </p:sp>
      <p:sp>
        <p:nvSpPr>
          <p:cNvPr id="15" name="tag"/>
          <p:cNvSpPr/>
          <p:nvPr/>
        </p:nvSpPr>
        <p:spPr>
          <a:xfrm>
            <a:off x="5550408" y="2121916"/>
            <a:ext cx="691286" cy="347472"/>
          </a:xfrm>
          <a:prstGeom prst="roundRect">
            <a:avLst>
              <a:gd name="adj" fmla="val 13158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▲C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6373368" y="1932432"/>
            <a:ext cx="1252728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komen.</a:t>
            </a:r>
            <a:endParaRPr lang="en-US" sz="2200" dirty="0"/>
          </a:p>
        </p:txBody>
      </p:sp>
      <p:sp>
        <p:nvSpPr>
          <p:cNvPr id="17" name="Shape 13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9" name="Text 15"/>
          <p:cNvSpPr txBox="1"/>
          <p:nvPr/>
        </p:nvSpPr>
        <p:spPr>
          <a:xfrm>
            <a:off x="1097280" y="2658872"/>
            <a:ext cx="1097280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Sofie</a:t>
            </a:r>
            <a:endParaRPr lang="en-US" sz="2200" dirty="0"/>
          </a:p>
        </p:txBody>
      </p:sp>
      <p:sp>
        <p:nvSpPr>
          <p:cNvPr id="20" name="tag"/>
          <p:cNvSpPr/>
          <p:nvPr/>
        </p:nvSpPr>
        <p:spPr>
          <a:xfrm>
            <a:off x="2240280" y="2848356"/>
            <a:ext cx="691286" cy="347472"/>
          </a:xfrm>
          <a:prstGeom prst="roundRect">
            <a:avLst>
              <a:gd name="adj" fmla="val 13158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▲A</a:t>
            </a:r>
            <a:endParaRPr lang="en-US" sz="1200" dirty="0"/>
          </a:p>
        </p:txBody>
      </p:sp>
      <p:sp>
        <p:nvSpPr>
          <p:cNvPr id="21" name="Text 17"/>
          <p:cNvSpPr txBox="1"/>
          <p:nvPr/>
        </p:nvSpPr>
        <p:spPr>
          <a:xfrm>
            <a:off x="3063240" y="2658872"/>
            <a:ext cx="941832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ziet</a:t>
            </a:r>
            <a:endParaRPr lang="en-US" sz="2200" dirty="0"/>
          </a:p>
        </p:txBody>
      </p:sp>
      <p:sp>
        <p:nvSpPr>
          <p:cNvPr id="22" name="tag"/>
          <p:cNvSpPr/>
          <p:nvPr/>
        </p:nvSpPr>
        <p:spPr>
          <a:xfrm>
            <a:off x="4050792" y="2848356"/>
            <a:ext cx="691286" cy="347472"/>
          </a:xfrm>
          <a:prstGeom prst="roundRect">
            <a:avLst>
              <a:gd name="adj" fmla="val 13158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▲B</a:t>
            </a:r>
            <a:endParaRPr lang="en-US" sz="1200" dirty="0"/>
          </a:p>
        </p:txBody>
      </p:sp>
      <p:sp>
        <p:nvSpPr>
          <p:cNvPr id="23" name="Text 19"/>
          <p:cNvSpPr txBox="1"/>
          <p:nvPr/>
        </p:nvSpPr>
        <p:spPr>
          <a:xfrm>
            <a:off x="4873752" y="2658872"/>
            <a:ext cx="1563624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de klant</a:t>
            </a:r>
            <a:endParaRPr lang="en-US" sz="2200" dirty="0"/>
          </a:p>
        </p:txBody>
      </p:sp>
      <p:sp>
        <p:nvSpPr>
          <p:cNvPr id="24" name="tag"/>
          <p:cNvSpPr/>
          <p:nvPr/>
        </p:nvSpPr>
        <p:spPr>
          <a:xfrm>
            <a:off x="6483096" y="2848356"/>
            <a:ext cx="691286" cy="347472"/>
          </a:xfrm>
          <a:prstGeom prst="roundRect">
            <a:avLst>
              <a:gd name="adj" fmla="val 13158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▲C</a:t>
            </a:r>
            <a:endParaRPr lang="en-US" sz="1200" dirty="0"/>
          </a:p>
        </p:txBody>
      </p:sp>
      <p:sp>
        <p:nvSpPr>
          <p:cNvPr id="25" name="Text 21"/>
          <p:cNvSpPr txBox="1"/>
          <p:nvPr/>
        </p:nvSpPr>
        <p:spPr>
          <a:xfrm>
            <a:off x="7214616" y="2658872"/>
            <a:ext cx="274320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.</a:t>
            </a:r>
            <a:endParaRPr lang="en-US" sz="2200" dirty="0"/>
          </a:p>
        </p:txBody>
      </p:sp>
      <p:sp>
        <p:nvSpPr>
          <p:cNvPr id="26" name="Shape 22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8" name="Text 24"/>
          <p:cNvSpPr txBox="1"/>
          <p:nvPr/>
        </p:nvSpPr>
        <p:spPr>
          <a:xfrm>
            <a:off x="1097280" y="3385312"/>
            <a:ext cx="630936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We</a:t>
            </a:r>
            <a:endParaRPr lang="en-US" sz="2200" dirty="0"/>
          </a:p>
        </p:txBody>
      </p:sp>
      <p:sp>
        <p:nvSpPr>
          <p:cNvPr id="29" name="tag"/>
          <p:cNvSpPr/>
          <p:nvPr/>
        </p:nvSpPr>
        <p:spPr>
          <a:xfrm>
            <a:off x="1773936" y="3574796"/>
            <a:ext cx="691286" cy="347472"/>
          </a:xfrm>
          <a:prstGeom prst="roundRect">
            <a:avLst>
              <a:gd name="adj" fmla="val 13158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▲A</a:t>
            </a:r>
            <a:endParaRPr lang="en-US" sz="1200" dirty="0"/>
          </a:p>
        </p:txBody>
      </p:sp>
      <p:sp>
        <p:nvSpPr>
          <p:cNvPr id="30" name="Text 26"/>
          <p:cNvSpPr txBox="1"/>
          <p:nvPr/>
        </p:nvSpPr>
        <p:spPr>
          <a:xfrm>
            <a:off x="2596896" y="3385312"/>
            <a:ext cx="941832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gaan</a:t>
            </a:r>
            <a:endParaRPr lang="en-US" sz="2200" dirty="0"/>
          </a:p>
        </p:txBody>
      </p:sp>
      <p:sp>
        <p:nvSpPr>
          <p:cNvPr id="31" name="tag"/>
          <p:cNvSpPr/>
          <p:nvPr/>
        </p:nvSpPr>
        <p:spPr>
          <a:xfrm>
            <a:off x="3584448" y="3574796"/>
            <a:ext cx="691286" cy="347472"/>
          </a:xfrm>
          <a:prstGeom prst="roundRect">
            <a:avLst>
              <a:gd name="adj" fmla="val 13158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▲B</a:t>
            </a:r>
            <a:endParaRPr lang="en-US" sz="1200" dirty="0"/>
          </a:p>
        </p:txBody>
      </p:sp>
      <p:sp>
        <p:nvSpPr>
          <p:cNvPr id="32" name="Text 28"/>
          <p:cNvSpPr txBox="1"/>
          <p:nvPr/>
        </p:nvSpPr>
        <p:spPr>
          <a:xfrm>
            <a:off x="4407408" y="3385312"/>
            <a:ext cx="941832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naar</a:t>
            </a:r>
            <a:endParaRPr lang="en-US" sz="2200" dirty="0"/>
          </a:p>
        </p:txBody>
      </p:sp>
      <p:sp>
        <p:nvSpPr>
          <p:cNvPr id="33" name="tag"/>
          <p:cNvSpPr/>
          <p:nvPr/>
        </p:nvSpPr>
        <p:spPr>
          <a:xfrm>
            <a:off x="5394960" y="3574796"/>
            <a:ext cx="691286" cy="347472"/>
          </a:xfrm>
          <a:prstGeom prst="roundRect">
            <a:avLst>
              <a:gd name="adj" fmla="val 13158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▲C</a:t>
            </a:r>
            <a:endParaRPr lang="en-US" sz="1200" dirty="0"/>
          </a:p>
        </p:txBody>
      </p:sp>
      <p:sp>
        <p:nvSpPr>
          <p:cNvPr id="34" name="Text 30"/>
          <p:cNvSpPr txBox="1"/>
          <p:nvPr/>
        </p:nvSpPr>
        <p:spPr>
          <a:xfrm>
            <a:off x="6217920" y="3385312"/>
            <a:ext cx="1097280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Gent.</a:t>
            </a:r>
            <a:endParaRPr lang="en-US" sz="2200" dirty="0"/>
          </a:p>
        </p:txBody>
      </p:sp>
      <p:sp>
        <p:nvSpPr>
          <p:cNvPr id="35" name="Shape 31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7" name="Text 33"/>
          <p:cNvSpPr txBox="1"/>
          <p:nvPr/>
        </p:nvSpPr>
        <p:spPr>
          <a:xfrm>
            <a:off x="1097280" y="4111752"/>
            <a:ext cx="630936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Ik</a:t>
            </a:r>
            <a:endParaRPr lang="en-US" sz="2200" dirty="0"/>
          </a:p>
        </p:txBody>
      </p:sp>
      <p:sp>
        <p:nvSpPr>
          <p:cNvPr id="38" name="tag"/>
          <p:cNvSpPr/>
          <p:nvPr/>
        </p:nvSpPr>
        <p:spPr>
          <a:xfrm>
            <a:off x="1773936" y="4301236"/>
            <a:ext cx="691286" cy="347472"/>
          </a:xfrm>
          <a:prstGeom prst="roundRect">
            <a:avLst>
              <a:gd name="adj" fmla="val 13158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▲A</a:t>
            </a:r>
            <a:endParaRPr lang="en-US" sz="1200" dirty="0"/>
          </a:p>
        </p:txBody>
      </p:sp>
      <p:sp>
        <p:nvSpPr>
          <p:cNvPr id="39" name="Text 35"/>
          <p:cNvSpPr txBox="1"/>
          <p:nvPr/>
        </p:nvSpPr>
        <p:spPr>
          <a:xfrm>
            <a:off x="2596896" y="4111752"/>
            <a:ext cx="941832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neem</a:t>
            </a:r>
            <a:endParaRPr lang="en-US" sz="2200" dirty="0"/>
          </a:p>
        </p:txBody>
      </p:sp>
      <p:sp>
        <p:nvSpPr>
          <p:cNvPr id="40" name="tag"/>
          <p:cNvSpPr/>
          <p:nvPr/>
        </p:nvSpPr>
        <p:spPr>
          <a:xfrm>
            <a:off x="3584448" y="4301236"/>
            <a:ext cx="691286" cy="347472"/>
          </a:xfrm>
          <a:prstGeom prst="roundRect">
            <a:avLst>
              <a:gd name="adj" fmla="val 13158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▲B</a:t>
            </a:r>
            <a:endParaRPr lang="en-US" sz="1200" dirty="0"/>
          </a:p>
        </p:txBody>
      </p:sp>
      <p:sp>
        <p:nvSpPr>
          <p:cNvPr id="41" name="Text 37"/>
          <p:cNvSpPr txBox="1"/>
          <p:nvPr/>
        </p:nvSpPr>
        <p:spPr>
          <a:xfrm>
            <a:off x="4407408" y="4111752"/>
            <a:ext cx="2029968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mijn laptop</a:t>
            </a:r>
            <a:endParaRPr lang="en-US" sz="2200" dirty="0"/>
          </a:p>
        </p:txBody>
      </p:sp>
      <p:sp>
        <p:nvSpPr>
          <p:cNvPr id="42" name="tag"/>
          <p:cNvSpPr/>
          <p:nvPr/>
        </p:nvSpPr>
        <p:spPr>
          <a:xfrm>
            <a:off x="6483096" y="4301236"/>
            <a:ext cx="691286" cy="347472"/>
          </a:xfrm>
          <a:prstGeom prst="roundRect">
            <a:avLst>
              <a:gd name="adj" fmla="val 13158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▲C</a:t>
            </a:r>
            <a:endParaRPr lang="en-US" sz="1200" dirty="0"/>
          </a:p>
        </p:txBody>
      </p:sp>
      <p:sp>
        <p:nvSpPr>
          <p:cNvPr id="43" name="Text 39"/>
          <p:cNvSpPr txBox="1"/>
          <p:nvPr/>
        </p:nvSpPr>
        <p:spPr>
          <a:xfrm>
            <a:off x="7306056" y="4111752"/>
            <a:ext cx="941832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mee.</a:t>
            </a:r>
            <a:endParaRPr lang="en-US" sz="2200" dirty="0"/>
          </a:p>
        </p:txBody>
      </p:sp>
      <p:sp>
        <p:nvSpPr>
          <p:cNvPr id="44" name="Shape 40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46" name="Text 42"/>
          <p:cNvSpPr txBox="1"/>
          <p:nvPr/>
        </p:nvSpPr>
        <p:spPr>
          <a:xfrm>
            <a:off x="1097280" y="4838192"/>
            <a:ext cx="2496312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De vergadering</a:t>
            </a:r>
            <a:endParaRPr lang="en-US" sz="2200" dirty="0"/>
          </a:p>
        </p:txBody>
      </p:sp>
      <p:sp>
        <p:nvSpPr>
          <p:cNvPr id="47" name="tag"/>
          <p:cNvSpPr/>
          <p:nvPr/>
        </p:nvSpPr>
        <p:spPr>
          <a:xfrm>
            <a:off x="3639312" y="5027676"/>
            <a:ext cx="691286" cy="347472"/>
          </a:xfrm>
          <a:prstGeom prst="roundRect">
            <a:avLst>
              <a:gd name="adj" fmla="val 13158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▲A</a:t>
            </a:r>
            <a:endParaRPr lang="en-US" sz="1200" dirty="0"/>
          </a:p>
        </p:txBody>
      </p:sp>
      <p:sp>
        <p:nvSpPr>
          <p:cNvPr id="48" name="Text 44"/>
          <p:cNvSpPr txBox="1"/>
          <p:nvPr/>
        </p:nvSpPr>
        <p:spPr>
          <a:xfrm>
            <a:off x="4462272" y="4838192"/>
            <a:ext cx="630936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is</a:t>
            </a:r>
            <a:endParaRPr lang="en-US" sz="2200" dirty="0"/>
          </a:p>
        </p:txBody>
      </p:sp>
      <p:sp>
        <p:nvSpPr>
          <p:cNvPr id="49" name="tag"/>
          <p:cNvSpPr/>
          <p:nvPr/>
        </p:nvSpPr>
        <p:spPr>
          <a:xfrm>
            <a:off x="5138928" y="5027676"/>
            <a:ext cx="691286" cy="347472"/>
          </a:xfrm>
          <a:prstGeom prst="roundRect">
            <a:avLst>
              <a:gd name="adj" fmla="val 13158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▲B</a:t>
            </a:r>
            <a:endParaRPr lang="en-US" sz="1200" dirty="0"/>
          </a:p>
        </p:txBody>
      </p:sp>
      <p:sp>
        <p:nvSpPr>
          <p:cNvPr id="50" name="Text 46"/>
          <p:cNvSpPr txBox="1"/>
          <p:nvPr/>
        </p:nvSpPr>
        <p:spPr>
          <a:xfrm>
            <a:off x="5961888" y="4838192"/>
            <a:ext cx="941832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lang</a:t>
            </a:r>
            <a:endParaRPr lang="en-US" sz="2200" dirty="0"/>
          </a:p>
        </p:txBody>
      </p:sp>
      <p:sp>
        <p:nvSpPr>
          <p:cNvPr id="51" name="tag"/>
          <p:cNvSpPr/>
          <p:nvPr/>
        </p:nvSpPr>
        <p:spPr>
          <a:xfrm>
            <a:off x="6949440" y="5027676"/>
            <a:ext cx="691286" cy="347472"/>
          </a:xfrm>
          <a:prstGeom prst="roundRect">
            <a:avLst>
              <a:gd name="adj" fmla="val 13158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▲C</a:t>
            </a:r>
            <a:endParaRPr lang="en-US" sz="1200" dirty="0"/>
          </a:p>
        </p:txBody>
      </p:sp>
      <p:sp>
        <p:nvSpPr>
          <p:cNvPr id="52" name="Text 48"/>
          <p:cNvSpPr txBox="1"/>
          <p:nvPr/>
        </p:nvSpPr>
        <p:spPr>
          <a:xfrm>
            <a:off x="7680960" y="4838192"/>
            <a:ext cx="274320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.</a:t>
            </a:r>
            <a:endParaRPr lang="en-US" sz="2200" dirty="0"/>
          </a:p>
        </p:txBody>
      </p:sp>
      <p:sp>
        <p:nvSpPr>
          <p:cNvPr id="53" name="Shape 49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Text 50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55" name="Text 51"/>
          <p:cNvSpPr txBox="1"/>
          <p:nvPr/>
        </p:nvSpPr>
        <p:spPr>
          <a:xfrm>
            <a:off x="1097280" y="5564632"/>
            <a:ext cx="786384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Hij</a:t>
            </a:r>
            <a:endParaRPr lang="en-US" sz="2200" dirty="0"/>
          </a:p>
        </p:txBody>
      </p:sp>
      <p:sp>
        <p:nvSpPr>
          <p:cNvPr id="56" name="tag"/>
          <p:cNvSpPr/>
          <p:nvPr/>
        </p:nvSpPr>
        <p:spPr>
          <a:xfrm>
            <a:off x="1929384" y="5754116"/>
            <a:ext cx="691286" cy="347472"/>
          </a:xfrm>
          <a:prstGeom prst="roundRect">
            <a:avLst>
              <a:gd name="adj" fmla="val 13158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▲A</a:t>
            </a:r>
            <a:endParaRPr lang="en-US" sz="1200" dirty="0"/>
          </a:p>
        </p:txBody>
      </p:sp>
      <p:sp>
        <p:nvSpPr>
          <p:cNvPr id="57" name="Text 53"/>
          <p:cNvSpPr txBox="1"/>
          <p:nvPr/>
        </p:nvSpPr>
        <p:spPr>
          <a:xfrm>
            <a:off x="2752344" y="5564632"/>
            <a:ext cx="1097280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heeft</a:t>
            </a:r>
            <a:endParaRPr lang="en-US" sz="2200" dirty="0"/>
          </a:p>
        </p:txBody>
      </p:sp>
      <p:sp>
        <p:nvSpPr>
          <p:cNvPr id="58" name="tag"/>
          <p:cNvSpPr/>
          <p:nvPr/>
        </p:nvSpPr>
        <p:spPr>
          <a:xfrm>
            <a:off x="3895344" y="5754116"/>
            <a:ext cx="691286" cy="347472"/>
          </a:xfrm>
          <a:prstGeom prst="roundRect">
            <a:avLst>
              <a:gd name="adj" fmla="val 13158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▲B</a:t>
            </a:r>
            <a:endParaRPr lang="en-US" sz="1200" dirty="0"/>
          </a:p>
        </p:txBody>
      </p:sp>
      <p:sp>
        <p:nvSpPr>
          <p:cNvPr id="59" name="Text 55"/>
          <p:cNvSpPr txBox="1"/>
          <p:nvPr/>
        </p:nvSpPr>
        <p:spPr>
          <a:xfrm>
            <a:off x="4718304" y="5564632"/>
            <a:ext cx="1563624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gisteren</a:t>
            </a:r>
            <a:endParaRPr lang="en-US" sz="2200" dirty="0"/>
          </a:p>
        </p:txBody>
      </p:sp>
      <p:sp>
        <p:nvSpPr>
          <p:cNvPr id="60" name="tag"/>
          <p:cNvSpPr/>
          <p:nvPr/>
        </p:nvSpPr>
        <p:spPr>
          <a:xfrm>
            <a:off x="6327648" y="5754116"/>
            <a:ext cx="691286" cy="347472"/>
          </a:xfrm>
          <a:prstGeom prst="roundRect">
            <a:avLst>
              <a:gd name="adj" fmla="val 13158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▲C</a:t>
            </a:r>
            <a:endParaRPr lang="en-US" sz="1200" dirty="0"/>
          </a:p>
        </p:txBody>
      </p:sp>
      <p:sp>
        <p:nvSpPr>
          <p:cNvPr id="61" name="Text 57"/>
          <p:cNvSpPr txBox="1"/>
          <p:nvPr/>
        </p:nvSpPr>
        <p:spPr>
          <a:xfrm>
            <a:off x="7150608" y="5564632"/>
            <a:ext cx="1563624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gewerkt.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Où va niet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Choisissez l’emplacement A, B ou C.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1097280" y="1932432"/>
            <a:ext cx="630936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Ik</a:t>
            </a:r>
            <a:endParaRPr lang="en-US" sz="2200" dirty="0"/>
          </a:p>
        </p:txBody>
      </p:sp>
      <p:sp>
        <p:nvSpPr>
          <p:cNvPr id="12" name="Text 8"/>
          <p:cNvSpPr txBox="1"/>
          <p:nvPr/>
        </p:nvSpPr>
        <p:spPr>
          <a:xfrm>
            <a:off x="1837944" y="1932432"/>
            <a:ext cx="786384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kan</a:t>
            </a:r>
            <a:endParaRPr lang="en-US" sz="2200" dirty="0"/>
          </a:p>
        </p:txBody>
      </p:sp>
      <p:sp>
        <p:nvSpPr>
          <p:cNvPr id="13" name="Text 9"/>
          <p:cNvSpPr txBox="1"/>
          <p:nvPr/>
        </p:nvSpPr>
        <p:spPr>
          <a:xfrm>
            <a:off x="2734056" y="1932432"/>
            <a:ext cx="1252728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morgen</a:t>
            </a:r>
            <a:endParaRPr lang="en-US" sz="2200" dirty="0"/>
          </a:p>
        </p:txBody>
      </p:sp>
      <p:sp>
        <p:nvSpPr>
          <p:cNvPr id="14" name="Shape 10"/>
          <p:cNvSpPr/>
          <p:nvPr/>
        </p:nvSpPr>
        <p:spPr>
          <a:xfrm>
            <a:off x="4032504" y="2021332"/>
            <a:ext cx="731520" cy="54864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4032504" y="2021332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niet</a:t>
            </a:r>
            <a:endParaRPr lang="en-US" sz="1700" dirty="0"/>
          </a:p>
        </p:txBody>
      </p:sp>
      <p:sp>
        <p:nvSpPr>
          <p:cNvPr id="16" name="Text 12"/>
          <p:cNvSpPr txBox="1"/>
          <p:nvPr/>
        </p:nvSpPr>
        <p:spPr>
          <a:xfrm>
            <a:off x="4855464" y="1932432"/>
            <a:ext cx="1252728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komen.</a:t>
            </a:r>
            <a:endParaRPr lang="en-US" sz="2200" dirty="0"/>
          </a:p>
        </p:txBody>
      </p:sp>
      <p:sp>
        <p:nvSpPr>
          <p:cNvPr id="17" name="tag"/>
          <p:cNvSpPr/>
          <p:nvPr/>
        </p:nvSpPr>
        <p:spPr>
          <a:xfrm>
            <a:off x="11064240" y="2121916"/>
            <a:ext cx="482651" cy="347472"/>
          </a:xfrm>
          <a:prstGeom prst="roundRect">
            <a:avLst>
              <a:gd name="adj" fmla="val 13158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</a:rPr>
              <a:t>C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20" name="Text 16"/>
          <p:cNvSpPr txBox="1"/>
          <p:nvPr/>
        </p:nvSpPr>
        <p:spPr>
          <a:xfrm>
            <a:off x="1097280" y="2658872"/>
            <a:ext cx="1097280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Sofie</a:t>
            </a:r>
            <a:endParaRPr lang="en-US" sz="2200" dirty="0"/>
          </a:p>
        </p:txBody>
      </p:sp>
      <p:sp>
        <p:nvSpPr>
          <p:cNvPr id="21" name="Text 17"/>
          <p:cNvSpPr txBox="1"/>
          <p:nvPr/>
        </p:nvSpPr>
        <p:spPr>
          <a:xfrm>
            <a:off x="2304288" y="2658872"/>
            <a:ext cx="941832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ziet</a:t>
            </a:r>
            <a:endParaRPr lang="en-US" sz="2200" dirty="0"/>
          </a:p>
        </p:txBody>
      </p:sp>
      <p:sp>
        <p:nvSpPr>
          <p:cNvPr id="22" name="Text 18"/>
          <p:cNvSpPr txBox="1"/>
          <p:nvPr/>
        </p:nvSpPr>
        <p:spPr>
          <a:xfrm>
            <a:off x="3355848" y="2658872"/>
            <a:ext cx="1563624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de klant</a:t>
            </a:r>
            <a:endParaRPr lang="en-US" sz="2200" dirty="0"/>
          </a:p>
        </p:txBody>
      </p:sp>
      <p:sp>
        <p:nvSpPr>
          <p:cNvPr id="23" name="Shape 19"/>
          <p:cNvSpPr/>
          <p:nvPr/>
        </p:nvSpPr>
        <p:spPr>
          <a:xfrm>
            <a:off x="4965192" y="2747772"/>
            <a:ext cx="731520" cy="54864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4965192" y="2747772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niet</a:t>
            </a:r>
            <a:endParaRPr lang="en-US" sz="1700" dirty="0"/>
          </a:p>
        </p:txBody>
      </p:sp>
      <p:sp>
        <p:nvSpPr>
          <p:cNvPr id="25" name="Text 21"/>
          <p:cNvSpPr txBox="1"/>
          <p:nvPr/>
        </p:nvSpPr>
        <p:spPr>
          <a:xfrm>
            <a:off x="5696712" y="2658872"/>
            <a:ext cx="274320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.</a:t>
            </a:r>
            <a:endParaRPr lang="en-US" sz="2200" dirty="0"/>
          </a:p>
        </p:txBody>
      </p:sp>
      <p:sp>
        <p:nvSpPr>
          <p:cNvPr id="26" name="tag"/>
          <p:cNvSpPr/>
          <p:nvPr/>
        </p:nvSpPr>
        <p:spPr>
          <a:xfrm>
            <a:off x="11064240" y="2848356"/>
            <a:ext cx="482651" cy="347472"/>
          </a:xfrm>
          <a:prstGeom prst="roundRect">
            <a:avLst>
              <a:gd name="adj" fmla="val 13158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</a:rPr>
              <a:t>C</a:t>
            </a:r>
            <a:endParaRPr lang="en-US" sz="1300" dirty="0"/>
          </a:p>
        </p:txBody>
      </p:sp>
      <p:sp>
        <p:nvSpPr>
          <p:cNvPr id="27" name="Shape 23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9" name="Text 25"/>
          <p:cNvSpPr txBox="1"/>
          <p:nvPr/>
        </p:nvSpPr>
        <p:spPr>
          <a:xfrm>
            <a:off x="1097280" y="3385312"/>
            <a:ext cx="630936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We</a:t>
            </a:r>
            <a:endParaRPr lang="en-US" sz="2200" dirty="0"/>
          </a:p>
        </p:txBody>
      </p:sp>
      <p:sp>
        <p:nvSpPr>
          <p:cNvPr id="30" name="Text 26"/>
          <p:cNvSpPr txBox="1"/>
          <p:nvPr/>
        </p:nvSpPr>
        <p:spPr>
          <a:xfrm>
            <a:off x="1837944" y="3385312"/>
            <a:ext cx="941832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gaan</a:t>
            </a:r>
            <a:endParaRPr lang="en-US" sz="2200" dirty="0"/>
          </a:p>
        </p:txBody>
      </p:sp>
      <p:sp>
        <p:nvSpPr>
          <p:cNvPr id="31" name="Shape 27"/>
          <p:cNvSpPr/>
          <p:nvPr/>
        </p:nvSpPr>
        <p:spPr>
          <a:xfrm>
            <a:off x="2825496" y="3474212"/>
            <a:ext cx="731520" cy="54864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2825496" y="3474212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niet</a:t>
            </a:r>
            <a:endParaRPr lang="en-US" sz="1700" dirty="0"/>
          </a:p>
        </p:txBody>
      </p:sp>
      <p:sp>
        <p:nvSpPr>
          <p:cNvPr id="33" name="Text 29"/>
          <p:cNvSpPr txBox="1"/>
          <p:nvPr/>
        </p:nvSpPr>
        <p:spPr>
          <a:xfrm>
            <a:off x="3648456" y="3385312"/>
            <a:ext cx="941832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naar</a:t>
            </a:r>
            <a:endParaRPr lang="en-US" sz="2200" dirty="0"/>
          </a:p>
        </p:txBody>
      </p:sp>
      <p:sp>
        <p:nvSpPr>
          <p:cNvPr id="34" name="Text 30"/>
          <p:cNvSpPr txBox="1"/>
          <p:nvPr/>
        </p:nvSpPr>
        <p:spPr>
          <a:xfrm>
            <a:off x="4700016" y="3385312"/>
            <a:ext cx="1097280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Gent.</a:t>
            </a:r>
            <a:endParaRPr lang="en-US" sz="2200" dirty="0"/>
          </a:p>
        </p:txBody>
      </p:sp>
      <p:sp>
        <p:nvSpPr>
          <p:cNvPr id="35" name="tag"/>
          <p:cNvSpPr/>
          <p:nvPr/>
        </p:nvSpPr>
        <p:spPr>
          <a:xfrm>
            <a:off x="11064240" y="3574796"/>
            <a:ext cx="482651" cy="347472"/>
          </a:xfrm>
          <a:prstGeom prst="roundRect">
            <a:avLst>
              <a:gd name="adj" fmla="val 13158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</a:rPr>
              <a:t>B</a:t>
            </a:r>
            <a:endParaRPr lang="en-US" sz="1300" dirty="0"/>
          </a:p>
        </p:txBody>
      </p:sp>
      <p:sp>
        <p:nvSpPr>
          <p:cNvPr id="36" name="Shape 32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8" name="Text 34"/>
          <p:cNvSpPr txBox="1"/>
          <p:nvPr/>
        </p:nvSpPr>
        <p:spPr>
          <a:xfrm>
            <a:off x="1097280" y="4111752"/>
            <a:ext cx="630936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Ik</a:t>
            </a:r>
            <a:endParaRPr lang="en-US" sz="2200" dirty="0"/>
          </a:p>
        </p:txBody>
      </p:sp>
      <p:sp>
        <p:nvSpPr>
          <p:cNvPr id="39" name="Text 35"/>
          <p:cNvSpPr txBox="1"/>
          <p:nvPr/>
        </p:nvSpPr>
        <p:spPr>
          <a:xfrm>
            <a:off x="1837944" y="4111752"/>
            <a:ext cx="941832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neem</a:t>
            </a:r>
            <a:endParaRPr lang="en-US" sz="2200" dirty="0"/>
          </a:p>
        </p:txBody>
      </p:sp>
      <p:sp>
        <p:nvSpPr>
          <p:cNvPr id="40" name="Text 36"/>
          <p:cNvSpPr txBox="1"/>
          <p:nvPr/>
        </p:nvSpPr>
        <p:spPr>
          <a:xfrm>
            <a:off x="2889504" y="4111752"/>
            <a:ext cx="2029968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mijn laptop</a:t>
            </a:r>
            <a:endParaRPr lang="en-US" sz="2200" dirty="0"/>
          </a:p>
        </p:txBody>
      </p:sp>
      <p:sp>
        <p:nvSpPr>
          <p:cNvPr id="41" name="Shape 37"/>
          <p:cNvSpPr/>
          <p:nvPr/>
        </p:nvSpPr>
        <p:spPr>
          <a:xfrm>
            <a:off x="4965192" y="4200652"/>
            <a:ext cx="731520" cy="54864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8"/>
          <p:cNvSpPr txBox="1"/>
          <p:nvPr/>
        </p:nvSpPr>
        <p:spPr>
          <a:xfrm>
            <a:off x="4965192" y="4200652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niet</a:t>
            </a:r>
            <a:endParaRPr lang="en-US" sz="1700" dirty="0"/>
          </a:p>
        </p:txBody>
      </p:sp>
      <p:sp>
        <p:nvSpPr>
          <p:cNvPr id="43" name="Text 39"/>
          <p:cNvSpPr txBox="1"/>
          <p:nvPr/>
        </p:nvSpPr>
        <p:spPr>
          <a:xfrm>
            <a:off x="5788152" y="4111752"/>
            <a:ext cx="941832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mee.</a:t>
            </a:r>
            <a:endParaRPr lang="en-US" sz="2200" dirty="0"/>
          </a:p>
        </p:txBody>
      </p:sp>
      <p:sp>
        <p:nvSpPr>
          <p:cNvPr id="44" name="tag"/>
          <p:cNvSpPr/>
          <p:nvPr/>
        </p:nvSpPr>
        <p:spPr>
          <a:xfrm>
            <a:off x="11064240" y="4301236"/>
            <a:ext cx="482651" cy="347472"/>
          </a:xfrm>
          <a:prstGeom prst="roundRect">
            <a:avLst>
              <a:gd name="adj" fmla="val 13158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</a:rPr>
              <a:t>C</a:t>
            </a:r>
            <a:endParaRPr lang="en-US" sz="1300" dirty="0"/>
          </a:p>
        </p:txBody>
      </p:sp>
      <p:sp>
        <p:nvSpPr>
          <p:cNvPr id="45" name="Shape 41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Text 42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47" name="Text 43"/>
          <p:cNvSpPr txBox="1"/>
          <p:nvPr/>
        </p:nvSpPr>
        <p:spPr>
          <a:xfrm>
            <a:off x="1097280" y="4838192"/>
            <a:ext cx="2496312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De vergadering</a:t>
            </a:r>
            <a:endParaRPr lang="en-US" sz="2200" dirty="0"/>
          </a:p>
        </p:txBody>
      </p:sp>
      <p:sp>
        <p:nvSpPr>
          <p:cNvPr id="48" name="Text 44"/>
          <p:cNvSpPr txBox="1"/>
          <p:nvPr/>
        </p:nvSpPr>
        <p:spPr>
          <a:xfrm>
            <a:off x="3703320" y="4838192"/>
            <a:ext cx="630936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is</a:t>
            </a:r>
            <a:endParaRPr lang="en-US" sz="2200" dirty="0"/>
          </a:p>
        </p:txBody>
      </p:sp>
      <p:sp>
        <p:nvSpPr>
          <p:cNvPr id="49" name="Shape 45"/>
          <p:cNvSpPr/>
          <p:nvPr/>
        </p:nvSpPr>
        <p:spPr>
          <a:xfrm>
            <a:off x="4379976" y="4927092"/>
            <a:ext cx="731520" cy="54864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4379976" y="4927092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niet</a:t>
            </a:r>
            <a:endParaRPr lang="en-US" sz="1700" dirty="0"/>
          </a:p>
        </p:txBody>
      </p:sp>
      <p:sp>
        <p:nvSpPr>
          <p:cNvPr id="51" name="Text 47"/>
          <p:cNvSpPr txBox="1"/>
          <p:nvPr/>
        </p:nvSpPr>
        <p:spPr>
          <a:xfrm>
            <a:off x="5202936" y="4838192"/>
            <a:ext cx="941832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lang</a:t>
            </a:r>
            <a:endParaRPr lang="en-US" sz="2200" dirty="0"/>
          </a:p>
        </p:txBody>
      </p:sp>
      <p:sp>
        <p:nvSpPr>
          <p:cNvPr id="52" name="Text 48"/>
          <p:cNvSpPr txBox="1"/>
          <p:nvPr/>
        </p:nvSpPr>
        <p:spPr>
          <a:xfrm>
            <a:off x="6163056" y="4838192"/>
            <a:ext cx="274320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.</a:t>
            </a:r>
            <a:endParaRPr lang="en-US" sz="2200" dirty="0"/>
          </a:p>
        </p:txBody>
      </p:sp>
      <p:sp>
        <p:nvSpPr>
          <p:cNvPr id="53" name="tag"/>
          <p:cNvSpPr/>
          <p:nvPr/>
        </p:nvSpPr>
        <p:spPr>
          <a:xfrm>
            <a:off x="11064240" y="5027676"/>
            <a:ext cx="482651" cy="347472"/>
          </a:xfrm>
          <a:prstGeom prst="roundRect">
            <a:avLst>
              <a:gd name="adj" fmla="val 13158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</a:rPr>
              <a:t>B</a:t>
            </a:r>
            <a:endParaRPr lang="en-US" sz="1300" dirty="0"/>
          </a:p>
        </p:txBody>
      </p:sp>
      <p:sp>
        <p:nvSpPr>
          <p:cNvPr id="54" name="Shape 50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Text 51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56" name="Text 52"/>
          <p:cNvSpPr txBox="1"/>
          <p:nvPr/>
        </p:nvSpPr>
        <p:spPr>
          <a:xfrm>
            <a:off x="1097280" y="5564632"/>
            <a:ext cx="786384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Hij</a:t>
            </a:r>
            <a:endParaRPr lang="en-US" sz="2200" dirty="0"/>
          </a:p>
        </p:txBody>
      </p:sp>
      <p:sp>
        <p:nvSpPr>
          <p:cNvPr id="57" name="Text 53"/>
          <p:cNvSpPr txBox="1"/>
          <p:nvPr/>
        </p:nvSpPr>
        <p:spPr>
          <a:xfrm>
            <a:off x="1993392" y="5564632"/>
            <a:ext cx="1097280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heeft</a:t>
            </a:r>
            <a:endParaRPr lang="en-US" sz="2200" dirty="0"/>
          </a:p>
        </p:txBody>
      </p:sp>
      <p:sp>
        <p:nvSpPr>
          <p:cNvPr id="58" name="Text 54"/>
          <p:cNvSpPr txBox="1"/>
          <p:nvPr/>
        </p:nvSpPr>
        <p:spPr>
          <a:xfrm>
            <a:off x="3200400" y="5564632"/>
            <a:ext cx="1563624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gisteren</a:t>
            </a:r>
            <a:endParaRPr lang="en-US" sz="2200" dirty="0"/>
          </a:p>
        </p:txBody>
      </p:sp>
      <p:sp>
        <p:nvSpPr>
          <p:cNvPr id="59" name="Shape 55"/>
          <p:cNvSpPr/>
          <p:nvPr/>
        </p:nvSpPr>
        <p:spPr>
          <a:xfrm>
            <a:off x="4809744" y="5653532"/>
            <a:ext cx="731520" cy="54864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0" name="Text 56"/>
          <p:cNvSpPr txBox="1"/>
          <p:nvPr/>
        </p:nvSpPr>
        <p:spPr>
          <a:xfrm>
            <a:off x="4809744" y="5653532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niet</a:t>
            </a:r>
            <a:endParaRPr lang="en-US" sz="1700" dirty="0"/>
          </a:p>
        </p:txBody>
      </p:sp>
      <p:sp>
        <p:nvSpPr>
          <p:cNvPr id="61" name="Text 57"/>
          <p:cNvSpPr txBox="1"/>
          <p:nvPr/>
        </p:nvSpPr>
        <p:spPr>
          <a:xfrm>
            <a:off x="5632704" y="5564632"/>
            <a:ext cx="1563624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gewerkt.</a:t>
            </a:r>
            <a:endParaRPr lang="en-US" sz="2200" dirty="0"/>
          </a:p>
        </p:txBody>
      </p:sp>
      <p:sp>
        <p:nvSpPr>
          <p:cNvPr id="62" name="tag"/>
          <p:cNvSpPr/>
          <p:nvPr/>
        </p:nvSpPr>
        <p:spPr>
          <a:xfrm>
            <a:off x="11064240" y="5754116"/>
            <a:ext cx="482651" cy="347472"/>
          </a:xfrm>
          <a:prstGeom prst="roundRect">
            <a:avLst>
              <a:gd name="adj" fmla="val 13158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</a:rPr>
              <a:t>C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Zoek iemand die…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600200"/>
            <a:ext cx="2377440" cy="1417320"/>
          </a:xfrm>
          <a:prstGeom prst="roundRect">
            <a:avLst>
              <a:gd name="adj" fmla="val 5161"/>
            </a:avLst>
          </a:prstGeom>
          <a:solidFill>
            <a:schemeClr val="bg1"/>
          </a:solidFill>
          <a:ln w="22225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7" name="Image 0" descr="hot beverag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17320" y="1691640"/>
            <a:ext cx="594360" cy="59436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640080" y="22860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…geen koffie drinkt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822960" y="2880360"/>
            <a:ext cx="182880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10" name="Shape 6"/>
          <p:cNvSpPr/>
          <p:nvPr/>
        </p:nvSpPr>
        <p:spPr>
          <a:xfrm>
            <a:off x="3063240" y="1600200"/>
            <a:ext cx="2377440" cy="1417320"/>
          </a:xfrm>
          <a:prstGeom prst="roundRect">
            <a:avLst>
              <a:gd name="adj" fmla="val 5161"/>
            </a:avLst>
          </a:prstGeom>
          <a:solidFill>
            <a:schemeClr val="bg1"/>
          </a:solidFill>
          <a:ln w="22225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1" name="Image 1" descr="cityscap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1920" y="1691640"/>
            <a:ext cx="594360" cy="59436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3154680" y="22860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…niet in Brussel woont</a:t>
            </a:r>
            <a:endParaRPr lang="en-US" sz="1400" dirty="0"/>
          </a:p>
        </p:txBody>
      </p:sp>
      <p:sp>
        <p:nvSpPr>
          <p:cNvPr id="13" name="Shape 8"/>
          <p:cNvSpPr/>
          <p:nvPr/>
        </p:nvSpPr>
        <p:spPr>
          <a:xfrm>
            <a:off x="3337560" y="2880360"/>
            <a:ext cx="182880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14" name="Shape 9"/>
          <p:cNvSpPr/>
          <p:nvPr/>
        </p:nvSpPr>
        <p:spPr>
          <a:xfrm>
            <a:off x="5577840" y="1600200"/>
            <a:ext cx="2377440" cy="1417320"/>
          </a:xfrm>
          <a:prstGeom prst="roundRect">
            <a:avLst>
              <a:gd name="adj" fmla="val 5161"/>
            </a:avLst>
          </a:prstGeom>
          <a:solidFill>
            <a:schemeClr val="bg1"/>
          </a:solidFill>
          <a:ln w="22225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5" name="Image 2" descr="do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6520" y="1691640"/>
            <a:ext cx="594360" cy="59436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5669280" y="22860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…geen huisdieren heeft</a:t>
            </a:r>
            <a:endParaRPr lang="en-US" sz="1400" dirty="0"/>
          </a:p>
        </p:txBody>
      </p:sp>
      <p:sp>
        <p:nvSpPr>
          <p:cNvPr id="17" name="Shape 11"/>
          <p:cNvSpPr/>
          <p:nvPr/>
        </p:nvSpPr>
        <p:spPr>
          <a:xfrm>
            <a:off x="5852160" y="2880360"/>
            <a:ext cx="182880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18" name="Shape 12"/>
          <p:cNvSpPr/>
          <p:nvPr/>
        </p:nvSpPr>
        <p:spPr>
          <a:xfrm>
            <a:off x="548640" y="3154680"/>
            <a:ext cx="2377440" cy="1417320"/>
          </a:xfrm>
          <a:prstGeom prst="roundRect">
            <a:avLst>
              <a:gd name="adj" fmla="val 5161"/>
            </a:avLst>
          </a:prstGeom>
          <a:solidFill>
            <a:schemeClr val="bg1"/>
          </a:solidFill>
          <a:ln w="22225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9" name="Image 3" descr="cooki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17320" y="3246120"/>
            <a:ext cx="594360" cy="594360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640080" y="38404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…niet graag kookt</a:t>
            </a:r>
            <a:endParaRPr lang="en-US" sz="1400" dirty="0"/>
          </a:p>
        </p:txBody>
      </p:sp>
      <p:sp>
        <p:nvSpPr>
          <p:cNvPr id="21" name="Shape 14"/>
          <p:cNvSpPr/>
          <p:nvPr/>
        </p:nvSpPr>
        <p:spPr>
          <a:xfrm>
            <a:off x="822960" y="4434840"/>
            <a:ext cx="182880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22" name="Shape 15"/>
          <p:cNvSpPr/>
          <p:nvPr/>
        </p:nvSpPr>
        <p:spPr>
          <a:xfrm>
            <a:off x="3063240" y="3154680"/>
            <a:ext cx="2377440" cy="1417320"/>
          </a:xfrm>
          <a:prstGeom prst="roundRect">
            <a:avLst>
              <a:gd name="adj" fmla="val 5161"/>
            </a:avLst>
          </a:prstGeom>
          <a:solidFill>
            <a:schemeClr val="bg1"/>
          </a:solidFill>
          <a:ln w="22225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3" name="Image 4" descr="popcor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1920" y="3246120"/>
            <a:ext cx="594360" cy="594360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3154680" y="38404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…nooit naar de cinema gaat</a:t>
            </a:r>
            <a:endParaRPr lang="en-US" sz="1400" dirty="0"/>
          </a:p>
        </p:txBody>
      </p:sp>
      <p:sp>
        <p:nvSpPr>
          <p:cNvPr id="25" name="Shape 17"/>
          <p:cNvSpPr/>
          <p:nvPr/>
        </p:nvSpPr>
        <p:spPr>
          <a:xfrm>
            <a:off x="3337560" y="4434840"/>
            <a:ext cx="182880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26" name="Shape 18"/>
          <p:cNvSpPr/>
          <p:nvPr/>
        </p:nvSpPr>
        <p:spPr>
          <a:xfrm>
            <a:off x="5577840" y="3154680"/>
            <a:ext cx="2377440" cy="1417320"/>
          </a:xfrm>
          <a:prstGeom prst="roundRect">
            <a:avLst>
              <a:gd name="adj" fmla="val 5161"/>
            </a:avLst>
          </a:prstGeom>
          <a:solidFill>
            <a:schemeClr val="bg1"/>
          </a:solidFill>
          <a:ln w="22225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7" name="Image 5" descr="speaking head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46520" y="3246120"/>
            <a:ext cx="594360" cy="594360"/>
          </a:xfrm>
          <a:prstGeom prst="rect">
            <a:avLst/>
          </a:prstGeom>
        </p:spPr>
      </p:pic>
      <p:sp>
        <p:nvSpPr>
          <p:cNvPr id="28" name="Text 19"/>
          <p:cNvSpPr txBox="1"/>
          <p:nvPr/>
        </p:nvSpPr>
        <p:spPr>
          <a:xfrm>
            <a:off x="5669280" y="38404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…geen Engels spreekt</a:t>
            </a:r>
            <a:endParaRPr lang="en-US" sz="1400" dirty="0"/>
          </a:p>
        </p:txBody>
      </p:sp>
      <p:sp>
        <p:nvSpPr>
          <p:cNvPr id="29" name="Shape 20"/>
          <p:cNvSpPr/>
          <p:nvPr/>
        </p:nvSpPr>
        <p:spPr>
          <a:xfrm>
            <a:off x="5852160" y="4434840"/>
            <a:ext cx="182880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30" name="Shape 21"/>
          <p:cNvSpPr/>
          <p:nvPr/>
        </p:nvSpPr>
        <p:spPr>
          <a:xfrm>
            <a:off x="548640" y="4709160"/>
            <a:ext cx="2377440" cy="1417320"/>
          </a:xfrm>
          <a:prstGeom prst="roundRect">
            <a:avLst>
              <a:gd name="adj" fmla="val 5161"/>
            </a:avLst>
          </a:prstGeom>
          <a:solidFill>
            <a:schemeClr val="bg1"/>
          </a:solidFill>
          <a:ln w="22225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1" name="Image 6" descr="automobil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417320" y="4800600"/>
            <a:ext cx="594360" cy="594360"/>
          </a:xfrm>
          <a:prstGeom prst="rect">
            <a:avLst/>
          </a:prstGeom>
        </p:spPr>
      </p:pic>
      <p:sp>
        <p:nvSpPr>
          <p:cNvPr id="32" name="Text 22"/>
          <p:cNvSpPr txBox="1"/>
          <p:nvPr/>
        </p:nvSpPr>
        <p:spPr>
          <a:xfrm>
            <a:off x="640080" y="539496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…niet met de auto komt</a:t>
            </a:r>
            <a:endParaRPr lang="en-US" sz="1400" dirty="0"/>
          </a:p>
        </p:txBody>
      </p:sp>
      <p:sp>
        <p:nvSpPr>
          <p:cNvPr id="33" name="Shape 23"/>
          <p:cNvSpPr/>
          <p:nvPr/>
        </p:nvSpPr>
        <p:spPr>
          <a:xfrm>
            <a:off x="822960" y="5989320"/>
            <a:ext cx="182880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34" name="Shape 24"/>
          <p:cNvSpPr/>
          <p:nvPr/>
        </p:nvSpPr>
        <p:spPr>
          <a:xfrm>
            <a:off x="3063240" y="4709160"/>
            <a:ext cx="2377440" cy="1417320"/>
          </a:xfrm>
          <a:prstGeom prst="roundRect">
            <a:avLst>
              <a:gd name="adj" fmla="val 5161"/>
            </a:avLst>
          </a:prstGeom>
          <a:solidFill>
            <a:schemeClr val="bg1"/>
          </a:solidFill>
          <a:ln w="22225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5" name="Image 7" descr="people huggi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931920" y="4800600"/>
            <a:ext cx="594360" cy="594360"/>
          </a:xfrm>
          <a:prstGeom prst="rect">
            <a:avLst/>
          </a:prstGeom>
        </p:spPr>
      </p:pic>
      <p:sp>
        <p:nvSpPr>
          <p:cNvPr id="36" name="Text 25"/>
          <p:cNvSpPr txBox="1"/>
          <p:nvPr/>
        </p:nvSpPr>
        <p:spPr>
          <a:xfrm>
            <a:off x="3154680" y="539496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…geen broers heeft</a:t>
            </a:r>
            <a:endParaRPr lang="en-US" sz="1400" dirty="0"/>
          </a:p>
        </p:txBody>
      </p:sp>
      <p:sp>
        <p:nvSpPr>
          <p:cNvPr id="37" name="Shape 26"/>
          <p:cNvSpPr/>
          <p:nvPr/>
        </p:nvSpPr>
        <p:spPr>
          <a:xfrm>
            <a:off x="3337560" y="5989320"/>
            <a:ext cx="182880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38" name="Shape 27"/>
          <p:cNvSpPr/>
          <p:nvPr/>
        </p:nvSpPr>
        <p:spPr>
          <a:xfrm>
            <a:off x="5577840" y="4709160"/>
            <a:ext cx="2377440" cy="1417320"/>
          </a:xfrm>
          <a:prstGeom prst="roundRect">
            <a:avLst>
              <a:gd name="adj" fmla="val 5161"/>
            </a:avLst>
          </a:prstGeom>
          <a:solidFill>
            <a:schemeClr val="bg1"/>
          </a:solidFill>
          <a:ln w="22225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9" name="Image 8" descr="person runni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46520" y="4800600"/>
            <a:ext cx="594360" cy="594360"/>
          </a:xfrm>
          <a:prstGeom prst="rect">
            <a:avLst/>
          </a:prstGeom>
        </p:spPr>
      </p:pic>
      <p:sp>
        <p:nvSpPr>
          <p:cNvPr id="40" name="Text 28"/>
          <p:cNvSpPr txBox="1"/>
          <p:nvPr/>
        </p:nvSpPr>
        <p:spPr>
          <a:xfrm>
            <a:off x="5669280" y="539496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…niet sport</a:t>
            </a:r>
            <a:endParaRPr lang="en-US" sz="1400" dirty="0"/>
          </a:p>
        </p:txBody>
      </p:sp>
      <p:sp>
        <p:nvSpPr>
          <p:cNvPr id="41" name="Shape 29"/>
          <p:cNvSpPr/>
          <p:nvPr/>
        </p:nvSpPr>
        <p:spPr>
          <a:xfrm>
            <a:off x="5852160" y="5989320"/>
            <a:ext cx="182880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42" name="Text 30"/>
          <p:cNvSpPr txBox="1"/>
          <p:nvPr/>
        </p:nvSpPr>
        <p:spPr>
          <a:xfrm>
            <a:off x="8229600" y="1600200"/>
            <a:ext cx="34107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Zoek iemand die…</a:t>
            </a:r>
            <a:endParaRPr lang="en-US" sz="2400" dirty="0"/>
          </a:p>
        </p:txBody>
      </p:sp>
      <p:sp>
        <p:nvSpPr>
          <p:cNvPr id="43" name="Text 31"/>
          <p:cNvSpPr txBox="1"/>
          <p:nvPr/>
        </p:nvSpPr>
        <p:spPr>
          <a:xfrm>
            <a:off x="8229600" y="2240280"/>
            <a:ext cx="3410712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1.</a:t>
            </a:r>
            <a:r>
              <a:rPr lang="en-US" sz="1600" dirty="0">
                <a:solidFill>
                  <a:schemeClr val="tx1"/>
                </a:solidFill>
              </a:rPr>
              <a:t> Posez une question : </a:t>
            </a:r>
            <a:r>
              <a:rPr lang="en-US" sz="1600" i="1" dirty="0">
                <a:solidFill>
                  <a:schemeClr val="tx1"/>
                </a:solidFill>
              </a:rPr>
              <a:t>Drink je koffie?</a:t>
            </a:r>
            <a:endParaRPr lang="en-US" sz="16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2.</a:t>
            </a:r>
            <a:r>
              <a:rPr lang="en-US" sz="1600" dirty="0">
                <a:solidFill>
                  <a:schemeClr val="tx1"/>
                </a:solidFill>
              </a:rPr>
              <a:t> Réponse négative ? Notez le prénom.</a:t>
            </a:r>
            <a:endParaRPr lang="en-US" sz="16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3.</a:t>
            </a:r>
            <a:r>
              <a:rPr lang="en-US" sz="1600" dirty="0">
                <a:solidFill>
                  <a:schemeClr val="tx1"/>
                </a:solidFill>
              </a:rPr>
              <a:t> 3 prénoms en ligne : </a:t>
            </a:r>
            <a:r>
              <a:rPr lang="en-US" sz="1600" i="1" dirty="0">
                <a:solidFill>
                  <a:schemeClr val="tx1"/>
                </a:solidFill>
              </a:rPr>
              <a:t>Bingo!</a:t>
            </a:r>
            <a:endParaRPr lang="en-US" sz="16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Exigez la phrase complète : </a:t>
            </a:r>
            <a:r>
              <a:rPr lang="en-US" sz="1600" i="1" dirty="0">
                <a:solidFill>
                  <a:schemeClr val="tx1"/>
                </a:solidFill>
              </a:rPr>
              <a:t>Nee, ik drink geen koffie.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Ahmed décrit son nouveau job. Trouvez les 5 erreurs.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77240" y="193243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Mijn nieuwe job — Ahmed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868680" y="2572512"/>
            <a:ext cx="7589520" cy="353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000" i="1" dirty="0">
                <a:solidFill>
                  <a:schemeClr val="tx1"/>
                </a:solidFill>
              </a:rPr>
              <a:t>Ik werk sinds maandag bij Peeters &amp; Co. </a:t>
            </a:r>
            <a:r>
              <a:rPr lang="en-US" sz="2000" i="1" dirty="0">
                <a:solidFill>
                  <a:schemeClr val="tx1"/>
                </a:solidFill>
              </a:rPr>
              <a:t>Ik ken niet de collega’s goed</a:t>
            </a:r>
            <a:r>
              <a:rPr lang="en-US" sz="2000" i="1" dirty="0">
                <a:solidFill>
                  <a:schemeClr val="tx1"/>
                </a:solidFill>
              </a:rPr>
              <a:t>. Ik heb </a:t>
            </a:r>
            <a:r>
              <a:rPr lang="en-US" sz="2000" i="1" dirty="0">
                <a:solidFill>
                  <a:schemeClr val="tx1"/>
                </a:solidFill>
              </a:rPr>
              <a:t>niet een</a:t>
            </a:r>
            <a:r>
              <a:rPr lang="en-US" sz="2000" i="1" dirty="0">
                <a:solidFill>
                  <a:schemeClr val="tx1"/>
                </a:solidFill>
              </a:rPr>
              <a:t> eigen bureau, maar dat is </a:t>
            </a:r>
            <a:r>
              <a:rPr lang="en-US" sz="2000" i="1" dirty="0">
                <a:solidFill>
                  <a:schemeClr val="tx1"/>
                </a:solidFill>
              </a:rPr>
              <a:t>niet een</a:t>
            </a:r>
            <a:r>
              <a:rPr lang="en-US" sz="2000" i="1" dirty="0">
                <a:solidFill>
                  <a:schemeClr val="tx1"/>
                </a:solidFill>
              </a:rPr>
              <a:t> probleem. </a:t>
            </a:r>
            <a:r>
              <a:rPr lang="en-US" sz="2000" i="1" dirty="0">
                <a:solidFill>
                  <a:schemeClr val="tx1"/>
                </a:solidFill>
              </a:rPr>
              <a:t>Ik mag parkeren niet in de garage</a:t>
            </a:r>
            <a:r>
              <a:rPr lang="en-US" sz="2000" i="1" dirty="0">
                <a:solidFill>
                  <a:schemeClr val="tx1"/>
                </a:solidFill>
              </a:rPr>
              <a:t>. Ik spreek nog niet goed Nederlands. Ik heb </a:t>
            </a:r>
            <a:r>
              <a:rPr lang="en-US" sz="2000" i="1" dirty="0">
                <a:solidFill>
                  <a:schemeClr val="tx1"/>
                </a:solidFill>
              </a:rPr>
              <a:t>niet een</a:t>
            </a:r>
            <a:r>
              <a:rPr lang="en-US" sz="2000" i="1" dirty="0">
                <a:solidFill>
                  <a:schemeClr val="tx1"/>
                </a:solidFill>
              </a:rPr>
              <a:t> auto, dus ik kom met de trein. Ik ben niet moe!</a:t>
            </a:r>
            <a:endParaRPr lang="en-US" sz="2000" dirty="0"/>
          </a:p>
        </p:txBody>
      </p:sp>
      <p:pic>
        <p:nvPicPr>
          <p:cNvPr id="12" name="Image 1" descr="man office work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Ahmed décrit son nouveau job. Trouvez les 5 erreurs.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77240" y="193243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Mijn nieuwe job — Ahmed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2572512"/>
            <a:ext cx="7589520" cy="353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000" i="1" dirty="0">
                <a:solidFill>
                  <a:schemeClr val="tx1"/>
                </a:solidFill>
              </a:rPr>
              <a:t>Ik werk sinds maandag bij Peeters &amp; Co. </a:t>
            </a:r>
            <a:r>
              <a:rPr lang="en-US" sz="2000" i="1" strike="sngStrike" dirty="0">
                <a:solidFill>
                  <a:schemeClr val="accent6"/>
                </a:solidFill>
              </a:rPr>
              <a:t>Ik ken niet de collega’s goed</a:t>
            </a:r>
            <a:r>
              <a:rPr lang="en-US" sz="2000" b="1" i="1" dirty="0">
                <a:solidFill>
                  <a:schemeClr val="accent3"/>
                </a:solidFill>
              </a:rPr>
              <a:t> Ik ken de collega’s niet goed</a:t>
            </a:r>
            <a:r>
              <a:rPr lang="en-US" sz="2000" i="1" dirty="0">
                <a:solidFill>
                  <a:schemeClr val="tx1"/>
                </a:solidFill>
              </a:rPr>
              <a:t>. Ik heb </a:t>
            </a:r>
            <a:r>
              <a:rPr lang="en-US" sz="2000" i="1" strike="sngStrike" dirty="0">
                <a:solidFill>
                  <a:schemeClr val="accent6"/>
                </a:solidFill>
              </a:rPr>
              <a:t>niet een</a:t>
            </a:r>
            <a:r>
              <a:rPr lang="en-US" sz="2000" b="1" i="1" dirty="0">
                <a:solidFill>
                  <a:schemeClr val="accent3"/>
                </a:solidFill>
              </a:rPr>
              <a:t> geen</a:t>
            </a:r>
            <a:r>
              <a:rPr lang="en-US" sz="2000" i="1" dirty="0">
                <a:solidFill>
                  <a:schemeClr val="tx1"/>
                </a:solidFill>
              </a:rPr>
              <a:t> eigen bureau, maar dat is </a:t>
            </a:r>
            <a:r>
              <a:rPr lang="en-US" sz="2000" i="1" strike="sngStrike" dirty="0">
                <a:solidFill>
                  <a:schemeClr val="accent6"/>
                </a:solidFill>
              </a:rPr>
              <a:t>niet een</a:t>
            </a:r>
            <a:r>
              <a:rPr lang="en-US" sz="2000" b="1" i="1" dirty="0">
                <a:solidFill>
                  <a:schemeClr val="accent3"/>
                </a:solidFill>
              </a:rPr>
              <a:t> geen</a:t>
            </a:r>
            <a:r>
              <a:rPr lang="en-US" sz="2000" i="1" dirty="0">
                <a:solidFill>
                  <a:schemeClr val="tx1"/>
                </a:solidFill>
              </a:rPr>
              <a:t> probleem. </a:t>
            </a:r>
            <a:r>
              <a:rPr lang="en-US" sz="2000" i="1" strike="sngStrike" dirty="0">
                <a:solidFill>
                  <a:schemeClr val="accent6"/>
                </a:solidFill>
              </a:rPr>
              <a:t>Ik mag parkeren niet in de garage</a:t>
            </a:r>
            <a:r>
              <a:rPr lang="en-US" sz="2000" b="1" i="1" dirty="0">
                <a:solidFill>
                  <a:schemeClr val="accent3"/>
                </a:solidFill>
              </a:rPr>
              <a:t> Ik mag niet in de garage parkeren</a:t>
            </a:r>
            <a:r>
              <a:rPr lang="en-US" sz="2000" i="1" dirty="0">
                <a:solidFill>
                  <a:schemeClr val="tx1"/>
                </a:solidFill>
              </a:rPr>
              <a:t>. Ik spreek nog niet goed Nederlands. Ik heb </a:t>
            </a:r>
            <a:r>
              <a:rPr lang="en-US" sz="2000" i="1" strike="sngStrike" dirty="0">
                <a:solidFill>
                  <a:schemeClr val="accent6"/>
                </a:solidFill>
              </a:rPr>
              <a:t>niet een</a:t>
            </a:r>
            <a:r>
              <a:rPr lang="en-US" sz="2000" b="1" i="1" dirty="0">
                <a:solidFill>
                  <a:schemeClr val="accent3"/>
                </a:solidFill>
              </a:rPr>
              <a:t> geen</a:t>
            </a:r>
            <a:r>
              <a:rPr lang="en-US" sz="2000" i="1" dirty="0">
                <a:solidFill>
                  <a:schemeClr val="tx1"/>
                </a:solidFill>
              </a:rPr>
              <a:t> auto, dus ik kom met de trein. Ik ben niet moe!</a:t>
            </a:r>
            <a:endParaRPr lang="en-US" sz="2000" dirty="0"/>
          </a:p>
        </p:txBody>
      </p:sp>
      <p:pic>
        <p:nvPicPr>
          <p:cNvPr id="13" name="Image 1" descr="man office work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✓</a:t>
            </a:r>
            <a:endParaRPr lang="en-US" sz="2200" dirty="0"/>
          </a:p>
        </p:txBody>
      </p:sp>
      <p:sp>
        <p:nvSpPr>
          <p:cNvPr id="16" name="Text 11"/>
          <p:cNvSpPr txBox="1"/>
          <p:nvPr/>
        </p:nvSpPr>
        <p:spPr>
          <a:xfrm>
            <a:off x="9052560" y="4721352"/>
            <a:ext cx="258775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Leurres : </a:t>
            </a:r>
            <a:r>
              <a:rPr lang="en-US" sz="1400" i="1" dirty="0">
                <a:solidFill>
                  <a:schemeClr val="accent5"/>
                </a:solidFill>
              </a:rPr>
              <a:t>Ik spreek nog niet goed Nederlands · Ik ben niet moe</a:t>
            </a:r>
            <a:r>
              <a:rPr lang="en-US" sz="1400" i="1" dirty="0">
                <a:solidFill>
                  <a:schemeClr val="accent5"/>
                </a:solidFill>
              </a:rPr>
              <a:t>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6 — Le collègue grognon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200046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MISE EN SITUATION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481328"/>
            <a:ext cx="3488436" cy="3026664"/>
          </a:xfrm>
          <a:prstGeom prst="roundRect">
            <a:avLst>
              <a:gd name="adj" fmla="val 2417"/>
            </a:avLst>
          </a:prstGeom>
          <a:solidFill>
            <a:schemeClr val="bg1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13232" y="1618488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13232" y="16184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A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1325880" y="1572768"/>
            <a:ext cx="2574036" cy="2843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Le grognon</a:t>
            </a:r>
            <a:r>
              <a:rPr lang="en-US" sz="1700" dirty="0">
                <a:solidFill>
                  <a:schemeClr val="tx1"/>
                </a:solidFill>
              </a:rPr>
              <a:t> : vous voyez tout en noir. Signalez 3 problèmes.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4311396" y="1481328"/>
            <a:ext cx="3488436" cy="3026664"/>
          </a:xfrm>
          <a:prstGeom prst="roundRect">
            <a:avLst>
              <a:gd name="adj" fmla="val 2417"/>
            </a:avLst>
          </a:prstGeom>
          <a:solidFill>
            <a:schemeClr val="bg1"/>
          </a:solidFill>
          <a:ln w="1905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475988" y="1618488"/>
            <a:ext cx="457200" cy="45720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475988" y="16184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B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5088636" y="1572768"/>
            <a:ext cx="2574036" cy="2843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Le positif</a:t>
            </a:r>
            <a:r>
              <a:rPr lang="en-US" sz="1700" dirty="0">
                <a:solidFill>
                  <a:schemeClr val="tx1"/>
                </a:solidFill>
              </a:rPr>
              <a:t> : proposez une solution à chaque fois.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548640" y="4690872"/>
            <a:ext cx="7251192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" y="47640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BANQUE DE PHRASES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731520" y="5056632"/>
            <a:ext cx="6885432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Geen probleem! · Dat is niet erg. · Ik bel de technicus. · Je kunt mijn laptop gebruiken. · Jawel, er is nog koffie in de keuken!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8074152" y="1481328"/>
            <a:ext cx="3566160" cy="4809744"/>
          </a:xfrm>
          <a:prstGeom prst="roundRect">
            <a:avLst>
              <a:gd name="adj" fmla="val 205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074152" y="155448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LES PROBLÈMES</a:t>
            </a:r>
            <a:endParaRPr lang="en-US" sz="1200" dirty="0"/>
          </a:p>
        </p:txBody>
      </p:sp>
      <p:pic>
        <p:nvPicPr>
          <p:cNvPr id="19" name="Image 0" descr="hot beverag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11312" y="1984248"/>
            <a:ext cx="548640" cy="548640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8897112" y="1938528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Er is geen koffie meer.</a:t>
            </a:r>
            <a:endParaRPr lang="en-US" sz="1400" dirty="0"/>
          </a:p>
        </p:txBody>
      </p:sp>
      <p:pic>
        <p:nvPicPr>
          <p:cNvPr id="21" name="Image 1" descr="print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11312" y="2694432"/>
            <a:ext cx="548640" cy="548640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8897112" y="2648712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De printer werkt niet.</a:t>
            </a:r>
            <a:endParaRPr lang="en-US" sz="1400" dirty="0"/>
          </a:p>
        </p:txBody>
      </p:sp>
      <p:pic>
        <p:nvPicPr>
          <p:cNvPr id="23" name="Image 2" descr="antenna bar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11312" y="3404616"/>
            <a:ext cx="548640" cy="548640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8897112" y="3358896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Ik heb geen wifi.</a:t>
            </a:r>
            <a:endParaRPr lang="en-US" sz="1400" dirty="0"/>
          </a:p>
        </p:txBody>
      </p:sp>
      <p:pic>
        <p:nvPicPr>
          <p:cNvPr id="25" name="Image 3" descr="key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11312" y="4114800"/>
            <a:ext cx="548640" cy="54864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8897112" y="406908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Ik vind mijn sleutel niet.</a:t>
            </a:r>
            <a:endParaRPr lang="en-US" sz="1400" dirty="0"/>
          </a:p>
        </p:txBody>
      </p:sp>
      <p:pic>
        <p:nvPicPr>
          <p:cNvPr id="27" name="Image 4" descr="doo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11312" y="4824984"/>
            <a:ext cx="548640" cy="548640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8897112" y="4779264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De vergaderzaal is niet vrij.</a:t>
            </a:r>
            <a:endParaRPr lang="en-US" sz="1400" dirty="0"/>
          </a:p>
        </p:txBody>
      </p:sp>
      <p:pic>
        <p:nvPicPr>
          <p:cNvPr id="29" name="Image 5" descr="elevator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11312" y="5535168"/>
            <a:ext cx="548640" cy="548640"/>
          </a:xfrm>
          <a:prstGeom prst="rect">
            <a:avLst/>
          </a:prstGeom>
        </p:spPr>
      </p:pic>
      <p:sp>
        <p:nvSpPr>
          <p:cNvPr id="30" name="Text 21"/>
          <p:cNvSpPr txBox="1"/>
          <p:nvPr/>
        </p:nvSpPr>
        <p:spPr>
          <a:xfrm>
            <a:off x="8897112" y="5489448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De lift werkt niet.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Ticket de sortie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092147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TICKET DE SORTIE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31520" y="18897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889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162763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niet</a:t>
            </a:r>
            <a:r>
              <a:rPr lang="en-US" sz="2000" dirty="0">
                <a:solidFill>
                  <a:schemeClr val="tx1"/>
                </a:solidFill>
              </a:rPr>
              <a:t> ou </a:t>
            </a:r>
            <a:r>
              <a:rPr lang="en-US" sz="2000" i="1" dirty="0">
                <a:solidFill>
                  <a:schemeClr val="tx1"/>
                </a:solidFill>
              </a:rPr>
              <a:t>geen</a:t>
            </a:r>
            <a:r>
              <a:rPr lang="en-US" sz="2000" dirty="0">
                <a:solidFill>
                  <a:schemeClr val="tx1"/>
                </a:solidFill>
              </a:rPr>
              <a:t> : </a:t>
            </a:r>
            <a:r>
              <a:rPr lang="en-US" sz="2000" i="1" dirty="0">
                <a:solidFill>
                  <a:schemeClr val="tx1"/>
                </a:solidFill>
              </a:rPr>
              <a:t>Ik heb …… zin.</a:t>
            </a:r>
            <a:r>
              <a:rPr lang="en-US" sz="2000" dirty="0">
                <a:solidFill>
                  <a:schemeClr val="tx1"/>
                </a:solidFill>
              </a:rPr>
              <a:t> / </a:t>
            </a:r>
            <a:r>
              <a:rPr lang="en-US" sz="2000" i="1" dirty="0">
                <a:solidFill>
                  <a:schemeClr val="tx1"/>
                </a:solidFill>
              </a:rPr>
              <a:t>Ik ken die man ……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548640" y="286512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31520" y="32004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371600" y="293827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Forme négative : </a:t>
            </a:r>
            <a:r>
              <a:rPr lang="en-US" sz="2000" i="1" dirty="0">
                <a:solidFill>
                  <a:schemeClr val="tx1"/>
                </a:solidFill>
              </a:rPr>
              <a:t>Ik kan morgen komen.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48640" y="417576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31520" y="45110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" y="4511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1371600" y="424891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Répondez « Si ! » : </a:t>
            </a:r>
            <a:r>
              <a:rPr lang="en-US" sz="2000" i="1" dirty="0">
                <a:solidFill>
                  <a:schemeClr val="tx1"/>
                </a:solidFill>
              </a:rPr>
              <a:t>Heb je geen tijd?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6949440" y="15544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5"/>
                </a:solidFill>
              </a:rPr>
              <a:t>AUTO-ÉVALUATION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949440" y="201168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132320" y="201168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Choisir</a:t>
            </a:r>
            <a:endParaRPr lang="en-US" sz="1600" dirty="0"/>
          </a:p>
        </p:txBody>
      </p:sp>
      <p:pic>
        <p:nvPicPr>
          <p:cNvPr id="20" name="Image 0" descr="RegFr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55480" y="2162556"/>
            <a:ext cx="457200" cy="457200"/>
          </a:xfrm>
          <a:prstGeom prst="rect">
            <a:avLst/>
          </a:prstGeom>
        </p:spPr>
      </p:pic>
      <p:pic>
        <p:nvPicPr>
          <p:cNvPr id="21" name="Image 1" descr="RegMe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2162556"/>
            <a:ext cx="457200" cy="457200"/>
          </a:xfrm>
          <a:prstGeom prst="rect">
            <a:avLst/>
          </a:prstGeom>
        </p:spPr>
      </p:pic>
      <p:pic>
        <p:nvPicPr>
          <p:cNvPr id="22" name="Image 2" descr="RegSmi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2162556"/>
            <a:ext cx="457200" cy="45720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6949440" y="288036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7132320" y="288036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Placer</a:t>
            </a:r>
            <a:endParaRPr lang="en-US" sz="1600" dirty="0"/>
          </a:p>
        </p:txBody>
      </p:sp>
      <p:pic>
        <p:nvPicPr>
          <p:cNvPr id="25" name="Image 3" descr="RegFrow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5480" y="3031236"/>
            <a:ext cx="457200" cy="457200"/>
          </a:xfrm>
          <a:prstGeom prst="rect">
            <a:avLst/>
          </a:prstGeom>
        </p:spPr>
      </p:pic>
      <p:pic>
        <p:nvPicPr>
          <p:cNvPr id="26" name="Image 4" descr="RegMe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41280" y="3031236"/>
            <a:ext cx="457200" cy="457200"/>
          </a:xfrm>
          <a:prstGeom prst="rect">
            <a:avLst/>
          </a:prstGeom>
        </p:spPr>
      </p:pic>
      <p:pic>
        <p:nvPicPr>
          <p:cNvPr id="27" name="Image 5" descr="RegSmil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27080" y="3031236"/>
            <a:ext cx="457200" cy="457200"/>
          </a:xfrm>
          <a:prstGeom prst="rect">
            <a:avLst/>
          </a:prstGeom>
        </p:spPr>
      </p:pic>
      <p:sp>
        <p:nvSpPr>
          <p:cNvPr id="28" name="Shape 19"/>
          <p:cNvSpPr/>
          <p:nvPr/>
        </p:nvSpPr>
        <p:spPr>
          <a:xfrm>
            <a:off x="6949440" y="374904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9" name="Text 20"/>
          <p:cNvSpPr txBox="1"/>
          <p:nvPr/>
        </p:nvSpPr>
        <p:spPr>
          <a:xfrm>
            <a:off x="7132320" y="374904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Répondre</a:t>
            </a:r>
            <a:endParaRPr lang="en-US" sz="1600" dirty="0"/>
          </a:p>
        </p:txBody>
      </p:sp>
      <p:pic>
        <p:nvPicPr>
          <p:cNvPr id="30" name="Image 6" descr="RegFrow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55480" y="3899916"/>
            <a:ext cx="457200" cy="457200"/>
          </a:xfrm>
          <a:prstGeom prst="rect">
            <a:avLst/>
          </a:prstGeom>
        </p:spPr>
      </p:pic>
      <p:pic>
        <p:nvPicPr>
          <p:cNvPr id="31" name="Image 7" descr="RegMeh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41280" y="3899916"/>
            <a:ext cx="457200" cy="457200"/>
          </a:xfrm>
          <a:prstGeom prst="rect">
            <a:avLst/>
          </a:prstGeom>
        </p:spPr>
      </p:pic>
      <p:pic>
        <p:nvPicPr>
          <p:cNvPr id="32" name="Image 8" descr="RegSmil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927080" y="3899916"/>
            <a:ext cx="457200" cy="457200"/>
          </a:xfrm>
          <a:prstGeom prst="rect">
            <a:avLst/>
          </a:prstGeom>
        </p:spPr>
      </p:pic>
      <p:sp>
        <p:nvSpPr>
          <p:cNvPr id="33" name="Shape 21"/>
          <p:cNvSpPr/>
          <p:nvPr/>
        </p:nvSpPr>
        <p:spPr>
          <a:xfrm>
            <a:off x="548640" y="553212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4" name="Image 9" descr="Cubes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715000"/>
            <a:ext cx="365760" cy="365760"/>
          </a:xfrm>
          <a:prstGeom prst="rect">
            <a:avLst/>
          </a:prstGeom>
        </p:spPr>
      </p:pic>
      <p:sp>
        <p:nvSpPr>
          <p:cNvPr id="35" name="Text 22"/>
          <p:cNvSpPr txBox="1"/>
          <p:nvPr/>
        </p:nvSpPr>
        <p:spPr>
          <a:xfrm>
            <a:off x="1325880" y="5532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Volgende keer : Woordvorming</a:t>
            </a:r>
            <a:r>
              <a:rPr lang="en-US" sz="1800" dirty="0">
                <a:solidFill>
                  <a:schemeClr val="bg1"/>
                </a:solidFill>
              </a:rPr>
              <a:t> — </a:t>
            </a:r>
            <a:r>
              <a:rPr lang="en-US" sz="1800" i="1" dirty="0">
                <a:solidFill>
                  <a:schemeClr val="bg1"/>
                </a:solidFill>
              </a:rPr>
              <a:t>vergader + zaal = de vergaderzaal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derlands 1">
  <a:themeElements>
    <a:clrScheme name="Nederlands 1">
      <a:dk1>
        <a:srgbClr val="1B2333"/>
      </a:dk1>
      <a:lt1>
        <a:srgbClr val="FFFFFF"/>
      </a:lt1>
      <a:dk2>
        <a:srgbClr val="17375E"/>
      </a:dk2>
      <a:lt2>
        <a:srgbClr val="EEF3F8"/>
      </a:lt2>
      <a:accent1>
        <a:srgbClr val="D9700F"/>
      </a:accent1>
      <a:accent2>
        <a:srgbClr val="2A6FB0"/>
      </a:accent2>
      <a:accent3>
        <a:srgbClr val="2E7D4F"/>
      </a:accent3>
      <a:accent4>
        <a:srgbClr val="B4236A"/>
      </a:accent4>
      <a:accent5>
        <a:srgbClr val="4A5A70"/>
      </a:accent5>
      <a:accent6>
        <a:srgbClr val="B83227"/>
      </a:accent6>
      <a:hlink>
        <a:srgbClr val="2A6FB0"/>
      </a:hlink>
      <a:folHlink>
        <a:srgbClr val="B4236A"/>
      </a:folHlink>
    </a:clrScheme>
    <a:fontScheme name="Nederlands 1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IRAM — Néerlandais 1 (UE1)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13 — Niet of geen? — La négation</dc:title>
  <dc:subject>Néerlandais 1 — Langue en situation, en milieu professionnel</dc:subject>
  <dc:creator>A. Jouniaux</dc:creator>
  <cp:lastModifiedBy>A. Jouniaux</cp:lastModifiedBy>
  <cp:revision>1</cp:revision>
  <dcterms:created xsi:type="dcterms:W3CDTF">2026-10-06T11:50:03Z</dcterms:created>
  <dcterms:modified xsi:type="dcterms:W3CDTF">2026-10-06T11:50:03Z</dcterms:modified>
</cp:coreProperties>
</file>