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a8f8363e-5b2c-032b-2ed6-1757af5fdd9d}">
          <p14:sldIdLst>
            <p14:sldId id="256"/>
          </p14:sldIdLst>
        </p14:section>
        <p14:section name="Découvrir" id="{ab2c18b2-878b-0de7-40d7-fb0f2c0dffe8}">
          <p14:sldIdLst>
            <p14:sldId id="257"/>
            <p14:sldId id="258"/>
          </p14:sldIdLst>
        </p14:section>
        <p14:section name="Comprendre" id="{17838fab-38a7-0e19-722e-00ad8402a57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d262b7e-7e07-2b92-6629-6dd3bece03b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f17eecbd-6044-543f-1b7a-1318856833bd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deux phrases du quotidien.
Question d'entrée : « Pourquoi geen dans la 1re phrase et niet dans la 2e ? » Laissez émerger l'idée : geen va avec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La négation est partout : refuser poliment, dire qu'on n'a pas compris, signaler un problème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produire spontanément des phrases négatives et observer les erreurs.
Notez au tableau, sans corriger, les phrases produites. Elles serviront à la diapo 7 (Drink je koffie? → Nee, ik drink geen koffie).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 le contraste structurel FR/NL.
niet een existe dans des cas d'insistance (niet één = pas un seul), mais pour une négation ordinaire on dit geen.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formule de geen.
Lien M5 : geen remplace exactement een et l'article zéro (Ø). Avec une langue, Ik spreek geen Japans est la forme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les cas où l'on emploie niet.
Exemples de l'archive repris (Ik ken Liesbeth niet, We vinden die film niet leuk, Ze leert haar les niet). Règle courte : niet nie tout ce qui n'est pas « un nom avec een ou sans article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Décider en deux questions (tableau DÉFINIS / INDÉFINIS de l'archive, standardisé).
Les exemples sont ceux de l'archive, enfin lisibles. Reprenez les phrases notées à la diapo 3 et faites-les passer dans l'organigramme.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correctement dans la phrase (règles de l'archive, simplifiées en 3).
Règle ② = la pince : niet se place juste avant la mâchoire droite. Ik heb niet gestudeerd annonce le M15. Les règles « imparfait » et « om … te » de l'archive sont réservées à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Visualiser la règle ② avec le schéma de la pince.
Faites le geste de la pince : niet « s'accroche » à la mâchoire droite. En Belgique, Ik moet vandaag niet werken = « je ne dois pas travailler aujourd'hui » (pas obligé, M12).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négations fréquentes au-delà de niet et geen.
niks est familier. nergens (nulle part) peut être ajouté pour les classes rapides. Correction de l'archive : Hij is nog geen 18 = il n'a pas encore 18 ans (geen + nombre = « moins de »). C'est une tournure à reconnaître, pas une règle générale.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à une question négative (contraste FR/NL : « si »).
En Belgique, on entend aussi Neen. « Si » n'existe pas en néerlandais : on dit jawel ou toch wel. Répondre Ja à une question négative est ambigu.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trois calques fréquents.
Le néerlandais standard n'accepte pas la double négation (niet niemand). honger, dorst, tijd, zin sont des noms : geen honger, geen tijd, geen zin.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négatives en circulant (pause active).
Les cases sont formulées en subordonnées (iemand die… drinkt, verbe à la fin, M9) : les apprenants n'ont qu'à les lire. Exigez la réponse complète : Nee, ik drink geen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signaler des problèmes au bureau et y répondre.
Dat is niet erg = « ce n'est pas grave ». Faites remarquer le Jawel! de B : il contredit une phrase négative.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geen zin · niet.
2. Ik kan morgen niet komen.
3. Jawel! (Ik heb tijd.)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13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Niet of geen?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négation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heb geen tijd. · Ik werk vandaag niet.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60020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600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280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heb </a:t>
            </a:r>
            <a:r>
              <a:rPr lang="en-US" sz="2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tijd.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0" y="3566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1234440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29400" y="3886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566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werk vandaag </a:t>
            </a: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au bon endroit.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D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Répondre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</a:t>
            </a:r>
            <a:r>
              <a:rPr lang="en-US" sz="2000" i="1" dirty="0">
                <a:solidFill>
                  <a:schemeClr val="tx1"/>
                </a:solidFill>
              </a:rPr>
              <a:t>nooit, niets, niemand</a:t>
            </a:r>
            <a:r>
              <a:rPr lang="en-US" sz="2000" dirty="0">
                <a:solidFill>
                  <a:schemeClr val="tx1"/>
                </a:solidFill>
              </a:rPr>
              <a:t>… et je contredis avec </a:t>
            </a:r>
            <a:r>
              <a:rPr lang="en-US" sz="2000" i="1" dirty="0">
                <a:solidFill>
                  <a:schemeClr val="tx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Refuser poliment, dire qu’on n’a pas compris, signaler un problème au bureau : la négation est partout.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Nee, ik…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Heb je een auto?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29768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65960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 je vandaag?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804672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6596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09828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Drink je koffie?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54864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731520" cy="7315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0020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Spreek je Japans?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429768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sleep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65760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34924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Ben je moe?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804672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657600"/>
            <a:ext cx="731520" cy="7315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09828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Woon je in Brussel?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77724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MODÈLES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Nee, ik heb </a:t>
            </a:r>
            <a:r>
              <a:rPr lang="en-US" sz="2200" b="1" i="1" dirty="0">
                <a:solidFill>
                  <a:schemeClr val="accent1"/>
                </a:solidFill>
              </a:rPr>
              <a:t>geen</a:t>
            </a:r>
            <a:r>
              <a:rPr lang="en-US" sz="2200" i="1" dirty="0">
                <a:solidFill>
                  <a:schemeClr val="tx1"/>
                </a:solidFill>
              </a:rPr>
              <a:t> auto. · Nee, ik werk vandaag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2 mots en français, 1 en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148840"/>
          </a:xfrm>
          <a:prstGeom prst="roundRect">
            <a:avLst>
              <a:gd name="adj" fmla="val 3404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Je </a:t>
            </a:r>
            <a:r>
              <a:rPr lang="en-US" sz="2200" b="1" strike="sngStrike" dirty="0">
                <a:solidFill>
                  <a:schemeClr val="accent6"/>
                </a:solidFill>
              </a:rPr>
              <a:t>ne</a:t>
            </a:r>
            <a:r>
              <a:rPr lang="en-US" sz="2200" dirty="0">
                <a:solidFill>
                  <a:schemeClr val="tx1"/>
                </a:solidFill>
              </a:rPr>
              <a:t> travaille </a:t>
            </a:r>
            <a:r>
              <a:rPr lang="en-US" sz="2200" b="1" strike="sngStrike" dirty="0">
                <a:solidFill>
                  <a:schemeClr val="accent6"/>
                </a:solidFill>
              </a:rPr>
              <a:t>pas</a:t>
            </a:r>
            <a:r>
              <a:rPr lang="en-US" sz="2200" dirty="0">
                <a:solidFill>
                  <a:schemeClr val="tx1"/>
                </a:solidFill>
              </a:rPr>
              <a:t>. »  (2 mots qui encadrent le verbe)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2491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2953512"/>
            <a:ext cx="10634472" cy="649224"/>
          </a:xfrm>
          <a:prstGeom prst="roundRect">
            <a:avLst>
              <a:gd name="adj" fmla="val 11268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2953512"/>
            <a:ext cx="10360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werk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r>
              <a:rPr lang="en-US" sz="2200" dirty="0">
                <a:solidFill>
                  <a:schemeClr val="tx1"/>
                </a:solidFill>
              </a:rPr>
              <a:t>  (1 seul mot, après le verbe)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388620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05079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« Je n’ai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voiture. » → </a:t>
            </a:r>
            <a:r>
              <a:rPr lang="en-US" sz="2100" i="1" strike="sngStrike" dirty="0">
                <a:solidFill>
                  <a:schemeClr val="accent6"/>
                </a:solidFill>
              </a:rPr>
              <a:t>Ik heb niet een auto.</a:t>
            </a:r>
            <a:endParaRPr lang="en-US" sz="21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9661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2521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2521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b="1" i="1" dirty="0">
                <a:solidFill>
                  <a:schemeClr val="accent1"/>
                </a:solidFill>
              </a:rPr>
              <a:t>geen</a:t>
            </a:r>
            <a:r>
              <a:rPr lang="en-US" sz="2100" i="1" dirty="0">
                <a:solidFill>
                  <a:schemeClr val="tx1"/>
                </a:solidFill>
              </a:rPr>
              <a:t> auto.</a:t>
            </a:r>
            <a:r>
              <a:rPr lang="en-US" sz="2100" dirty="0">
                <a:solidFill>
                  <a:schemeClr val="tx1"/>
                </a:solidFill>
              </a:rPr>
              <a:t>  —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+ nom = </a:t>
            </a:r>
            <a:r>
              <a:rPr lang="en-US" sz="2100" i="1" dirty="0">
                <a:solidFill>
                  <a:schemeClr val="tx1"/>
                </a:solidFill>
              </a:rPr>
              <a:t>geen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niet één</a:t>
            </a:r>
            <a:r>
              <a:rPr lang="en-US" sz="1500" i="1" dirty="0">
                <a:solidFill>
                  <a:schemeClr val="accent5"/>
                </a:solidFill>
              </a:rPr>
              <a:t> (pas </a:t>
            </a:r>
            <a:r>
              <a:rPr lang="en-US" sz="1500" b="1" i="1" dirty="0">
                <a:solidFill>
                  <a:schemeClr val="accent5"/>
                </a:solidFill>
              </a:rPr>
              <a:t>un seul</a:t>
            </a:r>
            <a:r>
              <a:rPr lang="en-US" sz="1500" i="1" dirty="0">
                <a:solidFill>
                  <a:schemeClr val="accent5"/>
                </a:solidFill>
              </a:rPr>
              <a:t>) existe pour insister ; pour une négation ordinaire : </a:t>
            </a:r>
            <a:r>
              <a:rPr lang="en-US" sz="1500" i="1" dirty="0">
                <a:solidFill>
                  <a:schemeClr val="accent5"/>
                </a:solidFill>
              </a:rPr>
              <a:t>geen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GEEN = niet + 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3774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+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/ Ø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=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132320" y="1554480"/>
            <a:ext cx="219456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548640" y="260604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een + nom</a:t>
            </a:r>
            <a:endParaRPr lang="en-US" sz="1500" dirty="0"/>
          </a:p>
        </p:txBody>
      </p:sp>
      <p:pic>
        <p:nvPicPr>
          <p:cNvPr id="15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65176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703320" y="2606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een auto.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178040" y="290779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7955280" y="2606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auto.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337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indénombrable</a:t>
            </a:r>
            <a:endParaRPr lang="en-US" sz="1500" dirty="0"/>
          </a:p>
        </p:txBody>
      </p:sp>
      <p:pic>
        <p:nvPicPr>
          <p:cNvPr id="21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3832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03320" y="33375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koffie.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178040" y="363931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7955280" y="33375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4069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pluriel</a:t>
            </a:r>
            <a:endParaRPr lang="en-US" sz="1500" dirty="0"/>
          </a:p>
        </p:txBody>
      </p:sp>
      <p:pic>
        <p:nvPicPr>
          <p:cNvPr id="27" name="Image 2" descr="children cross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03320" y="406908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kinderen.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7178040" y="437083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4"/>
          <p:cNvSpPr txBox="1"/>
          <p:nvPr/>
        </p:nvSpPr>
        <p:spPr>
          <a:xfrm>
            <a:off x="7955280" y="4069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kinderen.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548640" y="480060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48006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métier</a:t>
            </a:r>
            <a:endParaRPr lang="en-US" sz="1500" dirty="0"/>
          </a:p>
        </p:txBody>
      </p:sp>
      <p:pic>
        <p:nvPicPr>
          <p:cNvPr id="33" name="Image 3" descr="baguette 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4846320"/>
            <a:ext cx="512064" cy="51206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3703320" y="48006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bakker.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7178040" y="510235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955280" y="48006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bakker.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48640" y="553212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85800" y="553212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langue</a:t>
            </a:r>
            <a:endParaRPr lang="en-US" sz="1500" dirty="0"/>
          </a:p>
        </p:txBody>
      </p:sp>
      <p:pic>
        <p:nvPicPr>
          <p:cNvPr id="39" name="Image 4" descr="speaking he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577840"/>
            <a:ext cx="512064" cy="51206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03320" y="553212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Japans.</a:t>
            </a:r>
            <a:endParaRPr lang="en-US" sz="2000" dirty="0"/>
          </a:p>
        </p:txBody>
      </p:sp>
      <p:sp>
        <p:nvSpPr>
          <p:cNvPr id="41" name="Shape 33"/>
          <p:cNvSpPr/>
          <p:nvPr/>
        </p:nvSpPr>
        <p:spPr>
          <a:xfrm>
            <a:off x="7178040" y="583387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Text 34"/>
          <p:cNvSpPr txBox="1"/>
          <p:nvPr/>
        </p:nvSpPr>
        <p:spPr>
          <a:xfrm>
            <a:off x="7955280" y="55321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Japans.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— partout ailleurs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verbe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/ het / dit / mijn + nom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klant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prénom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Liesbeth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242316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adjectif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0604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film is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leuk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7220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17220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adverbe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weekend.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Règle courte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nie tout ce qui n’est pas « un nom avec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 ou sans article ».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niet / geen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66160" y="155448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Je nie un nom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613648" y="207568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86868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464040" y="164592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64592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080760" y="2624328"/>
            <a:ext cx="914" cy="393192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6172200" y="26700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Le nom a een… ou pas d’article 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 flipH="1">
            <a:off x="2743200" y="3538728"/>
            <a:ext cx="80467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8892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613648" y="353872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68680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4640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640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464040" y="40050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de, het, dit, die, mijn…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28016" cy="47548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52628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boek. · We eten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brood.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1206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de Belgische nationaliteit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 · We vinden die film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leuk.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niet ? Trois règles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0992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645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À la fin de la phrase simple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016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88439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8439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ken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617013" y="2212848"/>
            <a:ext cx="1319662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17013" y="2212848"/>
            <a:ext cx="13196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Liesbeth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91539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91539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9224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9647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647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zie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829093" y="2212848"/>
            <a:ext cx="2346716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9093" y="2212848"/>
            <a:ext cx="23467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klant vandaag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230673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30673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054096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319125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1272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le 2e élément verbal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280160" y="3694176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80160" y="3694176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884396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884396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kan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617013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617013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3478012" y="3694176"/>
            <a:ext cx="1062899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3478012" y="3694176"/>
            <a:ext cx="1062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92240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722485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485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eet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957475" y="3694176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57475" y="3694176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zijn frieten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845528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845528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70652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1070652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op.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48640" y="4535424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280160" y="46085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préposition, adjectif, adverbe de manière (</a:t>
            </a:r>
            <a:r>
              <a:rPr lang="en-US" sz="1700" b="1" i="1" dirty="0">
                <a:solidFill>
                  <a:schemeClr val="tx2"/>
                </a:solidFill>
              </a:rPr>
              <a:t>vandaag</a:t>
            </a:r>
            <a:r>
              <a:rPr lang="en-US" sz="1700" b="1" dirty="0">
                <a:solidFill>
                  <a:schemeClr val="tx2"/>
                </a:solidFill>
              </a:rPr>
              <a:t> : avant </a:t>
            </a:r>
            <a:r>
              <a:rPr lang="en-US" sz="1700" b="1" i="1" dirty="0">
                <a:solidFill>
                  <a:schemeClr val="tx2"/>
                </a:solidFill>
              </a:rPr>
              <a:t>niet</a:t>
            </a:r>
            <a:r>
              <a:rPr lang="en-US" sz="1700" b="1" dirty="0">
                <a:solidFill>
                  <a:schemeClr val="tx2"/>
                </a:solidFill>
              </a:rPr>
              <a:t>)</a:t>
            </a:r>
            <a:endParaRPr lang="en-US" sz="1700" dirty="0"/>
          </a:p>
        </p:txBody>
      </p:sp>
      <p:sp>
        <p:nvSpPr>
          <p:cNvPr id="51" name="Shape 48"/>
          <p:cNvSpPr/>
          <p:nvPr/>
        </p:nvSpPr>
        <p:spPr>
          <a:xfrm>
            <a:off x="128016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28016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2012777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777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gaat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2873776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873776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3734775" y="5175504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734775" y="5175504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naar school.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649224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49224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7224857" y="5175504"/>
            <a:ext cx="549372" cy="594360"/>
          </a:xfrm>
          <a:prstGeom prst="roundRect">
            <a:avLst>
              <a:gd name="adj" fmla="val 13316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224857" y="5175504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is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29093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29093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690092" y="5175504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690092" y="5175504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duur.</a:t>
            </a:r>
            <a:endParaRPr lang="en-US" sz="18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600760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Règle ② = la pince :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juste avant la mâchoire droite (infinitif, particule, participe).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dans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9164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91640"/>
            <a:ext cx="977311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moet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343790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343790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vandaag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926068" y="169164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068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994819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994819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werken.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805696" y="1691640"/>
            <a:ext cx="4834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modal + infinitif (M12)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783080" y="1371600"/>
            <a:ext cx="4611136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8640" y="292608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2608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bel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72614" y="2926080"/>
            <a:ext cx="3031419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2614" y="2926080"/>
            <a:ext cx="30314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klant vandaag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295473" y="292608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95473" y="292608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364224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6364224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op.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90399" y="2926080"/>
            <a:ext cx="41499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particule (M11)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783080" y="2606040"/>
            <a:ext cx="5295839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48640" y="416052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6052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1275039" y="416052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75039" y="416052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heb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2172614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72614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gisteren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3926068" y="416052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26068" y="416052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4994819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4994819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gewerkt.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6976872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participe (M15)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783080" y="3840480"/>
            <a:ext cx="4782312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Geste de la pince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« s’accroche » à la mâchoire droite. BE : </a:t>
            </a:r>
            <a:r>
              <a:rPr lang="en-US" sz="1800" i="1" dirty="0">
                <a:solidFill>
                  <a:schemeClr val="bg1"/>
                </a:solidFill>
              </a:rPr>
              <a:t>Ik moet vandaag niet werken</a:t>
            </a:r>
            <a:r>
              <a:rPr lang="en-US" sz="1800" dirty="0">
                <a:solidFill>
                  <a:schemeClr val="bg1"/>
                </a:solidFill>
              </a:rPr>
              <a:t> = pas obligé (M12).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autres négations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nooit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jamais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rook nooit.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see no evil 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438" y="1709928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5958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/ niks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35958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rien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504438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niets.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bust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09928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54596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niemand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054596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personne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23076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Niemand weet het.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714" y="1709928"/>
            <a:ext cx="640080" cy="6400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73234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nog niet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9873234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 encore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141714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nog niet gegeten.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1957959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erson in lotus posi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119" y="3950208"/>
            <a:ext cx="640080" cy="6400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826639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 meer</a:t>
            </a:r>
            <a:endParaRPr lang="en-US" sz="2000" dirty="0"/>
          </a:p>
        </p:txBody>
      </p:sp>
      <p:sp>
        <p:nvSpPr>
          <p:cNvPr id="28" name="Text 20"/>
          <p:cNvSpPr txBox="1"/>
          <p:nvPr/>
        </p:nvSpPr>
        <p:spPr>
          <a:xfrm>
            <a:off x="2826639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2095119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niet meer.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4776597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757" y="3950208"/>
            <a:ext cx="640080" cy="6400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5277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 … meer</a:t>
            </a:r>
            <a:endParaRPr lang="en-US" sz="2000" dirty="0"/>
          </a:p>
        </p:txBody>
      </p:sp>
      <p:sp>
        <p:nvSpPr>
          <p:cNvPr id="33" name="Text 24"/>
          <p:cNvSpPr txBox="1"/>
          <p:nvPr/>
        </p:nvSpPr>
        <p:spPr>
          <a:xfrm>
            <a:off x="5645277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 de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4913757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Er is geen koffie meer.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595235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6" descr="person shr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395" y="3950208"/>
            <a:ext cx="640080" cy="6400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463915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niet</a:t>
            </a:r>
            <a:endParaRPr lang="en-US" sz="2000" dirty="0"/>
          </a:p>
        </p:txBody>
      </p:sp>
      <p:sp>
        <p:nvSpPr>
          <p:cNvPr id="38" name="Text 28"/>
          <p:cNvSpPr txBox="1"/>
          <p:nvPr/>
        </p:nvSpPr>
        <p:spPr>
          <a:xfrm>
            <a:off x="8463915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non plus</a:t>
            </a:r>
            <a:endParaRPr lang="en-US" sz="1400" dirty="0"/>
          </a:p>
        </p:txBody>
      </p:sp>
      <p:sp>
        <p:nvSpPr>
          <p:cNvPr id="39" name="Text 29"/>
          <p:cNvSpPr txBox="1"/>
          <p:nvPr/>
        </p:nvSpPr>
        <p:spPr>
          <a:xfrm>
            <a:off x="7732395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ook niet!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Répondre non… et répondre « si !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RÉPONDRE NON, POLIMENT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Wil je een koffie?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dank je.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Begrijp je het?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2918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niet helemaal.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denk het niet. · Ik weet het niet.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CONTREDIRE UNE QUESTION NÉGATIVE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geen</a:t>
            </a:r>
            <a:r>
              <a:rPr lang="en-US" sz="1700" i="1" dirty="0">
                <a:solidFill>
                  <a:schemeClr val="tx1"/>
                </a:solidFill>
              </a:rPr>
              <a:t> tijd?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61120" y="196596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25712" y="196596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Jawel!</a:t>
            </a:r>
            <a:r>
              <a:rPr lang="en-US" sz="1700" i="1" dirty="0">
                <a:solidFill>
                  <a:schemeClr val="tx1"/>
                </a:solidFill>
              </a:rPr>
              <a:t> Ik heb tijd.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21792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8251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Kom je </a:t>
            </a:r>
            <a:r>
              <a:rPr lang="en-US" sz="1700" b="1" i="1" dirty="0">
                <a:solidFill>
                  <a:schemeClr val="tx1"/>
                </a:solidFill>
              </a:rPr>
              <a:t>niet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8961120" y="315468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25712" y="315468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Toch wel!</a:t>
            </a:r>
            <a:endParaRPr lang="en-US" sz="1700" dirty="0"/>
          </a:p>
        </p:txBody>
      </p:sp>
      <p:pic>
        <p:nvPicPr>
          <p:cNvPr id="24" name="Image 0" descr="grin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4069080"/>
            <a:ext cx="640080" cy="640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31520" y="48737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212080"/>
            <a:ext cx="1054303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n’as pas le temps ? — </a:t>
            </a:r>
            <a:r>
              <a:rPr lang="en-US" sz="1800" b="1" dirty="0">
                <a:solidFill>
                  <a:schemeClr val="tx1"/>
                </a:solidFill>
              </a:rPr>
              <a:t>Si !</a:t>
            </a:r>
            <a:r>
              <a:rPr lang="en-US" sz="1800" dirty="0">
                <a:solidFill>
                  <a:schemeClr val="tx1"/>
                </a:solidFill>
              </a:rPr>
              <a:t> » → </a:t>
            </a:r>
            <a:r>
              <a:rPr lang="en-US" sz="1800" i="1" strike="sngStrike" dirty="0">
                <a:solidFill>
                  <a:schemeClr val="accent6"/>
                </a:solidFill>
              </a:rPr>
              <a:t>Ja!</a:t>
            </a:r>
            <a:r>
              <a:rPr lang="en-US" sz="1800" dirty="0">
                <a:solidFill>
                  <a:schemeClr val="tx1"/>
                </a:solidFill>
              </a:rPr>
              <a:t> (ambigu)</a:t>
            </a:r>
            <a:endParaRPr lang="en-US" sz="1800" dirty="0"/>
          </a:p>
        </p:txBody>
      </p:sp>
      <p:pic>
        <p:nvPicPr>
          <p:cNvPr id="28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82412"/>
            <a:ext cx="237744" cy="23774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77240" y="5811012"/>
            <a:ext cx="10634472" cy="352044"/>
          </a:xfrm>
          <a:prstGeom prst="roundRect">
            <a:avLst>
              <a:gd name="adj" fmla="val 2077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14400" y="5811012"/>
            <a:ext cx="1036015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Jawel!</a:t>
            </a:r>
            <a:r>
              <a:rPr lang="en-US" sz="1800" i="1" dirty="0">
                <a:solidFill>
                  <a:schemeClr val="tx1"/>
                </a:solidFill>
              </a:rPr>
              <a:t> / </a:t>
            </a:r>
            <a:r>
              <a:rPr lang="en-US" sz="1800" b="1" i="1" dirty="0">
                <a:solidFill>
                  <a:schemeClr val="tx1"/>
                </a:solidFill>
              </a:rPr>
              <a:t>Toch wel!</a:t>
            </a:r>
            <a:r>
              <a:rPr lang="en-US" sz="1800" dirty="0">
                <a:solidFill>
                  <a:schemeClr val="tx1"/>
                </a:solidFill>
              </a:rPr>
              <a:t> — « si » n’existe pas en néerlandais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 que le néerlandais ne dit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Ce n’est pas un problème.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Het is niet een probleem.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24028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240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is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probleem.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46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ne vois personne. »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zie niet niemand.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18120" y="333756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zie </a:t>
            </a:r>
            <a:r>
              <a:rPr lang="en-US" sz="1900" b="1" i="1" dirty="0">
                <a:solidFill>
                  <a:schemeClr val="tx1"/>
                </a:solidFill>
              </a:rPr>
              <a:t>niemand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434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n’ai pas faim. »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heb niet honger.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818120" y="443484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honger.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Pas de double négation · </a:t>
            </a:r>
            <a:r>
              <a:rPr lang="en-US" sz="1700" i="1" dirty="0">
                <a:solidFill>
                  <a:schemeClr val="tx2"/>
                </a:solidFill>
              </a:rPr>
              <a:t>honger, dorst, tijd, zin</a:t>
            </a:r>
            <a:r>
              <a:rPr lang="en-US" sz="1700" dirty="0">
                <a:solidFill>
                  <a:schemeClr val="tx2"/>
                </a:solidFill>
              </a:rPr>
              <a:t> sont des </a:t>
            </a:r>
            <a:r>
              <a:rPr lang="en-US" sz="1700" b="1" dirty="0">
                <a:solidFill>
                  <a:schemeClr val="tx2"/>
                </a:solidFill>
              </a:rPr>
              <a:t>noms</a:t>
            </a:r>
            <a:r>
              <a:rPr lang="en-US" sz="1700" dirty="0">
                <a:solidFill>
                  <a:schemeClr val="tx2"/>
                </a:solidFill>
              </a:rPr>
              <a:t> → </a:t>
            </a:r>
            <a:r>
              <a:rPr lang="en-US" sz="1700" i="1" dirty="0">
                <a:solidFill>
                  <a:schemeClr val="tx2"/>
                </a:solidFill>
              </a:rPr>
              <a:t>geen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carte de la négation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GEEN</a:t>
            </a:r>
            <a:r>
              <a:rPr lang="en-US" sz="2200" b="1" dirty="0">
                <a:solidFill>
                  <a:schemeClr val="tx1"/>
                </a:solidFill>
              </a:rPr>
              <a:t> = niet + een / Ø (+ nom)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niet</a:t>
            </a:r>
            <a:r>
              <a:rPr lang="en-US" sz="2200" b="1" dirty="0">
                <a:solidFill>
                  <a:schemeClr val="tx1"/>
                </a:solidFill>
              </a:rPr>
              <a:t> = tout le reste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Ik heb geen auto. · Ik werk niet.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45352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28232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tx2"/>
                </a:solidFill>
              </a:rPr>
              <a:t>PLACE DE NIET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0574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①</a:t>
            </a:r>
            <a:r>
              <a:rPr lang="en-US" sz="1700" dirty="0">
                <a:solidFill>
                  <a:schemeClr val="tx1"/>
                </a:solidFill>
              </a:rPr>
              <a:t> à la fin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②</a:t>
            </a:r>
            <a:r>
              <a:rPr lang="en-US" sz="1700" dirty="0">
                <a:solidFill>
                  <a:schemeClr val="tx1"/>
                </a:solidFill>
              </a:rPr>
              <a:t> devant le 2e verbe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③</a:t>
            </a:r>
            <a:r>
              <a:rPr lang="en-US" sz="1700" dirty="0">
                <a:solidFill>
                  <a:schemeClr val="tx1"/>
                </a:solidFill>
              </a:rPr>
              <a:t> devant préposition / adjectif / adverbe de manière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vandaag, morgen</a:t>
            </a:r>
            <a:r>
              <a:rPr lang="en-US" sz="1700" dirty="0">
                <a:solidFill>
                  <a:schemeClr val="tx1"/>
                </a:solidFill>
              </a:rPr>
              <a:t> : avant </a:t>
            </a:r>
            <a:r>
              <a:rPr lang="en-US" sz="1700" i="1" dirty="0">
                <a:solidFill>
                  <a:schemeClr val="tx1"/>
                </a:solidFill>
              </a:rPr>
              <a:t>niet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nooit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432304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32304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15968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15968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niemand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199632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99632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nog niet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83296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83296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 meer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96696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696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Niet of geen?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Dites le contraire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va niet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ng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collègue grognon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r>
              <a:rPr lang="en-US" sz="1800" b="1" dirty="0">
                <a:solidFill>
                  <a:schemeClr val="accent3"/>
                </a:solidFill>
              </a:rPr>
              <a:t> (Ø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r>
              <a:rPr lang="en-US" sz="1800" b="1" dirty="0">
                <a:solidFill>
                  <a:schemeClr val="accent3"/>
                </a:solidFill>
              </a:rPr>
              <a:t> (préposition)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r>
              <a:rPr lang="en-US" sz="1800" b="1" dirty="0">
                <a:solidFill>
                  <a:schemeClr val="accent3"/>
                </a:solidFill>
              </a:rPr>
              <a:t> (infinitif)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r>
              <a:rPr lang="en-US" sz="1800" b="1" dirty="0">
                <a:solidFill>
                  <a:schemeClr val="accent3"/>
                </a:solidFill>
              </a:rPr>
              <a:t> (participe)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r>
              <a:rPr lang="en-US" sz="1800" b="1" dirty="0">
                <a:solidFill>
                  <a:schemeClr val="accent3"/>
                </a:solidFill>
              </a:rPr>
              <a:t> (een)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b="1" dirty="0">
                <a:solidFill>
                  <a:schemeClr val="accent3"/>
                </a:solidFill>
              </a:rPr>
              <a:t> (de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r>
              <a:rPr lang="en-US" sz="1800" b="1" dirty="0">
                <a:solidFill>
                  <a:schemeClr val="accent3"/>
                </a:solidFill>
              </a:rPr>
              <a:t> (adjectif)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r>
              <a:rPr lang="en-US" sz="1800" b="1" dirty="0">
                <a:solidFill>
                  <a:schemeClr val="accent3"/>
                </a:solidFill>
              </a:rPr>
              <a:t> (nationalité)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6900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broer.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09360" y="251383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maandag.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09360" y="305866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09360" y="360349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09360" y="414832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09360" y="469315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op.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309360" y="523798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309360" y="578281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tx2"/>
                </a:solidFill>
              </a:rPr>
              <a:t>nooit</a:t>
            </a:r>
            <a:r>
              <a:rPr lang="en-US" sz="1800" i="1" dirty="0">
                <a:solidFill>
                  <a:schemeClr val="tx1"/>
                </a:solidFill>
              </a:rPr>
              <a:t> koffie.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1" name="tag"/>
          <p:cNvSpPr/>
          <p:nvPr/>
        </p:nvSpPr>
        <p:spPr>
          <a:xfrm>
            <a:off x="1773936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96896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ag"/>
          <p:cNvSpPr/>
          <p:nvPr/>
        </p:nvSpPr>
        <p:spPr>
          <a:xfrm>
            <a:off x="3429000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5" name="tag"/>
          <p:cNvSpPr/>
          <p:nvPr/>
        </p:nvSpPr>
        <p:spPr>
          <a:xfrm>
            <a:off x="5550408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373368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0" name="tag"/>
          <p:cNvSpPr/>
          <p:nvPr/>
        </p:nvSpPr>
        <p:spPr>
          <a:xfrm>
            <a:off x="2240280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063240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ag"/>
          <p:cNvSpPr/>
          <p:nvPr/>
        </p:nvSpPr>
        <p:spPr>
          <a:xfrm>
            <a:off x="4050792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873752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83096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214616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tag"/>
          <p:cNvSpPr/>
          <p:nvPr/>
        </p:nvSpPr>
        <p:spPr>
          <a:xfrm>
            <a:off x="1773936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259689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tag"/>
          <p:cNvSpPr/>
          <p:nvPr/>
        </p:nvSpPr>
        <p:spPr>
          <a:xfrm>
            <a:off x="3584448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4407408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3" name="tag"/>
          <p:cNvSpPr/>
          <p:nvPr/>
        </p:nvSpPr>
        <p:spPr>
          <a:xfrm>
            <a:off x="5394960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217920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tag"/>
          <p:cNvSpPr/>
          <p:nvPr/>
        </p:nvSpPr>
        <p:spPr>
          <a:xfrm>
            <a:off x="177393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259689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ag"/>
          <p:cNvSpPr/>
          <p:nvPr/>
        </p:nvSpPr>
        <p:spPr>
          <a:xfrm>
            <a:off x="3584448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407408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2" name="tag"/>
          <p:cNvSpPr/>
          <p:nvPr/>
        </p:nvSpPr>
        <p:spPr>
          <a:xfrm>
            <a:off x="648309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30605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7" name="tag"/>
          <p:cNvSpPr/>
          <p:nvPr/>
        </p:nvSpPr>
        <p:spPr>
          <a:xfrm>
            <a:off x="3639312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462272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tag"/>
          <p:cNvSpPr/>
          <p:nvPr/>
        </p:nvSpPr>
        <p:spPr>
          <a:xfrm>
            <a:off x="5138928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5961888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1" name="tag"/>
          <p:cNvSpPr/>
          <p:nvPr/>
        </p:nvSpPr>
        <p:spPr>
          <a:xfrm>
            <a:off x="6949440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7680960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Text 51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6" name="tag"/>
          <p:cNvSpPr/>
          <p:nvPr/>
        </p:nvSpPr>
        <p:spPr>
          <a:xfrm>
            <a:off x="192938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2752344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ag"/>
          <p:cNvSpPr/>
          <p:nvPr/>
        </p:nvSpPr>
        <p:spPr>
          <a:xfrm>
            <a:off x="389534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47183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60" name="tag"/>
          <p:cNvSpPr/>
          <p:nvPr/>
        </p:nvSpPr>
        <p:spPr>
          <a:xfrm>
            <a:off x="6327648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7150608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37944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2734056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32504" y="20213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32504" y="20213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55464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tag"/>
          <p:cNvSpPr/>
          <p:nvPr/>
        </p:nvSpPr>
        <p:spPr>
          <a:xfrm>
            <a:off x="11064240" y="21219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2304288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3355848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965192" y="274777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65192" y="27477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696712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tag"/>
          <p:cNvSpPr/>
          <p:nvPr/>
        </p:nvSpPr>
        <p:spPr>
          <a:xfrm>
            <a:off x="11064240" y="284835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837944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2825496" y="347421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25496" y="34742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364845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4700016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tag"/>
          <p:cNvSpPr/>
          <p:nvPr/>
        </p:nvSpPr>
        <p:spPr>
          <a:xfrm>
            <a:off x="11064240" y="357479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1837944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2889504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4965192" y="420065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65192" y="42006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5788152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tag"/>
          <p:cNvSpPr/>
          <p:nvPr/>
        </p:nvSpPr>
        <p:spPr>
          <a:xfrm>
            <a:off x="11064240" y="430123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3703320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4379976" y="492709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379976" y="49270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5202936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tag"/>
          <p:cNvSpPr/>
          <p:nvPr/>
        </p:nvSpPr>
        <p:spPr>
          <a:xfrm>
            <a:off x="11064240" y="502767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1993392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3200400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4809744" y="56535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809744" y="56535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56327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62" name="tag"/>
          <p:cNvSpPr/>
          <p:nvPr/>
        </p:nvSpPr>
        <p:spPr>
          <a:xfrm>
            <a:off x="11064240" y="57541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69164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koffie drinkt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30632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594360" cy="594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546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in Brussel woont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3375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55778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d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91640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huisdieren heeft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8521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5486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246120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graag kookt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5"/>
          <p:cNvSpPr/>
          <p:nvPr/>
        </p:nvSpPr>
        <p:spPr>
          <a:xfrm>
            <a:off x="30632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popcor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46120"/>
            <a:ext cx="594360" cy="5943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1546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…nooit naar de cinema gaat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375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8"/>
          <p:cNvSpPr/>
          <p:nvPr/>
        </p:nvSpPr>
        <p:spPr>
          <a:xfrm>
            <a:off x="55778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speaking h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594360" cy="5943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6692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Engels spreekt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8521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Shape 21"/>
          <p:cNvSpPr/>
          <p:nvPr/>
        </p:nvSpPr>
        <p:spPr>
          <a:xfrm>
            <a:off x="5486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4800600"/>
            <a:ext cx="594360" cy="594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met de auto komt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24"/>
          <p:cNvSpPr/>
          <p:nvPr/>
        </p:nvSpPr>
        <p:spPr>
          <a:xfrm>
            <a:off x="30632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7" descr="people hugg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1920" y="4800600"/>
            <a:ext cx="594360" cy="59436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1546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broers heeft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3375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27"/>
          <p:cNvSpPr/>
          <p:nvPr/>
        </p:nvSpPr>
        <p:spPr>
          <a:xfrm>
            <a:off x="55778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8" descr="person runni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4800600"/>
            <a:ext cx="594360" cy="59436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6692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sport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8521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0"/>
          <p:cNvSpPr txBox="1"/>
          <p:nvPr/>
        </p:nvSpPr>
        <p:spPr>
          <a:xfrm>
            <a:off x="8229600" y="1600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Zoek iemand die…</a:t>
            </a:r>
            <a:endParaRPr lang="en-US" sz="2400" dirty="0"/>
          </a:p>
        </p:txBody>
      </p:sp>
      <p:sp>
        <p:nvSpPr>
          <p:cNvPr id="43" name="Text 31"/>
          <p:cNvSpPr txBox="1"/>
          <p:nvPr/>
        </p:nvSpPr>
        <p:spPr>
          <a:xfrm>
            <a:off x="8229600" y="2240280"/>
            <a:ext cx="341071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Posez une question : </a:t>
            </a:r>
            <a:r>
              <a:rPr lang="en-US" sz="1600" i="1" dirty="0">
                <a:solidFill>
                  <a:schemeClr val="tx1"/>
                </a:solidFill>
              </a:rPr>
              <a:t>Drink je koffie?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Réponse négative ? Notez le prénom.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3 prénoms en ligne : </a:t>
            </a:r>
            <a:r>
              <a:rPr lang="en-US" sz="1600" i="1" dirty="0">
                <a:solidFill>
                  <a:schemeClr val="tx1"/>
                </a:solidFill>
              </a:rPr>
              <a:t>Bingo!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Exigez la phrase complète : </a:t>
            </a:r>
            <a:r>
              <a:rPr lang="en-US" sz="1600" i="1" dirty="0">
                <a:solidFill>
                  <a:schemeClr val="tx1"/>
                </a:solidFill>
              </a:rPr>
              <a:t>Nee, ik drink geen koffie.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dirty="0">
                <a:solidFill>
                  <a:schemeClr val="tx1"/>
                </a:solidFill>
              </a:rPr>
              <a:t>Ik ken niet de collega’s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dirty="0">
                <a:solidFill>
                  <a:schemeClr val="tx1"/>
                </a:solidFill>
              </a:rPr>
              <a:t>Ik mag parkeren niet in de garage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strike="sngStrike" dirty="0">
                <a:solidFill>
                  <a:schemeClr val="accent6"/>
                </a:solidFill>
              </a:rPr>
              <a:t>Ik ken niet de collega’s goed</a:t>
            </a:r>
            <a:r>
              <a:rPr lang="en-US" sz="2000" b="1" i="1" dirty="0">
                <a:solidFill>
                  <a:schemeClr val="accent3"/>
                </a:solidFill>
              </a:rPr>
              <a:t> Ik ken de collega’s niet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strike="sngStrike" dirty="0">
                <a:solidFill>
                  <a:schemeClr val="accent6"/>
                </a:solidFill>
              </a:rPr>
              <a:t>Ik mag parkeren niet in de garage</a:t>
            </a:r>
            <a:r>
              <a:rPr lang="en-US" sz="2000" b="1" i="1" dirty="0">
                <a:solidFill>
                  <a:schemeClr val="accent3"/>
                </a:solidFill>
              </a:rPr>
              <a:t> Ik mag niet in de garage parkeren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Ik spreek nog niet goed Nederlands · Ik ben niet moe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collègue grognon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13232" y="16184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grognon</a:t>
            </a:r>
            <a:r>
              <a:rPr lang="en-US" sz="1700" dirty="0">
                <a:solidFill>
                  <a:schemeClr val="tx1"/>
                </a:solidFill>
              </a:rPr>
              <a:t> : vous voyez tout en noir. Signalez 3 problèmes.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11396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5988" y="1618488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759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088636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positif</a:t>
            </a:r>
            <a:r>
              <a:rPr lang="en-US" sz="1700" dirty="0">
                <a:solidFill>
                  <a:schemeClr val="tx1"/>
                </a:solidFill>
              </a:rPr>
              <a:t> : proposez une solution à chaque fois.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Geen probleem! · Dat is niet erg. · Ik bel de technicus. · Je kunt mijn laptop gebruiken. · Jawel, er is nog koffie in de keuken!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74152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PROBLÈMES</a:t>
            </a:r>
            <a:endParaRPr lang="en-US" sz="1200" dirty="0"/>
          </a:p>
        </p:txBody>
      </p:sp>
      <p:pic>
        <p:nvPicPr>
          <p:cNvPr id="19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1984248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97112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geen koffie meer.</a:t>
            </a:r>
            <a:endParaRPr lang="en-US" sz="1400" dirty="0"/>
          </a:p>
        </p:txBody>
      </p:sp>
      <p:pic>
        <p:nvPicPr>
          <p:cNvPr id="21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694432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897112" y="26487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printer werkt niet.</a:t>
            </a:r>
            <a:endParaRPr lang="en-US" sz="1400" dirty="0"/>
          </a:p>
        </p:txBody>
      </p:sp>
      <p:pic>
        <p:nvPicPr>
          <p:cNvPr id="23" name="Image 2" descr="antenna b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404616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97112" y="33588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geen wifi.</a:t>
            </a:r>
            <a:endParaRPr lang="en-US" sz="1400" dirty="0"/>
          </a:p>
        </p:txBody>
      </p:sp>
      <p:pic>
        <p:nvPicPr>
          <p:cNvPr id="25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1480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897112" y="4069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vind mijn sleutel niet.</a:t>
            </a:r>
            <a:endParaRPr lang="en-US" sz="1400" dirty="0"/>
          </a:p>
        </p:txBody>
      </p:sp>
      <p:pic>
        <p:nvPicPr>
          <p:cNvPr id="27" name="Image 4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4984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897112" y="47792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vergaderzaal is niet vrij.</a:t>
            </a:r>
            <a:endParaRPr lang="en-US" sz="1400" dirty="0"/>
          </a:p>
        </p:txBody>
      </p:sp>
      <p:pic>
        <p:nvPicPr>
          <p:cNvPr id="29" name="Image 5" descr="elevat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535168"/>
            <a:ext cx="548640" cy="5486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97112" y="5489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lift werkt niet.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heb …… zin.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i="1" dirty="0">
                <a:solidFill>
                  <a:schemeClr val="tx1"/>
                </a:solidFill>
              </a:rPr>
              <a:t>Ik ken die man ……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Forme négative : </a:t>
            </a:r>
            <a:r>
              <a:rPr lang="en-US" sz="2000" i="1" dirty="0">
                <a:solidFill>
                  <a:schemeClr val="tx1"/>
                </a:solidFill>
              </a:rPr>
              <a:t>Ik kan morgen komen.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« Si ! » : </a:t>
            </a:r>
            <a:r>
              <a:rPr lang="en-US" sz="2000" i="1" dirty="0">
                <a:solidFill>
                  <a:schemeClr val="tx1"/>
                </a:solidFill>
              </a:rPr>
              <a:t>Heb je geen tijd?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Répondre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ub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Woordvorming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vergader + zaal = 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Niet of geen? — La négation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2026-10-06T08:28:15Z</dcterms:created>
  <dcterms:modified xsi:type="dcterms:W3CDTF">2026-10-06T08:28:15Z</dcterms:modified>
</cp:coreProperties>
</file>