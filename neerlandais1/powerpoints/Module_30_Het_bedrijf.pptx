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dd1d1c4-2d26-ed62-7033-8cb30b32c469}">
          <p14:sldIdLst>
            <p14:sldId id="256"/>
          </p14:sldIdLst>
        </p14:section>
        <p14:section name="Découvrir" id="{92ba7ff4-c0c2-98c1-bda6-8f714d66a8a8}">
          <p14:sldIdLst>
            <p14:sldId id="257"/>
            <p14:sldId id="258"/>
          </p14:sldIdLst>
        </p14:section>
        <p14:section name="Comprendre" id="{ce64d850-1db5-1c77-d1bf-7f54ce9bebe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JIJ NU ! — Oefeningen" id="{aa131446-39cb-b277-817b-9bcaa100f506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lôture" id="{f319e0d9-2926-d30e-5f71-274ef49eef30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le vocabulaire de l'entreprise, pour s'y repérer dès le premier jour.
Question d'entrée : « Le premier jour dans une entreprise flamande, quels mots faut-il connaître ? » Notez les réponses en français : le module va les donner en néerlandais.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Ce vocabulaire sert dans tout le bloc 7 : se déplacer dans le bâtiment (M31), se présenter au travail (M32).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que beaucoup de mots sont transparents, et donner confiance.
Faites deviner en binôme, puis vérifiez. Tous ces mots sont transparents. Insistez sur l'article : het contract, het project, het team, het salaris. Au M5 : les mots d'une syllabe ou les emprunts n'ont pas de règle sûre, il faut apprendre l'article avec le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types d'entreprises et les formes juridiques belges.
kmo = kleine of middelgrote onderneming (Belgique) ; aux Pays-Bas, on parle du mkb. de firma existe aussi. Depuis 2019, la bv remplace l'ancienne bvba (SPRL). Faites dire : Ik werk bij een kmo. · Ik ben zelfstandige. · Ik werk bij de overheid.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services d'une entreprise.
de afdeling = le service, le département ; en Belgique, on dit aussi de dienst : de personeelsdienst, de klantendienst (service clientèle), de aankoopdienst. de zaakvoerder (Belgique) = le gérant d'une bv. Autres services : het onthaal (l'accueil), de logistiek, de juridische dienst.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fonctions, au masculin et au féminin.
Suffixes féminins (M7) : -ster (boekhoudster), -e (stagiaire), -rice (directrice). het afdelingshoofd : le dernier mot est het hoofd (la tête), donc het (M14). de medewerker est le mot passe-partout : een medewerker van de verkoop.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les rôles et les relations dans l'entreprise.
Moyen mnémotechnique : geven = donner, nemen = prendre. Celui qui « donne le travail » paie le salaire. La distinction bediende / arbeider est propre au droit du travail belge. de chef s'entend aussi en Belgique (mijn chef).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Se repérer dans le bâtiment.
het gelijkvloers (Belgique) = le rez-de-chaussée (NL : de begane grond) ; de eerste verdieping = le premier étage. het kantoor = le bureau (la pièce) ; en Belgique, on dit aussi het bureau. de refter (Belgique) = la cafétéria, le réfectoire (NL : de kantine). Ce plan revient au M31.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 matériel de bureau avec son article.
Les mots het sont minoritaires : faites-les souligner. de gsm (Belgique) = le téléphone portable (NL : de mobiel) ; de bic est aussi très courant en Belgique pour de balpen. het bureau = le meuble (la table de travail) ; en Belgique aussi la pièce.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documents du quotidien professionnel.
het verslag = le rapport ou le procès-verbal d'une réunion (NL : de notulen). de loonfiche (Belgique) = NL de loonstrook. het attest est très belge (un ziekteattest = un certificat médical). Révisez de factuur et de offerte avec le M26.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Décrire les activités de chaque service.
afdrukken et aanwerven sont des verbes à particule (M11) : Ik druk het verslag af. aanwerven est courant en Belgique (NL : aannemen). Hij is in vergadering = il est en réunion (formule utile au téléphone).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bon verbe dans les expressions fréquentes.
On n'apprend pas un verbe seul, mais une expression complète : een vraag stellen, pas « poser = stellen ». Faites fabriquer des cartes « expression » à réviser. een vergadering hebben est aussi correct (We hebben om tien uur een vergadering).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Parler du contrat, du temps de travail et des avantages.
Vocabulaire très belge : maaltijdcheques, bedrijfswagen, verlof (NL : vakantie), telewerken (synonyme de thuiswerken). Évitez de faire parler du salaire réel des apprenants : on reste sur des exemples.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les faux amis du monde du travail.
de formatie = la composition (d'un gouvernement, d'une équipe). het patroon = le modèle, le motif ; mais en Belgique, de patroon (masculin) est le mot courant pour le patron, l'employeur : attention à l'article. de samenleving = la société au sens de « la communauté des gens ». de agenda a deux sens : l'agenda et l'ordre du jour (Wat staat er op de agenda?).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variantes belges et néerlandaises.
Les apprenants travaillent en Belgique : on enseigne d'abord le mot belge, mais on reconnaît le mot néerlandais (séries, sites web, clients des Pays-Bas). de receptie et de kantine s'entendent aussi en Belgique.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récapitulatif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Associer une fonction à une tâche.
Faites formuler la phrase complète : De boekhouder betaalt de facturen. N° 4 : aanwerven est un verbe à particule : werft … aan (M11).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Associer une fonction à une tâche.
Faites formuler la phrase complète : De boekhouder betaalt de facturen. N° 4 : aanwerven est un verbe à particule : werft … aan (M11).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Nommer les pièces sur le plan.
Prolongement oral en binôme : Waar is de keuken? — In de gang, de tweede deur rechts.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Nommer les pièces sur le plan.
Prolongement oral en binôme : Waar is de keuken? — In de gang, de tweede deur rechts.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le vocabulaire selon l'article, en utilisant la règle des composés.
Règles utiles : -ing → de (de vergadering, M5) ; composés : le dernier mot décide (de dienst, het lokaal, de zaal, M14). Les autres mots s'apprennent avec leur article.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Classer le vocabulaire selon l'article, en utilisant la règle des composés.
Règles utiles : -ing → de (de vergadering, M5) ; composés : le dernier mot décide (de dienst, het lokaal, de zaal, M14). Les autres mots s'apprennent avec leur article.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e-mail d'accueil.
Leurre : aan het onthaal est correct (Belgique). N° 1 : un composé s'écrit en un mot, avec le -s- de liaison (M14).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e-mail d'accueil.
Leurre : aan het onthaal est correct (Belgique). N° 1 : un composé s'écrit en un mot, avec le -s- de liaison (M14).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Réutiliser les expressions de la diapo 12.
N° 8 : contact opnemen : la particule op se sépare (M11) : Neem contact op met…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Réutiliser les expressions de la diapo 12.
N° 8 : contact opnemen : la particule op se sépare (M11) : Neem contact op met…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deviner un mot du bureau en le définissant, sans dire les mots interdits.
Les définitions réutilisent les relatifs du M22 et du M23. En équipes, 1 minute par carte ; 1 point par mot deviné, −1 si un mot interdit est prononcé.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faire visiter l'entreprise à un·e nouveau·elle collègue.
Exigez au moins 4 pièces et 2 services. Réemploi du M25 pour les horaires (Om hoe laat begint de vergadering?).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de personeelsdienst · de vergaderzaal
2. stellen
3. Karim is werknemer bij Peeters &amp; Co.
Teaser M31 : Ik stap in de keuken · Ik stap de keuken in. Quelle différence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30 · Het bedrijf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30 · Het bedrijf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30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Het bedrijf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L’entreprise et son vocabulaire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Welkom bij Peeters &amp; Co!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868680"/>
            <a:ext cx="5212080" cy="361188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office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83880" y="10972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Welkom bij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Peeters &amp; Co!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366760" y="274320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 directie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025128" y="3200400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23760" y="3429000"/>
            <a:ext cx="361188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0" y="3429000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0" y="36576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3657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boekhouding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34272" y="3429000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85632" y="36576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85632" y="3657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verkoop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844784" y="3429000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96144" y="36576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296144" y="3657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marketing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Site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Nommer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nomme les services et les fonctions : </a:t>
            </a:r>
            <a:r>
              <a:rPr lang="en-US" sz="2000" i="1" dirty="0">
                <a:solidFill>
                  <a:schemeClr val="tx1"/>
                </a:solidFill>
              </a:rPr>
              <a:t>de boekhouding, de verkoper.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MapMarke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 repérer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me repère dans le bâtiment : </a:t>
            </a:r>
            <a:r>
              <a:rPr lang="en-US" sz="2000" i="1" dirty="0">
                <a:solidFill>
                  <a:schemeClr val="tx1"/>
                </a:solidFill>
              </a:rPr>
              <a:t>De vergaderzaal is de eerste deur links.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File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Parler du travail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parle du contrat, des horaires, des congés : </a:t>
            </a:r>
            <a:r>
              <a:rPr lang="en-US" sz="2000" i="1" dirty="0">
                <a:solidFill>
                  <a:schemeClr val="tx1"/>
                </a:solidFill>
              </a:rPr>
              <a:t>Ik werk deeltijds.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vocabulaire sert dans tout le bloc 7 : se déplacer (M31), se présenter au travail (M32).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Vous comprenez déjà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594360" cy="594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55448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directeur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362706" y="155448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866" y="1737360"/>
            <a:ext cx="594360" cy="5943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185666" y="155448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manager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176772" y="155448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age facing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737360"/>
            <a:ext cx="594360" cy="5943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999732" y="155448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het</a:t>
            </a:r>
            <a:r>
              <a:rPr lang="en-US" sz="2000" i="1" dirty="0">
                <a:solidFill>
                  <a:schemeClr val="tx1"/>
                </a:solidFill>
              </a:rPr>
              <a:t> contract</a:t>
            </a:r>
            <a:endParaRPr lang="en-US" sz="2000" dirty="0"/>
          </a:p>
        </p:txBody>
      </p:sp>
      <p:sp>
        <p:nvSpPr>
          <p:cNvPr id="14" name="Shape 8"/>
          <p:cNvSpPr/>
          <p:nvPr/>
        </p:nvSpPr>
        <p:spPr>
          <a:xfrm>
            <a:off x="8990838" y="155448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lap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998" y="1737360"/>
            <a:ext cx="594360" cy="5943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813798" y="155448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laptop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548640" y="265176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pri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34640"/>
            <a:ext cx="594360" cy="5943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71600" y="265176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printer</a:t>
            </a:r>
            <a:endParaRPr lang="en-US" sz="2000" dirty="0"/>
          </a:p>
        </p:txBody>
      </p:sp>
      <p:sp>
        <p:nvSpPr>
          <p:cNvPr id="20" name="Shape 12"/>
          <p:cNvSpPr/>
          <p:nvPr/>
        </p:nvSpPr>
        <p:spPr>
          <a:xfrm>
            <a:off x="3362706" y="265176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5" descr="bellhop 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9866" y="2834640"/>
            <a:ext cx="594360" cy="5943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185666" y="265176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receptie</a:t>
            </a:r>
            <a:endParaRPr lang="en-US" sz="2000" dirty="0"/>
          </a:p>
        </p:txBody>
      </p:sp>
      <p:sp>
        <p:nvSpPr>
          <p:cNvPr id="23" name="Shape 14"/>
          <p:cNvSpPr/>
          <p:nvPr/>
        </p:nvSpPr>
        <p:spPr>
          <a:xfrm>
            <a:off x="6176772" y="265176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6" descr="bar ch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2834640"/>
            <a:ext cx="594360" cy="5943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99732" y="265176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het</a:t>
            </a:r>
            <a:r>
              <a:rPr lang="en-US" sz="2000" i="1" dirty="0">
                <a:solidFill>
                  <a:schemeClr val="tx1"/>
                </a:solidFill>
              </a:rPr>
              <a:t> project</a:t>
            </a:r>
            <a:endParaRPr lang="en-US" sz="2000" dirty="0"/>
          </a:p>
        </p:txBody>
      </p:sp>
      <p:sp>
        <p:nvSpPr>
          <p:cNvPr id="26" name="Shape 16"/>
          <p:cNvSpPr/>
          <p:nvPr/>
        </p:nvSpPr>
        <p:spPr>
          <a:xfrm>
            <a:off x="8990838" y="265176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7" descr="busts in silhouet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7998" y="2834640"/>
            <a:ext cx="594360" cy="5943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813798" y="265176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het</a:t>
            </a:r>
            <a:r>
              <a:rPr lang="en-US" sz="2000" i="1" dirty="0">
                <a:solidFill>
                  <a:schemeClr val="tx1"/>
                </a:solidFill>
              </a:rPr>
              <a:t> team</a:t>
            </a:r>
            <a:endParaRPr lang="en-US" sz="2000" dirty="0"/>
          </a:p>
        </p:txBody>
      </p:sp>
      <p:sp>
        <p:nvSpPr>
          <p:cNvPr id="29" name="Shape 18"/>
          <p:cNvSpPr/>
          <p:nvPr/>
        </p:nvSpPr>
        <p:spPr>
          <a:xfrm>
            <a:off x="548640" y="374904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8" descr="receip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931920"/>
            <a:ext cx="594360" cy="59436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371600" y="374904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factuur</a:t>
            </a:r>
            <a:endParaRPr lang="en-US" sz="2000" dirty="0"/>
          </a:p>
        </p:txBody>
      </p:sp>
      <p:sp>
        <p:nvSpPr>
          <p:cNvPr id="32" name="Shape 20"/>
          <p:cNvSpPr/>
          <p:nvPr/>
        </p:nvSpPr>
        <p:spPr>
          <a:xfrm>
            <a:off x="3362706" y="374904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3" name="Image 9" descr="fork and knife with plat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9866" y="3931920"/>
            <a:ext cx="594360" cy="59436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185666" y="374904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kantine</a:t>
            </a:r>
            <a:endParaRPr lang="en-US" sz="2000" dirty="0"/>
          </a:p>
        </p:txBody>
      </p:sp>
      <p:sp>
        <p:nvSpPr>
          <p:cNvPr id="35" name="Shape 22"/>
          <p:cNvSpPr/>
          <p:nvPr/>
        </p:nvSpPr>
        <p:spPr>
          <a:xfrm>
            <a:off x="6176772" y="374904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6" name="Image 10" descr="money ba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3932" y="3931920"/>
            <a:ext cx="594360" cy="59436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6999732" y="374904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het</a:t>
            </a:r>
            <a:r>
              <a:rPr lang="en-US" sz="2000" i="1" dirty="0">
                <a:solidFill>
                  <a:schemeClr val="tx1"/>
                </a:solidFill>
              </a:rPr>
              <a:t> salaris</a:t>
            </a:r>
            <a:endParaRPr lang="en-US" sz="2000" dirty="0"/>
          </a:p>
        </p:txBody>
      </p:sp>
      <p:sp>
        <p:nvSpPr>
          <p:cNvPr id="38" name="Shape 24"/>
          <p:cNvSpPr/>
          <p:nvPr/>
        </p:nvSpPr>
        <p:spPr>
          <a:xfrm>
            <a:off x="8990838" y="3749040"/>
            <a:ext cx="264947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9" name="Image 11" descr="studen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7998" y="3931920"/>
            <a:ext cx="594360" cy="59436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9813798" y="3749040"/>
            <a:ext cx="17350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de</a:t>
            </a:r>
            <a:r>
              <a:rPr lang="en-US" sz="2000" i="1" dirty="0">
                <a:solidFill>
                  <a:schemeClr val="tx1"/>
                </a:solidFill>
              </a:rPr>
              <a:t> stagiair</a:t>
            </a:r>
            <a:endParaRPr lang="en-US" sz="2000" dirty="0"/>
          </a:p>
        </p:txBody>
      </p:sp>
      <p:sp>
        <p:nvSpPr>
          <p:cNvPr id="41" name="Shape 26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42" name="Image 12" descr="thinking fac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5212080"/>
            <a:ext cx="822960" cy="82296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1828800" y="5029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Devinez le sens ! Quels mots ressemblent au français ?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Attention : certains mots trompent (diapo 14). Et retenez l’article : </a:t>
            </a:r>
            <a:r>
              <a:rPr lang="en-US" sz="1800" b="1" i="1" dirty="0">
                <a:solidFill>
                  <a:schemeClr val="accent1"/>
                </a:solidFill>
              </a:rPr>
              <a:t>het</a:t>
            </a:r>
            <a:r>
              <a:rPr lang="en-US" sz="1800" i="1" dirty="0">
                <a:solidFill>
                  <a:schemeClr val="tx1"/>
                </a:solidFill>
              </a:rPr>
              <a:t> contract, </a:t>
            </a:r>
            <a:r>
              <a:rPr lang="en-US" sz="1800" b="1" i="1" dirty="0">
                <a:solidFill>
                  <a:schemeClr val="accent1"/>
                </a:solidFill>
              </a:rPr>
              <a:t>het</a:t>
            </a:r>
            <a:r>
              <a:rPr lang="en-US" sz="1800" i="1" dirty="0">
                <a:solidFill>
                  <a:schemeClr val="tx1"/>
                </a:solidFill>
              </a:rPr>
              <a:t> team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types d’entreprises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office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916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het</a:t>
            </a:r>
            <a:r>
              <a:rPr lang="en-US" sz="1500" i="1" dirty="0">
                <a:solidFill>
                  <a:schemeClr val="tx1"/>
                </a:solidFill>
              </a:rPr>
              <a:t> bedrijf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l’entreprise (courant)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1488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16916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945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onderneming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21945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l’entreprise (formel)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7490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convenience 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69164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947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kmo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7947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PME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3492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globe showing europe afr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1691640"/>
            <a:ext cx="731520" cy="7315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49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multinational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3949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multinationale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9494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technolog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1691640"/>
            <a:ext cx="731520" cy="7315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951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zelfstandige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9951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l’indépendant·e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5496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classical 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116" y="1691640"/>
            <a:ext cx="731520" cy="7315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5953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overheid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85953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secteur public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10149840" y="1554480"/>
            <a:ext cx="1490472" cy="210312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6" descr="handsh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9316" y="1691640"/>
            <a:ext cx="731520" cy="7315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195560" y="2514600"/>
            <a:ext cx="1399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vzw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10195560" y="310896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l’ASBL</a:t>
            </a:r>
            <a:endParaRPr lang="en-US" sz="1100" dirty="0"/>
          </a:p>
        </p:txBody>
      </p:sp>
      <p:sp>
        <p:nvSpPr>
          <p:cNvPr id="33" name="Text 23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FORMES JURIDIQUES (Belgique)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548640" y="4206240"/>
            <a:ext cx="35935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685800" y="4251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</a:t>
            </a:r>
            <a:r>
              <a:rPr lang="en-US" sz="2000" dirty="0">
                <a:solidFill>
                  <a:schemeClr val="tx2"/>
                </a:solidFill>
              </a:rPr>
              <a:t> = </a:t>
            </a:r>
            <a:r>
              <a:rPr lang="en-US" sz="2000" b="1" dirty="0">
                <a:solidFill>
                  <a:schemeClr val="tx2"/>
                </a:solidFill>
              </a:rPr>
              <a:t>nv</a:t>
            </a:r>
            <a:endParaRPr lang="en-US" sz="2000" dirty="0"/>
          </a:p>
        </p:txBody>
      </p:sp>
      <p:sp>
        <p:nvSpPr>
          <p:cNvPr id="36" name="Text 26"/>
          <p:cNvSpPr txBox="1"/>
          <p:nvPr/>
        </p:nvSpPr>
        <p:spPr>
          <a:xfrm>
            <a:off x="685800" y="4681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naamloze vennootschap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4297680" y="4206240"/>
            <a:ext cx="35935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4434840" y="4251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SRL</a:t>
            </a:r>
            <a:r>
              <a:rPr lang="en-US" sz="2000" dirty="0">
                <a:solidFill>
                  <a:schemeClr val="tx2"/>
                </a:solidFill>
              </a:rPr>
              <a:t> = </a:t>
            </a:r>
            <a:r>
              <a:rPr lang="en-US" sz="2000" b="1" dirty="0">
                <a:solidFill>
                  <a:schemeClr val="tx2"/>
                </a:solidFill>
              </a:rPr>
              <a:t>bv</a:t>
            </a:r>
            <a:endParaRPr lang="en-US" sz="2000" dirty="0"/>
          </a:p>
        </p:txBody>
      </p:sp>
      <p:sp>
        <p:nvSpPr>
          <p:cNvPr id="39" name="Text 29"/>
          <p:cNvSpPr txBox="1"/>
          <p:nvPr/>
        </p:nvSpPr>
        <p:spPr>
          <a:xfrm>
            <a:off x="4434840" y="4681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besloten vennootschap (depuis 2019)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8046720" y="4206240"/>
            <a:ext cx="359359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183880" y="4251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ASBL</a:t>
            </a:r>
            <a:r>
              <a:rPr lang="en-US" sz="2000" dirty="0">
                <a:solidFill>
                  <a:schemeClr val="tx2"/>
                </a:solidFill>
              </a:rPr>
              <a:t> = </a:t>
            </a:r>
            <a:r>
              <a:rPr lang="en-US" sz="2000" b="1" dirty="0">
                <a:solidFill>
                  <a:schemeClr val="tx2"/>
                </a:solidFill>
              </a:rPr>
              <a:t>vzw</a:t>
            </a:r>
            <a:endParaRPr lang="en-US" sz="200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4681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vereniging zonder winstoogmerk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Ik werk bij een kmo. · Ik ben zelfstandige. · Ik werk bij de overheid.</a:t>
            </a:r>
            <a:r>
              <a:rPr lang="en-US" sz="1700" dirty="0">
                <a:solidFill>
                  <a:schemeClr val="bg1"/>
                </a:solidFill>
              </a:rPr>
              <a:t> — NL : </a:t>
            </a:r>
            <a:r>
              <a:rPr lang="en-US" sz="1700" i="1" dirty="0">
                <a:solidFill>
                  <a:schemeClr val="bg1"/>
                </a:solidFill>
              </a:rPr>
              <a:t>het mkb</a:t>
            </a:r>
            <a:r>
              <a:rPr lang="en-US" sz="1700" dirty="0">
                <a:solidFill>
                  <a:schemeClr val="bg1"/>
                </a:solidFill>
              </a:rPr>
              <a:t> (= </a:t>
            </a:r>
            <a:r>
              <a:rPr lang="en-US" sz="1700" i="1" dirty="0">
                <a:solidFill>
                  <a:schemeClr val="bg1"/>
                </a:solidFill>
              </a:rPr>
              <a:t>de kmo</a:t>
            </a:r>
            <a:r>
              <a:rPr lang="en-US" sz="1700" dirty="0">
                <a:solidFill>
                  <a:schemeClr val="bg1"/>
                </a:solidFill>
              </a:rPr>
              <a:t>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L’organigramme de Peeters &amp; Co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448556" y="1508760"/>
            <a:ext cx="32918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48556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 directie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 zaakvoerder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4476" y="219456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7226" y="2400300"/>
            <a:ext cx="933450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72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0" descr="led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906" y="2697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43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boekhouding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la comptabilité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1574292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4663440"/>
            <a:ext cx="157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An, Karim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941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155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busts in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806" y="26974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4612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personeelsdienst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4612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les RH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506980" y="4663440"/>
            <a:ext cx="1574292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506980" y="4663440"/>
            <a:ext cx="157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Sofie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1610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2824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706" y="269748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3281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verkoop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3281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la vente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0279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493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3" descr="shopping 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606" y="269748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1950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aankoop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1950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les achats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8948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0162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5" name="Image 4" descr="chart increas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506" y="2697480"/>
            <a:ext cx="548640" cy="5486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0619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marketing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0619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le marketing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107680" y="4663440"/>
            <a:ext cx="1574292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107680" y="4663440"/>
            <a:ext cx="157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Lotte (stagiaire)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0761726" y="2400300"/>
            <a:ext cx="914" cy="20574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883140" y="2606040"/>
            <a:ext cx="1757172" cy="2514600"/>
          </a:xfrm>
          <a:prstGeom prst="roundRect">
            <a:avLst>
              <a:gd name="adj" fmla="val 4163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2" name="Image 5" descr="lap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406" y="2697480"/>
            <a:ext cx="548640" cy="54864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928860" y="3291840"/>
            <a:ext cx="16657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de</a:t>
            </a:r>
            <a:r>
              <a:rPr lang="en-US" sz="1400" i="1" dirty="0">
                <a:solidFill>
                  <a:schemeClr val="tx1"/>
                </a:solidFill>
              </a:rPr>
              <a:t> IT-dienst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9928860" y="3840480"/>
            <a:ext cx="1665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l’informatique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777240" y="52578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Op welke afdeling werk je? — Ik werk </a:t>
            </a:r>
            <a:r>
              <a:rPr lang="en-US" sz="1600" b="1" i="1" dirty="0">
                <a:solidFill>
                  <a:schemeClr val="tx1"/>
                </a:solidFill>
              </a:rPr>
              <a:t>op</a:t>
            </a:r>
            <a:r>
              <a:rPr lang="en-US" sz="1600" i="1" dirty="0">
                <a:solidFill>
                  <a:schemeClr val="tx1"/>
                </a:solidFill>
              </a:rPr>
              <a:t> de boekhouding. · Ik werk </a:t>
            </a:r>
            <a:r>
              <a:rPr lang="en-US" sz="1600" b="1" i="1" dirty="0">
                <a:solidFill>
                  <a:schemeClr val="tx1"/>
                </a:solidFill>
              </a:rPr>
              <a:t>bij</a:t>
            </a:r>
            <a:r>
              <a:rPr lang="en-US" sz="1600" i="1" dirty="0">
                <a:solidFill>
                  <a:schemeClr val="tx1"/>
                </a:solidFill>
              </a:rPr>
              <a:t> de personeelsdienst.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afdeling</a:t>
            </a:r>
            <a:r>
              <a:rPr lang="en-US" sz="1600" dirty="0">
                <a:solidFill>
                  <a:schemeClr val="tx1"/>
                </a:solidFill>
              </a:rPr>
              <a:t> = le service ; en Belgique aussi </a:t>
            </a:r>
            <a:r>
              <a:rPr lang="en-US" sz="1600" i="1" dirty="0">
                <a:solidFill>
                  <a:schemeClr val="tx1"/>
                </a:solidFill>
              </a:rPr>
              <a:t>de dienst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de klantendienst</a:t>
            </a:r>
            <a:r>
              <a:rPr lang="en-US" sz="1600" dirty="0">
                <a:solidFill>
                  <a:schemeClr val="tx1"/>
                </a:solidFill>
              </a:rPr>
              <a:t> (service clientèle), </a:t>
            </a:r>
            <a:r>
              <a:rPr lang="en-US" sz="1600" i="1" dirty="0">
                <a:solidFill>
                  <a:schemeClr val="tx1"/>
                </a:solidFill>
              </a:rPr>
              <a:t>het onthaal</a:t>
            </a:r>
            <a:r>
              <a:rPr lang="en-US" sz="1600" dirty="0">
                <a:solidFill>
                  <a:schemeClr val="tx1"/>
                </a:solidFill>
              </a:rPr>
              <a:t> (l’accueil)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fonctions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69164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directeur·rice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42316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directeur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directrice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62706" y="155448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434" y="169164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85666" y="169164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comptable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499866" y="242316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boekhouder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boekhoudster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176772" y="155448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916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99732" y="169164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vendeur·euse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313932" y="242316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verkoper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verkoopster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990838" y="155448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busts in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566" y="169164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813798" y="169164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collaborateur·rice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127998" y="242316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medewerker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medewerkster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548640" y="347472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person tipping ha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1188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361188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réceptionniste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685800" y="434340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onthaalmedewerker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(-ster)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3362706" y="347472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technolog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2434" y="3611880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85666" y="361188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informaticien·ne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3499866" y="434340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informaticus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(= de IT’er)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6176772" y="347472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6" descr="stud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611880"/>
            <a:ext cx="640080" cy="64008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99732" y="361188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stagiaire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6313932" y="434340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stagiair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stagiaire</a:t>
            </a:r>
            <a:endParaRPr lang="en-US" sz="1600" dirty="0"/>
          </a:p>
        </p:txBody>
      </p:sp>
      <p:sp>
        <p:nvSpPr>
          <p:cNvPr id="33" name="Shape 23"/>
          <p:cNvSpPr/>
          <p:nvPr/>
        </p:nvSpPr>
        <p:spPr>
          <a:xfrm>
            <a:off x="8990838" y="3474720"/>
            <a:ext cx="264947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4" name="Image 7" descr="bust in silhouet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0566" y="3611880"/>
            <a:ext cx="640080" cy="64008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813798" y="3611880"/>
            <a:ext cx="1735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chef·fe de service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9127998" y="4343400"/>
            <a:ext cx="2375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afdelingshoofd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endParaRPr lang="en-US" sz="1600" dirty="0"/>
          </a:p>
        </p:txBody>
      </p:sp>
      <p:sp>
        <p:nvSpPr>
          <p:cNvPr id="37" name="Shape 2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Wat doe je? — Ik ben boekhouder.</a:t>
            </a:r>
            <a:r>
              <a:rPr lang="en-US" sz="1800" dirty="0">
                <a:solidFill>
                  <a:schemeClr val="bg1"/>
                </a:solidFill>
              </a:rPr>
              <a:t> (sans </a:t>
            </a:r>
            <a:r>
              <a:rPr lang="en-US" sz="1800" i="1" dirty="0">
                <a:solidFill>
                  <a:schemeClr val="bg1"/>
                </a:solidFill>
              </a:rPr>
              <a:t>een</a:t>
            </a:r>
            <a:r>
              <a:rPr lang="en-US" sz="1800" dirty="0">
                <a:solidFill>
                  <a:schemeClr val="bg1"/>
                </a:solidFill>
              </a:rPr>
              <a:t>, M2) · féminin : </a:t>
            </a:r>
            <a:r>
              <a:rPr lang="en-US" sz="1800" i="1" dirty="0">
                <a:solidFill>
                  <a:schemeClr val="bg1"/>
                </a:solidFill>
              </a:rPr>
              <a:t>-ster, -e, -rice</a:t>
            </a:r>
            <a:r>
              <a:rPr lang="en-US" sz="1800" dirty="0">
                <a:solidFill>
                  <a:schemeClr val="bg1"/>
                </a:solidFill>
              </a:rPr>
              <a:t> (M7)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Werkgever, werknemer… les rôles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1097280" cy="1097280"/>
          </a:xfrm>
          <a:prstGeom prst="rect">
            <a:avLst/>
          </a:prstGeom>
        </p:spPr>
      </p:pic>
      <p:pic>
        <p:nvPicPr>
          <p:cNvPr id="7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83080"/>
            <a:ext cx="1097280" cy="1097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103120" y="2148840"/>
            <a:ext cx="2926080" cy="914"/>
          </a:xfrm>
          <a:prstGeom prst="line">
            <a:avLst/>
          </a:prstGeom>
          <a:noFill/>
          <a:ln w="444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9" name="Text 4"/>
          <p:cNvSpPr txBox="1"/>
          <p:nvPr/>
        </p:nvSpPr>
        <p:spPr>
          <a:xfrm>
            <a:off x="210312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geeft</a:t>
            </a:r>
            <a:r>
              <a:rPr lang="en-US" sz="1500" b="1" dirty="0">
                <a:solidFill>
                  <a:schemeClr val="accent3"/>
                </a:solidFill>
              </a:rPr>
              <a:t> werk →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 flipH="1">
            <a:off x="2103120" y="2606040"/>
            <a:ext cx="2926080" cy="914"/>
          </a:xfrm>
          <a:prstGeom prst="line">
            <a:avLst/>
          </a:prstGeom>
          <a:noFill/>
          <a:ln w="444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1" name="Text 6"/>
          <p:cNvSpPr txBox="1"/>
          <p:nvPr/>
        </p:nvSpPr>
        <p:spPr>
          <a:xfrm>
            <a:off x="210312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← </a:t>
            </a:r>
            <a:r>
              <a:rPr lang="en-US" sz="1500" b="1" i="1" dirty="0">
                <a:solidFill>
                  <a:schemeClr val="accent1"/>
                </a:solidFill>
              </a:rPr>
              <a:t>neemt</a:t>
            </a:r>
            <a:r>
              <a:rPr lang="en-US" sz="1500" b="1" dirty="0">
                <a:solidFill>
                  <a:schemeClr val="accent1"/>
                </a:solidFill>
              </a:rPr>
              <a:t> werk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30632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 werkgever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werk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i="1" dirty="0">
                <a:solidFill>
                  <a:schemeClr val="tx1"/>
                </a:solidFill>
              </a:rPr>
              <a:t>geven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l’employeur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114800" y="30632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 werknemer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werk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i="1" dirty="0">
                <a:solidFill>
                  <a:schemeClr val="tx1"/>
                </a:solidFill>
              </a:rPr>
              <a:t>nemen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l’employé·e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812280" y="1554480"/>
            <a:ext cx="4828032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949440" y="155448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klant ↔ </a:t>
            </a: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leverancier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client ↔ le fournisseur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812280" y="2359152"/>
            <a:ext cx="482803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49440" y="235915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collega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/ la collègue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812280" y="3163824"/>
            <a:ext cx="4828032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49440" y="316382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baas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patron (familier) · BE : </a:t>
            </a:r>
            <a:r>
              <a:rPr lang="en-US" sz="1500" i="1" dirty="0">
                <a:solidFill>
                  <a:schemeClr val="tx1"/>
                </a:solidFill>
              </a:rPr>
              <a:t>de chef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812280" y="3968496"/>
            <a:ext cx="482803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949440" y="396849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de</a:t>
            </a:r>
            <a:r>
              <a:rPr lang="en-US" sz="1500" i="1" dirty="0">
                <a:solidFill>
                  <a:schemeClr val="tx1"/>
                </a:solidFill>
              </a:rPr>
              <a:t> vakbond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syndicat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937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Belgique : </a:t>
            </a:r>
            <a:r>
              <a:rPr lang="en-US" sz="1600" i="1" dirty="0">
                <a:solidFill>
                  <a:schemeClr val="tx1"/>
                </a:solidFill>
              </a:rPr>
              <a:t>de </a:t>
            </a:r>
            <a:r>
              <a:rPr lang="en-US" sz="1600" b="1" i="1" dirty="0">
                <a:solidFill>
                  <a:schemeClr val="tx1"/>
                </a:solidFill>
              </a:rPr>
              <a:t>bediende</a:t>
            </a:r>
            <a:r>
              <a:rPr lang="en-US" sz="1600" dirty="0">
                <a:solidFill>
                  <a:schemeClr val="tx1"/>
                </a:solidFill>
              </a:rPr>
              <a:t> (employé·e de bureau) · </a:t>
            </a:r>
            <a:r>
              <a:rPr lang="en-US" sz="1600" i="1" dirty="0">
                <a:solidFill>
                  <a:schemeClr val="tx1"/>
                </a:solidFill>
              </a:rPr>
              <a:t>de </a:t>
            </a:r>
            <a:r>
              <a:rPr lang="en-US" sz="1600" b="1" i="1" dirty="0">
                <a:solidFill>
                  <a:schemeClr val="tx1"/>
                </a:solidFill>
              </a:rPr>
              <a:t>arbeider</a:t>
            </a:r>
            <a:r>
              <a:rPr lang="en-US" sz="1600" dirty="0">
                <a:solidFill>
                  <a:schemeClr val="tx1"/>
                </a:solidFill>
              </a:rPr>
              <a:t> (ouvrier·ère) : deux statuts différents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Moyen mnémotechnique : </a:t>
            </a:r>
            <a:r>
              <a:rPr lang="en-US" sz="1700" i="1" dirty="0">
                <a:solidFill>
                  <a:schemeClr val="bg1"/>
                </a:solidFill>
              </a:rPr>
              <a:t>geven</a:t>
            </a:r>
            <a:r>
              <a:rPr lang="en-US" sz="1700" dirty="0">
                <a:solidFill>
                  <a:schemeClr val="bg1"/>
                </a:solidFill>
              </a:rPr>
              <a:t> = donner (le travail, le salaire) · </a:t>
            </a:r>
            <a:r>
              <a:rPr lang="en-US" sz="1700" i="1" dirty="0">
                <a:solidFill>
                  <a:schemeClr val="bg1"/>
                </a:solidFill>
              </a:rPr>
              <a:t>nemen</a:t>
            </a:r>
            <a:r>
              <a:rPr lang="en-US" sz="1700" dirty="0">
                <a:solidFill>
                  <a:schemeClr val="bg1"/>
                </a:solidFill>
              </a:rPr>
              <a:t> = prendre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bâtiment : le rez-de-chaussée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930652"/>
            <a:ext cx="1097280" cy="2555748"/>
          </a:xfrm>
          <a:prstGeom prst="roundRect">
            <a:avLst>
              <a:gd name="adj" fmla="val 3333"/>
            </a:avLst>
          </a:prstGeom>
          <a:solidFill>
            <a:srgbClr val="E6EBF2"/>
          </a:solidFill>
          <a:ln w="12700">
            <a:solidFill>
              <a:srgbClr val="4A5A70"/>
            </a:solidFill>
            <a:prstDash val="dash"/>
          </a:ln>
        </p:spPr>
      </p:sp>
      <p:pic>
        <p:nvPicPr>
          <p:cNvPr id="6" name="Image 0" descr="p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5886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58993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 parking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1755648" y="1554480"/>
            <a:ext cx="6108192" cy="3931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94041" y="3048610"/>
            <a:ext cx="5069799" cy="943661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60007" y="3048610"/>
            <a:ext cx="1465966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 gang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755648" y="1554480"/>
            <a:ext cx="1038393" cy="3931920"/>
          </a:xfrm>
          <a:prstGeom prst="rect">
            <a:avLst/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42559" y="2529596"/>
            <a:ext cx="228446" cy="1981688"/>
          </a:xfrm>
          <a:prstGeom prst="roundRect">
            <a:avLst>
              <a:gd name="adj" fmla="val 16011"/>
            </a:avLst>
          </a:prstGeom>
          <a:solidFill>
            <a:schemeClr val="accent1">
              <a:alpha val="6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792224" y="1609344"/>
            <a:ext cx="965241" cy="119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het onthaal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709928" y="3190159"/>
            <a:ext cx="91440" cy="6605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94041" y="155448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07129" y="301203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busts in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288" y="16459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30617" y="1993392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vergaderzaal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260007" y="155448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73095" y="301203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254" y="16459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96583" y="1993392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het kopieerlokaal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725973" y="155448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39061" y="301203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toi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220" y="164592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762549" y="1993392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toiletten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794041" y="399227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307129" y="395569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desktop compu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288" y="5047488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830617" y="4037990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het kantoor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260007" y="399227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773095" y="395569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hot beve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254" y="5047488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296583" y="4037990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keuken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5725973" y="3992270"/>
            <a:ext cx="1465966" cy="149413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239061" y="3955694"/>
            <a:ext cx="439790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fork and knife with pla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5220" y="5047488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762549" y="4037990"/>
            <a:ext cx="1392814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refter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7191939" y="1554480"/>
            <a:ext cx="671901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237659" y="1835331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7237659" y="2116183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7237659" y="2397034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7237659" y="2677886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237659" y="2958737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237659" y="3239589"/>
            <a:ext cx="580461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7191939" y="3520440"/>
            <a:ext cx="671901" cy="1965960"/>
          </a:xfrm>
          <a:prstGeom prst="rect">
            <a:avLst/>
          </a:prstGeom>
          <a:solidFill>
            <a:srgbClr val="F1EBF8"/>
          </a:solidFill>
          <a:ln w="19050">
            <a:solidFill>
              <a:srgbClr val="17375E"/>
            </a:solidFill>
            <a:prstDash val="solid"/>
          </a:ln>
        </p:spPr>
      </p:sp>
      <p:pic>
        <p:nvPicPr>
          <p:cNvPr id="47" name="Image 7" descr="elevat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4153" y="3611880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191939" y="3136392"/>
            <a:ext cx="6719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 trap</a:t>
            </a:r>
            <a:endParaRPr lang="en-US" sz="1100" dirty="0"/>
          </a:p>
        </p:txBody>
      </p:sp>
      <p:sp>
        <p:nvSpPr>
          <p:cNvPr id="49" name="Text 38"/>
          <p:cNvSpPr txBox="1"/>
          <p:nvPr/>
        </p:nvSpPr>
        <p:spPr>
          <a:xfrm>
            <a:off x="7191939" y="5074920"/>
            <a:ext cx="671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 lift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8138160" y="1554480"/>
            <a:ext cx="3502152" cy="3931920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8275320" y="16459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Waar is de vergaderzaal?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— Op het </a:t>
            </a:r>
            <a:r>
              <a:rPr lang="en-US" sz="1500" b="1" i="1" dirty="0">
                <a:solidFill>
                  <a:schemeClr val="tx1"/>
                </a:solidFill>
              </a:rPr>
              <a:t>gelijkvloers</a:t>
            </a:r>
            <a:r>
              <a:rPr lang="en-US" sz="1500" i="1" dirty="0">
                <a:solidFill>
                  <a:schemeClr val="tx1"/>
                </a:solidFill>
              </a:rPr>
              <a:t>, de eerste deur links.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Waar is de directie?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— Op de </a:t>
            </a:r>
            <a:r>
              <a:rPr lang="en-US" sz="1500" b="1" i="1" dirty="0">
                <a:solidFill>
                  <a:schemeClr val="tx1"/>
                </a:solidFill>
              </a:rPr>
              <a:t>eerste verdieping</a:t>
            </a:r>
            <a:r>
              <a:rPr lang="en-US" sz="1500" i="1" dirty="0">
                <a:solidFill>
                  <a:schemeClr val="tx1"/>
                </a:solidFill>
              </a:rPr>
              <a:t>. Neem de trap of de lift.</a:t>
            </a:r>
            <a:endParaRPr lang="en-US" sz="1500" dirty="0"/>
          </a:p>
        </p:txBody>
      </p:sp>
      <p:sp>
        <p:nvSpPr>
          <p:cNvPr id="52" name="Text 41"/>
          <p:cNvSpPr txBox="1"/>
          <p:nvPr/>
        </p:nvSpPr>
        <p:spPr>
          <a:xfrm>
            <a:off x="8275320" y="40690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BE</a:t>
            </a:r>
            <a:r>
              <a:rPr lang="en-US" sz="1300" dirty="0">
                <a:solidFill>
                  <a:schemeClr val="accent5"/>
                </a:solidFill>
              </a:rPr>
              <a:t> </a:t>
            </a:r>
            <a:r>
              <a:rPr lang="en-US" sz="1300" i="1" dirty="0">
                <a:solidFill>
                  <a:schemeClr val="accent5"/>
                </a:solidFill>
              </a:rPr>
              <a:t>het gelijkvloers</a:t>
            </a:r>
            <a:r>
              <a:rPr lang="en-US" sz="1300" dirty="0">
                <a:solidFill>
                  <a:schemeClr val="accent5"/>
                </a:solidFill>
              </a:rPr>
              <a:t> = NL </a:t>
            </a:r>
            <a:r>
              <a:rPr lang="en-US" sz="1300" i="1" dirty="0">
                <a:solidFill>
                  <a:schemeClr val="accent5"/>
                </a:solidFill>
              </a:rPr>
              <a:t>de begane grond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BE</a:t>
            </a:r>
            <a:r>
              <a:rPr lang="en-US" sz="1300" dirty="0">
                <a:solidFill>
                  <a:schemeClr val="accent5"/>
                </a:solidFill>
              </a:rPr>
              <a:t> </a:t>
            </a:r>
            <a:r>
              <a:rPr lang="en-US" sz="1300" i="1" dirty="0">
                <a:solidFill>
                  <a:schemeClr val="accent5"/>
                </a:solidFill>
              </a:rPr>
              <a:t>de refter</a:t>
            </a:r>
            <a:r>
              <a:rPr lang="en-US" sz="1300" dirty="0">
                <a:solidFill>
                  <a:schemeClr val="accent5"/>
                </a:solidFill>
              </a:rPr>
              <a:t> = NL </a:t>
            </a:r>
            <a:r>
              <a:rPr lang="en-US" sz="1300" i="1" dirty="0">
                <a:solidFill>
                  <a:schemeClr val="accent5"/>
                </a:solidFill>
              </a:rPr>
              <a:t>de kantine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chemeClr val="accent5"/>
                </a:solidFill>
              </a:rPr>
              <a:t>het kantoor</a:t>
            </a:r>
            <a:r>
              <a:rPr lang="en-US" sz="1300" dirty="0">
                <a:solidFill>
                  <a:schemeClr val="accent5"/>
                </a:solidFill>
              </a:rPr>
              <a:t> = le bureau (BE aussi </a:t>
            </a:r>
            <a:r>
              <a:rPr lang="en-US" sz="1300" i="1" dirty="0">
                <a:solidFill>
                  <a:schemeClr val="accent5"/>
                </a:solidFill>
              </a:rPr>
              <a:t>het bureau</a:t>
            </a:r>
            <a:r>
              <a:rPr lang="en-US" sz="1300" dirty="0">
                <a:solidFill>
                  <a:schemeClr val="accent5"/>
                </a:solidFill>
              </a:rPr>
              <a:t>)</a:t>
            </a:r>
            <a:endParaRPr lang="en-US" sz="1300" dirty="0"/>
          </a:p>
        </p:txBody>
      </p:sp>
      <p:sp>
        <p:nvSpPr>
          <p:cNvPr id="53" name="Shape 42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Ce plan revient au M31 : </a:t>
            </a:r>
            <a:r>
              <a:rPr lang="en-US" sz="1700" i="1" dirty="0">
                <a:solidFill>
                  <a:schemeClr val="bg1"/>
                </a:solidFill>
              </a:rPr>
              <a:t>Hij loopt de gang </a:t>
            </a:r>
            <a:r>
              <a:rPr lang="en-US" sz="1700" b="1" i="1" dirty="0">
                <a:solidFill>
                  <a:schemeClr val="bg1"/>
                </a:solidFill>
              </a:rPr>
              <a:t>door</a:t>
            </a:r>
            <a:r>
              <a:rPr lang="en-US" sz="1700" i="1" dirty="0">
                <a:solidFill>
                  <a:schemeClr val="bg1"/>
                </a:solidFill>
              </a:rPr>
              <a:t>. · Ze loopt de trap </a:t>
            </a:r>
            <a:r>
              <a:rPr lang="en-US" sz="1700" b="1" i="1" dirty="0">
                <a:solidFill>
                  <a:schemeClr val="bg1"/>
                </a:solidFill>
              </a:rPr>
              <a:t>op</a:t>
            </a:r>
            <a:r>
              <a:rPr lang="en-US" sz="1700" i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Sur mon bureau : de of het?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6" name="Image 0" descr="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16" y="169164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laptop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420112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DF1E6"/>
          </a:solidFill>
          <a:ln w="31750">
            <a:solidFill>
              <a:srgbClr val="D9700F"/>
            </a:solidFill>
            <a:prstDash val="solid"/>
          </a:ln>
        </p:spPr>
      </p:sp>
      <p:pic>
        <p:nvPicPr>
          <p:cNvPr id="9" name="Image 1" descr="desktop compu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88" y="169164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465832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scherm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291584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DF1E6"/>
          </a:solidFill>
          <a:ln w="31750">
            <a:solidFill>
              <a:srgbClr val="D9700F"/>
            </a:solidFill>
            <a:prstDash val="solid"/>
          </a:ln>
        </p:spPr>
      </p:sp>
      <p:pic>
        <p:nvPicPr>
          <p:cNvPr id="12" name="Image 2" descr="key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60" y="1691640"/>
            <a:ext cx="822960" cy="8229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37304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toetsenbord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6163056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15" name="Image 3" descr="computer m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32" y="1691640"/>
            <a:ext cx="822960" cy="8229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muis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8034528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18" name="Image 4" descr="pri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1691640"/>
            <a:ext cx="822960" cy="8229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080248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printer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9906000" y="15544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21" name="Image 5" descr="file fol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1676" y="1691640"/>
            <a:ext cx="822960" cy="8229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951720" y="26060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map</a:t>
            </a:r>
            <a:endParaRPr lang="en-US" sz="1600" dirty="0"/>
          </a:p>
        </p:txBody>
      </p:sp>
      <p:sp>
        <p:nvSpPr>
          <p:cNvPr id="23" name="Shape 14"/>
          <p:cNvSpPr/>
          <p:nvPr/>
        </p:nvSpPr>
        <p:spPr>
          <a:xfrm>
            <a:off x="548640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DF1E6"/>
          </a:solidFill>
          <a:ln w="31750">
            <a:solidFill>
              <a:srgbClr val="D9700F"/>
            </a:solidFill>
            <a:prstDash val="solid"/>
          </a:ln>
        </p:spPr>
      </p:sp>
      <p:pic>
        <p:nvPicPr>
          <p:cNvPr id="24" name="Image 6" descr="card file bo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316" y="3520440"/>
            <a:ext cx="822960" cy="8229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94360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dossier</a:t>
            </a:r>
            <a:endParaRPr lang="en-US" sz="1600" dirty="0"/>
          </a:p>
        </p:txBody>
      </p:sp>
      <p:sp>
        <p:nvSpPr>
          <p:cNvPr id="26" name="Shape 16"/>
          <p:cNvSpPr/>
          <p:nvPr/>
        </p:nvSpPr>
        <p:spPr>
          <a:xfrm>
            <a:off x="2420112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27" name="Image 7" descr="spiral calend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5788" y="3520440"/>
            <a:ext cx="822960" cy="82296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2465832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agenda</a:t>
            </a:r>
            <a:endParaRPr lang="en-US" sz="1600" dirty="0"/>
          </a:p>
        </p:txBody>
      </p:sp>
      <p:sp>
        <p:nvSpPr>
          <p:cNvPr id="29" name="Shape 18"/>
          <p:cNvSpPr/>
          <p:nvPr/>
        </p:nvSpPr>
        <p:spPr>
          <a:xfrm>
            <a:off x="4291584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30" name="Image 8" descr="pe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7260" y="3520440"/>
            <a:ext cx="822960" cy="82296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337304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balpen</a:t>
            </a:r>
            <a:endParaRPr lang="en-US" sz="1600" dirty="0"/>
          </a:p>
        </p:txBody>
      </p:sp>
      <p:sp>
        <p:nvSpPr>
          <p:cNvPr id="32" name="Shape 20"/>
          <p:cNvSpPr/>
          <p:nvPr/>
        </p:nvSpPr>
        <p:spPr>
          <a:xfrm>
            <a:off x="6163056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33" name="Image 9" descr="mobile phon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732" y="3520440"/>
            <a:ext cx="822960" cy="82296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208776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gsm</a:t>
            </a:r>
            <a:endParaRPr lang="en-US" sz="1600" dirty="0"/>
          </a:p>
        </p:txBody>
      </p:sp>
      <p:sp>
        <p:nvSpPr>
          <p:cNvPr id="35" name="Shape 22"/>
          <p:cNvSpPr/>
          <p:nvPr/>
        </p:nvSpPr>
        <p:spPr>
          <a:xfrm>
            <a:off x="8034528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36" name="Image 10" descr="identification car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204" y="3520440"/>
            <a:ext cx="822960" cy="82296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080248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badge</a:t>
            </a:r>
            <a:endParaRPr lang="en-US" sz="1600" dirty="0"/>
          </a:p>
        </p:txBody>
      </p:sp>
      <p:sp>
        <p:nvSpPr>
          <p:cNvPr id="38" name="Shape 24"/>
          <p:cNvSpPr/>
          <p:nvPr/>
        </p:nvSpPr>
        <p:spPr>
          <a:xfrm>
            <a:off x="9906000" y="3383280"/>
            <a:ext cx="1734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</p:spPr>
      </p:sp>
      <p:pic>
        <p:nvPicPr>
          <p:cNvPr id="39" name="Image 11" descr="chai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1676" y="3520440"/>
            <a:ext cx="822960" cy="82296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9951720" y="4434840"/>
            <a:ext cx="164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stoel</a:t>
            </a:r>
            <a:endParaRPr lang="en-US" sz="1600" dirty="0"/>
          </a:p>
        </p:txBody>
      </p:sp>
      <p:sp>
        <p:nvSpPr>
          <p:cNvPr id="41" name="Shape 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2" name="Text 27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Mag ik je balpen even lenen? · De printer werkt niet!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 : </a:t>
            </a:r>
            <a:r>
              <a:rPr lang="en-US" sz="1600" i="1" dirty="0">
                <a:solidFill>
                  <a:schemeClr val="tx1"/>
                </a:solidFill>
              </a:rPr>
              <a:t>de gsm</a:t>
            </a:r>
            <a:r>
              <a:rPr lang="en-US" sz="1600" dirty="0">
                <a:solidFill>
                  <a:schemeClr val="tx1"/>
                </a:solidFill>
              </a:rPr>
              <a:t> (NL </a:t>
            </a:r>
            <a:r>
              <a:rPr lang="en-US" sz="1600" i="1" dirty="0">
                <a:solidFill>
                  <a:schemeClr val="tx1"/>
                </a:solidFill>
              </a:rPr>
              <a:t>de mobiel</a:t>
            </a:r>
            <a:r>
              <a:rPr lang="en-US" sz="1600" dirty="0">
                <a:solidFill>
                  <a:schemeClr val="tx1"/>
                </a:solidFill>
              </a:rPr>
              <a:t>), </a:t>
            </a:r>
            <a:r>
              <a:rPr lang="en-US" sz="1600" i="1" dirty="0">
                <a:solidFill>
                  <a:schemeClr val="tx1"/>
                </a:solidFill>
              </a:rPr>
              <a:t>de bic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tx1"/>
                </a:solidFill>
              </a:rPr>
              <a:t>de balpen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het bureau</a:t>
            </a:r>
            <a:r>
              <a:rPr lang="en-US" sz="1600" dirty="0">
                <a:solidFill>
                  <a:schemeClr val="tx1"/>
                </a:solidFill>
              </a:rPr>
              <a:t> = le meuble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documents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9928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factuur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facture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306824" y="155448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age with cur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709928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21224" y="155448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offerte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devis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8065008" y="155448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clip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709928"/>
            <a:ext cx="640080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979408" y="155448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bestelbon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bon de commande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548640" y="265176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age facing 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07208"/>
            <a:ext cx="640080" cy="6400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63040" y="265176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i="1" dirty="0">
                <a:solidFill>
                  <a:schemeClr val="tx1"/>
                </a:solidFill>
              </a:rPr>
              <a:t> contract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contrat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4306824" y="265176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mem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807208"/>
            <a:ext cx="640080" cy="6400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21224" y="265176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i="1" dirty="0">
                <a:solidFill>
                  <a:schemeClr val="tx1"/>
                </a:solidFill>
              </a:rPr>
              <a:t> verslag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rapport, le compte rendu</a:t>
            </a:r>
            <a:endParaRPr lang="en-US" sz="1700" dirty="0"/>
          </a:p>
        </p:txBody>
      </p:sp>
      <p:sp>
        <p:nvSpPr>
          <p:cNvPr id="20" name="Shape 12"/>
          <p:cNvSpPr/>
          <p:nvPr/>
        </p:nvSpPr>
        <p:spPr>
          <a:xfrm>
            <a:off x="8065008" y="265176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5" descr="spiral notep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2807208"/>
            <a:ext cx="640080" cy="64008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979408" y="265176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i="1" dirty="0">
                <a:solidFill>
                  <a:schemeClr val="tx1"/>
                </a:solidFill>
              </a:rPr>
              <a:t> formulier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formulaire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548640" y="374904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6" descr="euro bankno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04488"/>
            <a:ext cx="640080" cy="64008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463040" y="374904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loonfiche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fiche de paie</a:t>
            </a:r>
            <a:endParaRPr lang="en-US" sz="1700" dirty="0"/>
          </a:p>
        </p:txBody>
      </p:sp>
      <p:sp>
        <p:nvSpPr>
          <p:cNvPr id="26" name="Shape 16"/>
          <p:cNvSpPr/>
          <p:nvPr/>
        </p:nvSpPr>
        <p:spPr>
          <a:xfrm>
            <a:off x="4306824" y="374904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7" descr="bookmark tab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4" y="3904488"/>
            <a:ext cx="640080" cy="6400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221224" y="374904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i="1" dirty="0">
                <a:solidFill>
                  <a:schemeClr val="tx1"/>
                </a:solidFill>
              </a:rPr>
              <a:t> attest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l’attestation</a:t>
            </a:r>
            <a:endParaRPr lang="en-US" sz="1700" dirty="0"/>
          </a:p>
        </p:txBody>
      </p:sp>
      <p:sp>
        <p:nvSpPr>
          <p:cNvPr id="29" name="Shape 18"/>
          <p:cNvSpPr/>
          <p:nvPr/>
        </p:nvSpPr>
        <p:spPr>
          <a:xfrm>
            <a:off x="8065008" y="3749040"/>
            <a:ext cx="357530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8" descr="papercli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168" y="3904488"/>
            <a:ext cx="640080" cy="64008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979408" y="3749040"/>
            <a:ext cx="2569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bijlage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pièce jointe</a:t>
            </a:r>
            <a:endParaRPr lang="en-US" sz="1700" dirty="0"/>
          </a:p>
        </p:txBody>
      </p:sp>
      <p:sp>
        <p:nvSpPr>
          <p:cNvPr id="32" name="Shape 20"/>
          <p:cNvSpPr/>
          <p:nvPr/>
        </p:nvSpPr>
        <p:spPr>
          <a:xfrm>
            <a:off x="548640" y="493776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777240" y="4937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In de bijlage vindt u de offerte.</a:t>
            </a:r>
            <a:r>
              <a:rPr lang="en-US" sz="1600" dirty="0">
                <a:solidFill>
                  <a:schemeClr val="tx1"/>
                </a:solidFill>
              </a:rPr>
              <a:t> (M10) · </a:t>
            </a:r>
            <a:r>
              <a:rPr lang="en-US" sz="1600" i="1" dirty="0">
                <a:solidFill>
                  <a:schemeClr val="tx1"/>
                </a:solidFill>
              </a:rPr>
              <a:t>het verslag</a:t>
            </a:r>
            <a:r>
              <a:rPr lang="en-US" sz="1600" dirty="0">
                <a:solidFill>
                  <a:schemeClr val="tx1"/>
                </a:solidFill>
              </a:rPr>
              <a:t> = aussi le PV d’une réunion (NL : </a:t>
            </a:r>
            <a:r>
              <a:rPr lang="en-US" sz="1600" i="1" dirty="0">
                <a:solidFill>
                  <a:schemeClr val="tx1"/>
                </a:solidFill>
              </a:rPr>
              <a:t>de notulen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</p:txBody>
      </p:sp>
      <p:sp>
        <p:nvSpPr>
          <p:cNvPr id="34" name="Shape 22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Très belge : </a:t>
            </a:r>
            <a:r>
              <a:rPr lang="en-US" sz="1600" i="1" dirty="0">
                <a:solidFill>
                  <a:schemeClr val="bg1"/>
                </a:solidFill>
              </a:rPr>
              <a:t>de loonfiche</a:t>
            </a:r>
            <a:r>
              <a:rPr lang="en-US" sz="1600" dirty="0">
                <a:solidFill>
                  <a:schemeClr val="bg1"/>
                </a:solidFill>
              </a:rPr>
              <a:t> (NL : </a:t>
            </a:r>
            <a:r>
              <a:rPr lang="en-US" sz="1600" i="1" dirty="0">
                <a:solidFill>
                  <a:schemeClr val="bg1"/>
                </a:solidFill>
              </a:rPr>
              <a:t>de loonstrook</a:t>
            </a:r>
            <a:r>
              <a:rPr lang="en-US" sz="1600" dirty="0">
                <a:solidFill>
                  <a:schemeClr val="bg1"/>
                </a:solidFill>
              </a:rPr>
              <a:t>), </a:t>
            </a:r>
            <a:r>
              <a:rPr lang="en-US" sz="1600" i="1" dirty="0">
                <a:solidFill>
                  <a:schemeClr val="bg1"/>
                </a:solidFill>
              </a:rPr>
              <a:t>het attest</a:t>
            </a:r>
            <a:r>
              <a:rPr lang="en-US" sz="1600" dirty="0">
                <a:solidFill>
                  <a:schemeClr val="bg1"/>
                </a:solidFill>
              </a:rPr>
              <a:t> (un </a:t>
            </a:r>
            <a:r>
              <a:rPr lang="en-US" sz="1600" i="1" dirty="0">
                <a:solidFill>
                  <a:schemeClr val="bg1"/>
                </a:solidFill>
              </a:rPr>
              <a:t>ziekteattest</a:t>
            </a:r>
            <a:r>
              <a:rPr lang="en-US" sz="1600" dirty="0">
                <a:solidFill>
                  <a:schemeClr val="bg1"/>
                </a:solidFill>
              </a:rPr>
              <a:t> = un certificat médical)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verbes du travail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84048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54480"/>
            <a:ext cx="3544824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5544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Au bureau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12848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vergaderen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être en réunion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43200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bellen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téléphoner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273552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mailen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envoyer un e-mail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803904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afdrukken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imprimer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334256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kopiëren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copier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864608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plannen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planifier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322064" y="1554480"/>
            <a:ext cx="3544824" cy="384048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22064" y="1554480"/>
            <a:ext cx="3544824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07864" y="15544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Avec les clients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50664" y="2212848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bestellen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commander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550664" y="2743200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leveren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livrer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50664" y="3273552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factureren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facturer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550664" y="3803904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betalen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payer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550664" y="4334256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onderhandelen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négocier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095488" y="1554480"/>
            <a:ext cx="3544824" cy="384048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95488" y="1554480"/>
            <a:ext cx="3544824" cy="548640"/>
          </a:xfrm>
          <a:prstGeom prst="roundRect">
            <a:avLst>
              <a:gd name="adj" fmla="val 16667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16459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781288" y="15544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personnel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8324088" y="2212848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solliciteren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postuler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324088" y="2743200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aanwerven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embaucher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324088" y="3273552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opleiden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former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324088" y="3803904"/>
            <a:ext cx="3179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ontslaan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licencier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Karim is aan het vergaderen.</a:t>
            </a:r>
            <a:r>
              <a:rPr lang="en-US" sz="1800" dirty="0">
                <a:solidFill>
                  <a:schemeClr val="bg1"/>
                </a:solidFill>
              </a:rPr>
              <a:t> · </a:t>
            </a:r>
            <a:r>
              <a:rPr lang="en-US" sz="1800" i="1" dirty="0">
                <a:solidFill>
                  <a:schemeClr val="bg1"/>
                </a:solidFill>
              </a:rPr>
              <a:t>Hij is in vergadering.</a:t>
            </a:r>
            <a:r>
              <a:rPr lang="en-US" sz="1800" dirty="0">
                <a:solidFill>
                  <a:schemeClr val="bg1"/>
                </a:solidFill>
              </a:rPr>
              <a:t> · </a:t>
            </a:r>
            <a:r>
              <a:rPr lang="en-US" sz="1800" i="1" dirty="0">
                <a:solidFill>
                  <a:schemeClr val="bg1"/>
                </a:solidFill>
              </a:rPr>
              <a:t>Ik druk het verslag </a:t>
            </a:r>
            <a:r>
              <a:rPr lang="en-US" sz="1800" b="1" i="1" dirty="0">
                <a:solidFill>
                  <a:schemeClr val="bg1"/>
                </a:solidFill>
              </a:rPr>
              <a:t>af</a:t>
            </a:r>
            <a:r>
              <a:rPr lang="en-US" sz="1800" i="1" dirty="0">
                <a:solidFill>
                  <a:schemeClr val="bg1"/>
                </a:solidFill>
              </a:rPr>
              <a:t>.</a:t>
            </a:r>
            <a:r>
              <a:rPr lang="en-US" sz="1800" dirty="0">
                <a:solidFill>
                  <a:schemeClr val="bg1"/>
                </a:solidFill>
              </a:rPr>
              <a:t> (M11)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prendre, faire, poser…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08676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554480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prendre une décision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beslissing </a:t>
            </a:r>
            <a:r>
              <a:rPr lang="en-US" sz="1600" b="1" i="1" dirty="0">
                <a:solidFill>
                  <a:schemeClr val="accent6"/>
                </a:solidFill>
              </a:rPr>
              <a:t>nemen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40864"/>
            <a:ext cx="5408676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340864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prendre une pause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pauze </a:t>
            </a:r>
            <a:r>
              <a:rPr lang="en-US" sz="1600" b="1" i="1" dirty="0">
                <a:solidFill>
                  <a:schemeClr val="accent6"/>
                </a:solidFill>
              </a:rPr>
              <a:t>nemen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5408676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3127248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prendre congé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verlof </a:t>
            </a:r>
            <a:r>
              <a:rPr lang="en-US" sz="1600" b="1" i="1" dirty="0">
                <a:solidFill>
                  <a:schemeClr val="accent6"/>
                </a:solidFill>
              </a:rPr>
              <a:t>nemen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13632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913632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913632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faire une réunion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vergadering </a:t>
            </a:r>
            <a:r>
              <a:rPr lang="en-US" sz="1600" b="1" i="1" dirty="0">
                <a:solidFill>
                  <a:schemeClr val="accent6"/>
                </a:solidFill>
              </a:rPr>
              <a:t>houden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700016"/>
            <a:ext cx="5408676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4700016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faire une erreur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fout </a:t>
            </a:r>
            <a:r>
              <a:rPr lang="en-US" sz="1600" b="1" i="1" dirty="0">
                <a:solidFill>
                  <a:schemeClr val="accent6"/>
                </a:solidFill>
              </a:rPr>
              <a:t>maken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31636" y="1554480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55448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43116" y="1554480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poser une question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vraag </a:t>
            </a:r>
            <a:r>
              <a:rPr lang="en-US" sz="1600" b="1" i="1" dirty="0">
                <a:solidFill>
                  <a:schemeClr val="accent6"/>
                </a:solidFill>
              </a:rPr>
              <a:t>stellen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1636" y="2340864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23076" y="2340864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643116" y="2340864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faire une présentation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presentatie </a:t>
            </a:r>
            <a:r>
              <a:rPr lang="en-US" sz="1600" b="1" i="1" dirty="0">
                <a:solidFill>
                  <a:schemeClr val="accent6"/>
                </a:solidFill>
              </a:rPr>
              <a:t>geven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31636" y="3127248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23076" y="3127248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643116" y="3127248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suivre une formation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opleiding </a:t>
            </a:r>
            <a:r>
              <a:rPr lang="en-US" sz="1600" b="1" i="1" dirty="0">
                <a:solidFill>
                  <a:schemeClr val="accent6"/>
                </a:solidFill>
              </a:rPr>
              <a:t>volgen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31636" y="3913632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3076" y="3913632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43116" y="3913632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remplir un formulaire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een formulier </a:t>
            </a:r>
            <a:r>
              <a:rPr lang="en-US" sz="1600" b="1" i="1" dirty="0">
                <a:solidFill>
                  <a:schemeClr val="accent6"/>
                </a:solidFill>
              </a:rPr>
              <a:t>invullen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31636" y="4700016"/>
            <a:ext cx="5408676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23076" y="4700016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⚠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643116" y="4700016"/>
            <a:ext cx="49057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prendre contact 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</a:t>
            </a:r>
            <a:r>
              <a:rPr lang="en-US" sz="1600" i="1" dirty="0">
                <a:solidFill>
                  <a:schemeClr val="tx1"/>
                </a:solidFill>
              </a:rPr>
              <a:t>contact </a:t>
            </a:r>
            <a:r>
              <a:rPr lang="en-US" sz="1600" b="1" i="1" dirty="0">
                <a:solidFill>
                  <a:schemeClr val="accent6"/>
                </a:solidFill>
              </a:rPr>
              <a:t>opnemen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On apprend une </a:t>
            </a:r>
            <a:r>
              <a:rPr lang="en-US" sz="1700" b="1" dirty="0">
                <a:solidFill>
                  <a:schemeClr val="bg1"/>
                </a:solidFill>
              </a:rPr>
              <a:t>expression complète</a:t>
            </a:r>
            <a:r>
              <a:rPr lang="en-US" sz="1700" dirty="0">
                <a:solidFill>
                  <a:schemeClr val="bg1"/>
                </a:solidFill>
              </a:rPr>
              <a:t> : </a:t>
            </a:r>
            <a:r>
              <a:rPr lang="en-US" sz="1700" i="1" dirty="0">
                <a:solidFill>
                  <a:schemeClr val="bg1"/>
                </a:solidFill>
              </a:rPr>
              <a:t>een vraag stellen</a:t>
            </a:r>
            <a:r>
              <a:rPr lang="en-US" sz="1700" dirty="0">
                <a:solidFill>
                  <a:schemeClr val="bg1"/>
                </a:solidFill>
              </a:rPr>
              <a:t>, pas « poser = </a:t>
            </a:r>
            <a:r>
              <a:rPr lang="en-US" sz="1700" i="1" dirty="0">
                <a:solidFill>
                  <a:schemeClr val="bg1"/>
                </a:solidFill>
              </a:rPr>
              <a:t>stellen</a:t>
            </a:r>
            <a:r>
              <a:rPr lang="en-US" sz="1700" dirty="0">
                <a:solidFill>
                  <a:schemeClr val="bg1"/>
                </a:solidFill>
              </a:rPr>
              <a:t> » · aussi : </a:t>
            </a:r>
            <a:r>
              <a:rPr lang="en-US" sz="1700" i="1" dirty="0">
                <a:solidFill>
                  <a:schemeClr val="bg1"/>
                </a:solidFill>
              </a:rPr>
              <a:t>een vergadering </a:t>
            </a:r>
            <a:r>
              <a:rPr lang="en-US" sz="1700" b="1" i="1" dirty="0">
                <a:solidFill>
                  <a:schemeClr val="bg1"/>
                </a:solidFill>
              </a:rPr>
              <a:t>hebben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contrat et les conditions de travail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31536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22225">
            <a:solidFill>
              <a:srgbClr val="2A6FB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FileContr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8233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9164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Contrat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86000"/>
            <a:ext cx="5020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een contract van </a:t>
            </a:r>
            <a:r>
              <a:rPr lang="en-US" sz="1500" b="1" i="1" dirty="0">
                <a:solidFill>
                  <a:schemeClr val="tx1"/>
                </a:solidFill>
              </a:rPr>
              <a:t>onbepaalde</a:t>
            </a:r>
            <a:r>
              <a:rPr lang="en-US" sz="1500" i="1" dirty="0">
                <a:solidFill>
                  <a:schemeClr val="tx1"/>
                </a:solidFill>
              </a:rPr>
              <a:t> duur</a:t>
            </a:r>
            <a:r>
              <a:rPr lang="en-US" sz="1500" dirty="0">
                <a:solidFill>
                  <a:schemeClr val="tx1"/>
                </a:solidFill>
              </a:rPr>
              <a:t> (CDI)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van </a:t>
            </a:r>
            <a:r>
              <a:rPr lang="en-US" sz="1500" b="1" i="1" dirty="0">
                <a:solidFill>
                  <a:schemeClr val="tx1"/>
                </a:solidFill>
              </a:rPr>
              <a:t>bepaalde</a:t>
            </a:r>
            <a:r>
              <a:rPr lang="en-US" sz="1500" i="1" dirty="0">
                <a:solidFill>
                  <a:schemeClr val="tx1"/>
                </a:solidFill>
              </a:rPr>
              <a:t> duur</a:t>
            </a:r>
            <a:r>
              <a:rPr lang="en-US" sz="1500" dirty="0">
                <a:solidFill>
                  <a:schemeClr val="tx1"/>
                </a:solidFill>
              </a:rPr>
              <a:t> (CDD)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de opzegtermijn</a:t>
            </a:r>
            <a:r>
              <a:rPr lang="en-US" sz="1500" dirty="0">
                <a:solidFill>
                  <a:schemeClr val="tx1"/>
                </a:solidFill>
              </a:rPr>
              <a:t> (le préavis)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08776" y="1554480"/>
            <a:ext cx="5431536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22225">
            <a:solidFill>
              <a:srgbClr val="2E7D4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45936" y="1691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610" y="18233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31736" y="169164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Temps de travail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83096" y="2286000"/>
            <a:ext cx="5020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voltijds</a:t>
            </a:r>
            <a:r>
              <a:rPr lang="en-US" sz="1500" dirty="0">
                <a:solidFill>
                  <a:schemeClr val="tx1"/>
                </a:solidFill>
              </a:rPr>
              <a:t> (temps plein) · </a:t>
            </a:r>
            <a:r>
              <a:rPr lang="en-US" sz="1500" i="1" dirty="0">
                <a:solidFill>
                  <a:schemeClr val="tx1"/>
                </a:solidFill>
              </a:rPr>
              <a:t>deeltijds</a:t>
            </a:r>
            <a:r>
              <a:rPr lang="en-US" sz="1500" dirty="0">
                <a:solidFill>
                  <a:schemeClr val="tx1"/>
                </a:solidFill>
              </a:rPr>
              <a:t> (temps partiel)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glijdende uren</a:t>
            </a:r>
            <a:r>
              <a:rPr lang="en-US" sz="1500" dirty="0">
                <a:solidFill>
                  <a:schemeClr val="tx1"/>
                </a:solidFill>
              </a:rPr>
              <a:t> (horaire flexible)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thuiswerken</a:t>
            </a:r>
            <a:r>
              <a:rPr lang="en-US" sz="1500" dirty="0">
                <a:solidFill>
                  <a:schemeClr val="tx1"/>
                </a:solidFill>
              </a:rPr>
              <a:t> = </a:t>
            </a:r>
            <a:r>
              <a:rPr lang="en-US" sz="1500" i="1" dirty="0">
                <a:solidFill>
                  <a:schemeClr val="tx1"/>
                </a:solidFill>
              </a:rPr>
              <a:t>telewerken</a:t>
            </a:r>
            <a:r>
              <a:rPr lang="en-US" sz="1500" dirty="0">
                <a:solidFill>
                  <a:schemeClr val="tx1"/>
                </a:solidFill>
              </a:rPr>
              <a:t> (BE)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474720"/>
            <a:ext cx="5431536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Euro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374355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61188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Salaire et avantages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206240"/>
            <a:ext cx="5020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het brutoloon / het nettoloon</a:t>
            </a:r>
            <a:r>
              <a:rPr lang="en-US" sz="1500" dirty="0">
                <a:solidFill>
                  <a:schemeClr val="tx1"/>
                </a:solidFill>
              </a:rPr>
              <a:t> (M26)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de maaltijdcheques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de bedrijfswagen</a:t>
            </a:r>
            <a:r>
              <a:rPr lang="en-US" sz="1500" dirty="0">
                <a:solidFill>
                  <a:schemeClr val="tx1"/>
                </a:solidFill>
              </a:rPr>
              <a:t> (voiture de société)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08776" y="3474720"/>
            <a:ext cx="5431536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22225">
            <a:solidFill>
              <a:srgbClr val="6E4A9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45936" y="3611880"/>
            <a:ext cx="548640" cy="54864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UmbrellaBea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610" y="37435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31736" y="361188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Congés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83096" y="4206240"/>
            <a:ext cx="5020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het verlof</a:t>
            </a:r>
            <a:r>
              <a:rPr lang="en-US" sz="1500" dirty="0">
                <a:solidFill>
                  <a:schemeClr val="tx1"/>
                </a:solidFill>
              </a:rPr>
              <a:t> · </a:t>
            </a:r>
            <a:r>
              <a:rPr lang="en-US" sz="1500" i="1" dirty="0">
                <a:solidFill>
                  <a:schemeClr val="tx1"/>
                </a:solidFill>
              </a:rPr>
              <a:t>de vakantiedagen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ziek zijn</a:t>
            </a:r>
            <a:r>
              <a:rPr lang="en-US" sz="1500" dirty="0">
                <a:solidFill>
                  <a:schemeClr val="tx1"/>
                </a:solidFill>
              </a:rPr>
              <a:t> · </a:t>
            </a:r>
            <a:r>
              <a:rPr lang="en-US" sz="1500" i="1" dirty="0">
                <a:solidFill>
                  <a:schemeClr val="tx1"/>
                </a:solidFill>
              </a:rPr>
              <a:t>een ziekteattest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Ik neem morgen verlof.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Ik werk deeltijds, vier dagen per week. · Ik werk twee dagen per week thuis.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les faux amis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solliciter » (demander)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2103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solliciteren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75120" y="24048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040880" y="2139696"/>
            <a:ext cx="44348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21396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b="1" i="1" dirty="0">
                <a:solidFill>
                  <a:schemeClr val="tx1"/>
                </a:solidFill>
              </a:rPr>
              <a:t>vragen</a:t>
            </a:r>
            <a:r>
              <a:rPr lang="en-US" sz="1700" i="1" dirty="0">
                <a:solidFill>
                  <a:schemeClr val="tx1"/>
                </a:solidFill>
              </a:rPr>
              <a:t> · </a:t>
            </a:r>
            <a:r>
              <a:rPr lang="en-US" sz="1700" dirty="0">
                <a:solidFill>
                  <a:schemeClr val="tx1"/>
                </a:solidFill>
              </a:rPr>
              <a:t>solliciteren</a:t>
            </a:r>
            <a:r>
              <a:rPr lang="en-US" sz="1700" i="1" dirty="0">
                <a:solidFill>
                  <a:schemeClr val="tx1"/>
                </a:solidFill>
              </a:rPr>
              <a:t> = </a:t>
            </a:r>
            <a:r>
              <a:rPr lang="en-US" sz="1700" b="1" i="1" dirty="0">
                <a:solidFill>
                  <a:schemeClr val="tx1"/>
                </a:solidFill>
              </a:rPr>
              <a:t>postuler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889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la formation »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7889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de formatie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75120" y="30906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040880" y="2825496"/>
            <a:ext cx="44348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28254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de </a:t>
            </a:r>
            <a:r>
              <a:rPr lang="en-US" sz="1700" b="1" i="1" dirty="0">
                <a:solidFill>
                  <a:schemeClr val="tx1"/>
                </a:solidFill>
              </a:rPr>
              <a:t>opleiding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4747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le patron »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3474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het patroon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75120" y="37764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040880" y="3511296"/>
            <a:ext cx="44348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78040" y="35112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de </a:t>
            </a:r>
            <a:r>
              <a:rPr lang="en-US" sz="1700" b="1" i="1" dirty="0">
                <a:solidFill>
                  <a:schemeClr val="tx1"/>
                </a:solidFill>
              </a:rPr>
              <a:t>baas</a:t>
            </a:r>
            <a:r>
              <a:rPr lang="en-US" sz="1700" i="1" dirty="0">
                <a:solidFill>
                  <a:schemeClr val="tx1"/>
                </a:solidFill>
              </a:rPr>
              <a:t> · BE : </a:t>
            </a:r>
            <a:r>
              <a:rPr lang="en-US" sz="1700" b="1" i="1" dirty="0">
                <a:solidFill>
                  <a:schemeClr val="tx1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patroon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1605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la société » (l’entreprise)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41605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de samenleving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44622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040880" y="4197096"/>
            <a:ext cx="44348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78040" y="41970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het </a:t>
            </a:r>
            <a:r>
              <a:rPr lang="en-US" sz="1700" b="1" i="1" dirty="0">
                <a:solidFill>
                  <a:schemeClr val="tx1"/>
                </a:solidFill>
              </a:rPr>
              <a:t>bedrijf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8463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l’ordre du jour »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675120" y="514807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040880" y="4882896"/>
            <a:ext cx="443484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78040" y="488289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de </a:t>
            </a:r>
            <a:r>
              <a:rPr lang="en-US" sz="1700" b="1" i="1" dirty="0">
                <a:solidFill>
                  <a:schemeClr val="tx1"/>
                </a:solidFill>
              </a:rPr>
              <a:t>agenda</a:t>
            </a:r>
            <a:r>
              <a:rPr lang="en-US" sz="1700" i="1" dirty="0">
                <a:solidFill>
                  <a:schemeClr val="tx1"/>
                </a:solidFill>
              </a:rPr>
              <a:t> (comme « l’agenda »)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de formatie</a:t>
            </a:r>
            <a:r>
              <a:rPr lang="en-US" sz="1500" dirty="0">
                <a:solidFill>
                  <a:schemeClr val="bg1"/>
                </a:solidFill>
              </a:rPr>
              <a:t> = la composition · </a:t>
            </a:r>
            <a:r>
              <a:rPr lang="en-US" sz="1500" b="1" i="1" dirty="0">
                <a:solidFill>
                  <a:schemeClr val="bg1"/>
                </a:solidFill>
              </a:rPr>
              <a:t>het</a:t>
            </a:r>
            <a:r>
              <a:rPr lang="en-US" sz="1500" i="1" dirty="0">
                <a:solidFill>
                  <a:schemeClr val="bg1"/>
                </a:solidFill>
              </a:rPr>
              <a:t> patroon</a:t>
            </a:r>
            <a:r>
              <a:rPr lang="en-US" sz="1500" dirty="0">
                <a:solidFill>
                  <a:schemeClr val="bg1"/>
                </a:solidFill>
              </a:rPr>
              <a:t> = le modèle, mais BE : </a:t>
            </a:r>
            <a:r>
              <a:rPr lang="en-US" sz="1500" b="1" i="1" dirty="0">
                <a:solidFill>
                  <a:schemeClr val="bg1"/>
                </a:solidFill>
              </a:rPr>
              <a:t>de</a:t>
            </a:r>
            <a:r>
              <a:rPr lang="en-US" sz="1500" i="1" dirty="0">
                <a:solidFill>
                  <a:schemeClr val="bg1"/>
                </a:solidFill>
              </a:rPr>
              <a:t> patroon</a:t>
            </a:r>
            <a:r>
              <a:rPr lang="en-US" sz="1500" dirty="0">
                <a:solidFill>
                  <a:schemeClr val="bg1"/>
                </a:solidFill>
              </a:rPr>
              <a:t> = le patron · </a:t>
            </a:r>
            <a:r>
              <a:rPr lang="en-US" sz="1500" i="1" dirty="0">
                <a:solidFill>
                  <a:schemeClr val="bg1"/>
                </a:solidFill>
              </a:rPr>
              <a:t>de samenleving</a:t>
            </a:r>
            <a:r>
              <a:rPr lang="en-US" sz="1500" dirty="0">
                <a:solidFill>
                  <a:schemeClr val="bg1"/>
                </a:solidFill>
              </a:rPr>
              <a:t> = la société (les gens)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Belgique ou Pays-Bas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85800" y="1572768"/>
            <a:ext cx="167640" cy="33192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3440" y="1572768"/>
            <a:ext cx="167640" cy="331927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1080" y="1572768"/>
            <a:ext cx="167640" cy="33192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572768"/>
            <a:ext cx="502920" cy="33192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Belgique</a:t>
            </a:r>
            <a:r>
              <a:rPr lang="en-US" sz="1600" dirty="0">
                <a:solidFill>
                  <a:schemeClr val="tx2"/>
                </a:solidFill>
              </a:rPr>
              <a:t> — à Bruxelles et en Flandre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5080" y="1572768"/>
            <a:ext cx="502920" cy="110642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683410"/>
            <a:ext cx="502920" cy="11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794053"/>
            <a:ext cx="502920" cy="110642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72768"/>
            <a:ext cx="502920" cy="33192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Pays-Bas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2103120"/>
            <a:ext cx="11091672" cy="393192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10312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onthaal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1031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receptie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210312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l’accueil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2532888"/>
            <a:ext cx="1109167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532888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refter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53288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kantine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2532888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cafétéria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962656"/>
            <a:ext cx="11091672" cy="393192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2962656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gelijkvloers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29626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begane grond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296265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rez-de-chaussée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3392424"/>
            <a:ext cx="1109167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392424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gsm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46520" y="33924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mobiel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3392424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portable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3822192"/>
            <a:ext cx="11091672" cy="393192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382219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loonfiche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46520" y="382219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loonstrook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382219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fiche de paie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4251960"/>
            <a:ext cx="1109167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4251960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aanwerven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425196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aannemen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9235440" y="425196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embaucher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4681728"/>
            <a:ext cx="11091672" cy="393192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4681728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kmo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6446520" y="468172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mkb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235440" y="4681728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PME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48640" y="5111496"/>
            <a:ext cx="11091672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" y="5111496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het</a:t>
            </a:r>
            <a:r>
              <a:rPr lang="en-US" sz="1600" i="1" dirty="0">
                <a:solidFill>
                  <a:schemeClr val="tx1"/>
                </a:solidFill>
              </a:rPr>
              <a:t> verlof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6446520" y="511149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</a:t>
            </a:r>
            <a:r>
              <a:rPr lang="en-US" sz="1600" i="1" dirty="0">
                <a:solidFill>
                  <a:schemeClr val="tx1"/>
                </a:solidFill>
              </a:rPr>
              <a:t> vakantie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9235440" y="511149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les congés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Les deux sont compris partout. On apprend d’abord le mot belge, on reconnaît le mot néerlandais.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l’entreprise en un coup d’œil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194560" y="1554480"/>
            <a:ext cx="2194560" cy="373075"/>
          </a:xfrm>
          <a:prstGeom prst="roundRect">
            <a:avLst>
              <a:gd name="adj" fmla="val 2451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194560" y="1554480"/>
            <a:ext cx="21945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 directie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91840" y="192755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5360" y="2064715"/>
            <a:ext cx="463296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5360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boekhouding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901952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75232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84376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personeelsdienst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828544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01824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10968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verkoop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755136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28416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37560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aankoop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681728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55008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64152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marketing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608320" y="2064715"/>
            <a:ext cx="914" cy="1371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81600" y="2201875"/>
            <a:ext cx="853440" cy="90708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90744" y="2201875"/>
            <a:ext cx="835152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IT-dienst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309360" y="2354580"/>
            <a:ext cx="799643" cy="1485900"/>
          </a:xfrm>
          <a:prstGeom prst="roundRect">
            <a:avLst>
              <a:gd name="adj" fmla="val 4574"/>
            </a:avLst>
          </a:prstGeom>
          <a:solidFill>
            <a:srgbClr val="E6EBF2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309360" y="2898648"/>
            <a:ext cx="7996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chemeClr val="accent5"/>
                </a:solidFill>
              </a:rPr>
              <a:t>parking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218731" y="1554480"/>
            <a:ext cx="4421581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70400" y="2423160"/>
            <a:ext cx="3669912" cy="548640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31579" y="2423160"/>
            <a:ext cx="1061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chemeClr val="accent5"/>
                </a:solidFill>
              </a:rPr>
              <a:t>gang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7218731" y="1554480"/>
            <a:ext cx="751669" cy="2286000"/>
          </a:xfrm>
          <a:prstGeom prst="rect">
            <a:avLst/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54031" y="2121408"/>
            <a:ext cx="165367" cy="1152144"/>
          </a:xfrm>
          <a:prstGeom prst="roundRect">
            <a:avLst>
              <a:gd name="adj" fmla="val 22118"/>
            </a:avLst>
          </a:prstGeom>
          <a:solidFill>
            <a:schemeClr val="accent1">
              <a:alpha val="6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255307" y="1609344"/>
            <a:ext cx="67851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onthaal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173011" y="2505456"/>
            <a:ext cx="9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70400" y="155448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41812" y="238658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06976" y="158191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vergaderzaal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031579" y="155448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402992" y="238658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68155" y="158191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kopieerlokaal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0092759" y="155448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464171" y="238658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129335" y="158191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toiletten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970400" y="297180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341812" y="293522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006976" y="299923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kantoor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031579" y="297180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402992" y="293522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068155" y="299923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keuken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092759" y="2971800"/>
            <a:ext cx="1061179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464171" y="2935224"/>
            <a:ext cx="318354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129335" y="2999232"/>
            <a:ext cx="988027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refter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1153938" y="1554480"/>
            <a:ext cx="486374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99658" y="1717766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199658" y="1881051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1199658" y="2044337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1199658" y="2207623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199658" y="2370909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1199658" y="2534194"/>
            <a:ext cx="394934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1153938" y="2697480"/>
            <a:ext cx="486374" cy="1143000"/>
          </a:xfrm>
          <a:prstGeom prst="rect">
            <a:avLst/>
          </a:prstGeom>
          <a:solidFill>
            <a:srgbClr val="F1EBF8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1153938" y="2313432"/>
            <a:ext cx="486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trap</a:t>
            </a:r>
            <a:endParaRPr lang="en-US" sz="700" dirty="0"/>
          </a:p>
        </p:txBody>
      </p:sp>
      <p:sp>
        <p:nvSpPr>
          <p:cNvPr id="63" name="Text 60"/>
          <p:cNvSpPr txBox="1"/>
          <p:nvPr/>
        </p:nvSpPr>
        <p:spPr>
          <a:xfrm>
            <a:off x="11153938" y="3429000"/>
            <a:ext cx="486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tx2"/>
                </a:solidFill>
              </a:rPr>
              <a:t>lift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548640" y="40233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31520" y="4023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Composés</a:t>
            </a:r>
            <a:endParaRPr lang="en-US" sz="1700" dirty="0"/>
          </a:p>
        </p:txBody>
      </p:sp>
      <p:sp>
        <p:nvSpPr>
          <p:cNvPr id="66" name="Text 63"/>
          <p:cNvSpPr txBox="1"/>
          <p:nvPr/>
        </p:nvSpPr>
        <p:spPr>
          <a:xfrm>
            <a:off x="2560320" y="402336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dernier mot donne l’article : </a:t>
            </a: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personeels</a:t>
            </a:r>
            <a:r>
              <a:rPr lang="en-US" sz="1700" b="1" i="1" dirty="0">
                <a:solidFill>
                  <a:schemeClr val="tx1"/>
                </a:solidFill>
              </a:rPr>
              <a:t>dienst</a:t>
            </a:r>
            <a:r>
              <a:rPr lang="en-US" sz="1700" i="1" dirty="0">
                <a:solidFill>
                  <a:schemeClr val="tx1"/>
                </a:solidFill>
              </a:rPr>
              <a:t> · </a:t>
            </a: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i="1" dirty="0">
                <a:solidFill>
                  <a:schemeClr val="tx1"/>
                </a:solidFill>
              </a:rPr>
              <a:t> kopieer</a:t>
            </a:r>
            <a:r>
              <a:rPr lang="en-US" sz="1700" b="1" i="1" dirty="0">
                <a:solidFill>
                  <a:schemeClr val="tx1"/>
                </a:solidFill>
              </a:rPr>
              <a:t>lokaal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548640" y="46817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31520" y="46817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Expressions</a:t>
            </a:r>
            <a:endParaRPr lang="en-US" sz="1700" dirty="0"/>
          </a:p>
        </p:txBody>
      </p:sp>
      <p:sp>
        <p:nvSpPr>
          <p:cNvPr id="69" name="Text 66"/>
          <p:cNvSpPr txBox="1"/>
          <p:nvPr/>
        </p:nvSpPr>
        <p:spPr>
          <a:xfrm>
            <a:off x="2560320" y="4681728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een vergadering </a:t>
            </a:r>
            <a:r>
              <a:rPr lang="en-US" sz="1700" b="1" i="1" dirty="0">
                <a:solidFill>
                  <a:schemeClr val="tx1"/>
                </a:solidFill>
              </a:rPr>
              <a:t>houden</a:t>
            </a:r>
            <a:r>
              <a:rPr lang="en-US" sz="1700" i="1" dirty="0">
                <a:solidFill>
                  <a:schemeClr val="tx1"/>
                </a:solidFill>
              </a:rPr>
              <a:t> · een vraag </a:t>
            </a:r>
            <a:r>
              <a:rPr lang="en-US" sz="1700" b="1" i="1" dirty="0">
                <a:solidFill>
                  <a:schemeClr val="tx1"/>
                </a:solidFill>
              </a:rPr>
              <a:t>stellen</a:t>
            </a:r>
            <a:r>
              <a:rPr lang="en-US" sz="1700" i="1" dirty="0">
                <a:solidFill>
                  <a:schemeClr val="tx1"/>
                </a:solidFill>
              </a:rPr>
              <a:t> · een beslissing </a:t>
            </a:r>
            <a:r>
              <a:rPr lang="en-US" sz="1700" b="1" i="1" dirty="0">
                <a:solidFill>
                  <a:schemeClr val="tx1"/>
                </a:solidFill>
              </a:rPr>
              <a:t>nemen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548640" y="5340096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31520" y="5340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Rôles</a:t>
            </a:r>
            <a:endParaRPr lang="en-US" sz="1700" dirty="0"/>
          </a:p>
        </p:txBody>
      </p:sp>
      <p:sp>
        <p:nvSpPr>
          <p:cNvPr id="72" name="Text 69"/>
          <p:cNvSpPr txBox="1"/>
          <p:nvPr/>
        </p:nvSpPr>
        <p:spPr>
          <a:xfrm>
            <a:off x="2560320" y="534009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werk</a:t>
            </a:r>
            <a:r>
              <a:rPr lang="en-US" sz="1700" b="1" i="1" dirty="0">
                <a:solidFill>
                  <a:schemeClr val="tx1"/>
                </a:solidFill>
              </a:rPr>
              <a:t>gever</a:t>
            </a:r>
            <a:r>
              <a:rPr lang="en-US" sz="1700" dirty="0">
                <a:solidFill>
                  <a:schemeClr val="tx1"/>
                </a:solidFill>
              </a:rPr>
              <a:t> donne le travail · </a:t>
            </a:r>
            <a:r>
              <a:rPr lang="en-US" sz="1700" i="1" dirty="0">
                <a:solidFill>
                  <a:schemeClr val="tx1"/>
                </a:solidFill>
              </a:rPr>
              <a:t>de werk</a:t>
            </a:r>
            <a:r>
              <a:rPr lang="en-US" sz="1700" b="1" i="1" dirty="0">
                <a:solidFill>
                  <a:schemeClr val="tx1"/>
                </a:solidFill>
              </a:rPr>
              <a:t>nemer</a:t>
            </a:r>
            <a:r>
              <a:rPr lang="en-US" sz="1700" dirty="0">
                <a:solidFill>
                  <a:schemeClr val="tx1"/>
                </a:solidFill>
              </a:rPr>
              <a:t> le prend</a:t>
            </a:r>
            <a:endParaRPr lang="en-US" sz="1700" dirty="0"/>
          </a:p>
        </p:txBody>
      </p:sp>
      <p:sp>
        <p:nvSpPr>
          <p:cNvPr id="73" name="Text 70"/>
          <p:cNvSpPr txBox="1"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S26 · l’organigramme</a:t>
            </a:r>
            <a:endParaRPr lang="en-US" sz="1100" dirty="0"/>
          </a:p>
        </p:txBody>
      </p:sp>
      <p:pic>
        <p:nvPicPr>
          <p:cNvPr id="74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Wie doet wat?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MapMarke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 is…?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Rand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of het?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Lin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bon verbe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B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Taboe!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Rou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visite guidée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Wie doet wat?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Associez chaque fonction à sa tâche, puis dites la phrase : </a:t>
            </a:r>
            <a:r>
              <a:rPr lang="en-US" sz="1700" i="1" dirty="0">
                <a:solidFill>
                  <a:schemeClr val="accent5"/>
                </a:solidFill>
              </a:rPr>
              <a:t>De boekhouder betaalt de facturen.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197815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</a:t>
            </a:r>
            <a:endParaRPr lang="en-US" sz="1600" dirty="0"/>
          </a:p>
        </p:txBody>
      </p:sp>
      <p:pic>
        <p:nvPicPr>
          <p:cNvPr id="10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396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7815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boekhouder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270459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8368" y="270459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</a:t>
            </a:r>
            <a:endParaRPr lang="en-US" sz="1600" dirty="0"/>
          </a:p>
        </p:txBody>
      </p:sp>
      <p:pic>
        <p:nvPicPr>
          <p:cNvPr id="14" name="Image 2" descr="person tipp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660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54480" y="270459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onthaalmedewerker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343103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" y="343103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</a:t>
            </a:r>
            <a:endParaRPr lang="en-US" sz="1600" dirty="0"/>
          </a:p>
        </p:txBody>
      </p:sp>
      <p:pic>
        <p:nvPicPr>
          <p:cNvPr id="18" name="Image 3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925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54480" y="343103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verkoper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548640" y="415747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8368" y="415747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</a:t>
            </a:r>
            <a:endParaRPr lang="en-US" sz="1600" dirty="0"/>
          </a:p>
        </p:txBody>
      </p:sp>
      <p:pic>
        <p:nvPicPr>
          <p:cNvPr id="22" name="Image 4" descr="busts in silhouet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1894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54480" y="415747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personeelsdienst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548640" y="488391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58368" y="488391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5</a:t>
            </a:r>
            <a:endParaRPr lang="en-US" sz="1600" dirty="0"/>
          </a:p>
        </p:txBody>
      </p:sp>
      <p:pic>
        <p:nvPicPr>
          <p:cNvPr id="26" name="Image 5" descr="technolog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94538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554480" y="488391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IT’er</a:t>
            </a:r>
            <a:endParaRPr lang="en-US" sz="1700" dirty="0"/>
          </a:p>
        </p:txBody>
      </p:sp>
      <p:sp>
        <p:nvSpPr>
          <p:cNvPr id="28" name="Shape 19"/>
          <p:cNvSpPr/>
          <p:nvPr/>
        </p:nvSpPr>
        <p:spPr>
          <a:xfrm>
            <a:off x="548640" y="56103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58368" y="561035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</a:t>
            </a:r>
            <a:endParaRPr lang="en-US" sz="1600" dirty="0"/>
          </a:p>
        </p:txBody>
      </p:sp>
      <p:pic>
        <p:nvPicPr>
          <p:cNvPr id="30" name="Image 6" descr="shopping c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6718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554480" y="561035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aankoper</a:t>
            </a:r>
            <a:endParaRPr lang="en-US" sz="1700" dirty="0"/>
          </a:p>
        </p:txBody>
      </p:sp>
      <p:sp>
        <p:nvSpPr>
          <p:cNvPr id="32" name="Shape 22"/>
          <p:cNvSpPr/>
          <p:nvPr/>
        </p:nvSpPr>
        <p:spPr>
          <a:xfrm>
            <a:off x="6995160" y="197815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7132320" y="19781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bestelt het materiaal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6995160" y="270459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132320" y="270459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ontvangt de bezoekers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6995160" y="343103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7132320" y="343103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installeert de laptops</a:t>
            </a:r>
            <a:endParaRPr lang="en-US" sz="1600" dirty="0"/>
          </a:p>
        </p:txBody>
      </p:sp>
      <p:sp>
        <p:nvSpPr>
          <p:cNvPr id="38" name="Shape 28"/>
          <p:cNvSpPr/>
          <p:nvPr/>
        </p:nvSpPr>
        <p:spPr>
          <a:xfrm>
            <a:off x="6995160" y="415747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7132320" y="415747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betaalt de facturen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6995160" y="488391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132320" y="488391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werft nieuwe collega’s aan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6995160" y="561035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7132320" y="56103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maakt offertes voor de klanten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Wie doet wat?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Associez chaque fonction à sa tâche, puis dites la phrase : </a:t>
            </a:r>
            <a:r>
              <a:rPr lang="en-US" sz="1700" i="1" dirty="0">
                <a:solidFill>
                  <a:schemeClr val="accent5"/>
                </a:solidFill>
              </a:rPr>
              <a:t>De boekhouder betaalt de facturen.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781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197815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</a:t>
            </a:r>
            <a:endParaRPr lang="en-US" sz="1600" dirty="0"/>
          </a:p>
        </p:txBody>
      </p:sp>
      <p:pic>
        <p:nvPicPr>
          <p:cNvPr id="11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396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197815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boekhouder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4754880" y="2295652"/>
            <a:ext cx="2194560" cy="2179320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48640" y="270459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58368" y="270459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</a:t>
            </a:r>
            <a:endParaRPr lang="en-US" sz="1600" dirty="0"/>
          </a:p>
        </p:txBody>
      </p:sp>
      <p:pic>
        <p:nvPicPr>
          <p:cNvPr id="16" name="Image 2" descr="person tipp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660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270459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onthaalmedewerker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4754880" y="3022092"/>
            <a:ext cx="2194560" cy="914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548640" y="343103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8368" y="343103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3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925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343103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verkoper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4754880" y="3748532"/>
            <a:ext cx="2194560" cy="2179320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548640" y="415747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58368" y="415747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</a:t>
            </a:r>
            <a:endParaRPr lang="en-US" sz="1600" dirty="0"/>
          </a:p>
        </p:txBody>
      </p:sp>
      <p:pic>
        <p:nvPicPr>
          <p:cNvPr id="26" name="Image 4" descr="busts in silhouet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1894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554480" y="415747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personeelsdienst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4754880" y="4474972"/>
            <a:ext cx="2194560" cy="726440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548640" y="488391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58368" y="488391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5</a:t>
            </a:r>
            <a:endParaRPr lang="en-US" sz="1600" dirty="0"/>
          </a:p>
        </p:txBody>
      </p:sp>
      <p:pic>
        <p:nvPicPr>
          <p:cNvPr id="31" name="Image 5" descr="technolog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94538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554480" y="488391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IT’er</a:t>
            </a:r>
            <a:endParaRPr lang="en-US" sz="1700" dirty="0"/>
          </a:p>
        </p:txBody>
      </p:sp>
      <p:sp>
        <p:nvSpPr>
          <p:cNvPr id="33" name="Shape 24"/>
          <p:cNvSpPr/>
          <p:nvPr/>
        </p:nvSpPr>
        <p:spPr>
          <a:xfrm flipV="1">
            <a:off x="4754880" y="3748532"/>
            <a:ext cx="2194560" cy="1452880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548640" y="5610352"/>
            <a:ext cx="42062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58368" y="5610352"/>
            <a:ext cx="320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6</a:t>
            </a:r>
            <a:endParaRPr lang="en-US" sz="1600" dirty="0"/>
          </a:p>
        </p:txBody>
      </p:sp>
      <p:pic>
        <p:nvPicPr>
          <p:cNvPr id="36" name="Image 6" descr="shopping c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671820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554480" y="5610352"/>
            <a:ext cx="31089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i="1" dirty="0">
                <a:solidFill>
                  <a:schemeClr val="tx1"/>
                </a:solidFill>
              </a:rPr>
              <a:t> aankoper</a:t>
            </a:r>
            <a:endParaRPr lang="en-US" sz="1700" dirty="0"/>
          </a:p>
        </p:txBody>
      </p:sp>
      <p:sp>
        <p:nvSpPr>
          <p:cNvPr id="38" name="Shape 28"/>
          <p:cNvSpPr/>
          <p:nvPr/>
        </p:nvSpPr>
        <p:spPr>
          <a:xfrm flipV="1">
            <a:off x="4754880" y="2295652"/>
            <a:ext cx="2194560" cy="3632200"/>
          </a:xfrm>
          <a:prstGeom prst="line">
            <a:avLst/>
          </a:prstGeom>
          <a:noFill/>
          <a:ln w="22225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6995160" y="197815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7132320" y="19781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bestelt het materiaal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6995160" y="270459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7132320" y="270459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ontvangt de bezoekers</a:t>
            </a:r>
            <a:endParaRPr lang="en-US" sz="1600" dirty="0"/>
          </a:p>
        </p:txBody>
      </p:sp>
      <p:sp>
        <p:nvSpPr>
          <p:cNvPr id="43" name="Shape 33"/>
          <p:cNvSpPr/>
          <p:nvPr/>
        </p:nvSpPr>
        <p:spPr>
          <a:xfrm>
            <a:off x="6995160" y="343103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7132320" y="343103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installeert de laptops</a:t>
            </a:r>
            <a:endParaRPr lang="en-US" sz="1600" dirty="0"/>
          </a:p>
        </p:txBody>
      </p:sp>
      <p:sp>
        <p:nvSpPr>
          <p:cNvPr id="45" name="Shape 35"/>
          <p:cNvSpPr/>
          <p:nvPr/>
        </p:nvSpPr>
        <p:spPr>
          <a:xfrm>
            <a:off x="6995160" y="415747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132320" y="415747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betaalt de facturen</a:t>
            </a:r>
            <a:endParaRPr lang="en-US" sz="1600" dirty="0"/>
          </a:p>
        </p:txBody>
      </p:sp>
      <p:sp>
        <p:nvSpPr>
          <p:cNvPr id="47" name="Shape 37"/>
          <p:cNvSpPr/>
          <p:nvPr/>
        </p:nvSpPr>
        <p:spPr>
          <a:xfrm>
            <a:off x="6995160" y="488391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7132320" y="488391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werft nieuwe collega’s aan</a:t>
            </a:r>
            <a:endParaRPr lang="en-US" sz="1600" dirty="0"/>
          </a:p>
        </p:txBody>
      </p:sp>
      <p:sp>
        <p:nvSpPr>
          <p:cNvPr id="49" name="Shape 39"/>
          <p:cNvSpPr/>
          <p:nvPr/>
        </p:nvSpPr>
        <p:spPr>
          <a:xfrm>
            <a:off x="6995160" y="5610352"/>
            <a:ext cx="4645152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7132320" y="56103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maakt offertes voor de klanten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Waar is…?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le nom de chaque pièce, avec l’article.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3478073"/>
            <a:ext cx="1042416" cy="2785567"/>
          </a:xfrm>
          <a:prstGeom prst="roundRect">
            <a:avLst>
              <a:gd name="adj" fmla="val 3509"/>
            </a:avLst>
          </a:prstGeom>
          <a:solidFill>
            <a:srgbClr val="E6EBF2"/>
          </a:solidFill>
          <a:ln w="12700">
            <a:solidFill>
              <a:srgbClr val="4A5A70"/>
            </a:solidFill>
            <a:prstDash val="dash"/>
          </a:ln>
        </p:spPr>
      </p:sp>
      <p:pic>
        <p:nvPicPr>
          <p:cNvPr id="9" name="Image 1" descr="p but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778057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162105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 parking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1700784" y="1978152"/>
            <a:ext cx="5797296" cy="4285488"/>
          </a:xfrm>
          <a:prstGeom prst="rect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686324" y="3606637"/>
            <a:ext cx="4811756" cy="1028517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077675" y="3606637"/>
            <a:ext cx="1391351" cy="1028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 gang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1700784" y="1978152"/>
            <a:ext cx="985540" cy="4285488"/>
          </a:xfrm>
          <a:prstGeom prst="rect">
            <a:avLst/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878181" y="3040953"/>
            <a:ext cx="216819" cy="2159886"/>
          </a:xfrm>
          <a:prstGeom prst="roundRect">
            <a:avLst>
              <a:gd name="adj" fmla="val 16869"/>
            </a:avLst>
          </a:prstGeom>
          <a:solidFill>
            <a:schemeClr val="accent1">
              <a:alpha val="6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038106" y="2792395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038106" y="2792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655064" y="3760915"/>
            <a:ext cx="91440" cy="7199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686324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173297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busts in silhouette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208264" y="2069592"/>
            <a:ext cx="347472" cy="3474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759476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759476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077675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4648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inter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599615" y="2069592"/>
            <a:ext cx="347472" cy="34747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150827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150827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69026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955999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toilet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90966" y="2069592"/>
            <a:ext cx="347472" cy="34747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542178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5542178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686324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173297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5" descr="desktop computer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3208264" y="5824728"/>
            <a:ext cx="347472" cy="34747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759476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2759476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077675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564648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6" descr="hot beverage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4599615" y="5824728"/>
            <a:ext cx="347472" cy="347472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4150827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150827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5469026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5955999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7" descr="fork and knife with plate">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5990966" y="5824728"/>
            <a:ext cx="347472" cy="347472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542178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5542178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9" name="Shape 38"/>
          <p:cNvSpPr/>
          <p:nvPr/>
        </p:nvSpPr>
        <p:spPr>
          <a:xfrm>
            <a:off x="6860377" y="1978152"/>
            <a:ext cx="637703" cy="2142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906097" y="2284258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906097" y="2590365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906097" y="2896471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906097" y="3202577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906097" y="3508683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906097" y="3814790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860377" y="4120896"/>
            <a:ext cx="637703" cy="2142744"/>
          </a:xfrm>
          <a:prstGeom prst="rect">
            <a:avLst/>
          </a:prstGeom>
          <a:solidFill>
            <a:srgbClr val="F1EBF8"/>
          </a:solidFill>
          <a:ln w="19050">
            <a:solidFill>
              <a:srgbClr val="17375E"/>
            </a:solidFill>
            <a:prstDash val="solid"/>
          </a:ln>
        </p:spPr>
      </p:sp>
      <p:pic>
        <p:nvPicPr>
          <p:cNvPr id="57" name="Image 8" descr="elevat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5493" y="4212336"/>
            <a:ext cx="347472" cy="347472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6860377" y="3736848"/>
            <a:ext cx="6377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 trap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7023781" y="4623816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7023781" y="4623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61" name="Shape 49"/>
          <p:cNvSpPr/>
          <p:nvPr/>
        </p:nvSpPr>
        <p:spPr>
          <a:xfrm>
            <a:off x="7726680" y="1978152"/>
            <a:ext cx="3913632" cy="4285488"/>
          </a:xfrm>
          <a:prstGeom prst="roundRect">
            <a:avLst>
              <a:gd name="adj" fmla="val 23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7909560" y="2069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7909560" y="2435352"/>
            <a:ext cx="3566160" cy="355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onthaal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vergaderzaal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kopieerlokaal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toiletten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kantoor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keuken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refter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lift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Waar is…?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le nom de chaque pièce, avec l’article.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478073"/>
            <a:ext cx="1042416" cy="2785567"/>
          </a:xfrm>
          <a:prstGeom prst="roundRect">
            <a:avLst>
              <a:gd name="adj" fmla="val 3509"/>
            </a:avLst>
          </a:prstGeom>
          <a:solidFill>
            <a:srgbClr val="E6EBF2"/>
          </a:solidFill>
          <a:ln w="12700">
            <a:solidFill>
              <a:srgbClr val="4A5A70"/>
            </a:solidFill>
            <a:prstDash val="dash"/>
          </a:ln>
        </p:spPr>
      </p:sp>
      <p:pic>
        <p:nvPicPr>
          <p:cNvPr id="10" name="Image 1" descr="p butt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778057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162105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 parking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1700784" y="1978152"/>
            <a:ext cx="5797296" cy="4285488"/>
          </a:xfrm>
          <a:prstGeom prst="rect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686324" y="3606637"/>
            <a:ext cx="4811756" cy="1028517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077675" y="3606637"/>
            <a:ext cx="1391351" cy="1028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 gang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700784" y="1978152"/>
            <a:ext cx="985540" cy="4285488"/>
          </a:xfrm>
          <a:prstGeom prst="rect">
            <a:avLst/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878181" y="3040953"/>
            <a:ext cx="216819" cy="2159886"/>
          </a:xfrm>
          <a:prstGeom prst="roundRect">
            <a:avLst>
              <a:gd name="adj" fmla="val 16869"/>
            </a:avLst>
          </a:prstGeom>
          <a:solidFill>
            <a:schemeClr val="accent1">
              <a:alpha val="6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737360" y="2033016"/>
            <a:ext cx="912388" cy="130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het onthaal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038106" y="2792395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038106" y="2792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655064" y="3760915"/>
            <a:ext cx="91440" cy="7199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86324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73297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busts in 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264" y="206959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722900" y="2417064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vergaderzaal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59476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2759476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077675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64648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3" descr="pri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615" y="2069592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114251" y="2417064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het kopieerlokaal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150827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150827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69026" y="1978152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55999" y="3570061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4" descr="toi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966" y="2069592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505602" y="2417064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toiletten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542178" y="3222589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542178" y="3222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2686324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173297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5" descr="desktop compu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8264" y="5824728"/>
            <a:ext cx="347472" cy="34747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2722900" y="4680875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het kantoor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2759476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2759476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077675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564648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615" y="5824728"/>
            <a:ext cx="347472" cy="34747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114251" y="4680875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keuken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4150827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4150827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5469026" y="4635155"/>
            <a:ext cx="1391351" cy="162848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5955999" y="4598579"/>
            <a:ext cx="417405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7" descr="fork and knife with pla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966" y="5824728"/>
            <a:ext cx="347472" cy="347472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5505602" y="4680875"/>
            <a:ext cx="1318199" cy="112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refter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>
            <a:off x="5542178" y="4708307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5542178" y="4708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7" name="Shape 46"/>
          <p:cNvSpPr/>
          <p:nvPr/>
        </p:nvSpPr>
        <p:spPr>
          <a:xfrm>
            <a:off x="6860377" y="1978152"/>
            <a:ext cx="637703" cy="2142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906097" y="2284258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6906097" y="2590365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6906097" y="2896471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6906097" y="3202577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6906097" y="3508683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906097" y="3814790"/>
            <a:ext cx="546263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6860377" y="4120896"/>
            <a:ext cx="637703" cy="2142744"/>
          </a:xfrm>
          <a:prstGeom prst="rect">
            <a:avLst/>
          </a:prstGeom>
          <a:solidFill>
            <a:srgbClr val="F1EBF8"/>
          </a:solidFill>
          <a:ln w="19050">
            <a:solidFill>
              <a:srgbClr val="17375E"/>
            </a:solidFill>
            <a:prstDash val="solid"/>
          </a:ln>
        </p:spPr>
      </p:sp>
      <p:pic>
        <p:nvPicPr>
          <p:cNvPr id="65" name="Image 8" descr="elevat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5493" y="4212336"/>
            <a:ext cx="347472" cy="347472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6860377" y="3736848"/>
            <a:ext cx="6377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 trap</a:t>
            </a:r>
            <a:endParaRPr lang="en-US" sz="1000" dirty="0"/>
          </a:p>
        </p:txBody>
      </p:sp>
      <p:sp>
        <p:nvSpPr>
          <p:cNvPr id="67" name="Text 55"/>
          <p:cNvSpPr txBox="1"/>
          <p:nvPr/>
        </p:nvSpPr>
        <p:spPr>
          <a:xfrm>
            <a:off x="6860377" y="5852160"/>
            <a:ext cx="637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 lift</a:t>
            </a:r>
            <a:endParaRPr lang="en-US" sz="1000" dirty="0"/>
          </a:p>
        </p:txBody>
      </p:sp>
      <p:sp>
        <p:nvSpPr>
          <p:cNvPr id="68" name="Shape 56"/>
          <p:cNvSpPr/>
          <p:nvPr/>
        </p:nvSpPr>
        <p:spPr>
          <a:xfrm>
            <a:off x="7023781" y="4623816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7023781" y="4623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70" name="Shape 58"/>
          <p:cNvSpPr/>
          <p:nvPr/>
        </p:nvSpPr>
        <p:spPr>
          <a:xfrm>
            <a:off x="7726680" y="1978152"/>
            <a:ext cx="3913632" cy="4285488"/>
          </a:xfrm>
          <a:prstGeom prst="roundRect">
            <a:avLst>
              <a:gd name="adj" fmla="val 23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7909560" y="217017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0"/>
          <p:cNvSpPr txBox="1"/>
          <p:nvPr/>
        </p:nvSpPr>
        <p:spPr>
          <a:xfrm>
            <a:off x="7909560" y="2170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3" name="Text 61"/>
          <p:cNvSpPr txBox="1"/>
          <p:nvPr/>
        </p:nvSpPr>
        <p:spPr>
          <a:xfrm>
            <a:off x="8366760" y="2115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b="1" i="1" dirty="0">
                <a:solidFill>
                  <a:schemeClr val="accent3"/>
                </a:solidFill>
              </a:rPr>
              <a:t> onthaal</a:t>
            </a:r>
            <a:endParaRPr lang="en-US" sz="1700" dirty="0"/>
          </a:p>
        </p:txBody>
      </p:sp>
      <p:sp>
        <p:nvSpPr>
          <p:cNvPr id="74" name="Shape 62"/>
          <p:cNvSpPr/>
          <p:nvPr/>
        </p:nvSpPr>
        <p:spPr>
          <a:xfrm>
            <a:off x="7909560" y="271881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3"/>
          <p:cNvSpPr txBox="1"/>
          <p:nvPr/>
        </p:nvSpPr>
        <p:spPr>
          <a:xfrm>
            <a:off x="7909560" y="2718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76" name="Text 64"/>
          <p:cNvSpPr txBox="1"/>
          <p:nvPr/>
        </p:nvSpPr>
        <p:spPr>
          <a:xfrm>
            <a:off x="8366760" y="2663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b="1" i="1" dirty="0">
                <a:solidFill>
                  <a:schemeClr val="accent3"/>
                </a:solidFill>
              </a:rPr>
              <a:t> vergaderzaal</a:t>
            </a:r>
            <a:endParaRPr lang="en-US" sz="1700" dirty="0"/>
          </a:p>
        </p:txBody>
      </p:sp>
      <p:sp>
        <p:nvSpPr>
          <p:cNvPr id="77" name="Shape 65"/>
          <p:cNvSpPr/>
          <p:nvPr/>
        </p:nvSpPr>
        <p:spPr>
          <a:xfrm>
            <a:off x="7909560" y="326745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6"/>
          <p:cNvSpPr txBox="1"/>
          <p:nvPr/>
        </p:nvSpPr>
        <p:spPr>
          <a:xfrm>
            <a:off x="7909560" y="3267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79" name="Text 67"/>
          <p:cNvSpPr txBox="1"/>
          <p:nvPr/>
        </p:nvSpPr>
        <p:spPr>
          <a:xfrm>
            <a:off x="8366760" y="3212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b="1" i="1" dirty="0">
                <a:solidFill>
                  <a:schemeClr val="accent3"/>
                </a:solidFill>
              </a:rPr>
              <a:t> kopieerlokaal</a:t>
            </a:r>
            <a:endParaRPr lang="en-US" sz="1700" dirty="0"/>
          </a:p>
        </p:txBody>
      </p:sp>
      <p:sp>
        <p:nvSpPr>
          <p:cNvPr id="80" name="Shape 68"/>
          <p:cNvSpPr/>
          <p:nvPr/>
        </p:nvSpPr>
        <p:spPr>
          <a:xfrm>
            <a:off x="7909560" y="381609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7909560" y="3816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82" name="Text 70"/>
          <p:cNvSpPr txBox="1"/>
          <p:nvPr/>
        </p:nvSpPr>
        <p:spPr>
          <a:xfrm>
            <a:off x="8366760" y="3761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b="1" i="1" dirty="0">
                <a:solidFill>
                  <a:schemeClr val="accent3"/>
                </a:solidFill>
              </a:rPr>
              <a:t> toiletten</a:t>
            </a:r>
            <a:endParaRPr lang="en-US" sz="1700" dirty="0"/>
          </a:p>
        </p:txBody>
      </p:sp>
      <p:sp>
        <p:nvSpPr>
          <p:cNvPr id="83" name="Shape 71"/>
          <p:cNvSpPr/>
          <p:nvPr/>
        </p:nvSpPr>
        <p:spPr>
          <a:xfrm>
            <a:off x="7909560" y="436473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7909560" y="4364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85" name="Text 73"/>
          <p:cNvSpPr txBox="1"/>
          <p:nvPr/>
        </p:nvSpPr>
        <p:spPr>
          <a:xfrm>
            <a:off x="8366760" y="4309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het</a:t>
            </a:r>
            <a:r>
              <a:rPr lang="en-US" sz="1700" b="1" i="1" dirty="0">
                <a:solidFill>
                  <a:schemeClr val="accent3"/>
                </a:solidFill>
              </a:rPr>
              <a:t> kantoor</a:t>
            </a:r>
            <a:endParaRPr lang="en-US" sz="1700" dirty="0"/>
          </a:p>
        </p:txBody>
      </p:sp>
      <p:sp>
        <p:nvSpPr>
          <p:cNvPr id="86" name="Shape 74"/>
          <p:cNvSpPr/>
          <p:nvPr/>
        </p:nvSpPr>
        <p:spPr>
          <a:xfrm>
            <a:off x="7909560" y="491337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5"/>
          <p:cNvSpPr txBox="1"/>
          <p:nvPr/>
        </p:nvSpPr>
        <p:spPr>
          <a:xfrm>
            <a:off x="7909560" y="4913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88" name="Text 76"/>
          <p:cNvSpPr txBox="1"/>
          <p:nvPr/>
        </p:nvSpPr>
        <p:spPr>
          <a:xfrm>
            <a:off x="8366760" y="4858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b="1" i="1" dirty="0">
                <a:solidFill>
                  <a:schemeClr val="accent3"/>
                </a:solidFill>
              </a:rPr>
              <a:t> keuken</a:t>
            </a:r>
            <a:endParaRPr lang="en-US" sz="1700" dirty="0"/>
          </a:p>
        </p:txBody>
      </p:sp>
      <p:sp>
        <p:nvSpPr>
          <p:cNvPr id="89" name="Shape 77"/>
          <p:cNvSpPr/>
          <p:nvPr/>
        </p:nvSpPr>
        <p:spPr>
          <a:xfrm>
            <a:off x="7909560" y="546201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8"/>
          <p:cNvSpPr txBox="1"/>
          <p:nvPr/>
        </p:nvSpPr>
        <p:spPr>
          <a:xfrm>
            <a:off x="7909560" y="5462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91" name="Text 79"/>
          <p:cNvSpPr txBox="1"/>
          <p:nvPr/>
        </p:nvSpPr>
        <p:spPr>
          <a:xfrm>
            <a:off x="8366760" y="5407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b="1" i="1" dirty="0">
                <a:solidFill>
                  <a:schemeClr val="accent3"/>
                </a:solidFill>
              </a:rPr>
              <a:t> refter</a:t>
            </a:r>
            <a:endParaRPr lang="en-US" sz="1700" dirty="0"/>
          </a:p>
        </p:txBody>
      </p:sp>
      <p:sp>
        <p:nvSpPr>
          <p:cNvPr id="92" name="Shape 80"/>
          <p:cNvSpPr/>
          <p:nvPr/>
        </p:nvSpPr>
        <p:spPr>
          <a:xfrm>
            <a:off x="7909560" y="6010656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1"/>
          <p:cNvSpPr txBox="1"/>
          <p:nvPr/>
        </p:nvSpPr>
        <p:spPr>
          <a:xfrm>
            <a:off x="7909560" y="6010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94" name="Text 82"/>
          <p:cNvSpPr txBox="1"/>
          <p:nvPr/>
        </p:nvSpPr>
        <p:spPr>
          <a:xfrm>
            <a:off x="8366760" y="5955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de</a:t>
            </a:r>
            <a:r>
              <a:rPr lang="en-US" sz="1700" b="1" i="1" dirty="0">
                <a:solidFill>
                  <a:schemeClr val="accent3"/>
                </a:solidFill>
              </a:rPr>
              <a:t> lift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de of het?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mots. Composés : le dernier mot décide (M14) · </a:t>
            </a:r>
            <a:r>
              <a:rPr lang="en-US" sz="1700" i="1" dirty="0">
                <a:solidFill>
                  <a:schemeClr val="accent5"/>
                </a:solidFill>
              </a:rPr>
              <a:t>-ing</a:t>
            </a:r>
            <a:r>
              <a:rPr lang="en-US" sz="1700" i="1" dirty="0">
                <a:solidFill>
                  <a:schemeClr val="accent5"/>
                </a:solidFill>
              </a:rPr>
              <a:t> → </a:t>
            </a:r>
            <a:r>
              <a:rPr lang="en-US" sz="1700" i="1" dirty="0">
                <a:solidFill>
                  <a:schemeClr val="accent5"/>
                </a:solidFill>
              </a:rPr>
              <a:t>de</a:t>
            </a:r>
            <a:r>
              <a:rPr lang="en-US" sz="1700" i="1" dirty="0">
                <a:solidFill>
                  <a:schemeClr val="accent5"/>
                </a:solidFill>
              </a:rPr>
              <a:t> (M5).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 rot="-120000">
            <a:off x="731520" y="193243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19324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contract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60000">
            <a:off x="3550158" y="193243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50158" y="19324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factuur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120000">
            <a:off x="6368796" y="193243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68796" y="19324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scherm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-60000">
            <a:off x="9187434" y="193243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87434" y="19324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vergadering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-120000">
            <a:off x="731520" y="248107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248107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dossier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rot="60000">
            <a:off x="3550158" y="248107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50158" y="248107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printer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rot="120000">
            <a:off x="6368796" y="248107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368796" y="248107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verslag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 rot="-60000">
            <a:off x="9187434" y="248107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87434" y="248107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offerte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 rot="-120000">
            <a:off x="731520" y="302971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302971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formulier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 rot="60000">
            <a:off x="3550158" y="302971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50158" y="302971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personeelsdienst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 rot="120000">
            <a:off x="6368796" y="302971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68796" y="302971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kopieerlokaal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 rot="-60000">
            <a:off x="9187434" y="3029712"/>
            <a:ext cx="226999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87434" y="302971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vergaderzaal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3669792"/>
            <a:ext cx="5413248" cy="2593848"/>
          </a:xfrm>
          <a:prstGeom prst="roundRect">
            <a:avLst>
              <a:gd name="adj" fmla="val 3525"/>
            </a:avLst>
          </a:prstGeom>
          <a:solidFill>
            <a:schemeClr val="tx2">
              <a:alpha val="8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3669792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366979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6227064" y="3669792"/>
            <a:ext cx="5413248" cy="2593848"/>
          </a:xfrm>
          <a:prstGeom prst="roundRect">
            <a:avLst>
              <a:gd name="adj" fmla="val 3525"/>
            </a:avLst>
          </a:prstGeom>
          <a:solidFill>
            <a:schemeClr val="accent1">
              <a:alpha val="8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27064" y="3669792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227064" y="366979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de of het?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mots. Composés : le dernier mot décide (M14) · </a:t>
            </a:r>
            <a:r>
              <a:rPr lang="en-US" sz="1700" i="1" dirty="0">
                <a:solidFill>
                  <a:schemeClr val="accent5"/>
                </a:solidFill>
              </a:rPr>
              <a:t>-ing</a:t>
            </a:r>
            <a:r>
              <a:rPr lang="en-US" sz="1700" i="1" dirty="0">
                <a:solidFill>
                  <a:schemeClr val="accent5"/>
                </a:solidFill>
              </a:rPr>
              <a:t> → </a:t>
            </a:r>
            <a:r>
              <a:rPr lang="en-US" sz="1700" i="1" dirty="0">
                <a:solidFill>
                  <a:schemeClr val="accent5"/>
                </a:solidFill>
              </a:rPr>
              <a:t>de</a:t>
            </a:r>
            <a:r>
              <a:rPr lang="en-US" sz="1700" i="1" dirty="0">
                <a:solidFill>
                  <a:schemeClr val="accent5"/>
                </a:solidFill>
              </a:rPr>
              <a:t> (M5).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13248" cy="4331208"/>
          </a:xfrm>
          <a:prstGeom prst="roundRect">
            <a:avLst>
              <a:gd name="adj" fmla="val 2111"/>
            </a:avLst>
          </a:prstGeom>
          <a:solidFill>
            <a:schemeClr val="tx2">
              <a:alpha val="8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1932432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93243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18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factuur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618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vergadering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2583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printer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2583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offerte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3898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personeelsdienst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3898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de vergaderzaal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27064" y="1932432"/>
            <a:ext cx="5413248" cy="4331208"/>
          </a:xfrm>
          <a:prstGeom prst="roundRect">
            <a:avLst>
              <a:gd name="adj" fmla="val 2111"/>
            </a:avLst>
          </a:prstGeom>
          <a:solidFill>
            <a:schemeClr val="accent1">
              <a:alpha val="8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27064" y="1932432"/>
            <a:ext cx="541324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27064" y="193243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HET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501384" y="2618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contract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107424" y="2618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scherm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501384" y="32583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dossier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107424" y="32583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verslag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501384" y="3898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formulier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107424" y="3898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het kopieerlokaal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écrit à Lotte avant son premier jour.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Lotte Claes · Onderwerp: welkom!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Beste Lotte,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Welkom bij Peeters &amp; Co! Maandag om negen uur wacht ik op je aan het onthaal. Eerst ga je naar de </a:t>
            </a:r>
            <a:r>
              <a:rPr lang="en-US" sz="1800" i="1" dirty="0">
                <a:solidFill>
                  <a:schemeClr val="tx1"/>
                </a:solidFill>
              </a:rPr>
              <a:t>personeel dienst</a:t>
            </a:r>
            <a:r>
              <a:rPr lang="en-US" sz="1800" i="1" dirty="0">
                <a:solidFill>
                  <a:schemeClr val="tx1"/>
                </a:solidFill>
              </a:rPr>
              <a:t>: daar teken je </a:t>
            </a:r>
            <a:r>
              <a:rPr lang="en-US" sz="1800" i="1" dirty="0">
                <a:solidFill>
                  <a:schemeClr val="tx1"/>
                </a:solidFill>
              </a:rPr>
              <a:t>de</a:t>
            </a:r>
            <a:r>
              <a:rPr lang="en-US" sz="1800" i="1" dirty="0">
                <a:solidFill>
                  <a:schemeClr val="tx1"/>
                </a:solidFill>
              </a:rPr>
              <a:t> contract. Als nieuwe </a:t>
            </a:r>
            <a:r>
              <a:rPr lang="en-US" sz="1800" i="1" dirty="0">
                <a:solidFill>
                  <a:schemeClr val="tx1"/>
                </a:solidFill>
              </a:rPr>
              <a:t>werkgever</a:t>
            </a:r>
            <a:r>
              <a:rPr lang="en-US" sz="1800" i="1" dirty="0">
                <a:solidFill>
                  <a:schemeClr val="tx1"/>
                </a:solidFill>
              </a:rPr>
              <a:t> krijg je een badge en een laptop. We </a:t>
            </a:r>
            <a:r>
              <a:rPr lang="en-US" sz="1800" i="1" dirty="0">
                <a:solidFill>
                  <a:schemeClr val="tx1"/>
                </a:solidFill>
              </a:rPr>
              <a:t>maken</a:t>
            </a:r>
            <a:r>
              <a:rPr lang="en-US" sz="1800" i="1" dirty="0">
                <a:solidFill>
                  <a:schemeClr val="tx1"/>
                </a:solidFill>
              </a:rPr>
              <a:t> elke maandag een vergadering met het hele team. Volgende week volg je een </a:t>
            </a:r>
            <a:r>
              <a:rPr lang="en-US" sz="1800" i="1" dirty="0">
                <a:solidFill>
                  <a:schemeClr val="tx1"/>
                </a:solidFill>
              </a:rPr>
              <a:t>formatie</a:t>
            </a:r>
            <a:r>
              <a:rPr lang="en-US" sz="1800" i="1" dirty="0">
                <a:solidFill>
                  <a:schemeClr val="tx1"/>
                </a:solidFill>
              </a:rPr>
              <a:t> over ons nieuwe programma.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Tot maandag!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Sofie</a:t>
            </a:r>
            <a:endParaRPr lang="en-US" sz="18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écrit à Lotte avant son premier jour.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Lotte Claes · Onderwerp: welkom!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26792"/>
            <a:ext cx="758952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Beste Lotte,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Welkom bij Peeters &amp; Co! Maandag om negen uur wacht ik op je aan het onthaal. Eerst ga je naar de </a:t>
            </a:r>
            <a:r>
              <a:rPr lang="en-US" sz="1800" i="1" strike="sngStrike" dirty="0">
                <a:solidFill>
                  <a:schemeClr val="accent6"/>
                </a:solidFill>
              </a:rPr>
              <a:t>personeel dienst</a:t>
            </a:r>
            <a:r>
              <a:rPr lang="en-US" sz="1800" b="1" i="1" dirty="0">
                <a:solidFill>
                  <a:schemeClr val="accent3"/>
                </a:solidFill>
              </a:rPr>
              <a:t> personeelsdienst</a:t>
            </a:r>
            <a:r>
              <a:rPr lang="en-US" sz="1800" i="1" dirty="0">
                <a:solidFill>
                  <a:schemeClr val="tx1"/>
                </a:solidFill>
              </a:rPr>
              <a:t>: daar teken je </a:t>
            </a:r>
            <a:r>
              <a:rPr lang="en-US" sz="1800" i="1" strike="sngStrike" dirty="0">
                <a:solidFill>
                  <a:schemeClr val="accent6"/>
                </a:solidFill>
              </a:rPr>
              <a:t>de</a:t>
            </a:r>
            <a:r>
              <a:rPr lang="en-US" sz="1800" b="1" i="1" dirty="0">
                <a:solidFill>
                  <a:schemeClr val="accent3"/>
                </a:solidFill>
              </a:rPr>
              <a:t> het</a:t>
            </a:r>
            <a:r>
              <a:rPr lang="en-US" sz="1800" i="1" dirty="0">
                <a:solidFill>
                  <a:schemeClr val="tx1"/>
                </a:solidFill>
              </a:rPr>
              <a:t> contract. Als nieuwe </a:t>
            </a:r>
            <a:r>
              <a:rPr lang="en-US" sz="1800" i="1" strike="sngStrike" dirty="0">
                <a:solidFill>
                  <a:schemeClr val="accent6"/>
                </a:solidFill>
              </a:rPr>
              <a:t>werkgever</a:t>
            </a:r>
            <a:r>
              <a:rPr lang="en-US" sz="1800" b="1" i="1" dirty="0">
                <a:solidFill>
                  <a:schemeClr val="accent3"/>
                </a:solidFill>
              </a:rPr>
              <a:t> werknemer</a:t>
            </a:r>
            <a:r>
              <a:rPr lang="en-US" sz="1800" i="1" dirty="0">
                <a:solidFill>
                  <a:schemeClr val="tx1"/>
                </a:solidFill>
              </a:rPr>
              <a:t> krijg je een badge en een laptop. We </a:t>
            </a:r>
            <a:r>
              <a:rPr lang="en-US" sz="1800" i="1" strike="sngStrike" dirty="0">
                <a:solidFill>
                  <a:schemeClr val="accent6"/>
                </a:solidFill>
              </a:rPr>
              <a:t>maken</a:t>
            </a:r>
            <a:r>
              <a:rPr lang="en-US" sz="1800" b="1" i="1" dirty="0">
                <a:solidFill>
                  <a:schemeClr val="accent3"/>
                </a:solidFill>
              </a:rPr>
              <a:t> houden</a:t>
            </a:r>
            <a:r>
              <a:rPr lang="en-US" sz="1800" i="1" dirty="0">
                <a:solidFill>
                  <a:schemeClr val="tx1"/>
                </a:solidFill>
              </a:rPr>
              <a:t> elke maandag een vergadering met het hele team. Volgende week volg je een </a:t>
            </a:r>
            <a:r>
              <a:rPr lang="en-US" sz="1800" i="1" strike="sngStrike" dirty="0">
                <a:solidFill>
                  <a:schemeClr val="accent6"/>
                </a:solidFill>
              </a:rPr>
              <a:t>formatie</a:t>
            </a:r>
            <a:r>
              <a:rPr lang="en-US" sz="1800" b="1" i="1" dirty="0">
                <a:solidFill>
                  <a:schemeClr val="accent3"/>
                </a:solidFill>
              </a:rPr>
              <a:t> opleiding</a:t>
            </a:r>
            <a:r>
              <a:rPr lang="en-US" sz="1800" i="1" dirty="0">
                <a:solidFill>
                  <a:schemeClr val="tx1"/>
                </a:solidFill>
              </a:rPr>
              <a:t> over ons nieuwe programma.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Tot maandag!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Sofie</a:t>
            </a:r>
            <a:endParaRPr lang="en-US" sz="18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aan het onthaal</a:t>
            </a:r>
            <a:r>
              <a:rPr lang="en-US" sz="1400" i="1" dirty="0">
                <a:solidFill>
                  <a:schemeClr val="accent5"/>
                </a:solidFill>
              </a:rPr>
              <a:t> est correct (BE). Composé en un mot, avec le </a:t>
            </a:r>
            <a:r>
              <a:rPr lang="en-US" sz="1400" i="1" dirty="0">
                <a:solidFill>
                  <a:schemeClr val="accent5"/>
                </a:solidFill>
              </a:rPr>
              <a:t>-s-</a:t>
            </a:r>
            <a:r>
              <a:rPr lang="en-US" sz="1400" i="1" dirty="0">
                <a:solidFill>
                  <a:schemeClr val="accent5"/>
                </a:solidFill>
              </a:rPr>
              <a:t> (M14). </a:t>
            </a:r>
            <a:r>
              <a:rPr lang="en-US" sz="1400" i="1" dirty="0">
                <a:solidFill>
                  <a:schemeClr val="accent5"/>
                </a:solidFill>
              </a:rPr>
              <a:t>maken</a:t>
            </a:r>
            <a:r>
              <a:rPr lang="en-US" sz="1400" i="1" dirty="0">
                <a:solidFill>
                  <a:schemeClr val="accent5"/>
                </a:solidFill>
              </a:rPr>
              <a:t> → </a:t>
            </a:r>
            <a:r>
              <a:rPr lang="en-US" sz="1400" i="1" dirty="0">
                <a:solidFill>
                  <a:schemeClr val="accent5"/>
                </a:solidFill>
              </a:rPr>
              <a:t>houden</a:t>
            </a:r>
            <a:r>
              <a:rPr lang="en-US" sz="1400" i="1" dirty="0">
                <a:solidFill>
                  <a:schemeClr val="accent5"/>
                </a:solidFill>
              </a:rPr>
              <a:t> ou </a:t>
            </a:r>
            <a:r>
              <a:rPr lang="en-US" sz="1400" i="1" dirty="0">
                <a:solidFill>
                  <a:schemeClr val="accent5"/>
                </a:solidFill>
              </a:rPr>
              <a:t>hebben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bon verbe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: </a:t>
            </a:r>
            <a:r>
              <a:rPr lang="en-US" sz="1700" i="1" dirty="0">
                <a:solidFill>
                  <a:schemeClr val="accent5"/>
                </a:solidFill>
              </a:rPr>
              <a:t>neem · houden · stellen · geeft · maakt · volgt · invullen · op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i="1" dirty="0">
                <a:solidFill>
                  <a:schemeClr val="tx1"/>
                </a:solidFill>
              </a:rPr>
              <a:t>Ik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om twaalf uur een pauze.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i="1" dirty="0">
                <a:solidFill>
                  <a:schemeClr val="tx1"/>
                </a:solidFill>
              </a:rPr>
              <a:t>We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elke maandag een vergadering.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i="1" dirty="0">
                <a:solidFill>
                  <a:schemeClr val="tx1"/>
                </a:solidFill>
              </a:rPr>
              <a:t>Mag ik een vraag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i="1" dirty="0">
                <a:solidFill>
                  <a:schemeClr val="tx1"/>
                </a:solidFill>
              </a:rPr>
              <a:t>Karim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morgen een presentatie.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i="1" dirty="0">
                <a:solidFill>
                  <a:schemeClr val="tx1"/>
                </a:solidFill>
              </a:rPr>
              <a:t>Iedereen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wel eens een fout.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i="1" dirty="0">
                <a:solidFill>
                  <a:schemeClr val="tx1"/>
                </a:solidFill>
              </a:rPr>
              <a:t>Lotte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een opleiding Excel.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i="1" dirty="0">
                <a:solidFill>
                  <a:schemeClr val="tx1"/>
                </a:solidFill>
              </a:rPr>
              <a:t>Wil je dit formulier </a:t>
            </a:r>
            <a:r>
              <a:rPr lang="en-US" sz="2100" i="1" dirty="0">
                <a:solidFill>
                  <a:schemeClr val="accent5"/>
                </a:solidFill>
              </a:rPr>
              <a:t>……………</a:t>
            </a:r>
            <a:r>
              <a:rPr lang="en-US" sz="2100" i="1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i="1" dirty="0">
                <a:solidFill>
                  <a:schemeClr val="tx1"/>
                </a:solidFill>
              </a:rPr>
              <a:t>Neem contact </a:t>
            </a:r>
            <a:r>
              <a:rPr lang="en-US" sz="2100" i="1" dirty="0">
                <a:solidFill>
                  <a:schemeClr val="accent5"/>
                </a:solidFill>
              </a:rPr>
              <a:t>…………</a:t>
            </a:r>
            <a:r>
              <a:rPr lang="en-US" sz="2100" i="1" dirty="0">
                <a:solidFill>
                  <a:schemeClr val="tx1"/>
                </a:solidFill>
              </a:rPr>
              <a:t> met de klantendienst.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bon verbe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: </a:t>
            </a:r>
            <a:r>
              <a:rPr lang="en-US" sz="1700" i="1" dirty="0">
                <a:solidFill>
                  <a:schemeClr val="accent5"/>
                </a:solidFill>
              </a:rPr>
              <a:t>neem · houden · stellen · geeft · maakt · volgt · invullen · op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i="1" dirty="0">
                <a:solidFill>
                  <a:schemeClr val="tx1"/>
                </a:solidFill>
              </a:rPr>
              <a:t>Ik </a:t>
            </a:r>
            <a:r>
              <a:rPr lang="en-US" sz="2100" b="1" i="1" dirty="0">
                <a:solidFill>
                  <a:schemeClr val="accent3"/>
                </a:solidFill>
              </a:rPr>
              <a:t>neem</a:t>
            </a:r>
            <a:r>
              <a:rPr lang="en-US" sz="2100" i="1" dirty="0">
                <a:solidFill>
                  <a:schemeClr val="tx1"/>
                </a:solidFill>
              </a:rPr>
              <a:t> om twaalf uur een pauze.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i="1" dirty="0">
                <a:solidFill>
                  <a:schemeClr val="tx1"/>
                </a:solidFill>
              </a:rPr>
              <a:t>We </a:t>
            </a:r>
            <a:r>
              <a:rPr lang="en-US" sz="2100" b="1" i="1" dirty="0">
                <a:solidFill>
                  <a:schemeClr val="accent3"/>
                </a:solidFill>
              </a:rPr>
              <a:t>houden</a:t>
            </a:r>
            <a:r>
              <a:rPr lang="en-US" sz="2100" i="1" dirty="0">
                <a:solidFill>
                  <a:schemeClr val="tx1"/>
                </a:solidFill>
              </a:rPr>
              <a:t> elke maandag een vergadering.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i="1" dirty="0">
                <a:solidFill>
                  <a:schemeClr val="tx1"/>
                </a:solidFill>
              </a:rPr>
              <a:t>Mag ik een vraag </a:t>
            </a:r>
            <a:r>
              <a:rPr lang="en-US" sz="2100" b="1" i="1" dirty="0">
                <a:solidFill>
                  <a:schemeClr val="accent3"/>
                </a:solidFill>
              </a:rPr>
              <a:t>stellen</a:t>
            </a:r>
            <a:r>
              <a:rPr lang="en-US" sz="2100" i="1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i="1" dirty="0">
                <a:solidFill>
                  <a:schemeClr val="tx1"/>
                </a:solidFill>
              </a:rPr>
              <a:t>Karim </a:t>
            </a:r>
            <a:r>
              <a:rPr lang="en-US" sz="2100" b="1" i="1" dirty="0">
                <a:solidFill>
                  <a:schemeClr val="accent3"/>
                </a:solidFill>
              </a:rPr>
              <a:t>geeft</a:t>
            </a:r>
            <a:r>
              <a:rPr lang="en-US" sz="2100" i="1" dirty="0">
                <a:solidFill>
                  <a:schemeClr val="tx1"/>
                </a:solidFill>
              </a:rPr>
              <a:t> morgen een presentatie.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i="1" dirty="0">
                <a:solidFill>
                  <a:schemeClr val="tx1"/>
                </a:solidFill>
              </a:rPr>
              <a:t>Iedereen </a:t>
            </a:r>
            <a:r>
              <a:rPr lang="en-US" sz="2100" b="1" i="1" dirty="0">
                <a:solidFill>
                  <a:schemeClr val="accent3"/>
                </a:solidFill>
              </a:rPr>
              <a:t>maakt</a:t>
            </a:r>
            <a:r>
              <a:rPr lang="en-US" sz="2100" i="1" dirty="0">
                <a:solidFill>
                  <a:schemeClr val="tx1"/>
                </a:solidFill>
              </a:rPr>
              <a:t> wel eens een fout.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i="1" dirty="0">
                <a:solidFill>
                  <a:schemeClr val="tx1"/>
                </a:solidFill>
              </a:rPr>
              <a:t>Lotte </a:t>
            </a:r>
            <a:r>
              <a:rPr lang="en-US" sz="2100" b="1" i="1" dirty="0">
                <a:solidFill>
                  <a:schemeClr val="accent3"/>
                </a:solidFill>
              </a:rPr>
              <a:t>volgt</a:t>
            </a:r>
            <a:r>
              <a:rPr lang="en-US" sz="2100" i="1" dirty="0">
                <a:solidFill>
                  <a:schemeClr val="tx1"/>
                </a:solidFill>
              </a:rPr>
              <a:t> een opleiding Excel.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i="1" dirty="0">
                <a:solidFill>
                  <a:schemeClr val="tx1"/>
                </a:solidFill>
              </a:rPr>
              <a:t>Wil je dit formulier </a:t>
            </a:r>
            <a:r>
              <a:rPr lang="en-US" sz="2100" b="1" i="1" dirty="0">
                <a:solidFill>
                  <a:schemeClr val="accent3"/>
                </a:solidFill>
              </a:rPr>
              <a:t>invullen</a:t>
            </a:r>
            <a:r>
              <a:rPr lang="en-US" sz="2100" i="1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i="1" dirty="0">
                <a:solidFill>
                  <a:schemeClr val="tx1"/>
                </a:solidFill>
              </a:rPr>
              <a:t>Neem contact </a:t>
            </a:r>
            <a:r>
              <a:rPr lang="en-US" sz="2100" b="1" i="1" dirty="0">
                <a:solidFill>
                  <a:schemeClr val="accent3"/>
                </a:solidFill>
              </a:rPr>
              <a:t>op</a:t>
            </a:r>
            <a:r>
              <a:rPr lang="en-US" sz="2100" i="1" dirty="0">
                <a:solidFill>
                  <a:schemeClr val="tx1"/>
                </a:solidFill>
              </a:rPr>
              <a:t> met de klantendienst.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N° 2 : </a:t>
            </a:r>
            <a:r>
              <a:rPr lang="en-US" sz="1500" i="1" dirty="0">
                <a:solidFill>
                  <a:schemeClr val="accent5"/>
                </a:solidFill>
              </a:rPr>
              <a:t>hebben</a:t>
            </a:r>
            <a:r>
              <a:rPr lang="en-US" sz="1500" i="1" dirty="0">
                <a:solidFill>
                  <a:schemeClr val="accent5"/>
                </a:solidFill>
              </a:rPr>
              <a:t> est aussi correct · n° 8 : </a:t>
            </a:r>
            <a:r>
              <a:rPr lang="en-US" sz="1500" i="1" dirty="0">
                <a:solidFill>
                  <a:schemeClr val="accent5"/>
                </a:solidFill>
              </a:rPr>
              <a:t>contact </a:t>
            </a:r>
            <a:r>
              <a:rPr lang="en-US" sz="1500" b="1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nemen</a:t>
            </a:r>
            <a:r>
              <a:rPr lang="en-US" sz="1500" i="1" dirty="0">
                <a:solidFill>
                  <a:schemeClr val="accent5"/>
                </a:solidFill>
              </a:rPr>
              <a:t> (M11)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Taboe!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54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printer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42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papier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afdrukken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machine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41448" y="155448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41448" y="15544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87168" y="1554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vergaderzaal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441448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532888" y="2542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vergaderen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tafel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kamer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34256" y="155448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4256" y="15544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79976" y="1554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boekhouder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334256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425696" y="2542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geld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facturen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rekenen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27064" y="155448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27064" y="15544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72784" y="1554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factuur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227064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318504" y="2542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betalen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klant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euro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56616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356616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566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refter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45537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eten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middag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koffie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441448" y="356616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41448" y="356616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487168" y="3566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badge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2441448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2532888" y="45537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deur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kaart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naam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334256" y="356616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334256" y="356616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379976" y="3566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het verlof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4334256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425696" y="45537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vakantie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vrij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dagen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227064" y="356616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227064" y="356616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72784" y="3566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de stagiair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6227064" y="4279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TABOE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318504" y="45537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student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jong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i="1" dirty="0">
                <a:solidFill>
                  <a:schemeClr val="accent6"/>
                </a:solidFill>
              </a:rPr>
              <a:t>leren</a:t>
            </a:r>
            <a:endParaRPr lang="en-US" sz="1400" dirty="0"/>
          </a:p>
        </p:txBody>
      </p:sp>
      <p:pic>
        <p:nvPicPr>
          <p:cNvPr id="46" name="Image 0" descr="speaking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0"/>
            <a:ext cx="731520" cy="73152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914400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Taboe!</a:t>
            </a:r>
            <a:endParaRPr lang="en-US" sz="2800" dirty="0"/>
          </a:p>
        </p:txBody>
      </p:sp>
      <p:sp>
        <p:nvSpPr>
          <p:cNvPr id="48" name="Text 44"/>
          <p:cNvSpPr txBox="1"/>
          <p:nvPr/>
        </p:nvSpPr>
        <p:spPr>
          <a:xfrm>
            <a:off x="8321040" y="242316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</a:t>
            </a:r>
            <a:r>
              <a:rPr lang="en-US" sz="1400" dirty="0">
                <a:solidFill>
                  <a:schemeClr val="tx1"/>
                </a:solidFill>
              </a:rPr>
              <a:t> Tirez une carte. Faites deviner le mot </a:t>
            </a:r>
            <a:r>
              <a:rPr lang="en-US" sz="1400" b="1" dirty="0">
                <a:solidFill>
                  <a:schemeClr val="tx1"/>
                </a:solidFill>
              </a:rPr>
              <a:t>sans</a:t>
            </a:r>
            <a:r>
              <a:rPr lang="en-US" sz="1400" dirty="0">
                <a:solidFill>
                  <a:schemeClr val="tx1"/>
                </a:solidFill>
              </a:rPr>
              <a:t> dire les mots interdits.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</a:t>
            </a:r>
            <a:r>
              <a:rPr lang="en-US" sz="1400" dirty="0">
                <a:solidFill>
                  <a:schemeClr val="tx1"/>
                </a:solidFill>
              </a:rPr>
              <a:t> Aides : </a:t>
            </a:r>
            <a:r>
              <a:rPr lang="en-US" sz="1400" i="1" dirty="0">
                <a:solidFill>
                  <a:schemeClr val="tx1"/>
                </a:solidFill>
              </a:rPr>
              <a:t>Het is een persoon </a:t>
            </a:r>
            <a:r>
              <a:rPr lang="en-US" sz="1400" b="1" i="1" dirty="0">
                <a:solidFill>
                  <a:schemeClr val="tx1"/>
                </a:solidFill>
              </a:rPr>
              <a:t>die</a:t>
            </a:r>
            <a:r>
              <a:rPr lang="en-US" sz="1400" i="1" dirty="0">
                <a:solidFill>
                  <a:schemeClr val="tx1"/>
                </a:solidFill>
              </a:rPr>
              <a:t>… · Het is een ding </a:t>
            </a:r>
            <a:r>
              <a:rPr lang="en-US" sz="1400" b="1" i="1" dirty="0">
                <a:solidFill>
                  <a:schemeClr val="tx1"/>
                </a:solidFill>
              </a:rPr>
              <a:t>dat</a:t>
            </a:r>
            <a:r>
              <a:rPr lang="en-US" sz="1400" i="1" dirty="0">
                <a:solidFill>
                  <a:schemeClr val="tx1"/>
                </a:solidFill>
              </a:rPr>
              <a:t> / </a:t>
            </a:r>
            <a:r>
              <a:rPr lang="en-US" sz="1400" b="1" i="1" dirty="0">
                <a:solidFill>
                  <a:schemeClr val="tx1"/>
                </a:solidFill>
              </a:rPr>
              <a:t>waarmee</a:t>
            </a:r>
            <a:r>
              <a:rPr lang="en-US" sz="1400" i="1" dirty="0">
                <a:solidFill>
                  <a:schemeClr val="tx1"/>
                </a:solidFill>
              </a:rPr>
              <a:t>… · Het is een plaats </a:t>
            </a:r>
            <a:r>
              <a:rPr lang="en-US" sz="1400" b="1" i="1" dirty="0">
                <a:solidFill>
                  <a:schemeClr val="tx1"/>
                </a:solidFill>
              </a:rPr>
              <a:t>waar</a:t>
            </a:r>
            <a:r>
              <a:rPr lang="en-US" sz="1400" i="1" dirty="0">
                <a:solidFill>
                  <a:schemeClr val="tx1"/>
                </a:solidFill>
              </a:rPr>
              <a:t>…</a:t>
            </a:r>
            <a:r>
              <a:rPr lang="en-US" sz="1400" dirty="0">
                <a:solidFill>
                  <a:schemeClr val="tx1"/>
                </a:solidFill>
              </a:rPr>
              <a:t> (M22, M23)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</a:t>
            </a:r>
            <a:r>
              <a:rPr lang="en-US" sz="1400" dirty="0">
                <a:solidFill>
                  <a:schemeClr val="tx1"/>
                </a:solidFill>
              </a:rPr>
              <a:t> 1 minute par carte : 1 point par mot deviné, −1 si un mot interdit est prononcé.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La visite guidée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Premier jour de Lotte chez Peeters &amp; Co. Sofie lui fait visiter le rez-de-chaussée et présente les services.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— Sofie</a:t>
            </a:r>
            <a:r>
              <a:rPr lang="en-US" sz="1700" dirty="0">
                <a:solidFill>
                  <a:schemeClr val="tx1"/>
                </a:solidFill>
              </a:rPr>
              <a:t> (RH) : montrez au moins 4 pièces et expliquez qui fait quoi dans 2 services.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 — Lotte</a:t>
            </a:r>
            <a:r>
              <a:rPr lang="en-US" sz="1700" dirty="0">
                <a:solidFill>
                  <a:schemeClr val="tx1"/>
                </a:solidFill>
              </a:rPr>
              <a:t> (stagiaire) : posez des questions sur les pièces, les collègues, les horaires.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Dit is de vergaderzaal. · Hier is… · De boekhouding is op de eerste verdieping. · Wie werkt op…? · Waar kan ik iets afdrukken? · Om hoe laat is de pauze? · Waar is de refter?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PEETERS &amp; CO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65592" y="2875788"/>
            <a:ext cx="507492" cy="1485900"/>
          </a:xfrm>
          <a:prstGeom prst="roundRect">
            <a:avLst>
              <a:gd name="adj" fmla="val 7207"/>
            </a:avLst>
          </a:prstGeom>
          <a:solidFill>
            <a:srgbClr val="E6EBF2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8165592" y="3419856"/>
            <a:ext cx="507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chemeClr val="accent5"/>
                </a:solidFill>
              </a:rPr>
              <a:t>parking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8782812" y="2075688"/>
            <a:ext cx="276606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53042" y="2944368"/>
            <a:ext cx="2295830" cy="548640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16897" y="2944368"/>
            <a:ext cx="6638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chemeClr val="accent5"/>
                </a:solidFill>
              </a:rPr>
              <a:t>gang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8782812" y="2075688"/>
            <a:ext cx="470230" cy="2286000"/>
          </a:xfrm>
          <a:prstGeom prst="rect">
            <a:avLst/>
          </a:prstGeom>
          <a:solidFill>
            <a:srgbClr val="FD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67453" y="2642616"/>
            <a:ext cx="103451" cy="1152144"/>
          </a:xfrm>
          <a:prstGeom prst="roundRect">
            <a:avLst>
              <a:gd name="adj" fmla="val 35356"/>
            </a:avLst>
          </a:prstGeom>
          <a:solidFill>
            <a:schemeClr val="accent1">
              <a:alpha val="6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819388" y="2130552"/>
            <a:ext cx="3970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chemeClr val="accent1"/>
                </a:solidFill>
              </a:rPr>
              <a:t>onthaal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8737092" y="3026664"/>
            <a:ext cx="9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53042" y="207568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485391" y="290779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89618" y="210312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vergaderzaal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9916897" y="207568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149246" y="290779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953473" y="210312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kopieerlokaal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10580751" y="207568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813100" y="290779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617327" y="210312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toiletten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9253042" y="349300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485391" y="345643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89618" y="352044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kantoor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916897" y="349300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149246" y="345643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953473" y="352044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keuken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10580751" y="3493008"/>
            <a:ext cx="663854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813100" y="3456432"/>
            <a:ext cx="199156" cy="73152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617327" y="3520440"/>
            <a:ext cx="59070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tx1"/>
                </a:solidFill>
              </a:rPr>
              <a:t>refter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11244605" y="2075688"/>
            <a:ext cx="304267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290325" y="2238974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290325" y="2402259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290325" y="2565545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290325" y="2728831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290325" y="2892117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290325" y="3055402"/>
            <a:ext cx="212827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244605" y="3218688"/>
            <a:ext cx="304267" cy="1143000"/>
          </a:xfrm>
          <a:prstGeom prst="rect">
            <a:avLst/>
          </a:prstGeom>
          <a:solidFill>
            <a:srgbClr val="F1EBF8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1244605" y="2834640"/>
            <a:ext cx="3042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chemeClr val="tx2"/>
                </a:solidFill>
              </a:rPr>
              <a:t>trap</a:t>
            </a:r>
            <a:endParaRPr lang="en-US" sz="600" dirty="0"/>
          </a:p>
        </p:txBody>
      </p:sp>
      <p:sp>
        <p:nvSpPr>
          <p:cNvPr id="58" name="Text 55"/>
          <p:cNvSpPr txBox="1"/>
          <p:nvPr/>
        </p:nvSpPr>
        <p:spPr>
          <a:xfrm>
            <a:off x="11244605" y="3950208"/>
            <a:ext cx="3042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chemeClr val="tx2"/>
                </a:solidFill>
              </a:rPr>
              <a:t>lift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8211312" y="4407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Eerste verdieping: de directie · de boekhouding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8211312" y="4818888"/>
            <a:ext cx="32918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Diensten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boekhouding · personeelsdienst · verkoop · aankoop · marketing · IT-dienst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avec l’article : « le service du personnel » · « la salle de réunion »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Complétez : </a:t>
            </a:r>
            <a:r>
              <a:rPr lang="en-US" sz="2000" i="1" dirty="0">
                <a:solidFill>
                  <a:schemeClr val="tx1"/>
                </a:solidFill>
              </a:rPr>
              <a:t>Mag ik een vraag ……?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werkgever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werknemer</a:t>
            </a:r>
            <a:r>
              <a:rPr lang="en-US" sz="2000" dirty="0">
                <a:solidFill>
                  <a:schemeClr val="tx1"/>
                </a:solidFill>
              </a:rPr>
              <a:t> ? « Karim est employé chez Peeters &amp; Co. »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Nommer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repérer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Parler du travail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LongArrowAltRigh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De keuken in!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Ik stap in de keuken · Ik stap de keuken in.</a:t>
            </a:r>
            <a:r>
              <a:rPr lang="en-US" sz="1800" dirty="0">
                <a:solidFill>
                  <a:schemeClr val="bg1"/>
                </a:solidFill>
              </a:rPr>
              <a:t> Quelle différence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30 — Het bedrijf — L’entreprise et son vocabulaire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2026-10-06T17:53:47Z</dcterms:created>
  <dcterms:modified xsi:type="dcterms:W3CDTF">2026-10-06T17:53:47Z</dcterms:modified>
</cp:coreProperties>
</file>