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1eba567e-f5f6-641c-d59c-ad1df86f863d}">
          <p14:sldIdLst>
            <p14:sldId id="256"/>
          </p14:sldIdLst>
        </p14:section>
        <p14:section name="Découvrir" id="{1da68877-3888-4392-e3f3-3423c18bcc0a}">
          <p14:sldIdLst>
            <p14:sldId id="257"/>
            <p14:sldId id="258"/>
          </p14:sldIdLst>
        </p14:section>
        <p14:section name="Comprendre" id="{5e4eb397-2f7d-c43e-a8a5-39a7f0c6b699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JIJ NU ! — Oefeningen" id="{74baee8b-511b-2a8d-eaa2-4d8830007840}">
          <p14:sldIdLst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</p14:sldIdLst>
        </p14:section>
        <p14:section name="Clôture" id="{09767092-849a-8419-fed2-faa3d25ab8f6}">
          <p14:sldIdLst>
            <p14:sldId id="28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le vocabulaire de l'entreprise, pour s'y repérer dès le premier jour.
Question d'entrée : « Le premier jour dans une entreprise flamande, quels mots faut-il connaître ? » Notez les réponses en français : le module va les donner en néerlandais.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Ce vocabulaire sert dans tout le bloc 7 : se déplacer dans le bâtiment (M31), se présenter au travail (M32).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Montrer que beaucoup de mots sont transparents, et donner confiance.
Faites deviner en binôme, puis vérifiez. Tous ces mots sont transparents. Insistez sur l'article : het contract, het project, het team, het salaris. Au M5 : les mots d'une syllabe ou les emprunts n'ont pas de règle sûre, il faut apprendre l'article avec le mot.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Nommer les types d'entreprises et les formes juridiques belges.
kmo = kleine of middelgrote onderneming (Belgique) ; aux Pays-Bas, on parle du mkb. de firma existe aussi. Depuis 2019, la bv remplace l'ancienne bvba (SPRL). Faites dire : Ik werk bij een kmo. · Ik ben zelfstandige. · Ik werk bij de overheid.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Nommer les services d'une entreprise.
de afdeling = le service, le département ; en Belgique, on dit aussi de dienst : de personeelsdienst, de klantendienst (service clientèle), de aankoopdienst. de zaakvoerder (Belgique) = le gérant d'une bv. Autres services : het onthaal (l'accueil), de logistiek, de juridische dienst.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Nommer les fonctions, au masculin et au féminin.
Suffixes féminins (M7) : -ster (boekhoudster), -e (stagiaire), -rice (directrice). het afdelingshoofd : le dernier mot est het hoofd (la tête), donc het (M14). de medewerker est le mot passe-partout : een medewerker van de verkoop.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Distinguer les rôles et les relations dans l'entreprise.
Moyen mnémotechnique : geven = donner, nemen = prendre. Celui qui « donne le travail » paie le salaire. La distinction bediende / arbeider est propre au droit du travail belge. de chef s'entend aussi en Belgique (mijn chef).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Se repérer dans le bâtiment.
het gelijkvloers (Belgique) = le rez-de-chaussée (NL : de begane grond) ; de eerste verdieping = le premier étage. het kantoor = le bureau (la pièce) ; en Belgique, on dit aussi het bureau. de refter (Belgique) = la cafétéria, le réfectoire (NL : de kantine). Ce plan revient au M31.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Nommer le matériel de bureau avec son article.
Les mots het sont minoritaires : faites-les souligner. de gsm (Belgique) = le téléphone portable (NL : de mobiel) ; de bic est aussi très courant en Belgique pour de balpen. het bureau = le meuble (la table de travail) ; en Belgique aussi la pièce.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Nommer les documents du quotidien professionnel.
het verslag = le rapport ou le procès-verbal d'une réunion (NL : de notulen). de loonfiche (Belgique) = NL de loonstrook. het attest est très belge (un ziekteattest = un certificat médical). Révisez de factuur et de offerte avec le M26.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Décrire les activités de chaque service.
afdrukken et aanwerven sont des verbes à particule (M11) : Ik druk het verslag af. aanwerven est courant en Belgique (NL : aannemen). Hij is in vergadering = il est en réunion (formule utile au téléphone).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le bon verbe dans les expressions fréquentes.
On n'apprend pas un verbe seul, mais une expression complète : een vraag stellen, pas « poser = stellen ». Faites fabriquer des cartes « expression » à réviser. een vergadering hebben est aussi correct (We hebben om tien uur een vergadering).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Parler du contrat, du temps de travail et des avantages.
Vocabulaire très belge : maaltijdcheques, bedrijfswagen, verlof (NL : vakantie), telewerken (synonyme de thuiswerken). Évitez de faire parler du salaire réel des apprenants : on reste sur des exemples.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Éviter les faux amis du monde du travail.
de formatie = la composition (d'un gouvernement, d'une équipe). het patroon = le modèle, le motif ; mais en Belgique, de patroon (masculin) est le mot courant pour le patron, l'employeur : attention à l'article. de samenleving = la société au sens de « la communauté des gens ». de agenda a deux sens : l'agenda et l'ordre du jour (Wat staat er op de agenda?).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les variantes belges et néerlandaises.
Les apprenants travaillent en Belgique : on enseigne d'abord le mot belge, mais on reconnaît le mot néerlandais (séries, sites web, clients des Pays-Bas). de receptie et de kantine s'entendent aussi en Belgique.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récapitulatif est la référence pour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et 2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Associer une fonction à une tâche.
Faites formuler la phrase complète : De boekhouder betaalt de facturen. N° 4 : aanwerven est un verbe à particule : werft … aan (M11).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Associer une fonction à une tâche.
Faites formuler la phrase complète : De boekhouder betaalt de facturen. N° 4 : aanwerven est un verbe à particule : werft … aan (M11).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Nommer les pièces sur le plan.
Prolongement oral en binôme : Waar is de keuken? — In de gang, de tweede deur rechts.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Nommer les pièces sur le plan.
Prolongement oral en binôme : Waar is de keuken? — In de gang, de tweede deur rechts.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Classer le vocabulaire selon l'article, en utilisant la règle des composés.
Règles utiles : -ing → de (de vergadering, M5) ; composés : le dernier mot décide (de dienst, het lokaal, de zaal, M14). Les autres mots s'apprennent avec leur article.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Classer le vocabulaire selon l'article, en utilisant la règle des composés.
Règles utiles : -ing → de (de vergadering, M5) ; composés : le dernier mot décide (de dienst, het lokaal, de zaal, M14). Les autres mots s'apprennent avec leur article.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 e-mail d'accueil.
Leurre : aan het onthaal est correct (Belgique). N° 1 : un composé s'écrit en un mot, avec le -s- de liaison (M14).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 e-mail d'accueil.
Leurre : aan het onthaal est correct (Belgique). N° 1 : un composé s'écrit en un mot, avec le -s- de liaison (M14).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Réutiliser les expressions de la diapo 12.
N° 8 : contact opnemen : la particule op se sépare (M11) : Neem contact op met…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Réutiliser les expressions de la diapo 12.
N° 8 : contact opnemen : la particule op se sépare (M11) : Neem contact op met…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Faire deviner un mot du bureau en le définissant, sans dire les mots interdits.
Les définitions réutilisent les relatifs du M22 et du M23. En équipes, 1 minute par carte ; 1 point par mot deviné, −1 si un mot interdit est prononcé.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: faire visiter l'entreprise à un·e nouveau·elle collègue.
Exigez au moins 4 pièces et 2 services. Réemploi du M25 pour les horaires (Om hoe laat begint de vergadering?).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de personeelsdienst · de vergaderzaal
2. stellen
3. Karim is werknemer bij Peeters &amp; Co.
Teaser M31 : Ik stap in de keuken · Ik stap de keuken in. Quelle différence 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30 · Het bedrijf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30 · Het bedrijf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image" Target="../media/image-3-12.png"/><Relationship Id="rId13" Type="http://schemas.openxmlformats.org/officeDocument/2006/relationships/image" Target="../media/image-3-13.png"/><Relationship Id="rId14" Type="http://schemas.openxmlformats.org/officeDocument/2006/relationships/slideLayout" Target="../slideLayouts/slideLayout2.xml"/><Relationship Id="rId1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image" Target="../media/image-9-11.png"/><Relationship Id="rId12" Type="http://schemas.openxmlformats.org/officeDocument/2006/relationships/image" Target="../media/image-9-12.pn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image" Target="../media/image-17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image" Target="../media/image-19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image" Target="../media/image-20-6.png"/><Relationship Id="rId7" Type="http://schemas.openxmlformats.org/officeDocument/2006/relationships/image" Target="../media/image-20-7.png"/><Relationship Id="rId8" Type="http://schemas.openxmlformats.org/officeDocument/2006/relationships/image" Target="../media/image-20-8.png"/><Relationship Id="rId9" Type="http://schemas.openxmlformats.org/officeDocument/2006/relationships/image" Target="../media/image-20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image" Target="../media/image-21-7.png"/><Relationship Id="rId8" Type="http://schemas.openxmlformats.org/officeDocument/2006/relationships/image" Target="../media/image-21-8.png"/><Relationship Id="rId9" Type="http://schemas.openxmlformats.org/officeDocument/2006/relationships/image" Target="../media/image-21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image" Target="../media/image-30-5.png"/><Relationship Id="rId6" Type="http://schemas.openxmlformats.org/officeDocument/2006/relationships/image" Target="../media/image-30-6.png"/><Relationship Id="rId7" Type="http://schemas.openxmlformats.org/officeDocument/2006/relationships/image" Target="../media/image-30-7.png"/><Relationship Id="rId8" Type="http://schemas.openxmlformats.org/officeDocument/2006/relationships/image" Target="../media/image-30-8.png"/><Relationship Id="rId9" Type="http://schemas.openxmlformats.org/officeDocument/2006/relationships/image" Target="../media/image-30-9.png"/><Relationship Id="rId10" Type="http://schemas.openxmlformats.org/officeDocument/2006/relationships/image" Target="../media/image-30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30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Het bedrijf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L’entreprise et son vocabulaire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Welkom bij Peeters &amp; Co!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0" y="868680"/>
            <a:ext cx="5212080" cy="3611880"/>
          </a:xfrm>
          <a:prstGeom prst="roundRect">
            <a:avLst>
              <a:gd name="adj" fmla="val 506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office buil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1097280"/>
            <a:ext cx="1371600" cy="13716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183880" y="1097280"/>
            <a:ext cx="3291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Welkom bij</a:t>
            </a:r>
            <a:endParaRPr lang="en-US" sz="2400" dirty="0"/>
          </a:p>
          <a:p>
            <a:pPr algn="l"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Peeters &amp; Co!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8366760" y="2743200"/>
            <a:ext cx="1325880" cy="457200"/>
          </a:xfrm>
          <a:prstGeom prst="roundRect">
            <a:avLst>
              <a:gd name="adj" fmla="val 16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366760" y="274320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de directie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9025128" y="3200400"/>
            <a:ext cx="914" cy="22860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223760" y="3429000"/>
            <a:ext cx="361188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223760" y="3429000"/>
            <a:ext cx="914" cy="22860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675120" y="3657600"/>
            <a:ext cx="11430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675120" y="365760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boekhouding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9034272" y="3429000"/>
            <a:ext cx="914" cy="22860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485632" y="3657600"/>
            <a:ext cx="11430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485632" y="365760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verkoop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10844784" y="3429000"/>
            <a:ext cx="914" cy="22860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0296144" y="3657600"/>
            <a:ext cx="11430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0296144" y="365760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marketing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Sitema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Nommer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nomme les services et les fonctions : </a:t>
            </a:r>
            <a:r>
              <a:rPr lang="en-US" sz="2000" i="1" dirty="0">
                <a:solidFill>
                  <a:schemeClr val="tx1"/>
                </a:solidFill>
              </a:rPr>
              <a:t>de boekhouding, de verkoper.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MapMarkedA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Se repérer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me repère dans le bâtiment : </a:t>
            </a:r>
            <a:r>
              <a:rPr lang="en-US" sz="2000" i="1" dirty="0">
                <a:solidFill>
                  <a:schemeClr val="tx1"/>
                </a:solidFill>
              </a:rPr>
              <a:t>De vergaderzaal is de eerste deur links.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FileContrac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Parler du travail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parle du contrat, des horaires, des congés : </a:t>
            </a:r>
            <a:r>
              <a:rPr lang="en-US" sz="2000" i="1" dirty="0">
                <a:solidFill>
                  <a:schemeClr val="tx1"/>
                </a:solidFill>
              </a:rPr>
              <a:t>Ik werk deeltijds.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Ce vocabulaire sert dans tout le bloc 7 : se déplacer (M31), se présenter au travail (M32).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Vous comprenez déjà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64947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737360"/>
            <a:ext cx="594360" cy="5943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371600" y="1554480"/>
            <a:ext cx="17350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2"/>
                </a:solidFill>
              </a:rPr>
              <a:t>de</a:t>
            </a:r>
            <a:r>
              <a:rPr lang="en-US" sz="2000" i="1" dirty="0">
                <a:solidFill>
                  <a:schemeClr val="tx1"/>
                </a:solidFill>
              </a:rPr>
              <a:t> directeur</a:t>
            </a:r>
            <a:endParaRPr lang="en-US" sz="2000" dirty="0"/>
          </a:p>
        </p:txBody>
      </p:sp>
      <p:sp>
        <p:nvSpPr>
          <p:cNvPr id="8" name="Shape 4"/>
          <p:cNvSpPr/>
          <p:nvPr/>
        </p:nvSpPr>
        <p:spPr>
          <a:xfrm>
            <a:off x="3362706" y="1554480"/>
            <a:ext cx="264947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wo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9866" y="1737360"/>
            <a:ext cx="594360" cy="59436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4185666" y="1554480"/>
            <a:ext cx="17350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2"/>
                </a:solidFill>
              </a:rPr>
              <a:t>de</a:t>
            </a:r>
            <a:r>
              <a:rPr lang="en-US" sz="2000" i="1" dirty="0">
                <a:solidFill>
                  <a:schemeClr val="tx1"/>
                </a:solidFill>
              </a:rPr>
              <a:t> manager</a:t>
            </a:r>
            <a:endParaRPr lang="en-US" sz="2000" dirty="0"/>
          </a:p>
        </p:txBody>
      </p:sp>
      <p:sp>
        <p:nvSpPr>
          <p:cNvPr id="11" name="Shape 6"/>
          <p:cNvSpPr/>
          <p:nvPr/>
        </p:nvSpPr>
        <p:spPr>
          <a:xfrm>
            <a:off x="6176772" y="1554480"/>
            <a:ext cx="264947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2" descr="page facing u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3932" y="1737360"/>
            <a:ext cx="594360" cy="59436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6999732" y="1554480"/>
            <a:ext cx="17350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1"/>
                </a:solidFill>
              </a:rPr>
              <a:t>het</a:t>
            </a:r>
            <a:r>
              <a:rPr lang="en-US" sz="2000" i="1" dirty="0">
                <a:solidFill>
                  <a:schemeClr val="tx1"/>
                </a:solidFill>
              </a:rPr>
              <a:t> contract</a:t>
            </a:r>
            <a:endParaRPr lang="en-US" sz="2000" dirty="0"/>
          </a:p>
        </p:txBody>
      </p:sp>
      <p:sp>
        <p:nvSpPr>
          <p:cNvPr id="14" name="Shape 8"/>
          <p:cNvSpPr/>
          <p:nvPr/>
        </p:nvSpPr>
        <p:spPr>
          <a:xfrm>
            <a:off x="8990838" y="1554480"/>
            <a:ext cx="264947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5" name="Image 3" descr="lapto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7998" y="1737360"/>
            <a:ext cx="594360" cy="59436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9813798" y="1554480"/>
            <a:ext cx="17350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2"/>
                </a:solidFill>
              </a:rPr>
              <a:t>de</a:t>
            </a:r>
            <a:r>
              <a:rPr lang="en-US" sz="2000" i="1" dirty="0">
                <a:solidFill>
                  <a:schemeClr val="tx1"/>
                </a:solidFill>
              </a:rPr>
              <a:t> laptop</a:t>
            </a:r>
            <a:endParaRPr lang="en-US" sz="2000" dirty="0"/>
          </a:p>
        </p:txBody>
      </p:sp>
      <p:sp>
        <p:nvSpPr>
          <p:cNvPr id="17" name="Shape 10"/>
          <p:cNvSpPr/>
          <p:nvPr/>
        </p:nvSpPr>
        <p:spPr>
          <a:xfrm>
            <a:off x="548640" y="2651760"/>
            <a:ext cx="264947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8" name="Image 4" descr="print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834640"/>
            <a:ext cx="594360" cy="59436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1371600" y="2651760"/>
            <a:ext cx="17350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2"/>
                </a:solidFill>
              </a:rPr>
              <a:t>de</a:t>
            </a:r>
            <a:r>
              <a:rPr lang="en-US" sz="2000" i="1" dirty="0">
                <a:solidFill>
                  <a:schemeClr val="tx1"/>
                </a:solidFill>
              </a:rPr>
              <a:t> printer</a:t>
            </a:r>
            <a:endParaRPr lang="en-US" sz="2000" dirty="0"/>
          </a:p>
        </p:txBody>
      </p:sp>
      <p:sp>
        <p:nvSpPr>
          <p:cNvPr id="20" name="Shape 12"/>
          <p:cNvSpPr/>
          <p:nvPr/>
        </p:nvSpPr>
        <p:spPr>
          <a:xfrm>
            <a:off x="3362706" y="2651760"/>
            <a:ext cx="264947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1" name="Image 5" descr="bellhop bell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99866" y="2834640"/>
            <a:ext cx="594360" cy="59436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4185666" y="2651760"/>
            <a:ext cx="17350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2"/>
                </a:solidFill>
              </a:rPr>
              <a:t>de</a:t>
            </a:r>
            <a:r>
              <a:rPr lang="en-US" sz="2000" i="1" dirty="0">
                <a:solidFill>
                  <a:schemeClr val="tx1"/>
                </a:solidFill>
              </a:rPr>
              <a:t> receptie</a:t>
            </a:r>
            <a:endParaRPr lang="en-US" sz="2000" dirty="0"/>
          </a:p>
        </p:txBody>
      </p:sp>
      <p:sp>
        <p:nvSpPr>
          <p:cNvPr id="23" name="Shape 14"/>
          <p:cNvSpPr/>
          <p:nvPr/>
        </p:nvSpPr>
        <p:spPr>
          <a:xfrm>
            <a:off x="6176772" y="2651760"/>
            <a:ext cx="264947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4" name="Image 6" descr="bar char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13932" y="2834640"/>
            <a:ext cx="594360" cy="594360"/>
          </a:xfrm>
          <a:prstGeom prst="rect">
            <a:avLst/>
          </a:prstGeom>
        </p:spPr>
      </p:pic>
      <p:sp>
        <p:nvSpPr>
          <p:cNvPr id="25" name="Text 15"/>
          <p:cNvSpPr txBox="1"/>
          <p:nvPr/>
        </p:nvSpPr>
        <p:spPr>
          <a:xfrm>
            <a:off x="6999732" y="2651760"/>
            <a:ext cx="17350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1"/>
                </a:solidFill>
              </a:rPr>
              <a:t>het</a:t>
            </a:r>
            <a:r>
              <a:rPr lang="en-US" sz="2000" i="1" dirty="0">
                <a:solidFill>
                  <a:schemeClr val="tx1"/>
                </a:solidFill>
              </a:rPr>
              <a:t> project</a:t>
            </a:r>
            <a:endParaRPr lang="en-US" sz="2000" dirty="0"/>
          </a:p>
        </p:txBody>
      </p:sp>
      <p:sp>
        <p:nvSpPr>
          <p:cNvPr id="26" name="Shape 16"/>
          <p:cNvSpPr/>
          <p:nvPr/>
        </p:nvSpPr>
        <p:spPr>
          <a:xfrm>
            <a:off x="8990838" y="2651760"/>
            <a:ext cx="264947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7" name="Image 7" descr="busts in silhouett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27998" y="2834640"/>
            <a:ext cx="594360" cy="594360"/>
          </a:xfrm>
          <a:prstGeom prst="rect">
            <a:avLst/>
          </a:prstGeom>
        </p:spPr>
      </p:pic>
      <p:sp>
        <p:nvSpPr>
          <p:cNvPr id="28" name="Text 17"/>
          <p:cNvSpPr txBox="1"/>
          <p:nvPr/>
        </p:nvSpPr>
        <p:spPr>
          <a:xfrm>
            <a:off x="9813798" y="2651760"/>
            <a:ext cx="17350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1"/>
                </a:solidFill>
              </a:rPr>
              <a:t>het</a:t>
            </a:r>
            <a:r>
              <a:rPr lang="en-US" sz="2000" i="1" dirty="0">
                <a:solidFill>
                  <a:schemeClr val="tx1"/>
                </a:solidFill>
              </a:rPr>
              <a:t> team</a:t>
            </a:r>
            <a:endParaRPr lang="en-US" sz="2000" dirty="0"/>
          </a:p>
        </p:txBody>
      </p:sp>
      <p:sp>
        <p:nvSpPr>
          <p:cNvPr id="29" name="Shape 18"/>
          <p:cNvSpPr/>
          <p:nvPr/>
        </p:nvSpPr>
        <p:spPr>
          <a:xfrm>
            <a:off x="548640" y="3749040"/>
            <a:ext cx="264947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0" name="Image 8" descr="receipt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800" y="3931920"/>
            <a:ext cx="594360" cy="594360"/>
          </a:xfrm>
          <a:prstGeom prst="rect">
            <a:avLst/>
          </a:prstGeom>
        </p:spPr>
      </p:pic>
      <p:sp>
        <p:nvSpPr>
          <p:cNvPr id="31" name="Text 19"/>
          <p:cNvSpPr txBox="1"/>
          <p:nvPr/>
        </p:nvSpPr>
        <p:spPr>
          <a:xfrm>
            <a:off x="1371600" y="3749040"/>
            <a:ext cx="17350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2"/>
                </a:solidFill>
              </a:rPr>
              <a:t>de</a:t>
            </a:r>
            <a:r>
              <a:rPr lang="en-US" sz="2000" i="1" dirty="0">
                <a:solidFill>
                  <a:schemeClr val="tx1"/>
                </a:solidFill>
              </a:rPr>
              <a:t> factuur</a:t>
            </a:r>
            <a:endParaRPr lang="en-US" sz="2000" dirty="0"/>
          </a:p>
        </p:txBody>
      </p:sp>
      <p:sp>
        <p:nvSpPr>
          <p:cNvPr id="32" name="Shape 20"/>
          <p:cNvSpPr/>
          <p:nvPr/>
        </p:nvSpPr>
        <p:spPr>
          <a:xfrm>
            <a:off x="3362706" y="3749040"/>
            <a:ext cx="264947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3" name="Image 9" descr="fork and knife with plat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499866" y="3931920"/>
            <a:ext cx="594360" cy="594360"/>
          </a:xfrm>
          <a:prstGeom prst="rect">
            <a:avLst/>
          </a:prstGeom>
        </p:spPr>
      </p:pic>
      <p:sp>
        <p:nvSpPr>
          <p:cNvPr id="34" name="Text 21"/>
          <p:cNvSpPr txBox="1"/>
          <p:nvPr/>
        </p:nvSpPr>
        <p:spPr>
          <a:xfrm>
            <a:off x="4185666" y="3749040"/>
            <a:ext cx="17350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2"/>
                </a:solidFill>
              </a:rPr>
              <a:t>de</a:t>
            </a:r>
            <a:r>
              <a:rPr lang="en-US" sz="2000" i="1" dirty="0">
                <a:solidFill>
                  <a:schemeClr val="tx1"/>
                </a:solidFill>
              </a:rPr>
              <a:t> kantine</a:t>
            </a:r>
            <a:endParaRPr lang="en-US" sz="2000" dirty="0"/>
          </a:p>
        </p:txBody>
      </p:sp>
      <p:sp>
        <p:nvSpPr>
          <p:cNvPr id="35" name="Shape 22"/>
          <p:cNvSpPr/>
          <p:nvPr/>
        </p:nvSpPr>
        <p:spPr>
          <a:xfrm>
            <a:off x="6176772" y="3749040"/>
            <a:ext cx="264947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6" name="Image 10" descr="money ba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13932" y="3931920"/>
            <a:ext cx="594360" cy="594360"/>
          </a:xfrm>
          <a:prstGeom prst="rect">
            <a:avLst/>
          </a:prstGeom>
        </p:spPr>
      </p:pic>
      <p:sp>
        <p:nvSpPr>
          <p:cNvPr id="37" name="Text 23"/>
          <p:cNvSpPr txBox="1"/>
          <p:nvPr/>
        </p:nvSpPr>
        <p:spPr>
          <a:xfrm>
            <a:off x="6999732" y="3749040"/>
            <a:ext cx="17350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1"/>
                </a:solidFill>
              </a:rPr>
              <a:t>het</a:t>
            </a:r>
            <a:r>
              <a:rPr lang="en-US" sz="2000" i="1" dirty="0">
                <a:solidFill>
                  <a:schemeClr val="tx1"/>
                </a:solidFill>
              </a:rPr>
              <a:t> salaris</a:t>
            </a:r>
            <a:endParaRPr lang="en-US" sz="2000" dirty="0"/>
          </a:p>
        </p:txBody>
      </p:sp>
      <p:sp>
        <p:nvSpPr>
          <p:cNvPr id="38" name="Shape 24"/>
          <p:cNvSpPr/>
          <p:nvPr/>
        </p:nvSpPr>
        <p:spPr>
          <a:xfrm>
            <a:off x="8990838" y="3749040"/>
            <a:ext cx="2649474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9" name="Image 11" descr="student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127998" y="3931920"/>
            <a:ext cx="594360" cy="594360"/>
          </a:xfrm>
          <a:prstGeom prst="rect">
            <a:avLst/>
          </a:prstGeom>
        </p:spPr>
      </p:pic>
      <p:sp>
        <p:nvSpPr>
          <p:cNvPr id="40" name="Text 25"/>
          <p:cNvSpPr txBox="1"/>
          <p:nvPr/>
        </p:nvSpPr>
        <p:spPr>
          <a:xfrm>
            <a:off x="9813798" y="3749040"/>
            <a:ext cx="173507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tx2"/>
                </a:solidFill>
              </a:rPr>
              <a:t>de</a:t>
            </a:r>
            <a:r>
              <a:rPr lang="en-US" sz="2000" i="1" dirty="0">
                <a:solidFill>
                  <a:schemeClr val="tx1"/>
                </a:solidFill>
              </a:rPr>
              <a:t> stagiair</a:t>
            </a:r>
            <a:endParaRPr lang="en-US" sz="2000" dirty="0"/>
          </a:p>
        </p:txBody>
      </p:sp>
      <p:sp>
        <p:nvSpPr>
          <p:cNvPr id="41" name="Shape 26"/>
          <p:cNvSpPr/>
          <p:nvPr/>
        </p:nvSpPr>
        <p:spPr>
          <a:xfrm>
            <a:off x="548640" y="5029200"/>
            <a:ext cx="11091672" cy="1188720"/>
          </a:xfrm>
          <a:prstGeom prst="roundRect">
            <a:avLst>
              <a:gd name="adj" fmla="val 6154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42" name="Image 12" descr="thinking face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77240" y="5212080"/>
            <a:ext cx="822960" cy="822960"/>
          </a:xfrm>
          <a:prstGeom prst="rect">
            <a:avLst/>
          </a:prstGeom>
        </p:spPr>
      </p:pic>
      <p:sp>
        <p:nvSpPr>
          <p:cNvPr id="43" name="Text 27"/>
          <p:cNvSpPr txBox="1"/>
          <p:nvPr/>
        </p:nvSpPr>
        <p:spPr>
          <a:xfrm>
            <a:off x="1828800" y="5029200"/>
            <a:ext cx="9601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Devinez le sens ! Quels mots ressemblent au français ?</a:t>
            </a:r>
            <a:endParaRPr lang="en-US" sz="18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Attention : certains mots trompent (diapo 14). Et retenez l’article : </a:t>
            </a:r>
            <a:r>
              <a:rPr lang="en-US" sz="1800" b="1" i="1" dirty="0">
                <a:solidFill>
                  <a:schemeClr val="accent1"/>
                </a:solidFill>
              </a:rPr>
              <a:t>het</a:t>
            </a:r>
            <a:r>
              <a:rPr lang="en-US" sz="1800" i="1" dirty="0">
                <a:solidFill>
                  <a:schemeClr val="tx1"/>
                </a:solidFill>
              </a:rPr>
              <a:t> contract, </a:t>
            </a:r>
            <a:r>
              <a:rPr lang="en-US" sz="1800" b="1" i="1" dirty="0">
                <a:solidFill>
                  <a:schemeClr val="accent1"/>
                </a:solidFill>
              </a:rPr>
              <a:t>het</a:t>
            </a:r>
            <a:r>
              <a:rPr lang="en-US" sz="1800" i="1" dirty="0">
                <a:solidFill>
                  <a:schemeClr val="tx1"/>
                </a:solidFill>
              </a:rPr>
              <a:t> team</a:t>
            </a:r>
            <a:r>
              <a:rPr lang="en-US" sz="1800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types d’entreprises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490472" cy="2103120"/>
          </a:xfrm>
          <a:prstGeom prst="roundRect">
            <a:avLst>
              <a:gd name="adj" fmla="val 6135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office buil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8116" y="1691640"/>
            <a:ext cx="731520" cy="7315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94360" y="2514600"/>
            <a:ext cx="1399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1"/>
                </a:solidFill>
              </a:rPr>
              <a:t>het</a:t>
            </a:r>
            <a:r>
              <a:rPr lang="en-US" sz="1500" i="1" dirty="0">
                <a:solidFill>
                  <a:schemeClr val="tx1"/>
                </a:solidFill>
              </a:rPr>
              <a:t> bedrijf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594360" y="3108960"/>
            <a:ext cx="1399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l’entreprise (courant)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2148840" y="1554480"/>
            <a:ext cx="1490472" cy="2103120"/>
          </a:xfrm>
          <a:prstGeom prst="roundRect">
            <a:avLst>
              <a:gd name="adj" fmla="val 6135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briefca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8316" y="1691640"/>
            <a:ext cx="731520" cy="7315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2194560" y="2514600"/>
            <a:ext cx="1399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de</a:t>
            </a:r>
            <a:r>
              <a:rPr lang="en-US" sz="1500" i="1" dirty="0">
                <a:solidFill>
                  <a:schemeClr val="tx1"/>
                </a:solidFill>
              </a:rPr>
              <a:t> onderneming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2194560" y="3108960"/>
            <a:ext cx="1399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l’entreprise (formel)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3749040" y="1554480"/>
            <a:ext cx="1490472" cy="2103120"/>
          </a:xfrm>
          <a:prstGeom prst="roundRect">
            <a:avLst>
              <a:gd name="adj" fmla="val 6135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4" name="Image 2" descr="convenience stor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8516" y="1691640"/>
            <a:ext cx="731520" cy="7315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3794760" y="2514600"/>
            <a:ext cx="1399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de</a:t>
            </a:r>
            <a:r>
              <a:rPr lang="en-US" sz="1500" i="1" dirty="0">
                <a:solidFill>
                  <a:schemeClr val="tx1"/>
                </a:solidFill>
              </a:rPr>
              <a:t> kmo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3794760" y="3108960"/>
            <a:ext cx="1399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la PME</a:t>
            </a:r>
            <a:endParaRPr lang="en-US" sz="1100" dirty="0"/>
          </a:p>
        </p:txBody>
      </p:sp>
      <p:sp>
        <p:nvSpPr>
          <p:cNvPr id="17" name="Shape 11"/>
          <p:cNvSpPr/>
          <p:nvPr/>
        </p:nvSpPr>
        <p:spPr>
          <a:xfrm>
            <a:off x="5349240" y="1554480"/>
            <a:ext cx="1490472" cy="2103120"/>
          </a:xfrm>
          <a:prstGeom prst="roundRect">
            <a:avLst>
              <a:gd name="adj" fmla="val 6135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8" name="Image 3" descr="globe showing europe afric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28716" y="1691640"/>
            <a:ext cx="731520" cy="73152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394960" y="2514600"/>
            <a:ext cx="1399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de</a:t>
            </a:r>
            <a:r>
              <a:rPr lang="en-US" sz="1500" i="1" dirty="0">
                <a:solidFill>
                  <a:schemeClr val="tx1"/>
                </a:solidFill>
              </a:rPr>
              <a:t> multinational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5394960" y="3108960"/>
            <a:ext cx="1399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la multinationale</a:t>
            </a:r>
            <a:endParaRPr lang="en-US" sz="1100" dirty="0"/>
          </a:p>
        </p:txBody>
      </p:sp>
      <p:sp>
        <p:nvSpPr>
          <p:cNvPr id="21" name="Shape 14"/>
          <p:cNvSpPr/>
          <p:nvPr/>
        </p:nvSpPr>
        <p:spPr>
          <a:xfrm>
            <a:off x="6949440" y="1554480"/>
            <a:ext cx="1490472" cy="2103120"/>
          </a:xfrm>
          <a:prstGeom prst="roundRect">
            <a:avLst>
              <a:gd name="adj" fmla="val 6135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4" descr="technologis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28916" y="1691640"/>
            <a:ext cx="731520" cy="73152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6995160" y="2514600"/>
            <a:ext cx="1399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de</a:t>
            </a:r>
            <a:r>
              <a:rPr lang="en-US" sz="1500" i="1" dirty="0">
                <a:solidFill>
                  <a:schemeClr val="tx1"/>
                </a:solidFill>
              </a:rPr>
              <a:t> zelfstandige</a:t>
            </a:r>
            <a:endParaRPr lang="en-US" sz="1500" dirty="0"/>
          </a:p>
        </p:txBody>
      </p:sp>
      <p:sp>
        <p:nvSpPr>
          <p:cNvPr id="24" name="Text 16"/>
          <p:cNvSpPr txBox="1"/>
          <p:nvPr/>
        </p:nvSpPr>
        <p:spPr>
          <a:xfrm>
            <a:off x="6995160" y="3108960"/>
            <a:ext cx="1399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l’indépendant·e</a:t>
            </a:r>
            <a:endParaRPr lang="en-US" sz="1100" dirty="0"/>
          </a:p>
        </p:txBody>
      </p:sp>
      <p:sp>
        <p:nvSpPr>
          <p:cNvPr id="25" name="Shape 17"/>
          <p:cNvSpPr/>
          <p:nvPr/>
        </p:nvSpPr>
        <p:spPr>
          <a:xfrm>
            <a:off x="8549640" y="1554480"/>
            <a:ext cx="1490472" cy="2103120"/>
          </a:xfrm>
          <a:prstGeom prst="roundRect">
            <a:avLst>
              <a:gd name="adj" fmla="val 6135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6" name="Image 5" descr="classical buildi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29116" y="1691640"/>
            <a:ext cx="731520" cy="731520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8595360" y="2514600"/>
            <a:ext cx="1399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de</a:t>
            </a:r>
            <a:r>
              <a:rPr lang="en-US" sz="1500" i="1" dirty="0">
                <a:solidFill>
                  <a:schemeClr val="tx1"/>
                </a:solidFill>
              </a:rPr>
              <a:t> overheid</a:t>
            </a:r>
            <a:endParaRPr lang="en-US" sz="1500" dirty="0"/>
          </a:p>
        </p:txBody>
      </p:sp>
      <p:sp>
        <p:nvSpPr>
          <p:cNvPr id="28" name="Text 19"/>
          <p:cNvSpPr txBox="1"/>
          <p:nvPr/>
        </p:nvSpPr>
        <p:spPr>
          <a:xfrm>
            <a:off x="8595360" y="3108960"/>
            <a:ext cx="1399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le secteur public</a:t>
            </a:r>
            <a:endParaRPr lang="en-US" sz="1100" dirty="0"/>
          </a:p>
        </p:txBody>
      </p:sp>
      <p:sp>
        <p:nvSpPr>
          <p:cNvPr id="29" name="Shape 20"/>
          <p:cNvSpPr/>
          <p:nvPr/>
        </p:nvSpPr>
        <p:spPr>
          <a:xfrm>
            <a:off x="10149840" y="1554480"/>
            <a:ext cx="1490472" cy="2103120"/>
          </a:xfrm>
          <a:prstGeom prst="roundRect">
            <a:avLst>
              <a:gd name="adj" fmla="val 6135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0" name="Image 6" descr="handshak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529316" y="1691640"/>
            <a:ext cx="731520" cy="731520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10195560" y="2514600"/>
            <a:ext cx="1399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de</a:t>
            </a:r>
            <a:r>
              <a:rPr lang="en-US" sz="1500" i="1" dirty="0">
                <a:solidFill>
                  <a:schemeClr val="tx1"/>
                </a:solidFill>
              </a:rPr>
              <a:t> vzw</a:t>
            </a:r>
            <a:endParaRPr lang="en-US" sz="1500" dirty="0"/>
          </a:p>
        </p:txBody>
      </p:sp>
      <p:sp>
        <p:nvSpPr>
          <p:cNvPr id="32" name="Text 22"/>
          <p:cNvSpPr txBox="1"/>
          <p:nvPr/>
        </p:nvSpPr>
        <p:spPr>
          <a:xfrm>
            <a:off x="10195560" y="3108960"/>
            <a:ext cx="1399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l’ASBL</a:t>
            </a:r>
            <a:endParaRPr lang="en-US" sz="1100" dirty="0"/>
          </a:p>
        </p:txBody>
      </p:sp>
      <p:sp>
        <p:nvSpPr>
          <p:cNvPr id="33" name="Text 23"/>
          <p:cNvSpPr txBox="1"/>
          <p:nvPr/>
        </p:nvSpPr>
        <p:spPr>
          <a:xfrm>
            <a:off x="548640" y="3840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chemeClr val="accent5"/>
                </a:solidFill>
              </a:rPr>
              <a:t>FORMES JURIDIQUES (Belgique)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548640" y="4206240"/>
            <a:ext cx="3593592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25"/>
          <p:cNvSpPr txBox="1"/>
          <p:nvPr/>
        </p:nvSpPr>
        <p:spPr>
          <a:xfrm>
            <a:off x="685800" y="425196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SA</a:t>
            </a:r>
            <a:r>
              <a:rPr lang="en-US" sz="2000" dirty="0">
                <a:solidFill>
                  <a:schemeClr val="tx2"/>
                </a:solidFill>
              </a:rPr>
              <a:t> = </a:t>
            </a:r>
            <a:r>
              <a:rPr lang="en-US" sz="2000" b="1" dirty="0">
                <a:solidFill>
                  <a:schemeClr val="tx2"/>
                </a:solidFill>
              </a:rPr>
              <a:t>nv</a:t>
            </a:r>
            <a:endParaRPr lang="en-US" sz="2000" dirty="0"/>
          </a:p>
        </p:txBody>
      </p:sp>
      <p:sp>
        <p:nvSpPr>
          <p:cNvPr id="36" name="Text 26"/>
          <p:cNvSpPr txBox="1"/>
          <p:nvPr/>
        </p:nvSpPr>
        <p:spPr>
          <a:xfrm>
            <a:off x="685800" y="46817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naamloze vennootschap</a:t>
            </a:r>
            <a:endParaRPr lang="en-US" sz="1300" dirty="0"/>
          </a:p>
        </p:txBody>
      </p:sp>
      <p:sp>
        <p:nvSpPr>
          <p:cNvPr id="37" name="Shape 27"/>
          <p:cNvSpPr/>
          <p:nvPr/>
        </p:nvSpPr>
        <p:spPr>
          <a:xfrm>
            <a:off x="4297680" y="4206240"/>
            <a:ext cx="3593592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8" name="Text 28"/>
          <p:cNvSpPr txBox="1"/>
          <p:nvPr/>
        </p:nvSpPr>
        <p:spPr>
          <a:xfrm>
            <a:off x="4434840" y="425196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SRL</a:t>
            </a:r>
            <a:r>
              <a:rPr lang="en-US" sz="2000" dirty="0">
                <a:solidFill>
                  <a:schemeClr val="tx2"/>
                </a:solidFill>
              </a:rPr>
              <a:t> = </a:t>
            </a:r>
            <a:r>
              <a:rPr lang="en-US" sz="2000" b="1" dirty="0">
                <a:solidFill>
                  <a:schemeClr val="tx2"/>
                </a:solidFill>
              </a:rPr>
              <a:t>bv</a:t>
            </a:r>
            <a:endParaRPr lang="en-US" sz="2000" dirty="0"/>
          </a:p>
        </p:txBody>
      </p:sp>
      <p:sp>
        <p:nvSpPr>
          <p:cNvPr id="39" name="Text 29"/>
          <p:cNvSpPr txBox="1"/>
          <p:nvPr/>
        </p:nvSpPr>
        <p:spPr>
          <a:xfrm>
            <a:off x="4434840" y="46817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besloten vennootschap (depuis 2019)</a:t>
            </a:r>
            <a:endParaRPr lang="en-US" sz="1300" dirty="0"/>
          </a:p>
        </p:txBody>
      </p:sp>
      <p:sp>
        <p:nvSpPr>
          <p:cNvPr id="40" name="Shape 30"/>
          <p:cNvSpPr/>
          <p:nvPr/>
        </p:nvSpPr>
        <p:spPr>
          <a:xfrm>
            <a:off x="8046720" y="4206240"/>
            <a:ext cx="3593592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1" name="Text 31"/>
          <p:cNvSpPr txBox="1"/>
          <p:nvPr/>
        </p:nvSpPr>
        <p:spPr>
          <a:xfrm>
            <a:off x="8183880" y="425196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ASBL</a:t>
            </a:r>
            <a:r>
              <a:rPr lang="en-US" sz="2000" dirty="0">
                <a:solidFill>
                  <a:schemeClr val="tx2"/>
                </a:solidFill>
              </a:rPr>
              <a:t> = </a:t>
            </a:r>
            <a:r>
              <a:rPr lang="en-US" sz="2000" b="1" dirty="0">
                <a:solidFill>
                  <a:schemeClr val="tx2"/>
                </a:solidFill>
              </a:rPr>
              <a:t>vzw</a:t>
            </a:r>
            <a:endParaRPr lang="en-US" sz="2000" dirty="0"/>
          </a:p>
        </p:txBody>
      </p:sp>
      <p:sp>
        <p:nvSpPr>
          <p:cNvPr id="42" name="Text 32"/>
          <p:cNvSpPr txBox="1"/>
          <p:nvPr/>
        </p:nvSpPr>
        <p:spPr>
          <a:xfrm>
            <a:off x="8183880" y="468172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vereniging zonder winstoogmerk</a:t>
            </a:r>
            <a:endParaRPr lang="en-US" sz="1300" dirty="0"/>
          </a:p>
        </p:txBody>
      </p:sp>
      <p:sp>
        <p:nvSpPr>
          <p:cNvPr id="43" name="Shape 33"/>
          <p:cNvSpPr/>
          <p:nvPr/>
        </p:nvSpPr>
        <p:spPr>
          <a:xfrm>
            <a:off x="548640" y="548640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4"/>
          <p:cNvSpPr txBox="1"/>
          <p:nvPr/>
        </p:nvSpPr>
        <p:spPr>
          <a:xfrm>
            <a:off x="822960" y="548640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Ik werk bij een kmo. · Ik ben zelfstandige. · Ik werk bij de overheid.</a:t>
            </a:r>
            <a:r>
              <a:rPr lang="en-US" sz="1700" dirty="0">
                <a:solidFill>
                  <a:schemeClr val="bg1"/>
                </a:solidFill>
              </a:rPr>
              <a:t> — NL : </a:t>
            </a:r>
            <a:r>
              <a:rPr lang="en-US" sz="1700" i="1" dirty="0">
                <a:solidFill>
                  <a:schemeClr val="bg1"/>
                </a:solidFill>
              </a:rPr>
              <a:t>het mkb</a:t>
            </a:r>
            <a:r>
              <a:rPr lang="en-US" sz="1700" dirty="0">
                <a:solidFill>
                  <a:schemeClr val="bg1"/>
                </a:solidFill>
              </a:rPr>
              <a:t> (= </a:t>
            </a:r>
            <a:r>
              <a:rPr lang="en-US" sz="1700" i="1" dirty="0">
                <a:solidFill>
                  <a:schemeClr val="bg1"/>
                </a:solidFill>
              </a:rPr>
              <a:t>de kmo</a:t>
            </a:r>
            <a:r>
              <a:rPr lang="en-US" sz="1700" dirty="0">
                <a:solidFill>
                  <a:schemeClr val="bg1"/>
                </a:solidFill>
              </a:rPr>
              <a:t>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L’organigramme de Peeters &amp; Co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4448556" y="1508760"/>
            <a:ext cx="3291840" cy="68580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448556" y="150876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de directie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de zaakvoerder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094476" y="2194560"/>
            <a:ext cx="914" cy="20574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427226" y="2400300"/>
            <a:ext cx="933450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427226" y="2400300"/>
            <a:ext cx="914" cy="20574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2606040"/>
            <a:ext cx="1757172" cy="2514600"/>
          </a:xfrm>
          <a:prstGeom prst="roundRect">
            <a:avLst>
              <a:gd name="adj" fmla="val 416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1" name="Image 0" descr="ledg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2906" y="2697480"/>
            <a:ext cx="548640" cy="5486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94360" y="3291840"/>
            <a:ext cx="16657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2"/>
                </a:solidFill>
              </a:rPr>
              <a:t>de</a:t>
            </a:r>
            <a:r>
              <a:rPr lang="en-US" sz="1400" i="1" dirty="0">
                <a:solidFill>
                  <a:schemeClr val="tx1"/>
                </a:solidFill>
              </a:rPr>
              <a:t> boekhouding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594360" y="3840480"/>
            <a:ext cx="16657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la comptabilité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40080" y="4663440"/>
            <a:ext cx="1574292" cy="347472"/>
          </a:xfrm>
          <a:prstGeom prst="roundRect">
            <a:avLst>
              <a:gd name="adj" fmla="val 21053"/>
            </a:avLst>
          </a:prstGeom>
          <a:solidFill>
            <a:schemeClr val="accent3">
              <a:alpha val="1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40080" y="4663440"/>
            <a:ext cx="15742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An, Karim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3294126" y="2400300"/>
            <a:ext cx="914" cy="20574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2415540" y="2606040"/>
            <a:ext cx="1757172" cy="2514600"/>
          </a:xfrm>
          <a:prstGeom prst="roundRect">
            <a:avLst>
              <a:gd name="adj" fmla="val 416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8" name="Image 1" descr="busts in silhouet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9806" y="2697480"/>
            <a:ext cx="548640" cy="54864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2461260" y="3291840"/>
            <a:ext cx="16657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2"/>
                </a:solidFill>
              </a:rPr>
              <a:t>de</a:t>
            </a:r>
            <a:r>
              <a:rPr lang="en-US" sz="1400" i="1" dirty="0">
                <a:solidFill>
                  <a:schemeClr val="tx1"/>
                </a:solidFill>
              </a:rPr>
              <a:t> personeelsdienst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2461260" y="3840480"/>
            <a:ext cx="16657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les RH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2506980" y="4663440"/>
            <a:ext cx="1574292" cy="347472"/>
          </a:xfrm>
          <a:prstGeom prst="roundRect">
            <a:avLst>
              <a:gd name="adj" fmla="val 21053"/>
            </a:avLst>
          </a:prstGeom>
          <a:solidFill>
            <a:schemeClr val="accent3">
              <a:alpha val="1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2506980" y="4663440"/>
            <a:ext cx="15742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Sofie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5161026" y="2400300"/>
            <a:ext cx="914" cy="20574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4282440" y="2606040"/>
            <a:ext cx="1757172" cy="2514600"/>
          </a:xfrm>
          <a:prstGeom prst="roundRect">
            <a:avLst>
              <a:gd name="adj" fmla="val 416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5" name="Image 2" descr="handshak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6706" y="2697480"/>
            <a:ext cx="548640" cy="548640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4328160" y="3291840"/>
            <a:ext cx="16657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2"/>
                </a:solidFill>
              </a:rPr>
              <a:t>de</a:t>
            </a:r>
            <a:r>
              <a:rPr lang="en-US" sz="1400" i="1" dirty="0">
                <a:solidFill>
                  <a:schemeClr val="tx1"/>
                </a:solidFill>
              </a:rPr>
              <a:t> verkoop</a:t>
            </a:r>
            <a:endParaRPr lang="en-US" sz="1400" dirty="0"/>
          </a:p>
        </p:txBody>
      </p:sp>
      <p:sp>
        <p:nvSpPr>
          <p:cNvPr id="27" name="Text 21"/>
          <p:cNvSpPr txBox="1"/>
          <p:nvPr/>
        </p:nvSpPr>
        <p:spPr>
          <a:xfrm>
            <a:off x="4328160" y="3840480"/>
            <a:ext cx="16657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la vente</a:t>
            </a:r>
            <a:endParaRPr lang="en-US" sz="1200" dirty="0"/>
          </a:p>
        </p:txBody>
      </p:sp>
      <p:sp>
        <p:nvSpPr>
          <p:cNvPr id="28" name="Shape 22"/>
          <p:cNvSpPr/>
          <p:nvPr/>
        </p:nvSpPr>
        <p:spPr>
          <a:xfrm>
            <a:off x="7027926" y="2400300"/>
            <a:ext cx="914" cy="20574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6149340" y="2606040"/>
            <a:ext cx="1757172" cy="2514600"/>
          </a:xfrm>
          <a:prstGeom prst="roundRect">
            <a:avLst>
              <a:gd name="adj" fmla="val 416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0" name="Image 3" descr="shopping car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3606" y="2697480"/>
            <a:ext cx="548640" cy="548640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6195060" y="3291840"/>
            <a:ext cx="16657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2"/>
                </a:solidFill>
              </a:rPr>
              <a:t>de</a:t>
            </a:r>
            <a:r>
              <a:rPr lang="en-US" sz="1400" i="1" dirty="0">
                <a:solidFill>
                  <a:schemeClr val="tx1"/>
                </a:solidFill>
              </a:rPr>
              <a:t> aankoop</a:t>
            </a:r>
            <a:endParaRPr lang="en-US" sz="1400" dirty="0"/>
          </a:p>
        </p:txBody>
      </p:sp>
      <p:sp>
        <p:nvSpPr>
          <p:cNvPr id="32" name="Text 25"/>
          <p:cNvSpPr txBox="1"/>
          <p:nvPr/>
        </p:nvSpPr>
        <p:spPr>
          <a:xfrm>
            <a:off x="6195060" y="3840480"/>
            <a:ext cx="16657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les achats</a:t>
            </a:r>
            <a:endParaRPr lang="en-US" sz="1200" dirty="0"/>
          </a:p>
        </p:txBody>
      </p:sp>
      <p:sp>
        <p:nvSpPr>
          <p:cNvPr id="33" name="Shape 26"/>
          <p:cNvSpPr/>
          <p:nvPr/>
        </p:nvSpPr>
        <p:spPr>
          <a:xfrm>
            <a:off x="8894826" y="2400300"/>
            <a:ext cx="914" cy="20574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34" name="Shape 27"/>
          <p:cNvSpPr/>
          <p:nvPr/>
        </p:nvSpPr>
        <p:spPr>
          <a:xfrm>
            <a:off x="8016240" y="2606040"/>
            <a:ext cx="1757172" cy="2514600"/>
          </a:xfrm>
          <a:prstGeom prst="roundRect">
            <a:avLst>
              <a:gd name="adj" fmla="val 416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5" name="Image 4" descr="chart increasi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20506" y="2697480"/>
            <a:ext cx="548640" cy="548640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8061960" y="3291840"/>
            <a:ext cx="16657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2"/>
                </a:solidFill>
              </a:rPr>
              <a:t>de</a:t>
            </a:r>
            <a:r>
              <a:rPr lang="en-US" sz="1400" i="1" dirty="0">
                <a:solidFill>
                  <a:schemeClr val="tx1"/>
                </a:solidFill>
              </a:rPr>
              <a:t> marketing</a:t>
            </a:r>
            <a:endParaRPr lang="en-US" sz="1400" dirty="0"/>
          </a:p>
        </p:txBody>
      </p:sp>
      <p:sp>
        <p:nvSpPr>
          <p:cNvPr id="37" name="Text 29"/>
          <p:cNvSpPr txBox="1"/>
          <p:nvPr/>
        </p:nvSpPr>
        <p:spPr>
          <a:xfrm>
            <a:off x="8061960" y="3840480"/>
            <a:ext cx="16657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le marketing</a:t>
            </a:r>
            <a:endParaRPr lang="en-US" sz="1200" dirty="0"/>
          </a:p>
        </p:txBody>
      </p:sp>
      <p:sp>
        <p:nvSpPr>
          <p:cNvPr id="38" name="Shape 30"/>
          <p:cNvSpPr/>
          <p:nvPr/>
        </p:nvSpPr>
        <p:spPr>
          <a:xfrm>
            <a:off x="8107680" y="4663440"/>
            <a:ext cx="1574292" cy="347472"/>
          </a:xfrm>
          <a:prstGeom prst="roundRect">
            <a:avLst>
              <a:gd name="adj" fmla="val 21053"/>
            </a:avLst>
          </a:prstGeom>
          <a:solidFill>
            <a:schemeClr val="accent3">
              <a:alpha val="1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1"/>
          <p:cNvSpPr txBox="1"/>
          <p:nvPr/>
        </p:nvSpPr>
        <p:spPr>
          <a:xfrm>
            <a:off x="8107680" y="4663440"/>
            <a:ext cx="15742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Lotte (stagiaire)</a:t>
            </a:r>
            <a:endParaRPr lang="en-US" sz="1100" dirty="0"/>
          </a:p>
        </p:txBody>
      </p:sp>
      <p:sp>
        <p:nvSpPr>
          <p:cNvPr id="40" name="Shape 32"/>
          <p:cNvSpPr/>
          <p:nvPr/>
        </p:nvSpPr>
        <p:spPr>
          <a:xfrm>
            <a:off x="10761726" y="2400300"/>
            <a:ext cx="914" cy="20574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41" name="Shape 33"/>
          <p:cNvSpPr/>
          <p:nvPr/>
        </p:nvSpPr>
        <p:spPr>
          <a:xfrm>
            <a:off x="9883140" y="2606040"/>
            <a:ext cx="1757172" cy="2514600"/>
          </a:xfrm>
          <a:prstGeom prst="roundRect">
            <a:avLst>
              <a:gd name="adj" fmla="val 416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42" name="Image 5" descr="laptop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87406" y="2697480"/>
            <a:ext cx="548640" cy="548640"/>
          </a:xfrm>
          <a:prstGeom prst="rect">
            <a:avLst/>
          </a:prstGeom>
        </p:spPr>
      </p:pic>
      <p:sp>
        <p:nvSpPr>
          <p:cNvPr id="43" name="Text 34"/>
          <p:cNvSpPr txBox="1"/>
          <p:nvPr/>
        </p:nvSpPr>
        <p:spPr>
          <a:xfrm>
            <a:off x="9928860" y="3291840"/>
            <a:ext cx="16657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2"/>
                </a:solidFill>
              </a:rPr>
              <a:t>de</a:t>
            </a:r>
            <a:r>
              <a:rPr lang="en-US" sz="1400" i="1" dirty="0">
                <a:solidFill>
                  <a:schemeClr val="tx1"/>
                </a:solidFill>
              </a:rPr>
              <a:t> IT-dienst</a:t>
            </a:r>
            <a:endParaRPr lang="en-US" sz="1400" dirty="0"/>
          </a:p>
        </p:txBody>
      </p:sp>
      <p:sp>
        <p:nvSpPr>
          <p:cNvPr id="44" name="Text 35"/>
          <p:cNvSpPr txBox="1"/>
          <p:nvPr/>
        </p:nvSpPr>
        <p:spPr>
          <a:xfrm>
            <a:off x="9928860" y="3840480"/>
            <a:ext cx="16657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l’informatique</a:t>
            </a:r>
            <a:endParaRPr lang="en-US" sz="1200" dirty="0"/>
          </a:p>
        </p:txBody>
      </p:sp>
      <p:sp>
        <p:nvSpPr>
          <p:cNvPr id="45" name="Shape 36"/>
          <p:cNvSpPr/>
          <p:nvPr/>
        </p:nvSpPr>
        <p:spPr>
          <a:xfrm>
            <a:off x="548640" y="5257800"/>
            <a:ext cx="11091672" cy="960120"/>
          </a:xfrm>
          <a:prstGeom prst="roundRect">
            <a:avLst>
              <a:gd name="adj" fmla="val 9524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6" name="Text 37"/>
          <p:cNvSpPr txBox="1"/>
          <p:nvPr/>
        </p:nvSpPr>
        <p:spPr>
          <a:xfrm>
            <a:off x="777240" y="5257800"/>
            <a:ext cx="10698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Op welke afdeling werk je? — Ik werk </a:t>
            </a:r>
            <a:r>
              <a:rPr lang="en-US" sz="1600" b="1" i="1" dirty="0">
                <a:solidFill>
                  <a:schemeClr val="tx1"/>
                </a:solidFill>
              </a:rPr>
              <a:t>op</a:t>
            </a:r>
            <a:r>
              <a:rPr lang="en-US" sz="1600" i="1" dirty="0">
                <a:solidFill>
                  <a:schemeClr val="tx1"/>
                </a:solidFill>
              </a:rPr>
              <a:t> de boekhouding. · Ik werk </a:t>
            </a:r>
            <a:r>
              <a:rPr lang="en-US" sz="1600" b="1" i="1" dirty="0">
                <a:solidFill>
                  <a:schemeClr val="tx1"/>
                </a:solidFill>
              </a:rPr>
              <a:t>bij</a:t>
            </a:r>
            <a:r>
              <a:rPr lang="en-US" sz="1600" i="1" dirty="0">
                <a:solidFill>
                  <a:schemeClr val="tx1"/>
                </a:solidFill>
              </a:rPr>
              <a:t> de personeelsdienst.</a:t>
            </a:r>
            <a:endParaRPr lang="en-US" sz="16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de afdeling</a:t>
            </a:r>
            <a:r>
              <a:rPr lang="en-US" sz="1600" dirty="0">
                <a:solidFill>
                  <a:schemeClr val="tx1"/>
                </a:solidFill>
              </a:rPr>
              <a:t> = le service ; en Belgique aussi </a:t>
            </a:r>
            <a:r>
              <a:rPr lang="en-US" sz="1600" i="1" dirty="0">
                <a:solidFill>
                  <a:schemeClr val="tx1"/>
                </a:solidFill>
              </a:rPr>
              <a:t>de dienst</a:t>
            </a:r>
            <a:r>
              <a:rPr lang="en-US" sz="1600" dirty="0">
                <a:solidFill>
                  <a:schemeClr val="tx1"/>
                </a:solidFill>
              </a:rPr>
              <a:t> : </a:t>
            </a:r>
            <a:r>
              <a:rPr lang="en-US" sz="1600" i="1" dirty="0">
                <a:solidFill>
                  <a:schemeClr val="tx1"/>
                </a:solidFill>
              </a:rPr>
              <a:t>de klantendienst</a:t>
            </a:r>
            <a:r>
              <a:rPr lang="en-US" sz="1600" dirty="0">
                <a:solidFill>
                  <a:schemeClr val="tx1"/>
                </a:solidFill>
              </a:rPr>
              <a:t> (service clientèle), </a:t>
            </a:r>
            <a:r>
              <a:rPr lang="en-US" sz="1600" i="1" dirty="0">
                <a:solidFill>
                  <a:schemeClr val="tx1"/>
                </a:solidFill>
              </a:rPr>
              <a:t>het onthaal</a:t>
            </a:r>
            <a:r>
              <a:rPr lang="en-US" sz="1600" dirty="0">
                <a:solidFill>
                  <a:schemeClr val="tx1"/>
                </a:solidFill>
              </a:rPr>
              <a:t> (l’accueil)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fonctions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649474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691640"/>
            <a:ext cx="640080" cy="6400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371600" y="1691640"/>
            <a:ext cx="173507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directeur·rice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685800" y="2423160"/>
            <a:ext cx="23751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directeur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directrice</a:t>
            </a:r>
            <a:endParaRPr lang="en-US" sz="1600" dirty="0"/>
          </a:p>
        </p:txBody>
      </p:sp>
      <p:sp>
        <p:nvSpPr>
          <p:cNvPr id="9" name="Shape 5"/>
          <p:cNvSpPr/>
          <p:nvPr/>
        </p:nvSpPr>
        <p:spPr>
          <a:xfrm>
            <a:off x="3362706" y="1554480"/>
            <a:ext cx="2649474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wo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2434" y="1691640"/>
            <a:ext cx="640080" cy="64008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185666" y="1691640"/>
            <a:ext cx="173507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comptable</a:t>
            </a:r>
            <a:endParaRPr lang="en-US" sz="1300" dirty="0"/>
          </a:p>
        </p:txBody>
      </p:sp>
      <p:sp>
        <p:nvSpPr>
          <p:cNvPr id="12" name="Text 7"/>
          <p:cNvSpPr txBox="1"/>
          <p:nvPr/>
        </p:nvSpPr>
        <p:spPr>
          <a:xfrm>
            <a:off x="3499866" y="2423160"/>
            <a:ext cx="23751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boekhouder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boekhoudster</a:t>
            </a:r>
            <a:endParaRPr lang="en-US" sz="1600" dirty="0"/>
          </a:p>
        </p:txBody>
      </p:sp>
      <p:sp>
        <p:nvSpPr>
          <p:cNvPr id="13" name="Shape 8"/>
          <p:cNvSpPr/>
          <p:nvPr/>
        </p:nvSpPr>
        <p:spPr>
          <a:xfrm>
            <a:off x="6176772" y="1554480"/>
            <a:ext cx="2649474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4" name="Image 2" descr="handshak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6500" y="1691640"/>
            <a:ext cx="640080" cy="64008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999732" y="1691640"/>
            <a:ext cx="173507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vendeur·euse</a:t>
            </a:r>
            <a:endParaRPr lang="en-US" sz="1300" dirty="0"/>
          </a:p>
        </p:txBody>
      </p:sp>
      <p:sp>
        <p:nvSpPr>
          <p:cNvPr id="16" name="Text 10"/>
          <p:cNvSpPr txBox="1"/>
          <p:nvPr/>
        </p:nvSpPr>
        <p:spPr>
          <a:xfrm>
            <a:off x="6313932" y="2423160"/>
            <a:ext cx="23751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verkoper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verkoopster</a:t>
            </a:r>
            <a:endParaRPr lang="en-US" sz="1600" dirty="0"/>
          </a:p>
        </p:txBody>
      </p:sp>
      <p:sp>
        <p:nvSpPr>
          <p:cNvPr id="17" name="Shape 11"/>
          <p:cNvSpPr/>
          <p:nvPr/>
        </p:nvSpPr>
        <p:spPr>
          <a:xfrm>
            <a:off x="8990838" y="1554480"/>
            <a:ext cx="2649474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8" name="Image 3" descr="busts in silhouett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00566" y="1691640"/>
            <a:ext cx="640080" cy="64008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813798" y="1691640"/>
            <a:ext cx="173507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collaborateur·rice</a:t>
            </a:r>
            <a:endParaRPr lang="en-US" sz="1300" dirty="0"/>
          </a:p>
        </p:txBody>
      </p:sp>
      <p:sp>
        <p:nvSpPr>
          <p:cNvPr id="20" name="Text 13"/>
          <p:cNvSpPr txBox="1"/>
          <p:nvPr/>
        </p:nvSpPr>
        <p:spPr>
          <a:xfrm>
            <a:off x="9127998" y="2423160"/>
            <a:ext cx="23751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medewerker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medewerkster</a:t>
            </a:r>
            <a:endParaRPr lang="en-US" sz="1600" dirty="0"/>
          </a:p>
        </p:txBody>
      </p:sp>
      <p:sp>
        <p:nvSpPr>
          <p:cNvPr id="21" name="Shape 14"/>
          <p:cNvSpPr/>
          <p:nvPr/>
        </p:nvSpPr>
        <p:spPr>
          <a:xfrm>
            <a:off x="548640" y="3474720"/>
            <a:ext cx="2649474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4" descr="person tipping han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3611880"/>
            <a:ext cx="640080" cy="64008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1371600" y="3611880"/>
            <a:ext cx="173507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réceptionniste</a:t>
            </a:r>
            <a:endParaRPr lang="en-US" sz="1300" dirty="0"/>
          </a:p>
        </p:txBody>
      </p:sp>
      <p:sp>
        <p:nvSpPr>
          <p:cNvPr id="24" name="Text 16"/>
          <p:cNvSpPr txBox="1"/>
          <p:nvPr/>
        </p:nvSpPr>
        <p:spPr>
          <a:xfrm>
            <a:off x="685800" y="4343400"/>
            <a:ext cx="23751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onthaalmedewerker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(-ster)</a:t>
            </a:r>
            <a:endParaRPr lang="en-US" sz="1600" dirty="0"/>
          </a:p>
        </p:txBody>
      </p:sp>
      <p:sp>
        <p:nvSpPr>
          <p:cNvPr id="25" name="Shape 17"/>
          <p:cNvSpPr/>
          <p:nvPr/>
        </p:nvSpPr>
        <p:spPr>
          <a:xfrm>
            <a:off x="3362706" y="3474720"/>
            <a:ext cx="2649474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6" name="Image 5" descr="technologis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72434" y="3611880"/>
            <a:ext cx="640080" cy="640080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4185666" y="3611880"/>
            <a:ext cx="173507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informaticien·ne</a:t>
            </a:r>
            <a:endParaRPr lang="en-US" sz="1300" dirty="0"/>
          </a:p>
        </p:txBody>
      </p:sp>
      <p:sp>
        <p:nvSpPr>
          <p:cNvPr id="28" name="Text 19"/>
          <p:cNvSpPr txBox="1"/>
          <p:nvPr/>
        </p:nvSpPr>
        <p:spPr>
          <a:xfrm>
            <a:off x="3499866" y="4343400"/>
            <a:ext cx="23751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informaticus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(= de IT’er)</a:t>
            </a:r>
            <a:endParaRPr lang="en-US" sz="1600" dirty="0"/>
          </a:p>
        </p:txBody>
      </p:sp>
      <p:sp>
        <p:nvSpPr>
          <p:cNvPr id="29" name="Shape 20"/>
          <p:cNvSpPr/>
          <p:nvPr/>
        </p:nvSpPr>
        <p:spPr>
          <a:xfrm>
            <a:off x="6176772" y="3474720"/>
            <a:ext cx="2649474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0" name="Image 6" descr="studen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6500" y="3611880"/>
            <a:ext cx="640080" cy="640080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6999732" y="3611880"/>
            <a:ext cx="173507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stagiaire</a:t>
            </a:r>
            <a:endParaRPr lang="en-US" sz="1300" dirty="0"/>
          </a:p>
        </p:txBody>
      </p:sp>
      <p:sp>
        <p:nvSpPr>
          <p:cNvPr id="32" name="Text 22"/>
          <p:cNvSpPr txBox="1"/>
          <p:nvPr/>
        </p:nvSpPr>
        <p:spPr>
          <a:xfrm>
            <a:off x="6313932" y="4343400"/>
            <a:ext cx="23751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stagiair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stagiaire</a:t>
            </a:r>
            <a:endParaRPr lang="en-US" sz="1600" dirty="0"/>
          </a:p>
        </p:txBody>
      </p:sp>
      <p:sp>
        <p:nvSpPr>
          <p:cNvPr id="33" name="Shape 23"/>
          <p:cNvSpPr/>
          <p:nvPr/>
        </p:nvSpPr>
        <p:spPr>
          <a:xfrm>
            <a:off x="8990838" y="3474720"/>
            <a:ext cx="2649474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4" name="Image 7" descr="bust in silhouett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00566" y="3611880"/>
            <a:ext cx="640080" cy="640080"/>
          </a:xfrm>
          <a:prstGeom prst="rect">
            <a:avLst/>
          </a:prstGeom>
        </p:spPr>
      </p:pic>
      <p:sp>
        <p:nvSpPr>
          <p:cNvPr id="35" name="Text 24"/>
          <p:cNvSpPr txBox="1"/>
          <p:nvPr/>
        </p:nvSpPr>
        <p:spPr>
          <a:xfrm>
            <a:off x="9813798" y="3611880"/>
            <a:ext cx="173507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chef·fe de service</a:t>
            </a:r>
            <a:endParaRPr lang="en-US" sz="1300" dirty="0"/>
          </a:p>
        </p:txBody>
      </p:sp>
      <p:sp>
        <p:nvSpPr>
          <p:cNvPr id="36" name="Text 25"/>
          <p:cNvSpPr txBox="1"/>
          <p:nvPr/>
        </p:nvSpPr>
        <p:spPr>
          <a:xfrm>
            <a:off x="9127998" y="4343400"/>
            <a:ext cx="23751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het</a:t>
            </a:r>
            <a:r>
              <a:rPr lang="en-US" sz="1600" i="1" dirty="0">
                <a:solidFill>
                  <a:schemeClr val="tx1"/>
                </a:solidFill>
              </a:rPr>
              <a:t> afdelingshoofd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endParaRPr lang="en-US" sz="1600" dirty="0"/>
          </a:p>
        </p:txBody>
      </p:sp>
      <p:sp>
        <p:nvSpPr>
          <p:cNvPr id="37" name="Shape 26"/>
          <p:cNvSpPr/>
          <p:nvPr/>
        </p:nvSpPr>
        <p:spPr>
          <a:xfrm>
            <a:off x="548640" y="548640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7"/>
          <p:cNvSpPr txBox="1"/>
          <p:nvPr/>
        </p:nvSpPr>
        <p:spPr>
          <a:xfrm>
            <a:off x="822960" y="548640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bg1"/>
                </a:solidFill>
              </a:rPr>
              <a:t>Wat doe je? — Ik ben boekhouder.</a:t>
            </a:r>
            <a:r>
              <a:rPr lang="en-US" sz="1800" dirty="0">
                <a:solidFill>
                  <a:schemeClr val="bg1"/>
                </a:solidFill>
              </a:rPr>
              <a:t> (sans </a:t>
            </a:r>
            <a:r>
              <a:rPr lang="en-US" sz="1800" i="1" dirty="0">
                <a:solidFill>
                  <a:schemeClr val="bg1"/>
                </a:solidFill>
              </a:rPr>
              <a:t>een</a:t>
            </a:r>
            <a:r>
              <a:rPr lang="en-US" sz="1800" dirty="0">
                <a:solidFill>
                  <a:schemeClr val="bg1"/>
                </a:solidFill>
              </a:rPr>
              <a:t>, M2) · féminin : </a:t>
            </a:r>
            <a:r>
              <a:rPr lang="en-US" sz="1800" i="1" dirty="0">
                <a:solidFill>
                  <a:schemeClr val="bg1"/>
                </a:solidFill>
              </a:rPr>
              <a:t>-ster, -e, -rice</a:t>
            </a:r>
            <a:r>
              <a:rPr lang="en-US" sz="1800" dirty="0">
                <a:solidFill>
                  <a:schemeClr val="bg1"/>
                </a:solidFill>
              </a:rPr>
              <a:t> (M7)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Werkgever, werknemer… les rôles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3200400"/>
          </a:xfrm>
          <a:prstGeom prst="roundRect">
            <a:avLst>
              <a:gd name="adj" fmla="val 285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783080"/>
            <a:ext cx="1097280" cy="1097280"/>
          </a:xfrm>
          <a:prstGeom prst="rect">
            <a:avLst/>
          </a:prstGeom>
        </p:spPr>
      </p:pic>
      <p:pic>
        <p:nvPicPr>
          <p:cNvPr id="7" name="Image 1" descr="wo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1783080"/>
            <a:ext cx="1097280" cy="1097280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2103120" y="2148840"/>
            <a:ext cx="2926080" cy="914"/>
          </a:xfrm>
          <a:prstGeom prst="line">
            <a:avLst/>
          </a:prstGeom>
          <a:noFill/>
          <a:ln w="4445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9" name="Text 4"/>
          <p:cNvSpPr txBox="1"/>
          <p:nvPr/>
        </p:nvSpPr>
        <p:spPr>
          <a:xfrm>
            <a:off x="2103120" y="16916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geeft</a:t>
            </a:r>
            <a:r>
              <a:rPr lang="en-US" sz="1500" b="1" dirty="0">
                <a:solidFill>
                  <a:schemeClr val="accent3"/>
                </a:solidFill>
              </a:rPr>
              <a:t> werk →</a:t>
            </a:r>
            <a:endParaRPr lang="en-US" sz="1500" dirty="0"/>
          </a:p>
        </p:txBody>
      </p:sp>
      <p:sp>
        <p:nvSpPr>
          <p:cNvPr id="10" name="Shape 5"/>
          <p:cNvSpPr/>
          <p:nvPr/>
        </p:nvSpPr>
        <p:spPr>
          <a:xfrm flipH="1">
            <a:off x="2103120" y="2606040"/>
            <a:ext cx="2926080" cy="914"/>
          </a:xfrm>
          <a:prstGeom prst="line">
            <a:avLst/>
          </a:prstGeom>
          <a:noFill/>
          <a:ln w="444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1" name="Text 6"/>
          <p:cNvSpPr txBox="1"/>
          <p:nvPr/>
        </p:nvSpPr>
        <p:spPr>
          <a:xfrm>
            <a:off x="2103120" y="265176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← </a:t>
            </a:r>
            <a:r>
              <a:rPr lang="en-US" sz="1500" b="1" i="1" dirty="0">
                <a:solidFill>
                  <a:schemeClr val="accent1"/>
                </a:solidFill>
              </a:rPr>
              <a:t>neemt</a:t>
            </a:r>
            <a:r>
              <a:rPr lang="en-US" sz="1500" b="1" dirty="0">
                <a:solidFill>
                  <a:schemeClr val="accent1"/>
                </a:solidFill>
              </a:rPr>
              <a:t> werk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640080" y="306324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de werkgever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werk</a:t>
            </a:r>
            <a:r>
              <a:rPr lang="en-US" sz="1600" dirty="0">
                <a:solidFill>
                  <a:schemeClr val="tx1"/>
                </a:solidFill>
              </a:rPr>
              <a:t> + </a:t>
            </a:r>
            <a:r>
              <a:rPr lang="en-US" sz="1600" i="1" dirty="0">
                <a:solidFill>
                  <a:schemeClr val="tx1"/>
                </a:solidFill>
              </a:rPr>
              <a:t>geven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l’employeur</a:t>
            </a:r>
            <a:endParaRPr lang="en-US" sz="1600" dirty="0"/>
          </a:p>
        </p:txBody>
      </p:sp>
      <p:sp>
        <p:nvSpPr>
          <p:cNvPr id="13" name="Text 8"/>
          <p:cNvSpPr txBox="1"/>
          <p:nvPr/>
        </p:nvSpPr>
        <p:spPr>
          <a:xfrm>
            <a:off x="4114800" y="306324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de werknemer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werk</a:t>
            </a:r>
            <a:r>
              <a:rPr lang="en-US" sz="1600" dirty="0">
                <a:solidFill>
                  <a:schemeClr val="tx1"/>
                </a:solidFill>
              </a:rPr>
              <a:t> + </a:t>
            </a:r>
            <a:r>
              <a:rPr lang="en-US" sz="1600" i="1" dirty="0">
                <a:solidFill>
                  <a:schemeClr val="tx1"/>
                </a:solidFill>
              </a:rPr>
              <a:t>nemen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l’employé·e</a:t>
            </a:r>
            <a:endParaRPr lang="en-US" sz="1600" dirty="0"/>
          </a:p>
        </p:txBody>
      </p:sp>
      <p:sp>
        <p:nvSpPr>
          <p:cNvPr id="14" name="Shape 9"/>
          <p:cNvSpPr/>
          <p:nvPr/>
        </p:nvSpPr>
        <p:spPr>
          <a:xfrm>
            <a:off x="6812280" y="1554480"/>
            <a:ext cx="4828032" cy="694944"/>
          </a:xfrm>
          <a:prstGeom prst="roundRect">
            <a:avLst>
              <a:gd name="adj" fmla="val 1052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949440" y="1554480"/>
            <a:ext cx="4572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de</a:t>
            </a:r>
            <a:r>
              <a:rPr lang="en-US" sz="1500" i="1" dirty="0">
                <a:solidFill>
                  <a:schemeClr val="tx1"/>
                </a:solidFill>
              </a:rPr>
              <a:t> klant ↔ </a:t>
            </a:r>
            <a:r>
              <a:rPr lang="en-US" sz="1500" b="1" i="1" dirty="0">
                <a:solidFill>
                  <a:schemeClr val="tx2"/>
                </a:solidFill>
              </a:rPr>
              <a:t>de</a:t>
            </a:r>
            <a:r>
              <a:rPr lang="en-US" sz="1500" i="1" dirty="0">
                <a:solidFill>
                  <a:schemeClr val="tx1"/>
                </a:solidFill>
              </a:rPr>
              <a:t> leverancier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 client ↔ le fournisseur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6812280" y="2359152"/>
            <a:ext cx="4828032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6949440" y="2359152"/>
            <a:ext cx="4572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de</a:t>
            </a:r>
            <a:r>
              <a:rPr lang="en-US" sz="1500" i="1" dirty="0">
                <a:solidFill>
                  <a:schemeClr val="tx1"/>
                </a:solidFill>
              </a:rPr>
              <a:t> collega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 / la collègue</a:t>
            </a:r>
            <a:endParaRPr lang="en-US" sz="1500" dirty="0"/>
          </a:p>
        </p:txBody>
      </p:sp>
      <p:sp>
        <p:nvSpPr>
          <p:cNvPr id="18" name="Shape 13"/>
          <p:cNvSpPr/>
          <p:nvPr/>
        </p:nvSpPr>
        <p:spPr>
          <a:xfrm>
            <a:off x="6812280" y="3163824"/>
            <a:ext cx="4828032" cy="694944"/>
          </a:xfrm>
          <a:prstGeom prst="roundRect">
            <a:avLst>
              <a:gd name="adj" fmla="val 1052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6949440" y="3163824"/>
            <a:ext cx="4572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de</a:t>
            </a:r>
            <a:r>
              <a:rPr lang="en-US" sz="1500" i="1" dirty="0">
                <a:solidFill>
                  <a:schemeClr val="tx1"/>
                </a:solidFill>
              </a:rPr>
              <a:t> baas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 patron (familier) · BE : </a:t>
            </a:r>
            <a:r>
              <a:rPr lang="en-US" sz="1500" i="1" dirty="0">
                <a:solidFill>
                  <a:schemeClr val="tx1"/>
                </a:solidFill>
              </a:rPr>
              <a:t>de chef</a:t>
            </a:r>
            <a:endParaRPr lang="en-US" sz="1500" dirty="0"/>
          </a:p>
        </p:txBody>
      </p:sp>
      <p:sp>
        <p:nvSpPr>
          <p:cNvPr id="20" name="Shape 15"/>
          <p:cNvSpPr/>
          <p:nvPr/>
        </p:nvSpPr>
        <p:spPr>
          <a:xfrm>
            <a:off x="6812280" y="3968496"/>
            <a:ext cx="4828032" cy="694944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6949440" y="3968496"/>
            <a:ext cx="4572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2"/>
                </a:solidFill>
              </a:rPr>
              <a:t>de</a:t>
            </a:r>
            <a:r>
              <a:rPr lang="en-US" sz="1500" i="1" dirty="0">
                <a:solidFill>
                  <a:schemeClr val="tx1"/>
                </a:solidFill>
              </a:rPr>
              <a:t> vakbond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le syndicat</a:t>
            </a:r>
            <a:endParaRPr lang="en-US" sz="1500" dirty="0"/>
          </a:p>
        </p:txBody>
      </p:sp>
      <p:sp>
        <p:nvSpPr>
          <p:cNvPr id="22" name="Shape 17"/>
          <p:cNvSpPr/>
          <p:nvPr/>
        </p:nvSpPr>
        <p:spPr>
          <a:xfrm>
            <a:off x="548640" y="4937760"/>
            <a:ext cx="11091672" cy="594360"/>
          </a:xfrm>
          <a:prstGeom prst="roundRect">
            <a:avLst>
              <a:gd name="adj" fmla="val 12308"/>
            </a:avLst>
          </a:prstGeom>
          <a:solidFill>
            <a:srgbClr val="FDF1E6"/>
          </a:solidFill>
          <a:ln w="12700">
            <a:solidFill>
              <a:srgbClr val="D9700F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777240" y="4937760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En Belgique : </a:t>
            </a:r>
            <a:r>
              <a:rPr lang="en-US" sz="1600" i="1" dirty="0">
                <a:solidFill>
                  <a:schemeClr val="tx1"/>
                </a:solidFill>
              </a:rPr>
              <a:t>de </a:t>
            </a:r>
            <a:r>
              <a:rPr lang="en-US" sz="1600" b="1" i="1" dirty="0">
                <a:solidFill>
                  <a:schemeClr val="tx1"/>
                </a:solidFill>
              </a:rPr>
              <a:t>bediende</a:t>
            </a:r>
            <a:r>
              <a:rPr lang="en-US" sz="1600" dirty="0">
                <a:solidFill>
                  <a:schemeClr val="tx1"/>
                </a:solidFill>
              </a:rPr>
              <a:t> (employé·e de bureau) · </a:t>
            </a:r>
            <a:r>
              <a:rPr lang="en-US" sz="1600" i="1" dirty="0">
                <a:solidFill>
                  <a:schemeClr val="tx1"/>
                </a:solidFill>
              </a:rPr>
              <a:t>de </a:t>
            </a:r>
            <a:r>
              <a:rPr lang="en-US" sz="1600" b="1" i="1" dirty="0">
                <a:solidFill>
                  <a:schemeClr val="tx1"/>
                </a:solidFill>
              </a:rPr>
              <a:t>arbeider</a:t>
            </a:r>
            <a:r>
              <a:rPr lang="en-US" sz="1600" dirty="0">
                <a:solidFill>
                  <a:schemeClr val="tx1"/>
                </a:solidFill>
              </a:rPr>
              <a:t> (ouvrier·ère) : deux statuts différents</a:t>
            </a:r>
            <a:endParaRPr lang="en-US" sz="1600" dirty="0"/>
          </a:p>
        </p:txBody>
      </p:sp>
      <p:sp>
        <p:nvSpPr>
          <p:cNvPr id="24" name="Shape 19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822960" y="566928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Moyen mnémotechnique : </a:t>
            </a:r>
            <a:r>
              <a:rPr lang="en-US" sz="1700" i="1" dirty="0">
                <a:solidFill>
                  <a:schemeClr val="bg1"/>
                </a:solidFill>
              </a:rPr>
              <a:t>geven</a:t>
            </a:r>
            <a:r>
              <a:rPr lang="en-US" sz="1700" dirty="0">
                <a:solidFill>
                  <a:schemeClr val="bg1"/>
                </a:solidFill>
              </a:rPr>
              <a:t> = donner (le travail, le salaire) · </a:t>
            </a:r>
            <a:r>
              <a:rPr lang="en-US" sz="1700" i="1" dirty="0">
                <a:solidFill>
                  <a:schemeClr val="bg1"/>
                </a:solidFill>
              </a:rPr>
              <a:t>nemen</a:t>
            </a:r>
            <a:r>
              <a:rPr lang="en-US" sz="1700" dirty="0">
                <a:solidFill>
                  <a:schemeClr val="bg1"/>
                </a:solidFill>
              </a:rPr>
              <a:t> = prendre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bâtiment : le rez-de-chaussée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2930652"/>
            <a:ext cx="1097280" cy="2555748"/>
          </a:xfrm>
          <a:prstGeom prst="roundRect">
            <a:avLst>
              <a:gd name="adj" fmla="val 3333"/>
            </a:avLst>
          </a:prstGeom>
          <a:solidFill>
            <a:srgbClr val="E6EBF2"/>
          </a:solidFill>
          <a:ln w="12700">
            <a:solidFill>
              <a:srgbClr val="4A5A70"/>
            </a:solidFill>
            <a:prstDash val="dash"/>
          </a:ln>
        </p:spPr>
      </p:sp>
      <p:pic>
        <p:nvPicPr>
          <p:cNvPr id="6" name="Image 0" descr="p butt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3205886"/>
            <a:ext cx="365760" cy="3657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48640" y="3589934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de parking</a:t>
            </a:r>
            <a:endParaRPr lang="en-US" sz="1100" dirty="0"/>
          </a:p>
        </p:txBody>
      </p:sp>
      <p:sp>
        <p:nvSpPr>
          <p:cNvPr id="8" name="Shape 4"/>
          <p:cNvSpPr/>
          <p:nvPr/>
        </p:nvSpPr>
        <p:spPr>
          <a:xfrm>
            <a:off x="1755648" y="1554480"/>
            <a:ext cx="6108192" cy="3931920"/>
          </a:xfrm>
          <a:prstGeom prst="rect">
            <a:avLst/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2794041" y="3048610"/>
            <a:ext cx="5069799" cy="943661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4260007" y="3048610"/>
            <a:ext cx="1465966" cy="9436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de gang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1755648" y="1554480"/>
            <a:ext cx="1038393" cy="3931920"/>
          </a:xfrm>
          <a:prstGeom prst="rect">
            <a:avLst/>
          </a:prstGeom>
          <a:solidFill>
            <a:srgbClr val="FDF1E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942559" y="2529596"/>
            <a:ext cx="228446" cy="1981688"/>
          </a:xfrm>
          <a:prstGeom prst="roundRect">
            <a:avLst>
              <a:gd name="adj" fmla="val 16011"/>
            </a:avLst>
          </a:prstGeom>
          <a:solidFill>
            <a:schemeClr val="accent1">
              <a:alpha val="6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792224" y="1609344"/>
            <a:ext cx="965241" cy="1195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het onthaal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1709928" y="3190159"/>
            <a:ext cx="91440" cy="660563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2794041" y="1554480"/>
            <a:ext cx="1465966" cy="149413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3307129" y="3012034"/>
            <a:ext cx="439790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1" descr="busts in silhouett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3288" y="1645920"/>
            <a:ext cx="347472" cy="347472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2830617" y="1993392"/>
            <a:ext cx="1392814" cy="9912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de vergaderzaal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4260007" y="1554480"/>
            <a:ext cx="1465966" cy="149413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4773095" y="3012034"/>
            <a:ext cx="439790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1" name="Image 2" descr="print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9254" y="1645920"/>
            <a:ext cx="347472" cy="347472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4296583" y="1993392"/>
            <a:ext cx="1392814" cy="9912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het kopieerlokaal</a:t>
            </a:r>
            <a:endParaRPr lang="en-US" sz="1200" dirty="0"/>
          </a:p>
        </p:txBody>
      </p:sp>
      <p:sp>
        <p:nvSpPr>
          <p:cNvPr id="23" name="Shape 17"/>
          <p:cNvSpPr/>
          <p:nvPr/>
        </p:nvSpPr>
        <p:spPr>
          <a:xfrm>
            <a:off x="5725973" y="1554480"/>
            <a:ext cx="1465966" cy="149413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6239061" y="3012034"/>
            <a:ext cx="439790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5" name="Image 3" descr="toile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5220" y="1645920"/>
            <a:ext cx="347472" cy="347472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5762549" y="1993392"/>
            <a:ext cx="1392814" cy="9912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de toiletten</a:t>
            </a:r>
            <a:endParaRPr lang="en-US" sz="1200" dirty="0"/>
          </a:p>
        </p:txBody>
      </p:sp>
      <p:sp>
        <p:nvSpPr>
          <p:cNvPr id="27" name="Shape 20"/>
          <p:cNvSpPr/>
          <p:nvPr/>
        </p:nvSpPr>
        <p:spPr>
          <a:xfrm>
            <a:off x="2794041" y="3992270"/>
            <a:ext cx="1465966" cy="149413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28" name="Shape 21"/>
          <p:cNvSpPr/>
          <p:nvPr/>
        </p:nvSpPr>
        <p:spPr>
          <a:xfrm>
            <a:off x="3307129" y="3955694"/>
            <a:ext cx="439790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9" name="Image 4" descr="desktop comput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53288" y="5047488"/>
            <a:ext cx="347472" cy="347472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2830617" y="4037990"/>
            <a:ext cx="1392814" cy="9912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het kantoor</a:t>
            </a:r>
            <a:endParaRPr lang="en-US" sz="1200" dirty="0"/>
          </a:p>
        </p:txBody>
      </p:sp>
      <p:sp>
        <p:nvSpPr>
          <p:cNvPr id="31" name="Shape 23"/>
          <p:cNvSpPr/>
          <p:nvPr/>
        </p:nvSpPr>
        <p:spPr>
          <a:xfrm>
            <a:off x="4260007" y="3992270"/>
            <a:ext cx="1465966" cy="149413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32" name="Shape 24"/>
          <p:cNvSpPr/>
          <p:nvPr/>
        </p:nvSpPr>
        <p:spPr>
          <a:xfrm>
            <a:off x="4773095" y="3955694"/>
            <a:ext cx="439790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3" name="Image 5" descr="hot beverag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19254" y="5047488"/>
            <a:ext cx="347472" cy="347472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4296583" y="4037990"/>
            <a:ext cx="1392814" cy="9912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de keuken</a:t>
            </a:r>
            <a:endParaRPr lang="en-US" sz="1200" dirty="0"/>
          </a:p>
        </p:txBody>
      </p:sp>
      <p:sp>
        <p:nvSpPr>
          <p:cNvPr id="35" name="Shape 26"/>
          <p:cNvSpPr/>
          <p:nvPr/>
        </p:nvSpPr>
        <p:spPr>
          <a:xfrm>
            <a:off x="5725973" y="3992270"/>
            <a:ext cx="1465966" cy="149413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36" name="Shape 27"/>
          <p:cNvSpPr/>
          <p:nvPr/>
        </p:nvSpPr>
        <p:spPr>
          <a:xfrm>
            <a:off x="6239061" y="3955694"/>
            <a:ext cx="439790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7" name="Image 6" descr="fork and knife with plat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85220" y="5047488"/>
            <a:ext cx="347472" cy="347472"/>
          </a:xfrm>
          <a:prstGeom prst="rect">
            <a:avLst/>
          </a:prstGeom>
        </p:spPr>
      </p:pic>
      <p:sp>
        <p:nvSpPr>
          <p:cNvPr id="38" name="Text 28"/>
          <p:cNvSpPr txBox="1"/>
          <p:nvPr/>
        </p:nvSpPr>
        <p:spPr>
          <a:xfrm>
            <a:off x="5762549" y="4037990"/>
            <a:ext cx="1392814" cy="9912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de refter</a:t>
            </a:r>
            <a:endParaRPr lang="en-US" sz="1200" dirty="0"/>
          </a:p>
        </p:txBody>
      </p:sp>
      <p:sp>
        <p:nvSpPr>
          <p:cNvPr id="39" name="Shape 29"/>
          <p:cNvSpPr/>
          <p:nvPr/>
        </p:nvSpPr>
        <p:spPr>
          <a:xfrm>
            <a:off x="7191939" y="1554480"/>
            <a:ext cx="671901" cy="1965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40" name="Shape 30"/>
          <p:cNvSpPr/>
          <p:nvPr/>
        </p:nvSpPr>
        <p:spPr>
          <a:xfrm>
            <a:off x="7237659" y="1835331"/>
            <a:ext cx="580461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1" name="Shape 31"/>
          <p:cNvSpPr/>
          <p:nvPr/>
        </p:nvSpPr>
        <p:spPr>
          <a:xfrm>
            <a:off x="7237659" y="2116183"/>
            <a:ext cx="580461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2" name="Shape 32"/>
          <p:cNvSpPr/>
          <p:nvPr/>
        </p:nvSpPr>
        <p:spPr>
          <a:xfrm>
            <a:off x="7237659" y="2397034"/>
            <a:ext cx="580461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3" name="Shape 33"/>
          <p:cNvSpPr/>
          <p:nvPr/>
        </p:nvSpPr>
        <p:spPr>
          <a:xfrm>
            <a:off x="7237659" y="2677886"/>
            <a:ext cx="580461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4" name="Shape 34"/>
          <p:cNvSpPr/>
          <p:nvPr/>
        </p:nvSpPr>
        <p:spPr>
          <a:xfrm>
            <a:off x="7237659" y="2958737"/>
            <a:ext cx="580461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5" name="Shape 35"/>
          <p:cNvSpPr/>
          <p:nvPr/>
        </p:nvSpPr>
        <p:spPr>
          <a:xfrm>
            <a:off x="7237659" y="3239589"/>
            <a:ext cx="580461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46" name="Shape 36"/>
          <p:cNvSpPr/>
          <p:nvPr/>
        </p:nvSpPr>
        <p:spPr>
          <a:xfrm>
            <a:off x="7191939" y="3520440"/>
            <a:ext cx="671901" cy="1965960"/>
          </a:xfrm>
          <a:prstGeom prst="rect">
            <a:avLst/>
          </a:prstGeom>
          <a:solidFill>
            <a:srgbClr val="F1EBF8"/>
          </a:solidFill>
          <a:ln w="19050">
            <a:solidFill>
              <a:srgbClr val="17375E"/>
            </a:solidFill>
            <a:prstDash val="solid"/>
          </a:ln>
        </p:spPr>
      </p:sp>
      <p:pic>
        <p:nvPicPr>
          <p:cNvPr id="47" name="Image 7" descr="elevato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54153" y="3611880"/>
            <a:ext cx="347472" cy="347472"/>
          </a:xfrm>
          <a:prstGeom prst="rect">
            <a:avLst/>
          </a:prstGeom>
        </p:spPr>
      </p:pic>
      <p:sp>
        <p:nvSpPr>
          <p:cNvPr id="48" name="Text 37"/>
          <p:cNvSpPr txBox="1"/>
          <p:nvPr/>
        </p:nvSpPr>
        <p:spPr>
          <a:xfrm>
            <a:off x="7191939" y="3136392"/>
            <a:ext cx="67190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de trap</a:t>
            </a:r>
            <a:endParaRPr lang="en-US" sz="1100" dirty="0"/>
          </a:p>
        </p:txBody>
      </p:sp>
      <p:sp>
        <p:nvSpPr>
          <p:cNvPr id="49" name="Text 38"/>
          <p:cNvSpPr txBox="1"/>
          <p:nvPr/>
        </p:nvSpPr>
        <p:spPr>
          <a:xfrm>
            <a:off x="7191939" y="5074920"/>
            <a:ext cx="67190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de lift</a:t>
            </a:r>
            <a:endParaRPr lang="en-US" sz="1100" dirty="0"/>
          </a:p>
        </p:txBody>
      </p:sp>
      <p:sp>
        <p:nvSpPr>
          <p:cNvPr id="50" name="Shape 39"/>
          <p:cNvSpPr/>
          <p:nvPr/>
        </p:nvSpPr>
        <p:spPr>
          <a:xfrm>
            <a:off x="8138160" y="1554480"/>
            <a:ext cx="3502152" cy="3931920"/>
          </a:xfrm>
          <a:prstGeom prst="roundRect">
            <a:avLst>
              <a:gd name="adj" fmla="val 261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1" name="Text 40"/>
          <p:cNvSpPr txBox="1"/>
          <p:nvPr/>
        </p:nvSpPr>
        <p:spPr>
          <a:xfrm>
            <a:off x="8275320" y="1645920"/>
            <a:ext cx="3246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Waar is de vergaderzaal?</a:t>
            </a:r>
            <a:endParaRPr lang="en-US" sz="15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— Op het </a:t>
            </a:r>
            <a:r>
              <a:rPr lang="en-US" sz="1500" b="1" i="1" dirty="0">
                <a:solidFill>
                  <a:schemeClr val="tx1"/>
                </a:solidFill>
              </a:rPr>
              <a:t>gelijkvloers</a:t>
            </a:r>
            <a:r>
              <a:rPr lang="en-US" sz="1500" i="1" dirty="0">
                <a:solidFill>
                  <a:schemeClr val="tx1"/>
                </a:solidFill>
              </a:rPr>
              <a:t>, de eerste deur links.</a:t>
            </a:r>
            <a:endParaRPr lang="en-US" sz="1500" dirty="0"/>
          </a:p>
          <a:p>
            <a:pPr algn="l" indent="0" marL="0">
              <a:spcAft>
                <a:spcPts val="200"/>
              </a:spcAft>
              <a:buNone/>
            </a:pPr>
            <a:endParaRPr lang="en-US" sz="15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Waar is de directie?</a:t>
            </a:r>
            <a:endParaRPr lang="en-US" sz="15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— Op de </a:t>
            </a:r>
            <a:r>
              <a:rPr lang="en-US" sz="1500" b="1" i="1" dirty="0">
                <a:solidFill>
                  <a:schemeClr val="tx1"/>
                </a:solidFill>
              </a:rPr>
              <a:t>eerste verdieping</a:t>
            </a:r>
            <a:r>
              <a:rPr lang="en-US" sz="1500" i="1" dirty="0">
                <a:solidFill>
                  <a:schemeClr val="tx1"/>
                </a:solidFill>
              </a:rPr>
              <a:t>. Neem de trap of de lift.</a:t>
            </a:r>
            <a:endParaRPr lang="en-US" sz="1500" dirty="0"/>
          </a:p>
        </p:txBody>
      </p:sp>
      <p:sp>
        <p:nvSpPr>
          <p:cNvPr id="52" name="Text 41"/>
          <p:cNvSpPr txBox="1"/>
          <p:nvPr/>
        </p:nvSpPr>
        <p:spPr>
          <a:xfrm>
            <a:off x="8275320" y="4069080"/>
            <a:ext cx="3246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accent5"/>
                </a:solidFill>
              </a:rPr>
              <a:t>BE</a:t>
            </a:r>
            <a:r>
              <a:rPr lang="en-US" sz="1300" dirty="0">
                <a:solidFill>
                  <a:schemeClr val="accent5"/>
                </a:solidFill>
              </a:rPr>
              <a:t> </a:t>
            </a:r>
            <a:r>
              <a:rPr lang="en-US" sz="1300" i="1" dirty="0">
                <a:solidFill>
                  <a:schemeClr val="accent5"/>
                </a:solidFill>
              </a:rPr>
              <a:t>het gelijkvloers</a:t>
            </a:r>
            <a:r>
              <a:rPr lang="en-US" sz="1300" dirty="0">
                <a:solidFill>
                  <a:schemeClr val="accent5"/>
                </a:solidFill>
              </a:rPr>
              <a:t> = NL </a:t>
            </a:r>
            <a:r>
              <a:rPr lang="en-US" sz="1300" i="1" dirty="0">
                <a:solidFill>
                  <a:schemeClr val="accent5"/>
                </a:solidFill>
              </a:rPr>
              <a:t>de begane grond</a:t>
            </a:r>
            <a:endParaRPr lang="en-US" sz="13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accent5"/>
                </a:solidFill>
              </a:rPr>
              <a:t>BE</a:t>
            </a:r>
            <a:r>
              <a:rPr lang="en-US" sz="1300" dirty="0">
                <a:solidFill>
                  <a:schemeClr val="accent5"/>
                </a:solidFill>
              </a:rPr>
              <a:t> </a:t>
            </a:r>
            <a:r>
              <a:rPr lang="en-US" sz="1300" i="1" dirty="0">
                <a:solidFill>
                  <a:schemeClr val="accent5"/>
                </a:solidFill>
              </a:rPr>
              <a:t>de refter</a:t>
            </a:r>
            <a:r>
              <a:rPr lang="en-US" sz="1300" dirty="0">
                <a:solidFill>
                  <a:schemeClr val="accent5"/>
                </a:solidFill>
              </a:rPr>
              <a:t> = NL </a:t>
            </a:r>
            <a:r>
              <a:rPr lang="en-US" sz="1300" i="1" dirty="0">
                <a:solidFill>
                  <a:schemeClr val="accent5"/>
                </a:solidFill>
              </a:rPr>
              <a:t>de kantine</a:t>
            </a:r>
            <a:endParaRPr lang="en-US" sz="13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300" i="1" dirty="0">
                <a:solidFill>
                  <a:schemeClr val="accent5"/>
                </a:solidFill>
              </a:rPr>
              <a:t>het kantoor</a:t>
            </a:r>
            <a:r>
              <a:rPr lang="en-US" sz="1300" dirty="0">
                <a:solidFill>
                  <a:schemeClr val="accent5"/>
                </a:solidFill>
              </a:rPr>
              <a:t> = le bureau (BE aussi </a:t>
            </a:r>
            <a:r>
              <a:rPr lang="en-US" sz="1300" i="1" dirty="0">
                <a:solidFill>
                  <a:schemeClr val="accent5"/>
                </a:solidFill>
              </a:rPr>
              <a:t>het bureau</a:t>
            </a:r>
            <a:r>
              <a:rPr lang="en-US" sz="1300" dirty="0">
                <a:solidFill>
                  <a:schemeClr val="accent5"/>
                </a:solidFill>
              </a:rPr>
              <a:t>)</a:t>
            </a:r>
            <a:endParaRPr lang="en-US" sz="1300" dirty="0"/>
          </a:p>
        </p:txBody>
      </p:sp>
      <p:sp>
        <p:nvSpPr>
          <p:cNvPr id="53" name="Shape 42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43"/>
          <p:cNvSpPr txBox="1"/>
          <p:nvPr/>
        </p:nvSpPr>
        <p:spPr>
          <a:xfrm>
            <a:off x="822960" y="566928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Ce plan revient au M31 : </a:t>
            </a:r>
            <a:r>
              <a:rPr lang="en-US" sz="1700" i="1" dirty="0">
                <a:solidFill>
                  <a:schemeClr val="bg1"/>
                </a:solidFill>
              </a:rPr>
              <a:t>Hij loopt de gang </a:t>
            </a:r>
            <a:r>
              <a:rPr lang="en-US" sz="1700" b="1" i="1" dirty="0">
                <a:solidFill>
                  <a:schemeClr val="bg1"/>
                </a:solidFill>
              </a:rPr>
              <a:t>door</a:t>
            </a:r>
            <a:r>
              <a:rPr lang="en-US" sz="1700" i="1" dirty="0">
                <a:solidFill>
                  <a:schemeClr val="bg1"/>
                </a:solidFill>
              </a:rPr>
              <a:t>. · Ze loopt de trap </a:t>
            </a:r>
            <a:r>
              <a:rPr lang="en-US" sz="1700" b="1" i="1" dirty="0">
                <a:solidFill>
                  <a:schemeClr val="bg1"/>
                </a:solidFill>
              </a:rPr>
              <a:t>op</a:t>
            </a:r>
            <a:r>
              <a:rPr lang="en-US" sz="1700" i="1" dirty="0">
                <a:solidFill>
                  <a:schemeClr val="bg1"/>
                </a:solidFill>
              </a:rPr>
              <a:t>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Sur mon bureau : de of het?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734312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</p:spPr>
      </p:sp>
      <p:pic>
        <p:nvPicPr>
          <p:cNvPr id="6" name="Image 0" descr="lapto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4316" y="1691640"/>
            <a:ext cx="822960" cy="8229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94360" y="2606040"/>
            <a:ext cx="1642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laptop</a:t>
            </a:r>
            <a:endParaRPr lang="en-US" sz="1600" dirty="0"/>
          </a:p>
        </p:txBody>
      </p:sp>
      <p:sp>
        <p:nvSpPr>
          <p:cNvPr id="8" name="Shape 4"/>
          <p:cNvSpPr/>
          <p:nvPr/>
        </p:nvSpPr>
        <p:spPr>
          <a:xfrm>
            <a:off x="2420112" y="1554480"/>
            <a:ext cx="1734312" cy="1691640"/>
          </a:xfrm>
          <a:prstGeom prst="roundRect">
            <a:avLst>
              <a:gd name="adj" fmla="val 5405"/>
            </a:avLst>
          </a:prstGeom>
          <a:solidFill>
            <a:srgbClr val="FDF1E6"/>
          </a:solidFill>
          <a:ln w="31750">
            <a:solidFill>
              <a:srgbClr val="D9700F"/>
            </a:solidFill>
            <a:prstDash val="solid"/>
          </a:ln>
        </p:spPr>
      </p:sp>
      <p:pic>
        <p:nvPicPr>
          <p:cNvPr id="9" name="Image 1" descr="desktop comput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5788" y="1691640"/>
            <a:ext cx="822960" cy="82296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2465832" y="2606040"/>
            <a:ext cx="1642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het</a:t>
            </a:r>
            <a:r>
              <a:rPr lang="en-US" sz="1600" i="1" dirty="0">
                <a:solidFill>
                  <a:schemeClr val="tx1"/>
                </a:solidFill>
              </a:rPr>
              <a:t> scherm</a:t>
            </a:r>
            <a:endParaRPr lang="en-US" sz="1600" dirty="0"/>
          </a:p>
        </p:txBody>
      </p:sp>
      <p:sp>
        <p:nvSpPr>
          <p:cNvPr id="11" name="Shape 6"/>
          <p:cNvSpPr/>
          <p:nvPr/>
        </p:nvSpPr>
        <p:spPr>
          <a:xfrm>
            <a:off x="4291584" y="1554480"/>
            <a:ext cx="1734312" cy="1691640"/>
          </a:xfrm>
          <a:prstGeom prst="roundRect">
            <a:avLst>
              <a:gd name="adj" fmla="val 5405"/>
            </a:avLst>
          </a:prstGeom>
          <a:solidFill>
            <a:srgbClr val="FDF1E6"/>
          </a:solidFill>
          <a:ln w="31750">
            <a:solidFill>
              <a:srgbClr val="D9700F"/>
            </a:solidFill>
            <a:prstDash val="solid"/>
          </a:ln>
        </p:spPr>
      </p:sp>
      <p:pic>
        <p:nvPicPr>
          <p:cNvPr id="12" name="Image 2" descr="keyboa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7260" y="1691640"/>
            <a:ext cx="822960" cy="82296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4337304" y="2606040"/>
            <a:ext cx="1642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het</a:t>
            </a:r>
            <a:r>
              <a:rPr lang="en-US" sz="1600" i="1" dirty="0">
                <a:solidFill>
                  <a:schemeClr val="tx1"/>
                </a:solidFill>
              </a:rPr>
              <a:t> toetsenbord</a:t>
            </a:r>
            <a:endParaRPr lang="en-US" sz="1600" dirty="0"/>
          </a:p>
        </p:txBody>
      </p:sp>
      <p:sp>
        <p:nvSpPr>
          <p:cNvPr id="14" name="Shape 8"/>
          <p:cNvSpPr/>
          <p:nvPr/>
        </p:nvSpPr>
        <p:spPr>
          <a:xfrm>
            <a:off x="6163056" y="1554480"/>
            <a:ext cx="1734312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</p:spPr>
      </p:sp>
      <p:pic>
        <p:nvPicPr>
          <p:cNvPr id="15" name="Image 3" descr="computer mous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8732" y="1691640"/>
            <a:ext cx="822960" cy="82296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6208776" y="2606040"/>
            <a:ext cx="1642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muis</a:t>
            </a:r>
            <a:endParaRPr lang="en-US" sz="1600" dirty="0"/>
          </a:p>
        </p:txBody>
      </p:sp>
      <p:sp>
        <p:nvSpPr>
          <p:cNvPr id="17" name="Shape 10"/>
          <p:cNvSpPr/>
          <p:nvPr/>
        </p:nvSpPr>
        <p:spPr>
          <a:xfrm>
            <a:off x="8034528" y="1554480"/>
            <a:ext cx="1734312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</p:spPr>
      </p:sp>
      <p:pic>
        <p:nvPicPr>
          <p:cNvPr id="18" name="Image 4" descr="print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90204" y="1691640"/>
            <a:ext cx="822960" cy="82296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8080248" y="2606040"/>
            <a:ext cx="1642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printer</a:t>
            </a:r>
            <a:endParaRPr lang="en-US" sz="1600" dirty="0"/>
          </a:p>
        </p:txBody>
      </p:sp>
      <p:sp>
        <p:nvSpPr>
          <p:cNvPr id="20" name="Shape 12"/>
          <p:cNvSpPr/>
          <p:nvPr/>
        </p:nvSpPr>
        <p:spPr>
          <a:xfrm>
            <a:off x="9906000" y="1554480"/>
            <a:ext cx="1734312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</p:spPr>
      </p:sp>
      <p:pic>
        <p:nvPicPr>
          <p:cNvPr id="21" name="Image 5" descr="file fold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61676" y="1691640"/>
            <a:ext cx="822960" cy="82296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9951720" y="2606040"/>
            <a:ext cx="1642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map</a:t>
            </a:r>
            <a:endParaRPr lang="en-US" sz="1600" dirty="0"/>
          </a:p>
        </p:txBody>
      </p:sp>
      <p:sp>
        <p:nvSpPr>
          <p:cNvPr id="23" name="Shape 14"/>
          <p:cNvSpPr/>
          <p:nvPr/>
        </p:nvSpPr>
        <p:spPr>
          <a:xfrm>
            <a:off x="548640" y="3383280"/>
            <a:ext cx="1734312" cy="1691640"/>
          </a:xfrm>
          <a:prstGeom prst="roundRect">
            <a:avLst>
              <a:gd name="adj" fmla="val 5405"/>
            </a:avLst>
          </a:prstGeom>
          <a:solidFill>
            <a:srgbClr val="FDF1E6"/>
          </a:solidFill>
          <a:ln w="31750">
            <a:solidFill>
              <a:srgbClr val="D9700F"/>
            </a:solidFill>
            <a:prstDash val="solid"/>
          </a:ln>
        </p:spPr>
      </p:sp>
      <p:pic>
        <p:nvPicPr>
          <p:cNvPr id="24" name="Image 6" descr="card file box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4316" y="3520440"/>
            <a:ext cx="822960" cy="822960"/>
          </a:xfrm>
          <a:prstGeom prst="rect">
            <a:avLst/>
          </a:prstGeom>
        </p:spPr>
      </p:pic>
      <p:sp>
        <p:nvSpPr>
          <p:cNvPr id="25" name="Text 15"/>
          <p:cNvSpPr txBox="1"/>
          <p:nvPr/>
        </p:nvSpPr>
        <p:spPr>
          <a:xfrm>
            <a:off x="594360" y="4434840"/>
            <a:ext cx="1642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het</a:t>
            </a:r>
            <a:r>
              <a:rPr lang="en-US" sz="1600" i="1" dirty="0">
                <a:solidFill>
                  <a:schemeClr val="tx1"/>
                </a:solidFill>
              </a:rPr>
              <a:t> dossier</a:t>
            </a:r>
            <a:endParaRPr lang="en-US" sz="1600" dirty="0"/>
          </a:p>
        </p:txBody>
      </p:sp>
      <p:sp>
        <p:nvSpPr>
          <p:cNvPr id="26" name="Shape 16"/>
          <p:cNvSpPr/>
          <p:nvPr/>
        </p:nvSpPr>
        <p:spPr>
          <a:xfrm>
            <a:off x="2420112" y="3383280"/>
            <a:ext cx="1734312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</p:spPr>
      </p:sp>
      <p:pic>
        <p:nvPicPr>
          <p:cNvPr id="27" name="Image 7" descr="spiral calenda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75788" y="3520440"/>
            <a:ext cx="822960" cy="822960"/>
          </a:xfrm>
          <a:prstGeom prst="rect">
            <a:avLst/>
          </a:prstGeom>
        </p:spPr>
      </p:pic>
      <p:sp>
        <p:nvSpPr>
          <p:cNvPr id="28" name="Text 17"/>
          <p:cNvSpPr txBox="1"/>
          <p:nvPr/>
        </p:nvSpPr>
        <p:spPr>
          <a:xfrm>
            <a:off x="2465832" y="4434840"/>
            <a:ext cx="1642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agenda</a:t>
            </a:r>
            <a:endParaRPr lang="en-US" sz="1600" dirty="0"/>
          </a:p>
        </p:txBody>
      </p:sp>
      <p:sp>
        <p:nvSpPr>
          <p:cNvPr id="29" name="Shape 18"/>
          <p:cNvSpPr/>
          <p:nvPr/>
        </p:nvSpPr>
        <p:spPr>
          <a:xfrm>
            <a:off x="4291584" y="3383280"/>
            <a:ext cx="1734312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</p:spPr>
      </p:sp>
      <p:pic>
        <p:nvPicPr>
          <p:cNvPr id="30" name="Image 8" descr="pe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47260" y="3520440"/>
            <a:ext cx="822960" cy="822960"/>
          </a:xfrm>
          <a:prstGeom prst="rect">
            <a:avLst/>
          </a:prstGeom>
        </p:spPr>
      </p:pic>
      <p:sp>
        <p:nvSpPr>
          <p:cNvPr id="31" name="Text 19"/>
          <p:cNvSpPr txBox="1"/>
          <p:nvPr/>
        </p:nvSpPr>
        <p:spPr>
          <a:xfrm>
            <a:off x="4337304" y="4434840"/>
            <a:ext cx="1642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balpen</a:t>
            </a:r>
            <a:endParaRPr lang="en-US" sz="1600" dirty="0"/>
          </a:p>
        </p:txBody>
      </p:sp>
      <p:sp>
        <p:nvSpPr>
          <p:cNvPr id="32" name="Shape 20"/>
          <p:cNvSpPr/>
          <p:nvPr/>
        </p:nvSpPr>
        <p:spPr>
          <a:xfrm>
            <a:off x="6163056" y="3383280"/>
            <a:ext cx="1734312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</p:spPr>
      </p:sp>
      <p:pic>
        <p:nvPicPr>
          <p:cNvPr id="33" name="Image 9" descr="mobile phon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18732" y="3520440"/>
            <a:ext cx="822960" cy="822960"/>
          </a:xfrm>
          <a:prstGeom prst="rect">
            <a:avLst/>
          </a:prstGeom>
        </p:spPr>
      </p:pic>
      <p:sp>
        <p:nvSpPr>
          <p:cNvPr id="34" name="Text 21"/>
          <p:cNvSpPr txBox="1"/>
          <p:nvPr/>
        </p:nvSpPr>
        <p:spPr>
          <a:xfrm>
            <a:off x="6208776" y="4434840"/>
            <a:ext cx="1642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gsm</a:t>
            </a:r>
            <a:endParaRPr lang="en-US" sz="1600" dirty="0"/>
          </a:p>
        </p:txBody>
      </p:sp>
      <p:sp>
        <p:nvSpPr>
          <p:cNvPr id="35" name="Shape 22"/>
          <p:cNvSpPr/>
          <p:nvPr/>
        </p:nvSpPr>
        <p:spPr>
          <a:xfrm>
            <a:off x="8034528" y="3383280"/>
            <a:ext cx="1734312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</p:spPr>
      </p:sp>
      <p:pic>
        <p:nvPicPr>
          <p:cNvPr id="36" name="Image 10" descr="identification card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90204" y="3520440"/>
            <a:ext cx="822960" cy="822960"/>
          </a:xfrm>
          <a:prstGeom prst="rect">
            <a:avLst/>
          </a:prstGeom>
        </p:spPr>
      </p:pic>
      <p:sp>
        <p:nvSpPr>
          <p:cNvPr id="37" name="Text 23"/>
          <p:cNvSpPr txBox="1"/>
          <p:nvPr/>
        </p:nvSpPr>
        <p:spPr>
          <a:xfrm>
            <a:off x="8080248" y="4434840"/>
            <a:ext cx="1642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badge</a:t>
            </a:r>
            <a:endParaRPr lang="en-US" sz="1600" dirty="0"/>
          </a:p>
        </p:txBody>
      </p:sp>
      <p:sp>
        <p:nvSpPr>
          <p:cNvPr id="38" name="Shape 24"/>
          <p:cNvSpPr/>
          <p:nvPr/>
        </p:nvSpPr>
        <p:spPr>
          <a:xfrm>
            <a:off x="9906000" y="3383280"/>
            <a:ext cx="1734312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</p:spPr>
      </p:sp>
      <p:pic>
        <p:nvPicPr>
          <p:cNvPr id="39" name="Image 11" descr="chair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361676" y="3520440"/>
            <a:ext cx="822960" cy="822960"/>
          </a:xfrm>
          <a:prstGeom prst="rect">
            <a:avLst/>
          </a:prstGeom>
        </p:spPr>
      </p:pic>
      <p:sp>
        <p:nvSpPr>
          <p:cNvPr id="40" name="Text 25"/>
          <p:cNvSpPr txBox="1"/>
          <p:nvPr/>
        </p:nvSpPr>
        <p:spPr>
          <a:xfrm>
            <a:off x="9951720" y="4434840"/>
            <a:ext cx="1642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stoel</a:t>
            </a:r>
            <a:endParaRPr lang="en-US" sz="1600" dirty="0"/>
          </a:p>
        </p:txBody>
      </p:sp>
      <p:sp>
        <p:nvSpPr>
          <p:cNvPr id="41" name="Shape 2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052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2" name="Text 27"/>
          <p:cNvSpPr txBox="1"/>
          <p:nvPr/>
        </p:nvSpPr>
        <p:spPr>
          <a:xfrm>
            <a:off x="777240" y="5349240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600" i="1" dirty="0">
                <a:solidFill>
                  <a:schemeClr val="tx1"/>
                </a:solidFill>
              </a:rPr>
              <a:t>Mag ik je balpen even lenen? · De printer werkt niet!</a:t>
            </a:r>
            <a:endParaRPr lang="en-US" sz="16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BE : </a:t>
            </a:r>
            <a:r>
              <a:rPr lang="en-US" sz="1600" i="1" dirty="0">
                <a:solidFill>
                  <a:schemeClr val="tx1"/>
                </a:solidFill>
              </a:rPr>
              <a:t>de gsm</a:t>
            </a:r>
            <a:r>
              <a:rPr lang="en-US" sz="1600" dirty="0">
                <a:solidFill>
                  <a:schemeClr val="tx1"/>
                </a:solidFill>
              </a:rPr>
              <a:t> (NL </a:t>
            </a:r>
            <a:r>
              <a:rPr lang="en-US" sz="1600" i="1" dirty="0">
                <a:solidFill>
                  <a:schemeClr val="tx1"/>
                </a:solidFill>
              </a:rPr>
              <a:t>de mobiel</a:t>
            </a:r>
            <a:r>
              <a:rPr lang="en-US" sz="1600" dirty="0">
                <a:solidFill>
                  <a:schemeClr val="tx1"/>
                </a:solidFill>
              </a:rPr>
              <a:t>), </a:t>
            </a:r>
            <a:r>
              <a:rPr lang="en-US" sz="1600" i="1" dirty="0">
                <a:solidFill>
                  <a:schemeClr val="tx1"/>
                </a:solidFill>
              </a:rPr>
              <a:t>de bic</a:t>
            </a:r>
            <a:r>
              <a:rPr lang="en-US" sz="1600" dirty="0">
                <a:solidFill>
                  <a:schemeClr val="tx1"/>
                </a:solidFill>
              </a:rPr>
              <a:t> = </a:t>
            </a:r>
            <a:r>
              <a:rPr lang="en-US" sz="1600" i="1" dirty="0">
                <a:solidFill>
                  <a:schemeClr val="tx1"/>
                </a:solidFill>
              </a:rPr>
              <a:t>de balpen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het bureau</a:t>
            </a:r>
            <a:r>
              <a:rPr lang="en-US" sz="1600" dirty="0">
                <a:solidFill>
                  <a:schemeClr val="tx1"/>
                </a:solidFill>
              </a:rPr>
              <a:t> = le meuble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documents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75304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receip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709928"/>
            <a:ext cx="640080" cy="6400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63040" y="1554480"/>
            <a:ext cx="25694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factuur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facture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4306824" y="1554480"/>
            <a:ext cx="3575304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page with cur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3984" y="1709928"/>
            <a:ext cx="640080" cy="64008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221224" y="1554480"/>
            <a:ext cx="25694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offerte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devis</a:t>
            </a:r>
            <a:endParaRPr lang="en-US" sz="1700" dirty="0"/>
          </a:p>
        </p:txBody>
      </p:sp>
      <p:sp>
        <p:nvSpPr>
          <p:cNvPr id="11" name="Shape 6"/>
          <p:cNvSpPr/>
          <p:nvPr/>
        </p:nvSpPr>
        <p:spPr>
          <a:xfrm>
            <a:off x="8065008" y="1554480"/>
            <a:ext cx="3575304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2" descr="clipboar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2168" y="1709928"/>
            <a:ext cx="640080" cy="64008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8979408" y="1554480"/>
            <a:ext cx="25694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bestelbon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bon de commande</a:t>
            </a:r>
            <a:endParaRPr lang="en-US" sz="1700" dirty="0"/>
          </a:p>
        </p:txBody>
      </p:sp>
      <p:sp>
        <p:nvSpPr>
          <p:cNvPr id="14" name="Shape 8"/>
          <p:cNvSpPr/>
          <p:nvPr/>
        </p:nvSpPr>
        <p:spPr>
          <a:xfrm>
            <a:off x="548640" y="2651760"/>
            <a:ext cx="3575304" cy="960120"/>
          </a:xfrm>
          <a:prstGeom prst="roundRect">
            <a:avLst>
              <a:gd name="adj" fmla="val 761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5" name="Image 3" descr="page facing u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2807208"/>
            <a:ext cx="640080" cy="64008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463040" y="2651760"/>
            <a:ext cx="25694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1"/>
                </a:solidFill>
              </a:rPr>
              <a:t>het</a:t>
            </a:r>
            <a:r>
              <a:rPr lang="en-US" sz="1700" i="1" dirty="0">
                <a:solidFill>
                  <a:schemeClr val="tx1"/>
                </a:solidFill>
              </a:rPr>
              <a:t> contract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contrat</a:t>
            </a:r>
            <a:endParaRPr lang="en-US" sz="1700" dirty="0"/>
          </a:p>
        </p:txBody>
      </p:sp>
      <p:sp>
        <p:nvSpPr>
          <p:cNvPr id="17" name="Shape 10"/>
          <p:cNvSpPr/>
          <p:nvPr/>
        </p:nvSpPr>
        <p:spPr>
          <a:xfrm>
            <a:off x="4306824" y="2651760"/>
            <a:ext cx="3575304" cy="960120"/>
          </a:xfrm>
          <a:prstGeom prst="roundRect">
            <a:avLst>
              <a:gd name="adj" fmla="val 761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8" name="Image 4" descr="mem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3984" y="2807208"/>
            <a:ext cx="640080" cy="64008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5221224" y="2651760"/>
            <a:ext cx="25694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1"/>
                </a:solidFill>
              </a:rPr>
              <a:t>het</a:t>
            </a:r>
            <a:r>
              <a:rPr lang="en-US" sz="1700" i="1" dirty="0">
                <a:solidFill>
                  <a:schemeClr val="tx1"/>
                </a:solidFill>
              </a:rPr>
              <a:t> verslag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rapport, le compte rendu</a:t>
            </a:r>
            <a:endParaRPr lang="en-US" sz="1700" dirty="0"/>
          </a:p>
        </p:txBody>
      </p:sp>
      <p:sp>
        <p:nvSpPr>
          <p:cNvPr id="20" name="Shape 12"/>
          <p:cNvSpPr/>
          <p:nvPr/>
        </p:nvSpPr>
        <p:spPr>
          <a:xfrm>
            <a:off x="8065008" y="2651760"/>
            <a:ext cx="3575304" cy="960120"/>
          </a:xfrm>
          <a:prstGeom prst="roundRect">
            <a:avLst>
              <a:gd name="adj" fmla="val 761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1" name="Image 5" descr="spiral notepad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02168" y="2807208"/>
            <a:ext cx="640080" cy="64008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8979408" y="2651760"/>
            <a:ext cx="25694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1"/>
                </a:solidFill>
              </a:rPr>
              <a:t>het</a:t>
            </a:r>
            <a:r>
              <a:rPr lang="en-US" sz="1700" i="1" dirty="0">
                <a:solidFill>
                  <a:schemeClr val="tx1"/>
                </a:solidFill>
              </a:rPr>
              <a:t> formulier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formulaire</a:t>
            </a:r>
            <a:endParaRPr lang="en-US" sz="1700" dirty="0"/>
          </a:p>
        </p:txBody>
      </p:sp>
      <p:sp>
        <p:nvSpPr>
          <p:cNvPr id="23" name="Shape 14"/>
          <p:cNvSpPr/>
          <p:nvPr/>
        </p:nvSpPr>
        <p:spPr>
          <a:xfrm>
            <a:off x="548640" y="3749040"/>
            <a:ext cx="3575304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4" name="Image 6" descr="euro banknot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3904488"/>
            <a:ext cx="640080" cy="640080"/>
          </a:xfrm>
          <a:prstGeom prst="rect">
            <a:avLst/>
          </a:prstGeom>
        </p:spPr>
      </p:pic>
      <p:sp>
        <p:nvSpPr>
          <p:cNvPr id="25" name="Text 15"/>
          <p:cNvSpPr txBox="1"/>
          <p:nvPr/>
        </p:nvSpPr>
        <p:spPr>
          <a:xfrm>
            <a:off x="1463040" y="3749040"/>
            <a:ext cx="25694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loonfiche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fiche de paie</a:t>
            </a:r>
            <a:endParaRPr lang="en-US" sz="1700" dirty="0"/>
          </a:p>
        </p:txBody>
      </p:sp>
      <p:sp>
        <p:nvSpPr>
          <p:cNvPr id="26" name="Shape 16"/>
          <p:cNvSpPr/>
          <p:nvPr/>
        </p:nvSpPr>
        <p:spPr>
          <a:xfrm>
            <a:off x="4306824" y="3749040"/>
            <a:ext cx="3575304" cy="960120"/>
          </a:xfrm>
          <a:prstGeom prst="roundRect">
            <a:avLst>
              <a:gd name="adj" fmla="val 7619"/>
            </a:avLst>
          </a:prstGeom>
          <a:solidFill>
            <a:srgbClr val="FDF1E6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7" name="Image 7" descr="bookmark tabs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43984" y="3904488"/>
            <a:ext cx="640080" cy="640080"/>
          </a:xfrm>
          <a:prstGeom prst="rect">
            <a:avLst/>
          </a:prstGeom>
        </p:spPr>
      </p:pic>
      <p:sp>
        <p:nvSpPr>
          <p:cNvPr id="28" name="Text 17"/>
          <p:cNvSpPr txBox="1"/>
          <p:nvPr/>
        </p:nvSpPr>
        <p:spPr>
          <a:xfrm>
            <a:off x="5221224" y="3749040"/>
            <a:ext cx="25694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1"/>
                </a:solidFill>
              </a:rPr>
              <a:t>het</a:t>
            </a:r>
            <a:r>
              <a:rPr lang="en-US" sz="1700" i="1" dirty="0">
                <a:solidFill>
                  <a:schemeClr val="tx1"/>
                </a:solidFill>
              </a:rPr>
              <a:t> attest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l’attestation</a:t>
            </a:r>
            <a:endParaRPr lang="en-US" sz="1700" dirty="0"/>
          </a:p>
        </p:txBody>
      </p:sp>
      <p:sp>
        <p:nvSpPr>
          <p:cNvPr id="29" name="Shape 18"/>
          <p:cNvSpPr/>
          <p:nvPr/>
        </p:nvSpPr>
        <p:spPr>
          <a:xfrm>
            <a:off x="8065008" y="3749040"/>
            <a:ext cx="3575304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5875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30" name="Image 8" descr="paperclip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02168" y="3904488"/>
            <a:ext cx="640080" cy="640080"/>
          </a:xfrm>
          <a:prstGeom prst="rect">
            <a:avLst/>
          </a:prstGeom>
        </p:spPr>
      </p:pic>
      <p:sp>
        <p:nvSpPr>
          <p:cNvPr id="31" name="Text 19"/>
          <p:cNvSpPr txBox="1"/>
          <p:nvPr/>
        </p:nvSpPr>
        <p:spPr>
          <a:xfrm>
            <a:off x="8979408" y="3749040"/>
            <a:ext cx="25694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bijlage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la pièce jointe</a:t>
            </a:r>
            <a:endParaRPr lang="en-US" sz="1700" dirty="0"/>
          </a:p>
        </p:txBody>
      </p:sp>
      <p:sp>
        <p:nvSpPr>
          <p:cNvPr id="32" name="Shape 20"/>
          <p:cNvSpPr/>
          <p:nvPr/>
        </p:nvSpPr>
        <p:spPr>
          <a:xfrm>
            <a:off x="548640" y="4937760"/>
            <a:ext cx="11091672" cy="640080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21"/>
          <p:cNvSpPr txBox="1"/>
          <p:nvPr/>
        </p:nvSpPr>
        <p:spPr>
          <a:xfrm>
            <a:off x="777240" y="493776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In de bijlage vindt u de offerte.</a:t>
            </a:r>
            <a:r>
              <a:rPr lang="en-US" sz="1600" dirty="0">
                <a:solidFill>
                  <a:schemeClr val="tx1"/>
                </a:solidFill>
              </a:rPr>
              <a:t> (M10) · </a:t>
            </a:r>
            <a:r>
              <a:rPr lang="en-US" sz="1600" i="1" dirty="0">
                <a:solidFill>
                  <a:schemeClr val="tx1"/>
                </a:solidFill>
              </a:rPr>
              <a:t>het verslag</a:t>
            </a:r>
            <a:r>
              <a:rPr lang="en-US" sz="1600" dirty="0">
                <a:solidFill>
                  <a:schemeClr val="tx1"/>
                </a:solidFill>
              </a:rPr>
              <a:t> = aussi le PV d’une réunion (NL : </a:t>
            </a:r>
            <a:r>
              <a:rPr lang="en-US" sz="1600" i="1" dirty="0">
                <a:solidFill>
                  <a:schemeClr val="tx1"/>
                </a:solidFill>
              </a:rPr>
              <a:t>de notulen</a:t>
            </a:r>
            <a:r>
              <a:rPr lang="en-US" sz="1600" dirty="0">
                <a:solidFill>
                  <a:schemeClr val="tx1"/>
                </a:solidFill>
              </a:rPr>
              <a:t>)</a:t>
            </a:r>
            <a:endParaRPr lang="en-US" sz="1600" dirty="0"/>
          </a:p>
        </p:txBody>
      </p:sp>
      <p:sp>
        <p:nvSpPr>
          <p:cNvPr id="34" name="Shape 22"/>
          <p:cNvSpPr/>
          <p:nvPr/>
        </p:nvSpPr>
        <p:spPr>
          <a:xfrm>
            <a:off x="548640" y="5715000"/>
            <a:ext cx="11091672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23"/>
          <p:cNvSpPr txBox="1"/>
          <p:nvPr/>
        </p:nvSpPr>
        <p:spPr>
          <a:xfrm>
            <a:off x="822960" y="57150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Très belge : </a:t>
            </a:r>
            <a:r>
              <a:rPr lang="en-US" sz="1600" i="1" dirty="0">
                <a:solidFill>
                  <a:schemeClr val="bg1"/>
                </a:solidFill>
              </a:rPr>
              <a:t>de loonfiche</a:t>
            </a:r>
            <a:r>
              <a:rPr lang="en-US" sz="1600" dirty="0">
                <a:solidFill>
                  <a:schemeClr val="bg1"/>
                </a:solidFill>
              </a:rPr>
              <a:t> (NL : </a:t>
            </a:r>
            <a:r>
              <a:rPr lang="en-US" sz="1600" i="1" dirty="0">
                <a:solidFill>
                  <a:schemeClr val="bg1"/>
                </a:solidFill>
              </a:rPr>
              <a:t>de loonstrook</a:t>
            </a:r>
            <a:r>
              <a:rPr lang="en-US" sz="1600" dirty="0">
                <a:solidFill>
                  <a:schemeClr val="bg1"/>
                </a:solidFill>
              </a:rPr>
              <a:t>), </a:t>
            </a:r>
            <a:r>
              <a:rPr lang="en-US" sz="1600" i="1" dirty="0">
                <a:solidFill>
                  <a:schemeClr val="bg1"/>
                </a:solidFill>
              </a:rPr>
              <a:t>het attest</a:t>
            </a:r>
            <a:r>
              <a:rPr lang="en-US" sz="1600" dirty="0">
                <a:solidFill>
                  <a:schemeClr val="bg1"/>
                </a:solidFill>
              </a:rPr>
              <a:t> (un </a:t>
            </a:r>
            <a:r>
              <a:rPr lang="en-US" sz="1600" i="1" dirty="0">
                <a:solidFill>
                  <a:schemeClr val="bg1"/>
                </a:solidFill>
              </a:rPr>
              <a:t>ziekteattest</a:t>
            </a:r>
            <a:r>
              <a:rPr lang="en-US" sz="1600" dirty="0">
                <a:solidFill>
                  <a:schemeClr val="bg1"/>
                </a:solidFill>
              </a:rPr>
              <a:t> = un certificat médical)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Les verbes du travail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3840480"/>
          </a:xfrm>
          <a:prstGeom prst="roundRect">
            <a:avLst>
              <a:gd name="adj" fmla="val 2580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48640" y="1554480"/>
            <a:ext cx="3544824" cy="548640"/>
          </a:xfrm>
          <a:prstGeom prst="roundRect">
            <a:avLst>
              <a:gd name="adj" fmla="val 16667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Buil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45920"/>
            <a:ext cx="365760" cy="36576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34440" y="1554480"/>
            <a:ext cx="2721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Au bureau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212848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vergaderen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être en réunion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2743200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bellen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téléphoner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777240" y="3273552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mailen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envoyer un e-mail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777240" y="3803904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afdrukken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imprimer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777240" y="4334256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kopiëren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copier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777240" y="4864608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plannen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planifier</a:t>
            </a:r>
            <a:endParaRPr lang="en-US" sz="1500" dirty="0"/>
          </a:p>
        </p:txBody>
      </p:sp>
      <p:sp>
        <p:nvSpPr>
          <p:cNvPr id="15" name="Shape 11"/>
          <p:cNvSpPr/>
          <p:nvPr/>
        </p:nvSpPr>
        <p:spPr>
          <a:xfrm>
            <a:off x="4322064" y="1554480"/>
            <a:ext cx="3544824" cy="3840480"/>
          </a:xfrm>
          <a:prstGeom prst="roundRect">
            <a:avLst>
              <a:gd name="adj" fmla="val 2580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4322064" y="1554480"/>
            <a:ext cx="3544824" cy="548640"/>
          </a:xfrm>
          <a:prstGeom prst="roundRect">
            <a:avLst>
              <a:gd name="adj" fmla="val 16667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1" descr="Handshak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4944" y="164592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5007864" y="1554480"/>
            <a:ext cx="2721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Avec les clients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4550664" y="2212848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bestellen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commander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4550664" y="2743200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leveren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livrer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4550664" y="3273552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factureren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facturer</a:t>
            </a:r>
            <a:endParaRPr lang="en-US" sz="1500" dirty="0"/>
          </a:p>
        </p:txBody>
      </p:sp>
      <p:sp>
        <p:nvSpPr>
          <p:cNvPr id="22" name="Text 17"/>
          <p:cNvSpPr txBox="1"/>
          <p:nvPr/>
        </p:nvSpPr>
        <p:spPr>
          <a:xfrm>
            <a:off x="4550664" y="3803904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betalen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payer</a:t>
            </a:r>
            <a:endParaRPr lang="en-US" sz="1500" dirty="0"/>
          </a:p>
        </p:txBody>
      </p:sp>
      <p:sp>
        <p:nvSpPr>
          <p:cNvPr id="23" name="Text 18"/>
          <p:cNvSpPr txBox="1"/>
          <p:nvPr/>
        </p:nvSpPr>
        <p:spPr>
          <a:xfrm>
            <a:off x="4550664" y="4334256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onderhandelen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négocier</a:t>
            </a:r>
            <a:endParaRPr lang="en-US" sz="1500" dirty="0"/>
          </a:p>
        </p:txBody>
      </p:sp>
      <p:sp>
        <p:nvSpPr>
          <p:cNvPr id="24" name="Shape 19"/>
          <p:cNvSpPr/>
          <p:nvPr/>
        </p:nvSpPr>
        <p:spPr>
          <a:xfrm>
            <a:off x="8095488" y="1554480"/>
            <a:ext cx="3544824" cy="3840480"/>
          </a:xfrm>
          <a:prstGeom prst="roundRect">
            <a:avLst>
              <a:gd name="adj" fmla="val 2580"/>
            </a:avLst>
          </a:prstGeom>
          <a:solidFill>
            <a:schemeClr val="bg1"/>
          </a:solidFill>
          <a:ln w="25400">
            <a:solidFill>
              <a:srgbClr val="6E4A9E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8095488" y="1554480"/>
            <a:ext cx="3544824" cy="548640"/>
          </a:xfrm>
          <a:prstGeom prst="roundRect">
            <a:avLst>
              <a:gd name="adj" fmla="val 16667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6" name="Image 2" descr="Use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8368" y="1645920"/>
            <a:ext cx="365760" cy="365760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8781288" y="1554480"/>
            <a:ext cx="27218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Le personnel</a:t>
            </a:r>
            <a:endParaRPr lang="en-US" sz="1700" dirty="0"/>
          </a:p>
        </p:txBody>
      </p:sp>
      <p:sp>
        <p:nvSpPr>
          <p:cNvPr id="28" name="Text 22"/>
          <p:cNvSpPr txBox="1"/>
          <p:nvPr/>
        </p:nvSpPr>
        <p:spPr>
          <a:xfrm>
            <a:off x="8324088" y="2212848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solliciteren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postuler</a:t>
            </a:r>
            <a:endParaRPr lang="en-US" sz="1500" dirty="0"/>
          </a:p>
        </p:txBody>
      </p:sp>
      <p:sp>
        <p:nvSpPr>
          <p:cNvPr id="29" name="Text 23"/>
          <p:cNvSpPr txBox="1"/>
          <p:nvPr/>
        </p:nvSpPr>
        <p:spPr>
          <a:xfrm>
            <a:off x="8324088" y="2743200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aanwerven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embaucher</a:t>
            </a:r>
            <a:endParaRPr lang="en-US" sz="1500" dirty="0"/>
          </a:p>
        </p:txBody>
      </p:sp>
      <p:sp>
        <p:nvSpPr>
          <p:cNvPr id="30" name="Text 24"/>
          <p:cNvSpPr txBox="1"/>
          <p:nvPr/>
        </p:nvSpPr>
        <p:spPr>
          <a:xfrm>
            <a:off x="8324088" y="3273552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opleiden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former</a:t>
            </a:r>
            <a:endParaRPr lang="en-US" sz="1500" dirty="0"/>
          </a:p>
        </p:txBody>
      </p:sp>
      <p:sp>
        <p:nvSpPr>
          <p:cNvPr id="31" name="Text 25"/>
          <p:cNvSpPr txBox="1"/>
          <p:nvPr/>
        </p:nvSpPr>
        <p:spPr>
          <a:xfrm>
            <a:off x="8324088" y="3803904"/>
            <a:ext cx="3179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ontslaan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licencier</a:t>
            </a:r>
            <a:endParaRPr lang="en-US" sz="1500" dirty="0"/>
          </a:p>
        </p:txBody>
      </p:sp>
      <p:sp>
        <p:nvSpPr>
          <p:cNvPr id="32" name="Shape 26"/>
          <p:cNvSpPr/>
          <p:nvPr/>
        </p:nvSpPr>
        <p:spPr>
          <a:xfrm>
            <a:off x="548640" y="5577840"/>
            <a:ext cx="11091672" cy="658368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822960" y="5577840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bg1"/>
                </a:solidFill>
              </a:rPr>
              <a:t>Karim is aan het vergaderen.</a:t>
            </a:r>
            <a:r>
              <a:rPr lang="en-US" sz="1800" dirty="0">
                <a:solidFill>
                  <a:schemeClr val="bg1"/>
                </a:solidFill>
              </a:rPr>
              <a:t> · </a:t>
            </a:r>
            <a:r>
              <a:rPr lang="en-US" sz="1800" i="1" dirty="0">
                <a:solidFill>
                  <a:schemeClr val="bg1"/>
                </a:solidFill>
              </a:rPr>
              <a:t>Hij is in vergadering.</a:t>
            </a:r>
            <a:r>
              <a:rPr lang="en-US" sz="1800" dirty="0">
                <a:solidFill>
                  <a:schemeClr val="bg1"/>
                </a:solidFill>
              </a:rPr>
              <a:t> · </a:t>
            </a:r>
            <a:r>
              <a:rPr lang="en-US" sz="1800" i="1" dirty="0">
                <a:solidFill>
                  <a:schemeClr val="bg1"/>
                </a:solidFill>
              </a:rPr>
              <a:t>Ik druk het verslag </a:t>
            </a:r>
            <a:r>
              <a:rPr lang="en-US" sz="1800" b="1" i="1" dirty="0">
                <a:solidFill>
                  <a:schemeClr val="bg1"/>
                </a:solidFill>
              </a:rPr>
              <a:t>af</a:t>
            </a:r>
            <a:r>
              <a:rPr lang="en-US" sz="1800" i="1" dirty="0">
                <a:solidFill>
                  <a:schemeClr val="bg1"/>
                </a:solidFill>
              </a:rPr>
              <a:t>.</a:t>
            </a:r>
            <a:r>
              <a:rPr lang="en-US" sz="1800" dirty="0">
                <a:solidFill>
                  <a:schemeClr val="bg1"/>
                </a:solidFill>
              </a:rPr>
              <a:t> (M11)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prendre, faire, poser…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08676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60120" y="1554480"/>
            <a:ext cx="49057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prendre une décision »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i="1" dirty="0">
                <a:solidFill>
                  <a:schemeClr val="tx1"/>
                </a:solidFill>
              </a:rPr>
              <a:t>een beslissing </a:t>
            </a:r>
            <a:r>
              <a:rPr lang="en-US" sz="1600" b="1" i="1" dirty="0">
                <a:solidFill>
                  <a:schemeClr val="accent6"/>
                </a:solidFill>
              </a:rPr>
              <a:t>nemen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48640" y="2340864"/>
            <a:ext cx="5408676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60120" y="2340864"/>
            <a:ext cx="49057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prendre une pause »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i="1" dirty="0">
                <a:solidFill>
                  <a:schemeClr val="tx1"/>
                </a:solidFill>
              </a:rPr>
              <a:t>een pauze </a:t>
            </a:r>
            <a:r>
              <a:rPr lang="en-US" sz="1600" b="1" i="1" dirty="0">
                <a:solidFill>
                  <a:schemeClr val="accent6"/>
                </a:solidFill>
              </a:rPr>
              <a:t>nemen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548640" y="3127248"/>
            <a:ext cx="5408676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60120" y="3127248"/>
            <a:ext cx="49057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prendre congé »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i="1" dirty="0">
                <a:solidFill>
                  <a:schemeClr val="tx1"/>
                </a:solidFill>
              </a:rPr>
              <a:t>verlof </a:t>
            </a:r>
            <a:r>
              <a:rPr lang="en-US" sz="1600" b="1" i="1" dirty="0">
                <a:solidFill>
                  <a:schemeClr val="accent6"/>
                </a:solidFill>
              </a:rPr>
              <a:t>nemen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548640" y="3913632"/>
            <a:ext cx="5408676" cy="713232"/>
          </a:xfrm>
          <a:prstGeom prst="roundRect">
            <a:avLst>
              <a:gd name="adj" fmla="val 10256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0080" y="3913632"/>
            <a:ext cx="320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⚠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960120" y="3913632"/>
            <a:ext cx="49057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faire une réunion »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i="1" dirty="0">
                <a:solidFill>
                  <a:schemeClr val="tx1"/>
                </a:solidFill>
              </a:rPr>
              <a:t>een vergadering </a:t>
            </a:r>
            <a:r>
              <a:rPr lang="en-US" sz="1600" b="1" i="1" dirty="0">
                <a:solidFill>
                  <a:schemeClr val="accent6"/>
                </a:solidFill>
              </a:rPr>
              <a:t>houden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548640" y="4700016"/>
            <a:ext cx="5408676" cy="713232"/>
          </a:xfrm>
          <a:prstGeom prst="roundRect">
            <a:avLst>
              <a:gd name="adj" fmla="val 10256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60120" y="4700016"/>
            <a:ext cx="49057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faire une erreur »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i="1" dirty="0">
                <a:solidFill>
                  <a:schemeClr val="tx1"/>
                </a:solidFill>
              </a:rPr>
              <a:t>een fout </a:t>
            </a:r>
            <a:r>
              <a:rPr lang="en-US" sz="1600" b="1" i="1" dirty="0">
                <a:solidFill>
                  <a:schemeClr val="accent6"/>
                </a:solidFill>
              </a:rPr>
              <a:t>maken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6231636" y="1554480"/>
            <a:ext cx="5408676" cy="713232"/>
          </a:xfrm>
          <a:prstGeom prst="roundRect">
            <a:avLst>
              <a:gd name="adj" fmla="val 10256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323076" y="1554480"/>
            <a:ext cx="320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⚠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6643116" y="1554480"/>
            <a:ext cx="49057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poser une question »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i="1" dirty="0">
                <a:solidFill>
                  <a:schemeClr val="tx1"/>
                </a:solidFill>
              </a:rPr>
              <a:t>een vraag </a:t>
            </a:r>
            <a:r>
              <a:rPr lang="en-US" sz="1600" b="1" i="1" dirty="0">
                <a:solidFill>
                  <a:schemeClr val="accent6"/>
                </a:solidFill>
              </a:rPr>
              <a:t>stellen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231636" y="2340864"/>
            <a:ext cx="5408676" cy="713232"/>
          </a:xfrm>
          <a:prstGeom prst="roundRect">
            <a:avLst>
              <a:gd name="adj" fmla="val 10256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323076" y="2340864"/>
            <a:ext cx="320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⚠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6643116" y="2340864"/>
            <a:ext cx="49057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faire une présentation »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i="1" dirty="0">
                <a:solidFill>
                  <a:schemeClr val="tx1"/>
                </a:solidFill>
              </a:rPr>
              <a:t>een presentatie </a:t>
            </a:r>
            <a:r>
              <a:rPr lang="en-US" sz="1600" b="1" i="1" dirty="0">
                <a:solidFill>
                  <a:schemeClr val="accent6"/>
                </a:solidFill>
              </a:rPr>
              <a:t>geven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6231636" y="3127248"/>
            <a:ext cx="5408676" cy="713232"/>
          </a:xfrm>
          <a:prstGeom prst="roundRect">
            <a:avLst>
              <a:gd name="adj" fmla="val 10256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323076" y="3127248"/>
            <a:ext cx="320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⚠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6643116" y="3127248"/>
            <a:ext cx="49057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suivre une formation »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i="1" dirty="0">
                <a:solidFill>
                  <a:schemeClr val="tx1"/>
                </a:solidFill>
              </a:rPr>
              <a:t>een opleiding </a:t>
            </a:r>
            <a:r>
              <a:rPr lang="en-US" sz="1600" b="1" i="1" dirty="0">
                <a:solidFill>
                  <a:schemeClr val="accent6"/>
                </a:solidFill>
              </a:rPr>
              <a:t>volgen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6231636" y="3913632"/>
            <a:ext cx="5408676" cy="713232"/>
          </a:xfrm>
          <a:prstGeom prst="roundRect">
            <a:avLst>
              <a:gd name="adj" fmla="val 10256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323076" y="3913632"/>
            <a:ext cx="320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⚠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6643116" y="3913632"/>
            <a:ext cx="49057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remplir un formulaire »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i="1" dirty="0">
                <a:solidFill>
                  <a:schemeClr val="tx1"/>
                </a:solidFill>
              </a:rPr>
              <a:t>een formulier </a:t>
            </a:r>
            <a:r>
              <a:rPr lang="en-US" sz="1600" b="1" i="1" dirty="0">
                <a:solidFill>
                  <a:schemeClr val="accent6"/>
                </a:solidFill>
              </a:rPr>
              <a:t>invullen</a:t>
            </a:r>
            <a:endParaRPr lang="en-US" sz="1600" dirty="0"/>
          </a:p>
        </p:txBody>
      </p:sp>
      <p:sp>
        <p:nvSpPr>
          <p:cNvPr id="28" name="Shape 25"/>
          <p:cNvSpPr/>
          <p:nvPr/>
        </p:nvSpPr>
        <p:spPr>
          <a:xfrm>
            <a:off x="6231636" y="4700016"/>
            <a:ext cx="5408676" cy="713232"/>
          </a:xfrm>
          <a:prstGeom prst="roundRect">
            <a:avLst>
              <a:gd name="adj" fmla="val 10256"/>
            </a:avLst>
          </a:prstGeom>
          <a:solidFill>
            <a:srgbClr val="FBEDEB"/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323076" y="4700016"/>
            <a:ext cx="320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⚠</a:t>
            </a:r>
            <a:endParaRPr lang="en-US" sz="1600" dirty="0"/>
          </a:p>
        </p:txBody>
      </p:sp>
      <p:sp>
        <p:nvSpPr>
          <p:cNvPr id="30" name="Text 27"/>
          <p:cNvSpPr txBox="1"/>
          <p:nvPr/>
        </p:nvSpPr>
        <p:spPr>
          <a:xfrm>
            <a:off x="6643116" y="4700016"/>
            <a:ext cx="490575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 prendre contact »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→ </a:t>
            </a:r>
            <a:r>
              <a:rPr lang="en-US" sz="1600" i="1" dirty="0">
                <a:solidFill>
                  <a:schemeClr val="tx1"/>
                </a:solidFill>
              </a:rPr>
              <a:t>contact </a:t>
            </a:r>
            <a:r>
              <a:rPr lang="en-US" sz="1600" b="1" i="1" dirty="0">
                <a:solidFill>
                  <a:schemeClr val="accent6"/>
                </a:solidFill>
              </a:rPr>
              <a:t>opnemen</a:t>
            </a:r>
            <a:endParaRPr lang="en-US" sz="1600" dirty="0"/>
          </a:p>
        </p:txBody>
      </p:sp>
      <p:sp>
        <p:nvSpPr>
          <p:cNvPr id="31" name="Shape 28"/>
          <p:cNvSpPr/>
          <p:nvPr/>
        </p:nvSpPr>
        <p:spPr>
          <a:xfrm>
            <a:off x="548640" y="5577840"/>
            <a:ext cx="11091672" cy="658368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22960" y="5577840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On apprend une </a:t>
            </a:r>
            <a:r>
              <a:rPr lang="en-US" sz="1700" b="1" dirty="0">
                <a:solidFill>
                  <a:schemeClr val="bg1"/>
                </a:solidFill>
              </a:rPr>
              <a:t>expression complète</a:t>
            </a:r>
            <a:r>
              <a:rPr lang="en-US" sz="1700" dirty="0">
                <a:solidFill>
                  <a:schemeClr val="bg1"/>
                </a:solidFill>
              </a:rPr>
              <a:t> : </a:t>
            </a:r>
            <a:r>
              <a:rPr lang="en-US" sz="1700" i="1" dirty="0">
                <a:solidFill>
                  <a:schemeClr val="bg1"/>
                </a:solidFill>
              </a:rPr>
              <a:t>een vraag stellen</a:t>
            </a:r>
            <a:r>
              <a:rPr lang="en-US" sz="1700" dirty="0">
                <a:solidFill>
                  <a:schemeClr val="bg1"/>
                </a:solidFill>
              </a:rPr>
              <a:t>, pas « poser = </a:t>
            </a:r>
            <a:r>
              <a:rPr lang="en-US" sz="1700" i="1" dirty="0">
                <a:solidFill>
                  <a:schemeClr val="bg1"/>
                </a:solidFill>
              </a:rPr>
              <a:t>stellen</a:t>
            </a:r>
            <a:r>
              <a:rPr lang="en-US" sz="1700" dirty="0">
                <a:solidFill>
                  <a:schemeClr val="bg1"/>
                </a:solidFill>
              </a:rPr>
              <a:t> » · aussi : </a:t>
            </a:r>
            <a:r>
              <a:rPr lang="en-US" sz="1700" i="1" dirty="0">
                <a:solidFill>
                  <a:schemeClr val="bg1"/>
                </a:solidFill>
              </a:rPr>
              <a:t>een vergadering </a:t>
            </a:r>
            <a:r>
              <a:rPr lang="en-US" sz="1700" b="1" i="1" dirty="0">
                <a:solidFill>
                  <a:schemeClr val="bg1"/>
                </a:solidFill>
              </a:rPr>
              <a:t>hebben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 contrat et les conditions de travail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31536" cy="1783080"/>
          </a:xfrm>
          <a:prstGeom prst="roundRect">
            <a:avLst>
              <a:gd name="adj" fmla="val 5128"/>
            </a:avLst>
          </a:prstGeom>
          <a:solidFill>
            <a:schemeClr val="bg1"/>
          </a:solidFill>
          <a:ln w="22225">
            <a:solidFill>
              <a:srgbClr val="2A6FB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85800" y="169164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FileContrac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7474" y="1823314"/>
            <a:ext cx="285293" cy="28529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71600" y="1691640"/>
            <a:ext cx="45171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Contrat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2286000"/>
            <a:ext cx="502005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een contract van </a:t>
            </a:r>
            <a:r>
              <a:rPr lang="en-US" sz="1500" b="1" i="1" dirty="0">
                <a:solidFill>
                  <a:schemeClr val="tx1"/>
                </a:solidFill>
              </a:rPr>
              <a:t>onbepaalde</a:t>
            </a:r>
            <a:r>
              <a:rPr lang="en-US" sz="1500" i="1" dirty="0">
                <a:solidFill>
                  <a:schemeClr val="tx1"/>
                </a:solidFill>
              </a:rPr>
              <a:t> duur</a:t>
            </a:r>
            <a:r>
              <a:rPr lang="en-US" sz="1500" dirty="0">
                <a:solidFill>
                  <a:schemeClr val="tx1"/>
                </a:solidFill>
              </a:rPr>
              <a:t> (CDI)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van </a:t>
            </a:r>
            <a:r>
              <a:rPr lang="en-US" sz="1500" b="1" i="1" dirty="0">
                <a:solidFill>
                  <a:schemeClr val="tx1"/>
                </a:solidFill>
              </a:rPr>
              <a:t>bepaalde</a:t>
            </a:r>
            <a:r>
              <a:rPr lang="en-US" sz="1500" i="1" dirty="0">
                <a:solidFill>
                  <a:schemeClr val="tx1"/>
                </a:solidFill>
              </a:rPr>
              <a:t> duur</a:t>
            </a:r>
            <a:r>
              <a:rPr lang="en-US" sz="1500" dirty="0">
                <a:solidFill>
                  <a:schemeClr val="tx1"/>
                </a:solidFill>
              </a:rPr>
              <a:t> (CDD)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de opzegtermijn</a:t>
            </a:r>
            <a:r>
              <a:rPr lang="en-US" sz="1500" dirty="0">
                <a:solidFill>
                  <a:schemeClr val="tx1"/>
                </a:solidFill>
              </a:rPr>
              <a:t> (le préavis)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6208776" y="1554480"/>
            <a:ext cx="5431536" cy="1783080"/>
          </a:xfrm>
          <a:prstGeom prst="roundRect">
            <a:avLst>
              <a:gd name="adj" fmla="val 5128"/>
            </a:avLst>
          </a:prstGeom>
          <a:solidFill>
            <a:schemeClr val="bg1"/>
          </a:solidFill>
          <a:ln w="22225">
            <a:solidFill>
              <a:srgbClr val="2E7D4F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345936" y="169164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Clo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7610" y="1823314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031736" y="1691640"/>
            <a:ext cx="45171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Temps de travail</a:t>
            </a:r>
            <a:endParaRPr lang="en-US" sz="1800" dirty="0"/>
          </a:p>
        </p:txBody>
      </p:sp>
      <p:sp>
        <p:nvSpPr>
          <p:cNvPr id="14" name="Text 9"/>
          <p:cNvSpPr txBox="1"/>
          <p:nvPr/>
        </p:nvSpPr>
        <p:spPr>
          <a:xfrm>
            <a:off x="6483096" y="2286000"/>
            <a:ext cx="502005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voltijds</a:t>
            </a:r>
            <a:r>
              <a:rPr lang="en-US" sz="1500" dirty="0">
                <a:solidFill>
                  <a:schemeClr val="tx1"/>
                </a:solidFill>
              </a:rPr>
              <a:t> (temps plein) · </a:t>
            </a:r>
            <a:r>
              <a:rPr lang="en-US" sz="1500" i="1" dirty="0">
                <a:solidFill>
                  <a:schemeClr val="tx1"/>
                </a:solidFill>
              </a:rPr>
              <a:t>deeltijds</a:t>
            </a:r>
            <a:r>
              <a:rPr lang="en-US" sz="1500" dirty="0">
                <a:solidFill>
                  <a:schemeClr val="tx1"/>
                </a:solidFill>
              </a:rPr>
              <a:t> (temps partiel)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glijdende uren</a:t>
            </a:r>
            <a:r>
              <a:rPr lang="en-US" sz="1500" dirty="0">
                <a:solidFill>
                  <a:schemeClr val="tx1"/>
                </a:solidFill>
              </a:rPr>
              <a:t> (horaire flexible)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thuiswerken</a:t>
            </a:r>
            <a:r>
              <a:rPr lang="en-US" sz="1500" dirty="0">
                <a:solidFill>
                  <a:schemeClr val="tx1"/>
                </a:solidFill>
              </a:rPr>
              <a:t> = </a:t>
            </a:r>
            <a:r>
              <a:rPr lang="en-US" sz="1500" i="1" dirty="0">
                <a:solidFill>
                  <a:schemeClr val="tx1"/>
                </a:solidFill>
              </a:rPr>
              <a:t>telewerken</a:t>
            </a:r>
            <a:r>
              <a:rPr lang="en-US" sz="1500" dirty="0">
                <a:solidFill>
                  <a:schemeClr val="tx1"/>
                </a:solidFill>
              </a:rPr>
              <a:t> (BE)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548640" y="3474720"/>
            <a:ext cx="5431536" cy="1783080"/>
          </a:xfrm>
          <a:prstGeom prst="roundRect">
            <a:avLst>
              <a:gd name="adj" fmla="val 5128"/>
            </a:avLst>
          </a:prstGeom>
          <a:solidFill>
            <a:schemeClr val="bg1"/>
          </a:solidFill>
          <a:ln w="22225">
            <a:solidFill>
              <a:srgbClr val="D9700F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685800" y="36118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EuroSig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7474" y="3743554"/>
            <a:ext cx="285293" cy="285293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371600" y="3611880"/>
            <a:ext cx="45171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Salaire et avantages</a:t>
            </a:r>
            <a:endParaRPr lang="en-US" sz="1800" dirty="0"/>
          </a:p>
        </p:txBody>
      </p:sp>
      <p:sp>
        <p:nvSpPr>
          <p:cNvPr id="19" name="Text 13"/>
          <p:cNvSpPr txBox="1"/>
          <p:nvPr/>
        </p:nvSpPr>
        <p:spPr>
          <a:xfrm>
            <a:off x="822960" y="4206240"/>
            <a:ext cx="502005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het brutoloon / het nettoloon</a:t>
            </a:r>
            <a:r>
              <a:rPr lang="en-US" sz="1500" dirty="0">
                <a:solidFill>
                  <a:schemeClr val="tx1"/>
                </a:solidFill>
              </a:rPr>
              <a:t> (M26)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de maaltijdcheques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de bedrijfswagen</a:t>
            </a:r>
            <a:r>
              <a:rPr lang="en-US" sz="1500" dirty="0">
                <a:solidFill>
                  <a:schemeClr val="tx1"/>
                </a:solidFill>
              </a:rPr>
              <a:t> (voiture de société)</a:t>
            </a:r>
            <a:endParaRPr lang="en-US" sz="1500" dirty="0"/>
          </a:p>
        </p:txBody>
      </p:sp>
      <p:sp>
        <p:nvSpPr>
          <p:cNvPr id="20" name="Shape 14"/>
          <p:cNvSpPr/>
          <p:nvPr/>
        </p:nvSpPr>
        <p:spPr>
          <a:xfrm>
            <a:off x="6208776" y="3474720"/>
            <a:ext cx="5431536" cy="1783080"/>
          </a:xfrm>
          <a:prstGeom prst="roundRect">
            <a:avLst>
              <a:gd name="adj" fmla="val 5128"/>
            </a:avLst>
          </a:prstGeom>
          <a:solidFill>
            <a:schemeClr val="bg1"/>
          </a:solidFill>
          <a:ln w="22225">
            <a:solidFill>
              <a:srgbClr val="6E4A9E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6345936" y="3611880"/>
            <a:ext cx="548640" cy="54864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2" name="Image 3" descr="UmbrellaBea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7610" y="3743554"/>
            <a:ext cx="285293" cy="285293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7031736" y="3611880"/>
            <a:ext cx="45171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E4A9E"/>
                </a:solidFill>
              </a:rPr>
              <a:t>Congés</a:t>
            </a:r>
            <a:endParaRPr lang="en-US" sz="1800" dirty="0"/>
          </a:p>
        </p:txBody>
      </p:sp>
      <p:sp>
        <p:nvSpPr>
          <p:cNvPr id="24" name="Text 17"/>
          <p:cNvSpPr txBox="1"/>
          <p:nvPr/>
        </p:nvSpPr>
        <p:spPr>
          <a:xfrm>
            <a:off x="6483096" y="4206240"/>
            <a:ext cx="502005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het verlof</a:t>
            </a:r>
            <a:r>
              <a:rPr lang="en-US" sz="1500" dirty="0">
                <a:solidFill>
                  <a:schemeClr val="tx1"/>
                </a:solidFill>
              </a:rPr>
              <a:t> · </a:t>
            </a:r>
            <a:r>
              <a:rPr lang="en-US" sz="1500" i="1" dirty="0">
                <a:solidFill>
                  <a:schemeClr val="tx1"/>
                </a:solidFill>
              </a:rPr>
              <a:t>de vakantiedagen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ziek zijn</a:t>
            </a:r>
            <a:r>
              <a:rPr lang="en-US" sz="1500" dirty="0">
                <a:solidFill>
                  <a:schemeClr val="tx1"/>
                </a:solidFill>
              </a:rPr>
              <a:t> · </a:t>
            </a:r>
            <a:r>
              <a:rPr lang="en-US" sz="1500" i="1" dirty="0">
                <a:solidFill>
                  <a:schemeClr val="tx1"/>
                </a:solidFill>
              </a:rPr>
              <a:t>een ziekteattest</a:t>
            </a:r>
            <a:endParaRPr lang="en-US" sz="15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Ik neem morgen verlof.</a:t>
            </a:r>
            <a:endParaRPr lang="en-US" sz="1500" dirty="0"/>
          </a:p>
        </p:txBody>
      </p:sp>
      <p:sp>
        <p:nvSpPr>
          <p:cNvPr id="25" name="Shape 18"/>
          <p:cNvSpPr/>
          <p:nvPr/>
        </p:nvSpPr>
        <p:spPr>
          <a:xfrm>
            <a:off x="548640" y="548640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822960" y="548640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bg1"/>
                </a:solidFill>
              </a:rPr>
              <a:t>Ik werk deeltijds, vier dagen per week. · Ik werk twee dagen per week thuis.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les faux amis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103120"/>
            <a:ext cx="3291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solliciter » (demander)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4206240" y="2103120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✗ </a:t>
            </a:r>
            <a:r>
              <a:rPr lang="en-US" sz="1600" i="1" strike="sngStrike" dirty="0">
                <a:solidFill>
                  <a:schemeClr val="accent6"/>
                </a:solidFill>
              </a:rPr>
              <a:t>solliciteren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6675120" y="2404872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7040880" y="2139696"/>
            <a:ext cx="44348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178040" y="2139696"/>
            <a:ext cx="4251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b="1" i="1" dirty="0">
                <a:solidFill>
                  <a:schemeClr val="tx1"/>
                </a:solidFill>
              </a:rPr>
              <a:t>vragen</a:t>
            </a:r>
            <a:r>
              <a:rPr lang="en-US" sz="1700" i="1" dirty="0">
                <a:solidFill>
                  <a:schemeClr val="tx1"/>
                </a:solidFill>
              </a:rPr>
              <a:t> · </a:t>
            </a:r>
            <a:r>
              <a:rPr lang="en-US" sz="1700" dirty="0">
                <a:solidFill>
                  <a:schemeClr val="tx1"/>
                </a:solidFill>
              </a:rPr>
              <a:t>solliciteren</a:t>
            </a:r>
            <a:r>
              <a:rPr lang="en-US" sz="1700" i="1" dirty="0">
                <a:solidFill>
                  <a:schemeClr val="tx1"/>
                </a:solidFill>
              </a:rPr>
              <a:t> = </a:t>
            </a:r>
            <a:r>
              <a:rPr lang="en-US" sz="1700" b="1" i="1" dirty="0">
                <a:solidFill>
                  <a:schemeClr val="tx1"/>
                </a:solidFill>
              </a:rPr>
              <a:t>postuler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788920"/>
            <a:ext cx="3291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la formation »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4206240" y="2788920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✗ </a:t>
            </a:r>
            <a:r>
              <a:rPr lang="en-US" sz="1600" i="1" strike="sngStrike" dirty="0">
                <a:solidFill>
                  <a:schemeClr val="accent6"/>
                </a:solidFill>
              </a:rPr>
              <a:t>de formatie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6675120" y="3090672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7040880" y="2825496"/>
            <a:ext cx="44348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178040" y="2825496"/>
            <a:ext cx="4251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de </a:t>
            </a:r>
            <a:r>
              <a:rPr lang="en-US" sz="1700" b="1" i="1" dirty="0">
                <a:solidFill>
                  <a:schemeClr val="tx1"/>
                </a:solidFill>
              </a:rPr>
              <a:t>opleiding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868680" y="3474720"/>
            <a:ext cx="3291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le patron »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4206240" y="3474720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✗ </a:t>
            </a:r>
            <a:r>
              <a:rPr lang="en-US" sz="1600" i="1" strike="sngStrike" dirty="0">
                <a:solidFill>
                  <a:schemeClr val="accent6"/>
                </a:solidFill>
              </a:rPr>
              <a:t>het patroon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675120" y="3776472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7040880" y="3511296"/>
            <a:ext cx="44348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178040" y="3511296"/>
            <a:ext cx="4251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de </a:t>
            </a:r>
            <a:r>
              <a:rPr lang="en-US" sz="1700" b="1" i="1" dirty="0">
                <a:solidFill>
                  <a:schemeClr val="tx1"/>
                </a:solidFill>
              </a:rPr>
              <a:t>baas</a:t>
            </a:r>
            <a:r>
              <a:rPr lang="en-US" sz="1700" i="1" dirty="0">
                <a:solidFill>
                  <a:schemeClr val="tx1"/>
                </a:solidFill>
              </a:rPr>
              <a:t> · BE : </a:t>
            </a:r>
            <a:r>
              <a:rPr lang="en-US" sz="1700" b="1" i="1" dirty="0">
                <a:solidFill>
                  <a:schemeClr val="tx1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patroon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868680" y="4160520"/>
            <a:ext cx="3291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la société » (l’entreprise)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4206240" y="4160520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✗ </a:t>
            </a:r>
            <a:r>
              <a:rPr lang="en-US" sz="1600" i="1" strike="sngStrike" dirty="0">
                <a:solidFill>
                  <a:schemeClr val="accent6"/>
                </a:solidFill>
              </a:rPr>
              <a:t>de samenleving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6675120" y="4462272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7040880" y="4197096"/>
            <a:ext cx="44348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178040" y="4197096"/>
            <a:ext cx="4251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het </a:t>
            </a:r>
            <a:r>
              <a:rPr lang="en-US" sz="1700" b="1" i="1" dirty="0">
                <a:solidFill>
                  <a:schemeClr val="tx1"/>
                </a:solidFill>
              </a:rPr>
              <a:t>bedrijf</a:t>
            </a:r>
            <a:endParaRPr lang="en-US" sz="1700" dirty="0"/>
          </a:p>
        </p:txBody>
      </p:sp>
      <p:sp>
        <p:nvSpPr>
          <p:cNvPr id="27" name="Text 24"/>
          <p:cNvSpPr txBox="1"/>
          <p:nvPr/>
        </p:nvSpPr>
        <p:spPr>
          <a:xfrm>
            <a:off x="868680" y="4846320"/>
            <a:ext cx="3291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l’ordre du jour »</a:t>
            </a:r>
            <a:endParaRPr lang="en-US" sz="1700" dirty="0"/>
          </a:p>
        </p:txBody>
      </p:sp>
      <p:sp>
        <p:nvSpPr>
          <p:cNvPr id="28" name="Shape 25"/>
          <p:cNvSpPr/>
          <p:nvPr/>
        </p:nvSpPr>
        <p:spPr>
          <a:xfrm>
            <a:off x="6675120" y="5148072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9" name="Shape 26"/>
          <p:cNvSpPr/>
          <p:nvPr/>
        </p:nvSpPr>
        <p:spPr>
          <a:xfrm>
            <a:off x="7040880" y="4882896"/>
            <a:ext cx="44348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178040" y="4882896"/>
            <a:ext cx="4251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de </a:t>
            </a:r>
            <a:r>
              <a:rPr lang="en-US" sz="1700" b="1" i="1" dirty="0">
                <a:solidFill>
                  <a:schemeClr val="tx1"/>
                </a:solidFill>
              </a:rPr>
              <a:t>agenda</a:t>
            </a:r>
            <a:r>
              <a:rPr lang="en-US" sz="1700" i="1" dirty="0">
                <a:solidFill>
                  <a:schemeClr val="tx1"/>
                </a:solidFill>
              </a:rPr>
              <a:t> (comme « l’agenda »)</a:t>
            </a:r>
            <a:endParaRPr lang="en-US" sz="1700" dirty="0"/>
          </a:p>
        </p:txBody>
      </p:sp>
      <p:sp>
        <p:nvSpPr>
          <p:cNvPr id="31" name="Shape 28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bg1"/>
                </a:solidFill>
              </a:rPr>
              <a:t>de formatie</a:t>
            </a:r>
            <a:r>
              <a:rPr lang="en-US" sz="1500" dirty="0">
                <a:solidFill>
                  <a:schemeClr val="bg1"/>
                </a:solidFill>
              </a:rPr>
              <a:t> = la composition · </a:t>
            </a:r>
            <a:r>
              <a:rPr lang="en-US" sz="1500" b="1" i="1" dirty="0">
                <a:solidFill>
                  <a:schemeClr val="bg1"/>
                </a:solidFill>
              </a:rPr>
              <a:t>het</a:t>
            </a:r>
            <a:r>
              <a:rPr lang="en-US" sz="1500" i="1" dirty="0">
                <a:solidFill>
                  <a:schemeClr val="bg1"/>
                </a:solidFill>
              </a:rPr>
              <a:t> patroon</a:t>
            </a:r>
            <a:r>
              <a:rPr lang="en-US" sz="1500" dirty="0">
                <a:solidFill>
                  <a:schemeClr val="bg1"/>
                </a:solidFill>
              </a:rPr>
              <a:t> = le modèle, mais BE : </a:t>
            </a:r>
            <a:r>
              <a:rPr lang="en-US" sz="1500" b="1" i="1" dirty="0">
                <a:solidFill>
                  <a:schemeClr val="bg1"/>
                </a:solidFill>
              </a:rPr>
              <a:t>de</a:t>
            </a:r>
            <a:r>
              <a:rPr lang="en-US" sz="1500" i="1" dirty="0">
                <a:solidFill>
                  <a:schemeClr val="bg1"/>
                </a:solidFill>
              </a:rPr>
              <a:t> patroon</a:t>
            </a:r>
            <a:r>
              <a:rPr lang="en-US" sz="1500" dirty="0">
                <a:solidFill>
                  <a:schemeClr val="bg1"/>
                </a:solidFill>
              </a:rPr>
              <a:t> = le patron · </a:t>
            </a:r>
            <a:r>
              <a:rPr lang="en-US" sz="1500" i="1" dirty="0">
                <a:solidFill>
                  <a:schemeClr val="bg1"/>
                </a:solidFill>
              </a:rPr>
              <a:t>de samenleving</a:t>
            </a:r>
            <a:r>
              <a:rPr lang="en-US" sz="1500" dirty="0">
                <a:solidFill>
                  <a:schemeClr val="bg1"/>
                </a:solidFill>
              </a:rPr>
              <a:t> = la société (les gens)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Belgique ou Pays-Bas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685800" y="1572768"/>
            <a:ext cx="167640" cy="331927"/>
          </a:xfrm>
          <a:prstGeom prst="rect">
            <a:avLst/>
          </a:prstGeom>
          <a:solidFill>
            <a:srgbClr val="1B1B1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53440" y="1572768"/>
            <a:ext cx="167640" cy="331927"/>
          </a:xfrm>
          <a:prstGeom prst="rect">
            <a:avLst/>
          </a:prstGeom>
          <a:solidFill>
            <a:srgbClr val="F7D11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21080" y="1572768"/>
            <a:ext cx="167640" cy="33192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85800" y="1572768"/>
            <a:ext cx="502920" cy="33192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325880" y="15087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Belgique</a:t>
            </a:r>
            <a:r>
              <a:rPr lang="en-US" sz="1600" dirty="0">
                <a:solidFill>
                  <a:schemeClr val="tx2"/>
                </a:solidFill>
              </a:rPr>
              <a:t> — à Bruxelles et en Flandre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355080" y="1572768"/>
            <a:ext cx="502920" cy="110642"/>
          </a:xfrm>
          <a:prstGeom prst="rect">
            <a:avLst/>
          </a:prstGeom>
          <a:solidFill>
            <a:srgbClr val="B320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355080" y="1683410"/>
            <a:ext cx="502920" cy="11064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355080" y="1794053"/>
            <a:ext cx="502920" cy="110642"/>
          </a:xfrm>
          <a:prstGeom prst="rect">
            <a:avLst/>
          </a:prstGeom>
          <a:solidFill>
            <a:srgbClr val="22408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355080" y="1572768"/>
            <a:ext cx="502920" cy="33192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995160" y="15087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Pays-Bas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" y="2103120"/>
            <a:ext cx="11091672" cy="393192"/>
          </a:xfrm>
          <a:prstGeom prst="roundRect">
            <a:avLst>
              <a:gd name="adj" fmla="val 9302"/>
            </a:avLst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77240" y="2103120"/>
            <a:ext cx="4572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het</a:t>
            </a:r>
            <a:r>
              <a:rPr lang="en-US" sz="1600" i="1" dirty="0">
                <a:solidFill>
                  <a:schemeClr val="tx1"/>
                </a:solidFill>
              </a:rPr>
              <a:t> onthaal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46520" y="2103120"/>
            <a:ext cx="2743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receptie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9235440" y="2103120"/>
            <a:ext cx="2331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l’accueil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48640" y="2532888"/>
            <a:ext cx="11091672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7240" y="2532888"/>
            <a:ext cx="4572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refter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6446520" y="2532888"/>
            <a:ext cx="2743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kantine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9235440" y="2532888"/>
            <a:ext cx="2331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cafétéria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48640" y="2962656"/>
            <a:ext cx="11091672" cy="393192"/>
          </a:xfrm>
          <a:prstGeom prst="roundRect">
            <a:avLst>
              <a:gd name="adj" fmla="val 9302"/>
            </a:avLst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77240" y="2962656"/>
            <a:ext cx="4572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het</a:t>
            </a:r>
            <a:r>
              <a:rPr lang="en-US" sz="1600" i="1" dirty="0">
                <a:solidFill>
                  <a:schemeClr val="tx1"/>
                </a:solidFill>
              </a:rPr>
              <a:t> gelijkvloers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6446520" y="2962656"/>
            <a:ext cx="2743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begane grond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9235440" y="2962656"/>
            <a:ext cx="2331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le rez-de-chaussée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48640" y="3392424"/>
            <a:ext cx="11091672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77240" y="3392424"/>
            <a:ext cx="4572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gsm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6446520" y="3392424"/>
            <a:ext cx="2743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mobiel</a:t>
            </a:r>
            <a:endParaRPr lang="en-US" sz="1600" dirty="0"/>
          </a:p>
        </p:txBody>
      </p:sp>
      <p:sp>
        <p:nvSpPr>
          <p:cNvPr id="30" name="Text 27"/>
          <p:cNvSpPr txBox="1"/>
          <p:nvPr/>
        </p:nvSpPr>
        <p:spPr>
          <a:xfrm>
            <a:off x="9235440" y="3392424"/>
            <a:ext cx="2331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le portable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548640" y="3822192"/>
            <a:ext cx="11091672" cy="393192"/>
          </a:xfrm>
          <a:prstGeom prst="roundRect">
            <a:avLst>
              <a:gd name="adj" fmla="val 9302"/>
            </a:avLst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77240" y="3822192"/>
            <a:ext cx="4572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loonfiche</a:t>
            </a:r>
            <a:endParaRPr lang="en-US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6446520" y="3822192"/>
            <a:ext cx="2743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loonstrook</a:t>
            </a:r>
            <a:endParaRPr lang="en-US" sz="1600" dirty="0"/>
          </a:p>
        </p:txBody>
      </p:sp>
      <p:sp>
        <p:nvSpPr>
          <p:cNvPr id="34" name="Text 31"/>
          <p:cNvSpPr txBox="1"/>
          <p:nvPr/>
        </p:nvSpPr>
        <p:spPr>
          <a:xfrm>
            <a:off x="9235440" y="3822192"/>
            <a:ext cx="2331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fiche de paie</a:t>
            </a:r>
            <a:endParaRPr lang="en-US" sz="1300" dirty="0"/>
          </a:p>
        </p:txBody>
      </p:sp>
      <p:sp>
        <p:nvSpPr>
          <p:cNvPr id="35" name="Shape 32"/>
          <p:cNvSpPr/>
          <p:nvPr/>
        </p:nvSpPr>
        <p:spPr>
          <a:xfrm>
            <a:off x="548640" y="4251960"/>
            <a:ext cx="11091672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77240" y="4251960"/>
            <a:ext cx="4572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aanwerven</a:t>
            </a:r>
            <a:endParaRPr lang="en-US" sz="1600" dirty="0"/>
          </a:p>
        </p:txBody>
      </p:sp>
      <p:sp>
        <p:nvSpPr>
          <p:cNvPr id="37" name="Text 34"/>
          <p:cNvSpPr txBox="1"/>
          <p:nvPr/>
        </p:nvSpPr>
        <p:spPr>
          <a:xfrm>
            <a:off x="6446520" y="4251960"/>
            <a:ext cx="2743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aannemen</a:t>
            </a:r>
            <a:endParaRPr lang="en-US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9235440" y="4251960"/>
            <a:ext cx="2331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embaucher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548640" y="4681728"/>
            <a:ext cx="11091672" cy="393192"/>
          </a:xfrm>
          <a:prstGeom prst="roundRect">
            <a:avLst>
              <a:gd name="adj" fmla="val 9302"/>
            </a:avLst>
          </a:prstGeom>
          <a:solidFill>
            <a:schemeClr val="bg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77240" y="4681728"/>
            <a:ext cx="4572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kmo</a:t>
            </a:r>
            <a:endParaRPr lang="en-US" sz="1600" dirty="0"/>
          </a:p>
        </p:txBody>
      </p:sp>
      <p:sp>
        <p:nvSpPr>
          <p:cNvPr id="41" name="Text 38"/>
          <p:cNvSpPr txBox="1"/>
          <p:nvPr/>
        </p:nvSpPr>
        <p:spPr>
          <a:xfrm>
            <a:off x="6446520" y="4681728"/>
            <a:ext cx="2743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het</a:t>
            </a:r>
            <a:r>
              <a:rPr lang="en-US" sz="1600" i="1" dirty="0">
                <a:solidFill>
                  <a:schemeClr val="tx1"/>
                </a:solidFill>
              </a:rPr>
              <a:t> mkb</a:t>
            </a:r>
            <a:endParaRPr lang="en-US" sz="1600" dirty="0"/>
          </a:p>
        </p:txBody>
      </p:sp>
      <p:sp>
        <p:nvSpPr>
          <p:cNvPr id="42" name="Text 39"/>
          <p:cNvSpPr txBox="1"/>
          <p:nvPr/>
        </p:nvSpPr>
        <p:spPr>
          <a:xfrm>
            <a:off x="9235440" y="4681728"/>
            <a:ext cx="2331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la PME</a:t>
            </a:r>
            <a:endParaRPr lang="en-US" sz="1300" dirty="0"/>
          </a:p>
        </p:txBody>
      </p:sp>
      <p:sp>
        <p:nvSpPr>
          <p:cNvPr id="43" name="Shape 40"/>
          <p:cNvSpPr/>
          <p:nvPr/>
        </p:nvSpPr>
        <p:spPr>
          <a:xfrm>
            <a:off x="548640" y="5111496"/>
            <a:ext cx="11091672" cy="393192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777240" y="5111496"/>
            <a:ext cx="45720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accent1"/>
                </a:solidFill>
              </a:rPr>
              <a:t>het</a:t>
            </a:r>
            <a:r>
              <a:rPr lang="en-US" sz="1600" i="1" dirty="0">
                <a:solidFill>
                  <a:schemeClr val="tx1"/>
                </a:solidFill>
              </a:rPr>
              <a:t> verlof</a:t>
            </a:r>
            <a:endParaRPr lang="en-US" sz="1600" dirty="0"/>
          </a:p>
        </p:txBody>
      </p:sp>
      <p:sp>
        <p:nvSpPr>
          <p:cNvPr id="45" name="Text 42"/>
          <p:cNvSpPr txBox="1"/>
          <p:nvPr/>
        </p:nvSpPr>
        <p:spPr>
          <a:xfrm>
            <a:off x="6446520" y="5111496"/>
            <a:ext cx="274320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chemeClr val="tx2"/>
                </a:solidFill>
              </a:rPr>
              <a:t>de</a:t>
            </a:r>
            <a:r>
              <a:rPr lang="en-US" sz="1600" i="1" dirty="0">
                <a:solidFill>
                  <a:schemeClr val="tx1"/>
                </a:solidFill>
              </a:rPr>
              <a:t> vakantie</a:t>
            </a:r>
            <a:endParaRPr lang="en-US" sz="1600" dirty="0"/>
          </a:p>
        </p:txBody>
      </p:sp>
      <p:sp>
        <p:nvSpPr>
          <p:cNvPr id="46" name="Text 43"/>
          <p:cNvSpPr txBox="1"/>
          <p:nvPr/>
        </p:nvSpPr>
        <p:spPr>
          <a:xfrm>
            <a:off x="9235440" y="5111496"/>
            <a:ext cx="23317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les congés</a:t>
            </a:r>
            <a:endParaRPr lang="en-US" sz="1300" dirty="0"/>
          </a:p>
        </p:txBody>
      </p:sp>
      <p:sp>
        <p:nvSpPr>
          <p:cNvPr id="47" name="Shape 4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822960" y="566928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Les deux sont compris partout. On apprend d’abord le mot belge, on reconnaît le mot néerlandais.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l’entreprise en un coup d’œil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2194560" y="1554480"/>
            <a:ext cx="2194560" cy="373075"/>
          </a:xfrm>
          <a:prstGeom prst="roundRect">
            <a:avLst>
              <a:gd name="adj" fmla="val 2451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2194560" y="1554480"/>
            <a:ext cx="2194560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de directie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3291840" y="1927555"/>
            <a:ext cx="914" cy="1371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5360" y="2064715"/>
            <a:ext cx="4632960" cy="914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75360" y="2064715"/>
            <a:ext cx="914" cy="1371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2201875"/>
            <a:ext cx="853440" cy="907085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57784" y="2201875"/>
            <a:ext cx="835152" cy="9070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chemeClr val="tx1"/>
                </a:solidFill>
              </a:rPr>
              <a:t>boekhouding</a:t>
            </a:r>
            <a:endParaRPr lang="en-US" sz="700" dirty="0"/>
          </a:p>
        </p:txBody>
      </p:sp>
      <p:sp>
        <p:nvSpPr>
          <p:cNvPr id="12" name="Shape 9"/>
          <p:cNvSpPr/>
          <p:nvPr/>
        </p:nvSpPr>
        <p:spPr>
          <a:xfrm>
            <a:off x="1901952" y="2064715"/>
            <a:ext cx="914" cy="1371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475232" y="2201875"/>
            <a:ext cx="853440" cy="907085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484376" y="2201875"/>
            <a:ext cx="835152" cy="9070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chemeClr val="tx1"/>
                </a:solidFill>
              </a:rPr>
              <a:t>personeelsdienst</a:t>
            </a:r>
            <a:endParaRPr lang="en-US" sz="700" dirty="0"/>
          </a:p>
        </p:txBody>
      </p:sp>
      <p:sp>
        <p:nvSpPr>
          <p:cNvPr id="15" name="Shape 12"/>
          <p:cNvSpPr/>
          <p:nvPr/>
        </p:nvSpPr>
        <p:spPr>
          <a:xfrm>
            <a:off x="2828544" y="2064715"/>
            <a:ext cx="914" cy="1371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401824" y="2201875"/>
            <a:ext cx="853440" cy="907085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410968" y="2201875"/>
            <a:ext cx="835152" cy="9070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chemeClr val="tx1"/>
                </a:solidFill>
              </a:rPr>
              <a:t>verkoop</a:t>
            </a:r>
            <a:endParaRPr lang="en-US" sz="700" dirty="0"/>
          </a:p>
        </p:txBody>
      </p:sp>
      <p:sp>
        <p:nvSpPr>
          <p:cNvPr id="18" name="Shape 15"/>
          <p:cNvSpPr/>
          <p:nvPr/>
        </p:nvSpPr>
        <p:spPr>
          <a:xfrm>
            <a:off x="3755136" y="2064715"/>
            <a:ext cx="914" cy="1371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3328416" y="2201875"/>
            <a:ext cx="853440" cy="907085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337560" y="2201875"/>
            <a:ext cx="835152" cy="9070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chemeClr val="tx1"/>
                </a:solidFill>
              </a:rPr>
              <a:t>aankoop</a:t>
            </a:r>
            <a:endParaRPr lang="en-US" sz="700" dirty="0"/>
          </a:p>
        </p:txBody>
      </p:sp>
      <p:sp>
        <p:nvSpPr>
          <p:cNvPr id="21" name="Shape 18"/>
          <p:cNvSpPr/>
          <p:nvPr/>
        </p:nvSpPr>
        <p:spPr>
          <a:xfrm>
            <a:off x="4681728" y="2064715"/>
            <a:ext cx="914" cy="1371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255008" y="2201875"/>
            <a:ext cx="853440" cy="907085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264152" y="2201875"/>
            <a:ext cx="835152" cy="9070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chemeClr val="tx1"/>
                </a:solidFill>
              </a:rPr>
              <a:t>marketing</a:t>
            </a:r>
            <a:endParaRPr lang="en-US" sz="700" dirty="0"/>
          </a:p>
        </p:txBody>
      </p:sp>
      <p:sp>
        <p:nvSpPr>
          <p:cNvPr id="24" name="Shape 21"/>
          <p:cNvSpPr/>
          <p:nvPr/>
        </p:nvSpPr>
        <p:spPr>
          <a:xfrm>
            <a:off x="5608320" y="2064715"/>
            <a:ext cx="914" cy="137160"/>
          </a:xfrm>
          <a:prstGeom prst="line">
            <a:avLst/>
          </a:prstGeom>
          <a:noFill/>
          <a:ln w="19050">
            <a:solidFill>
              <a:srgbClr val="4A5A7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181600" y="2201875"/>
            <a:ext cx="853440" cy="907085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190744" y="2201875"/>
            <a:ext cx="835152" cy="9070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chemeClr val="tx1"/>
                </a:solidFill>
              </a:rPr>
              <a:t>IT-dienst</a:t>
            </a:r>
            <a:endParaRPr lang="en-US" sz="700" dirty="0"/>
          </a:p>
        </p:txBody>
      </p:sp>
      <p:sp>
        <p:nvSpPr>
          <p:cNvPr id="27" name="Shape 24"/>
          <p:cNvSpPr/>
          <p:nvPr/>
        </p:nvSpPr>
        <p:spPr>
          <a:xfrm>
            <a:off x="6309360" y="2354580"/>
            <a:ext cx="799643" cy="1485900"/>
          </a:xfrm>
          <a:prstGeom prst="roundRect">
            <a:avLst>
              <a:gd name="adj" fmla="val 4574"/>
            </a:avLst>
          </a:prstGeom>
          <a:solidFill>
            <a:srgbClr val="E6EBF2"/>
          </a:solidFill>
          <a:ln w="12700">
            <a:solidFill>
              <a:srgbClr val="4A5A70"/>
            </a:solidFill>
            <a:prstDash val="dash"/>
          </a:ln>
        </p:spPr>
      </p:sp>
      <p:sp>
        <p:nvSpPr>
          <p:cNvPr id="28" name="Text 25"/>
          <p:cNvSpPr txBox="1"/>
          <p:nvPr/>
        </p:nvSpPr>
        <p:spPr>
          <a:xfrm>
            <a:off x="6309360" y="2898648"/>
            <a:ext cx="7996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chemeClr val="accent5"/>
                </a:solidFill>
              </a:rPr>
              <a:t>parking</a:t>
            </a:r>
            <a:endParaRPr lang="en-US" sz="700" dirty="0"/>
          </a:p>
        </p:txBody>
      </p:sp>
      <p:sp>
        <p:nvSpPr>
          <p:cNvPr id="29" name="Shape 26"/>
          <p:cNvSpPr/>
          <p:nvPr/>
        </p:nvSpPr>
        <p:spPr>
          <a:xfrm>
            <a:off x="7218731" y="1554480"/>
            <a:ext cx="4421581" cy="2286000"/>
          </a:xfrm>
          <a:prstGeom prst="rect">
            <a:avLst/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7970400" y="2423160"/>
            <a:ext cx="3669912" cy="548640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9031579" y="2423160"/>
            <a:ext cx="106117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chemeClr val="accent5"/>
                </a:solidFill>
              </a:rPr>
              <a:t>gang</a:t>
            </a:r>
            <a:endParaRPr lang="en-US" sz="700" dirty="0"/>
          </a:p>
        </p:txBody>
      </p:sp>
      <p:sp>
        <p:nvSpPr>
          <p:cNvPr id="32" name="Shape 29"/>
          <p:cNvSpPr/>
          <p:nvPr/>
        </p:nvSpPr>
        <p:spPr>
          <a:xfrm>
            <a:off x="7218731" y="1554480"/>
            <a:ext cx="751669" cy="2286000"/>
          </a:xfrm>
          <a:prstGeom prst="rect">
            <a:avLst/>
          </a:prstGeom>
          <a:solidFill>
            <a:srgbClr val="FDF1E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354031" y="2121408"/>
            <a:ext cx="165367" cy="1152144"/>
          </a:xfrm>
          <a:prstGeom prst="roundRect">
            <a:avLst>
              <a:gd name="adj" fmla="val 22118"/>
            </a:avLst>
          </a:prstGeom>
          <a:solidFill>
            <a:schemeClr val="accent1">
              <a:alpha val="6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255307" y="1609344"/>
            <a:ext cx="67851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chemeClr val="accent1"/>
                </a:solidFill>
              </a:rPr>
              <a:t>onthaal</a:t>
            </a:r>
            <a:endParaRPr lang="en-US" sz="700" dirty="0"/>
          </a:p>
        </p:txBody>
      </p:sp>
      <p:sp>
        <p:nvSpPr>
          <p:cNvPr id="35" name="Shape 32"/>
          <p:cNvSpPr/>
          <p:nvPr/>
        </p:nvSpPr>
        <p:spPr>
          <a:xfrm>
            <a:off x="7173011" y="2505456"/>
            <a:ext cx="9144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7970400" y="1554480"/>
            <a:ext cx="1061179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8341812" y="2386584"/>
            <a:ext cx="318354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006976" y="1581912"/>
            <a:ext cx="988027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vergaderzaal</a:t>
            </a:r>
            <a:endParaRPr lang="en-US" sz="800" dirty="0"/>
          </a:p>
        </p:txBody>
      </p:sp>
      <p:sp>
        <p:nvSpPr>
          <p:cNvPr id="39" name="Shape 36"/>
          <p:cNvSpPr/>
          <p:nvPr/>
        </p:nvSpPr>
        <p:spPr>
          <a:xfrm>
            <a:off x="9031579" y="1554480"/>
            <a:ext cx="1061179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9402992" y="2386584"/>
            <a:ext cx="318354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9068155" y="1581912"/>
            <a:ext cx="988027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kopieerlokaal</a:t>
            </a:r>
            <a:endParaRPr lang="en-US" sz="800" dirty="0"/>
          </a:p>
        </p:txBody>
      </p:sp>
      <p:sp>
        <p:nvSpPr>
          <p:cNvPr id="42" name="Shape 39"/>
          <p:cNvSpPr/>
          <p:nvPr/>
        </p:nvSpPr>
        <p:spPr>
          <a:xfrm>
            <a:off x="10092759" y="1554480"/>
            <a:ext cx="1061179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10464171" y="2386584"/>
            <a:ext cx="318354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10129335" y="1581912"/>
            <a:ext cx="988027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toiletten</a:t>
            </a:r>
            <a:endParaRPr lang="en-US" sz="800" dirty="0"/>
          </a:p>
        </p:txBody>
      </p:sp>
      <p:sp>
        <p:nvSpPr>
          <p:cNvPr id="45" name="Shape 42"/>
          <p:cNvSpPr/>
          <p:nvPr/>
        </p:nvSpPr>
        <p:spPr>
          <a:xfrm>
            <a:off x="7970400" y="2971800"/>
            <a:ext cx="1061179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8341812" y="2935224"/>
            <a:ext cx="318354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8006976" y="2999232"/>
            <a:ext cx="988027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kantoor</a:t>
            </a:r>
            <a:endParaRPr lang="en-US" sz="800" dirty="0"/>
          </a:p>
        </p:txBody>
      </p:sp>
      <p:sp>
        <p:nvSpPr>
          <p:cNvPr id="48" name="Shape 45"/>
          <p:cNvSpPr/>
          <p:nvPr/>
        </p:nvSpPr>
        <p:spPr>
          <a:xfrm>
            <a:off x="9031579" y="2971800"/>
            <a:ext cx="1061179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9402992" y="2935224"/>
            <a:ext cx="318354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9068155" y="2999232"/>
            <a:ext cx="988027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keuken</a:t>
            </a:r>
            <a:endParaRPr lang="en-US" sz="800" dirty="0"/>
          </a:p>
        </p:txBody>
      </p:sp>
      <p:sp>
        <p:nvSpPr>
          <p:cNvPr id="51" name="Shape 48"/>
          <p:cNvSpPr/>
          <p:nvPr/>
        </p:nvSpPr>
        <p:spPr>
          <a:xfrm>
            <a:off x="10092759" y="2971800"/>
            <a:ext cx="1061179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10464171" y="2935224"/>
            <a:ext cx="318354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10129335" y="2999232"/>
            <a:ext cx="988027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chemeClr val="tx1"/>
                </a:solidFill>
              </a:rPr>
              <a:t>refter</a:t>
            </a:r>
            <a:endParaRPr lang="en-US" sz="800" dirty="0"/>
          </a:p>
        </p:txBody>
      </p:sp>
      <p:sp>
        <p:nvSpPr>
          <p:cNvPr id="54" name="Shape 51"/>
          <p:cNvSpPr/>
          <p:nvPr/>
        </p:nvSpPr>
        <p:spPr>
          <a:xfrm>
            <a:off x="11153938" y="1554480"/>
            <a:ext cx="486374" cy="114300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11199658" y="1717766"/>
            <a:ext cx="394934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11199658" y="1881051"/>
            <a:ext cx="394934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11199658" y="2044337"/>
            <a:ext cx="394934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11199658" y="2207623"/>
            <a:ext cx="394934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11199658" y="2370909"/>
            <a:ext cx="394934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11199658" y="2534194"/>
            <a:ext cx="394934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11153938" y="2697480"/>
            <a:ext cx="486374" cy="1143000"/>
          </a:xfrm>
          <a:prstGeom prst="rect">
            <a:avLst/>
          </a:prstGeom>
          <a:solidFill>
            <a:srgbClr val="F1EBF8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11153938" y="2313432"/>
            <a:ext cx="48637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chemeClr val="tx2"/>
                </a:solidFill>
              </a:rPr>
              <a:t>trap</a:t>
            </a:r>
            <a:endParaRPr lang="en-US" sz="700" dirty="0"/>
          </a:p>
        </p:txBody>
      </p:sp>
      <p:sp>
        <p:nvSpPr>
          <p:cNvPr id="63" name="Text 60"/>
          <p:cNvSpPr txBox="1"/>
          <p:nvPr/>
        </p:nvSpPr>
        <p:spPr>
          <a:xfrm>
            <a:off x="11153938" y="3429000"/>
            <a:ext cx="4863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chemeClr val="tx2"/>
                </a:solidFill>
              </a:rPr>
              <a:t>lift</a:t>
            </a:r>
            <a:endParaRPr lang="en-US" sz="700" dirty="0"/>
          </a:p>
        </p:txBody>
      </p:sp>
      <p:sp>
        <p:nvSpPr>
          <p:cNvPr id="64" name="Shape 61"/>
          <p:cNvSpPr/>
          <p:nvPr/>
        </p:nvSpPr>
        <p:spPr>
          <a:xfrm>
            <a:off x="548640" y="402336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731520" y="4023360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Composés</a:t>
            </a:r>
            <a:endParaRPr lang="en-US" sz="1700" dirty="0"/>
          </a:p>
        </p:txBody>
      </p:sp>
      <p:sp>
        <p:nvSpPr>
          <p:cNvPr id="66" name="Text 63"/>
          <p:cNvSpPr txBox="1"/>
          <p:nvPr/>
        </p:nvSpPr>
        <p:spPr>
          <a:xfrm>
            <a:off x="2560320" y="4023360"/>
            <a:ext cx="8961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dernier mot donne l’article : </a:t>
            </a: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personeels</a:t>
            </a:r>
            <a:r>
              <a:rPr lang="en-US" sz="1700" b="1" i="1" dirty="0">
                <a:solidFill>
                  <a:schemeClr val="tx1"/>
                </a:solidFill>
              </a:rPr>
              <a:t>dienst</a:t>
            </a:r>
            <a:r>
              <a:rPr lang="en-US" sz="1700" i="1" dirty="0">
                <a:solidFill>
                  <a:schemeClr val="tx1"/>
                </a:solidFill>
              </a:rPr>
              <a:t> · </a:t>
            </a:r>
            <a:r>
              <a:rPr lang="en-US" sz="1700" b="1" i="1" dirty="0">
                <a:solidFill>
                  <a:schemeClr val="accent1"/>
                </a:solidFill>
              </a:rPr>
              <a:t>het</a:t>
            </a:r>
            <a:r>
              <a:rPr lang="en-US" sz="1700" i="1" dirty="0">
                <a:solidFill>
                  <a:schemeClr val="tx1"/>
                </a:solidFill>
              </a:rPr>
              <a:t> kopieer</a:t>
            </a:r>
            <a:r>
              <a:rPr lang="en-US" sz="1700" b="1" i="1" dirty="0">
                <a:solidFill>
                  <a:schemeClr val="tx1"/>
                </a:solidFill>
              </a:rPr>
              <a:t>lokaal</a:t>
            </a:r>
            <a:endParaRPr lang="en-US" sz="1700" dirty="0"/>
          </a:p>
        </p:txBody>
      </p:sp>
      <p:sp>
        <p:nvSpPr>
          <p:cNvPr id="67" name="Shape 64"/>
          <p:cNvSpPr/>
          <p:nvPr/>
        </p:nvSpPr>
        <p:spPr>
          <a:xfrm>
            <a:off x="548640" y="4681728"/>
            <a:ext cx="11091672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8" name="Text 65"/>
          <p:cNvSpPr txBox="1"/>
          <p:nvPr/>
        </p:nvSpPr>
        <p:spPr>
          <a:xfrm>
            <a:off x="731520" y="4681728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Expressions</a:t>
            </a:r>
            <a:endParaRPr lang="en-US" sz="1700" dirty="0"/>
          </a:p>
        </p:txBody>
      </p:sp>
      <p:sp>
        <p:nvSpPr>
          <p:cNvPr id="69" name="Text 66"/>
          <p:cNvSpPr txBox="1"/>
          <p:nvPr/>
        </p:nvSpPr>
        <p:spPr>
          <a:xfrm>
            <a:off x="2560320" y="4681728"/>
            <a:ext cx="8961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een vergadering </a:t>
            </a:r>
            <a:r>
              <a:rPr lang="en-US" sz="1700" b="1" i="1" dirty="0">
                <a:solidFill>
                  <a:schemeClr val="tx1"/>
                </a:solidFill>
              </a:rPr>
              <a:t>houden</a:t>
            </a:r>
            <a:r>
              <a:rPr lang="en-US" sz="1700" i="1" dirty="0">
                <a:solidFill>
                  <a:schemeClr val="tx1"/>
                </a:solidFill>
              </a:rPr>
              <a:t> · een vraag </a:t>
            </a:r>
            <a:r>
              <a:rPr lang="en-US" sz="1700" b="1" i="1" dirty="0">
                <a:solidFill>
                  <a:schemeClr val="tx1"/>
                </a:solidFill>
              </a:rPr>
              <a:t>stellen</a:t>
            </a:r>
            <a:r>
              <a:rPr lang="en-US" sz="1700" i="1" dirty="0">
                <a:solidFill>
                  <a:schemeClr val="tx1"/>
                </a:solidFill>
              </a:rPr>
              <a:t> · een beslissing </a:t>
            </a:r>
            <a:r>
              <a:rPr lang="en-US" sz="1700" b="1" i="1" dirty="0">
                <a:solidFill>
                  <a:schemeClr val="tx1"/>
                </a:solidFill>
              </a:rPr>
              <a:t>nemen</a:t>
            </a:r>
            <a:endParaRPr lang="en-US" sz="1700" dirty="0"/>
          </a:p>
        </p:txBody>
      </p:sp>
      <p:sp>
        <p:nvSpPr>
          <p:cNvPr id="70" name="Shape 67"/>
          <p:cNvSpPr/>
          <p:nvPr/>
        </p:nvSpPr>
        <p:spPr>
          <a:xfrm>
            <a:off x="548640" y="5340096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731520" y="5340096"/>
            <a:ext cx="1828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Rôles</a:t>
            </a:r>
            <a:endParaRPr lang="en-US" sz="1700" dirty="0"/>
          </a:p>
        </p:txBody>
      </p:sp>
      <p:sp>
        <p:nvSpPr>
          <p:cNvPr id="72" name="Text 69"/>
          <p:cNvSpPr txBox="1"/>
          <p:nvPr/>
        </p:nvSpPr>
        <p:spPr>
          <a:xfrm>
            <a:off x="2560320" y="5340096"/>
            <a:ext cx="8961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de werk</a:t>
            </a:r>
            <a:r>
              <a:rPr lang="en-US" sz="1700" b="1" i="1" dirty="0">
                <a:solidFill>
                  <a:schemeClr val="tx1"/>
                </a:solidFill>
              </a:rPr>
              <a:t>gever</a:t>
            </a:r>
            <a:r>
              <a:rPr lang="en-US" sz="1700" dirty="0">
                <a:solidFill>
                  <a:schemeClr val="tx1"/>
                </a:solidFill>
              </a:rPr>
              <a:t> donne le travail · </a:t>
            </a:r>
            <a:r>
              <a:rPr lang="en-US" sz="1700" i="1" dirty="0">
                <a:solidFill>
                  <a:schemeClr val="tx1"/>
                </a:solidFill>
              </a:rPr>
              <a:t>de werk</a:t>
            </a:r>
            <a:r>
              <a:rPr lang="en-US" sz="1700" b="1" i="1" dirty="0">
                <a:solidFill>
                  <a:schemeClr val="tx1"/>
                </a:solidFill>
              </a:rPr>
              <a:t>nemer</a:t>
            </a:r>
            <a:r>
              <a:rPr lang="en-US" sz="1700" dirty="0">
                <a:solidFill>
                  <a:schemeClr val="tx1"/>
                </a:solidFill>
              </a:rPr>
              <a:t> le prend</a:t>
            </a:r>
            <a:endParaRPr lang="en-US" sz="1700" dirty="0"/>
          </a:p>
        </p:txBody>
      </p:sp>
      <p:sp>
        <p:nvSpPr>
          <p:cNvPr id="73" name="Text 70"/>
          <p:cNvSpPr txBox="1"/>
          <p:nvPr/>
        </p:nvSpPr>
        <p:spPr>
          <a:xfrm>
            <a:off x="548640" y="3154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S26 · l’organigramme</a:t>
            </a:r>
            <a:endParaRPr lang="en-US" sz="1100" dirty="0"/>
          </a:p>
        </p:txBody>
      </p:sp>
      <p:pic>
        <p:nvPicPr>
          <p:cNvPr id="74" name="Image 0" descr="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UserTi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Wie doet wat?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MapMarkedAl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Waar is…?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Random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de of het?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Sear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Lin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bon verbe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Ba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Taboe!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Rout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visite guidée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Wie doet wat?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Associez chaque fonction à sa tâche, puis dites la phrase : </a:t>
            </a:r>
            <a:r>
              <a:rPr lang="en-US" sz="1700" i="1" dirty="0">
                <a:solidFill>
                  <a:schemeClr val="accent5"/>
                </a:solidFill>
              </a:rPr>
              <a:t>De boekhouder betaalt de facturen.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7815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58368" y="1978152"/>
            <a:ext cx="320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1</a:t>
            </a:r>
            <a:endParaRPr lang="en-US" sz="1600" dirty="0"/>
          </a:p>
        </p:txBody>
      </p:sp>
      <p:pic>
        <p:nvPicPr>
          <p:cNvPr id="10" name="Image 1" descr="wo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039620"/>
            <a:ext cx="457200" cy="4572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554480" y="1978152"/>
            <a:ext cx="3108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boekhouder</a:t>
            </a:r>
            <a:endParaRPr lang="en-US" sz="1700" dirty="0"/>
          </a:p>
        </p:txBody>
      </p:sp>
      <p:sp>
        <p:nvSpPr>
          <p:cNvPr id="12" name="Shape 7"/>
          <p:cNvSpPr/>
          <p:nvPr/>
        </p:nvSpPr>
        <p:spPr>
          <a:xfrm>
            <a:off x="548640" y="270459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58368" y="2704592"/>
            <a:ext cx="320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2</a:t>
            </a:r>
            <a:endParaRPr lang="en-US" sz="1600" dirty="0"/>
          </a:p>
        </p:txBody>
      </p:sp>
      <p:pic>
        <p:nvPicPr>
          <p:cNvPr id="14" name="Image 2" descr="person tipping han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2766060"/>
            <a:ext cx="457200" cy="4572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554480" y="2704592"/>
            <a:ext cx="3108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onthaalmedewerker</a:t>
            </a:r>
            <a:endParaRPr lang="en-US" sz="1700" dirty="0"/>
          </a:p>
        </p:txBody>
      </p:sp>
      <p:sp>
        <p:nvSpPr>
          <p:cNvPr id="16" name="Shape 10"/>
          <p:cNvSpPr/>
          <p:nvPr/>
        </p:nvSpPr>
        <p:spPr>
          <a:xfrm>
            <a:off x="548640" y="343103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658368" y="3431032"/>
            <a:ext cx="320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3</a:t>
            </a:r>
            <a:endParaRPr lang="en-US" sz="1600" dirty="0"/>
          </a:p>
        </p:txBody>
      </p:sp>
      <p:pic>
        <p:nvPicPr>
          <p:cNvPr id="18" name="Image 3" descr="handshak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3492500"/>
            <a:ext cx="457200" cy="45720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554480" y="3431032"/>
            <a:ext cx="3108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verkoper</a:t>
            </a:r>
            <a:endParaRPr lang="en-US" sz="1700" dirty="0"/>
          </a:p>
        </p:txBody>
      </p:sp>
      <p:sp>
        <p:nvSpPr>
          <p:cNvPr id="20" name="Shape 13"/>
          <p:cNvSpPr/>
          <p:nvPr/>
        </p:nvSpPr>
        <p:spPr>
          <a:xfrm>
            <a:off x="548640" y="415747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1" name="Text 14"/>
          <p:cNvSpPr txBox="1"/>
          <p:nvPr/>
        </p:nvSpPr>
        <p:spPr>
          <a:xfrm>
            <a:off x="658368" y="4157472"/>
            <a:ext cx="320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4</a:t>
            </a:r>
            <a:endParaRPr lang="en-US" sz="1600" dirty="0"/>
          </a:p>
        </p:txBody>
      </p:sp>
      <p:pic>
        <p:nvPicPr>
          <p:cNvPr id="22" name="Image 4" descr="busts in silhouett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840" y="4218940"/>
            <a:ext cx="457200" cy="45720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1554480" y="4157472"/>
            <a:ext cx="3108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personeelsdienst</a:t>
            </a:r>
            <a:endParaRPr lang="en-US" sz="1700" dirty="0"/>
          </a:p>
        </p:txBody>
      </p:sp>
      <p:sp>
        <p:nvSpPr>
          <p:cNvPr id="24" name="Shape 16"/>
          <p:cNvSpPr/>
          <p:nvPr/>
        </p:nvSpPr>
        <p:spPr>
          <a:xfrm>
            <a:off x="548640" y="488391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658368" y="4883912"/>
            <a:ext cx="320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5</a:t>
            </a:r>
            <a:endParaRPr lang="en-US" sz="1600" dirty="0"/>
          </a:p>
        </p:txBody>
      </p:sp>
      <p:pic>
        <p:nvPicPr>
          <p:cNvPr id="26" name="Image 5" descr="technologis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40" y="4945380"/>
            <a:ext cx="457200" cy="457200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1554480" y="4883912"/>
            <a:ext cx="3108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IT’er</a:t>
            </a:r>
            <a:endParaRPr lang="en-US" sz="1700" dirty="0"/>
          </a:p>
        </p:txBody>
      </p:sp>
      <p:sp>
        <p:nvSpPr>
          <p:cNvPr id="28" name="Shape 19"/>
          <p:cNvSpPr/>
          <p:nvPr/>
        </p:nvSpPr>
        <p:spPr>
          <a:xfrm>
            <a:off x="548640" y="561035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658368" y="5610352"/>
            <a:ext cx="320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6</a:t>
            </a:r>
            <a:endParaRPr lang="en-US" sz="1600" dirty="0"/>
          </a:p>
        </p:txBody>
      </p:sp>
      <p:pic>
        <p:nvPicPr>
          <p:cNvPr id="30" name="Image 6" descr="shopping car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5840" y="5671820"/>
            <a:ext cx="457200" cy="457200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1554480" y="5610352"/>
            <a:ext cx="3108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aankoper</a:t>
            </a:r>
            <a:endParaRPr lang="en-US" sz="1700" dirty="0"/>
          </a:p>
        </p:txBody>
      </p:sp>
      <p:sp>
        <p:nvSpPr>
          <p:cNvPr id="32" name="Shape 22"/>
          <p:cNvSpPr/>
          <p:nvPr/>
        </p:nvSpPr>
        <p:spPr>
          <a:xfrm>
            <a:off x="6995160" y="1978152"/>
            <a:ext cx="4645152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3" name="Text 23"/>
          <p:cNvSpPr txBox="1"/>
          <p:nvPr/>
        </p:nvSpPr>
        <p:spPr>
          <a:xfrm>
            <a:off x="7132320" y="197815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bestelt het materiaal</a:t>
            </a:r>
            <a:endParaRPr lang="en-US" sz="1600" dirty="0"/>
          </a:p>
        </p:txBody>
      </p:sp>
      <p:sp>
        <p:nvSpPr>
          <p:cNvPr id="34" name="Shape 24"/>
          <p:cNvSpPr/>
          <p:nvPr/>
        </p:nvSpPr>
        <p:spPr>
          <a:xfrm>
            <a:off x="6995160" y="2704592"/>
            <a:ext cx="4645152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5" name="Text 25"/>
          <p:cNvSpPr txBox="1"/>
          <p:nvPr/>
        </p:nvSpPr>
        <p:spPr>
          <a:xfrm>
            <a:off x="7132320" y="270459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ontvangt de bezoekers</a:t>
            </a:r>
            <a:endParaRPr lang="en-US" sz="1600" dirty="0"/>
          </a:p>
        </p:txBody>
      </p:sp>
      <p:sp>
        <p:nvSpPr>
          <p:cNvPr id="36" name="Shape 26"/>
          <p:cNvSpPr/>
          <p:nvPr/>
        </p:nvSpPr>
        <p:spPr>
          <a:xfrm>
            <a:off x="6995160" y="3431032"/>
            <a:ext cx="4645152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7" name="Text 27"/>
          <p:cNvSpPr txBox="1"/>
          <p:nvPr/>
        </p:nvSpPr>
        <p:spPr>
          <a:xfrm>
            <a:off x="7132320" y="343103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installeert de laptops</a:t>
            </a:r>
            <a:endParaRPr lang="en-US" sz="1600" dirty="0"/>
          </a:p>
        </p:txBody>
      </p:sp>
      <p:sp>
        <p:nvSpPr>
          <p:cNvPr id="38" name="Shape 28"/>
          <p:cNvSpPr/>
          <p:nvPr/>
        </p:nvSpPr>
        <p:spPr>
          <a:xfrm>
            <a:off x="6995160" y="4157472"/>
            <a:ext cx="4645152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9" name="Text 29"/>
          <p:cNvSpPr txBox="1"/>
          <p:nvPr/>
        </p:nvSpPr>
        <p:spPr>
          <a:xfrm>
            <a:off x="7132320" y="415747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betaalt de facturen</a:t>
            </a:r>
            <a:endParaRPr lang="en-US" sz="1600" dirty="0"/>
          </a:p>
        </p:txBody>
      </p:sp>
      <p:sp>
        <p:nvSpPr>
          <p:cNvPr id="40" name="Shape 30"/>
          <p:cNvSpPr/>
          <p:nvPr/>
        </p:nvSpPr>
        <p:spPr>
          <a:xfrm>
            <a:off x="6995160" y="4883912"/>
            <a:ext cx="4645152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1" name="Text 31"/>
          <p:cNvSpPr txBox="1"/>
          <p:nvPr/>
        </p:nvSpPr>
        <p:spPr>
          <a:xfrm>
            <a:off x="7132320" y="488391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werft nieuwe collega’s aan</a:t>
            </a:r>
            <a:endParaRPr lang="en-US" sz="1600" dirty="0"/>
          </a:p>
        </p:txBody>
      </p:sp>
      <p:sp>
        <p:nvSpPr>
          <p:cNvPr id="42" name="Shape 32"/>
          <p:cNvSpPr/>
          <p:nvPr/>
        </p:nvSpPr>
        <p:spPr>
          <a:xfrm>
            <a:off x="6995160" y="5610352"/>
            <a:ext cx="4645152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3" name="Text 33"/>
          <p:cNvSpPr txBox="1"/>
          <p:nvPr/>
        </p:nvSpPr>
        <p:spPr>
          <a:xfrm>
            <a:off x="7132320" y="561035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maakt offertes voor de klanten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Wie doet wat?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Associez chaque fonction à sa tâche, puis dites la phrase : </a:t>
            </a:r>
            <a:r>
              <a:rPr lang="en-US" sz="1700" i="1" dirty="0">
                <a:solidFill>
                  <a:schemeClr val="accent5"/>
                </a:solidFill>
              </a:rPr>
              <a:t>De boekhouder betaalt de facturen.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7815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58368" y="1978152"/>
            <a:ext cx="320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1</a:t>
            </a:r>
            <a:endParaRPr lang="en-US" sz="1600" dirty="0"/>
          </a:p>
        </p:txBody>
      </p:sp>
      <p:pic>
        <p:nvPicPr>
          <p:cNvPr id="11" name="Image 1" descr="wo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039620"/>
            <a:ext cx="457200" cy="4572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554480" y="1978152"/>
            <a:ext cx="3108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boekhouder</a:t>
            </a:r>
            <a:endParaRPr lang="en-US" sz="1700" dirty="0"/>
          </a:p>
        </p:txBody>
      </p:sp>
      <p:sp>
        <p:nvSpPr>
          <p:cNvPr id="13" name="Shape 8"/>
          <p:cNvSpPr/>
          <p:nvPr/>
        </p:nvSpPr>
        <p:spPr>
          <a:xfrm>
            <a:off x="4754880" y="2295652"/>
            <a:ext cx="2194560" cy="2179320"/>
          </a:xfrm>
          <a:prstGeom prst="line">
            <a:avLst/>
          </a:prstGeom>
          <a:noFill/>
          <a:ln w="22225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4" name="Shape 9"/>
          <p:cNvSpPr/>
          <p:nvPr/>
        </p:nvSpPr>
        <p:spPr>
          <a:xfrm>
            <a:off x="548640" y="270459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58368" y="2704592"/>
            <a:ext cx="320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2</a:t>
            </a:r>
            <a:endParaRPr lang="en-US" sz="1600" dirty="0"/>
          </a:p>
        </p:txBody>
      </p:sp>
      <p:pic>
        <p:nvPicPr>
          <p:cNvPr id="16" name="Image 2" descr="person tipping han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2766060"/>
            <a:ext cx="457200" cy="4572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554480" y="2704592"/>
            <a:ext cx="3108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onthaalmedewerker</a:t>
            </a:r>
            <a:endParaRPr lang="en-US" sz="1700" dirty="0"/>
          </a:p>
        </p:txBody>
      </p:sp>
      <p:sp>
        <p:nvSpPr>
          <p:cNvPr id="18" name="Shape 12"/>
          <p:cNvSpPr/>
          <p:nvPr/>
        </p:nvSpPr>
        <p:spPr>
          <a:xfrm>
            <a:off x="4754880" y="3022092"/>
            <a:ext cx="2194560" cy="914"/>
          </a:xfrm>
          <a:prstGeom prst="line">
            <a:avLst/>
          </a:prstGeom>
          <a:noFill/>
          <a:ln w="22225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9" name="Shape 13"/>
          <p:cNvSpPr/>
          <p:nvPr/>
        </p:nvSpPr>
        <p:spPr>
          <a:xfrm>
            <a:off x="548640" y="343103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658368" y="3431032"/>
            <a:ext cx="320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3" descr="handshak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3492500"/>
            <a:ext cx="457200" cy="45720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554480" y="3431032"/>
            <a:ext cx="3108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verkoper</a:t>
            </a:r>
            <a:endParaRPr lang="en-US" sz="1700" dirty="0"/>
          </a:p>
        </p:txBody>
      </p:sp>
      <p:sp>
        <p:nvSpPr>
          <p:cNvPr id="23" name="Shape 16"/>
          <p:cNvSpPr/>
          <p:nvPr/>
        </p:nvSpPr>
        <p:spPr>
          <a:xfrm>
            <a:off x="4754880" y="3748532"/>
            <a:ext cx="2194560" cy="2179320"/>
          </a:xfrm>
          <a:prstGeom prst="line">
            <a:avLst/>
          </a:prstGeom>
          <a:noFill/>
          <a:ln w="22225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24" name="Shape 17"/>
          <p:cNvSpPr/>
          <p:nvPr/>
        </p:nvSpPr>
        <p:spPr>
          <a:xfrm>
            <a:off x="548640" y="415747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658368" y="4157472"/>
            <a:ext cx="320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4</a:t>
            </a:r>
            <a:endParaRPr lang="en-US" sz="1600" dirty="0"/>
          </a:p>
        </p:txBody>
      </p:sp>
      <p:pic>
        <p:nvPicPr>
          <p:cNvPr id="26" name="Image 4" descr="busts in silhouett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840" y="4218940"/>
            <a:ext cx="457200" cy="45720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554480" y="4157472"/>
            <a:ext cx="3108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personeelsdienst</a:t>
            </a:r>
            <a:endParaRPr lang="en-US" sz="1700" dirty="0"/>
          </a:p>
        </p:txBody>
      </p:sp>
      <p:sp>
        <p:nvSpPr>
          <p:cNvPr id="28" name="Shape 20"/>
          <p:cNvSpPr/>
          <p:nvPr/>
        </p:nvSpPr>
        <p:spPr>
          <a:xfrm>
            <a:off x="4754880" y="4474972"/>
            <a:ext cx="2194560" cy="726440"/>
          </a:xfrm>
          <a:prstGeom prst="line">
            <a:avLst/>
          </a:prstGeom>
          <a:noFill/>
          <a:ln w="22225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29" name="Shape 21"/>
          <p:cNvSpPr/>
          <p:nvPr/>
        </p:nvSpPr>
        <p:spPr>
          <a:xfrm>
            <a:off x="548640" y="488391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0" name="Text 22"/>
          <p:cNvSpPr txBox="1"/>
          <p:nvPr/>
        </p:nvSpPr>
        <p:spPr>
          <a:xfrm>
            <a:off x="658368" y="4883912"/>
            <a:ext cx="320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5</a:t>
            </a:r>
            <a:endParaRPr lang="en-US" sz="1600" dirty="0"/>
          </a:p>
        </p:txBody>
      </p:sp>
      <p:pic>
        <p:nvPicPr>
          <p:cNvPr id="31" name="Image 5" descr="technologis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40" y="4945380"/>
            <a:ext cx="457200" cy="457200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1554480" y="4883912"/>
            <a:ext cx="3108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IT’er</a:t>
            </a:r>
            <a:endParaRPr lang="en-US" sz="1700" dirty="0"/>
          </a:p>
        </p:txBody>
      </p:sp>
      <p:sp>
        <p:nvSpPr>
          <p:cNvPr id="33" name="Shape 24"/>
          <p:cNvSpPr/>
          <p:nvPr/>
        </p:nvSpPr>
        <p:spPr>
          <a:xfrm flipV="1">
            <a:off x="4754880" y="3748532"/>
            <a:ext cx="2194560" cy="1452880"/>
          </a:xfrm>
          <a:prstGeom prst="line">
            <a:avLst/>
          </a:prstGeom>
          <a:noFill/>
          <a:ln w="22225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34" name="Shape 25"/>
          <p:cNvSpPr/>
          <p:nvPr/>
        </p:nvSpPr>
        <p:spPr>
          <a:xfrm>
            <a:off x="548640" y="5610352"/>
            <a:ext cx="42062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26"/>
          <p:cNvSpPr txBox="1"/>
          <p:nvPr/>
        </p:nvSpPr>
        <p:spPr>
          <a:xfrm>
            <a:off x="658368" y="5610352"/>
            <a:ext cx="320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6</a:t>
            </a:r>
            <a:endParaRPr lang="en-US" sz="1600" dirty="0"/>
          </a:p>
        </p:txBody>
      </p:sp>
      <p:pic>
        <p:nvPicPr>
          <p:cNvPr id="36" name="Image 6" descr="shopping car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5840" y="5671820"/>
            <a:ext cx="457200" cy="457200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1554480" y="5610352"/>
            <a:ext cx="3108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i="1" dirty="0">
                <a:solidFill>
                  <a:schemeClr val="tx1"/>
                </a:solidFill>
              </a:rPr>
              <a:t> aankoper</a:t>
            </a:r>
            <a:endParaRPr lang="en-US" sz="1700" dirty="0"/>
          </a:p>
        </p:txBody>
      </p:sp>
      <p:sp>
        <p:nvSpPr>
          <p:cNvPr id="38" name="Shape 28"/>
          <p:cNvSpPr/>
          <p:nvPr/>
        </p:nvSpPr>
        <p:spPr>
          <a:xfrm flipV="1">
            <a:off x="4754880" y="2295652"/>
            <a:ext cx="2194560" cy="3632200"/>
          </a:xfrm>
          <a:prstGeom prst="line">
            <a:avLst/>
          </a:prstGeom>
          <a:noFill/>
          <a:ln w="22225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39" name="Shape 29"/>
          <p:cNvSpPr/>
          <p:nvPr/>
        </p:nvSpPr>
        <p:spPr>
          <a:xfrm>
            <a:off x="6995160" y="1978152"/>
            <a:ext cx="4645152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0" name="Text 30"/>
          <p:cNvSpPr txBox="1"/>
          <p:nvPr/>
        </p:nvSpPr>
        <p:spPr>
          <a:xfrm>
            <a:off x="7132320" y="197815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bestelt het materiaal</a:t>
            </a:r>
            <a:endParaRPr lang="en-US" sz="1600" dirty="0"/>
          </a:p>
        </p:txBody>
      </p:sp>
      <p:sp>
        <p:nvSpPr>
          <p:cNvPr id="41" name="Shape 31"/>
          <p:cNvSpPr/>
          <p:nvPr/>
        </p:nvSpPr>
        <p:spPr>
          <a:xfrm>
            <a:off x="6995160" y="2704592"/>
            <a:ext cx="4645152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2" name="Text 32"/>
          <p:cNvSpPr txBox="1"/>
          <p:nvPr/>
        </p:nvSpPr>
        <p:spPr>
          <a:xfrm>
            <a:off x="7132320" y="270459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ontvangt de bezoekers</a:t>
            </a:r>
            <a:endParaRPr lang="en-US" sz="1600" dirty="0"/>
          </a:p>
        </p:txBody>
      </p:sp>
      <p:sp>
        <p:nvSpPr>
          <p:cNvPr id="43" name="Shape 33"/>
          <p:cNvSpPr/>
          <p:nvPr/>
        </p:nvSpPr>
        <p:spPr>
          <a:xfrm>
            <a:off x="6995160" y="3431032"/>
            <a:ext cx="4645152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4" name="Text 34"/>
          <p:cNvSpPr txBox="1"/>
          <p:nvPr/>
        </p:nvSpPr>
        <p:spPr>
          <a:xfrm>
            <a:off x="7132320" y="343103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installeert de laptops</a:t>
            </a:r>
            <a:endParaRPr lang="en-US" sz="1600" dirty="0"/>
          </a:p>
        </p:txBody>
      </p:sp>
      <p:sp>
        <p:nvSpPr>
          <p:cNvPr id="45" name="Shape 35"/>
          <p:cNvSpPr/>
          <p:nvPr/>
        </p:nvSpPr>
        <p:spPr>
          <a:xfrm>
            <a:off x="6995160" y="4157472"/>
            <a:ext cx="4645152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6" name="Text 36"/>
          <p:cNvSpPr txBox="1"/>
          <p:nvPr/>
        </p:nvSpPr>
        <p:spPr>
          <a:xfrm>
            <a:off x="7132320" y="415747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betaalt de facturen</a:t>
            </a:r>
            <a:endParaRPr lang="en-US" sz="1600" dirty="0"/>
          </a:p>
        </p:txBody>
      </p:sp>
      <p:sp>
        <p:nvSpPr>
          <p:cNvPr id="47" name="Shape 37"/>
          <p:cNvSpPr/>
          <p:nvPr/>
        </p:nvSpPr>
        <p:spPr>
          <a:xfrm>
            <a:off x="6995160" y="4883912"/>
            <a:ext cx="4645152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8" name="Text 38"/>
          <p:cNvSpPr txBox="1"/>
          <p:nvPr/>
        </p:nvSpPr>
        <p:spPr>
          <a:xfrm>
            <a:off x="7132320" y="488391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werft nieuwe collega’s aan</a:t>
            </a:r>
            <a:endParaRPr lang="en-US" sz="1600" dirty="0"/>
          </a:p>
        </p:txBody>
      </p:sp>
      <p:sp>
        <p:nvSpPr>
          <p:cNvPr id="49" name="Shape 39"/>
          <p:cNvSpPr/>
          <p:nvPr/>
        </p:nvSpPr>
        <p:spPr>
          <a:xfrm>
            <a:off x="6995160" y="5610352"/>
            <a:ext cx="4645152" cy="616712"/>
          </a:xfrm>
          <a:prstGeom prst="roundRect">
            <a:avLst>
              <a:gd name="adj" fmla="val 1186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50" name="Text 40"/>
          <p:cNvSpPr txBox="1"/>
          <p:nvPr/>
        </p:nvSpPr>
        <p:spPr>
          <a:xfrm>
            <a:off x="7132320" y="561035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maakt offertes voor de klanten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Waar is…?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Écrivez le nom de chaque pièce, avec l’article.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3478073"/>
            <a:ext cx="1042416" cy="2785567"/>
          </a:xfrm>
          <a:prstGeom prst="roundRect">
            <a:avLst>
              <a:gd name="adj" fmla="val 3509"/>
            </a:avLst>
          </a:prstGeom>
          <a:solidFill>
            <a:srgbClr val="E6EBF2"/>
          </a:solidFill>
          <a:ln w="12700">
            <a:solidFill>
              <a:srgbClr val="4A5A70"/>
            </a:solidFill>
            <a:prstDash val="dash"/>
          </a:ln>
        </p:spPr>
      </p:sp>
      <p:pic>
        <p:nvPicPr>
          <p:cNvPr id="9" name="Image 1" descr="p butt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" y="3778057"/>
            <a:ext cx="365760" cy="36576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48640" y="4162105"/>
            <a:ext cx="1042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de parking</a:t>
            </a:r>
            <a:endParaRPr lang="en-US" sz="1000" dirty="0"/>
          </a:p>
        </p:txBody>
      </p:sp>
      <p:sp>
        <p:nvSpPr>
          <p:cNvPr id="11" name="Shape 6"/>
          <p:cNvSpPr/>
          <p:nvPr/>
        </p:nvSpPr>
        <p:spPr>
          <a:xfrm>
            <a:off x="1700784" y="1978152"/>
            <a:ext cx="5797296" cy="4285488"/>
          </a:xfrm>
          <a:prstGeom prst="rect">
            <a:avLst/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2686324" y="3606637"/>
            <a:ext cx="4811756" cy="1028517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4077675" y="3606637"/>
            <a:ext cx="1391351" cy="10285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de gang</a:t>
            </a:r>
            <a:endParaRPr lang="en-US" sz="1000" dirty="0"/>
          </a:p>
        </p:txBody>
      </p:sp>
      <p:sp>
        <p:nvSpPr>
          <p:cNvPr id="14" name="Shape 9"/>
          <p:cNvSpPr/>
          <p:nvPr/>
        </p:nvSpPr>
        <p:spPr>
          <a:xfrm>
            <a:off x="1700784" y="1978152"/>
            <a:ext cx="985540" cy="4285488"/>
          </a:xfrm>
          <a:prstGeom prst="rect">
            <a:avLst/>
          </a:prstGeom>
          <a:solidFill>
            <a:srgbClr val="FDF1E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1878181" y="3040953"/>
            <a:ext cx="216819" cy="2159886"/>
          </a:xfrm>
          <a:prstGeom prst="roundRect">
            <a:avLst>
              <a:gd name="adj" fmla="val 16869"/>
            </a:avLst>
          </a:prstGeom>
          <a:solidFill>
            <a:schemeClr val="accent1">
              <a:alpha val="6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2038106" y="2792395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2038106" y="279239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1655064" y="3760915"/>
            <a:ext cx="91440" cy="71996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2686324" y="1978152"/>
            <a:ext cx="1391351" cy="1628485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3173297" y="3570061"/>
            <a:ext cx="417405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1" name="Image 2" descr="busts in silhouette">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3208264" y="2069592"/>
            <a:ext cx="347472" cy="347472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2759476" y="3222589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2759476" y="322258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4077675" y="1978152"/>
            <a:ext cx="1391351" cy="1628485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4564648" y="3570061"/>
            <a:ext cx="417405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6" name="Image 3" descr="printer">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4599615" y="2069592"/>
            <a:ext cx="347472" cy="347472"/>
          </a:xfrm>
          <a:prstGeom prst="rect">
            <a:avLst/>
          </a:prstGeom>
        </p:spPr>
      </p:pic>
      <p:sp>
        <p:nvSpPr>
          <p:cNvPr id="27" name="Shape 20"/>
          <p:cNvSpPr/>
          <p:nvPr/>
        </p:nvSpPr>
        <p:spPr>
          <a:xfrm>
            <a:off x="4150827" y="3222589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4150827" y="322258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29" name="Shape 22"/>
          <p:cNvSpPr/>
          <p:nvPr/>
        </p:nvSpPr>
        <p:spPr>
          <a:xfrm>
            <a:off x="5469026" y="1978152"/>
            <a:ext cx="1391351" cy="1628485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5955999" y="3570061"/>
            <a:ext cx="417405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1" name="Image 4" descr="toilet">    </p:cNvPr>
          <p:cNvPicPr>
            <a:picLocks noChangeAspect="1"/>
          </p:cNvPicPr>
          <p:nvPr/>
        </p:nvPicPr>
        <p:blipFill>
          <a:blip r:embed="rId5">
            <a:alphaModFix amt="70000"/>
          </a:blip>
          <a:stretch>
            <a:fillRect/>
          </a:stretch>
        </p:blipFill>
        <p:spPr>
          <a:xfrm>
            <a:off x="5990966" y="2069592"/>
            <a:ext cx="347472" cy="347472"/>
          </a:xfrm>
          <a:prstGeom prst="rect">
            <a:avLst/>
          </a:prstGeom>
        </p:spPr>
      </p:pic>
      <p:sp>
        <p:nvSpPr>
          <p:cNvPr id="32" name="Shape 24"/>
          <p:cNvSpPr/>
          <p:nvPr/>
        </p:nvSpPr>
        <p:spPr>
          <a:xfrm>
            <a:off x="5542178" y="3222589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5"/>
          <p:cNvSpPr txBox="1"/>
          <p:nvPr/>
        </p:nvSpPr>
        <p:spPr>
          <a:xfrm>
            <a:off x="5542178" y="322258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34" name="Shape 26"/>
          <p:cNvSpPr/>
          <p:nvPr/>
        </p:nvSpPr>
        <p:spPr>
          <a:xfrm>
            <a:off x="2686324" y="4635155"/>
            <a:ext cx="1391351" cy="1628485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35" name="Shape 27"/>
          <p:cNvSpPr/>
          <p:nvPr/>
        </p:nvSpPr>
        <p:spPr>
          <a:xfrm>
            <a:off x="3173297" y="4598579"/>
            <a:ext cx="417405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6" name="Image 5" descr="desktop computer">    </p:cNvPr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>
            <a:off x="3208264" y="5824728"/>
            <a:ext cx="347472" cy="347472"/>
          </a:xfrm>
          <a:prstGeom prst="rect">
            <a:avLst/>
          </a:prstGeom>
        </p:spPr>
      </p:pic>
      <p:sp>
        <p:nvSpPr>
          <p:cNvPr id="37" name="Shape 28"/>
          <p:cNvSpPr/>
          <p:nvPr/>
        </p:nvSpPr>
        <p:spPr>
          <a:xfrm>
            <a:off x="2759476" y="4708307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9"/>
          <p:cNvSpPr txBox="1"/>
          <p:nvPr/>
        </p:nvSpPr>
        <p:spPr>
          <a:xfrm>
            <a:off x="2759476" y="470830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5</a:t>
            </a:r>
            <a:endParaRPr lang="en-US" sz="1100" dirty="0"/>
          </a:p>
        </p:txBody>
      </p:sp>
      <p:sp>
        <p:nvSpPr>
          <p:cNvPr id="39" name="Shape 30"/>
          <p:cNvSpPr/>
          <p:nvPr/>
        </p:nvSpPr>
        <p:spPr>
          <a:xfrm>
            <a:off x="4077675" y="4635155"/>
            <a:ext cx="1391351" cy="1628485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40" name="Shape 31"/>
          <p:cNvSpPr/>
          <p:nvPr/>
        </p:nvSpPr>
        <p:spPr>
          <a:xfrm>
            <a:off x="4564648" y="4598579"/>
            <a:ext cx="417405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1" name="Image 6" descr="hot beverage">    </p:cNvPr>
          <p:cNvPicPr>
            <a:picLocks noChangeAspect="1"/>
          </p:cNvPicPr>
          <p:nvPr/>
        </p:nvPicPr>
        <p:blipFill>
          <a:blip r:embed="rId7">
            <a:alphaModFix amt="70000"/>
          </a:blip>
          <a:stretch>
            <a:fillRect/>
          </a:stretch>
        </p:blipFill>
        <p:spPr>
          <a:xfrm>
            <a:off x="4599615" y="5824728"/>
            <a:ext cx="347472" cy="347472"/>
          </a:xfrm>
          <a:prstGeom prst="rect">
            <a:avLst/>
          </a:prstGeom>
        </p:spPr>
      </p:pic>
      <p:sp>
        <p:nvSpPr>
          <p:cNvPr id="42" name="Shape 32"/>
          <p:cNvSpPr/>
          <p:nvPr/>
        </p:nvSpPr>
        <p:spPr>
          <a:xfrm>
            <a:off x="4150827" y="4708307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3"/>
          <p:cNvSpPr txBox="1"/>
          <p:nvPr/>
        </p:nvSpPr>
        <p:spPr>
          <a:xfrm>
            <a:off x="4150827" y="470830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6</a:t>
            </a:r>
            <a:endParaRPr lang="en-US" sz="1100" dirty="0"/>
          </a:p>
        </p:txBody>
      </p:sp>
      <p:sp>
        <p:nvSpPr>
          <p:cNvPr id="44" name="Shape 34"/>
          <p:cNvSpPr/>
          <p:nvPr/>
        </p:nvSpPr>
        <p:spPr>
          <a:xfrm>
            <a:off x="5469026" y="4635155"/>
            <a:ext cx="1391351" cy="1628485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45" name="Shape 35"/>
          <p:cNvSpPr/>
          <p:nvPr/>
        </p:nvSpPr>
        <p:spPr>
          <a:xfrm>
            <a:off x="5955999" y="4598579"/>
            <a:ext cx="417405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6" name="Image 7" descr="fork and knife with plate">    </p:cNvPr>
          <p:cNvPicPr>
            <a:picLocks noChangeAspect="1"/>
          </p:cNvPicPr>
          <p:nvPr/>
        </p:nvPicPr>
        <p:blipFill>
          <a:blip r:embed="rId8">
            <a:alphaModFix amt="70000"/>
          </a:blip>
          <a:stretch>
            <a:fillRect/>
          </a:stretch>
        </p:blipFill>
        <p:spPr>
          <a:xfrm>
            <a:off x="5990966" y="5824728"/>
            <a:ext cx="347472" cy="347472"/>
          </a:xfrm>
          <a:prstGeom prst="rect">
            <a:avLst/>
          </a:prstGeom>
        </p:spPr>
      </p:pic>
      <p:sp>
        <p:nvSpPr>
          <p:cNvPr id="47" name="Shape 36"/>
          <p:cNvSpPr/>
          <p:nvPr/>
        </p:nvSpPr>
        <p:spPr>
          <a:xfrm>
            <a:off x="5542178" y="4708307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37"/>
          <p:cNvSpPr txBox="1"/>
          <p:nvPr/>
        </p:nvSpPr>
        <p:spPr>
          <a:xfrm>
            <a:off x="5542178" y="470830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7</a:t>
            </a:r>
            <a:endParaRPr lang="en-US" sz="1100" dirty="0"/>
          </a:p>
        </p:txBody>
      </p:sp>
      <p:sp>
        <p:nvSpPr>
          <p:cNvPr id="49" name="Shape 38"/>
          <p:cNvSpPr/>
          <p:nvPr/>
        </p:nvSpPr>
        <p:spPr>
          <a:xfrm>
            <a:off x="6860377" y="1978152"/>
            <a:ext cx="637703" cy="2142744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50" name="Shape 39"/>
          <p:cNvSpPr/>
          <p:nvPr/>
        </p:nvSpPr>
        <p:spPr>
          <a:xfrm>
            <a:off x="6906097" y="2284258"/>
            <a:ext cx="546263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1" name="Shape 40"/>
          <p:cNvSpPr/>
          <p:nvPr/>
        </p:nvSpPr>
        <p:spPr>
          <a:xfrm>
            <a:off x="6906097" y="2590365"/>
            <a:ext cx="546263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2" name="Shape 41"/>
          <p:cNvSpPr/>
          <p:nvPr/>
        </p:nvSpPr>
        <p:spPr>
          <a:xfrm>
            <a:off x="6906097" y="2896471"/>
            <a:ext cx="546263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3" name="Shape 42"/>
          <p:cNvSpPr/>
          <p:nvPr/>
        </p:nvSpPr>
        <p:spPr>
          <a:xfrm>
            <a:off x="6906097" y="3202577"/>
            <a:ext cx="546263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4" name="Shape 43"/>
          <p:cNvSpPr/>
          <p:nvPr/>
        </p:nvSpPr>
        <p:spPr>
          <a:xfrm>
            <a:off x="6906097" y="3508683"/>
            <a:ext cx="546263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5" name="Shape 44"/>
          <p:cNvSpPr/>
          <p:nvPr/>
        </p:nvSpPr>
        <p:spPr>
          <a:xfrm>
            <a:off x="6906097" y="3814790"/>
            <a:ext cx="546263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6" name="Shape 45"/>
          <p:cNvSpPr/>
          <p:nvPr/>
        </p:nvSpPr>
        <p:spPr>
          <a:xfrm>
            <a:off x="6860377" y="4120896"/>
            <a:ext cx="637703" cy="2142744"/>
          </a:xfrm>
          <a:prstGeom prst="rect">
            <a:avLst/>
          </a:prstGeom>
          <a:solidFill>
            <a:srgbClr val="F1EBF8"/>
          </a:solidFill>
          <a:ln w="19050">
            <a:solidFill>
              <a:srgbClr val="17375E"/>
            </a:solidFill>
            <a:prstDash val="solid"/>
          </a:ln>
        </p:spPr>
      </p:sp>
      <p:pic>
        <p:nvPicPr>
          <p:cNvPr id="57" name="Image 8" descr="elevator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05493" y="4212336"/>
            <a:ext cx="347472" cy="347472"/>
          </a:xfrm>
          <a:prstGeom prst="rect">
            <a:avLst/>
          </a:prstGeom>
        </p:spPr>
      </p:pic>
      <p:sp>
        <p:nvSpPr>
          <p:cNvPr id="58" name="Text 46"/>
          <p:cNvSpPr txBox="1"/>
          <p:nvPr/>
        </p:nvSpPr>
        <p:spPr>
          <a:xfrm>
            <a:off x="6860377" y="3736848"/>
            <a:ext cx="6377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de trap</a:t>
            </a:r>
            <a:endParaRPr lang="en-US" sz="1000" dirty="0"/>
          </a:p>
        </p:txBody>
      </p:sp>
      <p:sp>
        <p:nvSpPr>
          <p:cNvPr id="59" name="Shape 47"/>
          <p:cNvSpPr/>
          <p:nvPr/>
        </p:nvSpPr>
        <p:spPr>
          <a:xfrm>
            <a:off x="7023781" y="4623816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Text 48"/>
          <p:cNvSpPr txBox="1"/>
          <p:nvPr/>
        </p:nvSpPr>
        <p:spPr>
          <a:xfrm>
            <a:off x="7023781" y="46238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8</a:t>
            </a:r>
            <a:endParaRPr lang="en-US" sz="1100" dirty="0"/>
          </a:p>
        </p:txBody>
      </p:sp>
      <p:sp>
        <p:nvSpPr>
          <p:cNvPr id="61" name="Shape 49"/>
          <p:cNvSpPr/>
          <p:nvPr/>
        </p:nvSpPr>
        <p:spPr>
          <a:xfrm>
            <a:off x="7726680" y="1978152"/>
            <a:ext cx="3913632" cy="4285488"/>
          </a:xfrm>
          <a:prstGeom prst="roundRect">
            <a:avLst>
              <a:gd name="adj" fmla="val 23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2" name="Text 50"/>
          <p:cNvSpPr txBox="1"/>
          <p:nvPr/>
        </p:nvSpPr>
        <p:spPr>
          <a:xfrm>
            <a:off x="7909560" y="206959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</a:t>
            </a:r>
            <a:endParaRPr lang="en-US" sz="1200" dirty="0"/>
          </a:p>
        </p:txBody>
      </p:sp>
      <p:sp>
        <p:nvSpPr>
          <p:cNvPr id="63" name="Text 51"/>
          <p:cNvSpPr txBox="1"/>
          <p:nvPr/>
        </p:nvSpPr>
        <p:spPr>
          <a:xfrm>
            <a:off x="7909560" y="2435352"/>
            <a:ext cx="3566160" cy="3553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onthaal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de vergaderzaal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kopieerlokaal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de toiletten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het kantoor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de keuken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de refter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de lift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Waar is…?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Écrivez le nom de chaque pièce, avec l’article.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3478073"/>
            <a:ext cx="1042416" cy="2785567"/>
          </a:xfrm>
          <a:prstGeom prst="roundRect">
            <a:avLst>
              <a:gd name="adj" fmla="val 3509"/>
            </a:avLst>
          </a:prstGeom>
          <a:solidFill>
            <a:srgbClr val="E6EBF2"/>
          </a:solidFill>
          <a:ln w="12700">
            <a:solidFill>
              <a:srgbClr val="4A5A70"/>
            </a:solidFill>
            <a:prstDash val="dash"/>
          </a:ln>
        </p:spPr>
      </p:sp>
      <p:pic>
        <p:nvPicPr>
          <p:cNvPr id="10" name="Image 1" descr="p butt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" y="3778057"/>
            <a:ext cx="365760" cy="36576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48640" y="4162105"/>
            <a:ext cx="10424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de parking</a:t>
            </a:r>
            <a:endParaRPr lang="en-US" sz="1000" dirty="0"/>
          </a:p>
        </p:txBody>
      </p:sp>
      <p:sp>
        <p:nvSpPr>
          <p:cNvPr id="12" name="Shape 7"/>
          <p:cNvSpPr/>
          <p:nvPr/>
        </p:nvSpPr>
        <p:spPr>
          <a:xfrm>
            <a:off x="1700784" y="1978152"/>
            <a:ext cx="5797296" cy="4285488"/>
          </a:xfrm>
          <a:prstGeom prst="rect">
            <a:avLst/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2686324" y="3606637"/>
            <a:ext cx="4811756" cy="1028517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4077675" y="3606637"/>
            <a:ext cx="1391351" cy="10285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de gang</a:t>
            </a:r>
            <a:endParaRPr lang="en-US" sz="1000" dirty="0"/>
          </a:p>
        </p:txBody>
      </p:sp>
      <p:sp>
        <p:nvSpPr>
          <p:cNvPr id="15" name="Shape 10"/>
          <p:cNvSpPr/>
          <p:nvPr/>
        </p:nvSpPr>
        <p:spPr>
          <a:xfrm>
            <a:off x="1700784" y="1978152"/>
            <a:ext cx="985540" cy="4285488"/>
          </a:xfrm>
          <a:prstGeom prst="rect">
            <a:avLst/>
          </a:prstGeom>
          <a:solidFill>
            <a:srgbClr val="FDF1E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1878181" y="3040953"/>
            <a:ext cx="216819" cy="2159886"/>
          </a:xfrm>
          <a:prstGeom prst="roundRect">
            <a:avLst>
              <a:gd name="adj" fmla="val 16869"/>
            </a:avLst>
          </a:prstGeom>
          <a:solidFill>
            <a:schemeClr val="accent1">
              <a:alpha val="6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1737360" y="2033016"/>
            <a:ext cx="912388" cy="1302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het onthaal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2038106" y="2792395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2038106" y="279239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1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1655064" y="3760915"/>
            <a:ext cx="91440" cy="71996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2686324" y="1978152"/>
            <a:ext cx="1391351" cy="1628485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3173297" y="3570061"/>
            <a:ext cx="417405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3" name="Image 2" descr="busts in silhouet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8264" y="2069592"/>
            <a:ext cx="347472" cy="347472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2722900" y="2417064"/>
            <a:ext cx="1318199" cy="112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de vergaderzaal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2759476" y="3222589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2759476" y="322258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2</a:t>
            </a:r>
            <a:endParaRPr lang="en-US" sz="1100" dirty="0"/>
          </a:p>
        </p:txBody>
      </p:sp>
      <p:sp>
        <p:nvSpPr>
          <p:cNvPr id="27" name="Shape 21"/>
          <p:cNvSpPr/>
          <p:nvPr/>
        </p:nvSpPr>
        <p:spPr>
          <a:xfrm>
            <a:off x="4077675" y="1978152"/>
            <a:ext cx="1391351" cy="1628485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4564648" y="3570061"/>
            <a:ext cx="417405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9" name="Image 3" descr="print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99615" y="2069592"/>
            <a:ext cx="347472" cy="347472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4114251" y="2417064"/>
            <a:ext cx="1318199" cy="112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het kopieerlokaal</a:t>
            </a:r>
            <a:endParaRPr lang="en-US" sz="1100" dirty="0"/>
          </a:p>
        </p:txBody>
      </p:sp>
      <p:sp>
        <p:nvSpPr>
          <p:cNvPr id="31" name="Shape 24"/>
          <p:cNvSpPr/>
          <p:nvPr/>
        </p:nvSpPr>
        <p:spPr>
          <a:xfrm>
            <a:off x="4150827" y="3222589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4150827" y="322258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3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5469026" y="1978152"/>
            <a:ext cx="1391351" cy="1628485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34" name="Shape 27"/>
          <p:cNvSpPr/>
          <p:nvPr/>
        </p:nvSpPr>
        <p:spPr>
          <a:xfrm>
            <a:off x="5955999" y="3570061"/>
            <a:ext cx="417405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5" name="Image 4" descr="toile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90966" y="2069592"/>
            <a:ext cx="347472" cy="347472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5505602" y="2417064"/>
            <a:ext cx="1318199" cy="112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de toiletten</a:t>
            </a:r>
            <a:endParaRPr lang="en-US" sz="1100" dirty="0"/>
          </a:p>
        </p:txBody>
      </p:sp>
      <p:sp>
        <p:nvSpPr>
          <p:cNvPr id="37" name="Shape 29"/>
          <p:cNvSpPr/>
          <p:nvPr/>
        </p:nvSpPr>
        <p:spPr>
          <a:xfrm>
            <a:off x="5542178" y="3222589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5542178" y="322258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4</a:t>
            </a:r>
            <a:endParaRPr lang="en-US" sz="1100" dirty="0"/>
          </a:p>
        </p:txBody>
      </p:sp>
      <p:sp>
        <p:nvSpPr>
          <p:cNvPr id="39" name="Shape 31"/>
          <p:cNvSpPr/>
          <p:nvPr/>
        </p:nvSpPr>
        <p:spPr>
          <a:xfrm>
            <a:off x="2686324" y="4635155"/>
            <a:ext cx="1391351" cy="1628485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40" name="Shape 32"/>
          <p:cNvSpPr/>
          <p:nvPr/>
        </p:nvSpPr>
        <p:spPr>
          <a:xfrm>
            <a:off x="3173297" y="4598579"/>
            <a:ext cx="417405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1" name="Image 5" descr="desktop comput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08264" y="5824728"/>
            <a:ext cx="347472" cy="347472"/>
          </a:xfrm>
          <a:prstGeom prst="rect">
            <a:avLst/>
          </a:prstGeom>
        </p:spPr>
      </p:pic>
      <p:sp>
        <p:nvSpPr>
          <p:cNvPr id="42" name="Text 33"/>
          <p:cNvSpPr txBox="1"/>
          <p:nvPr/>
        </p:nvSpPr>
        <p:spPr>
          <a:xfrm>
            <a:off x="2722900" y="4680875"/>
            <a:ext cx="1318199" cy="112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het kantoor</a:t>
            </a:r>
            <a:endParaRPr lang="en-US" sz="1100" dirty="0"/>
          </a:p>
        </p:txBody>
      </p:sp>
      <p:sp>
        <p:nvSpPr>
          <p:cNvPr id="43" name="Shape 34"/>
          <p:cNvSpPr/>
          <p:nvPr/>
        </p:nvSpPr>
        <p:spPr>
          <a:xfrm>
            <a:off x="2759476" y="4708307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2759476" y="470830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5</a:t>
            </a:r>
            <a:endParaRPr lang="en-US" sz="1100" dirty="0"/>
          </a:p>
        </p:txBody>
      </p:sp>
      <p:sp>
        <p:nvSpPr>
          <p:cNvPr id="45" name="Shape 36"/>
          <p:cNvSpPr/>
          <p:nvPr/>
        </p:nvSpPr>
        <p:spPr>
          <a:xfrm>
            <a:off x="4077675" y="4635155"/>
            <a:ext cx="1391351" cy="1628485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46" name="Shape 37"/>
          <p:cNvSpPr/>
          <p:nvPr/>
        </p:nvSpPr>
        <p:spPr>
          <a:xfrm>
            <a:off x="4564648" y="4598579"/>
            <a:ext cx="417405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7" name="Image 6" descr="hot beverag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99615" y="5824728"/>
            <a:ext cx="347472" cy="347472"/>
          </a:xfrm>
          <a:prstGeom prst="rect">
            <a:avLst/>
          </a:prstGeom>
        </p:spPr>
      </p:pic>
      <p:sp>
        <p:nvSpPr>
          <p:cNvPr id="48" name="Text 38"/>
          <p:cNvSpPr txBox="1"/>
          <p:nvPr/>
        </p:nvSpPr>
        <p:spPr>
          <a:xfrm>
            <a:off x="4114251" y="4680875"/>
            <a:ext cx="1318199" cy="112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de keuken</a:t>
            </a:r>
            <a:endParaRPr lang="en-US" sz="1100" dirty="0"/>
          </a:p>
        </p:txBody>
      </p:sp>
      <p:sp>
        <p:nvSpPr>
          <p:cNvPr id="49" name="Shape 39"/>
          <p:cNvSpPr/>
          <p:nvPr/>
        </p:nvSpPr>
        <p:spPr>
          <a:xfrm>
            <a:off x="4150827" y="4708307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0"/>
          <p:cNvSpPr txBox="1"/>
          <p:nvPr/>
        </p:nvSpPr>
        <p:spPr>
          <a:xfrm>
            <a:off x="4150827" y="470830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6</a:t>
            </a:r>
            <a:endParaRPr lang="en-US" sz="1100" dirty="0"/>
          </a:p>
        </p:txBody>
      </p:sp>
      <p:sp>
        <p:nvSpPr>
          <p:cNvPr id="51" name="Shape 41"/>
          <p:cNvSpPr/>
          <p:nvPr/>
        </p:nvSpPr>
        <p:spPr>
          <a:xfrm>
            <a:off x="5469026" y="4635155"/>
            <a:ext cx="1391351" cy="1628485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52" name="Shape 42"/>
          <p:cNvSpPr/>
          <p:nvPr/>
        </p:nvSpPr>
        <p:spPr>
          <a:xfrm>
            <a:off x="5955999" y="4598579"/>
            <a:ext cx="417405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3" name="Image 7" descr="fork and knife with plat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0966" y="5824728"/>
            <a:ext cx="347472" cy="347472"/>
          </a:xfrm>
          <a:prstGeom prst="rect">
            <a:avLst/>
          </a:prstGeom>
        </p:spPr>
      </p:pic>
      <p:sp>
        <p:nvSpPr>
          <p:cNvPr id="54" name="Text 43"/>
          <p:cNvSpPr txBox="1"/>
          <p:nvPr/>
        </p:nvSpPr>
        <p:spPr>
          <a:xfrm>
            <a:off x="5505602" y="4680875"/>
            <a:ext cx="1318199" cy="112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de refter</a:t>
            </a:r>
            <a:endParaRPr lang="en-US" sz="1100" dirty="0"/>
          </a:p>
        </p:txBody>
      </p:sp>
      <p:sp>
        <p:nvSpPr>
          <p:cNvPr id="55" name="Shape 44"/>
          <p:cNvSpPr/>
          <p:nvPr/>
        </p:nvSpPr>
        <p:spPr>
          <a:xfrm>
            <a:off x="5542178" y="4708307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45"/>
          <p:cNvSpPr txBox="1"/>
          <p:nvPr/>
        </p:nvSpPr>
        <p:spPr>
          <a:xfrm>
            <a:off x="5542178" y="470830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7</a:t>
            </a:r>
            <a:endParaRPr lang="en-US" sz="1100" dirty="0"/>
          </a:p>
        </p:txBody>
      </p:sp>
      <p:sp>
        <p:nvSpPr>
          <p:cNvPr id="57" name="Shape 46"/>
          <p:cNvSpPr/>
          <p:nvPr/>
        </p:nvSpPr>
        <p:spPr>
          <a:xfrm>
            <a:off x="6860377" y="1978152"/>
            <a:ext cx="637703" cy="2142744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58" name="Shape 47"/>
          <p:cNvSpPr/>
          <p:nvPr/>
        </p:nvSpPr>
        <p:spPr>
          <a:xfrm>
            <a:off x="6906097" y="2284258"/>
            <a:ext cx="546263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9" name="Shape 48"/>
          <p:cNvSpPr/>
          <p:nvPr/>
        </p:nvSpPr>
        <p:spPr>
          <a:xfrm>
            <a:off x="6906097" y="2590365"/>
            <a:ext cx="546263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60" name="Shape 49"/>
          <p:cNvSpPr/>
          <p:nvPr/>
        </p:nvSpPr>
        <p:spPr>
          <a:xfrm>
            <a:off x="6906097" y="2896471"/>
            <a:ext cx="546263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61" name="Shape 50"/>
          <p:cNvSpPr/>
          <p:nvPr/>
        </p:nvSpPr>
        <p:spPr>
          <a:xfrm>
            <a:off x="6906097" y="3202577"/>
            <a:ext cx="546263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62" name="Shape 51"/>
          <p:cNvSpPr/>
          <p:nvPr/>
        </p:nvSpPr>
        <p:spPr>
          <a:xfrm>
            <a:off x="6906097" y="3508683"/>
            <a:ext cx="546263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63" name="Shape 52"/>
          <p:cNvSpPr/>
          <p:nvPr/>
        </p:nvSpPr>
        <p:spPr>
          <a:xfrm>
            <a:off x="6906097" y="3814790"/>
            <a:ext cx="546263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64" name="Shape 53"/>
          <p:cNvSpPr/>
          <p:nvPr/>
        </p:nvSpPr>
        <p:spPr>
          <a:xfrm>
            <a:off x="6860377" y="4120896"/>
            <a:ext cx="637703" cy="2142744"/>
          </a:xfrm>
          <a:prstGeom prst="rect">
            <a:avLst/>
          </a:prstGeom>
          <a:solidFill>
            <a:srgbClr val="F1EBF8"/>
          </a:solidFill>
          <a:ln w="19050">
            <a:solidFill>
              <a:srgbClr val="17375E"/>
            </a:solidFill>
            <a:prstDash val="solid"/>
          </a:ln>
        </p:spPr>
      </p:sp>
      <p:pic>
        <p:nvPicPr>
          <p:cNvPr id="65" name="Image 8" descr="elevator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05493" y="4212336"/>
            <a:ext cx="347472" cy="347472"/>
          </a:xfrm>
          <a:prstGeom prst="rect">
            <a:avLst/>
          </a:prstGeom>
        </p:spPr>
      </p:pic>
      <p:sp>
        <p:nvSpPr>
          <p:cNvPr id="66" name="Text 54"/>
          <p:cNvSpPr txBox="1"/>
          <p:nvPr/>
        </p:nvSpPr>
        <p:spPr>
          <a:xfrm>
            <a:off x="6860377" y="3736848"/>
            <a:ext cx="6377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de trap</a:t>
            </a:r>
            <a:endParaRPr lang="en-US" sz="1000" dirty="0"/>
          </a:p>
        </p:txBody>
      </p:sp>
      <p:sp>
        <p:nvSpPr>
          <p:cNvPr id="67" name="Text 55"/>
          <p:cNvSpPr txBox="1"/>
          <p:nvPr/>
        </p:nvSpPr>
        <p:spPr>
          <a:xfrm>
            <a:off x="6860377" y="5852160"/>
            <a:ext cx="6377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chemeClr val="tx2"/>
                </a:solidFill>
              </a:rPr>
              <a:t>de lift</a:t>
            </a:r>
            <a:endParaRPr lang="en-US" sz="1000" dirty="0"/>
          </a:p>
        </p:txBody>
      </p:sp>
      <p:sp>
        <p:nvSpPr>
          <p:cNvPr id="68" name="Shape 56"/>
          <p:cNvSpPr/>
          <p:nvPr/>
        </p:nvSpPr>
        <p:spPr>
          <a:xfrm>
            <a:off x="7023781" y="4623816"/>
            <a:ext cx="310896" cy="310896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Text 57"/>
          <p:cNvSpPr txBox="1"/>
          <p:nvPr/>
        </p:nvSpPr>
        <p:spPr>
          <a:xfrm>
            <a:off x="7023781" y="46238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8</a:t>
            </a:r>
            <a:endParaRPr lang="en-US" sz="1100" dirty="0"/>
          </a:p>
        </p:txBody>
      </p:sp>
      <p:sp>
        <p:nvSpPr>
          <p:cNvPr id="70" name="Shape 58"/>
          <p:cNvSpPr/>
          <p:nvPr/>
        </p:nvSpPr>
        <p:spPr>
          <a:xfrm>
            <a:off x="7726680" y="1978152"/>
            <a:ext cx="3913632" cy="4285488"/>
          </a:xfrm>
          <a:prstGeom prst="roundRect">
            <a:avLst>
              <a:gd name="adj" fmla="val 233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71" name="Shape 59"/>
          <p:cNvSpPr/>
          <p:nvPr/>
        </p:nvSpPr>
        <p:spPr>
          <a:xfrm>
            <a:off x="7909560" y="2170176"/>
            <a:ext cx="347472" cy="34747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2" name="Text 60"/>
          <p:cNvSpPr txBox="1"/>
          <p:nvPr/>
        </p:nvSpPr>
        <p:spPr>
          <a:xfrm>
            <a:off x="7909560" y="21701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73" name="Text 61"/>
          <p:cNvSpPr txBox="1"/>
          <p:nvPr/>
        </p:nvSpPr>
        <p:spPr>
          <a:xfrm>
            <a:off x="8366760" y="211531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1"/>
                </a:solidFill>
              </a:rPr>
              <a:t>het</a:t>
            </a:r>
            <a:r>
              <a:rPr lang="en-US" sz="1700" b="1" i="1" dirty="0">
                <a:solidFill>
                  <a:schemeClr val="accent3"/>
                </a:solidFill>
              </a:rPr>
              <a:t> onthaal</a:t>
            </a:r>
            <a:endParaRPr lang="en-US" sz="1700" dirty="0"/>
          </a:p>
        </p:txBody>
      </p:sp>
      <p:sp>
        <p:nvSpPr>
          <p:cNvPr id="74" name="Shape 62"/>
          <p:cNvSpPr/>
          <p:nvPr/>
        </p:nvSpPr>
        <p:spPr>
          <a:xfrm>
            <a:off x="7909560" y="2718816"/>
            <a:ext cx="347472" cy="34747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5" name="Text 63"/>
          <p:cNvSpPr txBox="1"/>
          <p:nvPr/>
        </p:nvSpPr>
        <p:spPr>
          <a:xfrm>
            <a:off x="7909560" y="27188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76" name="Text 64"/>
          <p:cNvSpPr txBox="1"/>
          <p:nvPr/>
        </p:nvSpPr>
        <p:spPr>
          <a:xfrm>
            <a:off x="8366760" y="266395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b="1" i="1" dirty="0">
                <a:solidFill>
                  <a:schemeClr val="accent3"/>
                </a:solidFill>
              </a:rPr>
              <a:t> vergaderzaal</a:t>
            </a:r>
            <a:endParaRPr lang="en-US" sz="1700" dirty="0"/>
          </a:p>
        </p:txBody>
      </p:sp>
      <p:sp>
        <p:nvSpPr>
          <p:cNvPr id="77" name="Shape 65"/>
          <p:cNvSpPr/>
          <p:nvPr/>
        </p:nvSpPr>
        <p:spPr>
          <a:xfrm>
            <a:off x="7909560" y="3267456"/>
            <a:ext cx="347472" cy="34747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8" name="Text 66"/>
          <p:cNvSpPr txBox="1"/>
          <p:nvPr/>
        </p:nvSpPr>
        <p:spPr>
          <a:xfrm>
            <a:off x="7909560" y="32674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79" name="Text 67"/>
          <p:cNvSpPr txBox="1"/>
          <p:nvPr/>
        </p:nvSpPr>
        <p:spPr>
          <a:xfrm>
            <a:off x="8366760" y="321259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1"/>
                </a:solidFill>
              </a:rPr>
              <a:t>het</a:t>
            </a:r>
            <a:r>
              <a:rPr lang="en-US" sz="1700" b="1" i="1" dirty="0">
                <a:solidFill>
                  <a:schemeClr val="accent3"/>
                </a:solidFill>
              </a:rPr>
              <a:t> kopieerlokaal</a:t>
            </a:r>
            <a:endParaRPr lang="en-US" sz="1700" dirty="0"/>
          </a:p>
        </p:txBody>
      </p:sp>
      <p:sp>
        <p:nvSpPr>
          <p:cNvPr id="80" name="Shape 68"/>
          <p:cNvSpPr/>
          <p:nvPr/>
        </p:nvSpPr>
        <p:spPr>
          <a:xfrm>
            <a:off x="7909560" y="3816096"/>
            <a:ext cx="347472" cy="34747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1" name="Text 69"/>
          <p:cNvSpPr txBox="1"/>
          <p:nvPr/>
        </p:nvSpPr>
        <p:spPr>
          <a:xfrm>
            <a:off x="7909560" y="38160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82" name="Text 70"/>
          <p:cNvSpPr txBox="1"/>
          <p:nvPr/>
        </p:nvSpPr>
        <p:spPr>
          <a:xfrm>
            <a:off x="8366760" y="376123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b="1" i="1" dirty="0">
                <a:solidFill>
                  <a:schemeClr val="accent3"/>
                </a:solidFill>
              </a:rPr>
              <a:t> toiletten</a:t>
            </a:r>
            <a:endParaRPr lang="en-US" sz="1700" dirty="0"/>
          </a:p>
        </p:txBody>
      </p:sp>
      <p:sp>
        <p:nvSpPr>
          <p:cNvPr id="83" name="Shape 71"/>
          <p:cNvSpPr/>
          <p:nvPr/>
        </p:nvSpPr>
        <p:spPr>
          <a:xfrm>
            <a:off x="7909560" y="4364736"/>
            <a:ext cx="347472" cy="34747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4" name="Text 72"/>
          <p:cNvSpPr txBox="1"/>
          <p:nvPr/>
        </p:nvSpPr>
        <p:spPr>
          <a:xfrm>
            <a:off x="7909560" y="43647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85" name="Text 73"/>
          <p:cNvSpPr txBox="1"/>
          <p:nvPr/>
        </p:nvSpPr>
        <p:spPr>
          <a:xfrm>
            <a:off x="8366760" y="430987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1"/>
                </a:solidFill>
              </a:rPr>
              <a:t>het</a:t>
            </a:r>
            <a:r>
              <a:rPr lang="en-US" sz="1700" b="1" i="1" dirty="0">
                <a:solidFill>
                  <a:schemeClr val="accent3"/>
                </a:solidFill>
              </a:rPr>
              <a:t> kantoor</a:t>
            </a:r>
            <a:endParaRPr lang="en-US" sz="1700" dirty="0"/>
          </a:p>
        </p:txBody>
      </p:sp>
      <p:sp>
        <p:nvSpPr>
          <p:cNvPr id="86" name="Shape 74"/>
          <p:cNvSpPr/>
          <p:nvPr/>
        </p:nvSpPr>
        <p:spPr>
          <a:xfrm>
            <a:off x="7909560" y="4913376"/>
            <a:ext cx="347472" cy="34747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7" name="Text 75"/>
          <p:cNvSpPr txBox="1"/>
          <p:nvPr/>
        </p:nvSpPr>
        <p:spPr>
          <a:xfrm>
            <a:off x="7909560" y="49133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88" name="Text 76"/>
          <p:cNvSpPr txBox="1"/>
          <p:nvPr/>
        </p:nvSpPr>
        <p:spPr>
          <a:xfrm>
            <a:off x="8366760" y="485851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b="1" i="1" dirty="0">
                <a:solidFill>
                  <a:schemeClr val="accent3"/>
                </a:solidFill>
              </a:rPr>
              <a:t> keuken</a:t>
            </a:r>
            <a:endParaRPr lang="en-US" sz="1700" dirty="0"/>
          </a:p>
        </p:txBody>
      </p:sp>
      <p:sp>
        <p:nvSpPr>
          <p:cNvPr id="89" name="Shape 77"/>
          <p:cNvSpPr/>
          <p:nvPr/>
        </p:nvSpPr>
        <p:spPr>
          <a:xfrm>
            <a:off x="7909560" y="5462016"/>
            <a:ext cx="347472" cy="34747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0" name="Text 78"/>
          <p:cNvSpPr txBox="1"/>
          <p:nvPr/>
        </p:nvSpPr>
        <p:spPr>
          <a:xfrm>
            <a:off x="7909560" y="54620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91" name="Text 79"/>
          <p:cNvSpPr txBox="1"/>
          <p:nvPr/>
        </p:nvSpPr>
        <p:spPr>
          <a:xfrm>
            <a:off x="8366760" y="540715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b="1" i="1" dirty="0">
                <a:solidFill>
                  <a:schemeClr val="accent3"/>
                </a:solidFill>
              </a:rPr>
              <a:t> refter</a:t>
            </a:r>
            <a:endParaRPr lang="en-US" sz="1700" dirty="0"/>
          </a:p>
        </p:txBody>
      </p:sp>
      <p:sp>
        <p:nvSpPr>
          <p:cNvPr id="92" name="Shape 80"/>
          <p:cNvSpPr/>
          <p:nvPr/>
        </p:nvSpPr>
        <p:spPr>
          <a:xfrm>
            <a:off x="7909560" y="6010656"/>
            <a:ext cx="347472" cy="347472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3" name="Text 81"/>
          <p:cNvSpPr txBox="1"/>
          <p:nvPr/>
        </p:nvSpPr>
        <p:spPr>
          <a:xfrm>
            <a:off x="7909560" y="60106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94" name="Text 82"/>
          <p:cNvSpPr txBox="1"/>
          <p:nvPr/>
        </p:nvSpPr>
        <p:spPr>
          <a:xfrm>
            <a:off x="8366760" y="595579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tx2"/>
                </a:solidFill>
              </a:rPr>
              <a:t>de</a:t>
            </a:r>
            <a:r>
              <a:rPr lang="en-US" sz="1700" b="1" i="1" dirty="0">
                <a:solidFill>
                  <a:schemeClr val="accent3"/>
                </a:solidFill>
              </a:rPr>
              <a:t> lift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de of het?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Classez les mots. Composés : le dernier mot décide (M14) · </a:t>
            </a:r>
            <a:r>
              <a:rPr lang="en-US" sz="1700" i="1" dirty="0">
                <a:solidFill>
                  <a:schemeClr val="accent5"/>
                </a:solidFill>
              </a:rPr>
              <a:t>-ing</a:t>
            </a:r>
            <a:r>
              <a:rPr lang="en-US" sz="1700" i="1" dirty="0">
                <a:solidFill>
                  <a:schemeClr val="accent5"/>
                </a:solidFill>
              </a:rPr>
              <a:t> → </a:t>
            </a:r>
            <a:r>
              <a:rPr lang="en-US" sz="1700" i="1" dirty="0">
                <a:solidFill>
                  <a:schemeClr val="accent5"/>
                </a:solidFill>
              </a:rPr>
              <a:t>de</a:t>
            </a:r>
            <a:r>
              <a:rPr lang="en-US" sz="1700" i="1" dirty="0">
                <a:solidFill>
                  <a:schemeClr val="accent5"/>
                </a:solidFill>
              </a:rPr>
              <a:t> (M5).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 rot="-120000">
            <a:off x="731520" y="1932432"/>
            <a:ext cx="226999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731520" y="1932432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contract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 rot="60000">
            <a:off x="3550158" y="1932432"/>
            <a:ext cx="226999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3550158" y="1932432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factuur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 rot="120000">
            <a:off x="6368796" y="1932432"/>
            <a:ext cx="226999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368796" y="1932432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scherm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 rot="-60000">
            <a:off x="9187434" y="1932432"/>
            <a:ext cx="226999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9187434" y="1932432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vergadering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 rot="-120000">
            <a:off x="731520" y="2481072"/>
            <a:ext cx="226999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731520" y="2481072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dossier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 rot="60000">
            <a:off x="3550158" y="2481072"/>
            <a:ext cx="226999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3550158" y="2481072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printer</a:t>
            </a:r>
            <a:endParaRPr lang="en-US" sz="1600" dirty="0"/>
          </a:p>
        </p:txBody>
      </p:sp>
      <p:sp>
        <p:nvSpPr>
          <p:cNvPr id="20" name="Shape 16"/>
          <p:cNvSpPr/>
          <p:nvPr/>
        </p:nvSpPr>
        <p:spPr>
          <a:xfrm rot="120000">
            <a:off x="6368796" y="2481072"/>
            <a:ext cx="226999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368796" y="2481072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verslag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 rot="-60000">
            <a:off x="9187434" y="2481072"/>
            <a:ext cx="226999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9187434" y="2481072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offerte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 rot="-120000">
            <a:off x="731520" y="3029712"/>
            <a:ext cx="226999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731520" y="3029712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formulier</a:t>
            </a:r>
            <a:endParaRPr lang="en-US" sz="1600" dirty="0"/>
          </a:p>
        </p:txBody>
      </p:sp>
      <p:sp>
        <p:nvSpPr>
          <p:cNvPr id="26" name="Shape 22"/>
          <p:cNvSpPr/>
          <p:nvPr/>
        </p:nvSpPr>
        <p:spPr>
          <a:xfrm rot="60000">
            <a:off x="3550158" y="3029712"/>
            <a:ext cx="226999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3550158" y="3029712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personeelsdienst</a:t>
            </a:r>
            <a:endParaRPr lang="en-US" sz="1600" dirty="0"/>
          </a:p>
        </p:txBody>
      </p:sp>
      <p:sp>
        <p:nvSpPr>
          <p:cNvPr id="28" name="Shape 24"/>
          <p:cNvSpPr/>
          <p:nvPr/>
        </p:nvSpPr>
        <p:spPr>
          <a:xfrm rot="120000">
            <a:off x="6368796" y="3029712"/>
            <a:ext cx="226999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368796" y="3029712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kopieerlokaal</a:t>
            </a:r>
            <a:endParaRPr lang="en-US" sz="1600" dirty="0"/>
          </a:p>
        </p:txBody>
      </p:sp>
      <p:sp>
        <p:nvSpPr>
          <p:cNvPr id="30" name="Shape 26"/>
          <p:cNvSpPr/>
          <p:nvPr/>
        </p:nvSpPr>
        <p:spPr>
          <a:xfrm rot="-60000">
            <a:off x="9187434" y="3029712"/>
            <a:ext cx="2269998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9187434" y="3029712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vergaderzaal</a:t>
            </a:r>
            <a:endParaRPr lang="en-US" sz="1600" dirty="0"/>
          </a:p>
        </p:txBody>
      </p:sp>
      <p:sp>
        <p:nvSpPr>
          <p:cNvPr id="32" name="Shape 28"/>
          <p:cNvSpPr/>
          <p:nvPr/>
        </p:nvSpPr>
        <p:spPr>
          <a:xfrm>
            <a:off x="548640" y="3669792"/>
            <a:ext cx="5413248" cy="2593848"/>
          </a:xfrm>
          <a:prstGeom prst="roundRect">
            <a:avLst>
              <a:gd name="adj" fmla="val 3525"/>
            </a:avLst>
          </a:prstGeom>
          <a:solidFill>
            <a:schemeClr val="tx2">
              <a:alpha val="8000"/>
            </a:schemeClr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548640" y="3669792"/>
            <a:ext cx="5413248" cy="502920"/>
          </a:xfrm>
          <a:prstGeom prst="roundRect">
            <a:avLst>
              <a:gd name="adj" fmla="val 1818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548640" y="3669792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DE</a:t>
            </a:r>
            <a:endParaRPr lang="en-US" sz="2000" dirty="0"/>
          </a:p>
        </p:txBody>
      </p:sp>
      <p:sp>
        <p:nvSpPr>
          <p:cNvPr id="35" name="Shape 31"/>
          <p:cNvSpPr/>
          <p:nvPr/>
        </p:nvSpPr>
        <p:spPr>
          <a:xfrm>
            <a:off x="6227064" y="3669792"/>
            <a:ext cx="5413248" cy="2593848"/>
          </a:xfrm>
          <a:prstGeom prst="roundRect">
            <a:avLst>
              <a:gd name="adj" fmla="val 3525"/>
            </a:avLst>
          </a:prstGeom>
          <a:solidFill>
            <a:schemeClr val="accent1">
              <a:alpha val="8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6227064" y="3669792"/>
            <a:ext cx="5413248" cy="502920"/>
          </a:xfrm>
          <a:prstGeom prst="roundRect">
            <a:avLst>
              <a:gd name="adj" fmla="val 1818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6227064" y="3669792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HET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de of het?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Classez les mots. Composés : le dernier mot décide (M14) · </a:t>
            </a:r>
            <a:r>
              <a:rPr lang="en-US" sz="1700" i="1" dirty="0">
                <a:solidFill>
                  <a:schemeClr val="accent5"/>
                </a:solidFill>
              </a:rPr>
              <a:t>-ing</a:t>
            </a:r>
            <a:r>
              <a:rPr lang="en-US" sz="1700" i="1" dirty="0">
                <a:solidFill>
                  <a:schemeClr val="accent5"/>
                </a:solidFill>
              </a:rPr>
              <a:t> → </a:t>
            </a:r>
            <a:r>
              <a:rPr lang="en-US" sz="1700" i="1" dirty="0">
                <a:solidFill>
                  <a:schemeClr val="accent5"/>
                </a:solidFill>
              </a:rPr>
              <a:t>de</a:t>
            </a:r>
            <a:r>
              <a:rPr lang="en-US" sz="1700" i="1" dirty="0">
                <a:solidFill>
                  <a:schemeClr val="accent5"/>
                </a:solidFill>
              </a:rPr>
              <a:t> (M5).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5413248" cy="4331208"/>
          </a:xfrm>
          <a:prstGeom prst="roundRect">
            <a:avLst>
              <a:gd name="adj" fmla="val 2111"/>
            </a:avLst>
          </a:prstGeom>
          <a:solidFill>
            <a:schemeClr val="tx2">
              <a:alpha val="8000"/>
            </a:schemeClr>
          </a:solidFill>
          <a:ln w="25400">
            <a:solidFill>
              <a:srgbClr val="17375E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48640" y="1932432"/>
            <a:ext cx="5413248" cy="502920"/>
          </a:xfrm>
          <a:prstGeom prst="roundRect">
            <a:avLst>
              <a:gd name="adj" fmla="val 1818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48640" y="1932432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DE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822960" y="261823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2"/>
                </a:solidFill>
              </a:rPr>
              <a:t>de factuur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3429000" y="261823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2"/>
                </a:solidFill>
              </a:rPr>
              <a:t>de vergadering</a:t>
            </a:r>
            <a:endParaRPr lang="en-US" sz="1800" dirty="0"/>
          </a:p>
        </p:txBody>
      </p:sp>
      <p:sp>
        <p:nvSpPr>
          <p:cNvPr id="14" name="Text 10"/>
          <p:cNvSpPr txBox="1"/>
          <p:nvPr/>
        </p:nvSpPr>
        <p:spPr>
          <a:xfrm>
            <a:off x="822960" y="325831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2"/>
                </a:solidFill>
              </a:rPr>
              <a:t>de printer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3429000" y="325831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2"/>
                </a:solidFill>
              </a:rPr>
              <a:t>de offerte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822960" y="389839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2"/>
                </a:solidFill>
              </a:rPr>
              <a:t>de personeelsdienst</a:t>
            </a:r>
            <a:endParaRPr lang="en-US" sz="1800" dirty="0"/>
          </a:p>
        </p:txBody>
      </p:sp>
      <p:sp>
        <p:nvSpPr>
          <p:cNvPr id="17" name="Text 13"/>
          <p:cNvSpPr txBox="1"/>
          <p:nvPr/>
        </p:nvSpPr>
        <p:spPr>
          <a:xfrm>
            <a:off x="3429000" y="389839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tx2"/>
                </a:solidFill>
              </a:rPr>
              <a:t>de vergaderzaal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6227064" y="1932432"/>
            <a:ext cx="5413248" cy="4331208"/>
          </a:xfrm>
          <a:prstGeom prst="roundRect">
            <a:avLst>
              <a:gd name="adj" fmla="val 2111"/>
            </a:avLst>
          </a:prstGeom>
          <a:solidFill>
            <a:schemeClr val="accent1">
              <a:alpha val="8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227064" y="1932432"/>
            <a:ext cx="5413248" cy="502920"/>
          </a:xfrm>
          <a:prstGeom prst="roundRect">
            <a:avLst>
              <a:gd name="adj" fmla="val 1818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227064" y="1932432"/>
            <a:ext cx="5413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HET</a:t>
            </a:r>
            <a:endParaRPr lang="en-US" sz="2000" dirty="0"/>
          </a:p>
        </p:txBody>
      </p:sp>
      <p:sp>
        <p:nvSpPr>
          <p:cNvPr id="21" name="Text 17"/>
          <p:cNvSpPr txBox="1"/>
          <p:nvPr/>
        </p:nvSpPr>
        <p:spPr>
          <a:xfrm>
            <a:off x="6501384" y="261823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1"/>
                </a:solidFill>
              </a:rPr>
              <a:t>het contract</a:t>
            </a:r>
            <a:endParaRPr lang="en-US" sz="1800" dirty="0"/>
          </a:p>
        </p:txBody>
      </p:sp>
      <p:sp>
        <p:nvSpPr>
          <p:cNvPr id="22" name="Text 18"/>
          <p:cNvSpPr txBox="1"/>
          <p:nvPr/>
        </p:nvSpPr>
        <p:spPr>
          <a:xfrm>
            <a:off x="9107424" y="261823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1"/>
                </a:solidFill>
              </a:rPr>
              <a:t>het scherm</a:t>
            </a:r>
            <a:endParaRPr lang="en-US" sz="1800" dirty="0"/>
          </a:p>
        </p:txBody>
      </p:sp>
      <p:sp>
        <p:nvSpPr>
          <p:cNvPr id="23" name="Text 19"/>
          <p:cNvSpPr txBox="1"/>
          <p:nvPr/>
        </p:nvSpPr>
        <p:spPr>
          <a:xfrm>
            <a:off x="6501384" y="325831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1"/>
                </a:solidFill>
              </a:rPr>
              <a:t>het dossier</a:t>
            </a:r>
            <a:endParaRPr lang="en-US" sz="1800" dirty="0"/>
          </a:p>
        </p:txBody>
      </p:sp>
      <p:sp>
        <p:nvSpPr>
          <p:cNvPr id="24" name="Text 20"/>
          <p:cNvSpPr txBox="1"/>
          <p:nvPr/>
        </p:nvSpPr>
        <p:spPr>
          <a:xfrm>
            <a:off x="9107424" y="325831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1"/>
                </a:solidFill>
              </a:rPr>
              <a:t>het verslag</a:t>
            </a:r>
            <a:endParaRPr lang="en-US" sz="1800" dirty="0"/>
          </a:p>
        </p:txBody>
      </p:sp>
      <p:sp>
        <p:nvSpPr>
          <p:cNvPr id="25" name="Text 21"/>
          <p:cNvSpPr txBox="1"/>
          <p:nvPr/>
        </p:nvSpPr>
        <p:spPr>
          <a:xfrm>
            <a:off x="6501384" y="389839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1"/>
                </a:solidFill>
              </a:rPr>
              <a:t>het formulier</a:t>
            </a:r>
            <a:endParaRPr lang="en-US" sz="1800" dirty="0"/>
          </a:p>
        </p:txBody>
      </p:sp>
      <p:sp>
        <p:nvSpPr>
          <p:cNvPr id="26" name="Text 22"/>
          <p:cNvSpPr txBox="1"/>
          <p:nvPr/>
        </p:nvSpPr>
        <p:spPr>
          <a:xfrm>
            <a:off x="9107424" y="3898392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1"/>
                </a:solidFill>
              </a:rPr>
              <a:t>het kopieerlokaal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écrit à Lotte avant son premier jour.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Sofie Peeters · Aan: Lotte Claes · Onderwerp: welkom!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26792"/>
            <a:ext cx="7589520" cy="362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Beste Lotte,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Welkom bij Peeters &amp; Co! Maandag om negen uur wacht ik op je aan het onthaal. Eerst ga je naar de </a:t>
            </a:r>
            <a:r>
              <a:rPr lang="en-US" sz="1800" i="1" dirty="0">
                <a:solidFill>
                  <a:schemeClr val="tx1"/>
                </a:solidFill>
              </a:rPr>
              <a:t>personeel dienst</a:t>
            </a:r>
            <a:r>
              <a:rPr lang="en-US" sz="1800" i="1" dirty="0">
                <a:solidFill>
                  <a:schemeClr val="tx1"/>
                </a:solidFill>
              </a:rPr>
              <a:t>: daar teken je </a:t>
            </a:r>
            <a:r>
              <a:rPr lang="en-US" sz="1800" i="1" dirty="0">
                <a:solidFill>
                  <a:schemeClr val="tx1"/>
                </a:solidFill>
              </a:rPr>
              <a:t>de</a:t>
            </a:r>
            <a:r>
              <a:rPr lang="en-US" sz="1800" i="1" dirty="0">
                <a:solidFill>
                  <a:schemeClr val="tx1"/>
                </a:solidFill>
              </a:rPr>
              <a:t> contract. Als nieuwe </a:t>
            </a:r>
            <a:r>
              <a:rPr lang="en-US" sz="1800" i="1" dirty="0">
                <a:solidFill>
                  <a:schemeClr val="tx1"/>
                </a:solidFill>
              </a:rPr>
              <a:t>werkgever</a:t>
            </a:r>
            <a:r>
              <a:rPr lang="en-US" sz="1800" i="1" dirty="0">
                <a:solidFill>
                  <a:schemeClr val="tx1"/>
                </a:solidFill>
              </a:rPr>
              <a:t> krijg je een badge en een laptop. We </a:t>
            </a:r>
            <a:r>
              <a:rPr lang="en-US" sz="1800" i="1" dirty="0">
                <a:solidFill>
                  <a:schemeClr val="tx1"/>
                </a:solidFill>
              </a:rPr>
              <a:t>maken</a:t>
            </a:r>
            <a:r>
              <a:rPr lang="en-US" sz="1800" i="1" dirty="0">
                <a:solidFill>
                  <a:schemeClr val="tx1"/>
                </a:solidFill>
              </a:rPr>
              <a:t> elke maandag een vergadering met het hele team. Volgende week volg je een </a:t>
            </a:r>
            <a:r>
              <a:rPr lang="en-US" sz="1800" i="1" dirty="0">
                <a:solidFill>
                  <a:schemeClr val="tx1"/>
                </a:solidFill>
              </a:rPr>
              <a:t>formatie</a:t>
            </a:r>
            <a:r>
              <a:rPr lang="en-US" sz="1800" i="1" dirty="0">
                <a:solidFill>
                  <a:schemeClr val="tx1"/>
                </a:solidFill>
              </a:rPr>
              <a:t> over ons nieuwe programma.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Tot maandag!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Sofie</a:t>
            </a:r>
            <a:endParaRPr lang="en-US" sz="18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Sofie écrit à Lotte avant son premier jour.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Sofie Peeters · Aan: Lotte Claes · Onderwerp: welkom!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26792"/>
            <a:ext cx="7589520" cy="3627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Beste Lotte,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Welkom bij Peeters &amp; Co! Maandag om negen uur wacht ik op je aan het onthaal. Eerst ga je naar de </a:t>
            </a:r>
            <a:r>
              <a:rPr lang="en-US" sz="1800" i="1" strike="sngStrike" dirty="0">
                <a:solidFill>
                  <a:schemeClr val="accent6"/>
                </a:solidFill>
              </a:rPr>
              <a:t>personeel dienst</a:t>
            </a:r>
            <a:r>
              <a:rPr lang="en-US" sz="1800" b="1" i="1" dirty="0">
                <a:solidFill>
                  <a:schemeClr val="accent3"/>
                </a:solidFill>
              </a:rPr>
              <a:t> personeelsdienst</a:t>
            </a:r>
            <a:r>
              <a:rPr lang="en-US" sz="1800" i="1" dirty="0">
                <a:solidFill>
                  <a:schemeClr val="tx1"/>
                </a:solidFill>
              </a:rPr>
              <a:t>: daar teken je </a:t>
            </a:r>
            <a:r>
              <a:rPr lang="en-US" sz="1800" i="1" strike="sngStrike" dirty="0">
                <a:solidFill>
                  <a:schemeClr val="accent6"/>
                </a:solidFill>
              </a:rPr>
              <a:t>de</a:t>
            </a:r>
            <a:r>
              <a:rPr lang="en-US" sz="1800" b="1" i="1" dirty="0">
                <a:solidFill>
                  <a:schemeClr val="accent3"/>
                </a:solidFill>
              </a:rPr>
              <a:t> het</a:t>
            </a:r>
            <a:r>
              <a:rPr lang="en-US" sz="1800" i="1" dirty="0">
                <a:solidFill>
                  <a:schemeClr val="tx1"/>
                </a:solidFill>
              </a:rPr>
              <a:t> contract. Als nieuwe </a:t>
            </a:r>
            <a:r>
              <a:rPr lang="en-US" sz="1800" i="1" strike="sngStrike" dirty="0">
                <a:solidFill>
                  <a:schemeClr val="accent6"/>
                </a:solidFill>
              </a:rPr>
              <a:t>werkgever</a:t>
            </a:r>
            <a:r>
              <a:rPr lang="en-US" sz="1800" b="1" i="1" dirty="0">
                <a:solidFill>
                  <a:schemeClr val="accent3"/>
                </a:solidFill>
              </a:rPr>
              <a:t> werknemer</a:t>
            </a:r>
            <a:r>
              <a:rPr lang="en-US" sz="1800" i="1" dirty="0">
                <a:solidFill>
                  <a:schemeClr val="tx1"/>
                </a:solidFill>
              </a:rPr>
              <a:t> krijg je een badge en een laptop. We </a:t>
            </a:r>
            <a:r>
              <a:rPr lang="en-US" sz="1800" i="1" strike="sngStrike" dirty="0">
                <a:solidFill>
                  <a:schemeClr val="accent6"/>
                </a:solidFill>
              </a:rPr>
              <a:t>maken</a:t>
            </a:r>
            <a:r>
              <a:rPr lang="en-US" sz="1800" b="1" i="1" dirty="0">
                <a:solidFill>
                  <a:schemeClr val="accent3"/>
                </a:solidFill>
              </a:rPr>
              <a:t> houden</a:t>
            </a:r>
            <a:r>
              <a:rPr lang="en-US" sz="1800" i="1" dirty="0">
                <a:solidFill>
                  <a:schemeClr val="tx1"/>
                </a:solidFill>
              </a:rPr>
              <a:t> elke maandag een vergadering met het hele team. Volgende week volg je een </a:t>
            </a:r>
            <a:r>
              <a:rPr lang="en-US" sz="1800" i="1" strike="sngStrike" dirty="0">
                <a:solidFill>
                  <a:schemeClr val="accent6"/>
                </a:solidFill>
              </a:rPr>
              <a:t>formatie</a:t>
            </a:r>
            <a:r>
              <a:rPr lang="en-US" sz="1800" b="1" i="1" dirty="0">
                <a:solidFill>
                  <a:schemeClr val="accent3"/>
                </a:solidFill>
              </a:rPr>
              <a:t> opleiding</a:t>
            </a:r>
            <a:r>
              <a:rPr lang="en-US" sz="1800" i="1" dirty="0">
                <a:solidFill>
                  <a:schemeClr val="tx1"/>
                </a:solidFill>
              </a:rPr>
              <a:t> over ons nieuwe programma.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Tot maandag!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Sofie</a:t>
            </a:r>
            <a:endParaRPr lang="en-US" sz="18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 : </a:t>
            </a:r>
            <a:r>
              <a:rPr lang="en-US" sz="1400" i="1" dirty="0">
                <a:solidFill>
                  <a:schemeClr val="accent5"/>
                </a:solidFill>
              </a:rPr>
              <a:t>aan het onthaal</a:t>
            </a:r>
            <a:r>
              <a:rPr lang="en-US" sz="1400" i="1" dirty="0">
                <a:solidFill>
                  <a:schemeClr val="accent5"/>
                </a:solidFill>
              </a:rPr>
              <a:t> est correct (BE). Composé en un mot, avec le </a:t>
            </a:r>
            <a:r>
              <a:rPr lang="en-US" sz="1400" i="1" dirty="0">
                <a:solidFill>
                  <a:schemeClr val="accent5"/>
                </a:solidFill>
              </a:rPr>
              <a:t>-s-</a:t>
            </a:r>
            <a:r>
              <a:rPr lang="en-US" sz="1400" i="1" dirty="0">
                <a:solidFill>
                  <a:schemeClr val="accent5"/>
                </a:solidFill>
              </a:rPr>
              <a:t> (M14). </a:t>
            </a:r>
            <a:r>
              <a:rPr lang="en-US" sz="1400" i="1" dirty="0">
                <a:solidFill>
                  <a:schemeClr val="accent5"/>
                </a:solidFill>
              </a:rPr>
              <a:t>maken</a:t>
            </a:r>
            <a:r>
              <a:rPr lang="en-US" sz="1400" i="1" dirty="0">
                <a:solidFill>
                  <a:schemeClr val="accent5"/>
                </a:solidFill>
              </a:rPr>
              <a:t> → </a:t>
            </a:r>
            <a:r>
              <a:rPr lang="en-US" sz="1400" i="1" dirty="0">
                <a:solidFill>
                  <a:schemeClr val="accent5"/>
                </a:solidFill>
              </a:rPr>
              <a:t>houden</a:t>
            </a:r>
            <a:r>
              <a:rPr lang="en-US" sz="1400" i="1" dirty="0">
                <a:solidFill>
                  <a:schemeClr val="accent5"/>
                </a:solidFill>
              </a:rPr>
              <a:t> ou </a:t>
            </a:r>
            <a:r>
              <a:rPr lang="en-US" sz="1400" i="1" dirty="0">
                <a:solidFill>
                  <a:schemeClr val="accent5"/>
                </a:solidFill>
              </a:rPr>
              <a:t>hebben</a:t>
            </a:r>
            <a:r>
              <a:rPr lang="en-US" sz="1400" i="1" dirty="0">
                <a:solidFill>
                  <a:schemeClr val="accent5"/>
                </a:solidFill>
              </a:rPr>
              <a:t>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bon verbe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: </a:t>
            </a:r>
            <a:r>
              <a:rPr lang="en-US" sz="1700" i="1" dirty="0">
                <a:solidFill>
                  <a:schemeClr val="accent5"/>
                </a:solidFill>
              </a:rPr>
              <a:t>neem · houden · stellen · geeft · maakt · volgt · invullen · op</a:t>
            </a:r>
            <a:r>
              <a:rPr lang="en-US" sz="1700" i="1" dirty="0">
                <a:solidFill>
                  <a:schemeClr val="accent5"/>
                </a:solidFill>
              </a:rPr>
              <a:t>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115312"/>
            <a:ext cx="5340096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1  </a:t>
            </a:r>
            <a:r>
              <a:rPr lang="en-US" sz="2100" i="1" dirty="0">
                <a:solidFill>
                  <a:schemeClr val="tx1"/>
                </a:solidFill>
              </a:rPr>
              <a:t>Ik </a:t>
            </a:r>
            <a:r>
              <a:rPr lang="en-US" sz="2100" i="1" dirty="0">
                <a:solidFill>
                  <a:schemeClr val="accent5"/>
                </a:solidFill>
              </a:rPr>
              <a:t>…………</a:t>
            </a:r>
            <a:r>
              <a:rPr lang="en-US" sz="2100" i="1" dirty="0">
                <a:solidFill>
                  <a:schemeClr val="tx1"/>
                </a:solidFill>
              </a:rPr>
              <a:t> om twaalf uur een pauze.</a:t>
            </a:r>
            <a:endParaRPr lang="en-US" sz="21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2  </a:t>
            </a:r>
            <a:r>
              <a:rPr lang="en-US" sz="2100" i="1" dirty="0">
                <a:solidFill>
                  <a:schemeClr val="tx1"/>
                </a:solidFill>
              </a:rPr>
              <a:t>We </a:t>
            </a:r>
            <a:r>
              <a:rPr lang="en-US" sz="2100" i="1" dirty="0">
                <a:solidFill>
                  <a:schemeClr val="accent5"/>
                </a:solidFill>
              </a:rPr>
              <a:t>…………</a:t>
            </a:r>
            <a:r>
              <a:rPr lang="en-US" sz="2100" i="1" dirty="0">
                <a:solidFill>
                  <a:schemeClr val="tx1"/>
                </a:solidFill>
              </a:rPr>
              <a:t> elke maandag een vergadering.</a:t>
            </a:r>
            <a:endParaRPr lang="en-US" sz="21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3  </a:t>
            </a:r>
            <a:r>
              <a:rPr lang="en-US" sz="2100" i="1" dirty="0">
                <a:solidFill>
                  <a:schemeClr val="tx1"/>
                </a:solidFill>
              </a:rPr>
              <a:t>Mag ik een vraag </a:t>
            </a:r>
            <a:r>
              <a:rPr lang="en-US" sz="2100" i="1" dirty="0">
                <a:solidFill>
                  <a:schemeClr val="accent5"/>
                </a:solidFill>
              </a:rPr>
              <a:t>…………</a:t>
            </a:r>
            <a:r>
              <a:rPr lang="en-US" sz="2100" i="1" dirty="0">
                <a:solidFill>
                  <a:schemeClr val="tx1"/>
                </a:solidFill>
              </a:rPr>
              <a:t>?</a:t>
            </a:r>
            <a:endParaRPr lang="en-US" sz="21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4  </a:t>
            </a:r>
            <a:r>
              <a:rPr lang="en-US" sz="2100" i="1" dirty="0">
                <a:solidFill>
                  <a:schemeClr val="tx1"/>
                </a:solidFill>
              </a:rPr>
              <a:t>Karim </a:t>
            </a:r>
            <a:r>
              <a:rPr lang="en-US" sz="2100" i="1" dirty="0">
                <a:solidFill>
                  <a:schemeClr val="accent5"/>
                </a:solidFill>
              </a:rPr>
              <a:t>…………</a:t>
            </a:r>
            <a:r>
              <a:rPr lang="en-US" sz="2100" i="1" dirty="0">
                <a:solidFill>
                  <a:schemeClr val="tx1"/>
                </a:solidFill>
              </a:rPr>
              <a:t> morgen een presentatie.</a:t>
            </a:r>
            <a:endParaRPr lang="en-US" sz="2100" dirty="0"/>
          </a:p>
        </p:txBody>
      </p:sp>
      <p:sp>
        <p:nvSpPr>
          <p:cNvPr id="9" name="Text 5"/>
          <p:cNvSpPr txBox="1"/>
          <p:nvPr/>
        </p:nvSpPr>
        <p:spPr>
          <a:xfrm>
            <a:off x="6300216" y="2115312"/>
            <a:ext cx="5340096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5  </a:t>
            </a:r>
            <a:r>
              <a:rPr lang="en-US" sz="2100" i="1" dirty="0">
                <a:solidFill>
                  <a:schemeClr val="tx1"/>
                </a:solidFill>
              </a:rPr>
              <a:t>Iedereen </a:t>
            </a:r>
            <a:r>
              <a:rPr lang="en-US" sz="2100" i="1" dirty="0">
                <a:solidFill>
                  <a:schemeClr val="accent5"/>
                </a:solidFill>
              </a:rPr>
              <a:t>…………</a:t>
            </a:r>
            <a:r>
              <a:rPr lang="en-US" sz="2100" i="1" dirty="0">
                <a:solidFill>
                  <a:schemeClr val="tx1"/>
                </a:solidFill>
              </a:rPr>
              <a:t> wel eens een fout.</a:t>
            </a:r>
            <a:endParaRPr lang="en-US" sz="21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6  </a:t>
            </a:r>
            <a:r>
              <a:rPr lang="en-US" sz="2100" i="1" dirty="0">
                <a:solidFill>
                  <a:schemeClr val="tx1"/>
                </a:solidFill>
              </a:rPr>
              <a:t>Lotte </a:t>
            </a:r>
            <a:r>
              <a:rPr lang="en-US" sz="2100" i="1" dirty="0">
                <a:solidFill>
                  <a:schemeClr val="accent5"/>
                </a:solidFill>
              </a:rPr>
              <a:t>…………</a:t>
            </a:r>
            <a:r>
              <a:rPr lang="en-US" sz="2100" i="1" dirty="0">
                <a:solidFill>
                  <a:schemeClr val="tx1"/>
                </a:solidFill>
              </a:rPr>
              <a:t> een opleiding Excel.</a:t>
            </a:r>
            <a:endParaRPr lang="en-US" sz="21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7  </a:t>
            </a:r>
            <a:r>
              <a:rPr lang="en-US" sz="2100" i="1" dirty="0">
                <a:solidFill>
                  <a:schemeClr val="tx1"/>
                </a:solidFill>
              </a:rPr>
              <a:t>Wil je dit formulier </a:t>
            </a:r>
            <a:r>
              <a:rPr lang="en-US" sz="2100" i="1" dirty="0">
                <a:solidFill>
                  <a:schemeClr val="accent5"/>
                </a:solidFill>
              </a:rPr>
              <a:t>……………</a:t>
            </a:r>
            <a:r>
              <a:rPr lang="en-US" sz="2100" i="1" dirty="0">
                <a:solidFill>
                  <a:schemeClr val="tx1"/>
                </a:solidFill>
              </a:rPr>
              <a:t>?</a:t>
            </a:r>
            <a:endParaRPr lang="en-US" sz="21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8  </a:t>
            </a:r>
            <a:r>
              <a:rPr lang="en-US" sz="2100" i="1" dirty="0">
                <a:solidFill>
                  <a:schemeClr val="tx1"/>
                </a:solidFill>
              </a:rPr>
              <a:t>Neem contact </a:t>
            </a:r>
            <a:r>
              <a:rPr lang="en-US" sz="2100" i="1" dirty="0">
                <a:solidFill>
                  <a:schemeClr val="accent5"/>
                </a:solidFill>
              </a:rPr>
              <a:t>…………</a:t>
            </a:r>
            <a:r>
              <a:rPr lang="en-US" sz="2100" i="1" dirty="0">
                <a:solidFill>
                  <a:schemeClr val="tx1"/>
                </a:solidFill>
              </a:rPr>
              <a:t> met de klantendienst.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bon verbe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: </a:t>
            </a:r>
            <a:r>
              <a:rPr lang="en-US" sz="1700" i="1" dirty="0">
                <a:solidFill>
                  <a:schemeClr val="accent5"/>
                </a:solidFill>
              </a:rPr>
              <a:t>neem · houden · stellen · geeft · maakt · volgt · invullen · op</a:t>
            </a:r>
            <a:r>
              <a:rPr lang="en-US" sz="1700" i="1" dirty="0">
                <a:solidFill>
                  <a:schemeClr val="accent5"/>
                </a:solidFill>
              </a:rPr>
              <a:t>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115312"/>
            <a:ext cx="5340096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1  </a:t>
            </a:r>
            <a:r>
              <a:rPr lang="en-US" sz="2100" i="1" dirty="0">
                <a:solidFill>
                  <a:schemeClr val="tx1"/>
                </a:solidFill>
              </a:rPr>
              <a:t>Ik </a:t>
            </a:r>
            <a:r>
              <a:rPr lang="en-US" sz="2100" b="1" i="1" dirty="0">
                <a:solidFill>
                  <a:schemeClr val="accent3"/>
                </a:solidFill>
              </a:rPr>
              <a:t>neem</a:t>
            </a:r>
            <a:r>
              <a:rPr lang="en-US" sz="2100" i="1" dirty="0">
                <a:solidFill>
                  <a:schemeClr val="tx1"/>
                </a:solidFill>
              </a:rPr>
              <a:t> om twaalf uur een pauze.</a:t>
            </a:r>
            <a:endParaRPr lang="en-US" sz="21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2  </a:t>
            </a:r>
            <a:r>
              <a:rPr lang="en-US" sz="2100" i="1" dirty="0">
                <a:solidFill>
                  <a:schemeClr val="tx1"/>
                </a:solidFill>
              </a:rPr>
              <a:t>We </a:t>
            </a:r>
            <a:r>
              <a:rPr lang="en-US" sz="2100" b="1" i="1" dirty="0">
                <a:solidFill>
                  <a:schemeClr val="accent3"/>
                </a:solidFill>
              </a:rPr>
              <a:t>houden</a:t>
            </a:r>
            <a:r>
              <a:rPr lang="en-US" sz="2100" i="1" dirty="0">
                <a:solidFill>
                  <a:schemeClr val="tx1"/>
                </a:solidFill>
              </a:rPr>
              <a:t> elke maandag een vergadering.</a:t>
            </a:r>
            <a:endParaRPr lang="en-US" sz="21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3  </a:t>
            </a:r>
            <a:r>
              <a:rPr lang="en-US" sz="2100" i="1" dirty="0">
                <a:solidFill>
                  <a:schemeClr val="tx1"/>
                </a:solidFill>
              </a:rPr>
              <a:t>Mag ik een vraag </a:t>
            </a:r>
            <a:r>
              <a:rPr lang="en-US" sz="2100" b="1" i="1" dirty="0">
                <a:solidFill>
                  <a:schemeClr val="accent3"/>
                </a:solidFill>
              </a:rPr>
              <a:t>stellen</a:t>
            </a:r>
            <a:r>
              <a:rPr lang="en-US" sz="2100" i="1" dirty="0">
                <a:solidFill>
                  <a:schemeClr val="tx1"/>
                </a:solidFill>
              </a:rPr>
              <a:t>?</a:t>
            </a:r>
            <a:endParaRPr lang="en-US" sz="21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4  </a:t>
            </a:r>
            <a:r>
              <a:rPr lang="en-US" sz="2100" i="1" dirty="0">
                <a:solidFill>
                  <a:schemeClr val="tx1"/>
                </a:solidFill>
              </a:rPr>
              <a:t>Karim </a:t>
            </a:r>
            <a:r>
              <a:rPr lang="en-US" sz="2100" b="1" i="1" dirty="0">
                <a:solidFill>
                  <a:schemeClr val="accent3"/>
                </a:solidFill>
              </a:rPr>
              <a:t>geeft</a:t>
            </a:r>
            <a:r>
              <a:rPr lang="en-US" sz="2100" i="1" dirty="0">
                <a:solidFill>
                  <a:schemeClr val="tx1"/>
                </a:solidFill>
              </a:rPr>
              <a:t> morgen een presentatie.</a:t>
            </a:r>
            <a:endParaRPr lang="en-US" sz="2100" dirty="0"/>
          </a:p>
        </p:txBody>
      </p:sp>
      <p:sp>
        <p:nvSpPr>
          <p:cNvPr id="10" name="Text 6"/>
          <p:cNvSpPr txBox="1"/>
          <p:nvPr/>
        </p:nvSpPr>
        <p:spPr>
          <a:xfrm>
            <a:off x="6300216" y="2115312"/>
            <a:ext cx="5340096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5  </a:t>
            </a:r>
            <a:r>
              <a:rPr lang="en-US" sz="2100" i="1" dirty="0">
                <a:solidFill>
                  <a:schemeClr val="tx1"/>
                </a:solidFill>
              </a:rPr>
              <a:t>Iedereen </a:t>
            </a:r>
            <a:r>
              <a:rPr lang="en-US" sz="2100" b="1" i="1" dirty="0">
                <a:solidFill>
                  <a:schemeClr val="accent3"/>
                </a:solidFill>
              </a:rPr>
              <a:t>maakt</a:t>
            </a:r>
            <a:r>
              <a:rPr lang="en-US" sz="2100" i="1" dirty="0">
                <a:solidFill>
                  <a:schemeClr val="tx1"/>
                </a:solidFill>
              </a:rPr>
              <a:t> wel eens een fout.</a:t>
            </a:r>
            <a:endParaRPr lang="en-US" sz="21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6  </a:t>
            </a:r>
            <a:r>
              <a:rPr lang="en-US" sz="2100" i="1" dirty="0">
                <a:solidFill>
                  <a:schemeClr val="tx1"/>
                </a:solidFill>
              </a:rPr>
              <a:t>Lotte </a:t>
            </a:r>
            <a:r>
              <a:rPr lang="en-US" sz="2100" b="1" i="1" dirty="0">
                <a:solidFill>
                  <a:schemeClr val="accent3"/>
                </a:solidFill>
              </a:rPr>
              <a:t>volgt</a:t>
            </a:r>
            <a:r>
              <a:rPr lang="en-US" sz="2100" i="1" dirty="0">
                <a:solidFill>
                  <a:schemeClr val="tx1"/>
                </a:solidFill>
              </a:rPr>
              <a:t> een opleiding Excel.</a:t>
            </a:r>
            <a:endParaRPr lang="en-US" sz="21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7  </a:t>
            </a:r>
            <a:r>
              <a:rPr lang="en-US" sz="2100" i="1" dirty="0">
                <a:solidFill>
                  <a:schemeClr val="tx1"/>
                </a:solidFill>
              </a:rPr>
              <a:t>Wil je dit formulier </a:t>
            </a:r>
            <a:r>
              <a:rPr lang="en-US" sz="2100" b="1" i="1" dirty="0">
                <a:solidFill>
                  <a:schemeClr val="accent3"/>
                </a:solidFill>
              </a:rPr>
              <a:t>invullen</a:t>
            </a:r>
            <a:r>
              <a:rPr lang="en-US" sz="2100" i="1" dirty="0">
                <a:solidFill>
                  <a:schemeClr val="tx1"/>
                </a:solidFill>
              </a:rPr>
              <a:t>?</a:t>
            </a:r>
            <a:endParaRPr lang="en-US" sz="2100" dirty="0"/>
          </a:p>
          <a:p>
            <a:pPr indent="0" marL="0">
              <a:spcAft>
                <a:spcPts val="2600"/>
              </a:spcAft>
              <a:buNone/>
            </a:pPr>
            <a:r>
              <a:rPr lang="en-US" sz="2100" b="1" dirty="0">
                <a:solidFill>
                  <a:schemeClr val="tx2"/>
                </a:solidFill>
              </a:rPr>
              <a:t>8  </a:t>
            </a:r>
            <a:r>
              <a:rPr lang="en-US" sz="2100" i="1" dirty="0">
                <a:solidFill>
                  <a:schemeClr val="tx1"/>
                </a:solidFill>
              </a:rPr>
              <a:t>Neem contact </a:t>
            </a:r>
            <a:r>
              <a:rPr lang="en-US" sz="2100" b="1" i="1" dirty="0">
                <a:solidFill>
                  <a:schemeClr val="accent3"/>
                </a:solidFill>
              </a:rPr>
              <a:t>op</a:t>
            </a:r>
            <a:r>
              <a:rPr lang="en-US" sz="2100" i="1" dirty="0">
                <a:solidFill>
                  <a:schemeClr val="tx1"/>
                </a:solidFill>
              </a:rPr>
              <a:t> met de klantendienst.</a:t>
            </a:r>
            <a:endParaRPr lang="en-US" sz="21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576072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N° 2 : </a:t>
            </a:r>
            <a:r>
              <a:rPr lang="en-US" sz="1500" i="1" dirty="0">
                <a:solidFill>
                  <a:schemeClr val="accent5"/>
                </a:solidFill>
              </a:rPr>
              <a:t>hebben</a:t>
            </a:r>
            <a:r>
              <a:rPr lang="en-US" sz="1500" i="1" dirty="0">
                <a:solidFill>
                  <a:schemeClr val="accent5"/>
                </a:solidFill>
              </a:rPr>
              <a:t> est aussi correct · n° 8 : </a:t>
            </a:r>
            <a:r>
              <a:rPr lang="en-US" sz="1500" i="1" dirty="0">
                <a:solidFill>
                  <a:schemeClr val="accent5"/>
                </a:solidFill>
              </a:rPr>
              <a:t>contact </a:t>
            </a:r>
            <a:r>
              <a:rPr lang="en-US" sz="1500" b="1" i="1" dirty="0">
                <a:solidFill>
                  <a:schemeClr val="accent5"/>
                </a:solidFill>
              </a:rPr>
              <a:t>op</a:t>
            </a:r>
            <a:r>
              <a:rPr lang="en-US" sz="1500" i="1" dirty="0">
                <a:solidFill>
                  <a:schemeClr val="accent5"/>
                </a:solidFill>
              </a:rPr>
              <a:t>nemen</a:t>
            </a:r>
            <a:r>
              <a:rPr lang="en-US" sz="1500" i="1" dirty="0">
                <a:solidFill>
                  <a:schemeClr val="accent5"/>
                </a:solidFill>
              </a:rPr>
              <a:t> (M11)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Taboe!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554480"/>
            <a:ext cx="1783080" cy="187452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554480"/>
            <a:ext cx="1783080" cy="640080"/>
          </a:xfrm>
          <a:prstGeom prst="roundRect">
            <a:avLst>
              <a:gd name="adj" fmla="val 14286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94360" y="155448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de printer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26771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accent6"/>
                </a:solidFill>
              </a:rPr>
              <a:t>TABOE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2542032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papier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afdrukken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machine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441448" y="1554480"/>
            <a:ext cx="1783080" cy="187452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2441448" y="1554480"/>
            <a:ext cx="1783080" cy="640080"/>
          </a:xfrm>
          <a:prstGeom prst="roundRect">
            <a:avLst>
              <a:gd name="adj" fmla="val 14286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487168" y="155448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de vergaderzaal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2441448" y="226771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accent6"/>
                </a:solidFill>
              </a:rPr>
              <a:t>TABOE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2532888" y="2542032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vergaderen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tafel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kamer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4334256" y="1554480"/>
            <a:ext cx="1783080" cy="187452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4334256" y="1554480"/>
            <a:ext cx="1783080" cy="640080"/>
          </a:xfrm>
          <a:prstGeom prst="roundRect">
            <a:avLst>
              <a:gd name="adj" fmla="val 14286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379976" y="155448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de boekhouder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4334256" y="226771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accent6"/>
                </a:solidFill>
              </a:rPr>
              <a:t>TABOE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4425696" y="2542032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geld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facturen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rekenen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227064" y="1554480"/>
            <a:ext cx="1783080" cy="187452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227064" y="1554480"/>
            <a:ext cx="1783080" cy="640080"/>
          </a:xfrm>
          <a:prstGeom prst="roundRect">
            <a:avLst>
              <a:gd name="adj" fmla="val 14286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272784" y="155448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de factuur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6227064" y="226771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accent6"/>
                </a:solidFill>
              </a:rPr>
              <a:t>TABOE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6318504" y="2542032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betalen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klant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euro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548640" y="3566160"/>
            <a:ext cx="1783080" cy="187452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548640" y="3566160"/>
            <a:ext cx="1783080" cy="640080"/>
          </a:xfrm>
          <a:prstGeom prst="roundRect">
            <a:avLst>
              <a:gd name="adj" fmla="val 14286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94360" y="356616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de refter</a:t>
            </a:r>
            <a:endParaRPr lang="en-US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48640" y="427939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accent6"/>
                </a:solidFill>
              </a:rPr>
              <a:t>TABOE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640080" y="4553712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eten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middag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koffie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2441448" y="3566160"/>
            <a:ext cx="1783080" cy="187452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2441448" y="3566160"/>
            <a:ext cx="1783080" cy="640080"/>
          </a:xfrm>
          <a:prstGeom prst="roundRect">
            <a:avLst>
              <a:gd name="adj" fmla="val 14286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2487168" y="356616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de badge</a:t>
            </a:r>
            <a:endParaRPr lang="en-US" sz="1500" dirty="0"/>
          </a:p>
        </p:txBody>
      </p:sp>
      <p:sp>
        <p:nvSpPr>
          <p:cNvPr id="34" name="Text 31"/>
          <p:cNvSpPr txBox="1"/>
          <p:nvPr/>
        </p:nvSpPr>
        <p:spPr>
          <a:xfrm>
            <a:off x="2441448" y="427939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accent6"/>
                </a:solidFill>
              </a:rPr>
              <a:t>TABOE</a:t>
            </a:r>
            <a:endParaRPr lang="en-US" sz="1000" dirty="0"/>
          </a:p>
        </p:txBody>
      </p:sp>
      <p:sp>
        <p:nvSpPr>
          <p:cNvPr id="35" name="Text 32"/>
          <p:cNvSpPr txBox="1"/>
          <p:nvPr/>
        </p:nvSpPr>
        <p:spPr>
          <a:xfrm>
            <a:off x="2532888" y="4553712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deur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kaart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naam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4334256" y="3566160"/>
            <a:ext cx="1783080" cy="187452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4334256" y="3566160"/>
            <a:ext cx="1783080" cy="640080"/>
          </a:xfrm>
          <a:prstGeom prst="roundRect">
            <a:avLst>
              <a:gd name="adj" fmla="val 14286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4379976" y="356616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het verlof</a:t>
            </a:r>
            <a:endParaRPr lang="en-US" sz="1500" dirty="0"/>
          </a:p>
        </p:txBody>
      </p:sp>
      <p:sp>
        <p:nvSpPr>
          <p:cNvPr id="39" name="Text 36"/>
          <p:cNvSpPr txBox="1"/>
          <p:nvPr/>
        </p:nvSpPr>
        <p:spPr>
          <a:xfrm>
            <a:off x="4334256" y="427939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accent6"/>
                </a:solidFill>
              </a:rPr>
              <a:t>TABOE</a:t>
            </a:r>
            <a:endParaRPr lang="en-US" sz="1000" dirty="0"/>
          </a:p>
        </p:txBody>
      </p:sp>
      <p:sp>
        <p:nvSpPr>
          <p:cNvPr id="40" name="Text 37"/>
          <p:cNvSpPr txBox="1"/>
          <p:nvPr/>
        </p:nvSpPr>
        <p:spPr>
          <a:xfrm>
            <a:off x="4425696" y="4553712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vakantie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vrij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dagen</a:t>
            </a:r>
            <a:endParaRPr lang="en-US" sz="1400" dirty="0"/>
          </a:p>
        </p:txBody>
      </p:sp>
      <p:sp>
        <p:nvSpPr>
          <p:cNvPr id="41" name="Shape 38"/>
          <p:cNvSpPr/>
          <p:nvPr/>
        </p:nvSpPr>
        <p:spPr>
          <a:xfrm>
            <a:off x="6227064" y="3566160"/>
            <a:ext cx="1783080" cy="187452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227064" y="3566160"/>
            <a:ext cx="1783080" cy="640080"/>
          </a:xfrm>
          <a:prstGeom prst="roundRect">
            <a:avLst>
              <a:gd name="adj" fmla="val 14286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272784" y="356616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chemeClr val="bg1"/>
                </a:solidFill>
              </a:rPr>
              <a:t>de stagiair</a:t>
            </a:r>
            <a:endParaRPr lang="en-US" sz="1500" dirty="0"/>
          </a:p>
        </p:txBody>
      </p:sp>
      <p:sp>
        <p:nvSpPr>
          <p:cNvPr id="44" name="Text 41"/>
          <p:cNvSpPr txBox="1"/>
          <p:nvPr/>
        </p:nvSpPr>
        <p:spPr>
          <a:xfrm>
            <a:off x="6227064" y="4279392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accent6"/>
                </a:solidFill>
              </a:rPr>
              <a:t>TABOE</a:t>
            </a:r>
            <a:endParaRPr lang="en-US" sz="1000" dirty="0"/>
          </a:p>
        </p:txBody>
      </p:sp>
      <p:sp>
        <p:nvSpPr>
          <p:cNvPr id="45" name="Text 42"/>
          <p:cNvSpPr txBox="1"/>
          <p:nvPr/>
        </p:nvSpPr>
        <p:spPr>
          <a:xfrm>
            <a:off x="6318504" y="4553712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student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jong</a:t>
            </a:r>
            <a:endParaRPr lang="en-US" sz="1400" dirty="0"/>
          </a:p>
          <a:p>
            <a:pPr algn="ctr" indent="0" marL="0">
              <a:spcAft>
                <a:spcPts val="100"/>
              </a:spcAft>
              <a:buNone/>
            </a:pPr>
            <a:r>
              <a:rPr lang="en-US" sz="1400" b="1" i="1" dirty="0">
                <a:solidFill>
                  <a:schemeClr val="accent6"/>
                </a:solidFill>
              </a:rPr>
              <a:t>leren</a:t>
            </a:r>
            <a:endParaRPr lang="en-US" sz="1400" dirty="0"/>
          </a:p>
        </p:txBody>
      </p:sp>
      <p:pic>
        <p:nvPicPr>
          <p:cNvPr id="46" name="Image 0" descr="speaking hea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1554480"/>
            <a:ext cx="731520" cy="731520"/>
          </a:xfrm>
          <a:prstGeom prst="rect">
            <a:avLst/>
          </a:prstGeom>
        </p:spPr>
      </p:pic>
      <p:sp>
        <p:nvSpPr>
          <p:cNvPr id="47" name="Text 43"/>
          <p:cNvSpPr txBox="1"/>
          <p:nvPr/>
        </p:nvSpPr>
        <p:spPr>
          <a:xfrm>
            <a:off x="9144000" y="1554480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Taboe!</a:t>
            </a:r>
            <a:endParaRPr lang="en-US" sz="2800" dirty="0"/>
          </a:p>
        </p:txBody>
      </p:sp>
      <p:sp>
        <p:nvSpPr>
          <p:cNvPr id="48" name="Text 44"/>
          <p:cNvSpPr txBox="1"/>
          <p:nvPr/>
        </p:nvSpPr>
        <p:spPr>
          <a:xfrm>
            <a:off x="8321040" y="2423160"/>
            <a:ext cx="3319272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1.</a:t>
            </a:r>
            <a:r>
              <a:rPr lang="en-US" sz="1400" dirty="0">
                <a:solidFill>
                  <a:schemeClr val="tx1"/>
                </a:solidFill>
              </a:rPr>
              <a:t> Tirez une carte. Faites deviner le mot </a:t>
            </a:r>
            <a:r>
              <a:rPr lang="en-US" sz="1400" b="1" dirty="0">
                <a:solidFill>
                  <a:schemeClr val="tx1"/>
                </a:solidFill>
              </a:rPr>
              <a:t>sans</a:t>
            </a:r>
            <a:r>
              <a:rPr lang="en-US" sz="1400" dirty="0">
                <a:solidFill>
                  <a:schemeClr val="tx1"/>
                </a:solidFill>
              </a:rPr>
              <a:t> dire les mots interdits.</a:t>
            </a:r>
            <a:endParaRPr lang="en-US" sz="14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2.</a:t>
            </a:r>
            <a:r>
              <a:rPr lang="en-US" sz="1400" dirty="0">
                <a:solidFill>
                  <a:schemeClr val="tx1"/>
                </a:solidFill>
              </a:rPr>
              <a:t> Aides : </a:t>
            </a:r>
            <a:r>
              <a:rPr lang="en-US" sz="1400" i="1" dirty="0">
                <a:solidFill>
                  <a:schemeClr val="tx1"/>
                </a:solidFill>
              </a:rPr>
              <a:t>Het is een persoon </a:t>
            </a:r>
            <a:r>
              <a:rPr lang="en-US" sz="1400" b="1" i="1" dirty="0">
                <a:solidFill>
                  <a:schemeClr val="tx1"/>
                </a:solidFill>
              </a:rPr>
              <a:t>die</a:t>
            </a:r>
            <a:r>
              <a:rPr lang="en-US" sz="1400" i="1" dirty="0">
                <a:solidFill>
                  <a:schemeClr val="tx1"/>
                </a:solidFill>
              </a:rPr>
              <a:t>… · Het is een ding </a:t>
            </a:r>
            <a:r>
              <a:rPr lang="en-US" sz="1400" b="1" i="1" dirty="0">
                <a:solidFill>
                  <a:schemeClr val="tx1"/>
                </a:solidFill>
              </a:rPr>
              <a:t>dat</a:t>
            </a:r>
            <a:r>
              <a:rPr lang="en-US" sz="1400" i="1" dirty="0">
                <a:solidFill>
                  <a:schemeClr val="tx1"/>
                </a:solidFill>
              </a:rPr>
              <a:t> / </a:t>
            </a:r>
            <a:r>
              <a:rPr lang="en-US" sz="1400" b="1" i="1" dirty="0">
                <a:solidFill>
                  <a:schemeClr val="tx1"/>
                </a:solidFill>
              </a:rPr>
              <a:t>waarmee</a:t>
            </a:r>
            <a:r>
              <a:rPr lang="en-US" sz="1400" i="1" dirty="0">
                <a:solidFill>
                  <a:schemeClr val="tx1"/>
                </a:solidFill>
              </a:rPr>
              <a:t>… · Het is een plaats </a:t>
            </a:r>
            <a:r>
              <a:rPr lang="en-US" sz="1400" b="1" i="1" dirty="0">
                <a:solidFill>
                  <a:schemeClr val="tx1"/>
                </a:solidFill>
              </a:rPr>
              <a:t>waar</a:t>
            </a:r>
            <a:r>
              <a:rPr lang="en-US" sz="1400" i="1" dirty="0">
                <a:solidFill>
                  <a:schemeClr val="tx1"/>
                </a:solidFill>
              </a:rPr>
              <a:t>…</a:t>
            </a:r>
            <a:r>
              <a:rPr lang="en-US" sz="1400" dirty="0">
                <a:solidFill>
                  <a:schemeClr val="tx1"/>
                </a:solidFill>
              </a:rPr>
              <a:t> (M22, M23)</a:t>
            </a:r>
            <a:endParaRPr lang="en-US" sz="14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3.</a:t>
            </a:r>
            <a:r>
              <a:rPr lang="en-US" sz="1400" dirty="0">
                <a:solidFill>
                  <a:schemeClr val="tx1"/>
                </a:solidFill>
              </a:rPr>
              <a:t> 1 minute par carte : 1 point par mot deviné, −1 si un mot interdit est prononcé.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La visite guidée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Premier jour de Lotte chez Peeters &amp; Co. Sofie lui fait visiter le rez-de-chaussée et présente les services.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 — Sofie</a:t>
            </a:r>
            <a:r>
              <a:rPr lang="en-US" sz="1700" dirty="0">
                <a:solidFill>
                  <a:schemeClr val="tx1"/>
                </a:solidFill>
              </a:rPr>
              <a:t> (RH) : montrez au moins 4 pièces et expliquez qui fait quoi dans 2 services.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B — Lotte</a:t>
            </a:r>
            <a:r>
              <a:rPr lang="en-US" sz="1700" dirty="0">
                <a:solidFill>
                  <a:schemeClr val="tx1"/>
                </a:solidFill>
              </a:rPr>
              <a:t> (stagiaire) : posez des questions sur les pièces, les collègues, les horaires.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Dit is de vergaderzaal. · Hier is… · De boekhouding is op de eerste verdieping. · Wie werkt op…? · Waar kan ik iets afdrukken? · Om hoe laat is de pauze? · Waar is de refter?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PEETERS &amp; CO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8165592" y="2875788"/>
            <a:ext cx="507492" cy="1485900"/>
          </a:xfrm>
          <a:prstGeom prst="roundRect">
            <a:avLst>
              <a:gd name="adj" fmla="val 7207"/>
            </a:avLst>
          </a:prstGeom>
          <a:solidFill>
            <a:srgbClr val="E6EBF2"/>
          </a:solidFill>
          <a:ln w="12700">
            <a:solidFill>
              <a:srgbClr val="4A5A70"/>
            </a:solidFill>
            <a:prstDash val="dash"/>
          </a:ln>
        </p:spPr>
      </p:sp>
      <p:sp>
        <p:nvSpPr>
          <p:cNvPr id="23" name="Text 20"/>
          <p:cNvSpPr txBox="1"/>
          <p:nvPr/>
        </p:nvSpPr>
        <p:spPr>
          <a:xfrm>
            <a:off x="8165592" y="3419856"/>
            <a:ext cx="5074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i="1" dirty="0">
                <a:solidFill>
                  <a:schemeClr val="accent5"/>
                </a:solidFill>
              </a:rPr>
              <a:t>parking</a:t>
            </a:r>
            <a:endParaRPr lang="en-US" sz="600" dirty="0"/>
          </a:p>
        </p:txBody>
      </p:sp>
      <p:sp>
        <p:nvSpPr>
          <p:cNvPr id="24" name="Shape 21"/>
          <p:cNvSpPr/>
          <p:nvPr/>
        </p:nvSpPr>
        <p:spPr>
          <a:xfrm>
            <a:off x="8782812" y="2075688"/>
            <a:ext cx="2766060" cy="2286000"/>
          </a:xfrm>
          <a:prstGeom prst="rect">
            <a:avLst/>
          </a:prstGeom>
          <a:solidFill>
            <a:srgbClr val="FFFFFF"/>
          </a:solidFill>
          <a:ln w="31750">
            <a:solidFill>
              <a:srgbClr val="17375E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9253042" y="2944368"/>
            <a:ext cx="2295830" cy="548640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9916897" y="2944368"/>
            <a:ext cx="66385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i="1" dirty="0">
                <a:solidFill>
                  <a:schemeClr val="accent5"/>
                </a:solidFill>
              </a:rPr>
              <a:t>gang</a:t>
            </a:r>
            <a:endParaRPr lang="en-US" sz="600" dirty="0"/>
          </a:p>
        </p:txBody>
      </p:sp>
      <p:sp>
        <p:nvSpPr>
          <p:cNvPr id="27" name="Shape 24"/>
          <p:cNvSpPr/>
          <p:nvPr/>
        </p:nvSpPr>
        <p:spPr>
          <a:xfrm>
            <a:off x="8782812" y="2075688"/>
            <a:ext cx="470230" cy="2286000"/>
          </a:xfrm>
          <a:prstGeom prst="rect">
            <a:avLst/>
          </a:prstGeom>
          <a:solidFill>
            <a:srgbClr val="FDF1E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867453" y="2642616"/>
            <a:ext cx="103451" cy="1152144"/>
          </a:xfrm>
          <a:prstGeom prst="roundRect">
            <a:avLst>
              <a:gd name="adj" fmla="val 35356"/>
            </a:avLst>
          </a:prstGeom>
          <a:solidFill>
            <a:schemeClr val="accent1">
              <a:alpha val="65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819388" y="2130552"/>
            <a:ext cx="39707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chemeClr val="accent1"/>
                </a:solidFill>
              </a:rPr>
              <a:t>onthaal</a:t>
            </a:r>
            <a:endParaRPr lang="en-US" sz="600" dirty="0"/>
          </a:p>
        </p:txBody>
      </p:sp>
      <p:sp>
        <p:nvSpPr>
          <p:cNvPr id="30" name="Shape 27"/>
          <p:cNvSpPr/>
          <p:nvPr/>
        </p:nvSpPr>
        <p:spPr>
          <a:xfrm>
            <a:off x="8737092" y="3026664"/>
            <a:ext cx="9144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9253042" y="2075688"/>
            <a:ext cx="663854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9485391" y="2907792"/>
            <a:ext cx="199156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9289618" y="2103120"/>
            <a:ext cx="59070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chemeClr val="tx1"/>
                </a:solidFill>
              </a:rPr>
              <a:t>vergaderzaal</a:t>
            </a:r>
            <a:endParaRPr lang="en-US" sz="700" dirty="0"/>
          </a:p>
        </p:txBody>
      </p:sp>
      <p:sp>
        <p:nvSpPr>
          <p:cNvPr id="34" name="Shape 31"/>
          <p:cNvSpPr/>
          <p:nvPr/>
        </p:nvSpPr>
        <p:spPr>
          <a:xfrm>
            <a:off x="9916897" y="2075688"/>
            <a:ext cx="663854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10149246" y="2907792"/>
            <a:ext cx="199156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9953473" y="2103120"/>
            <a:ext cx="59070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chemeClr val="tx1"/>
                </a:solidFill>
              </a:rPr>
              <a:t>kopieerlokaal</a:t>
            </a:r>
            <a:endParaRPr lang="en-US" sz="700" dirty="0"/>
          </a:p>
        </p:txBody>
      </p:sp>
      <p:sp>
        <p:nvSpPr>
          <p:cNvPr id="37" name="Shape 34"/>
          <p:cNvSpPr/>
          <p:nvPr/>
        </p:nvSpPr>
        <p:spPr>
          <a:xfrm>
            <a:off x="10580751" y="2075688"/>
            <a:ext cx="663854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10813100" y="2907792"/>
            <a:ext cx="199156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10617327" y="2103120"/>
            <a:ext cx="59070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chemeClr val="tx1"/>
                </a:solidFill>
              </a:rPr>
              <a:t>toiletten</a:t>
            </a:r>
            <a:endParaRPr lang="en-US" sz="700" dirty="0"/>
          </a:p>
        </p:txBody>
      </p:sp>
      <p:sp>
        <p:nvSpPr>
          <p:cNvPr id="40" name="Shape 37"/>
          <p:cNvSpPr/>
          <p:nvPr/>
        </p:nvSpPr>
        <p:spPr>
          <a:xfrm>
            <a:off x="9253042" y="3493008"/>
            <a:ext cx="663854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9485391" y="3456432"/>
            <a:ext cx="199156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9289618" y="3520440"/>
            <a:ext cx="59070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chemeClr val="tx1"/>
                </a:solidFill>
              </a:rPr>
              <a:t>kantoor</a:t>
            </a:r>
            <a:endParaRPr lang="en-US" sz="700" dirty="0"/>
          </a:p>
        </p:txBody>
      </p:sp>
      <p:sp>
        <p:nvSpPr>
          <p:cNvPr id="43" name="Shape 40"/>
          <p:cNvSpPr/>
          <p:nvPr/>
        </p:nvSpPr>
        <p:spPr>
          <a:xfrm>
            <a:off x="9916897" y="3493008"/>
            <a:ext cx="663854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10149246" y="3456432"/>
            <a:ext cx="199156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9953473" y="3520440"/>
            <a:ext cx="59070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chemeClr val="tx1"/>
                </a:solidFill>
              </a:rPr>
              <a:t>keuken</a:t>
            </a:r>
            <a:endParaRPr lang="en-US" sz="700" dirty="0"/>
          </a:p>
        </p:txBody>
      </p:sp>
      <p:sp>
        <p:nvSpPr>
          <p:cNvPr id="46" name="Shape 43"/>
          <p:cNvSpPr/>
          <p:nvPr/>
        </p:nvSpPr>
        <p:spPr>
          <a:xfrm>
            <a:off x="10580751" y="3493008"/>
            <a:ext cx="663854" cy="868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10813100" y="3456432"/>
            <a:ext cx="199156" cy="73152"/>
          </a:xfrm>
          <a:prstGeom prst="rect">
            <a:avLst/>
          </a:prstGeom>
          <a:solidFill>
            <a:srgbClr val="EEF1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10617327" y="3520440"/>
            <a:ext cx="590702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chemeClr val="tx1"/>
                </a:solidFill>
              </a:rPr>
              <a:t>refter</a:t>
            </a:r>
            <a:endParaRPr lang="en-US" sz="700" dirty="0"/>
          </a:p>
        </p:txBody>
      </p:sp>
      <p:sp>
        <p:nvSpPr>
          <p:cNvPr id="49" name="Shape 46"/>
          <p:cNvSpPr/>
          <p:nvPr/>
        </p:nvSpPr>
        <p:spPr>
          <a:xfrm>
            <a:off x="11244605" y="2075688"/>
            <a:ext cx="304267" cy="1143000"/>
          </a:xfrm>
          <a:prstGeom prst="rect">
            <a:avLst/>
          </a:prstGeom>
          <a:solidFill>
            <a:srgbClr val="FFFFFF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11290325" y="2238974"/>
            <a:ext cx="212827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11290325" y="2402259"/>
            <a:ext cx="212827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11290325" y="2565545"/>
            <a:ext cx="212827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11290325" y="2728831"/>
            <a:ext cx="212827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11290325" y="2892117"/>
            <a:ext cx="212827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11290325" y="3055402"/>
            <a:ext cx="212827" cy="914"/>
          </a:xfrm>
          <a:prstGeom prst="line">
            <a:avLst/>
          </a:prstGeom>
          <a:noFill/>
          <a:ln w="12700">
            <a:solidFill>
              <a:srgbClr val="4A5A70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11244605" y="3218688"/>
            <a:ext cx="304267" cy="1143000"/>
          </a:xfrm>
          <a:prstGeom prst="rect">
            <a:avLst/>
          </a:prstGeom>
          <a:solidFill>
            <a:srgbClr val="F1EBF8"/>
          </a:solidFill>
          <a:ln w="19050">
            <a:solidFill>
              <a:srgbClr val="17375E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11244605" y="2834640"/>
            <a:ext cx="30426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chemeClr val="tx2"/>
                </a:solidFill>
              </a:rPr>
              <a:t>trap</a:t>
            </a:r>
            <a:endParaRPr lang="en-US" sz="600" dirty="0"/>
          </a:p>
        </p:txBody>
      </p:sp>
      <p:sp>
        <p:nvSpPr>
          <p:cNvPr id="58" name="Text 55"/>
          <p:cNvSpPr txBox="1"/>
          <p:nvPr/>
        </p:nvSpPr>
        <p:spPr>
          <a:xfrm>
            <a:off x="11244605" y="3950208"/>
            <a:ext cx="30426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chemeClr val="tx2"/>
                </a:solidFill>
              </a:rPr>
              <a:t>lift</a:t>
            </a:r>
            <a:endParaRPr lang="en-US" sz="600" dirty="0"/>
          </a:p>
        </p:txBody>
      </p:sp>
      <p:sp>
        <p:nvSpPr>
          <p:cNvPr id="59" name="Text 56"/>
          <p:cNvSpPr txBox="1"/>
          <p:nvPr/>
        </p:nvSpPr>
        <p:spPr>
          <a:xfrm>
            <a:off x="8211312" y="440740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Eerste verdieping: de directie · de boekhouding</a:t>
            </a:r>
            <a:endParaRPr lang="en-US" sz="1100" dirty="0"/>
          </a:p>
        </p:txBody>
      </p:sp>
      <p:sp>
        <p:nvSpPr>
          <p:cNvPr id="60" name="Text 57"/>
          <p:cNvSpPr txBox="1"/>
          <p:nvPr/>
        </p:nvSpPr>
        <p:spPr>
          <a:xfrm>
            <a:off x="8211312" y="4818888"/>
            <a:ext cx="3291840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chemeClr val="tx1"/>
                </a:solidFill>
              </a:rPr>
              <a:t>Diensten</a:t>
            </a:r>
            <a:endParaRPr lang="en-US" sz="12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boekhouding · personeelsdienst · verkoop · aankoop · marketing · IT-dienst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Traduisez avec l’article : « le service du personnel » · « la salle de réunion »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Complétez : </a:t>
            </a:r>
            <a:r>
              <a:rPr lang="en-US" sz="2000" i="1" dirty="0">
                <a:solidFill>
                  <a:schemeClr val="tx1"/>
                </a:solidFill>
              </a:rPr>
              <a:t>Mag ik een vraag ……?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werkgever</a:t>
            </a:r>
            <a:r>
              <a:rPr lang="en-US" sz="2000" dirty="0">
                <a:solidFill>
                  <a:schemeClr val="tx1"/>
                </a:solidFill>
              </a:rPr>
              <a:t> ou </a:t>
            </a:r>
            <a:r>
              <a:rPr lang="en-US" sz="2000" i="1" dirty="0">
                <a:solidFill>
                  <a:schemeClr val="tx1"/>
                </a:solidFill>
              </a:rPr>
              <a:t>werknemer</a:t>
            </a:r>
            <a:r>
              <a:rPr lang="en-US" sz="2000" dirty="0">
                <a:solidFill>
                  <a:schemeClr val="tx1"/>
                </a:solidFill>
              </a:rPr>
              <a:t> ? « Karim est employé chez Peeters &amp; Co. »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Nommer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 repérer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Parler du travail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LongArrowAltRight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De keuken in!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Ik stap in de keuken · Ik stap de keuken in.</a:t>
            </a:r>
            <a:r>
              <a:rPr lang="en-US" sz="1800" dirty="0">
                <a:solidFill>
                  <a:schemeClr val="bg1"/>
                </a:solidFill>
              </a:rPr>
              <a:t> Quelle différence 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30 — Het bedrijf — L’entreprise et son vocabulaire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2026-10-05T15:46:50Z</dcterms:created>
  <dcterms:modified xsi:type="dcterms:W3CDTF">2026-10-05T15:46:50Z</dcterms:modified>
</cp:coreProperties>
</file>