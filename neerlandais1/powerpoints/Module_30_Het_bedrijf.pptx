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49de11a-fd51-a7c6-c40b-f685d321aff6}">
          <p14:sldIdLst>
            <p14:sldId id="256"/>
          </p14:sldIdLst>
        </p14:section>
        <p14:section name="Découvrir" id="{3d59737f-8428-3b9b-8302-403c1b0eea48}">
          <p14:sldIdLst>
            <p14:sldId id="257"/>
            <p14:sldId id="258"/>
          </p14:sldIdLst>
        </p14:section>
        <p14:section name="Comprendre" id="{7e7a9ea9-26a7-4868-732d-d32b43ede16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JIJ NU ! — Oefeningen" id="{ba0207bb-242b-1da8-6107-c430f5f86e5c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cf105d5f-24ff-4a49-85c7-f646b35ae261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 vocabulaire de l'entreprise, pour s'y repérer dès le premier jour.
Question d'entrée : « Le premier jour dans une entreprise flamande, quels mots faut-il connaître ? » Notez les réponses en français : le module va les donner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vocabulaire sert dans tout le bloc 7 : se déplacer dans le bâtiment (M31), se présenter au travail (M32).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beaucoup de mots sont transparents, et donner confiance.
Faites deviner en binôme, puis vérifiez. Tous ces mots sont transparents. Insistez sur l'article : het contract, het project, het team, het salaris. Au M5 : les mots d'une syllabe ou les emprunts n'ont pas de règle sûre, il faut apprendre l'article avec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types d'entreprises et les formes juridiques belges.
kmo = kleine of middelgrote onderneming (Belgique) ; aux Pays-Bas, on parle du mkb. de firma existe aussi. Depuis 2019, la bv remplace l'ancienne bvba (SPRL). Faites dire : Ik werk bij een kmo. · Ik ben zelfstandige. · Ik werk bij de overheid.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services d'une entreprise.
de afdeling = le service, le département ; en Belgique, on dit aussi de dienst : de personeelsdienst, de klantendienst (service clientèle), de aankoopdienst. de zaakvoerder (Belgique) = le gérant d'une bv. Autres services : het onthaal (l'accueil), de logistiek, de juridische dienst.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fonctions, au masculin et au féminin.
Suffixes féminins (M7) : -ster (boekhoudster), -e (stagiaire), -rice (directrice). het afdelingshoofd : le dernier mot est het hoofd (la tête), donc het (M14). de medewerker est le mot passe-partout : een medewerker van de verkoop.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les rôles et les relations dans l'entreprise.
Moyen mnémotechnique : geven = donner, nemen = prendre. Celui qui « donne le travail » paie le salaire. La distinction bediende / arbeider est propre au droit du travail belge. de chef s'entend aussi en Belgique (mijn chef).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 repérer dans le bâtiment.
het gelijkvloers (Belgique) = le rez-de-chaussée (NL : de begane grond) ; de eerste verdieping = le premier étage. het kantoor = le bureau (la pièce) ; en Belgique, on dit aussi het bureau. de refter (Belgique) = la cafétéria, le réfectoire (NL : de kantine). Ce plan revient au M31.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 matériel de bureau avec son article.
Les mots het sont minoritaires : faites-les souligner. de gsm (Belgique) = le téléphone portable (NL : de mobiel) ; de bic est aussi très courant en Belgique pour de balpen. het bureau = le meuble (la table de travail) ; en Belgique aussi la pièce.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documents du quotidien professionnel.
het verslag = le rapport ou le procès-verbal d'une réunion (NL : de notulen). de loonfiche (Belgique) = NL de loonstrook. het attest est très belge (un ziekteattest = un certificat médical). Révisez de factuur et de offerte avec le M26.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les activités de chaque service.
afdrukken et aanwerven sont des verbes à particule (M11) : Ik druk het verslag af. aanwerven est courant en Belgique (NL : aannemen). Hij is in vergadering = il est en réunion (formule utile au téléphone).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bon verbe dans les expressions fréquentes.
On n'apprend pas un verbe seul, mais une expression complète : een vraag stellen, pas « poser = stellen ». Faites fabriquer des cartes « expression » à réviser. een vergadering hebben est aussi correct (We hebben om tien uur een vergadering).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du contrat, du temps de travail et des avantages.
Vocabulaire très belge : maaltijdcheques, bedrijfswagen, verlof (NL : vakantie), telewerken (synonyme de thuiswerken). Évitez de faire parler du salaire réel des apprenants : on reste sur des exemples.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du monde du travail.
de formatie = la composition (d'un gouvernement, d'une équipe). het patroon = le modèle, le motif ; mais en Belgique, de patroon (masculin) est le mot courant pour le patron, l'employeur : attention à l'article. de samenleving = la société au sens de « la communauté des gens ». de agenda a deux sens : l'agenda et l'ordre du jour (Wat staat er op de agenda?).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variantes belges et néerlandaises.
Les apprenants travaillent en Belgique : on enseigne d'abord le mot belge, mais on reconnaît le mot néerlandais (séries, sites web, clients des Pays-Bas). de receptie et de kantine s'entendent aussi en Belgique.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récapitulatif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un mot du bureau en le définissant, sans dire les mots interdits.
Les définitions réutilisent les relatifs du M22 et du M23. En équipes, 1 minute par carte ; 1 point par mot deviné, −1 si un mot interdit est prononcé.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faire visiter l'entreprise à un·e nouveau·elle collègue.
Exigez au moins 4 pièces et 2 services. Réemploi du M25 pour les horaires (Om hoe laat begint de vergadering?).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de personeelsdienst · de vergaderzaal
2. stellen
3. Karim is werknemer bij Peeters &amp; Co.
Teaser M31 : Ik stap in de keuken · Ik stap de keuken in. Quelle différence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30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bedrijf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L’entreprise et son vocabulaire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Welkom bij Peeters &amp; Co!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868680"/>
            <a:ext cx="5212080" cy="361188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097280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83880" y="10972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Welkom bij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Peeters &amp; Co!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366760" y="2743200"/>
            <a:ext cx="132588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27432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 directie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025128" y="32004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223760" y="3429000"/>
            <a:ext cx="36118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23760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75120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75120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boekhouding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4272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85632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85632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verkoop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844784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296144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96144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marketing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ite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nomme les services et les fonctions : </a:t>
            </a:r>
            <a:r>
              <a:rPr lang="en-US" sz="2000" i="1" dirty="0">
                <a:solidFill>
                  <a:schemeClr val="tx1"/>
                </a:solidFill>
              </a:rPr>
              <a:t>de boekhouding, de verkoper.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 repérer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 repère dans le bâtiment : </a:t>
            </a:r>
            <a:r>
              <a:rPr lang="en-US" sz="2000" i="1" dirty="0">
                <a:solidFill>
                  <a:schemeClr val="tx1"/>
                </a:solidFill>
              </a:rPr>
              <a:t>De vergaderzaal is de eerste deur links.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FileContra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Parler du travail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du contrat, des horaires, des congés : </a:t>
            </a:r>
            <a:r>
              <a:rPr lang="en-US" sz="2000" i="1" dirty="0">
                <a:solidFill>
                  <a:schemeClr val="tx1"/>
                </a:solidFill>
              </a:rPr>
              <a:t>Ik werk deeltijds.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vocabulaire sert dans tout le bloc 7 : se déplacer (M31), se présenter au travail (M32).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Vous comprenez déjà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594360" cy="5943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directeur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3362706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866" y="1737360"/>
            <a:ext cx="594360" cy="5943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185666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manager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6176772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37360"/>
            <a:ext cx="594360" cy="5943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999732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contract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8990838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7998" y="1737360"/>
            <a:ext cx="594360" cy="5943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813798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laptop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548640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34640"/>
            <a:ext cx="594360" cy="5943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371600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3362706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9866" y="2834640"/>
            <a:ext cx="594360" cy="5943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4185666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receptie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6176772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ar 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3932" y="2834640"/>
            <a:ext cx="594360" cy="5943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999732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project</a:t>
            </a:r>
            <a:endParaRPr lang="en-US" sz="2000" dirty="0"/>
          </a:p>
        </p:txBody>
      </p:sp>
      <p:sp>
        <p:nvSpPr>
          <p:cNvPr id="26" name="Shape 16"/>
          <p:cNvSpPr/>
          <p:nvPr/>
        </p:nvSpPr>
        <p:spPr>
          <a:xfrm>
            <a:off x="8990838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usts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7998" y="2834640"/>
            <a:ext cx="594360" cy="5943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813798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team</a:t>
            </a:r>
            <a:endParaRPr lang="en-US" sz="2000" dirty="0"/>
          </a:p>
        </p:txBody>
      </p:sp>
      <p:sp>
        <p:nvSpPr>
          <p:cNvPr id="29" name="Shape 18"/>
          <p:cNvSpPr/>
          <p:nvPr/>
        </p:nvSpPr>
        <p:spPr>
          <a:xfrm>
            <a:off x="548640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receip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931920"/>
            <a:ext cx="594360" cy="5943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371600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factuur</a:t>
            </a:r>
            <a:endParaRPr lang="en-US" sz="2000" dirty="0"/>
          </a:p>
        </p:txBody>
      </p:sp>
      <p:sp>
        <p:nvSpPr>
          <p:cNvPr id="32" name="Shape 20"/>
          <p:cNvSpPr/>
          <p:nvPr/>
        </p:nvSpPr>
        <p:spPr>
          <a:xfrm>
            <a:off x="3362706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9" descr="fork and knife with plat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99866" y="3931920"/>
            <a:ext cx="594360" cy="5943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4185666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kantine</a:t>
            </a:r>
            <a:endParaRPr lang="en-US" sz="2000" dirty="0"/>
          </a:p>
        </p:txBody>
      </p:sp>
      <p:sp>
        <p:nvSpPr>
          <p:cNvPr id="35" name="Shape 22"/>
          <p:cNvSpPr/>
          <p:nvPr/>
        </p:nvSpPr>
        <p:spPr>
          <a:xfrm>
            <a:off x="6176772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3932" y="3931920"/>
            <a:ext cx="594360" cy="5943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6999732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salaris</a:t>
            </a:r>
            <a:endParaRPr lang="en-US" sz="2000" dirty="0"/>
          </a:p>
        </p:txBody>
      </p:sp>
      <p:sp>
        <p:nvSpPr>
          <p:cNvPr id="38" name="Shape 24"/>
          <p:cNvSpPr/>
          <p:nvPr/>
        </p:nvSpPr>
        <p:spPr>
          <a:xfrm>
            <a:off x="8990838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11" descr="stude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27998" y="3931920"/>
            <a:ext cx="594360" cy="5943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813798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stagiair</a:t>
            </a:r>
            <a:endParaRPr lang="en-US" sz="2000" dirty="0"/>
          </a:p>
        </p:txBody>
      </p:sp>
      <p:sp>
        <p:nvSpPr>
          <p:cNvPr id="41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12" descr="thinking fac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5212080"/>
            <a:ext cx="822960" cy="822960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1828800" y="50292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Devinez le sens ! Quels mots ressemblent au français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Attention : certains mots trompent (diapo 14). Et retenez l’article :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contract,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team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types d’entreprises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het</a:t>
            </a:r>
            <a:r>
              <a:rPr lang="en-US" sz="1500" i="1" dirty="0">
                <a:solidFill>
                  <a:schemeClr val="tx1"/>
                </a:solidFill>
              </a:rPr>
              <a:t> bedrijf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594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(courant)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148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16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194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onderneming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2194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(formel)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7490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onvenience 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516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7947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kmo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37947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PME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3492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globe showing europe afric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49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multinational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3949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multinationale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69494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technolog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8916" y="1691640"/>
            <a:ext cx="731520" cy="7315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9951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zelfstandige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69951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l’indépendant·e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549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classical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9116" y="1691640"/>
            <a:ext cx="731520" cy="73152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595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overheid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8595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le secteur public</a:t>
            </a:r>
            <a:endParaRPr lang="en-US" sz="1100" dirty="0"/>
          </a:p>
        </p:txBody>
      </p:sp>
      <p:sp>
        <p:nvSpPr>
          <p:cNvPr id="29" name="Shape 20"/>
          <p:cNvSpPr/>
          <p:nvPr/>
        </p:nvSpPr>
        <p:spPr>
          <a:xfrm>
            <a:off x="10149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29316" y="1691640"/>
            <a:ext cx="731520" cy="7315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0195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vzw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10195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l’ASBL</a:t>
            </a:r>
            <a:endParaRPr lang="en-US" sz="11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FORMES JURIDIQUES (Belgique)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54864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8580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SA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nv</a:t>
            </a:r>
            <a:endParaRPr lang="en-US" sz="2000" dirty="0"/>
          </a:p>
        </p:txBody>
      </p:sp>
      <p:sp>
        <p:nvSpPr>
          <p:cNvPr id="36" name="Text 26"/>
          <p:cNvSpPr txBox="1"/>
          <p:nvPr/>
        </p:nvSpPr>
        <p:spPr>
          <a:xfrm>
            <a:off x="68580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naamloze vennootschap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429768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443484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SRL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bv</a:t>
            </a:r>
            <a:endParaRPr lang="en-US" sz="2000" dirty="0"/>
          </a:p>
        </p:txBody>
      </p:sp>
      <p:sp>
        <p:nvSpPr>
          <p:cNvPr id="39" name="Text 29"/>
          <p:cNvSpPr txBox="1"/>
          <p:nvPr/>
        </p:nvSpPr>
        <p:spPr>
          <a:xfrm>
            <a:off x="443484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besloten vennootschap (depuis 2019)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804672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18388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ASBL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vzw</a:t>
            </a:r>
            <a:endParaRPr lang="en-US" sz="2000" dirty="0"/>
          </a:p>
        </p:txBody>
      </p:sp>
      <p:sp>
        <p:nvSpPr>
          <p:cNvPr id="42" name="Text 32"/>
          <p:cNvSpPr txBox="1"/>
          <p:nvPr/>
        </p:nvSpPr>
        <p:spPr>
          <a:xfrm>
            <a:off x="818388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vereniging zonder winstoogmerk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werk bij een kmo. · Ik ben zelfstandige. · Ik werk bij de overheid.</a:t>
            </a:r>
            <a:r>
              <a:rPr lang="en-US" sz="1700" dirty="0">
                <a:solidFill>
                  <a:schemeClr val="bg1"/>
                </a:solidFill>
              </a:rPr>
              <a:t> — NL : </a:t>
            </a:r>
            <a:r>
              <a:rPr lang="en-US" sz="1700" i="1" dirty="0">
                <a:solidFill>
                  <a:schemeClr val="bg1"/>
                </a:solidFill>
              </a:rPr>
              <a:t>het mkb</a:t>
            </a:r>
            <a:r>
              <a:rPr lang="en-US" sz="1700" dirty="0">
                <a:solidFill>
                  <a:schemeClr val="bg1"/>
                </a:solidFill>
              </a:rPr>
              <a:t> (= </a:t>
            </a:r>
            <a:r>
              <a:rPr lang="en-US" sz="1700" i="1" dirty="0">
                <a:solidFill>
                  <a:schemeClr val="bg1"/>
                </a:solidFill>
              </a:rPr>
              <a:t>de kmo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de Peeters &amp; Co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448556" y="1508760"/>
            <a:ext cx="329184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448556" y="15087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directie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 zaakvoerder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094476" y="219456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27226" y="2400300"/>
            <a:ext cx="933450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272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0" descr="led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906" y="2697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943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boekhouding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comptabilité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An, Karim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941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4155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806" y="269748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4612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personeelsdienst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24612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RH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25069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5069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Sofie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1610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2824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706" y="269748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281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verkoop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3281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vente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70279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1493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3" descr="shopping c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606" y="2697480"/>
            <a:ext cx="548640" cy="54864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1950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aankoop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1950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achats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8948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0162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4" descr="chart increas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506" y="2697480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0619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marketing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80619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marketing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81076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81076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Lotte (stagiaire)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107617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98831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7406" y="2697480"/>
            <a:ext cx="548640" cy="54864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99288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IT-dienst</a:t>
            </a:r>
            <a:endParaRPr lang="en-US" sz="1400" dirty="0"/>
          </a:p>
        </p:txBody>
      </p:sp>
      <p:sp>
        <p:nvSpPr>
          <p:cNvPr id="44" name="Text 35"/>
          <p:cNvSpPr txBox="1"/>
          <p:nvPr/>
        </p:nvSpPr>
        <p:spPr>
          <a:xfrm>
            <a:off x="99288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l’informatique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548640" y="5257800"/>
            <a:ext cx="11091672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777240" y="52578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Op welke afdeling werk je? — Ik werk </a:t>
            </a:r>
            <a:r>
              <a:rPr lang="en-US" sz="1600" b="1" i="1" dirty="0">
                <a:solidFill>
                  <a:schemeClr val="tx1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boekhouding. · Ik werk </a:t>
            </a:r>
            <a:r>
              <a:rPr lang="en-US" sz="1600" b="1" i="1" dirty="0">
                <a:solidFill>
                  <a:schemeClr val="tx1"/>
                </a:solidFill>
              </a:rPr>
              <a:t>bij</a:t>
            </a:r>
            <a:r>
              <a:rPr lang="en-US" sz="1600" i="1" dirty="0">
                <a:solidFill>
                  <a:schemeClr val="tx1"/>
                </a:solidFill>
              </a:rPr>
              <a:t> de personeelsdienst.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afdeling</a:t>
            </a:r>
            <a:r>
              <a:rPr lang="en-US" sz="1600" dirty="0">
                <a:solidFill>
                  <a:schemeClr val="tx1"/>
                </a:solidFill>
              </a:rPr>
              <a:t> = le service ; en Belgique aussi </a:t>
            </a:r>
            <a:r>
              <a:rPr lang="en-US" sz="1600" i="1" dirty="0">
                <a:solidFill>
                  <a:schemeClr val="tx1"/>
                </a:solidFill>
              </a:rPr>
              <a:t>de dienst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de klantendienst</a:t>
            </a:r>
            <a:r>
              <a:rPr lang="en-US" sz="1600" dirty="0">
                <a:solidFill>
                  <a:schemeClr val="tx1"/>
                </a:solidFill>
              </a:rPr>
              <a:t> (service clientèle), </a:t>
            </a:r>
            <a:r>
              <a:rPr lang="en-US" sz="1600" i="1" dirty="0">
                <a:solidFill>
                  <a:schemeClr val="tx1"/>
                </a:solidFill>
              </a:rPr>
              <a:t>het onthaal</a:t>
            </a:r>
            <a:r>
              <a:rPr lang="en-US" sz="1600" dirty="0">
                <a:solidFill>
                  <a:schemeClr val="tx1"/>
                </a:solidFill>
              </a:rPr>
              <a:t> (l’accueil)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fonctions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9164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directeur·rice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directeur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directrice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69164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85666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comptable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3499866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boekhoudster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69164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99732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vendeur·euse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6313932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verkoper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verkoopster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691640"/>
            <a:ext cx="640080" cy="6400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813798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collaborateur·rice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9127998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medewerkster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548640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person tipp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11880"/>
            <a:ext cx="640080" cy="6400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71600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réceptionniste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685800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onthaalmedewerker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(-ster)</a:t>
            </a:r>
            <a:endParaRPr lang="en-US" sz="1600" dirty="0"/>
          </a:p>
        </p:txBody>
      </p:sp>
      <p:sp>
        <p:nvSpPr>
          <p:cNvPr id="25" name="Shape 17"/>
          <p:cNvSpPr/>
          <p:nvPr/>
        </p:nvSpPr>
        <p:spPr>
          <a:xfrm>
            <a:off x="3362706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611880"/>
            <a:ext cx="640080" cy="6400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85666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informaticien·ne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3499866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informaticus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(= de IT’er)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6176772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stud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611880"/>
            <a:ext cx="640080" cy="64008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99732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stagiaire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6313932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stagiaire</a:t>
            </a:r>
            <a:endParaRPr lang="en-US" sz="1600" dirty="0"/>
          </a:p>
        </p:txBody>
      </p:sp>
      <p:sp>
        <p:nvSpPr>
          <p:cNvPr id="33" name="Shape 23"/>
          <p:cNvSpPr/>
          <p:nvPr/>
        </p:nvSpPr>
        <p:spPr>
          <a:xfrm>
            <a:off x="8990838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bust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611880"/>
            <a:ext cx="640080" cy="64008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813798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chef·fe de service</a:t>
            </a:r>
            <a:endParaRPr lang="en-US" sz="1300" dirty="0"/>
          </a:p>
        </p:txBody>
      </p:sp>
      <p:sp>
        <p:nvSpPr>
          <p:cNvPr id="36" name="Text 25"/>
          <p:cNvSpPr txBox="1"/>
          <p:nvPr/>
        </p:nvSpPr>
        <p:spPr>
          <a:xfrm>
            <a:off x="9127998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afdelingshoofd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endParaRPr lang="en-US" sz="1600" dirty="0"/>
          </a:p>
        </p:txBody>
      </p:sp>
      <p:sp>
        <p:nvSpPr>
          <p:cNvPr id="37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Wat doe je? — Ik ben boekhouder.</a:t>
            </a:r>
            <a:r>
              <a:rPr lang="en-US" sz="1800" dirty="0">
                <a:solidFill>
                  <a:schemeClr val="bg1"/>
                </a:solidFill>
              </a:rPr>
              <a:t> (sans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, M2) · féminin : </a:t>
            </a:r>
            <a:r>
              <a:rPr lang="en-US" sz="1800" i="1" dirty="0">
                <a:solidFill>
                  <a:schemeClr val="bg1"/>
                </a:solidFill>
              </a:rPr>
              <a:t>-ster, -e, -rice</a:t>
            </a:r>
            <a:r>
              <a:rPr lang="en-US" sz="1800" dirty="0">
                <a:solidFill>
                  <a:schemeClr val="bg1"/>
                </a:solidFill>
              </a:rPr>
              <a:t> (M7)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Werkgever, werknemer… les rôles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20040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1097280" cy="1097280"/>
          </a:xfrm>
          <a:prstGeom prst="rect">
            <a:avLst/>
          </a:prstGeom>
        </p:spPr>
      </p:pic>
      <p:pic>
        <p:nvPicPr>
          <p:cNvPr id="7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783080"/>
            <a:ext cx="1097280" cy="10972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2103120" y="2148840"/>
            <a:ext cx="2926080" cy="914"/>
          </a:xfrm>
          <a:prstGeom prst="line">
            <a:avLst/>
          </a:prstGeom>
          <a:noFill/>
          <a:ln w="444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Text 4"/>
          <p:cNvSpPr txBox="1"/>
          <p:nvPr/>
        </p:nvSpPr>
        <p:spPr>
          <a:xfrm>
            <a:off x="210312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geeft</a:t>
            </a:r>
            <a:r>
              <a:rPr lang="en-US" sz="1500" b="1" dirty="0">
                <a:solidFill>
                  <a:schemeClr val="accent3"/>
                </a:solidFill>
              </a:rPr>
              <a:t> werk →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 flipH="1">
            <a:off x="2103120" y="2606040"/>
            <a:ext cx="2926080" cy="914"/>
          </a:xfrm>
          <a:prstGeom prst="line">
            <a:avLst/>
          </a:prstGeom>
          <a:noFill/>
          <a:ln w="444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Text 6"/>
          <p:cNvSpPr txBox="1"/>
          <p:nvPr/>
        </p:nvSpPr>
        <p:spPr>
          <a:xfrm>
            <a:off x="2103120" y="2651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← </a:t>
            </a:r>
            <a:r>
              <a:rPr lang="en-US" sz="1500" b="1" i="1" dirty="0">
                <a:solidFill>
                  <a:schemeClr val="accent1"/>
                </a:solidFill>
              </a:rPr>
              <a:t>neemt</a:t>
            </a:r>
            <a:r>
              <a:rPr lang="en-US" sz="1500" b="1" dirty="0">
                <a:solidFill>
                  <a:schemeClr val="accent1"/>
                </a:solidFill>
              </a:rPr>
              <a:t> werk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werkgever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geven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l’employeur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11480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werknemer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nemen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l’employé·e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6812280" y="1554480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949440" y="1554480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klant ↔ </a:t>
            </a: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leverancier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client ↔ le fournisseur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812280" y="2359152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949440" y="2359152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collega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/ la collègue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6812280" y="3163824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49440" y="3163824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baas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patron (familier) · BE : </a:t>
            </a:r>
            <a:r>
              <a:rPr lang="en-US" sz="1500" i="1" dirty="0">
                <a:solidFill>
                  <a:schemeClr val="tx1"/>
                </a:solidFill>
              </a:rPr>
              <a:t>de chef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812280" y="3968496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949440" y="3968496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vakbond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syndicat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4937760"/>
            <a:ext cx="11091672" cy="594360"/>
          </a:xfrm>
          <a:prstGeom prst="roundRect">
            <a:avLst>
              <a:gd name="adj" fmla="val 12308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49377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Belgique :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bediende</a:t>
            </a:r>
            <a:r>
              <a:rPr lang="en-US" sz="1600" dirty="0">
                <a:solidFill>
                  <a:schemeClr val="tx1"/>
                </a:solidFill>
              </a:rPr>
              <a:t> (employé·e de bureau) ·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arbeider</a:t>
            </a:r>
            <a:r>
              <a:rPr lang="en-US" sz="1600" dirty="0">
                <a:solidFill>
                  <a:schemeClr val="tx1"/>
                </a:solidFill>
              </a:rPr>
              <a:t> (ouvrier·ère) : deux statuts différents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Moyen mnémotechnique : </a:t>
            </a:r>
            <a:r>
              <a:rPr lang="en-US" sz="1700" i="1" dirty="0">
                <a:solidFill>
                  <a:schemeClr val="bg1"/>
                </a:solidFill>
              </a:rPr>
              <a:t>geven</a:t>
            </a:r>
            <a:r>
              <a:rPr lang="en-US" sz="1700" dirty="0">
                <a:solidFill>
                  <a:schemeClr val="bg1"/>
                </a:solidFill>
              </a:rPr>
              <a:t> = donner (le travail, le salaire) · </a:t>
            </a:r>
            <a:r>
              <a:rPr lang="en-US" sz="1700" i="1" dirty="0">
                <a:solidFill>
                  <a:schemeClr val="bg1"/>
                </a:solidFill>
              </a:rPr>
              <a:t>nemen</a:t>
            </a:r>
            <a:r>
              <a:rPr lang="en-US" sz="1700" dirty="0">
                <a:solidFill>
                  <a:schemeClr val="bg1"/>
                </a:solidFill>
              </a:rPr>
              <a:t> = prendre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bâtiment : le rez-de-chaussée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930652"/>
            <a:ext cx="1097280" cy="2555748"/>
          </a:xfrm>
          <a:prstGeom prst="roundRect">
            <a:avLst>
              <a:gd name="adj" fmla="val 3333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6" name="Image 0" descr="p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05886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58993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parking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1755648" y="1554480"/>
            <a:ext cx="6108192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794041" y="3048610"/>
            <a:ext cx="5069799" cy="943661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260007" y="3048610"/>
            <a:ext cx="1465966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gang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1755648" y="1554480"/>
            <a:ext cx="1038393" cy="393192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942559" y="2529596"/>
            <a:ext cx="228446" cy="1981688"/>
          </a:xfrm>
          <a:prstGeom prst="roundRect">
            <a:avLst>
              <a:gd name="adj" fmla="val 16011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92224" y="1609344"/>
            <a:ext cx="965241" cy="1195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het onthaal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709928" y="3190159"/>
            <a:ext cx="91440" cy="66056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94041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07129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288" y="16459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830617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vergaderzaal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260007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773095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254" y="16459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6583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kopieerlokaal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725973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239061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toi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220" y="16459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762549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toiletten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2794041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3307129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288" y="5047488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2830617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kantoor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4260007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4773095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254" y="5047488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296583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keuken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5725973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6" name="Shape 27"/>
          <p:cNvSpPr/>
          <p:nvPr/>
        </p:nvSpPr>
        <p:spPr>
          <a:xfrm>
            <a:off x="6239061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5220" y="5047488"/>
            <a:ext cx="347472" cy="34747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5762549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refter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7191939" y="1554480"/>
            <a:ext cx="671901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7237659" y="1835331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7237659" y="2116183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7237659" y="2397034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7237659" y="2677886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7237659" y="2958737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7237659" y="3239589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7191939" y="3520440"/>
            <a:ext cx="671901" cy="196596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47" name="Image 7" descr="elevato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4153" y="3611880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191939" y="3136392"/>
            <a:ext cx="67190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trap</a:t>
            </a:r>
            <a:endParaRPr lang="en-US" sz="1100" dirty="0"/>
          </a:p>
        </p:txBody>
      </p:sp>
      <p:sp>
        <p:nvSpPr>
          <p:cNvPr id="49" name="Text 38"/>
          <p:cNvSpPr txBox="1"/>
          <p:nvPr/>
        </p:nvSpPr>
        <p:spPr>
          <a:xfrm>
            <a:off x="7191939" y="5074920"/>
            <a:ext cx="6719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lift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>
            <a:off x="8138160" y="1554480"/>
            <a:ext cx="3502152" cy="393192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8275320" y="16459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vergaderzaal?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het </a:t>
            </a:r>
            <a:r>
              <a:rPr lang="en-US" sz="1500" b="1" i="1" dirty="0">
                <a:solidFill>
                  <a:schemeClr val="tx1"/>
                </a:solidFill>
              </a:rPr>
              <a:t>gelijkvloers</a:t>
            </a:r>
            <a:r>
              <a:rPr lang="en-US" sz="1500" i="1" dirty="0">
                <a:solidFill>
                  <a:schemeClr val="tx1"/>
                </a:solidFill>
              </a:rPr>
              <a:t>, de eerste deur links.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directie?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de </a:t>
            </a:r>
            <a:r>
              <a:rPr lang="en-US" sz="1500" b="1" i="1" dirty="0">
                <a:solidFill>
                  <a:schemeClr val="tx1"/>
                </a:solidFill>
              </a:rPr>
              <a:t>eerste verdieping</a:t>
            </a:r>
            <a:r>
              <a:rPr lang="en-US" sz="1500" i="1" dirty="0">
                <a:solidFill>
                  <a:schemeClr val="tx1"/>
                </a:solidFill>
              </a:rPr>
              <a:t>. Neem de trap of de lift.</a:t>
            </a:r>
            <a:endParaRPr lang="en-US" sz="1500" dirty="0"/>
          </a:p>
        </p:txBody>
      </p:sp>
      <p:sp>
        <p:nvSpPr>
          <p:cNvPr id="52" name="Text 41"/>
          <p:cNvSpPr txBox="1"/>
          <p:nvPr/>
        </p:nvSpPr>
        <p:spPr>
          <a:xfrm>
            <a:off x="8275320" y="406908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het gelijkvloers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begane grond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de refter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kantine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accent5"/>
                </a:solidFill>
              </a:rPr>
              <a:t>het kantoor</a:t>
            </a:r>
            <a:r>
              <a:rPr lang="en-US" sz="1300" dirty="0">
                <a:solidFill>
                  <a:schemeClr val="accent5"/>
                </a:solidFill>
              </a:rPr>
              <a:t> = le bureau (BE aussi </a:t>
            </a:r>
            <a:r>
              <a:rPr lang="en-US" sz="1300" i="1" dirty="0">
                <a:solidFill>
                  <a:schemeClr val="accent5"/>
                </a:solidFill>
              </a:rPr>
              <a:t>het bureau</a:t>
            </a:r>
            <a:r>
              <a:rPr lang="en-US" sz="1300" dirty="0">
                <a:solidFill>
                  <a:schemeClr val="accent5"/>
                </a:solidFill>
              </a:rPr>
              <a:t>)</a:t>
            </a:r>
            <a:endParaRPr lang="en-US" sz="1300" dirty="0"/>
          </a:p>
        </p:txBody>
      </p:sp>
      <p:sp>
        <p:nvSpPr>
          <p:cNvPr id="53" name="Shape 4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 plan revient au M31 : </a:t>
            </a:r>
            <a:r>
              <a:rPr lang="en-US" sz="1700" i="1" dirty="0">
                <a:solidFill>
                  <a:schemeClr val="bg1"/>
                </a:solidFill>
              </a:rPr>
              <a:t>Hij loopt de gang </a:t>
            </a:r>
            <a:r>
              <a:rPr lang="en-US" sz="1700" b="1" i="1" dirty="0">
                <a:solidFill>
                  <a:schemeClr val="bg1"/>
                </a:solidFill>
              </a:rPr>
              <a:t>door</a:t>
            </a:r>
            <a:r>
              <a:rPr lang="en-US" sz="1700" i="1" dirty="0">
                <a:solidFill>
                  <a:schemeClr val="bg1"/>
                </a:solidFill>
              </a:rPr>
              <a:t>. · Ze loopt de trap </a:t>
            </a:r>
            <a:r>
              <a:rPr lang="en-US" sz="1700" b="1" i="1" dirty="0">
                <a:solidFill>
                  <a:schemeClr val="bg1"/>
                </a:solidFill>
              </a:rPr>
              <a:t>op</a:t>
            </a:r>
            <a:r>
              <a:rPr lang="en-US" sz="1700" i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Sur mon bureau :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6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16" y="169164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laptop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0112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1691640"/>
            <a:ext cx="822960" cy="8229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465832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scherm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291584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12" name="Image 2" descr="key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260" y="1691640"/>
            <a:ext cx="822960" cy="8229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37304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toetsenbord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63056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5" name="Image 3" descr="computer m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732" y="1691640"/>
            <a:ext cx="822960" cy="8229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208776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muis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034528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0204" y="1691640"/>
            <a:ext cx="822960" cy="8229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80248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printer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990600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1" name="Image 5" descr="file fold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1676" y="1691640"/>
            <a:ext cx="822960" cy="8229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95172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map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4864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24" name="Image 6" descr="card file bo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316" y="352044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59436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dossier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2420112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7" name="Image 7" descr="spiral calend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5788" y="3520440"/>
            <a:ext cx="822960" cy="8229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2465832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agenda</a:t>
            </a:r>
            <a:endParaRPr lang="en-US" sz="1600" dirty="0"/>
          </a:p>
        </p:txBody>
      </p:sp>
      <p:sp>
        <p:nvSpPr>
          <p:cNvPr id="29" name="Shape 18"/>
          <p:cNvSpPr/>
          <p:nvPr/>
        </p:nvSpPr>
        <p:spPr>
          <a:xfrm>
            <a:off x="4291584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0" name="Image 8" descr="pe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7260" y="3520440"/>
            <a:ext cx="822960" cy="8229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337304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balpen</a:t>
            </a:r>
            <a:endParaRPr lang="en-US" sz="1600" dirty="0"/>
          </a:p>
        </p:txBody>
      </p:sp>
      <p:sp>
        <p:nvSpPr>
          <p:cNvPr id="32" name="Shape 20"/>
          <p:cNvSpPr/>
          <p:nvPr/>
        </p:nvSpPr>
        <p:spPr>
          <a:xfrm>
            <a:off x="6163056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3" name="Image 9" descr="mobile phon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732" y="3520440"/>
            <a:ext cx="822960" cy="8229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208776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35" name="Shape 22"/>
          <p:cNvSpPr/>
          <p:nvPr/>
        </p:nvSpPr>
        <p:spPr>
          <a:xfrm>
            <a:off x="8034528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6" name="Image 10" descr="identification car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0204" y="3520440"/>
            <a:ext cx="822960" cy="8229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8080248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badge</a:t>
            </a:r>
            <a:endParaRPr lang="en-US" sz="1600" dirty="0"/>
          </a:p>
        </p:txBody>
      </p:sp>
      <p:sp>
        <p:nvSpPr>
          <p:cNvPr id="38" name="Shape 24"/>
          <p:cNvSpPr/>
          <p:nvPr/>
        </p:nvSpPr>
        <p:spPr>
          <a:xfrm>
            <a:off x="990600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9" name="Image 11" descr="chai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1676" y="3520440"/>
            <a:ext cx="822960" cy="8229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95172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stoel</a:t>
            </a:r>
            <a:endParaRPr lang="en-US" sz="1600" dirty="0"/>
          </a:p>
        </p:txBody>
      </p:sp>
      <p:sp>
        <p:nvSpPr>
          <p:cNvPr id="41" name="Shape 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27"/>
          <p:cNvSpPr txBox="1"/>
          <p:nvPr/>
        </p:nvSpPr>
        <p:spPr>
          <a:xfrm>
            <a:off x="77724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je balpen even lenen? · De printer werkt niet!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BE : </a:t>
            </a:r>
            <a:r>
              <a:rPr lang="en-US" sz="1600" i="1" dirty="0">
                <a:solidFill>
                  <a:schemeClr val="tx1"/>
                </a:solidFill>
              </a:rPr>
              <a:t>de gsm</a:t>
            </a:r>
            <a:r>
              <a:rPr lang="en-US" sz="1600" dirty="0">
                <a:solidFill>
                  <a:schemeClr val="tx1"/>
                </a:solidFill>
              </a:rPr>
              <a:t> (NL </a:t>
            </a:r>
            <a:r>
              <a:rPr lang="en-US" sz="1600" i="1" dirty="0">
                <a:solidFill>
                  <a:schemeClr val="tx1"/>
                </a:solidFill>
              </a:rPr>
              <a:t>de mobiel</a:t>
            </a:r>
            <a:r>
              <a:rPr lang="en-US" sz="1600" dirty="0">
                <a:solidFill>
                  <a:schemeClr val="tx1"/>
                </a:solidFill>
              </a:rPr>
              <a:t>), </a:t>
            </a:r>
            <a:r>
              <a:rPr lang="en-US" sz="1600" i="1" dirty="0">
                <a:solidFill>
                  <a:schemeClr val="tx1"/>
                </a:solidFill>
              </a:rPr>
              <a:t>de bic</a:t>
            </a:r>
            <a:r>
              <a:rPr lang="en-US" sz="1600" dirty="0">
                <a:solidFill>
                  <a:schemeClr val="tx1"/>
                </a:solidFill>
              </a:rPr>
              <a:t> = </a:t>
            </a:r>
            <a:r>
              <a:rPr lang="en-US" sz="1600" i="1" dirty="0">
                <a:solidFill>
                  <a:schemeClr val="tx1"/>
                </a:solidFill>
              </a:rPr>
              <a:t>de balpen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het bureau</a:t>
            </a:r>
            <a:r>
              <a:rPr lang="en-US" sz="1600" dirty="0">
                <a:solidFill>
                  <a:schemeClr val="tx1"/>
                </a:solidFill>
              </a:rPr>
              <a:t> = le meuble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documents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factuur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facture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4306824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age with cur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709928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221224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offerte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devis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8065008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1709928"/>
            <a:ext cx="640080" cy="6400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979408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bestelbon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bon de commande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807208"/>
            <a:ext cx="640080" cy="6400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463040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contract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contrat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4306824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2807208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221224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verslag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rapport, le compte rendu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8065008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piral notep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168" y="2807208"/>
            <a:ext cx="640080" cy="64008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8979408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formulier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formulaire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euro bankno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904488"/>
            <a:ext cx="640080" cy="64008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463040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loonfiche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fiche de paie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4306824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ookmark tab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3984" y="3904488"/>
            <a:ext cx="640080" cy="6400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221224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attest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l’attestation</a:t>
            </a:r>
            <a:endParaRPr lang="en-US" sz="1700" dirty="0"/>
          </a:p>
        </p:txBody>
      </p:sp>
      <p:sp>
        <p:nvSpPr>
          <p:cNvPr id="29" name="Shape 18"/>
          <p:cNvSpPr/>
          <p:nvPr/>
        </p:nvSpPr>
        <p:spPr>
          <a:xfrm>
            <a:off x="8065008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paperclip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2168" y="3904488"/>
            <a:ext cx="640080" cy="64008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979408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bijlage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pièce jointe</a:t>
            </a:r>
            <a:endParaRPr lang="en-US" sz="1700" dirty="0"/>
          </a:p>
        </p:txBody>
      </p:sp>
      <p:sp>
        <p:nvSpPr>
          <p:cNvPr id="32" name="Shape 20"/>
          <p:cNvSpPr/>
          <p:nvPr/>
        </p:nvSpPr>
        <p:spPr>
          <a:xfrm>
            <a:off x="548640" y="4937760"/>
            <a:ext cx="11091672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777240" y="49377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In de bijlage vindt u de offerte.</a:t>
            </a:r>
            <a:r>
              <a:rPr lang="en-US" sz="1600" dirty="0">
                <a:solidFill>
                  <a:schemeClr val="tx1"/>
                </a:solidFill>
              </a:rPr>
              <a:t> (M10) · </a:t>
            </a:r>
            <a:r>
              <a:rPr lang="en-US" sz="1600" i="1" dirty="0">
                <a:solidFill>
                  <a:schemeClr val="tx1"/>
                </a:solidFill>
              </a:rPr>
              <a:t>het verslag</a:t>
            </a:r>
            <a:r>
              <a:rPr lang="en-US" sz="1600" dirty="0">
                <a:solidFill>
                  <a:schemeClr val="tx1"/>
                </a:solidFill>
              </a:rPr>
              <a:t> = aussi le PV d’une réunion (NL : </a:t>
            </a:r>
            <a:r>
              <a:rPr lang="en-US" sz="1600" i="1" dirty="0">
                <a:solidFill>
                  <a:schemeClr val="tx1"/>
                </a:solidFill>
              </a:rPr>
              <a:t>de notulen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34" name="Shape 22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3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Très belge : </a:t>
            </a:r>
            <a:r>
              <a:rPr lang="en-US" sz="1600" i="1" dirty="0">
                <a:solidFill>
                  <a:schemeClr val="bg1"/>
                </a:solidFill>
              </a:rPr>
              <a:t>de loonfiche</a:t>
            </a:r>
            <a:r>
              <a:rPr lang="en-US" sz="1600" dirty="0">
                <a:solidFill>
                  <a:schemeClr val="bg1"/>
                </a:solidFill>
              </a:rPr>
              <a:t> (NL : </a:t>
            </a:r>
            <a:r>
              <a:rPr lang="en-US" sz="1600" i="1" dirty="0">
                <a:solidFill>
                  <a:schemeClr val="bg1"/>
                </a:solidFill>
              </a:rPr>
              <a:t>de loonstrook</a:t>
            </a:r>
            <a:r>
              <a:rPr lang="en-US" sz="1600" dirty="0">
                <a:solidFill>
                  <a:schemeClr val="bg1"/>
                </a:solidFill>
              </a:rPr>
              <a:t>), </a:t>
            </a:r>
            <a:r>
              <a:rPr lang="en-US" sz="1600" i="1" dirty="0">
                <a:solidFill>
                  <a:schemeClr val="bg1"/>
                </a:solidFill>
              </a:rPr>
              <a:t>het attest</a:t>
            </a:r>
            <a:r>
              <a:rPr lang="en-US" sz="1600" dirty="0">
                <a:solidFill>
                  <a:schemeClr val="bg1"/>
                </a:solidFill>
              </a:rPr>
              <a:t> (un </a:t>
            </a:r>
            <a:r>
              <a:rPr lang="en-US" sz="1600" i="1" dirty="0">
                <a:solidFill>
                  <a:schemeClr val="bg1"/>
                </a:solidFill>
              </a:rPr>
              <a:t>ziekteattest</a:t>
            </a:r>
            <a:r>
              <a:rPr lang="en-US" sz="1600" dirty="0">
                <a:solidFill>
                  <a:schemeClr val="bg1"/>
                </a:solidFill>
              </a:rPr>
              <a:t> = un certificat médical)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du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Au bureau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vergaderen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être en réunion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téléphoner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mailen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envoyer un e-mail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afdrukken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imprimer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kopiëren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copier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86460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plannen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planifier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322064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322064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45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007864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Avec les clients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4550664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bestellen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commander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50664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leveren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livrer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50664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factureren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facturer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50664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betalen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payer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50664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onderhandelen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négocier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95488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095488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4592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81288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personnel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8324088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solliciteren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postuler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8324088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aanwerven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embaucher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324088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opleiden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former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8324088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ontslaan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licencier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Karim is aan het vergaderen.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Hij is in vergadering.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Ik druk het verslag </a:t>
            </a:r>
            <a:r>
              <a:rPr lang="en-US" sz="1800" b="1" i="1" dirty="0">
                <a:solidFill>
                  <a:schemeClr val="bg1"/>
                </a:solidFill>
              </a:rPr>
              <a:t>af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(M11)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prendre, faire, poser…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décision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beslissing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pause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pauze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congé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verlof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réunion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vergadering </a:t>
            </a:r>
            <a:r>
              <a:rPr lang="en-US" sz="1600" b="1" i="1" dirty="0">
                <a:solidFill>
                  <a:schemeClr val="accent6"/>
                </a:solidFill>
              </a:rPr>
              <a:t>houden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60120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erreur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fout </a:t>
            </a:r>
            <a:r>
              <a:rPr lang="en-US" sz="1600" b="1" i="1" dirty="0">
                <a:solidFill>
                  <a:schemeClr val="accent6"/>
                </a:solidFill>
              </a:rPr>
              <a:t>maken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31636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554480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643116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poser une question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vraag </a:t>
            </a:r>
            <a:r>
              <a:rPr lang="en-US" sz="1600" b="1" i="1" dirty="0">
                <a:solidFill>
                  <a:schemeClr val="accent6"/>
                </a:solidFill>
              </a:rPr>
              <a:t>stellen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31636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23076" y="2340864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643116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présentation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presentatie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231636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23076" y="3127248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643116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suivre une formation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opleiding </a:t>
            </a:r>
            <a:r>
              <a:rPr lang="en-US" sz="1600" b="1" i="1" dirty="0">
                <a:solidFill>
                  <a:schemeClr val="accent6"/>
                </a:solidFill>
              </a:rPr>
              <a:t>volgen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231636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23076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643116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remplir un formulaire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formulier </a:t>
            </a:r>
            <a:r>
              <a:rPr lang="en-US" sz="1600" b="1" i="1" dirty="0">
                <a:solidFill>
                  <a:schemeClr val="accent6"/>
                </a:solidFill>
              </a:rPr>
              <a:t>invullen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31636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3076" y="4700016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643116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contact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contact </a:t>
            </a:r>
            <a:r>
              <a:rPr lang="en-US" sz="1600" b="1" i="1" dirty="0">
                <a:solidFill>
                  <a:schemeClr val="accent6"/>
                </a:solidFill>
              </a:rPr>
              <a:t>opnemen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On apprend une </a:t>
            </a:r>
            <a:r>
              <a:rPr lang="en-US" sz="1700" b="1" dirty="0">
                <a:solidFill>
                  <a:schemeClr val="bg1"/>
                </a:solidFill>
              </a:rPr>
              <a:t>expression complète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een vraag stellen</a:t>
            </a:r>
            <a:r>
              <a:rPr lang="en-US" sz="1700" dirty="0">
                <a:solidFill>
                  <a:schemeClr val="bg1"/>
                </a:solidFill>
              </a:rPr>
              <a:t>, pas « poser = </a:t>
            </a:r>
            <a:r>
              <a:rPr lang="en-US" sz="1700" i="1" dirty="0">
                <a:solidFill>
                  <a:schemeClr val="bg1"/>
                </a:solidFill>
              </a:rPr>
              <a:t>stellen</a:t>
            </a:r>
            <a:r>
              <a:rPr lang="en-US" sz="1700" dirty="0">
                <a:solidFill>
                  <a:schemeClr val="bg1"/>
                </a:solidFill>
              </a:rPr>
              <a:t> » · aussi : </a:t>
            </a:r>
            <a:r>
              <a:rPr lang="en-US" sz="1700" i="1" dirty="0">
                <a:solidFill>
                  <a:schemeClr val="bg1"/>
                </a:solidFill>
              </a:rPr>
              <a:t>een vergadering </a:t>
            </a:r>
            <a:r>
              <a:rPr lang="en-US" sz="1700" b="1" i="1" dirty="0">
                <a:solidFill>
                  <a:schemeClr val="bg1"/>
                </a:solidFill>
              </a:rPr>
              <a:t>hebben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contrat et les conditions de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FileContr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8233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Contrat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een contract van </a:t>
            </a:r>
            <a:r>
              <a:rPr lang="en-US" sz="1500" b="1" i="1" dirty="0">
                <a:solidFill>
                  <a:schemeClr val="tx1"/>
                </a:solidFill>
              </a:rPr>
              <a:t>onbepaalde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(CDI)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van </a:t>
            </a:r>
            <a:r>
              <a:rPr lang="en-US" sz="1500" b="1" i="1" dirty="0">
                <a:solidFill>
                  <a:schemeClr val="tx1"/>
                </a:solidFill>
              </a:rPr>
              <a:t>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(CDD)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opzegtermijn</a:t>
            </a:r>
            <a:r>
              <a:rPr lang="en-US" sz="1500" dirty="0">
                <a:solidFill>
                  <a:schemeClr val="tx1"/>
                </a:solidFill>
              </a:rPr>
              <a:t> (le préavis)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208776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345936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610" y="182331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31736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Temps de travail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83096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voltijds</a:t>
            </a:r>
            <a:r>
              <a:rPr lang="en-US" sz="1500" dirty="0">
                <a:solidFill>
                  <a:schemeClr val="tx1"/>
                </a:solidFill>
              </a:rPr>
              <a:t> (temps plein) · </a:t>
            </a:r>
            <a:r>
              <a:rPr lang="en-US" sz="1500" i="1" dirty="0">
                <a:solidFill>
                  <a:schemeClr val="tx1"/>
                </a:solidFill>
              </a:rPr>
              <a:t>deeltijds</a:t>
            </a:r>
            <a:r>
              <a:rPr lang="en-US" sz="1500" dirty="0">
                <a:solidFill>
                  <a:schemeClr val="tx1"/>
                </a:solidFill>
              </a:rPr>
              <a:t> (temps partiel)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glijdende uren</a:t>
            </a:r>
            <a:r>
              <a:rPr lang="en-US" sz="1500" dirty="0">
                <a:solidFill>
                  <a:schemeClr val="tx1"/>
                </a:solidFill>
              </a:rPr>
              <a:t> (horaire flexible)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thuiswerken</a:t>
            </a:r>
            <a:r>
              <a:rPr lang="en-US" sz="1500" dirty="0">
                <a:solidFill>
                  <a:schemeClr val="tx1"/>
                </a:solidFill>
              </a:rPr>
              <a:t> = </a:t>
            </a:r>
            <a:r>
              <a:rPr lang="en-US" sz="1500" i="1" dirty="0">
                <a:solidFill>
                  <a:schemeClr val="tx1"/>
                </a:solidFill>
              </a:rPr>
              <a:t>telewerken</a:t>
            </a:r>
            <a:r>
              <a:rPr lang="en-US" sz="1500" dirty="0">
                <a:solidFill>
                  <a:schemeClr val="tx1"/>
                </a:solidFill>
              </a:rPr>
              <a:t> (BE)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3611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Euro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374355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Salaire et avantages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2960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brutoloon / het nettoloon</a:t>
            </a:r>
            <a:r>
              <a:rPr lang="en-US" sz="1500" dirty="0">
                <a:solidFill>
                  <a:schemeClr val="tx1"/>
                </a:solidFill>
              </a:rPr>
              <a:t> (M26)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maaltijdcheques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bedrijfswagen</a:t>
            </a:r>
            <a:r>
              <a:rPr lang="en-US" sz="1500" dirty="0">
                <a:solidFill>
                  <a:schemeClr val="tx1"/>
                </a:solidFill>
              </a:rPr>
              <a:t> (voiture de société)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208776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45936" y="361188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UmbrellaBea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0" y="374355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31736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Congés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6483096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verlof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de vakantiedagen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ziek zijn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een ziekteattest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morgen verlof.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werk deeltijds, vier dagen per week. · Ik werk twee dagen per week thuis.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solliciter » (demander)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solliciteren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751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040880" y="21396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1396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vragen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dirty="0">
                <a:solidFill>
                  <a:schemeClr val="tx1"/>
                </a:solidFill>
              </a:rPr>
              <a:t>solliciteren</a:t>
            </a:r>
            <a:r>
              <a:rPr lang="en-US" sz="1700" i="1" dirty="0">
                <a:solidFill>
                  <a:schemeClr val="tx1"/>
                </a:solidFill>
              </a:rPr>
              <a:t> = </a:t>
            </a:r>
            <a:r>
              <a:rPr lang="en-US" sz="1700" b="1" i="1" dirty="0">
                <a:solidFill>
                  <a:schemeClr val="tx1"/>
                </a:solidFill>
              </a:rPr>
              <a:t>postuler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formation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7889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formatie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6751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040880" y="28254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78040" y="28254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opleiding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patron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206240" y="34747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het patroon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751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040880" y="35112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178040" y="35112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baas</a:t>
            </a:r>
            <a:r>
              <a:rPr lang="en-US" sz="1700" i="1" dirty="0">
                <a:solidFill>
                  <a:schemeClr val="tx1"/>
                </a:solidFill>
              </a:rPr>
              <a:t> · BE : </a:t>
            </a:r>
            <a:r>
              <a:rPr lang="en-US" sz="1700" b="1" i="1" dirty="0">
                <a:solidFill>
                  <a:schemeClr val="tx1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patroon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société » (l’entreprise)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0624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samenleving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751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040880" y="41970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78040" y="41970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tx1"/>
                </a:solidFill>
              </a:rPr>
              <a:t>bedrijf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l’ordre du jour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6751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040880" y="48828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178040" y="48828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agenda</a:t>
            </a:r>
            <a:r>
              <a:rPr lang="en-US" sz="1700" i="1" dirty="0">
                <a:solidFill>
                  <a:schemeClr val="tx1"/>
                </a:solidFill>
              </a:rPr>
              <a:t> (comme « l’agenda »)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de formatie</a:t>
            </a:r>
            <a:r>
              <a:rPr lang="en-US" sz="1500" dirty="0">
                <a:solidFill>
                  <a:schemeClr val="bg1"/>
                </a:solidFill>
              </a:rPr>
              <a:t> = la composition · </a:t>
            </a:r>
            <a:r>
              <a:rPr lang="en-US" sz="1500" b="1" i="1" dirty="0">
                <a:solidFill>
                  <a:schemeClr val="bg1"/>
                </a:solidFill>
              </a:rPr>
              <a:t>het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modèle, mais BE : </a:t>
            </a:r>
            <a:r>
              <a:rPr lang="en-US" sz="1500" b="1" i="1" dirty="0">
                <a:solidFill>
                  <a:schemeClr val="bg1"/>
                </a:solidFill>
              </a:rPr>
              <a:t>de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patron · </a:t>
            </a:r>
            <a:r>
              <a:rPr lang="en-US" sz="1500" i="1" dirty="0">
                <a:solidFill>
                  <a:schemeClr val="bg1"/>
                </a:solidFill>
              </a:rPr>
              <a:t>de samenleving</a:t>
            </a:r>
            <a:r>
              <a:rPr lang="en-US" sz="1500" dirty="0">
                <a:solidFill>
                  <a:schemeClr val="bg1"/>
                </a:solidFill>
              </a:rPr>
              <a:t> = la société (les gens)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Belgique ou Pays-Bas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85800" y="1572768"/>
            <a:ext cx="167640" cy="33192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3440" y="1572768"/>
            <a:ext cx="167640" cy="331927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1080" y="1572768"/>
            <a:ext cx="167640" cy="33192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258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Belgique</a:t>
            </a:r>
            <a:r>
              <a:rPr lang="en-US" sz="1600" dirty="0">
                <a:solidFill>
                  <a:schemeClr val="tx2"/>
                </a:solidFill>
              </a:rPr>
              <a:t> — à Bruxelles et en Flandre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355080" y="1572768"/>
            <a:ext cx="502920" cy="110642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1683410"/>
            <a:ext cx="502920" cy="11064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55080" y="1794053"/>
            <a:ext cx="502920" cy="110642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5508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Pays-Bas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2103120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210312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onthaal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10312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receptie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210312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l’accueil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2532888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253288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refter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253288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kantine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253288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cafétéria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2962656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7240" y="296265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gelijkvloers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296265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begane grond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235440" y="296265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rez-de-chaussée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3392424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7240" y="3392424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446520" y="339242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mobiel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3392424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portable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3822192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3822192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loonfiche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446520" y="382219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loonstrook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235440" y="3822192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fiche de paie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48640" y="4251960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" y="425196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aanwerven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6446520" y="425196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aannemen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235440" y="425196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embaucher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8640" y="4681728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68172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kmo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6446520" y="468172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mkb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9235440" y="468172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PME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548640" y="5111496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" y="511149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verlof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6446520" y="511149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vakantie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9235440" y="511149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congés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sont compris partout. On apprend d’abord le mot belge, on reconnaît le mot néerlandais.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l’entreprise en un coup d’œil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194560" y="1554480"/>
            <a:ext cx="2194560" cy="373075"/>
          </a:xfrm>
          <a:prstGeom prst="roundRect">
            <a:avLst>
              <a:gd name="adj" fmla="val 2451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194560" y="1554480"/>
            <a:ext cx="219456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 directie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91840" y="192755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5360" y="2064715"/>
            <a:ext cx="463296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536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boekhouding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1901952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75232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84376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personeelsdienst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2828544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401824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10968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verkoop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755136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328416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37560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aankoop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4681728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5008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64152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marketing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560832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8160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9074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IT-dienst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6309360" y="2354580"/>
            <a:ext cx="799643" cy="1485900"/>
          </a:xfrm>
          <a:prstGeom prst="roundRect">
            <a:avLst>
              <a:gd name="adj" fmla="val 4574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6309360" y="2898648"/>
            <a:ext cx="7996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parking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7218731" y="1554480"/>
            <a:ext cx="4421581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70400" y="2423160"/>
            <a:ext cx="3669912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31579" y="2423160"/>
            <a:ext cx="10611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gang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7218731" y="1554480"/>
            <a:ext cx="751669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54031" y="2121408"/>
            <a:ext cx="165367" cy="1152144"/>
          </a:xfrm>
          <a:prstGeom prst="roundRect">
            <a:avLst>
              <a:gd name="adj" fmla="val 22118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255307" y="1609344"/>
            <a:ext cx="67851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accent1"/>
                </a:solidFill>
              </a:rPr>
              <a:t>onthaal</a:t>
            </a:r>
            <a:endParaRPr lang="en-US" sz="700" dirty="0"/>
          </a:p>
        </p:txBody>
      </p:sp>
      <p:sp>
        <p:nvSpPr>
          <p:cNvPr id="35" name="Shape 32"/>
          <p:cNvSpPr/>
          <p:nvPr/>
        </p:nvSpPr>
        <p:spPr>
          <a:xfrm>
            <a:off x="7173011" y="2505456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70400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34181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06976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vergaderzaal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903157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40299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06815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kopieerlokaal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1009275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464171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12933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toiletten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970400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34181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006976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kantoor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03157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40299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6815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keuken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1009275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464171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12933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refter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11153938" y="1554480"/>
            <a:ext cx="486374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199658" y="1717766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199658" y="1881051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1199658" y="2044337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1199658" y="2207623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1199658" y="2370909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1199658" y="2534194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1153938" y="2697480"/>
            <a:ext cx="486374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1153938" y="2313432"/>
            <a:ext cx="4863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trap</a:t>
            </a:r>
            <a:endParaRPr lang="en-US" sz="700" dirty="0"/>
          </a:p>
        </p:txBody>
      </p:sp>
      <p:sp>
        <p:nvSpPr>
          <p:cNvPr id="63" name="Text 60"/>
          <p:cNvSpPr txBox="1"/>
          <p:nvPr/>
        </p:nvSpPr>
        <p:spPr>
          <a:xfrm>
            <a:off x="11153938" y="3429000"/>
            <a:ext cx="4863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lift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548640" y="40233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1520" y="40233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Composés</a:t>
            </a:r>
            <a:endParaRPr lang="en-US" sz="1700" dirty="0"/>
          </a:p>
        </p:txBody>
      </p:sp>
      <p:sp>
        <p:nvSpPr>
          <p:cNvPr id="66" name="Text 63"/>
          <p:cNvSpPr txBox="1"/>
          <p:nvPr/>
        </p:nvSpPr>
        <p:spPr>
          <a:xfrm>
            <a:off x="2560320" y="402336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mot donne l’article : </a:t>
            </a: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</a:t>
            </a:r>
            <a:r>
              <a:rPr lang="en-US" sz="1700" b="1" i="1" dirty="0">
                <a:solidFill>
                  <a:schemeClr val="tx1"/>
                </a:solidFill>
              </a:rPr>
              <a:t>dienst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kopieer</a:t>
            </a:r>
            <a:r>
              <a:rPr lang="en-US" sz="1700" b="1" i="1" dirty="0">
                <a:solidFill>
                  <a:schemeClr val="tx1"/>
                </a:solidFill>
              </a:rPr>
              <a:t>lokaal</a:t>
            </a:r>
            <a:endParaRPr lang="en-US" sz="1700" dirty="0"/>
          </a:p>
        </p:txBody>
      </p:sp>
      <p:sp>
        <p:nvSpPr>
          <p:cNvPr id="67" name="Shape 64"/>
          <p:cNvSpPr/>
          <p:nvPr/>
        </p:nvSpPr>
        <p:spPr>
          <a:xfrm>
            <a:off x="548640" y="4681728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31520" y="46817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Expressions</a:t>
            </a:r>
            <a:endParaRPr lang="en-US" sz="1700" dirty="0"/>
          </a:p>
        </p:txBody>
      </p:sp>
      <p:sp>
        <p:nvSpPr>
          <p:cNvPr id="69" name="Text 66"/>
          <p:cNvSpPr txBox="1"/>
          <p:nvPr/>
        </p:nvSpPr>
        <p:spPr>
          <a:xfrm>
            <a:off x="2560320" y="4681728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een vergadering </a:t>
            </a:r>
            <a:r>
              <a:rPr lang="en-US" sz="1700" b="1" i="1" dirty="0">
                <a:solidFill>
                  <a:schemeClr val="tx1"/>
                </a:solidFill>
              </a:rPr>
              <a:t>houden</a:t>
            </a:r>
            <a:r>
              <a:rPr lang="en-US" sz="1700" i="1" dirty="0">
                <a:solidFill>
                  <a:schemeClr val="tx1"/>
                </a:solidFill>
              </a:rPr>
              <a:t> · een vraag </a:t>
            </a:r>
            <a:r>
              <a:rPr lang="en-US" sz="1700" b="1" i="1" dirty="0">
                <a:solidFill>
                  <a:schemeClr val="tx1"/>
                </a:solidFill>
              </a:rPr>
              <a:t>stellen</a:t>
            </a:r>
            <a:r>
              <a:rPr lang="en-US" sz="1700" i="1" dirty="0">
                <a:solidFill>
                  <a:schemeClr val="tx1"/>
                </a:solidFill>
              </a:rPr>
              <a:t> · een beslissing </a:t>
            </a:r>
            <a:r>
              <a:rPr lang="en-US" sz="1700" b="1" i="1" dirty="0">
                <a:solidFill>
                  <a:schemeClr val="tx1"/>
                </a:solidFill>
              </a:rPr>
              <a:t>nemen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5340096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31520" y="534009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Rôles</a:t>
            </a:r>
            <a:endParaRPr lang="en-US" sz="1700" dirty="0"/>
          </a:p>
        </p:txBody>
      </p:sp>
      <p:sp>
        <p:nvSpPr>
          <p:cNvPr id="72" name="Text 69"/>
          <p:cNvSpPr txBox="1"/>
          <p:nvPr/>
        </p:nvSpPr>
        <p:spPr>
          <a:xfrm>
            <a:off x="2560320" y="5340096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gever</a:t>
            </a:r>
            <a:r>
              <a:rPr lang="en-US" sz="1700" dirty="0">
                <a:solidFill>
                  <a:schemeClr val="tx1"/>
                </a:solidFill>
              </a:rPr>
              <a:t> donne le travail · </a:t>
            </a: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nemer</a:t>
            </a:r>
            <a:r>
              <a:rPr lang="en-US" sz="1700" dirty="0">
                <a:solidFill>
                  <a:schemeClr val="tx1"/>
                </a:solidFill>
              </a:rPr>
              <a:t> le prend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S26 · l’organigramme</a:t>
            </a:r>
            <a:endParaRPr lang="en-US" sz="1100" dirty="0"/>
          </a:p>
        </p:txBody>
      </p:sp>
      <p:pic>
        <p:nvPicPr>
          <p:cNvPr id="7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Wie doet wat?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Waar is…?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Rand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of het?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verbe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Rou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visite guidée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0" name="Shape 13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2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28" name="Shape 19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0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2" name="Shape 22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38" name="Shape 28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0" name="Shape 30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2" name="Shape 32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1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4754880" y="229565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9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6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8" name="Shape 12"/>
          <p:cNvSpPr/>
          <p:nvPr/>
        </p:nvSpPr>
        <p:spPr>
          <a:xfrm>
            <a:off x="4754880" y="3022092"/>
            <a:ext cx="2194560" cy="914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3" name="Shape 16"/>
          <p:cNvSpPr/>
          <p:nvPr/>
        </p:nvSpPr>
        <p:spPr>
          <a:xfrm>
            <a:off x="4754880" y="374853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6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4754880" y="4474972"/>
            <a:ext cx="2194560" cy="72644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31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33" name="Shape 24"/>
          <p:cNvSpPr/>
          <p:nvPr/>
        </p:nvSpPr>
        <p:spPr>
          <a:xfrm flipV="1">
            <a:off x="4754880" y="3748532"/>
            <a:ext cx="2194560" cy="145288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4" name="Shape 25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6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8" name="Shape 28"/>
          <p:cNvSpPr/>
          <p:nvPr/>
        </p:nvSpPr>
        <p:spPr>
          <a:xfrm flipV="1">
            <a:off x="4754880" y="2295652"/>
            <a:ext cx="2194560" cy="363220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9" name="Shape 29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9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busts in silhouette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4" descr="toilet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6" name="Image 5" descr="desktop computer">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6" descr="hot beverage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2" name="Shape 32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44" name="Shape 34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6" name="Image 7" descr="fork and knife with plate">    </p:cNvPr>
          <p:cNvPicPr>
            <a:picLocks noChangeAspect="1"/>
          </p:cNvPicPr>
          <p:nvPr/>
        </p:nvPicPr>
        <p:blipFill>
          <a:blip r:embed="rId8">
            <a:alphaModFix amt="70000"/>
          </a:blip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47" name="Shape 36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49" name="Shape 38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0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57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59" name="Shape 47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8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61" name="Shape 49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7909560" y="20695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63" name="Text 51"/>
          <p:cNvSpPr txBox="1"/>
          <p:nvPr/>
        </p:nvSpPr>
        <p:spPr>
          <a:xfrm>
            <a:off x="7909560" y="2435352"/>
            <a:ext cx="3566160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onthaal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vergaderzaal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kopieerlokaal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toiletten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kantoor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keuken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refter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10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737360" y="2033016"/>
            <a:ext cx="912388" cy="130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het onthaal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722900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vergaderzaal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114251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kopieerlokaal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4" descr="toi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505602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toiletten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2722900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kantoor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4114251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keuken</a:t>
            </a:r>
            <a:endParaRPr lang="en-US" sz="1100" dirty="0"/>
          </a:p>
        </p:txBody>
      </p:sp>
      <p:sp>
        <p:nvSpPr>
          <p:cNvPr id="49" name="Shape 39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51" name="Shape 41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7" descr="fork and knife with pla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54" name="Text 43"/>
          <p:cNvSpPr txBox="1"/>
          <p:nvPr/>
        </p:nvSpPr>
        <p:spPr>
          <a:xfrm>
            <a:off x="5505602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refter</a:t>
            </a:r>
            <a:endParaRPr lang="en-US" sz="1100" dirty="0"/>
          </a:p>
        </p:txBody>
      </p:sp>
      <p:sp>
        <p:nvSpPr>
          <p:cNvPr id="55" name="Shape 44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57" name="Shape 46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8" name="Shape 47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4" name="Shape 53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65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67" name="Text 55"/>
          <p:cNvSpPr txBox="1"/>
          <p:nvPr/>
        </p:nvSpPr>
        <p:spPr>
          <a:xfrm>
            <a:off x="6860377" y="5852160"/>
            <a:ext cx="637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lift</a:t>
            </a:r>
            <a:endParaRPr lang="en-US" sz="1000" dirty="0"/>
          </a:p>
        </p:txBody>
      </p:sp>
      <p:sp>
        <p:nvSpPr>
          <p:cNvPr id="68" name="Shape 56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7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70" name="Shape 58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Shape 59"/>
          <p:cNvSpPr/>
          <p:nvPr/>
        </p:nvSpPr>
        <p:spPr>
          <a:xfrm>
            <a:off x="7909560" y="21701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0"/>
          <p:cNvSpPr txBox="1"/>
          <p:nvPr/>
        </p:nvSpPr>
        <p:spPr>
          <a:xfrm>
            <a:off x="7909560" y="2170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3" name="Text 61"/>
          <p:cNvSpPr txBox="1"/>
          <p:nvPr/>
        </p:nvSpPr>
        <p:spPr>
          <a:xfrm>
            <a:off x="8366760" y="21153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onthaal</a:t>
            </a:r>
            <a:endParaRPr lang="en-US" sz="1700" dirty="0"/>
          </a:p>
        </p:txBody>
      </p:sp>
      <p:sp>
        <p:nvSpPr>
          <p:cNvPr id="74" name="Shape 62"/>
          <p:cNvSpPr/>
          <p:nvPr/>
        </p:nvSpPr>
        <p:spPr>
          <a:xfrm>
            <a:off x="7909560" y="27188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3"/>
          <p:cNvSpPr txBox="1"/>
          <p:nvPr/>
        </p:nvSpPr>
        <p:spPr>
          <a:xfrm>
            <a:off x="7909560" y="2718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76" name="Text 64"/>
          <p:cNvSpPr txBox="1"/>
          <p:nvPr/>
        </p:nvSpPr>
        <p:spPr>
          <a:xfrm>
            <a:off x="8366760" y="26639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77" name="Shape 65"/>
          <p:cNvSpPr/>
          <p:nvPr/>
        </p:nvSpPr>
        <p:spPr>
          <a:xfrm>
            <a:off x="7909560" y="32674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6"/>
          <p:cNvSpPr txBox="1"/>
          <p:nvPr/>
        </p:nvSpPr>
        <p:spPr>
          <a:xfrm>
            <a:off x="7909560" y="3267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79" name="Text 67"/>
          <p:cNvSpPr txBox="1"/>
          <p:nvPr/>
        </p:nvSpPr>
        <p:spPr>
          <a:xfrm>
            <a:off x="8366760" y="3212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kopieerlokaal</a:t>
            </a:r>
            <a:endParaRPr lang="en-US" sz="1700" dirty="0"/>
          </a:p>
        </p:txBody>
      </p:sp>
      <p:sp>
        <p:nvSpPr>
          <p:cNvPr id="80" name="Shape 68"/>
          <p:cNvSpPr/>
          <p:nvPr/>
        </p:nvSpPr>
        <p:spPr>
          <a:xfrm>
            <a:off x="7909560" y="381609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69"/>
          <p:cNvSpPr txBox="1"/>
          <p:nvPr/>
        </p:nvSpPr>
        <p:spPr>
          <a:xfrm>
            <a:off x="7909560" y="3816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82" name="Text 70"/>
          <p:cNvSpPr txBox="1"/>
          <p:nvPr/>
        </p:nvSpPr>
        <p:spPr>
          <a:xfrm>
            <a:off x="8366760" y="37612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toiletten</a:t>
            </a:r>
            <a:endParaRPr lang="en-US" sz="1700" dirty="0"/>
          </a:p>
        </p:txBody>
      </p:sp>
      <p:sp>
        <p:nvSpPr>
          <p:cNvPr id="83" name="Shape 71"/>
          <p:cNvSpPr/>
          <p:nvPr/>
        </p:nvSpPr>
        <p:spPr>
          <a:xfrm>
            <a:off x="7909560" y="436473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2"/>
          <p:cNvSpPr txBox="1"/>
          <p:nvPr/>
        </p:nvSpPr>
        <p:spPr>
          <a:xfrm>
            <a:off x="7909560" y="4364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85" name="Text 73"/>
          <p:cNvSpPr txBox="1"/>
          <p:nvPr/>
        </p:nvSpPr>
        <p:spPr>
          <a:xfrm>
            <a:off x="8366760" y="4309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kantoor</a:t>
            </a:r>
            <a:endParaRPr lang="en-US" sz="1700" dirty="0"/>
          </a:p>
        </p:txBody>
      </p:sp>
      <p:sp>
        <p:nvSpPr>
          <p:cNvPr id="86" name="Shape 74"/>
          <p:cNvSpPr/>
          <p:nvPr/>
        </p:nvSpPr>
        <p:spPr>
          <a:xfrm>
            <a:off x="7909560" y="49133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5"/>
          <p:cNvSpPr txBox="1"/>
          <p:nvPr/>
        </p:nvSpPr>
        <p:spPr>
          <a:xfrm>
            <a:off x="7909560" y="4913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88" name="Text 76"/>
          <p:cNvSpPr txBox="1"/>
          <p:nvPr/>
        </p:nvSpPr>
        <p:spPr>
          <a:xfrm>
            <a:off x="8366760" y="48585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keuken</a:t>
            </a:r>
            <a:endParaRPr lang="en-US" sz="1700" dirty="0"/>
          </a:p>
        </p:txBody>
      </p:sp>
      <p:sp>
        <p:nvSpPr>
          <p:cNvPr id="89" name="Shape 77"/>
          <p:cNvSpPr/>
          <p:nvPr/>
        </p:nvSpPr>
        <p:spPr>
          <a:xfrm>
            <a:off x="7909560" y="54620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8"/>
          <p:cNvSpPr txBox="1"/>
          <p:nvPr/>
        </p:nvSpPr>
        <p:spPr>
          <a:xfrm>
            <a:off x="7909560" y="5462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91" name="Text 79"/>
          <p:cNvSpPr txBox="1"/>
          <p:nvPr/>
        </p:nvSpPr>
        <p:spPr>
          <a:xfrm>
            <a:off x="8366760" y="54071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refter</a:t>
            </a:r>
            <a:endParaRPr lang="en-US" sz="1700" dirty="0"/>
          </a:p>
        </p:txBody>
      </p:sp>
      <p:sp>
        <p:nvSpPr>
          <p:cNvPr id="92" name="Shape 80"/>
          <p:cNvSpPr/>
          <p:nvPr/>
        </p:nvSpPr>
        <p:spPr>
          <a:xfrm>
            <a:off x="7909560" y="60106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1"/>
          <p:cNvSpPr txBox="1"/>
          <p:nvPr/>
        </p:nvSpPr>
        <p:spPr>
          <a:xfrm>
            <a:off x="7909560" y="6010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94" name="Text 82"/>
          <p:cNvSpPr txBox="1"/>
          <p:nvPr/>
        </p:nvSpPr>
        <p:spPr>
          <a:xfrm>
            <a:off x="8366760" y="5955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rot="-120000">
            <a:off x="731520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contract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 rot="60000">
            <a:off x="3550158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550158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factuur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120000">
            <a:off x="6368796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68796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scherm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-60000">
            <a:off x="9187434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87434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 rot="-120000">
            <a:off x="731520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dossier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 rot="60000">
            <a:off x="3550158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50158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printer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 rot="120000">
            <a:off x="6368796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68796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verslag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 rot="-60000">
            <a:off x="9187434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187434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offerte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 rot="-120000">
            <a:off x="731520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formulier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 rot="60000">
            <a:off x="3550158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50158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personeelsdienst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rot="120000">
            <a:off x="6368796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68796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kopieerlokaal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 rot="-60000">
            <a:off x="9187434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187434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vergaderzaal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35" name="Shape 31"/>
          <p:cNvSpPr/>
          <p:nvPr/>
        </p:nvSpPr>
        <p:spPr>
          <a:xfrm>
            <a:off x="6227064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227064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227064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factuur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vergadering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printer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offerte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personeelsdienst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342900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27064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27064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27064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contract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10742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scherm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50138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dossier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910742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verslag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50138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formulier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910742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kopieerlokaal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dirty="0">
                <a:solidFill>
                  <a:schemeClr val="tx1"/>
                </a:solidFill>
              </a:rPr>
              <a:t>personeel 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dirty="0">
                <a:solidFill>
                  <a:schemeClr val="tx1"/>
                </a:solidFill>
              </a:rPr>
              <a:t>werkgever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dirty="0">
                <a:solidFill>
                  <a:schemeClr val="tx1"/>
                </a:solidFill>
              </a:rPr>
              <a:t>maken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dirty="0">
                <a:solidFill>
                  <a:schemeClr val="tx1"/>
                </a:solidFill>
              </a:rPr>
              <a:t>formatie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strike="sngStrike" dirty="0">
                <a:solidFill>
                  <a:schemeClr val="accent6"/>
                </a:solidFill>
              </a:rPr>
              <a:t>personeel dienst</a:t>
            </a:r>
            <a:r>
              <a:rPr lang="en-US" sz="1800" b="1" i="1" dirty="0">
                <a:solidFill>
                  <a:schemeClr val="accent3"/>
                </a:solidFill>
              </a:rPr>
              <a:t> personeelsdienst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strike="sngStrike" dirty="0">
                <a:solidFill>
                  <a:schemeClr val="accent6"/>
                </a:solidFill>
              </a:rPr>
              <a:t>de</a:t>
            </a:r>
            <a:r>
              <a:rPr lang="en-US" sz="1800" b="1" i="1" dirty="0">
                <a:solidFill>
                  <a:schemeClr val="accent3"/>
                </a:solidFill>
              </a:rPr>
              <a:t> het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strike="sngStrike" dirty="0">
                <a:solidFill>
                  <a:schemeClr val="accent6"/>
                </a:solidFill>
              </a:rPr>
              <a:t>werkgever</a:t>
            </a:r>
            <a:r>
              <a:rPr lang="en-US" sz="1800" b="1" i="1" dirty="0">
                <a:solidFill>
                  <a:schemeClr val="accent3"/>
                </a:solidFill>
              </a:rPr>
              <a:t> werknemer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strike="sngStrike" dirty="0">
                <a:solidFill>
                  <a:schemeClr val="accent6"/>
                </a:solidFill>
              </a:rPr>
              <a:t>maken</a:t>
            </a:r>
            <a:r>
              <a:rPr lang="en-US" sz="1800" b="1" i="1" dirty="0">
                <a:solidFill>
                  <a:schemeClr val="accent3"/>
                </a:solidFill>
              </a:rPr>
              <a:t> houden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strike="sngStrike" dirty="0">
                <a:solidFill>
                  <a:schemeClr val="accent6"/>
                </a:solidFill>
              </a:rPr>
              <a:t>formatie</a:t>
            </a:r>
            <a:r>
              <a:rPr lang="en-US" sz="1800" b="1" i="1" dirty="0">
                <a:solidFill>
                  <a:schemeClr val="accent3"/>
                </a:solidFill>
              </a:rPr>
              <a:t> opleiding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aan het onthaal</a:t>
            </a:r>
            <a:r>
              <a:rPr lang="en-US" sz="1400" i="1" dirty="0">
                <a:solidFill>
                  <a:schemeClr val="accent5"/>
                </a:solidFill>
              </a:rPr>
              <a:t> est correct (BE). Composé en un mot, avec le </a:t>
            </a:r>
            <a:r>
              <a:rPr lang="en-US" sz="1400" i="1" dirty="0">
                <a:solidFill>
                  <a:schemeClr val="accent5"/>
                </a:solidFill>
              </a:rPr>
              <a:t>-s-</a:t>
            </a:r>
            <a:r>
              <a:rPr lang="en-US" sz="1400" i="1" dirty="0">
                <a:solidFill>
                  <a:schemeClr val="accent5"/>
                </a:solidFill>
              </a:rPr>
              <a:t> (M14). </a:t>
            </a:r>
            <a:r>
              <a:rPr lang="en-US" sz="1400" i="1" dirty="0">
                <a:solidFill>
                  <a:schemeClr val="accent5"/>
                </a:solidFill>
              </a:rPr>
              <a:t>maken</a:t>
            </a:r>
            <a:r>
              <a:rPr lang="en-US" sz="1400" i="1" dirty="0">
                <a:solidFill>
                  <a:schemeClr val="accent5"/>
                </a:solidFill>
              </a:rPr>
              <a:t> → </a:t>
            </a:r>
            <a:r>
              <a:rPr lang="en-US" sz="1400" i="1" dirty="0">
                <a:solidFill>
                  <a:schemeClr val="accent5"/>
                </a:solidFill>
              </a:rPr>
              <a:t>houden</a:t>
            </a:r>
            <a:r>
              <a:rPr lang="en-US" sz="1400" i="1" dirty="0">
                <a:solidFill>
                  <a:schemeClr val="accent5"/>
                </a:solidFill>
              </a:rPr>
              <a:t> ou </a:t>
            </a:r>
            <a:r>
              <a:rPr lang="en-US" sz="1400" i="1" dirty="0">
                <a:solidFill>
                  <a:schemeClr val="accent5"/>
                </a:solidFill>
              </a:rPr>
              <a:t>hebben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i="1" dirty="0">
                <a:solidFill>
                  <a:schemeClr val="accent5"/>
                </a:solidFill>
              </a:rPr>
              <a:t>……………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b="1" i="1" dirty="0">
                <a:solidFill>
                  <a:schemeClr val="accent3"/>
                </a:solidFill>
              </a:rPr>
              <a:t>houden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b="1" i="1" dirty="0">
                <a:solidFill>
                  <a:schemeClr val="accent3"/>
                </a:solidFill>
              </a:rPr>
              <a:t>stellen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b="1" i="1" dirty="0">
                <a:solidFill>
                  <a:schemeClr val="accent3"/>
                </a:solidFill>
              </a:rPr>
              <a:t>geeft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b="1" i="1" dirty="0">
                <a:solidFill>
                  <a:schemeClr val="accent3"/>
                </a:solidFill>
              </a:rPr>
              <a:t>maakt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b="1" i="1" dirty="0">
                <a:solidFill>
                  <a:schemeClr val="accent3"/>
                </a:solidFill>
              </a:rPr>
              <a:t>volgt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b="1" i="1" dirty="0">
                <a:solidFill>
                  <a:schemeClr val="accent3"/>
                </a:solidFill>
              </a:rPr>
              <a:t>invullen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b="1" i="1" dirty="0">
                <a:solidFill>
                  <a:schemeClr val="accent3"/>
                </a:solidFill>
              </a:rPr>
              <a:t>op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2 : </a:t>
            </a:r>
            <a:r>
              <a:rPr lang="en-US" sz="1500" i="1" dirty="0">
                <a:solidFill>
                  <a:schemeClr val="accent5"/>
                </a:solidFill>
              </a:rPr>
              <a:t>hebben</a:t>
            </a:r>
            <a:r>
              <a:rPr lang="en-US" sz="1500" i="1" dirty="0">
                <a:solidFill>
                  <a:schemeClr val="accent5"/>
                </a:solidFill>
              </a:rPr>
              <a:t> est aussi correct · n° 8 : </a:t>
            </a:r>
            <a:r>
              <a:rPr lang="en-US" sz="1500" i="1" dirty="0">
                <a:solidFill>
                  <a:schemeClr val="accent5"/>
                </a:solidFill>
              </a:rPr>
              <a:t>contact </a:t>
            </a:r>
            <a:r>
              <a:rPr lang="en-US" sz="1500" b="1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nemen</a:t>
            </a:r>
            <a:r>
              <a:rPr lang="en-US" sz="1500" i="1" dirty="0">
                <a:solidFill>
                  <a:schemeClr val="accent5"/>
                </a:solidFill>
              </a:rPr>
              <a:t> (M11)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printer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papier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afdrukken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machine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441448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41448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87168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vergaderzaal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441448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532888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vergaderen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tafel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kamer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334256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34256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79976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boekhouder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334256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425696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geld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facturen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rekenen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7064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27064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72784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factuur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227064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318504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betalen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klant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euro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48640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48640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refter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eten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middag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koffie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41448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441448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487168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badge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2441448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2532888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deur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kaart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naam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4334256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334256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79976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verlof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4334256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4425696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vakantie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vrij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dagen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227064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227064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72784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stagiair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6227064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6318504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student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jong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leren</a:t>
            </a:r>
            <a:endParaRPr lang="en-US" sz="1400" dirty="0"/>
          </a:p>
        </p:txBody>
      </p:sp>
      <p:pic>
        <p:nvPicPr>
          <p:cNvPr id="46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554480"/>
            <a:ext cx="731520" cy="73152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9144000" y="1554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800" dirty="0"/>
          </a:p>
        </p:txBody>
      </p:sp>
      <p:sp>
        <p:nvSpPr>
          <p:cNvPr id="48" name="Text 44"/>
          <p:cNvSpPr txBox="1"/>
          <p:nvPr/>
        </p:nvSpPr>
        <p:spPr>
          <a:xfrm>
            <a:off x="8321040" y="242316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Tirez une carte. Faites deviner le mot </a:t>
            </a:r>
            <a:r>
              <a:rPr lang="en-US" sz="1400" b="1" dirty="0">
                <a:solidFill>
                  <a:schemeClr val="tx1"/>
                </a:solidFill>
              </a:rPr>
              <a:t>sans</a:t>
            </a:r>
            <a:r>
              <a:rPr lang="en-US" sz="1400" dirty="0">
                <a:solidFill>
                  <a:schemeClr val="tx1"/>
                </a:solidFill>
              </a:rPr>
              <a:t> dire les mots interdits.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Aides : </a:t>
            </a:r>
            <a:r>
              <a:rPr lang="en-US" sz="1400" i="1" dirty="0">
                <a:solidFill>
                  <a:schemeClr val="tx1"/>
                </a:solidFill>
              </a:rPr>
              <a:t>Het is een persoon </a:t>
            </a:r>
            <a:r>
              <a:rPr lang="en-US" sz="1400" b="1" i="1" dirty="0">
                <a:solidFill>
                  <a:schemeClr val="tx1"/>
                </a:solidFill>
              </a:rPr>
              <a:t>die</a:t>
            </a:r>
            <a:r>
              <a:rPr lang="en-US" sz="1400" i="1" dirty="0">
                <a:solidFill>
                  <a:schemeClr val="tx1"/>
                </a:solidFill>
              </a:rPr>
              <a:t>… · Het is een ding </a:t>
            </a:r>
            <a:r>
              <a:rPr lang="en-US" sz="1400" b="1" i="1" dirty="0">
                <a:solidFill>
                  <a:schemeClr val="tx1"/>
                </a:solidFill>
              </a:rPr>
              <a:t>dat</a:t>
            </a:r>
            <a:r>
              <a:rPr lang="en-US" sz="1400" i="1" dirty="0">
                <a:solidFill>
                  <a:schemeClr val="tx1"/>
                </a:solidFill>
              </a:rPr>
              <a:t> / </a:t>
            </a:r>
            <a:r>
              <a:rPr lang="en-US" sz="1400" b="1" i="1" dirty="0">
                <a:solidFill>
                  <a:schemeClr val="tx1"/>
                </a:solidFill>
              </a:rPr>
              <a:t>waarmee</a:t>
            </a:r>
            <a:r>
              <a:rPr lang="en-US" sz="1400" i="1" dirty="0">
                <a:solidFill>
                  <a:schemeClr val="tx1"/>
                </a:solidFill>
              </a:rPr>
              <a:t>… · Het is een plaats </a:t>
            </a:r>
            <a:r>
              <a:rPr lang="en-US" sz="1400" b="1" i="1" dirty="0">
                <a:solidFill>
                  <a:schemeClr val="tx1"/>
                </a:solidFill>
              </a:rPr>
              <a:t>waar</a:t>
            </a:r>
            <a:r>
              <a:rPr lang="en-US" sz="1400" i="1" dirty="0">
                <a:solidFill>
                  <a:schemeClr val="tx1"/>
                </a:solidFill>
              </a:rPr>
              <a:t>…</a:t>
            </a:r>
            <a:r>
              <a:rPr lang="en-US" sz="1400" dirty="0">
                <a:solidFill>
                  <a:schemeClr val="tx1"/>
                </a:solidFill>
              </a:rPr>
              <a:t> (M22, M23)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1 minute par carte : 1 point par mot deviné, −1 si un mot interdit est prononcé.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visite guidée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 chez Peeters &amp; Co. Sofie lui fait visiter le rez-de-chaussée et présente les services.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Sofie</a:t>
            </a:r>
            <a:r>
              <a:rPr lang="en-US" sz="1700" dirty="0">
                <a:solidFill>
                  <a:schemeClr val="tx1"/>
                </a:solidFill>
              </a:rPr>
              <a:t> (RH) : montrez au moins 4 pièces et expliquez qui fait quoi dans 2 services.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Lotte</a:t>
            </a:r>
            <a:r>
              <a:rPr lang="en-US" sz="1700" dirty="0">
                <a:solidFill>
                  <a:schemeClr val="tx1"/>
                </a:solidFill>
              </a:rPr>
              <a:t> (stagiaire) : posez des questions sur les pièces, les collègues, les horaires.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de vergaderzaal. · Hier is… · De boekhouding is op de eerste verdieping. · Wie werkt op…? · Waar kan ik iets afdrukken? · Om hoe laat is de pauze? · Waar is de refter?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875788"/>
            <a:ext cx="507492" cy="1485900"/>
          </a:xfrm>
          <a:prstGeom prst="roundRect">
            <a:avLst>
              <a:gd name="adj" fmla="val 7207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8165592" y="3419856"/>
            <a:ext cx="5074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parking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8782812" y="2075688"/>
            <a:ext cx="276606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53042" y="2944368"/>
            <a:ext cx="2295830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916897" y="2944368"/>
            <a:ext cx="663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gang</a:t>
            </a:r>
            <a:endParaRPr lang="en-US" sz="600" dirty="0"/>
          </a:p>
        </p:txBody>
      </p:sp>
      <p:sp>
        <p:nvSpPr>
          <p:cNvPr id="27" name="Shape 24"/>
          <p:cNvSpPr/>
          <p:nvPr/>
        </p:nvSpPr>
        <p:spPr>
          <a:xfrm>
            <a:off x="8782812" y="2075688"/>
            <a:ext cx="470230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867453" y="2642616"/>
            <a:ext cx="103451" cy="1152144"/>
          </a:xfrm>
          <a:prstGeom prst="roundRect">
            <a:avLst>
              <a:gd name="adj" fmla="val 35356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819388" y="2130552"/>
            <a:ext cx="3970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accent1"/>
                </a:solidFill>
              </a:rPr>
              <a:t>onthaal</a:t>
            </a:r>
            <a:endParaRPr lang="en-US" sz="600" dirty="0"/>
          </a:p>
        </p:txBody>
      </p:sp>
      <p:sp>
        <p:nvSpPr>
          <p:cNvPr id="30" name="Shape 27"/>
          <p:cNvSpPr/>
          <p:nvPr/>
        </p:nvSpPr>
        <p:spPr>
          <a:xfrm>
            <a:off x="8737092" y="3026664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253042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485391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289618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vergaderzaal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9916897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49246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953473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kopieerlokaal</a:t>
            </a:r>
            <a:endParaRPr lang="en-US" sz="700" dirty="0"/>
          </a:p>
        </p:txBody>
      </p:sp>
      <p:sp>
        <p:nvSpPr>
          <p:cNvPr id="37" name="Shape 34"/>
          <p:cNvSpPr/>
          <p:nvPr/>
        </p:nvSpPr>
        <p:spPr>
          <a:xfrm>
            <a:off x="10580751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813100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617327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toiletten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9253042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485391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289618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kantoor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9916897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49246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953473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keuken</a:t>
            </a:r>
            <a:endParaRPr lang="en-US" sz="700" dirty="0"/>
          </a:p>
        </p:txBody>
      </p:sp>
      <p:sp>
        <p:nvSpPr>
          <p:cNvPr id="46" name="Shape 43"/>
          <p:cNvSpPr/>
          <p:nvPr/>
        </p:nvSpPr>
        <p:spPr>
          <a:xfrm>
            <a:off x="10580751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813100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617327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refter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11244605" y="2075688"/>
            <a:ext cx="304267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290325" y="2238974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290325" y="2402259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290325" y="2565545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290325" y="2728831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1290325" y="2892117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290325" y="3055402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244605" y="3218688"/>
            <a:ext cx="304267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1244605" y="2834640"/>
            <a:ext cx="3042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trap</a:t>
            </a:r>
            <a:endParaRPr lang="en-US" sz="600" dirty="0"/>
          </a:p>
        </p:txBody>
      </p:sp>
      <p:sp>
        <p:nvSpPr>
          <p:cNvPr id="58" name="Text 55"/>
          <p:cNvSpPr txBox="1"/>
          <p:nvPr/>
        </p:nvSpPr>
        <p:spPr>
          <a:xfrm>
            <a:off x="11244605" y="3950208"/>
            <a:ext cx="3042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lift</a:t>
            </a:r>
            <a:endParaRPr lang="en-US" sz="600" dirty="0"/>
          </a:p>
        </p:txBody>
      </p:sp>
      <p:sp>
        <p:nvSpPr>
          <p:cNvPr id="59" name="Text 56"/>
          <p:cNvSpPr txBox="1"/>
          <p:nvPr/>
        </p:nvSpPr>
        <p:spPr>
          <a:xfrm>
            <a:off x="8211312" y="44074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Eerste verdieping: de directie · de boekhouding</a:t>
            </a:r>
            <a:endParaRPr lang="en-US" sz="1100" dirty="0"/>
          </a:p>
        </p:txBody>
      </p:sp>
      <p:sp>
        <p:nvSpPr>
          <p:cNvPr id="60" name="Text 57"/>
          <p:cNvSpPr txBox="1"/>
          <p:nvPr/>
        </p:nvSpPr>
        <p:spPr>
          <a:xfrm>
            <a:off x="8211312" y="4818888"/>
            <a:ext cx="32918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Diensten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boekhouding · personeelsdienst · verkoop · aankoop · marketing · IT-dienst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l’article : « le service du personnel » · « la salle de réunion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Mag ik een vraag ……?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werkgever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werknemer</a:t>
            </a:r>
            <a:r>
              <a:rPr lang="en-US" sz="2000" dirty="0">
                <a:solidFill>
                  <a:schemeClr val="tx1"/>
                </a:solidFill>
              </a:rPr>
              <a:t> ? « Karim est employé chez Peeters &amp; Co.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Nommer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 repérer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Parler du travail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ongArrowAlt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keuken in!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stap in de keuken · Ik stap de keuken in.</a:t>
            </a:r>
            <a:r>
              <a:rPr lang="en-US" sz="1800" dirty="0">
                <a:solidFill>
                  <a:schemeClr val="bg1"/>
                </a:solidFill>
              </a:rPr>
              <a:t> Quelle différence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30 — Het bedrijf — L’entreprise et son vocabulaire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2026-10-06T08:28:20Z</dcterms:created>
  <dcterms:modified xsi:type="dcterms:W3CDTF">2026-10-06T08:28:20Z</dcterms:modified>
</cp:coreProperties>
</file>