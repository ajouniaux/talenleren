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0b0ff1d-2eb5-32ed-ae86-a39e967fd46e}">
          <p14:sldIdLst>
            <p14:sldId id="256"/>
          </p14:sldIdLst>
        </p14:section>
        <p14:section name="Découvrir" id="{65950ce8-8f9f-e848-5627-4999620932f7}">
          <p14:sldIdLst>
            <p14:sldId id="257"/>
            <p14:sldId id="258"/>
            <p14:sldId id="259"/>
          </p14:sldIdLst>
        </p14:section>
        <p14:section name="Te ou pas te ?" id="{c9cb7440-571e-d324-6f5d-b5e55460d91e}">
          <p14:sldIdLst>
            <p14:sldId id="260"/>
            <p14:sldId id="261"/>
            <p14:sldId id="262"/>
          </p14:sldIdLst>
        </p14:section>
        <p14:section name="Om … te" id="{0420780a-01e6-21f1-d1cc-ad7fc85847e8}">
          <p14:sldIdLst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f96903ea-7760-c629-1196-debf8121725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Clôture" id="{84cd5bbd-6f17-5730-9fe6-0d4fb6e94e17}">
          <p14:sldIdLst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te et la pince om … te.
Demandez : « Comment dire j'appelle pour prendre rendez-vous ? » Laissez proposer voor : c'est le calque le plus fréquent (diapo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Présenter les 3 objectifs.
L'infinitif avec te est partout à l'oral et dans les e-mails (Ik probeer je te bellen. · Vergeet niet te antwoorden.).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émerger le problème à partir du français.
Réponses : Ik wil komen (rien) · Ik probeer te komen · Ik bel om een afspraak te maken. Notez au tableau les trois solutions : rien / te / om … 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Trier les verbes : sans te / avec te (schéma T1).
Cas limites (à ne pas présenter d'emblée) : durven (avec ou sans te : Ik durf het niet (te) zeggen), helpen et leren (souvent sans te : Ik help je verhuizen · Ik leer zwemmen), hoeven (avec te, dans une phrase négative).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famille « sans te ».
Erreur fréquente : ~~Ik wil te komen~~, par analogie avec proberen te. Faites répéter en chœur : Ik wil komen · Ik probeer te komen.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famille « avec te » et le lien avec « de / à ».
Le parallèle « de / à » → te aide, mais n'est pas une règle absolue (j'espère venir → Ik hoop te komen). Autres verbes fréquents avec te : besluiten (décider de), weigeren (refuser de), proberen, vragen (demander de : Hij vraagt me te wachten), van plan zijn om … 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zitten / staan / liggen / lopen te et niet hoeven te.
Rappel du complément Le double infinitif : au passé, zitten te lezen devient heb zitten lezen (sans te). Aux Pays-Bas, Je moet niet komen peut sonner comme une interdiction ; Je hoeft niet te komen est clair partout.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but avec om … te (schéma T2).
om … te répond à Waarom? ou Waarvoor? Faites poser la question en chaîne : Waarom leer je Nederlands? — Om … La réponse courte Om te werken. est correcte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om … te après un nom (zin, tijd) ou un adjectif (leuk, moeilijk).
Après un nom ou un adjectif, om est la règle ; après beginnen, hoeven, zitten te…, seulement te ; avec proberen, besluiten, vergeten, beloven, vragen, om est facultatif. Avec besluiten, vergeten, vragen, om est facultatif.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la pince : place des compléments, du verbe séparable et de niet (schéma T3).
Lien avec M11 et le complément sur les particules : op te bellen, af te maken, in te vullen. Faites dicter des pinces de plus en plus longues (« le jeu de l'accordéon ») : om te bellen → om de klant te bellen → om morgen de klant op te bellen.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trois autres pinces : zonder, in plaats van, door.
Quand la pince est en tête de phrase, le verbe principal suit immédiatement (inversion) : In plaats van te werken, zit hij… · Door veel te lezen, leer je… door … te traduit « en + participe » seulement pour le moyen ; pour la simultanéité : Terwijl hij wandelt, belt hij. (en marchant, il téléphone)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 calque « pour » = voor devant un verbe.
Test rapide : « pour » + un verbe → om … te. Wat moet ik doen om …? (que dois-je faire pour… ?) est une formule très utile au guichet. Ik kom je helpen (avec komen, sans te) = je viens t'aider.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Mettre au passé composé une phrase avec te ou om … te.
Ordre : Ik heb geprobeerd je te bellen (le participe d'abord, puis le groupe avec te). À l'oral, on entend aussi Ik heb je proberen te bellen (correct).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Invitez à photographier la diapo.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te et rien.
Ø : modaux, gaan, laten → pas de te. N° 4 : te sluiten, mais dicht te doen (séparable).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te et rien.
Ø : modaux, gaan, laten → pas de te. N° 4 : te sluiten, mais dicht te doen (séparable).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but avec om … te, y compris avec un verbe séparable.
N° 3 : afhalen est séparable → af te halen. N° 5 : de fitness (BE) = la salle de sport. Prolongez : chaque apprenant·e dit où il·elle va cette semaine, et pourquoi.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Exprimer un but avec om … te, y compris avec un verbe séparable.
N° 3 : afhalen est séparable → af te halen. N° 5 : de fitness (BE) = la salle de sport. Prolongez : chaque apprenant·e dit où il·elle va cette semaine, et pourquoi.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dans l'ordre les éléments d'une pince.
Faites-le d'abord avec des étiquettes en papier, par deux. N° 3 : opruimen est séparable → op te ruimen. N° 4 : deux te (te laat = trop tard ; te komen = infinitif).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dans l'ordre les éléments d'une pince.
Faites-le d'abord avec des étiquettes en papier, par deux. N° 3 : opruimen est séparable → op te ruimen. N° 4 : deux te (te laat = trop tard ; te komen = infinitif).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dans un e-mail professionnel.
Leurres corrects : of je morgen tijd hebt (question indirecte, M9) et Je hoeft niet meteen te antwoorden. Faites classer les erreurs : calque « pour » (1), te oublié (2, 5), te en trop (3), te mal placé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dans un e-mail professionnel.
Leurres corrects : of je morgen tijd hebt (question indirecte, M9) et Je hoeft niet meteen te antwoorden. Faites classer les erreurs : calque « pour » (1), te oublié (2, 5), te en trop (3), te mal placé (4).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librement des phrases avec ou sans te, de façon ludique.
Attention au séparable : vroeger op te staan (mais minder op mijn gsm te zitten : ici op est une préposition). Avec Ik wil…, pas de te : c'est le piège du jeu.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un entretien d'embauche avec au moins 6 infinitifs avec te ou om … te.
Les tâches de l'offre sont des verbes séparables : bonne occasion de faire dire om offertes op te maken, om klanten op te bellen. Comptez les infinitifs avec te de B, puis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probeer te komen. · Ik wil komen.
2. Ik ga naar de bank om geld af te halen. (aussi : om geld te halen ; NL : om geld op te nemen)
3. om je morgen op te bellen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· A2–B1 · te et om … te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· A2–B1 · te et om … te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image" Target="../media/image-26-9.png"/><Relationship Id="rId10" Type="http://schemas.openxmlformats.org/officeDocument/2006/relationships/image" Target="../media/image-26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741371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COMPLÉMENT · A2–B1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Ik bel om een afspraak te maken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L’infinitif avec te et om … te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 ou pas te ? · la pince om … 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188720"/>
            <a:ext cx="5440680" cy="356616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telephone recei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0" y="1325880"/>
            <a:ext cx="1005840" cy="1005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583680" y="2606040"/>
            <a:ext cx="977311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0" y="2606040"/>
            <a:ext cx="97731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 bel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643287" y="2606040"/>
            <a:ext cx="656495" cy="530352"/>
          </a:xfrm>
          <a:prstGeom prst="roundRect">
            <a:avLst>
              <a:gd name="adj" fmla="val 17241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43287" y="2606040"/>
            <a:ext cx="656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om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8382078" y="2606040"/>
            <a:ext cx="1662013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82078" y="2606040"/>
            <a:ext cx="166201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een afspraak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126387" y="2606040"/>
            <a:ext cx="656495" cy="530352"/>
          </a:xfrm>
          <a:prstGeom prst="roundRect">
            <a:avLst>
              <a:gd name="adj" fmla="val 1724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0126387" y="2606040"/>
            <a:ext cx="6564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0865179" y="2606040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865179" y="2606040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maken.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971534" y="3172968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971534" y="3392424"/>
            <a:ext cx="3477514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11449049" y="3172968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71534" y="3410712"/>
            <a:ext cx="347751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la pince om … te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Trier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sais quand mettre te, et quand ne pas le mettre.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Bulls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Exprimer un but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pourquoi avec om … te : Ik bel om …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Construire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tout dans la pince, même un verbe séparable.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français dit « de », « à », « pour »… Le néerlandais dit te, om … te, ou rien.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ou sans 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822960" cy="8229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691640" y="196596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819656" y="196596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947672" y="196596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691640" y="196596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194560" y="160020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Je veux venir.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440680" y="150876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13" name="Shape 9"/>
          <p:cNvSpPr/>
          <p:nvPr/>
        </p:nvSpPr>
        <p:spPr>
          <a:xfrm>
            <a:off x="5943600" y="196596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943600" y="205045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943600" y="213494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943600" y="196596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46520" y="1837944"/>
            <a:ext cx="520842" cy="530352"/>
          </a:xfrm>
          <a:prstGeom prst="roundRect">
            <a:avLst>
              <a:gd name="adj" fmla="val 1755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6520" y="1837944"/>
            <a:ext cx="5208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022226" y="1837944"/>
            <a:ext cx="784306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22226" y="1837944"/>
            <a:ext cx="78430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wil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861397" y="183794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7861397" y="183794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8444945" y="183794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444945" y="183794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komen.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548640" y="28346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1" descr="crossed fing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822960" cy="822960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1691640" y="329184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819656" y="329184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947672" y="329184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1691640" y="32918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2194560" y="292608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J’essaie de venir.</a:t>
            </a:r>
            <a:endParaRPr lang="en-US" sz="1700" dirty="0"/>
          </a:p>
        </p:txBody>
      </p:sp>
      <p:sp>
        <p:nvSpPr>
          <p:cNvPr id="32" name="Text 27"/>
          <p:cNvSpPr txBox="1"/>
          <p:nvPr/>
        </p:nvSpPr>
        <p:spPr>
          <a:xfrm>
            <a:off x="5440680" y="283464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33" name="Shape 28"/>
          <p:cNvSpPr/>
          <p:nvPr/>
        </p:nvSpPr>
        <p:spPr>
          <a:xfrm>
            <a:off x="5943600" y="329184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5943600" y="337633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5943600" y="346082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5943600" y="329184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446520" y="3163824"/>
            <a:ext cx="520842" cy="530352"/>
          </a:xfrm>
          <a:prstGeom prst="roundRect">
            <a:avLst>
              <a:gd name="adj" fmla="val 1755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46520" y="3163824"/>
            <a:ext cx="5208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</a:t>
            </a:r>
            <a:endParaRPr lang="en-US" sz="1600" dirty="0"/>
          </a:p>
        </p:txBody>
      </p:sp>
      <p:sp>
        <p:nvSpPr>
          <p:cNvPr id="39" name="Shape 34"/>
          <p:cNvSpPr/>
          <p:nvPr/>
        </p:nvSpPr>
        <p:spPr>
          <a:xfrm>
            <a:off x="7022226" y="3163824"/>
            <a:ext cx="1295551" cy="530352"/>
          </a:xfrm>
          <a:prstGeom prst="roundRect">
            <a:avLst>
              <a:gd name="adj" fmla="val 1724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022226" y="3163824"/>
            <a:ext cx="129555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probeer</a:t>
            </a:r>
            <a:endParaRPr lang="en-US" sz="1600" dirty="0"/>
          </a:p>
        </p:txBody>
      </p:sp>
      <p:sp>
        <p:nvSpPr>
          <p:cNvPr id="41" name="Shape 36"/>
          <p:cNvSpPr/>
          <p:nvPr/>
        </p:nvSpPr>
        <p:spPr>
          <a:xfrm>
            <a:off x="8372641" y="316382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42" name="Text 37"/>
          <p:cNvSpPr txBox="1"/>
          <p:nvPr/>
        </p:nvSpPr>
        <p:spPr>
          <a:xfrm>
            <a:off x="8372641" y="316382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43" name="Shape 38"/>
          <p:cNvSpPr/>
          <p:nvPr/>
        </p:nvSpPr>
        <p:spPr>
          <a:xfrm>
            <a:off x="8956190" y="316382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956190" y="316382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komen.</a:t>
            </a:r>
            <a:endParaRPr lang="en-US" sz="1600" dirty="0"/>
          </a:p>
        </p:txBody>
      </p:sp>
      <p:sp>
        <p:nvSpPr>
          <p:cNvPr id="45" name="Shape 40"/>
          <p:cNvSpPr/>
          <p:nvPr/>
        </p:nvSpPr>
        <p:spPr>
          <a:xfrm>
            <a:off x="548640" y="416052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6" name="Image 2" descr="telephone receiv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822960" cy="822960"/>
          </a:xfrm>
          <a:prstGeom prst="rect">
            <a:avLst/>
          </a:prstGeom>
        </p:spPr>
      </p:pic>
      <p:sp>
        <p:nvSpPr>
          <p:cNvPr id="47" name="Shape 41"/>
          <p:cNvSpPr/>
          <p:nvPr/>
        </p:nvSpPr>
        <p:spPr>
          <a:xfrm>
            <a:off x="1691640" y="4617720"/>
            <a:ext cx="128016" cy="253472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1819656" y="4617720"/>
            <a:ext cx="128016" cy="25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1947672" y="4617720"/>
            <a:ext cx="128016" cy="253472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1691640" y="461772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2194560" y="4251960"/>
            <a:ext cx="3246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J’appelle pour prendre rendez-vous.</a:t>
            </a:r>
            <a:endParaRPr lang="en-US" sz="1700" dirty="0"/>
          </a:p>
        </p:txBody>
      </p:sp>
      <p:sp>
        <p:nvSpPr>
          <p:cNvPr id="52" name="Text 46"/>
          <p:cNvSpPr txBox="1"/>
          <p:nvPr/>
        </p:nvSpPr>
        <p:spPr>
          <a:xfrm>
            <a:off x="5440680" y="4160520"/>
            <a:ext cx="457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5"/>
                </a:solidFill>
              </a:rPr>
              <a:t>→</a:t>
            </a:r>
            <a:endParaRPr lang="en-US" sz="2400" dirty="0"/>
          </a:p>
        </p:txBody>
      </p:sp>
      <p:sp>
        <p:nvSpPr>
          <p:cNvPr id="53" name="Shape 47"/>
          <p:cNvSpPr/>
          <p:nvPr/>
        </p:nvSpPr>
        <p:spPr>
          <a:xfrm>
            <a:off x="5943600" y="4617720"/>
            <a:ext cx="384048" cy="84491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5943600" y="4702211"/>
            <a:ext cx="384048" cy="8449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49"/>
          <p:cNvSpPr/>
          <p:nvPr/>
        </p:nvSpPr>
        <p:spPr>
          <a:xfrm>
            <a:off x="5943600" y="4786701"/>
            <a:ext cx="384048" cy="84491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0"/>
          <p:cNvSpPr/>
          <p:nvPr/>
        </p:nvSpPr>
        <p:spPr>
          <a:xfrm>
            <a:off x="5943600" y="4617720"/>
            <a:ext cx="384048" cy="253472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7" name="Shape 51"/>
          <p:cNvSpPr/>
          <p:nvPr/>
        </p:nvSpPr>
        <p:spPr>
          <a:xfrm>
            <a:off x="6446520" y="4489704"/>
            <a:ext cx="977311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46520" y="4489704"/>
            <a:ext cx="977311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Ik bel</a:t>
            </a:r>
            <a:endParaRPr lang="en-US" sz="1600" dirty="0"/>
          </a:p>
        </p:txBody>
      </p:sp>
      <p:sp>
        <p:nvSpPr>
          <p:cNvPr id="59" name="Shape 53"/>
          <p:cNvSpPr/>
          <p:nvPr/>
        </p:nvSpPr>
        <p:spPr>
          <a:xfrm>
            <a:off x="7478695" y="448970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60" name="Text 54"/>
          <p:cNvSpPr txBox="1"/>
          <p:nvPr/>
        </p:nvSpPr>
        <p:spPr>
          <a:xfrm>
            <a:off x="7478695" y="448970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61" name="Shape 55"/>
          <p:cNvSpPr/>
          <p:nvPr/>
        </p:nvSpPr>
        <p:spPr>
          <a:xfrm>
            <a:off x="8062243" y="4489704"/>
            <a:ext cx="1662013" cy="530352"/>
          </a:xfrm>
          <a:prstGeom prst="roundRect">
            <a:avLst>
              <a:gd name="adj" fmla="val 17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8062243" y="4489704"/>
            <a:ext cx="1662013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een afspraak</a:t>
            </a:r>
            <a:endParaRPr lang="en-US" sz="1600" dirty="0"/>
          </a:p>
        </p:txBody>
      </p:sp>
      <p:sp>
        <p:nvSpPr>
          <p:cNvPr id="63" name="Shape 57"/>
          <p:cNvSpPr/>
          <p:nvPr/>
        </p:nvSpPr>
        <p:spPr>
          <a:xfrm>
            <a:off x="9779120" y="4489704"/>
            <a:ext cx="528684" cy="530352"/>
          </a:xfrm>
          <a:prstGeom prst="roundRect">
            <a:avLst>
              <a:gd name="adj" fmla="val 17296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64" name="Text 58"/>
          <p:cNvSpPr txBox="1"/>
          <p:nvPr/>
        </p:nvSpPr>
        <p:spPr>
          <a:xfrm>
            <a:off x="9779120" y="4489704"/>
            <a:ext cx="5286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?</a:t>
            </a:r>
            <a:endParaRPr lang="en-US" sz="1600" dirty="0"/>
          </a:p>
        </p:txBody>
      </p:sp>
      <p:sp>
        <p:nvSpPr>
          <p:cNvPr id="65" name="Shape 59"/>
          <p:cNvSpPr/>
          <p:nvPr/>
        </p:nvSpPr>
        <p:spPr>
          <a:xfrm>
            <a:off x="10362668" y="4489704"/>
            <a:ext cx="1167740" cy="530352"/>
          </a:xfrm>
          <a:prstGeom prst="roundRect">
            <a:avLst>
              <a:gd name="adj" fmla="val 17241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10362668" y="4489704"/>
            <a:ext cx="11677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maken.</a:t>
            </a:r>
            <a:endParaRPr lang="en-US" sz="1600" dirty="0"/>
          </a:p>
        </p:txBody>
      </p:sp>
      <p:sp>
        <p:nvSpPr>
          <p:cNvPr id="67" name="Shape 61"/>
          <p:cNvSpPr/>
          <p:nvPr/>
        </p:nvSpPr>
        <p:spPr>
          <a:xfrm>
            <a:off x="548640" y="5596128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68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650992"/>
            <a:ext cx="512064" cy="512064"/>
          </a:xfrm>
          <a:prstGeom prst="rect">
            <a:avLst/>
          </a:prstGeom>
        </p:spPr>
      </p:pic>
      <p:sp>
        <p:nvSpPr>
          <p:cNvPr id="69" name="Text 62"/>
          <p:cNvSpPr txBox="1"/>
          <p:nvPr/>
        </p:nvSpPr>
        <p:spPr>
          <a:xfrm>
            <a:off x="1325880" y="5596128"/>
            <a:ext cx="10149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Que mettre à la place des « ? » : </a:t>
            </a:r>
            <a:r>
              <a:rPr lang="en-US" sz="1800" i="1" dirty="0">
                <a:solidFill>
                  <a:schemeClr val="tx1"/>
                </a:solidFill>
              </a:rPr>
              <a:t>te</a:t>
            </a:r>
            <a:r>
              <a:rPr lang="en-US" sz="1800" dirty="0">
                <a:solidFill>
                  <a:schemeClr val="tx1"/>
                </a:solidFill>
              </a:rPr>
              <a:t>, </a:t>
            </a:r>
            <a:r>
              <a:rPr lang="en-US" sz="1800" i="1" dirty="0">
                <a:solidFill>
                  <a:schemeClr val="tx1"/>
                </a:solidFill>
              </a:rPr>
              <a:t>om</a:t>
            </a:r>
            <a:r>
              <a:rPr lang="en-US" sz="1800" dirty="0">
                <a:solidFill>
                  <a:schemeClr val="tx1"/>
                </a:solidFill>
              </a:rPr>
              <a:t>, ou rien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 ou pas te ? Deux familles de verbes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LE PRINCIPE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977640"/>
          </a:xfrm>
          <a:prstGeom prst="roundRect">
            <a:avLst>
              <a:gd name="adj" fmla="val 2759"/>
            </a:avLst>
          </a:prstGeom>
          <a:solidFill>
            <a:srgbClr val="E6EBF2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6" name="Image 0" descr="no en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72768"/>
            <a:ext cx="685800" cy="6858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572768"/>
            <a:ext cx="4219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SANS te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965960"/>
            <a:ext cx="42199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modaux, </a:t>
            </a:r>
            <a:r>
              <a:rPr lang="en-US" sz="1300" i="1" dirty="0">
                <a:solidFill>
                  <a:schemeClr val="accent5"/>
                </a:solidFill>
              </a:rPr>
              <a:t>gaan, komen, blijven, laten, zien, horen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731520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kunnen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1996821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96821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moeten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3262122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62122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willen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527423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527423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mogen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31520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31520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zullen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1996821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996821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gaan</a:t>
            </a:r>
            <a:endParaRPr lang="en-US" sz="1500" dirty="0"/>
          </a:p>
        </p:txBody>
      </p:sp>
      <p:sp>
        <p:nvSpPr>
          <p:cNvPr id="21" name="Shape 17"/>
          <p:cNvSpPr/>
          <p:nvPr/>
        </p:nvSpPr>
        <p:spPr>
          <a:xfrm>
            <a:off x="3262122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262122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komen</a:t>
            </a:r>
            <a:endParaRPr lang="en-US" sz="1500" dirty="0"/>
          </a:p>
        </p:txBody>
      </p:sp>
      <p:sp>
        <p:nvSpPr>
          <p:cNvPr id="23" name="Shape 19"/>
          <p:cNvSpPr/>
          <p:nvPr/>
        </p:nvSpPr>
        <p:spPr>
          <a:xfrm>
            <a:off x="4527423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27423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blijven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731520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31520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laten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1996821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996821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zien</a:t>
            </a:r>
            <a:endParaRPr lang="en-US" sz="1500" dirty="0"/>
          </a:p>
        </p:txBody>
      </p:sp>
      <p:sp>
        <p:nvSpPr>
          <p:cNvPr id="29" name="Shape 25"/>
          <p:cNvSpPr/>
          <p:nvPr/>
        </p:nvSpPr>
        <p:spPr>
          <a:xfrm>
            <a:off x="3262122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262122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horen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822960" y="4526280"/>
            <a:ext cx="549372" cy="585216"/>
          </a:xfrm>
          <a:prstGeom prst="roundRect">
            <a:avLst>
              <a:gd name="adj" fmla="val 1664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822960" y="4526280"/>
            <a:ext cx="5493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1454628" y="4526280"/>
            <a:ext cx="832236" cy="585216"/>
          </a:xfrm>
          <a:prstGeom prst="roundRect">
            <a:avLst>
              <a:gd name="adj" fmla="val 1562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454628" y="4526280"/>
            <a:ext cx="83223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wil</a:t>
            </a:r>
            <a:endParaRPr lang="en-US" sz="1800" dirty="0"/>
          </a:p>
        </p:txBody>
      </p:sp>
      <p:sp>
        <p:nvSpPr>
          <p:cNvPr id="35" name="Shape 31"/>
          <p:cNvSpPr/>
          <p:nvPr/>
        </p:nvSpPr>
        <p:spPr>
          <a:xfrm>
            <a:off x="2369159" y="4526280"/>
            <a:ext cx="1263598" cy="585216"/>
          </a:xfrm>
          <a:prstGeom prst="roundRect">
            <a:avLst>
              <a:gd name="adj" fmla="val 15625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369159" y="4526280"/>
            <a:ext cx="12635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6231636" y="1463040"/>
            <a:ext cx="5408676" cy="3977640"/>
          </a:xfrm>
          <a:prstGeom prst="roundRect">
            <a:avLst>
              <a:gd name="adj" fmla="val 275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</p:spPr>
      </p:sp>
      <p:pic>
        <p:nvPicPr>
          <p:cNvPr id="38" name="Image 1" descr="check mark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4516" y="1572768"/>
            <a:ext cx="685800" cy="68580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7237476" y="1572768"/>
            <a:ext cx="4219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AVEC te</a:t>
            </a:r>
            <a:endParaRPr lang="en-US" sz="2400" dirty="0"/>
          </a:p>
        </p:txBody>
      </p:sp>
      <p:sp>
        <p:nvSpPr>
          <p:cNvPr id="40" name="Text 35"/>
          <p:cNvSpPr txBox="1"/>
          <p:nvPr/>
        </p:nvSpPr>
        <p:spPr>
          <a:xfrm>
            <a:off x="7237476" y="1965960"/>
            <a:ext cx="42199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presque tous les autres verbes</a:t>
            </a:r>
            <a:endParaRPr lang="en-US" sz="1300" dirty="0"/>
          </a:p>
        </p:txBody>
      </p:sp>
      <p:sp>
        <p:nvSpPr>
          <p:cNvPr id="41" name="Shape 36"/>
          <p:cNvSpPr/>
          <p:nvPr/>
        </p:nvSpPr>
        <p:spPr>
          <a:xfrm>
            <a:off x="6414516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6414516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proberen</a:t>
            </a:r>
            <a:endParaRPr lang="en-US" sz="1500" dirty="0"/>
          </a:p>
        </p:txBody>
      </p:sp>
      <p:sp>
        <p:nvSpPr>
          <p:cNvPr id="43" name="Shape 38"/>
          <p:cNvSpPr/>
          <p:nvPr/>
        </p:nvSpPr>
        <p:spPr>
          <a:xfrm>
            <a:off x="7679817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7679817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beginnen</a:t>
            </a:r>
            <a:endParaRPr lang="en-US" sz="1500" dirty="0"/>
          </a:p>
        </p:txBody>
      </p:sp>
      <p:sp>
        <p:nvSpPr>
          <p:cNvPr id="45" name="Shape 40"/>
          <p:cNvSpPr/>
          <p:nvPr/>
        </p:nvSpPr>
        <p:spPr>
          <a:xfrm>
            <a:off x="8945118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8945118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vergeten</a:t>
            </a:r>
            <a:endParaRPr lang="en-US" sz="1500" dirty="0"/>
          </a:p>
        </p:txBody>
      </p:sp>
      <p:sp>
        <p:nvSpPr>
          <p:cNvPr id="47" name="Shape 42"/>
          <p:cNvSpPr/>
          <p:nvPr/>
        </p:nvSpPr>
        <p:spPr>
          <a:xfrm>
            <a:off x="10210419" y="246888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10210419" y="246888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beloven</a:t>
            </a:r>
            <a:endParaRPr lang="en-US" sz="1500" dirty="0"/>
          </a:p>
        </p:txBody>
      </p:sp>
      <p:sp>
        <p:nvSpPr>
          <p:cNvPr id="49" name="Shape 44"/>
          <p:cNvSpPr/>
          <p:nvPr/>
        </p:nvSpPr>
        <p:spPr>
          <a:xfrm>
            <a:off x="6414516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6414516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besluiten</a:t>
            </a:r>
            <a:endParaRPr lang="en-US" sz="1500" dirty="0"/>
          </a:p>
        </p:txBody>
      </p:sp>
      <p:sp>
        <p:nvSpPr>
          <p:cNvPr id="51" name="Shape 46"/>
          <p:cNvSpPr/>
          <p:nvPr/>
        </p:nvSpPr>
        <p:spPr>
          <a:xfrm>
            <a:off x="7679817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7679817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hopen</a:t>
            </a:r>
            <a:endParaRPr lang="en-US" sz="1500" dirty="0"/>
          </a:p>
        </p:txBody>
      </p:sp>
      <p:sp>
        <p:nvSpPr>
          <p:cNvPr id="53" name="Shape 48"/>
          <p:cNvSpPr/>
          <p:nvPr/>
        </p:nvSpPr>
        <p:spPr>
          <a:xfrm>
            <a:off x="8945118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945118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hoeven</a:t>
            </a:r>
            <a:endParaRPr lang="en-US" sz="1500" dirty="0"/>
          </a:p>
        </p:txBody>
      </p:sp>
      <p:sp>
        <p:nvSpPr>
          <p:cNvPr id="55" name="Shape 50"/>
          <p:cNvSpPr/>
          <p:nvPr/>
        </p:nvSpPr>
        <p:spPr>
          <a:xfrm>
            <a:off x="10210419" y="297180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10210419" y="297180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zitten</a:t>
            </a:r>
            <a:endParaRPr lang="en-US" sz="1500" dirty="0"/>
          </a:p>
        </p:txBody>
      </p:sp>
      <p:sp>
        <p:nvSpPr>
          <p:cNvPr id="57" name="Shape 52"/>
          <p:cNvSpPr/>
          <p:nvPr/>
        </p:nvSpPr>
        <p:spPr>
          <a:xfrm>
            <a:off x="6414516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6414516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staan</a:t>
            </a:r>
            <a:endParaRPr lang="en-US" sz="1500" dirty="0"/>
          </a:p>
        </p:txBody>
      </p:sp>
      <p:sp>
        <p:nvSpPr>
          <p:cNvPr id="59" name="Shape 54"/>
          <p:cNvSpPr/>
          <p:nvPr/>
        </p:nvSpPr>
        <p:spPr>
          <a:xfrm>
            <a:off x="7679817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679817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liggen</a:t>
            </a:r>
            <a:endParaRPr lang="en-US" sz="1500" dirty="0"/>
          </a:p>
        </p:txBody>
      </p:sp>
      <p:sp>
        <p:nvSpPr>
          <p:cNvPr id="61" name="Shape 56"/>
          <p:cNvSpPr/>
          <p:nvPr/>
        </p:nvSpPr>
        <p:spPr>
          <a:xfrm>
            <a:off x="8945118" y="3474720"/>
            <a:ext cx="1237869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7"/>
          <p:cNvSpPr txBox="1"/>
          <p:nvPr/>
        </p:nvSpPr>
        <p:spPr>
          <a:xfrm>
            <a:off x="8945118" y="3474720"/>
            <a:ext cx="123786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lopen</a:t>
            </a:r>
            <a:endParaRPr lang="en-US" sz="1500" dirty="0"/>
          </a:p>
        </p:txBody>
      </p:sp>
      <p:sp>
        <p:nvSpPr>
          <p:cNvPr id="63" name="Shape 58"/>
          <p:cNvSpPr/>
          <p:nvPr/>
        </p:nvSpPr>
        <p:spPr>
          <a:xfrm>
            <a:off x="6505956" y="4526280"/>
            <a:ext cx="549372" cy="585216"/>
          </a:xfrm>
          <a:prstGeom prst="roundRect">
            <a:avLst>
              <a:gd name="adj" fmla="val 1664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4" name="Text 59"/>
          <p:cNvSpPr txBox="1"/>
          <p:nvPr/>
        </p:nvSpPr>
        <p:spPr>
          <a:xfrm>
            <a:off x="6505956" y="4526280"/>
            <a:ext cx="54937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65" name="Shape 60"/>
          <p:cNvSpPr/>
          <p:nvPr/>
        </p:nvSpPr>
        <p:spPr>
          <a:xfrm>
            <a:off x="7137624" y="4526280"/>
            <a:ext cx="1407386" cy="585216"/>
          </a:xfrm>
          <a:prstGeom prst="roundRect">
            <a:avLst>
              <a:gd name="adj" fmla="val 1562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7137624" y="4526280"/>
            <a:ext cx="140738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probeer</a:t>
            </a:r>
            <a:endParaRPr lang="en-US" sz="1800" dirty="0"/>
          </a:p>
        </p:txBody>
      </p:sp>
      <p:sp>
        <p:nvSpPr>
          <p:cNvPr id="67" name="Shape 62"/>
          <p:cNvSpPr/>
          <p:nvPr/>
        </p:nvSpPr>
        <p:spPr>
          <a:xfrm>
            <a:off x="8627305" y="4526280"/>
            <a:ext cx="688448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8627305" y="4526280"/>
            <a:ext cx="6884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</a:t>
            </a:r>
            <a:endParaRPr lang="en-US" sz="1800" dirty="0"/>
          </a:p>
        </p:txBody>
      </p:sp>
      <p:sp>
        <p:nvSpPr>
          <p:cNvPr id="69" name="Shape 64"/>
          <p:cNvSpPr/>
          <p:nvPr/>
        </p:nvSpPr>
        <p:spPr>
          <a:xfrm>
            <a:off x="9398050" y="4526280"/>
            <a:ext cx="1263598" cy="585216"/>
          </a:xfrm>
          <a:prstGeom prst="roundRect">
            <a:avLst>
              <a:gd name="adj" fmla="val 15625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9398050" y="4526280"/>
            <a:ext cx="126359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71" name="Shape 66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7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Truc : au passé, ces verbes (sauf </a:t>
            </a: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) donnent un </a:t>
            </a:r>
            <a:r>
              <a:rPr lang="en-US" sz="1600" b="1" dirty="0">
                <a:solidFill>
                  <a:schemeClr val="bg1"/>
                </a:solidFill>
              </a:rPr>
              <a:t>double infinitif</a:t>
            </a:r>
            <a:r>
              <a:rPr lang="en-US" sz="1600" dirty="0">
                <a:solidFill>
                  <a:schemeClr val="bg1"/>
                </a:solidFill>
              </a:rPr>
              <a:t> (</a:t>
            </a:r>
            <a:r>
              <a:rPr lang="en-US" sz="1600" i="1" dirty="0">
                <a:solidFill>
                  <a:schemeClr val="bg1"/>
                </a:solidFill>
              </a:rPr>
              <a:t>Ik heb moeten werken</a:t>
            </a:r>
            <a:r>
              <a:rPr lang="en-US" sz="1600" dirty="0">
                <a:solidFill>
                  <a:schemeClr val="bg1"/>
                </a:solidFill>
              </a:rPr>
              <a:t>). Presque tous les autres prennent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Sans te : les modaux, gaan, laten, zien…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SANS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754880" cy="4069080"/>
          </a:xfrm>
          <a:prstGeom prst="roundRect">
            <a:avLst>
              <a:gd name="adj" fmla="val 2697"/>
            </a:avLst>
          </a:prstGeom>
          <a:solidFill>
            <a:schemeClr val="tx2">
              <a:alpha val="10000"/>
            </a:schemeClr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" name="Image 0" descr="no ent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600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pas de te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731520" y="25603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25603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377452" y="2560320"/>
            <a:ext cx="856200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377452" y="2560320"/>
            <a:ext cx="85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kan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315948" y="2560320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315948" y="2560320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" y="3429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Comme en français : </a:t>
            </a:r>
            <a:r>
              <a:rPr lang="en-US" sz="1600" i="1" dirty="0">
                <a:solidFill>
                  <a:schemeClr val="tx1"/>
                </a:solidFill>
              </a:rPr>
              <a:t>je </a:t>
            </a:r>
            <a:r>
              <a:rPr lang="en-US" sz="1600" b="1" i="1" dirty="0">
                <a:solidFill>
                  <a:schemeClr val="tx1"/>
                </a:solidFill>
              </a:rPr>
              <a:t>peux</a:t>
            </a:r>
            <a:r>
              <a:rPr lang="en-US" sz="1600" i="1" dirty="0">
                <a:solidFill>
                  <a:schemeClr val="tx1"/>
                </a:solidFill>
              </a:rPr>
              <a:t> venir</a:t>
            </a:r>
            <a:r>
              <a:rPr lang="en-US" sz="1600" dirty="0">
                <a:solidFill>
                  <a:schemeClr val="tx1"/>
                </a:solidFill>
              </a:rPr>
              <a:t> (pas de « de »).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31520" y="44348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ne se met </a:t>
            </a:r>
            <a:r>
              <a:rPr lang="en-US" sz="1500" b="1" dirty="0">
                <a:solidFill>
                  <a:schemeClr val="tx2"/>
                </a:solidFill>
              </a:rPr>
              <a:t>jamais</a:t>
            </a:r>
            <a:r>
              <a:rPr lang="en-US" sz="1500" dirty="0">
                <a:solidFill>
                  <a:schemeClr val="tx2"/>
                </a:solidFill>
              </a:rPr>
              <a:t> après ces verbes.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532120" y="1463040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32120" y="1463040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1" descr="flexed bicep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1577340"/>
            <a:ext cx="649224" cy="64922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547104" y="1517904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kan morgen komen.</a:t>
            </a:r>
            <a:endParaRPr lang="en-US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6547104" y="1989734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peux venir demain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5532120" y="2432304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5532120" y="2432304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2546604"/>
            <a:ext cx="649224" cy="64922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547104" y="2487168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moet vandaag lang werken.</a:t>
            </a:r>
            <a:endParaRPr lang="en-US" sz="1800" dirty="0"/>
          </a:p>
        </p:txBody>
      </p:sp>
      <p:sp>
        <p:nvSpPr>
          <p:cNvPr id="25" name="Text 19"/>
          <p:cNvSpPr txBox="1"/>
          <p:nvPr/>
        </p:nvSpPr>
        <p:spPr>
          <a:xfrm>
            <a:off x="6547104" y="2958998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dois travailler longtemps aujourd’hui</a:t>
            </a:r>
            <a:endParaRPr lang="en-US" sz="1300" dirty="0"/>
          </a:p>
        </p:txBody>
      </p:sp>
      <p:sp>
        <p:nvSpPr>
          <p:cNvPr id="26" name="Shape 20"/>
          <p:cNvSpPr/>
          <p:nvPr/>
        </p:nvSpPr>
        <p:spPr>
          <a:xfrm>
            <a:off x="5532120" y="3401568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5532120" y="3401568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person swimm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3515868"/>
            <a:ext cx="649224" cy="64922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6547104" y="3456432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gaan vanavond zwemmen.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6547104" y="3928262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nous allons nager ce soir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5532120" y="4370832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5532120" y="4370832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automobi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4485132"/>
            <a:ext cx="649224" cy="64922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547104" y="4425696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laat mijn auto wassen.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6547104" y="4897526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fais laver ma voiture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5532120" y="5340096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5532120" y="5340096"/>
            <a:ext cx="91440" cy="877824"/>
          </a:xfrm>
          <a:prstGeom prst="rect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3288" y="5454396"/>
            <a:ext cx="649224" cy="6492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547104" y="5394960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de bus komen.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6547104" y="5866790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vois le bus arriver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te : essayer de, commencer à…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AVEC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4754880" cy="4069080"/>
          </a:xfrm>
          <a:prstGeom prst="roundRect">
            <a:avLst>
              <a:gd name="adj" fmla="val 2697"/>
            </a:avLst>
          </a:prstGeom>
          <a:solidFill>
            <a:schemeClr val="accent1">
              <a:alpha val="10000"/>
            </a:schemeClr>
          </a:solidFill>
          <a:ln w="19050">
            <a:solidFill>
              <a:srgbClr val="D9700F"/>
            </a:solidFill>
            <a:prstDash val="solid"/>
          </a:ln>
        </p:spPr>
      </p:sp>
      <p:pic>
        <p:nvPicPr>
          <p:cNvPr id="6" name="Image 0" descr="check mark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0020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08760" y="16002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 + infinitif</a:t>
            </a:r>
            <a:endParaRPr lang="en-US" sz="2200" dirty="0"/>
          </a:p>
        </p:txBody>
      </p:sp>
      <p:sp>
        <p:nvSpPr>
          <p:cNvPr id="8" name="Shape 4"/>
          <p:cNvSpPr/>
          <p:nvPr/>
        </p:nvSpPr>
        <p:spPr>
          <a:xfrm>
            <a:off x="731520" y="2560320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2560320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1377452" y="2560320"/>
            <a:ext cx="1463303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377452" y="2560320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probeer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923052" y="2560320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23052" y="2560320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3709772" y="2560320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709772" y="2560320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731520" y="34290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Souvent, le français dit </a:t>
            </a:r>
            <a:r>
              <a:rPr lang="en-US" sz="1600" b="1" dirty="0">
                <a:solidFill>
                  <a:schemeClr val="tx1"/>
                </a:solidFill>
              </a:rPr>
              <a:t>de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b="1" dirty="0">
                <a:solidFill>
                  <a:schemeClr val="tx1"/>
                </a:solidFill>
              </a:rPr>
              <a:t>à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essayer </a:t>
            </a:r>
            <a:r>
              <a:rPr lang="en-US" sz="1600" b="1" i="1" dirty="0">
                <a:solidFill>
                  <a:schemeClr val="tx1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, commencer </a:t>
            </a:r>
            <a:r>
              <a:rPr lang="en-US" sz="1600" b="1" i="1" dirty="0">
                <a:solidFill>
                  <a:schemeClr val="tx1"/>
                </a:solidFill>
              </a:rPr>
              <a:t>à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i="1" dirty="0">
                <a:solidFill>
                  <a:schemeClr val="tx1"/>
                </a:solidFill>
              </a:rPr>
              <a:t>te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31520" y="44348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L’infinitif avec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va </a:t>
            </a:r>
            <a:r>
              <a:rPr lang="en-US" sz="1500" b="1" dirty="0">
                <a:solidFill>
                  <a:schemeClr val="tx2"/>
                </a:solidFill>
              </a:rPr>
              <a:t>au bout</a:t>
            </a:r>
            <a:r>
              <a:rPr lang="en-US" sz="1500" dirty="0">
                <a:solidFill>
                  <a:schemeClr val="tx2"/>
                </a:solidFill>
              </a:rPr>
              <a:t> de la phrase.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532120" y="1463040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532120" y="1463040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1" descr="crossed fing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288" y="1577340"/>
            <a:ext cx="649224" cy="6492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547104" y="1517904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probeer morgen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1989734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j’essaie DE venir demain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5532120" y="2432304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532120" y="2432304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2" descr="cloud with 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3288" y="2546604"/>
            <a:ext cx="649224" cy="64922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6547104" y="2487168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begint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regenen.</a:t>
            </a:r>
            <a:endParaRPr lang="en-US" sz="1800" dirty="0"/>
          </a:p>
        </p:txBody>
      </p:sp>
      <p:sp>
        <p:nvSpPr>
          <p:cNvPr id="27" name="Text 21"/>
          <p:cNvSpPr txBox="1"/>
          <p:nvPr/>
        </p:nvSpPr>
        <p:spPr>
          <a:xfrm>
            <a:off x="6547104" y="2958998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commence À pleuvoir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5532120" y="3401568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5532120" y="3401568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3515868"/>
            <a:ext cx="649224" cy="649224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547104" y="3456432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Vergeet niet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bellen!</a:t>
            </a:r>
            <a:endParaRPr lang="en-US" sz="1800" dirty="0"/>
          </a:p>
        </p:txBody>
      </p:sp>
      <p:sp>
        <p:nvSpPr>
          <p:cNvPr id="32" name="Text 25"/>
          <p:cNvSpPr txBox="1"/>
          <p:nvPr/>
        </p:nvSpPr>
        <p:spPr>
          <a:xfrm>
            <a:off x="6547104" y="3928262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n’oublie pas D’appeler</a:t>
            </a:r>
            <a:endParaRPr lang="en-US" sz="1300" dirty="0"/>
          </a:p>
        </p:txBody>
      </p:sp>
      <p:sp>
        <p:nvSpPr>
          <p:cNvPr id="33" name="Shape 26"/>
          <p:cNvSpPr/>
          <p:nvPr/>
        </p:nvSpPr>
        <p:spPr>
          <a:xfrm>
            <a:off x="5532120" y="4370832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5532120" y="4370832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handsh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4485132"/>
            <a:ext cx="649224" cy="64922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547104" y="4425696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beloof je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helpen.</a:t>
            </a:r>
            <a:endParaRPr lang="en-US" sz="1800" dirty="0"/>
          </a:p>
        </p:txBody>
      </p:sp>
      <p:sp>
        <p:nvSpPr>
          <p:cNvPr id="37" name="Text 29"/>
          <p:cNvSpPr txBox="1"/>
          <p:nvPr/>
        </p:nvSpPr>
        <p:spPr>
          <a:xfrm>
            <a:off x="6547104" y="4897526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te promets DE t’aider</a:t>
            </a:r>
            <a:endParaRPr lang="en-US" sz="1300" dirty="0"/>
          </a:p>
        </p:txBody>
      </p:sp>
      <p:sp>
        <p:nvSpPr>
          <p:cNvPr id="38" name="Shape 30"/>
          <p:cNvSpPr/>
          <p:nvPr/>
        </p:nvSpPr>
        <p:spPr>
          <a:xfrm>
            <a:off x="5532120" y="5340096"/>
            <a:ext cx="6108192" cy="877824"/>
          </a:xfrm>
          <a:prstGeom prst="roundRect">
            <a:avLst>
              <a:gd name="adj" fmla="val 10417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1"/>
          <p:cNvSpPr/>
          <p:nvPr/>
        </p:nvSpPr>
        <p:spPr>
          <a:xfrm>
            <a:off x="5532120" y="5340096"/>
            <a:ext cx="91440" cy="877824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5" descr="four leaf clo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3288" y="5454396"/>
            <a:ext cx="649224" cy="649224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6547104" y="5394960"/>
            <a:ext cx="5001768" cy="5091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hoop je snel </a:t>
            </a:r>
            <a:r>
              <a:rPr lang="en-US" sz="1800" b="1" i="1" dirty="0">
                <a:solidFill>
                  <a:srgbClr val="D9700F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zien.</a:t>
            </a:r>
            <a:endParaRPr lang="en-US" sz="1800" dirty="0"/>
          </a:p>
        </p:txBody>
      </p:sp>
      <p:sp>
        <p:nvSpPr>
          <p:cNvPr id="42" name="Text 33"/>
          <p:cNvSpPr txBox="1"/>
          <p:nvPr/>
        </p:nvSpPr>
        <p:spPr>
          <a:xfrm>
            <a:off x="6547104" y="5866790"/>
            <a:ext cx="5001768" cy="316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j’espère te voir bientôt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Deux cas fréquents : zitten te… et niet hoeven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AVEC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zitten · staan · liggen · lopen + te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= être en train de (M17)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chai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917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lezen.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783080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(assis·e) en train de lire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5868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staat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koken.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elle est (debout) en train de cuisiner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sleep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539996"/>
            <a:ext cx="6858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83080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ligt </a:t>
            </a:r>
            <a:r>
              <a:rPr lang="en-US" sz="1800" b="1" i="1" dirty="0">
                <a:solidFill>
                  <a:srgbClr val="6E4A9E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783080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est (couché) en train de dormir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231636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14516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niet hoeven te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414516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= ne pas être obligé·e de, ne pas avoir besoin de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414516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14516" y="2377440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2491740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466076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hoeft niet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7466076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 n’es pas obligé·e de venir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6414516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414516" y="3401568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telephone receiv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684" y="3515868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66076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Je hoeft alleen maar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bellen.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7466076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tu n’as qu’à appeler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6414516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414516" y="4425696"/>
            <a:ext cx="91440" cy="914400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money b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684" y="4539996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466076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U hoeft niets </a:t>
            </a:r>
            <a:r>
              <a:rPr lang="en-US" sz="1800" b="1" i="1" dirty="0">
                <a:solidFill>
                  <a:srgbClr val="2A6FB0"/>
                </a:solidFill>
              </a:rPr>
              <a:t>te</a:t>
            </a:r>
            <a:r>
              <a:rPr lang="en-US" sz="1800" i="1" dirty="0">
                <a:solidFill>
                  <a:schemeClr val="tx1"/>
                </a:solidFill>
              </a:rPr>
              <a:t> betalen.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7466076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vous n’avez rien à payer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hoeven</a:t>
            </a:r>
            <a:r>
              <a:rPr lang="en-US" sz="1500" dirty="0">
                <a:solidFill>
                  <a:schemeClr val="bg1"/>
                </a:solidFill>
              </a:rPr>
              <a:t> s’emploie avec une négation ou une restriction (</a:t>
            </a:r>
            <a:r>
              <a:rPr lang="en-US" sz="1500" i="1" dirty="0">
                <a:solidFill>
                  <a:schemeClr val="bg1"/>
                </a:solidFill>
              </a:rPr>
              <a:t>niet, geen, niets, alleen maar</a:t>
            </a:r>
            <a:r>
              <a:rPr lang="en-US" sz="1500" dirty="0">
                <a:solidFill>
                  <a:schemeClr val="bg1"/>
                </a:solidFill>
              </a:rPr>
              <a:t>). En Belgique, on dit aussi : </a:t>
            </a:r>
            <a:r>
              <a:rPr lang="en-US" sz="1500" i="1" dirty="0">
                <a:solidFill>
                  <a:schemeClr val="bg1"/>
                </a:solidFill>
              </a:rPr>
              <a:t>Je moet niet komen.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Om … te = pour : le but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OM … TE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2"/>
                </a:solidFill>
              </a:rPr>
              <a:t>Waarom bel je?</a:t>
            </a:r>
            <a:r>
              <a:rPr lang="en-US" sz="1700" dirty="0">
                <a:solidFill>
                  <a:schemeClr val="tx2"/>
                </a:solidFill>
              </a:rPr>
              <a:t> — pourquoi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63489" cy="731520"/>
          </a:xfrm>
          <a:prstGeom prst="roundRect">
            <a:avLst>
              <a:gd name="adj" fmla="val 1378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65960"/>
            <a:ext cx="6634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Ik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1294425" y="1965960"/>
            <a:ext cx="1023952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94425" y="1965960"/>
            <a:ext cx="1023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bel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2400673" y="1965960"/>
            <a:ext cx="816259" cy="731520"/>
          </a:xfrm>
          <a:prstGeom prst="roundRect">
            <a:avLst>
              <a:gd name="adj" fmla="val 125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00673" y="1965960"/>
            <a:ext cx="816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om</a:t>
            </a:r>
            <a:endParaRPr lang="en-US" sz="2600" dirty="0"/>
          </a:p>
        </p:txBody>
      </p:sp>
      <p:sp>
        <p:nvSpPr>
          <p:cNvPr id="12" name="Shape 9"/>
          <p:cNvSpPr/>
          <p:nvPr/>
        </p:nvSpPr>
        <p:spPr>
          <a:xfrm>
            <a:off x="3299228" y="1965960"/>
            <a:ext cx="2517892" cy="73152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99228" y="1965960"/>
            <a:ext cx="25178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een afspraak</a:t>
            </a:r>
            <a:endParaRPr lang="en-US" sz="2600" dirty="0"/>
          </a:p>
        </p:txBody>
      </p:sp>
      <p:sp>
        <p:nvSpPr>
          <p:cNvPr id="14" name="Shape 11"/>
          <p:cNvSpPr/>
          <p:nvPr/>
        </p:nvSpPr>
        <p:spPr>
          <a:xfrm>
            <a:off x="5899416" y="1965960"/>
            <a:ext cx="816259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99416" y="1965960"/>
            <a:ext cx="8162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te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6797971" y="1965960"/>
            <a:ext cx="1647032" cy="731520"/>
          </a:xfrm>
          <a:prstGeom prst="roundRect">
            <a:avLst>
              <a:gd name="adj" fmla="val 125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97971" y="1965960"/>
            <a:ext cx="1647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maken.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2808803" y="2734056"/>
            <a:ext cx="914" cy="25603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808803" y="2990088"/>
            <a:ext cx="4812685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flipV="1">
            <a:off x="7621487" y="2734056"/>
            <a:ext cx="914" cy="256032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08803" y="3008376"/>
            <a:ext cx="48126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la pince : om … te + infinitif</a:t>
            </a:r>
            <a:endParaRPr lang="en-US" sz="1200" dirty="0"/>
          </a:p>
        </p:txBody>
      </p:sp>
      <p:pic>
        <p:nvPicPr>
          <p:cNvPr id="22" name="Image 0" descr="telephone recei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0" y="1737360"/>
            <a:ext cx="1188720" cy="1188720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548640" y="342900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548640" y="342900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1" descr="t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43300"/>
            <a:ext cx="466344" cy="4663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380744" y="348386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Gent </a:t>
            </a:r>
            <a:r>
              <a:rPr lang="en-US" sz="1700" b="1" i="1" dirty="0">
                <a:solidFill>
                  <a:srgbClr val="6E4A9E"/>
                </a:solidFill>
              </a:rPr>
              <a:t>om te 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7" name="Text 22"/>
          <p:cNvSpPr txBox="1"/>
          <p:nvPr/>
        </p:nvSpPr>
        <p:spPr>
          <a:xfrm>
            <a:off x="1380744" y="384596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vais à Gand pour travailler</a:t>
            </a:r>
            <a:endParaRPr lang="en-US" sz="1300" dirty="0"/>
          </a:p>
        </p:txBody>
      </p:sp>
      <p:sp>
        <p:nvSpPr>
          <p:cNvPr id="28" name="Shape 23"/>
          <p:cNvSpPr/>
          <p:nvPr/>
        </p:nvSpPr>
        <p:spPr>
          <a:xfrm>
            <a:off x="548640" y="420624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48640" y="420624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money ba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4320540"/>
            <a:ext cx="466344" cy="46634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1380744" y="426110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sparen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een huis </a:t>
            </a:r>
            <a:r>
              <a:rPr lang="en-US" sz="1700" b="1" i="1" dirty="0">
                <a:solidFill>
                  <a:srgbClr val="6E4A9E"/>
                </a:solidFill>
              </a:rPr>
              <a:t>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1380744" y="462320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nous économisons pour acheter une maison</a:t>
            </a:r>
            <a:endParaRPr lang="en-US" sz="1300" dirty="0"/>
          </a:p>
        </p:txBody>
      </p:sp>
      <p:sp>
        <p:nvSpPr>
          <p:cNvPr id="33" name="Shape 27"/>
          <p:cNvSpPr/>
          <p:nvPr/>
        </p:nvSpPr>
        <p:spPr>
          <a:xfrm>
            <a:off x="548640" y="4983480"/>
            <a:ext cx="11091672" cy="694944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8"/>
          <p:cNvSpPr/>
          <p:nvPr/>
        </p:nvSpPr>
        <p:spPr>
          <a:xfrm>
            <a:off x="548640" y="4983480"/>
            <a:ext cx="91440" cy="694944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97780"/>
            <a:ext cx="466344" cy="466344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380744" y="5038344"/>
            <a:ext cx="10168128" cy="403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leer Nederlands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een betere job </a:t>
            </a:r>
            <a:r>
              <a:rPr lang="en-US" sz="1700" b="1" i="1" dirty="0">
                <a:solidFill>
                  <a:srgbClr val="6E4A9E"/>
                </a:solidFill>
              </a:rPr>
              <a:t>te vinden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Text 30"/>
          <p:cNvSpPr txBox="1"/>
          <p:nvPr/>
        </p:nvSpPr>
        <p:spPr>
          <a:xfrm>
            <a:off x="1380744" y="5400446"/>
            <a:ext cx="10168128" cy="250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j’apprends le néerlandais pour trouver un meilleur emploi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Après un nom ou un adjectif : om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3078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OM … TE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APRÈS UN NOM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zin · tijd · plan · kans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31520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0" descr="face savoring foo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91740"/>
            <a:ext cx="685800" cy="6858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83080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zin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uit eten </a:t>
            </a:r>
            <a:r>
              <a:rPr lang="en-US" sz="1700" b="1" i="1" dirty="0">
                <a:solidFill>
                  <a:srgbClr val="6E4A9E"/>
                </a:solidFill>
              </a:rPr>
              <a:t>te gaan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783080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j’ai envie d’aller au resto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31520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31520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hourglass not d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15868"/>
            <a:ext cx="685800" cy="6858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 </a:t>
            </a:r>
            <a:r>
              <a:rPr lang="en-US" sz="1700" b="1" i="1" dirty="0">
                <a:solidFill>
                  <a:srgbClr val="6E4A9E"/>
                </a:solidFill>
              </a:rPr>
              <a:t>om te lezen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n’ai pas le temps de lire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731520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31520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2" descr="alarm clo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4539996"/>
            <a:ext cx="685800" cy="6858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783080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tijd </a:t>
            </a:r>
            <a:r>
              <a:rPr lang="en-US" sz="1700" b="1" i="1" dirty="0">
                <a:solidFill>
                  <a:srgbClr val="6E4A9E"/>
                </a:solidFill>
              </a:rPr>
              <a:t>om te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1783080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il est temps de partir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6231636" y="1463040"/>
            <a:ext cx="5408676" cy="4114800"/>
          </a:xfrm>
          <a:prstGeom prst="roundRect">
            <a:avLst>
              <a:gd name="adj" fmla="val 2667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414516" y="1554480"/>
            <a:ext cx="50429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E4A9E"/>
                </a:solidFill>
              </a:rPr>
              <a:t>APRÈS UN ADJECTIF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6414516" y="1938528"/>
            <a:ext cx="50429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leuk · moeilijk · belangrijk · klaar</a:t>
            </a:r>
            <a:endParaRPr lang="en-US" sz="1400" dirty="0"/>
          </a:p>
        </p:txBody>
      </p:sp>
      <p:sp>
        <p:nvSpPr>
          <p:cNvPr id="26" name="Shape 20"/>
          <p:cNvSpPr/>
          <p:nvPr/>
        </p:nvSpPr>
        <p:spPr>
          <a:xfrm>
            <a:off x="6414516" y="2377440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6414516" y="2377440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2491740"/>
            <a:ext cx="685800" cy="68580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7466076" y="2432304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leuk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Nederlands </a:t>
            </a:r>
            <a:r>
              <a:rPr lang="en-US" sz="1700" b="1" i="1" dirty="0">
                <a:solidFill>
                  <a:srgbClr val="6E4A9E"/>
                </a:solidFill>
              </a:rPr>
              <a:t>te leren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7466076" y="2926080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c’est chouette d’apprendre le néerlandais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6414516" y="3401568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414516" y="3401568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4" descr="grimac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684" y="3515868"/>
            <a:ext cx="685800" cy="6858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466076" y="3456432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is moeilijk </a:t>
            </a:r>
            <a:r>
              <a:rPr lang="en-US" sz="1700" b="1" i="1" dirty="0">
                <a:solidFill>
                  <a:srgbClr val="6E4A9E"/>
                </a:solidFill>
              </a:rPr>
              <a:t>om</a:t>
            </a:r>
            <a:r>
              <a:rPr lang="en-US" sz="1700" i="1" dirty="0">
                <a:solidFill>
                  <a:schemeClr val="tx1"/>
                </a:solidFill>
              </a:rPr>
              <a:t> vroeg </a:t>
            </a:r>
            <a:r>
              <a:rPr lang="en-US" sz="1700" b="1" i="1" dirty="0">
                <a:solidFill>
                  <a:srgbClr val="6E4A9E"/>
                </a:solidFill>
              </a:rPr>
              <a:t>op te staan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5" name="Text 27"/>
          <p:cNvSpPr txBox="1"/>
          <p:nvPr/>
        </p:nvSpPr>
        <p:spPr>
          <a:xfrm>
            <a:off x="7466076" y="3950208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c’est difficile de se lever tôt</a:t>
            </a:r>
            <a:endParaRPr lang="en-US" sz="1300" dirty="0"/>
          </a:p>
        </p:txBody>
      </p:sp>
      <p:sp>
        <p:nvSpPr>
          <p:cNvPr id="36" name="Shape 28"/>
          <p:cNvSpPr/>
          <p:nvPr/>
        </p:nvSpPr>
        <p:spPr>
          <a:xfrm>
            <a:off x="6414516" y="4425696"/>
            <a:ext cx="5042916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6414516" y="4425696"/>
            <a:ext cx="91440" cy="914400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8" name="Image 5" descr="chequered fla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5684" y="4539996"/>
            <a:ext cx="685800" cy="6858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466076" y="4480560"/>
            <a:ext cx="38999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klaar </a:t>
            </a:r>
            <a:r>
              <a:rPr lang="en-US" sz="1700" b="1" i="1" dirty="0">
                <a:solidFill>
                  <a:srgbClr val="6E4A9E"/>
                </a:solidFill>
              </a:rPr>
              <a:t>om te 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40" name="Text 31"/>
          <p:cNvSpPr txBox="1"/>
          <p:nvPr/>
        </p:nvSpPr>
        <p:spPr>
          <a:xfrm>
            <a:off x="7466076" y="4974336"/>
            <a:ext cx="38999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prêt·e à commencer</a:t>
            </a:r>
            <a:endParaRPr lang="en-US" sz="1300" dirty="0"/>
          </a:p>
        </p:txBody>
      </p:sp>
      <p:sp>
        <p:nvSpPr>
          <p:cNvPr id="41" name="Shape 3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Après certains verbes, </a:t>
            </a:r>
            <a:r>
              <a:rPr lang="en-US" sz="1500" i="1" dirty="0">
                <a:solidFill>
                  <a:schemeClr val="bg1"/>
                </a:solidFill>
              </a:rPr>
              <a:t>om</a:t>
            </a:r>
            <a:r>
              <a:rPr lang="en-US" sz="1500" dirty="0">
                <a:solidFill>
                  <a:schemeClr val="bg1"/>
                </a:solidFill>
              </a:rPr>
              <a:t> est facultatif : </a:t>
            </a:r>
            <a:r>
              <a:rPr lang="en-US" sz="1500" i="1" dirty="0">
                <a:solidFill>
                  <a:schemeClr val="bg1"/>
                </a:solidFill>
              </a:rPr>
              <a:t>Ik heb besloten (</a:t>
            </a:r>
            <a:r>
              <a:rPr lang="en-US" sz="1500" b="1" i="1" dirty="0">
                <a:solidFill>
                  <a:schemeClr val="bg1"/>
                </a:solidFill>
              </a:rPr>
              <a:t>om</a:t>
            </a:r>
            <a:r>
              <a:rPr lang="en-US" sz="1500" i="1" dirty="0">
                <a:solidFill>
                  <a:schemeClr val="bg1"/>
                </a:solidFill>
              </a:rPr>
              <a:t>) te stoppen. · Ik ben vergeten (</a:t>
            </a:r>
            <a:r>
              <a:rPr lang="en-US" sz="1500" b="1" i="1" dirty="0">
                <a:solidFill>
                  <a:schemeClr val="bg1"/>
                </a:solidFill>
              </a:rPr>
              <a:t>om</a:t>
            </a:r>
            <a:r>
              <a:rPr lang="en-US" sz="1500" i="1" dirty="0">
                <a:solidFill>
                  <a:schemeClr val="bg1"/>
                </a:solidFill>
              </a:rPr>
              <a:t>) te bellen.</a:t>
            </a:r>
            <a:r>
              <a:rPr lang="en-US" sz="1500" dirty="0">
                <a:solidFill>
                  <a:schemeClr val="bg1"/>
                </a:solidFill>
              </a:rPr>
              <a:t> Jamais avec </a:t>
            </a:r>
            <a:r>
              <a:rPr lang="en-US" sz="1500" i="1" dirty="0">
                <a:solidFill>
                  <a:schemeClr val="bg1"/>
                </a:solidFill>
              </a:rPr>
              <a:t>hoeven, zitten te…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Dans la pince : tout entre om et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LA PINCE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Tout le reste va entre </a:t>
            </a:r>
            <a:r>
              <a:rPr lang="en-US" sz="1600" b="1" i="1" dirty="0">
                <a:solidFill>
                  <a:schemeClr val="tx2"/>
                </a:solidFill>
              </a:rPr>
              <a:t>om</a:t>
            </a:r>
            <a:r>
              <a:rPr lang="en-US" sz="1600" b="1" dirty="0">
                <a:solidFill>
                  <a:schemeClr val="tx2"/>
                </a:solidFill>
              </a:rPr>
              <a:t> et </a:t>
            </a:r>
            <a:r>
              <a:rPr lang="en-US" sz="1600" b="1" i="1" dirty="0">
                <a:solidFill>
                  <a:schemeClr val="tx2"/>
                </a:solidFill>
              </a:rPr>
              <a:t>te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449519" cy="640080"/>
          </a:xfrm>
          <a:prstGeom prst="roundRect">
            <a:avLst>
              <a:gd name="adj" fmla="val 203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28800"/>
            <a:ext cx="4495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080455" y="182880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80455" y="182880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1915105" y="1828800"/>
            <a:ext cx="1234074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915105" y="1828800"/>
            <a:ext cx="1234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231475" y="1828800"/>
            <a:ext cx="1390985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231475" y="1828800"/>
            <a:ext cx="13909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in Gent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4704756" y="1828800"/>
            <a:ext cx="1704807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704756" y="1828800"/>
            <a:ext cx="1704807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klant</a:t>
            </a:r>
            <a:endParaRPr lang="en-US" sz="2200" dirty="0"/>
          </a:p>
        </p:txBody>
      </p:sp>
      <p:sp>
        <p:nvSpPr>
          <p:cNvPr id="16" name="Shape 13"/>
          <p:cNvSpPr/>
          <p:nvPr/>
        </p:nvSpPr>
        <p:spPr>
          <a:xfrm>
            <a:off x="6491860" y="182880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1860" y="182880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7326509" y="1828800"/>
            <a:ext cx="1982536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26509" y="1828800"/>
            <a:ext cx="1982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bezoeken.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1456632" y="250545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456632" y="2724912"/>
            <a:ext cx="6861146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 flipV="1">
            <a:off x="8317777" y="250545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② Verbe séparable : </a:t>
            </a:r>
            <a:r>
              <a:rPr lang="en-US" sz="1600" b="1" i="1" dirty="0">
                <a:solidFill>
                  <a:schemeClr val="tx2"/>
                </a:solidFill>
              </a:rPr>
              <a:t>te</a:t>
            </a:r>
            <a:r>
              <a:rPr lang="en-US" sz="1600" b="1" dirty="0">
                <a:solidFill>
                  <a:schemeClr val="tx2"/>
                </a:solidFill>
              </a:rPr>
              <a:t> se glisse au milieu</a:t>
            </a:r>
            <a:r>
              <a:rPr lang="en-US" sz="1600" dirty="0">
                <a:solidFill>
                  <a:schemeClr val="tx2"/>
                </a:solidFill>
              </a:rPr>
              <a:t> (comme </a:t>
            </a:r>
            <a:r>
              <a:rPr lang="en-US" sz="1600" i="1" dirty="0">
                <a:solidFill>
                  <a:schemeClr val="tx2"/>
                </a:solidFill>
              </a:rPr>
              <a:t>ge-</a:t>
            </a:r>
            <a:r>
              <a:rPr lang="en-US" sz="1600" dirty="0">
                <a:solidFill>
                  <a:schemeClr val="tx2"/>
                </a:solidFill>
              </a:rPr>
              <a:t> : </a:t>
            </a:r>
            <a:r>
              <a:rPr lang="en-US" sz="1600" i="1" dirty="0">
                <a:solidFill>
                  <a:schemeClr val="tx2"/>
                </a:solidFill>
              </a:rPr>
              <a:t>opgebeld</a:t>
            </a:r>
            <a:r>
              <a:rPr lang="en-US" sz="1600" dirty="0">
                <a:solidFill>
                  <a:schemeClr val="tx2"/>
                </a:solidFill>
              </a:rPr>
              <a:t>)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48640" y="3291840"/>
            <a:ext cx="449519" cy="640080"/>
          </a:xfrm>
          <a:prstGeom prst="roundRect">
            <a:avLst>
              <a:gd name="adj" fmla="val 203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3291840"/>
            <a:ext cx="44951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…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1080455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80455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1915105" y="3291840"/>
            <a:ext cx="15478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915105" y="3291840"/>
            <a:ext cx="154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3545297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45297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op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4379947" y="329184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379947" y="329184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5214596" y="3291840"/>
            <a:ext cx="1631056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214596" y="3291840"/>
            <a:ext cx="163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bellen.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1456632" y="396849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456632" y="4187952"/>
            <a:ext cx="4573492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 flipV="1">
            <a:off x="6030124" y="396849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394292" y="3291840"/>
            <a:ext cx="2018629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40" name="Text 37"/>
          <p:cNvSpPr txBox="1"/>
          <p:nvPr/>
        </p:nvSpPr>
        <p:spPr>
          <a:xfrm>
            <a:off x="7394292" y="3291840"/>
            <a:ext cx="20186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te opbellen</a:t>
            </a:r>
            <a:endParaRPr lang="en-US" sz="2200" dirty="0"/>
          </a:p>
        </p:txBody>
      </p:sp>
      <p:sp>
        <p:nvSpPr>
          <p:cNvPr id="41" name="Text 38"/>
          <p:cNvSpPr txBox="1"/>
          <p:nvPr/>
        </p:nvSpPr>
        <p:spPr>
          <a:xfrm>
            <a:off x="9504361" y="3291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4343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③ </a:t>
            </a:r>
            <a:r>
              <a:rPr lang="en-US" sz="1600" b="1" i="1" dirty="0">
                <a:solidFill>
                  <a:schemeClr val="tx2"/>
                </a:solidFill>
              </a:rPr>
              <a:t>niet</a:t>
            </a:r>
            <a:r>
              <a:rPr lang="en-US" sz="1600" b="1" dirty="0">
                <a:solidFill>
                  <a:schemeClr val="tx2"/>
                </a:solidFill>
              </a:rPr>
              <a:t> entre dans la pince, devant le groupe verbal</a:t>
            </a:r>
            <a:r>
              <a:rPr lang="en-US" sz="1600" dirty="0">
                <a:solidFill>
                  <a:schemeClr val="tx2"/>
                </a:solidFill>
              </a:rPr>
              <a:t> (</a:t>
            </a:r>
            <a:r>
              <a:rPr lang="en-US" sz="1600" i="1" dirty="0">
                <a:solidFill>
                  <a:schemeClr val="tx2"/>
                </a:solidFill>
              </a:rPr>
              <a:t>om de klant </a:t>
            </a:r>
            <a:r>
              <a:rPr lang="en-US" sz="1600" b="1" i="1" dirty="0">
                <a:solidFill>
                  <a:schemeClr val="tx2"/>
                </a:solidFill>
              </a:rPr>
              <a:t>niet</a:t>
            </a:r>
            <a:r>
              <a:rPr lang="en-US" sz="1600" i="1" dirty="0">
                <a:solidFill>
                  <a:schemeClr val="tx2"/>
                </a:solidFill>
              </a:rPr>
              <a:t> op te bellen</a:t>
            </a:r>
            <a:r>
              <a:rPr lang="en-US" sz="1600" dirty="0">
                <a:solidFill>
                  <a:schemeClr val="tx2"/>
                </a:solidFill>
              </a:rPr>
              <a:t>)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548640" y="4754880"/>
            <a:ext cx="2960096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48640" y="4754880"/>
            <a:ext cx="2960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Het is belangrijk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3591032" y="4754880"/>
            <a:ext cx="752354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591032" y="475488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om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4425681" y="4754880"/>
            <a:ext cx="920252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425681" y="4754880"/>
            <a:ext cx="9202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niet</a:t>
            </a:r>
            <a:endParaRPr lang="en-US" sz="2200" dirty="0"/>
          </a:p>
        </p:txBody>
      </p:sp>
      <p:sp>
        <p:nvSpPr>
          <p:cNvPr id="49" name="Shape 46"/>
          <p:cNvSpPr/>
          <p:nvPr/>
        </p:nvSpPr>
        <p:spPr>
          <a:xfrm>
            <a:off x="5428230" y="4754880"/>
            <a:ext cx="1390985" cy="640080"/>
          </a:xfrm>
          <a:prstGeom prst="roundRect">
            <a:avLst>
              <a:gd name="adj" fmla="val 1428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428230" y="4754880"/>
            <a:ext cx="13909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te laat</a:t>
            </a:r>
            <a:endParaRPr lang="en-US" sz="2200" dirty="0"/>
          </a:p>
        </p:txBody>
      </p:sp>
      <p:sp>
        <p:nvSpPr>
          <p:cNvPr id="51" name="Shape 48"/>
          <p:cNvSpPr/>
          <p:nvPr/>
        </p:nvSpPr>
        <p:spPr>
          <a:xfrm>
            <a:off x="6901511" y="4754880"/>
            <a:ext cx="752354" cy="640080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901511" y="4754880"/>
            <a:ext cx="7523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te</a:t>
            </a:r>
            <a:endParaRPr lang="en-US" sz="2200" dirty="0"/>
          </a:p>
        </p:txBody>
      </p:sp>
      <p:sp>
        <p:nvSpPr>
          <p:cNvPr id="53" name="Shape 50"/>
          <p:cNvSpPr/>
          <p:nvPr/>
        </p:nvSpPr>
        <p:spPr>
          <a:xfrm>
            <a:off x="7736160" y="4754880"/>
            <a:ext cx="1455315" cy="640080"/>
          </a:xfrm>
          <a:prstGeom prst="roundRect">
            <a:avLst>
              <a:gd name="adj" fmla="val 14286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7736160" y="4754880"/>
            <a:ext cx="14553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komen.</a:t>
            </a:r>
            <a:endParaRPr lang="en-US" sz="2200" dirty="0"/>
          </a:p>
        </p:txBody>
      </p:sp>
      <p:sp>
        <p:nvSpPr>
          <p:cNvPr id="55" name="Shape 52"/>
          <p:cNvSpPr/>
          <p:nvPr/>
        </p:nvSpPr>
        <p:spPr>
          <a:xfrm>
            <a:off x="3967209" y="543153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967209" y="5650992"/>
            <a:ext cx="449661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 flipV="1">
            <a:off x="8463818" y="5431536"/>
            <a:ext cx="914" cy="219456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est toujours </a:t>
            </a:r>
            <a:r>
              <a:rPr lang="en-US" sz="1500" b="1" dirty="0">
                <a:solidFill>
                  <a:schemeClr val="tx2"/>
                </a:solidFill>
              </a:rPr>
              <a:t>collé</a:t>
            </a:r>
            <a:r>
              <a:rPr lang="en-US" sz="1500" dirty="0">
                <a:solidFill>
                  <a:schemeClr val="tx2"/>
                </a:solidFill>
              </a:rPr>
              <a:t> devant l’infinitif.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zonder … te, in plaats van … te, door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581558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B1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087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zipper mouth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777240" cy="7772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6002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zonder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sans + infinitif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3886200" y="16002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Hij vertrekt </a:t>
            </a:r>
            <a:r>
              <a:rPr lang="en-US" sz="2000" b="1" i="1" dirty="0">
                <a:solidFill>
                  <a:srgbClr val="6E4A9E"/>
                </a:solidFill>
              </a:rPr>
              <a:t>zonder</a:t>
            </a:r>
            <a:r>
              <a:rPr lang="en-US" sz="2000" i="1" dirty="0">
                <a:solidFill>
                  <a:schemeClr val="tx1"/>
                </a:solidFill>
              </a:rPr>
              <a:t> iets </a:t>
            </a:r>
            <a:r>
              <a:rPr lang="en-US" sz="2000" b="1" i="1" dirty="0">
                <a:solidFill>
                  <a:srgbClr val="6E4A9E"/>
                </a:solidFill>
              </a:rPr>
              <a:t>te zeggen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3886200" y="22402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il part sans rien dire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28803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48640" y="28803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mobile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108960"/>
            <a:ext cx="777240" cy="7772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29718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in plaats van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au lieu de + infinitif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3886200" y="29718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6E4A9E"/>
                </a:solidFill>
              </a:rPr>
              <a:t>In plaats van te werken</a:t>
            </a:r>
            <a:r>
              <a:rPr lang="en-US" sz="2000" i="1" dirty="0">
                <a:solidFill>
                  <a:schemeClr val="tx1"/>
                </a:solidFill>
              </a:rPr>
              <a:t>, zit hij op zijn gsm.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3886200" y="36118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au lieu de travailler, il est sur son GSM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48640" y="4251960"/>
            <a:ext cx="11091672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548640" y="4251960"/>
            <a:ext cx="3108960" cy="1234440"/>
          </a:xfrm>
          <a:prstGeom prst="roundRect">
            <a:avLst>
              <a:gd name="adj" fmla="val 8889"/>
            </a:avLst>
          </a:prstGeom>
          <a:solidFill>
            <a:srgbClr val="6E4A9E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boo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48056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43400"/>
            <a:ext cx="2011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E4A9E"/>
                </a:solidFill>
              </a:rPr>
              <a:t>door … te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6E4A9E"/>
                </a:solidFill>
              </a:rPr>
              <a:t>en + participe présent (le moyen)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3886200" y="434340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rgbClr val="6E4A9E"/>
                </a:solidFill>
              </a:rPr>
              <a:t>Door</a:t>
            </a:r>
            <a:r>
              <a:rPr lang="en-US" sz="2000" i="1" dirty="0">
                <a:solidFill>
                  <a:schemeClr val="tx1"/>
                </a:solidFill>
              </a:rPr>
              <a:t> veel </a:t>
            </a:r>
            <a:r>
              <a:rPr lang="en-US" sz="2000" b="1" i="1" dirty="0">
                <a:solidFill>
                  <a:srgbClr val="6E4A9E"/>
                </a:solidFill>
              </a:rPr>
              <a:t>te lezen</a:t>
            </a:r>
            <a:r>
              <a:rPr lang="en-US" sz="2000" i="1" dirty="0">
                <a:solidFill>
                  <a:schemeClr val="tx1"/>
                </a:solidFill>
              </a:rPr>
              <a:t>, leer je snel.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3886200" y="498348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en lisant beaucoup, on apprend vite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669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Même pince : la préposition (</a:t>
            </a:r>
            <a:r>
              <a:rPr lang="en-US" sz="1600" i="1" dirty="0">
                <a:solidFill>
                  <a:schemeClr val="bg1"/>
                </a:solidFill>
              </a:rPr>
              <a:t>zonder, in plaats van, door</a:t>
            </a:r>
            <a:r>
              <a:rPr lang="en-US" sz="1600" dirty="0">
                <a:solidFill>
                  <a:schemeClr val="bg1"/>
                </a:solidFill>
              </a:rPr>
              <a:t>) ouvre,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 + infinitif ferme.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« Pour » : voor ou om … te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498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08676" cy="3246120"/>
          </a:xfrm>
          <a:prstGeom prst="roundRect">
            <a:avLst>
              <a:gd name="adj" fmla="val 3380"/>
            </a:avLst>
          </a:prstGeom>
          <a:solidFill>
            <a:srgbClr val="EAF2FB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54480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pour + NOM → voor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31520" y="2194560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2194560"/>
            <a:ext cx="91440" cy="10789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wrapped gi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45436"/>
            <a:ext cx="777240" cy="7772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874520" y="2249424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Dit cadeau is </a:t>
            </a:r>
            <a:r>
              <a:rPr lang="en-US" sz="1900" b="1" i="1" dirty="0">
                <a:solidFill>
                  <a:srgbClr val="2A6FB0"/>
                </a:solidFill>
              </a:rPr>
              <a:t>voor</a:t>
            </a:r>
            <a:r>
              <a:rPr lang="en-US" sz="1900" i="1" dirty="0">
                <a:solidFill>
                  <a:schemeClr val="tx1"/>
                </a:solidFill>
              </a:rPr>
              <a:t> jou.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1874520" y="2841955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ce cadeau est pour toi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3401568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31520" y="3401568"/>
            <a:ext cx="91440" cy="1078992"/>
          </a:xfrm>
          <a:prstGeom prst="rect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3552444"/>
            <a:ext cx="777240" cy="77724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874520" y="3456432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ben hier </a:t>
            </a:r>
            <a:r>
              <a:rPr lang="en-US" sz="1900" b="1" i="1" dirty="0">
                <a:solidFill>
                  <a:srgbClr val="2A6FB0"/>
                </a:solidFill>
              </a:rPr>
              <a:t>voor</a:t>
            </a:r>
            <a:r>
              <a:rPr lang="en-US" sz="1900" i="1" dirty="0">
                <a:solidFill>
                  <a:schemeClr val="tx1"/>
                </a:solidFill>
              </a:rPr>
              <a:t> de vergadering.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1874520" y="4048963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ici pour la réunion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1636" y="1463040"/>
            <a:ext cx="5408676" cy="3246120"/>
          </a:xfrm>
          <a:prstGeom prst="roundRect">
            <a:avLst>
              <a:gd name="adj" fmla="val 3380"/>
            </a:avLst>
          </a:prstGeom>
          <a:solidFill>
            <a:srgbClr val="F1ECF7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414516" y="1554480"/>
            <a:ext cx="50429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pour + VERBE → om … te</a:t>
            </a:r>
            <a:endParaRPr lang="en-US" sz="2000" dirty="0"/>
          </a:p>
        </p:txBody>
      </p:sp>
      <p:sp>
        <p:nvSpPr>
          <p:cNvPr id="19" name="Shape 14"/>
          <p:cNvSpPr/>
          <p:nvPr/>
        </p:nvSpPr>
        <p:spPr>
          <a:xfrm>
            <a:off x="6414516" y="2194560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14516" y="2194560"/>
            <a:ext cx="91440" cy="1078992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345436"/>
            <a:ext cx="777240" cy="7772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557516" y="2249424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kom </a:t>
            </a:r>
            <a:r>
              <a:rPr lang="en-US" sz="1900" b="1" i="1" dirty="0">
                <a:solidFill>
                  <a:srgbClr val="6E4A9E"/>
                </a:solidFill>
              </a:rPr>
              <a:t>om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rgbClr val="6E4A9E"/>
                </a:solidFill>
              </a:rPr>
              <a:t>te helpen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3" name="Text 17"/>
          <p:cNvSpPr txBox="1"/>
          <p:nvPr/>
        </p:nvSpPr>
        <p:spPr>
          <a:xfrm>
            <a:off x="7557516" y="2841955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viens pour t’aider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6414516" y="3401568"/>
            <a:ext cx="5042916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6414516" y="3401568"/>
            <a:ext cx="91440" cy="1078992"/>
          </a:xfrm>
          <a:prstGeom prst="rect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4" y="3552444"/>
            <a:ext cx="777240" cy="77724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557516" y="3456432"/>
            <a:ext cx="3808476" cy="6258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ben hier </a:t>
            </a:r>
            <a:r>
              <a:rPr lang="en-US" sz="1900" b="1" i="1" dirty="0">
                <a:solidFill>
                  <a:srgbClr val="6E4A9E"/>
                </a:solidFill>
              </a:rPr>
              <a:t>om te vergaderen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8" name="Text 21"/>
          <p:cNvSpPr txBox="1"/>
          <p:nvPr/>
        </p:nvSpPr>
        <p:spPr>
          <a:xfrm>
            <a:off x="7557516" y="4048963"/>
            <a:ext cx="3808476" cy="3884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je suis ici pour être en réunion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548640" y="4983480"/>
            <a:ext cx="1234074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548640" y="4983480"/>
            <a:ext cx="12340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 kom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865010" y="4983480"/>
            <a:ext cx="920252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2" name="Text 25"/>
          <p:cNvSpPr txBox="1"/>
          <p:nvPr/>
        </p:nvSpPr>
        <p:spPr>
          <a:xfrm>
            <a:off x="1865010" y="4983480"/>
            <a:ext cx="9202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voor</a:t>
            </a:r>
            <a:endParaRPr lang="en-US" sz="2200" dirty="0"/>
          </a:p>
        </p:txBody>
      </p:sp>
      <p:sp>
        <p:nvSpPr>
          <p:cNvPr id="33" name="Shape 26"/>
          <p:cNvSpPr/>
          <p:nvPr/>
        </p:nvSpPr>
        <p:spPr>
          <a:xfrm>
            <a:off x="2867558" y="4983480"/>
            <a:ext cx="60643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2867558" y="4983480"/>
            <a:ext cx="6064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5" name="Shape 28"/>
          <p:cNvSpPr/>
          <p:nvPr/>
        </p:nvSpPr>
        <p:spPr>
          <a:xfrm>
            <a:off x="3556284" y="4983480"/>
            <a:ext cx="1704807" cy="603504"/>
          </a:xfrm>
          <a:prstGeom prst="roundRect">
            <a:avLst>
              <a:gd name="adj" fmla="val 1515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dash"/>
          </a:ln>
        </p:spPr>
      </p:sp>
      <p:sp>
        <p:nvSpPr>
          <p:cNvPr id="36" name="Text 29"/>
          <p:cNvSpPr txBox="1"/>
          <p:nvPr/>
        </p:nvSpPr>
        <p:spPr>
          <a:xfrm>
            <a:off x="3556284" y="4983480"/>
            <a:ext cx="170480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strike="sngStrike" dirty="0">
                <a:solidFill>
                  <a:schemeClr val="accent6"/>
                </a:solidFill>
              </a:rPr>
              <a:t>te helpen</a:t>
            </a:r>
            <a:endParaRPr lang="en-US" sz="2200" dirty="0"/>
          </a:p>
        </p:txBody>
      </p:sp>
      <p:sp>
        <p:nvSpPr>
          <p:cNvPr id="37" name="Text 30"/>
          <p:cNvSpPr txBox="1"/>
          <p:nvPr/>
        </p:nvSpPr>
        <p:spPr>
          <a:xfrm>
            <a:off x="5352532" y="4983480"/>
            <a:ext cx="457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✗</a:t>
            </a:r>
            <a:endParaRPr lang="en-US" sz="2600" dirty="0"/>
          </a:p>
        </p:txBody>
      </p:sp>
      <p:sp>
        <p:nvSpPr>
          <p:cNvPr id="38" name="Text 31"/>
          <p:cNvSpPr txBox="1"/>
          <p:nvPr/>
        </p:nvSpPr>
        <p:spPr>
          <a:xfrm>
            <a:off x="5901172" y="4983480"/>
            <a:ext cx="57391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voor … te</a:t>
            </a:r>
            <a:r>
              <a:rPr lang="en-US" sz="1500" dirty="0">
                <a:solidFill>
                  <a:schemeClr val="tx2"/>
                </a:solidFill>
              </a:rPr>
              <a:t> s’entend en Flandre, mais n’est pas standard : dites </a:t>
            </a:r>
            <a:r>
              <a:rPr lang="en-US" sz="1500" i="1" dirty="0">
                <a:solidFill>
                  <a:schemeClr val="tx2"/>
                </a:solidFill>
              </a:rPr>
              <a:t>om … te</a:t>
            </a:r>
            <a:r>
              <a:rPr lang="en-US" sz="1500" dirty="0">
                <a:solidFill>
                  <a:schemeClr val="tx2"/>
                </a:solidFill>
              </a:rPr>
              <a:t>. « pour que » + phrase = </a:t>
            </a:r>
            <a:r>
              <a:rPr lang="en-US" sz="1500" i="1" dirty="0">
                <a:solidFill>
                  <a:schemeClr val="tx2"/>
                </a:solidFill>
              </a:rPr>
              <a:t>zodat</a:t>
            </a:r>
            <a:r>
              <a:rPr lang="en-US" sz="1500" dirty="0">
                <a:solidFill>
                  <a:schemeClr val="tx2"/>
                </a:solidFill>
              </a:rPr>
              <a:t> (aperçu).</a:t>
            </a:r>
            <a:endParaRPr lang="en-US" sz="1500" dirty="0"/>
          </a:p>
        </p:txBody>
      </p:sp>
      <p:sp>
        <p:nvSpPr>
          <p:cNvPr id="39" name="Text 32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Le calque du français (« pour » = </a:t>
            </a:r>
            <a:r>
              <a:rPr lang="en-US" sz="1500" i="1" dirty="0">
                <a:solidFill>
                  <a:schemeClr val="accent6"/>
                </a:solidFill>
              </a:rPr>
              <a:t>voor</a:t>
            </a:r>
            <a:r>
              <a:rPr lang="en-US" sz="1500" dirty="0">
                <a:solidFill>
                  <a:schemeClr val="accent6"/>
                </a:solidFill>
              </a:rPr>
              <a:t>) est l’erreur n° 1 : vérifiez s’il y a un </a:t>
            </a:r>
            <a:r>
              <a:rPr lang="en-US" sz="1500" b="1" dirty="0">
                <a:solidFill>
                  <a:schemeClr val="accent6"/>
                </a:solidFill>
              </a:rPr>
              <a:t>verbe</a:t>
            </a:r>
            <a:r>
              <a:rPr lang="en-US" sz="1500" dirty="0">
                <a:solidFill>
                  <a:schemeClr val="accent6"/>
                </a:solidFill>
              </a:rPr>
              <a:t> après « pour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 passé : te et om … te ne bougent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AU PASSÉ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probeer te bellen.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1223101" y="192024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223101" y="192024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209527" y="1920240"/>
            <a:ext cx="1790395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09527" y="192024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geprobeerd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4082218" y="192024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82218" y="192024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te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4900891" y="1920240"/>
            <a:ext cx="1575138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900891" y="1920240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bellen.</a:t>
            </a:r>
            <a:endParaRPr lang="en-US" sz="2100" dirty="0"/>
          </a:p>
        </p:txBody>
      </p:sp>
      <p:sp>
        <p:nvSpPr>
          <p:cNvPr id="16" name="Text 13"/>
          <p:cNvSpPr txBox="1"/>
          <p:nvPr/>
        </p:nvSpPr>
        <p:spPr>
          <a:xfrm>
            <a:off x="6750350" y="1920240"/>
            <a:ext cx="488996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proberen</a:t>
            </a:r>
            <a:r>
              <a:rPr lang="en-US" sz="1500" dirty="0">
                <a:solidFill>
                  <a:schemeClr val="tx2"/>
                </a:solidFill>
              </a:rPr>
              <a:t> → participe (</a:t>
            </a:r>
            <a:r>
              <a:rPr lang="en-US" sz="1500" i="1" dirty="0">
                <a:solidFill>
                  <a:schemeClr val="tx2"/>
                </a:solidFill>
              </a:rPr>
              <a:t>geprobeerd</a:t>
            </a:r>
            <a:r>
              <a:rPr lang="en-US" sz="1500" dirty="0">
                <a:solidFill>
                  <a:schemeClr val="tx2"/>
                </a:solidFill>
              </a:rPr>
              <a:t>) +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834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bel om een afspraak te maken.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548640" y="324612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24612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1223101" y="324612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223101" y="324612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2209527" y="3246120"/>
            <a:ext cx="119128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209527" y="324612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gebeld</a:t>
            </a:r>
            <a:endParaRPr lang="en-US" sz="2100" dirty="0"/>
          </a:p>
        </p:txBody>
      </p:sp>
      <p:sp>
        <p:nvSpPr>
          <p:cNvPr id="24" name="Shape 21"/>
          <p:cNvSpPr/>
          <p:nvPr/>
        </p:nvSpPr>
        <p:spPr>
          <a:xfrm>
            <a:off x="3483103" y="3246120"/>
            <a:ext cx="736377" cy="603504"/>
          </a:xfrm>
          <a:prstGeom prst="roundRect">
            <a:avLst>
              <a:gd name="adj" fmla="val 15152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83103" y="32461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</a:t>
            </a:r>
            <a:endParaRPr lang="en-US" sz="2100" dirty="0"/>
          </a:p>
        </p:txBody>
      </p:sp>
      <p:sp>
        <p:nvSpPr>
          <p:cNvPr id="26" name="Shape 23"/>
          <p:cNvSpPr/>
          <p:nvPr/>
        </p:nvSpPr>
        <p:spPr>
          <a:xfrm>
            <a:off x="4301777" y="3246120"/>
            <a:ext cx="2089953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301777" y="3246120"/>
            <a:ext cx="208995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afspraak</a:t>
            </a:r>
            <a:endParaRPr lang="en-US" sz="2100" dirty="0"/>
          </a:p>
        </p:txBody>
      </p:sp>
      <p:sp>
        <p:nvSpPr>
          <p:cNvPr id="28" name="Shape 25"/>
          <p:cNvSpPr/>
          <p:nvPr/>
        </p:nvSpPr>
        <p:spPr>
          <a:xfrm>
            <a:off x="6474025" y="3246120"/>
            <a:ext cx="736377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74025" y="3246120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te</a:t>
            </a:r>
            <a:endParaRPr lang="en-US" sz="2100" dirty="0"/>
          </a:p>
        </p:txBody>
      </p:sp>
      <p:sp>
        <p:nvSpPr>
          <p:cNvPr id="30" name="Shape 27"/>
          <p:cNvSpPr/>
          <p:nvPr/>
        </p:nvSpPr>
        <p:spPr>
          <a:xfrm>
            <a:off x="7292698" y="3246120"/>
            <a:ext cx="1407386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292698" y="3246120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maken.</a:t>
            </a:r>
            <a:endParaRPr lang="en-US" sz="2100" dirty="0"/>
          </a:p>
        </p:txBody>
      </p:sp>
      <p:sp>
        <p:nvSpPr>
          <p:cNvPr id="32" name="Text 29"/>
          <p:cNvSpPr txBox="1"/>
          <p:nvPr/>
        </p:nvSpPr>
        <p:spPr>
          <a:xfrm>
            <a:off x="8974404" y="3246120"/>
            <a:ext cx="26659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la pince </a:t>
            </a:r>
            <a:r>
              <a:rPr lang="en-US" sz="1500" i="1" dirty="0">
                <a:solidFill>
                  <a:schemeClr val="tx2"/>
                </a:solidFill>
              </a:rPr>
              <a:t>om … te</a:t>
            </a:r>
            <a:r>
              <a:rPr lang="en-US" sz="1500" dirty="0">
                <a:solidFill>
                  <a:schemeClr val="tx2"/>
                </a:solidFill>
              </a:rPr>
              <a:t> ne change pas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160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wil komen.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548640" y="4572000"/>
            <a:ext cx="592165" cy="603504"/>
          </a:xfrm>
          <a:prstGeom prst="roundRect">
            <a:avLst>
              <a:gd name="adj" fmla="val 1544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48640" y="45720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6" name="Shape 33"/>
          <p:cNvSpPr/>
          <p:nvPr/>
        </p:nvSpPr>
        <p:spPr>
          <a:xfrm>
            <a:off x="1223101" y="4572000"/>
            <a:ext cx="904129" cy="603504"/>
          </a:xfrm>
          <a:prstGeom prst="roundRect">
            <a:avLst>
              <a:gd name="adj" fmla="val 1515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223101" y="45720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heb</a:t>
            </a:r>
            <a:endParaRPr lang="en-US" sz="2100" dirty="0"/>
          </a:p>
        </p:txBody>
      </p:sp>
      <p:sp>
        <p:nvSpPr>
          <p:cNvPr id="38" name="Shape 35"/>
          <p:cNvSpPr/>
          <p:nvPr/>
        </p:nvSpPr>
        <p:spPr>
          <a:xfrm>
            <a:off x="2209527" y="4572000"/>
            <a:ext cx="1191280" cy="603504"/>
          </a:xfrm>
          <a:prstGeom prst="roundRect">
            <a:avLst>
              <a:gd name="adj" fmla="val 1515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09527" y="45720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willen</a:t>
            </a:r>
            <a:endParaRPr lang="en-US" sz="2100" dirty="0"/>
          </a:p>
        </p:txBody>
      </p:sp>
      <p:sp>
        <p:nvSpPr>
          <p:cNvPr id="40" name="Shape 37"/>
          <p:cNvSpPr/>
          <p:nvPr/>
        </p:nvSpPr>
        <p:spPr>
          <a:xfrm>
            <a:off x="3483103" y="4572000"/>
            <a:ext cx="1407386" cy="603504"/>
          </a:xfrm>
          <a:prstGeom prst="roundRect">
            <a:avLst>
              <a:gd name="adj" fmla="val 1515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483103" y="4572000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42" name="Text 39"/>
          <p:cNvSpPr txBox="1"/>
          <p:nvPr/>
        </p:nvSpPr>
        <p:spPr>
          <a:xfrm>
            <a:off x="5164809" y="4572000"/>
            <a:ext cx="647550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sans </a:t>
            </a:r>
            <a:r>
              <a:rPr lang="en-US" sz="1500" i="1" dirty="0">
                <a:solidFill>
                  <a:schemeClr val="tx2"/>
                </a:solidFill>
              </a:rPr>
              <a:t>te</a:t>
            </a:r>
            <a:r>
              <a:rPr lang="en-US" sz="1500" dirty="0">
                <a:solidFill>
                  <a:schemeClr val="tx2"/>
                </a:solidFill>
              </a:rPr>
              <a:t> → double infinitif (voir le complément)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48640" y="56235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22960" y="562356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Au passé composé, le premier verbe passe au participe (</a:t>
            </a:r>
            <a:r>
              <a:rPr lang="en-US" sz="1600" i="1" dirty="0">
                <a:solidFill>
                  <a:schemeClr val="bg1"/>
                </a:solidFill>
              </a:rPr>
              <a:t>geprobeerd, gebeld</a:t>
            </a:r>
            <a:r>
              <a:rPr lang="en-US" sz="1600" dirty="0">
                <a:solidFill>
                  <a:schemeClr val="bg1"/>
                </a:solidFill>
              </a:rPr>
              <a:t>) ; l’infinitif avec </a:t>
            </a:r>
            <a:r>
              <a:rPr lang="en-US" sz="1600" i="1" dirty="0">
                <a:solidFill>
                  <a:schemeClr val="bg1"/>
                </a:solidFill>
              </a:rPr>
              <a:t>te</a:t>
            </a:r>
            <a:r>
              <a:rPr lang="en-US" sz="1600" dirty="0">
                <a:solidFill>
                  <a:schemeClr val="bg1"/>
                </a:solidFill>
              </a:rPr>
              <a:t> reste </a:t>
            </a:r>
            <a:r>
              <a:rPr lang="en-US" sz="1600" b="1" dirty="0">
                <a:solidFill>
                  <a:schemeClr val="bg1"/>
                </a:solidFill>
              </a:rPr>
              <a:t>au bout</a:t>
            </a:r>
            <a:r>
              <a:rPr lang="en-US" sz="1600" dirty="0">
                <a:solidFill>
                  <a:schemeClr val="bg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te et om … 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57276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① SANS te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5740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kunnen · moeten · willen · mogen · zullen · gaan · komen · blijven · laten · zien · horen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88036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rgbClr val="B83227"/>
                </a:solidFill>
              </a:rPr>
              <a:t>komen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08776" y="146304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391656" y="157276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② AVEC te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6391656" y="205740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proberen · beginnen · vergeten · beloven · hopen… · zitten te · niet hoeven te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88036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probeer </a:t>
            </a:r>
            <a:r>
              <a:rPr lang="en-US" sz="2000" b="1" i="1" dirty="0">
                <a:solidFill>
                  <a:srgbClr val="D9700F"/>
                </a:solidFill>
              </a:rPr>
              <a:t>te komen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0332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731520" y="381304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</a:rPr>
              <a:t>③ OM … TE = pour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429768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le but · après un nom (zin, tijd) ou un adjectif (leuk, moeilijk)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12064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bel </a:t>
            </a:r>
            <a:r>
              <a:rPr lang="en-US" sz="2000" b="1" i="1" dirty="0">
                <a:solidFill>
                  <a:srgbClr val="6E4A9E"/>
                </a:solidFill>
              </a:rPr>
              <a:t>om</a:t>
            </a:r>
            <a:r>
              <a:rPr lang="en-US" sz="2000" i="1" dirty="0">
                <a:solidFill>
                  <a:schemeClr val="tx1"/>
                </a:solidFill>
              </a:rPr>
              <a:t> een afspraak </a:t>
            </a:r>
            <a:r>
              <a:rPr lang="en-US" sz="2000" b="1" i="1" dirty="0">
                <a:solidFill>
                  <a:srgbClr val="6E4A9E"/>
                </a:solidFill>
              </a:rPr>
              <a:t>te maken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208776" y="3703320"/>
            <a:ext cx="5431536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391656" y="3813048"/>
            <a:ext cx="5065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6"/>
                </a:solidFill>
              </a:rPr>
              <a:t>④ LA PINCE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391656" y="4297680"/>
            <a:ext cx="5065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tout entre om et te · te collé à l’infinitif · op te bellen · zonder / in plaats van / door … te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91656" y="5120640"/>
            <a:ext cx="50657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om de klant </a:t>
            </a:r>
            <a:r>
              <a:rPr lang="en-US" sz="2000" b="1" i="1" dirty="0">
                <a:solidFill>
                  <a:srgbClr val="B83227"/>
                </a:solidFill>
              </a:rPr>
              <a:t>op te bellen</a:t>
            </a:r>
            <a:endParaRPr lang="en-US" sz="1800" dirty="0"/>
          </a:p>
        </p:txBody>
      </p:sp>
      <p:pic>
        <p:nvPicPr>
          <p:cNvPr id="21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Fil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 of geen te?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Bulls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Waarom? Om … te!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PuzzlePie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puzzle de la pince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Di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Mes bonnes résolutions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L’entretien d’embauche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Te of geen te?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te</a:t>
            </a:r>
            <a:r>
              <a:rPr lang="en-US" sz="1700" i="1" dirty="0">
                <a:solidFill>
                  <a:schemeClr val="accent5"/>
                </a:solidFill>
              </a:rPr>
              <a:t>, ou mettez Ø si le verbe n’en veut pas.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wil morgen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Ik probeer morgen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We gaan vanavond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Vergeet niet de deur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sluiten.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Je hoeft niet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wachten.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kan je niet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helpen.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tx1"/>
                </a:solidFill>
              </a:rPr>
              <a:t>Hij zit de hele avond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studeren.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hoop je snel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zien.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9  </a:t>
            </a:r>
            <a:r>
              <a:rPr lang="en-US" sz="2000" i="1" dirty="0">
                <a:solidFill>
                  <a:schemeClr val="tx1"/>
                </a:solidFill>
              </a:rPr>
              <a:t>Laat me even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nadenken.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10  </a:t>
            </a:r>
            <a:r>
              <a:rPr lang="en-US" sz="2000" i="1" dirty="0">
                <a:solidFill>
                  <a:schemeClr val="tx1"/>
                </a:solidFill>
              </a:rPr>
              <a:t>Het begint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regenen.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Te of geen te?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te</a:t>
            </a:r>
            <a:r>
              <a:rPr lang="en-US" sz="1700" i="1" dirty="0">
                <a:solidFill>
                  <a:schemeClr val="accent5"/>
                </a:solidFill>
              </a:rPr>
              <a:t>, ou mettez Ø si le verbe n’en veut pas.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Ik wil morgen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tx1"/>
                </a:solidFill>
              </a:rPr>
              <a:t>Ik probeer morgen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komen.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We gaan vanavond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eten.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Vergeet niet de deur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sluiten.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Je hoeft niet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wachten.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Ik kan je niet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helpen.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tx1"/>
                </a:solidFill>
              </a:rPr>
              <a:t>Hij zit de hele avond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studeren.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hoop je snel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zien.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9  </a:t>
            </a:r>
            <a:r>
              <a:rPr lang="en-US" sz="2000" i="1" dirty="0">
                <a:solidFill>
                  <a:schemeClr val="tx1"/>
                </a:solidFill>
              </a:rPr>
              <a:t>Laat me even </a:t>
            </a:r>
            <a:r>
              <a:rPr lang="en-US" sz="2000" b="1" i="1" dirty="0">
                <a:solidFill>
                  <a:schemeClr val="accent3"/>
                </a:solidFill>
              </a:rPr>
              <a:t>Ø</a:t>
            </a:r>
            <a:r>
              <a:rPr lang="en-US" sz="2000" i="1" dirty="0">
                <a:solidFill>
                  <a:schemeClr val="tx1"/>
                </a:solidFill>
              </a:rPr>
              <a:t> nadenken.</a:t>
            </a:r>
            <a:endParaRPr lang="en-US" sz="20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10  </a:t>
            </a:r>
            <a:r>
              <a:rPr lang="en-US" sz="2000" i="1" dirty="0">
                <a:solidFill>
                  <a:schemeClr val="tx1"/>
                </a:solidFill>
              </a:rPr>
              <a:t>Het begint </a:t>
            </a:r>
            <a:r>
              <a:rPr lang="en-US" sz="2000" b="1" i="1" dirty="0">
                <a:solidFill>
                  <a:schemeClr val="accent3"/>
                </a:solidFill>
              </a:rPr>
              <a:t>te</a:t>
            </a:r>
            <a:r>
              <a:rPr lang="en-US" sz="2000" i="1" dirty="0">
                <a:solidFill>
                  <a:schemeClr val="tx1"/>
                </a:solidFill>
              </a:rPr>
              <a:t> regenen.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Ø : modaux, </a:t>
            </a:r>
            <a:r>
              <a:rPr lang="en-US" sz="1400" i="1" dirty="0">
                <a:solidFill>
                  <a:schemeClr val="accent5"/>
                </a:solidFill>
              </a:rPr>
              <a:t>gaan</a:t>
            </a:r>
            <a:r>
              <a:rPr lang="en-US" sz="1400" i="1" dirty="0">
                <a:solidFill>
                  <a:schemeClr val="accent5"/>
                </a:solidFill>
              </a:rPr>
              <a:t>, </a:t>
            </a:r>
            <a:r>
              <a:rPr lang="en-US" sz="1400" i="1" dirty="0">
                <a:solidFill>
                  <a:schemeClr val="accent5"/>
                </a:solidFill>
              </a:rPr>
              <a:t>laten</a:t>
            </a:r>
            <a:r>
              <a:rPr lang="en-US" sz="1400" i="1" dirty="0">
                <a:solidFill>
                  <a:schemeClr val="accent5"/>
                </a:solidFill>
              </a:rPr>
              <a:t> → pas de </a:t>
            </a:r>
            <a:r>
              <a:rPr lang="en-US" sz="1400" i="1" dirty="0">
                <a:solidFill>
                  <a:schemeClr val="accent5"/>
                </a:solidFill>
              </a:rPr>
              <a:t>te</a:t>
            </a:r>
            <a:r>
              <a:rPr lang="en-US" sz="1400" i="1" dirty="0">
                <a:solidFill>
                  <a:schemeClr val="accent5"/>
                </a:solidFill>
              </a:rPr>
              <a:t>. N° 4 : </a:t>
            </a:r>
            <a:r>
              <a:rPr lang="en-US" sz="1400" i="1" dirty="0">
                <a:solidFill>
                  <a:schemeClr val="accent5"/>
                </a:solidFill>
              </a:rPr>
              <a:t>te sluiten</a:t>
            </a:r>
            <a:r>
              <a:rPr lang="en-US" sz="1400" i="1" dirty="0">
                <a:solidFill>
                  <a:schemeClr val="accent5"/>
                </a:solidFill>
              </a:rPr>
              <a:t>, mais </a:t>
            </a:r>
            <a:r>
              <a:rPr lang="en-US" sz="1400" i="1" dirty="0">
                <a:solidFill>
                  <a:schemeClr val="accent5"/>
                </a:solidFill>
              </a:rPr>
              <a:t>dicht te doen</a:t>
            </a:r>
            <a:r>
              <a:rPr lang="en-US" sz="1400" i="1" dirty="0">
                <a:solidFill>
                  <a:schemeClr val="accent5"/>
                </a:solidFill>
              </a:rPr>
              <a:t> (séparable).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Waarom? Om … te!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Pourquoi ? Répondez avec </a:t>
            </a:r>
            <a:r>
              <a:rPr lang="en-US" sz="1700" i="1" dirty="0">
                <a:solidFill>
                  <a:schemeClr val="accent5"/>
                </a:solidFill>
              </a:rPr>
              <a:t>om … te</a:t>
            </a:r>
            <a:r>
              <a:rPr lang="en-US" sz="1700" i="1" dirty="0">
                <a:solidFill>
                  <a:schemeClr val="accent5"/>
                </a:solidFill>
              </a:rPr>
              <a:t> et l’indice.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aguette 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bakker.</a:t>
            </a:r>
            <a:r>
              <a:rPr lang="en-US" sz="1500" dirty="0">
                <a:solidFill>
                  <a:schemeClr val="tx2"/>
                </a:solidFill>
              </a:rPr>
              <a:t>  (brood kopen)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bakker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apotheek.</a:t>
            </a:r>
            <a:r>
              <a:rPr lang="en-US" sz="1500" dirty="0">
                <a:solidFill>
                  <a:schemeClr val="tx2"/>
                </a:solidFill>
              </a:rPr>
              <a:t>  (medicijnen halen)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apotheek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3" descr="ba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bank.</a:t>
            </a:r>
            <a:r>
              <a:rPr lang="en-US" sz="1500" dirty="0">
                <a:solidFill>
                  <a:schemeClr val="tx2"/>
                </a:solidFill>
              </a:rPr>
              <a:t>  (geld afhalen)</a:t>
            </a:r>
            <a:endParaRPr lang="en-US" sz="1500" dirty="0"/>
          </a:p>
        </p:txBody>
      </p:sp>
      <p:sp>
        <p:nvSpPr>
          <p:cNvPr id="19" name="Text 12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bank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het station.</a:t>
            </a:r>
            <a:r>
              <a:rPr lang="en-US" sz="1500" dirty="0">
                <a:solidFill>
                  <a:schemeClr val="tx2"/>
                </a:solidFill>
              </a:rPr>
              <a:t>  (een ticket kopen)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het station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5" descr="person lifting weigh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fitness.</a:t>
            </a:r>
            <a:r>
              <a:rPr lang="en-US" sz="1500" dirty="0">
                <a:solidFill>
                  <a:schemeClr val="tx2"/>
                </a:solidFill>
              </a:rPr>
              <a:t>  (fit blijven)</a:t>
            </a:r>
            <a:endParaRPr lang="en-US" sz="1500" dirty="0"/>
          </a:p>
        </p:txBody>
      </p:sp>
      <p:sp>
        <p:nvSpPr>
          <p:cNvPr id="27" name="Text 18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fitness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6" descr="telephone receiv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bel de dokter.</a:t>
            </a:r>
            <a:r>
              <a:rPr lang="en-US" sz="1500" dirty="0">
                <a:solidFill>
                  <a:schemeClr val="tx2"/>
                </a:solidFill>
              </a:rPr>
              <a:t>  (een afspraak maken)</a:t>
            </a:r>
            <a:endParaRPr lang="en-US" sz="1500" dirty="0"/>
          </a:p>
        </p:txBody>
      </p:sp>
      <p:sp>
        <p:nvSpPr>
          <p:cNvPr id="31" name="Text 21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de dokter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Waarom? Om … te!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Pourquoi ? Répondez avec </a:t>
            </a:r>
            <a:r>
              <a:rPr lang="en-US" sz="1700" i="1" dirty="0">
                <a:solidFill>
                  <a:schemeClr val="accent5"/>
                </a:solidFill>
              </a:rPr>
              <a:t>om … te</a:t>
            </a:r>
            <a:r>
              <a:rPr lang="en-US" sz="1700" i="1" dirty="0">
                <a:solidFill>
                  <a:schemeClr val="accent5"/>
                </a:solidFill>
              </a:rPr>
              <a:t> et l’indice.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aguette 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5312"/>
            <a:ext cx="925576" cy="92557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94256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bakker.</a:t>
            </a:r>
            <a:r>
              <a:rPr lang="en-US" sz="1500" dirty="0">
                <a:solidFill>
                  <a:schemeClr val="tx2"/>
                </a:solidFill>
              </a:rPr>
              <a:t>  (brood kopen)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794256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bakker </a:t>
            </a:r>
            <a:r>
              <a:rPr lang="en-US" sz="1700" b="1" i="1" dirty="0">
                <a:solidFill>
                  <a:schemeClr val="accent3"/>
                </a:solidFill>
              </a:rPr>
              <a:t>om brood 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48640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pi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52368"/>
            <a:ext cx="925576" cy="92557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794256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apotheek.</a:t>
            </a:r>
            <a:r>
              <a:rPr lang="en-US" sz="1500" dirty="0">
                <a:solidFill>
                  <a:schemeClr val="tx2"/>
                </a:solidFill>
              </a:rPr>
              <a:t>  (medicijnen halen)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794256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apotheek </a:t>
            </a:r>
            <a:r>
              <a:rPr lang="en-US" sz="1700" b="1" i="1" dirty="0">
                <a:solidFill>
                  <a:schemeClr val="accent3"/>
                </a:solidFill>
              </a:rPr>
              <a:t>om medicijnen te halen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a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789424"/>
            <a:ext cx="925576" cy="92557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94256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3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bank.</a:t>
            </a:r>
            <a:r>
              <a:rPr lang="en-US" sz="1500" dirty="0">
                <a:solidFill>
                  <a:schemeClr val="tx2"/>
                </a:solidFill>
              </a:rPr>
              <a:t>  (geld afhalen)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794256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bank </a:t>
            </a:r>
            <a:r>
              <a:rPr lang="en-US" sz="1700" b="1" i="1" dirty="0">
                <a:solidFill>
                  <a:schemeClr val="accent3"/>
                </a:solidFill>
              </a:rPr>
              <a:t>om geld af te halen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1" name="Shape 14"/>
          <p:cNvSpPr/>
          <p:nvPr/>
        </p:nvSpPr>
        <p:spPr>
          <a:xfrm>
            <a:off x="6231636" y="1978152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st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8796" y="2115312"/>
            <a:ext cx="925576" cy="925576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7477252" y="2042160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4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het station.</a:t>
            </a:r>
            <a:r>
              <a:rPr lang="en-US" sz="1500" dirty="0">
                <a:solidFill>
                  <a:schemeClr val="tx2"/>
                </a:solidFill>
              </a:rPr>
              <a:t>  (een ticket kopen)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7477252" y="2526914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het station </a:t>
            </a:r>
            <a:r>
              <a:rPr lang="en-US" sz="1700" b="1" i="1" dirty="0">
                <a:solidFill>
                  <a:schemeClr val="accent3"/>
                </a:solidFill>
              </a:rPr>
              <a:t>om een ticket te kopen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17"/>
          <p:cNvSpPr/>
          <p:nvPr/>
        </p:nvSpPr>
        <p:spPr>
          <a:xfrm>
            <a:off x="6231636" y="3315208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person lifting weight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8796" y="3452368"/>
            <a:ext cx="925576" cy="92557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477252" y="3379216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ga naar de fitness.</a:t>
            </a:r>
            <a:r>
              <a:rPr lang="en-US" sz="1500" dirty="0">
                <a:solidFill>
                  <a:schemeClr val="tx2"/>
                </a:solidFill>
              </a:rPr>
              <a:t>  (fit blijven)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7477252" y="3863970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ga naar de fitness </a:t>
            </a:r>
            <a:r>
              <a:rPr lang="en-US" sz="1700" b="1" i="1" dirty="0">
                <a:solidFill>
                  <a:schemeClr val="accent3"/>
                </a:solidFill>
              </a:rPr>
              <a:t>om fit te blijven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0"/>
          <p:cNvSpPr/>
          <p:nvPr/>
        </p:nvSpPr>
        <p:spPr>
          <a:xfrm>
            <a:off x="6231636" y="4652264"/>
            <a:ext cx="5408676" cy="1209040"/>
          </a:xfrm>
          <a:prstGeom prst="roundRect">
            <a:avLst>
              <a:gd name="adj" fmla="val 907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telephone receiv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796" y="4789424"/>
            <a:ext cx="925576" cy="925576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477252" y="4716272"/>
            <a:ext cx="4071620" cy="484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</a:t>
            </a:r>
            <a:r>
              <a:rPr lang="en-US" sz="1500" dirty="0">
                <a:solidFill>
                  <a:schemeClr val="tx2"/>
                </a:solidFill>
              </a:rPr>
              <a:t>  </a:t>
            </a:r>
            <a:r>
              <a:rPr lang="en-US" sz="1500" i="1" dirty="0">
                <a:solidFill>
                  <a:schemeClr val="tx2"/>
                </a:solidFill>
              </a:rPr>
              <a:t>Ik bel de dokter.</a:t>
            </a:r>
            <a:r>
              <a:rPr lang="en-US" sz="1500" dirty="0">
                <a:solidFill>
                  <a:schemeClr val="tx2"/>
                </a:solidFill>
              </a:rPr>
              <a:t>  (een afspraak maken)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7477252" y="5201026"/>
            <a:ext cx="4071620" cy="634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bel de dokter </a:t>
            </a:r>
            <a:r>
              <a:rPr lang="en-US" sz="1700" b="1" i="1" dirty="0">
                <a:solidFill>
                  <a:schemeClr val="accent3"/>
                </a:solidFill>
              </a:rPr>
              <a:t>om een afspraak te maken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N° 3 : </a:t>
            </a:r>
            <a:r>
              <a:rPr lang="en-US" sz="1400" i="1" dirty="0">
                <a:solidFill>
                  <a:schemeClr val="accent5"/>
                </a:solidFill>
              </a:rPr>
              <a:t>afhalen</a:t>
            </a:r>
            <a:r>
              <a:rPr lang="en-US" sz="1400" i="1" dirty="0">
                <a:solidFill>
                  <a:schemeClr val="accent5"/>
                </a:solidFill>
              </a:rPr>
              <a:t> est séparable → </a:t>
            </a:r>
            <a:r>
              <a:rPr lang="en-US" sz="1400" i="1" dirty="0">
                <a:solidFill>
                  <a:schemeClr val="accent5"/>
                </a:solidFill>
              </a:rPr>
              <a:t>af te halen</a:t>
            </a:r>
            <a:r>
              <a:rPr lang="en-US" sz="1400" i="1" dirty="0">
                <a:solidFill>
                  <a:schemeClr val="accent5"/>
                </a:solidFill>
              </a:rPr>
              <a:t>. N° 5 : </a:t>
            </a:r>
            <a:r>
              <a:rPr lang="en-US" sz="1400" i="1" dirty="0">
                <a:solidFill>
                  <a:schemeClr val="accent5"/>
                </a:solidFill>
              </a:rPr>
              <a:t>de fitness</a:t>
            </a:r>
            <a:r>
              <a:rPr lang="en-US" sz="1400" i="1" dirty="0">
                <a:solidFill>
                  <a:schemeClr val="accent5"/>
                </a:solidFill>
              </a:rPr>
              <a:t> (BE) = la salle de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puzzle de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93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14400" y="1932432"/>
            <a:ext cx="1311528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1932432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kom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2545968" y="193243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45968" y="193243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3338204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338204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4271228" y="1932432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71228" y="1932432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helpen.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963132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963132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29580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914400" y="2958084"/>
            <a:ext cx="2222182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14400" y="2958084"/>
            <a:ext cx="2222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Hij vertrekt</a:t>
            </a:r>
            <a:endParaRPr lang="en-US" sz="1900" dirty="0"/>
          </a:p>
        </p:txBody>
      </p:sp>
      <p:sp>
        <p:nvSpPr>
          <p:cNvPr id="22" name="Shape 18"/>
          <p:cNvSpPr/>
          <p:nvPr/>
        </p:nvSpPr>
        <p:spPr>
          <a:xfrm>
            <a:off x="3456622" y="295808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456622" y="295808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24" name="Shape 20"/>
          <p:cNvSpPr/>
          <p:nvPr/>
        </p:nvSpPr>
        <p:spPr>
          <a:xfrm>
            <a:off x="4389647" y="295808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389647" y="295808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zeggen.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6081550" y="295808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081550" y="295808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zonder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7621678" y="2958084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621678" y="2958084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iets</a:t>
            </a:r>
            <a:endParaRPr lang="en-US" sz="1900" dirty="0"/>
          </a:p>
        </p:txBody>
      </p:sp>
      <p:sp>
        <p:nvSpPr>
          <p:cNvPr id="30" name="Text 26"/>
          <p:cNvSpPr txBox="1"/>
          <p:nvPr/>
        </p:nvSpPr>
        <p:spPr>
          <a:xfrm>
            <a:off x="548640" y="39837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1" name="Shape 27"/>
          <p:cNvSpPr/>
          <p:nvPr/>
        </p:nvSpPr>
        <p:spPr>
          <a:xfrm>
            <a:off x="914400" y="3983736"/>
            <a:ext cx="282928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14400" y="3983736"/>
            <a:ext cx="28292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heb geen tijd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06372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06372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35" name="Shape 31"/>
          <p:cNvSpPr/>
          <p:nvPr/>
        </p:nvSpPr>
        <p:spPr>
          <a:xfrm>
            <a:off x="4996750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996750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op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929774" y="3983736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929774" y="3983736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mijn bureau</a:t>
            </a:r>
            <a:endParaRPr lang="en-US" sz="1900" dirty="0"/>
          </a:p>
        </p:txBody>
      </p:sp>
      <p:sp>
        <p:nvSpPr>
          <p:cNvPr id="39" name="Shape 35"/>
          <p:cNvSpPr/>
          <p:nvPr/>
        </p:nvSpPr>
        <p:spPr>
          <a:xfrm>
            <a:off x="7941637" y="3983736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941637" y="3983736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ruimen.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9633540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633540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548640" y="50093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914400" y="5009388"/>
            <a:ext cx="2981061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914400" y="5009388"/>
            <a:ext cx="2981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Het is belangrijk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4215501" y="500938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215501" y="500938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te laat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5685308" y="5009388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685308" y="5009388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7225435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225435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52" name="Shape 48"/>
          <p:cNvSpPr/>
          <p:nvPr/>
        </p:nvSpPr>
        <p:spPr>
          <a:xfrm>
            <a:off x="8158460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8158460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54" name="Shape 50"/>
          <p:cNvSpPr/>
          <p:nvPr/>
        </p:nvSpPr>
        <p:spPr>
          <a:xfrm>
            <a:off x="9091484" y="5009388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1484" y="5009388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Le puzzle de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pièces dans l’ordre.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932432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1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914400" y="1932432"/>
            <a:ext cx="1311528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1932432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kom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2363088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363088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14" name="Shape 10"/>
          <p:cNvSpPr/>
          <p:nvPr/>
        </p:nvSpPr>
        <p:spPr>
          <a:xfrm>
            <a:off x="3149808" y="1932432"/>
            <a:ext cx="563636" cy="566928"/>
          </a:xfrm>
          <a:prstGeom prst="roundRect">
            <a:avLst>
              <a:gd name="adj" fmla="val 1622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149808" y="1932432"/>
            <a:ext cx="5636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je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3795740" y="1932432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795740" y="1932432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18" name="Shape 14"/>
          <p:cNvSpPr/>
          <p:nvPr/>
        </p:nvSpPr>
        <p:spPr>
          <a:xfrm>
            <a:off x="4582461" y="1932432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582461" y="1932432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helpen.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2715300" y="2535936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715300" y="2682240"/>
            <a:ext cx="2598813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 flipV="1">
            <a:off x="5314112" y="2535936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2958084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2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914400" y="2958084"/>
            <a:ext cx="2222182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4400" y="2958084"/>
            <a:ext cx="222218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Hij vertrekt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3273742" y="2958084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273742" y="2958084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zonder</a:t>
            </a:r>
            <a:endParaRPr lang="en-US" sz="1900" dirty="0"/>
          </a:p>
        </p:txBody>
      </p:sp>
      <p:sp>
        <p:nvSpPr>
          <p:cNvPr id="28" name="Shape 24"/>
          <p:cNvSpPr/>
          <p:nvPr/>
        </p:nvSpPr>
        <p:spPr>
          <a:xfrm>
            <a:off x="4667566" y="2958084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667566" y="2958084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iets</a:t>
            </a:r>
            <a:endParaRPr lang="en-US" sz="1900" dirty="0"/>
          </a:p>
        </p:txBody>
      </p:sp>
      <p:sp>
        <p:nvSpPr>
          <p:cNvPr id="30" name="Shape 26"/>
          <p:cNvSpPr/>
          <p:nvPr/>
        </p:nvSpPr>
        <p:spPr>
          <a:xfrm>
            <a:off x="5584526" y="2958084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584526" y="2958084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32" name="Shape 28"/>
          <p:cNvSpPr/>
          <p:nvPr/>
        </p:nvSpPr>
        <p:spPr>
          <a:xfrm>
            <a:off x="6371247" y="2958084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6371247" y="2958084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zeggen.</a:t>
            </a:r>
            <a:endParaRPr lang="en-US" sz="1900" dirty="0"/>
          </a:p>
        </p:txBody>
      </p:sp>
      <p:sp>
        <p:nvSpPr>
          <p:cNvPr id="34" name="Shape 30"/>
          <p:cNvSpPr/>
          <p:nvPr/>
        </p:nvSpPr>
        <p:spPr>
          <a:xfrm>
            <a:off x="3929506" y="3561588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3929506" y="3707892"/>
            <a:ext cx="3173392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 flipV="1">
            <a:off x="7102898" y="3561588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3983736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3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>
            <a:off x="914400" y="3983736"/>
            <a:ext cx="2829285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914400" y="3983736"/>
            <a:ext cx="282928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Ik heb geen tijd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388084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8084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4667566" y="3983736"/>
            <a:ext cx="1783263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4667566" y="3983736"/>
            <a:ext cx="178326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mijn bureau</a:t>
            </a:r>
            <a:endParaRPr lang="en-US" sz="1900" dirty="0"/>
          </a:p>
        </p:txBody>
      </p:sp>
      <p:sp>
        <p:nvSpPr>
          <p:cNvPr id="44" name="Shape 40"/>
          <p:cNvSpPr/>
          <p:nvPr/>
        </p:nvSpPr>
        <p:spPr>
          <a:xfrm>
            <a:off x="653312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53312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op</a:t>
            </a:r>
            <a:endParaRPr lang="en-US" sz="1900" dirty="0"/>
          </a:p>
        </p:txBody>
      </p:sp>
      <p:sp>
        <p:nvSpPr>
          <p:cNvPr id="46" name="Shape 42"/>
          <p:cNvSpPr/>
          <p:nvPr/>
        </p:nvSpPr>
        <p:spPr>
          <a:xfrm>
            <a:off x="7319845" y="3983736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19845" y="3983736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48" name="Shape 44"/>
          <p:cNvSpPr/>
          <p:nvPr/>
        </p:nvSpPr>
        <p:spPr>
          <a:xfrm>
            <a:off x="8106566" y="3983736"/>
            <a:ext cx="1463303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06566" y="3983736"/>
            <a:ext cx="146330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ruimen.</a:t>
            </a:r>
            <a:endParaRPr lang="en-US" sz="1900" dirty="0"/>
          </a:p>
        </p:txBody>
      </p:sp>
      <p:sp>
        <p:nvSpPr>
          <p:cNvPr id="50" name="Shape 46"/>
          <p:cNvSpPr/>
          <p:nvPr/>
        </p:nvSpPr>
        <p:spPr>
          <a:xfrm>
            <a:off x="4233058" y="4587240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233058" y="4733544"/>
            <a:ext cx="460516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 flipV="1">
            <a:off x="8838217" y="4587240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48640" y="5009388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4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914400" y="5009388"/>
            <a:ext cx="2981061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14400" y="5009388"/>
            <a:ext cx="298106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Het is belangrijk</a:t>
            </a:r>
            <a:endParaRPr lang="en-US" sz="1900" dirty="0"/>
          </a:p>
        </p:txBody>
      </p:sp>
      <p:sp>
        <p:nvSpPr>
          <p:cNvPr id="56" name="Shape 52"/>
          <p:cNvSpPr/>
          <p:nvPr/>
        </p:nvSpPr>
        <p:spPr>
          <a:xfrm>
            <a:off x="4032621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4032621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om</a:t>
            </a:r>
            <a:endParaRPr lang="en-US" sz="1900" dirty="0"/>
          </a:p>
        </p:txBody>
      </p:sp>
      <p:sp>
        <p:nvSpPr>
          <p:cNvPr id="58" name="Shape 54"/>
          <p:cNvSpPr/>
          <p:nvPr/>
        </p:nvSpPr>
        <p:spPr>
          <a:xfrm>
            <a:off x="4819342" y="5009388"/>
            <a:ext cx="834664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819342" y="5009388"/>
            <a:ext cx="834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sp>
        <p:nvSpPr>
          <p:cNvPr id="60" name="Shape 56"/>
          <p:cNvSpPr/>
          <p:nvPr/>
        </p:nvSpPr>
        <p:spPr>
          <a:xfrm>
            <a:off x="5736302" y="5009388"/>
            <a:ext cx="1241207" cy="566928"/>
          </a:xfrm>
          <a:prstGeom prst="roundRect">
            <a:avLst>
              <a:gd name="adj" fmla="val 161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736302" y="5009388"/>
            <a:ext cx="12412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te laat</a:t>
            </a:r>
            <a:endParaRPr lang="en-US" sz="1900" dirty="0"/>
          </a:p>
        </p:txBody>
      </p:sp>
      <p:sp>
        <p:nvSpPr>
          <p:cNvPr id="62" name="Shape 58"/>
          <p:cNvSpPr/>
          <p:nvPr/>
        </p:nvSpPr>
        <p:spPr>
          <a:xfrm>
            <a:off x="7059804" y="5009388"/>
            <a:ext cx="704424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059804" y="5009388"/>
            <a:ext cx="704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te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7846525" y="5009388"/>
            <a:ext cx="1311528" cy="566928"/>
          </a:xfrm>
          <a:prstGeom prst="roundRect">
            <a:avLst>
              <a:gd name="adj" fmla="val 161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7846525" y="5009388"/>
            <a:ext cx="1311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komen.</a:t>
            </a:r>
            <a:endParaRPr lang="en-US" sz="1900" dirty="0"/>
          </a:p>
        </p:txBody>
      </p:sp>
      <p:sp>
        <p:nvSpPr>
          <p:cNvPr id="66" name="Shape 62"/>
          <p:cNvSpPr/>
          <p:nvPr/>
        </p:nvSpPr>
        <p:spPr>
          <a:xfrm>
            <a:off x="4384833" y="5612892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384833" y="5759196"/>
            <a:ext cx="4117455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 flipV="1">
            <a:off x="8502289" y="5612892"/>
            <a:ext cx="914" cy="14630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Lucas écrit à sa collègue.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Lucas Peeters · Aan: Emma De Smet · Onderwerp: rapport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Emma,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je </a:t>
            </a:r>
            <a:r>
              <a:rPr lang="en-US" sz="1800" i="1" dirty="0">
                <a:solidFill>
                  <a:schemeClr val="tx1"/>
                </a:solidFill>
              </a:rPr>
              <a:t>voor te vragen</a:t>
            </a:r>
            <a:r>
              <a:rPr lang="en-US" sz="1800" i="1" dirty="0">
                <a:solidFill>
                  <a:schemeClr val="tx1"/>
                </a:solidFill>
              </a:rPr>
              <a:t> of je morgen tijd hebt. Ik probeer al de hele week </a:t>
            </a:r>
            <a:r>
              <a:rPr lang="en-US" sz="1800" i="1" dirty="0">
                <a:solidFill>
                  <a:schemeClr val="tx1"/>
                </a:solidFill>
              </a:rPr>
              <a:t>je bellen</a:t>
            </a:r>
            <a:r>
              <a:rPr lang="en-US" sz="1800" i="1" dirty="0">
                <a:solidFill>
                  <a:schemeClr val="tx1"/>
                </a:solidFill>
              </a:rPr>
              <a:t>, maar je neemt niet op. Ik wil graag </a:t>
            </a:r>
            <a:r>
              <a:rPr lang="en-US" sz="1800" i="1" dirty="0">
                <a:solidFill>
                  <a:schemeClr val="tx1"/>
                </a:solidFill>
              </a:rPr>
              <a:t>te weten</a:t>
            </a:r>
            <a:r>
              <a:rPr lang="en-US" sz="1800" i="1" dirty="0">
                <a:solidFill>
                  <a:schemeClr val="tx1"/>
                </a:solidFill>
              </a:rPr>
              <a:t> of het rapport klaar is. Zelf heb ik nog geen tijd gehad om de cijfers </a:t>
            </a:r>
            <a:r>
              <a:rPr lang="en-US" sz="1800" i="1" dirty="0">
                <a:solidFill>
                  <a:schemeClr val="tx1"/>
                </a:solidFill>
              </a:rPr>
              <a:t>te nakijken</a:t>
            </a:r>
            <a:r>
              <a:rPr lang="en-US" sz="1800" i="1" dirty="0">
                <a:solidFill>
                  <a:schemeClr val="tx1"/>
                </a:solidFill>
              </a:rPr>
              <a:t>. Je hoeft niet meteen te antwoorden, maar het is belangrijk om het voor vrijdag </a:t>
            </a:r>
            <a:r>
              <a:rPr lang="en-US" sz="1800" i="1" dirty="0">
                <a:solidFill>
                  <a:schemeClr val="tx1"/>
                </a:solidFill>
              </a:rPr>
              <a:t>afmaken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Lucas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Lucas écrit à sa collègue.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Lucas Peeters · Aan: Emma De Smet · Onderwerp: rapport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Hoi Emma,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schrijf je </a:t>
            </a:r>
            <a:r>
              <a:rPr lang="en-US" sz="1800" i="1" strike="sngStrike" dirty="0">
                <a:solidFill>
                  <a:schemeClr val="accent6"/>
                </a:solidFill>
              </a:rPr>
              <a:t>voor te vragen</a:t>
            </a:r>
            <a:r>
              <a:rPr lang="en-US" sz="1800" b="1" i="1" dirty="0">
                <a:solidFill>
                  <a:schemeClr val="accent3"/>
                </a:solidFill>
              </a:rPr>
              <a:t> om te vragen</a:t>
            </a:r>
            <a:r>
              <a:rPr lang="en-US" sz="1800" i="1" dirty="0">
                <a:solidFill>
                  <a:schemeClr val="tx1"/>
                </a:solidFill>
              </a:rPr>
              <a:t> of je morgen tijd hebt. Ik probeer al de hele week </a:t>
            </a:r>
            <a:r>
              <a:rPr lang="en-US" sz="1800" i="1" strike="sngStrike" dirty="0">
                <a:solidFill>
                  <a:schemeClr val="accent6"/>
                </a:solidFill>
              </a:rPr>
              <a:t>je bellen</a:t>
            </a:r>
            <a:r>
              <a:rPr lang="en-US" sz="1800" b="1" i="1" dirty="0">
                <a:solidFill>
                  <a:schemeClr val="accent3"/>
                </a:solidFill>
              </a:rPr>
              <a:t> je te bellen</a:t>
            </a:r>
            <a:r>
              <a:rPr lang="en-US" sz="1800" i="1" dirty="0">
                <a:solidFill>
                  <a:schemeClr val="tx1"/>
                </a:solidFill>
              </a:rPr>
              <a:t>, maar je neemt niet op. Ik wil graag </a:t>
            </a:r>
            <a:r>
              <a:rPr lang="en-US" sz="1800" i="1" strike="sngStrike" dirty="0">
                <a:solidFill>
                  <a:schemeClr val="accent6"/>
                </a:solidFill>
              </a:rPr>
              <a:t>te weten</a:t>
            </a:r>
            <a:r>
              <a:rPr lang="en-US" sz="1800" b="1" i="1" dirty="0">
                <a:solidFill>
                  <a:schemeClr val="accent3"/>
                </a:solidFill>
              </a:rPr>
              <a:t> weten</a:t>
            </a:r>
            <a:r>
              <a:rPr lang="en-US" sz="1800" i="1" dirty="0">
                <a:solidFill>
                  <a:schemeClr val="tx1"/>
                </a:solidFill>
              </a:rPr>
              <a:t> of het rapport klaar is. Zelf heb ik nog geen tijd gehad om de cijfers </a:t>
            </a:r>
            <a:r>
              <a:rPr lang="en-US" sz="1800" i="1" strike="sngStrike" dirty="0">
                <a:solidFill>
                  <a:schemeClr val="accent6"/>
                </a:solidFill>
              </a:rPr>
              <a:t>te nakijken</a:t>
            </a:r>
            <a:r>
              <a:rPr lang="en-US" sz="1800" b="1" i="1" dirty="0">
                <a:solidFill>
                  <a:schemeClr val="accent3"/>
                </a:solidFill>
              </a:rPr>
              <a:t> na te kijken</a:t>
            </a:r>
            <a:r>
              <a:rPr lang="en-US" sz="1800" i="1" dirty="0">
                <a:solidFill>
                  <a:schemeClr val="tx1"/>
                </a:solidFill>
              </a:rPr>
              <a:t>. Je hoeft niet meteen te antwoorden, maar het is belangrijk om het voor vrijdag </a:t>
            </a:r>
            <a:r>
              <a:rPr lang="en-US" sz="1800" i="1" strike="sngStrike" dirty="0">
                <a:solidFill>
                  <a:schemeClr val="accent6"/>
                </a:solidFill>
              </a:rPr>
              <a:t>afmaken</a:t>
            </a:r>
            <a:r>
              <a:rPr lang="en-US" sz="1800" b="1" i="1" dirty="0">
                <a:solidFill>
                  <a:schemeClr val="accent3"/>
                </a:solidFill>
              </a:rPr>
              <a:t> af te maken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Groetjes,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Lucas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Corrects : </a:t>
            </a:r>
            <a:r>
              <a:rPr lang="en-US" sz="1400" i="1" dirty="0">
                <a:solidFill>
                  <a:schemeClr val="accent5"/>
                </a:solidFill>
              </a:rPr>
              <a:t>of je morgen tijd hebt</a:t>
            </a:r>
            <a:r>
              <a:rPr lang="en-US" sz="1400" i="1" dirty="0">
                <a:solidFill>
                  <a:schemeClr val="accent5"/>
                </a:solidFill>
              </a:rPr>
              <a:t> (question indirecte) et </a:t>
            </a:r>
            <a:r>
              <a:rPr lang="en-US" sz="1400" i="1" dirty="0">
                <a:solidFill>
                  <a:schemeClr val="accent5"/>
                </a:solidFill>
              </a:rPr>
              <a:t>Je hoeft niet meteen te antwoorden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Mes bonnes résolutions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417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Tirez un début de phrase et une image, puis formulez une résolution pour l’année.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 rot="-120000">
            <a:off x="548640" y="201168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48640" y="2011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probeer…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rot="120000">
            <a:off x="3063240" y="201168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 rot="120000">
            <a:off x="3063240" y="20116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ben van plan om…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 rot="60000">
            <a:off x="548640" y="288036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 rot="60000">
            <a:off x="5486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heb zin om…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 rot="-120000">
            <a:off x="3063240" y="288036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 rot="-120000">
            <a:off x="3063240" y="28803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wil…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 rot="120000">
            <a:off x="548640" y="374904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 rot="120000">
            <a:off x="54864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Het is belangrijk om…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 rot="60000">
            <a:off x="3063240" y="3749040"/>
            <a:ext cx="2377440" cy="731520"/>
          </a:xfrm>
          <a:prstGeom prst="roundRect">
            <a:avLst>
              <a:gd name="adj" fmla="val 15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 rot="60000">
            <a:off x="306324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bg1"/>
                </a:solidFill>
              </a:rPr>
              <a:t>Ik hoef niet meer…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 rot="120000">
            <a:off x="580644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0" name="Image 0" descr="person run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6208" y="2084832"/>
            <a:ext cx="512064" cy="512064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85216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sporten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 rot="-120000">
            <a:off x="726948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3" name="Image 1" descr="book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9248" y="2084832"/>
            <a:ext cx="512064" cy="512064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31520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meer lezen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 rot="60000">
            <a:off x="873252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6" name="Image 2" descr="mobile 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288" y="2084832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7824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minder op mijn gsm zitten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 rot="-60000">
            <a:off x="10195560" y="201168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2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5328" y="2084832"/>
            <a:ext cx="512064" cy="512064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0241280" y="2615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vroeger opstaan</a:t>
            </a:r>
            <a:endParaRPr lang="en-US" sz="1200" dirty="0"/>
          </a:p>
        </p:txBody>
      </p:sp>
      <p:sp>
        <p:nvSpPr>
          <p:cNvPr id="31" name="Shape 24"/>
          <p:cNvSpPr/>
          <p:nvPr/>
        </p:nvSpPr>
        <p:spPr>
          <a:xfrm rot="120000">
            <a:off x="580644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2" name="Image 4" descr="green sal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3410712"/>
            <a:ext cx="512064" cy="51206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585216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gezonder eten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 rot="-120000">
            <a:off x="726948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5" name="Image 5" descr="speech ballo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99248" y="3410712"/>
            <a:ext cx="512064" cy="51206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731520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Nederlands spreken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 rot="60000">
            <a:off x="873252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38" name="Image 6" descr="bicyc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62288" y="3410712"/>
            <a:ext cx="512064" cy="512064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877824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met de fiets gaan</a:t>
            </a:r>
            <a:endParaRPr lang="en-US" sz="1200" dirty="0"/>
          </a:p>
        </p:txBody>
      </p:sp>
      <p:sp>
        <p:nvSpPr>
          <p:cNvPr id="40" name="Shape 30"/>
          <p:cNvSpPr/>
          <p:nvPr/>
        </p:nvSpPr>
        <p:spPr>
          <a:xfrm rot="-60000">
            <a:off x="10195560" y="3337560"/>
            <a:ext cx="1371600" cy="1188720"/>
          </a:xfrm>
          <a:prstGeom prst="roundRect">
            <a:avLst>
              <a:gd name="adj" fmla="val 9231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pic>
        <p:nvPicPr>
          <p:cNvPr id="41" name="Image 7" descr="be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5328" y="3410712"/>
            <a:ext cx="512064" cy="512064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10241280" y="394106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6"/>
                </a:solidFill>
              </a:rPr>
              <a:t>meer slapen</a:t>
            </a:r>
            <a:endParaRPr lang="en-US" sz="1200" dirty="0"/>
          </a:p>
        </p:txBody>
      </p:sp>
      <p:sp>
        <p:nvSpPr>
          <p:cNvPr id="43" name="Shape 32"/>
          <p:cNvSpPr/>
          <p:nvPr/>
        </p:nvSpPr>
        <p:spPr>
          <a:xfrm>
            <a:off x="548640" y="4754880"/>
            <a:ext cx="11091672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33"/>
          <p:cNvSpPr txBox="1"/>
          <p:nvPr/>
        </p:nvSpPr>
        <p:spPr>
          <a:xfrm>
            <a:off x="777240" y="475488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ben van plan </a:t>
            </a:r>
            <a:r>
              <a:rPr lang="en-US" sz="1800" b="1" i="1" dirty="0">
                <a:solidFill>
                  <a:srgbClr val="6E4A9E"/>
                </a:solidFill>
              </a:rPr>
              <a:t>om</a:t>
            </a:r>
            <a:r>
              <a:rPr lang="en-US" sz="1800" i="1" dirty="0">
                <a:solidFill>
                  <a:schemeClr val="tx1"/>
                </a:solidFill>
              </a:rPr>
              <a:t> elke dag Nederlands </a:t>
            </a:r>
            <a:r>
              <a:rPr lang="en-US" sz="1800" b="1" i="1" dirty="0">
                <a:solidFill>
                  <a:srgbClr val="D9700F"/>
                </a:solidFill>
              </a:rPr>
              <a:t>te spreken</a:t>
            </a:r>
            <a:r>
              <a:rPr lang="en-US" sz="1800" i="1" dirty="0">
                <a:solidFill>
                  <a:schemeClr val="tx1"/>
                </a:solidFill>
              </a:rPr>
              <a:t>. · Ik wil meer </a:t>
            </a:r>
            <a:r>
              <a:rPr lang="en-US" sz="1800" b="1" i="1" dirty="0">
                <a:solidFill>
                  <a:srgbClr val="B83227"/>
                </a:solidFill>
              </a:rPr>
              <a:t>lezen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45" name="Text 34"/>
          <p:cNvSpPr txBox="1"/>
          <p:nvPr/>
        </p:nvSpPr>
        <p:spPr>
          <a:xfrm>
            <a:off x="548640" y="557784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 point</a:t>
            </a:r>
            <a:r>
              <a:rPr lang="en-US" sz="1500" dirty="0">
                <a:solidFill>
                  <a:schemeClr val="tx1"/>
                </a:solidFill>
              </a:rPr>
              <a:t> par phrase correcte (</a:t>
            </a:r>
            <a:r>
              <a:rPr lang="en-US" sz="1500" i="1" dirty="0">
                <a:solidFill>
                  <a:schemeClr val="tx1"/>
                </a:solidFill>
              </a:rPr>
              <a:t>te</a:t>
            </a:r>
            <a:r>
              <a:rPr lang="en-US" sz="1500" dirty="0">
                <a:solidFill>
                  <a:schemeClr val="tx1"/>
                </a:solidFill>
              </a:rPr>
              <a:t> ou pas </a:t>
            </a:r>
            <a:r>
              <a:rPr lang="en-US" sz="1500" i="1" dirty="0">
                <a:solidFill>
                  <a:schemeClr val="tx1"/>
                </a:solidFill>
              </a:rPr>
              <a:t>te</a:t>
            </a:r>
            <a:r>
              <a:rPr lang="en-US" sz="1500" dirty="0">
                <a:solidFill>
                  <a:schemeClr val="tx1"/>
                </a:solidFill>
              </a:rPr>
              <a:t>, la pince) · le groupe réagit : </a:t>
            </a:r>
            <a:r>
              <a:rPr lang="en-US" sz="1500" i="1" dirty="0">
                <a:solidFill>
                  <a:schemeClr val="tx1"/>
                </a:solidFill>
              </a:rPr>
              <a:t>Goed idee! · Dat is moeilijk om vol te houden!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L’entretien d’embauche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Entretien chez Maesbouw pour un poste d’assistant·e administratif·ve. Objectif : 6 infinitifs avec te ou om … 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recruteur·euse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Demandez pourquoi B postule, ce qu’il·elle veut apprendre, ses projets.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candidat·e</a:t>
            </a:r>
            <a:endParaRPr lang="en-US" sz="17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Répondez avec te et om … te. Posez une question à la fin.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Waarom solliciteert u? · Ik solliciteer om … te … · Ik ben van plan om … te … · Ik probeer … te … · Ik hoop … te … · Het is voor mij belangrijk om … te … · Ik heb zin om … te … · Ik ben klaar om te beginnen. · Ik hoef niet … te …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VACATURE · MAESBOUW</a:t>
            </a:r>
            <a:endParaRPr lang="en-US" sz="1300" dirty="0"/>
          </a:p>
        </p:txBody>
      </p:sp>
      <p:pic>
        <p:nvPicPr>
          <p:cNvPr id="22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91472" y="2167128"/>
            <a:ext cx="731520" cy="7315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211312" y="29900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Administratief medewerker (m/v/x)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8302752" y="367588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offertes </a:t>
            </a:r>
            <a:r>
              <a:rPr lang="en-US" sz="1400" b="1" i="1" dirty="0">
                <a:solidFill>
                  <a:schemeClr val="tx1"/>
                </a:solidFill>
              </a:rPr>
              <a:t>opmaken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302752" y="41788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klanten </a:t>
            </a:r>
            <a:r>
              <a:rPr lang="en-US" sz="1400" b="1" i="1" dirty="0">
                <a:solidFill>
                  <a:schemeClr val="tx1"/>
                </a:solidFill>
              </a:rPr>
              <a:t>opbellen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302752" y="46817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facturen </a:t>
            </a:r>
            <a:r>
              <a:rPr lang="en-US" sz="1400" b="1" i="1" dirty="0">
                <a:solidFill>
                  <a:schemeClr val="tx1"/>
                </a:solidFill>
              </a:rPr>
              <a:t>nakijken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302752" y="518464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• </a:t>
            </a:r>
            <a:r>
              <a:rPr lang="en-US" sz="1400" i="1" dirty="0">
                <a:solidFill>
                  <a:schemeClr val="tx1"/>
                </a:solidFill>
              </a:rPr>
              <a:t>Nederlands en Frans </a:t>
            </a:r>
            <a:r>
              <a:rPr lang="en-US" sz="1400" b="1" i="1" dirty="0">
                <a:solidFill>
                  <a:schemeClr val="tx1"/>
                </a:solidFill>
              </a:rPr>
              <a:t>spreken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8211312" y="56967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Start: zo snel mogelijk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te</a:t>
            </a:r>
            <a:r>
              <a:rPr lang="en-US" sz="2000" dirty="0">
                <a:solidFill>
                  <a:schemeClr val="tx1"/>
                </a:solidFill>
              </a:rPr>
              <a:t> ou pas </a:t>
            </a:r>
            <a:r>
              <a:rPr lang="en-US" sz="2000" i="1" dirty="0">
                <a:solidFill>
                  <a:schemeClr val="tx1"/>
                </a:solidFill>
              </a:rPr>
              <a:t>te</a:t>
            </a:r>
            <a:r>
              <a:rPr lang="en-US" sz="2000" dirty="0">
                <a:solidFill>
                  <a:schemeClr val="tx1"/>
                </a:solidFill>
              </a:rPr>
              <a:t> ? </a:t>
            </a:r>
            <a:r>
              <a:rPr lang="en-US" sz="2000" i="1" dirty="0">
                <a:solidFill>
                  <a:schemeClr val="tx1"/>
                </a:solidFill>
              </a:rPr>
              <a:t>Ik probeer … komen. · Ik wil … komen.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En néerlandais : </a:t>
            </a:r>
            <a:r>
              <a:rPr lang="en-US" sz="2000" i="1" dirty="0">
                <a:solidFill>
                  <a:schemeClr val="tx1"/>
                </a:solidFill>
              </a:rPr>
              <a:t>Je vais à la banque pour retirer de l’argent.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Remettez dans l’ordre : </a:t>
            </a:r>
            <a:r>
              <a:rPr lang="en-US" sz="2000" i="1" dirty="0">
                <a:solidFill>
                  <a:schemeClr val="tx1"/>
                </a:solidFill>
              </a:rPr>
              <a:t>om · morgen · te · bellen · op · je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Exprimer un but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Book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Défi de la semaine</a:t>
            </a:r>
            <a:r>
              <a:rPr lang="en-US" sz="1800" dirty="0">
                <a:solidFill>
                  <a:schemeClr val="bg1"/>
                </a:solidFill>
              </a:rPr>
              <a:t> : écrivez 3 résolutions avec </a:t>
            </a:r>
            <a:r>
              <a:rPr lang="en-US" sz="1800" i="1" dirty="0">
                <a:solidFill>
                  <a:schemeClr val="bg1"/>
                </a:solidFill>
              </a:rPr>
              <a:t>te</a:t>
            </a:r>
            <a:r>
              <a:rPr lang="en-US" sz="1800" dirty="0">
                <a:solidFill>
                  <a:schemeClr val="bg1"/>
                </a:solidFill>
              </a:rPr>
              <a:t> et 2 phrases avec </a:t>
            </a:r>
            <a:r>
              <a:rPr lang="en-US" sz="1800" i="1" dirty="0">
                <a:solidFill>
                  <a:schemeClr val="bg1"/>
                </a:solidFill>
              </a:rPr>
              <a:t>om … te</a:t>
            </a:r>
            <a:r>
              <a:rPr lang="en-US" sz="1800" dirty="0">
                <a:solidFill>
                  <a:schemeClr val="bg1"/>
                </a:solidFill>
              </a:rPr>
              <a:t> (pourquoi apprenez-vous le néerlandais ?).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Ik bel om een afspraak te maken — L’infinitif avec te et om … te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2026-10-06T17:53:51Z</dcterms:created>
  <dcterms:modified xsi:type="dcterms:W3CDTF">2026-10-06T17:53:51Z</dcterms:modified>
</cp:coreProperties>
</file>