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c067a48-1e18-9a5d-1b0d-9d3712238fcc}">
          <p14:sldIdLst>
            <p14:sldId id="256"/>
          </p14:sldIdLst>
        </p14:section>
        <p14:section name="Découvrir" id="{61957693-fe8c-e336-4051-8fb680fd2475}">
          <p14:sldIdLst>
            <p14:sldId id="257"/>
            <p14:sldId id="258"/>
            <p14:sldId id="259"/>
          </p14:sldIdLst>
        </p14:section>
        <p14:section name="Te ou pas te ?" id="{588342d0-cea6-7c0d-aa4e-9d3786099b21}">
          <p14:sldIdLst>
            <p14:sldId id="260"/>
            <p14:sldId id="261"/>
            <p14:sldId id="262"/>
          </p14:sldIdLst>
        </p14:section>
        <p14:section name="Om … te" id="{f1482479-432f-2519-848b-43bef3f6b907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JIJ NU ! — Oefeningen" id="{7f6b9311-f3b7-bc24-b14b-4d5f9c0519c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16183cfa-6885-7b12-b9dc-730a52abbe80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te et la pince om … te.
Demandez : « Comment dire j'appelle pour prendre rendez-vous ? » Laissez proposer voor : c'est le calque le plus fréquent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3 objectifs.
L'infinitif avec te est partout à l'oral et dans les e-mails (Ik probeer je te bellen. · Vergeet niet te antwoorden.).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émerger le problème à partir du français.
Réponses : Ik wil komen (rien) · Ik probeer te komen · Ik bel om een afspraak te maken. Notez au tableau les trois solutions : rien / te / om … 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Trier les verbes : sans te / avec te (schéma T1).
Cas limites (à ne pas présenter d'emblée) : durven (avec ou sans te : Ik durf het niet (te) zeggen), helpen et leren (souvent sans te : Ik help je verhuizen · Ik leer zwemmen), hoeven (avec te, dans une phrase négative).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la famille « sans te ».
Erreur fréquente : ~~Ik wil te komen~~, par analogie avec proberen te. Faites répéter en chœur : Ik wil komen · Ik probeer te komen.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la famille « avec te » et le lien avec « de / à ».
Le parallèle « de / à » → te aide, mais n'est pas une règle absolue (j'espère venir → Ik hoop te komen). Autres verbes fréquents avec te : besluiten (décider de), weigeren (refuser de), proberen, vragen (demander de : Hij vraagt me te wachten), van plan zijn om … 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zitten / staan / liggen / lopen te et niet hoeven te.
Rappel du complément Le double infinitif : au passé, zitten te lezen devient heb zitten lezen (sans te). Aux Pays-Bas, Je moet niet komen peut sonner comme une interdiction ; Je hoeft niet te komen est clair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 but avec om … te (schéma T2).
om … te répond à Waarom? ou Waarvoor? Faites poser la question en chaîne : Waarom leer je Nederlands? — Om … La réponse courte Om te werken. est correcte à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om … te après un nom (zin, tijd) ou un adjectif (leuk, moeilijk).
Après un nom ou un adjectif, om est la règle ; après beginnen, hoeven, zitten te…, seulement te ; avec proberen, besluiten, vergeten, beloven, vragen, om est facultatif. Avec besluiten, vergeten, vragen, om est facultatif.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la pince : place des compléments, du verbe séparable et de niet (schéma T3).
Lien avec M11 et le complément sur les particules : op te bellen, af te maken, in te vullen. Faites dicter des pinces de plus en plus longues (« le jeu de l'accordéon ») : om te bellen → om de klant te bellen → om morgen de klant op te bellen.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trois autres pinces : zonder, in plaats van, door.
Quand la pince est en tête de phrase, le verbe principal suit immédiatement (inversion) : In plaats van te werken, zit hij… · Door veel te lezen, leer je… door … te traduit « en + participe » seulement pour le moyen ; pour la simultanéité : Terwijl hij wandelt, belt hij. (en marchant, il téléphone)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 calque « pour » = voor devant un verbe.
Test rapide : « pour » + un verbe → om … te. Wat moet ik doen om …? (que dois-je faire pour… ?) est une formule très utile au guichet. Ik kom je helpen (avec komen, sans te) = je viens t'aider.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Mettre au passé composé une phrase avec te ou om … te.
Ordre : Ik heb geprobeerd je te bellen (le participe d'abord, puis le groupe avec te). À l'oral, on entend aussi Ik heb je proberen te bellen (correct).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Invitez à photographier la diapo.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 1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te et rien.
Ø : modaux, gaan, laten → pas de te. N° 4 : te sluiten, mais dicht te doen (séparable).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te et rien.
Ø : modaux, gaan, laten → pas de te. N° 4 : te sluiten, mais dicht te doen (séparable).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 but avec om … te, y compris avec un verbe séparable.
N° 3 : afhalen est séparable → af te halen. N° 5 : de fitness (BE) = la salle de sport. Prolongez : chaque apprenant·e dit où il·elle va cette semaine, et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Exprimer un but avec om … te, y compris avec un verbe séparable.
N° 3 : afhalen est séparable → af te halen. N° 5 : de fitness (BE) = la salle de sport. Prolongez : chaque apprenant·e dit où il·elle va cette semaine, et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Remettre dans l'ordre les éléments d'une pince.
Faites-le d'abord avec des étiquettes en papier, par deux. N° 3 : opruimen est séparable → op te ruimen. N° 4 : deux te (te laat = trop tard ; te komen = infinitif).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Remettre dans l'ordre les éléments d'une pince.
Faites-le d'abord avec des étiquettes en papier, par deux. N° 3 : opruimen est séparable → op te ruimen. N° 4 : deux te (te laat = trop tard ; te komen = infinitif).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dans un e-mail professionnel.
Leurres corrects : of je morgen tijd hebt (question indirecte, M9) et Je hoeft niet meteen te antwoorden. Faites classer les erreurs : calque « pour » (1), te oublié (2, 5), te en trop (3), te mal placé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dans un e-mail professionnel.
Leurres corrects : of je morgen tijd hebt (question indirecte, M9) et Je hoeft niet meteen te antwoorden. Faites classer les erreurs : calque « pour » (1), te oublié (2, 5), te en trop (3), te mal placé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librement des phrases avec ou sans te, de façon ludique.
Attention au séparable : vroeger op te staan (mais minder op mijn gsm te zitten : ici op est une préposition). Avec Ik wil…, pas de te : c'est le piège du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un entretien d'embauche avec au moins 6 infinitifs avec te ou om … te.
Les tâches de l'offre sont des verbes séparables : bonne occasion de faire dire om offertes op te maken, om klanten op te bellen. Comptez les infinitifs avec te de B, puis inversez les rôles.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Ik probeer te komen. · Ik wil komen.
2. Ik ga naar de bank om geld af te halen. (aussi : om geld te halen ; NL : om geld op te nemen)
3. om je morgen op te bellen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· A2–B1 · te et om … 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· A2–B1 · te et om … 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741371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COMPLÉMENT · A2–B1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Ik bel om een afspraak te maken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L’infinitif avec te et om … te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 ou pas te ? · la pince om … 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544068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telephone recei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2588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2606040"/>
            <a:ext cx="977311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606040"/>
            <a:ext cx="977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 bel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43287" y="2606040"/>
            <a:ext cx="656495" cy="530352"/>
          </a:xfrm>
          <a:prstGeom prst="roundRect">
            <a:avLst>
              <a:gd name="adj" fmla="val 17241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43287" y="2606040"/>
            <a:ext cx="6564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78" y="2606040"/>
            <a:ext cx="1662013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2078" y="2606040"/>
            <a:ext cx="166201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een afspraak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26387" y="2606040"/>
            <a:ext cx="656495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126387" y="2606040"/>
            <a:ext cx="6564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65179" y="2606040"/>
            <a:ext cx="1167740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865179" y="2606040"/>
            <a:ext cx="11677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maken.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971534" y="3172968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71534" y="3392424"/>
            <a:ext cx="3477514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1449049" y="3172968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71534" y="3410712"/>
            <a:ext cx="3477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la pince om … 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Trier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sais quand mettre te, et quand ne pas le mettre.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Exprimer un but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pourquoi avec om … te : Ik bel om …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Construire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place tout dans la pince, même un verbe séparable.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français dit « de », « à », « pour »… Le néerlandais dit te, om … te, ou rien.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Avec ou sans te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erson wal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822960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91640" y="1965960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19656" y="1965960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47672" y="1965960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691640" y="196596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19456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Je veux venir.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15087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943600" y="1965960"/>
            <a:ext cx="384048" cy="84491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0" y="2050451"/>
            <a:ext cx="384048" cy="84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0" y="2134941"/>
            <a:ext cx="384048" cy="84491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0" y="196596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1837944"/>
            <a:ext cx="520842" cy="530352"/>
          </a:xfrm>
          <a:prstGeom prst="roundRect">
            <a:avLst>
              <a:gd name="adj" fmla="val 1755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1837944"/>
            <a:ext cx="5208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022226" y="1837944"/>
            <a:ext cx="784306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22226" y="1837944"/>
            <a:ext cx="78430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wil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861397" y="1837944"/>
            <a:ext cx="528684" cy="530352"/>
          </a:xfrm>
          <a:prstGeom prst="roundRect">
            <a:avLst>
              <a:gd name="adj" fmla="val 17296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7861397" y="1837944"/>
            <a:ext cx="528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444945" y="1837944"/>
            <a:ext cx="1167740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444945" y="1837944"/>
            <a:ext cx="11677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komen.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28346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1" descr="crossed fing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822960" cy="8229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691640" y="3291840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819656" y="3291840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47672" y="3291840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91640" y="329184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194560" y="29260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J’essaie de venir.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5440680" y="28346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Shape 28"/>
          <p:cNvSpPr/>
          <p:nvPr/>
        </p:nvSpPr>
        <p:spPr>
          <a:xfrm>
            <a:off x="5943600" y="3291840"/>
            <a:ext cx="384048" cy="84491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943600" y="3376331"/>
            <a:ext cx="384048" cy="84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43600" y="3460821"/>
            <a:ext cx="384048" cy="84491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943600" y="329184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46520" y="3163824"/>
            <a:ext cx="520842" cy="530352"/>
          </a:xfrm>
          <a:prstGeom prst="roundRect">
            <a:avLst>
              <a:gd name="adj" fmla="val 1755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46520" y="3163824"/>
            <a:ext cx="5208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</a:t>
            </a:r>
            <a:endParaRPr lang="en-US" sz="1600" dirty="0"/>
          </a:p>
        </p:txBody>
      </p:sp>
      <p:sp>
        <p:nvSpPr>
          <p:cNvPr id="39" name="Shape 34"/>
          <p:cNvSpPr/>
          <p:nvPr/>
        </p:nvSpPr>
        <p:spPr>
          <a:xfrm>
            <a:off x="7022226" y="3163824"/>
            <a:ext cx="1295551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022226" y="3163824"/>
            <a:ext cx="12955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probeer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8372641" y="3163824"/>
            <a:ext cx="528684" cy="530352"/>
          </a:xfrm>
          <a:prstGeom prst="roundRect">
            <a:avLst>
              <a:gd name="adj" fmla="val 17296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42" name="Text 37"/>
          <p:cNvSpPr txBox="1"/>
          <p:nvPr/>
        </p:nvSpPr>
        <p:spPr>
          <a:xfrm>
            <a:off x="8372641" y="3163824"/>
            <a:ext cx="528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8956190" y="3163824"/>
            <a:ext cx="1167740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956190" y="3163824"/>
            <a:ext cx="11677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komen.</a:t>
            </a:r>
            <a:endParaRPr lang="en-US" sz="1600" dirty="0"/>
          </a:p>
        </p:txBody>
      </p:sp>
      <p:sp>
        <p:nvSpPr>
          <p:cNvPr id="45" name="Shape 40"/>
          <p:cNvSpPr/>
          <p:nvPr/>
        </p:nvSpPr>
        <p:spPr>
          <a:xfrm>
            <a:off x="548640" y="41605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6" name="Image 2" descr="telephone recei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43400"/>
            <a:ext cx="822960" cy="822960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1691640" y="4617720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819656" y="4617720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947672" y="4617720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691640" y="461772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2194560" y="42519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J’appelle pour prendre rendez-vous.</a:t>
            </a:r>
            <a:endParaRPr lang="en-US" sz="1700" dirty="0"/>
          </a:p>
        </p:txBody>
      </p:sp>
      <p:sp>
        <p:nvSpPr>
          <p:cNvPr id="52" name="Text 46"/>
          <p:cNvSpPr txBox="1"/>
          <p:nvPr/>
        </p:nvSpPr>
        <p:spPr>
          <a:xfrm>
            <a:off x="5440680" y="41605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→</a:t>
            </a:r>
            <a:endParaRPr lang="en-US" sz="2400" dirty="0"/>
          </a:p>
        </p:txBody>
      </p:sp>
      <p:sp>
        <p:nvSpPr>
          <p:cNvPr id="53" name="Shape 47"/>
          <p:cNvSpPr/>
          <p:nvPr/>
        </p:nvSpPr>
        <p:spPr>
          <a:xfrm>
            <a:off x="5943600" y="4617720"/>
            <a:ext cx="384048" cy="84491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943600" y="4702211"/>
            <a:ext cx="384048" cy="84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943600" y="4786701"/>
            <a:ext cx="384048" cy="84491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943600" y="461772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446520" y="4489704"/>
            <a:ext cx="977311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46520" y="4489704"/>
            <a:ext cx="977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 bel</a:t>
            </a:r>
            <a:endParaRPr lang="en-US" sz="1600" dirty="0"/>
          </a:p>
        </p:txBody>
      </p:sp>
      <p:sp>
        <p:nvSpPr>
          <p:cNvPr id="59" name="Shape 53"/>
          <p:cNvSpPr/>
          <p:nvPr/>
        </p:nvSpPr>
        <p:spPr>
          <a:xfrm>
            <a:off x="7478695" y="4489704"/>
            <a:ext cx="528684" cy="530352"/>
          </a:xfrm>
          <a:prstGeom prst="roundRect">
            <a:avLst>
              <a:gd name="adj" fmla="val 17296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60" name="Text 54"/>
          <p:cNvSpPr txBox="1"/>
          <p:nvPr/>
        </p:nvSpPr>
        <p:spPr>
          <a:xfrm>
            <a:off x="7478695" y="4489704"/>
            <a:ext cx="528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61" name="Shape 55"/>
          <p:cNvSpPr/>
          <p:nvPr/>
        </p:nvSpPr>
        <p:spPr>
          <a:xfrm>
            <a:off x="8062243" y="4489704"/>
            <a:ext cx="1662013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8062243" y="4489704"/>
            <a:ext cx="166201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een afspraak</a:t>
            </a:r>
            <a:endParaRPr lang="en-US" sz="1600" dirty="0"/>
          </a:p>
        </p:txBody>
      </p:sp>
      <p:sp>
        <p:nvSpPr>
          <p:cNvPr id="63" name="Shape 57"/>
          <p:cNvSpPr/>
          <p:nvPr/>
        </p:nvSpPr>
        <p:spPr>
          <a:xfrm>
            <a:off x="9779120" y="4489704"/>
            <a:ext cx="528684" cy="530352"/>
          </a:xfrm>
          <a:prstGeom prst="roundRect">
            <a:avLst>
              <a:gd name="adj" fmla="val 17296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64" name="Text 58"/>
          <p:cNvSpPr txBox="1"/>
          <p:nvPr/>
        </p:nvSpPr>
        <p:spPr>
          <a:xfrm>
            <a:off x="9779120" y="4489704"/>
            <a:ext cx="528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65" name="Shape 59"/>
          <p:cNvSpPr/>
          <p:nvPr/>
        </p:nvSpPr>
        <p:spPr>
          <a:xfrm>
            <a:off x="10362668" y="4489704"/>
            <a:ext cx="1167740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10362668" y="4489704"/>
            <a:ext cx="11677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maken.</a:t>
            </a:r>
            <a:endParaRPr lang="en-US" sz="1600" dirty="0"/>
          </a:p>
        </p:txBody>
      </p:sp>
      <p:sp>
        <p:nvSpPr>
          <p:cNvPr id="67" name="Shape 61"/>
          <p:cNvSpPr/>
          <p:nvPr/>
        </p:nvSpPr>
        <p:spPr>
          <a:xfrm>
            <a:off x="548640" y="5596128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68" name="Image 3" descr="thinking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650992"/>
            <a:ext cx="512064" cy="512064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1325880" y="559612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Que mettre à la place des « ? » : </a:t>
            </a:r>
            <a:r>
              <a:rPr lang="en-US" sz="1800" i="1" dirty="0">
                <a:solidFill>
                  <a:schemeClr val="tx1"/>
                </a:solidFill>
              </a:rPr>
              <a:t>te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om</a:t>
            </a:r>
            <a:r>
              <a:rPr lang="en-US" sz="1800" dirty="0">
                <a:solidFill>
                  <a:schemeClr val="tx1"/>
                </a:solidFill>
              </a:rPr>
              <a:t>, ou rien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 ou pas te ? Deux familles de verbes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LE PRINCIPE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E6EBF2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6" name="Image 0" descr="no en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7276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SANS te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65960"/>
            <a:ext cx="4219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les modaux, </a:t>
            </a:r>
            <a:r>
              <a:rPr lang="en-US" sz="1300" i="1" dirty="0">
                <a:solidFill>
                  <a:schemeClr val="accent5"/>
                </a:solidFill>
              </a:rPr>
              <a:t>gaan, komen, blijven, laten, zien, horen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kunnen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996821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996821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moeten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262122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62122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willen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27423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27423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mogen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31520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zullen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996821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996821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gaan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262122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62122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komen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527423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27423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blijven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31520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31520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laten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996821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996821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zien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3262122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262122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horen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822960" y="4526280"/>
            <a:ext cx="549372" cy="585216"/>
          </a:xfrm>
          <a:prstGeom prst="roundRect">
            <a:avLst>
              <a:gd name="adj" fmla="val 1664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2960" y="4526280"/>
            <a:ext cx="5493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454628" y="4526280"/>
            <a:ext cx="832236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454628" y="4526280"/>
            <a:ext cx="8322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wil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2369159" y="4526280"/>
            <a:ext cx="1263598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369159" y="4526280"/>
            <a:ext cx="12635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komen.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6231636" y="146304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</p:spPr>
      </p:sp>
      <p:pic>
        <p:nvPicPr>
          <p:cNvPr id="38" name="Image 1" descr="check mark but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1572768"/>
            <a:ext cx="685800" cy="68580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237476" y="157276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AVEC te</a:t>
            </a:r>
            <a:endParaRPr lang="en-US" sz="2400" dirty="0"/>
          </a:p>
        </p:txBody>
      </p:sp>
      <p:sp>
        <p:nvSpPr>
          <p:cNvPr id="40" name="Text 35"/>
          <p:cNvSpPr txBox="1"/>
          <p:nvPr/>
        </p:nvSpPr>
        <p:spPr>
          <a:xfrm>
            <a:off x="7237476" y="1965960"/>
            <a:ext cx="4219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presque tous les autres verbes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414516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414516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proberen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7679817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679817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beginnen</a:t>
            </a:r>
            <a:endParaRPr lang="en-US" sz="1500" dirty="0"/>
          </a:p>
        </p:txBody>
      </p:sp>
      <p:sp>
        <p:nvSpPr>
          <p:cNvPr id="45" name="Shape 40"/>
          <p:cNvSpPr/>
          <p:nvPr/>
        </p:nvSpPr>
        <p:spPr>
          <a:xfrm>
            <a:off x="8945118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945118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vergeten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10210419" y="246888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0210419" y="246888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beloven</a:t>
            </a:r>
            <a:endParaRPr lang="en-US" sz="1500" dirty="0"/>
          </a:p>
        </p:txBody>
      </p:sp>
      <p:sp>
        <p:nvSpPr>
          <p:cNvPr id="49" name="Shape 44"/>
          <p:cNvSpPr/>
          <p:nvPr/>
        </p:nvSpPr>
        <p:spPr>
          <a:xfrm>
            <a:off x="6414516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414516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besluiten</a:t>
            </a:r>
            <a:endParaRPr lang="en-US" sz="1500" dirty="0"/>
          </a:p>
        </p:txBody>
      </p:sp>
      <p:sp>
        <p:nvSpPr>
          <p:cNvPr id="51" name="Shape 46"/>
          <p:cNvSpPr/>
          <p:nvPr/>
        </p:nvSpPr>
        <p:spPr>
          <a:xfrm>
            <a:off x="7679817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7679817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hopen</a:t>
            </a:r>
            <a:endParaRPr lang="en-US" sz="1500" dirty="0"/>
          </a:p>
        </p:txBody>
      </p:sp>
      <p:sp>
        <p:nvSpPr>
          <p:cNvPr id="53" name="Shape 48"/>
          <p:cNvSpPr/>
          <p:nvPr/>
        </p:nvSpPr>
        <p:spPr>
          <a:xfrm>
            <a:off x="8945118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945118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hoeven</a:t>
            </a:r>
            <a:endParaRPr lang="en-US" sz="1500" dirty="0"/>
          </a:p>
        </p:txBody>
      </p:sp>
      <p:sp>
        <p:nvSpPr>
          <p:cNvPr id="55" name="Shape 50"/>
          <p:cNvSpPr/>
          <p:nvPr/>
        </p:nvSpPr>
        <p:spPr>
          <a:xfrm>
            <a:off x="10210419" y="297180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10210419" y="297180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zitten</a:t>
            </a:r>
            <a:endParaRPr lang="en-US" sz="1500" dirty="0"/>
          </a:p>
        </p:txBody>
      </p:sp>
      <p:sp>
        <p:nvSpPr>
          <p:cNvPr id="57" name="Shape 52"/>
          <p:cNvSpPr/>
          <p:nvPr/>
        </p:nvSpPr>
        <p:spPr>
          <a:xfrm>
            <a:off x="6414516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414516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staan</a:t>
            </a:r>
            <a:endParaRPr lang="en-US" sz="1500" dirty="0"/>
          </a:p>
        </p:txBody>
      </p:sp>
      <p:sp>
        <p:nvSpPr>
          <p:cNvPr id="59" name="Shape 54"/>
          <p:cNvSpPr/>
          <p:nvPr/>
        </p:nvSpPr>
        <p:spPr>
          <a:xfrm>
            <a:off x="7679817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7679817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liggen</a:t>
            </a:r>
            <a:endParaRPr lang="en-US" sz="1500" dirty="0"/>
          </a:p>
        </p:txBody>
      </p:sp>
      <p:sp>
        <p:nvSpPr>
          <p:cNvPr id="61" name="Shape 56"/>
          <p:cNvSpPr/>
          <p:nvPr/>
        </p:nvSpPr>
        <p:spPr>
          <a:xfrm>
            <a:off x="8945118" y="3474720"/>
            <a:ext cx="1237869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8945118" y="3474720"/>
            <a:ext cx="1237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lopen</a:t>
            </a:r>
            <a:endParaRPr lang="en-US" sz="1500" dirty="0"/>
          </a:p>
        </p:txBody>
      </p:sp>
      <p:sp>
        <p:nvSpPr>
          <p:cNvPr id="63" name="Shape 58"/>
          <p:cNvSpPr/>
          <p:nvPr/>
        </p:nvSpPr>
        <p:spPr>
          <a:xfrm>
            <a:off x="6505956" y="4526280"/>
            <a:ext cx="549372" cy="585216"/>
          </a:xfrm>
          <a:prstGeom prst="roundRect">
            <a:avLst>
              <a:gd name="adj" fmla="val 1664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6505956" y="4526280"/>
            <a:ext cx="5493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65" name="Shape 60"/>
          <p:cNvSpPr/>
          <p:nvPr/>
        </p:nvSpPr>
        <p:spPr>
          <a:xfrm>
            <a:off x="7137624" y="4526280"/>
            <a:ext cx="1407386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7137624" y="4526280"/>
            <a:ext cx="14073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probeer</a:t>
            </a:r>
            <a:endParaRPr lang="en-US" sz="1800" dirty="0"/>
          </a:p>
        </p:txBody>
      </p:sp>
      <p:sp>
        <p:nvSpPr>
          <p:cNvPr id="67" name="Shape 62"/>
          <p:cNvSpPr/>
          <p:nvPr/>
        </p:nvSpPr>
        <p:spPr>
          <a:xfrm>
            <a:off x="8627305" y="4526280"/>
            <a:ext cx="688448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8627305" y="4526280"/>
            <a:ext cx="68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</a:t>
            </a:r>
            <a:endParaRPr lang="en-US" sz="1800" dirty="0"/>
          </a:p>
        </p:txBody>
      </p:sp>
      <p:sp>
        <p:nvSpPr>
          <p:cNvPr id="69" name="Shape 64"/>
          <p:cNvSpPr/>
          <p:nvPr/>
        </p:nvSpPr>
        <p:spPr>
          <a:xfrm>
            <a:off x="9398050" y="4526280"/>
            <a:ext cx="1263598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9398050" y="4526280"/>
            <a:ext cx="12635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komen.</a:t>
            </a:r>
            <a:endParaRPr lang="en-US" sz="1800" dirty="0"/>
          </a:p>
        </p:txBody>
      </p:sp>
      <p:sp>
        <p:nvSpPr>
          <p:cNvPr id="71" name="Shape 66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Truc : au passé, ces verbes (sauf </a:t>
            </a:r>
            <a:r>
              <a:rPr lang="en-US" sz="1600" i="1" dirty="0">
                <a:solidFill>
                  <a:schemeClr val="bg1"/>
                </a:solidFill>
              </a:rPr>
              <a:t>zullen</a:t>
            </a:r>
            <a:r>
              <a:rPr lang="en-US" sz="1600" dirty="0">
                <a:solidFill>
                  <a:schemeClr val="bg1"/>
                </a:solidFill>
              </a:rPr>
              <a:t>) donnent un </a:t>
            </a:r>
            <a:r>
              <a:rPr lang="en-US" sz="1600" b="1" dirty="0">
                <a:solidFill>
                  <a:schemeClr val="bg1"/>
                </a:solidFill>
              </a:rPr>
              <a:t>double infinitif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i="1" dirty="0">
                <a:solidFill>
                  <a:schemeClr val="bg1"/>
                </a:solidFill>
              </a:rPr>
              <a:t>Ik heb moeten werken</a:t>
            </a:r>
            <a:r>
              <a:rPr lang="en-US" sz="1600" dirty="0">
                <a:solidFill>
                  <a:schemeClr val="bg1"/>
                </a:solidFill>
              </a:rPr>
              <a:t>). Presque tous les autres prennent </a:t>
            </a:r>
            <a:r>
              <a:rPr lang="en-US" sz="1600" i="1" dirty="0">
                <a:solidFill>
                  <a:schemeClr val="bg1"/>
                </a:solidFill>
              </a:rPr>
              <a:t>te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Sans te : les modaux, gaan, laten, zien…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SANS 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754880" cy="4069080"/>
          </a:xfrm>
          <a:prstGeom prst="roundRect">
            <a:avLst>
              <a:gd name="adj" fmla="val 2697"/>
            </a:avLst>
          </a:prstGeom>
          <a:solidFill>
            <a:schemeClr val="tx2">
              <a:alpha val="10000"/>
            </a:schemeClr>
          </a:solidFill>
          <a:ln w="19050">
            <a:solidFill>
              <a:srgbClr val="17375E"/>
            </a:solidFill>
            <a:prstDash val="solid"/>
          </a:ln>
        </p:spPr>
      </p:sp>
      <p:pic>
        <p:nvPicPr>
          <p:cNvPr id="6" name="Image 0" descr="no en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 de te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" y="256032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256032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1377452" y="2560320"/>
            <a:ext cx="856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377452" y="2560320"/>
            <a:ext cx="85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kan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2315948" y="2560320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15948" y="2560320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komen.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3429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Comme en français : </a:t>
            </a:r>
            <a:r>
              <a:rPr lang="en-US" sz="1600" i="1" dirty="0">
                <a:solidFill>
                  <a:schemeClr val="tx1"/>
                </a:solidFill>
              </a:rPr>
              <a:t>je </a:t>
            </a:r>
            <a:r>
              <a:rPr lang="en-US" sz="1600" b="1" i="1" dirty="0">
                <a:solidFill>
                  <a:schemeClr val="tx1"/>
                </a:solidFill>
              </a:rPr>
              <a:t>peux</a:t>
            </a:r>
            <a:r>
              <a:rPr lang="en-US" sz="1600" i="1" dirty="0">
                <a:solidFill>
                  <a:schemeClr val="tx1"/>
                </a:solidFill>
              </a:rPr>
              <a:t> venir</a:t>
            </a:r>
            <a:r>
              <a:rPr lang="en-US" sz="1600" dirty="0">
                <a:solidFill>
                  <a:schemeClr val="tx1"/>
                </a:solidFill>
              </a:rPr>
              <a:t> (pas de « de »).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te</a:t>
            </a:r>
            <a:r>
              <a:rPr lang="en-US" sz="1500" dirty="0">
                <a:solidFill>
                  <a:schemeClr val="tx2"/>
                </a:solidFill>
              </a:rPr>
              <a:t> ne se met </a:t>
            </a:r>
            <a:r>
              <a:rPr lang="en-US" sz="1500" b="1" dirty="0">
                <a:solidFill>
                  <a:schemeClr val="tx2"/>
                </a:solidFill>
              </a:rPr>
              <a:t>jamais</a:t>
            </a:r>
            <a:r>
              <a:rPr lang="en-US" sz="1500" dirty="0">
                <a:solidFill>
                  <a:schemeClr val="tx2"/>
                </a:solidFill>
              </a:rPr>
              <a:t> après ces verbes.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532120" y="1463040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32120" y="1463040"/>
            <a:ext cx="91440" cy="877824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flexed bice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1577340"/>
            <a:ext cx="649224" cy="6492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47104" y="1517904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kan morgen komen.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547104" y="1989734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peux venir demain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532120" y="2432304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532120" y="2432304"/>
            <a:ext cx="91440" cy="877824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546604"/>
            <a:ext cx="649224" cy="6492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47104" y="2487168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moet vandaag lang werken.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547104" y="2958998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dois travailler longtemps aujourd’hui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532120" y="3401568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32120" y="3401568"/>
            <a:ext cx="91440" cy="877824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erson swimm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515868"/>
            <a:ext cx="649224" cy="64922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547104" y="3456432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gaan vanavond zwemmen.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547104" y="3928262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nous allons nager ce soir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532120" y="4370832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532120" y="4370832"/>
            <a:ext cx="91440" cy="877824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automobi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485132"/>
            <a:ext cx="649224" cy="64922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547104" y="4425696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laat mijn auto wassen.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6547104" y="4897526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fais laver ma voiture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5532120" y="5340096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532120" y="5340096"/>
            <a:ext cx="91440" cy="877824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5" descr="ey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5454396"/>
            <a:ext cx="649224" cy="64922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47104" y="5394960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zie de bus komen.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6547104" y="5866790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vois le bus arriver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Avec te : essayer de, commencer à…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AVEC 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754880" cy="4069080"/>
          </a:xfrm>
          <a:prstGeom prst="roundRect">
            <a:avLst>
              <a:gd name="adj" fmla="val 2697"/>
            </a:avLst>
          </a:prstGeom>
          <a:solidFill>
            <a:schemeClr val="accent1">
              <a:alpha val="10000"/>
            </a:schemeClr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6" name="Image 0" descr="check mark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 + infinitif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" y="2560320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2560320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Ik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1377452" y="2560320"/>
            <a:ext cx="1463303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377452" y="2560320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probeer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2923052" y="2560320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23052" y="2560320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3709772" y="2560320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09772" y="2560320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komen.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3429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Souvent, le français dit </a:t>
            </a:r>
            <a:r>
              <a:rPr lang="en-US" sz="1600" b="1" dirty="0">
                <a:solidFill>
                  <a:schemeClr val="tx1"/>
                </a:solidFill>
              </a:rPr>
              <a:t>de</a:t>
            </a:r>
            <a:r>
              <a:rPr lang="en-US" sz="1600" dirty="0">
                <a:solidFill>
                  <a:schemeClr val="tx1"/>
                </a:solidFill>
              </a:rPr>
              <a:t> ou </a:t>
            </a:r>
            <a:r>
              <a:rPr lang="en-US" sz="1600" b="1" dirty="0">
                <a:solidFill>
                  <a:schemeClr val="tx1"/>
                </a:solidFill>
              </a:rPr>
              <a:t>à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essayer </a:t>
            </a:r>
            <a:r>
              <a:rPr lang="en-US" sz="1600" b="1" i="1" dirty="0">
                <a:solidFill>
                  <a:schemeClr val="tx1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, commencer </a:t>
            </a:r>
            <a:r>
              <a:rPr lang="en-US" sz="1600" b="1" i="1" dirty="0">
                <a:solidFill>
                  <a:schemeClr val="tx1"/>
                </a:solidFill>
              </a:rPr>
              <a:t>à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i="1" dirty="0">
                <a:solidFill>
                  <a:schemeClr val="tx1"/>
                </a:solidFill>
              </a:rPr>
              <a:t>te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L’infinitif avec </a:t>
            </a:r>
            <a:r>
              <a:rPr lang="en-US" sz="1500" i="1" dirty="0">
                <a:solidFill>
                  <a:schemeClr val="tx2"/>
                </a:solidFill>
              </a:rPr>
              <a:t>te</a:t>
            </a:r>
            <a:r>
              <a:rPr lang="en-US" sz="1500" dirty="0">
                <a:solidFill>
                  <a:schemeClr val="tx2"/>
                </a:solidFill>
              </a:rPr>
              <a:t> va </a:t>
            </a:r>
            <a:r>
              <a:rPr lang="en-US" sz="1500" b="1" dirty="0">
                <a:solidFill>
                  <a:schemeClr val="tx2"/>
                </a:solidFill>
              </a:rPr>
              <a:t>au bout</a:t>
            </a:r>
            <a:r>
              <a:rPr lang="en-US" sz="1500" dirty="0">
                <a:solidFill>
                  <a:schemeClr val="tx2"/>
                </a:solidFill>
              </a:rPr>
              <a:t> de la phrase.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532120" y="1463040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32120" y="1463040"/>
            <a:ext cx="91440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crossed fing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1577340"/>
            <a:ext cx="649224" cy="6492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47104" y="1517904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probeer morgen </a:t>
            </a:r>
            <a:r>
              <a:rPr lang="en-US" sz="1800" b="1" i="1" dirty="0">
                <a:solidFill>
                  <a:srgbClr val="D9700F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komen.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547104" y="1989734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j’essaie DE venir demain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532120" y="2432304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32120" y="2432304"/>
            <a:ext cx="91440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cloud with 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546604"/>
            <a:ext cx="649224" cy="6492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547104" y="2487168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begint </a:t>
            </a:r>
            <a:r>
              <a:rPr lang="en-US" sz="1800" b="1" i="1" dirty="0">
                <a:solidFill>
                  <a:srgbClr val="D9700F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regenen.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547104" y="2958998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commence À pleuvoir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532120" y="3401568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32120" y="3401568"/>
            <a:ext cx="91440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thinking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515868"/>
            <a:ext cx="649224" cy="6492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547104" y="3456432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Vergeet niet </a:t>
            </a:r>
            <a:r>
              <a:rPr lang="en-US" sz="1800" b="1" i="1" dirty="0">
                <a:solidFill>
                  <a:srgbClr val="D9700F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bellen!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6547104" y="3928262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n’oublie pas D’appeler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532120" y="4370832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532120" y="4370832"/>
            <a:ext cx="91440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4" descr="handsh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4485132"/>
            <a:ext cx="649224" cy="6492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547104" y="4425696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beloof je </a:t>
            </a:r>
            <a:r>
              <a:rPr lang="en-US" sz="1800" b="1" i="1" dirty="0">
                <a:solidFill>
                  <a:srgbClr val="D9700F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helpen.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6547104" y="4897526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te promets DE t’aider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532120" y="5340096"/>
            <a:ext cx="610819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532120" y="5340096"/>
            <a:ext cx="91440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5" descr="four leaf clov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5454396"/>
            <a:ext cx="649224" cy="64922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547104" y="5394960"/>
            <a:ext cx="5001768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hoop je snel </a:t>
            </a:r>
            <a:r>
              <a:rPr lang="en-US" sz="1800" b="1" i="1" dirty="0">
                <a:solidFill>
                  <a:srgbClr val="D9700F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zien.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6547104" y="5866790"/>
            <a:ext cx="5001768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j’espère te voir bientôt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Deux cas fréquents : zitten te… et niet hoeven 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AVEC 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2667"/>
            </a:avLst>
          </a:prstGeom>
          <a:solidFill>
            <a:srgbClr val="F1ECF7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zitten · staan · liggen · lopen + 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38528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= être en train de (M17)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377440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ha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917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2432304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zit </a:t>
            </a:r>
            <a:r>
              <a:rPr lang="en-US" sz="1800" b="1" i="1" dirty="0">
                <a:solidFill>
                  <a:srgbClr val="6E4A9E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lezen.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2926080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suis (assis·e) en train de lire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3401568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401568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c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15868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456432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Ze staat </a:t>
            </a:r>
            <a:r>
              <a:rPr lang="en-US" sz="1800" b="1" i="1" dirty="0">
                <a:solidFill>
                  <a:srgbClr val="6E4A9E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koken.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950208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elle est (debout) en train de cuisiner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" y="4425696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4425696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sleep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539996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480560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Hij ligt </a:t>
            </a:r>
            <a:r>
              <a:rPr lang="en-US" sz="1800" b="1" i="1" dirty="0">
                <a:solidFill>
                  <a:srgbClr val="6E4A9E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slapen.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783080" y="4974336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est (couché) en train de dormir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2667"/>
            </a:avLst>
          </a:prstGeom>
          <a:solidFill>
            <a:srgbClr val="EAF2FB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14516" y="155448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niet hoeven te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14516" y="1938528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= ne pas être obligé·e de, ne pas avoir besoin de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14516" y="2377440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14516" y="2377440"/>
            <a:ext cx="914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relieved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2491740"/>
            <a:ext cx="685800" cy="6858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66076" y="2432304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Je hoeft niet </a:t>
            </a:r>
            <a:r>
              <a:rPr lang="en-US" sz="1800" b="1" i="1" dirty="0">
                <a:solidFill>
                  <a:srgbClr val="2A6FB0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komen.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466076" y="2926080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tu n’es pas obligé·e de venir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414516" y="3401568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14516" y="3401568"/>
            <a:ext cx="914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telephone recei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3515868"/>
            <a:ext cx="685800" cy="6858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66076" y="3456432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Je hoeft alleen maar </a:t>
            </a:r>
            <a:r>
              <a:rPr lang="en-US" sz="1800" b="1" i="1" dirty="0">
                <a:solidFill>
                  <a:srgbClr val="2A6FB0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bellen.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7466076" y="3950208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tu n’as qu’à appeler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414516" y="4425696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14516" y="4425696"/>
            <a:ext cx="914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5" descr="money b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539996"/>
            <a:ext cx="685800" cy="6858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466076" y="4480560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 hoeft niets </a:t>
            </a:r>
            <a:r>
              <a:rPr lang="en-US" sz="1800" b="1" i="1" dirty="0">
                <a:solidFill>
                  <a:srgbClr val="2A6FB0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betalen.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7466076" y="4974336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vous n’avez rien à payer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hoeven</a:t>
            </a:r>
            <a:r>
              <a:rPr lang="en-US" sz="1500" dirty="0">
                <a:solidFill>
                  <a:schemeClr val="bg1"/>
                </a:solidFill>
              </a:rPr>
              <a:t> s’emploie avec une négation ou une restriction (</a:t>
            </a:r>
            <a:r>
              <a:rPr lang="en-US" sz="1500" i="1" dirty="0">
                <a:solidFill>
                  <a:schemeClr val="bg1"/>
                </a:solidFill>
              </a:rPr>
              <a:t>niet, geen, niets, alleen maar</a:t>
            </a:r>
            <a:r>
              <a:rPr lang="en-US" sz="1500" dirty="0">
                <a:solidFill>
                  <a:schemeClr val="bg1"/>
                </a:solidFill>
              </a:rPr>
              <a:t>). En Belgique, on dit aussi : </a:t>
            </a:r>
            <a:r>
              <a:rPr lang="en-US" sz="1500" i="1" dirty="0">
                <a:solidFill>
                  <a:schemeClr val="bg1"/>
                </a:solidFill>
              </a:rPr>
              <a:t>Je moet niet komen.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Om … te = pour : le but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30782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OM … 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Waarom bel je?</a:t>
            </a:r>
            <a:r>
              <a:rPr lang="en-US" sz="1700" dirty="0">
                <a:solidFill>
                  <a:schemeClr val="tx2"/>
                </a:solidFill>
              </a:rPr>
              <a:t> — pourquoi ?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63489" cy="731520"/>
          </a:xfrm>
          <a:prstGeom prst="roundRect">
            <a:avLst>
              <a:gd name="adj" fmla="val 1378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65960"/>
            <a:ext cx="6634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Ik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294425" y="1965960"/>
            <a:ext cx="102395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94425" y="1965960"/>
            <a:ext cx="1023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bel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400673" y="1965960"/>
            <a:ext cx="816259" cy="731520"/>
          </a:xfrm>
          <a:prstGeom prst="roundRect">
            <a:avLst>
              <a:gd name="adj" fmla="val 125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00673" y="1965960"/>
            <a:ext cx="816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om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299228" y="1965960"/>
            <a:ext cx="251789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9228" y="1965960"/>
            <a:ext cx="25178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een afspraak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5899416" y="1965960"/>
            <a:ext cx="816259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9416" y="1965960"/>
            <a:ext cx="816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797971" y="1965960"/>
            <a:ext cx="1647032" cy="731520"/>
          </a:xfrm>
          <a:prstGeom prst="roundRect">
            <a:avLst>
              <a:gd name="adj" fmla="val 12500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97971" y="1965960"/>
            <a:ext cx="1647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maken.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2808803" y="2734056"/>
            <a:ext cx="914" cy="256032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08803" y="2990088"/>
            <a:ext cx="4812685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7621487" y="2734056"/>
            <a:ext cx="914" cy="256032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08803" y="3008376"/>
            <a:ext cx="48126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A9E"/>
                </a:solidFill>
              </a:rPr>
              <a:t>la pince : om … te + infinitif</a:t>
            </a:r>
            <a:endParaRPr lang="en-US" sz="1200" dirty="0"/>
          </a:p>
        </p:txBody>
      </p:sp>
      <p:pic>
        <p:nvPicPr>
          <p:cNvPr id="22" name="Image 0" descr="telephone recei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1737360"/>
            <a:ext cx="1188720" cy="11887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48640" y="3429000"/>
            <a:ext cx="1109167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429000"/>
            <a:ext cx="91440" cy="694944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1" descr="t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43300"/>
            <a:ext cx="466344" cy="4663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380744" y="3483864"/>
            <a:ext cx="10168128" cy="403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Gent </a:t>
            </a:r>
            <a:r>
              <a:rPr lang="en-US" sz="1700" b="1" i="1" dirty="0">
                <a:solidFill>
                  <a:srgbClr val="6E4A9E"/>
                </a:solidFill>
              </a:rPr>
              <a:t>om te werken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380744" y="3845966"/>
            <a:ext cx="10168128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vais à Gand pour travailler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4206240"/>
            <a:ext cx="1109167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8640" y="4206240"/>
            <a:ext cx="91440" cy="694944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2" descr="money b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20540"/>
            <a:ext cx="466344" cy="4663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380744" y="4261104"/>
            <a:ext cx="10168128" cy="403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 sparen </a:t>
            </a:r>
            <a:r>
              <a:rPr lang="en-US" sz="1700" b="1" i="1" dirty="0">
                <a:solidFill>
                  <a:srgbClr val="6E4A9E"/>
                </a:solidFill>
              </a:rPr>
              <a:t>om</a:t>
            </a:r>
            <a:r>
              <a:rPr lang="en-US" sz="1700" i="1" dirty="0">
                <a:solidFill>
                  <a:schemeClr val="tx1"/>
                </a:solidFill>
              </a:rPr>
              <a:t> een huis </a:t>
            </a:r>
            <a:r>
              <a:rPr lang="en-US" sz="1700" b="1" i="1" dirty="0">
                <a:solidFill>
                  <a:srgbClr val="6E4A9E"/>
                </a:solidFill>
              </a:rPr>
              <a:t>te kopen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380744" y="4623206"/>
            <a:ext cx="10168128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nous économisons pour acheter une maison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4983480"/>
            <a:ext cx="1109167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983480"/>
            <a:ext cx="91440" cy="694944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3" descr="boo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97780"/>
            <a:ext cx="466344" cy="4663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380744" y="5038344"/>
            <a:ext cx="10168128" cy="403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leer Nederlands </a:t>
            </a:r>
            <a:r>
              <a:rPr lang="en-US" sz="1700" b="1" i="1" dirty="0">
                <a:solidFill>
                  <a:srgbClr val="6E4A9E"/>
                </a:solidFill>
              </a:rPr>
              <a:t>om</a:t>
            </a:r>
            <a:r>
              <a:rPr lang="en-US" sz="1700" i="1" dirty="0">
                <a:solidFill>
                  <a:schemeClr val="tx1"/>
                </a:solidFill>
              </a:rPr>
              <a:t> een betere job </a:t>
            </a:r>
            <a:r>
              <a:rPr lang="en-US" sz="1700" b="1" i="1" dirty="0">
                <a:solidFill>
                  <a:srgbClr val="6E4A9E"/>
                </a:solidFill>
              </a:rPr>
              <a:t>te vinden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1380744" y="5400446"/>
            <a:ext cx="10168128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j’apprends le néerlandais pour trouver un meilleur emploi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Après un nom ou un adjectif : om … 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30782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OM … 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4114800"/>
          </a:xfrm>
          <a:prstGeom prst="roundRect">
            <a:avLst>
              <a:gd name="adj" fmla="val 2667"/>
            </a:avLst>
          </a:prstGeom>
          <a:solidFill>
            <a:srgbClr val="F1ECF7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APRÈS UN NOM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38528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zin · tijd · plan · kans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377440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face savoring fo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917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2432304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zin </a:t>
            </a:r>
            <a:r>
              <a:rPr lang="en-US" sz="1700" b="1" i="1" dirty="0">
                <a:solidFill>
                  <a:srgbClr val="6E4A9E"/>
                </a:solidFill>
              </a:rPr>
              <a:t>om</a:t>
            </a:r>
            <a:r>
              <a:rPr lang="en-US" sz="1700" i="1" dirty="0">
                <a:solidFill>
                  <a:schemeClr val="tx1"/>
                </a:solidFill>
              </a:rPr>
              <a:t> uit eten </a:t>
            </a:r>
            <a:r>
              <a:rPr lang="en-US" sz="1700" b="1" i="1" dirty="0">
                <a:solidFill>
                  <a:srgbClr val="6E4A9E"/>
                </a:solidFill>
              </a:rPr>
              <a:t>te gaan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2926080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j’ai envie d’aller au resto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3401568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401568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hourglass not 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15868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456432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heb geen tijd </a:t>
            </a:r>
            <a:r>
              <a:rPr lang="en-US" sz="1700" b="1" i="1" dirty="0">
                <a:solidFill>
                  <a:srgbClr val="6E4A9E"/>
                </a:solidFill>
              </a:rPr>
              <a:t>om te lezen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950208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n’ai pas le temps de lire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" y="4425696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4425696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alarm 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539996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480560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is tijd </a:t>
            </a:r>
            <a:r>
              <a:rPr lang="en-US" sz="1700" b="1" i="1" dirty="0">
                <a:solidFill>
                  <a:srgbClr val="6E4A9E"/>
                </a:solidFill>
              </a:rPr>
              <a:t>om te vertrekken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783080" y="4974336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est temps de partir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31636" y="1463040"/>
            <a:ext cx="5408676" cy="4114800"/>
          </a:xfrm>
          <a:prstGeom prst="roundRect">
            <a:avLst>
              <a:gd name="adj" fmla="val 2667"/>
            </a:avLst>
          </a:prstGeom>
          <a:solidFill>
            <a:srgbClr val="F1ECF7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14516" y="155448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APRÈS UN ADJECTIF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14516" y="1938528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leuk · moeilijk · belangrijk · klaar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14516" y="2377440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14516" y="2377440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smiling face with smiling ey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2491740"/>
            <a:ext cx="685800" cy="6858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66076" y="2432304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is leuk </a:t>
            </a:r>
            <a:r>
              <a:rPr lang="en-US" sz="1700" b="1" i="1" dirty="0">
                <a:solidFill>
                  <a:srgbClr val="6E4A9E"/>
                </a:solidFill>
              </a:rPr>
              <a:t>om</a:t>
            </a:r>
            <a:r>
              <a:rPr lang="en-US" sz="1700" i="1" dirty="0">
                <a:solidFill>
                  <a:schemeClr val="tx1"/>
                </a:solidFill>
              </a:rPr>
              <a:t> Nederlands </a:t>
            </a:r>
            <a:r>
              <a:rPr lang="en-US" sz="1700" b="1" i="1" dirty="0">
                <a:solidFill>
                  <a:srgbClr val="6E4A9E"/>
                </a:solidFill>
              </a:rPr>
              <a:t>te leren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466076" y="2926080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c’est chouette d’apprendre le néerlandais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414516" y="3401568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14516" y="3401568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grimac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3515868"/>
            <a:ext cx="685800" cy="6858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66076" y="3456432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is moeilijk </a:t>
            </a:r>
            <a:r>
              <a:rPr lang="en-US" sz="1700" b="1" i="1" dirty="0">
                <a:solidFill>
                  <a:srgbClr val="6E4A9E"/>
                </a:solidFill>
              </a:rPr>
              <a:t>om</a:t>
            </a:r>
            <a:r>
              <a:rPr lang="en-US" sz="1700" i="1" dirty="0">
                <a:solidFill>
                  <a:schemeClr val="tx1"/>
                </a:solidFill>
              </a:rPr>
              <a:t> vroeg </a:t>
            </a:r>
            <a:r>
              <a:rPr lang="en-US" sz="1700" b="1" i="1" dirty="0">
                <a:solidFill>
                  <a:srgbClr val="6E4A9E"/>
                </a:solidFill>
              </a:rPr>
              <a:t>op te staan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7466076" y="3950208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c’est difficile de se lever tôt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414516" y="4425696"/>
            <a:ext cx="50429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14516" y="4425696"/>
            <a:ext cx="91440" cy="91440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5" descr="chequered 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539996"/>
            <a:ext cx="685800" cy="6858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466076" y="4480560"/>
            <a:ext cx="38999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klaar </a:t>
            </a:r>
            <a:r>
              <a:rPr lang="en-US" sz="1700" b="1" i="1" dirty="0">
                <a:solidFill>
                  <a:srgbClr val="6E4A9E"/>
                </a:solidFill>
              </a:rPr>
              <a:t>om te beginnen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7466076" y="4974336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suis prêt·e à commencer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Après certains verbes, </a:t>
            </a:r>
            <a:r>
              <a:rPr lang="en-US" sz="1500" i="1" dirty="0">
                <a:solidFill>
                  <a:schemeClr val="bg1"/>
                </a:solidFill>
              </a:rPr>
              <a:t>om</a:t>
            </a:r>
            <a:r>
              <a:rPr lang="en-US" sz="1500" dirty="0">
                <a:solidFill>
                  <a:schemeClr val="bg1"/>
                </a:solidFill>
              </a:rPr>
              <a:t> est facultatif : </a:t>
            </a:r>
            <a:r>
              <a:rPr lang="en-US" sz="1500" i="1" dirty="0">
                <a:solidFill>
                  <a:schemeClr val="bg1"/>
                </a:solidFill>
              </a:rPr>
              <a:t>Ik heb besloten (</a:t>
            </a:r>
            <a:r>
              <a:rPr lang="en-US" sz="1500" b="1" i="1" dirty="0">
                <a:solidFill>
                  <a:schemeClr val="bg1"/>
                </a:solidFill>
              </a:rPr>
              <a:t>om</a:t>
            </a:r>
            <a:r>
              <a:rPr lang="en-US" sz="1500" i="1" dirty="0">
                <a:solidFill>
                  <a:schemeClr val="bg1"/>
                </a:solidFill>
              </a:rPr>
              <a:t>) te stoppen. · Ik ben vergeten (</a:t>
            </a:r>
            <a:r>
              <a:rPr lang="en-US" sz="1500" b="1" i="1" dirty="0">
                <a:solidFill>
                  <a:schemeClr val="bg1"/>
                </a:solidFill>
              </a:rPr>
              <a:t>om</a:t>
            </a:r>
            <a:r>
              <a:rPr lang="en-US" sz="1500" i="1" dirty="0">
                <a:solidFill>
                  <a:schemeClr val="bg1"/>
                </a:solidFill>
              </a:rPr>
              <a:t>) te bellen.</a:t>
            </a:r>
            <a:r>
              <a:rPr lang="en-US" sz="1500" dirty="0">
                <a:solidFill>
                  <a:schemeClr val="bg1"/>
                </a:solidFill>
              </a:rPr>
              <a:t> Jamais avec </a:t>
            </a:r>
            <a:r>
              <a:rPr lang="en-US" sz="1500" i="1" dirty="0">
                <a:solidFill>
                  <a:schemeClr val="bg1"/>
                </a:solidFill>
              </a:rPr>
              <a:t>hoeven, zitten te…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Dans la pince : tout entre om et 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LA PINCE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① Tout le reste va entre </a:t>
            </a:r>
            <a:r>
              <a:rPr lang="en-US" sz="1600" b="1" i="1" dirty="0">
                <a:solidFill>
                  <a:schemeClr val="tx2"/>
                </a:solidFill>
              </a:rPr>
              <a:t>om</a:t>
            </a:r>
            <a:r>
              <a:rPr lang="en-US" sz="1600" b="1" dirty="0">
                <a:solidFill>
                  <a:schemeClr val="tx2"/>
                </a:solidFill>
              </a:rPr>
              <a:t> et </a:t>
            </a:r>
            <a:r>
              <a:rPr lang="en-US" sz="1600" b="1" i="1" dirty="0">
                <a:solidFill>
                  <a:schemeClr val="tx2"/>
                </a:solidFill>
              </a:rPr>
              <a:t>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449519" cy="640080"/>
          </a:xfrm>
          <a:prstGeom prst="roundRect">
            <a:avLst>
              <a:gd name="adj" fmla="val 203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4495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…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80455" y="1828800"/>
            <a:ext cx="752354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80455" y="182880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915105" y="1828800"/>
            <a:ext cx="1234074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15105" y="1828800"/>
            <a:ext cx="1234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morgen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231475" y="1828800"/>
            <a:ext cx="1390985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31475" y="1828800"/>
            <a:ext cx="13909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Gent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704756" y="1828800"/>
            <a:ext cx="1704807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4756" y="1828800"/>
            <a:ext cx="17048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een klant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491860" y="182880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1860" y="182880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326509" y="1828800"/>
            <a:ext cx="1982536" cy="640080"/>
          </a:xfrm>
          <a:prstGeom prst="roundRect">
            <a:avLst>
              <a:gd name="adj" fmla="val 14286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26509" y="1828800"/>
            <a:ext cx="198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bezoeken.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456632" y="250545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56632" y="2724912"/>
            <a:ext cx="6861146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8317777" y="250545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② Verbe séparable : </a:t>
            </a:r>
            <a:r>
              <a:rPr lang="en-US" sz="1600" b="1" i="1" dirty="0">
                <a:solidFill>
                  <a:schemeClr val="tx2"/>
                </a:solidFill>
              </a:rPr>
              <a:t>te</a:t>
            </a:r>
            <a:r>
              <a:rPr lang="en-US" sz="1600" b="1" dirty="0">
                <a:solidFill>
                  <a:schemeClr val="tx2"/>
                </a:solidFill>
              </a:rPr>
              <a:t> se glisse au milieu</a:t>
            </a:r>
            <a:r>
              <a:rPr lang="en-US" sz="1600" dirty="0">
                <a:solidFill>
                  <a:schemeClr val="tx2"/>
                </a:solidFill>
              </a:rPr>
              <a:t> (comme </a:t>
            </a:r>
            <a:r>
              <a:rPr lang="en-US" sz="1600" i="1" dirty="0">
                <a:solidFill>
                  <a:schemeClr val="tx2"/>
                </a:solidFill>
              </a:rPr>
              <a:t>ge-</a:t>
            </a:r>
            <a:r>
              <a:rPr lang="en-US" sz="1600" dirty="0">
                <a:solidFill>
                  <a:schemeClr val="tx2"/>
                </a:solidFill>
              </a:rPr>
              <a:t> : </a:t>
            </a:r>
            <a:r>
              <a:rPr lang="en-US" sz="1600" i="1" dirty="0">
                <a:solidFill>
                  <a:schemeClr val="tx2"/>
                </a:solidFill>
              </a:rPr>
              <a:t>opgebeld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3291840"/>
            <a:ext cx="449519" cy="640080"/>
          </a:xfrm>
          <a:prstGeom prst="roundRect">
            <a:avLst>
              <a:gd name="adj" fmla="val 203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291840"/>
            <a:ext cx="4495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…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1080455" y="3291840"/>
            <a:ext cx="752354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80455" y="329184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1915105" y="3291840"/>
            <a:ext cx="15478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915105" y="3291840"/>
            <a:ext cx="154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 klant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3545297" y="3291840"/>
            <a:ext cx="7523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45297" y="329184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op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379947" y="329184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379947" y="329184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5214596" y="3291840"/>
            <a:ext cx="1631056" cy="640080"/>
          </a:xfrm>
          <a:prstGeom prst="roundRect">
            <a:avLst>
              <a:gd name="adj" fmla="val 14286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14596" y="3291840"/>
            <a:ext cx="163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bellen.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1456632" y="396849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56632" y="4187952"/>
            <a:ext cx="4573492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6030124" y="396849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94292" y="3291840"/>
            <a:ext cx="2018629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7394292" y="3291840"/>
            <a:ext cx="20186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trike="sngStrike" dirty="0">
                <a:solidFill>
                  <a:schemeClr val="accent6"/>
                </a:solidFill>
              </a:rPr>
              <a:t>te opbellen</a:t>
            </a:r>
            <a:endParaRPr lang="en-US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9504361" y="3291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✗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③ </a:t>
            </a:r>
            <a:r>
              <a:rPr lang="en-US" sz="1600" b="1" i="1" dirty="0">
                <a:solidFill>
                  <a:schemeClr val="tx2"/>
                </a:solidFill>
              </a:rPr>
              <a:t>niet</a:t>
            </a:r>
            <a:r>
              <a:rPr lang="en-US" sz="1600" b="1" dirty="0">
                <a:solidFill>
                  <a:schemeClr val="tx2"/>
                </a:solidFill>
              </a:rPr>
              <a:t> entre dans la pince, devant le groupe verbal</a:t>
            </a:r>
            <a:r>
              <a:rPr lang="en-US" sz="1600" dirty="0">
                <a:solidFill>
                  <a:schemeClr val="tx2"/>
                </a:solidFill>
              </a:rPr>
              <a:t> (</a:t>
            </a:r>
            <a:r>
              <a:rPr lang="en-US" sz="1600" i="1" dirty="0">
                <a:solidFill>
                  <a:schemeClr val="tx2"/>
                </a:solidFill>
              </a:rPr>
              <a:t>om de klant </a:t>
            </a:r>
            <a:r>
              <a:rPr lang="en-US" sz="1600" b="1" i="1" dirty="0">
                <a:solidFill>
                  <a:schemeClr val="tx2"/>
                </a:solidFill>
              </a:rPr>
              <a:t>niet</a:t>
            </a:r>
            <a:r>
              <a:rPr lang="en-US" sz="1600" i="1" dirty="0">
                <a:solidFill>
                  <a:schemeClr val="tx2"/>
                </a:solidFill>
              </a:rPr>
              <a:t> op te bellen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48640" y="4754880"/>
            <a:ext cx="29600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4754880"/>
            <a:ext cx="2960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Het is belangrijk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3591032" y="4754880"/>
            <a:ext cx="752354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591032" y="475488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om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4425681" y="4754880"/>
            <a:ext cx="920252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425681" y="4754880"/>
            <a:ext cx="920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niet</a:t>
            </a:r>
            <a:endParaRPr lang="en-US" sz="2200" dirty="0"/>
          </a:p>
        </p:txBody>
      </p:sp>
      <p:sp>
        <p:nvSpPr>
          <p:cNvPr id="49" name="Shape 46"/>
          <p:cNvSpPr/>
          <p:nvPr/>
        </p:nvSpPr>
        <p:spPr>
          <a:xfrm>
            <a:off x="5428230" y="4754880"/>
            <a:ext cx="1390985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428230" y="4754880"/>
            <a:ext cx="13909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te laat</a:t>
            </a:r>
            <a:endParaRPr lang="en-US" sz="2200" dirty="0"/>
          </a:p>
        </p:txBody>
      </p:sp>
      <p:sp>
        <p:nvSpPr>
          <p:cNvPr id="51" name="Shape 48"/>
          <p:cNvSpPr/>
          <p:nvPr/>
        </p:nvSpPr>
        <p:spPr>
          <a:xfrm>
            <a:off x="6901511" y="475488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901511" y="475488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53" name="Shape 50"/>
          <p:cNvSpPr/>
          <p:nvPr/>
        </p:nvSpPr>
        <p:spPr>
          <a:xfrm>
            <a:off x="7736160" y="4754880"/>
            <a:ext cx="1455315" cy="640080"/>
          </a:xfrm>
          <a:prstGeom prst="roundRect">
            <a:avLst>
              <a:gd name="adj" fmla="val 14286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736160" y="4754880"/>
            <a:ext cx="14553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komen.</a:t>
            </a:r>
            <a:endParaRPr lang="en-US" sz="2200" dirty="0"/>
          </a:p>
        </p:txBody>
      </p:sp>
      <p:sp>
        <p:nvSpPr>
          <p:cNvPr id="55" name="Shape 52"/>
          <p:cNvSpPr/>
          <p:nvPr/>
        </p:nvSpPr>
        <p:spPr>
          <a:xfrm>
            <a:off x="3967209" y="543153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967209" y="5650992"/>
            <a:ext cx="449661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8463818" y="5431536"/>
            <a:ext cx="914" cy="219456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te</a:t>
            </a:r>
            <a:r>
              <a:rPr lang="en-US" sz="1500" dirty="0">
                <a:solidFill>
                  <a:schemeClr val="tx2"/>
                </a:solidFill>
              </a:rPr>
              <a:t> est toujours </a:t>
            </a:r>
            <a:r>
              <a:rPr lang="en-US" sz="1500" b="1" dirty="0">
                <a:solidFill>
                  <a:schemeClr val="tx2"/>
                </a:solidFill>
              </a:rPr>
              <a:t>collé</a:t>
            </a:r>
            <a:r>
              <a:rPr lang="en-US" sz="1500" dirty="0">
                <a:solidFill>
                  <a:schemeClr val="tx2"/>
                </a:solidFill>
              </a:rPr>
              <a:t> devant l’infinitif.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zonder … te, in plaats van … te, door … 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581558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B1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6E4A9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zipper mouth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777240" cy="777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002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6E4A9E"/>
                </a:solidFill>
              </a:rPr>
              <a:t>zonder … te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6E4A9E"/>
                </a:solidFill>
              </a:rPr>
              <a:t>sans + infinitif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3886200" y="1600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Hij vertrekt </a:t>
            </a:r>
            <a:r>
              <a:rPr lang="en-US" sz="2000" b="1" i="1" dirty="0">
                <a:solidFill>
                  <a:srgbClr val="6E4A9E"/>
                </a:solidFill>
              </a:rPr>
              <a:t>zonder</a:t>
            </a:r>
            <a:r>
              <a:rPr lang="en-US" sz="2000" i="1" dirty="0">
                <a:solidFill>
                  <a:schemeClr val="tx1"/>
                </a:solidFill>
              </a:rPr>
              <a:t> iets </a:t>
            </a:r>
            <a:r>
              <a:rPr lang="en-US" sz="2000" b="1" i="1" dirty="0">
                <a:solidFill>
                  <a:srgbClr val="6E4A9E"/>
                </a:solidFill>
              </a:rPr>
              <a:t>te zeggen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88620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il part sans rien dire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8803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6E4A9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mobile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29718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6E4A9E"/>
                </a:solidFill>
              </a:rPr>
              <a:t>in plaats van … te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6E4A9E"/>
                </a:solidFill>
              </a:rPr>
              <a:t>au lieu de + infinitif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886200" y="2971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6E4A9E"/>
                </a:solidFill>
              </a:rPr>
              <a:t>In plaats van te werken</a:t>
            </a:r>
            <a:r>
              <a:rPr lang="en-US" sz="2000" i="1" dirty="0">
                <a:solidFill>
                  <a:schemeClr val="tx1"/>
                </a:solidFill>
              </a:rPr>
              <a:t>, zit hij op zijn gsm.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886200" y="3611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au lieu de travailler, il est sur son GSM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25196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42519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6E4A9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boo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8056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3434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6E4A9E"/>
                </a:solidFill>
              </a:rPr>
              <a:t>door … te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6E4A9E"/>
                </a:solidFill>
              </a:rPr>
              <a:t>en + participe présent (le moyen)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88620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6E4A9E"/>
                </a:solidFill>
              </a:rPr>
              <a:t>Door</a:t>
            </a:r>
            <a:r>
              <a:rPr lang="en-US" sz="2000" i="1" dirty="0">
                <a:solidFill>
                  <a:schemeClr val="tx1"/>
                </a:solidFill>
              </a:rPr>
              <a:t> veel </a:t>
            </a:r>
            <a:r>
              <a:rPr lang="en-US" sz="2000" b="1" i="1" dirty="0">
                <a:solidFill>
                  <a:srgbClr val="6E4A9E"/>
                </a:solidFill>
              </a:rPr>
              <a:t>te lezen</a:t>
            </a:r>
            <a:r>
              <a:rPr lang="en-US" sz="2000" i="1" dirty="0">
                <a:solidFill>
                  <a:schemeClr val="tx1"/>
                </a:solidFill>
              </a:rPr>
              <a:t>, leer je snel.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886200" y="4983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en lisant beaucoup, on apprend vite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Même pince : la préposition (</a:t>
            </a:r>
            <a:r>
              <a:rPr lang="en-US" sz="1600" i="1" dirty="0">
                <a:solidFill>
                  <a:schemeClr val="bg1"/>
                </a:solidFill>
              </a:rPr>
              <a:t>zonder, in plaats van, door</a:t>
            </a:r>
            <a:r>
              <a:rPr lang="en-US" sz="1600" dirty="0">
                <a:solidFill>
                  <a:schemeClr val="bg1"/>
                </a:solidFill>
              </a:rPr>
              <a:t>) ouvre, </a:t>
            </a:r>
            <a:r>
              <a:rPr lang="en-US" sz="1600" i="1" dirty="0">
                <a:solidFill>
                  <a:schemeClr val="bg1"/>
                </a:solidFill>
              </a:rPr>
              <a:t>te</a:t>
            </a:r>
            <a:r>
              <a:rPr lang="en-US" sz="1600" dirty="0">
                <a:solidFill>
                  <a:schemeClr val="bg1"/>
                </a:solidFill>
              </a:rPr>
              <a:t> + infinitif ferme.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« Pour » : voor ou om … te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498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3246120"/>
          </a:xfrm>
          <a:prstGeom prst="roundRect">
            <a:avLst>
              <a:gd name="adj" fmla="val 3380"/>
            </a:avLst>
          </a:prstGeom>
          <a:solidFill>
            <a:srgbClr val="EAF2FB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pour + NOM → voor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50429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194560"/>
            <a:ext cx="91440" cy="107899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wrapped gi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45436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2249424"/>
            <a:ext cx="3808476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Dit cadeau is </a:t>
            </a:r>
            <a:r>
              <a:rPr lang="en-US" sz="1900" b="1" i="1" dirty="0">
                <a:solidFill>
                  <a:srgbClr val="2A6FB0"/>
                </a:solidFill>
              </a:rPr>
              <a:t>voor</a:t>
            </a:r>
            <a:r>
              <a:rPr lang="en-US" sz="1900" i="1" dirty="0">
                <a:solidFill>
                  <a:schemeClr val="tx1"/>
                </a:solidFill>
              </a:rPr>
              <a:t> jou.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874520" y="2841955"/>
            <a:ext cx="3808476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ce cadeau est pour toi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401568"/>
            <a:ext cx="50429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401568"/>
            <a:ext cx="91440" cy="107899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52444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74520" y="3456432"/>
            <a:ext cx="3808476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ben hier </a:t>
            </a:r>
            <a:r>
              <a:rPr lang="en-US" sz="1900" b="1" i="1" dirty="0">
                <a:solidFill>
                  <a:srgbClr val="2A6FB0"/>
                </a:solidFill>
              </a:rPr>
              <a:t>voor</a:t>
            </a:r>
            <a:r>
              <a:rPr lang="en-US" sz="1900" i="1" dirty="0">
                <a:solidFill>
                  <a:schemeClr val="tx1"/>
                </a:solidFill>
              </a:rPr>
              <a:t> de vergadering.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874520" y="4048963"/>
            <a:ext cx="3808476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suis ici pour la réunion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31636" y="1463040"/>
            <a:ext cx="5408676" cy="3246120"/>
          </a:xfrm>
          <a:prstGeom prst="roundRect">
            <a:avLst>
              <a:gd name="adj" fmla="val 3380"/>
            </a:avLst>
          </a:prstGeom>
          <a:solidFill>
            <a:srgbClr val="F1ECF7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14516" y="1554480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4A9E"/>
                </a:solidFill>
              </a:rPr>
              <a:t>pour + VERBE → om … te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414516" y="2194560"/>
            <a:ext cx="50429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4516" y="2194560"/>
            <a:ext cx="91440" cy="1078992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345436"/>
            <a:ext cx="777240" cy="7772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57516" y="2249424"/>
            <a:ext cx="3808476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kom </a:t>
            </a:r>
            <a:r>
              <a:rPr lang="en-US" sz="1900" b="1" i="1" dirty="0">
                <a:solidFill>
                  <a:srgbClr val="6E4A9E"/>
                </a:solidFill>
              </a:rPr>
              <a:t>om</a:t>
            </a:r>
            <a:r>
              <a:rPr lang="en-US" sz="1900" i="1" dirty="0">
                <a:solidFill>
                  <a:schemeClr val="tx1"/>
                </a:solidFill>
              </a:rPr>
              <a:t> je </a:t>
            </a:r>
            <a:r>
              <a:rPr lang="en-US" sz="1900" b="1" i="1" dirty="0">
                <a:solidFill>
                  <a:srgbClr val="6E4A9E"/>
                </a:solidFill>
              </a:rPr>
              <a:t>te helpen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557516" y="2841955"/>
            <a:ext cx="3808476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viens pour t’aider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14516" y="3401568"/>
            <a:ext cx="50429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14516" y="3401568"/>
            <a:ext cx="91440" cy="1078992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busts in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3552444"/>
            <a:ext cx="777240" cy="7772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57516" y="3456432"/>
            <a:ext cx="3808476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ben hier </a:t>
            </a:r>
            <a:r>
              <a:rPr lang="en-US" sz="1900" b="1" i="1" dirty="0">
                <a:solidFill>
                  <a:srgbClr val="6E4A9E"/>
                </a:solidFill>
              </a:rPr>
              <a:t>om te vergaderen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7557516" y="4048963"/>
            <a:ext cx="3808476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suis ici pour être en réunion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4983480"/>
            <a:ext cx="123407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48640" y="4983480"/>
            <a:ext cx="12340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 kom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1865010" y="4983480"/>
            <a:ext cx="92025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1865010" y="4983480"/>
            <a:ext cx="9202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trike="sngStrike" dirty="0">
                <a:solidFill>
                  <a:schemeClr val="accent6"/>
                </a:solidFill>
              </a:rPr>
              <a:t>voor</a:t>
            </a:r>
            <a:endParaRPr lang="en-US" sz="2200" dirty="0"/>
          </a:p>
        </p:txBody>
      </p:sp>
      <p:sp>
        <p:nvSpPr>
          <p:cNvPr id="33" name="Shape 26"/>
          <p:cNvSpPr/>
          <p:nvPr/>
        </p:nvSpPr>
        <p:spPr>
          <a:xfrm>
            <a:off x="2867558" y="4983480"/>
            <a:ext cx="60643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2867558" y="4983480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</a:t>
            </a:r>
            <a:endParaRPr 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3556284" y="4983480"/>
            <a:ext cx="1704807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3556284" y="4983480"/>
            <a:ext cx="1704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trike="sngStrike" dirty="0">
                <a:solidFill>
                  <a:schemeClr val="accent6"/>
                </a:solidFill>
              </a:rPr>
              <a:t>te helpen</a:t>
            </a:r>
            <a:endParaRPr lang="en-US" sz="2200" dirty="0"/>
          </a:p>
        </p:txBody>
      </p:sp>
      <p:sp>
        <p:nvSpPr>
          <p:cNvPr id="37" name="Text 30"/>
          <p:cNvSpPr txBox="1"/>
          <p:nvPr/>
        </p:nvSpPr>
        <p:spPr>
          <a:xfrm>
            <a:off x="5352532" y="49834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✗</a:t>
            </a:r>
            <a:endParaRPr lang="en-US" sz="2600" dirty="0"/>
          </a:p>
        </p:txBody>
      </p:sp>
      <p:sp>
        <p:nvSpPr>
          <p:cNvPr id="38" name="Text 31"/>
          <p:cNvSpPr txBox="1"/>
          <p:nvPr/>
        </p:nvSpPr>
        <p:spPr>
          <a:xfrm>
            <a:off x="5901172" y="4983480"/>
            <a:ext cx="57391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voor … te</a:t>
            </a:r>
            <a:r>
              <a:rPr lang="en-US" sz="1500" dirty="0">
                <a:solidFill>
                  <a:schemeClr val="tx2"/>
                </a:solidFill>
              </a:rPr>
              <a:t> s’entend en Flandre, mais n’est pas standard : dites </a:t>
            </a:r>
            <a:r>
              <a:rPr lang="en-US" sz="1500" i="1" dirty="0">
                <a:solidFill>
                  <a:schemeClr val="tx2"/>
                </a:solidFill>
              </a:rPr>
              <a:t>om … te</a:t>
            </a:r>
            <a:r>
              <a:rPr lang="en-US" sz="1500" dirty="0">
                <a:solidFill>
                  <a:schemeClr val="tx2"/>
                </a:solidFill>
              </a:rPr>
              <a:t>. « pour que » + phrase = </a:t>
            </a:r>
            <a:r>
              <a:rPr lang="en-US" sz="1500" i="1" dirty="0">
                <a:solidFill>
                  <a:schemeClr val="tx2"/>
                </a:solidFill>
              </a:rPr>
              <a:t>zodat</a:t>
            </a:r>
            <a:r>
              <a:rPr lang="en-US" sz="1500" dirty="0">
                <a:solidFill>
                  <a:schemeClr val="tx2"/>
                </a:solidFill>
              </a:rPr>
              <a:t> (aperçu).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Le calque du français (« pour » = </a:t>
            </a:r>
            <a:r>
              <a:rPr lang="en-US" sz="1500" i="1" dirty="0">
                <a:solidFill>
                  <a:schemeClr val="accent6"/>
                </a:solidFill>
              </a:rPr>
              <a:t>voor</a:t>
            </a:r>
            <a:r>
              <a:rPr lang="en-US" sz="1500" dirty="0">
                <a:solidFill>
                  <a:schemeClr val="accent6"/>
                </a:solidFill>
              </a:rPr>
              <a:t>) est l’erreur n° 1 : vérifiez s’il y a un </a:t>
            </a:r>
            <a:r>
              <a:rPr lang="en-US" sz="1500" b="1" dirty="0">
                <a:solidFill>
                  <a:schemeClr val="accent6"/>
                </a:solidFill>
              </a:rPr>
              <a:t>verbe</a:t>
            </a:r>
            <a:r>
              <a:rPr lang="en-US" sz="1500" dirty="0">
                <a:solidFill>
                  <a:schemeClr val="accent6"/>
                </a:solidFill>
              </a:rPr>
              <a:t> après « pour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Au passé : te et om … te ne bougent pas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AU PASSÉ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Ik probeer te bellen.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92165" cy="603504"/>
          </a:xfrm>
          <a:prstGeom prst="roundRect">
            <a:avLst>
              <a:gd name="adj" fmla="val 154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2024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223101" y="1920240"/>
            <a:ext cx="904129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23101" y="1920240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heb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209527" y="1920240"/>
            <a:ext cx="1790395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09527" y="1920240"/>
            <a:ext cx="17903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geprobeerd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082218" y="1920240"/>
            <a:ext cx="736377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82218" y="1920240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te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900891" y="1920240"/>
            <a:ext cx="1575138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00891" y="1920240"/>
            <a:ext cx="1575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bellen.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750350" y="1920240"/>
            <a:ext cx="488996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proberen</a:t>
            </a:r>
            <a:r>
              <a:rPr lang="en-US" sz="1500" dirty="0">
                <a:solidFill>
                  <a:schemeClr val="tx2"/>
                </a:solidFill>
              </a:rPr>
              <a:t> → participe (</a:t>
            </a:r>
            <a:r>
              <a:rPr lang="en-US" sz="1500" i="1" dirty="0">
                <a:solidFill>
                  <a:schemeClr val="tx2"/>
                </a:solidFill>
              </a:rPr>
              <a:t>geprobeerd</a:t>
            </a:r>
            <a:r>
              <a:rPr lang="en-US" sz="1500" dirty="0">
                <a:solidFill>
                  <a:schemeClr val="tx2"/>
                </a:solidFill>
              </a:rPr>
              <a:t>) + </a:t>
            </a:r>
            <a:r>
              <a:rPr lang="en-US" sz="1500" i="1" dirty="0">
                <a:solidFill>
                  <a:schemeClr val="tx2"/>
                </a:solidFill>
              </a:rPr>
              <a:t>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Ik bel om een afspraak te maken.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592165" cy="603504"/>
          </a:xfrm>
          <a:prstGeom prst="roundRect">
            <a:avLst>
              <a:gd name="adj" fmla="val 154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24612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223101" y="3246120"/>
            <a:ext cx="904129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23101" y="3246120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heb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2209527" y="3246120"/>
            <a:ext cx="119128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09527" y="3246120"/>
            <a:ext cx="119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gebeld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3483103" y="3246120"/>
            <a:ext cx="736377" cy="603504"/>
          </a:xfrm>
          <a:prstGeom prst="roundRect">
            <a:avLst>
              <a:gd name="adj" fmla="val 15152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83103" y="3246120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om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4301777" y="3246120"/>
            <a:ext cx="208995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01777" y="3246120"/>
            <a:ext cx="20899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een afspraak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6474025" y="3246120"/>
            <a:ext cx="736377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74025" y="3246120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te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292698" y="3246120"/>
            <a:ext cx="1407386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92698" y="3246120"/>
            <a:ext cx="14073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maken.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8974404" y="3246120"/>
            <a:ext cx="2665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pince </a:t>
            </a:r>
            <a:r>
              <a:rPr lang="en-US" sz="1500" i="1" dirty="0">
                <a:solidFill>
                  <a:schemeClr val="tx2"/>
                </a:solidFill>
              </a:rPr>
              <a:t>om … te</a:t>
            </a:r>
            <a:r>
              <a:rPr lang="en-US" sz="1500" dirty="0">
                <a:solidFill>
                  <a:schemeClr val="tx2"/>
                </a:solidFill>
              </a:rPr>
              <a:t> ne change pas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Ik wil komen.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48640" y="4572000"/>
            <a:ext cx="592165" cy="603504"/>
          </a:xfrm>
          <a:prstGeom prst="roundRect">
            <a:avLst>
              <a:gd name="adj" fmla="val 154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457200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223101" y="4572000"/>
            <a:ext cx="904129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223101" y="4572000"/>
            <a:ext cx="90412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heb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2209527" y="4572000"/>
            <a:ext cx="119128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209527" y="4572000"/>
            <a:ext cx="119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willen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3483103" y="4572000"/>
            <a:ext cx="1407386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483103" y="4572000"/>
            <a:ext cx="14073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komen.</a:t>
            </a:r>
            <a:endParaRPr lang="en-US" sz="2100" dirty="0"/>
          </a:p>
        </p:txBody>
      </p:sp>
      <p:sp>
        <p:nvSpPr>
          <p:cNvPr id="42" name="Text 39"/>
          <p:cNvSpPr txBox="1"/>
          <p:nvPr/>
        </p:nvSpPr>
        <p:spPr>
          <a:xfrm>
            <a:off x="5164809" y="4572000"/>
            <a:ext cx="64755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sans </a:t>
            </a:r>
            <a:r>
              <a:rPr lang="en-US" sz="1500" i="1" dirty="0">
                <a:solidFill>
                  <a:schemeClr val="tx2"/>
                </a:solidFill>
              </a:rPr>
              <a:t>te</a:t>
            </a:r>
            <a:r>
              <a:rPr lang="en-US" sz="1500" dirty="0">
                <a:solidFill>
                  <a:schemeClr val="tx2"/>
                </a:solidFill>
              </a:rPr>
              <a:t> → double infinitif (voir le complément)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 passé composé, le premier verbe passe au participe (</a:t>
            </a:r>
            <a:r>
              <a:rPr lang="en-US" sz="1600" i="1" dirty="0">
                <a:solidFill>
                  <a:schemeClr val="bg1"/>
                </a:solidFill>
              </a:rPr>
              <a:t>geprobeerd, gebeld</a:t>
            </a:r>
            <a:r>
              <a:rPr lang="en-US" sz="1600" dirty="0">
                <a:solidFill>
                  <a:schemeClr val="bg1"/>
                </a:solidFill>
              </a:rPr>
              <a:t>) ; l’infinitif avec </a:t>
            </a:r>
            <a:r>
              <a:rPr lang="en-US" sz="1600" i="1" dirty="0">
                <a:solidFill>
                  <a:schemeClr val="bg1"/>
                </a:solidFill>
              </a:rPr>
              <a:t>te</a:t>
            </a:r>
            <a:r>
              <a:rPr lang="en-US" sz="1600" dirty="0">
                <a:solidFill>
                  <a:schemeClr val="bg1"/>
                </a:solidFill>
              </a:rPr>
              <a:t> reste </a:t>
            </a:r>
            <a:r>
              <a:rPr lang="en-US" sz="1600" b="1" dirty="0">
                <a:solidFill>
                  <a:schemeClr val="bg1"/>
                </a:solidFill>
              </a:rPr>
              <a:t>au bout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te et om … 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153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57276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① SANS 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kunnen · moeten · willen · mogen · zullen · gaan · komen · blijven · laten · zien · horen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wil </a:t>
            </a:r>
            <a:r>
              <a:rPr lang="en-US" sz="2000" b="1" i="1" dirty="0">
                <a:solidFill>
                  <a:srgbClr val="B83227"/>
                </a:solidFill>
              </a:rPr>
              <a:t>komen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08776" y="1463040"/>
            <a:ext cx="543153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91656" y="157276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② AVEC te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205740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proberen · beginnen · vergeten · beloven · hopen… · zitten te · niet hoeven 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91656" y="288036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probeer </a:t>
            </a:r>
            <a:r>
              <a:rPr lang="en-US" sz="2000" b="1" i="1" dirty="0">
                <a:solidFill>
                  <a:srgbClr val="D9700F"/>
                </a:solidFill>
              </a:rPr>
              <a:t>te komen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543153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381304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4A9E"/>
                </a:solidFill>
              </a:rPr>
              <a:t>③ OM … TE = pour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29768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 but · après un nom (zin, tijd) ou un adjectif (leuk, moeilijk)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12064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bel </a:t>
            </a:r>
            <a:r>
              <a:rPr lang="en-US" sz="2000" b="1" i="1" dirty="0">
                <a:solidFill>
                  <a:srgbClr val="6E4A9E"/>
                </a:solidFill>
              </a:rPr>
              <a:t>om</a:t>
            </a:r>
            <a:r>
              <a:rPr lang="en-US" sz="2000" i="1" dirty="0">
                <a:solidFill>
                  <a:schemeClr val="tx1"/>
                </a:solidFill>
              </a:rPr>
              <a:t> een afspraak </a:t>
            </a:r>
            <a:r>
              <a:rPr lang="en-US" sz="2000" b="1" i="1" dirty="0">
                <a:solidFill>
                  <a:srgbClr val="6E4A9E"/>
                </a:solidFill>
              </a:rPr>
              <a:t>te maken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08776" y="3703320"/>
            <a:ext cx="543153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391656" y="381304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④ LA PINCE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429768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tout entre om et te · te collé à l’infinitif · op te bellen · zonder / in plaats van / door … te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512064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om de klant </a:t>
            </a:r>
            <a:r>
              <a:rPr lang="en-US" sz="2000" b="1" i="1" dirty="0">
                <a:solidFill>
                  <a:srgbClr val="B83227"/>
                </a:solidFill>
              </a:rPr>
              <a:t>op te bellen</a:t>
            </a:r>
            <a:endParaRPr lang="en-US" sz="1800" dirty="0"/>
          </a:p>
        </p:txBody>
      </p:sp>
      <p:pic>
        <p:nvPicPr>
          <p:cNvPr id="21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 of geen te?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Waarom? Om … te!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puzzle de la pince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Di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 bonnes résolutions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7992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1708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L’entretien d’embauche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08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2" name="Image 6" descr="man teach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Te of geen te?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te</a:t>
            </a:r>
            <a:r>
              <a:rPr lang="en-US" sz="1700" i="1" dirty="0">
                <a:solidFill>
                  <a:schemeClr val="accent5"/>
                </a:solidFill>
              </a:rPr>
              <a:t>, ou mettez Ø si le verbe n’en veut pas.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Ik wil morgen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komen.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tx1"/>
                </a:solidFill>
              </a:rPr>
              <a:t>Ik probeer morgen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komen.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We gaan vanavond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eten.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Vergeet niet de deur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sluiten.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Je hoeft niet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wachten.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2387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Ik kan je niet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helpen.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i="1" dirty="0">
                <a:solidFill>
                  <a:schemeClr val="tx1"/>
                </a:solidFill>
              </a:rPr>
              <a:t>Hij zit de hele avond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studeren.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i="1" dirty="0">
                <a:solidFill>
                  <a:schemeClr val="tx1"/>
                </a:solidFill>
              </a:rPr>
              <a:t>Ik hoop je snel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zien.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9  </a:t>
            </a:r>
            <a:r>
              <a:rPr lang="en-US" sz="2000" i="1" dirty="0">
                <a:solidFill>
                  <a:schemeClr val="tx1"/>
                </a:solidFill>
              </a:rPr>
              <a:t>Laat me even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nadenken.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10  </a:t>
            </a:r>
            <a:r>
              <a:rPr lang="en-US" sz="2000" i="1" dirty="0">
                <a:solidFill>
                  <a:schemeClr val="tx1"/>
                </a:solidFill>
              </a:rPr>
              <a:t>Het begint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regenen.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Te of geen te?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te</a:t>
            </a:r>
            <a:r>
              <a:rPr lang="en-US" sz="1700" i="1" dirty="0">
                <a:solidFill>
                  <a:schemeClr val="accent5"/>
                </a:solidFill>
              </a:rPr>
              <a:t>, ou mettez Ø si le verbe n’en veut pas.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Ik wil morgen </a:t>
            </a:r>
            <a:r>
              <a:rPr lang="en-US" sz="2000" b="1" i="1" dirty="0">
                <a:solidFill>
                  <a:schemeClr val="accent3"/>
                </a:solidFill>
              </a:rPr>
              <a:t>Ø</a:t>
            </a:r>
            <a:r>
              <a:rPr lang="en-US" sz="2000" i="1" dirty="0">
                <a:solidFill>
                  <a:schemeClr val="tx1"/>
                </a:solidFill>
              </a:rPr>
              <a:t> komen.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tx1"/>
                </a:solidFill>
              </a:rPr>
              <a:t>Ik probeer morgen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komen.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We gaan vanavond </a:t>
            </a:r>
            <a:r>
              <a:rPr lang="en-US" sz="2000" b="1" i="1" dirty="0">
                <a:solidFill>
                  <a:schemeClr val="accent3"/>
                </a:solidFill>
              </a:rPr>
              <a:t>Ø</a:t>
            </a:r>
            <a:r>
              <a:rPr lang="en-US" sz="2000" i="1" dirty="0">
                <a:solidFill>
                  <a:schemeClr val="tx1"/>
                </a:solidFill>
              </a:rPr>
              <a:t> eten.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tx1"/>
                </a:solidFill>
              </a:rPr>
              <a:t>Vergeet niet de deur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sluiten.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Je hoeft niet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wachten.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2387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Ik kan je niet </a:t>
            </a:r>
            <a:r>
              <a:rPr lang="en-US" sz="2000" b="1" i="1" dirty="0">
                <a:solidFill>
                  <a:schemeClr val="accent3"/>
                </a:solidFill>
              </a:rPr>
              <a:t>Ø</a:t>
            </a:r>
            <a:r>
              <a:rPr lang="en-US" sz="2000" i="1" dirty="0">
                <a:solidFill>
                  <a:schemeClr val="tx1"/>
                </a:solidFill>
              </a:rPr>
              <a:t> helpen.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i="1" dirty="0">
                <a:solidFill>
                  <a:schemeClr val="tx1"/>
                </a:solidFill>
              </a:rPr>
              <a:t>Hij zit de hele avond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studeren.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i="1" dirty="0">
                <a:solidFill>
                  <a:schemeClr val="tx1"/>
                </a:solidFill>
              </a:rPr>
              <a:t>Ik hoop je snel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zien.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9  </a:t>
            </a:r>
            <a:r>
              <a:rPr lang="en-US" sz="2000" i="1" dirty="0">
                <a:solidFill>
                  <a:schemeClr val="tx1"/>
                </a:solidFill>
              </a:rPr>
              <a:t>Laat me even </a:t>
            </a:r>
            <a:r>
              <a:rPr lang="en-US" sz="2000" b="1" i="1" dirty="0">
                <a:solidFill>
                  <a:schemeClr val="accent3"/>
                </a:solidFill>
              </a:rPr>
              <a:t>Ø</a:t>
            </a:r>
            <a:r>
              <a:rPr lang="en-US" sz="2000" i="1" dirty="0">
                <a:solidFill>
                  <a:schemeClr val="tx1"/>
                </a:solidFill>
              </a:rPr>
              <a:t> nadenken.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10  </a:t>
            </a:r>
            <a:r>
              <a:rPr lang="en-US" sz="2000" i="1" dirty="0">
                <a:solidFill>
                  <a:schemeClr val="tx1"/>
                </a:solidFill>
              </a:rPr>
              <a:t>Het begint </a:t>
            </a:r>
            <a:r>
              <a:rPr lang="en-US" sz="2000" b="1" i="1" dirty="0">
                <a:solidFill>
                  <a:schemeClr val="accent3"/>
                </a:solidFill>
              </a:rPr>
              <a:t>te</a:t>
            </a:r>
            <a:r>
              <a:rPr lang="en-US" sz="2000" i="1" dirty="0">
                <a:solidFill>
                  <a:schemeClr val="tx1"/>
                </a:solidFill>
              </a:rPr>
              <a:t> regenen.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Ø : modaux, </a:t>
            </a:r>
            <a:r>
              <a:rPr lang="en-US" sz="1400" i="1" dirty="0">
                <a:solidFill>
                  <a:schemeClr val="accent5"/>
                </a:solidFill>
              </a:rPr>
              <a:t>gaan</a:t>
            </a:r>
            <a:r>
              <a:rPr lang="en-US" sz="1400" i="1" dirty="0">
                <a:solidFill>
                  <a:schemeClr val="accent5"/>
                </a:solidFill>
              </a:rPr>
              <a:t>, </a:t>
            </a:r>
            <a:r>
              <a:rPr lang="en-US" sz="1400" i="1" dirty="0">
                <a:solidFill>
                  <a:schemeClr val="accent5"/>
                </a:solidFill>
              </a:rPr>
              <a:t>laten</a:t>
            </a:r>
            <a:r>
              <a:rPr lang="en-US" sz="1400" i="1" dirty="0">
                <a:solidFill>
                  <a:schemeClr val="accent5"/>
                </a:solidFill>
              </a:rPr>
              <a:t> → pas de </a:t>
            </a:r>
            <a:r>
              <a:rPr lang="en-US" sz="1400" i="1" dirty="0">
                <a:solidFill>
                  <a:schemeClr val="accent5"/>
                </a:solidFill>
              </a:rPr>
              <a:t>te</a:t>
            </a:r>
            <a:r>
              <a:rPr lang="en-US" sz="1400" i="1" dirty="0">
                <a:solidFill>
                  <a:schemeClr val="accent5"/>
                </a:solidFill>
              </a:rPr>
              <a:t>. N° 4 : </a:t>
            </a:r>
            <a:r>
              <a:rPr lang="en-US" sz="1400" i="1" dirty="0">
                <a:solidFill>
                  <a:schemeClr val="accent5"/>
                </a:solidFill>
              </a:rPr>
              <a:t>te sluiten</a:t>
            </a:r>
            <a:r>
              <a:rPr lang="en-US" sz="1400" i="1" dirty="0">
                <a:solidFill>
                  <a:schemeClr val="accent5"/>
                </a:solidFill>
              </a:rPr>
              <a:t>, mais </a:t>
            </a:r>
            <a:r>
              <a:rPr lang="en-US" sz="1400" i="1" dirty="0">
                <a:solidFill>
                  <a:schemeClr val="accent5"/>
                </a:solidFill>
              </a:rPr>
              <a:t>dicht te doen</a:t>
            </a:r>
            <a:r>
              <a:rPr lang="en-US" sz="1400" i="1" dirty="0">
                <a:solidFill>
                  <a:schemeClr val="accent5"/>
                </a:solidFill>
              </a:rPr>
              <a:t> (séparable).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Waarom? Om … te!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Pourquoi ? Répondez avec </a:t>
            </a:r>
            <a:r>
              <a:rPr lang="en-US" sz="1700" i="1" dirty="0">
                <a:solidFill>
                  <a:schemeClr val="accent5"/>
                </a:solidFill>
              </a:rPr>
              <a:t>om … te</a:t>
            </a:r>
            <a:r>
              <a:rPr lang="en-US" sz="1700" i="1" dirty="0">
                <a:solidFill>
                  <a:schemeClr val="accent5"/>
                </a:solidFill>
              </a:rPr>
              <a:t> et l’indice.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baguette b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5312"/>
            <a:ext cx="925576" cy="92557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94256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bakker.</a:t>
            </a:r>
            <a:r>
              <a:rPr lang="en-US" sz="1500" dirty="0">
                <a:solidFill>
                  <a:schemeClr val="tx2"/>
                </a:solidFill>
              </a:rPr>
              <a:t>  (brood kopen)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794256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bakker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i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2368"/>
            <a:ext cx="925576" cy="9255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94256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apotheek.</a:t>
            </a:r>
            <a:r>
              <a:rPr lang="en-US" sz="1500" dirty="0">
                <a:solidFill>
                  <a:schemeClr val="tx2"/>
                </a:solidFill>
              </a:rPr>
              <a:t>  (medicijnen halen)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794256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apotheek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ba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9424"/>
            <a:ext cx="925576" cy="92557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94256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bank.</a:t>
            </a:r>
            <a:r>
              <a:rPr lang="en-US" sz="1500" dirty="0">
                <a:solidFill>
                  <a:schemeClr val="tx2"/>
                </a:solidFill>
              </a:rPr>
              <a:t>  (geld afhalen)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794256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bank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6231636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s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2115312"/>
            <a:ext cx="925576" cy="9255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477252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het station.</a:t>
            </a:r>
            <a:r>
              <a:rPr lang="en-US" sz="1500" dirty="0">
                <a:solidFill>
                  <a:schemeClr val="tx2"/>
                </a:solidFill>
              </a:rPr>
              <a:t>  (een ticket kopen)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477252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het station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231636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5" descr="person lifting weigh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3452368"/>
            <a:ext cx="925576" cy="92557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477252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fitness.</a:t>
            </a:r>
            <a:r>
              <a:rPr lang="en-US" sz="1500" dirty="0">
                <a:solidFill>
                  <a:schemeClr val="tx2"/>
                </a:solidFill>
              </a:rPr>
              <a:t>  (fit blijven)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7477252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fitness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8" name="Shape 19"/>
          <p:cNvSpPr/>
          <p:nvPr/>
        </p:nvSpPr>
        <p:spPr>
          <a:xfrm>
            <a:off x="6231636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9" name="Image 6" descr="telephone receiv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4789424"/>
            <a:ext cx="925576" cy="92557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477252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bel de dokter.</a:t>
            </a:r>
            <a:r>
              <a:rPr lang="en-US" sz="1500" dirty="0">
                <a:solidFill>
                  <a:schemeClr val="tx2"/>
                </a:solidFill>
              </a:rPr>
              <a:t>  (een afspraak maken)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7477252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bel de dokter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Waarom? Om … te!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Pourquoi ? Répondez avec </a:t>
            </a:r>
            <a:r>
              <a:rPr lang="en-US" sz="1700" i="1" dirty="0">
                <a:solidFill>
                  <a:schemeClr val="accent5"/>
                </a:solidFill>
              </a:rPr>
              <a:t>om … te</a:t>
            </a:r>
            <a:r>
              <a:rPr lang="en-US" sz="1700" i="1" dirty="0">
                <a:solidFill>
                  <a:schemeClr val="accent5"/>
                </a:solidFill>
              </a:rPr>
              <a:t> et l’indice.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baguette b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5312"/>
            <a:ext cx="925576" cy="9255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94256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bakker.</a:t>
            </a:r>
            <a:r>
              <a:rPr lang="en-US" sz="1500" dirty="0">
                <a:solidFill>
                  <a:schemeClr val="tx2"/>
                </a:solidFill>
              </a:rPr>
              <a:t>  (brood kopen)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794256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bakker </a:t>
            </a:r>
            <a:r>
              <a:rPr lang="en-US" sz="1700" b="1" i="1" dirty="0">
                <a:solidFill>
                  <a:schemeClr val="accent3"/>
                </a:solidFill>
              </a:rPr>
              <a:t>om brood te kopen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i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2368"/>
            <a:ext cx="925576" cy="92557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94256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apotheek.</a:t>
            </a:r>
            <a:r>
              <a:rPr lang="en-US" sz="1500" dirty="0">
                <a:solidFill>
                  <a:schemeClr val="tx2"/>
                </a:solidFill>
              </a:rPr>
              <a:t>  (medicijnen halen)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794256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apotheek </a:t>
            </a:r>
            <a:r>
              <a:rPr lang="en-US" sz="1700" b="1" i="1" dirty="0">
                <a:solidFill>
                  <a:schemeClr val="accent3"/>
                </a:solidFill>
              </a:rPr>
              <a:t>om medicijnen te halen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ba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9424"/>
            <a:ext cx="925576" cy="9255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794256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bank.</a:t>
            </a:r>
            <a:r>
              <a:rPr lang="en-US" sz="1500" dirty="0">
                <a:solidFill>
                  <a:schemeClr val="tx2"/>
                </a:solidFill>
              </a:rPr>
              <a:t>  (geld afhalen)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794256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bank </a:t>
            </a:r>
            <a:r>
              <a:rPr lang="en-US" sz="1700" b="1" i="1" dirty="0">
                <a:solidFill>
                  <a:schemeClr val="accent3"/>
                </a:solidFill>
              </a:rPr>
              <a:t>om geld af te halen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Shape 14"/>
          <p:cNvSpPr/>
          <p:nvPr/>
        </p:nvSpPr>
        <p:spPr>
          <a:xfrm>
            <a:off x="6231636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s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2115312"/>
            <a:ext cx="925576" cy="92557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77252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het station.</a:t>
            </a:r>
            <a:r>
              <a:rPr lang="en-US" sz="1500" dirty="0">
                <a:solidFill>
                  <a:schemeClr val="tx2"/>
                </a:solidFill>
              </a:rPr>
              <a:t>  (een ticket kopen)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477252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het station </a:t>
            </a:r>
            <a:r>
              <a:rPr lang="en-US" sz="1700" b="1" i="1" dirty="0">
                <a:solidFill>
                  <a:schemeClr val="accent3"/>
                </a:solidFill>
              </a:rPr>
              <a:t>om een ticket te kopen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6231636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person lifting weigh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3452368"/>
            <a:ext cx="925576" cy="92557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77252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ga naar de fitness.</a:t>
            </a:r>
            <a:r>
              <a:rPr lang="en-US" sz="1500" dirty="0">
                <a:solidFill>
                  <a:schemeClr val="tx2"/>
                </a:solidFill>
              </a:rPr>
              <a:t>  (fit blijven)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7477252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ga naar de fitness </a:t>
            </a:r>
            <a:r>
              <a:rPr lang="en-US" sz="1700" b="1" i="1" dirty="0">
                <a:solidFill>
                  <a:schemeClr val="accent3"/>
                </a:solidFill>
              </a:rPr>
              <a:t>om fit te blijven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9" name="Shape 20"/>
          <p:cNvSpPr/>
          <p:nvPr/>
        </p:nvSpPr>
        <p:spPr>
          <a:xfrm>
            <a:off x="6231636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6" descr="telephone receiv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4789424"/>
            <a:ext cx="925576" cy="92557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477252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Ik bel de dokter.</a:t>
            </a:r>
            <a:r>
              <a:rPr lang="en-US" sz="1500" dirty="0">
                <a:solidFill>
                  <a:schemeClr val="tx2"/>
                </a:solidFill>
              </a:rPr>
              <a:t>  (een afspraak maken)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7477252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bel de dokter </a:t>
            </a:r>
            <a:r>
              <a:rPr lang="en-US" sz="1700" b="1" i="1" dirty="0">
                <a:solidFill>
                  <a:schemeClr val="accent3"/>
                </a:solidFill>
              </a:rPr>
              <a:t>om een afspraak te maken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3" name="Text 23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N° 3 : </a:t>
            </a:r>
            <a:r>
              <a:rPr lang="en-US" sz="1400" i="1" dirty="0">
                <a:solidFill>
                  <a:schemeClr val="accent5"/>
                </a:solidFill>
              </a:rPr>
              <a:t>afhalen</a:t>
            </a:r>
            <a:r>
              <a:rPr lang="en-US" sz="1400" i="1" dirty="0">
                <a:solidFill>
                  <a:schemeClr val="accent5"/>
                </a:solidFill>
              </a:rPr>
              <a:t> est séparable → </a:t>
            </a:r>
            <a:r>
              <a:rPr lang="en-US" sz="1400" i="1" dirty="0">
                <a:solidFill>
                  <a:schemeClr val="accent5"/>
                </a:solidFill>
              </a:rPr>
              <a:t>af te halen</a:t>
            </a:r>
            <a:r>
              <a:rPr lang="en-US" sz="1400" i="1" dirty="0">
                <a:solidFill>
                  <a:schemeClr val="accent5"/>
                </a:solidFill>
              </a:rPr>
              <a:t>. N° 5 : </a:t>
            </a:r>
            <a:r>
              <a:rPr lang="en-US" sz="1400" i="1" dirty="0">
                <a:solidFill>
                  <a:schemeClr val="accent5"/>
                </a:solidFill>
              </a:rPr>
              <a:t>de fitness</a:t>
            </a:r>
            <a:r>
              <a:rPr lang="en-US" sz="1400" i="1" dirty="0">
                <a:solidFill>
                  <a:schemeClr val="accent5"/>
                </a:solidFill>
              </a:rPr>
              <a:t> (BE) = la salle de sport.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puzzle de la pince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pièces dans l’ordre.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9324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14400" y="1932432"/>
            <a:ext cx="131152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932432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 kom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2545968" y="1932432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545968" y="1932432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3338204" y="1932432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38204" y="1932432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4271228" y="1932432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271228" y="1932432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helpen.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963132" y="1932432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63132" y="1932432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29580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14400" y="2958084"/>
            <a:ext cx="2222182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4400" y="2958084"/>
            <a:ext cx="2222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Hij vertrekt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3456622" y="2958084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456622" y="2958084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4389647" y="2958084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389647" y="2958084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zeggen.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081550" y="2958084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81550" y="2958084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zonder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7621678" y="2958084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621678" y="2958084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iets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3983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914400" y="3983736"/>
            <a:ext cx="282928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4400" y="3983736"/>
            <a:ext cx="28292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 heb geen tijd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4063725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063725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4996750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996750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5929774" y="3983736"/>
            <a:ext cx="1783263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929774" y="3983736"/>
            <a:ext cx="17832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mijn bureau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7941637" y="3983736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941637" y="3983736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ruimen.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9633540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633540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0093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914400" y="5009388"/>
            <a:ext cx="2981061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14400" y="5009388"/>
            <a:ext cx="2981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Het is belangrijk</a:t>
            </a:r>
            <a:endParaRPr lang="en-US" sz="1900" dirty="0"/>
          </a:p>
        </p:txBody>
      </p:sp>
      <p:sp>
        <p:nvSpPr>
          <p:cNvPr id="46" name="Shape 42"/>
          <p:cNvSpPr/>
          <p:nvPr/>
        </p:nvSpPr>
        <p:spPr>
          <a:xfrm>
            <a:off x="4215501" y="5009388"/>
            <a:ext cx="124120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215501" y="5009388"/>
            <a:ext cx="1241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te laat</a:t>
            </a:r>
            <a:endParaRPr lang="en-US" sz="1900" dirty="0"/>
          </a:p>
        </p:txBody>
      </p:sp>
      <p:sp>
        <p:nvSpPr>
          <p:cNvPr id="48" name="Shape 44"/>
          <p:cNvSpPr/>
          <p:nvPr/>
        </p:nvSpPr>
        <p:spPr>
          <a:xfrm>
            <a:off x="5685308" y="5009388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685308" y="5009388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komen.</a:t>
            </a:r>
            <a:endParaRPr lang="en-US" sz="1900" dirty="0"/>
          </a:p>
        </p:txBody>
      </p:sp>
      <p:sp>
        <p:nvSpPr>
          <p:cNvPr id="50" name="Shape 46"/>
          <p:cNvSpPr/>
          <p:nvPr/>
        </p:nvSpPr>
        <p:spPr>
          <a:xfrm>
            <a:off x="7225435" y="5009388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225435" y="5009388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52" name="Shape 48"/>
          <p:cNvSpPr/>
          <p:nvPr/>
        </p:nvSpPr>
        <p:spPr>
          <a:xfrm>
            <a:off x="8158460" y="5009388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158460" y="5009388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54" name="Shape 50"/>
          <p:cNvSpPr/>
          <p:nvPr/>
        </p:nvSpPr>
        <p:spPr>
          <a:xfrm>
            <a:off x="9091484" y="5009388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091484" y="5009388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niet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puzzle de la pince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pièces dans l’ordre.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9324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14400" y="1932432"/>
            <a:ext cx="131152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1932432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 kom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2363088" y="1932432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63088" y="1932432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3149808" y="1932432"/>
            <a:ext cx="563636" cy="566928"/>
          </a:xfrm>
          <a:prstGeom prst="roundRect">
            <a:avLst>
              <a:gd name="adj" fmla="val 1622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149808" y="1932432"/>
            <a:ext cx="563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3795740" y="1932432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795740" y="1932432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582461" y="1932432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82461" y="1932432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helpen.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2715300" y="2535936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715300" y="2682240"/>
            <a:ext cx="2598813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V="1">
            <a:off x="5314112" y="2535936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29580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14400" y="2958084"/>
            <a:ext cx="2222182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14400" y="2958084"/>
            <a:ext cx="2222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Hij vertrekt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3273742" y="2958084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273742" y="2958084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zonder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4667566" y="2958084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667566" y="2958084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iets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584526" y="2958084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584526" y="2958084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6371247" y="2958084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71247" y="2958084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zeggen.</a:t>
            </a:r>
            <a:endParaRPr lang="en-US" sz="1900" dirty="0"/>
          </a:p>
        </p:txBody>
      </p:sp>
      <p:sp>
        <p:nvSpPr>
          <p:cNvPr id="34" name="Shape 30"/>
          <p:cNvSpPr/>
          <p:nvPr/>
        </p:nvSpPr>
        <p:spPr>
          <a:xfrm>
            <a:off x="3929506" y="3561588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929506" y="3707892"/>
            <a:ext cx="3173392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 flipV="1">
            <a:off x="7102898" y="3561588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3983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914400" y="3983736"/>
            <a:ext cx="282928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14400" y="3983736"/>
            <a:ext cx="28292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 heb geen tijd</a:t>
            </a:r>
            <a:endParaRPr lang="en-US" sz="1900" dirty="0"/>
          </a:p>
        </p:txBody>
      </p:sp>
      <p:sp>
        <p:nvSpPr>
          <p:cNvPr id="40" name="Shape 36"/>
          <p:cNvSpPr/>
          <p:nvPr/>
        </p:nvSpPr>
        <p:spPr>
          <a:xfrm>
            <a:off x="3880845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880845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42" name="Shape 38"/>
          <p:cNvSpPr/>
          <p:nvPr/>
        </p:nvSpPr>
        <p:spPr>
          <a:xfrm>
            <a:off x="4667566" y="3983736"/>
            <a:ext cx="1783263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667566" y="3983736"/>
            <a:ext cx="17832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mijn bureau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6533125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533125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</a:t>
            </a:r>
            <a:endParaRPr lang="en-US" sz="1900" dirty="0"/>
          </a:p>
        </p:txBody>
      </p:sp>
      <p:sp>
        <p:nvSpPr>
          <p:cNvPr id="46" name="Shape 42"/>
          <p:cNvSpPr/>
          <p:nvPr/>
        </p:nvSpPr>
        <p:spPr>
          <a:xfrm>
            <a:off x="7319845" y="3983736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319845" y="3983736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48" name="Shape 44"/>
          <p:cNvSpPr/>
          <p:nvPr/>
        </p:nvSpPr>
        <p:spPr>
          <a:xfrm>
            <a:off x="8106566" y="3983736"/>
            <a:ext cx="1463303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106566" y="3983736"/>
            <a:ext cx="1463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ruimen.</a:t>
            </a:r>
            <a:endParaRPr lang="en-US" sz="1900" dirty="0"/>
          </a:p>
        </p:txBody>
      </p:sp>
      <p:sp>
        <p:nvSpPr>
          <p:cNvPr id="50" name="Shape 46"/>
          <p:cNvSpPr/>
          <p:nvPr/>
        </p:nvSpPr>
        <p:spPr>
          <a:xfrm>
            <a:off x="4233058" y="4587240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233058" y="4733544"/>
            <a:ext cx="460516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 flipV="1">
            <a:off x="8838217" y="4587240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548640" y="50093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914400" y="5009388"/>
            <a:ext cx="2981061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14400" y="5009388"/>
            <a:ext cx="2981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Het is belangrijk</a:t>
            </a:r>
            <a:endParaRPr lang="en-US" sz="1900" dirty="0"/>
          </a:p>
        </p:txBody>
      </p:sp>
      <p:sp>
        <p:nvSpPr>
          <p:cNvPr id="56" name="Shape 52"/>
          <p:cNvSpPr/>
          <p:nvPr/>
        </p:nvSpPr>
        <p:spPr>
          <a:xfrm>
            <a:off x="4032621" y="5009388"/>
            <a:ext cx="704424" cy="566928"/>
          </a:xfrm>
          <a:prstGeom prst="roundRect">
            <a:avLst>
              <a:gd name="adj" fmla="val 161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4032621" y="5009388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</a:t>
            </a:r>
            <a:endParaRPr lang="en-US" sz="1900" dirty="0"/>
          </a:p>
        </p:txBody>
      </p:sp>
      <p:sp>
        <p:nvSpPr>
          <p:cNvPr id="58" name="Shape 54"/>
          <p:cNvSpPr/>
          <p:nvPr/>
        </p:nvSpPr>
        <p:spPr>
          <a:xfrm>
            <a:off x="4819342" y="5009388"/>
            <a:ext cx="834664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819342" y="5009388"/>
            <a:ext cx="834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niet</a:t>
            </a:r>
            <a:endParaRPr lang="en-US" sz="1900" dirty="0"/>
          </a:p>
        </p:txBody>
      </p:sp>
      <p:sp>
        <p:nvSpPr>
          <p:cNvPr id="60" name="Shape 56"/>
          <p:cNvSpPr/>
          <p:nvPr/>
        </p:nvSpPr>
        <p:spPr>
          <a:xfrm>
            <a:off x="5736302" y="5009388"/>
            <a:ext cx="1241207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5736302" y="5009388"/>
            <a:ext cx="12412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te laat</a:t>
            </a:r>
            <a:endParaRPr lang="en-US" sz="1900" dirty="0"/>
          </a:p>
        </p:txBody>
      </p:sp>
      <p:sp>
        <p:nvSpPr>
          <p:cNvPr id="62" name="Shape 58"/>
          <p:cNvSpPr/>
          <p:nvPr/>
        </p:nvSpPr>
        <p:spPr>
          <a:xfrm>
            <a:off x="7059804" y="5009388"/>
            <a:ext cx="704424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059804" y="5009388"/>
            <a:ext cx="704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</a:t>
            </a:r>
            <a:endParaRPr lang="en-US" sz="1900" dirty="0"/>
          </a:p>
        </p:txBody>
      </p:sp>
      <p:sp>
        <p:nvSpPr>
          <p:cNvPr id="64" name="Shape 60"/>
          <p:cNvSpPr/>
          <p:nvPr/>
        </p:nvSpPr>
        <p:spPr>
          <a:xfrm>
            <a:off x="7846525" y="5009388"/>
            <a:ext cx="131152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7846525" y="5009388"/>
            <a:ext cx="131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komen.</a:t>
            </a:r>
            <a:endParaRPr lang="en-US" sz="1900" dirty="0"/>
          </a:p>
        </p:txBody>
      </p:sp>
      <p:sp>
        <p:nvSpPr>
          <p:cNvPr id="66" name="Shape 62"/>
          <p:cNvSpPr/>
          <p:nvPr/>
        </p:nvSpPr>
        <p:spPr>
          <a:xfrm>
            <a:off x="4384833" y="5612892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4384833" y="5759196"/>
            <a:ext cx="4117455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 flipV="1">
            <a:off x="8502289" y="5612892"/>
            <a:ext cx="914" cy="14630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Lucas écrit à sa collègue.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Lucas Peeters · Aan: Emma De Smet · Onderwerp: rapport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Hoi Emma,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schrijf je </a:t>
            </a:r>
            <a:r>
              <a:rPr lang="en-US" sz="1800" i="1" dirty="0">
                <a:solidFill>
                  <a:schemeClr val="tx1"/>
                </a:solidFill>
              </a:rPr>
              <a:t>voor te vragen</a:t>
            </a:r>
            <a:r>
              <a:rPr lang="en-US" sz="1800" i="1" dirty="0">
                <a:solidFill>
                  <a:schemeClr val="tx1"/>
                </a:solidFill>
              </a:rPr>
              <a:t> of je morgen tijd hebt. Ik probeer al de hele week </a:t>
            </a:r>
            <a:r>
              <a:rPr lang="en-US" sz="1800" i="1" dirty="0">
                <a:solidFill>
                  <a:schemeClr val="tx1"/>
                </a:solidFill>
              </a:rPr>
              <a:t>je bellen</a:t>
            </a:r>
            <a:r>
              <a:rPr lang="en-US" sz="1800" i="1" dirty="0">
                <a:solidFill>
                  <a:schemeClr val="tx1"/>
                </a:solidFill>
              </a:rPr>
              <a:t>, maar je neemt niet op. Ik wil graag </a:t>
            </a:r>
            <a:r>
              <a:rPr lang="en-US" sz="1800" i="1" dirty="0">
                <a:solidFill>
                  <a:schemeClr val="tx1"/>
                </a:solidFill>
              </a:rPr>
              <a:t>te weten</a:t>
            </a:r>
            <a:r>
              <a:rPr lang="en-US" sz="1800" i="1" dirty="0">
                <a:solidFill>
                  <a:schemeClr val="tx1"/>
                </a:solidFill>
              </a:rPr>
              <a:t> of het rapport klaar is. Zelf heb ik nog geen tijd gehad om de cijfers </a:t>
            </a:r>
            <a:r>
              <a:rPr lang="en-US" sz="1800" i="1" dirty="0">
                <a:solidFill>
                  <a:schemeClr val="tx1"/>
                </a:solidFill>
              </a:rPr>
              <a:t>te nakijken</a:t>
            </a:r>
            <a:r>
              <a:rPr lang="en-US" sz="1800" i="1" dirty="0">
                <a:solidFill>
                  <a:schemeClr val="tx1"/>
                </a:solidFill>
              </a:rPr>
              <a:t>. Je hoeft niet meteen te antwoorden, maar het is belangrijk om het voor vrijdag </a:t>
            </a:r>
            <a:r>
              <a:rPr lang="en-US" sz="1800" i="1" dirty="0">
                <a:solidFill>
                  <a:schemeClr val="tx1"/>
                </a:solidFill>
              </a:rPr>
              <a:t>afmaken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Groetjes,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Lucas</a:t>
            </a:r>
            <a:endParaRPr lang="en-US" sz="18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Lucas écrit à sa collègue.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Lucas Peeters · Aan: Emma De Smet · Onderwerp: rapport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Hoi Emma,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schrijf je </a:t>
            </a:r>
            <a:r>
              <a:rPr lang="en-US" sz="1800" i="1" strike="sngStrike" dirty="0">
                <a:solidFill>
                  <a:schemeClr val="accent6"/>
                </a:solidFill>
              </a:rPr>
              <a:t>voor te vragen</a:t>
            </a:r>
            <a:r>
              <a:rPr lang="en-US" sz="1800" b="1" i="1" dirty="0">
                <a:solidFill>
                  <a:schemeClr val="accent3"/>
                </a:solidFill>
              </a:rPr>
              <a:t> om te vragen</a:t>
            </a:r>
            <a:r>
              <a:rPr lang="en-US" sz="1800" i="1" dirty="0">
                <a:solidFill>
                  <a:schemeClr val="tx1"/>
                </a:solidFill>
              </a:rPr>
              <a:t> of je morgen tijd hebt. Ik probeer al de hele week </a:t>
            </a:r>
            <a:r>
              <a:rPr lang="en-US" sz="1800" i="1" strike="sngStrike" dirty="0">
                <a:solidFill>
                  <a:schemeClr val="accent6"/>
                </a:solidFill>
              </a:rPr>
              <a:t>je bellen</a:t>
            </a:r>
            <a:r>
              <a:rPr lang="en-US" sz="1800" b="1" i="1" dirty="0">
                <a:solidFill>
                  <a:schemeClr val="accent3"/>
                </a:solidFill>
              </a:rPr>
              <a:t> je te bellen</a:t>
            </a:r>
            <a:r>
              <a:rPr lang="en-US" sz="1800" i="1" dirty="0">
                <a:solidFill>
                  <a:schemeClr val="tx1"/>
                </a:solidFill>
              </a:rPr>
              <a:t>, maar je neemt niet op. Ik wil graag </a:t>
            </a:r>
            <a:r>
              <a:rPr lang="en-US" sz="1800" i="1" strike="sngStrike" dirty="0">
                <a:solidFill>
                  <a:schemeClr val="accent6"/>
                </a:solidFill>
              </a:rPr>
              <a:t>te weten</a:t>
            </a:r>
            <a:r>
              <a:rPr lang="en-US" sz="1800" b="1" i="1" dirty="0">
                <a:solidFill>
                  <a:schemeClr val="accent3"/>
                </a:solidFill>
              </a:rPr>
              <a:t> weten</a:t>
            </a:r>
            <a:r>
              <a:rPr lang="en-US" sz="1800" i="1" dirty="0">
                <a:solidFill>
                  <a:schemeClr val="tx1"/>
                </a:solidFill>
              </a:rPr>
              <a:t> of het rapport klaar is. Zelf heb ik nog geen tijd gehad om de cijfers </a:t>
            </a:r>
            <a:r>
              <a:rPr lang="en-US" sz="1800" i="1" strike="sngStrike" dirty="0">
                <a:solidFill>
                  <a:schemeClr val="accent6"/>
                </a:solidFill>
              </a:rPr>
              <a:t>te nakijken</a:t>
            </a:r>
            <a:r>
              <a:rPr lang="en-US" sz="1800" b="1" i="1" dirty="0">
                <a:solidFill>
                  <a:schemeClr val="accent3"/>
                </a:solidFill>
              </a:rPr>
              <a:t> na te kijken</a:t>
            </a:r>
            <a:r>
              <a:rPr lang="en-US" sz="1800" i="1" dirty="0">
                <a:solidFill>
                  <a:schemeClr val="tx1"/>
                </a:solidFill>
              </a:rPr>
              <a:t>. Je hoeft niet meteen te antwoorden, maar het is belangrijk om het voor vrijdag </a:t>
            </a:r>
            <a:r>
              <a:rPr lang="en-US" sz="1800" i="1" strike="sngStrike" dirty="0">
                <a:solidFill>
                  <a:schemeClr val="accent6"/>
                </a:solidFill>
              </a:rPr>
              <a:t>afmaken</a:t>
            </a:r>
            <a:r>
              <a:rPr lang="en-US" sz="1800" b="1" i="1" dirty="0">
                <a:solidFill>
                  <a:schemeClr val="accent3"/>
                </a:solidFill>
              </a:rPr>
              <a:t> af te maken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Groetjes,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Lucas</a:t>
            </a:r>
            <a:endParaRPr lang="en-US" sz="18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Corrects : </a:t>
            </a:r>
            <a:r>
              <a:rPr lang="en-US" sz="1400" i="1" dirty="0">
                <a:solidFill>
                  <a:schemeClr val="accent5"/>
                </a:solidFill>
              </a:rPr>
              <a:t>of je morgen tijd hebt</a:t>
            </a:r>
            <a:r>
              <a:rPr lang="en-US" sz="1400" i="1" dirty="0">
                <a:solidFill>
                  <a:schemeClr val="accent5"/>
                </a:solidFill>
              </a:rPr>
              <a:t> (question indirecte) et </a:t>
            </a:r>
            <a:r>
              <a:rPr lang="en-US" sz="1400" i="1" dirty="0">
                <a:solidFill>
                  <a:schemeClr val="accent5"/>
                </a:solidFill>
              </a:rPr>
              <a:t>Je hoeft niet meteen te antwoorden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Mes bonnes résolutions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Tirez un début de phrase et une image, puis formulez une résolution pour l’année.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 rot="-120000">
            <a:off x="548640" y="201168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 rot="-120000">
            <a:off x="548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Ik probeer…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20000">
            <a:off x="3063240" y="201168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 rot="120000">
            <a:off x="30632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Ik ben van plan om…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60000">
            <a:off x="548640" y="288036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 rot="60000">
            <a:off x="54864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Ik heb zin om…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-120000">
            <a:off x="3063240" y="288036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 rot="-120000">
            <a:off x="306324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Ik wil…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20000">
            <a:off x="548640" y="374904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 rot="120000">
            <a:off x="54864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Het is belangrijk om…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60000">
            <a:off x="3063240" y="374904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 rot="60000">
            <a:off x="306324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Ik hoef niet meer…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120000">
            <a:off x="5806440" y="20116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20" name="Image 0" descr="person run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2084832"/>
            <a:ext cx="512064" cy="51206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852160" y="26151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sporten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 rot="-120000">
            <a:off x="7269480" y="20116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23" name="Image 1" descr="boo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084832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315200" y="26151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meer lezen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 rot="60000">
            <a:off x="8732520" y="20116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26" name="Image 2" descr="mobile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084832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778240" y="26151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minder op mijn gsm zitten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 rot="-60000">
            <a:off x="10195560" y="20116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29" name="Image 3" descr="alarm 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2084832"/>
            <a:ext cx="512064" cy="51206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241280" y="26151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vroeger opstaan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 rot="120000">
            <a:off x="5806440" y="333756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32" name="Image 4" descr="green sal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410712"/>
            <a:ext cx="512064" cy="51206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852160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gezonder eten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 rot="-120000">
            <a:off x="7269480" y="333756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35" name="Image 5" descr="speech ballo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3410712"/>
            <a:ext cx="512064" cy="51206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15200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Nederlands spreken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 rot="60000">
            <a:off x="8732520" y="333756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38" name="Image 6" descr="bicy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3410712"/>
            <a:ext cx="512064" cy="51206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78240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met de fiets gaan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 rot="-60000">
            <a:off x="10195560" y="333756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pic>
        <p:nvPicPr>
          <p:cNvPr id="41" name="Image 7" descr="be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5328" y="3410712"/>
            <a:ext cx="512064" cy="51206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0241280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6"/>
                </a:solidFill>
              </a:rPr>
              <a:t>meer slapen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548640" y="475488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777240" y="4754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ben van plan </a:t>
            </a:r>
            <a:r>
              <a:rPr lang="en-US" sz="1800" b="1" i="1" dirty="0">
                <a:solidFill>
                  <a:srgbClr val="6E4A9E"/>
                </a:solidFill>
              </a:rPr>
              <a:t>om</a:t>
            </a:r>
            <a:r>
              <a:rPr lang="en-US" sz="1800" i="1" dirty="0">
                <a:solidFill>
                  <a:schemeClr val="tx1"/>
                </a:solidFill>
              </a:rPr>
              <a:t> elke dag Nederlands </a:t>
            </a:r>
            <a:r>
              <a:rPr lang="en-US" sz="1800" b="1" i="1" dirty="0">
                <a:solidFill>
                  <a:srgbClr val="D9700F"/>
                </a:solidFill>
              </a:rPr>
              <a:t>te spreken</a:t>
            </a:r>
            <a:r>
              <a:rPr lang="en-US" sz="1800" i="1" dirty="0">
                <a:solidFill>
                  <a:schemeClr val="tx1"/>
                </a:solidFill>
              </a:rPr>
              <a:t>. · Ik wil meer </a:t>
            </a:r>
            <a:r>
              <a:rPr lang="en-US" sz="1800" b="1" i="1" dirty="0">
                <a:solidFill>
                  <a:srgbClr val="B83227"/>
                </a:solidFill>
              </a:rPr>
              <a:t>lezen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55778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point</a:t>
            </a:r>
            <a:r>
              <a:rPr lang="en-US" sz="1500" dirty="0">
                <a:solidFill>
                  <a:schemeClr val="tx1"/>
                </a:solidFill>
              </a:rPr>
              <a:t> par phrase correcte (</a:t>
            </a:r>
            <a:r>
              <a:rPr lang="en-US" sz="1500" i="1" dirty="0">
                <a:solidFill>
                  <a:schemeClr val="tx1"/>
                </a:solidFill>
              </a:rPr>
              <a:t>te</a:t>
            </a:r>
            <a:r>
              <a:rPr lang="en-US" sz="1500" dirty="0">
                <a:solidFill>
                  <a:schemeClr val="tx1"/>
                </a:solidFill>
              </a:rPr>
              <a:t> ou pas </a:t>
            </a:r>
            <a:r>
              <a:rPr lang="en-US" sz="1500" i="1" dirty="0">
                <a:solidFill>
                  <a:schemeClr val="tx1"/>
                </a:solidFill>
              </a:rPr>
              <a:t>te</a:t>
            </a:r>
            <a:r>
              <a:rPr lang="en-US" sz="1500" dirty="0">
                <a:solidFill>
                  <a:schemeClr val="tx1"/>
                </a:solidFill>
              </a:rPr>
              <a:t>, la pince) · le groupe réagit : </a:t>
            </a:r>
            <a:r>
              <a:rPr lang="en-US" sz="1500" i="1" dirty="0">
                <a:solidFill>
                  <a:schemeClr val="tx1"/>
                </a:solidFill>
              </a:rPr>
              <a:t>Goed idee! · Dat is moeilijk om vol te houden!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L’entretien d’embauche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Entretien chez Maesbouw pour un poste d’assistant·e administratif·ve. Objectif : 6 infinitifs avec te ou om … 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— recruteur·euse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Demandez pourquoi B postule, ce qu’il·elle veut apprendre, ses projets.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 — candidat·e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Répondez avec te et om … te. Posez une question à la fin.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Waarom solliciteert u? · Ik solliciteer om … te … · Ik ben van plan om … te … · Ik probeer … te … · Ik hoop … te … · Het is voor mij belangrijk om … te … · Ik heb zin om … te … · Ik ben klaar om te beginnen. · Ik hoef niet … te …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486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VACATURE · MAESBOUW</a:t>
            </a:r>
            <a:endParaRPr lang="en-US" sz="1300" dirty="0"/>
          </a:p>
        </p:txBody>
      </p:sp>
      <p:pic>
        <p:nvPicPr>
          <p:cNvPr id="22" name="Image 0" descr="office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2167128"/>
            <a:ext cx="731520" cy="7315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211312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Administratief medewerker (m/v/x)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8302752" y="3675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</a:t>
            </a:r>
            <a:r>
              <a:rPr lang="en-US" sz="1400" i="1" dirty="0">
                <a:solidFill>
                  <a:schemeClr val="tx1"/>
                </a:solidFill>
              </a:rPr>
              <a:t>offertes </a:t>
            </a:r>
            <a:r>
              <a:rPr lang="en-US" sz="1400" b="1" i="1" dirty="0">
                <a:solidFill>
                  <a:schemeClr val="tx1"/>
                </a:solidFill>
              </a:rPr>
              <a:t>opmaken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302752" y="4178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</a:t>
            </a:r>
            <a:r>
              <a:rPr lang="en-US" sz="1400" i="1" dirty="0">
                <a:solidFill>
                  <a:schemeClr val="tx1"/>
                </a:solidFill>
              </a:rPr>
              <a:t>klanten </a:t>
            </a:r>
            <a:r>
              <a:rPr lang="en-US" sz="1400" b="1" i="1" dirty="0">
                <a:solidFill>
                  <a:schemeClr val="tx1"/>
                </a:solidFill>
              </a:rPr>
              <a:t>opbellen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302752" y="4681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</a:t>
            </a:r>
            <a:r>
              <a:rPr lang="en-US" sz="1400" i="1" dirty="0">
                <a:solidFill>
                  <a:schemeClr val="tx1"/>
                </a:solidFill>
              </a:rPr>
              <a:t>facturen </a:t>
            </a:r>
            <a:r>
              <a:rPr lang="en-US" sz="1400" b="1" i="1" dirty="0">
                <a:solidFill>
                  <a:schemeClr val="tx1"/>
                </a:solidFill>
              </a:rPr>
              <a:t>nakijken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302752" y="5184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</a:t>
            </a:r>
            <a:r>
              <a:rPr lang="en-US" sz="1400" i="1" dirty="0">
                <a:solidFill>
                  <a:schemeClr val="tx1"/>
                </a:solidFill>
              </a:rPr>
              <a:t>Nederlands en Frans </a:t>
            </a:r>
            <a:r>
              <a:rPr lang="en-US" sz="1400" b="1" i="1" dirty="0">
                <a:solidFill>
                  <a:schemeClr val="tx1"/>
                </a:solidFill>
              </a:rPr>
              <a:t>spreken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211312" y="5696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Start: zo snel mogelijk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te</a:t>
            </a:r>
            <a:r>
              <a:rPr lang="en-US" sz="2000" dirty="0">
                <a:solidFill>
                  <a:schemeClr val="tx1"/>
                </a:solidFill>
              </a:rPr>
              <a:t> ou pas </a:t>
            </a:r>
            <a:r>
              <a:rPr lang="en-US" sz="2000" i="1" dirty="0">
                <a:solidFill>
                  <a:schemeClr val="tx1"/>
                </a:solidFill>
              </a:rPr>
              <a:t>te</a:t>
            </a:r>
            <a:r>
              <a:rPr lang="en-US" sz="2000" dirty="0">
                <a:solidFill>
                  <a:schemeClr val="tx1"/>
                </a:solidFill>
              </a:rPr>
              <a:t> ? </a:t>
            </a:r>
            <a:r>
              <a:rPr lang="en-US" sz="2000" i="1" dirty="0">
                <a:solidFill>
                  <a:schemeClr val="tx1"/>
                </a:solidFill>
              </a:rPr>
              <a:t>Ik probeer … komen. · Ik wil … komen.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En néerlandais : </a:t>
            </a:r>
            <a:r>
              <a:rPr lang="en-US" sz="2000" i="1" dirty="0">
                <a:solidFill>
                  <a:schemeClr val="tx1"/>
                </a:solidFill>
              </a:rPr>
              <a:t>Je vais à la banque pour retirer de l’argent.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Remettez dans l’ordre : </a:t>
            </a:r>
            <a:r>
              <a:rPr lang="en-US" sz="2000" i="1" dirty="0">
                <a:solidFill>
                  <a:schemeClr val="tx1"/>
                </a:solidFill>
              </a:rPr>
              <a:t>om · morgen · te · bellen · op · je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Trier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Exprimer un but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Construire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Boo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Défi de la semaine</a:t>
            </a:r>
            <a:r>
              <a:rPr lang="en-US" sz="1800" dirty="0">
                <a:solidFill>
                  <a:schemeClr val="bg1"/>
                </a:solidFill>
              </a:rPr>
              <a:t> : écrivez 3 résolutions avec </a:t>
            </a:r>
            <a:r>
              <a:rPr lang="en-US" sz="1800" i="1" dirty="0">
                <a:solidFill>
                  <a:schemeClr val="bg1"/>
                </a:solidFill>
              </a:rPr>
              <a:t>te</a:t>
            </a:r>
            <a:r>
              <a:rPr lang="en-US" sz="1800" dirty="0">
                <a:solidFill>
                  <a:schemeClr val="bg1"/>
                </a:solidFill>
              </a:rPr>
              <a:t> et 2 phrases avec </a:t>
            </a:r>
            <a:r>
              <a:rPr lang="en-US" sz="1800" i="1" dirty="0">
                <a:solidFill>
                  <a:schemeClr val="bg1"/>
                </a:solidFill>
              </a:rPr>
              <a:t>om … te</a:t>
            </a:r>
            <a:r>
              <a:rPr lang="en-US" sz="1800" dirty="0">
                <a:solidFill>
                  <a:schemeClr val="bg1"/>
                </a:solidFill>
              </a:rPr>
              <a:t> (pourquoi apprenez-vous le néerlandais ?).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 bel om een afspraak te maken — L’infinitif avec te et om … te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2026-10-06T11:50:12Z</dcterms:created>
  <dcterms:modified xsi:type="dcterms:W3CDTF">2026-10-06T11:50:12Z</dcterms:modified>
</cp:coreProperties>
</file>