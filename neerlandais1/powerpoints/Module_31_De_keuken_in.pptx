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c8881f7-3631-bbb1-7c99-86e8cdaba107}">
          <p14:sldIdLst>
            <p14:sldId id="256"/>
          </p14:sldIdLst>
        </p14:section>
        <p14:section name="Découvrir" id="{7e950141-61f9-faa0-a133-b8d5c21e7091}">
          <p14:sldIdLst>
            <p14:sldId id="257"/>
            <p14:sldId id="258"/>
          </p14:sldIdLst>
        </p14:section>
        <p14:section name="Comprendre" id="{11f730f8-3917-18f4-5e9c-5154881c0f81}">
          <p14:sldIdLst>
            <p14:sldId id="259"/>
            <p14:sldId id="260"/>
            <p14:sldId id="261"/>
            <p14:sldId id="262"/>
            <p14:sldId id="263"/>
            <p14:sldId id="264"/>
            <p14:sldId id="265"/>
            <p14:sldId id="266"/>
            <p14:sldId id="267"/>
            <p14:sldId id="268"/>
            <p14:sldId id="269"/>
            <p14:sldId id="270"/>
            <p14:sldId id="271"/>
          </p14:sldIdLst>
        </p14:section>
        <p14:section name="JIJ NU ! — Oefeningen" id="{0d8f0a4c-349a-9916-f186-5e248b94e861}">
          <p14:sldIdLst>
            <p14:sldId id="272"/>
            <p14:sldId id="273"/>
            <p14:sldId id="274"/>
            <p14:sldId id="275"/>
            <p14:sldId id="276"/>
            <p14:sldId id="277"/>
            <p14:sldId id="278"/>
            <p14:sldId id="279"/>
            <p14:sldId id="280"/>
            <p14:sldId id="281"/>
            <p14:sldId id="282"/>
            <p14:sldId id="283"/>
            <p14:sldId id="284"/>
          </p14:sldIdLst>
        </p14:section>
        <p14:section name="Clôture" id="{375e84fd-3883-737f-102b-b382eaa469ad}">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le même petit mot, avant ou après le nom, ne dit pas la même chose.
Écrivez les deux phrases au tableau et demandez : « Quelle différence ? » Laissez chercher : le petit mot in a changé de place. Le module va montrer que cette place change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Au travail, on guide souvent un visiteur : U loopt de gang door en u gaat de tweede deur links binnen. C'est la tâche finale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 contraste lieu / direction à partir de deux images.
Réponse : ① = A (il se promène dans le parc, il y est déjà) ; ② = B (il entre dans le parc). Faites formuler la règle par les apprenants avant la diapo 4 : in devant le nom = où il est ; in après le nom = où il 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Nommer le procédé et poser la règle de base.
achter = derrière, zetten = poser : het achterzetsel est « ce qu'on pose derrière ». Les mots de la grammaire néerlandaise sont transparents : het voorzetsel (posé devant), het achterzetsel (posé derrière). Faites dessiner le schéma dans les cahiers : point = lieu, flèche =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Ik stap in de keuken peut être ambigu, et comment l'achterzetsel lève le doute.
Avec les verbes de mouvement ponctuel (stappen, springen, vallen), la préposition peut déjà indiquer la direction : Ik stap in de bus veut dire « je monte dans le bus ». C'est pourquoi Ik stap in de keuken est ambigu. L'achterzetsel, lui, n'a jamais qu'un sens : la direction. En cas de doute, choisissez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différence de « logique » entre le français et le néerlandais.
C'est la diapo clé pour des francophones. Le néerlandais (comme l'anglais : he runs into the kitchen) a peu de verbes de direction et beaucoup de verbes de manière : lopen, rennen, fietsen, rijden, zwemmen, kruipen, springen. Le français dit « entrer », le néerlandais dit « courir + dedans ». Faites retraduire mot à mot : Hij rent de keuken in = « il court la cuisine dedans ». En Flandre, attention : lopen veut souvent dire « courir » et stappen « marcher » ; aux Pays-Bas, lopen = marcher, rennen = courir.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six achterzetsels les plus fréquents avec une image.
over et door traduisent tous deux « traverser » : over passe par-dessus ou d'un bord à l'autre (une rue, une rivière, un pont) ; door passe à l'intérieur, d'un bout à l'autre (un tunnel, un parc, un couloir). Faites mimer chaque mot avec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avec om, langs, voorbij, binnen.
de hoek om (tourner au coin) ≠ om de hoek (au coin, là où l'on est) : même contraste lieu / direction ! binnen comme achterzetsel est fréquent à l'écrit et dans les annonces : Stap gerust de winkel binnen. (Dans Kom gerust binnen, M16, il n'y a pas de nom : binnen est la particule de binnenkomen.) Variante : rond (faire le tour) : Ze reist de wereld rond.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contraste par des paires minimales.
Faites lire chaque paire à voix haute en dessinant dans l'air un point puis une flèche. Variante en binôme : l'un lit une phrase, l'autre montre « point » ou « flèche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achterzetsels pour décrire un trajet réel dans le bâtiment.
Faites retracer le trajet au doigt sur le plan pendant la lecture. de parking op rijden : en Belgique, de parking = le parking (NL : de parkeerplaats). Prolongement : chaque apprenant décrit son propre trajet du matin, de la porte de l'immeuble à sa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l'achterzetsel dans tous les types de phrases.
L'achterzetsel se comporte exactement comme la particule de opbellen (M11) : au bout dans la phrase simple, juste avant le ou les verbes à la fin. Dans ce module, on écrit en deux mots (op lopen) pour bien voir le nom +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au passé composé selon le sens (lien M15).
Rappel du M15 : lopen, fietsen, zwemmen prennent hebben pour l'activité et zijn pour un déplacement vers un but. L'achterzetsel marque un déplacement : avec un verbe de mouvement, c'est zijn. Mais avec un complément d'objet, on garde hebben : Ik heb de doos de trap op gedragen. Et certains verbes s'emploient comme verbes à particule : Ze heeft de wereld rondgereisd.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la direction quand on ne nomme pas le lieu.
Même logique : Ik ben boven (lieu) / Ik ga naar boven (direction). Kom binnen! (M16) est une formule figée. À l'écrit, naar binnen s'écrit en deux mots.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circumpositions, en deux morceaux autour du nom.
À reconnaître seulement. Le second morceau va au bout comme l'achterzetsel : Ik loop naar de deur toe. Souvent, la version simple suffit : Ik loop naar de deur.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erreurs typiques des francophones.
stijgen et dalen s'emploient pour les prix, les avions, la température : De prijzen stijgen. kruisen = se croiser. On ne double jamais le petit mot (✗ in de zaal in). Dernière ligne : les deux phrases sont correctes, la seconde est sans ambiguïté.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des phrases verbe de manière + achterzetsel de façon ludique.
kruipen (ramper), sluipen (se faufiler) : faites mimer. Passé composé : gelopen, gerend, gefietst, gereden, gezwommen, gekropen, gesprongen, geslopen, toujours avec zijn (diapo 12). 1 point par phrase correcte, 1 point de plus pour le passé composé.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guider un visiteur dans le bâtiment.
Changez de rôle et de destination à chaque tour (vergaderzaal, refter, directie…). Exigez au moins deux achterzetsels par itinéraire, et la reformulation par B (Dus ik loop de gang door 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het park in = il entre (direction) ; in het park = il s'y promène (lieu).
2. Ik loop de trap op.
3. ben
Teaser M32 : Even voorstellen: ik ben Karim Benali, boekhouder bij Peeters &amp; 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2.xml"/><Relationship Id="rId1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keuken in!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La postposition de direction (het achterzetsel)</a:t>
            </a:r>
            <a:endParaRPr lang="en-US" sz="2000" dirty="0"/>
          </a:p>
          <a:p>
            <a:pPr algn="l" indent="0" marL="0">
              <a:buNone/>
            </a:pPr>
            <a:r>
              <a:rPr lang="en-US" sz="2000" b="1" dirty="0">
                <a:solidFill>
                  <a:srgbClr val="FFFFFF"/>
                </a:solidFill>
              </a:rPr>
              <a:t>Ik stap in de keuken · Ik stap de keuken in</a:t>
            </a:r>
            <a:endParaRPr lang="en-US" sz="2000" dirty="0"/>
          </a:p>
        </p:txBody>
      </p:sp>
      <p:sp>
        <p:nvSpPr>
          <p:cNvPr id="5" name="Shape 3"/>
          <p:cNvSpPr/>
          <p:nvPr/>
        </p:nvSpPr>
        <p:spPr>
          <a:xfrm>
            <a:off x="6400800" y="91440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7229246" y="1161288"/>
            <a:ext cx="1152144" cy="1152144"/>
          </a:xfrm>
          <a:prstGeom prst="rect">
            <a:avLst/>
          </a:prstGeom>
          <a:solidFill>
            <a:srgbClr val="FFFFFF"/>
          </a:solidFill>
          <a:ln w="31750">
            <a:solidFill>
              <a:srgbClr val="17375E"/>
            </a:solidFill>
            <a:prstDash val="solid"/>
          </a:ln>
        </p:spPr>
      </p:sp>
      <p:sp>
        <p:nvSpPr>
          <p:cNvPr id="7" name="Shape 5"/>
          <p:cNvSpPr/>
          <p:nvPr/>
        </p:nvSpPr>
        <p:spPr>
          <a:xfrm>
            <a:off x="7174382" y="1599103"/>
            <a:ext cx="109728" cy="276515"/>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7924190" y="1234440"/>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7379025" y="1449324"/>
            <a:ext cx="576072" cy="576072"/>
          </a:xfrm>
          <a:prstGeom prst="rect">
            <a:avLst/>
          </a:prstGeom>
        </p:spPr>
      </p:pic>
      <p:sp>
        <p:nvSpPr>
          <p:cNvPr id="10" name="Shape 6"/>
          <p:cNvSpPr/>
          <p:nvPr/>
        </p:nvSpPr>
        <p:spPr>
          <a:xfrm>
            <a:off x="7566477" y="2007108"/>
            <a:ext cx="201168" cy="201168"/>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595360" y="105156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a:t>
            </a:r>
            <a:r>
              <a:rPr lang="en-US" sz="2200" b="1" i="1" dirty="0">
                <a:solidFill>
                  <a:schemeClr val="accent2"/>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 de keuken.</a:t>
            </a:r>
            <a:endParaRPr lang="en-US" sz="2200" dirty="0"/>
          </a:p>
        </p:txBody>
      </p:sp>
      <p:sp>
        <p:nvSpPr>
          <p:cNvPr id="12" name="Text 8"/>
          <p:cNvSpPr txBox="1"/>
          <p:nvPr/>
        </p:nvSpPr>
        <p:spPr>
          <a:xfrm>
            <a:off x="8595360" y="2011680"/>
            <a:ext cx="2926080" cy="365760"/>
          </a:xfrm>
          <a:prstGeom prst="rect">
            <a:avLst/>
          </a:prstGeom>
          <a:noFill/>
          <a:ln/>
        </p:spPr>
        <p:txBody>
          <a:bodyPr wrap="square" lIns="0" tIns="0" rIns="0" bIns="0" rtlCol="0" anchor="t"/>
          <a:lstStyle/>
          <a:p>
            <a:pPr algn="l" indent="0" marL="0">
              <a:buNone/>
            </a:pPr>
            <a:r>
              <a:rPr lang="en-US" sz="1400" b="1" dirty="0">
                <a:solidFill>
                  <a:schemeClr val="accent2"/>
                </a:solidFill>
              </a:rPr>
              <a:t>waar? … of waarheen?</a:t>
            </a:r>
            <a:endParaRPr lang="en-US" sz="1400" dirty="0"/>
          </a:p>
        </p:txBody>
      </p:sp>
      <p:sp>
        <p:nvSpPr>
          <p:cNvPr id="13" name="Shape 9"/>
          <p:cNvSpPr/>
          <p:nvPr/>
        </p:nvSpPr>
        <p:spPr>
          <a:xfrm>
            <a:off x="6400800" y="278892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7229246" y="3035808"/>
            <a:ext cx="1152144" cy="1152144"/>
          </a:xfrm>
          <a:prstGeom prst="rect">
            <a:avLst/>
          </a:prstGeom>
          <a:solidFill>
            <a:srgbClr val="FFFFFF"/>
          </a:solidFill>
          <a:ln w="31750">
            <a:solidFill>
              <a:srgbClr val="17375E"/>
            </a:solidFill>
            <a:prstDash val="solid"/>
          </a:ln>
        </p:spPr>
      </p:sp>
      <p:sp>
        <p:nvSpPr>
          <p:cNvPr id="15" name="Shape 11"/>
          <p:cNvSpPr/>
          <p:nvPr/>
        </p:nvSpPr>
        <p:spPr>
          <a:xfrm>
            <a:off x="7174382" y="3473623"/>
            <a:ext cx="109728" cy="276515"/>
          </a:xfrm>
          <a:prstGeom prst="rect">
            <a:avLst/>
          </a:prstGeom>
          <a:solidFill>
            <a:srgbClr val="FFFFFF"/>
          </a:solidFill>
          <a:ln w="12700">
            <a:solidFill>
              <a:srgbClr val="FFFFFF">
                <a:alpha val="0"/>
              </a:srgbClr>
            </a:solidFill>
            <a:prstDash val="solid"/>
          </a:ln>
        </p:spPr>
      </p:sp>
      <p:pic>
        <p:nvPicPr>
          <p:cNvPr id="16" name="Image 2" descr="cooking">    </p:cNvPr>
          <p:cNvPicPr>
            <a:picLocks noChangeAspect="1"/>
          </p:cNvPicPr>
          <p:nvPr/>
        </p:nvPicPr>
        <p:blipFill>
          <a:blip r:embed="rId3"/>
          <a:stretch>
            <a:fillRect/>
          </a:stretch>
        </p:blipFill>
        <p:spPr>
          <a:xfrm>
            <a:off x="7924190" y="3108960"/>
            <a:ext cx="384048" cy="384048"/>
          </a:xfrm>
          <a:prstGeom prst="rect">
            <a:avLst/>
          </a:prstGeom>
        </p:spPr>
      </p:pic>
      <p:pic>
        <p:nvPicPr>
          <p:cNvPr id="17" name="Image 3" descr="person standing">    </p:cNvPr>
          <p:cNvPicPr>
            <a:picLocks noChangeAspect="1"/>
          </p:cNvPicPr>
          <p:nvPr/>
        </p:nvPicPr>
        <p:blipFill>
          <a:blip r:embed="rId4"/>
          <a:stretch>
            <a:fillRect/>
          </a:stretch>
        </p:blipFill>
        <p:spPr>
          <a:xfrm>
            <a:off x="6556248" y="3232404"/>
            <a:ext cx="576072" cy="576072"/>
          </a:xfrm>
          <a:prstGeom prst="rect">
            <a:avLst/>
          </a:prstGeom>
        </p:spPr>
      </p:pic>
      <p:sp>
        <p:nvSpPr>
          <p:cNvPr id="18" name="Shape 12"/>
          <p:cNvSpPr/>
          <p:nvPr/>
        </p:nvSpPr>
        <p:spPr>
          <a:xfrm>
            <a:off x="7027621" y="3721608"/>
            <a:ext cx="720090" cy="914"/>
          </a:xfrm>
          <a:prstGeom prst="line">
            <a:avLst/>
          </a:prstGeom>
          <a:noFill/>
          <a:ln w="50800">
            <a:solidFill>
              <a:srgbClr val="D9700F"/>
            </a:solidFill>
            <a:prstDash val="solid"/>
            <a:tailEnd type="triangle"/>
          </a:ln>
        </p:spPr>
      </p:sp>
      <p:sp>
        <p:nvSpPr>
          <p:cNvPr id="19" name="Text 13"/>
          <p:cNvSpPr txBox="1"/>
          <p:nvPr/>
        </p:nvSpPr>
        <p:spPr>
          <a:xfrm>
            <a:off x="8595360" y="292608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de keuken </a:t>
            </a:r>
            <a:r>
              <a:rPr lang="en-US" sz="2200" b="1" i="1" dirty="0">
                <a:solidFill>
                  <a:schemeClr val="accent1"/>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a:t>
            </a:r>
            <a:endParaRPr lang="en-US" sz="2200" dirty="0"/>
          </a:p>
        </p:txBody>
      </p:sp>
      <p:sp>
        <p:nvSpPr>
          <p:cNvPr id="20" name="Text 14"/>
          <p:cNvSpPr txBox="1"/>
          <p:nvPr/>
        </p:nvSpPr>
        <p:spPr>
          <a:xfrm>
            <a:off x="8595360" y="3886200"/>
            <a:ext cx="2926080" cy="365760"/>
          </a:xfrm>
          <a:prstGeom prst="rect">
            <a:avLst/>
          </a:prstGeom>
          <a:noFill/>
          <a:ln/>
        </p:spPr>
        <p:txBody>
          <a:bodyPr wrap="square" lIns="0" tIns="0" rIns="0" bIns="0" rtlCol="0" anchor="t"/>
          <a:lstStyle/>
          <a:p>
            <a:pPr algn="l" indent="0" marL="0">
              <a:buNone/>
            </a:pPr>
            <a:r>
              <a:rPr lang="en-US" sz="1400" b="1" dirty="0">
                <a:solidFill>
                  <a:schemeClr val="accent1"/>
                </a:solidFill>
              </a:rPr>
              <a:t>waarheen?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Distinguer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le lieu et la direction : </a:t>
            </a:r>
            <a:r>
              <a:rPr lang="en-US" sz="2000" i="1" dirty="0">
                <a:solidFill>
                  <a:schemeClr val="tx1"/>
                </a:solidFill>
              </a:rPr>
              <a:t>in het park / het park in.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ongArrowAlt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Décrire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un trajet : </a:t>
            </a:r>
            <a:r>
              <a:rPr lang="en-US" sz="2000" i="1" dirty="0">
                <a:solidFill>
                  <a:schemeClr val="tx1"/>
                </a:solidFill>
              </a:rPr>
              <a:t>de trap op, de gang door, de hoek om.</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pas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Guider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guide un visiteur dans le bâtiment.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travail : </a:t>
            </a:r>
            <a:r>
              <a:rPr lang="en-US" sz="1700" i="1" dirty="0">
                <a:solidFill>
                  <a:schemeClr val="tx1"/>
                </a:solidFill>
              </a:rPr>
              <a:t>U loopt de gang door en u gaat de tweede deur links binnen.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Waar is Karim?</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685800" y="1664208"/>
            <a:ext cx="411480" cy="411480"/>
          </a:xfrm>
          <a:prstGeom prst="ellipse">
            <a:avLst/>
          </a:prstGeom>
          <a:solidFill>
            <a:schemeClr val="tx2"/>
          </a:solidFill>
          <a:ln w="12700">
            <a:solidFill>
              <a:srgbClr val="FFFFFF">
                <a:alpha val="0"/>
              </a:srgbClr>
            </a:solidFill>
            <a:prstDash val="solid"/>
          </a:ln>
        </p:spPr>
      </p:sp>
      <p:sp>
        <p:nvSpPr>
          <p:cNvPr id="7" name="Text 4"/>
          <p:cNvSpPr txBox="1"/>
          <p:nvPr/>
        </p:nvSpPr>
        <p:spPr>
          <a:xfrm>
            <a:off x="685800"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8" name="Shape 5"/>
          <p:cNvSpPr/>
          <p:nvPr/>
        </p:nvSpPr>
        <p:spPr>
          <a:xfrm>
            <a:off x="2776118" y="1870862"/>
            <a:ext cx="2798064" cy="1881835"/>
          </a:xfrm>
          <a:prstGeom prst="roundRect">
            <a:avLst>
              <a:gd name="adj" fmla="val 9718"/>
            </a:avLst>
          </a:prstGeom>
          <a:solidFill>
            <a:srgbClr val="DCEFD9"/>
          </a:solidFill>
          <a:ln w="31750">
            <a:solidFill>
              <a:srgbClr val="2E7D4F"/>
            </a:solidFill>
            <a:prstDash val="solid"/>
          </a:ln>
        </p:spPr>
      </p:sp>
      <p:sp>
        <p:nvSpPr>
          <p:cNvPr id="9" name="Shape 6"/>
          <p:cNvSpPr/>
          <p:nvPr/>
        </p:nvSpPr>
        <p:spPr>
          <a:xfrm>
            <a:off x="2721254" y="2585960"/>
            <a:ext cx="109728" cy="451640"/>
          </a:xfrm>
          <a:prstGeom prst="rect">
            <a:avLst/>
          </a:prstGeom>
          <a:solidFill>
            <a:srgbClr val="FFFFFF"/>
          </a:solidFill>
          <a:ln w="12700">
            <a:solidFill>
              <a:srgbClr val="FFFFFF">
                <a:alpha val="0"/>
              </a:srgbClr>
            </a:solidFill>
            <a:prstDash val="solid"/>
          </a:ln>
        </p:spPr>
      </p:sp>
      <p:pic>
        <p:nvPicPr>
          <p:cNvPr id="10" name="Image 0" descr="deciduous tree">    </p:cNvPr>
          <p:cNvPicPr>
            <a:picLocks noChangeAspect="1"/>
          </p:cNvPicPr>
          <p:nvPr/>
        </p:nvPicPr>
        <p:blipFill>
          <a:blip r:embed="rId1"/>
          <a:stretch>
            <a:fillRect/>
          </a:stretch>
        </p:blipFill>
        <p:spPr>
          <a:xfrm>
            <a:off x="5071262" y="1944014"/>
            <a:ext cx="411480" cy="411480"/>
          </a:xfrm>
          <a:prstGeom prst="rect">
            <a:avLst/>
          </a:prstGeom>
        </p:spPr>
      </p:pic>
      <p:pic>
        <p:nvPicPr>
          <p:cNvPr id="11" name="Image 1" descr="evergreen tree">    </p:cNvPr>
          <p:cNvPicPr>
            <a:picLocks noChangeAspect="1"/>
          </p:cNvPicPr>
          <p:nvPr/>
        </p:nvPicPr>
        <p:blipFill>
          <a:blip r:embed="rId2"/>
          <a:stretch>
            <a:fillRect/>
          </a:stretch>
        </p:blipFill>
        <p:spPr>
          <a:xfrm>
            <a:off x="5116982" y="3249778"/>
            <a:ext cx="384048" cy="384048"/>
          </a:xfrm>
          <a:prstGeom prst="rect">
            <a:avLst/>
          </a:prstGeom>
        </p:spPr>
      </p:pic>
      <p:sp>
        <p:nvSpPr>
          <p:cNvPr id="12" name="Text 7"/>
          <p:cNvSpPr txBox="1"/>
          <p:nvPr/>
        </p:nvSpPr>
        <p:spPr>
          <a:xfrm>
            <a:off x="2867558"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13" name="Image 2" descr="man office worker">    </p:cNvPr>
          <p:cNvPicPr>
            <a:picLocks noChangeAspect="1"/>
          </p:cNvPicPr>
          <p:nvPr/>
        </p:nvPicPr>
        <p:blipFill>
          <a:blip r:embed="rId3"/>
          <a:stretch>
            <a:fillRect/>
          </a:stretch>
        </p:blipFill>
        <p:spPr>
          <a:xfrm>
            <a:off x="3496483" y="2468880"/>
            <a:ext cx="685800" cy="685800"/>
          </a:xfrm>
          <a:prstGeom prst="rect">
            <a:avLst/>
          </a:prstGeom>
        </p:spPr>
      </p:pic>
      <p:sp>
        <p:nvSpPr>
          <p:cNvPr id="14" name="Shape 8"/>
          <p:cNvSpPr/>
          <p:nvPr/>
        </p:nvSpPr>
        <p:spPr>
          <a:xfrm>
            <a:off x="3738799" y="3136392"/>
            <a:ext cx="201168" cy="201168"/>
          </a:xfrm>
          <a:prstGeom prst="ellipse">
            <a:avLst/>
          </a:prstGeom>
          <a:solidFill>
            <a:schemeClr val="accent2"/>
          </a:solidFill>
          <a:ln w="12700">
            <a:solidFill>
              <a:srgbClr val="FFFFFF">
                <a:alpha val="0"/>
              </a:srgbClr>
            </a:solidFill>
            <a:prstDash val="solid"/>
          </a:ln>
        </p:spPr>
      </p:sp>
      <p:sp>
        <p:nvSpPr>
          <p:cNvPr id="15" name="Shape 9"/>
          <p:cNvSpPr/>
          <p:nvPr/>
        </p:nvSpPr>
        <p:spPr>
          <a:xfrm>
            <a:off x="3111886" y="2096683"/>
            <a:ext cx="1538935" cy="1430195"/>
          </a:xfrm>
          <a:prstGeom prst="ellipse">
            <a:avLst/>
          </a:prstGeom>
          <a:noFill/>
          <a:ln w="22225">
            <a:solidFill>
              <a:srgbClr val="2A6FB0"/>
            </a:solidFill>
            <a:prstDash val="dash"/>
          </a:ln>
        </p:spPr>
      </p:sp>
      <p:sp>
        <p:nvSpPr>
          <p:cNvPr id="16" name="Shape 10"/>
          <p:cNvSpPr/>
          <p:nvPr/>
        </p:nvSpPr>
        <p:spPr>
          <a:xfrm>
            <a:off x="6227064"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6364224" y="1664208"/>
            <a:ext cx="411480" cy="411480"/>
          </a:xfrm>
          <a:prstGeom prst="ellipse">
            <a:avLst/>
          </a:prstGeom>
          <a:solidFill>
            <a:schemeClr val="tx2"/>
          </a:solidFill>
          <a:ln w="12700">
            <a:solidFill>
              <a:srgbClr val="FFFFFF">
                <a:alpha val="0"/>
              </a:srgbClr>
            </a:solidFill>
            <a:prstDash val="solid"/>
          </a:ln>
        </p:spPr>
      </p:sp>
      <p:sp>
        <p:nvSpPr>
          <p:cNvPr id="18" name="Text 12"/>
          <p:cNvSpPr txBox="1"/>
          <p:nvPr/>
        </p:nvSpPr>
        <p:spPr>
          <a:xfrm>
            <a:off x="6364224"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19" name="Shape 13"/>
          <p:cNvSpPr/>
          <p:nvPr/>
        </p:nvSpPr>
        <p:spPr>
          <a:xfrm>
            <a:off x="8454542" y="1870862"/>
            <a:ext cx="2798064" cy="1881835"/>
          </a:xfrm>
          <a:prstGeom prst="roundRect">
            <a:avLst>
              <a:gd name="adj" fmla="val 9718"/>
            </a:avLst>
          </a:prstGeom>
          <a:solidFill>
            <a:srgbClr val="DCEFD9"/>
          </a:solidFill>
          <a:ln w="31750">
            <a:solidFill>
              <a:srgbClr val="2E7D4F"/>
            </a:solidFill>
            <a:prstDash val="solid"/>
          </a:ln>
        </p:spPr>
      </p:sp>
      <p:sp>
        <p:nvSpPr>
          <p:cNvPr id="20" name="Shape 14"/>
          <p:cNvSpPr/>
          <p:nvPr/>
        </p:nvSpPr>
        <p:spPr>
          <a:xfrm>
            <a:off x="8399678" y="2585960"/>
            <a:ext cx="109728" cy="451640"/>
          </a:xfrm>
          <a:prstGeom prst="rect">
            <a:avLst/>
          </a:prstGeom>
          <a:solidFill>
            <a:srgbClr val="FFFFFF"/>
          </a:solidFill>
          <a:ln w="12700">
            <a:solidFill>
              <a:srgbClr val="FFFFFF">
                <a:alpha val="0"/>
              </a:srgbClr>
            </a:solidFill>
            <a:prstDash val="solid"/>
          </a:ln>
        </p:spPr>
      </p:sp>
      <p:pic>
        <p:nvPicPr>
          <p:cNvPr id="21" name="Image 3" descr="deciduous tree">    </p:cNvPr>
          <p:cNvPicPr>
            <a:picLocks noChangeAspect="1"/>
          </p:cNvPicPr>
          <p:nvPr/>
        </p:nvPicPr>
        <p:blipFill>
          <a:blip r:embed="rId4"/>
          <a:stretch>
            <a:fillRect/>
          </a:stretch>
        </p:blipFill>
        <p:spPr>
          <a:xfrm>
            <a:off x="10749686" y="1944014"/>
            <a:ext cx="411480" cy="411480"/>
          </a:xfrm>
          <a:prstGeom prst="rect">
            <a:avLst/>
          </a:prstGeom>
        </p:spPr>
      </p:pic>
      <p:pic>
        <p:nvPicPr>
          <p:cNvPr id="22" name="Image 4" descr="evergreen tree">    </p:cNvPr>
          <p:cNvPicPr>
            <a:picLocks noChangeAspect="1"/>
          </p:cNvPicPr>
          <p:nvPr/>
        </p:nvPicPr>
        <p:blipFill>
          <a:blip r:embed="rId5"/>
          <a:stretch>
            <a:fillRect/>
          </a:stretch>
        </p:blipFill>
        <p:spPr>
          <a:xfrm>
            <a:off x="10795406" y="3249778"/>
            <a:ext cx="384048" cy="384048"/>
          </a:xfrm>
          <a:prstGeom prst="rect">
            <a:avLst/>
          </a:prstGeom>
        </p:spPr>
      </p:pic>
      <p:sp>
        <p:nvSpPr>
          <p:cNvPr id="23" name="Text 15"/>
          <p:cNvSpPr txBox="1"/>
          <p:nvPr/>
        </p:nvSpPr>
        <p:spPr>
          <a:xfrm>
            <a:off x="8545982"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24" name="Image 5" descr="man office worker">    </p:cNvPr>
          <p:cNvPicPr>
            <a:picLocks noChangeAspect="1"/>
          </p:cNvPicPr>
          <p:nvPr/>
        </p:nvPicPr>
        <p:blipFill>
          <a:blip r:embed="rId6"/>
          <a:stretch>
            <a:fillRect/>
          </a:stretch>
        </p:blipFill>
        <p:spPr>
          <a:xfrm>
            <a:off x="6793992" y="2377440"/>
            <a:ext cx="685800" cy="685800"/>
          </a:xfrm>
          <a:prstGeom prst="rect">
            <a:avLst/>
          </a:prstGeom>
        </p:spPr>
      </p:pic>
      <p:sp>
        <p:nvSpPr>
          <p:cNvPr id="25" name="Shape 16"/>
          <p:cNvSpPr/>
          <p:nvPr/>
        </p:nvSpPr>
        <p:spPr>
          <a:xfrm>
            <a:off x="7358634" y="2921508"/>
            <a:ext cx="2355037" cy="914"/>
          </a:xfrm>
          <a:prstGeom prst="line">
            <a:avLst/>
          </a:prstGeom>
          <a:noFill/>
          <a:ln w="50800">
            <a:solidFill>
              <a:srgbClr val="D9700F"/>
            </a:solidFill>
            <a:prstDash val="solid"/>
            <a:tailEnd type="triangle"/>
          </a:ln>
        </p:spPr>
      </p:sp>
      <p:sp>
        <p:nvSpPr>
          <p:cNvPr id="26" name="Shape 17"/>
          <p:cNvSpPr/>
          <p:nvPr/>
        </p:nvSpPr>
        <p:spPr>
          <a:xfrm>
            <a:off x="548640" y="4206240"/>
            <a:ext cx="5413248" cy="685800"/>
          </a:xfrm>
          <a:prstGeom prst="roundRect">
            <a:avLst>
              <a:gd name="adj" fmla="val 13333"/>
            </a:avLst>
          </a:prstGeom>
          <a:solidFill>
            <a:schemeClr val="bg2"/>
          </a:solidFill>
          <a:ln w="12700">
            <a:solidFill>
              <a:srgbClr val="D5DCE6"/>
            </a:solidFill>
            <a:prstDash val="solid"/>
          </a:ln>
        </p:spPr>
      </p:sp>
      <p:sp>
        <p:nvSpPr>
          <p:cNvPr id="27" name="Text 18"/>
          <p:cNvSpPr txBox="1"/>
          <p:nvPr/>
        </p:nvSpPr>
        <p:spPr>
          <a:xfrm>
            <a:off x="777240"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①</a:t>
            </a:r>
            <a:r>
              <a:rPr lang="en-US" sz="2100" dirty="0">
                <a:solidFill>
                  <a:schemeClr val="tx1"/>
                </a:solidFill>
              </a:rPr>
              <a:t> </a:t>
            </a:r>
            <a:r>
              <a:rPr lang="en-US" sz="2100" i="1" dirty="0">
                <a:solidFill>
                  <a:schemeClr val="tx1"/>
                </a:solidFill>
              </a:rPr>
              <a:t>Karim loopt </a:t>
            </a:r>
            <a:r>
              <a:rPr lang="en-US" sz="2100" b="1" i="1" dirty="0">
                <a:solidFill>
                  <a:schemeClr val="tx1"/>
                </a:solidFill>
              </a:rPr>
              <a:t>in</a:t>
            </a:r>
            <a:r>
              <a:rPr lang="en-US" sz="2100" i="1" dirty="0">
                <a:solidFill>
                  <a:schemeClr val="tx1"/>
                </a:solidFill>
              </a:rPr>
              <a:t> het park.</a:t>
            </a:r>
            <a:endParaRPr lang="en-US" sz="2100" dirty="0"/>
          </a:p>
        </p:txBody>
      </p:sp>
      <p:sp>
        <p:nvSpPr>
          <p:cNvPr id="28" name="Shape 19"/>
          <p:cNvSpPr/>
          <p:nvPr/>
        </p:nvSpPr>
        <p:spPr>
          <a:xfrm>
            <a:off x="6227064" y="4206240"/>
            <a:ext cx="5413248" cy="685800"/>
          </a:xfrm>
          <a:prstGeom prst="roundRect">
            <a:avLst>
              <a:gd name="adj" fmla="val 13333"/>
            </a:avLst>
          </a:prstGeom>
          <a:solidFill>
            <a:schemeClr val="bg2"/>
          </a:solidFill>
          <a:ln w="12700">
            <a:solidFill>
              <a:srgbClr val="D5DCE6"/>
            </a:solidFill>
            <a:prstDash val="solid"/>
          </a:ln>
        </p:spPr>
      </p:sp>
      <p:sp>
        <p:nvSpPr>
          <p:cNvPr id="29" name="Text 20"/>
          <p:cNvSpPr txBox="1"/>
          <p:nvPr/>
        </p:nvSpPr>
        <p:spPr>
          <a:xfrm>
            <a:off x="6455664"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②</a:t>
            </a:r>
            <a:r>
              <a:rPr lang="en-US" sz="2100" dirty="0">
                <a:solidFill>
                  <a:schemeClr val="tx1"/>
                </a:solidFill>
              </a:rPr>
              <a:t> </a:t>
            </a:r>
            <a:r>
              <a:rPr lang="en-US" sz="2100" i="1" dirty="0">
                <a:solidFill>
                  <a:schemeClr val="tx1"/>
                </a:solidFill>
              </a:rPr>
              <a:t>Karim loopt het park </a:t>
            </a:r>
            <a:r>
              <a:rPr lang="en-US" sz="2100" b="1" i="1" dirty="0">
                <a:solidFill>
                  <a:schemeClr val="tx1"/>
                </a:solidFill>
              </a:rPr>
              <a:t>in</a:t>
            </a:r>
            <a:r>
              <a:rPr lang="en-US" sz="2100" i="1" dirty="0">
                <a:solidFill>
                  <a:schemeClr val="tx1"/>
                </a:solidFill>
              </a:rPr>
              <a:t>.</a:t>
            </a:r>
            <a:endParaRPr lang="en-US" sz="2100" dirty="0"/>
          </a:p>
        </p:txBody>
      </p:sp>
      <p:sp>
        <p:nvSpPr>
          <p:cNvPr id="30" name="Shape 21"/>
          <p:cNvSpPr/>
          <p:nvPr/>
        </p:nvSpPr>
        <p:spPr>
          <a:xfrm>
            <a:off x="548640" y="512064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31" name="Image 6" descr="thinking face">    </p:cNvPr>
          <p:cNvPicPr>
            <a:picLocks noChangeAspect="1"/>
          </p:cNvPicPr>
          <p:nvPr/>
        </p:nvPicPr>
        <p:blipFill>
          <a:blip r:embed="rId7"/>
          <a:stretch>
            <a:fillRect/>
          </a:stretch>
        </p:blipFill>
        <p:spPr>
          <a:xfrm>
            <a:off x="777240" y="5257800"/>
            <a:ext cx="822960" cy="822960"/>
          </a:xfrm>
          <a:prstGeom prst="rect">
            <a:avLst/>
          </a:prstGeom>
        </p:spPr>
      </p:pic>
      <p:sp>
        <p:nvSpPr>
          <p:cNvPr id="32" name="Text 22"/>
          <p:cNvSpPr txBox="1"/>
          <p:nvPr/>
        </p:nvSpPr>
        <p:spPr>
          <a:xfrm>
            <a:off x="1828800" y="512064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Quelle phrase va avec quelle image ?</a:t>
            </a:r>
            <a:endParaRPr lang="en-US" sz="1800" dirty="0"/>
          </a:p>
          <a:p>
            <a:pPr algn="l" indent="0" marL="0">
              <a:spcAft>
                <a:spcPts val="400"/>
              </a:spcAft>
              <a:buNone/>
            </a:pPr>
            <a:r>
              <a:rPr lang="en-US" sz="1800" dirty="0">
                <a:solidFill>
                  <a:schemeClr val="tx1"/>
                </a:solidFill>
              </a:rPr>
              <a:t>Où est le petit mot </a:t>
            </a:r>
            <a:r>
              <a:rPr lang="en-US" sz="1800" i="1" dirty="0">
                <a:solidFill>
                  <a:schemeClr val="tx1"/>
                </a:solidFill>
              </a:rPr>
              <a:t>in</a:t>
            </a:r>
            <a:r>
              <a:rPr lang="en-US" sz="1800" dirty="0">
                <a:solidFill>
                  <a:schemeClr val="tx1"/>
                </a:solidFill>
              </a:rPr>
              <a:t> : avant ou après </a:t>
            </a:r>
            <a:r>
              <a:rPr lang="en-US" sz="1800" i="1" dirty="0">
                <a:solidFill>
                  <a:schemeClr val="tx1"/>
                </a:solidFill>
              </a:rPr>
              <a:t>het park</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procédé : voorzetsel ou achterzetsel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3038"/>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777240"/>
          </a:xfrm>
          <a:prstGeom prst="roundRect">
            <a:avLst>
              <a:gd name="adj" fmla="val 14118"/>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VOORZETSEL</a:t>
            </a:r>
            <a:endParaRPr lang="en-US" sz="1500" dirty="0"/>
          </a:p>
          <a:p>
            <a:pPr algn="ctr" indent="0" marL="0">
              <a:buNone/>
            </a:pPr>
            <a:r>
              <a:rPr lang="en-US" sz="1500" dirty="0">
                <a:solidFill>
                  <a:schemeClr val="bg1"/>
                </a:solidFill>
              </a:rPr>
              <a:t>la préposition · </a:t>
            </a:r>
            <a:r>
              <a:rPr lang="en-US" sz="1500" b="1" dirty="0">
                <a:solidFill>
                  <a:schemeClr val="bg1"/>
                </a:solidFill>
              </a:rPr>
              <a:t>devant</a:t>
            </a:r>
            <a:r>
              <a:rPr lang="en-US" sz="1500" dirty="0">
                <a:solidFill>
                  <a:schemeClr val="bg1"/>
                </a:solidFill>
              </a:rPr>
              <a:t> le nom</a:t>
            </a:r>
            <a:endParaRPr lang="en-US" sz="1500" dirty="0"/>
          </a:p>
        </p:txBody>
      </p:sp>
      <p:sp>
        <p:nvSpPr>
          <p:cNvPr id="8" name="Shape 5"/>
          <p:cNvSpPr/>
          <p:nvPr/>
        </p:nvSpPr>
        <p:spPr>
          <a:xfrm>
            <a:off x="2618842" y="2543861"/>
            <a:ext cx="2688336" cy="1267358"/>
          </a:xfrm>
          <a:prstGeom prst="rect">
            <a:avLst/>
          </a:prstGeom>
          <a:solidFill>
            <a:srgbClr val="FFFFFF"/>
          </a:solidFill>
          <a:ln w="31750">
            <a:solidFill>
              <a:srgbClr val="17375E"/>
            </a:solidFill>
            <a:prstDash val="solid"/>
          </a:ln>
        </p:spPr>
      </p:sp>
      <p:sp>
        <p:nvSpPr>
          <p:cNvPr id="9" name="Shape 6"/>
          <p:cNvSpPr/>
          <p:nvPr/>
        </p:nvSpPr>
        <p:spPr>
          <a:xfrm>
            <a:off x="2563978" y="3025457"/>
            <a:ext cx="109728" cy="304166"/>
          </a:xfrm>
          <a:prstGeom prst="rect">
            <a:avLst/>
          </a:prstGeom>
          <a:solidFill>
            <a:srgbClr val="FFFFFF"/>
          </a:solidFill>
          <a:ln w="12700">
            <a:solidFill>
              <a:srgbClr val="FFFFFF">
                <a:alpha val="0"/>
              </a:srgbClr>
            </a:solidFill>
            <a:prstDash val="solid"/>
          </a:ln>
        </p:spPr>
      </p:sp>
      <p:pic>
        <p:nvPicPr>
          <p:cNvPr id="10" name="Image 0" descr="cooking">    </p:cNvPr>
          <p:cNvPicPr>
            <a:picLocks noChangeAspect="1"/>
          </p:cNvPicPr>
          <p:nvPr/>
        </p:nvPicPr>
        <p:blipFill>
          <a:blip r:embed="rId1"/>
          <a:stretch>
            <a:fillRect/>
          </a:stretch>
        </p:blipFill>
        <p:spPr>
          <a:xfrm>
            <a:off x="4849978" y="2617013"/>
            <a:ext cx="384048" cy="384048"/>
          </a:xfrm>
          <a:prstGeom prst="rect">
            <a:avLst/>
          </a:prstGeom>
        </p:spPr>
      </p:pic>
      <p:sp>
        <p:nvSpPr>
          <p:cNvPr id="11" name="Text 7"/>
          <p:cNvSpPr txBox="1"/>
          <p:nvPr/>
        </p:nvSpPr>
        <p:spPr>
          <a:xfrm>
            <a:off x="2710282"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12" name="Image 1" descr="person standing">    </p:cNvPr>
          <p:cNvPicPr>
            <a:picLocks noChangeAspect="1"/>
          </p:cNvPicPr>
          <p:nvPr/>
        </p:nvPicPr>
        <p:blipFill>
          <a:blip r:embed="rId2"/>
          <a:stretch>
            <a:fillRect/>
          </a:stretch>
        </p:blipFill>
        <p:spPr>
          <a:xfrm>
            <a:off x="3323570" y="2860700"/>
            <a:ext cx="633679" cy="633679"/>
          </a:xfrm>
          <a:prstGeom prst="rect">
            <a:avLst/>
          </a:prstGeom>
        </p:spPr>
      </p:pic>
      <p:sp>
        <p:nvSpPr>
          <p:cNvPr id="13" name="Shape 8"/>
          <p:cNvSpPr/>
          <p:nvPr/>
        </p:nvSpPr>
        <p:spPr>
          <a:xfrm>
            <a:off x="3539825" y="3476092"/>
            <a:ext cx="201168" cy="201168"/>
          </a:xfrm>
          <a:prstGeom prst="ellipse">
            <a:avLst/>
          </a:prstGeom>
          <a:solidFill>
            <a:schemeClr val="accent2"/>
          </a:solidFill>
          <a:ln w="12700">
            <a:solidFill>
              <a:srgbClr val="FFFFFF">
                <a:alpha val="0"/>
              </a:srgbClr>
            </a:solidFill>
            <a:prstDash val="solid"/>
          </a:ln>
        </p:spPr>
      </p:sp>
      <p:sp>
        <p:nvSpPr>
          <p:cNvPr id="14" name="Text 9"/>
          <p:cNvSpPr txBox="1"/>
          <p:nvPr/>
        </p:nvSpPr>
        <p:spPr>
          <a:xfrm>
            <a:off x="731520"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a:t>
            </a:r>
            <a:r>
              <a:rPr lang="en-US" sz="2200" b="1" i="1" dirty="0">
                <a:solidFill>
                  <a:schemeClr val="accent2"/>
                </a:solidFill>
              </a:rPr>
              <a:t>in</a:t>
            </a:r>
            <a:r>
              <a:rPr lang="en-US" sz="2200" i="1" dirty="0">
                <a:solidFill>
                  <a:schemeClr val="tx1"/>
                </a:solidFill>
              </a:rPr>
              <a:t> de keuken.</a:t>
            </a:r>
            <a:endParaRPr lang="en-US" sz="2200" dirty="0"/>
          </a:p>
        </p:txBody>
      </p:sp>
      <p:sp>
        <p:nvSpPr>
          <p:cNvPr id="15" name="Text 10"/>
          <p:cNvSpPr txBox="1"/>
          <p:nvPr/>
        </p:nvSpPr>
        <p:spPr>
          <a:xfrm>
            <a:off x="731520"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2"/>
                </a:solidFill>
              </a:rPr>
              <a:t>Waar?</a:t>
            </a:r>
            <a:r>
              <a:rPr lang="en-US" sz="1700" dirty="0">
                <a:solidFill>
                  <a:schemeClr val="accent2"/>
                </a:solidFill>
              </a:rPr>
              <a:t> — où ? le </a:t>
            </a:r>
            <a:r>
              <a:rPr lang="en-US" sz="1700" b="1" dirty="0">
                <a:solidFill>
                  <a:schemeClr val="accent2"/>
                </a:solidFill>
              </a:rPr>
              <a:t>lieu</a:t>
            </a:r>
            <a:endParaRPr lang="en-US" sz="1700" dirty="0"/>
          </a:p>
        </p:txBody>
      </p:sp>
      <p:sp>
        <p:nvSpPr>
          <p:cNvPr id="16" name="Shape 11"/>
          <p:cNvSpPr/>
          <p:nvPr/>
        </p:nvSpPr>
        <p:spPr>
          <a:xfrm>
            <a:off x="6227064" y="1554480"/>
            <a:ext cx="5413248" cy="3611880"/>
          </a:xfrm>
          <a:prstGeom prst="roundRect">
            <a:avLst>
              <a:gd name="adj" fmla="val 3038"/>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7" name="Shape 12"/>
          <p:cNvSpPr/>
          <p:nvPr/>
        </p:nvSpPr>
        <p:spPr>
          <a:xfrm>
            <a:off x="6227064" y="1554480"/>
            <a:ext cx="5413248" cy="777240"/>
          </a:xfrm>
          <a:prstGeom prst="roundRect">
            <a:avLst>
              <a:gd name="adj" fmla="val 14118"/>
            </a:avLst>
          </a:prstGeom>
          <a:solidFill>
            <a:schemeClr val="accent1"/>
          </a:solidFill>
          <a:ln w="12700">
            <a:solidFill>
              <a:srgbClr val="FFFFFF">
                <a:alpha val="0"/>
              </a:srgbClr>
            </a:solidFill>
            <a:prstDash val="solid"/>
          </a:ln>
        </p:spPr>
      </p:sp>
      <p:sp>
        <p:nvSpPr>
          <p:cNvPr id="18" name="Text 13"/>
          <p:cNvSpPr txBox="1"/>
          <p:nvPr/>
        </p:nvSpPr>
        <p:spPr>
          <a:xfrm>
            <a:off x="6409944"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ACHTERZETSEL</a:t>
            </a:r>
            <a:endParaRPr lang="en-US" sz="1500" dirty="0"/>
          </a:p>
          <a:p>
            <a:pPr algn="ctr" indent="0" marL="0">
              <a:buNone/>
            </a:pPr>
            <a:r>
              <a:rPr lang="en-US" sz="1500" dirty="0">
                <a:solidFill>
                  <a:schemeClr val="bg1"/>
                </a:solidFill>
              </a:rPr>
              <a:t>la postposition · </a:t>
            </a:r>
            <a:r>
              <a:rPr lang="en-US" sz="1500" b="1" dirty="0">
                <a:solidFill>
                  <a:schemeClr val="bg1"/>
                </a:solidFill>
              </a:rPr>
              <a:t>après</a:t>
            </a:r>
            <a:r>
              <a:rPr lang="en-US" sz="1500" dirty="0">
                <a:solidFill>
                  <a:schemeClr val="bg1"/>
                </a:solidFill>
              </a:rPr>
              <a:t> le nom</a:t>
            </a:r>
            <a:endParaRPr lang="en-US" sz="1500" dirty="0"/>
          </a:p>
        </p:txBody>
      </p:sp>
      <p:sp>
        <p:nvSpPr>
          <p:cNvPr id="19" name="Shape 14"/>
          <p:cNvSpPr/>
          <p:nvPr/>
        </p:nvSpPr>
        <p:spPr>
          <a:xfrm>
            <a:off x="8297266" y="2543861"/>
            <a:ext cx="2688336" cy="1267358"/>
          </a:xfrm>
          <a:prstGeom prst="rect">
            <a:avLst/>
          </a:prstGeom>
          <a:solidFill>
            <a:srgbClr val="FFFFFF"/>
          </a:solidFill>
          <a:ln w="31750">
            <a:solidFill>
              <a:srgbClr val="17375E"/>
            </a:solidFill>
            <a:prstDash val="solid"/>
          </a:ln>
        </p:spPr>
      </p:sp>
      <p:sp>
        <p:nvSpPr>
          <p:cNvPr id="20" name="Shape 15"/>
          <p:cNvSpPr/>
          <p:nvPr/>
        </p:nvSpPr>
        <p:spPr>
          <a:xfrm>
            <a:off x="8242402" y="3025457"/>
            <a:ext cx="109728" cy="304166"/>
          </a:xfrm>
          <a:prstGeom prst="rect">
            <a:avLst/>
          </a:prstGeom>
          <a:solidFill>
            <a:srgbClr val="FFFFFF"/>
          </a:solidFill>
          <a:ln w="12700">
            <a:solidFill>
              <a:srgbClr val="FFFFFF">
                <a:alpha val="0"/>
              </a:srgbClr>
            </a:solidFill>
            <a:prstDash val="solid"/>
          </a:ln>
        </p:spPr>
      </p:sp>
      <p:pic>
        <p:nvPicPr>
          <p:cNvPr id="21" name="Image 2" descr="cooking">    </p:cNvPr>
          <p:cNvPicPr>
            <a:picLocks noChangeAspect="1"/>
          </p:cNvPicPr>
          <p:nvPr/>
        </p:nvPicPr>
        <p:blipFill>
          <a:blip r:embed="rId3"/>
          <a:stretch>
            <a:fillRect/>
          </a:stretch>
        </p:blipFill>
        <p:spPr>
          <a:xfrm>
            <a:off x="10528402" y="2617013"/>
            <a:ext cx="384048" cy="384048"/>
          </a:xfrm>
          <a:prstGeom prst="rect">
            <a:avLst/>
          </a:prstGeom>
        </p:spPr>
      </p:pic>
      <p:sp>
        <p:nvSpPr>
          <p:cNvPr id="22" name="Text 16"/>
          <p:cNvSpPr txBox="1"/>
          <p:nvPr/>
        </p:nvSpPr>
        <p:spPr>
          <a:xfrm>
            <a:off x="8388706"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23" name="Image 3" descr="person standing">    </p:cNvPr>
          <p:cNvPicPr>
            <a:picLocks noChangeAspect="1"/>
          </p:cNvPicPr>
          <p:nvPr/>
        </p:nvPicPr>
        <p:blipFill>
          <a:blip r:embed="rId4"/>
          <a:stretch>
            <a:fillRect/>
          </a:stretch>
        </p:blipFill>
        <p:spPr>
          <a:xfrm>
            <a:off x="6702552" y="2769260"/>
            <a:ext cx="633679" cy="633679"/>
          </a:xfrm>
          <a:prstGeom prst="rect">
            <a:avLst/>
          </a:prstGeom>
        </p:spPr>
      </p:pic>
      <p:sp>
        <p:nvSpPr>
          <p:cNvPr id="24" name="Shape 17"/>
          <p:cNvSpPr/>
          <p:nvPr/>
        </p:nvSpPr>
        <p:spPr>
          <a:xfrm>
            <a:off x="7222891" y="3287268"/>
            <a:ext cx="2284125" cy="914"/>
          </a:xfrm>
          <a:prstGeom prst="line">
            <a:avLst/>
          </a:prstGeom>
          <a:noFill/>
          <a:ln w="50800">
            <a:solidFill>
              <a:srgbClr val="D9700F"/>
            </a:solidFill>
            <a:prstDash val="solid"/>
            <a:tailEnd type="triangle"/>
          </a:ln>
        </p:spPr>
      </p:sp>
      <p:sp>
        <p:nvSpPr>
          <p:cNvPr id="25" name="Text 18"/>
          <p:cNvSpPr txBox="1"/>
          <p:nvPr/>
        </p:nvSpPr>
        <p:spPr>
          <a:xfrm>
            <a:off x="6409944"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de keuken </a:t>
            </a:r>
            <a:r>
              <a:rPr lang="en-US" sz="2200" b="1" i="1" dirty="0">
                <a:solidFill>
                  <a:schemeClr val="accent1"/>
                </a:solidFill>
              </a:rPr>
              <a:t>in</a:t>
            </a:r>
            <a:r>
              <a:rPr lang="en-US" sz="2200" i="1" dirty="0">
                <a:solidFill>
                  <a:schemeClr val="tx1"/>
                </a:solidFill>
              </a:rPr>
              <a:t>.</a:t>
            </a:r>
            <a:endParaRPr lang="en-US" sz="2200" dirty="0"/>
          </a:p>
        </p:txBody>
      </p:sp>
      <p:sp>
        <p:nvSpPr>
          <p:cNvPr id="26" name="Text 19"/>
          <p:cNvSpPr txBox="1"/>
          <p:nvPr/>
        </p:nvSpPr>
        <p:spPr>
          <a:xfrm>
            <a:off x="6409944"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1"/>
                </a:solidFill>
              </a:rPr>
              <a:t>Waarheen?</a:t>
            </a:r>
            <a:r>
              <a:rPr lang="en-US" sz="1700" dirty="0">
                <a:solidFill>
                  <a:schemeClr val="accent1"/>
                </a:solidFill>
              </a:rPr>
              <a:t> — vers où ? la </a:t>
            </a:r>
            <a:r>
              <a:rPr lang="en-US" sz="1700" b="1" dirty="0">
                <a:solidFill>
                  <a:schemeClr val="accent1"/>
                </a:solidFill>
              </a:rPr>
              <a:t>direction</a:t>
            </a:r>
            <a:endParaRPr lang="en-US" sz="1700" dirty="0"/>
          </a:p>
        </p:txBody>
      </p:sp>
      <p:sp>
        <p:nvSpPr>
          <p:cNvPr id="27" name="Shape 20"/>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28" name="Text 21"/>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700" dirty="0">
                <a:solidFill>
                  <a:schemeClr val="bg1"/>
                </a:solidFill>
              </a:rPr>
              <a:t>Un </a:t>
            </a:r>
            <a:r>
              <a:rPr lang="en-US" sz="1700" i="1" dirty="0">
                <a:solidFill>
                  <a:schemeClr val="bg1"/>
                </a:solidFill>
              </a:rPr>
              <a:t>achterzetsel</a:t>
            </a:r>
            <a:r>
              <a:rPr lang="en-US" sz="1700" dirty="0">
                <a:solidFill>
                  <a:schemeClr val="bg1"/>
                </a:solidFill>
              </a:rPr>
              <a:t> = on </a:t>
            </a:r>
            <a:r>
              <a:rPr lang="en-US" sz="1700" b="1" dirty="0">
                <a:solidFill>
                  <a:schemeClr val="bg1"/>
                </a:solidFill>
              </a:rPr>
              <a:t>franchit une limite</a:t>
            </a:r>
            <a:r>
              <a:rPr lang="en-US" sz="1700" dirty="0">
                <a:solidFill>
                  <a:schemeClr val="bg1"/>
                </a:solidFill>
              </a:rPr>
              <a:t> ou on </a:t>
            </a:r>
            <a:r>
              <a:rPr lang="en-US" sz="1700" b="1" dirty="0">
                <a:solidFill>
                  <a:schemeClr val="bg1"/>
                </a:solidFill>
              </a:rPr>
              <a:t>suit un trajet</a:t>
            </a:r>
            <a:r>
              <a:rPr lang="en-US" sz="1700" dirty="0">
                <a:solidFill>
                  <a:schemeClr val="bg1"/>
                </a:solidFill>
              </a:rPr>
              <a:t>.</a:t>
            </a:r>
            <a:endParaRPr lang="en-US" sz="1700" dirty="0"/>
          </a:p>
          <a:p>
            <a:pPr algn="l" indent="0" marL="0">
              <a:spcAft>
                <a:spcPts val="200"/>
              </a:spcAft>
              <a:buNone/>
            </a:pPr>
            <a:r>
              <a:rPr lang="en-US" sz="1700" i="1" dirty="0">
                <a:solidFill>
                  <a:schemeClr val="bg1"/>
                </a:solidFill>
              </a:rPr>
              <a:t>achter</a:t>
            </a:r>
            <a:r>
              <a:rPr lang="en-US" sz="1700" dirty="0">
                <a:solidFill>
                  <a:schemeClr val="bg1"/>
                </a:solidFill>
              </a:rPr>
              <a:t> = derrière · </a:t>
            </a:r>
            <a:r>
              <a:rPr lang="en-US" sz="1700" i="1" dirty="0">
                <a:solidFill>
                  <a:schemeClr val="bg1"/>
                </a:solidFill>
              </a:rPr>
              <a:t>zetten</a:t>
            </a:r>
            <a:r>
              <a:rPr lang="en-US" sz="1700" dirty="0">
                <a:solidFill>
                  <a:schemeClr val="bg1"/>
                </a:solidFill>
              </a:rPr>
              <a:t> = poser → « ce qu’on pose derrière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phrase, deux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6949440" cy="1828800"/>
          </a:xfrm>
          <a:prstGeom prst="roundRect">
            <a:avLst>
              <a:gd name="adj" fmla="val 5000"/>
            </a:avLst>
          </a:prstGeom>
          <a:solidFill>
            <a:schemeClr val="bg2"/>
          </a:solidFill>
          <a:ln w="12700">
            <a:solidFill>
              <a:srgbClr val="D5DCE6"/>
            </a:solidFill>
            <a:prstDash val="solid"/>
          </a:ln>
        </p:spPr>
      </p:sp>
      <p:sp>
        <p:nvSpPr>
          <p:cNvPr id="6" name="Text 3"/>
          <p:cNvSpPr txBox="1"/>
          <p:nvPr/>
        </p:nvSpPr>
        <p:spPr>
          <a:xfrm>
            <a:off x="731520" y="160020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a:t>
            </a:r>
            <a:r>
              <a:rPr lang="en-US" sz="2100" b="1" i="1" dirty="0">
                <a:solidFill>
                  <a:schemeClr val="accent2"/>
                </a:solidFill>
              </a:rPr>
              <a:t>in</a:t>
            </a:r>
            <a:r>
              <a:rPr lang="en-US" sz="2100" i="1" dirty="0">
                <a:solidFill>
                  <a:schemeClr val="tx1"/>
                </a:solidFill>
              </a:rPr>
              <a:t> het water.</a:t>
            </a:r>
            <a:endParaRPr lang="en-US" sz="2100" dirty="0"/>
          </a:p>
        </p:txBody>
      </p:sp>
      <p:sp>
        <p:nvSpPr>
          <p:cNvPr id="7" name="Text 4"/>
          <p:cNvSpPr txBox="1"/>
          <p:nvPr/>
        </p:nvSpPr>
        <p:spPr>
          <a:xfrm>
            <a:off x="6903720" y="1600200"/>
            <a:ext cx="457200" cy="457200"/>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8" name="Shape 5"/>
          <p:cNvSpPr/>
          <p:nvPr/>
        </p:nvSpPr>
        <p:spPr>
          <a:xfrm>
            <a:off x="777240" y="2103120"/>
            <a:ext cx="877824" cy="914400"/>
          </a:xfrm>
          <a:prstGeom prst="rect">
            <a:avLst/>
          </a:prstGeom>
          <a:solidFill>
            <a:srgbClr val="D5DCE6"/>
          </a:solidFill>
          <a:ln w="12700">
            <a:solidFill>
              <a:srgbClr val="FFFFFF">
                <a:alpha val="0"/>
              </a:srgbClr>
            </a:solidFill>
            <a:prstDash val="solid"/>
          </a:ln>
        </p:spPr>
      </p:sp>
      <p:sp>
        <p:nvSpPr>
          <p:cNvPr id="9" name="Shape 6"/>
          <p:cNvSpPr/>
          <p:nvPr/>
        </p:nvSpPr>
        <p:spPr>
          <a:xfrm>
            <a:off x="1655064" y="2423160"/>
            <a:ext cx="2048256" cy="594360"/>
          </a:xfrm>
          <a:prstGeom prst="rect">
            <a:avLst/>
          </a:prstGeom>
          <a:solidFill>
            <a:srgbClr val="7FB8E6"/>
          </a:solidFill>
          <a:ln w="12700">
            <a:solidFill>
              <a:srgbClr val="FFFFFF">
                <a:alpha val="0"/>
              </a:srgbClr>
            </a:solidFill>
            <a:prstDash val="solid"/>
          </a:ln>
        </p:spPr>
      </p:sp>
      <p:pic>
        <p:nvPicPr>
          <p:cNvPr id="10" name="Image 0" descr="person swimming">    </p:cNvPr>
          <p:cNvPicPr>
            <a:picLocks noChangeAspect="1"/>
          </p:cNvPicPr>
          <p:nvPr/>
        </p:nvPicPr>
        <p:blipFill>
          <a:blip r:embed="rId1"/>
          <a:stretch>
            <a:fillRect/>
          </a:stretch>
        </p:blipFill>
        <p:spPr>
          <a:xfrm>
            <a:off x="2386584" y="2377440"/>
            <a:ext cx="457200" cy="457200"/>
          </a:xfrm>
          <a:prstGeom prst="rect">
            <a:avLst/>
          </a:prstGeom>
        </p:spPr>
      </p:pic>
      <p:sp>
        <p:nvSpPr>
          <p:cNvPr id="11" name="Shape 7"/>
          <p:cNvSpPr/>
          <p:nvPr/>
        </p:nvSpPr>
        <p:spPr>
          <a:xfrm flipV="1">
            <a:off x="3352190" y="2240280"/>
            <a:ext cx="914" cy="548640"/>
          </a:xfrm>
          <a:prstGeom prst="line">
            <a:avLst/>
          </a:prstGeom>
          <a:noFill/>
          <a:ln w="31750">
            <a:solidFill>
              <a:srgbClr val="2A6FB0"/>
            </a:solidFill>
            <a:prstDash val="solid"/>
            <a:headEnd type="triangle"/>
            <a:tailEnd type="triangle"/>
          </a:ln>
        </p:spPr>
      </p:sp>
      <p:sp>
        <p:nvSpPr>
          <p:cNvPr id="12" name="Shape 8"/>
          <p:cNvSpPr/>
          <p:nvPr/>
        </p:nvSpPr>
        <p:spPr>
          <a:xfrm>
            <a:off x="4069080" y="2103120"/>
            <a:ext cx="877824" cy="914400"/>
          </a:xfrm>
          <a:prstGeom prst="rect">
            <a:avLst/>
          </a:prstGeom>
          <a:solidFill>
            <a:srgbClr val="D5DCE6"/>
          </a:solidFill>
          <a:ln w="12700">
            <a:solidFill>
              <a:srgbClr val="FFFFFF">
                <a:alpha val="0"/>
              </a:srgbClr>
            </a:solidFill>
            <a:prstDash val="solid"/>
          </a:ln>
        </p:spPr>
      </p:sp>
      <p:sp>
        <p:nvSpPr>
          <p:cNvPr id="13" name="Shape 9"/>
          <p:cNvSpPr/>
          <p:nvPr/>
        </p:nvSpPr>
        <p:spPr>
          <a:xfrm>
            <a:off x="4946904" y="2423160"/>
            <a:ext cx="2048256" cy="594360"/>
          </a:xfrm>
          <a:prstGeom prst="rect">
            <a:avLst/>
          </a:prstGeom>
          <a:solidFill>
            <a:srgbClr val="7FB8E6"/>
          </a:solidFill>
          <a:ln w="12700">
            <a:solidFill>
              <a:srgbClr val="FFFFFF">
                <a:alpha val="0"/>
              </a:srgbClr>
            </a:solidFill>
            <a:prstDash val="solid"/>
          </a:ln>
        </p:spPr>
      </p:sp>
      <p:pic>
        <p:nvPicPr>
          <p:cNvPr id="14" name="Image 1" descr="person standing">    </p:cNvPr>
          <p:cNvPicPr>
            <a:picLocks noChangeAspect="1"/>
          </p:cNvPicPr>
          <p:nvPr/>
        </p:nvPicPr>
        <p:blipFill>
          <a:blip r:embed="rId2"/>
          <a:stretch>
            <a:fillRect/>
          </a:stretch>
        </p:blipFill>
        <p:spPr>
          <a:xfrm>
            <a:off x="4156862" y="2057400"/>
            <a:ext cx="502920" cy="502920"/>
          </a:xfrm>
          <a:prstGeom prst="rect">
            <a:avLst/>
          </a:prstGeom>
        </p:spPr>
      </p:pic>
      <p:sp>
        <p:nvSpPr>
          <p:cNvPr id="15" name="Shape 10"/>
          <p:cNvSpPr/>
          <p:nvPr/>
        </p:nvSpPr>
        <p:spPr>
          <a:xfrm>
            <a:off x="4712818" y="1965960"/>
            <a:ext cx="1404518" cy="640080"/>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16" name="Text 11"/>
          <p:cNvSpPr txBox="1"/>
          <p:nvPr/>
        </p:nvSpPr>
        <p:spPr>
          <a:xfrm>
            <a:off x="77724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① sur place</a:t>
            </a:r>
            <a:endParaRPr lang="en-US" sz="1300" dirty="0"/>
          </a:p>
        </p:txBody>
      </p:sp>
      <p:sp>
        <p:nvSpPr>
          <p:cNvPr id="17" name="Text 12"/>
          <p:cNvSpPr txBox="1"/>
          <p:nvPr/>
        </p:nvSpPr>
        <p:spPr>
          <a:xfrm>
            <a:off x="406908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② depuis le bord</a:t>
            </a:r>
            <a:endParaRPr lang="en-US" sz="1300" dirty="0"/>
          </a:p>
        </p:txBody>
      </p:sp>
      <p:sp>
        <p:nvSpPr>
          <p:cNvPr id="18" name="Shape 13"/>
          <p:cNvSpPr/>
          <p:nvPr/>
        </p:nvSpPr>
        <p:spPr>
          <a:xfrm>
            <a:off x="548640" y="3566160"/>
            <a:ext cx="6949440" cy="1828800"/>
          </a:xfrm>
          <a:prstGeom prst="roundRect">
            <a:avLst>
              <a:gd name="adj" fmla="val 5000"/>
            </a:avLst>
          </a:prstGeom>
          <a:solidFill>
            <a:srgbClr val="FDF1E6"/>
          </a:solidFill>
          <a:ln w="25400">
            <a:solidFill>
              <a:srgbClr val="D9700F"/>
            </a:solidFill>
            <a:prstDash val="solid"/>
          </a:ln>
        </p:spPr>
      </p:sp>
      <p:sp>
        <p:nvSpPr>
          <p:cNvPr id="19" name="Text 14"/>
          <p:cNvSpPr txBox="1"/>
          <p:nvPr/>
        </p:nvSpPr>
        <p:spPr>
          <a:xfrm>
            <a:off x="731520" y="361188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het water </a:t>
            </a:r>
            <a:r>
              <a:rPr lang="en-US" sz="2100" b="1" i="1" dirty="0">
                <a:solidFill>
                  <a:schemeClr val="accent1"/>
                </a:solidFill>
              </a:rPr>
              <a:t>in</a:t>
            </a:r>
            <a:r>
              <a:rPr lang="en-US" sz="2100" i="1" dirty="0">
                <a:solidFill>
                  <a:schemeClr val="tx1"/>
                </a:solidFill>
              </a:rPr>
              <a:t>.</a:t>
            </a:r>
            <a:endParaRPr lang="en-US" sz="2100" dirty="0"/>
          </a:p>
        </p:txBody>
      </p:sp>
      <p:sp>
        <p:nvSpPr>
          <p:cNvPr id="20" name="Text 15"/>
          <p:cNvSpPr txBox="1"/>
          <p:nvPr/>
        </p:nvSpPr>
        <p:spPr>
          <a:xfrm>
            <a:off x="6903720" y="3611880"/>
            <a:ext cx="457200" cy="457200"/>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21" name="Shape 16"/>
          <p:cNvSpPr/>
          <p:nvPr/>
        </p:nvSpPr>
        <p:spPr>
          <a:xfrm>
            <a:off x="2423160" y="4160520"/>
            <a:ext cx="877824" cy="1097280"/>
          </a:xfrm>
          <a:prstGeom prst="rect">
            <a:avLst/>
          </a:prstGeom>
          <a:solidFill>
            <a:srgbClr val="D5DCE6"/>
          </a:solidFill>
          <a:ln w="12700">
            <a:solidFill>
              <a:srgbClr val="FFFFFF">
                <a:alpha val="0"/>
              </a:srgbClr>
            </a:solidFill>
            <a:prstDash val="solid"/>
          </a:ln>
        </p:spPr>
      </p:sp>
      <p:sp>
        <p:nvSpPr>
          <p:cNvPr id="22" name="Shape 17"/>
          <p:cNvSpPr/>
          <p:nvPr/>
        </p:nvSpPr>
        <p:spPr>
          <a:xfrm>
            <a:off x="3300984" y="4544568"/>
            <a:ext cx="2048256" cy="713232"/>
          </a:xfrm>
          <a:prstGeom prst="rect">
            <a:avLst/>
          </a:prstGeom>
          <a:solidFill>
            <a:srgbClr val="7FB8E6"/>
          </a:solidFill>
          <a:ln w="12700">
            <a:solidFill>
              <a:srgbClr val="FFFFFF">
                <a:alpha val="0"/>
              </a:srgbClr>
            </a:solidFill>
            <a:prstDash val="solid"/>
          </a:ln>
        </p:spPr>
      </p:sp>
      <p:pic>
        <p:nvPicPr>
          <p:cNvPr id="23" name="Image 2" descr="person standing">    </p:cNvPr>
          <p:cNvPicPr>
            <a:picLocks noChangeAspect="1"/>
          </p:cNvPicPr>
          <p:nvPr/>
        </p:nvPicPr>
        <p:blipFill>
          <a:blip r:embed="rId3"/>
          <a:stretch>
            <a:fillRect/>
          </a:stretch>
        </p:blipFill>
        <p:spPr>
          <a:xfrm>
            <a:off x="2510942" y="4105656"/>
            <a:ext cx="603504" cy="603504"/>
          </a:xfrm>
          <a:prstGeom prst="rect">
            <a:avLst/>
          </a:prstGeom>
        </p:spPr>
      </p:pic>
      <p:sp>
        <p:nvSpPr>
          <p:cNvPr id="24" name="Shape 18"/>
          <p:cNvSpPr/>
          <p:nvPr/>
        </p:nvSpPr>
        <p:spPr>
          <a:xfrm>
            <a:off x="3066898" y="3995928"/>
            <a:ext cx="1404518" cy="768096"/>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25" name="Text 19"/>
          <p:cNvSpPr txBox="1"/>
          <p:nvPr/>
        </p:nvSpPr>
        <p:spPr>
          <a:xfrm>
            <a:off x="5440680" y="4480560"/>
            <a:ext cx="2011680" cy="457200"/>
          </a:xfrm>
          <a:prstGeom prst="rect">
            <a:avLst/>
          </a:prstGeom>
          <a:noFill/>
          <a:ln/>
        </p:spPr>
        <p:txBody>
          <a:bodyPr wrap="square" lIns="0" tIns="0" rIns="0" bIns="0" rtlCol="0" anchor="ctr"/>
          <a:lstStyle/>
          <a:p>
            <a:pPr algn="l" indent="0" marL="0">
              <a:buNone/>
            </a:pPr>
            <a:r>
              <a:rPr lang="en-US" sz="1500" b="1" dirty="0">
                <a:solidFill>
                  <a:schemeClr val="accent1"/>
                </a:solidFill>
              </a:rPr>
              <a:t>un seul sens : ②</a:t>
            </a:r>
            <a:endParaRPr lang="en-US" sz="1500" dirty="0"/>
          </a:p>
        </p:txBody>
      </p:sp>
      <p:sp>
        <p:nvSpPr>
          <p:cNvPr id="26" name="Shape 20"/>
          <p:cNvSpPr/>
          <p:nvPr/>
        </p:nvSpPr>
        <p:spPr>
          <a:xfrm>
            <a:off x="7772400" y="1554480"/>
            <a:ext cx="3867912" cy="3840480"/>
          </a:xfrm>
          <a:prstGeom prst="roundRect">
            <a:avLst>
              <a:gd name="adj" fmla="val 2381"/>
            </a:avLst>
          </a:prstGeom>
          <a:solidFill>
            <a:srgbClr val="EAF2FB"/>
          </a:solidFill>
          <a:ln w="19050">
            <a:solidFill>
              <a:srgbClr val="2A6FB0"/>
            </a:solidFill>
            <a:prstDash val="solid"/>
          </a:ln>
        </p:spPr>
      </p:sp>
      <p:sp>
        <p:nvSpPr>
          <p:cNvPr id="27" name="Text 21"/>
          <p:cNvSpPr txBox="1"/>
          <p:nvPr/>
        </p:nvSpPr>
        <p:spPr>
          <a:xfrm>
            <a:off x="7955280" y="1645920"/>
            <a:ext cx="3520440" cy="365760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Expressions figées</a:t>
            </a:r>
            <a:endParaRPr lang="en-US" sz="1500" dirty="0"/>
          </a:p>
          <a:p>
            <a:pPr algn="l" indent="0" marL="0">
              <a:spcAft>
                <a:spcPts val="400"/>
              </a:spcAft>
              <a:buNone/>
            </a:pPr>
            <a:r>
              <a:rPr lang="en-US" sz="1500" dirty="0">
                <a:solidFill>
                  <a:schemeClr val="tx1"/>
                </a:solidFill>
              </a:rPr>
              <a:t>la préposition dit déjà la direction :</a:t>
            </a:r>
            <a:endParaRPr lang="en-US" sz="1500" dirty="0"/>
          </a:p>
          <a:p>
            <a:pPr algn="l" indent="0" marL="0">
              <a:spcAft>
                <a:spcPts val="400"/>
              </a:spcAft>
              <a:buNone/>
            </a:pPr>
            <a:r>
              <a:rPr lang="en-US" sz="1500" i="1" dirty="0">
                <a:solidFill>
                  <a:schemeClr val="tx1"/>
                </a:solidFill>
              </a:rPr>
              <a:t>in de bus stappen</a:t>
            </a:r>
            <a:r>
              <a:rPr lang="en-US" sz="1500" dirty="0">
                <a:solidFill>
                  <a:schemeClr val="tx1"/>
                </a:solidFill>
              </a:rPr>
              <a:t> (monter dans le bus)</a:t>
            </a:r>
            <a:endParaRPr lang="en-US" sz="1500" dirty="0"/>
          </a:p>
          <a:p>
            <a:pPr algn="l" indent="0" marL="0">
              <a:spcAft>
                <a:spcPts val="400"/>
              </a:spcAft>
              <a:buNone/>
            </a:pPr>
            <a:r>
              <a:rPr lang="en-US" sz="1500" i="1" dirty="0">
                <a:solidFill>
                  <a:schemeClr val="tx1"/>
                </a:solidFill>
              </a:rPr>
              <a:t>in de auto stappen</a:t>
            </a:r>
            <a:endParaRPr lang="en-US" sz="1500" dirty="0"/>
          </a:p>
          <a:p>
            <a:pPr algn="l" indent="0" marL="0">
              <a:spcAft>
                <a:spcPts val="400"/>
              </a:spcAft>
              <a:buNone/>
            </a:pPr>
            <a:r>
              <a:rPr lang="en-US" sz="1500" i="1" dirty="0">
                <a:solidFill>
                  <a:schemeClr val="tx1"/>
                </a:solidFill>
              </a:rPr>
              <a:t>in bad stappen</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Donc </a:t>
            </a:r>
            <a:r>
              <a:rPr lang="en-US" sz="1500" i="1" dirty="0">
                <a:solidFill>
                  <a:schemeClr val="tx1"/>
                </a:solidFill>
              </a:rPr>
              <a:t>Ik stap in de keuken</a:t>
            </a:r>
            <a:r>
              <a:rPr lang="en-US" sz="1500" dirty="0">
                <a:solidFill>
                  <a:schemeClr val="tx1"/>
                </a:solidFill>
              </a:rPr>
              <a:t> est </a:t>
            </a:r>
            <a:r>
              <a:rPr lang="en-US" sz="1500" b="1" dirty="0">
                <a:solidFill>
                  <a:schemeClr val="tx1"/>
                </a:solidFill>
              </a:rPr>
              <a:t>ambigu</a:t>
            </a:r>
            <a:r>
              <a:rPr lang="en-US" sz="1500" dirty="0">
                <a:solidFill>
                  <a:schemeClr val="tx1"/>
                </a:solidFill>
              </a:rPr>
              <a:t> ; </a:t>
            </a:r>
            <a:r>
              <a:rPr lang="en-US" sz="1500" i="1" dirty="0">
                <a:solidFill>
                  <a:schemeClr val="tx1"/>
                </a:solidFill>
              </a:rPr>
              <a:t>Ik stap de keuken in</a:t>
            </a:r>
            <a:r>
              <a:rPr lang="en-US" sz="1500" dirty="0">
                <a:solidFill>
                  <a:schemeClr val="tx1"/>
                </a:solidFill>
              </a:rPr>
              <a:t> = j’entre.</a:t>
            </a:r>
            <a:endParaRPr lang="en-US" sz="1500" dirty="0"/>
          </a:p>
        </p:txBody>
      </p:sp>
      <p:sp>
        <p:nvSpPr>
          <p:cNvPr id="28" name="Shape 22"/>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3"/>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cas de doute, choisissez l’</a:t>
            </a:r>
            <a:r>
              <a:rPr lang="en-US" sz="1800" i="1" dirty="0">
                <a:solidFill>
                  <a:schemeClr val="bg1"/>
                </a:solidFill>
              </a:rPr>
              <a:t>achterzetsel</a:t>
            </a:r>
            <a:r>
              <a:rPr lang="en-US" sz="1800" dirty="0">
                <a:solidFill>
                  <a:schemeClr val="bg1"/>
                </a:solidFill>
              </a:rPr>
              <a:t> : il n’a qu’un sens, la direction.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verbe dit la manière, le petit mot dit la direction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1417320" y="1463040"/>
            <a:ext cx="475488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FRANÇAIS : le verbe = la direction</a:t>
            </a:r>
            <a:endParaRPr lang="en-US" sz="1400" dirty="0"/>
          </a:p>
        </p:txBody>
      </p:sp>
      <p:sp>
        <p:nvSpPr>
          <p:cNvPr id="6" name="Text 3"/>
          <p:cNvSpPr txBox="1"/>
          <p:nvPr/>
        </p:nvSpPr>
        <p:spPr>
          <a:xfrm>
            <a:off x="6629400" y="1463040"/>
            <a:ext cx="493776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NÉERLANDAIS : le verbe = la manière</a:t>
            </a:r>
            <a:endParaRPr lang="en-US" sz="1400" dirty="0"/>
          </a:p>
        </p:txBody>
      </p:sp>
      <p:pic>
        <p:nvPicPr>
          <p:cNvPr id="7" name="Image 0" descr="person running">    </p:cNvPr>
          <p:cNvPicPr>
            <a:picLocks noChangeAspect="1"/>
          </p:cNvPicPr>
          <p:nvPr/>
        </p:nvPicPr>
        <p:blipFill>
          <a:blip r:embed="rId1"/>
          <a:stretch>
            <a:fillRect/>
          </a:stretch>
        </p:blipFill>
        <p:spPr>
          <a:xfrm>
            <a:off x="594360" y="1920240"/>
            <a:ext cx="530352" cy="530352"/>
          </a:xfrm>
          <a:prstGeom prst="rect">
            <a:avLst/>
          </a:prstGeom>
        </p:spPr>
      </p:pic>
      <p:sp>
        <p:nvSpPr>
          <p:cNvPr id="8" name="Shape 4"/>
          <p:cNvSpPr/>
          <p:nvPr/>
        </p:nvSpPr>
        <p:spPr>
          <a:xfrm>
            <a:off x="1280160" y="1874520"/>
            <a:ext cx="4983480" cy="603504"/>
          </a:xfrm>
          <a:prstGeom prst="roundRect">
            <a:avLst>
              <a:gd name="adj" fmla="val 12121"/>
            </a:avLst>
          </a:prstGeom>
          <a:solidFill>
            <a:schemeClr val="bg2"/>
          </a:solidFill>
          <a:ln w="12700">
            <a:solidFill>
              <a:srgbClr val="D5DCE6"/>
            </a:solidFill>
            <a:prstDash val="solid"/>
          </a:ln>
        </p:spPr>
      </p:sp>
      <p:sp>
        <p:nvSpPr>
          <p:cNvPr id="9" name="Text 5"/>
          <p:cNvSpPr txBox="1"/>
          <p:nvPr/>
        </p:nvSpPr>
        <p:spPr>
          <a:xfrm>
            <a:off x="1417320" y="1874520"/>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entre</a:t>
            </a:r>
            <a:r>
              <a:rPr lang="en-US" sz="1700" dirty="0">
                <a:solidFill>
                  <a:schemeClr val="tx1"/>
                </a:solidFill>
              </a:rPr>
              <a:t> dans la cuisine </a:t>
            </a:r>
            <a:r>
              <a:rPr lang="en-US" sz="1700" i="1" dirty="0">
                <a:solidFill>
                  <a:schemeClr val="tx1"/>
                </a:solidFill>
              </a:rPr>
              <a:t>en courant</a:t>
            </a:r>
            <a:r>
              <a:rPr lang="en-US" sz="1700" dirty="0">
                <a:solidFill>
                  <a:schemeClr val="tx1"/>
                </a:solidFill>
              </a:rPr>
              <a:t>.</a:t>
            </a:r>
            <a:endParaRPr lang="en-US" sz="1700" dirty="0"/>
          </a:p>
        </p:txBody>
      </p:sp>
      <p:sp>
        <p:nvSpPr>
          <p:cNvPr id="10" name="Shape 6"/>
          <p:cNvSpPr/>
          <p:nvPr/>
        </p:nvSpPr>
        <p:spPr>
          <a:xfrm>
            <a:off x="6327648" y="2176272"/>
            <a:ext cx="210312" cy="914"/>
          </a:xfrm>
          <a:prstGeom prst="line">
            <a:avLst/>
          </a:prstGeom>
          <a:noFill/>
          <a:ln w="25400">
            <a:solidFill>
              <a:srgbClr val="4A5A70"/>
            </a:solidFill>
            <a:prstDash val="solid"/>
            <a:tailEnd type="triangle"/>
          </a:ln>
        </p:spPr>
      </p:sp>
      <p:sp>
        <p:nvSpPr>
          <p:cNvPr id="11" name="Shape 7"/>
          <p:cNvSpPr/>
          <p:nvPr/>
        </p:nvSpPr>
        <p:spPr>
          <a:xfrm>
            <a:off x="6583680" y="1874520"/>
            <a:ext cx="5056632" cy="603504"/>
          </a:xfrm>
          <a:prstGeom prst="roundRect">
            <a:avLst>
              <a:gd name="adj" fmla="val 12121"/>
            </a:avLst>
          </a:prstGeom>
          <a:solidFill>
            <a:srgbClr val="FFFFFF"/>
          </a:solidFill>
          <a:ln w="19050">
            <a:solidFill>
              <a:srgbClr val="D9700F"/>
            </a:solidFill>
            <a:prstDash val="solid"/>
          </a:ln>
        </p:spPr>
      </p:sp>
      <p:sp>
        <p:nvSpPr>
          <p:cNvPr id="12" name="Text 8"/>
          <p:cNvSpPr txBox="1"/>
          <p:nvPr/>
        </p:nvSpPr>
        <p:spPr>
          <a:xfrm>
            <a:off x="6720840" y="1874520"/>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rent</a:t>
            </a:r>
            <a:r>
              <a:rPr lang="en-US" sz="1900" i="1" dirty="0">
                <a:solidFill>
                  <a:schemeClr val="tx1"/>
                </a:solidFill>
              </a:rPr>
              <a:t> de keuken </a:t>
            </a:r>
            <a:r>
              <a:rPr lang="en-US" sz="1900" b="1" i="1" dirty="0">
                <a:solidFill>
                  <a:schemeClr val="accent1"/>
                </a:solidFill>
              </a:rPr>
              <a:t>in</a:t>
            </a:r>
            <a:r>
              <a:rPr lang="en-US" sz="1900" i="1" dirty="0">
                <a:solidFill>
                  <a:schemeClr val="tx1"/>
                </a:solidFill>
              </a:rPr>
              <a:t>.</a:t>
            </a:r>
            <a:endParaRPr lang="en-US" sz="1900" dirty="0"/>
          </a:p>
        </p:txBody>
      </p:sp>
      <p:pic>
        <p:nvPicPr>
          <p:cNvPr id="13" name="Image 1" descr="person biking">    </p:cNvPr>
          <p:cNvPicPr>
            <a:picLocks noChangeAspect="1"/>
          </p:cNvPicPr>
          <p:nvPr/>
        </p:nvPicPr>
        <p:blipFill>
          <a:blip r:embed="rId2"/>
          <a:stretch>
            <a:fillRect/>
          </a:stretch>
        </p:blipFill>
        <p:spPr>
          <a:xfrm>
            <a:off x="594360" y="2596896"/>
            <a:ext cx="530352" cy="530352"/>
          </a:xfrm>
          <a:prstGeom prst="rect">
            <a:avLst/>
          </a:prstGeom>
        </p:spPr>
      </p:pic>
      <p:sp>
        <p:nvSpPr>
          <p:cNvPr id="14" name="Shape 9"/>
          <p:cNvSpPr/>
          <p:nvPr/>
        </p:nvSpPr>
        <p:spPr>
          <a:xfrm>
            <a:off x="1280160" y="2551176"/>
            <a:ext cx="4983480" cy="603504"/>
          </a:xfrm>
          <a:prstGeom prst="roundRect">
            <a:avLst>
              <a:gd name="adj" fmla="val 12121"/>
            </a:avLst>
          </a:prstGeom>
          <a:solidFill>
            <a:schemeClr val="bg2"/>
          </a:solidFill>
          <a:ln w="12700">
            <a:solidFill>
              <a:srgbClr val="D5DCE6"/>
            </a:solidFill>
            <a:prstDash val="solid"/>
          </a:ln>
        </p:spPr>
      </p:sp>
      <p:sp>
        <p:nvSpPr>
          <p:cNvPr id="15" name="Text 10"/>
          <p:cNvSpPr txBox="1"/>
          <p:nvPr/>
        </p:nvSpPr>
        <p:spPr>
          <a:xfrm>
            <a:off x="1417320" y="2551176"/>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Elle </a:t>
            </a:r>
            <a:r>
              <a:rPr lang="en-US" sz="1700" b="1" dirty="0">
                <a:solidFill>
                  <a:schemeClr val="accent1"/>
                </a:solidFill>
              </a:rPr>
              <a:t>traverse</a:t>
            </a:r>
            <a:r>
              <a:rPr lang="en-US" sz="1700" dirty="0">
                <a:solidFill>
                  <a:schemeClr val="tx1"/>
                </a:solidFill>
              </a:rPr>
              <a:t> la rue </a:t>
            </a:r>
            <a:r>
              <a:rPr lang="en-US" sz="1700" i="1" dirty="0">
                <a:solidFill>
                  <a:schemeClr val="tx1"/>
                </a:solidFill>
              </a:rPr>
              <a:t>à vélo</a:t>
            </a:r>
            <a:r>
              <a:rPr lang="en-US" sz="1700" dirty="0">
                <a:solidFill>
                  <a:schemeClr val="tx1"/>
                </a:solidFill>
              </a:rPr>
              <a:t>.</a:t>
            </a:r>
            <a:endParaRPr lang="en-US" sz="1700" dirty="0"/>
          </a:p>
        </p:txBody>
      </p:sp>
      <p:sp>
        <p:nvSpPr>
          <p:cNvPr id="16" name="Shape 11"/>
          <p:cNvSpPr/>
          <p:nvPr/>
        </p:nvSpPr>
        <p:spPr>
          <a:xfrm>
            <a:off x="6327648" y="2852928"/>
            <a:ext cx="210312" cy="914"/>
          </a:xfrm>
          <a:prstGeom prst="line">
            <a:avLst/>
          </a:prstGeom>
          <a:noFill/>
          <a:ln w="25400">
            <a:solidFill>
              <a:srgbClr val="4A5A70"/>
            </a:solidFill>
            <a:prstDash val="solid"/>
            <a:tailEnd type="triangle"/>
          </a:ln>
        </p:spPr>
      </p:sp>
      <p:sp>
        <p:nvSpPr>
          <p:cNvPr id="17" name="Shape 12"/>
          <p:cNvSpPr/>
          <p:nvPr/>
        </p:nvSpPr>
        <p:spPr>
          <a:xfrm>
            <a:off x="6583680" y="2551176"/>
            <a:ext cx="5056632" cy="603504"/>
          </a:xfrm>
          <a:prstGeom prst="roundRect">
            <a:avLst>
              <a:gd name="adj" fmla="val 12121"/>
            </a:avLst>
          </a:prstGeom>
          <a:solidFill>
            <a:srgbClr val="FFFFFF"/>
          </a:solidFill>
          <a:ln w="19050">
            <a:solidFill>
              <a:srgbClr val="D9700F"/>
            </a:solidFill>
            <a:prstDash val="solid"/>
          </a:ln>
        </p:spPr>
      </p:sp>
      <p:sp>
        <p:nvSpPr>
          <p:cNvPr id="18" name="Text 13"/>
          <p:cNvSpPr txBox="1"/>
          <p:nvPr/>
        </p:nvSpPr>
        <p:spPr>
          <a:xfrm>
            <a:off x="6720840" y="2551176"/>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Ze </a:t>
            </a:r>
            <a:r>
              <a:rPr lang="en-US" sz="1900" b="1" i="1" dirty="0">
                <a:solidFill>
                  <a:schemeClr val="accent6"/>
                </a:solidFill>
              </a:rPr>
              <a:t>fietst</a:t>
            </a:r>
            <a:r>
              <a:rPr lang="en-US" sz="1900" i="1" dirty="0">
                <a:solidFill>
                  <a:schemeClr val="tx1"/>
                </a:solidFill>
              </a:rPr>
              <a:t> de straat </a:t>
            </a:r>
            <a:r>
              <a:rPr lang="en-US" sz="1900" b="1" i="1" dirty="0">
                <a:solidFill>
                  <a:schemeClr val="accent1"/>
                </a:solidFill>
              </a:rPr>
              <a:t>over</a:t>
            </a:r>
            <a:r>
              <a:rPr lang="en-US" sz="1900" i="1" dirty="0">
                <a:solidFill>
                  <a:schemeClr val="tx1"/>
                </a:solidFill>
              </a:rPr>
              <a:t>.</a:t>
            </a:r>
            <a:endParaRPr lang="en-US" sz="1900" dirty="0"/>
          </a:p>
        </p:txBody>
      </p:sp>
      <p:pic>
        <p:nvPicPr>
          <p:cNvPr id="19" name="Image 2" descr="person walking">    </p:cNvPr>
          <p:cNvPicPr>
            <a:picLocks noChangeAspect="1"/>
          </p:cNvPicPr>
          <p:nvPr/>
        </p:nvPicPr>
        <p:blipFill>
          <a:blip r:embed="rId3"/>
          <a:stretch>
            <a:fillRect/>
          </a:stretch>
        </p:blipFill>
        <p:spPr>
          <a:xfrm>
            <a:off x="594360" y="3273552"/>
            <a:ext cx="530352" cy="530352"/>
          </a:xfrm>
          <a:prstGeom prst="rect">
            <a:avLst/>
          </a:prstGeom>
        </p:spPr>
      </p:pic>
      <p:sp>
        <p:nvSpPr>
          <p:cNvPr id="20" name="Shape 14"/>
          <p:cNvSpPr/>
          <p:nvPr/>
        </p:nvSpPr>
        <p:spPr>
          <a:xfrm>
            <a:off x="1280160" y="3227832"/>
            <a:ext cx="4983480" cy="603504"/>
          </a:xfrm>
          <a:prstGeom prst="roundRect">
            <a:avLst>
              <a:gd name="adj" fmla="val 12121"/>
            </a:avLst>
          </a:prstGeom>
          <a:solidFill>
            <a:schemeClr val="bg2"/>
          </a:solidFill>
          <a:ln w="12700">
            <a:solidFill>
              <a:srgbClr val="D5DCE6"/>
            </a:solidFill>
            <a:prstDash val="solid"/>
          </a:ln>
        </p:spPr>
      </p:sp>
      <p:sp>
        <p:nvSpPr>
          <p:cNvPr id="21" name="Text 15"/>
          <p:cNvSpPr txBox="1"/>
          <p:nvPr/>
        </p:nvSpPr>
        <p:spPr>
          <a:xfrm>
            <a:off x="1417320" y="3227832"/>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Je </a:t>
            </a:r>
            <a:r>
              <a:rPr lang="en-US" sz="1700" b="1" dirty="0">
                <a:solidFill>
                  <a:schemeClr val="accent1"/>
                </a:solidFill>
              </a:rPr>
              <a:t>monte</a:t>
            </a:r>
            <a:r>
              <a:rPr lang="en-US" sz="1700" dirty="0">
                <a:solidFill>
                  <a:schemeClr val="tx1"/>
                </a:solidFill>
              </a:rPr>
              <a:t> l’escalier.</a:t>
            </a:r>
            <a:endParaRPr lang="en-US" sz="1700" dirty="0"/>
          </a:p>
        </p:txBody>
      </p:sp>
      <p:sp>
        <p:nvSpPr>
          <p:cNvPr id="22" name="Shape 16"/>
          <p:cNvSpPr/>
          <p:nvPr/>
        </p:nvSpPr>
        <p:spPr>
          <a:xfrm>
            <a:off x="6327648" y="3529584"/>
            <a:ext cx="210312" cy="914"/>
          </a:xfrm>
          <a:prstGeom prst="line">
            <a:avLst/>
          </a:prstGeom>
          <a:noFill/>
          <a:ln w="25400">
            <a:solidFill>
              <a:srgbClr val="4A5A70"/>
            </a:solidFill>
            <a:prstDash val="solid"/>
            <a:tailEnd type="triangle"/>
          </a:ln>
        </p:spPr>
      </p:sp>
      <p:sp>
        <p:nvSpPr>
          <p:cNvPr id="23" name="Shape 17"/>
          <p:cNvSpPr/>
          <p:nvPr/>
        </p:nvSpPr>
        <p:spPr>
          <a:xfrm>
            <a:off x="6583680" y="3227832"/>
            <a:ext cx="5056632" cy="603504"/>
          </a:xfrm>
          <a:prstGeom prst="roundRect">
            <a:avLst>
              <a:gd name="adj" fmla="val 12121"/>
            </a:avLst>
          </a:prstGeom>
          <a:solidFill>
            <a:srgbClr val="FFFFFF"/>
          </a:solidFill>
          <a:ln w="19050">
            <a:solidFill>
              <a:srgbClr val="D9700F"/>
            </a:solidFill>
            <a:prstDash val="solid"/>
          </a:ln>
        </p:spPr>
      </p:sp>
      <p:sp>
        <p:nvSpPr>
          <p:cNvPr id="24" name="Text 18"/>
          <p:cNvSpPr txBox="1"/>
          <p:nvPr/>
        </p:nvSpPr>
        <p:spPr>
          <a:xfrm>
            <a:off x="6720840" y="3227832"/>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6"/>
                </a:solidFill>
              </a:rPr>
              <a:t>loop</a:t>
            </a:r>
            <a:r>
              <a:rPr lang="en-US" sz="1900" i="1" dirty="0">
                <a:solidFill>
                  <a:schemeClr val="tx1"/>
                </a:solidFill>
              </a:rPr>
              <a:t> de trap </a:t>
            </a:r>
            <a:r>
              <a:rPr lang="en-US" sz="1900" b="1" i="1" dirty="0">
                <a:solidFill>
                  <a:schemeClr val="accent1"/>
                </a:solidFill>
              </a:rPr>
              <a:t>op</a:t>
            </a:r>
            <a:r>
              <a:rPr lang="en-US" sz="1900" i="1" dirty="0">
                <a:solidFill>
                  <a:schemeClr val="tx1"/>
                </a:solidFill>
              </a:rPr>
              <a:t>.</a:t>
            </a:r>
            <a:endParaRPr lang="en-US" sz="1900" dirty="0"/>
          </a:p>
        </p:txBody>
      </p:sp>
      <p:pic>
        <p:nvPicPr>
          <p:cNvPr id="25" name="Image 3" descr="person swimming">    </p:cNvPr>
          <p:cNvPicPr>
            <a:picLocks noChangeAspect="1"/>
          </p:cNvPicPr>
          <p:nvPr/>
        </p:nvPicPr>
        <p:blipFill>
          <a:blip r:embed="rId4"/>
          <a:stretch>
            <a:fillRect/>
          </a:stretch>
        </p:blipFill>
        <p:spPr>
          <a:xfrm>
            <a:off x="594360" y="3950208"/>
            <a:ext cx="530352" cy="530352"/>
          </a:xfrm>
          <a:prstGeom prst="rect">
            <a:avLst/>
          </a:prstGeom>
        </p:spPr>
      </p:pic>
      <p:sp>
        <p:nvSpPr>
          <p:cNvPr id="26" name="Shape 19"/>
          <p:cNvSpPr/>
          <p:nvPr/>
        </p:nvSpPr>
        <p:spPr>
          <a:xfrm>
            <a:off x="1280160" y="3904488"/>
            <a:ext cx="4983480" cy="603504"/>
          </a:xfrm>
          <a:prstGeom prst="roundRect">
            <a:avLst>
              <a:gd name="adj" fmla="val 12121"/>
            </a:avLst>
          </a:prstGeom>
          <a:solidFill>
            <a:schemeClr val="bg2"/>
          </a:solidFill>
          <a:ln w="12700">
            <a:solidFill>
              <a:srgbClr val="D5DCE6"/>
            </a:solidFill>
            <a:prstDash val="solid"/>
          </a:ln>
        </p:spPr>
      </p:sp>
      <p:sp>
        <p:nvSpPr>
          <p:cNvPr id="27" name="Text 20"/>
          <p:cNvSpPr txBox="1"/>
          <p:nvPr/>
        </p:nvSpPr>
        <p:spPr>
          <a:xfrm>
            <a:off x="1417320" y="3904488"/>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Nous </a:t>
            </a:r>
            <a:r>
              <a:rPr lang="en-US" sz="1700" b="1" dirty="0">
                <a:solidFill>
                  <a:schemeClr val="accent1"/>
                </a:solidFill>
              </a:rPr>
              <a:t>traversons</a:t>
            </a:r>
            <a:r>
              <a:rPr lang="en-US" sz="1700" dirty="0">
                <a:solidFill>
                  <a:schemeClr val="tx1"/>
                </a:solidFill>
              </a:rPr>
              <a:t> la rivière </a:t>
            </a:r>
            <a:r>
              <a:rPr lang="en-US" sz="1700" i="1" dirty="0">
                <a:solidFill>
                  <a:schemeClr val="tx1"/>
                </a:solidFill>
              </a:rPr>
              <a:t>à la nage</a:t>
            </a:r>
            <a:r>
              <a:rPr lang="en-US" sz="1700" dirty="0">
                <a:solidFill>
                  <a:schemeClr val="tx1"/>
                </a:solidFill>
              </a:rPr>
              <a:t>.</a:t>
            </a:r>
            <a:endParaRPr lang="en-US" sz="1700" dirty="0"/>
          </a:p>
        </p:txBody>
      </p:sp>
      <p:sp>
        <p:nvSpPr>
          <p:cNvPr id="28" name="Shape 21"/>
          <p:cNvSpPr/>
          <p:nvPr/>
        </p:nvSpPr>
        <p:spPr>
          <a:xfrm>
            <a:off x="6327648" y="4206240"/>
            <a:ext cx="210312" cy="914"/>
          </a:xfrm>
          <a:prstGeom prst="line">
            <a:avLst/>
          </a:prstGeom>
          <a:noFill/>
          <a:ln w="25400">
            <a:solidFill>
              <a:srgbClr val="4A5A70"/>
            </a:solidFill>
            <a:prstDash val="solid"/>
            <a:tailEnd type="triangle"/>
          </a:ln>
        </p:spPr>
      </p:sp>
      <p:sp>
        <p:nvSpPr>
          <p:cNvPr id="29" name="Shape 22"/>
          <p:cNvSpPr/>
          <p:nvPr/>
        </p:nvSpPr>
        <p:spPr>
          <a:xfrm>
            <a:off x="6583680" y="3904488"/>
            <a:ext cx="5056632" cy="603504"/>
          </a:xfrm>
          <a:prstGeom prst="roundRect">
            <a:avLst>
              <a:gd name="adj" fmla="val 12121"/>
            </a:avLst>
          </a:prstGeom>
          <a:solidFill>
            <a:srgbClr val="FFFFFF"/>
          </a:solidFill>
          <a:ln w="19050">
            <a:solidFill>
              <a:srgbClr val="D9700F"/>
            </a:solidFill>
            <a:prstDash val="solid"/>
          </a:ln>
        </p:spPr>
      </p:sp>
      <p:sp>
        <p:nvSpPr>
          <p:cNvPr id="30" name="Text 23"/>
          <p:cNvSpPr txBox="1"/>
          <p:nvPr/>
        </p:nvSpPr>
        <p:spPr>
          <a:xfrm>
            <a:off x="6720840" y="3904488"/>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We </a:t>
            </a:r>
            <a:r>
              <a:rPr lang="en-US" sz="1900" b="1" i="1" dirty="0">
                <a:solidFill>
                  <a:schemeClr val="accent6"/>
                </a:solidFill>
              </a:rPr>
              <a:t>zwemmen</a:t>
            </a:r>
            <a:r>
              <a:rPr lang="en-US" sz="1900" i="1" dirty="0">
                <a:solidFill>
                  <a:schemeClr val="tx1"/>
                </a:solidFill>
              </a:rPr>
              <a:t> de rivier </a:t>
            </a:r>
            <a:r>
              <a:rPr lang="en-US" sz="1900" b="1" i="1" dirty="0">
                <a:solidFill>
                  <a:schemeClr val="accent1"/>
                </a:solidFill>
              </a:rPr>
              <a:t>over</a:t>
            </a:r>
            <a:r>
              <a:rPr lang="en-US" sz="1900" i="1" dirty="0">
                <a:solidFill>
                  <a:schemeClr val="tx1"/>
                </a:solidFill>
              </a:rPr>
              <a:t>.</a:t>
            </a:r>
            <a:endParaRPr lang="en-US" sz="1900" dirty="0"/>
          </a:p>
        </p:txBody>
      </p:sp>
      <p:pic>
        <p:nvPicPr>
          <p:cNvPr id="31" name="Image 4" descr="automobile">    </p:cNvPr>
          <p:cNvPicPr>
            <a:picLocks noChangeAspect="1"/>
          </p:cNvPicPr>
          <p:nvPr/>
        </p:nvPicPr>
        <p:blipFill>
          <a:blip r:embed="rId5"/>
          <a:stretch>
            <a:fillRect/>
          </a:stretch>
        </p:blipFill>
        <p:spPr>
          <a:xfrm>
            <a:off x="594360" y="4626864"/>
            <a:ext cx="530352" cy="530352"/>
          </a:xfrm>
          <a:prstGeom prst="rect">
            <a:avLst/>
          </a:prstGeom>
        </p:spPr>
      </p:pic>
      <p:sp>
        <p:nvSpPr>
          <p:cNvPr id="32" name="Shape 24"/>
          <p:cNvSpPr/>
          <p:nvPr/>
        </p:nvSpPr>
        <p:spPr>
          <a:xfrm>
            <a:off x="1280160" y="4581144"/>
            <a:ext cx="4983480" cy="603504"/>
          </a:xfrm>
          <a:prstGeom prst="roundRect">
            <a:avLst>
              <a:gd name="adj" fmla="val 12121"/>
            </a:avLst>
          </a:prstGeom>
          <a:solidFill>
            <a:schemeClr val="bg2"/>
          </a:solidFill>
          <a:ln w="12700">
            <a:solidFill>
              <a:srgbClr val="D5DCE6"/>
            </a:solidFill>
            <a:prstDash val="solid"/>
          </a:ln>
        </p:spPr>
      </p:sp>
      <p:sp>
        <p:nvSpPr>
          <p:cNvPr id="33" name="Text 25"/>
          <p:cNvSpPr txBox="1"/>
          <p:nvPr/>
        </p:nvSpPr>
        <p:spPr>
          <a:xfrm>
            <a:off x="1417320" y="4581144"/>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sort</a:t>
            </a:r>
            <a:r>
              <a:rPr lang="en-US" sz="1700" dirty="0">
                <a:solidFill>
                  <a:schemeClr val="tx1"/>
                </a:solidFill>
              </a:rPr>
              <a:t> du garage </a:t>
            </a:r>
            <a:r>
              <a:rPr lang="en-US" sz="1700" i="1" dirty="0">
                <a:solidFill>
                  <a:schemeClr val="tx1"/>
                </a:solidFill>
              </a:rPr>
              <a:t>en voiture</a:t>
            </a:r>
            <a:r>
              <a:rPr lang="en-US" sz="1700" dirty="0">
                <a:solidFill>
                  <a:schemeClr val="tx1"/>
                </a:solidFill>
              </a:rPr>
              <a:t>.</a:t>
            </a:r>
            <a:endParaRPr lang="en-US" sz="1700" dirty="0"/>
          </a:p>
        </p:txBody>
      </p:sp>
      <p:sp>
        <p:nvSpPr>
          <p:cNvPr id="34" name="Shape 26"/>
          <p:cNvSpPr/>
          <p:nvPr/>
        </p:nvSpPr>
        <p:spPr>
          <a:xfrm>
            <a:off x="6327648" y="4882896"/>
            <a:ext cx="210312" cy="914"/>
          </a:xfrm>
          <a:prstGeom prst="line">
            <a:avLst/>
          </a:prstGeom>
          <a:noFill/>
          <a:ln w="25400">
            <a:solidFill>
              <a:srgbClr val="4A5A70"/>
            </a:solidFill>
            <a:prstDash val="solid"/>
            <a:tailEnd type="triangle"/>
          </a:ln>
        </p:spPr>
      </p:sp>
      <p:sp>
        <p:nvSpPr>
          <p:cNvPr id="35" name="Shape 27"/>
          <p:cNvSpPr/>
          <p:nvPr/>
        </p:nvSpPr>
        <p:spPr>
          <a:xfrm>
            <a:off x="6583680" y="4581144"/>
            <a:ext cx="5056632" cy="603504"/>
          </a:xfrm>
          <a:prstGeom prst="roundRect">
            <a:avLst>
              <a:gd name="adj" fmla="val 12121"/>
            </a:avLst>
          </a:prstGeom>
          <a:solidFill>
            <a:srgbClr val="FFFFFF"/>
          </a:solidFill>
          <a:ln w="19050">
            <a:solidFill>
              <a:srgbClr val="D9700F"/>
            </a:solidFill>
            <a:prstDash val="solid"/>
          </a:ln>
        </p:spPr>
      </p:sp>
      <p:sp>
        <p:nvSpPr>
          <p:cNvPr id="36" name="Text 28"/>
          <p:cNvSpPr txBox="1"/>
          <p:nvPr/>
        </p:nvSpPr>
        <p:spPr>
          <a:xfrm>
            <a:off x="6720840" y="4581144"/>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rijdt</a:t>
            </a:r>
            <a:r>
              <a:rPr lang="en-US" sz="1900" i="1" dirty="0">
                <a:solidFill>
                  <a:schemeClr val="tx1"/>
                </a:solidFill>
              </a:rPr>
              <a:t> de garage </a:t>
            </a:r>
            <a:r>
              <a:rPr lang="en-US" sz="1900" b="1" i="1" dirty="0">
                <a:solidFill>
                  <a:schemeClr val="accent1"/>
                </a:solidFill>
              </a:rPr>
              <a:t>uit</a:t>
            </a:r>
            <a:r>
              <a:rPr lang="en-US" sz="1900" i="1" dirty="0">
                <a:solidFill>
                  <a:schemeClr val="tx1"/>
                </a:solidFill>
              </a:rPr>
              <a:t>.</a:t>
            </a:r>
            <a:endParaRPr lang="en-US" sz="1900" dirty="0"/>
          </a:p>
        </p:txBody>
      </p:sp>
      <p:sp>
        <p:nvSpPr>
          <p:cNvPr id="37" name="Shape 2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38" name="Text 30"/>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600" b="1" dirty="0">
                <a:solidFill>
                  <a:schemeClr val="bg1"/>
                </a:solidFill>
              </a:rPr>
              <a:t>FR</a:t>
            </a:r>
            <a:r>
              <a:rPr lang="en-US" sz="1600" dirty="0">
                <a:solidFill>
                  <a:schemeClr val="bg1"/>
                </a:solidFill>
              </a:rPr>
              <a:t> : verbe = direction (+ « en courant ») · </a:t>
            </a:r>
            <a:r>
              <a:rPr lang="en-US" sz="1600" b="1" dirty="0">
                <a:solidFill>
                  <a:schemeClr val="bg1"/>
                </a:solidFill>
              </a:rPr>
              <a:t>NL</a:t>
            </a:r>
            <a:r>
              <a:rPr lang="en-US" sz="1600" dirty="0">
                <a:solidFill>
                  <a:schemeClr val="bg1"/>
                </a:solidFill>
              </a:rPr>
              <a:t> : verbe = </a:t>
            </a:r>
            <a:r>
              <a:rPr lang="en-US" sz="1600" b="1" dirty="0">
                <a:solidFill>
                  <a:schemeClr val="bg1"/>
                </a:solidFill>
              </a:rPr>
              <a:t>manière</a:t>
            </a:r>
            <a:r>
              <a:rPr lang="en-US" sz="1600" dirty="0">
                <a:solidFill>
                  <a:schemeClr val="bg1"/>
                </a:solidFill>
              </a:rPr>
              <a:t> + </a:t>
            </a:r>
            <a:r>
              <a:rPr lang="en-US" sz="1600" i="1" dirty="0">
                <a:solidFill>
                  <a:schemeClr val="bg1"/>
                </a:solidFill>
              </a:rPr>
              <a:t>achterzetsel</a:t>
            </a:r>
            <a:r>
              <a:rPr lang="en-US" sz="1600" dirty="0">
                <a:solidFill>
                  <a:schemeClr val="bg1"/>
                </a:solidFill>
              </a:rPr>
              <a:t> = </a:t>
            </a:r>
            <a:r>
              <a:rPr lang="en-US" sz="1600" b="1" dirty="0">
                <a:solidFill>
                  <a:schemeClr val="bg1"/>
                </a:solidFill>
              </a:rPr>
              <a:t>direction</a:t>
            </a:r>
            <a:endParaRPr lang="en-US" sz="1600" dirty="0"/>
          </a:p>
          <a:p>
            <a:pPr algn="l" indent="0" marL="0">
              <a:spcAft>
                <a:spcPts val="200"/>
              </a:spcAft>
              <a:buNone/>
            </a:pPr>
            <a:r>
              <a:rPr lang="en-US" sz="1600" dirty="0">
                <a:solidFill>
                  <a:schemeClr val="bg1"/>
                </a:solidFill>
              </a:rPr>
              <a:t>Mot à mot : </a:t>
            </a:r>
            <a:r>
              <a:rPr lang="en-US" sz="1600" i="1" dirty="0">
                <a:solidFill>
                  <a:schemeClr val="bg1"/>
                </a:solidFill>
              </a:rPr>
              <a:t>Hij rent de keuken in</a:t>
            </a:r>
            <a:r>
              <a:rPr lang="en-US" sz="1600" dirty="0">
                <a:solidFill>
                  <a:schemeClr val="bg1"/>
                </a:solidFill>
              </a:rPr>
              <a:t> = « il court la cuisine dedans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six grands achterzetsels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220724" y="2089404"/>
            <a:ext cx="570586" cy="713232"/>
          </a:xfrm>
          <a:prstGeom prst="rect">
            <a:avLst/>
          </a:prstGeom>
          <a:solidFill>
            <a:srgbClr val="FFFFFF"/>
          </a:solidFill>
          <a:ln w="25400">
            <a:solidFill>
              <a:srgbClr val="17375E"/>
            </a:solidFill>
            <a:prstDash val="solid"/>
          </a:ln>
        </p:spPr>
      </p:sp>
      <p:sp>
        <p:nvSpPr>
          <p:cNvPr id="7" name="Shape 4"/>
          <p:cNvSpPr/>
          <p:nvPr/>
        </p:nvSpPr>
        <p:spPr>
          <a:xfrm>
            <a:off x="1184148" y="2324771"/>
            <a:ext cx="73152" cy="242499"/>
          </a:xfrm>
          <a:prstGeom prst="rect">
            <a:avLst/>
          </a:prstGeom>
          <a:solidFill>
            <a:srgbClr val="FFFFFF"/>
          </a:solidFill>
          <a:ln w="12700">
            <a:solidFill>
              <a:srgbClr val="FFFFFF">
                <a:alpha val="0"/>
              </a:srgbClr>
            </a:solidFill>
            <a:prstDash val="solid"/>
          </a:ln>
        </p:spPr>
      </p:sp>
      <p:sp>
        <p:nvSpPr>
          <p:cNvPr id="8" name="Shape 5"/>
          <p:cNvSpPr/>
          <p:nvPr/>
        </p:nvSpPr>
        <p:spPr>
          <a:xfrm>
            <a:off x="745236" y="2446020"/>
            <a:ext cx="796442" cy="914"/>
          </a:xfrm>
          <a:prstGeom prst="line">
            <a:avLst/>
          </a:prstGeom>
          <a:noFill/>
          <a:ln w="44450">
            <a:solidFill>
              <a:srgbClr val="D9700F"/>
            </a:solidFill>
            <a:prstDash val="solid"/>
            <a:tailEnd type="triangle"/>
          </a:ln>
        </p:spPr>
      </p:sp>
      <p:sp>
        <p:nvSpPr>
          <p:cNvPr id="9" name="Text 6"/>
          <p:cNvSpPr txBox="1"/>
          <p:nvPr/>
        </p:nvSpPr>
        <p:spPr>
          <a:xfrm>
            <a:off x="2011680"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in</a:t>
            </a:r>
            <a:endParaRPr lang="en-US" sz="2800" dirty="0"/>
          </a:p>
        </p:txBody>
      </p:sp>
      <p:sp>
        <p:nvSpPr>
          <p:cNvPr id="10" name="Text 7"/>
          <p:cNvSpPr txBox="1"/>
          <p:nvPr/>
        </p:nvSpPr>
        <p:spPr>
          <a:xfrm>
            <a:off x="2011680"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entrer</a:t>
            </a:r>
            <a:endParaRPr lang="en-US" sz="1500" dirty="0"/>
          </a:p>
        </p:txBody>
      </p:sp>
      <p:sp>
        <p:nvSpPr>
          <p:cNvPr id="11" name="Text 8"/>
          <p:cNvSpPr txBox="1"/>
          <p:nvPr/>
        </p:nvSpPr>
        <p:spPr>
          <a:xfrm>
            <a:off x="2011680"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loopt de kamer </a:t>
            </a:r>
            <a:r>
              <a:rPr lang="en-US" sz="1500" b="1" i="1" dirty="0">
                <a:solidFill>
                  <a:schemeClr val="tx1"/>
                </a:solidFill>
              </a:rPr>
              <a:t>in</a:t>
            </a:r>
            <a:r>
              <a:rPr lang="en-US" sz="1500" i="1" dirty="0">
                <a:solidFill>
                  <a:schemeClr val="tx1"/>
                </a:solidFill>
              </a:rPr>
              <a:t>.</a:t>
            </a:r>
            <a:endParaRPr lang="en-US" sz="1500" dirty="0"/>
          </a:p>
        </p:txBody>
      </p:sp>
      <p:sp>
        <p:nvSpPr>
          <p:cNvPr id="12" name="Shape 9"/>
          <p:cNvSpPr/>
          <p:nvPr/>
        </p:nvSpPr>
        <p:spPr>
          <a:xfrm>
            <a:off x="4306824"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78908" y="2089404"/>
            <a:ext cx="570586" cy="713232"/>
          </a:xfrm>
          <a:prstGeom prst="rect">
            <a:avLst/>
          </a:prstGeom>
          <a:solidFill>
            <a:srgbClr val="FFFFFF"/>
          </a:solidFill>
          <a:ln w="25400">
            <a:solidFill>
              <a:srgbClr val="17375E"/>
            </a:solidFill>
            <a:prstDash val="solid"/>
          </a:ln>
        </p:spPr>
      </p:sp>
      <p:sp>
        <p:nvSpPr>
          <p:cNvPr id="14" name="Shape 11"/>
          <p:cNvSpPr/>
          <p:nvPr/>
        </p:nvSpPr>
        <p:spPr>
          <a:xfrm>
            <a:off x="4942332" y="2324771"/>
            <a:ext cx="73152" cy="242499"/>
          </a:xfrm>
          <a:prstGeom prst="rect">
            <a:avLst/>
          </a:prstGeom>
          <a:solidFill>
            <a:srgbClr val="FFFFFF"/>
          </a:solidFill>
          <a:ln w="12700">
            <a:solidFill>
              <a:srgbClr val="FFFFFF">
                <a:alpha val="0"/>
              </a:srgbClr>
            </a:solidFill>
            <a:prstDash val="solid"/>
          </a:ln>
        </p:spPr>
      </p:sp>
      <p:sp>
        <p:nvSpPr>
          <p:cNvPr id="15" name="Shape 12"/>
          <p:cNvSpPr/>
          <p:nvPr/>
        </p:nvSpPr>
        <p:spPr>
          <a:xfrm flipH="1">
            <a:off x="4503420" y="2446020"/>
            <a:ext cx="796442" cy="914"/>
          </a:xfrm>
          <a:prstGeom prst="line">
            <a:avLst/>
          </a:prstGeom>
          <a:noFill/>
          <a:ln w="44450">
            <a:solidFill>
              <a:srgbClr val="D9700F"/>
            </a:solidFill>
            <a:prstDash val="solid"/>
            <a:tailEnd type="triangle"/>
          </a:ln>
        </p:spPr>
      </p:sp>
      <p:sp>
        <p:nvSpPr>
          <p:cNvPr id="16" name="Text 13"/>
          <p:cNvSpPr txBox="1"/>
          <p:nvPr/>
        </p:nvSpPr>
        <p:spPr>
          <a:xfrm>
            <a:off x="5769864"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uit</a:t>
            </a:r>
            <a:endParaRPr lang="en-US" sz="2800" dirty="0"/>
          </a:p>
        </p:txBody>
      </p:sp>
      <p:sp>
        <p:nvSpPr>
          <p:cNvPr id="17" name="Text 14"/>
          <p:cNvSpPr txBox="1"/>
          <p:nvPr/>
        </p:nvSpPr>
        <p:spPr>
          <a:xfrm>
            <a:off x="5769864"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sortir</a:t>
            </a:r>
            <a:endParaRPr lang="en-US" sz="1500" dirty="0"/>
          </a:p>
        </p:txBody>
      </p:sp>
      <p:sp>
        <p:nvSpPr>
          <p:cNvPr id="18" name="Text 15"/>
          <p:cNvSpPr txBox="1"/>
          <p:nvPr/>
        </p:nvSpPr>
        <p:spPr>
          <a:xfrm>
            <a:off x="5769864"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Ze loopt het kantoor </a:t>
            </a:r>
            <a:r>
              <a:rPr lang="en-US" sz="1500" b="1" i="1" dirty="0">
                <a:solidFill>
                  <a:schemeClr val="tx1"/>
                </a:solidFill>
              </a:rPr>
              <a:t>uit</a:t>
            </a:r>
            <a:r>
              <a:rPr lang="en-US" sz="1500" i="1" dirty="0">
                <a:solidFill>
                  <a:schemeClr val="tx1"/>
                </a:solidFill>
              </a:rPr>
              <a:t>.</a:t>
            </a:r>
            <a:endParaRPr lang="en-US" sz="1500" dirty="0"/>
          </a:p>
        </p:txBody>
      </p:sp>
      <p:sp>
        <p:nvSpPr>
          <p:cNvPr id="19" name="Shape 16"/>
          <p:cNvSpPr/>
          <p:nvPr/>
        </p:nvSpPr>
        <p:spPr>
          <a:xfrm>
            <a:off x="8065008"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321040" y="2743200"/>
            <a:ext cx="237744" cy="178308"/>
          </a:xfrm>
          <a:prstGeom prst="rect">
            <a:avLst/>
          </a:prstGeom>
          <a:solidFill>
            <a:srgbClr val="D5DCE6"/>
          </a:solidFill>
          <a:ln w="9525">
            <a:solidFill>
              <a:srgbClr val="4A5A70"/>
            </a:solidFill>
            <a:prstDash val="solid"/>
          </a:ln>
        </p:spPr>
      </p:sp>
      <p:sp>
        <p:nvSpPr>
          <p:cNvPr id="21" name="Shape 18"/>
          <p:cNvSpPr/>
          <p:nvPr/>
        </p:nvSpPr>
        <p:spPr>
          <a:xfrm>
            <a:off x="8558784" y="2564892"/>
            <a:ext cx="237744" cy="356616"/>
          </a:xfrm>
          <a:prstGeom prst="rect">
            <a:avLst/>
          </a:prstGeom>
          <a:solidFill>
            <a:srgbClr val="D5DCE6"/>
          </a:solidFill>
          <a:ln w="9525">
            <a:solidFill>
              <a:srgbClr val="4A5A70"/>
            </a:solidFill>
            <a:prstDash val="solid"/>
          </a:ln>
        </p:spPr>
      </p:sp>
      <p:sp>
        <p:nvSpPr>
          <p:cNvPr id="22" name="Shape 19"/>
          <p:cNvSpPr/>
          <p:nvPr/>
        </p:nvSpPr>
        <p:spPr>
          <a:xfrm>
            <a:off x="8796528" y="2386584"/>
            <a:ext cx="237744" cy="534924"/>
          </a:xfrm>
          <a:prstGeom prst="rect">
            <a:avLst/>
          </a:prstGeom>
          <a:solidFill>
            <a:srgbClr val="D5DCE6"/>
          </a:solidFill>
          <a:ln w="9525">
            <a:solidFill>
              <a:srgbClr val="4A5A70"/>
            </a:solidFill>
            <a:prstDash val="solid"/>
          </a:ln>
        </p:spPr>
      </p:sp>
      <p:sp>
        <p:nvSpPr>
          <p:cNvPr id="23" name="Shape 20"/>
          <p:cNvSpPr/>
          <p:nvPr/>
        </p:nvSpPr>
        <p:spPr>
          <a:xfrm>
            <a:off x="9034272" y="2208276"/>
            <a:ext cx="237744" cy="713232"/>
          </a:xfrm>
          <a:prstGeom prst="rect">
            <a:avLst/>
          </a:prstGeom>
          <a:solidFill>
            <a:srgbClr val="D5DCE6"/>
          </a:solidFill>
          <a:ln w="9525">
            <a:solidFill>
              <a:srgbClr val="4A5A70"/>
            </a:solidFill>
            <a:prstDash val="solid"/>
          </a:ln>
        </p:spPr>
      </p:sp>
      <p:sp>
        <p:nvSpPr>
          <p:cNvPr id="24" name="Shape 21"/>
          <p:cNvSpPr/>
          <p:nvPr/>
        </p:nvSpPr>
        <p:spPr>
          <a:xfrm flipV="1">
            <a:off x="8297266" y="1946758"/>
            <a:ext cx="950976" cy="641909"/>
          </a:xfrm>
          <a:prstGeom prst="line">
            <a:avLst/>
          </a:prstGeom>
          <a:noFill/>
          <a:ln w="44450">
            <a:solidFill>
              <a:srgbClr val="D9700F"/>
            </a:solidFill>
            <a:prstDash val="solid"/>
            <a:tailEnd type="triangle"/>
          </a:ln>
        </p:spPr>
      </p:sp>
      <p:sp>
        <p:nvSpPr>
          <p:cNvPr id="25" name="Text 22"/>
          <p:cNvSpPr txBox="1"/>
          <p:nvPr/>
        </p:nvSpPr>
        <p:spPr>
          <a:xfrm>
            <a:off x="9528048"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op</a:t>
            </a:r>
            <a:endParaRPr lang="en-US" sz="2800" dirty="0"/>
          </a:p>
        </p:txBody>
      </p:sp>
      <p:sp>
        <p:nvSpPr>
          <p:cNvPr id="26" name="Text 23"/>
          <p:cNvSpPr txBox="1"/>
          <p:nvPr/>
        </p:nvSpPr>
        <p:spPr>
          <a:xfrm>
            <a:off x="9528048"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monter</a:t>
            </a:r>
            <a:endParaRPr lang="en-US" sz="1500" dirty="0"/>
          </a:p>
        </p:txBody>
      </p:sp>
      <p:sp>
        <p:nvSpPr>
          <p:cNvPr id="27" name="Text 24"/>
          <p:cNvSpPr txBox="1"/>
          <p:nvPr/>
        </p:nvSpPr>
        <p:spPr>
          <a:xfrm>
            <a:off x="9528048"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We lopen de trap </a:t>
            </a:r>
            <a:r>
              <a:rPr lang="en-US" sz="1500" b="1" i="1" dirty="0">
                <a:solidFill>
                  <a:schemeClr val="tx1"/>
                </a:solidFill>
              </a:rPr>
              <a:t>op</a:t>
            </a:r>
            <a:r>
              <a:rPr lang="en-US" sz="1500" i="1" dirty="0">
                <a:solidFill>
                  <a:schemeClr val="tx1"/>
                </a:solidFill>
              </a:rPr>
              <a:t>.</a:t>
            </a:r>
            <a:endParaRPr lang="en-US" sz="1500" dirty="0"/>
          </a:p>
        </p:txBody>
      </p:sp>
      <p:sp>
        <p:nvSpPr>
          <p:cNvPr id="28" name="Shape 25"/>
          <p:cNvSpPr/>
          <p:nvPr/>
        </p:nvSpPr>
        <p:spPr>
          <a:xfrm>
            <a:off x="548640"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804672" y="4155948"/>
            <a:ext cx="237744" cy="713232"/>
          </a:xfrm>
          <a:prstGeom prst="rect">
            <a:avLst/>
          </a:prstGeom>
          <a:solidFill>
            <a:srgbClr val="D5DCE6"/>
          </a:solidFill>
          <a:ln w="9525">
            <a:solidFill>
              <a:srgbClr val="4A5A70"/>
            </a:solidFill>
            <a:prstDash val="solid"/>
          </a:ln>
        </p:spPr>
      </p:sp>
      <p:sp>
        <p:nvSpPr>
          <p:cNvPr id="30" name="Shape 27"/>
          <p:cNvSpPr/>
          <p:nvPr/>
        </p:nvSpPr>
        <p:spPr>
          <a:xfrm>
            <a:off x="1042416" y="4334256"/>
            <a:ext cx="237744" cy="534924"/>
          </a:xfrm>
          <a:prstGeom prst="rect">
            <a:avLst/>
          </a:prstGeom>
          <a:solidFill>
            <a:srgbClr val="D5DCE6"/>
          </a:solidFill>
          <a:ln w="9525">
            <a:solidFill>
              <a:srgbClr val="4A5A70"/>
            </a:solidFill>
            <a:prstDash val="solid"/>
          </a:ln>
        </p:spPr>
      </p:sp>
      <p:sp>
        <p:nvSpPr>
          <p:cNvPr id="31" name="Shape 28"/>
          <p:cNvSpPr/>
          <p:nvPr/>
        </p:nvSpPr>
        <p:spPr>
          <a:xfrm>
            <a:off x="1280160" y="4512564"/>
            <a:ext cx="237744" cy="356616"/>
          </a:xfrm>
          <a:prstGeom prst="rect">
            <a:avLst/>
          </a:prstGeom>
          <a:solidFill>
            <a:srgbClr val="D5DCE6"/>
          </a:solidFill>
          <a:ln w="9525">
            <a:solidFill>
              <a:srgbClr val="4A5A70"/>
            </a:solidFill>
            <a:prstDash val="solid"/>
          </a:ln>
        </p:spPr>
      </p:sp>
      <p:sp>
        <p:nvSpPr>
          <p:cNvPr id="32" name="Shape 29"/>
          <p:cNvSpPr/>
          <p:nvPr/>
        </p:nvSpPr>
        <p:spPr>
          <a:xfrm>
            <a:off x="1517904" y="4690872"/>
            <a:ext cx="237744" cy="178308"/>
          </a:xfrm>
          <a:prstGeom prst="rect">
            <a:avLst/>
          </a:prstGeom>
          <a:solidFill>
            <a:srgbClr val="D5DCE6"/>
          </a:solidFill>
          <a:ln w="9525">
            <a:solidFill>
              <a:srgbClr val="4A5A70"/>
            </a:solidFill>
            <a:prstDash val="solid"/>
          </a:ln>
        </p:spPr>
      </p:sp>
      <p:sp>
        <p:nvSpPr>
          <p:cNvPr id="33" name="Shape 30"/>
          <p:cNvSpPr/>
          <p:nvPr/>
        </p:nvSpPr>
        <p:spPr>
          <a:xfrm>
            <a:off x="828446" y="3894430"/>
            <a:ext cx="950976" cy="641909"/>
          </a:xfrm>
          <a:prstGeom prst="line">
            <a:avLst/>
          </a:prstGeom>
          <a:noFill/>
          <a:ln w="44450">
            <a:solidFill>
              <a:srgbClr val="D9700F"/>
            </a:solidFill>
            <a:prstDash val="solid"/>
            <a:tailEnd type="triangle"/>
          </a:ln>
        </p:spPr>
      </p:sp>
      <p:sp>
        <p:nvSpPr>
          <p:cNvPr id="34" name="Text 31"/>
          <p:cNvSpPr txBox="1"/>
          <p:nvPr/>
        </p:nvSpPr>
        <p:spPr>
          <a:xfrm>
            <a:off x="2011680"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af</a:t>
            </a:r>
            <a:endParaRPr lang="en-US" sz="2800" dirty="0"/>
          </a:p>
        </p:txBody>
      </p:sp>
      <p:sp>
        <p:nvSpPr>
          <p:cNvPr id="35" name="Text 32"/>
          <p:cNvSpPr txBox="1"/>
          <p:nvPr/>
        </p:nvSpPr>
        <p:spPr>
          <a:xfrm>
            <a:off x="2011680"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descendre</a:t>
            </a:r>
            <a:endParaRPr lang="en-US" sz="1500" dirty="0"/>
          </a:p>
        </p:txBody>
      </p:sp>
      <p:sp>
        <p:nvSpPr>
          <p:cNvPr id="36" name="Text 33"/>
          <p:cNvSpPr txBox="1"/>
          <p:nvPr/>
        </p:nvSpPr>
        <p:spPr>
          <a:xfrm>
            <a:off x="2011680"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Ik fiets de berg </a:t>
            </a:r>
            <a:r>
              <a:rPr lang="en-US" sz="1500" b="1" i="1" dirty="0">
                <a:solidFill>
                  <a:schemeClr val="tx1"/>
                </a:solidFill>
              </a:rPr>
              <a:t>af</a:t>
            </a:r>
            <a:r>
              <a:rPr lang="en-US" sz="1500" i="1" dirty="0">
                <a:solidFill>
                  <a:schemeClr val="tx1"/>
                </a:solidFill>
              </a:rPr>
              <a:t>.</a:t>
            </a:r>
            <a:endParaRPr lang="en-US" sz="1500" dirty="0"/>
          </a:p>
        </p:txBody>
      </p:sp>
      <p:sp>
        <p:nvSpPr>
          <p:cNvPr id="37" name="Shape 34"/>
          <p:cNvSpPr/>
          <p:nvPr/>
        </p:nvSpPr>
        <p:spPr>
          <a:xfrm>
            <a:off x="4306824"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5"/>
          <p:cNvSpPr/>
          <p:nvPr/>
        </p:nvSpPr>
        <p:spPr>
          <a:xfrm>
            <a:off x="4503420" y="4096512"/>
            <a:ext cx="1069848" cy="594360"/>
          </a:xfrm>
          <a:prstGeom prst="rect">
            <a:avLst/>
          </a:prstGeom>
          <a:solidFill>
            <a:srgbClr val="DCEFD9"/>
          </a:solidFill>
          <a:ln w="12700">
            <a:solidFill>
              <a:srgbClr val="FFFFFF">
                <a:alpha val="0"/>
              </a:srgbClr>
            </a:solidFill>
            <a:prstDash val="solid"/>
          </a:ln>
        </p:spPr>
      </p:sp>
      <p:sp>
        <p:nvSpPr>
          <p:cNvPr id="39" name="Shape 36"/>
          <p:cNvSpPr/>
          <p:nvPr/>
        </p:nvSpPr>
        <p:spPr>
          <a:xfrm>
            <a:off x="4895698" y="4096512"/>
            <a:ext cx="285293" cy="594360"/>
          </a:xfrm>
          <a:prstGeom prst="rect">
            <a:avLst/>
          </a:prstGeom>
          <a:solidFill>
            <a:srgbClr val="7FB8E6"/>
          </a:solidFill>
          <a:ln w="12700">
            <a:solidFill>
              <a:srgbClr val="FFFFFF">
                <a:alpha val="0"/>
              </a:srgbClr>
            </a:solidFill>
            <a:prstDash val="solid"/>
          </a:ln>
        </p:spPr>
      </p:sp>
      <p:sp>
        <p:nvSpPr>
          <p:cNvPr id="40" name="Shape 37"/>
          <p:cNvSpPr/>
          <p:nvPr/>
        </p:nvSpPr>
        <p:spPr>
          <a:xfrm>
            <a:off x="4586630" y="4393692"/>
            <a:ext cx="903427" cy="914"/>
          </a:xfrm>
          <a:prstGeom prst="line">
            <a:avLst/>
          </a:prstGeom>
          <a:noFill/>
          <a:ln w="44450">
            <a:solidFill>
              <a:srgbClr val="D9700F"/>
            </a:solidFill>
            <a:prstDash val="solid"/>
            <a:tailEnd type="triangle"/>
          </a:ln>
        </p:spPr>
      </p:sp>
      <p:sp>
        <p:nvSpPr>
          <p:cNvPr id="41" name="Text 38"/>
          <p:cNvSpPr txBox="1"/>
          <p:nvPr/>
        </p:nvSpPr>
        <p:spPr>
          <a:xfrm>
            <a:off x="5769864"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over</a:t>
            </a:r>
            <a:endParaRPr lang="en-US" sz="2800" dirty="0"/>
          </a:p>
        </p:txBody>
      </p:sp>
      <p:sp>
        <p:nvSpPr>
          <p:cNvPr id="42" name="Text 39"/>
          <p:cNvSpPr txBox="1"/>
          <p:nvPr/>
        </p:nvSpPr>
        <p:spPr>
          <a:xfrm>
            <a:off x="5769864"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(d’un bord à l’autre)</a:t>
            </a:r>
            <a:endParaRPr lang="en-US" sz="1500" dirty="0"/>
          </a:p>
        </p:txBody>
      </p:sp>
      <p:sp>
        <p:nvSpPr>
          <p:cNvPr id="43" name="Text 40"/>
          <p:cNvSpPr txBox="1"/>
          <p:nvPr/>
        </p:nvSpPr>
        <p:spPr>
          <a:xfrm>
            <a:off x="5769864"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zwemt de rivier </a:t>
            </a:r>
            <a:r>
              <a:rPr lang="en-US" sz="1500" b="1" i="1" dirty="0">
                <a:solidFill>
                  <a:schemeClr val="tx1"/>
                </a:solidFill>
              </a:rPr>
              <a:t>over</a:t>
            </a:r>
            <a:r>
              <a:rPr lang="en-US" sz="1500" i="1" dirty="0">
                <a:solidFill>
                  <a:schemeClr val="tx1"/>
                </a:solidFill>
              </a:rPr>
              <a:t>.</a:t>
            </a:r>
            <a:endParaRPr lang="en-US" sz="1500" dirty="0"/>
          </a:p>
        </p:txBody>
      </p:sp>
      <p:sp>
        <p:nvSpPr>
          <p:cNvPr id="44" name="Shape 41"/>
          <p:cNvSpPr/>
          <p:nvPr/>
        </p:nvSpPr>
        <p:spPr>
          <a:xfrm>
            <a:off x="8065008"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8558784" y="4155948"/>
            <a:ext cx="475488" cy="475488"/>
          </a:xfrm>
          <a:prstGeom prst="roundRect">
            <a:avLst>
              <a:gd name="adj" fmla="val 23077"/>
            </a:avLst>
          </a:prstGeom>
          <a:solidFill>
            <a:srgbClr val="4A5A70"/>
          </a:solidFill>
          <a:ln w="12700">
            <a:solidFill>
              <a:srgbClr val="FFFFFF">
                <a:alpha val="0"/>
              </a:srgbClr>
            </a:solidFill>
            <a:prstDash val="solid"/>
          </a:ln>
        </p:spPr>
      </p:sp>
      <p:sp>
        <p:nvSpPr>
          <p:cNvPr id="46" name="Shape 43"/>
          <p:cNvSpPr/>
          <p:nvPr/>
        </p:nvSpPr>
        <p:spPr>
          <a:xfrm>
            <a:off x="8630107" y="4251046"/>
            <a:ext cx="332842" cy="285293"/>
          </a:xfrm>
          <a:prstGeom prst="roundRect">
            <a:avLst>
              <a:gd name="adj" fmla="val 25641"/>
            </a:avLst>
          </a:prstGeom>
          <a:solidFill>
            <a:srgbClr val="1B2333"/>
          </a:solidFill>
          <a:ln w="12700">
            <a:solidFill>
              <a:srgbClr val="FFFFFF">
                <a:alpha val="0"/>
              </a:srgbClr>
            </a:solidFill>
            <a:prstDash val="solid"/>
          </a:ln>
        </p:spPr>
      </p:sp>
      <p:sp>
        <p:nvSpPr>
          <p:cNvPr id="47" name="Shape 44"/>
          <p:cNvSpPr/>
          <p:nvPr/>
        </p:nvSpPr>
        <p:spPr>
          <a:xfrm>
            <a:off x="8249717" y="4393692"/>
            <a:ext cx="1093622" cy="914"/>
          </a:xfrm>
          <a:prstGeom prst="line">
            <a:avLst/>
          </a:prstGeom>
          <a:noFill/>
          <a:ln w="44450">
            <a:solidFill>
              <a:srgbClr val="D9700F"/>
            </a:solidFill>
            <a:prstDash val="solid"/>
            <a:tailEnd type="triangle"/>
          </a:ln>
        </p:spPr>
      </p:sp>
      <p:sp>
        <p:nvSpPr>
          <p:cNvPr id="48" name="Text 45"/>
          <p:cNvSpPr txBox="1"/>
          <p:nvPr/>
        </p:nvSpPr>
        <p:spPr>
          <a:xfrm>
            <a:off x="9528048"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door</a:t>
            </a:r>
            <a:endParaRPr lang="en-US" sz="2800" dirty="0"/>
          </a:p>
        </p:txBody>
      </p:sp>
      <p:sp>
        <p:nvSpPr>
          <p:cNvPr id="49" name="Text 46"/>
          <p:cNvSpPr txBox="1"/>
          <p:nvPr/>
        </p:nvSpPr>
        <p:spPr>
          <a:xfrm>
            <a:off x="9528048"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(à travers)</a:t>
            </a:r>
            <a:endParaRPr lang="en-US" sz="1500" dirty="0"/>
          </a:p>
        </p:txBody>
      </p:sp>
      <p:sp>
        <p:nvSpPr>
          <p:cNvPr id="50" name="Text 47"/>
          <p:cNvSpPr txBox="1"/>
          <p:nvPr/>
        </p:nvSpPr>
        <p:spPr>
          <a:xfrm>
            <a:off x="9528048"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De trein rijdt de tunnel </a:t>
            </a:r>
            <a:r>
              <a:rPr lang="en-US" sz="1500" b="1" i="1" dirty="0">
                <a:solidFill>
                  <a:schemeClr val="tx1"/>
                </a:solidFill>
              </a:rPr>
              <a:t>door</a:t>
            </a:r>
            <a:r>
              <a:rPr lang="en-US" sz="1500" i="1" dirty="0">
                <a:solidFill>
                  <a:schemeClr val="tx1"/>
                </a:solidFill>
              </a:rPr>
              <a:t>.</a:t>
            </a:r>
            <a:endParaRPr lang="en-US" sz="1500" dirty="0"/>
          </a:p>
        </p:txBody>
      </p:sp>
      <p:sp>
        <p:nvSpPr>
          <p:cNvPr id="51" name="Shape 48"/>
          <p:cNvSpPr/>
          <p:nvPr/>
        </p:nvSpPr>
        <p:spPr>
          <a:xfrm>
            <a:off x="548640" y="5577840"/>
            <a:ext cx="11091672" cy="658368"/>
          </a:xfrm>
          <a:prstGeom prst="roundRect">
            <a:avLst>
              <a:gd name="adj" fmla="val 11111"/>
            </a:avLst>
          </a:prstGeom>
          <a:solidFill>
            <a:schemeClr val="tx2"/>
          </a:solidFill>
          <a:ln w="12700">
            <a:solidFill>
              <a:srgbClr val="FFFFFF">
                <a:alpha val="0"/>
              </a:srgbClr>
            </a:solidFill>
            <a:prstDash val="solid"/>
          </a:ln>
        </p:spPr>
      </p:sp>
      <p:sp>
        <p:nvSpPr>
          <p:cNvPr id="52" name="Text 49"/>
          <p:cNvSpPr txBox="1"/>
          <p:nvPr/>
        </p:nvSpPr>
        <p:spPr>
          <a:xfrm>
            <a:off x="822960" y="5577840"/>
            <a:ext cx="10607040" cy="658368"/>
          </a:xfrm>
          <a:prstGeom prst="rect">
            <a:avLst/>
          </a:prstGeom>
          <a:noFill/>
          <a:ln/>
        </p:spPr>
        <p:txBody>
          <a:bodyPr wrap="square" lIns="0" tIns="0" rIns="0" bIns="0" rtlCol="0" anchor="ctr"/>
          <a:lstStyle/>
          <a:p>
            <a:pPr algn="l" indent="0" marL="0">
              <a:buNone/>
            </a:pPr>
            <a:r>
              <a:rPr lang="en-US" sz="1600" i="1" dirty="0">
                <a:solidFill>
                  <a:schemeClr val="bg1"/>
                </a:solidFill>
              </a:rPr>
              <a:t>over</a:t>
            </a:r>
            <a:r>
              <a:rPr lang="en-US" sz="1600" dirty="0">
                <a:solidFill>
                  <a:schemeClr val="bg1"/>
                </a:solidFill>
              </a:rPr>
              <a:t> = par-dessus, d’un bord à l’autre (rue, rivière, pont) · </a:t>
            </a:r>
            <a:r>
              <a:rPr lang="en-US" sz="1600" i="1" dirty="0">
                <a:solidFill>
                  <a:schemeClr val="bg1"/>
                </a:solidFill>
              </a:rPr>
              <a:t>door</a:t>
            </a:r>
            <a:r>
              <a:rPr lang="en-US" sz="1600" dirty="0">
                <a:solidFill>
                  <a:schemeClr val="bg1"/>
                </a:solidFill>
              </a:rPr>
              <a:t> = à l’intérieur, d’un bout à l’autre (tunnel, parc)</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et quatre autres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84555" y="2338578"/>
            <a:ext cx="555498" cy="580187"/>
          </a:xfrm>
          <a:prstGeom prst="rect">
            <a:avLst/>
          </a:prstGeom>
          <a:solidFill>
            <a:srgbClr val="D5DCE6"/>
          </a:solidFill>
          <a:ln w="12700">
            <a:solidFill>
              <a:srgbClr val="4A5A70"/>
            </a:solidFill>
            <a:prstDash val="solid"/>
          </a:ln>
        </p:spPr>
      </p:sp>
      <p:sp>
        <p:nvSpPr>
          <p:cNvPr id="7" name="Shape 4"/>
          <p:cNvSpPr/>
          <p:nvPr/>
        </p:nvSpPr>
        <p:spPr>
          <a:xfrm>
            <a:off x="759866" y="2153412"/>
            <a:ext cx="814730" cy="914"/>
          </a:xfrm>
          <a:prstGeom prst="line">
            <a:avLst/>
          </a:prstGeom>
          <a:noFill/>
          <a:ln w="44450">
            <a:solidFill>
              <a:srgbClr val="D9700F"/>
            </a:solidFill>
            <a:prstDash val="solid"/>
          </a:ln>
        </p:spPr>
      </p:sp>
      <p:sp>
        <p:nvSpPr>
          <p:cNvPr id="8" name="Shape 5"/>
          <p:cNvSpPr/>
          <p:nvPr/>
        </p:nvSpPr>
        <p:spPr>
          <a:xfrm>
            <a:off x="1574597" y="2141068"/>
            <a:ext cx="914" cy="802386"/>
          </a:xfrm>
          <a:prstGeom prst="line">
            <a:avLst/>
          </a:prstGeom>
          <a:noFill/>
          <a:ln w="44450">
            <a:solidFill>
              <a:srgbClr val="D9700F"/>
            </a:solidFill>
            <a:prstDash val="solid"/>
            <a:tailEnd type="triangle"/>
          </a:ln>
        </p:spPr>
      </p:sp>
      <p:sp>
        <p:nvSpPr>
          <p:cNvPr id="9" name="Text 6"/>
          <p:cNvSpPr txBox="1"/>
          <p:nvPr/>
        </p:nvSpPr>
        <p:spPr>
          <a:xfrm>
            <a:off x="2057400"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om</a:t>
            </a:r>
            <a:endParaRPr lang="en-US" sz="2800" dirty="0"/>
          </a:p>
        </p:txBody>
      </p:sp>
      <p:sp>
        <p:nvSpPr>
          <p:cNvPr id="10" name="Text 7"/>
          <p:cNvSpPr txBox="1"/>
          <p:nvPr/>
        </p:nvSpPr>
        <p:spPr>
          <a:xfrm>
            <a:off x="2057400"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tourner (au coin)</a:t>
            </a:r>
            <a:endParaRPr lang="en-US" sz="1500" dirty="0"/>
          </a:p>
        </p:txBody>
      </p:sp>
      <p:sp>
        <p:nvSpPr>
          <p:cNvPr id="11" name="Text 8"/>
          <p:cNvSpPr txBox="1"/>
          <p:nvPr/>
        </p:nvSpPr>
        <p:spPr>
          <a:xfrm>
            <a:off x="2057400"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loopt de hoek </a:t>
            </a:r>
            <a:r>
              <a:rPr lang="en-US" sz="1500" b="1" i="1" dirty="0">
                <a:solidFill>
                  <a:schemeClr val="tx1"/>
                </a:solidFill>
              </a:rPr>
              <a:t>om</a:t>
            </a:r>
            <a:r>
              <a:rPr lang="en-US" sz="1500" i="1" dirty="0">
                <a:solidFill>
                  <a:schemeClr val="tx1"/>
                </a:solidFill>
              </a:rPr>
              <a:t>.</a:t>
            </a:r>
            <a:endParaRPr lang="en-US" sz="1500" dirty="0"/>
          </a:p>
        </p:txBody>
      </p:sp>
      <p:sp>
        <p:nvSpPr>
          <p:cNvPr id="12" name="Shape 9"/>
          <p:cNvSpPr/>
          <p:nvPr/>
        </p:nvSpPr>
        <p:spPr>
          <a:xfrm>
            <a:off x="6185916"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446520" y="1931213"/>
            <a:ext cx="271577" cy="395021"/>
          </a:xfrm>
          <a:prstGeom prst="rect">
            <a:avLst/>
          </a:prstGeom>
          <a:solidFill>
            <a:srgbClr val="FFFFFF"/>
          </a:solidFill>
          <a:ln w="19050">
            <a:solidFill>
              <a:srgbClr val="17375E"/>
            </a:solidFill>
            <a:prstDash val="solid"/>
          </a:ln>
        </p:spPr>
      </p:sp>
      <p:sp>
        <p:nvSpPr>
          <p:cNvPr id="14" name="Shape 11"/>
          <p:cNvSpPr/>
          <p:nvPr/>
        </p:nvSpPr>
        <p:spPr>
          <a:xfrm>
            <a:off x="6804508" y="1931213"/>
            <a:ext cx="271577" cy="395021"/>
          </a:xfrm>
          <a:prstGeom prst="rect">
            <a:avLst/>
          </a:prstGeom>
          <a:solidFill>
            <a:srgbClr val="FFFFFF"/>
          </a:solidFill>
          <a:ln w="19050">
            <a:solidFill>
              <a:srgbClr val="17375E"/>
            </a:solidFill>
            <a:prstDash val="solid"/>
          </a:ln>
        </p:spPr>
      </p:sp>
      <p:sp>
        <p:nvSpPr>
          <p:cNvPr id="15" name="Shape 12"/>
          <p:cNvSpPr/>
          <p:nvPr/>
        </p:nvSpPr>
        <p:spPr>
          <a:xfrm>
            <a:off x="7162495" y="1931213"/>
            <a:ext cx="271577" cy="395021"/>
          </a:xfrm>
          <a:prstGeom prst="rect">
            <a:avLst/>
          </a:prstGeom>
          <a:solidFill>
            <a:srgbClr val="FFFFFF"/>
          </a:solidFill>
          <a:ln w="19050">
            <a:solidFill>
              <a:srgbClr val="17375E"/>
            </a:solidFill>
            <a:prstDash val="solid"/>
          </a:ln>
        </p:spPr>
      </p:sp>
      <p:sp>
        <p:nvSpPr>
          <p:cNvPr id="16" name="Shape 13"/>
          <p:cNvSpPr/>
          <p:nvPr/>
        </p:nvSpPr>
        <p:spPr>
          <a:xfrm>
            <a:off x="6384798" y="2597810"/>
            <a:ext cx="1110996" cy="914"/>
          </a:xfrm>
          <a:prstGeom prst="line">
            <a:avLst/>
          </a:prstGeom>
          <a:noFill/>
          <a:ln w="44450">
            <a:solidFill>
              <a:srgbClr val="D9700F"/>
            </a:solidFill>
            <a:prstDash val="solid"/>
            <a:tailEnd type="triangle"/>
          </a:ln>
        </p:spPr>
      </p:sp>
      <p:sp>
        <p:nvSpPr>
          <p:cNvPr id="17" name="Text 14"/>
          <p:cNvSpPr txBox="1"/>
          <p:nvPr/>
        </p:nvSpPr>
        <p:spPr>
          <a:xfrm>
            <a:off x="7694676"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langs</a:t>
            </a:r>
            <a:endParaRPr lang="en-US" sz="2800" dirty="0"/>
          </a:p>
        </p:txBody>
      </p:sp>
      <p:sp>
        <p:nvSpPr>
          <p:cNvPr id="18" name="Text 15"/>
          <p:cNvSpPr txBox="1"/>
          <p:nvPr/>
        </p:nvSpPr>
        <p:spPr>
          <a:xfrm>
            <a:off x="7694676"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longer, passer voir</a:t>
            </a:r>
            <a:endParaRPr lang="en-US" sz="1500" dirty="0"/>
          </a:p>
        </p:txBody>
      </p:sp>
      <p:sp>
        <p:nvSpPr>
          <p:cNvPr id="19" name="Text 16"/>
          <p:cNvSpPr txBox="1"/>
          <p:nvPr/>
        </p:nvSpPr>
        <p:spPr>
          <a:xfrm>
            <a:off x="7694676"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Ik loop alle bureaus </a:t>
            </a:r>
            <a:r>
              <a:rPr lang="en-US" sz="1500" b="1" i="1" dirty="0">
                <a:solidFill>
                  <a:schemeClr val="tx1"/>
                </a:solidFill>
              </a:rPr>
              <a:t>langs</a:t>
            </a:r>
            <a:r>
              <a:rPr lang="en-US" sz="1500" i="1" dirty="0">
                <a:solidFill>
                  <a:schemeClr val="tx1"/>
                </a:solidFill>
              </a:rPr>
              <a:t>.</a:t>
            </a:r>
            <a:endParaRPr lang="en-US" sz="1500" dirty="0"/>
          </a:p>
        </p:txBody>
      </p:sp>
      <p:sp>
        <p:nvSpPr>
          <p:cNvPr id="20" name="Shape 17"/>
          <p:cNvSpPr/>
          <p:nvPr/>
        </p:nvSpPr>
        <p:spPr>
          <a:xfrm>
            <a:off x="548640"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1" name="Image 0" descr="station">    </p:cNvPr>
          <p:cNvPicPr>
            <a:picLocks noChangeAspect="1"/>
          </p:cNvPicPr>
          <p:nvPr/>
        </p:nvPicPr>
        <p:blipFill>
          <a:blip r:embed="rId1"/>
          <a:stretch>
            <a:fillRect/>
          </a:stretch>
        </p:blipFill>
        <p:spPr>
          <a:xfrm>
            <a:off x="1056132" y="3701034"/>
            <a:ext cx="493776" cy="493776"/>
          </a:xfrm>
          <a:prstGeom prst="rect">
            <a:avLst/>
          </a:prstGeom>
        </p:spPr>
      </p:pic>
      <p:sp>
        <p:nvSpPr>
          <p:cNvPr id="22" name="Shape 18"/>
          <p:cNvSpPr/>
          <p:nvPr/>
        </p:nvSpPr>
        <p:spPr>
          <a:xfrm>
            <a:off x="747522" y="4454042"/>
            <a:ext cx="555498" cy="914"/>
          </a:xfrm>
          <a:prstGeom prst="line">
            <a:avLst/>
          </a:prstGeom>
          <a:noFill/>
          <a:ln w="44450">
            <a:solidFill>
              <a:srgbClr val="D9700F"/>
            </a:solidFill>
            <a:prstDash val="solid"/>
          </a:ln>
        </p:spPr>
      </p:sp>
      <p:sp>
        <p:nvSpPr>
          <p:cNvPr id="23" name="Shape 19"/>
          <p:cNvSpPr/>
          <p:nvPr/>
        </p:nvSpPr>
        <p:spPr>
          <a:xfrm>
            <a:off x="1303020" y="4454042"/>
            <a:ext cx="580187" cy="914"/>
          </a:xfrm>
          <a:prstGeom prst="line">
            <a:avLst/>
          </a:prstGeom>
          <a:noFill/>
          <a:ln w="44450">
            <a:solidFill>
              <a:srgbClr val="D9700F"/>
            </a:solidFill>
            <a:prstDash val="solid"/>
            <a:tailEnd type="triangle"/>
          </a:ln>
        </p:spPr>
      </p:sp>
      <p:sp>
        <p:nvSpPr>
          <p:cNvPr id="24" name="Shape 20"/>
          <p:cNvSpPr/>
          <p:nvPr/>
        </p:nvSpPr>
        <p:spPr>
          <a:xfrm>
            <a:off x="1549908" y="4256532"/>
            <a:ext cx="914" cy="395021"/>
          </a:xfrm>
          <a:prstGeom prst="line">
            <a:avLst/>
          </a:prstGeom>
          <a:noFill/>
          <a:ln w="12700">
            <a:solidFill>
              <a:srgbClr val="4A5A70"/>
            </a:solidFill>
            <a:prstDash val="dash"/>
          </a:ln>
        </p:spPr>
      </p:sp>
      <p:sp>
        <p:nvSpPr>
          <p:cNvPr id="25" name="Text 21"/>
          <p:cNvSpPr txBox="1"/>
          <p:nvPr/>
        </p:nvSpPr>
        <p:spPr>
          <a:xfrm>
            <a:off x="2057400"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voorbij</a:t>
            </a:r>
            <a:endParaRPr lang="en-US" sz="2800" dirty="0"/>
          </a:p>
        </p:txBody>
      </p:sp>
      <p:sp>
        <p:nvSpPr>
          <p:cNvPr id="26" name="Text 22"/>
          <p:cNvSpPr txBox="1"/>
          <p:nvPr/>
        </p:nvSpPr>
        <p:spPr>
          <a:xfrm>
            <a:off x="2057400"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dépasser</a:t>
            </a:r>
            <a:endParaRPr lang="en-US" sz="1500" dirty="0"/>
          </a:p>
        </p:txBody>
      </p:sp>
      <p:sp>
        <p:nvSpPr>
          <p:cNvPr id="27" name="Text 23"/>
          <p:cNvSpPr txBox="1"/>
          <p:nvPr/>
        </p:nvSpPr>
        <p:spPr>
          <a:xfrm>
            <a:off x="2057400"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Ze rijdt het station </a:t>
            </a:r>
            <a:r>
              <a:rPr lang="en-US" sz="1500" b="1" i="1" dirty="0">
                <a:solidFill>
                  <a:schemeClr val="tx1"/>
                </a:solidFill>
              </a:rPr>
              <a:t>voorbij</a:t>
            </a:r>
            <a:r>
              <a:rPr lang="en-US" sz="1500" i="1" dirty="0">
                <a:solidFill>
                  <a:schemeClr val="tx1"/>
                </a:solidFill>
              </a:rPr>
              <a:t>.</a:t>
            </a:r>
            <a:endParaRPr lang="en-US" sz="1500" dirty="0"/>
          </a:p>
        </p:txBody>
      </p:sp>
      <p:sp>
        <p:nvSpPr>
          <p:cNvPr id="28" name="Shape 24"/>
          <p:cNvSpPr/>
          <p:nvPr/>
        </p:nvSpPr>
        <p:spPr>
          <a:xfrm>
            <a:off x="6185916"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9" name="Image 1" descr="door">    </p:cNvPr>
          <p:cNvPicPr>
            <a:picLocks noChangeAspect="1"/>
          </p:cNvPicPr>
          <p:nvPr/>
        </p:nvPicPr>
        <p:blipFill>
          <a:blip r:embed="rId2"/>
          <a:stretch>
            <a:fillRect/>
          </a:stretch>
        </p:blipFill>
        <p:spPr>
          <a:xfrm>
            <a:off x="6964985" y="3910889"/>
            <a:ext cx="518465" cy="518465"/>
          </a:xfrm>
          <a:prstGeom prst="rect">
            <a:avLst/>
          </a:prstGeom>
        </p:spPr>
      </p:pic>
      <p:sp>
        <p:nvSpPr>
          <p:cNvPr id="30" name="Shape 25"/>
          <p:cNvSpPr/>
          <p:nvPr/>
        </p:nvSpPr>
        <p:spPr>
          <a:xfrm>
            <a:off x="6940296" y="4602175"/>
            <a:ext cx="567842" cy="98755"/>
          </a:xfrm>
          <a:prstGeom prst="roundRect">
            <a:avLst>
              <a:gd name="adj" fmla="val 18519"/>
            </a:avLst>
          </a:prstGeom>
          <a:solidFill>
            <a:schemeClr val="accent1">
              <a:alpha val="60000"/>
            </a:schemeClr>
          </a:solidFill>
          <a:ln w="12700">
            <a:solidFill>
              <a:srgbClr val="FFFFFF">
                <a:alpha val="0"/>
              </a:srgbClr>
            </a:solidFill>
            <a:prstDash val="solid"/>
          </a:ln>
        </p:spPr>
      </p:sp>
      <p:sp>
        <p:nvSpPr>
          <p:cNvPr id="31" name="Shape 26"/>
          <p:cNvSpPr/>
          <p:nvPr/>
        </p:nvSpPr>
        <p:spPr>
          <a:xfrm>
            <a:off x="6372454" y="4256532"/>
            <a:ext cx="715975" cy="914"/>
          </a:xfrm>
          <a:prstGeom prst="line">
            <a:avLst/>
          </a:prstGeom>
          <a:noFill/>
          <a:ln w="44450">
            <a:solidFill>
              <a:srgbClr val="D9700F"/>
            </a:solidFill>
            <a:prstDash val="solid"/>
            <a:tailEnd type="triangle"/>
          </a:ln>
        </p:spPr>
      </p:sp>
      <p:sp>
        <p:nvSpPr>
          <p:cNvPr id="32" name="Text 27"/>
          <p:cNvSpPr txBox="1"/>
          <p:nvPr/>
        </p:nvSpPr>
        <p:spPr>
          <a:xfrm>
            <a:off x="7694676"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binnen</a:t>
            </a:r>
            <a:endParaRPr lang="en-US" sz="2800" dirty="0"/>
          </a:p>
        </p:txBody>
      </p:sp>
      <p:sp>
        <p:nvSpPr>
          <p:cNvPr id="33" name="Text 28"/>
          <p:cNvSpPr txBox="1"/>
          <p:nvPr/>
        </p:nvSpPr>
        <p:spPr>
          <a:xfrm>
            <a:off x="7694676"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entrer (soutenu)</a:t>
            </a:r>
            <a:endParaRPr lang="en-US" sz="1500" dirty="0"/>
          </a:p>
        </p:txBody>
      </p:sp>
      <p:sp>
        <p:nvSpPr>
          <p:cNvPr id="34" name="Text 29"/>
          <p:cNvSpPr txBox="1"/>
          <p:nvPr/>
        </p:nvSpPr>
        <p:spPr>
          <a:xfrm>
            <a:off x="7694676"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stapt het kantoor </a:t>
            </a:r>
            <a:r>
              <a:rPr lang="en-US" sz="1500" b="1" i="1" dirty="0">
                <a:solidFill>
                  <a:schemeClr val="tx1"/>
                </a:solidFill>
              </a:rPr>
              <a:t>binnen</a:t>
            </a:r>
            <a:r>
              <a:rPr lang="en-US" sz="1500" i="1" dirty="0">
                <a:solidFill>
                  <a:schemeClr val="tx1"/>
                </a:solidFill>
              </a:rPr>
              <a:t>.</a:t>
            </a:r>
            <a:endParaRPr lang="en-US" sz="1500" dirty="0"/>
          </a:p>
        </p:txBody>
      </p:sp>
      <p:sp>
        <p:nvSpPr>
          <p:cNvPr id="35" name="Shape 30"/>
          <p:cNvSpPr/>
          <p:nvPr/>
        </p:nvSpPr>
        <p:spPr>
          <a:xfrm>
            <a:off x="548640" y="5166360"/>
            <a:ext cx="11091672" cy="548640"/>
          </a:xfrm>
          <a:prstGeom prst="roundRect">
            <a:avLst>
              <a:gd name="adj" fmla="val 16667"/>
            </a:avLst>
          </a:prstGeom>
          <a:solidFill>
            <a:schemeClr val="bg2"/>
          </a:solidFill>
          <a:ln w="12700">
            <a:solidFill>
              <a:srgbClr val="D5DCE6"/>
            </a:solidFill>
            <a:prstDash val="solid"/>
          </a:ln>
        </p:spPr>
      </p:sp>
      <p:sp>
        <p:nvSpPr>
          <p:cNvPr id="36" name="Text 31"/>
          <p:cNvSpPr txBox="1"/>
          <p:nvPr/>
        </p:nvSpPr>
        <p:spPr>
          <a:xfrm>
            <a:off x="777240" y="5166360"/>
            <a:ext cx="10698480" cy="548640"/>
          </a:xfrm>
          <a:prstGeom prst="rect">
            <a:avLst/>
          </a:prstGeom>
          <a:noFill/>
          <a:ln/>
        </p:spPr>
        <p:txBody>
          <a:bodyPr wrap="square" lIns="0" tIns="0" rIns="0" bIns="0" rtlCol="0" anchor="ctr"/>
          <a:lstStyle/>
          <a:p>
            <a:pPr algn="l" indent="0" marL="0">
              <a:buNone/>
            </a:pPr>
            <a:r>
              <a:rPr lang="en-US" sz="1700" dirty="0">
                <a:solidFill>
                  <a:schemeClr val="tx1"/>
                </a:solidFill>
              </a:rPr>
              <a:t>Même contraste : </a:t>
            </a:r>
            <a:r>
              <a:rPr lang="en-US" sz="1700" i="1" dirty="0">
                <a:solidFill>
                  <a:schemeClr val="tx1"/>
                </a:solidFill>
              </a:rPr>
              <a:t>de hoek </a:t>
            </a:r>
            <a:r>
              <a:rPr lang="en-US" sz="1700" b="1" i="1" dirty="0">
                <a:solidFill>
                  <a:schemeClr val="accent1"/>
                </a:solidFill>
              </a:rPr>
              <a:t>om</a:t>
            </a:r>
            <a:r>
              <a:rPr lang="en-US" sz="1700" dirty="0">
                <a:solidFill>
                  <a:schemeClr val="tx1"/>
                </a:solidFill>
              </a:rPr>
              <a:t> (tourner au coin) ≠ </a:t>
            </a:r>
            <a:r>
              <a:rPr lang="en-US" sz="1700" b="1" i="1" dirty="0">
                <a:solidFill>
                  <a:schemeClr val="accent2"/>
                </a:solidFill>
              </a:rPr>
              <a:t>om</a:t>
            </a:r>
            <a:r>
              <a:rPr lang="en-US" sz="1700" i="1" dirty="0">
                <a:solidFill>
                  <a:schemeClr val="tx1"/>
                </a:solidFill>
              </a:rPr>
              <a:t> de hoek</a:t>
            </a:r>
            <a:r>
              <a:rPr lang="en-US" sz="1700" dirty="0">
                <a:solidFill>
                  <a:schemeClr val="tx1"/>
                </a:solidFill>
              </a:rPr>
              <a:t> (au coin, là où l’on est)</a:t>
            </a:r>
            <a:endParaRPr lang="en-US" sz="1700" dirty="0"/>
          </a:p>
        </p:txBody>
      </p:sp>
      <p:sp>
        <p:nvSpPr>
          <p:cNvPr id="37" name="Text 32"/>
          <p:cNvSpPr txBox="1"/>
          <p:nvPr/>
        </p:nvSpPr>
        <p:spPr>
          <a:xfrm>
            <a:off x="548640" y="5806440"/>
            <a:ext cx="11091672" cy="411480"/>
          </a:xfrm>
          <a:prstGeom prst="rect">
            <a:avLst/>
          </a:prstGeom>
          <a:noFill/>
          <a:ln/>
        </p:spPr>
        <p:txBody>
          <a:bodyPr wrap="square" lIns="0" tIns="0" rIns="0" bIns="0" rtlCol="0" anchor="ctr"/>
          <a:lstStyle/>
          <a:p>
            <a:pPr algn="ctr" indent="0" marL="0">
              <a:buNone/>
            </a:pPr>
            <a:r>
              <a:rPr lang="en-US" sz="1500" i="1" dirty="0">
                <a:solidFill>
                  <a:schemeClr val="accent5"/>
                </a:solidFill>
              </a:rPr>
              <a:t>Aussi : </a:t>
            </a:r>
            <a:r>
              <a:rPr lang="en-US" sz="1500" i="1" dirty="0">
                <a:solidFill>
                  <a:schemeClr val="accent5"/>
                </a:solidFill>
              </a:rPr>
              <a:t>rond</a:t>
            </a:r>
            <a:r>
              <a:rPr lang="en-US" sz="1500" i="1" dirty="0">
                <a:solidFill>
                  <a:schemeClr val="accent5"/>
                </a:solidFill>
              </a:rPr>
              <a:t> (faire le tour) : </a:t>
            </a:r>
            <a:r>
              <a:rPr lang="en-US" sz="1500" i="1" dirty="0">
                <a:solidFill>
                  <a:schemeClr val="accent5"/>
                </a:solidFill>
              </a:rPr>
              <a:t>Ze reist de wereld </a:t>
            </a:r>
            <a:r>
              <a:rPr lang="en-US" sz="1500" b="1" i="1" dirty="0">
                <a:solidFill>
                  <a:schemeClr val="accent5"/>
                </a:solidFill>
              </a:rPr>
              <a:t>rond</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Beaucoup d’exemples : où ? ou vers où ?</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EXEMPLES</a:t>
            </a:r>
            <a:endParaRPr lang="en-US" sz="1200" dirty="0"/>
          </a:p>
        </p:txBody>
      </p:sp>
      <p:sp>
        <p:nvSpPr>
          <p:cNvPr id="5" name="Shape 2"/>
          <p:cNvSpPr/>
          <p:nvPr/>
        </p:nvSpPr>
        <p:spPr>
          <a:xfrm>
            <a:off x="685800" y="1536192"/>
            <a:ext cx="237744" cy="237744"/>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05840" y="1463040"/>
            <a:ext cx="4572000" cy="384048"/>
          </a:xfrm>
          <a:prstGeom prst="rect">
            <a:avLst/>
          </a:prstGeom>
          <a:noFill/>
          <a:ln/>
        </p:spPr>
        <p:txBody>
          <a:bodyPr wrap="square" lIns="0" tIns="0" rIns="0" bIns="0" rtlCol="0" anchor="ctr"/>
          <a:lstStyle/>
          <a:p>
            <a:pPr algn="l" indent="0" marL="0">
              <a:buNone/>
            </a:pPr>
            <a:r>
              <a:rPr lang="en-US" sz="1500" b="1" spc="100" kern="0" dirty="0">
                <a:solidFill>
                  <a:schemeClr val="accent2"/>
                </a:solidFill>
              </a:rPr>
              <a:t>WAAR?</a:t>
            </a:r>
            <a:r>
              <a:rPr lang="en-US" sz="1500" spc="100" kern="0" dirty="0">
                <a:solidFill>
                  <a:schemeClr val="accent2"/>
                </a:solidFill>
              </a:rPr>
              <a:t> · le lieu</a:t>
            </a:r>
            <a:endParaRPr lang="en-US" sz="1500" dirty="0"/>
          </a:p>
        </p:txBody>
      </p:sp>
      <p:sp>
        <p:nvSpPr>
          <p:cNvPr id="7" name="Shape 4"/>
          <p:cNvSpPr/>
          <p:nvPr/>
        </p:nvSpPr>
        <p:spPr>
          <a:xfrm>
            <a:off x="6355080" y="1655064"/>
            <a:ext cx="365760" cy="914"/>
          </a:xfrm>
          <a:prstGeom prst="line">
            <a:avLst/>
          </a:prstGeom>
          <a:noFill/>
          <a:ln w="44450">
            <a:solidFill>
              <a:srgbClr val="D9700F"/>
            </a:solidFill>
            <a:prstDash val="solid"/>
            <a:tailEnd type="triangle"/>
          </a:ln>
        </p:spPr>
      </p:sp>
      <p:sp>
        <p:nvSpPr>
          <p:cNvPr id="8" name="Text 5"/>
          <p:cNvSpPr txBox="1"/>
          <p:nvPr/>
        </p:nvSpPr>
        <p:spPr>
          <a:xfrm>
            <a:off x="6812280" y="1463040"/>
            <a:ext cx="4754880" cy="384048"/>
          </a:xfrm>
          <a:prstGeom prst="rect">
            <a:avLst/>
          </a:prstGeom>
          <a:noFill/>
          <a:ln/>
        </p:spPr>
        <p:txBody>
          <a:bodyPr wrap="square" lIns="0" tIns="0" rIns="0" bIns="0" rtlCol="0" anchor="ctr"/>
          <a:lstStyle/>
          <a:p>
            <a:pPr algn="l" indent="0" marL="0">
              <a:buNone/>
            </a:pPr>
            <a:r>
              <a:rPr lang="en-US" sz="1500" b="1" spc="100" kern="0" dirty="0">
                <a:solidFill>
                  <a:schemeClr val="accent1"/>
                </a:solidFill>
              </a:rPr>
              <a:t>WAARHEEN?</a:t>
            </a:r>
            <a:r>
              <a:rPr lang="en-US" sz="1500" spc="100" kern="0" dirty="0">
                <a:solidFill>
                  <a:schemeClr val="accent1"/>
                </a:solidFill>
              </a:rPr>
              <a:t> · la direction</a:t>
            </a:r>
            <a:endParaRPr lang="en-US" sz="1500" dirty="0"/>
          </a:p>
        </p:txBody>
      </p:sp>
      <p:sp>
        <p:nvSpPr>
          <p:cNvPr id="9" name="Shape 6"/>
          <p:cNvSpPr/>
          <p:nvPr/>
        </p:nvSpPr>
        <p:spPr>
          <a:xfrm>
            <a:off x="548640" y="1920240"/>
            <a:ext cx="5440680" cy="548640"/>
          </a:xfrm>
          <a:prstGeom prst="roundRect">
            <a:avLst>
              <a:gd name="adj" fmla="val 10000"/>
            </a:avLst>
          </a:prstGeom>
          <a:solidFill>
            <a:srgbClr val="EAF2FB"/>
          </a:solidFill>
          <a:ln w="12700">
            <a:solidFill>
              <a:srgbClr val="FFFFFF">
                <a:alpha val="0"/>
              </a:srgbClr>
            </a:solidFill>
            <a:prstDash val="solid"/>
          </a:ln>
        </p:spPr>
      </p:sp>
      <p:sp>
        <p:nvSpPr>
          <p:cNvPr id="10" name="Shape 7"/>
          <p:cNvSpPr/>
          <p:nvPr/>
        </p:nvSpPr>
        <p:spPr>
          <a:xfrm>
            <a:off x="6199632" y="1920240"/>
            <a:ext cx="5440680" cy="548640"/>
          </a:xfrm>
          <a:prstGeom prst="roundRect">
            <a:avLst>
              <a:gd name="adj" fmla="val 10000"/>
            </a:avLst>
          </a:prstGeom>
          <a:solidFill>
            <a:srgbClr val="FDF1E6"/>
          </a:solidFill>
          <a:ln w="12700">
            <a:solidFill>
              <a:srgbClr val="FFFFFF">
                <a:alpha val="0"/>
              </a:srgbClr>
            </a:solidFill>
            <a:prstDash val="solid"/>
          </a:ln>
        </p:spPr>
      </p:sp>
      <p:sp>
        <p:nvSpPr>
          <p:cNvPr id="11" name="Text 8"/>
          <p:cNvSpPr txBox="1"/>
          <p:nvPr/>
        </p:nvSpPr>
        <p:spPr>
          <a:xfrm>
            <a:off x="685800"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a:t>
            </a:r>
            <a:r>
              <a:rPr lang="en-US" sz="1600" b="1" i="1" dirty="0">
                <a:solidFill>
                  <a:schemeClr val="accent2"/>
                </a:solidFill>
              </a:rPr>
              <a:t>in</a:t>
            </a:r>
            <a:r>
              <a:rPr lang="en-US" sz="1600" i="1" dirty="0">
                <a:solidFill>
                  <a:schemeClr val="tx1"/>
                </a:solidFill>
              </a:rPr>
              <a:t> het park.</a:t>
            </a:r>
            <a:endParaRPr lang="en-US" sz="1600" dirty="0"/>
          </a:p>
          <a:p>
            <a:pPr algn="l" indent="0" marL="0">
              <a:buNone/>
            </a:pPr>
            <a:r>
              <a:rPr lang="en-US" sz="1600" dirty="0">
                <a:solidFill>
                  <a:schemeClr val="tx1"/>
                </a:solidFill>
              </a:rPr>
              <a:t>il se promène dans le parc</a:t>
            </a:r>
            <a:endParaRPr lang="en-US" sz="1600" dirty="0"/>
          </a:p>
        </p:txBody>
      </p:sp>
      <p:sp>
        <p:nvSpPr>
          <p:cNvPr id="12" name="Text 9"/>
          <p:cNvSpPr txBox="1"/>
          <p:nvPr/>
        </p:nvSpPr>
        <p:spPr>
          <a:xfrm>
            <a:off x="6336792"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het park </a:t>
            </a:r>
            <a:r>
              <a:rPr lang="en-US" sz="1600" b="1" i="1" dirty="0">
                <a:solidFill>
                  <a:schemeClr val="accent1"/>
                </a:solidFill>
              </a:rPr>
              <a:t>in</a:t>
            </a:r>
            <a:r>
              <a:rPr lang="en-US" sz="1600" i="1" dirty="0">
                <a:solidFill>
                  <a:schemeClr val="tx1"/>
                </a:solidFill>
              </a:rPr>
              <a:t>.</a:t>
            </a:r>
            <a:endParaRPr lang="en-US" sz="1600" dirty="0"/>
          </a:p>
          <a:p>
            <a:pPr algn="l" indent="0" marL="0">
              <a:buNone/>
            </a:pPr>
            <a:r>
              <a:rPr lang="en-US" sz="1600" dirty="0">
                <a:solidFill>
                  <a:schemeClr val="tx1"/>
                </a:solidFill>
              </a:rPr>
              <a:t>il entre dans le parc</a:t>
            </a:r>
            <a:endParaRPr lang="en-US" sz="1600" dirty="0"/>
          </a:p>
        </p:txBody>
      </p:sp>
      <p:sp>
        <p:nvSpPr>
          <p:cNvPr id="13" name="Shape 10"/>
          <p:cNvSpPr/>
          <p:nvPr/>
        </p:nvSpPr>
        <p:spPr>
          <a:xfrm>
            <a:off x="548640"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4" name="Shape 11"/>
          <p:cNvSpPr/>
          <p:nvPr/>
        </p:nvSpPr>
        <p:spPr>
          <a:xfrm>
            <a:off x="6199632"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5" name="Text 12"/>
          <p:cNvSpPr txBox="1"/>
          <p:nvPr/>
        </p:nvSpPr>
        <p:spPr>
          <a:xfrm>
            <a:off x="685800"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a:t>
            </a:r>
            <a:r>
              <a:rPr lang="en-US" sz="1600" b="1" i="1" dirty="0">
                <a:solidFill>
                  <a:schemeClr val="accent2"/>
                </a:solidFill>
              </a:rPr>
              <a:t>in</a:t>
            </a:r>
            <a:r>
              <a:rPr lang="en-US" sz="1600" i="1" dirty="0">
                <a:solidFill>
                  <a:schemeClr val="tx1"/>
                </a:solidFill>
              </a:rPr>
              <a:t> de rivier.</a:t>
            </a:r>
            <a:endParaRPr lang="en-US" sz="1600" dirty="0"/>
          </a:p>
          <a:p>
            <a:pPr algn="l" indent="0" marL="0">
              <a:buNone/>
            </a:pPr>
            <a:r>
              <a:rPr lang="en-US" sz="1600" dirty="0">
                <a:solidFill>
                  <a:schemeClr val="tx1"/>
                </a:solidFill>
              </a:rPr>
              <a:t>je nage dans la rivière</a:t>
            </a:r>
            <a:endParaRPr lang="en-US" sz="1600" dirty="0"/>
          </a:p>
        </p:txBody>
      </p:sp>
      <p:sp>
        <p:nvSpPr>
          <p:cNvPr id="16" name="Text 13"/>
          <p:cNvSpPr txBox="1"/>
          <p:nvPr/>
        </p:nvSpPr>
        <p:spPr>
          <a:xfrm>
            <a:off x="6336792"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de rivier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je traverse la rivière à la nage</a:t>
            </a:r>
            <a:endParaRPr lang="en-US" sz="1600" dirty="0"/>
          </a:p>
        </p:txBody>
      </p:sp>
      <p:sp>
        <p:nvSpPr>
          <p:cNvPr id="17" name="Shape 14"/>
          <p:cNvSpPr/>
          <p:nvPr/>
        </p:nvSpPr>
        <p:spPr>
          <a:xfrm>
            <a:off x="548640" y="3090672"/>
            <a:ext cx="5440680" cy="548640"/>
          </a:xfrm>
          <a:prstGeom prst="roundRect">
            <a:avLst>
              <a:gd name="adj" fmla="val 10000"/>
            </a:avLst>
          </a:prstGeom>
          <a:solidFill>
            <a:srgbClr val="EAF2FB"/>
          </a:solidFill>
          <a:ln w="12700">
            <a:solidFill>
              <a:srgbClr val="FFFFFF">
                <a:alpha val="0"/>
              </a:srgbClr>
            </a:solidFill>
            <a:prstDash val="solid"/>
          </a:ln>
        </p:spPr>
      </p:sp>
      <p:sp>
        <p:nvSpPr>
          <p:cNvPr id="18" name="Shape 15"/>
          <p:cNvSpPr/>
          <p:nvPr/>
        </p:nvSpPr>
        <p:spPr>
          <a:xfrm>
            <a:off x="6199632" y="3090672"/>
            <a:ext cx="5440680" cy="548640"/>
          </a:xfrm>
          <a:prstGeom prst="roundRect">
            <a:avLst>
              <a:gd name="adj" fmla="val 10000"/>
            </a:avLst>
          </a:prstGeom>
          <a:solidFill>
            <a:srgbClr val="FDF1E6"/>
          </a:solidFill>
          <a:ln w="12700">
            <a:solidFill>
              <a:srgbClr val="FFFFFF">
                <a:alpha val="0"/>
              </a:srgbClr>
            </a:solidFill>
            <a:prstDash val="solid"/>
          </a:ln>
        </p:spPr>
      </p:sp>
      <p:sp>
        <p:nvSpPr>
          <p:cNvPr id="19" name="Text 16"/>
          <p:cNvSpPr txBox="1"/>
          <p:nvPr/>
        </p:nvSpPr>
        <p:spPr>
          <a:xfrm>
            <a:off x="685800"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a:t>
            </a:r>
            <a:r>
              <a:rPr lang="en-US" sz="1600" b="1" i="1" dirty="0">
                <a:solidFill>
                  <a:schemeClr val="accent2"/>
                </a:solidFill>
              </a:rPr>
              <a:t>in</a:t>
            </a:r>
            <a:r>
              <a:rPr lang="en-US" sz="1600" i="1" dirty="0">
                <a:solidFill>
                  <a:schemeClr val="tx1"/>
                </a:solidFill>
              </a:rPr>
              <a:t> de stad.</a:t>
            </a:r>
            <a:endParaRPr lang="en-US" sz="1600" dirty="0"/>
          </a:p>
          <a:p>
            <a:pPr algn="l" indent="0" marL="0">
              <a:buNone/>
            </a:pPr>
            <a:r>
              <a:rPr lang="en-US" sz="1600" dirty="0">
                <a:solidFill>
                  <a:schemeClr val="tx1"/>
                </a:solidFill>
              </a:rPr>
              <a:t>elle roule en ville</a:t>
            </a:r>
            <a:endParaRPr lang="en-US" sz="1600" dirty="0"/>
          </a:p>
        </p:txBody>
      </p:sp>
      <p:sp>
        <p:nvSpPr>
          <p:cNvPr id="20" name="Text 17"/>
          <p:cNvSpPr txBox="1"/>
          <p:nvPr/>
        </p:nvSpPr>
        <p:spPr>
          <a:xfrm>
            <a:off x="6336792"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de stad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elle sort de la ville à vélo</a:t>
            </a:r>
            <a:endParaRPr lang="en-US" sz="1600" dirty="0"/>
          </a:p>
        </p:txBody>
      </p:sp>
      <p:sp>
        <p:nvSpPr>
          <p:cNvPr id="21" name="Shape 18"/>
          <p:cNvSpPr/>
          <p:nvPr/>
        </p:nvSpPr>
        <p:spPr>
          <a:xfrm>
            <a:off x="548640"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2" name="Shape 19"/>
          <p:cNvSpPr/>
          <p:nvPr/>
        </p:nvSpPr>
        <p:spPr>
          <a:xfrm>
            <a:off x="6199632"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3" name="Text 20"/>
          <p:cNvSpPr txBox="1"/>
          <p:nvPr/>
        </p:nvSpPr>
        <p:spPr>
          <a:xfrm>
            <a:off x="685800"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a:t>
            </a:r>
            <a:r>
              <a:rPr lang="en-US" sz="1600" b="1" i="1" dirty="0">
                <a:solidFill>
                  <a:schemeClr val="accent2"/>
                </a:solidFill>
              </a:rPr>
              <a:t>op</a:t>
            </a:r>
            <a:r>
              <a:rPr lang="en-US" sz="1600" i="1" dirty="0">
                <a:solidFill>
                  <a:schemeClr val="tx1"/>
                </a:solidFill>
              </a:rPr>
              <a:t> de dijk.</a:t>
            </a:r>
            <a:endParaRPr lang="en-US" sz="1600" dirty="0"/>
          </a:p>
          <a:p>
            <a:pPr algn="l" indent="0" marL="0">
              <a:buNone/>
            </a:pPr>
            <a:r>
              <a:rPr lang="en-US" sz="1600" dirty="0">
                <a:solidFill>
                  <a:schemeClr val="tx1"/>
                </a:solidFill>
              </a:rPr>
              <a:t>nous marchons sur la digue</a:t>
            </a:r>
            <a:endParaRPr lang="en-US" sz="1600" dirty="0"/>
          </a:p>
        </p:txBody>
      </p:sp>
      <p:sp>
        <p:nvSpPr>
          <p:cNvPr id="24" name="Text 21"/>
          <p:cNvSpPr txBox="1"/>
          <p:nvPr/>
        </p:nvSpPr>
        <p:spPr>
          <a:xfrm>
            <a:off x="6336792"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de dijk </a:t>
            </a:r>
            <a:r>
              <a:rPr lang="en-US" sz="1600" b="1" i="1" dirty="0">
                <a:solidFill>
                  <a:schemeClr val="accent1"/>
                </a:solidFill>
              </a:rPr>
              <a:t>op</a:t>
            </a:r>
            <a:r>
              <a:rPr lang="en-US" sz="1600" i="1" dirty="0">
                <a:solidFill>
                  <a:schemeClr val="tx1"/>
                </a:solidFill>
              </a:rPr>
              <a:t>.</a:t>
            </a:r>
            <a:endParaRPr lang="en-US" sz="1600" dirty="0"/>
          </a:p>
          <a:p>
            <a:pPr algn="l" indent="0" marL="0">
              <a:buNone/>
            </a:pPr>
            <a:r>
              <a:rPr lang="en-US" sz="1600" dirty="0">
                <a:solidFill>
                  <a:schemeClr val="tx1"/>
                </a:solidFill>
              </a:rPr>
              <a:t>nous montons sur la digue</a:t>
            </a:r>
            <a:endParaRPr lang="en-US" sz="1600" dirty="0"/>
          </a:p>
        </p:txBody>
      </p:sp>
      <p:sp>
        <p:nvSpPr>
          <p:cNvPr id="25" name="Shape 22"/>
          <p:cNvSpPr/>
          <p:nvPr/>
        </p:nvSpPr>
        <p:spPr>
          <a:xfrm>
            <a:off x="548640" y="4261104"/>
            <a:ext cx="5440680" cy="548640"/>
          </a:xfrm>
          <a:prstGeom prst="roundRect">
            <a:avLst>
              <a:gd name="adj" fmla="val 10000"/>
            </a:avLst>
          </a:prstGeom>
          <a:solidFill>
            <a:srgbClr val="EAF2FB"/>
          </a:solidFill>
          <a:ln w="12700">
            <a:solidFill>
              <a:srgbClr val="FFFFFF">
                <a:alpha val="0"/>
              </a:srgbClr>
            </a:solidFill>
            <a:prstDash val="solid"/>
          </a:ln>
        </p:spPr>
      </p:sp>
      <p:sp>
        <p:nvSpPr>
          <p:cNvPr id="26" name="Shape 23"/>
          <p:cNvSpPr/>
          <p:nvPr/>
        </p:nvSpPr>
        <p:spPr>
          <a:xfrm>
            <a:off x="6199632" y="4261104"/>
            <a:ext cx="5440680" cy="548640"/>
          </a:xfrm>
          <a:prstGeom prst="roundRect">
            <a:avLst>
              <a:gd name="adj" fmla="val 10000"/>
            </a:avLst>
          </a:prstGeom>
          <a:solidFill>
            <a:srgbClr val="FDF1E6"/>
          </a:solidFill>
          <a:ln w="12700">
            <a:solidFill>
              <a:srgbClr val="FFFFFF">
                <a:alpha val="0"/>
              </a:srgbClr>
            </a:solidFill>
            <a:prstDash val="solid"/>
          </a:ln>
        </p:spPr>
      </p:sp>
      <p:sp>
        <p:nvSpPr>
          <p:cNvPr id="27" name="Text 24"/>
          <p:cNvSpPr txBox="1"/>
          <p:nvPr/>
        </p:nvSpPr>
        <p:spPr>
          <a:xfrm>
            <a:off x="685800"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a:t>
            </a:r>
            <a:r>
              <a:rPr lang="en-US" sz="1600" b="1" i="1" dirty="0">
                <a:solidFill>
                  <a:schemeClr val="accent2"/>
                </a:solidFill>
              </a:rPr>
              <a:t>in</a:t>
            </a:r>
            <a:r>
              <a:rPr lang="en-US" sz="1600" i="1" dirty="0">
                <a:solidFill>
                  <a:schemeClr val="tx1"/>
                </a:solidFill>
              </a:rPr>
              <a:t> de tunnel.</a:t>
            </a:r>
            <a:endParaRPr lang="en-US" sz="1600" dirty="0"/>
          </a:p>
          <a:p>
            <a:pPr algn="l" indent="0" marL="0">
              <a:buNone/>
            </a:pPr>
            <a:r>
              <a:rPr lang="en-US" sz="1600" dirty="0">
                <a:solidFill>
                  <a:schemeClr val="tx1"/>
                </a:solidFill>
              </a:rPr>
              <a:t>il roule dans le tunnel</a:t>
            </a:r>
            <a:endParaRPr lang="en-US" sz="1600" dirty="0"/>
          </a:p>
        </p:txBody>
      </p:sp>
      <p:sp>
        <p:nvSpPr>
          <p:cNvPr id="28" name="Text 25"/>
          <p:cNvSpPr txBox="1"/>
          <p:nvPr/>
        </p:nvSpPr>
        <p:spPr>
          <a:xfrm>
            <a:off x="6336792"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de tunnel </a:t>
            </a:r>
            <a:r>
              <a:rPr lang="en-US" sz="1600" b="1" i="1" dirty="0">
                <a:solidFill>
                  <a:schemeClr val="accent1"/>
                </a:solidFill>
              </a:rPr>
              <a:t>door</a:t>
            </a:r>
            <a:r>
              <a:rPr lang="en-US" sz="1600" i="1" dirty="0">
                <a:solidFill>
                  <a:schemeClr val="tx1"/>
                </a:solidFill>
              </a:rPr>
              <a:t>.</a:t>
            </a:r>
            <a:endParaRPr lang="en-US" sz="1600" dirty="0"/>
          </a:p>
          <a:p>
            <a:pPr algn="l" indent="0" marL="0">
              <a:buNone/>
            </a:pPr>
            <a:r>
              <a:rPr lang="en-US" sz="1600" dirty="0">
                <a:solidFill>
                  <a:schemeClr val="tx1"/>
                </a:solidFill>
              </a:rPr>
              <a:t>il traverse le tunnel</a:t>
            </a:r>
            <a:endParaRPr lang="en-US" sz="1600" dirty="0"/>
          </a:p>
        </p:txBody>
      </p:sp>
      <p:sp>
        <p:nvSpPr>
          <p:cNvPr id="29" name="Shape 26"/>
          <p:cNvSpPr/>
          <p:nvPr/>
        </p:nvSpPr>
        <p:spPr>
          <a:xfrm>
            <a:off x="548640"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0" name="Shape 27"/>
          <p:cNvSpPr/>
          <p:nvPr/>
        </p:nvSpPr>
        <p:spPr>
          <a:xfrm>
            <a:off x="6199632"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1" name="Text 28"/>
          <p:cNvSpPr txBox="1"/>
          <p:nvPr/>
        </p:nvSpPr>
        <p:spPr>
          <a:xfrm>
            <a:off x="685800"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a:t>
            </a:r>
            <a:r>
              <a:rPr lang="en-US" sz="1600" b="1" i="1" dirty="0">
                <a:solidFill>
                  <a:schemeClr val="accent2"/>
                </a:solidFill>
              </a:rPr>
              <a:t>in</a:t>
            </a:r>
            <a:r>
              <a:rPr lang="en-US" sz="1600" i="1" dirty="0">
                <a:solidFill>
                  <a:schemeClr val="tx1"/>
                </a:solidFill>
              </a:rPr>
              <a:t> de gang.</a:t>
            </a:r>
            <a:endParaRPr lang="en-US" sz="1600" dirty="0"/>
          </a:p>
          <a:p>
            <a:pPr algn="l" indent="0" marL="0">
              <a:buNone/>
            </a:pPr>
            <a:r>
              <a:rPr lang="en-US" sz="1600" dirty="0">
                <a:solidFill>
                  <a:schemeClr val="tx1"/>
                </a:solidFill>
              </a:rPr>
              <a:t>ils courent dans le couloir</a:t>
            </a:r>
            <a:endParaRPr lang="en-US" sz="1600" dirty="0"/>
          </a:p>
        </p:txBody>
      </p:sp>
      <p:sp>
        <p:nvSpPr>
          <p:cNvPr id="32" name="Text 29"/>
          <p:cNvSpPr txBox="1"/>
          <p:nvPr/>
        </p:nvSpPr>
        <p:spPr>
          <a:xfrm>
            <a:off x="6336792"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de gang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ils sortent du couloir en courant</a:t>
            </a:r>
            <a:endParaRPr lang="en-US" sz="1600" dirty="0"/>
          </a:p>
        </p:txBody>
      </p:sp>
      <p:sp>
        <p:nvSpPr>
          <p:cNvPr id="33" name="Shape 30"/>
          <p:cNvSpPr/>
          <p:nvPr/>
        </p:nvSpPr>
        <p:spPr>
          <a:xfrm>
            <a:off x="548640" y="5431536"/>
            <a:ext cx="5440680" cy="548640"/>
          </a:xfrm>
          <a:prstGeom prst="roundRect">
            <a:avLst>
              <a:gd name="adj" fmla="val 10000"/>
            </a:avLst>
          </a:prstGeom>
          <a:solidFill>
            <a:srgbClr val="EAF2FB"/>
          </a:solidFill>
          <a:ln w="12700">
            <a:solidFill>
              <a:srgbClr val="FFFFFF">
                <a:alpha val="0"/>
              </a:srgbClr>
            </a:solidFill>
            <a:prstDash val="solid"/>
          </a:ln>
        </p:spPr>
      </p:sp>
      <p:sp>
        <p:nvSpPr>
          <p:cNvPr id="34" name="Shape 31"/>
          <p:cNvSpPr/>
          <p:nvPr/>
        </p:nvSpPr>
        <p:spPr>
          <a:xfrm>
            <a:off x="6199632" y="5431536"/>
            <a:ext cx="5440680" cy="548640"/>
          </a:xfrm>
          <a:prstGeom prst="roundRect">
            <a:avLst>
              <a:gd name="adj" fmla="val 10000"/>
            </a:avLst>
          </a:prstGeom>
          <a:solidFill>
            <a:srgbClr val="FDF1E6"/>
          </a:solidFill>
          <a:ln w="12700">
            <a:solidFill>
              <a:srgbClr val="FFFFFF">
                <a:alpha val="0"/>
              </a:srgbClr>
            </a:solidFill>
            <a:prstDash val="solid"/>
          </a:ln>
        </p:spPr>
      </p:sp>
      <p:sp>
        <p:nvSpPr>
          <p:cNvPr id="35" name="Text 32"/>
          <p:cNvSpPr txBox="1"/>
          <p:nvPr/>
        </p:nvSpPr>
        <p:spPr>
          <a:xfrm>
            <a:off x="685800"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a:t>
            </a:r>
            <a:r>
              <a:rPr lang="en-US" sz="1600" b="1" i="1" dirty="0">
                <a:solidFill>
                  <a:schemeClr val="accent2"/>
                </a:solidFill>
              </a:rPr>
              <a:t>op</a:t>
            </a:r>
            <a:r>
              <a:rPr lang="en-US" sz="1600" i="1" dirty="0">
                <a:solidFill>
                  <a:schemeClr val="tx1"/>
                </a:solidFill>
              </a:rPr>
              <a:t> de brug.</a:t>
            </a:r>
            <a:endParaRPr lang="en-US" sz="1600" dirty="0"/>
          </a:p>
          <a:p>
            <a:pPr algn="l" indent="0" marL="0">
              <a:buNone/>
            </a:pPr>
            <a:r>
              <a:rPr lang="en-US" sz="1600" dirty="0">
                <a:solidFill>
                  <a:schemeClr val="tx1"/>
                </a:solidFill>
              </a:rPr>
              <a:t>nous marchons sur le pont</a:t>
            </a:r>
            <a:endParaRPr lang="en-US" sz="1600" dirty="0"/>
          </a:p>
        </p:txBody>
      </p:sp>
      <p:sp>
        <p:nvSpPr>
          <p:cNvPr id="36" name="Text 33"/>
          <p:cNvSpPr txBox="1"/>
          <p:nvPr/>
        </p:nvSpPr>
        <p:spPr>
          <a:xfrm>
            <a:off x="6336792"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de brug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nous traversons le pont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bureau : le trajet de Karim</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2976372"/>
            <a:ext cx="1042416" cy="2555748"/>
          </a:xfrm>
          <a:prstGeom prst="roundRect">
            <a:avLst>
              <a:gd name="adj" fmla="val 3509"/>
            </a:avLst>
          </a:prstGeom>
          <a:solidFill>
            <a:srgbClr val="E6EBF2"/>
          </a:solidFill>
          <a:ln w="12700">
            <a:solidFill>
              <a:srgbClr val="4A5A70"/>
            </a:solidFill>
            <a:prstDash val="dash"/>
          </a:ln>
        </p:spPr>
      </p:sp>
      <p:pic>
        <p:nvPicPr>
          <p:cNvPr id="6" name="Image 0" descr="p button">    </p:cNvPr>
          <p:cNvPicPr>
            <a:picLocks noChangeAspect="1"/>
          </p:cNvPicPr>
          <p:nvPr/>
        </p:nvPicPr>
        <p:blipFill>
          <a:blip r:embed="rId1"/>
          <a:stretch>
            <a:fillRect/>
          </a:stretch>
        </p:blipFill>
        <p:spPr>
          <a:xfrm>
            <a:off x="886968" y="3251606"/>
            <a:ext cx="365760" cy="365760"/>
          </a:xfrm>
          <a:prstGeom prst="rect">
            <a:avLst/>
          </a:prstGeom>
        </p:spPr>
      </p:pic>
      <p:sp>
        <p:nvSpPr>
          <p:cNvPr id="7" name="Text 3"/>
          <p:cNvSpPr txBox="1"/>
          <p:nvPr/>
        </p:nvSpPr>
        <p:spPr>
          <a:xfrm>
            <a:off x="548640" y="3635654"/>
            <a:ext cx="1042416" cy="457200"/>
          </a:xfrm>
          <a:prstGeom prst="rect">
            <a:avLst/>
          </a:prstGeom>
          <a:noFill/>
          <a:ln/>
        </p:spPr>
        <p:txBody>
          <a:bodyPr wrap="square" lIns="0" tIns="0" rIns="0" bIns="0" rtlCol="0" anchor="t"/>
          <a:lstStyle/>
          <a:p>
            <a:pPr algn="ctr" indent="0" marL="0">
              <a:buNone/>
            </a:pPr>
            <a:r>
              <a:rPr lang="en-US" sz="1000" i="1" dirty="0">
                <a:solidFill>
                  <a:schemeClr val="accent5"/>
                </a:solidFill>
              </a:rPr>
              <a:t>de parking</a:t>
            </a:r>
            <a:endParaRPr lang="en-US" sz="1000" dirty="0"/>
          </a:p>
        </p:txBody>
      </p:sp>
      <p:sp>
        <p:nvSpPr>
          <p:cNvPr id="8" name="Shape 4"/>
          <p:cNvSpPr/>
          <p:nvPr/>
        </p:nvSpPr>
        <p:spPr>
          <a:xfrm>
            <a:off x="1700784" y="1600200"/>
            <a:ext cx="5797296" cy="3931920"/>
          </a:xfrm>
          <a:prstGeom prst="rect">
            <a:avLst/>
          </a:prstGeom>
          <a:solidFill>
            <a:srgbClr val="FFFFFF"/>
          </a:solidFill>
          <a:ln w="31750">
            <a:solidFill>
              <a:srgbClr val="17375E"/>
            </a:solidFill>
            <a:prstDash val="solid"/>
          </a:ln>
        </p:spPr>
      </p:sp>
      <p:sp>
        <p:nvSpPr>
          <p:cNvPr id="9" name="Shape 5"/>
          <p:cNvSpPr/>
          <p:nvPr/>
        </p:nvSpPr>
        <p:spPr>
          <a:xfrm>
            <a:off x="2686324" y="3094330"/>
            <a:ext cx="4811756" cy="943661"/>
          </a:xfrm>
          <a:prstGeom prst="rect">
            <a:avLst/>
          </a:prstGeom>
          <a:solidFill>
            <a:srgbClr val="EEF1F6"/>
          </a:solidFill>
          <a:ln w="12700">
            <a:solidFill>
              <a:srgbClr val="FFFFFF">
                <a:alpha val="0"/>
              </a:srgbClr>
            </a:solidFill>
            <a:prstDash val="solid"/>
          </a:ln>
        </p:spPr>
      </p:sp>
      <p:sp>
        <p:nvSpPr>
          <p:cNvPr id="10" name="Text 6"/>
          <p:cNvSpPr txBox="1"/>
          <p:nvPr/>
        </p:nvSpPr>
        <p:spPr>
          <a:xfrm>
            <a:off x="4077675" y="3094330"/>
            <a:ext cx="1391351" cy="943661"/>
          </a:xfrm>
          <a:prstGeom prst="rect">
            <a:avLst/>
          </a:prstGeom>
          <a:noFill/>
          <a:ln/>
        </p:spPr>
        <p:txBody>
          <a:bodyPr wrap="square" lIns="0" tIns="0" rIns="0" bIns="0" rtlCol="0" anchor="ctr"/>
          <a:lstStyle/>
          <a:p>
            <a:pPr algn="ctr" indent="0" marL="0">
              <a:buNone/>
            </a:pPr>
            <a:r>
              <a:rPr lang="en-US" sz="1000" i="1" dirty="0">
                <a:solidFill>
                  <a:schemeClr val="accent5"/>
                </a:solidFill>
              </a:rPr>
              <a:t>de gang</a:t>
            </a:r>
            <a:endParaRPr lang="en-US" sz="1000" dirty="0"/>
          </a:p>
        </p:txBody>
      </p:sp>
      <p:sp>
        <p:nvSpPr>
          <p:cNvPr id="11" name="Shape 7"/>
          <p:cNvSpPr/>
          <p:nvPr/>
        </p:nvSpPr>
        <p:spPr>
          <a:xfrm>
            <a:off x="1700784" y="1600200"/>
            <a:ext cx="985540" cy="3931920"/>
          </a:xfrm>
          <a:prstGeom prst="rect">
            <a:avLst/>
          </a:prstGeom>
          <a:solidFill>
            <a:srgbClr val="FDF1E6"/>
          </a:solidFill>
          <a:ln w="12700">
            <a:solidFill>
              <a:srgbClr val="FFFFFF">
                <a:alpha val="0"/>
              </a:srgbClr>
            </a:solidFill>
            <a:prstDash val="solid"/>
          </a:ln>
        </p:spPr>
      </p:sp>
      <p:sp>
        <p:nvSpPr>
          <p:cNvPr id="12" name="Shape 8"/>
          <p:cNvSpPr/>
          <p:nvPr/>
        </p:nvSpPr>
        <p:spPr>
          <a:xfrm>
            <a:off x="1878181" y="2575316"/>
            <a:ext cx="216819" cy="1981688"/>
          </a:xfrm>
          <a:prstGeom prst="roundRect">
            <a:avLst>
              <a:gd name="adj" fmla="val 16869"/>
            </a:avLst>
          </a:prstGeom>
          <a:solidFill>
            <a:schemeClr val="accent1">
              <a:alpha val="65000"/>
            </a:schemeClr>
          </a:solidFill>
          <a:ln w="12700">
            <a:solidFill>
              <a:srgbClr val="FFFFFF">
                <a:alpha val="0"/>
              </a:srgbClr>
            </a:solidFill>
            <a:prstDash val="solid"/>
          </a:ln>
        </p:spPr>
      </p:sp>
      <p:sp>
        <p:nvSpPr>
          <p:cNvPr id="13" name="Text 9"/>
          <p:cNvSpPr txBox="1"/>
          <p:nvPr/>
        </p:nvSpPr>
        <p:spPr>
          <a:xfrm>
            <a:off x="1737360" y="1655064"/>
            <a:ext cx="912388" cy="1195304"/>
          </a:xfrm>
          <a:prstGeom prst="rect">
            <a:avLst/>
          </a:prstGeom>
          <a:noFill/>
          <a:ln/>
        </p:spPr>
        <p:txBody>
          <a:bodyPr wrap="square" lIns="0" tIns="0" rIns="0" bIns="0" rtlCol="0" anchor="t"/>
          <a:lstStyle/>
          <a:p>
            <a:pPr algn="ctr" indent="0" marL="0">
              <a:buNone/>
            </a:pPr>
            <a:r>
              <a:rPr lang="en-US" sz="1000" b="1" dirty="0">
                <a:solidFill>
                  <a:schemeClr val="accent1"/>
                </a:solidFill>
              </a:rPr>
              <a:t>het onthaal</a:t>
            </a:r>
            <a:endParaRPr lang="en-US" sz="1000" dirty="0"/>
          </a:p>
        </p:txBody>
      </p:sp>
      <p:sp>
        <p:nvSpPr>
          <p:cNvPr id="14" name="Shape 10"/>
          <p:cNvSpPr/>
          <p:nvPr/>
        </p:nvSpPr>
        <p:spPr>
          <a:xfrm>
            <a:off x="1655064" y="3235879"/>
            <a:ext cx="91440" cy="660563"/>
          </a:xfrm>
          <a:prstGeom prst="rect">
            <a:avLst/>
          </a:prstGeom>
          <a:solidFill>
            <a:srgbClr val="FFFFFF"/>
          </a:solidFill>
          <a:ln w="12700">
            <a:solidFill>
              <a:srgbClr val="FFFFFF">
                <a:alpha val="0"/>
              </a:srgbClr>
            </a:solidFill>
            <a:prstDash val="solid"/>
          </a:ln>
        </p:spPr>
      </p:sp>
      <p:sp>
        <p:nvSpPr>
          <p:cNvPr id="15" name="Shape 11"/>
          <p:cNvSpPr/>
          <p:nvPr/>
        </p:nvSpPr>
        <p:spPr>
          <a:xfrm>
            <a:off x="2686324" y="1600200"/>
            <a:ext cx="1391351" cy="1494130"/>
          </a:xfrm>
          <a:prstGeom prst="rect">
            <a:avLst/>
          </a:prstGeom>
          <a:solidFill>
            <a:srgbClr val="FFFFFF"/>
          </a:solidFill>
          <a:ln w="19050">
            <a:solidFill>
              <a:srgbClr val="17375E"/>
            </a:solidFill>
            <a:prstDash val="solid"/>
          </a:ln>
        </p:spPr>
      </p:sp>
      <p:sp>
        <p:nvSpPr>
          <p:cNvPr id="16" name="Shape 12"/>
          <p:cNvSpPr/>
          <p:nvPr/>
        </p:nvSpPr>
        <p:spPr>
          <a:xfrm>
            <a:off x="3173297" y="3057754"/>
            <a:ext cx="417405" cy="73152"/>
          </a:xfrm>
          <a:prstGeom prst="rect">
            <a:avLst/>
          </a:prstGeom>
          <a:solidFill>
            <a:srgbClr val="EEF1F6"/>
          </a:solidFill>
          <a:ln w="12700">
            <a:solidFill>
              <a:srgbClr val="FFFFFF">
                <a:alpha val="0"/>
              </a:srgbClr>
            </a:solidFill>
            <a:prstDash val="solid"/>
          </a:ln>
        </p:spPr>
      </p:sp>
      <p:pic>
        <p:nvPicPr>
          <p:cNvPr id="17" name="Image 1" descr="busts in silhouette">    </p:cNvPr>
          <p:cNvPicPr>
            <a:picLocks noChangeAspect="1"/>
          </p:cNvPicPr>
          <p:nvPr/>
        </p:nvPicPr>
        <p:blipFill>
          <a:blip r:embed="rId2"/>
          <a:stretch>
            <a:fillRect/>
          </a:stretch>
        </p:blipFill>
        <p:spPr>
          <a:xfrm>
            <a:off x="3208264" y="1691640"/>
            <a:ext cx="347472" cy="347472"/>
          </a:xfrm>
          <a:prstGeom prst="rect">
            <a:avLst/>
          </a:prstGeom>
        </p:spPr>
      </p:pic>
      <p:sp>
        <p:nvSpPr>
          <p:cNvPr id="18" name="Text 13"/>
          <p:cNvSpPr txBox="1"/>
          <p:nvPr/>
        </p:nvSpPr>
        <p:spPr>
          <a:xfrm>
            <a:off x="2722900"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vergaderzaal</a:t>
            </a:r>
            <a:endParaRPr lang="en-US" sz="1100" dirty="0"/>
          </a:p>
        </p:txBody>
      </p:sp>
      <p:sp>
        <p:nvSpPr>
          <p:cNvPr id="19" name="Shape 14"/>
          <p:cNvSpPr/>
          <p:nvPr/>
        </p:nvSpPr>
        <p:spPr>
          <a:xfrm>
            <a:off x="4077675" y="1600200"/>
            <a:ext cx="1391351" cy="1494130"/>
          </a:xfrm>
          <a:prstGeom prst="rect">
            <a:avLst/>
          </a:prstGeom>
          <a:solidFill>
            <a:srgbClr val="FFFFFF"/>
          </a:solidFill>
          <a:ln w="19050">
            <a:solidFill>
              <a:srgbClr val="17375E"/>
            </a:solidFill>
            <a:prstDash val="solid"/>
          </a:ln>
        </p:spPr>
      </p:sp>
      <p:sp>
        <p:nvSpPr>
          <p:cNvPr id="20" name="Shape 15"/>
          <p:cNvSpPr/>
          <p:nvPr/>
        </p:nvSpPr>
        <p:spPr>
          <a:xfrm>
            <a:off x="4564648" y="3057754"/>
            <a:ext cx="417405" cy="73152"/>
          </a:xfrm>
          <a:prstGeom prst="rect">
            <a:avLst/>
          </a:prstGeom>
          <a:solidFill>
            <a:srgbClr val="EEF1F6"/>
          </a:solidFill>
          <a:ln w="12700">
            <a:solidFill>
              <a:srgbClr val="FFFFFF">
                <a:alpha val="0"/>
              </a:srgbClr>
            </a:solidFill>
            <a:prstDash val="solid"/>
          </a:ln>
        </p:spPr>
      </p:sp>
      <p:pic>
        <p:nvPicPr>
          <p:cNvPr id="21" name="Image 2" descr="printer">    </p:cNvPr>
          <p:cNvPicPr>
            <a:picLocks noChangeAspect="1"/>
          </p:cNvPicPr>
          <p:nvPr/>
        </p:nvPicPr>
        <p:blipFill>
          <a:blip r:embed="rId3"/>
          <a:stretch>
            <a:fillRect/>
          </a:stretch>
        </p:blipFill>
        <p:spPr>
          <a:xfrm>
            <a:off x="4599615" y="1691640"/>
            <a:ext cx="347472" cy="347472"/>
          </a:xfrm>
          <a:prstGeom prst="rect">
            <a:avLst/>
          </a:prstGeom>
        </p:spPr>
      </p:pic>
      <p:sp>
        <p:nvSpPr>
          <p:cNvPr id="22" name="Text 16"/>
          <p:cNvSpPr txBox="1"/>
          <p:nvPr/>
        </p:nvSpPr>
        <p:spPr>
          <a:xfrm>
            <a:off x="4114251"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kopieerlokaal</a:t>
            </a:r>
            <a:endParaRPr lang="en-US" sz="1100" dirty="0"/>
          </a:p>
        </p:txBody>
      </p:sp>
      <p:sp>
        <p:nvSpPr>
          <p:cNvPr id="23" name="Shape 17"/>
          <p:cNvSpPr/>
          <p:nvPr/>
        </p:nvSpPr>
        <p:spPr>
          <a:xfrm>
            <a:off x="5469026" y="1600200"/>
            <a:ext cx="1391351" cy="1494130"/>
          </a:xfrm>
          <a:prstGeom prst="rect">
            <a:avLst/>
          </a:prstGeom>
          <a:solidFill>
            <a:srgbClr val="FFFFFF"/>
          </a:solidFill>
          <a:ln w="19050">
            <a:solidFill>
              <a:srgbClr val="17375E"/>
            </a:solidFill>
            <a:prstDash val="solid"/>
          </a:ln>
        </p:spPr>
      </p:sp>
      <p:sp>
        <p:nvSpPr>
          <p:cNvPr id="24" name="Shape 18"/>
          <p:cNvSpPr/>
          <p:nvPr/>
        </p:nvSpPr>
        <p:spPr>
          <a:xfrm>
            <a:off x="5955999" y="3057754"/>
            <a:ext cx="417405" cy="73152"/>
          </a:xfrm>
          <a:prstGeom prst="rect">
            <a:avLst/>
          </a:prstGeom>
          <a:solidFill>
            <a:srgbClr val="EEF1F6"/>
          </a:solidFill>
          <a:ln w="12700">
            <a:solidFill>
              <a:srgbClr val="FFFFFF">
                <a:alpha val="0"/>
              </a:srgbClr>
            </a:solidFill>
            <a:prstDash val="solid"/>
          </a:ln>
        </p:spPr>
      </p:sp>
      <p:pic>
        <p:nvPicPr>
          <p:cNvPr id="25" name="Image 3" descr="toilet">    </p:cNvPr>
          <p:cNvPicPr>
            <a:picLocks noChangeAspect="1"/>
          </p:cNvPicPr>
          <p:nvPr/>
        </p:nvPicPr>
        <p:blipFill>
          <a:blip r:embed="rId4"/>
          <a:stretch>
            <a:fillRect/>
          </a:stretch>
        </p:blipFill>
        <p:spPr>
          <a:xfrm>
            <a:off x="5990966" y="1691640"/>
            <a:ext cx="347472" cy="347472"/>
          </a:xfrm>
          <a:prstGeom prst="rect">
            <a:avLst/>
          </a:prstGeom>
        </p:spPr>
      </p:pic>
      <p:sp>
        <p:nvSpPr>
          <p:cNvPr id="26" name="Text 19"/>
          <p:cNvSpPr txBox="1"/>
          <p:nvPr/>
        </p:nvSpPr>
        <p:spPr>
          <a:xfrm>
            <a:off x="5505602"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toiletten</a:t>
            </a:r>
            <a:endParaRPr lang="en-US" sz="1100" dirty="0"/>
          </a:p>
        </p:txBody>
      </p:sp>
      <p:sp>
        <p:nvSpPr>
          <p:cNvPr id="27" name="Shape 20"/>
          <p:cNvSpPr/>
          <p:nvPr/>
        </p:nvSpPr>
        <p:spPr>
          <a:xfrm>
            <a:off x="2686324" y="4037990"/>
            <a:ext cx="1391351" cy="1494130"/>
          </a:xfrm>
          <a:prstGeom prst="rect">
            <a:avLst/>
          </a:prstGeom>
          <a:solidFill>
            <a:srgbClr val="FFFFFF"/>
          </a:solidFill>
          <a:ln w="19050">
            <a:solidFill>
              <a:srgbClr val="17375E"/>
            </a:solidFill>
            <a:prstDash val="solid"/>
          </a:ln>
        </p:spPr>
      </p:sp>
      <p:sp>
        <p:nvSpPr>
          <p:cNvPr id="28" name="Shape 21"/>
          <p:cNvSpPr/>
          <p:nvPr/>
        </p:nvSpPr>
        <p:spPr>
          <a:xfrm>
            <a:off x="3173297" y="4001414"/>
            <a:ext cx="417405" cy="73152"/>
          </a:xfrm>
          <a:prstGeom prst="rect">
            <a:avLst/>
          </a:prstGeom>
          <a:solidFill>
            <a:srgbClr val="EEF1F6"/>
          </a:solidFill>
          <a:ln w="12700">
            <a:solidFill>
              <a:srgbClr val="FFFFFF">
                <a:alpha val="0"/>
              </a:srgbClr>
            </a:solidFill>
            <a:prstDash val="solid"/>
          </a:ln>
        </p:spPr>
      </p:sp>
      <p:pic>
        <p:nvPicPr>
          <p:cNvPr id="29" name="Image 4" descr="desktop computer">    </p:cNvPr>
          <p:cNvPicPr>
            <a:picLocks noChangeAspect="1"/>
          </p:cNvPicPr>
          <p:nvPr/>
        </p:nvPicPr>
        <p:blipFill>
          <a:blip r:embed="rId5"/>
          <a:stretch>
            <a:fillRect/>
          </a:stretch>
        </p:blipFill>
        <p:spPr>
          <a:xfrm>
            <a:off x="3208264" y="5093208"/>
            <a:ext cx="347472" cy="347472"/>
          </a:xfrm>
          <a:prstGeom prst="rect">
            <a:avLst/>
          </a:prstGeom>
        </p:spPr>
      </p:pic>
      <p:sp>
        <p:nvSpPr>
          <p:cNvPr id="30" name="Text 22"/>
          <p:cNvSpPr txBox="1"/>
          <p:nvPr/>
        </p:nvSpPr>
        <p:spPr>
          <a:xfrm>
            <a:off x="2722900"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kantoor</a:t>
            </a:r>
            <a:endParaRPr lang="en-US" sz="1100" dirty="0"/>
          </a:p>
        </p:txBody>
      </p:sp>
      <p:sp>
        <p:nvSpPr>
          <p:cNvPr id="31" name="Shape 23"/>
          <p:cNvSpPr/>
          <p:nvPr/>
        </p:nvSpPr>
        <p:spPr>
          <a:xfrm>
            <a:off x="4077675" y="4037990"/>
            <a:ext cx="1391351" cy="1494130"/>
          </a:xfrm>
          <a:prstGeom prst="rect">
            <a:avLst/>
          </a:prstGeom>
          <a:solidFill>
            <a:srgbClr val="FFFFFF"/>
          </a:solidFill>
          <a:ln w="19050">
            <a:solidFill>
              <a:srgbClr val="17375E"/>
            </a:solidFill>
            <a:prstDash val="solid"/>
          </a:ln>
        </p:spPr>
      </p:sp>
      <p:sp>
        <p:nvSpPr>
          <p:cNvPr id="32" name="Shape 24"/>
          <p:cNvSpPr/>
          <p:nvPr/>
        </p:nvSpPr>
        <p:spPr>
          <a:xfrm>
            <a:off x="4564648" y="4001414"/>
            <a:ext cx="417405" cy="73152"/>
          </a:xfrm>
          <a:prstGeom prst="rect">
            <a:avLst/>
          </a:prstGeom>
          <a:solidFill>
            <a:srgbClr val="EEF1F6"/>
          </a:solidFill>
          <a:ln w="12700">
            <a:solidFill>
              <a:srgbClr val="FFFFFF">
                <a:alpha val="0"/>
              </a:srgbClr>
            </a:solidFill>
            <a:prstDash val="solid"/>
          </a:ln>
        </p:spPr>
      </p:sp>
      <p:pic>
        <p:nvPicPr>
          <p:cNvPr id="33" name="Image 5" descr="hot beverage">    </p:cNvPr>
          <p:cNvPicPr>
            <a:picLocks noChangeAspect="1"/>
          </p:cNvPicPr>
          <p:nvPr/>
        </p:nvPicPr>
        <p:blipFill>
          <a:blip r:embed="rId6"/>
          <a:stretch>
            <a:fillRect/>
          </a:stretch>
        </p:blipFill>
        <p:spPr>
          <a:xfrm>
            <a:off x="4599615" y="5093208"/>
            <a:ext cx="347472" cy="347472"/>
          </a:xfrm>
          <a:prstGeom prst="rect">
            <a:avLst/>
          </a:prstGeom>
        </p:spPr>
      </p:pic>
      <p:sp>
        <p:nvSpPr>
          <p:cNvPr id="34" name="Text 25"/>
          <p:cNvSpPr txBox="1"/>
          <p:nvPr/>
        </p:nvSpPr>
        <p:spPr>
          <a:xfrm>
            <a:off x="4114251"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keuken</a:t>
            </a:r>
            <a:endParaRPr lang="en-US" sz="1100" dirty="0"/>
          </a:p>
        </p:txBody>
      </p:sp>
      <p:sp>
        <p:nvSpPr>
          <p:cNvPr id="35" name="Shape 26"/>
          <p:cNvSpPr/>
          <p:nvPr/>
        </p:nvSpPr>
        <p:spPr>
          <a:xfrm>
            <a:off x="5469026" y="4037990"/>
            <a:ext cx="1391351" cy="1494130"/>
          </a:xfrm>
          <a:prstGeom prst="rect">
            <a:avLst/>
          </a:prstGeom>
          <a:solidFill>
            <a:srgbClr val="FFFFFF"/>
          </a:solidFill>
          <a:ln w="19050">
            <a:solidFill>
              <a:srgbClr val="17375E"/>
            </a:solidFill>
            <a:prstDash val="solid"/>
          </a:ln>
        </p:spPr>
      </p:sp>
      <p:sp>
        <p:nvSpPr>
          <p:cNvPr id="36" name="Shape 27"/>
          <p:cNvSpPr/>
          <p:nvPr/>
        </p:nvSpPr>
        <p:spPr>
          <a:xfrm>
            <a:off x="5955999" y="4001414"/>
            <a:ext cx="417405" cy="73152"/>
          </a:xfrm>
          <a:prstGeom prst="rect">
            <a:avLst/>
          </a:prstGeom>
          <a:solidFill>
            <a:srgbClr val="EEF1F6"/>
          </a:solidFill>
          <a:ln w="12700">
            <a:solidFill>
              <a:srgbClr val="FFFFFF">
                <a:alpha val="0"/>
              </a:srgbClr>
            </a:solidFill>
            <a:prstDash val="solid"/>
          </a:ln>
        </p:spPr>
      </p:sp>
      <p:pic>
        <p:nvPicPr>
          <p:cNvPr id="37" name="Image 6" descr="fork and knife with plate">    </p:cNvPr>
          <p:cNvPicPr>
            <a:picLocks noChangeAspect="1"/>
          </p:cNvPicPr>
          <p:nvPr/>
        </p:nvPicPr>
        <p:blipFill>
          <a:blip r:embed="rId7"/>
          <a:stretch>
            <a:fillRect/>
          </a:stretch>
        </p:blipFill>
        <p:spPr>
          <a:xfrm>
            <a:off x="5990966" y="5093208"/>
            <a:ext cx="347472" cy="347472"/>
          </a:xfrm>
          <a:prstGeom prst="rect">
            <a:avLst/>
          </a:prstGeom>
        </p:spPr>
      </p:pic>
      <p:sp>
        <p:nvSpPr>
          <p:cNvPr id="38" name="Text 28"/>
          <p:cNvSpPr txBox="1"/>
          <p:nvPr/>
        </p:nvSpPr>
        <p:spPr>
          <a:xfrm>
            <a:off x="5505602"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refter</a:t>
            </a:r>
            <a:endParaRPr lang="en-US" sz="1100" dirty="0"/>
          </a:p>
        </p:txBody>
      </p:sp>
      <p:sp>
        <p:nvSpPr>
          <p:cNvPr id="39" name="Shape 29"/>
          <p:cNvSpPr/>
          <p:nvPr/>
        </p:nvSpPr>
        <p:spPr>
          <a:xfrm>
            <a:off x="6860377" y="1600200"/>
            <a:ext cx="637703" cy="1965960"/>
          </a:xfrm>
          <a:prstGeom prst="rect">
            <a:avLst/>
          </a:prstGeom>
          <a:solidFill>
            <a:srgbClr val="FFFFFF"/>
          </a:solidFill>
          <a:ln w="19050">
            <a:solidFill>
              <a:srgbClr val="17375E"/>
            </a:solidFill>
            <a:prstDash val="solid"/>
          </a:ln>
        </p:spPr>
      </p:sp>
      <p:sp>
        <p:nvSpPr>
          <p:cNvPr id="40" name="Shape 30"/>
          <p:cNvSpPr/>
          <p:nvPr/>
        </p:nvSpPr>
        <p:spPr>
          <a:xfrm>
            <a:off x="6906097" y="1881051"/>
            <a:ext cx="546263" cy="914"/>
          </a:xfrm>
          <a:prstGeom prst="line">
            <a:avLst/>
          </a:prstGeom>
          <a:noFill/>
          <a:ln w="12700">
            <a:solidFill>
              <a:srgbClr val="4A5A70"/>
            </a:solidFill>
            <a:prstDash val="solid"/>
          </a:ln>
        </p:spPr>
      </p:sp>
      <p:sp>
        <p:nvSpPr>
          <p:cNvPr id="41" name="Shape 31"/>
          <p:cNvSpPr/>
          <p:nvPr/>
        </p:nvSpPr>
        <p:spPr>
          <a:xfrm>
            <a:off x="6906097" y="2161903"/>
            <a:ext cx="546263" cy="914"/>
          </a:xfrm>
          <a:prstGeom prst="line">
            <a:avLst/>
          </a:prstGeom>
          <a:noFill/>
          <a:ln w="12700">
            <a:solidFill>
              <a:srgbClr val="4A5A70"/>
            </a:solidFill>
            <a:prstDash val="solid"/>
          </a:ln>
        </p:spPr>
      </p:sp>
      <p:sp>
        <p:nvSpPr>
          <p:cNvPr id="42" name="Shape 32"/>
          <p:cNvSpPr/>
          <p:nvPr/>
        </p:nvSpPr>
        <p:spPr>
          <a:xfrm>
            <a:off x="6906097" y="2442754"/>
            <a:ext cx="546263" cy="914"/>
          </a:xfrm>
          <a:prstGeom prst="line">
            <a:avLst/>
          </a:prstGeom>
          <a:noFill/>
          <a:ln w="12700">
            <a:solidFill>
              <a:srgbClr val="4A5A70"/>
            </a:solidFill>
            <a:prstDash val="solid"/>
          </a:ln>
        </p:spPr>
      </p:sp>
      <p:sp>
        <p:nvSpPr>
          <p:cNvPr id="43" name="Shape 33"/>
          <p:cNvSpPr/>
          <p:nvPr/>
        </p:nvSpPr>
        <p:spPr>
          <a:xfrm>
            <a:off x="6906097" y="2723606"/>
            <a:ext cx="546263" cy="914"/>
          </a:xfrm>
          <a:prstGeom prst="line">
            <a:avLst/>
          </a:prstGeom>
          <a:noFill/>
          <a:ln w="12700">
            <a:solidFill>
              <a:srgbClr val="4A5A70"/>
            </a:solidFill>
            <a:prstDash val="solid"/>
          </a:ln>
        </p:spPr>
      </p:sp>
      <p:sp>
        <p:nvSpPr>
          <p:cNvPr id="44" name="Shape 34"/>
          <p:cNvSpPr/>
          <p:nvPr/>
        </p:nvSpPr>
        <p:spPr>
          <a:xfrm>
            <a:off x="6906097" y="3004457"/>
            <a:ext cx="546263" cy="914"/>
          </a:xfrm>
          <a:prstGeom prst="line">
            <a:avLst/>
          </a:prstGeom>
          <a:noFill/>
          <a:ln w="12700">
            <a:solidFill>
              <a:srgbClr val="4A5A70"/>
            </a:solidFill>
            <a:prstDash val="solid"/>
          </a:ln>
        </p:spPr>
      </p:sp>
      <p:sp>
        <p:nvSpPr>
          <p:cNvPr id="45" name="Shape 35"/>
          <p:cNvSpPr/>
          <p:nvPr/>
        </p:nvSpPr>
        <p:spPr>
          <a:xfrm>
            <a:off x="6906097" y="3285309"/>
            <a:ext cx="546263" cy="914"/>
          </a:xfrm>
          <a:prstGeom prst="line">
            <a:avLst/>
          </a:prstGeom>
          <a:noFill/>
          <a:ln w="12700">
            <a:solidFill>
              <a:srgbClr val="4A5A70"/>
            </a:solidFill>
            <a:prstDash val="solid"/>
          </a:ln>
        </p:spPr>
      </p:sp>
      <p:sp>
        <p:nvSpPr>
          <p:cNvPr id="46" name="Shape 36"/>
          <p:cNvSpPr/>
          <p:nvPr/>
        </p:nvSpPr>
        <p:spPr>
          <a:xfrm>
            <a:off x="6860377" y="3566160"/>
            <a:ext cx="637703" cy="1965960"/>
          </a:xfrm>
          <a:prstGeom prst="rect">
            <a:avLst/>
          </a:prstGeom>
          <a:solidFill>
            <a:srgbClr val="F1EBF8"/>
          </a:solidFill>
          <a:ln w="19050">
            <a:solidFill>
              <a:srgbClr val="17375E"/>
            </a:solidFill>
            <a:prstDash val="solid"/>
          </a:ln>
        </p:spPr>
      </p:sp>
      <p:pic>
        <p:nvPicPr>
          <p:cNvPr id="47" name="Image 7" descr="elevator">    </p:cNvPr>
          <p:cNvPicPr>
            <a:picLocks noChangeAspect="1"/>
          </p:cNvPicPr>
          <p:nvPr/>
        </p:nvPicPr>
        <p:blipFill>
          <a:blip r:embed="rId8"/>
          <a:stretch>
            <a:fillRect/>
          </a:stretch>
        </p:blipFill>
        <p:spPr>
          <a:xfrm>
            <a:off x="7005493" y="3657600"/>
            <a:ext cx="347472" cy="347472"/>
          </a:xfrm>
          <a:prstGeom prst="rect">
            <a:avLst/>
          </a:prstGeom>
        </p:spPr>
      </p:pic>
      <p:sp>
        <p:nvSpPr>
          <p:cNvPr id="48" name="Text 37"/>
          <p:cNvSpPr txBox="1"/>
          <p:nvPr/>
        </p:nvSpPr>
        <p:spPr>
          <a:xfrm>
            <a:off x="6860377" y="3182112"/>
            <a:ext cx="637703" cy="347472"/>
          </a:xfrm>
          <a:prstGeom prst="rect">
            <a:avLst/>
          </a:prstGeom>
          <a:noFill/>
          <a:ln/>
        </p:spPr>
        <p:txBody>
          <a:bodyPr wrap="square" lIns="0" tIns="0" rIns="0" bIns="0" rtlCol="0" anchor="ctr"/>
          <a:lstStyle/>
          <a:p>
            <a:pPr algn="ctr" indent="0" marL="0">
              <a:buNone/>
            </a:pPr>
            <a:r>
              <a:rPr lang="en-US" sz="1000" b="1" dirty="0">
                <a:solidFill>
                  <a:schemeClr val="tx2"/>
                </a:solidFill>
              </a:rPr>
              <a:t>de trap</a:t>
            </a:r>
            <a:endParaRPr lang="en-US" sz="1000" dirty="0"/>
          </a:p>
        </p:txBody>
      </p:sp>
      <p:sp>
        <p:nvSpPr>
          <p:cNvPr id="49" name="Text 38"/>
          <p:cNvSpPr txBox="1"/>
          <p:nvPr/>
        </p:nvSpPr>
        <p:spPr>
          <a:xfrm>
            <a:off x="6860377" y="5120640"/>
            <a:ext cx="637703" cy="365760"/>
          </a:xfrm>
          <a:prstGeom prst="rect">
            <a:avLst/>
          </a:prstGeom>
          <a:noFill/>
          <a:ln/>
        </p:spPr>
        <p:txBody>
          <a:bodyPr wrap="square" lIns="0" tIns="0" rIns="0" bIns="0" rtlCol="0" anchor="ctr"/>
          <a:lstStyle/>
          <a:p>
            <a:pPr algn="ctr" indent="0" marL="0">
              <a:buNone/>
            </a:pPr>
            <a:r>
              <a:rPr lang="en-US" sz="1000" b="1" dirty="0">
                <a:solidFill>
                  <a:schemeClr val="tx2"/>
                </a:solidFill>
              </a:rPr>
              <a:t>de lift</a:t>
            </a:r>
            <a:endParaRPr lang="en-US" sz="1000" dirty="0"/>
          </a:p>
        </p:txBody>
      </p:sp>
      <p:sp>
        <p:nvSpPr>
          <p:cNvPr id="50" name="Shape 39"/>
          <p:cNvSpPr/>
          <p:nvPr/>
        </p:nvSpPr>
        <p:spPr>
          <a:xfrm flipV="1">
            <a:off x="1069848" y="3566160"/>
            <a:ext cx="914" cy="1258214"/>
          </a:xfrm>
          <a:prstGeom prst="line">
            <a:avLst/>
          </a:prstGeom>
          <a:noFill/>
          <a:ln w="38100">
            <a:solidFill>
              <a:srgbClr val="D9700F"/>
            </a:solidFill>
            <a:prstDash val="dash"/>
            <a:tailEnd type="triangle"/>
          </a:ln>
        </p:spPr>
      </p:sp>
      <p:sp>
        <p:nvSpPr>
          <p:cNvPr id="51" name="Shape 40"/>
          <p:cNvSpPr/>
          <p:nvPr/>
        </p:nvSpPr>
        <p:spPr>
          <a:xfrm>
            <a:off x="1069848" y="3566160"/>
            <a:ext cx="630936" cy="914"/>
          </a:xfrm>
          <a:prstGeom prst="line">
            <a:avLst/>
          </a:prstGeom>
          <a:noFill/>
          <a:ln w="38100">
            <a:solidFill>
              <a:srgbClr val="D9700F"/>
            </a:solidFill>
            <a:prstDash val="dash"/>
            <a:tailEnd type="triangle"/>
          </a:ln>
        </p:spPr>
      </p:sp>
      <p:sp>
        <p:nvSpPr>
          <p:cNvPr id="52" name="Shape 41"/>
          <p:cNvSpPr/>
          <p:nvPr/>
        </p:nvSpPr>
        <p:spPr>
          <a:xfrm>
            <a:off x="1700784" y="3566160"/>
            <a:ext cx="591324" cy="914"/>
          </a:xfrm>
          <a:prstGeom prst="line">
            <a:avLst/>
          </a:prstGeom>
          <a:noFill/>
          <a:ln w="38100">
            <a:solidFill>
              <a:srgbClr val="D9700F"/>
            </a:solidFill>
            <a:prstDash val="dash"/>
            <a:tailEnd type="triangle"/>
          </a:ln>
        </p:spPr>
      </p:sp>
      <p:sp>
        <p:nvSpPr>
          <p:cNvPr id="53" name="Shape 42"/>
          <p:cNvSpPr/>
          <p:nvPr/>
        </p:nvSpPr>
        <p:spPr>
          <a:xfrm>
            <a:off x="2292108" y="3566160"/>
            <a:ext cx="2481243" cy="914"/>
          </a:xfrm>
          <a:prstGeom prst="line">
            <a:avLst/>
          </a:prstGeom>
          <a:noFill/>
          <a:ln w="38100">
            <a:solidFill>
              <a:srgbClr val="D9700F"/>
            </a:solidFill>
            <a:prstDash val="dash"/>
          </a:ln>
        </p:spPr>
      </p:sp>
      <p:sp>
        <p:nvSpPr>
          <p:cNvPr id="54" name="Shape 43"/>
          <p:cNvSpPr/>
          <p:nvPr/>
        </p:nvSpPr>
        <p:spPr>
          <a:xfrm>
            <a:off x="4773351" y="3566160"/>
            <a:ext cx="914" cy="453542"/>
          </a:xfrm>
          <a:prstGeom prst="line">
            <a:avLst/>
          </a:prstGeom>
          <a:noFill/>
          <a:ln w="38100">
            <a:solidFill>
              <a:srgbClr val="D9700F"/>
            </a:solidFill>
            <a:prstDash val="dash"/>
            <a:tailEnd type="triangle"/>
          </a:ln>
        </p:spPr>
      </p:sp>
      <p:sp>
        <p:nvSpPr>
          <p:cNvPr id="55" name="Shape 44"/>
          <p:cNvSpPr/>
          <p:nvPr/>
        </p:nvSpPr>
        <p:spPr>
          <a:xfrm>
            <a:off x="4773351" y="4019702"/>
            <a:ext cx="914" cy="765353"/>
          </a:xfrm>
          <a:prstGeom prst="line">
            <a:avLst/>
          </a:prstGeom>
          <a:noFill/>
          <a:ln w="38100">
            <a:solidFill>
              <a:srgbClr val="D9700F"/>
            </a:solidFill>
            <a:prstDash val="dash"/>
            <a:tailEnd type="triangle"/>
          </a:ln>
        </p:spPr>
      </p:sp>
      <p:sp>
        <p:nvSpPr>
          <p:cNvPr id="56" name="Shape 45"/>
          <p:cNvSpPr/>
          <p:nvPr/>
        </p:nvSpPr>
        <p:spPr>
          <a:xfrm flipH="1" flipV="1">
            <a:off x="3519160" y="3112618"/>
            <a:ext cx="1391351" cy="907085"/>
          </a:xfrm>
          <a:prstGeom prst="line">
            <a:avLst/>
          </a:prstGeom>
          <a:noFill/>
          <a:ln w="31750">
            <a:solidFill>
              <a:srgbClr val="B83227"/>
            </a:solidFill>
            <a:prstDash val="dash"/>
          </a:ln>
        </p:spPr>
      </p:sp>
      <p:sp>
        <p:nvSpPr>
          <p:cNvPr id="57" name="Shape 46"/>
          <p:cNvSpPr/>
          <p:nvPr/>
        </p:nvSpPr>
        <p:spPr>
          <a:xfrm flipH="1" flipV="1">
            <a:off x="3519160" y="2347265"/>
            <a:ext cx="914" cy="765353"/>
          </a:xfrm>
          <a:prstGeom prst="line">
            <a:avLst/>
          </a:prstGeom>
          <a:noFill/>
          <a:ln w="31750">
            <a:solidFill>
              <a:srgbClr val="B83227"/>
            </a:solidFill>
            <a:prstDash val="dash"/>
            <a:tailEnd type="triangle"/>
          </a:ln>
        </p:spPr>
      </p:sp>
      <p:sp>
        <p:nvSpPr>
          <p:cNvPr id="58" name="Shape 47"/>
          <p:cNvSpPr/>
          <p:nvPr/>
        </p:nvSpPr>
        <p:spPr>
          <a:xfrm>
            <a:off x="1152144" y="4632350"/>
            <a:ext cx="292608" cy="292608"/>
          </a:xfrm>
          <a:prstGeom prst="ellipse">
            <a:avLst/>
          </a:prstGeom>
          <a:solidFill>
            <a:schemeClr val="accent1"/>
          </a:solidFill>
          <a:ln w="12700">
            <a:solidFill>
              <a:srgbClr val="FFFFFF">
                <a:alpha val="0"/>
              </a:srgbClr>
            </a:solidFill>
            <a:prstDash val="solid"/>
          </a:ln>
        </p:spPr>
      </p:sp>
      <p:sp>
        <p:nvSpPr>
          <p:cNvPr id="59" name="Text 48"/>
          <p:cNvSpPr txBox="1"/>
          <p:nvPr/>
        </p:nvSpPr>
        <p:spPr>
          <a:xfrm>
            <a:off x="1152144" y="4632350"/>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60" name="Shape 49"/>
          <p:cNvSpPr/>
          <p:nvPr/>
        </p:nvSpPr>
        <p:spPr>
          <a:xfrm>
            <a:off x="1508760" y="3145536"/>
            <a:ext cx="292608" cy="292608"/>
          </a:xfrm>
          <a:prstGeom prst="ellipse">
            <a:avLst/>
          </a:prstGeom>
          <a:solidFill>
            <a:schemeClr val="accent1"/>
          </a:solidFill>
          <a:ln w="12700">
            <a:solidFill>
              <a:srgbClr val="FFFFFF">
                <a:alpha val="0"/>
              </a:srgbClr>
            </a:solidFill>
            <a:prstDash val="solid"/>
          </a:ln>
        </p:spPr>
      </p:sp>
      <p:sp>
        <p:nvSpPr>
          <p:cNvPr id="61" name="Text 50"/>
          <p:cNvSpPr txBox="1"/>
          <p:nvPr/>
        </p:nvSpPr>
        <p:spPr>
          <a:xfrm>
            <a:off x="15087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62" name="Shape 51"/>
          <p:cNvSpPr/>
          <p:nvPr/>
        </p:nvSpPr>
        <p:spPr>
          <a:xfrm>
            <a:off x="2145804" y="3694176"/>
            <a:ext cx="292608" cy="292608"/>
          </a:xfrm>
          <a:prstGeom prst="ellipse">
            <a:avLst/>
          </a:prstGeom>
          <a:solidFill>
            <a:schemeClr val="accent1"/>
          </a:solidFill>
          <a:ln w="12700">
            <a:solidFill>
              <a:srgbClr val="FFFFFF">
                <a:alpha val="0"/>
              </a:srgbClr>
            </a:solidFill>
            <a:prstDash val="solid"/>
          </a:ln>
        </p:spPr>
      </p:sp>
      <p:sp>
        <p:nvSpPr>
          <p:cNvPr id="63" name="Text 52"/>
          <p:cNvSpPr txBox="1"/>
          <p:nvPr/>
        </p:nvSpPr>
        <p:spPr>
          <a:xfrm>
            <a:off x="2145804" y="369417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64" name="Shape 53"/>
          <p:cNvSpPr/>
          <p:nvPr/>
        </p:nvSpPr>
        <p:spPr>
          <a:xfrm>
            <a:off x="2860060" y="3145536"/>
            <a:ext cx="292608" cy="292608"/>
          </a:xfrm>
          <a:prstGeom prst="ellipse">
            <a:avLst/>
          </a:prstGeom>
          <a:solidFill>
            <a:schemeClr val="accent1"/>
          </a:solidFill>
          <a:ln w="12700">
            <a:solidFill>
              <a:srgbClr val="FFFFFF">
                <a:alpha val="0"/>
              </a:srgbClr>
            </a:solidFill>
            <a:prstDash val="solid"/>
          </a:ln>
        </p:spPr>
      </p:sp>
      <p:sp>
        <p:nvSpPr>
          <p:cNvPr id="65" name="Text 54"/>
          <p:cNvSpPr txBox="1"/>
          <p:nvPr/>
        </p:nvSpPr>
        <p:spPr>
          <a:xfrm>
            <a:off x="28600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66" name="Shape 55"/>
          <p:cNvSpPr/>
          <p:nvPr/>
        </p:nvSpPr>
        <p:spPr>
          <a:xfrm>
            <a:off x="4261287" y="4867351"/>
            <a:ext cx="292608" cy="292608"/>
          </a:xfrm>
          <a:prstGeom prst="ellipse">
            <a:avLst/>
          </a:prstGeom>
          <a:solidFill>
            <a:schemeClr val="accent1"/>
          </a:solidFill>
          <a:ln w="12700">
            <a:solidFill>
              <a:srgbClr val="FFFFFF">
                <a:alpha val="0"/>
              </a:srgbClr>
            </a:solidFill>
            <a:prstDash val="solid"/>
          </a:ln>
        </p:spPr>
      </p:sp>
      <p:sp>
        <p:nvSpPr>
          <p:cNvPr id="67" name="Text 56"/>
          <p:cNvSpPr txBox="1"/>
          <p:nvPr/>
        </p:nvSpPr>
        <p:spPr>
          <a:xfrm>
            <a:off x="4261287" y="4867351"/>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68" name="Shape 57"/>
          <p:cNvSpPr/>
          <p:nvPr/>
        </p:nvSpPr>
        <p:spPr>
          <a:xfrm>
            <a:off x="3730203" y="1682496"/>
            <a:ext cx="292608" cy="292608"/>
          </a:xfrm>
          <a:prstGeom prst="ellipse">
            <a:avLst/>
          </a:prstGeom>
          <a:solidFill>
            <a:schemeClr val="accent6"/>
          </a:solidFill>
          <a:ln w="12700">
            <a:solidFill>
              <a:srgbClr val="FFFFFF">
                <a:alpha val="0"/>
              </a:srgbClr>
            </a:solidFill>
            <a:prstDash val="solid"/>
          </a:ln>
        </p:spPr>
      </p:sp>
      <p:sp>
        <p:nvSpPr>
          <p:cNvPr id="69" name="Text 58"/>
          <p:cNvSpPr txBox="1"/>
          <p:nvPr/>
        </p:nvSpPr>
        <p:spPr>
          <a:xfrm>
            <a:off x="3730203" y="168249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70" name="Shape 59"/>
          <p:cNvSpPr/>
          <p:nvPr/>
        </p:nvSpPr>
        <p:spPr>
          <a:xfrm>
            <a:off x="7772400" y="1728216"/>
            <a:ext cx="347472" cy="347472"/>
          </a:xfrm>
          <a:prstGeom prst="ellipse">
            <a:avLst/>
          </a:prstGeom>
          <a:solidFill>
            <a:schemeClr val="accent1"/>
          </a:solidFill>
          <a:ln w="12700">
            <a:solidFill>
              <a:srgbClr val="FFFFFF">
                <a:alpha val="0"/>
              </a:srgbClr>
            </a:solidFill>
            <a:prstDash val="solid"/>
          </a:ln>
        </p:spPr>
      </p:sp>
      <p:sp>
        <p:nvSpPr>
          <p:cNvPr id="71" name="Text 60"/>
          <p:cNvSpPr txBox="1"/>
          <p:nvPr/>
        </p:nvSpPr>
        <p:spPr>
          <a:xfrm>
            <a:off x="7772400" y="17282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2" name="Text 61"/>
          <p:cNvSpPr txBox="1"/>
          <p:nvPr/>
        </p:nvSpPr>
        <p:spPr>
          <a:xfrm>
            <a:off x="8229600" y="160020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Karim rijdt de parking </a:t>
            </a:r>
            <a:r>
              <a:rPr lang="en-US" sz="1600" b="1" i="1" dirty="0">
                <a:solidFill>
                  <a:schemeClr val="accent1"/>
                </a:solidFill>
              </a:rPr>
              <a:t>op</a:t>
            </a:r>
            <a:r>
              <a:rPr lang="en-US" sz="1600" i="1" dirty="0">
                <a:solidFill>
                  <a:schemeClr val="tx1"/>
                </a:solidFill>
              </a:rPr>
              <a:t>.</a:t>
            </a:r>
            <a:endParaRPr lang="en-US" sz="1600" dirty="0"/>
          </a:p>
        </p:txBody>
      </p:sp>
      <p:sp>
        <p:nvSpPr>
          <p:cNvPr id="73" name="Shape 62"/>
          <p:cNvSpPr/>
          <p:nvPr/>
        </p:nvSpPr>
        <p:spPr>
          <a:xfrm>
            <a:off x="7772400" y="2386584"/>
            <a:ext cx="347472" cy="347472"/>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7772400" y="2386584"/>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75" name="Text 64"/>
          <p:cNvSpPr txBox="1"/>
          <p:nvPr/>
        </p:nvSpPr>
        <p:spPr>
          <a:xfrm>
            <a:off x="8229600" y="2258568"/>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stapt het gebouw </a:t>
            </a:r>
            <a:r>
              <a:rPr lang="en-US" sz="1600" b="1" i="1" dirty="0">
                <a:solidFill>
                  <a:schemeClr val="accent1"/>
                </a:solidFill>
              </a:rPr>
              <a:t>binnen</a:t>
            </a:r>
            <a:r>
              <a:rPr lang="en-US" sz="1600" i="1" dirty="0">
                <a:solidFill>
                  <a:schemeClr val="tx1"/>
                </a:solidFill>
              </a:rPr>
              <a:t>.</a:t>
            </a:r>
            <a:endParaRPr lang="en-US" sz="1600" dirty="0"/>
          </a:p>
        </p:txBody>
      </p:sp>
      <p:sp>
        <p:nvSpPr>
          <p:cNvPr id="76" name="Shape 65"/>
          <p:cNvSpPr/>
          <p:nvPr/>
        </p:nvSpPr>
        <p:spPr>
          <a:xfrm>
            <a:off x="7772400" y="3044952"/>
            <a:ext cx="347472" cy="347472"/>
          </a:xfrm>
          <a:prstGeom prst="ellipse">
            <a:avLst/>
          </a:prstGeom>
          <a:solidFill>
            <a:schemeClr val="accent1"/>
          </a:solidFill>
          <a:ln w="12700">
            <a:solidFill>
              <a:srgbClr val="FFFFFF">
                <a:alpha val="0"/>
              </a:srgbClr>
            </a:solidFill>
            <a:prstDash val="solid"/>
          </a:ln>
        </p:spPr>
      </p:sp>
      <p:sp>
        <p:nvSpPr>
          <p:cNvPr id="77" name="Text 66"/>
          <p:cNvSpPr txBox="1"/>
          <p:nvPr/>
        </p:nvSpPr>
        <p:spPr>
          <a:xfrm>
            <a:off x="7772400" y="30449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78" name="Text 67"/>
          <p:cNvSpPr txBox="1"/>
          <p:nvPr/>
        </p:nvSpPr>
        <p:spPr>
          <a:xfrm>
            <a:off x="8229600" y="2916936"/>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het onthaal </a:t>
            </a:r>
            <a:r>
              <a:rPr lang="en-US" sz="1600" b="1" i="1" dirty="0">
                <a:solidFill>
                  <a:schemeClr val="accent1"/>
                </a:solidFill>
              </a:rPr>
              <a:t>voorbij</a:t>
            </a:r>
            <a:r>
              <a:rPr lang="en-US" sz="1600" i="1" dirty="0">
                <a:solidFill>
                  <a:schemeClr val="tx1"/>
                </a:solidFill>
              </a:rPr>
              <a:t>.</a:t>
            </a:r>
            <a:endParaRPr lang="en-US" sz="1600" dirty="0"/>
          </a:p>
        </p:txBody>
      </p:sp>
      <p:sp>
        <p:nvSpPr>
          <p:cNvPr id="79" name="Shape 68"/>
          <p:cNvSpPr/>
          <p:nvPr/>
        </p:nvSpPr>
        <p:spPr>
          <a:xfrm>
            <a:off x="7772400" y="3703320"/>
            <a:ext cx="347472" cy="347472"/>
          </a:xfrm>
          <a:prstGeom prst="ellipse">
            <a:avLst/>
          </a:prstGeom>
          <a:solidFill>
            <a:schemeClr val="accent1"/>
          </a:solidFill>
          <a:ln w="12700">
            <a:solidFill>
              <a:srgbClr val="FFFFFF">
                <a:alpha val="0"/>
              </a:srgbClr>
            </a:solidFill>
            <a:prstDash val="solid"/>
          </a:ln>
        </p:spPr>
      </p:sp>
      <p:sp>
        <p:nvSpPr>
          <p:cNvPr id="80" name="Text 69"/>
          <p:cNvSpPr txBox="1"/>
          <p:nvPr/>
        </p:nvSpPr>
        <p:spPr>
          <a:xfrm>
            <a:off x="7772400" y="37033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81" name="Text 70"/>
          <p:cNvSpPr txBox="1"/>
          <p:nvPr/>
        </p:nvSpPr>
        <p:spPr>
          <a:xfrm>
            <a:off x="8229600" y="3575304"/>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gang </a:t>
            </a:r>
            <a:r>
              <a:rPr lang="en-US" sz="1600" b="1" i="1" dirty="0">
                <a:solidFill>
                  <a:schemeClr val="accent1"/>
                </a:solidFill>
              </a:rPr>
              <a:t>in</a:t>
            </a:r>
            <a:r>
              <a:rPr lang="en-US" sz="1600" i="1" dirty="0">
                <a:solidFill>
                  <a:schemeClr val="tx1"/>
                </a:solidFill>
              </a:rPr>
              <a:t>.</a:t>
            </a:r>
            <a:endParaRPr lang="en-US" sz="1600" dirty="0"/>
          </a:p>
        </p:txBody>
      </p:sp>
      <p:sp>
        <p:nvSpPr>
          <p:cNvPr id="82" name="Shape 71"/>
          <p:cNvSpPr/>
          <p:nvPr/>
        </p:nvSpPr>
        <p:spPr>
          <a:xfrm>
            <a:off x="7772400" y="4361688"/>
            <a:ext cx="347472" cy="347472"/>
          </a:xfrm>
          <a:prstGeom prst="ellipse">
            <a:avLst/>
          </a:prstGeom>
          <a:solidFill>
            <a:schemeClr val="accent1"/>
          </a:solidFill>
          <a:ln w="12700">
            <a:solidFill>
              <a:srgbClr val="FFFFFF">
                <a:alpha val="0"/>
              </a:srgbClr>
            </a:solidFill>
            <a:prstDash val="solid"/>
          </a:ln>
        </p:spPr>
      </p:sp>
      <p:sp>
        <p:nvSpPr>
          <p:cNvPr id="83" name="Text 72"/>
          <p:cNvSpPr txBox="1"/>
          <p:nvPr/>
        </p:nvSpPr>
        <p:spPr>
          <a:xfrm>
            <a:off x="7772400" y="436168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84" name="Text 73"/>
          <p:cNvSpPr txBox="1"/>
          <p:nvPr/>
        </p:nvSpPr>
        <p:spPr>
          <a:xfrm>
            <a:off x="8229600" y="4233672"/>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in</a:t>
            </a:r>
            <a:r>
              <a:rPr lang="en-US" sz="1600" i="1" dirty="0">
                <a:solidFill>
                  <a:schemeClr val="tx1"/>
                </a:solidFill>
              </a:rPr>
              <a:t>: koffie!</a:t>
            </a:r>
            <a:endParaRPr lang="en-US" sz="1600" dirty="0"/>
          </a:p>
        </p:txBody>
      </p:sp>
      <p:sp>
        <p:nvSpPr>
          <p:cNvPr id="85" name="Shape 74"/>
          <p:cNvSpPr/>
          <p:nvPr/>
        </p:nvSpPr>
        <p:spPr>
          <a:xfrm>
            <a:off x="7772400" y="5020056"/>
            <a:ext cx="347472" cy="347472"/>
          </a:xfrm>
          <a:prstGeom prst="ellipse">
            <a:avLst/>
          </a:prstGeom>
          <a:solidFill>
            <a:schemeClr val="accent6"/>
          </a:solidFill>
          <a:ln w="12700">
            <a:solidFill>
              <a:srgbClr val="FFFFFF">
                <a:alpha val="0"/>
              </a:srgbClr>
            </a:solidFill>
            <a:prstDash val="solid"/>
          </a:ln>
        </p:spPr>
      </p:sp>
      <p:sp>
        <p:nvSpPr>
          <p:cNvPr id="86" name="Text 75"/>
          <p:cNvSpPr txBox="1"/>
          <p:nvPr/>
        </p:nvSpPr>
        <p:spPr>
          <a:xfrm>
            <a:off x="7772400" y="50200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87" name="Text 76"/>
          <p:cNvSpPr txBox="1"/>
          <p:nvPr/>
        </p:nvSpPr>
        <p:spPr>
          <a:xfrm>
            <a:off x="8229600" y="489204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uit</a:t>
            </a:r>
            <a:r>
              <a:rPr lang="en-US" sz="1600" i="1" dirty="0">
                <a:solidFill>
                  <a:schemeClr val="tx1"/>
                </a:solidFill>
              </a:rPr>
              <a:t> en de vergaderzaal </a:t>
            </a:r>
            <a:r>
              <a:rPr lang="en-US" sz="1600" b="1" i="1" dirty="0">
                <a:solidFill>
                  <a:schemeClr val="accent1"/>
                </a:solidFill>
              </a:rPr>
              <a:t>in</a:t>
            </a:r>
            <a:r>
              <a:rPr lang="en-US" sz="1600" i="1" dirty="0">
                <a:solidFill>
                  <a:schemeClr val="tx1"/>
                </a:solidFill>
              </a:rPr>
              <a:t>.</a:t>
            </a:r>
            <a:endParaRPr lang="en-US" sz="1600" dirty="0"/>
          </a:p>
        </p:txBody>
      </p:sp>
      <p:sp>
        <p:nvSpPr>
          <p:cNvPr id="88" name="Shape 77"/>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89" name="Text 78"/>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Et vous ? Décrivez votre trajet du matin, de la porte de l’immeuble à votre bureau.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place : au bout, comme une particule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présent</a:t>
            </a:r>
            <a:endParaRPr lang="en-US" sz="1300" dirty="0"/>
          </a:p>
        </p:txBody>
      </p:sp>
      <p:sp>
        <p:nvSpPr>
          <p:cNvPr id="6" name="Shape 3"/>
          <p:cNvSpPr/>
          <p:nvPr/>
        </p:nvSpPr>
        <p:spPr>
          <a:xfrm>
            <a:off x="2606040" y="1572768"/>
            <a:ext cx="592165" cy="603504"/>
          </a:xfrm>
          <a:prstGeom prst="roundRect">
            <a:avLst>
              <a:gd name="adj" fmla="val 12353"/>
            </a:avLst>
          </a:prstGeom>
          <a:solidFill>
            <a:schemeClr val="bg1"/>
          </a:solidFill>
          <a:ln w="15875">
            <a:solidFill>
              <a:srgbClr val="D5DCE6"/>
            </a:solidFill>
            <a:prstDash val="solid"/>
          </a:ln>
        </p:spPr>
      </p:sp>
      <p:sp>
        <p:nvSpPr>
          <p:cNvPr id="7" name="Text 4"/>
          <p:cNvSpPr txBox="1"/>
          <p:nvPr/>
        </p:nvSpPr>
        <p:spPr>
          <a:xfrm>
            <a:off x="2606040" y="157276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8" name="Shape 5"/>
          <p:cNvSpPr/>
          <p:nvPr/>
        </p:nvSpPr>
        <p:spPr>
          <a:xfrm>
            <a:off x="3289645" y="1572768"/>
            <a:ext cx="1071882" cy="603504"/>
          </a:xfrm>
          <a:prstGeom prst="roundRect">
            <a:avLst>
              <a:gd name="adj" fmla="val 12121"/>
            </a:avLst>
          </a:prstGeom>
          <a:solidFill>
            <a:srgbClr val="FBEDEB"/>
          </a:solidFill>
          <a:ln w="31750">
            <a:solidFill>
              <a:srgbClr val="B83227"/>
            </a:solidFill>
            <a:prstDash val="solid"/>
          </a:ln>
        </p:spPr>
      </p:sp>
      <p:sp>
        <p:nvSpPr>
          <p:cNvPr id="9" name="Text 6"/>
          <p:cNvSpPr txBox="1"/>
          <p:nvPr/>
        </p:nvSpPr>
        <p:spPr>
          <a:xfrm>
            <a:off x="3289645" y="157276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10" name="Shape 7"/>
          <p:cNvSpPr/>
          <p:nvPr/>
        </p:nvSpPr>
        <p:spPr>
          <a:xfrm>
            <a:off x="4452967" y="1572768"/>
            <a:ext cx="1341059" cy="603504"/>
          </a:xfrm>
          <a:prstGeom prst="roundRect">
            <a:avLst>
              <a:gd name="adj" fmla="val 12121"/>
            </a:avLst>
          </a:prstGeom>
          <a:solidFill>
            <a:schemeClr val="bg1"/>
          </a:solidFill>
          <a:ln w="15875">
            <a:solidFill>
              <a:srgbClr val="D5DCE6"/>
            </a:solidFill>
            <a:prstDash val="solid"/>
          </a:ln>
        </p:spPr>
      </p:sp>
      <p:sp>
        <p:nvSpPr>
          <p:cNvPr id="11" name="Text 8"/>
          <p:cNvSpPr txBox="1"/>
          <p:nvPr/>
        </p:nvSpPr>
        <p:spPr>
          <a:xfrm>
            <a:off x="4452967" y="157276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12" name="Shape 9"/>
          <p:cNvSpPr/>
          <p:nvPr/>
        </p:nvSpPr>
        <p:spPr>
          <a:xfrm>
            <a:off x="5885466" y="1572768"/>
            <a:ext cx="904129" cy="603504"/>
          </a:xfrm>
          <a:prstGeom prst="roundRect">
            <a:avLst>
              <a:gd name="adj" fmla="val 12121"/>
            </a:avLst>
          </a:prstGeom>
          <a:solidFill>
            <a:schemeClr val="accent1"/>
          </a:solidFill>
          <a:ln w="12700">
            <a:solidFill>
              <a:srgbClr val="FFFFFF">
                <a:alpha val="0"/>
              </a:srgbClr>
            </a:solidFill>
            <a:prstDash val="solid"/>
          </a:ln>
        </p:spPr>
      </p:sp>
      <p:sp>
        <p:nvSpPr>
          <p:cNvPr id="13" name="Text 10"/>
          <p:cNvSpPr txBox="1"/>
          <p:nvPr/>
        </p:nvSpPr>
        <p:spPr>
          <a:xfrm>
            <a:off x="5885466" y="157276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14" name="Text 11"/>
          <p:cNvSpPr txBox="1"/>
          <p:nvPr/>
        </p:nvSpPr>
        <p:spPr>
          <a:xfrm>
            <a:off x="548640" y="230428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modal (M12)</a:t>
            </a:r>
            <a:endParaRPr lang="en-US" sz="1300" dirty="0"/>
          </a:p>
        </p:txBody>
      </p:sp>
      <p:sp>
        <p:nvSpPr>
          <p:cNvPr id="15" name="Shape 12"/>
          <p:cNvSpPr/>
          <p:nvPr/>
        </p:nvSpPr>
        <p:spPr>
          <a:xfrm>
            <a:off x="2606040" y="2304288"/>
            <a:ext cx="592165" cy="603504"/>
          </a:xfrm>
          <a:prstGeom prst="roundRect">
            <a:avLst>
              <a:gd name="adj" fmla="val 12353"/>
            </a:avLst>
          </a:prstGeom>
          <a:solidFill>
            <a:schemeClr val="bg1"/>
          </a:solidFill>
          <a:ln w="15875">
            <a:solidFill>
              <a:srgbClr val="D5DCE6"/>
            </a:solidFill>
            <a:prstDash val="solid"/>
          </a:ln>
        </p:spPr>
      </p:sp>
      <p:sp>
        <p:nvSpPr>
          <p:cNvPr id="16" name="Text 13"/>
          <p:cNvSpPr txBox="1"/>
          <p:nvPr/>
        </p:nvSpPr>
        <p:spPr>
          <a:xfrm>
            <a:off x="2606040" y="230428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17" name="Shape 14"/>
          <p:cNvSpPr/>
          <p:nvPr/>
        </p:nvSpPr>
        <p:spPr>
          <a:xfrm>
            <a:off x="3289645" y="2304288"/>
            <a:ext cx="904129" cy="603504"/>
          </a:xfrm>
          <a:prstGeom prst="roundRect">
            <a:avLst>
              <a:gd name="adj" fmla="val 12121"/>
            </a:avLst>
          </a:prstGeom>
          <a:solidFill>
            <a:srgbClr val="FBEDEB"/>
          </a:solidFill>
          <a:ln w="31750">
            <a:solidFill>
              <a:srgbClr val="B83227"/>
            </a:solidFill>
            <a:prstDash val="solid"/>
          </a:ln>
        </p:spPr>
      </p:sp>
      <p:sp>
        <p:nvSpPr>
          <p:cNvPr id="18" name="Text 15"/>
          <p:cNvSpPr txBox="1"/>
          <p:nvPr/>
        </p:nvSpPr>
        <p:spPr>
          <a:xfrm>
            <a:off x="3289645" y="230428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wil</a:t>
            </a:r>
            <a:endParaRPr lang="en-US" sz="2100" dirty="0"/>
          </a:p>
        </p:txBody>
      </p:sp>
      <p:sp>
        <p:nvSpPr>
          <p:cNvPr id="19" name="Shape 16"/>
          <p:cNvSpPr/>
          <p:nvPr/>
        </p:nvSpPr>
        <p:spPr>
          <a:xfrm>
            <a:off x="4285215" y="2304288"/>
            <a:ext cx="1341059" cy="603504"/>
          </a:xfrm>
          <a:prstGeom prst="roundRect">
            <a:avLst>
              <a:gd name="adj" fmla="val 12121"/>
            </a:avLst>
          </a:prstGeom>
          <a:solidFill>
            <a:schemeClr val="bg1"/>
          </a:solidFill>
          <a:ln w="15875">
            <a:solidFill>
              <a:srgbClr val="D5DCE6"/>
            </a:solidFill>
            <a:prstDash val="solid"/>
          </a:ln>
        </p:spPr>
      </p:sp>
      <p:sp>
        <p:nvSpPr>
          <p:cNvPr id="20" name="Text 17"/>
          <p:cNvSpPr txBox="1"/>
          <p:nvPr/>
        </p:nvSpPr>
        <p:spPr>
          <a:xfrm>
            <a:off x="4285215" y="230428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21" name="Shape 18"/>
          <p:cNvSpPr/>
          <p:nvPr/>
        </p:nvSpPr>
        <p:spPr>
          <a:xfrm>
            <a:off x="5717714" y="2304288"/>
            <a:ext cx="736377" cy="603504"/>
          </a:xfrm>
          <a:prstGeom prst="roundRect">
            <a:avLst>
              <a:gd name="adj" fmla="val 12121"/>
            </a:avLst>
          </a:prstGeom>
          <a:solidFill>
            <a:schemeClr val="accent1"/>
          </a:solidFill>
          <a:ln w="12700">
            <a:solidFill>
              <a:srgbClr val="FFFFFF">
                <a:alpha val="0"/>
              </a:srgbClr>
            </a:solidFill>
            <a:prstDash val="solid"/>
          </a:ln>
        </p:spPr>
      </p:sp>
      <p:sp>
        <p:nvSpPr>
          <p:cNvPr id="22" name="Text 19"/>
          <p:cNvSpPr txBox="1"/>
          <p:nvPr/>
        </p:nvSpPr>
        <p:spPr>
          <a:xfrm>
            <a:off x="5717714" y="230428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23" name="Shape 20"/>
          <p:cNvSpPr/>
          <p:nvPr/>
        </p:nvSpPr>
        <p:spPr>
          <a:xfrm>
            <a:off x="6545531" y="2304288"/>
            <a:ext cx="1407386" cy="603504"/>
          </a:xfrm>
          <a:prstGeom prst="roundRect">
            <a:avLst>
              <a:gd name="adj" fmla="val 12121"/>
            </a:avLst>
          </a:prstGeom>
          <a:solidFill>
            <a:srgbClr val="FFFFFF"/>
          </a:solidFill>
          <a:ln w="25400">
            <a:solidFill>
              <a:srgbClr val="B83227"/>
            </a:solidFill>
            <a:prstDash val="dash"/>
          </a:ln>
        </p:spPr>
      </p:sp>
      <p:sp>
        <p:nvSpPr>
          <p:cNvPr id="24" name="Text 21"/>
          <p:cNvSpPr txBox="1"/>
          <p:nvPr/>
        </p:nvSpPr>
        <p:spPr>
          <a:xfrm>
            <a:off x="6545531" y="2304288"/>
            <a:ext cx="1407386" cy="603504"/>
          </a:xfrm>
          <a:prstGeom prst="rect">
            <a:avLst/>
          </a:prstGeom>
          <a:noFill/>
          <a:ln/>
        </p:spPr>
        <p:txBody>
          <a:bodyPr wrap="square" lIns="0" tIns="0" rIns="0" bIns="0" rtlCol="0" anchor="ctr"/>
          <a:lstStyle/>
          <a:p>
            <a:pPr algn="ctr" indent="0" marL="0">
              <a:buNone/>
            </a:pPr>
            <a:r>
              <a:rPr lang="en-US" sz="2100" b="1" dirty="0">
                <a:solidFill>
                  <a:schemeClr val="accent6"/>
                </a:solidFill>
              </a:rPr>
              <a:t>lopen.</a:t>
            </a:r>
            <a:endParaRPr lang="en-US" sz="2100" dirty="0"/>
          </a:p>
        </p:txBody>
      </p:sp>
      <p:sp>
        <p:nvSpPr>
          <p:cNvPr id="25" name="Text 22"/>
          <p:cNvSpPr txBox="1"/>
          <p:nvPr/>
        </p:nvSpPr>
        <p:spPr>
          <a:xfrm>
            <a:off x="548640" y="303580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subordonnée (M9)</a:t>
            </a:r>
            <a:endParaRPr lang="en-US" sz="1300" dirty="0"/>
          </a:p>
        </p:txBody>
      </p:sp>
      <p:sp>
        <p:nvSpPr>
          <p:cNvPr id="26" name="Shape 23"/>
          <p:cNvSpPr/>
          <p:nvPr/>
        </p:nvSpPr>
        <p:spPr>
          <a:xfrm>
            <a:off x="2606040" y="3035808"/>
            <a:ext cx="1490838" cy="603504"/>
          </a:xfrm>
          <a:prstGeom prst="roundRect">
            <a:avLst>
              <a:gd name="adj" fmla="val 12121"/>
            </a:avLst>
          </a:prstGeom>
          <a:solidFill>
            <a:schemeClr val="bg1"/>
          </a:solidFill>
          <a:ln w="15875">
            <a:solidFill>
              <a:srgbClr val="D5DCE6"/>
            </a:solidFill>
            <a:prstDash val="solid"/>
          </a:ln>
        </p:spPr>
      </p:sp>
      <p:sp>
        <p:nvSpPr>
          <p:cNvPr id="27" name="Text 24"/>
          <p:cNvSpPr txBox="1"/>
          <p:nvPr/>
        </p:nvSpPr>
        <p:spPr>
          <a:xfrm>
            <a:off x="2606040" y="3035808"/>
            <a:ext cx="1490838" cy="603504"/>
          </a:xfrm>
          <a:prstGeom prst="rect">
            <a:avLst/>
          </a:prstGeom>
          <a:noFill/>
          <a:ln/>
        </p:spPr>
        <p:txBody>
          <a:bodyPr wrap="square" lIns="0" tIns="0" rIns="0" bIns="0" rtlCol="0" anchor="ctr"/>
          <a:lstStyle/>
          <a:p>
            <a:pPr algn="ctr" indent="0" marL="0">
              <a:buNone/>
            </a:pPr>
            <a:r>
              <a:rPr lang="en-US" sz="2100" dirty="0">
                <a:solidFill>
                  <a:schemeClr val="tx1"/>
                </a:solidFill>
              </a:rPr>
              <a:t>…, omdat</a:t>
            </a:r>
            <a:endParaRPr lang="en-US" sz="2100" dirty="0"/>
          </a:p>
        </p:txBody>
      </p:sp>
      <p:sp>
        <p:nvSpPr>
          <p:cNvPr id="28" name="Shape 25"/>
          <p:cNvSpPr/>
          <p:nvPr/>
        </p:nvSpPr>
        <p:spPr>
          <a:xfrm>
            <a:off x="4188318" y="3035808"/>
            <a:ext cx="592165" cy="603504"/>
          </a:xfrm>
          <a:prstGeom prst="roundRect">
            <a:avLst>
              <a:gd name="adj" fmla="val 12353"/>
            </a:avLst>
          </a:prstGeom>
          <a:solidFill>
            <a:schemeClr val="bg1"/>
          </a:solidFill>
          <a:ln w="15875">
            <a:solidFill>
              <a:srgbClr val="D5DCE6"/>
            </a:solidFill>
            <a:prstDash val="solid"/>
          </a:ln>
        </p:spPr>
      </p:sp>
      <p:sp>
        <p:nvSpPr>
          <p:cNvPr id="29" name="Text 26"/>
          <p:cNvSpPr txBox="1"/>
          <p:nvPr/>
        </p:nvSpPr>
        <p:spPr>
          <a:xfrm>
            <a:off x="4188318" y="303580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0" name="Shape 27"/>
          <p:cNvSpPr/>
          <p:nvPr/>
        </p:nvSpPr>
        <p:spPr>
          <a:xfrm>
            <a:off x="4871923" y="3035808"/>
            <a:ext cx="1341059" cy="603504"/>
          </a:xfrm>
          <a:prstGeom prst="roundRect">
            <a:avLst>
              <a:gd name="adj" fmla="val 12121"/>
            </a:avLst>
          </a:prstGeom>
          <a:solidFill>
            <a:schemeClr val="bg1"/>
          </a:solidFill>
          <a:ln w="15875">
            <a:solidFill>
              <a:srgbClr val="D5DCE6"/>
            </a:solidFill>
            <a:prstDash val="solid"/>
          </a:ln>
        </p:spPr>
      </p:sp>
      <p:sp>
        <p:nvSpPr>
          <p:cNvPr id="31" name="Text 28"/>
          <p:cNvSpPr txBox="1"/>
          <p:nvPr/>
        </p:nvSpPr>
        <p:spPr>
          <a:xfrm>
            <a:off x="4871923" y="303580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32" name="Shape 29"/>
          <p:cNvSpPr/>
          <p:nvPr/>
        </p:nvSpPr>
        <p:spPr>
          <a:xfrm>
            <a:off x="6304422" y="3035808"/>
            <a:ext cx="736377" cy="603504"/>
          </a:xfrm>
          <a:prstGeom prst="roundRect">
            <a:avLst>
              <a:gd name="adj" fmla="val 12121"/>
            </a:avLst>
          </a:prstGeom>
          <a:solidFill>
            <a:schemeClr val="accent1"/>
          </a:solidFill>
          <a:ln w="12700">
            <a:solidFill>
              <a:srgbClr val="FFFFFF">
                <a:alpha val="0"/>
              </a:srgbClr>
            </a:solidFill>
            <a:prstDash val="solid"/>
          </a:ln>
        </p:spPr>
      </p:sp>
      <p:sp>
        <p:nvSpPr>
          <p:cNvPr id="33" name="Text 30"/>
          <p:cNvSpPr txBox="1"/>
          <p:nvPr/>
        </p:nvSpPr>
        <p:spPr>
          <a:xfrm>
            <a:off x="6304422" y="303580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34" name="Shape 31"/>
          <p:cNvSpPr/>
          <p:nvPr/>
        </p:nvSpPr>
        <p:spPr>
          <a:xfrm>
            <a:off x="7132240" y="3035808"/>
            <a:ext cx="1239634" cy="603504"/>
          </a:xfrm>
          <a:prstGeom prst="roundRect">
            <a:avLst>
              <a:gd name="adj" fmla="val 12121"/>
            </a:avLst>
          </a:prstGeom>
          <a:solidFill>
            <a:srgbClr val="FBEDEB"/>
          </a:solidFill>
          <a:ln w="31750">
            <a:solidFill>
              <a:srgbClr val="B83227"/>
            </a:solidFill>
            <a:prstDash val="solid"/>
          </a:ln>
        </p:spPr>
      </p:sp>
      <p:sp>
        <p:nvSpPr>
          <p:cNvPr id="35" name="Text 32"/>
          <p:cNvSpPr txBox="1"/>
          <p:nvPr/>
        </p:nvSpPr>
        <p:spPr>
          <a:xfrm>
            <a:off x="7132240" y="3035808"/>
            <a:ext cx="1239634"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6" name="Text 33"/>
          <p:cNvSpPr txBox="1"/>
          <p:nvPr/>
        </p:nvSpPr>
        <p:spPr>
          <a:xfrm>
            <a:off x="548640" y="376732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impératif (M16)</a:t>
            </a:r>
            <a:endParaRPr lang="en-US" sz="1300" dirty="0"/>
          </a:p>
        </p:txBody>
      </p:sp>
      <p:sp>
        <p:nvSpPr>
          <p:cNvPr id="37" name="Shape 34"/>
          <p:cNvSpPr/>
          <p:nvPr/>
        </p:nvSpPr>
        <p:spPr>
          <a:xfrm>
            <a:off x="2606040" y="3767328"/>
            <a:ext cx="1071882" cy="603504"/>
          </a:xfrm>
          <a:prstGeom prst="roundRect">
            <a:avLst>
              <a:gd name="adj" fmla="val 12121"/>
            </a:avLst>
          </a:prstGeom>
          <a:solidFill>
            <a:srgbClr val="FBEDEB"/>
          </a:solidFill>
          <a:ln w="31750">
            <a:solidFill>
              <a:srgbClr val="B83227"/>
            </a:solidFill>
            <a:prstDash val="solid"/>
          </a:ln>
        </p:spPr>
      </p:sp>
      <p:sp>
        <p:nvSpPr>
          <p:cNvPr id="38" name="Text 35"/>
          <p:cNvSpPr txBox="1"/>
          <p:nvPr/>
        </p:nvSpPr>
        <p:spPr>
          <a:xfrm>
            <a:off x="2606040" y="376732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9" name="Shape 36"/>
          <p:cNvSpPr/>
          <p:nvPr/>
        </p:nvSpPr>
        <p:spPr>
          <a:xfrm>
            <a:off x="3769362" y="3767328"/>
            <a:ext cx="1341059" cy="603504"/>
          </a:xfrm>
          <a:prstGeom prst="roundRect">
            <a:avLst>
              <a:gd name="adj" fmla="val 12121"/>
            </a:avLst>
          </a:prstGeom>
          <a:solidFill>
            <a:schemeClr val="bg1"/>
          </a:solidFill>
          <a:ln w="15875">
            <a:solidFill>
              <a:srgbClr val="D5DCE6"/>
            </a:solidFill>
            <a:prstDash val="solid"/>
          </a:ln>
        </p:spPr>
      </p:sp>
      <p:sp>
        <p:nvSpPr>
          <p:cNvPr id="40" name="Text 37"/>
          <p:cNvSpPr txBox="1"/>
          <p:nvPr/>
        </p:nvSpPr>
        <p:spPr>
          <a:xfrm>
            <a:off x="3769362" y="376732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41" name="Shape 38"/>
          <p:cNvSpPr/>
          <p:nvPr/>
        </p:nvSpPr>
        <p:spPr>
          <a:xfrm>
            <a:off x="5201861" y="3767328"/>
            <a:ext cx="904129" cy="603504"/>
          </a:xfrm>
          <a:prstGeom prst="roundRect">
            <a:avLst>
              <a:gd name="adj" fmla="val 12121"/>
            </a:avLst>
          </a:prstGeom>
          <a:solidFill>
            <a:schemeClr val="accent1"/>
          </a:solidFill>
          <a:ln w="12700">
            <a:solidFill>
              <a:srgbClr val="FFFFFF">
                <a:alpha val="0"/>
              </a:srgbClr>
            </a:solidFill>
            <a:prstDash val="solid"/>
          </a:ln>
        </p:spPr>
      </p:sp>
      <p:sp>
        <p:nvSpPr>
          <p:cNvPr id="42" name="Text 39"/>
          <p:cNvSpPr txBox="1"/>
          <p:nvPr/>
        </p:nvSpPr>
        <p:spPr>
          <a:xfrm>
            <a:off x="5201861" y="376732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43" name="Text 40"/>
          <p:cNvSpPr txBox="1"/>
          <p:nvPr/>
        </p:nvSpPr>
        <p:spPr>
          <a:xfrm>
            <a:off x="548640" y="449884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passé composé (M15)</a:t>
            </a:r>
            <a:endParaRPr lang="en-US" sz="1300" dirty="0"/>
          </a:p>
        </p:txBody>
      </p:sp>
      <p:sp>
        <p:nvSpPr>
          <p:cNvPr id="44" name="Shape 41"/>
          <p:cNvSpPr/>
          <p:nvPr/>
        </p:nvSpPr>
        <p:spPr>
          <a:xfrm>
            <a:off x="2606040" y="4498848"/>
            <a:ext cx="592165" cy="603504"/>
          </a:xfrm>
          <a:prstGeom prst="roundRect">
            <a:avLst>
              <a:gd name="adj" fmla="val 12353"/>
            </a:avLst>
          </a:prstGeom>
          <a:solidFill>
            <a:schemeClr val="bg1"/>
          </a:solidFill>
          <a:ln w="15875">
            <a:solidFill>
              <a:srgbClr val="D5DCE6"/>
            </a:solidFill>
            <a:prstDash val="solid"/>
          </a:ln>
        </p:spPr>
      </p:sp>
      <p:sp>
        <p:nvSpPr>
          <p:cNvPr id="45" name="Text 42"/>
          <p:cNvSpPr txBox="1"/>
          <p:nvPr/>
        </p:nvSpPr>
        <p:spPr>
          <a:xfrm>
            <a:off x="2606040" y="449884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46" name="Shape 43"/>
          <p:cNvSpPr/>
          <p:nvPr/>
        </p:nvSpPr>
        <p:spPr>
          <a:xfrm>
            <a:off x="3289645" y="4498848"/>
            <a:ext cx="904129" cy="603504"/>
          </a:xfrm>
          <a:prstGeom prst="roundRect">
            <a:avLst>
              <a:gd name="adj" fmla="val 12121"/>
            </a:avLst>
          </a:prstGeom>
          <a:solidFill>
            <a:srgbClr val="FBEDEB"/>
          </a:solidFill>
          <a:ln w="31750">
            <a:solidFill>
              <a:srgbClr val="B83227"/>
            </a:solidFill>
            <a:prstDash val="solid"/>
          </a:ln>
        </p:spPr>
      </p:sp>
      <p:sp>
        <p:nvSpPr>
          <p:cNvPr id="47" name="Text 44"/>
          <p:cNvSpPr txBox="1"/>
          <p:nvPr/>
        </p:nvSpPr>
        <p:spPr>
          <a:xfrm>
            <a:off x="3289645" y="449884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ben</a:t>
            </a:r>
            <a:endParaRPr lang="en-US" sz="2100" dirty="0"/>
          </a:p>
        </p:txBody>
      </p:sp>
      <p:sp>
        <p:nvSpPr>
          <p:cNvPr id="48" name="Shape 45"/>
          <p:cNvSpPr/>
          <p:nvPr/>
        </p:nvSpPr>
        <p:spPr>
          <a:xfrm>
            <a:off x="4285215" y="4498848"/>
            <a:ext cx="1341059" cy="603504"/>
          </a:xfrm>
          <a:prstGeom prst="roundRect">
            <a:avLst>
              <a:gd name="adj" fmla="val 12121"/>
            </a:avLst>
          </a:prstGeom>
          <a:solidFill>
            <a:schemeClr val="bg1"/>
          </a:solidFill>
          <a:ln w="15875">
            <a:solidFill>
              <a:srgbClr val="D5DCE6"/>
            </a:solidFill>
            <a:prstDash val="solid"/>
          </a:ln>
        </p:spPr>
      </p:sp>
      <p:sp>
        <p:nvSpPr>
          <p:cNvPr id="49" name="Text 46"/>
          <p:cNvSpPr txBox="1"/>
          <p:nvPr/>
        </p:nvSpPr>
        <p:spPr>
          <a:xfrm>
            <a:off x="4285215" y="449884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50" name="Shape 47"/>
          <p:cNvSpPr/>
          <p:nvPr/>
        </p:nvSpPr>
        <p:spPr>
          <a:xfrm>
            <a:off x="5717714" y="4498848"/>
            <a:ext cx="736377" cy="603504"/>
          </a:xfrm>
          <a:prstGeom prst="roundRect">
            <a:avLst>
              <a:gd name="adj" fmla="val 12121"/>
            </a:avLst>
          </a:prstGeom>
          <a:solidFill>
            <a:schemeClr val="accent1"/>
          </a:solidFill>
          <a:ln w="12700">
            <a:solidFill>
              <a:srgbClr val="FFFFFF">
                <a:alpha val="0"/>
              </a:srgbClr>
            </a:solidFill>
            <a:prstDash val="solid"/>
          </a:ln>
        </p:spPr>
      </p:sp>
      <p:sp>
        <p:nvSpPr>
          <p:cNvPr id="51" name="Text 48"/>
          <p:cNvSpPr txBox="1"/>
          <p:nvPr/>
        </p:nvSpPr>
        <p:spPr>
          <a:xfrm>
            <a:off x="5717714" y="449884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52" name="Shape 49"/>
          <p:cNvSpPr/>
          <p:nvPr/>
        </p:nvSpPr>
        <p:spPr>
          <a:xfrm>
            <a:off x="6545531" y="4498848"/>
            <a:ext cx="1742890" cy="603504"/>
          </a:xfrm>
          <a:prstGeom prst="roundRect">
            <a:avLst>
              <a:gd name="adj" fmla="val 12121"/>
            </a:avLst>
          </a:prstGeom>
          <a:solidFill>
            <a:srgbClr val="FFFFFF"/>
          </a:solidFill>
          <a:ln w="25400">
            <a:solidFill>
              <a:srgbClr val="B83227"/>
            </a:solidFill>
            <a:prstDash val="dash"/>
          </a:ln>
        </p:spPr>
      </p:sp>
      <p:sp>
        <p:nvSpPr>
          <p:cNvPr id="53" name="Text 50"/>
          <p:cNvSpPr txBox="1"/>
          <p:nvPr/>
        </p:nvSpPr>
        <p:spPr>
          <a:xfrm>
            <a:off x="6545531" y="4498848"/>
            <a:ext cx="1742890" cy="603504"/>
          </a:xfrm>
          <a:prstGeom prst="rect">
            <a:avLst/>
          </a:prstGeom>
          <a:noFill/>
          <a:ln/>
        </p:spPr>
        <p:txBody>
          <a:bodyPr wrap="square" lIns="0" tIns="0" rIns="0" bIns="0" rtlCol="0" anchor="ctr"/>
          <a:lstStyle/>
          <a:p>
            <a:pPr algn="ctr" indent="0" marL="0">
              <a:buNone/>
            </a:pPr>
            <a:r>
              <a:rPr lang="en-US" sz="2100" b="1" dirty="0">
                <a:solidFill>
                  <a:schemeClr val="accent6"/>
                </a:solidFill>
              </a:rPr>
              <a:t>gelopen.</a:t>
            </a:r>
            <a:endParaRPr lang="en-US" sz="2100" dirty="0"/>
          </a:p>
        </p:txBody>
      </p:sp>
      <p:sp>
        <p:nvSpPr>
          <p:cNvPr id="54" name="Shape 51"/>
          <p:cNvSpPr/>
          <p:nvPr/>
        </p:nvSpPr>
        <p:spPr>
          <a:xfrm>
            <a:off x="8503920" y="1572768"/>
            <a:ext cx="3136392" cy="3566160"/>
          </a:xfrm>
          <a:prstGeom prst="roundRect">
            <a:avLst>
              <a:gd name="adj" fmla="val 2915"/>
            </a:avLst>
          </a:prstGeom>
          <a:solidFill>
            <a:srgbClr val="FDF1E6"/>
          </a:solidFill>
          <a:ln w="19050">
            <a:solidFill>
              <a:srgbClr val="D9700F"/>
            </a:solidFill>
            <a:prstDash val="solid"/>
          </a:ln>
        </p:spPr>
      </p:sp>
      <p:sp>
        <p:nvSpPr>
          <p:cNvPr id="55" name="Text 52"/>
          <p:cNvSpPr txBox="1"/>
          <p:nvPr/>
        </p:nvSpPr>
        <p:spPr>
          <a:xfrm>
            <a:off x="8641080" y="1664208"/>
            <a:ext cx="2880360" cy="338328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Comme la particule</a:t>
            </a:r>
            <a:r>
              <a:rPr lang="en-US" sz="1500" dirty="0">
                <a:solidFill>
                  <a:schemeClr val="tx1"/>
                </a:solidFill>
              </a:rPr>
              <a:t> (M11)</a:t>
            </a:r>
            <a:endParaRPr lang="en-US" sz="1500" dirty="0"/>
          </a:p>
          <a:p>
            <a:pPr algn="l" indent="0" marL="0">
              <a:spcAft>
                <a:spcPts val="4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r>
              <a:rPr lang="en-US" sz="1500" i="1" dirty="0">
                <a:solidFill>
                  <a:schemeClr val="tx1"/>
                </a:solidFill>
              </a:rPr>
              <a:t>Ik loop de trap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Quand les deux mots se touchent :</a:t>
            </a:r>
            <a:endParaRPr lang="en-US" sz="1500" dirty="0"/>
          </a:p>
          <a:p>
            <a:pPr algn="l" indent="0" marL="0">
              <a:spcAft>
                <a:spcPts val="400"/>
              </a:spcAft>
              <a:buNone/>
            </a:pPr>
            <a:r>
              <a:rPr lang="en-US" sz="1500" i="1" dirty="0">
                <a:solidFill>
                  <a:schemeClr val="tx1"/>
                </a:solidFill>
              </a:rPr>
              <a:t>op lopen</a:t>
            </a:r>
            <a:r>
              <a:rPr lang="en-US" sz="1500" dirty="0">
                <a:solidFill>
                  <a:schemeClr val="tx1"/>
                </a:solidFill>
              </a:rPr>
              <a:t> ou </a:t>
            </a:r>
            <a:r>
              <a:rPr lang="en-US" sz="1500" i="1" dirty="0">
                <a:solidFill>
                  <a:schemeClr val="tx1"/>
                </a:solidFill>
              </a:rPr>
              <a:t>oplopen</a:t>
            </a:r>
            <a:r>
              <a:rPr lang="en-US" sz="1500" dirty="0">
                <a:solidFill>
                  <a:schemeClr val="tx1"/>
                </a:solidFill>
              </a:rPr>
              <a:t> : les deux écritures sont admises.</a:t>
            </a:r>
            <a:endParaRPr lang="en-US" sz="1500" dirty="0"/>
          </a:p>
        </p:txBody>
      </p:sp>
      <p:sp>
        <p:nvSpPr>
          <p:cNvPr id="56" name="Shape 53"/>
          <p:cNvSpPr/>
          <p:nvPr/>
        </p:nvSpPr>
        <p:spPr>
          <a:xfrm>
            <a:off x="548640" y="5486400"/>
            <a:ext cx="11091672" cy="658368"/>
          </a:xfrm>
          <a:prstGeom prst="roundRect">
            <a:avLst>
              <a:gd name="adj" fmla="val 11111"/>
            </a:avLst>
          </a:prstGeom>
          <a:solidFill>
            <a:schemeClr val="tx2"/>
          </a:solidFill>
          <a:ln w="12700">
            <a:solidFill>
              <a:srgbClr val="FFFFFF">
                <a:alpha val="0"/>
              </a:srgbClr>
            </a:solidFill>
            <a:prstDash val="solid"/>
          </a:ln>
        </p:spPr>
      </p:sp>
      <p:sp>
        <p:nvSpPr>
          <p:cNvPr id="57" name="Text 54"/>
          <p:cNvSpPr txBox="1"/>
          <p:nvPr/>
        </p:nvSpPr>
        <p:spPr>
          <a:xfrm>
            <a:off x="822960" y="5486400"/>
            <a:ext cx="10607040" cy="658368"/>
          </a:xfrm>
          <a:prstGeom prst="rect">
            <a:avLst/>
          </a:prstGeom>
          <a:noFill/>
          <a:ln/>
        </p:spPr>
        <p:txBody>
          <a:bodyPr wrap="square" lIns="0" tIns="0" rIns="0" bIns="0" rtlCol="0" anchor="ctr"/>
          <a:lstStyle/>
          <a:p>
            <a:pPr algn="l" indent="0" marL="0">
              <a:buNone/>
            </a:pPr>
            <a:r>
              <a:rPr lang="en-US" sz="1800" dirty="0">
                <a:solidFill>
                  <a:schemeClr val="bg1"/>
                </a:solidFill>
              </a:rPr>
              <a:t>L’</a:t>
            </a:r>
            <a:r>
              <a:rPr lang="en-US" sz="1800" i="1" dirty="0">
                <a:solidFill>
                  <a:schemeClr val="bg1"/>
                </a:solidFill>
              </a:rPr>
              <a:t>achterzetsel</a:t>
            </a:r>
            <a:r>
              <a:rPr lang="en-US" sz="1800" dirty="0">
                <a:solidFill>
                  <a:schemeClr val="bg1"/>
                </a:solidFill>
              </a:rPr>
              <a:t> va </a:t>
            </a:r>
            <a:r>
              <a:rPr lang="en-US" sz="1800" b="1" dirty="0">
                <a:solidFill>
                  <a:schemeClr val="bg1"/>
                </a:solidFill>
              </a:rPr>
              <a:t>au bout</a:t>
            </a:r>
            <a:r>
              <a:rPr lang="en-US" sz="1800" dirty="0">
                <a:solidFill>
                  <a:schemeClr val="bg1"/>
                </a:solidFill>
              </a:rPr>
              <a:t>, juste avant le ou les verbes de la fin.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253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66928"/>
          </a:xfrm>
          <a:prstGeom prst="roundRect">
            <a:avLst>
              <a:gd name="adj" fmla="val 16129"/>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HEBBEN</a:t>
            </a:r>
            <a:r>
              <a:rPr lang="en-US" sz="1700" dirty="0">
                <a:solidFill>
                  <a:schemeClr val="bg1"/>
                </a:solidFill>
              </a:rPr>
              <a:t> · activité sur place</a:t>
            </a:r>
            <a:endParaRPr lang="en-US" sz="1700" dirty="0"/>
          </a:p>
        </p:txBody>
      </p:sp>
      <p:sp>
        <p:nvSpPr>
          <p:cNvPr id="8" name="Shape 5"/>
          <p:cNvSpPr/>
          <p:nvPr/>
        </p:nvSpPr>
        <p:spPr>
          <a:xfrm>
            <a:off x="5413248" y="1719072"/>
            <a:ext cx="237744" cy="237744"/>
          </a:xfrm>
          <a:prstGeom prst="ellipse">
            <a:avLst/>
          </a:prstGeom>
          <a:solidFill>
            <a:srgbClr val="FFFFFF"/>
          </a:solidFill>
          <a:ln w="12700">
            <a:solidFill>
              <a:srgbClr val="FFFFFF">
                <a:alpha val="0"/>
              </a:srgbClr>
            </a:solidFill>
            <a:prstDash val="solid"/>
          </a:ln>
        </p:spPr>
      </p:sp>
      <p:sp>
        <p:nvSpPr>
          <p:cNvPr id="9" name="Text 6"/>
          <p:cNvSpPr txBox="1"/>
          <p:nvPr/>
        </p:nvSpPr>
        <p:spPr>
          <a:xfrm>
            <a:off x="777240"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heb</a:t>
            </a:r>
            <a:r>
              <a:rPr lang="en-US" sz="1800" i="1" dirty="0">
                <a:solidFill>
                  <a:schemeClr val="tx1"/>
                </a:solidFill>
              </a:rPr>
              <a:t> in het park gelopen.</a:t>
            </a:r>
            <a:endParaRPr lang="en-US" sz="1800" dirty="0"/>
          </a:p>
          <a:p>
            <a:pPr algn="l" indent="0" marL="0">
              <a:spcAft>
                <a:spcPts val="100"/>
              </a:spcAft>
              <a:buNone/>
            </a:pPr>
            <a:r>
              <a:rPr lang="en-US" sz="1800" dirty="0">
                <a:solidFill>
                  <a:schemeClr val="tx1"/>
                </a:solidFill>
              </a:rPr>
              <a:t>j’ai marché dans le parc</a:t>
            </a:r>
            <a:endParaRPr lang="en-US" sz="1800" dirty="0"/>
          </a:p>
        </p:txBody>
      </p:sp>
      <p:sp>
        <p:nvSpPr>
          <p:cNvPr id="10" name="Text 7"/>
          <p:cNvSpPr txBox="1"/>
          <p:nvPr/>
        </p:nvSpPr>
        <p:spPr>
          <a:xfrm>
            <a:off x="777240"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hebben</a:t>
            </a:r>
            <a:r>
              <a:rPr lang="en-US" sz="1800" i="1" dirty="0">
                <a:solidFill>
                  <a:schemeClr val="tx1"/>
                </a:solidFill>
              </a:rPr>
              <a:t> op de dijk gefietst.</a:t>
            </a:r>
            <a:endParaRPr lang="en-US" sz="1800" dirty="0"/>
          </a:p>
          <a:p>
            <a:pPr algn="l" indent="0" marL="0">
              <a:spcAft>
                <a:spcPts val="100"/>
              </a:spcAft>
              <a:buNone/>
            </a:pPr>
            <a:r>
              <a:rPr lang="en-US" sz="1800" dirty="0">
                <a:solidFill>
                  <a:schemeClr val="tx1"/>
                </a:solidFill>
              </a:rPr>
              <a:t>nous avons roulé sur la digue</a:t>
            </a:r>
            <a:endParaRPr lang="en-US" sz="1800" dirty="0"/>
          </a:p>
        </p:txBody>
      </p:sp>
      <p:sp>
        <p:nvSpPr>
          <p:cNvPr id="11" name="Text 8"/>
          <p:cNvSpPr txBox="1"/>
          <p:nvPr/>
        </p:nvSpPr>
        <p:spPr>
          <a:xfrm>
            <a:off x="777240"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heeft</a:t>
            </a:r>
            <a:r>
              <a:rPr lang="en-US" sz="1800" i="1" dirty="0">
                <a:solidFill>
                  <a:schemeClr val="tx1"/>
                </a:solidFill>
              </a:rPr>
              <a:t> in de zee gezwommen.</a:t>
            </a:r>
            <a:endParaRPr lang="en-US" sz="1800" dirty="0"/>
          </a:p>
          <a:p>
            <a:pPr algn="l" indent="0" marL="0">
              <a:spcAft>
                <a:spcPts val="100"/>
              </a:spcAft>
              <a:buNone/>
            </a:pPr>
            <a:r>
              <a:rPr lang="en-US" sz="1800" dirty="0">
                <a:solidFill>
                  <a:schemeClr val="tx1"/>
                </a:solidFill>
              </a:rPr>
              <a:t>elle a nagé dans la mer</a:t>
            </a:r>
            <a:endParaRPr lang="en-US" sz="1800" dirty="0"/>
          </a:p>
        </p:txBody>
      </p:sp>
      <p:sp>
        <p:nvSpPr>
          <p:cNvPr id="12" name="Shape 9"/>
          <p:cNvSpPr/>
          <p:nvPr/>
        </p:nvSpPr>
        <p:spPr>
          <a:xfrm>
            <a:off x="6227064" y="1554480"/>
            <a:ext cx="5413248" cy="3611880"/>
          </a:xfrm>
          <a:prstGeom prst="roundRect">
            <a:avLst>
              <a:gd name="adj" fmla="val 2532"/>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227064" y="1554480"/>
            <a:ext cx="5413248" cy="566928"/>
          </a:xfrm>
          <a:prstGeom prst="roundRect">
            <a:avLst>
              <a:gd name="adj" fmla="val 16129"/>
            </a:avLst>
          </a:prstGeom>
          <a:solidFill>
            <a:schemeClr val="accent1"/>
          </a:solidFill>
          <a:ln w="12700">
            <a:solidFill>
              <a:srgbClr val="FFFFFF">
                <a:alpha val="0"/>
              </a:srgbClr>
            </a:solidFill>
            <a:prstDash val="solid"/>
          </a:ln>
        </p:spPr>
      </p:sp>
      <p:sp>
        <p:nvSpPr>
          <p:cNvPr id="14" name="Text 11"/>
          <p:cNvSpPr txBox="1"/>
          <p:nvPr/>
        </p:nvSpPr>
        <p:spPr>
          <a:xfrm>
            <a:off x="6409944"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ZIJN</a:t>
            </a:r>
            <a:r>
              <a:rPr lang="en-US" sz="1700" dirty="0">
                <a:solidFill>
                  <a:schemeClr val="bg1"/>
                </a:solidFill>
              </a:rPr>
              <a:t> · déplacement vers un but</a:t>
            </a:r>
            <a:endParaRPr lang="en-US" sz="1700" dirty="0"/>
          </a:p>
        </p:txBody>
      </p:sp>
      <p:sp>
        <p:nvSpPr>
          <p:cNvPr id="15" name="Shape 12"/>
          <p:cNvSpPr/>
          <p:nvPr/>
        </p:nvSpPr>
        <p:spPr>
          <a:xfrm>
            <a:off x="10863072" y="1837944"/>
            <a:ext cx="502920" cy="914"/>
          </a:xfrm>
          <a:prstGeom prst="line">
            <a:avLst/>
          </a:prstGeom>
          <a:noFill/>
          <a:ln w="44450">
            <a:solidFill>
              <a:srgbClr val="FFFFFF"/>
            </a:solidFill>
            <a:prstDash val="solid"/>
            <a:tailEnd type="triangle"/>
          </a:ln>
        </p:spPr>
      </p:sp>
      <p:sp>
        <p:nvSpPr>
          <p:cNvPr id="16" name="Text 13"/>
          <p:cNvSpPr txBox="1"/>
          <p:nvPr/>
        </p:nvSpPr>
        <p:spPr>
          <a:xfrm>
            <a:off x="6455664"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ben</a:t>
            </a:r>
            <a:r>
              <a:rPr lang="en-US" sz="1800" i="1" dirty="0">
                <a:solidFill>
                  <a:schemeClr val="tx1"/>
                </a:solidFill>
              </a:rPr>
              <a:t> het park in gelopen.</a:t>
            </a:r>
            <a:endParaRPr lang="en-US" sz="1800" dirty="0"/>
          </a:p>
          <a:p>
            <a:pPr algn="l" indent="0" marL="0">
              <a:spcAft>
                <a:spcPts val="100"/>
              </a:spcAft>
              <a:buNone/>
            </a:pPr>
            <a:r>
              <a:rPr lang="en-US" sz="1800" dirty="0">
                <a:solidFill>
                  <a:schemeClr val="tx1"/>
                </a:solidFill>
              </a:rPr>
              <a:t>je suis entré dans le parc</a:t>
            </a:r>
            <a:endParaRPr lang="en-US" sz="1800" dirty="0"/>
          </a:p>
        </p:txBody>
      </p:sp>
      <p:sp>
        <p:nvSpPr>
          <p:cNvPr id="17" name="Text 14"/>
          <p:cNvSpPr txBox="1"/>
          <p:nvPr/>
        </p:nvSpPr>
        <p:spPr>
          <a:xfrm>
            <a:off x="6455664"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zijn</a:t>
            </a:r>
            <a:r>
              <a:rPr lang="en-US" sz="1800" i="1" dirty="0">
                <a:solidFill>
                  <a:schemeClr val="tx1"/>
                </a:solidFill>
              </a:rPr>
              <a:t> de dijk op gefietst.</a:t>
            </a:r>
            <a:endParaRPr lang="en-US" sz="1800" dirty="0"/>
          </a:p>
          <a:p>
            <a:pPr algn="l" indent="0" marL="0">
              <a:spcAft>
                <a:spcPts val="100"/>
              </a:spcAft>
              <a:buNone/>
            </a:pPr>
            <a:r>
              <a:rPr lang="en-US" sz="1800" dirty="0">
                <a:solidFill>
                  <a:schemeClr val="tx1"/>
                </a:solidFill>
              </a:rPr>
              <a:t>nous sommes montés sur la digue</a:t>
            </a:r>
            <a:endParaRPr lang="en-US" sz="1800" dirty="0"/>
          </a:p>
        </p:txBody>
      </p:sp>
      <p:sp>
        <p:nvSpPr>
          <p:cNvPr id="18" name="Text 15"/>
          <p:cNvSpPr txBox="1"/>
          <p:nvPr/>
        </p:nvSpPr>
        <p:spPr>
          <a:xfrm>
            <a:off x="6455664"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is</a:t>
            </a:r>
            <a:r>
              <a:rPr lang="en-US" sz="1800" i="1" dirty="0">
                <a:solidFill>
                  <a:schemeClr val="tx1"/>
                </a:solidFill>
              </a:rPr>
              <a:t> de zee in gezwommen.</a:t>
            </a:r>
            <a:endParaRPr lang="en-US" sz="1800" dirty="0"/>
          </a:p>
          <a:p>
            <a:pPr algn="l" indent="0" marL="0">
              <a:spcAft>
                <a:spcPts val="100"/>
              </a:spcAft>
              <a:buNone/>
            </a:pPr>
            <a:r>
              <a:rPr lang="en-US" sz="1800" dirty="0">
                <a:solidFill>
                  <a:schemeClr val="tx1"/>
                </a:solidFill>
              </a:rPr>
              <a:t>elle est entrée dans la mer à la nage</a:t>
            </a:r>
            <a:endParaRPr lang="en-US" sz="1800" dirty="0"/>
          </a:p>
        </p:txBody>
      </p:sp>
      <p:sp>
        <p:nvSpPr>
          <p:cNvPr id="19" name="Shape 16"/>
          <p:cNvSpPr/>
          <p:nvPr/>
        </p:nvSpPr>
        <p:spPr>
          <a:xfrm>
            <a:off x="548640" y="5394960"/>
            <a:ext cx="11091672" cy="777240"/>
          </a:xfrm>
          <a:prstGeom prst="roundRect">
            <a:avLst>
              <a:gd name="adj" fmla="val 9412"/>
            </a:avLst>
          </a:prstGeom>
          <a:solidFill>
            <a:schemeClr val="tx2"/>
          </a:solidFill>
          <a:ln w="12700">
            <a:solidFill>
              <a:srgbClr val="FFFFFF">
                <a:alpha val="0"/>
              </a:srgbClr>
            </a:solidFill>
            <a:prstDash val="solid"/>
          </a:ln>
        </p:spPr>
      </p:sp>
      <p:sp>
        <p:nvSpPr>
          <p:cNvPr id="20" name="Text 17"/>
          <p:cNvSpPr txBox="1"/>
          <p:nvPr/>
        </p:nvSpPr>
        <p:spPr>
          <a:xfrm>
            <a:off x="822960" y="5394960"/>
            <a:ext cx="10607040" cy="777240"/>
          </a:xfrm>
          <a:prstGeom prst="rect">
            <a:avLst/>
          </a:prstGeom>
          <a:noFill/>
          <a:ln/>
        </p:spPr>
        <p:txBody>
          <a:bodyPr wrap="square" lIns="0" tIns="0" rIns="0" bIns="0" rtlCol="0" anchor="ctr"/>
          <a:lstStyle/>
          <a:p>
            <a:pPr algn="l" indent="0" marL="0">
              <a:buNone/>
            </a:pPr>
            <a:r>
              <a:rPr lang="en-US" sz="1700" dirty="0">
                <a:solidFill>
                  <a:schemeClr val="bg1"/>
                </a:solidFill>
              </a:rPr>
              <a:t>verbe de mouvement (sans complément d’objet) + </a:t>
            </a:r>
            <a:r>
              <a:rPr lang="en-US" sz="1700" b="1" dirty="0">
                <a:solidFill>
                  <a:schemeClr val="accent1"/>
                </a:solidFill>
              </a:rPr>
              <a:t>achterzetsel</a:t>
            </a:r>
            <a:r>
              <a:rPr lang="en-US" sz="1700" dirty="0">
                <a:solidFill>
                  <a:schemeClr val="bg1"/>
                </a:solidFill>
              </a:rPr>
              <a:t> → </a:t>
            </a:r>
            <a:r>
              <a:rPr lang="en-US" sz="1700" b="1" dirty="0">
                <a:solidFill>
                  <a:schemeClr val="bg1"/>
                </a:solidFill>
              </a:rPr>
              <a:t>zijn</a:t>
            </a:r>
            <a:r>
              <a:rPr lang="en-US" sz="1700" dirty="0">
                <a:solidFill>
                  <a:schemeClr val="bg1"/>
                </a:solidFill>
              </a:rPr>
              <a:t> · rappel M15 : + </a:t>
            </a:r>
            <a:r>
              <a:rPr lang="en-US" sz="1700" i="1" dirty="0">
                <a:solidFill>
                  <a:schemeClr val="bg1"/>
                </a:solidFill>
              </a:rPr>
              <a:t>hebben</a:t>
            </a:r>
            <a:r>
              <a:rPr lang="en-US" sz="1700" dirty="0">
                <a:solidFill>
                  <a:schemeClr val="bg1"/>
                </a:solidFill>
              </a:rPr>
              <a:t> pour l’activité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nom : naar binnen, naar boven…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645920" y="1463040"/>
            <a:ext cx="3657600" cy="731520"/>
          </a:xfrm>
          <a:custGeom>
            <a:avLst/>
            <a:gdLst/>
            <a:ahLst/>
            <a:cxnLst/>
            <a:rect l="l" t="t" r="r" b="b"/>
            <a:pathLst>
              <a:path w="3657600" h="731520">
                <a:moveTo>
                  <a:pt x="0" y="731520"/>
                </a:moveTo>
                <a:lnTo>
                  <a:pt x="1828800" y="0"/>
                </a:lnTo>
                <a:lnTo>
                  <a:pt x="3657600" y="731520"/>
                </a:lnTo>
                <a:close/>
              </a:path>
            </a:pathLst>
          </a:custGeom>
          <a:solidFill>
            <a:srgbClr val="C0504D"/>
          </a:solidFill>
          <a:ln w="12700">
            <a:solidFill>
              <a:srgbClr val="FFFFFF">
                <a:alpha val="0"/>
              </a:srgbClr>
            </a:solidFill>
            <a:prstDash val="solid"/>
          </a:ln>
        </p:spPr>
      </p:sp>
      <p:sp>
        <p:nvSpPr>
          <p:cNvPr id="6" name="Shape 3"/>
          <p:cNvSpPr/>
          <p:nvPr/>
        </p:nvSpPr>
        <p:spPr>
          <a:xfrm>
            <a:off x="1828800" y="2194560"/>
            <a:ext cx="3291840" cy="3108960"/>
          </a:xfrm>
          <a:prstGeom prst="rect">
            <a:avLst/>
          </a:prstGeom>
          <a:solidFill>
            <a:srgbClr val="FFFFFF"/>
          </a:solidFill>
          <a:ln w="31750">
            <a:solidFill>
              <a:srgbClr val="17375E"/>
            </a:solidFill>
            <a:prstDash val="solid"/>
          </a:ln>
        </p:spPr>
      </p:sp>
      <p:sp>
        <p:nvSpPr>
          <p:cNvPr id="7" name="Shape 4"/>
          <p:cNvSpPr/>
          <p:nvPr/>
        </p:nvSpPr>
        <p:spPr>
          <a:xfrm>
            <a:off x="1828800" y="3749040"/>
            <a:ext cx="3291840" cy="914"/>
          </a:xfrm>
          <a:prstGeom prst="line">
            <a:avLst/>
          </a:prstGeom>
          <a:noFill/>
          <a:ln w="25400">
            <a:solidFill>
              <a:srgbClr val="17375E"/>
            </a:solidFill>
            <a:prstDash val="solid"/>
          </a:ln>
        </p:spPr>
      </p:sp>
      <p:sp>
        <p:nvSpPr>
          <p:cNvPr id="8" name="Shape 5"/>
          <p:cNvSpPr/>
          <p:nvPr/>
        </p:nvSpPr>
        <p:spPr>
          <a:xfrm>
            <a:off x="3474720" y="5029200"/>
            <a:ext cx="301752" cy="274320"/>
          </a:xfrm>
          <a:prstGeom prst="rect">
            <a:avLst/>
          </a:prstGeom>
          <a:solidFill>
            <a:srgbClr val="D5DCE6"/>
          </a:solidFill>
          <a:ln w="12700">
            <a:solidFill>
              <a:srgbClr val="FFFFFF">
                <a:alpha val="0"/>
              </a:srgbClr>
            </a:solidFill>
            <a:prstDash val="solid"/>
          </a:ln>
        </p:spPr>
      </p:sp>
      <p:sp>
        <p:nvSpPr>
          <p:cNvPr id="9" name="Shape 6"/>
          <p:cNvSpPr/>
          <p:nvPr/>
        </p:nvSpPr>
        <p:spPr>
          <a:xfrm>
            <a:off x="3776472" y="4754880"/>
            <a:ext cx="301752" cy="548640"/>
          </a:xfrm>
          <a:prstGeom prst="rect">
            <a:avLst/>
          </a:prstGeom>
          <a:solidFill>
            <a:srgbClr val="D5DCE6"/>
          </a:solidFill>
          <a:ln w="12700">
            <a:solidFill>
              <a:srgbClr val="FFFFFF">
                <a:alpha val="0"/>
              </a:srgbClr>
            </a:solidFill>
            <a:prstDash val="solid"/>
          </a:ln>
        </p:spPr>
      </p:sp>
      <p:sp>
        <p:nvSpPr>
          <p:cNvPr id="10" name="Shape 7"/>
          <p:cNvSpPr/>
          <p:nvPr/>
        </p:nvSpPr>
        <p:spPr>
          <a:xfrm>
            <a:off x="4078224" y="4480560"/>
            <a:ext cx="301752" cy="822960"/>
          </a:xfrm>
          <a:prstGeom prst="rect">
            <a:avLst/>
          </a:prstGeom>
          <a:solidFill>
            <a:srgbClr val="D5DCE6"/>
          </a:solidFill>
          <a:ln w="12700">
            <a:solidFill>
              <a:srgbClr val="FFFFFF">
                <a:alpha val="0"/>
              </a:srgbClr>
            </a:solidFill>
            <a:prstDash val="solid"/>
          </a:ln>
        </p:spPr>
      </p:sp>
      <p:sp>
        <p:nvSpPr>
          <p:cNvPr id="11" name="Shape 8"/>
          <p:cNvSpPr/>
          <p:nvPr/>
        </p:nvSpPr>
        <p:spPr>
          <a:xfrm>
            <a:off x="4379976" y="4206240"/>
            <a:ext cx="301752" cy="1097280"/>
          </a:xfrm>
          <a:prstGeom prst="rect">
            <a:avLst/>
          </a:prstGeom>
          <a:solidFill>
            <a:srgbClr val="D5DCE6"/>
          </a:solidFill>
          <a:ln w="12700">
            <a:solidFill>
              <a:srgbClr val="FFFFFF">
                <a:alpha val="0"/>
              </a:srgbClr>
            </a:solidFill>
            <a:prstDash val="solid"/>
          </a:ln>
        </p:spPr>
      </p:sp>
      <p:sp>
        <p:nvSpPr>
          <p:cNvPr id="12" name="Shape 9"/>
          <p:cNvSpPr/>
          <p:nvPr/>
        </p:nvSpPr>
        <p:spPr>
          <a:xfrm>
            <a:off x="4681728" y="3931920"/>
            <a:ext cx="301752" cy="1371600"/>
          </a:xfrm>
          <a:prstGeom prst="rect">
            <a:avLst/>
          </a:prstGeom>
          <a:solidFill>
            <a:srgbClr val="D5DCE6"/>
          </a:solidFill>
          <a:ln w="12700">
            <a:solidFill>
              <a:srgbClr val="FFFFFF">
                <a:alpha val="0"/>
              </a:srgbClr>
            </a:solidFill>
            <a:prstDash val="solid"/>
          </a:ln>
        </p:spPr>
      </p:sp>
      <p:sp>
        <p:nvSpPr>
          <p:cNvPr id="13" name="Shape 10"/>
          <p:cNvSpPr/>
          <p:nvPr/>
        </p:nvSpPr>
        <p:spPr>
          <a:xfrm>
            <a:off x="1783080" y="4114800"/>
            <a:ext cx="91440" cy="1097280"/>
          </a:xfrm>
          <a:prstGeom prst="rect">
            <a:avLst/>
          </a:prstGeom>
          <a:solidFill>
            <a:srgbClr val="FFFFFF"/>
          </a:solidFill>
          <a:ln w="12700">
            <a:solidFill>
              <a:srgbClr val="FFFFFF">
                <a:alpha val="0"/>
              </a:srgbClr>
            </a:solidFill>
            <a:prstDash val="solid"/>
          </a:ln>
        </p:spPr>
      </p:sp>
      <p:sp>
        <p:nvSpPr>
          <p:cNvPr id="14" name="Shape 11"/>
          <p:cNvSpPr/>
          <p:nvPr/>
        </p:nvSpPr>
        <p:spPr>
          <a:xfrm flipH="1">
            <a:off x="548640" y="4389120"/>
            <a:ext cx="1920240" cy="914"/>
          </a:xfrm>
          <a:prstGeom prst="line">
            <a:avLst/>
          </a:prstGeom>
          <a:noFill/>
          <a:ln w="31750">
            <a:solidFill>
              <a:srgbClr val="4A5A70"/>
            </a:solidFill>
            <a:prstDash val="solid"/>
            <a:tailEnd type="triangle"/>
          </a:ln>
        </p:spPr>
      </p:sp>
      <p:sp>
        <p:nvSpPr>
          <p:cNvPr id="15" name="Text 12"/>
          <p:cNvSpPr txBox="1"/>
          <p:nvPr/>
        </p:nvSpPr>
        <p:spPr>
          <a:xfrm>
            <a:off x="548640" y="3977640"/>
            <a:ext cx="128016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buiten</a:t>
            </a:r>
            <a:endParaRPr lang="en-US" sz="1300" dirty="0"/>
          </a:p>
        </p:txBody>
      </p:sp>
      <p:sp>
        <p:nvSpPr>
          <p:cNvPr id="16" name="Shape 13"/>
          <p:cNvSpPr/>
          <p:nvPr/>
        </p:nvSpPr>
        <p:spPr>
          <a:xfrm>
            <a:off x="548640" y="4983480"/>
            <a:ext cx="2103120" cy="914"/>
          </a:xfrm>
          <a:prstGeom prst="line">
            <a:avLst/>
          </a:prstGeom>
          <a:noFill/>
          <a:ln w="44450">
            <a:solidFill>
              <a:srgbClr val="D9700F"/>
            </a:solidFill>
            <a:prstDash val="solid"/>
            <a:tailEnd type="triangle"/>
          </a:ln>
        </p:spPr>
      </p:sp>
      <p:sp>
        <p:nvSpPr>
          <p:cNvPr id="17" name="Text 14"/>
          <p:cNvSpPr txBox="1"/>
          <p:nvPr/>
        </p:nvSpPr>
        <p:spPr>
          <a:xfrm>
            <a:off x="548640" y="4572000"/>
            <a:ext cx="128016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binnen</a:t>
            </a:r>
            <a:endParaRPr lang="en-US" sz="1300" dirty="0"/>
          </a:p>
        </p:txBody>
      </p:sp>
      <p:sp>
        <p:nvSpPr>
          <p:cNvPr id="18" name="Shape 15"/>
          <p:cNvSpPr/>
          <p:nvPr/>
        </p:nvSpPr>
        <p:spPr>
          <a:xfrm flipV="1">
            <a:off x="3310128" y="4023360"/>
            <a:ext cx="1627632" cy="868680"/>
          </a:xfrm>
          <a:prstGeom prst="line">
            <a:avLst/>
          </a:prstGeom>
          <a:noFill/>
          <a:ln w="44450">
            <a:solidFill>
              <a:srgbClr val="D9700F"/>
            </a:solidFill>
            <a:prstDash val="solid"/>
            <a:tailEnd type="triangle"/>
          </a:ln>
        </p:spPr>
      </p:sp>
      <p:sp>
        <p:nvSpPr>
          <p:cNvPr id="19" name="Text 16"/>
          <p:cNvSpPr txBox="1"/>
          <p:nvPr/>
        </p:nvSpPr>
        <p:spPr>
          <a:xfrm>
            <a:off x="2651760" y="3858768"/>
            <a:ext cx="137160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boven</a:t>
            </a:r>
            <a:endParaRPr lang="en-US" sz="1300" dirty="0"/>
          </a:p>
        </p:txBody>
      </p:sp>
      <p:sp>
        <p:nvSpPr>
          <p:cNvPr id="20" name="Shape 17"/>
          <p:cNvSpPr/>
          <p:nvPr/>
        </p:nvSpPr>
        <p:spPr>
          <a:xfrm>
            <a:off x="2423160" y="2514600"/>
            <a:ext cx="914" cy="1737360"/>
          </a:xfrm>
          <a:prstGeom prst="line">
            <a:avLst/>
          </a:prstGeom>
          <a:noFill/>
          <a:ln w="31750">
            <a:solidFill>
              <a:srgbClr val="4A5A70"/>
            </a:solidFill>
            <a:prstDash val="solid"/>
            <a:tailEnd type="triangle"/>
          </a:ln>
        </p:spPr>
      </p:sp>
      <p:sp>
        <p:nvSpPr>
          <p:cNvPr id="21" name="Text 18"/>
          <p:cNvSpPr txBox="1"/>
          <p:nvPr/>
        </p:nvSpPr>
        <p:spPr>
          <a:xfrm>
            <a:off x="2606040" y="2468880"/>
            <a:ext cx="164592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beneden</a:t>
            </a:r>
            <a:endParaRPr lang="en-US" sz="1300" dirty="0"/>
          </a:p>
        </p:txBody>
      </p:sp>
      <p:pic>
        <p:nvPicPr>
          <p:cNvPr id="22" name="Image 0" descr="person standing">    </p:cNvPr>
          <p:cNvPicPr>
            <a:picLocks noChangeAspect="1"/>
          </p:cNvPicPr>
          <p:nvPr/>
        </p:nvPicPr>
        <p:blipFill>
          <a:blip r:embed="rId1"/>
          <a:stretch>
            <a:fillRect/>
          </a:stretch>
        </p:blipFill>
        <p:spPr>
          <a:xfrm>
            <a:off x="4251960" y="2697480"/>
            <a:ext cx="640080" cy="640080"/>
          </a:xfrm>
          <a:prstGeom prst="rect">
            <a:avLst/>
          </a:prstGeom>
        </p:spPr>
      </p:pic>
      <p:sp>
        <p:nvSpPr>
          <p:cNvPr id="23" name="Text 19"/>
          <p:cNvSpPr txBox="1"/>
          <p:nvPr/>
        </p:nvSpPr>
        <p:spPr>
          <a:xfrm>
            <a:off x="5486400" y="1508760"/>
            <a:ext cx="2011680" cy="320040"/>
          </a:xfrm>
          <a:prstGeom prst="rect">
            <a:avLst/>
          </a:prstGeom>
          <a:noFill/>
          <a:ln/>
        </p:spPr>
        <p:txBody>
          <a:bodyPr wrap="square" lIns="0" tIns="0" rIns="0" bIns="0" rtlCol="0" anchor="t"/>
          <a:lstStyle/>
          <a:p>
            <a:pPr algn="l" indent="0" marL="0">
              <a:buNone/>
            </a:pPr>
            <a:r>
              <a:rPr lang="en-US" sz="1300" b="1" dirty="0">
                <a:solidFill>
                  <a:schemeClr val="accent5"/>
                </a:solidFill>
              </a:rPr>
              <a:t>avec un nom</a:t>
            </a:r>
            <a:endParaRPr lang="en-US" sz="1300" dirty="0"/>
          </a:p>
        </p:txBody>
      </p:sp>
      <p:sp>
        <p:nvSpPr>
          <p:cNvPr id="24" name="Text 20"/>
          <p:cNvSpPr txBox="1"/>
          <p:nvPr/>
        </p:nvSpPr>
        <p:spPr>
          <a:xfrm>
            <a:off x="7543800" y="1508760"/>
            <a:ext cx="2194560" cy="320040"/>
          </a:xfrm>
          <a:prstGeom prst="rect">
            <a:avLst/>
          </a:prstGeom>
          <a:noFill/>
          <a:ln/>
        </p:spPr>
        <p:txBody>
          <a:bodyPr wrap="square" lIns="0" tIns="0" rIns="0" bIns="0" rtlCol="0" anchor="t"/>
          <a:lstStyle/>
          <a:p>
            <a:pPr algn="l" indent="0" marL="0">
              <a:buNone/>
            </a:pPr>
            <a:r>
              <a:rPr lang="en-US" sz="1300" b="1" dirty="0">
                <a:solidFill>
                  <a:schemeClr val="accent1"/>
                </a:solidFill>
              </a:rPr>
              <a:t>sans nom</a:t>
            </a:r>
            <a:r>
              <a:rPr lang="en-US" sz="1300" dirty="0">
                <a:solidFill>
                  <a:schemeClr val="accent1"/>
                </a:solidFill>
              </a:rPr>
              <a:t> (direction)</a:t>
            </a:r>
            <a:endParaRPr lang="en-US" sz="1300" dirty="0"/>
          </a:p>
        </p:txBody>
      </p:sp>
      <p:sp>
        <p:nvSpPr>
          <p:cNvPr id="25" name="Text 21"/>
          <p:cNvSpPr txBox="1"/>
          <p:nvPr/>
        </p:nvSpPr>
        <p:spPr>
          <a:xfrm>
            <a:off x="9829800" y="1508760"/>
            <a:ext cx="1828800" cy="320040"/>
          </a:xfrm>
          <a:prstGeom prst="rect">
            <a:avLst/>
          </a:prstGeom>
          <a:noFill/>
          <a:ln/>
        </p:spPr>
        <p:txBody>
          <a:bodyPr wrap="square" lIns="0" tIns="0" rIns="0" bIns="0" rtlCol="0" anchor="t"/>
          <a:lstStyle/>
          <a:p>
            <a:pPr algn="l" indent="0" marL="0">
              <a:buNone/>
            </a:pPr>
            <a:r>
              <a:rPr lang="en-US" sz="1300" b="1" dirty="0">
                <a:solidFill>
                  <a:schemeClr val="accent2"/>
                </a:solidFill>
              </a:rPr>
              <a:t>lieu</a:t>
            </a:r>
            <a:endParaRPr lang="en-US" sz="1300" dirty="0"/>
          </a:p>
        </p:txBody>
      </p:sp>
      <p:sp>
        <p:nvSpPr>
          <p:cNvPr id="26" name="Shape 22"/>
          <p:cNvSpPr/>
          <p:nvPr/>
        </p:nvSpPr>
        <p:spPr>
          <a:xfrm>
            <a:off x="5486400" y="1874520"/>
            <a:ext cx="6153912" cy="640080"/>
          </a:xfrm>
          <a:prstGeom prst="roundRect">
            <a:avLst>
              <a:gd name="adj" fmla="val 11429"/>
            </a:avLst>
          </a:prstGeom>
          <a:solidFill>
            <a:schemeClr val="bg2"/>
          </a:solidFill>
          <a:ln w="9525">
            <a:solidFill>
              <a:srgbClr val="D5DCE6"/>
            </a:solidFill>
            <a:prstDash val="solid"/>
          </a:ln>
        </p:spPr>
      </p:sp>
      <p:sp>
        <p:nvSpPr>
          <p:cNvPr id="27" name="Text 23"/>
          <p:cNvSpPr txBox="1"/>
          <p:nvPr/>
        </p:nvSpPr>
        <p:spPr>
          <a:xfrm>
            <a:off x="5577840" y="187452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keuken </a:t>
            </a:r>
            <a:r>
              <a:rPr lang="en-US" sz="1600" b="1" i="1" dirty="0">
                <a:solidFill>
                  <a:schemeClr val="accent1"/>
                </a:solidFill>
              </a:rPr>
              <a:t>in</a:t>
            </a:r>
            <a:endParaRPr lang="en-US" sz="1600" dirty="0"/>
          </a:p>
        </p:txBody>
      </p:sp>
      <p:sp>
        <p:nvSpPr>
          <p:cNvPr id="28" name="Text 24"/>
          <p:cNvSpPr txBox="1"/>
          <p:nvPr/>
        </p:nvSpPr>
        <p:spPr>
          <a:xfrm>
            <a:off x="7543800" y="187452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binnen</a:t>
            </a:r>
            <a:endParaRPr lang="en-US" sz="1600" dirty="0"/>
          </a:p>
          <a:p>
            <a:pPr algn="l" indent="0" marL="0">
              <a:buNone/>
            </a:pPr>
            <a:r>
              <a:rPr lang="en-US" sz="1600" dirty="0">
                <a:solidFill>
                  <a:schemeClr val="tx1"/>
                </a:solidFill>
              </a:rPr>
              <a:t>entrer / à l’intérieur</a:t>
            </a:r>
            <a:endParaRPr lang="en-US" sz="1600" dirty="0"/>
          </a:p>
        </p:txBody>
      </p:sp>
      <p:sp>
        <p:nvSpPr>
          <p:cNvPr id="29" name="Text 25"/>
          <p:cNvSpPr txBox="1"/>
          <p:nvPr/>
        </p:nvSpPr>
        <p:spPr>
          <a:xfrm>
            <a:off x="9829800" y="187452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binnen</a:t>
            </a:r>
            <a:endParaRPr lang="en-US" sz="1700" dirty="0"/>
          </a:p>
        </p:txBody>
      </p:sp>
      <p:sp>
        <p:nvSpPr>
          <p:cNvPr id="30" name="Shape 26"/>
          <p:cNvSpPr/>
          <p:nvPr/>
        </p:nvSpPr>
        <p:spPr>
          <a:xfrm>
            <a:off x="5486400" y="2606040"/>
            <a:ext cx="6153912" cy="640080"/>
          </a:xfrm>
          <a:prstGeom prst="roundRect">
            <a:avLst>
              <a:gd name="adj" fmla="val 11429"/>
            </a:avLst>
          </a:prstGeom>
          <a:solidFill>
            <a:srgbClr val="FFFFFF"/>
          </a:solidFill>
          <a:ln w="9525">
            <a:solidFill>
              <a:srgbClr val="D5DCE6"/>
            </a:solidFill>
            <a:prstDash val="solid"/>
          </a:ln>
        </p:spPr>
      </p:sp>
      <p:sp>
        <p:nvSpPr>
          <p:cNvPr id="31" name="Text 27"/>
          <p:cNvSpPr txBox="1"/>
          <p:nvPr/>
        </p:nvSpPr>
        <p:spPr>
          <a:xfrm>
            <a:off x="5577840" y="260604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het gebouw </a:t>
            </a:r>
            <a:r>
              <a:rPr lang="en-US" sz="1600" b="1" i="1" dirty="0">
                <a:solidFill>
                  <a:schemeClr val="accent1"/>
                </a:solidFill>
              </a:rPr>
              <a:t>uit</a:t>
            </a:r>
            <a:endParaRPr lang="en-US" sz="1600" dirty="0"/>
          </a:p>
        </p:txBody>
      </p:sp>
      <p:sp>
        <p:nvSpPr>
          <p:cNvPr id="32" name="Text 28"/>
          <p:cNvSpPr txBox="1"/>
          <p:nvPr/>
        </p:nvSpPr>
        <p:spPr>
          <a:xfrm>
            <a:off x="7543800" y="260604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buiten</a:t>
            </a:r>
            <a:endParaRPr lang="en-US" sz="1600" dirty="0"/>
          </a:p>
          <a:p>
            <a:pPr algn="l" indent="0" marL="0">
              <a:buNone/>
            </a:pPr>
            <a:r>
              <a:rPr lang="en-US" sz="1600" dirty="0">
                <a:solidFill>
                  <a:schemeClr val="tx1"/>
                </a:solidFill>
              </a:rPr>
              <a:t>sortir / dehors</a:t>
            </a:r>
            <a:endParaRPr lang="en-US" sz="1600" dirty="0"/>
          </a:p>
        </p:txBody>
      </p:sp>
      <p:sp>
        <p:nvSpPr>
          <p:cNvPr id="33" name="Text 29"/>
          <p:cNvSpPr txBox="1"/>
          <p:nvPr/>
        </p:nvSpPr>
        <p:spPr>
          <a:xfrm>
            <a:off x="9829800" y="260604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buiten</a:t>
            </a:r>
            <a:endParaRPr lang="en-US" sz="1700" dirty="0"/>
          </a:p>
        </p:txBody>
      </p:sp>
      <p:sp>
        <p:nvSpPr>
          <p:cNvPr id="34" name="Shape 30"/>
          <p:cNvSpPr/>
          <p:nvPr/>
        </p:nvSpPr>
        <p:spPr>
          <a:xfrm>
            <a:off x="5486400" y="3337560"/>
            <a:ext cx="6153912" cy="640080"/>
          </a:xfrm>
          <a:prstGeom prst="roundRect">
            <a:avLst>
              <a:gd name="adj" fmla="val 11429"/>
            </a:avLst>
          </a:prstGeom>
          <a:solidFill>
            <a:schemeClr val="bg2"/>
          </a:solidFill>
          <a:ln w="9525">
            <a:solidFill>
              <a:srgbClr val="D5DCE6"/>
            </a:solidFill>
            <a:prstDash val="solid"/>
          </a:ln>
        </p:spPr>
      </p:sp>
      <p:sp>
        <p:nvSpPr>
          <p:cNvPr id="35" name="Text 31"/>
          <p:cNvSpPr txBox="1"/>
          <p:nvPr/>
        </p:nvSpPr>
        <p:spPr>
          <a:xfrm>
            <a:off x="5577840" y="333756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op</a:t>
            </a:r>
            <a:endParaRPr lang="en-US" sz="1600" dirty="0"/>
          </a:p>
        </p:txBody>
      </p:sp>
      <p:sp>
        <p:nvSpPr>
          <p:cNvPr id="36" name="Text 32"/>
          <p:cNvSpPr txBox="1"/>
          <p:nvPr/>
        </p:nvSpPr>
        <p:spPr>
          <a:xfrm>
            <a:off x="7543800" y="333756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boven</a:t>
            </a:r>
            <a:endParaRPr lang="en-US" sz="1600" dirty="0"/>
          </a:p>
          <a:p>
            <a:pPr algn="l" indent="0" marL="0">
              <a:buNone/>
            </a:pPr>
            <a:r>
              <a:rPr lang="en-US" sz="1600" dirty="0">
                <a:solidFill>
                  <a:schemeClr val="tx1"/>
                </a:solidFill>
              </a:rPr>
              <a:t>monter / en haut</a:t>
            </a:r>
            <a:endParaRPr lang="en-US" sz="1600" dirty="0"/>
          </a:p>
        </p:txBody>
      </p:sp>
      <p:sp>
        <p:nvSpPr>
          <p:cNvPr id="37" name="Text 33"/>
          <p:cNvSpPr txBox="1"/>
          <p:nvPr/>
        </p:nvSpPr>
        <p:spPr>
          <a:xfrm>
            <a:off x="9829800" y="333756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boven</a:t>
            </a:r>
            <a:endParaRPr lang="en-US" sz="1700" dirty="0"/>
          </a:p>
        </p:txBody>
      </p:sp>
      <p:sp>
        <p:nvSpPr>
          <p:cNvPr id="38" name="Shape 34"/>
          <p:cNvSpPr/>
          <p:nvPr/>
        </p:nvSpPr>
        <p:spPr>
          <a:xfrm>
            <a:off x="5486400" y="4069080"/>
            <a:ext cx="6153912" cy="640080"/>
          </a:xfrm>
          <a:prstGeom prst="roundRect">
            <a:avLst>
              <a:gd name="adj" fmla="val 11429"/>
            </a:avLst>
          </a:prstGeom>
          <a:solidFill>
            <a:srgbClr val="FFFFFF"/>
          </a:solidFill>
          <a:ln w="9525">
            <a:solidFill>
              <a:srgbClr val="D5DCE6"/>
            </a:solidFill>
            <a:prstDash val="solid"/>
          </a:ln>
        </p:spPr>
      </p:sp>
      <p:sp>
        <p:nvSpPr>
          <p:cNvPr id="39" name="Text 35"/>
          <p:cNvSpPr txBox="1"/>
          <p:nvPr/>
        </p:nvSpPr>
        <p:spPr>
          <a:xfrm>
            <a:off x="5577840" y="406908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af</a:t>
            </a:r>
            <a:endParaRPr lang="en-US" sz="1600" dirty="0"/>
          </a:p>
        </p:txBody>
      </p:sp>
      <p:sp>
        <p:nvSpPr>
          <p:cNvPr id="40" name="Text 36"/>
          <p:cNvSpPr txBox="1"/>
          <p:nvPr/>
        </p:nvSpPr>
        <p:spPr>
          <a:xfrm>
            <a:off x="7543800" y="406908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beneden</a:t>
            </a:r>
            <a:endParaRPr lang="en-US" sz="1600" dirty="0"/>
          </a:p>
          <a:p>
            <a:pPr algn="l" indent="0" marL="0">
              <a:buNone/>
            </a:pPr>
            <a:r>
              <a:rPr lang="en-US" sz="1600" dirty="0">
                <a:solidFill>
                  <a:schemeClr val="tx1"/>
                </a:solidFill>
              </a:rPr>
              <a:t>descendre / en bas</a:t>
            </a:r>
            <a:endParaRPr lang="en-US" sz="1600" dirty="0"/>
          </a:p>
        </p:txBody>
      </p:sp>
      <p:sp>
        <p:nvSpPr>
          <p:cNvPr id="41" name="Text 37"/>
          <p:cNvSpPr txBox="1"/>
          <p:nvPr/>
        </p:nvSpPr>
        <p:spPr>
          <a:xfrm>
            <a:off x="9829800" y="406908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beneden</a:t>
            </a:r>
            <a:endParaRPr lang="en-US" sz="1700" dirty="0"/>
          </a:p>
        </p:txBody>
      </p:sp>
      <p:sp>
        <p:nvSpPr>
          <p:cNvPr id="42" name="Shape 38"/>
          <p:cNvSpPr/>
          <p:nvPr/>
        </p:nvSpPr>
        <p:spPr>
          <a:xfrm>
            <a:off x="5486400" y="4892040"/>
            <a:ext cx="6153912" cy="566928"/>
          </a:xfrm>
          <a:prstGeom prst="roundRect">
            <a:avLst>
              <a:gd name="adj" fmla="val 12903"/>
            </a:avLst>
          </a:prstGeom>
          <a:solidFill>
            <a:srgbClr val="EAF2FB"/>
          </a:solidFill>
          <a:ln w="12700">
            <a:solidFill>
              <a:srgbClr val="2A6FB0"/>
            </a:solidFill>
            <a:prstDash val="solid"/>
          </a:ln>
        </p:spPr>
      </p:sp>
      <p:sp>
        <p:nvSpPr>
          <p:cNvPr id="43" name="Text 39"/>
          <p:cNvSpPr txBox="1"/>
          <p:nvPr/>
        </p:nvSpPr>
        <p:spPr>
          <a:xfrm>
            <a:off x="5623560" y="4892040"/>
            <a:ext cx="5943600" cy="566928"/>
          </a:xfrm>
          <a:prstGeom prst="rect">
            <a:avLst/>
          </a:prstGeom>
          <a:noFill/>
          <a:ln/>
        </p:spPr>
        <p:txBody>
          <a:bodyPr wrap="square" lIns="0" tIns="0" rIns="0" bIns="0" rtlCol="0" anchor="ctr"/>
          <a:lstStyle/>
          <a:p>
            <a:pPr algn="l" indent="0" marL="0">
              <a:buNone/>
            </a:pPr>
            <a:r>
              <a:rPr lang="en-US" sz="1500" dirty="0">
                <a:solidFill>
                  <a:schemeClr val="tx1"/>
                </a:solidFill>
              </a:rPr>
              <a:t>Avec </a:t>
            </a:r>
            <a:r>
              <a:rPr lang="en-US" sz="1500" i="1" dirty="0">
                <a:solidFill>
                  <a:schemeClr val="tx1"/>
                </a:solidFill>
              </a:rPr>
              <a:t>er</a:t>
            </a:r>
            <a:r>
              <a:rPr lang="en-US" sz="1500" dirty="0">
                <a:solidFill>
                  <a:schemeClr val="tx1"/>
                </a:solidFill>
              </a:rPr>
              <a:t> (M23) : </a:t>
            </a:r>
            <a:r>
              <a:rPr lang="en-US" sz="1500" i="1" dirty="0">
                <a:solidFill>
                  <a:schemeClr val="tx1"/>
                </a:solidFill>
              </a:rPr>
              <a:t>Daar is de lift. Ik stap </a:t>
            </a:r>
            <a:r>
              <a:rPr lang="en-US" sz="1500" b="1" i="1" dirty="0">
                <a:solidFill>
                  <a:schemeClr val="tx1"/>
                </a:solidFill>
              </a:rPr>
              <a:t>erin</a:t>
            </a:r>
            <a:r>
              <a:rPr lang="en-US" sz="1500" i="1" dirty="0">
                <a:solidFill>
                  <a:schemeClr val="tx1"/>
                </a:solidFill>
              </a:rPr>
              <a:t>. · … </a:t>
            </a:r>
            <a:r>
              <a:rPr lang="en-US" sz="1500" b="1" i="1" dirty="0">
                <a:solidFill>
                  <a:schemeClr val="tx1"/>
                </a:solidFill>
              </a:rPr>
              <a:t>eruit</a:t>
            </a:r>
            <a:r>
              <a:rPr lang="en-US" sz="1500" i="1" dirty="0">
                <a:solidFill>
                  <a:schemeClr val="tx1"/>
                </a:solidFill>
              </a:rPr>
              <a:t>.</a:t>
            </a:r>
            <a:endParaRPr lang="en-US" sz="1500" dirty="0"/>
          </a:p>
        </p:txBody>
      </p:sp>
      <p:sp>
        <p:nvSpPr>
          <p:cNvPr id="44" name="Shape 40"/>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5" name="Text 41"/>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Ik ben </a:t>
            </a:r>
            <a:r>
              <a:rPr lang="en-US" sz="1700" b="1" i="1" dirty="0">
                <a:solidFill>
                  <a:schemeClr val="bg1"/>
                </a:solidFill>
              </a:rPr>
              <a:t>boven</a:t>
            </a:r>
            <a:r>
              <a:rPr lang="en-US" sz="1700" dirty="0">
                <a:solidFill>
                  <a:schemeClr val="bg1"/>
                </a:solidFill>
              </a:rPr>
              <a:t> (lieu) · </a:t>
            </a:r>
            <a:r>
              <a:rPr lang="en-US" sz="1700" i="1" dirty="0">
                <a:solidFill>
                  <a:schemeClr val="bg1"/>
                </a:solidFill>
              </a:rPr>
              <a:t>Ik ga </a:t>
            </a:r>
            <a:r>
              <a:rPr lang="en-US" sz="1700" b="1" i="1" dirty="0">
                <a:solidFill>
                  <a:schemeClr val="bg1"/>
                </a:solidFill>
              </a:rPr>
              <a:t>naar boven</a:t>
            </a:r>
            <a:r>
              <a:rPr lang="en-US" sz="1700" dirty="0">
                <a:solidFill>
                  <a:schemeClr val="bg1"/>
                </a:solidFill>
              </a:rPr>
              <a:t> (direction) — et la formule figée </a:t>
            </a:r>
            <a:r>
              <a:rPr lang="en-US" sz="1700" i="1" dirty="0">
                <a:solidFill>
                  <a:schemeClr val="bg1"/>
                </a:solidFill>
              </a:rPr>
              <a:t>Kom binnen!</a:t>
            </a:r>
            <a:r>
              <a:rPr lang="en-US" sz="1700" dirty="0">
                <a:solidFill>
                  <a:schemeClr val="bg1"/>
                </a:solidFill>
              </a:rPr>
              <a:t> (M16)</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omzetsels (en deux morceaux)</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a:off x="548640" y="1554480"/>
            <a:ext cx="2649474" cy="1828800"/>
          </a:xfrm>
          <a:prstGeom prst="roundRect">
            <a:avLst>
              <a:gd name="adj" fmla="val 5000"/>
            </a:avLst>
          </a:prstGeom>
          <a:solidFill>
            <a:srgbClr val="FFFFFF"/>
          </a:solidFill>
          <a:ln w="19050">
            <a:solidFill>
              <a:srgbClr val="B4236A"/>
            </a:solidFill>
            <a:prstDash val="solid"/>
          </a:ln>
        </p:spPr>
      </p:sp>
      <p:pic>
        <p:nvPicPr>
          <p:cNvPr id="6" name="Image 0" descr="door">    </p:cNvPr>
          <p:cNvPicPr>
            <a:picLocks noChangeAspect="1"/>
          </p:cNvPicPr>
          <p:nvPr/>
        </p:nvPicPr>
        <p:blipFill>
          <a:blip r:embed="rId1"/>
          <a:stretch>
            <a:fillRect/>
          </a:stretch>
        </p:blipFill>
        <p:spPr>
          <a:xfrm>
            <a:off x="1188720" y="1897380"/>
            <a:ext cx="320040" cy="320040"/>
          </a:xfrm>
          <a:prstGeom prst="rect">
            <a:avLst/>
          </a:prstGeom>
        </p:spPr>
      </p:pic>
      <p:sp>
        <p:nvSpPr>
          <p:cNvPr id="7" name="Shape 3"/>
          <p:cNvSpPr/>
          <p:nvPr/>
        </p:nvSpPr>
        <p:spPr>
          <a:xfrm>
            <a:off x="685800" y="2103120"/>
            <a:ext cx="457200" cy="914"/>
          </a:xfrm>
          <a:prstGeom prst="line">
            <a:avLst/>
          </a:prstGeom>
          <a:noFill/>
          <a:ln w="44450">
            <a:solidFill>
              <a:srgbClr val="B4236A"/>
            </a:solidFill>
            <a:prstDash val="solid"/>
            <a:tailEnd type="triangle"/>
          </a:ln>
        </p:spPr>
      </p:sp>
      <p:sp>
        <p:nvSpPr>
          <p:cNvPr id="8" name="Text 4"/>
          <p:cNvSpPr txBox="1"/>
          <p:nvPr/>
        </p:nvSpPr>
        <p:spPr>
          <a:xfrm>
            <a:off x="1600200"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naar ▢ toe</a:t>
            </a:r>
            <a:endParaRPr lang="en-US" sz="1500" dirty="0"/>
          </a:p>
        </p:txBody>
      </p:sp>
      <p:sp>
        <p:nvSpPr>
          <p:cNvPr id="9" name="Text 5"/>
          <p:cNvSpPr txBox="1"/>
          <p:nvPr/>
        </p:nvSpPr>
        <p:spPr>
          <a:xfrm>
            <a:off x="1600200"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vers</a:t>
            </a:r>
            <a:endParaRPr lang="en-US" sz="1300" dirty="0"/>
          </a:p>
        </p:txBody>
      </p:sp>
      <p:sp>
        <p:nvSpPr>
          <p:cNvPr id="10" name="Text 6"/>
          <p:cNvSpPr txBox="1"/>
          <p:nvPr/>
        </p:nvSpPr>
        <p:spPr>
          <a:xfrm>
            <a:off x="658368"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Ik loop </a:t>
            </a:r>
            <a:r>
              <a:rPr lang="en-US" sz="1400" b="1" i="1" dirty="0">
                <a:solidFill>
                  <a:schemeClr val="accent4"/>
                </a:solidFill>
              </a:rPr>
              <a:t>naar</a:t>
            </a:r>
            <a:r>
              <a:rPr lang="en-US" sz="1400" i="1" dirty="0">
                <a:solidFill>
                  <a:schemeClr val="tx1"/>
                </a:solidFill>
              </a:rPr>
              <a:t> de deur </a:t>
            </a:r>
            <a:r>
              <a:rPr lang="en-US" sz="1400" b="1" i="1" dirty="0">
                <a:solidFill>
                  <a:schemeClr val="accent4"/>
                </a:solidFill>
              </a:rPr>
              <a:t>toe</a:t>
            </a:r>
            <a:r>
              <a:rPr lang="en-US" sz="1400" i="1" dirty="0">
                <a:solidFill>
                  <a:schemeClr val="tx1"/>
                </a:solidFill>
              </a:rPr>
              <a:t>.</a:t>
            </a:r>
            <a:endParaRPr lang="en-US" sz="1400" dirty="0"/>
          </a:p>
        </p:txBody>
      </p:sp>
      <p:sp>
        <p:nvSpPr>
          <p:cNvPr id="11" name="Shape 7"/>
          <p:cNvSpPr/>
          <p:nvPr/>
        </p:nvSpPr>
        <p:spPr>
          <a:xfrm>
            <a:off x="3362706" y="1554480"/>
            <a:ext cx="2649474" cy="1828800"/>
          </a:xfrm>
          <a:prstGeom prst="roundRect">
            <a:avLst>
              <a:gd name="adj" fmla="val 5000"/>
            </a:avLst>
          </a:prstGeom>
          <a:solidFill>
            <a:srgbClr val="FFFFFF"/>
          </a:solidFill>
          <a:ln w="19050">
            <a:solidFill>
              <a:srgbClr val="B4236A"/>
            </a:solidFill>
            <a:prstDash val="solid"/>
          </a:ln>
        </p:spPr>
      </p:sp>
      <p:sp>
        <p:nvSpPr>
          <p:cNvPr id="12" name="Shape 8"/>
          <p:cNvSpPr/>
          <p:nvPr/>
        </p:nvSpPr>
        <p:spPr>
          <a:xfrm>
            <a:off x="3545586" y="1965960"/>
            <a:ext cx="502920" cy="64008"/>
          </a:xfrm>
          <a:prstGeom prst="rect">
            <a:avLst/>
          </a:prstGeom>
          <a:solidFill>
            <a:srgbClr val="B07A4A"/>
          </a:solidFill>
          <a:ln w="12700">
            <a:solidFill>
              <a:srgbClr val="FFFFFF">
                <a:alpha val="0"/>
              </a:srgbClr>
            </a:solidFill>
            <a:prstDash val="solid"/>
          </a:ln>
        </p:spPr>
      </p:sp>
      <p:sp>
        <p:nvSpPr>
          <p:cNvPr id="13" name="Shape 9"/>
          <p:cNvSpPr/>
          <p:nvPr/>
        </p:nvSpPr>
        <p:spPr>
          <a:xfrm>
            <a:off x="3591306" y="2029968"/>
            <a:ext cx="914" cy="393192"/>
          </a:xfrm>
          <a:prstGeom prst="line">
            <a:avLst/>
          </a:prstGeom>
          <a:noFill/>
          <a:ln w="25400">
            <a:solidFill>
              <a:srgbClr val="8A5A33"/>
            </a:solidFill>
            <a:prstDash val="solid"/>
          </a:ln>
        </p:spPr>
      </p:sp>
      <p:sp>
        <p:nvSpPr>
          <p:cNvPr id="14" name="Shape 10"/>
          <p:cNvSpPr/>
          <p:nvPr/>
        </p:nvSpPr>
        <p:spPr>
          <a:xfrm>
            <a:off x="4002786" y="2029968"/>
            <a:ext cx="914" cy="393192"/>
          </a:xfrm>
          <a:prstGeom prst="line">
            <a:avLst/>
          </a:prstGeom>
          <a:noFill/>
          <a:ln w="25400">
            <a:solidFill>
              <a:srgbClr val="8A5A33"/>
            </a:solidFill>
            <a:prstDash val="solid"/>
          </a:ln>
        </p:spPr>
      </p:sp>
      <p:pic>
        <p:nvPicPr>
          <p:cNvPr id="15" name="Image 1" descr="cat">    </p:cNvPr>
          <p:cNvPicPr>
            <a:picLocks noChangeAspect="1"/>
          </p:cNvPicPr>
          <p:nvPr/>
        </p:nvPicPr>
        <p:blipFill>
          <a:blip r:embed="rId2"/>
          <a:stretch>
            <a:fillRect/>
          </a:stretch>
        </p:blipFill>
        <p:spPr>
          <a:xfrm>
            <a:off x="3682746" y="1719072"/>
            <a:ext cx="228600" cy="228600"/>
          </a:xfrm>
          <a:prstGeom prst="rect">
            <a:avLst/>
          </a:prstGeom>
        </p:spPr>
      </p:pic>
      <p:sp>
        <p:nvSpPr>
          <p:cNvPr id="16" name="Shape 11"/>
          <p:cNvSpPr/>
          <p:nvPr/>
        </p:nvSpPr>
        <p:spPr>
          <a:xfrm>
            <a:off x="3911346" y="1920240"/>
            <a:ext cx="365760" cy="530352"/>
          </a:xfrm>
          <a:prstGeom prst="line">
            <a:avLst/>
          </a:prstGeom>
          <a:noFill/>
          <a:ln w="44450">
            <a:solidFill>
              <a:srgbClr val="B4236A"/>
            </a:solidFill>
            <a:prstDash val="solid"/>
            <a:tailEnd type="triangle"/>
          </a:ln>
        </p:spPr>
      </p:sp>
      <p:sp>
        <p:nvSpPr>
          <p:cNvPr id="17" name="Text 12"/>
          <p:cNvSpPr txBox="1"/>
          <p:nvPr/>
        </p:nvSpPr>
        <p:spPr>
          <a:xfrm>
            <a:off x="4414266"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van ▢ af</a:t>
            </a:r>
            <a:endParaRPr lang="en-US" sz="1500" dirty="0"/>
          </a:p>
        </p:txBody>
      </p:sp>
      <p:sp>
        <p:nvSpPr>
          <p:cNvPr id="18" name="Text 13"/>
          <p:cNvSpPr txBox="1"/>
          <p:nvPr/>
        </p:nvSpPr>
        <p:spPr>
          <a:xfrm>
            <a:off x="4414266"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descendre de</a:t>
            </a:r>
            <a:endParaRPr lang="en-US" sz="1300" dirty="0"/>
          </a:p>
        </p:txBody>
      </p:sp>
      <p:sp>
        <p:nvSpPr>
          <p:cNvPr id="19" name="Text 14"/>
          <p:cNvSpPr txBox="1"/>
          <p:nvPr/>
        </p:nvSpPr>
        <p:spPr>
          <a:xfrm>
            <a:off x="3472434"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kat springt </a:t>
            </a:r>
            <a:r>
              <a:rPr lang="en-US" sz="1400" b="1" i="1" dirty="0">
                <a:solidFill>
                  <a:schemeClr val="accent4"/>
                </a:solidFill>
              </a:rPr>
              <a:t>van</a:t>
            </a:r>
            <a:r>
              <a:rPr lang="en-US" sz="1400" i="1" dirty="0">
                <a:solidFill>
                  <a:schemeClr val="tx1"/>
                </a:solidFill>
              </a:rPr>
              <a:t> de tafel </a:t>
            </a:r>
            <a:r>
              <a:rPr lang="en-US" sz="1400" b="1" i="1" dirty="0">
                <a:solidFill>
                  <a:schemeClr val="accent4"/>
                </a:solidFill>
              </a:rPr>
              <a:t>af</a:t>
            </a:r>
            <a:r>
              <a:rPr lang="en-US" sz="1400" i="1" dirty="0">
                <a:solidFill>
                  <a:schemeClr val="tx1"/>
                </a:solidFill>
              </a:rPr>
              <a:t>.</a:t>
            </a:r>
            <a:endParaRPr lang="en-US" sz="1400" dirty="0"/>
          </a:p>
        </p:txBody>
      </p:sp>
      <p:sp>
        <p:nvSpPr>
          <p:cNvPr id="20" name="Shape 15"/>
          <p:cNvSpPr/>
          <p:nvPr/>
        </p:nvSpPr>
        <p:spPr>
          <a:xfrm>
            <a:off x="6176772" y="1554480"/>
            <a:ext cx="2649474" cy="1828800"/>
          </a:xfrm>
          <a:prstGeom prst="roundRect">
            <a:avLst>
              <a:gd name="adj" fmla="val 5000"/>
            </a:avLst>
          </a:prstGeom>
          <a:solidFill>
            <a:srgbClr val="FFFFFF"/>
          </a:solidFill>
          <a:ln w="19050">
            <a:solidFill>
              <a:srgbClr val="B4236A"/>
            </a:solidFill>
            <a:prstDash val="solid"/>
          </a:ln>
        </p:spPr>
      </p:sp>
      <p:sp>
        <p:nvSpPr>
          <p:cNvPr id="21" name="Shape 16"/>
          <p:cNvSpPr/>
          <p:nvPr/>
        </p:nvSpPr>
        <p:spPr>
          <a:xfrm>
            <a:off x="6560820" y="2057400"/>
            <a:ext cx="329184" cy="365760"/>
          </a:xfrm>
          <a:prstGeom prst="rect">
            <a:avLst/>
          </a:prstGeom>
          <a:solidFill>
            <a:srgbClr val="D5DCE6"/>
          </a:solidFill>
          <a:ln w="12700">
            <a:solidFill>
              <a:srgbClr val="4A5A70"/>
            </a:solidFill>
            <a:prstDash val="solid"/>
          </a:ln>
        </p:spPr>
      </p:sp>
      <p:sp>
        <p:nvSpPr>
          <p:cNvPr id="22" name="Shape 17"/>
          <p:cNvSpPr/>
          <p:nvPr/>
        </p:nvSpPr>
        <p:spPr>
          <a:xfrm>
            <a:off x="6377940" y="1874520"/>
            <a:ext cx="694944" cy="91440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23" name="Text 18"/>
          <p:cNvSpPr txBox="1"/>
          <p:nvPr/>
        </p:nvSpPr>
        <p:spPr>
          <a:xfrm>
            <a:off x="7228332"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om ▢ heen</a:t>
            </a:r>
            <a:endParaRPr lang="en-US" sz="1500" dirty="0"/>
          </a:p>
        </p:txBody>
      </p:sp>
      <p:sp>
        <p:nvSpPr>
          <p:cNvPr id="24" name="Text 19"/>
          <p:cNvSpPr txBox="1"/>
          <p:nvPr/>
        </p:nvSpPr>
        <p:spPr>
          <a:xfrm>
            <a:off x="7228332"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autour de</a:t>
            </a:r>
            <a:endParaRPr lang="en-US" sz="1300" dirty="0"/>
          </a:p>
        </p:txBody>
      </p:sp>
      <p:sp>
        <p:nvSpPr>
          <p:cNvPr id="25" name="Text 20"/>
          <p:cNvSpPr txBox="1"/>
          <p:nvPr/>
        </p:nvSpPr>
        <p:spPr>
          <a:xfrm>
            <a:off x="6286500"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We lopen </a:t>
            </a:r>
            <a:r>
              <a:rPr lang="en-US" sz="1400" b="1" i="1" dirty="0">
                <a:solidFill>
                  <a:schemeClr val="accent4"/>
                </a:solidFill>
              </a:rPr>
              <a:t>om</a:t>
            </a:r>
            <a:r>
              <a:rPr lang="en-US" sz="1400" i="1" dirty="0">
                <a:solidFill>
                  <a:schemeClr val="tx1"/>
                </a:solidFill>
              </a:rPr>
              <a:t> het gebouw </a:t>
            </a:r>
            <a:r>
              <a:rPr lang="en-US" sz="1400" b="1" i="1" dirty="0">
                <a:solidFill>
                  <a:schemeClr val="accent4"/>
                </a:solidFill>
              </a:rPr>
              <a:t>heen</a:t>
            </a:r>
            <a:r>
              <a:rPr lang="en-US" sz="1400" i="1" dirty="0">
                <a:solidFill>
                  <a:schemeClr val="tx1"/>
                </a:solidFill>
              </a:rPr>
              <a:t>.</a:t>
            </a:r>
            <a:endParaRPr lang="en-US" sz="1400" dirty="0"/>
          </a:p>
        </p:txBody>
      </p:sp>
      <p:sp>
        <p:nvSpPr>
          <p:cNvPr id="26" name="Shape 21"/>
          <p:cNvSpPr/>
          <p:nvPr/>
        </p:nvSpPr>
        <p:spPr>
          <a:xfrm>
            <a:off x="8990838" y="1554480"/>
            <a:ext cx="2649474" cy="1828800"/>
          </a:xfrm>
          <a:prstGeom prst="roundRect">
            <a:avLst>
              <a:gd name="adj" fmla="val 5000"/>
            </a:avLst>
          </a:prstGeom>
          <a:solidFill>
            <a:srgbClr val="FFFFFF"/>
          </a:solidFill>
          <a:ln w="19050">
            <a:solidFill>
              <a:srgbClr val="B4236A"/>
            </a:solidFill>
            <a:prstDash val="solid"/>
          </a:ln>
        </p:spPr>
      </p:sp>
      <p:sp>
        <p:nvSpPr>
          <p:cNvPr id="27" name="Shape 22"/>
          <p:cNvSpPr/>
          <p:nvPr/>
        </p:nvSpPr>
        <p:spPr>
          <a:xfrm>
            <a:off x="9448038" y="2148840"/>
            <a:ext cx="914" cy="320040"/>
          </a:xfrm>
          <a:prstGeom prst="line">
            <a:avLst/>
          </a:prstGeom>
          <a:noFill/>
          <a:ln w="31750">
            <a:solidFill>
              <a:srgbClr val="8A5A33"/>
            </a:solidFill>
            <a:prstDash val="solid"/>
          </a:ln>
        </p:spPr>
      </p:sp>
      <p:sp>
        <p:nvSpPr>
          <p:cNvPr id="28" name="Shape 23"/>
          <p:cNvSpPr/>
          <p:nvPr/>
        </p:nvSpPr>
        <p:spPr>
          <a:xfrm>
            <a:off x="9539478" y="2148840"/>
            <a:ext cx="914" cy="320040"/>
          </a:xfrm>
          <a:prstGeom prst="line">
            <a:avLst/>
          </a:prstGeom>
          <a:noFill/>
          <a:ln w="31750">
            <a:solidFill>
              <a:srgbClr val="8A5A33"/>
            </a:solidFill>
            <a:prstDash val="solid"/>
          </a:ln>
        </p:spPr>
      </p:sp>
      <p:sp>
        <p:nvSpPr>
          <p:cNvPr id="29" name="Shape 24"/>
          <p:cNvSpPr/>
          <p:nvPr/>
        </p:nvSpPr>
        <p:spPr>
          <a:xfrm>
            <a:off x="9630918" y="2148840"/>
            <a:ext cx="914" cy="320040"/>
          </a:xfrm>
          <a:prstGeom prst="line">
            <a:avLst/>
          </a:prstGeom>
          <a:noFill/>
          <a:ln w="31750">
            <a:solidFill>
              <a:srgbClr val="8A5A33"/>
            </a:solidFill>
            <a:prstDash val="solid"/>
          </a:ln>
        </p:spPr>
      </p:sp>
      <p:sp>
        <p:nvSpPr>
          <p:cNvPr id="30" name="Shape 25"/>
          <p:cNvSpPr/>
          <p:nvPr/>
        </p:nvSpPr>
        <p:spPr>
          <a:xfrm>
            <a:off x="9411462" y="2240280"/>
            <a:ext cx="256032" cy="914"/>
          </a:xfrm>
          <a:prstGeom prst="line">
            <a:avLst/>
          </a:prstGeom>
          <a:noFill/>
          <a:ln w="25400">
            <a:solidFill>
              <a:srgbClr val="8A5A33"/>
            </a:solidFill>
            <a:prstDash val="solid"/>
          </a:ln>
        </p:spPr>
      </p:sp>
      <p:sp>
        <p:nvSpPr>
          <p:cNvPr id="31" name="Shape 26"/>
          <p:cNvSpPr/>
          <p:nvPr/>
        </p:nvSpPr>
        <p:spPr>
          <a:xfrm>
            <a:off x="9173718" y="1920240"/>
            <a:ext cx="731520" cy="100584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32" name="Text 27"/>
          <p:cNvSpPr txBox="1"/>
          <p:nvPr/>
        </p:nvSpPr>
        <p:spPr>
          <a:xfrm>
            <a:off x="10042398"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over ▢ heen</a:t>
            </a:r>
            <a:endParaRPr lang="en-US" sz="1500" dirty="0"/>
          </a:p>
        </p:txBody>
      </p:sp>
      <p:sp>
        <p:nvSpPr>
          <p:cNvPr id="33" name="Text 28"/>
          <p:cNvSpPr txBox="1"/>
          <p:nvPr/>
        </p:nvSpPr>
        <p:spPr>
          <a:xfrm>
            <a:off x="10042398"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par-dessus</a:t>
            </a:r>
            <a:endParaRPr lang="en-US" sz="1300" dirty="0"/>
          </a:p>
        </p:txBody>
      </p:sp>
      <p:sp>
        <p:nvSpPr>
          <p:cNvPr id="34" name="Text 29"/>
          <p:cNvSpPr txBox="1"/>
          <p:nvPr/>
        </p:nvSpPr>
        <p:spPr>
          <a:xfrm>
            <a:off x="9100566"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springt </a:t>
            </a:r>
            <a:r>
              <a:rPr lang="en-US" sz="1400" b="1" i="1" dirty="0">
                <a:solidFill>
                  <a:schemeClr val="accent4"/>
                </a:solidFill>
              </a:rPr>
              <a:t>over</a:t>
            </a:r>
            <a:r>
              <a:rPr lang="en-US" sz="1400" i="1" dirty="0">
                <a:solidFill>
                  <a:schemeClr val="tx1"/>
                </a:solidFill>
              </a:rPr>
              <a:t> het hek </a:t>
            </a:r>
            <a:r>
              <a:rPr lang="en-US" sz="1400" b="1" i="1" dirty="0">
                <a:solidFill>
                  <a:schemeClr val="accent4"/>
                </a:solidFill>
              </a:rPr>
              <a:t>heen</a:t>
            </a:r>
            <a:r>
              <a:rPr lang="en-US" sz="1400" i="1" dirty="0">
                <a:solidFill>
                  <a:schemeClr val="tx1"/>
                </a:solidFill>
              </a:rPr>
              <a:t>.</a:t>
            </a:r>
            <a:endParaRPr lang="en-US" sz="1400" dirty="0"/>
          </a:p>
        </p:txBody>
      </p:sp>
      <p:sp>
        <p:nvSpPr>
          <p:cNvPr id="35" name="Shape 30"/>
          <p:cNvSpPr/>
          <p:nvPr/>
        </p:nvSpPr>
        <p:spPr>
          <a:xfrm>
            <a:off x="548640" y="3520440"/>
            <a:ext cx="2649474" cy="1828800"/>
          </a:xfrm>
          <a:prstGeom prst="roundRect">
            <a:avLst>
              <a:gd name="adj" fmla="val 5000"/>
            </a:avLst>
          </a:prstGeom>
          <a:solidFill>
            <a:srgbClr val="FFFFFF"/>
          </a:solidFill>
          <a:ln w="19050">
            <a:solidFill>
              <a:srgbClr val="B4236A"/>
            </a:solidFill>
            <a:prstDash val="solid"/>
          </a:ln>
        </p:spPr>
      </p:sp>
      <p:sp>
        <p:nvSpPr>
          <p:cNvPr id="36" name="Shape 31"/>
          <p:cNvSpPr/>
          <p:nvPr/>
        </p:nvSpPr>
        <p:spPr>
          <a:xfrm>
            <a:off x="777240" y="3794760"/>
            <a:ext cx="640080" cy="91440"/>
          </a:xfrm>
          <a:prstGeom prst="rect">
            <a:avLst/>
          </a:prstGeom>
          <a:solidFill>
            <a:srgbClr val="8A96A8"/>
          </a:solidFill>
          <a:ln w="12700">
            <a:solidFill>
              <a:srgbClr val="FFFFFF">
                <a:alpha val="0"/>
              </a:srgbClr>
            </a:solidFill>
            <a:prstDash val="solid"/>
          </a:ln>
        </p:spPr>
      </p:sp>
      <p:sp>
        <p:nvSpPr>
          <p:cNvPr id="37" name="Shape 32"/>
          <p:cNvSpPr/>
          <p:nvPr/>
        </p:nvSpPr>
        <p:spPr>
          <a:xfrm>
            <a:off x="841248" y="3886200"/>
            <a:ext cx="914" cy="182880"/>
          </a:xfrm>
          <a:prstGeom prst="line">
            <a:avLst/>
          </a:prstGeom>
          <a:noFill/>
          <a:ln w="50800">
            <a:solidFill>
              <a:srgbClr val="8A96A8"/>
            </a:solidFill>
            <a:prstDash val="solid"/>
          </a:ln>
        </p:spPr>
      </p:sp>
      <p:sp>
        <p:nvSpPr>
          <p:cNvPr id="38" name="Shape 33"/>
          <p:cNvSpPr/>
          <p:nvPr/>
        </p:nvSpPr>
        <p:spPr>
          <a:xfrm>
            <a:off x="1353312" y="3886200"/>
            <a:ext cx="914" cy="182880"/>
          </a:xfrm>
          <a:prstGeom prst="line">
            <a:avLst/>
          </a:prstGeom>
          <a:noFill/>
          <a:ln w="50800">
            <a:solidFill>
              <a:srgbClr val="8A96A8"/>
            </a:solidFill>
            <a:prstDash val="solid"/>
          </a:ln>
        </p:spPr>
      </p:sp>
      <p:sp>
        <p:nvSpPr>
          <p:cNvPr id="39" name="Shape 34"/>
          <p:cNvSpPr/>
          <p:nvPr/>
        </p:nvSpPr>
        <p:spPr>
          <a:xfrm>
            <a:off x="685800" y="4114800"/>
            <a:ext cx="822960" cy="274320"/>
          </a:xfrm>
          <a:prstGeom prst="rect">
            <a:avLst/>
          </a:prstGeom>
          <a:solidFill>
            <a:srgbClr val="7FB8E6"/>
          </a:solidFill>
          <a:ln w="12700">
            <a:solidFill>
              <a:srgbClr val="FFFFFF">
                <a:alpha val="0"/>
              </a:srgbClr>
            </a:solidFill>
            <a:prstDash val="solid"/>
          </a:ln>
        </p:spPr>
      </p:sp>
      <p:sp>
        <p:nvSpPr>
          <p:cNvPr id="40" name="Shape 35"/>
          <p:cNvSpPr/>
          <p:nvPr/>
        </p:nvSpPr>
        <p:spPr>
          <a:xfrm>
            <a:off x="694944" y="4215384"/>
            <a:ext cx="804672" cy="914"/>
          </a:xfrm>
          <a:prstGeom prst="line">
            <a:avLst/>
          </a:prstGeom>
          <a:noFill/>
          <a:ln w="44450">
            <a:solidFill>
              <a:srgbClr val="B4236A"/>
            </a:solidFill>
            <a:prstDash val="solid"/>
            <a:tailEnd type="triangle"/>
          </a:ln>
        </p:spPr>
      </p:sp>
      <p:sp>
        <p:nvSpPr>
          <p:cNvPr id="41" name="Text 36"/>
          <p:cNvSpPr txBox="1"/>
          <p:nvPr/>
        </p:nvSpPr>
        <p:spPr>
          <a:xfrm>
            <a:off x="1600200"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onder ▢ door</a:t>
            </a:r>
            <a:endParaRPr lang="en-US" sz="1500" dirty="0"/>
          </a:p>
        </p:txBody>
      </p:sp>
      <p:sp>
        <p:nvSpPr>
          <p:cNvPr id="42" name="Text 37"/>
          <p:cNvSpPr txBox="1"/>
          <p:nvPr/>
        </p:nvSpPr>
        <p:spPr>
          <a:xfrm>
            <a:off x="1600200"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sous</a:t>
            </a:r>
            <a:endParaRPr lang="en-US" sz="1300" dirty="0"/>
          </a:p>
        </p:txBody>
      </p:sp>
      <p:sp>
        <p:nvSpPr>
          <p:cNvPr id="43" name="Text 38"/>
          <p:cNvSpPr txBox="1"/>
          <p:nvPr/>
        </p:nvSpPr>
        <p:spPr>
          <a:xfrm>
            <a:off x="658368"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boot vaart </a:t>
            </a:r>
            <a:r>
              <a:rPr lang="en-US" sz="1400" b="1" i="1" dirty="0">
                <a:solidFill>
                  <a:schemeClr val="accent4"/>
                </a:solidFill>
              </a:rPr>
              <a:t>onder</a:t>
            </a:r>
            <a:r>
              <a:rPr lang="en-US" sz="1400" i="1" dirty="0">
                <a:solidFill>
                  <a:schemeClr val="tx1"/>
                </a:solidFill>
              </a:rPr>
              <a:t> de brug </a:t>
            </a:r>
            <a:r>
              <a:rPr lang="en-US" sz="1400" b="1" i="1" dirty="0">
                <a:solidFill>
                  <a:schemeClr val="accent4"/>
                </a:solidFill>
              </a:rPr>
              <a:t>door</a:t>
            </a:r>
            <a:r>
              <a:rPr lang="en-US" sz="1400" i="1" dirty="0">
                <a:solidFill>
                  <a:schemeClr val="tx1"/>
                </a:solidFill>
              </a:rPr>
              <a:t>.</a:t>
            </a:r>
            <a:endParaRPr lang="en-US" sz="1400" dirty="0"/>
          </a:p>
        </p:txBody>
      </p:sp>
      <p:sp>
        <p:nvSpPr>
          <p:cNvPr id="44" name="Shape 39"/>
          <p:cNvSpPr/>
          <p:nvPr/>
        </p:nvSpPr>
        <p:spPr>
          <a:xfrm>
            <a:off x="3362706" y="3520440"/>
            <a:ext cx="2649474" cy="1828800"/>
          </a:xfrm>
          <a:prstGeom prst="roundRect">
            <a:avLst>
              <a:gd name="adj" fmla="val 5000"/>
            </a:avLst>
          </a:prstGeom>
          <a:solidFill>
            <a:srgbClr val="FFFFFF"/>
          </a:solidFill>
          <a:ln w="19050">
            <a:solidFill>
              <a:srgbClr val="B4236A"/>
            </a:solidFill>
            <a:prstDash val="solid"/>
          </a:ln>
        </p:spPr>
      </p:sp>
      <p:pic>
        <p:nvPicPr>
          <p:cNvPr id="45" name="Image 2" descr="automobile">    </p:cNvPr>
          <p:cNvPicPr>
            <a:picLocks noChangeAspect="1"/>
          </p:cNvPicPr>
          <p:nvPr/>
        </p:nvPicPr>
        <p:blipFill>
          <a:blip r:embed="rId3"/>
          <a:stretch>
            <a:fillRect/>
          </a:stretch>
        </p:blipFill>
        <p:spPr>
          <a:xfrm>
            <a:off x="3765042" y="3611880"/>
            <a:ext cx="292608" cy="292608"/>
          </a:xfrm>
          <a:prstGeom prst="rect">
            <a:avLst/>
          </a:prstGeom>
        </p:spPr>
      </p:pic>
      <p:pic>
        <p:nvPicPr>
          <p:cNvPr id="46" name="Image 3" descr="automobile">    </p:cNvPr>
          <p:cNvPicPr>
            <a:picLocks noChangeAspect="1"/>
          </p:cNvPicPr>
          <p:nvPr/>
        </p:nvPicPr>
        <p:blipFill>
          <a:blip r:embed="rId4"/>
          <a:stretch>
            <a:fillRect/>
          </a:stretch>
        </p:blipFill>
        <p:spPr>
          <a:xfrm>
            <a:off x="3765042" y="4215384"/>
            <a:ext cx="292608" cy="292608"/>
          </a:xfrm>
          <a:prstGeom prst="rect">
            <a:avLst/>
          </a:prstGeom>
        </p:spPr>
      </p:pic>
      <p:sp>
        <p:nvSpPr>
          <p:cNvPr id="47" name="Shape 40"/>
          <p:cNvSpPr/>
          <p:nvPr/>
        </p:nvSpPr>
        <p:spPr>
          <a:xfrm>
            <a:off x="3499866" y="4069080"/>
            <a:ext cx="822960" cy="914"/>
          </a:xfrm>
          <a:prstGeom prst="line">
            <a:avLst/>
          </a:prstGeom>
          <a:noFill/>
          <a:ln w="44450">
            <a:solidFill>
              <a:srgbClr val="B4236A"/>
            </a:solidFill>
            <a:prstDash val="solid"/>
            <a:tailEnd type="triangle"/>
          </a:ln>
        </p:spPr>
      </p:sp>
      <p:sp>
        <p:nvSpPr>
          <p:cNvPr id="48" name="Text 41"/>
          <p:cNvSpPr txBox="1"/>
          <p:nvPr/>
        </p:nvSpPr>
        <p:spPr>
          <a:xfrm>
            <a:off x="4414266"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tussen ▢ door</a:t>
            </a:r>
            <a:endParaRPr lang="en-US" sz="1500" dirty="0"/>
          </a:p>
        </p:txBody>
      </p:sp>
      <p:sp>
        <p:nvSpPr>
          <p:cNvPr id="49" name="Text 42"/>
          <p:cNvSpPr txBox="1"/>
          <p:nvPr/>
        </p:nvSpPr>
        <p:spPr>
          <a:xfrm>
            <a:off x="4414266"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entre</a:t>
            </a:r>
            <a:endParaRPr lang="en-US" sz="1300" dirty="0"/>
          </a:p>
        </p:txBody>
      </p:sp>
      <p:sp>
        <p:nvSpPr>
          <p:cNvPr id="50" name="Text 43"/>
          <p:cNvSpPr txBox="1"/>
          <p:nvPr/>
        </p:nvSpPr>
        <p:spPr>
          <a:xfrm>
            <a:off x="3472434"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fietst </a:t>
            </a:r>
            <a:r>
              <a:rPr lang="en-US" sz="1400" b="1" i="1" dirty="0">
                <a:solidFill>
                  <a:schemeClr val="accent4"/>
                </a:solidFill>
              </a:rPr>
              <a:t>tussen</a:t>
            </a:r>
            <a:r>
              <a:rPr lang="en-US" sz="1400" i="1" dirty="0">
                <a:solidFill>
                  <a:schemeClr val="tx1"/>
                </a:solidFill>
              </a:rPr>
              <a:t> de auto’s </a:t>
            </a:r>
            <a:r>
              <a:rPr lang="en-US" sz="1400" b="1" i="1" dirty="0">
                <a:solidFill>
                  <a:schemeClr val="accent4"/>
                </a:solidFill>
              </a:rPr>
              <a:t>door</a:t>
            </a:r>
            <a:r>
              <a:rPr lang="en-US" sz="1400" i="1" dirty="0">
                <a:solidFill>
                  <a:schemeClr val="tx1"/>
                </a:solidFill>
              </a:rPr>
              <a:t>.</a:t>
            </a:r>
            <a:endParaRPr lang="en-US" sz="1400" dirty="0"/>
          </a:p>
        </p:txBody>
      </p:sp>
      <p:sp>
        <p:nvSpPr>
          <p:cNvPr id="51" name="Shape 44"/>
          <p:cNvSpPr/>
          <p:nvPr/>
        </p:nvSpPr>
        <p:spPr>
          <a:xfrm>
            <a:off x="6176772" y="3520440"/>
            <a:ext cx="2649474" cy="1828800"/>
          </a:xfrm>
          <a:prstGeom prst="roundRect">
            <a:avLst>
              <a:gd name="adj" fmla="val 5000"/>
            </a:avLst>
          </a:prstGeom>
          <a:solidFill>
            <a:srgbClr val="FFFFFF"/>
          </a:solidFill>
          <a:ln w="19050">
            <a:solidFill>
              <a:srgbClr val="B4236A"/>
            </a:solidFill>
            <a:prstDash val="solid"/>
          </a:ln>
        </p:spPr>
      </p:sp>
      <p:pic>
        <p:nvPicPr>
          <p:cNvPr id="52" name="Image 4" descr="dog">    </p:cNvPr>
          <p:cNvPicPr>
            <a:picLocks noChangeAspect="1"/>
          </p:cNvPicPr>
          <p:nvPr/>
        </p:nvPicPr>
        <p:blipFill>
          <a:blip r:embed="rId5"/>
          <a:stretch>
            <a:fillRect/>
          </a:stretch>
        </p:blipFill>
        <p:spPr>
          <a:xfrm>
            <a:off x="6286500" y="3904488"/>
            <a:ext cx="329184" cy="329184"/>
          </a:xfrm>
          <a:prstGeom prst="rect">
            <a:avLst/>
          </a:prstGeom>
        </p:spPr>
      </p:pic>
      <p:sp>
        <p:nvSpPr>
          <p:cNvPr id="53" name="Shape 45"/>
          <p:cNvSpPr/>
          <p:nvPr/>
        </p:nvSpPr>
        <p:spPr>
          <a:xfrm>
            <a:off x="6633972" y="4069080"/>
            <a:ext cx="237744" cy="914"/>
          </a:xfrm>
          <a:prstGeom prst="line">
            <a:avLst/>
          </a:prstGeom>
          <a:noFill/>
          <a:ln w="44450">
            <a:solidFill>
              <a:srgbClr val="B4236A"/>
            </a:solidFill>
            <a:prstDash val="solid"/>
            <a:tailEnd type="triangle"/>
          </a:ln>
        </p:spPr>
      </p:sp>
      <p:pic>
        <p:nvPicPr>
          <p:cNvPr id="54" name="Image 5" descr="soccer ball">    </p:cNvPr>
          <p:cNvPicPr>
            <a:picLocks noChangeAspect="1"/>
          </p:cNvPicPr>
          <p:nvPr/>
        </p:nvPicPr>
        <p:blipFill>
          <a:blip r:embed="rId6"/>
          <a:stretch>
            <a:fillRect/>
          </a:stretch>
        </p:blipFill>
        <p:spPr>
          <a:xfrm>
            <a:off x="6908292" y="3959352"/>
            <a:ext cx="228600" cy="228600"/>
          </a:xfrm>
          <a:prstGeom prst="rect">
            <a:avLst/>
          </a:prstGeom>
        </p:spPr>
      </p:pic>
      <p:sp>
        <p:nvSpPr>
          <p:cNvPr id="55" name="Text 46"/>
          <p:cNvSpPr txBox="1"/>
          <p:nvPr/>
        </p:nvSpPr>
        <p:spPr>
          <a:xfrm>
            <a:off x="7228332"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achter ▢ aan</a:t>
            </a:r>
            <a:endParaRPr lang="en-US" sz="1500" dirty="0"/>
          </a:p>
        </p:txBody>
      </p:sp>
      <p:sp>
        <p:nvSpPr>
          <p:cNvPr id="56" name="Text 47"/>
          <p:cNvSpPr txBox="1"/>
          <p:nvPr/>
        </p:nvSpPr>
        <p:spPr>
          <a:xfrm>
            <a:off x="7228332"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à la poursuite de</a:t>
            </a:r>
            <a:endParaRPr lang="en-US" sz="1300" dirty="0"/>
          </a:p>
        </p:txBody>
      </p:sp>
      <p:sp>
        <p:nvSpPr>
          <p:cNvPr id="57" name="Text 48"/>
          <p:cNvSpPr txBox="1"/>
          <p:nvPr/>
        </p:nvSpPr>
        <p:spPr>
          <a:xfrm>
            <a:off x="6286500"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hond rent </a:t>
            </a:r>
            <a:r>
              <a:rPr lang="en-US" sz="1400" b="1" i="1" dirty="0">
                <a:solidFill>
                  <a:schemeClr val="accent4"/>
                </a:solidFill>
              </a:rPr>
              <a:t>achter</a:t>
            </a:r>
            <a:r>
              <a:rPr lang="en-US" sz="1400" i="1" dirty="0">
                <a:solidFill>
                  <a:schemeClr val="tx1"/>
                </a:solidFill>
              </a:rPr>
              <a:t> de bal </a:t>
            </a:r>
            <a:r>
              <a:rPr lang="en-US" sz="1400" b="1" i="1" dirty="0">
                <a:solidFill>
                  <a:schemeClr val="accent4"/>
                </a:solidFill>
              </a:rPr>
              <a:t>aan</a:t>
            </a:r>
            <a:r>
              <a:rPr lang="en-US" sz="1400" i="1" dirty="0">
                <a:solidFill>
                  <a:schemeClr val="tx1"/>
                </a:solidFill>
              </a:rPr>
              <a:t>.</a:t>
            </a:r>
            <a:endParaRPr lang="en-US" sz="1400" dirty="0"/>
          </a:p>
        </p:txBody>
      </p:sp>
      <p:sp>
        <p:nvSpPr>
          <p:cNvPr id="58" name="Shape 49"/>
          <p:cNvSpPr/>
          <p:nvPr/>
        </p:nvSpPr>
        <p:spPr>
          <a:xfrm>
            <a:off x="8990838" y="3520440"/>
            <a:ext cx="2649474" cy="1828800"/>
          </a:xfrm>
          <a:prstGeom prst="roundRect">
            <a:avLst>
              <a:gd name="adj" fmla="val 5000"/>
            </a:avLst>
          </a:prstGeom>
          <a:solidFill>
            <a:srgbClr val="F6E3EE"/>
          </a:solidFill>
          <a:ln w="12700">
            <a:solidFill>
              <a:srgbClr val="FFFFFF">
                <a:alpha val="0"/>
              </a:srgbClr>
            </a:solidFill>
            <a:prstDash val="solid"/>
          </a:ln>
        </p:spPr>
      </p:sp>
      <p:sp>
        <p:nvSpPr>
          <p:cNvPr id="59" name="Text 50"/>
          <p:cNvSpPr txBox="1"/>
          <p:nvPr/>
        </p:nvSpPr>
        <p:spPr>
          <a:xfrm>
            <a:off x="9127998" y="3566160"/>
            <a:ext cx="2375154" cy="1737360"/>
          </a:xfrm>
          <a:prstGeom prst="rect">
            <a:avLst/>
          </a:prstGeom>
          <a:noFill/>
          <a:ln/>
        </p:spPr>
        <p:txBody>
          <a:bodyPr wrap="square" lIns="0" tIns="0" rIns="0" bIns="0" rtlCol="0" anchor="ctr"/>
          <a:lstStyle/>
          <a:p>
            <a:pPr algn="l" indent="0" marL="0">
              <a:spcAft>
                <a:spcPts val="400"/>
              </a:spcAft>
              <a:buNone/>
            </a:pPr>
            <a:r>
              <a:rPr lang="en-US" sz="1300" b="1" dirty="0">
                <a:solidFill>
                  <a:schemeClr val="tx1"/>
                </a:solidFill>
              </a:rPr>
              <a:t>À reconnaître</a:t>
            </a:r>
            <a:endParaRPr lang="en-US" sz="1300" dirty="0"/>
          </a:p>
          <a:p>
            <a:pPr algn="l" indent="0" marL="0">
              <a:spcAft>
                <a:spcPts val="400"/>
              </a:spcAft>
              <a:buNone/>
            </a:pPr>
            <a:r>
              <a:rPr lang="en-US" sz="1300" dirty="0">
                <a:solidFill>
                  <a:schemeClr val="tx1"/>
                </a:solidFill>
              </a:rPr>
              <a:t>Le 2ᵉ morceau va au bout : </a:t>
            </a:r>
            <a:r>
              <a:rPr lang="en-US" sz="1300" i="1" dirty="0">
                <a:solidFill>
                  <a:schemeClr val="tx1"/>
                </a:solidFill>
              </a:rPr>
              <a:t>Ik </a:t>
            </a:r>
            <a:r>
              <a:rPr lang="en-US" sz="1300" b="1" i="1" dirty="0">
                <a:solidFill>
                  <a:schemeClr val="tx1"/>
                </a:solidFill>
              </a:rPr>
              <a:t>loop</a:t>
            </a:r>
            <a:r>
              <a:rPr lang="en-US" sz="1300" i="1" dirty="0">
                <a:solidFill>
                  <a:schemeClr val="tx1"/>
                </a:solidFill>
              </a:rPr>
              <a:t> naar de deur </a:t>
            </a:r>
            <a:r>
              <a:rPr lang="en-US" sz="1300" b="1" i="1" dirty="0">
                <a:solidFill>
                  <a:schemeClr val="tx1"/>
                </a:solidFill>
              </a:rPr>
              <a:t>toe</a:t>
            </a:r>
            <a:r>
              <a:rPr lang="en-US" sz="1300" i="1" dirty="0">
                <a:solidFill>
                  <a:schemeClr val="tx1"/>
                </a:solidFill>
              </a:rPr>
              <a:t>.</a:t>
            </a:r>
            <a:endParaRPr lang="en-US" sz="1300" dirty="0"/>
          </a:p>
          <a:p>
            <a:pPr algn="l" indent="0" marL="0">
              <a:spcAft>
                <a:spcPts val="400"/>
              </a:spcAft>
              <a:buNone/>
            </a:pPr>
            <a:r>
              <a:rPr lang="en-US" sz="1300" dirty="0">
                <a:solidFill>
                  <a:schemeClr val="tx1"/>
                </a:solidFill>
              </a:rPr>
              <a:t>Souvent, la version simple suffit : </a:t>
            </a:r>
            <a:r>
              <a:rPr lang="en-US" sz="1300" i="1" dirty="0">
                <a:solidFill>
                  <a:schemeClr val="tx1"/>
                </a:solidFill>
              </a:rPr>
              <a:t>Ik loop naar de deur.</a:t>
            </a:r>
            <a:endParaRPr lang="en-US" sz="1300" dirty="0"/>
          </a:p>
        </p:txBody>
      </p:sp>
      <p:sp>
        <p:nvSpPr>
          <p:cNvPr id="60" name="Shape 51"/>
          <p:cNvSpPr/>
          <p:nvPr/>
        </p:nvSpPr>
        <p:spPr>
          <a:xfrm>
            <a:off x="548640" y="5623560"/>
            <a:ext cx="11091672" cy="594360"/>
          </a:xfrm>
          <a:prstGeom prst="roundRect">
            <a:avLst>
              <a:gd name="adj" fmla="val 12308"/>
            </a:avLst>
          </a:prstGeom>
          <a:solidFill>
            <a:schemeClr val="tx2"/>
          </a:solidFill>
          <a:ln w="12700">
            <a:solidFill>
              <a:srgbClr val="FFFFFF">
                <a:alpha val="0"/>
              </a:srgbClr>
            </a:solidFill>
            <a:prstDash val="solid"/>
          </a:ln>
        </p:spPr>
      </p:sp>
      <p:sp>
        <p:nvSpPr>
          <p:cNvPr id="61" name="Text 52"/>
          <p:cNvSpPr txBox="1"/>
          <p:nvPr/>
        </p:nvSpPr>
        <p:spPr>
          <a:xfrm>
            <a:off x="822960" y="562356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Le nom est pris en sandwich : </a:t>
            </a:r>
            <a:r>
              <a:rPr lang="en-US" sz="1800" b="1" i="1" dirty="0">
                <a:solidFill>
                  <a:schemeClr val="accent4"/>
                </a:solidFill>
              </a:rPr>
              <a:t>om</a:t>
            </a:r>
            <a:r>
              <a:rPr lang="en-US" sz="1800" i="1" dirty="0">
                <a:solidFill>
                  <a:schemeClr val="bg1"/>
                </a:solidFill>
              </a:rPr>
              <a:t> het gebouw </a:t>
            </a:r>
            <a:r>
              <a:rPr lang="en-US" sz="1800" b="1" i="1" dirty="0">
                <a:solidFill>
                  <a:schemeClr val="accent4"/>
                </a:solidFill>
              </a:rPr>
              <a:t>heen</a:t>
            </a:r>
            <a:r>
              <a:rPr lang="en-US" sz="1800" dirty="0">
                <a:solidFill>
                  <a:schemeClr val="bg1"/>
                </a:solidFill>
              </a:rPr>
              <a:t>, </a:t>
            </a:r>
            <a:r>
              <a:rPr lang="en-US" sz="1800" b="1" i="1" dirty="0">
                <a:solidFill>
                  <a:schemeClr val="accent4"/>
                </a:solidFill>
              </a:rPr>
              <a:t>onder</a:t>
            </a:r>
            <a:r>
              <a:rPr lang="en-US" sz="1800" i="1" dirty="0">
                <a:solidFill>
                  <a:schemeClr val="bg1"/>
                </a:solidFill>
              </a:rPr>
              <a:t> de brug </a:t>
            </a:r>
            <a:r>
              <a:rPr lang="en-US" sz="1800" b="1" i="1" dirty="0">
                <a:solidFill>
                  <a:schemeClr val="accent4"/>
                </a:solidFill>
              </a:rPr>
              <a:t>door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calques à éviter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1031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monter l’escalier »</a:t>
            </a:r>
            <a:endParaRPr lang="en-US" sz="1600" dirty="0"/>
          </a:p>
        </p:txBody>
      </p:sp>
      <p:sp>
        <p:nvSpPr>
          <p:cNvPr id="8" name="Text 5"/>
          <p:cNvSpPr txBox="1"/>
          <p:nvPr/>
        </p:nvSpPr>
        <p:spPr>
          <a:xfrm>
            <a:off x="4069080" y="21031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stijg de trap</a:t>
            </a:r>
            <a:endParaRPr lang="en-US" sz="1500" dirty="0"/>
          </a:p>
        </p:txBody>
      </p:sp>
      <p:sp>
        <p:nvSpPr>
          <p:cNvPr id="9" name="Shape 6"/>
          <p:cNvSpPr/>
          <p:nvPr/>
        </p:nvSpPr>
        <p:spPr>
          <a:xfrm>
            <a:off x="6812280" y="2404872"/>
            <a:ext cx="320040" cy="914"/>
          </a:xfrm>
          <a:prstGeom prst="line">
            <a:avLst/>
          </a:prstGeom>
          <a:noFill/>
          <a:ln w="25400">
            <a:solidFill>
              <a:srgbClr val="2E7D4F"/>
            </a:solidFill>
            <a:prstDash val="solid"/>
            <a:tailEnd type="triangle"/>
          </a:ln>
        </p:spPr>
      </p:sp>
      <p:sp>
        <p:nvSpPr>
          <p:cNvPr id="10" name="Shape 7"/>
          <p:cNvSpPr/>
          <p:nvPr/>
        </p:nvSpPr>
        <p:spPr>
          <a:xfrm>
            <a:off x="7178040" y="21396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1" name="Text 8"/>
          <p:cNvSpPr txBox="1"/>
          <p:nvPr/>
        </p:nvSpPr>
        <p:spPr>
          <a:xfrm>
            <a:off x="7315200" y="21396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trap </a:t>
            </a:r>
            <a:r>
              <a:rPr lang="en-US" sz="1700" b="1" i="1" dirty="0">
                <a:solidFill>
                  <a:schemeClr val="accent1"/>
                </a:solidFill>
              </a:rPr>
              <a:t>op</a:t>
            </a:r>
            <a:endParaRPr lang="en-US" sz="1700" dirty="0"/>
          </a:p>
        </p:txBody>
      </p:sp>
      <p:sp>
        <p:nvSpPr>
          <p:cNvPr id="12" name="Text 9"/>
          <p:cNvSpPr txBox="1"/>
          <p:nvPr/>
        </p:nvSpPr>
        <p:spPr>
          <a:xfrm>
            <a:off x="868680" y="27889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traverser la rue »</a:t>
            </a:r>
            <a:endParaRPr lang="en-US" sz="1600" dirty="0"/>
          </a:p>
        </p:txBody>
      </p:sp>
      <p:sp>
        <p:nvSpPr>
          <p:cNvPr id="13" name="Text 10"/>
          <p:cNvSpPr txBox="1"/>
          <p:nvPr/>
        </p:nvSpPr>
        <p:spPr>
          <a:xfrm>
            <a:off x="4069080" y="27889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kruis de straat</a:t>
            </a:r>
            <a:endParaRPr lang="en-US" sz="1500" dirty="0"/>
          </a:p>
        </p:txBody>
      </p:sp>
      <p:sp>
        <p:nvSpPr>
          <p:cNvPr id="14" name="Shape 11"/>
          <p:cNvSpPr/>
          <p:nvPr/>
        </p:nvSpPr>
        <p:spPr>
          <a:xfrm>
            <a:off x="6812280" y="3090672"/>
            <a:ext cx="320040" cy="914"/>
          </a:xfrm>
          <a:prstGeom prst="line">
            <a:avLst/>
          </a:prstGeom>
          <a:noFill/>
          <a:ln w="25400">
            <a:solidFill>
              <a:srgbClr val="2E7D4F"/>
            </a:solidFill>
            <a:prstDash val="solid"/>
            <a:tailEnd type="triangle"/>
          </a:ln>
        </p:spPr>
      </p:sp>
      <p:sp>
        <p:nvSpPr>
          <p:cNvPr id="15" name="Shape 12"/>
          <p:cNvSpPr/>
          <p:nvPr/>
        </p:nvSpPr>
        <p:spPr>
          <a:xfrm>
            <a:off x="7178040" y="28254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6" name="Text 13"/>
          <p:cNvSpPr txBox="1"/>
          <p:nvPr/>
        </p:nvSpPr>
        <p:spPr>
          <a:xfrm>
            <a:off x="7315200" y="28254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Ik steek de straat </a:t>
            </a:r>
            <a:r>
              <a:rPr lang="en-US" sz="1500" b="1" i="1" dirty="0">
                <a:solidFill>
                  <a:schemeClr val="accent1"/>
                </a:solidFill>
              </a:rPr>
              <a:t>over</a:t>
            </a:r>
            <a:r>
              <a:rPr lang="en-US" sz="1500" i="1" dirty="0">
                <a:solidFill>
                  <a:schemeClr val="tx1"/>
                </a:solidFill>
              </a:rPr>
              <a:t> · Ik loop de straat </a:t>
            </a:r>
            <a:r>
              <a:rPr lang="en-US" sz="1500" b="1" i="1" dirty="0">
                <a:solidFill>
                  <a:schemeClr val="accent1"/>
                </a:solidFill>
              </a:rPr>
              <a:t>over</a:t>
            </a:r>
            <a:endParaRPr lang="en-US" sz="1500" dirty="0"/>
          </a:p>
        </p:txBody>
      </p:sp>
      <p:sp>
        <p:nvSpPr>
          <p:cNvPr id="17" name="Text 14"/>
          <p:cNvSpPr txBox="1"/>
          <p:nvPr/>
        </p:nvSpPr>
        <p:spPr>
          <a:xfrm>
            <a:off x="868680" y="34747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entrer dans la salle »</a:t>
            </a:r>
            <a:endParaRPr lang="en-US" sz="1600" dirty="0"/>
          </a:p>
        </p:txBody>
      </p:sp>
      <p:sp>
        <p:nvSpPr>
          <p:cNvPr id="18" name="Text 15"/>
          <p:cNvSpPr txBox="1"/>
          <p:nvPr/>
        </p:nvSpPr>
        <p:spPr>
          <a:xfrm>
            <a:off x="4069080" y="34747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loop in de zaal in</a:t>
            </a:r>
            <a:endParaRPr lang="en-US" sz="1500" dirty="0"/>
          </a:p>
        </p:txBody>
      </p:sp>
      <p:sp>
        <p:nvSpPr>
          <p:cNvPr id="19" name="Shape 16"/>
          <p:cNvSpPr/>
          <p:nvPr/>
        </p:nvSpPr>
        <p:spPr>
          <a:xfrm>
            <a:off x="6812280" y="3776472"/>
            <a:ext cx="320040" cy="914"/>
          </a:xfrm>
          <a:prstGeom prst="line">
            <a:avLst/>
          </a:prstGeom>
          <a:noFill/>
          <a:ln w="25400">
            <a:solidFill>
              <a:srgbClr val="2E7D4F"/>
            </a:solidFill>
            <a:prstDash val="solid"/>
            <a:tailEnd type="triangle"/>
          </a:ln>
        </p:spPr>
      </p:sp>
      <p:sp>
        <p:nvSpPr>
          <p:cNvPr id="20" name="Shape 17"/>
          <p:cNvSpPr/>
          <p:nvPr/>
        </p:nvSpPr>
        <p:spPr>
          <a:xfrm>
            <a:off x="7178040" y="35112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1" name="Text 18"/>
          <p:cNvSpPr txBox="1"/>
          <p:nvPr/>
        </p:nvSpPr>
        <p:spPr>
          <a:xfrm>
            <a:off x="7315200" y="35112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zaal </a:t>
            </a:r>
            <a:r>
              <a:rPr lang="en-US" sz="1700" b="1" i="1" dirty="0">
                <a:solidFill>
                  <a:schemeClr val="accent1"/>
                </a:solidFill>
              </a:rPr>
              <a:t>in</a:t>
            </a:r>
            <a:r>
              <a:rPr lang="en-US" sz="1700" i="1" dirty="0">
                <a:solidFill>
                  <a:schemeClr val="tx1"/>
                </a:solidFill>
              </a:rPr>
              <a:t> · Ik ga de zaal </a:t>
            </a:r>
            <a:r>
              <a:rPr lang="en-US" sz="1700" b="1" i="1" dirty="0">
                <a:solidFill>
                  <a:schemeClr val="accent1"/>
                </a:solidFill>
              </a:rPr>
              <a:t>binnen</a:t>
            </a:r>
            <a:endParaRPr lang="en-US" sz="1700" dirty="0"/>
          </a:p>
        </p:txBody>
      </p:sp>
      <p:sp>
        <p:nvSpPr>
          <p:cNvPr id="22" name="Text 19"/>
          <p:cNvSpPr txBox="1"/>
          <p:nvPr/>
        </p:nvSpPr>
        <p:spPr>
          <a:xfrm>
            <a:off x="868680" y="41605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est entré dans la mer »</a:t>
            </a:r>
            <a:endParaRPr lang="en-US" sz="1600" dirty="0"/>
          </a:p>
        </p:txBody>
      </p:sp>
      <p:sp>
        <p:nvSpPr>
          <p:cNvPr id="23" name="Text 20"/>
          <p:cNvSpPr txBox="1"/>
          <p:nvPr/>
        </p:nvSpPr>
        <p:spPr>
          <a:xfrm>
            <a:off x="4069080" y="41605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Hij heeft de zee in gelopen</a:t>
            </a:r>
            <a:endParaRPr lang="en-US" sz="1500" dirty="0"/>
          </a:p>
        </p:txBody>
      </p:sp>
      <p:sp>
        <p:nvSpPr>
          <p:cNvPr id="24" name="Shape 21"/>
          <p:cNvSpPr/>
          <p:nvPr/>
        </p:nvSpPr>
        <p:spPr>
          <a:xfrm>
            <a:off x="6812280" y="4462272"/>
            <a:ext cx="320040" cy="914"/>
          </a:xfrm>
          <a:prstGeom prst="line">
            <a:avLst/>
          </a:prstGeom>
          <a:noFill/>
          <a:ln w="25400">
            <a:solidFill>
              <a:srgbClr val="2E7D4F"/>
            </a:solidFill>
            <a:prstDash val="solid"/>
            <a:tailEnd type="triangle"/>
          </a:ln>
        </p:spPr>
      </p:sp>
      <p:sp>
        <p:nvSpPr>
          <p:cNvPr id="25" name="Shape 22"/>
          <p:cNvSpPr/>
          <p:nvPr/>
        </p:nvSpPr>
        <p:spPr>
          <a:xfrm>
            <a:off x="7178040" y="41970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6" name="Text 23"/>
          <p:cNvSpPr txBox="1"/>
          <p:nvPr/>
        </p:nvSpPr>
        <p:spPr>
          <a:xfrm>
            <a:off x="7315200" y="41970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Hij </a:t>
            </a:r>
            <a:r>
              <a:rPr lang="en-US" sz="1700" b="1" i="1" dirty="0">
                <a:solidFill>
                  <a:schemeClr val="tx1"/>
                </a:solidFill>
              </a:rPr>
              <a:t>is</a:t>
            </a:r>
            <a:r>
              <a:rPr lang="en-US" sz="1700" i="1" dirty="0">
                <a:solidFill>
                  <a:schemeClr val="tx1"/>
                </a:solidFill>
              </a:rPr>
              <a:t> de zee </a:t>
            </a:r>
            <a:r>
              <a:rPr lang="en-US" sz="1700" b="1" i="1" dirty="0">
                <a:solidFill>
                  <a:schemeClr val="accent1"/>
                </a:solidFill>
              </a:rPr>
              <a:t>in</a:t>
            </a:r>
            <a:r>
              <a:rPr lang="en-US" sz="1700" i="1" dirty="0">
                <a:solidFill>
                  <a:schemeClr val="tx1"/>
                </a:solidFill>
              </a:rPr>
              <a:t> gelopen</a:t>
            </a:r>
            <a:endParaRPr lang="en-US" sz="1700" dirty="0"/>
          </a:p>
        </p:txBody>
      </p:sp>
      <p:sp>
        <p:nvSpPr>
          <p:cNvPr id="27" name="Text 24"/>
          <p:cNvSpPr txBox="1"/>
          <p:nvPr/>
        </p:nvSpPr>
        <p:spPr>
          <a:xfrm>
            <a:off x="868680" y="48463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saute dans l’eau » (du bord)</a:t>
            </a:r>
            <a:endParaRPr lang="en-US" sz="1600" dirty="0"/>
          </a:p>
        </p:txBody>
      </p:sp>
      <p:sp>
        <p:nvSpPr>
          <p:cNvPr id="28" name="Shape 25"/>
          <p:cNvSpPr/>
          <p:nvPr/>
        </p:nvSpPr>
        <p:spPr>
          <a:xfrm>
            <a:off x="6812280" y="5148072"/>
            <a:ext cx="320040" cy="914"/>
          </a:xfrm>
          <a:prstGeom prst="line">
            <a:avLst/>
          </a:prstGeom>
          <a:noFill/>
          <a:ln w="25400">
            <a:solidFill>
              <a:srgbClr val="2E7D4F"/>
            </a:solidFill>
            <a:prstDash val="solid"/>
            <a:tailEnd type="triangle"/>
          </a:ln>
        </p:spPr>
      </p:sp>
      <p:sp>
        <p:nvSpPr>
          <p:cNvPr id="29" name="Shape 26"/>
          <p:cNvSpPr/>
          <p:nvPr/>
        </p:nvSpPr>
        <p:spPr>
          <a:xfrm>
            <a:off x="7178040" y="48828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30" name="Text 27"/>
          <p:cNvSpPr txBox="1"/>
          <p:nvPr/>
        </p:nvSpPr>
        <p:spPr>
          <a:xfrm>
            <a:off x="7315200" y="48828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Hij springt in het water · Hij springt het water </a:t>
            </a:r>
            <a:r>
              <a:rPr lang="en-US" sz="1500" b="1" i="1" dirty="0">
                <a:solidFill>
                  <a:schemeClr val="accent1"/>
                </a:solidFill>
              </a:rPr>
              <a:t>in</a:t>
            </a:r>
            <a:endParaRPr lang="en-US" sz="1500" dirty="0"/>
          </a:p>
        </p:txBody>
      </p:sp>
      <p:sp>
        <p:nvSpPr>
          <p:cNvPr id="31" name="Shape 28"/>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9"/>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stijgen, dalen</a:t>
            </a:r>
            <a:r>
              <a:rPr lang="en-US" sz="1700" dirty="0">
                <a:solidFill>
                  <a:schemeClr val="bg1"/>
                </a:solidFill>
              </a:rPr>
              <a:t> : les prix, les avions · </a:t>
            </a:r>
            <a:r>
              <a:rPr lang="en-US" sz="1700" i="1" dirty="0">
                <a:solidFill>
                  <a:schemeClr val="bg1"/>
                </a:solidFill>
              </a:rPr>
              <a:t>kruisen</a:t>
            </a:r>
            <a:r>
              <a:rPr lang="en-US" sz="1700" dirty="0">
                <a:solidFill>
                  <a:schemeClr val="bg1"/>
                </a:solidFill>
              </a:rPr>
              <a:t> : se croiser · le petit mot </a:t>
            </a:r>
            <a:r>
              <a:rPr lang="en-US" sz="1700" b="1" dirty="0">
                <a:solidFill>
                  <a:schemeClr val="bg1"/>
                </a:solidFill>
              </a:rPr>
              <a:t>une seule fois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porte et la flèche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5413248" cy="1874520"/>
          </a:xfrm>
          <a:prstGeom prst="roundRect">
            <a:avLst>
              <a:gd name="adj" fmla="val 4878"/>
            </a:avLst>
          </a:prstGeom>
          <a:solidFill>
            <a:schemeClr val="bg1"/>
          </a:solidFill>
          <a:ln w="25400">
            <a:solidFill>
              <a:srgbClr val="2A6FB0"/>
            </a:solidFill>
            <a:prstDash val="solid"/>
          </a:ln>
        </p:spPr>
      </p:sp>
      <p:sp>
        <p:nvSpPr>
          <p:cNvPr id="6" name="Shape 3"/>
          <p:cNvSpPr/>
          <p:nvPr/>
        </p:nvSpPr>
        <p:spPr>
          <a:xfrm>
            <a:off x="1541678" y="1819656"/>
            <a:ext cx="1426464" cy="1344168"/>
          </a:xfrm>
          <a:prstGeom prst="rect">
            <a:avLst/>
          </a:prstGeom>
          <a:solidFill>
            <a:srgbClr val="FFFFFF"/>
          </a:solidFill>
          <a:ln w="31750">
            <a:solidFill>
              <a:srgbClr val="17375E"/>
            </a:solidFill>
            <a:prstDash val="solid"/>
          </a:ln>
        </p:spPr>
      </p:sp>
      <p:sp>
        <p:nvSpPr>
          <p:cNvPr id="7" name="Shape 4"/>
          <p:cNvSpPr/>
          <p:nvPr/>
        </p:nvSpPr>
        <p:spPr>
          <a:xfrm>
            <a:off x="1486814" y="2330440"/>
            <a:ext cx="109728" cy="322600"/>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2510942" y="1892808"/>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1747693" y="2155698"/>
            <a:ext cx="672084" cy="672084"/>
          </a:xfrm>
          <a:prstGeom prst="rect">
            <a:avLst/>
          </a:prstGeom>
        </p:spPr>
      </p:pic>
      <p:sp>
        <p:nvSpPr>
          <p:cNvPr id="10" name="Shape 5"/>
          <p:cNvSpPr/>
          <p:nvPr/>
        </p:nvSpPr>
        <p:spPr>
          <a:xfrm>
            <a:off x="1983151" y="2809494"/>
            <a:ext cx="201168" cy="201168"/>
          </a:xfrm>
          <a:prstGeom prst="ellipse">
            <a:avLst/>
          </a:prstGeom>
          <a:solidFill>
            <a:schemeClr val="accent2"/>
          </a:solidFill>
          <a:ln w="12700">
            <a:solidFill>
              <a:srgbClr val="FFFFFF">
                <a:alpha val="0"/>
              </a:srgbClr>
            </a:solidFill>
            <a:prstDash val="solid"/>
          </a:ln>
        </p:spPr>
      </p:sp>
      <p:sp>
        <p:nvSpPr>
          <p:cNvPr id="11" name="Text 6"/>
          <p:cNvSpPr txBox="1"/>
          <p:nvPr/>
        </p:nvSpPr>
        <p:spPr>
          <a:xfrm>
            <a:off x="3154680"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avant</a:t>
            </a:r>
            <a:r>
              <a:rPr lang="en-US" sz="1800" dirty="0">
                <a:solidFill>
                  <a:schemeClr val="tx1"/>
                </a:solidFill>
              </a:rPr>
              <a:t> le nom = </a:t>
            </a:r>
            <a:r>
              <a:rPr lang="en-US" sz="1800" b="1" dirty="0">
                <a:solidFill>
                  <a:schemeClr val="tx1"/>
                </a:solidFill>
              </a:rPr>
              <a:t>où ?</a:t>
            </a:r>
            <a:endParaRPr lang="en-US" sz="1800" dirty="0"/>
          </a:p>
          <a:p>
            <a:pPr algn="l" indent="0" marL="0">
              <a:spcAft>
                <a:spcPts val="600"/>
              </a:spcAft>
              <a:buNone/>
            </a:pPr>
            <a:r>
              <a:rPr lang="en-US" sz="1800" i="1" dirty="0">
                <a:solidFill>
                  <a:schemeClr val="tx1"/>
                </a:solidFill>
              </a:rPr>
              <a:t>Ik loop </a:t>
            </a:r>
            <a:r>
              <a:rPr lang="en-US" sz="1800" b="1" i="1" dirty="0">
                <a:solidFill>
                  <a:schemeClr val="accent2"/>
                </a:solidFill>
              </a:rPr>
              <a:t>in</a:t>
            </a:r>
            <a:r>
              <a:rPr lang="en-US" sz="1800" i="1" dirty="0">
                <a:solidFill>
                  <a:schemeClr val="tx1"/>
                </a:solidFill>
              </a:rPr>
              <a:t> de keuken.</a:t>
            </a:r>
            <a:endParaRPr lang="en-US" sz="1800" dirty="0"/>
          </a:p>
        </p:txBody>
      </p:sp>
      <p:sp>
        <p:nvSpPr>
          <p:cNvPr id="12" name="Shape 7"/>
          <p:cNvSpPr/>
          <p:nvPr/>
        </p:nvSpPr>
        <p:spPr>
          <a:xfrm>
            <a:off x="6227064" y="1554480"/>
            <a:ext cx="5413248" cy="1874520"/>
          </a:xfrm>
          <a:prstGeom prst="roundRect">
            <a:avLst>
              <a:gd name="adj" fmla="val 4878"/>
            </a:avLst>
          </a:prstGeom>
          <a:solidFill>
            <a:schemeClr val="bg1"/>
          </a:solidFill>
          <a:ln w="25400">
            <a:solidFill>
              <a:srgbClr val="D9700F"/>
            </a:solidFill>
            <a:prstDash val="solid"/>
          </a:ln>
        </p:spPr>
      </p:sp>
      <p:sp>
        <p:nvSpPr>
          <p:cNvPr id="13" name="Shape 8"/>
          <p:cNvSpPr/>
          <p:nvPr/>
        </p:nvSpPr>
        <p:spPr>
          <a:xfrm>
            <a:off x="7220102" y="1819656"/>
            <a:ext cx="1426464" cy="1344168"/>
          </a:xfrm>
          <a:prstGeom prst="rect">
            <a:avLst/>
          </a:prstGeom>
          <a:solidFill>
            <a:srgbClr val="FFFFFF"/>
          </a:solidFill>
          <a:ln w="31750">
            <a:solidFill>
              <a:srgbClr val="17375E"/>
            </a:solidFill>
            <a:prstDash val="solid"/>
          </a:ln>
        </p:spPr>
      </p:sp>
      <p:sp>
        <p:nvSpPr>
          <p:cNvPr id="14" name="Shape 9"/>
          <p:cNvSpPr/>
          <p:nvPr/>
        </p:nvSpPr>
        <p:spPr>
          <a:xfrm>
            <a:off x="7165238" y="2330440"/>
            <a:ext cx="109728" cy="322600"/>
          </a:xfrm>
          <a:prstGeom prst="rect">
            <a:avLst/>
          </a:prstGeom>
          <a:solidFill>
            <a:srgbClr val="FFFFFF"/>
          </a:solidFill>
          <a:ln w="12700">
            <a:solidFill>
              <a:srgbClr val="FFFFFF">
                <a:alpha val="0"/>
              </a:srgbClr>
            </a:solidFill>
            <a:prstDash val="solid"/>
          </a:ln>
        </p:spPr>
      </p:sp>
      <p:pic>
        <p:nvPicPr>
          <p:cNvPr id="15" name="Image 2" descr="cooking">    </p:cNvPr>
          <p:cNvPicPr>
            <a:picLocks noChangeAspect="1"/>
          </p:cNvPicPr>
          <p:nvPr/>
        </p:nvPicPr>
        <p:blipFill>
          <a:blip r:embed="rId3"/>
          <a:stretch>
            <a:fillRect/>
          </a:stretch>
        </p:blipFill>
        <p:spPr>
          <a:xfrm>
            <a:off x="8189366" y="1892808"/>
            <a:ext cx="384048" cy="384048"/>
          </a:xfrm>
          <a:prstGeom prst="rect">
            <a:avLst/>
          </a:prstGeom>
        </p:spPr>
      </p:pic>
      <p:pic>
        <p:nvPicPr>
          <p:cNvPr id="16" name="Image 3" descr="person standing">    </p:cNvPr>
          <p:cNvPicPr>
            <a:picLocks noChangeAspect="1"/>
          </p:cNvPicPr>
          <p:nvPr/>
        </p:nvPicPr>
        <p:blipFill>
          <a:blip r:embed="rId4"/>
          <a:stretch>
            <a:fillRect/>
          </a:stretch>
        </p:blipFill>
        <p:spPr>
          <a:xfrm>
            <a:off x="6382512" y="2064258"/>
            <a:ext cx="672084" cy="672084"/>
          </a:xfrm>
          <a:prstGeom prst="rect">
            <a:avLst/>
          </a:prstGeom>
        </p:spPr>
      </p:pic>
      <p:sp>
        <p:nvSpPr>
          <p:cNvPr id="17" name="Shape 10"/>
          <p:cNvSpPr/>
          <p:nvPr/>
        </p:nvSpPr>
        <p:spPr>
          <a:xfrm>
            <a:off x="6935495" y="2601468"/>
            <a:ext cx="926516" cy="914"/>
          </a:xfrm>
          <a:prstGeom prst="line">
            <a:avLst/>
          </a:prstGeom>
          <a:noFill/>
          <a:ln w="50800">
            <a:solidFill>
              <a:srgbClr val="D9700F"/>
            </a:solidFill>
            <a:prstDash val="solid"/>
            <a:tailEnd type="triangle"/>
          </a:ln>
        </p:spPr>
      </p:sp>
      <p:sp>
        <p:nvSpPr>
          <p:cNvPr id="18" name="Text 11"/>
          <p:cNvSpPr txBox="1"/>
          <p:nvPr/>
        </p:nvSpPr>
        <p:spPr>
          <a:xfrm>
            <a:off x="8833104"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après</a:t>
            </a:r>
            <a:r>
              <a:rPr lang="en-US" sz="1800" dirty="0">
                <a:solidFill>
                  <a:schemeClr val="tx1"/>
                </a:solidFill>
              </a:rPr>
              <a:t> le nom = </a:t>
            </a:r>
            <a:r>
              <a:rPr lang="en-US" sz="1800" b="1" dirty="0">
                <a:solidFill>
                  <a:schemeClr val="tx1"/>
                </a:solidFill>
              </a:rPr>
              <a:t>vers où ?</a:t>
            </a:r>
            <a:endParaRPr lang="en-US" sz="1800" dirty="0"/>
          </a:p>
          <a:p>
            <a:pPr algn="l" indent="0" marL="0">
              <a:spcAft>
                <a:spcPts val="600"/>
              </a:spcAft>
              <a:buNone/>
            </a:pPr>
            <a:r>
              <a:rPr lang="en-US" sz="1800" i="1" dirty="0">
                <a:solidFill>
                  <a:schemeClr val="tx1"/>
                </a:solidFill>
              </a:rPr>
              <a:t>Ik loop de keuken </a:t>
            </a:r>
            <a:r>
              <a:rPr lang="en-US" sz="1800" b="1" i="1" dirty="0">
                <a:solidFill>
                  <a:schemeClr val="accent1"/>
                </a:solidFill>
              </a:rPr>
              <a:t>in</a:t>
            </a:r>
            <a:r>
              <a:rPr lang="en-US" sz="1800" i="1" dirty="0">
                <a:solidFill>
                  <a:schemeClr val="tx1"/>
                </a:solidFill>
              </a:rPr>
              <a:t>.</a:t>
            </a:r>
            <a:endParaRPr lang="en-US" sz="1800" dirty="0"/>
          </a:p>
        </p:txBody>
      </p:sp>
      <p:sp>
        <p:nvSpPr>
          <p:cNvPr id="19" name="Shape 12"/>
          <p:cNvSpPr/>
          <p:nvPr/>
        </p:nvSpPr>
        <p:spPr>
          <a:xfrm>
            <a:off x="548640" y="3611880"/>
            <a:ext cx="1026871" cy="1234440"/>
          </a:xfrm>
          <a:prstGeom prst="roundRect">
            <a:avLst>
              <a:gd name="adj" fmla="val 7124"/>
            </a:avLst>
          </a:prstGeom>
          <a:solidFill>
            <a:srgbClr val="FFFFFF"/>
          </a:solidFill>
          <a:ln w="15875">
            <a:solidFill>
              <a:srgbClr val="D9700F"/>
            </a:solidFill>
            <a:prstDash val="solid"/>
          </a:ln>
        </p:spPr>
      </p:sp>
      <p:sp>
        <p:nvSpPr>
          <p:cNvPr id="20" name="Shape 13"/>
          <p:cNvSpPr/>
          <p:nvPr/>
        </p:nvSpPr>
        <p:spPr>
          <a:xfrm>
            <a:off x="1025500" y="3803904"/>
            <a:ext cx="351130" cy="438912"/>
          </a:xfrm>
          <a:prstGeom prst="rect">
            <a:avLst/>
          </a:prstGeom>
          <a:solidFill>
            <a:srgbClr val="FFFFFF"/>
          </a:solidFill>
          <a:ln w="25400">
            <a:solidFill>
              <a:srgbClr val="17375E"/>
            </a:solidFill>
            <a:prstDash val="solid"/>
          </a:ln>
        </p:spPr>
      </p:sp>
      <p:sp>
        <p:nvSpPr>
          <p:cNvPr id="21" name="Shape 14"/>
          <p:cNvSpPr/>
          <p:nvPr/>
        </p:nvSpPr>
        <p:spPr>
          <a:xfrm>
            <a:off x="988924" y="3948745"/>
            <a:ext cx="73152" cy="149230"/>
          </a:xfrm>
          <a:prstGeom prst="rect">
            <a:avLst/>
          </a:prstGeom>
          <a:solidFill>
            <a:srgbClr val="FFFFFF"/>
          </a:solidFill>
          <a:ln w="12700">
            <a:solidFill>
              <a:srgbClr val="FFFFFF">
                <a:alpha val="0"/>
              </a:srgbClr>
            </a:solidFill>
            <a:prstDash val="solid"/>
          </a:ln>
        </p:spPr>
      </p:sp>
      <p:sp>
        <p:nvSpPr>
          <p:cNvPr id="22" name="Shape 15"/>
          <p:cNvSpPr/>
          <p:nvPr/>
        </p:nvSpPr>
        <p:spPr>
          <a:xfrm>
            <a:off x="732892" y="4023360"/>
            <a:ext cx="490118" cy="914"/>
          </a:xfrm>
          <a:prstGeom prst="line">
            <a:avLst/>
          </a:prstGeom>
          <a:noFill/>
          <a:ln w="44450">
            <a:solidFill>
              <a:srgbClr val="D9700F"/>
            </a:solidFill>
            <a:prstDash val="solid"/>
            <a:tailEnd type="triangle"/>
          </a:ln>
        </p:spPr>
      </p:sp>
      <p:sp>
        <p:nvSpPr>
          <p:cNvPr id="23" name="Text 16"/>
          <p:cNvSpPr txBox="1"/>
          <p:nvPr/>
        </p:nvSpPr>
        <p:spPr>
          <a:xfrm>
            <a:off x="54864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in</a:t>
            </a:r>
            <a:endParaRPr lang="en-US" sz="1400" dirty="0"/>
          </a:p>
        </p:txBody>
      </p:sp>
      <p:sp>
        <p:nvSpPr>
          <p:cNvPr id="24" name="Shape 17"/>
          <p:cNvSpPr/>
          <p:nvPr/>
        </p:nvSpPr>
        <p:spPr>
          <a:xfrm>
            <a:off x="1666951" y="3611880"/>
            <a:ext cx="1026871" cy="1234440"/>
          </a:xfrm>
          <a:prstGeom prst="roundRect">
            <a:avLst>
              <a:gd name="adj" fmla="val 7124"/>
            </a:avLst>
          </a:prstGeom>
          <a:solidFill>
            <a:srgbClr val="FFFFFF"/>
          </a:solidFill>
          <a:ln w="15875">
            <a:solidFill>
              <a:srgbClr val="D9700F"/>
            </a:solidFill>
            <a:prstDash val="solid"/>
          </a:ln>
        </p:spPr>
      </p:sp>
      <p:sp>
        <p:nvSpPr>
          <p:cNvPr id="25" name="Shape 18"/>
          <p:cNvSpPr/>
          <p:nvPr/>
        </p:nvSpPr>
        <p:spPr>
          <a:xfrm>
            <a:off x="2143811" y="3803904"/>
            <a:ext cx="351130" cy="438912"/>
          </a:xfrm>
          <a:prstGeom prst="rect">
            <a:avLst/>
          </a:prstGeom>
          <a:solidFill>
            <a:srgbClr val="FFFFFF"/>
          </a:solidFill>
          <a:ln w="25400">
            <a:solidFill>
              <a:srgbClr val="17375E"/>
            </a:solidFill>
            <a:prstDash val="solid"/>
          </a:ln>
        </p:spPr>
      </p:sp>
      <p:sp>
        <p:nvSpPr>
          <p:cNvPr id="26" name="Shape 19"/>
          <p:cNvSpPr/>
          <p:nvPr/>
        </p:nvSpPr>
        <p:spPr>
          <a:xfrm>
            <a:off x="2107235" y="3948745"/>
            <a:ext cx="73152" cy="149230"/>
          </a:xfrm>
          <a:prstGeom prst="rect">
            <a:avLst/>
          </a:prstGeom>
          <a:solidFill>
            <a:srgbClr val="FFFFFF"/>
          </a:solidFill>
          <a:ln w="12700">
            <a:solidFill>
              <a:srgbClr val="FFFFFF">
                <a:alpha val="0"/>
              </a:srgbClr>
            </a:solidFill>
            <a:prstDash val="solid"/>
          </a:ln>
        </p:spPr>
      </p:sp>
      <p:sp>
        <p:nvSpPr>
          <p:cNvPr id="27" name="Shape 20"/>
          <p:cNvSpPr/>
          <p:nvPr/>
        </p:nvSpPr>
        <p:spPr>
          <a:xfrm flipH="1">
            <a:off x="1851203" y="4023360"/>
            <a:ext cx="490118" cy="914"/>
          </a:xfrm>
          <a:prstGeom prst="line">
            <a:avLst/>
          </a:prstGeom>
          <a:noFill/>
          <a:ln w="44450">
            <a:solidFill>
              <a:srgbClr val="D9700F"/>
            </a:solidFill>
            <a:prstDash val="solid"/>
            <a:tailEnd type="triangle"/>
          </a:ln>
        </p:spPr>
      </p:sp>
      <p:sp>
        <p:nvSpPr>
          <p:cNvPr id="28" name="Text 21"/>
          <p:cNvSpPr txBox="1"/>
          <p:nvPr/>
        </p:nvSpPr>
        <p:spPr>
          <a:xfrm>
            <a:off x="166695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uit</a:t>
            </a:r>
            <a:endParaRPr lang="en-US" sz="1400" dirty="0"/>
          </a:p>
        </p:txBody>
      </p:sp>
      <p:sp>
        <p:nvSpPr>
          <p:cNvPr id="29" name="Shape 22"/>
          <p:cNvSpPr/>
          <p:nvPr/>
        </p:nvSpPr>
        <p:spPr>
          <a:xfrm>
            <a:off x="2785262" y="3611880"/>
            <a:ext cx="1026871" cy="1234440"/>
          </a:xfrm>
          <a:prstGeom prst="roundRect">
            <a:avLst>
              <a:gd name="adj" fmla="val 7124"/>
            </a:avLst>
          </a:prstGeom>
          <a:solidFill>
            <a:srgbClr val="FFFFFF"/>
          </a:solidFill>
          <a:ln w="15875">
            <a:solidFill>
              <a:srgbClr val="D9700F"/>
            </a:solidFill>
            <a:prstDash val="solid"/>
          </a:ln>
        </p:spPr>
      </p:sp>
      <p:sp>
        <p:nvSpPr>
          <p:cNvPr id="30" name="Shape 23"/>
          <p:cNvSpPr/>
          <p:nvPr/>
        </p:nvSpPr>
        <p:spPr>
          <a:xfrm>
            <a:off x="3006090" y="4206240"/>
            <a:ext cx="146304" cy="109728"/>
          </a:xfrm>
          <a:prstGeom prst="rect">
            <a:avLst/>
          </a:prstGeom>
          <a:solidFill>
            <a:srgbClr val="D5DCE6"/>
          </a:solidFill>
          <a:ln w="9525">
            <a:solidFill>
              <a:srgbClr val="4A5A70"/>
            </a:solidFill>
            <a:prstDash val="solid"/>
          </a:ln>
        </p:spPr>
      </p:sp>
      <p:sp>
        <p:nvSpPr>
          <p:cNvPr id="31" name="Shape 24"/>
          <p:cNvSpPr/>
          <p:nvPr/>
        </p:nvSpPr>
        <p:spPr>
          <a:xfrm>
            <a:off x="3152394" y="4096512"/>
            <a:ext cx="146304" cy="219456"/>
          </a:xfrm>
          <a:prstGeom prst="rect">
            <a:avLst/>
          </a:prstGeom>
          <a:solidFill>
            <a:srgbClr val="D5DCE6"/>
          </a:solidFill>
          <a:ln w="9525">
            <a:solidFill>
              <a:srgbClr val="4A5A70"/>
            </a:solidFill>
            <a:prstDash val="solid"/>
          </a:ln>
        </p:spPr>
      </p:sp>
      <p:sp>
        <p:nvSpPr>
          <p:cNvPr id="32" name="Shape 25"/>
          <p:cNvSpPr/>
          <p:nvPr/>
        </p:nvSpPr>
        <p:spPr>
          <a:xfrm>
            <a:off x="3298698" y="3986784"/>
            <a:ext cx="146304" cy="329184"/>
          </a:xfrm>
          <a:prstGeom prst="rect">
            <a:avLst/>
          </a:prstGeom>
          <a:solidFill>
            <a:srgbClr val="D5DCE6"/>
          </a:solidFill>
          <a:ln w="9525">
            <a:solidFill>
              <a:srgbClr val="4A5A70"/>
            </a:solidFill>
            <a:prstDash val="solid"/>
          </a:ln>
        </p:spPr>
      </p:sp>
      <p:sp>
        <p:nvSpPr>
          <p:cNvPr id="33" name="Shape 26"/>
          <p:cNvSpPr/>
          <p:nvPr/>
        </p:nvSpPr>
        <p:spPr>
          <a:xfrm>
            <a:off x="3445002" y="3877056"/>
            <a:ext cx="146304" cy="438912"/>
          </a:xfrm>
          <a:prstGeom prst="rect">
            <a:avLst/>
          </a:prstGeom>
          <a:solidFill>
            <a:srgbClr val="D5DCE6"/>
          </a:solidFill>
          <a:ln w="9525">
            <a:solidFill>
              <a:srgbClr val="4A5A70"/>
            </a:solidFill>
            <a:prstDash val="solid"/>
          </a:ln>
        </p:spPr>
      </p:sp>
      <p:sp>
        <p:nvSpPr>
          <p:cNvPr id="34" name="Shape 27"/>
          <p:cNvSpPr/>
          <p:nvPr/>
        </p:nvSpPr>
        <p:spPr>
          <a:xfrm flipV="1">
            <a:off x="2991460" y="3716122"/>
            <a:ext cx="585216" cy="395021"/>
          </a:xfrm>
          <a:prstGeom prst="line">
            <a:avLst/>
          </a:prstGeom>
          <a:noFill/>
          <a:ln w="44450">
            <a:solidFill>
              <a:srgbClr val="D9700F"/>
            </a:solidFill>
            <a:prstDash val="solid"/>
            <a:tailEnd type="triangle"/>
          </a:ln>
        </p:spPr>
      </p:sp>
      <p:sp>
        <p:nvSpPr>
          <p:cNvPr id="35" name="Text 28"/>
          <p:cNvSpPr txBox="1"/>
          <p:nvPr/>
        </p:nvSpPr>
        <p:spPr>
          <a:xfrm>
            <a:off x="2785262"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op</a:t>
            </a:r>
            <a:endParaRPr lang="en-US" sz="1400" dirty="0"/>
          </a:p>
        </p:txBody>
      </p:sp>
      <p:sp>
        <p:nvSpPr>
          <p:cNvPr id="36" name="Shape 29"/>
          <p:cNvSpPr/>
          <p:nvPr/>
        </p:nvSpPr>
        <p:spPr>
          <a:xfrm>
            <a:off x="3903574" y="3611880"/>
            <a:ext cx="1026871" cy="1234440"/>
          </a:xfrm>
          <a:prstGeom prst="roundRect">
            <a:avLst>
              <a:gd name="adj" fmla="val 7124"/>
            </a:avLst>
          </a:prstGeom>
          <a:solidFill>
            <a:srgbClr val="FFFFFF"/>
          </a:solidFill>
          <a:ln w="15875">
            <a:solidFill>
              <a:srgbClr val="D9700F"/>
            </a:solidFill>
            <a:prstDash val="solid"/>
          </a:ln>
        </p:spPr>
      </p:sp>
      <p:sp>
        <p:nvSpPr>
          <p:cNvPr id="37" name="Shape 30"/>
          <p:cNvSpPr/>
          <p:nvPr/>
        </p:nvSpPr>
        <p:spPr>
          <a:xfrm>
            <a:off x="4124401" y="3877056"/>
            <a:ext cx="146304" cy="438912"/>
          </a:xfrm>
          <a:prstGeom prst="rect">
            <a:avLst/>
          </a:prstGeom>
          <a:solidFill>
            <a:srgbClr val="D5DCE6"/>
          </a:solidFill>
          <a:ln w="9525">
            <a:solidFill>
              <a:srgbClr val="4A5A70"/>
            </a:solidFill>
            <a:prstDash val="solid"/>
          </a:ln>
        </p:spPr>
      </p:sp>
      <p:sp>
        <p:nvSpPr>
          <p:cNvPr id="38" name="Shape 31"/>
          <p:cNvSpPr/>
          <p:nvPr/>
        </p:nvSpPr>
        <p:spPr>
          <a:xfrm>
            <a:off x="4270705" y="3986784"/>
            <a:ext cx="146304" cy="329184"/>
          </a:xfrm>
          <a:prstGeom prst="rect">
            <a:avLst/>
          </a:prstGeom>
          <a:solidFill>
            <a:srgbClr val="D5DCE6"/>
          </a:solidFill>
          <a:ln w="9525">
            <a:solidFill>
              <a:srgbClr val="4A5A70"/>
            </a:solidFill>
            <a:prstDash val="solid"/>
          </a:ln>
        </p:spPr>
      </p:sp>
      <p:sp>
        <p:nvSpPr>
          <p:cNvPr id="39" name="Shape 32"/>
          <p:cNvSpPr/>
          <p:nvPr/>
        </p:nvSpPr>
        <p:spPr>
          <a:xfrm>
            <a:off x="4417009" y="4096512"/>
            <a:ext cx="146304" cy="219456"/>
          </a:xfrm>
          <a:prstGeom prst="rect">
            <a:avLst/>
          </a:prstGeom>
          <a:solidFill>
            <a:srgbClr val="D5DCE6"/>
          </a:solidFill>
          <a:ln w="9525">
            <a:solidFill>
              <a:srgbClr val="4A5A70"/>
            </a:solidFill>
            <a:prstDash val="solid"/>
          </a:ln>
        </p:spPr>
      </p:sp>
      <p:sp>
        <p:nvSpPr>
          <p:cNvPr id="40" name="Shape 33"/>
          <p:cNvSpPr/>
          <p:nvPr/>
        </p:nvSpPr>
        <p:spPr>
          <a:xfrm>
            <a:off x="4563313" y="4206240"/>
            <a:ext cx="146304" cy="109728"/>
          </a:xfrm>
          <a:prstGeom prst="rect">
            <a:avLst/>
          </a:prstGeom>
          <a:solidFill>
            <a:srgbClr val="D5DCE6"/>
          </a:solidFill>
          <a:ln w="9525">
            <a:solidFill>
              <a:srgbClr val="4A5A70"/>
            </a:solidFill>
            <a:prstDash val="solid"/>
          </a:ln>
        </p:spPr>
      </p:sp>
      <p:sp>
        <p:nvSpPr>
          <p:cNvPr id="41" name="Shape 34"/>
          <p:cNvSpPr/>
          <p:nvPr/>
        </p:nvSpPr>
        <p:spPr>
          <a:xfrm>
            <a:off x="4139032" y="3716122"/>
            <a:ext cx="585216" cy="395021"/>
          </a:xfrm>
          <a:prstGeom prst="line">
            <a:avLst/>
          </a:prstGeom>
          <a:noFill/>
          <a:ln w="44450">
            <a:solidFill>
              <a:srgbClr val="D9700F"/>
            </a:solidFill>
            <a:prstDash val="solid"/>
            <a:tailEnd type="triangle"/>
          </a:ln>
        </p:spPr>
      </p:sp>
      <p:sp>
        <p:nvSpPr>
          <p:cNvPr id="42" name="Text 35"/>
          <p:cNvSpPr txBox="1"/>
          <p:nvPr/>
        </p:nvSpPr>
        <p:spPr>
          <a:xfrm>
            <a:off x="3903574"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af</a:t>
            </a:r>
            <a:endParaRPr lang="en-US" sz="1400" dirty="0"/>
          </a:p>
        </p:txBody>
      </p:sp>
      <p:sp>
        <p:nvSpPr>
          <p:cNvPr id="43" name="Shape 36"/>
          <p:cNvSpPr/>
          <p:nvPr/>
        </p:nvSpPr>
        <p:spPr>
          <a:xfrm>
            <a:off x="5021885" y="3611880"/>
            <a:ext cx="1026871" cy="1234440"/>
          </a:xfrm>
          <a:prstGeom prst="roundRect">
            <a:avLst>
              <a:gd name="adj" fmla="val 7124"/>
            </a:avLst>
          </a:prstGeom>
          <a:solidFill>
            <a:srgbClr val="FFFFFF"/>
          </a:solidFill>
          <a:ln w="15875">
            <a:solidFill>
              <a:srgbClr val="D9700F"/>
            </a:solidFill>
            <a:prstDash val="solid"/>
          </a:ln>
        </p:spPr>
      </p:sp>
      <p:sp>
        <p:nvSpPr>
          <p:cNvPr id="44" name="Shape 37"/>
          <p:cNvSpPr/>
          <p:nvPr/>
        </p:nvSpPr>
        <p:spPr>
          <a:xfrm>
            <a:off x="5206136" y="3840480"/>
            <a:ext cx="658368" cy="365760"/>
          </a:xfrm>
          <a:prstGeom prst="rect">
            <a:avLst/>
          </a:prstGeom>
          <a:solidFill>
            <a:srgbClr val="DCEFD9"/>
          </a:solidFill>
          <a:ln w="12700">
            <a:solidFill>
              <a:srgbClr val="FFFFFF">
                <a:alpha val="0"/>
              </a:srgbClr>
            </a:solidFill>
            <a:prstDash val="solid"/>
          </a:ln>
        </p:spPr>
      </p:sp>
      <p:sp>
        <p:nvSpPr>
          <p:cNvPr id="45" name="Shape 38"/>
          <p:cNvSpPr/>
          <p:nvPr/>
        </p:nvSpPr>
        <p:spPr>
          <a:xfrm>
            <a:off x="5447538" y="3840480"/>
            <a:ext cx="175565" cy="365760"/>
          </a:xfrm>
          <a:prstGeom prst="rect">
            <a:avLst/>
          </a:prstGeom>
          <a:solidFill>
            <a:srgbClr val="7FB8E6"/>
          </a:solidFill>
          <a:ln w="12700">
            <a:solidFill>
              <a:srgbClr val="FFFFFF">
                <a:alpha val="0"/>
              </a:srgbClr>
            </a:solidFill>
            <a:prstDash val="solid"/>
          </a:ln>
        </p:spPr>
      </p:sp>
      <p:sp>
        <p:nvSpPr>
          <p:cNvPr id="46" name="Shape 39"/>
          <p:cNvSpPr/>
          <p:nvPr/>
        </p:nvSpPr>
        <p:spPr>
          <a:xfrm>
            <a:off x="5257343" y="4023360"/>
            <a:ext cx="555955" cy="914"/>
          </a:xfrm>
          <a:prstGeom prst="line">
            <a:avLst/>
          </a:prstGeom>
          <a:noFill/>
          <a:ln w="44450">
            <a:solidFill>
              <a:srgbClr val="D9700F"/>
            </a:solidFill>
            <a:prstDash val="solid"/>
            <a:tailEnd type="triangle"/>
          </a:ln>
        </p:spPr>
      </p:sp>
      <p:sp>
        <p:nvSpPr>
          <p:cNvPr id="47" name="Text 40"/>
          <p:cNvSpPr txBox="1"/>
          <p:nvPr/>
        </p:nvSpPr>
        <p:spPr>
          <a:xfrm>
            <a:off x="5021885"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over</a:t>
            </a:r>
            <a:endParaRPr lang="en-US" sz="1400" dirty="0"/>
          </a:p>
        </p:txBody>
      </p:sp>
      <p:sp>
        <p:nvSpPr>
          <p:cNvPr id="48" name="Shape 41"/>
          <p:cNvSpPr/>
          <p:nvPr/>
        </p:nvSpPr>
        <p:spPr>
          <a:xfrm>
            <a:off x="6140196" y="3611880"/>
            <a:ext cx="1026871" cy="1234440"/>
          </a:xfrm>
          <a:prstGeom prst="roundRect">
            <a:avLst>
              <a:gd name="adj" fmla="val 7124"/>
            </a:avLst>
          </a:prstGeom>
          <a:solidFill>
            <a:srgbClr val="FFFFFF"/>
          </a:solidFill>
          <a:ln w="15875">
            <a:solidFill>
              <a:srgbClr val="D9700F"/>
            </a:solidFill>
            <a:prstDash val="solid"/>
          </a:ln>
        </p:spPr>
      </p:sp>
      <p:sp>
        <p:nvSpPr>
          <p:cNvPr id="49" name="Shape 42"/>
          <p:cNvSpPr/>
          <p:nvPr/>
        </p:nvSpPr>
        <p:spPr>
          <a:xfrm>
            <a:off x="6507328" y="3877056"/>
            <a:ext cx="292608" cy="292608"/>
          </a:xfrm>
          <a:prstGeom prst="roundRect">
            <a:avLst>
              <a:gd name="adj" fmla="val 37500"/>
            </a:avLst>
          </a:prstGeom>
          <a:solidFill>
            <a:srgbClr val="4A5A70"/>
          </a:solidFill>
          <a:ln w="12700">
            <a:solidFill>
              <a:srgbClr val="FFFFFF">
                <a:alpha val="0"/>
              </a:srgbClr>
            </a:solidFill>
            <a:prstDash val="solid"/>
          </a:ln>
        </p:spPr>
      </p:sp>
      <p:sp>
        <p:nvSpPr>
          <p:cNvPr id="50" name="Shape 43"/>
          <p:cNvSpPr/>
          <p:nvPr/>
        </p:nvSpPr>
        <p:spPr>
          <a:xfrm>
            <a:off x="6551219" y="3935578"/>
            <a:ext cx="204826" cy="175565"/>
          </a:xfrm>
          <a:prstGeom prst="roundRect">
            <a:avLst>
              <a:gd name="adj" fmla="val 41667"/>
            </a:avLst>
          </a:prstGeom>
          <a:solidFill>
            <a:srgbClr val="1B2333"/>
          </a:solidFill>
          <a:ln w="12700">
            <a:solidFill>
              <a:srgbClr val="FFFFFF">
                <a:alpha val="0"/>
              </a:srgbClr>
            </a:solidFill>
            <a:prstDash val="solid"/>
          </a:ln>
        </p:spPr>
      </p:sp>
      <p:sp>
        <p:nvSpPr>
          <p:cNvPr id="51" name="Shape 44"/>
          <p:cNvSpPr/>
          <p:nvPr/>
        </p:nvSpPr>
        <p:spPr>
          <a:xfrm>
            <a:off x="6317132" y="4023360"/>
            <a:ext cx="672998" cy="914"/>
          </a:xfrm>
          <a:prstGeom prst="line">
            <a:avLst/>
          </a:prstGeom>
          <a:noFill/>
          <a:ln w="44450">
            <a:solidFill>
              <a:srgbClr val="D9700F"/>
            </a:solidFill>
            <a:prstDash val="solid"/>
            <a:tailEnd type="triangle"/>
          </a:ln>
        </p:spPr>
      </p:sp>
      <p:sp>
        <p:nvSpPr>
          <p:cNvPr id="52" name="Text 45"/>
          <p:cNvSpPr txBox="1"/>
          <p:nvPr/>
        </p:nvSpPr>
        <p:spPr>
          <a:xfrm>
            <a:off x="6140196"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door</a:t>
            </a:r>
            <a:endParaRPr lang="en-US" sz="1400" dirty="0"/>
          </a:p>
        </p:txBody>
      </p:sp>
      <p:sp>
        <p:nvSpPr>
          <p:cNvPr id="53" name="Shape 46"/>
          <p:cNvSpPr/>
          <p:nvPr/>
        </p:nvSpPr>
        <p:spPr>
          <a:xfrm>
            <a:off x="7258507" y="3611880"/>
            <a:ext cx="1026871" cy="1234440"/>
          </a:xfrm>
          <a:prstGeom prst="roundRect">
            <a:avLst>
              <a:gd name="adj" fmla="val 7124"/>
            </a:avLst>
          </a:prstGeom>
          <a:solidFill>
            <a:srgbClr val="FFFFFF"/>
          </a:solidFill>
          <a:ln w="15875">
            <a:solidFill>
              <a:srgbClr val="D9700F"/>
            </a:solidFill>
            <a:prstDash val="solid"/>
          </a:ln>
        </p:spPr>
      </p:sp>
      <p:sp>
        <p:nvSpPr>
          <p:cNvPr id="54" name="Shape 47"/>
          <p:cNvSpPr/>
          <p:nvPr/>
        </p:nvSpPr>
        <p:spPr>
          <a:xfrm>
            <a:off x="7464704" y="3986784"/>
            <a:ext cx="329184" cy="343814"/>
          </a:xfrm>
          <a:prstGeom prst="rect">
            <a:avLst/>
          </a:prstGeom>
          <a:solidFill>
            <a:srgbClr val="D5DCE6"/>
          </a:solidFill>
          <a:ln w="12700">
            <a:solidFill>
              <a:srgbClr val="4A5A70"/>
            </a:solidFill>
            <a:prstDash val="solid"/>
          </a:ln>
        </p:spPr>
      </p:sp>
      <p:sp>
        <p:nvSpPr>
          <p:cNvPr id="55" name="Shape 48"/>
          <p:cNvSpPr/>
          <p:nvPr/>
        </p:nvSpPr>
        <p:spPr>
          <a:xfrm>
            <a:off x="7450074" y="3877056"/>
            <a:ext cx="482803" cy="914"/>
          </a:xfrm>
          <a:prstGeom prst="line">
            <a:avLst/>
          </a:prstGeom>
          <a:noFill/>
          <a:ln w="44450">
            <a:solidFill>
              <a:srgbClr val="D9700F"/>
            </a:solidFill>
            <a:prstDash val="solid"/>
          </a:ln>
        </p:spPr>
      </p:sp>
      <p:sp>
        <p:nvSpPr>
          <p:cNvPr id="56" name="Shape 49"/>
          <p:cNvSpPr/>
          <p:nvPr/>
        </p:nvSpPr>
        <p:spPr>
          <a:xfrm>
            <a:off x="7932877" y="3869741"/>
            <a:ext cx="914" cy="475488"/>
          </a:xfrm>
          <a:prstGeom prst="line">
            <a:avLst/>
          </a:prstGeom>
          <a:noFill/>
          <a:ln w="44450">
            <a:solidFill>
              <a:srgbClr val="D9700F"/>
            </a:solidFill>
            <a:prstDash val="solid"/>
            <a:tailEnd type="triangle"/>
          </a:ln>
        </p:spPr>
      </p:sp>
      <p:sp>
        <p:nvSpPr>
          <p:cNvPr id="57" name="Text 50"/>
          <p:cNvSpPr txBox="1"/>
          <p:nvPr/>
        </p:nvSpPr>
        <p:spPr>
          <a:xfrm>
            <a:off x="7258507"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om</a:t>
            </a:r>
            <a:endParaRPr lang="en-US" sz="1400" dirty="0"/>
          </a:p>
        </p:txBody>
      </p:sp>
      <p:sp>
        <p:nvSpPr>
          <p:cNvPr id="58" name="Shape 51"/>
          <p:cNvSpPr/>
          <p:nvPr/>
        </p:nvSpPr>
        <p:spPr>
          <a:xfrm>
            <a:off x="8376818" y="3611880"/>
            <a:ext cx="1026871" cy="1234440"/>
          </a:xfrm>
          <a:prstGeom prst="roundRect">
            <a:avLst>
              <a:gd name="adj" fmla="val 7124"/>
            </a:avLst>
          </a:prstGeom>
          <a:solidFill>
            <a:srgbClr val="FFFFFF"/>
          </a:solidFill>
          <a:ln w="15875">
            <a:solidFill>
              <a:srgbClr val="D9700F"/>
            </a:solidFill>
            <a:prstDash val="solid"/>
          </a:ln>
        </p:spPr>
      </p:sp>
      <p:sp>
        <p:nvSpPr>
          <p:cNvPr id="59" name="Shape 52"/>
          <p:cNvSpPr/>
          <p:nvPr/>
        </p:nvSpPr>
        <p:spPr>
          <a:xfrm>
            <a:off x="8597646" y="3745382"/>
            <a:ext cx="160934" cy="234086"/>
          </a:xfrm>
          <a:prstGeom prst="rect">
            <a:avLst/>
          </a:prstGeom>
          <a:solidFill>
            <a:srgbClr val="FFFFFF"/>
          </a:solidFill>
          <a:ln w="19050">
            <a:solidFill>
              <a:srgbClr val="17375E"/>
            </a:solidFill>
            <a:prstDash val="solid"/>
          </a:ln>
        </p:spPr>
      </p:sp>
      <p:sp>
        <p:nvSpPr>
          <p:cNvPr id="60" name="Shape 53"/>
          <p:cNvSpPr/>
          <p:nvPr/>
        </p:nvSpPr>
        <p:spPr>
          <a:xfrm>
            <a:off x="8809787" y="3745382"/>
            <a:ext cx="160934" cy="234086"/>
          </a:xfrm>
          <a:prstGeom prst="rect">
            <a:avLst/>
          </a:prstGeom>
          <a:solidFill>
            <a:srgbClr val="FFFFFF"/>
          </a:solidFill>
          <a:ln w="19050">
            <a:solidFill>
              <a:srgbClr val="17375E"/>
            </a:solidFill>
            <a:prstDash val="solid"/>
          </a:ln>
        </p:spPr>
      </p:sp>
      <p:sp>
        <p:nvSpPr>
          <p:cNvPr id="61" name="Shape 54"/>
          <p:cNvSpPr/>
          <p:nvPr/>
        </p:nvSpPr>
        <p:spPr>
          <a:xfrm>
            <a:off x="9021928" y="3745382"/>
            <a:ext cx="160934" cy="234086"/>
          </a:xfrm>
          <a:prstGeom prst="rect">
            <a:avLst/>
          </a:prstGeom>
          <a:solidFill>
            <a:srgbClr val="FFFFFF"/>
          </a:solidFill>
          <a:ln w="19050">
            <a:solidFill>
              <a:srgbClr val="17375E"/>
            </a:solidFill>
            <a:prstDash val="solid"/>
          </a:ln>
        </p:spPr>
      </p:sp>
      <p:sp>
        <p:nvSpPr>
          <p:cNvPr id="62" name="Shape 55"/>
          <p:cNvSpPr/>
          <p:nvPr/>
        </p:nvSpPr>
        <p:spPr>
          <a:xfrm>
            <a:off x="8561070" y="4140403"/>
            <a:ext cx="658368" cy="914"/>
          </a:xfrm>
          <a:prstGeom prst="line">
            <a:avLst/>
          </a:prstGeom>
          <a:noFill/>
          <a:ln w="44450">
            <a:solidFill>
              <a:srgbClr val="D9700F"/>
            </a:solidFill>
            <a:prstDash val="solid"/>
            <a:tailEnd type="triangle"/>
          </a:ln>
        </p:spPr>
      </p:sp>
      <p:sp>
        <p:nvSpPr>
          <p:cNvPr id="63" name="Text 56"/>
          <p:cNvSpPr txBox="1"/>
          <p:nvPr/>
        </p:nvSpPr>
        <p:spPr>
          <a:xfrm>
            <a:off x="8376818"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langs</a:t>
            </a:r>
            <a:endParaRPr lang="en-US" sz="1400" dirty="0"/>
          </a:p>
        </p:txBody>
      </p:sp>
      <p:sp>
        <p:nvSpPr>
          <p:cNvPr id="64" name="Shape 57"/>
          <p:cNvSpPr/>
          <p:nvPr/>
        </p:nvSpPr>
        <p:spPr>
          <a:xfrm>
            <a:off x="9495130" y="3611880"/>
            <a:ext cx="1026871" cy="1234440"/>
          </a:xfrm>
          <a:prstGeom prst="roundRect">
            <a:avLst>
              <a:gd name="adj" fmla="val 7124"/>
            </a:avLst>
          </a:prstGeom>
          <a:solidFill>
            <a:srgbClr val="FFFFFF"/>
          </a:solidFill>
          <a:ln w="15875">
            <a:solidFill>
              <a:srgbClr val="D9700F"/>
            </a:solidFill>
            <a:prstDash val="solid"/>
          </a:ln>
        </p:spPr>
      </p:sp>
      <p:pic>
        <p:nvPicPr>
          <p:cNvPr id="65" name="Image 4" descr="station">    </p:cNvPr>
          <p:cNvPicPr>
            <a:picLocks noChangeAspect="1"/>
          </p:cNvPicPr>
          <p:nvPr/>
        </p:nvPicPr>
        <p:blipFill>
          <a:blip r:embed="rId5"/>
          <a:stretch>
            <a:fillRect/>
          </a:stretch>
        </p:blipFill>
        <p:spPr>
          <a:xfrm>
            <a:off x="9862261" y="3694176"/>
            <a:ext cx="292608" cy="292608"/>
          </a:xfrm>
          <a:prstGeom prst="rect">
            <a:avLst/>
          </a:prstGeom>
        </p:spPr>
      </p:pic>
      <p:sp>
        <p:nvSpPr>
          <p:cNvPr id="66" name="Shape 58"/>
          <p:cNvSpPr/>
          <p:nvPr/>
        </p:nvSpPr>
        <p:spPr>
          <a:xfrm>
            <a:off x="9679381" y="4140403"/>
            <a:ext cx="329184" cy="914"/>
          </a:xfrm>
          <a:prstGeom prst="line">
            <a:avLst/>
          </a:prstGeom>
          <a:noFill/>
          <a:ln w="44450">
            <a:solidFill>
              <a:srgbClr val="D9700F"/>
            </a:solidFill>
            <a:prstDash val="solid"/>
          </a:ln>
        </p:spPr>
      </p:sp>
      <p:sp>
        <p:nvSpPr>
          <p:cNvPr id="67" name="Shape 59"/>
          <p:cNvSpPr/>
          <p:nvPr/>
        </p:nvSpPr>
        <p:spPr>
          <a:xfrm>
            <a:off x="10008565" y="4140403"/>
            <a:ext cx="343814" cy="914"/>
          </a:xfrm>
          <a:prstGeom prst="line">
            <a:avLst/>
          </a:prstGeom>
          <a:noFill/>
          <a:ln w="44450">
            <a:solidFill>
              <a:srgbClr val="D9700F"/>
            </a:solidFill>
            <a:prstDash val="solid"/>
            <a:tailEnd type="triangle"/>
          </a:ln>
        </p:spPr>
      </p:sp>
      <p:sp>
        <p:nvSpPr>
          <p:cNvPr id="68" name="Shape 60"/>
          <p:cNvSpPr/>
          <p:nvPr/>
        </p:nvSpPr>
        <p:spPr>
          <a:xfrm>
            <a:off x="10154869" y="4023360"/>
            <a:ext cx="914" cy="234086"/>
          </a:xfrm>
          <a:prstGeom prst="line">
            <a:avLst/>
          </a:prstGeom>
          <a:noFill/>
          <a:ln w="12700">
            <a:solidFill>
              <a:srgbClr val="4A5A70"/>
            </a:solidFill>
            <a:prstDash val="dash"/>
          </a:ln>
        </p:spPr>
      </p:sp>
      <p:sp>
        <p:nvSpPr>
          <p:cNvPr id="69" name="Text 61"/>
          <p:cNvSpPr txBox="1"/>
          <p:nvPr/>
        </p:nvSpPr>
        <p:spPr>
          <a:xfrm>
            <a:off x="949513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voorbij</a:t>
            </a:r>
            <a:endParaRPr lang="en-US" sz="1400" dirty="0"/>
          </a:p>
        </p:txBody>
      </p:sp>
      <p:sp>
        <p:nvSpPr>
          <p:cNvPr id="70" name="Shape 62"/>
          <p:cNvSpPr/>
          <p:nvPr/>
        </p:nvSpPr>
        <p:spPr>
          <a:xfrm>
            <a:off x="10613441" y="3611880"/>
            <a:ext cx="1026871" cy="1234440"/>
          </a:xfrm>
          <a:prstGeom prst="roundRect">
            <a:avLst>
              <a:gd name="adj" fmla="val 7124"/>
            </a:avLst>
          </a:prstGeom>
          <a:solidFill>
            <a:srgbClr val="FFFFFF"/>
          </a:solidFill>
          <a:ln w="15875">
            <a:solidFill>
              <a:srgbClr val="D9700F"/>
            </a:solidFill>
            <a:prstDash val="solid"/>
          </a:ln>
        </p:spPr>
      </p:sp>
      <p:pic>
        <p:nvPicPr>
          <p:cNvPr id="71" name="Image 5" descr="door">    </p:cNvPr>
          <p:cNvPicPr>
            <a:picLocks noChangeAspect="1"/>
          </p:cNvPicPr>
          <p:nvPr/>
        </p:nvPicPr>
        <p:blipFill>
          <a:blip r:embed="rId6"/>
          <a:stretch>
            <a:fillRect/>
          </a:stretch>
        </p:blipFill>
        <p:spPr>
          <a:xfrm>
            <a:off x="11141507" y="3818534"/>
            <a:ext cx="307238" cy="307238"/>
          </a:xfrm>
          <a:prstGeom prst="rect">
            <a:avLst/>
          </a:prstGeom>
        </p:spPr>
      </p:pic>
      <p:sp>
        <p:nvSpPr>
          <p:cNvPr id="72" name="Shape 63"/>
          <p:cNvSpPr/>
          <p:nvPr/>
        </p:nvSpPr>
        <p:spPr>
          <a:xfrm>
            <a:off x="11126876" y="4228186"/>
            <a:ext cx="336499" cy="58522"/>
          </a:xfrm>
          <a:prstGeom prst="roundRect">
            <a:avLst>
              <a:gd name="adj" fmla="val 31250"/>
            </a:avLst>
          </a:prstGeom>
          <a:solidFill>
            <a:schemeClr val="accent1">
              <a:alpha val="60000"/>
            </a:schemeClr>
          </a:solidFill>
          <a:ln w="12700">
            <a:solidFill>
              <a:srgbClr val="FFFFFF">
                <a:alpha val="0"/>
              </a:srgbClr>
            </a:solidFill>
            <a:prstDash val="solid"/>
          </a:ln>
        </p:spPr>
      </p:sp>
      <p:sp>
        <p:nvSpPr>
          <p:cNvPr id="73" name="Shape 64"/>
          <p:cNvSpPr/>
          <p:nvPr/>
        </p:nvSpPr>
        <p:spPr>
          <a:xfrm>
            <a:off x="10790377" y="4023360"/>
            <a:ext cx="424282" cy="914"/>
          </a:xfrm>
          <a:prstGeom prst="line">
            <a:avLst/>
          </a:prstGeom>
          <a:noFill/>
          <a:ln w="44450">
            <a:solidFill>
              <a:srgbClr val="D9700F"/>
            </a:solidFill>
            <a:prstDash val="solid"/>
            <a:tailEnd type="triangle"/>
          </a:ln>
        </p:spPr>
      </p:sp>
      <p:sp>
        <p:nvSpPr>
          <p:cNvPr id="74" name="Text 65"/>
          <p:cNvSpPr txBox="1"/>
          <p:nvPr/>
        </p:nvSpPr>
        <p:spPr>
          <a:xfrm>
            <a:off x="1061344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binnen</a:t>
            </a:r>
            <a:endParaRPr lang="en-US" sz="1400" dirty="0"/>
          </a:p>
        </p:txBody>
      </p:sp>
      <p:sp>
        <p:nvSpPr>
          <p:cNvPr id="75" name="Shape 66"/>
          <p:cNvSpPr/>
          <p:nvPr/>
        </p:nvSpPr>
        <p:spPr>
          <a:xfrm>
            <a:off x="548640" y="5029200"/>
            <a:ext cx="11091672" cy="777240"/>
          </a:xfrm>
          <a:prstGeom prst="roundRect">
            <a:avLst>
              <a:gd name="adj" fmla="val 11765"/>
            </a:avLst>
          </a:prstGeom>
          <a:solidFill>
            <a:schemeClr val="bg2"/>
          </a:solidFill>
          <a:ln w="12700">
            <a:solidFill>
              <a:srgbClr val="D5DCE6"/>
            </a:solidFill>
            <a:prstDash val="solid"/>
          </a:ln>
        </p:spPr>
      </p:sp>
      <p:sp>
        <p:nvSpPr>
          <p:cNvPr id="76" name="Text 67"/>
          <p:cNvSpPr txBox="1"/>
          <p:nvPr/>
        </p:nvSpPr>
        <p:spPr>
          <a:xfrm>
            <a:off x="777240" y="502920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 verbe dit </a:t>
            </a:r>
            <a:r>
              <a:rPr lang="en-US" sz="1900" b="1" dirty="0">
                <a:solidFill>
                  <a:schemeClr val="tx1"/>
                </a:solidFill>
              </a:rPr>
              <a:t>la manière</a:t>
            </a:r>
            <a:r>
              <a:rPr lang="en-US" sz="1900" dirty="0">
                <a:solidFill>
                  <a:schemeClr val="tx1"/>
                </a:solidFill>
              </a:rPr>
              <a:t> · l’</a:t>
            </a:r>
            <a:r>
              <a:rPr lang="en-US" sz="1900" i="1" dirty="0">
                <a:solidFill>
                  <a:schemeClr val="tx1"/>
                </a:solidFill>
              </a:rPr>
              <a:t>achterzetsel</a:t>
            </a:r>
            <a:r>
              <a:rPr lang="en-US" sz="1900" dirty="0">
                <a:solidFill>
                  <a:schemeClr val="tx1"/>
                </a:solidFill>
              </a:rPr>
              <a:t> va </a:t>
            </a:r>
            <a:r>
              <a:rPr lang="en-US" sz="1900" b="1" dirty="0">
                <a:solidFill>
                  <a:schemeClr val="tx1"/>
                </a:solidFill>
              </a:rPr>
              <a:t>au bout</a:t>
            </a:r>
            <a:r>
              <a:rPr lang="en-US" sz="1900" dirty="0">
                <a:solidFill>
                  <a:schemeClr val="tx1"/>
                </a:solidFill>
              </a:rPr>
              <a:t> · verbe de mouvement : passé composé avec </a:t>
            </a:r>
            <a:r>
              <a:rPr lang="en-US" sz="1900" b="1" dirty="0">
                <a:solidFill>
                  <a:schemeClr val="tx1"/>
                </a:solidFill>
              </a:rPr>
              <a:t>zijn</a:t>
            </a:r>
            <a:endParaRPr lang="en-US" sz="1900" dirty="0"/>
          </a:p>
        </p:txBody>
      </p:sp>
      <p:pic>
        <p:nvPicPr>
          <p:cNvPr id="77" name="Image 6" descr="Camera">    </p:cNvPr>
          <p:cNvPicPr>
            <a:picLocks noChangeAspect="1"/>
          </p:cNvPicPr>
          <p:nvPr/>
        </p:nvPicPr>
        <p:blipFill>
          <a:blip r:embed="rId7"/>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DotCirc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Point ou flèche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ongArrowAltR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petit mot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Traduisez</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apMarked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Waar ben ik?</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ic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Kruip de vergaderzaal in!</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ompas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visiteur perdu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Text 6"/>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1" name="Shape 7"/>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2" name="Shape 8"/>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3" name="Shape 9"/>
          <p:cNvSpPr/>
          <p:nvPr/>
        </p:nvSpPr>
        <p:spPr>
          <a:xfrm>
            <a:off x="5225796" y="2202942"/>
            <a:ext cx="594360" cy="548640"/>
          </a:xfrm>
          <a:prstGeom prst="roundRect">
            <a:avLst>
              <a:gd name="adj" fmla="val 16667"/>
            </a:avLst>
          </a:prstGeom>
          <a:solidFill>
            <a:srgbClr val="FFFFFF"/>
          </a:solidFill>
          <a:ln w="19050">
            <a:solidFill>
              <a:srgbClr val="D9700F"/>
            </a:solidFill>
            <a:prstDash val="solid"/>
          </a:ln>
        </p:spPr>
      </p:sp>
      <p:sp>
        <p:nvSpPr>
          <p:cNvPr id="14" name="Shape 10"/>
          <p:cNvSpPr/>
          <p:nvPr/>
        </p:nvSpPr>
        <p:spPr>
          <a:xfrm>
            <a:off x="5317236" y="2477262"/>
            <a:ext cx="411480" cy="914"/>
          </a:xfrm>
          <a:prstGeom prst="line">
            <a:avLst/>
          </a:prstGeom>
          <a:noFill/>
          <a:ln w="38100">
            <a:solidFill>
              <a:srgbClr val="D9700F"/>
            </a:solidFill>
            <a:prstDash val="solid"/>
            <a:tailEnd type="triangle"/>
          </a:ln>
        </p:spPr>
      </p:sp>
      <p:sp>
        <p:nvSpPr>
          <p:cNvPr id="15" name="Shape 11"/>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6" name="Text 12"/>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7" name="Text 13"/>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8" name="Shape 14"/>
          <p:cNvSpPr/>
          <p:nvPr/>
        </p:nvSpPr>
        <p:spPr>
          <a:xfrm>
            <a:off x="4539996" y="3292602"/>
            <a:ext cx="594360" cy="548640"/>
          </a:xfrm>
          <a:prstGeom prst="roundRect">
            <a:avLst>
              <a:gd name="adj" fmla="val 16667"/>
            </a:avLst>
          </a:prstGeom>
          <a:solidFill>
            <a:srgbClr val="FFFFFF"/>
          </a:solidFill>
          <a:ln w="19050">
            <a:solidFill>
              <a:srgbClr val="2A6FB0"/>
            </a:solidFill>
            <a:prstDash val="solid"/>
          </a:ln>
        </p:spPr>
      </p:sp>
      <p:sp>
        <p:nvSpPr>
          <p:cNvPr id="19" name="Shape 15"/>
          <p:cNvSpPr/>
          <p:nvPr/>
        </p:nvSpPr>
        <p:spPr>
          <a:xfrm>
            <a:off x="4741164" y="3475482"/>
            <a:ext cx="182880" cy="182880"/>
          </a:xfrm>
          <a:prstGeom prst="ellipse">
            <a:avLst/>
          </a:prstGeom>
          <a:solidFill>
            <a:schemeClr val="accent2"/>
          </a:solidFill>
          <a:ln w="12700">
            <a:solidFill>
              <a:srgbClr val="FFFFFF">
                <a:alpha val="0"/>
              </a:srgbClr>
            </a:solidFill>
            <a:prstDash val="solid"/>
          </a:ln>
        </p:spPr>
      </p:sp>
      <p:sp>
        <p:nvSpPr>
          <p:cNvPr id="20" name="Shape 16"/>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1" name="Shape 17"/>
          <p:cNvSpPr/>
          <p:nvPr/>
        </p:nvSpPr>
        <p:spPr>
          <a:xfrm>
            <a:off x="5317236" y="3566922"/>
            <a:ext cx="411480" cy="914"/>
          </a:xfrm>
          <a:prstGeom prst="line">
            <a:avLst/>
          </a:prstGeom>
          <a:noFill/>
          <a:ln w="38100">
            <a:solidFill>
              <a:srgbClr val="D9700F"/>
            </a:solidFill>
            <a:prstDash val="solid"/>
            <a:tailEnd type="triangle"/>
          </a:ln>
        </p:spPr>
      </p:sp>
      <p:sp>
        <p:nvSpPr>
          <p:cNvPr id="22" name="Shape 18"/>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3" name="Text 19"/>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4" name="Text 20"/>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5" name="Shape 21"/>
          <p:cNvSpPr/>
          <p:nvPr/>
        </p:nvSpPr>
        <p:spPr>
          <a:xfrm>
            <a:off x="4539996" y="4382262"/>
            <a:ext cx="594360" cy="548640"/>
          </a:xfrm>
          <a:prstGeom prst="roundRect">
            <a:avLst>
              <a:gd name="adj" fmla="val 16667"/>
            </a:avLst>
          </a:prstGeom>
          <a:solidFill>
            <a:srgbClr val="FFFFFF"/>
          </a:solidFill>
          <a:ln w="19050">
            <a:solidFill>
              <a:srgbClr val="2A6FB0"/>
            </a:solidFill>
            <a:prstDash val="solid"/>
          </a:ln>
        </p:spPr>
      </p:sp>
      <p:sp>
        <p:nvSpPr>
          <p:cNvPr id="26" name="Shape 22"/>
          <p:cNvSpPr/>
          <p:nvPr/>
        </p:nvSpPr>
        <p:spPr>
          <a:xfrm>
            <a:off x="4741164" y="4565142"/>
            <a:ext cx="182880" cy="182880"/>
          </a:xfrm>
          <a:prstGeom prst="ellipse">
            <a:avLst/>
          </a:prstGeom>
          <a:solidFill>
            <a:schemeClr val="accent2"/>
          </a:solidFill>
          <a:ln w="12700">
            <a:solidFill>
              <a:srgbClr val="FFFFFF">
                <a:alpha val="0"/>
              </a:srgbClr>
            </a:solidFill>
            <a:prstDash val="solid"/>
          </a:ln>
        </p:spPr>
      </p:sp>
      <p:sp>
        <p:nvSpPr>
          <p:cNvPr id="27" name="Shape 23"/>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8" name="Shape 24"/>
          <p:cNvSpPr/>
          <p:nvPr/>
        </p:nvSpPr>
        <p:spPr>
          <a:xfrm>
            <a:off x="5317236" y="4656582"/>
            <a:ext cx="411480" cy="914"/>
          </a:xfrm>
          <a:prstGeom prst="line">
            <a:avLst/>
          </a:prstGeom>
          <a:noFill/>
          <a:ln w="38100">
            <a:solidFill>
              <a:srgbClr val="D9700F"/>
            </a:solidFill>
            <a:prstDash val="solid"/>
            <a:tailEnd type="triangle"/>
          </a:ln>
        </p:spPr>
      </p:sp>
      <p:sp>
        <p:nvSpPr>
          <p:cNvPr id="29" name="Shape 25"/>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0" name="Text 26"/>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1" name="Text 27"/>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2" name="Shape 28"/>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3" name="Shape 29"/>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4" name="Shape 30"/>
          <p:cNvSpPr/>
          <p:nvPr/>
        </p:nvSpPr>
        <p:spPr>
          <a:xfrm>
            <a:off x="5225796" y="5471922"/>
            <a:ext cx="594360" cy="548640"/>
          </a:xfrm>
          <a:prstGeom prst="roundRect">
            <a:avLst>
              <a:gd name="adj" fmla="val 16667"/>
            </a:avLst>
          </a:prstGeom>
          <a:solidFill>
            <a:srgbClr val="FFFFFF"/>
          </a:solidFill>
          <a:ln w="19050">
            <a:solidFill>
              <a:srgbClr val="D9700F"/>
            </a:solidFill>
            <a:prstDash val="solid"/>
          </a:ln>
        </p:spPr>
      </p:sp>
      <p:sp>
        <p:nvSpPr>
          <p:cNvPr id="35" name="Shape 31"/>
          <p:cNvSpPr/>
          <p:nvPr/>
        </p:nvSpPr>
        <p:spPr>
          <a:xfrm>
            <a:off x="5317236" y="5746242"/>
            <a:ext cx="411480" cy="914"/>
          </a:xfrm>
          <a:prstGeom prst="line">
            <a:avLst/>
          </a:prstGeom>
          <a:noFill/>
          <a:ln w="38100">
            <a:solidFill>
              <a:srgbClr val="D9700F"/>
            </a:solidFill>
            <a:prstDash val="solid"/>
            <a:tailEnd type="triangle"/>
          </a:ln>
        </p:spPr>
      </p:sp>
      <p:sp>
        <p:nvSpPr>
          <p:cNvPr id="36" name="Shape 32"/>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7" name="Text 33"/>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8" name="Text 34"/>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39" name="Shape 35"/>
          <p:cNvSpPr/>
          <p:nvPr/>
        </p:nvSpPr>
        <p:spPr>
          <a:xfrm>
            <a:off x="10222992" y="2202942"/>
            <a:ext cx="594360" cy="548640"/>
          </a:xfrm>
          <a:prstGeom prst="roundRect">
            <a:avLst>
              <a:gd name="adj" fmla="val 16667"/>
            </a:avLst>
          </a:prstGeom>
          <a:solidFill>
            <a:srgbClr val="FFFFFF"/>
          </a:solidFill>
          <a:ln w="19050">
            <a:solidFill>
              <a:srgbClr val="2A6FB0"/>
            </a:solidFill>
            <a:prstDash val="solid"/>
          </a:ln>
        </p:spPr>
      </p:sp>
      <p:sp>
        <p:nvSpPr>
          <p:cNvPr id="40" name="Shape 36"/>
          <p:cNvSpPr/>
          <p:nvPr/>
        </p:nvSpPr>
        <p:spPr>
          <a:xfrm>
            <a:off x="10424160" y="2385822"/>
            <a:ext cx="182880" cy="182880"/>
          </a:xfrm>
          <a:prstGeom prst="ellipse">
            <a:avLst/>
          </a:prstGeom>
          <a:solidFill>
            <a:schemeClr val="accent2"/>
          </a:solidFill>
          <a:ln w="12700">
            <a:solidFill>
              <a:srgbClr val="FFFFFF">
                <a:alpha val="0"/>
              </a:srgbClr>
            </a:solidFill>
            <a:prstDash val="solid"/>
          </a:ln>
        </p:spPr>
      </p:sp>
      <p:sp>
        <p:nvSpPr>
          <p:cNvPr id="41" name="Shape 37"/>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2" name="Shape 38"/>
          <p:cNvSpPr/>
          <p:nvPr/>
        </p:nvSpPr>
        <p:spPr>
          <a:xfrm>
            <a:off x="11000232" y="2477262"/>
            <a:ext cx="411480" cy="914"/>
          </a:xfrm>
          <a:prstGeom prst="line">
            <a:avLst/>
          </a:prstGeom>
          <a:noFill/>
          <a:ln w="38100">
            <a:solidFill>
              <a:srgbClr val="D9700F"/>
            </a:solidFill>
            <a:prstDash val="solid"/>
            <a:tailEnd type="triangle"/>
          </a:ln>
        </p:spPr>
      </p:sp>
      <p:sp>
        <p:nvSpPr>
          <p:cNvPr id="43" name="Shape 39"/>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4" name="Text 40"/>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5" name="Text 41"/>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6" name="Shape 42"/>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7" name="Shape 43"/>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8" name="Shape 44"/>
          <p:cNvSpPr/>
          <p:nvPr/>
        </p:nvSpPr>
        <p:spPr>
          <a:xfrm>
            <a:off x="10908792" y="3292602"/>
            <a:ext cx="594360" cy="548640"/>
          </a:xfrm>
          <a:prstGeom prst="roundRect">
            <a:avLst>
              <a:gd name="adj" fmla="val 16667"/>
            </a:avLst>
          </a:prstGeom>
          <a:solidFill>
            <a:srgbClr val="FFFFFF"/>
          </a:solidFill>
          <a:ln w="19050">
            <a:solidFill>
              <a:srgbClr val="D9700F"/>
            </a:solidFill>
            <a:prstDash val="solid"/>
          </a:ln>
        </p:spPr>
      </p:sp>
      <p:sp>
        <p:nvSpPr>
          <p:cNvPr id="49" name="Shape 45"/>
          <p:cNvSpPr/>
          <p:nvPr/>
        </p:nvSpPr>
        <p:spPr>
          <a:xfrm>
            <a:off x="11000232" y="3566922"/>
            <a:ext cx="411480" cy="914"/>
          </a:xfrm>
          <a:prstGeom prst="line">
            <a:avLst/>
          </a:prstGeom>
          <a:noFill/>
          <a:ln w="38100">
            <a:solidFill>
              <a:srgbClr val="D9700F"/>
            </a:solidFill>
            <a:prstDash val="solid"/>
            <a:tailEnd type="triangle"/>
          </a:ln>
        </p:spPr>
      </p:sp>
      <p:sp>
        <p:nvSpPr>
          <p:cNvPr id="50" name="Shape 46"/>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1" name="Text 47"/>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2" name="Text 48"/>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3" name="Shape 49"/>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4" name="Shape 50"/>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5" name="Shape 51"/>
          <p:cNvSpPr/>
          <p:nvPr/>
        </p:nvSpPr>
        <p:spPr>
          <a:xfrm>
            <a:off x="10908792" y="4382262"/>
            <a:ext cx="594360" cy="548640"/>
          </a:xfrm>
          <a:prstGeom prst="roundRect">
            <a:avLst>
              <a:gd name="adj" fmla="val 16667"/>
            </a:avLst>
          </a:prstGeom>
          <a:solidFill>
            <a:srgbClr val="FFFFFF"/>
          </a:solidFill>
          <a:ln w="19050">
            <a:solidFill>
              <a:srgbClr val="D9700F"/>
            </a:solidFill>
            <a:prstDash val="solid"/>
          </a:ln>
        </p:spPr>
      </p:sp>
      <p:sp>
        <p:nvSpPr>
          <p:cNvPr id="56" name="Shape 52"/>
          <p:cNvSpPr/>
          <p:nvPr/>
        </p:nvSpPr>
        <p:spPr>
          <a:xfrm>
            <a:off x="11000232" y="4656582"/>
            <a:ext cx="411480" cy="914"/>
          </a:xfrm>
          <a:prstGeom prst="line">
            <a:avLst/>
          </a:prstGeom>
          <a:noFill/>
          <a:ln w="38100">
            <a:solidFill>
              <a:srgbClr val="D9700F"/>
            </a:solidFill>
            <a:prstDash val="solid"/>
            <a:tailEnd type="triangle"/>
          </a:ln>
        </p:spPr>
      </p:sp>
      <p:sp>
        <p:nvSpPr>
          <p:cNvPr id="57" name="Shape 53"/>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8" name="Text 54"/>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59" name="Text 55"/>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0" name="Shape 56"/>
          <p:cNvSpPr/>
          <p:nvPr/>
        </p:nvSpPr>
        <p:spPr>
          <a:xfrm>
            <a:off x="10222992" y="5471922"/>
            <a:ext cx="594360" cy="548640"/>
          </a:xfrm>
          <a:prstGeom prst="roundRect">
            <a:avLst>
              <a:gd name="adj" fmla="val 16667"/>
            </a:avLst>
          </a:prstGeom>
          <a:solidFill>
            <a:srgbClr val="FFFFFF"/>
          </a:solidFill>
          <a:ln w="19050">
            <a:solidFill>
              <a:srgbClr val="2A6FB0"/>
            </a:solidFill>
            <a:prstDash val="solid"/>
          </a:ln>
        </p:spPr>
      </p:sp>
      <p:sp>
        <p:nvSpPr>
          <p:cNvPr id="61" name="Shape 57"/>
          <p:cNvSpPr/>
          <p:nvPr/>
        </p:nvSpPr>
        <p:spPr>
          <a:xfrm>
            <a:off x="10424160" y="5654802"/>
            <a:ext cx="182880" cy="182880"/>
          </a:xfrm>
          <a:prstGeom prst="ellipse">
            <a:avLst/>
          </a:prstGeom>
          <a:solidFill>
            <a:schemeClr val="accent2"/>
          </a:solidFill>
          <a:ln w="12700">
            <a:solidFill>
              <a:srgbClr val="FFFFFF">
                <a:alpha val="0"/>
              </a:srgbClr>
            </a:solidFill>
            <a:prstDash val="solid"/>
          </a:ln>
        </p:spPr>
      </p:sp>
      <p:sp>
        <p:nvSpPr>
          <p:cNvPr id="62" name="Shape 58"/>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3" name="Shape 59"/>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Text 7"/>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2" name="Shape 8"/>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3" name="Shape 9"/>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4" name="Shape 10"/>
          <p:cNvSpPr/>
          <p:nvPr/>
        </p:nvSpPr>
        <p:spPr>
          <a:xfrm>
            <a:off x="5225796" y="2202942"/>
            <a:ext cx="594360" cy="548640"/>
          </a:xfrm>
          <a:prstGeom prst="roundRect">
            <a:avLst>
              <a:gd name="adj" fmla="val 16667"/>
            </a:avLst>
          </a:prstGeom>
          <a:solidFill>
            <a:schemeClr val="accent1"/>
          </a:solidFill>
          <a:ln w="19050">
            <a:solidFill>
              <a:srgbClr val="D9700F"/>
            </a:solidFill>
            <a:prstDash val="solid"/>
          </a:ln>
        </p:spPr>
      </p:sp>
      <p:sp>
        <p:nvSpPr>
          <p:cNvPr id="15" name="Shape 11"/>
          <p:cNvSpPr/>
          <p:nvPr/>
        </p:nvSpPr>
        <p:spPr>
          <a:xfrm>
            <a:off x="5317236" y="2477262"/>
            <a:ext cx="411480" cy="914"/>
          </a:xfrm>
          <a:prstGeom prst="line">
            <a:avLst/>
          </a:prstGeom>
          <a:noFill/>
          <a:ln w="38100">
            <a:solidFill>
              <a:srgbClr val="FFFFFF"/>
            </a:solidFill>
            <a:prstDash val="solid"/>
            <a:tailEnd type="triangle"/>
          </a:ln>
        </p:spPr>
      </p:sp>
      <p:sp>
        <p:nvSpPr>
          <p:cNvPr id="16" name="Shape 12"/>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7" name="Text 13"/>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8" name="Text 14"/>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9" name="Shape 15"/>
          <p:cNvSpPr/>
          <p:nvPr/>
        </p:nvSpPr>
        <p:spPr>
          <a:xfrm>
            <a:off x="4539996" y="3292602"/>
            <a:ext cx="594360" cy="548640"/>
          </a:xfrm>
          <a:prstGeom prst="roundRect">
            <a:avLst>
              <a:gd name="adj" fmla="val 16667"/>
            </a:avLst>
          </a:prstGeom>
          <a:solidFill>
            <a:schemeClr val="accent2"/>
          </a:solidFill>
          <a:ln w="19050">
            <a:solidFill>
              <a:srgbClr val="2A6FB0"/>
            </a:solidFill>
            <a:prstDash val="solid"/>
          </a:ln>
        </p:spPr>
      </p:sp>
      <p:sp>
        <p:nvSpPr>
          <p:cNvPr id="20" name="Shape 16"/>
          <p:cNvSpPr/>
          <p:nvPr/>
        </p:nvSpPr>
        <p:spPr>
          <a:xfrm>
            <a:off x="4741164" y="3475482"/>
            <a:ext cx="182880" cy="182880"/>
          </a:xfrm>
          <a:prstGeom prst="ellipse">
            <a:avLst/>
          </a:prstGeom>
          <a:solidFill>
            <a:srgbClr val="FFFFFF"/>
          </a:solidFill>
          <a:ln w="12700">
            <a:solidFill>
              <a:srgbClr val="FFFFFF">
                <a:alpha val="0"/>
              </a:srgbClr>
            </a:solidFill>
            <a:prstDash val="solid"/>
          </a:ln>
        </p:spPr>
      </p:sp>
      <p:sp>
        <p:nvSpPr>
          <p:cNvPr id="21" name="Shape 17"/>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2" name="Shape 18"/>
          <p:cNvSpPr/>
          <p:nvPr/>
        </p:nvSpPr>
        <p:spPr>
          <a:xfrm>
            <a:off x="5317236" y="3566922"/>
            <a:ext cx="411480" cy="914"/>
          </a:xfrm>
          <a:prstGeom prst="line">
            <a:avLst/>
          </a:prstGeom>
          <a:noFill/>
          <a:ln w="38100">
            <a:solidFill>
              <a:srgbClr val="D9700F"/>
            </a:solidFill>
            <a:prstDash val="solid"/>
            <a:tailEnd type="triangle"/>
          </a:ln>
        </p:spPr>
      </p:sp>
      <p:sp>
        <p:nvSpPr>
          <p:cNvPr id="23" name="Shape 19"/>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4" name="Text 20"/>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5" name="Text 21"/>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6" name="Shape 22"/>
          <p:cNvSpPr/>
          <p:nvPr/>
        </p:nvSpPr>
        <p:spPr>
          <a:xfrm>
            <a:off x="4539996" y="4382262"/>
            <a:ext cx="594360" cy="548640"/>
          </a:xfrm>
          <a:prstGeom prst="roundRect">
            <a:avLst>
              <a:gd name="adj" fmla="val 16667"/>
            </a:avLst>
          </a:prstGeom>
          <a:solidFill>
            <a:schemeClr val="accent2"/>
          </a:solidFill>
          <a:ln w="19050">
            <a:solidFill>
              <a:srgbClr val="2A6FB0"/>
            </a:solidFill>
            <a:prstDash val="solid"/>
          </a:ln>
        </p:spPr>
      </p:sp>
      <p:sp>
        <p:nvSpPr>
          <p:cNvPr id="27" name="Shape 23"/>
          <p:cNvSpPr/>
          <p:nvPr/>
        </p:nvSpPr>
        <p:spPr>
          <a:xfrm>
            <a:off x="4741164" y="4565142"/>
            <a:ext cx="182880" cy="182880"/>
          </a:xfrm>
          <a:prstGeom prst="ellipse">
            <a:avLst/>
          </a:prstGeom>
          <a:solidFill>
            <a:srgbClr val="FFFFFF"/>
          </a:solidFill>
          <a:ln w="12700">
            <a:solidFill>
              <a:srgbClr val="FFFFFF">
                <a:alpha val="0"/>
              </a:srgbClr>
            </a:solidFill>
            <a:prstDash val="solid"/>
          </a:ln>
        </p:spPr>
      </p:sp>
      <p:sp>
        <p:nvSpPr>
          <p:cNvPr id="28" name="Shape 24"/>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9" name="Shape 25"/>
          <p:cNvSpPr/>
          <p:nvPr/>
        </p:nvSpPr>
        <p:spPr>
          <a:xfrm>
            <a:off x="5317236" y="4656582"/>
            <a:ext cx="411480" cy="914"/>
          </a:xfrm>
          <a:prstGeom prst="line">
            <a:avLst/>
          </a:prstGeom>
          <a:noFill/>
          <a:ln w="38100">
            <a:solidFill>
              <a:srgbClr val="D9700F"/>
            </a:solidFill>
            <a:prstDash val="solid"/>
            <a:tailEnd type="triangle"/>
          </a:ln>
        </p:spPr>
      </p:sp>
      <p:sp>
        <p:nvSpPr>
          <p:cNvPr id="30" name="Shape 26"/>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1" name="Text 27"/>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2" name="Text 28"/>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3" name="Shape 29"/>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4" name="Shape 30"/>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5" name="Shape 31"/>
          <p:cNvSpPr/>
          <p:nvPr/>
        </p:nvSpPr>
        <p:spPr>
          <a:xfrm>
            <a:off x="5225796" y="5471922"/>
            <a:ext cx="594360" cy="548640"/>
          </a:xfrm>
          <a:prstGeom prst="roundRect">
            <a:avLst>
              <a:gd name="adj" fmla="val 16667"/>
            </a:avLst>
          </a:prstGeom>
          <a:solidFill>
            <a:schemeClr val="accent1"/>
          </a:solidFill>
          <a:ln w="19050">
            <a:solidFill>
              <a:srgbClr val="D9700F"/>
            </a:solidFill>
            <a:prstDash val="solid"/>
          </a:ln>
        </p:spPr>
      </p:sp>
      <p:sp>
        <p:nvSpPr>
          <p:cNvPr id="36" name="Shape 32"/>
          <p:cNvSpPr/>
          <p:nvPr/>
        </p:nvSpPr>
        <p:spPr>
          <a:xfrm>
            <a:off x="5317236" y="5746242"/>
            <a:ext cx="411480" cy="914"/>
          </a:xfrm>
          <a:prstGeom prst="line">
            <a:avLst/>
          </a:prstGeom>
          <a:noFill/>
          <a:ln w="38100">
            <a:solidFill>
              <a:srgbClr val="FFFFFF"/>
            </a:solidFill>
            <a:prstDash val="solid"/>
            <a:tailEnd type="triangle"/>
          </a:ln>
        </p:spPr>
      </p:sp>
      <p:sp>
        <p:nvSpPr>
          <p:cNvPr id="37" name="Shape 33"/>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8" name="Text 34"/>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9" name="Text 35"/>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40" name="Shape 36"/>
          <p:cNvSpPr/>
          <p:nvPr/>
        </p:nvSpPr>
        <p:spPr>
          <a:xfrm>
            <a:off x="10222992" y="2202942"/>
            <a:ext cx="594360" cy="548640"/>
          </a:xfrm>
          <a:prstGeom prst="roundRect">
            <a:avLst>
              <a:gd name="adj" fmla="val 16667"/>
            </a:avLst>
          </a:prstGeom>
          <a:solidFill>
            <a:schemeClr val="accent2"/>
          </a:solidFill>
          <a:ln w="19050">
            <a:solidFill>
              <a:srgbClr val="2A6FB0"/>
            </a:solidFill>
            <a:prstDash val="solid"/>
          </a:ln>
        </p:spPr>
      </p:sp>
      <p:sp>
        <p:nvSpPr>
          <p:cNvPr id="41" name="Shape 37"/>
          <p:cNvSpPr/>
          <p:nvPr/>
        </p:nvSpPr>
        <p:spPr>
          <a:xfrm>
            <a:off x="10424160" y="2385822"/>
            <a:ext cx="182880" cy="182880"/>
          </a:xfrm>
          <a:prstGeom prst="ellipse">
            <a:avLst/>
          </a:prstGeom>
          <a:solidFill>
            <a:srgbClr val="FFFFFF"/>
          </a:solidFill>
          <a:ln w="12700">
            <a:solidFill>
              <a:srgbClr val="FFFFFF">
                <a:alpha val="0"/>
              </a:srgbClr>
            </a:solidFill>
            <a:prstDash val="solid"/>
          </a:ln>
        </p:spPr>
      </p:sp>
      <p:sp>
        <p:nvSpPr>
          <p:cNvPr id="42" name="Shape 38"/>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3" name="Shape 39"/>
          <p:cNvSpPr/>
          <p:nvPr/>
        </p:nvSpPr>
        <p:spPr>
          <a:xfrm>
            <a:off x="11000232" y="2477262"/>
            <a:ext cx="411480" cy="914"/>
          </a:xfrm>
          <a:prstGeom prst="line">
            <a:avLst/>
          </a:prstGeom>
          <a:noFill/>
          <a:ln w="38100">
            <a:solidFill>
              <a:srgbClr val="D9700F"/>
            </a:solidFill>
            <a:prstDash val="solid"/>
            <a:tailEnd type="triangle"/>
          </a:ln>
        </p:spPr>
      </p:sp>
      <p:sp>
        <p:nvSpPr>
          <p:cNvPr id="44" name="Shape 40"/>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5" name="Text 41"/>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6" name="Text 42"/>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7" name="Shape 43"/>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8" name="Shape 44"/>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9" name="Shape 45"/>
          <p:cNvSpPr/>
          <p:nvPr/>
        </p:nvSpPr>
        <p:spPr>
          <a:xfrm>
            <a:off x="10908792" y="3292602"/>
            <a:ext cx="594360" cy="548640"/>
          </a:xfrm>
          <a:prstGeom prst="roundRect">
            <a:avLst>
              <a:gd name="adj" fmla="val 16667"/>
            </a:avLst>
          </a:prstGeom>
          <a:solidFill>
            <a:schemeClr val="accent1"/>
          </a:solidFill>
          <a:ln w="19050">
            <a:solidFill>
              <a:srgbClr val="D9700F"/>
            </a:solidFill>
            <a:prstDash val="solid"/>
          </a:ln>
        </p:spPr>
      </p:sp>
      <p:sp>
        <p:nvSpPr>
          <p:cNvPr id="50" name="Shape 46"/>
          <p:cNvSpPr/>
          <p:nvPr/>
        </p:nvSpPr>
        <p:spPr>
          <a:xfrm>
            <a:off x="11000232" y="3566922"/>
            <a:ext cx="411480" cy="914"/>
          </a:xfrm>
          <a:prstGeom prst="line">
            <a:avLst/>
          </a:prstGeom>
          <a:noFill/>
          <a:ln w="38100">
            <a:solidFill>
              <a:srgbClr val="FFFFFF"/>
            </a:solidFill>
            <a:prstDash val="solid"/>
            <a:tailEnd type="triangle"/>
          </a:ln>
        </p:spPr>
      </p:sp>
      <p:sp>
        <p:nvSpPr>
          <p:cNvPr id="51" name="Shape 47"/>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2" name="Text 48"/>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3" name="Text 49"/>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4" name="Shape 50"/>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5" name="Shape 51"/>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6" name="Shape 52"/>
          <p:cNvSpPr/>
          <p:nvPr/>
        </p:nvSpPr>
        <p:spPr>
          <a:xfrm>
            <a:off x="10908792" y="4382262"/>
            <a:ext cx="594360" cy="548640"/>
          </a:xfrm>
          <a:prstGeom prst="roundRect">
            <a:avLst>
              <a:gd name="adj" fmla="val 16667"/>
            </a:avLst>
          </a:prstGeom>
          <a:solidFill>
            <a:schemeClr val="accent1"/>
          </a:solidFill>
          <a:ln w="19050">
            <a:solidFill>
              <a:srgbClr val="D9700F"/>
            </a:solidFill>
            <a:prstDash val="solid"/>
          </a:ln>
        </p:spPr>
      </p:sp>
      <p:sp>
        <p:nvSpPr>
          <p:cNvPr id="57" name="Shape 53"/>
          <p:cNvSpPr/>
          <p:nvPr/>
        </p:nvSpPr>
        <p:spPr>
          <a:xfrm>
            <a:off x="11000232" y="4656582"/>
            <a:ext cx="411480" cy="914"/>
          </a:xfrm>
          <a:prstGeom prst="line">
            <a:avLst/>
          </a:prstGeom>
          <a:noFill/>
          <a:ln w="38100">
            <a:solidFill>
              <a:srgbClr val="FFFFFF"/>
            </a:solidFill>
            <a:prstDash val="solid"/>
            <a:tailEnd type="triangle"/>
          </a:ln>
        </p:spPr>
      </p:sp>
      <p:sp>
        <p:nvSpPr>
          <p:cNvPr id="58" name="Shape 54"/>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9" name="Text 55"/>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0" name="Text 56"/>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1" name="Shape 57"/>
          <p:cNvSpPr/>
          <p:nvPr/>
        </p:nvSpPr>
        <p:spPr>
          <a:xfrm>
            <a:off x="10222992" y="5471922"/>
            <a:ext cx="594360" cy="548640"/>
          </a:xfrm>
          <a:prstGeom prst="roundRect">
            <a:avLst>
              <a:gd name="adj" fmla="val 16667"/>
            </a:avLst>
          </a:prstGeom>
          <a:solidFill>
            <a:schemeClr val="accent2"/>
          </a:solidFill>
          <a:ln w="19050">
            <a:solidFill>
              <a:srgbClr val="2A6FB0"/>
            </a:solidFill>
            <a:prstDash val="solid"/>
          </a:ln>
        </p:spPr>
      </p:sp>
      <p:sp>
        <p:nvSpPr>
          <p:cNvPr id="62" name="Shape 58"/>
          <p:cNvSpPr/>
          <p:nvPr/>
        </p:nvSpPr>
        <p:spPr>
          <a:xfrm>
            <a:off x="10424160" y="5654802"/>
            <a:ext cx="182880" cy="182880"/>
          </a:xfrm>
          <a:prstGeom prst="ellipse">
            <a:avLst/>
          </a:prstGeom>
          <a:solidFill>
            <a:srgbClr val="FFFFFF"/>
          </a:solidFill>
          <a:ln w="12700">
            <a:solidFill>
              <a:srgbClr val="FFFFFF">
                <a:alpha val="0"/>
              </a:srgbClr>
            </a:solidFill>
            <a:prstDash val="solid"/>
          </a:ln>
        </p:spPr>
      </p:sp>
      <p:sp>
        <p:nvSpPr>
          <p:cNvPr id="63" name="Shape 59"/>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4" name="Shape 60"/>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Shape 6"/>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1" name="Shape 7"/>
          <p:cNvSpPr/>
          <p:nvPr/>
        </p:nvSpPr>
        <p:spPr>
          <a:xfrm>
            <a:off x="1107491" y="2685669"/>
            <a:ext cx="166726" cy="125044"/>
          </a:xfrm>
          <a:prstGeom prst="rect">
            <a:avLst/>
          </a:prstGeom>
          <a:solidFill>
            <a:srgbClr val="D5DCE6"/>
          </a:solidFill>
          <a:ln w="9525">
            <a:solidFill>
              <a:srgbClr val="4A5A70"/>
            </a:solidFill>
            <a:prstDash val="solid"/>
          </a:ln>
        </p:spPr>
      </p:sp>
      <p:sp>
        <p:nvSpPr>
          <p:cNvPr id="12" name="Shape 8"/>
          <p:cNvSpPr/>
          <p:nvPr/>
        </p:nvSpPr>
        <p:spPr>
          <a:xfrm>
            <a:off x="1274216" y="2560625"/>
            <a:ext cx="166726" cy="250088"/>
          </a:xfrm>
          <a:prstGeom prst="rect">
            <a:avLst/>
          </a:prstGeom>
          <a:solidFill>
            <a:srgbClr val="D5DCE6"/>
          </a:solidFill>
          <a:ln w="9525">
            <a:solidFill>
              <a:srgbClr val="4A5A70"/>
            </a:solidFill>
            <a:prstDash val="solid"/>
          </a:ln>
        </p:spPr>
      </p:sp>
      <p:sp>
        <p:nvSpPr>
          <p:cNvPr id="13" name="Shape 9"/>
          <p:cNvSpPr/>
          <p:nvPr/>
        </p:nvSpPr>
        <p:spPr>
          <a:xfrm>
            <a:off x="1440942" y="2435581"/>
            <a:ext cx="166726" cy="375133"/>
          </a:xfrm>
          <a:prstGeom prst="rect">
            <a:avLst/>
          </a:prstGeom>
          <a:solidFill>
            <a:srgbClr val="D5DCE6"/>
          </a:solidFill>
          <a:ln w="9525">
            <a:solidFill>
              <a:srgbClr val="4A5A70"/>
            </a:solidFill>
            <a:prstDash val="solid"/>
          </a:ln>
        </p:spPr>
      </p:sp>
      <p:sp>
        <p:nvSpPr>
          <p:cNvPr id="14" name="Shape 10"/>
          <p:cNvSpPr/>
          <p:nvPr/>
        </p:nvSpPr>
        <p:spPr>
          <a:xfrm>
            <a:off x="1607668" y="2310536"/>
            <a:ext cx="166726" cy="500177"/>
          </a:xfrm>
          <a:prstGeom prst="rect">
            <a:avLst/>
          </a:prstGeom>
          <a:solidFill>
            <a:srgbClr val="D5DCE6"/>
          </a:solidFill>
          <a:ln w="9525">
            <a:solidFill>
              <a:srgbClr val="4A5A70"/>
            </a:solidFill>
            <a:prstDash val="solid"/>
          </a:ln>
        </p:spPr>
      </p:sp>
      <p:sp>
        <p:nvSpPr>
          <p:cNvPr id="15" name="Shape 11"/>
          <p:cNvSpPr/>
          <p:nvPr/>
        </p:nvSpPr>
        <p:spPr>
          <a:xfrm flipV="1">
            <a:off x="1090818" y="2127138"/>
            <a:ext cx="666902" cy="450159"/>
          </a:xfrm>
          <a:prstGeom prst="line">
            <a:avLst/>
          </a:prstGeom>
          <a:noFill/>
          <a:ln w="44450">
            <a:solidFill>
              <a:srgbClr val="D9700F"/>
            </a:solidFill>
            <a:prstDash val="solid"/>
            <a:tailEnd type="triangle"/>
          </a:ln>
        </p:spPr>
      </p:sp>
      <p:sp>
        <p:nvSpPr>
          <p:cNvPr id="16" name="Text 12"/>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i="1" dirty="0">
                <a:solidFill>
                  <a:schemeClr val="accent5"/>
                </a:solidFill>
              </a:rPr>
              <a:t>…………</a:t>
            </a:r>
            <a:r>
              <a:rPr lang="en-US" sz="1900" i="1" dirty="0">
                <a:solidFill>
                  <a:schemeClr val="tx1"/>
                </a:solidFill>
              </a:rPr>
              <a:t>.</a:t>
            </a:r>
            <a:endParaRPr lang="en-US" sz="1900" dirty="0"/>
          </a:p>
        </p:txBody>
      </p:sp>
      <p:sp>
        <p:nvSpPr>
          <p:cNvPr id="17" name="Shape 13"/>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8" name="Text 14"/>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9" name="Shape 15"/>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0" name="Shape 16"/>
          <p:cNvSpPr/>
          <p:nvPr/>
        </p:nvSpPr>
        <p:spPr>
          <a:xfrm>
            <a:off x="1399261" y="3316834"/>
            <a:ext cx="400141" cy="500177"/>
          </a:xfrm>
          <a:prstGeom prst="rect">
            <a:avLst/>
          </a:prstGeom>
          <a:solidFill>
            <a:srgbClr val="FFFFFF"/>
          </a:solidFill>
          <a:ln w="25400">
            <a:solidFill>
              <a:srgbClr val="17375E"/>
            </a:solidFill>
            <a:prstDash val="solid"/>
          </a:ln>
        </p:spPr>
      </p:sp>
      <p:sp>
        <p:nvSpPr>
          <p:cNvPr id="21" name="Shape 17"/>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2" name="Shape 18"/>
          <p:cNvSpPr/>
          <p:nvPr/>
        </p:nvSpPr>
        <p:spPr>
          <a:xfrm flipH="1">
            <a:off x="1065809" y="3566922"/>
            <a:ext cx="558531" cy="914"/>
          </a:xfrm>
          <a:prstGeom prst="line">
            <a:avLst/>
          </a:prstGeom>
          <a:noFill/>
          <a:ln w="44450">
            <a:solidFill>
              <a:srgbClr val="D9700F"/>
            </a:solidFill>
            <a:prstDash val="solid"/>
            <a:tailEnd type="triangle"/>
          </a:ln>
        </p:spPr>
      </p:sp>
      <p:sp>
        <p:nvSpPr>
          <p:cNvPr id="23" name="Text 19"/>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i="1" dirty="0">
                <a:solidFill>
                  <a:schemeClr val="accent5"/>
                </a:solidFill>
              </a:rPr>
              <a:t>…………</a:t>
            </a:r>
            <a:r>
              <a:rPr lang="en-US" sz="1900" i="1" dirty="0">
                <a:solidFill>
                  <a:schemeClr val="tx1"/>
                </a:solidFill>
              </a:rPr>
              <a:t>.</a:t>
            </a:r>
            <a:endParaRPr lang="en-US" sz="1900" dirty="0"/>
          </a:p>
        </p:txBody>
      </p:sp>
      <p:sp>
        <p:nvSpPr>
          <p:cNvPr id="24" name="Shape 20"/>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5" name="Text 21"/>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6" name="Shape 22"/>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7" name="Shape 23"/>
          <p:cNvSpPr/>
          <p:nvPr/>
        </p:nvSpPr>
        <p:spPr>
          <a:xfrm>
            <a:off x="1399261" y="4406494"/>
            <a:ext cx="400141" cy="500177"/>
          </a:xfrm>
          <a:prstGeom prst="rect">
            <a:avLst/>
          </a:prstGeom>
          <a:solidFill>
            <a:srgbClr val="FFFFFF"/>
          </a:solidFill>
          <a:ln w="25400">
            <a:solidFill>
              <a:srgbClr val="17375E"/>
            </a:solidFill>
            <a:prstDash val="solid"/>
          </a:ln>
        </p:spPr>
      </p:sp>
      <p:sp>
        <p:nvSpPr>
          <p:cNvPr id="28" name="Shape 24"/>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29" name="Shape 25"/>
          <p:cNvSpPr/>
          <p:nvPr/>
        </p:nvSpPr>
        <p:spPr>
          <a:xfrm>
            <a:off x="1065809" y="4656582"/>
            <a:ext cx="558531" cy="914"/>
          </a:xfrm>
          <a:prstGeom prst="line">
            <a:avLst/>
          </a:prstGeom>
          <a:noFill/>
          <a:ln w="44450">
            <a:solidFill>
              <a:srgbClr val="D9700F"/>
            </a:solidFill>
            <a:prstDash val="solid"/>
            <a:tailEnd type="triangle"/>
          </a:ln>
        </p:spPr>
      </p:sp>
      <p:sp>
        <p:nvSpPr>
          <p:cNvPr id="30" name="Text 26"/>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i="1" dirty="0">
                <a:solidFill>
                  <a:schemeClr val="accent5"/>
                </a:solidFill>
              </a:rPr>
              <a:t>…………</a:t>
            </a:r>
            <a:r>
              <a:rPr lang="en-US" sz="1900" i="1" dirty="0">
                <a:solidFill>
                  <a:schemeClr val="tx1"/>
                </a:solidFill>
              </a:rPr>
              <a:t>.</a:t>
            </a:r>
            <a:endParaRPr lang="en-US" sz="1900" dirty="0"/>
          </a:p>
        </p:txBody>
      </p:sp>
      <p:sp>
        <p:nvSpPr>
          <p:cNvPr id="31" name="Shape 27"/>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2" name="Text 28"/>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3" name="Shape 29"/>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4" name="Shape 30"/>
          <p:cNvSpPr/>
          <p:nvPr/>
        </p:nvSpPr>
        <p:spPr>
          <a:xfrm>
            <a:off x="1107491" y="5579516"/>
            <a:ext cx="166726" cy="500177"/>
          </a:xfrm>
          <a:prstGeom prst="rect">
            <a:avLst/>
          </a:prstGeom>
          <a:solidFill>
            <a:srgbClr val="D5DCE6"/>
          </a:solidFill>
          <a:ln w="9525">
            <a:solidFill>
              <a:srgbClr val="4A5A70"/>
            </a:solidFill>
            <a:prstDash val="solid"/>
          </a:ln>
        </p:spPr>
      </p:sp>
      <p:sp>
        <p:nvSpPr>
          <p:cNvPr id="35" name="Shape 31"/>
          <p:cNvSpPr/>
          <p:nvPr/>
        </p:nvSpPr>
        <p:spPr>
          <a:xfrm>
            <a:off x="1274216" y="5704561"/>
            <a:ext cx="166726" cy="375133"/>
          </a:xfrm>
          <a:prstGeom prst="rect">
            <a:avLst/>
          </a:prstGeom>
          <a:solidFill>
            <a:srgbClr val="D5DCE6"/>
          </a:solidFill>
          <a:ln w="9525">
            <a:solidFill>
              <a:srgbClr val="4A5A70"/>
            </a:solidFill>
            <a:prstDash val="solid"/>
          </a:ln>
        </p:spPr>
      </p:sp>
      <p:sp>
        <p:nvSpPr>
          <p:cNvPr id="36" name="Shape 32"/>
          <p:cNvSpPr/>
          <p:nvPr/>
        </p:nvSpPr>
        <p:spPr>
          <a:xfrm>
            <a:off x="1440942" y="5829605"/>
            <a:ext cx="166726" cy="250088"/>
          </a:xfrm>
          <a:prstGeom prst="rect">
            <a:avLst/>
          </a:prstGeom>
          <a:solidFill>
            <a:srgbClr val="D5DCE6"/>
          </a:solidFill>
          <a:ln w="9525">
            <a:solidFill>
              <a:srgbClr val="4A5A70"/>
            </a:solidFill>
            <a:prstDash val="solid"/>
          </a:ln>
        </p:spPr>
      </p:sp>
      <p:sp>
        <p:nvSpPr>
          <p:cNvPr id="37" name="Shape 33"/>
          <p:cNvSpPr/>
          <p:nvPr/>
        </p:nvSpPr>
        <p:spPr>
          <a:xfrm>
            <a:off x="1607668" y="5954649"/>
            <a:ext cx="166726" cy="125044"/>
          </a:xfrm>
          <a:prstGeom prst="rect">
            <a:avLst/>
          </a:prstGeom>
          <a:solidFill>
            <a:srgbClr val="D5DCE6"/>
          </a:solidFill>
          <a:ln w="9525">
            <a:solidFill>
              <a:srgbClr val="4A5A70"/>
            </a:solidFill>
            <a:prstDash val="solid"/>
          </a:ln>
        </p:spPr>
      </p:sp>
      <p:sp>
        <p:nvSpPr>
          <p:cNvPr id="38" name="Shape 34"/>
          <p:cNvSpPr/>
          <p:nvPr/>
        </p:nvSpPr>
        <p:spPr>
          <a:xfrm>
            <a:off x="1124163" y="5396118"/>
            <a:ext cx="666902" cy="450159"/>
          </a:xfrm>
          <a:prstGeom prst="line">
            <a:avLst/>
          </a:prstGeom>
          <a:noFill/>
          <a:ln w="44450">
            <a:solidFill>
              <a:srgbClr val="D9700F"/>
            </a:solidFill>
            <a:prstDash val="solid"/>
            <a:tailEnd type="triangle"/>
          </a:ln>
        </p:spPr>
      </p:sp>
      <p:sp>
        <p:nvSpPr>
          <p:cNvPr id="39" name="Text 35"/>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i="1" dirty="0">
                <a:solidFill>
                  <a:schemeClr val="accent5"/>
                </a:solidFill>
              </a:rPr>
              <a:t>…………</a:t>
            </a:r>
            <a:r>
              <a:rPr lang="en-US" sz="1900" i="1" dirty="0">
                <a:solidFill>
                  <a:schemeClr val="tx1"/>
                </a:solidFill>
              </a:rPr>
              <a:t>.</a:t>
            </a:r>
            <a:endParaRPr lang="en-US" sz="1900" dirty="0"/>
          </a:p>
        </p:txBody>
      </p:sp>
      <p:sp>
        <p:nvSpPr>
          <p:cNvPr id="40" name="Shape 36"/>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1" name="Text 37"/>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2" name="Shape 38"/>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3" name="Shape 39"/>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4" name="Shape 40"/>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5" name="Shape 41"/>
          <p:cNvSpPr/>
          <p:nvPr/>
        </p:nvSpPr>
        <p:spPr>
          <a:xfrm>
            <a:off x="6807159" y="2477262"/>
            <a:ext cx="633557" cy="914"/>
          </a:xfrm>
          <a:prstGeom prst="line">
            <a:avLst/>
          </a:prstGeom>
          <a:noFill/>
          <a:ln w="44450">
            <a:solidFill>
              <a:srgbClr val="D9700F"/>
            </a:solidFill>
            <a:prstDash val="solid"/>
            <a:tailEnd type="triangle"/>
          </a:ln>
        </p:spPr>
      </p:sp>
      <p:sp>
        <p:nvSpPr>
          <p:cNvPr id="46" name="Text 42"/>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i="1" dirty="0">
                <a:solidFill>
                  <a:schemeClr val="accent5"/>
                </a:solidFill>
              </a:rPr>
              <a:t>…………</a:t>
            </a:r>
            <a:r>
              <a:rPr lang="en-US" sz="1900" i="1" dirty="0">
                <a:solidFill>
                  <a:schemeClr val="tx1"/>
                </a:solidFill>
              </a:rPr>
              <a:t>.</a:t>
            </a:r>
            <a:endParaRPr lang="en-US" sz="1900" dirty="0"/>
          </a:p>
        </p:txBody>
      </p:sp>
      <p:sp>
        <p:nvSpPr>
          <p:cNvPr id="47" name="Shape 43"/>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8" name="Text 44"/>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9" name="Shape 45"/>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0" name="Shape 46"/>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1" name="Shape 47"/>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2" name="Shape 48"/>
          <p:cNvSpPr/>
          <p:nvPr/>
        </p:nvSpPr>
        <p:spPr>
          <a:xfrm>
            <a:off x="6740469" y="3566922"/>
            <a:ext cx="766938" cy="914"/>
          </a:xfrm>
          <a:prstGeom prst="line">
            <a:avLst/>
          </a:prstGeom>
          <a:noFill/>
          <a:ln w="44450">
            <a:solidFill>
              <a:srgbClr val="D9700F"/>
            </a:solidFill>
            <a:prstDash val="solid"/>
            <a:tailEnd type="triangle"/>
          </a:ln>
        </p:spPr>
      </p:sp>
      <p:sp>
        <p:nvSpPr>
          <p:cNvPr id="53" name="Text 49"/>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i="1" dirty="0">
                <a:solidFill>
                  <a:schemeClr val="accent5"/>
                </a:solidFill>
              </a:rPr>
              <a:t>…………</a:t>
            </a:r>
            <a:r>
              <a:rPr lang="en-US" sz="1900" i="1" dirty="0">
                <a:solidFill>
                  <a:schemeClr val="tx1"/>
                </a:solidFill>
              </a:rPr>
              <a:t>.</a:t>
            </a:r>
            <a:endParaRPr lang="en-US" sz="1900" dirty="0"/>
          </a:p>
        </p:txBody>
      </p:sp>
      <p:sp>
        <p:nvSpPr>
          <p:cNvPr id="54" name="Shape 50"/>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5" name="Text 51"/>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6" name="Shape 52"/>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7" name="Shape 53"/>
          <p:cNvSpPr/>
          <p:nvPr/>
        </p:nvSpPr>
        <p:spPr>
          <a:xfrm>
            <a:off x="6773814" y="4614901"/>
            <a:ext cx="375133" cy="391805"/>
          </a:xfrm>
          <a:prstGeom prst="rect">
            <a:avLst/>
          </a:prstGeom>
          <a:solidFill>
            <a:srgbClr val="D5DCE6"/>
          </a:solidFill>
          <a:ln w="12700">
            <a:solidFill>
              <a:srgbClr val="4A5A70"/>
            </a:solidFill>
            <a:prstDash val="solid"/>
          </a:ln>
        </p:spPr>
      </p:sp>
      <p:sp>
        <p:nvSpPr>
          <p:cNvPr id="58" name="Shape 54"/>
          <p:cNvSpPr/>
          <p:nvPr/>
        </p:nvSpPr>
        <p:spPr>
          <a:xfrm>
            <a:off x="6757142" y="4489856"/>
            <a:ext cx="550194" cy="914"/>
          </a:xfrm>
          <a:prstGeom prst="line">
            <a:avLst/>
          </a:prstGeom>
          <a:noFill/>
          <a:ln w="44450">
            <a:solidFill>
              <a:srgbClr val="D9700F"/>
            </a:solidFill>
            <a:prstDash val="solid"/>
          </a:ln>
        </p:spPr>
      </p:sp>
      <p:sp>
        <p:nvSpPr>
          <p:cNvPr id="59" name="Shape 55"/>
          <p:cNvSpPr/>
          <p:nvPr/>
        </p:nvSpPr>
        <p:spPr>
          <a:xfrm>
            <a:off x="7307336" y="4481520"/>
            <a:ext cx="914" cy="541858"/>
          </a:xfrm>
          <a:prstGeom prst="line">
            <a:avLst/>
          </a:prstGeom>
          <a:noFill/>
          <a:ln w="44450">
            <a:solidFill>
              <a:srgbClr val="D9700F"/>
            </a:solidFill>
            <a:prstDash val="solid"/>
            <a:tailEnd type="triangle"/>
          </a:ln>
        </p:spPr>
      </p:sp>
      <p:sp>
        <p:nvSpPr>
          <p:cNvPr id="60" name="Text 56"/>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i="1" dirty="0">
                <a:solidFill>
                  <a:schemeClr val="accent5"/>
                </a:solidFill>
              </a:rPr>
              <a:t>…………</a:t>
            </a:r>
            <a:r>
              <a:rPr lang="en-US" sz="1900" i="1" dirty="0">
                <a:solidFill>
                  <a:schemeClr val="tx1"/>
                </a:solidFill>
              </a:rPr>
              <a:t>.</a:t>
            </a:r>
            <a:endParaRPr lang="en-US" sz="1900" dirty="0"/>
          </a:p>
        </p:txBody>
      </p:sp>
      <p:sp>
        <p:nvSpPr>
          <p:cNvPr id="61" name="Shape 57"/>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2" name="Text 58"/>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3" name="Shape 59"/>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4"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5" name="Shape 60"/>
          <p:cNvSpPr/>
          <p:nvPr/>
        </p:nvSpPr>
        <p:spPr>
          <a:xfrm>
            <a:off x="6748805" y="5879622"/>
            <a:ext cx="375133" cy="914"/>
          </a:xfrm>
          <a:prstGeom prst="line">
            <a:avLst/>
          </a:prstGeom>
          <a:noFill/>
          <a:ln w="44450">
            <a:solidFill>
              <a:srgbClr val="D9700F"/>
            </a:solidFill>
            <a:prstDash val="solid"/>
          </a:ln>
        </p:spPr>
      </p:sp>
      <p:sp>
        <p:nvSpPr>
          <p:cNvPr id="66" name="Shape 61"/>
          <p:cNvSpPr/>
          <p:nvPr/>
        </p:nvSpPr>
        <p:spPr>
          <a:xfrm>
            <a:off x="7123938" y="5879622"/>
            <a:ext cx="391805" cy="914"/>
          </a:xfrm>
          <a:prstGeom prst="line">
            <a:avLst/>
          </a:prstGeom>
          <a:noFill/>
          <a:ln w="44450">
            <a:solidFill>
              <a:srgbClr val="D9700F"/>
            </a:solidFill>
            <a:prstDash val="solid"/>
            <a:tailEnd type="triangle"/>
          </a:ln>
        </p:spPr>
      </p:sp>
      <p:sp>
        <p:nvSpPr>
          <p:cNvPr id="67" name="Shape 62"/>
          <p:cNvSpPr/>
          <p:nvPr/>
        </p:nvSpPr>
        <p:spPr>
          <a:xfrm>
            <a:off x="7290664" y="5746242"/>
            <a:ext cx="914" cy="266761"/>
          </a:xfrm>
          <a:prstGeom prst="line">
            <a:avLst/>
          </a:prstGeom>
          <a:noFill/>
          <a:ln w="12700">
            <a:solidFill>
              <a:srgbClr val="4A5A70"/>
            </a:solidFill>
            <a:prstDash val="dash"/>
          </a:ln>
        </p:spPr>
      </p:sp>
      <p:sp>
        <p:nvSpPr>
          <p:cNvPr id="68" name="Text 63"/>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i="1" dirty="0">
                <a:solidFill>
                  <a:schemeClr val="accent5"/>
                </a:solidFill>
              </a:rPr>
              <a:t>…………</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Shape 7"/>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2" name="Shape 8"/>
          <p:cNvSpPr/>
          <p:nvPr/>
        </p:nvSpPr>
        <p:spPr>
          <a:xfrm>
            <a:off x="1107491" y="2685669"/>
            <a:ext cx="166726" cy="125044"/>
          </a:xfrm>
          <a:prstGeom prst="rect">
            <a:avLst/>
          </a:prstGeom>
          <a:solidFill>
            <a:srgbClr val="D5DCE6"/>
          </a:solidFill>
          <a:ln w="9525">
            <a:solidFill>
              <a:srgbClr val="4A5A70"/>
            </a:solidFill>
            <a:prstDash val="solid"/>
          </a:ln>
        </p:spPr>
      </p:sp>
      <p:sp>
        <p:nvSpPr>
          <p:cNvPr id="13" name="Shape 9"/>
          <p:cNvSpPr/>
          <p:nvPr/>
        </p:nvSpPr>
        <p:spPr>
          <a:xfrm>
            <a:off x="1274216" y="2560625"/>
            <a:ext cx="166726" cy="250088"/>
          </a:xfrm>
          <a:prstGeom prst="rect">
            <a:avLst/>
          </a:prstGeom>
          <a:solidFill>
            <a:srgbClr val="D5DCE6"/>
          </a:solidFill>
          <a:ln w="9525">
            <a:solidFill>
              <a:srgbClr val="4A5A70"/>
            </a:solidFill>
            <a:prstDash val="solid"/>
          </a:ln>
        </p:spPr>
      </p:sp>
      <p:sp>
        <p:nvSpPr>
          <p:cNvPr id="14" name="Shape 10"/>
          <p:cNvSpPr/>
          <p:nvPr/>
        </p:nvSpPr>
        <p:spPr>
          <a:xfrm>
            <a:off x="1440942" y="2435581"/>
            <a:ext cx="166726" cy="375133"/>
          </a:xfrm>
          <a:prstGeom prst="rect">
            <a:avLst/>
          </a:prstGeom>
          <a:solidFill>
            <a:srgbClr val="D5DCE6"/>
          </a:solidFill>
          <a:ln w="9525">
            <a:solidFill>
              <a:srgbClr val="4A5A70"/>
            </a:solidFill>
            <a:prstDash val="solid"/>
          </a:ln>
        </p:spPr>
      </p:sp>
      <p:sp>
        <p:nvSpPr>
          <p:cNvPr id="15" name="Shape 11"/>
          <p:cNvSpPr/>
          <p:nvPr/>
        </p:nvSpPr>
        <p:spPr>
          <a:xfrm>
            <a:off x="1607668" y="2310536"/>
            <a:ext cx="166726" cy="500177"/>
          </a:xfrm>
          <a:prstGeom prst="rect">
            <a:avLst/>
          </a:prstGeom>
          <a:solidFill>
            <a:srgbClr val="D5DCE6"/>
          </a:solidFill>
          <a:ln w="9525">
            <a:solidFill>
              <a:srgbClr val="4A5A70"/>
            </a:solidFill>
            <a:prstDash val="solid"/>
          </a:ln>
        </p:spPr>
      </p:sp>
      <p:sp>
        <p:nvSpPr>
          <p:cNvPr id="16" name="Shape 12"/>
          <p:cNvSpPr/>
          <p:nvPr/>
        </p:nvSpPr>
        <p:spPr>
          <a:xfrm flipV="1">
            <a:off x="1090818" y="2127138"/>
            <a:ext cx="666902" cy="450159"/>
          </a:xfrm>
          <a:prstGeom prst="line">
            <a:avLst/>
          </a:prstGeom>
          <a:noFill/>
          <a:ln w="44450">
            <a:solidFill>
              <a:srgbClr val="D9700F"/>
            </a:solidFill>
            <a:prstDash val="solid"/>
            <a:tailEnd type="triangle"/>
          </a:ln>
        </p:spPr>
      </p:sp>
      <p:sp>
        <p:nvSpPr>
          <p:cNvPr id="17" name="Text 13"/>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b="1" i="1" dirty="0">
                <a:solidFill>
                  <a:schemeClr val="accent3"/>
                </a:solidFill>
              </a:rPr>
              <a:t>op</a:t>
            </a:r>
            <a:r>
              <a:rPr lang="en-US" sz="1900" i="1" dirty="0">
                <a:solidFill>
                  <a:schemeClr val="tx1"/>
                </a:solidFill>
              </a:rPr>
              <a:t>.</a:t>
            </a:r>
            <a:endParaRPr lang="en-US" sz="1900" dirty="0"/>
          </a:p>
        </p:txBody>
      </p:sp>
      <p:sp>
        <p:nvSpPr>
          <p:cNvPr id="18" name="Shape 14"/>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9" name="Text 15"/>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20" name="Shape 16"/>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1" name="Shape 17"/>
          <p:cNvSpPr/>
          <p:nvPr/>
        </p:nvSpPr>
        <p:spPr>
          <a:xfrm>
            <a:off x="1399261" y="3316834"/>
            <a:ext cx="400141" cy="500177"/>
          </a:xfrm>
          <a:prstGeom prst="rect">
            <a:avLst/>
          </a:prstGeom>
          <a:solidFill>
            <a:srgbClr val="FFFFFF"/>
          </a:solidFill>
          <a:ln w="25400">
            <a:solidFill>
              <a:srgbClr val="17375E"/>
            </a:solidFill>
            <a:prstDash val="solid"/>
          </a:ln>
        </p:spPr>
      </p:sp>
      <p:sp>
        <p:nvSpPr>
          <p:cNvPr id="22" name="Shape 18"/>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3" name="Shape 19"/>
          <p:cNvSpPr/>
          <p:nvPr/>
        </p:nvSpPr>
        <p:spPr>
          <a:xfrm flipH="1">
            <a:off x="1065809" y="3566922"/>
            <a:ext cx="558531" cy="914"/>
          </a:xfrm>
          <a:prstGeom prst="line">
            <a:avLst/>
          </a:prstGeom>
          <a:noFill/>
          <a:ln w="44450">
            <a:solidFill>
              <a:srgbClr val="D9700F"/>
            </a:solidFill>
            <a:prstDash val="solid"/>
            <a:tailEnd type="triangle"/>
          </a:ln>
        </p:spPr>
      </p:sp>
      <p:sp>
        <p:nvSpPr>
          <p:cNvPr id="24" name="Text 20"/>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b="1" i="1" dirty="0">
                <a:solidFill>
                  <a:schemeClr val="accent3"/>
                </a:solidFill>
              </a:rPr>
              <a:t>uit</a:t>
            </a:r>
            <a:r>
              <a:rPr lang="en-US" sz="1900" i="1" dirty="0">
                <a:solidFill>
                  <a:schemeClr val="tx1"/>
                </a:solidFill>
              </a:rPr>
              <a:t>.</a:t>
            </a:r>
            <a:endParaRPr lang="en-US" sz="1900" dirty="0"/>
          </a:p>
        </p:txBody>
      </p:sp>
      <p:sp>
        <p:nvSpPr>
          <p:cNvPr id="25" name="Shape 21"/>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6" name="Text 22"/>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7" name="Shape 23"/>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8" name="Shape 24"/>
          <p:cNvSpPr/>
          <p:nvPr/>
        </p:nvSpPr>
        <p:spPr>
          <a:xfrm>
            <a:off x="1399261" y="4406494"/>
            <a:ext cx="400141" cy="500177"/>
          </a:xfrm>
          <a:prstGeom prst="rect">
            <a:avLst/>
          </a:prstGeom>
          <a:solidFill>
            <a:srgbClr val="FFFFFF"/>
          </a:solidFill>
          <a:ln w="25400">
            <a:solidFill>
              <a:srgbClr val="17375E"/>
            </a:solidFill>
            <a:prstDash val="solid"/>
          </a:ln>
        </p:spPr>
      </p:sp>
      <p:sp>
        <p:nvSpPr>
          <p:cNvPr id="29" name="Shape 25"/>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30" name="Shape 26"/>
          <p:cNvSpPr/>
          <p:nvPr/>
        </p:nvSpPr>
        <p:spPr>
          <a:xfrm>
            <a:off x="1065809" y="4656582"/>
            <a:ext cx="558531" cy="914"/>
          </a:xfrm>
          <a:prstGeom prst="line">
            <a:avLst/>
          </a:prstGeom>
          <a:noFill/>
          <a:ln w="44450">
            <a:solidFill>
              <a:srgbClr val="D9700F"/>
            </a:solidFill>
            <a:prstDash val="solid"/>
            <a:tailEnd type="triangle"/>
          </a:ln>
        </p:spPr>
      </p:sp>
      <p:sp>
        <p:nvSpPr>
          <p:cNvPr id="31" name="Text 27"/>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b="1" i="1" dirty="0">
                <a:solidFill>
                  <a:schemeClr val="accent3"/>
                </a:solidFill>
              </a:rPr>
              <a:t>in</a:t>
            </a:r>
            <a:r>
              <a:rPr lang="en-US" sz="1900" i="1" dirty="0">
                <a:solidFill>
                  <a:schemeClr val="tx1"/>
                </a:solidFill>
              </a:rPr>
              <a:t>.</a:t>
            </a:r>
            <a:endParaRPr lang="en-US" sz="1900" dirty="0"/>
          </a:p>
        </p:txBody>
      </p:sp>
      <p:sp>
        <p:nvSpPr>
          <p:cNvPr id="32" name="Shape 28"/>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3" name="Text 29"/>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4" name="Shape 30"/>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5" name="Shape 31"/>
          <p:cNvSpPr/>
          <p:nvPr/>
        </p:nvSpPr>
        <p:spPr>
          <a:xfrm>
            <a:off x="1107491" y="5579516"/>
            <a:ext cx="166726" cy="500177"/>
          </a:xfrm>
          <a:prstGeom prst="rect">
            <a:avLst/>
          </a:prstGeom>
          <a:solidFill>
            <a:srgbClr val="D5DCE6"/>
          </a:solidFill>
          <a:ln w="9525">
            <a:solidFill>
              <a:srgbClr val="4A5A70"/>
            </a:solidFill>
            <a:prstDash val="solid"/>
          </a:ln>
        </p:spPr>
      </p:sp>
      <p:sp>
        <p:nvSpPr>
          <p:cNvPr id="36" name="Shape 32"/>
          <p:cNvSpPr/>
          <p:nvPr/>
        </p:nvSpPr>
        <p:spPr>
          <a:xfrm>
            <a:off x="1274216" y="5704561"/>
            <a:ext cx="166726" cy="375133"/>
          </a:xfrm>
          <a:prstGeom prst="rect">
            <a:avLst/>
          </a:prstGeom>
          <a:solidFill>
            <a:srgbClr val="D5DCE6"/>
          </a:solidFill>
          <a:ln w="9525">
            <a:solidFill>
              <a:srgbClr val="4A5A70"/>
            </a:solidFill>
            <a:prstDash val="solid"/>
          </a:ln>
        </p:spPr>
      </p:sp>
      <p:sp>
        <p:nvSpPr>
          <p:cNvPr id="37" name="Shape 33"/>
          <p:cNvSpPr/>
          <p:nvPr/>
        </p:nvSpPr>
        <p:spPr>
          <a:xfrm>
            <a:off x="1440942" y="5829605"/>
            <a:ext cx="166726" cy="250088"/>
          </a:xfrm>
          <a:prstGeom prst="rect">
            <a:avLst/>
          </a:prstGeom>
          <a:solidFill>
            <a:srgbClr val="D5DCE6"/>
          </a:solidFill>
          <a:ln w="9525">
            <a:solidFill>
              <a:srgbClr val="4A5A70"/>
            </a:solidFill>
            <a:prstDash val="solid"/>
          </a:ln>
        </p:spPr>
      </p:sp>
      <p:sp>
        <p:nvSpPr>
          <p:cNvPr id="38" name="Shape 34"/>
          <p:cNvSpPr/>
          <p:nvPr/>
        </p:nvSpPr>
        <p:spPr>
          <a:xfrm>
            <a:off x="1607668" y="5954649"/>
            <a:ext cx="166726" cy="125044"/>
          </a:xfrm>
          <a:prstGeom prst="rect">
            <a:avLst/>
          </a:prstGeom>
          <a:solidFill>
            <a:srgbClr val="D5DCE6"/>
          </a:solidFill>
          <a:ln w="9525">
            <a:solidFill>
              <a:srgbClr val="4A5A70"/>
            </a:solidFill>
            <a:prstDash val="solid"/>
          </a:ln>
        </p:spPr>
      </p:sp>
      <p:sp>
        <p:nvSpPr>
          <p:cNvPr id="39" name="Shape 35"/>
          <p:cNvSpPr/>
          <p:nvPr/>
        </p:nvSpPr>
        <p:spPr>
          <a:xfrm>
            <a:off x="1124163" y="5396118"/>
            <a:ext cx="666902" cy="450159"/>
          </a:xfrm>
          <a:prstGeom prst="line">
            <a:avLst/>
          </a:prstGeom>
          <a:noFill/>
          <a:ln w="44450">
            <a:solidFill>
              <a:srgbClr val="D9700F"/>
            </a:solidFill>
            <a:prstDash val="solid"/>
            <a:tailEnd type="triangle"/>
          </a:ln>
        </p:spPr>
      </p:sp>
      <p:sp>
        <p:nvSpPr>
          <p:cNvPr id="40" name="Text 36"/>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b="1" i="1" dirty="0">
                <a:solidFill>
                  <a:schemeClr val="accent3"/>
                </a:solidFill>
              </a:rPr>
              <a:t>af</a:t>
            </a:r>
            <a:r>
              <a:rPr lang="en-US" sz="1900" i="1" dirty="0">
                <a:solidFill>
                  <a:schemeClr val="tx1"/>
                </a:solidFill>
              </a:rPr>
              <a:t>.</a:t>
            </a:r>
            <a:endParaRPr lang="en-US" sz="1900" dirty="0"/>
          </a:p>
        </p:txBody>
      </p:sp>
      <p:sp>
        <p:nvSpPr>
          <p:cNvPr id="41" name="Shape 37"/>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2" name="Text 38"/>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3" name="Shape 39"/>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4" name="Shape 40"/>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5" name="Shape 41"/>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6" name="Shape 42"/>
          <p:cNvSpPr/>
          <p:nvPr/>
        </p:nvSpPr>
        <p:spPr>
          <a:xfrm>
            <a:off x="6807159" y="2477262"/>
            <a:ext cx="633557" cy="914"/>
          </a:xfrm>
          <a:prstGeom prst="line">
            <a:avLst/>
          </a:prstGeom>
          <a:noFill/>
          <a:ln w="44450">
            <a:solidFill>
              <a:srgbClr val="D9700F"/>
            </a:solidFill>
            <a:prstDash val="solid"/>
            <a:tailEnd type="triangle"/>
          </a:ln>
        </p:spPr>
      </p:sp>
      <p:sp>
        <p:nvSpPr>
          <p:cNvPr id="47" name="Text 43"/>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b="1" i="1" dirty="0">
                <a:solidFill>
                  <a:schemeClr val="accent3"/>
                </a:solidFill>
              </a:rPr>
              <a:t>over</a:t>
            </a:r>
            <a:r>
              <a:rPr lang="en-US" sz="1900" i="1" dirty="0">
                <a:solidFill>
                  <a:schemeClr val="tx1"/>
                </a:solidFill>
              </a:rPr>
              <a:t>.</a:t>
            </a:r>
            <a:endParaRPr lang="en-US" sz="1900" dirty="0"/>
          </a:p>
        </p:txBody>
      </p:sp>
      <p:sp>
        <p:nvSpPr>
          <p:cNvPr id="48" name="Shape 44"/>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9" name="Text 45"/>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50" name="Shape 46"/>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1" name="Shape 47"/>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2" name="Shape 48"/>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3" name="Shape 49"/>
          <p:cNvSpPr/>
          <p:nvPr/>
        </p:nvSpPr>
        <p:spPr>
          <a:xfrm>
            <a:off x="6740469" y="3566922"/>
            <a:ext cx="766938" cy="914"/>
          </a:xfrm>
          <a:prstGeom prst="line">
            <a:avLst/>
          </a:prstGeom>
          <a:noFill/>
          <a:ln w="44450">
            <a:solidFill>
              <a:srgbClr val="D9700F"/>
            </a:solidFill>
            <a:prstDash val="solid"/>
            <a:tailEnd type="triangle"/>
          </a:ln>
        </p:spPr>
      </p:sp>
      <p:sp>
        <p:nvSpPr>
          <p:cNvPr id="54" name="Text 50"/>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b="1" i="1" dirty="0">
                <a:solidFill>
                  <a:schemeClr val="accent3"/>
                </a:solidFill>
              </a:rPr>
              <a:t>door</a:t>
            </a:r>
            <a:r>
              <a:rPr lang="en-US" sz="1900" i="1" dirty="0">
                <a:solidFill>
                  <a:schemeClr val="tx1"/>
                </a:solidFill>
              </a:rPr>
              <a:t>.</a:t>
            </a:r>
            <a:endParaRPr lang="en-US" sz="1900" dirty="0"/>
          </a:p>
        </p:txBody>
      </p:sp>
      <p:sp>
        <p:nvSpPr>
          <p:cNvPr id="55" name="Shape 51"/>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6" name="Text 52"/>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7" name="Shape 53"/>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8" name="Shape 54"/>
          <p:cNvSpPr/>
          <p:nvPr/>
        </p:nvSpPr>
        <p:spPr>
          <a:xfrm>
            <a:off x="6773814" y="4614901"/>
            <a:ext cx="375133" cy="391805"/>
          </a:xfrm>
          <a:prstGeom prst="rect">
            <a:avLst/>
          </a:prstGeom>
          <a:solidFill>
            <a:srgbClr val="D5DCE6"/>
          </a:solidFill>
          <a:ln w="12700">
            <a:solidFill>
              <a:srgbClr val="4A5A70"/>
            </a:solidFill>
            <a:prstDash val="solid"/>
          </a:ln>
        </p:spPr>
      </p:sp>
      <p:sp>
        <p:nvSpPr>
          <p:cNvPr id="59" name="Shape 55"/>
          <p:cNvSpPr/>
          <p:nvPr/>
        </p:nvSpPr>
        <p:spPr>
          <a:xfrm>
            <a:off x="6757142" y="4489856"/>
            <a:ext cx="550194" cy="914"/>
          </a:xfrm>
          <a:prstGeom prst="line">
            <a:avLst/>
          </a:prstGeom>
          <a:noFill/>
          <a:ln w="44450">
            <a:solidFill>
              <a:srgbClr val="D9700F"/>
            </a:solidFill>
            <a:prstDash val="solid"/>
          </a:ln>
        </p:spPr>
      </p:sp>
      <p:sp>
        <p:nvSpPr>
          <p:cNvPr id="60" name="Shape 56"/>
          <p:cNvSpPr/>
          <p:nvPr/>
        </p:nvSpPr>
        <p:spPr>
          <a:xfrm>
            <a:off x="7307336" y="4481520"/>
            <a:ext cx="914" cy="541858"/>
          </a:xfrm>
          <a:prstGeom prst="line">
            <a:avLst/>
          </a:prstGeom>
          <a:noFill/>
          <a:ln w="44450">
            <a:solidFill>
              <a:srgbClr val="D9700F"/>
            </a:solidFill>
            <a:prstDash val="solid"/>
            <a:tailEnd type="triangle"/>
          </a:ln>
        </p:spPr>
      </p:sp>
      <p:sp>
        <p:nvSpPr>
          <p:cNvPr id="61" name="Text 57"/>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b="1" i="1" dirty="0">
                <a:solidFill>
                  <a:schemeClr val="accent3"/>
                </a:solidFill>
              </a:rPr>
              <a:t>om</a:t>
            </a:r>
            <a:r>
              <a:rPr lang="en-US" sz="1900" i="1" dirty="0">
                <a:solidFill>
                  <a:schemeClr val="tx1"/>
                </a:solidFill>
              </a:rPr>
              <a:t>.</a:t>
            </a:r>
            <a:endParaRPr lang="en-US" sz="1900" dirty="0"/>
          </a:p>
        </p:txBody>
      </p:sp>
      <p:sp>
        <p:nvSpPr>
          <p:cNvPr id="62" name="Shape 58"/>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3" name="Text 59"/>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4" name="Shape 60"/>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5"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6" name="Shape 61"/>
          <p:cNvSpPr/>
          <p:nvPr/>
        </p:nvSpPr>
        <p:spPr>
          <a:xfrm>
            <a:off x="6748805" y="5879622"/>
            <a:ext cx="375133" cy="914"/>
          </a:xfrm>
          <a:prstGeom prst="line">
            <a:avLst/>
          </a:prstGeom>
          <a:noFill/>
          <a:ln w="44450">
            <a:solidFill>
              <a:srgbClr val="D9700F"/>
            </a:solidFill>
            <a:prstDash val="solid"/>
          </a:ln>
        </p:spPr>
      </p:sp>
      <p:sp>
        <p:nvSpPr>
          <p:cNvPr id="67" name="Shape 62"/>
          <p:cNvSpPr/>
          <p:nvPr/>
        </p:nvSpPr>
        <p:spPr>
          <a:xfrm>
            <a:off x="7123938" y="5879622"/>
            <a:ext cx="391805" cy="914"/>
          </a:xfrm>
          <a:prstGeom prst="line">
            <a:avLst/>
          </a:prstGeom>
          <a:noFill/>
          <a:ln w="44450">
            <a:solidFill>
              <a:srgbClr val="D9700F"/>
            </a:solidFill>
            <a:prstDash val="solid"/>
            <a:tailEnd type="triangle"/>
          </a:ln>
        </p:spPr>
      </p:sp>
      <p:sp>
        <p:nvSpPr>
          <p:cNvPr id="68" name="Shape 63"/>
          <p:cNvSpPr/>
          <p:nvPr/>
        </p:nvSpPr>
        <p:spPr>
          <a:xfrm>
            <a:off x="7290664" y="5746242"/>
            <a:ext cx="914" cy="266761"/>
          </a:xfrm>
          <a:prstGeom prst="line">
            <a:avLst/>
          </a:prstGeom>
          <a:noFill/>
          <a:ln w="12700">
            <a:solidFill>
              <a:srgbClr val="4A5A70"/>
            </a:solidFill>
            <a:prstDash val="dash"/>
          </a:ln>
        </p:spPr>
      </p:sp>
      <p:sp>
        <p:nvSpPr>
          <p:cNvPr id="69" name="Text 64"/>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b="1" i="1" dirty="0">
                <a:solidFill>
                  <a:schemeClr val="accent3"/>
                </a:solidFill>
              </a:rPr>
              <a:t>voorbij</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Hij loopt de keuken in.</a:t>
            </a:r>
            <a:endParaRPr lang="en-US" sz="1700" dirty="0"/>
          </a:p>
          <a:p>
            <a:pPr algn="l" indent="0" marL="0">
              <a:buNone/>
            </a:pPr>
            <a:r>
              <a:rPr lang="en-US" sz="1700" i="1" dirty="0">
                <a:solidFill>
                  <a:schemeClr val="accent3"/>
                </a:solidFill>
              </a:rPr>
              <a:t>ou : Hij gaat de keuken binnen.</a:t>
            </a:r>
            <a:endParaRPr lang="en-US" sz="17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20" name="Shape 16"/>
          <p:cNvSpPr/>
          <p:nvPr/>
        </p:nvSpPr>
        <p:spPr>
          <a:xfrm>
            <a:off x="6035040" y="3022092"/>
            <a:ext cx="457200" cy="914"/>
          </a:xfrm>
          <a:prstGeom prst="line">
            <a:avLst/>
          </a:prstGeom>
          <a:noFill/>
          <a:ln w="31750">
            <a:solidFill>
              <a:srgbClr val="D9700F"/>
            </a:solidFill>
            <a:prstDash val="solid"/>
            <a:tailEnd type="triangle"/>
          </a:ln>
        </p:spPr>
      </p:sp>
      <p:sp>
        <p:nvSpPr>
          <p:cNvPr id="21" name="Shape 17"/>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Ik ren de trap op.</a:t>
            </a:r>
            <a:endParaRPr lang="en-US" sz="1700" dirty="0"/>
          </a:p>
          <a:p>
            <a:pPr algn="l" indent="0" marL="0">
              <a:buNone/>
            </a:pPr>
            <a:r>
              <a:rPr lang="en-US" sz="1700" i="1" dirty="0">
                <a:solidFill>
                  <a:schemeClr val="accent3"/>
                </a:solidFill>
              </a:rPr>
              <a:t>BE aussi : Ik loop de trap op.</a:t>
            </a:r>
            <a:endParaRPr lang="en-US" sz="17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7" name="Shape 23"/>
          <p:cNvSpPr/>
          <p:nvPr/>
        </p:nvSpPr>
        <p:spPr>
          <a:xfrm>
            <a:off x="6035040" y="3748532"/>
            <a:ext cx="457200" cy="914"/>
          </a:xfrm>
          <a:prstGeom prst="line">
            <a:avLst/>
          </a:prstGeom>
          <a:noFill/>
          <a:ln w="31750">
            <a:solidFill>
              <a:srgbClr val="D9700F"/>
            </a:solidFill>
            <a:prstDash val="solid"/>
            <a:tailEnd type="triangle"/>
          </a:ln>
        </p:spPr>
      </p:sp>
      <p:sp>
        <p:nvSpPr>
          <p:cNvPr id="28" name="Shape 24"/>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fietst het park door.</a:t>
            </a:r>
            <a:endParaRPr lang="en-US" sz="1700" dirty="0"/>
          </a:p>
          <a:p>
            <a:pPr algn="l" indent="0" marL="0">
              <a:buNone/>
            </a:pPr>
            <a:r>
              <a:rPr lang="en-US" sz="1700" i="1" dirty="0">
                <a:solidFill>
                  <a:schemeClr val="accent3"/>
                </a:solidFill>
              </a:rPr>
              <a:t>ou : Ze fietst door het park.</a:t>
            </a:r>
            <a:endParaRPr lang="en-US" sz="17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4" name="Shape 30"/>
          <p:cNvSpPr/>
          <p:nvPr/>
        </p:nvSpPr>
        <p:spPr>
          <a:xfrm>
            <a:off x="6035040" y="4474972"/>
            <a:ext cx="457200" cy="914"/>
          </a:xfrm>
          <a:prstGeom prst="line">
            <a:avLst/>
          </a:prstGeom>
          <a:noFill/>
          <a:ln w="31750">
            <a:solidFill>
              <a:srgbClr val="D9700F"/>
            </a:solidFill>
            <a:prstDash val="solid"/>
            <a:tailEnd type="triangle"/>
          </a:ln>
        </p:spPr>
      </p:sp>
      <p:sp>
        <p:nvSpPr>
          <p:cNvPr id="35" name="Shape 31"/>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We lopen het gebouw uit.</a:t>
            </a:r>
            <a:endParaRPr lang="en-US" sz="1700" dirty="0"/>
          </a:p>
          <a:p>
            <a:pPr algn="l" indent="0" marL="0">
              <a:buNone/>
            </a:pPr>
            <a:r>
              <a:rPr lang="en-US" sz="1700" i="1" dirty="0">
                <a:solidFill>
                  <a:schemeClr val="accent3"/>
                </a:solidFill>
              </a:rPr>
              <a:t>ou : We gaan naar buiten.</a:t>
            </a:r>
            <a:endParaRPr lang="en-US" sz="17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41" name="Shape 37"/>
          <p:cNvSpPr/>
          <p:nvPr/>
        </p:nvSpPr>
        <p:spPr>
          <a:xfrm>
            <a:off x="6035040" y="5201412"/>
            <a:ext cx="457200" cy="914"/>
          </a:xfrm>
          <a:prstGeom prst="line">
            <a:avLst/>
          </a:prstGeom>
          <a:noFill/>
          <a:ln w="31750">
            <a:solidFill>
              <a:srgbClr val="D9700F"/>
            </a:solidFill>
            <a:prstDash val="solid"/>
            <a:tailEnd type="triangle"/>
          </a:ln>
        </p:spPr>
      </p:sp>
      <p:sp>
        <p:nvSpPr>
          <p:cNvPr id="42" name="Shape 38"/>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De kat springt de tafel op.</a:t>
            </a:r>
            <a:endParaRPr lang="en-US" sz="1700" dirty="0"/>
          </a:p>
          <a:p>
            <a:pPr algn="l" indent="0" marL="0">
              <a:buNone/>
            </a:pPr>
            <a:r>
              <a:rPr lang="en-US" sz="1700" i="1" dirty="0">
                <a:solidFill>
                  <a:schemeClr val="accent3"/>
                </a:solidFill>
              </a:rPr>
              <a:t>ou : op de tafel</a:t>
            </a:r>
            <a:endParaRPr lang="en-US" sz="17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8" name="Shape 44"/>
          <p:cNvSpPr/>
          <p:nvPr/>
        </p:nvSpPr>
        <p:spPr>
          <a:xfrm>
            <a:off x="6035040" y="5927852"/>
            <a:ext cx="457200" cy="914"/>
          </a:xfrm>
          <a:prstGeom prst="line">
            <a:avLst/>
          </a:prstGeom>
          <a:noFill/>
          <a:ln w="31750">
            <a:solidFill>
              <a:srgbClr val="D9700F"/>
            </a:solidFill>
            <a:prstDash val="solid"/>
            <a:tailEnd type="triangle"/>
          </a:ln>
        </p:spPr>
      </p:sp>
      <p:sp>
        <p:nvSpPr>
          <p:cNvPr id="49" name="Shape 45"/>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zijn de berg af gelopen.</a:t>
            </a:r>
            <a:endParaRPr lang="en-US" sz="1700" dirty="0"/>
          </a:p>
          <a:p>
            <a:pPr algn="l" indent="0" marL="0">
              <a:buNone/>
            </a:pPr>
            <a:r>
              <a:rPr lang="en-US" sz="1700" i="1" dirty="0">
                <a:solidFill>
                  <a:schemeClr val="accent3"/>
                </a:solidFill>
              </a:rPr>
              <a:t>zijn ! (afgelopen accepté)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dirty="0">
                <a:solidFill>
                  <a:schemeClr val="tx1"/>
                </a:solidFill>
              </a:rPr>
              <a:t>stijgt de trap</a:t>
            </a:r>
            <a:r>
              <a:rPr lang="en-US" sz="1800" i="1" dirty="0">
                <a:solidFill>
                  <a:schemeClr val="tx1"/>
                </a:solidFill>
              </a:rPr>
              <a:t> naar de eerste verdieping. Daar </a:t>
            </a:r>
            <a:r>
              <a:rPr lang="en-US" sz="1800" i="1" dirty="0">
                <a:solidFill>
                  <a:schemeClr val="tx1"/>
                </a:solidFill>
              </a:rPr>
              <a:t>kruist u de gang</a:t>
            </a:r>
            <a:r>
              <a:rPr lang="en-US" sz="1800" i="1" dirty="0">
                <a:solidFill>
                  <a:schemeClr val="tx1"/>
                </a:solidFill>
              </a:rPr>
              <a:t> tot aan de koffieautomaat. Dan gaat u de hoek om en u loopt </a:t>
            </a:r>
            <a:r>
              <a:rPr lang="en-US" sz="1800" i="1" dirty="0">
                <a:solidFill>
                  <a:schemeClr val="tx1"/>
                </a:solidFill>
              </a:rPr>
              <a:t>in de vergaderzaal in</a:t>
            </a:r>
            <a:r>
              <a:rPr lang="en-US" sz="1800" i="1" dirty="0">
                <a:solidFill>
                  <a:schemeClr val="tx1"/>
                </a:solidFill>
              </a:rPr>
              <a:t>. Ik wacht </a:t>
            </a:r>
            <a:r>
              <a:rPr lang="en-US" sz="1800" i="1" dirty="0">
                <a:solidFill>
                  <a:schemeClr val="tx1"/>
                </a:solidFill>
              </a:rPr>
              <a:t>naar binnen</a:t>
            </a:r>
            <a:r>
              <a:rPr lang="en-US" sz="1800" i="1" dirty="0">
                <a:solidFill>
                  <a:schemeClr val="tx1"/>
                </a:solidFill>
              </a:rPr>
              <a:t> op u. Vorige keer </a:t>
            </a:r>
            <a:r>
              <a:rPr lang="en-US" sz="1800" i="1" dirty="0">
                <a:solidFill>
                  <a:schemeClr val="tx1"/>
                </a:solidFill>
              </a:rPr>
              <a:t>heeft</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strike="sngStrike" dirty="0">
                <a:solidFill>
                  <a:schemeClr val="accent6"/>
                </a:solidFill>
              </a:rPr>
              <a:t>stijgt de trap</a:t>
            </a:r>
            <a:r>
              <a:rPr lang="en-US" sz="1800" b="1" i="1" dirty="0">
                <a:solidFill>
                  <a:schemeClr val="accent3"/>
                </a:solidFill>
              </a:rPr>
              <a:t> loopt de trap op</a:t>
            </a:r>
            <a:r>
              <a:rPr lang="en-US" sz="1800" i="1" dirty="0">
                <a:solidFill>
                  <a:schemeClr val="tx1"/>
                </a:solidFill>
              </a:rPr>
              <a:t> naar de eerste verdieping. Daar </a:t>
            </a:r>
            <a:r>
              <a:rPr lang="en-US" sz="1800" i="1" strike="sngStrike" dirty="0">
                <a:solidFill>
                  <a:schemeClr val="accent6"/>
                </a:solidFill>
              </a:rPr>
              <a:t>kruist u de gang</a:t>
            </a:r>
            <a:r>
              <a:rPr lang="en-US" sz="1800" b="1" i="1" dirty="0">
                <a:solidFill>
                  <a:schemeClr val="accent3"/>
                </a:solidFill>
              </a:rPr>
              <a:t> loopt u de gang door</a:t>
            </a:r>
            <a:r>
              <a:rPr lang="en-US" sz="1800" i="1" dirty="0">
                <a:solidFill>
                  <a:schemeClr val="tx1"/>
                </a:solidFill>
              </a:rPr>
              <a:t> tot aan de koffieautomaat. Dan gaat u de hoek om en u loopt </a:t>
            </a:r>
            <a:r>
              <a:rPr lang="en-US" sz="1800" i="1" strike="sngStrike" dirty="0">
                <a:solidFill>
                  <a:schemeClr val="accent6"/>
                </a:solidFill>
              </a:rPr>
              <a:t>in de vergaderzaal in</a:t>
            </a:r>
            <a:r>
              <a:rPr lang="en-US" sz="1800" b="1" i="1" dirty="0">
                <a:solidFill>
                  <a:schemeClr val="accent3"/>
                </a:solidFill>
              </a:rPr>
              <a:t> de vergaderzaal in</a:t>
            </a:r>
            <a:r>
              <a:rPr lang="en-US" sz="1800" i="1" dirty="0">
                <a:solidFill>
                  <a:schemeClr val="tx1"/>
                </a:solidFill>
              </a:rPr>
              <a:t>. Ik wacht </a:t>
            </a:r>
            <a:r>
              <a:rPr lang="en-US" sz="1800" i="1" strike="sngStrike" dirty="0">
                <a:solidFill>
                  <a:schemeClr val="accent6"/>
                </a:solidFill>
              </a:rPr>
              <a:t>naar binnen</a:t>
            </a:r>
            <a:r>
              <a:rPr lang="en-US" sz="1800" b="1" i="1" dirty="0">
                <a:solidFill>
                  <a:schemeClr val="accent3"/>
                </a:solidFill>
              </a:rPr>
              <a:t> binnen</a:t>
            </a:r>
            <a:r>
              <a:rPr lang="en-US" sz="1800" i="1" dirty="0">
                <a:solidFill>
                  <a:schemeClr val="tx1"/>
                </a:solidFill>
              </a:rPr>
              <a:t> op u. Vorige keer </a:t>
            </a:r>
            <a:r>
              <a:rPr lang="en-US" sz="1800" i="1" strike="sngStrike" dirty="0">
                <a:solidFill>
                  <a:schemeClr val="accent6"/>
                </a:solidFill>
              </a:rPr>
              <a:t>heeft</a:t>
            </a:r>
            <a:r>
              <a:rPr lang="en-US" sz="1800" b="1" i="1" dirty="0">
                <a:solidFill>
                  <a:schemeClr val="accent3"/>
                </a:solidFill>
              </a:rPr>
              <a:t> is</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het gebouw binnen</a:t>
            </a:r>
            <a:r>
              <a:rPr lang="en-US" sz="1400" i="1" dirty="0">
                <a:solidFill>
                  <a:schemeClr val="accent5"/>
                </a:solidFill>
              </a:rPr>
              <a:t> et </a:t>
            </a:r>
            <a:r>
              <a:rPr lang="en-US" sz="1400" i="1" dirty="0">
                <a:solidFill>
                  <a:schemeClr val="accent5"/>
                </a:solidFill>
              </a:rPr>
              <a:t>de hoek om</a:t>
            </a:r>
            <a:r>
              <a:rPr lang="en-US" sz="1400" i="1" dirty="0">
                <a:solidFill>
                  <a:schemeClr val="accent5"/>
                </a:solidFill>
              </a:rPr>
              <a:t> sont corrects. </a:t>
            </a:r>
            <a:r>
              <a:rPr lang="en-US" sz="1400" i="1" dirty="0">
                <a:solidFill>
                  <a:schemeClr val="accent5"/>
                </a:solidFill>
              </a:rPr>
              <a:t>binnen</a:t>
            </a:r>
            <a:r>
              <a:rPr lang="en-US" sz="1400" i="1" dirty="0">
                <a:solidFill>
                  <a:schemeClr val="accent5"/>
                </a:solidFill>
              </a:rPr>
              <a:t> = lieu ; </a:t>
            </a:r>
            <a:r>
              <a:rPr lang="en-US" sz="1400" i="1" dirty="0">
                <a:solidFill>
                  <a:schemeClr val="accent5"/>
                </a:solidFill>
              </a:rPr>
              <a:t>naar binnen</a:t>
            </a:r>
            <a:r>
              <a:rPr lang="en-US" sz="1400" i="1" dirty="0">
                <a:solidFill>
                  <a:schemeClr val="accent5"/>
                </a:solidFill>
              </a:rPr>
              <a:t> = direction.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8" name="Shape 4"/>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9"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0" name="Text 5"/>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1" name="Shape 6"/>
          <p:cNvSpPr/>
          <p:nvPr/>
        </p:nvSpPr>
        <p:spPr>
          <a:xfrm>
            <a:off x="1522476" y="2023872"/>
            <a:ext cx="4786884" cy="3566160"/>
          </a:xfrm>
          <a:prstGeom prst="rect">
            <a:avLst/>
          </a:prstGeom>
          <a:solidFill>
            <a:srgbClr val="FFFFFF"/>
          </a:solidFill>
          <a:ln w="31750">
            <a:solidFill>
              <a:srgbClr val="17375E"/>
            </a:solidFill>
            <a:prstDash val="solid"/>
          </a:ln>
        </p:spPr>
      </p:sp>
      <p:sp>
        <p:nvSpPr>
          <p:cNvPr id="12" name="Shape 7"/>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3" name="Text 8"/>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4" name="Shape 9"/>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5" name="Shape 10"/>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6" name="Text 11"/>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7" name="Shape 12"/>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8" name="Shape 13"/>
          <p:cNvSpPr/>
          <p:nvPr/>
        </p:nvSpPr>
        <p:spPr>
          <a:xfrm>
            <a:off x="2336246" y="2023872"/>
            <a:ext cx="1148852" cy="1355141"/>
          </a:xfrm>
          <a:prstGeom prst="rect">
            <a:avLst/>
          </a:prstGeom>
          <a:solidFill>
            <a:srgbClr val="FFFFFF"/>
          </a:solidFill>
          <a:ln w="19050">
            <a:solidFill>
              <a:srgbClr val="17375E"/>
            </a:solidFill>
            <a:prstDash val="solid"/>
          </a:ln>
        </p:spPr>
      </p:sp>
      <p:sp>
        <p:nvSpPr>
          <p:cNvPr id="19" name="Shape 14"/>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0" name="Image 2" descr="busts in silhouette">    </p:cNvPr>
          <p:cNvPicPr>
            <a:picLocks noChangeAspect="1"/>
          </p:cNvPicPr>
          <p:nvPr/>
        </p:nvPicPr>
        <p:blipFill>
          <a:blip r:embed="rId3">
            <a:alphaModFix amt="70000"/>
          </a:blip>
          <a:stretch>
            <a:fillRect/>
          </a:stretch>
        </p:blipFill>
        <p:spPr>
          <a:xfrm>
            <a:off x="2736936" y="2115312"/>
            <a:ext cx="347472" cy="347472"/>
          </a:xfrm>
          <a:prstGeom prst="rect">
            <a:avLst/>
          </a:prstGeom>
        </p:spPr>
      </p:pic>
      <p:sp>
        <p:nvSpPr>
          <p:cNvPr id="21" name="Shape 15"/>
          <p:cNvSpPr/>
          <p:nvPr/>
        </p:nvSpPr>
        <p:spPr>
          <a:xfrm>
            <a:off x="3485098" y="2023872"/>
            <a:ext cx="1148852" cy="1355141"/>
          </a:xfrm>
          <a:prstGeom prst="rect">
            <a:avLst/>
          </a:prstGeom>
          <a:solidFill>
            <a:srgbClr val="FFFFFF"/>
          </a:solidFill>
          <a:ln w="19050">
            <a:solidFill>
              <a:srgbClr val="17375E"/>
            </a:solidFill>
            <a:prstDash val="solid"/>
          </a:ln>
        </p:spPr>
      </p:sp>
      <p:sp>
        <p:nvSpPr>
          <p:cNvPr id="22" name="Shape 16"/>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3"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4" name="Text 17"/>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5" name="Shape 18"/>
          <p:cNvSpPr/>
          <p:nvPr/>
        </p:nvSpPr>
        <p:spPr>
          <a:xfrm>
            <a:off x="4633951" y="2023872"/>
            <a:ext cx="1148852" cy="1355141"/>
          </a:xfrm>
          <a:prstGeom prst="rect">
            <a:avLst/>
          </a:prstGeom>
          <a:solidFill>
            <a:srgbClr val="FFFFFF"/>
          </a:solidFill>
          <a:ln w="19050">
            <a:solidFill>
              <a:srgbClr val="17375E"/>
            </a:solidFill>
            <a:prstDash val="solid"/>
          </a:ln>
        </p:spPr>
      </p:sp>
      <p:sp>
        <p:nvSpPr>
          <p:cNvPr id="26" name="Shape 19"/>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7" name="Image 4" descr="toilet">    </p:cNvPr>
          <p:cNvPicPr>
            <a:picLocks noChangeAspect="1"/>
          </p:cNvPicPr>
          <p:nvPr/>
        </p:nvPicPr>
        <p:blipFill>
          <a:blip r:embed="rId5">
            <a:alphaModFix amt="70000"/>
          </a:blip>
          <a:stretch>
            <a:fillRect/>
          </a:stretch>
        </p:blipFill>
        <p:spPr>
          <a:xfrm>
            <a:off x="5034641" y="2115312"/>
            <a:ext cx="347472" cy="347472"/>
          </a:xfrm>
          <a:prstGeom prst="rect">
            <a:avLst/>
          </a:prstGeom>
        </p:spPr>
      </p:pic>
      <p:sp>
        <p:nvSpPr>
          <p:cNvPr id="28" name="Shape 20"/>
          <p:cNvSpPr/>
          <p:nvPr/>
        </p:nvSpPr>
        <p:spPr>
          <a:xfrm>
            <a:off x="2336246" y="4234891"/>
            <a:ext cx="1148852" cy="1355141"/>
          </a:xfrm>
          <a:prstGeom prst="rect">
            <a:avLst/>
          </a:prstGeom>
          <a:solidFill>
            <a:srgbClr val="FFFFFF"/>
          </a:solidFill>
          <a:ln w="19050">
            <a:solidFill>
              <a:srgbClr val="17375E"/>
            </a:solidFill>
            <a:prstDash val="solid"/>
          </a:ln>
        </p:spPr>
      </p:sp>
      <p:sp>
        <p:nvSpPr>
          <p:cNvPr id="29" name="Shape 21"/>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0" name="Image 5" descr="desktop computer">    </p:cNvPr>
          <p:cNvPicPr>
            <a:picLocks noChangeAspect="1"/>
          </p:cNvPicPr>
          <p:nvPr/>
        </p:nvPicPr>
        <p:blipFill>
          <a:blip r:embed="rId6">
            <a:alphaModFix amt="70000"/>
          </a:blip>
          <a:stretch>
            <a:fillRect/>
          </a:stretch>
        </p:blipFill>
        <p:spPr>
          <a:xfrm>
            <a:off x="2736936" y="5151120"/>
            <a:ext cx="347472" cy="347472"/>
          </a:xfrm>
          <a:prstGeom prst="rect">
            <a:avLst/>
          </a:prstGeom>
        </p:spPr>
      </p:pic>
      <p:sp>
        <p:nvSpPr>
          <p:cNvPr id="31" name="Shape 22"/>
          <p:cNvSpPr/>
          <p:nvPr/>
        </p:nvSpPr>
        <p:spPr>
          <a:xfrm>
            <a:off x="3485098" y="4234891"/>
            <a:ext cx="1148852" cy="1355141"/>
          </a:xfrm>
          <a:prstGeom prst="rect">
            <a:avLst/>
          </a:prstGeom>
          <a:solidFill>
            <a:srgbClr val="FFFFFF"/>
          </a:solidFill>
          <a:ln w="19050">
            <a:solidFill>
              <a:srgbClr val="17375E"/>
            </a:solidFill>
            <a:prstDash val="solid"/>
          </a:ln>
        </p:spPr>
      </p:sp>
      <p:sp>
        <p:nvSpPr>
          <p:cNvPr id="32" name="Shape 23"/>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3" name="Image 6" descr="hot beverage">    </p:cNvPr>
          <p:cNvPicPr>
            <a:picLocks noChangeAspect="1"/>
          </p:cNvPicPr>
          <p:nvPr/>
        </p:nvPicPr>
        <p:blipFill>
          <a:blip r:embed="rId7">
            <a:alphaModFix amt="70000"/>
          </a:blip>
          <a:stretch>
            <a:fillRect/>
          </a:stretch>
        </p:blipFill>
        <p:spPr>
          <a:xfrm>
            <a:off x="3885789" y="5151120"/>
            <a:ext cx="347472" cy="347472"/>
          </a:xfrm>
          <a:prstGeom prst="rect">
            <a:avLst/>
          </a:prstGeom>
        </p:spPr>
      </p:pic>
      <p:sp>
        <p:nvSpPr>
          <p:cNvPr id="34" name="Shape 24"/>
          <p:cNvSpPr/>
          <p:nvPr/>
        </p:nvSpPr>
        <p:spPr>
          <a:xfrm>
            <a:off x="4633951" y="4234891"/>
            <a:ext cx="1148852" cy="1355141"/>
          </a:xfrm>
          <a:prstGeom prst="rect">
            <a:avLst/>
          </a:prstGeom>
          <a:solidFill>
            <a:srgbClr val="FFFFFF"/>
          </a:solidFill>
          <a:ln w="19050">
            <a:solidFill>
              <a:srgbClr val="17375E"/>
            </a:solidFill>
            <a:prstDash val="solid"/>
          </a:ln>
        </p:spPr>
      </p:sp>
      <p:sp>
        <p:nvSpPr>
          <p:cNvPr id="35" name="Shape 25"/>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36" name="Image 7" descr="fork and knife with plate">    </p:cNvPr>
          <p:cNvPicPr>
            <a:picLocks noChangeAspect="1"/>
          </p:cNvPicPr>
          <p:nvPr/>
        </p:nvPicPr>
        <p:blipFill>
          <a:blip r:embed="rId8">
            <a:alphaModFix amt="70000"/>
          </a:blip>
          <a:stretch>
            <a:fillRect/>
          </a:stretch>
        </p:blipFill>
        <p:spPr>
          <a:xfrm>
            <a:off x="5034641" y="5151120"/>
            <a:ext cx="347472" cy="347472"/>
          </a:xfrm>
          <a:prstGeom prst="rect">
            <a:avLst/>
          </a:prstGeom>
        </p:spPr>
      </p:pic>
      <p:sp>
        <p:nvSpPr>
          <p:cNvPr id="37" name="Shape 26"/>
          <p:cNvSpPr/>
          <p:nvPr/>
        </p:nvSpPr>
        <p:spPr>
          <a:xfrm>
            <a:off x="5782803" y="2023872"/>
            <a:ext cx="526557" cy="1783080"/>
          </a:xfrm>
          <a:prstGeom prst="rect">
            <a:avLst/>
          </a:prstGeom>
          <a:solidFill>
            <a:srgbClr val="FFFFFF"/>
          </a:solidFill>
          <a:ln w="19050">
            <a:solidFill>
              <a:srgbClr val="17375E"/>
            </a:solidFill>
            <a:prstDash val="solid"/>
          </a:ln>
        </p:spPr>
      </p:sp>
      <p:sp>
        <p:nvSpPr>
          <p:cNvPr id="38" name="Shape 27"/>
          <p:cNvSpPr/>
          <p:nvPr/>
        </p:nvSpPr>
        <p:spPr>
          <a:xfrm>
            <a:off x="5828523" y="2278598"/>
            <a:ext cx="435117" cy="914"/>
          </a:xfrm>
          <a:prstGeom prst="line">
            <a:avLst/>
          </a:prstGeom>
          <a:noFill/>
          <a:ln w="12700">
            <a:solidFill>
              <a:srgbClr val="4A5A70"/>
            </a:solidFill>
            <a:prstDash val="solid"/>
          </a:ln>
        </p:spPr>
      </p:sp>
      <p:sp>
        <p:nvSpPr>
          <p:cNvPr id="39" name="Shape 28"/>
          <p:cNvSpPr/>
          <p:nvPr/>
        </p:nvSpPr>
        <p:spPr>
          <a:xfrm>
            <a:off x="5828523" y="2533323"/>
            <a:ext cx="435117" cy="914"/>
          </a:xfrm>
          <a:prstGeom prst="line">
            <a:avLst/>
          </a:prstGeom>
          <a:noFill/>
          <a:ln w="12700">
            <a:solidFill>
              <a:srgbClr val="4A5A70"/>
            </a:solidFill>
            <a:prstDash val="solid"/>
          </a:ln>
        </p:spPr>
      </p:sp>
      <p:sp>
        <p:nvSpPr>
          <p:cNvPr id="40" name="Shape 29"/>
          <p:cNvSpPr/>
          <p:nvPr/>
        </p:nvSpPr>
        <p:spPr>
          <a:xfrm>
            <a:off x="5828523" y="2788049"/>
            <a:ext cx="435117" cy="914"/>
          </a:xfrm>
          <a:prstGeom prst="line">
            <a:avLst/>
          </a:prstGeom>
          <a:noFill/>
          <a:ln w="12700">
            <a:solidFill>
              <a:srgbClr val="4A5A70"/>
            </a:solidFill>
            <a:prstDash val="solid"/>
          </a:ln>
        </p:spPr>
      </p:sp>
      <p:sp>
        <p:nvSpPr>
          <p:cNvPr id="41" name="Shape 30"/>
          <p:cNvSpPr/>
          <p:nvPr/>
        </p:nvSpPr>
        <p:spPr>
          <a:xfrm>
            <a:off x="5828523" y="3042775"/>
            <a:ext cx="435117" cy="914"/>
          </a:xfrm>
          <a:prstGeom prst="line">
            <a:avLst/>
          </a:prstGeom>
          <a:noFill/>
          <a:ln w="12700">
            <a:solidFill>
              <a:srgbClr val="4A5A70"/>
            </a:solidFill>
            <a:prstDash val="solid"/>
          </a:ln>
        </p:spPr>
      </p:sp>
      <p:sp>
        <p:nvSpPr>
          <p:cNvPr id="42" name="Shape 31"/>
          <p:cNvSpPr/>
          <p:nvPr/>
        </p:nvSpPr>
        <p:spPr>
          <a:xfrm>
            <a:off x="5828523" y="3297501"/>
            <a:ext cx="435117" cy="914"/>
          </a:xfrm>
          <a:prstGeom prst="line">
            <a:avLst/>
          </a:prstGeom>
          <a:noFill/>
          <a:ln w="12700">
            <a:solidFill>
              <a:srgbClr val="4A5A70"/>
            </a:solidFill>
            <a:prstDash val="solid"/>
          </a:ln>
        </p:spPr>
      </p:sp>
      <p:sp>
        <p:nvSpPr>
          <p:cNvPr id="43" name="Shape 32"/>
          <p:cNvSpPr/>
          <p:nvPr/>
        </p:nvSpPr>
        <p:spPr>
          <a:xfrm>
            <a:off x="5828523" y="3552226"/>
            <a:ext cx="435117" cy="914"/>
          </a:xfrm>
          <a:prstGeom prst="line">
            <a:avLst/>
          </a:prstGeom>
          <a:noFill/>
          <a:ln w="12700">
            <a:solidFill>
              <a:srgbClr val="4A5A70"/>
            </a:solidFill>
            <a:prstDash val="solid"/>
          </a:ln>
        </p:spPr>
      </p:sp>
      <p:sp>
        <p:nvSpPr>
          <p:cNvPr id="44" name="Shape 33"/>
          <p:cNvSpPr/>
          <p:nvPr/>
        </p:nvSpPr>
        <p:spPr>
          <a:xfrm>
            <a:off x="5782803" y="3806952"/>
            <a:ext cx="526557" cy="1783080"/>
          </a:xfrm>
          <a:prstGeom prst="rect">
            <a:avLst/>
          </a:prstGeom>
          <a:solidFill>
            <a:srgbClr val="F1EBF8"/>
          </a:solidFill>
          <a:ln w="19050">
            <a:solidFill>
              <a:srgbClr val="17375E"/>
            </a:solidFill>
            <a:prstDash val="solid"/>
          </a:ln>
        </p:spPr>
      </p:sp>
      <p:pic>
        <p:nvPicPr>
          <p:cNvPr id="45"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46" name="Text 34"/>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47" name="Text 35"/>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48"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49" name="Text 37"/>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0" name="Shape 38"/>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1" name="Text 39"/>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2" name="Text 40"/>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3" name="Shape 41"/>
          <p:cNvSpPr/>
          <p:nvPr/>
        </p:nvSpPr>
        <p:spPr>
          <a:xfrm>
            <a:off x="6995160" y="2583180"/>
            <a:ext cx="4645152" cy="365760"/>
          </a:xfrm>
          <a:prstGeom prst="roundRect">
            <a:avLst>
              <a:gd name="adj" fmla="val 15000"/>
            </a:avLst>
          </a:prstGeom>
          <a:solidFill>
            <a:srgbClr val="FFFFFF"/>
          </a:solidFill>
          <a:ln w="12700">
            <a:solidFill>
              <a:srgbClr val="D5DCE6"/>
            </a:solidFill>
            <a:prstDash val="solid"/>
          </a:ln>
        </p:spPr>
      </p:sp>
      <p:sp>
        <p:nvSpPr>
          <p:cNvPr id="54" name="Shape 42"/>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55" name="Text 43"/>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56" name="Text 44"/>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57" name="Shape 45"/>
          <p:cNvSpPr/>
          <p:nvPr/>
        </p:nvSpPr>
        <p:spPr>
          <a:xfrm>
            <a:off x="6995160" y="3672840"/>
            <a:ext cx="4645152" cy="365760"/>
          </a:xfrm>
          <a:prstGeom prst="roundRect">
            <a:avLst>
              <a:gd name="adj" fmla="val 15000"/>
            </a:avLst>
          </a:prstGeom>
          <a:solidFill>
            <a:srgbClr val="FFFFFF"/>
          </a:solidFill>
          <a:ln w="12700">
            <a:solidFill>
              <a:srgbClr val="D5DCE6"/>
            </a:solidFill>
            <a:prstDash val="solid"/>
          </a:ln>
        </p:spPr>
      </p:sp>
      <p:sp>
        <p:nvSpPr>
          <p:cNvPr id="58" name="Shape 46"/>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59" name="Text 47"/>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0" name="Text 48"/>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1" name="Shape 49"/>
          <p:cNvSpPr/>
          <p:nvPr/>
        </p:nvSpPr>
        <p:spPr>
          <a:xfrm>
            <a:off x="6995160" y="4762500"/>
            <a:ext cx="4645152" cy="365760"/>
          </a:xfrm>
          <a:prstGeom prst="roundRect">
            <a:avLst>
              <a:gd name="adj" fmla="val 15000"/>
            </a:avLst>
          </a:prstGeom>
          <a:solidFill>
            <a:srgbClr val="FFFFFF"/>
          </a:solidFill>
          <a:ln w="12700">
            <a:solidFill>
              <a:srgbClr val="D5DCE6"/>
            </a:solidFill>
            <a:prstDash val="solid"/>
          </a:ln>
        </p:spPr>
      </p:sp>
      <p:sp>
        <p:nvSpPr>
          <p:cNvPr id="62" name="Shape 50"/>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63" name="Text 51"/>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64" name="Text 52"/>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65" name="Shape 53"/>
          <p:cNvSpPr/>
          <p:nvPr/>
        </p:nvSpPr>
        <p:spPr>
          <a:xfrm>
            <a:off x="6995160" y="5852160"/>
            <a:ext cx="4645152" cy="365760"/>
          </a:xfrm>
          <a:prstGeom prst="roundRect">
            <a:avLst>
              <a:gd name="adj" fmla="val 15000"/>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9" name="Shape 5"/>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10"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1" name="Text 6"/>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2" name="Shape 7"/>
          <p:cNvSpPr/>
          <p:nvPr/>
        </p:nvSpPr>
        <p:spPr>
          <a:xfrm>
            <a:off x="1522476" y="2023872"/>
            <a:ext cx="4786884" cy="3566160"/>
          </a:xfrm>
          <a:prstGeom prst="rect">
            <a:avLst/>
          </a:prstGeom>
          <a:solidFill>
            <a:srgbClr val="FFFFFF"/>
          </a:solidFill>
          <a:ln w="31750">
            <a:solidFill>
              <a:srgbClr val="17375E"/>
            </a:solidFill>
            <a:prstDash val="solid"/>
          </a:ln>
        </p:spPr>
      </p:sp>
      <p:sp>
        <p:nvSpPr>
          <p:cNvPr id="13" name="Shape 8"/>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4" name="Text 9"/>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5" name="Shape 10"/>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6" name="Shape 11"/>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7" name="Text 12"/>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8" name="Shape 13"/>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9" name="Shape 14"/>
          <p:cNvSpPr/>
          <p:nvPr/>
        </p:nvSpPr>
        <p:spPr>
          <a:xfrm>
            <a:off x="2336246" y="2023872"/>
            <a:ext cx="1148852" cy="1355141"/>
          </a:xfrm>
          <a:prstGeom prst="rect">
            <a:avLst/>
          </a:prstGeom>
          <a:solidFill>
            <a:srgbClr val="FFFFFF"/>
          </a:solidFill>
          <a:ln w="19050">
            <a:solidFill>
              <a:srgbClr val="17375E"/>
            </a:solidFill>
            <a:prstDash val="solid"/>
          </a:ln>
        </p:spPr>
      </p:sp>
      <p:sp>
        <p:nvSpPr>
          <p:cNvPr id="20" name="Shape 15"/>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1" name="Image 2" descr="busts in silhouette">    </p:cNvPr>
          <p:cNvPicPr>
            <a:picLocks noChangeAspect="1"/>
          </p:cNvPicPr>
          <p:nvPr/>
        </p:nvPicPr>
        <p:blipFill>
          <a:blip r:embed="rId3"/>
          <a:stretch>
            <a:fillRect/>
          </a:stretch>
        </p:blipFill>
        <p:spPr>
          <a:xfrm>
            <a:off x="2736936" y="2115312"/>
            <a:ext cx="347472" cy="347472"/>
          </a:xfrm>
          <a:prstGeom prst="rect">
            <a:avLst/>
          </a:prstGeom>
        </p:spPr>
      </p:pic>
      <p:sp>
        <p:nvSpPr>
          <p:cNvPr id="22" name="Text 16"/>
          <p:cNvSpPr txBox="1"/>
          <p:nvPr/>
        </p:nvSpPr>
        <p:spPr>
          <a:xfrm>
            <a:off x="2372822"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vergaderzaal</a:t>
            </a:r>
            <a:endParaRPr lang="en-US" sz="1000" dirty="0"/>
          </a:p>
        </p:txBody>
      </p:sp>
      <p:sp>
        <p:nvSpPr>
          <p:cNvPr id="23" name="Shape 17"/>
          <p:cNvSpPr/>
          <p:nvPr/>
        </p:nvSpPr>
        <p:spPr>
          <a:xfrm>
            <a:off x="3485098" y="2023872"/>
            <a:ext cx="1148852" cy="1355141"/>
          </a:xfrm>
          <a:prstGeom prst="rect">
            <a:avLst/>
          </a:prstGeom>
          <a:solidFill>
            <a:srgbClr val="FFFFFF"/>
          </a:solidFill>
          <a:ln w="19050">
            <a:solidFill>
              <a:srgbClr val="17375E"/>
            </a:solidFill>
            <a:prstDash val="solid"/>
          </a:ln>
        </p:spPr>
      </p:sp>
      <p:sp>
        <p:nvSpPr>
          <p:cNvPr id="24" name="Shape 18"/>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5"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6" name="Text 19"/>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7" name="Shape 20"/>
          <p:cNvSpPr/>
          <p:nvPr/>
        </p:nvSpPr>
        <p:spPr>
          <a:xfrm>
            <a:off x="4633951" y="2023872"/>
            <a:ext cx="1148852" cy="1355141"/>
          </a:xfrm>
          <a:prstGeom prst="rect">
            <a:avLst/>
          </a:prstGeom>
          <a:solidFill>
            <a:srgbClr val="FFFFFF"/>
          </a:solidFill>
          <a:ln w="19050">
            <a:solidFill>
              <a:srgbClr val="17375E"/>
            </a:solidFill>
            <a:prstDash val="solid"/>
          </a:ln>
        </p:spPr>
      </p:sp>
      <p:sp>
        <p:nvSpPr>
          <p:cNvPr id="28" name="Shape 21"/>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9" name="Image 4" descr="toilet">    </p:cNvPr>
          <p:cNvPicPr>
            <a:picLocks noChangeAspect="1"/>
          </p:cNvPicPr>
          <p:nvPr/>
        </p:nvPicPr>
        <p:blipFill>
          <a:blip r:embed="rId5"/>
          <a:stretch>
            <a:fillRect/>
          </a:stretch>
        </p:blipFill>
        <p:spPr>
          <a:xfrm>
            <a:off x="5034641" y="2115312"/>
            <a:ext cx="347472" cy="347472"/>
          </a:xfrm>
          <a:prstGeom prst="rect">
            <a:avLst/>
          </a:prstGeom>
        </p:spPr>
      </p:pic>
      <p:sp>
        <p:nvSpPr>
          <p:cNvPr id="30" name="Text 22"/>
          <p:cNvSpPr txBox="1"/>
          <p:nvPr/>
        </p:nvSpPr>
        <p:spPr>
          <a:xfrm>
            <a:off x="4670527"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toiletten</a:t>
            </a:r>
            <a:endParaRPr lang="en-US" sz="1000" dirty="0"/>
          </a:p>
        </p:txBody>
      </p:sp>
      <p:sp>
        <p:nvSpPr>
          <p:cNvPr id="31" name="Shape 23"/>
          <p:cNvSpPr/>
          <p:nvPr/>
        </p:nvSpPr>
        <p:spPr>
          <a:xfrm>
            <a:off x="2336246" y="4234891"/>
            <a:ext cx="1148852" cy="1355141"/>
          </a:xfrm>
          <a:prstGeom prst="rect">
            <a:avLst/>
          </a:prstGeom>
          <a:solidFill>
            <a:srgbClr val="FFFFFF"/>
          </a:solidFill>
          <a:ln w="19050">
            <a:solidFill>
              <a:srgbClr val="17375E"/>
            </a:solidFill>
            <a:prstDash val="solid"/>
          </a:ln>
        </p:spPr>
      </p:sp>
      <p:sp>
        <p:nvSpPr>
          <p:cNvPr id="32" name="Shape 24"/>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3" name="Image 5" descr="desktop computer">    </p:cNvPr>
          <p:cNvPicPr>
            <a:picLocks noChangeAspect="1"/>
          </p:cNvPicPr>
          <p:nvPr/>
        </p:nvPicPr>
        <p:blipFill>
          <a:blip r:embed="rId6"/>
          <a:stretch>
            <a:fillRect/>
          </a:stretch>
        </p:blipFill>
        <p:spPr>
          <a:xfrm>
            <a:off x="2736936" y="5151120"/>
            <a:ext cx="347472" cy="347472"/>
          </a:xfrm>
          <a:prstGeom prst="rect">
            <a:avLst/>
          </a:prstGeom>
        </p:spPr>
      </p:pic>
      <p:sp>
        <p:nvSpPr>
          <p:cNvPr id="34" name="Text 25"/>
          <p:cNvSpPr txBox="1"/>
          <p:nvPr/>
        </p:nvSpPr>
        <p:spPr>
          <a:xfrm>
            <a:off x="2372822"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kantoor</a:t>
            </a:r>
            <a:endParaRPr lang="en-US" sz="1000" dirty="0"/>
          </a:p>
        </p:txBody>
      </p:sp>
      <p:sp>
        <p:nvSpPr>
          <p:cNvPr id="35" name="Shape 26"/>
          <p:cNvSpPr/>
          <p:nvPr/>
        </p:nvSpPr>
        <p:spPr>
          <a:xfrm>
            <a:off x="3485098" y="4234891"/>
            <a:ext cx="1148852" cy="1355141"/>
          </a:xfrm>
          <a:prstGeom prst="rect">
            <a:avLst/>
          </a:prstGeom>
          <a:solidFill>
            <a:srgbClr val="FFFFFF"/>
          </a:solidFill>
          <a:ln w="19050">
            <a:solidFill>
              <a:srgbClr val="17375E"/>
            </a:solidFill>
            <a:prstDash val="solid"/>
          </a:ln>
        </p:spPr>
      </p:sp>
      <p:sp>
        <p:nvSpPr>
          <p:cNvPr id="36" name="Shape 27"/>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7" name="Image 6" descr="hot beverage">    </p:cNvPr>
          <p:cNvPicPr>
            <a:picLocks noChangeAspect="1"/>
          </p:cNvPicPr>
          <p:nvPr/>
        </p:nvPicPr>
        <p:blipFill>
          <a:blip r:embed="rId7"/>
          <a:stretch>
            <a:fillRect/>
          </a:stretch>
        </p:blipFill>
        <p:spPr>
          <a:xfrm>
            <a:off x="3885789" y="5151120"/>
            <a:ext cx="347472" cy="347472"/>
          </a:xfrm>
          <a:prstGeom prst="rect">
            <a:avLst/>
          </a:prstGeom>
        </p:spPr>
      </p:pic>
      <p:sp>
        <p:nvSpPr>
          <p:cNvPr id="38" name="Text 28"/>
          <p:cNvSpPr txBox="1"/>
          <p:nvPr/>
        </p:nvSpPr>
        <p:spPr>
          <a:xfrm>
            <a:off x="3521674"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keuken</a:t>
            </a:r>
            <a:endParaRPr lang="en-US" sz="1000" dirty="0"/>
          </a:p>
        </p:txBody>
      </p:sp>
      <p:sp>
        <p:nvSpPr>
          <p:cNvPr id="39" name="Shape 29"/>
          <p:cNvSpPr/>
          <p:nvPr/>
        </p:nvSpPr>
        <p:spPr>
          <a:xfrm>
            <a:off x="4633951" y="4234891"/>
            <a:ext cx="1148852" cy="1355141"/>
          </a:xfrm>
          <a:prstGeom prst="rect">
            <a:avLst/>
          </a:prstGeom>
          <a:solidFill>
            <a:srgbClr val="FFFFFF"/>
          </a:solidFill>
          <a:ln w="19050">
            <a:solidFill>
              <a:srgbClr val="17375E"/>
            </a:solidFill>
            <a:prstDash val="solid"/>
          </a:ln>
        </p:spPr>
      </p:sp>
      <p:sp>
        <p:nvSpPr>
          <p:cNvPr id="40" name="Shape 30"/>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41" name="Image 7" descr="fork and knife with plate">    </p:cNvPr>
          <p:cNvPicPr>
            <a:picLocks noChangeAspect="1"/>
          </p:cNvPicPr>
          <p:nvPr/>
        </p:nvPicPr>
        <p:blipFill>
          <a:blip r:embed="rId8"/>
          <a:stretch>
            <a:fillRect/>
          </a:stretch>
        </p:blipFill>
        <p:spPr>
          <a:xfrm>
            <a:off x="5034641" y="5151120"/>
            <a:ext cx="347472" cy="347472"/>
          </a:xfrm>
          <a:prstGeom prst="rect">
            <a:avLst/>
          </a:prstGeom>
        </p:spPr>
      </p:pic>
      <p:sp>
        <p:nvSpPr>
          <p:cNvPr id="42" name="Text 31"/>
          <p:cNvSpPr txBox="1"/>
          <p:nvPr/>
        </p:nvSpPr>
        <p:spPr>
          <a:xfrm>
            <a:off x="4670527"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refter</a:t>
            </a:r>
            <a:endParaRPr lang="en-US" sz="1000" dirty="0"/>
          </a:p>
        </p:txBody>
      </p:sp>
      <p:sp>
        <p:nvSpPr>
          <p:cNvPr id="43" name="Shape 32"/>
          <p:cNvSpPr/>
          <p:nvPr/>
        </p:nvSpPr>
        <p:spPr>
          <a:xfrm>
            <a:off x="5782803" y="2023872"/>
            <a:ext cx="526557" cy="1783080"/>
          </a:xfrm>
          <a:prstGeom prst="rect">
            <a:avLst/>
          </a:prstGeom>
          <a:solidFill>
            <a:srgbClr val="FFFFFF"/>
          </a:solidFill>
          <a:ln w="19050">
            <a:solidFill>
              <a:srgbClr val="17375E"/>
            </a:solidFill>
            <a:prstDash val="solid"/>
          </a:ln>
        </p:spPr>
      </p:sp>
      <p:sp>
        <p:nvSpPr>
          <p:cNvPr id="44" name="Shape 33"/>
          <p:cNvSpPr/>
          <p:nvPr/>
        </p:nvSpPr>
        <p:spPr>
          <a:xfrm>
            <a:off x="5828523" y="2278598"/>
            <a:ext cx="435117" cy="914"/>
          </a:xfrm>
          <a:prstGeom prst="line">
            <a:avLst/>
          </a:prstGeom>
          <a:noFill/>
          <a:ln w="12700">
            <a:solidFill>
              <a:srgbClr val="4A5A70"/>
            </a:solidFill>
            <a:prstDash val="solid"/>
          </a:ln>
        </p:spPr>
      </p:sp>
      <p:sp>
        <p:nvSpPr>
          <p:cNvPr id="45" name="Shape 34"/>
          <p:cNvSpPr/>
          <p:nvPr/>
        </p:nvSpPr>
        <p:spPr>
          <a:xfrm>
            <a:off x="5828523" y="2533323"/>
            <a:ext cx="435117" cy="914"/>
          </a:xfrm>
          <a:prstGeom prst="line">
            <a:avLst/>
          </a:prstGeom>
          <a:noFill/>
          <a:ln w="12700">
            <a:solidFill>
              <a:srgbClr val="4A5A70"/>
            </a:solidFill>
            <a:prstDash val="solid"/>
          </a:ln>
        </p:spPr>
      </p:sp>
      <p:sp>
        <p:nvSpPr>
          <p:cNvPr id="46" name="Shape 35"/>
          <p:cNvSpPr/>
          <p:nvPr/>
        </p:nvSpPr>
        <p:spPr>
          <a:xfrm>
            <a:off x="5828523" y="2788049"/>
            <a:ext cx="435117" cy="914"/>
          </a:xfrm>
          <a:prstGeom prst="line">
            <a:avLst/>
          </a:prstGeom>
          <a:noFill/>
          <a:ln w="12700">
            <a:solidFill>
              <a:srgbClr val="4A5A70"/>
            </a:solidFill>
            <a:prstDash val="solid"/>
          </a:ln>
        </p:spPr>
      </p:sp>
      <p:sp>
        <p:nvSpPr>
          <p:cNvPr id="47" name="Shape 36"/>
          <p:cNvSpPr/>
          <p:nvPr/>
        </p:nvSpPr>
        <p:spPr>
          <a:xfrm>
            <a:off x="5828523" y="3042775"/>
            <a:ext cx="435117" cy="914"/>
          </a:xfrm>
          <a:prstGeom prst="line">
            <a:avLst/>
          </a:prstGeom>
          <a:noFill/>
          <a:ln w="12700">
            <a:solidFill>
              <a:srgbClr val="4A5A70"/>
            </a:solidFill>
            <a:prstDash val="solid"/>
          </a:ln>
        </p:spPr>
      </p:sp>
      <p:sp>
        <p:nvSpPr>
          <p:cNvPr id="48" name="Shape 37"/>
          <p:cNvSpPr/>
          <p:nvPr/>
        </p:nvSpPr>
        <p:spPr>
          <a:xfrm>
            <a:off x="5828523" y="3297501"/>
            <a:ext cx="435117" cy="914"/>
          </a:xfrm>
          <a:prstGeom prst="line">
            <a:avLst/>
          </a:prstGeom>
          <a:noFill/>
          <a:ln w="12700">
            <a:solidFill>
              <a:srgbClr val="4A5A70"/>
            </a:solidFill>
            <a:prstDash val="solid"/>
          </a:ln>
        </p:spPr>
      </p:sp>
      <p:sp>
        <p:nvSpPr>
          <p:cNvPr id="49" name="Shape 38"/>
          <p:cNvSpPr/>
          <p:nvPr/>
        </p:nvSpPr>
        <p:spPr>
          <a:xfrm>
            <a:off x="5828523" y="3552226"/>
            <a:ext cx="435117" cy="914"/>
          </a:xfrm>
          <a:prstGeom prst="line">
            <a:avLst/>
          </a:prstGeom>
          <a:noFill/>
          <a:ln w="12700">
            <a:solidFill>
              <a:srgbClr val="4A5A70"/>
            </a:solidFill>
            <a:prstDash val="solid"/>
          </a:ln>
        </p:spPr>
      </p:sp>
      <p:sp>
        <p:nvSpPr>
          <p:cNvPr id="50" name="Shape 39"/>
          <p:cNvSpPr/>
          <p:nvPr/>
        </p:nvSpPr>
        <p:spPr>
          <a:xfrm>
            <a:off x="5782803" y="3806952"/>
            <a:ext cx="526557" cy="1783080"/>
          </a:xfrm>
          <a:prstGeom prst="rect">
            <a:avLst/>
          </a:prstGeom>
          <a:solidFill>
            <a:srgbClr val="F1EBF8"/>
          </a:solidFill>
          <a:ln w="19050">
            <a:solidFill>
              <a:srgbClr val="17375E"/>
            </a:solidFill>
            <a:prstDash val="solid"/>
          </a:ln>
        </p:spPr>
      </p:sp>
      <p:pic>
        <p:nvPicPr>
          <p:cNvPr id="51"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52" name="Text 40"/>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53" name="Text 41"/>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54"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55" name="Text 43"/>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6" name="Shape 44"/>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7" name="Text 45"/>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8" name="Text 46"/>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9" name="Shape 47"/>
          <p:cNvSpPr/>
          <p:nvPr/>
        </p:nvSpPr>
        <p:spPr>
          <a:xfrm>
            <a:off x="6995160" y="2583180"/>
            <a:ext cx="4645152" cy="365760"/>
          </a:xfrm>
          <a:prstGeom prst="roundRect">
            <a:avLst>
              <a:gd name="adj" fmla="val 15000"/>
            </a:avLst>
          </a:prstGeom>
          <a:solidFill>
            <a:srgbClr val="EDF6F0"/>
          </a:solidFill>
          <a:ln w="12700">
            <a:solidFill>
              <a:srgbClr val="2E7D4F"/>
            </a:solidFill>
            <a:prstDash val="solid"/>
          </a:ln>
        </p:spPr>
      </p:sp>
      <p:sp>
        <p:nvSpPr>
          <p:cNvPr id="60" name="Text 48"/>
          <p:cNvSpPr txBox="1"/>
          <p:nvPr/>
        </p:nvSpPr>
        <p:spPr>
          <a:xfrm>
            <a:off x="7086600" y="258318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vergaderzaal</a:t>
            </a:r>
            <a:endParaRPr lang="en-US" sz="1500" dirty="0"/>
          </a:p>
        </p:txBody>
      </p:sp>
      <p:sp>
        <p:nvSpPr>
          <p:cNvPr id="61" name="Shape 49"/>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62" name="Text 50"/>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63" name="Text 51"/>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64" name="Shape 52"/>
          <p:cNvSpPr/>
          <p:nvPr/>
        </p:nvSpPr>
        <p:spPr>
          <a:xfrm>
            <a:off x="6995160" y="3672840"/>
            <a:ext cx="4645152" cy="365760"/>
          </a:xfrm>
          <a:prstGeom prst="roundRect">
            <a:avLst>
              <a:gd name="adj" fmla="val 15000"/>
            </a:avLst>
          </a:prstGeom>
          <a:solidFill>
            <a:srgbClr val="EDF6F0"/>
          </a:solidFill>
          <a:ln w="12700">
            <a:solidFill>
              <a:srgbClr val="2E7D4F"/>
            </a:solidFill>
            <a:prstDash val="solid"/>
          </a:ln>
        </p:spPr>
      </p:sp>
      <p:sp>
        <p:nvSpPr>
          <p:cNvPr id="65" name="Text 53"/>
          <p:cNvSpPr txBox="1"/>
          <p:nvPr/>
        </p:nvSpPr>
        <p:spPr>
          <a:xfrm>
            <a:off x="7086600" y="367284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keuken</a:t>
            </a:r>
            <a:endParaRPr lang="en-US" sz="1500" dirty="0"/>
          </a:p>
        </p:txBody>
      </p:sp>
      <p:sp>
        <p:nvSpPr>
          <p:cNvPr id="66" name="Shape 54"/>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67" name="Text 55"/>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8" name="Text 56"/>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9" name="Shape 57"/>
          <p:cNvSpPr/>
          <p:nvPr/>
        </p:nvSpPr>
        <p:spPr>
          <a:xfrm>
            <a:off x="6995160" y="4762500"/>
            <a:ext cx="4645152" cy="365760"/>
          </a:xfrm>
          <a:prstGeom prst="roundRect">
            <a:avLst>
              <a:gd name="adj" fmla="val 15000"/>
            </a:avLst>
          </a:prstGeom>
          <a:solidFill>
            <a:srgbClr val="EDF6F0"/>
          </a:solidFill>
          <a:ln w="12700">
            <a:solidFill>
              <a:srgbClr val="2E7D4F"/>
            </a:solidFill>
            <a:prstDash val="solid"/>
          </a:ln>
        </p:spPr>
      </p:sp>
      <p:sp>
        <p:nvSpPr>
          <p:cNvPr id="70" name="Text 58"/>
          <p:cNvSpPr txBox="1"/>
          <p:nvPr/>
        </p:nvSpPr>
        <p:spPr>
          <a:xfrm>
            <a:off x="7086600" y="476250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toiletten</a:t>
            </a:r>
            <a:endParaRPr lang="en-US" sz="1500" dirty="0"/>
          </a:p>
        </p:txBody>
      </p:sp>
      <p:sp>
        <p:nvSpPr>
          <p:cNvPr id="71" name="Shape 59"/>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72" name="Text 60"/>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73" name="Text 61"/>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74" name="Shape 62"/>
          <p:cNvSpPr/>
          <p:nvPr/>
        </p:nvSpPr>
        <p:spPr>
          <a:xfrm>
            <a:off x="6995160" y="5852160"/>
            <a:ext cx="4645152" cy="365760"/>
          </a:xfrm>
          <a:prstGeom prst="roundRect">
            <a:avLst>
              <a:gd name="adj" fmla="val 15000"/>
            </a:avLst>
          </a:prstGeom>
          <a:solidFill>
            <a:srgbClr val="EDF6F0"/>
          </a:solidFill>
          <a:ln w="12700">
            <a:solidFill>
              <a:srgbClr val="2E7D4F"/>
            </a:solidFill>
            <a:prstDash val="solid"/>
          </a:ln>
        </p:spPr>
      </p:sp>
      <p:sp>
        <p:nvSpPr>
          <p:cNvPr id="75" name="Text 63"/>
          <p:cNvSpPr txBox="1"/>
          <p:nvPr/>
        </p:nvSpPr>
        <p:spPr>
          <a:xfrm>
            <a:off x="7086600" y="585216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eerste verdieping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Kruip de vergaderzaal in!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CARTES-VERBES</a:t>
            </a:r>
            <a:endParaRPr lang="en-US" sz="1300" dirty="0"/>
          </a:p>
        </p:txBody>
      </p:sp>
      <p:sp>
        <p:nvSpPr>
          <p:cNvPr id="7" name="Text 4"/>
          <p:cNvSpPr txBox="1"/>
          <p:nvPr/>
        </p:nvSpPr>
        <p:spPr>
          <a:xfrm>
            <a:off x="416052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1"/>
                </a:solidFill>
              </a:rPr>
              <a:t>CARTES-TRAJETS</a:t>
            </a:r>
            <a:endParaRPr lang="en-US" sz="1300" dirty="0"/>
          </a:p>
        </p:txBody>
      </p:sp>
      <p:sp>
        <p:nvSpPr>
          <p:cNvPr id="8" name="Shape 5"/>
          <p:cNvSpPr/>
          <p:nvPr/>
        </p:nvSpPr>
        <p:spPr>
          <a:xfrm rot="-180000">
            <a:off x="548640" y="1828800"/>
            <a:ext cx="1645920" cy="713232"/>
          </a:xfrm>
          <a:prstGeom prst="roundRect">
            <a:avLst>
              <a:gd name="adj" fmla="val 12821"/>
            </a:avLst>
          </a:prstGeom>
          <a:solidFill>
            <a:srgbClr val="FBEDEB"/>
          </a:solidFill>
          <a:ln w="22225">
            <a:solidFill>
              <a:srgbClr val="B83227"/>
            </a:solidFill>
            <a:prstDash val="solid"/>
          </a:ln>
        </p:spPr>
      </p:sp>
      <p:sp>
        <p:nvSpPr>
          <p:cNvPr id="9" name="Text 6"/>
          <p:cNvSpPr txBox="1"/>
          <p:nvPr/>
        </p:nvSpPr>
        <p:spPr>
          <a:xfrm rot="-180000">
            <a:off x="548640"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lopen</a:t>
            </a:r>
            <a:endParaRPr lang="en-US" sz="1700" dirty="0"/>
          </a:p>
        </p:txBody>
      </p:sp>
      <p:sp>
        <p:nvSpPr>
          <p:cNvPr id="10" name="Shape 7"/>
          <p:cNvSpPr/>
          <p:nvPr/>
        </p:nvSpPr>
        <p:spPr>
          <a:xfrm rot="120000">
            <a:off x="2304288" y="1828800"/>
            <a:ext cx="1645920" cy="713232"/>
          </a:xfrm>
          <a:prstGeom prst="roundRect">
            <a:avLst>
              <a:gd name="adj" fmla="val 12821"/>
            </a:avLst>
          </a:prstGeom>
          <a:solidFill>
            <a:srgbClr val="FBEDEB"/>
          </a:solidFill>
          <a:ln w="22225">
            <a:solidFill>
              <a:srgbClr val="B83227"/>
            </a:solidFill>
            <a:prstDash val="solid"/>
          </a:ln>
        </p:spPr>
      </p:sp>
      <p:sp>
        <p:nvSpPr>
          <p:cNvPr id="11" name="Text 8"/>
          <p:cNvSpPr txBox="1"/>
          <p:nvPr/>
        </p:nvSpPr>
        <p:spPr>
          <a:xfrm rot="120000">
            <a:off x="2304288"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rennen</a:t>
            </a:r>
            <a:endParaRPr lang="en-US" sz="1700" dirty="0"/>
          </a:p>
        </p:txBody>
      </p:sp>
      <p:sp>
        <p:nvSpPr>
          <p:cNvPr id="12" name="Shape 9"/>
          <p:cNvSpPr/>
          <p:nvPr/>
        </p:nvSpPr>
        <p:spPr>
          <a:xfrm rot="60000">
            <a:off x="548640" y="2651760"/>
            <a:ext cx="1645920" cy="713232"/>
          </a:xfrm>
          <a:prstGeom prst="roundRect">
            <a:avLst>
              <a:gd name="adj" fmla="val 12821"/>
            </a:avLst>
          </a:prstGeom>
          <a:solidFill>
            <a:srgbClr val="FBEDEB"/>
          </a:solidFill>
          <a:ln w="22225">
            <a:solidFill>
              <a:srgbClr val="B83227"/>
            </a:solidFill>
            <a:prstDash val="solid"/>
          </a:ln>
        </p:spPr>
      </p:sp>
      <p:sp>
        <p:nvSpPr>
          <p:cNvPr id="13" name="Text 10"/>
          <p:cNvSpPr txBox="1"/>
          <p:nvPr/>
        </p:nvSpPr>
        <p:spPr>
          <a:xfrm rot="60000">
            <a:off x="548640"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fietsen</a:t>
            </a:r>
            <a:endParaRPr lang="en-US" sz="1700" dirty="0"/>
          </a:p>
        </p:txBody>
      </p:sp>
      <p:sp>
        <p:nvSpPr>
          <p:cNvPr id="14" name="Shape 11"/>
          <p:cNvSpPr/>
          <p:nvPr/>
        </p:nvSpPr>
        <p:spPr>
          <a:xfrm rot="-120000">
            <a:off x="2304288" y="2651760"/>
            <a:ext cx="1645920" cy="713232"/>
          </a:xfrm>
          <a:prstGeom prst="roundRect">
            <a:avLst>
              <a:gd name="adj" fmla="val 12821"/>
            </a:avLst>
          </a:prstGeom>
          <a:solidFill>
            <a:srgbClr val="FBEDEB"/>
          </a:solidFill>
          <a:ln w="22225">
            <a:solidFill>
              <a:srgbClr val="B83227"/>
            </a:solidFill>
            <a:prstDash val="solid"/>
          </a:ln>
        </p:spPr>
      </p:sp>
      <p:sp>
        <p:nvSpPr>
          <p:cNvPr id="15" name="Text 12"/>
          <p:cNvSpPr txBox="1"/>
          <p:nvPr/>
        </p:nvSpPr>
        <p:spPr>
          <a:xfrm rot="-120000">
            <a:off x="2304288"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rijden</a:t>
            </a:r>
            <a:endParaRPr lang="en-US" sz="1700" dirty="0"/>
          </a:p>
        </p:txBody>
      </p:sp>
      <p:sp>
        <p:nvSpPr>
          <p:cNvPr id="16" name="Shape 13"/>
          <p:cNvSpPr/>
          <p:nvPr/>
        </p:nvSpPr>
        <p:spPr>
          <a:xfrm rot="-180000">
            <a:off x="548640" y="3474720"/>
            <a:ext cx="1645920" cy="713232"/>
          </a:xfrm>
          <a:prstGeom prst="roundRect">
            <a:avLst>
              <a:gd name="adj" fmla="val 12821"/>
            </a:avLst>
          </a:prstGeom>
          <a:solidFill>
            <a:srgbClr val="FBEDEB"/>
          </a:solidFill>
          <a:ln w="22225">
            <a:solidFill>
              <a:srgbClr val="B83227"/>
            </a:solidFill>
            <a:prstDash val="solid"/>
          </a:ln>
        </p:spPr>
      </p:sp>
      <p:sp>
        <p:nvSpPr>
          <p:cNvPr id="17" name="Text 14"/>
          <p:cNvSpPr txBox="1"/>
          <p:nvPr/>
        </p:nvSpPr>
        <p:spPr>
          <a:xfrm rot="-180000">
            <a:off x="548640"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zwemmen</a:t>
            </a:r>
            <a:endParaRPr lang="en-US" sz="1700" dirty="0"/>
          </a:p>
        </p:txBody>
      </p:sp>
      <p:sp>
        <p:nvSpPr>
          <p:cNvPr id="18" name="Shape 15"/>
          <p:cNvSpPr/>
          <p:nvPr/>
        </p:nvSpPr>
        <p:spPr>
          <a:xfrm rot="120000">
            <a:off x="2304288" y="3474720"/>
            <a:ext cx="1645920" cy="713232"/>
          </a:xfrm>
          <a:prstGeom prst="roundRect">
            <a:avLst>
              <a:gd name="adj" fmla="val 12821"/>
            </a:avLst>
          </a:prstGeom>
          <a:solidFill>
            <a:srgbClr val="FBEDEB"/>
          </a:solidFill>
          <a:ln w="22225">
            <a:solidFill>
              <a:srgbClr val="B83227"/>
            </a:solidFill>
            <a:prstDash val="solid"/>
          </a:ln>
        </p:spPr>
      </p:sp>
      <p:sp>
        <p:nvSpPr>
          <p:cNvPr id="19" name="Text 16"/>
          <p:cNvSpPr txBox="1"/>
          <p:nvPr/>
        </p:nvSpPr>
        <p:spPr>
          <a:xfrm rot="120000">
            <a:off x="2304288"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kruipen</a:t>
            </a:r>
            <a:endParaRPr lang="en-US" sz="1700" dirty="0"/>
          </a:p>
        </p:txBody>
      </p:sp>
      <p:sp>
        <p:nvSpPr>
          <p:cNvPr id="20" name="Shape 17"/>
          <p:cNvSpPr/>
          <p:nvPr/>
        </p:nvSpPr>
        <p:spPr>
          <a:xfrm rot="60000">
            <a:off x="548640" y="4297680"/>
            <a:ext cx="1645920" cy="713232"/>
          </a:xfrm>
          <a:prstGeom prst="roundRect">
            <a:avLst>
              <a:gd name="adj" fmla="val 12821"/>
            </a:avLst>
          </a:prstGeom>
          <a:solidFill>
            <a:srgbClr val="FBEDEB"/>
          </a:solidFill>
          <a:ln w="22225">
            <a:solidFill>
              <a:srgbClr val="B83227"/>
            </a:solidFill>
            <a:prstDash val="solid"/>
          </a:ln>
        </p:spPr>
      </p:sp>
      <p:sp>
        <p:nvSpPr>
          <p:cNvPr id="21" name="Text 18"/>
          <p:cNvSpPr txBox="1"/>
          <p:nvPr/>
        </p:nvSpPr>
        <p:spPr>
          <a:xfrm rot="60000">
            <a:off x="548640"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springen</a:t>
            </a:r>
            <a:endParaRPr lang="en-US" sz="1700" dirty="0"/>
          </a:p>
        </p:txBody>
      </p:sp>
      <p:sp>
        <p:nvSpPr>
          <p:cNvPr id="22" name="Shape 19"/>
          <p:cNvSpPr/>
          <p:nvPr/>
        </p:nvSpPr>
        <p:spPr>
          <a:xfrm rot="-120000">
            <a:off x="2304288" y="4297680"/>
            <a:ext cx="1645920" cy="713232"/>
          </a:xfrm>
          <a:prstGeom prst="roundRect">
            <a:avLst>
              <a:gd name="adj" fmla="val 12821"/>
            </a:avLst>
          </a:prstGeom>
          <a:solidFill>
            <a:srgbClr val="FBEDEB"/>
          </a:solidFill>
          <a:ln w="22225">
            <a:solidFill>
              <a:srgbClr val="B83227"/>
            </a:solidFill>
            <a:prstDash val="solid"/>
          </a:ln>
        </p:spPr>
      </p:sp>
      <p:sp>
        <p:nvSpPr>
          <p:cNvPr id="23" name="Text 20"/>
          <p:cNvSpPr txBox="1"/>
          <p:nvPr/>
        </p:nvSpPr>
        <p:spPr>
          <a:xfrm rot="-120000">
            <a:off x="2304288"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sluipen</a:t>
            </a:r>
            <a:endParaRPr lang="en-US" sz="1700" dirty="0"/>
          </a:p>
        </p:txBody>
      </p:sp>
      <p:sp>
        <p:nvSpPr>
          <p:cNvPr id="24" name="Shape 21"/>
          <p:cNvSpPr/>
          <p:nvPr/>
        </p:nvSpPr>
        <p:spPr>
          <a:xfrm rot="120000">
            <a:off x="4160520" y="1828800"/>
            <a:ext cx="1691640" cy="713232"/>
          </a:xfrm>
          <a:prstGeom prst="roundRect">
            <a:avLst>
              <a:gd name="adj" fmla="val 12821"/>
            </a:avLst>
          </a:prstGeom>
          <a:solidFill>
            <a:srgbClr val="FDF1E6"/>
          </a:solidFill>
          <a:ln w="22225">
            <a:solidFill>
              <a:srgbClr val="D9700F"/>
            </a:solidFill>
            <a:prstDash val="solid"/>
          </a:ln>
        </p:spPr>
      </p:sp>
      <p:sp>
        <p:nvSpPr>
          <p:cNvPr id="25" name="Text 22"/>
          <p:cNvSpPr txBox="1"/>
          <p:nvPr/>
        </p:nvSpPr>
        <p:spPr>
          <a:xfrm rot="120000">
            <a:off x="420624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vergaderzaal in</a:t>
            </a:r>
            <a:endParaRPr lang="en-US" sz="1400" dirty="0"/>
          </a:p>
        </p:txBody>
      </p:sp>
      <p:sp>
        <p:nvSpPr>
          <p:cNvPr id="26" name="Shape 23"/>
          <p:cNvSpPr/>
          <p:nvPr/>
        </p:nvSpPr>
        <p:spPr>
          <a:xfrm rot="-120000">
            <a:off x="5943600" y="1828800"/>
            <a:ext cx="1691640" cy="713232"/>
          </a:xfrm>
          <a:prstGeom prst="roundRect">
            <a:avLst>
              <a:gd name="adj" fmla="val 12821"/>
            </a:avLst>
          </a:prstGeom>
          <a:solidFill>
            <a:srgbClr val="FDF1E6"/>
          </a:solidFill>
          <a:ln w="22225">
            <a:solidFill>
              <a:srgbClr val="D9700F"/>
            </a:solidFill>
            <a:prstDash val="solid"/>
          </a:ln>
        </p:spPr>
      </p:sp>
      <p:sp>
        <p:nvSpPr>
          <p:cNvPr id="27" name="Text 24"/>
          <p:cNvSpPr txBox="1"/>
          <p:nvPr/>
        </p:nvSpPr>
        <p:spPr>
          <a:xfrm rot="-120000">
            <a:off x="598932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trap op</a:t>
            </a:r>
            <a:endParaRPr lang="en-US" sz="1400" dirty="0"/>
          </a:p>
        </p:txBody>
      </p:sp>
      <p:sp>
        <p:nvSpPr>
          <p:cNvPr id="28" name="Shape 25"/>
          <p:cNvSpPr/>
          <p:nvPr/>
        </p:nvSpPr>
        <p:spPr>
          <a:xfrm rot="-60000">
            <a:off x="4160520" y="2651760"/>
            <a:ext cx="1691640" cy="713232"/>
          </a:xfrm>
          <a:prstGeom prst="roundRect">
            <a:avLst>
              <a:gd name="adj" fmla="val 12821"/>
            </a:avLst>
          </a:prstGeom>
          <a:solidFill>
            <a:srgbClr val="FDF1E6"/>
          </a:solidFill>
          <a:ln w="22225">
            <a:solidFill>
              <a:srgbClr val="D9700F"/>
            </a:solidFill>
            <a:prstDash val="solid"/>
          </a:ln>
        </p:spPr>
      </p:sp>
      <p:sp>
        <p:nvSpPr>
          <p:cNvPr id="29" name="Text 26"/>
          <p:cNvSpPr txBox="1"/>
          <p:nvPr/>
        </p:nvSpPr>
        <p:spPr>
          <a:xfrm rot="-60000">
            <a:off x="420624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gang door</a:t>
            </a:r>
            <a:endParaRPr lang="en-US" sz="1400" dirty="0"/>
          </a:p>
        </p:txBody>
      </p:sp>
      <p:sp>
        <p:nvSpPr>
          <p:cNvPr id="30" name="Shape 27"/>
          <p:cNvSpPr/>
          <p:nvPr/>
        </p:nvSpPr>
        <p:spPr>
          <a:xfrm rot="180000">
            <a:off x="5943600" y="2651760"/>
            <a:ext cx="1691640" cy="713232"/>
          </a:xfrm>
          <a:prstGeom prst="roundRect">
            <a:avLst>
              <a:gd name="adj" fmla="val 12821"/>
            </a:avLst>
          </a:prstGeom>
          <a:solidFill>
            <a:srgbClr val="FDF1E6"/>
          </a:solidFill>
          <a:ln w="22225">
            <a:solidFill>
              <a:srgbClr val="D9700F"/>
            </a:solidFill>
            <a:prstDash val="solid"/>
          </a:ln>
        </p:spPr>
      </p:sp>
      <p:sp>
        <p:nvSpPr>
          <p:cNvPr id="31" name="Text 28"/>
          <p:cNvSpPr txBox="1"/>
          <p:nvPr/>
        </p:nvSpPr>
        <p:spPr>
          <a:xfrm rot="180000">
            <a:off x="598932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lift uit</a:t>
            </a:r>
            <a:endParaRPr lang="en-US" sz="1400" dirty="0"/>
          </a:p>
        </p:txBody>
      </p:sp>
      <p:sp>
        <p:nvSpPr>
          <p:cNvPr id="32" name="Shape 29"/>
          <p:cNvSpPr/>
          <p:nvPr/>
        </p:nvSpPr>
        <p:spPr>
          <a:xfrm rot="120000">
            <a:off x="4160520" y="3474720"/>
            <a:ext cx="1691640" cy="713232"/>
          </a:xfrm>
          <a:prstGeom prst="roundRect">
            <a:avLst>
              <a:gd name="adj" fmla="val 12821"/>
            </a:avLst>
          </a:prstGeom>
          <a:solidFill>
            <a:srgbClr val="FDF1E6"/>
          </a:solidFill>
          <a:ln w="22225">
            <a:solidFill>
              <a:srgbClr val="D9700F"/>
            </a:solidFill>
            <a:prstDash val="solid"/>
          </a:ln>
        </p:spPr>
      </p:sp>
      <p:sp>
        <p:nvSpPr>
          <p:cNvPr id="33" name="Text 30"/>
          <p:cNvSpPr txBox="1"/>
          <p:nvPr/>
        </p:nvSpPr>
        <p:spPr>
          <a:xfrm rot="120000">
            <a:off x="420624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hoek om</a:t>
            </a:r>
            <a:endParaRPr lang="en-US" sz="1400" dirty="0"/>
          </a:p>
        </p:txBody>
      </p:sp>
      <p:sp>
        <p:nvSpPr>
          <p:cNvPr id="34" name="Shape 31"/>
          <p:cNvSpPr/>
          <p:nvPr/>
        </p:nvSpPr>
        <p:spPr>
          <a:xfrm rot="-120000">
            <a:off x="5943600" y="3474720"/>
            <a:ext cx="1691640" cy="713232"/>
          </a:xfrm>
          <a:prstGeom prst="roundRect">
            <a:avLst>
              <a:gd name="adj" fmla="val 12821"/>
            </a:avLst>
          </a:prstGeom>
          <a:solidFill>
            <a:srgbClr val="FDF1E6"/>
          </a:solidFill>
          <a:ln w="22225">
            <a:solidFill>
              <a:srgbClr val="D9700F"/>
            </a:solidFill>
            <a:prstDash val="solid"/>
          </a:ln>
        </p:spPr>
      </p:sp>
      <p:sp>
        <p:nvSpPr>
          <p:cNvPr id="35" name="Text 32"/>
          <p:cNvSpPr txBox="1"/>
          <p:nvPr/>
        </p:nvSpPr>
        <p:spPr>
          <a:xfrm rot="-120000">
            <a:off x="598932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parking op</a:t>
            </a:r>
            <a:endParaRPr lang="en-US" sz="1400" dirty="0"/>
          </a:p>
        </p:txBody>
      </p:sp>
      <p:sp>
        <p:nvSpPr>
          <p:cNvPr id="36" name="Shape 33"/>
          <p:cNvSpPr/>
          <p:nvPr/>
        </p:nvSpPr>
        <p:spPr>
          <a:xfrm rot="-60000">
            <a:off x="4160520" y="4297680"/>
            <a:ext cx="1691640" cy="713232"/>
          </a:xfrm>
          <a:prstGeom prst="roundRect">
            <a:avLst>
              <a:gd name="adj" fmla="val 12821"/>
            </a:avLst>
          </a:prstGeom>
          <a:solidFill>
            <a:srgbClr val="FDF1E6"/>
          </a:solidFill>
          <a:ln w="22225">
            <a:solidFill>
              <a:srgbClr val="D9700F"/>
            </a:solidFill>
            <a:prstDash val="solid"/>
          </a:ln>
        </p:spPr>
      </p:sp>
      <p:sp>
        <p:nvSpPr>
          <p:cNvPr id="37" name="Text 34"/>
          <p:cNvSpPr txBox="1"/>
          <p:nvPr/>
        </p:nvSpPr>
        <p:spPr>
          <a:xfrm rot="-60000">
            <a:off x="420624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het kantoor uit</a:t>
            </a:r>
            <a:endParaRPr lang="en-US" sz="1400" dirty="0"/>
          </a:p>
        </p:txBody>
      </p:sp>
      <p:sp>
        <p:nvSpPr>
          <p:cNvPr id="38" name="Shape 35"/>
          <p:cNvSpPr/>
          <p:nvPr/>
        </p:nvSpPr>
        <p:spPr>
          <a:xfrm rot="180000">
            <a:off x="5943600" y="4297680"/>
            <a:ext cx="1691640" cy="713232"/>
          </a:xfrm>
          <a:prstGeom prst="roundRect">
            <a:avLst>
              <a:gd name="adj" fmla="val 12821"/>
            </a:avLst>
          </a:prstGeom>
          <a:solidFill>
            <a:srgbClr val="FDF1E6"/>
          </a:solidFill>
          <a:ln w="22225">
            <a:solidFill>
              <a:srgbClr val="D9700F"/>
            </a:solidFill>
            <a:prstDash val="solid"/>
          </a:ln>
        </p:spPr>
      </p:sp>
      <p:sp>
        <p:nvSpPr>
          <p:cNvPr id="39" name="Text 36"/>
          <p:cNvSpPr txBox="1"/>
          <p:nvPr/>
        </p:nvSpPr>
        <p:spPr>
          <a:xfrm rot="180000">
            <a:off x="598932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straat over</a:t>
            </a:r>
            <a:endParaRPr lang="en-US" sz="1400" dirty="0"/>
          </a:p>
        </p:txBody>
      </p:sp>
      <p:pic>
        <p:nvPicPr>
          <p:cNvPr id="40" name="Image 0" descr="game die">    </p:cNvPr>
          <p:cNvPicPr>
            <a:picLocks noChangeAspect="1"/>
          </p:cNvPicPr>
          <p:nvPr/>
        </p:nvPicPr>
        <p:blipFill>
          <a:blip r:embed="rId1"/>
          <a:stretch>
            <a:fillRect/>
          </a:stretch>
        </p:blipFill>
        <p:spPr>
          <a:xfrm>
            <a:off x="8001000" y="1554480"/>
            <a:ext cx="731520" cy="731520"/>
          </a:xfrm>
          <a:prstGeom prst="rect">
            <a:avLst/>
          </a:prstGeom>
        </p:spPr>
      </p:pic>
      <p:sp>
        <p:nvSpPr>
          <p:cNvPr id="41" name="Text 37"/>
          <p:cNvSpPr txBox="1"/>
          <p:nvPr/>
        </p:nvSpPr>
        <p:spPr>
          <a:xfrm>
            <a:off x="8823960" y="1554480"/>
            <a:ext cx="2743200" cy="7315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Kruip!</a:t>
            </a:r>
            <a:endParaRPr lang="en-US" sz="2800" dirty="0"/>
          </a:p>
        </p:txBody>
      </p:sp>
      <p:sp>
        <p:nvSpPr>
          <p:cNvPr id="42" name="Text 38"/>
          <p:cNvSpPr txBox="1"/>
          <p:nvPr/>
        </p:nvSpPr>
        <p:spPr>
          <a:xfrm>
            <a:off x="8001000" y="2423160"/>
            <a:ext cx="36393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carte-verbe et une carte-trajet.</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Dites la phrase avec un sujet : </a:t>
            </a:r>
            <a:r>
              <a:rPr lang="en-US" sz="1500" i="1" dirty="0">
                <a:solidFill>
                  <a:schemeClr val="tx1"/>
                </a:solidFill>
              </a:rPr>
              <a:t>De directeur </a:t>
            </a:r>
            <a:r>
              <a:rPr lang="en-US" sz="1500" b="1" i="1" dirty="0">
                <a:solidFill>
                  <a:schemeClr val="tx1"/>
                </a:solidFill>
              </a:rPr>
              <a:t>kruipt</a:t>
            </a:r>
            <a:r>
              <a:rPr lang="en-US" sz="1500" i="1" dirty="0">
                <a:solidFill>
                  <a:schemeClr val="tx1"/>
                </a:solidFill>
              </a:rPr>
              <a:t> de vergaderzaal </a:t>
            </a:r>
            <a:r>
              <a:rPr lang="en-US" sz="1500" b="1" i="1" dirty="0">
                <a:solidFill>
                  <a:schemeClr val="tx1"/>
                </a:solidFill>
              </a:rPr>
              <a:t>in</a:t>
            </a:r>
            <a:r>
              <a:rPr lang="en-US" sz="1500" i="1" dirty="0">
                <a:solidFill>
                  <a:schemeClr val="tx1"/>
                </a:solidFill>
              </a:rPr>
              <a:t>!</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Le groupe mime, puis passe au passé composé : </a:t>
            </a:r>
            <a:r>
              <a:rPr lang="en-US" sz="1500" i="1" dirty="0">
                <a:solidFill>
                  <a:schemeClr val="tx1"/>
                </a:solidFill>
              </a:rPr>
              <a:t>De directeur </a:t>
            </a:r>
            <a:r>
              <a:rPr lang="en-US" sz="1500" b="1" i="1" dirty="0">
                <a:solidFill>
                  <a:schemeClr val="tx1"/>
                </a:solidFill>
              </a:rPr>
              <a:t>is</a:t>
            </a:r>
            <a:r>
              <a:rPr lang="en-US" sz="1500" i="1" dirty="0">
                <a:solidFill>
                  <a:schemeClr val="tx1"/>
                </a:solidFill>
              </a:rPr>
              <a:t> de vergaderzaal in </a:t>
            </a:r>
            <a:r>
              <a:rPr lang="en-US" sz="1500" b="1" i="1" dirty="0">
                <a:solidFill>
                  <a:schemeClr val="tx1"/>
                </a:solidFill>
              </a:rPr>
              <a:t>gekropen</a:t>
            </a:r>
            <a:r>
              <a:rPr lang="en-US" sz="1500" i="1" dirty="0">
                <a:solidFill>
                  <a:schemeClr val="tx1"/>
                </a:solidFill>
              </a:rPr>
              <a:t>.</a:t>
            </a:r>
            <a:endParaRPr lang="en-US" sz="1500" dirty="0"/>
          </a:p>
          <a:p>
            <a:pPr algn="l" indent="0" marL="0">
              <a:spcAft>
                <a:spcPts val="800"/>
              </a:spcAft>
              <a:buNone/>
            </a:pPr>
            <a:r>
              <a:rPr lang="en-US" sz="1500" dirty="0">
                <a:solidFill>
                  <a:schemeClr val="tx1"/>
                </a:solidFill>
              </a:rPr>
              <a:t>Les phrases absurdes sont permises… si elles sont correctes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visiteur perdu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Un visiteur arrive à l’accueil de Peeters &amp; Co et cherche une pièce. L’accueil explique le chemin ; le visiteur répète pour vérifier.</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L’accueil</a:t>
            </a:r>
            <a:r>
              <a:rPr lang="en-US" sz="1700" dirty="0">
                <a:solidFill>
                  <a:schemeClr val="tx1"/>
                </a:solidFill>
              </a:rPr>
              <a:t> : saluez, demandez qui il ou elle vient voir, expliquez le chemin avec au moins deux </a:t>
            </a:r>
            <a:r>
              <a:rPr lang="en-US" sz="1700" i="1" dirty="0">
                <a:solidFill>
                  <a:schemeClr val="tx1"/>
                </a:solidFill>
              </a:rPr>
              <a:t>achterzetsels</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Le visiteur</a:t>
            </a:r>
            <a:r>
              <a:rPr lang="en-US" sz="1700" dirty="0">
                <a:solidFill>
                  <a:schemeClr val="tx1"/>
                </a:solidFill>
              </a:rPr>
              <a:t> : présentez-vous, dites qui vous cherchez, répétez le chemin : </a:t>
            </a:r>
            <a:r>
              <a:rPr lang="en-US" sz="1700" i="1" dirty="0">
                <a:solidFill>
                  <a:schemeClr val="tx1"/>
                </a:solidFill>
              </a:rPr>
              <a:t>Dus ik loop…</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kan ik u helpen? · Ik heb een afspraak met… · U loopt de gang in / door. · U gaat de hoek om. · U loopt de trap op. · Het is de eerste deur links / rechts. · Dus ik loop… · Dank u wel!</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457200"/>
          </a:xfrm>
          <a:prstGeom prst="roundRect">
            <a:avLst>
              <a:gd name="adj" fmla="val 8000"/>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457200"/>
          </a:xfrm>
          <a:prstGeom prst="rect">
            <a:avLst/>
          </a:prstGeom>
          <a:noFill/>
          <a:ln/>
        </p:spPr>
        <p:txBody>
          <a:bodyPr wrap="square" lIns="0" tIns="0" rIns="0" bIns="0" rtlCol="0" anchor="ctr"/>
          <a:lstStyle/>
          <a:p>
            <a:pPr algn="l" indent="0" marL="0">
              <a:buNone/>
            </a:pPr>
            <a:r>
              <a:rPr lang="en-US" sz="1200" b="1" spc="100" kern="0" dirty="0">
                <a:solidFill>
                  <a:schemeClr val="bg1"/>
                </a:solidFill>
              </a:rPr>
              <a:t>PEETERS &amp; CO · GELIJKVLOERS</a:t>
            </a:r>
            <a:endParaRPr lang="en-US" sz="1200" dirty="0"/>
          </a:p>
        </p:txBody>
      </p:sp>
      <p:sp>
        <p:nvSpPr>
          <p:cNvPr id="22" name="Shape 19"/>
          <p:cNvSpPr/>
          <p:nvPr/>
        </p:nvSpPr>
        <p:spPr>
          <a:xfrm>
            <a:off x="8165592" y="2953512"/>
            <a:ext cx="507492" cy="1545336"/>
          </a:xfrm>
          <a:prstGeom prst="roundRect">
            <a:avLst>
              <a:gd name="adj" fmla="val 7207"/>
            </a:avLst>
          </a:prstGeom>
          <a:solidFill>
            <a:srgbClr val="E6EBF2"/>
          </a:solidFill>
          <a:ln w="12700">
            <a:solidFill>
              <a:srgbClr val="4A5A70"/>
            </a:solidFill>
            <a:prstDash val="dash"/>
          </a:ln>
        </p:spPr>
      </p:sp>
      <p:sp>
        <p:nvSpPr>
          <p:cNvPr id="23" name="Text 20"/>
          <p:cNvSpPr txBox="1"/>
          <p:nvPr/>
        </p:nvSpPr>
        <p:spPr>
          <a:xfrm>
            <a:off x="8165592" y="3503981"/>
            <a:ext cx="507492" cy="457200"/>
          </a:xfrm>
          <a:prstGeom prst="rect">
            <a:avLst/>
          </a:prstGeom>
          <a:noFill/>
          <a:ln/>
        </p:spPr>
        <p:txBody>
          <a:bodyPr wrap="square" lIns="0" tIns="0" rIns="0" bIns="0" rtlCol="0" anchor="t"/>
          <a:lstStyle/>
          <a:p>
            <a:pPr algn="ctr" indent="0" marL="0">
              <a:buNone/>
            </a:pPr>
            <a:r>
              <a:rPr lang="en-US" sz="600" i="1" dirty="0">
                <a:solidFill>
                  <a:schemeClr val="accent5"/>
                </a:solidFill>
              </a:rPr>
              <a:t>parking</a:t>
            </a:r>
            <a:endParaRPr lang="en-US" sz="600" dirty="0"/>
          </a:p>
        </p:txBody>
      </p:sp>
      <p:sp>
        <p:nvSpPr>
          <p:cNvPr id="24" name="Shape 21"/>
          <p:cNvSpPr/>
          <p:nvPr/>
        </p:nvSpPr>
        <p:spPr>
          <a:xfrm>
            <a:off x="8782812" y="2121408"/>
            <a:ext cx="2766060" cy="2377440"/>
          </a:xfrm>
          <a:prstGeom prst="rect">
            <a:avLst/>
          </a:prstGeom>
          <a:solidFill>
            <a:srgbClr val="FFFFFF"/>
          </a:solidFill>
          <a:ln w="31750">
            <a:solidFill>
              <a:srgbClr val="17375E"/>
            </a:solidFill>
            <a:prstDash val="solid"/>
          </a:ln>
        </p:spPr>
      </p:sp>
      <p:sp>
        <p:nvSpPr>
          <p:cNvPr id="25" name="Shape 22"/>
          <p:cNvSpPr/>
          <p:nvPr/>
        </p:nvSpPr>
        <p:spPr>
          <a:xfrm>
            <a:off x="9253042" y="3024835"/>
            <a:ext cx="2295830" cy="570586"/>
          </a:xfrm>
          <a:prstGeom prst="rect">
            <a:avLst/>
          </a:prstGeom>
          <a:solidFill>
            <a:srgbClr val="EEF1F6"/>
          </a:solidFill>
          <a:ln w="12700">
            <a:solidFill>
              <a:srgbClr val="FFFFFF">
                <a:alpha val="0"/>
              </a:srgbClr>
            </a:solidFill>
            <a:prstDash val="solid"/>
          </a:ln>
        </p:spPr>
      </p:sp>
      <p:sp>
        <p:nvSpPr>
          <p:cNvPr id="26" name="Text 23"/>
          <p:cNvSpPr txBox="1"/>
          <p:nvPr/>
        </p:nvSpPr>
        <p:spPr>
          <a:xfrm>
            <a:off x="9916897" y="3024835"/>
            <a:ext cx="663854" cy="570586"/>
          </a:xfrm>
          <a:prstGeom prst="rect">
            <a:avLst/>
          </a:prstGeom>
          <a:noFill/>
          <a:ln/>
        </p:spPr>
        <p:txBody>
          <a:bodyPr wrap="square" lIns="0" tIns="0" rIns="0" bIns="0" rtlCol="0" anchor="ctr"/>
          <a:lstStyle/>
          <a:p>
            <a:pPr algn="ctr" indent="0" marL="0">
              <a:buNone/>
            </a:pPr>
            <a:r>
              <a:rPr lang="en-US" sz="600" i="1" dirty="0">
                <a:solidFill>
                  <a:schemeClr val="accent5"/>
                </a:solidFill>
              </a:rPr>
              <a:t>gang</a:t>
            </a:r>
            <a:endParaRPr lang="en-US" sz="600" dirty="0"/>
          </a:p>
        </p:txBody>
      </p:sp>
      <p:sp>
        <p:nvSpPr>
          <p:cNvPr id="27" name="Shape 24"/>
          <p:cNvSpPr/>
          <p:nvPr/>
        </p:nvSpPr>
        <p:spPr>
          <a:xfrm>
            <a:off x="8782812" y="2121408"/>
            <a:ext cx="470230" cy="2377440"/>
          </a:xfrm>
          <a:prstGeom prst="rect">
            <a:avLst/>
          </a:prstGeom>
          <a:solidFill>
            <a:srgbClr val="FDF1E6"/>
          </a:solidFill>
          <a:ln w="12700">
            <a:solidFill>
              <a:srgbClr val="FFFFFF">
                <a:alpha val="0"/>
              </a:srgbClr>
            </a:solidFill>
            <a:prstDash val="solid"/>
          </a:ln>
        </p:spPr>
      </p:sp>
      <p:sp>
        <p:nvSpPr>
          <p:cNvPr id="28" name="Shape 25"/>
          <p:cNvSpPr/>
          <p:nvPr/>
        </p:nvSpPr>
        <p:spPr>
          <a:xfrm>
            <a:off x="8867453" y="2711013"/>
            <a:ext cx="103451" cy="1198230"/>
          </a:xfrm>
          <a:prstGeom prst="roundRect">
            <a:avLst>
              <a:gd name="adj" fmla="val 35356"/>
            </a:avLst>
          </a:prstGeom>
          <a:solidFill>
            <a:schemeClr val="accent1">
              <a:alpha val="65000"/>
            </a:schemeClr>
          </a:solidFill>
          <a:ln w="12700">
            <a:solidFill>
              <a:srgbClr val="FFFFFF">
                <a:alpha val="0"/>
              </a:srgbClr>
            </a:solidFill>
            <a:prstDash val="solid"/>
          </a:ln>
        </p:spPr>
      </p:sp>
      <p:sp>
        <p:nvSpPr>
          <p:cNvPr id="29" name="Text 26"/>
          <p:cNvSpPr txBox="1"/>
          <p:nvPr/>
        </p:nvSpPr>
        <p:spPr>
          <a:xfrm>
            <a:off x="8819388" y="2176272"/>
            <a:ext cx="397078" cy="722742"/>
          </a:xfrm>
          <a:prstGeom prst="rect">
            <a:avLst/>
          </a:prstGeom>
          <a:noFill/>
          <a:ln/>
        </p:spPr>
        <p:txBody>
          <a:bodyPr wrap="square" lIns="0" tIns="0" rIns="0" bIns="0" rtlCol="0" anchor="t"/>
          <a:lstStyle/>
          <a:p>
            <a:pPr algn="ctr" indent="0" marL="0">
              <a:buNone/>
            </a:pPr>
            <a:r>
              <a:rPr lang="en-US" sz="600" b="1" dirty="0">
                <a:solidFill>
                  <a:schemeClr val="accent1"/>
                </a:solidFill>
              </a:rPr>
              <a:t>onthaal</a:t>
            </a:r>
            <a:endParaRPr lang="en-US" sz="600" dirty="0"/>
          </a:p>
        </p:txBody>
      </p:sp>
      <p:sp>
        <p:nvSpPr>
          <p:cNvPr id="30" name="Shape 27"/>
          <p:cNvSpPr/>
          <p:nvPr/>
        </p:nvSpPr>
        <p:spPr>
          <a:xfrm>
            <a:off x="8737092" y="3110423"/>
            <a:ext cx="91440" cy="399410"/>
          </a:xfrm>
          <a:prstGeom prst="rect">
            <a:avLst/>
          </a:prstGeom>
          <a:solidFill>
            <a:srgbClr val="FFFFFF"/>
          </a:solidFill>
          <a:ln w="12700">
            <a:solidFill>
              <a:srgbClr val="FFFFFF">
                <a:alpha val="0"/>
              </a:srgbClr>
            </a:solidFill>
            <a:prstDash val="solid"/>
          </a:ln>
        </p:spPr>
      </p:sp>
      <p:sp>
        <p:nvSpPr>
          <p:cNvPr id="31" name="Shape 28"/>
          <p:cNvSpPr/>
          <p:nvPr/>
        </p:nvSpPr>
        <p:spPr>
          <a:xfrm>
            <a:off x="9253042" y="2121408"/>
            <a:ext cx="663854" cy="903427"/>
          </a:xfrm>
          <a:prstGeom prst="rect">
            <a:avLst/>
          </a:prstGeom>
          <a:solidFill>
            <a:srgbClr val="FFFFFF"/>
          </a:solidFill>
          <a:ln w="19050">
            <a:solidFill>
              <a:srgbClr val="17375E"/>
            </a:solidFill>
            <a:prstDash val="solid"/>
          </a:ln>
        </p:spPr>
      </p:sp>
      <p:sp>
        <p:nvSpPr>
          <p:cNvPr id="32" name="Shape 29"/>
          <p:cNvSpPr/>
          <p:nvPr/>
        </p:nvSpPr>
        <p:spPr>
          <a:xfrm>
            <a:off x="9485391" y="2988259"/>
            <a:ext cx="199156" cy="73152"/>
          </a:xfrm>
          <a:prstGeom prst="rect">
            <a:avLst/>
          </a:prstGeom>
          <a:solidFill>
            <a:srgbClr val="EEF1F6"/>
          </a:solidFill>
          <a:ln w="12700">
            <a:solidFill>
              <a:srgbClr val="FFFFFF">
                <a:alpha val="0"/>
              </a:srgbClr>
            </a:solidFill>
            <a:prstDash val="solid"/>
          </a:ln>
        </p:spPr>
      </p:sp>
      <p:sp>
        <p:nvSpPr>
          <p:cNvPr id="33" name="Text 30"/>
          <p:cNvSpPr txBox="1"/>
          <p:nvPr/>
        </p:nvSpPr>
        <p:spPr>
          <a:xfrm>
            <a:off x="9289618"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vergaderzaal</a:t>
            </a:r>
            <a:endParaRPr lang="en-US" sz="700" dirty="0"/>
          </a:p>
        </p:txBody>
      </p:sp>
      <p:sp>
        <p:nvSpPr>
          <p:cNvPr id="34" name="Shape 31"/>
          <p:cNvSpPr/>
          <p:nvPr/>
        </p:nvSpPr>
        <p:spPr>
          <a:xfrm>
            <a:off x="9916897" y="2121408"/>
            <a:ext cx="663854" cy="903427"/>
          </a:xfrm>
          <a:prstGeom prst="rect">
            <a:avLst/>
          </a:prstGeom>
          <a:solidFill>
            <a:srgbClr val="FFFFFF"/>
          </a:solidFill>
          <a:ln w="19050">
            <a:solidFill>
              <a:srgbClr val="17375E"/>
            </a:solidFill>
            <a:prstDash val="solid"/>
          </a:ln>
        </p:spPr>
      </p:sp>
      <p:sp>
        <p:nvSpPr>
          <p:cNvPr id="35" name="Shape 32"/>
          <p:cNvSpPr/>
          <p:nvPr/>
        </p:nvSpPr>
        <p:spPr>
          <a:xfrm>
            <a:off x="10149246" y="2988259"/>
            <a:ext cx="199156" cy="73152"/>
          </a:xfrm>
          <a:prstGeom prst="rect">
            <a:avLst/>
          </a:prstGeom>
          <a:solidFill>
            <a:srgbClr val="EEF1F6"/>
          </a:solidFill>
          <a:ln w="12700">
            <a:solidFill>
              <a:srgbClr val="FFFFFF">
                <a:alpha val="0"/>
              </a:srgbClr>
            </a:solidFill>
            <a:prstDash val="solid"/>
          </a:ln>
        </p:spPr>
      </p:sp>
      <p:sp>
        <p:nvSpPr>
          <p:cNvPr id="36" name="Text 33"/>
          <p:cNvSpPr txBox="1"/>
          <p:nvPr/>
        </p:nvSpPr>
        <p:spPr>
          <a:xfrm>
            <a:off x="9953473"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kopieerlokaal</a:t>
            </a:r>
            <a:endParaRPr lang="en-US" sz="700" dirty="0"/>
          </a:p>
        </p:txBody>
      </p:sp>
      <p:sp>
        <p:nvSpPr>
          <p:cNvPr id="37" name="Shape 34"/>
          <p:cNvSpPr/>
          <p:nvPr/>
        </p:nvSpPr>
        <p:spPr>
          <a:xfrm>
            <a:off x="10580751" y="2121408"/>
            <a:ext cx="663854" cy="903427"/>
          </a:xfrm>
          <a:prstGeom prst="rect">
            <a:avLst/>
          </a:prstGeom>
          <a:solidFill>
            <a:srgbClr val="FFFFFF"/>
          </a:solidFill>
          <a:ln w="19050">
            <a:solidFill>
              <a:srgbClr val="17375E"/>
            </a:solidFill>
            <a:prstDash val="solid"/>
          </a:ln>
        </p:spPr>
      </p:sp>
      <p:sp>
        <p:nvSpPr>
          <p:cNvPr id="38" name="Shape 35"/>
          <p:cNvSpPr/>
          <p:nvPr/>
        </p:nvSpPr>
        <p:spPr>
          <a:xfrm>
            <a:off x="10813100" y="2988259"/>
            <a:ext cx="199156" cy="73152"/>
          </a:xfrm>
          <a:prstGeom prst="rect">
            <a:avLst/>
          </a:prstGeom>
          <a:solidFill>
            <a:srgbClr val="EEF1F6"/>
          </a:solidFill>
          <a:ln w="12700">
            <a:solidFill>
              <a:srgbClr val="FFFFFF">
                <a:alpha val="0"/>
              </a:srgbClr>
            </a:solidFill>
            <a:prstDash val="solid"/>
          </a:ln>
        </p:spPr>
      </p:sp>
      <p:sp>
        <p:nvSpPr>
          <p:cNvPr id="39" name="Text 36"/>
          <p:cNvSpPr txBox="1"/>
          <p:nvPr/>
        </p:nvSpPr>
        <p:spPr>
          <a:xfrm>
            <a:off x="10617327"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toiletten</a:t>
            </a:r>
            <a:endParaRPr lang="en-US" sz="700" dirty="0"/>
          </a:p>
        </p:txBody>
      </p:sp>
      <p:sp>
        <p:nvSpPr>
          <p:cNvPr id="40" name="Shape 37"/>
          <p:cNvSpPr/>
          <p:nvPr/>
        </p:nvSpPr>
        <p:spPr>
          <a:xfrm>
            <a:off x="9253042" y="3595421"/>
            <a:ext cx="663854" cy="903427"/>
          </a:xfrm>
          <a:prstGeom prst="rect">
            <a:avLst/>
          </a:prstGeom>
          <a:solidFill>
            <a:srgbClr val="FFFFFF"/>
          </a:solidFill>
          <a:ln w="19050">
            <a:solidFill>
              <a:srgbClr val="17375E"/>
            </a:solidFill>
            <a:prstDash val="solid"/>
          </a:ln>
        </p:spPr>
      </p:sp>
      <p:sp>
        <p:nvSpPr>
          <p:cNvPr id="41" name="Shape 38"/>
          <p:cNvSpPr/>
          <p:nvPr/>
        </p:nvSpPr>
        <p:spPr>
          <a:xfrm>
            <a:off x="9485391" y="3558845"/>
            <a:ext cx="199156" cy="73152"/>
          </a:xfrm>
          <a:prstGeom prst="rect">
            <a:avLst/>
          </a:prstGeom>
          <a:solidFill>
            <a:srgbClr val="EEF1F6"/>
          </a:solidFill>
          <a:ln w="12700">
            <a:solidFill>
              <a:srgbClr val="FFFFFF">
                <a:alpha val="0"/>
              </a:srgbClr>
            </a:solidFill>
            <a:prstDash val="solid"/>
          </a:ln>
        </p:spPr>
      </p:sp>
      <p:sp>
        <p:nvSpPr>
          <p:cNvPr id="42" name="Text 39"/>
          <p:cNvSpPr txBox="1"/>
          <p:nvPr/>
        </p:nvSpPr>
        <p:spPr>
          <a:xfrm>
            <a:off x="9289618"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kantoor</a:t>
            </a:r>
            <a:endParaRPr lang="en-US" sz="700" dirty="0"/>
          </a:p>
        </p:txBody>
      </p:sp>
      <p:sp>
        <p:nvSpPr>
          <p:cNvPr id="43" name="Shape 40"/>
          <p:cNvSpPr/>
          <p:nvPr/>
        </p:nvSpPr>
        <p:spPr>
          <a:xfrm>
            <a:off x="9916897" y="3595421"/>
            <a:ext cx="663854" cy="903427"/>
          </a:xfrm>
          <a:prstGeom prst="rect">
            <a:avLst/>
          </a:prstGeom>
          <a:solidFill>
            <a:srgbClr val="FFFFFF"/>
          </a:solidFill>
          <a:ln w="19050">
            <a:solidFill>
              <a:srgbClr val="17375E"/>
            </a:solidFill>
            <a:prstDash val="solid"/>
          </a:ln>
        </p:spPr>
      </p:sp>
      <p:sp>
        <p:nvSpPr>
          <p:cNvPr id="44" name="Shape 41"/>
          <p:cNvSpPr/>
          <p:nvPr/>
        </p:nvSpPr>
        <p:spPr>
          <a:xfrm>
            <a:off x="10149246" y="3558845"/>
            <a:ext cx="199156" cy="73152"/>
          </a:xfrm>
          <a:prstGeom prst="rect">
            <a:avLst/>
          </a:prstGeom>
          <a:solidFill>
            <a:srgbClr val="EEF1F6"/>
          </a:solidFill>
          <a:ln w="12700">
            <a:solidFill>
              <a:srgbClr val="FFFFFF">
                <a:alpha val="0"/>
              </a:srgbClr>
            </a:solidFill>
            <a:prstDash val="solid"/>
          </a:ln>
        </p:spPr>
      </p:sp>
      <p:sp>
        <p:nvSpPr>
          <p:cNvPr id="45" name="Text 42"/>
          <p:cNvSpPr txBox="1"/>
          <p:nvPr/>
        </p:nvSpPr>
        <p:spPr>
          <a:xfrm>
            <a:off x="9953473"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keuken</a:t>
            </a:r>
            <a:endParaRPr lang="en-US" sz="700" dirty="0"/>
          </a:p>
        </p:txBody>
      </p:sp>
      <p:sp>
        <p:nvSpPr>
          <p:cNvPr id="46" name="Shape 43"/>
          <p:cNvSpPr/>
          <p:nvPr/>
        </p:nvSpPr>
        <p:spPr>
          <a:xfrm>
            <a:off x="10580751" y="3595421"/>
            <a:ext cx="663854" cy="903427"/>
          </a:xfrm>
          <a:prstGeom prst="rect">
            <a:avLst/>
          </a:prstGeom>
          <a:solidFill>
            <a:srgbClr val="FFFFFF"/>
          </a:solidFill>
          <a:ln w="19050">
            <a:solidFill>
              <a:srgbClr val="17375E"/>
            </a:solidFill>
            <a:prstDash val="solid"/>
          </a:ln>
        </p:spPr>
      </p:sp>
      <p:sp>
        <p:nvSpPr>
          <p:cNvPr id="47" name="Shape 44"/>
          <p:cNvSpPr/>
          <p:nvPr/>
        </p:nvSpPr>
        <p:spPr>
          <a:xfrm>
            <a:off x="10813100" y="3558845"/>
            <a:ext cx="199156" cy="73152"/>
          </a:xfrm>
          <a:prstGeom prst="rect">
            <a:avLst/>
          </a:prstGeom>
          <a:solidFill>
            <a:srgbClr val="EEF1F6"/>
          </a:solidFill>
          <a:ln w="12700">
            <a:solidFill>
              <a:srgbClr val="FFFFFF">
                <a:alpha val="0"/>
              </a:srgbClr>
            </a:solidFill>
            <a:prstDash val="solid"/>
          </a:ln>
        </p:spPr>
      </p:sp>
      <p:sp>
        <p:nvSpPr>
          <p:cNvPr id="48" name="Text 45"/>
          <p:cNvSpPr txBox="1"/>
          <p:nvPr/>
        </p:nvSpPr>
        <p:spPr>
          <a:xfrm>
            <a:off x="10617327"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refter</a:t>
            </a:r>
            <a:endParaRPr lang="en-US" sz="700" dirty="0"/>
          </a:p>
        </p:txBody>
      </p:sp>
      <p:sp>
        <p:nvSpPr>
          <p:cNvPr id="49" name="Shape 46"/>
          <p:cNvSpPr/>
          <p:nvPr/>
        </p:nvSpPr>
        <p:spPr>
          <a:xfrm>
            <a:off x="11244605" y="2121408"/>
            <a:ext cx="304267" cy="1188720"/>
          </a:xfrm>
          <a:prstGeom prst="rect">
            <a:avLst/>
          </a:prstGeom>
          <a:solidFill>
            <a:srgbClr val="FFFFFF"/>
          </a:solidFill>
          <a:ln w="19050">
            <a:solidFill>
              <a:srgbClr val="17375E"/>
            </a:solidFill>
            <a:prstDash val="solid"/>
          </a:ln>
        </p:spPr>
      </p:sp>
      <p:sp>
        <p:nvSpPr>
          <p:cNvPr id="50" name="Shape 47"/>
          <p:cNvSpPr/>
          <p:nvPr/>
        </p:nvSpPr>
        <p:spPr>
          <a:xfrm>
            <a:off x="11290325" y="2291225"/>
            <a:ext cx="212827" cy="914"/>
          </a:xfrm>
          <a:prstGeom prst="line">
            <a:avLst/>
          </a:prstGeom>
          <a:noFill/>
          <a:ln w="12700">
            <a:solidFill>
              <a:srgbClr val="4A5A70"/>
            </a:solidFill>
            <a:prstDash val="solid"/>
          </a:ln>
        </p:spPr>
      </p:sp>
      <p:sp>
        <p:nvSpPr>
          <p:cNvPr id="51" name="Shape 48"/>
          <p:cNvSpPr/>
          <p:nvPr/>
        </p:nvSpPr>
        <p:spPr>
          <a:xfrm>
            <a:off x="11290325" y="2461042"/>
            <a:ext cx="212827" cy="914"/>
          </a:xfrm>
          <a:prstGeom prst="line">
            <a:avLst/>
          </a:prstGeom>
          <a:noFill/>
          <a:ln w="12700">
            <a:solidFill>
              <a:srgbClr val="4A5A70"/>
            </a:solidFill>
            <a:prstDash val="solid"/>
          </a:ln>
        </p:spPr>
      </p:sp>
      <p:sp>
        <p:nvSpPr>
          <p:cNvPr id="52" name="Shape 49"/>
          <p:cNvSpPr/>
          <p:nvPr/>
        </p:nvSpPr>
        <p:spPr>
          <a:xfrm>
            <a:off x="11290325" y="2630859"/>
            <a:ext cx="212827" cy="914"/>
          </a:xfrm>
          <a:prstGeom prst="line">
            <a:avLst/>
          </a:prstGeom>
          <a:noFill/>
          <a:ln w="12700">
            <a:solidFill>
              <a:srgbClr val="4A5A70"/>
            </a:solidFill>
            <a:prstDash val="solid"/>
          </a:ln>
        </p:spPr>
      </p:sp>
      <p:sp>
        <p:nvSpPr>
          <p:cNvPr id="53" name="Shape 50"/>
          <p:cNvSpPr/>
          <p:nvPr/>
        </p:nvSpPr>
        <p:spPr>
          <a:xfrm>
            <a:off x="11290325" y="2800677"/>
            <a:ext cx="212827" cy="914"/>
          </a:xfrm>
          <a:prstGeom prst="line">
            <a:avLst/>
          </a:prstGeom>
          <a:noFill/>
          <a:ln w="12700">
            <a:solidFill>
              <a:srgbClr val="4A5A70"/>
            </a:solidFill>
            <a:prstDash val="solid"/>
          </a:ln>
        </p:spPr>
      </p:sp>
      <p:sp>
        <p:nvSpPr>
          <p:cNvPr id="54" name="Shape 51"/>
          <p:cNvSpPr/>
          <p:nvPr/>
        </p:nvSpPr>
        <p:spPr>
          <a:xfrm>
            <a:off x="11290325" y="2970494"/>
            <a:ext cx="212827" cy="914"/>
          </a:xfrm>
          <a:prstGeom prst="line">
            <a:avLst/>
          </a:prstGeom>
          <a:noFill/>
          <a:ln w="12700">
            <a:solidFill>
              <a:srgbClr val="4A5A70"/>
            </a:solidFill>
            <a:prstDash val="solid"/>
          </a:ln>
        </p:spPr>
      </p:sp>
      <p:sp>
        <p:nvSpPr>
          <p:cNvPr id="55" name="Shape 52"/>
          <p:cNvSpPr/>
          <p:nvPr/>
        </p:nvSpPr>
        <p:spPr>
          <a:xfrm>
            <a:off x="11290325" y="3140311"/>
            <a:ext cx="212827" cy="914"/>
          </a:xfrm>
          <a:prstGeom prst="line">
            <a:avLst/>
          </a:prstGeom>
          <a:noFill/>
          <a:ln w="12700">
            <a:solidFill>
              <a:srgbClr val="4A5A70"/>
            </a:solidFill>
            <a:prstDash val="solid"/>
          </a:ln>
        </p:spPr>
      </p:sp>
      <p:sp>
        <p:nvSpPr>
          <p:cNvPr id="56" name="Shape 53"/>
          <p:cNvSpPr/>
          <p:nvPr/>
        </p:nvSpPr>
        <p:spPr>
          <a:xfrm>
            <a:off x="11244605" y="3310128"/>
            <a:ext cx="304267" cy="1188720"/>
          </a:xfrm>
          <a:prstGeom prst="rect">
            <a:avLst/>
          </a:prstGeom>
          <a:solidFill>
            <a:srgbClr val="F1EBF8"/>
          </a:solidFill>
          <a:ln w="19050">
            <a:solidFill>
              <a:srgbClr val="17375E"/>
            </a:solidFill>
            <a:prstDash val="solid"/>
          </a:ln>
        </p:spPr>
      </p:sp>
      <p:sp>
        <p:nvSpPr>
          <p:cNvPr id="57" name="Text 54"/>
          <p:cNvSpPr txBox="1"/>
          <p:nvPr/>
        </p:nvSpPr>
        <p:spPr>
          <a:xfrm>
            <a:off x="11244605" y="2926080"/>
            <a:ext cx="304267" cy="347472"/>
          </a:xfrm>
          <a:prstGeom prst="rect">
            <a:avLst/>
          </a:prstGeom>
          <a:noFill/>
          <a:ln/>
        </p:spPr>
        <p:txBody>
          <a:bodyPr wrap="square" lIns="0" tIns="0" rIns="0" bIns="0" rtlCol="0" anchor="ctr"/>
          <a:lstStyle/>
          <a:p>
            <a:pPr algn="ctr" indent="0" marL="0">
              <a:buNone/>
            </a:pPr>
            <a:r>
              <a:rPr lang="en-US" sz="600" b="1" dirty="0">
                <a:solidFill>
                  <a:schemeClr val="tx2"/>
                </a:solidFill>
              </a:rPr>
              <a:t>trap</a:t>
            </a:r>
            <a:endParaRPr lang="en-US" sz="600" dirty="0"/>
          </a:p>
        </p:txBody>
      </p:sp>
      <p:sp>
        <p:nvSpPr>
          <p:cNvPr id="58" name="Text 55"/>
          <p:cNvSpPr txBox="1"/>
          <p:nvPr/>
        </p:nvSpPr>
        <p:spPr>
          <a:xfrm>
            <a:off x="11244605" y="4087368"/>
            <a:ext cx="304267" cy="365760"/>
          </a:xfrm>
          <a:prstGeom prst="rect">
            <a:avLst/>
          </a:prstGeom>
          <a:noFill/>
          <a:ln/>
        </p:spPr>
        <p:txBody>
          <a:bodyPr wrap="square" lIns="0" tIns="0" rIns="0" bIns="0" rtlCol="0" anchor="ctr"/>
          <a:lstStyle/>
          <a:p>
            <a:pPr algn="ctr" indent="0" marL="0">
              <a:buNone/>
            </a:pPr>
            <a:r>
              <a:rPr lang="en-US" sz="600" b="1" dirty="0">
                <a:solidFill>
                  <a:schemeClr val="tx2"/>
                </a:solidFill>
              </a:rPr>
              <a:t>lift</a:t>
            </a:r>
            <a:endParaRPr lang="en-US" sz="600" dirty="0"/>
          </a:p>
        </p:txBody>
      </p:sp>
      <p:sp>
        <p:nvSpPr>
          <p:cNvPr id="59" name="Text 56"/>
          <p:cNvSpPr txBox="1"/>
          <p:nvPr/>
        </p:nvSpPr>
        <p:spPr>
          <a:xfrm>
            <a:off x="8211312" y="4636008"/>
            <a:ext cx="3291840" cy="1563624"/>
          </a:xfrm>
          <a:prstGeom prst="rect">
            <a:avLst/>
          </a:prstGeom>
          <a:noFill/>
          <a:ln/>
        </p:spPr>
        <p:txBody>
          <a:bodyPr wrap="square" lIns="0" tIns="0" rIns="0" bIns="0" rtlCol="0" anchor="t"/>
          <a:lstStyle/>
          <a:p>
            <a:pPr algn="l" indent="0" marL="0">
              <a:spcAft>
                <a:spcPts val="200"/>
              </a:spcAft>
              <a:buNone/>
            </a:pPr>
            <a:r>
              <a:rPr lang="en-US" sz="1200" b="1" dirty="0">
                <a:solidFill>
                  <a:schemeClr val="tx1"/>
                </a:solidFill>
              </a:rPr>
              <a:t>Eerste verdieping</a:t>
            </a:r>
            <a:endParaRPr lang="en-US" sz="1200" dirty="0"/>
          </a:p>
          <a:p>
            <a:pPr algn="l" indent="0" marL="0">
              <a:spcAft>
                <a:spcPts val="200"/>
              </a:spcAft>
              <a:buNone/>
            </a:pPr>
            <a:r>
              <a:rPr lang="en-US" sz="1200" dirty="0">
                <a:solidFill>
                  <a:schemeClr val="tx1"/>
                </a:solidFill>
              </a:rPr>
              <a:t>de directie · de boekhouding</a:t>
            </a:r>
            <a:endParaRPr lang="en-US" sz="1200" dirty="0"/>
          </a:p>
          <a:p>
            <a:pPr algn="l" indent="0" marL="0">
              <a:spcAft>
                <a:spcPts val="200"/>
              </a:spcAft>
              <a:buNone/>
            </a:pPr>
            <a:endParaRPr lang="en-US" sz="1200" dirty="0"/>
          </a:p>
          <a:p>
            <a:pPr algn="l" indent="0" marL="0">
              <a:spcAft>
                <a:spcPts val="200"/>
              </a:spcAft>
              <a:buNone/>
            </a:pPr>
            <a:r>
              <a:rPr lang="en-US" sz="1200" b="1" dirty="0">
                <a:solidFill>
                  <a:schemeClr val="tx1"/>
                </a:solidFill>
              </a:rPr>
              <a:t>Destinations</a:t>
            </a:r>
            <a:endParaRPr lang="en-US" sz="1200" dirty="0"/>
          </a:p>
          <a:p>
            <a:pPr algn="l" indent="0" marL="0">
              <a:spcAft>
                <a:spcPts val="200"/>
              </a:spcAft>
              <a:buNone/>
            </a:pPr>
            <a:r>
              <a:rPr lang="en-US" sz="1200" dirty="0">
                <a:solidFill>
                  <a:schemeClr val="tx1"/>
                </a:solidFill>
              </a:rPr>
              <a:t>vergaderzaal · refter · keuken · directie · toiletten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Où ou vers où ? </a:t>
            </a:r>
            <a:r>
              <a:rPr lang="en-US" sz="2000" i="1" dirty="0">
                <a:solidFill>
                  <a:schemeClr val="tx1"/>
                </a:solidFill>
              </a:rPr>
              <a:t>Hij loopt het park in.</a:t>
            </a:r>
            <a:r>
              <a:rPr lang="en-US" sz="2000" dirty="0">
                <a:solidFill>
                  <a:schemeClr val="tx1"/>
                </a:solidFill>
              </a:rPr>
              <a:t> / </a:t>
            </a:r>
            <a:r>
              <a:rPr lang="en-US" sz="2000" i="1" dirty="0">
                <a:solidFill>
                  <a:schemeClr val="tx1"/>
                </a:solidFill>
              </a:rPr>
              <a:t>Hij loopt in het park.</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monte l’escalier.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 de vergaderzaal in gelopen.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Distinguer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Décrire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Guider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Badg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Even voorstellen</a:t>
            </a:r>
            <a:r>
              <a:rPr lang="en-US" sz="1800" dirty="0">
                <a:solidFill>
                  <a:schemeClr val="bg1"/>
                </a:solidFill>
              </a:rPr>
              <a:t> — </a:t>
            </a:r>
            <a:r>
              <a:rPr lang="en-US" sz="1800" i="1" dirty="0">
                <a:solidFill>
                  <a:schemeClr val="bg1"/>
                </a:solidFill>
              </a:rPr>
              <a:t>Ik ben Karim Benali, boekhouder bij Peeters &amp; Co.</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31 — De keuken in! — La postposition de direction</dc:title>
  <dc:subject>Néerlandais 1 — Langue en situation, en milieu professionnel</dc:subject>
  <dc:creator>A. Jouniaux</dc:creator>
  <cp:lastModifiedBy>A. Jouniaux</cp:lastModifiedBy>
  <cp:revision>1</cp:revision>
  <dcterms:created xsi:type="dcterms:W3CDTF">2026-10-06T08:28:21Z</dcterms:created>
  <dcterms:modified xsi:type="dcterms:W3CDTF">2026-10-06T08:28:21Z</dcterms:modified>
</cp:coreProperties>
</file>