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4f88ca8d-e334-7de4-ca5a-009a028dbd99}">
          <p14:sldIdLst>
            <p14:sldId id="256"/>
          </p14:sldIdLst>
        </p14:section>
        <p14:section name="Découvrir" id="{fb600aab-53eb-3a89-f76e-2084ab212b56}">
          <p14:sldIdLst>
            <p14:sldId id="257"/>
            <p14:sldId id="258"/>
          </p14:sldIdLst>
        </p14:section>
        <p14:section name="Comprendre" id="{6521b9cc-ff1c-9e62-6131-00a104420005}">
          <p14:sldIdLst>
            <p14:sldId id="259"/>
            <p14:sldId id="260"/>
            <p14:sldId id="261"/>
            <p14:sldId id="262"/>
            <p14:sldId id="263"/>
            <p14:sldId id="264"/>
            <p14:sldId id="265"/>
            <p14:sldId id="266"/>
            <p14:sldId id="267"/>
            <p14:sldId id="268"/>
            <p14:sldId id="269"/>
            <p14:sldId id="270"/>
            <p14:sldId id="271"/>
          </p14:sldIdLst>
        </p14:section>
        <p14:section name="JIJ NU ! — Oefeningen" id="{69c88f23-9e7d-6b43-acce-51107045401b}">
          <p14:sldIdLst>
            <p14:sldId id="272"/>
            <p14:sldId id="273"/>
            <p14:sldId id="274"/>
            <p14:sldId id="275"/>
            <p14:sldId id="276"/>
            <p14:sldId id="277"/>
            <p14:sldId id="278"/>
            <p14:sldId id="279"/>
            <p14:sldId id="280"/>
            <p14:sldId id="281"/>
            <p14:sldId id="282"/>
            <p14:sldId id="283"/>
            <p14:sldId id="284"/>
          </p14:sldIdLst>
        </p14:section>
        <p14:section name="Clôture" id="{e1a63bed-f5c7-37e6-9fae-01c883338636}">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le même petit mot, avant ou après le nom, ne dit pas la même chose.
Écrivez les deux phrases au tableau et demandez : « Quelle différence ? » Laissez chercher : le petit mot in a changé de place. Le module va montrer que cette place change le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Au travail, on guide souvent un visiteur : U loopt de gang door en u gaat de tweede deur links binnen. C'est la tâche finale du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le contraste lieu / direction à partir de deux images.
Réponse : ① = A (il se promène dans le parc, il y est déjà) ; ② = B (il entre dans le parc). Faites formuler la règle par les apprenants avant la diapo 4 : in devant le nom = où il est ; in après le nom = où il 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Nommer le procédé et poser la règle de base.
achter = derrière, zetten = poser : het achterzetsel est « ce qu'on pose derrière ». Les mots de la grammaire néerlandaise sont transparents : het voorzetsel (posé devant), het achterzetsel (posé derrière). Faites dessiner le schéma dans les cahiers : point = lieu, flèche =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pourquoi Ik stap in de keuken peut être ambigu, et comment l'achterzetsel lève le doute.
Avec les verbes de mouvement ponctuel (stappen, springen, vallen), la préposition peut déjà indiquer la direction : Ik stap in de bus veut dire « je monte dans le bus ». C'est pourquoi Ik stap in de keuken est ambigu. L'achterzetsel, lui, n'a jamais qu'un sens : la direction. En cas de doute, choisissez l'achterzetsel.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la différence de « logique » entre le français et le néerlandais.
C'est la diapo clé pour des francophones. Le néerlandais (comme l'anglais : he runs into the kitchen) a peu de verbes de direction et beaucoup de verbes de manière : lopen, rennen, fietsen, rijden, zwemmen, kruipen, springen. Le français dit « entrer », le néerlandais dit « courir + dedans ». Faites retraduire mot à mot : Hij rent de keuken in = « il court la cuisine dedans ». En Flandre, attention : lopen veut souvent dire « courir » et stappen « marcher » ; aux Pays-Bas, lopen = marcher, rennen = courir.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les six achterzetsels les plus fréquents avec une image.
over et door traduisent tous deux « traverser » : over passe par-dessus ou d'un bord à l'autre (une rue, une rivière, un pont) ; door passe à l'intérieur, d'un bout à l'autre (un tunnel, un parc, un couloir). Faites mimer chaque mot avec la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Élargir avec om, langs, voorbij, binnen.
de hoek om (tourner au coin) ≠ om de hoek (au coin, là où l'on est) : même contraste lieu / direction ! binnen comme achterzetsel est fréquent à l'écrit et dans les annonces : Stap gerust de winkel binnen. (Dans Kom gerust binnen, M16, il n'y a pas de nom : binnen est la particule de binnenkomen.) Variante : rond (faire le tour) : Ze reist de wereld rond.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Fixer le contraste par des paires minimales.
Faites lire chaque paire à voix haute en dessinant dans l'air un point puis une flèche. Variante en binôme : l'un lit une phrase, l'autre montre « point » ou « flèche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les achterzetsels pour décrire un trajet réel dans le bâtiment.
Faites retracer le trajet au doigt sur le plan pendant la lecture. de parking op rijden : en Belgique, de parking = le parking (NL : de parkeerplaats). Prolongement : chaque apprenant décrit son propre trajet du matin, de la porte de l'immeuble à sa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l'achterzetsel dans tous les types de phrases.
L'achterzetsel se comporte exactement comme la particule de opbellen (M11) : au bout dans la phrase simple, juste avant le ou les verbes à la fin. Dans ce module, on écrit en deux mots (op lopen) pour bien voir le nom + l'achterzetsel.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l'auxiliaire au passé composé selon le sens (lien M15).
Rappel du M15 : lopen, fietsen, zwemmen prennent hebben pour l'activité et zijn pour un déplacement vers un but. L'achterzetsel marque un déplacement : avec un verbe de mouvement, c'est zijn. Mais avec un complément d'objet, on garde hebben : Ik heb de doos de trap op gedragen. Et certains verbes s'emploient comme verbes à particule : Ze heeft de wereld rondgereisd.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Exprimer la direction quand on ne nomme pas le lieu.
Même logique : Ik ben boven (lieu) / Ik ga naar boven (direction). Kom binnen! (M16) est une formule figée. À l'écrit, naar binnen s'écrit en deux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les circumpositions, en deux morceaux autour du nom.
À reconnaître seulement. Le second morceau va au bout comme l'achterzetsel : Ik loop naar de deur toe. Souvent, la version simple suffit : Ik loop naar de deur.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Éviter les erreurs typiques des francophones.
stijgen et dalen s'emploient pour les prix, les avions, la température : De prijzen stijgen. kruisen = se croiser. On ne double jamais le petit mot (✗ in de zaal in). Dernière ligne : les deux phrases sont correctes, la seconde est sans ambiguïté.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Ce schéma est la référence pour tous les exercices.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le lieu et la direction.
Faites justifier : « Le petit mot est-il avant ou après le nom ? » N° 3 et 8 : pas de déplacement du tout (spelen, wachten).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Reconnaître le lieu et la direction.
Faites justifier : « Le petit mot est-il avant ou après le nom ? » N° 3 et 8 : pas de déplacement du tout (spelen, wachten).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l'achterzetsel d'après un pictogramme.
N° 5 : oversteken est un verbe à particule (M11) : Ik steek de straat over. Le sens est le même qu'avec un achterzetsel.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l'achterzetsel d'après un pictogramme.
N° 5 : oversteken est un verbe à particule (M11) : Ik steek de straat over. Le sens est le même qu'avec un achterzetsel.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Passer d'un verbe de direction français à verbe de manière + achterzetsel.
N° 2 : « en courant » devient le verbe (rennen). N° 6 : zijn (déplacement) ; on accepte afgelopen. N° 5 : avec springen, la préposition est aussi possible (diapo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Passer d'un verbe de direction français à verbe de manière + achterzetsel.
N° 2 : « en courant » devient le verbe (rennen). N° 6 : zijn (déplacement) ; on accepte afgelopen. N° 5 : avec springen, la préposition est aussi possible (diapo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typiques dans un e-mail d'itinéraire.
Leurres : u stapt het gebouw binnen et de hoek om sont corrects. N° 1 : stijgen s'emploie pour les prix et les avions (diapo 15). La vergaderzaal de la directie est à l'étage (le plan S27 montre le rez-de-chaussée). N° 4 : binnen = lieu (où j'attends) ; naar binnen = direction (diapo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typiques dans un e-mail d'itinéraire.
Leurres : u stapt het gebouw binnen et de hoek om sont corrects. N° 1 : stijgen s'emploie pour les prix et les avions (diapo 15). La vergaderzaal de la directie est à l'étage (le plan S27 montre le rez-de-chaussée). N° 4 : binnen = lieu (où j'attends) ; naar binnen = direction (diapo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un itinéraire et trouver la destination sur le plan.
Lisez les itinéraires à voix haute, sans les montrer : c'est aussi un exercice de compréhension orale. Rappel : en marchant dans le couloir depuis l'entrée, la gauche est en haut du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Comprendre un itinéraire et trouver la destination sur le plan.
Lisez les itinéraires à voix haute, sans les montrer : c'est aussi un exercice de compréhension orale. Rappel : en marchant dans le couloir depuis l'entrée, la gauche est en haut du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des phrases verbe de manière + achterzetsel de façon ludique.
kruipen (ramper), sluipen (se faufiler) : faites mimer. Passé composé : gelopen, gerend, gefietst, gereden, gezwommen, gekropen, gesprongen, geslopen, toujours avec zijn (diapo 12). 1 point par phrase correcte, 1 point de plus pour le passé composé.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guider un visiteur dans le bâtiment.
Changez de rôle et de destination à chaque tour (vergaderzaal, refter, directie…). Exigez au moins deux achterzetsels par itinéraire, et la reformulation par B (Dus ik loop de gang door 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het park in = il entre (direction) ; in het park = il s'y promène (lieu).
2. Ik loop de trap op.
3. ben
Teaser M32 : Even voorstellen: ik ben Karim Benali, boekhouder bij Peeters &amp; 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31 · De keuken in!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31 · De keuken in!</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3.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2.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2.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2.xml"/><Relationship Id="rId1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12811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31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De keuken in!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La postposition de direction (het achterzetsel)</a:t>
            </a:r>
            <a:endParaRPr lang="en-US" sz="2000" dirty="0"/>
          </a:p>
          <a:p>
            <a:pPr algn="l" indent="0" marL="0">
              <a:buNone/>
            </a:pPr>
            <a:r>
              <a:rPr lang="en-US" sz="2000" b="1" dirty="0">
                <a:solidFill>
                  <a:srgbClr val="FFFFFF"/>
                </a:solidFill>
              </a:rPr>
              <a:t>Ik stap in de keuken · Ik stap de keuken in</a:t>
            </a:r>
            <a:endParaRPr lang="en-US" sz="2000" dirty="0"/>
          </a:p>
        </p:txBody>
      </p:sp>
      <p:sp>
        <p:nvSpPr>
          <p:cNvPr id="5" name="Shape 3"/>
          <p:cNvSpPr/>
          <p:nvPr/>
        </p:nvSpPr>
        <p:spPr>
          <a:xfrm>
            <a:off x="6400800" y="914400"/>
            <a:ext cx="5212080" cy="1645920"/>
          </a:xfrm>
          <a:prstGeom prst="roundRect">
            <a:avLst>
              <a:gd name="adj" fmla="val 11111"/>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6" name="Shape 4"/>
          <p:cNvSpPr/>
          <p:nvPr/>
        </p:nvSpPr>
        <p:spPr>
          <a:xfrm>
            <a:off x="7229246" y="1161288"/>
            <a:ext cx="1152144" cy="1152144"/>
          </a:xfrm>
          <a:prstGeom prst="rect">
            <a:avLst/>
          </a:prstGeom>
          <a:solidFill>
            <a:srgbClr val="FFFFFF"/>
          </a:solidFill>
          <a:ln w="31750">
            <a:solidFill>
              <a:srgbClr val="17375E"/>
            </a:solidFill>
            <a:prstDash val="solid"/>
          </a:ln>
        </p:spPr>
      </p:sp>
      <p:sp>
        <p:nvSpPr>
          <p:cNvPr id="7" name="Shape 5"/>
          <p:cNvSpPr/>
          <p:nvPr/>
        </p:nvSpPr>
        <p:spPr>
          <a:xfrm>
            <a:off x="7174382" y="1599103"/>
            <a:ext cx="109728" cy="276515"/>
          </a:xfrm>
          <a:prstGeom prst="rect">
            <a:avLst/>
          </a:prstGeom>
          <a:solidFill>
            <a:srgbClr val="FFFFFF"/>
          </a:solidFill>
          <a:ln w="12700">
            <a:solidFill>
              <a:srgbClr val="FFFFFF">
                <a:alpha val="0"/>
              </a:srgbClr>
            </a:solidFill>
            <a:prstDash val="solid"/>
          </a:ln>
        </p:spPr>
      </p:sp>
      <p:pic>
        <p:nvPicPr>
          <p:cNvPr id="8" name="Image 0" descr="cooking">    </p:cNvPr>
          <p:cNvPicPr>
            <a:picLocks noChangeAspect="1"/>
          </p:cNvPicPr>
          <p:nvPr/>
        </p:nvPicPr>
        <p:blipFill>
          <a:blip r:embed="rId1"/>
          <a:stretch>
            <a:fillRect/>
          </a:stretch>
        </p:blipFill>
        <p:spPr>
          <a:xfrm>
            <a:off x="7924190" y="1234440"/>
            <a:ext cx="384048" cy="384048"/>
          </a:xfrm>
          <a:prstGeom prst="rect">
            <a:avLst/>
          </a:prstGeom>
        </p:spPr>
      </p:pic>
      <p:pic>
        <p:nvPicPr>
          <p:cNvPr id="9" name="Image 1" descr="person standing">    </p:cNvPr>
          <p:cNvPicPr>
            <a:picLocks noChangeAspect="1"/>
          </p:cNvPicPr>
          <p:nvPr/>
        </p:nvPicPr>
        <p:blipFill>
          <a:blip r:embed="rId2"/>
          <a:stretch>
            <a:fillRect/>
          </a:stretch>
        </p:blipFill>
        <p:spPr>
          <a:xfrm>
            <a:off x="7379025" y="1449324"/>
            <a:ext cx="576072" cy="576072"/>
          </a:xfrm>
          <a:prstGeom prst="rect">
            <a:avLst/>
          </a:prstGeom>
        </p:spPr>
      </p:pic>
      <p:sp>
        <p:nvSpPr>
          <p:cNvPr id="10" name="Shape 6"/>
          <p:cNvSpPr/>
          <p:nvPr/>
        </p:nvSpPr>
        <p:spPr>
          <a:xfrm>
            <a:off x="7566477" y="2007108"/>
            <a:ext cx="201168" cy="201168"/>
          </a:xfrm>
          <a:prstGeom prst="ellipse">
            <a:avLst/>
          </a:prstGeom>
          <a:solidFill>
            <a:schemeClr val="accent2"/>
          </a:solidFill>
          <a:ln w="12700">
            <a:solidFill>
              <a:srgbClr val="FFFFFF">
                <a:alpha val="0"/>
              </a:srgbClr>
            </a:solidFill>
            <a:prstDash val="solid"/>
          </a:ln>
        </p:spPr>
      </p:sp>
      <p:sp>
        <p:nvSpPr>
          <p:cNvPr id="11" name="Text 7"/>
          <p:cNvSpPr txBox="1"/>
          <p:nvPr/>
        </p:nvSpPr>
        <p:spPr>
          <a:xfrm>
            <a:off x="8595360" y="1051560"/>
            <a:ext cx="2926080" cy="1005840"/>
          </a:xfrm>
          <a:prstGeom prst="rect">
            <a:avLst/>
          </a:prstGeom>
          <a:noFill/>
          <a:ln/>
        </p:spPr>
        <p:txBody>
          <a:bodyPr wrap="square" lIns="0" tIns="0" rIns="0" bIns="0" rtlCol="0" anchor="ctr"/>
          <a:lstStyle/>
          <a:p>
            <a:pPr algn="l" indent="0" marL="0">
              <a:buNone/>
            </a:pPr>
            <a:r>
              <a:rPr lang="en-US" sz="2200" i="1" dirty="0">
                <a:solidFill>
                  <a:schemeClr val="tx1"/>
                </a:solidFill>
                <a:latin typeface="+mj-lt" pitchFamily="34" charset="0"/>
                <a:ea typeface="+mj-lt" pitchFamily="34" charset="-122"/>
                <a:cs typeface="+mj-lt" pitchFamily="34" charset="-120"/>
              </a:rPr>
              <a:t>Ik stap </a:t>
            </a:r>
            <a:r>
              <a:rPr lang="en-US" sz="2200" b="1" i="1" dirty="0">
                <a:solidFill>
                  <a:schemeClr val="accent2"/>
                </a:solidFill>
                <a:latin typeface="+mj-lt" pitchFamily="34" charset="0"/>
                <a:ea typeface="+mj-lt" pitchFamily="34" charset="-122"/>
                <a:cs typeface="+mj-lt" pitchFamily="34" charset="-120"/>
              </a:rPr>
              <a:t>in</a:t>
            </a:r>
            <a:r>
              <a:rPr lang="en-US" sz="2200" i="1" dirty="0">
                <a:solidFill>
                  <a:schemeClr val="tx1"/>
                </a:solidFill>
                <a:latin typeface="+mj-lt" pitchFamily="34" charset="0"/>
                <a:ea typeface="+mj-lt" pitchFamily="34" charset="-122"/>
                <a:cs typeface="+mj-lt" pitchFamily="34" charset="-120"/>
              </a:rPr>
              <a:t> de keuken.</a:t>
            </a:r>
            <a:endParaRPr lang="en-US" sz="2200" dirty="0"/>
          </a:p>
        </p:txBody>
      </p:sp>
      <p:sp>
        <p:nvSpPr>
          <p:cNvPr id="12" name="Text 8"/>
          <p:cNvSpPr txBox="1"/>
          <p:nvPr/>
        </p:nvSpPr>
        <p:spPr>
          <a:xfrm>
            <a:off x="8595360" y="2011680"/>
            <a:ext cx="2926080" cy="365760"/>
          </a:xfrm>
          <a:prstGeom prst="rect">
            <a:avLst/>
          </a:prstGeom>
          <a:noFill/>
          <a:ln/>
        </p:spPr>
        <p:txBody>
          <a:bodyPr wrap="square" lIns="0" tIns="0" rIns="0" bIns="0" rtlCol="0" anchor="t"/>
          <a:lstStyle/>
          <a:p>
            <a:pPr algn="l" indent="0" marL="0">
              <a:buNone/>
            </a:pPr>
            <a:r>
              <a:rPr lang="en-US" sz="1400" b="1" dirty="0">
                <a:solidFill>
                  <a:schemeClr val="accent2"/>
                </a:solidFill>
              </a:rPr>
              <a:t>waar? … of waarheen?</a:t>
            </a:r>
            <a:endParaRPr lang="en-US" sz="1400" dirty="0"/>
          </a:p>
        </p:txBody>
      </p:sp>
      <p:sp>
        <p:nvSpPr>
          <p:cNvPr id="13" name="Shape 9"/>
          <p:cNvSpPr/>
          <p:nvPr/>
        </p:nvSpPr>
        <p:spPr>
          <a:xfrm>
            <a:off x="6400800" y="2788920"/>
            <a:ext cx="5212080" cy="1645920"/>
          </a:xfrm>
          <a:prstGeom prst="roundRect">
            <a:avLst>
              <a:gd name="adj" fmla="val 11111"/>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4" name="Shape 10"/>
          <p:cNvSpPr/>
          <p:nvPr/>
        </p:nvSpPr>
        <p:spPr>
          <a:xfrm>
            <a:off x="7229246" y="3035808"/>
            <a:ext cx="1152144" cy="1152144"/>
          </a:xfrm>
          <a:prstGeom prst="rect">
            <a:avLst/>
          </a:prstGeom>
          <a:solidFill>
            <a:srgbClr val="FFFFFF"/>
          </a:solidFill>
          <a:ln w="31750">
            <a:solidFill>
              <a:srgbClr val="17375E"/>
            </a:solidFill>
            <a:prstDash val="solid"/>
          </a:ln>
        </p:spPr>
      </p:sp>
      <p:sp>
        <p:nvSpPr>
          <p:cNvPr id="15" name="Shape 11"/>
          <p:cNvSpPr/>
          <p:nvPr/>
        </p:nvSpPr>
        <p:spPr>
          <a:xfrm>
            <a:off x="7174382" y="3473623"/>
            <a:ext cx="109728" cy="276515"/>
          </a:xfrm>
          <a:prstGeom prst="rect">
            <a:avLst/>
          </a:prstGeom>
          <a:solidFill>
            <a:srgbClr val="FFFFFF"/>
          </a:solidFill>
          <a:ln w="12700">
            <a:solidFill>
              <a:srgbClr val="FFFFFF">
                <a:alpha val="0"/>
              </a:srgbClr>
            </a:solidFill>
            <a:prstDash val="solid"/>
          </a:ln>
        </p:spPr>
      </p:sp>
      <p:pic>
        <p:nvPicPr>
          <p:cNvPr id="16" name="Image 2" descr="cooking">    </p:cNvPr>
          <p:cNvPicPr>
            <a:picLocks noChangeAspect="1"/>
          </p:cNvPicPr>
          <p:nvPr/>
        </p:nvPicPr>
        <p:blipFill>
          <a:blip r:embed="rId3"/>
          <a:stretch>
            <a:fillRect/>
          </a:stretch>
        </p:blipFill>
        <p:spPr>
          <a:xfrm>
            <a:off x="7924190" y="3108960"/>
            <a:ext cx="384048" cy="384048"/>
          </a:xfrm>
          <a:prstGeom prst="rect">
            <a:avLst/>
          </a:prstGeom>
        </p:spPr>
      </p:pic>
      <p:pic>
        <p:nvPicPr>
          <p:cNvPr id="17" name="Image 3" descr="person standing">    </p:cNvPr>
          <p:cNvPicPr>
            <a:picLocks noChangeAspect="1"/>
          </p:cNvPicPr>
          <p:nvPr/>
        </p:nvPicPr>
        <p:blipFill>
          <a:blip r:embed="rId4"/>
          <a:stretch>
            <a:fillRect/>
          </a:stretch>
        </p:blipFill>
        <p:spPr>
          <a:xfrm>
            <a:off x="6556248" y="3232404"/>
            <a:ext cx="576072" cy="576072"/>
          </a:xfrm>
          <a:prstGeom prst="rect">
            <a:avLst/>
          </a:prstGeom>
        </p:spPr>
      </p:pic>
      <p:sp>
        <p:nvSpPr>
          <p:cNvPr id="18" name="Shape 12"/>
          <p:cNvSpPr/>
          <p:nvPr/>
        </p:nvSpPr>
        <p:spPr>
          <a:xfrm>
            <a:off x="7027621" y="3721608"/>
            <a:ext cx="720090" cy="914"/>
          </a:xfrm>
          <a:prstGeom prst="line">
            <a:avLst/>
          </a:prstGeom>
          <a:noFill/>
          <a:ln w="50800">
            <a:solidFill>
              <a:srgbClr val="D9700F"/>
            </a:solidFill>
            <a:prstDash val="solid"/>
            <a:tailEnd type="triangle"/>
          </a:ln>
        </p:spPr>
      </p:sp>
      <p:sp>
        <p:nvSpPr>
          <p:cNvPr id="19" name="Text 13"/>
          <p:cNvSpPr txBox="1"/>
          <p:nvPr/>
        </p:nvSpPr>
        <p:spPr>
          <a:xfrm>
            <a:off x="8595360" y="2926080"/>
            <a:ext cx="2926080" cy="1005840"/>
          </a:xfrm>
          <a:prstGeom prst="rect">
            <a:avLst/>
          </a:prstGeom>
          <a:noFill/>
          <a:ln/>
        </p:spPr>
        <p:txBody>
          <a:bodyPr wrap="square" lIns="0" tIns="0" rIns="0" bIns="0" rtlCol="0" anchor="ctr"/>
          <a:lstStyle/>
          <a:p>
            <a:pPr algn="l" indent="0" marL="0">
              <a:buNone/>
            </a:pPr>
            <a:r>
              <a:rPr lang="en-US" sz="2200" i="1" dirty="0">
                <a:solidFill>
                  <a:schemeClr val="tx1"/>
                </a:solidFill>
                <a:latin typeface="+mj-lt" pitchFamily="34" charset="0"/>
                <a:ea typeface="+mj-lt" pitchFamily="34" charset="-122"/>
                <a:cs typeface="+mj-lt" pitchFamily="34" charset="-120"/>
              </a:rPr>
              <a:t>Ik stap de keuken </a:t>
            </a:r>
            <a:r>
              <a:rPr lang="en-US" sz="2200" b="1" i="1" dirty="0">
                <a:solidFill>
                  <a:schemeClr val="accent1"/>
                </a:solidFill>
                <a:latin typeface="+mj-lt" pitchFamily="34" charset="0"/>
                <a:ea typeface="+mj-lt" pitchFamily="34" charset="-122"/>
                <a:cs typeface="+mj-lt" pitchFamily="34" charset="-120"/>
              </a:rPr>
              <a:t>in</a:t>
            </a:r>
            <a:r>
              <a:rPr lang="en-US" sz="2200" i="1" dirty="0">
                <a:solidFill>
                  <a:schemeClr val="tx1"/>
                </a:solidFill>
                <a:latin typeface="+mj-lt" pitchFamily="34" charset="0"/>
                <a:ea typeface="+mj-lt" pitchFamily="34" charset="-122"/>
                <a:cs typeface="+mj-lt" pitchFamily="34" charset="-120"/>
              </a:rPr>
              <a:t>.</a:t>
            </a:r>
            <a:endParaRPr lang="en-US" sz="2200" dirty="0"/>
          </a:p>
        </p:txBody>
      </p:sp>
      <p:sp>
        <p:nvSpPr>
          <p:cNvPr id="20" name="Text 14"/>
          <p:cNvSpPr txBox="1"/>
          <p:nvPr/>
        </p:nvSpPr>
        <p:spPr>
          <a:xfrm>
            <a:off x="8595360" y="3886200"/>
            <a:ext cx="2926080" cy="365760"/>
          </a:xfrm>
          <a:prstGeom prst="rect">
            <a:avLst/>
          </a:prstGeom>
          <a:noFill/>
          <a:ln/>
        </p:spPr>
        <p:txBody>
          <a:bodyPr wrap="square" lIns="0" tIns="0" rIns="0" bIns="0" rtlCol="0" anchor="t"/>
          <a:lstStyle/>
          <a:p>
            <a:pPr algn="l" indent="0" marL="0">
              <a:buNone/>
            </a:pPr>
            <a:r>
              <a:rPr lang="en-US" sz="1400" b="1" dirty="0">
                <a:solidFill>
                  <a:schemeClr val="accent1"/>
                </a:solidFill>
              </a:rPr>
              <a:t>waarheen?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MapMarkerAlt">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Distinguer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distingue le lieu et la direction : </a:t>
            </a:r>
            <a:r>
              <a:rPr lang="en-US" sz="2000" i="1" dirty="0">
                <a:solidFill>
                  <a:schemeClr val="tx1"/>
                </a:solidFill>
              </a:rPr>
              <a:t>in het park / het park in.</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LongArrowAltRight">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Décrire</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décris un trajet : </a:t>
            </a:r>
            <a:r>
              <a:rPr lang="en-US" sz="2000" i="1" dirty="0">
                <a:solidFill>
                  <a:schemeClr val="tx1"/>
                </a:solidFill>
              </a:rPr>
              <a:t>de trap op, de gang door, de hoek om.</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3"/>
          </a:solidFill>
          <a:ln w="12700">
            <a:solidFill>
              <a:srgbClr val="FFFFFF">
                <a:alpha val="0"/>
              </a:srgbClr>
            </a:solidFill>
            <a:prstDash val="solid"/>
          </a:ln>
        </p:spPr>
      </p:sp>
      <p:pic>
        <p:nvPicPr>
          <p:cNvPr id="17" name="Image 2" descr="Compass">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Guider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guide un visiteur dans le bâtiment.</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Au travail : </a:t>
            </a:r>
            <a:r>
              <a:rPr lang="en-US" sz="1700" i="1" dirty="0">
                <a:solidFill>
                  <a:schemeClr val="tx1"/>
                </a:solidFill>
              </a:rPr>
              <a:t>U loopt de gang door en u gaat de tweede deur links binnen.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Waar is Karim?</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554480"/>
            <a:ext cx="5413248" cy="2514600"/>
          </a:xfrm>
          <a:prstGeom prst="roundRect">
            <a:avLst>
              <a:gd name="adj" fmla="val 363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685800" y="1664208"/>
            <a:ext cx="411480" cy="411480"/>
          </a:xfrm>
          <a:prstGeom prst="ellipse">
            <a:avLst/>
          </a:prstGeom>
          <a:solidFill>
            <a:schemeClr val="tx2"/>
          </a:solidFill>
          <a:ln w="12700">
            <a:solidFill>
              <a:srgbClr val="FFFFFF">
                <a:alpha val="0"/>
              </a:srgbClr>
            </a:solidFill>
            <a:prstDash val="solid"/>
          </a:ln>
        </p:spPr>
      </p:sp>
      <p:sp>
        <p:nvSpPr>
          <p:cNvPr id="7" name="Text 4"/>
          <p:cNvSpPr txBox="1"/>
          <p:nvPr/>
        </p:nvSpPr>
        <p:spPr>
          <a:xfrm>
            <a:off x="685800" y="166420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Shape 5"/>
          <p:cNvSpPr/>
          <p:nvPr/>
        </p:nvSpPr>
        <p:spPr>
          <a:xfrm>
            <a:off x="2776118" y="1870862"/>
            <a:ext cx="2798064" cy="1881835"/>
          </a:xfrm>
          <a:prstGeom prst="roundRect">
            <a:avLst>
              <a:gd name="adj" fmla="val 9718"/>
            </a:avLst>
          </a:prstGeom>
          <a:solidFill>
            <a:srgbClr val="DCEFD9"/>
          </a:solidFill>
          <a:ln w="31750">
            <a:solidFill>
              <a:srgbClr val="2E7D4F"/>
            </a:solidFill>
            <a:prstDash val="solid"/>
          </a:ln>
        </p:spPr>
      </p:sp>
      <p:sp>
        <p:nvSpPr>
          <p:cNvPr id="9" name="Shape 6"/>
          <p:cNvSpPr/>
          <p:nvPr/>
        </p:nvSpPr>
        <p:spPr>
          <a:xfrm>
            <a:off x="2721254" y="2585960"/>
            <a:ext cx="109728" cy="451640"/>
          </a:xfrm>
          <a:prstGeom prst="rect">
            <a:avLst/>
          </a:prstGeom>
          <a:solidFill>
            <a:srgbClr val="FFFFFF"/>
          </a:solidFill>
          <a:ln w="12700">
            <a:solidFill>
              <a:srgbClr val="FFFFFF">
                <a:alpha val="0"/>
              </a:srgbClr>
            </a:solidFill>
            <a:prstDash val="solid"/>
          </a:ln>
        </p:spPr>
      </p:sp>
      <p:pic>
        <p:nvPicPr>
          <p:cNvPr id="10" name="Image 0" descr="deciduous tree">    </p:cNvPr>
          <p:cNvPicPr>
            <a:picLocks noChangeAspect="1"/>
          </p:cNvPicPr>
          <p:nvPr/>
        </p:nvPicPr>
        <p:blipFill>
          <a:blip r:embed="rId1"/>
          <a:stretch>
            <a:fillRect/>
          </a:stretch>
        </p:blipFill>
        <p:spPr>
          <a:xfrm>
            <a:off x="5071262" y="1944014"/>
            <a:ext cx="411480" cy="411480"/>
          </a:xfrm>
          <a:prstGeom prst="rect">
            <a:avLst/>
          </a:prstGeom>
        </p:spPr>
      </p:pic>
      <p:pic>
        <p:nvPicPr>
          <p:cNvPr id="11" name="Image 1" descr="evergreen tree">    </p:cNvPr>
          <p:cNvPicPr>
            <a:picLocks noChangeAspect="1"/>
          </p:cNvPicPr>
          <p:nvPr/>
        </p:nvPicPr>
        <p:blipFill>
          <a:blip r:embed="rId2"/>
          <a:stretch>
            <a:fillRect/>
          </a:stretch>
        </p:blipFill>
        <p:spPr>
          <a:xfrm>
            <a:off x="5116982" y="3249778"/>
            <a:ext cx="384048" cy="384048"/>
          </a:xfrm>
          <a:prstGeom prst="rect">
            <a:avLst/>
          </a:prstGeom>
        </p:spPr>
      </p:pic>
      <p:sp>
        <p:nvSpPr>
          <p:cNvPr id="12" name="Text 7"/>
          <p:cNvSpPr txBox="1"/>
          <p:nvPr/>
        </p:nvSpPr>
        <p:spPr>
          <a:xfrm>
            <a:off x="2867558" y="1907438"/>
            <a:ext cx="2249424" cy="310896"/>
          </a:xfrm>
          <a:prstGeom prst="rect">
            <a:avLst/>
          </a:prstGeom>
          <a:noFill/>
          <a:ln/>
        </p:spPr>
        <p:txBody>
          <a:bodyPr wrap="square" lIns="0" tIns="0" rIns="0" bIns="0" rtlCol="0" anchor="t"/>
          <a:lstStyle/>
          <a:p>
            <a:pPr algn="l" indent="0" marL="0">
              <a:buNone/>
            </a:pPr>
            <a:r>
              <a:rPr lang="en-US" sz="1200" i="1" dirty="0">
                <a:solidFill>
                  <a:schemeClr val="accent5"/>
                </a:solidFill>
              </a:rPr>
              <a:t>het park</a:t>
            </a:r>
            <a:endParaRPr lang="en-US" sz="1200" dirty="0"/>
          </a:p>
        </p:txBody>
      </p:sp>
      <p:pic>
        <p:nvPicPr>
          <p:cNvPr id="13" name="Image 2" descr="man office worker">    </p:cNvPr>
          <p:cNvPicPr>
            <a:picLocks noChangeAspect="1"/>
          </p:cNvPicPr>
          <p:nvPr/>
        </p:nvPicPr>
        <p:blipFill>
          <a:blip r:embed="rId3"/>
          <a:stretch>
            <a:fillRect/>
          </a:stretch>
        </p:blipFill>
        <p:spPr>
          <a:xfrm>
            <a:off x="3496483" y="2468880"/>
            <a:ext cx="685800" cy="685800"/>
          </a:xfrm>
          <a:prstGeom prst="rect">
            <a:avLst/>
          </a:prstGeom>
        </p:spPr>
      </p:pic>
      <p:sp>
        <p:nvSpPr>
          <p:cNvPr id="14" name="Shape 8"/>
          <p:cNvSpPr/>
          <p:nvPr/>
        </p:nvSpPr>
        <p:spPr>
          <a:xfrm>
            <a:off x="3738799" y="3136392"/>
            <a:ext cx="201168" cy="201168"/>
          </a:xfrm>
          <a:prstGeom prst="ellipse">
            <a:avLst/>
          </a:prstGeom>
          <a:solidFill>
            <a:schemeClr val="accent2"/>
          </a:solidFill>
          <a:ln w="12700">
            <a:solidFill>
              <a:srgbClr val="FFFFFF">
                <a:alpha val="0"/>
              </a:srgbClr>
            </a:solidFill>
            <a:prstDash val="solid"/>
          </a:ln>
        </p:spPr>
      </p:sp>
      <p:sp>
        <p:nvSpPr>
          <p:cNvPr id="15" name="Shape 9"/>
          <p:cNvSpPr/>
          <p:nvPr/>
        </p:nvSpPr>
        <p:spPr>
          <a:xfrm>
            <a:off x="3111886" y="2096683"/>
            <a:ext cx="1538935" cy="1430195"/>
          </a:xfrm>
          <a:prstGeom prst="ellipse">
            <a:avLst/>
          </a:prstGeom>
          <a:noFill/>
          <a:ln w="22225">
            <a:solidFill>
              <a:srgbClr val="2A6FB0"/>
            </a:solidFill>
            <a:prstDash val="dash"/>
          </a:ln>
        </p:spPr>
      </p:sp>
      <p:sp>
        <p:nvSpPr>
          <p:cNvPr id="16" name="Shape 10"/>
          <p:cNvSpPr/>
          <p:nvPr/>
        </p:nvSpPr>
        <p:spPr>
          <a:xfrm>
            <a:off x="6227064" y="1554480"/>
            <a:ext cx="5413248" cy="2514600"/>
          </a:xfrm>
          <a:prstGeom prst="roundRect">
            <a:avLst>
              <a:gd name="adj" fmla="val 363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7" name="Shape 11"/>
          <p:cNvSpPr/>
          <p:nvPr/>
        </p:nvSpPr>
        <p:spPr>
          <a:xfrm>
            <a:off x="6364224" y="1664208"/>
            <a:ext cx="411480" cy="411480"/>
          </a:xfrm>
          <a:prstGeom prst="ellipse">
            <a:avLst/>
          </a:prstGeom>
          <a:solidFill>
            <a:schemeClr val="tx2"/>
          </a:solidFill>
          <a:ln w="12700">
            <a:solidFill>
              <a:srgbClr val="FFFFFF">
                <a:alpha val="0"/>
              </a:srgbClr>
            </a:solidFill>
            <a:prstDash val="solid"/>
          </a:ln>
        </p:spPr>
      </p:sp>
      <p:sp>
        <p:nvSpPr>
          <p:cNvPr id="18" name="Text 12"/>
          <p:cNvSpPr txBox="1"/>
          <p:nvPr/>
        </p:nvSpPr>
        <p:spPr>
          <a:xfrm>
            <a:off x="6364224" y="166420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9" name="Shape 13"/>
          <p:cNvSpPr/>
          <p:nvPr/>
        </p:nvSpPr>
        <p:spPr>
          <a:xfrm>
            <a:off x="8454542" y="1870862"/>
            <a:ext cx="2798064" cy="1881835"/>
          </a:xfrm>
          <a:prstGeom prst="roundRect">
            <a:avLst>
              <a:gd name="adj" fmla="val 9718"/>
            </a:avLst>
          </a:prstGeom>
          <a:solidFill>
            <a:srgbClr val="DCEFD9"/>
          </a:solidFill>
          <a:ln w="31750">
            <a:solidFill>
              <a:srgbClr val="2E7D4F"/>
            </a:solidFill>
            <a:prstDash val="solid"/>
          </a:ln>
        </p:spPr>
      </p:sp>
      <p:sp>
        <p:nvSpPr>
          <p:cNvPr id="20" name="Shape 14"/>
          <p:cNvSpPr/>
          <p:nvPr/>
        </p:nvSpPr>
        <p:spPr>
          <a:xfrm>
            <a:off x="8399678" y="2585960"/>
            <a:ext cx="109728" cy="451640"/>
          </a:xfrm>
          <a:prstGeom prst="rect">
            <a:avLst/>
          </a:prstGeom>
          <a:solidFill>
            <a:srgbClr val="FFFFFF"/>
          </a:solidFill>
          <a:ln w="12700">
            <a:solidFill>
              <a:srgbClr val="FFFFFF">
                <a:alpha val="0"/>
              </a:srgbClr>
            </a:solidFill>
            <a:prstDash val="solid"/>
          </a:ln>
        </p:spPr>
      </p:sp>
      <p:pic>
        <p:nvPicPr>
          <p:cNvPr id="21" name="Image 3" descr="deciduous tree">    </p:cNvPr>
          <p:cNvPicPr>
            <a:picLocks noChangeAspect="1"/>
          </p:cNvPicPr>
          <p:nvPr/>
        </p:nvPicPr>
        <p:blipFill>
          <a:blip r:embed="rId4"/>
          <a:stretch>
            <a:fillRect/>
          </a:stretch>
        </p:blipFill>
        <p:spPr>
          <a:xfrm>
            <a:off x="10749686" y="1944014"/>
            <a:ext cx="411480" cy="411480"/>
          </a:xfrm>
          <a:prstGeom prst="rect">
            <a:avLst/>
          </a:prstGeom>
        </p:spPr>
      </p:pic>
      <p:pic>
        <p:nvPicPr>
          <p:cNvPr id="22" name="Image 4" descr="evergreen tree">    </p:cNvPr>
          <p:cNvPicPr>
            <a:picLocks noChangeAspect="1"/>
          </p:cNvPicPr>
          <p:nvPr/>
        </p:nvPicPr>
        <p:blipFill>
          <a:blip r:embed="rId5"/>
          <a:stretch>
            <a:fillRect/>
          </a:stretch>
        </p:blipFill>
        <p:spPr>
          <a:xfrm>
            <a:off x="10795406" y="3249778"/>
            <a:ext cx="384048" cy="384048"/>
          </a:xfrm>
          <a:prstGeom prst="rect">
            <a:avLst/>
          </a:prstGeom>
        </p:spPr>
      </p:pic>
      <p:sp>
        <p:nvSpPr>
          <p:cNvPr id="23" name="Text 15"/>
          <p:cNvSpPr txBox="1"/>
          <p:nvPr/>
        </p:nvSpPr>
        <p:spPr>
          <a:xfrm>
            <a:off x="8545982" y="1907438"/>
            <a:ext cx="2249424" cy="310896"/>
          </a:xfrm>
          <a:prstGeom prst="rect">
            <a:avLst/>
          </a:prstGeom>
          <a:noFill/>
          <a:ln/>
        </p:spPr>
        <p:txBody>
          <a:bodyPr wrap="square" lIns="0" tIns="0" rIns="0" bIns="0" rtlCol="0" anchor="t"/>
          <a:lstStyle/>
          <a:p>
            <a:pPr algn="l" indent="0" marL="0">
              <a:buNone/>
            </a:pPr>
            <a:r>
              <a:rPr lang="en-US" sz="1200" i="1" dirty="0">
                <a:solidFill>
                  <a:schemeClr val="accent5"/>
                </a:solidFill>
              </a:rPr>
              <a:t>het park</a:t>
            </a:r>
            <a:endParaRPr lang="en-US" sz="1200" dirty="0"/>
          </a:p>
        </p:txBody>
      </p:sp>
      <p:pic>
        <p:nvPicPr>
          <p:cNvPr id="24" name="Image 5" descr="man office worker">    </p:cNvPr>
          <p:cNvPicPr>
            <a:picLocks noChangeAspect="1"/>
          </p:cNvPicPr>
          <p:nvPr/>
        </p:nvPicPr>
        <p:blipFill>
          <a:blip r:embed="rId6"/>
          <a:stretch>
            <a:fillRect/>
          </a:stretch>
        </p:blipFill>
        <p:spPr>
          <a:xfrm>
            <a:off x="6793992" y="2377440"/>
            <a:ext cx="685800" cy="685800"/>
          </a:xfrm>
          <a:prstGeom prst="rect">
            <a:avLst/>
          </a:prstGeom>
        </p:spPr>
      </p:pic>
      <p:sp>
        <p:nvSpPr>
          <p:cNvPr id="25" name="Shape 16"/>
          <p:cNvSpPr/>
          <p:nvPr/>
        </p:nvSpPr>
        <p:spPr>
          <a:xfrm>
            <a:off x="7358634" y="2921508"/>
            <a:ext cx="2355037" cy="914"/>
          </a:xfrm>
          <a:prstGeom prst="line">
            <a:avLst/>
          </a:prstGeom>
          <a:noFill/>
          <a:ln w="50800">
            <a:solidFill>
              <a:srgbClr val="D9700F"/>
            </a:solidFill>
            <a:prstDash val="solid"/>
            <a:tailEnd type="triangle"/>
          </a:ln>
        </p:spPr>
      </p:sp>
      <p:sp>
        <p:nvSpPr>
          <p:cNvPr id="26" name="Shape 17"/>
          <p:cNvSpPr/>
          <p:nvPr/>
        </p:nvSpPr>
        <p:spPr>
          <a:xfrm>
            <a:off x="548640" y="4206240"/>
            <a:ext cx="5413248" cy="685800"/>
          </a:xfrm>
          <a:prstGeom prst="roundRect">
            <a:avLst>
              <a:gd name="adj" fmla="val 13333"/>
            </a:avLst>
          </a:prstGeom>
          <a:solidFill>
            <a:schemeClr val="bg2"/>
          </a:solidFill>
          <a:ln w="12700">
            <a:solidFill>
              <a:srgbClr val="D5DCE6"/>
            </a:solidFill>
            <a:prstDash val="solid"/>
          </a:ln>
        </p:spPr>
      </p:sp>
      <p:sp>
        <p:nvSpPr>
          <p:cNvPr id="27" name="Text 18"/>
          <p:cNvSpPr txBox="1"/>
          <p:nvPr/>
        </p:nvSpPr>
        <p:spPr>
          <a:xfrm>
            <a:off x="777240" y="4206240"/>
            <a:ext cx="5029200" cy="685800"/>
          </a:xfrm>
          <a:prstGeom prst="rect">
            <a:avLst/>
          </a:prstGeom>
          <a:noFill/>
          <a:ln/>
        </p:spPr>
        <p:txBody>
          <a:bodyPr wrap="square" lIns="0" tIns="0" rIns="0" bIns="0" rtlCol="0" anchor="ctr"/>
          <a:lstStyle/>
          <a:p>
            <a:pPr algn="ctr" indent="0" marL="0">
              <a:buNone/>
            </a:pPr>
            <a:r>
              <a:rPr lang="en-US" sz="2100" b="1" dirty="0">
                <a:solidFill>
                  <a:schemeClr val="tx1"/>
                </a:solidFill>
              </a:rPr>
              <a:t>①</a:t>
            </a:r>
            <a:r>
              <a:rPr lang="en-US" sz="2100" dirty="0">
                <a:solidFill>
                  <a:schemeClr val="tx1"/>
                </a:solidFill>
              </a:rPr>
              <a:t> </a:t>
            </a:r>
            <a:r>
              <a:rPr lang="en-US" sz="2100" i="1" dirty="0">
                <a:solidFill>
                  <a:schemeClr val="tx1"/>
                </a:solidFill>
              </a:rPr>
              <a:t>Karim loopt </a:t>
            </a:r>
            <a:r>
              <a:rPr lang="en-US" sz="2100" b="1" i="1" dirty="0">
                <a:solidFill>
                  <a:schemeClr val="tx1"/>
                </a:solidFill>
              </a:rPr>
              <a:t>in</a:t>
            </a:r>
            <a:r>
              <a:rPr lang="en-US" sz="2100" i="1" dirty="0">
                <a:solidFill>
                  <a:schemeClr val="tx1"/>
                </a:solidFill>
              </a:rPr>
              <a:t> het park.</a:t>
            </a:r>
            <a:endParaRPr lang="en-US" sz="2100" dirty="0"/>
          </a:p>
        </p:txBody>
      </p:sp>
      <p:sp>
        <p:nvSpPr>
          <p:cNvPr id="28" name="Shape 19"/>
          <p:cNvSpPr/>
          <p:nvPr/>
        </p:nvSpPr>
        <p:spPr>
          <a:xfrm>
            <a:off x="6227064" y="4206240"/>
            <a:ext cx="5413248" cy="685800"/>
          </a:xfrm>
          <a:prstGeom prst="roundRect">
            <a:avLst>
              <a:gd name="adj" fmla="val 13333"/>
            </a:avLst>
          </a:prstGeom>
          <a:solidFill>
            <a:schemeClr val="bg2"/>
          </a:solidFill>
          <a:ln w="12700">
            <a:solidFill>
              <a:srgbClr val="D5DCE6"/>
            </a:solidFill>
            <a:prstDash val="solid"/>
          </a:ln>
        </p:spPr>
      </p:sp>
      <p:sp>
        <p:nvSpPr>
          <p:cNvPr id="29" name="Text 20"/>
          <p:cNvSpPr txBox="1"/>
          <p:nvPr/>
        </p:nvSpPr>
        <p:spPr>
          <a:xfrm>
            <a:off x="6455664" y="4206240"/>
            <a:ext cx="5029200" cy="685800"/>
          </a:xfrm>
          <a:prstGeom prst="rect">
            <a:avLst/>
          </a:prstGeom>
          <a:noFill/>
          <a:ln/>
        </p:spPr>
        <p:txBody>
          <a:bodyPr wrap="square" lIns="0" tIns="0" rIns="0" bIns="0" rtlCol="0" anchor="ctr"/>
          <a:lstStyle/>
          <a:p>
            <a:pPr algn="ctr" indent="0" marL="0">
              <a:buNone/>
            </a:pPr>
            <a:r>
              <a:rPr lang="en-US" sz="2100" b="1" dirty="0">
                <a:solidFill>
                  <a:schemeClr val="tx1"/>
                </a:solidFill>
              </a:rPr>
              <a:t>②</a:t>
            </a:r>
            <a:r>
              <a:rPr lang="en-US" sz="2100" dirty="0">
                <a:solidFill>
                  <a:schemeClr val="tx1"/>
                </a:solidFill>
              </a:rPr>
              <a:t> </a:t>
            </a:r>
            <a:r>
              <a:rPr lang="en-US" sz="2100" i="1" dirty="0">
                <a:solidFill>
                  <a:schemeClr val="tx1"/>
                </a:solidFill>
              </a:rPr>
              <a:t>Karim loopt het park </a:t>
            </a:r>
            <a:r>
              <a:rPr lang="en-US" sz="2100" b="1" i="1" dirty="0">
                <a:solidFill>
                  <a:schemeClr val="tx1"/>
                </a:solidFill>
              </a:rPr>
              <a:t>in</a:t>
            </a:r>
            <a:r>
              <a:rPr lang="en-US" sz="2100" i="1" dirty="0">
                <a:solidFill>
                  <a:schemeClr val="tx1"/>
                </a:solidFill>
              </a:rPr>
              <a:t>.</a:t>
            </a:r>
            <a:endParaRPr lang="en-US" sz="2100" dirty="0"/>
          </a:p>
        </p:txBody>
      </p:sp>
      <p:sp>
        <p:nvSpPr>
          <p:cNvPr id="30" name="Shape 21"/>
          <p:cNvSpPr/>
          <p:nvPr/>
        </p:nvSpPr>
        <p:spPr>
          <a:xfrm>
            <a:off x="548640" y="5120640"/>
            <a:ext cx="11091672" cy="1097280"/>
          </a:xfrm>
          <a:prstGeom prst="roundRect">
            <a:avLst>
              <a:gd name="adj" fmla="val 6667"/>
            </a:avLst>
          </a:prstGeom>
          <a:solidFill>
            <a:schemeClr val="accent1">
              <a:alpha val="15000"/>
            </a:schemeClr>
          </a:solidFill>
          <a:ln w="15875">
            <a:solidFill>
              <a:srgbClr val="D9700F"/>
            </a:solidFill>
            <a:prstDash val="solid"/>
          </a:ln>
        </p:spPr>
      </p:sp>
      <p:pic>
        <p:nvPicPr>
          <p:cNvPr id="31" name="Image 6" descr="thinking face">    </p:cNvPr>
          <p:cNvPicPr>
            <a:picLocks noChangeAspect="1"/>
          </p:cNvPicPr>
          <p:nvPr/>
        </p:nvPicPr>
        <p:blipFill>
          <a:blip r:embed="rId7"/>
          <a:stretch>
            <a:fillRect/>
          </a:stretch>
        </p:blipFill>
        <p:spPr>
          <a:xfrm>
            <a:off x="777240" y="5257800"/>
            <a:ext cx="822960" cy="822960"/>
          </a:xfrm>
          <a:prstGeom prst="rect">
            <a:avLst/>
          </a:prstGeom>
        </p:spPr>
      </p:pic>
      <p:sp>
        <p:nvSpPr>
          <p:cNvPr id="32" name="Text 22"/>
          <p:cNvSpPr txBox="1"/>
          <p:nvPr/>
        </p:nvSpPr>
        <p:spPr>
          <a:xfrm>
            <a:off x="1828800" y="5120640"/>
            <a:ext cx="9601200" cy="1097280"/>
          </a:xfrm>
          <a:prstGeom prst="rect">
            <a:avLst/>
          </a:prstGeom>
          <a:noFill/>
          <a:ln/>
        </p:spPr>
        <p:txBody>
          <a:bodyPr wrap="square" lIns="0" tIns="0" rIns="0" bIns="0" rtlCol="0" anchor="ctr"/>
          <a:lstStyle/>
          <a:p>
            <a:pPr algn="l" indent="0" marL="0">
              <a:spcAft>
                <a:spcPts val="400"/>
              </a:spcAft>
              <a:buNone/>
            </a:pPr>
            <a:r>
              <a:rPr lang="en-US" sz="1800" dirty="0">
                <a:solidFill>
                  <a:schemeClr val="tx1"/>
                </a:solidFill>
              </a:rPr>
              <a:t>Quelle phrase va avec quelle image ?</a:t>
            </a:r>
            <a:endParaRPr lang="en-US" sz="1800" dirty="0"/>
          </a:p>
          <a:p>
            <a:pPr algn="l" indent="0" marL="0">
              <a:spcAft>
                <a:spcPts val="400"/>
              </a:spcAft>
              <a:buNone/>
            </a:pPr>
            <a:r>
              <a:rPr lang="en-US" sz="1800" dirty="0">
                <a:solidFill>
                  <a:schemeClr val="tx1"/>
                </a:solidFill>
              </a:rPr>
              <a:t>Où est le petit mot </a:t>
            </a:r>
            <a:r>
              <a:rPr lang="en-US" sz="1800" i="1" dirty="0">
                <a:solidFill>
                  <a:schemeClr val="tx1"/>
                </a:solidFill>
              </a:rPr>
              <a:t>in</a:t>
            </a:r>
            <a:r>
              <a:rPr lang="en-US" sz="1800" dirty="0">
                <a:solidFill>
                  <a:schemeClr val="tx1"/>
                </a:solidFill>
              </a:rPr>
              <a:t> : avant ou après </a:t>
            </a:r>
            <a:r>
              <a:rPr lang="en-US" sz="1800" i="1" dirty="0">
                <a:solidFill>
                  <a:schemeClr val="tx1"/>
                </a:solidFill>
              </a:rPr>
              <a:t>het park</a:t>
            </a:r>
            <a:r>
              <a:rPr lang="en-US" sz="1800" dirty="0">
                <a:solidFill>
                  <a:schemeClr val="tx1"/>
                </a:solidFill>
              </a:rPr>
              <a:t>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procédé : voorzetsel ou achterzetsel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13248" cy="3611880"/>
          </a:xfrm>
          <a:prstGeom prst="roundRect">
            <a:avLst>
              <a:gd name="adj" fmla="val 3038"/>
            </a:avLst>
          </a:prstGeom>
          <a:solidFill>
            <a:schemeClr val="bg1"/>
          </a:solidFill>
          <a:ln w="3175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13248" cy="777240"/>
          </a:xfrm>
          <a:prstGeom prst="roundRect">
            <a:avLst>
              <a:gd name="adj" fmla="val 14118"/>
            </a:avLst>
          </a:prstGeom>
          <a:solidFill>
            <a:schemeClr val="accent2"/>
          </a:solidFill>
          <a:ln w="12700">
            <a:solidFill>
              <a:srgbClr val="FFFFFF">
                <a:alpha val="0"/>
              </a:srgbClr>
            </a:solidFill>
            <a:prstDash val="solid"/>
          </a:ln>
        </p:spPr>
      </p:sp>
      <p:sp>
        <p:nvSpPr>
          <p:cNvPr id="7" name="Text 4"/>
          <p:cNvSpPr txBox="1"/>
          <p:nvPr/>
        </p:nvSpPr>
        <p:spPr>
          <a:xfrm>
            <a:off x="731520" y="1554480"/>
            <a:ext cx="5047488" cy="777240"/>
          </a:xfrm>
          <a:prstGeom prst="rect">
            <a:avLst/>
          </a:prstGeom>
          <a:noFill/>
          <a:ln/>
        </p:spPr>
        <p:txBody>
          <a:bodyPr wrap="square" lIns="0" tIns="0" rIns="0" bIns="0" rtlCol="0" anchor="ctr"/>
          <a:lstStyle/>
          <a:p>
            <a:pPr algn="ctr" indent="0" marL="0">
              <a:buNone/>
            </a:pPr>
            <a:r>
              <a:rPr lang="en-US" sz="1500" b="1" dirty="0">
                <a:solidFill>
                  <a:schemeClr val="bg1"/>
                </a:solidFill>
              </a:rPr>
              <a:t>HET VOORZETSEL</a:t>
            </a:r>
            <a:endParaRPr lang="en-US" sz="1500" dirty="0"/>
          </a:p>
          <a:p>
            <a:pPr algn="ctr" indent="0" marL="0">
              <a:buNone/>
            </a:pPr>
            <a:r>
              <a:rPr lang="en-US" sz="1500" dirty="0">
                <a:solidFill>
                  <a:schemeClr val="bg1"/>
                </a:solidFill>
              </a:rPr>
              <a:t>la préposition · </a:t>
            </a:r>
            <a:r>
              <a:rPr lang="en-US" sz="1500" b="1" dirty="0">
                <a:solidFill>
                  <a:schemeClr val="bg1"/>
                </a:solidFill>
              </a:rPr>
              <a:t>devant</a:t>
            </a:r>
            <a:r>
              <a:rPr lang="en-US" sz="1500" dirty="0">
                <a:solidFill>
                  <a:schemeClr val="bg1"/>
                </a:solidFill>
              </a:rPr>
              <a:t> le nom</a:t>
            </a:r>
            <a:endParaRPr lang="en-US" sz="1500" dirty="0"/>
          </a:p>
        </p:txBody>
      </p:sp>
      <p:sp>
        <p:nvSpPr>
          <p:cNvPr id="8" name="Shape 5"/>
          <p:cNvSpPr/>
          <p:nvPr/>
        </p:nvSpPr>
        <p:spPr>
          <a:xfrm>
            <a:off x="2618842" y="2543861"/>
            <a:ext cx="2688336" cy="1267358"/>
          </a:xfrm>
          <a:prstGeom prst="rect">
            <a:avLst/>
          </a:prstGeom>
          <a:solidFill>
            <a:srgbClr val="FFFFFF"/>
          </a:solidFill>
          <a:ln w="31750">
            <a:solidFill>
              <a:srgbClr val="17375E"/>
            </a:solidFill>
            <a:prstDash val="solid"/>
          </a:ln>
        </p:spPr>
      </p:sp>
      <p:sp>
        <p:nvSpPr>
          <p:cNvPr id="9" name="Shape 6"/>
          <p:cNvSpPr/>
          <p:nvPr/>
        </p:nvSpPr>
        <p:spPr>
          <a:xfrm>
            <a:off x="2563978" y="3025457"/>
            <a:ext cx="109728" cy="304166"/>
          </a:xfrm>
          <a:prstGeom prst="rect">
            <a:avLst/>
          </a:prstGeom>
          <a:solidFill>
            <a:srgbClr val="FFFFFF"/>
          </a:solidFill>
          <a:ln w="12700">
            <a:solidFill>
              <a:srgbClr val="FFFFFF">
                <a:alpha val="0"/>
              </a:srgbClr>
            </a:solidFill>
            <a:prstDash val="solid"/>
          </a:ln>
        </p:spPr>
      </p:sp>
      <p:pic>
        <p:nvPicPr>
          <p:cNvPr id="10" name="Image 0" descr="cooking">    </p:cNvPr>
          <p:cNvPicPr>
            <a:picLocks noChangeAspect="1"/>
          </p:cNvPicPr>
          <p:nvPr/>
        </p:nvPicPr>
        <p:blipFill>
          <a:blip r:embed="rId1"/>
          <a:stretch>
            <a:fillRect/>
          </a:stretch>
        </p:blipFill>
        <p:spPr>
          <a:xfrm>
            <a:off x="4849978" y="2617013"/>
            <a:ext cx="384048" cy="384048"/>
          </a:xfrm>
          <a:prstGeom prst="rect">
            <a:avLst/>
          </a:prstGeom>
        </p:spPr>
      </p:pic>
      <p:sp>
        <p:nvSpPr>
          <p:cNvPr id="11" name="Text 7"/>
          <p:cNvSpPr txBox="1"/>
          <p:nvPr/>
        </p:nvSpPr>
        <p:spPr>
          <a:xfrm>
            <a:off x="2710282" y="2580437"/>
            <a:ext cx="2139696" cy="310896"/>
          </a:xfrm>
          <a:prstGeom prst="rect">
            <a:avLst/>
          </a:prstGeom>
          <a:noFill/>
          <a:ln/>
        </p:spPr>
        <p:txBody>
          <a:bodyPr wrap="square" lIns="0" tIns="0" rIns="0" bIns="0" rtlCol="0" anchor="t"/>
          <a:lstStyle/>
          <a:p>
            <a:pPr algn="l" indent="0" marL="0">
              <a:buNone/>
            </a:pPr>
            <a:r>
              <a:rPr lang="en-US" sz="1200" i="1" dirty="0">
                <a:solidFill>
                  <a:schemeClr val="accent5"/>
                </a:solidFill>
              </a:rPr>
              <a:t>de keuken</a:t>
            </a:r>
            <a:endParaRPr lang="en-US" sz="1200" dirty="0"/>
          </a:p>
        </p:txBody>
      </p:sp>
      <p:pic>
        <p:nvPicPr>
          <p:cNvPr id="12" name="Image 1" descr="person standing">    </p:cNvPr>
          <p:cNvPicPr>
            <a:picLocks noChangeAspect="1"/>
          </p:cNvPicPr>
          <p:nvPr/>
        </p:nvPicPr>
        <p:blipFill>
          <a:blip r:embed="rId2"/>
          <a:stretch>
            <a:fillRect/>
          </a:stretch>
        </p:blipFill>
        <p:spPr>
          <a:xfrm>
            <a:off x="3323570" y="2860700"/>
            <a:ext cx="633679" cy="633679"/>
          </a:xfrm>
          <a:prstGeom prst="rect">
            <a:avLst/>
          </a:prstGeom>
        </p:spPr>
      </p:pic>
      <p:sp>
        <p:nvSpPr>
          <p:cNvPr id="13" name="Shape 8"/>
          <p:cNvSpPr/>
          <p:nvPr/>
        </p:nvSpPr>
        <p:spPr>
          <a:xfrm>
            <a:off x="3539825" y="3476092"/>
            <a:ext cx="201168" cy="201168"/>
          </a:xfrm>
          <a:prstGeom prst="ellipse">
            <a:avLst/>
          </a:prstGeom>
          <a:solidFill>
            <a:schemeClr val="accent2"/>
          </a:solidFill>
          <a:ln w="12700">
            <a:solidFill>
              <a:srgbClr val="FFFFFF">
                <a:alpha val="0"/>
              </a:srgbClr>
            </a:solidFill>
            <a:prstDash val="solid"/>
          </a:ln>
        </p:spPr>
      </p:sp>
      <p:sp>
        <p:nvSpPr>
          <p:cNvPr id="14" name="Text 9"/>
          <p:cNvSpPr txBox="1"/>
          <p:nvPr/>
        </p:nvSpPr>
        <p:spPr>
          <a:xfrm>
            <a:off x="731520" y="3931920"/>
            <a:ext cx="5047488" cy="548640"/>
          </a:xfrm>
          <a:prstGeom prst="rect">
            <a:avLst/>
          </a:prstGeom>
          <a:noFill/>
          <a:ln/>
        </p:spPr>
        <p:txBody>
          <a:bodyPr wrap="square" lIns="0" tIns="0" rIns="0" bIns="0" rtlCol="0" anchor="ctr"/>
          <a:lstStyle/>
          <a:p>
            <a:pPr algn="ctr" indent="0" marL="0">
              <a:buNone/>
            </a:pPr>
            <a:r>
              <a:rPr lang="en-US" sz="2200" i="1" dirty="0">
                <a:solidFill>
                  <a:schemeClr val="tx1"/>
                </a:solidFill>
              </a:rPr>
              <a:t>Ik loop </a:t>
            </a:r>
            <a:r>
              <a:rPr lang="en-US" sz="2200" b="1" i="1" dirty="0">
                <a:solidFill>
                  <a:schemeClr val="accent2"/>
                </a:solidFill>
              </a:rPr>
              <a:t>in</a:t>
            </a:r>
            <a:r>
              <a:rPr lang="en-US" sz="2200" i="1" dirty="0">
                <a:solidFill>
                  <a:schemeClr val="tx1"/>
                </a:solidFill>
              </a:rPr>
              <a:t> de keuken.</a:t>
            </a:r>
            <a:endParaRPr lang="en-US" sz="2200" dirty="0"/>
          </a:p>
        </p:txBody>
      </p:sp>
      <p:sp>
        <p:nvSpPr>
          <p:cNvPr id="15" name="Text 10"/>
          <p:cNvSpPr txBox="1"/>
          <p:nvPr/>
        </p:nvSpPr>
        <p:spPr>
          <a:xfrm>
            <a:off x="731520" y="4480560"/>
            <a:ext cx="5047488" cy="548640"/>
          </a:xfrm>
          <a:prstGeom prst="rect">
            <a:avLst/>
          </a:prstGeom>
          <a:noFill/>
          <a:ln/>
        </p:spPr>
        <p:txBody>
          <a:bodyPr wrap="square" lIns="0" tIns="0" rIns="0" bIns="0" rtlCol="0" anchor="ctr"/>
          <a:lstStyle/>
          <a:p>
            <a:pPr algn="ctr" indent="0" marL="0">
              <a:buNone/>
            </a:pPr>
            <a:r>
              <a:rPr lang="en-US" sz="1700" b="1" dirty="0">
                <a:solidFill>
                  <a:schemeClr val="accent2"/>
                </a:solidFill>
              </a:rPr>
              <a:t>Waar?</a:t>
            </a:r>
            <a:r>
              <a:rPr lang="en-US" sz="1700" dirty="0">
                <a:solidFill>
                  <a:schemeClr val="accent2"/>
                </a:solidFill>
              </a:rPr>
              <a:t> — où ? le </a:t>
            </a:r>
            <a:r>
              <a:rPr lang="en-US" sz="1700" b="1" dirty="0">
                <a:solidFill>
                  <a:schemeClr val="accent2"/>
                </a:solidFill>
              </a:rPr>
              <a:t>lieu</a:t>
            </a:r>
            <a:endParaRPr lang="en-US" sz="1700" dirty="0"/>
          </a:p>
        </p:txBody>
      </p:sp>
      <p:sp>
        <p:nvSpPr>
          <p:cNvPr id="16" name="Shape 11"/>
          <p:cNvSpPr/>
          <p:nvPr/>
        </p:nvSpPr>
        <p:spPr>
          <a:xfrm>
            <a:off x="6227064" y="1554480"/>
            <a:ext cx="5413248" cy="3611880"/>
          </a:xfrm>
          <a:prstGeom prst="roundRect">
            <a:avLst>
              <a:gd name="adj" fmla="val 3038"/>
            </a:avLst>
          </a:prstGeom>
          <a:solidFill>
            <a:schemeClr val="bg1"/>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17" name="Shape 12"/>
          <p:cNvSpPr/>
          <p:nvPr/>
        </p:nvSpPr>
        <p:spPr>
          <a:xfrm>
            <a:off x="6227064" y="1554480"/>
            <a:ext cx="5413248" cy="777240"/>
          </a:xfrm>
          <a:prstGeom prst="roundRect">
            <a:avLst>
              <a:gd name="adj" fmla="val 14118"/>
            </a:avLst>
          </a:prstGeom>
          <a:solidFill>
            <a:schemeClr val="accent1"/>
          </a:solidFill>
          <a:ln w="12700">
            <a:solidFill>
              <a:srgbClr val="FFFFFF">
                <a:alpha val="0"/>
              </a:srgbClr>
            </a:solidFill>
            <a:prstDash val="solid"/>
          </a:ln>
        </p:spPr>
      </p:sp>
      <p:sp>
        <p:nvSpPr>
          <p:cNvPr id="18" name="Text 13"/>
          <p:cNvSpPr txBox="1"/>
          <p:nvPr/>
        </p:nvSpPr>
        <p:spPr>
          <a:xfrm>
            <a:off x="6409944" y="1554480"/>
            <a:ext cx="5047488" cy="777240"/>
          </a:xfrm>
          <a:prstGeom prst="rect">
            <a:avLst/>
          </a:prstGeom>
          <a:noFill/>
          <a:ln/>
        </p:spPr>
        <p:txBody>
          <a:bodyPr wrap="square" lIns="0" tIns="0" rIns="0" bIns="0" rtlCol="0" anchor="ctr"/>
          <a:lstStyle/>
          <a:p>
            <a:pPr algn="ctr" indent="0" marL="0">
              <a:buNone/>
            </a:pPr>
            <a:r>
              <a:rPr lang="en-US" sz="1500" b="1" dirty="0">
                <a:solidFill>
                  <a:schemeClr val="bg1"/>
                </a:solidFill>
              </a:rPr>
              <a:t>HET ACHTERZETSEL</a:t>
            </a:r>
            <a:endParaRPr lang="en-US" sz="1500" dirty="0"/>
          </a:p>
          <a:p>
            <a:pPr algn="ctr" indent="0" marL="0">
              <a:buNone/>
            </a:pPr>
            <a:r>
              <a:rPr lang="en-US" sz="1500" dirty="0">
                <a:solidFill>
                  <a:schemeClr val="bg1"/>
                </a:solidFill>
              </a:rPr>
              <a:t>la postposition · </a:t>
            </a:r>
            <a:r>
              <a:rPr lang="en-US" sz="1500" b="1" dirty="0">
                <a:solidFill>
                  <a:schemeClr val="bg1"/>
                </a:solidFill>
              </a:rPr>
              <a:t>après</a:t>
            </a:r>
            <a:r>
              <a:rPr lang="en-US" sz="1500" dirty="0">
                <a:solidFill>
                  <a:schemeClr val="bg1"/>
                </a:solidFill>
              </a:rPr>
              <a:t> le nom</a:t>
            </a:r>
            <a:endParaRPr lang="en-US" sz="1500" dirty="0"/>
          </a:p>
        </p:txBody>
      </p:sp>
      <p:sp>
        <p:nvSpPr>
          <p:cNvPr id="19" name="Shape 14"/>
          <p:cNvSpPr/>
          <p:nvPr/>
        </p:nvSpPr>
        <p:spPr>
          <a:xfrm>
            <a:off x="8297266" y="2543861"/>
            <a:ext cx="2688336" cy="1267358"/>
          </a:xfrm>
          <a:prstGeom prst="rect">
            <a:avLst/>
          </a:prstGeom>
          <a:solidFill>
            <a:srgbClr val="FFFFFF"/>
          </a:solidFill>
          <a:ln w="31750">
            <a:solidFill>
              <a:srgbClr val="17375E"/>
            </a:solidFill>
            <a:prstDash val="solid"/>
          </a:ln>
        </p:spPr>
      </p:sp>
      <p:sp>
        <p:nvSpPr>
          <p:cNvPr id="20" name="Shape 15"/>
          <p:cNvSpPr/>
          <p:nvPr/>
        </p:nvSpPr>
        <p:spPr>
          <a:xfrm>
            <a:off x="8242402" y="3025457"/>
            <a:ext cx="109728" cy="304166"/>
          </a:xfrm>
          <a:prstGeom prst="rect">
            <a:avLst/>
          </a:prstGeom>
          <a:solidFill>
            <a:srgbClr val="FFFFFF"/>
          </a:solidFill>
          <a:ln w="12700">
            <a:solidFill>
              <a:srgbClr val="FFFFFF">
                <a:alpha val="0"/>
              </a:srgbClr>
            </a:solidFill>
            <a:prstDash val="solid"/>
          </a:ln>
        </p:spPr>
      </p:sp>
      <p:pic>
        <p:nvPicPr>
          <p:cNvPr id="21" name="Image 2" descr="cooking">    </p:cNvPr>
          <p:cNvPicPr>
            <a:picLocks noChangeAspect="1"/>
          </p:cNvPicPr>
          <p:nvPr/>
        </p:nvPicPr>
        <p:blipFill>
          <a:blip r:embed="rId3"/>
          <a:stretch>
            <a:fillRect/>
          </a:stretch>
        </p:blipFill>
        <p:spPr>
          <a:xfrm>
            <a:off x="10528402" y="2617013"/>
            <a:ext cx="384048" cy="384048"/>
          </a:xfrm>
          <a:prstGeom prst="rect">
            <a:avLst/>
          </a:prstGeom>
        </p:spPr>
      </p:pic>
      <p:sp>
        <p:nvSpPr>
          <p:cNvPr id="22" name="Text 16"/>
          <p:cNvSpPr txBox="1"/>
          <p:nvPr/>
        </p:nvSpPr>
        <p:spPr>
          <a:xfrm>
            <a:off x="8388706" y="2580437"/>
            <a:ext cx="2139696" cy="310896"/>
          </a:xfrm>
          <a:prstGeom prst="rect">
            <a:avLst/>
          </a:prstGeom>
          <a:noFill/>
          <a:ln/>
        </p:spPr>
        <p:txBody>
          <a:bodyPr wrap="square" lIns="0" tIns="0" rIns="0" bIns="0" rtlCol="0" anchor="t"/>
          <a:lstStyle/>
          <a:p>
            <a:pPr algn="l" indent="0" marL="0">
              <a:buNone/>
            </a:pPr>
            <a:r>
              <a:rPr lang="en-US" sz="1200" i="1" dirty="0">
                <a:solidFill>
                  <a:schemeClr val="accent5"/>
                </a:solidFill>
              </a:rPr>
              <a:t>de keuken</a:t>
            </a:r>
            <a:endParaRPr lang="en-US" sz="1200" dirty="0"/>
          </a:p>
        </p:txBody>
      </p:sp>
      <p:pic>
        <p:nvPicPr>
          <p:cNvPr id="23" name="Image 3" descr="person standing">    </p:cNvPr>
          <p:cNvPicPr>
            <a:picLocks noChangeAspect="1"/>
          </p:cNvPicPr>
          <p:nvPr/>
        </p:nvPicPr>
        <p:blipFill>
          <a:blip r:embed="rId4"/>
          <a:stretch>
            <a:fillRect/>
          </a:stretch>
        </p:blipFill>
        <p:spPr>
          <a:xfrm>
            <a:off x="6702552" y="2769260"/>
            <a:ext cx="633679" cy="633679"/>
          </a:xfrm>
          <a:prstGeom prst="rect">
            <a:avLst/>
          </a:prstGeom>
        </p:spPr>
      </p:pic>
      <p:sp>
        <p:nvSpPr>
          <p:cNvPr id="24" name="Shape 17"/>
          <p:cNvSpPr/>
          <p:nvPr/>
        </p:nvSpPr>
        <p:spPr>
          <a:xfrm>
            <a:off x="7222891" y="3287268"/>
            <a:ext cx="2284125" cy="914"/>
          </a:xfrm>
          <a:prstGeom prst="line">
            <a:avLst/>
          </a:prstGeom>
          <a:noFill/>
          <a:ln w="50800">
            <a:solidFill>
              <a:srgbClr val="D9700F"/>
            </a:solidFill>
            <a:prstDash val="solid"/>
            <a:tailEnd type="triangle"/>
          </a:ln>
        </p:spPr>
      </p:sp>
      <p:sp>
        <p:nvSpPr>
          <p:cNvPr id="25" name="Text 18"/>
          <p:cNvSpPr txBox="1"/>
          <p:nvPr/>
        </p:nvSpPr>
        <p:spPr>
          <a:xfrm>
            <a:off x="6409944" y="3931920"/>
            <a:ext cx="5047488" cy="548640"/>
          </a:xfrm>
          <a:prstGeom prst="rect">
            <a:avLst/>
          </a:prstGeom>
          <a:noFill/>
          <a:ln/>
        </p:spPr>
        <p:txBody>
          <a:bodyPr wrap="square" lIns="0" tIns="0" rIns="0" bIns="0" rtlCol="0" anchor="ctr"/>
          <a:lstStyle/>
          <a:p>
            <a:pPr algn="ctr" indent="0" marL="0">
              <a:buNone/>
            </a:pPr>
            <a:r>
              <a:rPr lang="en-US" sz="2200" i="1" dirty="0">
                <a:solidFill>
                  <a:schemeClr val="tx1"/>
                </a:solidFill>
              </a:rPr>
              <a:t>Ik loop de keuken </a:t>
            </a:r>
            <a:r>
              <a:rPr lang="en-US" sz="2200" b="1" i="1" dirty="0">
                <a:solidFill>
                  <a:schemeClr val="accent1"/>
                </a:solidFill>
              </a:rPr>
              <a:t>in</a:t>
            </a:r>
            <a:r>
              <a:rPr lang="en-US" sz="2200" i="1" dirty="0">
                <a:solidFill>
                  <a:schemeClr val="tx1"/>
                </a:solidFill>
              </a:rPr>
              <a:t>.</a:t>
            </a:r>
            <a:endParaRPr lang="en-US" sz="2200" dirty="0"/>
          </a:p>
        </p:txBody>
      </p:sp>
      <p:sp>
        <p:nvSpPr>
          <p:cNvPr id="26" name="Text 19"/>
          <p:cNvSpPr txBox="1"/>
          <p:nvPr/>
        </p:nvSpPr>
        <p:spPr>
          <a:xfrm>
            <a:off x="6409944" y="4480560"/>
            <a:ext cx="5047488" cy="548640"/>
          </a:xfrm>
          <a:prstGeom prst="rect">
            <a:avLst/>
          </a:prstGeom>
          <a:noFill/>
          <a:ln/>
        </p:spPr>
        <p:txBody>
          <a:bodyPr wrap="square" lIns="0" tIns="0" rIns="0" bIns="0" rtlCol="0" anchor="ctr"/>
          <a:lstStyle/>
          <a:p>
            <a:pPr algn="ctr" indent="0" marL="0">
              <a:buNone/>
            </a:pPr>
            <a:r>
              <a:rPr lang="en-US" sz="1700" b="1" dirty="0">
                <a:solidFill>
                  <a:schemeClr val="accent1"/>
                </a:solidFill>
              </a:rPr>
              <a:t>Waarheen?</a:t>
            </a:r>
            <a:r>
              <a:rPr lang="en-US" sz="1700" dirty="0">
                <a:solidFill>
                  <a:schemeClr val="accent1"/>
                </a:solidFill>
              </a:rPr>
              <a:t> — vers où ? la </a:t>
            </a:r>
            <a:r>
              <a:rPr lang="en-US" sz="1700" b="1" dirty="0">
                <a:solidFill>
                  <a:schemeClr val="accent1"/>
                </a:solidFill>
              </a:rPr>
              <a:t>direction</a:t>
            </a:r>
            <a:endParaRPr lang="en-US" sz="1700" dirty="0"/>
          </a:p>
        </p:txBody>
      </p:sp>
      <p:sp>
        <p:nvSpPr>
          <p:cNvPr id="27" name="Shape 20"/>
          <p:cNvSpPr/>
          <p:nvPr/>
        </p:nvSpPr>
        <p:spPr>
          <a:xfrm>
            <a:off x="548640" y="5349240"/>
            <a:ext cx="11091672" cy="868680"/>
          </a:xfrm>
          <a:prstGeom prst="roundRect">
            <a:avLst>
              <a:gd name="adj" fmla="val 8421"/>
            </a:avLst>
          </a:prstGeom>
          <a:solidFill>
            <a:schemeClr val="tx2"/>
          </a:solidFill>
          <a:ln w="12700">
            <a:solidFill>
              <a:srgbClr val="FFFFFF">
                <a:alpha val="0"/>
              </a:srgbClr>
            </a:solidFill>
            <a:prstDash val="solid"/>
          </a:ln>
        </p:spPr>
      </p:sp>
      <p:sp>
        <p:nvSpPr>
          <p:cNvPr id="28" name="Text 21"/>
          <p:cNvSpPr txBox="1"/>
          <p:nvPr/>
        </p:nvSpPr>
        <p:spPr>
          <a:xfrm>
            <a:off x="822960" y="5349240"/>
            <a:ext cx="10607040" cy="868680"/>
          </a:xfrm>
          <a:prstGeom prst="rect">
            <a:avLst/>
          </a:prstGeom>
          <a:noFill/>
          <a:ln/>
        </p:spPr>
        <p:txBody>
          <a:bodyPr wrap="square" lIns="0" tIns="0" rIns="0" bIns="0" rtlCol="0" anchor="ctr"/>
          <a:lstStyle/>
          <a:p>
            <a:pPr algn="l" indent="0" marL="0">
              <a:spcAft>
                <a:spcPts val="200"/>
              </a:spcAft>
              <a:buNone/>
            </a:pPr>
            <a:r>
              <a:rPr lang="en-US" sz="1700" dirty="0">
                <a:solidFill>
                  <a:schemeClr val="bg1"/>
                </a:solidFill>
              </a:rPr>
              <a:t>Un </a:t>
            </a:r>
            <a:r>
              <a:rPr lang="en-US" sz="1700" i="1" dirty="0">
                <a:solidFill>
                  <a:schemeClr val="bg1"/>
                </a:solidFill>
              </a:rPr>
              <a:t>achterzetsel</a:t>
            </a:r>
            <a:r>
              <a:rPr lang="en-US" sz="1700" dirty="0">
                <a:solidFill>
                  <a:schemeClr val="bg1"/>
                </a:solidFill>
              </a:rPr>
              <a:t> = on </a:t>
            </a:r>
            <a:r>
              <a:rPr lang="en-US" sz="1700" b="1" dirty="0">
                <a:solidFill>
                  <a:schemeClr val="bg1"/>
                </a:solidFill>
              </a:rPr>
              <a:t>franchit une limite</a:t>
            </a:r>
            <a:r>
              <a:rPr lang="en-US" sz="1700" dirty="0">
                <a:solidFill>
                  <a:schemeClr val="bg1"/>
                </a:solidFill>
              </a:rPr>
              <a:t> ou on </a:t>
            </a:r>
            <a:r>
              <a:rPr lang="en-US" sz="1700" b="1" dirty="0">
                <a:solidFill>
                  <a:schemeClr val="bg1"/>
                </a:solidFill>
              </a:rPr>
              <a:t>suit un trajet</a:t>
            </a:r>
            <a:r>
              <a:rPr lang="en-US" sz="1700" dirty="0">
                <a:solidFill>
                  <a:schemeClr val="bg1"/>
                </a:solidFill>
              </a:rPr>
              <a:t>.</a:t>
            </a:r>
            <a:endParaRPr lang="en-US" sz="1700" dirty="0"/>
          </a:p>
          <a:p>
            <a:pPr algn="l" indent="0" marL="0">
              <a:spcAft>
                <a:spcPts val="200"/>
              </a:spcAft>
              <a:buNone/>
            </a:pPr>
            <a:r>
              <a:rPr lang="en-US" sz="1700" i="1" dirty="0">
                <a:solidFill>
                  <a:schemeClr val="bg1"/>
                </a:solidFill>
              </a:rPr>
              <a:t>achter</a:t>
            </a:r>
            <a:r>
              <a:rPr lang="en-US" sz="1700" dirty="0">
                <a:solidFill>
                  <a:schemeClr val="bg1"/>
                </a:solidFill>
              </a:rPr>
              <a:t> = derrière · </a:t>
            </a:r>
            <a:r>
              <a:rPr lang="en-US" sz="1700" i="1" dirty="0">
                <a:solidFill>
                  <a:schemeClr val="bg1"/>
                </a:solidFill>
              </a:rPr>
              <a:t>zetten</a:t>
            </a:r>
            <a:r>
              <a:rPr lang="en-US" sz="1700" dirty="0">
                <a:solidFill>
                  <a:schemeClr val="bg1"/>
                </a:solidFill>
              </a:rPr>
              <a:t> = poser → « ce qu’on pose derrière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Une phrase, deux sens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6949440" cy="1828800"/>
          </a:xfrm>
          <a:prstGeom prst="roundRect">
            <a:avLst>
              <a:gd name="adj" fmla="val 5000"/>
            </a:avLst>
          </a:prstGeom>
          <a:solidFill>
            <a:schemeClr val="bg2"/>
          </a:solidFill>
          <a:ln w="12700">
            <a:solidFill>
              <a:srgbClr val="D5DCE6"/>
            </a:solidFill>
            <a:prstDash val="solid"/>
          </a:ln>
        </p:spPr>
      </p:sp>
      <p:sp>
        <p:nvSpPr>
          <p:cNvPr id="6" name="Text 3"/>
          <p:cNvSpPr txBox="1"/>
          <p:nvPr/>
        </p:nvSpPr>
        <p:spPr>
          <a:xfrm>
            <a:off x="731520" y="1600200"/>
            <a:ext cx="6583680" cy="457200"/>
          </a:xfrm>
          <a:prstGeom prst="rect">
            <a:avLst/>
          </a:prstGeom>
          <a:noFill/>
          <a:ln/>
        </p:spPr>
        <p:txBody>
          <a:bodyPr wrap="square" lIns="0" tIns="0" rIns="0" bIns="0" rtlCol="0" anchor="ctr"/>
          <a:lstStyle/>
          <a:p>
            <a:pPr algn="l" indent="0" marL="0">
              <a:buNone/>
            </a:pPr>
            <a:r>
              <a:rPr lang="en-US" sz="2100" i="1" dirty="0">
                <a:solidFill>
                  <a:schemeClr val="tx1"/>
                </a:solidFill>
              </a:rPr>
              <a:t>Hij springt </a:t>
            </a:r>
            <a:r>
              <a:rPr lang="en-US" sz="2100" b="1" i="1" dirty="0">
                <a:solidFill>
                  <a:schemeClr val="accent2"/>
                </a:solidFill>
              </a:rPr>
              <a:t>in</a:t>
            </a:r>
            <a:r>
              <a:rPr lang="en-US" sz="2100" i="1" dirty="0">
                <a:solidFill>
                  <a:schemeClr val="tx1"/>
                </a:solidFill>
              </a:rPr>
              <a:t> het water.</a:t>
            </a:r>
            <a:endParaRPr lang="en-US" sz="2100" dirty="0"/>
          </a:p>
        </p:txBody>
      </p:sp>
      <p:sp>
        <p:nvSpPr>
          <p:cNvPr id="7" name="Text 4"/>
          <p:cNvSpPr txBox="1"/>
          <p:nvPr/>
        </p:nvSpPr>
        <p:spPr>
          <a:xfrm>
            <a:off x="6903720" y="1600200"/>
            <a:ext cx="457200" cy="457200"/>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8" name="Shape 5"/>
          <p:cNvSpPr/>
          <p:nvPr/>
        </p:nvSpPr>
        <p:spPr>
          <a:xfrm>
            <a:off x="777240" y="2103120"/>
            <a:ext cx="877824" cy="914400"/>
          </a:xfrm>
          <a:prstGeom prst="rect">
            <a:avLst/>
          </a:prstGeom>
          <a:solidFill>
            <a:srgbClr val="D5DCE6"/>
          </a:solidFill>
          <a:ln w="12700">
            <a:solidFill>
              <a:srgbClr val="FFFFFF">
                <a:alpha val="0"/>
              </a:srgbClr>
            </a:solidFill>
            <a:prstDash val="solid"/>
          </a:ln>
        </p:spPr>
      </p:sp>
      <p:sp>
        <p:nvSpPr>
          <p:cNvPr id="9" name="Shape 6"/>
          <p:cNvSpPr/>
          <p:nvPr/>
        </p:nvSpPr>
        <p:spPr>
          <a:xfrm>
            <a:off x="1655064" y="2423160"/>
            <a:ext cx="2048256" cy="594360"/>
          </a:xfrm>
          <a:prstGeom prst="rect">
            <a:avLst/>
          </a:prstGeom>
          <a:solidFill>
            <a:srgbClr val="7FB8E6"/>
          </a:solidFill>
          <a:ln w="12700">
            <a:solidFill>
              <a:srgbClr val="FFFFFF">
                <a:alpha val="0"/>
              </a:srgbClr>
            </a:solidFill>
            <a:prstDash val="solid"/>
          </a:ln>
        </p:spPr>
      </p:sp>
      <p:pic>
        <p:nvPicPr>
          <p:cNvPr id="10" name="Image 0" descr="person swimming">    </p:cNvPr>
          <p:cNvPicPr>
            <a:picLocks noChangeAspect="1"/>
          </p:cNvPicPr>
          <p:nvPr/>
        </p:nvPicPr>
        <p:blipFill>
          <a:blip r:embed="rId1"/>
          <a:stretch>
            <a:fillRect/>
          </a:stretch>
        </p:blipFill>
        <p:spPr>
          <a:xfrm>
            <a:off x="2386584" y="2377440"/>
            <a:ext cx="457200" cy="457200"/>
          </a:xfrm>
          <a:prstGeom prst="rect">
            <a:avLst/>
          </a:prstGeom>
        </p:spPr>
      </p:pic>
      <p:sp>
        <p:nvSpPr>
          <p:cNvPr id="11" name="Shape 7"/>
          <p:cNvSpPr/>
          <p:nvPr/>
        </p:nvSpPr>
        <p:spPr>
          <a:xfrm flipV="1">
            <a:off x="3352190" y="2240280"/>
            <a:ext cx="914" cy="548640"/>
          </a:xfrm>
          <a:prstGeom prst="line">
            <a:avLst/>
          </a:prstGeom>
          <a:noFill/>
          <a:ln w="31750">
            <a:solidFill>
              <a:srgbClr val="2A6FB0"/>
            </a:solidFill>
            <a:prstDash val="solid"/>
            <a:headEnd type="triangle"/>
            <a:tailEnd type="triangle"/>
          </a:ln>
        </p:spPr>
      </p:sp>
      <p:sp>
        <p:nvSpPr>
          <p:cNvPr id="12" name="Shape 8"/>
          <p:cNvSpPr/>
          <p:nvPr/>
        </p:nvSpPr>
        <p:spPr>
          <a:xfrm>
            <a:off x="4069080" y="2103120"/>
            <a:ext cx="877824" cy="914400"/>
          </a:xfrm>
          <a:prstGeom prst="rect">
            <a:avLst/>
          </a:prstGeom>
          <a:solidFill>
            <a:srgbClr val="D5DCE6"/>
          </a:solidFill>
          <a:ln w="12700">
            <a:solidFill>
              <a:srgbClr val="FFFFFF">
                <a:alpha val="0"/>
              </a:srgbClr>
            </a:solidFill>
            <a:prstDash val="solid"/>
          </a:ln>
        </p:spPr>
      </p:sp>
      <p:sp>
        <p:nvSpPr>
          <p:cNvPr id="13" name="Shape 9"/>
          <p:cNvSpPr/>
          <p:nvPr/>
        </p:nvSpPr>
        <p:spPr>
          <a:xfrm>
            <a:off x="4946904" y="2423160"/>
            <a:ext cx="2048256" cy="594360"/>
          </a:xfrm>
          <a:prstGeom prst="rect">
            <a:avLst/>
          </a:prstGeom>
          <a:solidFill>
            <a:srgbClr val="7FB8E6"/>
          </a:solidFill>
          <a:ln w="12700">
            <a:solidFill>
              <a:srgbClr val="FFFFFF">
                <a:alpha val="0"/>
              </a:srgbClr>
            </a:solidFill>
            <a:prstDash val="solid"/>
          </a:ln>
        </p:spPr>
      </p:sp>
      <p:pic>
        <p:nvPicPr>
          <p:cNvPr id="14" name="Image 1" descr="person standing">    </p:cNvPr>
          <p:cNvPicPr>
            <a:picLocks noChangeAspect="1"/>
          </p:cNvPicPr>
          <p:nvPr/>
        </p:nvPicPr>
        <p:blipFill>
          <a:blip r:embed="rId2"/>
          <a:stretch>
            <a:fillRect/>
          </a:stretch>
        </p:blipFill>
        <p:spPr>
          <a:xfrm>
            <a:off x="4156862" y="2057400"/>
            <a:ext cx="502920" cy="502920"/>
          </a:xfrm>
          <a:prstGeom prst="rect">
            <a:avLst/>
          </a:prstGeom>
        </p:spPr>
      </p:pic>
      <p:sp>
        <p:nvSpPr>
          <p:cNvPr id="15" name="Shape 10"/>
          <p:cNvSpPr/>
          <p:nvPr/>
        </p:nvSpPr>
        <p:spPr>
          <a:xfrm>
            <a:off x="4712818" y="1965960"/>
            <a:ext cx="1404518" cy="640080"/>
          </a:xfrm>
          <a:prstGeom prst="arc">
            <a:avLst>
              <a:gd name="adj1" fmla="val 10800000"/>
              <a:gd name="adj2" fmla="val 21600000"/>
            </a:avLst>
          </a:prstGeom>
          <a:solidFill>
            <a:srgbClr val="FFFFFF">
              <a:alpha val="0"/>
            </a:srgbClr>
          </a:solidFill>
          <a:ln w="44450">
            <a:solidFill>
              <a:srgbClr val="D9700F"/>
            </a:solidFill>
            <a:prstDash val="solid"/>
            <a:tailEnd type="triangle"/>
          </a:ln>
        </p:spPr>
      </p:sp>
      <p:sp>
        <p:nvSpPr>
          <p:cNvPr id="16" name="Text 11"/>
          <p:cNvSpPr txBox="1"/>
          <p:nvPr/>
        </p:nvSpPr>
        <p:spPr>
          <a:xfrm>
            <a:off x="777240" y="3044952"/>
            <a:ext cx="2926080" cy="292608"/>
          </a:xfrm>
          <a:prstGeom prst="rect">
            <a:avLst/>
          </a:prstGeom>
          <a:noFill/>
          <a:ln/>
        </p:spPr>
        <p:txBody>
          <a:bodyPr wrap="square" lIns="0" tIns="0" rIns="0" bIns="0" rtlCol="0" anchor="t"/>
          <a:lstStyle/>
          <a:p>
            <a:pPr algn="ctr" indent="0" marL="0">
              <a:buNone/>
            </a:pPr>
            <a:r>
              <a:rPr lang="en-US" sz="1300" i="1" dirty="0">
                <a:solidFill>
                  <a:schemeClr val="accent5"/>
                </a:solidFill>
              </a:rPr>
              <a:t>① sur place</a:t>
            </a:r>
            <a:endParaRPr lang="en-US" sz="1300" dirty="0"/>
          </a:p>
        </p:txBody>
      </p:sp>
      <p:sp>
        <p:nvSpPr>
          <p:cNvPr id="17" name="Text 12"/>
          <p:cNvSpPr txBox="1"/>
          <p:nvPr/>
        </p:nvSpPr>
        <p:spPr>
          <a:xfrm>
            <a:off x="4069080" y="3044952"/>
            <a:ext cx="2926080" cy="292608"/>
          </a:xfrm>
          <a:prstGeom prst="rect">
            <a:avLst/>
          </a:prstGeom>
          <a:noFill/>
          <a:ln/>
        </p:spPr>
        <p:txBody>
          <a:bodyPr wrap="square" lIns="0" tIns="0" rIns="0" bIns="0" rtlCol="0" anchor="t"/>
          <a:lstStyle/>
          <a:p>
            <a:pPr algn="ctr" indent="0" marL="0">
              <a:buNone/>
            </a:pPr>
            <a:r>
              <a:rPr lang="en-US" sz="1300" i="1" dirty="0">
                <a:solidFill>
                  <a:schemeClr val="accent5"/>
                </a:solidFill>
              </a:rPr>
              <a:t>② depuis le bord</a:t>
            </a:r>
            <a:endParaRPr lang="en-US" sz="1300" dirty="0"/>
          </a:p>
        </p:txBody>
      </p:sp>
      <p:sp>
        <p:nvSpPr>
          <p:cNvPr id="18" name="Shape 13"/>
          <p:cNvSpPr/>
          <p:nvPr/>
        </p:nvSpPr>
        <p:spPr>
          <a:xfrm>
            <a:off x="548640" y="3566160"/>
            <a:ext cx="6949440" cy="1828800"/>
          </a:xfrm>
          <a:prstGeom prst="roundRect">
            <a:avLst>
              <a:gd name="adj" fmla="val 5000"/>
            </a:avLst>
          </a:prstGeom>
          <a:solidFill>
            <a:srgbClr val="FDF1E6"/>
          </a:solidFill>
          <a:ln w="25400">
            <a:solidFill>
              <a:srgbClr val="D9700F"/>
            </a:solidFill>
            <a:prstDash val="solid"/>
          </a:ln>
        </p:spPr>
      </p:sp>
      <p:sp>
        <p:nvSpPr>
          <p:cNvPr id="19" name="Text 14"/>
          <p:cNvSpPr txBox="1"/>
          <p:nvPr/>
        </p:nvSpPr>
        <p:spPr>
          <a:xfrm>
            <a:off x="731520" y="3611880"/>
            <a:ext cx="6583680" cy="457200"/>
          </a:xfrm>
          <a:prstGeom prst="rect">
            <a:avLst/>
          </a:prstGeom>
          <a:noFill/>
          <a:ln/>
        </p:spPr>
        <p:txBody>
          <a:bodyPr wrap="square" lIns="0" tIns="0" rIns="0" bIns="0" rtlCol="0" anchor="ctr"/>
          <a:lstStyle/>
          <a:p>
            <a:pPr algn="l" indent="0" marL="0">
              <a:buNone/>
            </a:pPr>
            <a:r>
              <a:rPr lang="en-US" sz="2100" i="1" dirty="0">
                <a:solidFill>
                  <a:schemeClr val="tx1"/>
                </a:solidFill>
              </a:rPr>
              <a:t>Hij springt het water </a:t>
            </a:r>
            <a:r>
              <a:rPr lang="en-US" sz="2100" b="1" i="1" dirty="0">
                <a:solidFill>
                  <a:schemeClr val="accent1"/>
                </a:solidFill>
              </a:rPr>
              <a:t>in</a:t>
            </a:r>
            <a:r>
              <a:rPr lang="en-US" sz="2100" i="1" dirty="0">
                <a:solidFill>
                  <a:schemeClr val="tx1"/>
                </a:solidFill>
              </a:rPr>
              <a:t>.</a:t>
            </a:r>
            <a:endParaRPr lang="en-US" sz="2100" dirty="0"/>
          </a:p>
        </p:txBody>
      </p:sp>
      <p:sp>
        <p:nvSpPr>
          <p:cNvPr id="20" name="Text 15"/>
          <p:cNvSpPr txBox="1"/>
          <p:nvPr/>
        </p:nvSpPr>
        <p:spPr>
          <a:xfrm>
            <a:off x="6903720" y="3611880"/>
            <a:ext cx="457200" cy="457200"/>
          </a:xfrm>
          <a:prstGeom prst="rect">
            <a:avLst/>
          </a:prstGeom>
          <a:noFill/>
          <a:ln/>
        </p:spPr>
        <p:txBody>
          <a:bodyPr wrap="square" lIns="0" tIns="0" rIns="0" bIns="0" rtlCol="0" anchor="ctr"/>
          <a:lstStyle/>
          <a:p>
            <a:pPr algn="ctr" indent="0" marL="0">
              <a:buNone/>
            </a:pPr>
            <a:r>
              <a:rPr lang="en-US" sz="2600" b="1" dirty="0">
                <a:solidFill>
                  <a:schemeClr val="accent3"/>
                </a:solidFill>
              </a:rPr>
              <a:t>✓</a:t>
            </a:r>
            <a:endParaRPr lang="en-US" sz="2600" dirty="0"/>
          </a:p>
        </p:txBody>
      </p:sp>
      <p:sp>
        <p:nvSpPr>
          <p:cNvPr id="21" name="Shape 16"/>
          <p:cNvSpPr/>
          <p:nvPr/>
        </p:nvSpPr>
        <p:spPr>
          <a:xfrm>
            <a:off x="2423160" y="4160520"/>
            <a:ext cx="877824" cy="1097280"/>
          </a:xfrm>
          <a:prstGeom prst="rect">
            <a:avLst/>
          </a:prstGeom>
          <a:solidFill>
            <a:srgbClr val="D5DCE6"/>
          </a:solidFill>
          <a:ln w="12700">
            <a:solidFill>
              <a:srgbClr val="FFFFFF">
                <a:alpha val="0"/>
              </a:srgbClr>
            </a:solidFill>
            <a:prstDash val="solid"/>
          </a:ln>
        </p:spPr>
      </p:sp>
      <p:sp>
        <p:nvSpPr>
          <p:cNvPr id="22" name="Shape 17"/>
          <p:cNvSpPr/>
          <p:nvPr/>
        </p:nvSpPr>
        <p:spPr>
          <a:xfrm>
            <a:off x="3300984" y="4544568"/>
            <a:ext cx="2048256" cy="713232"/>
          </a:xfrm>
          <a:prstGeom prst="rect">
            <a:avLst/>
          </a:prstGeom>
          <a:solidFill>
            <a:srgbClr val="7FB8E6"/>
          </a:solidFill>
          <a:ln w="12700">
            <a:solidFill>
              <a:srgbClr val="FFFFFF">
                <a:alpha val="0"/>
              </a:srgbClr>
            </a:solidFill>
            <a:prstDash val="solid"/>
          </a:ln>
        </p:spPr>
      </p:sp>
      <p:pic>
        <p:nvPicPr>
          <p:cNvPr id="23" name="Image 2" descr="person standing">    </p:cNvPr>
          <p:cNvPicPr>
            <a:picLocks noChangeAspect="1"/>
          </p:cNvPicPr>
          <p:nvPr/>
        </p:nvPicPr>
        <p:blipFill>
          <a:blip r:embed="rId3"/>
          <a:stretch>
            <a:fillRect/>
          </a:stretch>
        </p:blipFill>
        <p:spPr>
          <a:xfrm>
            <a:off x="2510942" y="4105656"/>
            <a:ext cx="603504" cy="603504"/>
          </a:xfrm>
          <a:prstGeom prst="rect">
            <a:avLst/>
          </a:prstGeom>
        </p:spPr>
      </p:pic>
      <p:sp>
        <p:nvSpPr>
          <p:cNvPr id="24" name="Shape 18"/>
          <p:cNvSpPr/>
          <p:nvPr/>
        </p:nvSpPr>
        <p:spPr>
          <a:xfrm>
            <a:off x="3066898" y="3995928"/>
            <a:ext cx="1404518" cy="768096"/>
          </a:xfrm>
          <a:prstGeom prst="arc">
            <a:avLst>
              <a:gd name="adj1" fmla="val 10800000"/>
              <a:gd name="adj2" fmla="val 21600000"/>
            </a:avLst>
          </a:prstGeom>
          <a:solidFill>
            <a:srgbClr val="FFFFFF">
              <a:alpha val="0"/>
            </a:srgbClr>
          </a:solidFill>
          <a:ln w="44450">
            <a:solidFill>
              <a:srgbClr val="D9700F"/>
            </a:solidFill>
            <a:prstDash val="solid"/>
            <a:tailEnd type="triangle"/>
          </a:ln>
        </p:spPr>
      </p:sp>
      <p:sp>
        <p:nvSpPr>
          <p:cNvPr id="25" name="Text 19"/>
          <p:cNvSpPr txBox="1"/>
          <p:nvPr/>
        </p:nvSpPr>
        <p:spPr>
          <a:xfrm>
            <a:off x="5440680" y="4480560"/>
            <a:ext cx="2011680" cy="457200"/>
          </a:xfrm>
          <a:prstGeom prst="rect">
            <a:avLst/>
          </a:prstGeom>
          <a:noFill/>
          <a:ln/>
        </p:spPr>
        <p:txBody>
          <a:bodyPr wrap="square" lIns="0" tIns="0" rIns="0" bIns="0" rtlCol="0" anchor="ctr"/>
          <a:lstStyle/>
          <a:p>
            <a:pPr algn="l" indent="0" marL="0">
              <a:buNone/>
            </a:pPr>
            <a:r>
              <a:rPr lang="en-US" sz="1500" b="1" dirty="0">
                <a:solidFill>
                  <a:schemeClr val="accent1"/>
                </a:solidFill>
              </a:rPr>
              <a:t>un seul sens : ②</a:t>
            </a:r>
            <a:endParaRPr lang="en-US" sz="1500" dirty="0"/>
          </a:p>
        </p:txBody>
      </p:sp>
      <p:sp>
        <p:nvSpPr>
          <p:cNvPr id="26" name="Shape 20"/>
          <p:cNvSpPr/>
          <p:nvPr/>
        </p:nvSpPr>
        <p:spPr>
          <a:xfrm>
            <a:off x="7772400" y="1554480"/>
            <a:ext cx="3867912" cy="3840480"/>
          </a:xfrm>
          <a:prstGeom prst="roundRect">
            <a:avLst>
              <a:gd name="adj" fmla="val 2381"/>
            </a:avLst>
          </a:prstGeom>
          <a:solidFill>
            <a:srgbClr val="EAF2FB"/>
          </a:solidFill>
          <a:ln w="19050">
            <a:solidFill>
              <a:srgbClr val="2A6FB0"/>
            </a:solidFill>
            <a:prstDash val="solid"/>
          </a:ln>
        </p:spPr>
      </p:sp>
      <p:sp>
        <p:nvSpPr>
          <p:cNvPr id="27" name="Text 21"/>
          <p:cNvSpPr txBox="1"/>
          <p:nvPr/>
        </p:nvSpPr>
        <p:spPr>
          <a:xfrm>
            <a:off x="7955280" y="1645920"/>
            <a:ext cx="3520440" cy="3657600"/>
          </a:xfrm>
          <a:prstGeom prst="rect">
            <a:avLst/>
          </a:prstGeom>
          <a:noFill/>
          <a:ln/>
        </p:spPr>
        <p:txBody>
          <a:bodyPr wrap="square" lIns="0" tIns="0" rIns="0" bIns="0" rtlCol="0" anchor="ctr"/>
          <a:lstStyle/>
          <a:p>
            <a:pPr algn="l" indent="0" marL="0">
              <a:spcAft>
                <a:spcPts val="400"/>
              </a:spcAft>
              <a:buNone/>
            </a:pPr>
            <a:r>
              <a:rPr lang="en-US" sz="1500" b="1" dirty="0">
                <a:solidFill>
                  <a:schemeClr val="tx1"/>
                </a:solidFill>
              </a:rPr>
              <a:t>Expressions figées</a:t>
            </a:r>
            <a:endParaRPr lang="en-US" sz="1500" dirty="0"/>
          </a:p>
          <a:p>
            <a:pPr algn="l" indent="0" marL="0">
              <a:spcAft>
                <a:spcPts val="400"/>
              </a:spcAft>
              <a:buNone/>
            </a:pPr>
            <a:r>
              <a:rPr lang="en-US" sz="1500" dirty="0">
                <a:solidFill>
                  <a:schemeClr val="tx1"/>
                </a:solidFill>
              </a:rPr>
              <a:t>la préposition dit déjà la direction :</a:t>
            </a:r>
            <a:endParaRPr lang="en-US" sz="1500" dirty="0"/>
          </a:p>
          <a:p>
            <a:pPr algn="l" indent="0" marL="0">
              <a:spcAft>
                <a:spcPts val="400"/>
              </a:spcAft>
              <a:buNone/>
            </a:pPr>
            <a:r>
              <a:rPr lang="en-US" sz="1500" i="1" dirty="0">
                <a:solidFill>
                  <a:schemeClr val="tx1"/>
                </a:solidFill>
              </a:rPr>
              <a:t>in de bus stappen</a:t>
            </a:r>
            <a:r>
              <a:rPr lang="en-US" sz="1500" dirty="0">
                <a:solidFill>
                  <a:schemeClr val="tx1"/>
                </a:solidFill>
              </a:rPr>
              <a:t> (monter dans le bus)</a:t>
            </a:r>
            <a:endParaRPr lang="en-US" sz="1500" dirty="0"/>
          </a:p>
          <a:p>
            <a:pPr algn="l" indent="0" marL="0">
              <a:spcAft>
                <a:spcPts val="400"/>
              </a:spcAft>
              <a:buNone/>
            </a:pPr>
            <a:r>
              <a:rPr lang="en-US" sz="1500" i="1" dirty="0">
                <a:solidFill>
                  <a:schemeClr val="tx1"/>
                </a:solidFill>
              </a:rPr>
              <a:t>in de auto stappen</a:t>
            </a:r>
            <a:endParaRPr lang="en-US" sz="1500" dirty="0"/>
          </a:p>
          <a:p>
            <a:pPr algn="l" indent="0" marL="0">
              <a:spcAft>
                <a:spcPts val="400"/>
              </a:spcAft>
              <a:buNone/>
            </a:pPr>
            <a:r>
              <a:rPr lang="en-US" sz="1500" i="1" dirty="0">
                <a:solidFill>
                  <a:schemeClr val="tx1"/>
                </a:solidFill>
              </a:rPr>
              <a:t>in bad stappen</a:t>
            </a:r>
            <a:endParaRPr lang="en-US" sz="1500" dirty="0"/>
          </a:p>
          <a:p>
            <a:pPr algn="l" indent="0" marL="0">
              <a:spcAft>
                <a:spcPts val="400"/>
              </a:spcAft>
              <a:buNone/>
            </a:pPr>
            <a:endParaRPr lang="en-US" sz="1500" dirty="0"/>
          </a:p>
          <a:p>
            <a:pPr algn="l" indent="0" marL="0">
              <a:spcAft>
                <a:spcPts val="400"/>
              </a:spcAft>
              <a:buNone/>
            </a:pPr>
            <a:r>
              <a:rPr lang="en-US" sz="1500" dirty="0">
                <a:solidFill>
                  <a:schemeClr val="tx1"/>
                </a:solidFill>
              </a:rPr>
              <a:t>Donc </a:t>
            </a:r>
            <a:r>
              <a:rPr lang="en-US" sz="1500" i="1" dirty="0">
                <a:solidFill>
                  <a:schemeClr val="tx1"/>
                </a:solidFill>
              </a:rPr>
              <a:t>Ik stap in de keuken</a:t>
            </a:r>
            <a:r>
              <a:rPr lang="en-US" sz="1500" dirty="0">
                <a:solidFill>
                  <a:schemeClr val="tx1"/>
                </a:solidFill>
              </a:rPr>
              <a:t> est </a:t>
            </a:r>
            <a:r>
              <a:rPr lang="en-US" sz="1500" b="1" dirty="0">
                <a:solidFill>
                  <a:schemeClr val="tx1"/>
                </a:solidFill>
              </a:rPr>
              <a:t>ambigu</a:t>
            </a:r>
            <a:r>
              <a:rPr lang="en-US" sz="1500" dirty="0">
                <a:solidFill>
                  <a:schemeClr val="tx1"/>
                </a:solidFill>
              </a:rPr>
              <a:t> ; </a:t>
            </a:r>
            <a:r>
              <a:rPr lang="en-US" sz="1500" i="1" dirty="0">
                <a:solidFill>
                  <a:schemeClr val="tx1"/>
                </a:solidFill>
              </a:rPr>
              <a:t>Ik stap de keuken in</a:t>
            </a:r>
            <a:r>
              <a:rPr lang="en-US" sz="1500" dirty="0">
                <a:solidFill>
                  <a:schemeClr val="tx1"/>
                </a:solidFill>
              </a:rPr>
              <a:t> = j’entre.</a:t>
            </a:r>
            <a:endParaRPr lang="en-US" sz="1500" dirty="0"/>
          </a:p>
        </p:txBody>
      </p:sp>
      <p:sp>
        <p:nvSpPr>
          <p:cNvPr id="28" name="Shape 22"/>
          <p:cNvSpPr/>
          <p:nvPr/>
        </p:nvSpPr>
        <p:spPr>
          <a:xfrm>
            <a:off x="548640" y="5577840"/>
            <a:ext cx="11091672" cy="640080"/>
          </a:xfrm>
          <a:prstGeom prst="roundRect">
            <a:avLst>
              <a:gd name="adj" fmla="val 11429"/>
            </a:avLst>
          </a:prstGeom>
          <a:solidFill>
            <a:schemeClr val="tx2"/>
          </a:solidFill>
          <a:ln w="12700">
            <a:solidFill>
              <a:srgbClr val="FFFFFF">
                <a:alpha val="0"/>
              </a:srgbClr>
            </a:solidFill>
            <a:prstDash val="solid"/>
          </a:ln>
        </p:spPr>
      </p:sp>
      <p:sp>
        <p:nvSpPr>
          <p:cNvPr id="29" name="Text 23"/>
          <p:cNvSpPr txBox="1"/>
          <p:nvPr/>
        </p:nvSpPr>
        <p:spPr>
          <a:xfrm>
            <a:off x="822960" y="557784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En cas de doute, choisissez l’</a:t>
            </a:r>
            <a:r>
              <a:rPr lang="en-US" sz="1800" i="1" dirty="0">
                <a:solidFill>
                  <a:schemeClr val="bg1"/>
                </a:solidFill>
              </a:rPr>
              <a:t>achterzetsel</a:t>
            </a:r>
            <a:r>
              <a:rPr lang="en-US" sz="1800" dirty="0">
                <a:solidFill>
                  <a:schemeClr val="bg1"/>
                </a:solidFill>
              </a:rPr>
              <a:t> : il n’a qu’un sens, la direction.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verbe dit la manière, le petit mot dit la direction</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Text 2"/>
          <p:cNvSpPr txBox="1"/>
          <p:nvPr/>
        </p:nvSpPr>
        <p:spPr>
          <a:xfrm>
            <a:off x="1417320" y="1463040"/>
            <a:ext cx="4754880" cy="365760"/>
          </a:xfrm>
          <a:prstGeom prst="rect">
            <a:avLst/>
          </a:prstGeom>
          <a:noFill/>
          <a:ln/>
        </p:spPr>
        <p:txBody>
          <a:bodyPr wrap="square" lIns="0" tIns="0" rIns="0" bIns="0" rtlCol="0" anchor="t"/>
          <a:lstStyle/>
          <a:p>
            <a:pPr algn="l" indent="0" marL="0">
              <a:buNone/>
            </a:pPr>
            <a:r>
              <a:rPr lang="en-US" sz="1400" b="1" spc="100" kern="0" dirty="0">
                <a:solidFill>
                  <a:schemeClr val="accent5"/>
                </a:solidFill>
              </a:rPr>
              <a:t>FRANÇAIS : le verbe = la direction</a:t>
            </a:r>
            <a:endParaRPr lang="en-US" sz="1400" dirty="0"/>
          </a:p>
        </p:txBody>
      </p:sp>
      <p:sp>
        <p:nvSpPr>
          <p:cNvPr id="6" name="Text 3"/>
          <p:cNvSpPr txBox="1"/>
          <p:nvPr/>
        </p:nvSpPr>
        <p:spPr>
          <a:xfrm>
            <a:off x="6629400" y="1463040"/>
            <a:ext cx="4937760" cy="365760"/>
          </a:xfrm>
          <a:prstGeom prst="rect">
            <a:avLst/>
          </a:prstGeom>
          <a:noFill/>
          <a:ln/>
        </p:spPr>
        <p:txBody>
          <a:bodyPr wrap="square" lIns="0" tIns="0" rIns="0" bIns="0" rtlCol="0" anchor="t"/>
          <a:lstStyle/>
          <a:p>
            <a:pPr algn="l" indent="0" marL="0">
              <a:buNone/>
            </a:pPr>
            <a:r>
              <a:rPr lang="en-US" sz="1400" b="1" spc="100" kern="0" dirty="0">
                <a:solidFill>
                  <a:schemeClr val="accent5"/>
                </a:solidFill>
              </a:rPr>
              <a:t>NÉERLANDAIS : le verbe = la manière</a:t>
            </a:r>
            <a:endParaRPr lang="en-US" sz="1400" dirty="0"/>
          </a:p>
        </p:txBody>
      </p:sp>
      <p:pic>
        <p:nvPicPr>
          <p:cNvPr id="7" name="Image 0" descr="person running">    </p:cNvPr>
          <p:cNvPicPr>
            <a:picLocks noChangeAspect="1"/>
          </p:cNvPicPr>
          <p:nvPr/>
        </p:nvPicPr>
        <p:blipFill>
          <a:blip r:embed="rId1"/>
          <a:stretch>
            <a:fillRect/>
          </a:stretch>
        </p:blipFill>
        <p:spPr>
          <a:xfrm>
            <a:off x="594360" y="1920240"/>
            <a:ext cx="530352" cy="530352"/>
          </a:xfrm>
          <a:prstGeom prst="rect">
            <a:avLst/>
          </a:prstGeom>
        </p:spPr>
      </p:pic>
      <p:sp>
        <p:nvSpPr>
          <p:cNvPr id="8" name="Shape 4"/>
          <p:cNvSpPr/>
          <p:nvPr/>
        </p:nvSpPr>
        <p:spPr>
          <a:xfrm>
            <a:off x="1280160" y="1874520"/>
            <a:ext cx="4983480" cy="603504"/>
          </a:xfrm>
          <a:prstGeom prst="roundRect">
            <a:avLst>
              <a:gd name="adj" fmla="val 12121"/>
            </a:avLst>
          </a:prstGeom>
          <a:solidFill>
            <a:schemeClr val="bg2"/>
          </a:solidFill>
          <a:ln w="12700">
            <a:solidFill>
              <a:srgbClr val="D5DCE6"/>
            </a:solidFill>
            <a:prstDash val="solid"/>
          </a:ln>
        </p:spPr>
      </p:sp>
      <p:sp>
        <p:nvSpPr>
          <p:cNvPr id="9" name="Text 5"/>
          <p:cNvSpPr txBox="1"/>
          <p:nvPr/>
        </p:nvSpPr>
        <p:spPr>
          <a:xfrm>
            <a:off x="1417320" y="1874520"/>
            <a:ext cx="4754880" cy="603504"/>
          </a:xfrm>
          <a:prstGeom prst="rect">
            <a:avLst/>
          </a:prstGeom>
          <a:noFill/>
          <a:ln/>
        </p:spPr>
        <p:txBody>
          <a:bodyPr wrap="square" lIns="0" tIns="0" rIns="0" bIns="0" rtlCol="0" anchor="ctr"/>
          <a:lstStyle/>
          <a:p>
            <a:pPr algn="l" indent="0" marL="0">
              <a:buNone/>
            </a:pPr>
            <a:r>
              <a:rPr lang="en-US" sz="1700" dirty="0">
                <a:solidFill>
                  <a:schemeClr val="tx1"/>
                </a:solidFill>
              </a:rPr>
              <a:t>Il </a:t>
            </a:r>
            <a:r>
              <a:rPr lang="en-US" sz="1700" b="1" dirty="0">
                <a:solidFill>
                  <a:schemeClr val="accent1"/>
                </a:solidFill>
              </a:rPr>
              <a:t>entre</a:t>
            </a:r>
            <a:r>
              <a:rPr lang="en-US" sz="1700" dirty="0">
                <a:solidFill>
                  <a:schemeClr val="tx1"/>
                </a:solidFill>
              </a:rPr>
              <a:t> dans la cuisine </a:t>
            </a:r>
            <a:r>
              <a:rPr lang="en-US" sz="1700" i="1" dirty="0">
                <a:solidFill>
                  <a:schemeClr val="tx1"/>
                </a:solidFill>
              </a:rPr>
              <a:t>en courant</a:t>
            </a:r>
            <a:r>
              <a:rPr lang="en-US" sz="1700" dirty="0">
                <a:solidFill>
                  <a:schemeClr val="tx1"/>
                </a:solidFill>
              </a:rPr>
              <a:t>.</a:t>
            </a:r>
            <a:endParaRPr lang="en-US" sz="1700" dirty="0"/>
          </a:p>
        </p:txBody>
      </p:sp>
      <p:sp>
        <p:nvSpPr>
          <p:cNvPr id="10" name="Shape 6"/>
          <p:cNvSpPr/>
          <p:nvPr/>
        </p:nvSpPr>
        <p:spPr>
          <a:xfrm>
            <a:off x="6327648" y="2176272"/>
            <a:ext cx="210312" cy="914"/>
          </a:xfrm>
          <a:prstGeom prst="line">
            <a:avLst/>
          </a:prstGeom>
          <a:noFill/>
          <a:ln w="25400">
            <a:solidFill>
              <a:srgbClr val="4A5A70"/>
            </a:solidFill>
            <a:prstDash val="solid"/>
            <a:tailEnd type="triangle"/>
          </a:ln>
        </p:spPr>
      </p:sp>
      <p:sp>
        <p:nvSpPr>
          <p:cNvPr id="11" name="Shape 7"/>
          <p:cNvSpPr/>
          <p:nvPr/>
        </p:nvSpPr>
        <p:spPr>
          <a:xfrm>
            <a:off x="6583680" y="1874520"/>
            <a:ext cx="5056632" cy="603504"/>
          </a:xfrm>
          <a:prstGeom prst="roundRect">
            <a:avLst>
              <a:gd name="adj" fmla="val 12121"/>
            </a:avLst>
          </a:prstGeom>
          <a:solidFill>
            <a:srgbClr val="FFFFFF"/>
          </a:solidFill>
          <a:ln w="19050">
            <a:solidFill>
              <a:srgbClr val="D9700F"/>
            </a:solidFill>
            <a:prstDash val="solid"/>
          </a:ln>
        </p:spPr>
      </p:sp>
      <p:sp>
        <p:nvSpPr>
          <p:cNvPr id="12" name="Text 8"/>
          <p:cNvSpPr txBox="1"/>
          <p:nvPr/>
        </p:nvSpPr>
        <p:spPr>
          <a:xfrm>
            <a:off x="6720840" y="1874520"/>
            <a:ext cx="4846320" cy="603504"/>
          </a:xfrm>
          <a:prstGeom prst="rect">
            <a:avLst/>
          </a:prstGeom>
          <a:noFill/>
          <a:ln/>
        </p:spPr>
        <p:txBody>
          <a:bodyPr wrap="square" lIns="0" tIns="0" rIns="0" bIns="0" rtlCol="0" anchor="ctr"/>
          <a:lstStyle/>
          <a:p>
            <a:pPr algn="l" indent="0" marL="0">
              <a:buNone/>
            </a:pPr>
            <a:r>
              <a:rPr lang="en-US" sz="1900" i="1" dirty="0">
                <a:solidFill>
                  <a:schemeClr val="tx1"/>
                </a:solidFill>
              </a:rPr>
              <a:t>Hij </a:t>
            </a:r>
            <a:r>
              <a:rPr lang="en-US" sz="1900" b="1" i="1" dirty="0">
                <a:solidFill>
                  <a:schemeClr val="accent6"/>
                </a:solidFill>
              </a:rPr>
              <a:t>rent</a:t>
            </a:r>
            <a:r>
              <a:rPr lang="en-US" sz="1900" i="1" dirty="0">
                <a:solidFill>
                  <a:schemeClr val="tx1"/>
                </a:solidFill>
              </a:rPr>
              <a:t> de keuken </a:t>
            </a:r>
            <a:r>
              <a:rPr lang="en-US" sz="1900" b="1" i="1" dirty="0">
                <a:solidFill>
                  <a:schemeClr val="accent1"/>
                </a:solidFill>
              </a:rPr>
              <a:t>in</a:t>
            </a:r>
            <a:r>
              <a:rPr lang="en-US" sz="1900" i="1" dirty="0">
                <a:solidFill>
                  <a:schemeClr val="tx1"/>
                </a:solidFill>
              </a:rPr>
              <a:t>.</a:t>
            </a:r>
            <a:endParaRPr lang="en-US" sz="1900" dirty="0"/>
          </a:p>
        </p:txBody>
      </p:sp>
      <p:pic>
        <p:nvPicPr>
          <p:cNvPr id="13" name="Image 1" descr="person biking">    </p:cNvPr>
          <p:cNvPicPr>
            <a:picLocks noChangeAspect="1"/>
          </p:cNvPicPr>
          <p:nvPr/>
        </p:nvPicPr>
        <p:blipFill>
          <a:blip r:embed="rId2"/>
          <a:stretch>
            <a:fillRect/>
          </a:stretch>
        </p:blipFill>
        <p:spPr>
          <a:xfrm>
            <a:off x="594360" y="2596896"/>
            <a:ext cx="530352" cy="530352"/>
          </a:xfrm>
          <a:prstGeom prst="rect">
            <a:avLst/>
          </a:prstGeom>
        </p:spPr>
      </p:pic>
      <p:sp>
        <p:nvSpPr>
          <p:cNvPr id="14" name="Shape 9"/>
          <p:cNvSpPr/>
          <p:nvPr/>
        </p:nvSpPr>
        <p:spPr>
          <a:xfrm>
            <a:off x="1280160" y="2551176"/>
            <a:ext cx="4983480" cy="603504"/>
          </a:xfrm>
          <a:prstGeom prst="roundRect">
            <a:avLst>
              <a:gd name="adj" fmla="val 12121"/>
            </a:avLst>
          </a:prstGeom>
          <a:solidFill>
            <a:schemeClr val="bg2"/>
          </a:solidFill>
          <a:ln w="12700">
            <a:solidFill>
              <a:srgbClr val="D5DCE6"/>
            </a:solidFill>
            <a:prstDash val="solid"/>
          </a:ln>
        </p:spPr>
      </p:sp>
      <p:sp>
        <p:nvSpPr>
          <p:cNvPr id="15" name="Text 10"/>
          <p:cNvSpPr txBox="1"/>
          <p:nvPr/>
        </p:nvSpPr>
        <p:spPr>
          <a:xfrm>
            <a:off x="1417320" y="2551176"/>
            <a:ext cx="4754880" cy="603504"/>
          </a:xfrm>
          <a:prstGeom prst="rect">
            <a:avLst/>
          </a:prstGeom>
          <a:noFill/>
          <a:ln/>
        </p:spPr>
        <p:txBody>
          <a:bodyPr wrap="square" lIns="0" tIns="0" rIns="0" bIns="0" rtlCol="0" anchor="ctr"/>
          <a:lstStyle/>
          <a:p>
            <a:pPr algn="l" indent="0" marL="0">
              <a:buNone/>
            </a:pPr>
            <a:r>
              <a:rPr lang="en-US" sz="1700" dirty="0">
                <a:solidFill>
                  <a:schemeClr val="tx1"/>
                </a:solidFill>
              </a:rPr>
              <a:t>Elle </a:t>
            </a:r>
            <a:r>
              <a:rPr lang="en-US" sz="1700" b="1" dirty="0">
                <a:solidFill>
                  <a:schemeClr val="accent1"/>
                </a:solidFill>
              </a:rPr>
              <a:t>traverse</a:t>
            </a:r>
            <a:r>
              <a:rPr lang="en-US" sz="1700" dirty="0">
                <a:solidFill>
                  <a:schemeClr val="tx1"/>
                </a:solidFill>
              </a:rPr>
              <a:t> la rue </a:t>
            </a:r>
            <a:r>
              <a:rPr lang="en-US" sz="1700" i="1" dirty="0">
                <a:solidFill>
                  <a:schemeClr val="tx1"/>
                </a:solidFill>
              </a:rPr>
              <a:t>à vélo</a:t>
            </a:r>
            <a:r>
              <a:rPr lang="en-US" sz="1700" dirty="0">
                <a:solidFill>
                  <a:schemeClr val="tx1"/>
                </a:solidFill>
              </a:rPr>
              <a:t>.</a:t>
            </a:r>
            <a:endParaRPr lang="en-US" sz="1700" dirty="0"/>
          </a:p>
        </p:txBody>
      </p:sp>
      <p:sp>
        <p:nvSpPr>
          <p:cNvPr id="16" name="Shape 11"/>
          <p:cNvSpPr/>
          <p:nvPr/>
        </p:nvSpPr>
        <p:spPr>
          <a:xfrm>
            <a:off x="6327648" y="2852928"/>
            <a:ext cx="210312" cy="914"/>
          </a:xfrm>
          <a:prstGeom prst="line">
            <a:avLst/>
          </a:prstGeom>
          <a:noFill/>
          <a:ln w="25400">
            <a:solidFill>
              <a:srgbClr val="4A5A70"/>
            </a:solidFill>
            <a:prstDash val="solid"/>
            <a:tailEnd type="triangle"/>
          </a:ln>
        </p:spPr>
      </p:sp>
      <p:sp>
        <p:nvSpPr>
          <p:cNvPr id="17" name="Shape 12"/>
          <p:cNvSpPr/>
          <p:nvPr/>
        </p:nvSpPr>
        <p:spPr>
          <a:xfrm>
            <a:off x="6583680" y="2551176"/>
            <a:ext cx="5056632" cy="603504"/>
          </a:xfrm>
          <a:prstGeom prst="roundRect">
            <a:avLst>
              <a:gd name="adj" fmla="val 12121"/>
            </a:avLst>
          </a:prstGeom>
          <a:solidFill>
            <a:srgbClr val="FFFFFF"/>
          </a:solidFill>
          <a:ln w="19050">
            <a:solidFill>
              <a:srgbClr val="D9700F"/>
            </a:solidFill>
            <a:prstDash val="solid"/>
          </a:ln>
        </p:spPr>
      </p:sp>
      <p:sp>
        <p:nvSpPr>
          <p:cNvPr id="18" name="Text 13"/>
          <p:cNvSpPr txBox="1"/>
          <p:nvPr/>
        </p:nvSpPr>
        <p:spPr>
          <a:xfrm>
            <a:off x="6720840" y="2551176"/>
            <a:ext cx="4846320" cy="603504"/>
          </a:xfrm>
          <a:prstGeom prst="rect">
            <a:avLst/>
          </a:prstGeom>
          <a:noFill/>
          <a:ln/>
        </p:spPr>
        <p:txBody>
          <a:bodyPr wrap="square" lIns="0" tIns="0" rIns="0" bIns="0" rtlCol="0" anchor="ctr"/>
          <a:lstStyle/>
          <a:p>
            <a:pPr algn="l" indent="0" marL="0">
              <a:buNone/>
            </a:pPr>
            <a:r>
              <a:rPr lang="en-US" sz="1900" i="1" dirty="0">
                <a:solidFill>
                  <a:schemeClr val="tx1"/>
                </a:solidFill>
              </a:rPr>
              <a:t>Ze </a:t>
            </a:r>
            <a:r>
              <a:rPr lang="en-US" sz="1900" b="1" i="1" dirty="0">
                <a:solidFill>
                  <a:schemeClr val="accent6"/>
                </a:solidFill>
              </a:rPr>
              <a:t>fietst</a:t>
            </a:r>
            <a:r>
              <a:rPr lang="en-US" sz="1900" i="1" dirty="0">
                <a:solidFill>
                  <a:schemeClr val="tx1"/>
                </a:solidFill>
              </a:rPr>
              <a:t> de straat </a:t>
            </a:r>
            <a:r>
              <a:rPr lang="en-US" sz="1900" b="1" i="1" dirty="0">
                <a:solidFill>
                  <a:schemeClr val="accent1"/>
                </a:solidFill>
              </a:rPr>
              <a:t>over</a:t>
            </a:r>
            <a:r>
              <a:rPr lang="en-US" sz="1900" i="1" dirty="0">
                <a:solidFill>
                  <a:schemeClr val="tx1"/>
                </a:solidFill>
              </a:rPr>
              <a:t>.</a:t>
            </a:r>
            <a:endParaRPr lang="en-US" sz="1900" dirty="0"/>
          </a:p>
        </p:txBody>
      </p:sp>
      <p:pic>
        <p:nvPicPr>
          <p:cNvPr id="19" name="Image 2" descr="person walking">    </p:cNvPr>
          <p:cNvPicPr>
            <a:picLocks noChangeAspect="1"/>
          </p:cNvPicPr>
          <p:nvPr/>
        </p:nvPicPr>
        <p:blipFill>
          <a:blip r:embed="rId3"/>
          <a:stretch>
            <a:fillRect/>
          </a:stretch>
        </p:blipFill>
        <p:spPr>
          <a:xfrm>
            <a:off x="594360" y="3273552"/>
            <a:ext cx="530352" cy="530352"/>
          </a:xfrm>
          <a:prstGeom prst="rect">
            <a:avLst/>
          </a:prstGeom>
        </p:spPr>
      </p:pic>
      <p:sp>
        <p:nvSpPr>
          <p:cNvPr id="20" name="Shape 14"/>
          <p:cNvSpPr/>
          <p:nvPr/>
        </p:nvSpPr>
        <p:spPr>
          <a:xfrm>
            <a:off x="1280160" y="3227832"/>
            <a:ext cx="4983480" cy="603504"/>
          </a:xfrm>
          <a:prstGeom prst="roundRect">
            <a:avLst>
              <a:gd name="adj" fmla="val 12121"/>
            </a:avLst>
          </a:prstGeom>
          <a:solidFill>
            <a:schemeClr val="bg2"/>
          </a:solidFill>
          <a:ln w="12700">
            <a:solidFill>
              <a:srgbClr val="D5DCE6"/>
            </a:solidFill>
            <a:prstDash val="solid"/>
          </a:ln>
        </p:spPr>
      </p:sp>
      <p:sp>
        <p:nvSpPr>
          <p:cNvPr id="21" name="Text 15"/>
          <p:cNvSpPr txBox="1"/>
          <p:nvPr/>
        </p:nvSpPr>
        <p:spPr>
          <a:xfrm>
            <a:off x="1417320" y="3227832"/>
            <a:ext cx="4754880" cy="603504"/>
          </a:xfrm>
          <a:prstGeom prst="rect">
            <a:avLst/>
          </a:prstGeom>
          <a:noFill/>
          <a:ln/>
        </p:spPr>
        <p:txBody>
          <a:bodyPr wrap="square" lIns="0" tIns="0" rIns="0" bIns="0" rtlCol="0" anchor="ctr"/>
          <a:lstStyle/>
          <a:p>
            <a:pPr algn="l" indent="0" marL="0">
              <a:buNone/>
            </a:pPr>
            <a:r>
              <a:rPr lang="en-US" sz="1700" dirty="0">
                <a:solidFill>
                  <a:schemeClr val="tx1"/>
                </a:solidFill>
              </a:rPr>
              <a:t>Je </a:t>
            </a:r>
            <a:r>
              <a:rPr lang="en-US" sz="1700" b="1" dirty="0">
                <a:solidFill>
                  <a:schemeClr val="accent1"/>
                </a:solidFill>
              </a:rPr>
              <a:t>monte</a:t>
            </a:r>
            <a:r>
              <a:rPr lang="en-US" sz="1700" dirty="0">
                <a:solidFill>
                  <a:schemeClr val="tx1"/>
                </a:solidFill>
              </a:rPr>
              <a:t> l’escalier.</a:t>
            </a:r>
            <a:endParaRPr lang="en-US" sz="1700" dirty="0"/>
          </a:p>
        </p:txBody>
      </p:sp>
      <p:sp>
        <p:nvSpPr>
          <p:cNvPr id="22" name="Shape 16"/>
          <p:cNvSpPr/>
          <p:nvPr/>
        </p:nvSpPr>
        <p:spPr>
          <a:xfrm>
            <a:off x="6327648" y="3529584"/>
            <a:ext cx="210312" cy="914"/>
          </a:xfrm>
          <a:prstGeom prst="line">
            <a:avLst/>
          </a:prstGeom>
          <a:noFill/>
          <a:ln w="25400">
            <a:solidFill>
              <a:srgbClr val="4A5A70"/>
            </a:solidFill>
            <a:prstDash val="solid"/>
            <a:tailEnd type="triangle"/>
          </a:ln>
        </p:spPr>
      </p:sp>
      <p:sp>
        <p:nvSpPr>
          <p:cNvPr id="23" name="Shape 17"/>
          <p:cNvSpPr/>
          <p:nvPr/>
        </p:nvSpPr>
        <p:spPr>
          <a:xfrm>
            <a:off x="6583680" y="3227832"/>
            <a:ext cx="5056632" cy="603504"/>
          </a:xfrm>
          <a:prstGeom prst="roundRect">
            <a:avLst>
              <a:gd name="adj" fmla="val 12121"/>
            </a:avLst>
          </a:prstGeom>
          <a:solidFill>
            <a:srgbClr val="FFFFFF"/>
          </a:solidFill>
          <a:ln w="19050">
            <a:solidFill>
              <a:srgbClr val="D9700F"/>
            </a:solidFill>
            <a:prstDash val="solid"/>
          </a:ln>
        </p:spPr>
      </p:sp>
      <p:sp>
        <p:nvSpPr>
          <p:cNvPr id="24" name="Text 18"/>
          <p:cNvSpPr txBox="1"/>
          <p:nvPr/>
        </p:nvSpPr>
        <p:spPr>
          <a:xfrm>
            <a:off x="6720840" y="3227832"/>
            <a:ext cx="4846320" cy="603504"/>
          </a:xfrm>
          <a:prstGeom prst="rect">
            <a:avLst/>
          </a:prstGeom>
          <a:noFill/>
          <a:ln/>
        </p:spPr>
        <p:txBody>
          <a:bodyPr wrap="square" lIns="0" tIns="0" rIns="0" bIns="0" rtlCol="0" anchor="ctr"/>
          <a:lstStyle/>
          <a:p>
            <a:pPr algn="l" indent="0" marL="0">
              <a:buNone/>
            </a:pPr>
            <a:r>
              <a:rPr lang="en-US" sz="1900" i="1" dirty="0">
                <a:solidFill>
                  <a:schemeClr val="tx1"/>
                </a:solidFill>
              </a:rPr>
              <a:t>Ik </a:t>
            </a:r>
            <a:r>
              <a:rPr lang="en-US" sz="1900" b="1" i="1" dirty="0">
                <a:solidFill>
                  <a:schemeClr val="accent6"/>
                </a:solidFill>
              </a:rPr>
              <a:t>loop</a:t>
            </a:r>
            <a:r>
              <a:rPr lang="en-US" sz="1900" i="1" dirty="0">
                <a:solidFill>
                  <a:schemeClr val="tx1"/>
                </a:solidFill>
              </a:rPr>
              <a:t> de trap </a:t>
            </a:r>
            <a:r>
              <a:rPr lang="en-US" sz="1900" b="1" i="1" dirty="0">
                <a:solidFill>
                  <a:schemeClr val="accent1"/>
                </a:solidFill>
              </a:rPr>
              <a:t>op</a:t>
            </a:r>
            <a:r>
              <a:rPr lang="en-US" sz="1900" i="1" dirty="0">
                <a:solidFill>
                  <a:schemeClr val="tx1"/>
                </a:solidFill>
              </a:rPr>
              <a:t>.</a:t>
            </a:r>
            <a:endParaRPr lang="en-US" sz="1900" dirty="0"/>
          </a:p>
        </p:txBody>
      </p:sp>
      <p:pic>
        <p:nvPicPr>
          <p:cNvPr id="25" name="Image 3" descr="person swimming">    </p:cNvPr>
          <p:cNvPicPr>
            <a:picLocks noChangeAspect="1"/>
          </p:cNvPicPr>
          <p:nvPr/>
        </p:nvPicPr>
        <p:blipFill>
          <a:blip r:embed="rId4"/>
          <a:stretch>
            <a:fillRect/>
          </a:stretch>
        </p:blipFill>
        <p:spPr>
          <a:xfrm>
            <a:off x="594360" y="3950208"/>
            <a:ext cx="530352" cy="530352"/>
          </a:xfrm>
          <a:prstGeom prst="rect">
            <a:avLst/>
          </a:prstGeom>
        </p:spPr>
      </p:pic>
      <p:sp>
        <p:nvSpPr>
          <p:cNvPr id="26" name="Shape 19"/>
          <p:cNvSpPr/>
          <p:nvPr/>
        </p:nvSpPr>
        <p:spPr>
          <a:xfrm>
            <a:off x="1280160" y="3904488"/>
            <a:ext cx="4983480" cy="603504"/>
          </a:xfrm>
          <a:prstGeom prst="roundRect">
            <a:avLst>
              <a:gd name="adj" fmla="val 12121"/>
            </a:avLst>
          </a:prstGeom>
          <a:solidFill>
            <a:schemeClr val="bg2"/>
          </a:solidFill>
          <a:ln w="12700">
            <a:solidFill>
              <a:srgbClr val="D5DCE6"/>
            </a:solidFill>
            <a:prstDash val="solid"/>
          </a:ln>
        </p:spPr>
      </p:sp>
      <p:sp>
        <p:nvSpPr>
          <p:cNvPr id="27" name="Text 20"/>
          <p:cNvSpPr txBox="1"/>
          <p:nvPr/>
        </p:nvSpPr>
        <p:spPr>
          <a:xfrm>
            <a:off x="1417320" y="3904488"/>
            <a:ext cx="4754880" cy="603504"/>
          </a:xfrm>
          <a:prstGeom prst="rect">
            <a:avLst/>
          </a:prstGeom>
          <a:noFill/>
          <a:ln/>
        </p:spPr>
        <p:txBody>
          <a:bodyPr wrap="square" lIns="0" tIns="0" rIns="0" bIns="0" rtlCol="0" anchor="ctr"/>
          <a:lstStyle/>
          <a:p>
            <a:pPr algn="l" indent="0" marL="0">
              <a:buNone/>
            </a:pPr>
            <a:r>
              <a:rPr lang="en-US" sz="1700" dirty="0">
                <a:solidFill>
                  <a:schemeClr val="tx1"/>
                </a:solidFill>
              </a:rPr>
              <a:t>Nous </a:t>
            </a:r>
            <a:r>
              <a:rPr lang="en-US" sz="1700" b="1" dirty="0">
                <a:solidFill>
                  <a:schemeClr val="accent1"/>
                </a:solidFill>
              </a:rPr>
              <a:t>traversons</a:t>
            </a:r>
            <a:r>
              <a:rPr lang="en-US" sz="1700" dirty="0">
                <a:solidFill>
                  <a:schemeClr val="tx1"/>
                </a:solidFill>
              </a:rPr>
              <a:t> la rivière </a:t>
            </a:r>
            <a:r>
              <a:rPr lang="en-US" sz="1700" i="1" dirty="0">
                <a:solidFill>
                  <a:schemeClr val="tx1"/>
                </a:solidFill>
              </a:rPr>
              <a:t>à la nage</a:t>
            </a:r>
            <a:r>
              <a:rPr lang="en-US" sz="1700" dirty="0">
                <a:solidFill>
                  <a:schemeClr val="tx1"/>
                </a:solidFill>
              </a:rPr>
              <a:t>.</a:t>
            </a:r>
            <a:endParaRPr lang="en-US" sz="1700" dirty="0"/>
          </a:p>
        </p:txBody>
      </p:sp>
      <p:sp>
        <p:nvSpPr>
          <p:cNvPr id="28" name="Shape 21"/>
          <p:cNvSpPr/>
          <p:nvPr/>
        </p:nvSpPr>
        <p:spPr>
          <a:xfrm>
            <a:off x="6327648" y="4206240"/>
            <a:ext cx="210312" cy="914"/>
          </a:xfrm>
          <a:prstGeom prst="line">
            <a:avLst/>
          </a:prstGeom>
          <a:noFill/>
          <a:ln w="25400">
            <a:solidFill>
              <a:srgbClr val="4A5A70"/>
            </a:solidFill>
            <a:prstDash val="solid"/>
            <a:tailEnd type="triangle"/>
          </a:ln>
        </p:spPr>
      </p:sp>
      <p:sp>
        <p:nvSpPr>
          <p:cNvPr id="29" name="Shape 22"/>
          <p:cNvSpPr/>
          <p:nvPr/>
        </p:nvSpPr>
        <p:spPr>
          <a:xfrm>
            <a:off x="6583680" y="3904488"/>
            <a:ext cx="5056632" cy="603504"/>
          </a:xfrm>
          <a:prstGeom prst="roundRect">
            <a:avLst>
              <a:gd name="adj" fmla="val 12121"/>
            </a:avLst>
          </a:prstGeom>
          <a:solidFill>
            <a:srgbClr val="FFFFFF"/>
          </a:solidFill>
          <a:ln w="19050">
            <a:solidFill>
              <a:srgbClr val="D9700F"/>
            </a:solidFill>
            <a:prstDash val="solid"/>
          </a:ln>
        </p:spPr>
      </p:sp>
      <p:sp>
        <p:nvSpPr>
          <p:cNvPr id="30" name="Text 23"/>
          <p:cNvSpPr txBox="1"/>
          <p:nvPr/>
        </p:nvSpPr>
        <p:spPr>
          <a:xfrm>
            <a:off x="6720840" y="3904488"/>
            <a:ext cx="4846320" cy="603504"/>
          </a:xfrm>
          <a:prstGeom prst="rect">
            <a:avLst/>
          </a:prstGeom>
          <a:noFill/>
          <a:ln/>
        </p:spPr>
        <p:txBody>
          <a:bodyPr wrap="square" lIns="0" tIns="0" rIns="0" bIns="0" rtlCol="0" anchor="ctr"/>
          <a:lstStyle/>
          <a:p>
            <a:pPr algn="l" indent="0" marL="0">
              <a:buNone/>
            </a:pPr>
            <a:r>
              <a:rPr lang="en-US" sz="1900" i="1" dirty="0">
                <a:solidFill>
                  <a:schemeClr val="tx1"/>
                </a:solidFill>
              </a:rPr>
              <a:t>We </a:t>
            </a:r>
            <a:r>
              <a:rPr lang="en-US" sz="1900" b="1" i="1" dirty="0">
                <a:solidFill>
                  <a:schemeClr val="accent6"/>
                </a:solidFill>
              </a:rPr>
              <a:t>zwemmen</a:t>
            </a:r>
            <a:r>
              <a:rPr lang="en-US" sz="1900" i="1" dirty="0">
                <a:solidFill>
                  <a:schemeClr val="tx1"/>
                </a:solidFill>
              </a:rPr>
              <a:t> de rivier </a:t>
            </a:r>
            <a:r>
              <a:rPr lang="en-US" sz="1900" b="1" i="1" dirty="0">
                <a:solidFill>
                  <a:schemeClr val="accent1"/>
                </a:solidFill>
              </a:rPr>
              <a:t>over</a:t>
            </a:r>
            <a:r>
              <a:rPr lang="en-US" sz="1900" i="1" dirty="0">
                <a:solidFill>
                  <a:schemeClr val="tx1"/>
                </a:solidFill>
              </a:rPr>
              <a:t>.</a:t>
            </a:r>
            <a:endParaRPr lang="en-US" sz="1900" dirty="0"/>
          </a:p>
        </p:txBody>
      </p:sp>
      <p:pic>
        <p:nvPicPr>
          <p:cNvPr id="31" name="Image 4" descr="automobile">    </p:cNvPr>
          <p:cNvPicPr>
            <a:picLocks noChangeAspect="1"/>
          </p:cNvPicPr>
          <p:nvPr/>
        </p:nvPicPr>
        <p:blipFill>
          <a:blip r:embed="rId5"/>
          <a:stretch>
            <a:fillRect/>
          </a:stretch>
        </p:blipFill>
        <p:spPr>
          <a:xfrm>
            <a:off x="594360" y="4626864"/>
            <a:ext cx="530352" cy="530352"/>
          </a:xfrm>
          <a:prstGeom prst="rect">
            <a:avLst/>
          </a:prstGeom>
        </p:spPr>
      </p:pic>
      <p:sp>
        <p:nvSpPr>
          <p:cNvPr id="32" name="Shape 24"/>
          <p:cNvSpPr/>
          <p:nvPr/>
        </p:nvSpPr>
        <p:spPr>
          <a:xfrm>
            <a:off x="1280160" y="4581144"/>
            <a:ext cx="4983480" cy="603504"/>
          </a:xfrm>
          <a:prstGeom prst="roundRect">
            <a:avLst>
              <a:gd name="adj" fmla="val 12121"/>
            </a:avLst>
          </a:prstGeom>
          <a:solidFill>
            <a:schemeClr val="bg2"/>
          </a:solidFill>
          <a:ln w="12700">
            <a:solidFill>
              <a:srgbClr val="D5DCE6"/>
            </a:solidFill>
            <a:prstDash val="solid"/>
          </a:ln>
        </p:spPr>
      </p:sp>
      <p:sp>
        <p:nvSpPr>
          <p:cNvPr id="33" name="Text 25"/>
          <p:cNvSpPr txBox="1"/>
          <p:nvPr/>
        </p:nvSpPr>
        <p:spPr>
          <a:xfrm>
            <a:off x="1417320" y="4581144"/>
            <a:ext cx="4754880" cy="603504"/>
          </a:xfrm>
          <a:prstGeom prst="rect">
            <a:avLst/>
          </a:prstGeom>
          <a:noFill/>
          <a:ln/>
        </p:spPr>
        <p:txBody>
          <a:bodyPr wrap="square" lIns="0" tIns="0" rIns="0" bIns="0" rtlCol="0" anchor="ctr"/>
          <a:lstStyle/>
          <a:p>
            <a:pPr algn="l" indent="0" marL="0">
              <a:buNone/>
            </a:pPr>
            <a:r>
              <a:rPr lang="en-US" sz="1700" dirty="0">
                <a:solidFill>
                  <a:schemeClr val="tx1"/>
                </a:solidFill>
              </a:rPr>
              <a:t>Il </a:t>
            </a:r>
            <a:r>
              <a:rPr lang="en-US" sz="1700" b="1" dirty="0">
                <a:solidFill>
                  <a:schemeClr val="accent1"/>
                </a:solidFill>
              </a:rPr>
              <a:t>sort</a:t>
            </a:r>
            <a:r>
              <a:rPr lang="en-US" sz="1700" dirty="0">
                <a:solidFill>
                  <a:schemeClr val="tx1"/>
                </a:solidFill>
              </a:rPr>
              <a:t> du garage </a:t>
            </a:r>
            <a:r>
              <a:rPr lang="en-US" sz="1700" i="1" dirty="0">
                <a:solidFill>
                  <a:schemeClr val="tx1"/>
                </a:solidFill>
              </a:rPr>
              <a:t>en voiture</a:t>
            </a:r>
            <a:r>
              <a:rPr lang="en-US" sz="1700" dirty="0">
                <a:solidFill>
                  <a:schemeClr val="tx1"/>
                </a:solidFill>
              </a:rPr>
              <a:t>.</a:t>
            </a:r>
            <a:endParaRPr lang="en-US" sz="1700" dirty="0"/>
          </a:p>
        </p:txBody>
      </p:sp>
      <p:sp>
        <p:nvSpPr>
          <p:cNvPr id="34" name="Shape 26"/>
          <p:cNvSpPr/>
          <p:nvPr/>
        </p:nvSpPr>
        <p:spPr>
          <a:xfrm>
            <a:off x="6327648" y="4882896"/>
            <a:ext cx="210312" cy="914"/>
          </a:xfrm>
          <a:prstGeom prst="line">
            <a:avLst/>
          </a:prstGeom>
          <a:noFill/>
          <a:ln w="25400">
            <a:solidFill>
              <a:srgbClr val="4A5A70"/>
            </a:solidFill>
            <a:prstDash val="solid"/>
            <a:tailEnd type="triangle"/>
          </a:ln>
        </p:spPr>
      </p:sp>
      <p:sp>
        <p:nvSpPr>
          <p:cNvPr id="35" name="Shape 27"/>
          <p:cNvSpPr/>
          <p:nvPr/>
        </p:nvSpPr>
        <p:spPr>
          <a:xfrm>
            <a:off x="6583680" y="4581144"/>
            <a:ext cx="5056632" cy="603504"/>
          </a:xfrm>
          <a:prstGeom prst="roundRect">
            <a:avLst>
              <a:gd name="adj" fmla="val 12121"/>
            </a:avLst>
          </a:prstGeom>
          <a:solidFill>
            <a:srgbClr val="FFFFFF"/>
          </a:solidFill>
          <a:ln w="19050">
            <a:solidFill>
              <a:srgbClr val="D9700F"/>
            </a:solidFill>
            <a:prstDash val="solid"/>
          </a:ln>
        </p:spPr>
      </p:sp>
      <p:sp>
        <p:nvSpPr>
          <p:cNvPr id="36" name="Text 28"/>
          <p:cNvSpPr txBox="1"/>
          <p:nvPr/>
        </p:nvSpPr>
        <p:spPr>
          <a:xfrm>
            <a:off x="6720840" y="4581144"/>
            <a:ext cx="4846320" cy="603504"/>
          </a:xfrm>
          <a:prstGeom prst="rect">
            <a:avLst/>
          </a:prstGeom>
          <a:noFill/>
          <a:ln/>
        </p:spPr>
        <p:txBody>
          <a:bodyPr wrap="square" lIns="0" tIns="0" rIns="0" bIns="0" rtlCol="0" anchor="ctr"/>
          <a:lstStyle/>
          <a:p>
            <a:pPr algn="l" indent="0" marL="0">
              <a:buNone/>
            </a:pPr>
            <a:r>
              <a:rPr lang="en-US" sz="1900" i="1" dirty="0">
                <a:solidFill>
                  <a:schemeClr val="tx1"/>
                </a:solidFill>
              </a:rPr>
              <a:t>Hij </a:t>
            </a:r>
            <a:r>
              <a:rPr lang="en-US" sz="1900" b="1" i="1" dirty="0">
                <a:solidFill>
                  <a:schemeClr val="accent6"/>
                </a:solidFill>
              </a:rPr>
              <a:t>rijdt</a:t>
            </a:r>
            <a:r>
              <a:rPr lang="en-US" sz="1900" i="1" dirty="0">
                <a:solidFill>
                  <a:schemeClr val="tx1"/>
                </a:solidFill>
              </a:rPr>
              <a:t> de garage </a:t>
            </a:r>
            <a:r>
              <a:rPr lang="en-US" sz="1900" b="1" i="1" dirty="0">
                <a:solidFill>
                  <a:schemeClr val="accent1"/>
                </a:solidFill>
              </a:rPr>
              <a:t>uit</a:t>
            </a:r>
            <a:r>
              <a:rPr lang="en-US" sz="1900" i="1" dirty="0">
                <a:solidFill>
                  <a:schemeClr val="tx1"/>
                </a:solidFill>
              </a:rPr>
              <a:t>.</a:t>
            </a:r>
            <a:endParaRPr lang="en-US" sz="1900" dirty="0"/>
          </a:p>
        </p:txBody>
      </p:sp>
      <p:sp>
        <p:nvSpPr>
          <p:cNvPr id="37" name="Shape 29"/>
          <p:cNvSpPr/>
          <p:nvPr/>
        </p:nvSpPr>
        <p:spPr>
          <a:xfrm>
            <a:off x="548640" y="5349240"/>
            <a:ext cx="11091672" cy="868680"/>
          </a:xfrm>
          <a:prstGeom prst="roundRect">
            <a:avLst>
              <a:gd name="adj" fmla="val 8421"/>
            </a:avLst>
          </a:prstGeom>
          <a:solidFill>
            <a:schemeClr val="tx2"/>
          </a:solidFill>
          <a:ln w="12700">
            <a:solidFill>
              <a:srgbClr val="FFFFFF">
                <a:alpha val="0"/>
              </a:srgbClr>
            </a:solidFill>
            <a:prstDash val="solid"/>
          </a:ln>
        </p:spPr>
      </p:sp>
      <p:sp>
        <p:nvSpPr>
          <p:cNvPr id="38" name="Text 30"/>
          <p:cNvSpPr txBox="1"/>
          <p:nvPr/>
        </p:nvSpPr>
        <p:spPr>
          <a:xfrm>
            <a:off x="822960" y="5349240"/>
            <a:ext cx="10607040" cy="868680"/>
          </a:xfrm>
          <a:prstGeom prst="rect">
            <a:avLst/>
          </a:prstGeom>
          <a:noFill/>
          <a:ln/>
        </p:spPr>
        <p:txBody>
          <a:bodyPr wrap="square" lIns="0" tIns="0" rIns="0" bIns="0" rtlCol="0" anchor="ctr"/>
          <a:lstStyle/>
          <a:p>
            <a:pPr algn="l" indent="0" marL="0">
              <a:spcAft>
                <a:spcPts val="200"/>
              </a:spcAft>
              <a:buNone/>
            </a:pPr>
            <a:r>
              <a:rPr lang="en-US" sz="1600" b="1" dirty="0">
                <a:solidFill>
                  <a:schemeClr val="bg1"/>
                </a:solidFill>
              </a:rPr>
              <a:t>FR</a:t>
            </a:r>
            <a:r>
              <a:rPr lang="en-US" sz="1600" dirty="0">
                <a:solidFill>
                  <a:schemeClr val="bg1"/>
                </a:solidFill>
              </a:rPr>
              <a:t> : verbe = direction (+ « en courant ») · </a:t>
            </a:r>
            <a:r>
              <a:rPr lang="en-US" sz="1600" b="1" dirty="0">
                <a:solidFill>
                  <a:schemeClr val="bg1"/>
                </a:solidFill>
              </a:rPr>
              <a:t>NL</a:t>
            </a:r>
            <a:r>
              <a:rPr lang="en-US" sz="1600" dirty="0">
                <a:solidFill>
                  <a:schemeClr val="bg1"/>
                </a:solidFill>
              </a:rPr>
              <a:t> : verbe = </a:t>
            </a:r>
            <a:r>
              <a:rPr lang="en-US" sz="1600" b="1" dirty="0">
                <a:solidFill>
                  <a:schemeClr val="bg1"/>
                </a:solidFill>
              </a:rPr>
              <a:t>manière</a:t>
            </a:r>
            <a:r>
              <a:rPr lang="en-US" sz="1600" dirty="0">
                <a:solidFill>
                  <a:schemeClr val="bg1"/>
                </a:solidFill>
              </a:rPr>
              <a:t> + </a:t>
            </a:r>
            <a:r>
              <a:rPr lang="en-US" sz="1600" i="1" dirty="0">
                <a:solidFill>
                  <a:schemeClr val="bg1"/>
                </a:solidFill>
              </a:rPr>
              <a:t>achterzetsel</a:t>
            </a:r>
            <a:r>
              <a:rPr lang="en-US" sz="1600" dirty="0">
                <a:solidFill>
                  <a:schemeClr val="bg1"/>
                </a:solidFill>
              </a:rPr>
              <a:t> = </a:t>
            </a:r>
            <a:r>
              <a:rPr lang="en-US" sz="1600" b="1" dirty="0">
                <a:solidFill>
                  <a:schemeClr val="bg1"/>
                </a:solidFill>
              </a:rPr>
              <a:t>direction</a:t>
            </a:r>
            <a:endParaRPr lang="en-US" sz="1600" dirty="0"/>
          </a:p>
          <a:p>
            <a:pPr algn="l" indent="0" marL="0">
              <a:spcAft>
                <a:spcPts val="200"/>
              </a:spcAft>
              <a:buNone/>
            </a:pPr>
            <a:r>
              <a:rPr lang="en-US" sz="1600" dirty="0">
                <a:solidFill>
                  <a:schemeClr val="bg1"/>
                </a:solidFill>
              </a:rPr>
              <a:t>Mot à mot : </a:t>
            </a:r>
            <a:r>
              <a:rPr lang="en-US" sz="1600" i="1" dirty="0">
                <a:solidFill>
                  <a:schemeClr val="bg1"/>
                </a:solidFill>
              </a:rPr>
              <a:t>Hij rent de keuken in</a:t>
            </a:r>
            <a:r>
              <a:rPr lang="en-US" sz="1600" dirty="0">
                <a:solidFill>
                  <a:schemeClr val="bg1"/>
                </a:solidFill>
              </a:rPr>
              <a:t> = « il court la cuisine dedans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six grands achterzetsels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3575304" cy="1783080"/>
          </a:xfrm>
          <a:prstGeom prst="roundRect">
            <a:avLst>
              <a:gd name="adj" fmla="val 5128"/>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1220724" y="2089404"/>
            <a:ext cx="570586" cy="713232"/>
          </a:xfrm>
          <a:prstGeom prst="rect">
            <a:avLst/>
          </a:prstGeom>
          <a:solidFill>
            <a:srgbClr val="FFFFFF"/>
          </a:solidFill>
          <a:ln w="25400">
            <a:solidFill>
              <a:srgbClr val="17375E"/>
            </a:solidFill>
            <a:prstDash val="solid"/>
          </a:ln>
        </p:spPr>
      </p:sp>
      <p:sp>
        <p:nvSpPr>
          <p:cNvPr id="7" name="Shape 4"/>
          <p:cNvSpPr/>
          <p:nvPr/>
        </p:nvSpPr>
        <p:spPr>
          <a:xfrm>
            <a:off x="1184148" y="2324771"/>
            <a:ext cx="73152" cy="242499"/>
          </a:xfrm>
          <a:prstGeom prst="rect">
            <a:avLst/>
          </a:prstGeom>
          <a:solidFill>
            <a:srgbClr val="FFFFFF"/>
          </a:solidFill>
          <a:ln w="12700">
            <a:solidFill>
              <a:srgbClr val="FFFFFF">
                <a:alpha val="0"/>
              </a:srgbClr>
            </a:solidFill>
            <a:prstDash val="solid"/>
          </a:ln>
        </p:spPr>
      </p:sp>
      <p:sp>
        <p:nvSpPr>
          <p:cNvPr id="8" name="Shape 5"/>
          <p:cNvSpPr/>
          <p:nvPr/>
        </p:nvSpPr>
        <p:spPr>
          <a:xfrm>
            <a:off x="745236" y="2446020"/>
            <a:ext cx="796442" cy="914"/>
          </a:xfrm>
          <a:prstGeom prst="line">
            <a:avLst/>
          </a:prstGeom>
          <a:noFill/>
          <a:ln w="44450">
            <a:solidFill>
              <a:srgbClr val="D9700F"/>
            </a:solidFill>
            <a:prstDash val="solid"/>
            <a:tailEnd type="triangle"/>
          </a:ln>
        </p:spPr>
      </p:sp>
      <p:sp>
        <p:nvSpPr>
          <p:cNvPr id="9" name="Text 6"/>
          <p:cNvSpPr txBox="1"/>
          <p:nvPr/>
        </p:nvSpPr>
        <p:spPr>
          <a:xfrm>
            <a:off x="2011680" y="1627632"/>
            <a:ext cx="2020824"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in</a:t>
            </a:r>
            <a:endParaRPr lang="en-US" sz="2800" dirty="0"/>
          </a:p>
        </p:txBody>
      </p:sp>
      <p:sp>
        <p:nvSpPr>
          <p:cNvPr id="10" name="Text 7"/>
          <p:cNvSpPr txBox="1"/>
          <p:nvPr/>
        </p:nvSpPr>
        <p:spPr>
          <a:xfrm>
            <a:off x="2011680" y="2121408"/>
            <a:ext cx="2020824" cy="347472"/>
          </a:xfrm>
          <a:prstGeom prst="rect">
            <a:avLst/>
          </a:prstGeom>
          <a:noFill/>
          <a:ln/>
        </p:spPr>
        <p:txBody>
          <a:bodyPr wrap="square" lIns="0" tIns="0" rIns="0" bIns="0" rtlCol="0" anchor="ctr"/>
          <a:lstStyle/>
          <a:p>
            <a:pPr algn="l" indent="0" marL="0">
              <a:buNone/>
            </a:pPr>
            <a:r>
              <a:rPr lang="en-US" sz="1500" b="1" dirty="0">
                <a:solidFill>
                  <a:schemeClr val="tx2"/>
                </a:solidFill>
              </a:rPr>
              <a:t>= entrer</a:t>
            </a:r>
            <a:endParaRPr lang="en-US" sz="1500" dirty="0"/>
          </a:p>
        </p:txBody>
      </p:sp>
      <p:sp>
        <p:nvSpPr>
          <p:cNvPr id="11" name="Text 8"/>
          <p:cNvSpPr txBox="1"/>
          <p:nvPr/>
        </p:nvSpPr>
        <p:spPr>
          <a:xfrm>
            <a:off x="2011680" y="2468880"/>
            <a:ext cx="2020824" cy="795528"/>
          </a:xfrm>
          <a:prstGeom prst="rect">
            <a:avLst/>
          </a:prstGeom>
          <a:noFill/>
          <a:ln/>
        </p:spPr>
        <p:txBody>
          <a:bodyPr wrap="square" lIns="0" tIns="0" rIns="0" bIns="0" rtlCol="0" anchor="ctr"/>
          <a:lstStyle/>
          <a:p>
            <a:pPr algn="l" indent="0" marL="0">
              <a:buNone/>
            </a:pPr>
            <a:r>
              <a:rPr lang="en-US" sz="1500" i="1" dirty="0">
                <a:solidFill>
                  <a:schemeClr val="tx1"/>
                </a:solidFill>
              </a:rPr>
              <a:t>Hij loopt de kamer </a:t>
            </a:r>
            <a:r>
              <a:rPr lang="en-US" sz="1500" b="1" i="1" dirty="0">
                <a:solidFill>
                  <a:schemeClr val="tx1"/>
                </a:solidFill>
              </a:rPr>
              <a:t>in</a:t>
            </a:r>
            <a:r>
              <a:rPr lang="en-US" sz="1500" i="1" dirty="0">
                <a:solidFill>
                  <a:schemeClr val="tx1"/>
                </a:solidFill>
              </a:rPr>
              <a:t>.</a:t>
            </a:r>
            <a:endParaRPr lang="en-US" sz="1500" dirty="0"/>
          </a:p>
        </p:txBody>
      </p:sp>
      <p:sp>
        <p:nvSpPr>
          <p:cNvPr id="12" name="Shape 9"/>
          <p:cNvSpPr/>
          <p:nvPr/>
        </p:nvSpPr>
        <p:spPr>
          <a:xfrm>
            <a:off x="4306824" y="1554480"/>
            <a:ext cx="3575304" cy="1783080"/>
          </a:xfrm>
          <a:prstGeom prst="roundRect">
            <a:avLst>
              <a:gd name="adj" fmla="val 5128"/>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978908" y="2089404"/>
            <a:ext cx="570586" cy="713232"/>
          </a:xfrm>
          <a:prstGeom prst="rect">
            <a:avLst/>
          </a:prstGeom>
          <a:solidFill>
            <a:srgbClr val="FFFFFF"/>
          </a:solidFill>
          <a:ln w="25400">
            <a:solidFill>
              <a:srgbClr val="17375E"/>
            </a:solidFill>
            <a:prstDash val="solid"/>
          </a:ln>
        </p:spPr>
      </p:sp>
      <p:sp>
        <p:nvSpPr>
          <p:cNvPr id="14" name="Shape 11"/>
          <p:cNvSpPr/>
          <p:nvPr/>
        </p:nvSpPr>
        <p:spPr>
          <a:xfrm>
            <a:off x="4942332" y="2324771"/>
            <a:ext cx="73152" cy="242499"/>
          </a:xfrm>
          <a:prstGeom prst="rect">
            <a:avLst/>
          </a:prstGeom>
          <a:solidFill>
            <a:srgbClr val="FFFFFF"/>
          </a:solidFill>
          <a:ln w="12700">
            <a:solidFill>
              <a:srgbClr val="FFFFFF">
                <a:alpha val="0"/>
              </a:srgbClr>
            </a:solidFill>
            <a:prstDash val="solid"/>
          </a:ln>
        </p:spPr>
      </p:sp>
      <p:sp>
        <p:nvSpPr>
          <p:cNvPr id="15" name="Shape 12"/>
          <p:cNvSpPr/>
          <p:nvPr/>
        </p:nvSpPr>
        <p:spPr>
          <a:xfrm flipH="1">
            <a:off x="4503420" y="2446020"/>
            <a:ext cx="796442" cy="914"/>
          </a:xfrm>
          <a:prstGeom prst="line">
            <a:avLst/>
          </a:prstGeom>
          <a:noFill/>
          <a:ln w="44450">
            <a:solidFill>
              <a:srgbClr val="D9700F"/>
            </a:solidFill>
            <a:prstDash val="solid"/>
            <a:tailEnd type="triangle"/>
          </a:ln>
        </p:spPr>
      </p:sp>
      <p:sp>
        <p:nvSpPr>
          <p:cNvPr id="16" name="Text 13"/>
          <p:cNvSpPr txBox="1"/>
          <p:nvPr/>
        </p:nvSpPr>
        <p:spPr>
          <a:xfrm>
            <a:off x="5769864" y="1627632"/>
            <a:ext cx="2020824"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uit</a:t>
            </a:r>
            <a:endParaRPr lang="en-US" sz="2800" dirty="0"/>
          </a:p>
        </p:txBody>
      </p:sp>
      <p:sp>
        <p:nvSpPr>
          <p:cNvPr id="17" name="Text 14"/>
          <p:cNvSpPr txBox="1"/>
          <p:nvPr/>
        </p:nvSpPr>
        <p:spPr>
          <a:xfrm>
            <a:off x="5769864" y="2121408"/>
            <a:ext cx="2020824" cy="347472"/>
          </a:xfrm>
          <a:prstGeom prst="rect">
            <a:avLst/>
          </a:prstGeom>
          <a:noFill/>
          <a:ln/>
        </p:spPr>
        <p:txBody>
          <a:bodyPr wrap="square" lIns="0" tIns="0" rIns="0" bIns="0" rtlCol="0" anchor="ctr"/>
          <a:lstStyle/>
          <a:p>
            <a:pPr algn="l" indent="0" marL="0">
              <a:buNone/>
            </a:pPr>
            <a:r>
              <a:rPr lang="en-US" sz="1500" b="1" dirty="0">
                <a:solidFill>
                  <a:schemeClr val="tx2"/>
                </a:solidFill>
              </a:rPr>
              <a:t>= sortir</a:t>
            </a:r>
            <a:endParaRPr lang="en-US" sz="1500" dirty="0"/>
          </a:p>
        </p:txBody>
      </p:sp>
      <p:sp>
        <p:nvSpPr>
          <p:cNvPr id="18" name="Text 15"/>
          <p:cNvSpPr txBox="1"/>
          <p:nvPr/>
        </p:nvSpPr>
        <p:spPr>
          <a:xfrm>
            <a:off x="5769864" y="2468880"/>
            <a:ext cx="2020824" cy="795528"/>
          </a:xfrm>
          <a:prstGeom prst="rect">
            <a:avLst/>
          </a:prstGeom>
          <a:noFill/>
          <a:ln/>
        </p:spPr>
        <p:txBody>
          <a:bodyPr wrap="square" lIns="0" tIns="0" rIns="0" bIns="0" rtlCol="0" anchor="ctr"/>
          <a:lstStyle/>
          <a:p>
            <a:pPr algn="l" indent="0" marL="0">
              <a:buNone/>
            </a:pPr>
            <a:r>
              <a:rPr lang="en-US" sz="1500" i="1" dirty="0">
                <a:solidFill>
                  <a:schemeClr val="tx1"/>
                </a:solidFill>
              </a:rPr>
              <a:t>Ze loopt het kantoor </a:t>
            </a:r>
            <a:r>
              <a:rPr lang="en-US" sz="1500" b="1" i="1" dirty="0">
                <a:solidFill>
                  <a:schemeClr val="tx1"/>
                </a:solidFill>
              </a:rPr>
              <a:t>uit</a:t>
            </a:r>
            <a:r>
              <a:rPr lang="en-US" sz="1500" i="1" dirty="0">
                <a:solidFill>
                  <a:schemeClr val="tx1"/>
                </a:solidFill>
              </a:rPr>
              <a:t>.</a:t>
            </a:r>
            <a:endParaRPr lang="en-US" sz="1500" dirty="0"/>
          </a:p>
        </p:txBody>
      </p:sp>
      <p:sp>
        <p:nvSpPr>
          <p:cNvPr id="19" name="Shape 16"/>
          <p:cNvSpPr/>
          <p:nvPr/>
        </p:nvSpPr>
        <p:spPr>
          <a:xfrm>
            <a:off x="8065008" y="1554480"/>
            <a:ext cx="3575304" cy="1783080"/>
          </a:xfrm>
          <a:prstGeom prst="roundRect">
            <a:avLst>
              <a:gd name="adj" fmla="val 5128"/>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321040" y="2743200"/>
            <a:ext cx="237744" cy="178308"/>
          </a:xfrm>
          <a:prstGeom prst="rect">
            <a:avLst/>
          </a:prstGeom>
          <a:solidFill>
            <a:srgbClr val="D5DCE6"/>
          </a:solidFill>
          <a:ln w="9525">
            <a:solidFill>
              <a:srgbClr val="4A5A70"/>
            </a:solidFill>
            <a:prstDash val="solid"/>
          </a:ln>
        </p:spPr>
      </p:sp>
      <p:sp>
        <p:nvSpPr>
          <p:cNvPr id="21" name="Shape 18"/>
          <p:cNvSpPr/>
          <p:nvPr/>
        </p:nvSpPr>
        <p:spPr>
          <a:xfrm>
            <a:off x="8558784" y="2564892"/>
            <a:ext cx="237744" cy="356616"/>
          </a:xfrm>
          <a:prstGeom prst="rect">
            <a:avLst/>
          </a:prstGeom>
          <a:solidFill>
            <a:srgbClr val="D5DCE6"/>
          </a:solidFill>
          <a:ln w="9525">
            <a:solidFill>
              <a:srgbClr val="4A5A70"/>
            </a:solidFill>
            <a:prstDash val="solid"/>
          </a:ln>
        </p:spPr>
      </p:sp>
      <p:sp>
        <p:nvSpPr>
          <p:cNvPr id="22" name="Shape 19"/>
          <p:cNvSpPr/>
          <p:nvPr/>
        </p:nvSpPr>
        <p:spPr>
          <a:xfrm>
            <a:off x="8796528" y="2386584"/>
            <a:ext cx="237744" cy="534924"/>
          </a:xfrm>
          <a:prstGeom prst="rect">
            <a:avLst/>
          </a:prstGeom>
          <a:solidFill>
            <a:srgbClr val="D5DCE6"/>
          </a:solidFill>
          <a:ln w="9525">
            <a:solidFill>
              <a:srgbClr val="4A5A70"/>
            </a:solidFill>
            <a:prstDash val="solid"/>
          </a:ln>
        </p:spPr>
      </p:sp>
      <p:sp>
        <p:nvSpPr>
          <p:cNvPr id="23" name="Shape 20"/>
          <p:cNvSpPr/>
          <p:nvPr/>
        </p:nvSpPr>
        <p:spPr>
          <a:xfrm>
            <a:off x="9034272" y="2208276"/>
            <a:ext cx="237744" cy="713232"/>
          </a:xfrm>
          <a:prstGeom prst="rect">
            <a:avLst/>
          </a:prstGeom>
          <a:solidFill>
            <a:srgbClr val="D5DCE6"/>
          </a:solidFill>
          <a:ln w="9525">
            <a:solidFill>
              <a:srgbClr val="4A5A70"/>
            </a:solidFill>
            <a:prstDash val="solid"/>
          </a:ln>
        </p:spPr>
      </p:sp>
      <p:sp>
        <p:nvSpPr>
          <p:cNvPr id="24" name="Shape 21"/>
          <p:cNvSpPr/>
          <p:nvPr/>
        </p:nvSpPr>
        <p:spPr>
          <a:xfrm flipV="1">
            <a:off x="8297266" y="1946758"/>
            <a:ext cx="950976" cy="641909"/>
          </a:xfrm>
          <a:prstGeom prst="line">
            <a:avLst/>
          </a:prstGeom>
          <a:noFill/>
          <a:ln w="44450">
            <a:solidFill>
              <a:srgbClr val="D9700F"/>
            </a:solidFill>
            <a:prstDash val="solid"/>
            <a:tailEnd type="triangle"/>
          </a:ln>
        </p:spPr>
      </p:sp>
      <p:sp>
        <p:nvSpPr>
          <p:cNvPr id="25" name="Text 22"/>
          <p:cNvSpPr txBox="1"/>
          <p:nvPr/>
        </p:nvSpPr>
        <p:spPr>
          <a:xfrm>
            <a:off x="9528048" y="1627632"/>
            <a:ext cx="2020824"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op</a:t>
            </a:r>
            <a:endParaRPr lang="en-US" sz="2800" dirty="0"/>
          </a:p>
        </p:txBody>
      </p:sp>
      <p:sp>
        <p:nvSpPr>
          <p:cNvPr id="26" name="Text 23"/>
          <p:cNvSpPr txBox="1"/>
          <p:nvPr/>
        </p:nvSpPr>
        <p:spPr>
          <a:xfrm>
            <a:off x="9528048" y="2121408"/>
            <a:ext cx="2020824" cy="347472"/>
          </a:xfrm>
          <a:prstGeom prst="rect">
            <a:avLst/>
          </a:prstGeom>
          <a:noFill/>
          <a:ln/>
        </p:spPr>
        <p:txBody>
          <a:bodyPr wrap="square" lIns="0" tIns="0" rIns="0" bIns="0" rtlCol="0" anchor="ctr"/>
          <a:lstStyle/>
          <a:p>
            <a:pPr algn="l" indent="0" marL="0">
              <a:buNone/>
            </a:pPr>
            <a:r>
              <a:rPr lang="en-US" sz="1500" b="1" dirty="0">
                <a:solidFill>
                  <a:schemeClr val="tx2"/>
                </a:solidFill>
              </a:rPr>
              <a:t>= monter</a:t>
            </a:r>
            <a:endParaRPr lang="en-US" sz="1500" dirty="0"/>
          </a:p>
        </p:txBody>
      </p:sp>
      <p:sp>
        <p:nvSpPr>
          <p:cNvPr id="27" name="Text 24"/>
          <p:cNvSpPr txBox="1"/>
          <p:nvPr/>
        </p:nvSpPr>
        <p:spPr>
          <a:xfrm>
            <a:off x="9528048" y="2468880"/>
            <a:ext cx="2020824" cy="795528"/>
          </a:xfrm>
          <a:prstGeom prst="rect">
            <a:avLst/>
          </a:prstGeom>
          <a:noFill/>
          <a:ln/>
        </p:spPr>
        <p:txBody>
          <a:bodyPr wrap="square" lIns="0" tIns="0" rIns="0" bIns="0" rtlCol="0" anchor="ctr"/>
          <a:lstStyle/>
          <a:p>
            <a:pPr algn="l" indent="0" marL="0">
              <a:buNone/>
            </a:pPr>
            <a:r>
              <a:rPr lang="en-US" sz="1500" i="1" dirty="0">
                <a:solidFill>
                  <a:schemeClr val="tx1"/>
                </a:solidFill>
              </a:rPr>
              <a:t>We lopen de trap </a:t>
            </a:r>
            <a:r>
              <a:rPr lang="en-US" sz="1500" b="1" i="1" dirty="0">
                <a:solidFill>
                  <a:schemeClr val="tx1"/>
                </a:solidFill>
              </a:rPr>
              <a:t>op</a:t>
            </a:r>
            <a:r>
              <a:rPr lang="en-US" sz="1500" i="1" dirty="0">
                <a:solidFill>
                  <a:schemeClr val="tx1"/>
                </a:solidFill>
              </a:rPr>
              <a:t>.</a:t>
            </a:r>
            <a:endParaRPr lang="en-US" sz="1500" dirty="0"/>
          </a:p>
        </p:txBody>
      </p:sp>
      <p:sp>
        <p:nvSpPr>
          <p:cNvPr id="28" name="Shape 25"/>
          <p:cNvSpPr/>
          <p:nvPr/>
        </p:nvSpPr>
        <p:spPr>
          <a:xfrm>
            <a:off x="548640" y="3502152"/>
            <a:ext cx="3575304" cy="1783080"/>
          </a:xfrm>
          <a:prstGeom prst="roundRect">
            <a:avLst>
              <a:gd name="adj" fmla="val 5128"/>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29" name="Shape 26"/>
          <p:cNvSpPr/>
          <p:nvPr/>
        </p:nvSpPr>
        <p:spPr>
          <a:xfrm>
            <a:off x="804672" y="4155948"/>
            <a:ext cx="237744" cy="713232"/>
          </a:xfrm>
          <a:prstGeom prst="rect">
            <a:avLst/>
          </a:prstGeom>
          <a:solidFill>
            <a:srgbClr val="D5DCE6"/>
          </a:solidFill>
          <a:ln w="9525">
            <a:solidFill>
              <a:srgbClr val="4A5A70"/>
            </a:solidFill>
            <a:prstDash val="solid"/>
          </a:ln>
        </p:spPr>
      </p:sp>
      <p:sp>
        <p:nvSpPr>
          <p:cNvPr id="30" name="Shape 27"/>
          <p:cNvSpPr/>
          <p:nvPr/>
        </p:nvSpPr>
        <p:spPr>
          <a:xfrm>
            <a:off x="1042416" y="4334256"/>
            <a:ext cx="237744" cy="534924"/>
          </a:xfrm>
          <a:prstGeom prst="rect">
            <a:avLst/>
          </a:prstGeom>
          <a:solidFill>
            <a:srgbClr val="D5DCE6"/>
          </a:solidFill>
          <a:ln w="9525">
            <a:solidFill>
              <a:srgbClr val="4A5A70"/>
            </a:solidFill>
            <a:prstDash val="solid"/>
          </a:ln>
        </p:spPr>
      </p:sp>
      <p:sp>
        <p:nvSpPr>
          <p:cNvPr id="31" name="Shape 28"/>
          <p:cNvSpPr/>
          <p:nvPr/>
        </p:nvSpPr>
        <p:spPr>
          <a:xfrm>
            <a:off x="1280160" y="4512564"/>
            <a:ext cx="237744" cy="356616"/>
          </a:xfrm>
          <a:prstGeom prst="rect">
            <a:avLst/>
          </a:prstGeom>
          <a:solidFill>
            <a:srgbClr val="D5DCE6"/>
          </a:solidFill>
          <a:ln w="9525">
            <a:solidFill>
              <a:srgbClr val="4A5A70"/>
            </a:solidFill>
            <a:prstDash val="solid"/>
          </a:ln>
        </p:spPr>
      </p:sp>
      <p:sp>
        <p:nvSpPr>
          <p:cNvPr id="32" name="Shape 29"/>
          <p:cNvSpPr/>
          <p:nvPr/>
        </p:nvSpPr>
        <p:spPr>
          <a:xfrm>
            <a:off x="1517904" y="4690872"/>
            <a:ext cx="237744" cy="178308"/>
          </a:xfrm>
          <a:prstGeom prst="rect">
            <a:avLst/>
          </a:prstGeom>
          <a:solidFill>
            <a:srgbClr val="D5DCE6"/>
          </a:solidFill>
          <a:ln w="9525">
            <a:solidFill>
              <a:srgbClr val="4A5A70"/>
            </a:solidFill>
            <a:prstDash val="solid"/>
          </a:ln>
        </p:spPr>
      </p:sp>
      <p:sp>
        <p:nvSpPr>
          <p:cNvPr id="33" name="Shape 30"/>
          <p:cNvSpPr/>
          <p:nvPr/>
        </p:nvSpPr>
        <p:spPr>
          <a:xfrm>
            <a:off x="828446" y="3894430"/>
            <a:ext cx="950976" cy="641909"/>
          </a:xfrm>
          <a:prstGeom prst="line">
            <a:avLst/>
          </a:prstGeom>
          <a:noFill/>
          <a:ln w="44450">
            <a:solidFill>
              <a:srgbClr val="D9700F"/>
            </a:solidFill>
            <a:prstDash val="solid"/>
            <a:tailEnd type="triangle"/>
          </a:ln>
        </p:spPr>
      </p:sp>
      <p:sp>
        <p:nvSpPr>
          <p:cNvPr id="34" name="Text 31"/>
          <p:cNvSpPr txBox="1"/>
          <p:nvPr/>
        </p:nvSpPr>
        <p:spPr>
          <a:xfrm>
            <a:off x="2011680" y="3575304"/>
            <a:ext cx="2020824"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af</a:t>
            </a:r>
            <a:endParaRPr lang="en-US" sz="2800" dirty="0"/>
          </a:p>
        </p:txBody>
      </p:sp>
      <p:sp>
        <p:nvSpPr>
          <p:cNvPr id="35" name="Text 32"/>
          <p:cNvSpPr txBox="1"/>
          <p:nvPr/>
        </p:nvSpPr>
        <p:spPr>
          <a:xfrm>
            <a:off x="2011680" y="4069080"/>
            <a:ext cx="2020824" cy="347472"/>
          </a:xfrm>
          <a:prstGeom prst="rect">
            <a:avLst/>
          </a:prstGeom>
          <a:noFill/>
          <a:ln/>
        </p:spPr>
        <p:txBody>
          <a:bodyPr wrap="square" lIns="0" tIns="0" rIns="0" bIns="0" rtlCol="0" anchor="ctr"/>
          <a:lstStyle/>
          <a:p>
            <a:pPr algn="l" indent="0" marL="0">
              <a:buNone/>
            </a:pPr>
            <a:r>
              <a:rPr lang="en-US" sz="1500" b="1" dirty="0">
                <a:solidFill>
                  <a:schemeClr val="tx2"/>
                </a:solidFill>
              </a:rPr>
              <a:t>= descendre</a:t>
            </a:r>
            <a:endParaRPr lang="en-US" sz="1500" dirty="0"/>
          </a:p>
        </p:txBody>
      </p:sp>
      <p:sp>
        <p:nvSpPr>
          <p:cNvPr id="36" name="Text 33"/>
          <p:cNvSpPr txBox="1"/>
          <p:nvPr/>
        </p:nvSpPr>
        <p:spPr>
          <a:xfrm>
            <a:off x="2011680" y="4416552"/>
            <a:ext cx="2020824" cy="795528"/>
          </a:xfrm>
          <a:prstGeom prst="rect">
            <a:avLst/>
          </a:prstGeom>
          <a:noFill/>
          <a:ln/>
        </p:spPr>
        <p:txBody>
          <a:bodyPr wrap="square" lIns="0" tIns="0" rIns="0" bIns="0" rtlCol="0" anchor="ctr"/>
          <a:lstStyle/>
          <a:p>
            <a:pPr algn="l" indent="0" marL="0">
              <a:buNone/>
            </a:pPr>
            <a:r>
              <a:rPr lang="en-US" sz="1500" i="1" dirty="0">
                <a:solidFill>
                  <a:schemeClr val="tx1"/>
                </a:solidFill>
              </a:rPr>
              <a:t>Ik fiets de berg </a:t>
            </a:r>
            <a:r>
              <a:rPr lang="en-US" sz="1500" b="1" i="1" dirty="0">
                <a:solidFill>
                  <a:schemeClr val="tx1"/>
                </a:solidFill>
              </a:rPr>
              <a:t>af</a:t>
            </a:r>
            <a:r>
              <a:rPr lang="en-US" sz="1500" i="1" dirty="0">
                <a:solidFill>
                  <a:schemeClr val="tx1"/>
                </a:solidFill>
              </a:rPr>
              <a:t>.</a:t>
            </a:r>
            <a:endParaRPr lang="en-US" sz="1500" dirty="0"/>
          </a:p>
        </p:txBody>
      </p:sp>
      <p:sp>
        <p:nvSpPr>
          <p:cNvPr id="37" name="Shape 34"/>
          <p:cNvSpPr/>
          <p:nvPr/>
        </p:nvSpPr>
        <p:spPr>
          <a:xfrm>
            <a:off x="4306824" y="3502152"/>
            <a:ext cx="3575304" cy="1783080"/>
          </a:xfrm>
          <a:prstGeom prst="roundRect">
            <a:avLst>
              <a:gd name="adj" fmla="val 5128"/>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38" name="Shape 35"/>
          <p:cNvSpPr/>
          <p:nvPr/>
        </p:nvSpPr>
        <p:spPr>
          <a:xfrm>
            <a:off x="4503420" y="4096512"/>
            <a:ext cx="1069848" cy="594360"/>
          </a:xfrm>
          <a:prstGeom prst="rect">
            <a:avLst/>
          </a:prstGeom>
          <a:solidFill>
            <a:srgbClr val="DCEFD9"/>
          </a:solidFill>
          <a:ln w="12700">
            <a:solidFill>
              <a:srgbClr val="FFFFFF">
                <a:alpha val="0"/>
              </a:srgbClr>
            </a:solidFill>
            <a:prstDash val="solid"/>
          </a:ln>
        </p:spPr>
      </p:sp>
      <p:sp>
        <p:nvSpPr>
          <p:cNvPr id="39" name="Shape 36"/>
          <p:cNvSpPr/>
          <p:nvPr/>
        </p:nvSpPr>
        <p:spPr>
          <a:xfrm>
            <a:off x="4895698" y="4096512"/>
            <a:ext cx="285293" cy="594360"/>
          </a:xfrm>
          <a:prstGeom prst="rect">
            <a:avLst/>
          </a:prstGeom>
          <a:solidFill>
            <a:srgbClr val="7FB8E6"/>
          </a:solidFill>
          <a:ln w="12700">
            <a:solidFill>
              <a:srgbClr val="FFFFFF">
                <a:alpha val="0"/>
              </a:srgbClr>
            </a:solidFill>
            <a:prstDash val="solid"/>
          </a:ln>
        </p:spPr>
      </p:sp>
      <p:sp>
        <p:nvSpPr>
          <p:cNvPr id="40" name="Shape 37"/>
          <p:cNvSpPr/>
          <p:nvPr/>
        </p:nvSpPr>
        <p:spPr>
          <a:xfrm>
            <a:off x="4586630" y="4393692"/>
            <a:ext cx="903427" cy="914"/>
          </a:xfrm>
          <a:prstGeom prst="line">
            <a:avLst/>
          </a:prstGeom>
          <a:noFill/>
          <a:ln w="44450">
            <a:solidFill>
              <a:srgbClr val="D9700F"/>
            </a:solidFill>
            <a:prstDash val="solid"/>
            <a:tailEnd type="triangle"/>
          </a:ln>
        </p:spPr>
      </p:sp>
      <p:sp>
        <p:nvSpPr>
          <p:cNvPr id="41" name="Text 38"/>
          <p:cNvSpPr txBox="1"/>
          <p:nvPr/>
        </p:nvSpPr>
        <p:spPr>
          <a:xfrm>
            <a:off x="5769864" y="3575304"/>
            <a:ext cx="2020824"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over</a:t>
            </a:r>
            <a:endParaRPr lang="en-US" sz="2800" dirty="0"/>
          </a:p>
        </p:txBody>
      </p:sp>
      <p:sp>
        <p:nvSpPr>
          <p:cNvPr id="42" name="Text 39"/>
          <p:cNvSpPr txBox="1"/>
          <p:nvPr/>
        </p:nvSpPr>
        <p:spPr>
          <a:xfrm>
            <a:off x="5769864" y="4069080"/>
            <a:ext cx="2020824" cy="347472"/>
          </a:xfrm>
          <a:prstGeom prst="rect">
            <a:avLst/>
          </a:prstGeom>
          <a:noFill/>
          <a:ln/>
        </p:spPr>
        <p:txBody>
          <a:bodyPr wrap="square" lIns="0" tIns="0" rIns="0" bIns="0" rtlCol="0" anchor="ctr"/>
          <a:lstStyle/>
          <a:p>
            <a:pPr algn="l" indent="0" marL="0">
              <a:buNone/>
            </a:pPr>
            <a:r>
              <a:rPr lang="en-US" sz="1500" b="1" dirty="0">
                <a:solidFill>
                  <a:schemeClr val="tx2"/>
                </a:solidFill>
              </a:rPr>
              <a:t>= traverser (d’un bord à l’autre)</a:t>
            </a:r>
            <a:endParaRPr lang="en-US" sz="1500" dirty="0"/>
          </a:p>
        </p:txBody>
      </p:sp>
      <p:sp>
        <p:nvSpPr>
          <p:cNvPr id="43" name="Text 40"/>
          <p:cNvSpPr txBox="1"/>
          <p:nvPr/>
        </p:nvSpPr>
        <p:spPr>
          <a:xfrm>
            <a:off x="5769864" y="4416552"/>
            <a:ext cx="2020824" cy="795528"/>
          </a:xfrm>
          <a:prstGeom prst="rect">
            <a:avLst/>
          </a:prstGeom>
          <a:noFill/>
          <a:ln/>
        </p:spPr>
        <p:txBody>
          <a:bodyPr wrap="square" lIns="0" tIns="0" rIns="0" bIns="0" rtlCol="0" anchor="ctr"/>
          <a:lstStyle/>
          <a:p>
            <a:pPr algn="l" indent="0" marL="0">
              <a:buNone/>
            </a:pPr>
            <a:r>
              <a:rPr lang="en-US" sz="1500" i="1" dirty="0">
                <a:solidFill>
                  <a:schemeClr val="tx1"/>
                </a:solidFill>
              </a:rPr>
              <a:t>Hij zwemt de rivier </a:t>
            </a:r>
            <a:r>
              <a:rPr lang="en-US" sz="1500" b="1" i="1" dirty="0">
                <a:solidFill>
                  <a:schemeClr val="tx1"/>
                </a:solidFill>
              </a:rPr>
              <a:t>over</a:t>
            </a:r>
            <a:r>
              <a:rPr lang="en-US" sz="1500" i="1" dirty="0">
                <a:solidFill>
                  <a:schemeClr val="tx1"/>
                </a:solidFill>
              </a:rPr>
              <a:t>.</a:t>
            </a:r>
            <a:endParaRPr lang="en-US" sz="1500" dirty="0"/>
          </a:p>
        </p:txBody>
      </p:sp>
      <p:sp>
        <p:nvSpPr>
          <p:cNvPr id="44" name="Shape 41"/>
          <p:cNvSpPr/>
          <p:nvPr/>
        </p:nvSpPr>
        <p:spPr>
          <a:xfrm>
            <a:off x="8065008" y="3502152"/>
            <a:ext cx="3575304" cy="1783080"/>
          </a:xfrm>
          <a:prstGeom prst="roundRect">
            <a:avLst>
              <a:gd name="adj" fmla="val 5128"/>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45" name="Shape 42"/>
          <p:cNvSpPr/>
          <p:nvPr/>
        </p:nvSpPr>
        <p:spPr>
          <a:xfrm>
            <a:off x="8558784" y="4155948"/>
            <a:ext cx="475488" cy="475488"/>
          </a:xfrm>
          <a:prstGeom prst="roundRect">
            <a:avLst>
              <a:gd name="adj" fmla="val 23077"/>
            </a:avLst>
          </a:prstGeom>
          <a:solidFill>
            <a:srgbClr val="4A5A70"/>
          </a:solidFill>
          <a:ln w="12700">
            <a:solidFill>
              <a:srgbClr val="FFFFFF">
                <a:alpha val="0"/>
              </a:srgbClr>
            </a:solidFill>
            <a:prstDash val="solid"/>
          </a:ln>
        </p:spPr>
      </p:sp>
      <p:sp>
        <p:nvSpPr>
          <p:cNvPr id="46" name="Shape 43"/>
          <p:cNvSpPr/>
          <p:nvPr/>
        </p:nvSpPr>
        <p:spPr>
          <a:xfrm>
            <a:off x="8630107" y="4251046"/>
            <a:ext cx="332842" cy="285293"/>
          </a:xfrm>
          <a:prstGeom prst="roundRect">
            <a:avLst>
              <a:gd name="adj" fmla="val 25641"/>
            </a:avLst>
          </a:prstGeom>
          <a:solidFill>
            <a:srgbClr val="1B2333"/>
          </a:solidFill>
          <a:ln w="12700">
            <a:solidFill>
              <a:srgbClr val="FFFFFF">
                <a:alpha val="0"/>
              </a:srgbClr>
            </a:solidFill>
            <a:prstDash val="solid"/>
          </a:ln>
        </p:spPr>
      </p:sp>
      <p:sp>
        <p:nvSpPr>
          <p:cNvPr id="47" name="Shape 44"/>
          <p:cNvSpPr/>
          <p:nvPr/>
        </p:nvSpPr>
        <p:spPr>
          <a:xfrm>
            <a:off x="8249717" y="4393692"/>
            <a:ext cx="1093622" cy="914"/>
          </a:xfrm>
          <a:prstGeom prst="line">
            <a:avLst/>
          </a:prstGeom>
          <a:noFill/>
          <a:ln w="44450">
            <a:solidFill>
              <a:srgbClr val="D9700F"/>
            </a:solidFill>
            <a:prstDash val="solid"/>
            <a:tailEnd type="triangle"/>
          </a:ln>
        </p:spPr>
      </p:sp>
      <p:sp>
        <p:nvSpPr>
          <p:cNvPr id="48" name="Text 45"/>
          <p:cNvSpPr txBox="1"/>
          <p:nvPr/>
        </p:nvSpPr>
        <p:spPr>
          <a:xfrm>
            <a:off x="9528048" y="3575304"/>
            <a:ext cx="2020824"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door</a:t>
            </a:r>
            <a:endParaRPr lang="en-US" sz="2800" dirty="0"/>
          </a:p>
        </p:txBody>
      </p:sp>
      <p:sp>
        <p:nvSpPr>
          <p:cNvPr id="49" name="Text 46"/>
          <p:cNvSpPr txBox="1"/>
          <p:nvPr/>
        </p:nvSpPr>
        <p:spPr>
          <a:xfrm>
            <a:off x="9528048" y="4069080"/>
            <a:ext cx="2020824" cy="347472"/>
          </a:xfrm>
          <a:prstGeom prst="rect">
            <a:avLst/>
          </a:prstGeom>
          <a:noFill/>
          <a:ln/>
        </p:spPr>
        <p:txBody>
          <a:bodyPr wrap="square" lIns="0" tIns="0" rIns="0" bIns="0" rtlCol="0" anchor="ctr"/>
          <a:lstStyle/>
          <a:p>
            <a:pPr algn="l" indent="0" marL="0">
              <a:buNone/>
            </a:pPr>
            <a:r>
              <a:rPr lang="en-US" sz="1500" b="1" dirty="0">
                <a:solidFill>
                  <a:schemeClr val="tx2"/>
                </a:solidFill>
              </a:rPr>
              <a:t>= traverser (à travers)</a:t>
            </a:r>
            <a:endParaRPr lang="en-US" sz="1500" dirty="0"/>
          </a:p>
        </p:txBody>
      </p:sp>
      <p:sp>
        <p:nvSpPr>
          <p:cNvPr id="50" name="Text 47"/>
          <p:cNvSpPr txBox="1"/>
          <p:nvPr/>
        </p:nvSpPr>
        <p:spPr>
          <a:xfrm>
            <a:off x="9528048" y="4416552"/>
            <a:ext cx="2020824" cy="795528"/>
          </a:xfrm>
          <a:prstGeom prst="rect">
            <a:avLst/>
          </a:prstGeom>
          <a:noFill/>
          <a:ln/>
        </p:spPr>
        <p:txBody>
          <a:bodyPr wrap="square" lIns="0" tIns="0" rIns="0" bIns="0" rtlCol="0" anchor="ctr"/>
          <a:lstStyle/>
          <a:p>
            <a:pPr algn="l" indent="0" marL="0">
              <a:buNone/>
            </a:pPr>
            <a:r>
              <a:rPr lang="en-US" sz="1500" i="1" dirty="0">
                <a:solidFill>
                  <a:schemeClr val="tx1"/>
                </a:solidFill>
              </a:rPr>
              <a:t>De trein rijdt de tunnel </a:t>
            </a:r>
            <a:r>
              <a:rPr lang="en-US" sz="1500" b="1" i="1" dirty="0">
                <a:solidFill>
                  <a:schemeClr val="tx1"/>
                </a:solidFill>
              </a:rPr>
              <a:t>door</a:t>
            </a:r>
            <a:r>
              <a:rPr lang="en-US" sz="1500" i="1" dirty="0">
                <a:solidFill>
                  <a:schemeClr val="tx1"/>
                </a:solidFill>
              </a:rPr>
              <a:t>.</a:t>
            </a:r>
            <a:endParaRPr lang="en-US" sz="1500" dirty="0"/>
          </a:p>
        </p:txBody>
      </p:sp>
      <p:sp>
        <p:nvSpPr>
          <p:cNvPr id="51" name="Shape 48"/>
          <p:cNvSpPr/>
          <p:nvPr/>
        </p:nvSpPr>
        <p:spPr>
          <a:xfrm>
            <a:off x="548640" y="5577840"/>
            <a:ext cx="11091672" cy="658368"/>
          </a:xfrm>
          <a:prstGeom prst="roundRect">
            <a:avLst>
              <a:gd name="adj" fmla="val 11111"/>
            </a:avLst>
          </a:prstGeom>
          <a:solidFill>
            <a:schemeClr val="tx2"/>
          </a:solidFill>
          <a:ln w="12700">
            <a:solidFill>
              <a:srgbClr val="FFFFFF">
                <a:alpha val="0"/>
              </a:srgbClr>
            </a:solidFill>
            <a:prstDash val="solid"/>
          </a:ln>
        </p:spPr>
      </p:sp>
      <p:sp>
        <p:nvSpPr>
          <p:cNvPr id="52" name="Text 49"/>
          <p:cNvSpPr txBox="1"/>
          <p:nvPr/>
        </p:nvSpPr>
        <p:spPr>
          <a:xfrm>
            <a:off x="822960" y="5577840"/>
            <a:ext cx="10607040" cy="658368"/>
          </a:xfrm>
          <a:prstGeom prst="rect">
            <a:avLst/>
          </a:prstGeom>
          <a:noFill/>
          <a:ln/>
        </p:spPr>
        <p:txBody>
          <a:bodyPr wrap="square" lIns="0" tIns="0" rIns="0" bIns="0" rtlCol="0" anchor="ctr"/>
          <a:lstStyle/>
          <a:p>
            <a:pPr algn="l" indent="0" marL="0">
              <a:buNone/>
            </a:pPr>
            <a:r>
              <a:rPr lang="en-US" sz="1600" i="1" dirty="0">
                <a:solidFill>
                  <a:schemeClr val="bg1"/>
                </a:solidFill>
              </a:rPr>
              <a:t>over</a:t>
            </a:r>
            <a:r>
              <a:rPr lang="en-US" sz="1600" dirty="0">
                <a:solidFill>
                  <a:schemeClr val="bg1"/>
                </a:solidFill>
              </a:rPr>
              <a:t> = par-dessus, d’un bord à l’autre (rue, rivière, pont) · </a:t>
            </a:r>
            <a:r>
              <a:rPr lang="en-US" sz="1600" i="1" dirty="0">
                <a:solidFill>
                  <a:schemeClr val="bg1"/>
                </a:solidFill>
              </a:rPr>
              <a:t>door</a:t>
            </a:r>
            <a:r>
              <a:rPr lang="en-US" sz="1600" dirty="0">
                <a:solidFill>
                  <a:schemeClr val="bg1"/>
                </a:solidFill>
              </a:rPr>
              <a:t> = à l’intérieur, d’un bout à l’autre (tunnel, parc)</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et quatre autres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54396" cy="1691640"/>
          </a:xfrm>
          <a:prstGeom prst="roundRect">
            <a:avLst>
              <a:gd name="adj" fmla="val 5405"/>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84555" y="2338578"/>
            <a:ext cx="555498" cy="580187"/>
          </a:xfrm>
          <a:prstGeom prst="rect">
            <a:avLst/>
          </a:prstGeom>
          <a:solidFill>
            <a:srgbClr val="D5DCE6"/>
          </a:solidFill>
          <a:ln w="12700">
            <a:solidFill>
              <a:srgbClr val="4A5A70"/>
            </a:solidFill>
            <a:prstDash val="solid"/>
          </a:ln>
        </p:spPr>
      </p:sp>
      <p:sp>
        <p:nvSpPr>
          <p:cNvPr id="7" name="Shape 4"/>
          <p:cNvSpPr/>
          <p:nvPr/>
        </p:nvSpPr>
        <p:spPr>
          <a:xfrm>
            <a:off x="759866" y="2153412"/>
            <a:ext cx="814730" cy="914"/>
          </a:xfrm>
          <a:prstGeom prst="line">
            <a:avLst/>
          </a:prstGeom>
          <a:noFill/>
          <a:ln w="44450">
            <a:solidFill>
              <a:srgbClr val="D9700F"/>
            </a:solidFill>
            <a:prstDash val="solid"/>
          </a:ln>
        </p:spPr>
      </p:sp>
      <p:sp>
        <p:nvSpPr>
          <p:cNvPr id="8" name="Shape 5"/>
          <p:cNvSpPr/>
          <p:nvPr/>
        </p:nvSpPr>
        <p:spPr>
          <a:xfrm>
            <a:off x="1574597" y="2141068"/>
            <a:ext cx="914" cy="802386"/>
          </a:xfrm>
          <a:prstGeom prst="line">
            <a:avLst/>
          </a:prstGeom>
          <a:noFill/>
          <a:ln w="44450">
            <a:solidFill>
              <a:srgbClr val="D9700F"/>
            </a:solidFill>
            <a:prstDash val="solid"/>
            <a:tailEnd type="triangle"/>
          </a:ln>
        </p:spPr>
      </p:sp>
      <p:sp>
        <p:nvSpPr>
          <p:cNvPr id="9" name="Text 6"/>
          <p:cNvSpPr txBox="1"/>
          <p:nvPr/>
        </p:nvSpPr>
        <p:spPr>
          <a:xfrm>
            <a:off x="2057400" y="1627632"/>
            <a:ext cx="3854196"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om</a:t>
            </a:r>
            <a:endParaRPr lang="en-US" sz="2800" dirty="0"/>
          </a:p>
        </p:txBody>
      </p:sp>
      <p:sp>
        <p:nvSpPr>
          <p:cNvPr id="10" name="Text 7"/>
          <p:cNvSpPr txBox="1"/>
          <p:nvPr/>
        </p:nvSpPr>
        <p:spPr>
          <a:xfrm>
            <a:off x="2057400" y="2121408"/>
            <a:ext cx="3854196" cy="347472"/>
          </a:xfrm>
          <a:prstGeom prst="rect">
            <a:avLst/>
          </a:prstGeom>
          <a:noFill/>
          <a:ln/>
        </p:spPr>
        <p:txBody>
          <a:bodyPr wrap="square" lIns="0" tIns="0" rIns="0" bIns="0" rtlCol="0" anchor="ctr"/>
          <a:lstStyle/>
          <a:p>
            <a:pPr algn="l" indent="0" marL="0">
              <a:buNone/>
            </a:pPr>
            <a:r>
              <a:rPr lang="en-US" sz="1500" b="1" dirty="0">
                <a:solidFill>
                  <a:schemeClr val="tx2"/>
                </a:solidFill>
              </a:rPr>
              <a:t>= tourner (au coin)</a:t>
            </a:r>
            <a:endParaRPr lang="en-US" sz="1500" dirty="0"/>
          </a:p>
        </p:txBody>
      </p:sp>
      <p:sp>
        <p:nvSpPr>
          <p:cNvPr id="11" name="Text 8"/>
          <p:cNvSpPr txBox="1"/>
          <p:nvPr/>
        </p:nvSpPr>
        <p:spPr>
          <a:xfrm>
            <a:off x="2057400" y="2468880"/>
            <a:ext cx="3854196" cy="704088"/>
          </a:xfrm>
          <a:prstGeom prst="rect">
            <a:avLst/>
          </a:prstGeom>
          <a:noFill/>
          <a:ln/>
        </p:spPr>
        <p:txBody>
          <a:bodyPr wrap="square" lIns="0" tIns="0" rIns="0" bIns="0" rtlCol="0" anchor="ctr"/>
          <a:lstStyle/>
          <a:p>
            <a:pPr algn="l" indent="0" marL="0">
              <a:buNone/>
            </a:pPr>
            <a:r>
              <a:rPr lang="en-US" sz="1500" i="1" dirty="0">
                <a:solidFill>
                  <a:schemeClr val="tx1"/>
                </a:solidFill>
              </a:rPr>
              <a:t>Hij loopt de hoek </a:t>
            </a:r>
            <a:r>
              <a:rPr lang="en-US" sz="1500" b="1" i="1" dirty="0">
                <a:solidFill>
                  <a:schemeClr val="tx1"/>
                </a:solidFill>
              </a:rPr>
              <a:t>om</a:t>
            </a:r>
            <a:r>
              <a:rPr lang="en-US" sz="1500" i="1" dirty="0">
                <a:solidFill>
                  <a:schemeClr val="tx1"/>
                </a:solidFill>
              </a:rPr>
              <a:t>.</a:t>
            </a:r>
            <a:endParaRPr lang="en-US" sz="1500" dirty="0"/>
          </a:p>
        </p:txBody>
      </p:sp>
      <p:sp>
        <p:nvSpPr>
          <p:cNvPr id="12" name="Shape 9"/>
          <p:cNvSpPr/>
          <p:nvPr/>
        </p:nvSpPr>
        <p:spPr>
          <a:xfrm>
            <a:off x="6185916" y="1554480"/>
            <a:ext cx="5454396" cy="1691640"/>
          </a:xfrm>
          <a:prstGeom prst="roundRect">
            <a:avLst>
              <a:gd name="adj" fmla="val 5405"/>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6446520" y="1931213"/>
            <a:ext cx="271577" cy="395021"/>
          </a:xfrm>
          <a:prstGeom prst="rect">
            <a:avLst/>
          </a:prstGeom>
          <a:solidFill>
            <a:srgbClr val="FFFFFF"/>
          </a:solidFill>
          <a:ln w="19050">
            <a:solidFill>
              <a:srgbClr val="17375E"/>
            </a:solidFill>
            <a:prstDash val="solid"/>
          </a:ln>
        </p:spPr>
      </p:sp>
      <p:sp>
        <p:nvSpPr>
          <p:cNvPr id="14" name="Shape 11"/>
          <p:cNvSpPr/>
          <p:nvPr/>
        </p:nvSpPr>
        <p:spPr>
          <a:xfrm>
            <a:off x="6804508" y="1931213"/>
            <a:ext cx="271577" cy="395021"/>
          </a:xfrm>
          <a:prstGeom prst="rect">
            <a:avLst/>
          </a:prstGeom>
          <a:solidFill>
            <a:srgbClr val="FFFFFF"/>
          </a:solidFill>
          <a:ln w="19050">
            <a:solidFill>
              <a:srgbClr val="17375E"/>
            </a:solidFill>
            <a:prstDash val="solid"/>
          </a:ln>
        </p:spPr>
      </p:sp>
      <p:sp>
        <p:nvSpPr>
          <p:cNvPr id="15" name="Shape 12"/>
          <p:cNvSpPr/>
          <p:nvPr/>
        </p:nvSpPr>
        <p:spPr>
          <a:xfrm>
            <a:off x="7162495" y="1931213"/>
            <a:ext cx="271577" cy="395021"/>
          </a:xfrm>
          <a:prstGeom prst="rect">
            <a:avLst/>
          </a:prstGeom>
          <a:solidFill>
            <a:srgbClr val="FFFFFF"/>
          </a:solidFill>
          <a:ln w="19050">
            <a:solidFill>
              <a:srgbClr val="17375E"/>
            </a:solidFill>
            <a:prstDash val="solid"/>
          </a:ln>
        </p:spPr>
      </p:sp>
      <p:sp>
        <p:nvSpPr>
          <p:cNvPr id="16" name="Shape 13"/>
          <p:cNvSpPr/>
          <p:nvPr/>
        </p:nvSpPr>
        <p:spPr>
          <a:xfrm>
            <a:off x="6384798" y="2597810"/>
            <a:ext cx="1110996" cy="914"/>
          </a:xfrm>
          <a:prstGeom prst="line">
            <a:avLst/>
          </a:prstGeom>
          <a:noFill/>
          <a:ln w="44450">
            <a:solidFill>
              <a:srgbClr val="D9700F"/>
            </a:solidFill>
            <a:prstDash val="solid"/>
            <a:tailEnd type="triangle"/>
          </a:ln>
        </p:spPr>
      </p:sp>
      <p:sp>
        <p:nvSpPr>
          <p:cNvPr id="17" name="Text 14"/>
          <p:cNvSpPr txBox="1"/>
          <p:nvPr/>
        </p:nvSpPr>
        <p:spPr>
          <a:xfrm>
            <a:off x="7694676" y="1627632"/>
            <a:ext cx="3854196"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langs</a:t>
            </a:r>
            <a:endParaRPr lang="en-US" sz="2800" dirty="0"/>
          </a:p>
        </p:txBody>
      </p:sp>
      <p:sp>
        <p:nvSpPr>
          <p:cNvPr id="18" name="Text 15"/>
          <p:cNvSpPr txBox="1"/>
          <p:nvPr/>
        </p:nvSpPr>
        <p:spPr>
          <a:xfrm>
            <a:off x="7694676" y="2121408"/>
            <a:ext cx="3854196" cy="347472"/>
          </a:xfrm>
          <a:prstGeom prst="rect">
            <a:avLst/>
          </a:prstGeom>
          <a:noFill/>
          <a:ln/>
        </p:spPr>
        <p:txBody>
          <a:bodyPr wrap="square" lIns="0" tIns="0" rIns="0" bIns="0" rtlCol="0" anchor="ctr"/>
          <a:lstStyle/>
          <a:p>
            <a:pPr algn="l" indent="0" marL="0">
              <a:buNone/>
            </a:pPr>
            <a:r>
              <a:rPr lang="en-US" sz="1500" b="1" dirty="0">
                <a:solidFill>
                  <a:schemeClr val="tx2"/>
                </a:solidFill>
              </a:rPr>
              <a:t>= longer, passer voir</a:t>
            </a:r>
            <a:endParaRPr lang="en-US" sz="1500" dirty="0"/>
          </a:p>
        </p:txBody>
      </p:sp>
      <p:sp>
        <p:nvSpPr>
          <p:cNvPr id="19" name="Text 16"/>
          <p:cNvSpPr txBox="1"/>
          <p:nvPr/>
        </p:nvSpPr>
        <p:spPr>
          <a:xfrm>
            <a:off x="7694676" y="2468880"/>
            <a:ext cx="3854196" cy="704088"/>
          </a:xfrm>
          <a:prstGeom prst="rect">
            <a:avLst/>
          </a:prstGeom>
          <a:noFill/>
          <a:ln/>
        </p:spPr>
        <p:txBody>
          <a:bodyPr wrap="square" lIns="0" tIns="0" rIns="0" bIns="0" rtlCol="0" anchor="ctr"/>
          <a:lstStyle/>
          <a:p>
            <a:pPr algn="l" indent="0" marL="0">
              <a:buNone/>
            </a:pPr>
            <a:r>
              <a:rPr lang="en-US" sz="1500" i="1" dirty="0">
                <a:solidFill>
                  <a:schemeClr val="tx1"/>
                </a:solidFill>
              </a:rPr>
              <a:t>Ik loop alle bureaus </a:t>
            </a:r>
            <a:r>
              <a:rPr lang="en-US" sz="1500" b="1" i="1" dirty="0">
                <a:solidFill>
                  <a:schemeClr val="tx1"/>
                </a:solidFill>
              </a:rPr>
              <a:t>langs</a:t>
            </a:r>
            <a:r>
              <a:rPr lang="en-US" sz="1500" i="1" dirty="0">
                <a:solidFill>
                  <a:schemeClr val="tx1"/>
                </a:solidFill>
              </a:rPr>
              <a:t>.</a:t>
            </a:r>
            <a:endParaRPr lang="en-US" sz="1500" dirty="0"/>
          </a:p>
        </p:txBody>
      </p:sp>
      <p:sp>
        <p:nvSpPr>
          <p:cNvPr id="20" name="Shape 17"/>
          <p:cNvSpPr/>
          <p:nvPr/>
        </p:nvSpPr>
        <p:spPr>
          <a:xfrm>
            <a:off x="548640" y="3410712"/>
            <a:ext cx="5454396" cy="1691640"/>
          </a:xfrm>
          <a:prstGeom prst="roundRect">
            <a:avLst>
              <a:gd name="adj" fmla="val 5405"/>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21" name="Image 0" descr="station">    </p:cNvPr>
          <p:cNvPicPr>
            <a:picLocks noChangeAspect="1"/>
          </p:cNvPicPr>
          <p:nvPr/>
        </p:nvPicPr>
        <p:blipFill>
          <a:blip r:embed="rId1"/>
          <a:stretch>
            <a:fillRect/>
          </a:stretch>
        </p:blipFill>
        <p:spPr>
          <a:xfrm>
            <a:off x="1056132" y="3701034"/>
            <a:ext cx="493776" cy="493776"/>
          </a:xfrm>
          <a:prstGeom prst="rect">
            <a:avLst/>
          </a:prstGeom>
        </p:spPr>
      </p:pic>
      <p:sp>
        <p:nvSpPr>
          <p:cNvPr id="22" name="Shape 18"/>
          <p:cNvSpPr/>
          <p:nvPr/>
        </p:nvSpPr>
        <p:spPr>
          <a:xfrm>
            <a:off x="747522" y="4454042"/>
            <a:ext cx="555498" cy="914"/>
          </a:xfrm>
          <a:prstGeom prst="line">
            <a:avLst/>
          </a:prstGeom>
          <a:noFill/>
          <a:ln w="44450">
            <a:solidFill>
              <a:srgbClr val="D9700F"/>
            </a:solidFill>
            <a:prstDash val="solid"/>
          </a:ln>
        </p:spPr>
      </p:sp>
      <p:sp>
        <p:nvSpPr>
          <p:cNvPr id="23" name="Shape 19"/>
          <p:cNvSpPr/>
          <p:nvPr/>
        </p:nvSpPr>
        <p:spPr>
          <a:xfrm>
            <a:off x="1303020" y="4454042"/>
            <a:ext cx="580187" cy="914"/>
          </a:xfrm>
          <a:prstGeom prst="line">
            <a:avLst/>
          </a:prstGeom>
          <a:noFill/>
          <a:ln w="44450">
            <a:solidFill>
              <a:srgbClr val="D9700F"/>
            </a:solidFill>
            <a:prstDash val="solid"/>
            <a:tailEnd type="triangle"/>
          </a:ln>
        </p:spPr>
      </p:sp>
      <p:sp>
        <p:nvSpPr>
          <p:cNvPr id="24" name="Shape 20"/>
          <p:cNvSpPr/>
          <p:nvPr/>
        </p:nvSpPr>
        <p:spPr>
          <a:xfrm>
            <a:off x="1549908" y="4256532"/>
            <a:ext cx="914" cy="395021"/>
          </a:xfrm>
          <a:prstGeom prst="line">
            <a:avLst/>
          </a:prstGeom>
          <a:noFill/>
          <a:ln w="12700">
            <a:solidFill>
              <a:srgbClr val="4A5A70"/>
            </a:solidFill>
            <a:prstDash val="dash"/>
          </a:ln>
        </p:spPr>
      </p:sp>
      <p:sp>
        <p:nvSpPr>
          <p:cNvPr id="25" name="Text 21"/>
          <p:cNvSpPr txBox="1"/>
          <p:nvPr/>
        </p:nvSpPr>
        <p:spPr>
          <a:xfrm>
            <a:off x="2057400" y="3483864"/>
            <a:ext cx="3854196"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voorbij</a:t>
            </a:r>
            <a:endParaRPr lang="en-US" sz="2800" dirty="0"/>
          </a:p>
        </p:txBody>
      </p:sp>
      <p:sp>
        <p:nvSpPr>
          <p:cNvPr id="26" name="Text 22"/>
          <p:cNvSpPr txBox="1"/>
          <p:nvPr/>
        </p:nvSpPr>
        <p:spPr>
          <a:xfrm>
            <a:off x="2057400" y="3977640"/>
            <a:ext cx="3854196" cy="347472"/>
          </a:xfrm>
          <a:prstGeom prst="rect">
            <a:avLst/>
          </a:prstGeom>
          <a:noFill/>
          <a:ln/>
        </p:spPr>
        <p:txBody>
          <a:bodyPr wrap="square" lIns="0" tIns="0" rIns="0" bIns="0" rtlCol="0" anchor="ctr"/>
          <a:lstStyle/>
          <a:p>
            <a:pPr algn="l" indent="0" marL="0">
              <a:buNone/>
            </a:pPr>
            <a:r>
              <a:rPr lang="en-US" sz="1500" b="1" dirty="0">
                <a:solidFill>
                  <a:schemeClr val="tx2"/>
                </a:solidFill>
              </a:rPr>
              <a:t>= dépasser</a:t>
            </a:r>
            <a:endParaRPr lang="en-US" sz="1500" dirty="0"/>
          </a:p>
        </p:txBody>
      </p:sp>
      <p:sp>
        <p:nvSpPr>
          <p:cNvPr id="27" name="Text 23"/>
          <p:cNvSpPr txBox="1"/>
          <p:nvPr/>
        </p:nvSpPr>
        <p:spPr>
          <a:xfrm>
            <a:off x="2057400" y="4325112"/>
            <a:ext cx="3854196" cy="704088"/>
          </a:xfrm>
          <a:prstGeom prst="rect">
            <a:avLst/>
          </a:prstGeom>
          <a:noFill/>
          <a:ln/>
        </p:spPr>
        <p:txBody>
          <a:bodyPr wrap="square" lIns="0" tIns="0" rIns="0" bIns="0" rtlCol="0" anchor="ctr"/>
          <a:lstStyle/>
          <a:p>
            <a:pPr algn="l" indent="0" marL="0">
              <a:buNone/>
            </a:pPr>
            <a:r>
              <a:rPr lang="en-US" sz="1500" i="1" dirty="0">
                <a:solidFill>
                  <a:schemeClr val="tx1"/>
                </a:solidFill>
              </a:rPr>
              <a:t>Ze rijdt het station </a:t>
            </a:r>
            <a:r>
              <a:rPr lang="en-US" sz="1500" b="1" i="1" dirty="0">
                <a:solidFill>
                  <a:schemeClr val="tx1"/>
                </a:solidFill>
              </a:rPr>
              <a:t>voorbij</a:t>
            </a:r>
            <a:r>
              <a:rPr lang="en-US" sz="1500" i="1" dirty="0">
                <a:solidFill>
                  <a:schemeClr val="tx1"/>
                </a:solidFill>
              </a:rPr>
              <a:t>.</a:t>
            </a:r>
            <a:endParaRPr lang="en-US" sz="1500" dirty="0"/>
          </a:p>
        </p:txBody>
      </p:sp>
      <p:sp>
        <p:nvSpPr>
          <p:cNvPr id="28" name="Shape 24"/>
          <p:cNvSpPr/>
          <p:nvPr/>
        </p:nvSpPr>
        <p:spPr>
          <a:xfrm>
            <a:off x="6185916" y="3410712"/>
            <a:ext cx="5454396" cy="1691640"/>
          </a:xfrm>
          <a:prstGeom prst="roundRect">
            <a:avLst>
              <a:gd name="adj" fmla="val 5405"/>
            </a:avLst>
          </a:prstGeom>
          <a:solidFill>
            <a:srgbClr val="FFFFFF"/>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29" name="Image 1" descr="door">    </p:cNvPr>
          <p:cNvPicPr>
            <a:picLocks noChangeAspect="1"/>
          </p:cNvPicPr>
          <p:nvPr/>
        </p:nvPicPr>
        <p:blipFill>
          <a:blip r:embed="rId2"/>
          <a:stretch>
            <a:fillRect/>
          </a:stretch>
        </p:blipFill>
        <p:spPr>
          <a:xfrm>
            <a:off x="6964985" y="3910889"/>
            <a:ext cx="518465" cy="518465"/>
          </a:xfrm>
          <a:prstGeom prst="rect">
            <a:avLst/>
          </a:prstGeom>
        </p:spPr>
      </p:pic>
      <p:sp>
        <p:nvSpPr>
          <p:cNvPr id="30" name="Shape 25"/>
          <p:cNvSpPr/>
          <p:nvPr/>
        </p:nvSpPr>
        <p:spPr>
          <a:xfrm>
            <a:off x="6940296" y="4602175"/>
            <a:ext cx="567842" cy="98755"/>
          </a:xfrm>
          <a:prstGeom prst="roundRect">
            <a:avLst>
              <a:gd name="adj" fmla="val 18519"/>
            </a:avLst>
          </a:prstGeom>
          <a:solidFill>
            <a:schemeClr val="accent1">
              <a:alpha val="60000"/>
            </a:schemeClr>
          </a:solidFill>
          <a:ln w="12700">
            <a:solidFill>
              <a:srgbClr val="FFFFFF">
                <a:alpha val="0"/>
              </a:srgbClr>
            </a:solidFill>
            <a:prstDash val="solid"/>
          </a:ln>
        </p:spPr>
      </p:sp>
      <p:sp>
        <p:nvSpPr>
          <p:cNvPr id="31" name="Shape 26"/>
          <p:cNvSpPr/>
          <p:nvPr/>
        </p:nvSpPr>
        <p:spPr>
          <a:xfrm>
            <a:off x="6372454" y="4256532"/>
            <a:ext cx="715975" cy="914"/>
          </a:xfrm>
          <a:prstGeom prst="line">
            <a:avLst/>
          </a:prstGeom>
          <a:noFill/>
          <a:ln w="44450">
            <a:solidFill>
              <a:srgbClr val="D9700F"/>
            </a:solidFill>
            <a:prstDash val="solid"/>
            <a:tailEnd type="triangle"/>
          </a:ln>
        </p:spPr>
      </p:sp>
      <p:sp>
        <p:nvSpPr>
          <p:cNvPr id="32" name="Text 27"/>
          <p:cNvSpPr txBox="1"/>
          <p:nvPr/>
        </p:nvSpPr>
        <p:spPr>
          <a:xfrm>
            <a:off x="7694676" y="3483864"/>
            <a:ext cx="3854196" cy="5029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binnen</a:t>
            </a:r>
            <a:endParaRPr lang="en-US" sz="2800" dirty="0"/>
          </a:p>
        </p:txBody>
      </p:sp>
      <p:sp>
        <p:nvSpPr>
          <p:cNvPr id="33" name="Text 28"/>
          <p:cNvSpPr txBox="1"/>
          <p:nvPr/>
        </p:nvSpPr>
        <p:spPr>
          <a:xfrm>
            <a:off x="7694676" y="3977640"/>
            <a:ext cx="3854196" cy="347472"/>
          </a:xfrm>
          <a:prstGeom prst="rect">
            <a:avLst/>
          </a:prstGeom>
          <a:noFill/>
          <a:ln/>
        </p:spPr>
        <p:txBody>
          <a:bodyPr wrap="square" lIns="0" tIns="0" rIns="0" bIns="0" rtlCol="0" anchor="ctr"/>
          <a:lstStyle/>
          <a:p>
            <a:pPr algn="l" indent="0" marL="0">
              <a:buNone/>
            </a:pPr>
            <a:r>
              <a:rPr lang="en-US" sz="1500" b="1" dirty="0">
                <a:solidFill>
                  <a:schemeClr val="tx2"/>
                </a:solidFill>
              </a:rPr>
              <a:t>= entrer (soutenu)</a:t>
            </a:r>
            <a:endParaRPr lang="en-US" sz="1500" dirty="0"/>
          </a:p>
        </p:txBody>
      </p:sp>
      <p:sp>
        <p:nvSpPr>
          <p:cNvPr id="34" name="Text 29"/>
          <p:cNvSpPr txBox="1"/>
          <p:nvPr/>
        </p:nvSpPr>
        <p:spPr>
          <a:xfrm>
            <a:off x="7694676" y="4325112"/>
            <a:ext cx="3854196" cy="704088"/>
          </a:xfrm>
          <a:prstGeom prst="rect">
            <a:avLst/>
          </a:prstGeom>
          <a:noFill/>
          <a:ln/>
        </p:spPr>
        <p:txBody>
          <a:bodyPr wrap="square" lIns="0" tIns="0" rIns="0" bIns="0" rtlCol="0" anchor="ctr"/>
          <a:lstStyle/>
          <a:p>
            <a:pPr algn="l" indent="0" marL="0">
              <a:buNone/>
            </a:pPr>
            <a:r>
              <a:rPr lang="en-US" sz="1500" i="1" dirty="0">
                <a:solidFill>
                  <a:schemeClr val="tx1"/>
                </a:solidFill>
              </a:rPr>
              <a:t>Hij stapt het kantoor </a:t>
            </a:r>
            <a:r>
              <a:rPr lang="en-US" sz="1500" b="1" i="1" dirty="0">
                <a:solidFill>
                  <a:schemeClr val="tx1"/>
                </a:solidFill>
              </a:rPr>
              <a:t>binnen</a:t>
            </a:r>
            <a:r>
              <a:rPr lang="en-US" sz="1500" i="1" dirty="0">
                <a:solidFill>
                  <a:schemeClr val="tx1"/>
                </a:solidFill>
              </a:rPr>
              <a:t>.</a:t>
            </a:r>
            <a:endParaRPr lang="en-US" sz="1500" dirty="0"/>
          </a:p>
        </p:txBody>
      </p:sp>
      <p:sp>
        <p:nvSpPr>
          <p:cNvPr id="35" name="Shape 30"/>
          <p:cNvSpPr/>
          <p:nvPr/>
        </p:nvSpPr>
        <p:spPr>
          <a:xfrm>
            <a:off x="548640" y="5166360"/>
            <a:ext cx="11091672" cy="548640"/>
          </a:xfrm>
          <a:prstGeom prst="roundRect">
            <a:avLst>
              <a:gd name="adj" fmla="val 16667"/>
            </a:avLst>
          </a:prstGeom>
          <a:solidFill>
            <a:schemeClr val="bg2"/>
          </a:solidFill>
          <a:ln w="12700">
            <a:solidFill>
              <a:srgbClr val="D5DCE6"/>
            </a:solidFill>
            <a:prstDash val="solid"/>
          </a:ln>
        </p:spPr>
      </p:sp>
      <p:sp>
        <p:nvSpPr>
          <p:cNvPr id="36" name="Text 31"/>
          <p:cNvSpPr txBox="1"/>
          <p:nvPr/>
        </p:nvSpPr>
        <p:spPr>
          <a:xfrm>
            <a:off x="777240" y="5166360"/>
            <a:ext cx="10698480" cy="548640"/>
          </a:xfrm>
          <a:prstGeom prst="rect">
            <a:avLst/>
          </a:prstGeom>
          <a:noFill/>
          <a:ln/>
        </p:spPr>
        <p:txBody>
          <a:bodyPr wrap="square" lIns="0" tIns="0" rIns="0" bIns="0" rtlCol="0" anchor="ctr"/>
          <a:lstStyle/>
          <a:p>
            <a:pPr algn="l" indent="0" marL="0">
              <a:buNone/>
            </a:pPr>
            <a:r>
              <a:rPr lang="en-US" sz="1700" dirty="0">
                <a:solidFill>
                  <a:schemeClr val="tx1"/>
                </a:solidFill>
              </a:rPr>
              <a:t>Même contraste : </a:t>
            </a:r>
            <a:r>
              <a:rPr lang="en-US" sz="1700" i="1" dirty="0">
                <a:solidFill>
                  <a:schemeClr val="tx1"/>
                </a:solidFill>
              </a:rPr>
              <a:t>de hoek </a:t>
            </a:r>
            <a:r>
              <a:rPr lang="en-US" sz="1700" b="1" i="1" dirty="0">
                <a:solidFill>
                  <a:schemeClr val="accent1"/>
                </a:solidFill>
              </a:rPr>
              <a:t>om</a:t>
            </a:r>
            <a:r>
              <a:rPr lang="en-US" sz="1700" dirty="0">
                <a:solidFill>
                  <a:schemeClr val="tx1"/>
                </a:solidFill>
              </a:rPr>
              <a:t> (tourner au coin) ≠ </a:t>
            </a:r>
            <a:r>
              <a:rPr lang="en-US" sz="1700" b="1" i="1" dirty="0">
                <a:solidFill>
                  <a:schemeClr val="accent2"/>
                </a:solidFill>
              </a:rPr>
              <a:t>om</a:t>
            </a:r>
            <a:r>
              <a:rPr lang="en-US" sz="1700" i="1" dirty="0">
                <a:solidFill>
                  <a:schemeClr val="tx1"/>
                </a:solidFill>
              </a:rPr>
              <a:t> de hoek</a:t>
            </a:r>
            <a:r>
              <a:rPr lang="en-US" sz="1700" dirty="0">
                <a:solidFill>
                  <a:schemeClr val="tx1"/>
                </a:solidFill>
              </a:rPr>
              <a:t> (au coin, là où l’on est)</a:t>
            </a:r>
            <a:endParaRPr lang="en-US" sz="1700" dirty="0"/>
          </a:p>
        </p:txBody>
      </p:sp>
      <p:sp>
        <p:nvSpPr>
          <p:cNvPr id="37" name="Text 32"/>
          <p:cNvSpPr txBox="1"/>
          <p:nvPr/>
        </p:nvSpPr>
        <p:spPr>
          <a:xfrm>
            <a:off x="548640" y="5806440"/>
            <a:ext cx="11091672" cy="411480"/>
          </a:xfrm>
          <a:prstGeom prst="rect">
            <a:avLst/>
          </a:prstGeom>
          <a:noFill/>
          <a:ln/>
        </p:spPr>
        <p:txBody>
          <a:bodyPr wrap="square" lIns="0" tIns="0" rIns="0" bIns="0" rtlCol="0" anchor="ctr"/>
          <a:lstStyle/>
          <a:p>
            <a:pPr algn="ctr" indent="0" marL="0">
              <a:buNone/>
            </a:pPr>
            <a:r>
              <a:rPr lang="en-US" sz="1500" i="1" dirty="0">
                <a:solidFill>
                  <a:schemeClr val="accent5"/>
                </a:solidFill>
              </a:rPr>
              <a:t>Aussi : </a:t>
            </a:r>
            <a:r>
              <a:rPr lang="en-US" sz="1500" i="1" dirty="0">
                <a:solidFill>
                  <a:schemeClr val="accent5"/>
                </a:solidFill>
              </a:rPr>
              <a:t>rond</a:t>
            </a:r>
            <a:r>
              <a:rPr lang="en-US" sz="1500" i="1" dirty="0">
                <a:solidFill>
                  <a:schemeClr val="accent5"/>
                </a:solidFill>
              </a:rPr>
              <a:t> (faire le tour) : </a:t>
            </a:r>
            <a:r>
              <a:rPr lang="en-US" sz="1500" i="1" dirty="0">
                <a:solidFill>
                  <a:schemeClr val="accent5"/>
                </a:solidFill>
              </a:rPr>
              <a:t>Ze reist de wereld </a:t>
            </a:r>
            <a:r>
              <a:rPr lang="en-US" sz="1500" b="1" i="1" dirty="0">
                <a:solidFill>
                  <a:schemeClr val="accent5"/>
                </a:solidFill>
              </a:rPr>
              <a:t>rond</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Beaucoup d’exemples : où ? ou vers où ?</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EXEMPLES</a:t>
            </a:r>
            <a:endParaRPr lang="en-US" sz="1200" dirty="0"/>
          </a:p>
        </p:txBody>
      </p:sp>
      <p:sp>
        <p:nvSpPr>
          <p:cNvPr id="5" name="Shape 2"/>
          <p:cNvSpPr/>
          <p:nvPr/>
        </p:nvSpPr>
        <p:spPr>
          <a:xfrm>
            <a:off x="685800" y="1536192"/>
            <a:ext cx="237744" cy="237744"/>
          </a:xfrm>
          <a:prstGeom prst="ellipse">
            <a:avLst/>
          </a:prstGeom>
          <a:solidFill>
            <a:schemeClr val="accent2"/>
          </a:solidFill>
          <a:ln w="12700">
            <a:solidFill>
              <a:srgbClr val="FFFFFF">
                <a:alpha val="0"/>
              </a:srgbClr>
            </a:solidFill>
            <a:prstDash val="solid"/>
          </a:ln>
        </p:spPr>
      </p:sp>
      <p:sp>
        <p:nvSpPr>
          <p:cNvPr id="6" name="Text 3"/>
          <p:cNvSpPr txBox="1"/>
          <p:nvPr/>
        </p:nvSpPr>
        <p:spPr>
          <a:xfrm>
            <a:off x="1005840" y="1463040"/>
            <a:ext cx="4572000" cy="384048"/>
          </a:xfrm>
          <a:prstGeom prst="rect">
            <a:avLst/>
          </a:prstGeom>
          <a:noFill/>
          <a:ln/>
        </p:spPr>
        <p:txBody>
          <a:bodyPr wrap="square" lIns="0" tIns="0" rIns="0" bIns="0" rtlCol="0" anchor="ctr"/>
          <a:lstStyle/>
          <a:p>
            <a:pPr algn="l" indent="0" marL="0">
              <a:buNone/>
            </a:pPr>
            <a:r>
              <a:rPr lang="en-US" sz="1500" b="1" spc="100" kern="0" dirty="0">
                <a:solidFill>
                  <a:schemeClr val="accent2"/>
                </a:solidFill>
              </a:rPr>
              <a:t>WAAR?</a:t>
            </a:r>
            <a:r>
              <a:rPr lang="en-US" sz="1500" spc="100" kern="0" dirty="0">
                <a:solidFill>
                  <a:schemeClr val="accent2"/>
                </a:solidFill>
              </a:rPr>
              <a:t> · le lieu</a:t>
            </a:r>
            <a:endParaRPr lang="en-US" sz="1500" dirty="0"/>
          </a:p>
        </p:txBody>
      </p:sp>
      <p:sp>
        <p:nvSpPr>
          <p:cNvPr id="7" name="Shape 4"/>
          <p:cNvSpPr/>
          <p:nvPr/>
        </p:nvSpPr>
        <p:spPr>
          <a:xfrm>
            <a:off x="6355080" y="1655064"/>
            <a:ext cx="365760" cy="914"/>
          </a:xfrm>
          <a:prstGeom prst="line">
            <a:avLst/>
          </a:prstGeom>
          <a:noFill/>
          <a:ln w="44450">
            <a:solidFill>
              <a:srgbClr val="D9700F"/>
            </a:solidFill>
            <a:prstDash val="solid"/>
            <a:tailEnd type="triangle"/>
          </a:ln>
        </p:spPr>
      </p:sp>
      <p:sp>
        <p:nvSpPr>
          <p:cNvPr id="8" name="Text 5"/>
          <p:cNvSpPr txBox="1"/>
          <p:nvPr/>
        </p:nvSpPr>
        <p:spPr>
          <a:xfrm>
            <a:off x="6812280" y="1463040"/>
            <a:ext cx="4754880" cy="384048"/>
          </a:xfrm>
          <a:prstGeom prst="rect">
            <a:avLst/>
          </a:prstGeom>
          <a:noFill/>
          <a:ln/>
        </p:spPr>
        <p:txBody>
          <a:bodyPr wrap="square" lIns="0" tIns="0" rIns="0" bIns="0" rtlCol="0" anchor="ctr"/>
          <a:lstStyle/>
          <a:p>
            <a:pPr algn="l" indent="0" marL="0">
              <a:buNone/>
            </a:pPr>
            <a:r>
              <a:rPr lang="en-US" sz="1500" b="1" spc="100" kern="0" dirty="0">
                <a:solidFill>
                  <a:schemeClr val="accent1"/>
                </a:solidFill>
              </a:rPr>
              <a:t>WAARHEEN?</a:t>
            </a:r>
            <a:r>
              <a:rPr lang="en-US" sz="1500" spc="100" kern="0" dirty="0">
                <a:solidFill>
                  <a:schemeClr val="accent1"/>
                </a:solidFill>
              </a:rPr>
              <a:t> · la direction</a:t>
            </a:r>
            <a:endParaRPr lang="en-US" sz="1500" dirty="0"/>
          </a:p>
        </p:txBody>
      </p:sp>
      <p:sp>
        <p:nvSpPr>
          <p:cNvPr id="9" name="Shape 6"/>
          <p:cNvSpPr/>
          <p:nvPr/>
        </p:nvSpPr>
        <p:spPr>
          <a:xfrm>
            <a:off x="548640" y="1920240"/>
            <a:ext cx="5440680" cy="548640"/>
          </a:xfrm>
          <a:prstGeom prst="roundRect">
            <a:avLst>
              <a:gd name="adj" fmla="val 10000"/>
            </a:avLst>
          </a:prstGeom>
          <a:solidFill>
            <a:srgbClr val="EAF2FB"/>
          </a:solidFill>
          <a:ln w="12700">
            <a:solidFill>
              <a:srgbClr val="FFFFFF">
                <a:alpha val="0"/>
              </a:srgbClr>
            </a:solidFill>
            <a:prstDash val="solid"/>
          </a:ln>
        </p:spPr>
      </p:sp>
      <p:sp>
        <p:nvSpPr>
          <p:cNvPr id="10" name="Shape 7"/>
          <p:cNvSpPr/>
          <p:nvPr/>
        </p:nvSpPr>
        <p:spPr>
          <a:xfrm>
            <a:off x="6199632" y="1920240"/>
            <a:ext cx="5440680" cy="548640"/>
          </a:xfrm>
          <a:prstGeom prst="roundRect">
            <a:avLst>
              <a:gd name="adj" fmla="val 10000"/>
            </a:avLst>
          </a:prstGeom>
          <a:solidFill>
            <a:srgbClr val="FDF1E6"/>
          </a:solidFill>
          <a:ln w="12700">
            <a:solidFill>
              <a:srgbClr val="FFFFFF">
                <a:alpha val="0"/>
              </a:srgbClr>
            </a:solidFill>
            <a:prstDash val="solid"/>
          </a:ln>
        </p:spPr>
      </p:sp>
      <p:sp>
        <p:nvSpPr>
          <p:cNvPr id="11" name="Text 8"/>
          <p:cNvSpPr txBox="1"/>
          <p:nvPr/>
        </p:nvSpPr>
        <p:spPr>
          <a:xfrm>
            <a:off x="685800" y="1920240"/>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Hij loopt </a:t>
            </a:r>
            <a:r>
              <a:rPr lang="en-US" sz="1600" b="1" i="1" dirty="0">
                <a:solidFill>
                  <a:schemeClr val="accent2"/>
                </a:solidFill>
              </a:rPr>
              <a:t>in</a:t>
            </a:r>
            <a:r>
              <a:rPr lang="en-US" sz="1600" i="1" dirty="0">
                <a:solidFill>
                  <a:schemeClr val="tx1"/>
                </a:solidFill>
              </a:rPr>
              <a:t> het park.</a:t>
            </a:r>
            <a:endParaRPr lang="en-US" sz="1600" dirty="0"/>
          </a:p>
          <a:p>
            <a:pPr algn="l" indent="0" marL="0">
              <a:buNone/>
            </a:pPr>
            <a:r>
              <a:rPr lang="en-US" sz="1600" dirty="0">
                <a:solidFill>
                  <a:schemeClr val="tx1"/>
                </a:solidFill>
              </a:rPr>
              <a:t>il se promène dans le parc</a:t>
            </a:r>
            <a:endParaRPr lang="en-US" sz="1600" dirty="0"/>
          </a:p>
        </p:txBody>
      </p:sp>
      <p:sp>
        <p:nvSpPr>
          <p:cNvPr id="12" name="Text 9"/>
          <p:cNvSpPr txBox="1"/>
          <p:nvPr/>
        </p:nvSpPr>
        <p:spPr>
          <a:xfrm>
            <a:off x="6336792" y="1920240"/>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Hij loopt het park </a:t>
            </a:r>
            <a:r>
              <a:rPr lang="en-US" sz="1600" b="1" i="1" dirty="0">
                <a:solidFill>
                  <a:schemeClr val="accent1"/>
                </a:solidFill>
              </a:rPr>
              <a:t>in</a:t>
            </a:r>
            <a:r>
              <a:rPr lang="en-US" sz="1600" i="1" dirty="0">
                <a:solidFill>
                  <a:schemeClr val="tx1"/>
                </a:solidFill>
              </a:rPr>
              <a:t>.</a:t>
            </a:r>
            <a:endParaRPr lang="en-US" sz="1600" dirty="0"/>
          </a:p>
          <a:p>
            <a:pPr algn="l" indent="0" marL="0">
              <a:buNone/>
            </a:pPr>
            <a:r>
              <a:rPr lang="en-US" sz="1600" dirty="0">
                <a:solidFill>
                  <a:schemeClr val="tx1"/>
                </a:solidFill>
              </a:rPr>
              <a:t>il entre dans le parc</a:t>
            </a:r>
            <a:endParaRPr lang="en-US" sz="1600" dirty="0"/>
          </a:p>
        </p:txBody>
      </p:sp>
      <p:sp>
        <p:nvSpPr>
          <p:cNvPr id="13" name="Shape 10"/>
          <p:cNvSpPr/>
          <p:nvPr/>
        </p:nvSpPr>
        <p:spPr>
          <a:xfrm>
            <a:off x="548640" y="2505456"/>
            <a:ext cx="5440680" cy="548640"/>
          </a:xfrm>
          <a:prstGeom prst="roundRect">
            <a:avLst>
              <a:gd name="adj" fmla="val 10000"/>
            </a:avLst>
          </a:prstGeom>
          <a:solidFill>
            <a:srgbClr val="FFFFFF"/>
          </a:solidFill>
          <a:ln w="12700">
            <a:solidFill>
              <a:srgbClr val="FFFFFF">
                <a:alpha val="0"/>
              </a:srgbClr>
            </a:solidFill>
            <a:prstDash val="solid"/>
          </a:ln>
        </p:spPr>
      </p:sp>
      <p:sp>
        <p:nvSpPr>
          <p:cNvPr id="14" name="Shape 11"/>
          <p:cNvSpPr/>
          <p:nvPr/>
        </p:nvSpPr>
        <p:spPr>
          <a:xfrm>
            <a:off x="6199632" y="2505456"/>
            <a:ext cx="5440680" cy="548640"/>
          </a:xfrm>
          <a:prstGeom prst="roundRect">
            <a:avLst>
              <a:gd name="adj" fmla="val 10000"/>
            </a:avLst>
          </a:prstGeom>
          <a:solidFill>
            <a:srgbClr val="FFFFFF"/>
          </a:solidFill>
          <a:ln w="12700">
            <a:solidFill>
              <a:srgbClr val="FFFFFF">
                <a:alpha val="0"/>
              </a:srgbClr>
            </a:solidFill>
            <a:prstDash val="solid"/>
          </a:ln>
        </p:spPr>
      </p:sp>
      <p:sp>
        <p:nvSpPr>
          <p:cNvPr id="15" name="Text 12"/>
          <p:cNvSpPr txBox="1"/>
          <p:nvPr/>
        </p:nvSpPr>
        <p:spPr>
          <a:xfrm>
            <a:off x="685800" y="2505456"/>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Ik zwem </a:t>
            </a:r>
            <a:r>
              <a:rPr lang="en-US" sz="1600" b="1" i="1" dirty="0">
                <a:solidFill>
                  <a:schemeClr val="accent2"/>
                </a:solidFill>
              </a:rPr>
              <a:t>in</a:t>
            </a:r>
            <a:r>
              <a:rPr lang="en-US" sz="1600" i="1" dirty="0">
                <a:solidFill>
                  <a:schemeClr val="tx1"/>
                </a:solidFill>
              </a:rPr>
              <a:t> de rivier.</a:t>
            </a:r>
            <a:endParaRPr lang="en-US" sz="1600" dirty="0"/>
          </a:p>
          <a:p>
            <a:pPr algn="l" indent="0" marL="0">
              <a:buNone/>
            </a:pPr>
            <a:r>
              <a:rPr lang="en-US" sz="1600" dirty="0">
                <a:solidFill>
                  <a:schemeClr val="tx1"/>
                </a:solidFill>
              </a:rPr>
              <a:t>je nage dans la rivière</a:t>
            </a:r>
            <a:endParaRPr lang="en-US" sz="1600" dirty="0"/>
          </a:p>
        </p:txBody>
      </p:sp>
      <p:sp>
        <p:nvSpPr>
          <p:cNvPr id="16" name="Text 13"/>
          <p:cNvSpPr txBox="1"/>
          <p:nvPr/>
        </p:nvSpPr>
        <p:spPr>
          <a:xfrm>
            <a:off x="6336792" y="2505456"/>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Ik zwem de rivier </a:t>
            </a:r>
            <a:r>
              <a:rPr lang="en-US" sz="1600" b="1" i="1" dirty="0">
                <a:solidFill>
                  <a:schemeClr val="accent1"/>
                </a:solidFill>
              </a:rPr>
              <a:t>over</a:t>
            </a:r>
            <a:r>
              <a:rPr lang="en-US" sz="1600" i="1" dirty="0">
                <a:solidFill>
                  <a:schemeClr val="tx1"/>
                </a:solidFill>
              </a:rPr>
              <a:t>.</a:t>
            </a:r>
            <a:endParaRPr lang="en-US" sz="1600" dirty="0"/>
          </a:p>
          <a:p>
            <a:pPr algn="l" indent="0" marL="0">
              <a:buNone/>
            </a:pPr>
            <a:r>
              <a:rPr lang="en-US" sz="1600" dirty="0">
                <a:solidFill>
                  <a:schemeClr val="tx1"/>
                </a:solidFill>
              </a:rPr>
              <a:t>je traverse la rivière à la nage</a:t>
            </a:r>
            <a:endParaRPr lang="en-US" sz="1600" dirty="0"/>
          </a:p>
        </p:txBody>
      </p:sp>
      <p:sp>
        <p:nvSpPr>
          <p:cNvPr id="17" name="Shape 14"/>
          <p:cNvSpPr/>
          <p:nvPr/>
        </p:nvSpPr>
        <p:spPr>
          <a:xfrm>
            <a:off x="548640" y="3090672"/>
            <a:ext cx="5440680" cy="548640"/>
          </a:xfrm>
          <a:prstGeom prst="roundRect">
            <a:avLst>
              <a:gd name="adj" fmla="val 10000"/>
            </a:avLst>
          </a:prstGeom>
          <a:solidFill>
            <a:srgbClr val="EAF2FB"/>
          </a:solidFill>
          <a:ln w="12700">
            <a:solidFill>
              <a:srgbClr val="FFFFFF">
                <a:alpha val="0"/>
              </a:srgbClr>
            </a:solidFill>
            <a:prstDash val="solid"/>
          </a:ln>
        </p:spPr>
      </p:sp>
      <p:sp>
        <p:nvSpPr>
          <p:cNvPr id="18" name="Shape 15"/>
          <p:cNvSpPr/>
          <p:nvPr/>
        </p:nvSpPr>
        <p:spPr>
          <a:xfrm>
            <a:off x="6199632" y="3090672"/>
            <a:ext cx="5440680" cy="548640"/>
          </a:xfrm>
          <a:prstGeom prst="roundRect">
            <a:avLst>
              <a:gd name="adj" fmla="val 10000"/>
            </a:avLst>
          </a:prstGeom>
          <a:solidFill>
            <a:srgbClr val="FDF1E6"/>
          </a:solidFill>
          <a:ln w="12700">
            <a:solidFill>
              <a:srgbClr val="FFFFFF">
                <a:alpha val="0"/>
              </a:srgbClr>
            </a:solidFill>
            <a:prstDash val="solid"/>
          </a:ln>
        </p:spPr>
      </p:sp>
      <p:sp>
        <p:nvSpPr>
          <p:cNvPr id="19" name="Text 16"/>
          <p:cNvSpPr txBox="1"/>
          <p:nvPr/>
        </p:nvSpPr>
        <p:spPr>
          <a:xfrm>
            <a:off x="685800" y="3090672"/>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Ze fietst </a:t>
            </a:r>
            <a:r>
              <a:rPr lang="en-US" sz="1600" b="1" i="1" dirty="0">
                <a:solidFill>
                  <a:schemeClr val="accent2"/>
                </a:solidFill>
              </a:rPr>
              <a:t>in</a:t>
            </a:r>
            <a:r>
              <a:rPr lang="en-US" sz="1600" i="1" dirty="0">
                <a:solidFill>
                  <a:schemeClr val="tx1"/>
                </a:solidFill>
              </a:rPr>
              <a:t> de stad.</a:t>
            </a:r>
            <a:endParaRPr lang="en-US" sz="1600" dirty="0"/>
          </a:p>
          <a:p>
            <a:pPr algn="l" indent="0" marL="0">
              <a:buNone/>
            </a:pPr>
            <a:r>
              <a:rPr lang="en-US" sz="1600" dirty="0">
                <a:solidFill>
                  <a:schemeClr val="tx1"/>
                </a:solidFill>
              </a:rPr>
              <a:t>elle roule en ville</a:t>
            </a:r>
            <a:endParaRPr lang="en-US" sz="1600" dirty="0"/>
          </a:p>
        </p:txBody>
      </p:sp>
      <p:sp>
        <p:nvSpPr>
          <p:cNvPr id="20" name="Text 17"/>
          <p:cNvSpPr txBox="1"/>
          <p:nvPr/>
        </p:nvSpPr>
        <p:spPr>
          <a:xfrm>
            <a:off x="6336792" y="3090672"/>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Ze fietst de stad </a:t>
            </a:r>
            <a:r>
              <a:rPr lang="en-US" sz="1600" b="1" i="1" dirty="0">
                <a:solidFill>
                  <a:schemeClr val="accent1"/>
                </a:solidFill>
              </a:rPr>
              <a:t>uit</a:t>
            </a:r>
            <a:r>
              <a:rPr lang="en-US" sz="1600" i="1" dirty="0">
                <a:solidFill>
                  <a:schemeClr val="tx1"/>
                </a:solidFill>
              </a:rPr>
              <a:t>.</a:t>
            </a:r>
            <a:endParaRPr lang="en-US" sz="1600" dirty="0"/>
          </a:p>
          <a:p>
            <a:pPr algn="l" indent="0" marL="0">
              <a:buNone/>
            </a:pPr>
            <a:r>
              <a:rPr lang="en-US" sz="1600" dirty="0">
                <a:solidFill>
                  <a:schemeClr val="tx1"/>
                </a:solidFill>
              </a:rPr>
              <a:t>elle sort de la ville à vélo</a:t>
            </a:r>
            <a:endParaRPr lang="en-US" sz="1600" dirty="0"/>
          </a:p>
        </p:txBody>
      </p:sp>
      <p:sp>
        <p:nvSpPr>
          <p:cNvPr id="21" name="Shape 18"/>
          <p:cNvSpPr/>
          <p:nvPr/>
        </p:nvSpPr>
        <p:spPr>
          <a:xfrm>
            <a:off x="548640" y="3675888"/>
            <a:ext cx="5440680" cy="548640"/>
          </a:xfrm>
          <a:prstGeom prst="roundRect">
            <a:avLst>
              <a:gd name="adj" fmla="val 10000"/>
            </a:avLst>
          </a:prstGeom>
          <a:solidFill>
            <a:srgbClr val="FFFFFF"/>
          </a:solidFill>
          <a:ln w="12700">
            <a:solidFill>
              <a:srgbClr val="FFFFFF">
                <a:alpha val="0"/>
              </a:srgbClr>
            </a:solidFill>
            <a:prstDash val="solid"/>
          </a:ln>
        </p:spPr>
      </p:sp>
      <p:sp>
        <p:nvSpPr>
          <p:cNvPr id="22" name="Shape 19"/>
          <p:cNvSpPr/>
          <p:nvPr/>
        </p:nvSpPr>
        <p:spPr>
          <a:xfrm>
            <a:off x="6199632" y="3675888"/>
            <a:ext cx="5440680" cy="548640"/>
          </a:xfrm>
          <a:prstGeom prst="roundRect">
            <a:avLst>
              <a:gd name="adj" fmla="val 10000"/>
            </a:avLst>
          </a:prstGeom>
          <a:solidFill>
            <a:srgbClr val="FFFFFF"/>
          </a:solidFill>
          <a:ln w="12700">
            <a:solidFill>
              <a:srgbClr val="FFFFFF">
                <a:alpha val="0"/>
              </a:srgbClr>
            </a:solidFill>
            <a:prstDash val="solid"/>
          </a:ln>
        </p:spPr>
      </p:sp>
      <p:sp>
        <p:nvSpPr>
          <p:cNvPr id="23" name="Text 20"/>
          <p:cNvSpPr txBox="1"/>
          <p:nvPr/>
        </p:nvSpPr>
        <p:spPr>
          <a:xfrm>
            <a:off x="685800" y="3675888"/>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We wandelen </a:t>
            </a:r>
            <a:r>
              <a:rPr lang="en-US" sz="1600" b="1" i="1" dirty="0">
                <a:solidFill>
                  <a:schemeClr val="accent2"/>
                </a:solidFill>
              </a:rPr>
              <a:t>op</a:t>
            </a:r>
            <a:r>
              <a:rPr lang="en-US" sz="1600" i="1" dirty="0">
                <a:solidFill>
                  <a:schemeClr val="tx1"/>
                </a:solidFill>
              </a:rPr>
              <a:t> de dijk.</a:t>
            </a:r>
            <a:endParaRPr lang="en-US" sz="1600" dirty="0"/>
          </a:p>
          <a:p>
            <a:pPr algn="l" indent="0" marL="0">
              <a:buNone/>
            </a:pPr>
            <a:r>
              <a:rPr lang="en-US" sz="1600" dirty="0">
                <a:solidFill>
                  <a:schemeClr val="tx1"/>
                </a:solidFill>
              </a:rPr>
              <a:t>nous marchons sur la digue</a:t>
            </a:r>
            <a:endParaRPr lang="en-US" sz="1600" dirty="0"/>
          </a:p>
        </p:txBody>
      </p:sp>
      <p:sp>
        <p:nvSpPr>
          <p:cNvPr id="24" name="Text 21"/>
          <p:cNvSpPr txBox="1"/>
          <p:nvPr/>
        </p:nvSpPr>
        <p:spPr>
          <a:xfrm>
            <a:off x="6336792" y="3675888"/>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We wandelen de dijk </a:t>
            </a:r>
            <a:r>
              <a:rPr lang="en-US" sz="1600" b="1" i="1" dirty="0">
                <a:solidFill>
                  <a:schemeClr val="accent1"/>
                </a:solidFill>
              </a:rPr>
              <a:t>op</a:t>
            </a:r>
            <a:r>
              <a:rPr lang="en-US" sz="1600" i="1" dirty="0">
                <a:solidFill>
                  <a:schemeClr val="tx1"/>
                </a:solidFill>
              </a:rPr>
              <a:t>.</a:t>
            </a:r>
            <a:endParaRPr lang="en-US" sz="1600" dirty="0"/>
          </a:p>
          <a:p>
            <a:pPr algn="l" indent="0" marL="0">
              <a:buNone/>
            </a:pPr>
            <a:r>
              <a:rPr lang="en-US" sz="1600" dirty="0">
                <a:solidFill>
                  <a:schemeClr val="tx1"/>
                </a:solidFill>
              </a:rPr>
              <a:t>nous montons sur la digue</a:t>
            </a:r>
            <a:endParaRPr lang="en-US" sz="1600" dirty="0"/>
          </a:p>
        </p:txBody>
      </p:sp>
      <p:sp>
        <p:nvSpPr>
          <p:cNvPr id="25" name="Shape 22"/>
          <p:cNvSpPr/>
          <p:nvPr/>
        </p:nvSpPr>
        <p:spPr>
          <a:xfrm>
            <a:off x="548640" y="4261104"/>
            <a:ext cx="5440680" cy="548640"/>
          </a:xfrm>
          <a:prstGeom prst="roundRect">
            <a:avLst>
              <a:gd name="adj" fmla="val 10000"/>
            </a:avLst>
          </a:prstGeom>
          <a:solidFill>
            <a:srgbClr val="EAF2FB"/>
          </a:solidFill>
          <a:ln w="12700">
            <a:solidFill>
              <a:srgbClr val="FFFFFF">
                <a:alpha val="0"/>
              </a:srgbClr>
            </a:solidFill>
            <a:prstDash val="solid"/>
          </a:ln>
        </p:spPr>
      </p:sp>
      <p:sp>
        <p:nvSpPr>
          <p:cNvPr id="26" name="Shape 23"/>
          <p:cNvSpPr/>
          <p:nvPr/>
        </p:nvSpPr>
        <p:spPr>
          <a:xfrm>
            <a:off x="6199632" y="4261104"/>
            <a:ext cx="5440680" cy="548640"/>
          </a:xfrm>
          <a:prstGeom prst="roundRect">
            <a:avLst>
              <a:gd name="adj" fmla="val 10000"/>
            </a:avLst>
          </a:prstGeom>
          <a:solidFill>
            <a:srgbClr val="FDF1E6"/>
          </a:solidFill>
          <a:ln w="12700">
            <a:solidFill>
              <a:srgbClr val="FFFFFF">
                <a:alpha val="0"/>
              </a:srgbClr>
            </a:solidFill>
            <a:prstDash val="solid"/>
          </a:ln>
        </p:spPr>
      </p:sp>
      <p:sp>
        <p:nvSpPr>
          <p:cNvPr id="27" name="Text 24"/>
          <p:cNvSpPr txBox="1"/>
          <p:nvPr/>
        </p:nvSpPr>
        <p:spPr>
          <a:xfrm>
            <a:off x="685800" y="4261104"/>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Hij rijdt </a:t>
            </a:r>
            <a:r>
              <a:rPr lang="en-US" sz="1600" b="1" i="1" dirty="0">
                <a:solidFill>
                  <a:schemeClr val="accent2"/>
                </a:solidFill>
              </a:rPr>
              <a:t>in</a:t>
            </a:r>
            <a:r>
              <a:rPr lang="en-US" sz="1600" i="1" dirty="0">
                <a:solidFill>
                  <a:schemeClr val="tx1"/>
                </a:solidFill>
              </a:rPr>
              <a:t> de tunnel.</a:t>
            </a:r>
            <a:endParaRPr lang="en-US" sz="1600" dirty="0"/>
          </a:p>
          <a:p>
            <a:pPr algn="l" indent="0" marL="0">
              <a:buNone/>
            </a:pPr>
            <a:r>
              <a:rPr lang="en-US" sz="1600" dirty="0">
                <a:solidFill>
                  <a:schemeClr val="tx1"/>
                </a:solidFill>
              </a:rPr>
              <a:t>il roule dans le tunnel</a:t>
            </a:r>
            <a:endParaRPr lang="en-US" sz="1600" dirty="0"/>
          </a:p>
        </p:txBody>
      </p:sp>
      <p:sp>
        <p:nvSpPr>
          <p:cNvPr id="28" name="Text 25"/>
          <p:cNvSpPr txBox="1"/>
          <p:nvPr/>
        </p:nvSpPr>
        <p:spPr>
          <a:xfrm>
            <a:off x="6336792" y="4261104"/>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Hij rijdt de tunnel </a:t>
            </a:r>
            <a:r>
              <a:rPr lang="en-US" sz="1600" b="1" i="1" dirty="0">
                <a:solidFill>
                  <a:schemeClr val="accent1"/>
                </a:solidFill>
              </a:rPr>
              <a:t>door</a:t>
            </a:r>
            <a:r>
              <a:rPr lang="en-US" sz="1600" i="1" dirty="0">
                <a:solidFill>
                  <a:schemeClr val="tx1"/>
                </a:solidFill>
              </a:rPr>
              <a:t>.</a:t>
            </a:r>
            <a:endParaRPr lang="en-US" sz="1600" dirty="0"/>
          </a:p>
          <a:p>
            <a:pPr algn="l" indent="0" marL="0">
              <a:buNone/>
            </a:pPr>
            <a:r>
              <a:rPr lang="en-US" sz="1600" dirty="0">
                <a:solidFill>
                  <a:schemeClr val="tx1"/>
                </a:solidFill>
              </a:rPr>
              <a:t>il traverse le tunnel</a:t>
            </a:r>
            <a:endParaRPr lang="en-US" sz="1600" dirty="0"/>
          </a:p>
        </p:txBody>
      </p:sp>
      <p:sp>
        <p:nvSpPr>
          <p:cNvPr id="29" name="Shape 26"/>
          <p:cNvSpPr/>
          <p:nvPr/>
        </p:nvSpPr>
        <p:spPr>
          <a:xfrm>
            <a:off x="548640" y="4846320"/>
            <a:ext cx="5440680" cy="548640"/>
          </a:xfrm>
          <a:prstGeom prst="roundRect">
            <a:avLst>
              <a:gd name="adj" fmla="val 10000"/>
            </a:avLst>
          </a:prstGeom>
          <a:solidFill>
            <a:srgbClr val="FFFFFF"/>
          </a:solidFill>
          <a:ln w="12700">
            <a:solidFill>
              <a:srgbClr val="FFFFFF">
                <a:alpha val="0"/>
              </a:srgbClr>
            </a:solidFill>
            <a:prstDash val="solid"/>
          </a:ln>
        </p:spPr>
      </p:sp>
      <p:sp>
        <p:nvSpPr>
          <p:cNvPr id="30" name="Shape 27"/>
          <p:cNvSpPr/>
          <p:nvPr/>
        </p:nvSpPr>
        <p:spPr>
          <a:xfrm>
            <a:off x="6199632" y="4846320"/>
            <a:ext cx="5440680" cy="548640"/>
          </a:xfrm>
          <a:prstGeom prst="roundRect">
            <a:avLst>
              <a:gd name="adj" fmla="val 10000"/>
            </a:avLst>
          </a:prstGeom>
          <a:solidFill>
            <a:srgbClr val="FFFFFF"/>
          </a:solidFill>
          <a:ln w="12700">
            <a:solidFill>
              <a:srgbClr val="FFFFFF">
                <a:alpha val="0"/>
              </a:srgbClr>
            </a:solidFill>
            <a:prstDash val="solid"/>
          </a:ln>
        </p:spPr>
      </p:sp>
      <p:sp>
        <p:nvSpPr>
          <p:cNvPr id="31" name="Text 28"/>
          <p:cNvSpPr txBox="1"/>
          <p:nvPr/>
        </p:nvSpPr>
        <p:spPr>
          <a:xfrm>
            <a:off x="685800" y="4846320"/>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De kinderen rennen </a:t>
            </a:r>
            <a:r>
              <a:rPr lang="en-US" sz="1600" b="1" i="1" dirty="0">
                <a:solidFill>
                  <a:schemeClr val="accent2"/>
                </a:solidFill>
              </a:rPr>
              <a:t>in</a:t>
            </a:r>
            <a:r>
              <a:rPr lang="en-US" sz="1600" i="1" dirty="0">
                <a:solidFill>
                  <a:schemeClr val="tx1"/>
                </a:solidFill>
              </a:rPr>
              <a:t> de gang.</a:t>
            </a:r>
            <a:endParaRPr lang="en-US" sz="1600" dirty="0"/>
          </a:p>
          <a:p>
            <a:pPr algn="l" indent="0" marL="0">
              <a:buNone/>
            </a:pPr>
            <a:r>
              <a:rPr lang="en-US" sz="1600" dirty="0">
                <a:solidFill>
                  <a:schemeClr val="tx1"/>
                </a:solidFill>
              </a:rPr>
              <a:t>ils courent dans le couloir</a:t>
            </a:r>
            <a:endParaRPr lang="en-US" sz="1600" dirty="0"/>
          </a:p>
        </p:txBody>
      </p:sp>
      <p:sp>
        <p:nvSpPr>
          <p:cNvPr id="32" name="Text 29"/>
          <p:cNvSpPr txBox="1"/>
          <p:nvPr/>
        </p:nvSpPr>
        <p:spPr>
          <a:xfrm>
            <a:off x="6336792" y="4846320"/>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De kinderen rennen de gang </a:t>
            </a:r>
            <a:r>
              <a:rPr lang="en-US" sz="1600" b="1" i="1" dirty="0">
                <a:solidFill>
                  <a:schemeClr val="accent1"/>
                </a:solidFill>
              </a:rPr>
              <a:t>uit</a:t>
            </a:r>
            <a:r>
              <a:rPr lang="en-US" sz="1600" i="1" dirty="0">
                <a:solidFill>
                  <a:schemeClr val="tx1"/>
                </a:solidFill>
              </a:rPr>
              <a:t>.</a:t>
            </a:r>
            <a:endParaRPr lang="en-US" sz="1600" dirty="0"/>
          </a:p>
          <a:p>
            <a:pPr algn="l" indent="0" marL="0">
              <a:buNone/>
            </a:pPr>
            <a:r>
              <a:rPr lang="en-US" sz="1600" dirty="0">
                <a:solidFill>
                  <a:schemeClr val="tx1"/>
                </a:solidFill>
              </a:rPr>
              <a:t>ils sortent du couloir en courant</a:t>
            </a:r>
            <a:endParaRPr lang="en-US" sz="1600" dirty="0"/>
          </a:p>
        </p:txBody>
      </p:sp>
      <p:sp>
        <p:nvSpPr>
          <p:cNvPr id="33" name="Shape 30"/>
          <p:cNvSpPr/>
          <p:nvPr/>
        </p:nvSpPr>
        <p:spPr>
          <a:xfrm>
            <a:off x="548640" y="5431536"/>
            <a:ext cx="5440680" cy="548640"/>
          </a:xfrm>
          <a:prstGeom prst="roundRect">
            <a:avLst>
              <a:gd name="adj" fmla="val 10000"/>
            </a:avLst>
          </a:prstGeom>
          <a:solidFill>
            <a:srgbClr val="EAF2FB"/>
          </a:solidFill>
          <a:ln w="12700">
            <a:solidFill>
              <a:srgbClr val="FFFFFF">
                <a:alpha val="0"/>
              </a:srgbClr>
            </a:solidFill>
            <a:prstDash val="solid"/>
          </a:ln>
        </p:spPr>
      </p:sp>
      <p:sp>
        <p:nvSpPr>
          <p:cNvPr id="34" name="Shape 31"/>
          <p:cNvSpPr/>
          <p:nvPr/>
        </p:nvSpPr>
        <p:spPr>
          <a:xfrm>
            <a:off x="6199632" y="5431536"/>
            <a:ext cx="5440680" cy="548640"/>
          </a:xfrm>
          <a:prstGeom prst="roundRect">
            <a:avLst>
              <a:gd name="adj" fmla="val 10000"/>
            </a:avLst>
          </a:prstGeom>
          <a:solidFill>
            <a:srgbClr val="FDF1E6"/>
          </a:solidFill>
          <a:ln w="12700">
            <a:solidFill>
              <a:srgbClr val="FFFFFF">
                <a:alpha val="0"/>
              </a:srgbClr>
            </a:solidFill>
            <a:prstDash val="solid"/>
          </a:ln>
        </p:spPr>
      </p:sp>
      <p:sp>
        <p:nvSpPr>
          <p:cNvPr id="35" name="Text 32"/>
          <p:cNvSpPr txBox="1"/>
          <p:nvPr/>
        </p:nvSpPr>
        <p:spPr>
          <a:xfrm>
            <a:off x="685800" y="5431536"/>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We lopen </a:t>
            </a:r>
            <a:r>
              <a:rPr lang="en-US" sz="1600" b="1" i="1" dirty="0">
                <a:solidFill>
                  <a:schemeClr val="accent2"/>
                </a:solidFill>
              </a:rPr>
              <a:t>op</a:t>
            </a:r>
            <a:r>
              <a:rPr lang="en-US" sz="1600" i="1" dirty="0">
                <a:solidFill>
                  <a:schemeClr val="tx1"/>
                </a:solidFill>
              </a:rPr>
              <a:t> de brug.</a:t>
            </a:r>
            <a:endParaRPr lang="en-US" sz="1600" dirty="0"/>
          </a:p>
          <a:p>
            <a:pPr algn="l" indent="0" marL="0">
              <a:buNone/>
            </a:pPr>
            <a:r>
              <a:rPr lang="en-US" sz="1600" dirty="0">
                <a:solidFill>
                  <a:schemeClr val="tx1"/>
                </a:solidFill>
              </a:rPr>
              <a:t>nous marchons sur le pont</a:t>
            </a:r>
            <a:endParaRPr lang="en-US" sz="1600" dirty="0"/>
          </a:p>
        </p:txBody>
      </p:sp>
      <p:sp>
        <p:nvSpPr>
          <p:cNvPr id="36" name="Text 33"/>
          <p:cNvSpPr txBox="1"/>
          <p:nvPr/>
        </p:nvSpPr>
        <p:spPr>
          <a:xfrm>
            <a:off x="6336792" y="5431536"/>
            <a:ext cx="5212080" cy="548640"/>
          </a:xfrm>
          <a:prstGeom prst="rect">
            <a:avLst/>
          </a:prstGeom>
          <a:noFill/>
          <a:ln/>
        </p:spPr>
        <p:txBody>
          <a:bodyPr wrap="square" lIns="0" tIns="0" rIns="0" bIns="0" rtlCol="0" anchor="ctr"/>
          <a:lstStyle/>
          <a:p>
            <a:pPr algn="l" indent="0" marL="0">
              <a:buNone/>
            </a:pPr>
            <a:r>
              <a:rPr lang="en-US" sz="1600" i="1" dirty="0">
                <a:solidFill>
                  <a:schemeClr val="tx1"/>
                </a:solidFill>
              </a:rPr>
              <a:t>We lopen de brug </a:t>
            </a:r>
            <a:r>
              <a:rPr lang="en-US" sz="1600" b="1" i="1" dirty="0">
                <a:solidFill>
                  <a:schemeClr val="accent1"/>
                </a:solidFill>
              </a:rPr>
              <a:t>over</a:t>
            </a:r>
            <a:r>
              <a:rPr lang="en-US" sz="1600" i="1" dirty="0">
                <a:solidFill>
                  <a:schemeClr val="tx1"/>
                </a:solidFill>
              </a:rPr>
              <a:t>.</a:t>
            </a:r>
            <a:endParaRPr lang="en-US" sz="1600" dirty="0"/>
          </a:p>
          <a:p>
            <a:pPr algn="l" indent="0" marL="0">
              <a:buNone/>
            </a:pPr>
            <a:r>
              <a:rPr lang="en-US" sz="1600" dirty="0">
                <a:solidFill>
                  <a:schemeClr val="tx1"/>
                </a:solidFill>
              </a:rPr>
              <a:t>nous traversons le pont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Au bureau : le trajet de Karim</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5" name="Shape 2"/>
          <p:cNvSpPr/>
          <p:nvPr/>
        </p:nvSpPr>
        <p:spPr>
          <a:xfrm>
            <a:off x="548640" y="2976372"/>
            <a:ext cx="1042416" cy="2555748"/>
          </a:xfrm>
          <a:prstGeom prst="roundRect">
            <a:avLst>
              <a:gd name="adj" fmla="val 3509"/>
            </a:avLst>
          </a:prstGeom>
          <a:solidFill>
            <a:srgbClr val="E6EBF2"/>
          </a:solidFill>
          <a:ln w="12700">
            <a:solidFill>
              <a:srgbClr val="4A5A70"/>
            </a:solidFill>
            <a:prstDash val="dash"/>
          </a:ln>
        </p:spPr>
      </p:sp>
      <p:pic>
        <p:nvPicPr>
          <p:cNvPr id="6" name="Image 0" descr="p button">    </p:cNvPr>
          <p:cNvPicPr>
            <a:picLocks noChangeAspect="1"/>
          </p:cNvPicPr>
          <p:nvPr/>
        </p:nvPicPr>
        <p:blipFill>
          <a:blip r:embed="rId1"/>
          <a:stretch>
            <a:fillRect/>
          </a:stretch>
        </p:blipFill>
        <p:spPr>
          <a:xfrm>
            <a:off x="886968" y="3251606"/>
            <a:ext cx="365760" cy="365760"/>
          </a:xfrm>
          <a:prstGeom prst="rect">
            <a:avLst/>
          </a:prstGeom>
        </p:spPr>
      </p:pic>
      <p:sp>
        <p:nvSpPr>
          <p:cNvPr id="7" name="Text 3"/>
          <p:cNvSpPr txBox="1"/>
          <p:nvPr/>
        </p:nvSpPr>
        <p:spPr>
          <a:xfrm>
            <a:off x="548640" y="3635654"/>
            <a:ext cx="1042416" cy="457200"/>
          </a:xfrm>
          <a:prstGeom prst="rect">
            <a:avLst/>
          </a:prstGeom>
          <a:noFill/>
          <a:ln/>
        </p:spPr>
        <p:txBody>
          <a:bodyPr wrap="square" lIns="0" tIns="0" rIns="0" bIns="0" rtlCol="0" anchor="t"/>
          <a:lstStyle/>
          <a:p>
            <a:pPr algn="ctr" indent="0" marL="0">
              <a:buNone/>
            </a:pPr>
            <a:r>
              <a:rPr lang="en-US" sz="1000" i="1" dirty="0">
                <a:solidFill>
                  <a:schemeClr val="accent5"/>
                </a:solidFill>
              </a:rPr>
              <a:t>de parking</a:t>
            </a:r>
            <a:endParaRPr lang="en-US" sz="1000" dirty="0"/>
          </a:p>
        </p:txBody>
      </p:sp>
      <p:sp>
        <p:nvSpPr>
          <p:cNvPr id="8" name="Shape 4"/>
          <p:cNvSpPr/>
          <p:nvPr/>
        </p:nvSpPr>
        <p:spPr>
          <a:xfrm>
            <a:off x="1700784" y="1600200"/>
            <a:ext cx="5797296" cy="3931920"/>
          </a:xfrm>
          <a:prstGeom prst="rect">
            <a:avLst/>
          </a:prstGeom>
          <a:solidFill>
            <a:srgbClr val="FFFFFF"/>
          </a:solidFill>
          <a:ln w="31750">
            <a:solidFill>
              <a:srgbClr val="17375E"/>
            </a:solidFill>
            <a:prstDash val="solid"/>
          </a:ln>
        </p:spPr>
      </p:sp>
      <p:sp>
        <p:nvSpPr>
          <p:cNvPr id="9" name="Shape 5"/>
          <p:cNvSpPr/>
          <p:nvPr/>
        </p:nvSpPr>
        <p:spPr>
          <a:xfrm>
            <a:off x="2686324" y="3094330"/>
            <a:ext cx="4811756" cy="943661"/>
          </a:xfrm>
          <a:prstGeom prst="rect">
            <a:avLst/>
          </a:prstGeom>
          <a:solidFill>
            <a:srgbClr val="EEF1F6"/>
          </a:solidFill>
          <a:ln w="12700">
            <a:solidFill>
              <a:srgbClr val="FFFFFF">
                <a:alpha val="0"/>
              </a:srgbClr>
            </a:solidFill>
            <a:prstDash val="solid"/>
          </a:ln>
        </p:spPr>
      </p:sp>
      <p:sp>
        <p:nvSpPr>
          <p:cNvPr id="10" name="Text 6"/>
          <p:cNvSpPr txBox="1"/>
          <p:nvPr/>
        </p:nvSpPr>
        <p:spPr>
          <a:xfrm>
            <a:off x="4077675" y="3094330"/>
            <a:ext cx="1391351" cy="943661"/>
          </a:xfrm>
          <a:prstGeom prst="rect">
            <a:avLst/>
          </a:prstGeom>
          <a:noFill/>
          <a:ln/>
        </p:spPr>
        <p:txBody>
          <a:bodyPr wrap="square" lIns="0" tIns="0" rIns="0" bIns="0" rtlCol="0" anchor="ctr"/>
          <a:lstStyle/>
          <a:p>
            <a:pPr algn="ctr" indent="0" marL="0">
              <a:buNone/>
            </a:pPr>
            <a:r>
              <a:rPr lang="en-US" sz="1000" i="1" dirty="0">
                <a:solidFill>
                  <a:schemeClr val="accent5"/>
                </a:solidFill>
              </a:rPr>
              <a:t>de gang</a:t>
            </a:r>
            <a:endParaRPr lang="en-US" sz="1000" dirty="0"/>
          </a:p>
        </p:txBody>
      </p:sp>
      <p:sp>
        <p:nvSpPr>
          <p:cNvPr id="11" name="Shape 7"/>
          <p:cNvSpPr/>
          <p:nvPr/>
        </p:nvSpPr>
        <p:spPr>
          <a:xfrm>
            <a:off x="1700784" y="1600200"/>
            <a:ext cx="985540" cy="3931920"/>
          </a:xfrm>
          <a:prstGeom prst="rect">
            <a:avLst/>
          </a:prstGeom>
          <a:solidFill>
            <a:srgbClr val="FDF1E6"/>
          </a:solidFill>
          <a:ln w="12700">
            <a:solidFill>
              <a:srgbClr val="FFFFFF">
                <a:alpha val="0"/>
              </a:srgbClr>
            </a:solidFill>
            <a:prstDash val="solid"/>
          </a:ln>
        </p:spPr>
      </p:sp>
      <p:sp>
        <p:nvSpPr>
          <p:cNvPr id="12" name="Shape 8"/>
          <p:cNvSpPr/>
          <p:nvPr/>
        </p:nvSpPr>
        <p:spPr>
          <a:xfrm>
            <a:off x="1878181" y="2575316"/>
            <a:ext cx="216819" cy="1981688"/>
          </a:xfrm>
          <a:prstGeom prst="roundRect">
            <a:avLst>
              <a:gd name="adj" fmla="val 16869"/>
            </a:avLst>
          </a:prstGeom>
          <a:solidFill>
            <a:schemeClr val="accent1">
              <a:alpha val="65000"/>
            </a:schemeClr>
          </a:solidFill>
          <a:ln w="12700">
            <a:solidFill>
              <a:srgbClr val="FFFFFF">
                <a:alpha val="0"/>
              </a:srgbClr>
            </a:solidFill>
            <a:prstDash val="solid"/>
          </a:ln>
        </p:spPr>
      </p:sp>
      <p:sp>
        <p:nvSpPr>
          <p:cNvPr id="13" name="Text 9"/>
          <p:cNvSpPr txBox="1"/>
          <p:nvPr/>
        </p:nvSpPr>
        <p:spPr>
          <a:xfrm>
            <a:off x="1737360" y="1655064"/>
            <a:ext cx="912388" cy="1195304"/>
          </a:xfrm>
          <a:prstGeom prst="rect">
            <a:avLst/>
          </a:prstGeom>
          <a:noFill/>
          <a:ln/>
        </p:spPr>
        <p:txBody>
          <a:bodyPr wrap="square" lIns="0" tIns="0" rIns="0" bIns="0" rtlCol="0" anchor="t"/>
          <a:lstStyle/>
          <a:p>
            <a:pPr algn="ctr" indent="0" marL="0">
              <a:buNone/>
            </a:pPr>
            <a:r>
              <a:rPr lang="en-US" sz="1000" b="1" dirty="0">
                <a:solidFill>
                  <a:schemeClr val="accent1"/>
                </a:solidFill>
              </a:rPr>
              <a:t>het onthaal</a:t>
            </a:r>
            <a:endParaRPr lang="en-US" sz="1000" dirty="0"/>
          </a:p>
        </p:txBody>
      </p:sp>
      <p:sp>
        <p:nvSpPr>
          <p:cNvPr id="14" name="Shape 10"/>
          <p:cNvSpPr/>
          <p:nvPr/>
        </p:nvSpPr>
        <p:spPr>
          <a:xfrm>
            <a:off x="1655064" y="3235879"/>
            <a:ext cx="91440" cy="660563"/>
          </a:xfrm>
          <a:prstGeom prst="rect">
            <a:avLst/>
          </a:prstGeom>
          <a:solidFill>
            <a:srgbClr val="FFFFFF"/>
          </a:solidFill>
          <a:ln w="12700">
            <a:solidFill>
              <a:srgbClr val="FFFFFF">
                <a:alpha val="0"/>
              </a:srgbClr>
            </a:solidFill>
            <a:prstDash val="solid"/>
          </a:ln>
        </p:spPr>
      </p:sp>
      <p:sp>
        <p:nvSpPr>
          <p:cNvPr id="15" name="Shape 11"/>
          <p:cNvSpPr/>
          <p:nvPr/>
        </p:nvSpPr>
        <p:spPr>
          <a:xfrm>
            <a:off x="2686324" y="1600200"/>
            <a:ext cx="1391351" cy="1494130"/>
          </a:xfrm>
          <a:prstGeom prst="rect">
            <a:avLst/>
          </a:prstGeom>
          <a:solidFill>
            <a:srgbClr val="FFFFFF"/>
          </a:solidFill>
          <a:ln w="19050">
            <a:solidFill>
              <a:srgbClr val="17375E"/>
            </a:solidFill>
            <a:prstDash val="solid"/>
          </a:ln>
        </p:spPr>
      </p:sp>
      <p:sp>
        <p:nvSpPr>
          <p:cNvPr id="16" name="Shape 12"/>
          <p:cNvSpPr/>
          <p:nvPr/>
        </p:nvSpPr>
        <p:spPr>
          <a:xfrm>
            <a:off x="3173297" y="3057754"/>
            <a:ext cx="417405" cy="73152"/>
          </a:xfrm>
          <a:prstGeom prst="rect">
            <a:avLst/>
          </a:prstGeom>
          <a:solidFill>
            <a:srgbClr val="EEF1F6"/>
          </a:solidFill>
          <a:ln w="12700">
            <a:solidFill>
              <a:srgbClr val="FFFFFF">
                <a:alpha val="0"/>
              </a:srgbClr>
            </a:solidFill>
            <a:prstDash val="solid"/>
          </a:ln>
        </p:spPr>
      </p:sp>
      <p:pic>
        <p:nvPicPr>
          <p:cNvPr id="17" name="Image 1" descr="busts in silhouette">    </p:cNvPr>
          <p:cNvPicPr>
            <a:picLocks noChangeAspect="1"/>
          </p:cNvPicPr>
          <p:nvPr/>
        </p:nvPicPr>
        <p:blipFill>
          <a:blip r:embed="rId2"/>
          <a:stretch>
            <a:fillRect/>
          </a:stretch>
        </p:blipFill>
        <p:spPr>
          <a:xfrm>
            <a:off x="3208264" y="1691640"/>
            <a:ext cx="347472" cy="347472"/>
          </a:xfrm>
          <a:prstGeom prst="rect">
            <a:avLst/>
          </a:prstGeom>
        </p:spPr>
      </p:pic>
      <p:sp>
        <p:nvSpPr>
          <p:cNvPr id="18" name="Text 13"/>
          <p:cNvSpPr txBox="1"/>
          <p:nvPr/>
        </p:nvSpPr>
        <p:spPr>
          <a:xfrm>
            <a:off x="2722900" y="2039112"/>
            <a:ext cx="1318199" cy="991210"/>
          </a:xfrm>
          <a:prstGeom prst="rect">
            <a:avLst/>
          </a:prstGeom>
          <a:noFill/>
          <a:ln/>
        </p:spPr>
        <p:txBody>
          <a:bodyPr wrap="square" lIns="0" tIns="0" rIns="0" bIns="0" rtlCol="0" anchor="ctr"/>
          <a:lstStyle/>
          <a:p>
            <a:pPr algn="ctr" indent="0" marL="0">
              <a:buNone/>
            </a:pPr>
            <a:r>
              <a:rPr lang="en-US" sz="1100" dirty="0">
                <a:solidFill>
                  <a:schemeClr val="tx1"/>
                </a:solidFill>
              </a:rPr>
              <a:t>de vergaderzaal</a:t>
            </a:r>
            <a:endParaRPr lang="en-US" sz="1100" dirty="0"/>
          </a:p>
        </p:txBody>
      </p:sp>
      <p:sp>
        <p:nvSpPr>
          <p:cNvPr id="19" name="Shape 14"/>
          <p:cNvSpPr/>
          <p:nvPr/>
        </p:nvSpPr>
        <p:spPr>
          <a:xfrm>
            <a:off x="4077675" y="1600200"/>
            <a:ext cx="1391351" cy="1494130"/>
          </a:xfrm>
          <a:prstGeom prst="rect">
            <a:avLst/>
          </a:prstGeom>
          <a:solidFill>
            <a:srgbClr val="FFFFFF"/>
          </a:solidFill>
          <a:ln w="19050">
            <a:solidFill>
              <a:srgbClr val="17375E"/>
            </a:solidFill>
            <a:prstDash val="solid"/>
          </a:ln>
        </p:spPr>
      </p:sp>
      <p:sp>
        <p:nvSpPr>
          <p:cNvPr id="20" name="Shape 15"/>
          <p:cNvSpPr/>
          <p:nvPr/>
        </p:nvSpPr>
        <p:spPr>
          <a:xfrm>
            <a:off x="4564648" y="3057754"/>
            <a:ext cx="417405" cy="73152"/>
          </a:xfrm>
          <a:prstGeom prst="rect">
            <a:avLst/>
          </a:prstGeom>
          <a:solidFill>
            <a:srgbClr val="EEF1F6"/>
          </a:solidFill>
          <a:ln w="12700">
            <a:solidFill>
              <a:srgbClr val="FFFFFF">
                <a:alpha val="0"/>
              </a:srgbClr>
            </a:solidFill>
            <a:prstDash val="solid"/>
          </a:ln>
        </p:spPr>
      </p:sp>
      <p:pic>
        <p:nvPicPr>
          <p:cNvPr id="21" name="Image 2" descr="printer">    </p:cNvPr>
          <p:cNvPicPr>
            <a:picLocks noChangeAspect="1"/>
          </p:cNvPicPr>
          <p:nvPr/>
        </p:nvPicPr>
        <p:blipFill>
          <a:blip r:embed="rId3"/>
          <a:stretch>
            <a:fillRect/>
          </a:stretch>
        </p:blipFill>
        <p:spPr>
          <a:xfrm>
            <a:off x="4599615" y="1691640"/>
            <a:ext cx="347472" cy="347472"/>
          </a:xfrm>
          <a:prstGeom prst="rect">
            <a:avLst/>
          </a:prstGeom>
        </p:spPr>
      </p:pic>
      <p:sp>
        <p:nvSpPr>
          <p:cNvPr id="22" name="Text 16"/>
          <p:cNvSpPr txBox="1"/>
          <p:nvPr/>
        </p:nvSpPr>
        <p:spPr>
          <a:xfrm>
            <a:off x="4114251" y="2039112"/>
            <a:ext cx="1318199" cy="991210"/>
          </a:xfrm>
          <a:prstGeom prst="rect">
            <a:avLst/>
          </a:prstGeom>
          <a:noFill/>
          <a:ln/>
        </p:spPr>
        <p:txBody>
          <a:bodyPr wrap="square" lIns="0" tIns="0" rIns="0" bIns="0" rtlCol="0" anchor="ctr"/>
          <a:lstStyle/>
          <a:p>
            <a:pPr algn="ctr" indent="0" marL="0">
              <a:buNone/>
            </a:pPr>
            <a:r>
              <a:rPr lang="en-US" sz="1100" dirty="0">
                <a:solidFill>
                  <a:schemeClr val="tx1"/>
                </a:solidFill>
              </a:rPr>
              <a:t>het kopieerlokaal</a:t>
            </a:r>
            <a:endParaRPr lang="en-US" sz="1100" dirty="0"/>
          </a:p>
        </p:txBody>
      </p:sp>
      <p:sp>
        <p:nvSpPr>
          <p:cNvPr id="23" name="Shape 17"/>
          <p:cNvSpPr/>
          <p:nvPr/>
        </p:nvSpPr>
        <p:spPr>
          <a:xfrm>
            <a:off x="5469026" y="1600200"/>
            <a:ext cx="1391351" cy="1494130"/>
          </a:xfrm>
          <a:prstGeom prst="rect">
            <a:avLst/>
          </a:prstGeom>
          <a:solidFill>
            <a:srgbClr val="FFFFFF"/>
          </a:solidFill>
          <a:ln w="19050">
            <a:solidFill>
              <a:srgbClr val="17375E"/>
            </a:solidFill>
            <a:prstDash val="solid"/>
          </a:ln>
        </p:spPr>
      </p:sp>
      <p:sp>
        <p:nvSpPr>
          <p:cNvPr id="24" name="Shape 18"/>
          <p:cNvSpPr/>
          <p:nvPr/>
        </p:nvSpPr>
        <p:spPr>
          <a:xfrm>
            <a:off x="5955999" y="3057754"/>
            <a:ext cx="417405" cy="73152"/>
          </a:xfrm>
          <a:prstGeom prst="rect">
            <a:avLst/>
          </a:prstGeom>
          <a:solidFill>
            <a:srgbClr val="EEF1F6"/>
          </a:solidFill>
          <a:ln w="12700">
            <a:solidFill>
              <a:srgbClr val="FFFFFF">
                <a:alpha val="0"/>
              </a:srgbClr>
            </a:solidFill>
            <a:prstDash val="solid"/>
          </a:ln>
        </p:spPr>
      </p:sp>
      <p:pic>
        <p:nvPicPr>
          <p:cNvPr id="25" name="Image 3" descr="toilet">    </p:cNvPr>
          <p:cNvPicPr>
            <a:picLocks noChangeAspect="1"/>
          </p:cNvPicPr>
          <p:nvPr/>
        </p:nvPicPr>
        <p:blipFill>
          <a:blip r:embed="rId4"/>
          <a:stretch>
            <a:fillRect/>
          </a:stretch>
        </p:blipFill>
        <p:spPr>
          <a:xfrm>
            <a:off x="5990966" y="1691640"/>
            <a:ext cx="347472" cy="347472"/>
          </a:xfrm>
          <a:prstGeom prst="rect">
            <a:avLst/>
          </a:prstGeom>
        </p:spPr>
      </p:pic>
      <p:sp>
        <p:nvSpPr>
          <p:cNvPr id="26" name="Text 19"/>
          <p:cNvSpPr txBox="1"/>
          <p:nvPr/>
        </p:nvSpPr>
        <p:spPr>
          <a:xfrm>
            <a:off x="5505602" y="2039112"/>
            <a:ext cx="1318199" cy="991210"/>
          </a:xfrm>
          <a:prstGeom prst="rect">
            <a:avLst/>
          </a:prstGeom>
          <a:noFill/>
          <a:ln/>
        </p:spPr>
        <p:txBody>
          <a:bodyPr wrap="square" lIns="0" tIns="0" rIns="0" bIns="0" rtlCol="0" anchor="ctr"/>
          <a:lstStyle/>
          <a:p>
            <a:pPr algn="ctr" indent="0" marL="0">
              <a:buNone/>
            </a:pPr>
            <a:r>
              <a:rPr lang="en-US" sz="1100" dirty="0">
                <a:solidFill>
                  <a:schemeClr val="tx1"/>
                </a:solidFill>
              </a:rPr>
              <a:t>de toiletten</a:t>
            </a:r>
            <a:endParaRPr lang="en-US" sz="1100" dirty="0"/>
          </a:p>
        </p:txBody>
      </p:sp>
      <p:sp>
        <p:nvSpPr>
          <p:cNvPr id="27" name="Shape 20"/>
          <p:cNvSpPr/>
          <p:nvPr/>
        </p:nvSpPr>
        <p:spPr>
          <a:xfrm>
            <a:off x="2686324" y="4037990"/>
            <a:ext cx="1391351" cy="1494130"/>
          </a:xfrm>
          <a:prstGeom prst="rect">
            <a:avLst/>
          </a:prstGeom>
          <a:solidFill>
            <a:srgbClr val="FFFFFF"/>
          </a:solidFill>
          <a:ln w="19050">
            <a:solidFill>
              <a:srgbClr val="17375E"/>
            </a:solidFill>
            <a:prstDash val="solid"/>
          </a:ln>
        </p:spPr>
      </p:sp>
      <p:sp>
        <p:nvSpPr>
          <p:cNvPr id="28" name="Shape 21"/>
          <p:cNvSpPr/>
          <p:nvPr/>
        </p:nvSpPr>
        <p:spPr>
          <a:xfrm>
            <a:off x="3173297" y="4001414"/>
            <a:ext cx="417405" cy="73152"/>
          </a:xfrm>
          <a:prstGeom prst="rect">
            <a:avLst/>
          </a:prstGeom>
          <a:solidFill>
            <a:srgbClr val="EEF1F6"/>
          </a:solidFill>
          <a:ln w="12700">
            <a:solidFill>
              <a:srgbClr val="FFFFFF">
                <a:alpha val="0"/>
              </a:srgbClr>
            </a:solidFill>
            <a:prstDash val="solid"/>
          </a:ln>
        </p:spPr>
      </p:sp>
      <p:pic>
        <p:nvPicPr>
          <p:cNvPr id="29" name="Image 4" descr="desktop computer">    </p:cNvPr>
          <p:cNvPicPr>
            <a:picLocks noChangeAspect="1"/>
          </p:cNvPicPr>
          <p:nvPr/>
        </p:nvPicPr>
        <p:blipFill>
          <a:blip r:embed="rId5"/>
          <a:stretch>
            <a:fillRect/>
          </a:stretch>
        </p:blipFill>
        <p:spPr>
          <a:xfrm>
            <a:off x="3208264" y="5093208"/>
            <a:ext cx="347472" cy="347472"/>
          </a:xfrm>
          <a:prstGeom prst="rect">
            <a:avLst/>
          </a:prstGeom>
        </p:spPr>
      </p:pic>
      <p:sp>
        <p:nvSpPr>
          <p:cNvPr id="30" name="Text 22"/>
          <p:cNvSpPr txBox="1"/>
          <p:nvPr/>
        </p:nvSpPr>
        <p:spPr>
          <a:xfrm>
            <a:off x="2722900" y="4083710"/>
            <a:ext cx="1318199" cy="991210"/>
          </a:xfrm>
          <a:prstGeom prst="rect">
            <a:avLst/>
          </a:prstGeom>
          <a:noFill/>
          <a:ln/>
        </p:spPr>
        <p:txBody>
          <a:bodyPr wrap="square" lIns="0" tIns="0" rIns="0" bIns="0" rtlCol="0" anchor="ctr"/>
          <a:lstStyle/>
          <a:p>
            <a:pPr algn="ctr" indent="0" marL="0">
              <a:buNone/>
            </a:pPr>
            <a:r>
              <a:rPr lang="en-US" sz="1100" dirty="0">
                <a:solidFill>
                  <a:schemeClr val="tx1"/>
                </a:solidFill>
              </a:rPr>
              <a:t>het kantoor</a:t>
            </a:r>
            <a:endParaRPr lang="en-US" sz="1100" dirty="0"/>
          </a:p>
        </p:txBody>
      </p:sp>
      <p:sp>
        <p:nvSpPr>
          <p:cNvPr id="31" name="Shape 23"/>
          <p:cNvSpPr/>
          <p:nvPr/>
        </p:nvSpPr>
        <p:spPr>
          <a:xfrm>
            <a:off x="4077675" y="4037990"/>
            <a:ext cx="1391351" cy="1494130"/>
          </a:xfrm>
          <a:prstGeom prst="rect">
            <a:avLst/>
          </a:prstGeom>
          <a:solidFill>
            <a:srgbClr val="FFFFFF"/>
          </a:solidFill>
          <a:ln w="19050">
            <a:solidFill>
              <a:srgbClr val="17375E"/>
            </a:solidFill>
            <a:prstDash val="solid"/>
          </a:ln>
        </p:spPr>
      </p:sp>
      <p:sp>
        <p:nvSpPr>
          <p:cNvPr id="32" name="Shape 24"/>
          <p:cNvSpPr/>
          <p:nvPr/>
        </p:nvSpPr>
        <p:spPr>
          <a:xfrm>
            <a:off x="4564648" y="4001414"/>
            <a:ext cx="417405" cy="73152"/>
          </a:xfrm>
          <a:prstGeom prst="rect">
            <a:avLst/>
          </a:prstGeom>
          <a:solidFill>
            <a:srgbClr val="EEF1F6"/>
          </a:solidFill>
          <a:ln w="12700">
            <a:solidFill>
              <a:srgbClr val="FFFFFF">
                <a:alpha val="0"/>
              </a:srgbClr>
            </a:solidFill>
            <a:prstDash val="solid"/>
          </a:ln>
        </p:spPr>
      </p:sp>
      <p:pic>
        <p:nvPicPr>
          <p:cNvPr id="33" name="Image 5" descr="hot beverage">    </p:cNvPr>
          <p:cNvPicPr>
            <a:picLocks noChangeAspect="1"/>
          </p:cNvPicPr>
          <p:nvPr/>
        </p:nvPicPr>
        <p:blipFill>
          <a:blip r:embed="rId6"/>
          <a:stretch>
            <a:fillRect/>
          </a:stretch>
        </p:blipFill>
        <p:spPr>
          <a:xfrm>
            <a:off x="4599615" y="5093208"/>
            <a:ext cx="347472" cy="347472"/>
          </a:xfrm>
          <a:prstGeom prst="rect">
            <a:avLst/>
          </a:prstGeom>
        </p:spPr>
      </p:pic>
      <p:sp>
        <p:nvSpPr>
          <p:cNvPr id="34" name="Text 25"/>
          <p:cNvSpPr txBox="1"/>
          <p:nvPr/>
        </p:nvSpPr>
        <p:spPr>
          <a:xfrm>
            <a:off x="4114251" y="4083710"/>
            <a:ext cx="1318199" cy="991210"/>
          </a:xfrm>
          <a:prstGeom prst="rect">
            <a:avLst/>
          </a:prstGeom>
          <a:noFill/>
          <a:ln/>
        </p:spPr>
        <p:txBody>
          <a:bodyPr wrap="square" lIns="0" tIns="0" rIns="0" bIns="0" rtlCol="0" anchor="ctr"/>
          <a:lstStyle/>
          <a:p>
            <a:pPr algn="ctr" indent="0" marL="0">
              <a:buNone/>
            </a:pPr>
            <a:r>
              <a:rPr lang="en-US" sz="1100" dirty="0">
                <a:solidFill>
                  <a:schemeClr val="tx1"/>
                </a:solidFill>
              </a:rPr>
              <a:t>de keuken</a:t>
            </a:r>
            <a:endParaRPr lang="en-US" sz="1100" dirty="0"/>
          </a:p>
        </p:txBody>
      </p:sp>
      <p:sp>
        <p:nvSpPr>
          <p:cNvPr id="35" name="Shape 26"/>
          <p:cNvSpPr/>
          <p:nvPr/>
        </p:nvSpPr>
        <p:spPr>
          <a:xfrm>
            <a:off x="5469026" y="4037990"/>
            <a:ext cx="1391351" cy="1494130"/>
          </a:xfrm>
          <a:prstGeom prst="rect">
            <a:avLst/>
          </a:prstGeom>
          <a:solidFill>
            <a:srgbClr val="FFFFFF"/>
          </a:solidFill>
          <a:ln w="19050">
            <a:solidFill>
              <a:srgbClr val="17375E"/>
            </a:solidFill>
            <a:prstDash val="solid"/>
          </a:ln>
        </p:spPr>
      </p:sp>
      <p:sp>
        <p:nvSpPr>
          <p:cNvPr id="36" name="Shape 27"/>
          <p:cNvSpPr/>
          <p:nvPr/>
        </p:nvSpPr>
        <p:spPr>
          <a:xfrm>
            <a:off x="5955999" y="4001414"/>
            <a:ext cx="417405" cy="73152"/>
          </a:xfrm>
          <a:prstGeom prst="rect">
            <a:avLst/>
          </a:prstGeom>
          <a:solidFill>
            <a:srgbClr val="EEF1F6"/>
          </a:solidFill>
          <a:ln w="12700">
            <a:solidFill>
              <a:srgbClr val="FFFFFF">
                <a:alpha val="0"/>
              </a:srgbClr>
            </a:solidFill>
            <a:prstDash val="solid"/>
          </a:ln>
        </p:spPr>
      </p:sp>
      <p:pic>
        <p:nvPicPr>
          <p:cNvPr id="37" name="Image 6" descr="fork and knife with plate">    </p:cNvPr>
          <p:cNvPicPr>
            <a:picLocks noChangeAspect="1"/>
          </p:cNvPicPr>
          <p:nvPr/>
        </p:nvPicPr>
        <p:blipFill>
          <a:blip r:embed="rId7"/>
          <a:stretch>
            <a:fillRect/>
          </a:stretch>
        </p:blipFill>
        <p:spPr>
          <a:xfrm>
            <a:off x="5990966" y="5093208"/>
            <a:ext cx="347472" cy="347472"/>
          </a:xfrm>
          <a:prstGeom prst="rect">
            <a:avLst/>
          </a:prstGeom>
        </p:spPr>
      </p:pic>
      <p:sp>
        <p:nvSpPr>
          <p:cNvPr id="38" name="Text 28"/>
          <p:cNvSpPr txBox="1"/>
          <p:nvPr/>
        </p:nvSpPr>
        <p:spPr>
          <a:xfrm>
            <a:off x="5505602" y="4083710"/>
            <a:ext cx="1318199" cy="991210"/>
          </a:xfrm>
          <a:prstGeom prst="rect">
            <a:avLst/>
          </a:prstGeom>
          <a:noFill/>
          <a:ln/>
        </p:spPr>
        <p:txBody>
          <a:bodyPr wrap="square" lIns="0" tIns="0" rIns="0" bIns="0" rtlCol="0" anchor="ctr"/>
          <a:lstStyle/>
          <a:p>
            <a:pPr algn="ctr" indent="0" marL="0">
              <a:buNone/>
            </a:pPr>
            <a:r>
              <a:rPr lang="en-US" sz="1100" dirty="0">
                <a:solidFill>
                  <a:schemeClr val="tx1"/>
                </a:solidFill>
              </a:rPr>
              <a:t>de refter</a:t>
            </a:r>
            <a:endParaRPr lang="en-US" sz="1100" dirty="0"/>
          </a:p>
        </p:txBody>
      </p:sp>
      <p:sp>
        <p:nvSpPr>
          <p:cNvPr id="39" name="Shape 29"/>
          <p:cNvSpPr/>
          <p:nvPr/>
        </p:nvSpPr>
        <p:spPr>
          <a:xfrm>
            <a:off x="6860377" y="1600200"/>
            <a:ext cx="637703" cy="1965960"/>
          </a:xfrm>
          <a:prstGeom prst="rect">
            <a:avLst/>
          </a:prstGeom>
          <a:solidFill>
            <a:srgbClr val="FFFFFF"/>
          </a:solidFill>
          <a:ln w="19050">
            <a:solidFill>
              <a:srgbClr val="17375E"/>
            </a:solidFill>
            <a:prstDash val="solid"/>
          </a:ln>
        </p:spPr>
      </p:sp>
      <p:sp>
        <p:nvSpPr>
          <p:cNvPr id="40" name="Shape 30"/>
          <p:cNvSpPr/>
          <p:nvPr/>
        </p:nvSpPr>
        <p:spPr>
          <a:xfrm>
            <a:off x="6906097" y="1881051"/>
            <a:ext cx="546263" cy="914"/>
          </a:xfrm>
          <a:prstGeom prst="line">
            <a:avLst/>
          </a:prstGeom>
          <a:noFill/>
          <a:ln w="12700">
            <a:solidFill>
              <a:srgbClr val="4A5A70"/>
            </a:solidFill>
            <a:prstDash val="solid"/>
          </a:ln>
        </p:spPr>
      </p:sp>
      <p:sp>
        <p:nvSpPr>
          <p:cNvPr id="41" name="Shape 31"/>
          <p:cNvSpPr/>
          <p:nvPr/>
        </p:nvSpPr>
        <p:spPr>
          <a:xfrm>
            <a:off x="6906097" y="2161903"/>
            <a:ext cx="546263" cy="914"/>
          </a:xfrm>
          <a:prstGeom prst="line">
            <a:avLst/>
          </a:prstGeom>
          <a:noFill/>
          <a:ln w="12700">
            <a:solidFill>
              <a:srgbClr val="4A5A70"/>
            </a:solidFill>
            <a:prstDash val="solid"/>
          </a:ln>
        </p:spPr>
      </p:sp>
      <p:sp>
        <p:nvSpPr>
          <p:cNvPr id="42" name="Shape 32"/>
          <p:cNvSpPr/>
          <p:nvPr/>
        </p:nvSpPr>
        <p:spPr>
          <a:xfrm>
            <a:off x="6906097" y="2442754"/>
            <a:ext cx="546263" cy="914"/>
          </a:xfrm>
          <a:prstGeom prst="line">
            <a:avLst/>
          </a:prstGeom>
          <a:noFill/>
          <a:ln w="12700">
            <a:solidFill>
              <a:srgbClr val="4A5A70"/>
            </a:solidFill>
            <a:prstDash val="solid"/>
          </a:ln>
        </p:spPr>
      </p:sp>
      <p:sp>
        <p:nvSpPr>
          <p:cNvPr id="43" name="Shape 33"/>
          <p:cNvSpPr/>
          <p:nvPr/>
        </p:nvSpPr>
        <p:spPr>
          <a:xfrm>
            <a:off x="6906097" y="2723606"/>
            <a:ext cx="546263" cy="914"/>
          </a:xfrm>
          <a:prstGeom prst="line">
            <a:avLst/>
          </a:prstGeom>
          <a:noFill/>
          <a:ln w="12700">
            <a:solidFill>
              <a:srgbClr val="4A5A70"/>
            </a:solidFill>
            <a:prstDash val="solid"/>
          </a:ln>
        </p:spPr>
      </p:sp>
      <p:sp>
        <p:nvSpPr>
          <p:cNvPr id="44" name="Shape 34"/>
          <p:cNvSpPr/>
          <p:nvPr/>
        </p:nvSpPr>
        <p:spPr>
          <a:xfrm>
            <a:off x="6906097" y="3004457"/>
            <a:ext cx="546263" cy="914"/>
          </a:xfrm>
          <a:prstGeom prst="line">
            <a:avLst/>
          </a:prstGeom>
          <a:noFill/>
          <a:ln w="12700">
            <a:solidFill>
              <a:srgbClr val="4A5A70"/>
            </a:solidFill>
            <a:prstDash val="solid"/>
          </a:ln>
        </p:spPr>
      </p:sp>
      <p:sp>
        <p:nvSpPr>
          <p:cNvPr id="45" name="Shape 35"/>
          <p:cNvSpPr/>
          <p:nvPr/>
        </p:nvSpPr>
        <p:spPr>
          <a:xfrm>
            <a:off x="6906097" y="3285309"/>
            <a:ext cx="546263" cy="914"/>
          </a:xfrm>
          <a:prstGeom prst="line">
            <a:avLst/>
          </a:prstGeom>
          <a:noFill/>
          <a:ln w="12700">
            <a:solidFill>
              <a:srgbClr val="4A5A70"/>
            </a:solidFill>
            <a:prstDash val="solid"/>
          </a:ln>
        </p:spPr>
      </p:sp>
      <p:sp>
        <p:nvSpPr>
          <p:cNvPr id="46" name="Shape 36"/>
          <p:cNvSpPr/>
          <p:nvPr/>
        </p:nvSpPr>
        <p:spPr>
          <a:xfrm>
            <a:off x="6860377" y="3566160"/>
            <a:ext cx="637703" cy="1965960"/>
          </a:xfrm>
          <a:prstGeom prst="rect">
            <a:avLst/>
          </a:prstGeom>
          <a:solidFill>
            <a:srgbClr val="F1EBF8"/>
          </a:solidFill>
          <a:ln w="19050">
            <a:solidFill>
              <a:srgbClr val="17375E"/>
            </a:solidFill>
            <a:prstDash val="solid"/>
          </a:ln>
        </p:spPr>
      </p:sp>
      <p:pic>
        <p:nvPicPr>
          <p:cNvPr id="47" name="Image 7" descr="elevator">    </p:cNvPr>
          <p:cNvPicPr>
            <a:picLocks noChangeAspect="1"/>
          </p:cNvPicPr>
          <p:nvPr/>
        </p:nvPicPr>
        <p:blipFill>
          <a:blip r:embed="rId8"/>
          <a:stretch>
            <a:fillRect/>
          </a:stretch>
        </p:blipFill>
        <p:spPr>
          <a:xfrm>
            <a:off x="7005493" y="3657600"/>
            <a:ext cx="347472" cy="347472"/>
          </a:xfrm>
          <a:prstGeom prst="rect">
            <a:avLst/>
          </a:prstGeom>
        </p:spPr>
      </p:pic>
      <p:sp>
        <p:nvSpPr>
          <p:cNvPr id="48" name="Text 37"/>
          <p:cNvSpPr txBox="1"/>
          <p:nvPr/>
        </p:nvSpPr>
        <p:spPr>
          <a:xfrm>
            <a:off x="6860377" y="3182112"/>
            <a:ext cx="637703" cy="347472"/>
          </a:xfrm>
          <a:prstGeom prst="rect">
            <a:avLst/>
          </a:prstGeom>
          <a:noFill/>
          <a:ln/>
        </p:spPr>
        <p:txBody>
          <a:bodyPr wrap="square" lIns="0" tIns="0" rIns="0" bIns="0" rtlCol="0" anchor="ctr"/>
          <a:lstStyle/>
          <a:p>
            <a:pPr algn="ctr" indent="0" marL="0">
              <a:buNone/>
            </a:pPr>
            <a:r>
              <a:rPr lang="en-US" sz="1000" b="1" dirty="0">
                <a:solidFill>
                  <a:schemeClr val="tx2"/>
                </a:solidFill>
              </a:rPr>
              <a:t>de trap</a:t>
            </a:r>
            <a:endParaRPr lang="en-US" sz="1000" dirty="0"/>
          </a:p>
        </p:txBody>
      </p:sp>
      <p:sp>
        <p:nvSpPr>
          <p:cNvPr id="49" name="Text 38"/>
          <p:cNvSpPr txBox="1"/>
          <p:nvPr/>
        </p:nvSpPr>
        <p:spPr>
          <a:xfrm>
            <a:off x="6860377" y="5120640"/>
            <a:ext cx="637703" cy="365760"/>
          </a:xfrm>
          <a:prstGeom prst="rect">
            <a:avLst/>
          </a:prstGeom>
          <a:noFill/>
          <a:ln/>
        </p:spPr>
        <p:txBody>
          <a:bodyPr wrap="square" lIns="0" tIns="0" rIns="0" bIns="0" rtlCol="0" anchor="ctr"/>
          <a:lstStyle/>
          <a:p>
            <a:pPr algn="ctr" indent="0" marL="0">
              <a:buNone/>
            </a:pPr>
            <a:r>
              <a:rPr lang="en-US" sz="1000" b="1" dirty="0">
                <a:solidFill>
                  <a:schemeClr val="tx2"/>
                </a:solidFill>
              </a:rPr>
              <a:t>de lift</a:t>
            </a:r>
            <a:endParaRPr lang="en-US" sz="1000" dirty="0"/>
          </a:p>
        </p:txBody>
      </p:sp>
      <p:sp>
        <p:nvSpPr>
          <p:cNvPr id="50" name="Shape 39"/>
          <p:cNvSpPr/>
          <p:nvPr/>
        </p:nvSpPr>
        <p:spPr>
          <a:xfrm flipV="1">
            <a:off x="1069848" y="3566160"/>
            <a:ext cx="914" cy="1258214"/>
          </a:xfrm>
          <a:prstGeom prst="line">
            <a:avLst/>
          </a:prstGeom>
          <a:noFill/>
          <a:ln w="38100">
            <a:solidFill>
              <a:srgbClr val="D9700F"/>
            </a:solidFill>
            <a:prstDash val="dash"/>
            <a:tailEnd type="triangle"/>
          </a:ln>
        </p:spPr>
      </p:sp>
      <p:sp>
        <p:nvSpPr>
          <p:cNvPr id="51" name="Shape 40"/>
          <p:cNvSpPr/>
          <p:nvPr/>
        </p:nvSpPr>
        <p:spPr>
          <a:xfrm>
            <a:off x="1069848" y="3566160"/>
            <a:ext cx="630936" cy="914"/>
          </a:xfrm>
          <a:prstGeom prst="line">
            <a:avLst/>
          </a:prstGeom>
          <a:noFill/>
          <a:ln w="38100">
            <a:solidFill>
              <a:srgbClr val="D9700F"/>
            </a:solidFill>
            <a:prstDash val="dash"/>
            <a:tailEnd type="triangle"/>
          </a:ln>
        </p:spPr>
      </p:sp>
      <p:sp>
        <p:nvSpPr>
          <p:cNvPr id="52" name="Shape 41"/>
          <p:cNvSpPr/>
          <p:nvPr/>
        </p:nvSpPr>
        <p:spPr>
          <a:xfrm>
            <a:off x="1700784" y="3566160"/>
            <a:ext cx="591324" cy="914"/>
          </a:xfrm>
          <a:prstGeom prst="line">
            <a:avLst/>
          </a:prstGeom>
          <a:noFill/>
          <a:ln w="38100">
            <a:solidFill>
              <a:srgbClr val="D9700F"/>
            </a:solidFill>
            <a:prstDash val="dash"/>
            <a:tailEnd type="triangle"/>
          </a:ln>
        </p:spPr>
      </p:sp>
      <p:sp>
        <p:nvSpPr>
          <p:cNvPr id="53" name="Shape 42"/>
          <p:cNvSpPr/>
          <p:nvPr/>
        </p:nvSpPr>
        <p:spPr>
          <a:xfrm>
            <a:off x="2292108" y="3566160"/>
            <a:ext cx="2481243" cy="914"/>
          </a:xfrm>
          <a:prstGeom prst="line">
            <a:avLst/>
          </a:prstGeom>
          <a:noFill/>
          <a:ln w="38100">
            <a:solidFill>
              <a:srgbClr val="D9700F"/>
            </a:solidFill>
            <a:prstDash val="dash"/>
          </a:ln>
        </p:spPr>
      </p:sp>
      <p:sp>
        <p:nvSpPr>
          <p:cNvPr id="54" name="Shape 43"/>
          <p:cNvSpPr/>
          <p:nvPr/>
        </p:nvSpPr>
        <p:spPr>
          <a:xfrm>
            <a:off x="4773351" y="3566160"/>
            <a:ext cx="914" cy="453542"/>
          </a:xfrm>
          <a:prstGeom prst="line">
            <a:avLst/>
          </a:prstGeom>
          <a:noFill/>
          <a:ln w="38100">
            <a:solidFill>
              <a:srgbClr val="D9700F"/>
            </a:solidFill>
            <a:prstDash val="dash"/>
            <a:tailEnd type="triangle"/>
          </a:ln>
        </p:spPr>
      </p:sp>
      <p:sp>
        <p:nvSpPr>
          <p:cNvPr id="55" name="Shape 44"/>
          <p:cNvSpPr/>
          <p:nvPr/>
        </p:nvSpPr>
        <p:spPr>
          <a:xfrm>
            <a:off x="4773351" y="4019702"/>
            <a:ext cx="914" cy="765353"/>
          </a:xfrm>
          <a:prstGeom prst="line">
            <a:avLst/>
          </a:prstGeom>
          <a:noFill/>
          <a:ln w="38100">
            <a:solidFill>
              <a:srgbClr val="D9700F"/>
            </a:solidFill>
            <a:prstDash val="dash"/>
            <a:tailEnd type="triangle"/>
          </a:ln>
        </p:spPr>
      </p:sp>
      <p:sp>
        <p:nvSpPr>
          <p:cNvPr id="56" name="Shape 45"/>
          <p:cNvSpPr/>
          <p:nvPr/>
        </p:nvSpPr>
        <p:spPr>
          <a:xfrm flipH="1" flipV="1">
            <a:off x="3519160" y="3112618"/>
            <a:ext cx="1391351" cy="907085"/>
          </a:xfrm>
          <a:prstGeom prst="line">
            <a:avLst/>
          </a:prstGeom>
          <a:noFill/>
          <a:ln w="31750">
            <a:solidFill>
              <a:srgbClr val="B83227"/>
            </a:solidFill>
            <a:prstDash val="dash"/>
          </a:ln>
        </p:spPr>
      </p:sp>
      <p:sp>
        <p:nvSpPr>
          <p:cNvPr id="57" name="Shape 46"/>
          <p:cNvSpPr/>
          <p:nvPr/>
        </p:nvSpPr>
        <p:spPr>
          <a:xfrm flipH="1" flipV="1">
            <a:off x="3519160" y="2347265"/>
            <a:ext cx="914" cy="765353"/>
          </a:xfrm>
          <a:prstGeom prst="line">
            <a:avLst/>
          </a:prstGeom>
          <a:noFill/>
          <a:ln w="31750">
            <a:solidFill>
              <a:srgbClr val="B83227"/>
            </a:solidFill>
            <a:prstDash val="dash"/>
            <a:tailEnd type="triangle"/>
          </a:ln>
        </p:spPr>
      </p:sp>
      <p:sp>
        <p:nvSpPr>
          <p:cNvPr id="58" name="Shape 47"/>
          <p:cNvSpPr/>
          <p:nvPr/>
        </p:nvSpPr>
        <p:spPr>
          <a:xfrm>
            <a:off x="1152144" y="4632350"/>
            <a:ext cx="292608" cy="292608"/>
          </a:xfrm>
          <a:prstGeom prst="ellipse">
            <a:avLst/>
          </a:prstGeom>
          <a:solidFill>
            <a:schemeClr val="accent1"/>
          </a:solidFill>
          <a:ln w="12700">
            <a:solidFill>
              <a:srgbClr val="FFFFFF">
                <a:alpha val="0"/>
              </a:srgbClr>
            </a:solidFill>
            <a:prstDash val="solid"/>
          </a:ln>
        </p:spPr>
      </p:sp>
      <p:sp>
        <p:nvSpPr>
          <p:cNvPr id="59" name="Text 48"/>
          <p:cNvSpPr txBox="1"/>
          <p:nvPr/>
        </p:nvSpPr>
        <p:spPr>
          <a:xfrm>
            <a:off x="1152144" y="4632350"/>
            <a:ext cx="292608" cy="292608"/>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60" name="Shape 49"/>
          <p:cNvSpPr/>
          <p:nvPr/>
        </p:nvSpPr>
        <p:spPr>
          <a:xfrm>
            <a:off x="1508760" y="3145536"/>
            <a:ext cx="292608" cy="292608"/>
          </a:xfrm>
          <a:prstGeom prst="ellipse">
            <a:avLst/>
          </a:prstGeom>
          <a:solidFill>
            <a:schemeClr val="accent1"/>
          </a:solidFill>
          <a:ln w="12700">
            <a:solidFill>
              <a:srgbClr val="FFFFFF">
                <a:alpha val="0"/>
              </a:srgbClr>
            </a:solidFill>
            <a:prstDash val="solid"/>
          </a:ln>
        </p:spPr>
      </p:sp>
      <p:sp>
        <p:nvSpPr>
          <p:cNvPr id="61" name="Text 50"/>
          <p:cNvSpPr txBox="1"/>
          <p:nvPr/>
        </p:nvSpPr>
        <p:spPr>
          <a:xfrm>
            <a:off x="1508760" y="3145536"/>
            <a:ext cx="292608" cy="292608"/>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62" name="Shape 51"/>
          <p:cNvSpPr/>
          <p:nvPr/>
        </p:nvSpPr>
        <p:spPr>
          <a:xfrm>
            <a:off x="2145804" y="3694176"/>
            <a:ext cx="292608" cy="292608"/>
          </a:xfrm>
          <a:prstGeom prst="ellipse">
            <a:avLst/>
          </a:prstGeom>
          <a:solidFill>
            <a:schemeClr val="accent1"/>
          </a:solidFill>
          <a:ln w="12700">
            <a:solidFill>
              <a:srgbClr val="FFFFFF">
                <a:alpha val="0"/>
              </a:srgbClr>
            </a:solidFill>
            <a:prstDash val="solid"/>
          </a:ln>
        </p:spPr>
      </p:sp>
      <p:sp>
        <p:nvSpPr>
          <p:cNvPr id="63" name="Text 52"/>
          <p:cNvSpPr txBox="1"/>
          <p:nvPr/>
        </p:nvSpPr>
        <p:spPr>
          <a:xfrm>
            <a:off x="2145804" y="3694176"/>
            <a:ext cx="292608" cy="292608"/>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64" name="Shape 53"/>
          <p:cNvSpPr/>
          <p:nvPr/>
        </p:nvSpPr>
        <p:spPr>
          <a:xfrm>
            <a:off x="2860060" y="3145536"/>
            <a:ext cx="292608" cy="292608"/>
          </a:xfrm>
          <a:prstGeom prst="ellipse">
            <a:avLst/>
          </a:prstGeom>
          <a:solidFill>
            <a:schemeClr val="accent1"/>
          </a:solidFill>
          <a:ln w="12700">
            <a:solidFill>
              <a:srgbClr val="FFFFFF">
                <a:alpha val="0"/>
              </a:srgbClr>
            </a:solidFill>
            <a:prstDash val="solid"/>
          </a:ln>
        </p:spPr>
      </p:sp>
      <p:sp>
        <p:nvSpPr>
          <p:cNvPr id="65" name="Text 54"/>
          <p:cNvSpPr txBox="1"/>
          <p:nvPr/>
        </p:nvSpPr>
        <p:spPr>
          <a:xfrm>
            <a:off x="2860060" y="3145536"/>
            <a:ext cx="292608" cy="292608"/>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66" name="Shape 55"/>
          <p:cNvSpPr/>
          <p:nvPr/>
        </p:nvSpPr>
        <p:spPr>
          <a:xfrm>
            <a:off x="4261287" y="4867351"/>
            <a:ext cx="292608" cy="292608"/>
          </a:xfrm>
          <a:prstGeom prst="ellipse">
            <a:avLst/>
          </a:prstGeom>
          <a:solidFill>
            <a:schemeClr val="accent1"/>
          </a:solidFill>
          <a:ln w="12700">
            <a:solidFill>
              <a:srgbClr val="FFFFFF">
                <a:alpha val="0"/>
              </a:srgbClr>
            </a:solidFill>
            <a:prstDash val="solid"/>
          </a:ln>
        </p:spPr>
      </p:sp>
      <p:sp>
        <p:nvSpPr>
          <p:cNvPr id="67" name="Text 56"/>
          <p:cNvSpPr txBox="1"/>
          <p:nvPr/>
        </p:nvSpPr>
        <p:spPr>
          <a:xfrm>
            <a:off x="4261287" y="4867351"/>
            <a:ext cx="292608" cy="292608"/>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68" name="Shape 57"/>
          <p:cNvSpPr/>
          <p:nvPr/>
        </p:nvSpPr>
        <p:spPr>
          <a:xfrm>
            <a:off x="3730203" y="1682496"/>
            <a:ext cx="292608" cy="292608"/>
          </a:xfrm>
          <a:prstGeom prst="ellipse">
            <a:avLst/>
          </a:prstGeom>
          <a:solidFill>
            <a:schemeClr val="accent6"/>
          </a:solidFill>
          <a:ln w="12700">
            <a:solidFill>
              <a:srgbClr val="FFFFFF">
                <a:alpha val="0"/>
              </a:srgbClr>
            </a:solidFill>
            <a:prstDash val="solid"/>
          </a:ln>
        </p:spPr>
      </p:sp>
      <p:sp>
        <p:nvSpPr>
          <p:cNvPr id="69" name="Text 58"/>
          <p:cNvSpPr txBox="1"/>
          <p:nvPr/>
        </p:nvSpPr>
        <p:spPr>
          <a:xfrm>
            <a:off x="3730203" y="1682496"/>
            <a:ext cx="292608" cy="292608"/>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70" name="Shape 59"/>
          <p:cNvSpPr/>
          <p:nvPr/>
        </p:nvSpPr>
        <p:spPr>
          <a:xfrm>
            <a:off x="7772400" y="1728216"/>
            <a:ext cx="347472" cy="347472"/>
          </a:xfrm>
          <a:prstGeom prst="ellipse">
            <a:avLst/>
          </a:prstGeom>
          <a:solidFill>
            <a:schemeClr val="accent1"/>
          </a:solidFill>
          <a:ln w="12700">
            <a:solidFill>
              <a:srgbClr val="FFFFFF">
                <a:alpha val="0"/>
              </a:srgbClr>
            </a:solidFill>
            <a:prstDash val="solid"/>
          </a:ln>
        </p:spPr>
      </p:sp>
      <p:sp>
        <p:nvSpPr>
          <p:cNvPr id="71" name="Text 60"/>
          <p:cNvSpPr txBox="1"/>
          <p:nvPr/>
        </p:nvSpPr>
        <p:spPr>
          <a:xfrm>
            <a:off x="7772400" y="172821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2" name="Text 61"/>
          <p:cNvSpPr txBox="1"/>
          <p:nvPr/>
        </p:nvSpPr>
        <p:spPr>
          <a:xfrm>
            <a:off x="8229600" y="1600200"/>
            <a:ext cx="3410712" cy="603504"/>
          </a:xfrm>
          <a:prstGeom prst="rect">
            <a:avLst/>
          </a:prstGeom>
          <a:noFill/>
          <a:ln/>
        </p:spPr>
        <p:txBody>
          <a:bodyPr wrap="square" lIns="0" tIns="0" rIns="0" bIns="0" rtlCol="0" anchor="ctr"/>
          <a:lstStyle/>
          <a:p>
            <a:pPr algn="l" indent="0" marL="0">
              <a:buNone/>
            </a:pPr>
            <a:r>
              <a:rPr lang="en-US" sz="1600" i="1" dirty="0">
                <a:solidFill>
                  <a:schemeClr val="tx1"/>
                </a:solidFill>
              </a:rPr>
              <a:t>Karim rijdt de parking </a:t>
            </a:r>
            <a:r>
              <a:rPr lang="en-US" sz="1600" b="1" i="1" dirty="0">
                <a:solidFill>
                  <a:schemeClr val="accent1"/>
                </a:solidFill>
              </a:rPr>
              <a:t>op</a:t>
            </a:r>
            <a:r>
              <a:rPr lang="en-US" sz="1600" i="1" dirty="0">
                <a:solidFill>
                  <a:schemeClr val="tx1"/>
                </a:solidFill>
              </a:rPr>
              <a:t>.</a:t>
            </a:r>
            <a:endParaRPr lang="en-US" sz="1600" dirty="0"/>
          </a:p>
        </p:txBody>
      </p:sp>
      <p:sp>
        <p:nvSpPr>
          <p:cNvPr id="73" name="Shape 62"/>
          <p:cNvSpPr/>
          <p:nvPr/>
        </p:nvSpPr>
        <p:spPr>
          <a:xfrm>
            <a:off x="7772400" y="2386584"/>
            <a:ext cx="347472" cy="347472"/>
          </a:xfrm>
          <a:prstGeom prst="ellipse">
            <a:avLst/>
          </a:prstGeom>
          <a:solidFill>
            <a:schemeClr val="accent1"/>
          </a:solidFill>
          <a:ln w="12700">
            <a:solidFill>
              <a:srgbClr val="FFFFFF">
                <a:alpha val="0"/>
              </a:srgbClr>
            </a:solidFill>
            <a:prstDash val="solid"/>
          </a:ln>
        </p:spPr>
      </p:sp>
      <p:sp>
        <p:nvSpPr>
          <p:cNvPr id="74" name="Text 63"/>
          <p:cNvSpPr txBox="1"/>
          <p:nvPr/>
        </p:nvSpPr>
        <p:spPr>
          <a:xfrm>
            <a:off x="7772400" y="2386584"/>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75" name="Text 64"/>
          <p:cNvSpPr txBox="1"/>
          <p:nvPr/>
        </p:nvSpPr>
        <p:spPr>
          <a:xfrm>
            <a:off x="8229600" y="2258568"/>
            <a:ext cx="3410712" cy="603504"/>
          </a:xfrm>
          <a:prstGeom prst="rect">
            <a:avLst/>
          </a:prstGeom>
          <a:noFill/>
          <a:ln/>
        </p:spPr>
        <p:txBody>
          <a:bodyPr wrap="square" lIns="0" tIns="0" rIns="0" bIns="0" rtlCol="0" anchor="ctr"/>
          <a:lstStyle/>
          <a:p>
            <a:pPr algn="l" indent="0" marL="0">
              <a:buNone/>
            </a:pPr>
            <a:r>
              <a:rPr lang="en-US" sz="1600" i="1" dirty="0">
                <a:solidFill>
                  <a:schemeClr val="tx1"/>
                </a:solidFill>
              </a:rPr>
              <a:t>Hij stapt het gebouw </a:t>
            </a:r>
            <a:r>
              <a:rPr lang="en-US" sz="1600" b="1" i="1" dirty="0">
                <a:solidFill>
                  <a:schemeClr val="accent1"/>
                </a:solidFill>
              </a:rPr>
              <a:t>binnen</a:t>
            </a:r>
            <a:r>
              <a:rPr lang="en-US" sz="1600" i="1" dirty="0">
                <a:solidFill>
                  <a:schemeClr val="tx1"/>
                </a:solidFill>
              </a:rPr>
              <a:t>.</a:t>
            </a:r>
            <a:endParaRPr lang="en-US" sz="1600" dirty="0"/>
          </a:p>
        </p:txBody>
      </p:sp>
      <p:sp>
        <p:nvSpPr>
          <p:cNvPr id="76" name="Shape 65"/>
          <p:cNvSpPr/>
          <p:nvPr/>
        </p:nvSpPr>
        <p:spPr>
          <a:xfrm>
            <a:off x="7772400" y="3044952"/>
            <a:ext cx="347472" cy="347472"/>
          </a:xfrm>
          <a:prstGeom prst="ellipse">
            <a:avLst/>
          </a:prstGeom>
          <a:solidFill>
            <a:schemeClr val="accent1"/>
          </a:solidFill>
          <a:ln w="12700">
            <a:solidFill>
              <a:srgbClr val="FFFFFF">
                <a:alpha val="0"/>
              </a:srgbClr>
            </a:solidFill>
            <a:prstDash val="solid"/>
          </a:ln>
        </p:spPr>
      </p:sp>
      <p:sp>
        <p:nvSpPr>
          <p:cNvPr id="77" name="Text 66"/>
          <p:cNvSpPr txBox="1"/>
          <p:nvPr/>
        </p:nvSpPr>
        <p:spPr>
          <a:xfrm>
            <a:off x="7772400" y="3044952"/>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78" name="Text 67"/>
          <p:cNvSpPr txBox="1"/>
          <p:nvPr/>
        </p:nvSpPr>
        <p:spPr>
          <a:xfrm>
            <a:off x="8229600" y="2916936"/>
            <a:ext cx="3410712" cy="603504"/>
          </a:xfrm>
          <a:prstGeom prst="rect">
            <a:avLst/>
          </a:prstGeom>
          <a:noFill/>
          <a:ln/>
        </p:spPr>
        <p:txBody>
          <a:bodyPr wrap="square" lIns="0" tIns="0" rIns="0" bIns="0" rtlCol="0" anchor="ctr"/>
          <a:lstStyle/>
          <a:p>
            <a:pPr algn="l" indent="0" marL="0">
              <a:buNone/>
            </a:pPr>
            <a:r>
              <a:rPr lang="en-US" sz="1600" i="1" dirty="0">
                <a:solidFill>
                  <a:schemeClr val="tx1"/>
                </a:solidFill>
              </a:rPr>
              <a:t>Hij loopt het onthaal </a:t>
            </a:r>
            <a:r>
              <a:rPr lang="en-US" sz="1600" b="1" i="1" dirty="0">
                <a:solidFill>
                  <a:schemeClr val="accent1"/>
                </a:solidFill>
              </a:rPr>
              <a:t>voorbij</a:t>
            </a:r>
            <a:r>
              <a:rPr lang="en-US" sz="1600" i="1" dirty="0">
                <a:solidFill>
                  <a:schemeClr val="tx1"/>
                </a:solidFill>
              </a:rPr>
              <a:t>.</a:t>
            </a:r>
            <a:endParaRPr lang="en-US" sz="1600" dirty="0"/>
          </a:p>
        </p:txBody>
      </p:sp>
      <p:sp>
        <p:nvSpPr>
          <p:cNvPr id="79" name="Shape 68"/>
          <p:cNvSpPr/>
          <p:nvPr/>
        </p:nvSpPr>
        <p:spPr>
          <a:xfrm>
            <a:off x="7772400" y="3703320"/>
            <a:ext cx="347472" cy="347472"/>
          </a:xfrm>
          <a:prstGeom prst="ellipse">
            <a:avLst/>
          </a:prstGeom>
          <a:solidFill>
            <a:schemeClr val="accent1"/>
          </a:solidFill>
          <a:ln w="12700">
            <a:solidFill>
              <a:srgbClr val="FFFFFF">
                <a:alpha val="0"/>
              </a:srgbClr>
            </a:solidFill>
            <a:prstDash val="solid"/>
          </a:ln>
        </p:spPr>
      </p:sp>
      <p:sp>
        <p:nvSpPr>
          <p:cNvPr id="80" name="Text 69"/>
          <p:cNvSpPr txBox="1"/>
          <p:nvPr/>
        </p:nvSpPr>
        <p:spPr>
          <a:xfrm>
            <a:off x="7772400" y="370332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81" name="Text 70"/>
          <p:cNvSpPr txBox="1"/>
          <p:nvPr/>
        </p:nvSpPr>
        <p:spPr>
          <a:xfrm>
            <a:off x="8229600" y="3575304"/>
            <a:ext cx="3410712" cy="603504"/>
          </a:xfrm>
          <a:prstGeom prst="rect">
            <a:avLst/>
          </a:prstGeom>
          <a:noFill/>
          <a:ln/>
        </p:spPr>
        <p:txBody>
          <a:bodyPr wrap="square" lIns="0" tIns="0" rIns="0" bIns="0" rtlCol="0" anchor="ctr"/>
          <a:lstStyle/>
          <a:p>
            <a:pPr algn="l" indent="0" marL="0">
              <a:buNone/>
            </a:pPr>
            <a:r>
              <a:rPr lang="en-US" sz="1600" i="1" dirty="0">
                <a:solidFill>
                  <a:schemeClr val="tx1"/>
                </a:solidFill>
              </a:rPr>
              <a:t>Hij loopt de gang </a:t>
            </a:r>
            <a:r>
              <a:rPr lang="en-US" sz="1600" b="1" i="1" dirty="0">
                <a:solidFill>
                  <a:schemeClr val="accent1"/>
                </a:solidFill>
              </a:rPr>
              <a:t>in</a:t>
            </a:r>
            <a:r>
              <a:rPr lang="en-US" sz="1600" i="1" dirty="0">
                <a:solidFill>
                  <a:schemeClr val="tx1"/>
                </a:solidFill>
              </a:rPr>
              <a:t>.</a:t>
            </a:r>
            <a:endParaRPr lang="en-US" sz="1600" dirty="0"/>
          </a:p>
        </p:txBody>
      </p:sp>
      <p:sp>
        <p:nvSpPr>
          <p:cNvPr id="82" name="Shape 71"/>
          <p:cNvSpPr/>
          <p:nvPr/>
        </p:nvSpPr>
        <p:spPr>
          <a:xfrm>
            <a:off x="7772400" y="4361688"/>
            <a:ext cx="347472" cy="347472"/>
          </a:xfrm>
          <a:prstGeom prst="ellipse">
            <a:avLst/>
          </a:prstGeom>
          <a:solidFill>
            <a:schemeClr val="accent1"/>
          </a:solidFill>
          <a:ln w="12700">
            <a:solidFill>
              <a:srgbClr val="FFFFFF">
                <a:alpha val="0"/>
              </a:srgbClr>
            </a:solidFill>
            <a:prstDash val="solid"/>
          </a:ln>
        </p:spPr>
      </p:sp>
      <p:sp>
        <p:nvSpPr>
          <p:cNvPr id="83" name="Text 72"/>
          <p:cNvSpPr txBox="1"/>
          <p:nvPr/>
        </p:nvSpPr>
        <p:spPr>
          <a:xfrm>
            <a:off x="7772400" y="4361688"/>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84" name="Text 73"/>
          <p:cNvSpPr txBox="1"/>
          <p:nvPr/>
        </p:nvSpPr>
        <p:spPr>
          <a:xfrm>
            <a:off x="8229600" y="4233672"/>
            <a:ext cx="3410712" cy="603504"/>
          </a:xfrm>
          <a:prstGeom prst="rect">
            <a:avLst/>
          </a:prstGeom>
          <a:noFill/>
          <a:ln/>
        </p:spPr>
        <p:txBody>
          <a:bodyPr wrap="square" lIns="0" tIns="0" rIns="0" bIns="0" rtlCol="0" anchor="ctr"/>
          <a:lstStyle/>
          <a:p>
            <a:pPr algn="l" indent="0" marL="0">
              <a:buNone/>
            </a:pPr>
            <a:r>
              <a:rPr lang="en-US" sz="1600" i="1" dirty="0">
                <a:solidFill>
                  <a:schemeClr val="tx1"/>
                </a:solidFill>
              </a:rPr>
              <a:t>Hij loopt de keuken </a:t>
            </a:r>
            <a:r>
              <a:rPr lang="en-US" sz="1600" b="1" i="1" dirty="0">
                <a:solidFill>
                  <a:schemeClr val="accent1"/>
                </a:solidFill>
              </a:rPr>
              <a:t>in</a:t>
            </a:r>
            <a:r>
              <a:rPr lang="en-US" sz="1600" i="1" dirty="0">
                <a:solidFill>
                  <a:schemeClr val="tx1"/>
                </a:solidFill>
              </a:rPr>
              <a:t>: koffie!</a:t>
            </a:r>
            <a:endParaRPr lang="en-US" sz="1600" dirty="0"/>
          </a:p>
        </p:txBody>
      </p:sp>
      <p:sp>
        <p:nvSpPr>
          <p:cNvPr id="85" name="Shape 74"/>
          <p:cNvSpPr/>
          <p:nvPr/>
        </p:nvSpPr>
        <p:spPr>
          <a:xfrm>
            <a:off x="7772400" y="5020056"/>
            <a:ext cx="347472" cy="347472"/>
          </a:xfrm>
          <a:prstGeom prst="ellipse">
            <a:avLst/>
          </a:prstGeom>
          <a:solidFill>
            <a:schemeClr val="accent6"/>
          </a:solidFill>
          <a:ln w="12700">
            <a:solidFill>
              <a:srgbClr val="FFFFFF">
                <a:alpha val="0"/>
              </a:srgbClr>
            </a:solidFill>
            <a:prstDash val="solid"/>
          </a:ln>
        </p:spPr>
      </p:sp>
      <p:sp>
        <p:nvSpPr>
          <p:cNvPr id="86" name="Text 75"/>
          <p:cNvSpPr txBox="1"/>
          <p:nvPr/>
        </p:nvSpPr>
        <p:spPr>
          <a:xfrm>
            <a:off x="7772400" y="502005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87" name="Text 76"/>
          <p:cNvSpPr txBox="1"/>
          <p:nvPr/>
        </p:nvSpPr>
        <p:spPr>
          <a:xfrm>
            <a:off x="8229600" y="4892040"/>
            <a:ext cx="3410712" cy="603504"/>
          </a:xfrm>
          <a:prstGeom prst="rect">
            <a:avLst/>
          </a:prstGeom>
          <a:noFill/>
          <a:ln/>
        </p:spPr>
        <p:txBody>
          <a:bodyPr wrap="square" lIns="0" tIns="0" rIns="0" bIns="0" rtlCol="0" anchor="ctr"/>
          <a:lstStyle/>
          <a:p>
            <a:pPr algn="l" indent="0" marL="0">
              <a:buNone/>
            </a:pPr>
            <a:r>
              <a:rPr lang="en-US" sz="1600" i="1" dirty="0">
                <a:solidFill>
                  <a:schemeClr val="tx1"/>
                </a:solidFill>
              </a:rPr>
              <a:t>Hij loopt de keuken </a:t>
            </a:r>
            <a:r>
              <a:rPr lang="en-US" sz="1600" b="1" i="1" dirty="0">
                <a:solidFill>
                  <a:schemeClr val="accent1"/>
                </a:solidFill>
              </a:rPr>
              <a:t>uit</a:t>
            </a:r>
            <a:r>
              <a:rPr lang="en-US" sz="1600" i="1" dirty="0">
                <a:solidFill>
                  <a:schemeClr val="tx1"/>
                </a:solidFill>
              </a:rPr>
              <a:t> en de vergaderzaal </a:t>
            </a:r>
            <a:r>
              <a:rPr lang="en-US" sz="1600" b="1" i="1" dirty="0">
                <a:solidFill>
                  <a:schemeClr val="accent1"/>
                </a:solidFill>
              </a:rPr>
              <a:t>in</a:t>
            </a:r>
            <a:r>
              <a:rPr lang="en-US" sz="1600" i="1" dirty="0">
                <a:solidFill>
                  <a:schemeClr val="tx1"/>
                </a:solidFill>
              </a:rPr>
              <a:t>.</a:t>
            </a:r>
            <a:endParaRPr lang="en-US" sz="1600" dirty="0"/>
          </a:p>
        </p:txBody>
      </p:sp>
      <p:sp>
        <p:nvSpPr>
          <p:cNvPr id="88" name="Shape 77"/>
          <p:cNvSpPr/>
          <p:nvPr/>
        </p:nvSpPr>
        <p:spPr>
          <a:xfrm>
            <a:off x="548640" y="5715000"/>
            <a:ext cx="11091672" cy="548640"/>
          </a:xfrm>
          <a:prstGeom prst="roundRect">
            <a:avLst>
              <a:gd name="adj" fmla="val 13333"/>
            </a:avLst>
          </a:prstGeom>
          <a:solidFill>
            <a:schemeClr val="tx2"/>
          </a:solidFill>
          <a:ln w="12700">
            <a:solidFill>
              <a:srgbClr val="FFFFFF">
                <a:alpha val="0"/>
              </a:srgbClr>
            </a:solidFill>
            <a:prstDash val="solid"/>
          </a:ln>
        </p:spPr>
      </p:sp>
      <p:sp>
        <p:nvSpPr>
          <p:cNvPr id="89" name="Text 78"/>
          <p:cNvSpPr txBox="1"/>
          <p:nvPr/>
        </p:nvSpPr>
        <p:spPr>
          <a:xfrm>
            <a:off x="822960" y="5715000"/>
            <a:ext cx="10607040" cy="548640"/>
          </a:xfrm>
          <a:prstGeom prst="rect">
            <a:avLst/>
          </a:prstGeom>
          <a:noFill/>
          <a:ln/>
        </p:spPr>
        <p:txBody>
          <a:bodyPr wrap="square" lIns="0" tIns="0" rIns="0" bIns="0" rtlCol="0" anchor="ctr"/>
          <a:lstStyle/>
          <a:p>
            <a:pPr algn="l" indent="0" marL="0">
              <a:buNone/>
            </a:pPr>
            <a:r>
              <a:rPr lang="en-US" sz="1700" dirty="0">
                <a:solidFill>
                  <a:schemeClr val="bg1"/>
                </a:solidFill>
              </a:rPr>
              <a:t>Et vous ? Décrivez votre trajet du matin, de la porte de l’immeuble à votre bureau.</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place : au bout, comme une particule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572768"/>
            <a:ext cx="2011680" cy="603504"/>
          </a:xfrm>
          <a:prstGeom prst="rect">
            <a:avLst/>
          </a:prstGeom>
          <a:noFill/>
          <a:ln/>
        </p:spPr>
        <p:txBody>
          <a:bodyPr wrap="square" lIns="0" tIns="0" rIns="0" bIns="0" rtlCol="0" anchor="ctr"/>
          <a:lstStyle/>
          <a:p>
            <a:pPr algn="l" indent="0" marL="0">
              <a:buNone/>
            </a:pPr>
            <a:r>
              <a:rPr lang="en-US" sz="1300" i="1" dirty="0">
                <a:solidFill>
                  <a:schemeClr val="accent5"/>
                </a:solidFill>
              </a:rPr>
              <a:t>présent</a:t>
            </a:r>
            <a:endParaRPr lang="en-US" sz="1300" dirty="0"/>
          </a:p>
        </p:txBody>
      </p:sp>
      <p:sp>
        <p:nvSpPr>
          <p:cNvPr id="6" name="Shape 3"/>
          <p:cNvSpPr/>
          <p:nvPr/>
        </p:nvSpPr>
        <p:spPr>
          <a:xfrm>
            <a:off x="2606040" y="1572768"/>
            <a:ext cx="592165" cy="603504"/>
          </a:xfrm>
          <a:prstGeom prst="roundRect">
            <a:avLst>
              <a:gd name="adj" fmla="val 12353"/>
            </a:avLst>
          </a:prstGeom>
          <a:solidFill>
            <a:schemeClr val="bg1"/>
          </a:solidFill>
          <a:ln w="15875">
            <a:solidFill>
              <a:srgbClr val="D5DCE6"/>
            </a:solidFill>
            <a:prstDash val="solid"/>
          </a:ln>
        </p:spPr>
      </p:sp>
      <p:sp>
        <p:nvSpPr>
          <p:cNvPr id="7" name="Text 4"/>
          <p:cNvSpPr txBox="1"/>
          <p:nvPr/>
        </p:nvSpPr>
        <p:spPr>
          <a:xfrm>
            <a:off x="2606040" y="1572768"/>
            <a:ext cx="592165" cy="603504"/>
          </a:xfrm>
          <a:prstGeom prst="rect">
            <a:avLst/>
          </a:prstGeom>
          <a:noFill/>
          <a:ln/>
        </p:spPr>
        <p:txBody>
          <a:bodyPr wrap="square" lIns="0" tIns="0" rIns="0" bIns="0" rtlCol="0" anchor="ctr"/>
          <a:lstStyle/>
          <a:p>
            <a:pPr algn="ctr" indent="0" marL="0">
              <a:buNone/>
            </a:pPr>
            <a:r>
              <a:rPr lang="en-US" sz="2100" dirty="0">
                <a:solidFill>
                  <a:schemeClr val="tx1"/>
                </a:solidFill>
              </a:rPr>
              <a:t>Ik</a:t>
            </a:r>
            <a:endParaRPr lang="en-US" sz="2100" dirty="0"/>
          </a:p>
        </p:txBody>
      </p:sp>
      <p:sp>
        <p:nvSpPr>
          <p:cNvPr id="8" name="Shape 5"/>
          <p:cNvSpPr/>
          <p:nvPr/>
        </p:nvSpPr>
        <p:spPr>
          <a:xfrm>
            <a:off x="3289645" y="1572768"/>
            <a:ext cx="1071882" cy="603504"/>
          </a:xfrm>
          <a:prstGeom prst="roundRect">
            <a:avLst>
              <a:gd name="adj" fmla="val 12121"/>
            </a:avLst>
          </a:prstGeom>
          <a:solidFill>
            <a:srgbClr val="FBEDEB"/>
          </a:solidFill>
          <a:ln w="31750">
            <a:solidFill>
              <a:srgbClr val="B83227"/>
            </a:solidFill>
            <a:prstDash val="solid"/>
          </a:ln>
        </p:spPr>
      </p:sp>
      <p:sp>
        <p:nvSpPr>
          <p:cNvPr id="9" name="Text 6"/>
          <p:cNvSpPr txBox="1"/>
          <p:nvPr/>
        </p:nvSpPr>
        <p:spPr>
          <a:xfrm>
            <a:off x="3289645" y="1572768"/>
            <a:ext cx="1071882" cy="603504"/>
          </a:xfrm>
          <a:prstGeom prst="rect">
            <a:avLst/>
          </a:prstGeom>
          <a:noFill/>
          <a:ln/>
        </p:spPr>
        <p:txBody>
          <a:bodyPr wrap="square" lIns="0" tIns="0" rIns="0" bIns="0" rtlCol="0" anchor="ctr"/>
          <a:lstStyle/>
          <a:p>
            <a:pPr algn="ctr" indent="0" marL="0">
              <a:buNone/>
            </a:pPr>
            <a:r>
              <a:rPr lang="en-US" sz="2100" b="1" dirty="0">
                <a:solidFill>
                  <a:schemeClr val="accent6"/>
                </a:solidFill>
              </a:rPr>
              <a:t>loop</a:t>
            </a:r>
            <a:endParaRPr lang="en-US" sz="2100" dirty="0"/>
          </a:p>
        </p:txBody>
      </p:sp>
      <p:sp>
        <p:nvSpPr>
          <p:cNvPr id="10" name="Shape 7"/>
          <p:cNvSpPr/>
          <p:nvPr/>
        </p:nvSpPr>
        <p:spPr>
          <a:xfrm>
            <a:off x="4452967" y="1572768"/>
            <a:ext cx="1341059" cy="603504"/>
          </a:xfrm>
          <a:prstGeom prst="roundRect">
            <a:avLst>
              <a:gd name="adj" fmla="val 12121"/>
            </a:avLst>
          </a:prstGeom>
          <a:solidFill>
            <a:schemeClr val="bg1"/>
          </a:solidFill>
          <a:ln w="15875">
            <a:solidFill>
              <a:srgbClr val="D5DCE6"/>
            </a:solidFill>
            <a:prstDash val="solid"/>
          </a:ln>
        </p:spPr>
      </p:sp>
      <p:sp>
        <p:nvSpPr>
          <p:cNvPr id="11" name="Text 8"/>
          <p:cNvSpPr txBox="1"/>
          <p:nvPr/>
        </p:nvSpPr>
        <p:spPr>
          <a:xfrm>
            <a:off x="4452967" y="1572768"/>
            <a:ext cx="1341059" cy="603504"/>
          </a:xfrm>
          <a:prstGeom prst="rect">
            <a:avLst/>
          </a:prstGeom>
          <a:noFill/>
          <a:ln/>
        </p:spPr>
        <p:txBody>
          <a:bodyPr wrap="square" lIns="0" tIns="0" rIns="0" bIns="0" rtlCol="0" anchor="ctr"/>
          <a:lstStyle/>
          <a:p>
            <a:pPr algn="ctr" indent="0" marL="0">
              <a:buNone/>
            </a:pPr>
            <a:r>
              <a:rPr lang="en-US" sz="2100" dirty="0">
                <a:solidFill>
                  <a:schemeClr val="tx1"/>
                </a:solidFill>
              </a:rPr>
              <a:t>de trap</a:t>
            </a:r>
            <a:endParaRPr lang="en-US" sz="2100" dirty="0"/>
          </a:p>
        </p:txBody>
      </p:sp>
      <p:sp>
        <p:nvSpPr>
          <p:cNvPr id="12" name="Shape 9"/>
          <p:cNvSpPr/>
          <p:nvPr/>
        </p:nvSpPr>
        <p:spPr>
          <a:xfrm>
            <a:off x="5885466" y="1572768"/>
            <a:ext cx="904129" cy="603504"/>
          </a:xfrm>
          <a:prstGeom prst="roundRect">
            <a:avLst>
              <a:gd name="adj" fmla="val 12121"/>
            </a:avLst>
          </a:prstGeom>
          <a:solidFill>
            <a:schemeClr val="accent1"/>
          </a:solidFill>
          <a:ln w="12700">
            <a:solidFill>
              <a:srgbClr val="FFFFFF">
                <a:alpha val="0"/>
              </a:srgbClr>
            </a:solidFill>
            <a:prstDash val="solid"/>
          </a:ln>
        </p:spPr>
      </p:sp>
      <p:sp>
        <p:nvSpPr>
          <p:cNvPr id="13" name="Text 10"/>
          <p:cNvSpPr txBox="1"/>
          <p:nvPr/>
        </p:nvSpPr>
        <p:spPr>
          <a:xfrm>
            <a:off x="5885466" y="1572768"/>
            <a:ext cx="904129" cy="603504"/>
          </a:xfrm>
          <a:prstGeom prst="rect">
            <a:avLst/>
          </a:prstGeom>
          <a:noFill/>
          <a:ln/>
        </p:spPr>
        <p:txBody>
          <a:bodyPr wrap="square" lIns="0" tIns="0" rIns="0" bIns="0" rtlCol="0" anchor="ctr"/>
          <a:lstStyle/>
          <a:p>
            <a:pPr algn="ctr" indent="0" marL="0">
              <a:buNone/>
            </a:pPr>
            <a:r>
              <a:rPr lang="en-US" sz="2100" b="1" dirty="0">
                <a:solidFill>
                  <a:schemeClr val="bg1"/>
                </a:solidFill>
              </a:rPr>
              <a:t>op.</a:t>
            </a:r>
            <a:endParaRPr lang="en-US" sz="2100" dirty="0"/>
          </a:p>
        </p:txBody>
      </p:sp>
      <p:sp>
        <p:nvSpPr>
          <p:cNvPr id="14" name="Text 11"/>
          <p:cNvSpPr txBox="1"/>
          <p:nvPr/>
        </p:nvSpPr>
        <p:spPr>
          <a:xfrm>
            <a:off x="548640" y="2304288"/>
            <a:ext cx="2011680" cy="603504"/>
          </a:xfrm>
          <a:prstGeom prst="rect">
            <a:avLst/>
          </a:prstGeom>
          <a:noFill/>
          <a:ln/>
        </p:spPr>
        <p:txBody>
          <a:bodyPr wrap="square" lIns="0" tIns="0" rIns="0" bIns="0" rtlCol="0" anchor="ctr"/>
          <a:lstStyle/>
          <a:p>
            <a:pPr algn="l" indent="0" marL="0">
              <a:buNone/>
            </a:pPr>
            <a:r>
              <a:rPr lang="en-US" sz="1300" i="1" dirty="0">
                <a:solidFill>
                  <a:schemeClr val="accent5"/>
                </a:solidFill>
              </a:rPr>
              <a:t>modal (M12)</a:t>
            </a:r>
            <a:endParaRPr lang="en-US" sz="1300" dirty="0"/>
          </a:p>
        </p:txBody>
      </p:sp>
      <p:sp>
        <p:nvSpPr>
          <p:cNvPr id="15" name="Shape 12"/>
          <p:cNvSpPr/>
          <p:nvPr/>
        </p:nvSpPr>
        <p:spPr>
          <a:xfrm>
            <a:off x="2606040" y="2304288"/>
            <a:ext cx="592165" cy="603504"/>
          </a:xfrm>
          <a:prstGeom prst="roundRect">
            <a:avLst>
              <a:gd name="adj" fmla="val 12353"/>
            </a:avLst>
          </a:prstGeom>
          <a:solidFill>
            <a:schemeClr val="bg1"/>
          </a:solidFill>
          <a:ln w="15875">
            <a:solidFill>
              <a:srgbClr val="D5DCE6"/>
            </a:solidFill>
            <a:prstDash val="solid"/>
          </a:ln>
        </p:spPr>
      </p:sp>
      <p:sp>
        <p:nvSpPr>
          <p:cNvPr id="16" name="Text 13"/>
          <p:cNvSpPr txBox="1"/>
          <p:nvPr/>
        </p:nvSpPr>
        <p:spPr>
          <a:xfrm>
            <a:off x="2606040" y="2304288"/>
            <a:ext cx="592165" cy="603504"/>
          </a:xfrm>
          <a:prstGeom prst="rect">
            <a:avLst/>
          </a:prstGeom>
          <a:noFill/>
          <a:ln/>
        </p:spPr>
        <p:txBody>
          <a:bodyPr wrap="square" lIns="0" tIns="0" rIns="0" bIns="0" rtlCol="0" anchor="ctr"/>
          <a:lstStyle/>
          <a:p>
            <a:pPr algn="ctr" indent="0" marL="0">
              <a:buNone/>
            </a:pPr>
            <a:r>
              <a:rPr lang="en-US" sz="2100" dirty="0">
                <a:solidFill>
                  <a:schemeClr val="tx1"/>
                </a:solidFill>
              </a:rPr>
              <a:t>Ik</a:t>
            </a:r>
            <a:endParaRPr lang="en-US" sz="2100" dirty="0"/>
          </a:p>
        </p:txBody>
      </p:sp>
      <p:sp>
        <p:nvSpPr>
          <p:cNvPr id="17" name="Shape 14"/>
          <p:cNvSpPr/>
          <p:nvPr/>
        </p:nvSpPr>
        <p:spPr>
          <a:xfrm>
            <a:off x="3289645" y="2304288"/>
            <a:ext cx="904129" cy="603504"/>
          </a:xfrm>
          <a:prstGeom prst="roundRect">
            <a:avLst>
              <a:gd name="adj" fmla="val 12121"/>
            </a:avLst>
          </a:prstGeom>
          <a:solidFill>
            <a:srgbClr val="FBEDEB"/>
          </a:solidFill>
          <a:ln w="31750">
            <a:solidFill>
              <a:srgbClr val="B83227"/>
            </a:solidFill>
            <a:prstDash val="solid"/>
          </a:ln>
        </p:spPr>
      </p:sp>
      <p:sp>
        <p:nvSpPr>
          <p:cNvPr id="18" name="Text 15"/>
          <p:cNvSpPr txBox="1"/>
          <p:nvPr/>
        </p:nvSpPr>
        <p:spPr>
          <a:xfrm>
            <a:off x="3289645" y="2304288"/>
            <a:ext cx="904129" cy="603504"/>
          </a:xfrm>
          <a:prstGeom prst="rect">
            <a:avLst/>
          </a:prstGeom>
          <a:noFill/>
          <a:ln/>
        </p:spPr>
        <p:txBody>
          <a:bodyPr wrap="square" lIns="0" tIns="0" rIns="0" bIns="0" rtlCol="0" anchor="ctr"/>
          <a:lstStyle/>
          <a:p>
            <a:pPr algn="ctr" indent="0" marL="0">
              <a:buNone/>
            </a:pPr>
            <a:r>
              <a:rPr lang="en-US" sz="2100" b="1" dirty="0">
                <a:solidFill>
                  <a:schemeClr val="accent6"/>
                </a:solidFill>
              </a:rPr>
              <a:t>wil</a:t>
            </a:r>
            <a:endParaRPr lang="en-US" sz="2100" dirty="0"/>
          </a:p>
        </p:txBody>
      </p:sp>
      <p:sp>
        <p:nvSpPr>
          <p:cNvPr id="19" name="Shape 16"/>
          <p:cNvSpPr/>
          <p:nvPr/>
        </p:nvSpPr>
        <p:spPr>
          <a:xfrm>
            <a:off x="4285215" y="2304288"/>
            <a:ext cx="1341059" cy="603504"/>
          </a:xfrm>
          <a:prstGeom prst="roundRect">
            <a:avLst>
              <a:gd name="adj" fmla="val 12121"/>
            </a:avLst>
          </a:prstGeom>
          <a:solidFill>
            <a:schemeClr val="bg1"/>
          </a:solidFill>
          <a:ln w="15875">
            <a:solidFill>
              <a:srgbClr val="D5DCE6"/>
            </a:solidFill>
            <a:prstDash val="solid"/>
          </a:ln>
        </p:spPr>
      </p:sp>
      <p:sp>
        <p:nvSpPr>
          <p:cNvPr id="20" name="Text 17"/>
          <p:cNvSpPr txBox="1"/>
          <p:nvPr/>
        </p:nvSpPr>
        <p:spPr>
          <a:xfrm>
            <a:off x="4285215" y="2304288"/>
            <a:ext cx="1341059" cy="603504"/>
          </a:xfrm>
          <a:prstGeom prst="rect">
            <a:avLst/>
          </a:prstGeom>
          <a:noFill/>
          <a:ln/>
        </p:spPr>
        <p:txBody>
          <a:bodyPr wrap="square" lIns="0" tIns="0" rIns="0" bIns="0" rtlCol="0" anchor="ctr"/>
          <a:lstStyle/>
          <a:p>
            <a:pPr algn="ctr" indent="0" marL="0">
              <a:buNone/>
            </a:pPr>
            <a:r>
              <a:rPr lang="en-US" sz="2100" dirty="0">
                <a:solidFill>
                  <a:schemeClr val="tx1"/>
                </a:solidFill>
              </a:rPr>
              <a:t>de trap</a:t>
            </a:r>
            <a:endParaRPr lang="en-US" sz="2100" dirty="0"/>
          </a:p>
        </p:txBody>
      </p:sp>
      <p:sp>
        <p:nvSpPr>
          <p:cNvPr id="21" name="Shape 18"/>
          <p:cNvSpPr/>
          <p:nvPr/>
        </p:nvSpPr>
        <p:spPr>
          <a:xfrm>
            <a:off x="5717714" y="2304288"/>
            <a:ext cx="736377" cy="603504"/>
          </a:xfrm>
          <a:prstGeom prst="roundRect">
            <a:avLst>
              <a:gd name="adj" fmla="val 12121"/>
            </a:avLst>
          </a:prstGeom>
          <a:solidFill>
            <a:schemeClr val="accent1"/>
          </a:solidFill>
          <a:ln w="12700">
            <a:solidFill>
              <a:srgbClr val="FFFFFF">
                <a:alpha val="0"/>
              </a:srgbClr>
            </a:solidFill>
            <a:prstDash val="solid"/>
          </a:ln>
        </p:spPr>
      </p:sp>
      <p:sp>
        <p:nvSpPr>
          <p:cNvPr id="22" name="Text 19"/>
          <p:cNvSpPr txBox="1"/>
          <p:nvPr/>
        </p:nvSpPr>
        <p:spPr>
          <a:xfrm>
            <a:off x="5717714" y="2304288"/>
            <a:ext cx="736377" cy="603504"/>
          </a:xfrm>
          <a:prstGeom prst="rect">
            <a:avLst/>
          </a:prstGeom>
          <a:noFill/>
          <a:ln/>
        </p:spPr>
        <p:txBody>
          <a:bodyPr wrap="square" lIns="0" tIns="0" rIns="0" bIns="0" rtlCol="0" anchor="ctr"/>
          <a:lstStyle/>
          <a:p>
            <a:pPr algn="ctr" indent="0" marL="0">
              <a:buNone/>
            </a:pPr>
            <a:r>
              <a:rPr lang="en-US" sz="2100" b="1" dirty="0">
                <a:solidFill>
                  <a:schemeClr val="bg1"/>
                </a:solidFill>
              </a:rPr>
              <a:t>op</a:t>
            </a:r>
            <a:endParaRPr lang="en-US" sz="2100" dirty="0"/>
          </a:p>
        </p:txBody>
      </p:sp>
      <p:sp>
        <p:nvSpPr>
          <p:cNvPr id="23" name="Shape 20"/>
          <p:cNvSpPr/>
          <p:nvPr/>
        </p:nvSpPr>
        <p:spPr>
          <a:xfrm>
            <a:off x="6545531" y="2304288"/>
            <a:ext cx="1407386" cy="603504"/>
          </a:xfrm>
          <a:prstGeom prst="roundRect">
            <a:avLst>
              <a:gd name="adj" fmla="val 12121"/>
            </a:avLst>
          </a:prstGeom>
          <a:solidFill>
            <a:srgbClr val="FFFFFF"/>
          </a:solidFill>
          <a:ln w="25400">
            <a:solidFill>
              <a:srgbClr val="B83227"/>
            </a:solidFill>
            <a:prstDash val="dash"/>
          </a:ln>
        </p:spPr>
      </p:sp>
      <p:sp>
        <p:nvSpPr>
          <p:cNvPr id="24" name="Text 21"/>
          <p:cNvSpPr txBox="1"/>
          <p:nvPr/>
        </p:nvSpPr>
        <p:spPr>
          <a:xfrm>
            <a:off x="6545531" y="2304288"/>
            <a:ext cx="1407386" cy="603504"/>
          </a:xfrm>
          <a:prstGeom prst="rect">
            <a:avLst/>
          </a:prstGeom>
          <a:noFill/>
          <a:ln/>
        </p:spPr>
        <p:txBody>
          <a:bodyPr wrap="square" lIns="0" tIns="0" rIns="0" bIns="0" rtlCol="0" anchor="ctr"/>
          <a:lstStyle/>
          <a:p>
            <a:pPr algn="ctr" indent="0" marL="0">
              <a:buNone/>
            </a:pPr>
            <a:r>
              <a:rPr lang="en-US" sz="2100" b="1" dirty="0">
                <a:solidFill>
                  <a:schemeClr val="accent6"/>
                </a:solidFill>
              </a:rPr>
              <a:t>lopen.</a:t>
            </a:r>
            <a:endParaRPr lang="en-US" sz="2100" dirty="0"/>
          </a:p>
        </p:txBody>
      </p:sp>
      <p:sp>
        <p:nvSpPr>
          <p:cNvPr id="25" name="Text 22"/>
          <p:cNvSpPr txBox="1"/>
          <p:nvPr/>
        </p:nvSpPr>
        <p:spPr>
          <a:xfrm>
            <a:off x="548640" y="3035808"/>
            <a:ext cx="2011680" cy="603504"/>
          </a:xfrm>
          <a:prstGeom prst="rect">
            <a:avLst/>
          </a:prstGeom>
          <a:noFill/>
          <a:ln/>
        </p:spPr>
        <p:txBody>
          <a:bodyPr wrap="square" lIns="0" tIns="0" rIns="0" bIns="0" rtlCol="0" anchor="ctr"/>
          <a:lstStyle/>
          <a:p>
            <a:pPr algn="l" indent="0" marL="0">
              <a:buNone/>
            </a:pPr>
            <a:r>
              <a:rPr lang="en-US" sz="1300" i="1" dirty="0">
                <a:solidFill>
                  <a:schemeClr val="accent5"/>
                </a:solidFill>
              </a:rPr>
              <a:t>subordonnée (M9)</a:t>
            </a:r>
            <a:endParaRPr lang="en-US" sz="1300" dirty="0"/>
          </a:p>
        </p:txBody>
      </p:sp>
      <p:sp>
        <p:nvSpPr>
          <p:cNvPr id="26" name="Shape 23"/>
          <p:cNvSpPr/>
          <p:nvPr/>
        </p:nvSpPr>
        <p:spPr>
          <a:xfrm>
            <a:off x="2606040" y="3035808"/>
            <a:ext cx="1490838" cy="603504"/>
          </a:xfrm>
          <a:prstGeom prst="roundRect">
            <a:avLst>
              <a:gd name="adj" fmla="val 12121"/>
            </a:avLst>
          </a:prstGeom>
          <a:solidFill>
            <a:schemeClr val="bg1"/>
          </a:solidFill>
          <a:ln w="15875">
            <a:solidFill>
              <a:srgbClr val="D5DCE6"/>
            </a:solidFill>
            <a:prstDash val="solid"/>
          </a:ln>
        </p:spPr>
      </p:sp>
      <p:sp>
        <p:nvSpPr>
          <p:cNvPr id="27" name="Text 24"/>
          <p:cNvSpPr txBox="1"/>
          <p:nvPr/>
        </p:nvSpPr>
        <p:spPr>
          <a:xfrm>
            <a:off x="2606040" y="3035808"/>
            <a:ext cx="1490838" cy="603504"/>
          </a:xfrm>
          <a:prstGeom prst="rect">
            <a:avLst/>
          </a:prstGeom>
          <a:noFill/>
          <a:ln/>
        </p:spPr>
        <p:txBody>
          <a:bodyPr wrap="square" lIns="0" tIns="0" rIns="0" bIns="0" rtlCol="0" anchor="ctr"/>
          <a:lstStyle/>
          <a:p>
            <a:pPr algn="ctr" indent="0" marL="0">
              <a:buNone/>
            </a:pPr>
            <a:r>
              <a:rPr lang="en-US" sz="2100" dirty="0">
                <a:solidFill>
                  <a:schemeClr val="tx1"/>
                </a:solidFill>
              </a:rPr>
              <a:t>…, omdat</a:t>
            </a:r>
            <a:endParaRPr lang="en-US" sz="2100" dirty="0"/>
          </a:p>
        </p:txBody>
      </p:sp>
      <p:sp>
        <p:nvSpPr>
          <p:cNvPr id="28" name="Shape 25"/>
          <p:cNvSpPr/>
          <p:nvPr/>
        </p:nvSpPr>
        <p:spPr>
          <a:xfrm>
            <a:off x="4188318" y="3035808"/>
            <a:ext cx="592165" cy="603504"/>
          </a:xfrm>
          <a:prstGeom prst="roundRect">
            <a:avLst>
              <a:gd name="adj" fmla="val 12353"/>
            </a:avLst>
          </a:prstGeom>
          <a:solidFill>
            <a:schemeClr val="bg1"/>
          </a:solidFill>
          <a:ln w="15875">
            <a:solidFill>
              <a:srgbClr val="D5DCE6"/>
            </a:solidFill>
            <a:prstDash val="solid"/>
          </a:ln>
        </p:spPr>
      </p:sp>
      <p:sp>
        <p:nvSpPr>
          <p:cNvPr id="29" name="Text 26"/>
          <p:cNvSpPr txBox="1"/>
          <p:nvPr/>
        </p:nvSpPr>
        <p:spPr>
          <a:xfrm>
            <a:off x="4188318" y="3035808"/>
            <a:ext cx="592165" cy="603504"/>
          </a:xfrm>
          <a:prstGeom prst="rect">
            <a:avLst/>
          </a:prstGeom>
          <a:noFill/>
          <a:ln/>
        </p:spPr>
        <p:txBody>
          <a:bodyPr wrap="square" lIns="0" tIns="0" rIns="0" bIns="0" rtlCol="0" anchor="ctr"/>
          <a:lstStyle/>
          <a:p>
            <a:pPr algn="ctr" indent="0" marL="0">
              <a:buNone/>
            </a:pPr>
            <a:r>
              <a:rPr lang="en-US" sz="2100" dirty="0">
                <a:solidFill>
                  <a:schemeClr val="tx1"/>
                </a:solidFill>
              </a:rPr>
              <a:t>ik</a:t>
            </a:r>
            <a:endParaRPr lang="en-US" sz="2100" dirty="0"/>
          </a:p>
        </p:txBody>
      </p:sp>
      <p:sp>
        <p:nvSpPr>
          <p:cNvPr id="30" name="Shape 27"/>
          <p:cNvSpPr/>
          <p:nvPr/>
        </p:nvSpPr>
        <p:spPr>
          <a:xfrm>
            <a:off x="4871923" y="3035808"/>
            <a:ext cx="1341059" cy="603504"/>
          </a:xfrm>
          <a:prstGeom prst="roundRect">
            <a:avLst>
              <a:gd name="adj" fmla="val 12121"/>
            </a:avLst>
          </a:prstGeom>
          <a:solidFill>
            <a:schemeClr val="bg1"/>
          </a:solidFill>
          <a:ln w="15875">
            <a:solidFill>
              <a:srgbClr val="D5DCE6"/>
            </a:solidFill>
            <a:prstDash val="solid"/>
          </a:ln>
        </p:spPr>
      </p:sp>
      <p:sp>
        <p:nvSpPr>
          <p:cNvPr id="31" name="Text 28"/>
          <p:cNvSpPr txBox="1"/>
          <p:nvPr/>
        </p:nvSpPr>
        <p:spPr>
          <a:xfrm>
            <a:off x="4871923" y="3035808"/>
            <a:ext cx="1341059" cy="603504"/>
          </a:xfrm>
          <a:prstGeom prst="rect">
            <a:avLst/>
          </a:prstGeom>
          <a:noFill/>
          <a:ln/>
        </p:spPr>
        <p:txBody>
          <a:bodyPr wrap="square" lIns="0" tIns="0" rIns="0" bIns="0" rtlCol="0" anchor="ctr"/>
          <a:lstStyle/>
          <a:p>
            <a:pPr algn="ctr" indent="0" marL="0">
              <a:buNone/>
            </a:pPr>
            <a:r>
              <a:rPr lang="en-US" sz="2100" dirty="0">
                <a:solidFill>
                  <a:schemeClr val="tx1"/>
                </a:solidFill>
              </a:rPr>
              <a:t>de trap</a:t>
            </a:r>
            <a:endParaRPr lang="en-US" sz="2100" dirty="0"/>
          </a:p>
        </p:txBody>
      </p:sp>
      <p:sp>
        <p:nvSpPr>
          <p:cNvPr id="32" name="Shape 29"/>
          <p:cNvSpPr/>
          <p:nvPr/>
        </p:nvSpPr>
        <p:spPr>
          <a:xfrm>
            <a:off x="6304422" y="3035808"/>
            <a:ext cx="736377" cy="603504"/>
          </a:xfrm>
          <a:prstGeom prst="roundRect">
            <a:avLst>
              <a:gd name="adj" fmla="val 12121"/>
            </a:avLst>
          </a:prstGeom>
          <a:solidFill>
            <a:schemeClr val="accent1"/>
          </a:solidFill>
          <a:ln w="12700">
            <a:solidFill>
              <a:srgbClr val="FFFFFF">
                <a:alpha val="0"/>
              </a:srgbClr>
            </a:solidFill>
            <a:prstDash val="solid"/>
          </a:ln>
        </p:spPr>
      </p:sp>
      <p:sp>
        <p:nvSpPr>
          <p:cNvPr id="33" name="Text 30"/>
          <p:cNvSpPr txBox="1"/>
          <p:nvPr/>
        </p:nvSpPr>
        <p:spPr>
          <a:xfrm>
            <a:off x="6304422" y="3035808"/>
            <a:ext cx="736377" cy="603504"/>
          </a:xfrm>
          <a:prstGeom prst="rect">
            <a:avLst/>
          </a:prstGeom>
          <a:noFill/>
          <a:ln/>
        </p:spPr>
        <p:txBody>
          <a:bodyPr wrap="square" lIns="0" tIns="0" rIns="0" bIns="0" rtlCol="0" anchor="ctr"/>
          <a:lstStyle/>
          <a:p>
            <a:pPr algn="ctr" indent="0" marL="0">
              <a:buNone/>
            </a:pPr>
            <a:r>
              <a:rPr lang="en-US" sz="2100" b="1" dirty="0">
                <a:solidFill>
                  <a:schemeClr val="bg1"/>
                </a:solidFill>
              </a:rPr>
              <a:t>op</a:t>
            </a:r>
            <a:endParaRPr lang="en-US" sz="2100" dirty="0"/>
          </a:p>
        </p:txBody>
      </p:sp>
      <p:sp>
        <p:nvSpPr>
          <p:cNvPr id="34" name="Shape 31"/>
          <p:cNvSpPr/>
          <p:nvPr/>
        </p:nvSpPr>
        <p:spPr>
          <a:xfrm>
            <a:off x="7132240" y="3035808"/>
            <a:ext cx="1239634" cy="603504"/>
          </a:xfrm>
          <a:prstGeom prst="roundRect">
            <a:avLst>
              <a:gd name="adj" fmla="val 12121"/>
            </a:avLst>
          </a:prstGeom>
          <a:solidFill>
            <a:srgbClr val="FBEDEB"/>
          </a:solidFill>
          <a:ln w="31750">
            <a:solidFill>
              <a:srgbClr val="B83227"/>
            </a:solidFill>
            <a:prstDash val="solid"/>
          </a:ln>
        </p:spPr>
      </p:sp>
      <p:sp>
        <p:nvSpPr>
          <p:cNvPr id="35" name="Text 32"/>
          <p:cNvSpPr txBox="1"/>
          <p:nvPr/>
        </p:nvSpPr>
        <p:spPr>
          <a:xfrm>
            <a:off x="7132240" y="3035808"/>
            <a:ext cx="1239634" cy="603504"/>
          </a:xfrm>
          <a:prstGeom prst="rect">
            <a:avLst/>
          </a:prstGeom>
          <a:noFill/>
          <a:ln/>
        </p:spPr>
        <p:txBody>
          <a:bodyPr wrap="square" lIns="0" tIns="0" rIns="0" bIns="0" rtlCol="0" anchor="ctr"/>
          <a:lstStyle/>
          <a:p>
            <a:pPr algn="ctr" indent="0" marL="0">
              <a:buNone/>
            </a:pPr>
            <a:r>
              <a:rPr lang="en-US" sz="2100" b="1" dirty="0">
                <a:solidFill>
                  <a:schemeClr val="accent6"/>
                </a:solidFill>
              </a:rPr>
              <a:t>loop.</a:t>
            </a:r>
            <a:endParaRPr lang="en-US" sz="2100" dirty="0"/>
          </a:p>
        </p:txBody>
      </p:sp>
      <p:sp>
        <p:nvSpPr>
          <p:cNvPr id="36" name="Text 33"/>
          <p:cNvSpPr txBox="1"/>
          <p:nvPr/>
        </p:nvSpPr>
        <p:spPr>
          <a:xfrm>
            <a:off x="548640" y="3767328"/>
            <a:ext cx="2011680" cy="603504"/>
          </a:xfrm>
          <a:prstGeom prst="rect">
            <a:avLst/>
          </a:prstGeom>
          <a:noFill/>
          <a:ln/>
        </p:spPr>
        <p:txBody>
          <a:bodyPr wrap="square" lIns="0" tIns="0" rIns="0" bIns="0" rtlCol="0" anchor="ctr"/>
          <a:lstStyle/>
          <a:p>
            <a:pPr algn="l" indent="0" marL="0">
              <a:buNone/>
            </a:pPr>
            <a:r>
              <a:rPr lang="en-US" sz="1300" i="1" dirty="0">
                <a:solidFill>
                  <a:schemeClr val="accent5"/>
                </a:solidFill>
              </a:rPr>
              <a:t>impératif (M16)</a:t>
            </a:r>
            <a:endParaRPr lang="en-US" sz="1300" dirty="0"/>
          </a:p>
        </p:txBody>
      </p:sp>
      <p:sp>
        <p:nvSpPr>
          <p:cNvPr id="37" name="Shape 34"/>
          <p:cNvSpPr/>
          <p:nvPr/>
        </p:nvSpPr>
        <p:spPr>
          <a:xfrm>
            <a:off x="2606040" y="3767328"/>
            <a:ext cx="1071882" cy="603504"/>
          </a:xfrm>
          <a:prstGeom prst="roundRect">
            <a:avLst>
              <a:gd name="adj" fmla="val 12121"/>
            </a:avLst>
          </a:prstGeom>
          <a:solidFill>
            <a:srgbClr val="FBEDEB"/>
          </a:solidFill>
          <a:ln w="31750">
            <a:solidFill>
              <a:srgbClr val="B83227"/>
            </a:solidFill>
            <a:prstDash val="solid"/>
          </a:ln>
        </p:spPr>
      </p:sp>
      <p:sp>
        <p:nvSpPr>
          <p:cNvPr id="38" name="Text 35"/>
          <p:cNvSpPr txBox="1"/>
          <p:nvPr/>
        </p:nvSpPr>
        <p:spPr>
          <a:xfrm>
            <a:off x="2606040" y="3767328"/>
            <a:ext cx="1071882" cy="603504"/>
          </a:xfrm>
          <a:prstGeom prst="rect">
            <a:avLst/>
          </a:prstGeom>
          <a:noFill/>
          <a:ln/>
        </p:spPr>
        <p:txBody>
          <a:bodyPr wrap="square" lIns="0" tIns="0" rIns="0" bIns="0" rtlCol="0" anchor="ctr"/>
          <a:lstStyle/>
          <a:p>
            <a:pPr algn="ctr" indent="0" marL="0">
              <a:buNone/>
            </a:pPr>
            <a:r>
              <a:rPr lang="en-US" sz="2100" b="1" dirty="0">
                <a:solidFill>
                  <a:schemeClr val="accent6"/>
                </a:solidFill>
              </a:rPr>
              <a:t>Loop</a:t>
            </a:r>
            <a:endParaRPr lang="en-US" sz="2100" dirty="0"/>
          </a:p>
        </p:txBody>
      </p:sp>
      <p:sp>
        <p:nvSpPr>
          <p:cNvPr id="39" name="Shape 36"/>
          <p:cNvSpPr/>
          <p:nvPr/>
        </p:nvSpPr>
        <p:spPr>
          <a:xfrm>
            <a:off x="3769362" y="3767328"/>
            <a:ext cx="1341059" cy="603504"/>
          </a:xfrm>
          <a:prstGeom prst="roundRect">
            <a:avLst>
              <a:gd name="adj" fmla="val 12121"/>
            </a:avLst>
          </a:prstGeom>
          <a:solidFill>
            <a:schemeClr val="bg1"/>
          </a:solidFill>
          <a:ln w="15875">
            <a:solidFill>
              <a:srgbClr val="D5DCE6"/>
            </a:solidFill>
            <a:prstDash val="solid"/>
          </a:ln>
        </p:spPr>
      </p:sp>
      <p:sp>
        <p:nvSpPr>
          <p:cNvPr id="40" name="Text 37"/>
          <p:cNvSpPr txBox="1"/>
          <p:nvPr/>
        </p:nvSpPr>
        <p:spPr>
          <a:xfrm>
            <a:off x="3769362" y="3767328"/>
            <a:ext cx="1341059" cy="603504"/>
          </a:xfrm>
          <a:prstGeom prst="rect">
            <a:avLst/>
          </a:prstGeom>
          <a:noFill/>
          <a:ln/>
        </p:spPr>
        <p:txBody>
          <a:bodyPr wrap="square" lIns="0" tIns="0" rIns="0" bIns="0" rtlCol="0" anchor="ctr"/>
          <a:lstStyle/>
          <a:p>
            <a:pPr algn="ctr" indent="0" marL="0">
              <a:buNone/>
            </a:pPr>
            <a:r>
              <a:rPr lang="en-US" sz="2100" dirty="0">
                <a:solidFill>
                  <a:schemeClr val="tx1"/>
                </a:solidFill>
              </a:rPr>
              <a:t>de trap</a:t>
            </a:r>
            <a:endParaRPr lang="en-US" sz="2100" dirty="0"/>
          </a:p>
        </p:txBody>
      </p:sp>
      <p:sp>
        <p:nvSpPr>
          <p:cNvPr id="41" name="Shape 38"/>
          <p:cNvSpPr/>
          <p:nvPr/>
        </p:nvSpPr>
        <p:spPr>
          <a:xfrm>
            <a:off x="5201861" y="3767328"/>
            <a:ext cx="904129" cy="603504"/>
          </a:xfrm>
          <a:prstGeom prst="roundRect">
            <a:avLst>
              <a:gd name="adj" fmla="val 12121"/>
            </a:avLst>
          </a:prstGeom>
          <a:solidFill>
            <a:schemeClr val="accent1"/>
          </a:solidFill>
          <a:ln w="12700">
            <a:solidFill>
              <a:srgbClr val="FFFFFF">
                <a:alpha val="0"/>
              </a:srgbClr>
            </a:solidFill>
            <a:prstDash val="solid"/>
          </a:ln>
        </p:spPr>
      </p:sp>
      <p:sp>
        <p:nvSpPr>
          <p:cNvPr id="42" name="Text 39"/>
          <p:cNvSpPr txBox="1"/>
          <p:nvPr/>
        </p:nvSpPr>
        <p:spPr>
          <a:xfrm>
            <a:off x="5201861" y="3767328"/>
            <a:ext cx="904129" cy="603504"/>
          </a:xfrm>
          <a:prstGeom prst="rect">
            <a:avLst/>
          </a:prstGeom>
          <a:noFill/>
          <a:ln/>
        </p:spPr>
        <p:txBody>
          <a:bodyPr wrap="square" lIns="0" tIns="0" rIns="0" bIns="0" rtlCol="0" anchor="ctr"/>
          <a:lstStyle/>
          <a:p>
            <a:pPr algn="ctr" indent="0" marL="0">
              <a:buNone/>
            </a:pPr>
            <a:r>
              <a:rPr lang="en-US" sz="2100" b="1" dirty="0">
                <a:solidFill>
                  <a:schemeClr val="bg1"/>
                </a:solidFill>
              </a:rPr>
              <a:t>op!</a:t>
            </a:r>
            <a:endParaRPr lang="en-US" sz="2100" dirty="0"/>
          </a:p>
        </p:txBody>
      </p:sp>
      <p:sp>
        <p:nvSpPr>
          <p:cNvPr id="43" name="Text 40"/>
          <p:cNvSpPr txBox="1"/>
          <p:nvPr/>
        </p:nvSpPr>
        <p:spPr>
          <a:xfrm>
            <a:off x="548640" y="4498848"/>
            <a:ext cx="2011680" cy="603504"/>
          </a:xfrm>
          <a:prstGeom prst="rect">
            <a:avLst/>
          </a:prstGeom>
          <a:noFill/>
          <a:ln/>
        </p:spPr>
        <p:txBody>
          <a:bodyPr wrap="square" lIns="0" tIns="0" rIns="0" bIns="0" rtlCol="0" anchor="ctr"/>
          <a:lstStyle/>
          <a:p>
            <a:pPr algn="l" indent="0" marL="0">
              <a:buNone/>
            </a:pPr>
            <a:r>
              <a:rPr lang="en-US" sz="1300" i="1" dirty="0">
                <a:solidFill>
                  <a:schemeClr val="accent5"/>
                </a:solidFill>
              </a:rPr>
              <a:t>passé composé (M15)</a:t>
            </a:r>
            <a:endParaRPr lang="en-US" sz="1300" dirty="0"/>
          </a:p>
        </p:txBody>
      </p:sp>
      <p:sp>
        <p:nvSpPr>
          <p:cNvPr id="44" name="Shape 41"/>
          <p:cNvSpPr/>
          <p:nvPr/>
        </p:nvSpPr>
        <p:spPr>
          <a:xfrm>
            <a:off x="2606040" y="4498848"/>
            <a:ext cx="592165" cy="603504"/>
          </a:xfrm>
          <a:prstGeom prst="roundRect">
            <a:avLst>
              <a:gd name="adj" fmla="val 12353"/>
            </a:avLst>
          </a:prstGeom>
          <a:solidFill>
            <a:schemeClr val="bg1"/>
          </a:solidFill>
          <a:ln w="15875">
            <a:solidFill>
              <a:srgbClr val="D5DCE6"/>
            </a:solidFill>
            <a:prstDash val="solid"/>
          </a:ln>
        </p:spPr>
      </p:sp>
      <p:sp>
        <p:nvSpPr>
          <p:cNvPr id="45" name="Text 42"/>
          <p:cNvSpPr txBox="1"/>
          <p:nvPr/>
        </p:nvSpPr>
        <p:spPr>
          <a:xfrm>
            <a:off x="2606040" y="4498848"/>
            <a:ext cx="592165" cy="603504"/>
          </a:xfrm>
          <a:prstGeom prst="rect">
            <a:avLst/>
          </a:prstGeom>
          <a:noFill/>
          <a:ln/>
        </p:spPr>
        <p:txBody>
          <a:bodyPr wrap="square" lIns="0" tIns="0" rIns="0" bIns="0" rtlCol="0" anchor="ctr"/>
          <a:lstStyle/>
          <a:p>
            <a:pPr algn="ctr" indent="0" marL="0">
              <a:buNone/>
            </a:pPr>
            <a:r>
              <a:rPr lang="en-US" sz="2100" dirty="0">
                <a:solidFill>
                  <a:schemeClr val="tx1"/>
                </a:solidFill>
              </a:rPr>
              <a:t>Ik</a:t>
            </a:r>
            <a:endParaRPr lang="en-US" sz="2100" dirty="0"/>
          </a:p>
        </p:txBody>
      </p:sp>
      <p:sp>
        <p:nvSpPr>
          <p:cNvPr id="46" name="Shape 43"/>
          <p:cNvSpPr/>
          <p:nvPr/>
        </p:nvSpPr>
        <p:spPr>
          <a:xfrm>
            <a:off x="3289645" y="4498848"/>
            <a:ext cx="904129" cy="603504"/>
          </a:xfrm>
          <a:prstGeom prst="roundRect">
            <a:avLst>
              <a:gd name="adj" fmla="val 12121"/>
            </a:avLst>
          </a:prstGeom>
          <a:solidFill>
            <a:srgbClr val="FBEDEB"/>
          </a:solidFill>
          <a:ln w="31750">
            <a:solidFill>
              <a:srgbClr val="B83227"/>
            </a:solidFill>
            <a:prstDash val="solid"/>
          </a:ln>
        </p:spPr>
      </p:sp>
      <p:sp>
        <p:nvSpPr>
          <p:cNvPr id="47" name="Text 44"/>
          <p:cNvSpPr txBox="1"/>
          <p:nvPr/>
        </p:nvSpPr>
        <p:spPr>
          <a:xfrm>
            <a:off x="3289645" y="4498848"/>
            <a:ext cx="904129" cy="603504"/>
          </a:xfrm>
          <a:prstGeom prst="rect">
            <a:avLst/>
          </a:prstGeom>
          <a:noFill/>
          <a:ln/>
        </p:spPr>
        <p:txBody>
          <a:bodyPr wrap="square" lIns="0" tIns="0" rIns="0" bIns="0" rtlCol="0" anchor="ctr"/>
          <a:lstStyle/>
          <a:p>
            <a:pPr algn="ctr" indent="0" marL="0">
              <a:buNone/>
            </a:pPr>
            <a:r>
              <a:rPr lang="en-US" sz="2100" b="1" dirty="0">
                <a:solidFill>
                  <a:schemeClr val="accent6"/>
                </a:solidFill>
              </a:rPr>
              <a:t>ben</a:t>
            </a:r>
            <a:endParaRPr lang="en-US" sz="2100" dirty="0"/>
          </a:p>
        </p:txBody>
      </p:sp>
      <p:sp>
        <p:nvSpPr>
          <p:cNvPr id="48" name="Shape 45"/>
          <p:cNvSpPr/>
          <p:nvPr/>
        </p:nvSpPr>
        <p:spPr>
          <a:xfrm>
            <a:off x="4285215" y="4498848"/>
            <a:ext cx="1341059" cy="603504"/>
          </a:xfrm>
          <a:prstGeom prst="roundRect">
            <a:avLst>
              <a:gd name="adj" fmla="val 12121"/>
            </a:avLst>
          </a:prstGeom>
          <a:solidFill>
            <a:schemeClr val="bg1"/>
          </a:solidFill>
          <a:ln w="15875">
            <a:solidFill>
              <a:srgbClr val="D5DCE6"/>
            </a:solidFill>
            <a:prstDash val="solid"/>
          </a:ln>
        </p:spPr>
      </p:sp>
      <p:sp>
        <p:nvSpPr>
          <p:cNvPr id="49" name="Text 46"/>
          <p:cNvSpPr txBox="1"/>
          <p:nvPr/>
        </p:nvSpPr>
        <p:spPr>
          <a:xfrm>
            <a:off x="4285215" y="4498848"/>
            <a:ext cx="1341059" cy="603504"/>
          </a:xfrm>
          <a:prstGeom prst="rect">
            <a:avLst/>
          </a:prstGeom>
          <a:noFill/>
          <a:ln/>
        </p:spPr>
        <p:txBody>
          <a:bodyPr wrap="square" lIns="0" tIns="0" rIns="0" bIns="0" rtlCol="0" anchor="ctr"/>
          <a:lstStyle/>
          <a:p>
            <a:pPr algn="ctr" indent="0" marL="0">
              <a:buNone/>
            </a:pPr>
            <a:r>
              <a:rPr lang="en-US" sz="2100" dirty="0">
                <a:solidFill>
                  <a:schemeClr val="tx1"/>
                </a:solidFill>
              </a:rPr>
              <a:t>de trap</a:t>
            </a:r>
            <a:endParaRPr lang="en-US" sz="2100" dirty="0"/>
          </a:p>
        </p:txBody>
      </p:sp>
      <p:sp>
        <p:nvSpPr>
          <p:cNvPr id="50" name="Shape 47"/>
          <p:cNvSpPr/>
          <p:nvPr/>
        </p:nvSpPr>
        <p:spPr>
          <a:xfrm>
            <a:off x="5717714" y="4498848"/>
            <a:ext cx="736377" cy="603504"/>
          </a:xfrm>
          <a:prstGeom prst="roundRect">
            <a:avLst>
              <a:gd name="adj" fmla="val 12121"/>
            </a:avLst>
          </a:prstGeom>
          <a:solidFill>
            <a:schemeClr val="accent1"/>
          </a:solidFill>
          <a:ln w="12700">
            <a:solidFill>
              <a:srgbClr val="FFFFFF">
                <a:alpha val="0"/>
              </a:srgbClr>
            </a:solidFill>
            <a:prstDash val="solid"/>
          </a:ln>
        </p:spPr>
      </p:sp>
      <p:sp>
        <p:nvSpPr>
          <p:cNvPr id="51" name="Text 48"/>
          <p:cNvSpPr txBox="1"/>
          <p:nvPr/>
        </p:nvSpPr>
        <p:spPr>
          <a:xfrm>
            <a:off x="5717714" y="4498848"/>
            <a:ext cx="736377" cy="603504"/>
          </a:xfrm>
          <a:prstGeom prst="rect">
            <a:avLst/>
          </a:prstGeom>
          <a:noFill/>
          <a:ln/>
        </p:spPr>
        <p:txBody>
          <a:bodyPr wrap="square" lIns="0" tIns="0" rIns="0" bIns="0" rtlCol="0" anchor="ctr"/>
          <a:lstStyle/>
          <a:p>
            <a:pPr algn="ctr" indent="0" marL="0">
              <a:buNone/>
            </a:pPr>
            <a:r>
              <a:rPr lang="en-US" sz="2100" b="1" dirty="0">
                <a:solidFill>
                  <a:schemeClr val="bg1"/>
                </a:solidFill>
              </a:rPr>
              <a:t>op</a:t>
            </a:r>
            <a:endParaRPr lang="en-US" sz="2100" dirty="0"/>
          </a:p>
        </p:txBody>
      </p:sp>
      <p:sp>
        <p:nvSpPr>
          <p:cNvPr id="52" name="Shape 49"/>
          <p:cNvSpPr/>
          <p:nvPr/>
        </p:nvSpPr>
        <p:spPr>
          <a:xfrm>
            <a:off x="6545531" y="4498848"/>
            <a:ext cx="1742890" cy="603504"/>
          </a:xfrm>
          <a:prstGeom prst="roundRect">
            <a:avLst>
              <a:gd name="adj" fmla="val 12121"/>
            </a:avLst>
          </a:prstGeom>
          <a:solidFill>
            <a:srgbClr val="FFFFFF"/>
          </a:solidFill>
          <a:ln w="25400">
            <a:solidFill>
              <a:srgbClr val="B83227"/>
            </a:solidFill>
            <a:prstDash val="dash"/>
          </a:ln>
        </p:spPr>
      </p:sp>
      <p:sp>
        <p:nvSpPr>
          <p:cNvPr id="53" name="Text 50"/>
          <p:cNvSpPr txBox="1"/>
          <p:nvPr/>
        </p:nvSpPr>
        <p:spPr>
          <a:xfrm>
            <a:off x="6545531" y="4498848"/>
            <a:ext cx="1742890" cy="603504"/>
          </a:xfrm>
          <a:prstGeom prst="rect">
            <a:avLst/>
          </a:prstGeom>
          <a:noFill/>
          <a:ln/>
        </p:spPr>
        <p:txBody>
          <a:bodyPr wrap="square" lIns="0" tIns="0" rIns="0" bIns="0" rtlCol="0" anchor="ctr"/>
          <a:lstStyle/>
          <a:p>
            <a:pPr algn="ctr" indent="0" marL="0">
              <a:buNone/>
            </a:pPr>
            <a:r>
              <a:rPr lang="en-US" sz="2100" b="1" dirty="0">
                <a:solidFill>
                  <a:schemeClr val="accent6"/>
                </a:solidFill>
              </a:rPr>
              <a:t>gelopen.</a:t>
            </a:r>
            <a:endParaRPr lang="en-US" sz="2100" dirty="0"/>
          </a:p>
        </p:txBody>
      </p:sp>
      <p:sp>
        <p:nvSpPr>
          <p:cNvPr id="54" name="Shape 51"/>
          <p:cNvSpPr/>
          <p:nvPr/>
        </p:nvSpPr>
        <p:spPr>
          <a:xfrm>
            <a:off x="8503920" y="1572768"/>
            <a:ext cx="3136392" cy="3566160"/>
          </a:xfrm>
          <a:prstGeom prst="roundRect">
            <a:avLst>
              <a:gd name="adj" fmla="val 2915"/>
            </a:avLst>
          </a:prstGeom>
          <a:solidFill>
            <a:srgbClr val="FDF1E6"/>
          </a:solidFill>
          <a:ln w="19050">
            <a:solidFill>
              <a:srgbClr val="D9700F"/>
            </a:solidFill>
            <a:prstDash val="solid"/>
          </a:ln>
        </p:spPr>
      </p:sp>
      <p:sp>
        <p:nvSpPr>
          <p:cNvPr id="55" name="Text 52"/>
          <p:cNvSpPr txBox="1"/>
          <p:nvPr/>
        </p:nvSpPr>
        <p:spPr>
          <a:xfrm>
            <a:off x="8641080" y="1664208"/>
            <a:ext cx="2880360" cy="3383280"/>
          </a:xfrm>
          <a:prstGeom prst="rect">
            <a:avLst/>
          </a:prstGeom>
          <a:noFill/>
          <a:ln/>
        </p:spPr>
        <p:txBody>
          <a:bodyPr wrap="square" lIns="0" tIns="0" rIns="0" bIns="0" rtlCol="0" anchor="ctr"/>
          <a:lstStyle/>
          <a:p>
            <a:pPr algn="l" indent="0" marL="0">
              <a:spcAft>
                <a:spcPts val="400"/>
              </a:spcAft>
              <a:buNone/>
            </a:pPr>
            <a:r>
              <a:rPr lang="en-US" sz="1500" b="1" dirty="0">
                <a:solidFill>
                  <a:schemeClr val="tx1"/>
                </a:solidFill>
              </a:rPr>
              <a:t>Comme la particule</a:t>
            </a:r>
            <a:r>
              <a:rPr lang="en-US" sz="1500" dirty="0">
                <a:solidFill>
                  <a:schemeClr val="tx1"/>
                </a:solidFill>
              </a:rPr>
              <a:t> (M11)</a:t>
            </a:r>
            <a:endParaRPr lang="en-US" sz="1500" dirty="0"/>
          </a:p>
          <a:p>
            <a:pPr algn="l" indent="0" marL="0">
              <a:spcAft>
                <a:spcPts val="400"/>
              </a:spcAft>
              <a:buNone/>
            </a:pPr>
            <a:r>
              <a:rPr lang="en-US" sz="1500" i="1" dirty="0">
                <a:solidFill>
                  <a:schemeClr val="tx1"/>
                </a:solidFill>
              </a:rPr>
              <a:t>Ik bel je </a:t>
            </a:r>
            <a:r>
              <a:rPr lang="en-US" sz="1500" b="1" i="1" dirty="0">
                <a:solidFill>
                  <a:schemeClr val="tx1"/>
                </a:solidFill>
              </a:rPr>
              <a:t>op</a:t>
            </a:r>
            <a:r>
              <a:rPr lang="en-US" sz="1500" i="1" dirty="0">
                <a:solidFill>
                  <a:schemeClr val="tx1"/>
                </a:solidFill>
              </a:rPr>
              <a:t>.</a:t>
            </a:r>
            <a:endParaRPr lang="en-US" sz="1500" dirty="0"/>
          </a:p>
          <a:p>
            <a:pPr algn="l" indent="0" marL="0">
              <a:spcAft>
                <a:spcPts val="400"/>
              </a:spcAft>
              <a:buNone/>
            </a:pPr>
            <a:r>
              <a:rPr lang="en-US" sz="1500" i="1" dirty="0">
                <a:solidFill>
                  <a:schemeClr val="tx1"/>
                </a:solidFill>
              </a:rPr>
              <a:t>Ik loop de trap </a:t>
            </a:r>
            <a:r>
              <a:rPr lang="en-US" sz="1500" b="1" i="1" dirty="0">
                <a:solidFill>
                  <a:schemeClr val="tx1"/>
                </a:solidFill>
              </a:rPr>
              <a:t>op</a:t>
            </a:r>
            <a:r>
              <a:rPr lang="en-US" sz="1500" i="1" dirty="0">
                <a:solidFill>
                  <a:schemeClr val="tx1"/>
                </a:solidFill>
              </a:rPr>
              <a:t>.</a:t>
            </a:r>
            <a:endParaRPr lang="en-US" sz="1500" dirty="0"/>
          </a:p>
          <a:p>
            <a:pPr algn="l" indent="0" marL="0">
              <a:spcAft>
                <a:spcPts val="400"/>
              </a:spcAft>
              <a:buNone/>
            </a:pPr>
            <a:endParaRPr lang="en-US" sz="1500" dirty="0"/>
          </a:p>
          <a:p>
            <a:pPr algn="l" indent="0" marL="0">
              <a:spcAft>
                <a:spcPts val="400"/>
              </a:spcAft>
              <a:buNone/>
            </a:pPr>
            <a:r>
              <a:rPr lang="en-US" sz="1500" dirty="0">
                <a:solidFill>
                  <a:schemeClr val="tx1"/>
                </a:solidFill>
              </a:rPr>
              <a:t>Quand les deux mots se touchent :</a:t>
            </a:r>
            <a:endParaRPr lang="en-US" sz="1500" dirty="0"/>
          </a:p>
          <a:p>
            <a:pPr algn="l" indent="0" marL="0">
              <a:spcAft>
                <a:spcPts val="400"/>
              </a:spcAft>
              <a:buNone/>
            </a:pPr>
            <a:r>
              <a:rPr lang="en-US" sz="1500" i="1" dirty="0">
                <a:solidFill>
                  <a:schemeClr val="tx1"/>
                </a:solidFill>
              </a:rPr>
              <a:t>op lopen</a:t>
            </a:r>
            <a:r>
              <a:rPr lang="en-US" sz="1500" dirty="0">
                <a:solidFill>
                  <a:schemeClr val="tx1"/>
                </a:solidFill>
              </a:rPr>
              <a:t> ou </a:t>
            </a:r>
            <a:r>
              <a:rPr lang="en-US" sz="1500" i="1" dirty="0">
                <a:solidFill>
                  <a:schemeClr val="tx1"/>
                </a:solidFill>
              </a:rPr>
              <a:t>oplopen</a:t>
            </a:r>
            <a:r>
              <a:rPr lang="en-US" sz="1500" dirty="0">
                <a:solidFill>
                  <a:schemeClr val="tx1"/>
                </a:solidFill>
              </a:rPr>
              <a:t> : les deux écritures sont admises.</a:t>
            </a:r>
            <a:endParaRPr lang="en-US" sz="1500" dirty="0"/>
          </a:p>
        </p:txBody>
      </p:sp>
      <p:sp>
        <p:nvSpPr>
          <p:cNvPr id="56" name="Shape 53"/>
          <p:cNvSpPr/>
          <p:nvPr/>
        </p:nvSpPr>
        <p:spPr>
          <a:xfrm>
            <a:off x="548640" y="5486400"/>
            <a:ext cx="11091672" cy="658368"/>
          </a:xfrm>
          <a:prstGeom prst="roundRect">
            <a:avLst>
              <a:gd name="adj" fmla="val 11111"/>
            </a:avLst>
          </a:prstGeom>
          <a:solidFill>
            <a:schemeClr val="tx2"/>
          </a:solidFill>
          <a:ln w="12700">
            <a:solidFill>
              <a:srgbClr val="FFFFFF">
                <a:alpha val="0"/>
              </a:srgbClr>
            </a:solidFill>
            <a:prstDash val="solid"/>
          </a:ln>
        </p:spPr>
      </p:sp>
      <p:sp>
        <p:nvSpPr>
          <p:cNvPr id="57" name="Text 54"/>
          <p:cNvSpPr txBox="1"/>
          <p:nvPr/>
        </p:nvSpPr>
        <p:spPr>
          <a:xfrm>
            <a:off x="822960" y="5486400"/>
            <a:ext cx="10607040" cy="658368"/>
          </a:xfrm>
          <a:prstGeom prst="rect">
            <a:avLst/>
          </a:prstGeom>
          <a:noFill/>
          <a:ln/>
        </p:spPr>
        <p:txBody>
          <a:bodyPr wrap="square" lIns="0" tIns="0" rIns="0" bIns="0" rtlCol="0" anchor="ctr"/>
          <a:lstStyle/>
          <a:p>
            <a:pPr algn="l" indent="0" marL="0">
              <a:buNone/>
            </a:pPr>
            <a:r>
              <a:rPr lang="en-US" sz="1800" dirty="0">
                <a:solidFill>
                  <a:schemeClr val="bg1"/>
                </a:solidFill>
              </a:rPr>
              <a:t>L’</a:t>
            </a:r>
            <a:r>
              <a:rPr lang="en-US" sz="1800" i="1" dirty="0">
                <a:solidFill>
                  <a:schemeClr val="bg1"/>
                </a:solidFill>
              </a:rPr>
              <a:t>achterzetsel</a:t>
            </a:r>
            <a:r>
              <a:rPr lang="en-US" sz="1800" dirty="0">
                <a:solidFill>
                  <a:schemeClr val="bg1"/>
                </a:solidFill>
              </a:rPr>
              <a:t> va </a:t>
            </a:r>
            <a:r>
              <a:rPr lang="en-US" sz="1800" b="1" dirty="0">
                <a:solidFill>
                  <a:schemeClr val="bg1"/>
                </a:solidFill>
              </a:rPr>
              <a:t>au bout</a:t>
            </a:r>
            <a:r>
              <a:rPr lang="en-US" sz="1800" dirty="0">
                <a:solidFill>
                  <a:schemeClr val="bg1"/>
                </a:solidFill>
              </a:rPr>
              <a:t>, juste avant le ou les verbes de la fin.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hebben ou zijn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13248" cy="3611880"/>
          </a:xfrm>
          <a:prstGeom prst="roundRect">
            <a:avLst>
              <a:gd name="adj" fmla="val 2532"/>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13248" cy="566928"/>
          </a:xfrm>
          <a:prstGeom prst="roundRect">
            <a:avLst>
              <a:gd name="adj" fmla="val 16129"/>
            </a:avLst>
          </a:prstGeom>
          <a:solidFill>
            <a:schemeClr val="accent2"/>
          </a:solidFill>
          <a:ln w="12700">
            <a:solidFill>
              <a:srgbClr val="FFFFFF">
                <a:alpha val="0"/>
              </a:srgbClr>
            </a:solidFill>
            <a:prstDash val="solid"/>
          </a:ln>
        </p:spPr>
      </p:sp>
      <p:sp>
        <p:nvSpPr>
          <p:cNvPr id="7" name="Text 4"/>
          <p:cNvSpPr txBox="1"/>
          <p:nvPr/>
        </p:nvSpPr>
        <p:spPr>
          <a:xfrm>
            <a:off x="731520" y="1554480"/>
            <a:ext cx="5047488" cy="566928"/>
          </a:xfrm>
          <a:prstGeom prst="rect">
            <a:avLst/>
          </a:prstGeom>
          <a:noFill/>
          <a:ln/>
        </p:spPr>
        <p:txBody>
          <a:bodyPr wrap="square" lIns="0" tIns="0" rIns="0" bIns="0" rtlCol="0" anchor="ctr"/>
          <a:lstStyle/>
          <a:p>
            <a:pPr algn="l" indent="0" marL="0">
              <a:buNone/>
            </a:pPr>
            <a:r>
              <a:rPr lang="en-US" sz="1700" b="1" dirty="0">
                <a:solidFill>
                  <a:schemeClr val="bg1"/>
                </a:solidFill>
              </a:rPr>
              <a:t>HEBBEN</a:t>
            </a:r>
            <a:r>
              <a:rPr lang="en-US" sz="1700" dirty="0">
                <a:solidFill>
                  <a:schemeClr val="bg1"/>
                </a:solidFill>
              </a:rPr>
              <a:t> · activité sur place</a:t>
            </a:r>
            <a:endParaRPr lang="en-US" sz="1700" dirty="0"/>
          </a:p>
        </p:txBody>
      </p:sp>
      <p:sp>
        <p:nvSpPr>
          <p:cNvPr id="8" name="Shape 5"/>
          <p:cNvSpPr/>
          <p:nvPr/>
        </p:nvSpPr>
        <p:spPr>
          <a:xfrm>
            <a:off x="5413248" y="1719072"/>
            <a:ext cx="237744" cy="237744"/>
          </a:xfrm>
          <a:prstGeom prst="ellipse">
            <a:avLst/>
          </a:prstGeom>
          <a:solidFill>
            <a:srgbClr val="FFFFFF"/>
          </a:solidFill>
          <a:ln w="12700">
            <a:solidFill>
              <a:srgbClr val="FFFFFF">
                <a:alpha val="0"/>
              </a:srgbClr>
            </a:solidFill>
            <a:prstDash val="solid"/>
          </a:ln>
        </p:spPr>
      </p:sp>
      <p:sp>
        <p:nvSpPr>
          <p:cNvPr id="9" name="Text 6"/>
          <p:cNvSpPr txBox="1"/>
          <p:nvPr/>
        </p:nvSpPr>
        <p:spPr>
          <a:xfrm>
            <a:off x="777240" y="2286000"/>
            <a:ext cx="4956048" cy="822960"/>
          </a:xfrm>
          <a:prstGeom prst="rect">
            <a:avLst/>
          </a:prstGeom>
          <a:noFill/>
          <a:ln/>
        </p:spPr>
        <p:txBody>
          <a:bodyPr wrap="square" lIns="0" tIns="0" rIns="0" bIns="0" rtlCol="0" anchor="ctr"/>
          <a:lstStyle/>
          <a:p>
            <a:pPr algn="l" indent="0" marL="0">
              <a:spcAft>
                <a:spcPts val="100"/>
              </a:spcAft>
              <a:buNone/>
            </a:pPr>
            <a:r>
              <a:rPr lang="en-US" sz="1800" i="1" dirty="0">
                <a:solidFill>
                  <a:schemeClr val="tx1"/>
                </a:solidFill>
              </a:rPr>
              <a:t>Ik </a:t>
            </a:r>
            <a:r>
              <a:rPr lang="en-US" sz="1800" b="1" i="1" dirty="0">
                <a:solidFill>
                  <a:schemeClr val="tx1"/>
                </a:solidFill>
              </a:rPr>
              <a:t>heb</a:t>
            </a:r>
            <a:r>
              <a:rPr lang="en-US" sz="1800" i="1" dirty="0">
                <a:solidFill>
                  <a:schemeClr val="tx1"/>
                </a:solidFill>
              </a:rPr>
              <a:t> in het park gelopen.</a:t>
            </a:r>
            <a:endParaRPr lang="en-US" sz="1800" dirty="0"/>
          </a:p>
          <a:p>
            <a:pPr algn="l" indent="0" marL="0">
              <a:spcAft>
                <a:spcPts val="100"/>
              </a:spcAft>
              <a:buNone/>
            </a:pPr>
            <a:r>
              <a:rPr lang="en-US" sz="1800" dirty="0">
                <a:solidFill>
                  <a:schemeClr val="tx1"/>
                </a:solidFill>
              </a:rPr>
              <a:t>j’ai marché dans le parc</a:t>
            </a:r>
            <a:endParaRPr lang="en-US" sz="1800" dirty="0"/>
          </a:p>
        </p:txBody>
      </p:sp>
      <p:sp>
        <p:nvSpPr>
          <p:cNvPr id="10" name="Text 7"/>
          <p:cNvSpPr txBox="1"/>
          <p:nvPr/>
        </p:nvSpPr>
        <p:spPr>
          <a:xfrm>
            <a:off x="777240" y="3200400"/>
            <a:ext cx="4956048" cy="822960"/>
          </a:xfrm>
          <a:prstGeom prst="rect">
            <a:avLst/>
          </a:prstGeom>
          <a:noFill/>
          <a:ln/>
        </p:spPr>
        <p:txBody>
          <a:bodyPr wrap="square" lIns="0" tIns="0" rIns="0" bIns="0" rtlCol="0" anchor="ctr"/>
          <a:lstStyle/>
          <a:p>
            <a:pPr algn="l" indent="0" marL="0">
              <a:spcAft>
                <a:spcPts val="100"/>
              </a:spcAft>
              <a:buNone/>
            </a:pPr>
            <a:r>
              <a:rPr lang="en-US" sz="1800" i="1" dirty="0">
                <a:solidFill>
                  <a:schemeClr val="tx1"/>
                </a:solidFill>
              </a:rPr>
              <a:t>We </a:t>
            </a:r>
            <a:r>
              <a:rPr lang="en-US" sz="1800" b="1" i="1" dirty="0">
                <a:solidFill>
                  <a:schemeClr val="tx1"/>
                </a:solidFill>
              </a:rPr>
              <a:t>hebben</a:t>
            </a:r>
            <a:r>
              <a:rPr lang="en-US" sz="1800" i="1" dirty="0">
                <a:solidFill>
                  <a:schemeClr val="tx1"/>
                </a:solidFill>
              </a:rPr>
              <a:t> op de dijk gefietst.</a:t>
            </a:r>
            <a:endParaRPr lang="en-US" sz="1800" dirty="0"/>
          </a:p>
          <a:p>
            <a:pPr algn="l" indent="0" marL="0">
              <a:spcAft>
                <a:spcPts val="100"/>
              </a:spcAft>
              <a:buNone/>
            </a:pPr>
            <a:r>
              <a:rPr lang="en-US" sz="1800" dirty="0">
                <a:solidFill>
                  <a:schemeClr val="tx1"/>
                </a:solidFill>
              </a:rPr>
              <a:t>nous avons roulé sur la digue</a:t>
            </a:r>
            <a:endParaRPr lang="en-US" sz="1800" dirty="0"/>
          </a:p>
        </p:txBody>
      </p:sp>
      <p:sp>
        <p:nvSpPr>
          <p:cNvPr id="11" name="Text 8"/>
          <p:cNvSpPr txBox="1"/>
          <p:nvPr/>
        </p:nvSpPr>
        <p:spPr>
          <a:xfrm>
            <a:off x="777240" y="4114800"/>
            <a:ext cx="4956048" cy="822960"/>
          </a:xfrm>
          <a:prstGeom prst="rect">
            <a:avLst/>
          </a:prstGeom>
          <a:noFill/>
          <a:ln/>
        </p:spPr>
        <p:txBody>
          <a:bodyPr wrap="square" lIns="0" tIns="0" rIns="0" bIns="0" rtlCol="0" anchor="ctr"/>
          <a:lstStyle/>
          <a:p>
            <a:pPr algn="l" indent="0" marL="0">
              <a:spcAft>
                <a:spcPts val="100"/>
              </a:spcAft>
              <a:buNone/>
            </a:pPr>
            <a:r>
              <a:rPr lang="en-US" sz="1800" i="1" dirty="0">
                <a:solidFill>
                  <a:schemeClr val="tx1"/>
                </a:solidFill>
              </a:rPr>
              <a:t>Ze </a:t>
            </a:r>
            <a:r>
              <a:rPr lang="en-US" sz="1800" b="1" i="1" dirty="0">
                <a:solidFill>
                  <a:schemeClr val="tx1"/>
                </a:solidFill>
              </a:rPr>
              <a:t>heeft</a:t>
            </a:r>
            <a:r>
              <a:rPr lang="en-US" sz="1800" i="1" dirty="0">
                <a:solidFill>
                  <a:schemeClr val="tx1"/>
                </a:solidFill>
              </a:rPr>
              <a:t> in de zee gezwommen.</a:t>
            </a:r>
            <a:endParaRPr lang="en-US" sz="1800" dirty="0"/>
          </a:p>
          <a:p>
            <a:pPr algn="l" indent="0" marL="0">
              <a:spcAft>
                <a:spcPts val="100"/>
              </a:spcAft>
              <a:buNone/>
            </a:pPr>
            <a:r>
              <a:rPr lang="en-US" sz="1800" dirty="0">
                <a:solidFill>
                  <a:schemeClr val="tx1"/>
                </a:solidFill>
              </a:rPr>
              <a:t>elle a nagé dans la mer</a:t>
            </a:r>
            <a:endParaRPr lang="en-US" sz="1800" dirty="0"/>
          </a:p>
        </p:txBody>
      </p:sp>
      <p:sp>
        <p:nvSpPr>
          <p:cNvPr id="12" name="Shape 9"/>
          <p:cNvSpPr/>
          <p:nvPr/>
        </p:nvSpPr>
        <p:spPr>
          <a:xfrm>
            <a:off x="6227064" y="1554480"/>
            <a:ext cx="5413248" cy="3611880"/>
          </a:xfrm>
          <a:prstGeom prst="roundRect">
            <a:avLst>
              <a:gd name="adj" fmla="val 2532"/>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6227064" y="1554480"/>
            <a:ext cx="5413248" cy="566928"/>
          </a:xfrm>
          <a:prstGeom prst="roundRect">
            <a:avLst>
              <a:gd name="adj" fmla="val 16129"/>
            </a:avLst>
          </a:prstGeom>
          <a:solidFill>
            <a:schemeClr val="accent1"/>
          </a:solidFill>
          <a:ln w="12700">
            <a:solidFill>
              <a:srgbClr val="FFFFFF">
                <a:alpha val="0"/>
              </a:srgbClr>
            </a:solidFill>
            <a:prstDash val="solid"/>
          </a:ln>
        </p:spPr>
      </p:sp>
      <p:sp>
        <p:nvSpPr>
          <p:cNvPr id="14" name="Text 11"/>
          <p:cNvSpPr txBox="1"/>
          <p:nvPr/>
        </p:nvSpPr>
        <p:spPr>
          <a:xfrm>
            <a:off x="6409944" y="1554480"/>
            <a:ext cx="5047488" cy="566928"/>
          </a:xfrm>
          <a:prstGeom prst="rect">
            <a:avLst/>
          </a:prstGeom>
          <a:noFill/>
          <a:ln/>
        </p:spPr>
        <p:txBody>
          <a:bodyPr wrap="square" lIns="0" tIns="0" rIns="0" bIns="0" rtlCol="0" anchor="ctr"/>
          <a:lstStyle/>
          <a:p>
            <a:pPr algn="l" indent="0" marL="0">
              <a:buNone/>
            </a:pPr>
            <a:r>
              <a:rPr lang="en-US" sz="1700" b="1" dirty="0">
                <a:solidFill>
                  <a:schemeClr val="bg1"/>
                </a:solidFill>
              </a:rPr>
              <a:t>ZIJN</a:t>
            </a:r>
            <a:r>
              <a:rPr lang="en-US" sz="1700" dirty="0">
                <a:solidFill>
                  <a:schemeClr val="bg1"/>
                </a:solidFill>
              </a:rPr>
              <a:t> · déplacement vers un but</a:t>
            </a:r>
            <a:endParaRPr lang="en-US" sz="1700" dirty="0"/>
          </a:p>
        </p:txBody>
      </p:sp>
      <p:sp>
        <p:nvSpPr>
          <p:cNvPr id="15" name="Shape 12"/>
          <p:cNvSpPr/>
          <p:nvPr/>
        </p:nvSpPr>
        <p:spPr>
          <a:xfrm>
            <a:off x="10863072" y="1837944"/>
            <a:ext cx="502920" cy="914"/>
          </a:xfrm>
          <a:prstGeom prst="line">
            <a:avLst/>
          </a:prstGeom>
          <a:noFill/>
          <a:ln w="44450">
            <a:solidFill>
              <a:srgbClr val="FFFFFF"/>
            </a:solidFill>
            <a:prstDash val="solid"/>
            <a:tailEnd type="triangle"/>
          </a:ln>
        </p:spPr>
      </p:sp>
      <p:sp>
        <p:nvSpPr>
          <p:cNvPr id="16" name="Text 13"/>
          <p:cNvSpPr txBox="1"/>
          <p:nvPr/>
        </p:nvSpPr>
        <p:spPr>
          <a:xfrm>
            <a:off x="6455664" y="2286000"/>
            <a:ext cx="4956048" cy="822960"/>
          </a:xfrm>
          <a:prstGeom prst="rect">
            <a:avLst/>
          </a:prstGeom>
          <a:noFill/>
          <a:ln/>
        </p:spPr>
        <p:txBody>
          <a:bodyPr wrap="square" lIns="0" tIns="0" rIns="0" bIns="0" rtlCol="0" anchor="ctr"/>
          <a:lstStyle/>
          <a:p>
            <a:pPr algn="l" indent="0" marL="0">
              <a:spcAft>
                <a:spcPts val="100"/>
              </a:spcAft>
              <a:buNone/>
            </a:pPr>
            <a:r>
              <a:rPr lang="en-US" sz="1800" i="1" dirty="0">
                <a:solidFill>
                  <a:schemeClr val="tx1"/>
                </a:solidFill>
              </a:rPr>
              <a:t>Ik </a:t>
            </a:r>
            <a:r>
              <a:rPr lang="en-US" sz="1800" b="1" i="1" dirty="0">
                <a:solidFill>
                  <a:schemeClr val="tx1"/>
                </a:solidFill>
              </a:rPr>
              <a:t>ben</a:t>
            </a:r>
            <a:r>
              <a:rPr lang="en-US" sz="1800" i="1" dirty="0">
                <a:solidFill>
                  <a:schemeClr val="tx1"/>
                </a:solidFill>
              </a:rPr>
              <a:t> het park in gelopen.</a:t>
            </a:r>
            <a:endParaRPr lang="en-US" sz="1800" dirty="0"/>
          </a:p>
          <a:p>
            <a:pPr algn="l" indent="0" marL="0">
              <a:spcAft>
                <a:spcPts val="100"/>
              </a:spcAft>
              <a:buNone/>
            </a:pPr>
            <a:r>
              <a:rPr lang="en-US" sz="1800" dirty="0">
                <a:solidFill>
                  <a:schemeClr val="tx1"/>
                </a:solidFill>
              </a:rPr>
              <a:t>je suis entré dans le parc</a:t>
            </a:r>
            <a:endParaRPr lang="en-US" sz="1800" dirty="0"/>
          </a:p>
        </p:txBody>
      </p:sp>
      <p:sp>
        <p:nvSpPr>
          <p:cNvPr id="17" name="Text 14"/>
          <p:cNvSpPr txBox="1"/>
          <p:nvPr/>
        </p:nvSpPr>
        <p:spPr>
          <a:xfrm>
            <a:off x="6455664" y="3200400"/>
            <a:ext cx="4956048" cy="822960"/>
          </a:xfrm>
          <a:prstGeom prst="rect">
            <a:avLst/>
          </a:prstGeom>
          <a:noFill/>
          <a:ln/>
        </p:spPr>
        <p:txBody>
          <a:bodyPr wrap="square" lIns="0" tIns="0" rIns="0" bIns="0" rtlCol="0" anchor="ctr"/>
          <a:lstStyle/>
          <a:p>
            <a:pPr algn="l" indent="0" marL="0">
              <a:spcAft>
                <a:spcPts val="100"/>
              </a:spcAft>
              <a:buNone/>
            </a:pPr>
            <a:r>
              <a:rPr lang="en-US" sz="1800" i="1" dirty="0">
                <a:solidFill>
                  <a:schemeClr val="tx1"/>
                </a:solidFill>
              </a:rPr>
              <a:t>We </a:t>
            </a:r>
            <a:r>
              <a:rPr lang="en-US" sz="1800" b="1" i="1" dirty="0">
                <a:solidFill>
                  <a:schemeClr val="tx1"/>
                </a:solidFill>
              </a:rPr>
              <a:t>zijn</a:t>
            </a:r>
            <a:r>
              <a:rPr lang="en-US" sz="1800" i="1" dirty="0">
                <a:solidFill>
                  <a:schemeClr val="tx1"/>
                </a:solidFill>
              </a:rPr>
              <a:t> de dijk op gefietst.</a:t>
            </a:r>
            <a:endParaRPr lang="en-US" sz="1800" dirty="0"/>
          </a:p>
          <a:p>
            <a:pPr algn="l" indent="0" marL="0">
              <a:spcAft>
                <a:spcPts val="100"/>
              </a:spcAft>
              <a:buNone/>
            </a:pPr>
            <a:r>
              <a:rPr lang="en-US" sz="1800" dirty="0">
                <a:solidFill>
                  <a:schemeClr val="tx1"/>
                </a:solidFill>
              </a:rPr>
              <a:t>nous sommes montés sur la digue</a:t>
            </a:r>
            <a:endParaRPr lang="en-US" sz="1800" dirty="0"/>
          </a:p>
        </p:txBody>
      </p:sp>
      <p:sp>
        <p:nvSpPr>
          <p:cNvPr id="18" name="Text 15"/>
          <p:cNvSpPr txBox="1"/>
          <p:nvPr/>
        </p:nvSpPr>
        <p:spPr>
          <a:xfrm>
            <a:off x="6455664" y="4114800"/>
            <a:ext cx="4956048" cy="822960"/>
          </a:xfrm>
          <a:prstGeom prst="rect">
            <a:avLst/>
          </a:prstGeom>
          <a:noFill/>
          <a:ln/>
        </p:spPr>
        <p:txBody>
          <a:bodyPr wrap="square" lIns="0" tIns="0" rIns="0" bIns="0" rtlCol="0" anchor="ctr"/>
          <a:lstStyle/>
          <a:p>
            <a:pPr algn="l" indent="0" marL="0">
              <a:spcAft>
                <a:spcPts val="100"/>
              </a:spcAft>
              <a:buNone/>
            </a:pPr>
            <a:r>
              <a:rPr lang="en-US" sz="1800" i="1" dirty="0">
                <a:solidFill>
                  <a:schemeClr val="tx1"/>
                </a:solidFill>
              </a:rPr>
              <a:t>Ze </a:t>
            </a:r>
            <a:r>
              <a:rPr lang="en-US" sz="1800" b="1" i="1" dirty="0">
                <a:solidFill>
                  <a:schemeClr val="tx1"/>
                </a:solidFill>
              </a:rPr>
              <a:t>is</a:t>
            </a:r>
            <a:r>
              <a:rPr lang="en-US" sz="1800" i="1" dirty="0">
                <a:solidFill>
                  <a:schemeClr val="tx1"/>
                </a:solidFill>
              </a:rPr>
              <a:t> de zee in gezwommen.</a:t>
            </a:r>
            <a:endParaRPr lang="en-US" sz="1800" dirty="0"/>
          </a:p>
          <a:p>
            <a:pPr algn="l" indent="0" marL="0">
              <a:spcAft>
                <a:spcPts val="100"/>
              </a:spcAft>
              <a:buNone/>
            </a:pPr>
            <a:r>
              <a:rPr lang="en-US" sz="1800" dirty="0">
                <a:solidFill>
                  <a:schemeClr val="tx1"/>
                </a:solidFill>
              </a:rPr>
              <a:t>elle est entrée dans la mer à la nage</a:t>
            </a:r>
            <a:endParaRPr lang="en-US" sz="1800" dirty="0"/>
          </a:p>
        </p:txBody>
      </p:sp>
      <p:sp>
        <p:nvSpPr>
          <p:cNvPr id="19" name="Shape 16"/>
          <p:cNvSpPr/>
          <p:nvPr/>
        </p:nvSpPr>
        <p:spPr>
          <a:xfrm>
            <a:off x="548640" y="5394960"/>
            <a:ext cx="11091672" cy="777240"/>
          </a:xfrm>
          <a:prstGeom prst="roundRect">
            <a:avLst>
              <a:gd name="adj" fmla="val 9412"/>
            </a:avLst>
          </a:prstGeom>
          <a:solidFill>
            <a:schemeClr val="tx2"/>
          </a:solidFill>
          <a:ln w="12700">
            <a:solidFill>
              <a:srgbClr val="FFFFFF">
                <a:alpha val="0"/>
              </a:srgbClr>
            </a:solidFill>
            <a:prstDash val="solid"/>
          </a:ln>
        </p:spPr>
      </p:sp>
      <p:sp>
        <p:nvSpPr>
          <p:cNvPr id="20" name="Text 17"/>
          <p:cNvSpPr txBox="1"/>
          <p:nvPr/>
        </p:nvSpPr>
        <p:spPr>
          <a:xfrm>
            <a:off x="822960" y="5394960"/>
            <a:ext cx="10607040" cy="777240"/>
          </a:xfrm>
          <a:prstGeom prst="rect">
            <a:avLst/>
          </a:prstGeom>
          <a:noFill/>
          <a:ln/>
        </p:spPr>
        <p:txBody>
          <a:bodyPr wrap="square" lIns="0" tIns="0" rIns="0" bIns="0" rtlCol="0" anchor="ctr"/>
          <a:lstStyle/>
          <a:p>
            <a:pPr algn="l" indent="0" marL="0">
              <a:buNone/>
            </a:pPr>
            <a:r>
              <a:rPr lang="en-US" sz="1700" dirty="0">
                <a:solidFill>
                  <a:schemeClr val="bg1"/>
                </a:solidFill>
              </a:rPr>
              <a:t>verbe de mouvement (sans complément d’objet) + </a:t>
            </a:r>
            <a:r>
              <a:rPr lang="en-US" sz="1700" b="1" dirty="0">
                <a:solidFill>
                  <a:schemeClr val="accent1"/>
                </a:solidFill>
              </a:rPr>
              <a:t>achterzetsel</a:t>
            </a:r>
            <a:r>
              <a:rPr lang="en-US" sz="1700" dirty="0">
                <a:solidFill>
                  <a:schemeClr val="bg1"/>
                </a:solidFill>
              </a:rPr>
              <a:t> → </a:t>
            </a:r>
            <a:r>
              <a:rPr lang="en-US" sz="1700" b="1" dirty="0">
                <a:solidFill>
                  <a:schemeClr val="bg1"/>
                </a:solidFill>
              </a:rPr>
              <a:t>zijn</a:t>
            </a:r>
            <a:r>
              <a:rPr lang="en-US" sz="1700" dirty="0">
                <a:solidFill>
                  <a:schemeClr val="bg1"/>
                </a:solidFill>
              </a:rPr>
              <a:t> · rappel M15 : + </a:t>
            </a:r>
            <a:r>
              <a:rPr lang="en-US" sz="1700" i="1" dirty="0">
                <a:solidFill>
                  <a:schemeClr val="bg1"/>
                </a:solidFill>
              </a:rPr>
              <a:t>hebben</a:t>
            </a:r>
            <a:r>
              <a:rPr lang="en-US" sz="1700" dirty="0">
                <a:solidFill>
                  <a:schemeClr val="bg1"/>
                </a:solidFill>
              </a:rPr>
              <a:t> pour l’activité</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Sans nom : naar binnen, naar boven…</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1645920" y="1463040"/>
            <a:ext cx="3657600" cy="731520"/>
          </a:xfrm>
          <a:custGeom>
            <a:avLst/>
            <a:gdLst/>
            <a:ahLst/>
            <a:cxnLst/>
            <a:rect l="l" t="t" r="r" b="b"/>
            <a:pathLst>
              <a:path w="3657600" h="731520">
                <a:moveTo>
                  <a:pt x="0" y="731520"/>
                </a:moveTo>
                <a:lnTo>
                  <a:pt x="1828800" y="0"/>
                </a:lnTo>
                <a:lnTo>
                  <a:pt x="3657600" y="731520"/>
                </a:lnTo>
                <a:close/>
              </a:path>
            </a:pathLst>
          </a:custGeom>
          <a:solidFill>
            <a:srgbClr val="C0504D"/>
          </a:solidFill>
          <a:ln w="12700">
            <a:solidFill>
              <a:srgbClr val="FFFFFF">
                <a:alpha val="0"/>
              </a:srgbClr>
            </a:solidFill>
            <a:prstDash val="solid"/>
          </a:ln>
        </p:spPr>
      </p:sp>
      <p:sp>
        <p:nvSpPr>
          <p:cNvPr id="6" name="Shape 3"/>
          <p:cNvSpPr/>
          <p:nvPr/>
        </p:nvSpPr>
        <p:spPr>
          <a:xfrm>
            <a:off x="1828800" y="2194560"/>
            <a:ext cx="3291840" cy="3108960"/>
          </a:xfrm>
          <a:prstGeom prst="rect">
            <a:avLst/>
          </a:prstGeom>
          <a:solidFill>
            <a:srgbClr val="FFFFFF"/>
          </a:solidFill>
          <a:ln w="31750">
            <a:solidFill>
              <a:srgbClr val="17375E"/>
            </a:solidFill>
            <a:prstDash val="solid"/>
          </a:ln>
        </p:spPr>
      </p:sp>
      <p:sp>
        <p:nvSpPr>
          <p:cNvPr id="7" name="Shape 4"/>
          <p:cNvSpPr/>
          <p:nvPr/>
        </p:nvSpPr>
        <p:spPr>
          <a:xfrm>
            <a:off x="1828800" y="3749040"/>
            <a:ext cx="3291840" cy="914"/>
          </a:xfrm>
          <a:prstGeom prst="line">
            <a:avLst/>
          </a:prstGeom>
          <a:noFill/>
          <a:ln w="25400">
            <a:solidFill>
              <a:srgbClr val="17375E"/>
            </a:solidFill>
            <a:prstDash val="solid"/>
          </a:ln>
        </p:spPr>
      </p:sp>
      <p:sp>
        <p:nvSpPr>
          <p:cNvPr id="8" name="Shape 5"/>
          <p:cNvSpPr/>
          <p:nvPr/>
        </p:nvSpPr>
        <p:spPr>
          <a:xfrm>
            <a:off x="3474720" y="5029200"/>
            <a:ext cx="301752" cy="274320"/>
          </a:xfrm>
          <a:prstGeom prst="rect">
            <a:avLst/>
          </a:prstGeom>
          <a:solidFill>
            <a:srgbClr val="D5DCE6"/>
          </a:solidFill>
          <a:ln w="12700">
            <a:solidFill>
              <a:srgbClr val="FFFFFF">
                <a:alpha val="0"/>
              </a:srgbClr>
            </a:solidFill>
            <a:prstDash val="solid"/>
          </a:ln>
        </p:spPr>
      </p:sp>
      <p:sp>
        <p:nvSpPr>
          <p:cNvPr id="9" name="Shape 6"/>
          <p:cNvSpPr/>
          <p:nvPr/>
        </p:nvSpPr>
        <p:spPr>
          <a:xfrm>
            <a:off x="3776472" y="4754880"/>
            <a:ext cx="301752" cy="548640"/>
          </a:xfrm>
          <a:prstGeom prst="rect">
            <a:avLst/>
          </a:prstGeom>
          <a:solidFill>
            <a:srgbClr val="D5DCE6"/>
          </a:solidFill>
          <a:ln w="12700">
            <a:solidFill>
              <a:srgbClr val="FFFFFF">
                <a:alpha val="0"/>
              </a:srgbClr>
            </a:solidFill>
            <a:prstDash val="solid"/>
          </a:ln>
        </p:spPr>
      </p:sp>
      <p:sp>
        <p:nvSpPr>
          <p:cNvPr id="10" name="Shape 7"/>
          <p:cNvSpPr/>
          <p:nvPr/>
        </p:nvSpPr>
        <p:spPr>
          <a:xfrm>
            <a:off x="4078224" y="4480560"/>
            <a:ext cx="301752" cy="822960"/>
          </a:xfrm>
          <a:prstGeom prst="rect">
            <a:avLst/>
          </a:prstGeom>
          <a:solidFill>
            <a:srgbClr val="D5DCE6"/>
          </a:solidFill>
          <a:ln w="12700">
            <a:solidFill>
              <a:srgbClr val="FFFFFF">
                <a:alpha val="0"/>
              </a:srgbClr>
            </a:solidFill>
            <a:prstDash val="solid"/>
          </a:ln>
        </p:spPr>
      </p:sp>
      <p:sp>
        <p:nvSpPr>
          <p:cNvPr id="11" name="Shape 8"/>
          <p:cNvSpPr/>
          <p:nvPr/>
        </p:nvSpPr>
        <p:spPr>
          <a:xfrm>
            <a:off x="4379976" y="4206240"/>
            <a:ext cx="301752" cy="1097280"/>
          </a:xfrm>
          <a:prstGeom prst="rect">
            <a:avLst/>
          </a:prstGeom>
          <a:solidFill>
            <a:srgbClr val="D5DCE6"/>
          </a:solidFill>
          <a:ln w="12700">
            <a:solidFill>
              <a:srgbClr val="FFFFFF">
                <a:alpha val="0"/>
              </a:srgbClr>
            </a:solidFill>
            <a:prstDash val="solid"/>
          </a:ln>
        </p:spPr>
      </p:sp>
      <p:sp>
        <p:nvSpPr>
          <p:cNvPr id="12" name="Shape 9"/>
          <p:cNvSpPr/>
          <p:nvPr/>
        </p:nvSpPr>
        <p:spPr>
          <a:xfrm>
            <a:off x="4681728" y="3931920"/>
            <a:ext cx="301752" cy="1371600"/>
          </a:xfrm>
          <a:prstGeom prst="rect">
            <a:avLst/>
          </a:prstGeom>
          <a:solidFill>
            <a:srgbClr val="D5DCE6"/>
          </a:solidFill>
          <a:ln w="12700">
            <a:solidFill>
              <a:srgbClr val="FFFFFF">
                <a:alpha val="0"/>
              </a:srgbClr>
            </a:solidFill>
            <a:prstDash val="solid"/>
          </a:ln>
        </p:spPr>
      </p:sp>
      <p:sp>
        <p:nvSpPr>
          <p:cNvPr id="13" name="Shape 10"/>
          <p:cNvSpPr/>
          <p:nvPr/>
        </p:nvSpPr>
        <p:spPr>
          <a:xfrm>
            <a:off x="1783080" y="4114800"/>
            <a:ext cx="91440" cy="1097280"/>
          </a:xfrm>
          <a:prstGeom prst="rect">
            <a:avLst/>
          </a:prstGeom>
          <a:solidFill>
            <a:srgbClr val="FFFFFF"/>
          </a:solidFill>
          <a:ln w="12700">
            <a:solidFill>
              <a:srgbClr val="FFFFFF">
                <a:alpha val="0"/>
              </a:srgbClr>
            </a:solidFill>
            <a:prstDash val="solid"/>
          </a:ln>
        </p:spPr>
      </p:sp>
      <p:sp>
        <p:nvSpPr>
          <p:cNvPr id="14" name="Shape 11"/>
          <p:cNvSpPr/>
          <p:nvPr/>
        </p:nvSpPr>
        <p:spPr>
          <a:xfrm flipH="1">
            <a:off x="548640" y="4389120"/>
            <a:ext cx="1920240" cy="914"/>
          </a:xfrm>
          <a:prstGeom prst="line">
            <a:avLst/>
          </a:prstGeom>
          <a:noFill/>
          <a:ln w="31750">
            <a:solidFill>
              <a:srgbClr val="4A5A70"/>
            </a:solidFill>
            <a:prstDash val="solid"/>
            <a:tailEnd type="triangle"/>
          </a:ln>
        </p:spPr>
      </p:sp>
      <p:sp>
        <p:nvSpPr>
          <p:cNvPr id="15" name="Text 12"/>
          <p:cNvSpPr txBox="1"/>
          <p:nvPr/>
        </p:nvSpPr>
        <p:spPr>
          <a:xfrm>
            <a:off x="548640" y="3977640"/>
            <a:ext cx="1280160" cy="347472"/>
          </a:xfrm>
          <a:prstGeom prst="rect">
            <a:avLst/>
          </a:prstGeom>
          <a:noFill/>
          <a:ln/>
        </p:spPr>
        <p:txBody>
          <a:bodyPr wrap="square" lIns="0" tIns="0" rIns="0" bIns="0" rtlCol="0" anchor="t"/>
          <a:lstStyle/>
          <a:p>
            <a:pPr algn="l" indent="0" marL="0">
              <a:buNone/>
            </a:pPr>
            <a:r>
              <a:rPr lang="en-US" sz="1300" b="1" dirty="0">
                <a:solidFill>
                  <a:schemeClr val="accent5"/>
                </a:solidFill>
              </a:rPr>
              <a:t>naar buiten</a:t>
            </a:r>
            <a:endParaRPr lang="en-US" sz="1300" dirty="0"/>
          </a:p>
        </p:txBody>
      </p:sp>
      <p:sp>
        <p:nvSpPr>
          <p:cNvPr id="16" name="Shape 13"/>
          <p:cNvSpPr/>
          <p:nvPr/>
        </p:nvSpPr>
        <p:spPr>
          <a:xfrm>
            <a:off x="548640" y="4983480"/>
            <a:ext cx="2103120" cy="914"/>
          </a:xfrm>
          <a:prstGeom prst="line">
            <a:avLst/>
          </a:prstGeom>
          <a:noFill/>
          <a:ln w="44450">
            <a:solidFill>
              <a:srgbClr val="D9700F"/>
            </a:solidFill>
            <a:prstDash val="solid"/>
            <a:tailEnd type="triangle"/>
          </a:ln>
        </p:spPr>
      </p:sp>
      <p:sp>
        <p:nvSpPr>
          <p:cNvPr id="17" name="Text 14"/>
          <p:cNvSpPr txBox="1"/>
          <p:nvPr/>
        </p:nvSpPr>
        <p:spPr>
          <a:xfrm>
            <a:off x="548640" y="4572000"/>
            <a:ext cx="1280160" cy="347472"/>
          </a:xfrm>
          <a:prstGeom prst="rect">
            <a:avLst/>
          </a:prstGeom>
          <a:noFill/>
          <a:ln/>
        </p:spPr>
        <p:txBody>
          <a:bodyPr wrap="square" lIns="0" tIns="0" rIns="0" bIns="0" rtlCol="0" anchor="t"/>
          <a:lstStyle/>
          <a:p>
            <a:pPr algn="l" indent="0" marL="0">
              <a:buNone/>
            </a:pPr>
            <a:r>
              <a:rPr lang="en-US" sz="1300" b="1" dirty="0">
                <a:solidFill>
                  <a:schemeClr val="accent1"/>
                </a:solidFill>
              </a:rPr>
              <a:t>naar binnen</a:t>
            </a:r>
            <a:endParaRPr lang="en-US" sz="1300" dirty="0"/>
          </a:p>
        </p:txBody>
      </p:sp>
      <p:sp>
        <p:nvSpPr>
          <p:cNvPr id="18" name="Shape 15"/>
          <p:cNvSpPr/>
          <p:nvPr/>
        </p:nvSpPr>
        <p:spPr>
          <a:xfrm flipV="1">
            <a:off x="3310128" y="4023360"/>
            <a:ext cx="1627632" cy="868680"/>
          </a:xfrm>
          <a:prstGeom prst="line">
            <a:avLst/>
          </a:prstGeom>
          <a:noFill/>
          <a:ln w="44450">
            <a:solidFill>
              <a:srgbClr val="D9700F"/>
            </a:solidFill>
            <a:prstDash val="solid"/>
            <a:tailEnd type="triangle"/>
          </a:ln>
        </p:spPr>
      </p:sp>
      <p:sp>
        <p:nvSpPr>
          <p:cNvPr id="19" name="Text 16"/>
          <p:cNvSpPr txBox="1"/>
          <p:nvPr/>
        </p:nvSpPr>
        <p:spPr>
          <a:xfrm>
            <a:off x="2651760" y="3858768"/>
            <a:ext cx="1371600" cy="347472"/>
          </a:xfrm>
          <a:prstGeom prst="rect">
            <a:avLst/>
          </a:prstGeom>
          <a:noFill/>
          <a:ln/>
        </p:spPr>
        <p:txBody>
          <a:bodyPr wrap="square" lIns="0" tIns="0" rIns="0" bIns="0" rtlCol="0" anchor="t"/>
          <a:lstStyle/>
          <a:p>
            <a:pPr algn="l" indent="0" marL="0">
              <a:buNone/>
            </a:pPr>
            <a:r>
              <a:rPr lang="en-US" sz="1300" b="1" dirty="0">
                <a:solidFill>
                  <a:schemeClr val="accent1"/>
                </a:solidFill>
              </a:rPr>
              <a:t>naar boven</a:t>
            </a:r>
            <a:endParaRPr lang="en-US" sz="1300" dirty="0"/>
          </a:p>
        </p:txBody>
      </p:sp>
      <p:sp>
        <p:nvSpPr>
          <p:cNvPr id="20" name="Shape 17"/>
          <p:cNvSpPr/>
          <p:nvPr/>
        </p:nvSpPr>
        <p:spPr>
          <a:xfrm>
            <a:off x="2423160" y="2514600"/>
            <a:ext cx="914" cy="1737360"/>
          </a:xfrm>
          <a:prstGeom prst="line">
            <a:avLst/>
          </a:prstGeom>
          <a:noFill/>
          <a:ln w="31750">
            <a:solidFill>
              <a:srgbClr val="4A5A70"/>
            </a:solidFill>
            <a:prstDash val="solid"/>
            <a:tailEnd type="triangle"/>
          </a:ln>
        </p:spPr>
      </p:sp>
      <p:sp>
        <p:nvSpPr>
          <p:cNvPr id="21" name="Text 18"/>
          <p:cNvSpPr txBox="1"/>
          <p:nvPr/>
        </p:nvSpPr>
        <p:spPr>
          <a:xfrm>
            <a:off x="2606040" y="2468880"/>
            <a:ext cx="1645920" cy="347472"/>
          </a:xfrm>
          <a:prstGeom prst="rect">
            <a:avLst/>
          </a:prstGeom>
          <a:noFill/>
          <a:ln/>
        </p:spPr>
        <p:txBody>
          <a:bodyPr wrap="square" lIns="0" tIns="0" rIns="0" bIns="0" rtlCol="0" anchor="t"/>
          <a:lstStyle/>
          <a:p>
            <a:pPr algn="l" indent="0" marL="0">
              <a:buNone/>
            </a:pPr>
            <a:r>
              <a:rPr lang="en-US" sz="1300" b="1" dirty="0">
                <a:solidFill>
                  <a:schemeClr val="accent5"/>
                </a:solidFill>
              </a:rPr>
              <a:t>naar beneden</a:t>
            </a:r>
            <a:endParaRPr lang="en-US" sz="1300" dirty="0"/>
          </a:p>
        </p:txBody>
      </p:sp>
      <p:pic>
        <p:nvPicPr>
          <p:cNvPr id="22" name="Image 0" descr="person standing">    </p:cNvPr>
          <p:cNvPicPr>
            <a:picLocks noChangeAspect="1"/>
          </p:cNvPicPr>
          <p:nvPr/>
        </p:nvPicPr>
        <p:blipFill>
          <a:blip r:embed="rId1"/>
          <a:stretch>
            <a:fillRect/>
          </a:stretch>
        </p:blipFill>
        <p:spPr>
          <a:xfrm>
            <a:off x="4251960" y="2697480"/>
            <a:ext cx="640080" cy="640080"/>
          </a:xfrm>
          <a:prstGeom prst="rect">
            <a:avLst/>
          </a:prstGeom>
        </p:spPr>
      </p:pic>
      <p:sp>
        <p:nvSpPr>
          <p:cNvPr id="23" name="Text 19"/>
          <p:cNvSpPr txBox="1"/>
          <p:nvPr/>
        </p:nvSpPr>
        <p:spPr>
          <a:xfrm>
            <a:off x="5486400" y="1508760"/>
            <a:ext cx="2011680" cy="320040"/>
          </a:xfrm>
          <a:prstGeom prst="rect">
            <a:avLst/>
          </a:prstGeom>
          <a:noFill/>
          <a:ln/>
        </p:spPr>
        <p:txBody>
          <a:bodyPr wrap="square" lIns="0" tIns="0" rIns="0" bIns="0" rtlCol="0" anchor="t"/>
          <a:lstStyle/>
          <a:p>
            <a:pPr algn="l" indent="0" marL="0">
              <a:buNone/>
            </a:pPr>
            <a:r>
              <a:rPr lang="en-US" sz="1300" b="1" dirty="0">
                <a:solidFill>
                  <a:schemeClr val="accent5"/>
                </a:solidFill>
              </a:rPr>
              <a:t>avec un nom</a:t>
            </a:r>
            <a:endParaRPr lang="en-US" sz="1300" dirty="0"/>
          </a:p>
        </p:txBody>
      </p:sp>
      <p:sp>
        <p:nvSpPr>
          <p:cNvPr id="24" name="Text 20"/>
          <p:cNvSpPr txBox="1"/>
          <p:nvPr/>
        </p:nvSpPr>
        <p:spPr>
          <a:xfrm>
            <a:off x="7543800" y="1508760"/>
            <a:ext cx="2194560" cy="320040"/>
          </a:xfrm>
          <a:prstGeom prst="rect">
            <a:avLst/>
          </a:prstGeom>
          <a:noFill/>
          <a:ln/>
        </p:spPr>
        <p:txBody>
          <a:bodyPr wrap="square" lIns="0" tIns="0" rIns="0" bIns="0" rtlCol="0" anchor="t"/>
          <a:lstStyle/>
          <a:p>
            <a:pPr algn="l" indent="0" marL="0">
              <a:buNone/>
            </a:pPr>
            <a:r>
              <a:rPr lang="en-US" sz="1300" b="1" dirty="0">
                <a:solidFill>
                  <a:schemeClr val="accent1"/>
                </a:solidFill>
              </a:rPr>
              <a:t>sans nom</a:t>
            </a:r>
            <a:r>
              <a:rPr lang="en-US" sz="1300" dirty="0">
                <a:solidFill>
                  <a:schemeClr val="accent1"/>
                </a:solidFill>
              </a:rPr>
              <a:t> (direction)</a:t>
            </a:r>
            <a:endParaRPr lang="en-US" sz="1300" dirty="0"/>
          </a:p>
        </p:txBody>
      </p:sp>
      <p:sp>
        <p:nvSpPr>
          <p:cNvPr id="25" name="Text 21"/>
          <p:cNvSpPr txBox="1"/>
          <p:nvPr/>
        </p:nvSpPr>
        <p:spPr>
          <a:xfrm>
            <a:off x="9829800" y="1508760"/>
            <a:ext cx="1828800" cy="320040"/>
          </a:xfrm>
          <a:prstGeom prst="rect">
            <a:avLst/>
          </a:prstGeom>
          <a:noFill/>
          <a:ln/>
        </p:spPr>
        <p:txBody>
          <a:bodyPr wrap="square" lIns="0" tIns="0" rIns="0" bIns="0" rtlCol="0" anchor="t"/>
          <a:lstStyle/>
          <a:p>
            <a:pPr algn="l" indent="0" marL="0">
              <a:buNone/>
            </a:pPr>
            <a:r>
              <a:rPr lang="en-US" sz="1300" b="1" dirty="0">
                <a:solidFill>
                  <a:schemeClr val="accent2"/>
                </a:solidFill>
              </a:rPr>
              <a:t>lieu</a:t>
            </a:r>
            <a:endParaRPr lang="en-US" sz="1300" dirty="0"/>
          </a:p>
        </p:txBody>
      </p:sp>
      <p:sp>
        <p:nvSpPr>
          <p:cNvPr id="26" name="Shape 22"/>
          <p:cNvSpPr/>
          <p:nvPr/>
        </p:nvSpPr>
        <p:spPr>
          <a:xfrm>
            <a:off x="5486400" y="1874520"/>
            <a:ext cx="6153912" cy="640080"/>
          </a:xfrm>
          <a:prstGeom prst="roundRect">
            <a:avLst>
              <a:gd name="adj" fmla="val 11429"/>
            </a:avLst>
          </a:prstGeom>
          <a:solidFill>
            <a:schemeClr val="bg2"/>
          </a:solidFill>
          <a:ln w="9525">
            <a:solidFill>
              <a:srgbClr val="D5DCE6"/>
            </a:solidFill>
            <a:prstDash val="solid"/>
          </a:ln>
        </p:spPr>
      </p:sp>
      <p:sp>
        <p:nvSpPr>
          <p:cNvPr id="27" name="Text 23"/>
          <p:cNvSpPr txBox="1"/>
          <p:nvPr/>
        </p:nvSpPr>
        <p:spPr>
          <a:xfrm>
            <a:off x="5577840" y="1874520"/>
            <a:ext cx="2011680" cy="640080"/>
          </a:xfrm>
          <a:prstGeom prst="rect">
            <a:avLst/>
          </a:prstGeom>
          <a:noFill/>
          <a:ln/>
        </p:spPr>
        <p:txBody>
          <a:bodyPr wrap="square" lIns="0" tIns="0" rIns="0" bIns="0" rtlCol="0" anchor="ctr"/>
          <a:lstStyle/>
          <a:p>
            <a:pPr algn="l" indent="0" marL="0">
              <a:buNone/>
            </a:pPr>
            <a:r>
              <a:rPr lang="en-US" sz="1600" i="1" dirty="0">
                <a:solidFill>
                  <a:schemeClr val="tx1"/>
                </a:solidFill>
              </a:rPr>
              <a:t>de keuken </a:t>
            </a:r>
            <a:r>
              <a:rPr lang="en-US" sz="1600" b="1" i="1" dirty="0">
                <a:solidFill>
                  <a:schemeClr val="accent1"/>
                </a:solidFill>
              </a:rPr>
              <a:t>in</a:t>
            </a:r>
            <a:endParaRPr lang="en-US" sz="1600" dirty="0"/>
          </a:p>
        </p:txBody>
      </p:sp>
      <p:sp>
        <p:nvSpPr>
          <p:cNvPr id="28" name="Text 24"/>
          <p:cNvSpPr txBox="1"/>
          <p:nvPr/>
        </p:nvSpPr>
        <p:spPr>
          <a:xfrm>
            <a:off x="7543800" y="1874520"/>
            <a:ext cx="2286000" cy="640080"/>
          </a:xfrm>
          <a:prstGeom prst="rect">
            <a:avLst/>
          </a:prstGeom>
          <a:noFill/>
          <a:ln/>
        </p:spPr>
        <p:txBody>
          <a:bodyPr wrap="square" lIns="0" tIns="0" rIns="0" bIns="0" rtlCol="0" anchor="ctr"/>
          <a:lstStyle/>
          <a:p>
            <a:pPr algn="l" indent="0" marL="0">
              <a:buNone/>
            </a:pPr>
            <a:r>
              <a:rPr lang="en-US" sz="1600" i="1" dirty="0">
                <a:solidFill>
                  <a:schemeClr val="tx1"/>
                </a:solidFill>
              </a:rPr>
              <a:t>→ naar </a:t>
            </a:r>
            <a:r>
              <a:rPr lang="en-US" sz="1600" b="1" i="1" dirty="0">
                <a:solidFill>
                  <a:schemeClr val="tx1"/>
                </a:solidFill>
              </a:rPr>
              <a:t>binnen</a:t>
            </a:r>
            <a:endParaRPr lang="en-US" sz="1600" dirty="0"/>
          </a:p>
          <a:p>
            <a:pPr algn="l" indent="0" marL="0">
              <a:buNone/>
            </a:pPr>
            <a:r>
              <a:rPr lang="en-US" sz="1600" dirty="0">
                <a:solidFill>
                  <a:schemeClr val="tx1"/>
                </a:solidFill>
              </a:rPr>
              <a:t>entrer / à l’intérieur</a:t>
            </a:r>
            <a:endParaRPr lang="en-US" sz="1600" dirty="0"/>
          </a:p>
        </p:txBody>
      </p:sp>
      <p:sp>
        <p:nvSpPr>
          <p:cNvPr id="29" name="Text 25"/>
          <p:cNvSpPr txBox="1"/>
          <p:nvPr/>
        </p:nvSpPr>
        <p:spPr>
          <a:xfrm>
            <a:off x="9829800" y="1874520"/>
            <a:ext cx="1737360" cy="640080"/>
          </a:xfrm>
          <a:prstGeom prst="rect">
            <a:avLst/>
          </a:prstGeom>
          <a:noFill/>
          <a:ln/>
        </p:spPr>
        <p:txBody>
          <a:bodyPr wrap="square" lIns="0" tIns="0" rIns="0" bIns="0" rtlCol="0" anchor="ctr"/>
          <a:lstStyle/>
          <a:p>
            <a:pPr algn="l" indent="0" marL="0">
              <a:buNone/>
            </a:pPr>
            <a:r>
              <a:rPr lang="en-US" sz="1700" b="1" i="1" dirty="0">
                <a:solidFill>
                  <a:schemeClr val="accent2"/>
                </a:solidFill>
              </a:rPr>
              <a:t>binnen</a:t>
            </a:r>
            <a:endParaRPr lang="en-US" sz="1700" dirty="0"/>
          </a:p>
        </p:txBody>
      </p:sp>
      <p:sp>
        <p:nvSpPr>
          <p:cNvPr id="30" name="Shape 26"/>
          <p:cNvSpPr/>
          <p:nvPr/>
        </p:nvSpPr>
        <p:spPr>
          <a:xfrm>
            <a:off x="5486400" y="2606040"/>
            <a:ext cx="6153912" cy="640080"/>
          </a:xfrm>
          <a:prstGeom prst="roundRect">
            <a:avLst>
              <a:gd name="adj" fmla="val 11429"/>
            </a:avLst>
          </a:prstGeom>
          <a:solidFill>
            <a:srgbClr val="FFFFFF"/>
          </a:solidFill>
          <a:ln w="9525">
            <a:solidFill>
              <a:srgbClr val="D5DCE6"/>
            </a:solidFill>
            <a:prstDash val="solid"/>
          </a:ln>
        </p:spPr>
      </p:sp>
      <p:sp>
        <p:nvSpPr>
          <p:cNvPr id="31" name="Text 27"/>
          <p:cNvSpPr txBox="1"/>
          <p:nvPr/>
        </p:nvSpPr>
        <p:spPr>
          <a:xfrm>
            <a:off x="5577840" y="2606040"/>
            <a:ext cx="2011680" cy="640080"/>
          </a:xfrm>
          <a:prstGeom prst="rect">
            <a:avLst/>
          </a:prstGeom>
          <a:noFill/>
          <a:ln/>
        </p:spPr>
        <p:txBody>
          <a:bodyPr wrap="square" lIns="0" tIns="0" rIns="0" bIns="0" rtlCol="0" anchor="ctr"/>
          <a:lstStyle/>
          <a:p>
            <a:pPr algn="l" indent="0" marL="0">
              <a:buNone/>
            </a:pPr>
            <a:r>
              <a:rPr lang="en-US" sz="1600" i="1" dirty="0">
                <a:solidFill>
                  <a:schemeClr val="tx1"/>
                </a:solidFill>
              </a:rPr>
              <a:t>het gebouw </a:t>
            </a:r>
            <a:r>
              <a:rPr lang="en-US" sz="1600" b="1" i="1" dirty="0">
                <a:solidFill>
                  <a:schemeClr val="accent1"/>
                </a:solidFill>
              </a:rPr>
              <a:t>uit</a:t>
            </a:r>
            <a:endParaRPr lang="en-US" sz="1600" dirty="0"/>
          </a:p>
        </p:txBody>
      </p:sp>
      <p:sp>
        <p:nvSpPr>
          <p:cNvPr id="32" name="Text 28"/>
          <p:cNvSpPr txBox="1"/>
          <p:nvPr/>
        </p:nvSpPr>
        <p:spPr>
          <a:xfrm>
            <a:off x="7543800" y="2606040"/>
            <a:ext cx="2286000" cy="640080"/>
          </a:xfrm>
          <a:prstGeom prst="rect">
            <a:avLst/>
          </a:prstGeom>
          <a:noFill/>
          <a:ln/>
        </p:spPr>
        <p:txBody>
          <a:bodyPr wrap="square" lIns="0" tIns="0" rIns="0" bIns="0" rtlCol="0" anchor="ctr"/>
          <a:lstStyle/>
          <a:p>
            <a:pPr algn="l" indent="0" marL="0">
              <a:buNone/>
            </a:pPr>
            <a:r>
              <a:rPr lang="en-US" sz="1600" i="1" dirty="0">
                <a:solidFill>
                  <a:schemeClr val="tx1"/>
                </a:solidFill>
              </a:rPr>
              <a:t>→ naar </a:t>
            </a:r>
            <a:r>
              <a:rPr lang="en-US" sz="1600" b="1" i="1" dirty="0">
                <a:solidFill>
                  <a:schemeClr val="tx1"/>
                </a:solidFill>
              </a:rPr>
              <a:t>buiten</a:t>
            </a:r>
            <a:endParaRPr lang="en-US" sz="1600" dirty="0"/>
          </a:p>
          <a:p>
            <a:pPr algn="l" indent="0" marL="0">
              <a:buNone/>
            </a:pPr>
            <a:r>
              <a:rPr lang="en-US" sz="1600" dirty="0">
                <a:solidFill>
                  <a:schemeClr val="tx1"/>
                </a:solidFill>
              </a:rPr>
              <a:t>sortir / dehors</a:t>
            </a:r>
            <a:endParaRPr lang="en-US" sz="1600" dirty="0"/>
          </a:p>
        </p:txBody>
      </p:sp>
      <p:sp>
        <p:nvSpPr>
          <p:cNvPr id="33" name="Text 29"/>
          <p:cNvSpPr txBox="1"/>
          <p:nvPr/>
        </p:nvSpPr>
        <p:spPr>
          <a:xfrm>
            <a:off x="9829800" y="2606040"/>
            <a:ext cx="1737360" cy="640080"/>
          </a:xfrm>
          <a:prstGeom prst="rect">
            <a:avLst/>
          </a:prstGeom>
          <a:noFill/>
          <a:ln/>
        </p:spPr>
        <p:txBody>
          <a:bodyPr wrap="square" lIns="0" tIns="0" rIns="0" bIns="0" rtlCol="0" anchor="ctr"/>
          <a:lstStyle/>
          <a:p>
            <a:pPr algn="l" indent="0" marL="0">
              <a:buNone/>
            </a:pPr>
            <a:r>
              <a:rPr lang="en-US" sz="1700" b="1" i="1" dirty="0">
                <a:solidFill>
                  <a:schemeClr val="accent2"/>
                </a:solidFill>
              </a:rPr>
              <a:t>buiten</a:t>
            </a:r>
            <a:endParaRPr lang="en-US" sz="1700" dirty="0"/>
          </a:p>
        </p:txBody>
      </p:sp>
      <p:sp>
        <p:nvSpPr>
          <p:cNvPr id="34" name="Shape 30"/>
          <p:cNvSpPr/>
          <p:nvPr/>
        </p:nvSpPr>
        <p:spPr>
          <a:xfrm>
            <a:off x="5486400" y="3337560"/>
            <a:ext cx="6153912" cy="640080"/>
          </a:xfrm>
          <a:prstGeom prst="roundRect">
            <a:avLst>
              <a:gd name="adj" fmla="val 11429"/>
            </a:avLst>
          </a:prstGeom>
          <a:solidFill>
            <a:schemeClr val="bg2"/>
          </a:solidFill>
          <a:ln w="9525">
            <a:solidFill>
              <a:srgbClr val="D5DCE6"/>
            </a:solidFill>
            <a:prstDash val="solid"/>
          </a:ln>
        </p:spPr>
      </p:sp>
      <p:sp>
        <p:nvSpPr>
          <p:cNvPr id="35" name="Text 31"/>
          <p:cNvSpPr txBox="1"/>
          <p:nvPr/>
        </p:nvSpPr>
        <p:spPr>
          <a:xfrm>
            <a:off x="5577840" y="3337560"/>
            <a:ext cx="2011680" cy="640080"/>
          </a:xfrm>
          <a:prstGeom prst="rect">
            <a:avLst/>
          </a:prstGeom>
          <a:noFill/>
          <a:ln/>
        </p:spPr>
        <p:txBody>
          <a:bodyPr wrap="square" lIns="0" tIns="0" rIns="0" bIns="0" rtlCol="0" anchor="ctr"/>
          <a:lstStyle/>
          <a:p>
            <a:pPr algn="l" indent="0" marL="0">
              <a:buNone/>
            </a:pPr>
            <a:r>
              <a:rPr lang="en-US" sz="1600" i="1" dirty="0">
                <a:solidFill>
                  <a:schemeClr val="tx1"/>
                </a:solidFill>
              </a:rPr>
              <a:t>de trap </a:t>
            </a:r>
            <a:r>
              <a:rPr lang="en-US" sz="1600" b="1" i="1" dirty="0">
                <a:solidFill>
                  <a:schemeClr val="accent1"/>
                </a:solidFill>
              </a:rPr>
              <a:t>op</a:t>
            </a:r>
            <a:endParaRPr lang="en-US" sz="1600" dirty="0"/>
          </a:p>
        </p:txBody>
      </p:sp>
      <p:sp>
        <p:nvSpPr>
          <p:cNvPr id="36" name="Text 32"/>
          <p:cNvSpPr txBox="1"/>
          <p:nvPr/>
        </p:nvSpPr>
        <p:spPr>
          <a:xfrm>
            <a:off x="7543800" y="3337560"/>
            <a:ext cx="2286000" cy="640080"/>
          </a:xfrm>
          <a:prstGeom prst="rect">
            <a:avLst/>
          </a:prstGeom>
          <a:noFill/>
          <a:ln/>
        </p:spPr>
        <p:txBody>
          <a:bodyPr wrap="square" lIns="0" tIns="0" rIns="0" bIns="0" rtlCol="0" anchor="ctr"/>
          <a:lstStyle/>
          <a:p>
            <a:pPr algn="l" indent="0" marL="0">
              <a:buNone/>
            </a:pPr>
            <a:r>
              <a:rPr lang="en-US" sz="1600" i="1" dirty="0">
                <a:solidFill>
                  <a:schemeClr val="tx1"/>
                </a:solidFill>
              </a:rPr>
              <a:t>→ naar </a:t>
            </a:r>
            <a:r>
              <a:rPr lang="en-US" sz="1600" b="1" i="1" dirty="0">
                <a:solidFill>
                  <a:schemeClr val="tx1"/>
                </a:solidFill>
              </a:rPr>
              <a:t>boven</a:t>
            </a:r>
            <a:endParaRPr lang="en-US" sz="1600" dirty="0"/>
          </a:p>
          <a:p>
            <a:pPr algn="l" indent="0" marL="0">
              <a:buNone/>
            </a:pPr>
            <a:r>
              <a:rPr lang="en-US" sz="1600" dirty="0">
                <a:solidFill>
                  <a:schemeClr val="tx1"/>
                </a:solidFill>
              </a:rPr>
              <a:t>monter / en haut</a:t>
            </a:r>
            <a:endParaRPr lang="en-US" sz="1600" dirty="0"/>
          </a:p>
        </p:txBody>
      </p:sp>
      <p:sp>
        <p:nvSpPr>
          <p:cNvPr id="37" name="Text 33"/>
          <p:cNvSpPr txBox="1"/>
          <p:nvPr/>
        </p:nvSpPr>
        <p:spPr>
          <a:xfrm>
            <a:off x="9829800" y="3337560"/>
            <a:ext cx="1737360" cy="640080"/>
          </a:xfrm>
          <a:prstGeom prst="rect">
            <a:avLst/>
          </a:prstGeom>
          <a:noFill/>
          <a:ln/>
        </p:spPr>
        <p:txBody>
          <a:bodyPr wrap="square" lIns="0" tIns="0" rIns="0" bIns="0" rtlCol="0" anchor="ctr"/>
          <a:lstStyle/>
          <a:p>
            <a:pPr algn="l" indent="0" marL="0">
              <a:buNone/>
            </a:pPr>
            <a:r>
              <a:rPr lang="en-US" sz="1700" b="1" i="1" dirty="0">
                <a:solidFill>
                  <a:schemeClr val="accent2"/>
                </a:solidFill>
              </a:rPr>
              <a:t>boven</a:t>
            </a:r>
            <a:endParaRPr lang="en-US" sz="1700" dirty="0"/>
          </a:p>
        </p:txBody>
      </p:sp>
      <p:sp>
        <p:nvSpPr>
          <p:cNvPr id="38" name="Shape 34"/>
          <p:cNvSpPr/>
          <p:nvPr/>
        </p:nvSpPr>
        <p:spPr>
          <a:xfrm>
            <a:off x="5486400" y="4069080"/>
            <a:ext cx="6153912" cy="640080"/>
          </a:xfrm>
          <a:prstGeom prst="roundRect">
            <a:avLst>
              <a:gd name="adj" fmla="val 11429"/>
            </a:avLst>
          </a:prstGeom>
          <a:solidFill>
            <a:srgbClr val="FFFFFF"/>
          </a:solidFill>
          <a:ln w="9525">
            <a:solidFill>
              <a:srgbClr val="D5DCE6"/>
            </a:solidFill>
            <a:prstDash val="solid"/>
          </a:ln>
        </p:spPr>
      </p:sp>
      <p:sp>
        <p:nvSpPr>
          <p:cNvPr id="39" name="Text 35"/>
          <p:cNvSpPr txBox="1"/>
          <p:nvPr/>
        </p:nvSpPr>
        <p:spPr>
          <a:xfrm>
            <a:off x="5577840" y="4069080"/>
            <a:ext cx="2011680" cy="640080"/>
          </a:xfrm>
          <a:prstGeom prst="rect">
            <a:avLst/>
          </a:prstGeom>
          <a:noFill/>
          <a:ln/>
        </p:spPr>
        <p:txBody>
          <a:bodyPr wrap="square" lIns="0" tIns="0" rIns="0" bIns="0" rtlCol="0" anchor="ctr"/>
          <a:lstStyle/>
          <a:p>
            <a:pPr algn="l" indent="0" marL="0">
              <a:buNone/>
            </a:pPr>
            <a:r>
              <a:rPr lang="en-US" sz="1600" i="1" dirty="0">
                <a:solidFill>
                  <a:schemeClr val="tx1"/>
                </a:solidFill>
              </a:rPr>
              <a:t>de trap </a:t>
            </a:r>
            <a:r>
              <a:rPr lang="en-US" sz="1600" b="1" i="1" dirty="0">
                <a:solidFill>
                  <a:schemeClr val="accent1"/>
                </a:solidFill>
              </a:rPr>
              <a:t>af</a:t>
            </a:r>
            <a:endParaRPr lang="en-US" sz="1600" dirty="0"/>
          </a:p>
        </p:txBody>
      </p:sp>
      <p:sp>
        <p:nvSpPr>
          <p:cNvPr id="40" name="Text 36"/>
          <p:cNvSpPr txBox="1"/>
          <p:nvPr/>
        </p:nvSpPr>
        <p:spPr>
          <a:xfrm>
            <a:off x="7543800" y="4069080"/>
            <a:ext cx="2286000" cy="640080"/>
          </a:xfrm>
          <a:prstGeom prst="rect">
            <a:avLst/>
          </a:prstGeom>
          <a:noFill/>
          <a:ln/>
        </p:spPr>
        <p:txBody>
          <a:bodyPr wrap="square" lIns="0" tIns="0" rIns="0" bIns="0" rtlCol="0" anchor="ctr"/>
          <a:lstStyle/>
          <a:p>
            <a:pPr algn="l" indent="0" marL="0">
              <a:buNone/>
            </a:pPr>
            <a:r>
              <a:rPr lang="en-US" sz="1600" i="1" dirty="0">
                <a:solidFill>
                  <a:schemeClr val="tx1"/>
                </a:solidFill>
              </a:rPr>
              <a:t>→ naar </a:t>
            </a:r>
            <a:r>
              <a:rPr lang="en-US" sz="1600" b="1" i="1" dirty="0">
                <a:solidFill>
                  <a:schemeClr val="tx1"/>
                </a:solidFill>
              </a:rPr>
              <a:t>beneden</a:t>
            </a:r>
            <a:endParaRPr lang="en-US" sz="1600" dirty="0"/>
          </a:p>
          <a:p>
            <a:pPr algn="l" indent="0" marL="0">
              <a:buNone/>
            </a:pPr>
            <a:r>
              <a:rPr lang="en-US" sz="1600" dirty="0">
                <a:solidFill>
                  <a:schemeClr val="tx1"/>
                </a:solidFill>
              </a:rPr>
              <a:t>descendre / en bas</a:t>
            </a:r>
            <a:endParaRPr lang="en-US" sz="1600" dirty="0"/>
          </a:p>
        </p:txBody>
      </p:sp>
      <p:sp>
        <p:nvSpPr>
          <p:cNvPr id="41" name="Text 37"/>
          <p:cNvSpPr txBox="1"/>
          <p:nvPr/>
        </p:nvSpPr>
        <p:spPr>
          <a:xfrm>
            <a:off x="9829800" y="4069080"/>
            <a:ext cx="1737360" cy="640080"/>
          </a:xfrm>
          <a:prstGeom prst="rect">
            <a:avLst/>
          </a:prstGeom>
          <a:noFill/>
          <a:ln/>
        </p:spPr>
        <p:txBody>
          <a:bodyPr wrap="square" lIns="0" tIns="0" rIns="0" bIns="0" rtlCol="0" anchor="ctr"/>
          <a:lstStyle/>
          <a:p>
            <a:pPr algn="l" indent="0" marL="0">
              <a:buNone/>
            </a:pPr>
            <a:r>
              <a:rPr lang="en-US" sz="1700" b="1" i="1" dirty="0">
                <a:solidFill>
                  <a:schemeClr val="accent2"/>
                </a:solidFill>
              </a:rPr>
              <a:t>beneden</a:t>
            </a:r>
            <a:endParaRPr lang="en-US" sz="1700" dirty="0"/>
          </a:p>
        </p:txBody>
      </p:sp>
      <p:sp>
        <p:nvSpPr>
          <p:cNvPr id="42" name="Shape 38"/>
          <p:cNvSpPr/>
          <p:nvPr/>
        </p:nvSpPr>
        <p:spPr>
          <a:xfrm>
            <a:off x="5486400" y="4892040"/>
            <a:ext cx="6153912" cy="566928"/>
          </a:xfrm>
          <a:prstGeom prst="roundRect">
            <a:avLst>
              <a:gd name="adj" fmla="val 12903"/>
            </a:avLst>
          </a:prstGeom>
          <a:solidFill>
            <a:srgbClr val="EAF2FB"/>
          </a:solidFill>
          <a:ln w="12700">
            <a:solidFill>
              <a:srgbClr val="2A6FB0"/>
            </a:solidFill>
            <a:prstDash val="solid"/>
          </a:ln>
        </p:spPr>
      </p:sp>
      <p:sp>
        <p:nvSpPr>
          <p:cNvPr id="43" name="Text 39"/>
          <p:cNvSpPr txBox="1"/>
          <p:nvPr/>
        </p:nvSpPr>
        <p:spPr>
          <a:xfrm>
            <a:off x="5623560" y="4892040"/>
            <a:ext cx="5943600" cy="566928"/>
          </a:xfrm>
          <a:prstGeom prst="rect">
            <a:avLst/>
          </a:prstGeom>
          <a:noFill/>
          <a:ln/>
        </p:spPr>
        <p:txBody>
          <a:bodyPr wrap="square" lIns="0" tIns="0" rIns="0" bIns="0" rtlCol="0" anchor="ctr"/>
          <a:lstStyle/>
          <a:p>
            <a:pPr algn="l" indent="0" marL="0">
              <a:buNone/>
            </a:pPr>
            <a:r>
              <a:rPr lang="en-US" sz="1500" dirty="0">
                <a:solidFill>
                  <a:schemeClr val="tx1"/>
                </a:solidFill>
              </a:rPr>
              <a:t>Avec </a:t>
            </a:r>
            <a:r>
              <a:rPr lang="en-US" sz="1500" i="1" dirty="0">
                <a:solidFill>
                  <a:schemeClr val="tx1"/>
                </a:solidFill>
              </a:rPr>
              <a:t>er</a:t>
            </a:r>
            <a:r>
              <a:rPr lang="en-US" sz="1500" dirty="0">
                <a:solidFill>
                  <a:schemeClr val="tx1"/>
                </a:solidFill>
              </a:rPr>
              <a:t> (M23) : </a:t>
            </a:r>
            <a:r>
              <a:rPr lang="en-US" sz="1500" i="1" dirty="0">
                <a:solidFill>
                  <a:schemeClr val="tx1"/>
                </a:solidFill>
              </a:rPr>
              <a:t>Daar is de lift. Ik stap </a:t>
            </a:r>
            <a:r>
              <a:rPr lang="en-US" sz="1500" b="1" i="1" dirty="0">
                <a:solidFill>
                  <a:schemeClr val="tx1"/>
                </a:solidFill>
              </a:rPr>
              <a:t>erin</a:t>
            </a:r>
            <a:r>
              <a:rPr lang="en-US" sz="1500" i="1" dirty="0">
                <a:solidFill>
                  <a:schemeClr val="tx1"/>
                </a:solidFill>
              </a:rPr>
              <a:t>. · … </a:t>
            </a:r>
            <a:r>
              <a:rPr lang="en-US" sz="1500" b="1" i="1" dirty="0">
                <a:solidFill>
                  <a:schemeClr val="tx1"/>
                </a:solidFill>
              </a:rPr>
              <a:t>eruit</a:t>
            </a:r>
            <a:r>
              <a:rPr lang="en-US" sz="1500" i="1" dirty="0">
                <a:solidFill>
                  <a:schemeClr val="tx1"/>
                </a:solidFill>
              </a:rPr>
              <a:t>.</a:t>
            </a:r>
            <a:endParaRPr lang="en-US" sz="1500" dirty="0"/>
          </a:p>
        </p:txBody>
      </p:sp>
      <p:sp>
        <p:nvSpPr>
          <p:cNvPr id="44" name="Shape 40"/>
          <p:cNvSpPr/>
          <p:nvPr/>
        </p:nvSpPr>
        <p:spPr>
          <a:xfrm>
            <a:off x="548640" y="5669280"/>
            <a:ext cx="11091672" cy="566928"/>
          </a:xfrm>
          <a:prstGeom prst="roundRect">
            <a:avLst>
              <a:gd name="adj" fmla="val 12903"/>
            </a:avLst>
          </a:prstGeom>
          <a:solidFill>
            <a:schemeClr val="tx2"/>
          </a:solidFill>
          <a:ln w="12700">
            <a:solidFill>
              <a:srgbClr val="FFFFFF">
                <a:alpha val="0"/>
              </a:srgbClr>
            </a:solidFill>
            <a:prstDash val="solid"/>
          </a:ln>
        </p:spPr>
      </p:sp>
      <p:sp>
        <p:nvSpPr>
          <p:cNvPr id="45" name="Text 41"/>
          <p:cNvSpPr txBox="1"/>
          <p:nvPr/>
        </p:nvSpPr>
        <p:spPr>
          <a:xfrm>
            <a:off x="822960" y="5669280"/>
            <a:ext cx="10607040" cy="566928"/>
          </a:xfrm>
          <a:prstGeom prst="rect">
            <a:avLst/>
          </a:prstGeom>
          <a:noFill/>
          <a:ln/>
        </p:spPr>
        <p:txBody>
          <a:bodyPr wrap="square" lIns="0" tIns="0" rIns="0" bIns="0" rtlCol="0" anchor="ctr"/>
          <a:lstStyle/>
          <a:p>
            <a:pPr algn="l" indent="0" marL="0">
              <a:buNone/>
            </a:pPr>
            <a:r>
              <a:rPr lang="en-US" sz="1700" i="1" dirty="0">
                <a:solidFill>
                  <a:schemeClr val="bg1"/>
                </a:solidFill>
              </a:rPr>
              <a:t>Ik ben </a:t>
            </a:r>
            <a:r>
              <a:rPr lang="en-US" sz="1700" b="1" i="1" dirty="0">
                <a:solidFill>
                  <a:schemeClr val="bg1"/>
                </a:solidFill>
              </a:rPr>
              <a:t>boven</a:t>
            </a:r>
            <a:r>
              <a:rPr lang="en-US" sz="1700" dirty="0">
                <a:solidFill>
                  <a:schemeClr val="bg1"/>
                </a:solidFill>
              </a:rPr>
              <a:t> (lieu) · </a:t>
            </a:r>
            <a:r>
              <a:rPr lang="en-US" sz="1700" i="1" dirty="0">
                <a:solidFill>
                  <a:schemeClr val="bg1"/>
                </a:solidFill>
              </a:rPr>
              <a:t>Ik ga </a:t>
            </a:r>
            <a:r>
              <a:rPr lang="en-US" sz="1700" b="1" i="1" dirty="0">
                <a:solidFill>
                  <a:schemeClr val="bg1"/>
                </a:solidFill>
              </a:rPr>
              <a:t>naar boven</a:t>
            </a:r>
            <a:r>
              <a:rPr lang="en-US" sz="1700" dirty="0">
                <a:solidFill>
                  <a:schemeClr val="bg1"/>
                </a:solidFill>
              </a:rPr>
              <a:t> (direction) — et la formule figée </a:t>
            </a:r>
            <a:r>
              <a:rPr lang="en-US" sz="1700" i="1" dirty="0">
                <a:solidFill>
                  <a:schemeClr val="bg1"/>
                </a:solidFill>
              </a:rPr>
              <a:t>Kom binnen!</a:t>
            </a:r>
            <a:r>
              <a:rPr lang="en-US" sz="1700" dirty="0">
                <a:solidFill>
                  <a:schemeClr val="bg1"/>
                </a:solidFill>
              </a:rPr>
              <a:t> (M16)</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APERÇU : les omzetsels (en deux morceaux)</a:t>
            </a:r>
            <a:endParaRPr lang="en-US" sz="3000" dirty="0"/>
          </a:p>
        </p:txBody>
      </p:sp>
      <p:sp>
        <p:nvSpPr>
          <p:cNvPr id="3" name="tag"/>
          <p:cNvSpPr/>
          <p:nvPr/>
        </p:nvSpPr>
        <p:spPr>
          <a:xfrm>
            <a:off x="548640" y="237744"/>
            <a:ext cx="1338682"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 APERÇU</a:t>
            </a:r>
            <a:endParaRPr lang="en-US" sz="1200" dirty="0"/>
          </a:p>
        </p:txBody>
      </p:sp>
      <p:sp>
        <p:nvSpPr>
          <p:cNvPr id="5" name="Shape 2"/>
          <p:cNvSpPr/>
          <p:nvPr/>
        </p:nvSpPr>
        <p:spPr>
          <a:xfrm>
            <a:off x="548640" y="1554480"/>
            <a:ext cx="2649474" cy="1828800"/>
          </a:xfrm>
          <a:prstGeom prst="roundRect">
            <a:avLst>
              <a:gd name="adj" fmla="val 5000"/>
            </a:avLst>
          </a:prstGeom>
          <a:solidFill>
            <a:srgbClr val="FFFFFF"/>
          </a:solidFill>
          <a:ln w="19050">
            <a:solidFill>
              <a:srgbClr val="B4236A"/>
            </a:solidFill>
            <a:prstDash val="solid"/>
          </a:ln>
        </p:spPr>
      </p:sp>
      <p:pic>
        <p:nvPicPr>
          <p:cNvPr id="6" name="Image 0" descr="door">    </p:cNvPr>
          <p:cNvPicPr>
            <a:picLocks noChangeAspect="1"/>
          </p:cNvPicPr>
          <p:nvPr/>
        </p:nvPicPr>
        <p:blipFill>
          <a:blip r:embed="rId1"/>
          <a:stretch>
            <a:fillRect/>
          </a:stretch>
        </p:blipFill>
        <p:spPr>
          <a:xfrm>
            <a:off x="1188720" y="1897380"/>
            <a:ext cx="320040" cy="320040"/>
          </a:xfrm>
          <a:prstGeom prst="rect">
            <a:avLst/>
          </a:prstGeom>
        </p:spPr>
      </p:pic>
      <p:sp>
        <p:nvSpPr>
          <p:cNvPr id="7" name="Shape 3"/>
          <p:cNvSpPr/>
          <p:nvPr/>
        </p:nvSpPr>
        <p:spPr>
          <a:xfrm>
            <a:off x="685800" y="2103120"/>
            <a:ext cx="457200" cy="914"/>
          </a:xfrm>
          <a:prstGeom prst="line">
            <a:avLst/>
          </a:prstGeom>
          <a:noFill/>
          <a:ln w="44450">
            <a:solidFill>
              <a:srgbClr val="B4236A"/>
            </a:solidFill>
            <a:prstDash val="solid"/>
            <a:tailEnd type="triangle"/>
          </a:ln>
        </p:spPr>
      </p:sp>
      <p:sp>
        <p:nvSpPr>
          <p:cNvPr id="8" name="Text 4"/>
          <p:cNvSpPr txBox="1"/>
          <p:nvPr/>
        </p:nvSpPr>
        <p:spPr>
          <a:xfrm>
            <a:off x="1600200" y="1645920"/>
            <a:ext cx="1552194" cy="457200"/>
          </a:xfrm>
          <a:prstGeom prst="rect">
            <a:avLst/>
          </a:prstGeom>
          <a:noFill/>
          <a:ln/>
        </p:spPr>
        <p:txBody>
          <a:bodyPr wrap="square" lIns="0" tIns="0" rIns="0" bIns="0" rtlCol="0" anchor="ctr"/>
          <a:lstStyle/>
          <a:p>
            <a:pPr algn="l" indent="0" marL="0">
              <a:buNone/>
            </a:pPr>
            <a:r>
              <a:rPr lang="en-US" sz="1500" b="1" dirty="0">
                <a:solidFill>
                  <a:schemeClr val="accent4"/>
                </a:solidFill>
              </a:rPr>
              <a:t>naar ▢ toe</a:t>
            </a:r>
            <a:endParaRPr lang="en-US" sz="1500" dirty="0"/>
          </a:p>
        </p:txBody>
      </p:sp>
      <p:sp>
        <p:nvSpPr>
          <p:cNvPr id="9" name="Text 5"/>
          <p:cNvSpPr txBox="1"/>
          <p:nvPr/>
        </p:nvSpPr>
        <p:spPr>
          <a:xfrm>
            <a:off x="1600200" y="2103120"/>
            <a:ext cx="1552194" cy="411480"/>
          </a:xfrm>
          <a:prstGeom prst="rect">
            <a:avLst/>
          </a:prstGeom>
          <a:noFill/>
          <a:ln/>
        </p:spPr>
        <p:txBody>
          <a:bodyPr wrap="square" lIns="0" tIns="0" rIns="0" bIns="0" rtlCol="0" anchor="ctr"/>
          <a:lstStyle/>
          <a:p>
            <a:pPr algn="l" indent="0" marL="0">
              <a:buNone/>
            </a:pPr>
            <a:r>
              <a:rPr lang="en-US" sz="1300" i="1" dirty="0">
                <a:solidFill>
                  <a:schemeClr val="accent5"/>
                </a:solidFill>
              </a:rPr>
              <a:t>vers</a:t>
            </a:r>
            <a:endParaRPr lang="en-US" sz="1300" dirty="0"/>
          </a:p>
        </p:txBody>
      </p:sp>
      <p:sp>
        <p:nvSpPr>
          <p:cNvPr id="10" name="Text 6"/>
          <p:cNvSpPr txBox="1"/>
          <p:nvPr/>
        </p:nvSpPr>
        <p:spPr>
          <a:xfrm>
            <a:off x="658368" y="2606040"/>
            <a:ext cx="2430018" cy="731520"/>
          </a:xfrm>
          <a:prstGeom prst="rect">
            <a:avLst/>
          </a:prstGeom>
          <a:noFill/>
          <a:ln/>
        </p:spPr>
        <p:txBody>
          <a:bodyPr wrap="square" lIns="0" tIns="0" rIns="0" bIns="0" rtlCol="0" anchor="ctr"/>
          <a:lstStyle/>
          <a:p>
            <a:pPr algn="l" indent="0" marL="0">
              <a:buNone/>
            </a:pPr>
            <a:r>
              <a:rPr lang="en-US" sz="1400" i="1" dirty="0">
                <a:solidFill>
                  <a:schemeClr val="tx1"/>
                </a:solidFill>
              </a:rPr>
              <a:t>Ik loop </a:t>
            </a:r>
            <a:r>
              <a:rPr lang="en-US" sz="1400" b="1" i="1" dirty="0">
                <a:solidFill>
                  <a:schemeClr val="accent4"/>
                </a:solidFill>
              </a:rPr>
              <a:t>naar</a:t>
            </a:r>
            <a:r>
              <a:rPr lang="en-US" sz="1400" i="1" dirty="0">
                <a:solidFill>
                  <a:schemeClr val="tx1"/>
                </a:solidFill>
              </a:rPr>
              <a:t> de deur </a:t>
            </a:r>
            <a:r>
              <a:rPr lang="en-US" sz="1400" b="1" i="1" dirty="0">
                <a:solidFill>
                  <a:schemeClr val="accent4"/>
                </a:solidFill>
              </a:rPr>
              <a:t>toe</a:t>
            </a:r>
            <a:r>
              <a:rPr lang="en-US" sz="1400" i="1" dirty="0">
                <a:solidFill>
                  <a:schemeClr val="tx1"/>
                </a:solidFill>
              </a:rPr>
              <a:t>.</a:t>
            </a:r>
            <a:endParaRPr lang="en-US" sz="1400" dirty="0"/>
          </a:p>
        </p:txBody>
      </p:sp>
      <p:sp>
        <p:nvSpPr>
          <p:cNvPr id="11" name="Shape 7"/>
          <p:cNvSpPr/>
          <p:nvPr/>
        </p:nvSpPr>
        <p:spPr>
          <a:xfrm>
            <a:off x="3362706" y="1554480"/>
            <a:ext cx="2649474" cy="1828800"/>
          </a:xfrm>
          <a:prstGeom prst="roundRect">
            <a:avLst>
              <a:gd name="adj" fmla="val 5000"/>
            </a:avLst>
          </a:prstGeom>
          <a:solidFill>
            <a:srgbClr val="FFFFFF"/>
          </a:solidFill>
          <a:ln w="19050">
            <a:solidFill>
              <a:srgbClr val="B4236A"/>
            </a:solidFill>
            <a:prstDash val="solid"/>
          </a:ln>
        </p:spPr>
      </p:sp>
      <p:sp>
        <p:nvSpPr>
          <p:cNvPr id="12" name="Shape 8"/>
          <p:cNvSpPr/>
          <p:nvPr/>
        </p:nvSpPr>
        <p:spPr>
          <a:xfrm>
            <a:off x="3545586" y="1965960"/>
            <a:ext cx="502920" cy="64008"/>
          </a:xfrm>
          <a:prstGeom prst="rect">
            <a:avLst/>
          </a:prstGeom>
          <a:solidFill>
            <a:srgbClr val="B07A4A"/>
          </a:solidFill>
          <a:ln w="12700">
            <a:solidFill>
              <a:srgbClr val="FFFFFF">
                <a:alpha val="0"/>
              </a:srgbClr>
            </a:solidFill>
            <a:prstDash val="solid"/>
          </a:ln>
        </p:spPr>
      </p:sp>
      <p:sp>
        <p:nvSpPr>
          <p:cNvPr id="13" name="Shape 9"/>
          <p:cNvSpPr/>
          <p:nvPr/>
        </p:nvSpPr>
        <p:spPr>
          <a:xfrm>
            <a:off x="3591306" y="2029968"/>
            <a:ext cx="914" cy="393192"/>
          </a:xfrm>
          <a:prstGeom prst="line">
            <a:avLst/>
          </a:prstGeom>
          <a:noFill/>
          <a:ln w="25400">
            <a:solidFill>
              <a:srgbClr val="8A5A33"/>
            </a:solidFill>
            <a:prstDash val="solid"/>
          </a:ln>
        </p:spPr>
      </p:sp>
      <p:sp>
        <p:nvSpPr>
          <p:cNvPr id="14" name="Shape 10"/>
          <p:cNvSpPr/>
          <p:nvPr/>
        </p:nvSpPr>
        <p:spPr>
          <a:xfrm>
            <a:off x="4002786" y="2029968"/>
            <a:ext cx="914" cy="393192"/>
          </a:xfrm>
          <a:prstGeom prst="line">
            <a:avLst/>
          </a:prstGeom>
          <a:noFill/>
          <a:ln w="25400">
            <a:solidFill>
              <a:srgbClr val="8A5A33"/>
            </a:solidFill>
            <a:prstDash val="solid"/>
          </a:ln>
        </p:spPr>
      </p:sp>
      <p:pic>
        <p:nvPicPr>
          <p:cNvPr id="15" name="Image 1" descr="cat">    </p:cNvPr>
          <p:cNvPicPr>
            <a:picLocks noChangeAspect="1"/>
          </p:cNvPicPr>
          <p:nvPr/>
        </p:nvPicPr>
        <p:blipFill>
          <a:blip r:embed="rId2"/>
          <a:stretch>
            <a:fillRect/>
          </a:stretch>
        </p:blipFill>
        <p:spPr>
          <a:xfrm>
            <a:off x="3682746" y="1719072"/>
            <a:ext cx="228600" cy="228600"/>
          </a:xfrm>
          <a:prstGeom prst="rect">
            <a:avLst/>
          </a:prstGeom>
        </p:spPr>
      </p:pic>
      <p:sp>
        <p:nvSpPr>
          <p:cNvPr id="16" name="Shape 11"/>
          <p:cNvSpPr/>
          <p:nvPr/>
        </p:nvSpPr>
        <p:spPr>
          <a:xfrm>
            <a:off x="3911346" y="1920240"/>
            <a:ext cx="365760" cy="530352"/>
          </a:xfrm>
          <a:prstGeom prst="line">
            <a:avLst/>
          </a:prstGeom>
          <a:noFill/>
          <a:ln w="44450">
            <a:solidFill>
              <a:srgbClr val="B4236A"/>
            </a:solidFill>
            <a:prstDash val="solid"/>
            <a:tailEnd type="triangle"/>
          </a:ln>
        </p:spPr>
      </p:sp>
      <p:sp>
        <p:nvSpPr>
          <p:cNvPr id="17" name="Text 12"/>
          <p:cNvSpPr txBox="1"/>
          <p:nvPr/>
        </p:nvSpPr>
        <p:spPr>
          <a:xfrm>
            <a:off x="4414266" y="1645920"/>
            <a:ext cx="1552194" cy="457200"/>
          </a:xfrm>
          <a:prstGeom prst="rect">
            <a:avLst/>
          </a:prstGeom>
          <a:noFill/>
          <a:ln/>
        </p:spPr>
        <p:txBody>
          <a:bodyPr wrap="square" lIns="0" tIns="0" rIns="0" bIns="0" rtlCol="0" anchor="ctr"/>
          <a:lstStyle/>
          <a:p>
            <a:pPr algn="l" indent="0" marL="0">
              <a:buNone/>
            </a:pPr>
            <a:r>
              <a:rPr lang="en-US" sz="1500" b="1" dirty="0">
                <a:solidFill>
                  <a:schemeClr val="accent4"/>
                </a:solidFill>
              </a:rPr>
              <a:t>van ▢ af</a:t>
            </a:r>
            <a:endParaRPr lang="en-US" sz="1500" dirty="0"/>
          </a:p>
        </p:txBody>
      </p:sp>
      <p:sp>
        <p:nvSpPr>
          <p:cNvPr id="18" name="Text 13"/>
          <p:cNvSpPr txBox="1"/>
          <p:nvPr/>
        </p:nvSpPr>
        <p:spPr>
          <a:xfrm>
            <a:off x="4414266" y="2103120"/>
            <a:ext cx="1552194" cy="411480"/>
          </a:xfrm>
          <a:prstGeom prst="rect">
            <a:avLst/>
          </a:prstGeom>
          <a:noFill/>
          <a:ln/>
        </p:spPr>
        <p:txBody>
          <a:bodyPr wrap="square" lIns="0" tIns="0" rIns="0" bIns="0" rtlCol="0" anchor="ctr"/>
          <a:lstStyle/>
          <a:p>
            <a:pPr algn="l" indent="0" marL="0">
              <a:buNone/>
            </a:pPr>
            <a:r>
              <a:rPr lang="en-US" sz="1300" i="1" dirty="0">
                <a:solidFill>
                  <a:schemeClr val="accent5"/>
                </a:solidFill>
              </a:rPr>
              <a:t>descendre de</a:t>
            </a:r>
            <a:endParaRPr lang="en-US" sz="1300" dirty="0"/>
          </a:p>
        </p:txBody>
      </p:sp>
      <p:sp>
        <p:nvSpPr>
          <p:cNvPr id="19" name="Text 14"/>
          <p:cNvSpPr txBox="1"/>
          <p:nvPr/>
        </p:nvSpPr>
        <p:spPr>
          <a:xfrm>
            <a:off x="3472434" y="2606040"/>
            <a:ext cx="2430018" cy="731520"/>
          </a:xfrm>
          <a:prstGeom prst="rect">
            <a:avLst/>
          </a:prstGeom>
          <a:noFill/>
          <a:ln/>
        </p:spPr>
        <p:txBody>
          <a:bodyPr wrap="square" lIns="0" tIns="0" rIns="0" bIns="0" rtlCol="0" anchor="ctr"/>
          <a:lstStyle/>
          <a:p>
            <a:pPr algn="l" indent="0" marL="0">
              <a:buNone/>
            </a:pPr>
            <a:r>
              <a:rPr lang="en-US" sz="1400" i="1" dirty="0">
                <a:solidFill>
                  <a:schemeClr val="tx1"/>
                </a:solidFill>
              </a:rPr>
              <a:t>De kat springt </a:t>
            </a:r>
            <a:r>
              <a:rPr lang="en-US" sz="1400" b="1" i="1" dirty="0">
                <a:solidFill>
                  <a:schemeClr val="accent4"/>
                </a:solidFill>
              </a:rPr>
              <a:t>van</a:t>
            </a:r>
            <a:r>
              <a:rPr lang="en-US" sz="1400" i="1" dirty="0">
                <a:solidFill>
                  <a:schemeClr val="tx1"/>
                </a:solidFill>
              </a:rPr>
              <a:t> de tafel </a:t>
            </a:r>
            <a:r>
              <a:rPr lang="en-US" sz="1400" b="1" i="1" dirty="0">
                <a:solidFill>
                  <a:schemeClr val="accent4"/>
                </a:solidFill>
              </a:rPr>
              <a:t>af</a:t>
            </a:r>
            <a:r>
              <a:rPr lang="en-US" sz="1400" i="1" dirty="0">
                <a:solidFill>
                  <a:schemeClr val="tx1"/>
                </a:solidFill>
              </a:rPr>
              <a:t>.</a:t>
            </a:r>
            <a:endParaRPr lang="en-US" sz="1400" dirty="0"/>
          </a:p>
        </p:txBody>
      </p:sp>
      <p:sp>
        <p:nvSpPr>
          <p:cNvPr id="20" name="Shape 15"/>
          <p:cNvSpPr/>
          <p:nvPr/>
        </p:nvSpPr>
        <p:spPr>
          <a:xfrm>
            <a:off x="6176772" y="1554480"/>
            <a:ext cx="2649474" cy="1828800"/>
          </a:xfrm>
          <a:prstGeom prst="roundRect">
            <a:avLst>
              <a:gd name="adj" fmla="val 5000"/>
            </a:avLst>
          </a:prstGeom>
          <a:solidFill>
            <a:srgbClr val="FFFFFF"/>
          </a:solidFill>
          <a:ln w="19050">
            <a:solidFill>
              <a:srgbClr val="B4236A"/>
            </a:solidFill>
            <a:prstDash val="solid"/>
          </a:ln>
        </p:spPr>
      </p:sp>
      <p:sp>
        <p:nvSpPr>
          <p:cNvPr id="21" name="Shape 16"/>
          <p:cNvSpPr/>
          <p:nvPr/>
        </p:nvSpPr>
        <p:spPr>
          <a:xfrm>
            <a:off x="6560820" y="2057400"/>
            <a:ext cx="329184" cy="365760"/>
          </a:xfrm>
          <a:prstGeom prst="rect">
            <a:avLst/>
          </a:prstGeom>
          <a:solidFill>
            <a:srgbClr val="D5DCE6"/>
          </a:solidFill>
          <a:ln w="12700">
            <a:solidFill>
              <a:srgbClr val="4A5A70"/>
            </a:solidFill>
            <a:prstDash val="solid"/>
          </a:ln>
        </p:spPr>
      </p:sp>
      <p:sp>
        <p:nvSpPr>
          <p:cNvPr id="22" name="Shape 17"/>
          <p:cNvSpPr/>
          <p:nvPr/>
        </p:nvSpPr>
        <p:spPr>
          <a:xfrm>
            <a:off x="6377940" y="1874520"/>
            <a:ext cx="694944" cy="914400"/>
          </a:xfrm>
          <a:prstGeom prst="arc">
            <a:avLst>
              <a:gd name="adj1" fmla="val 10800000"/>
              <a:gd name="adj2" fmla="val 21600000"/>
            </a:avLst>
          </a:prstGeom>
          <a:solidFill>
            <a:srgbClr val="FFFFFF">
              <a:alpha val="0"/>
            </a:srgbClr>
          </a:solidFill>
          <a:ln w="38100">
            <a:solidFill>
              <a:srgbClr val="B4236A"/>
            </a:solidFill>
            <a:prstDash val="solid"/>
            <a:tailEnd type="triangle"/>
          </a:ln>
        </p:spPr>
      </p:sp>
      <p:sp>
        <p:nvSpPr>
          <p:cNvPr id="23" name="Text 18"/>
          <p:cNvSpPr txBox="1"/>
          <p:nvPr/>
        </p:nvSpPr>
        <p:spPr>
          <a:xfrm>
            <a:off x="7228332" y="1645920"/>
            <a:ext cx="1552194" cy="457200"/>
          </a:xfrm>
          <a:prstGeom prst="rect">
            <a:avLst/>
          </a:prstGeom>
          <a:noFill/>
          <a:ln/>
        </p:spPr>
        <p:txBody>
          <a:bodyPr wrap="square" lIns="0" tIns="0" rIns="0" bIns="0" rtlCol="0" anchor="ctr"/>
          <a:lstStyle/>
          <a:p>
            <a:pPr algn="l" indent="0" marL="0">
              <a:buNone/>
            </a:pPr>
            <a:r>
              <a:rPr lang="en-US" sz="1500" b="1" dirty="0">
                <a:solidFill>
                  <a:schemeClr val="accent4"/>
                </a:solidFill>
              </a:rPr>
              <a:t>om ▢ heen</a:t>
            </a:r>
            <a:endParaRPr lang="en-US" sz="1500" dirty="0"/>
          </a:p>
        </p:txBody>
      </p:sp>
      <p:sp>
        <p:nvSpPr>
          <p:cNvPr id="24" name="Text 19"/>
          <p:cNvSpPr txBox="1"/>
          <p:nvPr/>
        </p:nvSpPr>
        <p:spPr>
          <a:xfrm>
            <a:off x="7228332" y="2103120"/>
            <a:ext cx="1552194" cy="411480"/>
          </a:xfrm>
          <a:prstGeom prst="rect">
            <a:avLst/>
          </a:prstGeom>
          <a:noFill/>
          <a:ln/>
        </p:spPr>
        <p:txBody>
          <a:bodyPr wrap="square" lIns="0" tIns="0" rIns="0" bIns="0" rtlCol="0" anchor="ctr"/>
          <a:lstStyle/>
          <a:p>
            <a:pPr algn="l" indent="0" marL="0">
              <a:buNone/>
            </a:pPr>
            <a:r>
              <a:rPr lang="en-US" sz="1300" i="1" dirty="0">
                <a:solidFill>
                  <a:schemeClr val="accent5"/>
                </a:solidFill>
              </a:rPr>
              <a:t>autour de</a:t>
            </a:r>
            <a:endParaRPr lang="en-US" sz="1300" dirty="0"/>
          </a:p>
        </p:txBody>
      </p:sp>
      <p:sp>
        <p:nvSpPr>
          <p:cNvPr id="25" name="Text 20"/>
          <p:cNvSpPr txBox="1"/>
          <p:nvPr/>
        </p:nvSpPr>
        <p:spPr>
          <a:xfrm>
            <a:off x="6286500" y="2606040"/>
            <a:ext cx="2430018" cy="731520"/>
          </a:xfrm>
          <a:prstGeom prst="rect">
            <a:avLst/>
          </a:prstGeom>
          <a:noFill/>
          <a:ln/>
        </p:spPr>
        <p:txBody>
          <a:bodyPr wrap="square" lIns="0" tIns="0" rIns="0" bIns="0" rtlCol="0" anchor="ctr"/>
          <a:lstStyle/>
          <a:p>
            <a:pPr algn="l" indent="0" marL="0">
              <a:buNone/>
            </a:pPr>
            <a:r>
              <a:rPr lang="en-US" sz="1400" i="1" dirty="0">
                <a:solidFill>
                  <a:schemeClr val="tx1"/>
                </a:solidFill>
              </a:rPr>
              <a:t>We lopen </a:t>
            </a:r>
            <a:r>
              <a:rPr lang="en-US" sz="1400" b="1" i="1" dirty="0">
                <a:solidFill>
                  <a:schemeClr val="accent4"/>
                </a:solidFill>
              </a:rPr>
              <a:t>om</a:t>
            </a:r>
            <a:r>
              <a:rPr lang="en-US" sz="1400" i="1" dirty="0">
                <a:solidFill>
                  <a:schemeClr val="tx1"/>
                </a:solidFill>
              </a:rPr>
              <a:t> het gebouw </a:t>
            </a:r>
            <a:r>
              <a:rPr lang="en-US" sz="1400" b="1" i="1" dirty="0">
                <a:solidFill>
                  <a:schemeClr val="accent4"/>
                </a:solidFill>
              </a:rPr>
              <a:t>heen</a:t>
            </a:r>
            <a:r>
              <a:rPr lang="en-US" sz="1400" i="1" dirty="0">
                <a:solidFill>
                  <a:schemeClr val="tx1"/>
                </a:solidFill>
              </a:rPr>
              <a:t>.</a:t>
            </a:r>
            <a:endParaRPr lang="en-US" sz="1400" dirty="0"/>
          </a:p>
        </p:txBody>
      </p:sp>
      <p:sp>
        <p:nvSpPr>
          <p:cNvPr id="26" name="Shape 21"/>
          <p:cNvSpPr/>
          <p:nvPr/>
        </p:nvSpPr>
        <p:spPr>
          <a:xfrm>
            <a:off x="8990838" y="1554480"/>
            <a:ext cx="2649474" cy="1828800"/>
          </a:xfrm>
          <a:prstGeom prst="roundRect">
            <a:avLst>
              <a:gd name="adj" fmla="val 5000"/>
            </a:avLst>
          </a:prstGeom>
          <a:solidFill>
            <a:srgbClr val="FFFFFF"/>
          </a:solidFill>
          <a:ln w="19050">
            <a:solidFill>
              <a:srgbClr val="B4236A"/>
            </a:solidFill>
            <a:prstDash val="solid"/>
          </a:ln>
        </p:spPr>
      </p:sp>
      <p:sp>
        <p:nvSpPr>
          <p:cNvPr id="27" name="Shape 22"/>
          <p:cNvSpPr/>
          <p:nvPr/>
        </p:nvSpPr>
        <p:spPr>
          <a:xfrm>
            <a:off x="9448038" y="2148840"/>
            <a:ext cx="914" cy="320040"/>
          </a:xfrm>
          <a:prstGeom prst="line">
            <a:avLst/>
          </a:prstGeom>
          <a:noFill/>
          <a:ln w="31750">
            <a:solidFill>
              <a:srgbClr val="8A5A33"/>
            </a:solidFill>
            <a:prstDash val="solid"/>
          </a:ln>
        </p:spPr>
      </p:sp>
      <p:sp>
        <p:nvSpPr>
          <p:cNvPr id="28" name="Shape 23"/>
          <p:cNvSpPr/>
          <p:nvPr/>
        </p:nvSpPr>
        <p:spPr>
          <a:xfrm>
            <a:off x="9539478" y="2148840"/>
            <a:ext cx="914" cy="320040"/>
          </a:xfrm>
          <a:prstGeom prst="line">
            <a:avLst/>
          </a:prstGeom>
          <a:noFill/>
          <a:ln w="31750">
            <a:solidFill>
              <a:srgbClr val="8A5A33"/>
            </a:solidFill>
            <a:prstDash val="solid"/>
          </a:ln>
        </p:spPr>
      </p:sp>
      <p:sp>
        <p:nvSpPr>
          <p:cNvPr id="29" name="Shape 24"/>
          <p:cNvSpPr/>
          <p:nvPr/>
        </p:nvSpPr>
        <p:spPr>
          <a:xfrm>
            <a:off x="9630918" y="2148840"/>
            <a:ext cx="914" cy="320040"/>
          </a:xfrm>
          <a:prstGeom prst="line">
            <a:avLst/>
          </a:prstGeom>
          <a:noFill/>
          <a:ln w="31750">
            <a:solidFill>
              <a:srgbClr val="8A5A33"/>
            </a:solidFill>
            <a:prstDash val="solid"/>
          </a:ln>
        </p:spPr>
      </p:sp>
      <p:sp>
        <p:nvSpPr>
          <p:cNvPr id="30" name="Shape 25"/>
          <p:cNvSpPr/>
          <p:nvPr/>
        </p:nvSpPr>
        <p:spPr>
          <a:xfrm>
            <a:off x="9411462" y="2240280"/>
            <a:ext cx="256032" cy="914"/>
          </a:xfrm>
          <a:prstGeom prst="line">
            <a:avLst/>
          </a:prstGeom>
          <a:noFill/>
          <a:ln w="25400">
            <a:solidFill>
              <a:srgbClr val="8A5A33"/>
            </a:solidFill>
            <a:prstDash val="solid"/>
          </a:ln>
        </p:spPr>
      </p:sp>
      <p:sp>
        <p:nvSpPr>
          <p:cNvPr id="31" name="Shape 26"/>
          <p:cNvSpPr/>
          <p:nvPr/>
        </p:nvSpPr>
        <p:spPr>
          <a:xfrm>
            <a:off x="9173718" y="1920240"/>
            <a:ext cx="731520" cy="1005840"/>
          </a:xfrm>
          <a:prstGeom prst="arc">
            <a:avLst>
              <a:gd name="adj1" fmla="val 10800000"/>
              <a:gd name="adj2" fmla="val 21600000"/>
            </a:avLst>
          </a:prstGeom>
          <a:solidFill>
            <a:srgbClr val="FFFFFF">
              <a:alpha val="0"/>
            </a:srgbClr>
          </a:solidFill>
          <a:ln w="38100">
            <a:solidFill>
              <a:srgbClr val="B4236A"/>
            </a:solidFill>
            <a:prstDash val="solid"/>
            <a:tailEnd type="triangle"/>
          </a:ln>
        </p:spPr>
      </p:sp>
      <p:sp>
        <p:nvSpPr>
          <p:cNvPr id="32" name="Text 27"/>
          <p:cNvSpPr txBox="1"/>
          <p:nvPr/>
        </p:nvSpPr>
        <p:spPr>
          <a:xfrm>
            <a:off x="10042398" y="1645920"/>
            <a:ext cx="1552194" cy="457200"/>
          </a:xfrm>
          <a:prstGeom prst="rect">
            <a:avLst/>
          </a:prstGeom>
          <a:noFill/>
          <a:ln/>
        </p:spPr>
        <p:txBody>
          <a:bodyPr wrap="square" lIns="0" tIns="0" rIns="0" bIns="0" rtlCol="0" anchor="ctr"/>
          <a:lstStyle/>
          <a:p>
            <a:pPr algn="l" indent="0" marL="0">
              <a:buNone/>
            </a:pPr>
            <a:r>
              <a:rPr lang="en-US" sz="1500" b="1" dirty="0">
                <a:solidFill>
                  <a:schemeClr val="accent4"/>
                </a:solidFill>
              </a:rPr>
              <a:t>over ▢ heen</a:t>
            </a:r>
            <a:endParaRPr lang="en-US" sz="1500" dirty="0"/>
          </a:p>
        </p:txBody>
      </p:sp>
      <p:sp>
        <p:nvSpPr>
          <p:cNvPr id="33" name="Text 28"/>
          <p:cNvSpPr txBox="1"/>
          <p:nvPr/>
        </p:nvSpPr>
        <p:spPr>
          <a:xfrm>
            <a:off x="10042398" y="2103120"/>
            <a:ext cx="1552194" cy="411480"/>
          </a:xfrm>
          <a:prstGeom prst="rect">
            <a:avLst/>
          </a:prstGeom>
          <a:noFill/>
          <a:ln/>
        </p:spPr>
        <p:txBody>
          <a:bodyPr wrap="square" lIns="0" tIns="0" rIns="0" bIns="0" rtlCol="0" anchor="ctr"/>
          <a:lstStyle/>
          <a:p>
            <a:pPr algn="l" indent="0" marL="0">
              <a:buNone/>
            </a:pPr>
            <a:r>
              <a:rPr lang="en-US" sz="1300" i="1" dirty="0">
                <a:solidFill>
                  <a:schemeClr val="accent5"/>
                </a:solidFill>
              </a:rPr>
              <a:t>par-dessus</a:t>
            </a:r>
            <a:endParaRPr lang="en-US" sz="1300" dirty="0"/>
          </a:p>
        </p:txBody>
      </p:sp>
      <p:sp>
        <p:nvSpPr>
          <p:cNvPr id="34" name="Text 29"/>
          <p:cNvSpPr txBox="1"/>
          <p:nvPr/>
        </p:nvSpPr>
        <p:spPr>
          <a:xfrm>
            <a:off x="9100566" y="2606040"/>
            <a:ext cx="2430018" cy="731520"/>
          </a:xfrm>
          <a:prstGeom prst="rect">
            <a:avLst/>
          </a:prstGeom>
          <a:noFill/>
          <a:ln/>
        </p:spPr>
        <p:txBody>
          <a:bodyPr wrap="square" lIns="0" tIns="0" rIns="0" bIns="0" rtlCol="0" anchor="ctr"/>
          <a:lstStyle/>
          <a:p>
            <a:pPr algn="l" indent="0" marL="0">
              <a:buNone/>
            </a:pPr>
            <a:r>
              <a:rPr lang="en-US" sz="1400" i="1" dirty="0">
                <a:solidFill>
                  <a:schemeClr val="tx1"/>
                </a:solidFill>
              </a:rPr>
              <a:t>Ze springt </a:t>
            </a:r>
            <a:r>
              <a:rPr lang="en-US" sz="1400" b="1" i="1" dirty="0">
                <a:solidFill>
                  <a:schemeClr val="accent4"/>
                </a:solidFill>
              </a:rPr>
              <a:t>over</a:t>
            </a:r>
            <a:r>
              <a:rPr lang="en-US" sz="1400" i="1" dirty="0">
                <a:solidFill>
                  <a:schemeClr val="tx1"/>
                </a:solidFill>
              </a:rPr>
              <a:t> het hek </a:t>
            </a:r>
            <a:r>
              <a:rPr lang="en-US" sz="1400" b="1" i="1" dirty="0">
                <a:solidFill>
                  <a:schemeClr val="accent4"/>
                </a:solidFill>
              </a:rPr>
              <a:t>heen</a:t>
            </a:r>
            <a:r>
              <a:rPr lang="en-US" sz="1400" i="1" dirty="0">
                <a:solidFill>
                  <a:schemeClr val="tx1"/>
                </a:solidFill>
              </a:rPr>
              <a:t>.</a:t>
            </a:r>
            <a:endParaRPr lang="en-US" sz="1400" dirty="0"/>
          </a:p>
        </p:txBody>
      </p:sp>
      <p:sp>
        <p:nvSpPr>
          <p:cNvPr id="35" name="Shape 30"/>
          <p:cNvSpPr/>
          <p:nvPr/>
        </p:nvSpPr>
        <p:spPr>
          <a:xfrm>
            <a:off x="548640" y="3520440"/>
            <a:ext cx="2649474" cy="1828800"/>
          </a:xfrm>
          <a:prstGeom prst="roundRect">
            <a:avLst>
              <a:gd name="adj" fmla="val 5000"/>
            </a:avLst>
          </a:prstGeom>
          <a:solidFill>
            <a:srgbClr val="FFFFFF"/>
          </a:solidFill>
          <a:ln w="19050">
            <a:solidFill>
              <a:srgbClr val="B4236A"/>
            </a:solidFill>
            <a:prstDash val="solid"/>
          </a:ln>
        </p:spPr>
      </p:sp>
      <p:sp>
        <p:nvSpPr>
          <p:cNvPr id="36" name="Shape 31"/>
          <p:cNvSpPr/>
          <p:nvPr/>
        </p:nvSpPr>
        <p:spPr>
          <a:xfrm>
            <a:off x="777240" y="3794760"/>
            <a:ext cx="640080" cy="91440"/>
          </a:xfrm>
          <a:prstGeom prst="rect">
            <a:avLst/>
          </a:prstGeom>
          <a:solidFill>
            <a:srgbClr val="8A96A8"/>
          </a:solidFill>
          <a:ln w="12700">
            <a:solidFill>
              <a:srgbClr val="FFFFFF">
                <a:alpha val="0"/>
              </a:srgbClr>
            </a:solidFill>
            <a:prstDash val="solid"/>
          </a:ln>
        </p:spPr>
      </p:sp>
      <p:sp>
        <p:nvSpPr>
          <p:cNvPr id="37" name="Shape 32"/>
          <p:cNvSpPr/>
          <p:nvPr/>
        </p:nvSpPr>
        <p:spPr>
          <a:xfrm>
            <a:off x="841248" y="3886200"/>
            <a:ext cx="914" cy="182880"/>
          </a:xfrm>
          <a:prstGeom prst="line">
            <a:avLst/>
          </a:prstGeom>
          <a:noFill/>
          <a:ln w="50800">
            <a:solidFill>
              <a:srgbClr val="8A96A8"/>
            </a:solidFill>
            <a:prstDash val="solid"/>
          </a:ln>
        </p:spPr>
      </p:sp>
      <p:sp>
        <p:nvSpPr>
          <p:cNvPr id="38" name="Shape 33"/>
          <p:cNvSpPr/>
          <p:nvPr/>
        </p:nvSpPr>
        <p:spPr>
          <a:xfrm>
            <a:off x="1353312" y="3886200"/>
            <a:ext cx="914" cy="182880"/>
          </a:xfrm>
          <a:prstGeom prst="line">
            <a:avLst/>
          </a:prstGeom>
          <a:noFill/>
          <a:ln w="50800">
            <a:solidFill>
              <a:srgbClr val="8A96A8"/>
            </a:solidFill>
            <a:prstDash val="solid"/>
          </a:ln>
        </p:spPr>
      </p:sp>
      <p:sp>
        <p:nvSpPr>
          <p:cNvPr id="39" name="Shape 34"/>
          <p:cNvSpPr/>
          <p:nvPr/>
        </p:nvSpPr>
        <p:spPr>
          <a:xfrm>
            <a:off x="685800" y="4114800"/>
            <a:ext cx="822960" cy="274320"/>
          </a:xfrm>
          <a:prstGeom prst="rect">
            <a:avLst/>
          </a:prstGeom>
          <a:solidFill>
            <a:srgbClr val="7FB8E6"/>
          </a:solidFill>
          <a:ln w="12700">
            <a:solidFill>
              <a:srgbClr val="FFFFFF">
                <a:alpha val="0"/>
              </a:srgbClr>
            </a:solidFill>
            <a:prstDash val="solid"/>
          </a:ln>
        </p:spPr>
      </p:sp>
      <p:sp>
        <p:nvSpPr>
          <p:cNvPr id="40" name="Shape 35"/>
          <p:cNvSpPr/>
          <p:nvPr/>
        </p:nvSpPr>
        <p:spPr>
          <a:xfrm>
            <a:off x="694944" y="4215384"/>
            <a:ext cx="804672" cy="914"/>
          </a:xfrm>
          <a:prstGeom prst="line">
            <a:avLst/>
          </a:prstGeom>
          <a:noFill/>
          <a:ln w="44450">
            <a:solidFill>
              <a:srgbClr val="B4236A"/>
            </a:solidFill>
            <a:prstDash val="solid"/>
            <a:tailEnd type="triangle"/>
          </a:ln>
        </p:spPr>
      </p:sp>
      <p:sp>
        <p:nvSpPr>
          <p:cNvPr id="41" name="Text 36"/>
          <p:cNvSpPr txBox="1"/>
          <p:nvPr/>
        </p:nvSpPr>
        <p:spPr>
          <a:xfrm>
            <a:off x="1600200" y="3611880"/>
            <a:ext cx="1552194" cy="457200"/>
          </a:xfrm>
          <a:prstGeom prst="rect">
            <a:avLst/>
          </a:prstGeom>
          <a:noFill/>
          <a:ln/>
        </p:spPr>
        <p:txBody>
          <a:bodyPr wrap="square" lIns="0" tIns="0" rIns="0" bIns="0" rtlCol="0" anchor="ctr"/>
          <a:lstStyle/>
          <a:p>
            <a:pPr algn="l" indent="0" marL="0">
              <a:buNone/>
            </a:pPr>
            <a:r>
              <a:rPr lang="en-US" sz="1500" b="1" dirty="0">
                <a:solidFill>
                  <a:schemeClr val="accent4"/>
                </a:solidFill>
              </a:rPr>
              <a:t>onder ▢ door</a:t>
            </a:r>
            <a:endParaRPr lang="en-US" sz="1500" dirty="0"/>
          </a:p>
        </p:txBody>
      </p:sp>
      <p:sp>
        <p:nvSpPr>
          <p:cNvPr id="42" name="Text 37"/>
          <p:cNvSpPr txBox="1"/>
          <p:nvPr/>
        </p:nvSpPr>
        <p:spPr>
          <a:xfrm>
            <a:off x="1600200" y="4069080"/>
            <a:ext cx="1552194" cy="411480"/>
          </a:xfrm>
          <a:prstGeom prst="rect">
            <a:avLst/>
          </a:prstGeom>
          <a:noFill/>
          <a:ln/>
        </p:spPr>
        <p:txBody>
          <a:bodyPr wrap="square" lIns="0" tIns="0" rIns="0" bIns="0" rtlCol="0" anchor="ctr"/>
          <a:lstStyle/>
          <a:p>
            <a:pPr algn="l" indent="0" marL="0">
              <a:buNone/>
            </a:pPr>
            <a:r>
              <a:rPr lang="en-US" sz="1300" i="1" dirty="0">
                <a:solidFill>
                  <a:schemeClr val="accent5"/>
                </a:solidFill>
              </a:rPr>
              <a:t>sous</a:t>
            </a:r>
            <a:endParaRPr lang="en-US" sz="1300" dirty="0"/>
          </a:p>
        </p:txBody>
      </p:sp>
      <p:sp>
        <p:nvSpPr>
          <p:cNvPr id="43" name="Text 38"/>
          <p:cNvSpPr txBox="1"/>
          <p:nvPr/>
        </p:nvSpPr>
        <p:spPr>
          <a:xfrm>
            <a:off x="658368" y="4572000"/>
            <a:ext cx="2430018" cy="731520"/>
          </a:xfrm>
          <a:prstGeom prst="rect">
            <a:avLst/>
          </a:prstGeom>
          <a:noFill/>
          <a:ln/>
        </p:spPr>
        <p:txBody>
          <a:bodyPr wrap="square" lIns="0" tIns="0" rIns="0" bIns="0" rtlCol="0" anchor="ctr"/>
          <a:lstStyle/>
          <a:p>
            <a:pPr algn="l" indent="0" marL="0">
              <a:buNone/>
            </a:pPr>
            <a:r>
              <a:rPr lang="en-US" sz="1400" i="1" dirty="0">
                <a:solidFill>
                  <a:schemeClr val="tx1"/>
                </a:solidFill>
              </a:rPr>
              <a:t>De boot vaart </a:t>
            </a:r>
            <a:r>
              <a:rPr lang="en-US" sz="1400" b="1" i="1" dirty="0">
                <a:solidFill>
                  <a:schemeClr val="accent4"/>
                </a:solidFill>
              </a:rPr>
              <a:t>onder</a:t>
            </a:r>
            <a:r>
              <a:rPr lang="en-US" sz="1400" i="1" dirty="0">
                <a:solidFill>
                  <a:schemeClr val="tx1"/>
                </a:solidFill>
              </a:rPr>
              <a:t> de brug </a:t>
            </a:r>
            <a:r>
              <a:rPr lang="en-US" sz="1400" b="1" i="1" dirty="0">
                <a:solidFill>
                  <a:schemeClr val="accent4"/>
                </a:solidFill>
              </a:rPr>
              <a:t>door</a:t>
            </a:r>
            <a:r>
              <a:rPr lang="en-US" sz="1400" i="1" dirty="0">
                <a:solidFill>
                  <a:schemeClr val="tx1"/>
                </a:solidFill>
              </a:rPr>
              <a:t>.</a:t>
            </a:r>
            <a:endParaRPr lang="en-US" sz="1400" dirty="0"/>
          </a:p>
        </p:txBody>
      </p:sp>
      <p:sp>
        <p:nvSpPr>
          <p:cNvPr id="44" name="Shape 39"/>
          <p:cNvSpPr/>
          <p:nvPr/>
        </p:nvSpPr>
        <p:spPr>
          <a:xfrm>
            <a:off x="3362706" y="3520440"/>
            <a:ext cx="2649474" cy="1828800"/>
          </a:xfrm>
          <a:prstGeom prst="roundRect">
            <a:avLst>
              <a:gd name="adj" fmla="val 5000"/>
            </a:avLst>
          </a:prstGeom>
          <a:solidFill>
            <a:srgbClr val="FFFFFF"/>
          </a:solidFill>
          <a:ln w="19050">
            <a:solidFill>
              <a:srgbClr val="B4236A"/>
            </a:solidFill>
            <a:prstDash val="solid"/>
          </a:ln>
        </p:spPr>
      </p:sp>
      <p:pic>
        <p:nvPicPr>
          <p:cNvPr id="45" name="Image 2" descr="automobile">    </p:cNvPr>
          <p:cNvPicPr>
            <a:picLocks noChangeAspect="1"/>
          </p:cNvPicPr>
          <p:nvPr/>
        </p:nvPicPr>
        <p:blipFill>
          <a:blip r:embed="rId3"/>
          <a:stretch>
            <a:fillRect/>
          </a:stretch>
        </p:blipFill>
        <p:spPr>
          <a:xfrm>
            <a:off x="3765042" y="3611880"/>
            <a:ext cx="292608" cy="292608"/>
          </a:xfrm>
          <a:prstGeom prst="rect">
            <a:avLst/>
          </a:prstGeom>
        </p:spPr>
      </p:pic>
      <p:pic>
        <p:nvPicPr>
          <p:cNvPr id="46" name="Image 3" descr="automobile">    </p:cNvPr>
          <p:cNvPicPr>
            <a:picLocks noChangeAspect="1"/>
          </p:cNvPicPr>
          <p:nvPr/>
        </p:nvPicPr>
        <p:blipFill>
          <a:blip r:embed="rId4"/>
          <a:stretch>
            <a:fillRect/>
          </a:stretch>
        </p:blipFill>
        <p:spPr>
          <a:xfrm>
            <a:off x="3765042" y="4215384"/>
            <a:ext cx="292608" cy="292608"/>
          </a:xfrm>
          <a:prstGeom prst="rect">
            <a:avLst/>
          </a:prstGeom>
        </p:spPr>
      </p:pic>
      <p:sp>
        <p:nvSpPr>
          <p:cNvPr id="47" name="Shape 40"/>
          <p:cNvSpPr/>
          <p:nvPr/>
        </p:nvSpPr>
        <p:spPr>
          <a:xfrm>
            <a:off x="3499866" y="4069080"/>
            <a:ext cx="822960" cy="914"/>
          </a:xfrm>
          <a:prstGeom prst="line">
            <a:avLst/>
          </a:prstGeom>
          <a:noFill/>
          <a:ln w="44450">
            <a:solidFill>
              <a:srgbClr val="B4236A"/>
            </a:solidFill>
            <a:prstDash val="solid"/>
            <a:tailEnd type="triangle"/>
          </a:ln>
        </p:spPr>
      </p:sp>
      <p:sp>
        <p:nvSpPr>
          <p:cNvPr id="48" name="Text 41"/>
          <p:cNvSpPr txBox="1"/>
          <p:nvPr/>
        </p:nvSpPr>
        <p:spPr>
          <a:xfrm>
            <a:off x="4414266" y="3611880"/>
            <a:ext cx="1552194" cy="457200"/>
          </a:xfrm>
          <a:prstGeom prst="rect">
            <a:avLst/>
          </a:prstGeom>
          <a:noFill/>
          <a:ln/>
        </p:spPr>
        <p:txBody>
          <a:bodyPr wrap="square" lIns="0" tIns="0" rIns="0" bIns="0" rtlCol="0" anchor="ctr"/>
          <a:lstStyle/>
          <a:p>
            <a:pPr algn="l" indent="0" marL="0">
              <a:buNone/>
            </a:pPr>
            <a:r>
              <a:rPr lang="en-US" sz="1500" b="1" dirty="0">
                <a:solidFill>
                  <a:schemeClr val="accent4"/>
                </a:solidFill>
              </a:rPr>
              <a:t>tussen ▢ door</a:t>
            </a:r>
            <a:endParaRPr lang="en-US" sz="1500" dirty="0"/>
          </a:p>
        </p:txBody>
      </p:sp>
      <p:sp>
        <p:nvSpPr>
          <p:cNvPr id="49" name="Text 42"/>
          <p:cNvSpPr txBox="1"/>
          <p:nvPr/>
        </p:nvSpPr>
        <p:spPr>
          <a:xfrm>
            <a:off x="4414266" y="4069080"/>
            <a:ext cx="1552194" cy="411480"/>
          </a:xfrm>
          <a:prstGeom prst="rect">
            <a:avLst/>
          </a:prstGeom>
          <a:noFill/>
          <a:ln/>
        </p:spPr>
        <p:txBody>
          <a:bodyPr wrap="square" lIns="0" tIns="0" rIns="0" bIns="0" rtlCol="0" anchor="ctr"/>
          <a:lstStyle/>
          <a:p>
            <a:pPr algn="l" indent="0" marL="0">
              <a:buNone/>
            </a:pPr>
            <a:r>
              <a:rPr lang="en-US" sz="1300" i="1" dirty="0">
                <a:solidFill>
                  <a:schemeClr val="accent5"/>
                </a:solidFill>
              </a:rPr>
              <a:t>entre</a:t>
            </a:r>
            <a:endParaRPr lang="en-US" sz="1300" dirty="0"/>
          </a:p>
        </p:txBody>
      </p:sp>
      <p:sp>
        <p:nvSpPr>
          <p:cNvPr id="50" name="Text 43"/>
          <p:cNvSpPr txBox="1"/>
          <p:nvPr/>
        </p:nvSpPr>
        <p:spPr>
          <a:xfrm>
            <a:off x="3472434" y="4572000"/>
            <a:ext cx="2430018" cy="731520"/>
          </a:xfrm>
          <a:prstGeom prst="rect">
            <a:avLst/>
          </a:prstGeom>
          <a:noFill/>
          <a:ln/>
        </p:spPr>
        <p:txBody>
          <a:bodyPr wrap="square" lIns="0" tIns="0" rIns="0" bIns="0" rtlCol="0" anchor="ctr"/>
          <a:lstStyle/>
          <a:p>
            <a:pPr algn="l" indent="0" marL="0">
              <a:buNone/>
            </a:pPr>
            <a:r>
              <a:rPr lang="en-US" sz="1400" i="1" dirty="0">
                <a:solidFill>
                  <a:schemeClr val="tx1"/>
                </a:solidFill>
              </a:rPr>
              <a:t>Ze fietst </a:t>
            </a:r>
            <a:r>
              <a:rPr lang="en-US" sz="1400" b="1" i="1" dirty="0">
                <a:solidFill>
                  <a:schemeClr val="accent4"/>
                </a:solidFill>
              </a:rPr>
              <a:t>tussen</a:t>
            </a:r>
            <a:r>
              <a:rPr lang="en-US" sz="1400" i="1" dirty="0">
                <a:solidFill>
                  <a:schemeClr val="tx1"/>
                </a:solidFill>
              </a:rPr>
              <a:t> de auto’s </a:t>
            </a:r>
            <a:r>
              <a:rPr lang="en-US" sz="1400" b="1" i="1" dirty="0">
                <a:solidFill>
                  <a:schemeClr val="accent4"/>
                </a:solidFill>
              </a:rPr>
              <a:t>door</a:t>
            </a:r>
            <a:r>
              <a:rPr lang="en-US" sz="1400" i="1" dirty="0">
                <a:solidFill>
                  <a:schemeClr val="tx1"/>
                </a:solidFill>
              </a:rPr>
              <a:t>.</a:t>
            </a:r>
            <a:endParaRPr lang="en-US" sz="1400" dirty="0"/>
          </a:p>
        </p:txBody>
      </p:sp>
      <p:sp>
        <p:nvSpPr>
          <p:cNvPr id="51" name="Shape 44"/>
          <p:cNvSpPr/>
          <p:nvPr/>
        </p:nvSpPr>
        <p:spPr>
          <a:xfrm>
            <a:off x="6176772" y="3520440"/>
            <a:ext cx="2649474" cy="1828800"/>
          </a:xfrm>
          <a:prstGeom prst="roundRect">
            <a:avLst>
              <a:gd name="adj" fmla="val 5000"/>
            </a:avLst>
          </a:prstGeom>
          <a:solidFill>
            <a:srgbClr val="FFFFFF"/>
          </a:solidFill>
          <a:ln w="19050">
            <a:solidFill>
              <a:srgbClr val="B4236A"/>
            </a:solidFill>
            <a:prstDash val="solid"/>
          </a:ln>
        </p:spPr>
      </p:sp>
      <p:pic>
        <p:nvPicPr>
          <p:cNvPr id="52" name="Image 4" descr="dog">    </p:cNvPr>
          <p:cNvPicPr>
            <a:picLocks noChangeAspect="1"/>
          </p:cNvPicPr>
          <p:nvPr/>
        </p:nvPicPr>
        <p:blipFill>
          <a:blip r:embed="rId5"/>
          <a:stretch>
            <a:fillRect/>
          </a:stretch>
        </p:blipFill>
        <p:spPr>
          <a:xfrm>
            <a:off x="6286500" y="3904488"/>
            <a:ext cx="329184" cy="329184"/>
          </a:xfrm>
          <a:prstGeom prst="rect">
            <a:avLst/>
          </a:prstGeom>
        </p:spPr>
      </p:pic>
      <p:sp>
        <p:nvSpPr>
          <p:cNvPr id="53" name="Shape 45"/>
          <p:cNvSpPr/>
          <p:nvPr/>
        </p:nvSpPr>
        <p:spPr>
          <a:xfrm>
            <a:off x="6633972" y="4069080"/>
            <a:ext cx="237744" cy="914"/>
          </a:xfrm>
          <a:prstGeom prst="line">
            <a:avLst/>
          </a:prstGeom>
          <a:noFill/>
          <a:ln w="44450">
            <a:solidFill>
              <a:srgbClr val="B4236A"/>
            </a:solidFill>
            <a:prstDash val="solid"/>
            <a:tailEnd type="triangle"/>
          </a:ln>
        </p:spPr>
      </p:sp>
      <p:pic>
        <p:nvPicPr>
          <p:cNvPr id="54" name="Image 5" descr="soccer ball">    </p:cNvPr>
          <p:cNvPicPr>
            <a:picLocks noChangeAspect="1"/>
          </p:cNvPicPr>
          <p:nvPr/>
        </p:nvPicPr>
        <p:blipFill>
          <a:blip r:embed="rId6"/>
          <a:stretch>
            <a:fillRect/>
          </a:stretch>
        </p:blipFill>
        <p:spPr>
          <a:xfrm>
            <a:off x="6908292" y="3959352"/>
            <a:ext cx="228600" cy="228600"/>
          </a:xfrm>
          <a:prstGeom prst="rect">
            <a:avLst/>
          </a:prstGeom>
        </p:spPr>
      </p:pic>
      <p:sp>
        <p:nvSpPr>
          <p:cNvPr id="55" name="Text 46"/>
          <p:cNvSpPr txBox="1"/>
          <p:nvPr/>
        </p:nvSpPr>
        <p:spPr>
          <a:xfrm>
            <a:off x="7228332" y="3611880"/>
            <a:ext cx="1552194" cy="457200"/>
          </a:xfrm>
          <a:prstGeom prst="rect">
            <a:avLst/>
          </a:prstGeom>
          <a:noFill/>
          <a:ln/>
        </p:spPr>
        <p:txBody>
          <a:bodyPr wrap="square" lIns="0" tIns="0" rIns="0" bIns="0" rtlCol="0" anchor="ctr"/>
          <a:lstStyle/>
          <a:p>
            <a:pPr algn="l" indent="0" marL="0">
              <a:buNone/>
            </a:pPr>
            <a:r>
              <a:rPr lang="en-US" sz="1500" b="1" dirty="0">
                <a:solidFill>
                  <a:schemeClr val="accent4"/>
                </a:solidFill>
              </a:rPr>
              <a:t>achter ▢ aan</a:t>
            </a:r>
            <a:endParaRPr lang="en-US" sz="1500" dirty="0"/>
          </a:p>
        </p:txBody>
      </p:sp>
      <p:sp>
        <p:nvSpPr>
          <p:cNvPr id="56" name="Text 47"/>
          <p:cNvSpPr txBox="1"/>
          <p:nvPr/>
        </p:nvSpPr>
        <p:spPr>
          <a:xfrm>
            <a:off x="7228332" y="4069080"/>
            <a:ext cx="1552194" cy="411480"/>
          </a:xfrm>
          <a:prstGeom prst="rect">
            <a:avLst/>
          </a:prstGeom>
          <a:noFill/>
          <a:ln/>
        </p:spPr>
        <p:txBody>
          <a:bodyPr wrap="square" lIns="0" tIns="0" rIns="0" bIns="0" rtlCol="0" anchor="ctr"/>
          <a:lstStyle/>
          <a:p>
            <a:pPr algn="l" indent="0" marL="0">
              <a:buNone/>
            </a:pPr>
            <a:r>
              <a:rPr lang="en-US" sz="1300" i="1" dirty="0">
                <a:solidFill>
                  <a:schemeClr val="accent5"/>
                </a:solidFill>
              </a:rPr>
              <a:t>à la poursuite de</a:t>
            </a:r>
            <a:endParaRPr lang="en-US" sz="1300" dirty="0"/>
          </a:p>
        </p:txBody>
      </p:sp>
      <p:sp>
        <p:nvSpPr>
          <p:cNvPr id="57" name="Text 48"/>
          <p:cNvSpPr txBox="1"/>
          <p:nvPr/>
        </p:nvSpPr>
        <p:spPr>
          <a:xfrm>
            <a:off x="6286500" y="4572000"/>
            <a:ext cx="2430018" cy="731520"/>
          </a:xfrm>
          <a:prstGeom prst="rect">
            <a:avLst/>
          </a:prstGeom>
          <a:noFill/>
          <a:ln/>
        </p:spPr>
        <p:txBody>
          <a:bodyPr wrap="square" lIns="0" tIns="0" rIns="0" bIns="0" rtlCol="0" anchor="ctr"/>
          <a:lstStyle/>
          <a:p>
            <a:pPr algn="l" indent="0" marL="0">
              <a:buNone/>
            </a:pPr>
            <a:r>
              <a:rPr lang="en-US" sz="1400" i="1" dirty="0">
                <a:solidFill>
                  <a:schemeClr val="tx1"/>
                </a:solidFill>
              </a:rPr>
              <a:t>De hond rent </a:t>
            </a:r>
            <a:r>
              <a:rPr lang="en-US" sz="1400" b="1" i="1" dirty="0">
                <a:solidFill>
                  <a:schemeClr val="accent4"/>
                </a:solidFill>
              </a:rPr>
              <a:t>achter</a:t>
            </a:r>
            <a:r>
              <a:rPr lang="en-US" sz="1400" i="1" dirty="0">
                <a:solidFill>
                  <a:schemeClr val="tx1"/>
                </a:solidFill>
              </a:rPr>
              <a:t> de bal </a:t>
            </a:r>
            <a:r>
              <a:rPr lang="en-US" sz="1400" b="1" i="1" dirty="0">
                <a:solidFill>
                  <a:schemeClr val="accent4"/>
                </a:solidFill>
              </a:rPr>
              <a:t>aan</a:t>
            </a:r>
            <a:r>
              <a:rPr lang="en-US" sz="1400" i="1" dirty="0">
                <a:solidFill>
                  <a:schemeClr val="tx1"/>
                </a:solidFill>
              </a:rPr>
              <a:t>.</a:t>
            </a:r>
            <a:endParaRPr lang="en-US" sz="1400" dirty="0"/>
          </a:p>
        </p:txBody>
      </p:sp>
      <p:sp>
        <p:nvSpPr>
          <p:cNvPr id="58" name="Shape 49"/>
          <p:cNvSpPr/>
          <p:nvPr/>
        </p:nvSpPr>
        <p:spPr>
          <a:xfrm>
            <a:off x="8990838" y="3520440"/>
            <a:ext cx="2649474" cy="1828800"/>
          </a:xfrm>
          <a:prstGeom prst="roundRect">
            <a:avLst>
              <a:gd name="adj" fmla="val 5000"/>
            </a:avLst>
          </a:prstGeom>
          <a:solidFill>
            <a:srgbClr val="F6E3EE"/>
          </a:solidFill>
          <a:ln w="12700">
            <a:solidFill>
              <a:srgbClr val="FFFFFF">
                <a:alpha val="0"/>
              </a:srgbClr>
            </a:solidFill>
            <a:prstDash val="solid"/>
          </a:ln>
        </p:spPr>
      </p:sp>
      <p:sp>
        <p:nvSpPr>
          <p:cNvPr id="59" name="Text 50"/>
          <p:cNvSpPr txBox="1"/>
          <p:nvPr/>
        </p:nvSpPr>
        <p:spPr>
          <a:xfrm>
            <a:off x="9127998" y="3566160"/>
            <a:ext cx="2375154" cy="1737360"/>
          </a:xfrm>
          <a:prstGeom prst="rect">
            <a:avLst/>
          </a:prstGeom>
          <a:noFill/>
          <a:ln/>
        </p:spPr>
        <p:txBody>
          <a:bodyPr wrap="square" lIns="0" tIns="0" rIns="0" bIns="0" rtlCol="0" anchor="ctr"/>
          <a:lstStyle/>
          <a:p>
            <a:pPr algn="l" indent="0" marL="0">
              <a:spcAft>
                <a:spcPts val="400"/>
              </a:spcAft>
              <a:buNone/>
            </a:pPr>
            <a:r>
              <a:rPr lang="en-US" sz="1300" b="1" dirty="0">
                <a:solidFill>
                  <a:schemeClr val="tx1"/>
                </a:solidFill>
              </a:rPr>
              <a:t>À reconnaître</a:t>
            </a:r>
            <a:endParaRPr lang="en-US" sz="1300" dirty="0"/>
          </a:p>
          <a:p>
            <a:pPr algn="l" indent="0" marL="0">
              <a:spcAft>
                <a:spcPts val="400"/>
              </a:spcAft>
              <a:buNone/>
            </a:pPr>
            <a:r>
              <a:rPr lang="en-US" sz="1300" dirty="0">
                <a:solidFill>
                  <a:schemeClr val="tx1"/>
                </a:solidFill>
              </a:rPr>
              <a:t>Le 2ᵉ morceau va au bout : </a:t>
            </a:r>
            <a:r>
              <a:rPr lang="en-US" sz="1300" i="1" dirty="0">
                <a:solidFill>
                  <a:schemeClr val="tx1"/>
                </a:solidFill>
              </a:rPr>
              <a:t>Ik </a:t>
            </a:r>
            <a:r>
              <a:rPr lang="en-US" sz="1300" b="1" i="1" dirty="0">
                <a:solidFill>
                  <a:schemeClr val="tx1"/>
                </a:solidFill>
              </a:rPr>
              <a:t>loop</a:t>
            </a:r>
            <a:r>
              <a:rPr lang="en-US" sz="1300" i="1" dirty="0">
                <a:solidFill>
                  <a:schemeClr val="tx1"/>
                </a:solidFill>
              </a:rPr>
              <a:t> naar de deur </a:t>
            </a:r>
            <a:r>
              <a:rPr lang="en-US" sz="1300" b="1" i="1" dirty="0">
                <a:solidFill>
                  <a:schemeClr val="tx1"/>
                </a:solidFill>
              </a:rPr>
              <a:t>toe</a:t>
            </a:r>
            <a:r>
              <a:rPr lang="en-US" sz="1300" i="1" dirty="0">
                <a:solidFill>
                  <a:schemeClr val="tx1"/>
                </a:solidFill>
              </a:rPr>
              <a:t>.</a:t>
            </a:r>
            <a:endParaRPr lang="en-US" sz="1300" dirty="0"/>
          </a:p>
          <a:p>
            <a:pPr algn="l" indent="0" marL="0">
              <a:spcAft>
                <a:spcPts val="400"/>
              </a:spcAft>
              <a:buNone/>
            </a:pPr>
            <a:r>
              <a:rPr lang="en-US" sz="1300" dirty="0">
                <a:solidFill>
                  <a:schemeClr val="tx1"/>
                </a:solidFill>
              </a:rPr>
              <a:t>Souvent, la version simple suffit : </a:t>
            </a:r>
            <a:r>
              <a:rPr lang="en-US" sz="1300" i="1" dirty="0">
                <a:solidFill>
                  <a:schemeClr val="tx1"/>
                </a:solidFill>
              </a:rPr>
              <a:t>Ik loop naar de deur.</a:t>
            </a:r>
            <a:endParaRPr lang="en-US" sz="1300" dirty="0"/>
          </a:p>
        </p:txBody>
      </p:sp>
      <p:sp>
        <p:nvSpPr>
          <p:cNvPr id="60" name="Shape 51"/>
          <p:cNvSpPr/>
          <p:nvPr/>
        </p:nvSpPr>
        <p:spPr>
          <a:xfrm>
            <a:off x="548640" y="5623560"/>
            <a:ext cx="11091672" cy="594360"/>
          </a:xfrm>
          <a:prstGeom prst="roundRect">
            <a:avLst>
              <a:gd name="adj" fmla="val 12308"/>
            </a:avLst>
          </a:prstGeom>
          <a:solidFill>
            <a:schemeClr val="tx2"/>
          </a:solidFill>
          <a:ln w="12700">
            <a:solidFill>
              <a:srgbClr val="FFFFFF">
                <a:alpha val="0"/>
              </a:srgbClr>
            </a:solidFill>
            <a:prstDash val="solid"/>
          </a:ln>
        </p:spPr>
      </p:sp>
      <p:sp>
        <p:nvSpPr>
          <p:cNvPr id="61" name="Text 52"/>
          <p:cNvSpPr txBox="1"/>
          <p:nvPr/>
        </p:nvSpPr>
        <p:spPr>
          <a:xfrm>
            <a:off x="822960" y="5623560"/>
            <a:ext cx="10607040" cy="594360"/>
          </a:xfrm>
          <a:prstGeom prst="rect">
            <a:avLst/>
          </a:prstGeom>
          <a:noFill/>
          <a:ln/>
        </p:spPr>
        <p:txBody>
          <a:bodyPr wrap="square" lIns="0" tIns="0" rIns="0" bIns="0" rtlCol="0" anchor="ctr"/>
          <a:lstStyle/>
          <a:p>
            <a:pPr algn="l" indent="0" marL="0">
              <a:buNone/>
            </a:pPr>
            <a:r>
              <a:rPr lang="en-US" sz="1800" dirty="0">
                <a:solidFill>
                  <a:schemeClr val="bg1"/>
                </a:solidFill>
              </a:rPr>
              <a:t>Le nom est pris en sandwich : </a:t>
            </a:r>
            <a:r>
              <a:rPr lang="en-US" sz="1800" b="1" i="1" dirty="0">
                <a:solidFill>
                  <a:schemeClr val="accent4"/>
                </a:solidFill>
              </a:rPr>
              <a:t>om</a:t>
            </a:r>
            <a:r>
              <a:rPr lang="en-US" sz="1800" i="1" dirty="0">
                <a:solidFill>
                  <a:schemeClr val="bg1"/>
                </a:solidFill>
              </a:rPr>
              <a:t> het gebouw </a:t>
            </a:r>
            <a:r>
              <a:rPr lang="en-US" sz="1800" b="1" i="1" dirty="0">
                <a:solidFill>
                  <a:schemeClr val="accent4"/>
                </a:solidFill>
              </a:rPr>
              <a:t>heen</a:t>
            </a:r>
            <a:r>
              <a:rPr lang="en-US" sz="1800" dirty="0">
                <a:solidFill>
                  <a:schemeClr val="bg1"/>
                </a:solidFill>
              </a:rPr>
              <a:t>, </a:t>
            </a:r>
            <a:r>
              <a:rPr lang="en-US" sz="1800" b="1" i="1" dirty="0">
                <a:solidFill>
                  <a:schemeClr val="accent4"/>
                </a:solidFill>
              </a:rPr>
              <a:t>onder</a:t>
            </a:r>
            <a:r>
              <a:rPr lang="en-US" sz="1800" i="1" dirty="0">
                <a:solidFill>
                  <a:schemeClr val="bg1"/>
                </a:solidFill>
              </a:rPr>
              <a:t> de brug </a:t>
            </a:r>
            <a:r>
              <a:rPr lang="en-US" sz="1800" b="1" i="1" dirty="0">
                <a:solidFill>
                  <a:schemeClr val="accent4"/>
                </a:solidFill>
              </a:rPr>
              <a:t>door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les calques à éviter</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4023360"/>
          </a:xfrm>
          <a:prstGeom prst="roundRect">
            <a:avLst>
              <a:gd name="adj" fmla="val 1818"/>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Text 4"/>
          <p:cNvSpPr txBox="1"/>
          <p:nvPr/>
        </p:nvSpPr>
        <p:spPr>
          <a:xfrm>
            <a:off x="868680" y="2103120"/>
            <a:ext cx="3200400" cy="603504"/>
          </a:xfrm>
          <a:prstGeom prst="rect">
            <a:avLst/>
          </a:prstGeom>
          <a:noFill/>
          <a:ln/>
        </p:spPr>
        <p:txBody>
          <a:bodyPr wrap="square" lIns="0" tIns="0" rIns="0" bIns="0" rtlCol="0" anchor="ctr"/>
          <a:lstStyle/>
          <a:p>
            <a:pPr algn="l" indent="0" marL="0">
              <a:buNone/>
            </a:pPr>
            <a:r>
              <a:rPr lang="en-US" sz="1600" dirty="0">
                <a:solidFill>
                  <a:schemeClr val="tx1"/>
                </a:solidFill>
              </a:rPr>
              <a:t>« monter l’escalier »</a:t>
            </a:r>
            <a:endParaRPr lang="en-US" sz="1600" dirty="0"/>
          </a:p>
        </p:txBody>
      </p:sp>
      <p:sp>
        <p:nvSpPr>
          <p:cNvPr id="8" name="Text 5"/>
          <p:cNvSpPr txBox="1"/>
          <p:nvPr/>
        </p:nvSpPr>
        <p:spPr>
          <a:xfrm>
            <a:off x="4069080" y="2103120"/>
            <a:ext cx="2743200" cy="60350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Ik stijg de trap</a:t>
            </a:r>
            <a:endParaRPr lang="en-US" sz="1500" dirty="0"/>
          </a:p>
        </p:txBody>
      </p:sp>
      <p:sp>
        <p:nvSpPr>
          <p:cNvPr id="9" name="Shape 6"/>
          <p:cNvSpPr/>
          <p:nvPr/>
        </p:nvSpPr>
        <p:spPr>
          <a:xfrm>
            <a:off x="6812280" y="2404872"/>
            <a:ext cx="320040" cy="914"/>
          </a:xfrm>
          <a:prstGeom prst="line">
            <a:avLst/>
          </a:prstGeom>
          <a:noFill/>
          <a:ln w="25400">
            <a:solidFill>
              <a:srgbClr val="2E7D4F"/>
            </a:solidFill>
            <a:prstDash val="solid"/>
            <a:tailEnd type="triangle"/>
          </a:ln>
        </p:spPr>
      </p:sp>
      <p:sp>
        <p:nvSpPr>
          <p:cNvPr id="10" name="Shape 7"/>
          <p:cNvSpPr/>
          <p:nvPr/>
        </p:nvSpPr>
        <p:spPr>
          <a:xfrm>
            <a:off x="7178040" y="2139696"/>
            <a:ext cx="4297680" cy="530352"/>
          </a:xfrm>
          <a:prstGeom prst="roundRect">
            <a:avLst>
              <a:gd name="adj" fmla="val 17241"/>
            </a:avLst>
          </a:prstGeom>
          <a:solidFill>
            <a:schemeClr val="accent3">
              <a:alpha val="12000"/>
            </a:schemeClr>
          </a:solidFill>
          <a:ln w="19050">
            <a:solidFill>
              <a:srgbClr val="2E7D4F"/>
            </a:solidFill>
            <a:prstDash val="solid"/>
          </a:ln>
        </p:spPr>
      </p:sp>
      <p:sp>
        <p:nvSpPr>
          <p:cNvPr id="11" name="Text 8"/>
          <p:cNvSpPr txBox="1"/>
          <p:nvPr/>
        </p:nvSpPr>
        <p:spPr>
          <a:xfrm>
            <a:off x="7315200" y="2139696"/>
            <a:ext cx="4114800" cy="530352"/>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i="1" dirty="0">
                <a:solidFill>
                  <a:schemeClr val="tx1"/>
                </a:solidFill>
              </a:rPr>
              <a:t>Ik loop de trap </a:t>
            </a:r>
            <a:r>
              <a:rPr lang="en-US" sz="1700" b="1" i="1" dirty="0">
                <a:solidFill>
                  <a:schemeClr val="accent1"/>
                </a:solidFill>
              </a:rPr>
              <a:t>op</a:t>
            </a:r>
            <a:endParaRPr lang="en-US" sz="1700" dirty="0"/>
          </a:p>
        </p:txBody>
      </p:sp>
      <p:sp>
        <p:nvSpPr>
          <p:cNvPr id="12" name="Text 9"/>
          <p:cNvSpPr txBox="1"/>
          <p:nvPr/>
        </p:nvSpPr>
        <p:spPr>
          <a:xfrm>
            <a:off x="868680" y="2788920"/>
            <a:ext cx="3200400" cy="603504"/>
          </a:xfrm>
          <a:prstGeom prst="rect">
            <a:avLst/>
          </a:prstGeom>
          <a:noFill/>
          <a:ln/>
        </p:spPr>
        <p:txBody>
          <a:bodyPr wrap="square" lIns="0" tIns="0" rIns="0" bIns="0" rtlCol="0" anchor="ctr"/>
          <a:lstStyle/>
          <a:p>
            <a:pPr algn="l" indent="0" marL="0">
              <a:buNone/>
            </a:pPr>
            <a:r>
              <a:rPr lang="en-US" sz="1600" dirty="0">
                <a:solidFill>
                  <a:schemeClr val="tx1"/>
                </a:solidFill>
              </a:rPr>
              <a:t>« traverser la rue »</a:t>
            </a:r>
            <a:endParaRPr lang="en-US" sz="1600" dirty="0"/>
          </a:p>
        </p:txBody>
      </p:sp>
      <p:sp>
        <p:nvSpPr>
          <p:cNvPr id="13" name="Text 10"/>
          <p:cNvSpPr txBox="1"/>
          <p:nvPr/>
        </p:nvSpPr>
        <p:spPr>
          <a:xfrm>
            <a:off x="4069080" y="2788920"/>
            <a:ext cx="2743200" cy="60350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Ik kruis de straat</a:t>
            </a:r>
            <a:endParaRPr lang="en-US" sz="1500" dirty="0"/>
          </a:p>
        </p:txBody>
      </p:sp>
      <p:sp>
        <p:nvSpPr>
          <p:cNvPr id="14" name="Shape 11"/>
          <p:cNvSpPr/>
          <p:nvPr/>
        </p:nvSpPr>
        <p:spPr>
          <a:xfrm>
            <a:off x="6812280" y="3090672"/>
            <a:ext cx="320040" cy="914"/>
          </a:xfrm>
          <a:prstGeom prst="line">
            <a:avLst/>
          </a:prstGeom>
          <a:noFill/>
          <a:ln w="25400">
            <a:solidFill>
              <a:srgbClr val="2E7D4F"/>
            </a:solidFill>
            <a:prstDash val="solid"/>
            <a:tailEnd type="triangle"/>
          </a:ln>
        </p:spPr>
      </p:sp>
      <p:sp>
        <p:nvSpPr>
          <p:cNvPr id="15" name="Shape 12"/>
          <p:cNvSpPr/>
          <p:nvPr/>
        </p:nvSpPr>
        <p:spPr>
          <a:xfrm>
            <a:off x="7178040" y="2825496"/>
            <a:ext cx="4297680" cy="530352"/>
          </a:xfrm>
          <a:prstGeom prst="roundRect">
            <a:avLst>
              <a:gd name="adj" fmla="val 17241"/>
            </a:avLst>
          </a:prstGeom>
          <a:solidFill>
            <a:schemeClr val="accent3">
              <a:alpha val="12000"/>
            </a:schemeClr>
          </a:solidFill>
          <a:ln w="19050">
            <a:solidFill>
              <a:srgbClr val="2E7D4F"/>
            </a:solidFill>
            <a:prstDash val="solid"/>
          </a:ln>
        </p:spPr>
      </p:sp>
      <p:sp>
        <p:nvSpPr>
          <p:cNvPr id="16" name="Text 13"/>
          <p:cNvSpPr txBox="1"/>
          <p:nvPr/>
        </p:nvSpPr>
        <p:spPr>
          <a:xfrm>
            <a:off x="7315200" y="2825496"/>
            <a:ext cx="4114800" cy="530352"/>
          </a:xfrm>
          <a:prstGeom prst="rect">
            <a:avLst/>
          </a:prstGeom>
          <a:noFill/>
          <a:ln/>
        </p:spPr>
        <p:txBody>
          <a:bodyPr wrap="square" lIns="0" tIns="0" rIns="0" bIns="0" rtlCol="0" anchor="ctr"/>
          <a:lstStyle/>
          <a:p>
            <a:pPr algn="l" indent="0" marL="0">
              <a:buNone/>
            </a:pPr>
            <a:r>
              <a:rPr lang="en-US" sz="1500" dirty="0">
                <a:solidFill>
                  <a:schemeClr val="tx1"/>
                </a:solidFill>
              </a:rPr>
              <a:t>✓ </a:t>
            </a:r>
            <a:r>
              <a:rPr lang="en-US" sz="1500" i="1" dirty="0">
                <a:solidFill>
                  <a:schemeClr val="tx1"/>
                </a:solidFill>
              </a:rPr>
              <a:t>Ik steek de straat </a:t>
            </a:r>
            <a:r>
              <a:rPr lang="en-US" sz="1500" b="1" i="1" dirty="0">
                <a:solidFill>
                  <a:schemeClr val="accent1"/>
                </a:solidFill>
              </a:rPr>
              <a:t>over</a:t>
            </a:r>
            <a:r>
              <a:rPr lang="en-US" sz="1500" i="1" dirty="0">
                <a:solidFill>
                  <a:schemeClr val="tx1"/>
                </a:solidFill>
              </a:rPr>
              <a:t> · Ik loop de straat </a:t>
            </a:r>
            <a:r>
              <a:rPr lang="en-US" sz="1500" b="1" i="1" dirty="0">
                <a:solidFill>
                  <a:schemeClr val="accent1"/>
                </a:solidFill>
              </a:rPr>
              <a:t>over</a:t>
            </a:r>
            <a:endParaRPr lang="en-US" sz="1500" dirty="0"/>
          </a:p>
        </p:txBody>
      </p:sp>
      <p:sp>
        <p:nvSpPr>
          <p:cNvPr id="17" name="Text 14"/>
          <p:cNvSpPr txBox="1"/>
          <p:nvPr/>
        </p:nvSpPr>
        <p:spPr>
          <a:xfrm>
            <a:off x="868680" y="3474720"/>
            <a:ext cx="3200400" cy="603504"/>
          </a:xfrm>
          <a:prstGeom prst="rect">
            <a:avLst/>
          </a:prstGeom>
          <a:noFill/>
          <a:ln/>
        </p:spPr>
        <p:txBody>
          <a:bodyPr wrap="square" lIns="0" tIns="0" rIns="0" bIns="0" rtlCol="0" anchor="ctr"/>
          <a:lstStyle/>
          <a:p>
            <a:pPr algn="l" indent="0" marL="0">
              <a:buNone/>
            </a:pPr>
            <a:r>
              <a:rPr lang="en-US" sz="1600" dirty="0">
                <a:solidFill>
                  <a:schemeClr val="tx1"/>
                </a:solidFill>
              </a:rPr>
              <a:t>« entrer dans la salle »</a:t>
            </a:r>
            <a:endParaRPr lang="en-US" sz="1600" dirty="0"/>
          </a:p>
        </p:txBody>
      </p:sp>
      <p:sp>
        <p:nvSpPr>
          <p:cNvPr id="18" name="Text 15"/>
          <p:cNvSpPr txBox="1"/>
          <p:nvPr/>
        </p:nvSpPr>
        <p:spPr>
          <a:xfrm>
            <a:off x="4069080" y="3474720"/>
            <a:ext cx="2743200" cy="60350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Ik loop in de zaal in</a:t>
            </a:r>
            <a:endParaRPr lang="en-US" sz="1500" dirty="0"/>
          </a:p>
        </p:txBody>
      </p:sp>
      <p:sp>
        <p:nvSpPr>
          <p:cNvPr id="19" name="Shape 16"/>
          <p:cNvSpPr/>
          <p:nvPr/>
        </p:nvSpPr>
        <p:spPr>
          <a:xfrm>
            <a:off x="6812280" y="3776472"/>
            <a:ext cx="320040" cy="914"/>
          </a:xfrm>
          <a:prstGeom prst="line">
            <a:avLst/>
          </a:prstGeom>
          <a:noFill/>
          <a:ln w="25400">
            <a:solidFill>
              <a:srgbClr val="2E7D4F"/>
            </a:solidFill>
            <a:prstDash val="solid"/>
            <a:tailEnd type="triangle"/>
          </a:ln>
        </p:spPr>
      </p:sp>
      <p:sp>
        <p:nvSpPr>
          <p:cNvPr id="20" name="Shape 17"/>
          <p:cNvSpPr/>
          <p:nvPr/>
        </p:nvSpPr>
        <p:spPr>
          <a:xfrm>
            <a:off x="7178040" y="3511296"/>
            <a:ext cx="4297680" cy="530352"/>
          </a:xfrm>
          <a:prstGeom prst="roundRect">
            <a:avLst>
              <a:gd name="adj" fmla="val 17241"/>
            </a:avLst>
          </a:prstGeom>
          <a:solidFill>
            <a:schemeClr val="accent3">
              <a:alpha val="12000"/>
            </a:schemeClr>
          </a:solidFill>
          <a:ln w="19050">
            <a:solidFill>
              <a:srgbClr val="2E7D4F"/>
            </a:solidFill>
            <a:prstDash val="solid"/>
          </a:ln>
        </p:spPr>
      </p:sp>
      <p:sp>
        <p:nvSpPr>
          <p:cNvPr id="21" name="Text 18"/>
          <p:cNvSpPr txBox="1"/>
          <p:nvPr/>
        </p:nvSpPr>
        <p:spPr>
          <a:xfrm>
            <a:off x="7315200" y="3511296"/>
            <a:ext cx="4114800" cy="530352"/>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i="1" dirty="0">
                <a:solidFill>
                  <a:schemeClr val="tx1"/>
                </a:solidFill>
              </a:rPr>
              <a:t>Ik loop de zaal </a:t>
            </a:r>
            <a:r>
              <a:rPr lang="en-US" sz="1700" b="1" i="1" dirty="0">
                <a:solidFill>
                  <a:schemeClr val="accent1"/>
                </a:solidFill>
              </a:rPr>
              <a:t>in</a:t>
            </a:r>
            <a:r>
              <a:rPr lang="en-US" sz="1700" i="1" dirty="0">
                <a:solidFill>
                  <a:schemeClr val="tx1"/>
                </a:solidFill>
              </a:rPr>
              <a:t> · Ik ga de zaal </a:t>
            </a:r>
            <a:r>
              <a:rPr lang="en-US" sz="1700" b="1" i="1" dirty="0">
                <a:solidFill>
                  <a:schemeClr val="accent1"/>
                </a:solidFill>
              </a:rPr>
              <a:t>binnen</a:t>
            </a:r>
            <a:endParaRPr lang="en-US" sz="1700" dirty="0"/>
          </a:p>
        </p:txBody>
      </p:sp>
      <p:sp>
        <p:nvSpPr>
          <p:cNvPr id="22" name="Text 19"/>
          <p:cNvSpPr txBox="1"/>
          <p:nvPr/>
        </p:nvSpPr>
        <p:spPr>
          <a:xfrm>
            <a:off x="868680" y="4160520"/>
            <a:ext cx="3200400" cy="603504"/>
          </a:xfrm>
          <a:prstGeom prst="rect">
            <a:avLst/>
          </a:prstGeom>
          <a:noFill/>
          <a:ln/>
        </p:spPr>
        <p:txBody>
          <a:bodyPr wrap="square" lIns="0" tIns="0" rIns="0" bIns="0" rtlCol="0" anchor="ctr"/>
          <a:lstStyle/>
          <a:p>
            <a:pPr algn="l" indent="0" marL="0">
              <a:buNone/>
            </a:pPr>
            <a:r>
              <a:rPr lang="en-US" sz="1600" dirty="0">
                <a:solidFill>
                  <a:schemeClr val="tx1"/>
                </a:solidFill>
              </a:rPr>
              <a:t>« il est entré dans la mer »</a:t>
            </a:r>
            <a:endParaRPr lang="en-US" sz="1600" dirty="0"/>
          </a:p>
        </p:txBody>
      </p:sp>
      <p:sp>
        <p:nvSpPr>
          <p:cNvPr id="23" name="Text 20"/>
          <p:cNvSpPr txBox="1"/>
          <p:nvPr/>
        </p:nvSpPr>
        <p:spPr>
          <a:xfrm>
            <a:off x="4069080" y="4160520"/>
            <a:ext cx="2743200" cy="603504"/>
          </a:xfrm>
          <a:prstGeom prst="rect">
            <a:avLst/>
          </a:prstGeom>
          <a:noFill/>
          <a:ln/>
        </p:spPr>
        <p:txBody>
          <a:bodyPr wrap="square" lIns="0" tIns="0" rIns="0" bIns="0" rtlCol="0" anchor="ctr"/>
          <a:lstStyle/>
          <a:p>
            <a:pPr algn="l" indent="0" marL="0">
              <a:buNone/>
            </a:pPr>
            <a:r>
              <a:rPr lang="en-US" sz="1500" dirty="0">
                <a:solidFill>
                  <a:schemeClr val="accent6"/>
                </a:solidFill>
              </a:rPr>
              <a:t>✗ </a:t>
            </a:r>
            <a:r>
              <a:rPr lang="en-US" sz="1500" i="1" strike="sngStrike" dirty="0">
                <a:solidFill>
                  <a:schemeClr val="accent6"/>
                </a:solidFill>
              </a:rPr>
              <a:t>Hij heeft de zee in gelopen</a:t>
            </a:r>
            <a:endParaRPr lang="en-US" sz="1500" dirty="0"/>
          </a:p>
        </p:txBody>
      </p:sp>
      <p:sp>
        <p:nvSpPr>
          <p:cNvPr id="24" name="Shape 21"/>
          <p:cNvSpPr/>
          <p:nvPr/>
        </p:nvSpPr>
        <p:spPr>
          <a:xfrm>
            <a:off x="6812280" y="4462272"/>
            <a:ext cx="320040" cy="914"/>
          </a:xfrm>
          <a:prstGeom prst="line">
            <a:avLst/>
          </a:prstGeom>
          <a:noFill/>
          <a:ln w="25400">
            <a:solidFill>
              <a:srgbClr val="2E7D4F"/>
            </a:solidFill>
            <a:prstDash val="solid"/>
            <a:tailEnd type="triangle"/>
          </a:ln>
        </p:spPr>
      </p:sp>
      <p:sp>
        <p:nvSpPr>
          <p:cNvPr id="25" name="Shape 22"/>
          <p:cNvSpPr/>
          <p:nvPr/>
        </p:nvSpPr>
        <p:spPr>
          <a:xfrm>
            <a:off x="7178040" y="4197096"/>
            <a:ext cx="4297680" cy="530352"/>
          </a:xfrm>
          <a:prstGeom prst="roundRect">
            <a:avLst>
              <a:gd name="adj" fmla="val 17241"/>
            </a:avLst>
          </a:prstGeom>
          <a:solidFill>
            <a:schemeClr val="accent3">
              <a:alpha val="12000"/>
            </a:schemeClr>
          </a:solidFill>
          <a:ln w="19050">
            <a:solidFill>
              <a:srgbClr val="2E7D4F"/>
            </a:solidFill>
            <a:prstDash val="solid"/>
          </a:ln>
        </p:spPr>
      </p:sp>
      <p:sp>
        <p:nvSpPr>
          <p:cNvPr id="26" name="Text 23"/>
          <p:cNvSpPr txBox="1"/>
          <p:nvPr/>
        </p:nvSpPr>
        <p:spPr>
          <a:xfrm>
            <a:off x="7315200" y="4197096"/>
            <a:ext cx="4114800" cy="530352"/>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i="1" dirty="0">
                <a:solidFill>
                  <a:schemeClr val="tx1"/>
                </a:solidFill>
              </a:rPr>
              <a:t>Hij </a:t>
            </a:r>
            <a:r>
              <a:rPr lang="en-US" sz="1700" b="1" i="1" dirty="0">
                <a:solidFill>
                  <a:schemeClr val="tx1"/>
                </a:solidFill>
              </a:rPr>
              <a:t>is</a:t>
            </a:r>
            <a:r>
              <a:rPr lang="en-US" sz="1700" i="1" dirty="0">
                <a:solidFill>
                  <a:schemeClr val="tx1"/>
                </a:solidFill>
              </a:rPr>
              <a:t> de zee </a:t>
            </a:r>
            <a:r>
              <a:rPr lang="en-US" sz="1700" b="1" i="1" dirty="0">
                <a:solidFill>
                  <a:schemeClr val="accent1"/>
                </a:solidFill>
              </a:rPr>
              <a:t>in</a:t>
            </a:r>
            <a:r>
              <a:rPr lang="en-US" sz="1700" i="1" dirty="0">
                <a:solidFill>
                  <a:schemeClr val="tx1"/>
                </a:solidFill>
              </a:rPr>
              <a:t> gelopen</a:t>
            </a:r>
            <a:endParaRPr lang="en-US" sz="1700" dirty="0"/>
          </a:p>
        </p:txBody>
      </p:sp>
      <p:sp>
        <p:nvSpPr>
          <p:cNvPr id="27" name="Text 24"/>
          <p:cNvSpPr txBox="1"/>
          <p:nvPr/>
        </p:nvSpPr>
        <p:spPr>
          <a:xfrm>
            <a:off x="868680" y="4846320"/>
            <a:ext cx="3200400" cy="603504"/>
          </a:xfrm>
          <a:prstGeom prst="rect">
            <a:avLst/>
          </a:prstGeom>
          <a:noFill/>
          <a:ln/>
        </p:spPr>
        <p:txBody>
          <a:bodyPr wrap="square" lIns="0" tIns="0" rIns="0" bIns="0" rtlCol="0" anchor="ctr"/>
          <a:lstStyle/>
          <a:p>
            <a:pPr algn="l" indent="0" marL="0">
              <a:buNone/>
            </a:pPr>
            <a:r>
              <a:rPr lang="en-US" sz="1600" dirty="0">
                <a:solidFill>
                  <a:schemeClr val="tx1"/>
                </a:solidFill>
              </a:rPr>
              <a:t>« il saute dans l’eau » (du bord)</a:t>
            </a:r>
            <a:endParaRPr lang="en-US" sz="1600" dirty="0"/>
          </a:p>
        </p:txBody>
      </p:sp>
      <p:sp>
        <p:nvSpPr>
          <p:cNvPr id="28" name="Shape 25"/>
          <p:cNvSpPr/>
          <p:nvPr/>
        </p:nvSpPr>
        <p:spPr>
          <a:xfrm>
            <a:off x="6812280" y="5148072"/>
            <a:ext cx="320040" cy="914"/>
          </a:xfrm>
          <a:prstGeom prst="line">
            <a:avLst/>
          </a:prstGeom>
          <a:noFill/>
          <a:ln w="25400">
            <a:solidFill>
              <a:srgbClr val="2E7D4F"/>
            </a:solidFill>
            <a:prstDash val="solid"/>
            <a:tailEnd type="triangle"/>
          </a:ln>
        </p:spPr>
      </p:sp>
      <p:sp>
        <p:nvSpPr>
          <p:cNvPr id="29" name="Shape 26"/>
          <p:cNvSpPr/>
          <p:nvPr/>
        </p:nvSpPr>
        <p:spPr>
          <a:xfrm>
            <a:off x="7178040" y="4882896"/>
            <a:ext cx="4297680" cy="530352"/>
          </a:xfrm>
          <a:prstGeom prst="roundRect">
            <a:avLst>
              <a:gd name="adj" fmla="val 17241"/>
            </a:avLst>
          </a:prstGeom>
          <a:solidFill>
            <a:schemeClr val="accent3">
              <a:alpha val="12000"/>
            </a:schemeClr>
          </a:solidFill>
          <a:ln w="19050">
            <a:solidFill>
              <a:srgbClr val="2E7D4F"/>
            </a:solidFill>
            <a:prstDash val="solid"/>
          </a:ln>
        </p:spPr>
      </p:sp>
      <p:sp>
        <p:nvSpPr>
          <p:cNvPr id="30" name="Text 27"/>
          <p:cNvSpPr txBox="1"/>
          <p:nvPr/>
        </p:nvSpPr>
        <p:spPr>
          <a:xfrm>
            <a:off x="7315200" y="4882896"/>
            <a:ext cx="4114800" cy="530352"/>
          </a:xfrm>
          <a:prstGeom prst="rect">
            <a:avLst/>
          </a:prstGeom>
          <a:noFill/>
          <a:ln/>
        </p:spPr>
        <p:txBody>
          <a:bodyPr wrap="square" lIns="0" tIns="0" rIns="0" bIns="0" rtlCol="0" anchor="ctr"/>
          <a:lstStyle/>
          <a:p>
            <a:pPr algn="l" indent="0" marL="0">
              <a:buNone/>
            </a:pPr>
            <a:r>
              <a:rPr lang="en-US" sz="1500" dirty="0">
                <a:solidFill>
                  <a:schemeClr val="tx1"/>
                </a:solidFill>
              </a:rPr>
              <a:t>✓ </a:t>
            </a:r>
            <a:r>
              <a:rPr lang="en-US" sz="1500" i="1" dirty="0">
                <a:solidFill>
                  <a:schemeClr val="tx1"/>
                </a:solidFill>
              </a:rPr>
              <a:t>Hij springt in het water · Hij springt het water </a:t>
            </a:r>
            <a:r>
              <a:rPr lang="en-US" sz="1500" b="1" i="1" dirty="0">
                <a:solidFill>
                  <a:schemeClr val="accent1"/>
                </a:solidFill>
              </a:rPr>
              <a:t>in</a:t>
            </a:r>
            <a:endParaRPr lang="en-US" sz="1500" dirty="0"/>
          </a:p>
        </p:txBody>
      </p:sp>
      <p:sp>
        <p:nvSpPr>
          <p:cNvPr id="31" name="Shape 28"/>
          <p:cNvSpPr/>
          <p:nvPr/>
        </p:nvSpPr>
        <p:spPr>
          <a:xfrm>
            <a:off x="548640" y="5715000"/>
            <a:ext cx="11091672" cy="566928"/>
          </a:xfrm>
          <a:prstGeom prst="roundRect">
            <a:avLst>
              <a:gd name="adj" fmla="val 12903"/>
            </a:avLst>
          </a:prstGeom>
          <a:solidFill>
            <a:schemeClr val="tx2"/>
          </a:solidFill>
          <a:ln w="12700">
            <a:solidFill>
              <a:srgbClr val="FFFFFF">
                <a:alpha val="0"/>
              </a:srgbClr>
            </a:solidFill>
            <a:prstDash val="solid"/>
          </a:ln>
        </p:spPr>
      </p:sp>
      <p:sp>
        <p:nvSpPr>
          <p:cNvPr id="32" name="Text 29"/>
          <p:cNvSpPr txBox="1"/>
          <p:nvPr/>
        </p:nvSpPr>
        <p:spPr>
          <a:xfrm>
            <a:off x="822960" y="5715000"/>
            <a:ext cx="10607040" cy="566928"/>
          </a:xfrm>
          <a:prstGeom prst="rect">
            <a:avLst/>
          </a:prstGeom>
          <a:noFill/>
          <a:ln/>
        </p:spPr>
        <p:txBody>
          <a:bodyPr wrap="square" lIns="0" tIns="0" rIns="0" bIns="0" rtlCol="0" anchor="ctr"/>
          <a:lstStyle/>
          <a:p>
            <a:pPr algn="l" indent="0" marL="0">
              <a:buNone/>
            </a:pPr>
            <a:r>
              <a:rPr lang="en-US" sz="1700" i="1" dirty="0">
                <a:solidFill>
                  <a:schemeClr val="bg1"/>
                </a:solidFill>
              </a:rPr>
              <a:t>stijgen, dalen</a:t>
            </a:r>
            <a:r>
              <a:rPr lang="en-US" sz="1700" dirty="0">
                <a:solidFill>
                  <a:schemeClr val="bg1"/>
                </a:solidFill>
              </a:rPr>
              <a:t> : les prix, les avions · </a:t>
            </a:r>
            <a:r>
              <a:rPr lang="en-US" sz="1700" i="1" dirty="0">
                <a:solidFill>
                  <a:schemeClr val="bg1"/>
                </a:solidFill>
              </a:rPr>
              <a:t>kruisen</a:t>
            </a:r>
            <a:r>
              <a:rPr lang="en-US" sz="1700" dirty="0">
                <a:solidFill>
                  <a:schemeClr val="bg1"/>
                </a:solidFill>
              </a:rPr>
              <a:t> : se croiser · le petit mot </a:t>
            </a:r>
            <a:r>
              <a:rPr lang="en-US" sz="1700" b="1" dirty="0">
                <a:solidFill>
                  <a:schemeClr val="bg1"/>
                </a:solidFill>
              </a:rPr>
              <a:t>une seule fois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la porte et la flèche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54480"/>
            <a:ext cx="5413248" cy="1874520"/>
          </a:xfrm>
          <a:prstGeom prst="roundRect">
            <a:avLst>
              <a:gd name="adj" fmla="val 4878"/>
            </a:avLst>
          </a:prstGeom>
          <a:solidFill>
            <a:schemeClr val="bg1"/>
          </a:solidFill>
          <a:ln w="25400">
            <a:solidFill>
              <a:srgbClr val="2A6FB0"/>
            </a:solidFill>
            <a:prstDash val="solid"/>
          </a:ln>
        </p:spPr>
      </p:sp>
      <p:sp>
        <p:nvSpPr>
          <p:cNvPr id="6" name="Shape 3"/>
          <p:cNvSpPr/>
          <p:nvPr/>
        </p:nvSpPr>
        <p:spPr>
          <a:xfrm>
            <a:off x="1541678" y="1819656"/>
            <a:ext cx="1426464" cy="1344168"/>
          </a:xfrm>
          <a:prstGeom prst="rect">
            <a:avLst/>
          </a:prstGeom>
          <a:solidFill>
            <a:srgbClr val="FFFFFF"/>
          </a:solidFill>
          <a:ln w="31750">
            <a:solidFill>
              <a:srgbClr val="17375E"/>
            </a:solidFill>
            <a:prstDash val="solid"/>
          </a:ln>
        </p:spPr>
      </p:sp>
      <p:sp>
        <p:nvSpPr>
          <p:cNvPr id="7" name="Shape 4"/>
          <p:cNvSpPr/>
          <p:nvPr/>
        </p:nvSpPr>
        <p:spPr>
          <a:xfrm>
            <a:off x="1486814" y="2330440"/>
            <a:ext cx="109728" cy="322600"/>
          </a:xfrm>
          <a:prstGeom prst="rect">
            <a:avLst/>
          </a:prstGeom>
          <a:solidFill>
            <a:srgbClr val="FFFFFF"/>
          </a:solidFill>
          <a:ln w="12700">
            <a:solidFill>
              <a:srgbClr val="FFFFFF">
                <a:alpha val="0"/>
              </a:srgbClr>
            </a:solidFill>
            <a:prstDash val="solid"/>
          </a:ln>
        </p:spPr>
      </p:sp>
      <p:pic>
        <p:nvPicPr>
          <p:cNvPr id="8" name="Image 0" descr="cooking">    </p:cNvPr>
          <p:cNvPicPr>
            <a:picLocks noChangeAspect="1"/>
          </p:cNvPicPr>
          <p:nvPr/>
        </p:nvPicPr>
        <p:blipFill>
          <a:blip r:embed="rId1"/>
          <a:stretch>
            <a:fillRect/>
          </a:stretch>
        </p:blipFill>
        <p:spPr>
          <a:xfrm>
            <a:off x="2510942" y="1892808"/>
            <a:ext cx="384048" cy="384048"/>
          </a:xfrm>
          <a:prstGeom prst="rect">
            <a:avLst/>
          </a:prstGeom>
        </p:spPr>
      </p:pic>
      <p:pic>
        <p:nvPicPr>
          <p:cNvPr id="9" name="Image 1" descr="person standing">    </p:cNvPr>
          <p:cNvPicPr>
            <a:picLocks noChangeAspect="1"/>
          </p:cNvPicPr>
          <p:nvPr/>
        </p:nvPicPr>
        <p:blipFill>
          <a:blip r:embed="rId2"/>
          <a:stretch>
            <a:fillRect/>
          </a:stretch>
        </p:blipFill>
        <p:spPr>
          <a:xfrm>
            <a:off x="1747693" y="2155698"/>
            <a:ext cx="672084" cy="672084"/>
          </a:xfrm>
          <a:prstGeom prst="rect">
            <a:avLst/>
          </a:prstGeom>
        </p:spPr>
      </p:pic>
      <p:sp>
        <p:nvSpPr>
          <p:cNvPr id="10" name="Shape 5"/>
          <p:cNvSpPr/>
          <p:nvPr/>
        </p:nvSpPr>
        <p:spPr>
          <a:xfrm>
            <a:off x="1983151" y="2809494"/>
            <a:ext cx="201168" cy="201168"/>
          </a:xfrm>
          <a:prstGeom prst="ellipse">
            <a:avLst/>
          </a:prstGeom>
          <a:solidFill>
            <a:schemeClr val="accent2"/>
          </a:solidFill>
          <a:ln w="12700">
            <a:solidFill>
              <a:srgbClr val="FFFFFF">
                <a:alpha val="0"/>
              </a:srgbClr>
            </a:solidFill>
            <a:prstDash val="solid"/>
          </a:ln>
        </p:spPr>
      </p:sp>
      <p:sp>
        <p:nvSpPr>
          <p:cNvPr id="11" name="Text 6"/>
          <p:cNvSpPr txBox="1"/>
          <p:nvPr/>
        </p:nvSpPr>
        <p:spPr>
          <a:xfrm>
            <a:off x="3154680" y="1600200"/>
            <a:ext cx="2670048" cy="1783080"/>
          </a:xfrm>
          <a:prstGeom prst="rect">
            <a:avLst/>
          </a:prstGeom>
          <a:noFill/>
          <a:ln/>
        </p:spPr>
        <p:txBody>
          <a:bodyPr wrap="square" lIns="0" tIns="0" rIns="0" bIns="0" rtlCol="0" anchor="ctr"/>
          <a:lstStyle/>
          <a:p>
            <a:pPr algn="l" indent="0" marL="0">
              <a:spcAft>
                <a:spcPts val="600"/>
              </a:spcAft>
              <a:buNone/>
            </a:pPr>
            <a:r>
              <a:rPr lang="en-US" sz="1800" b="1" dirty="0">
                <a:solidFill>
                  <a:schemeClr val="tx1"/>
                </a:solidFill>
              </a:rPr>
              <a:t>avant</a:t>
            </a:r>
            <a:r>
              <a:rPr lang="en-US" sz="1800" dirty="0">
                <a:solidFill>
                  <a:schemeClr val="tx1"/>
                </a:solidFill>
              </a:rPr>
              <a:t> le nom = </a:t>
            </a:r>
            <a:r>
              <a:rPr lang="en-US" sz="1800" b="1" dirty="0">
                <a:solidFill>
                  <a:schemeClr val="tx1"/>
                </a:solidFill>
              </a:rPr>
              <a:t>où ?</a:t>
            </a:r>
            <a:endParaRPr lang="en-US" sz="1800" dirty="0"/>
          </a:p>
          <a:p>
            <a:pPr algn="l" indent="0" marL="0">
              <a:spcAft>
                <a:spcPts val="600"/>
              </a:spcAft>
              <a:buNone/>
            </a:pPr>
            <a:r>
              <a:rPr lang="en-US" sz="1800" i="1" dirty="0">
                <a:solidFill>
                  <a:schemeClr val="tx1"/>
                </a:solidFill>
              </a:rPr>
              <a:t>Ik loop </a:t>
            </a:r>
            <a:r>
              <a:rPr lang="en-US" sz="1800" b="1" i="1" dirty="0">
                <a:solidFill>
                  <a:schemeClr val="accent2"/>
                </a:solidFill>
              </a:rPr>
              <a:t>in</a:t>
            </a:r>
            <a:r>
              <a:rPr lang="en-US" sz="1800" i="1" dirty="0">
                <a:solidFill>
                  <a:schemeClr val="tx1"/>
                </a:solidFill>
              </a:rPr>
              <a:t> de keuken.</a:t>
            </a:r>
            <a:endParaRPr lang="en-US" sz="1800" dirty="0"/>
          </a:p>
        </p:txBody>
      </p:sp>
      <p:sp>
        <p:nvSpPr>
          <p:cNvPr id="12" name="Shape 7"/>
          <p:cNvSpPr/>
          <p:nvPr/>
        </p:nvSpPr>
        <p:spPr>
          <a:xfrm>
            <a:off x="6227064" y="1554480"/>
            <a:ext cx="5413248" cy="1874520"/>
          </a:xfrm>
          <a:prstGeom prst="roundRect">
            <a:avLst>
              <a:gd name="adj" fmla="val 4878"/>
            </a:avLst>
          </a:prstGeom>
          <a:solidFill>
            <a:schemeClr val="bg1"/>
          </a:solidFill>
          <a:ln w="25400">
            <a:solidFill>
              <a:srgbClr val="D9700F"/>
            </a:solidFill>
            <a:prstDash val="solid"/>
          </a:ln>
        </p:spPr>
      </p:sp>
      <p:sp>
        <p:nvSpPr>
          <p:cNvPr id="13" name="Shape 8"/>
          <p:cNvSpPr/>
          <p:nvPr/>
        </p:nvSpPr>
        <p:spPr>
          <a:xfrm>
            <a:off x="7220102" y="1819656"/>
            <a:ext cx="1426464" cy="1344168"/>
          </a:xfrm>
          <a:prstGeom prst="rect">
            <a:avLst/>
          </a:prstGeom>
          <a:solidFill>
            <a:srgbClr val="FFFFFF"/>
          </a:solidFill>
          <a:ln w="31750">
            <a:solidFill>
              <a:srgbClr val="17375E"/>
            </a:solidFill>
            <a:prstDash val="solid"/>
          </a:ln>
        </p:spPr>
      </p:sp>
      <p:sp>
        <p:nvSpPr>
          <p:cNvPr id="14" name="Shape 9"/>
          <p:cNvSpPr/>
          <p:nvPr/>
        </p:nvSpPr>
        <p:spPr>
          <a:xfrm>
            <a:off x="7165238" y="2330440"/>
            <a:ext cx="109728" cy="322600"/>
          </a:xfrm>
          <a:prstGeom prst="rect">
            <a:avLst/>
          </a:prstGeom>
          <a:solidFill>
            <a:srgbClr val="FFFFFF"/>
          </a:solidFill>
          <a:ln w="12700">
            <a:solidFill>
              <a:srgbClr val="FFFFFF">
                <a:alpha val="0"/>
              </a:srgbClr>
            </a:solidFill>
            <a:prstDash val="solid"/>
          </a:ln>
        </p:spPr>
      </p:sp>
      <p:pic>
        <p:nvPicPr>
          <p:cNvPr id="15" name="Image 2" descr="cooking">    </p:cNvPr>
          <p:cNvPicPr>
            <a:picLocks noChangeAspect="1"/>
          </p:cNvPicPr>
          <p:nvPr/>
        </p:nvPicPr>
        <p:blipFill>
          <a:blip r:embed="rId3"/>
          <a:stretch>
            <a:fillRect/>
          </a:stretch>
        </p:blipFill>
        <p:spPr>
          <a:xfrm>
            <a:off x="8189366" y="1892808"/>
            <a:ext cx="384048" cy="384048"/>
          </a:xfrm>
          <a:prstGeom prst="rect">
            <a:avLst/>
          </a:prstGeom>
        </p:spPr>
      </p:pic>
      <p:pic>
        <p:nvPicPr>
          <p:cNvPr id="16" name="Image 3" descr="person standing">    </p:cNvPr>
          <p:cNvPicPr>
            <a:picLocks noChangeAspect="1"/>
          </p:cNvPicPr>
          <p:nvPr/>
        </p:nvPicPr>
        <p:blipFill>
          <a:blip r:embed="rId4"/>
          <a:stretch>
            <a:fillRect/>
          </a:stretch>
        </p:blipFill>
        <p:spPr>
          <a:xfrm>
            <a:off x="6382512" y="2064258"/>
            <a:ext cx="672084" cy="672084"/>
          </a:xfrm>
          <a:prstGeom prst="rect">
            <a:avLst/>
          </a:prstGeom>
        </p:spPr>
      </p:pic>
      <p:sp>
        <p:nvSpPr>
          <p:cNvPr id="17" name="Shape 10"/>
          <p:cNvSpPr/>
          <p:nvPr/>
        </p:nvSpPr>
        <p:spPr>
          <a:xfrm>
            <a:off x="6935495" y="2601468"/>
            <a:ext cx="926516" cy="914"/>
          </a:xfrm>
          <a:prstGeom prst="line">
            <a:avLst/>
          </a:prstGeom>
          <a:noFill/>
          <a:ln w="50800">
            <a:solidFill>
              <a:srgbClr val="D9700F"/>
            </a:solidFill>
            <a:prstDash val="solid"/>
            <a:tailEnd type="triangle"/>
          </a:ln>
        </p:spPr>
      </p:sp>
      <p:sp>
        <p:nvSpPr>
          <p:cNvPr id="18" name="Text 11"/>
          <p:cNvSpPr txBox="1"/>
          <p:nvPr/>
        </p:nvSpPr>
        <p:spPr>
          <a:xfrm>
            <a:off x="8833104" y="1600200"/>
            <a:ext cx="2670048" cy="1783080"/>
          </a:xfrm>
          <a:prstGeom prst="rect">
            <a:avLst/>
          </a:prstGeom>
          <a:noFill/>
          <a:ln/>
        </p:spPr>
        <p:txBody>
          <a:bodyPr wrap="square" lIns="0" tIns="0" rIns="0" bIns="0" rtlCol="0" anchor="ctr"/>
          <a:lstStyle/>
          <a:p>
            <a:pPr algn="l" indent="0" marL="0">
              <a:spcAft>
                <a:spcPts val="600"/>
              </a:spcAft>
              <a:buNone/>
            </a:pPr>
            <a:r>
              <a:rPr lang="en-US" sz="1800" b="1" dirty="0">
                <a:solidFill>
                  <a:schemeClr val="tx1"/>
                </a:solidFill>
              </a:rPr>
              <a:t>après</a:t>
            </a:r>
            <a:r>
              <a:rPr lang="en-US" sz="1800" dirty="0">
                <a:solidFill>
                  <a:schemeClr val="tx1"/>
                </a:solidFill>
              </a:rPr>
              <a:t> le nom = </a:t>
            </a:r>
            <a:r>
              <a:rPr lang="en-US" sz="1800" b="1" dirty="0">
                <a:solidFill>
                  <a:schemeClr val="tx1"/>
                </a:solidFill>
              </a:rPr>
              <a:t>vers où ?</a:t>
            </a:r>
            <a:endParaRPr lang="en-US" sz="1800" dirty="0"/>
          </a:p>
          <a:p>
            <a:pPr algn="l" indent="0" marL="0">
              <a:spcAft>
                <a:spcPts val="600"/>
              </a:spcAft>
              <a:buNone/>
            </a:pPr>
            <a:r>
              <a:rPr lang="en-US" sz="1800" i="1" dirty="0">
                <a:solidFill>
                  <a:schemeClr val="tx1"/>
                </a:solidFill>
              </a:rPr>
              <a:t>Ik loop de keuken </a:t>
            </a:r>
            <a:r>
              <a:rPr lang="en-US" sz="1800" b="1" i="1" dirty="0">
                <a:solidFill>
                  <a:schemeClr val="accent1"/>
                </a:solidFill>
              </a:rPr>
              <a:t>in</a:t>
            </a:r>
            <a:r>
              <a:rPr lang="en-US" sz="1800" i="1" dirty="0">
                <a:solidFill>
                  <a:schemeClr val="tx1"/>
                </a:solidFill>
              </a:rPr>
              <a:t>.</a:t>
            </a:r>
            <a:endParaRPr lang="en-US" sz="1800" dirty="0"/>
          </a:p>
        </p:txBody>
      </p:sp>
      <p:sp>
        <p:nvSpPr>
          <p:cNvPr id="19" name="Shape 12"/>
          <p:cNvSpPr/>
          <p:nvPr/>
        </p:nvSpPr>
        <p:spPr>
          <a:xfrm>
            <a:off x="548640" y="3611880"/>
            <a:ext cx="1026871" cy="1234440"/>
          </a:xfrm>
          <a:prstGeom prst="roundRect">
            <a:avLst>
              <a:gd name="adj" fmla="val 7124"/>
            </a:avLst>
          </a:prstGeom>
          <a:solidFill>
            <a:srgbClr val="FFFFFF"/>
          </a:solidFill>
          <a:ln w="15875">
            <a:solidFill>
              <a:srgbClr val="D9700F"/>
            </a:solidFill>
            <a:prstDash val="solid"/>
          </a:ln>
        </p:spPr>
      </p:sp>
      <p:sp>
        <p:nvSpPr>
          <p:cNvPr id="20" name="Shape 13"/>
          <p:cNvSpPr/>
          <p:nvPr/>
        </p:nvSpPr>
        <p:spPr>
          <a:xfrm>
            <a:off x="1025500" y="3803904"/>
            <a:ext cx="351130" cy="438912"/>
          </a:xfrm>
          <a:prstGeom prst="rect">
            <a:avLst/>
          </a:prstGeom>
          <a:solidFill>
            <a:srgbClr val="FFFFFF"/>
          </a:solidFill>
          <a:ln w="25400">
            <a:solidFill>
              <a:srgbClr val="17375E"/>
            </a:solidFill>
            <a:prstDash val="solid"/>
          </a:ln>
        </p:spPr>
      </p:sp>
      <p:sp>
        <p:nvSpPr>
          <p:cNvPr id="21" name="Shape 14"/>
          <p:cNvSpPr/>
          <p:nvPr/>
        </p:nvSpPr>
        <p:spPr>
          <a:xfrm>
            <a:off x="988924" y="3948745"/>
            <a:ext cx="73152" cy="149230"/>
          </a:xfrm>
          <a:prstGeom prst="rect">
            <a:avLst/>
          </a:prstGeom>
          <a:solidFill>
            <a:srgbClr val="FFFFFF"/>
          </a:solidFill>
          <a:ln w="12700">
            <a:solidFill>
              <a:srgbClr val="FFFFFF">
                <a:alpha val="0"/>
              </a:srgbClr>
            </a:solidFill>
            <a:prstDash val="solid"/>
          </a:ln>
        </p:spPr>
      </p:sp>
      <p:sp>
        <p:nvSpPr>
          <p:cNvPr id="22" name="Shape 15"/>
          <p:cNvSpPr/>
          <p:nvPr/>
        </p:nvSpPr>
        <p:spPr>
          <a:xfrm>
            <a:off x="732892" y="4023360"/>
            <a:ext cx="490118" cy="914"/>
          </a:xfrm>
          <a:prstGeom prst="line">
            <a:avLst/>
          </a:prstGeom>
          <a:noFill/>
          <a:ln w="44450">
            <a:solidFill>
              <a:srgbClr val="D9700F"/>
            </a:solidFill>
            <a:prstDash val="solid"/>
            <a:tailEnd type="triangle"/>
          </a:ln>
        </p:spPr>
      </p:sp>
      <p:sp>
        <p:nvSpPr>
          <p:cNvPr id="23" name="Text 16"/>
          <p:cNvSpPr txBox="1"/>
          <p:nvPr/>
        </p:nvSpPr>
        <p:spPr>
          <a:xfrm>
            <a:off x="548640"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in</a:t>
            </a:r>
            <a:endParaRPr lang="en-US" sz="1400" dirty="0"/>
          </a:p>
        </p:txBody>
      </p:sp>
      <p:sp>
        <p:nvSpPr>
          <p:cNvPr id="24" name="Shape 17"/>
          <p:cNvSpPr/>
          <p:nvPr/>
        </p:nvSpPr>
        <p:spPr>
          <a:xfrm>
            <a:off x="1666951" y="3611880"/>
            <a:ext cx="1026871" cy="1234440"/>
          </a:xfrm>
          <a:prstGeom prst="roundRect">
            <a:avLst>
              <a:gd name="adj" fmla="val 7124"/>
            </a:avLst>
          </a:prstGeom>
          <a:solidFill>
            <a:srgbClr val="FFFFFF"/>
          </a:solidFill>
          <a:ln w="15875">
            <a:solidFill>
              <a:srgbClr val="D9700F"/>
            </a:solidFill>
            <a:prstDash val="solid"/>
          </a:ln>
        </p:spPr>
      </p:sp>
      <p:sp>
        <p:nvSpPr>
          <p:cNvPr id="25" name="Shape 18"/>
          <p:cNvSpPr/>
          <p:nvPr/>
        </p:nvSpPr>
        <p:spPr>
          <a:xfrm>
            <a:off x="2143811" y="3803904"/>
            <a:ext cx="351130" cy="438912"/>
          </a:xfrm>
          <a:prstGeom prst="rect">
            <a:avLst/>
          </a:prstGeom>
          <a:solidFill>
            <a:srgbClr val="FFFFFF"/>
          </a:solidFill>
          <a:ln w="25400">
            <a:solidFill>
              <a:srgbClr val="17375E"/>
            </a:solidFill>
            <a:prstDash val="solid"/>
          </a:ln>
        </p:spPr>
      </p:sp>
      <p:sp>
        <p:nvSpPr>
          <p:cNvPr id="26" name="Shape 19"/>
          <p:cNvSpPr/>
          <p:nvPr/>
        </p:nvSpPr>
        <p:spPr>
          <a:xfrm>
            <a:off x="2107235" y="3948745"/>
            <a:ext cx="73152" cy="149230"/>
          </a:xfrm>
          <a:prstGeom prst="rect">
            <a:avLst/>
          </a:prstGeom>
          <a:solidFill>
            <a:srgbClr val="FFFFFF"/>
          </a:solidFill>
          <a:ln w="12700">
            <a:solidFill>
              <a:srgbClr val="FFFFFF">
                <a:alpha val="0"/>
              </a:srgbClr>
            </a:solidFill>
            <a:prstDash val="solid"/>
          </a:ln>
        </p:spPr>
      </p:sp>
      <p:sp>
        <p:nvSpPr>
          <p:cNvPr id="27" name="Shape 20"/>
          <p:cNvSpPr/>
          <p:nvPr/>
        </p:nvSpPr>
        <p:spPr>
          <a:xfrm flipH="1">
            <a:off x="1851203" y="4023360"/>
            <a:ext cx="490118" cy="914"/>
          </a:xfrm>
          <a:prstGeom prst="line">
            <a:avLst/>
          </a:prstGeom>
          <a:noFill/>
          <a:ln w="44450">
            <a:solidFill>
              <a:srgbClr val="D9700F"/>
            </a:solidFill>
            <a:prstDash val="solid"/>
            <a:tailEnd type="triangle"/>
          </a:ln>
        </p:spPr>
      </p:sp>
      <p:sp>
        <p:nvSpPr>
          <p:cNvPr id="28" name="Text 21"/>
          <p:cNvSpPr txBox="1"/>
          <p:nvPr/>
        </p:nvSpPr>
        <p:spPr>
          <a:xfrm>
            <a:off x="1666951"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uit</a:t>
            </a:r>
            <a:endParaRPr lang="en-US" sz="1400" dirty="0"/>
          </a:p>
        </p:txBody>
      </p:sp>
      <p:sp>
        <p:nvSpPr>
          <p:cNvPr id="29" name="Shape 22"/>
          <p:cNvSpPr/>
          <p:nvPr/>
        </p:nvSpPr>
        <p:spPr>
          <a:xfrm>
            <a:off x="2785262" y="3611880"/>
            <a:ext cx="1026871" cy="1234440"/>
          </a:xfrm>
          <a:prstGeom prst="roundRect">
            <a:avLst>
              <a:gd name="adj" fmla="val 7124"/>
            </a:avLst>
          </a:prstGeom>
          <a:solidFill>
            <a:srgbClr val="FFFFFF"/>
          </a:solidFill>
          <a:ln w="15875">
            <a:solidFill>
              <a:srgbClr val="D9700F"/>
            </a:solidFill>
            <a:prstDash val="solid"/>
          </a:ln>
        </p:spPr>
      </p:sp>
      <p:sp>
        <p:nvSpPr>
          <p:cNvPr id="30" name="Shape 23"/>
          <p:cNvSpPr/>
          <p:nvPr/>
        </p:nvSpPr>
        <p:spPr>
          <a:xfrm>
            <a:off x="3006090" y="4206240"/>
            <a:ext cx="146304" cy="109728"/>
          </a:xfrm>
          <a:prstGeom prst="rect">
            <a:avLst/>
          </a:prstGeom>
          <a:solidFill>
            <a:srgbClr val="D5DCE6"/>
          </a:solidFill>
          <a:ln w="9525">
            <a:solidFill>
              <a:srgbClr val="4A5A70"/>
            </a:solidFill>
            <a:prstDash val="solid"/>
          </a:ln>
        </p:spPr>
      </p:sp>
      <p:sp>
        <p:nvSpPr>
          <p:cNvPr id="31" name="Shape 24"/>
          <p:cNvSpPr/>
          <p:nvPr/>
        </p:nvSpPr>
        <p:spPr>
          <a:xfrm>
            <a:off x="3152394" y="4096512"/>
            <a:ext cx="146304" cy="219456"/>
          </a:xfrm>
          <a:prstGeom prst="rect">
            <a:avLst/>
          </a:prstGeom>
          <a:solidFill>
            <a:srgbClr val="D5DCE6"/>
          </a:solidFill>
          <a:ln w="9525">
            <a:solidFill>
              <a:srgbClr val="4A5A70"/>
            </a:solidFill>
            <a:prstDash val="solid"/>
          </a:ln>
        </p:spPr>
      </p:sp>
      <p:sp>
        <p:nvSpPr>
          <p:cNvPr id="32" name="Shape 25"/>
          <p:cNvSpPr/>
          <p:nvPr/>
        </p:nvSpPr>
        <p:spPr>
          <a:xfrm>
            <a:off x="3298698" y="3986784"/>
            <a:ext cx="146304" cy="329184"/>
          </a:xfrm>
          <a:prstGeom prst="rect">
            <a:avLst/>
          </a:prstGeom>
          <a:solidFill>
            <a:srgbClr val="D5DCE6"/>
          </a:solidFill>
          <a:ln w="9525">
            <a:solidFill>
              <a:srgbClr val="4A5A70"/>
            </a:solidFill>
            <a:prstDash val="solid"/>
          </a:ln>
        </p:spPr>
      </p:sp>
      <p:sp>
        <p:nvSpPr>
          <p:cNvPr id="33" name="Shape 26"/>
          <p:cNvSpPr/>
          <p:nvPr/>
        </p:nvSpPr>
        <p:spPr>
          <a:xfrm>
            <a:off x="3445002" y="3877056"/>
            <a:ext cx="146304" cy="438912"/>
          </a:xfrm>
          <a:prstGeom prst="rect">
            <a:avLst/>
          </a:prstGeom>
          <a:solidFill>
            <a:srgbClr val="D5DCE6"/>
          </a:solidFill>
          <a:ln w="9525">
            <a:solidFill>
              <a:srgbClr val="4A5A70"/>
            </a:solidFill>
            <a:prstDash val="solid"/>
          </a:ln>
        </p:spPr>
      </p:sp>
      <p:sp>
        <p:nvSpPr>
          <p:cNvPr id="34" name="Shape 27"/>
          <p:cNvSpPr/>
          <p:nvPr/>
        </p:nvSpPr>
        <p:spPr>
          <a:xfrm flipV="1">
            <a:off x="2991460" y="3716122"/>
            <a:ext cx="585216" cy="395021"/>
          </a:xfrm>
          <a:prstGeom prst="line">
            <a:avLst/>
          </a:prstGeom>
          <a:noFill/>
          <a:ln w="44450">
            <a:solidFill>
              <a:srgbClr val="D9700F"/>
            </a:solidFill>
            <a:prstDash val="solid"/>
            <a:tailEnd type="triangle"/>
          </a:ln>
        </p:spPr>
      </p:sp>
      <p:sp>
        <p:nvSpPr>
          <p:cNvPr id="35" name="Text 28"/>
          <p:cNvSpPr txBox="1"/>
          <p:nvPr/>
        </p:nvSpPr>
        <p:spPr>
          <a:xfrm>
            <a:off x="2785262"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op</a:t>
            </a:r>
            <a:endParaRPr lang="en-US" sz="1400" dirty="0"/>
          </a:p>
        </p:txBody>
      </p:sp>
      <p:sp>
        <p:nvSpPr>
          <p:cNvPr id="36" name="Shape 29"/>
          <p:cNvSpPr/>
          <p:nvPr/>
        </p:nvSpPr>
        <p:spPr>
          <a:xfrm>
            <a:off x="3903574" y="3611880"/>
            <a:ext cx="1026871" cy="1234440"/>
          </a:xfrm>
          <a:prstGeom prst="roundRect">
            <a:avLst>
              <a:gd name="adj" fmla="val 7124"/>
            </a:avLst>
          </a:prstGeom>
          <a:solidFill>
            <a:srgbClr val="FFFFFF"/>
          </a:solidFill>
          <a:ln w="15875">
            <a:solidFill>
              <a:srgbClr val="D9700F"/>
            </a:solidFill>
            <a:prstDash val="solid"/>
          </a:ln>
        </p:spPr>
      </p:sp>
      <p:sp>
        <p:nvSpPr>
          <p:cNvPr id="37" name="Shape 30"/>
          <p:cNvSpPr/>
          <p:nvPr/>
        </p:nvSpPr>
        <p:spPr>
          <a:xfrm>
            <a:off x="4124401" y="3877056"/>
            <a:ext cx="146304" cy="438912"/>
          </a:xfrm>
          <a:prstGeom prst="rect">
            <a:avLst/>
          </a:prstGeom>
          <a:solidFill>
            <a:srgbClr val="D5DCE6"/>
          </a:solidFill>
          <a:ln w="9525">
            <a:solidFill>
              <a:srgbClr val="4A5A70"/>
            </a:solidFill>
            <a:prstDash val="solid"/>
          </a:ln>
        </p:spPr>
      </p:sp>
      <p:sp>
        <p:nvSpPr>
          <p:cNvPr id="38" name="Shape 31"/>
          <p:cNvSpPr/>
          <p:nvPr/>
        </p:nvSpPr>
        <p:spPr>
          <a:xfrm>
            <a:off x="4270705" y="3986784"/>
            <a:ext cx="146304" cy="329184"/>
          </a:xfrm>
          <a:prstGeom prst="rect">
            <a:avLst/>
          </a:prstGeom>
          <a:solidFill>
            <a:srgbClr val="D5DCE6"/>
          </a:solidFill>
          <a:ln w="9525">
            <a:solidFill>
              <a:srgbClr val="4A5A70"/>
            </a:solidFill>
            <a:prstDash val="solid"/>
          </a:ln>
        </p:spPr>
      </p:sp>
      <p:sp>
        <p:nvSpPr>
          <p:cNvPr id="39" name="Shape 32"/>
          <p:cNvSpPr/>
          <p:nvPr/>
        </p:nvSpPr>
        <p:spPr>
          <a:xfrm>
            <a:off x="4417009" y="4096512"/>
            <a:ext cx="146304" cy="219456"/>
          </a:xfrm>
          <a:prstGeom prst="rect">
            <a:avLst/>
          </a:prstGeom>
          <a:solidFill>
            <a:srgbClr val="D5DCE6"/>
          </a:solidFill>
          <a:ln w="9525">
            <a:solidFill>
              <a:srgbClr val="4A5A70"/>
            </a:solidFill>
            <a:prstDash val="solid"/>
          </a:ln>
        </p:spPr>
      </p:sp>
      <p:sp>
        <p:nvSpPr>
          <p:cNvPr id="40" name="Shape 33"/>
          <p:cNvSpPr/>
          <p:nvPr/>
        </p:nvSpPr>
        <p:spPr>
          <a:xfrm>
            <a:off x="4563313" y="4206240"/>
            <a:ext cx="146304" cy="109728"/>
          </a:xfrm>
          <a:prstGeom prst="rect">
            <a:avLst/>
          </a:prstGeom>
          <a:solidFill>
            <a:srgbClr val="D5DCE6"/>
          </a:solidFill>
          <a:ln w="9525">
            <a:solidFill>
              <a:srgbClr val="4A5A70"/>
            </a:solidFill>
            <a:prstDash val="solid"/>
          </a:ln>
        </p:spPr>
      </p:sp>
      <p:sp>
        <p:nvSpPr>
          <p:cNvPr id="41" name="Shape 34"/>
          <p:cNvSpPr/>
          <p:nvPr/>
        </p:nvSpPr>
        <p:spPr>
          <a:xfrm>
            <a:off x="4139032" y="3716122"/>
            <a:ext cx="585216" cy="395021"/>
          </a:xfrm>
          <a:prstGeom prst="line">
            <a:avLst/>
          </a:prstGeom>
          <a:noFill/>
          <a:ln w="44450">
            <a:solidFill>
              <a:srgbClr val="D9700F"/>
            </a:solidFill>
            <a:prstDash val="solid"/>
            <a:tailEnd type="triangle"/>
          </a:ln>
        </p:spPr>
      </p:sp>
      <p:sp>
        <p:nvSpPr>
          <p:cNvPr id="42" name="Text 35"/>
          <p:cNvSpPr txBox="1"/>
          <p:nvPr/>
        </p:nvSpPr>
        <p:spPr>
          <a:xfrm>
            <a:off x="3903574"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af</a:t>
            </a:r>
            <a:endParaRPr lang="en-US" sz="1400" dirty="0"/>
          </a:p>
        </p:txBody>
      </p:sp>
      <p:sp>
        <p:nvSpPr>
          <p:cNvPr id="43" name="Shape 36"/>
          <p:cNvSpPr/>
          <p:nvPr/>
        </p:nvSpPr>
        <p:spPr>
          <a:xfrm>
            <a:off x="5021885" y="3611880"/>
            <a:ext cx="1026871" cy="1234440"/>
          </a:xfrm>
          <a:prstGeom prst="roundRect">
            <a:avLst>
              <a:gd name="adj" fmla="val 7124"/>
            </a:avLst>
          </a:prstGeom>
          <a:solidFill>
            <a:srgbClr val="FFFFFF"/>
          </a:solidFill>
          <a:ln w="15875">
            <a:solidFill>
              <a:srgbClr val="D9700F"/>
            </a:solidFill>
            <a:prstDash val="solid"/>
          </a:ln>
        </p:spPr>
      </p:sp>
      <p:sp>
        <p:nvSpPr>
          <p:cNvPr id="44" name="Shape 37"/>
          <p:cNvSpPr/>
          <p:nvPr/>
        </p:nvSpPr>
        <p:spPr>
          <a:xfrm>
            <a:off x="5206136" y="3840480"/>
            <a:ext cx="658368" cy="365760"/>
          </a:xfrm>
          <a:prstGeom prst="rect">
            <a:avLst/>
          </a:prstGeom>
          <a:solidFill>
            <a:srgbClr val="DCEFD9"/>
          </a:solidFill>
          <a:ln w="12700">
            <a:solidFill>
              <a:srgbClr val="FFFFFF">
                <a:alpha val="0"/>
              </a:srgbClr>
            </a:solidFill>
            <a:prstDash val="solid"/>
          </a:ln>
        </p:spPr>
      </p:sp>
      <p:sp>
        <p:nvSpPr>
          <p:cNvPr id="45" name="Shape 38"/>
          <p:cNvSpPr/>
          <p:nvPr/>
        </p:nvSpPr>
        <p:spPr>
          <a:xfrm>
            <a:off x="5447538" y="3840480"/>
            <a:ext cx="175565" cy="365760"/>
          </a:xfrm>
          <a:prstGeom prst="rect">
            <a:avLst/>
          </a:prstGeom>
          <a:solidFill>
            <a:srgbClr val="7FB8E6"/>
          </a:solidFill>
          <a:ln w="12700">
            <a:solidFill>
              <a:srgbClr val="FFFFFF">
                <a:alpha val="0"/>
              </a:srgbClr>
            </a:solidFill>
            <a:prstDash val="solid"/>
          </a:ln>
        </p:spPr>
      </p:sp>
      <p:sp>
        <p:nvSpPr>
          <p:cNvPr id="46" name="Shape 39"/>
          <p:cNvSpPr/>
          <p:nvPr/>
        </p:nvSpPr>
        <p:spPr>
          <a:xfrm>
            <a:off x="5257343" y="4023360"/>
            <a:ext cx="555955" cy="914"/>
          </a:xfrm>
          <a:prstGeom prst="line">
            <a:avLst/>
          </a:prstGeom>
          <a:noFill/>
          <a:ln w="44450">
            <a:solidFill>
              <a:srgbClr val="D9700F"/>
            </a:solidFill>
            <a:prstDash val="solid"/>
            <a:tailEnd type="triangle"/>
          </a:ln>
        </p:spPr>
      </p:sp>
      <p:sp>
        <p:nvSpPr>
          <p:cNvPr id="47" name="Text 40"/>
          <p:cNvSpPr txBox="1"/>
          <p:nvPr/>
        </p:nvSpPr>
        <p:spPr>
          <a:xfrm>
            <a:off x="5021885"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over</a:t>
            </a:r>
            <a:endParaRPr lang="en-US" sz="1400" dirty="0"/>
          </a:p>
        </p:txBody>
      </p:sp>
      <p:sp>
        <p:nvSpPr>
          <p:cNvPr id="48" name="Shape 41"/>
          <p:cNvSpPr/>
          <p:nvPr/>
        </p:nvSpPr>
        <p:spPr>
          <a:xfrm>
            <a:off x="6140196" y="3611880"/>
            <a:ext cx="1026871" cy="1234440"/>
          </a:xfrm>
          <a:prstGeom prst="roundRect">
            <a:avLst>
              <a:gd name="adj" fmla="val 7124"/>
            </a:avLst>
          </a:prstGeom>
          <a:solidFill>
            <a:srgbClr val="FFFFFF"/>
          </a:solidFill>
          <a:ln w="15875">
            <a:solidFill>
              <a:srgbClr val="D9700F"/>
            </a:solidFill>
            <a:prstDash val="solid"/>
          </a:ln>
        </p:spPr>
      </p:sp>
      <p:sp>
        <p:nvSpPr>
          <p:cNvPr id="49" name="Shape 42"/>
          <p:cNvSpPr/>
          <p:nvPr/>
        </p:nvSpPr>
        <p:spPr>
          <a:xfrm>
            <a:off x="6507328" y="3877056"/>
            <a:ext cx="292608" cy="292608"/>
          </a:xfrm>
          <a:prstGeom prst="roundRect">
            <a:avLst>
              <a:gd name="adj" fmla="val 37500"/>
            </a:avLst>
          </a:prstGeom>
          <a:solidFill>
            <a:srgbClr val="4A5A70"/>
          </a:solidFill>
          <a:ln w="12700">
            <a:solidFill>
              <a:srgbClr val="FFFFFF">
                <a:alpha val="0"/>
              </a:srgbClr>
            </a:solidFill>
            <a:prstDash val="solid"/>
          </a:ln>
        </p:spPr>
      </p:sp>
      <p:sp>
        <p:nvSpPr>
          <p:cNvPr id="50" name="Shape 43"/>
          <p:cNvSpPr/>
          <p:nvPr/>
        </p:nvSpPr>
        <p:spPr>
          <a:xfrm>
            <a:off x="6551219" y="3935578"/>
            <a:ext cx="204826" cy="175565"/>
          </a:xfrm>
          <a:prstGeom prst="roundRect">
            <a:avLst>
              <a:gd name="adj" fmla="val 41667"/>
            </a:avLst>
          </a:prstGeom>
          <a:solidFill>
            <a:srgbClr val="1B2333"/>
          </a:solidFill>
          <a:ln w="12700">
            <a:solidFill>
              <a:srgbClr val="FFFFFF">
                <a:alpha val="0"/>
              </a:srgbClr>
            </a:solidFill>
            <a:prstDash val="solid"/>
          </a:ln>
        </p:spPr>
      </p:sp>
      <p:sp>
        <p:nvSpPr>
          <p:cNvPr id="51" name="Shape 44"/>
          <p:cNvSpPr/>
          <p:nvPr/>
        </p:nvSpPr>
        <p:spPr>
          <a:xfrm>
            <a:off x="6317132" y="4023360"/>
            <a:ext cx="672998" cy="914"/>
          </a:xfrm>
          <a:prstGeom prst="line">
            <a:avLst/>
          </a:prstGeom>
          <a:noFill/>
          <a:ln w="44450">
            <a:solidFill>
              <a:srgbClr val="D9700F"/>
            </a:solidFill>
            <a:prstDash val="solid"/>
            <a:tailEnd type="triangle"/>
          </a:ln>
        </p:spPr>
      </p:sp>
      <p:sp>
        <p:nvSpPr>
          <p:cNvPr id="52" name="Text 45"/>
          <p:cNvSpPr txBox="1"/>
          <p:nvPr/>
        </p:nvSpPr>
        <p:spPr>
          <a:xfrm>
            <a:off x="6140196"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door</a:t>
            </a:r>
            <a:endParaRPr lang="en-US" sz="1400" dirty="0"/>
          </a:p>
        </p:txBody>
      </p:sp>
      <p:sp>
        <p:nvSpPr>
          <p:cNvPr id="53" name="Shape 46"/>
          <p:cNvSpPr/>
          <p:nvPr/>
        </p:nvSpPr>
        <p:spPr>
          <a:xfrm>
            <a:off x="7258507" y="3611880"/>
            <a:ext cx="1026871" cy="1234440"/>
          </a:xfrm>
          <a:prstGeom prst="roundRect">
            <a:avLst>
              <a:gd name="adj" fmla="val 7124"/>
            </a:avLst>
          </a:prstGeom>
          <a:solidFill>
            <a:srgbClr val="FFFFFF"/>
          </a:solidFill>
          <a:ln w="15875">
            <a:solidFill>
              <a:srgbClr val="D9700F"/>
            </a:solidFill>
            <a:prstDash val="solid"/>
          </a:ln>
        </p:spPr>
      </p:sp>
      <p:sp>
        <p:nvSpPr>
          <p:cNvPr id="54" name="Shape 47"/>
          <p:cNvSpPr/>
          <p:nvPr/>
        </p:nvSpPr>
        <p:spPr>
          <a:xfrm>
            <a:off x="7464704" y="3986784"/>
            <a:ext cx="329184" cy="343814"/>
          </a:xfrm>
          <a:prstGeom prst="rect">
            <a:avLst/>
          </a:prstGeom>
          <a:solidFill>
            <a:srgbClr val="D5DCE6"/>
          </a:solidFill>
          <a:ln w="12700">
            <a:solidFill>
              <a:srgbClr val="4A5A70"/>
            </a:solidFill>
            <a:prstDash val="solid"/>
          </a:ln>
        </p:spPr>
      </p:sp>
      <p:sp>
        <p:nvSpPr>
          <p:cNvPr id="55" name="Shape 48"/>
          <p:cNvSpPr/>
          <p:nvPr/>
        </p:nvSpPr>
        <p:spPr>
          <a:xfrm>
            <a:off x="7450074" y="3877056"/>
            <a:ext cx="482803" cy="914"/>
          </a:xfrm>
          <a:prstGeom prst="line">
            <a:avLst/>
          </a:prstGeom>
          <a:noFill/>
          <a:ln w="44450">
            <a:solidFill>
              <a:srgbClr val="D9700F"/>
            </a:solidFill>
            <a:prstDash val="solid"/>
          </a:ln>
        </p:spPr>
      </p:sp>
      <p:sp>
        <p:nvSpPr>
          <p:cNvPr id="56" name="Shape 49"/>
          <p:cNvSpPr/>
          <p:nvPr/>
        </p:nvSpPr>
        <p:spPr>
          <a:xfrm>
            <a:off x="7932877" y="3869741"/>
            <a:ext cx="914" cy="475488"/>
          </a:xfrm>
          <a:prstGeom prst="line">
            <a:avLst/>
          </a:prstGeom>
          <a:noFill/>
          <a:ln w="44450">
            <a:solidFill>
              <a:srgbClr val="D9700F"/>
            </a:solidFill>
            <a:prstDash val="solid"/>
            <a:tailEnd type="triangle"/>
          </a:ln>
        </p:spPr>
      </p:sp>
      <p:sp>
        <p:nvSpPr>
          <p:cNvPr id="57" name="Text 50"/>
          <p:cNvSpPr txBox="1"/>
          <p:nvPr/>
        </p:nvSpPr>
        <p:spPr>
          <a:xfrm>
            <a:off x="7258507"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om</a:t>
            </a:r>
            <a:endParaRPr lang="en-US" sz="1400" dirty="0"/>
          </a:p>
        </p:txBody>
      </p:sp>
      <p:sp>
        <p:nvSpPr>
          <p:cNvPr id="58" name="Shape 51"/>
          <p:cNvSpPr/>
          <p:nvPr/>
        </p:nvSpPr>
        <p:spPr>
          <a:xfrm>
            <a:off x="8376818" y="3611880"/>
            <a:ext cx="1026871" cy="1234440"/>
          </a:xfrm>
          <a:prstGeom prst="roundRect">
            <a:avLst>
              <a:gd name="adj" fmla="val 7124"/>
            </a:avLst>
          </a:prstGeom>
          <a:solidFill>
            <a:srgbClr val="FFFFFF"/>
          </a:solidFill>
          <a:ln w="15875">
            <a:solidFill>
              <a:srgbClr val="D9700F"/>
            </a:solidFill>
            <a:prstDash val="solid"/>
          </a:ln>
        </p:spPr>
      </p:sp>
      <p:sp>
        <p:nvSpPr>
          <p:cNvPr id="59" name="Shape 52"/>
          <p:cNvSpPr/>
          <p:nvPr/>
        </p:nvSpPr>
        <p:spPr>
          <a:xfrm>
            <a:off x="8597646" y="3745382"/>
            <a:ext cx="160934" cy="234086"/>
          </a:xfrm>
          <a:prstGeom prst="rect">
            <a:avLst/>
          </a:prstGeom>
          <a:solidFill>
            <a:srgbClr val="FFFFFF"/>
          </a:solidFill>
          <a:ln w="19050">
            <a:solidFill>
              <a:srgbClr val="17375E"/>
            </a:solidFill>
            <a:prstDash val="solid"/>
          </a:ln>
        </p:spPr>
      </p:sp>
      <p:sp>
        <p:nvSpPr>
          <p:cNvPr id="60" name="Shape 53"/>
          <p:cNvSpPr/>
          <p:nvPr/>
        </p:nvSpPr>
        <p:spPr>
          <a:xfrm>
            <a:off x="8809787" y="3745382"/>
            <a:ext cx="160934" cy="234086"/>
          </a:xfrm>
          <a:prstGeom prst="rect">
            <a:avLst/>
          </a:prstGeom>
          <a:solidFill>
            <a:srgbClr val="FFFFFF"/>
          </a:solidFill>
          <a:ln w="19050">
            <a:solidFill>
              <a:srgbClr val="17375E"/>
            </a:solidFill>
            <a:prstDash val="solid"/>
          </a:ln>
        </p:spPr>
      </p:sp>
      <p:sp>
        <p:nvSpPr>
          <p:cNvPr id="61" name="Shape 54"/>
          <p:cNvSpPr/>
          <p:nvPr/>
        </p:nvSpPr>
        <p:spPr>
          <a:xfrm>
            <a:off x="9021928" y="3745382"/>
            <a:ext cx="160934" cy="234086"/>
          </a:xfrm>
          <a:prstGeom prst="rect">
            <a:avLst/>
          </a:prstGeom>
          <a:solidFill>
            <a:srgbClr val="FFFFFF"/>
          </a:solidFill>
          <a:ln w="19050">
            <a:solidFill>
              <a:srgbClr val="17375E"/>
            </a:solidFill>
            <a:prstDash val="solid"/>
          </a:ln>
        </p:spPr>
      </p:sp>
      <p:sp>
        <p:nvSpPr>
          <p:cNvPr id="62" name="Shape 55"/>
          <p:cNvSpPr/>
          <p:nvPr/>
        </p:nvSpPr>
        <p:spPr>
          <a:xfrm>
            <a:off x="8561070" y="4140403"/>
            <a:ext cx="658368" cy="914"/>
          </a:xfrm>
          <a:prstGeom prst="line">
            <a:avLst/>
          </a:prstGeom>
          <a:noFill/>
          <a:ln w="44450">
            <a:solidFill>
              <a:srgbClr val="D9700F"/>
            </a:solidFill>
            <a:prstDash val="solid"/>
            <a:tailEnd type="triangle"/>
          </a:ln>
        </p:spPr>
      </p:sp>
      <p:sp>
        <p:nvSpPr>
          <p:cNvPr id="63" name="Text 56"/>
          <p:cNvSpPr txBox="1"/>
          <p:nvPr/>
        </p:nvSpPr>
        <p:spPr>
          <a:xfrm>
            <a:off x="8376818"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langs</a:t>
            </a:r>
            <a:endParaRPr lang="en-US" sz="1400" dirty="0"/>
          </a:p>
        </p:txBody>
      </p:sp>
      <p:sp>
        <p:nvSpPr>
          <p:cNvPr id="64" name="Shape 57"/>
          <p:cNvSpPr/>
          <p:nvPr/>
        </p:nvSpPr>
        <p:spPr>
          <a:xfrm>
            <a:off x="9495130" y="3611880"/>
            <a:ext cx="1026871" cy="1234440"/>
          </a:xfrm>
          <a:prstGeom prst="roundRect">
            <a:avLst>
              <a:gd name="adj" fmla="val 7124"/>
            </a:avLst>
          </a:prstGeom>
          <a:solidFill>
            <a:srgbClr val="FFFFFF"/>
          </a:solidFill>
          <a:ln w="15875">
            <a:solidFill>
              <a:srgbClr val="D9700F"/>
            </a:solidFill>
            <a:prstDash val="solid"/>
          </a:ln>
        </p:spPr>
      </p:sp>
      <p:pic>
        <p:nvPicPr>
          <p:cNvPr id="65" name="Image 4" descr="station">    </p:cNvPr>
          <p:cNvPicPr>
            <a:picLocks noChangeAspect="1"/>
          </p:cNvPicPr>
          <p:nvPr/>
        </p:nvPicPr>
        <p:blipFill>
          <a:blip r:embed="rId5"/>
          <a:stretch>
            <a:fillRect/>
          </a:stretch>
        </p:blipFill>
        <p:spPr>
          <a:xfrm>
            <a:off x="9862261" y="3694176"/>
            <a:ext cx="292608" cy="292608"/>
          </a:xfrm>
          <a:prstGeom prst="rect">
            <a:avLst/>
          </a:prstGeom>
        </p:spPr>
      </p:pic>
      <p:sp>
        <p:nvSpPr>
          <p:cNvPr id="66" name="Shape 58"/>
          <p:cNvSpPr/>
          <p:nvPr/>
        </p:nvSpPr>
        <p:spPr>
          <a:xfrm>
            <a:off x="9679381" y="4140403"/>
            <a:ext cx="329184" cy="914"/>
          </a:xfrm>
          <a:prstGeom prst="line">
            <a:avLst/>
          </a:prstGeom>
          <a:noFill/>
          <a:ln w="44450">
            <a:solidFill>
              <a:srgbClr val="D9700F"/>
            </a:solidFill>
            <a:prstDash val="solid"/>
          </a:ln>
        </p:spPr>
      </p:sp>
      <p:sp>
        <p:nvSpPr>
          <p:cNvPr id="67" name="Shape 59"/>
          <p:cNvSpPr/>
          <p:nvPr/>
        </p:nvSpPr>
        <p:spPr>
          <a:xfrm>
            <a:off x="10008565" y="4140403"/>
            <a:ext cx="343814" cy="914"/>
          </a:xfrm>
          <a:prstGeom prst="line">
            <a:avLst/>
          </a:prstGeom>
          <a:noFill/>
          <a:ln w="44450">
            <a:solidFill>
              <a:srgbClr val="D9700F"/>
            </a:solidFill>
            <a:prstDash val="solid"/>
            <a:tailEnd type="triangle"/>
          </a:ln>
        </p:spPr>
      </p:sp>
      <p:sp>
        <p:nvSpPr>
          <p:cNvPr id="68" name="Shape 60"/>
          <p:cNvSpPr/>
          <p:nvPr/>
        </p:nvSpPr>
        <p:spPr>
          <a:xfrm>
            <a:off x="10154869" y="4023360"/>
            <a:ext cx="914" cy="234086"/>
          </a:xfrm>
          <a:prstGeom prst="line">
            <a:avLst/>
          </a:prstGeom>
          <a:noFill/>
          <a:ln w="12700">
            <a:solidFill>
              <a:srgbClr val="4A5A70"/>
            </a:solidFill>
            <a:prstDash val="dash"/>
          </a:ln>
        </p:spPr>
      </p:sp>
      <p:sp>
        <p:nvSpPr>
          <p:cNvPr id="69" name="Text 61"/>
          <p:cNvSpPr txBox="1"/>
          <p:nvPr/>
        </p:nvSpPr>
        <p:spPr>
          <a:xfrm>
            <a:off x="9495130"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voorbij</a:t>
            </a:r>
            <a:endParaRPr lang="en-US" sz="1400" dirty="0"/>
          </a:p>
        </p:txBody>
      </p:sp>
      <p:sp>
        <p:nvSpPr>
          <p:cNvPr id="70" name="Shape 62"/>
          <p:cNvSpPr/>
          <p:nvPr/>
        </p:nvSpPr>
        <p:spPr>
          <a:xfrm>
            <a:off x="10613441" y="3611880"/>
            <a:ext cx="1026871" cy="1234440"/>
          </a:xfrm>
          <a:prstGeom prst="roundRect">
            <a:avLst>
              <a:gd name="adj" fmla="val 7124"/>
            </a:avLst>
          </a:prstGeom>
          <a:solidFill>
            <a:srgbClr val="FFFFFF"/>
          </a:solidFill>
          <a:ln w="15875">
            <a:solidFill>
              <a:srgbClr val="D9700F"/>
            </a:solidFill>
            <a:prstDash val="solid"/>
          </a:ln>
        </p:spPr>
      </p:sp>
      <p:pic>
        <p:nvPicPr>
          <p:cNvPr id="71" name="Image 5" descr="door">    </p:cNvPr>
          <p:cNvPicPr>
            <a:picLocks noChangeAspect="1"/>
          </p:cNvPicPr>
          <p:nvPr/>
        </p:nvPicPr>
        <p:blipFill>
          <a:blip r:embed="rId6"/>
          <a:stretch>
            <a:fillRect/>
          </a:stretch>
        </p:blipFill>
        <p:spPr>
          <a:xfrm>
            <a:off x="11141507" y="3818534"/>
            <a:ext cx="307238" cy="307238"/>
          </a:xfrm>
          <a:prstGeom prst="rect">
            <a:avLst/>
          </a:prstGeom>
        </p:spPr>
      </p:pic>
      <p:sp>
        <p:nvSpPr>
          <p:cNvPr id="72" name="Shape 63"/>
          <p:cNvSpPr/>
          <p:nvPr/>
        </p:nvSpPr>
        <p:spPr>
          <a:xfrm>
            <a:off x="11126876" y="4228186"/>
            <a:ext cx="336499" cy="58522"/>
          </a:xfrm>
          <a:prstGeom prst="roundRect">
            <a:avLst>
              <a:gd name="adj" fmla="val 31250"/>
            </a:avLst>
          </a:prstGeom>
          <a:solidFill>
            <a:schemeClr val="accent1">
              <a:alpha val="60000"/>
            </a:schemeClr>
          </a:solidFill>
          <a:ln w="12700">
            <a:solidFill>
              <a:srgbClr val="FFFFFF">
                <a:alpha val="0"/>
              </a:srgbClr>
            </a:solidFill>
            <a:prstDash val="solid"/>
          </a:ln>
        </p:spPr>
      </p:sp>
      <p:sp>
        <p:nvSpPr>
          <p:cNvPr id="73" name="Shape 64"/>
          <p:cNvSpPr/>
          <p:nvPr/>
        </p:nvSpPr>
        <p:spPr>
          <a:xfrm>
            <a:off x="10790377" y="4023360"/>
            <a:ext cx="424282" cy="914"/>
          </a:xfrm>
          <a:prstGeom prst="line">
            <a:avLst/>
          </a:prstGeom>
          <a:noFill/>
          <a:ln w="44450">
            <a:solidFill>
              <a:srgbClr val="D9700F"/>
            </a:solidFill>
            <a:prstDash val="solid"/>
            <a:tailEnd type="triangle"/>
          </a:ln>
        </p:spPr>
      </p:sp>
      <p:sp>
        <p:nvSpPr>
          <p:cNvPr id="74" name="Text 65"/>
          <p:cNvSpPr txBox="1"/>
          <p:nvPr/>
        </p:nvSpPr>
        <p:spPr>
          <a:xfrm>
            <a:off x="10613441" y="4434840"/>
            <a:ext cx="1026871" cy="365760"/>
          </a:xfrm>
          <a:prstGeom prst="rect">
            <a:avLst/>
          </a:prstGeom>
          <a:noFill/>
          <a:ln/>
        </p:spPr>
        <p:txBody>
          <a:bodyPr wrap="square" lIns="0" tIns="0" rIns="0" bIns="0" rtlCol="0" anchor="ctr"/>
          <a:lstStyle/>
          <a:p>
            <a:pPr algn="ctr" indent="0" marL="0">
              <a:buNone/>
            </a:pPr>
            <a:r>
              <a:rPr lang="en-US" sz="1400" b="1" dirty="0">
                <a:solidFill>
                  <a:schemeClr val="accent1"/>
                </a:solidFill>
              </a:rPr>
              <a:t>binnen</a:t>
            </a:r>
            <a:endParaRPr lang="en-US" sz="1400" dirty="0"/>
          </a:p>
        </p:txBody>
      </p:sp>
      <p:sp>
        <p:nvSpPr>
          <p:cNvPr id="75" name="Shape 66"/>
          <p:cNvSpPr/>
          <p:nvPr/>
        </p:nvSpPr>
        <p:spPr>
          <a:xfrm>
            <a:off x="548640" y="5029200"/>
            <a:ext cx="11091672" cy="777240"/>
          </a:xfrm>
          <a:prstGeom prst="roundRect">
            <a:avLst>
              <a:gd name="adj" fmla="val 11765"/>
            </a:avLst>
          </a:prstGeom>
          <a:solidFill>
            <a:schemeClr val="bg2"/>
          </a:solidFill>
          <a:ln w="12700">
            <a:solidFill>
              <a:srgbClr val="D5DCE6"/>
            </a:solidFill>
            <a:prstDash val="solid"/>
          </a:ln>
        </p:spPr>
      </p:sp>
      <p:sp>
        <p:nvSpPr>
          <p:cNvPr id="76" name="Text 67"/>
          <p:cNvSpPr txBox="1"/>
          <p:nvPr/>
        </p:nvSpPr>
        <p:spPr>
          <a:xfrm>
            <a:off x="777240" y="5029200"/>
            <a:ext cx="10698480" cy="777240"/>
          </a:xfrm>
          <a:prstGeom prst="rect">
            <a:avLst/>
          </a:prstGeom>
          <a:noFill/>
          <a:ln/>
        </p:spPr>
        <p:txBody>
          <a:bodyPr wrap="square" lIns="0" tIns="0" rIns="0" bIns="0" rtlCol="0" anchor="ctr"/>
          <a:lstStyle/>
          <a:p>
            <a:pPr algn="ctr" indent="0" marL="0">
              <a:buNone/>
            </a:pPr>
            <a:r>
              <a:rPr lang="en-US" sz="1900" dirty="0">
                <a:solidFill>
                  <a:schemeClr val="tx1"/>
                </a:solidFill>
              </a:rPr>
              <a:t>Le verbe dit </a:t>
            </a:r>
            <a:r>
              <a:rPr lang="en-US" sz="1900" b="1" dirty="0">
                <a:solidFill>
                  <a:schemeClr val="tx1"/>
                </a:solidFill>
              </a:rPr>
              <a:t>la manière</a:t>
            </a:r>
            <a:r>
              <a:rPr lang="en-US" sz="1900" dirty="0">
                <a:solidFill>
                  <a:schemeClr val="tx1"/>
                </a:solidFill>
              </a:rPr>
              <a:t> · l’</a:t>
            </a:r>
            <a:r>
              <a:rPr lang="en-US" sz="1900" i="1" dirty="0">
                <a:solidFill>
                  <a:schemeClr val="tx1"/>
                </a:solidFill>
              </a:rPr>
              <a:t>achterzetsel</a:t>
            </a:r>
            <a:r>
              <a:rPr lang="en-US" sz="1900" dirty="0">
                <a:solidFill>
                  <a:schemeClr val="tx1"/>
                </a:solidFill>
              </a:rPr>
              <a:t> va </a:t>
            </a:r>
            <a:r>
              <a:rPr lang="en-US" sz="1900" b="1" dirty="0">
                <a:solidFill>
                  <a:schemeClr val="tx1"/>
                </a:solidFill>
              </a:rPr>
              <a:t>au bout</a:t>
            </a:r>
            <a:r>
              <a:rPr lang="en-US" sz="1900" dirty="0">
                <a:solidFill>
                  <a:schemeClr val="tx1"/>
                </a:solidFill>
              </a:rPr>
              <a:t> · verbe de mouvement : passé composé avec </a:t>
            </a:r>
            <a:r>
              <a:rPr lang="en-US" sz="1900" b="1" dirty="0">
                <a:solidFill>
                  <a:schemeClr val="tx1"/>
                </a:solidFill>
              </a:rPr>
              <a:t>zijn</a:t>
            </a:r>
            <a:endParaRPr lang="en-US" sz="1900" dirty="0"/>
          </a:p>
        </p:txBody>
      </p:sp>
      <p:pic>
        <p:nvPicPr>
          <p:cNvPr id="77" name="Image 6" descr="Camera">    </p:cNvPr>
          <p:cNvPicPr>
            <a:picLocks noChangeAspect="1"/>
          </p:cNvPicPr>
          <p:nvPr/>
        </p:nvPicPr>
        <p:blipFill>
          <a:blip r:embed="rId7"/>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DotCircle">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Point ou flèche ?</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LongArrowAltRight">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bon petit mot</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Language">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Traduisez</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Search">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MapMarkedAlt">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Waar ben ik?</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Dice">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Kruip de vergaderzaal in!</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Compass">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visiteur perdu</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Point ou flèche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Lieu (</a:t>
            </a:r>
            <a:r>
              <a:rPr lang="en-US" sz="1700" i="1" dirty="0">
                <a:solidFill>
                  <a:schemeClr val="accent5"/>
                </a:solidFill>
              </a:rPr>
              <a:t>waar?</a:t>
            </a:r>
            <a:r>
              <a:rPr lang="en-US" sz="1700" i="1" dirty="0">
                <a:solidFill>
                  <a:schemeClr val="accent5"/>
                </a:solidFill>
              </a:rPr>
              <a:t>) ou direction (</a:t>
            </a:r>
            <a:r>
              <a:rPr lang="en-US" sz="1700" i="1" dirty="0">
                <a:solidFill>
                  <a:schemeClr val="accent5"/>
                </a:solidFill>
              </a:rPr>
              <a:t>waarheen?</a:t>
            </a:r>
            <a:r>
              <a:rPr lang="en-US" sz="1700" i="1" dirty="0">
                <a:solidFill>
                  <a:schemeClr val="accent5"/>
                </a:solidFill>
              </a:rPr>
              <a:t>) ? Cochez le point ou la flèche.</a:t>
            </a:r>
            <a:endParaRPr lang="en-US" sz="1700" dirty="0"/>
          </a:p>
        </p:txBody>
      </p:sp>
      <p:sp>
        <p:nvSpPr>
          <p:cNvPr id="8" name="Shape 4"/>
          <p:cNvSpPr/>
          <p:nvPr/>
        </p:nvSpPr>
        <p:spPr>
          <a:xfrm>
            <a:off x="548640" y="1987296"/>
            <a:ext cx="5408676" cy="979932"/>
          </a:xfrm>
          <a:prstGeom prst="roundRect">
            <a:avLst>
              <a:gd name="adj" fmla="val 7465"/>
            </a:avLst>
          </a:prstGeom>
          <a:solidFill>
            <a:schemeClr val="bg2"/>
          </a:solidFill>
          <a:ln w="9525">
            <a:solidFill>
              <a:srgbClr val="D5DCE6"/>
            </a:solidFill>
            <a:prstDash val="solid"/>
          </a:ln>
        </p:spPr>
      </p:sp>
      <p:sp>
        <p:nvSpPr>
          <p:cNvPr id="9" name="Text 5"/>
          <p:cNvSpPr txBox="1"/>
          <p:nvPr/>
        </p:nvSpPr>
        <p:spPr>
          <a:xfrm>
            <a:off x="658368"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1</a:t>
            </a:r>
            <a:endParaRPr lang="en-US" sz="1700" dirty="0"/>
          </a:p>
        </p:txBody>
      </p:sp>
      <p:sp>
        <p:nvSpPr>
          <p:cNvPr id="10" name="Text 6"/>
          <p:cNvSpPr txBox="1"/>
          <p:nvPr/>
        </p:nvSpPr>
        <p:spPr>
          <a:xfrm>
            <a:off x="1051560" y="198729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Ze loopt het bos in.</a:t>
            </a:r>
            <a:endParaRPr lang="en-US" sz="1900" dirty="0"/>
          </a:p>
        </p:txBody>
      </p:sp>
      <p:sp>
        <p:nvSpPr>
          <p:cNvPr id="11" name="Shape 7"/>
          <p:cNvSpPr/>
          <p:nvPr/>
        </p:nvSpPr>
        <p:spPr>
          <a:xfrm>
            <a:off x="4539996" y="2202942"/>
            <a:ext cx="594360" cy="548640"/>
          </a:xfrm>
          <a:prstGeom prst="roundRect">
            <a:avLst>
              <a:gd name="adj" fmla="val 16667"/>
            </a:avLst>
          </a:prstGeom>
          <a:solidFill>
            <a:srgbClr val="FFFFFF"/>
          </a:solidFill>
          <a:ln w="19050">
            <a:solidFill>
              <a:srgbClr val="2A6FB0"/>
            </a:solidFill>
            <a:prstDash val="solid"/>
          </a:ln>
        </p:spPr>
      </p:sp>
      <p:sp>
        <p:nvSpPr>
          <p:cNvPr id="12" name="Shape 8"/>
          <p:cNvSpPr/>
          <p:nvPr/>
        </p:nvSpPr>
        <p:spPr>
          <a:xfrm>
            <a:off x="4741164" y="2385822"/>
            <a:ext cx="182880" cy="182880"/>
          </a:xfrm>
          <a:prstGeom prst="ellipse">
            <a:avLst/>
          </a:prstGeom>
          <a:solidFill>
            <a:schemeClr val="accent2"/>
          </a:solidFill>
          <a:ln w="12700">
            <a:solidFill>
              <a:srgbClr val="FFFFFF">
                <a:alpha val="0"/>
              </a:srgbClr>
            </a:solidFill>
            <a:prstDash val="solid"/>
          </a:ln>
        </p:spPr>
      </p:sp>
      <p:sp>
        <p:nvSpPr>
          <p:cNvPr id="13" name="Shape 9"/>
          <p:cNvSpPr/>
          <p:nvPr/>
        </p:nvSpPr>
        <p:spPr>
          <a:xfrm>
            <a:off x="5225796" y="2202942"/>
            <a:ext cx="594360" cy="548640"/>
          </a:xfrm>
          <a:prstGeom prst="roundRect">
            <a:avLst>
              <a:gd name="adj" fmla="val 16667"/>
            </a:avLst>
          </a:prstGeom>
          <a:solidFill>
            <a:srgbClr val="FFFFFF"/>
          </a:solidFill>
          <a:ln w="19050">
            <a:solidFill>
              <a:srgbClr val="D9700F"/>
            </a:solidFill>
            <a:prstDash val="solid"/>
          </a:ln>
        </p:spPr>
      </p:sp>
      <p:sp>
        <p:nvSpPr>
          <p:cNvPr id="14" name="Shape 10"/>
          <p:cNvSpPr/>
          <p:nvPr/>
        </p:nvSpPr>
        <p:spPr>
          <a:xfrm>
            <a:off x="5317236" y="2477262"/>
            <a:ext cx="411480" cy="914"/>
          </a:xfrm>
          <a:prstGeom prst="line">
            <a:avLst/>
          </a:prstGeom>
          <a:noFill/>
          <a:ln w="38100">
            <a:solidFill>
              <a:srgbClr val="D9700F"/>
            </a:solidFill>
            <a:prstDash val="solid"/>
            <a:tailEnd type="triangle"/>
          </a:ln>
        </p:spPr>
      </p:sp>
      <p:sp>
        <p:nvSpPr>
          <p:cNvPr id="15" name="Shape 11"/>
          <p:cNvSpPr/>
          <p:nvPr/>
        </p:nvSpPr>
        <p:spPr>
          <a:xfrm>
            <a:off x="548640" y="3076956"/>
            <a:ext cx="5408676" cy="979932"/>
          </a:xfrm>
          <a:prstGeom prst="roundRect">
            <a:avLst>
              <a:gd name="adj" fmla="val 7465"/>
            </a:avLst>
          </a:prstGeom>
          <a:solidFill>
            <a:schemeClr val="bg1"/>
          </a:solidFill>
          <a:ln w="9525">
            <a:solidFill>
              <a:srgbClr val="D5DCE6"/>
            </a:solidFill>
            <a:prstDash val="solid"/>
          </a:ln>
        </p:spPr>
      </p:sp>
      <p:sp>
        <p:nvSpPr>
          <p:cNvPr id="16" name="Text 12"/>
          <p:cNvSpPr txBox="1"/>
          <p:nvPr/>
        </p:nvSpPr>
        <p:spPr>
          <a:xfrm>
            <a:off x="658368"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2</a:t>
            </a:r>
            <a:endParaRPr lang="en-US" sz="1700" dirty="0"/>
          </a:p>
        </p:txBody>
      </p:sp>
      <p:sp>
        <p:nvSpPr>
          <p:cNvPr id="17" name="Text 13"/>
          <p:cNvSpPr txBox="1"/>
          <p:nvPr/>
        </p:nvSpPr>
        <p:spPr>
          <a:xfrm>
            <a:off x="1051560" y="307695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Ze wandelt in het bos.</a:t>
            </a:r>
            <a:endParaRPr lang="en-US" sz="1900" dirty="0"/>
          </a:p>
        </p:txBody>
      </p:sp>
      <p:sp>
        <p:nvSpPr>
          <p:cNvPr id="18" name="Shape 14"/>
          <p:cNvSpPr/>
          <p:nvPr/>
        </p:nvSpPr>
        <p:spPr>
          <a:xfrm>
            <a:off x="4539996" y="3292602"/>
            <a:ext cx="594360" cy="548640"/>
          </a:xfrm>
          <a:prstGeom prst="roundRect">
            <a:avLst>
              <a:gd name="adj" fmla="val 16667"/>
            </a:avLst>
          </a:prstGeom>
          <a:solidFill>
            <a:srgbClr val="FFFFFF"/>
          </a:solidFill>
          <a:ln w="19050">
            <a:solidFill>
              <a:srgbClr val="2A6FB0"/>
            </a:solidFill>
            <a:prstDash val="solid"/>
          </a:ln>
        </p:spPr>
      </p:sp>
      <p:sp>
        <p:nvSpPr>
          <p:cNvPr id="19" name="Shape 15"/>
          <p:cNvSpPr/>
          <p:nvPr/>
        </p:nvSpPr>
        <p:spPr>
          <a:xfrm>
            <a:off x="4741164" y="3475482"/>
            <a:ext cx="182880" cy="182880"/>
          </a:xfrm>
          <a:prstGeom prst="ellipse">
            <a:avLst/>
          </a:prstGeom>
          <a:solidFill>
            <a:schemeClr val="accent2"/>
          </a:solidFill>
          <a:ln w="12700">
            <a:solidFill>
              <a:srgbClr val="FFFFFF">
                <a:alpha val="0"/>
              </a:srgbClr>
            </a:solidFill>
            <a:prstDash val="solid"/>
          </a:ln>
        </p:spPr>
      </p:sp>
      <p:sp>
        <p:nvSpPr>
          <p:cNvPr id="20" name="Shape 16"/>
          <p:cNvSpPr/>
          <p:nvPr/>
        </p:nvSpPr>
        <p:spPr>
          <a:xfrm>
            <a:off x="5225796" y="3292602"/>
            <a:ext cx="594360" cy="548640"/>
          </a:xfrm>
          <a:prstGeom prst="roundRect">
            <a:avLst>
              <a:gd name="adj" fmla="val 16667"/>
            </a:avLst>
          </a:prstGeom>
          <a:solidFill>
            <a:srgbClr val="FFFFFF"/>
          </a:solidFill>
          <a:ln w="19050">
            <a:solidFill>
              <a:srgbClr val="D9700F"/>
            </a:solidFill>
            <a:prstDash val="solid"/>
          </a:ln>
        </p:spPr>
      </p:sp>
      <p:sp>
        <p:nvSpPr>
          <p:cNvPr id="21" name="Shape 17"/>
          <p:cNvSpPr/>
          <p:nvPr/>
        </p:nvSpPr>
        <p:spPr>
          <a:xfrm>
            <a:off x="5317236" y="3566922"/>
            <a:ext cx="411480" cy="914"/>
          </a:xfrm>
          <a:prstGeom prst="line">
            <a:avLst/>
          </a:prstGeom>
          <a:noFill/>
          <a:ln w="38100">
            <a:solidFill>
              <a:srgbClr val="D9700F"/>
            </a:solidFill>
            <a:prstDash val="solid"/>
            <a:tailEnd type="triangle"/>
          </a:ln>
        </p:spPr>
      </p:sp>
      <p:sp>
        <p:nvSpPr>
          <p:cNvPr id="22" name="Shape 18"/>
          <p:cNvSpPr/>
          <p:nvPr/>
        </p:nvSpPr>
        <p:spPr>
          <a:xfrm>
            <a:off x="548640" y="4166616"/>
            <a:ext cx="5408676" cy="979932"/>
          </a:xfrm>
          <a:prstGeom prst="roundRect">
            <a:avLst>
              <a:gd name="adj" fmla="val 7465"/>
            </a:avLst>
          </a:prstGeom>
          <a:solidFill>
            <a:schemeClr val="bg2"/>
          </a:solidFill>
          <a:ln w="9525">
            <a:solidFill>
              <a:srgbClr val="D5DCE6"/>
            </a:solidFill>
            <a:prstDash val="solid"/>
          </a:ln>
        </p:spPr>
      </p:sp>
      <p:sp>
        <p:nvSpPr>
          <p:cNvPr id="23" name="Text 19"/>
          <p:cNvSpPr txBox="1"/>
          <p:nvPr/>
        </p:nvSpPr>
        <p:spPr>
          <a:xfrm>
            <a:off x="658368"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3</a:t>
            </a:r>
            <a:endParaRPr lang="en-US" sz="1700" dirty="0"/>
          </a:p>
        </p:txBody>
      </p:sp>
      <p:sp>
        <p:nvSpPr>
          <p:cNvPr id="24" name="Text 20"/>
          <p:cNvSpPr txBox="1"/>
          <p:nvPr/>
        </p:nvSpPr>
        <p:spPr>
          <a:xfrm>
            <a:off x="1051560" y="416661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De kinderen spelen in de tuin.</a:t>
            </a:r>
            <a:endParaRPr lang="en-US" sz="1900" dirty="0"/>
          </a:p>
        </p:txBody>
      </p:sp>
      <p:sp>
        <p:nvSpPr>
          <p:cNvPr id="25" name="Shape 21"/>
          <p:cNvSpPr/>
          <p:nvPr/>
        </p:nvSpPr>
        <p:spPr>
          <a:xfrm>
            <a:off x="4539996" y="4382262"/>
            <a:ext cx="594360" cy="548640"/>
          </a:xfrm>
          <a:prstGeom prst="roundRect">
            <a:avLst>
              <a:gd name="adj" fmla="val 16667"/>
            </a:avLst>
          </a:prstGeom>
          <a:solidFill>
            <a:srgbClr val="FFFFFF"/>
          </a:solidFill>
          <a:ln w="19050">
            <a:solidFill>
              <a:srgbClr val="2A6FB0"/>
            </a:solidFill>
            <a:prstDash val="solid"/>
          </a:ln>
        </p:spPr>
      </p:sp>
      <p:sp>
        <p:nvSpPr>
          <p:cNvPr id="26" name="Shape 22"/>
          <p:cNvSpPr/>
          <p:nvPr/>
        </p:nvSpPr>
        <p:spPr>
          <a:xfrm>
            <a:off x="4741164" y="4565142"/>
            <a:ext cx="182880" cy="182880"/>
          </a:xfrm>
          <a:prstGeom prst="ellipse">
            <a:avLst/>
          </a:prstGeom>
          <a:solidFill>
            <a:schemeClr val="accent2"/>
          </a:solidFill>
          <a:ln w="12700">
            <a:solidFill>
              <a:srgbClr val="FFFFFF">
                <a:alpha val="0"/>
              </a:srgbClr>
            </a:solidFill>
            <a:prstDash val="solid"/>
          </a:ln>
        </p:spPr>
      </p:sp>
      <p:sp>
        <p:nvSpPr>
          <p:cNvPr id="27" name="Shape 23"/>
          <p:cNvSpPr/>
          <p:nvPr/>
        </p:nvSpPr>
        <p:spPr>
          <a:xfrm>
            <a:off x="5225796" y="4382262"/>
            <a:ext cx="594360" cy="548640"/>
          </a:xfrm>
          <a:prstGeom prst="roundRect">
            <a:avLst>
              <a:gd name="adj" fmla="val 16667"/>
            </a:avLst>
          </a:prstGeom>
          <a:solidFill>
            <a:srgbClr val="FFFFFF"/>
          </a:solidFill>
          <a:ln w="19050">
            <a:solidFill>
              <a:srgbClr val="D9700F"/>
            </a:solidFill>
            <a:prstDash val="solid"/>
          </a:ln>
        </p:spPr>
      </p:sp>
      <p:sp>
        <p:nvSpPr>
          <p:cNvPr id="28" name="Shape 24"/>
          <p:cNvSpPr/>
          <p:nvPr/>
        </p:nvSpPr>
        <p:spPr>
          <a:xfrm>
            <a:off x="5317236" y="4656582"/>
            <a:ext cx="411480" cy="914"/>
          </a:xfrm>
          <a:prstGeom prst="line">
            <a:avLst/>
          </a:prstGeom>
          <a:noFill/>
          <a:ln w="38100">
            <a:solidFill>
              <a:srgbClr val="D9700F"/>
            </a:solidFill>
            <a:prstDash val="solid"/>
            <a:tailEnd type="triangle"/>
          </a:ln>
        </p:spPr>
      </p:sp>
      <p:sp>
        <p:nvSpPr>
          <p:cNvPr id="29" name="Shape 25"/>
          <p:cNvSpPr/>
          <p:nvPr/>
        </p:nvSpPr>
        <p:spPr>
          <a:xfrm>
            <a:off x="548640" y="5256276"/>
            <a:ext cx="5408676" cy="979932"/>
          </a:xfrm>
          <a:prstGeom prst="roundRect">
            <a:avLst>
              <a:gd name="adj" fmla="val 7465"/>
            </a:avLst>
          </a:prstGeom>
          <a:solidFill>
            <a:schemeClr val="bg1"/>
          </a:solidFill>
          <a:ln w="9525">
            <a:solidFill>
              <a:srgbClr val="D5DCE6"/>
            </a:solidFill>
            <a:prstDash val="solid"/>
          </a:ln>
        </p:spPr>
      </p:sp>
      <p:sp>
        <p:nvSpPr>
          <p:cNvPr id="30" name="Text 26"/>
          <p:cNvSpPr txBox="1"/>
          <p:nvPr/>
        </p:nvSpPr>
        <p:spPr>
          <a:xfrm>
            <a:off x="658368"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4</a:t>
            </a:r>
            <a:endParaRPr lang="en-US" sz="1700" dirty="0"/>
          </a:p>
        </p:txBody>
      </p:sp>
      <p:sp>
        <p:nvSpPr>
          <p:cNvPr id="31" name="Text 27"/>
          <p:cNvSpPr txBox="1"/>
          <p:nvPr/>
        </p:nvSpPr>
        <p:spPr>
          <a:xfrm>
            <a:off x="1051560" y="525627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We fietsen de stad uit.</a:t>
            </a:r>
            <a:endParaRPr lang="en-US" sz="1900" dirty="0"/>
          </a:p>
        </p:txBody>
      </p:sp>
      <p:sp>
        <p:nvSpPr>
          <p:cNvPr id="32" name="Shape 28"/>
          <p:cNvSpPr/>
          <p:nvPr/>
        </p:nvSpPr>
        <p:spPr>
          <a:xfrm>
            <a:off x="4539996" y="5471922"/>
            <a:ext cx="594360" cy="548640"/>
          </a:xfrm>
          <a:prstGeom prst="roundRect">
            <a:avLst>
              <a:gd name="adj" fmla="val 16667"/>
            </a:avLst>
          </a:prstGeom>
          <a:solidFill>
            <a:srgbClr val="FFFFFF"/>
          </a:solidFill>
          <a:ln w="19050">
            <a:solidFill>
              <a:srgbClr val="2A6FB0"/>
            </a:solidFill>
            <a:prstDash val="solid"/>
          </a:ln>
        </p:spPr>
      </p:sp>
      <p:sp>
        <p:nvSpPr>
          <p:cNvPr id="33" name="Shape 29"/>
          <p:cNvSpPr/>
          <p:nvPr/>
        </p:nvSpPr>
        <p:spPr>
          <a:xfrm>
            <a:off x="4741164" y="5654802"/>
            <a:ext cx="182880" cy="182880"/>
          </a:xfrm>
          <a:prstGeom prst="ellipse">
            <a:avLst/>
          </a:prstGeom>
          <a:solidFill>
            <a:schemeClr val="accent2"/>
          </a:solidFill>
          <a:ln w="12700">
            <a:solidFill>
              <a:srgbClr val="FFFFFF">
                <a:alpha val="0"/>
              </a:srgbClr>
            </a:solidFill>
            <a:prstDash val="solid"/>
          </a:ln>
        </p:spPr>
      </p:sp>
      <p:sp>
        <p:nvSpPr>
          <p:cNvPr id="34" name="Shape 30"/>
          <p:cNvSpPr/>
          <p:nvPr/>
        </p:nvSpPr>
        <p:spPr>
          <a:xfrm>
            <a:off x="5225796" y="5471922"/>
            <a:ext cx="594360" cy="548640"/>
          </a:xfrm>
          <a:prstGeom prst="roundRect">
            <a:avLst>
              <a:gd name="adj" fmla="val 16667"/>
            </a:avLst>
          </a:prstGeom>
          <a:solidFill>
            <a:srgbClr val="FFFFFF"/>
          </a:solidFill>
          <a:ln w="19050">
            <a:solidFill>
              <a:srgbClr val="D9700F"/>
            </a:solidFill>
            <a:prstDash val="solid"/>
          </a:ln>
        </p:spPr>
      </p:sp>
      <p:sp>
        <p:nvSpPr>
          <p:cNvPr id="35" name="Shape 31"/>
          <p:cNvSpPr/>
          <p:nvPr/>
        </p:nvSpPr>
        <p:spPr>
          <a:xfrm>
            <a:off x="5317236" y="5746242"/>
            <a:ext cx="411480" cy="914"/>
          </a:xfrm>
          <a:prstGeom prst="line">
            <a:avLst/>
          </a:prstGeom>
          <a:noFill/>
          <a:ln w="38100">
            <a:solidFill>
              <a:srgbClr val="D9700F"/>
            </a:solidFill>
            <a:prstDash val="solid"/>
            <a:tailEnd type="triangle"/>
          </a:ln>
        </p:spPr>
      </p:sp>
      <p:sp>
        <p:nvSpPr>
          <p:cNvPr id="36" name="Shape 32"/>
          <p:cNvSpPr/>
          <p:nvPr/>
        </p:nvSpPr>
        <p:spPr>
          <a:xfrm>
            <a:off x="6231636" y="1987296"/>
            <a:ext cx="5408676" cy="979932"/>
          </a:xfrm>
          <a:prstGeom prst="roundRect">
            <a:avLst>
              <a:gd name="adj" fmla="val 7465"/>
            </a:avLst>
          </a:prstGeom>
          <a:solidFill>
            <a:schemeClr val="bg2"/>
          </a:solidFill>
          <a:ln w="9525">
            <a:solidFill>
              <a:srgbClr val="D5DCE6"/>
            </a:solidFill>
            <a:prstDash val="solid"/>
          </a:ln>
        </p:spPr>
      </p:sp>
      <p:sp>
        <p:nvSpPr>
          <p:cNvPr id="37" name="Text 33"/>
          <p:cNvSpPr txBox="1"/>
          <p:nvPr/>
        </p:nvSpPr>
        <p:spPr>
          <a:xfrm>
            <a:off x="6341364"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5</a:t>
            </a:r>
            <a:endParaRPr lang="en-US" sz="1700" dirty="0"/>
          </a:p>
        </p:txBody>
      </p:sp>
      <p:sp>
        <p:nvSpPr>
          <p:cNvPr id="38" name="Text 34"/>
          <p:cNvSpPr txBox="1"/>
          <p:nvPr/>
        </p:nvSpPr>
        <p:spPr>
          <a:xfrm>
            <a:off x="6734556" y="198729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Hij zwemt in het zwembad.</a:t>
            </a:r>
            <a:endParaRPr lang="en-US" sz="1900" dirty="0"/>
          </a:p>
        </p:txBody>
      </p:sp>
      <p:sp>
        <p:nvSpPr>
          <p:cNvPr id="39" name="Shape 35"/>
          <p:cNvSpPr/>
          <p:nvPr/>
        </p:nvSpPr>
        <p:spPr>
          <a:xfrm>
            <a:off x="10222992" y="2202942"/>
            <a:ext cx="594360" cy="548640"/>
          </a:xfrm>
          <a:prstGeom prst="roundRect">
            <a:avLst>
              <a:gd name="adj" fmla="val 16667"/>
            </a:avLst>
          </a:prstGeom>
          <a:solidFill>
            <a:srgbClr val="FFFFFF"/>
          </a:solidFill>
          <a:ln w="19050">
            <a:solidFill>
              <a:srgbClr val="2A6FB0"/>
            </a:solidFill>
            <a:prstDash val="solid"/>
          </a:ln>
        </p:spPr>
      </p:sp>
      <p:sp>
        <p:nvSpPr>
          <p:cNvPr id="40" name="Shape 36"/>
          <p:cNvSpPr/>
          <p:nvPr/>
        </p:nvSpPr>
        <p:spPr>
          <a:xfrm>
            <a:off x="10424160" y="2385822"/>
            <a:ext cx="182880" cy="182880"/>
          </a:xfrm>
          <a:prstGeom prst="ellipse">
            <a:avLst/>
          </a:prstGeom>
          <a:solidFill>
            <a:schemeClr val="accent2"/>
          </a:solidFill>
          <a:ln w="12700">
            <a:solidFill>
              <a:srgbClr val="FFFFFF">
                <a:alpha val="0"/>
              </a:srgbClr>
            </a:solidFill>
            <a:prstDash val="solid"/>
          </a:ln>
        </p:spPr>
      </p:sp>
      <p:sp>
        <p:nvSpPr>
          <p:cNvPr id="41" name="Shape 37"/>
          <p:cNvSpPr/>
          <p:nvPr/>
        </p:nvSpPr>
        <p:spPr>
          <a:xfrm>
            <a:off x="10908792" y="2202942"/>
            <a:ext cx="594360" cy="548640"/>
          </a:xfrm>
          <a:prstGeom prst="roundRect">
            <a:avLst>
              <a:gd name="adj" fmla="val 16667"/>
            </a:avLst>
          </a:prstGeom>
          <a:solidFill>
            <a:srgbClr val="FFFFFF"/>
          </a:solidFill>
          <a:ln w="19050">
            <a:solidFill>
              <a:srgbClr val="D9700F"/>
            </a:solidFill>
            <a:prstDash val="solid"/>
          </a:ln>
        </p:spPr>
      </p:sp>
      <p:sp>
        <p:nvSpPr>
          <p:cNvPr id="42" name="Shape 38"/>
          <p:cNvSpPr/>
          <p:nvPr/>
        </p:nvSpPr>
        <p:spPr>
          <a:xfrm>
            <a:off x="11000232" y="2477262"/>
            <a:ext cx="411480" cy="914"/>
          </a:xfrm>
          <a:prstGeom prst="line">
            <a:avLst/>
          </a:prstGeom>
          <a:noFill/>
          <a:ln w="38100">
            <a:solidFill>
              <a:srgbClr val="D9700F"/>
            </a:solidFill>
            <a:prstDash val="solid"/>
            <a:tailEnd type="triangle"/>
          </a:ln>
        </p:spPr>
      </p:sp>
      <p:sp>
        <p:nvSpPr>
          <p:cNvPr id="43" name="Shape 39"/>
          <p:cNvSpPr/>
          <p:nvPr/>
        </p:nvSpPr>
        <p:spPr>
          <a:xfrm>
            <a:off x="6231636" y="3076956"/>
            <a:ext cx="5408676" cy="979932"/>
          </a:xfrm>
          <a:prstGeom prst="roundRect">
            <a:avLst>
              <a:gd name="adj" fmla="val 7465"/>
            </a:avLst>
          </a:prstGeom>
          <a:solidFill>
            <a:schemeClr val="bg1"/>
          </a:solidFill>
          <a:ln w="9525">
            <a:solidFill>
              <a:srgbClr val="D5DCE6"/>
            </a:solidFill>
            <a:prstDash val="solid"/>
          </a:ln>
        </p:spPr>
      </p:sp>
      <p:sp>
        <p:nvSpPr>
          <p:cNvPr id="44" name="Text 40"/>
          <p:cNvSpPr txBox="1"/>
          <p:nvPr/>
        </p:nvSpPr>
        <p:spPr>
          <a:xfrm>
            <a:off x="6341364"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6</a:t>
            </a:r>
            <a:endParaRPr lang="en-US" sz="1700" dirty="0"/>
          </a:p>
        </p:txBody>
      </p:sp>
      <p:sp>
        <p:nvSpPr>
          <p:cNvPr id="45" name="Text 41"/>
          <p:cNvSpPr txBox="1"/>
          <p:nvPr/>
        </p:nvSpPr>
        <p:spPr>
          <a:xfrm>
            <a:off x="6734556" y="307695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Hij zwemt het meer over.</a:t>
            </a:r>
            <a:endParaRPr lang="en-US" sz="1900" dirty="0"/>
          </a:p>
        </p:txBody>
      </p:sp>
      <p:sp>
        <p:nvSpPr>
          <p:cNvPr id="46" name="Shape 42"/>
          <p:cNvSpPr/>
          <p:nvPr/>
        </p:nvSpPr>
        <p:spPr>
          <a:xfrm>
            <a:off x="10222992" y="3292602"/>
            <a:ext cx="594360" cy="548640"/>
          </a:xfrm>
          <a:prstGeom prst="roundRect">
            <a:avLst>
              <a:gd name="adj" fmla="val 16667"/>
            </a:avLst>
          </a:prstGeom>
          <a:solidFill>
            <a:srgbClr val="FFFFFF"/>
          </a:solidFill>
          <a:ln w="19050">
            <a:solidFill>
              <a:srgbClr val="2A6FB0"/>
            </a:solidFill>
            <a:prstDash val="solid"/>
          </a:ln>
        </p:spPr>
      </p:sp>
      <p:sp>
        <p:nvSpPr>
          <p:cNvPr id="47" name="Shape 43"/>
          <p:cNvSpPr/>
          <p:nvPr/>
        </p:nvSpPr>
        <p:spPr>
          <a:xfrm>
            <a:off x="10424160" y="3475482"/>
            <a:ext cx="182880" cy="182880"/>
          </a:xfrm>
          <a:prstGeom prst="ellipse">
            <a:avLst/>
          </a:prstGeom>
          <a:solidFill>
            <a:schemeClr val="accent2"/>
          </a:solidFill>
          <a:ln w="12700">
            <a:solidFill>
              <a:srgbClr val="FFFFFF">
                <a:alpha val="0"/>
              </a:srgbClr>
            </a:solidFill>
            <a:prstDash val="solid"/>
          </a:ln>
        </p:spPr>
      </p:sp>
      <p:sp>
        <p:nvSpPr>
          <p:cNvPr id="48" name="Shape 44"/>
          <p:cNvSpPr/>
          <p:nvPr/>
        </p:nvSpPr>
        <p:spPr>
          <a:xfrm>
            <a:off x="10908792" y="3292602"/>
            <a:ext cx="594360" cy="548640"/>
          </a:xfrm>
          <a:prstGeom prst="roundRect">
            <a:avLst>
              <a:gd name="adj" fmla="val 16667"/>
            </a:avLst>
          </a:prstGeom>
          <a:solidFill>
            <a:srgbClr val="FFFFFF"/>
          </a:solidFill>
          <a:ln w="19050">
            <a:solidFill>
              <a:srgbClr val="D9700F"/>
            </a:solidFill>
            <a:prstDash val="solid"/>
          </a:ln>
        </p:spPr>
      </p:sp>
      <p:sp>
        <p:nvSpPr>
          <p:cNvPr id="49" name="Shape 45"/>
          <p:cNvSpPr/>
          <p:nvPr/>
        </p:nvSpPr>
        <p:spPr>
          <a:xfrm>
            <a:off x="11000232" y="3566922"/>
            <a:ext cx="411480" cy="914"/>
          </a:xfrm>
          <a:prstGeom prst="line">
            <a:avLst/>
          </a:prstGeom>
          <a:noFill/>
          <a:ln w="38100">
            <a:solidFill>
              <a:srgbClr val="D9700F"/>
            </a:solidFill>
            <a:prstDash val="solid"/>
            <a:tailEnd type="triangle"/>
          </a:ln>
        </p:spPr>
      </p:sp>
      <p:sp>
        <p:nvSpPr>
          <p:cNvPr id="50" name="Shape 46"/>
          <p:cNvSpPr/>
          <p:nvPr/>
        </p:nvSpPr>
        <p:spPr>
          <a:xfrm>
            <a:off x="6231636" y="4166616"/>
            <a:ext cx="5408676" cy="979932"/>
          </a:xfrm>
          <a:prstGeom prst="roundRect">
            <a:avLst>
              <a:gd name="adj" fmla="val 7465"/>
            </a:avLst>
          </a:prstGeom>
          <a:solidFill>
            <a:schemeClr val="bg2"/>
          </a:solidFill>
          <a:ln w="9525">
            <a:solidFill>
              <a:srgbClr val="D5DCE6"/>
            </a:solidFill>
            <a:prstDash val="solid"/>
          </a:ln>
        </p:spPr>
      </p:sp>
      <p:sp>
        <p:nvSpPr>
          <p:cNvPr id="51" name="Text 47"/>
          <p:cNvSpPr txBox="1"/>
          <p:nvPr/>
        </p:nvSpPr>
        <p:spPr>
          <a:xfrm>
            <a:off x="6341364"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7</a:t>
            </a:r>
            <a:endParaRPr lang="en-US" sz="1700" dirty="0"/>
          </a:p>
        </p:txBody>
      </p:sp>
      <p:sp>
        <p:nvSpPr>
          <p:cNvPr id="52" name="Text 48"/>
          <p:cNvSpPr txBox="1"/>
          <p:nvPr/>
        </p:nvSpPr>
        <p:spPr>
          <a:xfrm>
            <a:off x="6734556" y="416661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De kat springt de kast op.</a:t>
            </a:r>
            <a:endParaRPr lang="en-US" sz="1900" dirty="0"/>
          </a:p>
        </p:txBody>
      </p:sp>
      <p:sp>
        <p:nvSpPr>
          <p:cNvPr id="53" name="Shape 49"/>
          <p:cNvSpPr/>
          <p:nvPr/>
        </p:nvSpPr>
        <p:spPr>
          <a:xfrm>
            <a:off x="10222992" y="4382262"/>
            <a:ext cx="594360" cy="548640"/>
          </a:xfrm>
          <a:prstGeom prst="roundRect">
            <a:avLst>
              <a:gd name="adj" fmla="val 16667"/>
            </a:avLst>
          </a:prstGeom>
          <a:solidFill>
            <a:srgbClr val="FFFFFF"/>
          </a:solidFill>
          <a:ln w="19050">
            <a:solidFill>
              <a:srgbClr val="2A6FB0"/>
            </a:solidFill>
            <a:prstDash val="solid"/>
          </a:ln>
        </p:spPr>
      </p:sp>
      <p:sp>
        <p:nvSpPr>
          <p:cNvPr id="54" name="Shape 50"/>
          <p:cNvSpPr/>
          <p:nvPr/>
        </p:nvSpPr>
        <p:spPr>
          <a:xfrm>
            <a:off x="10424160" y="4565142"/>
            <a:ext cx="182880" cy="182880"/>
          </a:xfrm>
          <a:prstGeom prst="ellipse">
            <a:avLst/>
          </a:prstGeom>
          <a:solidFill>
            <a:schemeClr val="accent2"/>
          </a:solidFill>
          <a:ln w="12700">
            <a:solidFill>
              <a:srgbClr val="FFFFFF">
                <a:alpha val="0"/>
              </a:srgbClr>
            </a:solidFill>
            <a:prstDash val="solid"/>
          </a:ln>
        </p:spPr>
      </p:sp>
      <p:sp>
        <p:nvSpPr>
          <p:cNvPr id="55" name="Shape 51"/>
          <p:cNvSpPr/>
          <p:nvPr/>
        </p:nvSpPr>
        <p:spPr>
          <a:xfrm>
            <a:off x="10908792" y="4382262"/>
            <a:ext cx="594360" cy="548640"/>
          </a:xfrm>
          <a:prstGeom prst="roundRect">
            <a:avLst>
              <a:gd name="adj" fmla="val 16667"/>
            </a:avLst>
          </a:prstGeom>
          <a:solidFill>
            <a:srgbClr val="FFFFFF"/>
          </a:solidFill>
          <a:ln w="19050">
            <a:solidFill>
              <a:srgbClr val="D9700F"/>
            </a:solidFill>
            <a:prstDash val="solid"/>
          </a:ln>
        </p:spPr>
      </p:sp>
      <p:sp>
        <p:nvSpPr>
          <p:cNvPr id="56" name="Shape 52"/>
          <p:cNvSpPr/>
          <p:nvPr/>
        </p:nvSpPr>
        <p:spPr>
          <a:xfrm>
            <a:off x="11000232" y="4656582"/>
            <a:ext cx="411480" cy="914"/>
          </a:xfrm>
          <a:prstGeom prst="line">
            <a:avLst/>
          </a:prstGeom>
          <a:noFill/>
          <a:ln w="38100">
            <a:solidFill>
              <a:srgbClr val="D9700F"/>
            </a:solidFill>
            <a:prstDash val="solid"/>
            <a:tailEnd type="triangle"/>
          </a:ln>
        </p:spPr>
      </p:sp>
      <p:sp>
        <p:nvSpPr>
          <p:cNvPr id="57" name="Shape 53"/>
          <p:cNvSpPr/>
          <p:nvPr/>
        </p:nvSpPr>
        <p:spPr>
          <a:xfrm>
            <a:off x="6231636" y="5256276"/>
            <a:ext cx="5408676" cy="979932"/>
          </a:xfrm>
          <a:prstGeom prst="roundRect">
            <a:avLst>
              <a:gd name="adj" fmla="val 7465"/>
            </a:avLst>
          </a:prstGeom>
          <a:solidFill>
            <a:schemeClr val="bg1"/>
          </a:solidFill>
          <a:ln w="9525">
            <a:solidFill>
              <a:srgbClr val="D5DCE6"/>
            </a:solidFill>
            <a:prstDash val="solid"/>
          </a:ln>
        </p:spPr>
      </p:sp>
      <p:sp>
        <p:nvSpPr>
          <p:cNvPr id="58" name="Text 54"/>
          <p:cNvSpPr txBox="1"/>
          <p:nvPr/>
        </p:nvSpPr>
        <p:spPr>
          <a:xfrm>
            <a:off x="6341364"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8</a:t>
            </a:r>
            <a:endParaRPr lang="en-US" sz="1700" dirty="0"/>
          </a:p>
        </p:txBody>
      </p:sp>
      <p:sp>
        <p:nvSpPr>
          <p:cNvPr id="59" name="Text 55"/>
          <p:cNvSpPr txBox="1"/>
          <p:nvPr/>
        </p:nvSpPr>
        <p:spPr>
          <a:xfrm>
            <a:off x="6734556" y="525627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Ik wacht in de gang.</a:t>
            </a:r>
            <a:endParaRPr lang="en-US" sz="1900" dirty="0"/>
          </a:p>
        </p:txBody>
      </p:sp>
      <p:sp>
        <p:nvSpPr>
          <p:cNvPr id="60" name="Shape 56"/>
          <p:cNvSpPr/>
          <p:nvPr/>
        </p:nvSpPr>
        <p:spPr>
          <a:xfrm>
            <a:off x="10222992" y="5471922"/>
            <a:ext cx="594360" cy="548640"/>
          </a:xfrm>
          <a:prstGeom prst="roundRect">
            <a:avLst>
              <a:gd name="adj" fmla="val 16667"/>
            </a:avLst>
          </a:prstGeom>
          <a:solidFill>
            <a:srgbClr val="FFFFFF"/>
          </a:solidFill>
          <a:ln w="19050">
            <a:solidFill>
              <a:srgbClr val="2A6FB0"/>
            </a:solidFill>
            <a:prstDash val="solid"/>
          </a:ln>
        </p:spPr>
      </p:sp>
      <p:sp>
        <p:nvSpPr>
          <p:cNvPr id="61" name="Shape 57"/>
          <p:cNvSpPr/>
          <p:nvPr/>
        </p:nvSpPr>
        <p:spPr>
          <a:xfrm>
            <a:off x="10424160" y="5654802"/>
            <a:ext cx="182880" cy="182880"/>
          </a:xfrm>
          <a:prstGeom prst="ellipse">
            <a:avLst/>
          </a:prstGeom>
          <a:solidFill>
            <a:schemeClr val="accent2"/>
          </a:solidFill>
          <a:ln w="12700">
            <a:solidFill>
              <a:srgbClr val="FFFFFF">
                <a:alpha val="0"/>
              </a:srgbClr>
            </a:solidFill>
            <a:prstDash val="solid"/>
          </a:ln>
        </p:spPr>
      </p:sp>
      <p:sp>
        <p:nvSpPr>
          <p:cNvPr id="62" name="Shape 58"/>
          <p:cNvSpPr/>
          <p:nvPr/>
        </p:nvSpPr>
        <p:spPr>
          <a:xfrm>
            <a:off x="10908792" y="5471922"/>
            <a:ext cx="594360" cy="548640"/>
          </a:xfrm>
          <a:prstGeom prst="roundRect">
            <a:avLst>
              <a:gd name="adj" fmla="val 16667"/>
            </a:avLst>
          </a:prstGeom>
          <a:solidFill>
            <a:srgbClr val="FFFFFF"/>
          </a:solidFill>
          <a:ln w="19050">
            <a:solidFill>
              <a:srgbClr val="D9700F"/>
            </a:solidFill>
            <a:prstDash val="solid"/>
          </a:ln>
        </p:spPr>
      </p:sp>
      <p:sp>
        <p:nvSpPr>
          <p:cNvPr id="63" name="Shape 59"/>
          <p:cNvSpPr/>
          <p:nvPr/>
        </p:nvSpPr>
        <p:spPr>
          <a:xfrm>
            <a:off x="11000232" y="5746242"/>
            <a:ext cx="411480" cy="914"/>
          </a:xfrm>
          <a:prstGeom prst="line">
            <a:avLst/>
          </a:prstGeom>
          <a:noFill/>
          <a:ln w="38100">
            <a:solidFill>
              <a:srgbClr val="D9700F"/>
            </a:solidFill>
            <a:prstDash val="solid"/>
            <a:tailEnd type="triangle"/>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Point ou flèche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Lieu (</a:t>
            </a:r>
            <a:r>
              <a:rPr lang="en-US" sz="1700" i="1" dirty="0">
                <a:solidFill>
                  <a:schemeClr val="accent5"/>
                </a:solidFill>
              </a:rPr>
              <a:t>waar?</a:t>
            </a:r>
            <a:r>
              <a:rPr lang="en-US" sz="1700" i="1" dirty="0">
                <a:solidFill>
                  <a:schemeClr val="accent5"/>
                </a:solidFill>
              </a:rPr>
              <a:t>) ou direction (</a:t>
            </a:r>
            <a:r>
              <a:rPr lang="en-US" sz="1700" i="1" dirty="0">
                <a:solidFill>
                  <a:schemeClr val="accent5"/>
                </a:solidFill>
              </a:rPr>
              <a:t>waarheen?</a:t>
            </a:r>
            <a:r>
              <a:rPr lang="en-US" sz="1700" i="1" dirty="0">
                <a:solidFill>
                  <a:schemeClr val="accent5"/>
                </a:solidFill>
              </a:rPr>
              <a:t>) ? Cochez le point ou la flèche.</a:t>
            </a:r>
            <a:endParaRPr lang="en-US" sz="1700" dirty="0"/>
          </a:p>
        </p:txBody>
      </p:sp>
      <p:sp>
        <p:nvSpPr>
          <p:cNvPr id="9" name="Shape 5"/>
          <p:cNvSpPr/>
          <p:nvPr/>
        </p:nvSpPr>
        <p:spPr>
          <a:xfrm>
            <a:off x="548640" y="1987296"/>
            <a:ext cx="5408676" cy="979932"/>
          </a:xfrm>
          <a:prstGeom prst="roundRect">
            <a:avLst>
              <a:gd name="adj" fmla="val 7465"/>
            </a:avLst>
          </a:prstGeom>
          <a:solidFill>
            <a:schemeClr val="bg2"/>
          </a:solidFill>
          <a:ln w="9525">
            <a:solidFill>
              <a:srgbClr val="D5DCE6"/>
            </a:solidFill>
            <a:prstDash val="solid"/>
          </a:ln>
        </p:spPr>
      </p:sp>
      <p:sp>
        <p:nvSpPr>
          <p:cNvPr id="10" name="Text 6"/>
          <p:cNvSpPr txBox="1"/>
          <p:nvPr/>
        </p:nvSpPr>
        <p:spPr>
          <a:xfrm>
            <a:off x="658368"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1</a:t>
            </a:r>
            <a:endParaRPr lang="en-US" sz="1700" dirty="0"/>
          </a:p>
        </p:txBody>
      </p:sp>
      <p:sp>
        <p:nvSpPr>
          <p:cNvPr id="11" name="Text 7"/>
          <p:cNvSpPr txBox="1"/>
          <p:nvPr/>
        </p:nvSpPr>
        <p:spPr>
          <a:xfrm>
            <a:off x="1051560" y="198729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Ze loopt het bos in.</a:t>
            </a:r>
            <a:endParaRPr lang="en-US" sz="1900" dirty="0"/>
          </a:p>
        </p:txBody>
      </p:sp>
      <p:sp>
        <p:nvSpPr>
          <p:cNvPr id="12" name="Shape 8"/>
          <p:cNvSpPr/>
          <p:nvPr/>
        </p:nvSpPr>
        <p:spPr>
          <a:xfrm>
            <a:off x="4539996" y="2202942"/>
            <a:ext cx="594360" cy="548640"/>
          </a:xfrm>
          <a:prstGeom prst="roundRect">
            <a:avLst>
              <a:gd name="adj" fmla="val 16667"/>
            </a:avLst>
          </a:prstGeom>
          <a:solidFill>
            <a:srgbClr val="FFFFFF"/>
          </a:solidFill>
          <a:ln w="19050">
            <a:solidFill>
              <a:srgbClr val="2A6FB0"/>
            </a:solidFill>
            <a:prstDash val="solid"/>
          </a:ln>
        </p:spPr>
      </p:sp>
      <p:sp>
        <p:nvSpPr>
          <p:cNvPr id="13" name="Shape 9"/>
          <p:cNvSpPr/>
          <p:nvPr/>
        </p:nvSpPr>
        <p:spPr>
          <a:xfrm>
            <a:off x="4741164" y="2385822"/>
            <a:ext cx="182880" cy="182880"/>
          </a:xfrm>
          <a:prstGeom prst="ellipse">
            <a:avLst/>
          </a:prstGeom>
          <a:solidFill>
            <a:schemeClr val="accent2"/>
          </a:solidFill>
          <a:ln w="12700">
            <a:solidFill>
              <a:srgbClr val="FFFFFF">
                <a:alpha val="0"/>
              </a:srgbClr>
            </a:solidFill>
            <a:prstDash val="solid"/>
          </a:ln>
        </p:spPr>
      </p:sp>
      <p:sp>
        <p:nvSpPr>
          <p:cNvPr id="14" name="Shape 10"/>
          <p:cNvSpPr/>
          <p:nvPr/>
        </p:nvSpPr>
        <p:spPr>
          <a:xfrm>
            <a:off x="5225796" y="2202942"/>
            <a:ext cx="594360" cy="548640"/>
          </a:xfrm>
          <a:prstGeom prst="roundRect">
            <a:avLst>
              <a:gd name="adj" fmla="val 16667"/>
            </a:avLst>
          </a:prstGeom>
          <a:solidFill>
            <a:schemeClr val="accent1"/>
          </a:solidFill>
          <a:ln w="19050">
            <a:solidFill>
              <a:srgbClr val="D9700F"/>
            </a:solidFill>
            <a:prstDash val="solid"/>
          </a:ln>
        </p:spPr>
      </p:sp>
      <p:sp>
        <p:nvSpPr>
          <p:cNvPr id="15" name="Shape 11"/>
          <p:cNvSpPr/>
          <p:nvPr/>
        </p:nvSpPr>
        <p:spPr>
          <a:xfrm>
            <a:off x="5317236" y="2477262"/>
            <a:ext cx="411480" cy="914"/>
          </a:xfrm>
          <a:prstGeom prst="line">
            <a:avLst/>
          </a:prstGeom>
          <a:noFill/>
          <a:ln w="38100">
            <a:solidFill>
              <a:srgbClr val="FFFFFF"/>
            </a:solidFill>
            <a:prstDash val="solid"/>
            <a:tailEnd type="triangle"/>
          </a:ln>
        </p:spPr>
      </p:sp>
      <p:sp>
        <p:nvSpPr>
          <p:cNvPr id="16" name="Shape 12"/>
          <p:cNvSpPr/>
          <p:nvPr/>
        </p:nvSpPr>
        <p:spPr>
          <a:xfrm>
            <a:off x="548640" y="3076956"/>
            <a:ext cx="5408676" cy="979932"/>
          </a:xfrm>
          <a:prstGeom prst="roundRect">
            <a:avLst>
              <a:gd name="adj" fmla="val 7465"/>
            </a:avLst>
          </a:prstGeom>
          <a:solidFill>
            <a:schemeClr val="bg1"/>
          </a:solidFill>
          <a:ln w="9525">
            <a:solidFill>
              <a:srgbClr val="D5DCE6"/>
            </a:solidFill>
            <a:prstDash val="solid"/>
          </a:ln>
        </p:spPr>
      </p:sp>
      <p:sp>
        <p:nvSpPr>
          <p:cNvPr id="17" name="Text 13"/>
          <p:cNvSpPr txBox="1"/>
          <p:nvPr/>
        </p:nvSpPr>
        <p:spPr>
          <a:xfrm>
            <a:off x="658368"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2</a:t>
            </a:r>
            <a:endParaRPr lang="en-US" sz="1700" dirty="0"/>
          </a:p>
        </p:txBody>
      </p:sp>
      <p:sp>
        <p:nvSpPr>
          <p:cNvPr id="18" name="Text 14"/>
          <p:cNvSpPr txBox="1"/>
          <p:nvPr/>
        </p:nvSpPr>
        <p:spPr>
          <a:xfrm>
            <a:off x="1051560" y="307695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Ze wandelt in het bos.</a:t>
            </a:r>
            <a:endParaRPr lang="en-US" sz="1900" dirty="0"/>
          </a:p>
        </p:txBody>
      </p:sp>
      <p:sp>
        <p:nvSpPr>
          <p:cNvPr id="19" name="Shape 15"/>
          <p:cNvSpPr/>
          <p:nvPr/>
        </p:nvSpPr>
        <p:spPr>
          <a:xfrm>
            <a:off x="4539996" y="3292602"/>
            <a:ext cx="594360" cy="548640"/>
          </a:xfrm>
          <a:prstGeom prst="roundRect">
            <a:avLst>
              <a:gd name="adj" fmla="val 16667"/>
            </a:avLst>
          </a:prstGeom>
          <a:solidFill>
            <a:schemeClr val="accent2"/>
          </a:solidFill>
          <a:ln w="19050">
            <a:solidFill>
              <a:srgbClr val="2A6FB0"/>
            </a:solidFill>
            <a:prstDash val="solid"/>
          </a:ln>
        </p:spPr>
      </p:sp>
      <p:sp>
        <p:nvSpPr>
          <p:cNvPr id="20" name="Shape 16"/>
          <p:cNvSpPr/>
          <p:nvPr/>
        </p:nvSpPr>
        <p:spPr>
          <a:xfrm>
            <a:off x="4741164" y="3475482"/>
            <a:ext cx="182880" cy="182880"/>
          </a:xfrm>
          <a:prstGeom prst="ellipse">
            <a:avLst/>
          </a:prstGeom>
          <a:solidFill>
            <a:srgbClr val="FFFFFF"/>
          </a:solidFill>
          <a:ln w="12700">
            <a:solidFill>
              <a:srgbClr val="FFFFFF">
                <a:alpha val="0"/>
              </a:srgbClr>
            </a:solidFill>
            <a:prstDash val="solid"/>
          </a:ln>
        </p:spPr>
      </p:sp>
      <p:sp>
        <p:nvSpPr>
          <p:cNvPr id="21" name="Shape 17"/>
          <p:cNvSpPr/>
          <p:nvPr/>
        </p:nvSpPr>
        <p:spPr>
          <a:xfrm>
            <a:off x="5225796" y="3292602"/>
            <a:ext cx="594360" cy="548640"/>
          </a:xfrm>
          <a:prstGeom prst="roundRect">
            <a:avLst>
              <a:gd name="adj" fmla="val 16667"/>
            </a:avLst>
          </a:prstGeom>
          <a:solidFill>
            <a:srgbClr val="FFFFFF"/>
          </a:solidFill>
          <a:ln w="19050">
            <a:solidFill>
              <a:srgbClr val="D9700F"/>
            </a:solidFill>
            <a:prstDash val="solid"/>
          </a:ln>
        </p:spPr>
      </p:sp>
      <p:sp>
        <p:nvSpPr>
          <p:cNvPr id="22" name="Shape 18"/>
          <p:cNvSpPr/>
          <p:nvPr/>
        </p:nvSpPr>
        <p:spPr>
          <a:xfrm>
            <a:off x="5317236" y="3566922"/>
            <a:ext cx="411480" cy="914"/>
          </a:xfrm>
          <a:prstGeom prst="line">
            <a:avLst/>
          </a:prstGeom>
          <a:noFill/>
          <a:ln w="38100">
            <a:solidFill>
              <a:srgbClr val="D9700F"/>
            </a:solidFill>
            <a:prstDash val="solid"/>
            <a:tailEnd type="triangle"/>
          </a:ln>
        </p:spPr>
      </p:sp>
      <p:sp>
        <p:nvSpPr>
          <p:cNvPr id="23" name="Shape 19"/>
          <p:cNvSpPr/>
          <p:nvPr/>
        </p:nvSpPr>
        <p:spPr>
          <a:xfrm>
            <a:off x="548640" y="4166616"/>
            <a:ext cx="5408676" cy="979932"/>
          </a:xfrm>
          <a:prstGeom prst="roundRect">
            <a:avLst>
              <a:gd name="adj" fmla="val 7465"/>
            </a:avLst>
          </a:prstGeom>
          <a:solidFill>
            <a:schemeClr val="bg2"/>
          </a:solidFill>
          <a:ln w="9525">
            <a:solidFill>
              <a:srgbClr val="D5DCE6"/>
            </a:solidFill>
            <a:prstDash val="solid"/>
          </a:ln>
        </p:spPr>
      </p:sp>
      <p:sp>
        <p:nvSpPr>
          <p:cNvPr id="24" name="Text 20"/>
          <p:cNvSpPr txBox="1"/>
          <p:nvPr/>
        </p:nvSpPr>
        <p:spPr>
          <a:xfrm>
            <a:off x="658368"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3</a:t>
            </a:r>
            <a:endParaRPr lang="en-US" sz="1700" dirty="0"/>
          </a:p>
        </p:txBody>
      </p:sp>
      <p:sp>
        <p:nvSpPr>
          <p:cNvPr id="25" name="Text 21"/>
          <p:cNvSpPr txBox="1"/>
          <p:nvPr/>
        </p:nvSpPr>
        <p:spPr>
          <a:xfrm>
            <a:off x="1051560" y="416661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De kinderen spelen in de tuin.</a:t>
            </a:r>
            <a:endParaRPr lang="en-US" sz="1900" dirty="0"/>
          </a:p>
        </p:txBody>
      </p:sp>
      <p:sp>
        <p:nvSpPr>
          <p:cNvPr id="26" name="Shape 22"/>
          <p:cNvSpPr/>
          <p:nvPr/>
        </p:nvSpPr>
        <p:spPr>
          <a:xfrm>
            <a:off x="4539996" y="4382262"/>
            <a:ext cx="594360" cy="548640"/>
          </a:xfrm>
          <a:prstGeom prst="roundRect">
            <a:avLst>
              <a:gd name="adj" fmla="val 16667"/>
            </a:avLst>
          </a:prstGeom>
          <a:solidFill>
            <a:schemeClr val="accent2"/>
          </a:solidFill>
          <a:ln w="19050">
            <a:solidFill>
              <a:srgbClr val="2A6FB0"/>
            </a:solidFill>
            <a:prstDash val="solid"/>
          </a:ln>
        </p:spPr>
      </p:sp>
      <p:sp>
        <p:nvSpPr>
          <p:cNvPr id="27" name="Shape 23"/>
          <p:cNvSpPr/>
          <p:nvPr/>
        </p:nvSpPr>
        <p:spPr>
          <a:xfrm>
            <a:off x="4741164" y="4565142"/>
            <a:ext cx="182880" cy="182880"/>
          </a:xfrm>
          <a:prstGeom prst="ellipse">
            <a:avLst/>
          </a:prstGeom>
          <a:solidFill>
            <a:srgbClr val="FFFFFF"/>
          </a:solidFill>
          <a:ln w="12700">
            <a:solidFill>
              <a:srgbClr val="FFFFFF">
                <a:alpha val="0"/>
              </a:srgbClr>
            </a:solidFill>
            <a:prstDash val="solid"/>
          </a:ln>
        </p:spPr>
      </p:sp>
      <p:sp>
        <p:nvSpPr>
          <p:cNvPr id="28" name="Shape 24"/>
          <p:cNvSpPr/>
          <p:nvPr/>
        </p:nvSpPr>
        <p:spPr>
          <a:xfrm>
            <a:off x="5225796" y="4382262"/>
            <a:ext cx="594360" cy="548640"/>
          </a:xfrm>
          <a:prstGeom prst="roundRect">
            <a:avLst>
              <a:gd name="adj" fmla="val 16667"/>
            </a:avLst>
          </a:prstGeom>
          <a:solidFill>
            <a:srgbClr val="FFFFFF"/>
          </a:solidFill>
          <a:ln w="19050">
            <a:solidFill>
              <a:srgbClr val="D9700F"/>
            </a:solidFill>
            <a:prstDash val="solid"/>
          </a:ln>
        </p:spPr>
      </p:sp>
      <p:sp>
        <p:nvSpPr>
          <p:cNvPr id="29" name="Shape 25"/>
          <p:cNvSpPr/>
          <p:nvPr/>
        </p:nvSpPr>
        <p:spPr>
          <a:xfrm>
            <a:off x="5317236" y="4656582"/>
            <a:ext cx="411480" cy="914"/>
          </a:xfrm>
          <a:prstGeom prst="line">
            <a:avLst/>
          </a:prstGeom>
          <a:noFill/>
          <a:ln w="38100">
            <a:solidFill>
              <a:srgbClr val="D9700F"/>
            </a:solidFill>
            <a:prstDash val="solid"/>
            <a:tailEnd type="triangle"/>
          </a:ln>
        </p:spPr>
      </p:sp>
      <p:sp>
        <p:nvSpPr>
          <p:cNvPr id="30" name="Shape 26"/>
          <p:cNvSpPr/>
          <p:nvPr/>
        </p:nvSpPr>
        <p:spPr>
          <a:xfrm>
            <a:off x="548640" y="5256276"/>
            <a:ext cx="5408676" cy="979932"/>
          </a:xfrm>
          <a:prstGeom prst="roundRect">
            <a:avLst>
              <a:gd name="adj" fmla="val 7465"/>
            </a:avLst>
          </a:prstGeom>
          <a:solidFill>
            <a:schemeClr val="bg1"/>
          </a:solidFill>
          <a:ln w="9525">
            <a:solidFill>
              <a:srgbClr val="D5DCE6"/>
            </a:solidFill>
            <a:prstDash val="solid"/>
          </a:ln>
        </p:spPr>
      </p:sp>
      <p:sp>
        <p:nvSpPr>
          <p:cNvPr id="31" name="Text 27"/>
          <p:cNvSpPr txBox="1"/>
          <p:nvPr/>
        </p:nvSpPr>
        <p:spPr>
          <a:xfrm>
            <a:off x="658368"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4</a:t>
            </a:r>
            <a:endParaRPr lang="en-US" sz="1700" dirty="0"/>
          </a:p>
        </p:txBody>
      </p:sp>
      <p:sp>
        <p:nvSpPr>
          <p:cNvPr id="32" name="Text 28"/>
          <p:cNvSpPr txBox="1"/>
          <p:nvPr/>
        </p:nvSpPr>
        <p:spPr>
          <a:xfrm>
            <a:off x="1051560" y="525627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We fietsen de stad uit.</a:t>
            </a:r>
            <a:endParaRPr lang="en-US" sz="1900" dirty="0"/>
          </a:p>
        </p:txBody>
      </p:sp>
      <p:sp>
        <p:nvSpPr>
          <p:cNvPr id="33" name="Shape 29"/>
          <p:cNvSpPr/>
          <p:nvPr/>
        </p:nvSpPr>
        <p:spPr>
          <a:xfrm>
            <a:off x="4539996" y="5471922"/>
            <a:ext cx="594360" cy="548640"/>
          </a:xfrm>
          <a:prstGeom prst="roundRect">
            <a:avLst>
              <a:gd name="adj" fmla="val 16667"/>
            </a:avLst>
          </a:prstGeom>
          <a:solidFill>
            <a:srgbClr val="FFFFFF"/>
          </a:solidFill>
          <a:ln w="19050">
            <a:solidFill>
              <a:srgbClr val="2A6FB0"/>
            </a:solidFill>
            <a:prstDash val="solid"/>
          </a:ln>
        </p:spPr>
      </p:sp>
      <p:sp>
        <p:nvSpPr>
          <p:cNvPr id="34" name="Shape 30"/>
          <p:cNvSpPr/>
          <p:nvPr/>
        </p:nvSpPr>
        <p:spPr>
          <a:xfrm>
            <a:off x="4741164" y="5654802"/>
            <a:ext cx="182880" cy="182880"/>
          </a:xfrm>
          <a:prstGeom prst="ellipse">
            <a:avLst/>
          </a:prstGeom>
          <a:solidFill>
            <a:schemeClr val="accent2"/>
          </a:solidFill>
          <a:ln w="12700">
            <a:solidFill>
              <a:srgbClr val="FFFFFF">
                <a:alpha val="0"/>
              </a:srgbClr>
            </a:solidFill>
            <a:prstDash val="solid"/>
          </a:ln>
        </p:spPr>
      </p:sp>
      <p:sp>
        <p:nvSpPr>
          <p:cNvPr id="35" name="Shape 31"/>
          <p:cNvSpPr/>
          <p:nvPr/>
        </p:nvSpPr>
        <p:spPr>
          <a:xfrm>
            <a:off x="5225796" y="5471922"/>
            <a:ext cx="594360" cy="548640"/>
          </a:xfrm>
          <a:prstGeom prst="roundRect">
            <a:avLst>
              <a:gd name="adj" fmla="val 16667"/>
            </a:avLst>
          </a:prstGeom>
          <a:solidFill>
            <a:schemeClr val="accent1"/>
          </a:solidFill>
          <a:ln w="19050">
            <a:solidFill>
              <a:srgbClr val="D9700F"/>
            </a:solidFill>
            <a:prstDash val="solid"/>
          </a:ln>
        </p:spPr>
      </p:sp>
      <p:sp>
        <p:nvSpPr>
          <p:cNvPr id="36" name="Shape 32"/>
          <p:cNvSpPr/>
          <p:nvPr/>
        </p:nvSpPr>
        <p:spPr>
          <a:xfrm>
            <a:off x="5317236" y="5746242"/>
            <a:ext cx="411480" cy="914"/>
          </a:xfrm>
          <a:prstGeom prst="line">
            <a:avLst/>
          </a:prstGeom>
          <a:noFill/>
          <a:ln w="38100">
            <a:solidFill>
              <a:srgbClr val="FFFFFF"/>
            </a:solidFill>
            <a:prstDash val="solid"/>
            <a:tailEnd type="triangle"/>
          </a:ln>
        </p:spPr>
      </p:sp>
      <p:sp>
        <p:nvSpPr>
          <p:cNvPr id="37" name="Shape 33"/>
          <p:cNvSpPr/>
          <p:nvPr/>
        </p:nvSpPr>
        <p:spPr>
          <a:xfrm>
            <a:off x="6231636" y="1987296"/>
            <a:ext cx="5408676" cy="979932"/>
          </a:xfrm>
          <a:prstGeom prst="roundRect">
            <a:avLst>
              <a:gd name="adj" fmla="val 7465"/>
            </a:avLst>
          </a:prstGeom>
          <a:solidFill>
            <a:schemeClr val="bg2"/>
          </a:solidFill>
          <a:ln w="9525">
            <a:solidFill>
              <a:srgbClr val="D5DCE6"/>
            </a:solidFill>
            <a:prstDash val="solid"/>
          </a:ln>
        </p:spPr>
      </p:sp>
      <p:sp>
        <p:nvSpPr>
          <p:cNvPr id="38" name="Text 34"/>
          <p:cNvSpPr txBox="1"/>
          <p:nvPr/>
        </p:nvSpPr>
        <p:spPr>
          <a:xfrm>
            <a:off x="6341364"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5</a:t>
            </a:r>
            <a:endParaRPr lang="en-US" sz="1700" dirty="0"/>
          </a:p>
        </p:txBody>
      </p:sp>
      <p:sp>
        <p:nvSpPr>
          <p:cNvPr id="39" name="Text 35"/>
          <p:cNvSpPr txBox="1"/>
          <p:nvPr/>
        </p:nvSpPr>
        <p:spPr>
          <a:xfrm>
            <a:off x="6734556" y="198729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Hij zwemt in het zwembad.</a:t>
            </a:r>
            <a:endParaRPr lang="en-US" sz="1900" dirty="0"/>
          </a:p>
        </p:txBody>
      </p:sp>
      <p:sp>
        <p:nvSpPr>
          <p:cNvPr id="40" name="Shape 36"/>
          <p:cNvSpPr/>
          <p:nvPr/>
        </p:nvSpPr>
        <p:spPr>
          <a:xfrm>
            <a:off x="10222992" y="2202942"/>
            <a:ext cx="594360" cy="548640"/>
          </a:xfrm>
          <a:prstGeom prst="roundRect">
            <a:avLst>
              <a:gd name="adj" fmla="val 16667"/>
            </a:avLst>
          </a:prstGeom>
          <a:solidFill>
            <a:schemeClr val="accent2"/>
          </a:solidFill>
          <a:ln w="19050">
            <a:solidFill>
              <a:srgbClr val="2A6FB0"/>
            </a:solidFill>
            <a:prstDash val="solid"/>
          </a:ln>
        </p:spPr>
      </p:sp>
      <p:sp>
        <p:nvSpPr>
          <p:cNvPr id="41" name="Shape 37"/>
          <p:cNvSpPr/>
          <p:nvPr/>
        </p:nvSpPr>
        <p:spPr>
          <a:xfrm>
            <a:off x="10424160" y="2385822"/>
            <a:ext cx="182880" cy="182880"/>
          </a:xfrm>
          <a:prstGeom prst="ellipse">
            <a:avLst/>
          </a:prstGeom>
          <a:solidFill>
            <a:srgbClr val="FFFFFF"/>
          </a:solidFill>
          <a:ln w="12700">
            <a:solidFill>
              <a:srgbClr val="FFFFFF">
                <a:alpha val="0"/>
              </a:srgbClr>
            </a:solidFill>
            <a:prstDash val="solid"/>
          </a:ln>
        </p:spPr>
      </p:sp>
      <p:sp>
        <p:nvSpPr>
          <p:cNvPr id="42" name="Shape 38"/>
          <p:cNvSpPr/>
          <p:nvPr/>
        </p:nvSpPr>
        <p:spPr>
          <a:xfrm>
            <a:off x="10908792" y="2202942"/>
            <a:ext cx="594360" cy="548640"/>
          </a:xfrm>
          <a:prstGeom prst="roundRect">
            <a:avLst>
              <a:gd name="adj" fmla="val 16667"/>
            </a:avLst>
          </a:prstGeom>
          <a:solidFill>
            <a:srgbClr val="FFFFFF"/>
          </a:solidFill>
          <a:ln w="19050">
            <a:solidFill>
              <a:srgbClr val="D9700F"/>
            </a:solidFill>
            <a:prstDash val="solid"/>
          </a:ln>
        </p:spPr>
      </p:sp>
      <p:sp>
        <p:nvSpPr>
          <p:cNvPr id="43" name="Shape 39"/>
          <p:cNvSpPr/>
          <p:nvPr/>
        </p:nvSpPr>
        <p:spPr>
          <a:xfrm>
            <a:off x="11000232" y="2477262"/>
            <a:ext cx="411480" cy="914"/>
          </a:xfrm>
          <a:prstGeom prst="line">
            <a:avLst/>
          </a:prstGeom>
          <a:noFill/>
          <a:ln w="38100">
            <a:solidFill>
              <a:srgbClr val="D9700F"/>
            </a:solidFill>
            <a:prstDash val="solid"/>
            <a:tailEnd type="triangle"/>
          </a:ln>
        </p:spPr>
      </p:sp>
      <p:sp>
        <p:nvSpPr>
          <p:cNvPr id="44" name="Shape 40"/>
          <p:cNvSpPr/>
          <p:nvPr/>
        </p:nvSpPr>
        <p:spPr>
          <a:xfrm>
            <a:off x="6231636" y="3076956"/>
            <a:ext cx="5408676" cy="979932"/>
          </a:xfrm>
          <a:prstGeom prst="roundRect">
            <a:avLst>
              <a:gd name="adj" fmla="val 7465"/>
            </a:avLst>
          </a:prstGeom>
          <a:solidFill>
            <a:schemeClr val="bg1"/>
          </a:solidFill>
          <a:ln w="9525">
            <a:solidFill>
              <a:srgbClr val="D5DCE6"/>
            </a:solidFill>
            <a:prstDash val="solid"/>
          </a:ln>
        </p:spPr>
      </p:sp>
      <p:sp>
        <p:nvSpPr>
          <p:cNvPr id="45" name="Text 41"/>
          <p:cNvSpPr txBox="1"/>
          <p:nvPr/>
        </p:nvSpPr>
        <p:spPr>
          <a:xfrm>
            <a:off x="6341364"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6</a:t>
            </a:r>
            <a:endParaRPr lang="en-US" sz="1700" dirty="0"/>
          </a:p>
        </p:txBody>
      </p:sp>
      <p:sp>
        <p:nvSpPr>
          <p:cNvPr id="46" name="Text 42"/>
          <p:cNvSpPr txBox="1"/>
          <p:nvPr/>
        </p:nvSpPr>
        <p:spPr>
          <a:xfrm>
            <a:off x="6734556" y="307695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Hij zwemt het meer over.</a:t>
            </a:r>
            <a:endParaRPr lang="en-US" sz="1900" dirty="0"/>
          </a:p>
        </p:txBody>
      </p:sp>
      <p:sp>
        <p:nvSpPr>
          <p:cNvPr id="47" name="Shape 43"/>
          <p:cNvSpPr/>
          <p:nvPr/>
        </p:nvSpPr>
        <p:spPr>
          <a:xfrm>
            <a:off x="10222992" y="3292602"/>
            <a:ext cx="594360" cy="548640"/>
          </a:xfrm>
          <a:prstGeom prst="roundRect">
            <a:avLst>
              <a:gd name="adj" fmla="val 16667"/>
            </a:avLst>
          </a:prstGeom>
          <a:solidFill>
            <a:srgbClr val="FFFFFF"/>
          </a:solidFill>
          <a:ln w="19050">
            <a:solidFill>
              <a:srgbClr val="2A6FB0"/>
            </a:solidFill>
            <a:prstDash val="solid"/>
          </a:ln>
        </p:spPr>
      </p:sp>
      <p:sp>
        <p:nvSpPr>
          <p:cNvPr id="48" name="Shape 44"/>
          <p:cNvSpPr/>
          <p:nvPr/>
        </p:nvSpPr>
        <p:spPr>
          <a:xfrm>
            <a:off x="10424160" y="3475482"/>
            <a:ext cx="182880" cy="182880"/>
          </a:xfrm>
          <a:prstGeom prst="ellipse">
            <a:avLst/>
          </a:prstGeom>
          <a:solidFill>
            <a:schemeClr val="accent2"/>
          </a:solidFill>
          <a:ln w="12700">
            <a:solidFill>
              <a:srgbClr val="FFFFFF">
                <a:alpha val="0"/>
              </a:srgbClr>
            </a:solidFill>
            <a:prstDash val="solid"/>
          </a:ln>
        </p:spPr>
      </p:sp>
      <p:sp>
        <p:nvSpPr>
          <p:cNvPr id="49" name="Shape 45"/>
          <p:cNvSpPr/>
          <p:nvPr/>
        </p:nvSpPr>
        <p:spPr>
          <a:xfrm>
            <a:off x="10908792" y="3292602"/>
            <a:ext cx="594360" cy="548640"/>
          </a:xfrm>
          <a:prstGeom prst="roundRect">
            <a:avLst>
              <a:gd name="adj" fmla="val 16667"/>
            </a:avLst>
          </a:prstGeom>
          <a:solidFill>
            <a:schemeClr val="accent1"/>
          </a:solidFill>
          <a:ln w="19050">
            <a:solidFill>
              <a:srgbClr val="D9700F"/>
            </a:solidFill>
            <a:prstDash val="solid"/>
          </a:ln>
        </p:spPr>
      </p:sp>
      <p:sp>
        <p:nvSpPr>
          <p:cNvPr id="50" name="Shape 46"/>
          <p:cNvSpPr/>
          <p:nvPr/>
        </p:nvSpPr>
        <p:spPr>
          <a:xfrm>
            <a:off x="11000232" y="3566922"/>
            <a:ext cx="411480" cy="914"/>
          </a:xfrm>
          <a:prstGeom prst="line">
            <a:avLst/>
          </a:prstGeom>
          <a:noFill/>
          <a:ln w="38100">
            <a:solidFill>
              <a:srgbClr val="FFFFFF"/>
            </a:solidFill>
            <a:prstDash val="solid"/>
            <a:tailEnd type="triangle"/>
          </a:ln>
        </p:spPr>
      </p:sp>
      <p:sp>
        <p:nvSpPr>
          <p:cNvPr id="51" name="Shape 47"/>
          <p:cNvSpPr/>
          <p:nvPr/>
        </p:nvSpPr>
        <p:spPr>
          <a:xfrm>
            <a:off x="6231636" y="4166616"/>
            <a:ext cx="5408676" cy="979932"/>
          </a:xfrm>
          <a:prstGeom prst="roundRect">
            <a:avLst>
              <a:gd name="adj" fmla="val 7465"/>
            </a:avLst>
          </a:prstGeom>
          <a:solidFill>
            <a:schemeClr val="bg2"/>
          </a:solidFill>
          <a:ln w="9525">
            <a:solidFill>
              <a:srgbClr val="D5DCE6"/>
            </a:solidFill>
            <a:prstDash val="solid"/>
          </a:ln>
        </p:spPr>
      </p:sp>
      <p:sp>
        <p:nvSpPr>
          <p:cNvPr id="52" name="Text 48"/>
          <p:cNvSpPr txBox="1"/>
          <p:nvPr/>
        </p:nvSpPr>
        <p:spPr>
          <a:xfrm>
            <a:off x="6341364"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7</a:t>
            </a:r>
            <a:endParaRPr lang="en-US" sz="1700" dirty="0"/>
          </a:p>
        </p:txBody>
      </p:sp>
      <p:sp>
        <p:nvSpPr>
          <p:cNvPr id="53" name="Text 49"/>
          <p:cNvSpPr txBox="1"/>
          <p:nvPr/>
        </p:nvSpPr>
        <p:spPr>
          <a:xfrm>
            <a:off x="6734556" y="416661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De kat springt de kast op.</a:t>
            </a:r>
            <a:endParaRPr lang="en-US" sz="1900" dirty="0"/>
          </a:p>
        </p:txBody>
      </p:sp>
      <p:sp>
        <p:nvSpPr>
          <p:cNvPr id="54" name="Shape 50"/>
          <p:cNvSpPr/>
          <p:nvPr/>
        </p:nvSpPr>
        <p:spPr>
          <a:xfrm>
            <a:off x="10222992" y="4382262"/>
            <a:ext cx="594360" cy="548640"/>
          </a:xfrm>
          <a:prstGeom prst="roundRect">
            <a:avLst>
              <a:gd name="adj" fmla="val 16667"/>
            </a:avLst>
          </a:prstGeom>
          <a:solidFill>
            <a:srgbClr val="FFFFFF"/>
          </a:solidFill>
          <a:ln w="19050">
            <a:solidFill>
              <a:srgbClr val="2A6FB0"/>
            </a:solidFill>
            <a:prstDash val="solid"/>
          </a:ln>
        </p:spPr>
      </p:sp>
      <p:sp>
        <p:nvSpPr>
          <p:cNvPr id="55" name="Shape 51"/>
          <p:cNvSpPr/>
          <p:nvPr/>
        </p:nvSpPr>
        <p:spPr>
          <a:xfrm>
            <a:off x="10424160" y="4565142"/>
            <a:ext cx="182880" cy="182880"/>
          </a:xfrm>
          <a:prstGeom prst="ellipse">
            <a:avLst/>
          </a:prstGeom>
          <a:solidFill>
            <a:schemeClr val="accent2"/>
          </a:solidFill>
          <a:ln w="12700">
            <a:solidFill>
              <a:srgbClr val="FFFFFF">
                <a:alpha val="0"/>
              </a:srgbClr>
            </a:solidFill>
            <a:prstDash val="solid"/>
          </a:ln>
        </p:spPr>
      </p:sp>
      <p:sp>
        <p:nvSpPr>
          <p:cNvPr id="56" name="Shape 52"/>
          <p:cNvSpPr/>
          <p:nvPr/>
        </p:nvSpPr>
        <p:spPr>
          <a:xfrm>
            <a:off x="10908792" y="4382262"/>
            <a:ext cx="594360" cy="548640"/>
          </a:xfrm>
          <a:prstGeom prst="roundRect">
            <a:avLst>
              <a:gd name="adj" fmla="val 16667"/>
            </a:avLst>
          </a:prstGeom>
          <a:solidFill>
            <a:schemeClr val="accent1"/>
          </a:solidFill>
          <a:ln w="19050">
            <a:solidFill>
              <a:srgbClr val="D9700F"/>
            </a:solidFill>
            <a:prstDash val="solid"/>
          </a:ln>
        </p:spPr>
      </p:sp>
      <p:sp>
        <p:nvSpPr>
          <p:cNvPr id="57" name="Shape 53"/>
          <p:cNvSpPr/>
          <p:nvPr/>
        </p:nvSpPr>
        <p:spPr>
          <a:xfrm>
            <a:off x="11000232" y="4656582"/>
            <a:ext cx="411480" cy="914"/>
          </a:xfrm>
          <a:prstGeom prst="line">
            <a:avLst/>
          </a:prstGeom>
          <a:noFill/>
          <a:ln w="38100">
            <a:solidFill>
              <a:srgbClr val="FFFFFF"/>
            </a:solidFill>
            <a:prstDash val="solid"/>
            <a:tailEnd type="triangle"/>
          </a:ln>
        </p:spPr>
      </p:sp>
      <p:sp>
        <p:nvSpPr>
          <p:cNvPr id="58" name="Shape 54"/>
          <p:cNvSpPr/>
          <p:nvPr/>
        </p:nvSpPr>
        <p:spPr>
          <a:xfrm>
            <a:off x="6231636" y="5256276"/>
            <a:ext cx="5408676" cy="979932"/>
          </a:xfrm>
          <a:prstGeom prst="roundRect">
            <a:avLst>
              <a:gd name="adj" fmla="val 7465"/>
            </a:avLst>
          </a:prstGeom>
          <a:solidFill>
            <a:schemeClr val="bg1"/>
          </a:solidFill>
          <a:ln w="9525">
            <a:solidFill>
              <a:srgbClr val="D5DCE6"/>
            </a:solidFill>
            <a:prstDash val="solid"/>
          </a:ln>
        </p:spPr>
      </p:sp>
      <p:sp>
        <p:nvSpPr>
          <p:cNvPr id="59" name="Text 55"/>
          <p:cNvSpPr txBox="1"/>
          <p:nvPr/>
        </p:nvSpPr>
        <p:spPr>
          <a:xfrm>
            <a:off x="6341364"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8</a:t>
            </a:r>
            <a:endParaRPr lang="en-US" sz="1700" dirty="0"/>
          </a:p>
        </p:txBody>
      </p:sp>
      <p:sp>
        <p:nvSpPr>
          <p:cNvPr id="60" name="Text 56"/>
          <p:cNvSpPr txBox="1"/>
          <p:nvPr/>
        </p:nvSpPr>
        <p:spPr>
          <a:xfrm>
            <a:off x="6734556" y="5256276"/>
            <a:ext cx="3396996" cy="979932"/>
          </a:xfrm>
          <a:prstGeom prst="rect">
            <a:avLst/>
          </a:prstGeom>
          <a:noFill/>
          <a:ln/>
        </p:spPr>
        <p:txBody>
          <a:bodyPr wrap="square" lIns="0" tIns="0" rIns="0" bIns="0" rtlCol="0" anchor="ctr"/>
          <a:lstStyle/>
          <a:p>
            <a:pPr algn="l" indent="0" marL="0">
              <a:buNone/>
            </a:pPr>
            <a:r>
              <a:rPr lang="en-US" sz="1900" i="1" dirty="0">
                <a:solidFill>
                  <a:schemeClr val="tx1"/>
                </a:solidFill>
              </a:rPr>
              <a:t>Ik wacht in de gang.</a:t>
            </a:r>
            <a:endParaRPr lang="en-US" sz="1900" dirty="0"/>
          </a:p>
        </p:txBody>
      </p:sp>
      <p:sp>
        <p:nvSpPr>
          <p:cNvPr id="61" name="Shape 57"/>
          <p:cNvSpPr/>
          <p:nvPr/>
        </p:nvSpPr>
        <p:spPr>
          <a:xfrm>
            <a:off x="10222992" y="5471922"/>
            <a:ext cx="594360" cy="548640"/>
          </a:xfrm>
          <a:prstGeom prst="roundRect">
            <a:avLst>
              <a:gd name="adj" fmla="val 16667"/>
            </a:avLst>
          </a:prstGeom>
          <a:solidFill>
            <a:schemeClr val="accent2"/>
          </a:solidFill>
          <a:ln w="19050">
            <a:solidFill>
              <a:srgbClr val="2A6FB0"/>
            </a:solidFill>
            <a:prstDash val="solid"/>
          </a:ln>
        </p:spPr>
      </p:sp>
      <p:sp>
        <p:nvSpPr>
          <p:cNvPr id="62" name="Shape 58"/>
          <p:cNvSpPr/>
          <p:nvPr/>
        </p:nvSpPr>
        <p:spPr>
          <a:xfrm>
            <a:off x="10424160" y="5654802"/>
            <a:ext cx="182880" cy="182880"/>
          </a:xfrm>
          <a:prstGeom prst="ellipse">
            <a:avLst/>
          </a:prstGeom>
          <a:solidFill>
            <a:srgbClr val="FFFFFF"/>
          </a:solidFill>
          <a:ln w="12700">
            <a:solidFill>
              <a:srgbClr val="FFFFFF">
                <a:alpha val="0"/>
              </a:srgbClr>
            </a:solidFill>
            <a:prstDash val="solid"/>
          </a:ln>
        </p:spPr>
      </p:sp>
      <p:sp>
        <p:nvSpPr>
          <p:cNvPr id="63" name="Shape 59"/>
          <p:cNvSpPr/>
          <p:nvPr/>
        </p:nvSpPr>
        <p:spPr>
          <a:xfrm>
            <a:off x="10908792" y="5471922"/>
            <a:ext cx="594360" cy="548640"/>
          </a:xfrm>
          <a:prstGeom prst="roundRect">
            <a:avLst>
              <a:gd name="adj" fmla="val 16667"/>
            </a:avLst>
          </a:prstGeom>
          <a:solidFill>
            <a:srgbClr val="FFFFFF"/>
          </a:solidFill>
          <a:ln w="19050">
            <a:solidFill>
              <a:srgbClr val="D9700F"/>
            </a:solidFill>
            <a:prstDash val="solid"/>
          </a:ln>
        </p:spPr>
      </p:sp>
      <p:sp>
        <p:nvSpPr>
          <p:cNvPr id="64" name="Shape 60"/>
          <p:cNvSpPr/>
          <p:nvPr/>
        </p:nvSpPr>
        <p:spPr>
          <a:xfrm>
            <a:off x="11000232" y="5746242"/>
            <a:ext cx="411480" cy="914"/>
          </a:xfrm>
          <a:prstGeom prst="line">
            <a:avLst/>
          </a:prstGeom>
          <a:noFill/>
          <a:ln w="38100">
            <a:solidFill>
              <a:srgbClr val="D9700F"/>
            </a:solidFill>
            <a:prstDash val="solid"/>
            <a:tailEnd type="triangle"/>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bon petit mot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Regardez le pictogramme et complétez : </a:t>
            </a:r>
            <a:r>
              <a:rPr lang="en-US" sz="1700" i="1" dirty="0">
                <a:solidFill>
                  <a:schemeClr val="accent5"/>
                </a:solidFill>
              </a:rPr>
              <a:t>in · uit · op · af · over · door · om · voorbij</a:t>
            </a:r>
            <a:r>
              <a:rPr lang="en-US" sz="1700" i="1" dirty="0">
                <a:solidFill>
                  <a:schemeClr val="accent5"/>
                </a:solidFill>
              </a:rPr>
              <a:t>.</a:t>
            </a:r>
            <a:endParaRPr lang="en-US" sz="1700" dirty="0"/>
          </a:p>
        </p:txBody>
      </p:sp>
      <p:sp>
        <p:nvSpPr>
          <p:cNvPr id="8" name="Shape 4"/>
          <p:cNvSpPr/>
          <p:nvPr/>
        </p:nvSpPr>
        <p:spPr>
          <a:xfrm>
            <a:off x="548640" y="1987296"/>
            <a:ext cx="5408676" cy="979932"/>
          </a:xfrm>
          <a:prstGeom prst="roundRect">
            <a:avLst>
              <a:gd name="adj" fmla="val 7465"/>
            </a:avLst>
          </a:prstGeom>
          <a:solidFill>
            <a:schemeClr val="bg2"/>
          </a:solidFill>
          <a:ln w="9525">
            <a:solidFill>
              <a:srgbClr val="D5DCE6"/>
            </a:solidFill>
            <a:prstDash val="solid"/>
          </a:ln>
        </p:spPr>
      </p:sp>
      <p:sp>
        <p:nvSpPr>
          <p:cNvPr id="9" name="Text 5"/>
          <p:cNvSpPr txBox="1"/>
          <p:nvPr/>
        </p:nvSpPr>
        <p:spPr>
          <a:xfrm>
            <a:off x="658368"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1</a:t>
            </a:r>
            <a:endParaRPr lang="en-US" sz="1700" dirty="0"/>
          </a:p>
        </p:txBody>
      </p:sp>
      <p:sp>
        <p:nvSpPr>
          <p:cNvPr id="10" name="Shape 6"/>
          <p:cNvSpPr/>
          <p:nvPr/>
        </p:nvSpPr>
        <p:spPr>
          <a:xfrm>
            <a:off x="1005840" y="2042160"/>
            <a:ext cx="870204" cy="870204"/>
          </a:xfrm>
          <a:prstGeom prst="roundRect">
            <a:avLst>
              <a:gd name="adj" fmla="val 6305"/>
            </a:avLst>
          </a:prstGeom>
          <a:solidFill>
            <a:srgbClr val="FFFFFF"/>
          </a:solidFill>
          <a:ln w="9525">
            <a:solidFill>
              <a:srgbClr val="D5DCE6"/>
            </a:solidFill>
            <a:prstDash val="solid"/>
          </a:ln>
        </p:spPr>
      </p:sp>
      <p:sp>
        <p:nvSpPr>
          <p:cNvPr id="11" name="Shape 7"/>
          <p:cNvSpPr/>
          <p:nvPr/>
        </p:nvSpPr>
        <p:spPr>
          <a:xfrm>
            <a:off x="1107491" y="2685669"/>
            <a:ext cx="166726" cy="125044"/>
          </a:xfrm>
          <a:prstGeom prst="rect">
            <a:avLst/>
          </a:prstGeom>
          <a:solidFill>
            <a:srgbClr val="D5DCE6"/>
          </a:solidFill>
          <a:ln w="9525">
            <a:solidFill>
              <a:srgbClr val="4A5A70"/>
            </a:solidFill>
            <a:prstDash val="solid"/>
          </a:ln>
        </p:spPr>
      </p:sp>
      <p:sp>
        <p:nvSpPr>
          <p:cNvPr id="12" name="Shape 8"/>
          <p:cNvSpPr/>
          <p:nvPr/>
        </p:nvSpPr>
        <p:spPr>
          <a:xfrm>
            <a:off x="1274216" y="2560625"/>
            <a:ext cx="166726" cy="250088"/>
          </a:xfrm>
          <a:prstGeom prst="rect">
            <a:avLst/>
          </a:prstGeom>
          <a:solidFill>
            <a:srgbClr val="D5DCE6"/>
          </a:solidFill>
          <a:ln w="9525">
            <a:solidFill>
              <a:srgbClr val="4A5A70"/>
            </a:solidFill>
            <a:prstDash val="solid"/>
          </a:ln>
        </p:spPr>
      </p:sp>
      <p:sp>
        <p:nvSpPr>
          <p:cNvPr id="13" name="Shape 9"/>
          <p:cNvSpPr/>
          <p:nvPr/>
        </p:nvSpPr>
        <p:spPr>
          <a:xfrm>
            <a:off x="1440942" y="2435581"/>
            <a:ext cx="166726" cy="375133"/>
          </a:xfrm>
          <a:prstGeom prst="rect">
            <a:avLst/>
          </a:prstGeom>
          <a:solidFill>
            <a:srgbClr val="D5DCE6"/>
          </a:solidFill>
          <a:ln w="9525">
            <a:solidFill>
              <a:srgbClr val="4A5A70"/>
            </a:solidFill>
            <a:prstDash val="solid"/>
          </a:ln>
        </p:spPr>
      </p:sp>
      <p:sp>
        <p:nvSpPr>
          <p:cNvPr id="14" name="Shape 10"/>
          <p:cNvSpPr/>
          <p:nvPr/>
        </p:nvSpPr>
        <p:spPr>
          <a:xfrm>
            <a:off x="1607668" y="2310536"/>
            <a:ext cx="166726" cy="500177"/>
          </a:xfrm>
          <a:prstGeom prst="rect">
            <a:avLst/>
          </a:prstGeom>
          <a:solidFill>
            <a:srgbClr val="D5DCE6"/>
          </a:solidFill>
          <a:ln w="9525">
            <a:solidFill>
              <a:srgbClr val="4A5A70"/>
            </a:solidFill>
            <a:prstDash val="solid"/>
          </a:ln>
        </p:spPr>
      </p:sp>
      <p:sp>
        <p:nvSpPr>
          <p:cNvPr id="15" name="Shape 11"/>
          <p:cNvSpPr/>
          <p:nvPr/>
        </p:nvSpPr>
        <p:spPr>
          <a:xfrm flipV="1">
            <a:off x="1090818" y="2127138"/>
            <a:ext cx="666902" cy="450159"/>
          </a:xfrm>
          <a:prstGeom prst="line">
            <a:avLst/>
          </a:prstGeom>
          <a:noFill/>
          <a:ln w="44450">
            <a:solidFill>
              <a:srgbClr val="D9700F"/>
            </a:solidFill>
            <a:prstDash val="solid"/>
            <a:tailEnd type="triangle"/>
          </a:ln>
        </p:spPr>
      </p:sp>
      <p:sp>
        <p:nvSpPr>
          <p:cNvPr id="16" name="Text 12"/>
          <p:cNvSpPr txBox="1"/>
          <p:nvPr/>
        </p:nvSpPr>
        <p:spPr>
          <a:xfrm>
            <a:off x="2095500" y="198729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Karim loopt de trap </a:t>
            </a:r>
            <a:r>
              <a:rPr lang="en-US" sz="1900" i="1" dirty="0">
                <a:solidFill>
                  <a:schemeClr val="accent5"/>
                </a:solidFill>
              </a:rPr>
              <a:t>…………</a:t>
            </a:r>
            <a:r>
              <a:rPr lang="en-US" sz="1900" i="1" dirty="0">
                <a:solidFill>
                  <a:schemeClr val="tx1"/>
                </a:solidFill>
              </a:rPr>
              <a:t>.</a:t>
            </a:r>
            <a:endParaRPr lang="en-US" sz="1900" dirty="0"/>
          </a:p>
        </p:txBody>
      </p:sp>
      <p:sp>
        <p:nvSpPr>
          <p:cNvPr id="17" name="Shape 13"/>
          <p:cNvSpPr/>
          <p:nvPr/>
        </p:nvSpPr>
        <p:spPr>
          <a:xfrm>
            <a:off x="548640" y="3076956"/>
            <a:ext cx="5408676" cy="979932"/>
          </a:xfrm>
          <a:prstGeom prst="roundRect">
            <a:avLst>
              <a:gd name="adj" fmla="val 7465"/>
            </a:avLst>
          </a:prstGeom>
          <a:solidFill>
            <a:schemeClr val="bg1"/>
          </a:solidFill>
          <a:ln w="9525">
            <a:solidFill>
              <a:srgbClr val="D5DCE6"/>
            </a:solidFill>
            <a:prstDash val="solid"/>
          </a:ln>
        </p:spPr>
      </p:sp>
      <p:sp>
        <p:nvSpPr>
          <p:cNvPr id="18" name="Text 14"/>
          <p:cNvSpPr txBox="1"/>
          <p:nvPr/>
        </p:nvSpPr>
        <p:spPr>
          <a:xfrm>
            <a:off x="658368"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2</a:t>
            </a:r>
            <a:endParaRPr lang="en-US" sz="1700" dirty="0"/>
          </a:p>
        </p:txBody>
      </p:sp>
      <p:sp>
        <p:nvSpPr>
          <p:cNvPr id="19" name="Shape 15"/>
          <p:cNvSpPr/>
          <p:nvPr/>
        </p:nvSpPr>
        <p:spPr>
          <a:xfrm>
            <a:off x="1005840" y="3131820"/>
            <a:ext cx="870204" cy="870204"/>
          </a:xfrm>
          <a:prstGeom prst="roundRect">
            <a:avLst>
              <a:gd name="adj" fmla="val 6305"/>
            </a:avLst>
          </a:prstGeom>
          <a:solidFill>
            <a:srgbClr val="FFFFFF"/>
          </a:solidFill>
          <a:ln w="9525">
            <a:solidFill>
              <a:srgbClr val="D5DCE6"/>
            </a:solidFill>
            <a:prstDash val="solid"/>
          </a:ln>
        </p:spPr>
      </p:sp>
      <p:sp>
        <p:nvSpPr>
          <p:cNvPr id="20" name="Shape 16"/>
          <p:cNvSpPr/>
          <p:nvPr/>
        </p:nvSpPr>
        <p:spPr>
          <a:xfrm>
            <a:off x="1399261" y="3316834"/>
            <a:ext cx="400141" cy="500177"/>
          </a:xfrm>
          <a:prstGeom prst="rect">
            <a:avLst/>
          </a:prstGeom>
          <a:solidFill>
            <a:srgbClr val="FFFFFF"/>
          </a:solidFill>
          <a:ln w="25400">
            <a:solidFill>
              <a:srgbClr val="17375E"/>
            </a:solidFill>
            <a:prstDash val="solid"/>
          </a:ln>
        </p:spPr>
      </p:sp>
      <p:sp>
        <p:nvSpPr>
          <p:cNvPr id="21" name="Shape 17"/>
          <p:cNvSpPr/>
          <p:nvPr/>
        </p:nvSpPr>
        <p:spPr>
          <a:xfrm>
            <a:off x="1362685" y="3481892"/>
            <a:ext cx="73152" cy="170060"/>
          </a:xfrm>
          <a:prstGeom prst="rect">
            <a:avLst/>
          </a:prstGeom>
          <a:solidFill>
            <a:srgbClr val="FFFFFF"/>
          </a:solidFill>
          <a:ln w="12700">
            <a:solidFill>
              <a:srgbClr val="FFFFFF">
                <a:alpha val="0"/>
              </a:srgbClr>
            </a:solidFill>
            <a:prstDash val="solid"/>
          </a:ln>
        </p:spPr>
      </p:sp>
      <p:sp>
        <p:nvSpPr>
          <p:cNvPr id="22" name="Shape 18"/>
          <p:cNvSpPr/>
          <p:nvPr/>
        </p:nvSpPr>
        <p:spPr>
          <a:xfrm flipH="1">
            <a:off x="1065809" y="3566922"/>
            <a:ext cx="558531" cy="914"/>
          </a:xfrm>
          <a:prstGeom prst="line">
            <a:avLst/>
          </a:prstGeom>
          <a:noFill/>
          <a:ln w="44450">
            <a:solidFill>
              <a:srgbClr val="D9700F"/>
            </a:solidFill>
            <a:prstDash val="solid"/>
            <a:tailEnd type="triangle"/>
          </a:ln>
        </p:spPr>
      </p:sp>
      <p:sp>
        <p:nvSpPr>
          <p:cNvPr id="23" name="Text 19"/>
          <p:cNvSpPr txBox="1"/>
          <p:nvPr/>
        </p:nvSpPr>
        <p:spPr>
          <a:xfrm>
            <a:off x="2095500" y="307695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Sofie loopt het kantoor </a:t>
            </a:r>
            <a:r>
              <a:rPr lang="en-US" sz="1900" i="1" dirty="0">
                <a:solidFill>
                  <a:schemeClr val="accent5"/>
                </a:solidFill>
              </a:rPr>
              <a:t>…………</a:t>
            </a:r>
            <a:r>
              <a:rPr lang="en-US" sz="1900" i="1" dirty="0">
                <a:solidFill>
                  <a:schemeClr val="tx1"/>
                </a:solidFill>
              </a:rPr>
              <a:t>.</a:t>
            </a:r>
            <a:endParaRPr lang="en-US" sz="1900" dirty="0"/>
          </a:p>
        </p:txBody>
      </p:sp>
      <p:sp>
        <p:nvSpPr>
          <p:cNvPr id="24" name="Shape 20"/>
          <p:cNvSpPr/>
          <p:nvPr/>
        </p:nvSpPr>
        <p:spPr>
          <a:xfrm>
            <a:off x="548640" y="4166616"/>
            <a:ext cx="5408676" cy="979932"/>
          </a:xfrm>
          <a:prstGeom prst="roundRect">
            <a:avLst>
              <a:gd name="adj" fmla="val 7465"/>
            </a:avLst>
          </a:prstGeom>
          <a:solidFill>
            <a:schemeClr val="bg2"/>
          </a:solidFill>
          <a:ln w="9525">
            <a:solidFill>
              <a:srgbClr val="D5DCE6"/>
            </a:solidFill>
            <a:prstDash val="solid"/>
          </a:ln>
        </p:spPr>
      </p:sp>
      <p:sp>
        <p:nvSpPr>
          <p:cNvPr id="25" name="Text 21"/>
          <p:cNvSpPr txBox="1"/>
          <p:nvPr/>
        </p:nvSpPr>
        <p:spPr>
          <a:xfrm>
            <a:off x="658368"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3</a:t>
            </a:r>
            <a:endParaRPr lang="en-US" sz="1700" dirty="0"/>
          </a:p>
        </p:txBody>
      </p:sp>
      <p:sp>
        <p:nvSpPr>
          <p:cNvPr id="26" name="Shape 22"/>
          <p:cNvSpPr/>
          <p:nvPr/>
        </p:nvSpPr>
        <p:spPr>
          <a:xfrm>
            <a:off x="1005840" y="4221480"/>
            <a:ext cx="870204" cy="870204"/>
          </a:xfrm>
          <a:prstGeom prst="roundRect">
            <a:avLst>
              <a:gd name="adj" fmla="val 6305"/>
            </a:avLst>
          </a:prstGeom>
          <a:solidFill>
            <a:srgbClr val="FFFFFF"/>
          </a:solidFill>
          <a:ln w="9525">
            <a:solidFill>
              <a:srgbClr val="D5DCE6"/>
            </a:solidFill>
            <a:prstDash val="solid"/>
          </a:ln>
        </p:spPr>
      </p:sp>
      <p:sp>
        <p:nvSpPr>
          <p:cNvPr id="27" name="Shape 23"/>
          <p:cNvSpPr/>
          <p:nvPr/>
        </p:nvSpPr>
        <p:spPr>
          <a:xfrm>
            <a:off x="1399261" y="4406494"/>
            <a:ext cx="400141" cy="500177"/>
          </a:xfrm>
          <a:prstGeom prst="rect">
            <a:avLst/>
          </a:prstGeom>
          <a:solidFill>
            <a:srgbClr val="FFFFFF"/>
          </a:solidFill>
          <a:ln w="25400">
            <a:solidFill>
              <a:srgbClr val="17375E"/>
            </a:solidFill>
            <a:prstDash val="solid"/>
          </a:ln>
        </p:spPr>
      </p:sp>
      <p:sp>
        <p:nvSpPr>
          <p:cNvPr id="28" name="Shape 24"/>
          <p:cNvSpPr/>
          <p:nvPr/>
        </p:nvSpPr>
        <p:spPr>
          <a:xfrm>
            <a:off x="1362685" y="4571552"/>
            <a:ext cx="73152" cy="170060"/>
          </a:xfrm>
          <a:prstGeom prst="rect">
            <a:avLst/>
          </a:prstGeom>
          <a:solidFill>
            <a:srgbClr val="FFFFFF"/>
          </a:solidFill>
          <a:ln w="12700">
            <a:solidFill>
              <a:srgbClr val="FFFFFF">
                <a:alpha val="0"/>
              </a:srgbClr>
            </a:solidFill>
            <a:prstDash val="solid"/>
          </a:ln>
        </p:spPr>
      </p:sp>
      <p:sp>
        <p:nvSpPr>
          <p:cNvPr id="29" name="Shape 25"/>
          <p:cNvSpPr/>
          <p:nvPr/>
        </p:nvSpPr>
        <p:spPr>
          <a:xfrm>
            <a:off x="1065809" y="4656582"/>
            <a:ext cx="558531" cy="914"/>
          </a:xfrm>
          <a:prstGeom prst="line">
            <a:avLst/>
          </a:prstGeom>
          <a:noFill/>
          <a:ln w="44450">
            <a:solidFill>
              <a:srgbClr val="D9700F"/>
            </a:solidFill>
            <a:prstDash val="solid"/>
            <a:tailEnd type="triangle"/>
          </a:ln>
        </p:spPr>
      </p:sp>
      <p:sp>
        <p:nvSpPr>
          <p:cNvPr id="30" name="Text 26"/>
          <p:cNvSpPr txBox="1"/>
          <p:nvPr/>
        </p:nvSpPr>
        <p:spPr>
          <a:xfrm>
            <a:off x="2095500" y="416661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De auto rijdt de garage </a:t>
            </a:r>
            <a:r>
              <a:rPr lang="en-US" sz="1900" i="1" dirty="0">
                <a:solidFill>
                  <a:schemeClr val="accent5"/>
                </a:solidFill>
              </a:rPr>
              <a:t>…………</a:t>
            </a:r>
            <a:r>
              <a:rPr lang="en-US" sz="1900" i="1" dirty="0">
                <a:solidFill>
                  <a:schemeClr val="tx1"/>
                </a:solidFill>
              </a:rPr>
              <a:t>.</a:t>
            </a:r>
            <a:endParaRPr lang="en-US" sz="1900" dirty="0"/>
          </a:p>
        </p:txBody>
      </p:sp>
      <p:sp>
        <p:nvSpPr>
          <p:cNvPr id="31" name="Shape 27"/>
          <p:cNvSpPr/>
          <p:nvPr/>
        </p:nvSpPr>
        <p:spPr>
          <a:xfrm>
            <a:off x="548640" y="5256276"/>
            <a:ext cx="5408676" cy="979932"/>
          </a:xfrm>
          <a:prstGeom prst="roundRect">
            <a:avLst>
              <a:gd name="adj" fmla="val 7465"/>
            </a:avLst>
          </a:prstGeom>
          <a:solidFill>
            <a:schemeClr val="bg1"/>
          </a:solidFill>
          <a:ln w="9525">
            <a:solidFill>
              <a:srgbClr val="D5DCE6"/>
            </a:solidFill>
            <a:prstDash val="solid"/>
          </a:ln>
        </p:spPr>
      </p:sp>
      <p:sp>
        <p:nvSpPr>
          <p:cNvPr id="32" name="Text 28"/>
          <p:cNvSpPr txBox="1"/>
          <p:nvPr/>
        </p:nvSpPr>
        <p:spPr>
          <a:xfrm>
            <a:off x="658368"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4</a:t>
            </a:r>
            <a:endParaRPr lang="en-US" sz="1700" dirty="0"/>
          </a:p>
        </p:txBody>
      </p:sp>
      <p:sp>
        <p:nvSpPr>
          <p:cNvPr id="33" name="Shape 29"/>
          <p:cNvSpPr/>
          <p:nvPr/>
        </p:nvSpPr>
        <p:spPr>
          <a:xfrm>
            <a:off x="1005840" y="5311140"/>
            <a:ext cx="870204" cy="870204"/>
          </a:xfrm>
          <a:prstGeom prst="roundRect">
            <a:avLst>
              <a:gd name="adj" fmla="val 6305"/>
            </a:avLst>
          </a:prstGeom>
          <a:solidFill>
            <a:srgbClr val="FFFFFF"/>
          </a:solidFill>
          <a:ln w="9525">
            <a:solidFill>
              <a:srgbClr val="D5DCE6"/>
            </a:solidFill>
            <a:prstDash val="solid"/>
          </a:ln>
        </p:spPr>
      </p:sp>
      <p:sp>
        <p:nvSpPr>
          <p:cNvPr id="34" name="Shape 30"/>
          <p:cNvSpPr/>
          <p:nvPr/>
        </p:nvSpPr>
        <p:spPr>
          <a:xfrm>
            <a:off x="1107491" y="5579516"/>
            <a:ext cx="166726" cy="500177"/>
          </a:xfrm>
          <a:prstGeom prst="rect">
            <a:avLst/>
          </a:prstGeom>
          <a:solidFill>
            <a:srgbClr val="D5DCE6"/>
          </a:solidFill>
          <a:ln w="9525">
            <a:solidFill>
              <a:srgbClr val="4A5A70"/>
            </a:solidFill>
            <a:prstDash val="solid"/>
          </a:ln>
        </p:spPr>
      </p:sp>
      <p:sp>
        <p:nvSpPr>
          <p:cNvPr id="35" name="Shape 31"/>
          <p:cNvSpPr/>
          <p:nvPr/>
        </p:nvSpPr>
        <p:spPr>
          <a:xfrm>
            <a:off x="1274216" y="5704561"/>
            <a:ext cx="166726" cy="375133"/>
          </a:xfrm>
          <a:prstGeom prst="rect">
            <a:avLst/>
          </a:prstGeom>
          <a:solidFill>
            <a:srgbClr val="D5DCE6"/>
          </a:solidFill>
          <a:ln w="9525">
            <a:solidFill>
              <a:srgbClr val="4A5A70"/>
            </a:solidFill>
            <a:prstDash val="solid"/>
          </a:ln>
        </p:spPr>
      </p:sp>
      <p:sp>
        <p:nvSpPr>
          <p:cNvPr id="36" name="Shape 32"/>
          <p:cNvSpPr/>
          <p:nvPr/>
        </p:nvSpPr>
        <p:spPr>
          <a:xfrm>
            <a:off x="1440942" y="5829605"/>
            <a:ext cx="166726" cy="250088"/>
          </a:xfrm>
          <a:prstGeom prst="rect">
            <a:avLst/>
          </a:prstGeom>
          <a:solidFill>
            <a:srgbClr val="D5DCE6"/>
          </a:solidFill>
          <a:ln w="9525">
            <a:solidFill>
              <a:srgbClr val="4A5A70"/>
            </a:solidFill>
            <a:prstDash val="solid"/>
          </a:ln>
        </p:spPr>
      </p:sp>
      <p:sp>
        <p:nvSpPr>
          <p:cNvPr id="37" name="Shape 33"/>
          <p:cNvSpPr/>
          <p:nvPr/>
        </p:nvSpPr>
        <p:spPr>
          <a:xfrm>
            <a:off x="1607668" y="5954649"/>
            <a:ext cx="166726" cy="125044"/>
          </a:xfrm>
          <a:prstGeom prst="rect">
            <a:avLst/>
          </a:prstGeom>
          <a:solidFill>
            <a:srgbClr val="D5DCE6"/>
          </a:solidFill>
          <a:ln w="9525">
            <a:solidFill>
              <a:srgbClr val="4A5A70"/>
            </a:solidFill>
            <a:prstDash val="solid"/>
          </a:ln>
        </p:spPr>
      </p:sp>
      <p:sp>
        <p:nvSpPr>
          <p:cNvPr id="38" name="Shape 34"/>
          <p:cNvSpPr/>
          <p:nvPr/>
        </p:nvSpPr>
        <p:spPr>
          <a:xfrm>
            <a:off x="1124163" y="5396118"/>
            <a:ext cx="666902" cy="450159"/>
          </a:xfrm>
          <a:prstGeom prst="line">
            <a:avLst/>
          </a:prstGeom>
          <a:noFill/>
          <a:ln w="44450">
            <a:solidFill>
              <a:srgbClr val="D9700F"/>
            </a:solidFill>
            <a:prstDash val="solid"/>
            <a:tailEnd type="triangle"/>
          </a:ln>
        </p:spPr>
      </p:sp>
      <p:sp>
        <p:nvSpPr>
          <p:cNvPr id="39" name="Text 35"/>
          <p:cNvSpPr txBox="1"/>
          <p:nvPr/>
        </p:nvSpPr>
        <p:spPr>
          <a:xfrm>
            <a:off x="2095500" y="525627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We fietsen de berg </a:t>
            </a:r>
            <a:r>
              <a:rPr lang="en-US" sz="1900" i="1" dirty="0">
                <a:solidFill>
                  <a:schemeClr val="accent5"/>
                </a:solidFill>
              </a:rPr>
              <a:t>…………</a:t>
            </a:r>
            <a:r>
              <a:rPr lang="en-US" sz="1900" i="1" dirty="0">
                <a:solidFill>
                  <a:schemeClr val="tx1"/>
                </a:solidFill>
              </a:rPr>
              <a:t>.</a:t>
            </a:r>
            <a:endParaRPr lang="en-US" sz="1900" dirty="0"/>
          </a:p>
        </p:txBody>
      </p:sp>
      <p:sp>
        <p:nvSpPr>
          <p:cNvPr id="40" name="Shape 36"/>
          <p:cNvSpPr/>
          <p:nvPr/>
        </p:nvSpPr>
        <p:spPr>
          <a:xfrm>
            <a:off x="6231636" y="1987296"/>
            <a:ext cx="5408676" cy="979932"/>
          </a:xfrm>
          <a:prstGeom prst="roundRect">
            <a:avLst>
              <a:gd name="adj" fmla="val 7465"/>
            </a:avLst>
          </a:prstGeom>
          <a:solidFill>
            <a:schemeClr val="bg2"/>
          </a:solidFill>
          <a:ln w="9525">
            <a:solidFill>
              <a:srgbClr val="D5DCE6"/>
            </a:solidFill>
            <a:prstDash val="solid"/>
          </a:ln>
        </p:spPr>
      </p:sp>
      <p:sp>
        <p:nvSpPr>
          <p:cNvPr id="41" name="Text 37"/>
          <p:cNvSpPr txBox="1"/>
          <p:nvPr/>
        </p:nvSpPr>
        <p:spPr>
          <a:xfrm>
            <a:off x="6341364"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5</a:t>
            </a:r>
            <a:endParaRPr lang="en-US" sz="1700" dirty="0"/>
          </a:p>
        </p:txBody>
      </p:sp>
      <p:sp>
        <p:nvSpPr>
          <p:cNvPr id="42" name="Shape 38"/>
          <p:cNvSpPr/>
          <p:nvPr/>
        </p:nvSpPr>
        <p:spPr>
          <a:xfrm>
            <a:off x="6688836" y="2042160"/>
            <a:ext cx="870204" cy="870204"/>
          </a:xfrm>
          <a:prstGeom prst="roundRect">
            <a:avLst>
              <a:gd name="adj" fmla="val 6305"/>
            </a:avLst>
          </a:prstGeom>
          <a:solidFill>
            <a:srgbClr val="FFFFFF"/>
          </a:solidFill>
          <a:ln w="9525">
            <a:solidFill>
              <a:srgbClr val="D5DCE6"/>
            </a:solidFill>
            <a:prstDash val="solid"/>
          </a:ln>
        </p:spPr>
      </p:sp>
      <p:sp>
        <p:nvSpPr>
          <p:cNvPr id="43" name="Shape 39"/>
          <p:cNvSpPr/>
          <p:nvPr/>
        </p:nvSpPr>
        <p:spPr>
          <a:xfrm>
            <a:off x="6748805" y="2268855"/>
            <a:ext cx="750265" cy="416814"/>
          </a:xfrm>
          <a:prstGeom prst="rect">
            <a:avLst/>
          </a:prstGeom>
          <a:solidFill>
            <a:srgbClr val="DCEFD9"/>
          </a:solidFill>
          <a:ln w="12700">
            <a:solidFill>
              <a:srgbClr val="FFFFFF">
                <a:alpha val="0"/>
              </a:srgbClr>
            </a:solidFill>
            <a:prstDash val="solid"/>
          </a:ln>
        </p:spPr>
      </p:sp>
      <p:sp>
        <p:nvSpPr>
          <p:cNvPr id="44" name="Shape 40"/>
          <p:cNvSpPr/>
          <p:nvPr/>
        </p:nvSpPr>
        <p:spPr>
          <a:xfrm>
            <a:off x="7023903" y="2268855"/>
            <a:ext cx="200071" cy="416814"/>
          </a:xfrm>
          <a:prstGeom prst="rect">
            <a:avLst/>
          </a:prstGeom>
          <a:solidFill>
            <a:srgbClr val="7FB8E6"/>
          </a:solidFill>
          <a:ln w="12700">
            <a:solidFill>
              <a:srgbClr val="FFFFFF">
                <a:alpha val="0"/>
              </a:srgbClr>
            </a:solidFill>
            <a:prstDash val="solid"/>
          </a:ln>
        </p:spPr>
      </p:sp>
      <p:sp>
        <p:nvSpPr>
          <p:cNvPr id="45" name="Shape 41"/>
          <p:cNvSpPr/>
          <p:nvPr/>
        </p:nvSpPr>
        <p:spPr>
          <a:xfrm>
            <a:off x="6807159" y="2477262"/>
            <a:ext cx="633557" cy="914"/>
          </a:xfrm>
          <a:prstGeom prst="line">
            <a:avLst/>
          </a:prstGeom>
          <a:noFill/>
          <a:ln w="44450">
            <a:solidFill>
              <a:srgbClr val="D9700F"/>
            </a:solidFill>
            <a:prstDash val="solid"/>
            <a:tailEnd type="triangle"/>
          </a:ln>
        </p:spPr>
      </p:sp>
      <p:sp>
        <p:nvSpPr>
          <p:cNvPr id="46" name="Text 42"/>
          <p:cNvSpPr txBox="1"/>
          <p:nvPr/>
        </p:nvSpPr>
        <p:spPr>
          <a:xfrm>
            <a:off x="7778496" y="198729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Ik steek de straat </a:t>
            </a:r>
            <a:r>
              <a:rPr lang="en-US" sz="1900" i="1" dirty="0">
                <a:solidFill>
                  <a:schemeClr val="accent5"/>
                </a:solidFill>
              </a:rPr>
              <a:t>…………</a:t>
            </a:r>
            <a:r>
              <a:rPr lang="en-US" sz="1900" i="1" dirty="0">
                <a:solidFill>
                  <a:schemeClr val="tx1"/>
                </a:solidFill>
              </a:rPr>
              <a:t>.</a:t>
            </a:r>
            <a:endParaRPr lang="en-US" sz="1900" dirty="0"/>
          </a:p>
        </p:txBody>
      </p:sp>
      <p:sp>
        <p:nvSpPr>
          <p:cNvPr id="47" name="Shape 43"/>
          <p:cNvSpPr/>
          <p:nvPr/>
        </p:nvSpPr>
        <p:spPr>
          <a:xfrm>
            <a:off x="6231636" y="3076956"/>
            <a:ext cx="5408676" cy="979932"/>
          </a:xfrm>
          <a:prstGeom prst="roundRect">
            <a:avLst>
              <a:gd name="adj" fmla="val 7465"/>
            </a:avLst>
          </a:prstGeom>
          <a:solidFill>
            <a:schemeClr val="bg1"/>
          </a:solidFill>
          <a:ln w="9525">
            <a:solidFill>
              <a:srgbClr val="D5DCE6"/>
            </a:solidFill>
            <a:prstDash val="solid"/>
          </a:ln>
        </p:spPr>
      </p:sp>
      <p:sp>
        <p:nvSpPr>
          <p:cNvPr id="48" name="Text 44"/>
          <p:cNvSpPr txBox="1"/>
          <p:nvPr/>
        </p:nvSpPr>
        <p:spPr>
          <a:xfrm>
            <a:off x="6341364"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6</a:t>
            </a:r>
            <a:endParaRPr lang="en-US" sz="1700" dirty="0"/>
          </a:p>
        </p:txBody>
      </p:sp>
      <p:sp>
        <p:nvSpPr>
          <p:cNvPr id="49" name="Shape 45"/>
          <p:cNvSpPr/>
          <p:nvPr/>
        </p:nvSpPr>
        <p:spPr>
          <a:xfrm>
            <a:off x="6688836" y="3131820"/>
            <a:ext cx="870204" cy="870204"/>
          </a:xfrm>
          <a:prstGeom prst="roundRect">
            <a:avLst>
              <a:gd name="adj" fmla="val 6305"/>
            </a:avLst>
          </a:prstGeom>
          <a:solidFill>
            <a:srgbClr val="FFFFFF"/>
          </a:solidFill>
          <a:ln w="9525">
            <a:solidFill>
              <a:srgbClr val="D5DCE6"/>
            </a:solidFill>
            <a:prstDash val="solid"/>
          </a:ln>
        </p:spPr>
      </p:sp>
      <p:sp>
        <p:nvSpPr>
          <p:cNvPr id="50" name="Shape 46"/>
          <p:cNvSpPr/>
          <p:nvPr/>
        </p:nvSpPr>
        <p:spPr>
          <a:xfrm>
            <a:off x="6957212" y="3400196"/>
            <a:ext cx="333451" cy="333451"/>
          </a:xfrm>
          <a:prstGeom prst="roundRect">
            <a:avLst>
              <a:gd name="adj" fmla="val 32907"/>
            </a:avLst>
          </a:prstGeom>
          <a:solidFill>
            <a:srgbClr val="4A5A70"/>
          </a:solidFill>
          <a:ln w="12700">
            <a:solidFill>
              <a:srgbClr val="FFFFFF">
                <a:alpha val="0"/>
              </a:srgbClr>
            </a:solidFill>
            <a:prstDash val="solid"/>
          </a:ln>
        </p:spPr>
      </p:sp>
      <p:sp>
        <p:nvSpPr>
          <p:cNvPr id="51" name="Shape 47"/>
          <p:cNvSpPr/>
          <p:nvPr/>
        </p:nvSpPr>
        <p:spPr>
          <a:xfrm>
            <a:off x="7007230" y="3466887"/>
            <a:ext cx="233416" cy="200071"/>
          </a:xfrm>
          <a:prstGeom prst="roundRect">
            <a:avLst>
              <a:gd name="adj" fmla="val 36563"/>
            </a:avLst>
          </a:prstGeom>
          <a:solidFill>
            <a:srgbClr val="1B2333"/>
          </a:solidFill>
          <a:ln w="12700">
            <a:solidFill>
              <a:srgbClr val="FFFFFF">
                <a:alpha val="0"/>
              </a:srgbClr>
            </a:solidFill>
            <a:prstDash val="solid"/>
          </a:ln>
        </p:spPr>
      </p:sp>
      <p:sp>
        <p:nvSpPr>
          <p:cNvPr id="52" name="Shape 48"/>
          <p:cNvSpPr/>
          <p:nvPr/>
        </p:nvSpPr>
        <p:spPr>
          <a:xfrm>
            <a:off x="6740469" y="3566922"/>
            <a:ext cx="766938" cy="914"/>
          </a:xfrm>
          <a:prstGeom prst="line">
            <a:avLst/>
          </a:prstGeom>
          <a:noFill/>
          <a:ln w="44450">
            <a:solidFill>
              <a:srgbClr val="D9700F"/>
            </a:solidFill>
            <a:prstDash val="solid"/>
            <a:tailEnd type="triangle"/>
          </a:ln>
        </p:spPr>
      </p:sp>
      <p:sp>
        <p:nvSpPr>
          <p:cNvPr id="53" name="Text 49"/>
          <p:cNvSpPr txBox="1"/>
          <p:nvPr/>
        </p:nvSpPr>
        <p:spPr>
          <a:xfrm>
            <a:off x="7778496" y="307695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De trein rijdt de tunnel </a:t>
            </a:r>
            <a:r>
              <a:rPr lang="en-US" sz="1900" i="1" dirty="0">
                <a:solidFill>
                  <a:schemeClr val="accent5"/>
                </a:solidFill>
              </a:rPr>
              <a:t>…………</a:t>
            </a:r>
            <a:r>
              <a:rPr lang="en-US" sz="1900" i="1" dirty="0">
                <a:solidFill>
                  <a:schemeClr val="tx1"/>
                </a:solidFill>
              </a:rPr>
              <a:t>.</a:t>
            </a:r>
            <a:endParaRPr lang="en-US" sz="1900" dirty="0"/>
          </a:p>
        </p:txBody>
      </p:sp>
      <p:sp>
        <p:nvSpPr>
          <p:cNvPr id="54" name="Shape 50"/>
          <p:cNvSpPr/>
          <p:nvPr/>
        </p:nvSpPr>
        <p:spPr>
          <a:xfrm>
            <a:off x="6231636" y="4166616"/>
            <a:ext cx="5408676" cy="979932"/>
          </a:xfrm>
          <a:prstGeom prst="roundRect">
            <a:avLst>
              <a:gd name="adj" fmla="val 7465"/>
            </a:avLst>
          </a:prstGeom>
          <a:solidFill>
            <a:schemeClr val="bg2"/>
          </a:solidFill>
          <a:ln w="9525">
            <a:solidFill>
              <a:srgbClr val="D5DCE6"/>
            </a:solidFill>
            <a:prstDash val="solid"/>
          </a:ln>
        </p:spPr>
      </p:sp>
      <p:sp>
        <p:nvSpPr>
          <p:cNvPr id="55" name="Text 51"/>
          <p:cNvSpPr txBox="1"/>
          <p:nvPr/>
        </p:nvSpPr>
        <p:spPr>
          <a:xfrm>
            <a:off x="6341364"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7</a:t>
            </a:r>
            <a:endParaRPr lang="en-US" sz="1700" dirty="0"/>
          </a:p>
        </p:txBody>
      </p:sp>
      <p:sp>
        <p:nvSpPr>
          <p:cNvPr id="56" name="Shape 52"/>
          <p:cNvSpPr/>
          <p:nvPr/>
        </p:nvSpPr>
        <p:spPr>
          <a:xfrm>
            <a:off x="6688836" y="4221480"/>
            <a:ext cx="870204" cy="870204"/>
          </a:xfrm>
          <a:prstGeom prst="roundRect">
            <a:avLst>
              <a:gd name="adj" fmla="val 6305"/>
            </a:avLst>
          </a:prstGeom>
          <a:solidFill>
            <a:srgbClr val="FFFFFF"/>
          </a:solidFill>
          <a:ln w="9525">
            <a:solidFill>
              <a:srgbClr val="D5DCE6"/>
            </a:solidFill>
            <a:prstDash val="solid"/>
          </a:ln>
        </p:spPr>
      </p:sp>
      <p:sp>
        <p:nvSpPr>
          <p:cNvPr id="57" name="Shape 53"/>
          <p:cNvSpPr/>
          <p:nvPr/>
        </p:nvSpPr>
        <p:spPr>
          <a:xfrm>
            <a:off x="6773814" y="4614901"/>
            <a:ext cx="375133" cy="391805"/>
          </a:xfrm>
          <a:prstGeom prst="rect">
            <a:avLst/>
          </a:prstGeom>
          <a:solidFill>
            <a:srgbClr val="D5DCE6"/>
          </a:solidFill>
          <a:ln w="12700">
            <a:solidFill>
              <a:srgbClr val="4A5A70"/>
            </a:solidFill>
            <a:prstDash val="solid"/>
          </a:ln>
        </p:spPr>
      </p:sp>
      <p:sp>
        <p:nvSpPr>
          <p:cNvPr id="58" name="Shape 54"/>
          <p:cNvSpPr/>
          <p:nvPr/>
        </p:nvSpPr>
        <p:spPr>
          <a:xfrm>
            <a:off x="6757142" y="4489856"/>
            <a:ext cx="550194" cy="914"/>
          </a:xfrm>
          <a:prstGeom prst="line">
            <a:avLst/>
          </a:prstGeom>
          <a:noFill/>
          <a:ln w="44450">
            <a:solidFill>
              <a:srgbClr val="D9700F"/>
            </a:solidFill>
            <a:prstDash val="solid"/>
          </a:ln>
        </p:spPr>
      </p:sp>
      <p:sp>
        <p:nvSpPr>
          <p:cNvPr id="59" name="Shape 55"/>
          <p:cNvSpPr/>
          <p:nvPr/>
        </p:nvSpPr>
        <p:spPr>
          <a:xfrm>
            <a:off x="7307336" y="4481520"/>
            <a:ext cx="914" cy="541858"/>
          </a:xfrm>
          <a:prstGeom prst="line">
            <a:avLst/>
          </a:prstGeom>
          <a:noFill/>
          <a:ln w="44450">
            <a:solidFill>
              <a:srgbClr val="D9700F"/>
            </a:solidFill>
            <a:prstDash val="solid"/>
            <a:tailEnd type="triangle"/>
          </a:ln>
        </p:spPr>
      </p:sp>
      <p:sp>
        <p:nvSpPr>
          <p:cNvPr id="60" name="Text 56"/>
          <p:cNvSpPr txBox="1"/>
          <p:nvPr/>
        </p:nvSpPr>
        <p:spPr>
          <a:xfrm>
            <a:off x="7778496" y="416661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Hij loopt de hoek </a:t>
            </a:r>
            <a:r>
              <a:rPr lang="en-US" sz="1900" i="1" dirty="0">
                <a:solidFill>
                  <a:schemeClr val="accent5"/>
                </a:solidFill>
              </a:rPr>
              <a:t>…………</a:t>
            </a:r>
            <a:r>
              <a:rPr lang="en-US" sz="1900" i="1" dirty="0">
                <a:solidFill>
                  <a:schemeClr val="tx1"/>
                </a:solidFill>
              </a:rPr>
              <a:t>.</a:t>
            </a:r>
            <a:endParaRPr lang="en-US" sz="1900" dirty="0"/>
          </a:p>
        </p:txBody>
      </p:sp>
      <p:sp>
        <p:nvSpPr>
          <p:cNvPr id="61" name="Shape 57"/>
          <p:cNvSpPr/>
          <p:nvPr/>
        </p:nvSpPr>
        <p:spPr>
          <a:xfrm>
            <a:off x="6231636" y="5256276"/>
            <a:ext cx="5408676" cy="979932"/>
          </a:xfrm>
          <a:prstGeom prst="roundRect">
            <a:avLst>
              <a:gd name="adj" fmla="val 7465"/>
            </a:avLst>
          </a:prstGeom>
          <a:solidFill>
            <a:schemeClr val="bg1"/>
          </a:solidFill>
          <a:ln w="9525">
            <a:solidFill>
              <a:srgbClr val="D5DCE6"/>
            </a:solidFill>
            <a:prstDash val="solid"/>
          </a:ln>
        </p:spPr>
      </p:sp>
      <p:sp>
        <p:nvSpPr>
          <p:cNvPr id="62" name="Text 58"/>
          <p:cNvSpPr txBox="1"/>
          <p:nvPr/>
        </p:nvSpPr>
        <p:spPr>
          <a:xfrm>
            <a:off x="6341364"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8</a:t>
            </a:r>
            <a:endParaRPr lang="en-US" sz="1700" dirty="0"/>
          </a:p>
        </p:txBody>
      </p:sp>
      <p:sp>
        <p:nvSpPr>
          <p:cNvPr id="63" name="Shape 59"/>
          <p:cNvSpPr/>
          <p:nvPr/>
        </p:nvSpPr>
        <p:spPr>
          <a:xfrm>
            <a:off x="6688836" y="5311140"/>
            <a:ext cx="870204" cy="870204"/>
          </a:xfrm>
          <a:prstGeom prst="roundRect">
            <a:avLst>
              <a:gd name="adj" fmla="val 6305"/>
            </a:avLst>
          </a:prstGeom>
          <a:solidFill>
            <a:srgbClr val="FFFFFF"/>
          </a:solidFill>
          <a:ln w="9525">
            <a:solidFill>
              <a:srgbClr val="D5DCE6"/>
            </a:solidFill>
            <a:prstDash val="solid"/>
          </a:ln>
        </p:spPr>
      </p:sp>
      <p:pic>
        <p:nvPicPr>
          <p:cNvPr id="64" name="Image 1" descr="station">    </p:cNvPr>
          <p:cNvPicPr>
            <a:picLocks noChangeAspect="1"/>
          </p:cNvPicPr>
          <p:nvPr/>
        </p:nvPicPr>
        <p:blipFill>
          <a:blip r:embed="rId2"/>
          <a:stretch>
            <a:fillRect/>
          </a:stretch>
        </p:blipFill>
        <p:spPr>
          <a:xfrm>
            <a:off x="6957212" y="5371109"/>
            <a:ext cx="333451" cy="333451"/>
          </a:xfrm>
          <a:prstGeom prst="rect">
            <a:avLst/>
          </a:prstGeom>
        </p:spPr>
      </p:pic>
      <p:sp>
        <p:nvSpPr>
          <p:cNvPr id="65" name="Shape 60"/>
          <p:cNvSpPr/>
          <p:nvPr/>
        </p:nvSpPr>
        <p:spPr>
          <a:xfrm>
            <a:off x="6748805" y="5879622"/>
            <a:ext cx="375133" cy="914"/>
          </a:xfrm>
          <a:prstGeom prst="line">
            <a:avLst/>
          </a:prstGeom>
          <a:noFill/>
          <a:ln w="44450">
            <a:solidFill>
              <a:srgbClr val="D9700F"/>
            </a:solidFill>
            <a:prstDash val="solid"/>
          </a:ln>
        </p:spPr>
      </p:sp>
      <p:sp>
        <p:nvSpPr>
          <p:cNvPr id="66" name="Shape 61"/>
          <p:cNvSpPr/>
          <p:nvPr/>
        </p:nvSpPr>
        <p:spPr>
          <a:xfrm>
            <a:off x="7123938" y="5879622"/>
            <a:ext cx="391805" cy="914"/>
          </a:xfrm>
          <a:prstGeom prst="line">
            <a:avLst/>
          </a:prstGeom>
          <a:noFill/>
          <a:ln w="44450">
            <a:solidFill>
              <a:srgbClr val="D9700F"/>
            </a:solidFill>
            <a:prstDash val="solid"/>
            <a:tailEnd type="triangle"/>
          </a:ln>
        </p:spPr>
      </p:sp>
      <p:sp>
        <p:nvSpPr>
          <p:cNvPr id="67" name="Shape 62"/>
          <p:cNvSpPr/>
          <p:nvPr/>
        </p:nvSpPr>
        <p:spPr>
          <a:xfrm>
            <a:off x="7290664" y="5746242"/>
            <a:ext cx="914" cy="266761"/>
          </a:xfrm>
          <a:prstGeom prst="line">
            <a:avLst/>
          </a:prstGeom>
          <a:noFill/>
          <a:ln w="12700">
            <a:solidFill>
              <a:srgbClr val="4A5A70"/>
            </a:solidFill>
            <a:prstDash val="dash"/>
          </a:ln>
        </p:spPr>
      </p:sp>
      <p:sp>
        <p:nvSpPr>
          <p:cNvPr id="68" name="Text 63"/>
          <p:cNvSpPr txBox="1"/>
          <p:nvPr/>
        </p:nvSpPr>
        <p:spPr>
          <a:xfrm>
            <a:off x="7778496" y="525627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Ze rijdt het station </a:t>
            </a:r>
            <a:r>
              <a:rPr lang="en-US" sz="1900" i="1" dirty="0">
                <a:solidFill>
                  <a:schemeClr val="accent5"/>
                </a:solidFill>
              </a:rPr>
              <a:t>…………</a:t>
            </a:r>
            <a:r>
              <a:rPr lang="en-US" sz="1900" i="1" dirty="0">
                <a:solidFill>
                  <a:schemeClr val="tx1"/>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bon petit mot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Regardez le pictogramme et complétez : </a:t>
            </a:r>
            <a:r>
              <a:rPr lang="en-US" sz="1700" i="1" dirty="0">
                <a:solidFill>
                  <a:schemeClr val="accent5"/>
                </a:solidFill>
              </a:rPr>
              <a:t>in · uit · op · af · over · door · om · voorbij</a:t>
            </a:r>
            <a:r>
              <a:rPr lang="en-US" sz="1700" i="1" dirty="0">
                <a:solidFill>
                  <a:schemeClr val="accent5"/>
                </a:solidFill>
              </a:rPr>
              <a:t>.</a:t>
            </a:r>
            <a:endParaRPr lang="en-US" sz="1700" dirty="0"/>
          </a:p>
        </p:txBody>
      </p:sp>
      <p:sp>
        <p:nvSpPr>
          <p:cNvPr id="9" name="Shape 5"/>
          <p:cNvSpPr/>
          <p:nvPr/>
        </p:nvSpPr>
        <p:spPr>
          <a:xfrm>
            <a:off x="548640" y="1987296"/>
            <a:ext cx="5408676" cy="979932"/>
          </a:xfrm>
          <a:prstGeom prst="roundRect">
            <a:avLst>
              <a:gd name="adj" fmla="val 7465"/>
            </a:avLst>
          </a:prstGeom>
          <a:solidFill>
            <a:schemeClr val="bg2"/>
          </a:solidFill>
          <a:ln w="9525">
            <a:solidFill>
              <a:srgbClr val="D5DCE6"/>
            </a:solidFill>
            <a:prstDash val="solid"/>
          </a:ln>
        </p:spPr>
      </p:sp>
      <p:sp>
        <p:nvSpPr>
          <p:cNvPr id="10" name="Text 6"/>
          <p:cNvSpPr txBox="1"/>
          <p:nvPr/>
        </p:nvSpPr>
        <p:spPr>
          <a:xfrm>
            <a:off x="658368"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1</a:t>
            </a:r>
            <a:endParaRPr lang="en-US" sz="1700" dirty="0"/>
          </a:p>
        </p:txBody>
      </p:sp>
      <p:sp>
        <p:nvSpPr>
          <p:cNvPr id="11" name="Shape 7"/>
          <p:cNvSpPr/>
          <p:nvPr/>
        </p:nvSpPr>
        <p:spPr>
          <a:xfrm>
            <a:off x="1005840" y="2042160"/>
            <a:ext cx="870204" cy="870204"/>
          </a:xfrm>
          <a:prstGeom prst="roundRect">
            <a:avLst>
              <a:gd name="adj" fmla="val 6305"/>
            </a:avLst>
          </a:prstGeom>
          <a:solidFill>
            <a:srgbClr val="FFFFFF"/>
          </a:solidFill>
          <a:ln w="9525">
            <a:solidFill>
              <a:srgbClr val="D5DCE6"/>
            </a:solidFill>
            <a:prstDash val="solid"/>
          </a:ln>
        </p:spPr>
      </p:sp>
      <p:sp>
        <p:nvSpPr>
          <p:cNvPr id="12" name="Shape 8"/>
          <p:cNvSpPr/>
          <p:nvPr/>
        </p:nvSpPr>
        <p:spPr>
          <a:xfrm>
            <a:off x="1107491" y="2685669"/>
            <a:ext cx="166726" cy="125044"/>
          </a:xfrm>
          <a:prstGeom prst="rect">
            <a:avLst/>
          </a:prstGeom>
          <a:solidFill>
            <a:srgbClr val="D5DCE6"/>
          </a:solidFill>
          <a:ln w="9525">
            <a:solidFill>
              <a:srgbClr val="4A5A70"/>
            </a:solidFill>
            <a:prstDash val="solid"/>
          </a:ln>
        </p:spPr>
      </p:sp>
      <p:sp>
        <p:nvSpPr>
          <p:cNvPr id="13" name="Shape 9"/>
          <p:cNvSpPr/>
          <p:nvPr/>
        </p:nvSpPr>
        <p:spPr>
          <a:xfrm>
            <a:off x="1274216" y="2560625"/>
            <a:ext cx="166726" cy="250088"/>
          </a:xfrm>
          <a:prstGeom prst="rect">
            <a:avLst/>
          </a:prstGeom>
          <a:solidFill>
            <a:srgbClr val="D5DCE6"/>
          </a:solidFill>
          <a:ln w="9525">
            <a:solidFill>
              <a:srgbClr val="4A5A70"/>
            </a:solidFill>
            <a:prstDash val="solid"/>
          </a:ln>
        </p:spPr>
      </p:sp>
      <p:sp>
        <p:nvSpPr>
          <p:cNvPr id="14" name="Shape 10"/>
          <p:cNvSpPr/>
          <p:nvPr/>
        </p:nvSpPr>
        <p:spPr>
          <a:xfrm>
            <a:off x="1440942" y="2435581"/>
            <a:ext cx="166726" cy="375133"/>
          </a:xfrm>
          <a:prstGeom prst="rect">
            <a:avLst/>
          </a:prstGeom>
          <a:solidFill>
            <a:srgbClr val="D5DCE6"/>
          </a:solidFill>
          <a:ln w="9525">
            <a:solidFill>
              <a:srgbClr val="4A5A70"/>
            </a:solidFill>
            <a:prstDash val="solid"/>
          </a:ln>
        </p:spPr>
      </p:sp>
      <p:sp>
        <p:nvSpPr>
          <p:cNvPr id="15" name="Shape 11"/>
          <p:cNvSpPr/>
          <p:nvPr/>
        </p:nvSpPr>
        <p:spPr>
          <a:xfrm>
            <a:off x="1607668" y="2310536"/>
            <a:ext cx="166726" cy="500177"/>
          </a:xfrm>
          <a:prstGeom prst="rect">
            <a:avLst/>
          </a:prstGeom>
          <a:solidFill>
            <a:srgbClr val="D5DCE6"/>
          </a:solidFill>
          <a:ln w="9525">
            <a:solidFill>
              <a:srgbClr val="4A5A70"/>
            </a:solidFill>
            <a:prstDash val="solid"/>
          </a:ln>
        </p:spPr>
      </p:sp>
      <p:sp>
        <p:nvSpPr>
          <p:cNvPr id="16" name="Shape 12"/>
          <p:cNvSpPr/>
          <p:nvPr/>
        </p:nvSpPr>
        <p:spPr>
          <a:xfrm flipV="1">
            <a:off x="1090818" y="2127138"/>
            <a:ext cx="666902" cy="450159"/>
          </a:xfrm>
          <a:prstGeom prst="line">
            <a:avLst/>
          </a:prstGeom>
          <a:noFill/>
          <a:ln w="44450">
            <a:solidFill>
              <a:srgbClr val="D9700F"/>
            </a:solidFill>
            <a:prstDash val="solid"/>
            <a:tailEnd type="triangle"/>
          </a:ln>
        </p:spPr>
      </p:sp>
      <p:sp>
        <p:nvSpPr>
          <p:cNvPr id="17" name="Text 13"/>
          <p:cNvSpPr txBox="1"/>
          <p:nvPr/>
        </p:nvSpPr>
        <p:spPr>
          <a:xfrm>
            <a:off x="2095500" y="198729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Karim loopt de trap </a:t>
            </a:r>
            <a:r>
              <a:rPr lang="en-US" sz="1900" b="1" i="1" dirty="0">
                <a:solidFill>
                  <a:schemeClr val="accent3"/>
                </a:solidFill>
              </a:rPr>
              <a:t>op</a:t>
            </a:r>
            <a:r>
              <a:rPr lang="en-US" sz="1900" i="1" dirty="0">
                <a:solidFill>
                  <a:schemeClr val="tx1"/>
                </a:solidFill>
              </a:rPr>
              <a:t>.</a:t>
            </a:r>
            <a:endParaRPr lang="en-US" sz="1900" dirty="0"/>
          </a:p>
        </p:txBody>
      </p:sp>
      <p:sp>
        <p:nvSpPr>
          <p:cNvPr id="18" name="Shape 14"/>
          <p:cNvSpPr/>
          <p:nvPr/>
        </p:nvSpPr>
        <p:spPr>
          <a:xfrm>
            <a:off x="548640" y="3076956"/>
            <a:ext cx="5408676" cy="979932"/>
          </a:xfrm>
          <a:prstGeom prst="roundRect">
            <a:avLst>
              <a:gd name="adj" fmla="val 7465"/>
            </a:avLst>
          </a:prstGeom>
          <a:solidFill>
            <a:schemeClr val="bg1"/>
          </a:solidFill>
          <a:ln w="9525">
            <a:solidFill>
              <a:srgbClr val="D5DCE6"/>
            </a:solidFill>
            <a:prstDash val="solid"/>
          </a:ln>
        </p:spPr>
      </p:sp>
      <p:sp>
        <p:nvSpPr>
          <p:cNvPr id="19" name="Text 15"/>
          <p:cNvSpPr txBox="1"/>
          <p:nvPr/>
        </p:nvSpPr>
        <p:spPr>
          <a:xfrm>
            <a:off x="658368"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2</a:t>
            </a:r>
            <a:endParaRPr lang="en-US" sz="1700" dirty="0"/>
          </a:p>
        </p:txBody>
      </p:sp>
      <p:sp>
        <p:nvSpPr>
          <p:cNvPr id="20" name="Shape 16"/>
          <p:cNvSpPr/>
          <p:nvPr/>
        </p:nvSpPr>
        <p:spPr>
          <a:xfrm>
            <a:off x="1005840" y="3131820"/>
            <a:ext cx="870204" cy="870204"/>
          </a:xfrm>
          <a:prstGeom prst="roundRect">
            <a:avLst>
              <a:gd name="adj" fmla="val 6305"/>
            </a:avLst>
          </a:prstGeom>
          <a:solidFill>
            <a:srgbClr val="FFFFFF"/>
          </a:solidFill>
          <a:ln w="9525">
            <a:solidFill>
              <a:srgbClr val="D5DCE6"/>
            </a:solidFill>
            <a:prstDash val="solid"/>
          </a:ln>
        </p:spPr>
      </p:sp>
      <p:sp>
        <p:nvSpPr>
          <p:cNvPr id="21" name="Shape 17"/>
          <p:cNvSpPr/>
          <p:nvPr/>
        </p:nvSpPr>
        <p:spPr>
          <a:xfrm>
            <a:off x="1399261" y="3316834"/>
            <a:ext cx="400141" cy="500177"/>
          </a:xfrm>
          <a:prstGeom prst="rect">
            <a:avLst/>
          </a:prstGeom>
          <a:solidFill>
            <a:srgbClr val="FFFFFF"/>
          </a:solidFill>
          <a:ln w="25400">
            <a:solidFill>
              <a:srgbClr val="17375E"/>
            </a:solidFill>
            <a:prstDash val="solid"/>
          </a:ln>
        </p:spPr>
      </p:sp>
      <p:sp>
        <p:nvSpPr>
          <p:cNvPr id="22" name="Shape 18"/>
          <p:cNvSpPr/>
          <p:nvPr/>
        </p:nvSpPr>
        <p:spPr>
          <a:xfrm>
            <a:off x="1362685" y="3481892"/>
            <a:ext cx="73152" cy="170060"/>
          </a:xfrm>
          <a:prstGeom prst="rect">
            <a:avLst/>
          </a:prstGeom>
          <a:solidFill>
            <a:srgbClr val="FFFFFF"/>
          </a:solidFill>
          <a:ln w="12700">
            <a:solidFill>
              <a:srgbClr val="FFFFFF">
                <a:alpha val="0"/>
              </a:srgbClr>
            </a:solidFill>
            <a:prstDash val="solid"/>
          </a:ln>
        </p:spPr>
      </p:sp>
      <p:sp>
        <p:nvSpPr>
          <p:cNvPr id="23" name="Shape 19"/>
          <p:cNvSpPr/>
          <p:nvPr/>
        </p:nvSpPr>
        <p:spPr>
          <a:xfrm flipH="1">
            <a:off x="1065809" y="3566922"/>
            <a:ext cx="558531" cy="914"/>
          </a:xfrm>
          <a:prstGeom prst="line">
            <a:avLst/>
          </a:prstGeom>
          <a:noFill/>
          <a:ln w="44450">
            <a:solidFill>
              <a:srgbClr val="D9700F"/>
            </a:solidFill>
            <a:prstDash val="solid"/>
            <a:tailEnd type="triangle"/>
          </a:ln>
        </p:spPr>
      </p:sp>
      <p:sp>
        <p:nvSpPr>
          <p:cNvPr id="24" name="Text 20"/>
          <p:cNvSpPr txBox="1"/>
          <p:nvPr/>
        </p:nvSpPr>
        <p:spPr>
          <a:xfrm>
            <a:off x="2095500" y="307695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Sofie loopt het kantoor </a:t>
            </a:r>
            <a:r>
              <a:rPr lang="en-US" sz="1900" b="1" i="1" dirty="0">
                <a:solidFill>
                  <a:schemeClr val="accent3"/>
                </a:solidFill>
              </a:rPr>
              <a:t>uit</a:t>
            </a:r>
            <a:r>
              <a:rPr lang="en-US" sz="1900" i="1" dirty="0">
                <a:solidFill>
                  <a:schemeClr val="tx1"/>
                </a:solidFill>
              </a:rPr>
              <a:t>.</a:t>
            </a:r>
            <a:endParaRPr lang="en-US" sz="1900" dirty="0"/>
          </a:p>
        </p:txBody>
      </p:sp>
      <p:sp>
        <p:nvSpPr>
          <p:cNvPr id="25" name="Shape 21"/>
          <p:cNvSpPr/>
          <p:nvPr/>
        </p:nvSpPr>
        <p:spPr>
          <a:xfrm>
            <a:off x="548640" y="4166616"/>
            <a:ext cx="5408676" cy="979932"/>
          </a:xfrm>
          <a:prstGeom prst="roundRect">
            <a:avLst>
              <a:gd name="adj" fmla="val 7465"/>
            </a:avLst>
          </a:prstGeom>
          <a:solidFill>
            <a:schemeClr val="bg2"/>
          </a:solidFill>
          <a:ln w="9525">
            <a:solidFill>
              <a:srgbClr val="D5DCE6"/>
            </a:solidFill>
            <a:prstDash val="solid"/>
          </a:ln>
        </p:spPr>
      </p:sp>
      <p:sp>
        <p:nvSpPr>
          <p:cNvPr id="26" name="Text 22"/>
          <p:cNvSpPr txBox="1"/>
          <p:nvPr/>
        </p:nvSpPr>
        <p:spPr>
          <a:xfrm>
            <a:off x="658368"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3</a:t>
            </a:r>
            <a:endParaRPr lang="en-US" sz="1700" dirty="0"/>
          </a:p>
        </p:txBody>
      </p:sp>
      <p:sp>
        <p:nvSpPr>
          <p:cNvPr id="27" name="Shape 23"/>
          <p:cNvSpPr/>
          <p:nvPr/>
        </p:nvSpPr>
        <p:spPr>
          <a:xfrm>
            <a:off x="1005840" y="4221480"/>
            <a:ext cx="870204" cy="870204"/>
          </a:xfrm>
          <a:prstGeom prst="roundRect">
            <a:avLst>
              <a:gd name="adj" fmla="val 6305"/>
            </a:avLst>
          </a:prstGeom>
          <a:solidFill>
            <a:srgbClr val="FFFFFF"/>
          </a:solidFill>
          <a:ln w="9525">
            <a:solidFill>
              <a:srgbClr val="D5DCE6"/>
            </a:solidFill>
            <a:prstDash val="solid"/>
          </a:ln>
        </p:spPr>
      </p:sp>
      <p:sp>
        <p:nvSpPr>
          <p:cNvPr id="28" name="Shape 24"/>
          <p:cNvSpPr/>
          <p:nvPr/>
        </p:nvSpPr>
        <p:spPr>
          <a:xfrm>
            <a:off x="1399261" y="4406494"/>
            <a:ext cx="400141" cy="500177"/>
          </a:xfrm>
          <a:prstGeom prst="rect">
            <a:avLst/>
          </a:prstGeom>
          <a:solidFill>
            <a:srgbClr val="FFFFFF"/>
          </a:solidFill>
          <a:ln w="25400">
            <a:solidFill>
              <a:srgbClr val="17375E"/>
            </a:solidFill>
            <a:prstDash val="solid"/>
          </a:ln>
        </p:spPr>
      </p:sp>
      <p:sp>
        <p:nvSpPr>
          <p:cNvPr id="29" name="Shape 25"/>
          <p:cNvSpPr/>
          <p:nvPr/>
        </p:nvSpPr>
        <p:spPr>
          <a:xfrm>
            <a:off x="1362685" y="4571552"/>
            <a:ext cx="73152" cy="170060"/>
          </a:xfrm>
          <a:prstGeom prst="rect">
            <a:avLst/>
          </a:prstGeom>
          <a:solidFill>
            <a:srgbClr val="FFFFFF"/>
          </a:solidFill>
          <a:ln w="12700">
            <a:solidFill>
              <a:srgbClr val="FFFFFF">
                <a:alpha val="0"/>
              </a:srgbClr>
            </a:solidFill>
            <a:prstDash val="solid"/>
          </a:ln>
        </p:spPr>
      </p:sp>
      <p:sp>
        <p:nvSpPr>
          <p:cNvPr id="30" name="Shape 26"/>
          <p:cNvSpPr/>
          <p:nvPr/>
        </p:nvSpPr>
        <p:spPr>
          <a:xfrm>
            <a:off x="1065809" y="4656582"/>
            <a:ext cx="558531" cy="914"/>
          </a:xfrm>
          <a:prstGeom prst="line">
            <a:avLst/>
          </a:prstGeom>
          <a:noFill/>
          <a:ln w="44450">
            <a:solidFill>
              <a:srgbClr val="D9700F"/>
            </a:solidFill>
            <a:prstDash val="solid"/>
            <a:tailEnd type="triangle"/>
          </a:ln>
        </p:spPr>
      </p:sp>
      <p:sp>
        <p:nvSpPr>
          <p:cNvPr id="31" name="Text 27"/>
          <p:cNvSpPr txBox="1"/>
          <p:nvPr/>
        </p:nvSpPr>
        <p:spPr>
          <a:xfrm>
            <a:off x="2095500" y="416661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De auto rijdt de garage </a:t>
            </a:r>
            <a:r>
              <a:rPr lang="en-US" sz="1900" b="1" i="1" dirty="0">
                <a:solidFill>
                  <a:schemeClr val="accent3"/>
                </a:solidFill>
              </a:rPr>
              <a:t>in</a:t>
            </a:r>
            <a:r>
              <a:rPr lang="en-US" sz="1900" i="1" dirty="0">
                <a:solidFill>
                  <a:schemeClr val="tx1"/>
                </a:solidFill>
              </a:rPr>
              <a:t>.</a:t>
            </a:r>
            <a:endParaRPr lang="en-US" sz="1900" dirty="0"/>
          </a:p>
        </p:txBody>
      </p:sp>
      <p:sp>
        <p:nvSpPr>
          <p:cNvPr id="32" name="Shape 28"/>
          <p:cNvSpPr/>
          <p:nvPr/>
        </p:nvSpPr>
        <p:spPr>
          <a:xfrm>
            <a:off x="548640" y="5256276"/>
            <a:ext cx="5408676" cy="979932"/>
          </a:xfrm>
          <a:prstGeom prst="roundRect">
            <a:avLst>
              <a:gd name="adj" fmla="val 7465"/>
            </a:avLst>
          </a:prstGeom>
          <a:solidFill>
            <a:schemeClr val="bg1"/>
          </a:solidFill>
          <a:ln w="9525">
            <a:solidFill>
              <a:srgbClr val="D5DCE6"/>
            </a:solidFill>
            <a:prstDash val="solid"/>
          </a:ln>
        </p:spPr>
      </p:sp>
      <p:sp>
        <p:nvSpPr>
          <p:cNvPr id="33" name="Text 29"/>
          <p:cNvSpPr txBox="1"/>
          <p:nvPr/>
        </p:nvSpPr>
        <p:spPr>
          <a:xfrm>
            <a:off x="658368"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4</a:t>
            </a:r>
            <a:endParaRPr lang="en-US" sz="1700" dirty="0"/>
          </a:p>
        </p:txBody>
      </p:sp>
      <p:sp>
        <p:nvSpPr>
          <p:cNvPr id="34" name="Shape 30"/>
          <p:cNvSpPr/>
          <p:nvPr/>
        </p:nvSpPr>
        <p:spPr>
          <a:xfrm>
            <a:off x="1005840" y="5311140"/>
            <a:ext cx="870204" cy="870204"/>
          </a:xfrm>
          <a:prstGeom prst="roundRect">
            <a:avLst>
              <a:gd name="adj" fmla="val 6305"/>
            </a:avLst>
          </a:prstGeom>
          <a:solidFill>
            <a:srgbClr val="FFFFFF"/>
          </a:solidFill>
          <a:ln w="9525">
            <a:solidFill>
              <a:srgbClr val="D5DCE6"/>
            </a:solidFill>
            <a:prstDash val="solid"/>
          </a:ln>
        </p:spPr>
      </p:sp>
      <p:sp>
        <p:nvSpPr>
          <p:cNvPr id="35" name="Shape 31"/>
          <p:cNvSpPr/>
          <p:nvPr/>
        </p:nvSpPr>
        <p:spPr>
          <a:xfrm>
            <a:off x="1107491" y="5579516"/>
            <a:ext cx="166726" cy="500177"/>
          </a:xfrm>
          <a:prstGeom prst="rect">
            <a:avLst/>
          </a:prstGeom>
          <a:solidFill>
            <a:srgbClr val="D5DCE6"/>
          </a:solidFill>
          <a:ln w="9525">
            <a:solidFill>
              <a:srgbClr val="4A5A70"/>
            </a:solidFill>
            <a:prstDash val="solid"/>
          </a:ln>
        </p:spPr>
      </p:sp>
      <p:sp>
        <p:nvSpPr>
          <p:cNvPr id="36" name="Shape 32"/>
          <p:cNvSpPr/>
          <p:nvPr/>
        </p:nvSpPr>
        <p:spPr>
          <a:xfrm>
            <a:off x="1274216" y="5704561"/>
            <a:ext cx="166726" cy="375133"/>
          </a:xfrm>
          <a:prstGeom prst="rect">
            <a:avLst/>
          </a:prstGeom>
          <a:solidFill>
            <a:srgbClr val="D5DCE6"/>
          </a:solidFill>
          <a:ln w="9525">
            <a:solidFill>
              <a:srgbClr val="4A5A70"/>
            </a:solidFill>
            <a:prstDash val="solid"/>
          </a:ln>
        </p:spPr>
      </p:sp>
      <p:sp>
        <p:nvSpPr>
          <p:cNvPr id="37" name="Shape 33"/>
          <p:cNvSpPr/>
          <p:nvPr/>
        </p:nvSpPr>
        <p:spPr>
          <a:xfrm>
            <a:off x="1440942" y="5829605"/>
            <a:ext cx="166726" cy="250088"/>
          </a:xfrm>
          <a:prstGeom prst="rect">
            <a:avLst/>
          </a:prstGeom>
          <a:solidFill>
            <a:srgbClr val="D5DCE6"/>
          </a:solidFill>
          <a:ln w="9525">
            <a:solidFill>
              <a:srgbClr val="4A5A70"/>
            </a:solidFill>
            <a:prstDash val="solid"/>
          </a:ln>
        </p:spPr>
      </p:sp>
      <p:sp>
        <p:nvSpPr>
          <p:cNvPr id="38" name="Shape 34"/>
          <p:cNvSpPr/>
          <p:nvPr/>
        </p:nvSpPr>
        <p:spPr>
          <a:xfrm>
            <a:off x="1607668" y="5954649"/>
            <a:ext cx="166726" cy="125044"/>
          </a:xfrm>
          <a:prstGeom prst="rect">
            <a:avLst/>
          </a:prstGeom>
          <a:solidFill>
            <a:srgbClr val="D5DCE6"/>
          </a:solidFill>
          <a:ln w="9525">
            <a:solidFill>
              <a:srgbClr val="4A5A70"/>
            </a:solidFill>
            <a:prstDash val="solid"/>
          </a:ln>
        </p:spPr>
      </p:sp>
      <p:sp>
        <p:nvSpPr>
          <p:cNvPr id="39" name="Shape 35"/>
          <p:cNvSpPr/>
          <p:nvPr/>
        </p:nvSpPr>
        <p:spPr>
          <a:xfrm>
            <a:off x="1124163" y="5396118"/>
            <a:ext cx="666902" cy="450159"/>
          </a:xfrm>
          <a:prstGeom prst="line">
            <a:avLst/>
          </a:prstGeom>
          <a:noFill/>
          <a:ln w="44450">
            <a:solidFill>
              <a:srgbClr val="D9700F"/>
            </a:solidFill>
            <a:prstDash val="solid"/>
            <a:tailEnd type="triangle"/>
          </a:ln>
        </p:spPr>
      </p:sp>
      <p:sp>
        <p:nvSpPr>
          <p:cNvPr id="40" name="Text 36"/>
          <p:cNvSpPr txBox="1"/>
          <p:nvPr/>
        </p:nvSpPr>
        <p:spPr>
          <a:xfrm>
            <a:off x="2095500" y="525627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We fietsen de berg </a:t>
            </a:r>
            <a:r>
              <a:rPr lang="en-US" sz="1900" b="1" i="1" dirty="0">
                <a:solidFill>
                  <a:schemeClr val="accent3"/>
                </a:solidFill>
              </a:rPr>
              <a:t>af</a:t>
            </a:r>
            <a:r>
              <a:rPr lang="en-US" sz="1900" i="1" dirty="0">
                <a:solidFill>
                  <a:schemeClr val="tx1"/>
                </a:solidFill>
              </a:rPr>
              <a:t>.</a:t>
            </a:r>
            <a:endParaRPr lang="en-US" sz="1900" dirty="0"/>
          </a:p>
        </p:txBody>
      </p:sp>
      <p:sp>
        <p:nvSpPr>
          <p:cNvPr id="41" name="Shape 37"/>
          <p:cNvSpPr/>
          <p:nvPr/>
        </p:nvSpPr>
        <p:spPr>
          <a:xfrm>
            <a:off x="6231636" y="1987296"/>
            <a:ext cx="5408676" cy="979932"/>
          </a:xfrm>
          <a:prstGeom prst="roundRect">
            <a:avLst>
              <a:gd name="adj" fmla="val 7465"/>
            </a:avLst>
          </a:prstGeom>
          <a:solidFill>
            <a:schemeClr val="bg2"/>
          </a:solidFill>
          <a:ln w="9525">
            <a:solidFill>
              <a:srgbClr val="D5DCE6"/>
            </a:solidFill>
            <a:prstDash val="solid"/>
          </a:ln>
        </p:spPr>
      </p:sp>
      <p:sp>
        <p:nvSpPr>
          <p:cNvPr id="42" name="Text 38"/>
          <p:cNvSpPr txBox="1"/>
          <p:nvPr/>
        </p:nvSpPr>
        <p:spPr>
          <a:xfrm>
            <a:off x="6341364" y="198729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5</a:t>
            </a:r>
            <a:endParaRPr lang="en-US" sz="1700" dirty="0"/>
          </a:p>
        </p:txBody>
      </p:sp>
      <p:sp>
        <p:nvSpPr>
          <p:cNvPr id="43" name="Shape 39"/>
          <p:cNvSpPr/>
          <p:nvPr/>
        </p:nvSpPr>
        <p:spPr>
          <a:xfrm>
            <a:off x="6688836" y="2042160"/>
            <a:ext cx="870204" cy="870204"/>
          </a:xfrm>
          <a:prstGeom prst="roundRect">
            <a:avLst>
              <a:gd name="adj" fmla="val 6305"/>
            </a:avLst>
          </a:prstGeom>
          <a:solidFill>
            <a:srgbClr val="FFFFFF"/>
          </a:solidFill>
          <a:ln w="9525">
            <a:solidFill>
              <a:srgbClr val="D5DCE6"/>
            </a:solidFill>
            <a:prstDash val="solid"/>
          </a:ln>
        </p:spPr>
      </p:sp>
      <p:sp>
        <p:nvSpPr>
          <p:cNvPr id="44" name="Shape 40"/>
          <p:cNvSpPr/>
          <p:nvPr/>
        </p:nvSpPr>
        <p:spPr>
          <a:xfrm>
            <a:off x="6748805" y="2268855"/>
            <a:ext cx="750265" cy="416814"/>
          </a:xfrm>
          <a:prstGeom prst="rect">
            <a:avLst/>
          </a:prstGeom>
          <a:solidFill>
            <a:srgbClr val="DCEFD9"/>
          </a:solidFill>
          <a:ln w="12700">
            <a:solidFill>
              <a:srgbClr val="FFFFFF">
                <a:alpha val="0"/>
              </a:srgbClr>
            </a:solidFill>
            <a:prstDash val="solid"/>
          </a:ln>
        </p:spPr>
      </p:sp>
      <p:sp>
        <p:nvSpPr>
          <p:cNvPr id="45" name="Shape 41"/>
          <p:cNvSpPr/>
          <p:nvPr/>
        </p:nvSpPr>
        <p:spPr>
          <a:xfrm>
            <a:off x="7023903" y="2268855"/>
            <a:ext cx="200071" cy="416814"/>
          </a:xfrm>
          <a:prstGeom prst="rect">
            <a:avLst/>
          </a:prstGeom>
          <a:solidFill>
            <a:srgbClr val="7FB8E6"/>
          </a:solidFill>
          <a:ln w="12700">
            <a:solidFill>
              <a:srgbClr val="FFFFFF">
                <a:alpha val="0"/>
              </a:srgbClr>
            </a:solidFill>
            <a:prstDash val="solid"/>
          </a:ln>
        </p:spPr>
      </p:sp>
      <p:sp>
        <p:nvSpPr>
          <p:cNvPr id="46" name="Shape 42"/>
          <p:cNvSpPr/>
          <p:nvPr/>
        </p:nvSpPr>
        <p:spPr>
          <a:xfrm>
            <a:off x="6807159" y="2477262"/>
            <a:ext cx="633557" cy="914"/>
          </a:xfrm>
          <a:prstGeom prst="line">
            <a:avLst/>
          </a:prstGeom>
          <a:noFill/>
          <a:ln w="44450">
            <a:solidFill>
              <a:srgbClr val="D9700F"/>
            </a:solidFill>
            <a:prstDash val="solid"/>
            <a:tailEnd type="triangle"/>
          </a:ln>
        </p:spPr>
      </p:sp>
      <p:sp>
        <p:nvSpPr>
          <p:cNvPr id="47" name="Text 43"/>
          <p:cNvSpPr txBox="1"/>
          <p:nvPr/>
        </p:nvSpPr>
        <p:spPr>
          <a:xfrm>
            <a:off x="7778496" y="198729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Ik steek de straat </a:t>
            </a:r>
            <a:r>
              <a:rPr lang="en-US" sz="1900" b="1" i="1" dirty="0">
                <a:solidFill>
                  <a:schemeClr val="accent3"/>
                </a:solidFill>
              </a:rPr>
              <a:t>over</a:t>
            </a:r>
            <a:r>
              <a:rPr lang="en-US" sz="1900" i="1" dirty="0">
                <a:solidFill>
                  <a:schemeClr val="tx1"/>
                </a:solidFill>
              </a:rPr>
              <a:t>.</a:t>
            </a:r>
            <a:endParaRPr lang="en-US" sz="1900" dirty="0"/>
          </a:p>
        </p:txBody>
      </p:sp>
      <p:sp>
        <p:nvSpPr>
          <p:cNvPr id="48" name="Shape 44"/>
          <p:cNvSpPr/>
          <p:nvPr/>
        </p:nvSpPr>
        <p:spPr>
          <a:xfrm>
            <a:off x="6231636" y="3076956"/>
            <a:ext cx="5408676" cy="979932"/>
          </a:xfrm>
          <a:prstGeom prst="roundRect">
            <a:avLst>
              <a:gd name="adj" fmla="val 7465"/>
            </a:avLst>
          </a:prstGeom>
          <a:solidFill>
            <a:schemeClr val="bg1"/>
          </a:solidFill>
          <a:ln w="9525">
            <a:solidFill>
              <a:srgbClr val="D5DCE6"/>
            </a:solidFill>
            <a:prstDash val="solid"/>
          </a:ln>
        </p:spPr>
      </p:sp>
      <p:sp>
        <p:nvSpPr>
          <p:cNvPr id="49" name="Text 45"/>
          <p:cNvSpPr txBox="1"/>
          <p:nvPr/>
        </p:nvSpPr>
        <p:spPr>
          <a:xfrm>
            <a:off x="6341364" y="307695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6</a:t>
            </a:r>
            <a:endParaRPr lang="en-US" sz="1700" dirty="0"/>
          </a:p>
        </p:txBody>
      </p:sp>
      <p:sp>
        <p:nvSpPr>
          <p:cNvPr id="50" name="Shape 46"/>
          <p:cNvSpPr/>
          <p:nvPr/>
        </p:nvSpPr>
        <p:spPr>
          <a:xfrm>
            <a:off x="6688836" y="3131820"/>
            <a:ext cx="870204" cy="870204"/>
          </a:xfrm>
          <a:prstGeom prst="roundRect">
            <a:avLst>
              <a:gd name="adj" fmla="val 6305"/>
            </a:avLst>
          </a:prstGeom>
          <a:solidFill>
            <a:srgbClr val="FFFFFF"/>
          </a:solidFill>
          <a:ln w="9525">
            <a:solidFill>
              <a:srgbClr val="D5DCE6"/>
            </a:solidFill>
            <a:prstDash val="solid"/>
          </a:ln>
        </p:spPr>
      </p:sp>
      <p:sp>
        <p:nvSpPr>
          <p:cNvPr id="51" name="Shape 47"/>
          <p:cNvSpPr/>
          <p:nvPr/>
        </p:nvSpPr>
        <p:spPr>
          <a:xfrm>
            <a:off x="6957212" y="3400196"/>
            <a:ext cx="333451" cy="333451"/>
          </a:xfrm>
          <a:prstGeom prst="roundRect">
            <a:avLst>
              <a:gd name="adj" fmla="val 32907"/>
            </a:avLst>
          </a:prstGeom>
          <a:solidFill>
            <a:srgbClr val="4A5A70"/>
          </a:solidFill>
          <a:ln w="12700">
            <a:solidFill>
              <a:srgbClr val="FFFFFF">
                <a:alpha val="0"/>
              </a:srgbClr>
            </a:solidFill>
            <a:prstDash val="solid"/>
          </a:ln>
        </p:spPr>
      </p:sp>
      <p:sp>
        <p:nvSpPr>
          <p:cNvPr id="52" name="Shape 48"/>
          <p:cNvSpPr/>
          <p:nvPr/>
        </p:nvSpPr>
        <p:spPr>
          <a:xfrm>
            <a:off x="7007230" y="3466887"/>
            <a:ext cx="233416" cy="200071"/>
          </a:xfrm>
          <a:prstGeom prst="roundRect">
            <a:avLst>
              <a:gd name="adj" fmla="val 36563"/>
            </a:avLst>
          </a:prstGeom>
          <a:solidFill>
            <a:srgbClr val="1B2333"/>
          </a:solidFill>
          <a:ln w="12700">
            <a:solidFill>
              <a:srgbClr val="FFFFFF">
                <a:alpha val="0"/>
              </a:srgbClr>
            </a:solidFill>
            <a:prstDash val="solid"/>
          </a:ln>
        </p:spPr>
      </p:sp>
      <p:sp>
        <p:nvSpPr>
          <p:cNvPr id="53" name="Shape 49"/>
          <p:cNvSpPr/>
          <p:nvPr/>
        </p:nvSpPr>
        <p:spPr>
          <a:xfrm>
            <a:off x="6740469" y="3566922"/>
            <a:ext cx="766938" cy="914"/>
          </a:xfrm>
          <a:prstGeom prst="line">
            <a:avLst/>
          </a:prstGeom>
          <a:noFill/>
          <a:ln w="44450">
            <a:solidFill>
              <a:srgbClr val="D9700F"/>
            </a:solidFill>
            <a:prstDash val="solid"/>
            <a:tailEnd type="triangle"/>
          </a:ln>
        </p:spPr>
      </p:sp>
      <p:sp>
        <p:nvSpPr>
          <p:cNvPr id="54" name="Text 50"/>
          <p:cNvSpPr txBox="1"/>
          <p:nvPr/>
        </p:nvSpPr>
        <p:spPr>
          <a:xfrm>
            <a:off x="7778496" y="307695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De trein rijdt de tunnel </a:t>
            </a:r>
            <a:r>
              <a:rPr lang="en-US" sz="1900" b="1" i="1" dirty="0">
                <a:solidFill>
                  <a:schemeClr val="accent3"/>
                </a:solidFill>
              </a:rPr>
              <a:t>door</a:t>
            </a:r>
            <a:r>
              <a:rPr lang="en-US" sz="1900" i="1" dirty="0">
                <a:solidFill>
                  <a:schemeClr val="tx1"/>
                </a:solidFill>
              </a:rPr>
              <a:t>.</a:t>
            </a:r>
            <a:endParaRPr lang="en-US" sz="1900" dirty="0"/>
          </a:p>
        </p:txBody>
      </p:sp>
      <p:sp>
        <p:nvSpPr>
          <p:cNvPr id="55" name="Shape 51"/>
          <p:cNvSpPr/>
          <p:nvPr/>
        </p:nvSpPr>
        <p:spPr>
          <a:xfrm>
            <a:off x="6231636" y="4166616"/>
            <a:ext cx="5408676" cy="979932"/>
          </a:xfrm>
          <a:prstGeom prst="roundRect">
            <a:avLst>
              <a:gd name="adj" fmla="val 7465"/>
            </a:avLst>
          </a:prstGeom>
          <a:solidFill>
            <a:schemeClr val="bg2"/>
          </a:solidFill>
          <a:ln w="9525">
            <a:solidFill>
              <a:srgbClr val="D5DCE6"/>
            </a:solidFill>
            <a:prstDash val="solid"/>
          </a:ln>
        </p:spPr>
      </p:sp>
      <p:sp>
        <p:nvSpPr>
          <p:cNvPr id="56" name="Text 52"/>
          <p:cNvSpPr txBox="1"/>
          <p:nvPr/>
        </p:nvSpPr>
        <p:spPr>
          <a:xfrm>
            <a:off x="6341364" y="416661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7</a:t>
            </a:r>
            <a:endParaRPr lang="en-US" sz="1700" dirty="0"/>
          </a:p>
        </p:txBody>
      </p:sp>
      <p:sp>
        <p:nvSpPr>
          <p:cNvPr id="57" name="Shape 53"/>
          <p:cNvSpPr/>
          <p:nvPr/>
        </p:nvSpPr>
        <p:spPr>
          <a:xfrm>
            <a:off x="6688836" y="4221480"/>
            <a:ext cx="870204" cy="870204"/>
          </a:xfrm>
          <a:prstGeom prst="roundRect">
            <a:avLst>
              <a:gd name="adj" fmla="val 6305"/>
            </a:avLst>
          </a:prstGeom>
          <a:solidFill>
            <a:srgbClr val="FFFFFF"/>
          </a:solidFill>
          <a:ln w="9525">
            <a:solidFill>
              <a:srgbClr val="D5DCE6"/>
            </a:solidFill>
            <a:prstDash val="solid"/>
          </a:ln>
        </p:spPr>
      </p:sp>
      <p:sp>
        <p:nvSpPr>
          <p:cNvPr id="58" name="Shape 54"/>
          <p:cNvSpPr/>
          <p:nvPr/>
        </p:nvSpPr>
        <p:spPr>
          <a:xfrm>
            <a:off x="6773814" y="4614901"/>
            <a:ext cx="375133" cy="391805"/>
          </a:xfrm>
          <a:prstGeom prst="rect">
            <a:avLst/>
          </a:prstGeom>
          <a:solidFill>
            <a:srgbClr val="D5DCE6"/>
          </a:solidFill>
          <a:ln w="12700">
            <a:solidFill>
              <a:srgbClr val="4A5A70"/>
            </a:solidFill>
            <a:prstDash val="solid"/>
          </a:ln>
        </p:spPr>
      </p:sp>
      <p:sp>
        <p:nvSpPr>
          <p:cNvPr id="59" name="Shape 55"/>
          <p:cNvSpPr/>
          <p:nvPr/>
        </p:nvSpPr>
        <p:spPr>
          <a:xfrm>
            <a:off x="6757142" y="4489856"/>
            <a:ext cx="550194" cy="914"/>
          </a:xfrm>
          <a:prstGeom prst="line">
            <a:avLst/>
          </a:prstGeom>
          <a:noFill/>
          <a:ln w="44450">
            <a:solidFill>
              <a:srgbClr val="D9700F"/>
            </a:solidFill>
            <a:prstDash val="solid"/>
          </a:ln>
        </p:spPr>
      </p:sp>
      <p:sp>
        <p:nvSpPr>
          <p:cNvPr id="60" name="Shape 56"/>
          <p:cNvSpPr/>
          <p:nvPr/>
        </p:nvSpPr>
        <p:spPr>
          <a:xfrm>
            <a:off x="7307336" y="4481520"/>
            <a:ext cx="914" cy="541858"/>
          </a:xfrm>
          <a:prstGeom prst="line">
            <a:avLst/>
          </a:prstGeom>
          <a:noFill/>
          <a:ln w="44450">
            <a:solidFill>
              <a:srgbClr val="D9700F"/>
            </a:solidFill>
            <a:prstDash val="solid"/>
            <a:tailEnd type="triangle"/>
          </a:ln>
        </p:spPr>
      </p:sp>
      <p:sp>
        <p:nvSpPr>
          <p:cNvPr id="61" name="Text 57"/>
          <p:cNvSpPr txBox="1"/>
          <p:nvPr/>
        </p:nvSpPr>
        <p:spPr>
          <a:xfrm>
            <a:off x="7778496" y="416661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Hij loopt de hoek </a:t>
            </a:r>
            <a:r>
              <a:rPr lang="en-US" sz="1900" b="1" i="1" dirty="0">
                <a:solidFill>
                  <a:schemeClr val="accent3"/>
                </a:solidFill>
              </a:rPr>
              <a:t>om</a:t>
            </a:r>
            <a:r>
              <a:rPr lang="en-US" sz="1900" i="1" dirty="0">
                <a:solidFill>
                  <a:schemeClr val="tx1"/>
                </a:solidFill>
              </a:rPr>
              <a:t>.</a:t>
            </a:r>
            <a:endParaRPr lang="en-US" sz="1900" dirty="0"/>
          </a:p>
        </p:txBody>
      </p:sp>
      <p:sp>
        <p:nvSpPr>
          <p:cNvPr id="62" name="Shape 58"/>
          <p:cNvSpPr/>
          <p:nvPr/>
        </p:nvSpPr>
        <p:spPr>
          <a:xfrm>
            <a:off x="6231636" y="5256276"/>
            <a:ext cx="5408676" cy="979932"/>
          </a:xfrm>
          <a:prstGeom prst="roundRect">
            <a:avLst>
              <a:gd name="adj" fmla="val 7465"/>
            </a:avLst>
          </a:prstGeom>
          <a:solidFill>
            <a:schemeClr val="bg1"/>
          </a:solidFill>
          <a:ln w="9525">
            <a:solidFill>
              <a:srgbClr val="D5DCE6"/>
            </a:solidFill>
            <a:prstDash val="solid"/>
          </a:ln>
        </p:spPr>
      </p:sp>
      <p:sp>
        <p:nvSpPr>
          <p:cNvPr id="63" name="Text 59"/>
          <p:cNvSpPr txBox="1"/>
          <p:nvPr/>
        </p:nvSpPr>
        <p:spPr>
          <a:xfrm>
            <a:off x="6341364" y="5256276"/>
            <a:ext cx="365760" cy="979932"/>
          </a:xfrm>
          <a:prstGeom prst="rect">
            <a:avLst/>
          </a:prstGeom>
          <a:noFill/>
          <a:ln/>
        </p:spPr>
        <p:txBody>
          <a:bodyPr wrap="square" lIns="0" tIns="0" rIns="0" bIns="0" rtlCol="0" anchor="ctr"/>
          <a:lstStyle/>
          <a:p>
            <a:pPr algn="l" indent="0" marL="0">
              <a:buNone/>
            </a:pPr>
            <a:r>
              <a:rPr lang="en-US" sz="1700" b="1" dirty="0">
                <a:solidFill>
                  <a:schemeClr val="accent5"/>
                </a:solidFill>
              </a:rPr>
              <a:t>8</a:t>
            </a:r>
            <a:endParaRPr lang="en-US" sz="1700" dirty="0"/>
          </a:p>
        </p:txBody>
      </p:sp>
      <p:sp>
        <p:nvSpPr>
          <p:cNvPr id="64" name="Shape 60"/>
          <p:cNvSpPr/>
          <p:nvPr/>
        </p:nvSpPr>
        <p:spPr>
          <a:xfrm>
            <a:off x="6688836" y="5311140"/>
            <a:ext cx="870204" cy="870204"/>
          </a:xfrm>
          <a:prstGeom prst="roundRect">
            <a:avLst>
              <a:gd name="adj" fmla="val 6305"/>
            </a:avLst>
          </a:prstGeom>
          <a:solidFill>
            <a:srgbClr val="FFFFFF"/>
          </a:solidFill>
          <a:ln w="9525">
            <a:solidFill>
              <a:srgbClr val="D5DCE6"/>
            </a:solidFill>
            <a:prstDash val="solid"/>
          </a:ln>
        </p:spPr>
      </p:sp>
      <p:pic>
        <p:nvPicPr>
          <p:cNvPr id="65" name="Image 1" descr="station">    </p:cNvPr>
          <p:cNvPicPr>
            <a:picLocks noChangeAspect="1"/>
          </p:cNvPicPr>
          <p:nvPr/>
        </p:nvPicPr>
        <p:blipFill>
          <a:blip r:embed="rId2"/>
          <a:stretch>
            <a:fillRect/>
          </a:stretch>
        </p:blipFill>
        <p:spPr>
          <a:xfrm>
            <a:off x="6957212" y="5371109"/>
            <a:ext cx="333451" cy="333451"/>
          </a:xfrm>
          <a:prstGeom prst="rect">
            <a:avLst/>
          </a:prstGeom>
        </p:spPr>
      </p:pic>
      <p:sp>
        <p:nvSpPr>
          <p:cNvPr id="66" name="Shape 61"/>
          <p:cNvSpPr/>
          <p:nvPr/>
        </p:nvSpPr>
        <p:spPr>
          <a:xfrm>
            <a:off x="6748805" y="5879622"/>
            <a:ext cx="375133" cy="914"/>
          </a:xfrm>
          <a:prstGeom prst="line">
            <a:avLst/>
          </a:prstGeom>
          <a:noFill/>
          <a:ln w="44450">
            <a:solidFill>
              <a:srgbClr val="D9700F"/>
            </a:solidFill>
            <a:prstDash val="solid"/>
          </a:ln>
        </p:spPr>
      </p:sp>
      <p:sp>
        <p:nvSpPr>
          <p:cNvPr id="67" name="Shape 62"/>
          <p:cNvSpPr/>
          <p:nvPr/>
        </p:nvSpPr>
        <p:spPr>
          <a:xfrm>
            <a:off x="7123938" y="5879622"/>
            <a:ext cx="391805" cy="914"/>
          </a:xfrm>
          <a:prstGeom prst="line">
            <a:avLst/>
          </a:prstGeom>
          <a:noFill/>
          <a:ln w="44450">
            <a:solidFill>
              <a:srgbClr val="D9700F"/>
            </a:solidFill>
            <a:prstDash val="solid"/>
            <a:tailEnd type="triangle"/>
          </a:ln>
        </p:spPr>
      </p:sp>
      <p:sp>
        <p:nvSpPr>
          <p:cNvPr id="68" name="Shape 63"/>
          <p:cNvSpPr/>
          <p:nvPr/>
        </p:nvSpPr>
        <p:spPr>
          <a:xfrm>
            <a:off x="7290664" y="5746242"/>
            <a:ext cx="914" cy="266761"/>
          </a:xfrm>
          <a:prstGeom prst="line">
            <a:avLst/>
          </a:prstGeom>
          <a:noFill/>
          <a:ln w="12700">
            <a:solidFill>
              <a:srgbClr val="4A5A70"/>
            </a:solidFill>
            <a:prstDash val="dash"/>
          </a:ln>
        </p:spPr>
      </p:sp>
      <p:sp>
        <p:nvSpPr>
          <p:cNvPr id="69" name="Text 64"/>
          <p:cNvSpPr txBox="1"/>
          <p:nvPr/>
        </p:nvSpPr>
        <p:spPr>
          <a:xfrm>
            <a:off x="7778496" y="5256276"/>
            <a:ext cx="3770376" cy="979932"/>
          </a:xfrm>
          <a:prstGeom prst="rect">
            <a:avLst/>
          </a:prstGeom>
          <a:noFill/>
          <a:ln/>
        </p:spPr>
        <p:txBody>
          <a:bodyPr wrap="square" lIns="0" tIns="0" rIns="0" bIns="0" rtlCol="0" anchor="ctr"/>
          <a:lstStyle/>
          <a:p>
            <a:pPr algn="l" indent="0" marL="0">
              <a:buNone/>
            </a:pPr>
            <a:r>
              <a:rPr lang="en-US" sz="1900" i="1" dirty="0">
                <a:solidFill>
                  <a:schemeClr val="tx1"/>
                </a:solidFill>
              </a:rPr>
              <a:t>Ze rijdt het station </a:t>
            </a:r>
            <a:r>
              <a:rPr lang="en-US" sz="1900" b="1" i="1" dirty="0">
                <a:solidFill>
                  <a:schemeClr val="accent3"/>
                </a:solidFill>
              </a:rPr>
              <a:t>voorbij</a:t>
            </a:r>
            <a:r>
              <a:rPr lang="en-US" sz="1900" i="1" dirty="0">
                <a:solidFill>
                  <a:schemeClr val="tx1"/>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Traduisez</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Verbe de direction en français → verbe de manière + </a:t>
            </a:r>
            <a:r>
              <a:rPr lang="en-US" sz="1700" i="1" dirty="0">
                <a:solidFill>
                  <a:schemeClr val="accent5"/>
                </a:solidFill>
              </a:rPr>
              <a:t>achterzetsel</a:t>
            </a:r>
            <a:r>
              <a:rPr lang="en-US" sz="1700" i="1" dirty="0">
                <a:solidFill>
                  <a:schemeClr val="accent5"/>
                </a:solidFill>
              </a:rPr>
              <a:t>.</a:t>
            </a:r>
            <a:endParaRPr lang="en-US" sz="1700" dirty="0"/>
          </a:p>
        </p:txBody>
      </p:sp>
      <p:sp>
        <p:nvSpPr>
          <p:cNvPr id="8" name="Shape 4"/>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005840" y="1978152"/>
            <a:ext cx="4937760" cy="616712"/>
          </a:xfrm>
          <a:prstGeom prst="roundRect">
            <a:avLst>
              <a:gd name="adj" fmla="val 11862"/>
            </a:avLst>
          </a:prstGeom>
          <a:solidFill>
            <a:schemeClr val="bg2"/>
          </a:solidFill>
          <a:ln w="12700">
            <a:solidFill>
              <a:srgbClr val="D5DCE6"/>
            </a:solidFill>
            <a:prstDash val="solid"/>
          </a:ln>
        </p:spPr>
      </p:sp>
      <p:sp>
        <p:nvSpPr>
          <p:cNvPr id="11" name="Text 7"/>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Il entre dans la cuisine.</a:t>
            </a:r>
            <a:endParaRPr lang="en-US" sz="1700" dirty="0"/>
          </a:p>
        </p:txBody>
      </p:sp>
      <p:sp>
        <p:nvSpPr>
          <p:cNvPr id="12" name="Shape 8"/>
          <p:cNvSpPr/>
          <p:nvPr/>
        </p:nvSpPr>
        <p:spPr>
          <a:xfrm>
            <a:off x="6035040" y="2295652"/>
            <a:ext cx="457200" cy="914"/>
          </a:xfrm>
          <a:prstGeom prst="line">
            <a:avLst/>
          </a:prstGeom>
          <a:noFill/>
          <a:ln w="31750">
            <a:solidFill>
              <a:srgbClr val="D9700F"/>
            </a:solidFill>
            <a:prstDash val="solid"/>
            <a:tailEnd type="triangle"/>
          </a:ln>
        </p:spPr>
      </p:sp>
      <p:sp>
        <p:nvSpPr>
          <p:cNvPr id="13" name="Shape 9"/>
          <p:cNvSpPr/>
          <p:nvPr/>
        </p:nvSpPr>
        <p:spPr>
          <a:xfrm>
            <a:off x="6537960" y="1978152"/>
            <a:ext cx="5102352" cy="616712"/>
          </a:xfrm>
          <a:prstGeom prst="roundRect">
            <a:avLst>
              <a:gd name="adj" fmla="val 11862"/>
            </a:avLst>
          </a:prstGeom>
          <a:solidFill>
            <a:schemeClr val="bg1"/>
          </a:solidFill>
          <a:ln w="15875">
            <a:solidFill>
              <a:srgbClr val="D5DCE6"/>
            </a:solidFill>
            <a:prstDash val="solid"/>
          </a:ln>
        </p:spPr>
      </p:sp>
      <p:sp>
        <p:nvSpPr>
          <p:cNvPr id="14" name="Shape 10"/>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15" name="Text 11"/>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hape 12"/>
          <p:cNvSpPr/>
          <p:nvPr/>
        </p:nvSpPr>
        <p:spPr>
          <a:xfrm>
            <a:off x="1005840" y="2704592"/>
            <a:ext cx="4937760" cy="616712"/>
          </a:xfrm>
          <a:prstGeom prst="roundRect">
            <a:avLst>
              <a:gd name="adj" fmla="val 11862"/>
            </a:avLst>
          </a:prstGeom>
          <a:solidFill>
            <a:schemeClr val="bg2"/>
          </a:solidFill>
          <a:ln w="12700">
            <a:solidFill>
              <a:srgbClr val="D5DCE6"/>
            </a:solidFill>
            <a:prstDash val="solid"/>
          </a:ln>
        </p:spPr>
      </p:sp>
      <p:sp>
        <p:nvSpPr>
          <p:cNvPr id="17" name="Text 13"/>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Je monte l’escalier en courant.</a:t>
            </a:r>
            <a:endParaRPr lang="en-US" sz="1700" dirty="0"/>
          </a:p>
        </p:txBody>
      </p:sp>
      <p:sp>
        <p:nvSpPr>
          <p:cNvPr id="18" name="Shape 14"/>
          <p:cNvSpPr/>
          <p:nvPr/>
        </p:nvSpPr>
        <p:spPr>
          <a:xfrm>
            <a:off x="6035040" y="3022092"/>
            <a:ext cx="457200" cy="914"/>
          </a:xfrm>
          <a:prstGeom prst="line">
            <a:avLst/>
          </a:prstGeom>
          <a:noFill/>
          <a:ln w="31750">
            <a:solidFill>
              <a:srgbClr val="D9700F"/>
            </a:solidFill>
            <a:prstDash val="solid"/>
            <a:tailEnd type="triangle"/>
          </a:ln>
        </p:spPr>
      </p:sp>
      <p:sp>
        <p:nvSpPr>
          <p:cNvPr id="19" name="Shape 15"/>
          <p:cNvSpPr/>
          <p:nvPr/>
        </p:nvSpPr>
        <p:spPr>
          <a:xfrm>
            <a:off x="6537960" y="2704592"/>
            <a:ext cx="5102352" cy="616712"/>
          </a:xfrm>
          <a:prstGeom prst="roundRect">
            <a:avLst>
              <a:gd name="adj" fmla="val 11862"/>
            </a:avLst>
          </a:prstGeom>
          <a:solidFill>
            <a:schemeClr val="bg1"/>
          </a:solidFill>
          <a:ln w="15875">
            <a:solidFill>
              <a:srgbClr val="D5DCE6"/>
            </a:solidFill>
            <a:prstDash val="solid"/>
          </a:ln>
        </p:spPr>
      </p:sp>
      <p:sp>
        <p:nvSpPr>
          <p:cNvPr id="20" name="Shape 16"/>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21" name="Text 17"/>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Shape 18"/>
          <p:cNvSpPr/>
          <p:nvPr/>
        </p:nvSpPr>
        <p:spPr>
          <a:xfrm>
            <a:off x="1005840" y="3431032"/>
            <a:ext cx="4937760" cy="616712"/>
          </a:xfrm>
          <a:prstGeom prst="roundRect">
            <a:avLst>
              <a:gd name="adj" fmla="val 11862"/>
            </a:avLst>
          </a:prstGeom>
          <a:solidFill>
            <a:schemeClr val="bg2"/>
          </a:solidFill>
          <a:ln w="12700">
            <a:solidFill>
              <a:srgbClr val="D5DCE6"/>
            </a:solidFill>
            <a:prstDash val="solid"/>
          </a:ln>
        </p:spPr>
      </p:sp>
      <p:sp>
        <p:nvSpPr>
          <p:cNvPr id="23" name="Text 19"/>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Elle traverse le parc à vélo.</a:t>
            </a:r>
            <a:endParaRPr lang="en-US" sz="1700" dirty="0"/>
          </a:p>
        </p:txBody>
      </p:sp>
      <p:sp>
        <p:nvSpPr>
          <p:cNvPr id="24" name="Shape 20"/>
          <p:cNvSpPr/>
          <p:nvPr/>
        </p:nvSpPr>
        <p:spPr>
          <a:xfrm>
            <a:off x="6035040" y="3748532"/>
            <a:ext cx="457200" cy="914"/>
          </a:xfrm>
          <a:prstGeom prst="line">
            <a:avLst/>
          </a:prstGeom>
          <a:noFill/>
          <a:ln w="31750">
            <a:solidFill>
              <a:srgbClr val="D9700F"/>
            </a:solidFill>
            <a:prstDash val="solid"/>
            <a:tailEnd type="triangle"/>
          </a:ln>
        </p:spPr>
      </p:sp>
      <p:sp>
        <p:nvSpPr>
          <p:cNvPr id="25" name="Shape 21"/>
          <p:cNvSpPr/>
          <p:nvPr/>
        </p:nvSpPr>
        <p:spPr>
          <a:xfrm>
            <a:off x="6537960" y="3431032"/>
            <a:ext cx="5102352" cy="616712"/>
          </a:xfrm>
          <a:prstGeom prst="roundRect">
            <a:avLst>
              <a:gd name="adj" fmla="val 11862"/>
            </a:avLst>
          </a:prstGeom>
          <a:solidFill>
            <a:schemeClr val="bg1"/>
          </a:solidFill>
          <a:ln w="15875">
            <a:solidFill>
              <a:srgbClr val="D5DCE6"/>
            </a:solidFill>
            <a:prstDash val="solid"/>
          </a:ln>
        </p:spPr>
      </p:sp>
      <p:sp>
        <p:nvSpPr>
          <p:cNvPr id="26" name="Shape 22"/>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27" name="Text 23"/>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Shape 24"/>
          <p:cNvSpPr/>
          <p:nvPr/>
        </p:nvSpPr>
        <p:spPr>
          <a:xfrm>
            <a:off x="1005840" y="4157472"/>
            <a:ext cx="4937760" cy="616712"/>
          </a:xfrm>
          <a:prstGeom prst="roundRect">
            <a:avLst>
              <a:gd name="adj" fmla="val 11862"/>
            </a:avLst>
          </a:prstGeom>
          <a:solidFill>
            <a:schemeClr val="bg2"/>
          </a:solidFill>
          <a:ln w="12700">
            <a:solidFill>
              <a:srgbClr val="D5DCE6"/>
            </a:solidFill>
            <a:prstDash val="solid"/>
          </a:ln>
        </p:spPr>
      </p:sp>
      <p:sp>
        <p:nvSpPr>
          <p:cNvPr id="29" name="Text 25"/>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Nous sortons du bâtiment.</a:t>
            </a:r>
            <a:endParaRPr lang="en-US" sz="1700" dirty="0"/>
          </a:p>
        </p:txBody>
      </p:sp>
      <p:sp>
        <p:nvSpPr>
          <p:cNvPr id="30" name="Shape 26"/>
          <p:cNvSpPr/>
          <p:nvPr/>
        </p:nvSpPr>
        <p:spPr>
          <a:xfrm>
            <a:off x="6035040" y="4474972"/>
            <a:ext cx="457200" cy="914"/>
          </a:xfrm>
          <a:prstGeom prst="line">
            <a:avLst/>
          </a:prstGeom>
          <a:noFill/>
          <a:ln w="31750">
            <a:solidFill>
              <a:srgbClr val="D9700F"/>
            </a:solidFill>
            <a:prstDash val="solid"/>
            <a:tailEnd type="triangle"/>
          </a:ln>
        </p:spPr>
      </p:sp>
      <p:sp>
        <p:nvSpPr>
          <p:cNvPr id="31" name="Shape 27"/>
          <p:cNvSpPr/>
          <p:nvPr/>
        </p:nvSpPr>
        <p:spPr>
          <a:xfrm>
            <a:off x="6537960" y="4157472"/>
            <a:ext cx="5102352" cy="616712"/>
          </a:xfrm>
          <a:prstGeom prst="roundRect">
            <a:avLst>
              <a:gd name="adj" fmla="val 11862"/>
            </a:avLst>
          </a:prstGeom>
          <a:solidFill>
            <a:schemeClr val="bg1"/>
          </a:solidFill>
          <a:ln w="15875">
            <a:solidFill>
              <a:srgbClr val="D5DCE6"/>
            </a:solidFill>
            <a:prstDash val="solid"/>
          </a:ln>
        </p:spPr>
      </p:sp>
      <p:sp>
        <p:nvSpPr>
          <p:cNvPr id="32" name="Shape 28"/>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33" name="Text 29"/>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Shape 30"/>
          <p:cNvSpPr/>
          <p:nvPr/>
        </p:nvSpPr>
        <p:spPr>
          <a:xfrm>
            <a:off x="1005840" y="4883912"/>
            <a:ext cx="4937760" cy="616712"/>
          </a:xfrm>
          <a:prstGeom prst="roundRect">
            <a:avLst>
              <a:gd name="adj" fmla="val 11862"/>
            </a:avLst>
          </a:prstGeom>
          <a:solidFill>
            <a:schemeClr val="bg2"/>
          </a:solidFill>
          <a:ln w="12700">
            <a:solidFill>
              <a:srgbClr val="D5DCE6"/>
            </a:solidFill>
            <a:prstDash val="solid"/>
          </a:ln>
        </p:spPr>
      </p:sp>
      <p:sp>
        <p:nvSpPr>
          <p:cNvPr id="35" name="Text 31"/>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Le chat saute sur la table.</a:t>
            </a:r>
            <a:endParaRPr lang="en-US" sz="1700" dirty="0"/>
          </a:p>
        </p:txBody>
      </p:sp>
      <p:sp>
        <p:nvSpPr>
          <p:cNvPr id="36" name="Shape 32"/>
          <p:cNvSpPr/>
          <p:nvPr/>
        </p:nvSpPr>
        <p:spPr>
          <a:xfrm>
            <a:off x="6035040" y="5201412"/>
            <a:ext cx="457200" cy="914"/>
          </a:xfrm>
          <a:prstGeom prst="line">
            <a:avLst/>
          </a:prstGeom>
          <a:noFill/>
          <a:ln w="31750">
            <a:solidFill>
              <a:srgbClr val="D9700F"/>
            </a:solidFill>
            <a:prstDash val="solid"/>
            <a:tailEnd type="triangle"/>
          </a:ln>
        </p:spPr>
      </p:sp>
      <p:sp>
        <p:nvSpPr>
          <p:cNvPr id="37" name="Shape 33"/>
          <p:cNvSpPr/>
          <p:nvPr/>
        </p:nvSpPr>
        <p:spPr>
          <a:xfrm>
            <a:off x="6537960" y="4883912"/>
            <a:ext cx="5102352" cy="616712"/>
          </a:xfrm>
          <a:prstGeom prst="roundRect">
            <a:avLst>
              <a:gd name="adj" fmla="val 11862"/>
            </a:avLst>
          </a:prstGeom>
          <a:solidFill>
            <a:schemeClr val="bg1"/>
          </a:solidFill>
          <a:ln w="15875">
            <a:solidFill>
              <a:srgbClr val="D5DCE6"/>
            </a:solidFill>
            <a:prstDash val="solid"/>
          </a:ln>
        </p:spPr>
      </p:sp>
      <p:sp>
        <p:nvSpPr>
          <p:cNvPr id="38" name="Shape 34"/>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39" name="Text 35"/>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0" name="Shape 36"/>
          <p:cNvSpPr/>
          <p:nvPr/>
        </p:nvSpPr>
        <p:spPr>
          <a:xfrm>
            <a:off x="1005840" y="5610352"/>
            <a:ext cx="4937760" cy="616712"/>
          </a:xfrm>
          <a:prstGeom prst="roundRect">
            <a:avLst>
              <a:gd name="adj" fmla="val 11862"/>
            </a:avLst>
          </a:prstGeom>
          <a:solidFill>
            <a:schemeClr val="bg2"/>
          </a:solidFill>
          <a:ln w="12700">
            <a:solidFill>
              <a:srgbClr val="D5DCE6"/>
            </a:solidFill>
            <a:prstDash val="solid"/>
          </a:ln>
        </p:spPr>
      </p:sp>
      <p:sp>
        <p:nvSpPr>
          <p:cNvPr id="41" name="Text 37"/>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Ils sont descendus de la montagne à pied.</a:t>
            </a:r>
            <a:endParaRPr lang="en-US" sz="1700" dirty="0"/>
          </a:p>
        </p:txBody>
      </p:sp>
      <p:sp>
        <p:nvSpPr>
          <p:cNvPr id="42" name="Shape 38"/>
          <p:cNvSpPr/>
          <p:nvPr/>
        </p:nvSpPr>
        <p:spPr>
          <a:xfrm>
            <a:off x="6035040" y="5927852"/>
            <a:ext cx="457200" cy="914"/>
          </a:xfrm>
          <a:prstGeom prst="line">
            <a:avLst/>
          </a:prstGeom>
          <a:noFill/>
          <a:ln w="31750">
            <a:solidFill>
              <a:srgbClr val="D9700F"/>
            </a:solidFill>
            <a:prstDash val="solid"/>
            <a:tailEnd type="triangle"/>
          </a:ln>
        </p:spPr>
      </p:sp>
      <p:sp>
        <p:nvSpPr>
          <p:cNvPr id="43" name="Shape 39"/>
          <p:cNvSpPr/>
          <p:nvPr/>
        </p:nvSpPr>
        <p:spPr>
          <a:xfrm>
            <a:off x="6537960" y="5610352"/>
            <a:ext cx="5102352" cy="616712"/>
          </a:xfrm>
          <a:prstGeom prst="roundRect">
            <a:avLst>
              <a:gd name="adj" fmla="val 11862"/>
            </a:avLst>
          </a:prstGeom>
          <a:solidFill>
            <a:schemeClr val="bg1"/>
          </a:solidFill>
          <a:ln w="15875">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Traduisez</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Verbe de direction en français → verbe de manière + </a:t>
            </a:r>
            <a:r>
              <a:rPr lang="en-US" sz="1700" i="1" dirty="0">
                <a:solidFill>
                  <a:schemeClr val="accent5"/>
                </a:solidFill>
              </a:rPr>
              <a:t>achterzetsel</a:t>
            </a:r>
            <a:r>
              <a:rPr lang="en-US" sz="1700" i="1" dirty="0">
                <a:solidFill>
                  <a:schemeClr val="accent5"/>
                </a:solidFill>
              </a:rPr>
              <a:t>.</a:t>
            </a:r>
            <a:endParaRPr lang="en-US" sz="1700" dirty="0"/>
          </a:p>
        </p:txBody>
      </p:sp>
      <p:sp>
        <p:nvSpPr>
          <p:cNvPr id="9" name="Shape 5"/>
          <p:cNvSpPr/>
          <p:nvPr/>
        </p:nvSpPr>
        <p:spPr>
          <a:xfrm>
            <a:off x="548640" y="2112772"/>
            <a:ext cx="365760" cy="365760"/>
          </a:xfrm>
          <a:prstGeom prst="ellipse">
            <a:avLst/>
          </a:prstGeom>
          <a:solidFill>
            <a:schemeClr val="accent5"/>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1005840" y="1978152"/>
            <a:ext cx="4937760" cy="616712"/>
          </a:xfrm>
          <a:prstGeom prst="roundRect">
            <a:avLst>
              <a:gd name="adj" fmla="val 11862"/>
            </a:avLst>
          </a:prstGeom>
          <a:solidFill>
            <a:schemeClr val="bg2"/>
          </a:solidFill>
          <a:ln w="12700">
            <a:solidFill>
              <a:srgbClr val="D5DCE6"/>
            </a:solidFill>
            <a:prstDash val="solid"/>
          </a:ln>
        </p:spPr>
      </p:sp>
      <p:sp>
        <p:nvSpPr>
          <p:cNvPr id="12" name="Text 8"/>
          <p:cNvSpPr txBox="1"/>
          <p:nvPr/>
        </p:nvSpPr>
        <p:spPr>
          <a:xfrm>
            <a:off x="1143000" y="197815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Il entre dans la cuisine.</a:t>
            </a:r>
            <a:endParaRPr lang="en-US" sz="1700" dirty="0"/>
          </a:p>
        </p:txBody>
      </p:sp>
      <p:sp>
        <p:nvSpPr>
          <p:cNvPr id="13" name="Shape 9"/>
          <p:cNvSpPr/>
          <p:nvPr/>
        </p:nvSpPr>
        <p:spPr>
          <a:xfrm>
            <a:off x="6035040" y="2295652"/>
            <a:ext cx="457200" cy="914"/>
          </a:xfrm>
          <a:prstGeom prst="line">
            <a:avLst/>
          </a:prstGeom>
          <a:noFill/>
          <a:ln w="31750">
            <a:solidFill>
              <a:srgbClr val="D9700F"/>
            </a:solidFill>
            <a:prstDash val="solid"/>
            <a:tailEnd type="triangle"/>
          </a:ln>
        </p:spPr>
      </p:sp>
      <p:sp>
        <p:nvSpPr>
          <p:cNvPr id="14" name="Shape 10"/>
          <p:cNvSpPr/>
          <p:nvPr/>
        </p:nvSpPr>
        <p:spPr>
          <a:xfrm>
            <a:off x="6537960" y="1978152"/>
            <a:ext cx="5102352" cy="616712"/>
          </a:xfrm>
          <a:prstGeom prst="roundRect">
            <a:avLst>
              <a:gd name="adj" fmla="val 11862"/>
            </a:avLst>
          </a:prstGeom>
          <a:solidFill>
            <a:srgbClr val="EDF6F0"/>
          </a:solidFill>
          <a:ln w="15875">
            <a:solidFill>
              <a:srgbClr val="2E7D4F"/>
            </a:solidFill>
            <a:prstDash val="solid"/>
          </a:ln>
        </p:spPr>
      </p:sp>
      <p:sp>
        <p:nvSpPr>
          <p:cNvPr id="15" name="Text 11"/>
          <p:cNvSpPr txBox="1"/>
          <p:nvPr/>
        </p:nvSpPr>
        <p:spPr>
          <a:xfrm>
            <a:off x="6675120" y="1978152"/>
            <a:ext cx="4892040" cy="616712"/>
          </a:xfrm>
          <a:prstGeom prst="rect">
            <a:avLst/>
          </a:prstGeom>
          <a:noFill/>
          <a:ln/>
        </p:spPr>
        <p:txBody>
          <a:bodyPr wrap="square" lIns="0" tIns="0" rIns="0" bIns="0" rtlCol="0" anchor="ctr"/>
          <a:lstStyle/>
          <a:p>
            <a:pPr algn="l" indent="0" marL="0">
              <a:buNone/>
            </a:pPr>
            <a:r>
              <a:rPr lang="en-US" sz="1700" b="1" i="1" dirty="0">
                <a:solidFill>
                  <a:schemeClr val="accent3"/>
                </a:solidFill>
              </a:rPr>
              <a:t>Hij loopt de keuken in.</a:t>
            </a:r>
            <a:endParaRPr lang="en-US" sz="1700" dirty="0"/>
          </a:p>
          <a:p>
            <a:pPr algn="l" indent="0" marL="0">
              <a:buNone/>
            </a:pPr>
            <a:r>
              <a:rPr lang="en-US" sz="1700" i="1" dirty="0">
                <a:solidFill>
                  <a:schemeClr val="accent3"/>
                </a:solidFill>
              </a:rPr>
              <a:t>ou : Hij gaat de keuken binnen.</a:t>
            </a:r>
            <a:endParaRPr lang="en-US" sz="1700" dirty="0"/>
          </a:p>
        </p:txBody>
      </p:sp>
      <p:sp>
        <p:nvSpPr>
          <p:cNvPr id="16" name="Shape 12"/>
          <p:cNvSpPr/>
          <p:nvPr/>
        </p:nvSpPr>
        <p:spPr>
          <a:xfrm>
            <a:off x="548640" y="2839212"/>
            <a:ext cx="365760" cy="365760"/>
          </a:xfrm>
          <a:prstGeom prst="ellipse">
            <a:avLst/>
          </a:prstGeom>
          <a:solidFill>
            <a:schemeClr val="accent5"/>
          </a:solidFill>
          <a:ln w="12700">
            <a:solidFill>
              <a:srgbClr val="FFFFFF">
                <a:alpha val="0"/>
              </a:srgbClr>
            </a:solidFill>
            <a:prstDash val="solid"/>
          </a:ln>
        </p:spPr>
      </p:sp>
      <p:sp>
        <p:nvSpPr>
          <p:cNvPr id="17" name="Text 13"/>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Shape 14"/>
          <p:cNvSpPr/>
          <p:nvPr/>
        </p:nvSpPr>
        <p:spPr>
          <a:xfrm>
            <a:off x="1005840" y="2704592"/>
            <a:ext cx="4937760" cy="616712"/>
          </a:xfrm>
          <a:prstGeom prst="roundRect">
            <a:avLst>
              <a:gd name="adj" fmla="val 11862"/>
            </a:avLst>
          </a:prstGeom>
          <a:solidFill>
            <a:schemeClr val="bg2"/>
          </a:solidFill>
          <a:ln w="12700">
            <a:solidFill>
              <a:srgbClr val="D5DCE6"/>
            </a:solidFill>
            <a:prstDash val="solid"/>
          </a:ln>
        </p:spPr>
      </p:sp>
      <p:sp>
        <p:nvSpPr>
          <p:cNvPr id="19" name="Text 15"/>
          <p:cNvSpPr txBox="1"/>
          <p:nvPr/>
        </p:nvSpPr>
        <p:spPr>
          <a:xfrm>
            <a:off x="1143000" y="270459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Je monte l’escalier en courant.</a:t>
            </a:r>
            <a:endParaRPr lang="en-US" sz="1700" dirty="0"/>
          </a:p>
        </p:txBody>
      </p:sp>
      <p:sp>
        <p:nvSpPr>
          <p:cNvPr id="20" name="Shape 16"/>
          <p:cNvSpPr/>
          <p:nvPr/>
        </p:nvSpPr>
        <p:spPr>
          <a:xfrm>
            <a:off x="6035040" y="3022092"/>
            <a:ext cx="457200" cy="914"/>
          </a:xfrm>
          <a:prstGeom prst="line">
            <a:avLst/>
          </a:prstGeom>
          <a:noFill/>
          <a:ln w="31750">
            <a:solidFill>
              <a:srgbClr val="D9700F"/>
            </a:solidFill>
            <a:prstDash val="solid"/>
            <a:tailEnd type="triangle"/>
          </a:ln>
        </p:spPr>
      </p:sp>
      <p:sp>
        <p:nvSpPr>
          <p:cNvPr id="21" name="Shape 17"/>
          <p:cNvSpPr/>
          <p:nvPr/>
        </p:nvSpPr>
        <p:spPr>
          <a:xfrm>
            <a:off x="6537960" y="2704592"/>
            <a:ext cx="5102352" cy="616712"/>
          </a:xfrm>
          <a:prstGeom prst="roundRect">
            <a:avLst>
              <a:gd name="adj" fmla="val 11862"/>
            </a:avLst>
          </a:prstGeom>
          <a:solidFill>
            <a:srgbClr val="EDF6F0"/>
          </a:solidFill>
          <a:ln w="15875">
            <a:solidFill>
              <a:srgbClr val="2E7D4F"/>
            </a:solidFill>
            <a:prstDash val="solid"/>
          </a:ln>
        </p:spPr>
      </p:sp>
      <p:sp>
        <p:nvSpPr>
          <p:cNvPr id="22" name="Text 18"/>
          <p:cNvSpPr txBox="1"/>
          <p:nvPr/>
        </p:nvSpPr>
        <p:spPr>
          <a:xfrm>
            <a:off x="6675120" y="2704592"/>
            <a:ext cx="4892040" cy="616712"/>
          </a:xfrm>
          <a:prstGeom prst="rect">
            <a:avLst/>
          </a:prstGeom>
          <a:noFill/>
          <a:ln/>
        </p:spPr>
        <p:txBody>
          <a:bodyPr wrap="square" lIns="0" tIns="0" rIns="0" bIns="0" rtlCol="0" anchor="ctr"/>
          <a:lstStyle/>
          <a:p>
            <a:pPr algn="l" indent="0" marL="0">
              <a:buNone/>
            </a:pPr>
            <a:r>
              <a:rPr lang="en-US" sz="1700" b="1" i="1" dirty="0">
                <a:solidFill>
                  <a:schemeClr val="accent3"/>
                </a:solidFill>
              </a:rPr>
              <a:t>Ik ren de trap op.</a:t>
            </a:r>
            <a:endParaRPr lang="en-US" sz="1700" dirty="0"/>
          </a:p>
          <a:p>
            <a:pPr algn="l" indent="0" marL="0">
              <a:buNone/>
            </a:pPr>
            <a:r>
              <a:rPr lang="en-US" sz="1700" i="1" dirty="0">
                <a:solidFill>
                  <a:schemeClr val="accent3"/>
                </a:solidFill>
              </a:rPr>
              <a:t>BE aussi : Ik loop de trap op.</a:t>
            </a:r>
            <a:endParaRPr lang="en-US" sz="1700" dirty="0"/>
          </a:p>
        </p:txBody>
      </p:sp>
      <p:sp>
        <p:nvSpPr>
          <p:cNvPr id="23" name="Shape 19"/>
          <p:cNvSpPr/>
          <p:nvPr/>
        </p:nvSpPr>
        <p:spPr>
          <a:xfrm>
            <a:off x="548640" y="3565652"/>
            <a:ext cx="365760" cy="365760"/>
          </a:xfrm>
          <a:prstGeom prst="ellipse">
            <a:avLst/>
          </a:prstGeom>
          <a:solidFill>
            <a:schemeClr val="accent5"/>
          </a:solidFill>
          <a:ln w="12700">
            <a:solidFill>
              <a:srgbClr val="FFFFFF">
                <a:alpha val="0"/>
              </a:srgbClr>
            </a:solidFill>
            <a:prstDash val="solid"/>
          </a:ln>
        </p:spPr>
      </p:sp>
      <p:sp>
        <p:nvSpPr>
          <p:cNvPr id="24" name="Text 20"/>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5" name="Shape 21"/>
          <p:cNvSpPr/>
          <p:nvPr/>
        </p:nvSpPr>
        <p:spPr>
          <a:xfrm>
            <a:off x="1005840" y="3431032"/>
            <a:ext cx="4937760" cy="616712"/>
          </a:xfrm>
          <a:prstGeom prst="roundRect">
            <a:avLst>
              <a:gd name="adj" fmla="val 11862"/>
            </a:avLst>
          </a:prstGeom>
          <a:solidFill>
            <a:schemeClr val="bg2"/>
          </a:solidFill>
          <a:ln w="12700">
            <a:solidFill>
              <a:srgbClr val="D5DCE6"/>
            </a:solidFill>
            <a:prstDash val="solid"/>
          </a:ln>
        </p:spPr>
      </p:sp>
      <p:sp>
        <p:nvSpPr>
          <p:cNvPr id="26" name="Text 22"/>
          <p:cNvSpPr txBox="1"/>
          <p:nvPr/>
        </p:nvSpPr>
        <p:spPr>
          <a:xfrm>
            <a:off x="1143000" y="343103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Elle traverse le parc à vélo.</a:t>
            </a:r>
            <a:endParaRPr lang="en-US" sz="1700" dirty="0"/>
          </a:p>
        </p:txBody>
      </p:sp>
      <p:sp>
        <p:nvSpPr>
          <p:cNvPr id="27" name="Shape 23"/>
          <p:cNvSpPr/>
          <p:nvPr/>
        </p:nvSpPr>
        <p:spPr>
          <a:xfrm>
            <a:off x="6035040" y="3748532"/>
            <a:ext cx="457200" cy="914"/>
          </a:xfrm>
          <a:prstGeom prst="line">
            <a:avLst/>
          </a:prstGeom>
          <a:noFill/>
          <a:ln w="31750">
            <a:solidFill>
              <a:srgbClr val="D9700F"/>
            </a:solidFill>
            <a:prstDash val="solid"/>
            <a:tailEnd type="triangle"/>
          </a:ln>
        </p:spPr>
      </p:sp>
      <p:sp>
        <p:nvSpPr>
          <p:cNvPr id="28" name="Shape 24"/>
          <p:cNvSpPr/>
          <p:nvPr/>
        </p:nvSpPr>
        <p:spPr>
          <a:xfrm>
            <a:off x="6537960" y="3431032"/>
            <a:ext cx="5102352" cy="616712"/>
          </a:xfrm>
          <a:prstGeom prst="roundRect">
            <a:avLst>
              <a:gd name="adj" fmla="val 11862"/>
            </a:avLst>
          </a:prstGeom>
          <a:solidFill>
            <a:srgbClr val="EDF6F0"/>
          </a:solidFill>
          <a:ln w="15875">
            <a:solidFill>
              <a:srgbClr val="2E7D4F"/>
            </a:solidFill>
            <a:prstDash val="solid"/>
          </a:ln>
        </p:spPr>
      </p:sp>
      <p:sp>
        <p:nvSpPr>
          <p:cNvPr id="29" name="Text 25"/>
          <p:cNvSpPr txBox="1"/>
          <p:nvPr/>
        </p:nvSpPr>
        <p:spPr>
          <a:xfrm>
            <a:off x="6675120" y="3431032"/>
            <a:ext cx="4892040" cy="616712"/>
          </a:xfrm>
          <a:prstGeom prst="rect">
            <a:avLst/>
          </a:prstGeom>
          <a:noFill/>
          <a:ln/>
        </p:spPr>
        <p:txBody>
          <a:bodyPr wrap="square" lIns="0" tIns="0" rIns="0" bIns="0" rtlCol="0" anchor="ctr"/>
          <a:lstStyle/>
          <a:p>
            <a:pPr algn="l" indent="0" marL="0">
              <a:buNone/>
            </a:pPr>
            <a:r>
              <a:rPr lang="en-US" sz="1700" b="1" i="1" dirty="0">
                <a:solidFill>
                  <a:schemeClr val="accent3"/>
                </a:solidFill>
              </a:rPr>
              <a:t>Ze fietst het park door.</a:t>
            </a:r>
            <a:endParaRPr lang="en-US" sz="1700" dirty="0"/>
          </a:p>
          <a:p>
            <a:pPr algn="l" indent="0" marL="0">
              <a:buNone/>
            </a:pPr>
            <a:r>
              <a:rPr lang="en-US" sz="1700" i="1" dirty="0">
                <a:solidFill>
                  <a:schemeClr val="accent3"/>
                </a:solidFill>
              </a:rPr>
              <a:t>ou : Ze fietst door het park.</a:t>
            </a:r>
            <a:endParaRPr lang="en-US" sz="1700" dirty="0"/>
          </a:p>
        </p:txBody>
      </p:sp>
      <p:sp>
        <p:nvSpPr>
          <p:cNvPr id="30" name="Shape 26"/>
          <p:cNvSpPr/>
          <p:nvPr/>
        </p:nvSpPr>
        <p:spPr>
          <a:xfrm>
            <a:off x="548640" y="4292092"/>
            <a:ext cx="365760" cy="365760"/>
          </a:xfrm>
          <a:prstGeom prst="ellipse">
            <a:avLst/>
          </a:prstGeom>
          <a:solidFill>
            <a:schemeClr val="accent5"/>
          </a:solidFill>
          <a:ln w="12700">
            <a:solidFill>
              <a:srgbClr val="FFFFFF">
                <a:alpha val="0"/>
              </a:srgbClr>
            </a:solidFill>
            <a:prstDash val="solid"/>
          </a:ln>
        </p:spPr>
      </p:sp>
      <p:sp>
        <p:nvSpPr>
          <p:cNvPr id="31" name="Text 27"/>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2" name="Shape 28"/>
          <p:cNvSpPr/>
          <p:nvPr/>
        </p:nvSpPr>
        <p:spPr>
          <a:xfrm>
            <a:off x="1005840" y="4157472"/>
            <a:ext cx="4937760" cy="616712"/>
          </a:xfrm>
          <a:prstGeom prst="roundRect">
            <a:avLst>
              <a:gd name="adj" fmla="val 11862"/>
            </a:avLst>
          </a:prstGeom>
          <a:solidFill>
            <a:schemeClr val="bg2"/>
          </a:solidFill>
          <a:ln w="12700">
            <a:solidFill>
              <a:srgbClr val="D5DCE6"/>
            </a:solidFill>
            <a:prstDash val="solid"/>
          </a:ln>
        </p:spPr>
      </p:sp>
      <p:sp>
        <p:nvSpPr>
          <p:cNvPr id="33" name="Text 29"/>
          <p:cNvSpPr txBox="1"/>
          <p:nvPr/>
        </p:nvSpPr>
        <p:spPr>
          <a:xfrm>
            <a:off x="1143000" y="415747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Nous sortons du bâtiment.</a:t>
            </a:r>
            <a:endParaRPr lang="en-US" sz="1700" dirty="0"/>
          </a:p>
        </p:txBody>
      </p:sp>
      <p:sp>
        <p:nvSpPr>
          <p:cNvPr id="34" name="Shape 30"/>
          <p:cNvSpPr/>
          <p:nvPr/>
        </p:nvSpPr>
        <p:spPr>
          <a:xfrm>
            <a:off x="6035040" y="4474972"/>
            <a:ext cx="457200" cy="914"/>
          </a:xfrm>
          <a:prstGeom prst="line">
            <a:avLst/>
          </a:prstGeom>
          <a:noFill/>
          <a:ln w="31750">
            <a:solidFill>
              <a:srgbClr val="D9700F"/>
            </a:solidFill>
            <a:prstDash val="solid"/>
            <a:tailEnd type="triangle"/>
          </a:ln>
        </p:spPr>
      </p:sp>
      <p:sp>
        <p:nvSpPr>
          <p:cNvPr id="35" name="Shape 31"/>
          <p:cNvSpPr/>
          <p:nvPr/>
        </p:nvSpPr>
        <p:spPr>
          <a:xfrm>
            <a:off x="6537960" y="4157472"/>
            <a:ext cx="5102352" cy="616712"/>
          </a:xfrm>
          <a:prstGeom prst="roundRect">
            <a:avLst>
              <a:gd name="adj" fmla="val 11862"/>
            </a:avLst>
          </a:prstGeom>
          <a:solidFill>
            <a:srgbClr val="EDF6F0"/>
          </a:solidFill>
          <a:ln w="15875">
            <a:solidFill>
              <a:srgbClr val="2E7D4F"/>
            </a:solidFill>
            <a:prstDash val="solid"/>
          </a:ln>
        </p:spPr>
      </p:sp>
      <p:sp>
        <p:nvSpPr>
          <p:cNvPr id="36" name="Text 32"/>
          <p:cNvSpPr txBox="1"/>
          <p:nvPr/>
        </p:nvSpPr>
        <p:spPr>
          <a:xfrm>
            <a:off x="6675120" y="4157472"/>
            <a:ext cx="4892040" cy="616712"/>
          </a:xfrm>
          <a:prstGeom prst="rect">
            <a:avLst/>
          </a:prstGeom>
          <a:noFill/>
          <a:ln/>
        </p:spPr>
        <p:txBody>
          <a:bodyPr wrap="square" lIns="0" tIns="0" rIns="0" bIns="0" rtlCol="0" anchor="ctr"/>
          <a:lstStyle/>
          <a:p>
            <a:pPr algn="l" indent="0" marL="0">
              <a:buNone/>
            </a:pPr>
            <a:r>
              <a:rPr lang="en-US" sz="1700" b="1" i="1" dirty="0">
                <a:solidFill>
                  <a:schemeClr val="accent3"/>
                </a:solidFill>
              </a:rPr>
              <a:t>We lopen het gebouw uit.</a:t>
            </a:r>
            <a:endParaRPr lang="en-US" sz="1700" dirty="0"/>
          </a:p>
          <a:p>
            <a:pPr algn="l" indent="0" marL="0">
              <a:buNone/>
            </a:pPr>
            <a:r>
              <a:rPr lang="en-US" sz="1700" i="1" dirty="0">
                <a:solidFill>
                  <a:schemeClr val="accent3"/>
                </a:solidFill>
              </a:rPr>
              <a:t>ou : We gaan naar buiten.</a:t>
            </a:r>
            <a:endParaRPr lang="en-US" sz="1700" dirty="0"/>
          </a:p>
        </p:txBody>
      </p:sp>
      <p:sp>
        <p:nvSpPr>
          <p:cNvPr id="37" name="Shape 33"/>
          <p:cNvSpPr/>
          <p:nvPr/>
        </p:nvSpPr>
        <p:spPr>
          <a:xfrm>
            <a:off x="548640" y="5018532"/>
            <a:ext cx="365760" cy="365760"/>
          </a:xfrm>
          <a:prstGeom prst="ellipse">
            <a:avLst/>
          </a:prstGeom>
          <a:solidFill>
            <a:schemeClr val="accent5"/>
          </a:solidFill>
          <a:ln w="12700">
            <a:solidFill>
              <a:srgbClr val="FFFFFF">
                <a:alpha val="0"/>
              </a:srgbClr>
            </a:solidFill>
            <a:prstDash val="solid"/>
          </a:ln>
        </p:spPr>
      </p:sp>
      <p:sp>
        <p:nvSpPr>
          <p:cNvPr id="38" name="Text 34"/>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9" name="Shape 35"/>
          <p:cNvSpPr/>
          <p:nvPr/>
        </p:nvSpPr>
        <p:spPr>
          <a:xfrm>
            <a:off x="1005840" y="4883912"/>
            <a:ext cx="4937760" cy="616712"/>
          </a:xfrm>
          <a:prstGeom prst="roundRect">
            <a:avLst>
              <a:gd name="adj" fmla="val 11862"/>
            </a:avLst>
          </a:prstGeom>
          <a:solidFill>
            <a:schemeClr val="bg2"/>
          </a:solidFill>
          <a:ln w="12700">
            <a:solidFill>
              <a:srgbClr val="D5DCE6"/>
            </a:solidFill>
            <a:prstDash val="solid"/>
          </a:ln>
        </p:spPr>
      </p:sp>
      <p:sp>
        <p:nvSpPr>
          <p:cNvPr id="40" name="Text 36"/>
          <p:cNvSpPr txBox="1"/>
          <p:nvPr/>
        </p:nvSpPr>
        <p:spPr>
          <a:xfrm>
            <a:off x="1143000" y="488391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Le chat saute sur la table.</a:t>
            </a:r>
            <a:endParaRPr lang="en-US" sz="1700" dirty="0"/>
          </a:p>
        </p:txBody>
      </p:sp>
      <p:sp>
        <p:nvSpPr>
          <p:cNvPr id="41" name="Shape 37"/>
          <p:cNvSpPr/>
          <p:nvPr/>
        </p:nvSpPr>
        <p:spPr>
          <a:xfrm>
            <a:off x="6035040" y="5201412"/>
            <a:ext cx="457200" cy="914"/>
          </a:xfrm>
          <a:prstGeom prst="line">
            <a:avLst/>
          </a:prstGeom>
          <a:noFill/>
          <a:ln w="31750">
            <a:solidFill>
              <a:srgbClr val="D9700F"/>
            </a:solidFill>
            <a:prstDash val="solid"/>
            <a:tailEnd type="triangle"/>
          </a:ln>
        </p:spPr>
      </p:sp>
      <p:sp>
        <p:nvSpPr>
          <p:cNvPr id="42" name="Shape 38"/>
          <p:cNvSpPr/>
          <p:nvPr/>
        </p:nvSpPr>
        <p:spPr>
          <a:xfrm>
            <a:off x="6537960" y="4883912"/>
            <a:ext cx="5102352" cy="616712"/>
          </a:xfrm>
          <a:prstGeom prst="roundRect">
            <a:avLst>
              <a:gd name="adj" fmla="val 11862"/>
            </a:avLst>
          </a:prstGeom>
          <a:solidFill>
            <a:srgbClr val="EDF6F0"/>
          </a:solidFill>
          <a:ln w="15875">
            <a:solidFill>
              <a:srgbClr val="2E7D4F"/>
            </a:solidFill>
            <a:prstDash val="solid"/>
          </a:ln>
        </p:spPr>
      </p:sp>
      <p:sp>
        <p:nvSpPr>
          <p:cNvPr id="43" name="Text 39"/>
          <p:cNvSpPr txBox="1"/>
          <p:nvPr/>
        </p:nvSpPr>
        <p:spPr>
          <a:xfrm>
            <a:off x="6675120" y="4883912"/>
            <a:ext cx="4892040" cy="616712"/>
          </a:xfrm>
          <a:prstGeom prst="rect">
            <a:avLst/>
          </a:prstGeom>
          <a:noFill/>
          <a:ln/>
        </p:spPr>
        <p:txBody>
          <a:bodyPr wrap="square" lIns="0" tIns="0" rIns="0" bIns="0" rtlCol="0" anchor="ctr"/>
          <a:lstStyle/>
          <a:p>
            <a:pPr algn="l" indent="0" marL="0">
              <a:buNone/>
            </a:pPr>
            <a:r>
              <a:rPr lang="en-US" sz="1700" b="1" i="1" dirty="0">
                <a:solidFill>
                  <a:schemeClr val="accent3"/>
                </a:solidFill>
              </a:rPr>
              <a:t>De kat springt de tafel op.</a:t>
            </a:r>
            <a:endParaRPr lang="en-US" sz="1700" dirty="0"/>
          </a:p>
          <a:p>
            <a:pPr algn="l" indent="0" marL="0">
              <a:buNone/>
            </a:pPr>
            <a:r>
              <a:rPr lang="en-US" sz="1700" i="1" dirty="0">
                <a:solidFill>
                  <a:schemeClr val="accent3"/>
                </a:solidFill>
              </a:rPr>
              <a:t>ou : op de tafel</a:t>
            </a:r>
            <a:endParaRPr lang="en-US" sz="1700" dirty="0"/>
          </a:p>
        </p:txBody>
      </p:sp>
      <p:sp>
        <p:nvSpPr>
          <p:cNvPr id="44" name="Shape 40"/>
          <p:cNvSpPr/>
          <p:nvPr/>
        </p:nvSpPr>
        <p:spPr>
          <a:xfrm>
            <a:off x="548640" y="5744972"/>
            <a:ext cx="365760" cy="365760"/>
          </a:xfrm>
          <a:prstGeom prst="ellipse">
            <a:avLst/>
          </a:prstGeom>
          <a:solidFill>
            <a:schemeClr val="accent5"/>
          </a:solidFill>
          <a:ln w="12700">
            <a:solidFill>
              <a:srgbClr val="FFFFFF">
                <a:alpha val="0"/>
              </a:srgbClr>
            </a:solidFill>
            <a:prstDash val="solid"/>
          </a:ln>
        </p:spPr>
      </p:sp>
      <p:sp>
        <p:nvSpPr>
          <p:cNvPr id="45" name="Text 41"/>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6" name="Shape 42"/>
          <p:cNvSpPr/>
          <p:nvPr/>
        </p:nvSpPr>
        <p:spPr>
          <a:xfrm>
            <a:off x="1005840" y="5610352"/>
            <a:ext cx="4937760" cy="616712"/>
          </a:xfrm>
          <a:prstGeom prst="roundRect">
            <a:avLst>
              <a:gd name="adj" fmla="val 11862"/>
            </a:avLst>
          </a:prstGeom>
          <a:solidFill>
            <a:schemeClr val="bg2"/>
          </a:solidFill>
          <a:ln w="12700">
            <a:solidFill>
              <a:srgbClr val="D5DCE6"/>
            </a:solidFill>
            <a:prstDash val="solid"/>
          </a:ln>
        </p:spPr>
      </p:sp>
      <p:sp>
        <p:nvSpPr>
          <p:cNvPr id="47" name="Text 43"/>
          <p:cNvSpPr txBox="1"/>
          <p:nvPr/>
        </p:nvSpPr>
        <p:spPr>
          <a:xfrm>
            <a:off x="1143000" y="5610352"/>
            <a:ext cx="4754880" cy="616712"/>
          </a:xfrm>
          <a:prstGeom prst="rect">
            <a:avLst/>
          </a:prstGeom>
          <a:noFill/>
          <a:ln/>
        </p:spPr>
        <p:txBody>
          <a:bodyPr wrap="square" lIns="0" tIns="0" rIns="0" bIns="0" rtlCol="0" anchor="ctr"/>
          <a:lstStyle/>
          <a:p>
            <a:pPr algn="l" indent="0" marL="0">
              <a:buNone/>
            </a:pPr>
            <a:r>
              <a:rPr lang="en-US" sz="1700" dirty="0">
                <a:solidFill>
                  <a:schemeClr val="tx1"/>
                </a:solidFill>
              </a:rPr>
              <a:t>Ils sont descendus de la montagne à pied.</a:t>
            </a:r>
            <a:endParaRPr lang="en-US" sz="1700" dirty="0"/>
          </a:p>
        </p:txBody>
      </p:sp>
      <p:sp>
        <p:nvSpPr>
          <p:cNvPr id="48" name="Shape 44"/>
          <p:cNvSpPr/>
          <p:nvPr/>
        </p:nvSpPr>
        <p:spPr>
          <a:xfrm>
            <a:off x="6035040" y="5927852"/>
            <a:ext cx="457200" cy="914"/>
          </a:xfrm>
          <a:prstGeom prst="line">
            <a:avLst/>
          </a:prstGeom>
          <a:noFill/>
          <a:ln w="31750">
            <a:solidFill>
              <a:srgbClr val="D9700F"/>
            </a:solidFill>
            <a:prstDash val="solid"/>
            <a:tailEnd type="triangle"/>
          </a:ln>
        </p:spPr>
      </p:sp>
      <p:sp>
        <p:nvSpPr>
          <p:cNvPr id="49" name="Shape 45"/>
          <p:cNvSpPr/>
          <p:nvPr/>
        </p:nvSpPr>
        <p:spPr>
          <a:xfrm>
            <a:off x="6537960" y="5610352"/>
            <a:ext cx="5102352" cy="616712"/>
          </a:xfrm>
          <a:prstGeom prst="roundRect">
            <a:avLst>
              <a:gd name="adj" fmla="val 11862"/>
            </a:avLst>
          </a:prstGeom>
          <a:solidFill>
            <a:srgbClr val="EDF6F0"/>
          </a:solidFill>
          <a:ln w="15875">
            <a:solidFill>
              <a:srgbClr val="2E7D4F"/>
            </a:solidFill>
            <a:prstDash val="solid"/>
          </a:ln>
        </p:spPr>
      </p:sp>
      <p:sp>
        <p:nvSpPr>
          <p:cNvPr id="50" name="Text 46"/>
          <p:cNvSpPr txBox="1"/>
          <p:nvPr/>
        </p:nvSpPr>
        <p:spPr>
          <a:xfrm>
            <a:off x="6675120" y="5610352"/>
            <a:ext cx="4892040" cy="616712"/>
          </a:xfrm>
          <a:prstGeom prst="rect">
            <a:avLst/>
          </a:prstGeom>
          <a:noFill/>
          <a:ln/>
        </p:spPr>
        <p:txBody>
          <a:bodyPr wrap="square" lIns="0" tIns="0" rIns="0" bIns="0" rtlCol="0" anchor="ctr"/>
          <a:lstStyle/>
          <a:p>
            <a:pPr algn="l" indent="0" marL="0">
              <a:buNone/>
            </a:pPr>
            <a:r>
              <a:rPr lang="en-US" sz="1700" b="1" i="1" dirty="0">
                <a:solidFill>
                  <a:schemeClr val="accent3"/>
                </a:solidFill>
              </a:rPr>
              <a:t>Ze zijn de berg af gelopen.</a:t>
            </a:r>
            <a:endParaRPr lang="en-US" sz="1700" dirty="0"/>
          </a:p>
          <a:p>
            <a:pPr algn="l" indent="0" marL="0">
              <a:buNone/>
            </a:pPr>
            <a:r>
              <a:rPr lang="en-US" sz="1700" i="1" dirty="0">
                <a:solidFill>
                  <a:schemeClr val="accent3"/>
                </a:solidFill>
              </a:rPr>
              <a:t>zijn ! (afgelopen accepté)</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explique le chemin à mevrouw Wouters. Trouvez les 5 erreurs.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Karim Benali · Aan: Eva Wouters · Onderwerp: de weg naar de vergaderzaal van de directie</a:t>
            </a:r>
            <a:endParaRPr lang="en-US" sz="1300" dirty="0"/>
          </a:p>
        </p:txBody>
      </p:sp>
      <p:sp>
        <p:nvSpPr>
          <p:cNvPr id="11" name="Text 7"/>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800" i="1" dirty="0">
                <a:solidFill>
                  <a:schemeClr val="tx1"/>
                </a:solidFill>
              </a:rPr>
              <a:t>Geachte mevrouw Wouters,</a:t>
            </a:r>
            <a:endParaRPr lang="en-US" sz="1800" dirty="0"/>
          </a:p>
          <a:p>
            <a:pPr algn="l" indent="0" marL="0">
              <a:lnSpc>
                <a:spcPct val="115000"/>
              </a:lnSpc>
              <a:spcAft>
                <a:spcPts val="600"/>
              </a:spcAft>
              <a:buNone/>
            </a:pPr>
            <a:r>
              <a:rPr lang="en-US" sz="1800" i="1" dirty="0">
                <a:solidFill>
                  <a:schemeClr val="tx1"/>
                </a:solidFill>
              </a:rPr>
              <a:t>Zo vindt u de vergaderzaal van de directie: u stapt het gebouw binnen en u </a:t>
            </a:r>
            <a:r>
              <a:rPr lang="en-US" sz="1800" i="1" dirty="0">
                <a:solidFill>
                  <a:schemeClr val="tx1"/>
                </a:solidFill>
              </a:rPr>
              <a:t>stijgt de trap</a:t>
            </a:r>
            <a:r>
              <a:rPr lang="en-US" sz="1800" i="1" dirty="0">
                <a:solidFill>
                  <a:schemeClr val="tx1"/>
                </a:solidFill>
              </a:rPr>
              <a:t> naar de eerste verdieping. Daar </a:t>
            </a:r>
            <a:r>
              <a:rPr lang="en-US" sz="1800" i="1" dirty="0">
                <a:solidFill>
                  <a:schemeClr val="tx1"/>
                </a:solidFill>
              </a:rPr>
              <a:t>kruist u de gang</a:t>
            </a:r>
            <a:r>
              <a:rPr lang="en-US" sz="1800" i="1" dirty="0">
                <a:solidFill>
                  <a:schemeClr val="tx1"/>
                </a:solidFill>
              </a:rPr>
              <a:t> tot aan de koffieautomaat. Dan gaat u de hoek om en u loopt </a:t>
            </a:r>
            <a:r>
              <a:rPr lang="en-US" sz="1800" i="1" dirty="0">
                <a:solidFill>
                  <a:schemeClr val="tx1"/>
                </a:solidFill>
              </a:rPr>
              <a:t>in de vergaderzaal in</a:t>
            </a:r>
            <a:r>
              <a:rPr lang="en-US" sz="1800" i="1" dirty="0">
                <a:solidFill>
                  <a:schemeClr val="tx1"/>
                </a:solidFill>
              </a:rPr>
              <a:t>. Ik wacht </a:t>
            </a:r>
            <a:r>
              <a:rPr lang="en-US" sz="1800" i="1" dirty="0">
                <a:solidFill>
                  <a:schemeClr val="tx1"/>
                </a:solidFill>
              </a:rPr>
              <a:t>naar binnen</a:t>
            </a:r>
            <a:r>
              <a:rPr lang="en-US" sz="1800" i="1" dirty="0">
                <a:solidFill>
                  <a:schemeClr val="tx1"/>
                </a:solidFill>
              </a:rPr>
              <a:t> op u. Vorige keer </a:t>
            </a:r>
            <a:r>
              <a:rPr lang="en-US" sz="1800" i="1" dirty="0">
                <a:solidFill>
                  <a:schemeClr val="tx1"/>
                </a:solidFill>
              </a:rPr>
              <a:t>heeft</a:t>
            </a:r>
            <a:r>
              <a:rPr lang="en-US" sz="1800" i="1" dirty="0">
                <a:solidFill>
                  <a:schemeClr val="tx1"/>
                </a:solidFill>
              </a:rPr>
              <a:t> een bezoeker de verkeerde zaal in gelopen!</a:t>
            </a:r>
            <a:endParaRPr lang="en-US" sz="1800" dirty="0"/>
          </a:p>
          <a:p>
            <a:pPr algn="l" indent="0" marL="0">
              <a:lnSpc>
                <a:spcPct val="115000"/>
              </a:lnSpc>
              <a:spcAft>
                <a:spcPts val="600"/>
              </a:spcAft>
              <a:buNone/>
            </a:pPr>
            <a:r>
              <a:rPr lang="en-US" sz="1800" i="1" dirty="0">
                <a:solidFill>
                  <a:schemeClr val="tx1"/>
                </a:solidFill>
              </a:rPr>
              <a:t>Met vriendelijke groeten</a:t>
            </a:r>
            <a:endParaRPr lang="en-US" sz="1800" dirty="0"/>
          </a:p>
          <a:p>
            <a:pPr algn="l" indent="0" marL="0">
              <a:lnSpc>
                <a:spcPct val="115000"/>
              </a:lnSpc>
              <a:spcAft>
                <a:spcPts val="600"/>
              </a:spcAft>
              <a:buNone/>
            </a:pPr>
            <a:r>
              <a:rPr lang="en-US" sz="1800" i="1" dirty="0">
                <a:solidFill>
                  <a:schemeClr val="tx1"/>
                </a:solidFill>
              </a:rPr>
              <a:t>Karim Benali</a:t>
            </a:r>
            <a:endParaRPr lang="en-US" sz="180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explique le chemin à mevrouw Wouters. Trouvez les 5 erreurs.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Karim Benali · Aan: Eva Wouters · Onderwerp: de weg naar de vergaderzaal van de directie</a:t>
            </a:r>
            <a:endParaRPr lang="en-US" sz="1300" dirty="0"/>
          </a:p>
        </p:txBody>
      </p:sp>
      <p:sp>
        <p:nvSpPr>
          <p:cNvPr id="12" name="Text 8"/>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800" i="1" dirty="0">
                <a:solidFill>
                  <a:schemeClr val="tx1"/>
                </a:solidFill>
              </a:rPr>
              <a:t>Geachte mevrouw Wouters,</a:t>
            </a:r>
            <a:endParaRPr lang="en-US" sz="1800" dirty="0"/>
          </a:p>
          <a:p>
            <a:pPr algn="l" indent="0" marL="0">
              <a:lnSpc>
                <a:spcPct val="115000"/>
              </a:lnSpc>
              <a:spcAft>
                <a:spcPts val="600"/>
              </a:spcAft>
              <a:buNone/>
            </a:pPr>
            <a:r>
              <a:rPr lang="en-US" sz="1800" i="1" dirty="0">
                <a:solidFill>
                  <a:schemeClr val="tx1"/>
                </a:solidFill>
              </a:rPr>
              <a:t>Zo vindt u de vergaderzaal van de directie: u stapt het gebouw binnen en u </a:t>
            </a:r>
            <a:r>
              <a:rPr lang="en-US" sz="1800" i="1" strike="sngStrike" dirty="0">
                <a:solidFill>
                  <a:schemeClr val="accent6"/>
                </a:solidFill>
              </a:rPr>
              <a:t>stijgt de trap</a:t>
            </a:r>
            <a:r>
              <a:rPr lang="en-US" sz="1800" b="1" i="1" dirty="0">
                <a:solidFill>
                  <a:schemeClr val="accent3"/>
                </a:solidFill>
              </a:rPr>
              <a:t> loopt de trap op</a:t>
            </a:r>
            <a:r>
              <a:rPr lang="en-US" sz="1800" i="1" dirty="0">
                <a:solidFill>
                  <a:schemeClr val="tx1"/>
                </a:solidFill>
              </a:rPr>
              <a:t> naar de eerste verdieping. Daar </a:t>
            </a:r>
            <a:r>
              <a:rPr lang="en-US" sz="1800" i="1" strike="sngStrike" dirty="0">
                <a:solidFill>
                  <a:schemeClr val="accent6"/>
                </a:solidFill>
              </a:rPr>
              <a:t>kruist u de gang</a:t>
            </a:r>
            <a:r>
              <a:rPr lang="en-US" sz="1800" b="1" i="1" dirty="0">
                <a:solidFill>
                  <a:schemeClr val="accent3"/>
                </a:solidFill>
              </a:rPr>
              <a:t> loopt u de gang door</a:t>
            </a:r>
            <a:r>
              <a:rPr lang="en-US" sz="1800" i="1" dirty="0">
                <a:solidFill>
                  <a:schemeClr val="tx1"/>
                </a:solidFill>
              </a:rPr>
              <a:t> tot aan de koffieautomaat. Dan gaat u de hoek om en u loopt </a:t>
            </a:r>
            <a:r>
              <a:rPr lang="en-US" sz="1800" i="1" strike="sngStrike" dirty="0">
                <a:solidFill>
                  <a:schemeClr val="accent6"/>
                </a:solidFill>
              </a:rPr>
              <a:t>in de vergaderzaal in</a:t>
            </a:r>
            <a:r>
              <a:rPr lang="en-US" sz="1800" b="1" i="1" dirty="0">
                <a:solidFill>
                  <a:schemeClr val="accent3"/>
                </a:solidFill>
              </a:rPr>
              <a:t> de vergaderzaal in</a:t>
            </a:r>
            <a:r>
              <a:rPr lang="en-US" sz="1800" i="1" dirty="0">
                <a:solidFill>
                  <a:schemeClr val="tx1"/>
                </a:solidFill>
              </a:rPr>
              <a:t>. Ik wacht </a:t>
            </a:r>
            <a:r>
              <a:rPr lang="en-US" sz="1800" i="1" strike="sngStrike" dirty="0">
                <a:solidFill>
                  <a:schemeClr val="accent6"/>
                </a:solidFill>
              </a:rPr>
              <a:t>naar binnen</a:t>
            </a:r>
            <a:r>
              <a:rPr lang="en-US" sz="1800" b="1" i="1" dirty="0">
                <a:solidFill>
                  <a:schemeClr val="accent3"/>
                </a:solidFill>
              </a:rPr>
              <a:t> binnen</a:t>
            </a:r>
            <a:r>
              <a:rPr lang="en-US" sz="1800" i="1" dirty="0">
                <a:solidFill>
                  <a:schemeClr val="tx1"/>
                </a:solidFill>
              </a:rPr>
              <a:t> op u. Vorige keer </a:t>
            </a:r>
            <a:r>
              <a:rPr lang="en-US" sz="1800" i="1" strike="sngStrike" dirty="0">
                <a:solidFill>
                  <a:schemeClr val="accent6"/>
                </a:solidFill>
              </a:rPr>
              <a:t>heeft</a:t>
            </a:r>
            <a:r>
              <a:rPr lang="en-US" sz="1800" b="1" i="1" dirty="0">
                <a:solidFill>
                  <a:schemeClr val="accent3"/>
                </a:solidFill>
              </a:rPr>
              <a:t> is</a:t>
            </a:r>
            <a:r>
              <a:rPr lang="en-US" sz="1800" i="1" dirty="0">
                <a:solidFill>
                  <a:schemeClr val="tx1"/>
                </a:solidFill>
              </a:rPr>
              <a:t> een bezoeker de verkeerde zaal in gelopen!</a:t>
            </a:r>
            <a:endParaRPr lang="en-US" sz="1800" dirty="0"/>
          </a:p>
          <a:p>
            <a:pPr algn="l" indent="0" marL="0">
              <a:lnSpc>
                <a:spcPct val="115000"/>
              </a:lnSpc>
              <a:spcAft>
                <a:spcPts val="600"/>
              </a:spcAft>
              <a:buNone/>
            </a:pPr>
            <a:r>
              <a:rPr lang="en-US" sz="1800" i="1" dirty="0">
                <a:solidFill>
                  <a:schemeClr val="tx1"/>
                </a:solidFill>
              </a:rPr>
              <a:t>Met vriendelijke groeten</a:t>
            </a:r>
            <a:endParaRPr lang="en-US" sz="1800" dirty="0"/>
          </a:p>
          <a:p>
            <a:pPr algn="l" indent="0" marL="0">
              <a:lnSpc>
                <a:spcPct val="115000"/>
              </a:lnSpc>
              <a:spcAft>
                <a:spcPts val="600"/>
              </a:spcAft>
              <a:buNone/>
            </a:pPr>
            <a:r>
              <a:rPr lang="en-US" sz="1800" i="1" dirty="0">
                <a:solidFill>
                  <a:schemeClr val="tx1"/>
                </a:solidFill>
              </a:rPr>
              <a:t>Karim Benali</a:t>
            </a:r>
            <a:endParaRPr lang="en-US" sz="180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16" name="Text 11"/>
          <p:cNvSpPr txBox="1"/>
          <p:nvPr/>
        </p:nvSpPr>
        <p:spPr>
          <a:xfrm>
            <a:off x="9052560" y="4721352"/>
            <a:ext cx="2587752" cy="1737360"/>
          </a:xfrm>
          <a:prstGeom prst="rect">
            <a:avLst/>
          </a:prstGeom>
          <a:noFill/>
          <a:ln/>
        </p:spPr>
        <p:txBody>
          <a:bodyPr wrap="square" lIns="0" tIns="0" rIns="0" bIns="0" rtlCol="0" anchor="t"/>
          <a:lstStyle/>
          <a:p>
            <a:pPr algn="l" indent="0" marL="0">
              <a:buNone/>
            </a:pPr>
            <a:r>
              <a:rPr lang="en-US" sz="1400" i="1" dirty="0">
                <a:solidFill>
                  <a:schemeClr val="accent5"/>
                </a:solidFill>
              </a:rPr>
              <a:t>Leurres : </a:t>
            </a:r>
            <a:r>
              <a:rPr lang="en-US" sz="1400" i="1" dirty="0">
                <a:solidFill>
                  <a:schemeClr val="accent5"/>
                </a:solidFill>
              </a:rPr>
              <a:t>het gebouw binnen</a:t>
            </a:r>
            <a:r>
              <a:rPr lang="en-US" sz="1400" i="1" dirty="0">
                <a:solidFill>
                  <a:schemeClr val="accent5"/>
                </a:solidFill>
              </a:rPr>
              <a:t> et </a:t>
            </a:r>
            <a:r>
              <a:rPr lang="en-US" sz="1400" i="1" dirty="0">
                <a:solidFill>
                  <a:schemeClr val="accent5"/>
                </a:solidFill>
              </a:rPr>
              <a:t>de hoek om</a:t>
            </a:r>
            <a:r>
              <a:rPr lang="en-US" sz="1400" i="1" dirty="0">
                <a:solidFill>
                  <a:schemeClr val="accent5"/>
                </a:solidFill>
              </a:rPr>
              <a:t> sont corrects. </a:t>
            </a:r>
            <a:r>
              <a:rPr lang="en-US" sz="1400" i="1" dirty="0">
                <a:solidFill>
                  <a:schemeClr val="accent5"/>
                </a:solidFill>
              </a:rPr>
              <a:t>binnen</a:t>
            </a:r>
            <a:r>
              <a:rPr lang="en-US" sz="1400" i="1" dirty="0">
                <a:solidFill>
                  <a:schemeClr val="accent5"/>
                </a:solidFill>
              </a:rPr>
              <a:t> = lieu ; </a:t>
            </a:r>
            <a:r>
              <a:rPr lang="en-US" sz="1400" i="1" dirty="0">
                <a:solidFill>
                  <a:schemeClr val="accent5"/>
                </a:solidFill>
              </a:rPr>
              <a:t>naar binnen</a:t>
            </a:r>
            <a:r>
              <a:rPr lang="en-US" sz="1400" i="1" dirty="0">
                <a:solidFill>
                  <a:schemeClr val="accent5"/>
                </a:solidFill>
              </a:rPr>
              <a:t> = direction.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Waar ben ik?</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Suivez l’itinéraire sur le plan. Dans quelle pièce arrivez-vous ?</a:t>
            </a:r>
            <a:endParaRPr lang="en-US" sz="1700" dirty="0"/>
          </a:p>
        </p:txBody>
      </p:sp>
      <p:sp>
        <p:nvSpPr>
          <p:cNvPr id="8" name="Shape 4"/>
          <p:cNvSpPr/>
          <p:nvPr/>
        </p:nvSpPr>
        <p:spPr>
          <a:xfrm>
            <a:off x="548640" y="3272028"/>
            <a:ext cx="864108" cy="2318004"/>
          </a:xfrm>
          <a:prstGeom prst="roundRect">
            <a:avLst>
              <a:gd name="adj" fmla="val 4233"/>
            </a:avLst>
          </a:prstGeom>
          <a:solidFill>
            <a:srgbClr val="E6EBF2"/>
          </a:solidFill>
          <a:ln w="12700">
            <a:solidFill>
              <a:srgbClr val="4A5A70"/>
            </a:solidFill>
            <a:prstDash val="dash"/>
          </a:ln>
        </p:spPr>
      </p:sp>
      <p:pic>
        <p:nvPicPr>
          <p:cNvPr id="9" name="Image 1" descr="p button">    </p:cNvPr>
          <p:cNvPicPr>
            <a:picLocks noChangeAspect="1"/>
          </p:cNvPicPr>
          <p:nvPr/>
        </p:nvPicPr>
        <p:blipFill>
          <a:blip r:embed="rId2"/>
          <a:stretch>
            <a:fillRect/>
          </a:stretch>
        </p:blipFill>
        <p:spPr>
          <a:xfrm>
            <a:off x="797814" y="3521659"/>
            <a:ext cx="365760" cy="365760"/>
          </a:xfrm>
          <a:prstGeom prst="rect">
            <a:avLst/>
          </a:prstGeom>
        </p:spPr>
      </p:pic>
      <p:sp>
        <p:nvSpPr>
          <p:cNvPr id="10" name="Text 5"/>
          <p:cNvSpPr txBox="1"/>
          <p:nvPr/>
        </p:nvSpPr>
        <p:spPr>
          <a:xfrm>
            <a:off x="548640" y="3905707"/>
            <a:ext cx="864108" cy="457200"/>
          </a:xfrm>
          <a:prstGeom prst="rect">
            <a:avLst/>
          </a:prstGeom>
          <a:noFill/>
          <a:ln/>
        </p:spPr>
        <p:txBody>
          <a:bodyPr wrap="square" lIns="0" tIns="0" rIns="0" bIns="0" rtlCol="0" anchor="t"/>
          <a:lstStyle/>
          <a:p>
            <a:pPr algn="ctr" indent="0" marL="0">
              <a:buNone/>
            </a:pPr>
            <a:r>
              <a:rPr lang="en-US" sz="900" i="1" dirty="0">
                <a:solidFill>
                  <a:schemeClr val="accent5"/>
                </a:solidFill>
              </a:rPr>
              <a:t>de parking</a:t>
            </a:r>
            <a:endParaRPr lang="en-US" sz="900" dirty="0"/>
          </a:p>
        </p:txBody>
      </p:sp>
      <p:sp>
        <p:nvSpPr>
          <p:cNvPr id="11" name="Shape 6"/>
          <p:cNvSpPr/>
          <p:nvPr/>
        </p:nvSpPr>
        <p:spPr>
          <a:xfrm>
            <a:off x="1522476" y="2023872"/>
            <a:ext cx="4786884" cy="3566160"/>
          </a:xfrm>
          <a:prstGeom prst="rect">
            <a:avLst/>
          </a:prstGeom>
          <a:solidFill>
            <a:srgbClr val="FFFFFF"/>
          </a:solidFill>
          <a:ln w="31750">
            <a:solidFill>
              <a:srgbClr val="17375E"/>
            </a:solidFill>
            <a:prstDash val="solid"/>
          </a:ln>
        </p:spPr>
      </p:sp>
      <p:sp>
        <p:nvSpPr>
          <p:cNvPr id="12" name="Shape 7"/>
          <p:cNvSpPr/>
          <p:nvPr/>
        </p:nvSpPr>
        <p:spPr>
          <a:xfrm>
            <a:off x="2336246" y="3379013"/>
            <a:ext cx="3973114" cy="855878"/>
          </a:xfrm>
          <a:prstGeom prst="rect">
            <a:avLst/>
          </a:prstGeom>
          <a:solidFill>
            <a:srgbClr val="EEF1F6"/>
          </a:solidFill>
          <a:ln w="12700">
            <a:solidFill>
              <a:srgbClr val="FFFFFF">
                <a:alpha val="0"/>
              </a:srgbClr>
            </a:solidFill>
            <a:prstDash val="solid"/>
          </a:ln>
        </p:spPr>
      </p:sp>
      <p:sp>
        <p:nvSpPr>
          <p:cNvPr id="13" name="Text 8"/>
          <p:cNvSpPr txBox="1"/>
          <p:nvPr/>
        </p:nvSpPr>
        <p:spPr>
          <a:xfrm>
            <a:off x="3485098" y="3379013"/>
            <a:ext cx="1148852" cy="855878"/>
          </a:xfrm>
          <a:prstGeom prst="rect">
            <a:avLst/>
          </a:prstGeom>
          <a:noFill/>
          <a:ln/>
        </p:spPr>
        <p:txBody>
          <a:bodyPr wrap="square" lIns="0" tIns="0" rIns="0" bIns="0" rtlCol="0" anchor="ctr"/>
          <a:lstStyle/>
          <a:p>
            <a:pPr algn="ctr" indent="0" marL="0">
              <a:buNone/>
            </a:pPr>
            <a:r>
              <a:rPr lang="en-US" sz="900" i="1" dirty="0">
                <a:solidFill>
                  <a:schemeClr val="accent5"/>
                </a:solidFill>
              </a:rPr>
              <a:t>de gang</a:t>
            </a:r>
            <a:endParaRPr lang="en-US" sz="900" dirty="0"/>
          </a:p>
        </p:txBody>
      </p:sp>
      <p:sp>
        <p:nvSpPr>
          <p:cNvPr id="14" name="Shape 9"/>
          <p:cNvSpPr/>
          <p:nvPr/>
        </p:nvSpPr>
        <p:spPr>
          <a:xfrm>
            <a:off x="1522476" y="2023872"/>
            <a:ext cx="813770" cy="3566160"/>
          </a:xfrm>
          <a:prstGeom prst="rect">
            <a:avLst/>
          </a:prstGeom>
          <a:solidFill>
            <a:srgbClr val="FDF1E6"/>
          </a:solidFill>
          <a:ln w="12700">
            <a:solidFill>
              <a:srgbClr val="FFFFFF">
                <a:alpha val="0"/>
              </a:srgbClr>
            </a:solidFill>
            <a:prstDash val="solid"/>
          </a:ln>
        </p:spPr>
      </p:sp>
      <p:sp>
        <p:nvSpPr>
          <p:cNvPr id="15" name="Shape 10"/>
          <p:cNvSpPr/>
          <p:nvPr/>
        </p:nvSpPr>
        <p:spPr>
          <a:xfrm>
            <a:off x="1668955" y="2908280"/>
            <a:ext cx="179029" cy="1797345"/>
          </a:xfrm>
          <a:prstGeom prst="roundRect">
            <a:avLst>
              <a:gd name="adj" fmla="val 20430"/>
            </a:avLst>
          </a:prstGeom>
          <a:solidFill>
            <a:schemeClr val="accent1">
              <a:alpha val="65000"/>
            </a:schemeClr>
          </a:solidFill>
          <a:ln w="12700">
            <a:solidFill>
              <a:srgbClr val="FFFFFF">
                <a:alpha val="0"/>
              </a:srgbClr>
            </a:solidFill>
            <a:prstDash val="solid"/>
          </a:ln>
        </p:spPr>
      </p:sp>
      <p:sp>
        <p:nvSpPr>
          <p:cNvPr id="16" name="Text 11"/>
          <p:cNvSpPr txBox="1"/>
          <p:nvPr/>
        </p:nvSpPr>
        <p:spPr>
          <a:xfrm>
            <a:off x="1559052" y="2078736"/>
            <a:ext cx="740618" cy="1084113"/>
          </a:xfrm>
          <a:prstGeom prst="rect">
            <a:avLst/>
          </a:prstGeom>
          <a:noFill/>
          <a:ln/>
        </p:spPr>
        <p:txBody>
          <a:bodyPr wrap="square" lIns="0" tIns="0" rIns="0" bIns="0" rtlCol="0" anchor="t"/>
          <a:lstStyle/>
          <a:p>
            <a:pPr algn="ctr" indent="0" marL="0">
              <a:buNone/>
            </a:pPr>
            <a:r>
              <a:rPr lang="en-US" sz="900" b="1" dirty="0">
                <a:solidFill>
                  <a:schemeClr val="accent1"/>
                </a:solidFill>
              </a:rPr>
              <a:t>het onthaal</a:t>
            </a:r>
            <a:endParaRPr lang="en-US" sz="900" dirty="0"/>
          </a:p>
        </p:txBody>
      </p:sp>
      <p:sp>
        <p:nvSpPr>
          <p:cNvPr id="17" name="Shape 12"/>
          <p:cNvSpPr/>
          <p:nvPr/>
        </p:nvSpPr>
        <p:spPr>
          <a:xfrm>
            <a:off x="1476756" y="3507395"/>
            <a:ext cx="91440" cy="599115"/>
          </a:xfrm>
          <a:prstGeom prst="rect">
            <a:avLst/>
          </a:prstGeom>
          <a:solidFill>
            <a:srgbClr val="FFFFFF"/>
          </a:solidFill>
          <a:ln w="12700">
            <a:solidFill>
              <a:srgbClr val="FFFFFF">
                <a:alpha val="0"/>
              </a:srgbClr>
            </a:solidFill>
            <a:prstDash val="solid"/>
          </a:ln>
        </p:spPr>
      </p:sp>
      <p:sp>
        <p:nvSpPr>
          <p:cNvPr id="18" name="Shape 13"/>
          <p:cNvSpPr/>
          <p:nvPr/>
        </p:nvSpPr>
        <p:spPr>
          <a:xfrm>
            <a:off x="2336246" y="2023872"/>
            <a:ext cx="1148852" cy="1355141"/>
          </a:xfrm>
          <a:prstGeom prst="rect">
            <a:avLst/>
          </a:prstGeom>
          <a:solidFill>
            <a:srgbClr val="FFFFFF"/>
          </a:solidFill>
          <a:ln w="19050">
            <a:solidFill>
              <a:srgbClr val="17375E"/>
            </a:solidFill>
            <a:prstDash val="solid"/>
          </a:ln>
        </p:spPr>
      </p:sp>
      <p:sp>
        <p:nvSpPr>
          <p:cNvPr id="19" name="Shape 14"/>
          <p:cNvSpPr/>
          <p:nvPr/>
        </p:nvSpPr>
        <p:spPr>
          <a:xfrm>
            <a:off x="2738345" y="3342437"/>
            <a:ext cx="344656" cy="73152"/>
          </a:xfrm>
          <a:prstGeom prst="rect">
            <a:avLst/>
          </a:prstGeom>
          <a:solidFill>
            <a:srgbClr val="EEF1F6"/>
          </a:solidFill>
          <a:ln w="12700">
            <a:solidFill>
              <a:srgbClr val="FFFFFF">
                <a:alpha val="0"/>
              </a:srgbClr>
            </a:solidFill>
            <a:prstDash val="solid"/>
          </a:ln>
        </p:spPr>
      </p:sp>
      <p:pic>
        <p:nvPicPr>
          <p:cNvPr id="20" name="Image 2" descr="busts in silhouette">    </p:cNvPr>
          <p:cNvPicPr>
            <a:picLocks noChangeAspect="1"/>
          </p:cNvPicPr>
          <p:nvPr/>
        </p:nvPicPr>
        <p:blipFill>
          <a:blip r:embed="rId3">
            <a:alphaModFix amt="70000"/>
          </a:blip>
          <a:stretch>
            <a:fillRect/>
          </a:stretch>
        </p:blipFill>
        <p:spPr>
          <a:xfrm>
            <a:off x="2736936" y="2115312"/>
            <a:ext cx="347472" cy="347472"/>
          </a:xfrm>
          <a:prstGeom prst="rect">
            <a:avLst/>
          </a:prstGeom>
        </p:spPr>
      </p:pic>
      <p:sp>
        <p:nvSpPr>
          <p:cNvPr id="21" name="Shape 15"/>
          <p:cNvSpPr/>
          <p:nvPr/>
        </p:nvSpPr>
        <p:spPr>
          <a:xfrm>
            <a:off x="3485098" y="2023872"/>
            <a:ext cx="1148852" cy="1355141"/>
          </a:xfrm>
          <a:prstGeom prst="rect">
            <a:avLst/>
          </a:prstGeom>
          <a:solidFill>
            <a:srgbClr val="FFFFFF"/>
          </a:solidFill>
          <a:ln w="19050">
            <a:solidFill>
              <a:srgbClr val="17375E"/>
            </a:solidFill>
            <a:prstDash val="solid"/>
          </a:ln>
        </p:spPr>
      </p:sp>
      <p:sp>
        <p:nvSpPr>
          <p:cNvPr id="22" name="Shape 16"/>
          <p:cNvSpPr/>
          <p:nvPr/>
        </p:nvSpPr>
        <p:spPr>
          <a:xfrm>
            <a:off x="3887197" y="3342437"/>
            <a:ext cx="344656" cy="73152"/>
          </a:xfrm>
          <a:prstGeom prst="rect">
            <a:avLst/>
          </a:prstGeom>
          <a:solidFill>
            <a:srgbClr val="EEF1F6"/>
          </a:solidFill>
          <a:ln w="12700">
            <a:solidFill>
              <a:srgbClr val="FFFFFF">
                <a:alpha val="0"/>
              </a:srgbClr>
            </a:solidFill>
            <a:prstDash val="solid"/>
          </a:ln>
        </p:spPr>
      </p:sp>
      <p:pic>
        <p:nvPicPr>
          <p:cNvPr id="23" name="Image 3" descr="printer">    </p:cNvPr>
          <p:cNvPicPr>
            <a:picLocks noChangeAspect="1"/>
          </p:cNvPicPr>
          <p:nvPr/>
        </p:nvPicPr>
        <p:blipFill>
          <a:blip r:embed="rId4"/>
          <a:stretch>
            <a:fillRect/>
          </a:stretch>
        </p:blipFill>
        <p:spPr>
          <a:xfrm>
            <a:off x="3885789" y="2115312"/>
            <a:ext cx="347472" cy="347472"/>
          </a:xfrm>
          <a:prstGeom prst="rect">
            <a:avLst/>
          </a:prstGeom>
        </p:spPr>
      </p:pic>
      <p:sp>
        <p:nvSpPr>
          <p:cNvPr id="24" name="Text 17"/>
          <p:cNvSpPr txBox="1"/>
          <p:nvPr/>
        </p:nvSpPr>
        <p:spPr>
          <a:xfrm>
            <a:off x="3521674" y="2462784"/>
            <a:ext cx="1075700" cy="852221"/>
          </a:xfrm>
          <a:prstGeom prst="rect">
            <a:avLst/>
          </a:prstGeom>
          <a:noFill/>
          <a:ln/>
        </p:spPr>
        <p:txBody>
          <a:bodyPr wrap="square" lIns="0" tIns="0" rIns="0" bIns="0" rtlCol="0" anchor="ctr"/>
          <a:lstStyle/>
          <a:p>
            <a:pPr algn="ctr" indent="0" marL="0">
              <a:buNone/>
            </a:pPr>
            <a:r>
              <a:rPr lang="en-US" sz="1000" dirty="0">
                <a:solidFill>
                  <a:schemeClr val="tx1"/>
                </a:solidFill>
              </a:rPr>
              <a:t>het kopieerlokaal</a:t>
            </a:r>
            <a:endParaRPr lang="en-US" sz="1000" dirty="0"/>
          </a:p>
        </p:txBody>
      </p:sp>
      <p:sp>
        <p:nvSpPr>
          <p:cNvPr id="25" name="Shape 18"/>
          <p:cNvSpPr/>
          <p:nvPr/>
        </p:nvSpPr>
        <p:spPr>
          <a:xfrm>
            <a:off x="4633951" y="2023872"/>
            <a:ext cx="1148852" cy="1355141"/>
          </a:xfrm>
          <a:prstGeom prst="rect">
            <a:avLst/>
          </a:prstGeom>
          <a:solidFill>
            <a:srgbClr val="FFFFFF"/>
          </a:solidFill>
          <a:ln w="19050">
            <a:solidFill>
              <a:srgbClr val="17375E"/>
            </a:solidFill>
            <a:prstDash val="solid"/>
          </a:ln>
        </p:spPr>
      </p:sp>
      <p:sp>
        <p:nvSpPr>
          <p:cNvPr id="26" name="Shape 19"/>
          <p:cNvSpPr/>
          <p:nvPr/>
        </p:nvSpPr>
        <p:spPr>
          <a:xfrm>
            <a:off x="5036049" y="3342437"/>
            <a:ext cx="344656" cy="73152"/>
          </a:xfrm>
          <a:prstGeom prst="rect">
            <a:avLst/>
          </a:prstGeom>
          <a:solidFill>
            <a:srgbClr val="EEF1F6"/>
          </a:solidFill>
          <a:ln w="12700">
            <a:solidFill>
              <a:srgbClr val="FFFFFF">
                <a:alpha val="0"/>
              </a:srgbClr>
            </a:solidFill>
            <a:prstDash val="solid"/>
          </a:ln>
        </p:spPr>
      </p:sp>
      <p:pic>
        <p:nvPicPr>
          <p:cNvPr id="27" name="Image 4" descr="toilet">    </p:cNvPr>
          <p:cNvPicPr>
            <a:picLocks noChangeAspect="1"/>
          </p:cNvPicPr>
          <p:nvPr/>
        </p:nvPicPr>
        <p:blipFill>
          <a:blip r:embed="rId5">
            <a:alphaModFix amt="70000"/>
          </a:blip>
          <a:stretch>
            <a:fillRect/>
          </a:stretch>
        </p:blipFill>
        <p:spPr>
          <a:xfrm>
            <a:off x="5034641" y="2115312"/>
            <a:ext cx="347472" cy="347472"/>
          </a:xfrm>
          <a:prstGeom prst="rect">
            <a:avLst/>
          </a:prstGeom>
        </p:spPr>
      </p:pic>
      <p:sp>
        <p:nvSpPr>
          <p:cNvPr id="28" name="Shape 20"/>
          <p:cNvSpPr/>
          <p:nvPr/>
        </p:nvSpPr>
        <p:spPr>
          <a:xfrm>
            <a:off x="2336246" y="4234891"/>
            <a:ext cx="1148852" cy="1355141"/>
          </a:xfrm>
          <a:prstGeom prst="rect">
            <a:avLst/>
          </a:prstGeom>
          <a:solidFill>
            <a:srgbClr val="FFFFFF"/>
          </a:solidFill>
          <a:ln w="19050">
            <a:solidFill>
              <a:srgbClr val="17375E"/>
            </a:solidFill>
            <a:prstDash val="solid"/>
          </a:ln>
        </p:spPr>
      </p:sp>
      <p:sp>
        <p:nvSpPr>
          <p:cNvPr id="29" name="Shape 21"/>
          <p:cNvSpPr/>
          <p:nvPr/>
        </p:nvSpPr>
        <p:spPr>
          <a:xfrm>
            <a:off x="2738345" y="4198315"/>
            <a:ext cx="344656" cy="73152"/>
          </a:xfrm>
          <a:prstGeom prst="rect">
            <a:avLst/>
          </a:prstGeom>
          <a:solidFill>
            <a:srgbClr val="EEF1F6"/>
          </a:solidFill>
          <a:ln w="12700">
            <a:solidFill>
              <a:srgbClr val="FFFFFF">
                <a:alpha val="0"/>
              </a:srgbClr>
            </a:solidFill>
            <a:prstDash val="solid"/>
          </a:ln>
        </p:spPr>
      </p:sp>
      <p:pic>
        <p:nvPicPr>
          <p:cNvPr id="30" name="Image 5" descr="desktop computer">    </p:cNvPr>
          <p:cNvPicPr>
            <a:picLocks noChangeAspect="1"/>
          </p:cNvPicPr>
          <p:nvPr/>
        </p:nvPicPr>
        <p:blipFill>
          <a:blip r:embed="rId6">
            <a:alphaModFix amt="70000"/>
          </a:blip>
          <a:stretch>
            <a:fillRect/>
          </a:stretch>
        </p:blipFill>
        <p:spPr>
          <a:xfrm>
            <a:off x="2736936" y="5151120"/>
            <a:ext cx="347472" cy="347472"/>
          </a:xfrm>
          <a:prstGeom prst="rect">
            <a:avLst/>
          </a:prstGeom>
        </p:spPr>
      </p:pic>
      <p:sp>
        <p:nvSpPr>
          <p:cNvPr id="31" name="Shape 22"/>
          <p:cNvSpPr/>
          <p:nvPr/>
        </p:nvSpPr>
        <p:spPr>
          <a:xfrm>
            <a:off x="3485098" y="4234891"/>
            <a:ext cx="1148852" cy="1355141"/>
          </a:xfrm>
          <a:prstGeom prst="rect">
            <a:avLst/>
          </a:prstGeom>
          <a:solidFill>
            <a:srgbClr val="FFFFFF"/>
          </a:solidFill>
          <a:ln w="19050">
            <a:solidFill>
              <a:srgbClr val="17375E"/>
            </a:solidFill>
            <a:prstDash val="solid"/>
          </a:ln>
        </p:spPr>
      </p:sp>
      <p:sp>
        <p:nvSpPr>
          <p:cNvPr id="32" name="Shape 23"/>
          <p:cNvSpPr/>
          <p:nvPr/>
        </p:nvSpPr>
        <p:spPr>
          <a:xfrm>
            <a:off x="3887197" y="4198315"/>
            <a:ext cx="344656" cy="73152"/>
          </a:xfrm>
          <a:prstGeom prst="rect">
            <a:avLst/>
          </a:prstGeom>
          <a:solidFill>
            <a:srgbClr val="EEF1F6"/>
          </a:solidFill>
          <a:ln w="12700">
            <a:solidFill>
              <a:srgbClr val="FFFFFF">
                <a:alpha val="0"/>
              </a:srgbClr>
            </a:solidFill>
            <a:prstDash val="solid"/>
          </a:ln>
        </p:spPr>
      </p:sp>
      <p:pic>
        <p:nvPicPr>
          <p:cNvPr id="33" name="Image 6" descr="hot beverage">    </p:cNvPr>
          <p:cNvPicPr>
            <a:picLocks noChangeAspect="1"/>
          </p:cNvPicPr>
          <p:nvPr/>
        </p:nvPicPr>
        <p:blipFill>
          <a:blip r:embed="rId7">
            <a:alphaModFix amt="70000"/>
          </a:blip>
          <a:stretch>
            <a:fillRect/>
          </a:stretch>
        </p:blipFill>
        <p:spPr>
          <a:xfrm>
            <a:off x="3885789" y="5151120"/>
            <a:ext cx="347472" cy="347472"/>
          </a:xfrm>
          <a:prstGeom prst="rect">
            <a:avLst/>
          </a:prstGeom>
        </p:spPr>
      </p:pic>
      <p:sp>
        <p:nvSpPr>
          <p:cNvPr id="34" name="Shape 24"/>
          <p:cNvSpPr/>
          <p:nvPr/>
        </p:nvSpPr>
        <p:spPr>
          <a:xfrm>
            <a:off x="4633951" y="4234891"/>
            <a:ext cx="1148852" cy="1355141"/>
          </a:xfrm>
          <a:prstGeom prst="rect">
            <a:avLst/>
          </a:prstGeom>
          <a:solidFill>
            <a:srgbClr val="FFFFFF"/>
          </a:solidFill>
          <a:ln w="19050">
            <a:solidFill>
              <a:srgbClr val="17375E"/>
            </a:solidFill>
            <a:prstDash val="solid"/>
          </a:ln>
        </p:spPr>
      </p:sp>
      <p:sp>
        <p:nvSpPr>
          <p:cNvPr id="35" name="Shape 25"/>
          <p:cNvSpPr/>
          <p:nvPr/>
        </p:nvSpPr>
        <p:spPr>
          <a:xfrm>
            <a:off x="5036049" y="4198315"/>
            <a:ext cx="344656" cy="73152"/>
          </a:xfrm>
          <a:prstGeom prst="rect">
            <a:avLst/>
          </a:prstGeom>
          <a:solidFill>
            <a:srgbClr val="EEF1F6"/>
          </a:solidFill>
          <a:ln w="12700">
            <a:solidFill>
              <a:srgbClr val="FFFFFF">
                <a:alpha val="0"/>
              </a:srgbClr>
            </a:solidFill>
            <a:prstDash val="solid"/>
          </a:ln>
        </p:spPr>
      </p:sp>
      <p:pic>
        <p:nvPicPr>
          <p:cNvPr id="36" name="Image 7" descr="fork and knife with plate">    </p:cNvPr>
          <p:cNvPicPr>
            <a:picLocks noChangeAspect="1"/>
          </p:cNvPicPr>
          <p:nvPr/>
        </p:nvPicPr>
        <p:blipFill>
          <a:blip r:embed="rId8">
            <a:alphaModFix amt="70000"/>
          </a:blip>
          <a:stretch>
            <a:fillRect/>
          </a:stretch>
        </p:blipFill>
        <p:spPr>
          <a:xfrm>
            <a:off x="5034641" y="5151120"/>
            <a:ext cx="347472" cy="347472"/>
          </a:xfrm>
          <a:prstGeom prst="rect">
            <a:avLst/>
          </a:prstGeom>
        </p:spPr>
      </p:pic>
      <p:sp>
        <p:nvSpPr>
          <p:cNvPr id="37" name="Shape 26"/>
          <p:cNvSpPr/>
          <p:nvPr/>
        </p:nvSpPr>
        <p:spPr>
          <a:xfrm>
            <a:off x="5782803" y="2023872"/>
            <a:ext cx="526557" cy="1783080"/>
          </a:xfrm>
          <a:prstGeom prst="rect">
            <a:avLst/>
          </a:prstGeom>
          <a:solidFill>
            <a:srgbClr val="FFFFFF"/>
          </a:solidFill>
          <a:ln w="19050">
            <a:solidFill>
              <a:srgbClr val="17375E"/>
            </a:solidFill>
            <a:prstDash val="solid"/>
          </a:ln>
        </p:spPr>
      </p:sp>
      <p:sp>
        <p:nvSpPr>
          <p:cNvPr id="38" name="Shape 27"/>
          <p:cNvSpPr/>
          <p:nvPr/>
        </p:nvSpPr>
        <p:spPr>
          <a:xfrm>
            <a:off x="5828523" y="2278598"/>
            <a:ext cx="435117" cy="914"/>
          </a:xfrm>
          <a:prstGeom prst="line">
            <a:avLst/>
          </a:prstGeom>
          <a:noFill/>
          <a:ln w="12700">
            <a:solidFill>
              <a:srgbClr val="4A5A70"/>
            </a:solidFill>
            <a:prstDash val="solid"/>
          </a:ln>
        </p:spPr>
      </p:sp>
      <p:sp>
        <p:nvSpPr>
          <p:cNvPr id="39" name="Shape 28"/>
          <p:cNvSpPr/>
          <p:nvPr/>
        </p:nvSpPr>
        <p:spPr>
          <a:xfrm>
            <a:off x="5828523" y="2533323"/>
            <a:ext cx="435117" cy="914"/>
          </a:xfrm>
          <a:prstGeom prst="line">
            <a:avLst/>
          </a:prstGeom>
          <a:noFill/>
          <a:ln w="12700">
            <a:solidFill>
              <a:srgbClr val="4A5A70"/>
            </a:solidFill>
            <a:prstDash val="solid"/>
          </a:ln>
        </p:spPr>
      </p:sp>
      <p:sp>
        <p:nvSpPr>
          <p:cNvPr id="40" name="Shape 29"/>
          <p:cNvSpPr/>
          <p:nvPr/>
        </p:nvSpPr>
        <p:spPr>
          <a:xfrm>
            <a:off x="5828523" y="2788049"/>
            <a:ext cx="435117" cy="914"/>
          </a:xfrm>
          <a:prstGeom prst="line">
            <a:avLst/>
          </a:prstGeom>
          <a:noFill/>
          <a:ln w="12700">
            <a:solidFill>
              <a:srgbClr val="4A5A70"/>
            </a:solidFill>
            <a:prstDash val="solid"/>
          </a:ln>
        </p:spPr>
      </p:sp>
      <p:sp>
        <p:nvSpPr>
          <p:cNvPr id="41" name="Shape 30"/>
          <p:cNvSpPr/>
          <p:nvPr/>
        </p:nvSpPr>
        <p:spPr>
          <a:xfrm>
            <a:off x="5828523" y="3042775"/>
            <a:ext cx="435117" cy="914"/>
          </a:xfrm>
          <a:prstGeom prst="line">
            <a:avLst/>
          </a:prstGeom>
          <a:noFill/>
          <a:ln w="12700">
            <a:solidFill>
              <a:srgbClr val="4A5A70"/>
            </a:solidFill>
            <a:prstDash val="solid"/>
          </a:ln>
        </p:spPr>
      </p:sp>
      <p:sp>
        <p:nvSpPr>
          <p:cNvPr id="42" name="Shape 31"/>
          <p:cNvSpPr/>
          <p:nvPr/>
        </p:nvSpPr>
        <p:spPr>
          <a:xfrm>
            <a:off x="5828523" y="3297501"/>
            <a:ext cx="435117" cy="914"/>
          </a:xfrm>
          <a:prstGeom prst="line">
            <a:avLst/>
          </a:prstGeom>
          <a:noFill/>
          <a:ln w="12700">
            <a:solidFill>
              <a:srgbClr val="4A5A70"/>
            </a:solidFill>
            <a:prstDash val="solid"/>
          </a:ln>
        </p:spPr>
      </p:sp>
      <p:sp>
        <p:nvSpPr>
          <p:cNvPr id="43" name="Shape 32"/>
          <p:cNvSpPr/>
          <p:nvPr/>
        </p:nvSpPr>
        <p:spPr>
          <a:xfrm>
            <a:off x="5828523" y="3552226"/>
            <a:ext cx="435117" cy="914"/>
          </a:xfrm>
          <a:prstGeom prst="line">
            <a:avLst/>
          </a:prstGeom>
          <a:noFill/>
          <a:ln w="12700">
            <a:solidFill>
              <a:srgbClr val="4A5A70"/>
            </a:solidFill>
            <a:prstDash val="solid"/>
          </a:ln>
        </p:spPr>
      </p:sp>
      <p:sp>
        <p:nvSpPr>
          <p:cNvPr id="44" name="Shape 33"/>
          <p:cNvSpPr/>
          <p:nvPr/>
        </p:nvSpPr>
        <p:spPr>
          <a:xfrm>
            <a:off x="5782803" y="3806952"/>
            <a:ext cx="526557" cy="1783080"/>
          </a:xfrm>
          <a:prstGeom prst="rect">
            <a:avLst/>
          </a:prstGeom>
          <a:solidFill>
            <a:srgbClr val="F1EBF8"/>
          </a:solidFill>
          <a:ln w="19050">
            <a:solidFill>
              <a:srgbClr val="17375E"/>
            </a:solidFill>
            <a:prstDash val="solid"/>
          </a:ln>
        </p:spPr>
      </p:sp>
      <p:pic>
        <p:nvPicPr>
          <p:cNvPr id="45" name="Image 8" descr="elevator">    </p:cNvPr>
          <p:cNvPicPr>
            <a:picLocks noChangeAspect="1"/>
          </p:cNvPicPr>
          <p:nvPr/>
        </p:nvPicPr>
        <p:blipFill>
          <a:blip r:embed="rId9"/>
          <a:stretch>
            <a:fillRect/>
          </a:stretch>
        </p:blipFill>
        <p:spPr>
          <a:xfrm>
            <a:off x="5872345" y="3898392"/>
            <a:ext cx="347472" cy="347472"/>
          </a:xfrm>
          <a:prstGeom prst="rect">
            <a:avLst/>
          </a:prstGeom>
        </p:spPr>
      </p:pic>
      <p:sp>
        <p:nvSpPr>
          <p:cNvPr id="46" name="Text 34"/>
          <p:cNvSpPr txBox="1"/>
          <p:nvPr/>
        </p:nvSpPr>
        <p:spPr>
          <a:xfrm>
            <a:off x="5782803" y="3422904"/>
            <a:ext cx="526557" cy="347472"/>
          </a:xfrm>
          <a:prstGeom prst="rect">
            <a:avLst/>
          </a:prstGeom>
          <a:noFill/>
          <a:ln/>
        </p:spPr>
        <p:txBody>
          <a:bodyPr wrap="square" lIns="0" tIns="0" rIns="0" bIns="0" rtlCol="0" anchor="ctr"/>
          <a:lstStyle/>
          <a:p>
            <a:pPr algn="ctr" indent="0" marL="0">
              <a:buNone/>
            </a:pPr>
            <a:r>
              <a:rPr lang="en-US" sz="900" b="1" dirty="0">
                <a:solidFill>
                  <a:schemeClr val="tx2"/>
                </a:solidFill>
              </a:rPr>
              <a:t>de trap</a:t>
            </a:r>
            <a:endParaRPr lang="en-US" sz="900" dirty="0"/>
          </a:p>
        </p:txBody>
      </p:sp>
      <p:sp>
        <p:nvSpPr>
          <p:cNvPr id="47" name="Text 35"/>
          <p:cNvSpPr txBox="1"/>
          <p:nvPr/>
        </p:nvSpPr>
        <p:spPr>
          <a:xfrm>
            <a:off x="5782803" y="5178552"/>
            <a:ext cx="526557" cy="365760"/>
          </a:xfrm>
          <a:prstGeom prst="rect">
            <a:avLst/>
          </a:prstGeom>
          <a:noFill/>
          <a:ln/>
        </p:spPr>
        <p:txBody>
          <a:bodyPr wrap="square" lIns="0" tIns="0" rIns="0" bIns="0" rtlCol="0" anchor="ctr"/>
          <a:lstStyle/>
          <a:p>
            <a:pPr algn="ctr" indent="0" marL="0">
              <a:buNone/>
            </a:pPr>
            <a:r>
              <a:rPr lang="en-US" sz="900" b="1" dirty="0">
                <a:solidFill>
                  <a:schemeClr val="tx2"/>
                </a:solidFill>
              </a:rPr>
              <a:t>de lift</a:t>
            </a:r>
            <a:endParaRPr lang="en-US" sz="900" dirty="0"/>
          </a:p>
        </p:txBody>
      </p:sp>
      <p:sp>
        <p:nvSpPr>
          <p:cNvPr id="48" name="tag"/>
          <p:cNvSpPr/>
          <p:nvPr/>
        </p:nvSpPr>
        <p:spPr>
          <a:xfrm>
            <a:off x="1019556" y="4099560"/>
            <a:ext cx="1354836" cy="274320"/>
          </a:xfrm>
          <a:prstGeom prst="roundRect">
            <a:avLst>
              <a:gd name="adj" fmla="val 16667"/>
            </a:avLst>
          </a:prstGeom>
          <a:solidFill>
            <a:schemeClr val="accent6"/>
          </a:solidFill>
          <a:ln/>
        </p:spPr>
        <p:txBody>
          <a:bodyPr wrap="square" lIns="0" tIns="0" rIns="0" bIns="0" rtlCol="0" anchor="ctr"/>
          <a:lstStyle/>
          <a:p>
            <a:pPr algn="ctr" indent="0" marL="0">
              <a:buNone/>
            </a:pPr>
            <a:r>
              <a:rPr lang="en-US" sz="1000" b="1" spc="100" kern="0" dirty="0">
                <a:solidFill>
                  <a:srgbClr val="FFFFFF"/>
                </a:solidFill>
              </a:rPr>
              <a:t>U bent hier</a:t>
            </a:r>
            <a:endParaRPr lang="en-US" sz="1000" dirty="0"/>
          </a:p>
        </p:txBody>
      </p:sp>
      <p:sp>
        <p:nvSpPr>
          <p:cNvPr id="49" name="Text 37"/>
          <p:cNvSpPr txBox="1"/>
          <p:nvPr/>
        </p:nvSpPr>
        <p:spPr>
          <a:xfrm>
            <a:off x="548640" y="5681472"/>
            <a:ext cx="5760720" cy="320040"/>
          </a:xfrm>
          <a:prstGeom prst="rect">
            <a:avLst/>
          </a:prstGeom>
          <a:noFill/>
          <a:ln/>
        </p:spPr>
        <p:txBody>
          <a:bodyPr wrap="square" lIns="0" tIns="0" rIns="0" bIns="0" rtlCol="0" anchor="t"/>
          <a:lstStyle/>
          <a:p>
            <a:pPr algn="ctr" indent="0" marL="0">
              <a:buNone/>
            </a:pPr>
            <a:r>
              <a:rPr lang="en-US" sz="1200" i="1" dirty="0">
                <a:solidFill>
                  <a:schemeClr val="accent5"/>
                </a:solidFill>
              </a:rPr>
              <a:t>↑ links · ↓ rechts (en marchant dans le couloir)</a:t>
            </a:r>
            <a:endParaRPr lang="en-US" sz="1200" dirty="0"/>
          </a:p>
        </p:txBody>
      </p:sp>
      <p:sp>
        <p:nvSpPr>
          <p:cNvPr id="50" name="Shape 38"/>
          <p:cNvSpPr/>
          <p:nvPr/>
        </p:nvSpPr>
        <p:spPr>
          <a:xfrm>
            <a:off x="6537960" y="2042160"/>
            <a:ext cx="347472" cy="347472"/>
          </a:xfrm>
          <a:prstGeom prst="ellipse">
            <a:avLst/>
          </a:prstGeom>
          <a:solidFill>
            <a:schemeClr val="tx2"/>
          </a:solidFill>
          <a:ln w="12700">
            <a:solidFill>
              <a:srgbClr val="FFFFFF">
                <a:alpha val="0"/>
              </a:srgbClr>
            </a:solidFill>
            <a:prstDash val="solid"/>
          </a:ln>
        </p:spPr>
      </p:sp>
      <p:sp>
        <p:nvSpPr>
          <p:cNvPr id="51" name="Text 39"/>
          <p:cNvSpPr txBox="1"/>
          <p:nvPr/>
        </p:nvSpPr>
        <p:spPr>
          <a:xfrm>
            <a:off x="6537960" y="20421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2" name="Text 40"/>
          <p:cNvSpPr txBox="1"/>
          <p:nvPr/>
        </p:nvSpPr>
        <p:spPr>
          <a:xfrm>
            <a:off x="6995160" y="195072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het onthaal voorbij en de gang in. U gaat de eerste deur links binnen.</a:t>
            </a:r>
            <a:endParaRPr lang="en-US" sz="1400" dirty="0"/>
          </a:p>
        </p:txBody>
      </p:sp>
      <p:sp>
        <p:nvSpPr>
          <p:cNvPr id="53" name="Shape 41"/>
          <p:cNvSpPr/>
          <p:nvPr/>
        </p:nvSpPr>
        <p:spPr>
          <a:xfrm>
            <a:off x="6995160" y="2583180"/>
            <a:ext cx="4645152" cy="365760"/>
          </a:xfrm>
          <a:prstGeom prst="roundRect">
            <a:avLst>
              <a:gd name="adj" fmla="val 15000"/>
            </a:avLst>
          </a:prstGeom>
          <a:solidFill>
            <a:srgbClr val="FFFFFF"/>
          </a:solidFill>
          <a:ln w="12700">
            <a:solidFill>
              <a:srgbClr val="D5DCE6"/>
            </a:solidFill>
            <a:prstDash val="solid"/>
          </a:ln>
        </p:spPr>
      </p:sp>
      <p:sp>
        <p:nvSpPr>
          <p:cNvPr id="54" name="Shape 42"/>
          <p:cNvSpPr/>
          <p:nvPr/>
        </p:nvSpPr>
        <p:spPr>
          <a:xfrm>
            <a:off x="6537960" y="3131820"/>
            <a:ext cx="347472" cy="347472"/>
          </a:xfrm>
          <a:prstGeom prst="ellipse">
            <a:avLst/>
          </a:prstGeom>
          <a:solidFill>
            <a:schemeClr val="tx2"/>
          </a:solidFill>
          <a:ln w="12700">
            <a:solidFill>
              <a:srgbClr val="FFFFFF">
                <a:alpha val="0"/>
              </a:srgbClr>
            </a:solidFill>
            <a:prstDash val="solid"/>
          </a:ln>
        </p:spPr>
      </p:sp>
      <p:sp>
        <p:nvSpPr>
          <p:cNvPr id="55" name="Text 43"/>
          <p:cNvSpPr txBox="1"/>
          <p:nvPr/>
        </p:nvSpPr>
        <p:spPr>
          <a:xfrm>
            <a:off x="6537960" y="313182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56" name="Text 44"/>
          <p:cNvSpPr txBox="1"/>
          <p:nvPr/>
        </p:nvSpPr>
        <p:spPr>
          <a:xfrm>
            <a:off x="6995160" y="304038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de gang in en u gaat de tweede deur rechts binnen.</a:t>
            </a:r>
            <a:endParaRPr lang="en-US" sz="1400" dirty="0"/>
          </a:p>
        </p:txBody>
      </p:sp>
      <p:sp>
        <p:nvSpPr>
          <p:cNvPr id="57" name="Shape 45"/>
          <p:cNvSpPr/>
          <p:nvPr/>
        </p:nvSpPr>
        <p:spPr>
          <a:xfrm>
            <a:off x="6995160" y="3672840"/>
            <a:ext cx="4645152" cy="365760"/>
          </a:xfrm>
          <a:prstGeom prst="roundRect">
            <a:avLst>
              <a:gd name="adj" fmla="val 15000"/>
            </a:avLst>
          </a:prstGeom>
          <a:solidFill>
            <a:srgbClr val="FFFFFF"/>
          </a:solidFill>
          <a:ln w="12700">
            <a:solidFill>
              <a:srgbClr val="D5DCE6"/>
            </a:solidFill>
            <a:prstDash val="solid"/>
          </a:ln>
        </p:spPr>
      </p:sp>
      <p:sp>
        <p:nvSpPr>
          <p:cNvPr id="58" name="Shape 46"/>
          <p:cNvSpPr/>
          <p:nvPr/>
        </p:nvSpPr>
        <p:spPr>
          <a:xfrm>
            <a:off x="6537960" y="4221480"/>
            <a:ext cx="347472" cy="347472"/>
          </a:xfrm>
          <a:prstGeom prst="ellipse">
            <a:avLst/>
          </a:prstGeom>
          <a:solidFill>
            <a:schemeClr val="tx2"/>
          </a:solidFill>
          <a:ln w="12700">
            <a:solidFill>
              <a:srgbClr val="FFFFFF">
                <a:alpha val="0"/>
              </a:srgbClr>
            </a:solidFill>
            <a:prstDash val="solid"/>
          </a:ln>
        </p:spPr>
      </p:sp>
      <p:sp>
        <p:nvSpPr>
          <p:cNvPr id="59" name="Text 47"/>
          <p:cNvSpPr txBox="1"/>
          <p:nvPr/>
        </p:nvSpPr>
        <p:spPr>
          <a:xfrm>
            <a:off x="6537960" y="4221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60" name="Text 48"/>
          <p:cNvSpPr txBox="1"/>
          <p:nvPr/>
        </p:nvSpPr>
        <p:spPr>
          <a:xfrm>
            <a:off x="6995160" y="413004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de gang in, het kopieerlokaal voorbij, en u gaat de laatste deur links binnen.</a:t>
            </a:r>
            <a:endParaRPr lang="en-US" sz="1400" dirty="0"/>
          </a:p>
        </p:txBody>
      </p:sp>
      <p:sp>
        <p:nvSpPr>
          <p:cNvPr id="61" name="Shape 49"/>
          <p:cNvSpPr/>
          <p:nvPr/>
        </p:nvSpPr>
        <p:spPr>
          <a:xfrm>
            <a:off x="6995160" y="4762500"/>
            <a:ext cx="4645152" cy="365760"/>
          </a:xfrm>
          <a:prstGeom prst="roundRect">
            <a:avLst>
              <a:gd name="adj" fmla="val 15000"/>
            </a:avLst>
          </a:prstGeom>
          <a:solidFill>
            <a:srgbClr val="FFFFFF"/>
          </a:solidFill>
          <a:ln w="12700">
            <a:solidFill>
              <a:srgbClr val="D5DCE6"/>
            </a:solidFill>
            <a:prstDash val="solid"/>
          </a:ln>
        </p:spPr>
      </p:sp>
      <p:sp>
        <p:nvSpPr>
          <p:cNvPr id="62" name="Shape 50"/>
          <p:cNvSpPr/>
          <p:nvPr/>
        </p:nvSpPr>
        <p:spPr>
          <a:xfrm>
            <a:off x="6537960" y="5311140"/>
            <a:ext cx="347472" cy="347472"/>
          </a:xfrm>
          <a:prstGeom prst="ellipse">
            <a:avLst/>
          </a:prstGeom>
          <a:solidFill>
            <a:schemeClr val="tx2"/>
          </a:solidFill>
          <a:ln w="12700">
            <a:solidFill>
              <a:srgbClr val="FFFFFF">
                <a:alpha val="0"/>
              </a:srgbClr>
            </a:solidFill>
            <a:prstDash val="solid"/>
          </a:ln>
        </p:spPr>
      </p:sp>
      <p:sp>
        <p:nvSpPr>
          <p:cNvPr id="63" name="Text 51"/>
          <p:cNvSpPr txBox="1"/>
          <p:nvPr/>
        </p:nvSpPr>
        <p:spPr>
          <a:xfrm>
            <a:off x="6537960" y="531114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64" name="Text 52"/>
          <p:cNvSpPr txBox="1"/>
          <p:nvPr/>
        </p:nvSpPr>
        <p:spPr>
          <a:xfrm>
            <a:off x="6995160" y="521970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de gang door tot het einde en u loopt de trap op.</a:t>
            </a:r>
            <a:endParaRPr lang="en-US" sz="1400" dirty="0"/>
          </a:p>
        </p:txBody>
      </p:sp>
      <p:sp>
        <p:nvSpPr>
          <p:cNvPr id="65" name="Shape 53"/>
          <p:cNvSpPr/>
          <p:nvPr/>
        </p:nvSpPr>
        <p:spPr>
          <a:xfrm>
            <a:off x="6995160" y="5852160"/>
            <a:ext cx="4645152" cy="365760"/>
          </a:xfrm>
          <a:prstGeom prst="roundRect">
            <a:avLst>
              <a:gd name="adj" fmla="val 15000"/>
            </a:avLst>
          </a:prstGeom>
          <a:solidFill>
            <a:srgbClr val="FFFFFF"/>
          </a:solidFill>
          <a:ln w="12700">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Waar ben ik?</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Suivez l’itinéraire sur le plan. Dans quelle pièce arrivez-vous ?</a:t>
            </a:r>
            <a:endParaRPr lang="en-US" sz="1700" dirty="0"/>
          </a:p>
        </p:txBody>
      </p:sp>
      <p:sp>
        <p:nvSpPr>
          <p:cNvPr id="9" name="Shape 5"/>
          <p:cNvSpPr/>
          <p:nvPr/>
        </p:nvSpPr>
        <p:spPr>
          <a:xfrm>
            <a:off x="548640" y="3272028"/>
            <a:ext cx="864108" cy="2318004"/>
          </a:xfrm>
          <a:prstGeom prst="roundRect">
            <a:avLst>
              <a:gd name="adj" fmla="val 4233"/>
            </a:avLst>
          </a:prstGeom>
          <a:solidFill>
            <a:srgbClr val="E6EBF2"/>
          </a:solidFill>
          <a:ln w="12700">
            <a:solidFill>
              <a:srgbClr val="4A5A70"/>
            </a:solidFill>
            <a:prstDash val="dash"/>
          </a:ln>
        </p:spPr>
      </p:sp>
      <p:pic>
        <p:nvPicPr>
          <p:cNvPr id="10" name="Image 1" descr="p button">    </p:cNvPr>
          <p:cNvPicPr>
            <a:picLocks noChangeAspect="1"/>
          </p:cNvPicPr>
          <p:nvPr/>
        </p:nvPicPr>
        <p:blipFill>
          <a:blip r:embed="rId2"/>
          <a:stretch>
            <a:fillRect/>
          </a:stretch>
        </p:blipFill>
        <p:spPr>
          <a:xfrm>
            <a:off x="797814" y="3521659"/>
            <a:ext cx="365760" cy="365760"/>
          </a:xfrm>
          <a:prstGeom prst="rect">
            <a:avLst/>
          </a:prstGeom>
        </p:spPr>
      </p:pic>
      <p:sp>
        <p:nvSpPr>
          <p:cNvPr id="11" name="Text 6"/>
          <p:cNvSpPr txBox="1"/>
          <p:nvPr/>
        </p:nvSpPr>
        <p:spPr>
          <a:xfrm>
            <a:off x="548640" y="3905707"/>
            <a:ext cx="864108" cy="457200"/>
          </a:xfrm>
          <a:prstGeom prst="rect">
            <a:avLst/>
          </a:prstGeom>
          <a:noFill/>
          <a:ln/>
        </p:spPr>
        <p:txBody>
          <a:bodyPr wrap="square" lIns="0" tIns="0" rIns="0" bIns="0" rtlCol="0" anchor="t"/>
          <a:lstStyle/>
          <a:p>
            <a:pPr algn="ctr" indent="0" marL="0">
              <a:buNone/>
            </a:pPr>
            <a:r>
              <a:rPr lang="en-US" sz="900" i="1" dirty="0">
                <a:solidFill>
                  <a:schemeClr val="accent5"/>
                </a:solidFill>
              </a:rPr>
              <a:t>de parking</a:t>
            </a:r>
            <a:endParaRPr lang="en-US" sz="900" dirty="0"/>
          </a:p>
        </p:txBody>
      </p:sp>
      <p:sp>
        <p:nvSpPr>
          <p:cNvPr id="12" name="Shape 7"/>
          <p:cNvSpPr/>
          <p:nvPr/>
        </p:nvSpPr>
        <p:spPr>
          <a:xfrm>
            <a:off x="1522476" y="2023872"/>
            <a:ext cx="4786884" cy="3566160"/>
          </a:xfrm>
          <a:prstGeom prst="rect">
            <a:avLst/>
          </a:prstGeom>
          <a:solidFill>
            <a:srgbClr val="FFFFFF"/>
          </a:solidFill>
          <a:ln w="31750">
            <a:solidFill>
              <a:srgbClr val="17375E"/>
            </a:solidFill>
            <a:prstDash val="solid"/>
          </a:ln>
        </p:spPr>
      </p:sp>
      <p:sp>
        <p:nvSpPr>
          <p:cNvPr id="13" name="Shape 8"/>
          <p:cNvSpPr/>
          <p:nvPr/>
        </p:nvSpPr>
        <p:spPr>
          <a:xfrm>
            <a:off x="2336246" y="3379013"/>
            <a:ext cx="3973114" cy="855878"/>
          </a:xfrm>
          <a:prstGeom prst="rect">
            <a:avLst/>
          </a:prstGeom>
          <a:solidFill>
            <a:srgbClr val="EEF1F6"/>
          </a:solidFill>
          <a:ln w="12700">
            <a:solidFill>
              <a:srgbClr val="FFFFFF">
                <a:alpha val="0"/>
              </a:srgbClr>
            </a:solidFill>
            <a:prstDash val="solid"/>
          </a:ln>
        </p:spPr>
      </p:sp>
      <p:sp>
        <p:nvSpPr>
          <p:cNvPr id="14" name="Text 9"/>
          <p:cNvSpPr txBox="1"/>
          <p:nvPr/>
        </p:nvSpPr>
        <p:spPr>
          <a:xfrm>
            <a:off x="3485098" y="3379013"/>
            <a:ext cx="1148852" cy="855878"/>
          </a:xfrm>
          <a:prstGeom prst="rect">
            <a:avLst/>
          </a:prstGeom>
          <a:noFill/>
          <a:ln/>
        </p:spPr>
        <p:txBody>
          <a:bodyPr wrap="square" lIns="0" tIns="0" rIns="0" bIns="0" rtlCol="0" anchor="ctr"/>
          <a:lstStyle/>
          <a:p>
            <a:pPr algn="ctr" indent="0" marL="0">
              <a:buNone/>
            </a:pPr>
            <a:r>
              <a:rPr lang="en-US" sz="900" i="1" dirty="0">
                <a:solidFill>
                  <a:schemeClr val="accent5"/>
                </a:solidFill>
              </a:rPr>
              <a:t>de gang</a:t>
            </a:r>
            <a:endParaRPr lang="en-US" sz="900" dirty="0"/>
          </a:p>
        </p:txBody>
      </p:sp>
      <p:sp>
        <p:nvSpPr>
          <p:cNvPr id="15" name="Shape 10"/>
          <p:cNvSpPr/>
          <p:nvPr/>
        </p:nvSpPr>
        <p:spPr>
          <a:xfrm>
            <a:off x="1522476" y="2023872"/>
            <a:ext cx="813770" cy="3566160"/>
          </a:xfrm>
          <a:prstGeom prst="rect">
            <a:avLst/>
          </a:prstGeom>
          <a:solidFill>
            <a:srgbClr val="FDF1E6"/>
          </a:solidFill>
          <a:ln w="12700">
            <a:solidFill>
              <a:srgbClr val="FFFFFF">
                <a:alpha val="0"/>
              </a:srgbClr>
            </a:solidFill>
            <a:prstDash val="solid"/>
          </a:ln>
        </p:spPr>
      </p:sp>
      <p:sp>
        <p:nvSpPr>
          <p:cNvPr id="16" name="Shape 11"/>
          <p:cNvSpPr/>
          <p:nvPr/>
        </p:nvSpPr>
        <p:spPr>
          <a:xfrm>
            <a:off x="1668955" y="2908280"/>
            <a:ext cx="179029" cy="1797345"/>
          </a:xfrm>
          <a:prstGeom prst="roundRect">
            <a:avLst>
              <a:gd name="adj" fmla="val 20430"/>
            </a:avLst>
          </a:prstGeom>
          <a:solidFill>
            <a:schemeClr val="accent1">
              <a:alpha val="65000"/>
            </a:schemeClr>
          </a:solidFill>
          <a:ln w="12700">
            <a:solidFill>
              <a:srgbClr val="FFFFFF">
                <a:alpha val="0"/>
              </a:srgbClr>
            </a:solidFill>
            <a:prstDash val="solid"/>
          </a:ln>
        </p:spPr>
      </p:sp>
      <p:sp>
        <p:nvSpPr>
          <p:cNvPr id="17" name="Text 12"/>
          <p:cNvSpPr txBox="1"/>
          <p:nvPr/>
        </p:nvSpPr>
        <p:spPr>
          <a:xfrm>
            <a:off x="1559052" y="2078736"/>
            <a:ext cx="740618" cy="1084113"/>
          </a:xfrm>
          <a:prstGeom prst="rect">
            <a:avLst/>
          </a:prstGeom>
          <a:noFill/>
          <a:ln/>
        </p:spPr>
        <p:txBody>
          <a:bodyPr wrap="square" lIns="0" tIns="0" rIns="0" bIns="0" rtlCol="0" anchor="t"/>
          <a:lstStyle/>
          <a:p>
            <a:pPr algn="ctr" indent="0" marL="0">
              <a:buNone/>
            </a:pPr>
            <a:r>
              <a:rPr lang="en-US" sz="900" b="1" dirty="0">
                <a:solidFill>
                  <a:schemeClr val="accent1"/>
                </a:solidFill>
              </a:rPr>
              <a:t>het onthaal</a:t>
            </a:r>
            <a:endParaRPr lang="en-US" sz="900" dirty="0"/>
          </a:p>
        </p:txBody>
      </p:sp>
      <p:sp>
        <p:nvSpPr>
          <p:cNvPr id="18" name="Shape 13"/>
          <p:cNvSpPr/>
          <p:nvPr/>
        </p:nvSpPr>
        <p:spPr>
          <a:xfrm>
            <a:off x="1476756" y="3507395"/>
            <a:ext cx="91440" cy="599115"/>
          </a:xfrm>
          <a:prstGeom prst="rect">
            <a:avLst/>
          </a:prstGeom>
          <a:solidFill>
            <a:srgbClr val="FFFFFF"/>
          </a:solidFill>
          <a:ln w="12700">
            <a:solidFill>
              <a:srgbClr val="FFFFFF">
                <a:alpha val="0"/>
              </a:srgbClr>
            </a:solidFill>
            <a:prstDash val="solid"/>
          </a:ln>
        </p:spPr>
      </p:sp>
      <p:sp>
        <p:nvSpPr>
          <p:cNvPr id="19" name="Shape 14"/>
          <p:cNvSpPr/>
          <p:nvPr/>
        </p:nvSpPr>
        <p:spPr>
          <a:xfrm>
            <a:off x="2336246" y="2023872"/>
            <a:ext cx="1148852" cy="1355141"/>
          </a:xfrm>
          <a:prstGeom prst="rect">
            <a:avLst/>
          </a:prstGeom>
          <a:solidFill>
            <a:srgbClr val="FFFFFF"/>
          </a:solidFill>
          <a:ln w="19050">
            <a:solidFill>
              <a:srgbClr val="17375E"/>
            </a:solidFill>
            <a:prstDash val="solid"/>
          </a:ln>
        </p:spPr>
      </p:sp>
      <p:sp>
        <p:nvSpPr>
          <p:cNvPr id="20" name="Shape 15"/>
          <p:cNvSpPr/>
          <p:nvPr/>
        </p:nvSpPr>
        <p:spPr>
          <a:xfrm>
            <a:off x="2738345" y="3342437"/>
            <a:ext cx="344656" cy="73152"/>
          </a:xfrm>
          <a:prstGeom prst="rect">
            <a:avLst/>
          </a:prstGeom>
          <a:solidFill>
            <a:srgbClr val="EEF1F6"/>
          </a:solidFill>
          <a:ln w="12700">
            <a:solidFill>
              <a:srgbClr val="FFFFFF">
                <a:alpha val="0"/>
              </a:srgbClr>
            </a:solidFill>
            <a:prstDash val="solid"/>
          </a:ln>
        </p:spPr>
      </p:sp>
      <p:pic>
        <p:nvPicPr>
          <p:cNvPr id="21" name="Image 2" descr="busts in silhouette">    </p:cNvPr>
          <p:cNvPicPr>
            <a:picLocks noChangeAspect="1"/>
          </p:cNvPicPr>
          <p:nvPr/>
        </p:nvPicPr>
        <p:blipFill>
          <a:blip r:embed="rId3"/>
          <a:stretch>
            <a:fillRect/>
          </a:stretch>
        </p:blipFill>
        <p:spPr>
          <a:xfrm>
            <a:off x="2736936" y="2115312"/>
            <a:ext cx="347472" cy="347472"/>
          </a:xfrm>
          <a:prstGeom prst="rect">
            <a:avLst/>
          </a:prstGeom>
        </p:spPr>
      </p:pic>
      <p:sp>
        <p:nvSpPr>
          <p:cNvPr id="22" name="Text 16"/>
          <p:cNvSpPr txBox="1"/>
          <p:nvPr/>
        </p:nvSpPr>
        <p:spPr>
          <a:xfrm>
            <a:off x="2372822" y="2462784"/>
            <a:ext cx="1075700" cy="852221"/>
          </a:xfrm>
          <a:prstGeom prst="rect">
            <a:avLst/>
          </a:prstGeom>
          <a:noFill/>
          <a:ln/>
        </p:spPr>
        <p:txBody>
          <a:bodyPr wrap="square" lIns="0" tIns="0" rIns="0" bIns="0" rtlCol="0" anchor="ctr"/>
          <a:lstStyle/>
          <a:p>
            <a:pPr algn="ctr" indent="0" marL="0">
              <a:buNone/>
            </a:pPr>
            <a:r>
              <a:rPr lang="en-US" sz="1000" dirty="0">
                <a:solidFill>
                  <a:schemeClr val="tx1"/>
                </a:solidFill>
              </a:rPr>
              <a:t>de vergaderzaal</a:t>
            </a:r>
            <a:endParaRPr lang="en-US" sz="1000" dirty="0"/>
          </a:p>
        </p:txBody>
      </p:sp>
      <p:sp>
        <p:nvSpPr>
          <p:cNvPr id="23" name="Shape 17"/>
          <p:cNvSpPr/>
          <p:nvPr/>
        </p:nvSpPr>
        <p:spPr>
          <a:xfrm>
            <a:off x="3485098" y="2023872"/>
            <a:ext cx="1148852" cy="1355141"/>
          </a:xfrm>
          <a:prstGeom prst="rect">
            <a:avLst/>
          </a:prstGeom>
          <a:solidFill>
            <a:srgbClr val="FFFFFF"/>
          </a:solidFill>
          <a:ln w="19050">
            <a:solidFill>
              <a:srgbClr val="17375E"/>
            </a:solidFill>
            <a:prstDash val="solid"/>
          </a:ln>
        </p:spPr>
      </p:sp>
      <p:sp>
        <p:nvSpPr>
          <p:cNvPr id="24" name="Shape 18"/>
          <p:cNvSpPr/>
          <p:nvPr/>
        </p:nvSpPr>
        <p:spPr>
          <a:xfrm>
            <a:off x="3887197" y="3342437"/>
            <a:ext cx="344656" cy="73152"/>
          </a:xfrm>
          <a:prstGeom prst="rect">
            <a:avLst/>
          </a:prstGeom>
          <a:solidFill>
            <a:srgbClr val="EEF1F6"/>
          </a:solidFill>
          <a:ln w="12700">
            <a:solidFill>
              <a:srgbClr val="FFFFFF">
                <a:alpha val="0"/>
              </a:srgbClr>
            </a:solidFill>
            <a:prstDash val="solid"/>
          </a:ln>
        </p:spPr>
      </p:sp>
      <p:pic>
        <p:nvPicPr>
          <p:cNvPr id="25" name="Image 3" descr="printer">    </p:cNvPr>
          <p:cNvPicPr>
            <a:picLocks noChangeAspect="1"/>
          </p:cNvPicPr>
          <p:nvPr/>
        </p:nvPicPr>
        <p:blipFill>
          <a:blip r:embed="rId4"/>
          <a:stretch>
            <a:fillRect/>
          </a:stretch>
        </p:blipFill>
        <p:spPr>
          <a:xfrm>
            <a:off x="3885789" y="2115312"/>
            <a:ext cx="347472" cy="347472"/>
          </a:xfrm>
          <a:prstGeom prst="rect">
            <a:avLst/>
          </a:prstGeom>
        </p:spPr>
      </p:pic>
      <p:sp>
        <p:nvSpPr>
          <p:cNvPr id="26" name="Text 19"/>
          <p:cNvSpPr txBox="1"/>
          <p:nvPr/>
        </p:nvSpPr>
        <p:spPr>
          <a:xfrm>
            <a:off x="3521674" y="2462784"/>
            <a:ext cx="1075700" cy="852221"/>
          </a:xfrm>
          <a:prstGeom prst="rect">
            <a:avLst/>
          </a:prstGeom>
          <a:noFill/>
          <a:ln/>
        </p:spPr>
        <p:txBody>
          <a:bodyPr wrap="square" lIns="0" tIns="0" rIns="0" bIns="0" rtlCol="0" anchor="ctr"/>
          <a:lstStyle/>
          <a:p>
            <a:pPr algn="ctr" indent="0" marL="0">
              <a:buNone/>
            </a:pPr>
            <a:r>
              <a:rPr lang="en-US" sz="1000" dirty="0">
                <a:solidFill>
                  <a:schemeClr val="tx1"/>
                </a:solidFill>
              </a:rPr>
              <a:t>het kopieerlokaal</a:t>
            </a:r>
            <a:endParaRPr lang="en-US" sz="1000" dirty="0"/>
          </a:p>
        </p:txBody>
      </p:sp>
      <p:sp>
        <p:nvSpPr>
          <p:cNvPr id="27" name="Shape 20"/>
          <p:cNvSpPr/>
          <p:nvPr/>
        </p:nvSpPr>
        <p:spPr>
          <a:xfrm>
            <a:off x="4633951" y="2023872"/>
            <a:ext cx="1148852" cy="1355141"/>
          </a:xfrm>
          <a:prstGeom prst="rect">
            <a:avLst/>
          </a:prstGeom>
          <a:solidFill>
            <a:srgbClr val="FFFFFF"/>
          </a:solidFill>
          <a:ln w="19050">
            <a:solidFill>
              <a:srgbClr val="17375E"/>
            </a:solidFill>
            <a:prstDash val="solid"/>
          </a:ln>
        </p:spPr>
      </p:sp>
      <p:sp>
        <p:nvSpPr>
          <p:cNvPr id="28" name="Shape 21"/>
          <p:cNvSpPr/>
          <p:nvPr/>
        </p:nvSpPr>
        <p:spPr>
          <a:xfrm>
            <a:off x="5036049" y="3342437"/>
            <a:ext cx="344656" cy="73152"/>
          </a:xfrm>
          <a:prstGeom prst="rect">
            <a:avLst/>
          </a:prstGeom>
          <a:solidFill>
            <a:srgbClr val="EEF1F6"/>
          </a:solidFill>
          <a:ln w="12700">
            <a:solidFill>
              <a:srgbClr val="FFFFFF">
                <a:alpha val="0"/>
              </a:srgbClr>
            </a:solidFill>
            <a:prstDash val="solid"/>
          </a:ln>
        </p:spPr>
      </p:sp>
      <p:pic>
        <p:nvPicPr>
          <p:cNvPr id="29" name="Image 4" descr="toilet">    </p:cNvPr>
          <p:cNvPicPr>
            <a:picLocks noChangeAspect="1"/>
          </p:cNvPicPr>
          <p:nvPr/>
        </p:nvPicPr>
        <p:blipFill>
          <a:blip r:embed="rId5"/>
          <a:stretch>
            <a:fillRect/>
          </a:stretch>
        </p:blipFill>
        <p:spPr>
          <a:xfrm>
            <a:off x="5034641" y="2115312"/>
            <a:ext cx="347472" cy="347472"/>
          </a:xfrm>
          <a:prstGeom prst="rect">
            <a:avLst/>
          </a:prstGeom>
        </p:spPr>
      </p:pic>
      <p:sp>
        <p:nvSpPr>
          <p:cNvPr id="30" name="Text 22"/>
          <p:cNvSpPr txBox="1"/>
          <p:nvPr/>
        </p:nvSpPr>
        <p:spPr>
          <a:xfrm>
            <a:off x="4670527" y="2462784"/>
            <a:ext cx="1075700" cy="852221"/>
          </a:xfrm>
          <a:prstGeom prst="rect">
            <a:avLst/>
          </a:prstGeom>
          <a:noFill/>
          <a:ln/>
        </p:spPr>
        <p:txBody>
          <a:bodyPr wrap="square" lIns="0" tIns="0" rIns="0" bIns="0" rtlCol="0" anchor="ctr"/>
          <a:lstStyle/>
          <a:p>
            <a:pPr algn="ctr" indent="0" marL="0">
              <a:buNone/>
            </a:pPr>
            <a:r>
              <a:rPr lang="en-US" sz="1000" dirty="0">
                <a:solidFill>
                  <a:schemeClr val="tx1"/>
                </a:solidFill>
              </a:rPr>
              <a:t>de toiletten</a:t>
            </a:r>
            <a:endParaRPr lang="en-US" sz="1000" dirty="0"/>
          </a:p>
        </p:txBody>
      </p:sp>
      <p:sp>
        <p:nvSpPr>
          <p:cNvPr id="31" name="Shape 23"/>
          <p:cNvSpPr/>
          <p:nvPr/>
        </p:nvSpPr>
        <p:spPr>
          <a:xfrm>
            <a:off x="2336246" y="4234891"/>
            <a:ext cx="1148852" cy="1355141"/>
          </a:xfrm>
          <a:prstGeom prst="rect">
            <a:avLst/>
          </a:prstGeom>
          <a:solidFill>
            <a:srgbClr val="FFFFFF"/>
          </a:solidFill>
          <a:ln w="19050">
            <a:solidFill>
              <a:srgbClr val="17375E"/>
            </a:solidFill>
            <a:prstDash val="solid"/>
          </a:ln>
        </p:spPr>
      </p:sp>
      <p:sp>
        <p:nvSpPr>
          <p:cNvPr id="32" name="Shape 24"/>
          <p:cNvSpPr/>
          <p:nvPr/>
        </p:nvSpPr>
        <p:spPr>
          <a:xfrm>
            <a:off x="2738345" y="4198315"/>
            <a:ext cx="344656" cy="73152"/>
          </a:xfrm>
          <a:prstGeom prst="rect">
            <a:avLst/>
          </a:prstGeom>
          <a:solidFill>
            <a:srgbClr val="EEF1F6"/>
          </a:solidFill>
          <a:ln w="12700">
            <a:solidFill>
              <a:srgbClr val="FFFFFF">
                <a:alpha val="0"/>
              </a:srgbClr>
            </a:solidFill>
            <a:prstDash val="solid"/>
          </a:ln>
        </p:spPr>
      </p:sp>
      <p:pic>
        <p:nvPicPr>
          <p:cNvPr id="33" name="Image 5" descr="desktop computer">    </p:cNvPr>
          <p:cNvPicPr>
            <a:picLocks noChangeAspect="1"/>
          </p:cNvPicPr>
          <p:nvPr/>
        </p:nvPicPr>
        <p:blipFill>
          <a:blip r:embed="rId6"/>
          <a:stretch>
            <a:fillRect/>
          </a:stretch>
        </p:blipFill>
        <p:spPr>
          <a:xfrm>
            <a:off x="2736936" y="5151120"/>
            <a:ext cx="347472" cy="347472"/>
          </a:xfrm>
          <a:prstGeom prst="rect">
            <a:avLst/>
          </a:prstGeom>
        </p:spPr>
      </p:pic>
      <p:sp>
        <p:nvSpPr>
          <p:cNvPr id="34" name="Text 25"/>
          <p:cNvSpPr txBox="1"/>
          <p:nvPr/>
        </p:nvSpPr>
        <p:spPr>
          <a:xfrm>
            <a:off x="2372822" y="4280611"/>
            <a:ext cx="1075700" cy="852221"/>
          </a:xfrm>
          <a:prstGeom prst="rect">
            <a:avLst/>
          </a:prstGeom>
          <a:noFill/>
          <a:ln/>
        </p:spPr>
        <p:txBody>
          <a:bodyPr wrap="square" lIns="0" tIns="0" rIns="0" bIns="0" rtlCol="0" anchor="ctr"/>
          <a:lstStyle/>
          <a:p>
            <a:pPr algn="ctr" indent="0" marL="0">
              <a:buNone/>
            </a:pPr>
            <a:r>
              <a:rPr lang="en-US" sz="1000" dirty="0">
                <a:solidFill>
                  <a:schemeClr val="tx1"/>
                </a:solidFill>
              </a:rPr>
              <a:t>het kantoor</a:t>
            </a:r>
            <a:endParaRPr lang="en-US" sz="1000" dirty="0"/>
          </a:p>
        </p:txBody>
      </p:sp>
      <p:sp>
        <p:nvSpPr>
          <p:cNvPr id="35" name="Shape 26"/>
          <p:cNvSpPr/>
          <p:nvPr/>
        </p:nvSpPr>
        <p:spPr>
          <a:xfrm>
            <a:off x="3485098" y="4234891"/>
            <a:ext cx="1148852" cy="1355141"/>
          </a:xfrm>
          <a:prstGeom prst="rect">
            <a:avLst/>
          </a:prstGeom>
          <a:solidFill>
            <a:srgbClr val="FFFFFF"/>
          </a:solidFill>
          <a:ln w="19050">
            <a:solidFill>
              <a:srgbClr val="17375E"/>
            </a:solidFill>
            <a:prstDash val="solid"/>
          </a:ln>
        </p:spPr>
      </p:sp>
      <p:sp>
        <p:nvSpPr>
          <p:cNvPr id="36" name="Shape 27"/>
          <p:cNvSpPr/>
          <p:nvPr/>
        </p:nvSpPr>
        <p:spPr>
          <a:xfrm>
            <a:off x="3887197" y="4198315"/>
            <a:ext cx="344656" cy="73152"/>
          </a:xfrm>
          <a:prstGeom prst="rect">
            <a:avLst/>
          </a:prstGeom>
          <a:solidFill>
            <a:srgbClr val="EEF1F6"/>
          </a:solidFill>
          <a:ln w="12700">
            <a:solidFill>
              <a:srgbClr val="FFFFFF">
                <a:alpha val="0"/>
              </a:srgbClr>
            </a:solidFill>
            <a:prstDash val="solid"/>
          </a:ln>
        </p:spPr>
      </p:sp>
      <p:pic>
        <p:nvPicPr>
          <p:cNvPr id="37" name="Image 6" descr="hot beverage">    </p:cNvPr>
          <p:cNvPicPr>
            <a:picLocks noChangeAspect="1"/>
          </p:cNvPicPr>
          <p:nvPr/>
        </p:nvPicPr>
        <p:blipFill>
          <a:blip r:embed="rId7"/>
          <a:stretch>
            <a:fillRect/>
          </a:stretch>
        </p:blipFill>
        <p:spPr>
          <a:xfrm>
            <a:off x="3885789" y="5151120"/>
            <a:ext cx="347472" cy="347472"/>
          </a:xfrm>
          <a:prstGeom prst="rect">
            <a:avLst/>
          </a:prstGeom>
        </p:spPr>
      </p:pic>
      <p:sp>
        <p:nvSpPr>
          <p:cNvPr id="38" name="Text 28"/>
          <p:cNvSpPr txBox="1"/>
          <p:nvPr/>
        </p:nvSpPr>
        <p:spPr>
          <a:xfrm>
            <a:off x="3521674" y="4280611"/>
            <a:ext cx="1075700" cy="852221"/>
          </a:xfrm>
          <a:prstGeom prst="rect">
            <a:avLst/>
          </a:prstGeom>
          <a:noFill/>
          <a:ln/>
        </p:spPr>
        <p:txBody>
          <a:bodyPr wrap="square" lIns="0" tIns="0" rIns="0" bIns="0" rtlCol="0" anchor="ctr"/>
          <a:lstStyle/>
          <a:p>
            <a:pPr algn="ctr" indent="0" marL="0">
              <a:buNone/>
            </a:pPr>
            <a:r>
              <a:rPr lang="en-US" sz="1000" dirty="0">
                <a:solidFill>
                  <a:schemeClr val="tx1"/>
                </a:solidFill>
              </a:rPr>
              <a:t>de keuken</a:t>
            </a:r>
            <a:endParaRPr lang="en-US" sz="1000" dirty="0"/>
          </a:p>
        </p:txBody>
      </p:sp>
      <p:sp>
        <p:nvSpPr>
          <p:cNvPr id="39" name="Shape 29"/>
          <p:cNvSpPr/>
          <p:nvPr/>
        </p:nvSpPr>
        <p:spPr>
          <a:xfrm>
            <a:off x="4633951" y="4234891"/>
            <a:ext cx="1148852" cy="1355141"/>
          </a:xfrm>
          <a:prstGeom prst="rect">
            <a:avLst/>
          </a:prstGeom>
          <a:solidFill>
            <a:srgbClr val="FFFFFF"/>
          </a:solidFill>
          <a:ln w="19050">
            <a:solidFill>
              <a:srgbClr val="17375E"/>
            </a:solidFill>
            <a:prstDash val="solid"/>
          </a:ln>
        </p:spPr>
      </p:sp>
      <p:sp>
        <p:nvSpPr>
          <p:cNvPr id="40" name="Shape 30"/>
          <p:cNvSpPr/>
          <p:nvPr/>
        </p:nvSpPr>
        <p:spPr>
          <a:xfrm>
            <a:off x="5036049" y="4198315"/>
            <a:ext cx="344656" cy="73152"/>
          </a:xfrm>
          <a:prstGeom prst="rect">
            <a:avLst/>
          </a:prstGeom>
          <a:solidFill>
            <a:srgbClr val="EEF1F6"/>
          </a:solidFill>
          <a:ln w="12700">
            <a:solidFill>
              <a:srgbClr val="FFFFFF">
                <a:alpha val="0"/>
              </a:srgbClr>
            </a:solidFill>
            <a:prstDash val="solid"/>
          </a:ln>
        </p:spPr>
      </p:sp>
      <p:pic>
        <p:nvPicPr>
          <p:cNvPr id="41" name="Image 7" descr="fork and knife with plate">    </p:cNvPr>
          <p:cNvPicPr>
            <a:picLocks noChangeAspect="1"/>
          </p:cNvPicPr>
          <p:nvPr/>
        </p:nvPicPr>
        <p:blipFill>
          <a:blip r:embed="rId8"/>
          <a:stretch>
            <a:fillRect/>
          </a:stretch>
        </p:blipFill>
        <p:spPr>
          <a:xfrm>
            <a:off x="5034641" y="5151120"/>
            <a:ext cx="347472" cy="347472"/>
          </a:xfrm>
          <a:prstGeom prst="rect">
            <a:avLst/>
          </a:prstGeom>
        </p:spPr>
      </p:pic>
      <p:sp>
        <p:nvSpPr>
          <p:cNvPr id="42" name="Text 31"/>
          <p:cNvSpPr txBox="1"/>
          <p:nvPr/>
        </p:nvSpPr>
        <p:spPr>
          <a:xfrm>
            <a:off x="4670527" y="4280611"/>
            <a:ext cx="1075700" cy="852221"/>
          </a:xfrm>
          <a:prstGeom prst="rect">
            <a:avLst/>
          </a:prstGeom>
          <a:noFill/>
          <a:ln/>
        </p:spPr>
        <p:txBody>
          <a:bodyPr wrap="square" lIns="0" tIns="0" rIns="0" bIns="0" rtlCol="0" anchor="ctr"/>
          <a:lstStyle/>
          <a:p>
            <a:pPr algn="ctr" indent="0" marL="0">
              <a:buNone/>
            </a:pPr>
            <a:r>
              <a:rPr lang="en-US" sz="1000" dirty="0">
                <a:solidFill>
                  <a:schemeClr val="tx1"/>
                </a:solidFill>
              </a:rPr>
              <a:t>de refter</a:t>
            </a:r>
            <a:endParaRPr lang="en-US" sz="1000" dirty="0"/>
          </a:p>
        </p:txBody>
      </p:sp>
      <p:sp>
        <p:nvSpPr>
          <p:cNvPr id="43" name="Shape 32"/>
          <p:cNvSpPr/>
          <p:nvPr/>
        </p:nvSpPr>
        <p:spPr>
          <a:xfrm>
            <a:off x="5782803" y="2023872"/>
            <a:ext cx="526557" cy="1783080"/>
          </a:xfrm>
          <a:prstGeom prst="rect">
            <a:avLst/>
          </a:prstGeom>
          <a:solidFill>
            <a:srgbClr val="FFFFFF"/>
          </a:solidFill>
          <a:ln w="19050">
            <a:solidFill>
              <a:srgbClr val="17375E"/>
            </a:solidFill>
            <a:prstDash val="solid"/>
          </a:ln>
        </p:spPr>
      </p:sp>
      <p:sp>
        <p:nvSpPr>
          <p:cNvPr id="44" name="Shape 33"/>
          <p:cNvSpPr/>
          <p:nvPr/>
        </p:nvSpPr>
        <p:spPr>
          <a:xfrm>
            <a:off x="5828523" y="2278598"/>
            <a:ext cx="435117" cy="914"/>
          </a:xfrm>
          <a:prstGeom prst="line">
            <a:avLst/>
          </a:prstGeom>
          <a:noFill/>
          <a:ln w="12700">
            <a:solidFill>
              <a:srgbClr val="4A5A70"/>
            </a:solidFill>
            <a:prstDash val="solid"/>
          </a:ln>
        </p:spPr>
      </p:sp>
      <p:sp>
        <p:nvSpPr>
          <p:cNvPr id="45" name="Shape 34"/>
          <p:cNvSpPr/>
          <p:nvPr/>
        </p:nvSpPr>
        <p:spPr>
          <a:xfrm>
            <a:off x="5828523" y="2533323"/>
            <a:ext cx="435117" cy="914"/>
          </a:xfrm>
          <a:prstGeom prst="line">
            <a:avLst/>
          </a:prstGeom>
          <a:noFill/>
          <a:ln w="12700">
            <a:solidFill>
              <a:srgbClr val="4A5A70"/>
            </a:solidFill>
            <a:prstDash val="solid"/>
          </a:ln>
        </p:spPr>
      </p:sp>
      <p:sp>
        <p:nvSpPr>
          <p:cNvPr id="46" name="Shape 35"/>
          <p:cNvSpPr/>
          <p:nvPr/>
        </p:nvSpPr>
        <p:spPr>
          <a:xfrm>
            <a:off x="5828523" y="2788049"/>
            <a:ext cx="435117" cy="914"/>
          </a:xfrm>
          <a:prstGeom prst="line">
            <a:avLst/>
          </a:prstGeom>
          <a:noFill/>
          <a:ln w="12700">
            <a:solidFill>
              <a:srgbClr val="4A5A70"/>
            </a:solidFill>
            <a:prstDash val="solid"/>
          </a:ln>
        </p:spPr>
      </p:sp>
      <p:sp>
        <p:nvSpPr>
          <p:cNvPr id="47" name="Shape 36"/>
          <p:cNvSpPr/>
          <p:nvPr/>
        </p:nvSpPr>
        <p:spPr>
          <a:xfrm>
            <a:off x="5828523" y="3042775"/>
            <a:ext cx="435117" cy="914"/>
          </a:xfrm>
          <a:prstGeom prst="line">
            <a:avLst/>
          </a:prstGeom>
          <a:noFill/>
          <a:ln w="12700">
            <a:solidFill>
              <a:srgbClr val="4A5A70"/>
            </a:solidFill>
            <a:prstDash val="solid"/>
          </a:ln>
        </p:spPr>
      </p:sp>
      <p:sp>
        <p:nvSpPr>
          <p:cNvPr id="48" name="Shape 37"/>
          <p:cNvSpPr/>
          <p:nvPr/>
        </p:nvSpPr>
        <p:spPr>
          <a:xfrm>
            <a:off x="5828523" y="3297501"/>
            <a:ext cx="435117" cy="914"/>
          </a:xfrm>
          <a:prstGeom prst="line">
            <a:avLst/>
          </a:prstGeom>
          <a:noFill/>
          <a:ln w="12700">
            <a:solidFill>
              <a:srgbClr val="4A5A70"/>
            </a:solidFill>
            <a:prstDash val="solid"/>
          </a:ln>
        </p:spPr>
      </p:sp>
      <p:sp>
        <p:nvSpPr>
          <p:cNvPr id="49" name="Shape 38"/>
          <p:cNvSpPr/>
          <p:nvPr/>
        </p:nvSpPr>
        <p:spPr>
          <a:xfrm>
            <a:off x="5828523" y="3552226"/>
            <a:ext cx="435117" cy="914"/>
          </a:xfrm>
          <a:prstGeom prst="line">
            <a:avLst/>
          </a:prstGeom>
          <a:noFill/>
          <a:ln w="12700">
            <a:solidFill>
              <a:srgbClr val="4A5A70"/>
            </a:solidFill>
            <a:prstDash val="solid"/>
          </a:ln>
        </p:spPr>
      </p:sp>
      <p:sp>
        <p:nvSpPr>
          <p:cNvPr id="50" name="Shape 39"/>
          <p:cNvSpPr/>
          <p:nvPr/>
        </p:nvSpPr>
        <p:spPr>
          <a:xfrm>
            <a:off x="5782803" y="3806952"/>
            <a:ext cx="526557" cy="1783080"/>
          </a:xfrm>
          <a:prstGeom prst="rect">
            <a:avLst/>
          </a:prstGeom>
          <a:solidFill>
            <a:srgbClr val="F1EBF8"/>
          </a:solidFill>
          <a:ln w="19050">
            <a:solidFill>
              <a:srgbClr val="17375E"/>
            </a:solidFill>
            <a:prstDash val="solid"/>
          </a:ln>
        </p:spPr>
      </p:sp>
      <p:pic>
        <p:nvPicPr>
          <p:cNvPr id="51" name="Image 8" descr="elevator">    </p:cNvPr>
          <p:cNvPicPr>
            <a:picLocks noChangeAspect="1"/>
          </p:cNvPicPr>
          <p:nvPr/>
        </p:nvPicPr>
        <p:blipFill>
          <a:blip r:embed="rId9"/>
          <a:stretch>
            <a:fillRect/>
          </a:stretch>
        </p:blipFill>
        <p:spPr>
          <a:xfrm>
            <a:off x="5872345" y="3898392"/>
            <a:ext cx="347472" cy="347472"/>
          </a:xfrm>
          <a:prstGeom prst="rect">
            <a:avLst/>
          </a:prstGeom>
        </p:spPr>
      </p:pic>
      <p:sp>
        <p:nvSpPr>
          <p:cNvPr id="52" name="Text 40"/>
          <p:cNvSpPr txBox="1"/>
          <p:nvPr/>
        </p:nvSpPr>
        <p:spPr>
          <a:xfrm>
            <a:off x="5782803" y="3422904"/>
            <a:ext cx="526557" cy="347472"/>
          </a:xfrm>
          <a:prstGeom prst="rect">
            <a:avLst/>
          </a:prstGeom>
          <a:noFill/>
          <a:ln/>
        </p:spPr>
        <p:txBody>
          <a:bodyPr wrap="square" lIns="0" tIns="0" rIns="0" bIns="0" rtlCol="0" anchor="ctr"/>
          <a:lstStyle/>
          <a:p>
            <a:pPr algn="ctr" indent="0" marL="0">
              <a:buNone/>
            </a:pPr>
            <a:r>
              <a:rPr lang="en-US" sz="900" b="1" dirty="0">
                <a:solidFill>
                  <a:schemeClr val="tx2"/>
                </a:solidFill>
              </a:rPr>
              <a:t>de trap</a:t>
            </a:r>
            <a:endParaRPr lang="en-US" sz="900" dirty="0"/>
          </a:p>
        </p:txBody>
      </p:sp>
      <p:sp>
        <p:nvSpPr>
          <p:cNvPr id="53" name="Text 41"/>
          <p:cNvSpPr txBox="1"/>
          <p:nvPr/>
        </p:nvSpPr>
        <p:spPr>
          <a:xfrm>
            <a:off x="5782803" y="5178552"/>
            <a:ext cx="526557" cy="365760"/>
          </a:xfrm>
          <a:prstGeom prst="rect">
            <a:avLst/>
          </a:prstGeom>
          <a:noFill/>
          <a:ln/>
        </p:spPr>
        <p:txBody>
          <a:bodyPr wrap="square" lIns="0" tIns="0" rIns="0" bIns="0" rtlCol="0" anchor="ctr"/>
          <a:lstStyle/>
          <a:p>
            <a:pPr algn="ctr" indent="0" marL="0">
              <a:buNone/>
            </a:pPr>
            <a:r>
              <a:rPr lang="en-US" sz="900" b="1" dirty="0">
                <a:solidFill>
                  <a:schemeClr val="tx2"/>
                </a:solidFill>
              </a:rPr>
              <a:t>de lift</a:t>
            </a:r>
            <a:endParaRPr lang="en-US" sz="900" dirty="0"/>
          </a:p>
        </p:txBody>
      </p:sp>
      <p:sp>
        <p:nvSpPr>
          <p:cNvPr id="54" name="tag"/>
          <p:cNvSpPr/>
          <p:nvPr/>
        </p:nvSpPr>
        <p:spPr>
          <a:xfrm>
            <a:off x="1019556" y="4099560"/>
            <a:ext cx="1354836" cy="274320"/>
          </a:xfrm>
          <a:prstGeom prst="roundRect">
            <a:avLst>
              <a:gd name="adj" fmla="val 16667"/>
            </a:avLst>
          </a:prstGeom>
          <a:solidFill>
            <a:schemeClr val="accent6"/>
          </a:solidFill>
          <a:ln/>
        </p:spPr>
        <p:txBody>
          <a:bodyPr wrap="square" lIns="0" tIns="0" rIns="0" bIns="0" rtlCol="0" anchor="ctr"/>
          <a:lstStyle/>
          <a:p>
            <a:pPr algn="ctr" indent="0" marL="0">
              <a:buNone/>
            </a:pPr>
            <a:r>
              <a:rPr lang="en-US" sz="1000" b="1" spc="100" kern="0" dirty="0">
                <a:solidFill>
                  <a:srgbClr val="FFFFFF"/>
                </a:solidFill>
              </a:rPr>
              <a:t>U bent hier</a:t>
            </a:r>
            <a:endParaRPr lang="en-US" sz="1000" dirty="0"/>
          </a:p>
        </p:txBody>
      </p:sp>
      <p:sp>
        <p:nvSpPr>
          <p:cNvPr id="55" name="Text 43"/>
          <p:cNvSpPr txBox="1"/>
          <p:nvPr/>
        </p:nvSpPr>
        <p:spPr>
          <a:xfrm>
            <a:off x="548640" y="5681472"/>
            <a:ext cx="5760720" cy="320040"/>
          </a:xfrm>
          <a:prstGeom prst="rect">
            <a:avLst/>
          </a:prstGeom>
          <a:noFill/>
          <a:ln/>
        </p:spPr>
        <p:txBody>
          <a:bodyPr wrap="square" lIns="0" tIns="0" rIns="0" bIns="0" rtlCol="0" anchor="t"/>
          <a:lstStyle/>
          <a:p>
            <a:pPr algn="ctr" indent="0" marL="0">
              <a:buNone/>
            </a:pPr>
            <a:r>
              <a:rPr lang="en-US" sz="1200" i="1" dirty="0">
                <a:solidFill>
                  <a:schemeClr val="accent5"/>
                </a:solidFill>
              </a:rPr>
              <a:t>↑ links · ↓ rechts (en marchant dans le couloir)</a:t>
            </a:r>
            <a:endParaRPr lang="en-US" sz="1200" dirty="0"/>
          </a:p>
        </p:txBody>
      </p:sp>
      <p:sp>
        <p:nvSpPr>
          <p:cNvPr id="56" name="Shape 44"/>
          <p:cNvSpPr/>
          <p:nvPr/>
        </p:nvSpPr>
        <p:spPr>
          <a:xfrm>
            <a:off x="6537960" y="2042160"/>
            <a:ext cx="347472" cy="347472"/>
          </a:xfrm>
          <a:prstGeom prst="ellipse">
            <a:avLst/>
          </a:prstGeom>
          <a:solidFill>
            <a:schemeClr val="tx2"/>
          </a:solidFill>
          <a:ln w="12700">
            <a:solidFill>
              <a:srgbClr val="FFFFFF">
                <a:alpha val="0"/>
              </a:srgbClr>
            </a:solidFill>
            <a:prstDash val="solid"/>
          </a:ln>
        </p:spPr>
      </p:sp>
      <p:sp>
        <p:nvSpPr>
          <p:cNvPr id="57" name="Text 45"/>
          <p:cNvSpPr txBox="1"/>
          <p:nvPr/>
        </p:nvSpPr>
        <p:spPr>
          <a:xfrm>
            <a:off x="6537960" y="204216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8" name="Text 46"/>
          <p:cNvSpPr txBox="1"/>
          <p:nvPr/>
        </p:nvSpPr>
        <p:spPr>
          <a:xfrm>
            <a:off x="6995160" y="195072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het onthaal voorbij en de gang in. U gaat de eerste deur links binnen.</a:t>
            </a:r>
            <a:endParaRPr lang="en-US" sz="1400" dirty="0"/>
          </a:p>
        </p:txBody>
      </p:sp>
      <p:sp>
        <p:nvSpPr>
          <p:cNvPr id="59" name="Shape 47"/>
          <p:cNvSpPr/>
          <p:nvPr/>
        </p:nvSpPr>
        <p:spPr>
          <a:xfrm>
            <a:off x="6995160" y="2583180"/>
            <a:ext cx="4645152" cy="365760"/>
          </a:xfrm>
          <a:prstGeom prst="roundRect">
            <a:avLst>
              <a:gd name="adj" fmla="val 15000"/>
            </a:avLst>
          </a:prstGeom>
          <a:solidFill>
            <a:srgbClr val="EDF6F0"/>
          </a:solidFill>
          <a:ln w="12700">
            <a:solidFill>
              <a:srgbClr val="2E7D4F"/>
            </a:solidFill>
            <a:prstDash val="solid"/>
          </a:ln>
        </p:spPr>
      </p:sp>
      <p:sp>
        <p:nvSpPr>
          <p:cNvPr id="60" name="Text 48"/>
          <p:cNvSpPr txBox="1"/>
          <p:nvPr/>
        </p:nvSpPr>
        <p:spPr>
          <a:xfrm>
            <a:off x="7086600" y="2583180"/>
            <a:ext cx="4480560" cy="365760"/>
          </a:xfrm>
          <a:prstGeom prst="rect">
            <a:avLst/>
          </a:prstGeom>
          <a:noFill/>
          <a:ln/>
        </p:spPr>
        <p:txBody>
          <a:bodyPr wrap="square" lIns="0" tIns="0" rIns="0" bIns="0" rtlCol="0" anchor="ctr"/>
          <a:lstStyle/>
          <a:p>
            <a:pPr algn="l" indent="0" marL="0">
              <a:buNone/>
            </a:pPr>
            <a:r>
              <a:rPr lang="en-US" sz="1500" dirty="0">
                <a:solidFill>
                  <a:schemeClr val="accent3"/>
                </a:solidFill>
              </a:rPr>
              <a:t>→ </a:t>
            </a:r>
            <a:r>
              <a:rPr lang="en-US" sz="1500" b="1" i="1" dirty="0">
                <a:solidFill>
                  <a:schemeClr val="accent3"/>
                </a:solidFill>
              </a:rPr>
              <a:t>de vergaderzaal</a:t>
            </a:r>
            <a:endParaRPr lang="en-US" sz="1500" dirty="0"/>
          </a:p>
        </p:txBody>
      </p:sp>
      <p:sp>
        <p:nvSpPr>
          <p:cNvPr id="61" name="Shape 49"/>
          <p:cNvSpPr/>
          <p:nvPr/>
        </p:nvSpPr>
        <p:spPr>
          <a:xfrm>
            <a:off x="6537960" y="3131820"/>
            <a:ext cx="347472" cy="347472"/>
          </a:xfrm>
          <a:prstGeom prst="ellipse">
            <a:avLst/>
          </a:prstGeom>
          <a:solidFill>
            <a:schemeClr val="tx2"/>
          </a:solidFill>
          <a:ln w="12700">
            <a:solidFill>
              <a:srgbClr val="FFFFFF">
                <a:alpha val="0"/>
              </a:srgbClr>
            </a:solidFill>
            <a:prstDash val="solid"/>
          </a:ln>
        </p:spPr>
      </p:sp>
      <p:sp>
        <p:nvSpPr>
          <p:cNvPr id="62" name="Text 50"/>
          <p:cNvSpPr txBox="1"/>
          <p:nvPr/>
        </p:nvSpPr>
        <p:spPr>
          <a:xfrm>
            <a:off x="6537960" y="313182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63" name="Text 51"/>
          <p:cNvSpPr txBox="1"/>
          <p:nvPr/>
        </p:nvSpPr>
        <p:spPr>
          <a:xfrm>
            <a:off x="6995160" y="304038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de gang in en u gaat de tweede deur rechts binnen.</a:t>
            </a:r>
            <a:endParaRPr lang="en-US" sz="1400" dirty="0"/>
          </a:p>
        </p:txBody>
      </p:sp>
      <p:sp>
        <p:nvSpPr>
          <p:cNvPr id="64" name="Shape 52"/>
          <p:cNvSpPr/>
          <p:nvPr/>
        </p:nvSpPr>
        <p:spPr>
          <a:xfrm>
            <a:off x="6995160" y="3672840"/>
            <a:ext cx="4645152" cy="365760"/>
          </a:xfrm>
          <a:prstGeom prst="roundRect">
            <a:avLst>
              <a:gd name="adj" fmla="val 15000"/>
            </a:avLst>
          </a:prstGeom>
          <a:solidFill>
            <a:srgbClr val="EDF6F0"/>
          </a:solidFill>
          <a:ln w="12700">
            <a:solidFill>
              <a:srgbClr val="2E7D4F"/>
            </a:solidFill>
            <a:prstDash val="solid"/>
          </a:ln>
        </p:spPr>
      </p:sp>
      <p:sp>
        <p:nvSpPr>
          <p:cNvPr id="65" name="Text 53"/>
          <p:cNvSpPr txBox="1"/>
          <p:nvPr/>
        </p:nvSpPr>
        <p:spPr>
          <a:xfrm>
            <a:off x="7086600" y="3672840"/>
            <a:ext cx="4480560" cy="365760"/>
          </a:xfrm>
          <a:prstGeom prst="rect">
            <a:avLst/>
          </a:prstGeom>
          <a:noFill/>
          <a:ln/>
        </p:spPr>
        <p:txBody>
          <a:bodyPr wrap="square" lIns="0" tIns="0" rIns="0" bIns="0" rtlCol="0" anchor="ctr"/>
          <a:lstStyle/>
          <a:p>
            <a:pPr algn="l" indent="0" marL="0">
              <a:buNone/>
            </a:pPr>
            <a:r>
              <a:rPr lang="en-US" sz="1500" dirty="0">
                <a:solidFill>
                  <a:schemeClr val="accent3"/>
                </a:solidFill>
              </a:rPr>
              <a:t>→ </a:t>
            </a:r>
            <a:r>
              <a:rPr lang="en-US" sz="1500" b="1" i="1" dirty="0">
                <a:solidFill>
                  <a:schemeClr val="accent3"/>
                </a:solidFill>
              </a:rPr>
              <a:t>de keuken</a:t>
            </a:r>
            <a:endParaRPr lang="en-US" sz="1500" dirty="0"/>
          </a:p>
        </p:txBody>
      </p:sp>
      <p:sp>
        <p:nvSpPr>
          <p:cNvPr id="66" name="Shape 54"/>
          <p:cNvSpPr/>
          <p:nvPr/>
        </p:nvSpPr>
        <p:spPr>
          <a:xfrm>
            <a:off x="6537960" y="4221480"/>
            <a:ext cx="347472" cy="347472"/>
          </a:xfrm>
          <a:prstGeom prst="ellipse">
            <a:avLst/>
          </a:prstGeom>
          <a:solidFill>
            <a:schemeClr val="tx2"/>
          </a:solidFill>
          <a:ln w="12700">
            <a:solidFill>
              <a:srgbClr val="FFFFFF">
                <a:alpha val="0"/>
              </a:srgbClr>
            </a:solidFill>
            <a:prstDash val="solid"/>
          </a:ln>
        </p:spPr>
      </p:sp>
      <p:sp>
        <p:nvSpPr>
          <p:cNvPr id="67" name="Text 55"/>
          <p:cNvSpPr txBox="1"/>
          <p:nvPr/>
        </p:nvSpPr>
        <p:spPr>
          <a:xfrm>
            <a:off x="6537960" y="422148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68" name="Text 56"/>
          <p:cNvSpPr txBox="1"/>
          <p:nvPr/>
        </p:nvSpPr>
        <p:spPr>
          <a:xfrm>
            <a:off x="6995160" y="413004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de gang in, het kopieerlokaal voorbij, en u gaat de laatste deur links binnen.</a:t>
            </a:r>
            <a:endParaRPr lang="en-US" sz="1400" dirty="0"/>
          </a:p>
        </p:txBody>
      </p:sp>
      <p:sp>
        <p:nvSpPr>
          <p:cNvPr id="69" name="Shape 57"/>
          <p:cNvSpPr/>
          <p:nvPr/>
        </p:nvSpPr>
        <p:spPr>
          <a:xfrm>
            <a:off x="6995160" y="4762500"/>
            <a:ext cx="4645152" cy="365760"/>
          </a:xfrm>
          <a:prstGeom prst="roundRect">
            <a:avLst>
              <a:gd name="adj" fmla="val 15000"/>
            </a:avLst>
          </a:prstGeom>
          <a:solidFill>
            <a:srgbClr val="EDF6F0"/>
          </a:solidFill>
          <a:ln w="12700">
            <a:solidFill>
              <a:srgbClr val="2E7D4F"/>
            </a:solidFill>
            <a:prstDash val="solid"/>
          </a:ln>
        </p:spPr>
      </p:sp>
      <p:sp>
        <p:nvSpPr>
          <p:cNvPr id="70" name="Text 58"/>
          <p:cNvSpPr txBox="1"/>
          <p:nvPr/>
        </p:nvSpPr>
        <p:spPr>
          <a:xfrm>
            <a:off x="7086600" y="4762500"/>
            <a:ext cx="4480560" cy="365760"/>
          </a:xfrm>
          <a:prstGeom prst="rect">
            <a:avLst/>
          </a:prstGeom>
          <a:noFill/>
          <a:ln/>
        </p:spPr>
        <p:txBody>
          <a:bodyPr wrap="square" lIns="0" tIns="0" rIns="0" bIns="0" rtlCol="0" anchor="ctr"/>
          <a:lstStyle/>
          <a:p>
            <a:pPr algn="l" indent="0" marL="0">
              <a:buNone/>
            </a:pPr>
            <a:r>
              <a:rPr lang="en-US" sz="1500" dirty="0">
                <a:solidFill>
                  <a:schemeClr val="accent3"/>
                </a:solidFill>
              </a:rPr>
              <a:t>→ </a:t>
            </a:r>
            <a:r>
              <a:rPr lang="en-US" sz="1500" b="1" i="1" dirty="0">
                <a:solidFill>
                  <a:schemeClr val="accent3"/>
                </a:solidFill>
              </a:rPr>
              <a:t>de toiletten</a:t>
            </a:r>
            <a:endParaRPr lang="en-US" sz="1500" dirty="0"/>
          </a:p>
        </p:txBody>
      </p:sp>
      <p:sp>
        <p:nvSpPr>
          <p:cNvPr id="71" name="Shape 59"/>
          <p:cNvSpPr/>
          <p:nvPr/>
        </p:nvSpPr>
        <p:spPr>
          <a:xfrm>
            <a:off x="6537960" y="5311140"/>
            <a:ext cx="347472" cy="347472"/>
          </a:xfrm>
          <a:prstGeom prst="ellipse">
            <a:avLst/>
          </a:prstGeom>
          <a:solidFill>
            <a:schemeClr val="tx2"/>
          </a:solidFill>
          <a:ln w="12700">
            <a:solidFill>
              <a:srgbClr val="FFFFFF">
                <a:alpha val="0"/>
              </a:srgbClr>
            </a:solidFill>
            <a:prstDash val="solid"/>
          </a:ln>
        </p:spPr>
      </p:sp>
      <p:sp>
        <p:nvSpPr>
          <p:cNvPr id="72" name="Text 60"/>
          <p:cNvSpPr txBox="1"/>
          <p:nvPr/>
        </p:nvSpPr>
        <p:spPr>
          <a:xfrm>
            <a:off x="6537960" y="5311140"/>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73" name="Text 61"/>
          <p:cNvSpPr txBox="1"/>
          <p:nvPr/>
        </p:nvSpPr>
        <p:spPr>
          <a:xfrm>
            <a:off x="6995160" y="5219700"/>
            <a:ext cx="4645152" cy="632460"/>
          </a:xfrm>
          <a:prstGeom prst="rect">
            <a:avLst/>
          </a:prstGeom>
          <a:noFill/>
          <a:ln/>
        </p:spPr>
        <p:txBody>
          <a:bodyPr wrap="square" lIns="0" tIns="0" rIns="0" bIns="0" rtlCol="0" anchor="ctr"/>
          <a:lstStyle/>
          <a:p>
            <a:pPr algn="l" indent="0" marL="0">
              <a:buNone/>
            </a:pPr>
            <a:r>
              <a:rPr lang="en-US" sz="1400" i="1" dirty="0">
                <a:solidFill>
                  <a:schemeClr val="tx1"/>
                </a:solidFill>
              </a:rPr>
              <a:t>U loopt de gang door tot het einde en u loopt de trap op.</a:t>
            </a:r>
            <a:endParaRPr lang="en-US" sz="1400" dirty="0"/>
          </a:p>
        </p:txBody>
      </p:sp>
      <p:sp>
        <p:nvSpPr>
          <p:cNvPr id="74" name="Shape 62"/>
          <p:cNvSpPr/>
          <p:nvPr/>
        </p:nvSpPr>
        <p:spPr>
          <a:xfrm>
            <a:off x="6995160" y="5852160"/>
            <a:ext cx="4645152" cy="365760"/>
          </a:xfrm>
          <a:prstGeom prst="roundRect">
            <a:avLst>
              <a:gd name="adj" fmla="val 15000"/>
            </a:avLst>
          </a:prstGeom>
          <a:solidFill>
            <a:srgbClr val="EDF6F0"/>
          </a:solidFill>
          <a:ln w="12700">
            <a:solidFill>
              <a:srgbClr val="2E7D4F"/>
            </a:solidFill>
            <a:prstDash val="solid"/>
          </a:ln>
        </p:spPr>
      </p:sp>
      <p:sp>
        <p:nvSpPr>
          <p:cNvPr id="75" name="Text 63"/>
          <p:cNvSpPr txBox="1"/>
          <p:nvPr/>
        </p:nvSpPr>
        <p:spPr>
          <a:xfrm>
            <a:off x="7086600" y="5852160"/>
            <a:ext cx="4480560" cy="365760"/>
          </a:xfrm>
          <a:prstGeom prst="rect">
            <a:avLst/>
          </a:prstGeom>
          <a:noFill/>
          <a:ln/>
        </p:spPr>
        <p:txBody>
          <a:bodyPr wrap="square" lIns="0" tIns="0" rIns="0" bIns="0" rtlCol="0" anchor="ctr"/>
          <a:lstStyle/>
          <a:p>
            <a:pPr algn="l" indent="0" marL="0">
              <a:buNone/>
            </a:pPr>
            <a:r>
              <a:rPr lang="en-US" sz="1500" dirty="0">
                <a:solidFill>
                  <a:schemeClr val="accent3"/>
                </a:solidFill>
              </a:rPr>
              <a:t>→ </a:t>
            </a:r>
            <a:r>
              <a:rPr lang="en-US" sz="1500" b="1" i="1" dirty="0">
                <a:solidFill>
                  <a:schemeClr val="accent3"/>
                </a:solidFill>
              </a:rPr>
              <a:t>de eerste verdieping</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Kruip de vergaderzaal in!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Text 3"/>
          <p:cNvSpPr txBox="1"/>
          <p:nvPr/>
        </p:nvSpPr>
        <p:spPr>
          <a:xfrm>
            <a:off x="548640" y="1481328"/>
            <a:ext cx="3474720" cy="320040"/>
          </a:xfrm>
          <a:prstGeom prst="rect">
            <a:avLst/>
          </a:prstGeom>
          <a:noFill/>
          <a:ln/>
        </p:spPr>
        <p:txBody>
          <a:bodyPr wrap="square" lIns="0" tIns="0" rIns="0" bIns="0" rtlCol="0" anchor="t"/>
          <a:lstStyle/>
          <a:p>
            <a:pPr algn="l" indent="0" marL="0">
              <a:buNone/>
            </a:pPr>
            <a:r>
              <a:rPr lang="en-US" sz="1300" b="1" spc="200" kern="0" dirty="0">
                <a:solidFill>
                  <a:schemeClr val="accent6"/>
                </a:solidFill>
              </a:rPr>
              <a:t>CARTES-VERBES</a:t>
            </a:r>
            <a:endParaRPr lang="en-US" sz="1300" dirty="0"/>
          </a:p>
        </p:txBody>
      </p:sp>
      <p:sp>
        <p:nvSpPr>
          <p:cNvPr id="7" name="Text 4"/>
          <p:cNvSpPr txBox="1"/>
          <p:nvPr/>
        </p:nvSpPr>
        <p:spPr>
          <a:xfrm>
            <a:off x="4160520" y="1481328"/>
            <a:ext cx="3474720" cy="320040"/>
          </a:xfrm>
          <a:prstGeom prst="rect">
            <a:avLst/>
          </a:prstGeom>
          <a:noFill/>
          <a:ln/>
        </p:spPr>
        <p:txBody>
          <a:bodyPr wrap="square" lIns="0" tIns="0" rIns="0" bIns="0" rtlCol="0" anchor="t"/>
          <a:lstStyle/>
          <a:p>
            <a:pPr algn="l" indent="0" marL="0">
              <a:buNone/>
            </a:pPr>
            <a:r>
              <a:rPr lang="en-US" sz="1300" b="1" spc="200" kern="0" dirty="0">
                <a:solidFill>
                  <a:schemeClr val="accent1"/>
                </a:solidFill>
              </a:rPr>
              <a:t>CARTES-TRAJETS</a:t>
            </a:r>
            <a:endParaRPr lang="en-US" sz="1300" dirty="0"/>
          </a:p>
        </p:txBody>
      </p:sp>
      <p:sp>
        <p:nvSpPr>
          <p:cNvPr id="8" name="Shape 5"/>
          <p:cNvSpPr/>
          <p:nvPr/>
        </p:nvSpPr>
        <p:spPr>
          <a:xfrm rot="-180000">
            <a:off x="548640" y="1828800"/>
            <a:ext cx="1645920" cy="713232"/>
          </a:xfrm>
          <a:prstGeom prst="roundRect">
            <a:avLst>
              <a:gd name="adj" fmla="val 12821"/>
            </a:avLst>
          </a:prstGeom>
          <a:solidFill>
            <a:srgbClr val="FBEDEB"/>
          </a:solidFill>
          <a:ln w="22225">
            <a:solidFill>
              <a:srgbClr val="B83227"/>
            </a:solidFill>
            <a:prstDash val="solid"/>
          </a:ln>
        </p:spPr>
      </p:sp>
      <p:sp>
        <p:nvSpPr>
          <p:cNvPr id="9" name="Text 6"/>
          <p:cNvSpPr txBox="1"/>
          <p:nvPr/>
        </p:nvSpPr>
        <p:spPr>
          <a:xfrm rot="-180000">
            <a:off x="548640" y="182880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lopen</a:t>
            </a:r>
            <a:endParaRPr lang="en-US" sz="1700" dirty="0"/>
          </a:p>
        </p:txBody>
      </p:sp>
      <p:sp>
        <p:nvSpPr>
          <p:cNvPr id="10" name="Shape 7"/>
          <p:cNvSpPr/>
          <p:nvPr/>
        </p:nvSpPr>
        <p:spPr>
          <a:xfrm rot="120000">
            <a:off x="2304288" y="1828800"/>
            <a:ext cx="1645920" cy="713232"/>
          </a:xfrm>
          <a:prstGeom prst="roundRect">
            <a:avLst>
              <a:gd name="adj" fmla="val 12821"/>
            </a:avLst>
          </a:prstGeom>
          <a:solidFill>
            <a:srgbClr val="FBEDEB"/>
          </a:solidFill>
          <a:ln w="22225">
            <a:solidFill>
              <a:srgbClr val="B83227"/>
            </a:solidFill>
            <a:prstDash val="solid"/>
          </a:ln>
        </p:spPr>
      </p:sp>
      <p:sp>
        <p:nvSpPr>
          <p:cNvPr id="11" name="Text 8"/>
          <p:cNvSpPr txBox="1"/>
          <p:nvPr/>
        </p:nvSpPr>
        <p:spPr>
          <a:xfrm rot="120000">
            <a:off x="2304288" y="182880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rennen</a:t>
            </a:r>
            <a:endParaRPr lang="en-US" sz="1700" dirty="0"/>
          </a:p>
        </p:txBody>
      </p:sp>
      <p:sp>
        <p:nvSpPr>
          <p:cNvPr id="12" name="Shape 9"/>
          <p:cNvSpPr/>
          <p:nvPr/>
        </p:nvSpPr>
        <p:spPr>
          <a:xfrm rot="60000">
            <a:off x="548640" y="2651760"/>
            <a:ext cx="1645920" cy="713232"/>
          </a:xfrm>
          <a:prstGeom prst="roundRect">
            <a:avLst>
              <a:gd name="adj" fmla="val 12821"/>
            </a:avLst>
          </a:prstGeom>
          <a:solidFill>
            <a:srgbClr val="FBEDEB"/>
          </a:solidFill>
          <a:ln w="22225">
            <a:solidFill>
              <a:srgbClr val="B83227"/>
            </a:solidFill>
            <a:prstDash val="solid"/>
          </a:ln>
        </p:spPr>
      </p:sp>
      <p:sp>
        <p:nvSpPr>
          <p:cNvPr id="13" name="Text 10"/>
          <p:cNvSpPr txBox="1"/>
          <p:nvPr/>
        </p:nvSpPr>
        <p:spPr>
          <a:xfrm rot="60000">
            <a:off x="548640" y="265176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fietsen</a:t>
            </a:r>
            <a:endParaRPr lang="en-US" sz="1700" dirty="0"/>
          </a:p>
        </p:txBody>
      </p:sp>
      <p:sp>
        <p:nvSpPr>
          <p:cNvPr id="14" name="Shape 11"/>
          <p:cNvSpPr/>
          <p:nvPr/>
        </p:nvSpPr>
        <p:spPr>
          <a:xfrm rot="-120000">
            <a:off x="2304288" y="2651760"/>
            <a:ext cx="1645920" cy="713232"/>
          </a:xfrm>
          <a:prstGeom prst="roundRect">
            <a:avLst>
              <a:gd name="adj" fmla="val 12821"/>
            </a:avLst>
          </a:prstGeom>
          <a:solidFill>
            <a:srgbClr val="FBEDEB"/>
          </a:solidFill>
          <a:ln w="22225">
            <a:solidFill>
              <a:srgbClr val="B83227"/>
            </a:solidFill>
            <a:prstDash val="solid"/>
          </a:ln>
        </p:spPr>
      </p:sp>
      <p:sp>
        <p:nvSpPr>
          <p:cNvPr id="15" name="Text 12"/>
          <p:cNvSpPr txBox="1"/>
          <p:nvPr/>
        </p:nvSpPr>
        <p:spPr>
          <a:xfrm rot="-120000">
            <a:off x="2304288" y="265176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rijden</a:t>
            </a:r>
            <a:endParaRPr lang="en-US" sz="1700" dirty="0"/>
          </a:p>
        </p:txBody>
      </p:sp>
      <p:sp>
        <p:nvSpPr>
          <p:cNvPr id="16" name="Shape 13"/>
          <p:cNvSpPr/>
          <p:nvPr/>
        </p:nvSpPr>
        <p:spPr>
          <a:xfrm rot="-180000">
            <a:off x="548640" y="3474720"/>
            <a:ext cx="1645920" cy="713232"/>
          </a:xfrm>
          <a:prstGeom prst="roundRect">
            <a:avLst>
              <a:gd name="adj" fmla="val 12821"/>
            </a:avLst>
          </a:prstGeom>
          <a:solidFill>
            <a:srgbClr val="FBEDEB"/>
          </a:solidFill>
          <a:ln w="22225">
            <a:solidFill>
              <a:srgbClr val="B83227"/>
            </a:solidFill>
            <a:prstDash val="solid"/>
          </a:ln>
        </p:spPr>
      </p:sp>
      <p:sp>
        <p:nvSpPr>
          <p:cNvPr id="17" name="Text 14"/>
          <p:cNvSpPr txBox="1"/>
          <p:nvPr/>
        </p:nvSpPr>
        <p:spPr>
          <a:xfrm rot="-180000">
            <a:off x="548640" y="347472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zwemmen</a:t>
            </a:r>
            <a:endParaRPr lang="en-US" sz="1700" dirty="0"/>
          </a:p>
        </p:txBody>
      </p:sp>
      <p:sp>
        <p:nvSpPr>
          <p:cNvPr id="18" name="Shape 15"/>
          <p:cNvSpPr/>
          <p:nvPr/>
        </p:nvSpPr>
        <p:spPr>
          <a:xfrm rot="120000">
            <a:off x="2304288" y="3474720"/>
            <a:ext cx="1645920" cy="713232"/>
          </a:xfrm>
          <a:prstGeom prst="roundRect">
            <a:avLst>
              <a:gd name="adj" fmla="val 12821"/>
            </a:avLst>
          </a:prstGeom>
          <a:solidFill>
            <a:srgbClr val="FBEDEB"/>
          </a:solidFill>
          <a:ln w="22225">
            <a:solidFill>
              <a:srgbClr val="B83227"/>
            </a:solidFill>
            <a:prstDash val="solid"/>
          </a:ln>
        </p:spPr>
      </p:sp>
      <p:sp>
        <p:nvSpPr>
          <p:cNvPr id="19" name="Text 16"/>
          <p:cNvSpPr txBox="1"/>
          <p:nvPr/>
        </p:nvSpPr>
        <p:spPr>
          <a:xfrm rot="120000">
            <a:off x="2304288" y="347472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kruipen</a:t>
            </a:r>
            <a:endParaRPr lang="en-US" sz="1700" dirty="0"/>
          </a:p>
        </p:txBody>
      </p:sp>
      <p:sp>
        <p:nvSpPr>
          <p:cNvPr id="20" name="Shape 17"/>
          <p:cNvSpPr/>
          <p:nvPr/>
        </p:nvSpPr>
        <p:spPr>
          <a:xfrm rot="60000">
            <a:off x="548640" y="4297680"/>
            <a:ext cx="1645920" cy="713232"/>
          </a:xfrm>
          <a:prstGeom prst="roundRect">
            <a:avLst>
              <a:gd name="adj" fmla="val 12821"/>
            </a:avLst>
          </a:prstGeom>
          <a:solidFill>
            <a:srgbClr val="FBEDEB"/>
          </a:solidFill>
          <a:ln w="22225">
            <a:solidFill>
              <a:srgbClr val="B83227"/>
            </a:solidFill>
            <a:prstDash val="solid"/>
          </a:ln>
        </p:spPr>
      </p:sp>
      <p:sp>
        <p:nvSpPr>
          <p:cNvPr id="21" name="Text 18"/>
          <p:cNvSpPr txBox="1"/>
          <p:nvPr/>
        </p:nvSpPr>
        <p:spPr>
          <a:xfrm rot="60000">
            <a:off x="548640" y="429768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springen</a:t>
            </a:r>
            <a:endParaRPr lang="en-US" sz="1700" dirty="0"/>
          </a:p>
        </p:txBody>
      </p:sp>
      <p:sp>
        <p:nvSpPr>
          <p:cNvPr id="22" name="Shape 19"/>
          <p:cNvSpPr/>
          <p:nvPr/>
        </p:nvSpPr>
        <p:spPr>
          <a:xfrm rot="-120000">
            <a:off x="2304288" y="4297680"/>
            <a:ext cx="1645920" cy="713232"/>
          </a:xfrm>
          <a:prstGeom prst="roundRect">
            <a:avLst>
              <a:gd name="adj" fmla="val 12821"/>
            </a:avLst>
          </a:prstGeom>
          <a:solidFill>
            <a:srgbClr val="FBEDEB"/>
          </a:solidFill>
          <a:ln w="22225">
            <a:solidFill>
              <a:srgbClr val="B83227"/>
            </a:solidFill>
            <a:prstDash val="solid"/>
          </a:ln>
        </p:spPr>
      </p:sp>
      <p:sp>
        <p:nvSpPr>
          <p:cNvPr id="23" name="Text 20"/>
          <p:cNvSpPr txBox="1"/>
          <p:nvPr/>
        </p:nvSpPr>
        <p:spPr>
          <a:xfrm rot="-120000">
            <a:off x="2304288" y="4297680"/>
            <a:ext cx="1645920" cy="713232"/>
          </a:xfrm>
          <a:prstGeom prst="rect">
            <a:avLst/>
          </a:prstGeom>
          <a:noFill/>
          <a:ln/>
        </p:spPr>
        <p:txBody>
          <a:bodyPr wrap="square" lIns="0" tIns="0" rIns="0" bIns="0" rtlCol="0" anchor="ctr"/>
          <a:lstStyle/>
          <a:p>
            <a:pPr algn="ctr" indent="0" marL="0">
              <a:buNone/>
            </a:pPr>
            <a:r>
              <a:rPr lang="en-US" sz="1700" b="1" i="1" dirty="0">
                <a:solidFill>
                  <a:schemeClr val="accent6"/>
                </a:solidFill>
              </a:rPr>
              <a:t>sluipen</a:t>
            </a:r>
            <a:endParaRPr lang="en-US" sz="1700" dirty="0"/>
          </a:p>
        </p:txBody>
      </p:sp>
      <p:sp>
        <p:nvSpPr>
          <p:cNvPr id="24" name="Shape 21"/>
          <p:cNvSpPr/>
          <p:nvPr/>
        </p:nvSpPr>
        <p:spPr>
          <a:xfrm rot="120000">
            <a:off x="4160520" y="1828800"/>
            <a:ext cx="1691640" cy="713232"/>
          </a:xfrm>
          <a:prstGeom prst="roundRect">
            <a:avLst>
              <a:gd name="adj" fmla="val 12821"/>
            </a:avLst>
          </a:prstGeom>
          <a:solidFill>
            <a:srgbClr val="FDF1E6"/>
          </a:solidFill>
          <a:ln w="22225">
            <a:solidFill>
              <a:srgbClr val="D9700F"/>
            </a:solidFill>
            <a:prstDash val="solid"/>
          </a:ln>
        </p:spPr>
      </p:sp>
      <p:sp>
        <p:nvSpPr>
          <p:cNvPr id="25" name="Text 22"/>
          <p:cNvSpPr txBox="1"/>
          <p:nvPr/>
        </p:nvSpPr>
        <p:spPr>
          <a:xfrm rot="120000">
            <a:off x="4206240" y="182880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de vergaderzaal in</a:t>
            </a:r>
            <a:endParaRPr lang="en-US" sz="1400" dirty="0"/>
          </a:p>
        </p:txBody>
      </p:sp>
      <p:sp>
        <p:nvSpPr>
          <p:cNvPr id="26" name="Shape 23"/>
          <p:cNvSpPr/>
          <p:nvPr/>
        </p:nvSpPr>
        <p:spPr>
          <a:xfrm rot="-120000">
            <a:off x="5943600" y="1828800"/>
            <a:ext cx="1691640" cy="713232"/>
          </a:xfrm>
          <a:prstGeom prst="roundRect">
            <a:avLst>
              <a:gd name="adj" fmla="val 12821"/>
            </a:avLst>
          </a:prstGeom>
          <a:solidFill>
            <a:srgbClr val="FDF1E6"/>
          </a:solidFill>
          <a:ln w="22225">
            <a:solidFill>
              <a:srgbClr val="D9700F"/>
            </a:solidFill>
            <a:prstDash val="solid"/>
          </a:ln>
        </p:spPr>
      </p:sp>
      <p:sp>
        <p:nvSpPr>
          <p:cNvPr id="27" name="Text 24"/>
          <p:cNvSpPr txBox="1"/>
          <p:nvPr/>
        </p:nvSpPr>
        <p:spPr>
          <a:xfrm rot="-120000">
            <a:off x="5989320" y="182880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de trap op</a:t>
            </a:r>
            <a:endParaRPr lang="en-US" sz="1400" dirty="0"/>
          </a:p>
        </p:txBody>
      </p:sp>
      <p:sp>
        <p:nvSpPr>
          <p:cNvPr id="28" name="Shape 25"/>
          <p:cNvSpPr/>
          <p:nvPr/>
        </p:nvSpPr>
        <p:spPr>
          <a:xfrm rot="-60000">
            <a:off x="4160520" y="2651760"/>
            <a:ext cx="1691640" cy="713232"/>
          </a:xfrm>
          <a:prstGeom prst="roundRect">
            <a:avLst>
              <a:gd name="adj" fmla="val 12821"/>
            </a:avLst>
          </a:prstGeom>
          <a:solidFill>
            <a:srgbClr val="FDF1E6"/>
          </a:solidFill>
          <a:ln w="22225">
            <a:solidFill>
              <a:srgbClr val="D9700F"/>
            </a:solidFill>
            <a:prstDash val="solid"/>
          </a:ln>
        </p:spPr>
      </p:sp>
      <p:sp>
        <p:nvSpPr>
          <p:cNvPr id="29" name="Text 26"/>
          <p:cNvSpPr txBox="1"/>
          <p:nvPr/>
        </p:nvSpPr>
        <p:spPr>
          <a:xfrm rot="-60000">
            <a:off x="4206240" y="265176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de gang door</a:t>
            </a:r>
            <a:endParaRPr lang="en-US" sz="1400" dirty="0"/>
          </a:p>
        </p:txBody>
      </p:sp>
      <p:sp>
        <p:nvSpPr>
          <p:cNvPr id="30" name="Shape 27"/>
          <p:cNvSpPr/>
          <p:nvPr/>
        </p:nvSpPr>
        <p:spPr>
          <a:xfrm rot="180000">
            <a:off x="5943600" y="2651760"/>
            <a:ext cx="1691640" cy="713232"/>
          </a:xfrm>
          <a:prstGeom prst="roundRect">
            <a:avLst>
              <a:gd name="adj" fmla="val 12821"/>
            </a:avLst>
          </a:prstGeom>
          <a:solidFill>
            <a:srgbClr val="FDF1E6"/>
          </a:solidFill>
          <a:ln w="22225">
            <a:solidFill>
              <a:srgbClr val="D9700F"/>
            </a:solidFill>
            <a:prstDash val="solid"/>
          </a:ln>
        </p:spPr>
      </p:sp>
      <p:sp>
        <p:nvSpPr>
          <p:cNvPr id="31" name="Text 28"/>
          <p:cNvSpPr txBox="1"/>
          <p:nvPr/>
        </p:nvSpPr>
        <p:spPr>
          <a:xfrm rot="180000">
            <a:off x="5989320" y="265176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de lift uit</a:t>
            </a:r>
            <a:endParaRPr lang="en-US" sz="1400" dirty="0"/>
          </a:p>
        </p:txBody>
      </p:sp>
      <p:sp>
        <p:nvSpPr>
          <p:cNvPr id="32" name="Shape 29"/>
          <p:cNvSpPr/>
          <p:nvPr/>
        </p:nvSpPr>
        <p:spPr>
          <a:xfrm rot="120000">
            <a:off x="4160520" y="3474720"/>
            <a:ext cx="1691640" cy="713232"/>
          </a:xfrm>
          <a:prstGeom prst="roundRect">
            <a:avLst>
              <a:gd name="adj" fmla="val 12821"/>
            </a:avLst>
          </a:prstGeom>
          <a:solidFill>
            <a:srgbClr val="FDF1E6"/>
          </a:solidFill>
          <a:ln w="22225">
            <a:solidFill>
              <a:srgbClr val="D9700F"/>
            </a:solidFill>
            <a:prstDash val="solid"/>
          </a:ln>
        </p:spPr>
      </p:sp>
      <p:sp>
        <p:nvSpPr>
          <p:cNvPr id="33" name="Text 30"/>
          <p:cNvSpPr txBox="1"/>
          <p:nvPr/>
        </p:nvSpPr>
        <p:spPr>
          <a:xfrm rot="120000">
            <a:off x="4206240" y="347472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de hoek om</a:t>
            </a:r>
            <a:endParaRPr lang="en-US" sz="1400" dirty="0"/>
          </a:p>
        </p:txBody>
      </p:sp>
      <p:sp>
        <p:nvSpPr>
          <p:cNvPr id="34" name="Shape 31"/>
          <p:cNvSpPr/>
          <p:nvPr/>
        </p:nvSpPr>
        <p:spPr>
          <a:xfrm rot="-120000">
            <a:off x="5943600" y="3474720"/>
            <a:ext cx="1691640" cy="713232"/>
          </a:xfrm>
          <a:prstGeom prst="roundRect">
            <a:avLst>
              <a:gd name="adj" fmla="val 12821"/>
            </a:avLst>
          </a:prstGeom>
          <a:solidFill>
            <a:srgbClr val="FDF1E6"/>
          </a:solidFill>
          <a:ln w="22225">
            <a:solidFill>
              <a:srgbClr val="D9700F"/>
            </a:solidFill>
            <a:prstDash val="solid"/>
          </a:ln>
        </p:spPr>
      </p:sp>
      <p:sp>
        <p:nvSpPr>
          <p:cNvPr id="35" name="Text 32"/>
          <p:cNvSpPr txBox="1"/>
          <p:nvPr/>
        </p:nvSpPr>
        <p:spPr>
          <a:xfrm rot="-120000">
            <a:off x="5989320" y="347472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de parking op</a:t>
            </a:r>
            <a:endParaRPr lang="en-US" sz="1400" dirty="0"/>
          </a:p>
        </p:txBody>
      </p:sp>
      <p:sp>
        <p:nvSpPr>
          <p:cNvPr id="36" name="Shape 33"/>
          <p:cNvSpPr/>
          <p:nvPr/>
        </p:nvSpPr>
        <p:spPr>
          <a:xfrm rot="-60000">
            <a:off x="4160520" y="4297680"/>
            <a:ext cx="1691640" cy="713232"/>
          </a:xfrm>
          <a:prstGeom prst="roundRect">
            <a:avLst>
              <a:gd name="adj" fmla="val 12821"/>
            </a:avLst>
          </a:prstGeom>
          <a:solidFill>
            <a:srgbClr val="FDF1E6"/>
          </a:solidFill>
          <a:ln w="22225">
            <a:solidFill>
              <a:srgbClr val="D9700F"/>
            </a:solidFill>
            <a:prstDash val="solid"/>
          </a:ln>
        </p:spPr>
      </p:sp>
      <p:sp>
        <p:nvSpPr>
          <p:cNvPr id="37" name="Text 34"/>
          <p:cNvSpPr txBox="1"/>
          <p:nvPr/>
        </p:nvSpPr>
        <p:spPr>
          <a:xfrm rot="-60000">
            <a:off x="4206240" y="429768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het kantoor uit</a:t>
            </a:r>
            <a:endParaRPr lang="en-US" sz="1400" dirty="0"/>
          </a:p>
        </p:txBody>
      </p:sp>
      <p:sp>
        <p:nvSpPr>
          <p:cNvPr id="38" name="Shape 35"/>
          <p:cNvSpPr/>
          <p:nvPr/>
        </p:nvSpPr>
        <p:spPr>
          <a:xfrm rot="180000">
            <a:off x="5943600" y="4297680"/>
            <a:ext cx="1691640" cy="713232"/>
          </a:xfrm>
          <a:prstGeom prst="roundRect">
            <a:avLst>
              <a:gd name="adj" fmla="val 12821"/>
            </a:avLst>
          </a:prstGeom>
          <a:solidFill>
            <a:srgbClr val="FDF1E6"/>
          </a:solidFill>
          <a:ln w="22225">
            <a:solidFill>
              <a:srgbClr val="D9700F"/>
            </a:solidFill>
            <a:prstDash val="solid"/>
          </a:ln>
        </p:spPr>
      </p:sp>
      <p:sp>
        <p:nvSpPr>
          <p:cNvPr id="39" name="Text 36"/>
          <p:cNvSpPr txBox="1"/>
          <p:nvPr/>
        </p:nvSpPr>
        <p:spPr>
          <a:xfrm rot="180000">
            <a:off x="5989320" y="4297680"/>
            <a:ext cx="1600200" cy="713232"/>
          </a:xfrm>
          <a:prstGeom prst="rect">
            <a:avLst/>
          </a:prstGeom>
          <a:noFill/>
          <a:ln/>
        </p:spPr>
        <p:txBody>
          <a:bodyPr wrap="square" lIns="0" tIns="0" rIns="0" bIns="0" rtlCol="0" anchor="ctr"/>
          <a:lstStyle/>
          <a:p>
            <a:pPr algn="ctr" indent="0" marL="0">
              <a:buNone/>
            </a:pPr>
            <a:r>
              <a:rPr lang="en-US" sz="1400" b="1" i="1" dirty="0">
                <a:solidFill>
                  <a:schemeClr val="accent1"/>
                </a:solidFill>
              </a:rPr>
              <a:t>de straat over</a:t>
            </a:r>
            <a:endParaRPr lang="en-US" sz="1400" dirty="0"/>
          </a:p>
        </p:txBody>
      </p:sp>
      <p:pic>
        <p:nvPicPr>
          <p:cNvPr id="40" name="Image 0" descr="game die">    </p:cNvPr>
          <p:cNvPicPr>
            <a:picLocks noChangeAspect="1"/>
          </p:cNvPicPr>
          <p:nvPr/>
        </p:nvPicPr>
        <p:blipFill>
          <a:blip r:embed="rId1"/>
          <a:stretch>
            <a:fillRect/>
          </a:stretch>
        </p:blipFill>
        <p:spPr>
          <a:xfrm>
            <a:off x="8001000" y="1554480"/>
            <a:ext cx="731520" cy="731520"/>
          </a:xfrm>
          <a:prstGeom prst="rect">
            <a:avLst/>
          </a:prstGeom>
        </p:spPr>
      </p:pic>
      <p:sp>
        <p:nvSpPr>
          <p:cNvPr id="41" name="Text 37"/>
          <p:cNvSpPr txBox="1"/>
          <p:nvPr/>
        </p:nvSpPr>
        <p:spPr>
          <a:xfrm>
            <a:off x="8823960" y="1554480"/>
            <a:ext cx="2743200" cy="731520"/>
          </a:xfrm>
          <a:prstGeom prst="rect">
            <a:avLst/>
          </a:prstGeom>
          <a:noFill/>
          <a:ln/>
        </p:spPr>
        <p:txBody>
          <a:bodyPr wrap="square" lIns="0" tIns="0" rIns="0" bIns="0" rtlCol="0" anchor="ctr"/>
          <a:lstStyle/>
          <a:p>
            <a:pPr algn="l" indent="0" marL="0">
              <a:buNone/>
            </a:pPr>
            <a:r>
              <a:rPr lang="en-US" sz="2800" b="1" dirty="0">
                <a:solidFill>
                  <a:schemeClr val="accent1"/>
                </a:solidFill>
                <a:latin typeface="+mj-lt" pitchFamily="34" charset="0"/>
                <a:ea typeface="+mj-lt" pitchFamily="34" charset="-122"/>
                <a:cs typeface="+mj-lt" pitchFamily="34" charset="-120"/>
              </a:rPr>
              <a:t>Kruip!</a:t>
            </a:r>
            <a:endParaRPr lang="en-US" sz="2800" dirty="0"/>
          </a:p>
        </p:txBody>
      </p:sp>
      <p:sp>
        <p:nvSpPr>
          <p:cNvPr id="42" name="Text 38"/>
          <p:cNvSpPr txBox="1"/>
          <p:nvPr/>
        </p:nvSpPr>
        <p:spPr>
          <a:xfrm>
            <a:off x="8001000" y="2423160"/>
            <a:ext cx="3639312" cy="3840480"/>
          </a:xfrm>
          <a:prstGeom prst="rect">
            <a:avLst/>
          </a:prstGeom>
          <a:noFill/>
          <a:ln/>
        </p:spPr>
        <p:txBody>
          <a:bodyPr wrap="square" lIns="0" tIns="0" rIns="0" bIns="0" rtlCol="0" anchor="t"/>
          <a:lstStyle/>
          <a:p>
            <a:pPr algn="l" indent="0" marL="0">
              <a:spcAft>
                <a:spcPts val="800"/>
              </a:spcAft>
              <a:buNone/>
            </a:pPr>
            <a:r>
              <a:rPr lang="en-US" sz="1500" b="1" dirty="0">
                <a:solidFill>
                  <a:schemeClr val="tx1"/>
                </a:solidFill>
              </a:rPr>
              <a:t>1.</a:t>
            </a:r>
            <a:r>
              <a:rPr lang="en-US" sz="1500" dirty="0">
                <a:solidFill>
                  <a:schemeClr val="tx1"/>
                </a:solidFill>
              </a:rPr>
              <a:t> Tirez une carte-verbe et une carte-trajet.</a:t>
            </a:r>
            <a:endParaRPr lang="en-US" sz="1500" dirty="0"/>
          </a:p>
          <a:p>
            <a:pPr algn="l" indent="0" marL="0">
              <a:spcAft>
                <a:spcPts val="800"/>
              </a:spcAft>
              <a:buNone/>
            </a:pPr>
            <a:r>
              <a:rPr lang="en-US" sz="1500" b="1" dirty="0">
                <a:solidFill>
                  <a:schemeClr val="tx1"/>
                </a:solidFill>
              </a:rPr>
              <a:t>2.</a:t>
            </a:r>
            <a:r>
              <a:rPr lang="en-US" sz="1500" dirty="0">
                <a:solidFill>
                  <a:schemeClr val="tx1"/>
                </a:solidFill>
              </a:rPr>
              <a:t> Dites la phrase avec un sujet : </a:t>
            </a:r>
            <a:r>
              <a:rPr lang="en-US" sz="1500" i="1" dirty="0">
                <a:solidFill>
                  <a:schemeClr val="tx1"/>
                </a:solidFill>
              </a:rPr>
              <a:t>De directeur </a:t>
            </a:r>
            <a:r>
              <a:rPr lang="en-US" sz="1500" b="1" i="1" dirty="0">
                <a:solidFill>
                  <a:schemeClr val="tx1"/>
                </a:solidFill>
              </a:rPr>
              <a:t>kruipt</a:t>
            </a:r>
            <a:r>
              <a:rPr lang="en-US" sz="1500" i="1" dirty="0">
                <a:solidFill>
                  <a:schemeClr val="tx1"/>
                </a:solidFill>
              </a:rPr>
              <a:t> de vergaderzaal </a:t>
            </a:r>
            <a:r>
              <a:rPr lang="en-US" sz="1500" b="1" i="1" dirty="0">
                <a:solidFill>
                  <a:schemeClr val="tx1"/>
                </a:solidFill>
              </a:rPr>
              <a:t>in</a:t>
            </a:r>
            <a:r>
              <a:rPr lang="en-US" sz="1500" i="1" dirty="0">
                <a:solidFill>
                  <a:schemeClr val="tx1"/>
                </a:solidFill>
              </a:rPr>
              <a:t>!</a:t>
            </a:r>
            <a:endParaRPr lang="en-US" sz="1500" dirty="0"/>
          </a:p>
          <a:p>
            <a:pPr algn="l" indent="0" marL="0">
              <a:spcAft>
                <a:spcPts val="800"/>
              </a:spcAft>
              <a:buNone/>
            </a:pPr>
            <a:r>
              <a:rPr lang="en-US" sz="1500" b="1" dirty="0">
                <a:solidFill>
                  <a:schemeClr val="tx1"/>
                </a:solidFill>
              </a:rPr>
              <a:t>3.</a:t>
            </a:r>
            <a:r>
              <a:rPr lang="en-US" sz="1500" dirty="0">
                <a:solidFill>
                  <a:schemeClr val="tx1"/>
                </a:solidFill>
              </a:rPr>
              <a:t> Le groupe mime, puis passe au passé composé : </a:t>
            </a:r>
            <a:r>
              <a:rPr lang="en-US" sz="1500" i="1" dirty="0">
                <a:solidFill>
                  <a:schemeClr val="tx1"/>
                </a:solidFill>
              </a:rPr>
              <a:t>De directeur </a:t>
            </a:r>
            <a:r>
              <a:rPr lang="en-US" sz="1500" b="1" i="1" dirty="0">
                <a:solidFill>
                  <a:schemeClr val="tx1"/>
                </a:solidFill>
              </a:rPr>
              <a:t>is</a:t>
            </a:r>
            <a:r>
              <a:rPr lang="en-US" sz="1500" i="1" dirty="0">
                <a:solidFill>
                  <a:schemeClr val="tx1"/>
                </a:solidFill>
              </a:rPr>
              <a:t> de vergaderzaal in </a:t>
            </a:r>
            <a:r>
              <a:rPr lang="en-US" sz="1500" b="1" i="1" dirty="0">
                <a:solidFill>
                  <a:schemeClr val="tx1"/>
                </a:solidFill>
              </a:rPr>
              <a:t>gekropen</a:t>
            </a:r>
            <a:r>
              <a:rPr lang="en-US" sz="1500" i="1" dirty="0">
                <a:solidFill>
                  <a:schemeClr val="tx1"/>
                </a:solidFill>
              </a:rPr>
              <a:t>.</a:t>
            </a:r>
            <a:endParaRPr lang="en-US" sz="1500" dirty="0"/>
          </a:p>
          <a:p>
            <a:pPr algn="l" indent="0" marL="0">
              <a:spcAft>
                <a:spcPts val="800"/>
              </a:spcAft>
              <a:buNone/>
            </a:pPr>
            <a:r>
              <a:rPr lang="en-US" sz="1500" dirty="0">
                <a:solidFill>
                  <a:schemeClr val="tx1"/>
                </a:solidFill>
              </a:rPr>
              <a:t>Les phrases absurdes sont permises… si elles sont correctes !</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Le visiteur perdu</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Un visiteur arrive à l’accueil de Peeters &amp; Co et cherche une pièce. L’accueil explique le chemin ; le visiteur répète pour vérifier.</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L’accueil</a:t>
            </a:r>
            <a:r>
              <a:rPr lang="en-US" sz="1700" dirty="0">
                <a:solidFill>
                  <a:schemeClr val="tx1"/>
                </a:solidFill>
              </a:rPr>
              <a:t> : saluez, demandez qui il ou elle vient voir, expliquez le chemin avec au moins deux </a:t>
            </a:r>
            <a:r>
              <a:rPr lang="en-US" sz="1700" i="1" dirty="0">
                <a:solidFill>
                  <a:schemeClr val="tx1"/>
                </a:solidFill>
              </a:rPr>
              <a:t>achterzetsels</a:t>
            </a:r>
            <a:r>
              <a:rPr lang="en-US" sz="1700" dirty="0">
                <a:solidFill>
                  <a:schemeClr val="tx1"/>
                </a:solidFill>
              </a:rPr>
              <a:t>.</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Le visiteur</a:t>
            </a:r>
            <a:r>
              <a:rPr lang="en-US" sz="1700" dirty="0">
                <a:solidFill>
                  <a:schemeClr val="tx1"/>
                </a:solidFill>
              </a:rPr>
              <a:t> : présentez-vous, dites qui vous cherchez, répétez le chemin : </a:t>
            </a:r>
            <a:r>
              <a:rPr lang="en-US" sz="1700" i="1" dirty="0">
                <a:solidFill>
                  <a:schemeClr val="tx1"/>
                </a:solidFill>
              </a:rPr>
              <a:t>Dus ik loop…</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Goedemorgen, kan ik u helpen? · Ik heb een afspraak met… · U loopt de gang in / door. · U gaat de hoek om. · U loopt de trap op. · Het is de eerste deur links / rechts. · Dus ik loop… · Dank u wel!</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457200"/>
          </a:xfrm>
          <a:prstGeom prst="roundRect">
            <a:avLst>
              <a:gd name="adj" fmla="val 8000"/>
            </a:avLst>
          </a:prstGeom>
          <a:solidFill>
            <a:schemeClr val="tx2"/>
          </a:solidFill>
          <a:ln w="12700">
            <a:solidFill>
              <a:srgbClr val="FFFFFF">
                <a:alpha val="0"/>
              </a:srgbClr>
            </a:solidFill>
            <a:prstDash val="solid"/>
          </a:ln>
        </p:spPr>
      </p:sp>
      <p:sp>
        <p:nvSpPr>
          <p:cNvPr id="21" name="Text 18"/>
          <p:cNvSpPr txBox="1"/>
          <p:nvPr/>
        </p:nvSpPr>
        <p:spPr>
          <a:xfrm>
            <a:off x="8211312" y="1481328"/>
            <a:ext cx="3291840" cy="457200"/>
          </a:xfrm>
          <a:prstGeom prst="rect">
            <a:avLst/>
          </a:prstGeom>
          <a:noFill/>
          <a:ln/>
        </p:spPr>
        <p:txBody>
          <a:bodyPr wrap="square" lIns="0" tIns="0" rIns="0" bIns="0" rtlCol="0" anchor="ctr"/>
          <a:lstStyle/>
          <a:p>
            <a:pPr algn="l" indent="0" marL="0">
              <a:buNone/>
            </a:pPr>
            <a:r>
              <a:rPr lang="en-US" sz="1200" b="1" spc="100" kern="0" dirty="0">
                <a:solidFill>
                  <a:schemeClr val="bg1"/>
                </a:solidFill>
              </a:rPr>
              <a:t>PEETERS &amp; CO · GELIJKVLOERS</a:t>
            </a:r>
            <a:endParaRPr lang="en-US" sz="1200" dirty="0"/>
          </a:p>
        </p:txBody>
      </p:sp>
      <p:sp>
        <p:nvSpPr>
          <p:cNvPr id="22" name="Shape 19"/>
          <p:cNvSpPr/>
          <p:nvPr/>
        </p:nvSpPr>
        <p:spPr>
          <a:xfrm>
            <a:off x="8165592" y="2953512"/>
            <a:ext cx="507492" cy="1545336"/>
          </a:xfrm>
          <a:prstGeom prst="roundRect">
            <a:avLst>
              <a:gd name="adj" fmla="val 7207"/>
            </a:avLst>
          </a:prstGeom>
          <a:solidFill>
            <a:srgbClr val="E6EBF2"/>
          </a:solidFill>
          <a:ln w="12700">
            <a:solidFill>
              <a:srgbClr val="4A5A70"/>
            </a:solidFill>
            <a:prstDash val="dash"/>
          </a:ln>
        </p:spPr>
      </p:sp>
      <p:sp>
        <p:nvSpPr>
          <p:cNvPr id="23" name="Text 20"/>
          <p:cNvSpPr txBox="1"/>
          <p:nvPr/>
        </p:nvSpPr>
        <p:spPr>
          <a:xfrm>
            <a:off x="8165592" y="3503981"/>
            <a:ext cx="507492" cy="457200"/>
          </a:xfrm>
          <a:prstGeom prst="rect">
            <a:avLst/>
          </a:prstGeom>
          <a:noFill/>
          <a:ln/>
        </p:spPr>
        <p:txBody>
          <a:bodyPr wrap="square" lIns="0" tIns="0" rIns="0" bIns="0" rtlCol="0" anchor="t"/>
          <a:lstStyle/>
          <a:p>
            <a:pPr algn="ctr" indent="0" marL="0">
              <a:buNone/>
            </a:pPr>
            <a:r>
              <a:rPr lang="en-US" sz="600" i="1" dirty="0">
                <a:solidFill>
                  <a:schemeClr val="accent5"/>
                </a:solidFill>
              </a:rPr>
              <a:t>parking</a:t>
            </a:r>
            <a:endParaRPr lang="en-US" sz="600" dirty="0"/>
          </a:p>
        </p:txBody>
      </p:sp>
      <p:sp>
        <p:nvSpPr>
          <p:cNvPr id="24" name="Shape 21"/>
          <p:cNvSpPr/>
          <p:nvPr/>
        </p:nvSpPr>
        <p:spPr>
          <a:xfrm>
            <a:off x="8782812" y="2121408"/>
            <a:ext cx="2766060" cy="2377440"/>
          </a:xfrm>
          <a:prstGeom prst="rect">
            <a:avLst/>
          </a:prstGeom>
          <a:solidFill>
            <a:srgbClr val="FFFFFF"/>
          </a:solidFill>
          <a:ln w="31750">
            <a:solidFill>
              <a:srgbClr val="17375E"/>
            </a:solidFill>
            <a:prstDash val="solid"/>
          </a:ln>
        </p:spPr>
      </p:sp>
      <p:sp>
        <p:nvSpPr>
          <p:cNvPr id="25" name="Shape 22"/>
          <p:cNvSpPr/>
          <p:nvPr/>
        </p:nvSpPr>
        <p:spPr>
          <a:xfrm>
            <a:off x="9253042" y="3024835"/>
            <a:ext cx="2295830" cy="570586"/>
          </a:xfrm>
          <a:prstGeom prst="rect">
            <a:avLst/>
          </a:prstGeom>
          <a:solidFill>
            <a:srgbClr val="EEF1F6"/>
          </a:solidFill>
          <a:ln w="12700">
            <a:solidFill>
              <a:srgbClr val="FFFFFF">
                <a:alpha val="0"/>
              </a:srgbClr>
            </a:solidFill>
            <a:prstDash val="solid"/>
          </a:ln>
        </p:spPr>
      </p:sp>
      <p:sp>
        <p:nvSpPr>
          <p:cNvPr id="26" name="Text 23"/>
          <p:cNvSpPr txBox="1"/>
          <p:nvPr/>
        </p:nvSpPr>
        <p:spPr>
          <a:xfrm>
            <a:off x="9916897" y="3024835"/>
            <a:ext cx="663854" cy="570586"/>
          </a:xfrm>
          <a:prstGeom prst="rect">
            <a:avLst/>
          </a:prstGeom>
          <a:noFill/>
          <a:ln/>
        </p:spPr>
        <p:txBody>
          <a:bodyPr wrap="square" lIns="0" tIns="0" rIns="0" bIns="0" rtlCol="0" anchor="ctr"/>
          <a:lstStyle/>
          <a:p>
            <a:pPr algn="ctr" indent="0" marL="0">
              <a:buNone/>
            </a:pPr>
            <a:r>
              <a:rPr lang="en-US" sz="600" i="1" dirty="0">
                <a:solidFill>
                  <a:schemeClr val="accent5"/>
                </a:solidFill>
              </a:rPr>
              <a:t>gang</a:t>
            </a:r>
            <a:endParaRPr lang="en-US" sz="600" dirty="0"/>
          </a:p>
        </p:txBody>
      </p:sp>
      <p:sp>
        <p:nvSpPr>
          <p:cNvPr id="27" name="Shape 24"/>
          <p:cNvSpPr/>
          <p:nvPr/>
        </p:nvSpPr>
        <p:spPr>
          <a:xfrm>
            <a:off x="8782812" y="2121408"/>
            <a:ext cx="470230" cy="2377440"/>
          </a:xfrm>
          <a:prstGeom prst="rect">
            <a:avLst/>
          </a:prstGeom>
          <a:solidFill>
            <a:srgbClr val="FDF1E6"/>
          </a:solidFill>
          <a:ln w="12700">
            <a:solidFill>
              <a:srgbClr val="FFFFFF">
                <a:alpha val="0"/>
              </a:srgbClr>
            </a:solidFill>
            <a:prstDash val="solid"/>
          </a:ln>
        </p:spPr>
      </p:sp>
      <p:sp>
        <p:nvSpPr>
          <p:cNvPr id="28" name="Shape 25"/>
          <p:cNvSpPr/>
          <p:nvPr/>
        </p:nvSpPr>
        <p:spPr>
          <a:xfrm>
            <a:off x="8867453" y="2711013"/>
            <a:ext cx="103451" cy="1198230"/>
          </a:xfrm>
          <a:prstGeom prst="roundRect">
            <a:avLst>
              <a:gd name="adj" fmla="val 35356"/>
            </a:avLst>
          </a:prstGeom>
          <a:solidFill>
            <a:schemeClr val="accent1">
              <a:alpha val="65000"/>
            </a:schemeClr>
          </a:solidFill>
          <a:ln w="12700">
            <a:solidFill>
              <a:srgbClr val="FFFFFF">
                <a:alpha val="0"/>
              </a:srgbClr>
            </a:solidFill>
            <a:prstDash val="solid"/>
          </a:ln>
        </p:spPr>
      </p:sp>
      <p:sp>
        <p:nvSpPr>
          <p:cNvPr id="29" name="Text 26"/>
          <p:cNvSpPr txBox="1"/>
          <p:nvPr/>
        </p:nvSpPr>
        <p:spPr>
          <a:xfrm>
            <a:off x="8819388" y="2176272"/>
            <a:ext cx="397078" cy="722742"/>
          </a:xfrm>
          <a:prstGeom prst="rect">
            <a:avLst/>
          </a:prstGeom>
          <a:noFill/>
          <a:ln/>
        </p:spPr>
        <p:txBody>
          <a:bodyPr wrap="square" lIns="0" tIns="0" rIns="0" bIns="0" rtlCol="0" anchor="t"/>
          <a:lstStyle/>
          <a:p>
            <a:pPr algn="ctr" indent="0" marL="0">
              <a:buNone/>
            </a:pPr>
            <a:r>
              <a:rPr lang="en-US" sz="600" b="1" dirty="0">
                <a:solidFill>
                  <a:schemeClr val="accent1"/>
                </a:solidFill>
              </a:rPr>
              <a:t>onthaal</a:t>
            </a:r>
            <a:endParaRPr lang="en-US" sz="600" dirty="0"/>
          </a:p>
        </p:txBody>
      </p:sp>
      <p:sp>
        <p:nvSpPr>
          <p:cNvPr id="30" name="Shape 27"/>
          <p:cNvSpPr/>
          <p:nvPr/>
        </p:nvSpPr>
        <p:spPr>
          <a:xfrm>
            <a:off x="8737092" y="3110423"/>
            <a:ext cx="91440" cy="399410"/>
          </a:xfrm>
          <a:prstGeom prst="rect">
            <a:avLst/>
          </a:prstGeom>
          <a:solidFill>
            <a:srgbClr val="FFFFFF"/>
          </a:solidFill>
          <a:ln w="12700">
            <a:solidFill>
              <a:srgbClr val="FFFFFF">
                <a:alpha val="0"/>
              </a:srgbClr>
            </a:solidFill>
            <a:prstDash val="solid"/>
          </a:ln>
        </p:spPr>
      </p:sp>
      <p:sp>
        <p:nvSpPr>
          <p:cNvPr id="31" name="Shape 28"/>
          <p:cNvSpPr/>
          <p:nvPr/>
        </p:nvSpPr>
        <p:spPr>
          <a:xfrm>
            <a:off x="9253042" y="2121408"/>
            <a:ext cx="663854" cy="903427"/>
          </a:xfrm>
          <a:prstGeom prst="rect">
            <a:avLst/>
          </a:prstGeom>
          <a:solidFill>
            <a:srgbClr val="FFFFFF"/>
          </a:solidFill>
          <a:ln w="19050">
            <a:solidFill>
              <a:srgbClr val="17375E"/>
            </a:solidFill>
            <a:prstDash val="solid"/>
          </a:ln>
        </p:spPr>
      </p:sp>
      <p:sp>
        <p:nvSpPr>
          <p:cNvPr id="32" name="Shape 29"/>
          <p:cNvSpPr/>
          <p:nvPr/>
        </p:nvSpPr>
        <p:spPr>
          <a:xfrm>
            <a:off x="9485391" y="2988259"/>
            <a:ext cx="199156" cy="73152"/>
          </a:xfrm>
          <a:prstGeom prst="rect">
            <a:avLst/>
          </a:prstGeom>
          <a:solidFill>
            <a:srgbClr val="EEF1F6"/>
          </a:solidFill>
          <a:ln w="12700">
            <a:solidFill>
              <a:srgbClr val="FFFFFF">
                <a:alpha val="0"/>
              </a:srgbClr>
            </a:solidFill>
            <a:prstDash val="solid"/>
          </a:ln>
        </p:spPr>
      </p:sp>
      <p:sp>
        <p:nvSpPr>
          <p:cNvPr id="33" name="Text 30"/>
          <p:cNvSpPr txBox="1"/>
          <p:nvPr/>
        </p:nvSpPr>
        <p:spPr>
          <a:xfrm>
            <a:off x="9289618" y="2148840"/>
            <a:ext cx="590702" cy="848563"/>
          </a:xfrm>
          <a:prstGeom prst="rect">
            <a:avLst/>
          </a:prstGeom>
          <a:noFill/>
          <a:ln/>
        </p:spPr>
        <p:txBody>
          <a:bodyPr wrap="square" lIns="0" tIns="0" rIns="0" bIns="0" rtlCol="0" anchor="ctr"/>
          <a:lstStyle/>
          <a:p>
            <a:pPr algn="ctr" indent="0" marL="0">
              <a:buNone/>
            </a:pPr>
            <a:r>
              <a:rPr lang="en-US" sz="700" dirty="0">
                <a:solidFill>
                  <a:schemeClr val="tx1"/>
                </a:solidFill>
              </a:rPr>
              <a:t>vergaderzaal</a:t>
            </a:r>
            <a:endParaRPr lang="en-US" sz="700" dirty="0"/>
          </a:p>
        </p:txBody>
      </p:sp>
      <p:sp>
        <p:nvSpPr>
          <p:cNvPr id="34" name="Shape 31"/>
          <p:cNvSpPr/>
          <p:nvPr/>
        </p:nvSpPr>
        <p:spPr>
          <a:xfrm>
            <a:off x="9916897" y="2121408"/>
            <a:ext cx="663854" cy="903427"/>
          </a:xfrm>
          <a:prstGeom prst="rect">
            <a:avLst/>
          </a:prstGeom>
          <a:solidFill>
            <a:srgbClr val="FFFFFF"/>
          </a:solidFill>
          <a:ln w="19050">
            <a:solidFill>
              <a:srgbClr val="17375E"/>
            </a:solidFill>
            <a:prstDash val="solid"/>
          </a:ln>
        </p:spPr>
      </p:sp>
      <p:sp>
        <p:nvSpPr>
          <p:cNvPr id="35" name="Shape 32"/>
          <p:cNvSpPr/>
          <p:nvPr/>
        </p:nvSpPr>
        <p:spPr>
          <a:xfrm>
            <a:off x="10149246" y="2988259"/>
            <a:ext cx="199156" cy="73152"/>
          </a:xfrm>
          <a:prstGeom prst="rect">
            <a:avLst/>
          </a:prstGeom>
          <a:solidFill>
            <a:srgbClr val="EEF1F6"/>
          </a:solidFill>
          <a:ln w="12700">
            <a:solidFill>
              <a:srgbClr val="FFFFFF">
                <a:alpha val="0"/>
              </a:srgbClr>
            </a:solidFill>
            <a:prstDash val="solid"/>
          </a:ln>
        </p:spPr>
      </p:sp>
      <p:sp>
        <p:nvSpPr>
          <p:cNvPr id="36" name="Text 33"/>
          <p:cNvSpPr txBox="1"/>
          <p:nvPr/>
        </p:nvSpPr>
        <p:spPr>
          <a:xfrm>
            <a:off x="9953473" y="2148840"/>
            <a:ext cx="590702" cy="848563"/>
          </a:xfrm>
          <a:prstGeom prst="rect">
            <a:avLst/>
          </a:prstGeom>
          <a:noFill/>
          <a:ln/>
        </p:spPr>
        <p:txBody>
          <a:bodyPr wrap="square" lIns="0" tIns="0" rIns="0" bIns="0" rtlCol="0" anchor="ctr"/>
          <a:lstStyle/>
          <a:p>
            <a:pPr algn="ctr" indent="0" marL="0">
              <a:buNone/>
            </a:pPr>
            <a:r>
              <a:rPr lang="en-US" sz="700" dirty="0">
                <a:solidFill>
                  <a:schemeClr val="tx1"/>
                </a:solidFill>
              </a:rPr>
              <a:t>kopieerlokaal</a:t>
            </a:r>
            <a:endParaRPr lang="en-US" sz="700" dirty="0"/>
          </a:p>
        </p:txBody>
      </p:sp>
      <p:sp>
        <p:nvSpPr>
          <p:cNvPr id="37" name="Shape 34"/>
          <p:cNvSpPr/>
          <p:nvPr/>
        </p:nvSpPr>
        <p:spPr>
          <a:xfrm>
            <a:off x="10580751" y="2121408"/>
            <a:ext cx="663854" cy="903427"/>
          </a:xfrm>
          <a:prstGeom prst="rect">
            <a:avLst/>
          </a:prstGeom>
          <a:solidFill>
            <a:srgbClr val="FFFFFF"/>
          </a:solidFill>
          <a:ln w="19050">
            <a:solidFill>
              <a:srgbClr val="17375E"/>
            </a:solidFill>
            <a:prstDash val="solid"/>
          </a:ln>
        </p:spPr>
      </p:sp>
      <p:sp>
        <p:nvSpPr>
          <p:cNvPr id="38" name="Shape 35"/>
          <p:cNvSpPr/>
          <p:nvPr/>
        </p:nvSpPr>
        <p:spPr>
          <a:xfrm>
            <a:off x="10813100" y="2988259"/>
            <a:ext cx="199156" cy="73152"/>
          </a:xfrm>
          <a:prstGeom prst="rect">
            <a:avLst/>
          </a:prstGeom>
          <a:solidFill>
            <a:srgbClr val="EEF1F6"/>
          </a:solidFill>
          <a:ln w="12700">
            <a:solidFill>
              <a:srgbClr val="FFFFFF">
                <a:alpha val="0"/>
              </a:srgbClr>
            </a:solidFill>
            <a:prstDash val="solid"/>
          </a:ln>
        </p:spPr>
      </p:sp>
      <p:sp>
        <p:nvSpPr>
          <p:cNvPr id="39" name="Text 36"/>
          <p:cNvSpPr txBox="1"/>
          <p:nvPr/>
        </p:nvSpPr>
        <p:spPr>
          <a:xfrm>
            <a:off x="10617327" y="2148840"/>
            <a:ext cx="590702" cy="848563"/>
          </a:xfrm>
          <a:prstGeom prst="rect">
            <a:avLst/>
          </a:prstGeom>
          <a:noFill/>
          <a:ln/>
        </p:spPr>
        <p:txBody>
          <a:bodyPr wrap="square" lIns="0" tIns="0" rIns="0" bIns="0" rtlCol="0" anchor="ctr"/>
          <a:lstStyle/>
          <a:p>
            <a:pPr algn="ctr" indent="0" marL="0">
              <a:buNone/>
            </a:pPr>
            <a:r>
              <a:rPr lang="en-US" sz="700" dirty="0">
                <a:solidFill>
                  <a:schemeClr val="tx1"/>
                </a:solidFill>
              </a:rPr>
              <a:t>toiletten</a:t>
            </a:r>
            <a:endParaRPr lang="en-US" sz="700" dirty="0"/>
          </a:p>
        </p:txBody>
      </p:sp>
      <p:sp>
        <p:nvSpPr>
          <p:cNvPr id="40" name="Shape 37"/>
          <p:cNvSpPr/>
          <p:nvPr/>
        </p:nvSpPr>
        <p:spPr>
          <a:xfrm>
            <a:off x="9253042" y="3595421"/>
            <a:ext cx="663854" cy="903427"/>
          </a:xfrm>
          <a:prstGeom prst="rect">
            <a:avLst/>
          </a:prstGeom>
          <a:solidFill>
            <a:srgbClr val="FFFFFF"/>
          </a:solidFill>
          <a:ln w="19050">
            <a:solidFill>
              <a:srgbClr val="17375E"/>
            </a:solidFill>
            <a:prstDash val="solid"/>
          </a:ln>
        </p:spPr>
      </p:sp>
      <p:sp>
        <p:nvSpPr>
          <p:cNvPr id="41" name="Shape 38"/>
          <p:cNvSpPr/>
          <p:nvPr/>
        </p:nvSpPr>
        <p:spPr>
          <a:xfrm>
            <a:off x="9485391" y="3558845"/>
            <a:ext cx="199156" cy="73152"/>
          </a:xfrm>
          <a:prstGeom prst="rect">
            <a:avLst/>
          </a:prstGeom>
          <a:solidFill>
            <a:srgbClr val="EEF1F6"/>
          </a:solidFill>
          <a:ln w="12700">
            <a:solidFill>
              <a:srgbClr val="FFFFFF">
                <a:alpha val="0"/>
              </a:srgbClr>
            </a:solidFill>
            <a:prstDash val="solid"/>
          </a:ln>
        </p:spPr>
      </p:sp>
      <p:sp>
        <p:nvSpPr>
          <p:cNvPr id="42" name="Text 39"/>
          <p:cNvSpPr txBox="1"/>
          <p:nvPr/>
        </p:nvSpPr>
        <p:spPr>
          <a:xfrm>
            <a:off x="9289618" y="3622853"/>
            <a:ext cx="590702" cy="848563"/>
          </a:xfrm>
          <a:prstGeom prst="rect">
            <a:avLst/>
          </a:prstGeom>
          <a:noFill/>
          <a:ln/>
        </p:spPr>
        <p:txBody>
          <a:bodyPr wrap="square" lIns="0" tIns="0" rIns="0" bIns="0" rtlCol="0" anchor="ctr"/>
          <a:lstStyle/>
          <a:p>
            <a:pPr algn="ctr" indent="0" marL="0">
              <a:buNone/>
            </a:pPr>
            <a:r>
              <a:rPr lang="en-US" sz="700" dirty="0">
                <a:solidFill>
                  <a:schemeClr val="tx1"/>
                </a:solidFill>
              </a:rPr>
              <a:t>kantoor</a:t>
            </a:r>
            <a:endParaRPr lang="en-US" sz="700" dirty="0"/>
          </a:p>
        </p:txBody>
      </p:sp>
      <p:sp>
        <p:nvSpPr>
          <p:cNvPr id="43" name="Shape 40"/>
          <p:cNvSpPr/>
          <p:nvPr/>
        </p:nvSpPr>
        <p:spPr>
          <a:xfrm>
            <a:off x="9916897" y="3595421"/>
            <a:ext cx="663854" cy="903427"/>
          </a:xfrm>
          <a:prstGeom prst="rect">
            <a:avLst/>
          </a:prstGeom>
          <a:solidFill>
            <a:srgbClr val="FFFFFF"/>
          </a:solidFill>
          <a:ln w="19050">
            <a:solidFill>
              <a:srgbClr val="17375E"/>
            </a:solidFill>
            <a:prstDash val="solid"/>
          </a:ln>
        </p:spPr>
      </p:sp>
      <p:sp>
        <p:nvSpPr>
          <p:cNvPr id="44" name="Shape 41"/>
          <p:cNvSpPr/>
          <p:nvPr/>
        </p:nvSpPr>
        <p:spPr>
          <a:xfrm>
            <a:off x="10149246" y="3558845"/>
            <a:ext cx="199156" cy="73152"/>
          </a:xfrm>
          <a:prstGeom prst="rect">
            <a:avLst/>
          </a:prstGeom>
          <a:solidFill>
            <a:srgbClr val="EEF1F6"/>
          </a:solidFill>
          <a:ln w="12700">
            <a:solidFill>
              <a:srgbClr val="FFFFFF">
                <a:alpha val="0"/>
              </a:srgbClr>
            </a:solidFill>
            <a:prstDash val="solid"/>
          </a:ln>
        </p:spPr>
      </p:sp>
      <p:sp>
        <p:nvSpPr>
          <p:cNvPr id="45" name="Text 42"/>
          <p:cNvSpPr txBox="1"/>
          <p:nvPr/>
        </p:nvSpPr>
        <p:spPr>
          <a:xfrm>
            <a:off x="9953473" y="3622853"/>
            <a:ext cx="590702" cy="848563"/>
          </a:xfrm>
          <a:prstGeom prst="rect">
            <a:avLst/>
          </a:prstGeom>
          <a:noFill/>
          <a:ln/>
        </p:spPr>
        <p:txBody>
          <a:bodyPr wrap="square" lIns="0" tIns="0" rIns="0" bIns="0" rtlCol="0" anchor="ctr"/>
          <a:lstStyle/>
          <a:p>
            <a:pPr algn="ctr" indent="0" marL="0">
              <a:buNone/>
            </a:pPr>
            <a:r>
              <a:rPr lang="en-US" sz="700" dirty="0">
                <a:solidFill>
                  <a:schemeClr val="tx1"/>
                </a:solidFill>
              </a:rPr>
              <a:t>keuken</a:t>
            </a:r>
            <a:endParaRPr lang="en-US" sz="700" dirty="0"/>
          </a:p>
        </p:txBody>
      </p:sp>
      <p:sp>
        <p:nvSpPr>
          <p:cNvPr id="46" name="Shape 43"/>
          <p:cNvSpPr/>
          <p:nvPr/>
        </p:nvSpPr>
        <p:spPr>
          <a:xfrm>
            <a:off x="10580751" y="3595421"/>
            <a:ext cx="663854" cy="903427"/>
          </a:xfrm>
          <a:prstGeom prst="rect">
            <a:avLst/>
          </a:prstGeom>
          <a:solidFill>
            <a:srgbClr val="FFFFFF"/>
          </a:solidFill>
          <a:ln w="19050">
            <a:solidFill>
              <a:srgbClr val="17375E"/>
            </a:solidFill>
            <a:prstDash val="solid"/>
          </a:ln>
        </p:spPr>
      </p:sp>
      <p:sp>
        <p:nvSpPr>
          <p:cNvPr id="47" name="Shape 44"/>
          <p:cNvSpPr/>
          <p:nvPr/>
        </p:nvSpPr>
        <p:spPr>
          <a:xfrm>
            <a:off x="10813100" y="3558845"/>
            <a:ext cx="199156" cy="73152"/>
          </a:xfrm>
          <a:prstGeom prst="rect">
            <a:avLst/>
          </a:prstGeom>
          <a:solidFill>
            <a:srgbClr val="EEF1F6"/>
          </a:solidFill>
          <a:ln w="12700">
            <a:solidFill>
              <a:srgbClr val="FFFFFF">
                <a:alpha val="0"/>
              </a:srgbClr>
            </a:solidFill>
            <a:prstDash val="solid"/>
          </a:ln>
        </p:spPr>
      </p:sp>
      <p:sp>
        <p:nvSpPr>
          <p:cNvPr id="48" name="Text 45"/>
          <p:cNvSpPr txBox="1"/>
          <p:nvPr/>
        </p:nvSpPr>
        <p:spPr>
          <a:xfrm>
            <a:off x="10617327" y="3622853"/>
            <a:ext cx="590702" cy="848563"/>
          </a:xfrm>
          <a:prstGeom prst="rect">
            <a:avLst/>
          </a:prstGeom>
          <a:noFill/>
          <a:ln/>
        </p:spPr>
        <p:txBody>
          <a:bodyPr wrap="square" lIns="0" tIns="0" rIns="0" bIns="0" rtlCol="0" anchor="ctr"/>
          <a:lstStyle/>
          <a:p>
            <a:pPr algn="ctr" indent="0" marL="0">
              <a:buNone/>
            </a:pPr>
            <a:r>
              <a:rPr lang="en-US" sz="700" dirty="0">
                <a:solidFill>
                  <a:schemeClr val="tx1"/>
                </a:solidFill>
              </a:rPr>
              <a:t>refter</a:t>
            </a:r>
            <a:endParaRPr lang="en-US" sz="700" dirty="0"/>
          </a:p>
        </p:txBody>
      </p:sp>
      <p:sp>
        <p:nvSpPr>
          <p:cNvPr id="49" name="Shape 46"/>
          <p:cNvSpPr/>
          <p:nvPr/>
        </p:nvSpPr>
        <p:spPr>
          <a:xfrm>
            <a:off x="11244605" y="2121408"/>
            <a:ext cx="304267" cy="1188720"/>
          </a:xfrm>
          <a:prstGeom prst="rect">
            <a:avLst/>
          </a:prstGeom>
          <a:solidFill>
            <a:srgbClr val="FFFFFF"/>
          </a:solidFill>
          <a:ln w="19050">
            <a:solidFill>
              <a:srgbClr val="17375E"/>
            </a:solidFill>
            <a:prstDash val="solid"/>
          </a:ln>
        </p:spPr>
      </p:sp>
      <p:sp>
        <p:nvSpPr>
          <p:cNvPr id="50" name="Shape 47"/>
          <p:cNvSpPr/>
          <p:nvPr/>
        </p:nvSpPr>
        <p:spPr>
          <a:xfrm>
            <a:off x="11290325" y="2291225"/>
            <a:ext cx="212827" cy="914"/>
          </a:xfrm>
          <a:prstGeom prst="line">
            <a:avLst/>
          </a:prstGeom>
          <a:noFill/>
          <a:ln w="12700">
            <a:solidFill>
              <a:srgbClr val="4A5A70"/>
            </a:solidFill>
            <a:prstDash val="solid"/>
          </a:ln>
        </p:spPr>
      </p:sp>
      <p:sp>
        <p:nvSpPr>
          <p:cNvPr id="51" name="Shape 48"/>
          <p:cNvSpPr/>
          <p:nvPr/>
        </p:nvSpPr>
        <p:spPr>
          <a:xfrm>
            <a:off x="11290325" y="2461042"/>
            <a:ext cx="212827" cy="914"/>
          </a:xfrm>
          <a:prstGeom prst="line">
            <a:avLst/>
          </a:prstGeom>
          <a:noFill/>
          <a:ln w="12700">
            <a:solidFill>
              <a:srgbClr val="4A5A70"/>
            </a:solidFill>
            <a:prstDash val="solid"/>
          </a:ln>
        </p:spPr>
      </p:sp>
      <p:sp>
        <p:nvSpPr>
          <p:cNvPr id="52" name="Shape 49"/>
          <p:cNvSpPr/>
          <p:nvPr/>
        </p:nvSpPr>
        <p:spPr>
          <a:xfrm>
            <a:off x="11290325" y="2630859"/>
            <a:ext cx="212827" cy="914"/>
          </a:xfrm>
          <a:prstGeom prst="line">
            <a:avLst/>
          </a:prstGeom>
          <a:noFill/>
          <a:ln w="12700">
            <a:solidFill>
              <a:srgbClr val="4A5A70"/>
            </a:solidFill>
            <a:prstDash val="solid"/>
          </a:ln>
        </p:spPr>
      </p:sp>
      <p:sp>
        <p:nvSpPr>
          <p:cNvPr id="53" name="Shape 50"/>
          <p:cNvSpPr/>
          <p:nvPr/>
        </p:nvSpPr>
        <p:spPr>
          <a:xfrm>
            <a:off x="11290325" y="2800677"/>
            <a:ext cx="212827" cy="914"/>
          </a:xfrm>
          <a:prstGeom prst="line">
            <a:avLst/>
          </a:prstGeom>
          <a:noFill/>
          <a:ln w="12700">
            <a:solidFill>
              <a:srgbClr val="4A5A70"/>
            </a:solidFill>
            <a:prstDash val="solid"/>
          </a:ln>
        </p:spPr>
      </p:sp>
      <p:sp>
        <p:nvSpPr>
          <p:cNvPr id="54" name="Shape 51"/>
          <p:cNvSpPr/>
          <p:nvPr/>
        </p:nvSpPr>
        <p:spPr>
          <a:xfrm>
            <a:off x="11290325" y="2970494"/>
            <a:ext cx="212827" cy="914"/>
          </a:xfrm>
          <a:prstGeom prst="line">
            <a:avLst/>
          </a:prstGeom>
          <a:noFill/>
          <a:ln w="12700">
            <a:solidFill>
              <a:srgbClr val="4A5A70"/>
            </a:solidFill>
            <a:prstDash val="solid"/>
          </a:ln>
        </p:spPr>
      </p:sp>
      <p:sp>
        <p:nvSpPr>
          <p:cNvPr id="55" name="Shape 52"/>
          <p:cNvSpPr/>
          <p:nvPr/>
        </p:nvSpPr>
        <p:spPr>
          <a:xfrm>
            <a:off x="11290325" y="3140311"/>
            <a:ext cx="212827" cy="914"/>
          </a:xfrm>
          <a:prstGeom prst="line">
            <a:avLst/>
          </a:prstGeom>
          <a:noFill/>
          <a:ln w="12700">
            <a:solidFill>
              <a:srgbClr val="4A5A70"/>
            </a:solidFill>
            <a:prstDash val="solid"/>
          </a:ln>
        </p:spPr>
      </p:sp>
      <p:sp>
        <p:nvSpPr>
          <p:cNvPr id="56" name="Shape 53"/>
          <p:cNvSpPr/>
          <p:nvPr/>
        </p:nvSpPr>
        <p:spPr>
          <a:xfrm>
            <a:off x="11244605" y="3310128"/>
            <a:ext cx="304267" cy="1188720"/>
          </a:xfrm>
          <a:prstGeom prst="rect">
            <a:avLst/>
          </a:prstGeom>
          <a:solidFill>
            <a:srgbClr val="F1EBF8"/>
          </a:solidFill>
          <a:ln w="19050">
            <a:solidFill>
              <a:srgbClr val="17375E"/>
            </a:solidFill>
            <a:prstDash val="solid"/>
          </a:ln>
        </p:spPr>
      </p:sp>
      <p:sp>
        <p:nvSpPr>
          <p:cNvPr id="57" name="Text 54"/>
          <p:cNvSpPr txBox="1"/>
          <p:nvPr/>
        </p:nvSpPr>
        <p:spPr>
          <a:xfrm>
            <a:off x="11244605" y="2926080"/>
            <a:ext cx="304267" cy="347472"/>
          </a:xfrm>
          <a:prstGeom prst="rect">
            <a:avLst/>
          </a:prstGeom>
          <a:noFill/>
          <a:ln/>
        </p:spPr>
        <p:txBody>
          <a:bodyPr wrap="square" lIns="0" tIns="0" rIns="0" bIns="0" rtlCol="0" anchor="ctr"/>
          <a:lstStyle/>
          <a:p>
            <a:pPr algn="ctr" indent="0" marL="0">
              <a:buNone/>
            </a:pPr>
            <a:r>
              <a:rPr lang="en-US" sz="600" b="1" dirty="0">
                <a:solidFill>
                  <a:schemeClr val="tx2"/>
                </a:solidFill>
              </a:rPr>
              <a:t>trap</a:t>
            </a:r>
            <a:endParaRPr lang="en-US" sz="600" dirty="0"/>
          </a:p>
        </p:txBody>
      </p:sp>
      <p:sp>
        <p:nvSpPr>
          <p:cNvPr id="58" name="Text 55"/>
          <p:cNvSpPr txBox="1"/>
          <p:nvPr/>
        </p:nvSpPr>
        <p:spPr>
          <a:xfrm>
            <a:off x="11244605" y="4087368"/>
            <a:ext cx="304267" cy="365760"/>
          </a:xfrm>
          <a:prstGeom prst="rect">
            <a:avLst/>
          </a:prstGeom>
          <a:noFill/>
          <a:ln/>
        </p:spPr>
        <p:txBody>
          <a:bodyPr wrap="square" lIns="0" tIns="0" rIns="0" bIns="0" rtlCol="0" anchor="ctr"/>
          <a:lstStyle/>
          <a:p>
            <a:pPr algn="ctr" indent="0" marL="0">
              <a:buNone/>
            </a:pPr>
            <a:r>
              <a:rPr lang="en-US" sz="600" b="1" dirty="0">
                <a:solidFill>
                  <a:schemeClr val="tx2"/>
                </a:solidFill>
              </a:rPr>
              <a:t>lift</a:t>
            </a:r>
            <a:endParaRPr lang="en-US" sz="600" dirty="0"/>
          </a:p>
        </p:txBody>
      </p:sp>
      <p:sp>
        <p:nvSpPr>
          <p:cNvPr id="59" name="Text 56"/>
          <p:cNvSpPr txBox="1"/>
          <p:nvPr/>
        </p:nvSpPr>
        <p:spPr>
          <a:xfrm>
            <a:off x="8211312" y="4636008"/>
            <a:ext cx="3291840" cy="1563624"/>
          </a:xfrm>
          <a:prstGeom prst="rect">
            <a:avLst/>
          </a:prstGeom>
          <a:noFill/>
          <a:ln/>
        </p:spPr>
        <p:txBody>
          <a:bodyPr wrap="square" lIns="0" tIns="0" rIns="0" bIns="0" rtlCol="0" anchor="t"/>
          <a:lstStyle/>
          <a:p>
            <a:pPr algn="l" indent="0" marL="0">
              <a:spcAft>
                <a:spcPts val="200"/>
              </a:spcAft>
              <a:buNone/>
            </a:pPr>
            <a:r>
              <a:rPr lang="en-US" sz="1200" b="1" dirty="0">
                <a:solidFill>
                  <a:schemeClr val="tx1"/>
                </a:solidFill>
              </a:rPr>
              <a:t>Eerste verdieping</a:t>
            </a:r>
            <a:endParaRPr lang="en-US" sz="1200" dirty="0"/>
          </a:p>
          <a:p>
            <a:pPr algn="l" indent="0" marL="0">
              <a:spcAft>
                <a:spcPts val="200"/>
              </a:spcAft>
              <a:buNone/>
            </a:pPr>
            <a:r>
              <a:rPr lang="en-US" sz="1200" dirty="0">
                <a:solidFill>
                  <a:schemeClr val="tx1"/>
                </a:solidFill>
              </a:rPr>
              <a:t>de directie · de boekhouding</a:t>
            </a:r>
            <a:endParaRPr lang="en-US" sz="1200" dirty="0"/>
          </a:p>
          <a:p>
            <a:pPr algn="l" indent="0" marL="0">
              <a:spcAft>
                <a:spcPts val="200"/>
              </a:spcAft>
              <a:buNone/>
            </a:pPr>
            <a:endParaRPr lang="en-US" sz="1200" dirty="0"/>
          </a:p>
          <a:p>
            <a:pPr algn="l" indent="0" marL="0">
              <a:spcAft>
                <a:spcPts val="200"/>
              </a:spcAft>
              <a:buNone/>
            </a:pPr>
            <a:r>
              <a:rPr lang="en-US" sz="1200" b="1" dirty="0">
                <a:solidFill>
                  <a:schemeClr val="tx1"/>
                </a:solidFill>
              </a:rPr>
              <a:t>Destinations</a:t>
            </a:r>
            <a:endParaRPr lang="en-US" sz="1200" dirty="0"/>
          </a:p>
          <a:p>
            <a:pPr algn="l" indent="0" marL="0">
              <a:spcAft>
                <a:spcPts val="200"/>
              </a:spcAft>
              <a:buNone/>
            </a:pPr>
            <a:r>
              <a:rPr lang="en-US" sz="1200" dirty="0">
                <a:solidFill>
                  <a:schemeClr val="tx1"/>
                </a:solidFill>
              </a:rPr>
              <a:t>vergaderzaal · refter · keuken · directie · toiletten</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Où ou vers où ? </a:t>
            </a:r>
            <a:r>
              <a:rPr lang="en-US" sz="2000" i="1" dirty="0">
                <a:solidFill>
                  <a:schemeClr val="tx1"/>
                </a:solidFill>
              </a:rPr>
              <a:t>Hij loopt het park in.</a:t>
            </a:r>
            <a:r>
              <a:rPr lang="en-US" sz="2000" dirty="0">
                <a:solidFill>
                  <a:schemeClr val="tx1"/>
                </a:solidFill>
              </a:rPr>
              <a:t> / </a:t>
            </a:r>
            <a:r>
              <a:rPr lang="en-US" sz="2000" i="1" dirty="0">
                <a:solidFill>
                  <a:schemeClr val="tx1"/>
                </a:solidFill>
              </a:rPr>
              <a:t>Hij loopt in het park.</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 Je monte l’escalier. »</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Complétez : </a:t>
            </a:r>
            <a:r>
              <a:rPr lang="en-US" sz="2000" i="1" dirty="0">
                <a:solidFill>
                  <a:schemeClr val="tx1"/>
                </a:solidFill>
              </a:rPr>
              <a:t>Ik …… de vergaderzaal in gelopen.</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Distinguer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Décrire</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Guider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IdBadge">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Volgende keer : Even voorstellen</a:t>
            </a:r>
            <a:r>
              <a:rPr lang="en-US" sz="1800" dirty="0">
                <a:solidFill>
                  <a:schemeClr val="bg1"/>
                </a:solidFill>
              </a:rPr>
              <a:t> — </a:t>
            </a:r>
            <a:r>
              <a:rPr lang="en-US" sz="1800" i="1" dirty="0">
                <a:solidFill>
                  <a:schemeClr val="bg1"/>
                </a:solidFill>
              </a:rPr>
              <a:t>Ik ben Karim Benali, boekhouder bij Peeters &amp; Co.</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31 — De keuken in! — La postposition de direction</dc:title>
  <dc:subject>Néerlandais 1 — Langue en situation, en milieu professionnel</dc:subject>
  <dc:creator>A. Jouniaux</dc:creator>
  <cp:lastModifiedBy>A. Jouniaux</cp:lastModifiedBy>
  <cp:revision>1</cp:revision>
  <dcterms:created xsi:type="dcterms:W3CDTF">2026-10-05T11:26:01Z</dcterms:created>
  <dcterms:modified xsi:type="dcterms:W3CDTF">2026-10-05T11:26:01Z</dcterms:modified>
</cp:coreProperties>
</file>