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f22db95f-a459-6293-4285-614d5b275656}">
          <p14:sldIdLst>
            <p14:sldId id="256"/>
          </p14:sldIdLst>
        </p14:section>
        <p14:section name="Découvrir" id="{e0f14247-de03-3c68-2f5c-8a40fb7bb6d2}">
          <p14:sldIdLst>
            <p14:sldId id="257"/>
            <p14:sldId id="258"/>
          </p14:sldIdLst>
        </p14:section>
        <p14:section name="Comprendre" id="{1ae419cf-27ab-44ad-fd72-26905fd437ae}">
          <p14:sldIdLst>
            <p14:sldId id="259"/>
            <p14:sldId id="260"/>
            <p14:sldId id="261"/>
            <p14:sldId id="262"/>
            <p14:sldId id="263"/>
            <p14:sldId id="264"/>
            <p14:sldId id="265"/>
            <p14:sldId id="266"/>
            <p14:sldId id="267"/>
            <p14:sldId id="268"/>
          </p14:sldIdLst>
        </p14:section>
        <p14:section name="JIJ NU ! — Oefeningen" id="{d5fa2462-c48c-b32d-4236-56a8340a408e}">
          <p14:sldIdLst>
            <p14:sldId id="269"/>
            <p14:sldId id="270"/>
            <p14:sldId id="271"/>
            <p14:sldId id="272"/>
            <p14:sldId id="273"/>
            <p14:sldId id="274"/>
            <p14:sldId id="275"/>
            <p14:sldId id="276"/>
            <p14:sldId id="277"/>
            <p14:sldId id="278"/>
            <p14:sldId id="279"/>
            <p14:sldId id="280"/>
            <p14:sldId id="281"/>
          </p14:sldIdLst>
        </p14:section>
        <p14:section name="Clôture" id="{486673c0-25a7-3aa0-032d-bcf0391688ed}">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avec 4 panneaux familiers.
Question d'entrée : « Comment dit-on je peux en néerlandais ? » Les réponses partagées (kan / mag) lancent 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Rappel : la conjugaison a été vue au M4. Aujourd'hui : le bon verbe au bon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Activer le sens des modaux à partir de situations visuelles.
Exemples de l'archive repris (U mag hier niet parkeren, Hier moet iedereen stilstaan). internetten (surfer) est familier ; gratis wifi gebruiken convient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Réactiver la conjugaison du M4 sans la refaire.
Inversion : Kun je…? / Kan je…? et Wil je…? (le t tombe, M3). Deux minutes maximum : c'est un rappel.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chaque verbe à son sens (archive diapos 3–6, standardisées).
Les quatre phrases viennent de l'archive. stilstaan (s'arrêter) est remplacé par stoppen pour simplifier. Faites mimer les 4 sens (biceps, pouce levé, mains sur le cœur, doigt 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capacité / possibilité et permission.
En Flandre, Kan ik…? s'entend aussi pour demander poliment (Kan ik u helpen?). Mais pour une autorisation, Mag ik…? est la forme sûre. Mag ik? seul = « Je peux ? » (en prenant une chaise, par exemple).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 calque weten + infinitif.
Ik kan Nederlands (sans infinitif) = « je parle néerlandais ». Ik weet het niet = « je ne sais pas » : très utile en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Exprimer l'interdiction correctement.
En Belgique, Je moet niet komen veut dire « tu n'es pas obligé de venir », et non une interdiction. Aux Pays-Bas, on dit plutôt Je hoeft niet te komen. Dans les deux pays, l'interdiction se dit avec niet mogen. hoeven … te est vu en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Consolider la structure (archive diapo 2, phrases corrigées) avec la négation et la particule.
niet se place juste avant l'infinitif (M13 approfondira). La particule se recolle (M11). Les phrases de l'archive sont remplacées par des phrases correctes et naturelles.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les modaux dans les formules de politesse (lien M8).
graag adoucit willen (M8). opendoen est séparable et se recolle (M11). Faites jouer des micro-dialogues de 2 répliques.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et utiliser zullen dans deux emplois fréquents.
zullen sert aussi au futur, mais le néerlandais emploie surtout le présent (Morgen bel ik je) : l'archive (Hij zal 38 uur per week werken) surutilise le futur. Le jeu « Vertel wat je dinsdagavond zal doen » devient « Wat doe je dinsdagavond? ». Les trois façons de parler du futur sont l'objet du M18.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modaux employés seuls, très fréquents à l'oral.
Le verbe de mouvement (gaan) est sous-entendu dans Ik moet naar huis (Ik moet naar huis gaan). À comprendre surtout.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tableau est la référence des exercices 1 à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le modal selon le sens.
N° 4 : wil (je veux dormir) ou moet (je dois dormir) se défendent : faites justifier. N° 7 : Wilt u (avec u, le t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le modal selon le sens.
N° 4 : wil (je veux dormir) ou moet (je dois dormir) se défendent : faites justifier. N° 7 : Wilt u (avec u, le t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une règle à partir d'un pictogramme (permission, interdiction, obligation).
Acceptez U mag / U moet (formel). binnen mogen = avoir le droit d'entrer (sans gaan,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Formuler une règle à partir d'un pictogramme (permission, interdiction, obligation).
Acceptez U mag / U moet (formel). binnen mogen = avoir le droit d'entrer (sans gaan,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la pince avec modal, négation et particule.
N° 1 : Morgen moet ik werken est aussi correct (inversion). N° 2 : Vandaag kan ik niet komen aussi. N° 6 : niet se place après le complément défini mijn badge (M13).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Construire la pince avec modal, négation et particule.
N° 1 : Morgen moet ik werken est aussi correct (inversion). N° 2 : Vandaag kan ik niet komen aussi. N° 6 : niet se place après le complément défini mijn badge (M13).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les trois pièges (diapos 6 à 8).
N° 4 : Ik moet gaan et Ik moet weg sont aussi corrects. N° 7 : ici, kunnen = possibilité technique, d'où Kan 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Réinvestir les trois pièges (diapos 6 à 8).
N° 4 : Ik moet gaan et Ik moet weg sont aussi corrects. N° 7 : ici, kunnen = possibilité technique, d'où Kan 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librement à l'oral avec les modaux (jeu de plateau de l'archive, ramené à l'A1).
Barème : 1 point par phrase correcte (modal + infinitif au bout). Une tâche réussie = les points de la case. Spreek drie onmogelijke wensen uit vient de l'archive (Ik wil vliegen…). Stel een lunch voor appelle Zullen we…? (diapo 11). Les tâches de l'archive inadaptées (Vraag je buurman ten huwelijk) sont remplacées.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librement à l'oral avec les modaux (jeu de plateau de l'archive, ramené à l'A1).
Barème : 1 point par phrase correcte (modal + infinitif au bout). Une tâche réussie = les points de la case. Spreek drie onmogelijke wensen uit vient de l'archive (Ik wil vliegen…). Stel een lunch voor appelle Zullen we…? (diapo 11). Les tâches de l'archive inadaptées (Vraag je buurman ten huwelijk) sont remplacées.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Mobiliser le vocabulaire en équipe autour d'un modal (version A1 du deuxième jeu de l'archive).
Réponses possibles au n° 5 : je rijbewijs, je identiteitskaart, de verzekeringspapieren, het inschrijvingsbewijs. Les questions de l'archive avec om … te ou hors sujet sont reformulées.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professionnelle : s'informer sur les règles de l'entreprise.
thuiswerken (télétravailler) et de huisregels (le règlement intérieur) sont des mots composés (M14). Inversez les rôles avec une 2e entreprise fictive.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Mag ik de deur opendoen?
2. Ik kan koken.
3. Ik kan morgen niet 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12 · Modale werkwoorden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12 · Modale werkwoorden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slideLayout" Target="../slideLayouts/slideLayout2.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slideLayout" Target="../slideLayouts/slideLayout2.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2.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12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Modale werkwoorden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Pouvoir, vouloir, devoir</a:t>
            </a:r>
            <a:endParaRPr lang="en-US" sz="2000" dirty="0"/>
          </a:p>
          <a:p>
            <a:pPr algn="l" indent="0" marL="0">
              <a:buNone/>
            </a:pPr>
            <a:r>
              <a:rPr lang="en-US" sz="2000" b="1" dirty="0">
                <a:solidFill>
                  <a:srgbClr val="FFFFFF"/>
                </a:solidFill>
              </a:rPr>
              <a:t>kunnen · mogen · willen · moeten</a:t>
            </a:r>
            <a:endParaRPr lang="en-US" sz="2000" dirty="0"/>
          </a:p>
        </p:txBody>
      </p:sp>
      <p:sp>
        <p:nvSpPr>
          <p:cNvPr id="5" name="Shape 3"/>
          <p:cNvSpPr/>
          <p:nvPr/>
        </p:nvSpPr>
        <p:spPr>
          <a:xfrm>
            <a:off x="6949440" y="1188720"/>
            <a:ext cx="2103120" cy="2103120"/>
          </a:xfrm>
          <a:prstGeom prst="ellipse">
            <a:avLst/>
          </a:prstGeom>
          <a:solidFill>
            <a:srgbClr val="FFFFFF"/>
          </a:solidFill>
          <a:ln w="63500">
            <a:solidFill>
              <a:srgbClr val="2A6FB0"/>
            </a:solidFill>
            <a:prstDash val="solid"/>
          </a:ln>
        </p:spPr>
      </p:sp>
      <p:pic>
        <p:nvPicPr>
          <p:cNvPr id="6" name="Image 0" descr="flexed biceps">    </p:cNvPr>
          <p:cNvPicPr>
            <a:picLocks noChangeAspect="1"/>
          </p:cNvPicPr>
          <p:nvPr/>
        </p:nvPicPr>
        <p:blipFill>
          <a:blip r:embed="rId1"/>
          <a:stretch>
            <a:fillRect/>
          </a:stretch>
        </p:blipFill>
        <p:spPr>
          <a:xfrm>
            <a:off x="7475220" y="1441094"/>
            <a:ext cx="1051560" cy="1051560"/>
          </a:xfrm>
          <a:prstGeom prst="rect">
            <a:avLst/>
          </a:prstGeom>
        </p:spPr>
      </p:pic>
      <p:sp>
        <p:nvSpPr>
          <p:cNvPr id="7" name="Text 4"/>
          <p:cNvSpPr txBox="1"/>
          <p:nvPr/>
        </p:nvSpPr>
        <p:spPr>
          <a:xfrm>
            <a:off x="6949440" y="2450592"/>
            <a:ext cx="2103120" cy="588874"/>
          </a:xfrm>
          <a:prstGeom prst="rect">
            <a:avLst/>
          </a:prstGeom>
          <a:noFill/>
          <a:ln/>
        </p:spPr>
        <p:txBody>
          <a:bodyPr wrap="square" lIns="0" tIns="0" rIns="0" bIns="0" rtlCol="0" anchor="ctr"/>
          <a:lstStyle/>
          <a:p>
            <a:pPr algn="ctr" indent="0" marL="0">
              <a:buNone/>
            </a:pPr>
            <a:r>
              <a:rPr lang="en-US" sz="3700" b="1" dirty="0">
                <a:solidFill>
                  <a:schemeClr val="accent2"/>
                </a:solidFill>
                <a:latin typeface="+mj-lt" pitchFamily="34" charset="0"/>
                <a:ea typeface="+mj-lt" pitchFamily="34" charset="-122"/>
                <a:cs typeface="+mj-lt" pitchFamily="34" charset="-120"/>
              </a:rPr>
              <a:t>kan</a:t>
            </a:r>
            <a:endParaRPr lang="en-US" sz="3700" dirty="0"/>
          </a:p>
        </p:txBody>
      </p:sp>
      <p:sp>
        <p:nvSpPr>
          <p:cNvPr id="8" name="Shape 5"/>
          <p:cNvSpPr/>
          <p:nvPr/>
        </p:nvSpPr>
        <p:spPr>
          <a:xfrm>
            <a:off x="9326880" y="1188720"/>
            <a:ext cx="2103120" cy="2103120"/>
          </a:xfrm>
          <a:prstGeom prst="ellipse">
            <a:avLst/>
          </a:prstGeom>
          <a:solidFill>
            <a:srgbClr val="FFFFFF"/>
          </a:solidFill>
          <a:ln w="63500">
            <a:solidFill>
              <a:srgbClr val="2E7D4F"/>
            </a:solidFill>
            <a:prstDash val="solid"/>
          </a:ln>
        </p:spPr>
      </p:sp>
      <p:pic>
        <p:nvPicPr>
          <p:cNvPr id="9" name="Image 1" descr="check mark button">    </p:cNvPr>
          <p:cNvPicPr>
            <a:picLocks noChangeAspect="1"/>
          </p:cNvPicPr>
          <p:nvPr/>
        </p:nvPicPr>
        <p:blipFill>
          <a:blip r:embed="rId2"/>
          <a:stretch>
            <a:fillRect/>
          </a:stretch>
        </p:blipFill>
        <p:spPr>
          <a:xfrm>
            <a:off x="9852660" y="1441094"/>
            <a:ext cx="1051560" cy="1051560"/>
          </a:xfrm>
          <a:prstGeom prst="rect">
            <a:avLst/>
          </a:prstGeom>
        </p:spPr>
      </p:pic>
      <p:sp>
        <p:nvSpPr>
          <p:cNvPr id="10" name="Text 6"/>
          <p:cNvSpPr txBox="1"/>
          <p:nvPr/>
        </p:nvSpPr>
        <p:spPr>
          <a:xfrm>
            <a:off x="9326880" y="2450592"/>
            <a:ext cx="2103120" cy="588874"/>
          </a:xfrm>
          <a:prstGeom prst="rect">
            <a:avLst/>
          </a:prstGeom>
          <a:noFill/>
          <a:ln/>
        </p:spPr>
        <p:txBody>
          <a:bodyPr wrap="square" lIns="0" tIns="0" rIns="0" bIns="0" rtlCol="0" anchor="ctr"/>
          <a:lstStyle/>
          <a:p>
            <a:pPr algn="ctr" indent="0" marL="0">
              <a:buNone/>
            </a:pPr>
            <a:r>
              <a:rPr lang="en-US" sz="3700" b="1" dirty="0">
                <a:solidFill>
                  <a:schemeClr val="accent3"/>
                </a:solidFill>
                <a:latin typeface="+mj-lt" pitchFamily="34" charset="0"/>
                <a:ea typeface="+mj-lt" pitchFamily="34" charset="-122"/>
                <a:cs typeface="+mj-lt" pitchFamily="34" charset="-120"/>
              </a:rPr>
              <a:t>mag</a:t>
            </a:r>
            <a:endParaRPr lang="en-US" sz="3700" dirty="0"/>
          </a:p>
        </p:txBody>
      </p:sp>
      <p:sp>
        <p:nvSpPr>
          <p:cNvPr id="11" name="Shape 7"/>
          <p:cNvSpPr/>
          <p:nvPr/>
        </p:nvSpPr>
        <p:spPr>
          <a:xfrm>
            <a:off x="6949440" y="3566160"/>
            <a:ext cx="2103120" cy="2103120"/>
          </a:xfrm>
          <a:prstGeom prst="ellipse">
            <a:avLst/>
          </a:prstGeom>
          <a:solidFill>
            <a:srgbClr val="FFFFFF"/>
          </a:solidFill>
          <a:ln w="63500">
            <a:solidFill>
              <a:srgbClr val="B4236A"/>
            </a:solidFill>
            <a:prstDash val="solid"/>
          </a:ln>
        </p:spPr>
      </p:sp>
      <p:pic>
        <p:nvPicPr>
          <p:cNvPr id="12" name="Image 2" descr="red heart">    </p:cNvPr>
          <p:cNvPicPr>
            <a:picLocks noChangeAspect="1"/>
          </p:cNvPicPr>
          <p:nvPr/>
        </p:nvPicPr>
        <p:blipFill>
          <a:blip r:embed="rId3"/>
          <a:stretch>
            <a:fillRect/>
          </a:stretch>
        </p:blipFill>
        <p:spPr>
          <a:xfrm>
            <a:off x="7475220" y="3818534"/>
            <a:ext cx="1051560" cy="1051560"/>
          </a:xfrm>
          <a:prstGeom prst="rect">
            <a:avLst/>
          </a:prstGeom>
        </p:spPr>
      </p:pic>
      <p:sp>
        <p:nvSpPr>
          <p:cNvPr id="13" name="Text 8"/>
          <p:cNvSpPr txBox="1"/>
          <p:nvPr/>
        </p:nvSpPr>
        <p:spPr>
          <a:xfrm>
            <a:off x="6949440" y="4828032"/>
            <a:ext cx="2103120" cy="588874"/>
          </a:xfrm>
          <a:prstGeom prst="rect">
            <a:avLst/>
          </a:prstGeom>
          <a:noFill/>
          <a:ln/>
        </p:spPr>
        <p:txBody>
          <a:bodyPr wrap="square" lIns="0" tIns="0" rIns="0" bIns="0" rtlCol="0" anchor="ctr"/>
          <a:lstStyle/>
          <a:p>
            <a:pPr algn="ctr" indent="0" marL="0">
              <a:buNone/>
            </a:pPr>
            <a:r>
              <a:rPr lang="en-US" sz="3700" b="1" dirty="0">
                <a:solidFill>
                  <a:schemeClr val="accent4"/>
                </a:solidFill>
                <a:latin typeface="+mj-lt" pitchFamily="34" charset="0"/>
                <a:ea typeface="+mj-lt" pitchFamily="34" charset="-122"/>
                <a:cs typeface="+mj-lt" pitchFamily="34" charset="-120"/>
              </a:rPr>
              <a:t>wil</a:t>
            </a:r>
            <a:endParaRPr lang="en-US" sz="3700" dirty="0"/>
          </a:p>
        </p:txBody>
      </p:sp>
      <p:sp>
        <p:nvSpPr>
          <p:cNvPr id="14" name="Shape 9"/>
          <p:cNvSpPr/>
          <p:nvPr/>
        </p:nvSpPr>
        <p:spPr>
          <a:xfrm>
            <a:off x="9326880" y="3566160"/>
            <a:ext cx="2103120" cy="2103120"/>
          </a:xfrm>
          <a:prstGeom prst="ellipse">
            <a:avLst/>
          </a:prstGeom>
          <a:solidFill>
            <a:srgbClr val="FFFFFF"/>
          </a:solidFill>
          <a:ln w="63500">
            <a:solidFill>
              <a:srgbClr val="B83227"/>
            </a:solidFill>
            <a:prstDash val="solid"/>
          </a:ln>
        </p:spPr>
      </p:sp>
      <p:pic>
        <p:nvPicPr>
          <p:cNvPr id="15" name="Image 3" descr="stop sign">    </p:cNvPr>
          <p:cNvPicPr>
            <a:picLocks noChangeAspect="1"/>
          </p:cNvPicPr>
          <p:nvPr/>
        </p:nvPicPr>
        <p:blipFill>
          <a:blip r:embed="rId4"/>
          <a:stretch>
            <a:fillRect/>
          </a:stretch>
        </p:blipFill>
        <p:spPr>
          <a:xfrm>
            <a:off x="9852660" y="3818534"/>
            <a:ext cx="1051560" cy="1051560"/>
          </a:xfrm>
          <a:prstGeom prst="rect">
            <a:avLst/>
          </a:prstGeom>
        </p:spPr>
      </p:pic>
      <p:sp>
        <p:nvSpPr>
          <p:cNvPr id="16" name="Text 10"/>
          <p:cNvSpPr txBox="1"/>
          <p:nvPr/>
        </p:nvSpPr>
        <p:spPr>
          <a:xfrm>
            <a:off x="9326880" y="4828032"/>
            <a:ext cx="2103120" cy="588874"/>
          </a:xfrm>
          <a:prstGeom prst="rect">
            <a:avLst/>
          </a:prstGeom>
          <a:noFill/>
          <a:ln/>
        </p:spPr>
        <p:txBody>
          <a:bodyPr wrap="square" lIns="0" tIns="0" rIns="0" bIns="0" rtlCol="0" anchor="ctr"/>
          <a:lstStyle/>
          <a:p>
            <a:pPr algn="ctr" indent="0" marL="0">
              <a:buNone/>
            </a:pPr>
            <a:r>
              <a:rPr lang="en-US" sz="3700" b="1" dirty="0">
                <a:solidFill>
                  <a:schemeClr val="accent6"/>
                </a:solidFill>
                <a:latin typeface="+mj-lt" pitchFamily="34" charset="0"/>
                <a:ea typeface="+mj-lt" pitchFamily="34" charset="-122"/>
                <a:cs typeface="+mj-lt" pitchFamily="34" charset="-120"/>
              </a:rPr>
              <a:t>moet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Compass">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Choisir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choisis entre </a:t>
            </a:r>
            <a:r>
              <a:rPr lang="en-US" sz="2000" i="1" dirty="0">
                <a:solidFill>
                  <a:schemeClr val="tx1"/>
                </a:solidFill>
              </a:rPr>
              <a:t>kunnen, mogen, willen, moeten</a:t>
            </a:r>
            <a:r>
              <a:rPr lang="en-US" sz="2000" dirty="0">
                <a:solidFill>
                  <a:schemeClr val="tx1"/>
                </a:solidFill>
              </a:rPr>
              <a:t> selon le </a:t>
            </a:r>
            <a:r>
              <a:rPr lang="en-US" sz="2000" b="1" dirty="0">
                <a:solidFill>
                  <a:schemeClr val="tx1"/>
                </a:solidFill>
              </a:rPr>
              <a:t>sens</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6"/>
          </a:solidFill>
          <a:ln w="12700">
            <a:solidFill>
              <a:srgbClr val="FFFFFF">
                <a:alpha val="0"/>
              </a:srgbClr>
            </a:solidFill>
            <a:prstDash val="solid"/>
          </a:ln>
        </p:spPr>
      </p:sp>
      <p:pic>
        <p:nvPicPr>
          <p:cNvPr id="12" name="Image 1" descr="Wrench">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6"/>
                </a:solidFill>
                <a:latin typeface="+mj-lt" pitchFamily="34" charset="0"/>
                <a:ea typeface="+mj-lt" pitchFamily="34" charset="-122"/>
                <a:cs typeface="+mj-lt" pitchFamily="34" charset="-120"/>
              </a:rPr>
              <a:t>Construire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mets l’</a:t>
            </a:r>
            <a:r>
              <a:rPr lang="en-US" sz="2000" b="1" dirty="0">
                <a:solidFill>
                  <a:schemeClr val="tx1"/>
                </a:solidFill>
              </a:rPr>
              <a:t>infinitif au bout</a:t>
            </a:r>
            <a:r>
              <a:rPr lang="en-US" sz="2000" dirty="0">
                <a:solidFill>
                  <a:schemeClr val="tx1"/>
                </a:solidFill>
              </a:rPr>
              <a:t> de la phrase.</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Handshake">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Demander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demande, propose, permets et interdis poliment.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La conjugaison a été vue au M4. Aujourd’hui : </a:t>
            </a:r>
            <a:r>
              <a:rPr lang="en-US" sz="1700" b="1" dirty="0">
                <a:solidFill>
                  <a:schemeClr val="tx1"/>
                </a:solidFill>
              </a:rPr>
              <a:t>le bon verbe au bon moment</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que disent ces panneaux ?</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600200"/>
            <a:ext cx="5440680" cy="2103120"/>
          </a:xfrm>
          <a:prstGeom prst="roundRect">
            <a:avLst>
              <a:gd name="adj" fmla="val 347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77240" y="1920240"/>
            <a:ext cx="1463040" cy="1463040"/>
          </a:xfrm>
          <a:prstGeom prst="ellipse">
            <a:avLst/>
          </a:prstGeom>
          <a:solidFill>
            <a:srgbClr val="FFFFFF"/>
          </a:solidFill>
          <a:ln w="50800">
            <a:solidFill>
              <a:srgbClr val="B83227"/>
            </a:solidFill>
            <a:prstDash val="solid"/>
          </a:ln>
        </p:spPr>
      </p:sp>
      <p:pic>
        <p:nvPicPr>
          <p:cNvPr id="7" name="Image 0" descr="p button">    </p:cNvPr>
          <p:cNvPicPr>
            <a:picLocks noChangeAspect="1"/>
          </p:cNvPicPr>
          <p:nvPr/>
        </p:nvPicPr>
        <p:blipFill>
          <a:blip r:embed="rId1"/>
          <a:stretch>
            <a:fillRect/>
          </a:stretch>
        </p:blipFill>
        <p:spPr>
          <a:xfrm>
            <a:off x="1005840" y="2148840"/>
            <a:ext cx="1005840" cy="1005840"/>
          </a:xfrm>
          <a:prstGeom prst="rect">
            <a:avLst/>
          </a:prstGeom>
        </p:spPr>
      </p:pic>
      <p:sp>
        <p:nvSpPr>
          <p:cNvPr id="8" name="Shape 4"/>
          <p:cNvSpPr/>
          <p:nvPr/>
        </p:nvSpPr>
        <p:spPr>
          <a:xfrm>
            <a:off x="1005840" y="2148840"/>
            <a:ext cx="1005840" cy="1005840"/>
          </a:xfrm>
          <a:prstGeom prst="line">
            <a:avLst/>
          </a:prstGeom>
          <a:noFill/>
          <a:ln w="63500">
            <a:solidFill>
              <a:srgbClr val="B83227"/>
            </a:solidFill>
            <a:prstDash val="solid"/>
          </a:ln>
        </p:spPr>
      </p:sp>
      <p:sp>
        <p:nvSpPr>
          <p:cNvPr id="9" name="Text 5"/>
          <p:cNvSpPr txBox="1"/>
          <p:nvPr/>
        </p:nvSpPr>
        <p:spPr>
          <a:xfrm>
            <a:off x="2468880" y="1737360"/>
            <a:ext cx="3383280" cy="1828800"/>
          </a:xfrm>
          <a:prstGeom prst="rect">
            <a:avLst/>
          </a:prstGeom>
          <a:noFill/>
          <a:ln/>
        </p:spPr>
        <p:txBody>
          <a:bodyPr wrap="square" lIns="0" tIns="0" rIns="0" bIns="0" rtlCol="0" anchor="ctr"/>
          <a:lstStyle/>
          <a:p>
            <a:pPr algn="l" indent="0" marL="0">
              <a:buNone/>
            </a:pPr>
            <a:r>
              <a:rPr lang="en-US" sz="2100" i="1" dirty="0">
                <a:solidFill>
                  <a:schemeClr val="tx1"/>
                </a:solidFill>
              </a:rPr>
              <a:t>Je </a:t>
            </a:r>
            <a:r>
              <a:rPr lang="en-US" sz="2100" b="1" i="1" dirty="0">
                <a:solidFill>
                  <a:srgbClr val="B8C2CF"/>
                </a:solidFill>
              </a:rPr>
              <a:t>mag</a:t>
            </a:r>
            <a:r>
              <a:rPr lang="en-US" sz="2100" i="1" dirty="0">
                <a:solidFill>
                  <a:schemeClr val="tx1"/>
                </a:solidFill>
              </a:rPr>
              <a:t> hier niet parkeren.</a:t>
            </a:r>
            <a:endParaRPr lang="en-US" sz="2100" dirty="0"/>
          </a:p>
        </p:txBody>
      </p:sp>
      <p:sp>
        <p:nvSpPr>
          <p:cNvPr id="10" name="Shape 6"/>
          <p:cNvSpPr/>
          <p:nvPr/>
        </p:nvSpPr>
        <p:spPr>
          <a:xfrm>
            <a:off x="6199632" y="1600200"/>
            <a:ext cx="5440680" cy="2103120"/>
          </a:xfrm>
          <a:prstGeom prst="roundRect">
            <a:avLst>
              <a:gd name="adj" fmla="val 347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1" name="Shape 7"/>
          <p:cNvSpPr/>
          <p:nvPr/>
        </p:nvSpPr>
        <p:spPr>
          <a:xfrm>
            <a:off x="6428232" y="1920240"/>
            <a:ext cx="1463040" cy="1463040"/>
          </a:xfrm>
          <a:prstGeom prst="ellipse">
            <a:avLst/>
          </a:prstGeom>
          <a:solidFill>
            <a:srgbClr val="FFFFFF"/>
          </a:solidFill>
          <a:ln w="50800">
            <a:solidFill>
              <a:srgbClr val="4A5A70"/>
            </a:solidFill>
            <a:prstDash val="solid"/>
          </a:ln>
        </p:spPr>
      </p:sp>
      <p:pic>
        <p:nvPicPr>
          <p:cNvPr id="12" name="Image 1" descr="stop sign">    </p:cNvPr>
          <p:cNvPicPr>
            <a:picLocks noChangeAspect="1"/>
          </p:cNvPicPr>
          <p:nvPr/>
        </p:nvPicPr>
        <p:blipFill>
          <a:blip r:embed="rId2"/>
          <a:stretch>
            <a:fillRect/>
          </a:stretch>
        </p:blipFill>
        <p:spPr>
          <a:xfrm>
            <a:off x="6656832" y="2148840"/>
            <a:ext cx="1005840" cy="1005840"/>
          </a:xfrm>
          <a:prstGeom prst="rect">
            <a:avLst/>
          </a:prstGeom>
        </p:spPr>
      </p:pic>
      <p:sp>
        <p:nvSpPr>
          <p:cNvPr id="13" name="Text 8"/>
          <p:cNvSpPr txBox="1"/>
          <p:nvPr/>
        </p:nvSpPr>
        <p:spPr>
          <a:xfrm>
            <a:off x="8119872" y="1737360"/>
            <a:ext cx="3383280" cy="1828800"/>
          </a:xfrm>
          <a:prstGeom prst="rect">
            <a:avLst/>
          </a:prstGeom>
          <a:noFill/>
          <a:ln/>
        </p:spPr>
        <p:txBody>
          <a:bodyPr wrap="square" lIns="0" tIns="0" rIns="0" bIns="0" rtlCol="0" anchor="ctr"/>
          <a:lstStyle/>
          <a:p>
            <a:pPr algn="l" indent="0" marL="0">
              <a:buNone/>
            </a:pPr>
            <a:r>
              <a:rPr lang="en-US" sz="2100" i="1" dirty="0">
                <a:solidFill>
                  <a:schemeClr val="tx1"/>
                </a:solidFill>
              </a:rPr>
              <a:t>Je </a:t>
            </a:r>
            <a:r>
              <a:rPr lang="en-US" sz="2100" b="1" i="1" dirty="0">
                <a:solidFill>
                  <a:srgbClr val="B8C2CF"/>
                </a:solidFill>
              </a:rPr>
              <a:t>moet</a:t>
            </a:r>
            <a:r>
              <a:rPr lang="en-US" sz="2100" i="1" dirty="0">
                <a:solidFill>
                  <a:schemeClr val="tx1"/>
                </a:solidFill>
              </a:rPr>
              <a:t> hier stoppen.</a:t>
            </a:r>
            <a:endParaRPr lang="en-US" sz="2100" dirty="0"/>
          </a:p>
        </p:txBody>
      </p:sp>
      <p:sp>
        <p:nvSpPr>
          <p:cNvPr id="14" name="Shape 9"/>
          <p:cNvSpPr/>
          <p:nvPr/>
        </p:nvSpPr>
        <p:spPr>
          <a:xfrm>
            <a:off x="548640" y="3931920"/>
            <a:ext cx="5440680" cy="2103120"/>
          </a:xfrm>
          <a:prstGeom prst="roundRect">
            <a:avLst>
              <a:gd name="adj" fmla="val 347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0"/>
          <p:cNvSpPr/>
          <p:nvPr/>
        </p:nvSpPr>
        <p:spPr>
          <a:xfrm>
            <a:off x="777240" y="4251960"/>
            <a:ext cx="1463040" cy="1463040"/>
          </a:xfrm>
          <a:prstGeom prst="ellipse">
            <a:avLst/>
          </a:prstGeom>
          <a:solidFill>
            <a:srgbClr val="FFFFFF"/>
          </a:solidFill>
          <a:ln w="50800">
            <a:solidFill>
              <a:srgbClr val="4A5A70"/>
            </a:solidFill>
            <a:prstDash val="solid"/>
          </a:ln>
        </p:spPr>
      </p:sp>
      <p:pic>
        <p:nvPicPr>
          <p:cNvPr id="16" name="Image 2" descr="antenna bars">    </p:cNvPr>
          <p:cNvPicPr>
            <a:picLocks noChangeAspect="1"/>
          </p:cNvPicPr>
          <p:nvPr/>
        </p:nvPicPr>
        <p:blipFill>
          <a:blip r:embed="rId3"/>
          <a:stretch>
            <a:fillRect/>
          </a:stretch>
        </p:blipFill>
        <p:spPr>
          <a:xfrm>
            <a:off x="1005840" y="4480560"/>
            <a:ext cx="1005840" cy="1005840"/>
          </a:xfrm>
          <a:prstGeom prst="rect">
            <a:avLst/>
          </a:prstGeom>
        </p:spPr>
      </p:pic>
      <p:sp>
        <p:nvSpPr>
          <p:cNvPr id="17" name="Text 11"/>
          <p:cNvSpPr txBox="1"/>
          <p:nvPr/>
        </p:nvSpPr>
        <p:spPr>
          <a:xfrm>
            <a:off x="2468880" y="4069080"/>
            <a:ext cx="3383280" cy="1828800"/>
          </a:xfrm>
          <a:prstGeom prst="rect">
            <a:avLst/>
          </a:prstGeom>
          <a:noFill/>
          <a:ln/>
        </p:spPr>
        <p:txBody>
          <a:bodyPr wrap="square" lIns="0" tIns="0" rIns="0" bIns="0" rtlCol="0" anchor="ctr"/>
          <a:lstStyle/>
          <a:p>
            <a:pPr algn="l" indent="0" marL="0">
              <a:buNone/>
            </a:pPr>
            <a:r>
              <a:rPr lang="en-US" sz="2100" i="1" dirty="0">
                <a:solidFill>
                  <a:schemeClr val="tx1"/>
                </a:solidFill>
              </a:rPr>
              <a:t>Je </a:t>
            </a:r>
            <a:r>
              <a:rPr lang="en-US" sz="2100" b="1" i="1" dirty="0">
                <a:solidFill>
                  <a:srgbClr val="B8C2CF"/>
                </a:solidFill>
              </a:rPr>
              <a:t>kan</a:t>
            </a:r>
            <a:r>
              <a:rPr lang="en-US" sz="2100" i="1" dirty="0">
                <a:solidFill>
                  <a:schemeClr val="tx1"/>
                </a:solidFill>
              </a:rPr>
              <a:t> hier gratis internetten.</a:t>
            </a:r>
            <a:endParaRPr lang="en-US" sz="2100" dirty="0"/>
          </a:p>
        </p:txBody>
      </p:sp>
      <p:sp>
        <p:nvSpPr>
          <p:cNvPr id="18" name="Shape 12"/>
          <p:cNvSpPr/>
          <p:nvPr/>
        </p:nvSpPr>
        <p:spPr>
          <a:xfrm>
            <a:off x="6199632" y="3931920"/>
            <a:ext cx="5440680" cy="2103120"/>
          </a:xfrm>
          <a:prstGeom prst="roundRect">
            <a:avLst>
              <a:gd name="adj" fmla="val 347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Shape 13"/>
          <p:cNvSpPr/>
          <p:nvPr/>
        </p:nvSpPr>
        <p:spPr>
          <a:xfrm>
            <a:off x="6428232" y="4251960"/>
            <a:ext cx="1463040" cy="1463040"/>
          </a:xfrm>
          <a:prstGeom prst="ellipse">
            <a:avLst/>
          </a:prstGeom>
          <a:solidFill>
            <a:srgbClr val="FFFFFF"/>
          </a:solidFill>
          <a:ln w="50800">
            <a:solidFill>
              <a:srgbClr val="4A5A70"/>
            </a:solidFill>
            <a:prstDash val="solid"/>
          </a:ln>
        </p:spPr>
      </p:sp>
      <p:pic>
        <p:nvPicPr>
          <p:cNvPr id="20" name="Image 3" descr="elevator">    </p:cNvPr>
          <p:cNvPicPr>
            <a:picLocks noChangeAspect="1"/>
          </p:cNvPicPr>
          <p:nvPr/>
        </p:nvPicPr>
        <p:blipFill>
          <a:blip r:embed="rId4"/>
          <a:stretch>
            <a:fillRect/>
          </a:stretch>
        </p:blipFill>
        <p:spPr>
          <a:xfrm>
            <a:off x="6656832" y="4480560"/>
            <a:ext cx="1005840" cy="1005840"/>
          </a:xfrm>
          <a:prstGeom prst="rect">
            <a:avLst/>
          </a:prstGeom>
        </p:spPr>
      </p:pic>
      <p:sp>
        <p:nvSpPr>
          <p:cNvPr id="21" name="Text 14"/>
          <p:cNvSpPr txBox="1"/>
          <p:nvPr/>
        </p:nvSpPr>
        <p:spPr>
          <a:xfrm>
            <a:off x="8119872" y="4069080"/>
            <a:ext cx="3383280" cy="1828800"/>
          </a:xfrm>
          <a:prstGeom prst="rect">
            <a:avLst/>
          </a:prstGeom>
          <a:noFill/>
          <a:ln/>
        </p:spPr>
        <p:txBody>
          <a:bodyPr wrap="square" lIns="0" tIns="0" rIns="0" bIns="0" rtlCol="0" anchor="ctr"/>
          <a:lstStyle/>
          <a:p>
            <a:pPr algn="l" indent="0" marL="0">
              <a:buNone/>
            </a:pPr>
            <a:r>
              <a:rPr lang="en-US" sz="2100" i="1" dirty="0">
                <a:solidFill>
                  <a:schemeClr val="tx1"/>
                </a:solidFill>
              </a:rPr>
              <a:t>Alleen het personeel </a:t>
            </a:r>
            <a:r>
              <a:rPr lang="en-US" sz="2100" b="1" i="1" dirty="0">
                <a:solidFill>
                  <a:srgbClr val="B8C2CF"/>
                </a:solidFill>
              </a:rPr>
              <a:t>mag</a:t>
            </a:r>
            <a:r>
              <a:rPr lang="en-US" sz="2100" i="1" dirty="0">
                <a:solidFill>
                  <a:schemeClr val="tx1"/>
                </a:solidFill>
              </a:rPr>
              <a:t> de lift nemen.</a:t>
            </a:r>
            <a:endParaRPr lang="en-US" sz="2100" dirty="0"/>
          </a:p>
        </p:txBody>
      </p:sp>
      <p:sp>
        <p:nvSpPr>
          <p:cNvPr id="22" name="Text 15"/>
          <p:cNvSpPr txBox="1"/>
          <p:nvPr/>
        </p:nvSpPr>
        <p:spPr>
          <a:xfrm>
            <a:off x="548640" y="5989320"/>
            <a:ext cx="11091672" cy="320040"/>
          </a:xfrm>
          <a:prstGeom prst="rect">
            <a:avLst/>
          </a:prstGeom>
          <a:noFill/>
          <a:ln/>
        </p:spPr>
        <p:txBody>
          <a:bodyPr wrap="square" lIns="0" tIns="0" rIns="0" bIns="0" rtlCol="0" anchor="t"/>
          <a:lstStyle/>
          <a:p>
            <a:pPr algn="ctr" indent="0" marL="0">
              <a:buNone/>
            </a:pPr>
            <a:r>
              <a:rPr lang="en-US" sz="1500" i="1" dirty="0">
                <a:solidFill>
                  <a:schemeClr val="accent5"/>
                </a:solidFill>
              </a:rPr>
              <a:t>Quel verbe ? Les réponses apparaissent en </a:t>
            </a:r>
            <a:r>
              <a:rPr lang="en-US" sz="1500" b="1" i="1" dirty="0">
                <a:solidFill>
                  <a:schemeClr val="accent5"/>
                </a:solidFill>
              </a:rPr>
              <a:t>gris clair</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Rappel — la conjugaison en un coup d’œil</a:t>
            </a:r>
            <a:endParaRPr lang="en-US" sz="3000" dirty="0"/>
          </a:p>
        </p:txBody>
      </p:sp>
      <p:sp>
        <p:nvSpPr>
          <p:cNvPr id="3" name="tag"/>
          <p:cNvSpPr/>
          <p:nvPr/>
        </p:nvSpPr>
        <p:spPr>
          <a:xfrm>
            <a:off x="548640" y="237744"/>
            <a:ext cx="133868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APERÇU</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863840" cy="914400"/>
        </p:xfrm>
        <a:graphic>
          <a:graphicData uri="http://schemas.openxmlformats.org/drawingml/2006/table">
            <a:tbl>
              <a:tblPr/>
              <a:tblGrid>
                <a:gridCol w="1737360"/>
                <a:gridCol w="1280160"/>
                <a:gridCol w="1737360"/>
                <a:gridCol w="1463040"/>
                <a:gridCol w="1645920"/>
              </a:tblGrid>
              <a:tr h="685800">
                <a:tc>
                  <a:txBody>
                    <a:bodyPr/>
                    <a:lstStyle/>
                    <a:p>
                      <a:pPr algn="l" indent="0" marL="0">
                        <a:buNone/>
                      </a:pP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ik</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jij / u</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hij / zij</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600" b="1" dirty="0">
                          <a:solidFill>
                            <a:srgbClr val="FFFFFF"/>
                          </a:solidFill>
                        </a:rPr>
                        <a:t>pluriel</a:t>
                      </a:r>
                      <a:endParaRPr lang="en-US" sz="16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5800">
                <a:tc>
                  <a:txBody>
                    <a:bodyPr/>
                    <a:lstStyle/>
                    <a:p>
                      <a:pPr algn="l" indent="0" marL="0">
                        <a:buNone/>
                      </a:pPr>
                      <a:r>
                        <a:rPr lang="en-US" sz="2200" b="1" dirty="0">
                          <a:solidFill>
                            <a:schemeClr val="tx1"/>
                          </a:solidFill>
                        </a:rPr>
                        <a:t>kunnen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dirty="0">
                          <a:solidFill>
                            <a:schemeClr val="tx1"/>
                          </a:solidFill>
                        </a:rPr>
                        <a:t>kan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dirty="0">
                          <a:solidFill>
                            <a:schemeClr val="tx1"/>
                          </a:solidFill>
                        </a:rPr>
                        <a:t>kunt / kan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b="1" dirty="0">
                          <a:solidFill>
                            <a:schemeClr val="accent1"/>
                          </a:solidFill>
                        </a:rPr>
                        <a:t>kan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1E6"/>
                    </a:solidFill>
                  </a:tcPr>
                </a:tc>
                <a:tc>
                  <a:txBody>
                    <a:bodyPr/>
                    <a:lstStyle/>
                    <a:p>
                      <a:pPr algn="ctr" indent="0" marL="0">
                        <a:buNone/>
                      </a:pPr>
                      <a:r>
                        <a:rPr lang="en-US" sz="2200" dirty="0">
                          <a:solidFill>
                            <a:schemeClr val="tx1"/>
                          </a:solidFill>
                        </a:rPr>
                        <a:t>kunnen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5800">
                <a:tc>
                  <a:txBody>
                    <a:bodyPr/>
                    <a:lstStyle/>
                    <a:p>
                      <a:pPr algn="l" indent="0" marL="0">
                        <a:buNone/>
                      </a:pPr>
                      <a:r>
                        <a:rPr lang="en-US" sz="2200" b="1" dirty="0">
                          <a:solidFill>
                            <a:schemeClr val="tx1"/>
                          </a:solidFill>
                        </a:rPr>
                        <a:t>mogen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mag</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mag</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b="1" dirty="0">
                          <a:solidFill>
                            <a:schemeClr val="accent1"/>
                          </a:solidFill>
                        </a:rPr>
                        <a:t>mag</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1E6"/>
                    </a:solidFill>
                  </a:tcPr>
                </a:tc>
                <a:tc>
                  <a:txBody>
                    <a:bodyPr/>
                    <a:lstStyle/>
                    <a:p>
                      <a:pPr algn="ctr" indent="0" marL="0">
                        <a:buNone/>
                      </a:pPr>
                      <a:r>
                        <a:rPr lang="en-US" sz="2200" dirty="0">
                          <a:solidFill>
                            <a:schemeClr val="tx1"/>
                          </a:solidFill>
                        </a:rPr>
                        <a:t>mogen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5800">
                <a:tc>
                  <a:txBody>
                    <a:bodyPr/>
                    <a:lstStyle/>
                    <a:p>
                      <a:pPr algn="l" indent="0" marL="0">
                        <a:buNone/>
                      </a:pPr>
                      <a:r>
                        <a:rPr lang="en-US" sz="2200" b="1" dirty="0">
                          <a:solidFill>
                            <a:schemeClr val="tx1"/>
                          </a:solidFill>
                        </a:rPr>
                        <a:t>willen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dirty="0">
                          <a:solidFill>
                            <a:schemeClr val="tx1"/>
                          </a:solidFill>
                        </a:rPr>
                        <a:t>wil</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dirty="0">
                          <a:solidFill>
                            <a:schemeClr val="tx1"/>
                          </a:solidFill>
                        </a:rPr>
                        <a:t>wilt / wil</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200" b="1" dirty="0">
                          <a:solidFill>
                            <a:schemeClr val="accent1"/>
                          </a:solidFill>
                        </a:rPr>
                        <a:t>wil</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DF1E6"/>
                    </a:solidFill>
                  </a:tcPr>
                </a:tc>
                <a:tc>
                  <a:txBody>
                    <a:bodyPr/>
                    <a:lstStyle/>
                    <a:p>
                      <a:pPr algn="ctr" indent="0" marL="0">
                        <a:buNone/>
                      </a:pPr>
                      <a:r>
                        <a:rPr lang="en-US" sz="2200" dirty="0">
                          <a:solidFill>
                            <a:schemeClr val="tx1"/>
                          </a:solidFill>
                        </a:rPr>
                        <a:t>willen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5800">
                <a:tc>
                  <a:txBody>
                    <a:bodyPr/>
                    <a:lstStyle/>
                    <a:p>
                      <a:pPr algn="l" indent="0" marL="0">
                        <a:buNone/>
                      </a:pPr>
                      <a:r>
                        <a:rPr lang="en-US" sz="2200" b="1" dirty="0">
                          <a:solidFill>
                            <a:schemeClr val="tx1"/>
                          </a:solidFill>
                        </a:rPr>
                        <a:t>moeten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moet</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moet</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moet</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200" dirty="0">
                          <a:solidFill>
                            <a:schemeClr val="tx1"/>
                          </a:solidFill>
                        </a:rPr>
                        <a:t>moeten</a:t>
                      </a:r>
                      <a:endParaRPr lang="en-US" sz="22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Shape 2"/>
          <p:cNvSpPr/>
          <p:nvPr/>
        </p:nvSpPr>
        <p:spPr>
          <a:xfrm>
            <a:off x="8686800" y="1554480"/>
            <a:ext cx="2953512" cy="2743200"/>
          </a:xfrm>
          <a:prstGeom prst="roundRect">
            <a:avLst>
              <a:gd name="adj" fmla="val 333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 name="Shape 3"/>
          <p:cNvSpPr/>
          <p:nvPr/>
        </p:nvSpPr>
        <p:spPr>
          <a:xfrm>
            <a:off x="8869680" y="1719072"/>
            <a:ext cx="566928" cy="566928"/>
          </a:xfrm>
          <a:prstGeom prst="ellipse">
            <a:avLst/>
          </a:prstGeom>
          <a:solidFill>
            <a:schemeClr val="accent1"/>
          </a:solidFill>
          <a:ln w="12700">
            <a:solidFill>
              <a:srgbClr val="FFFFFF">
                <a:alpha val="0"/>
              </a:srgbClr>
            </a:solidFill>
            <a:prstDash val="solid"/>
          </a:ln>
        </p:spPr>
      </p:sp>
      <p:pic>
        <p:nvPicPr>
          <p:cNvPr id="8" name="Image 0" descr="Exclamation">    </p:cNvPr>
          <p:cNvPicPr>
            <a:picLocks noChangeAspect="1"/>
          </p:cNvPicPr>
          <p:nvPr/>
        </p:nvPicPr>
        <p:blipFill>
          <a:blip r:embed="rId1"/>
          <a:stretch>
            <a:fillRect/>
          </a:stretch>
        </p:blipFill>
        <p:spPr>
          <a:xfrm>
            <a:off x="9005743" y="1855135"/>
            <a:ext cx="294803" cy="294803"/>
          </a:xfrm>
          <a:prstGeom prst="rect">
            <a:avLst/>
          </a:prstGeom>
        </p:spPr>
      </p:pic>
      <p:sp>
        <p:nvSpPr>
          <p:cNvPr id="9" name="Text 4"/>
          <p:cNvSpPr txBox="1"/>
          <p:nvPr/>
        </p:nvSpPr>
        <p:spPr>
          <a:xfrm>
            <a:off x="9582912" y="1700784"/>
            <a:ext cx="1920240" cy="603504"/>
          </a:xfrm>
          <a:prstGeom prst="rect">
            <a:avLst/>
          </a:prstGeom>
          <a:noFill/>
          <a:ln/>
        </p:spPr>
        <p:txBody>
          <a:bodyPr wrap="square" lIns="0" tIns="0" rIns="0" bIns="0" rtlCol="0" anchor="ctr"/>
          <a:lstStyle/>
          <a:p>
            <a:pPr algn="l" indent="0" marL="0">
              <a:buNone/>
            </a:pPr>
            <a:r>
              <a:rPr lang="en-US" sz="1900" b="1" dirty="0">
                <a:solidFill>
                  <a:schemeClr val="accent1"/>
                </a:solidFill>
              </a:rPr>
              <a:t>Pas de t !</a:t>
            </a:r>
            <a:endParaRPr lang="en-US" sz="1900" dirty="0"/>
          </a:p>
        </p:txBody>
      </p:sp>
      <p:sp>
        <p:nvSpPr>
          <p:cNvPr id="10" name="Text 5"/>
          <p:cNvSpPr txBox="1"/>
          <p:nvPr/>
        </p:nvSpPr>
        <p:spPr>
          <a:xfrm>
            <a:off x="8887968" y="2423160"/>
            <a:ext cx="2551176" cy="1764792"/>
          </a:xfrm>
          <a:prstGeom prst="rect">
            <a:avLst/>
          </a:prstGeom>
          <a:noFill/>
          <a:ln/>
        </p:spPr>
        <p:txBody>
          <a:bodyPr wrap="square" lIns="0" tIns="0" rIns="0" bIns="0" rtlCol="0" anchor="t"/>
          <a:lstStyle/>
          <a:p>
            <a:pPr algn="l" indent="0" marL="0">
              <a:spcAft>
                <a:spcPts val="600"/>
              </a:spcAft>
              <a:buNone/>
            </a:pPr>
            <a:r>
              <a:rPr lang="en-US" sz="1600" i="1" dirty="0">
                <a:solidFill>
                  <a:schemeClr val="tx1"/>
                </a:solidFill>
              </a:rPr>
              <a:t>hij kan · hij mag · hij wil</a:t>
            </a:r>
            <a:endParaRPr lang="en-US" sz="1600" dirty="0"/>
          </a:p>
          <a:p>
            <a:pPr algn="l" indent="0" marL="0">
              <a:spcAft>
                <a:spcPts val="600"/>
              </a:spcAft>
              <a:buNone/>
            </a:pPr>
            <a:r>
              <a:rPr lang="en-US" sz="1600" dirty="0">
                <a:solidFill>
                  <a:schemeClr val="tx1"/>
                </a:solidFill>
              </a:rPr>
              <a:t>comme en anglais : </a:t>
            </a:r>
            <a:r>
              <a:rPr lang="en-US" sz="1600" i="1" dirty="0">
                <a:solidFill>
                  <a:schemeClr val="tx1"/>
                </a:solidFill>
              </a:rPr>
              <a:t>he can</a:t>
            </a:r>
            <a:endParaRPr lang="en-US" sz="1600" dirty="0"/>
          </a:p>
        </p:txBody>
      </p:sp>
      <p:sp>
        <p:nvSpPr>
          <p:cNvPr id="11" name="Shape 6"/>
          <p:cNvSpPr/>
          <p:nvPr/>
        </p:nvSpPr>
        <p:spPr>
          <a:xfrm>
            <a:off x="8686800" y="4480560"/>
            <a:ext cx="2953512" cy="1783080"/>
          </a:xfrm>
          <a:prstGeom prst="roundRect">
            <a:avLst>
              <a:gd name="adj" fmla="val 512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Shape 7"/>
          <p:cNvSpPr/>
          <p:nvPr/>
        </p:nvSpPr>
        <p:spPr>
          <a:xfrm>
            <a:off x="8869680" y="4645152"/>
            <a:ext cx="566928" cy="566928"/>
          </a:xfrm>
          <a:prstGeom prst="ellipse">
            <a:avLst/>
          </a:prstGeom>
          <a:solidFill>
            <a:schemeClr val="accent2"/>
          </a:solidFill>
          <a:ln w="12700">
            <a:solidFill>
              <a:srgbClr val="FFFFFF">
                <a:alpha val="0"/>
              </a:srgbClr>
            </a:solidFill>
            <a:prstDash val="solid"/>
          </a:ln>
        </p:spPr>
      </p:sp>
      <p:pic>
        <p:nvPicPr>
          <p:cNvPr id="13" name="Image 1" descr="Undo">    </p:cNvPr>
          <p:cNvPicPr>
            <a:picLocks noChangeAspect="1"/>
          </p:cNvPicPr>
          <p:nvPr/>
        </p:nvPicPr>
        <p:blipFill>
          <a:blip r:embed="rId2"/>
          <a:stretch>
            <a:fillRect/>
          </a:stretch>
        </p:blipFill>
        <p:spPr>
          <a:xfrm>
            <a:off x="9005743" y="4781215"/>
            <a:ext cx="294803" cy="294803"/>
          </a:xfrm>
          <a:prstGeom prst="rect">
            <a:avLst/>
          </a:prstGeom>
        </p:spPr>
      </p:pic>
      <p:sp>
        <p:nvSpPr>
          <p:cNvPr id="14" name="Text 8"/>
          <p:cNvSpPr txBox="1"/>
          <p:nvPr/>
        </p:nvSpPr>
        <p:spPr>
          <a:xfrm>
            <a:off x="9582912" y="4626864"/>
            <a:ext cx="1920240" cy="603504"/>
          </a:xfrm>
          <a:prstGeom prst="rect">
            <a:avLst/>
          </a:prstGeom>
          <a:noFill/>
          <a:ln/>
        </p:spPr>
        <p:txBody>
          <a:bodyPr wrap="square" lIns="0" tIns="0" rIns="0" bIns="0" rtlCol="0" anchor="ctr"/>
          <a:lstStyle/>
          <a:p>
            <a:pPr algn="l" indent="0" marL="0">
              <a:buNone/>
            </a:pPr>
            <a:r>
              <a:rPr lang="en-US" sz="1900" b="1" dirty="0">
                <a:solidFill>
                  <a:schemeClr val="accent2"/>
                </a:solidFill>
              </a:rPr>
              <a:t>Inversion</a:t>
            </a:r>
            <a:endParaRPr lang="en-US" sz="1900" dirty="0"/>
          </a:p>
        </p:txBody>
      </p:sp>
      <p:sp>
        <p:nvSpPr>
          <p:cNvPr id="15" name="Text 9"/>
          <p:cNvSpPr txBox="1"/>
          <p:nvPr/>
        </p:nvSpPr>
        <p:spPr>
          <a:xfrm>
            <a:off x="8887968" y="5349240"/>
            <a:ext cx="2551176" cy="804672"/>
          </a:xfrm>
          <a:prstGeom prst="rect">
            <a:avLst/>
          </a:prstGeom>
          <a:noFill/>
          <a:ln/>
        </p:spPr>
        <p:txBody>
          <a:bodyPr wrap="square" lIns="0" tIns="0" rIns="0" bIns="0" rtlCol="0" anchor="t"/>
          <a:lstStyle/>
          <a:p>
            <a:pPr algn="l" indent="0" marL="0">
              <a:spcAft>
                <a:spcPts val="600"/>
              </a:spcAft>
              <a:buNone/>
            </a:pPr>
            <a:r>
              <a:rPr lang="en-US" sz="1700" i="1" dirty="0">
                <a:solidFill>
                  <a:schemeClr val="tx1"/>
                </a:solidFill>
              </a:rPr>
              <a:t>Kun je…? · Wil je…?</a:t>
            </a:r>
            <a:endParaRPr lang="en-US" sz="1700" dirty="0"/>
          </a:p>
        </p:txBody>
      </p:sp>
      <p:sp>
        <p:nvSpPr>
          <p:cNvPr id="16" name="Text 10"/>
          <p:cNvSpPr txBox="1"/>
          <p:nvPr/>
        </p:nvSpPr>
        <p:spPr>
          <a:xfrm>
            <a:off x="548640" y="5166360"/>
            <a:ext cx="7863840" cy="365760"/>
          </a:xfrm>
          <a:prstGeom prst="rect">
            <a:avLst/>
          </a:prstGeom>
          <a:noFill/>
          <a:ln/>
        </p:spPr>
        <p:txBody>
          <a:bodyPr wrap="square" lIns="0" tIns="0" rIns="0" bIns="0" rtlCol="0" anchor="t"/>
          <a:lstStyle/>
          <a:p>
            <a:pPr algn="l" indent="0" marL="0">
              <a:buNone/>
            </a:pPr>
            <a:r>
              <a:rPr lang="en-US" sz="1500" i="1" dirty="0">
                <a:solidFill>
                  <a:schemeClr val="accent5"/>
                </a:solidFill>
              </a:rPr>
              <a:t>Deux minutes : c’est un rappel du M4.</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carte des 4 sens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72768"/>
            <a:ext cx="5440680" cy="2194560"/>
          </a:xfrm>
          <a:prstGeom prst="roundRect">
            <a:avLst>
              <a:gd name="adj" fmla="val 3333"/>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72768"/>
            <a:ext cx="1737360" cy="2194560"/>
          </a:xfrm>
          <a:prstGeom prst="roundRect">
            <a:avLst>
              <a:gd name="adj" fmla="val 4211"/>
            </a:avLst>
          </a:prstGeom>
          <a:solidFill>
            <a:schemeClr val="accent2">
              <a:alpha val="15000"/>
            </a:schemeClr>
          </a:solidFill>
          <a:ln w="12700">
            <a:solidFill>
              <a:srgbClr val="FFFFFF">
                <a:alpha val="0"/>
              </a:srgbClr>
            </a:solidFill>
            <a:prstDash val="solid"/>
          </a:ln>
        </p:spPr>
      </p:sp>
      <p:pic>
        <p:nvPicPr>
          <p:cNvPr id="7" name="Image 0" descr="flexed biceps">    </p:cNvPr>
          <p:cNvPicPr>
            <a:picLocks noChangeAspect="1"/>
          </p:cNvPicPr>
          <p:nvPr/>
        </p:nvPicPr>
        <p:blipFill>
          <a:blip r:embed="rId1"/>
          <a:stretch>
            <a:fillRect/>
          </a:stretch>
        </p:blipFill>
        <p:spPr>
          <a:xfrm>
            <a:off x="914400" y="1847088"/>
            <a:ext cx="1005840" cy="1005840"/>
          </a:xfrm>
          <a:prstGeom prst="rect">
            <a:avLst/>
          </a:prstGeom>
        </p:spPr>
      </p:pic>
      <p:sp>
        <p:nvSpPr>
          <p:cNvPr id="8" name="Text 4"/>
          <p:cNvSpPr txBox="1"/>
          <p:nvPr/>
        </p:nvSpPr>
        <p:spPr>
          <a:xfrm>
            <a:off x="548640" y="2944368"/>
            <a:ext cx="173736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mj-lt" pitchFamily="34" charset="0"/>
                <a:ea typeface="+mj-lt" pitchFamily="34" charset="-122"/>
                <a:cs typeface="+mj-lt" pitchFamily="34" charset="-120"/>
              </a:rPr>
              <a:t>kunnen</a:t>
            </a:r>
            <a:endParaRPr lang="en-US" sz="2200" dirty="0"/>
          </a:p>
        </p:txBody>
      </p:sp>
      <p:sp>
        <p:nvSpPr>
          <p:cNvPr id="9" name="Text 5"/>
          <p:cNvSpPr txBox="1"/>
          <p:nvPr/>
        </p:nvSpPr>
        <p:spPr>
          <a:xfrm>
            <a:off x="2468880" y="1755648"/>
            <a:ext cx="3383280" cy="731520"/>
          </a:xfrm>
          <a:prstGeom prst="rect">
            <a:avLst/>
          </a:prstGeom>
          <a:noFill/>
          <a:ln/>
        </p:spPr>
        <p:txBody>
          <a:bodyPr wrap="square" lIns="0" tIns="0" rIns="0" bIns="0" rtlCol="0" anchor="ctr"/>
          <a:lstStyle/>
          <a:p>
            <a:pPr algn="l" indent="0" marL="0">
              <a:buNone/>
            </a:pPr>
            <a:r>
              <a:rPr lang="en-US" sz="1800" b="1" dirty="0">
                <a:solidFill>
                  <a:schemeClr val="accent2"/>
                </a:solidFill>
              </a:rPr>
              <a:t>être capable, c’est possible</a:t>
            </a:r>
            <a:endParaRPr lang="en-US" sz="1800" dirty="0"/>
          </a:p>
        </p:txBody>
      </p:sp>
      <p:sp>
        <p:nvSpPr>
          <p:cNvPr id="10" name="Text 6"/>
          <p:cNvSpPr txBox="1"/>
          <p:nvPr/>
        </p:nvSpPr>
        <p:spPr>
          <a:xfrm>
            <a:off x="2468880" y="2532888"/>
            <a:ext cx="3383280" cy="1097280"/>
          </a:xfrm>
          <a:prstGeom prst="rect">
            <a:avLst/>
          </a:prstGeom>
          <a:noFill/>
          <a:ln/>
        </p:spPr>
        <p:txBody>
          <a:bodyPr wrap="square" lIns="0" tIns="0" rIns="0" bIns="0" rtlCol="0" anchor="ctr"/>
          <a:lstStyle/>
          <a:p>
            <a:pPr algn="l" indent="0" marL="0">
              <a:buNone/>
            </a:pPr>
            <a:r>
              <a:rPr lang="en-US" sz="2000" i="1" dirty="0">
                <a:solidFill>
                  <a:schemeClr val="tx1"/>
                </a:solidFill>
              </a:rPr>
              <a:t>Ik </a:t>
            </a:r>
            <a:r>
              <a:rPr lang="en-US" sz="2000" b="1" i="1" dirty="0">
                <a:solidFill>
                  <a:schemeClr val="tx1"/>
                </a:solidFill>
              </a:rPr>
              <a:t>kan</a:t>
            </a:r>
            <a:r>
              <a:rPr lang="en-US" sz="2000" i="1" dirty="0">
                <a:solidFill>
                  <a:schemeClr val="tx1"/>
                </a:solidFill>
              </a:rPr>
              <a:t> goed voetbal </a:t>
            </a:r>
            <a:r>
              <a:rPr lang="en-US" sz="2000" b="1" i="1" dirty="0">
                <a:solidFill>
                  <a:schemeClr val="accent6"/>
                </a:solidFill>
              </a:rPr>
              <a:t>spelen</a:t>
            </a:r>
            <a:r>
              <a:rPr lang="en-US" sz="2000" i="1" dirty="0">
                <a:solidFill>
                  <a:schemeClr val="tx1"/>
                </a:solidFill>
              </a:rPr>
              <a:t>.</a:t>
            </a:r>
            <a:endParaRPr lang="en-US" sz="2000" dirty="0"/>
          </a:p>
        </p:txBody>
      </p:sp>
      <p:sp>
        <p:nvSpPr>
          <p:cNvPr id="11" name="Shape 7"/>
          <p:cNvSpPr/>
          <p:nvPr/>
        </p:nvSpPr>
        <p:spPr>
          <a:xfrm>
            <a:off x="6199632" y="1572768"/>
            <a:ext cx="5440680" cy="2194560"/>
          </a:xfrm>
          <a:prstGeom prst="roundRect">
            <a:avLst>
              <a:gd name="adj" fmla="val 3333"/>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2" name="Shape 8"/>
          <p:cNvSpPr/>
          <p:nvPr/>
        </p:nvSpPr>
        <p:spPr>
          <a:xfrm>
            <a:off x="6199632" y="1572768"/>
            <a:ext cx="1737360" cy="2194560"/>
          </a:xfrm>
          <a:prstGeom prst="roundRect">
            <a:avLst>
              <a:gd name="adj" fmla="val 4211"/>
            </a:avLst>
          </a:prstGeom>
          <a:solidFill>
            <a:schemeClr val="accent3">
              <a:alpha val="15000"/>
            </a:schemeClr>
          </a:solidFill>
          <a:ln w="12700">
            <a:solidFill>
              <a:srgbClr val="FFFFFF">
                <a:alpha val="0"/>
              </a:srgbClr>
            </a:solidFill>
            <a:prstDash val="solid"/>
          </a:ln>
        </p:spPr>
      </p:sp>
      <p:pic>
        <p:nvPicPr>
          <p:cNvPr id="13" name="Image 1" descr="check mark button">    </p:cNvPr>
          <p:cNvPicPr>
            <a:picLocks noChangeAspect="1"/>
          </p:cNvPicPr>
          <p:nvPr/>
        </p:nvPicPr>
        <p:blipFill>
          <a:blip r:embed="rId2"/>
          <a:stretch>
            <a:fillRect/>
          </a:stretch>
        </p:blipFill>
        <p:spPr>
          <a:xfrm>
            <a:off x="6565392" y="1847088"/>
            <a:ext cx="1005840" cy="1005840"/>
          </a:xfrm>
          <a:prstGeom prst="rect">
            <a:avLst/>
          </a:prstGeom>
        </p:spPr>
      </p:pic>
      <p:sp>
        <p:nvSpPr>
          <p:cNvPr id="14" name="Text 9"/>
          <p:cNvSpPr txBox="1"/>
          <p:nvPr/>
        </p:nvSpPr>
        <p:spPr>
          <a:xfrm>
            <a:off x="6199632" y="2944368"/>
            <a:ext cx="1737360" cy="548640"/>
          </a:xfrm>
          <a:prstGeom prst="rect">
            <a:avLst/>
          </a:prstGeom>
          <a:noFill/>
          <a:ln/>
        </p:spPr>
        <p:txBody>
          <a:bodyPr wrap="square" lIns="0" tIns="0" rIns="0" bIns="0" rtlCol="0" anchor="ctr"/>
          <a:lstStyle/>
          <a:p>
            <a:pPr algn="ctr" indent="0" marL="0">
              <a:buNone/>
            </a:pPr>
            <a:r>
              <a:rPr lang="en-US" sz="2200" b="1" dirty="0">
                <a:solidFill>
                  <a:schemeClr val="accent3"/>
                </a:solidFill>
                <a:latin typeface="+mj-lt" pitchFamily="34" charset="0"/>
                <a:ea typeface="+mj-lt" pitchFamily="34" charset="-122"/>
                <a:cs typeface="+mj-lt" pitchFamily="34" charset="-120"/>
              </a:rPr>
              <a:t>mogen</a:t>
            </a:r>
            <a:endParaRPr lang="en-US" sz="2200" dirty="0"/>
          </a:p>
        </p:txBody>
      </p:sp>
      <p:sp>
        <p:nvSpPr>
          <p:cNvPr id="15" name="Text 10"/>
          <p:cNvSpPr txBox="1"/>
          <p:nvPr/>
        </p:nvSpPr>
        <p:spPr>
          <a:xfrm>
            <a:off x="8119872" y="1755648"/>
            <a:ext cx="3383280" cy="731520"/>
          </a:xfrm>
          <a:prstGeom prst="rect">
            <a:avLst/>
          </a:prstGeom>
          <a:noFill/>
          <a:ln/>
        </p:spPr>
        <p:txBody>
          <a:bodyPr wrap="square" lIns="0" tIns="0" rIns="0" bIns="0" rtlCol="0" anchor="ctr"/>
          <a:lstStyle/>
          <a:p>
            <a:pPr algn="l" indent="0" marL="0">
              <a:buNone/>
            </a:pPr>
            <a:r>
              <a:rPr lang="en-US" sz="1800" b="1" dirty="0">
                <a:solidFill>
                  <a:schemeClr val="accent3"/>
                </a:solidFill>
              </a:rPr>
              <a:t>avoir le droit, la permission</a:t>
            </a:r>
            <a:endParaRPr lang="en-US" sz="1800" dirty="0"/>
          </a:p>
        </p:txBody>
      </p:sp>
      <p:sp>
        <p:nvSpPr>
          <p:cNvPr id="16" name="Text 11"/>
          <p:cNvSpPr txBox="1"/>
          <p:nvPr/>
        </p:nvSpPr>
        <p:spPr>
          <a:xfrm>
            <a:off x="8119872" y="2532888"/>
            <a:ext cx="3383280" cy="1097280"/>
          </a:xfrm>
          <a:prstGeom prst="rect">
            <a:avLst/>
          </a:prstGeom>
          <a:noFill/>
          <a:ln/>
        </p:spPr>
        <p:txBody>
          <a:bodyPr wrap="square" lIns="0" tIns="0" rIns="0" bIns="0" rtlCol="0" anchor="ctr"/>
          <a:lstStyle/>
          <a:p>
            <a:pPr algn="l" indent="0" marL="0">
              <a:buNone/>
            </a:pPr>
            <a:r>
              <a:rPr lang="en-US" sz="2000" i="1" dirty="0">
                <a:solidFill>
                  <a:schemeClr val="tx1"/>
                </a:solidFill>
              </a:rPr>
              <a:t>U </a:t>
            </a:r>
            <a:r>
              <a:rPr lang="en-US" sz="2000" b="1" i="1" dirty="0">
                <a:solidFill>
                  <a:schemeClr val="tx1"/>
                </a:solidFill>
              </a:rPr>
              <a:t>mag</a:t>
            </a:r>
            <a:r>
              <a:rPr lang="en-US" sz="2000" i="1" dirty="0">
                <a:solidFill>
                  <a:schemeClr val="tx1"/>
                </a:solidFill>
              </a:rPr>
              <a:t> hier niet </a:t>
            </a:r>
            <a:r>
              <a:rPr lang="en-US" sz="2000" b="1" i="1" dirty="0">
                <a:solidFill>
                  <a:schemeClr val="accent6"/>
                </a:solidFill>
              </a:rPr>
              <a:t>parkeren</a:t>
            </a:r>
            <a:r>
              <a:rPr lang="en-US" sz="2000" i="1" dirty="0">
                <a:solidFill>
                  <a:schemeClr val="tx1"/>
                </a:solidFill>
              </a:rPr>
              <a:t>.</a:t>
            </a:r>
            <a:endParaRPr lang="en-US" sz="2000" dirty="0"/>
          </a:p>
        </p:txBody>
      </p:sp>
      <p:sp>
        <p:nvSpPr>
          <p:cNvPr id="17" name="Shape 12"/>
          <p:cNvSpPr/>
          <p:nvPr/>
        </p:nvSpPr>
        <p:spPr>
          <a:xfrm>
            <a:off x="548640" y="3950208"/>
            <a:ext cx="5440680" cy="2194560"/>
          </a:xfrm>
          <a:prstGeom prst="roundRect">
            <a:avLst>
              <a:gd name="adj" fmla="val 3333"/>
            </a:avLst>
          </a:prstGeom>
          <a:solidFill>
            <a:schemeClr val="bg1"/>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18" name="Shape 13"/>
          <p:cNvSpPr/>
          <p:nvPr/>
        </p:nvSpPr>
        <p:spPr>
          <a:xfrm>
            <a:off x="548640" y="3950208"/>
            <a:ext cx="1737360" cy="2194560"/>
          </a:xfrm>
          <a:prstGeom prst="roundRect">
            <a:avLst>
              <a:gd name="adj" fmla="val 4211"/>
            </a:avLst>
          </a:prstGeom>
          <a:solidFill>
            <a:schemeClr val="accent4">
              <a:alpha val="15000"/>
            </a:schemeClr>
          </a:solidFill>
          <a:ln w="12700">
            <a:solidFill>
              <a:srgbClr val="FFFFFF">
                <a:alpha val="0"/>
              </a:srgbClr>
            </a:solidFill>
            <a:prstDash val="solid"/>
          </a:ln>
        </p:spPr>
      </p:sp>
      <p:pic>
        <p:nvPicPr>
          <p:cNvPr id="19" name="Image 2" descr="red heart">    </p:cNvPr>
          <p:cNvPicPr>
            <a:picLocks noChangeAspect="1"/>
          </p:cNvPicPr>
          <p:nvPr/>
        </p:nvPicPr>
        <p:blipFill>
          <a:blip r:embed="rId3"/>
          <a:stretch>
            <a:fillRect/>
          </a:stretch>
        </p:blipFill>
        <p:spPr>
          <a:xfrm>
            <a:off x="914400" y="4224528"/>
            <a:ext cx="1005840" cy="1005840"/>
          </a:xfrm>
          <a:prstGeom prst="rect">
            <a:avLst/>
          </a:prstGeom>
        </p:spPr>
      </p:pic>
      <p:sp>
        <p:nvSpPr>
          <p:cNvPr id="20" name="Text 14"/>
          <p:cNvSpPr txBox="1"/>
          <p:nvPr/>
        </p:nvSpPr>
        <p:spPr>
          <a:xfrm>
            <a:off x="548640" y="5321808"/>
            <a:ext cx="1737360" cy="548640"/>
          </a:xfrm>
          <a:prstGeom prst="rect">
            <a:avLst/>
          </a:prstGeom>
          <a:noFill/>
          <a:ln/>
        </p:spPr>
        <p:txBody>
          <a:bodyPr wrap="square" lIns="0" tIns="0" rIns="0" bIns="0" rtlCol="0" anchor="ctr"/>
          <a:lstStyle/>
          <a:p>
            <a:pPr algn="ctr" indent="0" marL="0">
              <a:buNone/>
            </a:pPr>
            <a:r>
              <a:rPr lang="en-US" sz="2200" b="1" dirty="0">
                <a:solidFill>
                  <a:schemeClr val="accent4"/>
                </a:solidFill>
                <a:latin typeface="+mj-lt" pitchFamily="34" charset="0"/>
                <a:ea typeface="+mj-lt" pitchFamily="34" charset="-122"/>
                <a:cs typeface="+mj-lt" pitchFamily="34" charset="-120"/>
              </a:rPr>
              <a:t>willen</a:t>
            </a:r>
            <a:endParaRPr lang="en-US" sz="2200" dirty="0"/>
          </a:p>
        </p:txBody>
      </p:sp>
      <p:sp>
        <p:nvSpPr>
          <p:cNvPr id="21" name="Text 15"/>
          <p:cNvSpPr txBox="1"/>
          <p:nvPr/>
        </p:nvSpPr>
        <p:spPr>
          <a:xfrm>
            <a:off x="2468880" y="4133088"/>
            <a:ext cx="3383280" cy="731520"/>
          </a:xfrm>
          <a:prstGeom prst="rect">
            <a:avLst/>
          </a:prstGeom>
          <a:noFill/>
          <a:ln/>
        </p:spPr>
        <p:txBody>
          <a:bodyPr wrap="square" lIns="0" tIns="0" rIns="0" bIns="0" rtlCol="0" anchor="ctr"/>
          <a:lstStyle/>
          <a:p>
            <a:pPr algn="l" indent="0" marL="0">
              <a:buNone/>
            </a:pPr>
            <a:r>
              <a:rPr lang="en-US" sz="1800" b="1" dirty="0">
                <a:solidFill>
                  <a:schemeClr val="accent4"/>
                </a:solidFill>
              </a:rPr>
              <a:t>vouloir</a:t>
            </a:r>
            <a:endParaRPr lang="en-US" sz="1800" dirty="0"/>
          </a:p>
        </p:txBody>
      </p:sp>
      <p:sp>
        <p:nvSpPr>
          <p:cNvPr id="22" name="Text 16"/>
          <p:cNvSpPr txBox="1"/>
          <p:nvPr/>
        </p:nvSpPr>
        <p:spPr>
          <a:xfrm>
            <a:off x="2468880" y="4910328"/>
            <a:ext cx="3383280" cy="1097280"/>
          </a:xfrm>
          <a:prstGeom prst="rect">
            <a:avLst/>
          </a:prstGeom>
          <a:noFill/>
          <a:ln/>
        </p:spPr>
        <p:txBody>
          <a:bodyPr wrap="square" lIns="0" tIns="0" rIns="0" bIns="0" rtlCol="0" anchor="ctr"/>
          <a:lstStyle/>
          <a:p>
            <a:pPr algn="l" indent="0" marL="0">
              <a:buNone/>
            </a:pPr>
            <a:r>
              <a:rPr lang="en-US" sz="2000" i="1" dirty="0">
                <a:solidFill>
                  <a:schemeClr val="tx1"/>
                </a:solidFill>
              </a:rPr>
              <a:t>Dit kindje </a:t>
            </a:r>
            <a:r>
              <a:rPr lang="en-US" sz="2000" b="1" i="1" dirty="0">
                <a:solidFill>
                  <a:schemeClr val="tx1"/>
                </a:solidFill>
              </a:rPr>
              <a:t>wil</a:t>
            </a:r>
            <a:r>
              <a:rPr lang="en-US" sz="2000" i="1" dirty="0">
                <a:solidFill>
                  <a:schemeClr val="tx1"/>
                </a:solidFill>
              </a:rPr>
              <a:t> een ijsje </a:t>
            </a:r>
            <a:r>
              <a:rPr lang="en-US" sz="2000" b="1" i="1" dirty="0">
                <a:solidFill>
                  <a:schemeClr val="accent6"/>
                </a:solidFill>
              </a:rPr>
              <a:t>eten</a:t>
            </a:r>
            <a:r>
              <a:rPr lang="en-US" sz="2000" i="1" dirty="0">
                <a:solidFill>
                  <a:schemeClr val="tx1"/>
                </a:solidFill>
              </a:rPr>
              <a:t>.</a:t>
            </a:r>
            <a:endParaRPr lang="en-US" sz="2000" dirty="0"/>
          </a:p>
        </p:txBody>
      </p:sp>
      <p:sp>
        <p:nvSpPr>
          <p:cNvPr id="23" name="Shape 17"/>
          <p:cNvSpPr/>
          <p:nvPr/>
        </p:nvSpPr>
        <p:spPr>
          <a:xfrm>
            <a:off x="6199632" y="3950208"/>
            <a:ext cx="5440680" cy="2194560"/>
          </a:xfrm>
          <a:prstGeom prst="roundRect">
            <a:avLst>
              <a:gd name="adj" fmla="val 3333"/>
            </a:avLst>
          </a:prstGeom>
          <a:solidFill>
            <a:schemeClr val="bg1"/>
          </a:solidFill>
          <a:ln w="31750">
            <a:solidFill>
              <a:srgbClr val="B83227"/>
            </a:solidFill>
            <a:prstDash val="solid"/>
          </a:ln>
          <a:effectLst>
            <a:outerShdw sx="100000" sy="100000" kx="0" ky="0" algn="bl" rotWithShape="0" blurRad="101600" dist="25400" dir="3600000">
              <a:srgbClr val="000000">
                <a:alpha val="16000"/>
              </a:srgbClr>
            </a:outerShdw>
          </a:effectLst>
        </p:spPr>
      </p:sp>
      <p:sp>
        <p:nvSpPr>
          <p:cNvPr id="24" name="Shape 18"/>
          <p:cNvSpPr/>
          <p:nvPr/>
        </p:nvSpPr>
        <p:spPr>
          <a:xfrm>
            <a:off x="6199632" y="3950208"/>
            <a:ext cx="1737360" cy="2194560"/>
          </a:xfrm>
          <a:prstGeom prst="roundRect">
            <a:avLst>
              <a:gd name="adj" fmla="val 4211"/>
            </a:avLst>
          </a:prstGeom>
          <a:solidFill>
            <a:schemeClr val="accent6">
              <a:alpha val="15000"/>
            </a:schemeClr>
          </a:solidFill>
          <a:ln w="12700">
            <a:solidFill>
              <a:srgbClr val="FFFFFF">
                <a:alpha val="0"/>
              </a:srgbClr>
            </a:solidFill>
            <a:prstDash val="solid"/>
          </a:ln>
        </p:spPr>
      </p:sp>
      <p:pic>
        <p:nvPicPr>
          <p:cNvPr id="25" name="Image 3" descr="stop sign">    </p:cNvPr>
          <p:cNvPicPr>
            <a:picLocks noChangeAspect="1"/>
          </p:cNvPicPr>
          <p:nvPr/>
        </p:nvPicPr>
        <p:blipFill>
          <a:blip r:embed="rId4"/>
          <a:stretch>
            <a:fillRect/>
          </a:stretch>
        </p:blipFill>
        <p:spPr>
          <a:xfrm>
            <a:off x="6565392" y="4224528"/>
            <a:ext cx="1005840" cy="1005840"/>
          </a:xfrm>
          <a:prstGeom prst="rect">
            <a:avLst/>
          </a:prstGeom>
        </p:spPr>
      </p:pic>
      <p:sp>
        <p:nvSpPr>
          <p:cNvPr id="26" name="Text 19"/>
          <p:cNvSpPr txBox="1"/>
          <p:nvPr/>
        </p:nvSpPr>
        <p:spPr>
          <a:xfrm>
            <a:off x="6199632" y="5321808"/>
            <a:ext cx="1737360" cy="548640"/>
          </a:xfrm>
          <a:prstGeom prst="rect">
            <a:avLst/>
          </a:prstGeom>
          <a:noFill/>
          <a:ln/>
        </p:spPr>
        <p:txBody>
          <a:bodyPr wrap="square" lIns="0" tIns="0" rIns="0" bIns="0" rtlCol="0" anchor="ctr"/>
          <a:lstStyle/>
          <a:p>
            <a:pPr algn="ctr" indent="0" marL="0">
              <a:buNone/>
            </a:pPr>
            <a:r>
              <a:rPr lang="en-US" sz="2200" b="1" dirty="0">
                <a:solidFill>
                  <a:schemeClr val="accent6"/>
                </a:solidFill>
                <a:latin typeface="+mj-lt" pitchFamily="34" charset="0"/>
                <a:ea typeface="+mj-lt" pitchFamily="34" charset="-122"/>
                <a:cs typeface="+mj-lt" pitchFamily="34" charset="-120"/>
              </a:rPr>
              <a:t>moeten</a:t>
            </a:r>
            <a:endParaRPr lang="en-US" sz="2200" dirty="0"/>
          </a:p>
        </p:txBody>
      </p:sp>
      <p:sp>
        <p:nvSpPr>
          <p:cNvPr id="27" name="Text 20"/>
          <p:cNvSpPr txBox="1"/>
          <p:nvPr/>
        </p:nvSpPr>
        <p:spPr>
          <a:xfrm>
            <a:off x="8119872" y="4133088"/>
            <a:ext cx="3383280" cy="731520"/>
          </a:xfrm>
          <a:prstGeom prst="rect">
            <a:avLst/>
          </a:prstGeom>
          <a:noFill/>
          <a:ln/>
        </p:spPr>
        <p:txBody>
          <a:bodyPr wrap="square" lIns="0" tIns="0" rIns="0" bIns="0" rtlCol="0" anchor="ctr"/>
          <a:lstStyle/>
          <a:p>
            <a:pPr algn="l" indent="0" marL="0">
              <a:buNone/>
            </a:pPr>
            <a:r>
              <a:rPr lang="en-US" sz="1800" b="1" dirty="0">
                <a:solidFill>
                  <a:schemeClr val="accent6"/>
                </a:solidFill>
              </a:rPr>
              <a:t>devoir, être obligé</a:t>
            </a:r>
            <a:endParaRPr lang="en-US" sz="1800" dirty="0"/>
          </a:p>
        </p:txBody>
      </p:sp>
      <p:sp>
        <p:nvSpPr>
          <p:cNvPr id="28" name="Text 21"/>
          <p:cNvSpPr txBox="1"/>
          <p:nvPr/>
        </p:nvSpPr>
        <p:spPr>
          <a:xfrm>
            <a:off x="8119872" y="4910328"/>
            <a:ext cx="3383280" cy="1097280"/>
          </a:xfrm>
          <a:prstGeom prst="rect">
            <a:avLst/>
          </a:prstGeom>
          <a:noFill/>
          <a:ln/>
        </p:spPr>
        <p:txBody>
          <a:bodyPr wrap="square" lIns="0" tIns="0" rIns="0" bIns="0" rtlCol="0" anchor="ctr"/>
          <a:lstStyle/>
          <a:p>
            <a:pPr algn="l" indent="0" marL="0">
              <a:buNone/>
            </a:pPr>
            <a:r>
              <a:rPr lang="en-US" sz="2000" i="1" dirty="0">
                <a:solidFill>
                  <a:schemeClr val="tx1"/>
                </a:solidFill>
              </a:rPr>
              <a:t>Hier </a:t>
            </a:r>
            <a:r>
              <a:rPr lang="en-US" sz="2000" b="1" i="1" dirty="0">
                <a:solidFill>
                  <a:schemeClr val="tx1"/>
                </a:solidFill>
              </a:rPr>
              <a:t>moet</a:t>
            </a:r>
            <a:r>
              <a:rPr lang="en-US" sz="2000" i="1" dirty="0">
                <a:solidFill>
                  <a:schemeClr val="tx1"/>
                </a:solidFill>
              </a:rPr>
              <a:t> iedereen </a:t>
            </a:r>
            <a:r>
              <a:rPr lang="en-US" sz="2000" b="1" i="1" dirty="0">
                <a:solidFill>
                  <a:schemeClr val="accent6"/>
                </a:solidFill>
              </a:rPr>
              <a:t>stoppen</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pouvoir » = kunnen ou mogen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709160"/>
          </a:xfrm>
          <a:prstGeom prst="roundRect">
            <a:avLst>
              <a:gd name="adj" fmla="val 1553"/>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548640" y="2011680"/>
            <a:ext cx="11091672" cy="54864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 pouvoir »</a:t>
            </a:r>
            <a:endParaRPr lang="en-US" sz="2600" dirty="0"/>
          </a:p>
        </p:txBody>
      </p:sp>
      <p:sp>
        <p:nvSpPr>
          <p:cNvPr id="8" name="Shape 5"/>
          <p:cNvSpPr/>
          <p:nvPr/>
        </p:nvSpPr>
        <p:spPr>
          <a:xfrm flipH="1">
            <a:off x="3291840" y="2606040"/>
            <a:ext cx="2798064" cy="457200"/>
          </a:xfrm>
          <a:prstGeom prst="line">
            <a:avLst/>
          </a:prstGeom>
          <a:noFill/>
          <a:ln w="31750">
            <a:solidFill>
              <a:srgbClr val="4A5A70"/>
            </a:solidFill>
            <a:prstDash val="solid"/>
            <a:tailEnd type="triangle"/>
          </a:ln>
        </p:spPr>
      </p:sp>
      <p:sp>
        <p:nvSpPr>
          <p:cNvPr id="9" name="Shape 6"/>
          <p:cNvSpPr/>
          <p:nvPr/>
        </p:nvSpPr>
        <p:spPr>
          <a:xfrm>
            <a:off x="6089904" y="2606040"/>
            <a:ext cx="2779776" cy="457200"/>
          </a:xfrm>
          <a:prstGeom prst="line">
            <a:avLst/>
          </a:prstGeom>
          <a:noFill/>
          <a:ln w="31750">
            <a:solidFill>
              <a:srgbClr val="4A5A70"/>
            </a:solidFill>
            <a:prstDash val="solid"/>
            <a:tailEnd type="triangle"/>
          </a:ln>
        </p:spPr>
      </p:sp>
      <p:sp>
        <p:nvSpPr>
          <p:cNvPr id="10" name="Shape 7"/>
          <p:cNvSpPr/>
          <p:nvPr/>
        </p:nvSpPr>
        <p:spPr>
          <a:xfrm>
            <a:off x="822960" y="3108960"/>
            <a:ext cx="5120640" cy="2011680"/>
          </a:xfrm>
          <a:prstGeom prst="roundRect">
            <a:avLst>
              <a:gd name="adj" fmla="val 3636"/>
            </a:avLst>
          </a:prstGeom>
          <a:solidFill>
            <a:schemeClr val="bg1"/>
          </a:solidFill>
          <a:ln w="31750">
            <a:solidFill>
              <a:srgbClr val="2A6FB0"/>
            </a:solidFill>
            <a:prstDash val="solid"/>
          </a:ln>
        </p:spPr>
      </p:sp>
      <p:pic>
        <p:nvPicPr>
          <p:cNvPr id="11" name="Image 0" descr="flexed biceps">    </p:cNvPr>
          <p:cNvPicPr>
            <a:picLocks noChangeAspect="1"/>
          </p:cNvPicPr>
          <p:nvPr/>
        </p:nvPicPr>
        <p:blipFill>
          <a:blip r:embed="rId1"/>
          <a:stretch>
            <a:fillRect/>
          </a:stretch>
        </p:blipFill>
        <p:spPr>
          <a:xfrm>
            <a:off x="1005840" y="3246120"/>
            <a:ext cx="731520" cy="731520"/>
          </a:xfrm>
          <a:prstGeom prst="rect">
            <a:avLst/>
          </a:prstGeom>
        </p:spPr>
      </p:pic>
      <p:sp>
        <p:nvSpPr>
          <p:cNvPr id="12" name="Text 8"/>
          <p:cNvSpPr txBox="1"/>
          <p:nvPr/>
        </p:nvSpPr>
        <p:spPr>
          <a:xfrm>
            <a:off x="1874520" y="3200400"/>
            <a:ext cx="3931920" cy="640080"/>
          </a:xfrm>
          <a:prstGeom prst="rect">
            <a:avLst/>
          </a:prstGeom>
          <a:noFill/>
          <a:ln/>
        </p:spPr>
        <p:txBody>
          <a:bodyPr wrap="square" lIns="0" tIns="0" rIns="0" bIns="0" rtlCol="0" anchor="ctr"/>
          <a:lstStyle/>
          <a:p>
            <a:pPr algn="l" indent="0" marL="0">
              <a:buNone/>
            </a:pPr>
            <a:r>
              <a:rPr lang="en-US" sz="1900" dirty="0">
                <a:solidFill>
                  <a:schemeClr val="tx1"/>
                </a:solidFill>
              </a:rPr>
              <a:t>« Je </a:t>
            </a:r>
            <a:r>
              <a:rPr lang="en-US" sz="1900" b="1" dirty="0">
                <a:solidFill>
                  <a:schemeClr val="tx1"/>
                </a:solidFill>
              </a:rPr>
              <a:t>peux</a:t>
            </a:r>
            <a:r>
              <a:rPr lang="en-US" sz="1900" dirty="0">
                <a:solidFill>
                  <a:schemeClr val="tx1"/>
                </a:solidFill>
              </a:rPr>
              <a:t> venir demain. »</a:t>
            </a:r>
            <a:endParaRPr lang="en-US" sz="1900" dirty="0"/>
          </a:p>
        </p:txBody>
      </p:sp>
      <p:sp>
        <p:nvSpPr>
          <p:cNvPr id="13" name="Text 9"/>
          <p:cNvSpPr txBox="1"/>
          <p:nvPr/>
        </p:nvSpPr>
        <p:spPr>
          <a:xfrm>
            <a:off x="1874520" y="3840480"/>
            <a:ext cx="3931920" cy="640080"/>
          </a:xfrm>
          <a:prstGeom prst="rect">
            <a:avLst/>
          </a:prstGeom>
          <a:noFill/>
          <a:ln/>
        </p:spPr>
        <p:txBody>
          <a:bodyPr wrap="square" lIns="0" tIns="0" rIns="0" bIns="0" rtlCol="0" anchor="ctr"/>
          <a:lstStyle/>
          <a:p>
            <a:pPr algn="l" indent="0" marL="0">
              <a:buNone/>
            </a:pPr>
            <a:r>
              <a:rPr lang="en-US" sz="2300" i="1" dirty="0">
                <a:solidFill>
                  <a:schemeClr val="accent2"/>
                </a:solidFill>
              </a:rPr>
              <a:t>Ik </a:t>
            </a:r>
            <a:r>
              <a:rPr lang="en-US" sz="2300" b="1" i="1" dirty="0">
                <a:solidFill>
                  <a:schemeClr val="accent2"/>
                </a:solidFill>
              </a:rPr>
              <a:t>kan</a:t>
            </a:r>
            <a:r>
              <a:rPr lang="en-US" sz="2300" i="1" dirty="0">
                <a:solidFill>
                  <a:schemeClr val="accent2"/>
                </a:solidFill>
              </a:rPr>
              <a:t> morgen komen.</a:t>
            </a:r>
            <a:endParaRPr lang="en-US" sz="2300" dirty="0"/>
          </a:p>
        </p:txBody>
      </p:sp>
      <p:sp>
        <p:nvSpPr>
          <p:cNvPr id="14" name="Text 10"/>
          <p:cNvSpPr txBox="1"/>
          <p:nvPr/>
        </p:nvSpPr>
        <p:spPr>
          <a:xfrm>
            <a:off x="1874520" y="4480560"/>
            <a:ext cx="3931920" cy="457200"/>
          </a:xfrm>
          <a:prstGeom prst="rect">
            <a:avLst/>
          </a:prstGeom>
          <a:noFill/>
          <a:ln/>
        </p:spPr>
        <p:txBody>
          <a:bodyPr wrap="square" lIns="0" tIns="0" rIns="0" bIns="0" rtlCol="0" anchor="ctr"/>
          <a:lstStyle/>
          <a:p>
            <a:pPr algn="l" indent="0" marL="0">
              <a:buNone/>
            </a:pPr>
            <a:r>
              <a:rPr lang="en-US" sz="1500" i="1" dirty="0">
                <a:solidFill>
                  <a:schemeClr val="accent5"/>
                </a:solidFill>
              </a:rPr>
              <a:t>c’est </a:t>
            </a:r>
            <a:r>
              <a:rPr lang="en-US" sz="1500" b="1" i="1" dirty="0">
                <a:solidFill>
                  <a:schemeClr val="accent5"/>
                </a:solidFill>
              </a:rPr>
              <a:t>possible</a:t>
            </a:r>
            <a:endParaRPr lang="en-US" sz="1500" dirty="0"/>
          </a:p>
        </p:txBody>
      </p:sp>
      <p:sp>
        <p:nvSpPr>
          <p:cNvPr id="15" name="Shape 11"/>
          <p:cNvSpPr/>
          <p:nvPr/>
        </p:nvSpPr>
        <p:spPr>
          <a:xfrm>
            <a:off x="6263640" y="3108960"/>
            <a:ext cx="5120640" cy="2011680"/>
          </a:xfrm>
          <a:prstGeom prst="roundRect">
            <a:avLst>
              <a:gd name="adj" fmla="val 3636"/>
            </a:avLst>
          </a:prstGeom>
          <a:solidFill>
            <a:schemeClr val="bg1"/>
          </a:solidFill>
          <a:ln w="31750">
            <a:solidFill>
              <a:srgbClr val="2E7D4F"/>
            </a:solidFill>
            <a:prstDash val="solid"/>
          </a:ln>
        </p:spPr>
      </p:sp>
      <p:pic>
        <p:nvPicPr>
          <p:cNvPr id="16" name="Image 1" descr="check mark button">    </p:cNvPr>
          <p:cNvPicPr>
            <a:picLocks noChangeAspect="1"/>
          </p:cNvPicPr>
          <p:nvPr/>
        </p:nvPicPr>
        <p:blipFill>
          <a:blip r:embed="rId2"/>
          <a:stretch>
            <a:fillRect/>
          </a:stretch>
        </p:blipFill>
        <p:spPr>
          <a:xfrm>
            <a:off x="6446520" y="3246120"/>
            <a:ext cx="731520" cy="731520"/>
          </a:xfrm>
          <a:prstGeom prst="rect">
            <a:avLst/>
          </a:prstGeom>
        </p:spPr>
      </p:pic>
      <p:sp>
        <p:nvSpPr>
          <p:cNvPr id="17" name="Text 12"/>
          <p:cNvSpPr txBox="1"/>
          <p:nvPr/>
        </p:nvSpPr>
        <p:spPr>
          <a:xfrm>
            <a:off x="7315200" y="3200400"/>
            <a:ext cx="3931920" cy="640080"/>
          </a:xfrm>
          <a:prstGeom prst="rect">
            <a:avLst/>
          </a:prstGeom>
          <a:noFill/>
          <a:ln/>
        </p:spPr>
        <p:txBody>
          <a:bodyPr wrap="square" lIns="0" tIns="0" rIns="0" bIns="0" rtlCol="0" anchor="ctr"/>
          <a:lstStyle/>
          <a:p>
            <a:pPr algn="l" indent="0" marL="0">
              <a:buNone/>
            </a:pPr>
            <a:r>
              <a:rPr lang="en-US" sz="1900" dirty="0">
                <a:solidFill>
                  <a:schemeClr val="tx1"/>
                </a:solidFill>
              </a:rPr>
              <a:t>« </a:t>
            </a:r>
            <a:r>
              <a:rPr lang="en-US" sz="1900" b="1" dirty="0">
                <a:solidFill>
                  <a:schemeClr val="tx1"/>
                </a:solidFill>
              </a:rPr>
              <a:t>Puis</a:t>
            </a:r>
            <a:r>
              <a:rPr lang="en-US" sz="1900" dirty="0">
                <a:solidFill>
                  <a:schemeClr val="tx1"/>
                </a:solidFill>
              </a:rPr>
              <a:t>-je entrer ? »</a:t>
            </a:r>
            <a:endParaRPr lang="en-US" sz="1900" dirty="0"/>
          </a:p>
        </p:txBody>
      </p:sp>
      <p:sp>
        <p:nvSpPr>
          <p:cNvPr id="18" name="Text 13"/>
          <p:cNvSpPr txBox="1"/>
          <p:nvPr/>
        </p:nvSpPr>
        <p:spPr>
          <a:xfrm>
            <a:off x="7315200" y="3840480"/>
            <a:ext cx="3931920" cy="640080"/>
          </a:xfrm>
          <a:prstGeom prst="rect">
            <a:avLst/>
          </a:prstGeom>
          <a:noFill/>
          <a:ln/>
        </p:spPr>
        <p:txBody>
          <a:bodyPr wrap="square" lIns="0" tIns="0" rIns="0" bIns="0" rtlCol="0" anchor="ctr"/>
          <a:lstStyle/>
          <a:p>
            <a:pPr algn="l" indent="0" marL="0">
              <a:buNone/>
            </a:pPr>
            <a:r>
              <a:rPr lang="en-US" sz="2300" b="1" i="1" dirty="0">
                <a:solidFill>
                  <a:schemeClr val="accent3"/>
                </a:solidFill>
              </a:rPr>
              <a:t>Mag</a:t>
            </a:r>
            <a:r>
              <a:rPr lang="en-US" sz="2300" i="1" dirty="0">
                <a:solidFill>
                  <a:schemeClr val="accent3"/>
                </a:solidFill>
              </a:rPr>
              <a:t> ik binnenkomen?</a:t>
            </a:r>
            <a:endParaRPr lang="en-US" sz="2300" dirty="0"/>
          </a:p>
        </p:txBody>
      </p:sp>
      <p:sp>
        <p:nvSpPr>
          <p:cNvPr id="19" name="Text 14"/>
          <p:cNvSpPr txBox="1"/>
          <p:nvPr/>
        </p:nvSpPr>
        <p:spPr>
          <a:xfrm>
            <a:off x="7315200" y="4480560"/>
            <a:ext cx="3931920" cy="457200"/>
          </a:xfrm>
          <a:prstGeom prst="rect">
            <a:avLst/>
          </a:prstGeom>
          <a:noFill/>
          <a:ln/>
        </p:spPr>
        <p:txBody>
          <a:bodyPr wrap="square" lIns="0" tIns="0" rIns="0" bIns="0" rtlCol="0" anchor="ctr"/>
          <a:lstStyle/>
          <a:p>
            <a:pPr algn="l" indent="0" marL="0">
              <a:buNone/>
            </a:pPr>
            <a:r>
              <a:rPr lang="en-US" sz="1500" i="1" dirty="0">
                <a:solidFill>
                  <a:schemeClr val="accent5"/>
                </a:solidFill>
              </a:rPr>
              <a:t>ai-je </a:t>
            </a:r>
            <a:r>
              <a:rPr lang="en-US" sz="1500" b="1" i="1" dirty="0">
                <a:solidFill>
                  <a:schemeClr val="accent5"/>
                </a:solidFill>
              </a:rPr>
              <a:t>le droit</a:t>
            </a:r>
            <a:r>
              <a:rPr lang="en-US" sz="1500" i="1" dirty="0">
                <a:solidFill>
                  <a:schemeClr val="accent5"/>
                </a:solidFill>
              </a:rPr>
              <a:t> ?</a:t>
            </a:r>
            <a:endParaRPr lang="en-US" sz="1500" dirty="0"/>
          </a:p>
        </p:txBody>
      </p:sp>
      <p:sp>
        <p:nvSpPr>
          <p:cNvPr id="20" name="Text 15"/>
          <p:cNvSpPr txBox="1"/>
          <p:nvPr/>
        </p:nvSpPr>
        <p:spPr>
          <a:xfrm>
            <a:off x="822960" y="5303520"/>
            <a:ext cx="10607040" cy="822960"/>
          </a:xfrm>
          <a:prstGeom prst="rect">
            <a:avLst/>
          </a:prstGeom>
          <a:noFill/>
          <a:ln/>
        </p:spPr>
        <p:txBody>
          <a:bodyPr wrap="square" lIns="0" tIns="0" rIns="0" bIns="0" rtlCol="0" anchor="ctr"/>
          <a:lstStyle/>
          <a:p>
            <a:pPr algn="ctr" indent="0" marL="0">
              <a:buNone/>
            </a:pPr>
            <a:r>
              <a:rPr lang="en-US" sz="1700" dirty="0">
                <a:solidFill>
                  <a:schemeClr val="tx1"/>
                </a:solidFill>
              </a:rPr>
              <a:t>Test : remplacez « pouvoir » par « avoir le droit ». Si ça marche → </a:t>
            </a:r>
            <a:r>
              <a:rPr lang="en-US" sz="1700" b="1" dirty="0">
                <a:solidFill>
                  <a:schemeClr val="tx1"/>
                </a:solidFill>
              </a:rPr>
              <a:t>mogen</a:t>
            </a:r>
            <a:r>
              <a:rPr lang="en-US" sz="1700" dirty="0">
                <a:solidFill>
                  <a:schemeClr val="tx1"/>
                </a:solidFill>
              </a:rPr>
              <a:t>. · </a:t>
            </a:r>
            <a:r>
              <a:rPr lang="en-US" sz="1700" i="1" dirty="0">
                <a:solidFill>
                  <a:schemeClr val="tx1"/>
                </a:solidFill>
              </a:rPr>
              <a:t>Kan ik binnenkomen?</a:t>
            </a:r>
            <a:r>
              <a:rPr lang="en-US" sz="1700" dirty="0">
                <a:solidFill>
                  <a:schemeClr val="tx1"/>
                </a:solidFill>
              </a:rPr>
              <a:t> s’entend aussi en Flandre, mais pour une </a:t>
            </a:r>
            <a:r>
              <a:rPr lang="en-US" sz="1700" b="1" dirty="0">
                <a:solidFill>
                  <a:schemeClr val="tx1"/>
                </a:solidFill>
              </a:rPr>
              <a:t>permission</a:t>
            </a:r>
            <a:r>
              <a:rPr lang="en-US" sz="1700" dirty="0">
                <a:solidFill>
                  <a:schemeClr val="tx1"/>
                </a:solidFill>
              </a:rPr>
              <a:t>, </a:t>
            </a:r>
            <a:r>
              <a:rPr lang="en-US" sz="1700" i="1" dirty="0">
                <a:solidFill>
                  <a:schemeClr val="tx1"/>
                </a:solidFill>
              </a:rPr>
              <a:t>Mag ik…?</a:t>
            </a:r>
            <a:r>
              <a:rPr lang="en-US" sz="1700" dirty="0">
                <a:solidFill>
                  <a:schemeClr val="tx1"/>
                </a:solidFill>
              </a:rPr>
              <a:t> est la forme sûre.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savoir » + verbe = kunnen</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2194560"/>
          </a:xfrm>
          <a:prstGeom prst="roundRect">
            <a:avLst>
              <a:gd name="adj" fmla="val 3333"/>
            </a:avLst>
          </a:prstGeom>
          <a:solidFill>
            <a:schemeClr val="accent6">
              <a:alpha val="7000"/>
            </a:schemeClr>
          </a:solidFill>
          <a:ln w="12700">
            <a:solidFill>
              <a:srgbClr val="B83227">
                <a:alpha val="60000"/>
              </a:srgbClr>
            </a:solidFill>
            <a:prstDash val="solid"/>
          </a:ln>
        </p:spPr>
      </p:sp>
      <p:sp>
        <p:nvSpPr>
          <p:cNvPr id="6" name="tag"/>
          <p:cNvSpPr/>
          <p:nvPr/>
        </p:nvSpPr>
        <p:spPr>
          <a:xfrm>
            <a:off x="731520" y="171907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10543032" cy="708660"/>
          </a:xfrm>
          <a:prstGeom prst="rect">
            <a:avLst/>
          </a:prstGeom>
          <a:noFill/>
          <a:ln/>
        </p:spPr>
        <p:txBody>
          <a:bodyPr wrap="square" lIns="0" tIns="0" rIns="0" bIns="0" rtlCol="0" anchor="ctr"/>
          <a:lstStyle/>
          <a:p>
            <a:pPr algn="l" indent="0" marL="0">
              <a:buNone/>
            </a:pPr>
            <a:r>
              <a:rPr lang="en-US" sz="2200" dirty="0">
                <a:solidFill>
                  <a:schemeClr val="tx1"/>
                </a:solidFill>
              </a:rPr>
              <a:t>« Je </a:t>
            </a:r>
            <a:r>
              <a:rPr lang="en-US" sz="2200" b="1" dirty="0">
                <a:solidFill>
                  <a:schemeClr val="tx1"/>
                </a:solidFill>
              </a:rPr>
              <a:t>sais</a:t>
            </a:r>
            <a:r>
              <a:rPr lang="en-US" sz="2200" dirty="0">
                <a:solidFill>
                  <a:schemeClr val="tx1"/>
                </a:solidFill>
              </a:rPr>
              <a:t> nager. » → </a:t>
            </a:r>
            <a:r>
              <a:rPr lang="en-US" sz="2200" i="1" strike="sngStrike" dirty="0">
                <a:solidFill>
                  <a:schemeClr val="accent6"/>
                </a:solidFill>
              </a:rPr>
              <a:t>Ik weet zwemmen.</a:t>
            </a:r>
            <a:endParaRPr lang="en-US" sz="2200" dirty="0"/>
          </a:p>
        </p:txBody>
      </p:sp>
      <p:pic>
        <p:nvPicPr>
          <p:cNvPr id="8" name="Image 0" descr="ArrowDown">    </p:cNvPr>
          <p:cNvPicPr>
            <a:picLocks noChangeAspect="1"/>
          </p:cNvPicPr>
          <p:nvPr/>
        </p:nvPicPr>
        <p:blipFill>
          <a:blip r:embed="rId1"/>
          <a:stretch>
            <a:fillRect/>
          </a:stretch>
        </p:blipFill>
        <p:spPr>
          <a:xfrm>
            <a:off x="822960" y="2747772"/>
            <a:ext cx="237744" cy="237744"/>
          </a:xfrm>
          <a:prstGeom prst="rect">
            <a:avLst/>
          </a:prstGeom>
        </p:spPr>
      </p:pic>
      <p:sp>
        <p:nvSpPr>
          <p:cNvPr id="9" name="Shape 5"/>
          <p:cNvSpPr/>
          <p:nvPr/>
        </p:nvSpPr>
        <p:spPr>
          <a:xfrm>
            <a:off x="777240" y="2976372"/>
            <a:ext cx="10634472" cy="672084"/>
          </a:xfrm>
          <a:prstGeom prst="roundRect">
            <a:avLst>
              <a:gd name="adj" fmla="val 10884"/>
            </a:avLst>
          </a:prstGeom>
          <a:solidFill>
            <a:schemeClr val="accent3">
              <a:alpha val="12000"/>
            </a:schemeClr>
          </a:solidFill>
          <a:ln w="15875">
            <a:solidFill>
              <a:srgbClr val="2E7D4F"/>
            </a:solidFill>
            <a:prstDash val="solid"/>
          </a:ln>
        </p:spPr>
      </p:sp>
      <p:sp>
        <p:nvSpPr>
          <p:cNvPr id="10" name="Text 6"/>
          <p:cNvSpPr txBox="1"/>
          <p:nvPr/>
        </p:nvSpPr>
        <p:spPr>
          <a:xfrm>
            <a:off x="914400" y="2976372"/>
            <a:ext cx="10360152" cy="672084"/>
          </a:xfrm>
          <a:prstGeom prst="rect">
            <a:avLst/>
          </a:prstGeom>
          <a:noFill/>
          <a:ln/>
        </p:spPr>
        <p:txBody>
          <a:bodyPr wrap="square" lIns="0" tIns="0" rIns="0" bIns="0" rtlCol="0" anchor="ctr"/>
          <a:lstStyle/>
          <a:p>
            <a:pPr algn="l" indent="0" marL="0">
              <a:buNone/>
            </a:pPr>
            <a:r>
              <a:rPr lang="en-US" sz="2200" i="1" dirty="0">
                <a:solidFill>
                  <a:schemeClr val="tx1"/>
                </a:solidFill>
              </a:rPr>
              <a:t>Ik </a:t>
            </a:r>
            <a:r>
              <a:rPr lang="en-US" sz="2200" b="1" i="1" dirty="0">
                <a:solidFill>
                  <a:schemeClr val="tx1"/>
                </a:solidFill>
              </a:rPr>
              <a:t>kan</a:t>
            </a:r>
            <a:r>
              <a:rPr lang="en-US" sz="2200" i="1" dirty="0">
                <a:solidFill>
                  <a:schemeClr val="tx1"/>
                </a:solidFill>
              </a:rPr>
              <a:t> zwemmen.</a:t>
            </a:r>
            <a:r>
              <a:rPr lang="en-US" sz="2200" dirty="0">
                <a:solidFill>
                  <a:schemeClr val="tx1"/>
                </a:solidFill>
              </a:rPr>
              <a:t>  — savoir </a:t>
            </a:r>
            <a:r>
              <a:rPr lang="en-US" sz="2200" b="1" dirty="0">
                <a:solidFill>
                  <a:schemeClr val="tx1"/>
                </a:solidFill>
              </a:rPr>
              <a:t>faire</a:t>
            </a:r>
            <a:r>
              <a:rPr lang="en-US" sz="2200" dirty="0">
                <a:solidFill>
                  <a:schemeClr val="tx1"/>
                </a:solidFill>
              </a:rPr>
              <a:t> quelque chose = </a:t>
            </a:r>
            <a:r>
              <a:rPr lang="en-US" sz="2200" i="1" dirty="0">
                <a:solidFill>
                  <a:schemeClr val="tx1"/>
                </a:solidFill>
              </a:rPr>
              <a:t>kunnen</a:t>
            </a:r>
            <a:endParaRPr lang="en-US" sz="2200" dirty="0"/>
          </a:p>
        </p:txBody>
      </p:sp>
      <p:pic>
        <p:nvPicPr>
          <p:cNvPr id="11" name="Image 1" descr="person swimming">    </p:cNvPr>
          <p:cNvPicPr>
            <a:picLocks noChangeAspect="1"/>
          </p:cNvPicPr>
          <p:nvPr/>
        </p:nvPicPr>
        <p:blipFill>
          <a:blip r:embed="rId2"/>
          <a:stretch>
            <a:fillRect/>
          </a:stretch>
        </p:blipFill>
        <p:spPr>
          <a:xfrm>
            <a:off x="10424160" y="1691640"/>
            <a:ext cx="914400" cy="914400"/>
          </a:xfrm>
          <a:prstGeom prst="rect">
            <a:avLst/>
          </a:prstGeom>
        </p:spPr>
      </p:pic>
      <p:sp>
        <p:nvSpPr>
          <p:cNvPr id="12" name="Shape 7"/>
          <p:cNvSpPr/>
          <p:nvPr/>
        </p:nvSpPr>
        <p:spPr>
          <a:xfrm>
            <a:off x="548640" y="3931920"/>
            <a:ext cx="5440680" cy="2331720"/>
          </a:xfrm>
          <a:prstGeom prst="roundRect">
            <a:avLst>
              <a:gd name="adj" fmla="val 3137"/>
            </a:avLst>
          </a:prstGeom>
          <a:solidFill>
            <a:schemeClr val="accent2">
              <a:alpha val="10000"/>
            </a:schemeClr>
          </a:solidFill>
          <a:ln w="19050">
            <a:solidFill>
              <a:srgbClr val="2A6FB0"/>
            </a:solidFill>
            <a:prstDash val="solid"/>
          </a:ln>
        </p:spPr>
      </p:sp>
      <p:sp>
        <p:nvSpPr>
          <p:cNvPr id="13" name="Text 8"/>
          <p:cNvSpPr txBox="1"/>
          <p:nvPr/>
        </p:nvSpPr>
        <p:spPr>
          <a:xfrm>
            <a:off x="777240" y="4023360"/>
            <a:ext cx="5029200" cy="365760"/>
          </a:xfrm>
          <a:prstGeom prst="rect">
            <a:avLst/>
          </a:prstGeom>
          <a:noFill/>
          <a:ln/>
        </p:spPr>
        <p:txBody>
          <a:bodyPr wrap="square" lIns="0" tIns="0" rIns="0" bIns="0" rtlCol="0" anchor="t"/>
          <a:lstStyle/>
          <a:p>
            <a:pPr algn="l" indent="0" marL="0">
              <a:buNone/>
            </a:pPr>
            <a:r>
              <a:rPr lang="en-US" sz="1400" b="1" spc="200" kern="0" dirty="0">
                <a:solidFill>
                  <a:schemeClr val="accent2"/>
                </a:solidFill>
              </a:rPr>
              <a:t>SAVOIR FAIRE → KUNNEN</a:t>
            </a:r>
            <a:endParaRPr lang="en-US" sz="1400" dirty="0"/>
          </a:p>
        </p:txBody>
      </p:sp>
      <p:sp>
        <p:nvSpPr>
          <p:cNvPr id="14" name="Text 9"/>
          <p:cNvSpPr txBox="1"/>
          <p:nvPr/>
        </p:nvSpPr>
        <p:spPr>
          <a:xfrm>
            <a:off x="777240" y="4434840"/>
            <a:ext cx="5029200" cy="1737360"/>
          </a:xfrm>
          <a:prstGeom prst="rect">
            <a:avLst/>
          </a:prstGeom>
          <a:noFill/>
          <a:ln/>
        </p:spPr>
        <p:txBody>
          <a:bodyPr wrap="square" lIns="0" tIns="0" rIns="0" bIns="0" rtlCol="0" anchor="ctr"/>
          <a:lstStyle/>
          <a:p>
            <a:pPr algn="l" indent="0" marL="0">
              <a:spcAft>
                <a:spcPts val="600"/>
              </a:spcAft>
              <a:buNone/>
            </a:pPr>
            <a:r>
              <a:rPr lang="en-US" sz="1900" i="1" dirty="0">
                <a:solidFill>
                  <a:schemeClr val="tx1"/>
                </a:solidFill>
              </a:rPr>
              <a:t>Ik </a:t>
            </a:r>
            <a:r>
              <a:rPr lang="en-US" sz="1900" b="1" i="1" dirty="0">
                <a:solidFill>
                  <a:schemeClr val="tx1"/>
                </a:solidFill>
              </a:rPr>
              <a:t>kan</a:t>
            </a:r>
            <a:r>
              <a:rPr lang="en-US" sz="1900" i="1" dirty="0">
                <a:solidFill>
                  <a:schemeClr val="tx1"/>
                </a:solidFill>
              </a:rPr>
              <a:t> zwemmen / koken.</a:t>
            </a:r>
            <a:endParaRPr lang="en-US" sz="1900" dirty="0"/>
          </a:p>
          <a:p>
            <a:pPr algn="l" indent="0" marL="0">
              <a:spcAft>
                <a:spcPts val="600"/>
              </a:spcAft>
              <a:buNone/>
            </a:pPr>
            <a:r>
              <a:rPr lang="en-US" sz="1900" i="1" dirty="0">
                <a:solidFill>
                  <a:schemeClr val="tx1"/>
                </a:solidFill>
              </a:rPr>
              <a:t>Ik </a:t>
            </a:r>
            <a:r>
              <a:rPr lang="en-US" sz="1900" b="1" i="1" dirty="0">
                <a:solidFill>
                  <a:schemeClr val="tx1"/>
                </a:solidFill>
              </a:rPr>
              <a:t>kan</a:t>
            </a:r>
            <a:r>
              <a:rPr lang="en-US" sz="1900" i="1" dirty="0">
                <a:solidFill>
                  <a:schemeClr val="tx1"/>
                </a:solidFill>
              </a:rPr>
              <a:t> Nederlands spreken.</a:t>
            </a:r>
            <a:endParaRPr lang="en-US" sz="1900" dirty="0"/>
          </a:p>
          <a:p>
            <a:pPr algn="l" indent="0" marL="0">
              <a:spcAft>
                <a:spcPts val="600"/>
              </a:spcAft>
              <a:buNone/>
            </a:pPr>
            <a:r>
              <a:rPr lang="en-US" sz="1900" i="1" dirty="0">
                <a:solidFill>
                  <a:schemeClr val="tx1"/>
                </a:solidFill>
              </a:rPr>
              <a:t>Ik </a:t>
            </a:r>
            <a:r>
              <a:rPr lang="en-US" sz="1900" b="1" i="1" dirty="0">
                <a:solidFill>
                  <a:schemeClr val="tx1"/>
                </a:solidFill>
              </a:rPr>
              <a:t>kan</a:t>
            </a:r>
            <a:r>
              <a:rPr lang="en-US" sz="1900" i="1" dirty="0">
                <a:solidFill>
                  <a:schemeClr val="tx1"/>
                </a:solidFill>
              </a:rPr>
              <a:t> Nederlands.</a:t>
            </a:r>
            <a:r>
              <a:rPr lang="en-US" sz="1900" dirty="0">
                <a:solidFill>
                  <a:schemeClr val="tx1"/>
                </a:solidFill>
              </a:rPr>
              <a:t> (oral)</a:t>
            </a:r>
            <a:endParaRPr lang="en-US" sz="1900" dirty="0"/>
          </a:p>
        </p:txBody>
      </p:sp>
      <p:sp>
        <p:nvSpPr>
          <p:cNvPr id="15" name="Shape 10"/>
          <p:cNvSpPr/>
          <p:nvPr/>
        </p:nvSpPr>
        <p:spPr>
          <a:xfrm>
            <a:off x="6199632" y="3931920"/>
            <a:ext cx="5440680" cy="2331720"/>
          </a:xfrm>
          <a:prstGeom prst="roundRect">
            <a:avLst>
              <a:gd name="adj" fmla="val 3137"/>
            </a:avLst>
          </a:prstGeom>
          <a:solidFill>
            <a:schemeClr val="accent5">
              <a:alpha val="10000"/>
            </a:schemeClr>
          </a:solidFill>
          <a:ln w="19050">
            <a:solidFill>
              <a:srgbClr val="4A5A70"/>
            </a:solidFill>
            <a:prstDash val="solid"/>
          </a:ln>
        </p:spPr>
      </p:sp>
      <p:sp>
        <p:nvSpPr>
          <p:cNvPr id="16" name="Text 11"/>
          <p:cNvSpPr txBox="1"/>
          <p:nvPr/>
        </p:nvSpPr>
        <p:spPr>
          <a:xfrm>
            <a:off x="6428232" y="4023360"/>
            <a:ext cx="502920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SAVOIR UNE INFORMATION → WETEN</a:t>
            </a:r>
            <a:endParaRPr lang="en-US" sz="1400" dirty="0"/>
          </a:p>
        </p:txBody>
      </p:sp>
      <p:sp>
        <p:nvSpPr>
          <p:cNvPr id="17" name="Text 12"/>
          <p:cNvSpPr txBox="1"/>
          <p:nvPr/>
        </p:nvSpPr>
        <p:spPr>
          <a:xfrm>
            <a:off x="6428232" y="4434840"/>
            <a:ext cx="5029200" cy="1737360"/>
          </a:xfrm>
          <a:prstGeom prst="rect">
            <a:avLst/>
          </a:prstGeom>
          <a:noFill/>
          <a:ln/>
        </p:spPr>
        <p:txBody>
          <a:bodyPr wrap="square" lIns="0" tIns="0" rIns="0" bIns="0" rtlCol="0" anchor="ctr"/>
          <a:lstStyle/>
          <a:p>
            <a:pPr algn="l" indent="0" marL="0">
              <a:spcAft>
                <a:spcPts val="600"/>
              </a:spcAft>
              <a:buNone/>
            </a:pPr>
            <a:r>
              <a:rPr lang="en-US" sz="1900" i="1" dirty="0">
                <a:solidFill>
                  <a:schemeClr val="tx1"/>
                </a:solidFill>
              </a:rPr>
              <a:t>Ik </a:t>
            </a:r>
            <a:r>
              <a:rPr lang="en-US" sz="1900" b="1" i="1" dirty="0">
                <a:solidFill>
                  <a:schemeClr val="tx1"/>
                </a:solidFill>
              </a:rPr>
              <a:t>weet</a:t>
            </a:r>
            <a:r>
              <a:rPr lang="en-US" sz="1900" i="1" dirty="0">
                <a:solidFill>
                  <a:schemeClr val="tx1"/>
                </a:solidFill>
              </a:rPr>
              <a:t> het. · Ik </a:t>
            </a:r>
            <a:r>
              <a:rPr lang="en-US" sz="1900" b="1" i="1" dirty="0">
                <a:solidFill>
                  <a:schemeClr val="tx1"/>
                </a:solidFill>
              </a:rPr>
              <a:t>weet</a:t>
            </a:r>
            <a:r>
              <a:rPr lang="en-US" sz="1900" i="1" dirty="0">
                <a:solidFill>
                  <a:schemeClr val="tx1"/>
                </a:solidFill>
              </a:rPr>
              <a:t> het niet.</a:t>
            </a:r>
            <a:endParaRPr lang="en-US" sz="1900" dirty="0"/>
          </a:p>
          <a:p>
            <a:pPr algn="l" indent="0" marL="0">
              <a:spcAft>
                <a:spcPts val="600"/>
              </a:spcAft>
              <a:buNone/>
            </a:pPr>
            <a:r>
              <a:rPr lang="en-US" sz="1900" i="1" dirty="0">
                <a:solidFill>
                  <a:schemeClr val="tx1"/>
                </a:solidFill>
              </a:rPr>
              <a:t>Ik </a:t>
            </a:r>
            <a:r>
              <a:rPr lang="en-US" sz="1900" b="1" i="1" dirty="0">
                <a:solidFill>
                  <a:schemeClr val="tx1"/>
                </a:solidFill>
              </a:rPr>
              <a:t>weet</a:t>
            </a:r>
            <a:r>
              <a:rPr lang="en-US" sz="1900" i="1" dirty="0">
                <a:solidFill>
                  <a:schemeClr val="tx1"/>
                </a:solidFill>
              </a:rPr>
              <a:t> dat de vergadering om 10 uur begint.</a:t>
            </a:r>
            <a:r>
              <a:rPr lang="en-US" sz="1900" dirty="0">
                <a:solidFill>
                  <a:schemeClr val="tx1"/>
                </a:solidFill>
              </a:rPr>
              <a:t> (M9)</a:t>
            </a:r>
            <a:endParaRPr lang="en-US" sz="1900" dirty="0"/>
          </a:p>
        </p:txBody>
      </p:sp>
      <p:pic>
        <p:nvPicPr>
          <p:cNvPr id="18" name="Image 2" descr="light bulb">    </p:cNvPr>
          <p:cNvPicPr>
            <a:picLocks noChangeAspect="1"/>
          </p:cNvPicPr>
          <p:nvPr/>
        </p:nvPicPr>
        <p:blipFill>
          <a:blip r:embed="rId3"/>
          <a:stretch>
            <a:fillRect/>
          </a:stretch>
        </p:blipFill>
        <p:spPr>
          <a:xfrm>
            <a:off x="10972800" y="4023360"/>
            <a:ext cx="548640" cy="54864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il ne faut pas » = niet mogen</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8778240" cy="2651760"/>
          </a:xfrm>
          <a:prstGeom prst="roundRect">
            <a:avLst>
              <a:gd name="adj" fmla="val 2759"/>
            </a:avLst>
          </a:prstGeom>
          <a:solidFill>
            <a:schemeClr val="accent6">
              <a:alpha val="7000"/>
            </a:schemeClr>
          </a:solidFill>
          <a:ln w="12700">
            <a:solidFill>
              <a:srgbClr val="B83227">
                <a:alpha val="60000"/>
              </a:srgbClr>
            </a:solidFill>
            <a:prstDash val="solid"/>
          </a:ln>
        </p:spPr>
      </p:sp>
      <p:sp>
        <p:nvSpPr>
          <p:cNvPr id="6" name="tag"/>
          <p:cNvSpPr/>
          <p:nvPr/>
        </p:nvSpPr>
        <p:spPr>
          <a:xfrm>
            <a:off x="731520" y="171907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8229600" cy="937260"/>
          </a:xfrm>
          <a:prstGeom prst="rect">
            <a:avLst/>
          </a:prstGeom>
          <a:noFill/>
          <a:ln/>
        </p:spPr>
        <p:txBody>
          <a:bodyPr wrap="square" lIns="0" tIns="0" rIns="0" bIns="0" rtlCol="0" anchor="ctr"/>
          <a:lstStyle/>
          <a:p>
            <a:pPr algn="l" indent="0" marL="0">
              <a:buNone/>
            </a:pPr>
            <a:r>
              <a:rPr lang="en-US" sz="2200" dirty="0">
                <a:solidFill>
                  <a:schemeClr val="tx1"/>
                </a:solidFill>
              </a:rPr>
              <a:t>« Il ne faut pas fumer ici. » → </a:t>
            </a:r>
            <a:r>
              <a:rPr lang="en-US" sz="2200" i="1" strike="sngStrike" dirty="0">
                <a:solidFill>
                  <a:schemeClr val="accent6"/>
                </a:solidFill>
              </a:rPr>
              <a:t>Je moet hier niet roken.</a:t>
            </a:r>
            <a:endParaRPr lang="en-US" sz="2200" dirty="0"/>
          </a:p>
        </p:txBody>
      </p:sp>
      <p:pic>
        <p:nvPicPr>
          <p:cNvPr id="8" name="Image 0" descr="ArrowDown">    </p:cNvPr>
          <p:cNvPicPr>
            <a:picLocks noChangeAspect="1"/>
          </p:cNvPicPr>
          <p:nvPr/>
        </p:nvPicPr>
        <p:blipFill>
          <a:blip r:embed="rId1"/>
          <a:stretch>
            <a:fillRect/>
          </a:stretch>
        </p:blipFill>
        <p:spPr>
          <a:xfrm>
            <a:off x="822960" y="2976372"/>
            <a:ext cx="237744" cy="237744"/>
          </a:xfrm>
          <a:prstGeom prst="rect">
            <a:avLst/>
          </a:prstGeom>
        </p:spPr>
      </p:pic>
      <p:sp>
        <p:nvSpPr>
          <p:cNvPr id="9" name="Shape 5"/>
          <p:cNvSpPr/>
          <p:nvPr/>
        </p:nvSpPr>
        <p:spPr>
          <a:xfrm>
            <a:off x="777240" y="3204972"/>
            <a:ext cx="8321040" cy="900684"/>
          </a:xfrm>
          <a:prstGeom prst="roundRect">
            <a:avLst>
              <a:gd name="adj" fmla="val 8122"/>
            </a:avLst>
          </a:prstGeom>
          <a:solidFill>
            <a:schemeClr val="accent3">
              <a:alpha val="12000"/>
            </a:schemeClr>
          </a:solidFill>
          <a:ln w="15875">
            <a:solidFill>
              <a:srgbClr val="2E7D4F"/>
            </a:solidFill>
            <a:prstDash val="solid"/>
          </a:ln>
        </p:spPr>
      </p:sp>
      <p:sp>
        <p:nvSpPr>
          <p:cNvPr id="10" name="Text 6"/>
          <p:cNvSpPr txBox="1"/>
          <p:nvPr/>
        </p:nvSpPr>
        <p:spPr>
          <a:xfrm>
            <a:off x="914400" y="3204972"/>
            <a:ext cx="8046720" cy="900684"/>
          </a:xfrm>
          <a:prstGeom prst="rect">
            <a:avLst/>
          </a:prstGeom>
          <a:noFill/>
          <a:ln/>
        </p:spPr>
        <p:txBody>
          <a:bodyPr wrap="square" lIns="0" tIns="0" rIns="0" bIns="0" rtlCol="0" anchor="ctr"/>
          <a:lstStyle/>
          <a:p>
            <a:pPr algn="l" indent="0" marL="0">
              <a:buNone/>
            </a:pPr>
            <a:r>
              <a:rPr lang="en-US" sz="2200" i="1" dirty="0">
                <a:solidFill>
                  <a:schemeClr val="tx1"/>
                </a:solidFill>
              </a:rPr>
              <a:t>Je </a:t>
            </a:r>
            <a:r>
              <a:rPr lang="en-US" sz="2200" b="1" i="1" dirty="0">
                <a:solidFill>
                  <a:schemeClr val="tx1"/>
                </a:solidFill>
              </a:rPr>
              <a:t>mag</a:t>
            </a:r>
            <a:r>
              <a:rPr lang="en-US" sz="2200" i="1" dirty="0">
                <a:solidFill>
                  <a:schemeClr val="tx1"/>
                </a:solidFill>
              </a:rPr>
              <a:t> hier niet roken.</a:t>
            </a:r>
            <a:r>
              <a:rPr lang="en-US" sz="2200" dirty="0">
                <a:solidFill>
                  <a:schemeClr val="tx1"/>
                </a:solidFill>
              </a:rPr>
              <a:t>  (tu n’as pas le droit)</a:t>
            </a:r>
            <a:endParaRPr lang="en-US" sz="2200" dirty="0"/>
          </a:p>
        </p:txBody>
      </p:sp>
      <p:sp>
        <p:nvSpPr>
          <p:cNvPr id="11" name="Shape 7"/>
          <p:cNvSpPr/>
          <p:nvPr/>
        </p:nvSpPr>
        <p:spPr>
          <a:xfrm>
            <a:off x="9646920" y="1783080"/>
            <a:ext cx="1920240" cy="1920240"/>
          </a:xfrm>
          <a:prstGeom prst="ellipse">
            <a:avLst/>
          </a:prstGeom>
          <a:solidFill>
            <a:srgbClr val="FFFFFF"/>
          </a:solidFill>
          <a:ln w="63500">
            <a:solidFill>
              <a:srgbClr val="B83227"/>
            </a:solidFill>
            <a:prstDash val="solid"/>
          </a:ln>
        </p:spPr>
      </p:sp>
      <p:pic>
        <p:nvPicPr>
          <p:cNvPr id="12" name="Image 1" descr="cigarette">    </p:cNvPr>
          <p:cNvPicPr>
            <a:picLocks noChangeAspect="1"/>
          </p:cNvPicPr>
          <p:nvPr/>
        </p:nvPicPr>
        <p:blipFill>
          <a:blip r:embed="rId2"/>
          <a:stretch>
            <a:fillRect/>
          </a:stretch>
        </p:blipFill>
        <p:spPr>
          <a:xfrm>
            <a:off x="10012680" y="2148840"/>
            <a:ext cx="1188720" cy="1188720"/>
          </a:xfrm>
          <a:prstGeom prst="rect">
            <a:avLst/>
          </a:prstGeom>
        </p:spPr>
      </p:pic>
      <p:sp>
        <p:nvSpPr>
          <p:cNvPr id="13" name="Shape 8"/>
          <p:cNvSpPr/>
          <p:nvPr/>
        </p:nvSpPr>
        <p:spPr>
          <a:xfrm>
            <a:off x="9966960" y="2103120"/>
            <a:ext cx="1280160" cy="1280160"/>
          </a:xfrm>
          <a:prstGeom prst="line">
            <a:avLst/>
          </a:prstGeom>
          <a:noFill/>
          <a:ln w="76200">
            <a:solidFill>
              <a:srgbClr val="B83227"/>
            </a:solidFill>
            <a:prstDash val="solid"/>
          </a:ln>
        </p:spPr>
      </p:sp>
      <p:sp>
        <p:nvSpPr>
          <p:cNvPr id="14" name="Shape 9"/>
          <p:cNvSpPr/>
          <p:nvPr/>
        </p:nvSpPr>
        <p:spPr>
          <a:xfrm>
            <a:off x="548640" y="4434840"/>
            <a:ext cx="11091672" cy="1828800"/>
          </a:xfrm>
          <a:prstGeom prst="roundRect">
            <a:avLst>
              <a:gd name="adj" fmla="val 4000"/>
            </a:avLst>
          </a:prstGeom>
          <a:solidFill>
            <a:schemeClr val="accent5">
              <a:alpha val="10000"/>
            </a:schemeClr>
          </a:solidFill>
          <a:ln w="15875">
            <a:solidFill>
              <a:srgbClr val="4A5A70"/>
            </a:solidFill>
            <a:prstDash val="solid"/>
          </a:ln>
        </p:spPr>
      </p:sp>
      <p:sp>
        <p:nvSpPr>
          <p:cNvPr id="15" name="tag"/>
          <p:cNvSpPr/>
          <p:nvPr/>
        </p:nvSpPr>
        <p:spPr>
          <a:xfrm>
            <a:off x="731520" y="4572000"/>
            <a:ext cx="1121054"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a:t>
            </a:r>
            <a:endParaRPr lang="en-US" sz="1200" dirty="0"/>
          </a:p>
        </p:txBody>
      </p:sp>
      <p:sp>
        <p:nvSpPr>
          <p:cNvPr id="16" name="Text 11"/>
          <p:cNvSpPr txBox="1"/>
          <p:nvPr/>
        </p:nvSpPr>
        <p:spPr>
          <a:xfrm>
            <a:off x="777240" y="4937760"/>
            <a:ext cx="10698480" cy="1234440"/>
          </a:xfrm>
          <a:prstGeom prst="rect">
            <a:avLst/>
          </a:prstGeom>
          <a:noFill/>
          <a:ln/>
        </p:spPr>
        <p:txBody>
          <a:bodyPr wrap="square" lIns="0" tIns="0" rIns="0" bIns="0" rtlCol="0" anchor="ctr"/>
          <a:lstStyle/>
          <a:p>
            <a:pPr algn="l" indent="0" marL="0">
              <a:spcAft>
                <a:spcPts val="600"/>
              </a:spcAft>
              <a:buNone/>
            </a:pPr>
            <a:r>
              <a:rPr lang="en-US" sz="1800" dirty="0">
                <a:solidFill>
                  <a:schemeClr val="tx1"/>
                </a:solidFill>
              </a:rPr>
              <a:t>« Tu n’es pas obligé de venir. » → </a:t>
            </a:r>
            <a:r>
              <a:rPr lang="en-US" sz="1800" i="1" dirty="0">
                <a:solidFill>
                  <a:schemeClr val="tx1"/>
                </a:solidFill>
              </a:rPr>
              <a:t>Je </a:t>
            </a:r>
            <a:r>
              <a:rPr lang="en-US" sz="1800" b="1" i="1" dirty="0">
                <a:solidFill>
                  <a:schemeClr val="tx1"/>
                </a:solidFill>
              </a:rPr>
              <a:t>hoeft</a:t>
            </a:r>
            <a:r>
              <a:rPr lang="en-US" sz="1800" i="1" dirty="0">
                <a:solidFill>
                  <a:schemeClr val="tx1"/>
                </a:solidFill>
              </a:rPr>
              <a:t> niet </a:t>
            </a:r>
            <a:r>
              <a:rPr lang="en-US" sz="1800" b="1" i="1" dirty="0">
                <a:solidFill>
                  <a:schemeClr val="tx1"/>
                </a:solidFill>
              </a:rPr>
              <a:t>te</a:t>
            </a:r>
            <a:r>
              <a:rPr lang="en-US" sz="1800" i="1" dirty="0">
                <a:solidFill>
                  <a:schemeClr val="tx1"/>
                </a:solidFill>
              </a:rPr>
              <a:t> komen.</a:t>
            </a:r>
            <a:endParaRPr lang="en-US" sz="1800" dirty="0"/>
          </a:p>
          <a:p>
            <a:pPr algn="l" indent="0" marL="0">
              <a:spcAft>
                <a:spcPts val="600"/>
              </a:spcAft>
              <a:buNone/>
            </a:pPr>
            <a:r>
              <a:rPr lang="en-US" sz="1800" dirty="0">
                <a:solidFill>
                  <a:schemeClr val="tx1"/>
                </a:solidFill>
              </a:rPr>
              <a:t>En Belgique aussi : </a:t>
            </a:r>
            <a:r>
              <a:rPr lang="en-US" sz="1800" i="1" dirty="0">
                <a:solidFill>
                  <a:schemeClr val="tx1"/>
                </a:solidFill>
              </a:rPr>
              <a:t>Je </a:t>
            </a:r>
            <a:r>
              <a:rPr lang="en-US" sz="1800" b="1" i="1" dirty="0">
                <a:solidFill>
                  <a:schemeClr val="tx1"/>
                </a:solidFill>
              </a:rPr>
              <a:t>moet</a:t>
            </a:r>
            <a:r>
              <a:rPr lang="en-US" sz="1800" i="1" dirty="0">
                <a:solidFill>
                  <a:schemeClr val="tx1"/>
                </a:solidFill>
              </a:rPr>
              <a:t> niet komen.</a:t>
            </a:r>
            <a:r>
              <a:rPr lang="en-US" sz="1800" dirty="0">
                <a:solidFill>
                  <a:schemeClr val="tx1"/>
                </a:solidFill>
              </a:rPr>
              <a:t> (= pas obligé, </a:t>
            </a:r>
            <a:r>
              <a:rPr lang="en-US" sz="1800" b="1" dirty="0">
                <a:solidFill>
                  <a:schemeClr val="tx1"/>
                </a:solidFill>
              </a:rPr>
              <a:t>pas</a:t>
            </a:r>
            <a:r>
              <a:rPr lang="en-US" sz="1800" dirty="0">
                <a:solidFill>
                  <a:schemeClr val="tx1"/>
                </a:solidFill>
              </a:rPr>
              <a:t> une interdiction)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pince avec un verbe de modalité</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00200"/>
            <a:ext cx="592165" cy="640080"/>
          </a:xfrm>
          <a:prstGeom prst="roundRect">
            <a:avLst>
              <a:gd name="adj" fmla="val 12353"/>
            </a:avLst>
          </a:prstGeom>
          <a:solidFill>
            <a:schemeClr val="bg1"/>
          </a:solidFill>
          <a:ln w="15875">
            <a:solidFill>
              <a:srgbClr val="D5DCE6"/>
            </a:solidFill>
            <a:prstDash val="solid"/>
          </a:ln>
        </p:spPr>
      </p:sp>
      <p:sp>
        <p:nvSpPr>
          <p:cNvPr id="6" name="Text 3"/>
          <p:cNvSpPr txBox="1"/>
          <p:nvPr/>
        </p:nvSpPr>
        <p:spPr>
          <a:xfrm>
            <a:off x="548640" y="1600200"/>
            <a:ext cx="592165" cy="640080"/>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7" name="Shape 4"/>
          <p:cNvSpPr/>
          <p:nvPr/>
        </p:nvSpPr>
        <p:spPr>
          <a:xfrm>
            <a:off x="1232245" y="1600200"/>
            <a:ext cx="741944" cy="640080"/>
          </a:xfrm>
          <a:prstGeom prst="roundRect">
            <a:avLst>
              <a:gd name="adj" fmla="val 11429"/>
            </a:avLst>
          </a:prstGeom>
          <a:solidFill>
            <a:srgbClr val="FBEDEB"/>
          </a:solidFill>
          <a:ln w="31750">
            <a:solidFill>
              <a:srgbClr val="B83227"/>
            </a:solidFill>
            <a:prstDash val="solid"/>
          </a:ln>
        </p:spPr>
      </p:sp>
      <p:sp>
        <p:nvSpPr>
          <p:cNvPr id="8" name="Text 5"/>
          <p:cNvSpPr txBox="1"/>
          <p:nvPr/>
        </p:nvSpPr>
        <p:spPr>
          <a:xfrm>
            <a:off x="1232245" y="1600200"/>
            <a:ext cx="741944" cy="640080"/>
          </a:xfrm>
          <a:prstGeom prst="rect">
            <a:avLst/>
          </a:prstGeom>
          <a:noFill/>
          <a:ln/>
        </p:spPr>
        <p:txBody>
          <a:bodyPr wrap="square" lIns="0" tIns="0" rIns="0" bIns="0" rtlCol="0" anchor="ctr"/>
          <a:lstStyle/>
          <a:p>
            <a:pPr algn="ctr" indent="0" marL="0">
              <a:buNone/>
            </a:pPr>
            <a:r>
              <a:rPr lang="en-US" sz="2100" b="1" dirty="0">
                <a:solidFill>
                  <a:schemeClr val="accent6"/>
                </a:solidFill>
              </a:rPr>
              <a:t>mag</a:t>
            </a:r>
            <a:endParaRPr lang="en-US" sz="2100" dirty="0"/>
          </a:p>
        </p:txBody>
      </p:sp>
      <p:sp>
        <p:nvSpPr>
          <p:cNvPr id="9" name="Shape 6"/>
          <p:cNvSpPr/>
          <p:nvPr/>
        </p:nvSpPr>
        <p:spPr>
          <a:xfrm>
            <a:off x="2065630" y="1600200"/>
            <a:ext cx="1790395" cy="640080"/>
          </a:xfrm>
          <a:prstGeom prst="roundRect">
            <a:avLst>
              <a:gd name="adj" fmla="val 11429"/>
            </a:avLst>
          </a:prstGeom>
          <a:solidFill>
            <a:schemeClr val="bg1"/>
          </a:solidFill>
          <a:ln w="15875">
            <a:solidFill>
              <a:srgbClr val="D5DCE6"/>
            </a:solidFill>
            <a:prstDash val="solid"/>
          </a:ln>
        </p:spPr>
      </p:sp>
      <p:sp>
        <p:nvSpPr>
          <p:cNvPr id="10" name="Text 7"/>
          <p:cNvSpPr txBox="1"/>
          <p:nvPr/>
        </p:nvSpPr>
        <p:spPr>
          <a:xfrm>
            <a:off x="2065630" y="1600200"/>
            <a:ext cx="1790395" cy="640080"/>
          </a:xfrm>
          <a:prstGeom prst="rect">
            <a:avLst/>
          </a:prstGeom>
          <a:noFill/>
          <a:ln/>
        </p:spPr>
        <p:txBody>
          <a:bodyPr wrap="square" lIns="0" tIns="0" rIns="0" bIns="0" rtlCol="0" anchor="ctr"/>
          <a:lstStyle/>
          <a:p>
            <a:pPr algn="ctr" indent="0" marL="0">
              <a:buNone/>
            </a:pPr>
            <a:r>
              <a:rPr lang="en-US" sz="2100" dirty="0">
                <a:solidFill>
                  <a:schemeClr val="tx1"/>
                </a:solidFill>
              </a:rPr>
              <a:t>een koekje</a:t>
            </a:r>
            <a:endParaRPr lang="en-US" sz="2100" dirty="0"/>
          </a:p>
        </p:txBody>
      </p:sp>
      <p:sp>
        <p:nvSpPr>
          <p:cNvPr id="11" name="Shape 8"/>
          <p:cNvSpPr/>
          <p:nvPr/>
        </p:nvSpPr>
        <p:spPr>
          <a:xfrm>
            <a:off x="3947465" y="1600200"/>
            <a:ext cx="1041502" cy="640080"/>
          </a:xfrm>
          <a:prstGeom prst="roundRect">
            <a:avLst>
              <a:gd name="adj" fmla="val 11429"/>
            </a:avLst>
          </a:prstGeom>
          <a:solidFill>
            <a:srgbClr val="FBEDEB"/>
          </a:solidFill>
          <a:ln w="25400">
            <a:solidFill>
              <a:srgbClr val="B83227"/>
            </a:solidFill>
            <a:prstDash val="dash"/>
          </a:ln>
        </p:spPr>
      </p:sp>
      <p:sp>
        <p:nvSpPr>
          <p:cNvPr id="12" name="Text 9"/>
          <p:cNvSpPr txBox="1"/>
          <p:nvPr/>
        </p:nvSpPr>
        <p:spPr>
          <a:xfrm>
            <a:off x="3947465" y="1600200"/>
            <a:ext cx="1041502" cy="640080"/>
          </a:xfrm>
          <a:prstGeom prst="rect">
            <a:avLst/>
          </a:prstGeom>
          <a:noFill/>
          <a:ln/>
        </p:spPr>
        <p:txBody>
          <a:bodyPr wrap="square" lIns="0" tIns="0" rIns="0" bIns="0" rtlCol="0" anchor="ctr"/>
          <a:lstStyle/>
          <a:p>
            <a:pPr algn="ctr" indent="0" marL="0">
              <a:buNone/>
            </a:pPr>
            <a:r>
              <a:rPr lang="en-US" sz="2100" b="1" dirty="0">
                <a:solidFill>
                  <a:schemeClr val="accent6"/>
                </a:solidFill>
              </a:rPr>
              <a:t>eten.</a:t>
            </a:r>
            <a:endParaRPr lang="en-US" sz="2100" dirty="0"/>
          </a:p>
        </p:txBody>
      </p:sp>
      <p:sp>
        <p:nvSpPr>
          <p:cNvPr id="13" name="Shape 10"/>
          <p:cNvSpPr/>
          <p:nvPr/>
        </p:nvSpPr>
        <p:spPr>
          <a:xfrm>
            <a:off x="548640" y="2377440"/>
            <a:ext cx="741944" cy="640080"/>
          </a:xfrm>
          <a:prstGeom prst="roundRect">
            <a:avLst>
              <a:gd name="adj" fmla="val 11429"/>
            </a:avLst>
          </a:prstGeom>
          <a:solidFill>
            <a:schemeClr val="bg1"/>
          </a:solidFill>
          <a:ln w="15875">
            <a:solidFill>
              <a:srgbClr val="D5DCE6"/>
            </a:solidFill>
            <a:prstDash val="solid"/>
          </a:ln>
        </p:spPr>
      </p:sp>
      <p:sp>
        <p:nvSpPr>
          <p:cNvPr id="14" name="Text 11"/>
          <p:cNvSpPr txBox="1"/>
          <p:nvPr/>
        </p:nvSpPr>
        <p:spPr>
          <a:xfrm>
            <a:off x="548640" y="2377440"/>
            <a:ext cx="741944" cy="640080"/>
          </a:xfrm>
          <a:prstGeom prst="rect">
            <a:avLst/>
          </a:prstGeom>
          <a:noFill/>
          <a:ln/>
        </p:spPr>
        <p:txBody>
          <a:bodyPr wrap="square" lIns="0" tIns="0" rIns="0" bIns="0" rtlCol="0" anchor="ctr"/>
          <a:lstStyle/>
          <a:p>
            <a:pPr algn="ctr" indent="0" marL="0">
              <a:buNone/>
            </a:pPr>
            <a:r>
              <a:rPr lang="en-US" sz="2100" dirty="0">
                <a:solidFill>
                  <a:schemeClr val="tx1"/>
                </a:solidFill>
              </a:rPr>
              <a:t>Jij</a:t>
            </a:r>
            <a:endParaRPr lang="en-US" sz="2100" dirty="0"/>
          </a:p>
        </p:txBody>
      </p:sp>
      <p:sp>
        <p:nvSpPr>
          <p:cNvPr id="15" name="Shape 12"/>
          <p:cNvSpPr/>
          <p:nvPr/>
        </p:nvSpPr>
        <p:spPr>
          <a:xfrm>
            <a:off x="1382024" y="2377440"/>
            <a:ext cx="891723" cy="640080"/>
          </a:xfrm>
          <a:prstGeom prst="roundRect">
            <a:avLst>
              <a:gd name="adj" fmla="val 11429"/>
            </a:avLst>
          </a:prstGeom>
          <a:solidFill>
            <a:srgbClr val="FBEDEB"/>
          </a:solidFill>
          <a:ln w="31750">
            <a:solidFill>
              <a:srgbClr val="B83227"/>
            </a:solidFill>
            <a:prstDash val="solid"/>
          </a:ln>
        </p:spPr>
      </p:sp>
      <p:sp>
        <p:nvSpPr>
          <p:cNvPr id="16" name="Text 13"/>
          <p:cNvSpPr txBox="1"/>
          <p:nvPr/>
        </p:nvSpPr>
        <p:spPr>
          <a:xfrm>
            <a:off x="1382024" y="2377440"/>
            <a:ext cx="891723" cy="640080"/>
          </a:xfrm>
          <a:prstGeom prst="rect">
            <a:avLst/>
          </a:prstGeom>
          <a:noFill/>
          <a:ln/>
        </p:spPr>
        <p:txBody>
          <a:bodyPr wrap="square" lIns="0" tIns="0" rIns="0" bIns="0" rtlCol="0" anchor="ctr"/>
          <a:lstStyle/>
          <a:p>
            <a:pPr algn="ctr" indent="0" marL="0">
              <a:buNone/>
            </a:pPr>
            <a:r>
              <a:rPr lang="en-US" sz="2100" b="1" dirty="0">
                <a:solidFill>
                  <a:schemeClr val="accent6"/>
                </a:solidFill>
              </a:rPr>
              <a:t>moet</a:t>
            </a:r>
            <a:endParaRPr lang="en-US" sz="2100" dirty="0"/>
          </a:p>
        </p:txBody>
      </p:sp>
      <p:sp>
        <p:nvSpPr>
          <p:cNvPr id="17" name="Shape 14"/>
          <p:cNvSpPr/>
          <p:nvPr/>
        </p:nvSpPr>
        <p:spPr>
          <a:xfrm>
            <a:off x="2365187" y="2377440"/>
            <a:ext cx="2089953" cy="640080"/>
          </a:xfrm>
          <a:prstGeom prst="roundRect">
            <a:avLst>
              <a:gd name="adj" fmla="val 11429"/>
            </a:avLst>
          </a:prstGeom>
          <a:solidFill>
            <a:schemeClr val="bg1"/>
          </a:solidFill>
          <a:ln w="15875">
            <a:solidFill>
              <a:srgbClr val="D5DCE6"/>
            </a:solidFill>
            <a:prstDash val="solid"/>
          </a:ln>
        </p:spPr>
      </p:sp>
      <p:sp>
        <p:nvSpPr>
          <p:cNvPr id="18" name="Text 15"/>
          <p:cNvSpPr txBox="1"/>
          <p:nvPr/>
        </p:nvSpPr>
        <p:spPr>
          <a:xfrm>
            <a:off x="2365187" y="2377440"/>
            <a:ext cx="2089953" cy="640080"/>
          </a:xfrm>
          <a:prstGeom prst="rect">
            <a:avLst/>
          </a:prstGeom>
          <a:noFill/>
          <a:ln/>
        </p:spPr>
        <p:txBody>
          <a:bodyPr wrap="square" lIns="0" tIns="0" rIns="0" bIns="0" rtlCol="0" anchor="ctr"/>
          <a:lstStyle/>
          <a:p>
            <a:pPr algn="ctr" indent="0" marL="0">
              <a:buNone/>
            </a:pPr>
            <a:r>
              <a:rPr lang="en-US" sz="2100" dirty="0">
                <a:solidFill>
                  <a:schemeClr val="tx1"/>
                </a:solidFill>
              </a:rPr>
              <a:t>morgen vroeg</a:t>
            </a:r>
            <a:endParaRPr lang="en-US" sz="2100" dirty="0"/>
          </a:p>
        </p:txBody>
      </p:sp>
      <p:sp>
        <p:nvSpPr>
          <p:cNvPr id="19" name="Shape 16"/>
          <p:cNvSpPr/>
          <p:nvPr/>
        </p:nvSpPr>
        <p:spPr>
          <a:xfrm>
            <a:off x="4546580" y="2377440"/>
            <a:ext cx="1940174" cy="640080"/>
          </a:xfrm>
          <a:prstGeom prst="roundRect">
            <a:avLst>
              <a:gd name="adj" fmla="val 11429"/>
            </a:avLst>
          </a:prstGeom>
          <a:solidFill>
            <a:srgbClr val="FBEDEB"/>
          </a:solidFill>
          <a:ln w="25400">
            <a:solidFill>
              <a:srgbClr val="B83227"/>
            </a:solidFill>
            <a:prstDash val="dash"/>
          </a:ln>
        </p:spPr>
      </p:sp>
      <p:sp>
        <p:nvSpPr>
          <p:cNvPr id="20" name="Text 17"/>
          <p:cNvSpPr txBox="1"/>
          <p:nvPr/>
        </p:nvSpPr>
        <p:spPr>
          <a:xfrm>
            <a:off x="4546580" y="2377440"/>
            <a:ext cx="1940174" cy="640080"/>
          </a:xfrm>
          <a:prstGeom prst="rect">
            <a:avLst/>
          </a:prstGeom>
          <a:noFill/>
          <a:ln/>
        </p:spPr>
        <p:txBody>
          <a:bodyPr wrap="square" lIns="0" tIns="0" rIns="0" bIns="0" rtlCol="0" anchor="ctr"/>
          <a:lstStyle/>
          <a:p>
            <a:pPr algn="ctr" indent="0" marL="0">
              <a:buNone/>
            </a:pPr>
            <a:r>
              <a:rPr lang="en-US" sz="2100" b="1" dirty="0">
                <a:solidFill>
                  <a:schemeClr val="accent6"/>
                </a:solidFill>
              </a:rPr>
              <a:t>vertrekken.</a:t>
            </a:r>
            <a:endParaRPr lang="en-US" sz="2100" dirty="0"/>
          </a:p>
        </p:txBody>
      </p:sp>
      <p:sp>
        <p:nvSpPr>
          <p:cNvPr id="21" name="Shape 18"/>
          <p:cNvSpPr/>
          <p:nvPr/>
        </p:nvSpPr>
        <p:spPr>
          <a:xfrm>
            <a:off x="548640" y="3154680"/>
            <a:ext cx="592165" cy="640080"/>
          </a:xfrm>
          <a:prstGeom prst="roundRect">
            <a:avLst>
              <a:gd name="adj" fmla="val 12353"/>
            </a:avLst>
          </a:prstGeom>
          <a:solidFill>
            <a:schemeClr val="bg1"/>
          </a:solidFill>
          <a:ln w="15875">
            <a:solidFill>
              <a:srgbClr val="D5DCE6"/>
            </a:solidFill>
            <a:prstDash val="solid"/>
          </a:ln>
        </p:spPr>
      </p:sp>
      <p:sp>
        <p:nvSpPr>
          <p:cNvPr id="22" name="Text 19"/>
          <p:cNvSpPr txBox="1"/>
          <p:nvPr/>
        </p:nvSpPr>
        <p:spPr>
          <a:xfrm>
            <a:off x="548640" y="3154680"/>
            <a:ext cx="592165" cy="640080"/>
          </a:xfrm>
          <a:prstGeom prst="rect">
            <a:avLst/>
          </a:prstGeom>
          <a:noFill/>
          <a:ln/>
        </p:spPr>
        <p:txBody>
          <a:bodyPr wrap="square" lIns="0" tIns="0" rIns="0" bIns="0" rtlCol="0" anchor="ctr"/>
          <a:lstStyle/>
          <a:p>
            <a:pPr algn="ctr" indent="0" marL="0">
              <a:buNone/>
            </a:pPr>
            <a:r>
              <a:rPr lang="en-US" sz="2100" dirty="0">
                <a:solidFill>
                  <a:schemeClr val="tx1"/>
                </a:solidFill>
              </a:rPr>
              <a:t>We</a:t>
            </a:r>
            <a:endParaRPr lang="en-US" sz="2100" dirty="0"/>
          </a:p>
        </p:txBody>
      </p:sp>
      <p:sp>
        <p:nvSpPr>
          <p:cNvPr id="23" name="Shape 20"/>
          <p:cNvSpPr/>
          <p:nvPr/>
        </p:nvSpPr>
        <p:spPr>
          <a:xfrm>
            <a:off x="1232245" y="3154680"/>
            <a:ext cx="1191280" cy="640080"/>
          </a:xfrm>
          <a:prstGeom prst="roundRect">
            <a:avLst>
              <a:gd name="adj" fmla="val 11429"/>
            </a:avLst>
          </a:prstGeom>
          <a:solidFill>
            <a:srgbClr val="FBEDEB"/>
          </a:solidFill>
          <a:ln w="31750">
            <a:solidFill>
              <a:srgbClr val="B83227"/>
            </a:solidFill>
            <a:prstDash val="solid"/>
          </a:ln>
        </p:spPr>
      </p:sp>
      <p:sp>
        <p:nvSpPr>
          <p:cNvPr id="24" name="Text 21"/>
          <p:cNvSpPr txBox="1"/>
          <p:nvPr/>
        </p:nvSpPr>
        <p:spPr>
          <a:xfrm>
            <a:off x="1232245" y="3154680"/>
            <a:ext cx="1191280" cy="640080"/>
          </a:xfrm>
          <a:prstGeom prst="rect">
            <a:avLst/>
          </a:prstGeom>
          <a:noFill/>
          <a:ln/>
        </p:spPr>
        <p:txBody>
          <a:bodyPr wrap="square" lIns="0" tIns="0" rIns="0" bIns="0" rtlCol="0" anchor="ctr"/>
          <a:lstStyle/>
          <a:p>
            <a:pPr algn="ctr" indent="0" marL="0">
              <a:buNone/>
            </a:pPr>
            <a:r>
              <a:rPr lang="en-US" sz="2100" b="1" dirty="0">
                <a:solidFill>
                  <a:schemeClr val="accent6"/>
                </a:solidFill>
              </a:rPr>
              <a:t>willen</a:t>
            </a:r>
            <a:endParaRPr lang="en-US" sz="2100" dirty="0"/>
          </a:p>
        </p:txBody>
      </p:sp>
      <p:sp>
        <p:nvSpPr>
          <p:cNvPr id="25" name="Shape 22"/>
          <p:cNvSpPr/>
          <p:nvPr/>
        </p:nvSpPr>
        <p:spPr>
          <a:xfrm>
            <a:off x="2514966" y="3154680"/>
            <a:ext cx="3587740" cy="640080"/>
          </a:xfrm>
          <a:prstGeom prst="roundRect">
            <a:avLst>
              <a:gd name="adj" fmla="val 11429"/>
            </a:avLst>
          </a:prstGeom>
          <a:solidFill>
            <a:schemeClr val="bg1"/>
          </a:solidFill>
          <a:ln w="15875">
            <a:solidFill>
              <a:srgbClr val="D5DCE6"/>
            </a:solidFill>
            <a:prstDash val="solid"/>
          </a:ln>
        </p:spPr>
      </p:sp>
      <p:sp>
        <p:nvSpPr>
          <p:cNvPr id="26" name="Text 23"/>
          <p:cNvSpPr txBox="1"/>
          <p:nvPr/>
        </p:nvSpPr>
        <p:spPr>
          <a:xfrm>
            <a:off x="2514966" y="3154680"/>
            <a:ext cx="3587740" cy="640080"/>
          </a:xfrm>
          <a:prstGeom prst="rect">
            <a:avLst/>
          </a:prstGeom>
          <a:noFill/>
          <a:ln/>
        </p:spPr>
        <p:txBody>
          <a:bodyPr wrap="square" lIns="0" tIns="0" rIns="0" bIns="0" rtlCol="0" anchor="ctr"/>
          <a:lstStyle/>
          <a:p>
            <a:pPr algn="ctr" indent="0" marL="0">
              <a:buNone/>
            </a:pPr>
            <a:r>
              <a:rPr lang="en-US" sz="2100" dirty="0">
                <a:solidFill>
                  <a:schemeClr val="tx1"/>
                </a:solidFill>
              </a:rPr>
              <a:t>deze zomer naar Spanje</a:t>
            </a:r>
            <a:endParaRPr lang="en-US" sz="2100" dirty="0"/>
          </a:p>
        </p:txBody>
      </p:sp>
      <p:sp>
        <p:nvSpPr>
          <p:cNvPr id="27" name="Shape 24"/>
          <p:cNvSpPr/>
          <p:nvPr/>
        </p:nvSpPr>
        <p:spPr>
          <a:xfrm>
            <a:off x="6194146" y="3154680"/>
            <a:ext cx="1041502" cy="640080"/>
          </a:xfrm>
          <a:prstGeom prst="roundRect">
            <a:avLst>
              <a:gd name="adj" fmla="val 11429"/>
            </a:avLst>
          </a:prstGeom>
          <a:solidFill>
            <a:srgbClr val="FBEDEB"/>
          </a:solidFill>
          <a:ln w="25400">
            <a:solidFill>
              <a:srgbClr val="B83227"/>
            </a:solidFill>
            <a:prstDash val="dash"/>
          </a:ln>
        </p:spPr>
      </p:sp>
      <p:sp>
        <p:nvSpPr>
          <p:cNvPr id="28" name="Text 25"/>
          <p:cNvSpPr txBox="1"/>
          <p:nvPr/>
        </p:nvSpPr>
        <p:spPr>
          <a:xfrm>
            <a:off x="6194146" y="3154680"/>
            <a:ext cx="1041502" cy="640080"/>
          </a:xfrm>
          <a:prstGeom prst="rect">
            <a:avLst/>
          </a:prstGeom>
          <a:noFill/>
          <a:ln/>
        </p:spPr>
        <p:txBody>
          <a:bodyPr wrap="square" lIns="0" tIns="0" rIns="0" bIns="0" rtlCol="0" anchor="ctr"/>
          <a:lstStyle/>
          <a:p>
            <a:pPr algn="ctr" indent="0" marL="0">
              <a:buNone/>
            </a:pPr>
            <a:r>
              <a:rPr lang="en-US" sz="2100" b="1" dirty="0">
                <a:solidFill>
                  <a:schemeClr val="accent6"/>
                </a:solidFill>
              </a:rPr>
              <a:t>gaan.</a:t>
            </a:r>
            <a:endParaRPr lang="en-US" sz="2100" dirty="0"/>
          </a:p>
        </p:txBody>
      </p:sp>
      <p:sp>
        <p:nvSpPr>
          <p:cNvPr id="29" name="Shape 26"/>
          <p:cNvSpPr/>
          <p:nvPr/>
        </p:nvSpPr>
        <p:spPr>
          <a:xfrm>
            <a:off x="548640" y="3931920"/>
            <a:ext cx="592165" cy="640080"/>
          </a:xfrm>
          <a:prstGeom prst="roundRect">
            <a:avLst>
              <a:gd name="adj" fmla="val 12353"/>
            </a:avLst>
          </a:prstGeom>
          <a:solidFill>
            <a:schemeClr val="bg1"/>
          </a:solidFill>
          <a:ln w="15875">
            <a:solidFill>
              <a:srgbClr val="D5DCE6"/>
            </a:solidFill>
            <a:prstDash val="solid"/>
          </a:ln>
        </p:spPr>
      </p:sp>
      <p:sp>
        <p:nvSpPr>
          <p:cNvPr id="30" name="Text 27"/>
          <p:cNvSpPr txBox="1"/>
          <p:nvPr/>
        </p:nvSpPr>
        <p:spPr>
          <a:xfrm>
            <a:off x="548640" y="3931920"/>
            <a:ext cx="592165" cy="640080"/>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31" name="Shape 28"/>
          <p:cNvSpPr/>
          <p:nvPr/>
        </p:nvSpPr>
        <p:spPr>
          <a:xfrm>
            <a:off x="1232245" y="3931920"/>
            <a:ext cx="741944" cy="640080"/>
          </a:xfrm>
          <a:prstGeom prst="roundRect">
            <a:avLst>
              <a:gd name="adj" fmla="val 11429"/>
            </a:avLst>
          </a:prstGeom>
          <a:solidFill>
            <a:srgbClr val="FBEDEB"/>
          </a:solidFill>
          <a:ln w="31750">
            <a:solidFill>
              <a:srgbClr val="B83227"/>
            </a:solidFill>
            <a:prstDash val="solid"/>
          </a:ln>
        </p:spPr>
      </p:sp>
      <p:sp>
        <p:nvSpPr>
          <p:cNvPr id="32" name="Text 29"/>
          <p:cNvSpPr txBox="1"/>
          <p:nvPr/>
        </p:nvSpPr>
        <p:spPr>
          <a:xfrm>
            <a:off x="1232245" y="3931920"/>
            <a:ext cx="741944" cy="640080"/>
          </a:xfrm>
          <a:prstGeom prst="rect">
            <a:avLst/>
          </a:prstGeom>
          <a:noFill/>
          <a:ln/>
        </p:spPr>
        <p:txBody>
          <a:bodyPr wrap="square" lIns="0" tIns="0" rIns="0" bIns="0" rtlCol="0" anchor="ctr"/>
          <a:lstStyle/>
          <a:p>
            <a:pPr algn="ctr" indent="0" marL="0">
              <a:buNone/>
            </a:pPr>
            <a:r>
              <a:rPr lang="en-US" sz="2100" b="1" dirty="0">
                <a:solidFill>
                  <a:schemeClr val="accent6"/>
                </a:solidFill>
              </a:rPr>
              <a:t>kan</a:t>
            </a:r>
            <a:endParaRPr lang="en-US" sz="2100" dirty="0"/>
          </a:p>
        </p:txBody>
      </p:sp>
      <p:sp>
        <p:nvSpPr>
          <p:cNvPr id="33" name="Shape 30"/>
          <p:cNvSpPr/>
          <p:nvPr/>
        </p:nvSpPr>
        <p:spPr>
          <a:xfrm>
            <a:off x="2065630" y="3931920"/>
            <a:ext cx="1191280" cy="640080"/>
          </a:xfrm>
          <a:prstGeom prst="roundRect">
            <a:avLst>
              <a:gd name="adj" fmla="val 11429"/>
            </a:avLst>
          </a:prstGeom>
          <a:solidFill>
            <a:schemeClr val="bg1"/>
          </a:solidFill>
          <a:ln w="15875">
            <a:solidFill>
              <a:srgbClr val="D5DCE6"/>
            </a:solidFill>
            <a:prstDash val="solid"/>
          </a:ln>
        </p:spPr>
      </p:sp>
      <p:sp>
        <p:nvSpPr>
          <p:cNvPr id="34" name="Text 31"/>
          <p:cNvSpPr txBox="1"/>
          <p:nvPr/>
        </p:nvSpPr>
        <p:spPr>
          <a:xfrm>
            <a:off x="2065630" y="3931920"/>
            <a:ext cx="1191280" cy="640080"/>
          </a:xfrm>
          <a:prstGeom prst="rect">
            <a:avLst/>
          </a:prstGeom>
          <a:noFill/>
          <a:ln/>
        </p:spPr>
        <p:txBody>
          <a:bodyPr wrap="square" lIns="0" tIns="0" rIns="0" bIns="0" rtlCol="0" anchor="ctr"/>
          <a:lstStyle/>
          <a:p>
            <a:pPr algn="ctr" indent="0" marL="0">
              <a:buNone/>
            </a:pPr>
            <a:r>
              <a:rPr lang="en-US" sz="2100" dirty="0">
                <a:solidFill>
                  <a:schemeClr val="tx1"/>
                </a:solidFill>
              </a:rPr>
              <a:t>morgen</a:t>
            </a:r>
            <a:endParaRPr lang="en-US" sz="2100" dirty="0"/>
          </a:p>
        </p:txBody>
      </p:sp>
      <p:sp>
        <p:nvSpPr>
          <p:cNvPr id="35" name="Shape 32"/>
          <p:cNvSpPr/>
          <p:nvPr/>
        </p:nvSpPr>
        <p:spPr>
          <a:xfrm>
            <a:off x="3348350" y="3931920"/>
            <a:ext cx="891723" cy="640080"/>
          </a:xfrm>
          <a:prstGeom prst="roundRect">
            <a:avLst>
              <a:gd name="adj" fmla="val 11429"/>
            </a:avLst>
          </a:prstGeom>
          <a:solidFill>
            <a:schemeClr val="tx2"/>
          </a:solidFill>
          <a:ln w="12700">
            <a:solidFill>
              <a:srgbClr val="FFFFFF">
                <a:alpha val="0"/>
              </a:srgbClr>
            </a:solidFill>
            <a:prstDash val="solid"/>
          </a:ln>
        </p:spPr>
      </p:sp>
      <p:sp>
        <p:nvSpPr>
          <p:cNvPr id="36" name="Text 33"/>
          <p:cNvSpPr txBox="1"/>
          <p:nvPr/>
        </p:nvSpPr>
        <p:spPr>
          <a:xfrm>
            <a:off x="3348350" y="3931920"/>
            <a:ext cx="891723" cy="640080"/>
          </a:xfrm>
          <a:prstGeom prst="rect">
            <a:avLst/>
          </a:prstGeom>
          <a:noFill/>
          <a:ln/>
        </p:spPr>
        <p:txBody>
          <a:bodyPr wrap="square" lIns="0" tIns="0" rIns="0" bIns="0" rtlCol="0" anchor="ctr"/>
          <a:lstStyle/>
          <a:p>
            <a:pPr algn="ctr" indent="0" marL="0">
              <a:buNone/>
            </a:pPr>
            <a:r>
              <a:rPr lang="en-US" sz="2100" b="1" dirty="0">
                <a:solidFill>
                  <a:schemeClr val="bg1"/>
                </a:solidFill>
              </a:rPr>
              <a:t>niet</a:t>
            </a:r>
            <a:endParaRPr lang="en-US" sz="2100" dirty="0"/>
          </a:p>
        </p:txBody>
      </p:sp>
      <p:sp>
        <p:nvSpPr>
          <p:cNvPr id="37" name="Shape 34"/>
          <p:cNvSpPr/>
          <p:nvPr/>
        </p:nvSpPr>
        <p:spPr>
          <a:xfrm>
            <a:off x="4331513" y="3931920"/>
            <a:ext cx="1191280" cy="640080"/>
          </a:xfrm>
          <a:prstGeom prst="roundRect">
            <a:avLst>
              <a:gd name="adj" fmla="val 11429"/>
            </a:avLst>
          </a:prstGeom>
          <a:solidFill>
            <a:srgbClr val="FBEDEB"/>
          </a:solidFill>
          <a:ln w="25400">
            <a:solidFill>
              <a:srgbClr val="B83227"/>
            </a:solidFill>
            <a:prstDash val="dash"/>
          </a:ln>
        </p:spPr>
      </p:sp>
      <p:sp>
        <p:nvSpPr>
          <p:cNvPr id="38" name="Text 35"/>
          <p:cNvSpPr txBox="1"/>
          <p:nvPr/>
        </p:nvSpPr>
        <p:spPr>
          <a:xfrm>
            <a:off x="4331513" y="3931920"/>
            <a:ext cx="1191280" cy="640080"/>
          </a:xfrm>
          <a:prstGeom prst="rect">
            <a:avLst/>
          </a:prstGeom>
          <a:noFill/>
          <a:ln/>
        </p:spPr>
        <p:txBody>
          <a:bodyPr wrap="square" lIns="0" tIns="0" rIns="0" bIns="0" rtlCol="0" anchor="ctr"/>
          <a:lstStyle/>
          <a:p>
            <a:pPr algn="ctr" indent="0" marL="0">
              <a:buNone/>
            </a:pPr>
            <a:r>
              <a:rPr lang="en-US" sz="2100" b="1" dirty="0">
                <a:solidFill>
                  <a:schemeClr val="accent6"/>
                </a:solidFill>
              </a:rPr>
              <a:t>komen.</a:t>
            </a:r>
            <a:endParaRPr lang="en-US" sz="2100" dirty="0"/>
          </a:p>
        </p:txBody>
      </p:sp>
      <p:sp>
        <p:nvSpPr>
          <p:cNvPr id="39" name="Shape 36"/>
          <p:cNvSpPr/>
          <p:nvPr/>
        </p:nvSpPr>
        <p:spPr>
          <a:xfrm>
            <a:off x="548640" y="4709160"/>
            <a:ext cx="1041502" cy="640080"/>
          </a:xfrm>
          <a:prstGeom prst="roundRect">
            <a:avLst>
              <a:gd name="adj" fmla="val 11429"/>
            </a:avLst>
          </a:prstGeom>
          <a:solidFill>
            <a:schemeClr val="bg1"/>
          </a:solidFill>
          <a:ln w="15875">
            <a:solidFill>
              <a:srgbClr val="D5DCE6"/>
            </a:solidFill>
            <a:prstDash val="solid"/>
          </a:ln>
        </p:spPr>
      </p:sp>
      <p:sp>
        <p:nvSpPr>
          <p:cNvPr id="40" name="Text 37"/>
          <p:cNvSpPr txBox="1"/>
          <p:nvPr/>
        </p:nvSpPr>
        <p:spPr>
          <a:xfrm>
            <a:off x="548640" y="4709160"/>
            <a:ext cx="1041502" cy="640080"/>
          </a:xfrm>
          <a:prstGeom prst="rect">
            <a:avLst/>
          </a:prstGeom>
          <a:noFill/>
          <a:ln/>
        </p:spPr>
        <p:txBody>
          <a:bodyPr wrap="square" lIns="0" tIns="0" rIns="0" bIns="0" rtlCol="0" anchor="ctr"/>
          <a:lstStyle/>
          <a:p>
            <a:pPr algn="ctr" indent="0" marL="0">
              <a:buNone/>
            </a:pPr>
            <a:r>
              <a:rPr lang="en-US" sz="2100" dirty="0">
                <a:solidFill>
                  <a:schemeClr val="tx1"/>
                </a:solidFill>
              </a:rPr>
              <a:t>Sofie</a:t>
            </a:r>
            <a:endParaRPr lang="en-US" sz="2100" dirty="0"/>
          </a:p>
        </p:txBody>
      </p:sp>
      <p:sp>
        <p:nvSpPr>
          <p:cNvPr id="41" name="Shape 38"/>
          <p:cNvSpPr/>
          <p:nvPr/>
        </p:nvSpPr>
        <p:spPr>
          <a:xfrm>
            <a:off x="1681582" y="4709160"/>
            <a:ext cx="891723" cy="640080"/>
          </a:xfrm>
          <a:prstGeom prst="roundRect">
            <a:avLst>
              <a:gd name="adj" fmla="val 11429"/>
            </a:avLst>
          </a:prstGeom>
          <a:solidFill>
            <a:srgbClr val="FBEDEB"/>
          </a:solidFill>
          <a:ln w="31750">
            <a:solidFill>
              <a:srgbClr val="B83227"/>
            </a:solidFill>
            <a:prstDash val="solid"/>
          </a:ln>
        </p:spPr>
      </p:sp>
      <p:sp>
        <p:nvSpPr>
          <p:cNvPr id="42" name="Text 39"/>
          <p:cNvSpPr txBox="1"/>
          <p:nvPr/>
        </p:nvSpPr>
        <p:spPr>
          <a:xfrm>
            <a:off x="1681582" y="4709160"/>
            <a:ext cx="891723" cy="640080"/>
          </a:xfrm>
          <a:prstGeom prst="rect">
            <a:avLst/>
          </a:prstGeom>
          <a:noFill/>
          <a:ln/>
        </p:spPr>
        <p:txBody>
          <a:bodyPr wrap="square" lIns="0" tIns="0" rIns="0" bIns="0" rtlCol="0" anchor="ctr"/>
          <a:lstStyle/>
          <a:p>
            <a:pPr algn="ctr" indent="0" marL="0">
              <a:buNone/>
            </a:pPr>
            <a:r>
              <a:rPr lang="en-US" sz="2100" b="1" dirty="0">
                <a:solidFill>
                  <a:schemeClr val="accent6"/>
                </a:solidFill>
              </a:rPr>
              <a:t>moet</a:t>
            </a:r>
            <a:endParaRPr lang="en-US" sz="2100" dirty="0"/>
          </a:p>
        </p:txBody>
      </p:sp>
      <p:sp>
        <p:nvSpPr>
          <p:cNvPr id="43" name="Shape 40"/>
          <p:cNvSpPr/>
          <p:nvPr/>
        </p:nvSpPr>
        <p:spPr>
          <a:xfrm>
            <a:off x="2664744" y="4709160"/>
            <a:ext cx="1490838" cy="640080"/>
          </a:xfrm>
          <a:prstGeom prst="roundRect">
            <a:avLst>
              <a:gd name="adj" fmla="val 11429"/>
            </a:avLst>
          </a:prstGeom>
          <a:solidFill>
            <a:schemeClr val="bg1"/>
          </a:solidFill>
          <a:ln w="15875">
            <a:solidFill>
              <a:srgbClr val="D5DCE6"/>
            </a:solidFill>
            <a:prstDash val="solid"/>
          </a:ln>
        </p:spPr>
      </p:sp>
      <p:sp>
        <p:nvSpPr>
          <p:cNvPr id="44" name="Text 41"/>
          <p:cNvSpPr txBox="1"/>
          <p:nvPr/>
        </p:nvSpPr>
        <p:spPr>
          <a:xfrm>
            <a:off x="2664744" y="4709160"/>
            <a:ext cx="1490838" cy="640080"/>
          </a:xfrm>
          <a:prstGeom prst="rect">
            <a:avLst/>
          </a:prstGeom>
          <a:noFill/>
          <a:ln/>
        </p:spPr>
        <p:txBody>
          <a:bodyPr wrap="square" lIns="0" tIns="0" rIns="0" bIns="0" rtlCol="0" anchor="ctr"/>
          <a:lstStyle/>
          <a:p>
            <a:pPr algn="ctr" indent="0" marL="0">
              <a:buNone/>
            </a:pPr>
            <a:r>
              <a:rPr lang="en-US" sz="2100" dirty="0">
                <a:solidFill>
                  <a:schemeClr val="tx1"/>
                </a:solidFill>
              </a:rPr>
              <a:t>de klant</a:t>
            </a:r>
            <a:endParaRPr lang="en-US" sz="2100" dirty="0"/>
          </a:p>
        </p:txBody>
      </p:sp>
      <p:sp>
        <p:nvSpPr>
          <p:cNvPr id="45" name="Shape 42"/>
          <p:cNvSpPr/>
          <p:nvPr/>
        </p:nvSpPr>
        <p:spPr>
          <a:xfrm>
            <a:off x="4247022" y="4709160"/>
            <a:ext cx="1640616" cy="640080"/>
          </a:xfrm>
          <a:prstGeom prst="roundRect">
            <a:avLst>
              <a:gd name="adj" fmla="val 11429"/>
            </a:avLst>
          </a:prstGeom>
          <a:solidFill>
            <a:srgbClr val="FDF1E6"/>
          </a:solidFill>
          <a:ln w="25400">
            <a:solidFill>
              <a:srgbClr val="D9700F"/>
            </a:solidFill>
            <a:prstDash val="dash"/>
          </a:ln>
        </p:spPr>
      </p:sp>
      <p:sp>
        <p:nvSpPr>
          <p:cNvPr id="46" name="Text 43"/>
          <p:cNvSpPr txBox="1"/>
          <p:nvPr/>
        </p:nvSpPr>
        <p:spPr>
          <a:xfrm>
            <a:off x="4247022" y="4709160"/>
            <a:ext cx="1640616" cy="640080"/>
          </a:xfrm>
          <a:prstGeom prst="rect">
            <a:avLst/>
          </a:prstGeom>
          <a:noFill/>
          <a:ln/>
        </p:spPr>
        <p:txBody>
          <a:bodyPr wrap="square" lIns="0" tIns="0" rIns="0" bIns="0" rtlCol="0" anchor="ctr"/>
          <a:lstStyle/>
          <a:p>
            <a:pPr algn="ctr" indent="0" marL="0">
              <a:buNone/>
            </a:pPr>
            <a:r>
              <a:rPr lang="en-US" sz="2100" b="1" dirty="0">
                <a:solidFill>
                  <a:schemeClr val="accent6"/>
                </a:solidFill>
              </a:rPr>
              <a:t>opbellen.</a:t>
            </a:r>
            <a:endParaRPr lang="en-US" sz="2100" dirty="0"/>
          </a:p>
        </p:txBody>
      </p:sp>
      <p:sp>
        <p:nvSpPr>
          <p:cNvPr id="47" name="Shape 44"/>
          <p:cNvSpPr/>
          <p:nvPr/>
        </p:nvSpPr>
        <p:spPr>
          <a:xfrm>
            <a:off x="8595360" y="1600200"/>
            <a:ext cx="3044952" cy="3794760"/>
          </a:xfrm>
          <a:prstGeom prst="roundRect">
            <a:avLst>
              <a:gd name="adj" fmla="val 300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8" name="Shape 45"/>
          <p:cNvSpPr/>
          <p:nvPr/>
        </p:nvSpPr>
        <p:spPr>
          <a:xfrm>
            <a:off x="8778240" y="1764792"/>
            <a:ext cx="566928" cy="566928"/>
          </a:xfrm>
          <a:prstGeom prst="ellipse">
            <a:avLst/>
          </a:prstGeom>
          <a:solidFill>
            <a:schemeClr val="accent1"/>
          </a:solidFill>
          <a:ln w="12700">
            <a:solidFill>
              <a:srgbClr val="FFFFFF">
                <a:alpha val="0"/>
              </a:srgbClr>
            </a:solidFill>
            <a:prstDash val="solid"/>
          </a:ln>
        </p:spPr>
      </p:sp>
      <p:pic>
        <p:nvPicPr>
          <p:cNvPr id="49" name="Image 0" descr="Lightbulb">    </p:cNvPr>
          <p:cNvPicPr>
            <a:picLocks noChangeAspect="1"/>
          </p:cNvPicPr>
          <p:nvPr/>
        </p:nvPicPr>
        <p:blipFill>
          <a:blip r:embed="rId1"/>
          <a:stretch>
            <a:fillRect/>
          </a:stretch>
        </p:blipFill>
        <p:spPr>
          <a:xfrm>
            <a:off x="8914303" y="1900855"/>
            <a:ext cx="294803" cy="294803"/>
          </a:xfrm>
          <a:prstGeom prst="rect">
            <a:avLst/>
          </a:prstGeom>
        </p:spPr>
      </p:pic>
      <p:sp>
        <p:nvSpPr>
          <p:cNvPr id="50" name="Text 46"/>
          <p:cNvSpPr txBox="1"/>
          <p:nvPr/>
        </p:nvSpPr>
        <p:spPr>
          <a:xfrm>
            <a:off x="9491472" y="1746504"/>
            <a:ext cx="2011680" cy="603504"/>
          </a:xfrm>
          <a:prstGeom prst="rect">
            <a:avLst/>
          </a:prstGeom>
          <a:noFill/>
          <a:ln/>
        </p:spPr>
        <p:txBody>
          <a:bodyPr wrap="square" lIns="0" tIns="0" rIns="0" bIns="0" rtlCol="0" anchor="ctr"/>
          <a:lstStyle/>
          <a:p>
            <a:pPr algn="l" indent="0" marL="0">
              <a:buNone/>
            </a:pPr>
            <a:r>
              <a:rPr lang="en-US" sz="1900" b="1" dirty="0">
                <a:solidFill>
                  <a:schemeClr val="accent1"/>
                </a:solidFill>
              </a:rPr>
              <a:t>Repères</a:t>
            </a:r>
            <a:endParaRPr lang="en-US" sz="1900" dirty="0"/>
          </a:p>
        </p:txBody>
      </p:sp>
      <p:sp>
        <p:nvSpPr>
          <p:cNvPr id="51" name="Text 47"/>
          <p:cNvSpPr txBox="1"/>
          <p:nvPr/>
        </p:nvSpPr>
        <p:spPr>
          <a:xfrm>
            <a:off x="8796528" y="2468880"/>
            <a:ext cx="2642616" cy="2816352"/>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②</a:t>
            </a:r>
            <a:r>
              <a:rPr lang="en-US" sz="1600" dirty="0">
                <a:solidFill>
                  <a:schemeClr val="tx1"/>
                </a:solidFill>
              </a:rPr>
              <a:t> modal · </a:t>
            </a:r>
            <a:r>
              <a:rPr lang="en-US" sz="1600" b="1" dirty="0">
                <a:solidFill>
                  <a:schemeClr val="tx1"/>
                </a:solidFill>
              </a:rPr>
              <a:t>⑥</a:t>
            </a:r>
            <a:r>
              <a:rPr lang="en-US" sz="1600" dirty="0">
                <a:solidFill>
                  <a:schemeClr val="tx1"/>
                </a:solidFill>
              </a:rPr>
              <a:t> infinitif</a:t>
            </a:r>
            <a:endParaRPr lang="en-US" sz="1600" dirty="0"/>
          </a:p>
          <a:p>
            <a:pPr algn="l" indent="0" marL="0">
              <a:spcAft>
                <a:spcPts val="1000"/>
              </a:spcAft>
              <a:buNone/>
            </a:pPr>
            <a:r>
              <a:rPr lang="en-US" sz="1600" b="1" dirty="0">
                <a:solidFill>
                  <a:schemeClr val="tx2"/>
                </a:solidFill>
              </a:rPr>
              <a:t>niet</a:t>
            </a:r>
            <a:r>
              <a:rPr lang="en-US" sz="1600" dirty="0">
                <a:solidFill>
                  <a:schemeClr val="tx1"/>
                </a:solidFill>
              </a:rPr>
              <a:t> juste avant l’infinitif (M13)</a:t>
            </a:r>
            <a:endParaRPr lang="en-US" sz="1600" dirty="0"/>
          </a:p>
          <a:p>
            <a:pPr algn="l" indent="0" marL="0">
              <a:spcAft>
                <a:spcPts val="1000"/>
              </a:spcAft>
              <a:buNone/>
            </a:pPr>
            <a:r>
              <a:rPr lang="en-US" sz="1600" b="1" dirty="0">
                <a:solidFill>
                  <a:schemeClr val="accent1"/>
                </a:solidFill>
              </a:rPr>
              <a:t>opbellen</a:t>
            </a:r>
            <a:r>
              <a:rPr lang="en-US" sz="1600" dirty="0">
                <a:solidFill>
                  <a:schemeClr val="tx1"/>
                </a:solidFill>
              </a:rPr>
              <a:t> : la particule se </a:t>
            </a:r>
            <a:r>
              <a:rPr lang="en-US" sz="1600" b="1" dirty="0">
                <a:solidFill>
                  <a:schemeClr val="tx1"/>
                </a:solidFill>
              </a:rPr>
              <a:t>recolle</a:t>
            </a:r>
            <a:r>
              <a:rPr lang="en-US" sz="1600" dirty="0">
                <a:solidFill>
                  <a:schemeClr val="tx1"/>
                </a:solidFill>
              </a:rPr>
              <a:t> (M11)</a:t>
            </a:r>
            <a:endParaRPr lang="en-US" sz="1600" dirty="0"/>
          </a:p>
        </p:txBody>
      </p:sp>
      <p:sp>
        <p:nvSpPr>
          <p:cNvPr id="52" name="Shape 48"/>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53" name="Text 49"/>
          <p:cNvSpPr txBox="1"/>
          <p:nvPr/>
        </p:nvSpPr>
        <p:spPr>
          <a:xfrm>
            <a:off x="822960" y="562356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FR : « Je </a:t>
            </a:r>
            <a:r>
              <a:rPr lang="en-US" sz="1800" b="1" dirty="0">
                <a:solidFill>
                  <a:schemeClr val="bg1"/>
                </a:solidFill>
              </a:rPr>
              <a:t>dois partir</a:t>
            </a:r>
            <a:r>
              <a:rPr lang="en-US" sz="1800" dirty="0">
                <a:solidFill>
                  <a:schemeClr val="bg1"/>
                </a:solidFill>
              </a:rPr>
              <a:t> demain. » (collés) → NL : </a:t>
            </a:r>
            <a:r>
              <a:rPr lang="en-US" sz="1800" i="1" dirty="0">
                <a:solidFill>
                  <a:schemeClr val="bg1"/>
                </a:solidFill>
              </a:rPr>
              <a:t>Ik </a:t>
            </a:r>
            <a:r>
              <a:rPr lang="en-US" sz="1800" b="1" i="1" dirty="0">
                <a:solidFill>
                  <a:schemeClr val="bg1"/>
                </a:solidFill>
              </a:rPr>
              <a:t>moet</a:t>
            </a:r>
            <a:r>
              <a:rPr lang="en-US" sz="1800" i="1" dirty="0">
                <a:solidFill>
                  <a:schemeClr val="bg1"/>
                </a:solidFill>
              </a:rPr>
              <a:t> morgen </a:t>
            </a:r>
            <a:r>
              <a:rPr lang="en-US" sz="1800" b="1" i="1" dirty="0">
                <a:solidFill>
                  <a:schemeClr val="bg1"/>
                </a:solidFill>
              </a:rPr>
              <a:t>vertrekken</a:t>
            </a:r>
            <a:r>
              <a:rPr lang="en-US" sz="1800" i="1" dirty="0">
                <a:solidFill>
                  <a:schemeClr val="bg1"/>
                </a:solidFill>
              </a:rPr>
              <a:t>.</a:t>
            </a:r>
            <a:r>
              <a:rPr lang="en-US" sz="1800" dirty="0">
                <a:solidFill>
                  <a:schemeClr val="bg1"/>
                </a:solidFill>
              </a:rPr>
              <a:t> (séparés)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Demander poliment</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tag"/>
          <p:cNvSpPr/>
          <p:nvPr/>
        </p:nvSpPr>
        <p:spPr>
          <a:xfrm>
            <a:off x="548640" y="1600200"/>
            <a:ext cx="2579522" cy="329184"/>
          </a:xfrm>
          <a:prstGeom prst="roundRect">
            <a:avLst>
              <a:gd name="adj" fmla="val 13889"/>
            </a:avLst>
          </a:prstGeom>
          <a:solidFill>
            <a:schemeClr val="accent2"/>
          </a:solidFill>
          <a:ln/>
        </p:spPr>
        <p:txBody>
          <a:bodyPr wrap="square" lIns="0" tIns="0" rIns="0" bIns="0" rtlCol="0" anchor="ctr"/>
          <a:lstStyle/>
          <a:p>
            <a:pPr algn="ctr" indent="0" marL="0">
              <a:buNone/>
            </a:pPr>
            <a:r>
              <a:rPr lang="en-US" sz="1300" b="1" spc="100" kern="0" dirty="0">
                <a:solidFill>
                  <a:srgbClr val="FFFFFF"/>
                </a:solidFill>
              </a:rPr>
              <a:t>Demander de l’aide</a:t>
            </a:r>
            <a:endParaRPr lang="en-US" sz="1300" dirty="0"/>
          </a:p>
        </p:txBody>
      </p:sp>
      <p:sp>
        <p:nvSpPr>
          <p:cNvPr id="6" name="Shape 3"/>
          <p:cNvSpPr/>
          <p:nvPr/>
        </p:nvSpPr>
        <p:spPr>
          <a:xfrm>
            <a:off x="548640" y="2057400"/>
            <a:ext cx="5440680" cy="1417320"/>
          </a:xfrm>
          <a:prstGeom prst="roundRect">
            <a:avLst>
              <a:gd name="adj" fmla="val 16129"/>
            </a:avLst>
          </a:prstGeom>
          <a:solidFill>
            <a:schemeClr val="accent2">
              <a:alpha val="12000"/>
            </a:schemeClr>
          </a:solidFill>
          <a:ln w="19050">
            <a:solidFill>
              <a:srgbClr val="2A6FB0"/>
            </a:solidFill>
            <a:prstDash val="solid"/>
          </a:ln>
        </p:spPr>
      </p:sp>
      <p:pic>
        <p:nvPicPr>
          <p:cNvPr id="7" name="Image 0" descr="flexed biceps">    </p:cNvPr>
          <p:cNvPicPr>
            <a:picLocks noChangeAspect="1"/>
          </p:cNvPicPr>
          <p:nvPr/>
        </p:nvPicPr>
        <p:blipFill>
          <a:blip r:embed="rId1"/>
          <a:stretch>
            <a:fillRect/>
          </a:stretch>
        </p:blipFill>
        <p:spPr>
          <a:xfrm>
            <a:off x="731520" y="2350008"/>
            <a:ext cx="822960" cy="822960"/>
          </a:xfrm>
          <a:prstGeom prst="rect">
            <a:avLst/>
          </a:prstGeom>
        </p:spPr>
      </p:pic>
      <p:sp>
        <p:nvSpPr>
          <p:cNvPr id="8" name="Text 4"/>
          <p:cNvSpPr txBox="1"/>
          <p:nvPr/>
        </p:nvSpPr>
        <p:spPr>
          <a:xfrm>
            <a:off x="1737360" y="2057400"/>
            <a:ext cx="4114800" cy="1417320"/>
          </a:xfrm>
          <a:prstGeom prst="rect">
            <a:avLst/>
          </a:prstGeom>
          <a:noFill/>
          <a:ln/>
        </p:spPr>
        <p:txBody>
          <a:bodyPr wrap="square" lIns="0" tIns="0" rIns="0" bIns="0" rtlCol="0" anchor="ctr"/>
          <a:lstStyle/>
          <a:p>
            <a:pPr algn="l" indent="0" marL="0">
              <a:buNone/>
            </a:pPr>
            <a:r>
              <a:rPr lang="en-US" sz="2300" b="1" i="1" dirty="0">
                <a:solidFill>
                  <a:schemeClr val="tx1"/>
                </a:solidFill>
              </a:rPr>
              <a:t>Kunt</a:t>
            </a:r>
            <a:r>
              <a:rPr lang="en-US" sz="2300" i="1" dirty="0">
                <a:solidFill>
                  <a:schemeClr val="tx1"/>
                </a:solidFill>
              </a:rPr>
              <a:t> u me </a:t>
            </a:r>
            <a:r>
              <a:rPr lang="en-US" sz="2300" b="1" i="1" dirty="0">
                <a:solidFill>
                  <a:schemeClr val="tx1"/>
                </a:solidFill>
              </a:rPr>
              <a:t>helpen</a:t>
            </a:r>
            <a:r>
              <a:rPr lang="en-US" sz="2300" i="1" dirty="0">
                <a:solidFill>
                  <a:schemeClr val="tx1"/>
                </a:solidFill>
              </a:rPr>
              <a:t>?</a:t>
            </a:r>
            <a:endParaRPr lang="en-US" sz="2300" dirty="0"/>
          </a:p>
        </p:txBody>
      </p:sp>
      <p:sp>
        <p:nvSpPr>
          <p:cNvPr id="9" name="tag"/>
          <p:cNvSpPr/>
          <p:nvPr/>
        </p:nvSpPr>
        <p:spPr>
          <a:xfrm>
            <a:off x="6199632" y="1600200"/>
            <a:ext cx="2937358" cy="329184"/>
          </a:xfrm>
          <a:prstGeom prst="roundRect">
            <a:avLst>
              <a:gd name="adj" fmla="val 13889"/>
            </a:avLst>
          </a:prstGeom>
          <a:solidFill>
            <a:schemeClr val="accent3"/>
          </a:solidFill>
          <a:ln/>
        </p:spPr>
        <p:txBody>
          <a:bodyPr wrap="square" lIns="0" tIns="0" rIns="0" bIns="0" rtlCol="0" anchor="ctr"/>
          <a:lstStyle/>
          <a:p>
            <a:pPr algn="ctr" indent="0" marL="0">
              <a:buNone/>
            </a:pPr>
            <a:r>
              <a:rPr lang="en-US" sz="1300" b="1" spc="100" kern="0" dirty="0">
                <a:solidFill>
                  <a:srgbClr val="FFFFFF"/>
                </a:solidFill>
              </a:rPr>
              <a:t>Demander la permission</a:t>
            </a:r>
            <a:endParaRPr lang="en-US" sz="1300" dirty="0"/>
          </a:p>
        </p:txBody>
      </p:sp>
      <p:sp>
        <p:nvSpPr>
          <p:cNvPr id="10" name="Shape 6"/>
          <p:cNvSpPr/>
          <p:nvPr/>
        </p:nvSpPr>
        <p:spPr>
          <a:xfrm>
            <a:off x="6199632" y="2057400"/>
            <a:ext cx="5440680" cy="1417320"/>
          </a:xfrm>
          <a:prstGeom prst="roundRect">
            <a:avLst>
              <a:gd name="adj" fmla="val 16129"/>
            </a:avLst>
          </a:prstGeom>
          <a:solidFill>
            <a:schemeClr val="accent3">
              <a:alpha val="12000"/>
            </a:schemeClr>
          </a:solidFill>
          <a:ln w="19050">
            <a:solidFill>
              <a:srgbClr val="2E7D4F"/>
            </a:solidFill>
            <a:prstDash val="solid"/>
          </a:ln>
        </p:spPr>
      </p:sp>
      <p:pic>
        <p:nvPicPr>
          <p:cNvPr id="11" name="Image 1" descr="check mark button">    </p:cNvPr>
          <p:cNvPicPr>
            <a:picLocks noChangeAspect="1"/>
          </p:cNvPicPr>
          <p:nvPr/>
        </p:nvPicPr>
        <p:blipFill>
          <a:blip r:embed="rId2"/>
          <a:stretch>
            <a:fillRect/>
          </a:stretch>
        </p:blipFill>
        <p:spPr>
          <a:xfrm>
            <a:off x="6382512" y="2350008"/>
            <a:ext cx="822960" cy="822960"/>
          </a:xfrm>
          <a:prstGeom prst="rect">
            <a:avLst/>
          </a:prstGeom>
        </p:spPr>
      </p:pic>
      <p:sp>
        <p:nvSpPr>
          <p:cNvPr id="12" name="Text 7"/>
          <p:cNvSpPr txBox="1"/>
          <p:nvPr/>
        </p:nvSpPr>
        <p:spPr>
          <a:xfrm>
            <a:off x="7388352" y="2057400"/>
            <a:ext cx="4114800" cy="1417320"/>
          </a:xfrm>
          <a:prstGeom prst="rect">
            <a:avLst/>
          </a:prstGeom>
          <a:noFill/>
          <a:ln/>
        </p:spPr>
        <p:txBody>
          <a:bodyPr wrap="square" lIns="0" tIns="0" rIns="0" bIns="0" rtlCol="0" anchor="ctr"/>
          <a:lstStyle/>
          <a:p>
            <a:pPr algn="l" indent="0" marL="0">
              <a:buNone/>
            </a:pPr>
            <a:r>
              <a:rPr lang="en-US" sz="2300" b="1" i="1" dirty="0">
                <a:solidFill>
                  <a:schemeClr val="tx1"/>
                </a:solidFill>
              </a:rPr>
              <a:t>Mag</a:t>
            </a:r>
            <a:r>
              <a:rPr lang="en-US" sz="2300" i="1" dirty="0">
                <a:solidFill>
                  <a:schemeClr val="tx1"/>
                </a:solidFill>
              </a:rPr>
              <a:t> ik het raam </a:t>
            </a:r>
            <a:r>
              <a:rPr lang="en-US" sz="2300" b="1" i="1" dirty="0">
                <a:solidFill>
                  <a:schemeClr val="tx1"/>
                </a:solidFill>
              </a:rPr>
              <a:t>opendoen</a:t>
            </a:r>
            <a:r>
              <a:rPr lang="en-US" sz="2300" i="1" dirty="0">
                <a:solidFill>
                  <a:schemeClr val="tx1"/>
                </a:solidFill>
              </a:rPr>
              <a:t>?</a:t>
            </a:r>
            <a:endParaRPr lang="en-US" sz="2300" dirty="0"/>
          </a:p>
        </p:txBody>
      </p:sp>
      <p:sp>
        <p:nvSpPr>
          <p:cNvPr id="13" name="tag"/>
          <p:cNvSpPr/>
          <p:nvPr/>
        </p:nvSpPr>
        <p:spPr>
          <a:xfrm>
            <a:off x="548640" y="3749040"/>
            <a:ext cx="1067105" cy="329184"/>
          </a:xfrm>
          <a:prstGeom prst="roundRect">
            <a:avLst>
              <a:gd name="adj" fmla="val 13889"/>
            </a:avLst>
          </a:prstGeom>
          <a:solidFill>
            <a:schemeClr val="accent4"/>
          </a:solidFill>
          <a:ln/>
        </p:spPr>
        <p:txBody>
          <a:bodyPr wrap="square" lIns="0" tIns="0" rIns="0" bIns="0" rtlCol="0" anchor="ctr"/>
          <a:lstStyle/>
          <a:p>
            <a:pPr algn="ctr" indent="0" marL="0">
              <a:buNone/>
            </a:pPr>
            <a:r>
              <a:rPr lang="en-US" sz="1300" b="1" spc="100" kern="0" dirty="0">
                <a:solidFill>
                  <a:srgbClr val="FFFFFF"/>
                </a:solidFill>
              </a:rPr>
              <a:t>Offrir</a:t>
            </a:r>
            <a:endParaRPr lang="en-US" sz="1300" dirty="0"/>
          </a:p>
        </p:txBody>
      </p:sp>
      <p:sp>
        <p:nvSpPr>
          <p:cNvPr id="14" name="Shape 9"/>
          <p:cNvSpPr/>
          <p:nvPr/>
        </p:nvSpPr>
        <p:spPr>
          <a:xfrm>
            <a:off x="548640" y="4206240"/>
            <a:ext cx="5440680" cy="1417320"/>
          </a:xfrm>
          <a:prstGeom prst="roundRect">
            <a:avLst>
              <a:gd name="adj" fmla="val 16129"/>
            </a:avLst>
          </a:prstGeom>
          <a:solidFill>
            <a:schemeClr val="accent4">
              <a:alpha val="12000"/>
            </a:schemeClr>
          </a:solidFill>
          <a:ln w="19050">
            <a:solidFill>
              <a:srgbClr val="B4236A"/>
            </a:solidFill>
            <a:prstDash val="solid"/>
          </a:ln>
        </p:spPr>
      </p:sp>
      <p:pic>
        <p:nvPicPr>
          <p:cNvPr id="15" name="Image 2" descr="red heart">    </p:cNvPr>
          <p:cNvPicPr>
            <a:picLocks noChangeAspect="1"/>
          </p:cNvPicPr>
          <p:nvPr/>
        </p:nvPicPr>
        <p:blipFill>
          <a:blip r:embed="rId3"/>
          <a:stretch>
            <a:fillRect/>
          </a:stretch>
        </p:blipFill>
        <p:spPr>
          <a:xfrm>
            <a:off x="731520" y="4498848"/>
            <a:ext cx="822960" cy="822960"/>
          </a:xfrm>
          <a:prstGeom prst="rect">
            <a:avLst/>
          </a:prstGeom>
        </p:spPr>
      </p:pic>
      <p:sp>
        <p:nvSpPr>
          <p:cNvPr id="16" name="Text 10"/>
          <p:cNvSpPr txBox="1"/>
          <p:nvPr/>
        </p:nvSpPr>
        <p:spPr>
          <a:xfrm>
            <a:off x="1737360" y="4206240"/>
            <a:ext cx="4114800" cy="1417320"/>
          </a:xfrm>
          <a:prstGeom prst="rect">
            <a:avLst/>
          </a:prstGeom>
          <a:noFill/>
          <a:ln/>
        </p:spPr>
        <p:txBody>
          <a:bodyPr wrap="square" lIns="0" tIns="0" rIns="0" bIns="0" rtlCol="0" anchor="ctr"/>
          <a:lstStyle/>
          <a:p>
            <a:pPr algn="l" indent="0" marL="0">
              <a:buNone/>
            </a:pPr>
            <a:r>
              <a:rPr lang="en-US" sz="2300" b="1" i="1" dirty="0">
                <a:solidFill>
                  <a:schemeClr val="tx1"/>
                </a:solidFill>
              </a:rPr>
              <a:t>Wilt</a:t>
            </a:r>
            <a:r>
              <a:rPr lang="en-US" sz="2300" i="1" dirty="0">
                <a:solidFill>
                  <a:schemeClr val="tx1"/>
                </a:solidFill>
              </a:rPr>
              <a:t> u een koffie?</a:t>
            </a:r>
            <a:endParaRPr lang="en-US" sz="2300" dirty="0"/>
          </a:p>
        </p:txBody>
      </p:sp>
      <p:sp>
        <p:nvSpPr>
          <p:cNvPr id="17" name="tag"/>
          <p:cNvSpPr/>
          <p:nvPr/>
        </p:nvSpPr>
        <p:spPr>
          <a:xfrm>
            <a:off x="6199632" y="3749040"/>
            <a:ext cx="1417777" cy="329184"/>
          </a:xfrm>
          <a:prstGeom prst="roundRect">
            <a:avLst>
              <a:gd name="adj" fmla="val 13889"/>
            </a:avLst>
          </a:prstGeom>
          <a:solidFill>
            <a:schemeClr val="accent4"/>
          </a:solidFill>
          <a:ln/>
        </p:spPr>
        <p:txBody>
          <a:bodyPr wrap="square" lIns="0" tIns="0" rIns="0" bIns="0" rtlCol="0" anchor="ctr"/>
          <a:lstStyle/>
          <a:p>
            <a:pPr algn="ctr" indent="0" marL="0">
              <a:buNone/>
            </a:pPr>
            <a:r>
              <a:rPr lang="en-US" sz="1300" b="1" spc="100" kern="0" dirty="0">
                <a:solidFill>
                  <a:srgbClr val="FFFFFF"/>
                </a:solidFill>
              </a:rPr>
              <a:t>Commander</a:t>
            </a:r>
            <a:endParaRPr lang="en-US" sz="1300" dirty="0"/>
          </a:p>
        </p:txBody>
      </p:sp>
      <p:sp>
        <p:nvSpPr>
          <p:cNvPr id="18" name="Shape 12"/>
          <p:cNvSpPr/>
          <p:nvPr/>
        </p:nvSpPr>
        <p:spPr>
          <a:xfrm>
            <a:off x="6199632" y="4206240"/>
            <a:ext cx="5440680" cy="1417320"/>
          </a:xfrm>
          <a:prstGeom prst="roundRect">
            <a:avLst>
              <a:gd name="adj" fmla="val 16129"/>
            </a:avLst>
          </a:prstGeom>
          <a:solidFill>
            <a:schemeClr val="accent4">
              <a:alpha val="12000"/>
            </a:schemeClr>
          </a:solidFill>
          <a:ln w="19050">
            <a:solidFill>
              <a:srgbClr val="B4236A"/>
            </a:solidFill>
            <a:prstDash val="solid"/>
          </a:ln>
        </p:spPr>
      </p:sp>
      <p:pic>
        <p:nvPicPr>
          <p:cNvPr id="19" name="Image 3" descr="red heart">    </p:cNvPr>
          <p:cNvPicPr>
            <a:picLocks noChangeAspect="1"/>
          </p:cNvPicPr>
          <p:nvPr/>
        </p:nvPicPr>
        <p:blipFill>
          <a:blip r:embed="rId4"/>
          <a:stretch>
            <a:fillRect/>
          </a:stretch>
        </p:blipFill>
        <p:spPr>
          <a:xfrm>
            <a:off x="6382512" y="4498848"/>
            <a:ext cx="822960" cy="822960"/>
          </a:xfrm>
          <a:prstGeom prst="rect">
            <a:avLst/>
          </a:prstGeom>
        </p:spPr>
      </p:pic>
      <p:sp>
        <p:nvSpPr>
          <p:cNvPr id="20" name="Text 13"/>
          <p:cNvSpPr txBox="1"/>
          <p:nvPr/>
        </p:nvSpPr>
        <p:spPr>
          <a:xfrm>
            <a:off x="7388352" y="4206240"/>
            <a:ext cx="4114800" cy="1417320"/>
          </a:xfrm>
          <a:prstGeom prst="rect">
            <a:avLst/>
          </a:prstGeom>
          <a:noFill/>
          <a:ln/>
        </p:spPr>
        <p:txBody>
          <a:bodyPr wrap="square" lIns="0" tIns="0" rIns="0" bIns="0" rtlCol="0" anchor="ctr"/>
          <a:lstStyle/>
          <a:p>
            <a:pPr algn="l" indent="0" marL="0">
              <a:buNone/>
            </a:pPr>
            <a:r>
              <a:rPr lang="en-US" sz="2300" i="1" dirty="0">
                <a:solidFill>
                  <a:schemeClr val="tx1"/>
                </a:solidFill>
              </a:rPr>
              <a:t>Ik </a:t>
            </a:r>
            <a:r>
              <a:rPr lang="en-US" sz="2300" b="1" i="1" dirty="0">
                <a:solidFill>
                  <a:schemeClr val="tx1"/>
                </a:solidFill>
              </a:rPr>
              <a:t>wil</a:t>
            </a:r>
            <a:r>
              <a:rPr lang="en-US" sz="2300" i="1" dirty="0">
                <a:solidFill>
                  <a:schemeClr val="tx1"/>
                </a:solidFill>
              </a:rPr>
              <a:t> </a:t>
            </a:r>
            <a:r>
              <a:rPr lang="en-US" sz="2300" b="1" i="1" dirty="0">
                <a:solidFill>
                  <a:schemeClr val="tx1"/>
                </a:solidFill>
              </a:rPr>
              <a:t>graag</a:t>
            </a:r>
            <a:r>
              <a:rPr lang="en-US" sz="2300" i="1" dirty="0">
                <a:solidFill>
                  <a:schemeClr val="tx1"/>
                </a:solidFill>
              </a:rPr>
              <a:t> een broodje kaas.</a:t>
            </a:r>
            <a:endParaRPr lang="en-US" sz="2300" dirty="0"/>
          </a:p>
        </p:txBody>
      </p:sp>
      <p:sp>
        <p:nvSpPr>
          <p:cNvPr id="21" name="Shape 14"/>
          <p:cNvSpPr/>
          <p:nvPr/>
        </p:nvSpPr>
        <p:spPr>
          <a:xfrm>
            <a:off x="548640" y="5760720"/>
            <a:ext cx="11091672" cy="502920"/>
          </a:xfrm>
          <a:prstGeom prst="roundRect">
            <a:avLst>
              <a:gd name="adj" fmla="val 14545"/>
            </a:avLst>
          </a:prstGeom>
          <a:solidFill>
            <a:schemeClr val="tx2"/>
          </a:solidFill>
          <a:ln w="12700">
            <a:solidFill>
              <a:srgbClr val="FFFFFF">
                <a:alpha val="0"/>
              </a:srgbClr>
            </a:solidFill>
            <a:prstDash val="solid"/>
          </a:ln>
        </p:spPr>
      </p:sp>
      <p:sp>
        <p:nvSpPr>
          <p:cNvPr id="22" name="Text 15"/>
          <p:cNvSpPr txBox="1"/>
          <p:nvPr/>
        </p:nvSpPr>
        <p:spPr>
          <a:xfrm>
            <a:off x="822960" y="5760720"/>
            <a:ext cx="10607040" cy="502920"/>
          </a:xfrm>
          <a:prstGeom prst="rect">
            <a:avLst/>
          </a:prstGeom>
          <a:noFill/>
          <a:ln/>
        </p:spPr>
        <p:txBody>
          <a:bodyPr wrap="square" lIns="0" tIns="0" rIns="0" bIns="0" rtlCol="0" anchor="ctr"/>
          <a:lstStyle/>
          <a:p>
            <a:pPr algn="l" indent="0" marL="0">
              <a:buNone/>
            </a:pPr>
            <a:r>
              <a:rPr lang="en-US" sz="1800" i="1" dirty="0">
                <a:solidFill>
                  <a:schemeClr val="bg1"/>
                </a:solidFill>
              </a:rPr>
              <a:t>graag</a:t>
            </a:r>
            <a:r>
              <a:rPr lang="en-US" sz="1800" dirty="0">
                <a:solidFill>
                  <a:schemeClr val="bg1"/>
                </a:solidFill>
              </a:rPr>
              <a:t> adoucit </a:t>
            </a:r>
            <a:r>
              <a:rPr lang="en-US" sz="1800" i="1" dirty="0">
                <a:solidFill>
                  <a:schemeClr val="bg1"/>
                </a:solidFill>
              </a:rPr>
              <a:t>willen</a:t>
            </a:r>
            <a:r>
              <a:rPr lang="en-US" sz="1800" dirty="0">
                <a:solidFill>
                  <a:schemeClr val="bg1"/>
                </a:solidFill>
              </a:rPr>
              <a:t> (M8) · </a:t>
            </a:r>
            <a:r>
              <a:rPr lang="en-US" sz="1800" i="1" dirty="0">
                <a:solidFill>
                  <a:schemeClr val="bg1"/>
                </a:solidFill>
              </a:rPr>
              <a:t>opendoen</a:t>
            </a:r>
            <a:r>
              <a:rPr lang="en-US" sz="1800" dirty="0">
                <a:solidFill>
                  <a:schemeClr val="bg1"/>
                </a:solidFill>
              </a:rPr>
              <a:t> se recolle après </a:t>
            </a:r>
            <a:r>
              <a:rPr lang="en-US" sz="1800" i="1" dirty="0">
                <a:solidFill>
                  <a:schemeClr val="bg1"/>
                </a:solidFill>
              </a:rPr>
              <a:t>mogen</a:t>
            </a:r>
            <a:r>
              <a:rPr lang="en-US" sz="1800" dirty="0">
                <a:solidFill>
                  <a:schemeClr val="bg1"/>
                </a:solidFill>
              </a:rPr>
              <a:t> (M11)</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BONUS : zullen — proposer et promettre</a:t>
            </a:r>
            <a:endParaRPr lang="en-US" sz="3000" dirty="0"/>
          </a:p>
        </p:txBody>
      </p:sp>
      <p:sp>
        <p:nvSpPr>
          <p:cNvPr id="3" name="tag"/>
          <p:cNvSpPr/>
          <p:nvPr/>
        </p:nvSpPr>
        <p:spPr>
          <a:xfrm>
            <a:off x="548640" y="237744"/>
            <a:ext cx="1121054"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a:t>
            </a:r>
            <a:endParaRPr lang="en-US" sz="1200" dirty="0"/>
          </a:p>
        </p:txBody>
      </p:sp>
      <p:sp>
        <p:nvSpPr>
          <p:cNvPr id="5" name="Shape 2"/>
          <p:cNvSpPr/>
          <p:nvPr/>
        </p:nvSpPr>
        <p:spPr>
          <a:xfrm>
            <a:off x="548640" y="1554480"/>
            <a:ext cx="5413248" cy="2743200"/>
          </a:xfrm>
          <a:prstGeom prst="roundRect">
            <a:avLst>
              <a:gd name="adj" fmla="val 2667"/>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548640"/>
          </a:xfrm>
          <a:prstGeom prst="roundRect">
            <a:avLst>
              <a:gd name="adj" fmla="val 13333"/>
            </a:avLst>
          </a:prstGeom>
          <a:solidFill>
            <a:schemeClr val="accent2"/>
          </a:solidFill>
          <a:ln w="12700">
            <a:solidFill>
              <a:srgbClr val="FFFFFF">
                <a:alpha val="0"/>
              </a:srgbClr>
            </a:solidFill>
            <a:prstDash val="solid"/>
          </a:ln>
        </p:spPr>
      </p:sp>
      <p:sp>
        <p:nvSpPr>
          <p:cNvPr id="7" name="Text 4"/>
          <p:cNvSpPr txBox="1"/>
          <p:nvPr/>
        </p:nvSpPr>
        <p:spPr>
          <a:xfrm>
            <a:off x="777240" y="1554480"/>
            <a:ext cx="4572000" cy="548640"/>
          </a:xfrm>
          <a:prstGeom prst="rect">
            <a:avLst/>
          </a:prstGeom>
          <a:noFill/>
          <a:ln/>
        </p:spPr>
        <p:txBody>
          <a:bodyPr wrap="square" lIns="0" tIns="0" rIns="0" bIns="0" rtlCol="0" anchor="ctr"/>
          <a:lstStyle/>
          <a:p>
            <a:pPr algn="l" indent="0" marL="0">
              <a:buNone/>
            </a:pPr>
            <a:r>
              <a:rPr lang="en-US" sz="1700" b="1" spc="200" kern="0" dirty="0">
                <a:solidFill>
                  <a:schemeClr val="bg1"/>
                </a:solidFill>
              </a:rPr>
              <a:t>PROPOSER</a:t>
            </a:r>
            <a:endParaRPr lang="en-US" sz="1700" dirty="0"/>
          </a:p>
        </p:txBody>
      </p:sp>
      <p:pic>
        <p:nvPicPr>
          <p:cNvPr id="8" name="Image 0" descr="hot beverage">    </p:cNvPr>
          <p:cNvPicPr>
            <a:picLocks noChangeAspect="1"/>
          </p:cNvPicPr>
          <p:nvPr/>
        </p:nvPicPr>
        <p:blipFill>
          <a:blip r:embed="rId1"/>
          <a:stretch>
            <a:fillRect/>
          </a:stretch>
        </p:blipFill>
        <p:spPr>
          <a:xfrm>
            <a:off x="822960" y="2331720"/>
            <a:ext cx="1097280" cy="1097280"/>
          </a:xfrm>
          <a:prstGeom prst="rect">
            <a:avLst/>
          </a:prstGeom>
        </p:spPr>
      </p:pic>
      <p:sp>
        <p:nvSpPr>
          <p:cNvPr id="9" name="Text 5"/>
          <p:cNvSpPr txBox="1"/>
          <p:nvPr/>
        </p:nvSpPr>
        <p:spPr>
          <a:xfrm>
            <a:off x="2103120" y="2240280"/>
            <a:ext cx="3657600" cy="1005840"/>
          </a:xfrm>
          <a:prstGeom prst="rect">
            <a:avLst/>
          </a:prstGeom>
          <a:noFill/>
          <a:ln/>
        </p:spPr>
        <p:txBody>
          <a:bodyPr wrap="square" lIns="0" tIns="0" rIns="0" bIns="0" rtlCol="0" anchor="ctr"/>
          <a:lstStyle/>
          <a:p>
            <a:pPr algn="l" indent="0" marL="0">
              <a:buNone/>
            </a:pPr>
            <a:r>
              <a:rPr lang="en-US" sz="2200" b="1" i="1" dirty="0">
                <a:solidFill>
                  <a:schemeClr val="tx1"/>
                </a:solidFill>
              </a:rPr>
              <a:t>Zullen</a:t>
            </a:r>
            <a:r>
              <a:rPr lang="en-US" sz="2200" i="1" dirty="0">
                <a:solidFill>
                  <a:schemeClr val="tx1"/>
                </a:solidFill>
              </a:rPr>
              <a:t> we om 12 uur </a:t>
            </a:r>
            <a:r>
              <a:rPr lang="en-US" sz="2200" b="1" i="1" dirty="0">
                <a:solidFill>
                  <a:schemeClr val="tx1"/>
                </a:solidFill>
              </a:rPr>
              <a:t>gaan eten</a:t>
            </a:r>
            <a:r>
              <a:rPr lang="en-US" sz="2200" i="1" dirty="0">
                <a:solidFill>
                  <a:schemeClr val="tx1"/>
                </a:solidFill>
              </a:rPr>
              <a:t>?</a:t>
            </a:r>
            <a:endParaRPr lang="en-US" sz="2200" dirty="0"/>
          </a:p>
        </p:txBody>
      </p:sp>
      <p:sp>
        <p:nvSpPr>
          <p:cNvPr id="10" name="Text 6"/>
          <p:cNvSpPr txBox="1"/>
          <p:nvPr/>
        </p:nvSpPr>
        <p:spPr>
          <a:xfrm>
            <a:off x="2103120" y="3246120"/>
            <a:ext cx="3657600" cy="548640"/>
          </a:xfrm>
          <a:prstGeom prst="rect">
            <a:avLst/>
          </a:prstGeom>
          <a:noFill/>
          <a:ln/>
        </p:spPr>
        <p:txBody>
          <a:bodyPr wrap="square" lIns="0" tIns="0" rIns="0" bIns="0" rtlCol="0" anchor="ctr"/>
          <a:lstStyle/>
          <a:p>
            <a:pPr algn="l" indent="0" marL="0">
              <a:buNone/>
            </a:pPr>
            <a:r>
              <a:rPr lang="en-US" sz="1500" i="1" dirty="0">
                <a:solidFill>
                  <a:schemeClr val="accent5"/>
                </a:solidFill>
              </a:rPr>
              <a:t>On va manger à midi ?</a:t>
            </a:r>
            <a:endParaRPr lang="en-US" sz="1500" dirty="0"/>
          </a:p>
        </p:txBody>
      </p:sp>
      <p:sp>
        <p:nvSpPr>
          <p:cNvPr id="11" name="Shape 7"/>
          <p:cNvSpPr/>
          <p:nvPr/>
        </p:nvSpPr>
        <p:spPr>
          <a:xfrm>
            <a:off x="6227064" y="1554480"/>
            <a:ext cx="5413248" cy="2743200"/>
          </a:xfrm>
          <a:prstGeom prst="roundRect">
            <a:avLst>
              <a:gd name="adj" fmla="val 2667"/>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2" name="Shape 8"/>
          <p:cNvSpPr/>
          <p:nvPr/>
        </p:nvSpPr>
        <p:spPr>
          <a:xfrm>
            <a:off x="6227064" y="1554480"/>
            <a:ext cx="5413248" cy="548640"/>
          </a:xfrm>
          <a:prstGeom prst="roundRect">
            <a:avLst>
              <a:gd name="adj" fmla="val 13333"/>
            </a:avLst>
          </a:prstGeom>
          <a:solidFill>
            <a:schemeClr val="accent3"/>
          </a:solidFill>
          <a:ln w="12700">
            <a:solidFill>
              <a:srgbClr val="FFFFFF">
                <a:alpha val="0"/>
              </a:srgbClr>
            </a:solidFill>
            <a:prstDash val="solid"/>
          </a:ln>
        </p:spPr>
      </p:sp>
      <p:sp>
        <p:nvSpPr>
          <p:cNvPr id="13" name="Text 9"/>
          <p:cNvSpPr txBox="1"/>
          <p:nvPr/>
        </p:nvSpPr>
        <p:spPr>
          <a:xfrm>
            <a:off x="6455664" y="1554480"/>
            <a:ext cx="4572000" cy="548640"/>
          </a:xfrm>
          <a:prstGeom prst="rect">
            <a:avLst/>
          </a:prstGeom>
          <a:noFill/>
          <a:ln/>
        </p:spPr>
        <p:txBody>
          <a:bodyPr wrap="square" lIns="0" tIns="0" rIns="0" bIns="0" rtlCol="0" anchor="ctr"/>
          <a:lstStyle/>
          <a:p>
            <a:pPr algn="l" indent="0" marL="0">
              <a:buNone/>
            </a:pPr>
            <a:r>
              <a:rPr lang="en-US" sz="1700" b="1" spc="200" kern="0" dirty="0">
                <a:solidFill>
                  <a:schemeClr val="bg1"/>
                </a:solidFill>
              </a:rPr>
              <a:t>PROMETTRE</a:t>
            </a:r>
            <a:endParaRPr lang="en-US" sz="1700" dirty="0"/>
          </a:p>
        </p:txBody>
      </p:sp>
      <p:pic>
        <p:nvPicPr>
          <p:cNvPr id="14" name="Image 1" descr="handshake">    </p:cNvPr>
          <p:cNvPicPr>
            <a:picLocks noChangeAspect="1"/>
          </p:cNvPicPr>
          <p:nvPr/>
        </p:nvPicPr>
        <p:blipFill>
          <a:blip r:embed="rId2"/>
          <a:stretch>
            <a:fillRect/>
          </a:stretch>
        </p:blipFill>
        <p:spPr>
          <a:xfrm>
            <a:off x="6501384" y="2331720"/>
            <a:ext cx="1097280" cy="1097280"/>
          </a:xfrm>
          <a:prstGeom prst="rect">
            <a:avLst/>
          </a:prstGeom>
        </p:spPr>
      </p:pic>
      <p:sp>
        <p:nvSpPr>
          <p:cNvPr id="15" name="Text 10"/>
          <p:cNvSpPr txBox="1"/>
          <p:nvPr/>
        </p:nvSpPr>
        <p:spPr>
          <a:xfrm>
            <a:off x="7781544" y="2240280"/>
            <a:ext cx="3657600" cy="1005840"/>
          </a:xfrm>
          <a:prstGeom prst="rect">
            <a:avLst/>
          </a:prstGeom>
          <a:noFill/>
          <a:ln/>
        </p:spPr>
        <p:txBody>
          <a:bodyPr wrap="square" lIns="0" tIns="0" rIns="0" bIns="0" rtlCol="0" anchor="ctr"/>
          <a:lstStyle/>
          <a:p>
            <a:pPr algn="l" indent="0" marL="0">
              <a:buNone/>
            </a:pPr>
            <a:r>
              <a:rPr lang="en-US" sz="2200" i="1" dirty="0">
                <a:solidFill>
                  <a:schemeClr val="tx1"/>
                </a:solidFill>
              </a:rPr>
              <a:t>Ik </a:t>
            </a:r>
            <a:r>
              <a:rPr lang="en-US" sz="2200" b="1" i="1" dirty="0">
                <a:solidFill>
                  <a:schemeClr val="tx1"/>
                </a:solidFill>
              </a:rPr>
              <a:t>zal</a:t>
            </a:r>
            <a:r>
              <a:rPr lang="en-US" sz="2200" i="1" dirty="0">
                <a:solidFill>
                  <a:schemeClr val="tx1"/>
                </a:solidFill>
              </a:rPr>
              <a:t> je morgen </a:t>
            </a:r>
            <a:r>
              <a:rPr lang="en-US" sz="2200" b="1" i="1" dirty="0">
                <a:solidFill>
                  <a:schemeClr val="tx1"/>
                </a:solidFill>
              </a:rPr>
              <a:t>bellen</a:t>
            </a:r>
            <a:r>
              <a:rPr lang="en-US" sz="2200" i="1" dirty="0">
                <a:solidFill>
                  <a:schemeClr val="tx1"/>
                </a:solidFill>
              </a:rPr>
              <a:t>.</a:t>
            </a:r>
            <a:endParaRPr lang="en-US" sz="2200" dirty="0"/>
          </a:p>
        </p:txBody>
      </p:sp>
      <p:sp>
        <p:nvSpPr>
          <p:cNvPr id="16" name="Text 11"/>
          <p:cNvSpPr txBox="1"/>
          <p:nvPr/>
        </p:nvSpPr>
        <p:spPr>
          <a:xfrm>
            <a:off x="7781544" y="3246120"/>
            <a:ext cx="3657600" cy="548640"/>
          </a:xfrm>
          <a:prstGeom prst="rect">
            <a:avLst/>
          </a:prstGeom>
          <a:noFill/>
          <a:ln/>
        </p:spPr>
        <p:txBody>
          <a:bodyPr wrap="square" lIns="0" tIns="0" rIns="0" bIns="0" rtlCol="0" anchor="ctr"/>
          <a:lstStyle/>
          <a:p>
            <a:pPr algn="l" indent="0" marL="0">
              <a:buNone/>
            </a:pPr>
            <a:r>
              <a:rPr lang="en-US" sz="1500" i="1" dirty="0">
                <a:solidFill>
                  <a:schemeClr val="accent5"/>
                </a:solidFill>
              </a:rPr>
              <a:t>Je t’appellerai demain.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914400"/>
        </p:xfrm>
        <a:graphic>
          <a:graphicData uri="http://schemas.openxmlformats.org/drawingml/2006/table">
            <a:tbl>
              <a:tblPr/>
              <a:tblGrid>
                <a:gridCol w="2772918"/>
                <a:gridCol w="2772918"/>
                <a:gridCol w="2772918"/>
                <a:gridCol w="2772918"/>
              </a:tblGrid>
              <a:tr h="457200">
                <a:tc>
                  <a:txBody>
                    <a:bodyPr/>
                    <a:lstStyle/>
                    <a:p>
                      <a:pPr algn="ctr" indent="0" marL="0">
                        <a:buNone/>
                      </a:pPr>
                      <a:r>
                        <a:rPr lang="en-US" sz="1500" b="1" dirty="0">
                          <a:solidFill>
                            <a:srgbClr val="FFFFFF"/>
                          </a:solidFill>
                        </a:rPr>
                        <a:t>ik</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ctr" indent="0" marL="0">
                        <a:buNone/>
                      </a:pPr>
                      <a:r>
                        <a:rPr lang="en-US" sz="1500" b="1" dirty="0">
                          <a:solidFill>
                            <a:srgbClr val="FFFFFF"/>
                          </a:solidFill>
                        </a:rPr>
                        <a:t>jij / u</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ctr" indent="0" marL="0">
                        <a:buNone/>
                      </a:pPr>
                      <a:r>
                        <a:rPr lang="en-US" sz="1500" b="1" dirty="0">
                          <a:solidFill>
                            <a:srgbClr val="FFFFFF"/>
                          </a:solidFill>
                        </a:rPr>
                        <a:t>hij / zij</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ctr" indent="0" marL="0">
                        <a:buNone/>
                      </a:pPr>
                      <a:r>
                        <a:rPr lang="en-US" sz="1500" b="1" dirty="0">
                          <a:solidFill>
                            <a:srgbClr val="FFFFFF"/>
                          </a:solidFill>
                        </a:rPr>
                        <a:t>wij · jullie · zij</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r>
              <a:tr h="457200">
                <a:tc>
                  <a:txBody>
                    <a:bodyPr/>
                    <a:lstStyle/>
                    <a:p>
                      <a:pPr algn="ctr" indent="0" marL="0">
                        <a:buNone/>
                      </a:pPr>
                      <a:r>
                        <a:rPr lang="en-US" sz="2000" dirty="0">
                          <a:solidFill>
                            <a:schemeClr val="tx1"/>
                          </a:solidFill>
                        </a:rPr>
                        <a:t>zal</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zult / zal</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zal</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zullen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18" name="Text 12"/>
          <p:cNvSpPr txBox="1"/>
          <p:nvPr/>
        </p:nvSpPr>
        <p:spPr>
          <a:xfrm>
            <a:off x="548640" y="5852160"/>
            <a:ext cx="11091672" cy="411480"/>
          </a:xfrm>
          <a:prstGeom prst="rect">
            <a:avLst/>
          </a:prstGeom>
          <a:noFill/>
          <a:ln/>
        </p:spPr>
        <p:txBody>
          <a:bodyPr wrap="square" lIns="0" tIns="0" rIns="0" bIns="0" rtlCol="0" anchor="t"/>
          <a:lstStyle/>
          <a:p>
            <a:pPr algn="ctr" indent="0" marL="0">
              <a:buNone/>
            </a:pPr>
            <a:r>
              <a:rPr lang="en-US" sz="1600" i="1" dirty="0">
                <a:solidFill>
                  <a:schemeClr val="accent5"/>
                </a:solidFill>
              </a:rPr>
              <a:t>Pour le futur, le néerlandais préfère souvent le </a:t>
            </a:r>
            <a:r>
              <a:rPr lang="en-US" sz="1600" b="1" i="1" dirty="0">
                <a:solidFill>
                  <a:schemeClr val="accent5"/>
                </a:solidFill>
              </a:rPr>
              <a:t>présent</a:t>
            </a:r>
            <a:r>
              <a:rPr lang="en-US" sz="1600" i="1" dirty="0">
                <a:solidFill>
                  <a:schemeClr val="accent5"/>
                </a:solidFill>
              </a:rPr>
              <a:t> : </a:t>
            </a:r>
            <a:r>
              <a:rPr lang="en-US" sz="1600" i="1" dirty="0">
                <a:solidFill>
                  <a:schemeClr val="accent5"/>
                </a:solidFill>
              </a:rPr>
              <a:t>Morgen bel ik je.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Sans infinitif : les petites phrases de tous les jours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600200"/>
            <a:ext cx="3520440" cy="1234440"/>
          </a:xfrm>
          <a:prstGeom prst="roundRect">
            <a:avLst>
              <a:gd name="adj" fmla="val 22222"/>
            </a:avLst>
          </a:prstGeom>
          <a:solidFill>
            <a:schemeClr val="accent6">
              <a:alpha val="14000"/>
            </a:schemeClr>
          </a:solidFill>
          <a:ln w="19050">
            <a:solidFill>
              <a:srgbClr val="B83227"/>
            </a:solidFill>
            <a:prstDash val="solid"/>
          </a:ln>
        </p:spPr>
      </p:sp>
      <p:sp>
        <p:nvSpPr>
          <p:cNvPr id="6" name="Text 3"/>
          <p:cNvSpPr txBox="1"/>
          <p:nvPr/>
        </p:nvSpPr>
        <p:spPr>
          <a:xfrm>
            <a:off x="548640" y="160020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Ik moet naar huis.</a:t>
            </a:r>
            <a:endParaRPr lang="en-US" sz="2300" dirty="0"/>
          </a:p>
        </p:txBody>
      </p:sp>
      <p:sp>
        <p:nvSpPr>
          <p:cNvPr id="7" name="Text 4"/>
          <p:cNvSpPr txBox="1"/>
          <p:nvPr/>
        </p:nvSpPr>
        <p:spPr>
          <a:xfrm>
            <a:off x="548640" y="289864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je dois rentrer</a:t>
            </a:r>
            <a:endParaRPr lang="en-US" sz="1500" dirty="0"/>
          </a:p>
        </p:txBody>
      </p:sp>
      <p:sp>
        <p:nvSpPr>
          <p:cNvPr id="8" name="Shape 5"/>
          <p:cNvSpPr/>
          <p:nvPr/>
        </p:nvSpPr>
        <p:spPr>
          <a:xfrm>
            <a:off x="4297680" y="1600200"/>
            <a:ext cx="3520440" cy="1234440"/>
          </a:xfrm>
          <a:prstGeom prst="roundRect">
            <a:avLst>
              <a:gd name="adj" fmla="val 22222"/>
            </a:avLst>
          </a:prstGeom>
          <a:solidFill>
            <a:schemeClr val="accent4">
              <a:alpha val="14000"/>
            </a:schemeClr>
          </a:solidFill>
          <a:ln w="19050">
            <a:solidFill>
              <a:srgbClr val="B4236A"/>
            </a:solidFill>
            <a:prstDash val="solid"/>
          </a:ln>
        </p:spPr>
      </p:sp>
      <p:sp>
        <p:nvSpPr>
          <p:cNvPr id="9" name="Text 6"/>
          <p:cNvSpPr txBox="1"/>
          <p:nvPr/>
        </p:nvSpPr>
        <p:spPr>
          <a:xfrm>
            <a:off x="4297680" y="160020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Ik wil een koffie.</a:t>
            </a:r>
            <a:endParaRPr lang="en-US" sz="2300" dirty="0"/>
          </a:p>
        </p:txBody>
      </p:sp>
      <p:sp>
        <p:nvSpPr>
          <p:cNvPr id="10" name="Text 7"/>
          <p:cNvSpPr txBox="1"/>
          <p:nvPr/>
        </p:nvSpPr>
        <p:spPr>
          <a:xfrm>
            <a:off x="4297680" y="289864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je veux un café</a:t>
            </a:r>
            <a:endParaRPr lang="en-US" sz="1500" dirty="0"/>
          </a:p>
        </p:txBody>
      </p:sp>
      <p:sp>
        <p:nvSpPr>
          <p:cNvPr id="11" name="Shape 8"/>
          <p:cNvSpPr/>
          <p:nvPr/>
        </p:nvSpPr>
        <p:spPr>
          <a:xfrm>
            <a:off x="8046720" y="1600200"/>
            <a:ext cx="3520440" cy="1234440"/>
          </a:xfrm>
          <a:prstGeom prst="roundRect">
            <a:avLst>
              <a:gd name="adj" fmla="val 22222"/>
            </a:avLst>
          </a:prstGeom>
          <a:solidFill>
            <a:schemeClr val="accent3">
              <a:alpha val="14000"/>
            </a:schemeClr>
          </a:solidFill>
          <a:ln w="19050">
            <a:solidFill>
              <a:srgbClr val="2E7D4F"/>
            </a:solidFill>
            <a:prstDash val="solid"/>
          </a:ln>
        </p:spPr>
      </p:sp>
      <p:sp>
        <p:nvSpPr>
          <p:cNvPr id="12" name="Text 9"/>
          <p:cNvSpPr txBox="1"/>
          <p:nvPr/>
        </p:nvSpPr>
        <p:spPr>
          <a:xfrm>
            <a:off x="8046720" y="160020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Mag dat?</a:t>
            </a:r>
            <a:endParaRPr lang="en-US" sz="2300" dirty="0"/>
          </a:p>
        </p:txBody>
      </p:sp>
      <p:sp>
        <p:nvSpPr>
          <p:cNvPr id="13" name="Text 10"/>
          <p:cNvSpPr txBox="1"/>
          <p:nvPr/>
        </p:nvSpPr>
        <p:spPr>
          <a:xfrm>
            <a:off x="8046720" y="289864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c’est permis ?</a:t>
            </a:r>
            <a:endParaRPr lang="en-US" sz="1500" dirty="0"/>
          </a:p>
        </p:txBody>
      </p:sp>
      <p:sp>
        <p:nvSpPr>
          <p:cNvPr id="14" name="Shape 11"/>
          <p:cNvSpPr/>
          <p:nvPr/>
        </p:nvSpPr>
        <p:spPr>
          <a:xfrm>
            <a:off x="548640" y="3611880"/>
            <a:ext cx="3520440" cy="1234440"/>
          </a:xfrm>
          <a:prstGeom prst="roundRect">
            <a:avLst>
              <a:gd name="adj" fmla="val 22222"/>
            </a:avLst>
          </a:prstGeom>
          <a:solidFill>
            <a:schemeClr val="accent2">
              <a:alpha val="14000"/>
            </a:schemeClr>
          </a:solidFill>
          <a:ln w="19050">
            <a:solidFill>
              <a:srgbClr val="2A6FB0"/>
            </a:solidFill>
            <a:prstDash val="solid"/>
          </a:ln>
        </p:spPr>
      </p:sp>
      <p:sp>
        <p:nvSpPr>
          <p:cNvPr id="15" name="Text 12"/>
          <p:cNvSpPr txBox="1"/>
          <p:nvPr/>
        </p:nvSpPr>
        <p:spPr>
          <a:xfrm>
            <a:off x="548640" y="361188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Ik kan het niet.</a:t>
            </a:r>
            <a:endParaRPr lang="en-US" sz="2300" dirty="0"/>
          </a:p>
        </p:txBody>
      </p:sp>
      <p:sp>
        <p:nvSpPr>
          <p:cNvPr id="16" name="Text 13"/>
          <p:cNvSpPr txBox="1"/>
          <p:nvPr/>
        </p:nvSpPr>
        <p:spPr>
          <a:xfrm>
            <a:off x="548640" y="491032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je n’y arrive pas</a:t>
            </a:r>
            <a:endParaRPr lang="en-US" sz="1500" dirty="0"/>
          </a:p>
        </p:txBody>
      </p:sp>
      <p:sp>
        <p:nvSpPr>
          <p:cNvPr id="17" name="Shape 14"/>
          <p:cNvSpPr/>
          <p:nvPr/>
        </p:nvSpPr>
        <p:spPr>
          <a:xfrm>
            <a:off x="4297680" y="3611880"/>
            <a:ext cx="3520440" cy="1234440"/>
          </a:xfrm>
          <a:prstGeom prst="roundRect">
            <a:avLst>
              <a:gd name="adj" fmla="val 22222"/>
            </a:avLst>
          </a:prstGeom>
          <a:solidFill>
            <a:schemeClr val="accent3">
              <a:alpha val="14000"/>
            </a:schemeClr>
          </a:solidFill>
          <a:ln w="19050">
            <a:solidFill>
              <a:srgbClr val="2E7D4F"/>
            </a:solidFill>
            <a:prstDash val="solid"/>
          </a:ln>
        </p:spPr>
      </p:sp>
      <p:sp>
        <p:nvSpPr>
          <p:cNvPr id="18" name="Text 15"/>
          <p:cNvSpPr txBox="1"/>
          <p:nvPr/>
        </p:nvSpPr>
        <p:spPr>
          <a:xfrm>
            <a:off x="4297680" y="361188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Dat mag niet!</a:t>
            </a:r>
            <a:endParaRPr lang="en-US" sz="2300" dirty="0"/>
          </a:p>
        </p:txBody>
      </p:sp>
      <p:sp>
        <p:nvSpPr>
          <p:cNvPr id="19" name="Text 16"/>
          <p:cNvSpPr txBox="1"/>
          <p:nvPr/>
        </p:nvSpPr>
        <p:spPr>
          <a:xfrm>
            <a:off x="4297680" y="491032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c’est interdit !</a:t>
            </a:r>
            <a:endParaRPr lang="en-US" sz="1500" dirty="0"/>
          </a:p>
        </p:txBody>
      </p:sp>
      <p:sp>
        <p:nvSpPr>
          <p:cNvPr id="20" name="Shape 17"/>
          <p:cNvSpPr/>
          <p:nvPr/>
        </p:nvSpPr>
        <p:spPr>
          <a:xfrm>
            <a:off x="8046720" y="3611880"/>
            <a:ext cx="3520440" cy="1234440"/>
          </a:xfrm>
          <a:prstGeom prst="roundRect">
            <a:avLst>
              <a:gd name="adj" fmla="val 22222"/>
            </a:avLst>
          </a:prstGeom>
          <a:solidFill>
            <a:schemeClr val="accent6">
              <a:alpha val="14000"/>
            </a:schemeClr>
          </a:solidFill>
          <a:ln w="19050">
            <a:solidFill>
              <a:srgbClr val="B83227"/>
            </a:solidFill>
            <a:prstDash val="solid"/>
          </a:ln>
        </p:spPr>
      </p:sp>
      <p:sp>
        <p:nvSpPr>
          <p:cNvPr id="21" name="Text 18"/>
          <p:cNvSpPr txBox="1"/>
          <p:nvPr/>
        </p:nvSpPr>
        <p:spPr>
          <a:xfrm>
            <a:off x="8046720" y="3611880"/>
            <a:ext cx="3520440" cy="1234440"/>
          </a:xfrm>
          <a:prstGeom prst="rect">
            <a:avLst/>
          </a:prstGeom>
          <a:noFill/>
          <a:ln/>
        </p:spPr>
        <p:txBody>
          <a:bodyPr wrap="square" lIns="0" tIns="0" rIns="0" bIns="0" rtlCol="0" anchor="ctr"/>
          <a:lstStyle/>
          <a:p>
            <a:pPr algn="ctr" indent="0" marL="0">
              <a:buNone/>
            </a:pPr>
            <a:r>
              <a:rPr lang="en-US" sz="2300" b="1" i="1" dirty="0">
                <a:solidFill>
                  <a:schemeClr val="tx1"/>
                </a:solidFill>
              </a:rPr>
              <a:t>Dat moet!</a:t>
            </a:r>
            <a:endParaRPr lang="en-US" sz="2300" dirty="0"/>
          </a:p>
        </p:txBody>
      </p:sp>
      <p:sp>
        <p:nvSpPr>
          <p:cNvPr id="22" name="Text 19"/>
          <p:cNvSpPr txBox="1"/>
          <p:nvPr/>
        </p:nvSpPr>
        <p:spPr>
          <a:xfrm>
            <a:off x="8046720" y="4910328"/>
            <a:ext cx="3520440" cy="365760"/>
          </a:xfrm>
          <a:prstGeom prst="rect">
            <a:avLst/>
          </a:prstGeom>
          <a:noFill/>
          <a:ln/>
        </p:spPr>
        <p:txBody>
          <a:bodyPr wrap="square" lIns="0" tIns="0" rIns="0" bIns="0" rtlCol="0" anchor="t"/>
          <a:lstStyle/>
          <a:p>
            <a:pPr algn="ctr" indent="0" marL="0">
              <a:buNone/>
            </a:pPr>
            <a:r>
              <a:rPr lang="en-US" sz="1500" i="1" dirty="0">
                <a:solidFill>
                  <a:schemeClr val="accent5"/>
                </a:solidFill>
              </a:rPr>
              <a:t>il le faut !</a:t>
            </a:r>
            <a:endParaRPr lang="en-US" sz="1500" dirty="0"/>
          </a:p>
        </p:txBody>
      </p:sp>
      <p:sp>
        <p:nvSpPr>
          <p:cNvPr id="23" name="Text 20"/>
          <p:cNvSpPr txBox="1"/>
          <p:nvPr/>
        </p:nvSpPr>
        <p:spPr>
          <a:xfrm>
            <a:off x="548640" y="5852160"/>
            <a:ext cx="11091672" cy="411480"/>
          </a:xfrm>
          <a:prstGeom prst="rect">
            <a:avLst/>
          </a:prstGeom>
          <a:noFill/>
          <a:ln/>
        </p:spPr>
        <p:txBody>
          <a:bodyPr wrap="square" lIns="0" tIns="0" rIns="0" bIns="0" rtlCol="0" anchor="t"/>
          <a:lstStyle/>
          <a:p>
            <a:pPr algn="ctr" indent="0" marL="0">
              <a:buNone/>
            </a:pPr>
            <a:r>
              <a:rPr lang="en-US" sz="1600" i="1" dirty="0">
                <a:solidFill>
                  <a:schemeClr val="accent5"/>
                </a:solidFill>
              </a:rPr>
              <a:t>Le verbe de mouvement est sous-entendu : </a:t>
            </a:r>
            <a:r>
              <a:rPr lang="en-US" sz="1600" i="1" dirty="0">
                <a:solidFill>
                  <a:schemeClr val="accent5"/>
                </a:solidFill>
              </a:rPr>
              <a:t>Ik moet naar huis (gaan).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le tableau des modaux</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325880" y="1554480"/>
          <a:ext cx="10314432" cy="914400"/>
        </p:xfrm>
        <a:graphic>
          <a:graphicData uri="http://schemas.openxmlformats.org/drawingml/2006/table">
            <a:tbl>
              <a:tblPr/>
              <a:tblGrid>
                <a:gridCol w="1554480"/>
                <a:gridCol w="3108960"/>
                <a:gridCol w="2834640"/>
                <a:gridCol w="2816352"/>
              </a:tblGrid>
              <a:tr h="502920">
                <a:tc>
                  <a:txBody>
                    <a:bodyPr/>
                    <a:lstStyle/>
                    <a:p>
                      <a:pPr algn="l" indent="0" marL="0">
                        <a:buNone/>
                      </a:pP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rgbClr val="FFFFFF"/>
                          </a:solidFill>
                        </a:rPr>
                        <a:t>Sens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rgbClr val="FFFFFF"/>
                          </a:solidFill>
                        </a:rPr>
                        <a:t>Exemple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rgbClr val="FFFFFF"/>
                          </a:solidFill>
                        </a:rPr>
                        <a:t>Question polie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914400">
                <a:tc>
                  <a:txBody>
                    <a:bodyPr/>
                    <a:lstStyle/>
                    <a:p>
                      <a:pPr algn="l" indent="0" marL="0">
                        <a:buNone/>
                      </a:pPr>
                      <a:r>
                        <a:rPr lang="en-US" sz="1700" b="1" dirty="0">
                          <a:solidFill>
                            <a:schemeClr val="tx1"/>
                          </a:solidFill>
                        </a:rPr>
                        <a:t>kunnen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DCE8F5"/>
                    </a:solidFill>
                  </a:tcPr>
                </a:tc>
                <a:tc>
                  <a:txBody>
                    <a:bodyPr/>
                    <a:lstStyle/>
                    <a:p>
                      <a:pPr algn="l" indent="0" marL="0">
                        <a:buNone/>
                      </a:pPr>
                      <a:r>
                        <a:rPr lang="en-US" sz="1700" dirty="0">
                          <a:solidFill>
                            <a:schemeClr val="tx1"/>
                          </a:solidFill>
                        </a:rPr>
                        <a:t>capacité, possibilité, </a:t>
                      </a:r>
                      <a:r>
                        <a:rPr lang="en-US" sz="1700" i="1" dirty="0">
                          <a:solidFill>
                            <a:schemeClr val="tx1"/>
                          </a:solidFill>
                        </a:rPr>
                        <a:t>savoir faire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Ik kan zwemmen.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Kunt u me helpen?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14400">
                <a:tc>
                  <a:txBody>
                    <a:bodyPr/>
                    <a:lstStyle/>
                    <a:p>
                      <a:pPr algn="l" indent="0" marL="0">
                        <a:buNone/>
                      </a:pPr>
                      <a:r>
                        <a:rPr lang="en-US" sz="1700" b="1" dirty="0">
                          <a:solidFill>
                            <a:schemeClr val="tx1"/>
                          </a:solidFill>
                        </a:rPr>
                        <a:t>mogen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DDEEE2"/>
                    </a:solidFill>
                  </a:tcPr>
                </a:tc>
                <a:tc>
                  <a:txBody>
                    <a:bodyPr/>
                    <a:lstStyle/>
                    <a:p>
                      <a:pPr algn="l" indent="0" marL="0">
                        <a:buNone/>
                      </a:pPr>
                      <a:r>
                        <a:rPr lang="en-US" sz="1700" dirty="0">
                          <a:solidFill>
                            <a:schemeClr val="tx1"/>
                          </a:solidFill>
                        </a:rPr>
                        <a:t>permission · </a:t>
                      </a:r>
                      <a:r>
                        <a:rPr lang="en-US" sz="1700" i="1" dirty="0">
                          <a:solidFill>
                            <a:schemeClr val="tx1"/>
                          </a:solidFill>
                        </a:rPr>
                        <a:t>niet mogen</a:t>
                      </a:r>
                      <a:r>
                        <a:rPr lang="en-US" sz="1700" dirty="0">
                          <a:solidFill>
                            <a:schemeClr val="tx1"/>
                          </a:solidFill>
                        </a:rPr>
                        <a:t> = interdiction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Je mag hier niet roken.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Mag ik binnenkomen?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14400">
                <a:tc>
                  <a:txBody>
                    <a:bodyPr/>
                    <a:lstStyle/>
                    <a:p>
                      <a:pPr algn="l" indent="0" marL="0">
                        <a:buNone/>
                      </a:pPr>
                      <a:r>
                        <a:rPr lang="en-US" sz="1700" b="1" dirty="0">
                          <a:solidFill>
                            <a:schemeClr val="tx1"/>
                          </a:solidFill>
                        </a:rPr>
                        <a:t>willen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5DDE8"/>
                    </a:solidFill>
                  </a:tcPr>
                </a:tc>
                <a:tc>
                  <a:txBody>
                    <a:bodyPr/>
                    <a:lstStyle/>
                    <a:p>
                      <a:pPr algn="l" indent="0" marL="0">
                        <a:buNone/>
                      </a:pPr>
                      <a:r>
                        <a:rPr lang="en-US" sz="1700" dirty="0">
                          <a:solidFill>
                            <a:schemeClr val="tx1"/>
                          </a:solidFill>
                        </a:rPr>
                        <a:t>volonté (+ </a:t>
                      </a:r>
                      <a:r>
                        <a:rPr lang="en-US" sz="1700" i="1" dirty="0">
                          <a:solidFill>
                            <a:schemeClr val="tx1"/>
                          </a:solidFill>
                        </a:rPr>
                        <a:t>graag</a:t>
                      </a:r>
                      <a:r>
                        <a:rPr lang="en-US" sz="1700" dirty="0">
                          <a:solidFill>
                            <a:schemeClr val="tx1"/>
                          </a:solidFill>
                        </a:rPr>
                        <a:t> = poli)</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Ik wil graag een koffie.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i="1" dirty="0">
                          <a:solidFill>
                            <a:schemeClr val="tx1"/>
                          </a:solidFill>
                        </a:rPr>
                        <a:t>Wilt u een koffie?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14400">
                <a:tc>
                  <a:txBody>
                    <a:bodyPr/>
                    <a:lstStyle/>
                    <a:p>
                      <a:pPr algn="l" indent="0" marL="0">
                        <a:buNone/>
                      </a:pPr>
                      <a:r>
                        <a:rPr lang="en-US" sz="1700" b="1" dirty="0">
                          <a:solidFill>
                            <a:schemeClr val="tx1"/>
                          </a:solidFill>
                        </a:rPr>
                        <a:t>moeten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6DEDB"/>
                    </a:solidFill>
                  </a:tcPr>
                </a:tc>
                <a:tc>
                  <a:txBody>
                    <a:bodyPr/>
                    <a:lstStyle/>
                    <a:p>
                      <a:pPr algn="l" indent="0" marL="0">
                        <a:buNone/>
                      </a:pPr>
                      <a:r>
                        <a:rPr lang="en-US" sz="1700" dirty="0">
                          <a:solidFill>
                            <a:schemeClr val="tx1"/>
                          </a:solidFill>
                        </a:rPr>
                        <a:t>obligation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Ik moet om 8 uur beginnen.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i="1" dirty="0">
                          <a:solidFill>
                            <a:schemeClr val="tx1"/>
                          </a:solidFill>
                        </a:rPr>
                        <a:t>Moet ik dit formulier invullen?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pic>
        <p:nvPicPr>
          <p:cNvPr id="6" name="Image 0" descr="flexed biceps">    </p:cNvPr>
          <p:cNvPicPr>
            <a:picLocks noChangeAspect="1"/>
          </p:cNvPicPr>
          <p:nvPr/>
        </p:nvPicPr>
        <p:blipFill>
          <a:blip r:embed="rId1"/>
          <a:stretch>
            <a:fillRect/>
          </a:stretch>
        </p:blipFill>
        <p:spPr>
          <a:xfrm>
            <a:off x="594360" y="2212848"/>
            <a:ext cx="603504" cy="603504"/>
          </a:xfrm>
          <a:prstGeom prst="rect">
            <a:avLst/>
          </a:prstGeom>
        </p:spPr>
      </p:pic>
      <p:pic>
        <p:nvPicPr>
          <p:cNvPr id="7" name="Image 1" descr="check mark button">    </p:cNvPr>
          <p:cNvPicPr>
            <a:picLocks noChangeAspect="1"/>
          </p:cNvPicPr>
          <p:nvPr/>
        </p:nvPicPr>
        <p:blipFill>
          <a:blip r:embed="rId2"/>
          <a:stretch>
            <a:fillRect/>
          </a:stretch>
        </p:blipFill>
        <p:spPr>
          <a:xfrm>
            <a:off x="594360" y="3127248"/>
            <a:ext cx="603504" cy="603504"/>
          </a:xfrm>
          <a:prstGeom prst="rect">
            <a:avLst/>
          </a:prstGeom>
        </p:spPr>
      </p:pic>
      <p:pic>
        <p:nvPicPr>
          <p:cNvPr id="8" name="Image 2" descr="red heart">    </p:cNvPr>
          <p:cNvPicPr>
            <a:picLocks noChangeAspect="1"/>
          </p:cNvPicPr>
          <p:nvPr/>
        </p:nvPicPr>
        <p:blipFill>
          <a:blip r:embed="rId3"/>
          <a:stretch>
            <a:fillRect/>
          </a:stretch>
        </p:blipFill>
        <p:spPr>
          <a:xfrm>
            <a:off x="594360" y="4041648"/>
            <a:ext cx="603504" cy="603504"/>
          </a:xfrm>
          <a:prstGeom prst="rect">
            <a:avLst/>
          </a:prstGeom>
        </p:spPr>
      </p:pic>
      <p:pic>
        <p:nvPicPr>
          <p:cNvPr id="9" name="Image 3" descr="stop sign">    </p:cNvPr>
          <p:cNvPicPr>
            <a:picLocks noChangeAspect="1"/>
          </p:cNvPicPr>
          <p:nvPr/>
        </p:nvPicPr>
        <p:blipFill>
          <a:blip r:embed="rId4"/>
          <a:stretch>
            <a:fillRect/>
          </a:stretch>
        </p:blipFill>
        <p:spPr>
          <a:xfrm>
            <a:off x="594360" y="4956048"/>
            <a:ext cx="603504" cy="603504"/>
          </a:xfrm>
          <a:prstGeom prst="rect">
            <a:avLst/>
          </a:prstGeom>
        </p:spPr>
      </p:pic>
      <p:pic>
        <p:nvPicPr>
          <p:cNvPr id="10" name="Image 4" descr="Camera">    </p:cNvPr>
          <p:cNvPicPr>
            <a:picLocks noChangeAspect="1"/>
          </p:cNvPicPr>
          <p:nvPr/>
        </p:nvPicPr>
        <p:blipFill>
          <a:blip r:embed="rId5"/>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mpass">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bon verbe</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TrafficLight">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Les panneaux</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ListUl">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Remettez en ordre</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Language">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Traduction piège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Trophy">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Wie wordt de winnaar?</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Users">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Wie weet het meest?</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Tie">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premier jour</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Le bon verbe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kunnen, mogen, willen ou moeten (conjugué).</a:t>
            </a:r>
            <a:endParaRPr lang="en-US" sz="1700" dirty="0"/>
          </a:p>
        </p:txBody>
      </p:sp>
      <p:pic>
        <p:nvPicPr>
          <p:cNvPr id="8" name="Image 1" descr="cooking">    </p:cNvPr>
          <p:cNvPicPr>
            <a:picLocks noChangeAspect="1"/>
          </p:cNvPicPr>
          <p:nvPr/>
        </p:nvPicPr>
        <p:blipFill>
          <a:blip r:embed="rId2"/>
          <a:stretch>
            <a:fillRect/>
          </a:stretch>
        </p:blipFill>
        <p:spPr>
          <a:xfrm>
            <a:off x="548640" y="2042160"/>
            <a:ext cx="548640" cy="548640"/>
          </a:xfrm>
          <a:prstGeom prst="rect">
            <a:avLst/>
          </a:prstGeom>
        </p:spPr>
      </p:pic>
      <p:sp>
        <p:nvSpPr>
          <p:cNvPr id="9" name="Text 4"/>
          <p:cNvSpPr txBox="1"/>
          <p:nvPr/>
        </p:nvSpPr>
        <p:spPr>
          <a:xfrm>
            <a:off x="1188720" y="193243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1</a:t>
            </a:r>
            <a:r>
              <a:rPr lang="en-US" sz="1700" dirty="0">
                <a:solidFill>
                  <a:schemeClr val="tx1"/>
                </a:solidFill>
              </a:rPr>
              <a:t>  </a:t>
            </a:r>
            <a:r>
              <a:rPr lang="en-US" sz="1700" i="1" dirty="0">
                <a:solidFill>
                  <a:schemeClr val="tx1"/>
                </a:solidFill>
              </a:rPr>
              <a:t>Ik </a:t>
            </a:r>
            <a:r>
              <a:rPr lang="en-US" sz="1700" i="1" dirty="0">
                <a:solidFill>
                  <a:schemeClr val="accent5"/>
                </a:solidFill>
              </a:rPr>
              <a:t>…………</a:t>
            </a:r>
            <a:r>
              <a:rPr lang="en-US" sz="1700" i="1" dirty="0">
                <a:solidFill>
                  <a:schemeClr val="tx1"/>
                </a:solidFill>
              </a:rPr>
              <a:t> goed koken.</a:t>
            </a:r>
            <a:endParaRPr lang="en-US" sz="1700" dirty="0"/>
          </a:p>
        </p:txBody>
      </p:sp>
      <p:pic>
        <p:nvPicPr>
          <p:cNvPr id="10" name="Image 2" descr="window">    </p:cNvPr>
          <p:cNvPicPr>
            <a:picLocks noChangeAspect="1"/>
          </p:cNvPicPr>
          <p:nvPr/>
        </p:nvPicPr>
        <p:blipFill>
          <a:blip r:embed="rId3"/>
          <a:stretch>
            <a:fillRect/>
          </a:stretch>
        </p:blipFill>
        <p:spPr>
          <a:xfrm>
            <a:off x="5120640" y="2042160"/>
            <a:ext cx="548640" cy="548640"/>
          </a:xfrm>
          <a:prstGeom prst="rect">
            <a:avLst/>
          </a:prstGeom>
        </p:spPr>
      </p:pic>
      <p:sp>
        <p:nvSpPr>
          <p:cNvPr id="11" name="Text 5"/>
          <p:cNvSpPr txBox="1"/>
          <p:nvPr/>
        </p:nvSpPr>
        <p:spPr>
          <a:xfrm>
            <a:off x="5760720" y="193243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2</a:t>
            </a:r>
            <a:r>
              <a:rPr lang="en-US" sz="1700" dirty="0">
                <a:solidFill>
                  <a:schemeClr val="tx1"/>
                </a:solidFill>
              </a:rPr>
              <a:t>  </a:t>
            </a:r>
            <a:r>
              <a:rPr lang="en-US" sz="1700" i="1" dirty="0">
                <a:solidFill>
                  <a:schemeClr val="accent5"/>
                </a:solidFill>
              </a:rPr>
              <a:t>…………</a:t>
            </a:r>
            <a:r>
              <a:rPr lang="en-US" sz="1700" i="1" dirty="0">
                <a:solidFill>
                  <a:schemeClr val="tx1"/>
                </a:solidFill>
              </a:rPr>
              <a:t> ik het raam opendoen?</a:t>
            </a:r>
            <a:endParaRPr lang="en-US" sz="1700" dirty="0"/>
          </a:p>
        </p:txBody>
      </p:sp>
      <p:pic>
        <p:nvPicPr>
          <p:cNvPr id="12" name="Image 3" descr="cigarette">    </p:cNvPr>
          <p:cNvPicPr>
            <a:picLocks noChangeAspect="1"/>
          </p:cNvPicPr>
          <p:nvPr/>
        </p:nvPicPr>
        <p:blipFill>
          <a:blip r:embed="rId4"/>
          <a:stretch>
            <a:fillRect/>
          </a:stretch>
        </p:blipFill>
        <p:spPr>
          <a:xfrm>
            <a:off x="548640" y="3131820"/>
            <a:ext cx="548640" cy="548640"/>
          </a:xfrm>
          <a:prstGeom prst="rect">
            <a:avLst/>
          </a:prstGeom>
        </p:spPr>
      </p:pic>
      <p:sp>
        <p:nvSpPr>
          <p:cNvPr id="13" name="Text 6"/>
          <p:cNvSpPr txBox="1"/>
          <p:nvPr/>
        </p:nvSpPr>
        <p:spPr>
          <a:xfrm>
            <a:off x="1188720" y="302209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3</a:t>
            </a:r>
            <a:r>
              <a:rPr lang="en-US" sz="1700" dirty="0">
                <a:solidFill>
                  <a:schemeClr val="tx1"/>
                </a:solidFill>
              </a:rPr>
              <a:t>  </a:t>
            </a:r>
            <a:r>
              <a:rPr lang="en-US" sz="1700" i="1" dirty="0">
                <a:solidFill>
                  <a:schemeClr val="tx1"/>
                </a:solidFill>
              </a:rPr>
              <a:t>Je </a:t>
            </a:r>
            <a:r>
              <a:rPr lang="en-US" sz="1700" i="1" dirty="0">
                <a:solidFill>
                  <a:schemeClr val="accent5"/>
                </a:solidFill>
              </a:rPr>
              <a:t>…………</a:t>
            </a:r>
            <a:r>
              <a:rPr lang="en-US" sz="1700" i="1" dirty="0">
                <a:solidFill>
                  <a:schemeClr val="tx1"/>
                </a:solidFill>
              </a:rPr>
              <a:t> hier niet roken.</a:t>
            </a:r>
            <a:endParaRPr lang="en-US" sz="1700" dirty="0"/>
          </a:p>
        </p:txBody>
      </p:sp>
      <p:pic>
        <p:nvPicPr>
          <p:cNvPr id="14" name="Image 4" descr="bed">    </p:cNvPr>
          <p:cNvPicPr>
            <a:picLocks noChangeAspect="1"/>
          </p:cNvPicPr>
          <p:nvPr/>
        </p:nvPicPr>
        <p:blipFill>
          <a:blip r:embed="rId5"/>
          <a:stretch>
            <a:fillRect/>
          </a:stretch>
        </p:blipFill>
        <p:spPr>
          <a:xfrm>
            <a:off x="5120640" y="3131820"/>
            <a:ext cx="548640" cy="548640"/>
          </a:xfrm>
          <a:prstGeom prst="rect">
            <a:avLst/>
          </a:prstGeom>
        </p:spPr>
      </p:pic>
      <p:sp>
        <p:nvSpPr>
          <p:cNvPr id="15" name="Text 7"/>
          <p:cNvSpPr txBox="1"/>
          <p:nvPr/>
        </p:nvSpPr>
        <p:spPr>
          <a:xfrm>
            <a:off x="5760720" y="302209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4</a:t>
            </a:r>
            <a:r>
              <a:rPr lang="en-US" sz="1700" dirty="0">
                <a:solidFill>
                  <a:schemeClr val="tx1"/>
                </a:solidFill>
              </a:rPr>
              <a:t>  </a:t>
            </a:r>
            <a:r>
              <a:rPr lang="en-US" sz="1700" i="1" dirty="0">
                <a:solidFill>
                  <a:schemeClr val="tx1"/>
                </a:solidFill>
              </a:rPr>
              <a:t>Ik ben moe, ik </a:t>
            </a:r>
            <a:r>
              <a:rPr lang="en-US" sz="1700" i="1" dirty="0">
                <a:solidFill>
                  <a:schemeClr val="accent5"/>
                </a:solidFill>
              </a:rPr>
              <a:t>…………</a:t>
            </a:r>
            <a:r>
              <a:rPr lang="en-US" sz="1700" i="1" dirty="0">
                <a:solidFill>
                  <a:schemeClr val="tx1"/>
                </a:solidFill>
              </a:rPr>
              <a:t> slapen.</a:t>
            </a:r>
            <a:endParaRPr lang="en-US" sz="1700" dirty="0"/>
          </a:p>
        </p:txBody>
      </p:sp>
      <p:pic>
        <p:nvPicPr>
          <p:cNvPr id="16" name="Image 5" descr="alarm clock">    </p:cNvPr>
          <p:cNvPicPr>
            <a:picLocks noChangeAspect="1"/>
          </p:cNvPicPr>
          <p:nvPr/>
        </p:nvPicPr>
        <p:blipFill>
          <a:blip r:embed="rId6"/>
          <a:stretch>
            <a:fillRect/>
          </a:stretch>
        </p:blipFill>
        <p:spPr>
          <a:xfrm>
            <a:off x="548640" y="4221480"/>
            <a:ext cx="548640" cy="548640"/>
          </a:xfrm>
          <a:prstGeom prst="rect">
            <a:avLst/>
          </a:prstGeom>
        </p:spPr>
      </p:pic>
      <p:sp>
        <p:nvSpPr>
          <p:cNvPr id="17" name="Text 8"/>
          <p:cNvSpPr txBox="1"/>
          <p:nvPr/>
        </p:nvSpPr>
        <p:spPr>
          <a:xfrm>
            <a:off x="1188720" y="411175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5</a:t>
            </a:r>
            <a:r>
              <a:rPr lang="en-US" sz="1700" dirty="0">
                <a:solidFill>
                  <a:schemeClr val="tx1"/>
                </a:solidFill>
              </a:rPr>
              <a:t>  </a:t>
            </a:r>
            <a:r>
              <a:rPr lang="en-US" sz="1700" i="1" dirty="0">
                <a:solidFill>
                  <a:schemeClr val="tx1"/>
                </a:solidFill>
              </a:rPr>
              <a:t>We </a:t>
            </a:r>
            <a:r>
              <a:rPr lang="en-US" sz="1700" i="1" dirty="0">
                <a:solidFill>
                  <a:schemeClr val="accent5"/>
                </a:solidFill>
              </a:rPr>
              <a:t>…………</a:t>
            </a:r>
            <a:r>
              <a:rPr lang="en-US" sz="1700" i="1" dirty="0">
                <a:solidFill>
                  <a:schemeClr val="tx1"/>
                </a:solidFill>
              </a:rPr>
              <a:t> om 8 uur beginnen: de klant komt om 8.15 uur.</a:t>
            </a:r>
            <a:endParaRPr lang="en-US" sz="1700" dirty="0"/>
          </a:p>
        </p:txBody>
      </p:sp>
      <p:pic>
        <p:nvPicPr>
          <p:cNvPr id="18" name="Image 6" descr="woman office worker">    </p:cNvPr>
          <p:cNvPicPr>
            <a:picLocks noChangeAspect="1"/>
          </p:cNvPicPr>
          <p:nvPr/>
        </p:nvPicPr>
        <p:blipFill>
          <a:blip r:embed="rId7"/>
          <a:stretch>
            <a:fillRect/>
          </a:stretch>
        </p:blipFill>
        <p:spPr>
          <a:xfrm>
            <a:off x="5120640" y="4221480"/>
            <a:ext cx="548640" cy="548640"/>
          </a:xfrm>
          <a:prstGeom prst="rect">
            <a:avLst/>
          </a:prstGeom>
        </p:spPr>
      </p:pic>
      <p:sp>
        <p:nvSpPr>
          <p:cNvPr id="19" name="Text 9"/>
          <p:cNvSpPr txBox="1"/>
          <p:nvPr/>
        </p:nvSpPr>
        <p:spPr>
          <a:xfrm>
            <a:off x="5760720" y="411175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6</a:t>
            </a:r>
            <a:r>
              <a:rPr lang="en-US" sz="1700" dirty="0">
                <a:solidFill>
                  <a:schemeClr val="tx1"/>
                </a:solidFill>
              </a:rPr>
              <a:t>  </a:t>
            </a:r>
            <a:r>
              <a:rPr lang="en-US" sz="1700" i="1" dirty="0">
                <a:solidFill>
                  <a:schemeClr val="tx1"/>
                </a:solidFill>
              </a:rPr>
              <a:t>Sofie </a:t>
            </a:r>
            <a:r>
              <a:rPr lang="en-US" sz="1700" i="1" dirty="0">
                <a:solidFill>
                  <a:schemeClr val="accent5"/>
                </a:solidFill>
              </a:rPr>
              <a:t>…………</a:t>
            </a:r>
            <a:r>
              <a:rPr lang="en-US" sz="1700" i="1" dirty="0">
                <a:solidFill>
                  <a:schemeClr val="tx1"/>
                </a:solidFill>
              </a:rPr>
              <a:t> drie talen spreken.</a:t>
            </a:r>
            <a:endParaRPr lang="en-US" sz="1700" dirty="0"/>
          </a:p>
        </p:txBody>
      </p:sp>
      <p:pic>
        <p:nvPicPr>
          <p:cNvPr id="20" name="Image 7" descr="hot beverage">    </p:cNvPr>
          <p:cNvPicPr>
            <a:picLocks noChangeAspect="1"/>
          </p:cNvPicPr>
          <p:nvPr/>
        </p:nvPicPr>
        <p:blipFill>
          <a:blip r:embed="rId8"/>
          <a:stretch>
            <a:fillRect/>
          </a:stretch>
        </p:blipFill>
        <p:spPr>
          <a:xfrm>
            <a:off x="548640" y="5311140"/>
            <a:ext cx="548640" cy="548640"/>
          </a:xfrm>
          <a:prstGeom prst="rect">
            <a:avLst/>
          </a:prstGeom>
        </p:spPr>
      </p:pic>
      <p:sp>
        <p:nvSpPr>
          <p:cNvPr id="21" name="Text 10"/>
          <p:cNvSpPr txBox="1"/>
          <p:nvPr/>
        </p:nvSpPr>
        <p:spPr>
          <a:xfrm>
            <a:off x="1188720" y="520141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7</a:t>
            </a:r>
            <a:r>
              <a:rPr lang="en-US" sz="1700" dirty="0">
                <a:solidFill>
                  <a:schemeClr val="tx1"/>
                </a:solidFill>
              </a:rPr>
              <a:t>  </a:t>
            </a:r>
            <a:r>
              <a:rPr lang="en-US" sz="1700" i="1" dirty="0">
                <a:solidFill>
                  <a:schemeClr val="accent5"/>
                </a:solidFill>
              </a:rPr>
              <a:t>…………</a:t>
            </a:r>
            <a:r>
              <a:rPr lang="en-US" sz="1700" i="1" dirty="0">
                <a:solidFill>
                  <a:schemeClr val="tx1"/>
                </a:solidFill>
              </a:rPr>
              <a:t> u een koffie?</a:t>
            </a:r>
            <a:endParaRPr lang="en-US" sz="1700" dirty="0"/>
          </a:p>
        </p:txBody>
      </p:sp>
      <p:pic>
        <p:nvPicPr>
          <p:cNvPr id="22" name="Image 8" descr="person swimming">    </p:cNvPr>
          <p:cNvPicPr>
            <a:picLocks noChangeAspect="1"/>
          </p:cNvPicPr>
          <p:nvPr/>
        </p:nvPicPr>
        <p:blipFill>
          <a:blip r:embed="rId9"/>
          <a:stretch>
            <a:fillRect/>
          </a:stretch>
        </p:blipFill>
        <p:spPr>
          <a:xfrm>
            <a:off x="5120640" y="5311140"/>
            <a:ext cx="548640" cy="548640"/>
          </a:xfrm>
          <a:prstGeom prst="rect">
            <a:avLst/>
          </a:prstGeom>
        </p:spPr>
      </p:pic>
      <p:sp>
        <p:nvSpPr>
          <p:cNvPr id="23" name="Text 11"/>
          <p:cNvSpPr txBox="1"/>
          <p:nvPr/>
        </p:nvSpPr>
        <p:spPr>
          <a:xfrm>
            <a:off x="5760720" y="520141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8</a:t>
            </a:r>
            <a:r>
              <a:rPr lang="en-US" sz="1700" dirty="0">
                <a:solidFill>
                  <a:schemeClr val="tx1"/>
                </a:solidFill>
              </a:rPr>
              <a:t>  </a:t>
            </a:r>
            <a:r>
              <a:rPr lang="en-US" sz="1700" i="1" dirty="0">
                <a:solidFill>
                  <a:schemeClr val="tx1"/>
                </a:solidFill>
              </a:rPr>
              <a:t>Kinderen </a:t>
            </a:r>
            <a:r>
              <a:rPr lang="en-US" sz="1700" i="1" dirty="0">
                <a:solidFill>
                  <a:schemeClr val="accent5"/>
                </a:solidFill>
              </a:rPr>
              <a:t>…………</a:t>
            </a:r>
            <a:r>
              <a:rPr lang="en-US" sz="1700" i="1" dirty="0">
                <a:solidFill>
                  <a:schemeClr val="tx1"/>
                </a:solidFill>
              </a:rPr>
              <a:t> hier niet zwemmen.</a:t>
            </a:r>
            <a:endParaRPr lang="en-US" sz="1700" dirty="0"/>
          </a:p>
        </p:txBody>
      </p:sp>
      <p:sp>
        <p:nvSpPr>
          <p:cNvPr id="24" name="Shape 12"/>
          <p:cNvSpPr/>
          <p:nvPr/>
        </p:nvSpPr>
        <p:spPr>
          <a:xfrm>
            <a:off x="9829800" y="2005584"/>
            <a:ext cx="1810512" cy="943356"/>
          </a:xfrm>
          <a:prstGeom prst="roundRect">
            <a:avLst>
              <a:gd name="adj" fmla="val 7754"/>
            </a:avLst>
          </a:prstGeom>
          <a:solidFill>
            <a:schemeClr val="accent2">
              <a:alpha val="15000"/>
            </a:schemeClr>
          </a:solidFill>
          <a:ln w="15875">
            <a:solidFill>
              <a:srgbClr val="2A6FB0"/>
            </a:solidFill>
            <a:prstDash val="solid"/>
          </a:ln>
        </p:spPr>
      </p:sp>
      <p:pic>
        <p:nvPicPr>
          <p:cNvPr id="25" name="Image 9" descr="flexed biceps">    </p:cNvPr>
          <p:cNvPicPr>
            <a:picLocks noChangeAspect="1"/>
          </p:cNvPicPr>
          <p:nvPr/>
        </p:nvPicPr>
        <p:blipFill>
          <a:blip r:embed="rId10"/>
          <a:stretch>
            <a:fillRect/>
          </a:stretch>
        </p:blipFill>
        <p:spPr>
          <a:xfrm>
            <a:off x="9921240" y="2161032"/>
            <a:ext cx="502920" cy="502920"/>
          </a:xfrm>
          <a:prstGeom prst="rect">
            <a:avLst/>
          </a:prstGeom>
        </p:spPr>
      </p:pic>
      <p:sp>
        <p:nvSpPr>
          <p:cNvPr id="26" name="Text 13"/>
          <p:cNvSpPr txBox="1"/>
          <p:nvPr/>
        </p:nvSpPr>
        <p:spPr>
          <a:xfrm>
            <a:off x="10469880" y="2005584"/>
            <a:ext cx="1143000" cy="943356"/>
          </a:xfrm>
          <a:prstGeom prst="rect">
            <a:avLst/>
          </a:prstGeom>
          <a:noFill/>
          <a:ln/>
        </p:spPr>
        <p:txBody>
          <a:bodyPr wrap="square" lIns="0" tIns="0" rIns="0" bIns="0" rtlCol="0" anchor="ctr"/>
          <a:lstStyle/>
          <a:p>
            <a:pPr algn="l" indent="0" marL="0">
              <a:buNone/>
            </a:pPr>
            <a:r>
              <a:rPr lang="en-US" sz="1400" b="1" dirty="0">
                <a:solidFill>
                  <a:schemeClr val="accent2"/>
                </a:solidFill>
              </a:rPr>
              <a:t>kunnen</a:t>
            </a:r>
            <a:endParaRPr lang="en-US" sz="1400" dirty="0"/>
          </a:p>
        </p:txBody>
      </p:sp>
      <p:sp>
        <p:nvSpPr>
          <p:cNvPr id="27" name="Shape 14"/>
          <p:cNvSpPr/>
          <p:nvPr/>
        </p:nvSpPr>
        <p:spPr>
          <a:xfrm>
            <a:off x="9829800" y="3095244"/>
            <a:ext cx="1810512" cy="943356"/>
          </a:xfrm>
          <a:prstGeom prst="roundRect">
            <a:avLst>
              <a:gd name="adj" fmla="val 7754"/>
            </a:avLst>
          </a:prstGeom>
          <a:solidFill>
            <a:schemeClr val="accent3">
              <a:alpha val="15000"/>
            </a:schemeClr>
          </a:solidFill>
          <a:ln w="15875">
            <a:solidFill>
              <a:srgbClr val="2E7D4F"/>
            </a:solidFill>
            <a:prstDash val="solid"/>
          </a:ln>
        </p:spPr>
      </p:sp>
      <p:pic>
        <p:nvPicPr>
          <p:cNvPr id="28" name="Image 10" descr="check mark button">    </p:cNvPr>
          <p:cNvPicPr>
            <a:picLocks noChangeAspect="1"/>
          </p:cNvPicPr>
          <p:nvPr/>
        </p:nvPicPr>
        <p:blipFill>
          <a:blip r:embed="rId11"/>
          <a:stretch>
            <a:fillRect/>
          </a:stretch>
        </p:blipFill>
        <p:spPr>
          <a:xfrm>
            <a:off x="9921240" y="3250692"/>
            <a:ext cx="502920" cy="502920"/>
          </a:xfrm>
          <a:prstGeom prst="rect">
            <a:avLst/>
          </a:prstGeom>
        </p:spPr>
      </p:pic>
      <p:sp>
        <p:nvSpPr>
          <p:cNvPr id="29" name="Text 15"/>
          <p:cNvSpPr txBox="1"/>
          <p:nvPr/>
        </p:nvSpPr>
        <p:spPr>
          <a:xfrm>
            <a:off x="10469880" y="3095244"/>
            <a:ext cx="1143000" cy="943356"/>
          </a:xfrm>
          <a:prstGeom prst="rect">
            <a:avLst/>
          </a:prstGeom>
          <a:noFill/>
          <a:ln/>
        </p:spPr>
        <p:txBody>
          <a:bodyPr wrap="square" lIns="0" tIns="0" rIns="0" bIns="0" rtlCol="0" anchor="ctr"/>
          <a:lstStyle/>
          <a:p>
            <a:pPr algn="l" indent="0" marL="0">
              <a:buNone/>
            </a:pPr>
            <a:r>
              <a:rPr lang="en-US" sz="1400" b="1" dirty="0">
                <a:solidFill>
                  <a:schemeClr val="accent3"/>
                </a:solidFill>
              </a:rPr>
              <a:t>mogen</a:t>
            </a:r>
            <a:endParaRPr lang="en-US" sz="1400" dirty="0"/>
          </a:p>
        </p:txBody>
      </p:sp>
      <p:sp>
        <p:nvSpPr>
          <p:cNvPr id="30" name="Shape 16"/>
          <p:cNvSpPr/>
          <p:nvPr/>
        </p:nvSpPr>
        <p:spPr>
          <a:xfrm>
            <a:off x="9829800" y="4184904"/>
            <a:ext cx="1810512" cy="943356"/>
          </a:xfrm>
          <a:prstGeom prst="roundRect">
            <a:avLst>
              <a:gd name="adj" fmla="val 7754"/>
            </a:avLst>
          </a:prstGeom>
          <a:solidFill>
            <a:schemeClr val="accent4">
              <a:alpha val="15000"/>
            </a:schemeClr>
          </a:solidFill>
          <a:ln w="15875">
            <a:solidFill>
              <a:srgbClr val="B4236A"/>
            </a:solidFill>
            <a:prstDash val="solid"/>
          </a:ln>
        </p:spPr>
      </p:sp>
      <p:pic>
        <p:nvPicPr>
          <p:cNvPr id="31" name="Image 11" descr="red heart">    </p:cNvPr>
          <p:cNvPicPr>
            <a:picLocks noChangeAspect="1"/>
          </p:cNvPicPr>
          <p:nvPr/>
        </p:nvPicPr>
        <p:blipFill>
          <a:blip r:embed="rId12"/>
          <a:stretch>
            <a:fillRect/>
          </a:stretch>
        </p:blipFill>
        <p:spPr>
          <a:xfrm>
            <a:off x="9921240" y="4340352"/>
            <a:ext cx="502920" cy="502920"/>
          </a:xfrm>
          <a:prstGeom prst="rect">
            <a:avLst/>
          </a:prstGeom>
        </p:spPr>
      </p:pic>
      <p:sp>
        <p:nvSpPr>
          <p:cNvPr id="32" name="Text 17"/>
          <p:cNvSpPr txBox="1"/>
          <p:nvPr/>
        </p:nvSpPr>
        <p:spPr>
          <a:xfrm>
            <a:off x="10469880" y="4184904"/>
            <a:ext cx="1143000" cy="943356"/>
          </a:xfrm>
          <a:prstGeom prst="rect">
            <a:avLst/>
          </a:prstGeom>
          <a:noFill/>
          <a:ln/>
        </p:spPr>
        <p:txBody>
          <a:bodyPr wrap="square" lIns="0" tIns="0" rIns="0" bIns="0" rtlCol="0" anchor="ctr"/>
          <a:lstStyle/>
          <a:p>
            <a:pPr algn="l" indent="0" marL="0">
              <a:buNone/>
            </a:pPr>
            <a:r>
              <a:rPr lang="en-US" sz="1400" b="1" dirty="0">
                <a:solidFill>
                  <a:schemeClr val="accent4"/>
                </a:solidFill>
              </a:rPr>
              <a:t>willen</a:t>
            </a:r>
            <a:endParaRPr lang="en-US" sz="1400" dirty="0"/>
          </a:p>
        </p:txBody>
      </p:sp>
      <p:sp>
        <p:nvSpPr>
          <p:cNvPr id="33" name="Shape 18"/>
          <p:cNvSpPr/>
          <p:nvPr/>
        </p:nvSpPr>
        <p:spPr>
          <a:xfrm>
            <a:off x="9829800" y="5274564"/>
            <a:ext cx="1810512" cy="943356"/>
          </a:xfrm>
          <a:prstGeom prst="roundRect">
            <a:avLst>
              <a:gd name="adj" fmla="val 7754"/>
            </a:avLst>
          </a:prstGeom>
          <a:solidFill>
            <a:schemeClr val="accent6">
              <a:alpha val="15000"/>
            </a:schemeClr>
          </a:solidFill>
          <a:ln w="15875">
            <a:solidFill>
              <a:srgbClr val="B83227"/>
            </a:solidFill>
            <a:prstDash val="solid"/>
          </a:ln>
        </p:spPr>
      </p:sp>
      <p:pic>
        <p:nvPicPr>
          <p:cNvPr id="34" name="Image 12" descr="stop sign">    </p:cNvPr>
          <p:cNvPicPr>
            <a:picLocks noChangeAspect="1"/>
          </p:cNvPicPr>
          <p:nvPr/>
        </p:nvPicPr>
        <p:blipFill>
          <a:blip r:embed="rId13"/>
          <a:stretch>
            <a:fillRect/>
          </a:stretch>
        </p:blipFill>
        <p:spPr>
          <a:xfrm>
            <a:off x="9921240" y="5430012"/>
            <a:ext cx="502920" cy="502920"/>
          </a:xfrm>
          <a:prstGeom prst="rect">
            <a:avLst/>
          </a:prstGeom>
        </p:spPr>
      </p:pic>
      <p:sp>
        <p:nvSpPr>
          <p:cNvPr id="35" name="Text 19"/>
          <p:cNvSpPr txBox="1"/>
          <p:nvPr/>
        </p:nvSpPr>
        <p:spPr>
          <a:xfrm>
            <a:off x="10469880" y="5274564"/>
            <a:ext cx="1143000" cy="943356"/>
          </a:xfrm>
          <a:prstGeom prst="rect">
            <a:avLst/>
          </a:prstGeom>
          <a:noFill/>
          <a:ln/>
        </p:spPr>
        <p:txBody>
          <a:bodyPr wrap="square" lIns="0" tIns="0" rIns="0" bIns="0" rtlCol="0" anchor="ctr"/>
          <a:lstStyle/>
          <a:p>
            <a:pPr algn="l" indent="0" marL="0">
              <a:buNone/>
            </a:pPr>
            <a:r>
              <a:rPr lang="en-US" sz="1400" b="1" dirty="0">
                <a:solidFill>
                  <a:schemeClr val="accent6"/>
                </a:solidFill>
              </a:rPr>
              <a:t>moeten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Le bon verbe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kunnen, mogen, willen ou moeten (conjugué).</a:t>
            </a:r>
            <a:endParaRPr lang="en-US" sz="1700" dirty="0"/>
          </a:p>
        </p:txBody>
      </p:sp>
      <p:pic>
        <p:nvPicPr>
          <p:cNvPr id="9" name="Image 1" descr="cooking">    </p:cNvPr>
          <p:cNvPicPr>
            <a:picLocks noChangeAspect="1"/>
          </p:cNvPicPr>
          <p:nvPr/>
        </p:nvPicPr>
        <p:blipFill>
          <a:blip r:embed="rId2"/>
          <a:stretch>
            <a:fillRect/>
          </a:stretch>
        </p:blipFill>
        <p:spPr>
          <a:xfrm>
            <a:off x="548640" y="2042160"/>
            <a:ext cx="548640" cy="548640"/>
          </a:xfrm>
          <a:prstGeom prst="rect">
            <a:avLst/>
          </a:prstGeom>
        </p:spPr>
      </p:pic>
      <p:sp>
        <p:nvSpPr>
          <p:cNvPr id="10" name="Text 5"/>
          <p:cNvSpPr txBox="1"/>
          <p:nvPr/>
        </p:nvSpPr>
        <p:spPr>
          <a:xfrm>
            <a:off x="1188720" y="193243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1</a:t>
            </a:r>
            <a:r>
              <a:rPr lang="en-US" sz="1700" dirty="0">
                <a:solidFill>
                  <a:schemeClr val="tx1"/>
                </a:solidFill>
              </a:rPr>
              <a:t>  </a:t>
            </a:r>
            <a:r>
              <a:rPr lang="en-US" sz="1700" i="1" dirty="0">
                <a:solidFill>
                  <a:schemeClr val="tx1"/>
                </a:solidFill>
              </a:rPr>
              <a:t>Ik </a:t>
            </a:r>
            <a:r>
              <a:rPr lang="en-US" sz="1700" b="1" i="1" dirty="0">
                <a:solidFill>
                  <a:schemeClr val="accent3"/>
                </a:solidFill>
              </a:rPr>
              <a:t>kan</a:t>
            </a:r>
            <a:r>
              <a:rPr lang="en-US" sz="1700" i="1" dirty="0">
                <a:solidFill>
                  <a:schemeClr val="tx1"/>
                </a:solidFill>
              </a:rPr>
              <a:t> goed koken.</a:t>
            </a:r>
            <a:endParaRPr lang="en-US" sz="1700" dirty="0"/>
          </a:p>
        </p:txBody>
      </p:sp>
      <p:pic>
        <p:nvPicPr>
          <p:cNvPr id="11" name="Image 2" descr="window">    </p:cNvPr>
          <p:cNvPicPr>
            <a:picLocks noChangeAspect="1"/>
          </p:cNvPicPr>
          <p:nvPr/>
        </p:nvPicPr>
        <p:blipFill>
          <a:blip r:embed="rId3"/>
          <a:stretch>
            <a:fillRect/>
          </a:stretch>
        </p:blipFill>
        <p:spPr>
          <a:xfrm>
            <a:off x="5120640" y="2042160"/>
            <a:ext cx="548640" cy="548640"/>
          </a:xfrm>
          <a:prstGeom prst="rect">
            <a:avLst/>
          </a:prstGeom>
        </p:spPr>
      </p:pic>
      <p:sp>
        <p:nvSpPr>
          <p:cNvPr id="12" name="Text 6"/>
          <p:cNvSpPr txBox="1"/>
          <p:nvPr/>
        </p:nvSpPr>
        <p:spPr>
          <a:xfrm>
            <a:off x="5760720" y="193243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2</a:t>
            </a:r>
            <a:r>
              <a:rPr lang="en-US" sz="1700" dirty="0">
                <a:solidFill>
                  <a:schemeClr val="tx1"/>
                </a:solidFill>
              </a:rPr>
              <a:t>  </a:t>
            </a:r>
            <a:r>
              <a:rPr lang="en-US" sz="1700" b="1" i="1" dirty="0">
                <a:solidFill>
                  <a:schemeClr val="accent3"/>
                </a:solidFill>
              </a:rPr>
              <a:t>Mag</a:t>
            </a:r>
            <a:r>
              <a:rPr lang="en-US" sz="1700" i="1" dirty="0">
                <a:solidFill>
                  <a:schemeClr val="tx1"/>
                </a:solidFill>
              </a:rPr>
              <a:t> ik het raam opendoen?</a:t>
            </a:r>
            <a:endParaRPr lang="en-US" sz="1700" dirty="0"/>
          </a:p>
        </p:txBody>
      </p:sp>
      <p:pic>
        <p:nvPicPr>
          <p:cNvPr id="13" name="Image 3" descr="cigarette">    </p:cNvPr>
          <p:cNvPicPr>
            <a:picLocks noChangeAspect="1"/>
          </p:cNvPicPr>
          <p:nvPr/>
        </p:nvPicPr>
        <p:blipFill>
          <a:blip r:embed="rId4"/>
          <a:stretch>
            <a:fillRect/>
          </a:stretch>
        </p:blipFill>
        <p:spPr>
          <a:xfrm>
            <a:off x="548640" y="3131820"/>
            <a:ext cx="548640" cy="548640"/>
          </a:xfrm>
          <a:prstGeom prst="rect">
            <a:avLst/>
          </a:prstGeom>
        </p:spPr>
      </p:pic>
      <p:sp>
        <p:nvSpPr>
          <p:cNvPr id="14" name="Text 7"/>
          <p:cNvSpPr txBox="1"/>
          <p:nvPr/>
        </p:nvSpPr>
        <p:spPr>
          <a:xfrm>
            <a:off x="1188720" y="302209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3</a:t>
            </a:r>
            <a:r>
              <a:rPr lang="en-US" sz="1700" dirty="0">
                <a:solidFill>
                  <a:schemeClr val="tx1"/>
                </a:solidFill>
              </a:rPr>
              <a:t>  </a:t>
            </a:r>
            <a:r>
              <a:rPr lang="en-US" sz="1700" i="1" dirty="0">
                <a:solidFill>
                  <a:schemeClr val="tx1"/>
                </a:solidFill>
              </a:rPr>
              <a:t>Je </a:t>
            </a:r>
            <a:r>
              <a:rPr lang="en-US" sz="1700" b="1" i="1" dirty="0">
                <a:solidFill>
                  <a:schemeClr val="accent3"/>
                </a:solidFill>
              </a:rPr>
              <a:t>mag</a:t>
            </a:r>
            <a:r>
              <a:rPr lang="en-US" sz="1700" i="1" dirty="0">
                <a:solidFill>
                  <a:schemeClr val="tx1"/>
                </a:solidFill>
              </a:rPr>
              <a:t> hier niet roken.</a:t>
            </a:r>
            <a:endParaRPr lang="en-US" sz="1700" dirty="0"/>
          </a:p>
        </p:txBody>
      </p:sp>
      <p:pic>
        <p:nvPicPr>
          <p:cNvPr id="15" name="Image 4" descr="bed">    </p:cNvPr>
          <p:cNvPicPr>
            <a:picLocks noChangeAspect="1"/>
          </p:cNvPicPr>
          <p:nvPr/>
        </p:nvPicPr>
        <p:blipFill>
          <a:blip r:embed="rId5"/>
          <a:stretch>
            <a:fillRect/>
          </a:stretch>
        </p:blipFill>
        <p:spPr>
          <a:xfrm>
            <a:off x="5120640" y="3131820"/>
            <a:ext cx="548640" cy="548640"/>
          </a:xfrm>
          <a:prstGeom prst="rect">
            <a:avLst/>
          </a:prstGeom>
        </p:spPr>
      </p:pic>
      <p:sp>
        <p:nvSpPr>
          <p:cNvPr id="16" name="Text 8"/>
          <p:cNvSpPr txBox="1"/>
          <p:nvPr/>
        </p:nvSpPr>
        <p:spPr>
          <a:xfrm>
            <a:off x="5760720" y="302209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4</a:t>
            </a:r>
            <a:r>
              <a:rPr lang="en-US" sz="1700" dirty="0">
                <a:solidFill>
                  <a:schemeClr val="tx1"/>
                </a:solidFill>
              </a:rPr>
              <a:t>  </a:t>
            </a:r>
            <a:r>
              <a:rPr lang="en-US" sz="1700" i="1" dirty="0">
                <a:solidFill>
                  <a:schemeClr val="tx1"/>
                </a:solidFill>
              </a:rPr>
              <a:t>Ik ben moe, ik </a:t>
            </a:r>
            <a:r>
              <a:rPr lang="en-US" sz="1700" b="1" i="1" dirty="0">
                <a:solidFill>
                  <a:schemeClr val="accent3"/>
                </a:solidFill>
              </a:rPr>
              <a:t>wil</a:t>
            </a:r>
            <a:r>
              <a:rPr lang="en-US" sz="1700" i="1" dirty="0">
                <a:solidFill>
                  <a:schemeClr val="tx1"/>
                </a:solidFill>
              </a:rPr>
              <a:t> slapen.</a:t>
            </a:r>
            <a:endParaRPr lang="en-US" sz="1700" dirty="0"/>
          </a:p>
        </p:txBody>
      </p:sp>
      <p:pic>
        <p:nvPicPr>
          <p:cNvPr id="17" name="Image 5" descr="alarm clock">    </p:cNvPr>
          <p:cNvPicPr>
            <a:picLocks noChangeAspect="1"/>
          </p:cNvPicPr>
          <p:nvPr/>
        </p:nvPicPr>
        <p:blipFill>
          <a:blip r:embed="rId6"/>
          <a:stretch>
            <a:fillRect/>
          </a:stretch>
        </p:blipFill>
        <p:spPr>
          <a:xfrm>
            <a:off x="548640" y="4221480"/>
            <a:ext cx="548640" cy="548640"/>
          </a:xfrm>
          <a:prstGeom prst="rect">
            <a:avLst/>
          </a:prstGeom>
        </p:spPr>
      </p:pic>
      <p:sp>
        <p:nvSpPr>
          <p:cNvPr id="18" name="Text 9"/>
          <p:cNvSpPr txBox="1"/>
          <p:nvPr/>
        </p:nvSpPr>
        <p:spPr>
          <a:xfrm>
            <a:off x="1188720" y="411175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5</a:t>
            </a:r>
            <a:r>
              <a:rPr lang="en-US" sz="1700" dirty="0">
                <a:solidFill>
                  <a:schemeClr val="tx1"/>
                </a:solidFill>
              </a:rPr>
              <a:t>  </a:t>
            </a:r>
            <a:r>
              <a:rPr lang="en-US" sz="1700" i="1" dirty="0">
                <a:solidFill>
                  <a:schemeClr val="tx1"/>
                </a:solidFill>
              </a:rPr>
              <a:t>We </a:t>
            </a:r>
            <a:r>
              <a:rPr lang="en-US" sz="1700" b="1" i="1" dirty="0">
                <a:solidFill>
                  <a:schemeClr val="accent3"/>
                </a:solidFill>
              </a:rPr>
              <a:t>moeten</a:t>
            </a:r>
            <a:r>
              <a:rPr lang="en-US" sz="1700" i="1" dirty="0">
                <a:solidFill>
                  <a:schemeClr val="tx1"/>
                </a:solidFill>
              </a:rPr>
              <a:t> om 8 uur beginnen: de klant komt om 8.15 uur.</a:t>
            </a:r>
            <a:endParaRPr lang="en-US" sz="1700" dirty="0"/>
          </a:p>
        </p:txBody>
      </p:sp>
      <p:pic>
        <p:nvPicPr>
          <p:cNvPr id="19" name="Image 6" descr="woman office worker">    </p:cNvPr>
          <p:cNvPicPr>
            <a:picLocks noChangeAspect="1"/>
          </p:cNvPicPr>
          <p:nvPr/>
        </p:nvPicPr>
        <p:blipFill>
          <a:blip r:embed="rId7"/>
          <a:stretch>
            <a:fillRect/>
          </a:stretch>
        </p:blipFill>
        <p:spPr>
          <a:xfrm>
            <a:off x="5120640" y="4221480"/>
            <a:ext cx="548640" cy="548640"/>
          </a:xfrm>
          <a:prstGeom prst="rect">
            <a:avLst/>
          </a:prstGeom>
        </p:spPr>
      </p:pic>
      <p:sp>
        <p:nvSpPr>
          <p:cNvPr id="20" name="Text 10"/>
          <p:cNvSpPr txBox="1"/>
          <p:nvPr/>
        </p:nvSpPr>
        <p:spPr>
          <a:xfrm>
            <a:off x="5760720" y="411175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6</a:t>
            </a:r>
            <a:r>
              <a:rPr lang="en-US" sz="1700" dirty="0">
                <a:solidFill>
                  <a:schemeClr val="tx1"/>
                </a:solidFill>
              </a:rPr>
              <a:t>  </a:t>
            </a:r>
            <a:r>
              <a:rPr lang="en-US" sz="1700" i="1" dirty="0">
                <a:solidFill>
                  <a:schemeClr val="tx1"/>
                </a:solidFill>
              </a:rPr>
              <a:t>Sofie </a:t>
            </a:r>
            <a:r>
              <a:rPr lang="en-US" sz="1700" b="1" i="1" dirty="0">
                <a:solidFill>
                  <a:schemeClr val="accent3"/>
                </a:solidFill>
              </a:rPr>
              <a:t>kan</a:t>
            </a:r>
            <a:r>
              <a:rPr lang="en-US" sz="1700" i="1" dirty="0">
                <a:solidFill>
                  <a:schemeClr val="tx1"/>
                </a:solidFill>
              </a:rPr>
              <a:t> drie talen spreken.</a:t>
            </a:r>
            <a:endParaRPr lang="en-US" sz="1700" dirty="0"/>
          </a:p>
        </p:txBody>
      </p:sp>
      <p:pic>
        <p:nvPicPr>
          <p:cNvPr id="21" name="Image 7" descr="hot beverage">    </p:cNvPr>
          <p:cNvPicPr>
            <a:picLocks noChangeAspect="1"/>
          </p:cNvPicPr>
          <p:nvPr/>
        </p:nvPicPr>
        <p:blipFill>
          <a:blip r:embed="rId8"/>
          <a:stretch>
            <a:fillRect/>
          </a:stretch>
        </p:blipFill>
        <p:spPr>
          <a:xfrm>
            <a:off x="548640" y="5311140"/>
            <a:ext cx="548640" cy="548640"/>
          </a:xfrm>
          <a:prstGeom prst="rect">
            <a:avLst/>
          </a:prstGeom>
        </p:spPr>
      </p:pic>
      <p:sp>
        <p:nvSpPr>
          <p:cNvPr id="22" name="Text 11"/>
          <p:cNvSpPr txBox="1"/>
          <p:nvPr/>
        </p:nvSpPr>
        <p:spPr>
          <a:xfrm>
            <a:off x="1188720" y="520141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7</a:t>
            </a:r>
            <a:r>
              <a:rPr lang="en-US" sz="1700" dirty="0">
                <a:solidFill>
                  <a:schemeClr val="tx1"/>
                </a:solidFill>
              </a:rPr>
              <a:t>  </a:t>
            </a:r>
            <a:r>
              <a:rPr lang="en-US" sz="1700" b="1" i="1" dirty="0">
                <a:solidFill>
                  <a:schemeClr val="accent3"/>
                </a:solidFill>
              </a:rPr>
              <a:t>Wilt</a:t>
            </a:r>
            <a:r>
              <a:rPr lang="en-US" sz="1700" i="1" dirty="0">
                <a:solidFill>
                  <a:schemeClr val="tx1"/>
                </a:solidFill>
              </a:rPr>
              <a:t> u een koffie?</a:t>
            </a:r>
            <a:endParaRPr lang="en-US" sz="1700" dirty="0"/>
          </a:p>
        </p:txBody>
      </p:sp>
      <p:pic>
        <p:nvPicPr>
          <p:cNvPr id="23" name="Image 8" descr="person swimming">    </p:cNvPr>
          <p:cNvPicPr>
            <a:picLocks noChangeAspect="1"/>
          </p:cNvPicPr>
          <p:nvPr/>
        </p:nvPicPr>
        <p:blipFill>
          <a:blip r:embed="rId9"/>
          <a:stretch>
            <a:fillRect/>
          </a:stretch>
        </p:blipFill>
        <p:spPr>
          <a:xfrm>
            <a:off x="5120640" y="5311140"/>
            <a:ext cx="548640" cy="548640"/>
          </a:xfrm>
          <a:prstGeom prst="rect">
            <a:avLst/>
          </a:prstGeom>
        </p:spPr>
      </p:pic>
      <p:sp>
        <p:nvSpPr>
          <p:cNvPr id="24" name="Text 12"/>
          <p:cNvSpPr txBox="1"/>
          <p:nvPr/>
        </p:nvSpPr>
        <p:spPr>
          <a:xfrm>
            <a:off x="5760720" y="5201412"/>
            <a:ext cx="3794760" cy="1043940"/>
          </a:xfrm>
          <a:prstGeom prst="rect">
            <a:avLst/>
          </a:prstGeom>
          <a:noFill/>
          <a:ln/>
        </p:spPr>
        <p:txBody>
          <a:bodyPr wrap="square" lIns="0" tIns="0" rIns="0" bIns="0" rtlCol="0" anchor="ctr"/>
          <a:lstStyle/>
          <a:p>
            <a:pPr algn="l" indent="0" marL="0">
              <a:buNone/>
            </a:pPr>
            <a:r>
              <a:rPr lang="en-US" sz="1700" b="1" dirty="0">
                <a:solidFill>
                  <a:schemeClr val="tx1"/>
                </a:solidFill>
              </a:rPr>
              <a:t>8</a:t>
            </a:r>
            <a:r>
              <a:rPr lang="en-US" sz="1700" dirty="0">
                <a:solidFill>
                  <a:schemeClr val="tx1"/>
                </a:solidFill>
              </a:rPr>
              <a:t>  </a:t>
            </a:r>
            <a:r>
              <a:rPr lang="en-US" sz="1700" i="1" dirty="0">
                <a:solidFill>
                  <a:schemeClr val="tx1"/>
                </a:solidFill>
              </a:rPr>
              <a:t>Kinderen </a:t>
            </a:r>
            <a:r>
              <a:rPr lang="en-US" sz="1700" b="1" i="1" dirty="0">
                <a:solidFill>
                  <a:schemeClr val="accent3"/>
                </a:solidFill>
              </a:rPr>
              <a:t>mogen</a:t>
            </a:r>
            <a:r>
              <a:rPr lang="en-US" sz="1700" i="1" dirty="0">
                <a:solidFill>
                  <a:schemeClr val="tx1"/>
                </a:solidFill>
              </a:rPr>
              <a:t> hier niet zwemmen.</a:t>
            </a:r>
            <a:endParaRPr lang="en-US" sz="1700" dirty="0"/>
          </a:p>
        </p:txBody>
      </p:sp>
      <p:sp>
        <p:nvSpPr>
          <p:cNvPr id="25" name="Shape 13"/>
          <p:cNvSpPr/>
          <p:nvPr/>
        </p:nvSpPr>
        <p:spPr>
          <a:xfrm>
            <a:off x="9829800" y="2005584"/>
            <a:ext cx="1810512" cy="943356"/>
          </a:xfrm>
          <a:prstGeom prst="roundRect">
            <a:avLst>
              <a:gd name="adj" fmla="val 7754"/>
            </a:avLst>
          </a:prstGeom>
          <a:solidFill>
            <a:schemeClr val="accent2">
              <a:alpha val="15000"/>
            </a:schemeClr>
          </a:solidFill>
          <a:ln w="15875">
            <a:solidFill>
              <a:srgbClr val="2A6FB0"/>
            </a:solidFill>
            <a:prstDash val="solid"/>
          </a:ln>
        </p:spPr>
      </p:sp>
      <p:pic>
        <p:nvPicPr>
          <p:cNvPr id="26" name="Image 9" descr="flexed biceps">    </p:cNvPr>
          <p:cNvPicPr>
            <a:picLocks noChangeAspect="1"/>
          </p:cNvPicPr>
          <p:nvPr/>
        </p:nvPicPr>
        <p:blipFill>
          <a:blip r:embed="rId10"/>
          <a:stretch>
            <a:fillRect/>
          </a:stretch>
        </p:blipFill>
        <p:spPr>
          <a:xfrm>
            <a:off x="9921240" y="2161032"/>
            <a:ext cx="502920" cy="502920"/>
          </a:xfrm>
          <a:prstGeom prst="rect">
            <a:avLst/>
          </a:prstGeom>
        </p:spPr>
      </p:pic>
      <p:sp>
        <p:nvSpPr>
          <p:cNvPr id="27" name="Text 14"/>
          <p:cNvSpPr txBox="1"/>
          <p:nvPr/>
        </p:nvSpPr>
        <p:spPr>
          <a:xfrm>
            <a:off x="10469880" y="2005584"/>
            <a:ext cx="1143000" cy="943356"/>
          </a:xfrm>
          <a:prstGeom prst="rect">
            <a:avLst/>
          </a:prstGeom>
          <a:noFill/>
          <a:ln/>
        </p:spPr>
        <p:txBody>
          <a:bodyPr wrap="square" lIns="0" tIns="0" rIns="0" bIns="0" rtlCol="0" anchor="ctr"/>
          <a:lstStyle/>
          <a:p>
            <a:pPr algn="l" indent="0" marL="0">
              <a:buNone/>
            </a:pPr>
            <a:r>
              <a:rPr lang="en-US" sz="1400" b="1" dirty="0">
                <a:solidFill>
                  <a:schemeClr val="accent2"/>
                </a:solidFill>
              </a:rPr>
              <a:t>kunnen</a:t>
            </a:r>
            <a:endParaRPr lang="en-US" sz="1400" dirty="0"/>
          </a:p>
        </p:txBody>
      </p:sp>
      <p:sp>
        <p:nvSpPr>
          <p:cNvPr id="28" name="Shape 15"/>
          <p:cNvSpPr/>
          <p:nvPr/>
        </p:nvSpPr>
        <p:spPr>
          <a:xfrm>
            <a:off x="9829800" y="3095244"/>
            <a:ext cx="1810512" cy="943356"/>
          </a:xfrm>
          <a:prstGeom prst="roundRect">
            <a:avLst>
              <a:gd name="adj" fmla="val 7754"/>
            </a:avLst>
          </a:prstGeom>
          <a:solidFill>
            <a:schemeClr val="accent3">
              <a:alpha val="15000"/>
            </a:schemeClr>
          </a:solidFill>
          <a:ln w="15875">
            <a:solidFill>
              <a:srgbClr val="2E7D4F"/>
            </a:solidFill>
            <a:prstDash val="solid"/>
          </a:ln>
        </p:spPr>
      </p:sp>
      <p:pic>
        <p:nvPicPr>
          <p:cNvPr id="29" name="Image 10" descr="check mark button">    </p:cNvPr>
          <p:cNvPicPr>
            <a:picLocks noChangeAspect="1"/>
          </p:cNvPicPr>
          <p:nvPr/>
        </p:nvPicPr>
        <p:blipFill>
          <a:blip r:embed="rId11"/>
          <a:stretch>
            <a:fillRect/>
          </a:stretch>
        </p:blipFill>
        <p:spPr>
          <a:xfrm>
            <a:off x="9921240" y="3250692"/>
            <a:ext cx="502920" cy="502920"/>
          </a:xfrm>
          <a:prstGeom prst="rect">
            <a:avLst/>
          </a:prstGeom>
        </p:spPr>
      </p:pic>
      <p:sp>
        <p:nvSpPr>
          <p:cNvPr id="30" name="Text 16"/>
          <p:cNvSpPr txBox="1"/>
          <p:nvPr/>
        </p:nvSpPr>
        <p:spPr>
          <a:xfrm>
            <a:off x="10469880" y="3095244"/>
            <a:ext cx="1143000" cy="943356"/>
          </a:xfrm>
          <a:prstGeom prst="rect">
            <a:avLst/>
          </a:prstGeom>
          <a:noFill/>
          <a:ln/>
        </p:spPr>
        <p:txBody>
          <a:bodyPr wrap="square" lIns="0" tIns="0" rIns="0" bIns="0" rtlCol="0" anchor="ctr"/>
          <a:lstStyle/>
          <a:p>
            <a:pPr algn="l" indent="0" marL="0">
              <a:buNone/>
            </a:pPr>
            <a:r>
              <a:rPr lang="en-US" sz="1400" b="1" dirty="0">
                <a:solidFill>
                  <a:schemeClr val="accent3"/>
                </a:solidFill>
              </a:rPr>
              <a:t>mogen</a:t>
            </a:r>
            <a:endParaRPr lang="en-US" sz="1400" dirty="0"/>
          </a:p>
        </p:txBody>
      </p:sp>
      <p:sp>
        <p:nvSpPr>
          <p:cNvPr id="31" name="Shape 17"/>
          <p:cNvSpPr/>
          <p:nvPr/>
        </p:nvSpPr>
        <p:spPr>
          <a:xfrm>
            <a:off x="9829800" y="4184904"/>
            <a:ext cx="1810512" cy="943356"/>
          </a:xfrm>
          <a:prstGeom prst="roundRect">
            <a:avLst>
              <a:gd name="adj" fmla="val 7754"/>
            </a:avLst>
          </a:prstGeom>
          <a:solidFill>
            <a:schemeClr val="accent4">
              <a:alpha val="15000"/>
            </a:schemeClr>
          </a:solidFill>
          <a:ln w="15875">
            <a:solidFill>
              <a:srgbClr val="B4236A"/>
            </a:solidFill>
            <a:prstDash val="solid"/>
          </a:ln>
        </p:spPr>
      </p:sp>
      <p:pic>
        <p:nvPicPr>
          <p:cNvPr id="32" name="Image 11" descr="red heart">    </p:cNvPr>
          <p:cNvPicPr>
            <a:picLocks noChangeAspect="1"/>
          </p:cNvPicPr>
          <p:nvPr/>
        </p:nvPicPr>
        <p:blipFill>
          <a:blip r:embed="rId12"/>
          <a:stretch>
            <a:fillRect/>
          </a:stretch>
        </p:blipFill>
        <p:spPr>
          <a:xfrm>
            <a:off x="9921240" y="4340352"/>
            <a:ext cx="502920" cy="502920"/>
          </a:xfrm>
          <a:prstGeom prst="rect">
            <a:avLst/>
          </a:prstGeom>
        </p:spPr>
      </p:pic>
      <p:sp>
        <p:nvSpPr>
          <p:cNvPr id="33" name="Text 18"/>
          <p:cNvSpPr txBox="1"/>
          <p:nvPr/>
        </p:nvSpPr>
        <p:spPr>
          <a:xfrm>
            <a:off x="10469880" y="4184904"/>
            <a:ext cx="1143000" cy="943356"/>
          </a:xfrm>
          <a:prstGeom prst="rect">
            <a:avLst/>
          </a:prstGeom>
          <a:noFill/>
          <a:ln/>
        </p:spPr>
        <p:txBody>
          <a:bodyPr wrap="square" lIns="0" tIns="0" rIns="0" bIns="0" rtlCol="0" anchor="ctr"/>
          <a:lstStyle/>
          <a:p>
            <a:pPr algn="l" indent="0" marL="0">
              <a:buNone/>
            </a:pPr>
            <a:r>
              <a:rPr lang="en-US" sz="1400" b="1" dirty="0">
                <a:solidFill>
                  <a:schemeClr val="accent4"/>
                </a:solidFill>
              </a:rPr>
              <a:t>willen</a:t>
            </a:r>
            <a:endParaRPr lang="en-US" sz="1400" dirty="0"/>
          </a:p>
        </p:txBody>
      </p:sp>
      <p:sp>
        <p:nvSpPr>
          <p:cNvPr id="34" name="Shape 19"/>
          <p:cNvSpPr/>
          <p:nvPr/>
        </p:nvSpPr>
        <p:spPr>
          <a:xfrm>
            <a:off x="9829800" y="5274564"/>
            <a:ext cx="1810512" cy="943356"/>
          </a:xfrm>
          <a:prstGeom prst="roundRect">
            <a:avLst>
              <a:gd name="adj" fmla="val 7754"/>
            </a:avLst>
          </a:prstGeom>
          <a:solidFill>
            <a:schemeClr val="accent6">
              <a:alpha val="15000"/>
            </a:schemeClr>
          </a:solidFill>
          <a:ln w="15875">
            <a:solidFill>
              <a:srgbClr val="B83227"/>
            </a:solidFill>
            <a:prstDash val="solid"/>
          </a:ln>
        </p:spPr>
      </p:sp>
      <p:pic>
        <p:nvPicPr>
          <p:cNvPr id="35" name="Image 12" descr="stop sign">    </p:cNvPr>
          <p:cNvPicPr>
            <a:picLocks noChangeAspect="1"/>
          </p:cNvPicPr>
          <p:nvPr/>
        </p:nvPicPr>
        <p:blipFill>
          <a:blip r:embed="rId13"/>
          <a:stretch>
            <a:fillRect/>
          </a:stretch>
        </p:blipFill>
        <p:spPr>
          <a:xfrm>
            <a:off x="9921240" y="5430012"/>
            <a:ext cx="502920" cy="502920"/>
          </a:xfrm>
          <a:prstGeom prst="rect">
            <a:avLst/>
          </a:prstGeom>
        </p:spPr>
      </p:pic>
      <p:sp>
        <p:nvSpPr>
          <p:cNvPr id="36" name="Text 20"/>
          <p:cNvSpPr txBox="1"/>
          <p:nvPr/>
        </p:nvSpPr>
        <p:spPr>
          <a:xfrm>
            <a:off x="10469880" y="5274564"/>
            <a:ext cx="1143000" cy="943356"/>
          </a:xfrm>
          <a:prstGeom prst="rect">
            <a:avLst/>
          </a:prstGeom>
          <a:noFill/>
          <a:ln/>
        </p:spPr>
        <p:txBody>
          <a:bodyPr wrap="square" lIns="0" tIns="0" rIns="0" bIns="0" rtlCol="0" anchor="ctr"/>
          <a:lstStyle/>
          <a:p>
            <a:pPr algn="l" indent="0" marL="0">
              <a:buNone/>
            </a:pPr>
            <a:r>
              <a:rPr lang="en-US" sz="1400" b="1" dirty="0">
                <a:solidFill>
                  <a:schemeClr val="accent6"/>
                </a:solidFill>
              </a:rPr>
              <a:t>moeten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Les panneaux</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 chaque panneau ? Formulez la règle avec un verbe de modalité.</a:t>
            </a:r>
            <a:endParaRPr lang="en-US" sz="1700" dirty="0"/>
          </a:p>
        </p:txBody>
      </p:sp>
      <p:sp>
        <p:nvSpPr>
          <p:cNvPr id="8" name="Shape 4"/>
          <p:cNvSpPr/>
          <p:nvPr/>
        </p:nvSpPr>
        <p:spPr>
          <a:xfrm>
            <a:off x="54864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1691640" y="2042160"/>
            <a:ext cx="1234440" cy="1234440"/>
          </a:xfrm>
          <a:prstGeom prst="ellipse">
            <a:avLst/>
          </a:prstGeom>
          <a:solidFill>
            <a:srgbClr val="FFFFFF"/>
          </a:solidFill>
          <a:ln w="50800">
            <a:solidFill>
              <a:srgbClr val="2A6FB0"/>
            </a:solidFill>
            <a:prstDash val="solid"/>
          </a:ln>
        </p:spPr>
      </p:sp>
      <p:pic>
        <p:nvPicPr>
          <p:cNvPr id="10" name="Image 1" descr="no smoking">    </p:cNvPr>
          <p:cNvPicPr>
            <a:picLocks noChangeAspect="1"/>
          </p:cNvPicPr>
          <p:nvPr/>
        </p:nvPicPr>
        <p:blipFill>
          <a:blip r:embed="rId2"/>
          <a:stretch>
            <a:fillRect/>
          </a:stretch>
        </p:blipFill>
        <p:spPr>
          <a:xfrm>
            <a:off x="1892808" y="2243328"/>
            <a:ext cx="822960" cy="822960"/>
          </a:xfrm>
          <a:prstGeom prst="rect">
            <a:avLst/>
          </a:prstGeom>
        </p:spPr>
      </p:pic>
      <p:sp>
        <p:nvSpPr>
          <p:cNvPr id="11" name="Shape 6"/>
          <p:cNvSpPr/>
          <p:nvPr/>
        </p:nvSpPr>
        <p:spPr>
          <a:xfrm>
            <a:off x="822960" y="3700272"/>
            <a:ext cx="2971800" cy="914"/>
          </a:xfrm>
          <a:prstGeom prst="line">
            <a:avLst/>
          </a:prstGeom>
          <a:noFill/>
          <a:ln w="12700">
            <a:solidFill>
              <a:srgbClr val="B8C2CF"/>
            </a:solidFill>
            <a:prstDash val="sysDot"/>
          </a:ln>
        </p:spPr>
      </p:sp>
      <p:sp>
        <p:nvSpPr>
          <p:cNvPr id="12" name="Shape 7"/>
          <p:cNvSpPr/>
          <p:nvPr/>
        </p:nvSpPr>
        <p:spPr>
          <a:xfrm>
            <a:off x="429768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3" name="Shape 8"/>
          <p:cNvSpPr/>
          <p:nvPr/>
        </p:nvSpPr>
        <p:spPr>
          <a:xfrm>
            <a:off x="5440680" y="2042160"/>
            <a:ext cx="1234440" cy="1234440"/>
          </a:xfrm>
          <a:prstGeom prst="ellipse">
            <a:avLst/>
          </a:prstGeom>
          <a:solidFill>
            <a:srgbClr val="FFFFFF"/>
          </a:solidFill>
          <a:ln w="50800">
            <a:solidFill>
              <a:srgbClr val="2A6FB0"/>
            </a:solidFill>
            <a:prstDash val="solid"/>
          </a:ln>
        </p:spPr>
      </p:sp>
      <p:pic>
        <p:nvPicPr>
          <p:cNvPr id="14" name="Image 2" descr="soap">    </p:cNvPr>
          <p:cNvPicPr>
            <a:picLocks noChangeAspect="1"/>
          </p:cNvPicPr>
          <p:nvPr/>
        </p:nvPicPr>
        <p:blipFill>
          <a:blip r:embed="rId3"/>
          <a:stretch>
            <a:fillRect/>
          </a:stretch>
        </p:blipFill>
        <p:spPr>
          <a:xfrm>
            <a:off x="5641848" y="2243328"/>
            <a:ext cx="822960" cy="822960"/>
          </a:xfrm>
          <a:prstGeom prst="rect">
            <a:avLst/>
          </a:prstGeom>
        </p:spPr>
      </p:pic>
      <p:sp>
        <p:nvSpPr>
          <p:cNvPr id="15" name="Shape 9"/>
          <p:cNvSpPr/>
          <p:nvPr/>
        </p:nvSpPr>
        <p:spPr>
          <a:xfrm>
            <a:off x="4572000" y="3700272"/>
            <a:ext cx="2971800" cy="914"/>
          </a:xfrm>
          <a:prstGeom prst="line">
            <a:avLst/>
          </a:prstGeom>
          <a:noFill/>
          <a:ln w="12700">
            <a:solidFill>
              <a:srgbClr val="B8C2CF"/>
            </a:solidFill>
            <a:prstDash val="sysDot"/>
          </a:ln>
        </p:spPr>
      </p:sp>
      <p:sp>
        <p:nvSpPr>
          <p:cNvPr id="16" name="Shape 10"/>
          <p:cNvSpPr/>
          <p:nvPr/>
        </p:nvSpPr>
        <p:spPr>
          <a:xfrm>
            <a:off x="804672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7" name="Shape 11"/>
          <p:cNvSpPr/>
          <p:nvPr/>
        </p:nvSpPr>
        <p:spPr>
          <a:xfrm>
            <a:off x="9189720" y="2042160"/>
            <a:ext cx="1234440" cy="1234440"/>
          </a:xfrm>
          <a:prstGeom prst="ellipse">
            <a:avLst/>
          </a:prstGeom>
          <a:solidFill>
            <a:srgbClr val="FFFFFF"/>
          </a:solidFill>
          <a:ln w="50800">
            <a:solidFill>
              <a:srgbClr val="2A6FB0"/>
            </a:solidFill>
            <a:prstDash val="solid"/>
          </a:ln>
        </p:spPr>
      </p:sp>
      <p:pic>
        <p:nvPicPr>
          <p:cNvPr id="18" name="Image 3" descr="credit card">    </p:cNvPr>
          <p:cNvPicPr>
            <a:picLocks noChangeAspect="1"/>
          </p:cNvPicPr>
          <p:nvPr/>
        </p:nvPicPr>
        <p:blipFill>
          <a:blip r:embed="rId4"/>
          <a:stretch>
            <a:fillRect/>
          </a:stretch>
        </p:blipFill>
        <p:spPr>
          <a:xfrm>
            <a:off x="9390888" y="2243328"/>
            <a:ext cx="822960" cy="822960"/>
          </a:xfrm>
          <a:prstGeom prst="rect">
            <a:avLst/>
          </a:prstGeom>
        </p:spPr>
      </p:pic>
      <p:sp>
        <p:nvSpPr>
          <p:cNvPr id="19" name="Shape 12"/>
          <p:cNvSpPr/>
          <p:nvPr/>
        </p:nvSpPr>
        <p:spPr>
          <a:xfrm>
            <a:off x="8321040" y="3700272"/>
            <a:ext cx="2971800" cy="914"/>
          </a:xfrm>
          <a:prstGeom prst="line">
            <a:avLst/>
          </a:prstGeom>
          <a:noFill/>
          <a:ln w="12700">
            <a:solidFill>
              <a:srgbClr val="B8C2CF"/>
            </a:solidFill>
            <a:prstDash val="sysDot"/>
          </a:ln>
        </p:spPr>
      </p:sp>
      <p:sp>
        <p:nvSpPr>
          <p:cNvPr id="20" name="Shape 13"/>
          <p:cNvSpPr/>
          <p:nvPr/>
        </p:nvSpPr>
        <p:spPr>
          <a:xfrm>
            <a:off x="54864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4"/>
          <p:cNvSpPr/>
          <p:nvPr/>
        </p:nvSpPr>
        <p:spPr>
          <a:xfrm>
            <a:off x="1691640" y="4312920"/>
            <a:ext cx="1234440" cy="1234440"/>
          </a:xfrm>
          <a:prstGeom prst="ellipse">
            <a:avLst/>
          </a:prstGeom>
          <a:solidFill>
            <a:srgbClr val="FFFFFF"/>
          </a:solidFill>
          <a:ln w="50800">
            <a:solidFill>
              <a:srgbClr val="B83227"/>
            </a:solidFill>
            <a:prstDash val="solid"/>
          </a:ln>
        </p:spPr>
      </p:sp>
      <p:pic>
        <p:nvPicPr>
          <p:cNvPr id="22" name="Image 4" descr="dog">    </p:cNvPr>
          <p:cNvPicPr>
            <a:picLocks noChangeAspect="1"/>
          </p:cNvPicPr>
          <p:nvPr/>
        </p:nvPicPr>
        <p:blipFill>
          <a:blip r:embed="rId5"/>
          <a:stretch>
            <a:fillRect/>
          </a:stretch>
        </p:blipFill>
        <p:spPr>
          <a:xfrm>
            <a:off x="1892808" y="4514088"/>
            <a:ext cx="822960" cy="822960"/>
          </a:xfrm>
          <a:prstGeom prst="rect">
            <a:avLst/>
          </a:prstGeom>
        </p:spPr>
      </p:pic>
      <p:sp>
        <p:nvSpPr>
          <p:cNvPr id="23" name="Shape 15"/>
          <p:cNvSpPr/>
          <p:nvPr/>
        </p:nvSpPr>
        <p:spPr>
          <a:xfrm>
            <a:off x="1874520" y="4495800"/>
            <a:ext cx="868680" cy="868680"/>
          </a:xfrm>
          <a:prstGeom prst="line">
            <a:avLst/>
          </a:prstGeom>
          <a:noFill/>
          <a:ln w="50800">
            <a:solidFill>
              <a:srgbClr val="B83227"/>
            </a:solidFill>
            <a:prstDash val="solid"/>
          </a:ln>
        </p:spPr>
      </p:sp>
      <p:sp>
        <p:nvSpPr>
          <p:cNvPr id="24" name="Shape 16"/>
          <p:cNvSpPr/>
          <p:nvPr/>
        </p:nvSpPr>
        <p:spPr>
          <a:xfrm>
            <a:off x="822960" y="5971032"/>
            <a:ext cx="2971800" cy="914"/>
          </a:xfrm>
          <a:prstGeom prst="line">
            <a:avLst/>
          </a:prstGeom>
          <a:noFill/>
          <a:ln w="12700">
            <a:solidFill>
              <a:srgbClr val="B8C2CF"/>
            </a:solidFill>
            <a:prstDash val="sysDot"/>
          </a:ln>
        </p:spPr>
      </p:sp>
      <p:sp>
        <p:nvSpPr>
          <p:cNvPr id="25" name="Shape 17"/>
          <p:cNvSpPr/>
          <p:nvPr/>
        </p:nvSpPr>
        <p:spPr>
          <a:xfrm>
            <a:off x="429768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Shape 18"/>
          <p:cNvSpPr/>
          <p:nvPr/>
        </p:nvSpPr>
        <p:spPr>
          <a:xfrm>
            <a:off x="5440680" y="4312920"/>
            <a:ext cx="1234440" cy="1234440"/>
          </a:xfrm>
          <a:prstGeom prst="ellipse">
            <a:avLst/>
          </a:prstGeom>
          <a:solidFill>
            <a:srgbClr val="FFFFFF"/>
          </a:solidFill>
          <a:ln w="50800">
            <a:solidFill>
              <a:srgbClr val="2A6FB0"/>
            </a:solidFill>
            <a:prstDash val="solid"/>
          </a:ln>
        </p:spPr>
      </p:sp>
      <p:pic>
        <p:nvPicPr>
          <p:cNvPr id="27" name="Image 5" descr="shushing face">    </p:cNvPr>
          <p:cNvPicPr>
            <a:picLocks noChangeAspect="1"/>
          </p:cNvPicPr>
          <p:nvPr/>
        </p:nvPicPr>
        <p:blipFill>
          <a:blip r:embed="rId6"/>
          <a:stretch>
            <a:fillRect/>
          </a:stretch>
        </p:blipFill>
        <p:spPr>
          <a:xfrm>
            <a:off x="5641848" y="4514088"/>
            <a:ext cx="822960" cy="822960"/>
          </a:xfrm>
          <a:prstGeom prst="rect">
            <a:avLst/>
          </a:prstGeom>
        </p:spPr>
      </p:pic>
      <p:sp>
        <p:nvSpPr>
          <p:cNvPr id="28" name="Shape 19"/>
          <p:cNvSpPr/>
          <p:nvPr/>
        </p:nvSpPr>
        <p:spPr>
          <a:xfrm>
            <a:off x="4572000" y="5971032"/>
            <a:ext cx="2971800" cy="914"/>
          </a:xfrm>
          <a:prstGeom prst="line">
            <a:avLst/>
          </a:prstGeom>
          <a:noFill/>
          <a:ln w="12700">
            <a:solidFill>
              <a:srgbClr val="B8C2CF"/>
            </a:solidFill>
            <a:prstDash val="sysDot"/>
          </a:ln>
        </p:spPr>
      </p:sp>
      <p:sp>
        <p:nvSpPr>
          <p:cNvPr id="29" name="Shape 20"/>
          <p:cNvSpPr/>
          <p:nvPr/>
        </p:nvSpPr>
        <p:spPr>
          <a:xfrm>
            <a:off x="804672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1"/>
          <p:cNvSpPr/>
          <p:nvPr/>
        </p:nvSpPr>
        <p:spPr>
          <a:xfrm>
            <a:off x="9189720" y="4312920"/>
            <a:ext cx="1234440" cy="1234440"/>
          </a:xfrm>
          <a:prstGeom prst="ellipse">
            <a:avLst/>
          </a:prstGeom>
          <a:solidFill>
            <a:srgbClr val="FFFFFF"/>
          </a:solidFill>
          <a:ln w="50800">
            <a:solidFill>
              <a:srgbClr val="2A6FB0"/>
            </a:solidFill>
            <a:prstDash val="solid"/>
          </a:ln>
        </p:spPr>
      </p:sp>
      <p:pic>
        <p:nvPicPr>
          <p:cNvPr id="31" name="Image 6" descr="p button">    </p:cNvPr>
          <p:cNvPicPr>
            <a:picLocks noChangeAspect="1"/>
          </p:cNvPicPr>
          <p:nvPr/>
        </p:nvPicPr>
        <p:blipFill>
          <a:blip r:embed="rId7"/>
          <a:stretch>
            <a:fillRect/>
          </a:stretch>
        </p:blipFill>
        <p:spPr>
          <a:xfrm>
            <a:off x="9390888" y="4514088"/>
            <a:ext cx="822960" cy="822960"/>
          </a:xfrm>
          <a:prstGeom prst="rect">
            <a:avLst/>
          </a:prstGeom>
        </p:spPr>
      </p:pic>
      <p:sp>
        <p:nvSpPr>
          <p:cNvPr id="32" name="Shape 22"/>
          <p:cNvSpPr/>
          <p:nvPr/>
        </p:nvSpPr>
        <p:spPr>
          <a:xfrm>
            <a:off x="8321040" y="5971032"/>
            <a:ext cx="2971800"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Les panneaux</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dit chaque panneau ? Formulez la règle avec un verbe de modalité.</a:t>
            </a:r>
            <a:endParaRPr lang="en-US" sz="1700" dirty="0"/>
          </a:p>
        </p:txBody>
      </p:sp>
      <p:sp>
        <p:nvSpPr>
          <p:cNvPr id="9" name="Shape 5"/>
          <p:cNvSpPr/>
          <p:nvPr/>
        </p:nvSpPr>
        <p:spPr>
          <a:xfrm>
            <a:off x="54864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1691640" y="2042160"/>
            <a:ext cx="1234440" cy="1234440"/>
          </a:xfrm>
          <a:prstGeom prst="ellipse">
            <a:avLst/>
          </a:prstGeom>
          <a:solidFill>
            <a:srgbClr val="FFFFFF"/>
          </a:solidFill>
          <a:ln w="50800">
            <a:solidFill>
              <a:srgbClr val="2A6FB0"/>
            </a:solidFill>
            <a:prstDash val="solid"/>
          </a:ln>
        </p:spPr>
      </p:sp>
      <p:pic>
        <p:nvPicPr>
          <p:cNvPr id="11" name="Image 1" descr="no smoking">    </p:cNvPr>
          <p:cNvPicPr>
            <a:picLocks noChangeAspect="1"/>
          </p:cNvPicPr>
          <p:nvPr/>
        </p:nvPicPr>
        <p:blipFill>
          <a:blip r:embed="rId2"/>
          <a:stretch>
            <a:fillRect/>
          </a:stretch>
        </p:blipFill>
        <p:spPr>
          <a:xfrm>
            <a:off x="1892808" y="2243328"/>
            <a:ext cx="822960" cy="822960"/>
          </a:xfrm>
          <a:prstGeom prst="rect">
            <a:avLst/>
          </a:prstGeom>
        </p:spPr>
      </p:pic>
      <p:sp>
        <p:nvSpPr>
          <p:cNvPr id="12" name="Text 7"/>
          <p:cNvSpPr txBox="1"/>
          <p:nvPr/>
        </p:nvSpPr>
        <p:spPr>
          <a:xfrm>
            <a:off x="685800" y="334975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Je mag hier niet roken.</a:t>
            </a:r>
            <a:endParaRPr lang="en-US" sz="1700" dirty="0"/>
          </a:p>
        </p:txBody>
      </p:sp>
      <p:sp>
        <p:nvSpPr>
          <p:cNvPr id="13" name="Shape 8"/>
          <p:cNvSpPr/>
          <p:nvPr/>
        </p:nvSpPr>
        <p:spPr>
          <a:xfrm>
            <a:off x="429768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Shape 9"/>
          <p:cNvSpPr/>
          <p:nvPr/>
        </p:nvSpPr>
        <p:spPr>
          <a:xfrm>
            <a:off x="5440680" y="2042160"/>
            <a:ext cx="1234440" cy="1234440"/>
          </a:xfrm>
          <a:prstGeom prst="ellipse">
            <a:avLst/>
          </a:prstGeom>
          <a:solidFill>
            <a:srgbClr val="FFFFFF"/>
          </a:solidFill>
          <a:ln w="50800">
            <a:solidFill>
              <a:srgbClr val="2A6FB0"/>
            </a:solidFill>
            <a:prstDash val="solid"/>
          </a:ln>
        </p:spPr>
      </p:sp>
      <p:pic>
        <p:nvPicPr>
          <p:cNvPr id="15" name="Image 2" descr="soap">    </p:cNvPr>
          <p:cNvPicPr>
            <a:picLocks noChangeAspect="1"/>
          </p:cNvPicPr>
          <p:nvPr/>
        </p:nvPicPr>
        <p:blipFill>
          <a:blip r:embed="rId3"/>
          <a:stretch>
            <a:fillRect/>
          </a:stretch>
        </p:blipFill>
        <p:spPr>
          <a:xfrm>
            <a:off x="5641848" y="2243328"/>
            <a:ext cx="822960" cy="822960"/>
          </a:xfrm>
          <a:prstGeom prst="rect">
            <a:avLst/>
          </a:prstGeom>
        </p:spPr>
      </p:pic>
      <p:sp>
        <p:nvSpPr>
          <p:cNvPr id="16" name="Text 10"/>
          <p:cNvSpPr txBox="1"/>
          <p:nvPr/>
        </p:nvSpPr>
        <p:spPr>
          <a:xfrm>
            <a:off x="4434840" y="334975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Je moet je handen wassen.</a:t>
            </a:r>
            <a:endParaRPr lang="en-US" sz="1700" dirty="0"/>
          </a:p>
        </p:txBody>
      </p:sp>
      <p:sp>
        <p:nvSpPr>
          <p:cNvPr id="17" name="Shape 11"/>
          <p:cNvSpPr/>
          <p:nvPr/>
        </p:nvSpPr>
        <p:spPr>
          <a:xfrm>
            <a:off x="8046720" y="193243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2"/>
          <p:cNvSpPr/>
          <p:nvPr/>
        </p:nvSpPr>
        <p:spPr>
          <a:xfrm>
            <a:off x="9189720" y="2042160"/>
            <a:ext cx="1234440" cy="1234440"/>
          </a:xfrm>
          <a:prstGeom prst="ellipse">
            <a:avLst/>
          </a:prstGeom>
          <a:solidFill>
            <a:srgbClr val="FFFFFF"/>
          </a:solidFill>
          <a:ln w="50800">
            <a:solidFill>
              <a:srgbClr val="2A6FB0"/>
            </a:solidFill>
            <a:prstDash val="solid"/>
          </a:ln>
        </p:spPr>
      </p:sp>
      <p:pic>
        <p:nvPicPr>
          <p:cNvPr id="19" name="Image 3" descr="credit card">    </p:cNvPr>
          <p:cNvPicPr>
            <a:picLocks noChangeAspect="1"/>
          </p:cNvPicPr>
          <p:nvPr/>
        </p:nvPicPr>
        <p:blipFill>
          <a:blip r:embed="rId4"/>
          <a:stretch>
            <a:fillRect/>
          </a:stretch>
        </p:blipFill>
        <p:spPr>
          <a:xfrm>
            <a:off x="9390888" y="2243328"/>
            <a:ext cx="822960" cy="822960"/>
          </a:xfrm>
          <a:prstGeom prst="rect">
            <a:avLst/>
          </a:prstGeom>
        </p:spPr>
      </p:pic>
      <p:sp>
        <p:nvSpPr>
          <p:cNvPr id="20" name="Text 13"/>
          <p:cNvSpPr txBox="1"/>
          <p:nvPr/>
        </p:nvSpPr>
        <p:spPr>
          <a:xfrm>
            <a:off x="8183880" y="334975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Je kunt hier met de kaart betalen.</a:t>
            </a:r>
            <a:endParaRPr lang="en-US" sz="1700" dirty="0"/>
          </a:p>
        </p:txBody>
      </p:sp>
      <p:sp>
        <p:nvSpPr>
          <p:cNvPr id="21" name="Shape 14"/>
          <p:cNvSpPr/>
          <p:nvPr/>
        </p:nvSpPr>
        <p:spPr>
          <a:xfrm>
            <a:off x="54864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Shape 15"/>
          <p:cNvSpPr/>
          <p:nvPr/>
        </p:nvSpPr>
        <p:spPr>
          <a:xfrm>
            <a:off x="1691640" y="4312920"/>
            <a:ext cx="1234440" cy="1234440"/>
          </a:xfrm>
          <a:prstGeom prst="ellipse">
            <a:avLst/>
          </a:prstGeom>
          <a:solidFill>
            <a:srgbClr val="FFFFFF"/>
          </a:solidFill>
          <a:ln w="50800">
            <a:solidFill>
              <a:srgbClr val="B83227"/>
            </a:solidFill>
            <a:prstDash val="solid"/>
          </a:ln>
        </p:spPr>
      </p:sp>
      <p:pic>
        <p:nvPicPr>
          <p:cNvPr id="23" name="Image 4" descr="dog">    </p:cNvPr>
          <p:cNvPicPr>
            <a:picLocks noChangeAspect="1"/>
          </p:cNvPicPr>
          <p:nvPr/>
        </p:nvPicPr>
        <p:blipFill>
          <a:blip r:embed="rId5"/>
          <a:stretch>
            <a:fillRect/>
          </a:stretch>
        </p:blipFill>
        <p:spPr>
          <a:xfrm>
            <a:off x="1892808" y="4514088"/>
            <a:ext cx="822960" cy="822960"/>
          </a:xfrm>
          <a:prstGeom prst="rect">
            <a:avLst/>
          </a:prstGeom>
        </p:spPr>
      </p:pic>
      <p:sp>
        <p:nvSpPr>
          <p:cNvPr id="24" name="Shape 16"/>
          <p:cNvSpPr/>
          <p:nvPr/>
        </p:nvSpPr>
        <p:spPr>
          <a:xfrm>
            <a:off x="1874520" y="4495800"/>
            <a:ext cx="868680" cy="868680"/>
          </a:xfrm>
          <a:prstGeom prst="line">
            <a:avLst/>
          </a:prstGeom>
          <a:noFill/>
          <a:ln w="50800">
            <a:solidFill>
              <a:srgbClr val="B83227"/>
            </a:solidFill>
            <a:prstDash val="solid"/>
          </a:ln>
        </p:spPr>
      </p:sp>
      <p:sp>
        <p:nvSpPr>
          <p:cNvPr id="25" name="Text 17"/>
          <p:cNvSpPr txBox="1"/>
          <p:nvPr/>
        </p:nvSpPr>
        <p:spPr>
          <a:xfrm>
            <a:off x="685800" y="562051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Honden mogen hier niet binnen.</a:t>
            </a:r>
            <a:endParaRPr lang="en-US" sz="1700" dirty="0"/>
          </a:p>
        </p:txBody>
      </p:sp>
      <p:sp>
        <p:nvSpPr>
          <p:cNvPr id="26" name="Shape 18"/>
          <p:cNvSpPr/>
          <p:nvPr/>
        </p:nvSpPr>
        <p:spPr>
          <a:xfrm>
            <a:off x="429768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7" name="Shape 19"/>
          <p:cNvSpPr/>
          <p:nvPr/>
        </p:nvSpPr>
        <p:spPr>
          <a:xfrm>
            <a:off x="5440680" y="4312920"/>
            <a:ext cx="1234440" cy="1234440"/>
          </a:xfrm>
          <a:prstGeom prst="ellipse">
            <a:avLst/>
          </a:prstGeom>
          <a:solidFill>
            <a:srgbClr val="FFFFFF"/>
          </a:solidFill>
          <a:ln w="50800">
            <a:solidFill>
              <a:srgbClr val="2A6FB0"/>
            </a:solidFill>
            <a:prstDash val="solid"/>
          </a:ln>
        </p:spPr>
      </p:sp>
      <p:pic>
        <p:nvPicPr>
          <p:cNvPr id="28" name="Image 5" descr="shushing face">    </p:cNvPr>
          <p:cNvPicPr>
            <a:picLocks noChangeAspect="1"/>
          </p:cNvPicPr>
          <p:nvPr/>
        </p:nvPicPr>
        <p:blipFill>
          <a:blip r:embed="rId6"/>
          <a:stretch>
            <a:fillRect/>
          </a:stretch>
        </p:blipFill>
        <p:spPr>
          <a:xfrm>
            <a:off x="5641848" y="4514088"/>
            <a:ext cx="822960" cy="822960"/>
          </a:xfrm>
          <a:prstGeom prst="rect">
            <a:avLst/>
          </a:prstGeom>
        </p:spPr>
      </p:pic>
      <p:sp>
        <p:nvSpPr>
          <p:cNvPr id="29" name="Text 20"/>
          <p:cNvSpPr txBox="1"/>
          <p:nvPr/>
        </p:nvSpPr>
        <p:spPr>
          <a:xfrm>
            <a:off x="4434840" y="562051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Je moet hier stil zijn.</a:t>
            </a:r>
            <a:endParaRPr lang="en-US" sz="1700" dirty="0"/>
          </a:p>
        </p:txBody>
      </p:sp>
      <p:sp>
        <p:nvSpPr>
          <p:cNvPr id="30" name="Shape 21"/>
          <p:cNvSpPr/>
          <p:nvPr/>
        </p:nvSpPr>
        <p:spPr>
          <a:xfrm>
            <a:off x="8046720" y="4203192"/>
            <a:ext cx="3520440" cy="2087880"/>
          </a:xfrm>
          <a:prstGeom prst="roundRect">
            <a:avLst>
              <a:gd name="adj" fmla="val 350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1" name="Shape 22"/>
          <p:cNvSpPr/>
          <p:nvPr/>
        </p:nvSpPr>
        <p:spPr>
          <a:xfrm>
            <a:off x="9189720" y="4312920"/>
            <a:ext cx="1234440" cy="1234440"/>
          </a:xfrm>
          <a:prstGeom prst="ellipse">
            <a:avLst/>
          </a:prstGeom>
          <a:solidFill>
            <a:srgbClr val="FFFFFF"/>
          </a:solidFill>
          <a:ln w="50800">
            <a:solidFill>
              <a:srgbClr val="2A6FB0"/>
            </a:solidFill>
            <a:prstDash val="solid"/>
          </a:ln>
        </p:spPr>
      </p:sp>
      <p:pic>
        <p:nvPicPr>
          <p:cNvPr id="32" name="Image 6" descr="p button">    </p:cNvPr>
          <p:cNvPicPr>
            <a:picLocks noChangeAspect="1"/>
          </p:cNvPicPr>
          <p:nvPr/>
        </p:nvPicPr>
        <p:blipFill>
          <a:blip r:embed="rId7"/>
          <a:stretch>
            <a:fillRect/>
          </a:stretch>
        </p:blipFill>
        <p:spPr>
          <a:xfrm>
            <a:off x="9390888" y="4514088"/>
            <a:ext cx="822960" cy="822960"/>
          </a:xfrm>
          <a:prstGeom prst="rect">
            <a:avLst/>
          </a:prstGeom>
        </p:spPr>
      </p:pic>
      <p:sp>
        <p:nvSpPr>
          <p:cNvPr id="33" name="Text 23"/>
          <p:cNvSpPr txBox="1"/>
          <p:nvPr/>
        </p:nvSpPr>
        <p:spPr>
          <a:xfrm>
            <a:off x="8183880" y="5620512"/>
            <a:ext cx="3246120" cy="579120"/>
          </a:xfrm>
          <a:prstGeom prst="rect">
            <a:avLst/>
          </a:prstGeom>
          <a:noFill/>
          <a:ln/>
        </p:spPr>
        <p:txBody>
          <a:bodyPr wrap="square" lIns="0" tIns="0" rIns="0" bIns="0" rtlCol="0" anchor="ctr"/>
          <a:lstStyle/>
          <a:p>
            <a:pPr algn="ctr" indent="0" marL="0">
              <a:buNone/>
            </a:pPr>
            <a:r>
              <a:rPr lang="en-US" sz="1700" b="1" i="1" dirty="0">
                <a:solidFill>
                  <a:schemeClr val="accent3"/>
                </a:solidFill>
              </a:rPr>
              <a:t>Je mag hier parkeren.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Remettez en 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les étiquettes dans l’ordre : modal en ②, infinitif au bout.</a:t>
            </a:r>
            <a:endParaRPr lang="en-US" sz="1700" dirty="0"/>
          </a:p>
        </p:txBody>
      </p:sp>
      <p:sp>
        <p:nvSpPr>
          <p:cNvPr id="8" name="Shape 4"/>
          <p:cNvSpPr/>
          <p:nvPr/>
        </p:nvSpPr>
        <p:spPr>
          <a:xfrm>
            <a:off x="548640" y="2121916"/>
            <a:ext cx="347472" cy="347472"/>
          </a:xfrm>
          <a:prstGeom prst="ellipse">
            <a:avLst/>
          </a:prstGeom>
          <a:solidFill>
            <a:schemeClr val="tx2"/>
          </a:solidFill>
          <a:ln w="12700">
            <a:solidFill>
              <a:srgbClr val="FFFFFF">
                <a:alpha val="0"/>
              </a:srgbClr>
            </a:solidFill>
            <a:prstDash val="solid"/>
          </a:ln>
        </p:spPr>
      </p:sp>
      <p:sp>
        <p:nvSpPr>
          <p:cNvPr id="9" name="Text 5"/>
          <p:cNvSpPr txBox="1"/>
          <p:nvPr/>
        </p:nvSpPr>
        <p:spPr>
          <a:xfrm>
            <a:off x="548640" y="21219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Shape 6"/>
          <p:cNvSpPr/>
          <p:nvPr/>
        </p:nvSpPr>
        <p:spPr>
          <a:xfrm>
            <a:off x="1005840" y="2005584"/>
            <a:ext cx="932688" cy="543560"/>
          </a:xfrm>
          <a:prstGeom prst="roundRect">
            <a:avLst>
              <a:gd name="adj" fmla="val 13458"/>
            </a:avLst>
          </a:prstGeom>
          <a:solidFill>
            <a:srgbClr val="FFFDF5"/>
          </a:solidFill>
          <a:ln w="12700">
            <a:solidFill>
              <a:srgbClr val="C9B98A"/>
            </a:solidFill>
            <a:prstDash val="solid"/>
          </a:ln>
        </p:spPr>
      </p:sp>
      <p:sp>
        <p:nvSpPr>
          <p:cNvPr id="11" name="Text 7"/>
          <p:cNvSpPr txBox="1"/>
          <p:nvPr/>
        </p:nvSpPr>
        <p:spPr>
          <a:xfrm>
            <a:off x="1005840" y="200558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morgen</a:t>
            </a:r>
            <a:endParaRPr lang="en-US" sz="1500" dirty="0"/>
          </a:p>
        </p:txBody>
      </p:sp>
      <p:sp>
        <p:nvSpPr>
          <p:cNvPr id="12" name="Shape 8"/>
          <p:cNvSpPr/>
          <p:nvPr/>
        </p:nvSpPr>
        <p:spPr>
          <a:xfrm>
            <a:off x="2029968" y="2005584"/>
            <a:ext cx="493776" cy="543560"/>
          </a:xfrm>
          <a:prstGeom prst="roundRect">
            <a:avLst>
              <a:gd name="adj" fmla="val 14815"/>
            </a:avLst>
          </a:prstGeom>
          <a:solidFill>
            <a:srgbClr val="FFFDF5"/>
          </a:solidFill>
          <a:ln w="12700">
            <a:solidFill>
              <a:srgbClr val="C9B98A"/>
            </a:solidFill>
            <a:prstDash val="solid"/>
          </a:ln>
        </p:spPr>
      </p:sp>
      <p:sp>
        <p:nvSpPr>
          <p:cNvPr id="13" name="Text 9"/>
          <p:cNvSpPr txBox="1"/>
          <p:nvPr/>
        </p:nvSpPr>
        <p:spPr>
          <a:xfrm>
            <a:off x="2029968" y="200558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14" name="Shape 10"/>
          <p:cNvSpPr/>
          <p:nvPr/>
        </p:nvSpPr>
        <p:spPr>
          <a:xfrm>
            <a:off x="2615184" y="2005584"/>
            <a:ext cx="932688" cy="543560"/>
          </a:xfrm>
          <a:prstGeom prst="roundRect">
            <a:avLst>
              <a:gd name="adj" fmla="val 13458"/>
            </a:avLst>
          </a:prstGeom>
          <a:solidFill>
            <a:srgbClr val="FFFDF5"/>
          </a:solidFill>
          <a:ln w="12700">
            <a:solidFill>
              <a:srgbClr val="C9B98A"/>
            </a:solidFill>
            <a:prstDash val="solid"/>
          </a:ln>
        </p:spPr>
      </p:sp>
      <p:sp>
        <p:nvSpPr>
          <p:cNvPr id="15" name="Text 11"/>
          <p:cNvSpPr txBox="1"/>
          <p:nvPr/>
        </p:nvSpPr>
        <p:spPr>
          <a:xfrm>
            <a:off x="2615184" y="200558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werken</a:t>
            </a:r>
            <a:endParaRPr lang="en-US" sz="1500" dirty="0"/>
          </a:p>
        </p:txBody>
      </p:sp>
      <p:sp>
        <p:nvSpPr>
          <p:cNvPr id="16" name="Shape 12"/>
          <p:cNvSpPr/>
          <p:nvPr/>
        </p:nvSpPr>
        <p:spPr>
          <a:xfrm>
            <a:off x="3639312" y="2005584"/>
            <a:ext cx="713232" cy="543560"/>
          </a:xfrm>
          <a:prstGeom prst="roundRect">
            <a:avLst>
              <a:gd name="adj" fmla="val 13458"/>
            </a:avLst>
          </a:prstGeom>
          <a:solidFill>
            <a:srgbClr val="FFFDF5"/>
          </a:solidFill>
          <a:ln w="12700">
            <a:solidFill>
              <a:srgbClr val="C9B98A"/>
            </a:solidFill>
            <a:prstDash val="solid"/>
          </a:ln>
        </p:spPr>
      </p:sp>
      <p:sp>
        <p:nvSpPr>
          <p:cNvPr id="17" name="Text 13"/>
          <p:cNvSpPr txBox="1"/>
          <p:nvPr/>
        </p:nvSpPr>
        <p:spPr>
          <a:xfrm>
            <a:off x="3639312" y="200558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moet</a:t>
            </a:r>
            <a:endParaRPr lang="en-US" sz="1500" dirty="0"/>
          </a:p>
        </p:txBody>
      </p:sp>
      <p:sp>
        <p:nvSpPr>
          <p:cNvPr id="18" name="Shape 14"/>
          <p:cNvSpPr/>
          <p:nvPr/>
        </p:nvSpPr>
        <p:spPr>
          <a:xfrm>
            <a:off x="6309360" y="1987296"/>
            <a:ext cx="5330952" cy="598424"/>
          </a:xfrm>
          <a:prstGeom prst="roundRect">
            <a:avLst>
              <a:gd name="adj" fmla="val 12224"/>
            </a:avLst>
          </a:prstGeom>
          <a:solidFill>
            <a:schemeClr val="bg1"/>
          </a:solidFill>
          <a:ln w="15875">
            <a:solidFill>
              <a:srgbClr val="D5DCE6"/>
            </a:solidFill>
            <a:prstDash val="solid"/>
          </a:ln>
        </p:spPr>
      </p:sp>
      <p:sp>
        <p:nvSpPr>
          <p:cNvPr id="19" name="Shape 15"/>
          <p:cNvSpPr/>
          <p:nvPr/>
        </p:nvSpPr>
        <p:spPr>
          <a:xfrm>
            <a:off x="548640" y="2848356"/>
            <a:ext cx="347472" cy="347472"/>
          </a:xfrm>
          <a:prstGeom prst="ellipse">
            <a:avLst/>
          </a:prstGeom>
          <a:solidFill>
            <a:schemeClr val="tx2"/>
          </a:solidFill>
          <a:ln w="12700">
            <a:solidFill>
              <a:srgbClr val="FFFFFF">
                <a:alpha val="0"/>
              </a:srgbClr>
            </a:solidFill>
            <a:prstDash val="solid"/>
          </a:ln>
        </p:spPr>
      </p:sp>
      <p:sp>
        <p:nvSpPr>
          <p:cNvPr id="20" name="Text 16"/>
          <p:cNvSpPr txBox="1"/>
          <p:nvPr/>
        </p:nvSpPr>
        <p:spPr>
          <a:xfrm>
            <a:off x="548640" y="284835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1" name="Shape 17"/>
          <p:cNvSpPr/>
          <p:nvPr/>
        </p:nvSpPr>
        <p:spPr>
          <a:xfrm>
            <a:off x="1005840" y="2732024"/>
            <a:ext cx="713232" cy="543560"/>
          </a:xfrm>
          <a:prstGeom prst="roundRect">
            <a:avLst>
              <a:gd name="adj" fmla="val 13458"/>
            </a:avLst>
          </a:prstGeom>
          <a:solidFill>
            <a:srgbClr val="FFFDF5"/>
          </a:solidFill>
          <a:ln w="12700">
            <a:solidFill>
              <a:srgbClr val="C9B98A"/>
            </a:solidFill>
            <a:prstDash val="solid"/>
          </a:ln>
        </p:spPr>
      </p:sp>
      <p:sp>
        <p:nvSpPr>
          <p:cNvPr id="22" name="Text 18"/>
          <p:cNvSpPr txBox="1"/>
          <p:nvPr/>
        </p:nvSpPr>
        <p:spPr>
          <a:xfrm>
            <a:off x="1005840" y="273202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niet</a:t>
            </a:r>
            <a:endParaRPr lang="en-US" sz="1500" dirty="0"/>
          </a:p>
        </p:txBody>
      </p:sp>
      <p:sp>
        <p:nvSpPr>
          <p:cNvPr id="23" name="Shape 19"/>
          <p:cNvSpPr/>
          <p:nvPr/>
        </p:nvSpPr>
        <p:spPr>
          <a:xfrm>
            <a:off x="1810512" y="2732024"/>
            <a:ext cx="822960" cy="543560"/>
          </a:xfrm>
          <a:prstGeom prst="roundRect">
            <a:avLst>
              <a:gd name="adj" fmla="val 13458"/>
            </a:avLst>
          </a:prstGeom>
          <a:solidFill>
            <a:srgbClr val="FFFDF5"/>
          </a:solidFill>
          <a:ln w="12700">
            <a:solidFill>
              <a:srgbClr val="C9B98A"/>
            </a:solidFill>
            <a:prstDash val="solid"/>
          </a:ln>
        </p:spPr>
      </p:sp>
      <p:sp>
        <p:nvSpPr>
          <p:cNvPr id="24" name="Text 20"/>
          <p:cNvSpPr txBox="1"/>
          <p:nvPr/>
        </p:nvSpPr>
        <p:spPr>
          <a:xfrm>
            <a:off x="1810512" y="273202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komen</a:t>
            </a:r>
            <a:endParaRPr lang="en-US" sz="1500" dirty="0"/>
          </a:p>
        </p:txBody>
      </p:sp>
      <p:sp>
        <p:nvSpPr>
          <p:cNvPr id="25" name="Shape 21"/>
          <p:cNvSpPr/>
          <p:nvPr/>
        </p:nvSpPr>
        <p:spPr>
          <a:xfrm>
            <a:off x="2724912" y="2732024"/>
            <a:ext cx="603504" cy="543560"/>
          </a:xfrm>
          <a:prstGeom prst="roundRect">
            <a:avLst>
              <a:gd name="adj" fmla="val 13458"/>
            </a:avLst>
          </a:prstGeom>
          <a:solidFill>
            <a:srgbClr val="FFFDF5"/>
          </a:solidFill>
          <a:ln w="12700">
            <a:solidFill>
              <a:srgbClr val="C9B98A"/>
            </a:solidFill>
            <a:prstDash val="solid"/>
          </a:ln>
        </p:spPr>
      </p:sp>
      <p:sp>
        <p:nvSpPr>
          <p:cNvPr id="26" name="Text 22"/>
          <p:cNvSpPr txBox="1"/>
          <p:nvPr/>
        </p:nvSpPr>
        <p:spPr>
          <a:xfrm>
            <a:off x="2724912" y="273202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kan</a:t>
            </a:r>
            <a:endParaRPr lang="en-US" sz="1500" dirty="0"/>
          </a:p>
        </p:txBody>
      </p:sp>
      <p:sp>
        <p:nvSpPr>
          <p:cNvPr id="27" name="Shape 23"/>
          <p:cNvSpPr/>
          <p:nvPr/>
        </p:nvSpPr>
        <p:spPr>
          <a:xfrm>
            <a:off x="3419856" y="2732024"/>
            <a:ext cx="493776" cy="543560"/>
          </a:xfrm>
          <a:prstGeom prst="roundRect">
            <a:avLst>
              <a:gd name="adj" fmla="val 14815"/>
            </a:avLst>
          </a:prstGeom>
          <a:solidFill>
            <a:srgbClr val="FFFDF5"/>
          </a:solidFill>
          <a:ln w="12700">
            <a:solidFill>
              <a:srgbClr val="C9B98A"/>
            </a:solidFill>
            <a:prstDash val="solid"/>
          </a:ln>
        </p:spPr>
      </p:sp>
      <p:sp>
        <p:nvSpPr>
          <p:cNvPr id="28" name="Text 24"/>
          <p:cNvSpPr txBox="1"/>
          <p:nvPr/>
        </p:nvSpPr>
        <p:spPr>
          <a:xfrm>
            <a:off x="3419856" y="273202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29" name="Shape 25"/>
          <p:cNvSpPr/>
          <p:nvPr/>
        </p:nvSpPr>
        <p:spPr>
          <a:xfrm>
            <a:off x="4005072" y="2732024"/>
            <a:ext cx="1042416" cy="543560"/>
          </a:xfrm>
          <a:prstGeom prst="roundRect">
            <a:avLst>
              <a:gd name="adj" fmla="val 13458"/>
            </a:avLst>
          </a:prstGeom>
          <a:solidFill>
            <a:srgbClr val="FFFDF5"/>
          </a:solidFill>
          <a:ln w="12700">
            <a:solidFill>
              <a:srgbClr val="C9B98A"/>
            </a:solidFill>
            <a:prstDash val="solid"/>
          </a:ln>
        </p:spPr>
      </p:sp>
      <p:sp>
        <p:nvSpPr>
          <p:cNvPr id="30" name="Text 26"/>
          <p:cNvSpPr txBox="1"/>
          <p:nvPr/>
        </p:nvSpPr>
        <p:spPr>
          <a:xfrm>
            <a:off x="4005072" y="2732024"/>
            <a:ext cx="1042416" cy="543560"/>
          </a:xfrm>
          <a:prstGeom prst="rect">
            <a:avLst/>
          </a:prstGeom>
          <a:noFill/>
          <a:ln/>
        </p:spPr>
        <p:txBody>
          <a:bodyPr wrap="square" lIns="0" tIns="0" rIns="0" bIns="0" rtlCol="0" anchor="ctr"/>
          <a:lstStyle/>
          <a:p>
            <a:pPr algn="ctr" indent="0" marL="0">
              <a:buNone/>
            </a:pPr>
            <a:r>
              <a:rPr lang="en-US" sz="1500" i="1" dirty="0">
                <a:solidFill>
                  <a:schemeClr val="tx1"/>
                </a:solidFill>
              </a:rPr>
              <a:t>vandaag</a:t>
            </a:r>
            <a:endParaRPr lang="en-US" sz="1500" dirty="0"/>
          </a:p>
        </p:txBody>
      </p:sp>
      <p:sp>
        <p:nvSpPr>
          <p:cNvPr id="31" name="Shape 27"/>
          <p:cNvSpPr/>
          <p:nvPr/>
        </p:nvSpPr>
        <p:spPr>
          <a:xfrm>
            <a:off x="6309360" y="2713736"/>
            <a:ext cx="5330952" cy="598424"/>
          </a:xfrm>
          <a:prstGeom prst="roundRect">
            <a:avLst>
              <a:gd name="adj" fmla="val 12224"/>
            </a:avLst>
          </a:prstGeom>
          <a:solidFill>
            <a:schemeClr val="bg1"/>
          </a:solidFill>
          <a:ln w="15875">
            <a:solidFill>
              <a:srgbClr val="D5DCE6"/>
            </a:solidFill>
            <a:prstDash val="solid"/>
          </a:ln>
        </p:spPr>
      </p:sp>
      <p:sp>
        <p:nvSpPr>
          <p:cNvPr id="32" name="Shape 28"/>
          <p:cNvSpPr/>
          <p:nvPr/>
        </p:nvSpPr>
        <p:spPr>
          <a:xfrm>
            <a:off x="548640" y="3574796"/>
            <a:ext cx="347472" cy="347472"/>
          </a:xfrm>
          <a:prstGeom prst="ellipse">
            <a:avLst/>
          </a:prstGeom>
          <a:solidFill>
            <a:schemeClr val="tx2"/>
          </a:solidFill>
          <a:ln w="12700">
            <a:solidFill>
              <a:srgbClr val="FFFFFF">
                <a:alpha val="0"/>
              </a:srgbClr>
            </a:solidFill>
            <a:prstDash val="solid"/>
          </a:ln>
        </p:spPr>
      </p:sp>
      <p:sp>
        <p:nvSpPr>
          <p:cNvPr id="33" name="Text 29"/>
          <p:cNvSpPr txBox="1"/>
          <p:nvPr/>
        </p:nvSpPr>
        <p:spPr>
          <a:xfrm>
            <a:off x="548640" y="357479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4" name="Shape 30"/>
          <p:cNvSpPr/>
          <p:nvPr/>
        </p:nvSpPr>
        <p:spPr>
          <a:xfrm>
            <a:off x="1005840" y="3458464"/>
            <a:ext cx="493776" cy="543560"/>
          </a:xfrm>
          <a:prstGeom prst="roundRect">
            <a:avLst>
              <a:gd name="adj" fmla="val 14815"/>
            </a:avLst>
          </a:prstGeom>
          <a:solidFill>
            <a:srgbClr val="FFFDF5"/>
          </a:solidFill>
          <a:ln w="12700">
            <a:solidFill>
              <a:srgbClr val="C9B98A"/>
            </a:solidFill>
            <a:prstDash val="solid"/>
          </a:ln>
        </p:spPr>
      </p:sp>
      <p:sp>
        <p:nvSpPr>
          <p:cNvPr id="35" name="Text 31"/>
          <p:cNvSpPr txBox="1"/>
          <p:nvPr/>
        </p:nvSpPr>
        <p:spPr>
          <a:xfrm>
            <a:off x="1005840" y="345846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je</a:t>
            </a:r>
            <a:endParaRPr lang="en-US" sz="1500" dirty="0"/>
          </a:p>
        </p:txBody>
      </p:sp>
      <p:sp>
        <p:nvSpPr>
          <p:cNvPr id="36" name="Shape 32"/>
          <p:cNvSpPr/>
          <p:nvPr/>
        </p:nvSpPr>
        <p:spPr>
          <a:xfrm>
            <a:off x="1591056" y="3458464"/>
            <a:ext cx="603504" cy="543560"/>
          </a:xfrm>
          <a:prstGeom prst="roundRect">
            <a:avLst>
              <a:gd name="adj" fmla="val 13458"/>
            </a:avLst>
          </a:prstGeom>
          <a:solidFill>
            <a:srgbClr val="FFFDF5"/>
          </a:solidFill>
          <a:ln w="12700">
            <a:solidFill>
              <a:srgbClr val="C9B98A"/>
            </a:solidFill>
            <a:prstDash val="solid"/>
          </a:ln>
        </p:spPr>
      </p:sp>
      <p:sp>
        <p:nvSpPr>
          <p:cNvPr id="37" name="Text 33"/>
          <p:cNvSpPr txBox="1"/>
          <p:nvPr/>
        </p:nvSpPr>
        <p:spPr>
          <a:xfrm>
            <a:off x="1591056" y="345846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mag</a:t>
            </a:r>
            <a:endParaRPr lang="en-US" sz="1500" dirty="0"/>
          </a:p>
        </p:txBody>
      </p:sp>
      <p:sp>
        <p:nvSpPr>
          <p:cNvPr id="38" name="Shape 34"/>
          <p:cNvSpPr/>
          <p:nvPr/>
        </p:nvSpPr>
        <p:spPr>
          <a:xfrm>
            <a:off x="2286000" y="3458464"/>
            <a:ext cx="1481328" cy="543560"/>
          </a:xfrm>
          <a:prstGeom prst="roundRect">
            <a:avLst>
              <a:gd name="adj" fmla="val 13458"/>
            </a:avLst>
          </a:prstGeom>
          <a:solidFill>
            <a:srgbClr val="FFFDF5"/>
          </a:solidFill>
          <a:ln w="12700">
            <a:solidFill>
              <a:srgbClr val="C9B98A"/>
            </a:solidFill>
            <a:prstDash val="solid"/>
          </a:ln>
        </p:spPr>
      </p:sp>
      <p:sp>
        <p:nvSpPr>
          <p:cNvPr id="39" name="Text 35"/>
          <p:cNvSpPr txBox="1"/>
          <p:nvPr/>
        </p:nvSpPr>
        <p:spPr>
          <a:xfrm>
            <a:off x="2286000" y="3458464"/>
            <a:ext cx="1481328" cy="543560"/>
          </a:xfrm>
          <a:prstGeom prst="rect">
            <a:avLst/>
          </a:prstGeom>
          <a:noFill/>
          <a:ln/>
        </p:spPr>
        <p:txBody>
          <a:bodyPr wrap="square" lIns="0" tIns="0" rIns="0" bIns="0" rtlCol="0" anchor="ctr"/>
          <a:lstStyle/>
          <a:p>
            <a:pPr algn="ctr" indent="0" marL="0">
              <a:buNone/>
            </a:pPr>
            <a:r>
              <a:rPr lang="en-US" sz="1500" i="1" dirty="0">
                <a:solidFill>
                  <a:schemeClr val="tx1"/>
                </a:solidFill>
              </a:rPr>
              <a:t>binnenkomen</a:t>
            </a:r>
            <a:endParaRPr lang="en-US" sz="1500" dirty="0"/>
          </a:p>
        </p:txBody>
      </p:sp>
      <p:sp>
        <p:nvSpPr>
          <p:cNvPr id="40" name="Shape 36"/>
          <p:cNvSpPr/>
          <p:nvPr/>
        </p:nvSpPr>
        <p:spPr>
          <a:xfrm>
            <a:off x="3858768" y="3458464"/>
            <a:ext cx="384048" cy="543560"/>
          </a:xfrm>
          <a:prstGeom prst="roundRect">
            <a:avLst>
              <a:gd name="adj" fmla="val 19048"/>
            </a:avLst>
          </a:prstGeom>
          <a:solidFill>
            <a:srgbClr val="FFFDF5"/>
          </a:solidFill>
          <a:ln w="12700">
            <a:solidFill>
              <a:srgbClr val="C9B98A"/>
            </a:solidFill>
            <a:prstDash val="solid"/>
          </a:ln>
        </p:spPr>
      </p:sp>
      <p:sp>
        <p:nvSpPr>
          <p:cNvPr id="41" name="Text 37"/>
          <p:cNvSpPr txBox="1"/>
          <p:nvPr/>
        </p:nvSpPr>
        <p:spPr>
          <a:xfrm>
            <a:off x="3858768" y="3458464"/>
            <a:ext cx="384048" cy="543560"/>
          </a:xfrm>
          <a:prstGeom prst="rect">
            <a:avLst/>
          </a:prstGeom>
          <a:noFill/>
          <a:ln/>
        </p:spPr>
        <p:txBody>
          <a:bodyPr wrap="square" lIns="0" tIns="0" rIns="0" bIns="0" rtlCol="0" anchor="ctr"/>
          <a:lstStyle/>
          <a:p>
            <a:pPr algn="ctr" indent="0" marL="0">
              <a:buNone/>
            </a:pPr>
            <a:r>
              <a:rPr lang="en-US" sz="1500" i="1" dirty="0">
                <a:solidFill>
                  <a:schemeClr val="tx1"/>
                </a:solidFill>
              </a:rPr>
              <a:t>?</a:t>
            </a:r>
            <a:endParaRPr lang="en-US" sz="1500" dirty="0"/>
          </a:p>
        </p:txBody>
      </p:sp>
      <p:sp>
        <p:nvSpPr>
          <p:cNvPr id="42" name="Shape 38"/>
          <p:cNvSpPr/>
          <p:nvPr/>
        </p:nvSpPr>
        <p:spPr>
          <a:xfrm>
            <a:off x="6309360" y="3440176"/>
            <a:ext cx="5330952" cy="598424"/>
          </a:xfrm>
          <a:prstGeom prst="roundRect">
            <a:avLst>
              <a:gd name="adj" fmla="val 12224"/>
            </a:avLst>
          </a:prstGeom>
          <a:solidFill>
            <a:schemeClr val="bg1"/>
          </a:solidFill>
          <a:ln w="15875">
            <a:solidFill>
              <a:srgbClr val="D5DCE6"/>
            </a:solidFill>
            <a:prstDash val="solid"/>
          </a:ln>
        </p:spPr>
      </p:sp>
      <p:sp>
        <p:nvSpPr>
          <p:cNvPr id="43" name="Shape 39"/>
          <p:cNvSpPr/>
          <p:nvPr/>
        </p:nvSpPr>
        <p:spPr>
          <a:xfrm>
            <a:off x="548640" y="4301236"/>
            <a:ext cx="347472" cy="347472"/>
          </a:xfrm>
          <a:prstGeom prst="ellipse">
            <a:avLst/>
          </a:prstGeom>
          <a:solidFill>
            <a:schemeClr val="tx2"/>
          </a:solidFill>
          <a:ln w="12700">
            <a:solidFill>
              <a:srgbClr val="FFFFFF">
                <a:alpha val="0"/>
              </a:srgbClr>
            </a:solidFill>
            <a:prstDash val="solid"/>
          </a:ln>
        </p:spPr>
      </p:sp>
      <p:sp>
        <p:nvSpPr>
          <p:cNvPr id="44" name="Text 40"/>
          <p:cNvSpPr txBox="1"/>
          <p:nvPr/>
        </p:nvSpPr>
        <p:spPr>
          <a:xfrm>
            <a:off x="548640" y="430123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5" name="Shape 41"/>
          <p:cNvSpPr/>
          <p:nvPr/>
        </p:nvSpPr>
        <p:spPr>
          <a:xfrm>
            <a:off x="1005840" y="4184904"/>
            <a:ext cx="1152144" cy="543560"/>
          </a:xfrm>
          <a:prstGeom prst="roundRect">
            <a:avLst>
              <a:gd name="adj" fmla="val 13458"/>
            </a:avLst>
          </a:prstGeom>
          <a:solidFill>
            <a:srgbClr val="FFFDF5"/>
          </a:solidFill>
          <a:ln w="12700">
            <a:solidFill>
              <a:srgbClr val="C9B98A"/>
            </a:solidFill>
            <a:prstDash val="solid"/>
          </a:ln>
        </p:spPr>
      </p:sp>
      <p:sp>
        <p:nvSpPr>
          <p:cNvPr id="46" name="Text 42"/>
          <p:cNvSpPr txBox="1"/>
          <p:nvPr/>
        </p:nvSpPr>
        <p:spPr>
          <a:xfrm>
            <a:off x="1005840" y="418490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opbellen</a:t>
            </a:r>
            <a:endParaRPr lang="en-US" sz="1500" dirty="0"/>
          </a:p>
        </p:txBody>
      </p:sp>
      <p:sp>
        <p:nvSpPr>
          <p:cNvPr id="47" name="Shape 43"/>
          <p:cNvSpPr/>
          <p:nvPr/>
        </p:nvSpPr>
        <p:spPr>
          <a:xfrm>
            <a:off x="2249424" y="4184904"/>
            <a:ext cx="1152144" cy="543560"/>
          </a:xfrm>
          <a:prstGeom prst="roundRect">
            <a:avLst>
              <a:gd name="adj" fmla="val 13458"/>
            </a:avLst>
          </a:prstGeom>
          <a:solidFill>
            <a:srgbClr val="FFFDF5"/>
          </a:solidFill>
          <a:ln w="12700">
            <a:solidFill>
              <a:srgbClr val="C9B98A"/>
            </a:solidFill>
            <a:prstDash val="solid"/>
          </a:ln>
        </p:spPr>
      </p:sp>
      <p:sp>
        <p:nvSpPr>
          <p:cNvPr id="48" name="Text 44"/>
          <p:cNvSpPr txBox="1"/>
          <p:nvPr/>
        </p:nvSpPr>
        <p:spPr>
          <a:xfrm>
            <a:off x="2249424" y="418490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de klant</a:t>
            </a:r>
            <a:endParaRPr lang="en-US" sz="1500" dirty="0"/>
          </a:p>
        </p:txBody>
      </p:sp>
      <p:sp>
        <p:nvSpPr>
          <p:cNvPr id="49" name="Shape 45"/>
          <p:cNvSpPr/>
          <p:nvPr/>
        </p:nvSpPr>
        <p:spPr>
          <a:xfrm>
            <a:off x="3493008" y="4184904"/>
            <a:ext cx="603504" cy="543560"/>
          </a:xfrm>
          <a:prstGeom prst="roundRect">
            <a:avLst>
              <a:gd name="adj" fmla="val 13458"/>
            </a:avLst>
          </a:prstGeom>
          <a:solidFill>
            <a:srgbClr val="FFFDF5"/>
          </a:solidFill>
          <a:ln w="12700">
            <a:solidFill>
              <a:srgbClr val="C9B98A"/>
            </a:solidFill>
            <a:prstDash val="solid"/>
          </a:ln>
        </p:spPr>
      </p:sp>
      <p:sp>
        <p:nvSpPr>
          <p:cNvPr id="50" name="Text 46"/>
          <p:cNvSpPr txBox="1"/>
          <p:nvPr/>
        </p:nvSpPr>
        <p:spPr>
          <a:xfrm>
            <a:off x="3493008" y="418490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wil</a:t>
            </a:r>
            <a:endParaRPr lang="en-US" sz="1500" dirty="0"/>
          </a:p>
        </p:txBody>
      </p:sp>
      <p:sp>
        <p:nvSpPr>
          <p:cNvPr id="51" name="Shape 47"/>
          <p:cNvSpPr/>
          <p:nvPr/>
        </p:nvSpPr>
        <p:spPr>
          <a:xfrm>
            <a:off x="4187952" y="4184904"/>
            <a:ext cx="822960" cy="543560"/>
          </a:xfrm>
          <a:prstGeom prst="roundRect">
            <a:avLst>
              <a:gd name="adj" fmla="val 13458"/>
            </a:avLst>
          </a:prstGeom>
          <a:solidFill>
            <a:srgbClr val="FFFDF5"/>
          </a:solidFill>
          <a:ln w="12700">
            <a:solidFill>
              <a:srgbClr val="C9B98A"/>
            </a:solidFill>
            <a:prstDash val="solid"/>
          </a:ln>
        </p:spPr>
      </p:sp>
      <p:sp>
        <p:nvSpPr>
          <p:cNvPr id="52" name="Text 48"/>
          <p:cNvSpPr txBox="1"/>
          <p:nvPr/>
        </p:nvSpPr>
        <p:spPr>
          <a:xfrm>
            <a:off x="4187952" y="418490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Sofie</a:t>
            </a:r>
            <a:endParaRPr lang="en-US" sz="1500" dirty="0"/>
          </a:p>
        </p:txBody>
      </p:sp>
      <p:sp>
        <p:nvSpPr>
          <p:cNvPr id="53" name="Shape 49"/>
          <p:cNvSpPr/>
          <p:nvPr/>
        </p:nvSpPr>
        <p:spPr>
          <a:xfrm>
            <a:off x="6309360" y="4166616"/>
            <a:ext cx="5330952" cy="598424"/>
          </a:xfrm>
          <a:prstGeom prst="roundRect">
            <a:avLst>
              <a:gd name="adj" fmla="val 12224"/>
            </a:avLst>
          </a:prstGeom>
          <a:solidFill>
            <a:schemeClr val="bg1"/>
          </a:solidFill>
          <a:ln w="15875">
            <a:solidFill>
              <a:srgbClr val="D5DCE6"/>
            </a:solidFill>
            <a:prstDash val="solid"/>
          </a:ln>
        </p:spPr>
      </p:sp>
      <p:sp>
        <p:nvSpPr>
          <p:cNvPr id="54" name="Shape 50"/>
          <p:cNvSpPr/>
          <p:nvPr/>
        </p:nvSpPr>
        <p:spPr>
          <a:xfrm>
            <a:off x="548640" y="5027676"/>
            <a:ext cx="347472" cy="347472"/>
          </a:xfrm>
          <a:prstGeom prst="ellipse">
            <a:avLst/>
          </a:prstGeom>
          <a:solidFill>
            <a:schemeClr val="tx2"/>
          </a:solidFill>
          <a:ln w="12700">
            <a:solidFill>
              <a:srgbClr val="FFFFFF">
                <a:alpha val="0"/>
              </a:srgbClr>
            </a:solidFill>
            <a:prstDash val="solid"/>
          </a:ln>
        </p:spPr>
      </p:sp>
      <p:sp>
        <p:nvSpPr>
          <p:cNvPr id="55" name="Text 51"/>
          <p:cNvSpPr txBox="1"/>
          <p:nvPr/>
        </p:nvSpPr>
        <p:spPr>
          <a:xfrm>
            <a:off x="548640" y="502767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6" name="Shape 52"/>
          <p:cNvSpPr/>
          <p:nvPr/>
        </p:nvSpPr>
        <p:spPr>
          <a:xfrm>
            <a:off x="1005840" y="4911344"/>
            <a:ext cx="493776" cy="543560"/>
          </a:xfrm>
          <a:prstGeom prst="roundRect">
            <a:avLst>
              <a:gd name="adj" fmla="val 14815"/>
            </a:avLst>
          </a:prstGeom>
          <a:solidFill>
            <a:srgbClr val="FFFDF5"/>
          </a:solidFill>
          <a:ln w="12700">
            <a:solidFill>
              <a:srgbClr val="C9B98A"/>
            </a:solidFill>
            <a:prstDash val="solid"/>
          </a:ln>
        </p:spPr>
      </p:sp>
      <p:sp>
        <p:nvSpPr>
          <p:cNvPr id="57" name="Text 53"/>
          <p:cNvSpPr txBox="1"/>
          <p:nvPr/>
        </p:nvSpPr>
        <p:spPr>
          <a:xfrm>
            <a:off x="1005840" y="491134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we</a:t>
            </a:r>
            <a:endParaRPr lang="en-US" sz="1500" dirty="0"/>
          </a:p>
        </p:txBody>
      </p:sp>
      <p:sp>
        <p:nvSpPr>
          <p:cNvPr id="58" name="Shape 54"/>
          <p:cNvSpPr/>
          <p:nvPr/>
        </p:nvSpPr>
        <p:spPr>
          <a:xfrm>
            <a:off x="1591056" y="4911344"/>
            <a:ext cx="822960" cy="543560"/>
          </a:xfrm>
          <a:prstGeom prst="roundRect">
            <a:avLst>
              <a:gd name="adj" fmla="val 13458"/>
            </a:avLst>
          </a:prstGeom>
          <a:solidFill>
            <a:srgbClr val="FFFDF5"/>
          </a:solidFill>
          <a:ln w="12700">
            <a:solidFill>
              <a:srgbClr val="C9B98A"/>
            </a:solidFill>
            <a:prstDash val="solid"/>
          </a:ln>
        </p:spPr>
      </p:sp>
      <p:sp>
        <p:nvSpPr>
          <p:cNvPr id="59" name="Text 55"/>
          <p:cNvSpPr txBox="1"/>
          <p:nvPr/>
        </p:nvSpPr>
        <p:spPr>
          <a:xfrm>
            <a:off x="1591056" y="491134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samen</a:t>
            </a:r>
            <a:endParaRPr lang="en-US" sz="1500" dirty="0"/>
          </a:p>
        </p:txBody>
      </p:sp>
      <p:sp>
        <p:nvSpPr>
          <p:cNvPr id="60" name="Shape 56"/>
          <p:cNvSpPr/>
          <p:nvPr/>
        </p:nvSpPr>
        <p:spPr>
          <a:xfrm>
            <a:off x="2505456" y="4911344"/>
            <a:ext cx="932688" cy="543560"/>
          </a:xfrm>
          <a:prstGeom prst="roundRect">
            <a:avLst>
              <a:gd name="adj" fmla="val 13458"/>
            </a:avLst>
          </a:prstGeom>
          <a:solidFill>
            <a:srgbClr val="FFFDF5"/>
          </a:solidFill>
          <a:ln w="12700">
            <a:solidFill>
              <a:srgbClr val="C9B98A"/>
            </a:solidFill>
            <a:prstDash val="solid"/>
          </a:ln>
        </p:spPr>
      </p:sp>
      <p:sp>
        <p:nvSpPr>
          <p:cNvPr id="61" name="Text 57"/>
          <p:cNvSpPr txBox="1"/>
          <p:nvPr/>
        </p:nvSpPr>
        <p:spPr>
          <a:xfrm>
            <a:off x="2505456" y="491134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zullen</a:t>
            </a:r>
            <a:endParaRPr lang="en-US" sz="1500" dirty="0"/>
          </a:p>
        </p:txBody>
      </p:sp>
      <p:sp>
        <p:nvSpPr>
          <p:cNvPr id="62" name="Shape 58"/>
          <p:cNvSpPr/>
          <p:nvPr/>
        </p:nvSpPr>
        <p:spPr>
          <a:xfrm>
            <a:off x="3529584" y="4911344"/>
            <a:ext cx="1042416" cy="543560"/>
          </a:xfrm>
          <a:prstGeom prst="roundRect">
            <a:avLst>
              <a:gd name="adj" fmla="val 13458"/>
            </a:avLst>
          </a:prstGeom>
          <a:solidFill>
            <a:srgbClr val="FFFDF5"/>
          </a:solidFill>
          <a:ln w="12700">
            <a:solidFill>
              <a:srgbClr val="C9B98A"/>
            </a:solidFill>
            <a:prstDash val="solid"/>
          </a:ln>
        </p:spPr>
      </p:sp>
      <p:sp>
        <p:nvSpPr>
          <p:cNvPr id="63" name="Text 59"/>
          <p:cNvSpPr txBox="1"/>
          <p:nvPr/>
        </p:nvSpPr>
        <p:spPr>
          <a:xfrm>
            <a:off x="3529584" y="4911344"/>
            <a:ext cx="1042416" cy="543560"/>
          </a:xfrm>
          <a:prstGeom prst="rect">
            <a:avLst/>
          </a:prstGeom>
          <a:noFill/>
          <a:ln/>
        </p:spPr>
        <p:txBody>
          <a:bodyPr wrap="square" lIns="0" tIns="0" rIns="0" bIns="0" rtlCol="0" anchor="ctr"/>
          <a:lstStyle/>
          <a:p>
            <a:pPr algn="ctr" indent="0" marL="0">
              <a:buNone/>
            </a:pPr>
            <a:r>
              <a:rPr lang="en-US" sz="1500" i="1" dirty="0">
                <a:solidFill>
                  <a:schemeClr val="tx1"/>
                </a:solidFill>
              </a:rPr>
              <a:t>lunchen</a:t>
            </a:r>
            <a:endParaRPr lang="en-US" sz="1500" dirty="0"/>
          </a:p>
        </p:txBody>
      </p:sp>
      <p:sp>
        <p:nvSpPr>
          <p:cNvPr id="64" name="Shape 60"/>
          <p:cNvSpPr/>
          <p:nvPr/>
        </p:nvSpPr>
        <p:spPr>
          <a:xfrm>
            <a:off x="4663440" y="4911344"/>
            <a:ext cx="384048" cy="543560"/>
          </a:xfrm>
          <a:prstGeom prst="roundRect">
            <a:avLst>
              <a:gd name="adj" fmla="val 19048"/>
            </a:avLst>
          </a:prstGeom>
          <a:solidFill>
            <a:srgbClr val="FFFDF5"/>
          </a:solidFill>
          <a:ln w="12700">
            <a:solidFill>
              <a:srgbClr val="C9B98A"/>
            </a:solidFill>
            <a:prstDash val="solid"/>
          </a:ln>
        </p:spPr>
      </p:sp>
      <p:sp>
        <p:nvSpPr>
          <p:cNvPr id="65" name="Text 61"/>
          <p:cNvSpPr txBox="1"/>
          <p:nvPr/>
        </p:nvSpPr>
        <p:spPr>
          <a:xfrm>
            <a:off x="4663440" y="4911344"/>
            <a:ext cx="384048" cy="543560"/>
          </a:xfrm>
          <a:prstGeom prst="rect">
            <a:avLst/>
          </a:prstGeom>
          <a:noFill/>
          <a:ln/>
        </p:spPr>
        <p:txBody>
          <a:bodyPr wrap="square" lIns="0" tIns="0" rIns="0" bIns="0" rtlCol="0" anchor="ctr"/>
          <a:lstStyle/>
          <a:p>
            <a:pPr algn="ctr" indent="0" marL="0">
              <a:buNone/>
            </a:pPr>
            <a:r>
              <a:rPr lang="en-US" sz="1500" i="1" dirty="0">
                <a:solidFill>
                  <a:schemeClr val="tx1"/>
                </a:solidFill>
              </a:rPr>
              <a:t>?</a:t>
            </a:r>
            <a:endParaRPr lang="en-US" sz="1500" dirty="0"/>
          </a:p>
        </p:txBody>
      </p:sp>
      <p:sp>
        <p:nvSpPr>
          <p:cNvPr id="66" name="Shape 62"/>
          <p:cNvSpPr/>
          <p:nvPr/>
        </p:nvSpPr>
        <p:spPr>
          <a:xfrm>
            <a:off x="6309360" y="4893056"/>
            <a:ext cx="5330952" cy="598424"/>
          </a:xfrm>
          <a:prstGeom prst="roundRect">
            <a:avLst>
              <a:gd name="adj" fmla="val 12224"/>
            </a:avLst>
          </a:prstGeom>
          <a:solidFill>
            <a:schemeClr val="bg1"/>
          </a:solidFill>
          <a:ln w="15875">
            <a:solidFill>
              <a:srgbClr val="D5DCE6"/>
            </a:solidFill>
            <a:prstDash val="solid"/>
          </a:ln>
        </p:spPr>
      </p:sp>
      <p:sp>
        <p:nvSpPr>
          <p:cNvPr id="67" name="Shape 63"/>
          <p:cNvSpPr/>
          <p:nvPr/>
        </p:nvSpPr>
        <p:spPr>
          <a:xfrm>
            <a:off x="548640" y="5754116"/>
            <a:ext cx="347472" cy="347472"/>
          </a:xfrm>
          <a:prstGeom prst="ellipse">
            <a:avLst/>
          </a:prstGeom>
          <a:solidFill>
            <a:schemeClr val="tx2"/>
          </a:solidFill>
          <a:ln w="12700">
            <a:solidFill>
              <a:srgbClr val="FFFFFF">
                <a:alpha val="0"/>
              </a:srgbClr>
            </a:solidFill>
            <a:prstDash val="solid"/>
          </a:ln>
        </p:spPr>
      </p:sp>
      <p:sp>
        <p:nvSpPr>
          <p:cNvPr id="68" name="Text 64"/>
          <p:cNvSpPr txBox="1"/>
          <p:nvPr/>
        </p:nvSpPr>
        <p:spPr>
          <a:xfrm>
            <a:off x="548640" y="57541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69" name="Shape 65"/>
          <p:cNvSpPr/>
          <p:nvPr/>
        </p:nvSpPr>
        <p:spPr>
          <a:xfrm>
            <a:off x="1005840" y="5637784"/>
            <a:ext cx="1371600" cy="543560"/>
          </a:xfrm>
          <a:prstGeom prst="roundRect">
            <a:avLst>
              <a:gd name="adj" fmla="val 13458"/>
            </a:avLst>
          </a:prstGeom>
          <a:solidFill>
            <a:srgbClr val="FFFDF5"/>
          </a:solidFill>
          <a:ln w="12700">
            <a:solidFill>
              <a:srgbClr val="C9B98A"/>
            </a:solidFill>
            <a:prstDash val="solid"/>
          </a:ln>
        </p:spPr>
      </p:sp>
      <p:sp>
        <p:nvSpPr>
          <p:cNvPr id="70" name="Text 66"/>
          <p:cNvSpPr txBox="1"/>
          <p:nvPr/>
        </p:nvSpPr>
        <p:spPr>
          <a:xfrm>
            <a:off x="1005840" y="5637784"/>
            <a:ext cx="1371600" cy="543560"/>
          </a:xfrm>
          <a:prstGeom prst="rect">
            <a:avLst/>
          </a:prstGeom>
          <a:noFill/>
          <a:ln/>
        </p:spPr>
        <p:txBody>
          <a:bodyPr wrap="square" lIns="0" tIns="0" rIns="0" bIns="0" rtlCol="0" anchor="ctr"/>
          <a:lstStyle/>
          <a:p>
            <a:pPr algn="ctr" indent="0" marL="0">
              <a:buNone/>
            </a:pPr>
            <a:r>
              <a:rPr lang="en-US" sz="1500" i="1" dirty="0">
                <a:solidFill>
                  <a:schemeClr val="tx1"/>
                </a:solidFill>
              </a:rPr>
              <a:t>mijn badge</a:t>
            </a:r>
            <a:endParaRPr lang="en-US" sz="1500" dirty="0"/>
          </a:p>
        </p:txBody>
      </p:sp>
      <p:sp>
        <p:nvSpPr>
          <p:cNvPr id="71" name="Shape 67"/>
          <p:cNvSpPr/>
          <p:nvPr/>
        </p:nvSpPr>
        <p:spPr>
          <a:xfrm>
            <a:off x="2468880" y="5637784"/>
            <a:ext cx="493776" cy="543560"/>
          </a:xfrm>
          <a:prstGeom prst="roundRect">
            <a:avLst>
              <a:gd name="adj" fmla="val 14815"/>
            </a:avLst>
          </a:prstGeom>
          <a:solidFill>
            <a:srgbClr val="FFFDF5"/>
          </a:solidFill>
          <a:ln w="12700">
            <a:solidFill>
              <a:srgbClr val="C9B98A"/>
            </a:solidFill>
            <a:prstDash val="solid"/>
          </a:ln>
        </p:spPr>
      </p:sp>
      <p:sp>
        <p:nvSpPr>
          <p:cNvPr id="72" name="Text 68"/>
          <p:cNvSpPr txBox="1"/>
          <p:nvPr/>
        </p:nvSpPr>
        <p:spPr>
          <a:xfrm>
            <a:off x="2468880" y="563778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73" name="Shape 69"/>
          <p:cNvSpPr/>
          <p:nvPr/>
        </p:nvSpPr>
        <p:spPr>
          <a:xfrm>
            <a:off x="3054096" y="5637784"/>
            <a:ext cx="1152144" cy="543560"/>
          </a:xfrm>
          <a:prstGeom prst="roundRect">
            <a:avLst>
              <a:gd name="adj" fmla="val 13458"/>
            </a:avLst>
          </a:prstGeom>
          <a:solidFill>
            <a:srgbClr val="FFFDF5"/>
          </a:solidFill>
          <a:ln w="12700">
            <a:solidFill>
              <a:srgbClr val="C9B98A"/>
            </a:solidFill>
            <a:prstDash val="solid"/>
          </a:ln>
        </p:spPr>
      </p:sp>
      <p:sp>
        <p:nvSpPr>
          <p:cNvPr id="74" name="Text 70"/>
          <p:cNvSpPr txBox="1"/>
          <p:nvPr/>
        </p:nvSpPr>
        <p:spPr>
          <a:xfrm>
            <a:off x="3054096" y="563778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vergeten</a:t>
            </a:r>
            <a:endParaRPr lang="en-US" sz="1500" dirty="0"/>
          </a:p>
        </p:txBody>
      </p:sp>
      <p:sp>
        <p:nvSpPr>
          <p:cNvPr id="75" name="Shape 71"/>
          <p:cNvSpPr/>
          <p:nvPr/>
        </p:nvSpPr>
        <p:spPr>
          <a:xfrm>
            <a:off x="4297680" y="5637784"/>
            <a:ext cx="713232" cy="543560"/>
          </a:xfrm>
          <a:prstGeom prst="roundRect">
            <a:avLst>
              <a:gd name="adj" fmla="val 13458"/>
            </a:avLst>
          </a:prstGeom>
          <a:solidFill>
            <a:srgbClr val="FFFDF5"/>
          </a:solidFill>
          <a:ln w="12700">
            <a:solidFill>
              <a:srgbClr val="C9B98A"/>
            </a:solidFill>
            <a:prstDash val="solid"/>
          </a:ln>
        </p:spPr>
      </p:sp>
      <p:sp>
        <p:nvSpPr>
          <p:cNvPr id="76" name="Text 72"/>
          <p:cNvSpPr txBox="1"/>
          <p:nvPr/>
        </p:nvSpPr>
        <p:spPr>
          <a:xfrm>
            <a:off x="4297680" y="563778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niet</a:t>
            </a:r>
            <a:endParaRPr lang="en-US" sz="1500" dirty="0"/>
          </a:p>
        </p:txBody>
      </p:sp>
      <p:sp>
        <p:nvSpPr>
          <p:cNvPr id="77" name="Shape 73"/>
          <p:cNvSpPr/>
          <p:nvPr/>
        </p:nvSpPr>
        <p:spPr>
          <a:xfrm>
            <a:off x="5102352" y="5637784"/>
            <a:ext cx="603504" cy="543560"/>
          </a:xfrm>
          <a:prstGeom prst="roundRect">
            <a:avLst>
              <a:gd name="adj" fmla="val 13458"/>
            </a:avLst>
          </a:prstGeom>
          <a:solidFill>
            <a:srgbClr val="FFFDF5"/>
          </a:solidFill>
          <a:ln w="12700">
            <a:solidFill>
              <a:srgbClr val="C9B98A"/>
            </a:solidFill>
            <a:prstDash val="solid"/>
          </a:ln>
        </p:spPr>
      </p:sp>
      <p:sp>
        <p:nvSpPr>
          <p:cNvPr id="78" name="Text 74"/>
          <p:cNvSpPr txBox="1"/>
          <p:nvPr/>
        </p:nvSpPr>
        <p:spPr>
          <a:xfrm>
            <a:off x="5102352" y="563778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mag</a:t>
            </a:r>
            <a:endParaRPr lang="en-US" sz="1500" dirty="0"/>
          </a:p>
        </p:txBody>
      </p:sp>
      <p:sp>
        <p:nvSpPr>
          <p:cNvPr id="79" name="Shape 75"/>
          <p:cNvSpPr/>
          <p:nvPr/>
        </p:nvSpPr>
        <p:spPr>
          <a:xfrm>
            <a:off x="6309360" y="5619496"/>
            <a:ext cx="5330952" cy="598424"/>
          </a:xfrm>
          <a:prstGeom prst="roundRect">
            <a:avLst>
              <a:gd name="adj" fmla="val 12224"/>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Remettez en 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les étiquettes dans l’ordre : modal en ②, infinitif au bout.</a:t>
            </a:r>
            <a:endParaRPr lang="en-US" sz="1700" dirty="0"/>
          </a:p>
        </p:txBody>
      </p:sp>
      <p:sp>
        <p:nvSpPr>
          <p:cNvPr id="9" name="Shape 5"/>
          <p:cNvSpPr/>
          <p:nvPr/>
        </p:nvSpPr>
        <p:spPr>
          <a:xfrm>
            <a:off x="548640" y="2121916"/>
            <a:ext cx="347472" cy="347472"/>
          </a:xfrm>
          <a:prstGeom prst="ellipse">
            <a:avLst/>
          </a:prstGeom>
          <a:solidFill>
            <a:schemeClr val="tx2"/>
          </a:solidFill>
          <a:ln w="12700">
            <a:solidFill>
              <a:srgbClr val="FFFFFF">
                <a:alpha val="0"/>
              </a:srgbClr>
            </a:solidFill>
            <a:prstDash val="solid"/>
          </a:ln>
        </p:spPr>
      </p:sp>
      <p:sp>
        <p:nvSpPr>
          <p:cNvPr id="10" name="Text 6"/>
          <p:cNvSpPr txBox="1"/>
          <p:nvPr/>
        </p:nvSpPr>
        <p:spPr>
          <a:xfrm>
            <a:off x="548640" y="21219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Shape 7"/>
          <p:cNvSpPr/>
          <p:nvPr/>
        </p:nvSpPr>
        <p:spPr>
          <a:xfrm>
            <a:off x="1005840" y="2005584"/>
            <a:ext cx="932688" cy="543560"/>
          </a:xfrm>
          <a:prstGeom prst="roundRect">
            <a:avLst>
              <a:gd name="adj" fmla="val 13458"/>
            </a:avLst>
          </a:prstGeom>
          <a:solidFill>
            <a:srgbClr val="FFFDF5"/>
          </a:solidFill>
          <a:ln w="12700">
            <a:solidFill>
              <a:srgbClr val="C9B98A"/>
            </a:solidFill>
            <a:prstDash val="solid"/>
          </a:ln>
        </p:spPr>
      </p:sp>
      <p:sp>
        <p:nvSpPr>
          <p:cNvPr id="12" name="Text 8"/>
          <p:cNvSpPr txBox="1"/>
          <p:nvPr/>
        </p:nvSpPr>
        <p:spPr>
          <a:xfrm>
            <a:off x="1005840" y="200558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morgen</a:t>
            </a:r>
            <a:endParaRPr lang="en-US" sz="1500" dirty="0"/>
          </a:p>
        </p:txBody>
      </p:sp>
      <p:sp>
        <p:nvSpPr>
          <p:cNvPr id="13" name="Shape 9"/>
          <p:cNvSpPr/>
          <p:nvPr/>
        </p:nvSpPr>
        <p:spPr>
          <a:xfrm>
            <a:off x="2029968" y="2005584"/>
            <a:ext cx="493776" cy="543560"/>
          </a:xfrm>
          <a:prstGeom prst="roundRect">
            <a:avLst>
              <a:gd name="adj" fmla="val 14815"/>
            </a:avLst>
          </a:prstGeom>
          <a:solidFill>
            <a:srgbClr val="FFFDF5"/>
          </a:solidFill>
          <a:ln w="12700">
            <a:solidFill>
              <a:srgbClr val="C9B98A"/>
            </a:solidFill>
            <a:prstDash val="solid"/>
          </a:ln>
        </p:spPr>
      </p:sp>
      <p:sp>
        <p:nvSpPr>
          <p:cNvPr id="14" name="Text 10"/>
          <p:cNvSpPr txBox="1"/>
          <p:nvPr/>
        </p:nvSpPr>
        <p:spPr>
          <a:xfrm>
            <a:off x="2029968" y="200558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15" name="Shape 11"/>
          <p:cNvSpPr/>
          <p:nvPr/>
        </p:nvSpPr>
        <p:spPr>
          <a:xfrm>
            <a:off x="2615184" y="2005584"/>
            <a:ext cx="932688" cy="543560"/>
          </a:xfrm>
          <a:prstGeom prst="roundRect">
            <a:avLst>
              <a:gd name="adj" fmla="val 13458"/>
            </a:avLst>
          </a:prstGeom>
          <a:solidFill>
            <a:srgbClr val="FFFDF5"/>
          </a:solidFill>
          <a:ln w="12700">
            <a:solidFill>
              <a:srgbClr val="C9B98A"/>
            </a:solidFill>
            <a:prstDash val="solid"/>
          </a:ln>
        </p:spPr>
      </p:sp>
      <p:sp>
        <p:nvSpPr>
          <p:cNvPr id="16" name="Text 12"/>
          <p:cNvSpPr txBox="1"/>
          <p:nvPr/>
        </p:nvSpPr>
        <p:spPr>
          <a:xfrm>
            <a:off x="2615184" y="200558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werken</a:t>
            </a:r>
            <a:endParaRPr lang="en-US" sz="1500" dirty="0"/>
          </a:p>
        </p:txBody>
      </p:sp>
      <p:sp>
        <p:nvSpPr>
          <p:cNvPr id="17" name="Shape 13"/>
          <p:cNvSpPr/>
          <p:nvPr/>
        </p:nvSpPr>
        <p:spPr>
          <a:xfrm>
            <a:off x="3639312" y="2005584"/>
            <a:ext cx="713232" cy="543560"/>
          </a:xfrm>
          <a:prstGeom prst="roundRect">
            <a:avLst>
              <a:gd name="adj" fmla="val 13458"/>
            </a:avLst>
          </a:prstGeom>
          <a:solidFill>
            <a:srgbClr val="FFFDF5"/>
          </a:solidFill>
          <a:ln w="12700">
            <a:solidFill>
              <a:srgbClr val="C9B98A"/>
            </a:solidFill>
            <a:prstDash val="solid"/>
          </a:ln>
        </p:spPr>
      </p:sp>
      <p:sp>
        <p:nvSpPr>
          <p:cNvPr id="18" name="Text 14"/>
          <p:cNvSpPr txBox="1"/>
          <p:nvPr/>
        </p:nvSpPr>
        <p:spPr>
          <a:xfrm>
            <a:off x="3639312" y="200558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moet</a:t>
            </a:r>
            <a:endParaRPr lang="en-US" sz="1500" dirty="0"/>
          </a:p>
        </p:txBody>
      </p:sp>
      <p:sp>
        <p:nvSpPr>
          <p:cNvPr id="19" name="Shape 15"/>
          <p:cNvSpPr/>
          <p:nvPr/>
        </p:nvSpPr>
        <p:spPr>
          <a:xfrm>
            <a:off x="6309360" y="1987296"/>
            <a:ext cx="5330952" cy="598424"/>
          </a:xfrm>
          <a:prstGeom prst="roundRect">
            <a:avLst>
              <a:gd name="adj" fmla="val 12224"/>
            </a:avLst>
          </a:prstGeom>
          <a:solidFill>
            <a:srgbClr val="EDF6F0"/>
          </a:solidFill>
          <a:ln w="15875">
            <a:solidFill>
              <a:srgbClr val="2E7D4F"/>
            </a:solidFill>
            <a:prstDash val="solid"/>
          </a:ln>
        </p:spPr>
      </p:sp>
      <p:sp>
        <p:nvSpPr>
          <p:cNvPr id="20" name="Text 16"/>
          <p:cNvSpPr txBox="1"/>
          <p:nvPr/>
        </p:nvSpPr>
        <p:spPr>
          <a:xfrm>
            <a:off x="6446520" y="198729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Ik moet morgen werken.</a:t>
            </a:r>
            <a:endParaRPr lang="en-US" sz="1800" dirty="0"/>
          </a:p>
        </p:txBody>
      </p:sp>
      <p:sp>
        <p:nvSpPr>
          <p:cNvPr id="21" name="Shape 17"/>
          <p:cNvSpPr/>
          <p:nvPr/>
        </p:nvSpPr>
        <p:spPr>
          <a:xfrm>
            <a:off x="548640" y="2848356"/>
            <a:ext cx="347472" cy="347472"/>
          </a:xfrm>
          <a:prstGeom prst="ellipse">
            <a:avLst/>
          </a:prstGeom>
          <a:solidFill>
            <a:schemeClr val="tx2"/>
          </a:solidFill>
          <a:ln w="12700">
            <a:solidFill>
              <a:srgbClr val="FFFFFF">
                <a:alpha val="0"/>
              </a:srgbClr>
            </a:solidFill>
            <a:prstDash val="solid"/>
          </a:ln>
        </p:spPr>
      </p:sp>
      <p:sp>
        <p:nvSpPr>
          <p:cNvPr id="22" name="Text 18"/>
          <p:cNvSpPr txBox="1"/>
          <p:nvPr/>
        </p:nvSpPr>
        <p:spPr>
          <a:xfrm>
            <a:off x="548640" y="284835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3" name="Shape 19"/>
          <p:cNvSpPr/>
          <p:nvPr/>
        </p:nvSpPr>
        <p:spPr>
          <a:xfrm>
            <a:off x="1005840" y="2732024"/>
            <a:ext cx="713232" cy="543560"/>
          </a:xfrm>
          <a:prstGeom prst="roundRect">
            <a:avLst>
              <a:gd name="adj" fmla="val 13458"/>
            </a:avLst>
          </a:prstGeom>
          <a:solidFill>
            <a:srgbClr val="FFFDF5"/>
          </a:solidFill>
          <a:ln w="12700">
            <a:solidFill>
              <a:srgbClr val="C9B98A"/>
            </a:solidFill>
            <a:prstDash val="solid"/>
          </a:ln>
        </p:spPr>
      </p:sp>
      <p:sp>
        <p:nvSpPr>
          <p:cNvPr id="24" name="Text 20"/>
          <p:cNvSpPr txBox="1"/>
          <p:nvPr/>
        </p:nvSpPr>
        <p:spPr>
          <a:xfrm>
            <a:off x="1005840" y="273202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niet</a:t>
            </a:r>
            <a:endParaRPr lang="en-US" sz="1500" dirty="0"/>
          </a:p>
        </p:txBody>
      </p:sp>
      <p:sp>
        <p:nvSpPr>
          <p:cNvPr id="25" name="Shape 21"/>
          <p:cNvSpPr/>
          <p:nvPr/>
        </p:nvSpPr>
        <p:spPr>
          <a:xfrm>
            <a:off x="1810512" y="2732024"/>
            <a:ext cx="822960" cy="543560"/>
          </a:xfrm>
          <a:prstGeom prst="roundRect">
            <a:avLst>
              <a:gd name="adj" fmla="val 13458"/>
            </a:avLst>
          </a:prstGeom>
          <a:solidFill>
            <a:srgbClr val="FFFDF5"/>
          </a:solidFill>
          <a:ln w="12700">
            <a:solidFill>
              <a:srgbClr val="C9B98A"/>
            </a:solidFill>
            <a:prstDash val="solid"/>
          </a:ln>
        </p:spPr>
      </p:sp>
      <p:sp>
        <p:nvSpPr>
          <p:cNvPr id="26" name="Text 22"/>
          <p:cNvSpPr txBox="1"/>
          <p:nvPr/>
        </p:nvSpPr>
        <p:spPr>
          <a:xfrm>
            <a:off x="1810512" y="273202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komen</a:t>
            </a:r>
            <a:endParaRPr lang="en-US" sz="1500" dirty="0"/>
          </a:p>
        </p:txBody>
      </p:sp>
      <p:sp>
        <p:nvSpPr>
          <p:cNvPr id="27" name="Shape 23"/>
          <p:cNvSpPr/>
          <p:nvPr/>
        </p:nvSpPr>
        <p:spPr>
          <a:xfrm>
            <a:off x="2724912" y="2732024"/>
            <a:ext cx="603504" cy="543560"/>
          </a:xfrm>
          <a:prstGeom prst="roundRect">
            <a:avLst>
              <a:gd name="adj" fmla="val 13458"/>
            </a:avLst>
          </a:prstGeom>
          <a:solidFill>
            <a:srgbClr val="FFFDF5"/>
          </a:solidFill>
          <a:ln w="12700">
            <a:solidFill>
              <a:srgbClr val="C9B98A"/>
            </a:solidFill>
            <a:prstDash val="solid"/>
          </a:ln>
        </p:spPr>
      </p:sp>
      <p:sp>
        <p:nvSpPr>
          <p:cNvPr id="28" name="Text 24"/>
          <p:cNvSpPr txBox="1"/>
          <p:nvPr/>
        </p:nvSpPr>
        <p:spPr>
          <a:xfrm>
            <a:off x="2724912" y="273202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kan</a:t>
            </a:r>
            <a:endParaRPr lang="en-US" sz="1500" dirty="0"/>
          </a:p>
        </p:txBody>
      </p:sp>
      <p:sp>
        <p:nvSpPr>
          <p:cNvPr id="29" name="Shape 25"/>
          <p:cNvSpPr/>
          <p:nvPr/>
        </p:nvSpPr>
        <p:spPr>
          <a:xfrm>
            <a:off x="3419856" y="2732024"/>
            <a:ext cx="493776" cy="543560"/>
          </a:xfrm>
          <a:prstGeom prst="roundRect">
            <a:avLst>
              <a:gd name="adj" fmla="val 14815"/>
            </a:avLst>
          </a:prstGeom>
          <a:solidFill>
            <a:srgbClr val="FFFDF5"/>
          </a:solidFill>
          <a:ln w="12700">
            <a:solidFill>
              <a:srgbClr val="C9B98A"/>
            </a:solidFill>
            <a:prstDash val="solid"/>
          </a:ln>
        </p:spPr>
      </p:sp>
      <p:sp>
        <p:nvSpPr>
          <p:cNvPr id="30" name="Text 26"/>
          <p:cNvSpPr txBox="1"/>
          <p:nvPr/>
        </p:nvSpPr>
        <p:spPr>
          <a:xfrm>
            <a:off x="3419856" y="273202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31" name="Shape 27"/>
          <p:cNvSpPr/>
          <p:nvPr/>
        </p:nvSpPr>
        <p:spPr>
          <a:xfrm>
            <a:off x="4005072" y="2732024"/>
            <a:ext cx="1042416" cy="543560"/>
          </a:xfrm>
          <a:prstGeom prst="roundRect">
            <a:avLst>
              <a:gd name="adj" fmla="val 13458"/>
            </a:avLst>
          </a:prstGeom>
          <a:solidFill>
            <a:srgbClr val="FFFDF5"/>
          </a:solidFill>
          <a:ln w="12700">
            <a:solidFill>
              <a:srgbClr val="C9B98A"/>
            </a:solidFill>
            <a:prstDash val="solid"/>
          </a:ln>
        </p:spPr>
      </p:sp>
      <p:sp>
        <p:nvSpPr>
          <p:cNvPr id="32" name="Text 28"/>
          <p:cNvSpPr txBox="1"/>
          <p:nvPr/>
        </p:nvSpPr>
        <p:spPr>
          <a:xfrm>
            <a:off x="4005072" y="2732024"/>
            <a:ext cx="1042416" cy="543560"/>
          </a:xfrm>
          <a:prstGeom prst="rect">
            <a:avLst/>
          </a:prstGeom>
          <a:noFill/>
          <a:ln/>
        </p:spPr>
        <p:txBody>
          <a:bodyPr wrap="square" lIns="0" tIns="0" rIns="0" bIns="0" rtlCol="0" anchor="ctr"/>
          <a:lstStyle/>
          <a:p>
            <a:pPr algn="ctr" indent="0" marL="0">
              <a:buNone/>
            </a:pPr>
            <a:r>
              <a:rPr lang="en-US" sz="1500" i="1" dirty="0">
                <a:solidFill>
                  <a:schemeClr val="tx1"/>
                </a:solidFill>
              </a:rPr>
              <a:t>vandaag</a:t>
            </a:r>
            <a:endParaRPr lang="en-US" sz="1500" dirty="0"/>
          </a:p>
        </p:txBody>
      </p:sp>
      <p:sp>
        <p:nvSpPr>
          <p:cNvPr id="33" name="Shape 29"/>
          <p:cNvSpPr/>
          <p:nvPr/>
        </p:nvSpPr>
        <p:spPr>
          <a:xfrm>
            <a:off x="6309360" y="2713736"/>
            <a:ext cx="5330952" cy="598424"/>
          </a:xfrm>
          <a:prstGeom prst="roundRect">
            <a:avLst>
              <a:gd name="adj" fmla="val 12224"/>
            </a:avLst>
          </a:prstGeom>
          <a:solidFill>
            <a:srgbClr val="EDF6F0"/>
          </a:solidFill>
          <a:ln w="15875">
            <a:solidFill>
              <a:srgbClr val="2E7D4F"/>
            </a:solidFill>
            <a:prstDash val="solid"/>
          </a:ln>
        </p:spPr>
      </p:sp>
      <p:sp>
        <p:nvSpPr>
          <p:cNvPr id="34" name="Text 30"/>
          <p:cNvSpPr txBox="1"/>
          <p:nvPr/>
        </p:nvSpPr>
        <p:spPr>
          <a:xfrm>
            <a:off x="6446520" y="271373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Ik kan vandaag niet komen.</a:t>
            </a:r>
            <a:endParaRPr lang="en-US" sz="1800" dirty="0"/>
          </a:p>
        </p:txBody>
      </p:sp>
      <p:sp>
        <p:nvSpPr>
          <p:cNvPr id="35" name="Shape 31"/>
          <p:cNvSpPr/>
          <p:nvPr/>
        </p:nvSpPr>
        <p:spPr>
          <a:xfrm>
            <a:off x="548640" y="3574796"/>
            <a:ext cx="347472" cy="347472"/>
          </a:xfrm>
          <a:prstGeom prst="ellipse">
            <a:avLst/>
          </a:prstGeom>
          <a:solidFill>
            <a:schemeClr val="tx2"/>
          </a:solidFill>
          <a:ln w="12700">
            <a:solidFill>
              <a:srgbClr val="FFFFFF">
                <a:alpha val="0"/>
              </a:srgbClr>
            </a:solidFill>
            <a:prstDash val="solid"/>
          </a:ln>
        </p:spPr>
      </p:sp>
      <p:sp>
        <p:nvSpPr>
          <p:cNvPr id="36" name="Text 32"/>
          <p:cNvSpPr txBox="1"/>
          <p:nvPr/>
        </p:nvSpPr>
        <p:spPr>
          <a:xfrm>
            <a:off x="548640" y="357479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7" name="Shape 33"/>
          <p:cNvSpPr/>
          <p:nvPr/>
        </p:nvSpPr>
        <p:spPr>
          <a:xfrm>
            <a:off x="1005840" y="3458464"/>
            <a:ext cx="493776" cy="543560"/>
          </a:xfrm>
          <a:prstGeom prst="roundRect">
            <a:avLst>
              <a:gd name="adj" fmla="val 14815"/>
            </a:avLst>
          </a:prstGeom>
          <a:solidFill>
            <a:srgbClr val="FFFDF5"/>
          </a:solidFill>
          <a:ln w="12700">
            <a:solidFill>
              <a:srgbClr val="C9B98A"/>
            </a:solidFill>
            <a:prstDash val="solid"/>
          </a:ln>
        </p:spPr>
      </p:sp>
      <p:sp>
        <p:nvSpPr>
          <p:cNvPr id="38" name="Text 34"/>
          <p:cNvSpPr txBox="1"/>
          <p:nvPr/>
        </p:nvSpPr>
        <p:spPr>
          <a:xfrm>
            <a:off x="1005840" y="345846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je</a:t>
            </a:r>
            <a:endParaRPr lang="en-US" sz="1500" dirty="0"/>
          </a:p>
        </p:txBody>
      </p:sp>
      <p:sp>
        <p:nvSpPr>
          <p:cNvPr id="39" name="Shape 35"/>
          <p:cNvSpPr/>
          <p:nvPr/>
        </p:nvSpPr>
        <p:spPr>
          <a:xfrm>
            <a:off x="1591056" y="3458464"/>
            <a:ext cx="603504" cy="543560"/>
          </a:xfrm>
          <a:prstGeom prst="roundRect">
            <a:avLst>
              <a:gd name="adj" fmla="val 13458"/>
            </a:avLst>
          </a:prstGeom>
          <a:solidFill>
            <a:srgbClr val="FFFDF5"/>
          </a:solidFill>
          <a:ln w="12700">
            <a:solidFill>
              <a:srgbClr val="C9B98A"/>
            </a:solidFill>
            <a:prstDash val="solid"/>
          </a:ln>
        </p:spPr>
      </p:sp>
      <p:sp>
        <p:nvSpPr>
          <p:cNvPr id="40" name="Text 36"/>
          <p:cNvSpPr txBox="1"/>
          <p:nvPr/>
        </p:nvSpPr>
        <p:spPr>
          <a:xfrm>
            <a:off x="1591056" y="345846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mag</a:t>
            </a:r>
            <a:endParaRPr lang="en-US" sz="1500" dirty="0"/>
          </a:p>
        </p:txBody>
      </p:sp>
      <p:sp>
        <p:nvSpPr>
          <p:cNvPr id="41" name="Shape 37"/>
          <p:cNvSpPr/>
          <p:nvPr/>
        </p:nvSpPr>
        <p:spPr>
          <a:xfrm>
            <a:off x="2286000" y="3458464"/>
            <a:ext cx="1481328" cy="543560"/>
          </a:xfrm>
          <a:prstGeom prst="roundRect">
            <a:avLst>
              <a:gd name="adj" fmla="val 13458"/>
            </a:avLst>
          </a:prstGeom>
          <a:solidFill>
            <a:srgbClr val="FFFDF5"/>
          </a:solidFill>
          <a:ln w="12700">
            <a:solidFill>
              <a:srgbClr val="C9B98A"/>
            </a:solidFill>
            <a:prstDash val="solid"/>
          </a:ln>
        </p:spPr>
      </p:sp>
      <p:sp>
        <p:nvSpPr>
          <p:cNvPr id="42" name="Text 38"/>
          <p:cNvSpPr txBox="1"/>
          <p:nvPr/>
        </p:nvSpPr>
        <p:spPr>
          <a:xfrm>
            <a:off x="2286000" y="3458464"/>
            <a:ext cx="1481328" cy="543560"/>
          </a:xfrm>
          <a:prstGeom prst="rect">
            <a:avLst/>
          </a:prstGeom>
          <a:noFill/>
          <a:ln/>
        </p:spPr>
        <p:txBody>
          <a:bodyPr wrap="square" lIns="0" tIns="0" rIns="0" bIns="0" rtlCol="0" anchor="ctr"/>
          <a:lstStyle/>
          <a:p>
            <a:pPr algn="ctr" indent="0" marL="0">
              <a:buNone/>
            </a:pPr>
            <a:r>
              <a:rPr lang="en-US" sz="1500" i="1" dirty="0">
                <a:solidFill>
                  <a:schemeClr val="tx1"/>
                </a:solidFill>
              </a:rPr>
              <a:t>binnenkomen</a:t>
            </a:r>
            <a:endParaRPr lang="en-US" sz="1500" dirty="0"/>
          </a:p>
        </p:txBody>
      </p:sp>
      <p:sp>
        <p:nvSpPr>
          <p:cNvPr id="43" name="Shape 39"/>
          <p:cNvSpPr/>
          <p:nvPr/>
        </p:nvSpPr>
        <p:spPr>
          <a:xfrm>
            <a:off x="3858768" y="3458464"/>
            <a:ext cx="384048" cy="543560"/>
          </a:xfrm>
          <a:prstGeom prst="roundRect">
            <a:avLst>
              <a:gd name="adj" fmla="val 19048"/>
            </a:avLst>
          </a:prstGeom>
          <a:solidFill>
            <a:srgbClr val="FFFDF5"/>
          </a:solidFill>
          <a:ln w="12700">
            <a:solidFill>
              <a:srgbClr val="C9B98A"/>
            </a:solidFill>
            <a:prstDash val="solid"/>
          </a:ln>
        </p:spPr>
      </p:sp>
      <p:sp>
        <p:nvSpPr>
          <p:cNvPr id="44" name="Text 40"/>
          <p:cNvSpPr txBox="1"/>
          <p:nvPr/>
        </p:nvSpPr>
        <p:spPr>
          <a:xfrm>
            <a:off x="3858768" y="3458464"/>
            <a:ext cx="384048" cy="543560"/>
          </a:xfrm>
          <a:prstGeom prst="rect">
            <a:avLst/>
          </a:prstGeom>
          <a:noFill/>
          <a:ln/>
        </p:spPr>
        <p:txBody>
          <a:bodyPr wrap="square" lIns="0" tIns="0" rIns="0" bIns="0" rtlCol="0" anchor="ctr"/>
          <a:lstStyle/>
          <a:p>
            <a:pPr algn="ctr" indent="0" marL="0">
              <a:buNone/>
            </a:pPr>
            <a:r>
              <a:rPr lang="en-US" sz="1500" i="1" dirty="0">
                <a:solidFill>
                  <a:schemeClr val="tx1"/>
                </a:solidFill>
              </a:rPr>
              <a:t>?</a:t>
            </a:r>
            <a:endParaRPr lang="en-US" sz="1500" dirty="0"/>
          </a:p>
        </p:txBody>
      </p:sp>
      <p:sp>
        <p:nvSpPr>
          <p:cNvPr id="45" name="Shape 41"/>
          <p:cNvSpPr/>
          <p:nvPr/>
        </p:nvSpPr>
        <p:spPr>
          <a:xfrm>
            <a:off x="6309360" y="3440176"/>
            <a:ext cx="5330952" cy="598424"/>
          </a:xfrm>
          <a:prstGeom prst="roundRect">
            <a:avLst>
              <a:gd name="adj" fmla="val 12224"/>
            </a:avLst>
          </a:prstGeom>
          <a:solidFill>
            <a:srgbClr val="EDF6F0"/>
          </a:solidFill>
          <a:ln w="15875">
            <a:solidFill>
              <a:srgbClr val="2E7D4F"/>
            </a:solidFill>
            <a:prstDash val="solid"/>
          </a:ln>
        </p:spPr>
      </p:sp>
      <p:sp>
        <p:nvSpPr>
          <p:cNvPr id="46" name="Text 42"/>
          <p:cNvSpPr txBox="1"/>
          <p:nvPr/>
        </p:nvSpPr>
        <p:spPr>
          <a:xfrm>
            <a:off x="6446520" y="344017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Mag je binnenkomen?</a:t>
            </a:r>
            <a:endParaRPr lang="en-US" sz="1800" dirty="0"/>
          </a:p>
        </p:txBody>
      </p:sp>
      <p:sp>
        <p:nvSpPr>
          <p:cNvPr id="47" name="Shape 43"/>
          <p:cNvSpPr/>
          <p:nvPr/>
        </p:nvSpPr>
        <p:spPr>
          <a:xfrm>
            <a:off x="548640" y="4301236"/>
            <a:ext cx="347472" cy="347472"/>
          </a:xfrm>
          <a:prstGeom prst="ellipse">
            <a:avLst/>
          </a:prstGeom>
          <a:solidFill>
            <a:schemeClr val="tx2"/>
          </a:solidFill>
          <a:ln w="12700">
            <a:solidFill>
              <a:srgbClr val="FFFFFF">
                <a:alpha val="0"/>
              </a:srgbClr>
            </a:solidFill>
            <a:prstDash val="solid"/>
          </a:ln>
        </p:spPr>
      </p:sp>
      <p:sp>
        <p:nvSpPr>
          <p:cNvPr id="48" name="Text 44"/>
          <p:cNvSpPr txBox="1"/>
          <p:nvPr/>
        </p:nvSpPr>
        <p:spPr>
          <a:xfrm>
            <a:off x="548640" y="430123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9" name="Shape 45"/>
          <p:cNvSpPr/>
          <p:nvPr/>
        </p:nvSpPr>
        <p:spPr>
          <a:xfrm>
            <a:off x="1005840" y="4184904"/>
            <a:ext cx="1152144" cy="543560"/>
          </a:xfrm>
          <a:prstGeom prst="roundRect">
            <a:avLst>
              <a:gd name="adj" fmla="val 13458"/>
            </a:avLst>
          </a:prstGeom>
          <a:solidFill>
            <a:srgbClr val="FFFDF5"/>
          </a:solidFill>
          <a:ln w="12700">
            <a:solidFill>
              <a:srgbClr val="C9B98A"/>
            </a:solidFill>
            <a:prstDash val="solid"/>
          </a:ln>
        </p:spPr>
      </p:sp>
      <p:sp>
        <p:nvSpPr>
          <p:cNvPr id="50" name="Text 46"/>
          <p:cNvSpPr txBox="1"/>
          <p:nvPr/>
        </p:nvSpPr>
        <p:spPr>
          <a:xfrm>
            <a:off x="1005840" y="418490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opbellen</a:t>
            </a:r>
            <a:endParaRPr lang="en-US" sz="1500" dirty="0"/>
          </a:p>
        </p:txBody>
      </p:sp>
      <p:sp>
        <p:nvSpPr>
          <p:cNvPr id="51" name="Shape 47"/>
          <p:cNvSpPr/>
          <p:nvPr/>
        </p:nvSpPr>
        <p:spPr>
          <a:xfrm>
            <a:off x="2249424" y="4184904"/>
            <a:ext cx="1152144" cy="543560"/>
          </a:xfrm>
          <a:prstGeom prst="roundRect">
            <a:avLst>
              <a:gd name="adj" fmla="val 13458"/>
            </a:avLst>
          </a:prstGeom>
          <a:solidFill>
            <a:srgbClr val="FFFDF5"/>
          </a:solidFill>
          <a:ln w="12700">
            <a:solidFill>
              <a:srgbClr val="C9B98A"/>
            </a:solidFill>
            <a:prstDash val="solid"/>
          </a:ln>
        </p:spPr>
      </p:sp>
      <p:sp>
        <p:nvSpPr>
          <p:cNvPr id="52" name="Text 48"/>
          <p:cNvSpPr txBox="1"/>
          <p:nvPr/>
        </p:nvSpPr>
        <p:spPr>
          <a:xfrm>
            <a:off x="2249424" y="418490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de klant</a:t>
            </a:r>
            <a:endParaRPr lang="en-US" sz="1500" dirty="0"/>
          </a:p>
        </p:txBody>
      </p:sp>
      <p:sp>
        <p:nvSpPr>
          <p:cNvPr id="53" name="Shape 49"/>
          <p:cNvSpPr/>
          <p:nvPr/>
        </p:nvSpPr>
        <p:spPr>
          <a:xfrm>
            <a:off x="3493008" y="4184904"/>
            <a:ext cx="603504" cy="543560"/>
          </a:xfrm>
          <a:prstGeom prst="roundRect">
            <a:avLst>
              <a:gd name="adj" fmla="val 13458"/>
            </a:avLst>
          </a:prstGeom>
          <a:solidFill>
            <a:srgbClr val="FFFDF5"/>
          </a:solidFill>
          <a:ln w="12700">
            <a:solidFill>
              <a:srgbClr val="C9B98A"/>
            </a:solidFill>
            <a:prstDash val="solid"/>
          </a:ln>
        </p:spPr>
      </p:sp>
      <p:sp>
        <p:nvSpPr>
          <p:cNvPr id="54" name="Text 50"/>
          <p:cNvSpPr txBox="1"/>
          <p:nvPr/>
        </p:nvSpPr>
        <p:spPr>
          <a:xfrm>
            <a:off x="3493008" y="418490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wil</a:t>
            </a:r>
            <a:endParaRPr lang="en-US" sz="1500" dirty="0"/>
          </a:p>
        </p:txBody>
      </p:sp>
      <p:sp>
        <p:nvSpPr>
          <p:cNvPr id="55" name="Shape 51"/>
          <p:cNvSpPr/>
          <p:nvPr/>
        </p:nvSpPr>
        <p:spPr>
          <a:xfrm>
            <a:off x="4187952" y="4184904"/>
            <a:ext cx="822960" cy="543560"/>
          </a:xfrm>
          <a:prstGeom prst="roundRect">
            <a:avLst>
              <a:gd name="adj" fmla="val 13458"/>
            </a:avLst>
          </a:prstGeom>
          <a:solidFill>
            <a:srgbClr val="FFFDF5"/>
          </a:solidFill>
          <a:ln w="12700">
            <a:solidFill>
              <a:srgbClr val="C9B98A"/>
            </a:solidFill>
            <a:prstDash val="solid"/>
          </a:ln>
        </p:spPr>
      </p:sp>
      <p:sp>
        <p:nvSpPr>
          <p:cNvPr id="56" name="Text 52"/>
          <p:cNvSpPr txBox="1"/>
          <p:nvPr/>
        </p:nvSpPr>
        <p:spPr>
          <a:xfrm>
            <a:off x="4187952" y="418490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Sofie</a:t>
            </a:r>
            <a:endParaRPr lang="en-US" sz="1500" dirty="0"/>
          </a:p>
        </p:txBody>
      </p:sp>
      <p:sp>
        <p:nvSpPr>
          <p:cNvPr id="57" name="Shape 53"/>
          <p:cNvSpPr/>
          <p:nvPr/>
        </p:nvSpPr>
        <p:spPr>
          <a:xfrm>
            <a:off x="6309360" y="4166616"/>
            <a:ext cx="5330952" cy="598424"/>
          </a:xfrm>
          <a:prstGeom prst="roundRect">
            <a:avLst>
              <a:gd name="adj" fmla="val 12224"/>
            </a:avLst>
          </a:prstGeom>
          <a:solidFill>
            <a:srgbClr val="EDF6F0"/>
          </a:solidFill>
          <a:ln w="15875">
            <a:solidFill>
              <a:srgbClr val="2E7D4F"/>
            </a:solidFill>
            <a:prstDash val="solid"/>
          </a:ln>
        </p:spPr>
      </p:sp>
      <p:sp>
        <p:nvSpPr>
          <p:cNvPr id="58" name="Text 54"/>
          <p:cNvSpPr txBox="1"/>
          <p:nvPr/>
        </p:nvSpPr>
        <p:spPr>
          <a:xfrm>
            <a:off x="6446520" y="416661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Sofie wil de klant opbellen.</a:t>
            </a:r>
            <a:endParaRPr lang="en-US" sz="1800" dirty="0"/>
          </a:p>
        </p:txBody>
      </p:sp>
      <p:sp>
        <p:nvSpPr>
          <p:cNvPr id="59" name="Shape 55"/>
          <p:cNvSpPr/>
          <p:nvPr/>
        </p:nvSpPr>
        <p:spPr>
          <a:xfrm>
            <a:off x="548640" y="5027676"/>
            <a:ext cx="347472" cy="347472"/>
          </a:xfrm>
          <a:prstGeom prst="ellipse">
            <a:avLst/>
          </a:prstGeom>
          <a:solidFill>
            <a:schemeClr val="tx2"/>
          </a:solidFill>
          <a:ln w="12700">
            <a:solidFill>
              <a:srgbClr val="FFFFFF">
                <a:alpha val="0"/>
              </a:srgbClr>
            </a:solidFill>
            <a:prstDash val="solid"/>
          </a:ln>
        </p:spPr>
      </p:sp>
      <p:sp>
        <p:nvSpPr>
          <p:cNvPr id="60" name="Text 56"/>
          <p:cNvSpPr txBox="1"/>
          <p:nvPr/>
        </p:nvSpPr>
        <p:spPr>
          <a:xfrm>
            <a:off x="548640" y="502767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1" name="Shape 57"/>
          <p:cNvSpPr/>
          <p:nvPr/>
        </p:nvSpPr>
        <p:spPr>
          <a:xfrm>
            <a:off x="1005840" y="4911344"/>
            <a:ext cx="493776" cy="543560"/>
          </a:xfrm>
          <a:prstGeom prst="roundRect">
            <a:avLst>
              <a:gd name="adj" fmla="val 14815"/>
            </a:avLst>
          </a:prstGeom>
          <a:solidFill>
            <a:srgbClr val="FFFDF5"/>
          </a:solidFill>
          <a:ln w="12700">
            <a:solidFill>
              <a:srgbClr val="C9B98A"/>
            </a:solidFill>
            <a:prstDash val="solid"/>
          </a:ln>
        </p:spPr>
      </p:sp>
      <p:sp>
        <p:nvSpPr>
          <p:cNvPr id="62" name="Text 58"/>
          <p:cNvSpPr txBox="1"/>
          <p:nvPr/>
        </p:nvSpPr>
        <p:spPr>
          <a:xfrm>
            <a:off x="1005840" y="491134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we</a:t>
            </a:r>
            <a:endParaRPr lang="en-US" sz="1500" dirty="0"/>
          </a:p>
        </p:txBody>
      </p:sp>
      <p:sp>
        <p:nvSpPr>
          <p:cNvPr id="63" name="Shape 59"/>
          <p:cNvSpPr/>
          <p:nvPr/>
        </p:nvSpPr>
        <p:spPr>
          <a:xfrm>
            <a:off x="1591056" y="4911344"/>
            <a:ext cx="822960" cy="543560"/>
          </a:xfrm>
          <a:prstGeom prst="roundRect">
            <a:avLst>
              <a:gd name="adj" fmla="val 13458"/>
            </a:avLst>
          </a:prstGeom>
          <a:solidFill>
            <a:srgbClr val="FFFDF5"/>
          </a:solidFill>
          <a:ln w="12700">
            <a:solidFill>
              <a:srgbClr val="C9B98A"/>
            </a:solidFill>
            <a:prstDash val="solid"/>
          </a:ln>
        </p:spPr>
      </p:sp>
      <p:sp>
        <p:nvSpPr>
          <p:cNvPr id="64" name="Text 60"/>
          <p:cNvSpPr txBox="1"/>
          <p:nvPr/>
        </p:nvSpPr>
        <p:spPr>
          <a:xfrm>
            <a:off x="1591056" y="4911344"/>
            <a:ext cx="822960" cy="543560"/>
          </a:xfrm>
          <a:prstGeom prst="rect">
            <a:avLst/>
          </a:prstGeom>
          <a:noFill/>
          <a:ln/>
        </p:spPr>
        <p:txBody>
          <a:bodyPr wrap="square" lIns="0" tIns="0" rIns="0" bIns="0" rtlCol="0" anchor="ctr"/>
          <a:lstStyle/>
          <a:p>
            <a:pPr algn="ctr" indent="0" marL="0">
              <a:buNone/>
            </a:pPr>
            <a:r>
              <a:rPr lang="en-US" sz="1500" i="1" dirty="0">
                <a:solidFill>
                  <a:schemeClr val="tx1"/>
                </a:solidFill>
              </a:rPr>
              <a:t>samen</a:t>
            </a:r>
            <a:endParaRPr lang="en-US" sz="1500" dirty="0"/>
          </a:p>
        </p:txBody>
      </p:sp>
      <p:sp>
        <p:nvSpPr>
          <p:cNvPr id="65" name="Shape 61"/>
          <p:cNvSpPr/>
          <p:nvPr/>
        </p:nvSpPr>
        <p:spPr>
          <a:xfrm>
            <a:off x="2505456" y="4911344"/>
            <a:ext cx="932688" cy="543560"/>
          </a:xfrm>
          <a:prstGeom prst="roundRect">
            <a:avLst>
              <a:gd name="adj" fmla="val 13458"/>
            </a:avLst>
          </a:prstGeom>
          <a:solidFill>
            <a:srgbClr val="FFFDF5"/>
          </a:solidFill>
          <a:ln w="12700">
            <a:solidFill>
              <a:srgbClr val="C9B98A"/>
            </a:solidFill>
            <a:prstDash val="solid"/>
          </a:ln>
        </p:spPr>
      </p:sp>
      <p:sp>
        <p:nvSpPr>
          <p:cNvPr id="66" name="Text 62"/>
          <p:cNvSpPr txBox="1"/>
          <p:nvPr/>
        </p:nvSpPr>
        <p:spPr>
          <a:xfrm>
            <a:off x="2505456" y="4911344"/>
            <a:ext cx="932688" cy="543560"/>
          </a:xfrm>
          <a:prstGeom prst="rect">
            <a:avLst/>
          </a:prstGeom>
          <a:noFill/>
          <a:ln/>
        </p:spPr>
        <p:txBody>
          <a:bodyPr wrap="square" lIns="0" tIns="0" rIns="0" bIns="0" rtlCol="0" anchor="ctr"/>
          <a:lstStyle/>
          <a:p>
            <a:pPr algn="ctr" indent="0" marL="0">
              <a:buNone/>
            </a:pPr>
            <a:r>
              <a:rPr lang="en-US" sz="1500" i="1" dirty="0">
                <a:solidFill>
                  <a:schemeClr val="tx1"/>
                </a:solidFill>
              </a:rPr>
              <a:t>zullen</a:t>
            </a:r>
            <a:endParaRPr lang="en-US" sz="1500" dirty="0"/>
          </a:p>
        </p:txBody>
      </p:sp>
      <p:sp>
        <p:nvSpPr>
          <p:cNvPr id="67" name="Shape 63"/>
          <p:cNvSpPr/>
          <p:nvPr/>
        </p:nvSpPr>
        <p:spPr>
          <a:xfrm>
            <a:off x="3529584" y="4911344"/>
            <a:ext cx="1042416" cy="543560"/>
          </a:xfrm>
          <a:prstGeom prst="roundRect">
            <a:avLst>
              <a:gd name="adj" fmla="val 13458"/>
            </a:avLst>
          </a:prstGeom>
          <a:solidFill>
            <a:srgbClr val="FFFDF5"/>
          </a:solidFill>
          <a:ln w="12700">
            <a:solidFill>
              <a:srgbClr val="C9B98A"/>
            </a:solidFill>
            <a:prstDash val="solid"/>
          </a:ln>
        </p:spPr>
      </p:sp>
      <p:sp>
        <p:nvSpPr>
          <p:cNvPr id="68" name="Text 64"/>
          <p:cNvSpPr txBox="1"/>
          <p:nvPr/>
        </p:nvSpPr>
        <p:spPr>
          <a:xfrm>
            <a:off x="3529584" y="4911344"/>
            <a:ext cx="1042416" cy="543560"/>
          </a:xfrm>
          <a:prstGeom prst="rect">
            <a:avLst/>
          </a:prstGeom>
          <a:noFill/>
          <a:ln/>
        </p:spPr>
        <p:txBody>
          <a:bodyPr wrap="square" lIns="0" tIns="0" rIns="0" bIns="0" rtlCol="0" anchor="ctr"/>
          <a:lstStyle/>
          <a:p>
            <a:pPr algn="ctr" indent="0" marL="0">
              <a:buNone/>
            </a:pPr>
            <a:r>
              <a:rPr lang="en-US" sz="1500" i="1" dirty="0">
                <a:solidFill>
                  <a:schemeClr val="tx1"/>
                </a:solidFill>
              </a:rPr>
              <a:t>lunchen</a:t>
            </a:r>
            <a:endParaRPr lang="en-US" sz="1500" dirty="0"/>
          </a:p>
        </p:txBody>
      </p:sp>
      <p:sp>
        <p:nvSpPr>
          <p:cNvPr id="69" name="Shape 65"/>
          <p:cNvSpPr/>
          <p:nvPr/>
        </p:nvSpPr>
        <p:spPr>
          <a:xfrm>
            <a:off x="4663440" y="4911344"/>
            <a:ext cx="384048" cy="543560"/>
          </a:xfrm>
          <a:prstGeom prst="roundRect">
            <a:avLst>
              <a:gd name="adj" fmla="val 19048"/>
            </a:avLst>
          </a:prstGeom>
          <a:solidFill>
            <a:srgbClr val="FFFDF5"/>
          </a:solidFill>
          <a:ln w="12700">
            <a:solidFill>
              <a:srgbClr val="C9B98A"/>
            </a:solidFill>
            <a:prstDash val="solid"/>
          </a:ln>
        </p:spPr>
      </p:sp>
      <p:sp>
        <p:nvSpPr>
          <p:cNvPr id="70" name="Text 66"/>
          <p:cNvSpPr txBox="1"/>
          <p:nvPr/>
        </p:nvSpPr>
        <p:spPr>
          <a:xfrm>
            <a:off x="4663440" y="4911344"/>
            <a:ext cx="384048" cy="543560"/>
          </a:xfrm>
          <a:prstGeom prst="rect">
            <a:avLst/>
          </a:prstGeom>
          <a:noFill/>
          <a:ln/>
        </p:spPr>
        <p:txBody>
          <a:bodyPr wrap="square" lIns="0" tIns="0" rIns="0" bIns="0" rtlCol="0" anchor="ctr"/>
          <a:lstStyle/>
          <a:p>
            <a:pPr algn="ctr" indent="0" marL="0">
              <a:buNone/>
            </a:pPr>
            <a:r>
              <a:rPr lang="en-US" sz="1500" i="1" dirty="0">
                <a:solidFill>
                  <a:schemeClr val="tx1"/>
                </a:solidFill>
              </a:rPr>
              <a:t>?</a:t>
            </a:r>
            <a:endParaRPr lang="en-US" sz="1500" dirty="0"/>
          </a:p>
        </p:txBody>
      </p:sp>
      <p:sp>
        <p:nvSpPr>
          <p:cNvPr id="71" name="Shape 67"/>
          <p:cNvSpPr/>
          <p:nvPr/>
        </p:nvSpPr>
        <p:spPr>
          <a:xfrm>
            <a:off x="6309360" y="4893056"/>
            <a:ext cx="5330952" cy="598424"/>
          </a:xfrm>
          <a:prstGeom prst="roundRect">
            <a:avLst>
              <a:gd name="adj" fmla="val 12224"/>
            </a:avLst>
          </a:prstGeom>
          <a:solidFill>
            <a:srgbClr val="EDF6F0"/>
          </a:solidFill>
          <a:ln w="15875">
            <a:solidFill>
              <a:srgbClr val="2E7D4F"/>
            </a:solidFill>
            <a:prstDash val="solid"/>
          </a:ln>
        </p:spPr>
      </p:sp>
      <p:sp>
        <p:nvSpPr>
          <p:cNvPr id="72" name="Text 68"/>
          <p:cNvSpPr txBox="1"/>
          <p:nvPr/>
        </p:nvSpPr>
        <p:spPr>
          <a:xfrm>
            <a:off x="6446520" y="489305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Zullen we samen lunchen?</a:t>
            </a:r>
            <a:endParaRPr lang="en-US" sz="1800" dirty="0"/>
          </a:p>
        </p:txBody>
      </p:sp>
      <p:sp>
        <p:nvSpPr>
          <p:cNvPr id="73" name="Shape 69"/>
          <p:cNvSpPr/>
          <p:nvPr/>
        </p:nvSpPr>
        <p:spPr>
          <a:xfrm>
            <a:off x="548640" y="5754116"/>
            <a:ext cx="347472" cy="347472"/>
          </a:xfrm>
          <a:prstGeom prst="ellipse">
            <a:avLst/>
          </a:prstGeom>
          <a:solidFill>
            <a:schemeClr val="tx2"/>
          </a:solidFill>
          <a:ln w="12700">
            <a:solidFill>
              <a:srgbClr val="FFFFFF">
                <a:alpha val="0"/>
              </a:srgbClr>
            </a:solidFill>
            <a:prstDash val="solid"/>
          </a:ln>
        </p:spPr>
      </p:sp>
      <p:sp>
        <p:nvSpPr>
          <p:cNvPr id="74" name="Text 70"/>
          <p:cNvSpPr txBox="1"/>
          <p:nvPr/>
        </p:nvSpPr>
        <p:spPr>
          <a:xfrm>
            <a:off x="548640" y="57541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75" name="Shape 71"/>
          <p:cNvSpPr/>
          <p:nvPr/>
        </p:nvSpPr>
        <p:spPr>
          <a:xfrm>
            <a:off x="1005840" y="5637784"/>
            <a:ext cx="1371600" cy="543560"/>
          </a:xfrm>
          <a:prstGeom prst="roundRect">
            <a:avLst>
              <a:gd name="adj" fmla="val 13458"/>
            </a:avLst>
          </a:prstGeom>
          <a:solidFill>
            <a:srgbClr val="FFFDF5"/>
          </a:solidFill>
          <a:ln w="12700">
            <a:solidFill>
              <a:srgbClr val="C9B98A"/>
            </a:solidFill>
            <a:prstDash val="solid"/>
          </a:ln>
        </p:spPr>
      </p:sp>
      <p:sp>
        <p:nvSpPr>
          <p:cNvPr id="76" name="Text 72"/>
          <p:cNvSpPr txBox="1"/>
          <p:nvPr/>
        </p:nvSpPr>
        <p:spPr>
          <a:xfrm>
            <a:off x="1005840" y="5637784"/>
            <a:ext cx="1371600" cy="543560"/>
          </a:xfrm>
          <a:prstGeom prst="rect">
            <a:avLst/>
          </a:prstGeom>
          <a:noFill/>
          <a:ln/>
        </p:spPr>
        <p:txBody>
          <a:bodyPr wrap="square" lIns="0" tIns="0" rIns="0" bIns="0" rtlCol="0" anchor="ctr"/>
          <a:lstStyle/>
          <a:p>
            <a:pPr algn="ctr" indent="0" marL="0">
              <a:buNone/>
            </a:pPr>
            <a:r>
              <a:rPr lang="en-US" sz="1500" i="1" dirty="0">
                <a:solidFill>
                  <a:schemeClr val="tx1"/>
                </a:solidFill>
              </a:rPr>
              <a:t>mijn badge</a:t>
            </a:r>
            <a:endParaRPr lang="en-US" sz="1500" dirty="0"/>
          </a:p>
        </p:txBody>
      </p:sp>
      <p:sp>
        <p:nvSpPr>
          <p:cNvPr id="77" name="Shape 73"/>
          <p:cNvSpPr/>
          <p:nvPr/>
        </p:nvSpPr>
        <p:spPr>
          <a:xfrm>
            <a:off x="2468880" y="5637784"/>
            <a:ext cx="493776" cy="543560"/>
          </a:xfrm>
          <a:prstGeom prst="roundRect">
            <a:avLst>
              <a:gd name="adj" fmla="val 14815"/>
            </a:avLst>
          </a:prstGeom>
          <a:solidFill>
            <a:srgbClr val="FFFDF5"/>
          </a:solidFill>
          <a:ln w="12700">
            <a:solidFill>
              <a:srgbClr val="C9B98A"/>
            </a:solidFill>
            <a:prstDash val="solid"/>
          </a:ln>
        </p:spPr>
      </p:sp>
      <p:sp>
        <p:nvSpPr>
          <p:cNvPr id="78" name="Text 74"/>
          <p:cNvSpPr txBox="1"/>
          <p:nvPr/>
        </p:nvSpPr>
        <p:spPr>
          <a:xfrm>
            <a:off x="2468880" y="5637784"/>
            <a:ext cx="493776" cy="543560"/>
          </a:xfrm>
          <a:prstGeom prst="rect">
            <a:avLst/>
          </a:prstGeom>
          <a:noFill/>
          <a:ln/>
        </p:spPr>
        <p:txBody>
          <a:bodyPr wrap="square" lIns="0" tIns="0" rIns="0" bIns="0" rtlCol="0" anchor="ctr"/>
          <a:lstStyle/>
          <a:p>
            <a:pPr algn="ctr" indent="0" marL="0">
              <a:buNone/>
            </a:pPr>
            <a:r>
              <a:rPr lang="en-US" sz="1500" i="1" dirty="0">
                <a:solidFill>
                  <a:schemeClr val="tx1"/>
                </a:solidFill>
              </a:rPr>
              <a:t>ik</a:t>
            </a:r>
            <a:endParaRPr lang="en-US" sz="1500" dirty="0"/>
          </a:p>
        </p:txBody>
      </p:sp>
      <p:sp>
        <p:nvSpPr>
          <p:cNvPr id="79" name="Shape 75"/>
          <p:cNvSpPr/>
          <p:nvPr/>
        </p:nvSpPr>
        <p:spPr>
          <a:xfrm>
            <a:off x="3054096" y="5637784"/>
            <a:ext cx="1152144" cy="543560"/>
          </a:xfrm>
          <a:prstGeom prst="roundRect">
            <a:avLst>
              <a:gd name="adj" fmla="val 13458"/>
            </a:avLst>
          </a:prstGeom>
          <a:solidFill>
            <a:srgbClr val="FFFDF5"/>
          </a:solidFill>
          <a:ln w="12700">
            <a:solidFill>
              <a:srgbClr val="C9B98A"/>
            </a:solidFill>
            <a:prstDash val="solid"/>
          </a:ln>
        </p:spPr>
      </p:sp>
      <p:sp>
        <p:nvSpPr>
          <p:cNvPr id="80" name="Text 76"/>
          <p:cNvSpPr txBox="1"/>
          <p:nvPr/>
        </p:nvSpPr>
        <p:spPr>
          <a:xfrm>
            <a:off x="3054096" y="5637784"/>
            <a:ext cx="1152144" cy="543560"/>
          </a:xfrm>
          <a:prstGeom prst="rect">
            <a:avLst/>
          </a:prstGeom>
          <a:noFill/>
          <a:ln/>
        </p:spPr>
        <p:txBody>
          <a:bodyPr wrap="square" lIns="0" tIns="0" rIns="0" bIns="0" rtlCol="0" anchor="ctr"/>
          <a:lstStyle/>
          <a:p>
            <a:pPr algn="ctr" indent="0" marL="0">
              <a:buNone/>
            </a:pPr>
            <a:r>
              <a:rPr lang="en-US" sz="1500" i="1" dirty="0">
                <a:solidFill>
                  <a:schemeClr val="tx1"/>
                </a:solidFill>
              </a:rPr>
              <a:t>vergeten</a:t>
            </a:r>
            <a:endParaRPr lang="en-US" sz="1500" dirty="0"/>
          </a:p>
        </p:txBody>
      </p:sp>
      <p:sp>
        <p:nvSpPr>
          <p:cNvPr id="81" name="Shape 77"/>
          <p:cNvSpPr/>
          <p:nvPr/>
        </p:nvSpPr>
        <p:spPr>
          <a:xfrm>
            <a:off x="4297680" y="5637784"/>
            <a:ext cx="713232" cy="543560"/>
          </a:xfrm>
          <a:prstGeom prst="roundRect">
            <a:avLst>
              <a:gd name="adj" fmla="val 13458"/>
            </a:avLst>
          </a:prstGeom>
          <a:solidFill>
            <a:srgbClr val="FFFDF5"/>
          </a:solidFill>
          <a:ln w="12700">
            <a:solidFill>
              <a:srgbClr val="C9B98A"/>
            </a:solidFill>
            <a:prstDash val="solid"/>
          </a:ln>
        </p:spPr>
      </p:sp>
      <p:sp>
        <p:nvSpPr>
          <p:cNvPr id="82" name="Text 78"/>
          <p:cNvSpPr txBox="1"/>
          <p:nvPr/>
        </p:nvSpPr>
        <p:spPr>
          <a:xfrm>
            <a:off x="4297680" y="5637784"/>
            <a:ext cx="713232" cy="543560"/>
          </a:xfrm>
          <a:prstGeom prst="rect">
            <a:avLst/>
          </a:prstGeom>
          <a:noFill/>
          <a:ln/>
        </p:spPr>
        <p:txBody>
          <a:bodyPr wrap="square" lIns="0" tIns="0" rIns="0" bIns="0" rtlCol="0" anchor="ctr"/>
          <a:lstStyle/>
          <a:p>
            <a:pPr algn="ctr" indent="0" marL="0">
              <a:buNone/>
            </a:pPr>
            <a:r>
              <a:rPr lang="en-US" sz="1500" i="1" dirty="0">
                <a:solidFill>
                  <a:schemeClr val="tx1"/>
                </a:solidFill>
              </a:rPr>
              <a:t>niet</a:t>
            </a:r>
            <a:endParaRPr lang="en-US" sz="1500" dirty="0"/>
          </a:p>
        </p:txBody>
      </p:sp>
      <p:sp>
        <p:nvSpPr>
          <p:cNvPr id="83" name="Shape 79"/>
          <p:cNvSpPr/>
          <p:nvPr/>
        </p:nvSpPr>
        <p:spPr>
          <a:xfrm>
            <a:off x="5102352" y="5637784"/>
            <a:ext cx="603504" cy="543560"/>
          </a:xfrm>
          <a:prstGeom prst="roundRect">
            <a:avLst>
              <a:gd name="adj" fmla="val 13458"/>
            </a:avLst>
          </a:prstGeom>
          <a:solidFill>
            <a:srgbClr val="FFFDF5"/>
          </a:solidFill>
          <a:ln w="12700">
            <a:solidFill>
              <a:srgbClr val="C9B98A"/>
            </a:solidFill>
            <a:prstDash val="solid"/>
          </a:ln>
        </p:spPr>
      </p:sp>
      <p:sp>
        <p:nvSpPr>
          <p:cNvPr id="84" name="Text 80"/>
          <p:cNvSpPr txBox="1"/>
          <p:nvPr/>
        </p:nvSpPr>
        <p:spPr>
          <a:xfrm>
            <a:off x="5102352" y="5637784"/>
            <a:ext cx="603504" cy="543560"/>
          </a:xfrm>
          <a:prstGeom prst="rect">
            <a:avLst/>
          </a:prstGeom>
          <a:noFill/>
          <a:ln/>
        </p:spPr>
        <p:txBody>
          <a:bodyPr wrap="square" lIns="0" tIns="0" rIns="0" bIns="0" rtlCol="0" anchor="ctr"/>
          <a:lstStyle/>
          <a:p>
            <a:pPr algn="ctr" indent="0" marL="0">
              <a:buNone/>
            </a:pPr>
            <a:r>
              <a:rPr lang="en-US" sz="1500" i="1" dirty="0">
                <a:solidFill>
                  <a:schemeClr val="tx1"/>
                </a:solidFill>
              </a:rPr>
              <a:t>mag</a:t>
            </a:r>
            <a:endParaRPr lang="en-US" sz="1500" dirty="0"/>
          </a:p>
        </p:txBody>
      </p:sp>
      <p:sp>
        <p:nvSpPr>
          <p:cNvPr id="85" name="Shape 81"/>
          <p:cNvSpPr/>
          <p:nvPr/>
        </p:nvSpPr>
        <p:spPr>
          <a:xfrm>
            <a:off x="6309360" y="5619496"/>
            <a:ext cx="5330952" cy="598424"/>
          </a:xfrm>
          <a:prstGeom prst="roundRect">
            <a:avLst>
              <a:gd name="adj" fmla="val 12224"/>
            </a:avLst>
          </a:prstGeom>
          <a:solidFill>
            <a:srgbClr val="EDF6F0"/>
          </a:solidFill>
          <a:ln w="15875">
            <a:solidFill>
              <a:srgbClr val="2E7D4F"/>
            </a:solidFill>
            <a:prstDash val="solid"/>
          </a:ln>
        </p:spPr>
      </p:sp>
      <p:sp>
        <p:nvSpPr>
          <p:cNvPr id="86" name="Text 82"/>
          <p:cNvSpPr txBox="1"/>
          <p:nvPr/>
        </p:nvSpPr>
        <p:spPr>
          <a:xfrm>
            <a:off x="6446520" y="5619496"/>
            <a:ext cx="5120640" cy="598424"/>
          </a:xfrm>
          <a:prstGeom prst="rect">
            <a:avLst/>
          </a:prstGeom>
          <a:noFill/>
          <a:ln/>
        </p:spPr>
        <p:txBody>
          <a:bodyPr wrap="square" lIns="0" tIns="0" rIns="0" bIns="0" rtlCol="0" anchor="ctr"/>
          <a:lstStyle/>
          <a:p>
            <a:pPr algn="l" indent="0" marL="0">
              <a:buNone/>
            </a:pPr>
            <a:r>
              <a:rPr lang="en-US" sz="1800" b="1" i="1" dirty="0">
                <a:solidFill>
                  <a:schemeClr val="accent3"/>
                </a:solidFill>
              </a:rPr>
              <a:t>Ik mag mijn badge niet vergeten.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Traduction piège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Attention aux phrases marquées ⚠ !</a:t>
            </a:r>
            <a:endParaRPr lang="en-US" sz="1700" dirty="0"/>
          </a:p>
        </p:txBody>
      </p:sp>
      <p:sp>
        <p:nvSpPr>
          <p:cNvPr id="8" name="Shape 4"/>
          <p:cNvSpPr/>
          <p:nvPr/>
        </p:nvSpPr>
        <p:spPr>
          <a:xfrm>
            <a:off x="548640" y="2040255"/>
            <a:ext cx="329184" cy="329184"/>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04025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Shape 6"/>
          <p:cNvSpPr/>
          <p:nvPr/>
        </p:nvSpPr>
        <p:spPr>
          <a:xfrm>
            <a:off x="960120" y="1969008"/>
            <a:ext cx="4206240" cy="453390"/>
          </a:xfrm>
          <a:prstGeom prst="roundRect">
            <a:avLst>
              <a:gd name="adj" fmla="val 16134"/>
            </a:avLst>
          </a:prstGeom>
          <a:solidFill>
            <a:schemeClr val="bg2"/>
          </a:solidFill>
          <a:ln w="12700">
            <a:solidFill>
              <a:srgbClr val="D5DCE6"/>
            </a:solidFill>
            <a:prstDash val="solid"/>
          </a:ln>
        </p:spPr>
      </p:sp>
      <p:sp>
        <p:nvSpPr>
          <p:cNvPr id="11" name="Text 7"/>
          <p:cNvSpPr txBox="1"/>
          <p:nvPr/>
        </p:nvSpPr>
        <p:spPr>
          <a:xfrm>
            <a:off x="1097280" y="196900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sais nager.</a:t>
            </a:r>
            <a:endParaRPr lang="en-US" sz="1700" dirty="0"/>
          </a:p>
        </p:txBody>
      </p:sp>
      <p:sp>
        <p:nvSpPr>
          <p:cNvPr id="12" name="Text 8"/>
          <p:cNvSpPr txBox="1"/>
          <p:nvPr/>
        </p:nvSpPr>
        <p:spPr>
          <a:xfrm>
            <a:off x="4754880" y="196900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13" name="Shape 9"/>
          <p:cNvSpPr/>
          <p:nvPr/>
        </p:nvSpPr>
        <p:spPr>
          <a:xfrm>
            <a:off x="5212080" y="2186559"/>
            <a:ext cx="594360" cy="914"/>
          </a:xfrm>
          <a:prstGeom prst="line">
            <a:avLst/>
          </a:prstGeom>
          <a:noFill/>
          <a:ln w="31750">
            <a:solidFill>
              <a:srgbClr val="D9700F"/>
            </a:solidFill>
            <a:prstDash val="solid"/>
            <a:tailEnd type="triangle"/>
          </a:ln>
        </p:spPr>
      </p:sp>
      <p:sp>
        <p:nvSpPr>
          <p:cNvPr id="14" name="Shape 10"/>
          <p:cNvSpPr/>
          <p:nvPr/>
        </p:nvSpPr>
        <p:spPr>
          <a:xfrm>
            <a:off x="5852160" y="1969008"/>
            <a:ext cx="5788152" cy="453390"/>
          </a:xfrm>
          <a:prstGeom prst="roundRect">
            <a:avLst>
              <a:gd name="adj" fmla="val 16134"/>
            </a:avLst>
          </a:prstGeom>
          <a:solidFill>
            <a:schemeClr val="bg1"/>
          </a:solidFill>
          <a:ln w="15875">
            <a:solidFill>
              <a:srgbClr val="D5DCE6"/>
            </a:solidFill>
            <a:prstDash val="solid"/>
          </a:ln>
        </p:spPr>
      </p:sp>
      <p:sp>
        <p:nvSpPr>
          <p:cNvPr id="15" name="Shape 11"/>
          <p:cNvSpPr/>
          <p:nvPr/>
        </p:nvSpPr>
        <p:spPr>
          <a:xfrm>
            <a:off x="548640" y="2585085"/>
            <a:ext cx="329184" cy="329184"/>
          </a:xfrm>
          <a:prstGeom prst="ellipse">
            <a:avLst/>
          </a:prstGeom>
          <a:solidFill>
            <a:schemeClr val="accent5"/>
          </a:solidFill>
          <a:ln w="12700">
            <a:solidFill>
              <a:srgbClr val="FFFFFF">
                <a:alpha val="0"/>
              </a:srgbClr>
            </a:solidFill>
            <a:prstDash val="solid"/>
          </a:ln>
        </p:spPr>
      </p:sp>
      <p:sp>
        <p:nvSpPr>
          <p:cNvPr id="16" name="Text 12"/>
          <p:cNvSpPr txBox="1"/>
          <p:nvPr/>
        </p:nvSpPr>
        <p:spPr>
          <a:xfrm>
            <a:off x="548640" y="258508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7" name="Shape 13"/>
          <p:cNvSpPr/>
          <p:nvPr/>
        </p:nvSpPr>
        <p:spPr>
          <a:xfrm>
            <a:off x="960120" y="2513838"/>
            <a:ext cx="4206240" cy="453390"/>
          </a:xfrm>
          <a:prstGeom prst="roundRect">
            <a:avLst>
              <a:gd name="adj" fmla="val 16134"/>
            </a:avLst>
          </a:prstGeom>
          <a:solidFill>
            <a:schemeClr val="bg2"/>
          </a:solidFill>
          <a:ln w="12700">
            <a:solidFill>
              <a:srgbClr val="D5DCE6"/>
            </a:solidFill>
            <a:prstDash val="solid"/>
          </a:ln>
        </p:spPr>
      </p:sp>
      <p:sp>
        <p:nvSpPr>
          <p:cNvPr id="18" name="Text 14"/>
          <p:cNvSpPr txBox="1"/>
          <p:nvPr/>
        </p:nvSpPr>
        <p:spPr>
          <a:xfrm>
            <a:off x="1097280" y="251383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Puis-je ouvrir la fenêtre ?</a:t>
            </a:r>
            <a:endParaRPr lang="en-US" sz="1700" dirty="0"/>
          </a:p>
        </p:txBody>
      </p:sp>
      <p:sp>
        <p:nvSpPr>
          <p:cNvPr id="19" name="Text 15"/>
          <p:cNvSpPr txBox="1"/>
          <p:nvPr/>
        </p:nvSpPr>
        <p:spPr>
          <a:xfrm>
            <a:off x="4754880" y="251383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20" name="Shape 16"/>
          <p:cNvSpPr/>
          <p:nvPr/>
        </p:nvSpPr>
        <p:spPr>
          <a:xfrm>
            <a:off x="5212080" y="2731389"/>
            <a:ext cx="594360" cy="914"/>
          </a:xfrm>
          <a:prstGeom prst="line">
            <a:avLst/>
          </a:prstGeom>
          <a:noFill/>
          <a:ln w="31750">
            <a:solidFill>
              <a:srgbClr val="D9700F"/>
            </a:solidFill>
            <a:prstDash val="solid"/>
            <a:tailEnd type="triangle"/>
          </a:ln>
        </p:spPr>
      </p:sp>
      <p:sp>
        <p:nvSpPr>
          <p:cNvPr id="21" name="Shape 17"/>
          <p:cNvSpPr/>
          <p:nvPr/>
        </p:nvSpPr>
        <p:spPr>
          <a:xfrm>
            <a:off x="5852160" y="2513838"/>
            <a:ext cx="5788152" cy="453390"/>
          </a:xfrm>
          <a:prstGeom prst="roundRect">
            <a:avLst>
              <a:gd name="adj" fmla="val 16134"/>
            </a:avLst>
          </a:prstGeom>
          <a:solidFill>
            <a:schemeClr val="bg1"/>
          </a:solidFill>
          <a:ln w="15875">
            <a:solidFill>
              <a:srgbClr val="D5DCE6"/>
            </a:solidFill>
            <a:prstDash val="solid"/>
          </a:ln>
        </p:spPr>
      </p:sp>
      <p:sp>
        <p:nvSpPr>
          <p:cNvPr id="22" name="Shape 18"/>
          <p:cNvSpPr/>
          <p:nvPr/>
        </p:nvSpPr>
        <p:spPr>
          <a:xfrm>
            <a:off x="548640" y="3129915"/>
            <a:ext cx="329184" cy="329184"/>
          </a:xfrm>
          <a:prstGeom prst="ellipse">
            <a:avLst/>
          </a:prstGeom>
          <a:solidFill>
            <a:schemeClr val="accent5"/>
          </a:solidFill>
          <a:ln w="12700">
            <a:solidFill>
              <a:srgbClr val="FFFFFF">
                <a:alpha val="0"/>
              </a:srgbClr>
            </a:solidFill>
            <a:prstDash val="solid"/>
          </a:ln>
        </p:spPr>
      </p:sp>
      <p:sp>
        <p:nvSpPr>
          <p:cNvPr id="23" name="Text 19"/>
          <p:cNvSpPr txBox="1"/>
          <p:nvPr/>
        </p:nvSpPr>
        <p:spPr>
          <a:xfrm>
            <a:off x="548640" y="312991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4" name="Shape 20"/>
          <p:cNvSpPr/>
          <p:nvPr/>
        </p:nvSpPr>
        <p:spPr>
          <a:xfrm>
            <a:off x="960120" y="3058668"/>
            <a:ext cx="4206240" cy="453390"/>
          </a:xfrm>
          <a:prstGeom prst="roundRect">
            <a:avLst>
              <a:gd name="adj" fmla="val 16134"/>
            </a:avLst>
          </a:prstGeom>
          <a:solidFill>
            <a:schemeClr val="bg2"/>
          </a:solidFill>
          <a:ln w="12700">
            <a:solidFill>
              <a:srgbClr val="D5DCE6"/>
            </a:solidFill>
            <a:prstDash val="solid"/>
          </a:ln>
        </p:spPr>
      </p:sp>
      <p:sp>
        <p:nvSpPr>
          <p:cNvPr id="25" name="Text 21"/>
          <p:cNvSpPr txBox="1"/>
          <p:nvPr/>
        </p:nvSpPr>
        <p:spPr>
          <a:xfrm>
            <a:off x="1097280" y="305866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Il ne faut pas fumer ici.</a:t>
            </a:r>
            <a:endParaRPr lang="en-US" sz="1700" dirty="0"/>
          </a:p>
        </p:txBody>
      </p:sp>
      <p:sp>
        <p:nvSpPr>
          <p:cNvPr id="26" name="Text 22"/>
          <p:cNvSpPr txBox="1"/>
          <p:nvPr/>
        </p:nvSpPr>
        <p:spPr>
          <a:xfrm>
            <a:off x="4754880" y="305866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27" name="Shape 23"/>
          <p:cNvSpPr/>
          <p:nvPr/>
        </p:nvSpPr>
        <p:spPr>
          <a:xfrm>
            <a:off x="5212080" y="3276219"/>
            <a:ext cx="594360" cy="914"/>
          </a:xfrm>
          <a:prstGeom prst="line">
            <a:avLst/>
          </a:prstGeom>
          <a:noFill/>
          <a:ln w="31750">
            <a:solidFill>
              <a:srgbClr val="D9700F"/>
            </a:solidFill>
            <a:prstDash val="solid"/>
            <a:tailEnd type="triangle"/>
          </a:ln>
        </p:spPr>
      </p:sp>
      <p:sp>
        <p:nvSpPr>
          <p:cNvPr id="28" name="Shape 24"/>
          <p:cNvSpPr/>
          <p:nvPr/>
        </p:nvSpPr>
        <p:spPr>
          <a:xfrm>
            <a:off x="5852160" y="3058668"/>
            <a:ext cx="5788152" cy="453390"/>
          </a:xfrm>
          <a:prstGeom prst="roundRect">
            <a:avLst>
              <a:gd name="adj" fmla="val 16134"/>
            </a:avLst>
          </a:prstGeom>
          <a:solidFill>
            <a:schemeClr val="bg1"/>
          </a:solidFill>
          <a:ln w="15875">
            <a:solidFill>
              <a:srgbClr val="D5DCE6"/>
            </a:solidFill>
            <a:prstDash val="solid"/>
          </a:ln>
        </p:spPr>
      </p:sp>
      <p:sp>
        <p:nvSpPr>
          <p:cNvPr id="29" name="Shape 25"/>
          <p:cNvSpPr/>
          <p:nvPr/>
        </p:nvSpPr>
        <p:spPr>
          <a:xfrm>
            <a:off x="548640" y="3674745"/>
            <a:ext cx="329184" cy="329184"/>
          </a:xfrm>
          <a:prstGeom prst="ellipse">
            <a:avLst/>
          </a:prstGeom>
          <a:solidFill>
            <a:schemeClr val="accent5"/>
          </a:solidFill>
          <a:ln w="12700">
            <a:solidFill>
              <a:srgbClr val="FFFFFF">
                <a:alpha val="0"/>
              </a:srgbClr>
            </a:solidFill>
            <a:prstDash val="solid"/>
          </a:ln>
        </p:spPr>
      </p:sp>
      <p:sp>
        <p:nvSpPr>
          <p:cNvPr id="30" name="Text 26"/>
          <p:cNvSpPr txBox="1"/>
          <p:nvPr/>
        </p:nvSpPr>
        <p:spPr>
          <a:xfrm>
            <a:off x="548640" y="367474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1" name="Shape 27"/>
          <p:cNvSpPr/>
          <p:nvPr/>
        </p:nvSpPr>
        <p:spPr>
          <a:xfrm>
            <a:off x="960120" y="3603498"/>
            <a:ext cx="4206240" cy="453390"/>
          </a:xfrm>
          <a:prstGeom prst="roundRect">
            <a:avLst>
              <a:gd name="adj" fmla="val 16134"/>
            </a:avLst>
          </a:prstGeom>
          <a:solidFill>
            <a:schemeClr val="bg2"/>
          </a:solidFill>
          <a:ln w="12700">
            <a:solidFill>
              <a:srgbClr val="D5DCE6"/>
            </a:solidFill>
            <a:prstDash val="solid"/>
          </a:ln>
        </p:spPr>
      </p:sp>
      <p:sp>
        <p:nvSpPr>
          <p:cNvPr id="32" name="Text 28"/>
          <p:cNvSpPr txBox="1"/>
          <p:nvPr/>
        </p:nvSpPr>
        <p:spPr>
          <a:xfrm>
            <a:off x="1097280" y="360349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dois partir.</a:t>
            </a:r>
            <a:endParaRPr lang="en-US" sz="1700" dirty="0"/>
          </a:p>
        </p:txBody>
      </p:sp>
      <p:sp>
        <p:nvSpPr>
          <p:cNvPr id="33" name="Shape 29"/>
          <p:cNvSpPr/>
          <p:nvPr/>
        </p:nvSpPr>
        <p:spPr>
          <a:xfrm>
            <a:off x="5212080" y="3821049"/>
            <a:ext cx="594360" cy="914"/>
          </a:xfrm>
          <a:prstGeom prst="line">
            <a:avLst/>
          </a:prstGeom>
          <a:noFill/>
          <a:ln w="31750">
            <a:solidFill>
              <a:srgbClr val="D9700F"/>
            </a:solidFill>
            <a:prstDash val="solid"/>
            <a:tailEnd type="triangle"/>
          </a:ln>
        </p:spPr>
      </p:sp>
      <p:sp>
        <p:nvSpPr>
          <p:cNvPr id="34" name="Shape 30"/>
          <p:cNvSpPr/>
          <p:nvPr/>
        </p:nvSpPr>
        <p:spPr>
          <a:xfrm>
            <a:off x="5852160" y="3603498"/>
            <a:ext cx="5788152" cy="453390"/>
          </a:xfrm>
          <a:prstGeom prst="roundRect">
            <a:avLst>
              <a:gd name="adj" fmla="val 16134"/>
            </a:avLst>
          </a:prstGeom>
          <a:solidFill>
            <a:schemeClr val="bg1"/>
          </a:solidFill>
          <a:ln w="15875">
            <a:solidFill>
              <a:srgbClr val="D5DCE6"/>
            </a:solidFill>
            <a:prstDash val="solid"/>
          </a:ln>
        </p:spPr>
      </p:sp>
      <p:sp>
        <p:nvSpPr>
          <p:cNvPr id="35" name="Shape 31"/>
          <p:cNvSpPr/>
          <p:nvPr/>
        </p:nvSpPr>
        <p:spPr>
          <a:xfrm>
            <a:off x="548640" y="4219575"/>
            <a:ext cx="329184" cy="329184"/>
          </a:xfrm>
          <a:prstGeom prst="ellipse">
            <a:avLst/>
          </a:prstGeom>
          <a:solidFill>
            <a:schemeClr val="accent5"/>
          </a:solidFill>
          <a:ln w="12700">
            <a:solidFill>
              <a:srgbClr val="FFFFFF">
                <a:alpha val="0"/>
              </a:srgbClr>
            </a:solidFill>
            <a:prstDash val="solid"/>
          </a:ln>
        </p:spPr>
      </p:sp>
      <p:sp>
        <p:nvSpPr>
          <p:cNvPr id="36" name="Text 32"/>
          <p:cNvSpPr txBox="1"/>
          <p:nvPr/>
        </p:nvSpPr>
        <p:spPr>
          <a:xfrm>
            <a:off x="548640" y="421957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7" name="Shape 33"/>
          <p:cNvSpPr/>
          <p:nvPr/>
        </p:nvSpPr>
        <p:spPr>
          <a:xfrm>
            <a:off x="960120" y="4148328"/>
            <a:ext cx="4206240" cy="453390"/>
          </a:xfrm>
          <a:prstGeom prst="roundRect">
            <a:avLst>
              <a:gd name="adj" fmla="val 16134"/>
            </a:avLst>
          </a:prstGeom>
          <a:solidFill>
            <a:schemeClr val="bg2"/>
          </a:solidFill>
          <a:ln w="12700">
            <a:solidFill>
              <a:srgbClr val="D5DCE6"/>
            </a:solidFill>
            <a:prstDash val="solid"/>
          </a:ln>
        </p:spPr>
      </p:sp>
      <p:sp>
        <p:nvSpPr>
          <p:cNvPr id="38" name="Text 34"/>
          <p:cNvSpPr txBox="1"/>
          <p:nvPr/>
        </p:nvSpPr>
        <p:spPr>
          <a:xfrm>
            <a:off x="1097280" y="414832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Tu veux un café ?</a:t>
            </a:r>
            <a:endParaRPr lang="en-US" sz="1700" dirty="0"/>
          </a:p>
        </p:txBody>
      </p:sp>
      <p:sp>
        <p:nvSpPr>
          <p:cNvPr id="39" name="Shape 35"/>
          <p:cNvSpPr/>
          <p:nvPr/>
        </p:nvSpPr>
        <p:spPr>
          <a:xfrm>
            <a:off x="5212080" y="4365879"/>
            <a:ext cx="594360" cy="914"/>
          </a:xfrm>
          <a:prstGeom prst="line">
            <a:avLst/>
          </a:prstGeom>
          <a:noFill/>
          <a:ln w="31750">
            <a:solidFill>
              <a:srgbClr val="D9700F"/>
            </a:solidFill>
            <a:prstDash val="solid"/>
            <a:tailEnd type="triangle"/>
          </a:ln>
        </p:spPr>
      </p:sp>
      <p:sp>
        <p:nvSpPr>
          <p:cNvPr id="40" name="Shape 36"/>
          <p:cNvSpPr/>
          <p:nvPr/>
        </p:nvSpPr>
        <p:spPr>
          <a:xfrm>
            <a:off x="5852160" y="4148328"/>
            <a:ext cx="5788152" cy="453390"/>
          </a:xfrm>
          <a:prstGeom prst="roundRect">
            <a:avLst>
              <a:gd name="adj" fmla="val 16134"/>
            </a:avLst>
          </a:prstGeom>
          <a:solidFill>
            <a:schemeClr val="bg1"/>
          </a:solidFill>
          <a:ln w="15875">
            <a:solidFill>
              <a:srgbClr val="D5DCE6"/>
            </a:solidFill>
            <a:prstDash val="solid"/>
          </a:ln>
        </p:spPr>
      </p:sp>
      <p:sp>
        <p:nvSpPr>
          <p:cNvPr id="41" name="Shape 37"/>
          <p:cNvSpPr/>
          <p:nvPr/>
        </p:nvSpPr>
        <p:spPr>
          <a:xfrm>
            <a:off x="548640" y="4764405"/>
            <a:ext cx="329184" cy="329184"/>
          </a:xfrm>
          <a:prstGeom prst="ellipse">
            <a:avLst/>
          </a:prstGeom>
          <a:solidFill>
            <a:schemeClr val="accent5"/>
          </a:solidFill>
          <a:ln w="12700">
            <a:solidFill>
              <a:srgbClr val="FFFFFF">
                <a:alpha val="0"/>
              </a:srgbClr>
            </a:solidFill>
            <a:prstDash val="solid"/>
          </a:ln>
        </p:spPr>
      </p:sp>
      <p:sp>
        <p:nvSpPr>
          <p:cNvPr id="42" name="Text 38"/>
          <p:cNvSpPr txBox="1"/>
          <p:nvPr/>
        </p:nvSpPr>
        <p:spPr>
          <a:xfrm>
            <a:off x="548640" y="476440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3" name="Shape 39"/>
          <p:cNvSpPr/>
          <p:nvPr/>
        </p:nvSpPr>
        <p:spPr>
          <a:xfrm>
            <a:off x="960120" y="4693158"/>
            <a:ext cx="4206240" cy="453390"/>
          </a:xfrm>
          <a:prstGeom prst="roundRect">
            <a:avLst>
              <a:gd name="adj" fmla="val 16134"/>
            </a:avLst>
          </a:prstGeom>
          <a:solidFill>
            <a:schemeClr val="bg2"/>
          </a:solidFill>
          <a:ln w="12700">
            <a:solidFill>
              <a:srgbClr val="D5DCE6"/>
            </a:solidFill>
            <a:prstDash val="solid"/>
          </a:ln>
        </p:spPr>
      </p:sp>
      <p:sp>
        <p:nvSpPr>
          <p:cNvPr id="44" name="Text 40"/>
          <p:cNvSpPr txBox="1"/>
          <p:nvPr/>
        </p:nvSpPr>
        <p:spPr>
          <a:xfrm>
            <a:off x="1097280" y="469315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peux venir demain.</a:t>
            </a:r>
            <a:endParaRPr lang="en-US" sz="1700" dirty="0"/>
          </a:p>
        </p:txBody>
      </p:sp>
      <p:sp>
        <p:nvSpPr>
          <p:cNvPr id="45" name="Shape 41"/>
          <p:cNvSpPr/>
          <p:nvPr/>
        </p:nvSpPr>
        <p:spPr>
          <a:xfrm>
            <a:off x="5212080" y="4910709"/>
            <a:ext cx="594360" cy="914"/>
          </a:xfrm>
          <a:prstGeom prst="line">
            <a:avLst/>
          </a:prstGeom>
          <a:noFill/>
          <a:ln w="31750">
            <a:solidFill>
              <a:srgbClr val="D9700F"/>
            </a:solidFill>
            <a:prstDash val="solid"/>
            <a:tailEnd type="triangle"/>
          </a:ln>
        </p:spPr>
      </p:sp>
      <p:sp>
        <p:nvSpPr>
          <p:cNvPr id="46" name="Shape 42"/>
          <p:cNvSpPr/>
          <p:nvPr/>
        </p:nvSpPr>
        <p:spPr>
          <a:xfrm>
            <a:off x="5852160" y="4693158"/>
            <a:ext cx="5788152" cy="453390"/>
          </a:xfrm>
          <a:prstGeom prst="roundRect">
            <a:avLst>
              <a:gd name="adj" fmla="val 16134"/>
            </a:avLst>
          </a:prstGeom>
          <a:solidFill>
            <a:schemeClr val="bg1"/>
          </a:solidFill>
          <a:ln w="15875">
            <a:solidFill>
              <a:srgbClr val="D5DCE6"/>
            </a:solidFill>
            <a:prstDash val="solid"/>
          </a:ln>
        </p:spPr>
      </p:sp>
      <p:sp>
        <p:nvSpPr>
          <p:cNvPr id="47" name="Shape 43"/>
          <p:cNvSpPr/>
          <p:nvPr/>
        </p:nvSpPr>
        <p:spPr>
          <a:xfrm>
            <a:off x="548640" y="5309235"/>
            <a:ext cx="329184" cy="329184"/>
          </a:xfrm>
          <a:prstGeom prst="ellipse">
            <a:avLst/>
          </a:prstGeom>
          <a:solidFill>
            <a:schemeClr val="accent5"/>
          </a:solidFill>
          <a:ln w="12700">
            <a:solidFill>
              <a:srgbClr val="FFFFFF">
                <a:alpha val="0"/>
              </a:srgbClr>
            </a:solidFill>
            <a:prstDash val="solid"/>
          </a:ln>
        </p:spPr>
      </p:sp>
      <p:sp>
        <p:nvSpPr>
          <p:cNvPr id="48" name="Text 44"/>
          <p:cNvSpPr txBox="1"/>
          <p:nvPr/>
        </p:nvSpPr>
        <p:spPr>
          <a:xfrm>
            <a:off x="548640" y="53092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9" name="Shape 45"/>
          <p:cNvSpPr/>
          <p:nvPr/>
        </p:nvSpPr>
        <p:spPr>
          <a:xfrm>
            <a:off x="960120" y="5237988"/>
            <a:ext cx="4206240" cy="453390"/>
          </a:xfrm>
          <a:prstGeom prst="roundRect">
            <a:avLst>
              <a:gd name="adj" fmla="val 16134"/>
            </a:avLst>
          </a:prstGeom>
          <a:solidFill>
            <a:schemeClr val="bg2"/>
          </a:solidFill>
          <a:ln w="12700">
            <a:solidFill>
              <a:srgbClr val="D5DCE6"/>
            </a:solidFill>
            <a:prstDash val="solid"/>
          </a:ln>
        </p:spPr>
      </p:sp>
      <p:sp>
        <p:nvSpPr>
          <p:cNvPr id="50" name="Text 46"/>
          <p:cNvSpPr txBox="1"/>
          <p:nvPr/>
        </p:nvSpPr>
        <p:spPr>
          <a:xfrm>
            <a:off x="1097280" y="523798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On peut payer par carte ?</a:t>
            </a:r>
            <a:endParaRPr lang="en-US" sz="1700" dirty="0"/>
          </a:p>
        </p:txBody>
      </p:sp>
      <p:sp>
        <p:nvSpPr>
          <p:cNvPr id="51" name="Shape 47"/>
          <p:cNvSpPr/>
          <p:nvPr/>
        </p:nvSpPr>
        <p:spPr>
          <a:xfrm>
            <a:off x="5212080" y="5455539"/>
            <a:ext cx="594360" cy="914"/>
          </a:xfrm>
          <a:prstGeom prst="line">
            <a:avLst/>
          </a:prstGeom>
          <a:noFill/>
          <a:ln w="31750">
            <a:solidFill>
              <a:srgbClr val="D9700F"/>
            </a:solidFill>
            <a:prstDash val="solid"/>
            <a:tailEnd type="triangle"/>
          </a:ln>
        </p:spPr>
      </p:sp>
      <p:sp>
        <p:nvSpPr>
          <p:cNvPr id="52" name="Shape 48"/>
          <p:cNvSpPr/>
          <p:nvPr/>
        </p:nvSpPr>
        <p:spPr>
          <a:xfrm>
            <a:off x="5852160" y="5237988"/>
            <a:ext cx="5788152" cy="453390"/>
          </a:xfrm>
          <a:prstGeom prst="roundRect">
            <a:avLst>
              <a:gd name="adj" fmla="val 16134"/>
            </a:avLst>
          </a:prstGeom>
          <a:solidFill>
            <a:schemeClr val="bg1"/>
          </a:solidFill>
          <a:ln w="15875">
            <a:solidFill>
              <a:srgbClr val="D5DCE6"/>
            </a:solidFill>
            <a:prstDash val="solid"/>
          </a:ln>
        </p:spPr>
      </p:sp>
      <p:sp>
        <p:nvSpPr>
          <p:cNvPr id="53" name="Shape 49"/>
          <p:cNvSpPr/>
          <p:nvPr/>
        </p:nvSpPr>
        <p:spPr>
          <a:xfrm>
            <a:off x="548640" y="5854065"/>
            <a:ext cx="329184" cy="329184"/>
          </a:xfrm>
          <a:prstGeom prst="ellipse">
            <a:avLst/>
          </a:prstGeom>
          <a:solidFill>
            <a:schemeClr val="accent5"/>
          </a:solidFill>
          <a:ln w="12700">
            <a:solidFill>
              <a:srgbClr val="FFFFFF">
                <a:alpha val="0"/>
              </a:srgbClr>
            </a:solidFill>
            <a:prstDash val="solid"/>
          </a:ln>
        </p:spPr>
      </p:sp>
      <p:sp>
        <p:nvSpPr>
          <p:cNvPr id="54" name="Text 50"/>
          <p:cNvSpPr txBox="1"/>
          <p:nvPr/>
        </p:nvSpPr>
        <p:spPr>
          <a:xfrm>
            <a:off x="548640" y="585406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5" name="Shape 51"/>
          <p:cNvSpPr/>
          <p:nvPr/>
        </p:nvSpPr>
        <p:spPr>
          <a:xfrm>
            <a:off x="960120" y="5782818"/>
            <a:ext cx="4206240" cy="453390"/>
          </a:xfrm>
          <a:prstGeom prst="roundRect">
            <a:avLst>
              <a:gd name="adj" fmla="val 16134"/>
            </a:avLst>
          </a:prstGeom>
          <a:solidFill>
            <a:schemeClr val="bg2"/>
          </a:solidFill>
          <a:ln w="12700">
            <a:solidFill>
              <a:srgbClr val="D5DCE6"/>
            </a:solidFill>
            <a:prstDash val="solid"/>
          </a:ln>
        </p:spPr>
      </p:sp>
      <p:sp>
        <p:nvSpPr>
          <p:cNvPr id="56" name="Text 52"/>
          <p:cNvSpPr txBox="1"/>
          <p:nvPr/>
        </p:nvSpPr>
        <p:spPr>
          <a:xfrm>
            <a:off x="1097280" y="578281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ne sais pas.</a:t>
            </a:r>
            <a:endParaRPr lang="en-US" sz="1700" dirty="0"/>
          </a:p>
        </p:txBody>
      </p:sp>
      <p:sp>
        <p:nvSpPr>
          <p:cNvPr id="57" name="Shape 53"/>
          <p:cNvSpPr/>
          <p:nvPr/>
        </p:nvSpPr>
        <p:spPr>
          <a:xfrm>
            <a:off x="5212080" y="6000369"/>
            <a:ext cx="594360" cy="914"/>
          </a:xfrm>
          <a:prstGeom prst="line">
            <a:avLst/>
          </a:prstGeom>
          <a:noFill/>
          <a:ln w="31750">
            <a:solidFill>
              <a:srgbClr val="D9700F"/>
            </a:solidFill>
            <a:prstDash val="solid"/>
            <a:tailEnd type="triangle"/>
          </a:ln>
        </p:spPr>
      </p:sp>
      <p:sp>
        <p:nvSpPr>
          <p:cNvPr id="58" name="Shape 54"/>
          <p:cNvSpPr/>
          <p:nvPr/>
        </p:nvSpPr>
        <p:spPr>
          <a:xfrm>
            <a:off x="5852160" y="5782818"/>
            <a:ext cx="5788152" cy="453390"/>
          </a:xfrm>
          <a:prstGeom prst="roundRect">
            <a:avLst>
              <a:gd name="adj" fmla="val 16134"/>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Traduction piège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Attention aux phrases marquées ⚠ !</a:t>
            </a:r>
            <a:endParaRPr lang="en-US" sz="1700" dirty="0"/>
          </a:p>
        </p:txBody>
      </p:sp>
      <p:sp>
        <p:nvSpPr>
          <p:cNvPr id="9" name="Shape 5"/>
          <p:cNvSpPr/>
          <p:nvPr/>
        </p:nvSpPr>
        <p:spPr>
          <a:xfrm>
            <a:off x="548640" y="2040255"/>
            <a:ext cx="329184" cy="329184"/>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04025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Shape 7"/>
          <p:cNvSpPr/>
          <p:nvPr/>
        </p:nvSpPr>
        <p:spPr>
          <a:xfrm>
            <a:off x="960120" y="1969008"/>
            <a:ext cx="4206240" cy="453390"/>
          </a:xfrm>
          <a:prstGeom prst="roundRect">
            <a:avLst>
              <a:gd name="adj" fmla="val 16134"/>
            </a:avLst>
          </a:prstGeom>
          <a:solidFill>
            <a:schemeClr val="bg2"/>
          </a:solidFill>
          <a:ln w="12700">
            <a:solidFill>
              <a:srgbClr val="D5DCE6"/>
            </a:solidFill>
            <a:prstDash val="solid"/>
          </a:ln>
        </p:spPr>
      </p:sp>
      <p:sp>
        <p:nvSpPr>
          <p:cNvPr id="12" name="Text 8"/>
          <p:cNvSpPr txBox="1"/>
          <p:nvPr/>
        </p:nvSpPr>
        <p:spPr>
          <a:xfrm>
            <a:off x="1097280" y="196900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sais nager.</a:t>
            </a:r>
            <a:endParaRPr lang="en-US" sz="1700" dirty="0"/>
          </a:p>
        </p:txBody>
      </p:sp>
      <p:sp>
        <p:nvSpPr>
          <p:cNvPr id="13" name="Text 9"/>
          <p:cNvSpPr txBox="1"/>
          <p:nvPr/>
        </p:nvSpPr>
        <p:spPr>
          <a:xfrm>
            <a:off x="4754880" y="196900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14" name="Shape 10"/>
          <p:cNvSpPr/>
          <p:nvPr/>
        </p:nvSpPr>
        <p:spPr>
          <a:xfrm>
            <a:off x="5212080" y="2186559"/>
            <a:ext cx="594360" cy="914"/>
          </a:xfrm>
          <a:prstGeom prst="line">
            <a:avLst/>
          </a:prstGeom>
          <a:noFill/>
          <a:ln w="31750">
            <a:solidFill>
              <a:srgbClr val="D9700F"/>
            </a:solidFill>
            <a:prstDash val="solid"/>
            <a:tailEnd type="triangle"/>
          </a:ln>
        </p:spPr>
      </p:sp>
      <p:sp>
        <p:nvSpPr>
          <p:cNvPr id="15" name="Shape 11"/>
          <p:cNvSpPr/>
          <p:nvPr/>
        </p:nvSpPr>
        <p:spPr>
          <a:xfrm>
            <a:off x="5852160" y="1969008"/>
            <a:ext cx="5788152" cy="453390"/>
          </a:xfrm>
          <a:prstGeom prst="roundRect">
            <a:avLst>
              <a:gd name="adj" fmla="val 16134"/>
            </a:avLst>
          </a:prstGeom>
          <a:solidFill>
            <a:srgbClr val="EDF6F0"/>
          </a:solidFill>
          <a:ln w="15875">
            <a:solidFill>
              <a:srgbClr val="2E7D4F"/>
            </a:solidFill>
            <a:prstDash val="solid"/>
          </a:ln>
        </p:spPr>
      </p:sp>
      <p:sp>
        <p:nvSpPr>
          <p:cNvPr id="16" name="Text 12"/>
          <p:cNvSpPr txBox="1"/>
          <p:nvPr/>
        </p:nvSpPr>
        <p:spPr>
          <a:xfrm>
            <a:off x="5989320" y="196900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Ik kan zwemmen.</a:t>
            </a:r>
            <a:endParaRPr lang="en-US" sz="1700" dirty="0"/>
          </a:p>
        </p:txBody>
      </p:sp>
      <p:sp>
        <p:nvSpPr>
          <p:cNvPr id="17" name="Shape 13"/>
          <p:cNvSpPr/>
          <p:nvPr/>
        </p:nvSpPr>
        <p:spPr>
          <a:xfrm>
            <a:off x="548640" y="2585085"/>
            <a:ext cx="329184" cy="329184"/>
          </a:xfrm>
          <a:prstGeom prst="ellipse">
            <a:avLst/>
          </a:prstGeom>
          <a:solidFill>
            <a:schemeClr val="accent5"/>
          </a:solidFill>
          <a:ln w="12700">
            <a:solidFill>
              <a:srgbClr val="FFFFFF">
                <a:alpha val="0"/>
              </a:srgbClr>
            </a:solidFill>
            <a:prstDash val="solid"/>
          </a:ln>
        </p:spPr>
      </p:sp>
      <p:sp>
        <p:nvSpPr>
          <p:cNvPr id="18" name="Text 14"/>
          <p:cNvSpPr txBox="1"/>
          <p:nvPr/>
        </p:nvSpPr>
        <p:spPr>
          <a:xfrm>
            <a:off x="548640" y="258508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9" name="Shape 15"/>
          <p:cNvSpPr/>
          <p:nvPr/>
        </p:nvSpPr>
        <p:spPr>
          <a:xfrm>
            <a:off x="960120" y="2513838"/>
            <a:ext cx="4206240" cy="453390"/>
          </a:xfrm>
          <a:prstGeom prst="roundRect">
            <a:avLst>
              <a:gd name="adj" fmla="val 16134"/>
            </a:avLst>
          </a:prstGeom>
          <a:solidFill>
            <a:schemeClr val="bg2"/>
          </a:solidFill>
          <a:ln w="12700">
            <a:solidFill>
              <a:srgbClr val="D5DCE6"/>
            </a:solidFill>
            <a:prstDash val="solid"/>
          </a:ln>
        </p:spPr>
      </p:sp>
      <p:sp>
        <p:nvSpPr>
          <p:cNvPr id="20" name="Text 16"/>
          <p:cNvSpPr txBox="1"/>
          <p:nvPr/>
        </p:nvSpPr>
        <p:spPr>
          <a:xfrm>
            <a:off x="1097280" y="251383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Puis-je ouvrir la fenêtre ?</a:t>
            </a:r>
            <a:endParaRPr lang="en-US" sz="1700" dirty="0"/>
          </a:p>
        </p:txBody>
      </p:sp>
      <p:sp>
        <p:nvSpPr>
          <p:cNvPr id="21" name="Text 17"/>
          <p:cNvSpPr txBox="1"/>
          <p:nvPr/>
        </p:nvSpPr>
        <p:spPr>
          <a:xfrm>
            <a:off x="4754880" y="251383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22" name="Shape 18"/>
          <p:cNvSpPr/>
          <p:nvPr/>
        </p:nvSpPr>
        <p:spPr>
          <a:xfrm>
            <a:off x="5212080" y="2731389"/>
            <a:ext cx="594360" cy="914"/>
          </a:xfrm>
          <a:prstGeom prst="line">
            <a:avLst/>
          </a:prstGeom>
          <a:noFill/>
          <a:ln w="31750">
            <a:solidFill>
              <a:srgbClr val="D9700F"/>
            </a:solidFill>
            <a:prstDash val="solid"/>
            <a:tailEnd type="triangle"/>
          </a:ln>
        </p:spPr>
      </p:sp>
      <p:sp>
        <p:nvSpPr>
          <p:cNvPr id="23" name="Shape 19"/>
          <p:cNvSpPr/>
          <p:nvPr/>
        </p:nvSpPr>
        <p:spPr>
          <a:xfrm>
            <a:off x="5852160" y="2513838"/>
            <a:ext cx="5788152" cy="453390"/>
          </a:xfrm>
          <a:prstGeom prst="roundRect">
            <a:avLst>
              <a:gd name="adj" fmla="val 16134"/>
            </a:avLst>
          </a:prstGeom>
          <a:solidFill>
            <a:srgbClr val="EDF6F0"/>
          </a:solidFill>
          <a:ln w="15875">
            <a:solidFill>
              <a:srgbClr val="2E7D4F"/>
            </a:solidFill>
            <a:prstDash val="solid"/>
          </a:ln>
        </p:spPr>
      </p:sp>
      <p:sp>
        <p:nvSpPr>
          <p:cNvPr id="24" name="Text 20"/>
          <p:cNvSpPr txBox="1"/>
          <p:nvPr/>
        </p:nvSpPr>
        <p:spPr>
          <a:xfrm>
            <a:off x="5989320" y="251383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Mag ik het raam opendoen?</a:t>
            </a:r>
            <a:endParaRPr lang="en-US" sz="1700" dirty="0"/>
          </a:p>
        </p:txBody>
      </p:sp>
      <p:sp>
        <p:nvSpPr>
          <p:cNvPr id="25" name="Shape 21"/>
          <p:cNvSpPr/>
          <p:nvPr/>
        </p:nvSpPr>
        <p:spPr>
          <a:xfrm>
            <a:off x="548640" y="3129915"/>
            <a:ext cx="329184" cy="329184"/>
          </a:xfrm>
          <a:prstGeom prst="ellipse">
            <a:avLst/>
          </a:prstGeom>
          <a:solidFill>
            <a:schemeClr val="accent5"/>
          </a:solidFill>
          <a:ln w="12700">
            <a:solidFill>
              <a:srgbClr val="FFFFFF">
                <a:alpha val="0"/>
              </a:srgbClr>
            </a:solidFill>
            <a:prstDash val="solid"/>
          </a:ln>
        </p:spPr>
      </p:sp>
      <p:sp>
        <p:nvSpPr>
          <p:cNvPr id="26" name="Text 22"/>
          <p:cNvSpPr txBox="1"/>
          <p:nvPr/>
        </p:nvSpPr>
        <p:spPr>
          <a:xfrm>
            <a:off x="548640" y="312991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7" name="Shape 23"/>
          <p:cNvSpPr/>
          <p:nvPr/>
        </p:nvSpPr>
        <p:spPr>
          <a:xfrm>
            <a:off x="960120" y="3058668"/>
            <a:ext cx="4206240" cy="453390"/>
          </a:xfrm>
          <a:prstGeom prst="roundRect">
            <a:avLst>
              <a:gd name="adj" fmla="val 16134"/>
            </a:avLst>
          </a:prstGeom>
          <a:solidFill>
            <a:schemeClr val="bg2"/>
          </a:solidFill>
          <a:ln w="12700">
            <a:solidFill>
              <a:srgbClr val="D5DCE6"/>
            </a:solidFill>
            <a:prstDash val="solid"/>
          </a:ln>
        </p:spPr>
      </p:sp>
      <p:sp>
        <p:nvSpPr>
          <p:cNvPr id="28" name="Text 24"/>
          <p:cNvSpPr txBox="1"/>
          <p:nvPr/>
        </p:nvSpPr>
        <p:spPr>
          <a:xfrm>
            <a:off x="1097280" y="305866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Il ne faut pas fumer ici.</a:t>
            </a:r>
            <a:endParaRPr lang="en-US" sz="1700" dirty="0"/>
          </a:p>
        </p:txBody>
      </p:sp>
      <p:sp>
        <p:nvSpPr>
          <p:cNvPr id="29" name="Text 25"/>
          <p:cNvSpPr txBox="1"/>
          <p:nvPr/>
        </p:nvSpPr>
        <p:spPr>
          <a:xfrm>
            <a:off x="4754880" y="3058668"/>
            <a:ext cx="365760" cy="453390"/>
          </a:xfrm>
          <a:prstGeom prst="rect">
            <a:avLst/>
          </a:prstGeom>
          <a:noFill/>
          <a:ln/>
        </p:spPr>
        <p:txBody>
          <a:bodyPr wrap="square" lIns="0" tIns="0" rIns="0" bIns="0" rtlCol="0" anchor="ctr"/>
          <a:lstStyle/>
          <a:p>
            <a:pPr algn="l" indent="0" marL="0">
              <a:buNone/>
            </a:pPr>
            <a:r>
              <a:rPr lang="en-US" sz="1600" b="1" dirty="0">
                <a:solidFill>
                  <a:schemeClr val="accent6"/>
                </a:solidFill>
              </a:rPr>
              <a:t>⚠</a:t>
            </a:r>
            <a:endParaRPr lang="en-US" sz="1600" dirty="0"/>
          </a:p>
        </p:txBody>
      </p:sp>
      <p:sp>
        <p:nvSpPr>
          <p:cNvPr id="30" name="Shape 26"/>
          <p:cNvSpPr/>
          <p:nvPr/>
        </p:nvSpPr>
        <p:spPr>
          <a:xfrm>
            <a:off x="5212080" y="3276219"/>
            <a:ext cx="594360" cy="914"/>
          </a:xfrm>
          <a:prstGeom prst="line">
            <a:avLst/>
          </a:prstGeom>
          <a:noFill/>
          <a:ln w="31750">
            <a:solidFill>
              <a:srgbClr val="D9700F"/>
            </a:solidFill>
            <a:prstDash val="solid"/>
            <a:tailEnd type="triangle"/>
          </a:ln>
        </p:spPr>
      </p:sp>
      <p:sp>
        <p:nvSpPr>
          <p:cNvPr id="31" name="Shape 27"/>
          <p:cNvSpPr/>
          <p:nvPr/>
        </p:nvSpPr>
        <p:spPr>
          <a:xfrm>
            <a:off x="5852160" y="3058668"/>
            <a:ext cx="5788152" cy="453390"/>
          </a:xfrm>
          <a:prstGeom prst="roundRect">
            <a:avLst>
              <a:gd name="adj" fmla="val 16134"/>
            </a:avLst>
          </a:prstGeom>
          <a:solidFill>
            <a:srgbClr val="EDF6F0"/>
          </a:solidFill>
          <a:ln w="15875">
            <a:solidFill>
              <a:srgbClr val="2E7D4F"/>
            </a:solidFill>
            <a:prstDash val="solid"/>
          </a:ln>
        </p:spPr>
      </p:sp>
      <p:sp>
        <p:nvSpPr>
          <p:cNvPr id="32" name="Text 28"/>
          <p:cNvSpPr txBox="1"/>
          <p:nvPr/>
        </p:nvSpPr>
        <p:spPr>
          <a:xfrm>
            <a:off x="5989320" y="305866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Je mag hier niet roken.</a:t>
            </a:r>
            <a:endParaRPr lang="en-US" sz="1700" dirty="0"/>
          </a:p>
        </p:txBody>
      </p:sp>
      <p:sp>
        <p:nvSpPr>
          <p:cNvPr id="33" name="Shape 29"/>
          <p:cNvSpPr/>
          <p:nvPr/>
        </p:nvSpPr>
        <p:spPr>
          <a:xfrm>
            <a:off x="548640" y="3674745"/>
            <a:ext cx="329184" cy="329184"/>
          </a:xfrm>
          <a:prstGeom prst="ellipse">
            <a:avLst/>
          </a:prstGeom>
          <a:solidFill>
            <a:schemeClr val="accent5"/>
          </a:solidFill>
          <a:ln w="12700">
            <a:solidFill>
              <a:srgbClr val="FFFFFF">
                <a:alpha val="0"/>
              </a:srgbClr>
            </a:solidFill>
            <a:prstDash val="solid"/>
          </a:ln>
        </p:spPr>
      </p:sp>
      <p:sp>
        <p:nvSpPr>
          <p:cNvPr id="34" name="Text 30"/>
          <p:cNvSpPr txBox="1"/>
          <p:nvPr/>
        </p:nvSpPr>
        <p:spPr>
          <a:xfrm>
            <a:off x="548640" y="367474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5" name="Shape 31"/>
          <p:cNvSpPr/>
          <p:nvPr/>
        </p:nvSpPr>
        <p:spPr>
          <a:xfrm>
            <a:off x="960120" y="3603498"/>
            <a:ext cx="4206240" cy="453390"/>
          </a:xfrm>
          <a:prstGeom prst="roundRect">
            <a:avLst>
              <a:gd name="adj" fmla="val 16134"/>
            </a:avLst>
          </a:prstGeom>
          <a:solidFill>
            <a:schemeClr val="bg2"/>
          </a:solidFill>
          <a:ln w="12700">
            <a:solidFill>
              <a:srgbClr val="D5DCE6"/>
            </a:solidFill>
            <a:prstDash val="solid"/>
          </a:ln>
        </p:spPr>
      </p:sp>
      <p:sp>
        <p:nvSpPr>
          <p:cNvPr id="36" name="Text 32"/>
          <p:cNvSpPr txBox="1"/>
          <p:nvPr/>
        </p:nvSpPr>
        <p:spPr>
          <a:xfrm>
            <a:off x="1097280" y="360349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dois partir.</a:t>
            </a:r>
            <a:endParaRPr lang="en-US" sz="1700" dirty="0"/>
          </a:p>
        </p:txBody>
      </p:sp>
      <p:sp>
        <p:nvSpPr>
          <p:cNvPr id="37" name="Shape 33"/>
          <p:cNvSpPr/>
          <p:nvPr/>
        </p:nvSpPr>
        <p:spPr>
          <a:xfrm>
            <a:off x="5212080" y="3821049"/>
            <a:ext cx="594360" cy="914"/>
          </a:xfrm>
          <a:prstGeom prst="line">
            <a:avLst/>
          </a:prstGeom>
          <a:noFill/>
          <a:ln w="31750">
            <a:solidFill>
              <a:srgbClr val="D9700F"/>
            </a:solidFill>
            <a:prstDash val="solid"/>
            <a:tailEnd type="triangle"/>
          </a:ln>
        </p:spPr>
      </p:sp>
      <p:sp>
        <p:nvSpPr>
          <p:cNvPr id="38" name="Shape 34"/>
          <p:cNvSpPr/>
          <p:nvPr/>
        </p:nvSpPr>
        <p:spPr>
          <a:xfrm>
            <a:off x="5852160" y="3603498"/>
            <a:ext cx="5788152" cy="453390"/>
          </a:xfrm>
          <a:prstGeom prst="roundRect">
            <a:avLst>
              <a:gd name="adj" fmla="val 16134"/>
            </a:avLst>
          </a:prstGeom>
          <a:solidFill>
            <a:srgbClr val="EDF6F0"/>
          </a:solidFill>
          <a:ln w="15875">
            <a:solidFill>
              <a:srgbClr val="2E7D4F"/>
            </a:solidFill>
            <a:prstDash val="solid"/>
          </a:ln>
        </p:spPr>
      </p:sp>
      <p:sp>
        <p:nvSpPr>
          <p:cNvPr id="39" name="Text 35"/>
          <p:cNvSpPr txBox="1"/>
          <p:nvPr/>
        </p:nvSpPr>
        <p:spPr>
          <a:xfrm>
            <a:off x="5989320" y="360349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Ik moet weggaan.</a:t>
            </a:r>
            <a:endParaRPr lang="en-US" sz="1700" dirty="0"/>
          </a:p>
        </p:txBody>
      </p:sp>
      <p:sp>
        <p:nvSpPr>
          <p:cNvPr id="40" name="Shape 36"/>
          <p:cNvSpPr/>
          <p:nvPr/>
        </p:nvSpPr>
        <p:spPr>
          <a:xfrm>
            <a:off x="548640" y="4219575"/>
            <a:ext cx="329184" cy="329184"/>
          </a:xfrm>
          <a:prstGeom prst="ellipse">
            <a:avLst/>
          </a:prstGeom>
          <a:solidFill>
            <a:schemeClr val="accent5"/>
          </a:solidFill>
          <a:ln w="12700">
            <a:solidFill>
              <a:srgbClr val="FFFFFF">
                <a:alpha val="0"/>
              </a:srgbClr>
            </a:solidFill>
            <a:prstDash val="solid"/>
          </a:ln>
        </p:spPr>
      </p:sp>
      <p:sp>
        <p:nvSpPr>
          <p:cNvPr id="41" name="Text 37"/>
          <p:cNvSpPr txBox="1"/>
          <p:nvPr/>
        </p:nvSpPr>
        <p:spPr>
          <a:xfrm>
            <a:off x="548640" y="421957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2" name="Shape 38"/>
          <p:cNvSpPr/>
          <p:nvPr/>
        </p:nvSpPr>
        <p:spPr>
          <a:xfrm>
            <a:off x="960120" y="4148328"/>
            <a:ext cx="4206240" cy="453390"/>
          </a:xfrm>
          <a:prstGeom prst="roundRect">
            <a:avLst>
              <a:gd name="adj" fmla="val 16134"/>
            </a:avLst>
          </a:prstGeom>
          <a:solidFill>
            <a:schemeClr val="bg2"/>
          </a:solidFill>
          <a:ln w="12700">
            <a:solidFill>
              <a:srgbClr val="D5DCE6"/>
            </a:solidFill>
            <a:prstDash val="solid"/>
          </a:ln>
        </p:spPr>
      </p:sp>
      <p:sp>
        <p:nvSpPr>
          <p:cNvPr id="43" name="Text 39"/>
          <p:cNvSpPr txBox="1"/>
          <p:nvPr/>
        </p:nvSpPr>
        <p:spPr>
          <a:xfrm>
            <a:off x="1097280" y="414832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Tu veux un café ?</a:t>
            </a:r>
            <a:endParaRPr lang="en-US" sz="1700" dirty="0"/>
          </a:p>
        </p:txBody>
      </p:sp>
      <p:sp>
        <p:nvSpPr>
          <p:cNvPr id="44" name="Shape 40"/>
          <p:cNvSpPr/>
          <p:nvPr/>
        </p:nvSpPr>
        <p:spPr>
          <a:xfrm>
            <a:off x="5212080" y="4365879"/>
            <a:ext cx="594360" cy="914"/>
          </a:xfrm>
          <a:prstGeom prst="line">
            <a:avLst/>
          </a:prstGeom>
          <a:noFill/>
          <a:ln w="31750">
            <a:solidFill>
              <a:srgbClr val="D9700F"/>
            </a:solidFill>
            <a:prstDash val="solid"/>
            <a:tailEnd type="triangle"/>
          </a:ln>
        </p:spPr>
      </p:sp>
      <p:sp>
        <p:nvSpPr>
          <p:cNvPr id="45" name="Shape 41"/>
          <p:cNvSpPr/>
          <p:nvPr/>
        </p:nvSpPr>
        <p:spPr>
          <a:xfrm>
            <a:off x="5852160" y="4148328"/>
            <a:ext cx="5788152" cy="453390"/>
          </a:xfrm>
          <a:prstGeom prst="roundRect">
            <a:avLst>
              <a:gd name="adj" fmla="val 16134"/>
            </a:avLst>
          </a:prstGeom>
          <a:solidFill>
            <a:srgbClr val="EDF6F0"/>
          </a:solidFill>
          <a:ln w="15875">
            <a:solidFill>
              <a:srgbClr val="2E7D4F"/>
            </a:solidFill>
            <a:prstDash val="solid"/>
          </a:ln>
        </p:spPr>
      </p:sp>
      <p:sp>
        <p:nvSpPr>
          <p:cNvPr id="46" name="Text 42"/>
          <p:cNvSpPr txBox="1"/>
          <p:nvPr/>
        </p:nvSpPr>
        <p:spPr>
          <a:xfrm>
            <a:off x="5989320" y="414832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Wil je een koffie?</a:t>
            </a:r>
            <a:endParaRPr lang="en-US" sz="1700" dirty="0"/>
          </a:p>
        </p:txBody>
      </p:sp>
      <p:sp>
        <p:nvSpPr>
          <p:cNvPr id="47" name="Shape 43"/>
          <p:cNvSpPr/>
          <p:nvPr/>
        </p:nvSpPr>
        <p:spPr>
          <a:xfrm>
            <a:off x="548640" y="4764405"/>
            <a:ext cx="329184" cy="329184"/>
          </a:xfrm>
          <a:prstGeom prst="ellipse">
            <a:avLst/>
          </a:prstGeom>
          <a:solidFill>
            <a:schemeClr val="accent5"/>
          </a:solidFill>
          <a:ln w="12700">
            <a:solidFill>
              <a:srgbClr val="FFFFFF">
                <a:alpha val="0"/>
              </a:srgbClr>
            </a:solidFill>
            <a:prstDash val="solid"/>
          </a:ln>
        </p:spPr>
      </p:sp>
      <p:sp>
        <p:nvSpPr>
          <p:cNvPr id="48" name="Text 44"/>
          <p:cNvSpPr txBox="1"/>
          <p:nvPr/>
        </p:nvSpPr>
        <p:spPr>
          <a:xfrm>
            <a:off x="548640" y="476440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9" name="Shape 45"/>
          <p:cNvSpPr/>
          <p:nvPr/>
        </p:nvSpPr>
        <p:spPr>
          <a:xfrm>
            <a:off x="960120" y="4693158"/>
            <a:ext cx="4206240" cy="453390"/>
          </a:xfrm>
          <a:prstGeom prst="roundRect">
            <a:avLst>
              <a:gd name="adj" fmla="val 16134"/>
            </a:avLst>
          </a:prstGeom>
          <a:solidFill>
            <a:schemeClr val="bg2"/>
          </a:solidFill>
          <a:ln w="12700">
            <a:solidFill>
              <a:srgbClr val="D5DCE6"/>
            </a:solidFill>
            <a:prstDash val="solid"/>
          </a:ln>
        </p:spPr>
      </p:sp>
      <p:sp>
        <p:nvSpPr>
          <p:cNvPr id="50" name="Text 46"/>
          <p:cNvSpPr txBox="1"/>
          <p:nvPr/>
        </p:nvSpPr>
        <p:spPr>
          <a:xfrm>
            <a:off x="1097280" y="469315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peux venir demain.</a:t>
            </a:r>
            <a:endParaRPr lang="en-US" sz="1700" dirty="0"/>
          </a:p>
        </p:txBody>
      </p:sp>
      <p:sp>
        <p:nvSpPr>
          <p:cNvPr id="51" name="Shape 47"/>
          <p:cNvSpPr/>
          <p:nvPr/>
        </p:nvSpPr>
        <p:spPr>
          <a:xfrm>
            <a:off x="5212080" y="4910709"/>
            <a:ext cx="594360" cy="914"/>
          </a:xfrm>
          <a:prstGeom prst="line">
            <a:avLst/>
          </a:prstGeom>
          <a:noFill/>
          <a:ln w="31750">
            <a:solidFill>
              <a:srgbClr val="D9700F"/>
            </a:solidFill>
            <a:prstDash val="solid"/>
            <a:tailEnd type="triangle"/>
          </a:ln>
        </p:spPr>
      </p:sp>
      <p:sp>
        <p:nvSpPr>
          <p:cNvPr id="52" name="Shape 48"/>
          <p:cNvSpPr/>
          <p:nvPr/>
        </p:nvSpPr>
        <p:spPr>
          <a:xfrm>
            <a:off x="5852160" y="4693158"/>
            <a:ext cx="5788152" cy="453390"/>
          </a:xfrm>
          <a:prstGeom prst="roundRect">
            <a:avLst>
              <a:gd name="adj" fmla="val 16134"/>
            </a:avLst>
          </a:prstGeom>
          <a:solidFill>
            <a:srgbClr val="EDF6F0"/>
          </a:solidFill>
          <a:ln w="15875">
            <a:solidFill>
              <a:srgbClr val="2E7D4F"/>
            </a:solidFill>
            <a:prstDash val="solid"/>
          </a:ln>
        </p:spPr>
      </p:sp>
      <p:sp>
        <p:nvSpPr>
          <p:cNvPr id="53" name="Text 49"/>
          <p:cNvSpPr txBox="1"/>
          <p:nvPr/>
        </p:nvSpPr>
        <p:spPr>
          <a:xfrm>
            <a:off x="5989320" y="469315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Ik kan morgen komen.</a:t>
            </a:r>
            <a:endParaRPr lang="en-US" sz="1700" dirty="0"/>
          </a:p>
        </p:txBody>
      </p:sp>
      <p:sp>
        <p:nvSpPr>
          <p:cNvPr id="54" name="Shape 50"/>
          <p:cNvSpPr/>
          <p:nvPr/>
        </p:nvSpPr>
        <p:spPr>
          <a:xfrm>
            <a:off x="548640" y="5309235"/>
            <a:ext cx="329184" cy="329184"/>
          </a:xfrm>
          <a:prstGeom prst="ellipse">
            <a:avLst/>
          </a:prstGeom>
          <a:solidFill>
            <a:schemeClr val="accent5"/>
          </a:solidFill>
          <a:ln w="12700">
            <a:solidFill>
              <a:srgbClr val="FFFFFF">
                <a:alpha val="0"/>
              </a:srgbClr>
            </a:solidFill>
            <a:prstDash val="solid"/>
          </a:ln>
        </p:spPr>
      </p:sp>
      <p:sp>
        <p:nvSpPr>
          <p:cNvPr id="55" name="Text 51"/>
          <p:cNvSpPr txBox="1"/>
          <p:nvPr/>
        </p:nvSpPr>
        <p:spPr>
          <a:xfrm>
            <a:off x="548640" y="53092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6" name="Shape 52"/>
          <p:cNvSpPr/>
          <p:nvPr/>
        </p:nvSpPr>
        <p:spPr>
          <a:xfrm>
            <a:off x="960120" y="5237988"/>
            <a:ext cx="4206240" cy="453390"/>
          </a:xfrm>
          <a:prstGeom prst="roundRect">
            <a:avLst>
              <a:gd name="adj" fmla="val 16134"/>
            </a:avLst>
          </a:prstGeom>
          <a:solidFill>
            <a:schemeClr val="bg2"/>
          </a:solidFill>
          <a:ln w="12700">
            <a:solidFill>
              <a:srgbClr val="D5DCE6"/>
            </a:solidFill>
            <a:prstDash val="solid"/>
          </a:ln>
        </p:spPr>
      </p:sp>
      <p:sp>
        <p:nvSpPr>
          <p:cNvPr id="57" name="Text 53"/>
          <p:cNvSpPr txBox="1"/>
          <p:nvPr/>
        </p:nvSpPr>
        <p:spPr>
          <a:xfrm>
            <a:off x="1097280" y="523798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On peut payer par carte ?</a:t>
            </a:r>
            <a:endParaRPr lang="en-US" sz="1700" dirty="0"/>
          </a:p>
        </p:txBody>
      </p:sp>
      <p:sp>
        <p:nvSpPr>
          <p:cNvPr id="58" name="Shape 54"/>
          <p:cNvSpPr/>
          <p:nvPr/>
        </p:nvSpPr>
        <p:spPr>
          <a:xfrm>
            <a:off x="5212080" y="5455539"/>
            <a:ext cx="594360" cy="914"/>
          </a:xfrm>
          <a:prstGeom prst="line">
            <a:avLst/>
          </a:prstGeom>
          <a:noFill/>
          <a:ln w="31750">
            <a:solidFill>
              <a:srgbClr val="D9700F"/>
            </a:solidFill>
            <a:prstDash val="solid"/>
            <a:tailEnd type="triangle"/>
          </a:ln>
        </p:spPr>
      </p:sp>
      <p:sp>
        <p:nvSpPr>
          <p:cNvPr id="59" name="Shape 55"/>
          <p:cNvSpPr/>
          <p:nvPr/>
        </p:nvSpPr>
        <p:spPr>
          <a:xfrm>
            <a:off x="5852160" y="5237988"/>
            <a:ext cx="5788152" cy="453390"/>
          </a:xfrm>
          <a:prstGeom prst="roundRect">
            <a:avLst>
              <a:gd name="adj" fmla="val 16134"/>
            </a:avLst>
          </a:prstGeom>
          <a:solidFill>
            <a:srgbClr val="EDF6F0"/>
          </a:solidFill>
          <a:ln w="15875">
            <a:solidFill>
              <a:srgbClr val="2E7D4F"/>
            </a:solidFill>
            <a:prstDash val="solid"/>
          </a:ln>
        </p:spPr>
      </p:sp>
      <p:sp>
        <p:nvSpPr>
          <p:cNvPr id="60" name="Text 56"/>
          <p:cNvSpPr txBox="1"/>
          <p:nvPr/>
        </p:nvSpPr>
        <p:spPr>
          <a:xfrm>
            <a:off x="5989320" y="523798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Kan ik met de kaart betalen?</a:t>
            </a:r>
            <a:endParaRPr lang="en-US" sz="1700" dirty="0"/>
          </a:p>
        </p:txBody>
      </p:sp>
      <p:sp>
        <p:nvSpPr>
          <p:cNvPr id="61" name="Shape 57"/>
          <p:cNvSpPr/>
          <p:nvPr/>
        </p:nvSpPr>
        <p:spPr>
          <a:xfrm>
            <a:off x="548640" y="5854065"/>
            <a:ext cx="329184" cy="329184"/>
          </a:xfrm>
          <a:prstGeom prst="ellipse">
            <a:avLst/>
          </a:prstGeom>
          <a:solidFill>
            <a:schemeClr val="accent5"/>
          </a:solidFill>
          <a:ln w="12700">
            <a:solidFill>
              <a:srgbClr val="FFFFFF">
                <a:alpha val="0"/>
              </a:srgbClr>
            </a:solidFill>
            <a:prstDash val="solid"/>
          </a:ln>
        </p:spPr>
      </p:sp>
      <p:sp>
        <p:nvSpPr>
          <p:cNvPr id="62" name="Text 58"/>
          <p:cNvSpPr txBox="1"/>
          <p:nvPr/>
        </p:nvSpPr>
        <p:spPr>
          <a:xfrm>
            <a:off x="548640" y="585406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63" name="Shape 59"/>
          <p:cNvSpPr/>
          <p:nvPr/>
        </p:nvSpPr>
        <p:spPr>
          <a:xfrm>
            <a:off x="960120" y="5782818"/>
            <a:ext cx="4206240" cy="453390"/>
          </a:xfrm>
          <a:prstGeom prst="roundRect">
            <a:avLst>
              <a:gd name="adj" fmla="val 16134"/>
            </a:avLst>
          </a:prstGeom>
          <a:solidFill>
            <a:schemeClr val="bg2"/>
          </a:solidFill>
          <a:ln w="12700">
            <a:solidFill>
              <a:srgbClr val="D5DCE6"/>
            </a:solidFill>
            <a:prstDash val="solid"/>
          </a:ln>
        </p:spPr>
      </p:sp>
      <p:sp>
        <p:nvSpPr>
          <p:cNvPr id="64" name="Text 60"/>
          <p:cNvSpPr txBox="1"/>
          <p:nvPr/>
        </p:nvSpPr>
        <p:spPr>
          <a:xfrm>
            <a:off x="1097280" y="5782818"/>
            <a:ext cx="3657600" cy="453390"/>
          </a:xfrm>
          <a:prstGeom prst="rect">
            <a:avLst/>
          </a:prstGeom>
          <a:noFill/>
          <a:ln/>
        </p:spPr>
        <p:txBody>
          <a:bodyPr wrap="square" lIns="0" tIns="0" rIns="0" bIns="0" rtlCol="0" anchor="ctr"/>
          <a:lstStyle/>
          <a:p>
            <a:pPr algn="l" indent="0" marL="0">
              <a:buNone/>
            </a:pPr>
            <a:r>
              <a:rPr lang="en-US" sz="1700" dirty="0">
                <a:solidFill>
                  <a:schemeClr val="tx1"/>
                </a:solidFill>
              </a:rPr>
              <a:t>Je ne sais pas.</a:t>
            </a:r>
            <a:endParaRPr lang="en-US" sz="1700" dirty="0"/>
          </a:p>
        </p:txBody>
      </p:sp>
      <p:sp>
        <p:nvSpPr>
          <p:cNvPr id="65" name="Shape 61"/>
          <p:cNvSpPr/>
          <p:nvPr/>
        </p:nvSpPr>
        <p:spPr>
          <a:xfrm>
            <a:off x="5212080" y="6000369"/>
            <a:ext cx="594360" cy="914"/>
          </a:xfrm>
          <a:prstGeom prst="line">
            <a:avLst/>
          </a:prstGeom>
          <a:noFill/>
          <a:ln w="31750">
            <a:solidFill>
              <a:srgbClr val="D9700F"/>
            </a:solidFill>
            <a:prstDash val="solid"/>
            <a:tailEnd type="triangle"/>
          </a:ln>
        </p:spPr>
      </p:sp>
      <p:sp>
        <p:nvSpPr>
          <p:cNvPr id="66" name="Shape 62"/>
          <p:cNvSpPr/>
          <p:nvPr/>
        </p:nvSpPr>
        <p:spPr>
          <a:xfrm>
            <a:off x="5852160" y="5782818"/>
            <a:ext cx="5788152" cy="453390"/>
          </a:xfrm>
          <a:prstGeom prst="roundRect">
            <a:avLst>
              <a:gd name="adj" fmla="val 16134"/>
            </a:avLst>
          </a:prstGeom>
          <a:solidFill>
            <a:srgbClr val="EDF6F0"/>
          </a:solidFill>
          <a:ln w="15875">
            <a:solidFill>
              <a:srgbClr val="2E7D4F"/>
            </a:solidFill>
            <a:prstDash val="solid"/>
          </a:ln>
        </p:spPr>
      </p:sp>
      <p:sp>
        <p:nvSpPr>
          <p:cNvPr id="67" name="Text 63"/>
          <p:cNvSpPr txBox="1"/>
          <p:nvPr/>
        </p:nvSpPr>
        <p:spPr>
          <a:xfrm>
            <a:off x="5989320" y="5782818"/>
            <a:ext cx="5577840" cy="453390"/>
          </a:xfrm>
          <a:prstGeom prst="rect">
            <a:avLst/>
          </a:prstGeom>
          <a:noFill/>
          <a:ln/>
        </p:spPr>
        <p:txBody>
          <a:bodyPr wrap="square" lIns="0" tIns="0" rIns="0" bIns="0" rtlCol="0" anchor="ctr"/>
          <a:lstStyle/>
          <a:p>
            <a:pPr algn="l" indent="0" marL="0">
              <a:buNone/>
            </a:pPr>
            <a:r>
              <a:rPr lang="en-US" sz="1700" b="1" i="1" dirty="0">
                <a:solidFill>
                  <a:schemeClr val="accent3"/>
                </a:solidFill>
              </a:rPr>
              <a:t>Ik weet het niet.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Wie wordt de winnaar?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Choisissez une case : réussissez la tâche avec un verbe de modalité.</a:t>
            </a:r>
            <a:endParaRPr lang="en-US" sz="1700" dirty="0"/>
          </a:p>
        </p:txBody>
      </p:sp>
      <p:sp>
        <p:nvSpPr>
          <p:cNvPr id="8" name="Shape 4"/>
          <p:cNvSpPr/>
          <p:nvPr/>
        </p:nvSpPr>
        <p:spPr>
          <a:xfrm>
            <a:off x="548640" y="1932432"/>
            <a:ext cx="2635758" cy="1330960"/>
          </a:xfrm>
          <a:prstGeom prst="roundRect">
            <a:avLst>
              <a:gd name="adj" fmla="val 5496"/>
            </a:avLst>
          </a:prstGeom>
          <a:solidFill>
            <a:schemeClr val="accent3"/>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548640" y="193243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150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10" name="Shape 6"/>
          <p:cNvSpPr/>
          <p:nvPr/>
        </p:nvSpPr>
        <p:spPr>
          <a:xfrm>
            <a:off x="3367278" y="1932432"/>
            <a:ext cx="2635758" cy="1330960"/>
          </a:xfrm>
          <a:prstGeom prst="roundRect">
            <a:avLst>
              <a:gd name="adj" fmla="val 5496"/>
            </a:avLst>
          </a:prstGeom>
          <a:solidFill>
            <a:schemeClr val="accent3"/>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1" name="Text 7"/>
          <p:cNvSpPr txBox="1"/>
          <p:nvPr/>
        </p:nvSpPr>
        <p:spPr>
          <a:xfrm>
            <a:off x="3367278" y="193243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150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12" name="Shape 8"/>
          <p:cNvSpPr/>
          <p:nvPr/>
        </p:nvSpPr>
        <p:spPr>
          <a:xfrm>
            <a:off x="6185916" y="1932432"/>
            <a:ext cx="2635758" cy="1330960"/>
          </a:xfrm>
          <a:prstGeom prst="roundRect">
            <a:avLst>
              <a:gd name="adj" fmla="val 5496"/>
            </a:avLst>
          </a:prstGeom>
          <a:solidFill>
            <a:schemeClr val="accent3"/>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3" name="Text 9"/>
          <p:cNvSpPr txBox="1"/>
          <p:nvPr/>
        </p:nvSpPr>
        <p:spPr>
          <a:xfrm>
            <a:off x="6185916" y="193243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150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14" name="Shape 10"/>
          <p:cNvSpPr/>
          <p:nvPr/>
        </p:nvSpPr>
        <p:spPr>
          <a:xfrm>
            <a:off x="9004554" y="1932432"/>
            <a:ext cx="2635758" cy="1330960"/>
          </a:xfrm>
          <a:prstGeom prst="roundRect">
            <a:avLst>
              <a:gd name="adj" fmla="val 5496"/>
            </a:avLst>
          </a:prstGeom>
          <a:solidFill>
            <a:schemeClr val="accent3"/>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5" name="Text 11"/>
          <p:cNvSpPr txBox="1"/>
          <p:nvPr/>
        </p:nvSpPr>
        <p:spPr>
          <a:xfrm>
            <a:off x="9004554" y="193243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150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16" name="Shape 12"/>
          <p:cNvSpPr/>
          <p:nvPr/>
        </p:nvSpPr>
        <p:spPr>
          <a:xfrm>
            <a:off x="548640" y="3446272"/>
            <a:ext cx="2635758" cy="1330960"/>
          </a:xfrm>
          <a:prstGeom prst="roundRect">
            <a:avLst>
              <a:gd name="adj" fmla="val 5496"/>
            </a:avLst>
          </a:prstGeom>
          <a:solidFill>
            <a:schemeClr val="accent2"/>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548640" y="344627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18" name="Shape 14"/>
          <p:cNvSpPr/>
          <p:nvPr/>
        </p:nvSpPr>
        <p:spPr>
          <a:xfrm>
            <a:off x="3367278" y="3446272"/>
            <a:ext cx="2635758" cy="1330960"/>
          </a:xfrm>
          <a:prstGeom prst="roundRect">
            <a:avLst>
              <a:gd name="adj" fmla="val 5496"/>
            </a:avLst>
          </a:prstGeom>
          <a:solidFill>
            <a:schemeClr val="accent2"/>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3367278" y="344627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0" name="Shape 16"/>
          <p:cNvSpPr/>
          <p:nvPr/>
        </p:nvSpPr>
        <p:spPr>
          <a:xfrm>
            <a:off x="6185916" y="3446272"/>
            <a:ext cx="2635758" cy="1330960"/>
          </a:xfrm>
          <a:prstGeom prst="roundRect">
            <a:avLst>
              <a:gd name="adj" fmla="val 5496"/>
            </a:avLst>
          </a:prstGeom>
          <a:solidFill>
            <a:schemeClr val="accent2"/>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21" name="Text 17"/>
          <p:cNvSpPr txBox="1"/>
          <p:nvPr/>
        </p:nvSpPr>
        <p:spPr>
          <a:xfrm>
            <a:off x="6185916" y="344627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2" name="Shape 18"/>
          <p:cNvSpPr/>
          <p:nvPr/>
        </p:nvSpPr>
        <p:spPr>
          <a:xfrm>
            <a:off x="9004554" y="3446272"/>
            <a:ext cx="2635758" cy="1330960"/>
          </a:xfrm>
          <a:prstGeom prst="roundRect">
            <a:avLst>
              <a:gd name="adj" fmla="val 5496"/>
            </a:avLst>
          </a:prstGeom>
          <a:solidFill>
            <a:schemeClr val="accent2"/>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23" name="Text 19"/>
          <p:cNvSpPr txBox="1"/>
          <p:nvPr/>
        </p:nvSpPr>
        <p:spPr>
          <a:xfrm>
            <a:off x="9004554" y="344627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4" name="Shape 20"/>
          <p:cNvSpPr/>
          <p:nvPr/>
        </p:nvSpPr>
        <p:spPr>
          <a:xfrm>
            <a:off x="548640" y="4960112"/>
            <a:ext cx="2635758" cy="1330960"/>
          </a:xfrm>
          <a:prstGeom prst="roundRect">
            <a:avLst>
              <a:gd name="adj" fmla="val 5496"/>
            </a:avLst>
          </a:prstGeom>
          <a:solidFill>
            <a:schemeClr val="accent4"/>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548640" y="496011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6" name="Shape 22"/>
          <p:cNvSpPr/>
          <p:nvPr/>
        </p:nvSpPr>
        <p:spPr>
          <a:xfrm>
            <a:off x="3367278" y="4960112"/>
            <a:ext cx="2635758" cy="1330960"/>
          </a:xfrm>
          <a:prstGeom prst="roundRect">
            <a:avLst>
              <a:gd name="adj" fmla="val 5496"/>
            </a:avLst>
          </a:prstGeom>
          <a:solidFill>
            <a:schemeClr val="accent4"/>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27" name="Text 23"/>
          <p:cNvSpPr txBox="1"/>
          <p:nvPr/>
        </p:nvSpPr>
        <p:spPr>
          <a:xfrm>
            <a:off x="3367278" y="496011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8" name="Shape 24"/>
          <p:cNvSpPr/>
          <p:nvPr/>
        </p:nvSpPr>
        <p:spPr>
          <a:xfrm>
            <a:off x="6185916" y="4960112"/>
            <a:ext cx="2635758" cy="1330960"/>
          </a:xfrm>
          <a:prstGeom prst="roundRect">
            <a:avLst>
              <a:gd name="adj" fmla="val 5496"/>
            </a:avLst>
          </a:prstGeom>
          <a:solidFill>
            <a:schemeClr val="accent4"/>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29" name="Text 25"/>
          <p:cNvSpPr txBox="1"/>
          <p:nvPr/>
        </p:nvSpPr>
        <p:spPr>
          <a:xfrm>
            <a:off x="6185916" y="496011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30" name="Shape 26"/>
          <p:cNvSpPr/>
          <p:nvPr/>
        </p:nvSpPr>
        <p:spPr>
          <a:xfrm>
            <a:off x="9004554" y="4960112"/>
            <a:ext cx="2635758" cy="1330960"/>
          </a:xfrm>
          <a:prstGeom prst="roundRect">
            <a:avLst>
              <a:gd name="adj" fmla="val 5496"/>
            </a:avLst>
          </a:prstGeom>
          <a:solidFill>
            <a:schemeClr val="accent4"/>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31" name="Text 27"/>
          <p:cNvSpPr txBox="1"/>
          <p:nvPr/>
        </p:nvSpPr>
        <p:spPr>
          <a:xfrm>
            <a:off x="9004554" y="4960112"/>
            <a:ext cx="2635758" cy="133096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300</a:t>
            </a:r>
            <a:endParaRPr lang="en-US" sz="2400" dirty="0"/>
          </a:p>
          <a:p>
            <a:pPr algn="ctr" indent="0" marL="0">
              <a:buNone/>
            </a:pPr>
            <a:r>
              <a:rPr lang="en-US" sz="2400" b="1" dirty="0">
                <a:solidFill>
                  <a:schemeClr val="bg1"/>
                </a:solidFill>
                <a:latin typeface="+mj-lt" pitchFamily="34" charset="0"/>
                <a:ea typeface="+mj-lt" pitchFamily="34" charset="-122"/>
                <a:cs typeface="+mj-lt" pitchFamily="34" charset="-120"/>
              </a:rPr>
              <a:t>punten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Wie wordt de winnaar?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Choisissez une case : réussissez la tâche avec un verbe de modalité.</a:t>
            </a:r>
            <a:endParaRPr lang="en-US" sz="1700" dirty="0"/>
          </a:p>
        </p:txBody>
      </p:sp>
      <p:sp>
        <p:nvSpPr>
          <p:cNvPr id="9" name="Shape 5"/>
          <p:cNvSpPr/>
          <p:nvPr/>
        </p:nvSpPr>
        <p:spPr>
          <a:xfrm>
            <a:off x="548640" y="1932432"/>
            <a:ext cx="2635758" cy="1330960"/>
          </a:xfrm>
          <a:prstGeom prst="roundRect">
            <a:avLst>
              <a:gd name="adj" fmla="val 5496"/>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0" name="tag"/>
          <p:cNvSpPr/>
          <p:nvPr/>
        </p:nvSpPr>
        <p:spPr>
          <a:xfrm>
            <a:off x="658368" y="2023872"/>
            <a:ext cx="662483"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150</a:t>
            </a:r>
            <a:endParaRPr lang="en-US" sz="1100" dirty="0"/>
          </a:p>
        </p:txBody>
      </p:sp>
      <p:sp>
        <p:nvSpPr>
          <p:cNvPr id="11" name="Text 7"/>
          <p:cNvSpPr txBox="1"/>
          <p:nvPr/>
        </p:nvSpPr>
        <p:spPr>
          <a:xfrm>
            <a:off x="685800" y="229819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Wat kun je goed?</a:t>
            </a:r>
            <a:endParaRPr lang="en-US" sz="1600" dirty="0"/>
          </a:p>
        </p:txBody>
      </p:sp>
      <p:sp>
        <p:nvSpPr>
          <p:cNvPr id="12" name="Shape 8"/>
          <p:cNvSpPr/>
          <p:nvPr/>
        </p:nvSpPr>
        <p:spPr>
          <a:xfrm>
            <a:off x="3367278" y="1932432"/>
            <a:ext cx="2635758" cy="1330960"/>
          </a:xfrm>
          <a:prstGeom prst="roundRect">
            <a:avLst>
              <a:gd name="adj" fmla="val 5496"/>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3" name="tag"/>
          <p:cNvSpPr/>
          <p:nvPr/>
        </p:nvSpPr>
        <p:spPr>
          <a:xfrm>
            <a:off x="3477006" y="2023872"/>
            <a:ext cx="662483"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150</a:t>
            </a:r>
            <a:endParaRPr lang="en-US" sz="1100" dirty="0"/>
          </a:p>
        </p:txBody>
      </p:sp>
      <p:sp>
        <p:nvSpPr>
          <p:cNvPr id="14" name="Text 10"/>
          <p:cNvSpPr txBox="1"/>
          <p:nvPr/>
        </p:nvSpPr>
        <p:spPr>
          <a:xfrm>
            <a:off x="3504438" y="229819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Wat moet je vandaag nog doen?</a:t>
            </a:r>
            <a:endParaRPr lang="en-US" sz="1600" dirty="0"/>
          </a:p>
        </p:txBody>
      </p:sp>
      <p:sp>
        <p:nvSpPr>
          <p:cNvPr id="15" name="Shape 11"/>
          <p:cNvSpPr/>
          <p:nvPr/>
        </p:nvSpPr>
        <p:spPr>
          <a:xfrm>
            <a:off x="6185916" y="1932432"/>
            <a:ext cx="2635758" cy="1330960"/>
          </a:xfrm>
          <a:prstGeom prst="roundRect">
            <a:avLst>
              <a:gd name="adj" fmla="val 5496"/>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6" name="tag"/>
          <p:cNvSpPr/>
          <p:nvPr/>
        </p:nvSpPr>
        <p:spPr>
          <a:xfrm>
            <a:off x="6295644" y="2023872"/>
            <a:ext cx="662483"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150</a:t>
            </a:r>
            <a:endParaRPr lang="en-US" sz="1100" dirty="0"/>
          </a:p>
        </p:txBody>
      </p:sp>
      <p:sp>
        <p:nvSpPr>
          <p:cNvPr id="17" name="Text 13"/>
          <p:cNvSpPr txBox="1"/>
          <p:nvPr/>
        </p:nvSpPr>
        <p:spPr>
          <a:xfrm>
            <a:off x="6323076" y="229819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Wat mag je niet doen op het werk?</a:t>
            </a:r>
            <a:endParaRPr lang="en-US" sz="1600" dirty="0"/>
          </a:p>
        </p:txBody>
      </p:sp>
      <p:sp>
        <p:nvSpPr>
          <p:cNvPr id="18" name="Shape 14"/>
          <p:cNvSpPr/>
          <p:nvPr/>
        </p:nvSpPr>
        <p:spPr>
          <a:xfrm>
            <a:off x="9004554" y="1932432"/>
            <a:ext cx="2635758" cy="1330960"/>
          </a:xfrm>
          <a:prstGeom prst="roundRect">
            <a:avLst>
              <a:gd name="adj" fmla="val 5496"/>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9" name="tag"/>
          <p:cNvSpPr/>
          <p:nvPr/>
        </p:nvSpPr>
        <p:spPr>
          <a:xfrm>
            <a:off x="9114282" y="2023872"/>
            <a:ext cx="662483"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150</a:t>
            </a:r>
            <a:endParaRPr lang="en-US" sz="1100" dirty="0"/>
          </a:p>
        </p:txBody>
      </p:sp>
      <p:sp>
        <p:nvSpPr>
          <p:cNvPr id="20" name="Text 16"/>
          <p:cNvSpPr txBox="1"/>
          <p:nvPr/>
        </p:nvSpPr>
        <p:spPr>
          <a:xfrm>
            <a:off x="9141714" y="229819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Wat wil je dit weekend doen?</a:t>
            </a:r>
            <a:endParaRPr lang="en-US" sz="1600" dirty="0"/>
          </a:p>
        </p:txBody>
      </p:sp>
      <p:sp>
        <p:nvSpPr>
          <p:cNvPr id="21" name="Shape 17"/>
          <p:cNvSpPr/>
          <p:nvPr/>
        </p:nvSpPr>
        <p:spPr>
          <a:xfrm>
            <a:off x="548640" y="3446272"/>
            <a:ext cx="2635758" cy="1330960"/>
          </a:xfrm>
          <a:prstGeom prst="roundRect">
            <a:avLst>
              <a:gd name="adj" fmla="val 5496"/>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22" name="tag"/>
          <p:cNvSpPr/>
          <p:nvPr/>
        </p:nvSpPr>
        <p:spPr>
          <a:xfrm>
            <a:off x="658368" y="3537712"/>
            <a:ext cx="662483"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200</a:t>
            </a:r>
            <a:endParaRPr lang="en-US" sz="1100" dirty="0"/>
          </a:p>
        </p:txBody>
      </p:sp>
      <p:sp>
        <p:nvSpPr>
          <p:cNvPr id="23" name="Text 19"/>
          <p:cNvSpPr txBox="1"/>
          <p:nvPr/>
        </p:nvSpPr>
        <p:spPr>
          <a:xfrm>
            <a:off x="685800" y="381203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Vraag beleefd een koffie.</a:t>
            </a:r>
            <a:endParaRPr lang="en-US" sz="1600" dirty="0"/>
          </a:p>
        </p:txBody>
      </p:sp>
      <p:sp>
        <p:nvSpPr>
          <p:cNvPr id="24" name="Shape 20"/>
          <p:cNvSpPr/>
          <p:nvPr/>
        </p:nvSpPr>
        <p:spPr>
          <a:xfrm>
            <a:off x="3367278" y="3446272"/>
            <a:ext cx="2635758" cy="1330960"/>
          </a:xfrm>
          <a:prstGeom prst="roundRect">
            <a:avLst>
              <a:gd name="adj" fmla="val 5496"/>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25" name="tag"/>
          <p:cNvSpPr/>
          <p:nvPr/>
        </p:nvSpPr>
        <p:spPr>
          <a:xfrm>
            <a:off x="3477006" y="3537712"/>
            <a:ext cx="662483"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200</a:t>
            </a:r>
            <a:endParaRPr lang="en-US" sz="1100" dirty="0"/>
          </a:p>
        </p:txBody>
      </p:sp>
      <p:sp>
        <p:nvSpPr>
          <p:cNvPr id="26" name="Text 22"/>
          <p:cNvSpPr txBox="1"/>
          <p:nvPr/>
        </p:nvSpPr>
        <p:spPr>
          <a:xfrm>
            <a:off x="3504438" y="381203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Vraag of je vroeger mag vertrekken.</a:t>
            </a:r>
            <a:endParaRPr lang="en-US" sz="1600" dirty="0"/>
          </a:p>
        </p:txBody>
      </p:sp>
      <p:sp>
        <p:nvSpPr>
          <p:cNvPr id="27" name="Shape 23"/>
          <p:cNvSpPr/>
          <p:nvPr/>
        </p:nvSpPr>
        <p:spPr>
          <a:xfrm>
            <a:off x="6185916" y="3446272"/>
            <a:ext cx="2635758" cy="1330960"/>
          </a:xfrm>
          <a:prstGeom prst="roundRect">
            <a:avLst>
              <a:gd name="adj" fmla="val 5496"/>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28" name="tag"/>
          <p:cNvSpPr/>
          <p:nvPr/>
        </p:nvSpPr>
        <p:spPr>
          <a:xfrm>
            <a:off x="6295644" y="3537712"/>
            <a:ext cx="662483"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200</a:t>
            </a:r>
            <a:endParaRPr lang="en-US" sz="1100" dirty="0"/>
          </a:p>
        </p:txBody>
      </p:sp>
      <p:sp>
        <p:nvSpPr>
          <p:cNvPr id="29" name="Text 25"/>
          <p:cNvSpPr txBox="1"/>
          <p:nvPr/>
        </p:nvSpPr>
        <p:spPr>
          <a:xfrm>
            <a:off x="6323076" y="381203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Geef een advies aan een nieuwe collega.</a:t>
            </a:r>
            <a:endParaRPr lang="en-US" sz="1600" dirty="0"/>
          </a:p>
        </p:txBody>
      </p:sp>
      <p:sp>
        <p:nvSpPr>
          <p:cNvPr id="30" name="Shape 26"/>
          <p:cNvSpPr/>
          <p:nvPr/>
        </p:nvSpPr>
        <p:spPr>
          <a:xfrm>
            <a:off x="9004554" y="3446272"/>
            <a:ext cx="2635758" cy="1330960"/>
          </a:xfrm>
          <a:prstGeom prst="roundRect">
            <a:avLst>
              <a:gd name="adj" fmla="val 5496"/>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31" name="tag"/>
          <p:cNvSpPr/>
          <p:nvPr/>
        </p:nvSpPr>
        <p:spPr>
          <a:xfrm>
            <a:off x="9114282" y="3537712"/>
            <a:ext cx="662483"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200</a:t>
            </a:r>
            <a:endParaRPr lang="en-US" sz="1100" dirty="0"/>
          </a:p>
        </p:txBody>
      </p:sp>
      <p:sp>
        <p:nvSpPr>
          <p:cNvPr id="32" name="Text 28"/>
          <p:cNvSpPr txBox="1"/>
          <p:nvPr/>
        </p:nvSpPr>
        <p:spPr>
          <a:xfrm>
            <a:off x="9141714" y="381203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Stel een lunch voor.</a:t>
            </a:r>
            <a:endParaRPr lang="en-US" sz="1600" dirty="0"/>
          </a:p>
        </p:txBody>
      </p:sp>
      <p:sp>
        <p:nvSpPr>
          <p:cNvPr id="33" name="Shape 29"/>
          <p:cNvSpPr/>
          <p:nvPr/>
        </p:nvSpPr>
        <p:spPr>
          <a:xfrm>
            <a:off x="548640" y="4960112"/>
            <a:ext cx="2635758" cy="1330960"/>
          </a:xfrm>
          <a:prstGeom prst="roundRect">
            <a:avLst>
              <a:gd name="adj" fmla="val 5496"/>
            </a:avLst>
          </a:prstGeom>
          <a:solidFill>
            <a:schemeClr val="bg1"/>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34" name="tag"/>
          <p:cNvSpPr/>
          <p:nvPr/>
        </p:nvSpPr>
        <p:spPr>
          <a:xfrm>
            <a:off x="658368" y="5051552"/>
            <a:ext cx="662483"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300</a:t>
            </a:r>
            <a:endParaRPr lang="en-US" sz="1100" dirty="0"/>
          </a:p>
        </p:txBody>
      </p:sp>
      <p:sp>
        <p:nvSpPr>
          <p:cNvPr id="35" name="Text 31"/>
          <p:cNvSpPr txBox="1"/>
          <p:nvPr/>
        </p:nvSpPr>
        <p:spPr>
          <a:xfrm>
            <a:off x="685800" y="532587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Spreek drie onmogelijke wensen uit.</a:t>
            </a:r>
            <a:endParaRPr lang="en-US" sz="1600" dirty="0"/>
          </a:p>
        </p:txBody>
      </p:sp>
      <p:sp>
        <p:nvSpPr>
          <p:cNvPr id="36" name="Shape 32"/>
          <p:cNvSpPr/>
          <p:nvPr/>
        </p:nvSpPr>
        <p:spPr>
          <a:xfrm>
            <a:off x="3367278" y="4960112"/>
            <a:ext cx="2635758" cy="1330960"/>
          </a:xfrm>
          <a:prstGeom prst="roundRect">
            <a:avLst>
              <a:gd name="adj" fmla="val 5496"/>
            </a:avLst>
          </a:prstGeom>
          <a:solidFill>
            <a:schemeClr val="bg1"/>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37" name="tag"/>
          <p:cNvSpPr/>
          <p:nvPr/>
        </p:nvSpPr>
        <p:spPr>
          <a:xfrm>
            <a:off x="3477006" y="5051552"/>
            <a:ext cx="662483"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300</a:t>
            </a:r>
            <a:endParaRPr lang="en-US" sz="1100" dirty="0"/>
          </a:p>
        </p:txBody>
      </p:sp>
      <p:sp>
        <p:nvSpPr>
          <p:cNvPr id="38" name="Text 34"/>
          <p:cNvSpPr txBox="1"/>
          <p:nvPr/>
        </p:nvSpPr>
        <p:spPr>
          <a:xfrm>
            <a:off x="3504438" y="532587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Welke regels zijn er in jouw bedrijf?</a:t>
            </a:r>
            <a:endParaRPr lang="en-US" sz="1600" dirty="0"/>
          </a:p>
        </p:txBody>
      </p:sp>
      <p:sp>
        <p:nvSpPr>
          <p:cNvPr id="39" name="Shape 35"/>
          <p:cNvSpPr/>
          <p:nvPr/>
        </p:nvSpPr>
        <p:spPr>
          <a:xfrm>
            <a:off x="6185916" y="4960112"/>
            <a:ext cx="2635758" cy="1330960"/>
          </a:xfrm>
          <a:prstGeom prst="roundRect">
            <a:avLst>
              <a:gd name="adj" fmla="val 5496"/>
            </a:avLst>
          </a:prstGeom>
          <a:solidFill>
            <a:schemeClr val="bg1"/>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40" name="tag"/>
          <p:cNvSpPr/>
          <p:nvPr/>
        </p:nvSpPr>
        <p:spPr>
          <a:xfrm>
            <a:off x="6295644" y="5051552"/>
            <a:ext cx="662483"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300</a:t>
            </a:r>
            <a:endParaRPr lang="en-US" sz="1100" dirty="0"/>
          </a:p>
        </p:txBody>
      </p:sp>
      <p:sp>
        <p:nvSpPr>
          <p:cNvPr id="41" name="Text 37"/>
          <p:cNvSpPr txBox="1"/>
          <p:nvPr/>
        </p:nvSpPr>
        <p:spPr>
          <a:xfrm>
            <a:off x="6323076" y="532587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Welke taal wil je nog leren, en waarom?</a:t>
            </a:r>
            <a:endParaRPr lang="en-US" sz="1600" dirty="0"/>
          </a:p>
        </p:txBody>
      </p:sp>
      <p:sp>
        <p:nvSpPr>
          <p:cNvPr id="42" name="Shape 38"/>
          <p:cNvSpPr/>
          <p:nvPr/>
        </p:nvSpPr>
        <p:spPr>
          <a:xfrm>
            <a:off x="9004554" y="4960112"/>
            <a:ext cx="2635758" cy="1330960"/>
          </a:xfrm>
          <a:prstGeom prst="roundRect">
            <a:avLst>
              <a:gd name="adj" fmla="val 5496"/>
            </a:avLst>
          </a:prstGeom>
          <a:solidFill>
            <a:schemeClr val="bg1"/>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43" name="tag"/>
          <p:cNvSpPr/>
          <p:nvPr/>
        </p:nvSpPr>
        <p:spPr>
          <a:xfrm>
            <a:off x="9114282" y="5051552"/>
            <a:ext cx="662483" cy="274320"/>
          </a:xfrm>
          <a:prstGeom prst="roundRect">
            <a:avLst>
              <a:gd name="adj" fmla="val 16667"/>
            </a:avLst>
          </a:prstGeom>
          <a:solidFill>
            <a:schemeClr val="accent4"/>
          </a:solidFill>
          <a:ln/>
        </p:spPr>
        <p:txBody>
          <a:bodyPr wrap="square" lIns="0" tIns="0" rIns="0" bIns="0" rtlCol="0" anchor="ctr"/>
          <a:lstStyle/>
          <a:p>
            <a:pPr algn="ctr" indent="0" marL="0">
              <a:buNone/>
            </a:pPr>
            <a:r>
              <a:rPr lang="en-US" sz="1100" b="1" spc="100" kern="0" dirty="0">
                <a:solidFill>
                  <a:srgbClr val="FFFFFF"/>
                </a:solidFill>
              </a:rPr>
              <a:t>300</a:t>
            </a:r>
            <a:endParaRPr lang="en-US" sz="1100" dirty="0"/>
          </a:p>
        </p:txBody>
      </p:sp>
      <p:sp>
        <p:nvSpPr>
          <p:cNvPr id="44" name="Text 40"/>
          <p:cNvSpPr txBox="1"/>
          <p:nvPr/>
        </p:nvSpPr>
        <p:spPr>
          <a:xfrm>
            <a:off x="9141714" y="5325872"/>
            <a:ext cx="2361438" cy="919480"/>
          </a:xfrm>
          <a:prstGeom prst="rect">
            <a:avLst/>
          </a:prstGeom>
          <a:noFill/>
          <a:ln/>
        </p:spPr>
        <p:txBody>
          <a:bodyPr wrap="square" lIns="0" tIns="0" rIns="0" bIns="0" rtlCol="0" anchor="ctr"/>
          <a:lstStyle/>
          <a:p>
            <a:pPr algn="ctr" indent="0" marL="0">
              <a:buNone/>
            </a:pPr>
            <a:r>
              <a:rPr lang="en-US" sz="1600" i="1" dirty="0">
                <a:solidFill>
                  <a:schemeClr val="tx1"/>
                </a:solidFill>
              </a:rPr>
              <a:t>Wat kun je doen voor een gezond leven?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Wie weet het meest?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60020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685800" y="1737360"/>
            <a:ext cx="411480" cy="411480"/>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34440" y="164592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Wat mag je niet doen in de klas?</a:t>
            </a:r>
            <a:endParaRPr lang="en-US" sz="1700" dirty="0"/>
          </a:p>
        </p:txBody>
      </p:sp>
      <p:sp>
        <p:nvSpPr>
          <p:cNvPr id="10" name="Shape 7"/>
          <p:cNvSpPr/>
          <p:nvPr/>
        </p:nvSpPr>
        <p:spPr>
          <a:xfrm>
            <a:off x="4754880" y="160020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892040" y="1737360"/>
            <a:ext cx="411480" cy="411480"/>
          </a:xfrm>
          <a:prstGeom prst="ellipse">
            <a:avLst/>
          </a:prstGeom>
          <a:solidFill>
            <a:schemeClr val="accent1"/>
          </a:solidFill>
          <a:ln w="12700">
            <a:solidFill>
              <a:srgbClr val="FFFFFF">
                <a:alpha val="0"/>
              </a:srgbClr>
            </a:solidFill>
            <a:prstDash val="solid"/>
          </a:ln>
        </p:spPr>
      </p:sp>
      <p:sp>
        <p:nvSpPr>
          <p:cNvPr id="12" name="Text 9"/>
          <p:cNvSpPr txBox="1"/>
          <p:nvPr/>
        </p:nvSpPr>
        <p:spPr>
          <a:xfrm>
            <a:off x="4892040"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440680" y="164592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Wat moet je altijd meenemen naar het werk?</a:t>
            </a:r>
            <a:endParaRPr lang="en-US" sz="1700" dirty="0"/>
          </a:p>
        </p:txBody>
      </p:sp>
      <p:sp>
        <p:nvSpPr>
          <p:cNvPr id="14" name="Shape 11"/>
          <p:cNvSpPr/>
          <p:nvPr/>
        </p:nvSpPr>
        <p:spPr>
          <a:xfrm>
            <a:off x="548640" y="301752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5" name="Shape 12"/>
          <p:cNvSpPr/>
          <p:nvPr/>
        </p:nvSpPr>
        <p:spPr>
          <a:xfrm>
            <a:off x="685800" y="3154680"/>
            <a:ext cx="411480" cy="411480"/>
          </a:xfrm>
          <a:prstGeom prst="ellipse">
            <a:avLst/>
          </a:prstGeom>
          <a:solidFill>
            <a:schemeClr val="accent1"/>
          </a:solidFill>
          <a:ln w="12700">
            <a:solidFill>
              <a:srgbClr val="FFFFFF">
                <a:alpha val="0"/>
              </a:srgbClr>
            </a:solidFill>
            <a:prstDash val="solid"/>
          </a:ln>
        </p:spPr>
      </p:sp>
      <p:sp>
        <p:nvSpPr>
          <p:cNvPr id="16" name="Text 13"/>
          <p:cNvSpPr txBox="1"/>
          <p:nvPr/>
        </p:nvSpPr>
        <p:spPr>
          <a:xfrm>
            <a:off x="685800" y="3154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234440" y="306324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Wat kun je in het weekend in Brussel doen?</a:t>
            </a:r>
            <a:endParaRPr lang="en-US" sz="1700" dirty="0"/>
          </a:p>
        </p:txBody>
      </p:sp>
      <p:sp>
        <p:nvSpPr>
          <p:cNvPr id="18" name="Shape 15"/>
          <p:cNvSpPr/>
          <p:nvPr/>
        </p:nvSpPr>
        <p:spPr>
          <a:xfrm>
            <a:off x="4754880" y="301752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9" name="Shape 16"/>
          <p:cNvSpPr/>
          <p:nvPr/>
        </p:nvSpPr>
        <p:spPr>
          <a:xfrm>
            <a:off x="4892040" y="3154680"/>
            <a:ext cx="411480" cy="411480"/>
          </a:xfrm>
          <a:prstGeom prst="ellipse">
            <a:avLst/>
          </a:prstGeom>
          <a:solidFill>
            <a:schemeClr val="accent1"/>
          </a:solidFill>
          <a:ln w="12700">
            <a:solidFill>
              <a:srgbClr val="FFFFFF">
                <a:alpha val="0"/>
              </a:srgbClr>
            </a:solidFill>
            <a:prstDash val="solid"/>
          </a:ln>
        </p:spPr>
      </p:sp>
      <p:sp>
        <p:nvSpPr>
          <p:cNvPr id="20" name="Text 17"/>
          <p:cNvSpPr txBox="1"/>
          <p:nvPr/>
        </p:nvSpPr>
        <p:spPr>
          <a:xfrm>
            <a:off x="4892040" y="3154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5440680" y="306324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Hoe kun je thuis energie besparen?</a:t>
            </a:r>
            <a:endParaRPr lang="en-US" sz="1700" dirty="0"/>
          </a:p>
        </p:txBody>
      </p:sp>
      <p:sp>
        <p:nvSpPr>
          <p:cNvPr id="22" name="Shape 19"/>
          <p:cNvSpPr/>
          <p:nvPr/>
        </p:nvSpPr>
        <p:spPr>
          <a:xfrm>
            <a:off x="548640" y="443484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3" name="Shape 20"/>
          <p:cNvSpPr/>
          <p:nvPr/>
        </p:nvSpPr>
        <p:spPr>
          <a:xfrm>
            <a:off x="685800" y="4572000"/>
            <a:ext cx="411480" cy="411480"/>
          </a:xfrm>
          <a:prstGeom prst="ellipse">
            <a:avLst/>
          </a:prstGeom>
          <a:solidFill>
            <a:schemeClr val="accent1"/>
          </a:solidFill>
          <a:ln w="12700">
            <a:solidFill>
              <a:srgbClr val="FFFFFF">
                <a:alpha val="0"/>
              </a:srgbClr>
            </a:solidFill>
            <a:prstDash val="solid"/>
          </a:ln>
        </p:spPr>
      </p:sp>
      <p:sp>
        <p:nvSpPr>
          <p:cNvPr id="24" name="Text 21"/>
          <p:cNvSpPr txBox="1"/>
          <p:nvPr/>
        </p:nvSpPr>
        <p:spPr>
          <a:xfrm>
            <a:off x="68580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2"/>
          <p:cNvSpPr txBox="1"/>
          <p:nvPr/>
        </p:nvSpPr>
        <p:spPr>
          <a:xfrm>
            <a:off x="1234440" y="448056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Welke documenten moet je in de auto hebben?</a:t>
            </a:r>
            <a:endParaRPr lang="en-US" sz="1700" dirty="0"/>
          </a:p>
        </p:txBody>
      </p:sp>
      <p:sp>
        <p:nvSpPr>
          <p:cNvPr id="26" name="Shape 23"/>
          <p:cNvSpPr/>
          <p:nvPr/>
        </p:nvSpPr>
        <p:spPr>
          <a:xfrm>
            <a:off x="4754880" y="4434840"/>
            <a:ext cx="4023360" cy="1234440"/>
          </a:xfrm>
          <a:prstGeom prst="roundRect">
            <a:avLst>
              <a:gd name="adj" fmla="val 592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7" name="Shape 24"/>
          <p:cNvSpPr/>
          <p:nvPr/>
        </p:nvSpPr>
        <p:spPr>
          <a:xfrm>
            <a:off x="4892040" y="4572000"/>
            <a:ext cx="411480" cy="411480"/>
          </a:xfrm>
          <a:prstGeom prst="ellipse">
            <a:avLst/>
          </a:prstGeom>
          <a:solidFill>
            <a:schemeClr val="accent1"/>
          </a:solidFill>
          <a:ln w="12700">
            <a:solidFill>
              <a:srgbClr val="FFFFFF">
                <a:alpha val="0"/>
              </a:srgbClr>
            </a:solidFill>
            <a:prstDash val="solid"/>
          </a:ln>
        </p:spPr>
      </p:sp>
      <p:sp>
        <p:nvSpPr>
          <p:cNvPr id="28" name="Text 25"/>
          <p:cNvSpPr txBox="1"/>
          <p:nvPr/>
        </p:nvSpPr>
        <p:spPr>
          <a:xfrm>
            <a:off x="489204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9" name="Text 26"/>
          <p:cNvSpPr txBox="1"/>
          <p:nvPr/>
        </p:nvSpPr>
        <p:spPr>
          <a:xfrm>
            <a:off x="5440680" y="4480560"/>
            <a:ext cx="3246120" cy="1143000"/>
          </a:xfrm>
          <a:prstGeom prst="rect">
            <a:avLst/>
          </a:prstGeom>
          <a:noFill/>
          <a:ln/>
        </p:spPr>
        <p:txBody>
          <a:bodyPr wrap="square" lIns="0" tIns="0" rIns="0" bIns="0" rtlCol="0" anchor="ctr"/>
          <a:lstStyle/>
          <a:p>
            <a:pPr algn="l" indent="0" marL="0">
              <a:buNone/>
            </a:pPr>
            <a:r>
              <a:rPr lang="en-US" sz="1700" i="1" dirty="0">
                <a:solidFill>
                  <a:schemeClr val="tx1"/>
                </a:solidFill>
              </a:rPr>
              <a:t>Wat wil je dit jaar nog leren?</a:t>
            </a:r>
            <a:endParaRPr lang="en-US" sz="1700" dirty="0"/>
          </a:p>
        </p:txBody>
      </p:sp>
      <p:pic>
        <p:nvPicPr>
          <p:cNvPr id="30" name="Image 0" descr="stopwatch">    </p:cNvPr>
          <p:cNvPicPr>
            <a:picLocks noChangeAspect="1"/>
          </p:cNvPicPr>
          <p:nvPr/>
        </p:nvPicPr>
        <p:blipFill>
          <a:blip r:embed="rId1"/>
          <a:stretch>
            <a:fillRect/>
          </a:stretch>
        </p:blipFill>
        <p:spPr>
          <a:xfrm>
            <a:off x="9144000" y="1645920"/>
            <a:ext cx="1280160" cy="1280160"/>
          </a:xfrm>
          <a:prstGeom prst="rect">
            <a:avLst/>
          </a:prstGeom>
        </p:spPr>
      </p:pic>
      <p:sp>
        <p:nvSpPr>
          <p:cNvPr id="31" name="Text 27"/>
          <p:cNvSpPr txBox="1"/>
          <p:nvPr/>
        </p:nvSpPr>
        <p:spPr>
          <a:xfrm>
            <a:off x="10607040" y="1920240"/>
            <a:ext cx="1005840" cy="731520"/>
          </a:xfrm>
          <a:prstGeom prst="rect">
            <a:avLst/>
          </a:prstGeom>
          <a:noFill/>
          <a:ln/>
        </p:spPr>
        <p:txBody>
          <a:bodyPr wrap="square" lIns="0" tIns="0" rIns="0" bIns="0" rtlCol="0" anchor="ctr"/>
          <a:lstStyle/>
          <a:p>
            <a:pPr algn="l" indent="0" marL="0">
              <a:buNone/>
            </a:pPr>
            <a:r>
              <a:rPr lang="en-US" sz="2600" b="1" dirty="0">
                <a:solidFill>
                  <a:schemeClr val="accent1"/>
                </a:solidFill>
              </a:rPr>
              <a:t>90 s</a:t>
            </a:r>
            <a:endParaRPr lang="en-US" sz="2600" dirty="0"/>
          </a:p>
        </p:txBody>
      </p:sp>
      <p:sp>
        <p:nvSpPr>
          <p:cNvPr id="32" name="Text 28"/>
          <p:cNvSpPr txBox="1"/>
          <p:nvPr/>
        </p:nvSpPr>
        <p:spPr>
          <a:xfrm>
            <a:off x="9006840" y="3154680"/>
            <a:ext cx="2633472" cy="3108960"/>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Par équipes</a:t>
            </a:r>
            <a:r>
              <a:rPr lang="en-US" sz="1600" dirty="0">
                <a:solidFill>
                  <a:schemeClr val="tx1"/>
                </a:solidFill>
              </a:rPr>
              <a:t> : un maximum de réponses en 90 secondes.</a:t>
            </a:r>
            <a:endParaRPr lang="en-US" sz="1600" dirty="0"/>
          </a:p>
          <a:p>
            <a:pPr algn="l" indent="0" marL="0">
              <a:spcAft>
                <a:spcPts val="1000"/>
              </a:spcAft>
              <a:buNone/>
            </a:pPr>
            <a:r>
              <a:rPr lang="en-US" sz="1600" b="1" dirty="0">
                <a:solidFill>
                  <a:schemeClr val="tx1"/>
                </a:solidFill>
              </a:rPr>
              <a:t>1 point</a:t>
            </a:r>
            <a:r>
              <a:rPr lang="en-US" sz="1600" dirty="0">
                <a:solidFill>
                  <a:schemeClr val="tx1"/>
                </a:solidFill>
              </a:rPr>
              <a:t> par phrase correcte.</a:t>
            </a:r>
            <a:endParaRPr lang="en-US" sz="1600" dirty="0"/>
          </a:p>
          <a:p>
            <a:pPr algn="l" indent="0" marL="0">
              <a:spcAft>
                <a:spcPts val="1000"/>
              </a:spcAft>
              <a:buNone/>
            </a:pPr>
            <a:r>
              <a:rPr lang="en-US" sz="1600" dirty="0">
                <a:solidFill>
                  <a:schemeClr val="tx1"/>
                </a:solidFill>
              </a:rPr>
              <a:t>Ex. : </a:t>
            </a:r>
            <a:r>
              <a:rPr lang="en-US" sz="1600" i="1" dirty="0">
                <a:solidFill>
                  <a:schemeClr val="tx1"/>
                </a:solidFill>
              </a:rPr>
              <a:t>Je moet je badge meenemen.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Le premier jour chez Peeters &amp; Co</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3488436" cy="3026664"/>
          </a:xfrm>
          <a:prstGeom prst="roundRect">
            <a:avLst>
              <a:gd name="adj" fmla="val 2417"/>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13232" y="1618488"/>
            <a:ext cx="457200" cy="457200"/>
          </a:xfrm>
          <a:prstGeom prst="ellipse">
            <a:avLst/>
          </a:prstGeom>
          <a:solidFill>
            <a:schemeClr val="accent2"/>
          </a:solidFill>
          <a:ln w="12700">
            <a:solidFill>
              <a:srgbClr val="FFFFFF">
                <a:alpha val="0"/>
              </a:srgbClr>
            </a:solidFill>
            <a:prstDash val="solid"/>
          </a:ln>
        </p:spPr>
      </p:sp>
      <p:sp>
        <p:nvSpPr>
          <p:cNvPr id="8" name="Text 5"/>
          <p:cNvSpPr txBox="1"/>
          <p:nvPr/>
        </p:nvSpPr>
        <p:spPr>
          <a:xfrm>
            <a:off x="713232"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Text 6"/>
          <p:cNvSpPr txBox="1"/>
          <p:nvPr/>
        </p:nvSpPr>
        <p:spPr>
          <a:xfrm>
            <a:off x="1325880"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Nouvel·le employé·e</a:t>
            </a:r>
            <a:r>
              <a:rPr lang="en-US" sz="1700" dirty="0">
                <a:solidFill>
                  <a:schemeClr val="tx1"/>
                </a:solidFill>
              </a:rPr>
              <a:t> : posez 5 questions sur les règles (télétravail, badge, parking, horaires, repas).</a:t>
            </a:r>
            <a:endParaRPr lang="en-US" sz="1700" dirty="0"/>
          </a:p>
        </p:txBody>
      </p:sp>
      <p:sp>
        <p:nvSpPr>
          <p:cNvPr id="10" name="Shape 7"/>
          <p:cNvSpPr/>
          <p:nvPr/>
        </p:nvSpPr>
        <p:spPr>
          <a:xfrm>
            <a:off x="4311396" y="1481328"/>
            <a:ext cx="3488436" cy="3026664"/>
          </a:xfrm>
          <a:prstGeom prst="roundRect">
            <a:avLst>
              <a:gd name="adj" fmla="val 2417"/>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475988" y="1618488"/>
            <a:ext cx="457200" cy="457200"/>
          </a:xfrm>
          <a:prstGeom prst="ellipse">
            <a:avLst/>
          </a:prstGeom>
          <a:solidFill>
            <a:srgbClr val="6E4A9E"/>
          </a:solidFill>
          <a:ln w="12700">
            <a:solidFill>
              <a:srgbClr val="FFFFFF">
                <a:alpha val="0"/>
              </a:srgbClr>
            </a:solidFill>
            <a:prstDash val="solid"/>
          </a:ln>
        </p:spPr>
      </p:sp>
      <p:sp>
        <p:nvSpPr>
          <p:cNvPr id="12" name="Text 9"/>
          <p:cNvSpPr txBox="1"/>
          <p:nvPr/>
        </p:nvSpPr>
        <p:spPr>
          <a:xfrm>
            <a:off x="4475988"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Text 10"/>
          <p:cNvSpPr txBox="1"/>
          <p:nvPr/>
        </p:nvSpPr>
        <p:spPr>
          <a:xfrm>
            <a:off x="5088636"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Sofie (RH)</a:t>
            </a:r>
            <a:r>
              <a:rPr lang="en-US" sz="1700" dirty="0">
                <a:solidFill>
                  <a:schemeClr val="tx1"/>
                </a:solidFill>
              </a:rPr>
              <a:t> : répondez à l’aide du document.</a:t>
            </a:r>
            <a:endParaRPr lang="en-US" sz="1700" dirty="0"/>
          </a:p>
        </p:txBody>
      </p:sp>
      <p:sp>
        <p:nvSpPr>
          <p:cNvPr id="14" name="Shape 11"/>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5" name="Text 12"/>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6" name="Text 13"/>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Mag ik…? · Moet ik…? · Kan ik…? · Ja, dat mag. · Nee, dat mag niet. · Ja, dat moet.</a:t>
            </a:r>
            <a:endParaRPr lang="en-US" sz="1600" dirty="0"/>
          </a:p>
        </p:txBody>
      </p:sp>
      <p:sp>
        <p:nvSpPr>
          <p:cNvPr id="17" name="Shape 14"/>
          <p:cNvSpPr/>
          <p:nvPr/>
        </p:nvSpPr>
        <p:spPr>
          <a:xfrm>
            <a:off x="8074152" y="1481328"/>
            <a:ext cx="3566160" cy="4809744"/>
          </a:xfrm>
          <a:prstGeom prst="roundRect">
            <a:avLst>
              <a:gd name="adj" fmla="val 1026"/>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8" name="Shape 15"/>
          <p:cNvSpPr/>
          <p:nvPr/>
        </p:nvSpPr>
        <p:spPr>
          <a:xfrm>
            <a:off x="8074152" y="1481328"/>
            <a:ext cx="3566160" cy="548640"/>
          </a:xfrm>
          <a:prstGeom prst="roundRect">
            <a:avLst>
              <a:gd name="adj" fmla="val 6667"/>
            </a:avLst>
          </a:prstGeom>
          <a:solidFill>
            <a:schemeClr val="tx2"/>
          </a:solidFill>
          <a:ln w="12700">
            <a:solidFill>
              <a:srgbClr val="FFFFFF">
                <a:alpha val="0"/>
              </a:srgbClr>
            </a:solidFill>
            <a:prstDash val="solid"/>
          </a:ln>
        </p:spPr>
      </p:sp>
      <p:sp>
        <p:nvSpPr>
          <p:cNvPr id="19" name="Text 16"/>
          <p:cNvSpPr txBox="1"/>
          <p:nvPr/>
        </p:nvSpPr>
        <p:spPr>
          <a:xfrm>
            <a:off x="8211312" y="1481328"/>
            <a:ext cx="3291840" cy="548640"/>
          </a:xfrm>
          <a:prstGeom prst="rect">
            <a:avLst/>
          </a:prstGeom>
          <a:noFill/>
          <a:ln/>
        </p:spPr>
        <p:txBody>
          <a:bodyPr wrap="square" lIns="0" tIns="0" rIns="0" bIns="0" rtlCol="0" anchor="ctr"/>
          <a:lstStyle/>
          <a:p>
            <a:pPr algn="l" indent="0" marL="0">
              <a:buNone/>
            </a:pPr>
            <a:r>
              <a:rPr lang="en-US" sz="1400" b="1" dirty="0">
                <a:solidFill>
                  <a:schemeClr val="bg1"/>
                </a:solidFill>
              </a:rPr>
              <a:t>Huisregels Peeters &amp; Co</a:t>
            </a:r>
            <a:endParaRPr lang="en-US" sz="1400" dirty="0"/>
          </a:p>
        </p:txBody>
      </p:sp>
      <p:pic>
        <p:nvPicPr>
          <p:cNvPr id="20" name="Image 0" descr="identification card">    </p:cNvPr>
          <p:cNvPicPr>
            <a:picLocks noChangeAspect="1"/>
          </p:cNvPicPr>
          <p:nvPr/>
        </p:nvPicPr>
        <p:blipFill>
          <a:blip r:embed="rId1"/>
          <a:stretch>
            <a:fillRect/>
          </a:stretch>
        </p:blipFill>
        <p:spPr>
          <a:xfrm>
            <a:off x="8211312" y="2258568"/>
            <a:ext cx="457200" cy="457200"/>
          </a:xfrm>
          <a:prstGeom prst="rect">
            <a:avLst/>
          </a:prstGeom>
        </p:spPr>
      </p:pic>
      <p:sp>
        <p:nvSpPr>
          <p:cNvPr id="21" name="Text 17"/>
          <p:cNvSpPr txBox="1"/>
          <p:nvPr/>
        </p:nvSpPr>
        <p:spPr>
          <a:xfrm>
            <a:off x="8805672" y="2167128"/>
            <a:ext cx="2697480" cy="806501"/>
          </a:xfrm>
          <a:prstGeom prst="rect">
            <a:avLst/>
          </a:prstGeom>
          <a:noFill/>
          <a:ln/>
        </p:spPr>
        <p:txBody>
          <a:bodyPr wrap="square" lIns="0" tIns="0" rIns="0" bIns="0" rtlCol="0" anchor="ctr"/>
          <a:lstStyle/>
          <a:p>
            <a:pPr algn="l" indent="0" marL="0">
              <a:buNone/>
            </a:pPr>
            <a:r>
              <a:rPr lang="en-US" sz="1400" i="1" dirty="0">
                <a:solidFill>
                  <a:schemeClr val="tx1"/>
                </a:solidFill>
              </a:rPr>
              <a:t>Je moet je badge altijd dragen.</a:t>
            </a:r>
            <a:endParaRPr lang="en-US" sz="1400" dirty="0"/>
          </a:p>
        </p:txBody>
      </p:sp>
      <p:pic>
        <p:nvPicPr>
          <p:cNvPr id="22" name="Image 1" descr="house">    </p:cNvPr>
          <p:cNvPicPr>
            <a:picLocks noChangeAspect="1"/>
          </p:cNvPicPr>
          <p:nvPr/>
        </p:nvPicPr>
        <p:blipFill>
          <a:blip r:embed="rId2"/>
          <a:stretch>
            <a:fillRect/>
          </a:stretch>
        </p:blipFill>
        <p:spPr>
          <a:xfrm>
            <a:off x="8211312" y="3065069"/>
            <a:ext cx="457200" cy="457200"/>
          </a:xfrm>
          <a:prstGeom prst="rect">
            <a:avLst/>
          </a:prstGeom>
        </p:spPr>
      </p:pic>
      <p:sp>
        <p:nvSpPr>
          <p:cNvPr id="23" name="Text 18"/>
          <p:cNvSpPr txBox="1"/>
          <p:nvPr/>
        </p:nvSpPr>
        <p:spPr>
          <a:xfrm>
            <a:off x="8805672" y="2973629"/>
            <a:ext cx="2697480" cy="806501"/>
          </a:xfrm>
          <a:prstGeom prst="rect">
            <a:avLst/>
          </a:prstGeom>
          <a:noFill/>
          <a:ln/>
        </p:spPr>
        <p:txBody>
          <a:bodyPr wrap="square" lIns="0" tIns="0" rIns="0" bIns="0" rtlCol="0" anchor="ctr"/>
          <a:lstStyle/>
          <a:p>
            <a:pPr algn="l" indent="0" marL="0">
              <a:buNone/>
            </a:pPr>
            <a:r>
              <a:rPr lang="en-US" sz="1400" i="1" dirty="0">
                <a:solidFill>
                  <a:schemeClr val="tx1"/>
                </a:solidFill>
              </a:rPr>
              <a:t>Je mag twee dagen per week thuiswerken.</a:t>
            </a:r>
            <a:endParaRPr lang="en-US" sz="1400" dirty="0"/>
          </a:p>
        </p:txBody>
      </p:sp>
      <p:pic>
        <p:nvPicPr>
          <p:cNvPr id="24" name="Image 2" descr="automobile">    </p:cNvPr>
          <p:cNvPicPr>
            <a:picLocks noChangeAspect="1"/>
          </p:cNvPicPr>
          <p:nvPr/>
        </p:nvPicPr>
        <p:blipFill>
          <a:blip r:embed="rId3"/>
          <a:stretch>
            <a:fillRect/>
          </a:stretch>
        </p:blipFill>
        <p:spPr>
          <a:xfrm>
            <a:off x="8211312" y="3871570"/>
            <a:ext cx="457200" cy="457200"/>
          </a:xfrm>
          <a:prstGeom prst="rect">
            <a:avLst/>
          </a:prstGeom>
        </p:spPr>
      </p:pic>
      <p:sp>
        <p:nvSpPr>
          <p:cNvPr id="25" name="Text 19"/>
          <p:cNvSpPr txBox="1"/>
          <p:nvPr/>
        </p:nvSpPr>
        <p:spPr>
          <a:xfrm>
            <a:off x="8805672" y="3780130"/>
            <a:ext cx="2697480" cy="806501"/>
          </a:xfrm>
          <a:prstGeom prst="rect">
            <a:avLst/>
          </a:prstGeom>
          <a:noFill/>
          <a:ln/>
        </p:spPr>
        <p:txBody>
          <a:bodyPr wrap="square" lIns="0" tIns="0" rIns="0" bIns="0" rtlCol="0" anchor="ctr"/>
          <a:lstStyle/>
          <a:p>
            <a:pPr algn="l" indent="0" marL="0">
              <a:buNone/>
            </a:pPr>
            <a:r>
              <a:rPr lang="en-US" sz="1400" i="1" dirty="0">
                <a:solidFill>
                  <a:schemeClr val="tx1"/>
                </a:solidFill>
              </a:rPr>
              <a:t>Je kunt in de garage parkeren.</a:t>
            </a:r>
            <a:endParaRPr lang="en-US" sz="1400" dirty="0"/>
          </a:p>
        </p:txBody>
      </p:sp>
      <p:pic>
        <p:nvPicPr>
          <p:cNvPr id="26" name="Image 3" descr="alarm clock">    </p:cNvPr>
          <p:cNvPicPr>
            <a:picLocks noChangeAspect="1"/>
          </p:cNvPicPr>
          <p:nvPr/>
        </p:nvPicPr>
        <p:blipFill>
          <a:blip r:embed="rId4"/>
          <a:stretch>
            <a:fillRect/>
          </a:stretch>
        </p:blipFill>
        <p:spPr>
          <a:xfrm>
            <a:off x="8211312" y="4678070"/>
            <a:ext cx="457200" cy="457200"/>
          </a:xfrm>
          <a:prstGeom prst="rect">
            <a:avLst/>
          </a:prstGeom>
        </p:spPr>
      </p:pic>
      <p:sp>
        <p:nvSpPr>
          <p:cNvPr id="27" name="Text 20"/>
          <p:cNvSpPr txBox="1"/>
          <p:nvPr/>
        </p:nvSpPr>
        <p:spPr>
          <a:xfrm>
            <a:off x="8805672" y="4586630"/>
            <a:ext cx="2697480" cy="806501"/>
          </a:xfrm>
          <a:prstGeom prst="rect">
            <a:avLst/>
          </a:prstGeom>
          <a:noFill/>
          <a:ln/>
        </p:spPr>
        <p:txBody>
          <a:bodyPr wrap="square" lIns="0" tIns="0" rIns="0" bIns="0" rtlCol="0" anchor="ctr"/>
          <a:lstStyle/>
          <a:p>
            <a:pPr algn="l" indent="0" marL="0">
              <a:buNone/>
            </a:pPr>
            <a:r>
              <a:rPr lang="en-US" sz="1400" i="1" dirty="0">
                <a:solidFill>
                  <a:schemeClr val="tx1"/>
                </a:solidFill>
              </a:rPr>
              <a:t>Je moet om 9 uur beginnen.</a:t>
            </a:r>
            <a:endParaRPr lang="en-US" sz="1400" dirty="0"/>
          </a:p>
        </p:txBody>
      </p:sp>
      <p:pic>
        <p:nvPicPr>
          <p:cNvPr id="28" name="Image 4" descr="fork and knife">    </p:cNvPr>
          <p:cNvPicPr>
            <a:picLocks noChangeAspect="1"/>
          </p:cNvPicPr>
          <p:nvPr/>
        </p:nvPicPr>
        <p:blipFill>
          <a:blip r:embed="rId5"/>
          <a:stretch>
            <a:fillRect/>
          </a:stretch>
        </p:blipFill>
        <p:spPr>
          <a:xfrm>
            <a:off x="8211312" y="5484571"/>
            <a:ext cx="457200" cy="457200"/>
          </a:xfrm>
          <a:prstGeom prst="rect">
            <a:avLst/>
          </a:prstGeom>
        </p:spPr>
      </p:pic>
      <p:sp>
        <p:nvSpPr>
          <p:cNvPr id="29" name="Text 21"/>
          <p:cNvSpPr txBox="1"/>
          <p:nvPr/>
        </p:nvSpPr>
        <p:spPr>
          <a:xfrm>
            <a:off x="8805672" y="5393131"/>
            <a:ext cx="2697480" cy="806501"/>
          </a:xfrm>
          <a:prstGeom prst="rect">
            <a:avLst/>
          </a:prstGeom>
          <a:noFill/>
          <a:ln/>
        </p:spPr>
        <p:txBody>
          <a:bodyPr wrap="square" lIns="0" tIns="0" rIns="0" bIns="0" rtlCol="0" anchor="ctr"/>
          <a:lstStyle/>
          <a:p>
            <a:pPr algn="l" indent="0" marL="0">
              <a:buNone/>
            </a:pPr>
            <a:r>
              <a:rPr lang="en-US" sz="1400" i="1" dirty="0">
                <a:solidFill>
                  <a:schemeClr val="tx1"/>
                </a:solidFill>
              </a:rPr>
              <a:t>Je mag niet aan je bureau eten.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 Puis-je ouvrir la porte ? » en néerlandais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 Je sais cuisiner. » en néerlandais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Remettez en ordre : </a:t>
            </a:r>
            <a:r>
              <a:rPr lang="en-US" sz="2000" i="1" dirty="0">
                <a:solidFill>
                  <a:schemeClr val="tx1"/>
                </a:solidFill>
              </a:rPr>
              <a:t>niet · ik · morgen · komen · kan</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Choisir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Construire</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Demander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an">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Niet of geen?</a:t>
            </a:r>
            <a:r>
              <a:rPr lang="en-US" sz="1800" dirty="0">
                <a:solidFill>
                  <a:schemeClr val="bg1"/>
                </a:solidFill>
              </a:rPr>
              <a:t> — la négation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 — Modale werkwoorden — Pouvoir, vouloir, devoir</dc:title>
  <dc:subject>Néerlandais 1 — Langue en situation, en milieu professionnel</dc:subject>
  <dc:creator>A. Jouniaux</dc:creator>
  <cp:lastModifiedBy>A. Jouniaux</cp:lastModifiedBy>
  <cp:revision>1</cp:revision>
  <dcterms:created xsi:type="dcterms:W3CDTF">2026-10-05T11:25:55Z</dcterms:created>
  <dcterms:modified xsi:type="dcterms:W3CDTF">2026-10-05T11:25:55Z</dcterms:modified>
</cp:coreProperties>
</file>