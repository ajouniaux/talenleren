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9f0ea34e-fcbe-e71d-4948-b4980b23fb0c}">
          <p14:sldIdLst>
            <p14:sldId id="256"/>
          </p14:sldIdLst>
        </p14:section>
        <p14:section name="Découvrir" id="{8db83188-7798-b557-fff9-7f91a3a7718d}">
          <p14:sldIdLst>
            <p14:sldId id="257"/>
            <p14:sldId id="258"/>
          </p14:sldIdLst>
        </p14:section>
        <p14:section name="Comprendre" id="{9cc875a1-7c6e-ff97-3547-407dacb52cea}">
          <p14:sldIdLst>
            <p14:sldId id="259"/>
            <p14:sldId id="260"/>
            <p14:sldId id="261"/>
            <p14:sldId id="262"/>
            <p14:sldId id="263"/>
            <p14:sldId id="264"/>
            <p14:sldId id="265"/>
            <p14:sldId id="266"/>
            <p14:sldId id="267"/>
            <p14:sldId id="268"/>
          </p14:sldIdLst>
        </p14:section>
        <p14:section name="JIJ NU ! — Oefeningen" id="{fb0e2e81-951b-afb0-64b2-691fa3d1b3f2}">
          <p14:sldIdLst>
            <p14:sldId id="269"/>
            <p14:sldId id="270"/>
            <p14:sldId id="271"/>
            <p14:sldId id="272"/>
            <p14:sldId id="273"/>
            <p14:sldId id="274"/>
            <p14:sldId id="275"/>
            <p14:sldId id="276"/>
            <p14:sldId id="277"/>
            <p14:sldId id="278"/>
            <p14:sldId id="279"/>
            <p14:sldId id="280"/>
            <p14:sldId id="281"/>
          </p14:sldIdLst>
        </p14:section>
        <p14:section name="Clôture" id="{5678754a-e731-9f7e-2e34-f48a25daa944}">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4 panneaux familiers.
Question d'entrée : « Comment dit-on je peux en néerlandais ? » Les réponses partagées (kan / mag) lancent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 : la conjugaison a été vue au M4. Aujourd'hui : le bon verbe au bon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le sens des modaux à partir de situations visuelles.
Exemples de l'archive repris (U mag hier niet parkeren, Hier moet iedereen stilstaan). internetten (surfer) est familier ; gratis wifi gebruiken convient aussi.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conjugaison du M4 sans la refaire.
Inversion : Kun je…? / Kan je…? et Wil je…? (le t tombe, M3). Deux minutes maximum : c'est un rappel.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chaque verbe à son sens (archive diapos 3–6, standardisées).
Les quatre phrases viennent de l'archive. stilstaan (s'arrêter) est remplacé par stoppen pour simplifier. Faites mimer les 4 sens (biceps, pouce levé, mains sur le cœur, doigt levé).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capacité / possibilité et permission.
En Flandre, Kan ik…? s'entend aussi pour demander poliment (Kan ik u helpen?). Mais pour une autorisation, Mag ik…? est la forme sûre. Mag ik? seul = « Je peux ? » (en prenant une chaise, par exemple).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weten + infinitif.
Ik kan Nederlands (sans infinitif) = « je parle néerlandais ». Ik weet het niet = « je ne sais pas » : très utile en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l'interdiction correctement.
En Belgique, Je moet niet komen veut dire « tu n'es pas obligé de venir », et non une interdiction. Aux Pays-Bas, on dit plutôt Je hoeft niet te komen. Dans les deux pays, l'interdiction se dit avec niet mogen. hoeven … te est vu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la structure (archive diapo 2, phrases corrigées) avec la négation et la particule.
niet se place juste avant l'infinitif (M13 approfondira). La particule se recolle (M11). Les phrases de l'archive sont remplacées par des phrases correctes et naturelles.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modaux dans les formules de politesse (lien M8).
graag adoucit willen (M8). opendoen est séparable et se recolle (M11). Faites jouer des micro-dialogues de 2 répliques.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et utiliser zullen dans deux emplois fréquents.
zullen sert aussi au futur, mais le néerlandais emploie surtout le présent (Morgen bel ik je) : l'archive (Hij zal 38 uur per week werken) surutilise le futur. Le jeu « Vertel wat je dinsdagavond zal doen » devient « Wat doe je dinsdagavond?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modaux employés seuls, très fréquents à l'oral.
Le verbe de mouvement (gaan) est sous-entendu dans Ik moet naar huis (Ik moet naar huis gaan). À comprendre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tableau est la référence des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Mobiliser le vocabulaire en équipe autour d'un modal (version A1 du deuxième jeu de l'archive).
Réponses possibles au n° 5 : je rijbewijs, je identiteitskaart, de verzekeringspapieren, het inschrijvingsbewijs. Les questions de l'archive avec om … te ou hors sujet sont reformulées.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s'informer sur les règles de l'entreprise.
thuiswerken (télétravailler) et de huisregels (le règlement intérieur) sont des mots composés (M14). Inversez les rôles avec une 2e entreprise fictive.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Mag ik de deur opendoen?
2. Ik kan koken.
3. Ik kan morgen niet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2.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2.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2.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12 / 15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Modale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Pouvoir, vouloir, devoir</a:t>
            </a:r>
            <a:endParaRPr lang="en-US" sz="2000" dirty="0"/>
          </a:p>
          <a:p>
            <a:pPr algn="l" indent="0" marL="0">
              <a:buNone/>
            </a:pPr>
            <a:r>
              <a:rPr lang="en-US" sz="2000" b="1" dirty="0">
                <a:solidFill>
                  <a:srgbClr val="FFFFFF"/>
                </a:solidFill>
              </a:rPr>
              <a:t>kunnen · mogen · willen · moeten</a:t>
            </a:r>
            <a:endParaRPr lang="en-US" sz="2000" dirty="0"/>
          </a:p>
        </p:txBody>
      </p:sp>
      <p:sp>
        <p:nvSpPr>
          <p:cNvPr id="5" name="Shape 3"/>
          <p:cNvSpPr/>
          <p:nvPr/>
        </p:nvSpPr>
        <p:spPr>
          <a:xfrm>
            <a:off x="6949440" y="1188720"/>
            <a:ext cx="2103120" cy="2103120"/>
          </a:xfrm>
          <a:prstGeom prst="ellipse">
            <a:avLst/>
          </a:prstGeom>
          <a:solidFill>
            <a:srgbClr val="FFFFFF"/>
          </a:solidFill>
          <a:ln w="63500">
            <a:solidFill>
              <a:srgbClr val="2A6FB0"/>
            </a:solidFill>
            <a:prstDash val="solid"/>
          </a:ln>
        </p:spPr>
      </p:sp>
      <p:pic>
        <p:nvPicPr>
          <p:cNvPr id="6" name="Image 0" descr="flexed biceps">    </p:cNvPr>
          <p:cNvPicPr>
            <a:picLocks noChangeAspect="1"/>
          </p:cNvPicPr>
          <p:nvPr/>
        </p:nvPicPr>
        <p:blipFill>
          <a:blip r:embed="rId1"/>
          <a:stretch>
            <a:fillRect/>
          </a:stretch>
        </p:blipFill>
        <p:spPr>
          <a:xfrm>
            <a:off x="7475220" y="1441094"/>
            <a:ext cx="1051560" cy="1051560"/>
          </a:xfrm>
          <a:prstGeom prst="rect">
            <a:avLst/>
          </a:prstGeom>
        </p:spPr>
      </p:pic>
      <p:sp>
        <p:nvSpPr>
          <p:cNvPr id="7" name="Text 4"/>
          <p:cNvSpPr txBox="1"/>
          <p:nvPr/>
        </p:nvSpPr>
        <p:spPr>
          <a:xfrm>
            <a:off x="694944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2"/>
                </a:solidFill>
                <a:latin typeface="+mj-lt" pitchFamily="34" charset="0"/>
                <a:ea typeface="+mj-lt" pitchFamily="34" charset="-122"/>
                <a:cs typeface="+mj-lt" pitchFamily="34" charset="-120"/>
              </a:rPr>
              <a:t>kan</a:t>
            </a:r>
            <a:endParaRPr lang="en-US" sz="3700" dirty="0"/>
          </a:p>
        </p:txBody>
      </p:sp>
      <p:sp>
        <p:nvSpPr>
          <p:cNvPr id="8" name="Shape 5"/>
          <p:cNvSpPr/>
          <p:nvPr/>
        </p:nvSpPr>
        <p:spPr>
          <a:xfrm>
            <a:off x="9326880" y="1188720"/>
            <a:ext cx="2103120" cy="2103120"/>
          </a:xfrm>
          <a:prstGeom prst="ellipse">
            <a:avLst/>
          </a:prstGeom>
          <a:solidFill>
            <a:srgbClr val="FFFFFF"/>
          </a:solidFill>
          <a:ln w="63500">
            <a:solidFill>
              <a:srgbClr val="2E7D4F"/>
            </a:solidFill>
            <a:prstDash val="solid"/>
          </a:ln>
        </p:spPr>
      </p:sp>
      <p:pic>
        <p:nvPicPr>
          <p:cNvPr id="9" name="Image 1" descr="check mark button">    </p:cNvPr>
          <p:cNvPicPr>
            <a:picLocks noChangeAspect="1"/>
          </p:cNvPicPr>
          <p:nvPr/>
        </p:nvPicPr>
        <p:blipFill>
          <a:blip r:embed="rId2"/>
          <a:stretch>
            <a:fillRect/>
          </a:stretch>
        </p:blipFill>
        <p:spPr>
          <a:xfrm>
            <a:off x="9852660" y="1441094"/>
            <a:ext cx="1051560" cy="1051560"/>
          </a:xfrm>
          <a:prstGeom prst="rect">
            <a:avLst/>
          </a:prstGeom>
        </p:spPr>
      </p:pic>
      <p:sp>
        <p:nvSpPr>
          <p:cNvPr id="10" name="Text 6"/>
          <p:cNvSpPr txBox="1"/>
          <p:nvPr/>
        </p:nvSpPr>
        <p:spPr>
          <a:xfrm>
            <a:off x="932688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3"/>
                </a:solidFill>
                <a:latin typeface="+mj-lt" pitchFamily="34" charset="0"/>
                <a:ea typeface="+mj-lt" pitchFamily="34" charset="-122"/>
                <a:cs typeface="+mj-lt" pitchFamily="34" charset="-120"/>
              </a:rPr>
              <a:t>mag</a:t>
            </a:r>
            <a:endParaRPr lang="en-US" sz="3700" dirty="0"/>
          </a:p>
        </p:txBody>
      </p:sp>
      <p:sp>
        <p:nvSpPr>
          <p:cNvPr id="11" name="Shape 7"/>
          <p:cNvSpPr/>
          <p:nvPr/>
        </p:nvSpPr>
        <p:spPr>
          <a:xfrm>
            <a:off x="6949440" y="3566160"/>
            <a:ext cx="2103120" cy="2103120"/>
          </a:xfrm>
          <a:prstGeom prst="ellipse">
            <a:avLst/>
          </a:prstGeom>
          <a:solidFill>
            <a:srgbClr val="FFFFFF"/>
          </a:solidFill>
          <a:ln w="63500">
            <a:solidFill>
              <a:srgbClr val="B4236A"/>
            </a:solidFill>
            <a:prstDash val="solid"/>
          </a:ln>
        </p:spPr>
      </p:sp>
      <p:pic>
        <p:nvPicPr>
          <p:cNvPr id="12" name="Image 2" descr="red heart">    </p:cNvPr>
          <p:cNvPicPr>
            <a:picLocks noChangeAspect="1"/>
          </p:cNvPicPr>
          <p:nvPr/>
        </p:nvPicPr>
        <p:blipFill>
          <a:blip r:embed="rId3"/>
          <a:stretch>
            <a:fillRect/>
          </a:stretch>
        </p:blipFill>
        <p:spPr>
          <a:xfrm>
            <a:off x="7475220" y="3818534"/>
            <a:ext cx="1051560" cy="1051560"/>
          </a:xfrm>
          <a:prstGeom prst="rect">
            <a:avLst/>
          </a:prstGeom>
        </p:spPr>
      </p:pic>
      <p:sp>
        <p:nvSpPr>
          <p:cNvPr id="13" name="Text 8"/>
          <p:cNvSpPr txBox="1"/>
          <p:nvPr/>
        </p:nvSpPr>
        <p:spPr>
          <a:xfrm>
            <a:off x="694944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4"/>
                </a:solidFill>
                <a:latin typeface="+mj-lt" pitchFamily="34" charset="0"/>
                <a:ea typeface="+mj-lt" pitchFamily="34" charset="-122"/>
                <a:cs typeface="+mj-lt" pitchFamily="34" charset="-120"/>
              </a:rPr>
              <a:t>wil</a:t>
            </a:r>
            <a:endParaRPr lang="en-US" sz="3700" dirty="0"/>
          </a:p>
        </p:txBody>
      </p:sp>
      <p:sp>
        <p:nvSpPr>
          <p:cNvPr id="14" name="Shape 9"/>
          <p:cNvSpPr/>
          <p:nvPr/>
        </p:nvSpPr>
        <p:spPr>
          <a:xfrm>
            <a:off x="9326880" y="3566160"/>
            <a:ext cx="2103120" cy="2103120"/>
          </a:xfrm>
          <a:prstGeom prst="ellipse">
            <a:avLst/>
          </a:prstGeom>
          <a:solidFill>
            <a:srgbClr val="FFFFFF"/>
          </a:solidFill>
          <a:ln w="63500">
            <a:solidFill>
              <a:srgbClr val="B83227"/>
            </a:solidFill>
            <a:prstDash val="solid"/>
          </a:ln>
        </p:spPr>
      </p:sp>
      <p:pic>
        <p:nvPicPr>
          <p:cNvPr id="15" name="Image 3" descr="stop sign">    </p:cNvPr>
          <p:cNvPicPr>
            <a:picLocks noChangeAspect="1"/>
          </p:cNvPicPr>
          <p:nvPr/>
        </p:nvPicPr>
        <p:blipFill>
          <a:blip r:embed="rId4"/>
          <a:stretch>
            <a:fillRect/>
          </a:stretch>
        </p:blipFill>
        <p:spPr>
          <a:xfrm>
            <a:off x="9852660" y="3818534"/>
            <a:ext cx="1051560" cy="1051560"/>
          </a:xfrm>
          <a:prstGeom prst="rect">
            <a:avLst/>
          </a:prstGeom>
        </p:spPr>
      </p:pic>
      <p:sp>
        <p:nvSpPr>
          <p:cNvPr id="16" name="Text 10"/>
          <p:cNvSpPr txBox="1"/>
          <p:nvPr/>
        </p:nvSpPr>
        <p:spPr>
          <a:xfrm>
            <a:off x="932688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6"/>
                </a:solidFill>
                <a:latin typeface="+mj-lt" pitchFamily="34" charset="0"/>
                <a:ea typeface="+mj-lt" pitchFamily="34" charset="-122"/>
                <a:cs typeface="+mj-lt" pitchFamily="34" charset="-120"/>
              </a:rPr>
              <a:t>moet</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entre </a:t>
            </a:r>
            <a:r>
              <a:rPr lang="en-US" sz="2000" i="1" dirty="0">
                <a:solidFill>
                  <a:schemeClr val="tx1"/>
                </a:solidFill>
              </a:rPr>
              <a:t>kunnen, mogen, willen, moeten</a:t>
            </a:r>
            <a:r>
              <a:rPr lang="en-US" sz="2000" dirty="0">
                <a:solidFill>
                  <a:schemeClr val="tx1"/>
                </a:solidFill>
              </a:rPr>
              <a:t> selon le </a:t>
            </a:r>
            <a:r>
              <a:rPr lang="en-US" sz="2000" b="1" dirty="0">
                <a:solidFill>
                  <a:schemeClr val="tx1"/>
                </a:solidFill>
              </a:rPr>
              <a:t>sens</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Wren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t>
            </a:r>
            <a:r>
              <a:rPr lang="en-US" sz="2000" b="1" dirty="0">
                <a:solidFill>
                  <a:schemeClr val="tx1"/>
                </a:solidFill>
              </a:rPr>
              <a:t>infinitif au bout</a:t>
            </a:r>
            <a:r>
              <a:rPr lang="en-US" sz="2000" dirty="0">
                <a:solidFill>
                  <a:schemeClr val="tx1"/>
                </a:solidFill>
              </a:rPr>
              <a:t> de la phrase.</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Handshak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propose, permets et interdis poliment.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La conjugaison a été vue au M4. Aujourd’hui : </a:t>
            </a:r>
            <a:r>
              <a:rPr lang="en-US" sz="1700" b="1" dirty="0">
                <a:solidFill>
                  <a:schemeClr val="tx1"/>
                </a:solidFill>
              </a:rPr>
              <a:t>le bon verbe au bon moment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disent ces panneaux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920240"/>
            <a:ext cx="1463040" cy="1463040"/>
          </a:xfrm>
          <a:prstGeom prst="ellipse">
            <a:avLst/>
          </a:prstGeom>
          <a:solidFill>
            <a:srgbClr val="FFFFFF"/>
          </a:solidFill>
          <a:ln w="50800">
            <a:solidFill>
              <a:srgbClr val="B83227"/>
            </a:solidFill>
            <a:prstDash val="solid"/>
          </a:ln>
        </p:spPr>
      </p:sp>
      <p:pic>
        <p:nvPicPr>
          <p:cNvPr id="7" name="Image 0" descr="p button">    </p:cNvPr>
          <p:cNvPicPr>
            <a:picLocks noChangeAspect="1"/>
          </p:cNvPicPr>
          <p:nvPr/>
        </p:nvPicPr>
        <p:blipFill>
          <a:blip r:embed="rId1"/>
          <a:stretch>
            <a:fillRect/>
          </a:stretch>
        </p:blipFill>
        <p:spPr>
          <a:xfrm>
            <a:off x="1005840" y="2148840"/>
            <a:ext cx="1005840" cy="1005840"/>
          </a:xfrm>
          <a:prstGeom prst="rect">
            <a:avLst/>
          </a:prstGeom>
        </p:spPr>
      </p:pic>
      <p:sp>
        <p:nvSpPr>
          <p:cNvPr id="8" name="Shape 4"/>
          <p:cNvSpPr/>
          <p:nvPr/>
        </p:nvSpPr>
        <p:spPr>
          <a:xfrm>
            <a:off x="1005840" y="2148840"/>
            <a:ext cx="1005840" cy="1005840"/>
          </a:xfrm>
          <a:prstGeom prst="line">
            <a:avLst/>
          </a:prstGeom>
          <a:noFill/>
          <a:ln w="63500">
            <a:solidFill>
              <a:srgbClr val="B83227"/>
            </a:solidFill>
            <a:prstDash val="solid"/>
          </a:ln>
        </p:spPr>
      </p:sp>
      <p:sp>
        <p:nvSpPr>
          <p:cNvPr id="9" name="Text 5"/>
          <p:cNvSpPr txBox="1"/>
          <p:nvPr/>
        </p:nvSpPr>
        <p:spPr>
          <a:xfrm>
            <a:off x="2468880"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mag</a:t>
            </a:r>
            <a:r>
              <a:rPr lang="en-US" sz="2100" i="1" dirty="0">
                <a:solidFill>
                  <a:schemeClr val="tx1"/>
                </a:solidFill>
              </a:rPr>
              <a:t> hier niet parkeren.</a:t>
            </a:r>
            <a:endParaRPr lang="en-US" sz="2100" dirty="0"/>
          </a:p>
        </p:txBody>
      </p:sp>
      <p:sp>
        <p:nvSpPr>
          <p:cNvPr id="10" name="Shape 6"/>
          <p:cNvSpPr/>
          <p:nvPr/>
        </p:nvSpPr>
        <p:spPr>
          <a:xfrm>
            <a:off x="6199632"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428232" y="1920240"/>
            <a:ext cx="1463040" cy="1463040"/>
          </a:xfrm>
          <a:prstGeom prst="ellipse">
            <a:avLst/>
          </a:prstGeom>
          <a:solidFill>
            <a:srgbClr val="FFFFFF"/>
          </a:solidFill>
          <a:ln w="50800">
            <a:solidFill>
              <a:srgbClr val="4A5A70"/>
            </a:solidFill>
            <a:prstDash val="solid"/>
          </a:ln>
        </p:spPr>
      </p:sp>
      <p:pic>
        <p:nvPicPr>
          <p:cNvPr id="12" name="Image 1" descr="stop sign">    </p:cNvPr>
          <p:cNvPicPr>
            <a:picLocks noChangeAspect="1"/>
          </p:cNvPicPr>
          <p:nvPr/>
        </p:nvPicPr>
        <p:blipFill>
          <a:blip r:embed="rId2"/>
          <a:stretch>
            <a:fillRect/>
          </a:stretch>
        </p:blipFill>
        <p:spPr>
          <a:xfrm>
            <a:off x="6656832" y="2148840"/>
            <a:ext cx="1005840" cy="1005840"/>
          </a:xfrm>
          <a:prstGeom prst="rect">
            <a:avLst/>
          </a:prstGeom>
        </p:spPr>
      </p:pic>
      <p:sp>
        <p:nvSpPr>
          <p:cNvPr id="13" name="Text 8"/>
          <p:cNvSpPr txBox="1"/>
          <p:nvPr/>
        </p:nvSpPr>
        <p:spPr>
          <a:xfrm>
            <a:off x="8119872"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moet</a:t>
            </a:r>
            <a:r>
              <a:rPr lang="en-US" sz="2100" i="1" dirty="0">
                <a:solidFill>
                  <a:schemeClr val="tx1"/>
                </a:solidFill>
              </a:rPr>
              <a:t> hier stoppen.</a:t>
            </a:r>
            <a:endParaRPr lang="en-US" sz="2100" dirty="0"/>
          </a:p>
        </p:txBody>
      </p:sp>
      <p:sp>
        <p:nvSpPr>
          <p:cNvPr id="14" name="Shape 9"/>
          <p:cNvSpPr/>
          <p:nvPr/>
        </p:nvSpPr>
        <p:spPr>
          <a:xfrm>
            <a:off x="548640"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777240" y="4251960"/>
            <a:ext cx="1463040" cy="1463040"/>
          </a:xfrm>
          <a:prstGeom prst="ellipse">
            <a:avLst/>
          </a:prstGeom>
          <a:solidFill>
            <a:srgbClr val="FFFFFF"/>
          </a:solidFill>
          <a:ln w="50800">
            <a:solidFill>
              <a:srgbClr val="4A5A70"/>
            </a:solidFill>
            <a:prstDash val="solid"/>
          </a:ln>
        </p:spPr>
      </p:sp>
      <p:pic>
        <p:nvPicPr>
          <p:cNvPr id="16" name="Image 2" descr="antenna bars">    </p:cNvPr>
          <p:cNvPicPr>
            <a:picLocks noChangeAspect="1"/>
          </p:cNvPicPr>
          <p:nvPr/>
        </p:nvPicPr>
        <p:blipFill>
          <a:blip r:embed="rId3"/>
          <a:stretch>
            <a:fillRect/>
          </a:stretch>
        </p:blipFill>
        <p:spPr>
          <a:xfrm>
            <a:off x="1005840" y="4480560"/>
            <a:ext cx="1005840" cy="1005840"/>
          </a:xfrm>
          <a:prstGeom prst="rect">
            <a:avLst/>
          </a:prstGeom>
        </p:spPr>
      </p:pic>
      <p:sp>
        <p:nvSpPr>
          <p:cNvPr id="17" name="Text 11"/>
          <p:cNvSpPr txBox="1"/>
          <p:nvPr/>
        </p:nvSpPr>
        <p:spPr>
          <a:xfrm>
            <a:off x="2468880"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kan</a:t>
            </a:r>
            <a:r>
              <a:rPr lang="en-US" sz="2100" i="1" dirty="0">
                <a:solidFill>
                  <a:schemeClr val="tx1"/>
                </a:solidFill>
              </a:rPr>
              <a:t> hier gratis internetten.</a:t>
            </a:r>
            <a:endParaRPr lang="en-US" sz="2100" dirty="0"/>
          </a:p>
        </p:txBody>
      </p:sp>
      <p:sp>
        <p:nvSpPr>
          <p:cNvPr id="18" name="Shape 12"/>
          <p:cNvSpPr/>
          <p:nvPr/>
        </p:nvSpPr>
        <p:spPr>
          <a:xfrm>
            <a:off x="6199632"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6428232" y="4251960"/>
            <a:ext cx="1463040" cy="1463040"/>
          </a:xfrm>
          <a:prstGeom prst="ellipse">
            <a:avLst/>
          </a:prstGeom>
          <a:solidFill>
            <a:srgbClr val="FFFFFF"/>
          </a:solidFill>
          <a:ln w="50800">
            <a:solidFill>
              <a:srgbClr val="4A5A70"/>
            </a:solidFill>
            <a:prstDash val="solid"/>
          </a:ln>
        </p:spPr>
      </p:sp>
      <p:pic>
        <p:nvPicPr>
          <p:cNvPr id="20" name="Image 3" descr="elevator">    </p:cNvPr>
          <p:cNvPicPr>
            <a:picLocks noChangeAspect="1"/>
          </p:cNvPicPr>
          <p:nvPr/>
        </p:nvPicPr>
        <p:blipFill>
          <a:blip r:embed="rId4"/>
          <a:stretch>
            <a:fillRect/>
          </a:stretch>
        </p:blipFill>
        <p:spPr>
          <a:xfrm>
            <a:off x="6656832" y="4480560"/>
            <a:ext cx="1005840" cy="1005840"/>
          </a:xfrm>
          <a:prstGeom prst="rect">
            <a:avLst/>
          </a:prstGeom>
        </p:spPr>
      </p:pic>
      <p:sp>
        <p:nvSpPr>
          <p:cNvPr id="21" name="Text 14"/>
          <p:cNvSpPr txBox="1"/>
          <p:nvPr/>
        </p:nvSpPr>
        <p:spPr>
          <a:xfrm>
            <a:off x="8119872"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Alleen het personeel </a:t>
            </a:r>
            <a:r>
              <a:rPr lang="en-US" sz="2100" b="1" i="1" dirty="0">
                <a:solidFill>
                  <a:srgbClr val="B8C2CF"/>
                </a:solidFill>
              </a:rPr>
              <a:t>mag</a:t>
            </a:r>
            <a:r>
              <a:rPr lang="en-US" sz="2100" i="1" dirty="0">
                <a:solidFill>
                  <a:schemeClr val="tx1"/>
                </a:solidFill>
              </a:rPr>
              <a:t> de lift nemen.</a:t>
            </a:r>
            <a:endParaRPr lang="en-US" sz="2100" dirty="0"/>
          </a:p>
        </p:txBody>
      </p:sp>
      <p:sp>
        <p:nvSpPr>
          <p:cNvPr id="22" name="Text 15"/>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Quel verbe ? Les réponses apparaissent en </a:t>
            </a:r>
            <a:r>
              <a:rPr lang="en-US" sz="1500" b="1" i="1" dirty="0">
                <a:solidFill>
                  <a:schemeClr val="accent5"/>
                </a:solidFill>
              </a:rPr>
              <a:t>gris clair</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 la conjugaison en un coup d’œil</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863840" cy="914400"/>
        </p:xfrm>
        <a:graphic>
          <a:graphicData uri="http://schemas.openxmlformats.org/drawingml/2006/table">
            <a:tbl>
              <a:tblPr/>
              <a:tblGrid>
                <a:gridCol w="1737360"/>
                <a:gridCol w="1280160"/>
                <a:gridCol w="1737360"/>
                <a:gridCol w="1463040"/>
                <a:gridCol w="1645920"/>
              </a:tblGrid>
              <a:tr h="68580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jij / u</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 / zij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pluriel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85800">
                <a:tc>
                  <a:txBody>
                    <a:bodyPr/>
                    <a:lstStyle/>
                    <a:p>
                      <a:pPr algn="l" indent="0" marL="0">
                        <a:buNone/>
                      </a:pPr>
                      <a:r>
                        <a:rPr lang="en-US" sz="2200" b="1"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kunt / 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b="1" dirty="0">
                          <a:solidFill>
                            <a:schemeClr val="accent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85800">
                <a:tc>
                  <a:txBody>
                    <a:bodyPr/>
                    <a:lstStyle/>
                    <a:p>
                      <a:pPr algn="l" indent="0" marL="0">
                        <a:buNone/>
                      </a:pPr>
                      <a:r>
                        <a:rPr lang="en-US" sz="2200" b="1"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wilt / 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686800" y="1554480"/>
            <a:ext cx="2953512" cy="2743200"/>
          </a:xfrm>
          <a:prstGeom prst="roundRect">
            <a:avLst>
              <a:gd name="adj" fmla="val 333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869680" y="1719072"/>
            <a:ext cx="566928" cy="566928"/>
          </a:xfrm>
          <a:prstGeom prst="ellipse">
            <a:avLst/>
          </a:prstGeom>
          <a:solidFill>
            <a:schemeClr val="accent1"/>
          </a:solidFill>
          <a:ln w="12700">
            <a:solidFill>
              <a:srgbClr val="FFFFFF">
                <a:alpha val="0"/>
              </a:srgbClr>
            </a:solidFill>
            <a:prstDash val="solid"/>
          </a:ln>
        </p:spPr>
      </p:sp>
      <p:pic>
        <p:nvPicPr>
          <p:cNvPr id="8" name="Image 0" descr="Exclamation">    </p:cNvPr>
          <p:cNvPicPr>
            <a:picLocks noChangeAspect="1"/>
          </p:cNvPicPr>
          <p:nvPr/>
        </p:nvPicPr>
        <p:blipFill>
          <a:blip r:embed="rId1"/>
          <a:stretch>
            <a:fillRect/>
          </a:stretch>
        </p:blipFill>
        <p:spPr>
          <a:xfrm>
            <a:off x="9005743" y="1855135"/>
            <a:ext cx="294803" cy="294803"/>
          </a:xfrm>
          <a:prstGeom prst="rect">
            <a:avLst/>
          </a:prstGeom>
        </p:spPr>
      </p:pic>
      <p:sp>
        <p:nvSpPr>
          <p:cNvPr id="9" name="Text 4"/>
          <p:cNvSpPr txBox="1"/>
          <p:nvPr/>
        </p:nvSpPr>
        <p:spPr>
          <a:xfrm>
            <a:off x="9582912" y="170078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Pas de t !</a:t>
            </a:r>
            <a:endParaRPr lang="en-US" sz="1900" dirty="0"/>
          </a:p>
        </p:txBody>
      </p:sp>
      <p:sp>
        <p:nvSpPr>
          <p:cNvPr id="10" name="Text 5"/>
          <p:cNvSpPr txBox="1"/>
          <p:nvPr/>
        </p:nvSpPr>
        <p:spPr>
          <a:xfrm>
            <a:off x="8887968" y="2423160"/>
            <a:ext cx="2551176" cy="1764792"/>
          </a:xfrm>
          <a:prstGeom prst="rect">
            <a:avLst/>
          </a:prstGeom>
          <a:noFill/>
          <a:ln/>
        </p:spPr>
        <p:txBody>
          <a:bodyPr wrap="square" lIns="0" tIns="0" rIns="0" bIns="0" rtlCol="0" anchor="t"/>
          <a:lstStyle/>
          <a:p>
            <a:pPr algn="l" indent="0" marL="0">
              <a:spcAft>
                <a:spcPts val="600"/>
              </a:spcAft>
              <a:buNone/>
            </a:pPr>
            <a:r>
              <a:rPr lang="en-US" sz="1600" i="1" dirty="0">
                <a:solidFill>
                  <a:schemeClr val="tx1"/>
                </a:solidFill>
              </a:rPr>
              <a:t>hij kan · hij mag · hij wil</a:t>
            </a:r>
            <a:endParaRPr lang="en-US" sz="1600" dirty="0"/>
          </a:p>
          <a:p>
            <a:pPr algn="l" indent="0" marL="0">
              <a:spcAft>
                <a:spcPts val="600"/>
              </a:spcAft>
              <a:buNone/>
            </a:pPr>
            <a:r>
              <a:rPr lang="en-US" sz="1600" dirty="0">
                <a:solidFill>
                  <a:schemeClr val="tx1"/>
                </a:solidFill>
              </a:rPr>
              <a:t>comme en anglais : </a:t>
            </a:r>
            <a:r>
              <a:rPr lang="en-US" sz="1600" i="1" dirty="0">
                <a:solidFill>
                  <a:schemeClr val="tx1"/>
                </a:solidFill>
              </a:rPr>
              <a:t>he can</a:t>
            </a:r>
            <a:endParaRPr lang="en-US" sz="1600" dirty="0"/>
          </a:p>
        </p:txBody>
      </p:sp>
      <p:sp>
        <p:nvSpPr>
          <p:cNvPr id="11" name="Shape 6"/>
          <p:cNvSpPr/>
          <p:nvPr/>
        </p:nvSpPr>
        <p:spPr>
          <a:xfrm>
            <a:off x="8686800" y="4480560"/>
            <a:ext cx="29535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7"/>
          <p:cNvSpPr/>
          <p:nvPr/>
        </p:nvSpPr>
        <p:spPr>
          <a:xfrm>
            <a:off x="8869680" y="4645152"/>
            <a:ext cx="566928" cy="566928"/>
          </a:xfrm>
          <a:prstGeom prst="ellipse">
            <a:avLst/>
          </a:prstGeom>
          <a:solidFill>
            <a:schemeClr val="accent2"/>
          </a:solidFill>
          <a:ln w="12700">
            <a:solidFill>
              <a:srgbClr val="FFFFFF">
                <a:alpha val="0"/>
              </a:srgbClr>
            </a:solidFill>
            <a:prstDash val="solid"/>
          </a:ln>
        </p:spPr>
      </p:sp>
      <p:pic>
        <p:nvPicPr>
          <p:cNvPr id="13" name="Image 1" descr="Undo">    </p:cNvPr>
          <p:cNvPicPr>
            <a:picLocks noChangeAspect="1"/>
          </p:cNvPicPr>
          <p:nvPr/>
        </p:nvPicPr>
        <p:blipFill>
          <a:blip r:embed="rId2"/>
          <a:stretch>
            <a:fillRect/>
          </a:stretch>
        </p:blipFill>
        <p:spPr>
          <a:xfrm>
            <a:off x="9005743" y="4781215"/>
            <a:ext cx="294803" cy="294803"/>
          </a:xfrm>
          <a:prstGeom prst="rect">
            <a:avLst/>
          </a:prstGeom>
        </p:spPr>
      </p:pic>
      <p:sp>
        <p:nvSpPr>
          <p:cNvPr id="14" name="Text 8"/>
          <p:cNvSpPr txBox="1"/>
          <p:nvPr/>
        </p:nvSpPr>
        <p:spPr>
          <a:xfrm>
            <a:off x="9582912" y="4626864"/>
            <a:ext cx="1920240" cy="603504"/>
          </a:xfrm>
          <a:prstGeom prst="rect">
            <a:avLst/>
          </a:prstGeom>
          <a:noFill/>
          <a:ln/>
        </p:spPr>
        <p:txBody>
          <a:bodyPr wrap="square" lIns="0" tIns="0" rIns="0" bIns="0" rtlCol="0" anchor="ctr"/>
          <a:lstStyle/>
          <a:p>
            <a:pPr algn="l" indent="0" marL="0">
              <a:buNone/>
            </a:pPr>
            <a:r>
              <a:rPr lang="en-US" sz="1900" b="1" dirty="0">
                <a:solidFill>
                  <a:schemeClr val="accent2"/>
                </a:solidFill>
              </a:rPr>
              <a:t>Inversion</a:t>
            </a:r>
            <a:endParaRPr lang="en-US" sz="1900" dirty="0"/>
          </a:p>
        </p:txBody>
      </p:sp>
      <p:sp>
        <p:nvSpPr>
          <p:cNvPr id="15" name="Text 9"/>
          <p:cNvSpPr txBox="1"/>
          <p:nvPr/>
        </p:nvSpPr>
        <p:spPr>
          <a:xfrm>
            <a:off x="8887968" y="5349240"/>
            <a:ext cx="2551176" cy="80467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Kun je…? · Wil je…?</a:t>
            </a:r>
            <a:endParaRPr lang="en-US" sz="1700" dirty="0"/>
          </a:p>
        </p:txBody>
      </p:sp>
      <p:sp>
        <p:nvSpPr>
          <p:cNvPr id="16" name="Text 10"/>
          <p:cNvSpPr txBox="1"/>
          <p:nvPr/>
        </p:nvSpPr>
        <p:spPr>
          <a:xfrm>
            <a:off x="548640" y="5166360"/>
            <a:ext cx="7863840" cy="365760"/>
          </a:xfrm>
          <a:prstGeom prst="rect">
            <a:avLst/>
          </a:prstGeom>
          <a:noFill/>
          <a:ln/>
        </p:spPr>
        <p:txBody>
          <a:bodyPr wrap="square" lIns="0" tIns="0" rIns="0" bIns="0" rtlCol="0" anchor="t"/>
          <a:lstStyle/>
          <a:p>
            <a:pPr algn="l" indent="0" marL="0">
              <a:buNone/>
            </a:pPr>
            <a:r>
              <a:rPr lang="en-US" sz="1500" i="1" dirty="0">
                <a:solidFill>
                  <a:schemeClr val="accent5"/>
                </a:solidFill>
              </a:rPr>
              <a:t>Deux minutes : c’est un rappel du M4.</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carte des 4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5440680" cy="2194560"/>
          </a:xfrm>
          <a:prstGeom prst="roundRect">
            <a:avLst>
              <a:gd name="adj" fmla="val 3333"/>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1737360" cy="2194560"/>
          </a:xfrm>
          <a:prstGeom prst="roundRect">
            <a:avLst>
              <a:gd name="adj" fmla="val 4211"/>
            </a:avLst>
          </a:prstGeom>
          <a:solidFill>
            <a:schemeClr val="accent2">
              <a:alpha val="15000"/>
            </a:schemeClr>
          </a:solidFill>
          <a:ln w="12700">
            <a:solidFill>
              <a:srgbClr val="FFFFFF">
                <a:alpha val="0"/>
              </a:srgbClr>
            </a:solidFill>
            <a:prstDash val="solid"/>
          </a:ln>
        </p:spPr>
      </p:sp>
      <p:pic>
        <p:nvPicPr>
          <p:cNvPr id="7" name="Image 0" descr="flexed biceps">    </p:cNvPr>
          <p:cNvPicPr>
            <a:picLocks noChangeAspect="1"/>
          </p:cNvPicPr>
          <p:nvPr/>
        </p:nvPicPr>
        <p:blipFill>
          <a:blip r:embed="rId1"/>
          <a:stretch>
            <a:fillRect/>
          </a:stretch>
        </p:blipFill>
        <p:spPr>
          <a:xfrm>
            <a:off x="914400" y="1847088"/>
            <a:ext cx="1005840" cy="1005840"/>
          </a:xfrm>
          <a:prstGeom prst="rect">
            <a:avLst/>
          </a:prstGeom>
        </p:spPr>
      </p:pic>
      <p:sp>
        <p:nvSpPr>
          <p:cNvPr id="8" name="Text 4"/>
          <p:cNvSpPr txBox="1"/>
          <p:nvPr/>
        </p:nvSpPr>
        <p:spPr>
          <a:xfrm>
            <a:off x="548640"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mj-lt" pitchFamily="34" charset="0"/>
                <a:ea typeface="+mj-lt" pitchFamily="34" charset="-122"/>
                <a:cs typeface="+mj-lt" pitchFamily="34" charset="-120"/>
              </a:rPr>
              <a:t>kunnen</a:t>
            </a:r>
            <a:endParaRPr lang="en-US" sz="2200" dirty="0"/>
          </a:p>
        </p:txBody>
      </p:sp>
      <p:sp>
        <p:nvSpPr>
          <p:cNvPr id="9" name="Text 5"/>
          <p:cNvSpPr txBox="1"/>
          <p:nvPr/>
        </p:nvSpPr>
        <p:spPr>
          <a:xfrm>
            <a:off x="2468880" y="1755648"/>
            <a:ext cx="3383280" cy="731520"/>
          </a:xfrm>
          <a:prstGeom prst="rect">
            <a:avLst/>
          </a:prstGeom>
          <a:noFill/>
          <a:ln/>
        </p:spPr>
        <p:txBody>
          <a:bodyPr wrap="square" lIns="0" tIns="0" rIns="0" bIns="0" rtlCol="0" anchor="ctr"/>
          <a:lstStyle/>
          <a:p>
            <a:pPr algn="l" indent="0" marL="0">
              <a:buNone/>
            </a:pPr>
            <a:r>
              <a:rPr lang="en-US" sz="1800" b="1" dirty="0">
                <a:solidFill>
                  <a:schemeClr val="accent2"/>
                </a:solidFill>
              </a:rPr>
              <a:t>être capable, c’est possible</a:t>
            </a:r>
            <a:endParaRPr lang="en-US" sz="1800" dirty="0"/>
          </a:p>
        </p:txBody>
      </p:sp>
      <p:sp>
        <p:nvSpPr>
          <p:cNvPr id="10" name="Text 6"/>
          <p:cNvSpPr txBox="1"/>
          <p:nvPr/>
        </p:nvSpPr>
        <p:spPr>
          <a:xfrm>
            <a:off x="2468880"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Ik </a:t>
            </a:r>
            <a:r>
              <a:rPr lang="en-US" sz="2000" b="1" i="1" dirty="0">
                <a:solidFill>
                  <a:schemeClr val="tx1"/>
                </a:solidFill>
              </a:rPr>
              <a:t>kan</a:t>
            </a:r>
            <a:r>
              <a:rPr lang="en-US" sz="2000" i="1" dirty="0">
                <a:solidFill>
                  <a:schemeClr val="tx1"/>
                </a:solidFill>
              </a:rPr>
              <a:t> goed voetbal </a:t>
            </a:r>
            <a:r>
              <a:rPr lang="en-US" sz="2000" b="1" i="1" dirty="0">
                <a:solidFill>
                  <a:schemeClr val="accent6"/>
                </a:solidFill>
              </a:rPr>
              <a:t>spelen</a:t>
            </a:r>
            <a:r>
              <a:rPr lang="en-US" sz="2000" i="1" dirty="0">
                <a:solidFill>
                  <a:schemeClr val="tx1"/>
                </a:solidFill>
              </a:rPr>
              <a:t>.</a:t>
            </a:r>
            <a:endParaRPr lang="en-US" sz="2000" dirty="0"/>
          </a:p>
        </p:txBody>
      </p:sp>
      <p:sp>
        <p:nvSpPr>
          <p:cNvPr id="11" name="Shape 7"/>
          <p:cNvSpPr/>
          <p:nvPr/>
        </p:nvSpPr>
        <p:spPr>
          <a:xfrm>
            <a:off x="6199632" y="1572768"/>
            <a:ext cx="5440680" cy="2194560"/>
          </a:xfrm>
          <a:prstGeom prst="roundRect">
            <a:avLst>
              <a:gd name="adj" fmla="val 3333"/>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199632" y="1572768"/>
            <a:ext cx="1737360" cy="2194560"/>
          </a:xfrm>
          <a:prstGeom prst="roundRect">
            <a:avLst>
              <a:gd name="adj" fmla="val 4211"/>
            </a:avLst>
          </a:prstGeom>
          <a:solidFill>
            <a:schemeClr val="accent3">
              <a:alpha val="15000"/>
            </a:schemeClr>
          </a:solidFill>
          <a:ln w="12700">
            <a:solidFill>
              <a:srgbClr val="FFFFFF">
                <a:alpha val="0"/>
              </a:srgbClr>
            </a:solidFill>
            <a:prstDash val="solid"/>
          </a:ln>
        </p:spPr>
      </p:sp>
      <p:pic>
        <p:nvPicPr>
          <p:cNvPr id="13" name="Image 1" descr="check mark button">    </p:cNvPr>
          <p:cNvPicPr>
            <a:picLocks noChangeAspect="1"/>
          </p:cNvPicPr>
          <p:nvPr/>
        </p:nvPicPr>
        <p:blipFill>
          <a:blip r:embed="rId2"/>
          <a:stretch>
            <a:fillRect/>
          </a:stretch>
        </p:blipFill>
        <p:spPr>
          <a:xfrm>
            <a:off x="6565392" y="1847088"/>
            <a:ext cx="1005840" cy="1005840"/>
          </a:xfrm>
          <a:prstGeom prst="rect">
            <a:avLst/>
          </a:prstGeom>
        </p:spPr>
      </p:pic>
      <p:sp>
        <p:nvSpPr>
          <p:cNvPr id="14" name="Text 9"/>
          <p:cNvSpPr txBox="1"/>
          <p:nvPr/>
        </p:nvSpPr>
        <p:spPr>
          <a:xfrm>
            <a:off x="6199632"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3"/>
                </a:solidFill>
                <a:latin typeface="+mj-lt" pitchFamily="34" charset="0"/>
                <a:ea typeface="+mj-lt" pitchFamily="34" charset="-122"/>
                <a:cs typeface="+mj-lt" pitchFamily="34" charset="-120"/>
              </a:rPr>
              <a:t>mogen</a:t>
            </a:r>
            <a:endParaRPr lang="en-US" sz="2200" dirty="0"/>
          </a:p>
        </p:txBody>
      </p:sp>
      <p:sp>
        <p:nvSpPr>
          <p:cNvPr id="15" name="Text 10"/>
          <p:cNvSpPr txBox="1"/>
          <p:nvPr/>
        </p:nvSpPr>
        <p:spPr>
          <a:xfrm>
            <a:off x="8119872" y="1755648"/>
            <a:ext cx="3383280" cy="731520"/>
          </a:xfrm>
          <a:prstGeom prst="rect">
            <a:avLst/>
          </a:prstGeom>
          <a:noFill/>
          <a:ln/>
        </p:spPr>
        <p:txBody>
          <a:bodyPr wrap="square" lIns="0" tIns="0" rIns="0" bIns="0" rtlCol="0" anchor="ctr"/>
          <a:lstStyle/>
          <a:p>
            <a:pPr algn="l" indent="0" marL="0">
              <a:buNone/>
            </a:pPr>
            <a:r>
              <a:rPr lang="en-US" sz="1800" b="1" dirty="0">
                <a:solidFill>
                  <a:schemeClr val="accent3"/>
                </a:solidFill>
              </a:rPr>
              <a:t>avoir le droit, la permission</a:t>
            </a:r>
            <a:endParaRPr lang="en-US" sz="1800" dirty="0"/>
          </a:p>
        </p:txBody>
      </p:sp>
      <p:sp>
        <p:nvSpPr>
          <p:cNvPr id="16" name="Text 11"/>
          <p:cNvSpPr txBox="1"/>
          <p:nvPr/>
        </p:nvSpPr>
        <p:spPr>
          <a:xfrm>
            <a:off x="8119872"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U </a:t>
            </a:r>
            <a:r>
              <a:rPr lang="en-US" sz="2000" b="1" i="1" dirty="0">
                <a:solidFill>
                  <a:schemeClr val="tx1"/>
                </a:solidFill>
              </a:rPr>
              <a:t>mag</a:t>
            </a:r>
            <a:r>
              <a:rPr lang="en-US" sz="2000" i="1" dirty="0">
                <a:solidFill>
                  <a:schemeClr val="tx1"/>
                </a:solidFill>
              </a:rPr>
              <a:t> hier niet </a:t>
            </a:r>
            <a:r>
              <a:rPr lang="en-US" sz="2000" b="1" i="1" dirty="0">
                <a:solidFill>
                  <a:schemeClr val="accent6"/>
                </a:solidFill>
              </a:rPr>
              <a:t>parkeren</a:t>
            </a:r>
            <a:r>
              <a:rPr lang="en-US" sz="2000" i="1" dirty="0">
                <a:solidFill>
                  <a:schemeClr val="tx1"/>
                </a:solidFill>
              </a:rPr>
              <a:t>.</a:t>
            </a:r>
            <a:endParaRPr lang="en-US" sz="2000" dirty="0"/>
          </a:p>
        </p:txBody>
      </p:sp>
      <p:sp>
        <p:nvSpPr>
          <p:cNvPr id="17" name="Shape 12"/>
          <p:cNvSpPr/>
          <p:nvPr/>
        </p:nvSpPr>
        <p:spPr>
          <a:xfrm>
            <a:off x="548640" y="3950208"/>
            <a:ext cx="5440680" cy="2194560"/>
          </a:xfrm>
          <a:prstGeom prst="roundRect">
            <a:avLst>
              <a:gd name="adj" fmla="val 3333"/>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548640" y="3950208"/>
            <a:ext cx="1737360" cy="2194560"/>
          </a:xfrm>
          <a:prstGeom prst="roundRect">
            <a:avLst>
              <a:gd name="adj" fmla="val 4211"/>
            </a:avLst>
          </a:prstGeom>
          <a:solidFill>
            <a:schemeClr val="accent4">
              <a:alpha val="15000"/>
            </a:schemeClr>
          </a:solidFill>
          <a:ln w="12700">
            <a:solidFill>
              <a:srgbClr val="FFFFFF">
                <a:alpha val="0"/>
              </a:srgbClr>
            </a:solidFill>
            <a:prstDash val="solid"/>
          </a:ln>
        </p:spPr>
      </p:sp>
      <p:pic>
        <p:nvPicPr>
          <p:cNvPr id="19" name="Image 2" descr="red heart">    </p:cNvPr>
          <p:cNvPicPr>
            <a:picLocks noChangeAspect="1"/>
          </p:cNvPicPr>
          <p:nvPr/>
        </p:nvPicPr>
        <p:blipFill>
          <a:blip r:embed="rId3"/>
          <a:stretch>
            <a:fillRect/>
          </a:stretch>
        </p:blipFill>
        <p:spPr>
          <a:xfrm>
            <a:off x="914400" y="4224528"/>
            <a:ext cx="1005840" cy="1005840"/>
          </a:xfrm>
          <a:prstGeom prst="rect">
            <a:avLst/>
          </a:prstGeom>
        </p:spPr>
      </p:pic>
      <p:sp>
        <p:nvSpPr>
          <p:cNvPr id="20" name="Text 14"/>
          <p:cNvSpPr txBox="1"/>
          <p:nvPr/>
        </p:nvSpPr>
        <p:spPr>
          <a:xfrm>
            <a:off x="548640"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4"/>
                </a:solidFill>
                <a:latin typeface="+mj-lt" pitchFamily="34" charset="0"/>
                <a:ea typeface="+mj-lt" pitchFamily="34" charset="-122"/>
                <a:cs typeface="+mj-lt" pitchFamily="34" charset="-120"/>
              </a:rPr>
              <a:t>willen</a:t>
            </a:r>
            <a:endParaRPr lang="en-US" sz="2200" dirty="0"/>
          </a:p>
        </p:txBody>
      </p:sp>
      <p:sp>
        <p:nvSpPr>
          <p:cNvPr id="21" name="Text 15"/>
          <p:cNvSpPr txBox="1"/>
          <p:nvPr/>
        </p:nvSpPr>
        <p:spPr>
          <a:xfrm>
            <a:off x="2468880" y="4133088"/>
            <a:ext cx="3383280" cy="731520"/>
          </a:xfrm>
          <a:prstGeom prst="rect">
            <a:avLst/>
          </a:prstGeom>
          <a:noFill/>
          <a:ln/>
        </p:spPr>
        <p:txBody>
          <a:bodyPr wrap="square" lIns="0" tIns="0" rIns="0" bIns="0" rtlCol="0" anchor="ctr"/>
          <a:lstStyle/>
          <a:p>
            <a:pPr algn="l" indent="0" marL="0">
              <a:buNone/>
            </a:pPr>
            <a:r>
              <a:rPr lang="en-US" sz="1800" b="1" dirty="0">
                <a:solidFill>
                  <a:schemeClr val="accent4"/>
                </a:solidFill>
              </a:rPr>
              <a:t>vouloir</a:t>
            </a:r>
            <a:endParaRPr lang="en-US" sz="1800" dirty="0"/>
          </a:p>
        </p:txBody>
      </p:sp>
      <p:sp>
        <p:nvSpPr>
          <p:cNvPr id="22" name="Text 16"/>
          <p:cNvSpPr txBox="1"/>
          <p:nvPr/>
        </p:nvSpPr>
        <p:spPr>
          <a:xfrm>
            <a:off x="2468880"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Dit kindje </a:t>
            </a:r>
            <a:r>
              <a:rPr lang="en-US" sz="2000" b="1" i="1" dirty="0">
                <a:solidFill>
                  <a:schemeClr val="tx1"/>
                </a:solidFill>
              </a:rPr>
              <a:t>wil</a:t>
            </a:r>
            <a:r>
              <a:rPr lang="en-US" sz="2000" i="1" dirty="0">
                <a:solidFill>
                  <a:schemeClr val="tx1"/>
                </a:solidFill>
              </a:rPr>
              <a:t> een ijsje </a:t>
            </a:r>
            <a:r>
              <a:rPr lang="en-US" sz="2000" b="1" i="1" dirty="0">
                <a:solidFill>
                  <a:schemeClr val="accent6"/>
                </a:solidFill>
              </a:rPr>
              <a:t>eten</a:t>
            </a:r>
            <a:r>
              <a:rPr lang="en-US" sz="2000" i="1" dirty="0">
                <a:solidFill>
                  <a:schemeClr val="tx1"/>
                </a:solidFill>
              </a:rPr>
              <a:t>.</a:t>
            </a:r>
            <a:endParaRPr lang="en-US" sz="2000" dirty="0"/>
          </a:p>
        </p:txBody>
      </p:sp>
      <p:sp>
        <p:nvSpPr>
          <p:cNvPr id="23" name="Shape 17"/>
          <p:cNvSpPr/>
          <p:nvPr/>
        </p:nvSpPr>
        <p:spPr>
          <a:xfrm>
            <a:off x="6199632" y="3950208"/>
            <a:ext cx="5440680" cy="2194560"/>
          </a:xfrm>
          <a:prstGeom prst="roundRect">
            <a:avLst>
              <a:gd name="adj" fmla="val 3333"/>
            </a:avLst>
          </a:prstGeom>
          <a:solidFill>
            <a:schemeClr val="bg1"/>
          </a:solidFill>
          <a:ln w="317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6199632" y="3950208"/>
            <a:ext cx="1737360" cy="2194560"/>
          </a:xfrm>
          <a:prstGeom prst="roundRect">
            <a:avLst>
              <a:gd name="adj" fmla="val 4211"/>
            </a:avLst>
          </a:prstGeom>
          <a:solidFill>
            <a:schemeClr val="accent6">
              <a:alpha val="15000"/>
            </a:schemeClr>
          </a:solidFill>
          <a:ln w="12700">
            <a:solidFill>
              <a:srgbClr val="FFFFFF">
                <a:alpha val="0"/>
              </a:srgbClr>
            </a:solidFill>
            <a:prstDash val="solid"/>
          </a:ln>
        </p:spPr>
      </p:sp>
      <p:pic>
        <p:nvPicPr>
          <p:cNvPr id="25" name="Image 3" descr="stop sign">    </p:cNvPr>
          <p:cNvPicPr>
            <a:picLocks noChangeAspect="1"/>
          </p:cNvPicPr>
          <p:nvPr/>
        </p:nvPicPr>
        <p:blipFill>
          <a:blip r:embed="rId4"/>
          <a:stretch>
            <a:fillRect/>
          </a:stretch>
        </p:blipFill>
        <p:spPr>
          <a:xfrm>
            <a:off x="6565392" y="4224528"/>
            <a:ext cx="1005840" cy="1005840"/>
          </a:xfrm>
          <a:prstGeom prst="rect">
            <a:avLst/>
          </a:prstGeom>
        </p:spPr>
      </p:pic>
      <p:sp>
        <p:nvSpPr>
          <p:cNvPr id="26" name="Text 19"/>
          <p:cNvSpPr txBox="1"/>
          <p:nvPr/>
        </p:nvSpPr>
        <p:spPr>
          <a:xfrm>
            <a:off x="6199632"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6"/>
                </a:solidFill>
                <a:latin typeface="+mj-lt" pitchFamily="34" charset="0"/>
                <a:ea typeface="+mj-lt" pitchFamily="34" charset="-122"/>
                <a:cs typeface="+mj-lt" pitchFamily="34" charset="-120"/>
              </a:rPr>
              <a:t>moeten</a:t>
            </a:r>
            <a:endParaRPr lang="en-US" sz="2200" dirty="0"/>
          </a:p>
        </p:txBody>
      </p:sp>
      <p:sp>
        <p:nvSpPr>
          <p:cNvPr id="27" name="Text 20"/>
          <p:cNvSpPr txBox="1"/>
          <p:nvPr/>
        </p:nvSpPr>
        <p:spPr>
          <a:xfrm>
            <a:off x="8119872" y="4133088"/>
            <a:ext cx="3383280" cy="731520"/>
          </a:xfrm>
          <a:prstGeom prst="rect">
            <a:avLst/>
          </a:prstGeom>
          <a:noFill/>
          <a:ln/>
        </p:spPr>
        <p:txBody>
          <a:bodyPr wrap="square" lIns="0" tIns="0" rIns="0" bIns="0" rtlCol="0" anchor="ctr"/>
          <a:lstStyle/>
          <a:p>
            <a:pPr algn="l" indent="0" marL="0">
              <a:buNone/>
            </a:pPr>
            <a:r>
              <a:rPr lang="en-US" sz="1800" b="1" dirty="0">
                <a:solidFill>
                  <a:schemeClr val="accent6"/>
                </a:solidFill>
              </a:rPr>
              <a:t>devoir, être obligé</a:t>
            </a:r>
            <a:endParaRPr lang="en-US" sz="1800" dirty="0"/>
          </a:p>
        </p:txBody>
      </p:sp>
      <p:sp>
        <p:nvSpPr>
          <p:cNvPr id="28" name="Text 21"/>
          <p:cNvSpPr txBox="1"/>
          <p:nvPr/>
        </p:nvSpPr>
        <p:spPr>
          <a:xfrm>
            <a:off x="8119872"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Hier </a:t>
            </a:r>
            <a:r>
              <a:rPr lang="en-US" sz="2000" b="1" i="1" dirty="0">
                <a:solidFill>
                  <a:schemeClr val="tx1"/>
                </a:solidFill>
              </a:rPr>
              <a:t>moet</a:t>
            </a:r>
            <a:r>
              <a:rPr lang="en-US" sz="2000" i="1" dirty="0">
                <a:solidFill>
                  <a:schemeClr val="tx1"/>
                </a:solidFill>
              </a:rPr>
              <a:t> iedereen </a:t>
            </a:r>
            <a:r>
              <a:rPr lang="en-US" sz="2000" b="1" i="1" dirty="0">
                <a:solidFill>
                  <a:schemeClr val="accent6"/>
                </a:solidFill>
              </a:rPr>
              <a:t>stoppen</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pouvoir » = kunnen ou mogen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 pouvoir »</a:t>
            </a:r>
            <a:endParaRPr lang="en-US" sz="2600" dirty="0"/>
          </a:p>
        </p:txBody>
      </p:sp>
      <p:sp>
        <p:nvSpPr>
          <p:cNvPr id="8" name="Shape 5"/>
          <p:cNvSpPr/>
          <p:nvPr/>
        </p:nvSpPr>
        <p:spPr>
          <a:xfrm flipH="1">
            <a:off x="3291840" y="2606040"/>
            <a:ext cx="2798064" cy="457200"/>
          </a:xfrm>
          <a:prstGeom prst="line">
            <a:avLst/>
          </a:prstGeom>
          <a:noFill/>
          <a:ln w="31750">
            <a:solidFill>
              <a:srgbClr val="4A5A70"/>
            </a:solidFill>
            <a:prstDash val="solid"/>
            <a:tailEnd type="triangle"/>
          </a:ln>
        </p:spPr>
      </p:sp>
      <p:sp>
        <p:nvSpPr>
          <p:cNvPr id="9" name="Shape 6"/>
          <p:cNvSpPr/>
          <p:nvPr/>
        </p:nvSpPr>
        <p:spPr>
          <a:xfrm>
            <a:off x="6089904" y="2606040"/>
            <a:ext cx="2779776" cy="457200"/>
          </a:xfrm>
          <a:prstGeom prst="line">
            <a:avLst/>
          </a:prstGeom>
          <a:noFill/>
          <a:ln w="31750">
            <a:solidFill>
              <a:srgbClr val="4A5A70"/>
            </a:solidFill>
            <a:prstDash val="solid"/>
            <a:tailEnd type="triangle"/>
          </a:ln>
        </p:spPr>
      </p:sp>
      <p:sp>
        <p:nvSpPr>
          <p:cNvPr id="10" name="Shape 7"/>
          <p:cNvSpPr/>
          <p:nvPr/>
        </p:nvSpPr>
        <p:spPr>
          <a:xfrm>
            <a:off x="822960" y="3108960"/>
            <a:ext cx="5120640" cy="2011680"/>
          </a:xfrm>
          <a:prstGeom prst="roundRect">
            <a:avLst>
              <a:gd name="adj" fmla="val 3636"/>
            </a:avLst>
          </a:prstGeom>
          <a:solidFill>
            <a:schemeClr val="bg1"/>
          </a:solidFill>
          <a:ln w="31750">
            <a:solidFill>
              <a:srgbClr val="2A6FB0"/>
            </a:solidFill>
            <a:prstDash val="solid"/>
          </a:ln>
        </p:spPr>
      </p:sp>
      <p:pic>
        <p:nvPicPr>
          <p:cNvPr id="11" name="Image 0" descr="flexed biceps">    </p:cNvPr>
          <p:cNvPicPr>
            <a:picLocks noChangeAspect="1"/>
          </p:cNvPicPr>
          <p:nvPr/>
        </p:nvPicPr>
        <p:blipFill>
          <a:blip r:embed="rId1"/>
          <a:stretch>
            <a:fillRect/>
          </a:stretch>
        </p:blipFill>
        <p:spPr>
          <a:xfrm>
            <a:off x="1005840" y="3246120"/>
            <a:ext cx="731520" cy="731520"/>
          </a:xfrm>
          <a:prstGeom prst="rect">
            <a:avLst/>
          </a:prstGeom>
        </p:spPr>
      </p:pic>
      <p:sp>
        <p:nvSpPr>
          <p:cNvPr id="12" name="Text 8"/>
          <p:cNvSpPr txBox="1"/>
          <p:nvPr/>
        </p:nvSpPr>
        <p:spPr>
          <a:xfrm>
            <a:off x="187452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Je </a:t>
            </a:r>
            <a:r>
              <a:rPr lang="en-US" sz="1900" b="1" dirty="0">
                <a:solidFill>
                  <a:schemeClr val="tx1"/>
                </a:solidFill>
              </a:rPr>
              <a:t>peux</a:t>
            </a:r>
            <a:r>
              <a:rPr lang="en-US" sz="1900" dirty="0">
                <a:solidFill>
                  <a:schemeClr val="tx1"/>
                </a:solidFill>
              </a:rPr>
              <a:t> venir demain. »</a:t>
            </a:r>
            <a:endParaRPr lang="en-US" sz="1900" dirty="0"/>
          </a:p>
        </p:txBody>
      </p:sp>
      <p:sp>
        <p:nvSpPr>
          <p:cNvPr id="13" name="Text 9"/>
          <p:cNvSpPr txBox="1"/>
          <p:nvPr/>
        </p:nvSpPr>
        <p:spPr>
          <a:xfrm>
            <a:off x="1874520" y="3840480"/>
            <a:ext cx="3931920" cy="640080"/>
          </a:xfrm>
          <a:prstGeom prst="rect">
            <a:avLst/>
          </a:prstGeom>
          <a:noFill/>
          <a:ln/>
        </p:spPr>
        <p:txBody>
          <a:bodyPr wrap="square" lIns="0" tIns="0" rIns="0" bIns="0" rtlCol="0" anchor="ctr"/>
          <a:lstStyle/>
          <a:p>
            <a:pPr algn="l" indent="0" marL="0">
              <a:buNone/>
            </a:pPr>
            <a:r>
              <a:rPr lang="en-US" sz="2300" i="1" dirty="0">
                <a:solidFill>
                  <a:schemeClr val="accent2"/>
                </a:solidFill>
              </a:rPr>
              <a:t>Ik </a:t>
            </a:r>
            <a:r>
              <a:rPr lang="en-US" sz="2300" b="1" i="1" dirty="0">
                <a:solidFill>
                  <a:schemeClr val="accent2"/>
                </a:solidFill>
              </a:rPr>
              <a:t>kan</a:t>
            </a:r>
            <a:r>
              <a:rPr lang="en-US" sz="2300" i="1" dirty="0">
                <a:solidFill>
                  <a:schemeClr val="accent2"/>
                </a:solidFill>
              </a:rPr>
              <a:t> morgen komen.</a:t>
            </a:r>
            <a:endParaRPr lang="en-US" sz="2300" dirty="0"/>
          </a:p>
        </p:txBody>
      </p:sp>
      <p:sp>
        <p:nvSpPr>
          <p:cNvPr id="14" name="Text 10"/>
          <p:cNvSpPr txBox="1"/>
          <p:nvPr/>
        </p:nvSpPr>
        <p:spPr>
          <a:xfrm>
            <a:off x="187452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c’est </a:t>
            </a:r>
            <a:r>
              <a:rPr lang="en-US" sz="1500" b="1" i="1" dirty="0">
                <a:solidFill>
                  <a:schemeClr val="accent5"/>
                </a:solidFill>
              </a:rPr>
              <a:t>possible</a:t>
            </a:r>
            <a:endParaRPr lang="en-US" sz="1500" dirty="0"/>
          </a:p>
        </p:txBody>
      </p:sp>
      <p:sp>
        <p:nvSpPr>
          <p:cNvPr id="15" name="Shape 11"/>
          <p:cNvSpPr/>
          <p:nvPr/>
        </p:nvSpPr>
        <p:spPr>
          <a:xfrm>
            <a:off x="6263640" y="3108960"/>
            <a:ext cx="5120640" cy="2011680"/>
          </a:xfrm>
          <a:prstGeom prst="roundRect">
            <a:avLst>
              <a:gd name="adj" fmla="val 3636"/>
            </a:avLst>
          </a:prstGeom>
          <a:solidFill>
            <a:schemeClr val="bg1"/>
          </a:solidFill>
          <a:ln w="31750">
            <a:solidFill>
              <a:srgbClr val="2E7D4F"/>
            </a:solidFill>
            <a:prstDash val="solid"/>
          </a:ln>
        </p:spPr>
      </p:sp>
      <p:pic>
        <p:nvPicPr>
          <p:cNvPr id="16" name="Image 1" descr="check mark button">    </p:cNvPr>
          <p:cNvPicPr>
            <a:picLocks noChangeAspect="1"/>
          </p:cNvPicPr>
          <p:nvPr/>
        </p:nvPicPr>
        <p:blipFill>
          <a:blip r:embed="rId2"/>
          <a:stretch>
            <a:fillRect/>
          </a:stretch>
        </p:blipFill>
        <p:spPr>
          <a:xfrm>
            <a:off x="6446520" y="3246120"/>
            <a:ext cx="731520" cy="731520"/>
          </a:xfrm>
          <a:prstGeom prst="rect">
            <a:avLst/>
          </a:prstGeom>
        </p:spPr>
      </p:pic>
      <p:sp>
        <p:nvSpPr>
          <p:cNvPr id="17" name="Text 12"/>
          <p:cNvSpPr txBox="1"/>
          <p:nvPr/>
        </p:nvSpPr>
        <p:spPr>
          <a:xfrm>
            <a:off x="731520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a:t>
            </a:r>
            <a:r>
              <a:rPr lang="en-US" sz="1900" b="1" dirty="0">
                <a:solidFill>
                  <a:schemeClr val="tx1"/>
                </a:solidFill>
              </a:rPr>
              <a:t>Puis</a:t>
            </a:r>
            <a:r>
              <a:rPr lang="en-US" sz="1900" dirty="0">
                <a:solidFill>
                  <a:schemeClr val="tx1"/>
                </a:solidFill>
              </a:rPr>
              <a:t>-je entrer ? »</a:t>
            </a:r>
            <a:endParaRPr lang="en-US" sz="1900" dirty="0"/>
          </a:p>
        </p:txBody>
      </p:sp>
      <p:sp>
        <p:nvSpPr>
          <p:cNvPr id="18" name="Text 13"/>
          <p:cNvSpPr txBox="1"/>
          <p:nvPr/>
        </p:nvSpPr>
        <p:spPr>
          <a:xfrm>
            <a:off x="7315200" y="3840480"/>
            <a:ext cx="3931920" cy="640080"/>
          </a:xfrm>
          <a:prstGeom prst="rect">
            <a:avLst/>
          </a:prstGeom>
          <a:noFill/>
          <a:ln/>
        </p:spPr>
        <p:txBody>
          <a:bodyPr wrap="square" lIns="0" tIns="0" rIns="0" bIns="0" rtlCol="0" anchor="ctr"/>
          <a:lstStyle/>
          <a:p>
            <a:pPr algn="l" indent="0" marL="0">
              <a:buNone/>
            </a:pPr>
            <a:r>
              <a:rPr lang="en-US" sz="2300" b="1" i="1" dirty="0">
                <a:solidFill>
                  <a:schemeClr val="accent3"/>
                </a:solidFill>
              </a:rPr>
              <a:t>Mag</a:t>
            </a:r>
            <a:r>
              <a:rPr lang="en-US" sz="2300" i="1" dirty="0">
                <a:solidFill>
                  <a:schemeClr val="accent3"/>
                </a:solidFill>
              </a:rPr>
              <a:t> ik binnenkomen?</a:t>
            </a:r>
            <a:endParaRPr lang="en-US" sz="2300" dirty="0"/>
          </a:p>
        </p:txBody>
      </p:sp>
      <p:sp>
        <p:nvSpPr>
          <p:cNvPr id="19" name="Text 14"/>
          <p:cNvSpPr txBox="1"/>
          <p:nvPr/>
        </p:nvSpPr>
        <p:spPr>
          <a:xfrm>
            <a:off x="731520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ai-je </a:t>
            </a:r>
            <a:r>
              <a:rPr lang="en-US" sz="1500" b="1" i="1" dirty="0">
                <a:solidFill>
                  <a:schemeClr val="accent5"/>
                </a:solidFill>
              </a:rPr>
              <a:t>le droit</a:t>
            </a:r>
            <a:r>
              <a:rPr lang="en-US" sz="1500" i="1" dirty="0">
                <a:solidFill>
                  <a:schemeClr val="accent5"/>
                </a:solidFill>
              </a:rPr>
              <a:t> ?</a:t>
            </a:r>
            <a:endParaRPr lang="en-US" sz="1500" dirty="0"/>
          </a:p>
        </p:txBody>
      </p:sp>
      <p:sp>
        <p:nvSpPr>
          <p:cNvPr id="20" name="Text 15"/>
          <p:cNvSpPr txBox="1"/>
          <p:nvPr/>
        </p:nvSpPr>
        <p:spPr>
          <a:xfrm>
            <a:off x="822960" y="5303520"/>
            <a:ext cx="10607040" cy="822960"/>
          </a:xfrm>
          <a:prstGeom prst="rect">
            <a:avLst/>
          </a:prstGeom>
          <a:noFill/>
          <a:ln/>
        </p:spPr>
        <p:txBody>
          <a:bodyPr wrap="square" lIns="0" tIns="0" rIns="0" bIns="0" rtlCol="0" anchor="ctr"/>
          <a:lstStyle/>
          <a:p>
            <a:pPr algn="ctr" indent="0" marL="0">
              <a:buNone/>
            </a:pPr>
            <a:r>
              <a:rPr lang="en-US" sz="1700" dirty="0">
                <a:solidFill>
                  <a:schemeClr val="tx1"/>
                </a:solidFill>
              </a:rPr>
              <a:t>Test : remplacez « pouvoir » par « avoir le droit ». Si ça marche → </a:t>
            </a:r>
            <a:r>
              <a:rPr lang="en-US" sz="1700" b="1" dirty="0">
                <a:solidFill>
                  <a:schemeClr val="tx1"/>
                </a:solidFill>
              </a:rPr>
              <a:t>mogen</a:t>
            </a:r>
            <a:r>
              <a:rPr lang="en-US" sz="1700" dirty="0">
                <a:solidFill>
                  <a:schemeClr val="tx1"/>
                </a:solidFill>
              </a:rPr>
              <a:t>. · </a:t>
            </a:r>
            <a:r>
              <a:rPr lang="en-US" sz="1700" i="1" dirty="0">
                <a:solidFill>
                  <a:schemeClr val="tx1"/>
                </a:solidFill>
              </a:rPr>
              <a:t>Kan ik binnenkomen?</a:t>
            </a:r>
            <a:r>
              <a:rPr lang="en-US" sz="1700" dirty="0">
                <a:solidFill>
                  <a:schemeClr val="tx1"/>
                </a:solidFill>
              </a:rPr>
              <a:t> s’entend aussi en Flandre, mais pour une </a:t>
            </a:r>
            <a:r>
              <a:rPr lang="en-US" sz="1700" b="1" dirty="0">
                <a:solidFill>
                  <a:schemeClr val="tx1"/>
                </a:solidFill>
              </a:rPr>
              <a:t>permission</a:t>
            </a:r>
            <a:r>
              <a:rPr lang="en-US" sz="1700" dirty="0">
                <a:solidFill>
                  <a:schemeClr val="tx1"/>
                </a:solidFill>
              </a:rPr>
              <a:t>, </a:t>
            </a:r>
            <a:r>
              <a:rPr lang="en-US" sz="1700" i="1" dirty="0">
                <a:solidFill>
                  <a:schemeClr val="tx1"/>
                </a:solidFill>
              </a:rPr>
              <a:t>Mag ik…?</a:t>
            </a:r>
            <a:r>
              <a:rPr lang="en-US" sz="1700" dirty="0">
                <a:solidFill>
                  <a:schemeClr val="tx1"/>
                </a:solidFill>
              </a:rPr>
              <a:t> est la forme sûre.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savoir » + verbe = kunnen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194560"/>
          </a:xfrm>
          <a:prstGeom prst="roundRect">
            <a:avLst>
              <a:gd name="adj" fmla="val 3333"/>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08660"/>
          </a:xfrm>
          <a:prstGeom prst="rect">
            <a:avLst/>
          </a:prstGeom>
          <a:noFill/>
          <a:ln/>
        </p:spPr>
        <p:txBody>
          <a:bodyPr wrap="square" lIns="0" tIns="0" rIns="0" bIns="0" rtlCol="0" anchor="ctr"/>
          <a:lstStyle/>
          <a:p>
            <a:pPr algn="l" indent="0" marL="0">
              <a:buNone/>
            </a:pPr>
            <a:r>
              <a:rPr lang="en-US" sz="2200" dirty="0">
                <a:solidFill>
                  <a:schemeClr val="tx1"/>
                </a:solidFill>
              </a:rPr>
              <a:t>« Je </a:t>
            </a:r>
            <a:r>
              <a:rPr lang="en-US" sz="2200" b="1" dirty="0">
                <a:solidFill>
                  <a:schemeClr val="tx1"/>
                </a:solidFill>
              </a:rPr>
              <a:t>sais</a:t>
            </a:r>
            <a:r>
              <a:rPr lang="en-US" sz="2200" dirty="0">
                <a:solidFill>
                  <a:schemeClr val="tx1"/>
                </a:solidFill>
              </a:rPr>
              <a:t> nager. » → </a:t>
            </a:r>
            <a:r>
              <a:rPr lang="en-US" sz="2200" i="1" strike="sngStrike" dirty="0">
                <a:solidFill>
                  <a:schemeClr val="accent6"/>
                </a:solidFill>
              </a:rPr>
              <a:t>Ik weet zwemmen.</a:t>
            </a:r>
            <a:endParaRPr lang="en-US" sz="2200" dirty="0"/>
          </a:p>
        </p:txBody>
      </p:sp>
      <p:pic>
        <p:nvPicPr>
          <p:cNvPr id="8" name="Image 0" descr="ArrowDown">    </p:cNvPr>
          <p:cNvPicPr>
            <a:picLocks noChangeAspect="1"/>
          </p:cNvPicPr>
          <p:nvPr/>
        </p:nvPicPr>
        <p:blipFill>
          <a:blip r:embed="rId1"/>
          <a:stretch>
            <a:fillRect/>
          </a:stretch>
        </p:blipFill>
        <p:spPr>
          <a:xfrm>
            <a:off x="822960" y="2747772"/>
            <a:ext cx="237744" cy="237744"/>
          </a:xfrm>
          <a:prstGeom prst="rect">
            <a:avLst/>
          </a:prstGeom>
        </p:spPr>
      </p:pic>
      <p:sp>
        <p:nvSpPr>
          <p:cNvPr id="9" name="Shape 5"/>
          <p:cNvSpPr/>
          <p:nvPr/>
        </p:nvSpPr>
        <p:spPr>
          <a:xfrm>
            <a:off x="777240" y="2976372"/>
            <a:ext cx="10634472" cy="672084"/>
          </a:xfrm>
          <a:prstGeom prst="roundRect">
            <a:avLst>
              <a:gd name="adj" fmla="val 10884"/>
            </a:avLst>
          </a:prstGeom>
          <a:solidFill>
            <a:schemeClr val="accent3">
              <a:alpha val="12000"/>
            </a:schemeClr>
          </a:solidFill>
          <a:ln w="15875">
            <a:solidFill>
              <a:srgbClr val="2E7D4F"/>
            </a:solidFill>
            <a:prstDash val="solid"/>
          </a:ln>
        </p:spPr>
      </p:sp>
      <p:sp>
        <p:nvSpPr>
          <p:cNvPr id="10" name="Text 6"/>
          <p:cNvSpPr txBox="1"/>
          <p:nvPr/>
        </p:nvSpPr>
        <p:spPr>
          <a:xfrm>
            <a:off x="914400" y="2976372"/>
            <a:ext cx="10360152" cy="67208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kan</a:t>
            </a:r>
            <a:r>
              <a:rPr lang="en-US" sz="2200" i="1" dirty="0">
                <a:solidFill>
                  <a:schemeClr val="tx1"/>
                </a:solidFill>
              </a:rPr>
              <a:t> zwemmen.</a:t>
            </a:r>
            <a:r>
              <a:rPr lang="en-US" sz="2200" dirty="0">
                <a:solidFill>
                  <a:schemeClr val="tx1"/>
                </a:solidFill>
              </a:rPr>
              <a:t>  — savoir </a:t>
            </a:r>
            <a:r>
              <a:rPr lang="en-US" sz="2200" b="1" dirty="0">
                <a:solidFill>
                  <a:schemeClr val="tx1"/>
                </a:solidFill>
              </a:rPr>
              <a:t>faire</a:t>
            </a:r>
            <a:r>
              <a:rPr lang="en-US" sz="2200" dirty="0">
                <a:solidFill>
                  <a:schemeClr val="tx1"/>
                </a:solidFill>
              </a:rPr>
              <a:t> quelque chose = </a:t>
            </a:r>
            <a:r>
              <a:rPr lang="en-US" sz="2200" i="1" dirty="0">
                <a:solidFill>
                  <a:schemeClr val="tx1"/>
                </a:solidFill>
              </a:rPr>
              <a:t>kunnen</a:t>
            </a:r>
            <a:endParaRPr lang="en-US" sz="2200" dirty="0"/>
          </a:p>
        </p:txBody>
      </p:sp>
      <p:pic>
        <p:nvPicPr>
          <p:cNvPr id="11" name="Image 1" descr="person swimming">    </p:cNvPr>
          <p:cNvPicPr>
            <a:picLocks noChangeAspect="1"/>
          </p:cNvPicPr>
          <p:nvPr/>
        </p:nvPicPr>
        <p:blipFill>
          <a:blip r:embed="rId2"/>
          <a:stretch>
            <a:fillRect/>
          </a:stretch>
        </p:blipFill>
        <p:spPr>
          <a:xfrm>
            <a:off x="10424160" y="1691640"/>
            <a:ext cx="914400" cy="914400"/>
          </a:xfrm>
          <a:prstGeom prst="rect">
            <a:avLst/>
          </a:prstGeom>
        </p:spPr>
      </p:pic>
      <p:sp>
        <p:nvSpPr>
          <p:cNvPr id="12" name="Shape 7"/>
          <p:cNvSpPr/>
          <p:nvPr/>
        </p:nvSpPr>
        <p:spPr>
          <a:xfrm>
            <a:off x="548640" y="3931920"/>
            <a:ext cx="5440680" cy="2331720"/>
          </a:xfrm>
          <a:prstGeom prst="roundRect">
            <a:avLst>
              <a:gd name="adj" fmla="val 3137"/>
            </a:avLst>
          </a:prstGeom>
          <a:solidFill>
            <a:schemeClr val="accent2">
              <a:alpha val="10000"/>
            </a:schemeClr>
          </a:solidFill>
          <a:ln w="19050">
            <a:solidFill>
              <a:srgbClr val="2A6FB0"/>
            </a:solidFill>
            <a:prstDash val="solid"/>
          </a:ln>
        </p:spPr>
      </p:sp>
      <p:sp>
        <p:nvSpPr>
          <p:cNvPr id="13" name="Text 8"/>
          <p:cNvSpPr txBox="1"/>
          <p:nvPr/>
        </p:nvSpPr>
        <p:spPr>
          <a:xfrm>
            <a:off x="777240"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2"/>
                </a:solidFill>
              </a:rPr>
              <a:t>SAVOIR FAIRE → KUNNEN</a:t>
            </a:r>
            <a:endParaRPr lang="en-US" sz="1400" dirty="0"/>
          </a:p>
        </p:txBody>
      </p:sp>
      <p:sp>
        <p:nvSpPr>
          <p:cNvPr id="14" name="Text 9"/>
          <p:cNvSpPr txBox="1"/>
          <p:nvPr/>
        </p:nvSpPr>
        <p:spPr>
          <a:xfrm>
            <a:off x="777240"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zwemmen / koken.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 spreken.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a:t>
            </a:r>
            <a:r>
              <a:rPr lang="en-US" sz="1900" dirty="0">
                <a:solidFill>
                  <a:schemeClr val="tx1"/>
                </a:solidFill>
              </a:rPr>
              <a:t> (oral)</a:t>
            </a:r>
            <a:endParaRPr lang="en-US" sz="1900" dirty="0"/>
          </a:p>
        </p:txBody>
      </p:sp>
      <p:sp>
        <p:nvSpPr>
          <p:cNvPr id="15" name="Shape 10"/>
          <p:cNvSpPr/>
          <p:nvPr/>
        </p:nvSpPr>
        <p:spPr>
          <a:xfrm>
            <a:off x="6199632" y="3931920"/>
            <a:ext cx="5440680" cy="2331720"/>
          </a:xfrm>
          <a:prstGeom prst="roundRect">
            <a:avLst>
              <a:gd name="adj" fmla="val 3137"/>
            </a:avLst>
          </a:prstGeom>
          <a:solidFill>
            <a:schemeClr val="accent5">
              <a:alpha val="10000"/>
            </a:schemeClr>
          </a:solidFill>
          <a:ln w="19050">
            <a:solidFill>
              <a:srgbClr val="4A5A70"/>
            </a:solidFill>
            <a:prstDash val="solid"/>
          </a:ln>
        </p:spPr>
      </p:sp>
      <p:sp>
        <p:nvSpPr>
          <p:cNvPr id="16" name="Text 11"/>
          <p:cNvSpPr txBox="1"/>
          <p:nvPr/>
        </p:nvSpPr>
        <p:spPr>
          <a:xfrm>
            <a:off x="6428232"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SAVOIR UNE INFORMATION → WETEN</a:t>
            </a:r>
            <a:endParaRPr lang="en-US" sz="1400" dirty="0"/>
          </a:p>
        </p:txBody>
      </p:sp>
      <p:sp>
        <p:nvSpPr>
          <p:cNvPr id="17" name="Text 12"/>
          <p:cNvSpPr txBox="1"/>
          <p:nvPr/>
        </p:nvSpPr>
        <p:spPr>
          <a:xfrm>
            <a:off x="6428232"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het. · Ik </a:t>
            </a:r>
            <a:r>
              <a:rPr lang="en-US" sz="1900" b="1" i="1" dirty="0">
                <a:solidFill>
                  <a:schemeClr val="tx1"/>
                </a:solidFill>
              </a:rPr>
              <a:t>weet</a:t>
            </a:r>
            <a:r>
              <a:rPr lang="en-US" sz="1900" i="1" dirty="0">
                <a:solidFill>
                  <a:schemeClr val="tx1"/>
                </a:solidFill>
              </a:rPr>
              <a:t> het niet.</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dat de vergadering om 10 uur begint.</a:t>
            </a:r>
            <a:r>
              <a:rPr lang="en-US" sz="1900" dirty="0">
                <a:solidFill>
                  <a:schemeClr val="tx1"/>
                </a:solidFill>
              </a:rPr>
              <a:t> (M9)</a:t>
            </a:r>
            <a:endParaRPr lang="en-US" sz="1900" dirty="0"/>
          </a:p>
        </p:txBody>
      </p:sp>
      <p:pic>
        <p:nvPicPr>
          <p:cNvPr id="18" name="Image 2" descr="light bulb">    </p:cNvPr>
          <p:cNvPicPr>
            <a:picLocks noChangeAspect="1"/>
          </p:cNvPicPr>
          <p:nvPr/>
        </p:nvPicPr>
        <p:blipFill>
          <a:blip r:embed="rId3"/>
          <a:stretch>
            <a:fillRect/>
          </a:stretch>
        </p:blipFill>
        <p:spPr>
          <a:xfrm>
            <a:off x="10972800" y="4023360"/>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il ne faut pas » = niet mogen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8778240" cy="2651760"/>
          </a:xfrm>
          <a:prstGeom prst="roundRect">
            <a:avLst>
              <a:gd name="adj" fmla="val 2759"/>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8229600" cy="937260"/>
          </a:xfrm>
          <a:prstGeom prst="rect">
            <a:avLst/>
          </a:prstGeom>
          <a:noFill/>
          <a:ln/>
        </p:spPr>
        <p:txBody>
          <a:bodyPr wrap="square" lIns="0" tIns="0" rIns="0" bIns="0" rtlCol="0" anchor="ctr"/>
          <a:lstStyle/>
          <a:p>
            <a:pPr algn="l" indent="0" marL="0">
              <a:buNone/>
            </a:pPr>
            <a:r>
              <a:rPr lang="en-US" sz="2200" dirty="0">
                <a:solidFill>
                  <a:schemeClr val="tx1"/>
                </a:solidFill>
              </a:rPr>
              <a:t>« Il ne faut pas fumer ici. » → </a:t>
            </a:r>
            <a:r>
              <a:rPr lang="en-US" sz="2200" i="1" strike="sngStrike" dirty="0">
                <a:solidFill>
                  <a:schemeClr val="accent6"/>
                </a:solidFill>
              </a:rPr>
              <a:t>Je moet hier niet roken.</a:t>
            </a:r>
            <a:endParaRPr lang="en-US" sz="2200" dirty="0"/>
          </a:p>
        </p:txBody>
      </p:sp>
      <p:pic>
        <p:nvPicPr>
          <p:cNvPr id="8" name="Image 0" descr="ArrowDown">    </p:cNvPr>
          <p:cNvPicPr>
            <a:picLocks noChangeAspect="1"/>
          </p:cNvPicPr>
          <p:nvPr/>
        </p:nvPicPr>
        <p:blipFill>
          <a:blip r:embed="rId1"/>
          <a:stretch>
            <a:fillRect/>
          </a:stretch>
        </p:blipFill>
        <p:spPr>
          <a:xfrm>
            <a:off x="822960" y="2976372"/>
            <a:ext cx="237744" cy="237744"/>
          </a:xfrm>
          <a:prstGeom prst="rect">
            <a:avLst/>
          </a:prstGeom>
        </p:spPr>
      </p:pic>
      <p:sp>
        <p:nvSpPr>
          <p:cNvPr id="9" name="Shape 5"/>
          <p:cNvSpPr/>
          <p:nvPr/>
        </p:nvSpPr>
        <p:spPr>
          <a:xfrm>
            <a:off x="777240" y="3204972"/>
            <a:ext cx="8321040" cy="900684"/>
          </a:xfrm>
          <a:prstGeom prst="roundRect">
            <a:avLst>
              <a:gd name="adj" fmla="val 8122"/>
            </a:avLst>
          </a:prstGeom>
          <a:solidFill>
            <a:schemeClr val="accent3">
              <a:alpha val="12000"/>
            </a:schemeClr>
          </a:solidFill>
          <a:ln w="15875">
            <a:solidFill>
              <a:srgbClr val="2E7D4F"/>
            </a:solidFill>
            <a:prstDash val="solid"/>
          </a:ln>
        </p:spPr>
      </p:sp>
      <p:sp>
        <p:nvSpPr>
          <p:cNvPr id="10" name="Text 6"/>
          <p:cNvSpPr txBox="1"/>
          <p:nvPr/>
        </p:nvSpPr>
        <p:spPr>
          <a:xfrm>
            <a:off x="914400" y="3204972"/>
            <a:ext cx="8046720" cy="900684"/>
          </a:xfrm>
          <a:prstGeom prst="rect">
            <a:avLst/>
          </a:prstGeom>
          <a:noFill/>
          <a:ln/>
        </p:spPr>
        <p:txBody>
          <a:bodyPr wrap="square" lIns="0" tIns="0" rIns="0" bIns="0" rtlCol="0" anchor="ctr"/>
          <a:lstStyle/>
          <a:p>
            <a:pPr algn="l" indent="0" marL="0">
              <a:buNone/>
            </a:pPr>
            <a:r>
              <a:rPr lang="en-US" sz="2200" i="1" dirty="0">
                <a:solidFill>
                  <a:schemeClr val="tx1"/>
                </a:solidFill>
              </a:rPr>
              <a:t>Je </a:t>
            </a:r>
            <a:r>
              <a:rPr lang="en-US" sz="2200" b="1" i="1" dirty="0">
                <a:solidFill>
                  <a:schemeClr val="tx1"/>
                </a:solidFill>
              </a:rPr>
              <a:t>mag</a:t>
            </a:r>
            <a:r>
              <a:rPr lang="en-US" sz="2200" i="1" dirty="0">
                <a:solidFill>
                  <a:schemeClr val="tx1"/>
                </a:solidFill>
              </a:rPr>
              <a:t> hier niet roken.</a:t>
            </a:r>
            <a:r>
              <a:rPr lang="en-US" sz="2200" dirty="0">
                <a:solidFill>
                  <a:schemeClr val="tx1"/>
                </a:solidFill>
              </a:rPr>
              <a:t>  (tu n’as pas le droit)</a:t>
            </a:r>
            <a:endParaRPr lang="en-US" sz="2200" dirty="0"/>
          </a:p>
        </p:txBody>
      </p:sp>
      <p:sp>
        <p:nvSpPr>
          <p:cNvPr id="11" name="Shape 7"/>
          <p:cNvSpPr/>
          <p:nvPr/>
        </p:nvSpPr>
        <p:spPr>
          <a:xfrm>
            <a:off x="9646920" y="1783080"/>
            <a:ext cx="1920240" cy="1920240"/>
          </a:xfrm>
          <a:prstGeom prst="ellipse">
            <a:avLst/>
          </a:prstGeom>
          <a:solidFill>
            <a:srgbClr val="FFFFFF"/>
          </a:solidFill>
          <a:ln w="63500">
            <a:solidFill>
              <a:srgbClr val="B83227"/>
            </a:solidFill>
            <a:prstDash val="solid"/>
          </a:ln>
        </p:spPr>
      </p:sp>
      <p:pic>
        <p:nvPicPr>
          <p:cNvPr id="12" name="Image 1" descr="cigarette">    </p:cNvPr>
          <p:cNvPicPr>
            <a:picLocks noChangeAspect="1"/>
          </p:cNvPicPr>
          <p:nvPr/>
        </p:nvPicPr>
        <p:blipFill>
          <a:blip r:embed="rId2"/>
          <a:stretch>
            <a:fillRect/>
          </a:stretch>
        </p:blipFill>
        <p:spPr>
          <a:xfrm>
            <a:off x="10012680" y="2148840"/>
            <a:ext cx="1188720" cy="1188720"/>
          </a:xfrm>
          <a:prstGeom prst="rect">
            <a:avLst/>
          </a:prstGeom>
        </p:spPr>
      </p:pic>
      <p:sp>
        <p:nvSpPr>
          <p:cNvPr id="13" name="Shape 8"/>
          <p:cNvSpPr/>
          <p:nvPr/>
        </p:nvSpPr>
        <p:spPr>
          <a:xfrm>
            <a:off x="9966960" y="2103120"/>
            <a:ext cx="1280160" cy="1280160"/>
          </a:xfrm>
          <a:prstGeom prst="line">
            <a:avLst/>
          </a:prstGeom>
          <a:noFill/>
          <a:ln w="76200">
            <a:solidFill>
              <a:srgbClr val="B83227"/>
            </a:solidFill>
            <a:prstDash val="solid"/>
          </a:ln>
        </p:spPr>
      </p:sp>
      <p:sp>
        <p:nvSpPr>
          <p:cNvPr id="14" name="Shape 9"/>
          <p:cNvSpPr/>
          <p:nvPr/>
        </p:nvSpPr>
        <p:spPr>
          <a:xfrm>
            <a:off x="548640" y="4434840"/>
            <a:ext cx="11091672" cy="1828800"/>
          </a:xfrm>
          <a:prstGeom prst="roundRect">
            <a:avLst>
              <a:gd name="adj" fmla="val 4000"/>
            </a:avLst>
          </a:prstGeom>
          <a:solidFill>
            <a:schemeClr val="accent5">
              <a:alpha val="10000"/>
            </a:schemeClr>
          </a:solidFill>
          <a:ln w="15875">
            <a:solidFill>
              <a:srgbClr val="4A5A70"/>
            </a:solidFill>
            <a:prstDash val="solid"/>
          </a:ln>
        </p:spPr>
      </p:sp>
      <p:sp>
        <p:nvSpPr>
          <p:cNvPr id="15" name="tag"/>
          <p:cNvSpPr/>
          <p:nvPr/>
        </p:nvSpPr>
        <p:spPr>
          <a:xfrm>
            <a:off x="731520" y="4572000"/>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16" name="Text 11"/>
          <p:cNvSpPr txBox="1"/>
          <p:nvPr/>
        </p:nvSpPr>
        <p:spPr>
          <a:xfrm>
            <a:off x="777240" y="4937760"/>
            <a:ext cx="10698480" cy="123444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 Tu n’es pas obligé de venir. » → </a:t>
            </a:r>
            <a:r>
              <a:rPr lang="en-US" sz="1800" i="1" dirty="0">
                <a:solidFill>
                  <a:schemeClr val="tx1"/>
                </a:solidFill>
              </a:rPr>
              <a:t>Je </a:t>
            </a:r>
            <a:r>
              <a:rPr lang="en-US" sz="1800" b="1" i="1" dirty="0">
                <a:solidFill>
                  <a:schemeClr val="tx1"/>
                </a:solidFill>
              </a:rPr>
              <a:t>hoeft</a:t>
            </a:r>
            <a:r>
              <a:rPr lang="en-US" sz="1800" i="1" dirty="0">
                <a:solidFill>
                  <a:schemeClr val="tx1"/>
                </a:solidFill>
              </a:rPr>
              <a:t> niet </a:t>
            </a:r>
            <a:r>
              <a:rPr lang="en-US" sz="1800" b="1" i="1" dirty="0">
                <a:solidFill>
                  <a:schemeClr val="tx1"/>
                </a:solidFill>
              </a:rPr>
              <a:t>te</a:t>
            </a:r>
            <a:r>
              <a:rPr lang="en-US" sz="1800" i="1" dirty="0">
                <a:solidFill>
                  <a:schemeClr val="tx1"/>
                </a:solidFill>
              </a:rPr>
              <a:t> komen.</a:t>
            </a:r>
            <a:endParaRPr lang="en-US" sz="1800" dirty="0"/>
          </a:p>
          <a:p>
            <a:pPr algn="l" indent="0" marL="0">
              <a:spcAft>
                <a:spcPts val="600"/>
              </a:spcAft>
              <a:buNone/>
            </a:pPr>
            <a:r>
              <a:rPr lang="en-US" sz="1800" dirty="0">
                <a:solidFill>
                  <a:schemeClr val="tx1"/>
                </a:solidFill>
              </a:rPr>
              <a:t>En Belgique aussi : </a:t>
            </a:r>
            <a:r>
              <a:rPr lang="en-US" sz="1800" i="1" dirty="0">
                <a:solidFill>
                  <a:schemeClr val="tx1"/>
                </a:solidFill>
              </a:rPr>
              <a:t>Je </a:t>
            </a:r>
            <a:r>
              <a:rPr lang="en-US" sz="1800" b="1" i="1" dirty="0">
                <a:solidFill>
                  <a:schemeClr val="tx1"/>
                </a:solidFill>
              </a:rPr>
              <a:t>moet</a:t>
            </a:r>
            <a:r>
              <a:rPr lang="en-US" sz="1800" i="1" dirty="0">
                <a:solidFill>
                  <a:schemeClr val="tx1"/>
                </a:solidFill>
              </a:rPr>
              <a:t> niet komen.</a:t>
            </a:r>
            <a:r>
              <a:rPr lang="en-US" sz="1800" dirty="0">
                <a:solidFill>
                  <a:schemeClr val="tx1"/>
                </a:solidFill>
              </a:rPr>
              <a:t> (= pas obligé, </a:t>
            </a:r>
            <a:r>
              <a:rPr lang="en-US" sz="1800" b="1" dirty="0">
                <a:solidFill>
                  <a:schemeClr val="tx1"/>
                </a:solidFill>
              </a:rPr>
              <a:t>pas</a:t>
            </a:r>
            <a:r>
              <a:rPr lang="en-US" sz="1800" dirty="0">
                <a:solidFill>
                  <a:schemeClr val="tx1"/>
                </a:solidFill>
              </a:rPr>
              <a:t> une interdiction)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avec un verbe de modalité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592165" cy="640080"/>
          </a:xfrm>
          <a:prstGeom prst="roundRect">
            <a:avLst>
              <a:gd name="adj" fmla="val 12353"/>
            </a:avLst>
          </a:prstGeom>
          <a:solidFill>
            <a:schemeClr val="bg1"/>
          </a:solidFill>
          <a:ln w="15875">
            <a:solidFill>
              <a:srgbClr val="D5DCE6"/>
            </a:solidFill>
            <a:prstDash val="solid"/>
          </a:ln>
        </p:spPr>
      </p:sp>
      <p:sp>
        <p:nvSpPr>
          <p:cNvPr id="6" name="Text 3"/>
          <p:cNvSpPr txBox="1"/>
          <p:nvPr/>
        </p:nvSpPr>
        <p:spPr>
          <a:xfrm>
            <a:off x="548640" y="160020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7" name="Shape 4"/>
          <p:cNvSpPr/>
          <p:nvPr/>
        </p:nvSpPr>
        <p:spPr>
          <a:xfrm>
            <a:off x="1232245" y="1600200"/>
            <a:ext cx="741944" cy="640080"/>
          </a:xfrm>
          <a:prstGeom prst="roundRect">
            <a:avLst>
              <a:gd name="adj" fmla="val 11429"/>
            </a:avLst>
          </a:prstGeom>
          <a:solidFill>
            <a:srgbClr val="FBEDEB"/>
          </a:solidFill>
          <a:ln w="31750">
            <a:solidFill>
              <a:srgbClr val="B83227"/>
            </a:solidFill>
            <a:prstDash val="solid"/>
          </a:ln>
        </p:spPr>
      </p:sp>
      <p:sp>
        <p:nvSpPr>
          <p:cNvPr id="8" name="Text 5"/>
          <p:cNvSpPr txBox="1"/>
          <p:nvPr/>
        </p:nvSpPr>
        <p:spPr>
          <a:xfrm>
            <a:off x="1232245" y="160020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mag</a:t>
            </a:r>
            <a:endParaRPr lang="en-US" sz="2100" dirty="0"/>
          </a:p>
        </p:txBody>
      </p:sp>
      <p:sp>
        <p:nvSpPr>
          <p:cNvPr id="9" name="Shape 6"/>
          <p:cNvSpPr/>
          <p:nvPr/>
        </p:nvSpPr>
        <p:spPr>
          <a:xfrm>
            <a:off x="2065630" y="1600200"/>
            <a:ext cx="1790395" cy="640080"/>
          </a:xfrm>
          <a:prstGeom prst="roundRect">
            <a:avLst>
              <a:gd name="adj" fmla="val 11429"/>
            </a:avLst>
          </a:prstGeom>
          <a:solidFill>
            <a:schemeClr val="bg1"/>
          </a:solidFill>
          <a:ln w="15875">
            <a:solidFill>
              <a:srgbClr val="D5DCE6"/>
            </a:solidFill>
            <a:prstDash val="solid"/>
          </a:ln>
        </p:spPr>
      </p:sp>
      <p:sp>
        <p:nvSpPr>
          <p:cNvPr id="10" name="Text 7"/>
          <p:cNvSpPr txBox="1"/>
          <p:nvPr/>
        </p:nvSpPr>
        <p:spPr>
          <a:xfrm>
            <a:off x="2065630" y="1600200"/>
            <a:ext cx="1790395" cy="640080"/>
          </a:xfrm>
          <a:prstGeom prst="rect">
            <a:avLst/>
          </a:prstGeom>
          <a:noFill/>
          <a:ln/>
        </p:spPr>
        <p:txBody>
          <a:bodyPr wrap="square" lIns="0" tIns="0" rIns="0" bIns="0" rtlCol="0" anchor="ctr"/>
          <a:lstStyle/>
          <a:p>
            <a:pPr algn="ctr" indent="0" marL="0">
              <a:buNone/>
            </a:pPr>
            <a:r>
              <a:rPr lang="en-US" sz="2100" dirty="0">
                <a:solidFill>
                  <a:schemeClr val="tx1"/>
                </a:solidFill>
              </a:rPr>
              <a:t>een koekje</a:t>
            </a:r>
            <a:endParaRPr lang="en-US" sz="2100" dirty="0"/>
          </a:p>
        </p:txBody>
      </p:sp>
      <p:sp>
        <p:nvSpPr>
          <p:cNvPr id="11" name="Shape 8"/>
          <p:cNvSpPr/>
          <p:nvPr/>
        </p:nvSpPr>
        <p:spPr>
          <a:xfrm>
            <a:off x="3947465" y="1600200"/>
            <a:ext cx="1041502" cy="640080"/>
          </a:xfrm>
          <a:prstGeom prst="roundRect">
            <a:avLst>
              <a:gd name="adj" fmla="val 11429"/>
            </a:avLst>
          </a:prstGeom>
          <a:solidFill>
            <a:srgbClr val="FBEDEB"/>
          </a:solidFill>
          <a:ln w="25400">
            <a:solidFill>
              <a:srgbClr val="B83227"/>
            </a:solidFill>
            <a:prstDash val="dash"/>
          </a:ln>
        </p:spPr>
      </p:sp>
      <p:sp>
        <p:nvSpPr>
          <p:cNvPr id="12" name="Text 9"/>
          <p:cNvSpPr txBox="1"/>
          <p:nvPr/>
        </p:nvSpPr>
        <p:spPr>
          <a:xfrm>
            <a:off x="3947465" y="160020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eten.</a:t>
            </a:r>
            <a:endParaRPr lang="en-US" sz="2100" dirty="0"/>
          </a:p>
        </p:txBody>
      </p:sp>
      <p:sp>
        <p:nvSpPr>
          <p:cNvPr id="13" name="Shape 10"/>
          <p:cNvSpPr/>
          <p:nvPr/>
        </p:nvSpPr>
        <p:spPr>
          <a:xfrm>
            <a:off x="548640" y="2377440"/>
            <a:ext cx="741944" cy="640080"/>
          </a:xfrm>
          <a:prstGeom prst="roundRect">
            <a:avLst>
              <a:gd name="adj" fmla="val 11429"/>
            </a:avLst>
          </a:prstGeom>
          <a:solidFill>
            <a:schemeClr val="bg1"/>
          </a:solidFill>
          <a:ln w="15875">
            <a:solidFill>
              <a:srgbClr val="D5DCE6"/>
            </a:solidFill>
            <a:prstDash val="solid"/>
          </a:ln>
        </p:spPr>
      </p:sp>
      <p:sp>
        <p:nvSpPr>
          <p:cNvPr id="14" name="Text 11"/>
          <p:cNvSpPr txBox="1"/>
          <p:nvPr/>
        </p:nvSpPr>
        <p:spPr>
          <a:xfrm>
            <a:off x="548640" y="2377440"/>
            <a:ext cx="741944" cy="640080"/>
          </a:xfrm>
          <a:prstGeom prst="rect">
            <a:avLst/>
          </a:prstGeom>
          <a:noFill/>
          <a:ln/>
        </p:spPr>
        <p:txBody>
          <a:bodyPr wrap="square" lIns="0" tIns="0" rIns="0" bIns="0" rtlCol="0" anchor="ctr"/>
          <a:lstStyle/>
          <a:p>
            <a:pPr algn="ctr" indent="0" marL="0">
              <a:buNone/>
            </a:pPr>
            <a:r>
              <a:rPr lang="en-US" sz="2100" dirty="0">
                <a:solidFill>
                  <a:schemeClr val="tx1"/>
                </a:solidFill>
              </a:rPr>
              <a:t>Jij</a:t>
            </a:r>
            <a:endParaRPr lang="en-US" sz="2100" dirty="0"/>
          </a:p>
        </p:txBody>
      </p:sp>
      <p:sp>
        <p:nvSpPr>
          <p:cNvPr id="15" name="Shape 12"/>
          <p:cNvSpPr/>
          <p:nvPr/>
        </p:nvSpPr>
        <p:spPr>
          <a:xfrm>
            <a:off x="1382024" y="2377440"/>
            <a:ext cx="891723" cy="640080"/>
          </a:xfrm>
          <a:prstGeom prst="roundRect">
            <a:avLst>
              <a:gd name="adj" fmla="val 11429"/>
            </a:avLst>
          </a:prstGeom>
          <a:solidFill>
            <a:srgbClr val="FBEDEB"/>
          </a:solidFill>
          <a:ln w="31750">
            <a:solidFill>
              <a:srgbClr val="B83227"/>
            </a:solidFill>
            <a:prstDash val="solid"/>
          </a:ln>
        </p:spPr>
      </p:sp>
      <p:sp>
        <p:nvSpPr>
          <p:cNvPr id="16" name="Text 13"/>
          <p:cNvSpPr txBox="1"/>
          <p:nvPr/>
        </p:nvSpPr>
        <p:spPr>
          <a:xfrm>
            <a:off x="1382024" y="237744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17" name="Shape 14"/>
          <p:cNvSpPr/>
          <p:nvPr/>
        </p:nvSpPr>
        <p:spPr>
          <a:xfrm>
            <a:off x="2365187" y="2377440"/>
            <a:ext cx="2089953" cy="640080"/>
          </a:xfrm>
          <a:prstGeom prst="roundRect">
            <a:avLst>
              <a:gd name="adj" fmla="val 11429"/>
            </a:avLst>
          </a:prstGeom>
          <a:solidFill>
            <a:schemeClr val="bg1"/>
          </a:solidFill>
          <a:ln w="15875">
            <a:solidFill>
              <a:srgbClr val="D5DCE6"/>
            </a:solidFill>
            <a:prstDash val="solid"/>
          </a:ln>
        </p:spPr>
      </p:sp>
      <p:sp>
        <p:nvSpPr>
          <p:cNvPr id="18" name="Text 15"/>
          <p:cNvSpPr txBox="1"/>
          <p:nvPr/>
        </p:nvSpPr>
        <p:spPr>
          <a:xfrm>
            <a:off x="2365187" y="2377440"/>
            <a:ext cx="2089953" cy="640080"/>
          </a:xfrm>
          <a:prstGeom prst="rect">
            <a:avLst/>
          </a:prstGeom>
          <a:noFill/>
          <a:ln/>
        </p:spPr>
        <p:txBody>
          <a:bodyPr wrap="square" lIns="0" tIns="0" rIns="0" bIns="0" rtlCol="0" anchor="ctr"/>
          <a:lstStyle/>
          <a:p>
            <a:pPr algn="ctr" indent="0" marL="0">
              <a:buNone/>
            </a:pPr>
            <a:r>
              <a:rPr lang="en-US" sz="2100" dirty="0">
                <a:solidFill>
                  <a:schemeClr val="tx1"/>
                </a:solidFill>
              </a:rPr>
              <a:t>morgen vroeg</a:t>
            </a:r>
            <a:endParaRPr lang="en-US" sz="2100" dirty="0"/>
          </a:p>
        </p:txBody>
      </p:sp>
      <p:sp>
        <p:nvSpPr>
          <p:cNvPr id="19" name="Shape 16"/>
          <p:cNvSpPr/>
          <p:nvPr/>
        </p:nvSpPr>
        <p:spPr>
          <a:xfrm>
            <a:off x="4546580" y="2377440"/>
            <a:ext cx="1940174" cy="640080"/>
          </a:xfrm>
          <a:prstGeom prst="roundRect">
            <a:avLst>
              <a:gd name="adj" fmla="val 11429"/>
            </a:avLst>
          </a:prstGeom>
          <a:solidFill>
            <a:srgbClr val="FBEDEB"/>
          </a:solidFill>
          <a:ln w="25400">
            <a:solidFill>
              <a:srgbClr val="B83227"/>
            </a:solidFill>
            <a:prstDash val="dash"/>
          </a:ln>
        </p:spPr>
      </p:sp>
      <p:sp>
        <p:nvSpPr>
          <p:cNvPr id="20" name="Text 17"/>
          <p:cNvSpPr txBox="1"/>
          <p:nvPr/>
        </p:nvSpPr>
        <p:spPr>
          <a:xfrm>
            <a:off x="4546580" y="2377440"/>
            <a:ext cx="1940174" cy="640080"/>
          </a:xfrm>
          <a:prstGeom prst="rect">
            <a:avLst/>
          </a:prstGeom>
          <a:noFill/>
          <a:ln/>
        </p:spPr>
        <p:txBody>
          <a:bodyPr wrap="square" lIns="0" tIns="0" rIns="0" bIns="0" rtlCol="0" anchor="ctr"/>
          <a:lstStyle/>
          <a:p>
            <a:pPr algn="ctr" indent="0" marL="0">
              <a:buNone/>
            </a:pPr>
            <a:r>
              <a:rPr lang="en-US" sz="2100" b="1" dirty="0">
                <a:solidFill>
                  <a:schemeClr val="accent6"/>
                </a:solidFill>
              </a:rPr>
              <a:t>vertrekken.</a:t>
            </a:r>
            <a:endParaRPr lang="en-US" sz="2100" dirty="0"/>
          </a:p>
        </p:txBody>
      </p:sp>
      <p:sp>
        <p:nvSpPr>
          <p:cNvPr id="21" name="Shape 18"/>
          <p:cNvSpPr/>
          <p:nvPr/>
        </p:nvSpPr>
        <p:spPr>
          <a:xfrm>
            <a:off x="548640" y="3154680"/>
            <a:ext cx="592165" cy="640080"/>
          </a:xfrm>
          <a:prstGeom prst="roundRect">
            <a:avLst>
              <a:gd name="adj" fmla="val 12353"/>
            </a:avLst>
          </a:prstGeom>
          <a:solidFill>
            <a:schemeClr val="bg1"/>
          </a:solidFill>
          <a:ln w="15875">
            <a:solidFill>
              <a:srgbClr val="D5DCE6"/>
            </a:solidFill>
            <a:prstDash val="solid"/>
          </a:ln>
        </p:spPr>
      </p:sp>
      <p:sp>
        <p:nvSpPr>
          <p:cNvPr id="22" name="Text 19"/>
          <p:cNvSpPr txBox="1"/>
          <p:nvPr/>
        </p:nvSpPr>
        <p:spPr>
          <a:xfrm>
            <a:off x="548640" y="315468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We</a:t>
            </a:r>
            <a:endParaRPr lang="en-US" sz="2100" dirty="0"/>
          </a:p>
        </p:txBody>
      </p:sp>
      <p:sp>
        <p:nvSpPr>
          <p:cNvPr id="23" name="Shape 20"/>
          <p:cNvSpPr/>
          <p:nvPr/>
        </p:nvSpPr>
        <p:spPr>
          <a:xfrm>
            <a:off x="1232245" y="3154680"/>
            <a:ext cx="1191280" cy="640080"/>
          </a:xfrm>
          <a:prstGeom prst="roundRect">
            <a:avLst>
              <a:gd name="adj" fmla="val 11429"/>
            </a:avLst>
          </a:prstGeom>
          <a:solidFill>
            <a:srgbClr val="FBEDEB"/>
          </a:solidFill>
          <a:ln w="31750">
            <a:solidFill>
              <a:srgbClr val="B83227"/>
            </a:solidFill>
            <a:prstDash val="solid"/>
          </a:ln>
        </p:spPr>
      </p:sp>
      <p:sp>
        <p:nvSpPr>
          <p:cNvPr id="24" name="Text 21"/>
          <p:cNvSpPr txBox="1"/>
          <p:nvPr/>
        </p:nvSpPr>
        <p:spPr>
          <a:xfrm>
            <a:off x="1232245" y="315468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willen</a:t>
            </a:r>
            <a:endParaRPr lang="en-US" sz="2100" dirty="0"/>
          </a:p>
        </p:txBody>
      </p:sp>
      <p:sp>
        <p:nvSpPr>
          <p:cNvPr id="25" name="Shape 22"/>
          <p:cNvSpPr/>
          <p:nvPr/>
        </p:nvSpPr>
        <p:spPr>
          <a:xfrm>
            <a:off x="2514966" y="3154680"/>
            <a:ext cx="3587740" cy="640080"/>
          </a:xfrm>
          <a:prstGeom prst="roundRect">
            <a:avLst>
              <a:gd name="adj" fmla="val 11429"/>
            </a:avLst>
          </a:prstGeom>
          <a:solidFill>
            <a:schemeClr val="bg1"/>
          </a:solidFill>
          <a:ln w="15875">
            <a:solidFill>
              <a:srgbClr val="D5DCE6"/>
            </a:solidFill>
            <a:prstDash val="solid"/>
          </a:ln>
        </p:spPr>
      </p:sp>
      <p:sp>
        <p:nvSpPr>
          <p:cNvPr id="26" name="Text 23"/>
          <p:cNvSpPr txBox="1"/>
          <p:nvPr/>
        </p:nvSpPr>
        <p:spPr>
          <a:xfrm>
            <a:off x="2514966" y="3154680"/>
            <a:ext cx="3587740" cy="640080"/>
          </a:xfrm>
          <a:prstGeom prst="rect">
            <a:avLst/>
          </a:prstGeom>
          <a:noFill/>
          <a:ln/>
        </p:spPr>
        <p:txBody>
          <a:bodyPr wrap="square" lIns="0" tIns="0" rIns="0" bIns="0" rtlCol="0" anchor="ctr"/>
          <a:lstStyle/>
          <a:p>
            <a:pPr algn="ctr" indent="0" marL="0">
              <a:buNone/>
            </a:pPr>
            <a:r>
              <a:rPr lang="en-US" sz="2100" dirty="0">
                <a:solidFill>
                  <a:schemeClr val="tx1"/>
                </a:solidFill>
              </a:rPr>
              <a:t>deze zomer naar Spanje</a:t>
            </a:r>
            <a:endParaRPr lang="en-US" sz="2100" dirty="0"/>
          </a:p>
        </p:txBody>
      </p:sp>
      <p:sp>
        <p:nvSpPr>
          <p:cNvPr id="27" name="Shape 24"/>
          <p:cNvSpPr/>
          <p:nvPr/>
        </p:nvSpPr>
        <p:spPr>
          <a:xfrm>
            <a:off x="6194146" y="3154680"/>
            <a:ext cx="1041502" cy="640080"/>
          </a:xfrm>
          <a:prstGeom prst="roundRect">
            <a:avLst>
              <a:gd name="adj" fmla="val 11429"/>
            </a:avLst>
          </a:prstGeom>
          <a:solidFill>
            <a:srgbClr val="FBEDEB"/>
          </a:solidFill>
          <a:ln w="25400">
            <a:solidFill>
              <a:srgbClr val="B83227"/>
            </a:solidFill>
            <a:prstDash val="dash"/>
          </a:ln>
        </p:spPr>
      </p:sp>
      <p:sp>
        <p:nvSpPr>
          <p:cNvPr id="28" name="Text 25"/>
          <p:cNvSpPr txBox="1"/>
          <p:nvPr/>
        </p:nvSpPr>
        <p:spPr>
          <a:xfrm>
            <a:off x="6194146" y="315468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gaan.</a:t>
            </a:r>
            <a:endParaRPr lang="en-US" sz="2100" dirty="0"/>
          </a:p>
        </p:txBody>
      </p:sp>
      <p:sp>
        <p:nvSpPr>
          <p:cNvPr id="29" name="Shape 26"/>
          <p:cNvSpPr/>
          <p:nvPr/>
        </p:nvSpPr>
        <p:spPr>
          <a:xfrm>
            <a:off x="548640" y="3931920"/>
            <a:ext cx="592165" cy="640080"/>
          </a:xfrm>
          <a:prstGeom prst="roundRect">
            <a:avLst>
              <a:gd name="adj" fmla="val 12353"/>
            </a:avLst>
          </a:prstGeom>
          <a:solidFill>
            <a:schemeClr val="bg1"/>
          </a:solidFill>
          <a:ln w="15875">
            <a:solidFill>
              <a:srgbClr val="D5DCE6"/>
            </a:solidFill>
            <a:prstDash val="solid"/>
          </a:ln>
        </p:spPr>
      </p:sp>
      <p:sp>
        <p:nvSpPr>
          <p:cNvPr id="30" name="Text 27"/>
          <p:cNvSpPr txBox="1"/>
          <p:nvPr/>
        </p:nvSpPr>
        <p:spPr>
          <a:xfrm>
            <a:off x="548640" y="393192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1" name="Shape 28"/>
          <p:cNvSpPr/>
          <p:nvPr/>
        </p:nvSpPr>
        <p:spPr>
          <a:xfrm>
            <a:off x="1232245" y="3931920"/>
            <a:ext cx="741944"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232245" y="393192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kan</a:t>
            </a:r>
            <a:endParaRPr lang="en-US" sz="2100" dirty="0"/>
          </a:p>
        </p:txBody>
      </p:sp>
      <p:sp>
        <p:nvSpPr>
          <p:cNvPr id="33" name="Shape 30"/>
          <p:cNvSpPr/>
          <p:nvPr/>
        </p:nvSpPr>
        <p:spPr>
          <a:xfrm>
            <a:off x="2065630" y="3931920"/>
            <a:ext cx="1191280"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2065630" y="3931920"/>
            <a:ext cx="1191280" cy="640080"/>
          </a:xfrm>
          <a:prstGeom prst="rect">
            <a:avLst/>
          </a:prstGeom>
          <a:noFill/>
          <a:ln/>
        </p:spPr>
        <p:txBody>
          <a:bodyPr wrap="square" lIns="0" tIns="0" rIns="0" bIns="0" rtlCol="0" anchor="ctr"/>
          <a:lstStyle/>
          <a:p>
            <a:pPr algn="ctr" indent="0" marL="0">
              <a:buNone/>
            </a:pPr>
            <a:r>
              <a:rPr lang="en-US" sz="2100" dirty="0">
                <a:solidFill>
                  <a:schemeClr val="tx1"/>
                </a:solidFill>
              </a:rPr>
              <a:t>morgen</a:t>
            </a:r>
            <a:endParaRPr lang="en-US" sz="2100" dirty="0"/>
          </a:p>
        </p:txBody>
      </p:sp>
      <p:sp>
        <p:nvSpPr>
          <p:cNvPr id="35" name="Shape 32"/>
          <p:cNvSpPr/>
          <p:nvPr/>
        </p:nvSpPr>
        <p:spPr>
          <a:xfrm>
            <a:off x="3348350" y="3931920"/>
            <a:ext cx="891723" cy="640080"/>
          </a:xfrm>
          <a:prstGeom prst="roundRect">
            <a:avLst>
              <a:gd name="adj" fmla="val 11429"/>
            </a:avLst>
          </a:prstGeom>
          <a:solidFill>
            <a:schemeClr val="tx2"/>
          </a:solidFill>
          <a:ln w="12700">
            <a:solidFill>
              <a:srgbClr val="FFFFFF">
                <a:alpha val="0"/>
              </a:srgbClr>
            </a:solidFill>
            <a:prstDash val="solid"/>
          </a:ln>
        </p:spPr>
      </p:sp>
      <p:sp>
        <p:nvSpPr>
          <p:cNvPr id="36" name="Text 33"/>
          <p:cNvSpPr txBox="1"/>
          <p:nvPr/>
        </p:nvSpPr>
        <p:spPr>
          <a:xfrm>
            <a:off x="3348350" y="3931920"/>
            <a:ext cx="891723" cy="640080"/>
          </a:xfrm>
          <a:prstGeom prst="rect">
            <a:avLst/>
          </a:prstGeom>
          <a:noFill/>
          <a:ln/>
        </p:spPr>
        <p:txBody>
          <a:bodyPr wrap="square" lIns="0" tIns="0" rIns="0" bIns="0" rtlCol="0" anchor="ctr"/>
          <a:lstStyle/>
          <a:p>
            <a:pPr algn="ctr" indent="0" marL="0">
              <a:buNone/>
            </a:pPr>
            <a:r>
              <a:rPr lang="en-US" sz="2100" b="1" dirty="0">
                <a:solidFill>
                  <a:schemeClr val="bg1"/>
                </a:solidFill>
              </a:rPr>
              <a:t>niet</a:t>
            </a:r>
            <a:endParaRPr lang="en-US" sz="2100" dirty="0"/>
          </a:p>
        </p:txBody>
      </p:sp>
      <p:sp>
        <p:nvSpPr>
          <p:cNvPr id="37" name="Shape 34"/>
          <p:cNvSpPr/>
          <p:nvPr/>
        </p:nvSpPr>
        <p:spPr>
          <a:xfrm>
            <a:off x="4331513" y="3931920"/>
            <a:ext cx="1191280" cy="640080"/>
          </a:xfrm>
          <a:prstGeom prst="roundRect">
            <a:avLst>
              <a:gd name="adj" fmla="val 11429"/>
            </a:avLst>
          </a:prstGeom>
          <a:solidFill>
            <a:srgbClr val="FBEDEB"/>
          </a:solidFill>
          <a:ln w="25400">
            <a:solidFill>
              <a:srgbClr val="B83227"/>
            </a:solidFill>
            <a:prstDash val="dash"/>
          </a:ln>
        </p:spPr>
      </p:sp>
      <p:sp>
        <p:nvSpPr>
          <p:cNvPr id="38" name="Text 35"/>
          <p:cNvSpPr txBox="1"/>
          <p:nvPr/>
        </p:nvSpPr>
        <p:spPr>
          <a:xfrm>
            <a:off x="4331513" y="393192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9" name="Shape 36"/>
          <p:cNvSpPr/>
          <p:nvPr/>
        </p:nvSpPr>
        <p:spPr>
          <a:xfrm>
            <a:off x="548640" y="4709160"/>
            <a:ext cx="1041502"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48640" y="4709160"/>
            <a:ext cx="1041502" cy="640080"/>
          </a:xfrm>
          <a:prstGeom prst="rect">
            <a:avLst/>
          </a:prstGeom>
          <a:noFill/>
          <a:ln/>
        </p:spPr>
        <p:txBody>
          <a:bodyPr wrap="square" lIns="0" tIns="0" rIns="0" bIns="0" rtlCol="0" anchor="ctr"/>
          <a:lstStyle/>
          <a:p>
            <a:pPr algn="ctr" indent="0" marL="0">
              <a:buNone/>
            </a:pPr>
            <a:r>
              <a:rPr lang="en-US" sz="2100" dirty="0">
                <a:solidFill>
                  <a:schemeClr val="tx1"/>
                </a:solidFill>
              </a:rPr>
              <a:t>Sofie</a:t>
            </a:r>
            <a:endParaRPr lang="en-US" sz="2100" dirty="0"/>
          </a:p>
        </p:txBody>
      </p:sp>
      <p:sp>
        <p:nvSpPr>
          <p:cNvPr id="41" name="Shape 38"/>
          <p:cNvSpPr/>
          <p:nvPr/>
        </p:nvSpPr>
        <p:spPr>
          <a:xfrm>
            <a:off x="1681582" y="4709160"/>
            <a:ext cx="891723" cy="640080"/>
          </a:xfrm>
          <a:prstGeom prst="roundRect">
            <a:avLst>
              <a:gd name="adj" fmla="val 11429"/>
            </a:avLst>
          </a:prstGeom>
          <a:solidFill>
            <a:srgbClr val="FBEDEB"/>
          </a:solidFill>
          <a:ln w="31750">
            <a:solidFill>
              <a:srgbClr val="B83227"/>
            </a:solidFill>
            <a:prstDash val="solid"/>
          </a:ln>
        </p:spPr>
      </p:sp>
      <p:sp>
        <p:nvSpPr>
          <p:cNvPr id="42" name="Text 39"/>
          <p:cNvSpPr txBox="1"/>
          <p:nvPr/>
        </p:nvSpPr>
        <p:spPr>
          <a:xfrm>
            <a:off x="1681582" y="470916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43" name="Shape 40"/>
          <p:cNvSpPr/>
          <p:nvPr/>
        </p:nvSpPr>
        <p:spPr>
          <a:xfrm>
            <a:off x="2664744" y="4709160"/>
            <a:ext cx="1490838"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2664744" y="4709160"/>
            <a:ext cx="1490838" cy="640080"/>
          </a:xfrm>
          <a:prstGeom prst="rect">
            <a:avLst/>
          </a:prstGeom>
          <a:noFill/>
          <a:ln/>
        </p:spPr>
        <p:txBody>
          <a:bodyPr wrap="square" lIns="0" tIns="0" rIns="0" bIns="0" rtlCol="0" anchor="ctr"/>
          <a:lstStyle/>
          <a:p>
            <a:pPr algn="ctr" indent="0" marL="0">
              <a:buNone/>
            </a:pPr>
            <a:r>
              <a:rPr lang="en-US" sz="2100" dirty="0">
                <a:solidFill>
                  <a:schemeClr val="tx1"/>
                </a:solidFill>
              </a:rPr>
              <a:t>de klant</a:t>
            </a:r>
            <a:endParaRPr lang="en-US" sz="2100" dirty="0"/>
          </a:p>
        </p:txBody>
      </p:sp>
      <p:sp>
        <p:nvSpPr>
          <p:cNvPr id="45" name="Shape 42"/>
          <p:cNvSpPr/>
          <p:nvPr/>
        </p:nvSpPr>
        <p:spPr>
          <a:xfrm>
            <a:off x="4247022" y="4709160"/>
            <a:ext cx="1640616" cy="640080"/>
          </a:xfrm>
          <a:prstGeom prst="roundRect">
            <a:avLst>
              <a:gd name="adj" fmla="val 11429"/>
            </a:avLst>
          </a:prstGeom>
          <a:solidFill>
            <a:srgbClr val="FDF1E6"/>
          </a:solidFill>
          <a:ln w="25400">
            <a:solidFill>
              <a:srgbClr val="D9700F"/>
            </a:solidFill>
            <a:prstDash val="dash"/>
          </a:ln>
        </p:spPr>
      </p:sp>
      <p:sp>
        <p:nvSpPr>
          <p:cNvPr id="46" name="Text 43"/>
          <p:cNvSpPr txBox="1"/>
          <p:nvPr/>
        </p:nvSpPr>
        <p:spPr>
          <a:xfrm>
            <a:off x="4247022" y="4709160"/>
            <a:ext cx="1640616" cy="640080"/>
          </a:xfrm>
          <a:prstGeom prst="rect">
            <a:avLst/>
          </a:prstGeom>
          <a:noFill/>
          <a:ln/>
        </p:spPr>
        <p:txBody>
          <a:bodyPr wrap="square" lIns="0" tIns="0" rIns="0" bIns="0" rtlCol="0" anchor="ctr"/>
          <a:lstStyle/>
          <a:p>
            <a:pPr algn="ctr" indent="0" marL="0">
              <a:buNone/>
            </a:pPr>
            <a:r>
              <a:rPr lang="en-US" sz="2100" b="1" dirty="0">
                <a:solidFill>
                  <a:schemeClr val="accent6"/>
                </a:solidFill>
              </a:rPr>
              <a:t>opbellen.</a:t>
            </a:r>
            <a:endParaRPr lang="en-US" sz="2100" dirty="0"/>
          </a:p>
        </p:txBody>
      </p:sp>
      <p:sp>
        <p:nvSpPr>
          <p:cNvPr id="47" name="Shape 44"/>
          <p:cNvSpPr/>
          <p:nvPr/>
        </p:nvSpPr>
        <p:spPr>
          <a:xfrm>
            <a:off x="8595360" y="1600200"/>
            <a:ext cx="3044952" cy="379476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8778240" y="1764792"/>
            <a:ext cx="566928" cy="566928"/>
          </a:xfrm>
          <a:prstGeom prst="ellipse">
            <a:avLst/>
          </a:prstGeom>
          <a:solidFill>
            <a:schemeClr val="accent1"/>
          </a:solidFill>
          <a:ln w="12700">
            <a:solidFill>
              <a:srgbClr val="FFFFFF">
                <a:alpha val="0"/>
              </a:srgbClr>
            </a:solidFill>
            <a:prstDash val="solid"/>
          </a:ln>
        </p:spPr>
      </p:sp>
      <p:pic>
        <p:nvPicPr>
          <p:cNvPr id="49" name="Image 0" descr="Lightbulb">    </p:cNvPr>
          <p:cNvPicPr>
            <a:picLocks noChangeAspect="1"/>
          </p:cNvPicPr>
          <p:nvPr/>
        </p:nvPicPr>
        <p:blipFill>
          <a:blip r:embed="rId1"/>
          <a:stretch>
            <a:fillRect/>
          </a:stretch>
        </p:blipFill>
        <p:spPr>
          <a:xfrm>
            <a:off x="8914303" y="1900855"/>
            <a:ext cx="294803" cy="294803"/>
          </a:xfrm>
          <a:prstGeom prst="rect">
            <a:avLst/>
          </a:prstGeom>
        </p:spPr>
      </p:pic>
      <p:sp>
        <p:nvSpPr>
          <p:cNvPr id="50" name="Text 46"/>
          <p:cNvSpPr txBox="1"/>
          <p:nvPr/>
        </p:nvSpPr>
        <p:spPr>
          <a:xfrm>
            <a:off x="9491472" y="1746504"/>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1" name="Text 47"/>
          <p:cNvSpPr txBox="1"/>
          <p:nvPr/>
        </p:nvSpPr>
        <p:spPr>
          <a:xfrm>
            <a:off x="8796528" y="2468880"/>
            <a:ext cx="2642616" cy="281635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modal · </a:t>
            </a:r>
            <a:r>
              <a:rPr lang="en-US" sz="1600" b="1" dirty="0">
                <a:solidFill>
                  <a:schemeClr val="tx1"/>
                </a:solidFill>
              </a:rPr>
              <a:t>⑥</a:t>
            </a:r>
            <a:r>
              <a:rPr lang="en-US" sz="1600" dirty="0">
                <a:solidFill>
                  <a:schemeClr val="tx1"/>
                </a:solidFill>
              </a:rPr>
              <a:t> infinitif</a:t>
            </a:r>
            <a:endParaRPr lang="en-US" sz="1600" dirty="0"/>
          </a:p>
          <a:p>
            <a:pPr algn="l" indent="0" marL="0">
              <a:spcAft>
                <a:spcPts val="1000"/>
              </a:spcAft>
              <a:buNone/>
            </a:pPr>
            <a:r>
              <a:rPr lang="en-US" sz="1600" b="1" dirty="0">
                <a:solidFill>
                  <a:schemeClr val="tx2"/>
                </a:solidFill>
              </a:rPr>
              <a:t>niet</a:t>
            </a:r>
            <a:r>
              <a:rPr lang="en-US" sz="1600" dirty="0">
                <a:solidFill>
                  <a:schemeClr val="tx1"/>
                </a:solidFill>
              </a:rPr>
              <a:t> juste avant l’infinitif (M13)</a:t>
            </a:r>
            <a:endParaRPr lang="en-US" sz="1600" dirty="0"/>
          </a:p>
          <a:p>
            <a:pPr algn="l" indent="0" marL="0">
              <a:spcAft>
                <a:spcPts val="1000"/>
              </a:spcAft>
              <a:buNone/>
            </a:pPr>
            <a:r>
              <a:rPr lang="en-US" sz="1600" b="1" dirty="0">
                <a:solidFill>
                  <a:schemeClr val="accent1"/>
                </a:solidFill>
              </a:rPr>
              <a:t>opbellen</a:t>
            </a:r>
            <a:r>
              <a:rPr lang="en-US" sz="1600" dirty="0">
                <a:solidFill>
                  <a:schemeClr val="tx1"/>
                </a:solidFill>
              </a:rPr>
              <a:t> : la particule se </a:t>
            </a:r>
            <a:r>
              <a:rPr lang="en-US" sz="1600" b="1" dirty="0">
                <a:solidFill>
                  <a:schemeClr val="tx1"/>
                </a:solidFill>
              </a:rPr>
              <a:t>recolle</a:t>
            </a:r>
            <a:r>
              <a:rPr lang="en-US" sz="1600" dirty="0">
                <a:solidFill>
                  <a:schemeClr val="tx1"/>
                </a:solidFill>
              </a:rPr>
              <a:t> (M11)</a:t>
            </a:r>
            <a:endParaRPr lang="en-US" sz="1600" dirty="0"/>
          </a:p>
        </p:txBody>
      </p:sp>
      <p:sp>
        <p:nvSpPr>
          <p:cNvPr id="52" name="Shape 4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53" name="Text 49"/>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FR : « Je </a:t>
            </a:r>
            <a:r>
              <a:rPr lang="en-US" sz="1800" b="1" dirty="0">
                <a:solidFill>
                  <a:schemeClr val="bg1"/>
                </a:solidFill>
              </a:rPr>
              <a:t>dois partir</a:t>
            </a:r>
            <a:r>
              <a:rPr lang="en-US" sz="1800" dirty="0">
                <a:solidFill>
                  <a:schemeClr val="bg1"/>
                </a:solidFill>
              </a:rPr>
              <a:t> demain. » (collés) → NL : </a:t>
            </a:r>
            <a:r>
              <a:rPr lang="en-US" sz="1800" i="1" dirty="0">
                <a:solidFill>
                  <a:schemeClr val="bg1"/>
                </a:solidFill>
              </a:rPr>
              <a:t>Ik </a:t>
            </a:r>
            <a:r>
              <a:rPr lang="en-US" sz="1800" b="1" i="1" dirty="0">
                <a:solidFill>
                  <a:schemeClr val="bg1"/>
                </a:solidFill>
              </a:rPr>
              <a:t>moet</a:t>
            </a:r>
            <a:r>
              <a:rPr lang="en-US" sz="1800" i="1" dirty="0">
                <a:solidFill>
                  <a:schemeClr val="bg1"/>
                </a:solidFill>
              </a:rPr>
              <a:t> morgen </a:t>
            </a:r>
            <a:r>
              <a:rPr lang="en-US" sz="1800" b="1" i="1" dirty="0">
                <a:solidFill>
                  <a:schemeClr val="bg1"/>
                </a:solidFill>
              </a:rPr>
              <a:t>vertrekken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ag"/>
          <p:cNvSpPr/>
          <p:nvPr/>
        </p:nvSpPr>
        <p:spPr>
          <a:xfrm>
            <a:off x="548640" y="1600200"/>
            <a:ext cx="2579522" cy="329184"/>
          </a:xfrm>
          <a:prstGeom prst="roundRect">
            <a:avLst>
              <a:gd name="adj" fmla="val 13889"/>
            </a:avLst>
          </a:prstGeom>
          <a:solidFill>
            <a:schemeClr val="accent2"/>
          </a:solidFill>
          <a:ln/>
        </p:spPr>
        <p:txBody>
          <a:bodyPr wrap="square" lIns="0" tIns="0" rIns="0" bIns="0" rtlCol="0" anchor="ctr"/>
          <a:lstStyle/>
          <a:p>
            <a:pPr algn="ctr" indent="0" marL="0">
              <a:buNone/>
            </a:pPr>
            <a:r>
              <a:rPr lang="en-US" sz="1300" b="1" spc="100" kern="0" dirty="0">
                <a:solidFill>
                  <a:srgbClr val="FFFFFF"/>
                </a:solidFill>
              </a:rPr>
              <a:t>Demander de l’aide</a:t>
            </a:r>
            <a:endParaRPr lang="en-US" sz="1300" dirty="0"/>
          </a:p>
        </p:txBody>
      </p:sp>
      <p:sp>
        <p:nvSpPr>
          <p:cNvPr id="6" name="Shape 3"/>
          <p:cNvSpPr/>
          <p:nvPr/>
        </p:nvSpPr>
        <p:spPr>
          <a:xfrm>
            <a:off x="548640" y="2057400"/>
            <a:ext cx="5440680" cy="1417320"/>
          </a:xfrm>
          <a:prstGeom prst="roundRect">
            <a:avLst>
              <a:gd name="adj" fmla="val 16129"/>
            </a:avLst>
          </a:prstGeom>
          <a:solidFill>
            <a:schemeClr val="accent2">
              <a:alpha val="12000"/>
            </a:schemeClr>
          </a:solidFill>
          <a:ln w="19050">
            <a:solidFill>
              <a:srgbClr val="2A6FB0"/>
            </a:solidFill>
            <a:prstDash val="solid"/>
          </a:ln>
        </p:spPr>
      </p:sp>
      <p:pic>
        <p:nvPicPr>
          <p:cNvPr id="7" name="Image 0" descr="flexed biceps">    </p:cNvPr>
          <p:cNvPicPr>
            <a:picLocks noChangeAspect="1"/>
          </p:cNvPicPr>
          <p:nvPr/>
        </p:nvPicPr>
        <p:blipFill>
          <a:blip r:embed="rId1"/>
          <a:stretch>
            <a:fillRect/>
          </a:stretch>
        </p:blipFill>
        <p:spPr>
          <a:xfrm>
            <a:off x="731520" y="2350008"/>
            <a:ext cx="822960" cy="822960"/>
          </a:xfrm>
          <a:prstGeom prst="rect">
            <a:avLst/>
          </a:prstGeom>
        </p:spPr>
      </p:pic>
      <p:sp>
        <p:nvSpPr>
          <p:cNvPr id="8" name="Text 4"/>
          <p:cNvSpPr txBox="1"/>
          <p:nvPr/>
        </p:nvSpPr>
        <p:spPr>
          <a:xfrm>
            <a:off x="1737360"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Kunt</a:t>
            </a:r>
            <a:r>
              <a:rPr lang="en-US" sz="2300" i="1" dirty="0">
                <a:solidFill>
                  <a:schemeClr val="tx1"/>
                </a:solidFill>
              </a:rPr>
              <a:t> u me </a:t>
            </a:r>
            <a:r>
              <a:rPr lang="en-US" sz="2300" b="1" i="1" dirty="0">
                <a:solidFill>
                  <a:schemeClr val="tx1"/>
                </a:solidFill>
              </a:rPr>
              <a:t>helpen</a:t>
            </a:r>
            <a:r>
              <a:rPr lang="en-US" sz="2300" i="1" dirty="0">
                <a:solidFill>
                  <a:schemeClr val="tx1"/>
                </a:solidFill>
              </a:rPr>
              <a:t>?</a:t>
            </a:r>
            <a:endParaRPr lang="en-US" sz="2300" dirty="0"/>
          </a:p>
        </p:txBody>
      </p:sp>
      <p:sp>
        <p:nvSpPr>
          <p:cNvPr id="9" name="tag"/>
          <p:cNvSpPr/>
          <p:nvPr/>
        </p:nvSpPr>
        <p:spPr>
          <a:xfrm>
            <a:off x="6199632" y="1600200"/>
            <a:ext cx="2937358" cy="329184"/>
          </a:xfrm>
          <a:prstGeom prst="roundRect">
            <a:avLst>
              <a:gd name="adj" fmla="val 13889"/>
            </a:avLst>
          </a:prstGeom>
          <a:solidFill>
            <a:schemeClr val="accent3"/>
          </a:solidFill>
          <a:ln/>
        </p:spPr>
        <p:txBody>
          <a:bodyPr wrap="square" lIns="0" tIns="0" rIns="0" bIns="0" rtlCol="0" anchor="ctr"/>
          <a:lstStyle/>
          <a:p>
            <a:pPr algn="ctr" indent="0" marL="0">
              <a:buNone/>
            </a:pPr>
            <a:r>
              <a:rPr lang="en-US" sz="1300" b="1" spc="100" kern="0" dirty="0">
                <a:solidFill>
                  <a:srgbClr val="FFFFFF"/>
                </a:solidFill>
              </a:rPr>
              <a:t>Demander la permission</a:t>
            </a:r>
            <a:endParaRPr lang="en-US" sz="1300" dirty="0"/>
          </a:p>
        </p:txBody>
      </p:sp>
      <p:sp>
        <p:nvSpPr>
          <p:cNvPr id="10" name="Shape 6"/>
          <p:cNvSpPr/>
          <p:nvPr/>
        </p:nvSpPr>
        <p:spPr>
          <a:xfrm>
            <a:off x="6199632" y="2057400"/>
            <a:ext cx="5440680" cy="1417320"/>
          </a:xfrm>
          <a:prstGeom prst="roundRect">
            <a:avLst>
              <a:gd name="adj" fmla="val 16129"/>
            </a:avLst>
          </a:prstGeom>
          <a:solidFill>
            <a:schemeClr val="accent3">
              <a:alpha val="12000"/>
            </a:schemeClr>
          </a:solidFill>
          <a:ln w="19050">
            <a:solidFill>
              <a:srgbClr val="2E7D4F"/>
            </a:solidFill>
            <a:prstDash val="solid"/>
          </a:ln>
        </p:spPr>
      </p:sp>
      <p:pic>
        <p:nvPicPr>
          <p:cNvPr id="11" name="Image 1" descr="check mark button">    </p:cNvPr>
          <p:cNvPicPr>
            <a:picLocks noChangeAspect="1"/>
          </p:cNvPicPr>
          <p:nvPr/>
        </p:nvPicPr>
        <p:blipFill>
          <a:blip r:embed="rId2"/>
          <a:stretch>
            <a:fillRect/>
          </a:stretch>
        </p:blipFill>
        <p:spPr>
          <a:xfrm>
            <a:off x="6382512" y="2350008"/>
            <a:ext cx="822960" cy="822960"/>
          </a:xfrm>
          <a:prstGeom prst="rect">
            <a:avLst/>
          </a:prstGeom>
        </p:spPr>
      </p:pic>
      <p:sp>
        <p:nvSpPr>
          <p:cNvPr id="12" name="Text 7"/>
          <p:cNvSpPr txBox="1"/>
          <p:nvPr/>
        </p:nvSpPr>
        <p:spPr>
          <a:xfrm>
            <a:off x="7388352"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Mag</a:t>
            </a:r>
            <a:r>
              <a:rPr lang="en-US" sz="2300" i="1" dirty="0">
                <a:solidFill>
                  <a:schemeClr val="tx1"/>
                </a:solidFill>
              </a:rPr>
              <a:t> ik het raam </a:t>
            </a:r>
            <a:r>
              <a:rPr lang="en-US" sz="2300" b="1" i="1" dirty="0">
                <a:solidFill>
                  <a:schemeClr val="tx1"/>
                </a:solidFill>
              </a:rPr>
              <a:t>opendoen</a:t>
            </a:r>
            <a:r>
              <a:rPr lang="en-US" sz="2300" i="1" dirty="0">
                <a:solidFill>
                  <a:schemeClr val="tx1"/>
                </a:solidFill>
              </a:rPr>
              <a:t>?</a:t>
            </a:r>
            <a:endParaRPr lang="en-US" sz="2300" dirty="0"/>
          </a:p>
        </p:txBody>
      </p:sp>
      <p:sp>
        <p:nvSpPr>
          <p:cNvPr id="13" name="tag"/>
          <p:cNvSpPr/>
          <p:nvPr/>
        </p:nvSpPr>
        <p:spPr>
          <a:xfrm>
            <a:off x="548640" y="3749040"/>
            <a:ext cx="1067105"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Offrir</a:t>
            </a:r>
            <a:endParaRPr lang="en-US" sz="1300" dirty="0"/>
          </a:p>
        </p:txBody>
      </p:sp>
      <p:sp>
        <p:nvSpPr>
          <p:cNvPr id="14" name="Shape 9"/>
          <p:cNvSpPr/>
          <p:nvPr/>
        </p:nvSpPr>
        <p:spPr>
          <a:xfrm>
            <a:off x="548640"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5" name="Image 2" descr="red heart">    </p:cNvPr>
          <p:cNvPicPr>
            <a:picLocks noChangeAspect="1"/>
          </p:cNvPicPr>
          <p:nvPr/>
        </p:nvPicPr>
        <p:blipFill>
          <a:blip r:embed="rId3"/>
          <a:stretch>
            <a:fillRect/>
          </a:stretch>
        </p:blipFill>
        <p:spPr>
          <a:xfrm>
            <a:off x="731520" y="4498848"/>
            <a:ext cx="822960" cy="822960"/>
          </a:xfrm>
          <a:prstGeom prst="rect">
            <a:avLst/>
          </a:prstGeom>
        </p:spPr>
      </p:pic>
      <p:sp>
        <p:nvSpPr>
          <p:cNvPr id="16" name="Text 10"/>
          <p:cNvSpPr txBox="1"/>
          <p:nvPr/>
        </p:nvSpPr>
        <p:spPr>
          <a:xfrm>
            <a:off x="1737360" y="420624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Wilt</a:t>
            </a:r>
            <a:r>
              <a:rPr lang="en-US" sz="2300" i="1" dirty="0">
                <a:solidFill>
                  <a:schemeClr val="tx1"/>
                </a:solidFill>
              </a:rPr>
              <a:t> u een koffie?</a:t>
            </a:r>
            <a:endParaRPr lang="en-US" sz="2300" dirty="0"/>
          </a:p>
        </p:txBody>
      </p:sp>
      <p:sp>
        <p:nvSpPr>
          <p:cNvPr id="17" name="tag"/>
          <p:cNvSpPr/>
          <p:nvPr/>
        </p:nvSpPr>
        <p:spPr>
          <a:xfrm>
            <a:off x="6199632" y="3749040"/>
            <a:ext cx="1417777"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Commander</a:t>
            </a:r>
            <a:endParaRPr lang="en-US" sz="1300" dirty="0"/>
          </a:p>
        </p:txBody>
      </p:sp>
      <p:sp>
        <p:nvSpPr>
          <p:cNvPr id="18" name="Shape 12"/>
          <p:cNvSpPr/>
          <p:nvPr/>
        </p:nvSpPr>
        <p:spPr>
          <a:xfrm>
            <a:off x="6199632"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9" name="Image 3" descr="red heart">    </p:cNvPr>
          <p:cNvPicPr>
            <a:picLocks noChangeAspect="1"/>
          </p:cNvPicPr>
          <p:nvPr/>
        </p:nvPicPr>
        <p:blipFill>
          <a:blip r:embed="rId4"/>
          <a:stretch>
            <a:fillRect/>
          </a:stretch>
        </p:blipFill>
        <p:spPr>
          <a:xfrm>
            <a:off x="6382512" y="4498848"/>
            <a:ext cx="822960" cy="822960"/>
          </a:xfrm>
          <a:prstGeom prst="rect">
            <a:avLst/>
          </a:prstGeom>
        </p:spPr>
      </p:pic>
      <p:sp>
        <p:nvSpPr>
          <p:cNvPr id="20" name="Text 13"/>
          <p:cNvSpPr txBox="1"/>
          <p:nvPr/>
        </p:nvSpPr>
        <p:spPr>
          <a:xfrm>
            <a:off x="7388352" y="4206240"/>
            <a:ext cx="4114800" cy="1417320"/>
          </a:xfrm>
          <a:prstGeom prst="rect">
            <a:avLst/>
          </a:prstGeom>
          <a:noFill/>
          <a:ln/>
        </p:spPr>
        <p:txBody>
          <a:bodyPr wrap="square" lIns="0" tIns="0" rIns="0" bIns="0" rtlCol="0" anchor="ctr"/>
          <a:lstStyle/>
          <a:p>
            <a:pPr algn="l" indent="0" marL="0">
              <a:buNone/>
            </a:pPr>
            <a:r>
              <a:rPr lang="en-US" sz="2300" i="1" dirty="0">
                <a:solidFill>
                  <a:schemeClr val="tx1"/>
                </a:solidFill>
              </a:rPr>
              <a:t>Ik </a:t>
            </a:r>
            <a:r>
              <a:rPr lang="en-US" sz="2300" b="1" i="1" dirty="0">
                <a:solidFill>
                  <a:schemeClr val="tx1"/>
                </a:solidFill>
              </a:rPr>
              <a:t>wil</a:t>
            </a:r>
            <a:r>
              <a:rPr lang="en-US" sz="2300" i="1" dirty="0">
                <a:solidFill>
                  <a:schemeClr val="tx1"/>
                </a:solidFill>
              </a:rPr>
              <a:t> </a:t>
            </a:r>
            <a:r>
              <a:rPr lang="en-US" sz="2300" b="1" i="1" dirty="0">
                <a:solidFill>
                  <a:schemeClr val="tx1"/>
                </a:solidFill>
              </a:rPr>
              <a:t>graag</a:t>
            </a:r>
            <a:r>
              <a:rPr lang="en-US" sz="2300" i="1" dirty="0">
                <a:solidFill>
                  <a:schemeClr val="tx1"/>
                </a:solidFill>
              </a:rPr>
              <a:t> een broodje kaas.</a:t>
            </a:r>
            <a:endParaRPr lang="en-US" sz="2300" dirty="0"/>
          </a:p>
        </p:txBody>
      </p:sp>
      <p:sp>
        <p:nvSpPr>
          <p:cNvPr id="21" name="Shape 1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22" name="Text 1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800" i="1" dirty="0">
                <a:solidFill>
                  <a:schemeClr val="bg1"/>
                </a:solidFill>
              </a:rPr>
              <a:t>graag</a:t>
            </a:r>
            <a:r>
              <a:rPr lang="en-US" sz="1800" dirty="0">
                <a:solidFill>
                  <a:schemeClr val="bg1"/>
                </a:solidFill>
              </a:rPr>
              <a:t> adoucit </a:t>
            </a:r>
            <a:r>
              <a:rPr lang="en-US" sz="1800" i="1" dirty="0">
                <a:solidFill>
                  <a:schemeClr val="bg1"/>
                </a:solidFill>
              </a:rPr>
              <a:t>willen</a:t>
            </a:r>
            <a:r>
              <a:rPr lang="en-US" sz="1800" dirty="0">
                <a:solidFill>
                  <a:schemeClr val="bg1"/>
                </a:solidFill>
              </a:rPr>
              <a:t> (M8) · </a:t>
            </a:r>
            <a:r>
              <a:rPr lang="en-US" sz="1800" i="1" dirty="0">
                <a:solidFill>
                  <a:schemeClr val="bg1"/>
                </a:solidFill>
              </a:rPr>
              <a:t>opendoen</a:t>
            </a:r>
            <a:r>
              <a:rPr lang="en-US" sz="1800" dirty="0">
                <a:solidFill>
                  <a:schemeClr val="bg1"/>
                </a:solidFill>
              </a:rPr>
              <a:t> se recolle après </a:t>
            </a:r>
            <a:r>
              <a:rPr lang="en-US" sz="1800" i="1" dirty="0">
                <a:solidFill>
                  <a:schemeClr val="bg1"/>
                </a:solidFill>
              </a:rPr>
              <a:t>mogen</a:t>
            </a:r>
            <a:r>
              <a:rPr lang="en-US" sz="1800" dirty="0">
                <a:solidFill>
                  <a:schemeClr val="bg1"/>
                </a:solidFill>
              </a:rPr>
              <a:t> (M11)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zullen — proposer et promettre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13248" cy="2743200"/>
          </a:xfrm>
          <a:prstGeom prst="roundRect">
            <a:avLst>
              <a:gd name="adj" fmla="val 2667"/>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PROPOSER</a:t>
            </a:r>
            <a:endParaRPr lang="en-US" sz="1700" dirty="0"/>
          </a:p>
        </p:txBody>
      </p:sp>
      <p:pic>
        <p:nvPicPr>
          <p:cNvPr id="8" name="Image 0" descr="hot beverage">    </p:cNvPr>
          <p:cNvPicPr>
            <a:picLocks noChangeAspect="1"/>
          </p:cNvPicPr>
          <p:nvPr/>
        </p:nvPicPr>
        <p:blipFill>
          <a:blip r:embed="rId1"/>
          <a:stretch>
            <a:fillRect/>
          </a:stretch>
        </p:blipFill>
        <p:spPr>
          <a:xfrm>
            <a:off x="822960" y="2331720"/>
            <a:ext cx="1097280" cy="1097280"/>
          </a:xfrm>
          <a:prstGeom prst="rect">
            <a:avLst/>
          </a:prstGeom>
        </p:spPr>
      </p:pic>
      <p:sp>
        <p:nvSpPr>
          <p:cNvPr id="9" name="Text 5"/>
          <p:cNvSpPr txBox="1"/>
          <p:nvPr/>
        </p:nvSpPr>
        <p:spPr>
          <a:xfrm>
            <a:off x="2103120" y="2240280"/>
            <a:ext cx="3657600" cy="1005840"/>
          </a:xfrm>
          <a:prstGeom prst="rect">
            <a:avLst/>
          </a:prstGeom>
          <a:noFill/>
          <a:ln/>
        </p:spPr>
        <p:txBody>
          <a:bodyPr wrap="square" lIns="0" tIns="0" rIns="0" bIns="0" rtlCol="0" anchor="ctr"/>
          <a:lstStyle/>
          <a:p>
            <a:pPr algn="l" indent="0" marL="0">
              <a:buNone/>
            </a:pPr>
            <a:r>
              <a:rPr lang="en-US" sz="2200" b="1" i="1" dirty="0">
                <a:solidFill>
                  <a:schemeClr val="tx1"/>
                </a:solidFill>
              </a:rPr>
              <a:t>Zullen</a:t>
            </a:r>
            <a:r>
              <a:rPr lang="en-US" sz="2200" i="1" dirty="0">
                <a:solidFill>
                  <a:schemeClr val="tx1"/>
                </a:solidFill>
              </a:rPr>
              <a:t> we om 12 uur </a:t>
            </a:r>
            <a:r>
              <a:rPr lang="en-US" sz="2200" b="1" i="1" dirty="0">
                <a:solidFill>
                  <a:schemeClr val="tx1"/>
                </a:solidFill>
              </a:rPr>
              <a:t>gaan eten</a:t>
            </a:r>
            <a:r>
              <a:rPr lang="en-US" sz="2200" i="1" dirty="0">
                <a:solidFill>
                  <a:schemeClr val="tx1"/>
                </a:solidFill>
              </a:rPr>
              <a:t>?</a:t>
            </a:r>
            <a:endParaRPr lang="en-US" sz="2200" dirty="0"/>
          </a:p>
        </p:txBody>
      </p:sp>
      <p:sp>
        <p:nvSpPr>
          <p:cNvPr id="10" name="Text 6"/>
          <p:cNvSpPr txBox="1"/>
          <p:nvPr/>
        </p:nvSpPr>
        <p:spPr>
          <a:xfrm>
            <a:off x="2103120"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On va manger à midi ?</a:t>
            </a:r>
            <a:endParaRPr lang="en-US" sz="1500" dirty="0"/>
          </a:p>
        </p:txBody>
      </p:sp>
      <p:sp>
        <p:nvSpPr>
          <p:cNvPr id="11" name="Shape 7"/>
          <p:cNvSpPr/>
          <p:nvPr/>
        </p:nvSpPr>
        <p:spPr>
          <a:xfrm>
            <a:off x="6227064" y="1554480"/>
            <a:ext cx="5413248" cy="2743200"/>
          </a:xfrm>
          <a:prstGeom prst="roundRect">
            <a:avLst>
              <a:gd name="adj" fmla="val 2667"/>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227064" y="1554480"/>
            <a:ext cx="5413248" cy="548640"/>
          </a:xfrm>
          <a:prstGeom prst="roundRect">
            <a:avLst>
              <a:gd name="adj" fmla="val 13333"/>
            </a:avLst>
          </a:prstGeom>
          <a:solidFill>
            <a:schemeClr val="accent3"/>
          </a:solidFill>
          <a:ln w="12700">
            <a:solidFill>
              <a:srgbClr val="FFFFFF">
                <a:alpha val="0"/>
              </a:srgbClr>
            </a:solidFill>
            <a:prstDash val="solid"/>
          </a:ln>
        </p:spPr>
      </p:sp>
      <p:sp>
        <p:nvSpPr>
          <p:cNvPr id="13" name="Text 9"/>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PROMETTRE</a:t>
            </a:r>
            <a:endParaRPr lang="en-US" sz="1700" dirty="0"/>
          </a:p>
        </p:txBody>
      </p:sp>
      <p:pic>
        <p:nvPicPr>
          <p:cNvPr id="14" name="Image 1" descr="handshake">    </p:cNvPr>
          <p:cNvPicPr>
            <a:picLocks noChangeAspect="1"/>
          </p:cNvPicPr>
          <p:nvPr/>
        </p:nvPicPr>
        <p:blipFill>
          <a:blip r:embed="rId2"/>
          <a:stretch>
            <a:fillRect/>
          </a:stretch>
        </p:blipFill>
        <p:spPr>
          <a:xfrm>
            <a:off x="6501384" y="2331720"/>
            <a:ext cx="1097280" cy="1097280"/>
          </a:xfrm>
          <a:prstGeom prst="rect">
            <a:avLst/>
          </a:prstGeom>
        </p:spPr>
      </p:pic>
      <p:sp>
        <p:nvSpPr>
          <p:cNvPr id="15" name="Text 10"/>
          <p:cNvSpPr txBox="1"/>
          <p:nvPr/>
        </p:nvSpPr>
        <p:spPr>
          <a:xfrm>
            <a:off x="7781544" y="2240280"/>
            <a:ext cx="3657600" cy="1005840"/>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zal</a:t>
            </a:r>
            <a:r>
              <a:rPr lang="en-US" sz="2200" i="1" dirty="0">
                <a:solidFill>
                  <a:schemeClr val="tx1"/>
                </a:solidFill>
              </a:rPr>
              <a:t> je morgen </a:t>
            </a:r>
            <a:r>
              <a:rPr lang="en-US" sz="2200" b="1" i="1" dirty="0">
                <a:solidFill>
                  <a:schemeClr val="tx1"/>
                </a:solidFill>
              </a:rPr>
              <a:t>bellen</a:t>
            </a:r>
            <a:r>
              <a:rPr lang="en-US" sz="2200" i="1" dirty="0">
                <a:solidFill>
                  <a:schemeClr val="tx1"/>
                </a:solidFill>
              </a:rPr>
              <a:t>.</a:t>
            </a:r>
            <a:endParaRPr lang="en-US" sz="2200" dirty="0"/>
          </a:p>
        </p:txBody>
      </p:sp>
      <p:sp>
        <p:nvSpPr>
          <p:cNvPr id="16" name="Text 11"/>
          <p:cNvSpPr txBox="1"/>
          <p:nvPr/>
        </p:nvSpPr>
        <p:spPr>
          <a:xfrm>
            <a:off x="7781544"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Je t’appellerai demain.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72918"/>
                <a:gridCol w="2772918"/>
                <a:gridCol w="2772918"/>
                <a:gridCol w="2772918"/>
              </a:tblGrid>
              <a:tr h="457200">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jij / u</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hij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r>
              <a:tr h="457200">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zult / 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zullen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18" name="Text 12"/>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Pour le futur, le néerlandais préfère souvent le </a:t>
            </a:r>
            <a:r>
              <a:rPr lang="en-US" sz="1600" b="1" i="1" dirty="0">
                <a:solidFill>
                  <a:schemeClr val="accent5"/>
                </a:solidFill>
              </a:rPr>
              <a:t>présent</a:t>
            </a:r>
            <a:r>
              <a:rPr lang="en-US" sz="1600" i="1" dirty="0">
                <a:solidFill>
                  <a:schemeClr val="accent5"/>
                </a:solidFill>
              </a:rPr>
              <a:t> : </a:t>
            </a:r>
            <a:r>
              <a:rPr lang="en-US" sz="1600" i="1" dirty="0">
                <a:solidFill>
                  <a:schemeClr val="accent5"/>
                </a:solidFill>
              </a:rPr>
              <a:t>Morgen bel ik je.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infinitif : les petites phrases de tous les jours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6" name="Text 3"/>
          <p:cNvSpPr txBox="1"/>
          <p:nvPr/>
        </p:nvSpPr>
        <p:spPr>
          <a:xfrm>
            <a:off x="54864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moet naar huis.</a:t>
            </a:r>
            <a:endParaRPr lang="en-US" sz="2300" dirty="0"/>
          </a:p>
        </p:txBody>
      </p:sp>
      <p:sp>
        <p:nvSpPr>
          <p:cNvPr id="7" name="Text 4"/>
          <p:cNvSpPr txBox="1"/>
          <p:nvPr/>
        </p:nvSpPr>
        <p:spPr>
          <a:xfrm>
            <a:off x="54864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dois rentrer</a:t>
            </a:r>
            <a:endParaRPr lang="en-US" sz="1500" dirty="0"/>
          </a:p>
        </p:txBody>
      </p:sp>
      <p:sp>
        <p:nvSpPr>
          <p:cNvPr id="8" name="Shape 5"/>
          <p:cNvSpPr/>
          <p:nvPr/>
        </p:nvSpPr>
        <p:spPr>
          <a:xfrm>
            <a:off x="4297680" y="1600200"/>
            <a:ext cx="3520440" cy="1234440"/>
          </a:xfrm>
          <a:prstGeom prst="roundRect">
            <a:avLst>
              <a:gd name="adj" fmla="val 22222"/>
            </a:avLst>
          </a:prstGeom>
          <a:solidFill>
            <a:schemeClr val="accent4">
              <a:alpha val="14000"/>
            </a:schemeClr>
          </a:solidFill>
          <a:ln w="19050">
            <a:solidFill>
              <a:srgbClr val="B4236A"/>
            </a:solidFill>
            <a:prstDash val="solid"/>
          </a:ln>
        </p:spPr>
      </p:sp>
      <p:sp>
        <p:nvSpPr>
          <p:cNvPr id="9" name="Text 6"/>
          <p:cNvSpPr txBox="1"/>
          <p:nvPr/>
        </p:nvSpPr>
        <p:spPr>
          <a:xfrm>
            <a:off x="429768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wil een koffie.</a:t>
            </a:r>
            <a:endParaRPr lang="en-US" sz="2300" dirty="0"/>
          </a:p>
        </p:txBody>
      </p:sp>
      <p:sp>
        <p:nvSpPr>
          <p:cNvPr id="10" name="Text 7"/>
          <p:cNvSpPr txBox="1"/>
          <p:nvPr/>
        </p:nvSpPr>
        <p:spPr>
          <a:xfrm>
            <a:off x="429768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veux un café</a:t>
            </a:r>
            <a:endParaRPr lang="en-US" sz="1500" dirty="0"/>
          </a:p>
        </p:txBody>
      </p:sp>
      <p:sp>
        <p:nvSpPr>
          <p:cNvPr id="11" name="Shape 8"/>
          <p:cNvSpPr/>
          <p:nvPr/>
        </p:nvSpPr>
        <p:spPr>
          <a:xfrm>
            <a:off x="8046720" y="160020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2" name="Text 9"/>
          <p:cNvSpPr txBox="1"/>
          <p:nvPr/>
        </p:nvSpPr>
        <p:spPr>
          <a:xfrm>
            <a:off x="804672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Mag dat?</a:t>
            </a:r>
            <a:endParaRPr lang="en-US" sz="2300" dirty="0"/>
          </a:p>
        </p:txBody>
      </p:sp>
      <p:sp>
        <p:nvSpPr>
          <p:cNvPr id="13" name="Text 10"/>
          <p:cNvSpPr txBox="1"/>
          <p:nvPr/>
        </p:nvSpPr>
        <p:spPr>
          <a:xfrm>
            <a:off x="804672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permis ?</a:t>
            </a:r>
            <a:endParaRPr lang="en-US" sz="1500" dirty="0"/>
          </a:p>
        </p:txBody>
      </p:sp>
      <p:sp>
        <p:nvSpPr>
          <p:cNvPr id="14" name="Shape 11"/>
          <p:cNvSpPr/>
          <p:nvPr/>
        </p:nvSpPr>
        <p:spPr>
          <a:xfrm>
            <a:off x="548640" y="3611880"/>
            <a:ext cx="3520440" cy="1234440"/>
          </a:xfrm>
          <a:prstGeom prst="roundRect">
            <a:avLst>
              <a:gd name="adj" fmla="val 22222"/>
            </a:avLst>
          </a:prstGeom>
          <a:solidFill>
            <a:schemeClr val="accent2">
              <a:alpha val="14000"/>
            </a:schemeClr>
          </a:solidFill>
          <a:ln w="19050">
            <a:solidFill>
              <a:srgbClr val="2A6FB0"/>
            </a:solidFill>
            <a:prstDash val="solid"/>
          </a:ln>
        </p:spPr>
      </p:sp>
      <p:sp>
        <p:nvSpPr>
          <p:cNvPr id="15" name="Text 12"/>
          <p:cNvSpPr txBox="1"/>
          <p:nvPr/>
        </p:nvSpPr>
        <p:spPr>
          <a:xfrm>
            <a:off x="54864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kan het niet.</a:t>
            </a:r>
            <a:endParaRPr lang="en-US" sz="2300" dirty="0"/>
          </a:p>
        </p:txBody>
      </p:sp>
      <p:sp>
        <p:nvSpPr>
          <p:cNvPr id="16" name="Text 13"/>
          <p:cNvSpPr txBox="1"/>
          <p:nvPr/>
        </p:nvSpPr>
        <p:spPr>
          <a:xfrm>
            <a:off x="54864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n’y arrive pas</a:t>
            </a:r>
            <a:endParaRPr lang="en-US" sz="1500" dirty="0"/>
          </a:p>
        </p:txBody>
      </p:sp>
      <p:sp>
        <p:nvSpPr>
          <p:cNvPr id="17" name="Shape 14"/>
          <p:cNvSpPr/>
          <p:nvPr/>
        </p:nvSpPr>
        <p:spPr>
          <a:xfrm>
            <a:off x="4297680" y="361188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8" name="Text 15"/>
          <p:cNvSpPr txBox="1"/>
          <p:nvPr/>
        </p:nvSpPr>
        <p:spPr>
          <a:xfrm>
            <a:off x="429768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mag niet!</a:t>
            </a:r>
            <a:endParaRPr lang="en-US" sz="2300" dirty="0"/>
          </a:p>
        </p:txBody>
      </p:sp>
      <p:sp>
        <p:nvSpPr>
          <p:cNvPr id="19" name="Text 16"/>
          <p:cNvSpPr txBox="1"/>
          <p:nvPr/>
        </p:nvSpPr>
        <p:spPr>
          <a:xfrm>
            <a:off x="429768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interdit !</a:t>
            </a:r>
            <a:endParaRPr lang="en-US" sz="1500" dirty="0"/>
          </a:p>
        </p:txBody>
      </p:sp>
      <p:sp>
        <p:nvSpPr>
          <p:cNvPr id="20" name="Shape 17"/>
          <p:cNvSpPr/>
          <p:nvPr/>
        </p:nvSpPr>
        <p:spPr>
          <a:xfrm>
            <a:off x="8046720" y="361188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21" name="Text 18"/>
          <p:cNvSpPr txBox="1"/>
          <p:nvPr/>
        </p:nvSpPr>
        <p:spPr>
          <a:xfrm>
            <a:off x="804672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moet!</a:t>
            </a:r>
            <a:endParaRPr lang="en-US" sz="2300" dirty="0"/>
          </a:p>
        </p:txBody>
      </p:sp>
      <p:sp>
        <p:nvSpPr>
          <p:cNvPr id="22" name="Text 19"/>
          <p:cNvSpPr txBox="1"/>
          <p:nvPr/>
        </p:nvSpPr>
        <p:spPr>
          <a:xfrm>
            <a:off x="804672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il le faut !</a:t>
            </a:r>
            <a:endParaRPr lang="en-US" sz="1500" dirty="0"/>
          </a:p>
        </p:txBody>
      </p:sp>
      <p:sp>
        <p:nvSpPr>
          <p:cNvPr id="23" name="Text 20"/>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Le verbe de mouvement est sous-entendu : </a:t>
            </a:r>
            <a:r>
              <a:rPr lang="en-US" sz="1600" i="1" dirty="0">
                <a:solidFill>
                  <a:schemeClr val="accent5"/>
                </a:solidFill>
              </a:rPr>
              <a:t>Ik moet naar huis (gaan).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 des modaux</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1554480"/>
                <a:gridCol w="3108960"/>
                <a:gridCol w="2834640"/>
                <a:gridCol w="2816352"/>
              </a:tblGrid>
              <a:tr h="502920">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Sens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Exemple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Question polie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914400">
                <a:tc>
                  <a:txBody>
                    <a:bodyPr/>
                    <a:lstStyle/>
                    <a:p>
                      <a:pPr algn="l" indent="0" marL="0">
                        <a:buNone/>
                      </a:pPr>
                      <a:r>
                        <a:rPr lang="en-US" sz="1700" b="1" dirty="0">
                          <a:solidFill>
                            <a:schemeClr val="tx1"/>
                          </a:solidFill>
                        </a:rPr>
                        <a:t>kunnen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CE8F5"/>
                    </a:solidFill>
                  </a:tcPr>
                </a:tc>
                <a:tc>
                  <a:txBody>
                    <a:bodyPr/>
                    <a:lstStyle/>
                    <a:p>
                      <a:pPr algn="l" indent="0" marL="0">
                        <a:buNone/>
                      </a:pPr>
                      <a:r>
                        <a:rPr lang="en-US" sz="1700" dirty="0">
                          <a:solidFill>
                            <a:schemeClr val="tx1"/>
                          </a:solidFill>
                        </a:rPr>
                        <a:t>capacité, possibilité, </a:t>
                      </a:r>
                      <a:r>
                        <a:rPr lang="en-US" sz="1700" i="1" dirty="0">
                          <a:solidFill>
                            <a:schemeClr val="tx1"/>
                          </a:solidFill>
                        </a:rPr>
                        <a:t>savoir faire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kan zwemmen.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Kunt u me helpen?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mogen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DEEE2"/>
                    </a:solidFill>
                  </a:tcPr>
                </a:tc>
                <a:tc>
                  <a:txBody>
                    <a:bodyPr/>
                    <a:lstStyle/>
                    <a:p>
                      <a:pPr algn="l" indent="0" marL="0">
                        <a:buNone/>
                      </a:pPr>
                      <a:r>
                        <a:rPr lang="en-US" sz="1700" dirty="0">
                          <a:solidFill>
                            <a:schemeClr val="tx1"/>
                          </a:solidFill>
                        </a:rPr>
                        <a:t>permission · </a:t>
                      </a:r>
                      <a:r>
                        <a:rPr lang="en-US" sz="1700" i="1" dirty="0">
                          <a:solidFill>
                            <a:schemeClr val="tx1"/>
                          </a:solidFill>
                        </a:rPr>
                        <a:t>niet mogen</a:t>
                      </a:r>
                      <a:r>
                        <a:rPr lang="en-US" sz="1700" dirty="0">
                          <a:solidFill>
                            <a:schemeClr val="tx1"/>
                          </a:solidFill>
                        </a:rPr>
                        <a:t> = interdiction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Je mag hier niet roken.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Mag ik binnenkomen?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914400">
                <a:tc>
                  <a:txBody>
                    <a:bodyPr/>
                    <a:lstStyle/>
                    <a:p>
                      <a:pPr algn="l" indent="0" marL="0">
                        <a:buNone/>
                      </a:pPr>
                      <a:r>
                        <a:rPr lang="en-US" sz="1700" b="1" dirty="0">
                          <a:solidFill>
                            <a:schemeClr val="tx1"/>
                          </a:solidFill>
                        </a:rPr>
                        <a:t>willen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5DDE8"/>
                    </a:solidFill>
                  </a:tcPr>
                </a:tc>
                <a:tc>
                  <a:txBody>
                    <a:bodyPr/>
                    <a:lstStyle/>
                    <a:p>
                      <a:pPr algn="l" indent="0" marL="0">
                        <a:buNone/>
                      </a:pPr>
                      <a:r>
                        <a:rPr lang="en-US" sz="1700" dirty="0">
                          <a:solidFill>
                            <a:schemeClr val="tx1"/>
                          </a:solidFill>
                        </a:rPr>
                        <a:t>volonté (+ </a:t>
                      </a:r>
                      <a:r>
                        <a:rPr lang="en-US" sz="1700" i="1" dirty="0">
                          <a:solidFill>
                            <a:schemeClr val="tx1"/>
                          </a:solidFill>
                        </a:rPr>
                        <a:t>graag</a:t>
                      </a:r>
                      <a:r>
                        <a:rPr lang="en-US" sz="1700" dirty="0">
                          <a:solidFill>
                            <a:schemeClr val="tx1"/>
                          </a:solidFill>
                        </a:rPr>
                        <a:t> = poli)</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wil graag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Wilt u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moeten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6DEDB"/>
                    </a:solidFill>
                  </a:tcPr>
                </a:tc>
                <a:tc>
                  <a:txBody>
                    <a:bodyPr/>
                    <a:lstStyle/>
                    <a:p>
                      <a:pPr algn="l" indent="0" marL="0">
                        <a:buNone/>
                      </a:pPr>
                      <a:r>
                        <a:rPr lang="en-US" sz="1700" dirty="0">
                          <a:solidFill>
                            <a:schemeClr val="tx1"/>
                          </a:solidFill>
                        </a:rPr>
                        <a:t>obligation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Ik moet om 8 uur beginnen.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Moet ik dit formulier invullen?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pic>
        <p:nvPicPr>
          <p:cNvPr id="6" name="Image 0" descr="flexed biceps">    </p:cNvPr>
          <p:cNvPicPr>
            <a:picLocks noChangeAspect="1"/>
          </p:cNvPicPr>
          <p:nvPr/>
        </p:nvPicPr>
        <p:blipFill>
          <a:blip r:embed="rId1"/>
          <a:stretch>
            <a:fillRect/>
          </a:stretch>
        </p:blipFill>
        <p:spPr>
          <a:xfrm>
            <a:off x="594360" y="2212848"/>
            <a:ext cx="603504" cy="603504"/>
          </a:xfrm>
          <a:prstGeom prst="rect">
            <a:avLst/>
          </a:prstGeom>
        </p:spPr>
      </p:pic>
      <p:pic>
        <p:nvPicPr>
          <p:cNvPr id="7" name="Image 1" descr="check mark button">    </p:cNvPr>
          <p:cNvPicPr>
            <a:picLocks noChangeAspect="1"/>
          </p:cNvPicPr>
          <p:nvPr/>
        </p:nvPicPr>
        <p:blipFill>
          <a:blip r:embed="rId2"/>
          <a:stretch>
            <a:fillRect/>
          </a:stretch>
        </p:blipFill>
        <p:spPr>
          <a:xfrm>
            <a:off x="594360" y="3127248"/>
            <a:ext cx="603504" cy="603504"/>
          </a:xfrm>
          <a:prstGeom prst="rect">
            <a:avLst/>
          </a:prstGeom>
        </p:spPr>
      </p:pic>
      <p:pic>
        <p:nvPicPr>
          <p:cNvPr id="8" name="Image 2" descr="red heart">    </p:cNvPr>
          <p:cNvPicPr>
            <a:picLocks noChangeAspect="1"/>
          </p:cNvPicPr>
          <p:nvPr/>
        </p:nvPicPr>
        <p:blipFill>
          <a:blip r:embed="rId3"/>
          <a:stretch>
            <a:fillRect/>
          </a:stretch>
        </p:blipFill>
        <p:spPr>
          <a:xfrm>
            <a:off x="594360" y="4041648"/>
            <a:ext cx="603504" cy="603504"/>
          </a:xfrm>
          <a:prstGeom prst="rect">
            <a:avLst/>
          </a:prstGeom>
        </p:spPr>
      </p:pic>
      <p:pic>
        <p:nvPicPr>
          <p:cNvPr id="9" name="Image 3" descr="stop sign">    </p:cNvPr>
          <p:cNvPicPr>
            <a:picLocks noChangeAspect="1"/>
          </p:cNvPicPr>
          <p:nvPr/>
        </p:nvPicPr>
        <p:blipFill>
          <a:blip r:embed="rId4"/>
          <a:stretch>
            <a:fillRect/>
          </a:stretch>
        </p:blipFill>
        <p:spPr>
          <a:xfrm>
            <a:off x="594360" y="4956048"/>
            <a:ext cx="603504" cy="603504"/>
          </a:xfrm>
          <a:prstGeom prst="rect">
            <a:avLst/>
          </a:prstGeom>
        </p:spPr>
      </p:pic>
      <p:pic>
        <p:nvPicPr>
          <p:cNvPr id="10"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mpas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verbe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fficL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panneaux</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stU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Remettez en 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Languag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Traduction piège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roph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wordt de winnaar?</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weet het meest?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Ti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jour</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8"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9" name="Text 4"/>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i="1" dirty="0">
                <a:solidFill>
                  <a:schemeClr val="accent5"/>
                </a:solidFill>
              </a:rPr>
              <a:t>…………</a:t>
            </a:r>
            <a:r>
              <a:rPr lang="en-US" sz="1700" i="1" dirty="0">
                <a:solidFill>
                  <a:schemeClr val="tx1"/>
                </a:solidFill>
              </a:rPr>
              <a:t> goed koken.</a:t>
            </a:r>
            <a:endParaRPr lang="en-US" sz="1700" dirty="0"/>
          </a:p>
        </p:txBody>
      </p:sp>
      <p:pic>
        <p:nvPicPr>
          <p:cNvPr id="10"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1" name="Text 5"/>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accent5"/>
                </a:solidFill>
              </a:rPr>
              <a:t>…………</a:t>
            </a:r>
            <a:r>
              <a:rPr lang="en-US" sz="1700" i="1" dirty="0">
                <a:solidFill>
                  <a:schemeClr val="tx1"/>
                </a:solidFill>
              </a:rPr>
              <a:t> ik het raam opendoen?</a:t>
            </a:r>
            <a:endParaRPr lang="en-US" sz="1700" dirty="0"/>
          </a:p>
        </p:txBody>
      </p:sp>
      <p:pic>
        <p:nvPicPr>
          <p:cNvPr id="12"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3" name="Text 6"/>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i="1" dirty="0">
                <a:solidFill>
                  <a:schemeClr val="accent5"/>
                </a:solidFill>
              </a:rPr>
              <a:t>…………</a:t>
            </a:r>
            <a:r>
              <a:rPr lang="en-US" sz="1700" i="1" dirty="0">
                <a:solidFill>
                  <a:schemeClr val="tx1"/>
                </a:solidFill>
              </a:rPr>
              <a:t> hier niet roken.</a:t>
            </a:r>
            <a:endParaRPr lang="en-US" sz="1700" dirty="0"/>
          </a:p>
        </p:txBody>
      </p:sp>
      <p:pic>
        <p:nvPicPr>
          <p:cNvPr id="14"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5" name="Text 7"/>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i="1" dirty="0">
                <a:solidFill>
                  <a:schemeClr val="accent5"/>
                </a:solidFill>
              </a:rPr>
              <a:t>…………</a:t>
            </a:r>
            <a:r>
              <a:rPr lang="en-US" sz="1700" i="1" dirty="0">
                <a:solidFill>
                  <a:schemeClr val="tx1"/>
                </a:solidFill>
              </a:rPr>
              <a:t> slapen.</a:t>
            </a:r>
            <a:endParaRPr lang="en-US" sz="1700" dirty="0"/>
          </a:p>
        </p:txBody>
      </p:sp>
      <p:pic>
        <p:nvPicPr>
          <p:cNvPr id="16"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7" name="Text 8"/>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i="1" dirty="0">
                <a:solidFill>
                  <a:schemeClr val="accent5"/>
                </a:solidFill>
              </a:rPr>
              <a:t>…………</a:t>
            </a:r>
            <a:r>
              <a:rPr lang="en-US" sz="1700" i="1" dirty="0">
                <a:solidFill>
                  <a:schemeClr val="tx1"/>
                </a:solidFill>
              </a:rPr>
              <a:t> om 8 uur beginnen: de klant komt om 8.15 uur.</a:t>
            </a:r>
            <a:endParaRPr lang="en-US" sz="1700" dirty="0"/>
          </a:p>
        </p:txBody>
      </p:sp>
      <p:pic>
        <p:nvPicPr>
          <p:cNvPr id="18"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19" name="Text 9"/>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i="1" dirty="0">
                <a:solidFill>
                  <a:schemeClr val="accent5"/>
                </a:solidFill>
              </a:rPr>
              <a:t>…………</a:t>
            </a:r>
            <a:r>
              <a:rPr lang="en-US" sz="1700" i="1" dirty="0">
                <a:solidFill>
                  <a:schemeClr val="tx1"/>
                </a:solidFill>
              </a:rPr>
              <a:t> drie talen spreken.</a:t>
            </a:r>
            <a:endParaRPr lang="en-US" sz="1700" dirty="0"/>
          </a:p>
        </p:txBody>
      </p:sp>
      <p:pic>
        <p:nvPicPr>
          <p:cNvPr id="20"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1" name="Text 10"/>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accent5"/>
                </a:solidFill>
              </a:rPr>
              <a:t>…………</a:t>
            </a:r>
            <a:r>
              <a:rPr lang="en-US" sz="1700" i="1" dirty="0">
                <a:solidFill>
                  <a:schemeClr val="tx1"/>
                </a:solidFill>
              </a:rPr>
              <a:t> u een koffie?</a:t>
            </a:r>
            <a:endParaRPr lang="en-US" sz="1700" dirty="0"/>
          </a:p>
        </p:txBody>
      </p:sp>
      <p:pic>
        <p:nvPicPr>
          <p:cNvPr id="22"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3" name="Text 11"/>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i="1" dirty="0">
                <a:solidFill>
                  <a:schemeClr val="accent5"/>
                </a:solidFill>
              </a:rPr>
              <a:t>…………</a:t>
            </a:r>
            <a:r>
              <a:rPr lang="en-US" sz="1700" i="1" dirty="0">
                <a:solidFill>
                  <a:schemeClr val="tx1"/>
                </a:solidFill>
              </a:rPr>
              <a:t> hier niet zwemmen.</a:t>
            </a:r>
            <a:endParaRPr lang="en-US" sz="1700" dirty="0"/>
          </a:p>
        </p:txBody>
      </p:sp>
      <p:sp>
        <p:nvSpPr>
          <p:cNvPr id="24" name="Shape 12"/>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5"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6" name="Text 13"/>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7" name="Shape 14"/>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8"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29" name="Text 15"/>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0" name="Shape 16"/>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1"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2" name="Text 17"/>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3" name="Shape 18"/>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4"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5" name="Text 19"/>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9"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10" name="Text 5"/>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b="1" i="1" dirty="0">
                <a:solidFill>
                  <a:schemeClr val="accent3"/>
                </a:solidFill>
              </a:rPr>
              <a:t>kan</a:t>
            </a:r>
            <a:r>
              <a:rPr lang="en-US" sz="1700" i="1" dirty="0">
                <a:solidFill>
                  <a:schemeClr val="tx1"/>
                </a:solidFill>
              </a:rPr>
              <a:t> goed koken.</a:t>
            </a:r>
            <a:endParaRPr lang="en-US" sz="1700" dirty="0"/>
          </a:p>
        </p:txBody>
      </p:sp>
      <p:pic>
        <p:nvPicPr>
          <p:cNvPr id="11"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2" name="Text 6"/>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b="1" i="1" dirty="0">
                <a:solidFill>
                  <a:schemeClr val="accent3"/>
                </a:solidFill>
              </a:rPr>
              <a:t>Mag</a:t>
            </a:r>
            <a:r>
              <a:rPr lang="en-US" sz="1700" i="1" dirty="0">
                <a:solidFill>
                  <a:schemeClr val="tx1"/>
                </a:solidFill>
              </a:rPr>
              <a:t> ik het raam opendoen?</a:t>
            </a:r>
            <a:endParaRPr lang="en-US" sz="1700" dirty="0"/>
          </a:p>
        </p:txBody>
      </p:sp>
      <p:pic>
        <p:nvPicPr>
          <p:cNvPr id="13"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4" name="Text 7"/>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b="1" i="1" dirty="0">
                <a:solidFill>
                  <a:schemeClr val="accent3"/>
                </a:solidFill>
              </a:rPr>
              <a:t>mag</a:t>
            </a:r>
            <a:r>
              <a:rPr lang="en-US" sz="1700" i="1" dirty="0">
                <a:solidFill>
                  <a:schemeClr val="tx1"/>
                </a:solidFill>
              </a:rPr>
              <a:t> hier niet roken.</a:t>
            </a:r>
            <a:endParaRPr lang="en-US" sz="1700" dirty="0"/>
          </a:p>
        </p:txBody>
      </p:sp>
      <p:pic>
        <p:nvPicPr>
          <p:cNvPr id="15"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6" name="Text 8"/>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b="1" i="1" dirty="0">
                <a:solidFill>
                  <a:schemeClr val="accent3"/>
                </a:solidFill>
              </a:rPr>
              <a:t>wil</a:t>
            </a:r>
            <a:r>
              <a:rPr lang="en-US" sz="1700" i="1" dirty="0">
                <a:solidFill>
                  <a:schemeClr val="tx1"/>
                </a:solidFill>
              </a:rPr>
              <a:t> slapen.</a:t>
            </a:r>
            <a:endParaRPr lang="en-US" sz="1700" dirty="0"/>
          </a:p>
        </p:txBody>
      </p:sp>
      <p:pic>
        <p:nvPicPr>
          <p:cNvPr id="17"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8" name="Text 9"/>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b="1" i="1" dirty="0">
                <a:solidFill>
                  <a:schemeClr val="accent3"/>
                </a:solidFill>
              </a:rPr>
              <a:t>moeten</a:t>
            </a:r>
            <a:r>
              <a:rPr lang="en-US" sz="1700" i="1" dirty="0">
                <a:solidFill>
                  <a:schemeClr val="tx1"/>
                </a:solidFill>
              </a:rPr>
              <a:t> om 8 uur beginnen: de klant komt om 8.15 uur.</a:t>
            </a:r>
            <a:endParaRPr lang="en-US" sz="1700" dirty="0"/>
          </a:p>
        </p:txBody>
      </p:sp>
      <p:pic>
        <p:nvPicPr>
          <p:cNvPr id="19"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20" name="Text 10"/>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b="1" i="1" dirty="0">
                <a:solidFill>
                  <a:schemeClr val="accent3"/>
                </a:solidFill>
              </a:rPr>
              <a:t>kan</a:t>
            </a:r>
            <a:r>
              <a:rPr lang="en-US" sz="1700" i="1" dirty="0">
                <a:solidFill>
                  <a:schemeClr val="tx1"/>
                </a:solidFill>
              </a:rPr>
              <a:t> drie talen spreken.</a:t>
            </a:r>
            <a:endParaRPr lang="en-US" sz="1700" dirty="0"/>
          </a:p>
        </p:txBody>
      </p:sp>
      <p:pic>
        <p:nvPicPr>
          <p:cNvPr id="21"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2" name="Text 11"/>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b="1" i="1" dirty="0">
                <a:solidFill>
                  <a:schemeClr val="accent3"/>
                </a:solidFill>
              </a:rPr>
              <a:t>Wilt</a:t>
            </a:r>
            <a:r>
              <a:rPr lang="en-US" sz="1700" i="1" dirty="0">
                <a:solidFill>
                  <a:schemeClr val="tx1"/>
                </a:solidFill>
              </a:rPr>
              <a:t> u een koffie?</a:t>
            </a:r>
            <a:endParaRPr lang="en-US" sz="1700" dirty="0"/>
          </a:p>
        </p:txBody>
      </p:sp>
      <p:pic>
        <p:nvPicPr>
          <p:cNvPr id="23"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4" name="Text 12"/>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b="1" i="1" dirty="0">
                <a:solidFill>
                  <a:schemeClr val="accent3"/>
                </a:solidFill>
              </a:rPr>
              <a:t>mogen</a:t>
            </a:r>
            <a:r>
              <a:rPr lang="en-US" sz="1700" i="1" dirty="0">
                <a:solidFill>
                  <a:schemeClr val="tx1"/>
                </a:solidFill>
              </a:rPr>
              <a:t> hier niet zwemmen.</a:t>
            </a:r>
            <a:endParaRPr lang="en-US" sz="1700" dirty="0"/>
          </a:p>
        </p:txBody>
      </p:sp>
      <p:sp>
        <p:nvSpPr>
          <p:cNvPr id="25" name="Shape 13"/>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6"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7" name="Text 14"/>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8" name="Shape 15"/>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9"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30" name="Text 16"/>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1" name="Shape 17"/>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2"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3" name="Text 18"/>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4" name="Shape 19"/>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5"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6" name="Text 20"/>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8" name="Shape 4"/>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1691640" y="2042160"/>
            <a:ext cx="1234440" cy="1234440"/>
          </a:xfrm>
          <a:prstGeom prst="ellipse">
            <a:avLst/>
          </a:prstGeom>
          <a:solidFill>
            <a:srgbClr val="FFFFFF"/>
          </a:solidFill>
          <a:ln w="50800">
            <a:solidFill>
              <a:srgbClr val="2A6FB0"/>
            </a:solidFill>
            <a:prstDash val="solid"/>
          </a:ln>
        </p:spPr>
      </p:sp>
      <p:pic>
        <p:nvPicPr>
          <p:cNvPr id="10"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1" name="Shape 6"/>
          <p:cNvSpPr/>
          <p:nvPr/>
        </p:nvSpPr>
        <p:spPr>
          <a:xfrm>
            <a:off x="822960" y="3700272"/>
            <a:ext cx="2971800" cy="914"/>
          </a:xfrm>
          <a:prstGeom prst="line">
            <a:avLst/>
          </a:prstGeom>
          <a:noFill/>
          <a:ln w="12700">
            <a:solidFill>
              <a:srgbClr val="B8C2CF"/>
            </a:solidFill>
            <a:prstDash val="sysDot"/>
          </a:ln>
        </p:spPr>
      </p:sp>
      <p:sp>
        <p:nvSpPr>
          <p:cNvPr id="12" name="Shape 7"/>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5440680" y="2042160"/>
            <a:ext cx="1234440" cy="1234440"/>
          </a:xfrm>
          <a:prstGeom prst="ellipse">
            <a:avLst/>
          </a:prstGeom>
          <a:solidFill>
            <a:srgbClr val="FFFFFF"/>
          </a:solidFill>
          <a:ln w="50800">
            <a:solidFill>
              <a:srgbClr val="2A6FB0"/>
            </a:solidFill>
            <a:prstDash val="solid"/>
          </a:ln>
        </p:spPr>
      </p:sp>
      <p:pic>
        <p:nvPicPr>
          <p:cNvPr id="14"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5" name="Shape 9"/>
          <p:cNvSpPr/>
          <p:nvPr/>
        </p:nvSpPr>
        <p:spPr>
          <a:xfrm>
            <a:off x="4572000" y="3700272"/>
            <a:ext cx="2971800" cy="914"/>
          </a:xfrm>
          <a:prstGeom prst="line">
            <a:avLst/>
          </a:prstGeom>
          <a:noFill/>
          <a:ln w="12700">
            <a:solidFill>
              <a:srgbClr val="B8C2CF"/>
            </a:solidFill>
            <a:prstDash val="sysDot"/>
          </a:ln>
        </p:spPr>
      </p:sp>
      <p:sp>
        <p:nvSpPr>
          <p:cNvPr id="16" name="Shape 10"/>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9189720" y="2042160"/>
            <a:ext cx="1234440" cy="1234440"/>
          </a:xfrm>
          <a:prstGeom prst="ellipse">
            <a:avLst/>
          </a:prstGeom>
          <a:solidFill>
            <a:srgbClr val="FFFFFF"/>
          </a:solidFill>
          <a:ln w="50800">
            <a:solidFill>
              <a:srgbClr val="2A6FB0"/>
            </a:solidFill>
            <a:prstDash val="solid"/>
          </a:ln>
        </p:spPr>
      </p:sp>
      <p:pic>
        <p:nvPicPr>
          <p:cNvPr id="18"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19" name="Shape 12"/>
          <p:cNvSpPr/>
          <p:nvPr/>
        </p:nvSpPr>
        <p:spPr>
          <a:xfrm>
            <a:off x="8321040" y="3700272"/>
            <a:ext cx="2971800" cy="914"/>
          </a:xfrm>
          <a:prstGeom prst="line">
            <a:avLst/>
          </a:prstGeom>
          <a:noFill/>
          <a:ln w="12700">
            <a:solidFill>
              <a:srgbClr val="B8C2CF"/>
            </a:solidFill>
            <a:prstDash val="sysDot"/>
          </a:ln>
        </p:spPr>
      </p:sp>
      <p:sp>
        <p:nvSpPr>
          <p:cNvPr id="20" name="Shape 13"/>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4"/>
          <p:cNvSpPr/>
          <p:nvPr/>
        </p:nvSpPr>
        <p:spPr>
          <a:xfrm>
            <a:off x="1691640" y="4312920"/>
            <a:ext cx="1234440" cy="1234440"/>
          </a:xfrm>
          <a:prstGeom prst="ellipse">
            <a:avLst/>
          </a:prstGeom>
          <a:solidFill>
            <a:srgbClr val="FFFFFF"/>
          </a:solidFill>
          <a:ln w="50800">
            <a:solidFill>
              <a:srgbClr val="B83227"/>
            </a:solidFill>
            <a:prstDash val="solid"/>
          </a:ln>
        </p:spPr>
      </p:sp>
      <p:pic>
        <p:nvPicPr>
          <p:cNvPr id="22"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3" name="Shape 15"/>
          <p:cNvSpPr/>
          <p:nvPr/>
        </p:nvSpPr>
        <p:spPr>
          <a:xfrm>
            <a:off x="1874520" y="4495800"/>
            <a:ext cx="868680" cy="868680"/>
          </a:xfrm>
          <a:prstGeom prst="line">
            <a:avLst/>
          </a:prstGeom>
          <a:noFill/>
          <a:ln w="50800">
            <a:solidFill>
              <a:srgbClr val="B83227"/>
            </a:solidFill>
            <a:prstDash val="solid"/>
          </a:ln>
        </p:spPr>
      </p:sp>
      <p:sp>
        <p:nvSpPr>
          <p:cNvPr id="24" name="Shape 16"/>
          <p:cNvSpPr/>
          <p:nvPr/>
        </p:nvSpPr>
        <p:spPr>
          <a:xfrm>
            <a:off x="822960" y="5971032"/>
            <a:ext cx="2971800" cy="914"/>
          </a:xfrm>
          <a:prstGeom prst="line">
            <a:avLst/>
          </a:prstGeom>
          <a:noFill/>
          <a:ln w="12700">
            <a:solidFill>
              <a:srgbClr val="B8C2CF"/>
            </a:solidFill>
            <a:prstDash val="sysDot"/>
          </a:ln>
        </p:spPr>
      </p:sp>
      <p:sp>
        <p:nvSpPr>
          <p:cNvPr id="25" name="Shape 17"/>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18"/>
          <p:cNvSpPr/>
          <p:nvPr/>
        </p:nvSpPr>
        <p:spPr>
          <a:xfrm>
            <a:off x="5440680" y="4312920"/>
            <a:ext cx="1234440" cy="1234440"/>
          </a:xfrm>
          <a:prstGeom prst="ellipse">
            <a:avLst/>
          </a:prstGeom>
          <a:solidFill>
            <a:srgbClr val="FFFFFF"/>
          </a:solidFill>
          <a:ln w="50800">
            <a:solidFill>
              <a:srgbClr val="2A6FB0"/>
            </a:solidFill>
            <a:prstDash val="solid"/>
          </a:ln>
        </p:spPr>
      </p:sp>
      <p:pic>
        <p:nvPicPr>
          <p:cNvPr id="27"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8" name="Shape 19"/>
          <p:cNvSpPr/>
          <p:nvPr/>
        </p:nvSpPr>
        <p:spPr>
          <a:xfrm>
            <a:off x="4572000" y="5971032"/>
            <a:ext cx="2971800" cy="914"/>
          </a:xfrm>
          <a:prstGeom prst="line">
            <a:avLst/>
          </a:prstGeom>
          <a:noFill/>
          <a:ln w="12700">
            <a:solidFill>
              <a:srgbClr val="B8C2CF"/>
            </a:solidFill>
            <a:prstDash val="sysDot"/>
          </a:ln>
        </p:spPr>
      </p:sp>
      <p:sp>
        <p:nvSpPr>
          <p:cNvPr id="29" name="Shape 20"/>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1"/>
          <p:cNvSpPr/>
          <p:nvPr/>
        </p:nvSpPr>
        <p:spPr>
          <a:xfrm>
            <a:off x="9189720" y="4312920"/>
            <a:ext cx="1234440" cy="1234440"/>
          </a:xfrm>
          <a:prstGeom prst="ellipse">
            <a:avLst/>
          </a:prstGeom>
          <a:solidFill>
            <a:srgbClr val="FFFFFF"/>
          </a:solidFill>
          <a:ln w="50800">
            <a:solidFill>
              <a:srgbClr val="2A6FB0"/>
            </a:solidFill>
            <a:prstDash val="solid"/>
          </a:ln>
        </p:spPr>
      </p:sp>
      <p:pic>
        <p:nvPicPr>
          <p:cNvPr id="31"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2" name="Shape 22"/>
          <p:cNvSpPr/>
          <p:nvPr/>
        </p:nvSpPr>
        <p:spPr>
          <a:xfrm>
            <a:off x="8321040" y="5971032"/>
            <a:ext cx="29718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9" name="Shape 5"/>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1691640" y="2042160"/>
            <a:ext cx="1234440" cy="1234440"/>
          </a:xfrm>
          <a:prstGeom prst="ellipse">
            <a:avLst/>
          </a:prstGeom>
          <a:solidFill>
            <a:srgbClr val="FFFFFF"/>
          </a:solidFill>
          <a:ln w="50800">
            <a:solidFill>
              <a:srgbClr val="2A6FB0"/>
            </a:solidFill>
            <a:prstDash val="solid"/>
          </a:ln>
        </p:spPr>
      </p:sp>
      <p:pic>
        <p:nvPicPr>
          <p:cNvPr id="11"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2" name="Text 7"/>
          <p:cNvSpPr txBox="1"/>
          <p:nvPr/>
        </p:nvSpPr>
        <p:spPr>
          <a:xfrm>
            <a:off x="68580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niet roken.</a:t>
            </a:r>
            <a:endParaRPr lang="en-US" sz="1700" dirty="0"/>
          </a:p>
        </p:txBody>
      </p:sp>
      <p:sp>
        <p:nvSpPr>
          <p:cNvPr id="13" name="Shape 8"/>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9"/>
          <p:cNvSpPr/>
          <p:nvPr/>
        </p:nvSpPr>
        <p:spPr>
          <a:xfrm>
            <a:off x="5440680" y="2042160"/>
            <a:ext cx="1234440" cy="1234440"/>
          </a:xfrm>
          <a:prstGeom prst="ellipse">
            <a:avLst/>
          </a:prstGeom>
          <a:solidFill>
            <a:srgbClr val="FFFFFF"/>
          </a:solidFill>
          <a:ln w="50800">
            <a:solidFill>
              <a:srgbClr val="2A6FB0"/>
            </a:solidFill>
            <a:prstDash val="solid"/>
          </a:ln>
        </p:spPr>
      </p:sp>
      <p:pic>
        <p:nvPicPr>
          <p:cNvPr id="15"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6" name="Text 10"/>
          <p:cNvSpPr txBox="1"/>
          <p:nvPr/>
        </p:nvSpPr>
        <p:spPr>
          <a:xfrm>
            <a:off x="443484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je handen wassen.</a:t>
            </a:r>
            <a:endParaRPr lang="en-US" sz="1700" dirty="0"/>
          </a:p>
        </p:txBody>
      </p:sp>
      <p:sp>
        <p:nvSpPr>
          <p:cNvPr id="17" name="Shape 11"/>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9189720" y="2042160"/>
            <a:ext cx="1234440" cy="1234440"/>
          </a:xfrm>
          <a:prstGeom prst="ellipse">
            <a:avLst/>
          </a:prstGeom>
          <a:solidFill>
            <a:srgbClr val="FFFFFF"/>
          </a:solidFill>
          <a:ln w="50800">
            <a:solidFill>
              <a:srgbClr val="2A6FB0"/>
            </a:solidFill>
            <a:prstDash val="solid"/>
          </a:ln>
        </p:spPr>
      </p:sp>
      <p:pic>
        <p:nvPicPr>
          <p:cNvPr id="19"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20" name="Text 13"/>
          <p:cNvSpPr txBox="1"/>
          <p:nvPr/>
        </p:nvSpPr>
        <p:spPr>
          <a:xfrm>
            <a:off x="818388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kunt hier met de kaart betalen.</a:t>
            </a:r>
            <a:endParaRPr lang="en-US" sz="1700" dirty="0"/>
          </a:p>
        </p:txBody>
      </p:sp>
      <p:sp>
        <p:nvSpPr>
          <p:cNvPr id="21" name="Shape 14"/>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1691640" y="4312920"/>
            <a:ext cx="1234440" cy="1234440"/>
          </a:xfrm>
          <a:prstGeom prst="ellipse">
            <a:avLst/>
          </a:prstGeom>
          <a:solidFill>
            <a:srgbClr val="FFFFFF"/>
          </a:solidFill>
          <a:ln w="50800">
            <a:solidFill>
              <a:srgbClr val="B83227"/>
            </a:solidFill>
            <a:prstDash val="solid"/>
          </a:ln>
        </p:spPr>
      </p:sp>
      <p:pic>
        <p:nvPicPr>
          <p:cNvPr id="23"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4" name="Shape 16"/>
          <p:cNvSpPr/>
          <p:nvPr/>
        </p:nvSpPr>
        <p:spPr>
          <a:xfrm>
            <a:off x="1874520" y="4495800"/>
            <a:ext cx="868680" cy="868680"/>
          </a:xfrm>
          <a:prstGeom prst="line">
            <a:avLst/>
          </a:prstGeom>
          <a:noFill/>
          <a:ln w="50800">
            <a:solidFill>
              <a:srgbClr val="B83227"/>
            </a:solidFill>
            <a:prstDash val="solid"/>
          </a:ln>
        </p:spPr>
      </p:sp>
      <p:sp>
        <p:nvSpPr>
          <p:cNvPr id="25" name="Text 17"/>
          <p:cNvSpPr txBox="1"/>
          <p:nvPr/>
        </p:nvSpPr>
        <p:spPr>
          <a:xfrm>
            <a:off x="68580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Honden mogen hier niet binnen.</a:t>
            </a:r>
            <a:endParaRPr lang="en-US" sz="1700" dirty="0"/>
          </a:p>
        </p:txBody>
      </p:sp>
      <p:sp>
        <p:nvSpPr>
          <p:cNvPr id="26" name="Shape 18"/>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19"/>
          <p:cNvSpPr/>
          <p:nvPr/>
        </p:nvSpPr>
        <p:spPr>
          <a:xfrm>
            <a:off x="5440680" y="4312920"/>
            <a:ext cx="1234440" cy="1234440"/>
          </a:xfrm>
          <a:prstGeom prst="ellipse">
            <a:avLst/>
          </a:prstGeom>
          <a:solidFill>
            <a:srgbClr val="FFFFFF"/>
          </a:solidFill>
          <a:ln w="50800">
            <a:solidFill>
              <a:srgbClr val="2A6FB0"/>
            </a:solidFill>
            <a:prstDash val="solid"/>
          </a:ln>
        </p:spPr>
      </p:sp>
      <p:pic>
        <p:nvPicPr>
          <p:cNvPr id="28"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9" name="Text 20"/>
          <p:cNvSpPr txBox="1"/>
          <p:nvPr/>
        </p:nvSpPr>
        <p:spPr>
          <a:xfrm>
            <a:off x="443484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hier stil zijn.</a:t>
            </a:r>
            <a:endParaRPr lang="en-US" sz="1700" dirty="0"/>
          </a:p>
        </p:txBody>
      </p:sp>
      <p:sp>
        <p:nvSpPr>
          <p:cNvPr id="30" name="Shape 21"/>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2"/>
          <p:cNvSpPr/>
          <p:nvPr/>
        </p:nvSpPr>
        <p:spPr>
          <a:xfrm>
            <a:off x="9189720" y="4312920"/>
            <a:ext cx="1234440" cy="1234440"/>
          </a:xfrm>
          <a:prstGeom prst="ellipse">
            <a:avLst/>
          </a:prstGeom>
          <a:solidFill>
            <a:srgbClr val="FFFFFF"/>
          </a:solidFill>
          <a:ln w="50800">
            <a:solidFill>
              <a:srgbClr val="2A6FB0"/>
            </a:solidFill>
            <a:prstDash val="solid"/>
          </a:ln>
        </p:spPr>
      </p:sp>
      <p:pic>
        <p:nvPicPr>
          <p:cNvPr id="32"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3" name="Text 23"/>
          <p:cNvSpPr txBox="1"/>
          <p:nvPr/>
        </p:nvSpPr>
        <p:spPr>
          <a:xfrm>
            <a:off x="818388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parkeren.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8" name="Shape 4"/>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1" name="Text 7"/>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2" name="Shape 8"/>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3" name="Text 9"/>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4" name="Shape 10"/>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5" name="Text 11"/>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6" name="Shape 12"/>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7" name="Text 13"/>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8" name="Shape 14"/>
          <p:cNvSpPr/>
          <p:nvPr/>
        </p:nvSpPr>
        <p:spPr>
          <a:xfrm>
            <a:off x="6309360" y="1987296"/>
            <a:ext cx="5330952" cy="598424"/>
          </a:xfrm>
          <a:prstGeom prst="roundRect">
            <a:avLst>
              <a:gd name="adj" fmla="val 12224"/>
            </a:avLst>
          </a:prstGeom>
          <a:solidFill>
            <a:schemeClr val="bg1"/>
          </a:solidFill>
          <a:ln w="15875">
            <a:solidFill>
              <a:srgbClr val="D5DCE6"/>
            </a:solidFill>
            <a:prstDash val="solid"/>
          </a:ln>
        </p:spPr>
      </p:sp>
      <p:sp>
        <p:nvSpPr>
          <p:cNvPr id="19" name="Shape 15"/>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0" name="Text 16"/>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1" name="Shape 17"/>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2" name="Text 18"/>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3" name="Shape 19"/>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5" name="Shape 21"/>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7" name="Shape 23"/>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28" name="Text 24"/>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29" name="Shape 25"/>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0" name="Text 26"/>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1" name="Shape 27"/>
          <p:cNvSpPr/>
          <p:nvPr/>
        </p:nvSpPr>
        <p:spPr>
          <a:xfrm>
            <a:off x="6309360" y="2713736"/>
            <a:ext cx="5330952"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Shape 30"/>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5" name="Text 31"/>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6" name="Shape 32"/>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37" name="Text 33"/>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38" name="Shape 34"/>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39" name="Text 35"/>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0" name="Shape 36"/>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1" name="Text 37"/>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2" name="Shape 38"/>
          <p:cNvSpPr/>
          <p:nvPr/>
        </p:nvSpPr>
        <p:spPr>
          <a:xfrm>
            <a:off x="6309360" y="3440176"/>
            <a:ext cx="5330952" cy="598424"/>
          </a:xfrm>
          <a:prstGeom prst="roundRect">
            <a:avLst>
              <a:gd name="adj" fmla="val 12224"/>
            </a:avLst>
          </a:prstGeom>
          <a:solidFill>
            <a:schemeClr val="bg1"/>
          </a:solidFill>
          <a:ln w="15875">
            <a:solidFill>
              <a:srgbClr val="D5DCE6"/>
            </a:solidFill>
            <a:prstDash val="solid"/>
          </a:ln>
        </p:spPr>
      </p:sp>
      <p:sp>
        <p:nvSpPr>
          <p:cNvPr id="43" name="Shape 39"/>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5" name="Shape 41"/>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46" name="Text 42"/>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47" name="Shape 43"/>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48" name="Text 44"/>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49" name="Shape 45"/>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1" name="Shape 47"/>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3" name="Shape 49"/>
          <p:cNvSpPr/>
          <p:nvPr/>
        </p:nvSpPr>
        <p:spPr>
          <a:xfrm>
            <a:off x="6309360" y="4166616"/>
            <a:ext cx="5330952" cy="598424"/>
          </a:xfrm>
          <a:prstGeom prst="roundRect">
            <a:avLst>
              <a:gd name="adj" fmla="val 12224"/>
            </a:avLst>
          </a:prstGeom>
          <a:solidFill>
            <a:schemeClr val="bg1"/>
          </a:solidFill>
          <a:ln w="15875">
            <a:solidFill>
              <a:srgbClr val="D5DCE6"/>
            </a:solidFill>
            <a:prstDash val="solid"/>
          </a:ln>
        </p:spPr>
      </p:sp>
      <p:sp>
        <p:nvSpPr>
          <p:cNvPr id="54" name="Shape 50"/>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55" name="Text 51"/>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56" name="Shape 52"/>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57" name="Text 53"/>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58" name="Shape 54"/>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59" name="Text 55"/>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0" name="Shape 56"/>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1" name="Text 57"/>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2" name="Shape 58"/>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3" name="Text 59"/>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4" name="Shape 60"/>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65" name="Text 61"/>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66" name="Shape 62"/>
          <p:cNvSpPr/>
          <p:nvPr/>
        </p:nvSpPr>
        <p:spPr>
          <a:xfrm>
            <a:off x="6309360" y="4893056"/>
            <a:ext cx="5330952" cy="598424"/>
          </a:xfrm>
          <a:prstGeom prst="roundRect">
            <a:avLst>
              <a:gd name="adj" fmla="val 12224"/>
            </a:avLst>
          </a:prstGeom>
          <a:solidFill>
            <a:schemeClr val="bg1"/>
          </a:solidFill>
          <a:ln w="15875">
            <a:solidFill>
              <a:srgbClr val="D5DCE6"/>
            </a:solidFill>
            <a:prstDash val="solid"/>
          </a:ln>
        </p:spPr>
      </p:sp>
      <p:sp>
        <p:nvSpPr>
          <p:cNvPr id="67" name="Shape 63"/>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68" name="Text 64"/>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69" name="Shape 65"/>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0" name="Text 66"/>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1" name="Shape 67"/>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2" name="Text 68"/>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3" name="Shape 69"/>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74" name="Text 70"/>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75" name="Shape 71"/>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77" name="Shape 73"/>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78" name="Text 74"/>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79" name="Shape 75"/>
          <p:cNvSpPr/>
          <p:nvPr/>
        </p:nvSpPr>
        <p:spPr>
          <a:xfrm>
            <a:off x="6309360" y="5619496"/>
            <a:ext cx="5330952"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9" name="Shape 5"/>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2" name="Text 8"/>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3" name="Shape 9"/>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4" name="Text 10"/>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5" name="Shape 11"/>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6" name="Text 12"/>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7" name="Shape 13"/>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8" name="Text 14"/>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9" name="Shape 15"/>
          <p:cNvSpPr/>
          <p:nvPr/>
        </p:nvSpPr>
        <p:spPr>
          <a:xfrm>
            <a:off x="6309360" y="1987296"/>
            <a:ext cx="5330952" cy="598424"/>
          </a:xfrm>
          <a:prstGeom prst="roundRect">
            <a:avLst>
              <a:gd name="adj" fmla="val 12224"/>
            </a:avLst>
          </a:prstGeom>
          <a:solidFill>
            <a:srgbClr val="EDF6F0"/>
          </a:solidFill>
          <a:ln w="15875">
            <a:solidFill>
              <a:srgbClr val="2E7D4F"/>
            </a:solidFill>
            <a:prstDash val="solid"/>
          </a:ln>
        </p:spPr>
      </p:sp>
      <p:sp>
        <p:nvSpPr>
          <p:cNvPr id="20" name="Text 16"/>
          <p:cNvSpPr txBox="1"/>
          <p:nvPr/>
        </p:nvSpPr>
        <p:spPr>
          <a:xfrm>
            <a:off x="6446520" y="19872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moet morgen werken.</a:t>
            </a:r>
            <a:endParaRPr lang="en-US" sz="1800" dirty="0"/>
          </a:p>
        </p:txBody>
      </p:sp>
      <p:sp>
        <p:nvSpPr>
          <p:cNvPr id="21" name="Shape 17"/>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2" name="Text 18"/>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3" name="Shape 19"/>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5" name="Shape 21"/>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7" name="Shape 23"/>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8" name="Text 24"/>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9" name="Shape 25"/>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30" name="Text 26"/>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31" name="Shape 27"/>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2" name="Text 28"/>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3" name="Shape 29"/>
          <p:cNvSpPr/>
          <p:nvPr/>
        </p:nvSpPr>
        <p:spPr>
          <a:xfrm>
            <a:off x="6309360" y="2713736"/>
            <a:ext cx="5330952" cy="598424"/>
          </a:xfrm>
          <a:prstGeom prst="roundRect">
            <a:avLst>
              <a:gd name="adj" fmla="val 12224"/>
            </a:avLst>
          </a:prstGeom>
          <a:solidFill>
            <a:srgbClr val="EDF6F0"/>
          </a:solidFill>
          <a:ln w="15875">
            <a:solidFill>
              <a:srgbClr val="2E7D4F"/>
            </a:solidFill>
            <a:prstDash val="solid"/>
          </a:ln>
        </p:spPr>
      </p:sp>
      <p:sp>
        <p:nvSpPr>
          <p:cNvPr id="34" name="Text 30"/>
          <p:cNvSpPr txBox="1"/>
          <p:nvPr/>
        </p:nvSpPr>
        <p:spPr>
          <a:xfrm>
            <a:off x="6446520" y="271373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kan vandaag niet komen.</a:t>
            </a:r>
            <a:endParaRPr lang="en-US" sz="1800" dirty="0"/>
          </a:p>
        </p:txBody>
      </p:sp>
      <p:sp>
        <p:nvSpPr>
          <p:cNvPr id="35" name="Shape 31"/>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6" name="Text 32"/>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7" name="Shape 33"/>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8" name="Text 34"/>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9" name="Shape 35"/>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40" name="Text 36"/>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41" name="Shape 37"/>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42" name="Text 38"/>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3" name="Shape 39"/>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4" name="Text 40"/>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5" name="Shape 41"/>
          <p:cNvSpPr/>
          <p:nvPr/>
        </p:nvSpPr>
        <p:spPr>
          <a:xfrm>
            <a:off x="6309360" y="3440176"/>
            <a:ext cx="5330952" cy="598424"/>
          </a:xfrm>
          <a:prstGeom prst="roundRect">
            <a:avLst>
              <a:gd name="adj" fmla="val 12224"/>
            </a:avLst>
          </a:prstGeom>
          <a:solidFill>
            <a:srgbClr val="EDF6F0"/>
          </a:solidFill>
          <a:ln w="15875">
            <a:solidFill>
              <a:srgbClr val="2E7D4F"/>
            </a:solidFill>
            <a:prstDash val="solid"/>
          </a:ln>
        </p:spPr>
      </p:sp>
      <p:sp>
        <p:nvSpPr>
          <p:cNvPr id="46" name="Text 42"/>
          <p:cNvSpPr txBox="1"/>
          <p:nvPr/>
        </p:nvSpPr>
        <p:spPr>
          <a:xfrm>
            <a:off x="6446520" y="344017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Mag je binnenkomen?</a:t>
            </a:r>
            <a:endParaRPr lang="en-US" sz="1800" dirty="0"/>
          </a:p>
        </p:txBody>
      </p:sp>
      <p:sp>
        <p:nvSpPr>
          <p:cNvPr id="47" name="Shape 43"/>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8" name="Text 44"/>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9" name="Shape 45"/>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51" name="Shape 47"/>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53" name="Shape 49"/>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4" name="Text 50"/>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5" name="Shape 51"/>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6" name="Text 52"/>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7" name="Shape 53"/>
          <p:cNvSpPr/>
          <p:nvPr/>
        </p:nvSpPr>
        <p:spPr>
          <a:xfrm>
            <a:off x="6309360" y="4166616"/>
            <a:ext cx="5330952" cy="598424"/>
          </a:xfrm>
          <a:prstGeom prst="roundRect">
            <a:avLst>
              <a:gd name="adj" fmla="val 12224"/>
            </a:avLst>
          </a:prstGeom>
          <a:solidFill>
            <a:srgbClr val="EDF6F0"/>
          </a:solidFill>
          <a:ln w="15875">
            <a:solidFill>
              <a:srgbClr val="2E7D4F"/>
            </a:solidFill>
            <a:prstDash val="solid"/>
          </a:ln>
        </p:spPr>
      </p:sp>
      <p:sp>
        <p:nvSpPr>
          <p:cNvPr id="58" name="Text 54"/>
          <p:cNvSpPr txBox="1"/>
          <p:nvPr/>
        </p:nvSpPr>
        <p:spPr>
          <a:xfrm>
            <a:off x="6446520" y="416661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Sofie wil de klant opbellen.</a:t>
            </a:r>
            <a:endParaRPr lang="en-US" sz="1800" dirty="0"/>
          </a:p>
        </p:txBody>
      </p:sp>
      <p:sp>
        <p:nvSpPr>
          <p:cNvPr id="59" name="Shape 55"/>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60" name="Text 56"/>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61" name="Shape 57"/>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62" name="Text 58"/>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63" name="Shape 59"/>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64" name="Text 60"/>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5" name="Shape 61"/>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6" name="Text 62"/>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7" name="Shape 63"/>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8" name="Text 64"/>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9" name="Shape 65"/>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70" name="Text 66"/>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71" name="Shape 67"/>
          <p:cNvSpPr/>
          <p:nvPr/>
        </p:nvSpPr>
        <p:spPr>
          <a:xfrm>
            <a:off x="6309360" y="4893056"/>
            <a:ext cx="5330952" cy="598424"/>
          </a:xfrm>
          <a:prstGeom prst="roundRect">
            <a:avLst>
              <a:gd name="adj" fmla="val 12224"/>
            </a:avLst>
          </a:prstGeom>
          <a:solidFill>
            <a:srgbClr val="EDF6F0"/>
          </a:solidFill>
          <a:ln w="15875">
            <a:solidFill>
              <a:srgbClr val="2E7D4F"/>
            </a:solidFill>
            <a:prstDash val="solid"/>
          </a:ln>
        </p:spPr>
      </p:sp>
      <p:sp>
        <p:nvSpPr>
          <p:cNvPr id="72" name="Text 68"/>
          <p:cNvSpPr txBox="1"/>
          <p:nvPr/>
        </p:nvSpPr>
        <p:spPr>
          <a:xfrm>
            <a:off x="6446520" y="489305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Zullen we samen lunchen?</a:t>
            </a:r>
            <a:endParaRPr lang="en-US" sz="1800" dirty="0"/>
          </a:p>
        </p:txBody>
      </p:sp>
      <p:sp>
        <p:nvSpPr>
          <p:cNvPr id="73" name="Shape 69"/>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74" name="Text 70"/>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75" name="Shape 71"/>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7" name="Shape 73"/>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8" name="Text 74"/>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9" name="Shape 75"/>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80" name="Text 76"/>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81" name="Shape 77"/>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82" name="Text 78"/>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83" name="Shape 79"/>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84" name="Text 80"/>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85" name="Shape 81"/>
          <p:cNvSpPr/>
          <p:nvPr/>
        </p:nvSpPr>
        <p:spPr>
          <a:xfrm>
            <a:off x="6309360" y="5619496"/>
            <a:ext cx="5330952" cy="598424"/>
          </a:xfrm>
          <a:prstGeom prst="roundRect">
            <a:avLst>
              <a:gd name="adj" fmla="val 12224"/>
            </a:avLst>
          </a:prstGeom>
          <a:solidFill>
            <a:srgbClr val="EDF6F0"/>
          </a:solidFill>
          <a:ln w="15875">
            <a:solidFill>
              <a:srgbClr val="2E7D4F"/>
            </a:solidFill>
            <a:prstDash val="solid"/>
          </a:ln>
        </p:spPr>
      </p:sp>
      <p:sp>
        <p:nvSpPr>
          <p:cNvPr id="86" name="Text 82"/>
          <p:cNvSpPr txBox="1"/>
          <p:nvPr/>
        </p:nvSpPr>
        <p:spPr>
          <a:xfrm>
            <a:off x="6446520" y="56194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mag mijn badge niet vergeten.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1" name="Text 7"/>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2" name="Text 8"/>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3" name="Shape 9"/>
          <p:cNvSpPr/>
          <p:nvPr/>
        </p:nvSpPr>
        <p:spPr>
          <a:xfrm>
            <a:off x="5212080" y="2186559"/>
            <a:ext cx="594360" cy="914"/>
          </a:xfrm>
          <a:prstGeom prst="line">
            <a:avLst/>
          </a:prstGeom>
          <a:noFill/>
          <a:ln w="31750">
            <a:solidFill>
              <a:srgbClr val="D9700F"/>
            </a:solidFill>
            <a:prstDash val="solid"/>
            <a:tailEnd type="triangle"/>
          </a:ln>
        </p:spPr>
      </p:sp>
      <p:sp>
        <p:nvSpPr>
          <p:cNvPr id="14" name="Shape 10"/>
          <p:cNvSpPr/>
          <p:nvPr/>
        </p:nvSpPr>
        <p:spPr>
          <a:xfrm>
            <a:off x="5852160" y="1969008"/>
            <a:ext cx="5788152" cy="453390"/>
          </a:xfrm>
          <a:prstGeom prst="roundRect">
            <a:avLst>
              <a:gd name="adj" fmla="val 16134"/>
            </a:avLst>
          </a:prstGeom>
          <a:solidFill>
            <a:schemeClr val="bg1"/>
          </a:solidFill>
          <a:ln w="15875">
            <a:solidFill>
              <a:srgbClr val="D5DCE6"/>
            </a:solidFill>
            <a:prstDash val="solid"/>
          </a:ln>
        </p:spPr>
      </p:sp>
      <p:sp>
        <p:nvSpPr>
          <p:cNvPr id="15" name="Shape 11"/>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Shape 13"/>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18" name="Text 14"/>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19" name="Text 15"/>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0" name="Shape 16"/>
          <p:cNvSpPr/>
          <p:nvPr/>
        </p:nvSpPr>
        <p:spPr>
          <a:xfrm>
            <a:off x="5212080" y="2731389"/>
            <a:ext cx="594360" cy="914"/>
          </a:xfrm>
          <a:prstGeom prst="line">
            <a:avLst/>
          </a:prstGeom>
          <a:noFill/>
          <a:ln w="31750">
            <a:solidFill>
              <a:srgbClr val="D9700F"/>
            </a:solidFill>
            <a:prstDash val="solid"/>
            <a:tailEnd type="triangle"/>
          </a:ln>
        </p:spPr>
      </p:sp>
      <p:sp>
        <p:nvSpPr>
          <p:cNvPr id="21" name="Shape 17"/>
          <p:cNvSpPr/>
          <p:nvPr/>
        </p:nvSpPr>
        <p:spPr>
          <a:xfrm>
            <a:off x="5852160" y="2513838"/>
            <a:ext cx="5788152" cy="453390"/>
          </a:xfrm>
          <a:prstGeom prst="roundRect">
            <a:avLst>
              <a:gd name="adj" fmla="val 16134"/>
            </a:avLst>
          </a:prstGeom>
          <a:solidFill>
            <a:schemeClr val="bg1"/>
          </a:solidFill>
          <a:ln w="15875">
            <a:solidFill>
              <a:srgbClr val="D5DCE6"/>
            </a:solidFill>
            <a:prstDash val="solid"/>
          </a:ln>
        </p:spPr>
      </p:sp>
      <p:sp>
        <p:nvSpPr>
          <p:cNvPr id="22" name="Shape 18"/>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4" name="Shape 20"/>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5" name="Text 21"/>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6" name="Text 22"/>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7" name="Shape 23"/>
          <p:cNvSpPr/>
          <p:nvPr/>
        </p:nvSpPr>
        <p:spPr>
          <a:xfrm>
            <a:off x="5212080" y="3276219"/>
            <a:ext cx="594360" cy="914"/>
          </a:xfrm>
          <a:prstGeom prst="line">
            <a:avLst/>
          </a:prstGeom>
          <a:noFill/>
          <a:ln w="31750">
            <a:solidFill>
              <a:srgbClr val="D9700F"/>
            </a:solidFill>
            <a:prstDash val="solid"/>
            <a:tailEnd type="triangle"/>
          </a:ln>
        </p:spPr>
      </p:sp>
      <p:sp>
        <p:nvSpPr>
          <p:cNvPr id="28" name="Shape 24"/>
          <p:cNvSpPr/>
          <p:nvPr/>
        </p:nvSpPr>
        <p:spPr>
          <a:xfrm>
            <a:off x="5852160" y="3058668"/>
            <a:ext cx="5788152" cy="453390"/>
          </a:xfrm>
          <a:prstGeom prst="roundRect">
            <a:avLst>
              <a:gd name="adj" fmla="val 16134"/>
            </a:avLst>
          </a:prstGeom>
          <a:solidFill>
            <a:schemeClr val="bg1"/>
          </a:solidFill>
          <a:ln w="15875">
            <a:solidFill>
              <a:srgbClr val="D5DCE6"/>
            </a:solidFill>
            <a:prstDash val="solid"/>
          </a:ln>
        </p:spPr>
      </p:sp>
      <p:sp>
        <p:nvSpPr>
          <p:cNvPr id="29" name="Shape 25"/>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1" name="Shape 27"/>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2" name="Text 28"/>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3" name="Shape 29"/>
          <p:cNvSpPr/>
          <p:nvPr/>
        </p:nvSpPr>
        <p:spPr>
          <a:xfrm>
            <a:off x="5212080" y="3821049"/>
            <a:ext cx="594360" cy="914"/>
          </a:xfrm>
          <a:prstGeom prst="line">
            <a:avLst/>
          </a:prstGeom>
          <a:noFill/>
          <a:ln w="31750">
            <a:solidFill>
              <a:srgbClr val="D9700F"/>
            </a:solidFill>
            <a:prstDash val="solid"/>
            <a:tailEnd type="triangle"/>
          </a:ln>
        </p:spPr>
      </p:sp>
      <p:sp>
        <p:nvSpPr>
          <p:cNvPr id="34" name="Shape 30"/>
          <p:cNvSpPr/>
          <p:nvPr/>
        </p:nvSpPr>
        <p:spPr>
          <a:xfrm>
            <a:off x="5852160" y="3603498"/>
            <a:ext cx="5788152" cy="453390"/>
          </a:xfrm>
          <a:prstGeom prst="roundRect">
            <a:avLst>
              <a:gd name="adj" fmla="val 16134"/>
            </a:avLst>
          </a:prstGeom>
          <a:solidFill>
            <a:schemeClr val="bg1"/>
          </a:solidFill>
          <a:ln w="15875">
            <a:solidFill>
              <a:srgbClr val="D5DCE6"/>
            </a:solidFill>
            <a:prstDash val="solid"/>
          </a:ln>
        </p:spPr>
      </p:sp>
      <p:sp>
        <p:nvSpPr>
          <p:cNvPr id="35" name="Shape 31"/>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6" name="Text 32"/>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7" name="Shape 33"/>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38" name="Text 34"/>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39" name="Shape 35"/>
          <p:cNvSpPr/>
          <p:nvPr/>
        </p:nvSpPr>
        <p:spPr>
          <a:xfrm>
            <a:off x="5212080" y="4365879"/>
            <a:ext cx="594360" cy="914"/>
          </a:xfrm>
          <a:prstGeom prst="line">
            <a:avLst/>
          </a:prstGeom>
          <a:noFill/>
          <a:ln w="31750">
            <a:solidFill>
              <a:srgbClr val="D9700F"/>
            </a:solidFill>
            <a:prstDash val="solid"/>
            <a:tailEnd type="triangle"/>
          </a:ln>
        </p:spPr>
      </p:sp>
      <p:sp>
        <p:nvSpPr>
          <p:cNvPr id="40" name="Shape 36"/>
          <p:cNvSpPr/>
          <p:nvPr/>
        </p:nvSpPr>
        <p:spPr>
          <a:xfrm>
            <a:off x="5852160" y="4148328"/>
            <a:ext cx="5788152" cy="453390"/>
          </a:xfrm>
          <a:prstGeom prst="roundRect">
            <a:avLst>
              <a:gd name="adj" fmla="val 16134"/>
            </a:avLst>
          </a:prstGeom>
          <a:solidFill>
            <a:schemeClr val="bg1"/>
          </a:solidFill>
          <a:ln w="15875">
            <a:solidFill>
              <a:srgbClr val="D5DCE6"/>
            </a:solidFill>
            <a:prstDash val="solid"/>
          </a:ln>
        </p:spPr>
      </p:sp>
      <p:sp>
        <p:nvSpPr>
          <p:cNvPr id="41" name="Shape 37"/>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2" name="Text 38"/>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3" name="Shape 39"/>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44" name="Text 40"/>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45" name="Shape 41"/>
          <p:cNvSpPr/>
          <p:nvPr/>
        </p:nvSpPr>
        <p:spPr>
          <a:xfrm>
            <a:off x="5212080" y="4910709"/>
            <a:ext cx="594360" cy="914"/>
          </a:xfrm>
          <a:prstGeom prst="line">
            <a:avLst/>
          </a:prstGeom>
          <a:noFill/>
          <a:ln w="31750">
            <a:solidFill>
              <a:srgbClr val="D9700F"/>
            </a:solidFill>
            <a:prstDash val="solid"/>
            <a:tailEnd type="triangle"/>
          </a:ln>
        </p:spPr>
      </p:sp>
      <p:sp>
        <p:nvSpPr>
          <p:cNvPr id="46" name="Shape 42"/>
          <p:cNvSpPr/>
          <p:nvPr/>
        </p:nvSpPr>
        <p:spPr>
          <a:xfrm>
            <a:off x="5852160" y="4693158"/>
            <a:ext cx="5788152" cy="453390"/>
          </a:xfrm>
          <a:prstGeom prst="roundRect">
            <a:avLst>
              <a:gd name="adj" fmla="val 16134"/>
            </a:avLst>
          </a:prstGeom>
          <a:solidFill>
            <a:schemeClr val="bg1"/>
          </a:solidFill>
          <a:ln w="15875">
            <a:solidFill>
              <a:srgbClr val="D5DCE6"/>
            </a:solidFill>
            <a:prstDash val="solid"/>
          </a:ln>
        </p:spPr>
      </p:sp>
      <p:sp>
        <p:nvSpPr>
          <p:cNvPr id="47" name="Shape 43"/>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9" name="Shape 45"/>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1" name="Shape 47"/>
          <p:cNvSpPr/>
          <p:nvPr/>
        </p:nvSpPr>
        <p:spPr>
          <a:xfrm>
            <a:off x="5212080" y="5455539"/>
            <a:ext cx="594360" cy="914"/>
          </a:xfrm>
          <a:prstGeom prst="line">
            <a:avLst/>
          </a:prstGeom>
          <a:noFill/>
          <a:ln w="31750">
            <a:solidFill>
              <a:srgbClr val="D9700F"/>
            </a:solidFill>
            <a:prstDash val="solid"/>
            <a:tailEnd type="triangle"/>
          </a:ln>
        </p:spPr>
      </p:sp>
      <p:sp>
        <p:nvSpPr>
          <p:cNvPr id="52" name="Shape 48"/>
          <p:cNvSpPr/>
          <p:nvPr/>
        </p:nvSpPr>
        <p:spPr>
          <a:xfrm>
            <a:off x="5852160" y="5237988"/>
            <a:ext cx="5788152" cy="453390"/>
          </a:xfrm>
          <a:prstGeom prst="roundRect">
            <a:avLst>
              <a:gd name="adj" fmla="val 16134"/>
            </a:avLst>
          </a:prstGeom>
          <a:solidFill>
            <a:schemeClr val="bg1"/>
          </a:solidFill>
          <a:ln w="15875">
            <a:solidFill>
              <a:srgbClr val="D5DCE6"/>
            </a:solidFill>
            <a:prstDash val="solid"/>
          </a:ln>
        </p:spPr>
      </p:sp>
      <p:sp>
        <p:nvSpPr>
          <p:cNvPr id="53" name="Shape 49"/>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4" name="Text 50"/>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5" name="Shape 51"/>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56" name="Text 52"/>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57" name="Shape 53"/>
          <p:cNvSpPr/>
          <p:nvPr/>
        </p:nvSpPr>
        <p:spPr>
          <a:xfrm>
            <a:off x="5212080" y="6000369"/>
            <a:ext cx="594360" cy="914"/>
          </a:xfrm>
          <a:prstGeom prst="line">
            <a:avLst/>
          </a:prstGeom>
          <a:noFill/>
          <a:ln w="31750">
            <a:solidFill>
              <a:srgbClr val="D9700F"/>
            </a:solidFill>
            <a:prstDash val="solid"/>
            <a:tailEnd type="triangle"/>
          </a:ln>
        </p:spPr>
      </p:sp>
      <p:sp>
        <p:nvSpPr>
          <p:cNvPr id="58" name="Shape 54"/>
          <p:cNvSpPr/>
          <p:nvPr/>
        </p:nvSpPr>
        <p:spPr>
          <a:xfrm>
            <a:off x="5852160" y="5782818"/>
            <a:ext cx="5788152" cy="453390"/>
          </a:xfrm>
          <a:prstGeom prst="roundRect">
            <a:avLst>
              <a:gd name="adj" fmla="val 1613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2" name="Text 8"/>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3" name="Text 9"/>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4" name="Shape 10"/>
          <p:cNvSpPr/>
          <p:nvPr/>
        </p:nvSpPr>
        <p:spPr>
          <a:xfrm>
            <a:off x="5212080" y="2186559"/>
            <a:ext cx="594360" cy="914"/>
          </a:xfrm>
          <a:prstGeom prst="line">
            <a:avLst/>
          </a:prstGeom>
          <a:noFill/>
          <a:ln w="31750">
            <a:solidFill>
              <a:srgbClr val="D9700F"/>
            </a:solidFill>
            <a:prstDash val="solid"/>
            <a:tailEnd type="triangle"/>
          </a:ln>
        </p:spPr>
      </p:sp>
      <p:sp>
        <p:nvSpPr>
          <p:cNvPr id="15" name="Shape 11"/>
          <p:cNvSpPr/>
          <p:nvPr/>
        </p:nvSpPr>
        <p:spPr>
          <a:xfrm>
            <a:off x="5852160" y="1969008"/>
            <a:ext cx="5788152" cy="453390"/>
          </a:xfrm>
          <a:prstGeom prst="roundRect">
            <a:avLst>
              <a:gd name="adj" fmla="val 16134"/>
            </a:avLst>
          </a:prstGeom>
          <a:solidFill>
            <a:srgbClr val="EDF6F0"/>
          </a:solidFill>
          <a:ln w="15875">
            <a:solidFill>
              <a:srgbClr val="2E7D4F"/>
            </a:solidFill>
            <a:prstDash val="solid"/>
          </a:ln>
        </p:spPr>
      </p:sp>
      <p:sp>
        <p:nvSpPr>
          <p:cNvPr id="16" name="Text 12"/>
          <p:cNvSpPr txBox="1"/>
          <p:nvPr/>
        </p:nvSpPr>
        <p:spPr>
          <a:xfrm>
            <a:off x="5989320" y="196900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zwemmen.</a:t>
            </a:r>
            <a:endParaRPr lang="en-US" sz="1700" dirty="0"/>
          </a:p>
        </p:txBody>
      </p:sp>
      <p:sp>
        <p:nvSpPr>
          <p:cNvPr id="17" name="Shape 13"/>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8" name="Text 14"/>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9" name="Shape 15"/>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20" name="Text 16"/>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21" name="Text 17"/>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2" name="Shape 18"/>
          <p:cNvSpPr/>
          <p:nvPr/>
        </p:nvSpPr>
        <p:spPr>
          <a:xfrm>
            <a:off x="5212080" y="2731389"/>
            <a:ext cx="594360" cy="914"/>
          </a:xfrm>
          <a:prstGeom prst="line">
            <a:avLst/>
          </a:prstGeom>
          <a:noFill/>
          <a:ln w="31750">
            <a:solidFill>
              <a:srgbClr val="D9700F"/>
            </a:solidFill>
            <a:prstDash val="solid"/>
            <a:tailEnd type="triangle"/>
          </a:ln>
        </p:spPr>
      </p:sp>
      <p:sp>
        <p:nvSpPr>
          <p:cNvPr id="23" name="Shape 19"/>
          <p:cNvSpPr/>
          <p:nvPr/>
        </p:nvSpPr>
        <p:spPr>
          <a:xfrm>
            <a:off x="5852160" y="2513838"/>
            <a:ext cx="5788152" cy="453390"/>
          </a:xfrm>
          <a:prstGeom prst="roundRect">
            <a:avLst>
              <a:gd name="adj" fmla="val 16134"/>
            </a:avLst>
          </a:prstGeom>
          <a:solidFill>
            <a:srgbClr val="EDF6F0"/>
          </a:solidFill>
          <a:ln w="15875">
            <a:solidFill>
              <a:srgbClr val="2E7D4F"/>
            </a:solidFill>
            <a:prstDash val="solid"/>
          </a:ln>
        </p:spPr>
      </p:sp>
      <p:sp>
        <p:nvSpPr>
          <p:cNvPr id="24" name="Text 20"/>
          <p:cNvSpPr txBox="1"/>
          <p:nvPr/>
        </p:nvSpPr>
        <p:spPr>
          <a:xfrm>
            <a:off x="5989320" y="251383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Mag ik het raam opendoen?</a:t>
            </a:r>
            <a:endParaRPr lang="en-US" sz="1700" dirty="0"/>
          </a:p>
        </p:txBody>
      </p:sp>
      <p:sp>
        <p:nvSpPr>
          <p:cNvPr id="25" name="Shape 21"/>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6" name="Text 22"/>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7" name="Shape 23"/>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8" name="Text 24"/>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9" name="Text 25"/>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30" name="Shape 26"/>
          <p:cNvSpPr/>
          <p:nvPr/>
        </p:nvSpPr>
        <p:spPr>
          <a:xfrm>
            <a:off x="5212080" y="3276219"/>
            <a:ext cx="594360" cy="914"/>
          </a:xfrm>
          <a:prstGeom prst="line">
            <a:avLst/>
          </a:prstGeom>
          <a:noFill/>
          <a:ln w="31750">
            <a:solidFill>
              <a:srgbClr val="D9700F"/>
            </a:solidFill>
            <a:prstDash val="solid"/>
            <a:tailEnd type="triangle"/>
          </a:ln>
        </p:spPr>
      </p:sp>
      <p:sp>
        <p:nvSpPr>
          <p:cNvPr id="31" name="Shape 27"/>
          <p:cNvSpPr/>
          <p:nvPr/>
        </p:nvSpPr>
        <p:spPr>
          <a:xfrm>
            <a:off x="5852160" y="3058668"/>
            <a:ext cx="5788152" cy="453390"/>
          </a:xfrm>
          <a:prstGeom prst="roundRect">
            <a:avLst>
              <a:gd name="adj" fmla="val 16134"/>
            </a:avLst>
          </a:prstGeom>
          <a:solidFill>
            <a:srgbClr val="EDF6F0"/>
          </a:solidFill>
          <a:ln w="15875">
            <a:solidFill>
              <a:srgbClr val="2E7D4F"/>
            </a:solidFill>
            <a:prstDash val="solid"/>
          </a:ln>
        </p:spPr>
      </p:sp>
      <p:sp>
        <p:nvSpPr>
          <p:cNvPr id="32" name="Text 28"/>
          <p:cNvSpPr txBox="1"/>
          <p:nvPr/>
        </p:nvSpPr>
        <p:spPr>
          <a:xfrm>
            <a:off x="5989320" y="305866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Je mag hier niet roken.</a:t>
            </a:r>
            <a:endParaRPr lang="en-US" sz="1700" dirty="0"/>
          </a:p>
        </p:txBody>
      </p:sp>
      <p:sp>
        <p:nvSpPr>
          <p:cNvPr id="33" name="Shape 29"/>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5" name="Shape 31"/>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6" name="Text 32"/>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7" name="Shape 33"/>
          <p:cNvSpPr/>
          <p:nvPr/>
        </p:nvSpPr>
        <p:spPr>
          <a:xfrm>
            <a:off x="5212080" y="3821049"/>
            <a:ext cx="594360" cy="914"/>
          </a:xfrm>
          <a:prstGeom prst="line">
            <a:avLst/>
          </a:prstGeom>
          <a:noFill/>
          <a:ln w="31750">
            <a:solidFill>
              <a:srgbClr val="D9700F"/>
            </a:solidFill>
            <a:prstDash val="solid"/>
            <a:tailEnd type="triangle"/>
          </a:ln>
        </p:spPr>
      </p:sp>
      <p:sp>
        <p:nvSpPr>
          <p:cNvPr id="38" name="Shape 34"/>
          <p:cNvSpPr/>
          <p:nvPr/>
        </p:nvSpPr>
        <p:spPr>
          <a:xfrm>
            <a:off x="5852160" y="3603498"/>
            <a:ext cx="5788152" cy="453390"/>
          </a:xfrm>
          <a:prstGeom prst="roundRect">
            <a:avLst>
              <a:gd name="adj" fmla="val 16134"/>
            </a:avLst>
          </a:prstGeom>
          <a:solidFill>
            <a:srgbClr val="EDF6F0"/>
          </a:solidFill>
          <a:ln w="15875">
            <a:solidFill>
              <a:srgbClr val="2E7D4F"/>
            </a:solidFill>
            <a:prstDash val="solid"/>
          </a:ln>
        </p:spPr>
      </p:sp>
      <p:sp>
        <p:nvSpPr>
          <p:cNvPr id="39" name="Text 35"/>
          <p:cNvSpPr txBox="1"/>
          <p:nvPr/>
        </p:nvSpPr>
        <p:spPr>
          <a:xfrm>
            <a:off x="5989320" y="360349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moet weggaan.</a:t>
            </a:r>
            <a:endParaRPr lang="en-US" sz="1700" dirty="0"/>
          </a:p>
        </p:txBody>
      </p:sp>
      <p:sp>
        <p:nvSpPr>
          <p:cNvPr id="40" name="Shape 36"/>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41" name="Text 37"/>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2" name="Shape 38"/>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43" name="Text 39"/>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44" name="Shape 40"/>
          <p:cNvSpPr/>
          <p:nvPr/>
        </p:nvSpPr>
        <p:spPr>
          <a:xfrm>
            <a:off x="5212080" y="4365879"/>
            <a:ext cx="594360" cy="914"/>
          </a:xfrm>
          <a:prstGeom prst="line">
            <a:avLst/>
          </a:prstGeom>
          <a:noFill/>
          <a:ln w="31750">
            <a:solidFill>
              <a:srgbClr val="D9700F"/>
            </a:solidFill>
            <a:prstDash val="solid"/>
            <a:tailEnd type="triangle"/>
          </a:ln>
        </p:spPr>
      </p:sp>
      <p:sp>
        <p:nvSpPr>
          <p:cNvPr id="45" name="Shape 41"/>
          <p:cNvSpPr/>
          <p:nvPr/>
        </p:nvSpPr>
        <p:spPr>
          <a:xfrm>
            <a:off x="5852160" y="4148328"/>
            <a:ext cx="5788152" cy="453390"/>
          </a:xfrm>
          <a:prstGeom prst="roundRect">
            <a:avLst>
              <a:gd name="adj" fmla="val 16134"/>
            </a:avLst>
          </a:prstGeom>
          <a:solidFill>
            <a:srgbClr val="EDF6F0"/>
          </a:solidFill>
          <a:ln w="15875">
            <a:solidFill>
              <a:srgbClr val="2E7D4F"/>
            </a:solidFill>
            <a:prstDash val="solid"/>
          </a:ln>
        </p:spPr>
      </p:sp>
      <p:sp>
        <p:nvSpPr>
          <p:cNvPr id="46" name="Text 42"/>
          <p:cNvSpPr txBox="1"/>
          <p:nvPr/>
        </p:nvSpPr>
        <p:spPr>
          <a:xfrm>
            <a:off x="5989320" y="414832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 je een koffie?</a:t>
            </a:r>
            <a:endParaRPr lang="en-US" sz="1700" dirty="0"/>
          </a:p>
        </p:txBody>
      </p:sp>
      <p:sp>
        <p:nvSpPr>
          <p:cNvPr id="47" name="Shape 43"/>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9" name="Shape 45"/>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51" name="Shape 47"/>
          <p:cNvSpPr/>
          <p:nvPr/>
        </p:nvSpPr>
        <p:spPr>
          <a:xfrm>
            <a:off x="5212080" y="4910709"/>
            <a:ext cx="594360" cy="914"/>
          </a:xfrm>
          <a:prstGeom prst="line">
            <a:avLst/>
          </a:prstGeom>
          <a:noFill/>
          <a:ln w="31750">
            <a:solidFill>
              <a:srgbClr val="D9700F"/>
            </a:solidFill>
            <a:prstDash val="solid"/>
            <a:tailEnd type="triangle"/>
          </a:ln>
        </p:spPr>
      </p:sp>
      <p:sp>
        <p:nvSpPr>
          <p:cNvPr id="52" name="Shape 48"/>
          <p:cNvSpPr/>
          <p:nvPr/>
        </p:nvSpPr>
        <p:spPr>
          <a:xfrm>
            <a:off x="5852160" y="4693158"/>
            <a:ext cx="5788152" cy="453390"/>
          </a:xfrm>
          <a:prstGeom prst="roundRect">
            <a:avLst>
              <a:gd name="adj" fmla="val 16134"/>
            </a:avLst>
          </a:prstGeom>
          <a:solidFill>
            <a:srgbClr val="EDF6F0"/>
          </a:solidFill>
          <a:ln w="15875">
            <a:solidFill>
              <a:srgbClr val="2E7D4F"/>
            </a:solidFill>
            <a:prstDash val="solid"/>
          </a:ln>
        </p:spPr>
      </p:sp>
      <p:sp>
        <p:nvSpPr>
          <p:cNvPr id="53" name="Text 49"/>
          <p:cNvSpPr txBox="1"/>
          <p:nvPr/>
        </p:nvSpPr>
        <p:spPr>
          <a:xfrm>
            <a:off x="5989320" y="469315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morgen komen.</a:t>
            </a:r>
            <a:endParaRPr lang="en-US" sz="1700" dirty="0"/>
          </a:p>
        </p:txBody>
      </p:sp>
      <p:sp>
        <p:nvSpPr>
          <p:cNvPr id="54" name="Shape 5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5" name="Text 5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Shape 52"/>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7" name="Text 53"/>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8" name="Shape 54"/>
          <p:cNvSpPr/>
          <p:nvPr/>
        </p:nvSpPr>
        <p:spPr>
          <a:xfrm>
            <a:off x="5212080" y="5455539"/>
            <a:ext cx="594360" cy="914"/>
          </a:xfrm>
          <a:prstGeom prst="line">
            <a:avLst/>
          </a:prstGeom>
          <a:noFill/>
          <a:ln w="31750">
            <a:solidFill>
              <a:srgbClr val="D9700F"/>
            </a:solidFill>
            <a:prstDash val="solid"/>
            <a:tailEnd type="triangle"/>
          </a:ln>
        </p:spPr>
      </p:sp>
      <p:sp>
        <p:nvSpPr>
          <p:cNvPr id="59" name="Shape 55"/>
          <p:cNvSpPr/>
          <p:nvPr/>
        </p:nvSpPr>
        <p:spPr>
          <a:xfrm>
            <a:off x="5852160" y="5237988"/>
            <a:ext cx="5788152" cy="453390"/>
          </a:xfrm>
          <a:prstGeom prst="roundRect">
            <a:avLst>
              <a:gd name="adj" fmla="val 16134"/>
            </a:avLst>
          </a:prstGeom>
          <a:solidFill>
            <a:srgbClr val="EDF6F0"/>
          </a:solidFill>
          <a:ln w="15875">
            <a:solidFill>
              <a:srgbClr val="2E7D4F"/>
            </a:solidFill>
            <a:prstDash val="solid"/>
          </a:ln>
        </p:spPr>
      </p:sp>
      <p:sp>
        <p:nvSpPr>
          <p:cNvPr id="60" name="Text 56"/>
          <p:cNvSpPr txBox="1"/>
          <p:nvPr/>
        </p:nvSpPr>
        <p:spPr>
          <a:xfrm>
            <a:off x="5989320" y="523798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Kan ik met de kaart betalen?</a:t>
            </a:r>
            <a:endParaRPr lang="en-US" sz="1700" dirty="0"/>
          </a:p>
        </p:txBody>
      </p:sp>
      <p:sp>
        <p:nvSpPr>
          <p:cNvPr id="61" name="Shape 57"/>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62" name="Text 58"/>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3" name="Shape 59"/>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64" name="Text 60"/>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65" name="Shape 61"/>
          <p:cNvSpPr/>
          <p:nvPr/>
        </p:nvSpPr>
        <p:spPr>
          <a:xfrm>
            <a:off x="5212080" y="6000369"/>
            <a:ext cx="594360" cy="914"/>
          </a:xfrm>
          <a:prstGeom prst="line">
            <a:avLst/>
          </a:prstGeom>
          <a:noFill/>
          <a:ln w="31750">
            <a:solidFill>
              <a:srgbClr val="D9700F"/>
            </a:solidFill>
            <a:prstDash val="solid"/>
            <a:tailEnd type="triangle"/>
          </a:ln>
        </p:spPr>
      </p:sp>
      <p:sp>
        <p:nvSpPr>
          <p:cNvPr id="66" name="Shape 62"/>
          <p:cNvSpPr/>
          <p:nvPr/>
        </p:nvSpPr>
        <p:spPr>
          <a:xfrm>
            <a:off x="5852160" y="5782818"/>
            <a:ext cx="5788152" cy="453390"/>
          </a:xfrm>
          <a:prstGeom prst="roundRect">
            <a:avLst>
              <a:gd name="adj" fmla="val 16134"/>
            </a:avLst>
          </a:prstGeom>
          <a:solidFill>
            <a:srgbClr val="EDF6F0"/>
          </a:solidFill>
          <a:ln w="15875">
            <a:solidFill>
              <a:srgbClr val="2E7D4F"/>
            </a:solidFill>
            <a:prstDash val="solid"/>
          </a:ln>
        </p:spPr>
      </p:sp>
      <p:sp>
        <p:nvSpPr>
          <p:cNvPr id="67" name="Text 63"/>
          <p:cNvSpPr txBox="1"/>
          <p:nvPr/>
        </p:nvSpPr>
        <p:spPr>
          <a:xfrm>
            <a:off x="5989320" y="578281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weet het niet.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8" name="Shape 4"/>
          <p:cNvSpPr/>
          <p:nvPr/>
        </p:nvSpPr>
        <p:spPr>
          <a:xfrm>
            <a:off x="548640"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0" name="Shape 6"/>
          <p:cNvSpPr/>
          <p:nvPr/>
        </p:nvSpPr>
        <p:spPr>
          <a:xfrm>
            <a:off x="3367278"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367278"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2" name="Shape 8"/>
          <p:cNvSpPr/>
          <p:nvPr/>
        </p:nvSpPr>
        <p:spPr>
          <a:xfrm>
            <a:off x="6185916"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6185916"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4" name="Shape 10"/>
          <p:cNvSpPr/>
          <p:nvPr/>
        </p:nvSpPr>
        <p:spPr>
          <a:xfrm>
            <a:off x="9004554"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9004554"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6" name="Shape 12"/>
          <p:cNvSpPr/>
          <p:nvPr/>
        </p:nvSpPr>
        <p:spPr>
          <a:xfrm>
            <a:off x="548640"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548640"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8" name="Shape 14"/>
          <p:cNvSpPr/>
          <p:nvPr/>
        </p:nvSpPr>
        <p:spPr>
          <a:xfrm>
            <a:off x="3367278"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3367278"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0" name="Shape 16"/>
          <p:cNvSpPr/>
          <p:nvPr/>
        </p:nvSpPr>
        <p:spPr>
          <a:xfrm>
            <a:off x="6185916"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6185916"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2" name="Shape 18"/>
          <p:cNvSpPr/>
          <p:nvPr/>
        </p:nvSpPr>
        <p:spPr>
          <a:xfrm>
            <a:off x="9004554"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9004554"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4" name="Shape 20"/>
          <p:cNvSpPr/>
          <p:nvPr/>
        </p:nvSpPr>
        <p:spPr>
          <a:xfrm>
            <a:off x="548640"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48640"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6" name="Shape 22"/>
          <p:cNvSpPr/>
          <p:nvPr/>
        </p:nvSpPr>
        <p:spPr>
          <a:xfrm>
            <a:off x="3367278"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3367278"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8" name="Shape 24"/>
          <p:cNvSpPr/>
          <p:nvPr/>
        </p:nvSpPr>
        <p:spPr>
          <a:xfrm>
            <a:off x="6185916"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6185916"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30" name="Shape 26"/>
          <p:cNvSpPr/>
          <p:nvPr/>
        </p:nvSpPr>
        <p:spPr>
          <a:xfrm>
            <a:off x="9004554"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004554"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9" name="Shape 5"/>
          <p:cNvSpPr/>
          <p:nvPr/>
        </p:nvSpPr>
        <p:spPr>
          <a:xfrm>
            <a:off x="548640"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658368"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1" name="Text 7"/>
          <p:cNvSpPr txBox="1"/>
          <p:nvPr/>
        </p:nvSpPr>
        <p:spPr>
          <a:xfrm>
            <a:off x="685800"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goed?</a:t>
            </a:r>
            <a:endParaRPr lang="en-US" sz="1600" dirty="0"/>
          </a:p>
        </p:txBody>
      </p:sp>
      <p:sp>
        <p:nvSpPr>
          <p:cNvPr id="12" name="Shape 8"/>
          <p:cNvSpPr/>
          <p:nvPr/>
        </p:nvSpPr>
        <p:spPr>
          <a:xfrm>
            <a:off x="3367278"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ag"/>
          <p:cNvSpPr/>
          <p:nvPr/>
        </p:nvSpPr>
        <p:spPr>
          <a:xfrm>
            <a:off x="3477006"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4" name="Text 10"/>
          <p:cNvSpPr txBox="1"/>
          <p:nvPr/>
        </p:nvSpPr>
        <p:spPr>
          <a:xfrm>
            <a:off x="3504438"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moet je vandaag nog doen?</a:t>
            </a:r>
            <a:endParaRPr lang="en-US" sz="1600" dirty="0"/>
          </a:p>
        </p:txBody>
      </p:sp>
      <p:sp>
        <p:nvSpPr>
          <p:cNvPr id="15" name="Shape 11"/>
          <p:cNvSpPr/>
          <p:nvPr/>
        </p:nvSpPr>
        <p:spPr>
          <a:xfrm>
            <a:off x="6185916"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ag"/>
          <p:cNvSpPr/>
          <p:nvPr/>
        </p:nvSpPr>
        <p:spPr>
          <a:xfrm>
            <a:off x="6295644"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7" name="Text 13"/>
          <p:cNvSpPr txBox="1"/>
          <p:nvPr/>
        </p:nvSpPr>
        <p:spPr>
          <a:xfrm>
            <a:off x="6323076"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mag je niet doen op het werk?</a:t>
            </a:r>
            <a:endParaRPr lang="en-US" sz="1600" dirty="0"/>
          </a:p>
        </p:txBody>
      </p:sp>
      <p:sp>
        <p:nvSpPr>
          <p:cNvPr id="18" name="Shape 14"/>
          <p:cNvSpPr/>
          <p:nvPr/>
        </p:nvSpPr>
        <p:spPr>
          <a:xfrm>
            <a:off x="9004554"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ag"/>
          <p:cNvSpPr/>
          <p:nvPr/>
        </p:nvSpPr>
        <p:spPr>
          <a:xfrm>
            <a:off x="9114282"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20" name="Text 16"/>
          <p:cNvSpPr txBox="1"/>
          <p:nvPr/>
        </p:nvSpPr>
        <p:spPr>
          <a:xfrm>
            <a:off x="9141714"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wil je dit weekend doen?</a:t>
            </a:r>
            <a:endParaRPr lang="en-US" sz="1600" dirty="0"/>
          </a:p>
        </p:txBody>
      </p:sp>
      <p:sp>
        <p:nvSpPr>
          <p:cNvPr id="21" name="Shape 17"/>
          <p:cNvSpPr/>
          <p:nvPr/>
        </p:nvSpPr>
        <p:spPr>
          <a:xfrm>
            <a:off x="548640"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2" name="tag"/>
          <p:cNvSpPr/>
          <p:nvPr/>
        </p:nvSpPr>
        <p:spPr>
          <a:xfrm>
            <a:off x="658368"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3" name="Text 19"/>
          <p:cNvSpPr txBox="1"/>
          <p:nvPr/>
        </p:nvSpPr>
        <p:spPr>
          <a:xfrm>
            <a:off x="685800"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beleefd een koffie.</a:t>
            </a:r>
            <a:endParaRPr lang="en-US" sz="1600" dirty="0"/>
          </a:p>
        </p:txBody>
      </p:sp>
      <p:sp>
        <p:nvSpPr>
          <p:cNvPr id="24" name="Shape 20"/>
          <p:cNvSpPr/>
          <p:nvPr/>
        </p:nvSpPr>
        <p:spPr>
          <a:xfrm>
            <a:off x="3367278"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5" name="tag"/>
          <p:cNvSpPr/>
          <p:nvPr/>
        </p:nvSpPr>
        <p:spPr>
          <a:xfrm>
            <a:off x="3477006"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6" name="Text 22"/>
          <p:cNvSpPr txBox="1"/>
          <p:nvPr/>
        </p:nvSpPr>
        <p:spPr>
          <a:xfrm>
            <a:off x="3504438"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of je vroeger mag vertrekken.</a:t>
            </a:r>
            <a:endParaRPr lang="en-US" sz="1600" dirty="0"/>
          </a:p>
        </p:txBody>
      </p:sp>
      <p:sp>
        <p:nvSpPr>
          <p:cNvPr id="27" name="Shape 23"/>
          <p:cNvSpPr/>
          <p:nvPr/>
        </p:nvSpPr>
        <p:spPr>
          <a:xfrm>
            <a:off x="6185916"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8" name="tag"/>
          <p:cNvSpPr/>
          <p:nvPr/>
        </p:nvSpPr>
        <p:spPr>
          <a:xfrm>
            <a:off x="6295644"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9" name="Text 25"/>
          <p:cNvSpPr txBox="1"/>
          <p:nvPr/>
        </p:nvSpPr>
        <p:spPr>
          <a:xfrm>
            <a:off x="6323076"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Geef een advies aan een nieuwe collega.</a:t>
            </a:r>
            <a:endParaRPr lang="en-US" sz="1600" dirty="0"/>
          </a:p>
        </p:txBody>
      </p:sp>
      <p:sp>
        <p:nvSpPr>
          <p:cNvPr id="30" name="Shape 26"/>
          <p:cNvSpPr/>
          <p:nvPr/>
        </p:nvSpPr>
        <p:spPr>
          <a:xfrm>
            <a:off x="9004554"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31" name="tag"/>
          <p:cNvSpPr/>
          <p:nvPr/>
        </p:nvSpPr>
        <p:spPr>
          <a:xfrm>
            <a:off x="9114282"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32" name="Text 28"/>
          <p:cNvSpPr txBox="1"/>
          <p:nvPr/>
        </p:nvSpPr>
        <p:spPr>
          <a:xfrm>
            <a:off x="9141714"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Stel een lunch voor.</a:t>
            </a:r>
            <a:endParaRPr lang="en-US" sz="1600" dirty="0"/>
          </a:p>
        </p:txBody>
      </p:sp>
      <p:sp>
        <p:nvSpPr>
          <p:cNvPr id="33" name="Shape 29"/>
          <p:cNvSpPr/>
          <p:nvPr/>
        </p:nvSpPr>
        <p:spPr>
          <a:xfrm>
            <a:off x="548640"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4" name="tag"/>
          <p:cNvSpPr/>
          <p:nvPr/>
        </p:nvSpPr>
        <p:spPr>
          <a:xfrm>
            <a:off x="658368"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5" name="Text 31"/>
          <p:cNvSpPr txBox="1"/>
          <p:nvPr/>
        </p:nvSpPr>
        <p:spPr>
          <a:xfrm>
            <a:off x="685800"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Spreek drie onmogelijke wensen uit.</a:t>
            </a:r>
            <a:endParaRPr lang="en-US" sz="1600" dirty="0"/>
          </a:p>
        </p:txBody>
      </p:sp>
      <p:sp>
        <p:nvSpPr>
          <p:cNvPr id="36" name="Shape 32"/>
          <p:cNvSpPr/>
          <p:nvPr/>
        </p:nvSpPr>
        <p:spPr>
          <a:xfrm>
            <a:off x="3367278"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7" name="tag"/>
          <p:cNvSpPr/>
          <p:nvPr/>
        </p:nvSpPr>
        <p:spPr>
          <a:xfrm>
            <a:off x="3477006"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8" name="Text 34"/>
          <p:cNvSpPr txBox="1"/>
          <p:nvPr/>
        </p:nvSpPr>
        <p:spPr>
          <a:xfrm>
            <a:off x="3504438"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regels zijn er in jouw bedrijf?</a:t>
            </a:r>
            <a:endParaRPr lang="en-US" sz="1600" dirty="0"/>
          </a:p>
        </p:txBody>
      </p:sp>
      <p:sp>
        <p:nvSpPr>
          <p:cNvPr id="39" name="Shape 35"/>
          <p:cNvSpPr/>
          <p:nvPr/>
        </p:nvSpPr>
        <p:spPr>
          <a:xfrm>
            <a:off x="6185916"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0" name="tag"/>
          <p:cNvSpPr/>
          <p:nvPr/>
        </p:nvSpPr>
        <p:spPr>
          <a:xfrm>
            <a:off x="6295644"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1" name="Text 37"/>
          <p:cNvSpPr txBox="1"/>
          <p:nvPr/>
        </p:nvSpPr>
        <p:spPr>
          <a:xfrm>
            <a:off x="6323076"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taal wil je nog leren, en waarom?</a:t>
            </a:r>
            <a:endParaRPr lang="en-US" sz="1600" dirty="0"/>
          </a:p>
        </p:txBody>
      </p:sp>
      <p:sp>
        <p:nvSpPr>
          <p:cNvPr id="42" name="Shape 38"/>
          <p:cNvSpPr/>
          <p:nvPr/>
        </p:nvSpPr>
        <p:spPr>
          <a:xfrm>
            <a:off x="9004554"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3" name="tag"/>
          <p:cNvSpPr/>
          <p:nvPr/>
        </p:nvSpPr>
        <p:spPr>
          <a:xfrm>
            <a:off x="9114282"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4" name="Text 40"/>
          <p:cNvSpPr txBox="1"/>
          <p:nvPr/>
        </p:nvSpPr>
        <p:spPr>
          <a:xfrm>
            <a:off x="9141714"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doen voor een gezond leven?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Wie weet het meest?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5800" y="1737360"/>
            <a:ext cx="411480" cy="411480"/>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3444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mag je niet doen in de klas?</a:t>
            </a:r>
            <a:endParaRPr lang="en-US" sz="1700" dirty="0"/>
          </a:p>
        </p:txBody>
      </p:sp>
      <p:sp>
        <p:nvSpPr>
          <p:cNvPr id="10" name="Shape 7"/>
          <p:cNvSpPr/>
          <p:nvPr/>
        </p:nvSpPr>
        <p:spPr>
          <a:xfrm>
            <a:off x="475488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892040" y="1737360"/>
            <a:ext cx="411480" cy="411480"/>
          </a:xfrm>
          <a:prstGeom prst="ellipse">
            <a:avLst/>
          </a:prstGeom>
          <a:solidFill>
            <a:schemeClr val="accent1"/>
          </a:solidFill>
          <a:ln w="12700">
            <a:solidFill>
              <a:srgbClr val="FFFFFF">
                <a:alpha val="0"/>
              </a:srgbClr>
            </a:solidFill>
            <a:prstDash val="solid"/>
          </a:ln>
        </p:spPr>
      </p:sp>
      <p:sp>
        <p:nvSpPr>
          <p:cNvPr id="12" name="Text 9"/>
          <p:cNvSpPr txBox="1"/>
          <p:nvPr/>
        </p:nvSpPr>
        <p:spPr>
          <a:xfrm>
            <a:off x="489204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544068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moet je altijd meenemen naar het werk?</a:t>
            </a:r>
            <a:endParaRPr lang="en-US" sz="1700" dirty="0"/>
          </a:p>
        </p:txBody>
      </p:sp>
      <p:sp>
        <p:nvSpPr>
          <p:cNvPr id="14" name="Shape 11"/>
          <p:cNvSpPr/>
          <p:nvPr/>
        </p:nvSpPr>
        <p:spPr>
          <a:xfrm>
            <a:off x="54864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85800" y="3154680"/>
            <a:ext cx="411480" cy="411480"/>
          </a:xfrm>
          <a:prstGeom prst="ellipse">
            <a:avLst/>
          </a:prstGeom>
          <a:solidFill>
            <a:schemeClr val="accent1"/>
          </a:solidFill>
          <a:ln w="12700">
            <a:solidFill>
              <a:srgbClr val="FFFFFF">
                <a:alpha val="0"/>
              </a:srgbClr>
            </a:solidFill>
            <a:prstDash val="solid"/>
          </a:ln>
        </p:spPr>
      </p:sp>
      <p:sp>
        <p:nvSpPr>
          <p:cNvPr id="16" name="Text 13"/>
          <p:cNvSpPr txBox="1"/>
          <p:nvPr/>
        </p:nvSpPr>
        <p:spPr>
          <a:xfrm>
            <a:off x="68580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123444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kun je in het weekend in Brussel doen?</a:t>
            </a:r>
            <a:endParaRPr lang="en-US" sz="1700" dirty="0"/>
          </a:p>
        </p:txBody>
      </p:sp>
      <p:sp>
        <p:nvSpPr>
          <p:cNvPr id="18" name="Shape 15"/>
          <p:cNvSpPr/>
          <p:nvPr/>
        </p:nvSpPr>
        <p:spPr>
          <a:xfrm>
            <a:off x="475488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4892040" y="3154680"/>
            <a:ext cx="411480" cy="411480"/>
          </a:xfrm>
          <a:prstGeom prst="ellipse">
            <a:avLst/>
          </a:prstGeom>
          <a:solidFill>
            <a:schemeClr val="accent1"/>
          </a:solidFill>
          <a:ln w="12700">
            <a:solidFill>
              <a:srgbClr val="FFFFFF">
                <a:alpha val="0"/>
              </a:srgbClr>
            </a:solidFill>
            <a:prstDash val="solid"/>
          </a:ln>
        </p:spPr>
      </p:sp>
      <p:sp>
        <p:nvSpPr>
          <p:cNvPr id="20" name="Text 17"/>
          <p:cNvSpPr txBox="1"/>
          <p:nvPr/>
        </p:nvSpPr>
        <p:spPr>
          <a:xfrm>
            <a:off x="489204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544068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Hoe kun je thuis energie besparen?</a:t>
            </a:r>
            <a:endParaRPr lang="en-US" sz="1700" dirty="0"/>
          </a:p>
        </p:txBody>
      </p:sp>
      <p:sp>
        <p:nvSpPr>
          <p:cNvPr id="22" name="Shape 19"/>
          <p:cNvSpPr/>
          <p:nvPr/>
        </p:nvSpPr>
        <p:spPr>
          <a:xfrm>
            <a:off x="54864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Shape 20"/>
          <p:cNvSpPr/>
          <p:nvPr/>
        </p:nvSpPr>
        <p:spPr>
          <a:xfrm>
            <a:off x="685800" y="4572000"/>
            <a:ext cx="411480" cy="4114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68580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2"/>
          <p:cNvSpPr txBox="1"/>
          <p:nvPr/>
        </p:nvSpPr>
        <p:spPr>
          <a:xfrm>
            <a:off x="123444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Welke documenten moet je in de auto hebben?</a:t>
            </a:r>
            <a:endParaRPr lang="en-US" sz="1700" dirty="0"/>
          </a:p>
        </p:txBody>
      </p:sp>
      <p:sp>
        <p:nvSpPr>
          <p:cNvPr id="26" name="Shape 23"/>
          <p:cNvSpPr/>
          <p:nvPr/>
        </p:nvSpPr>
        <p:spPr>
          <a:xfrm>
            <a:off x="475488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4892040" y="4572000"/>
            <a:ext cx="411480" cy="411480"/>
          </a:xfrm>
          <a:prstGeom prst="ellipse">
            <a:avLst/>
          </a:prstGeom>
          <a:solidFill>
            <a:schemeClr val="accent1"/>
          </a:solidFill>
          <a:ln w="12700">
            <a:solidFill>
              <a:srgbClr val="FFFFFF">
                <a:alpha val="0"/>
              </a:srgbClr>
            </a:solidFill>
            <a:prstDash val="solid"/>
          </a:ln>
        </p:spPr>
      </p:sp>
      <p:sp>
        <p:nvSpPr>
          <p:cNvPr id="28" name="Text 25"/>
          <p:cNvSpPr txBox="1"/>
          <p:nvPr/>
        </p:nvSpPr>
        <p:spPr>
          <a:xfrm>
            <a:off x="489204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9" name="Text 26"/>
          <p:cNvSpPr txBox="1"/>
          <p:nvPr/>
        </p:nvSpPr>
        <p:spPr>
          <a:xfrm>
            <a:off x="544068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wil je dit jaar nog leren?</a:t>
            </a:r>
            <a:endParaRPr lang="en-US" sz="1700" dirty="0"/>
          </a:p>
        </p:txBody>
      </p:sp>
      <p:pic>
        <p:nvPicPr>
          <p:cNvPr id="30" name="Image 0" descr="stopwatch">    </p:cNvPr>
          <p:cNvPicPr>
            <a:picLocks noChangeAspect="1"/>
          </p:cNvPicPr>
          <p:nvPr/>
        </p:nvPicPr>
        <p:blipFill>
          <a:blip r:embed="rId1"/>
          <a:stretch>
            <a:fillRect/>
          </a:stretch>
        </p:blipFill>
        <p:spPr>
          <a:xfrm>
            <a:off x="9144000" y="1645920"/>
            <a:ext cx="1280160" cy="1280160"/>
          </a:xfrm>
          <a:prstGeom prst="rect">
            <a:avLst/>
          </a:prstGeom>
        </p:spPr>
      </p:pic>
      <p:sp>
        <p:nvSpPr>
          <p:cNvPr id="31" name="Text 27"/>
          <p:cNvSpPr txBox="1"/>
          <p:nvPr/>
        </p:nvSpPr>
        <p:spPr>
          <a:xfrm>
            <a:off x="10607040" y="1920240"/>
            <a:ext cx="1005840" cy="731520"/>
          </a:xfrm>
          <a:prstGeom prst="rect">
            <a:avLst/>
          </a:prstGeom>
          <a:noFill/>
          <a:ln/>
        </p:spPr>
        <p:txBody>
          <a:bodyPr wrap="square" lIns="0" tIns="0" rIns="0" bIns="0" rtlCol="0" anchor="ctr"/>
          <a:lstStyle/>
          <a:p>
            <a:pPr algn="l" indent="0" marL="0">
              <a:buNone/>
            </a:pPr>
            <a:r>
              <a:rPr lang="en-US" sz="2600" b="1" dirty="0">
                <a:solidFill>
                  <a:schemeClr val="accent1"/>
                </a:solidFill>
              </a:rPr>
              <a:t>90 s</a:t>
            </a:r>
            <a:endParaRPr lang="en-US" sz="2600" dirty="0"/>
          </a:p>
        </p:txBody>
      </p:sp>
      <p:sp>
        <p:nvSpPr>
          <p:cNvPr id="32" name="Text 28"/>
          <p:cNvSpPr txBox="1"/>
          <p:nvPr/>
        </p:nvSpPr>
        <p:spPr>
          <a:xfrm>
            <a:off x="9006840" y="3154680"/>
            <a:ext cx="2633472" cy="31089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Par équipes</a:t>
            </a:r>
            <a:r>
              <a:rPr lang="en-US" sz="1600" dirty="0">
                <a:solidFill>
                  <a:schemeClr val="tx1"/>
                </a:solidFill>
              </a:rPr>
              <a:t> : un maximum de réponses en 90 secondes.</a:t>
            </a:r>
            <a:endParaRPr lang="en-US" sz="1600" dirty="0"/>
          </a:p>
          <a:p>
            <a:pPr algn="l" indent="0" marL="0">
              <a:spcAft>
                <a:spcPts val="1000"/>
              </a:spcAft>
              <a:buNone/>
            </a:pPr>
            <a:r>
              <a:rPr lang="en-US" sz="1600" b="1" dirty="0">
                <a:solidFill>
                  <a:schemeClr val="tx1"/>
                </a:solidFill>
              </a:rPr>
              <a:t>1 point</a:t>
            </a:r>
            <a:r>
              <a:rPr lang="en-US" sz="1600" dirty="0">
                <a:solidFill>
                  <a:schemeClr val="tx1"/>
                </a:solidFill>
              </a:rPr>
              <a:t> par phrase correcte.</a:t>
            </a:r>
            <a:endParaRPr lang="en-US" sz="1600" dirty="0"/>
          </a:p>
          <a:p>
            <a:pPr algn="l" indent="0" marL="0">
              <a:spcAft>
                <a:spcPts val="1000"/>
              </a:spcAft>
              <a:buNone/>
            </a:pPr>
            <a:r>
              <a:rPr lang="en-US" sz="1600" dirty="0">
                <a:solidFill>
                  <a:schemeClr val="tx1"/>
                </a:solidFill>
              </a:rPr>
              <a:t>Ex. : </a:t>
            </a:r>
            <a:r>
              <a:rPr lang="en-US" sz="1600" i="1" dirty="0">
                <a:solidFill>
                  <a:schemeClr val="tx1"/>
                </a:solidFill>
              </a:rPr>
              <a:t>Je moet je badge meenemen.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jour chez Peeters &amp; Co</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Nouvel·le employé·e</a:t>
            </a:r>
            <a:r>
              <a:rPr lang="en-US" sz="1700" dirty="0">
                <a:solidFill>
                  <a:schemeClr val="tx1"/>
                </a:solidFill>
              </a:rPr>
              <a:t> : posez 5 questions sur les règles (télétravail, badge, parking, horaires, repas).</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Sofie (RH)</a:t>
            </a:r>
            <a:r>
              <a:rPr lang="en-US" sz="1700" dirty="0">
                <a:solidFill>
                  <a:schemeClr val="tx1"/>
                </a:solidFill>
              </a:rPr>
              <a:t> : répondez à l’aide du document.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Mag ik…? · Moet ik…? · Kan ik…? · Ja, dat mag. · Nee, dat mag niet. · Ja, dat moet.</a:t>
            </a:r>
            <a:endParaRPr lang="en-US" sz="1600" dirty="0"/>
          </a:p>
        </p:txBody>
      </p:sp>
      <p:sp>
        <p:nvSpPr>
          <p:cNvPr id="17" name="Shape 14"/>
          <p:cNvSpPr/>
          <p:nvPr/>
        </p:nvSpPr>
        <p:spPr>
          <a:xfrm>
            <a:off x="8074152" y="1481328"/>
            <a:ext cx="3566160" cy="4809744"/>
          </a:xfrm>
          <a:prstGeom prst="roundRect">
            <a:avLst>
              <a:gd name="adj" fmla="val 1026"/>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19" name="Text 16"/>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400" b="1" dirty="0">
                <a:solidFill>
                  <a:schemeClr val="bg1"/>
                </a:solidFill>
              </a:rPr>
              <a:t>Huisregels Peeters &amp; Co</a:t>
            </a:r>
            <a:endParaRPr lang="en-US" sz="1400" dirty="0"/>
          </a:p>
        </p:txBody>
      </p:sp>
      <p:pic>
        <p:nvPicPr>
          <p:cNvPr id="20" name="Image 0" descr="identification card">    </p:cNvPr>
          <p:cNvPicPr>
            <a:picLocks noChangeAspect="1"/>
          </p:cNvPicPr>
          <p:nvPr/>
        </p:nvPicPr>
        <p:blipFill>
          <a:blip r:embed="rId1"/>
          <a:stretch>
            <a:fillRect/>
          </a:stretch>
        </p:blipFill>
        <p:spPr>
          <a:xfrm>
            <a:off x="8211312" y="2258568"/>
            <a:ext cx="457200" cy="457200"/>
          </a:xfrm>
          <a:prstGeom prst="rect">
            <a:avLst/>
          </a:prstGeom>
        </p:spPr>
      </p:pic>
      <p:sp>
        <p:nvSpPr>
          <p:cNvPr id="21" name="Text 17"/>
          <p:cNvSpPr txBox="1"/>
          <p:nvPr/>
        </p:nvSpPr>
        <p:spPr>
          <a:xfrm>
            <a:off x="8805672" y="2167128"/>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je badge altijd dragen.</a:t>
            </a:r>
            <a:endParaRPr lang="en-US" sz="1400" dirty="0"/>
          </a:p>
        </p:txBody>
      </p:sp>
      <p:pic>
        <p:nvPicPr>
          <p:cNvPr id="22" name="Image 1" descr="house">    </p:cNvPr>
          <p:cNvPicPr>
            <a:picLocks noChangeAspect="1"/>
          </p:cNvPicPr>
          <p:nvPr/>
        </p:nvPicPr>
        <p:blipFill>
          <a:blip r:embed="rId2"/>
          <a:stretch>
            <a:fillRect/>
          </a:stretch>
        </p:blipFill>
        <p:spPr>
          <a:xfrm>
            <a:off x="8211312" y="3065069"/>
            <a:ext cx="457200" cy="457200"/>
          </a:xfrm>
          <a:prstGeom prst="rect">
            <a:avLst/>
          </a:prstGeom>
        </p:spPr>
      </p:pic>
      <p:sp>
        <p:nvSpPr>
          <p:cNvPr id="23" name="Text 18"/>
          <p:cNvSpPr txBox="1"/>
          <p:nvPr/>
        </p:nvSpPr>
        <p:spPr>
          <a:xfrm>
            <a:off x="8805672" y="2973629"/>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twee dagen per week thuiswerken.</a:t>
            </a:r>
            <a:endParaRPr lang="en-US" sz="1400" dirty="0"/>
          </a:p>
        </p:txBody>
      </p:sp>
      <p:pic>
        <p:nvPicPr>
          <p:cNvPr id="24" name="Image 2" descr="automobile">    </p:cNvPr>
          <p:cNvPicPr>
            <a:picLocks noChangeAspect="1"/>
          </p:cNvPicPr>
          <p:nvPr/>
        </p:nvPicPr>
        <p:blipFill>
          <a:blip r:embed="rId3"/>
          <a:stretch>
            <a:fillRect/>
          </a:stretch>
        </p:blipFill>
        <p:spPr>
          <a:xfrm>
            <a:off x="8211312" y="3871570"/>
            <a:ext cx="457200" cy="457200"/>
          </a:xfrm>
          <a:prstGeom prst="rect">
            <a:avLst/>
          </a:prstGeom>
        </p:spPr>
      </p:pic>
      <p:sp>
        <p:nvSpPr>
          <p:cNvPr id="25" name="Text 19"/>
          <p:cNvSpPr txBox="1"/>
          <p:nvPr/>
        </p:nvSpPr>
        <p:spPr>
          <a:xfrm>
            <a:off x="8805672" y="37801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kunt in de garage parkeren.</a:t>
            </a:r>
            <a:endParaRPr lang="en-US" sz="1400" dirty="0"/>
          </a:p>
        </p:txBody>
      </p:sp>
      <p:pic>
        <p:nvPicPr>
          <p:cNvPr id="26" name="Image 3" descr="alarm clock">    </p:cNvPr>
          <p:cNvPicPr>
            <a:picLocks noChangeAspect="1"/>
          </p:cNvPicPr>
          <p:nvPr/>
        </p:nvPicPr>
        <p:blipFill>
          <a:blip r:embed="rId4"/>
          <a:stretch>
            <a:fillRect/>
          </a:stretch>
        </p:blipFill>
        <p:spPr>
          <a:xfrm>
            <a:off x="8211312" y="4678070"/>
            <a:ext cx="457200" cy="457200"/>
          </a:xfrm>
          <a:prstGeom prst="rect">
            <a:avLst/>
          </a:prstGeom>
        </p:spPr>
      </p:pic>
      <p:sp>
        <p:nvSpPr>
          <p:cNvPr id="27" name="Text 20"/>
          <p:cNvSpPr txBox="1"/>
          <p:nvPr/>
        </p:nvSpPr>
        <p:spPr>
          <a:xfrm>
            <a:off x="8805672" y="45866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om 9 uur beginnen.</a:t>
            </a:r>
            <a:endParaRPr lang="en-US" sz="1400" dirty="0"/>
          </a:p>
        </p:txBody>
      </p:sp>
      <p:pic>
        <p:nvPicPr>
          <p:cNvPr id="28" name="Image 4" descr="fork and knife">    </p:cNvPr>
          <p:cNvPicPr>
            <a:picLocks noChangeAspect="1"/>
          </p:cNvPicPr>
          <p:nvPr/>
        </p:nvPicPr>
        <p:blipFill>
          <a:blip r:embed="rId5"/>
          <a:stretch>
            <a:fillRect/>
          </a:stretch>
        </p:blipFill>
        <p:spPr>
          <a:xfrm>
            <a:off x="8211312" y="5484571"/>
            <a:ext cx="457200" cy="457200"/>
          </a:xfrm>
          <a:prstGeom prst="rect">
            <a:avLst/>
          </a:prstGeom>
        </p:spPr>
      </p:pic>
      <p:sp>
        <p:nvSpPr>
          <p:cNvPr id="29" name="Text 21"/>
          <p:cNvSpPr txBox="1"/>
          <p:nvPr/>
        </p:nvSpPr>
        <p:spPr>
          <a:xfrm>
            <a:off x="8805672" y="5393131"/>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niet aan je bureau 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Puis-je ouvrir la porte ? » en néerlandais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Je sais cuisiner. » en néerlandais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Remettez en ordre : </a:t>
            </a:r>
            <a:r>
              <a:rPr lang="en-US" sz="2000" i="1" dirty="0">
                <a:solidFill>
                  <a:schemeClr val="tx1"/>
                </a:solidFill>
              </a:rPr>
              <a:t>niet · ik · morgen · komen · kan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Construire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an">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Niet of geen?</a:t>
            </a:r>
            <a:r>
              <a:rPr lang="en-US" sz="1800" dirty="0">
                <a:solidFill>
                  <a:schemeClr val="bg1"/>
                </a:solidFill>
              </a:rPr>
              <a:t> — la négation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12 — Modale werkwoorden — Pouvoir, vouloir, devoir</dc:title>
  <dc:subject>Néerlandais 1 — Langue en situation, en milieu professionnel</dc:subject>
  <dc:creator>A. Jouniaux</dc:creator>
  <cp:lastModifiedBy>A. Jouniaux</cp:lastModifiedBy>
  <cp:revision>1</cp:revision>
  <dcterms:created xsi:type="dcterms:W3CDTF">2026-10-04T11:27:21Z</dcterms:created>
  <dcterms:modified xsi:type="dcterms:W3CDTF">2026-10-04T11:27:21Z</dcterms:modified>
</cp:coreProperties>
</file>