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7b04fc9e-dd59-0969-3ff4-d183d2da0079}">
          <p14:sldIdLst>
            <p14:sldId id="256"/>
          </p14:sldIdLst>
        </p14:section>
        <p14:section name="Découvrir" id="{427dbcc8-eb7b-761a-6a40-8ed6236b1848}">
          <p14:sldIdLst>
            <p14:sldId id="257"/>
            <p14:sldId id="258"/>
            <p14:sldId id="259"/>
          </p14:sldIdLst>
        </p14:section>
        <p14:section name="Comprendre" id="{15a4aecc-ab5e-626d-8b5f-4918908e79c7}">
          <p14:sldIdLst>
            <p14:sldId id="260"/>
            <p14:sldId id="261"/>
            <p14:sldId id="262"/>
            <p14:sldId id="263"/>
            <p14:sldId id="264"/>
            <p14:sldId id="265"/>
            <p14:sldId id="266"/>
            <p14:sldId id="267"/>
            <p14:sldId id="268"/>
            <p14:sldId id="269"/>
          </p14:sldIdLst>
        </p14:section>
        <p14:section name="JIJ NU ! — Oefeningen" id="{ff988d08-aa11-d1b1-348a-fedb3971a810}">
          <p14:sldIdLst>
            <p14:sldId id="270"/>
            <p14:sldId id="271"/>
            <p14:sldId id="272"/>
            <p14:sldId id="273"/>
            <p14:sldId id="274"/>
            <p14:sldId id="275"/>
            <p14:sldId id="276"/>
            <p14:sldId id="277"/>
            <p14:sldId id="278"/>
            <p14:sldId id="279"/>
            <p14:sldId id="280"/>
          </p14:sldIdLst>
        </p14:section>
        <p14:section name="Clôture" id="{f2c1207e-129b-9d3f-914e-5b8de2eaf29c}">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avec une image forte : des phrases qu'on accroche comme des wagons.
Question d'entrée : « Où est le verbe ben ? Et en français, où est le verbe suis ? » Laissez les apprenants remarquer la différence ; on y reviendra à la diapo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Jusqu'ici, les phrases étaient courtes. Aujourd'hui, on apprend à faire des phrases plus longues, comme en français, mais avec une règle nouvelle pour le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Réactiver la règle du verbe en 2e position et l'inversion (M3) avant d'introduire la subordonnée.
Faites retrouver la règle par la classe : « Qu'est-ce qui ne bouge jamais ? » (le verbe en ②). Annoncez : « Aujourd'hui, nous allons découvrir la seule situation, dans une phrase affirmative, où le verbe quitte la case ② : la subordonnée.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la distinction centrale coordination / subordination avec une image.
Terminologie (glossaire) : la hoofdzin = proposition principale (elle peut vivre seule) ; la bijzin = subordonnée (elle ne peut pas vivre seule). Évitez « proposition simple / complexe » (terme de l'archive) : il est trompeur.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les conjonctions de coordination et leur sens.
Moyen mnémotechnique : EMWOD (en, maar, want, of, dus). Pour dus, les deux ordres existent. L'inversion (dus neem ik) est la plus courante à l'écrit ; acceptez les deux. Of signifie aussi « si » (diapo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Montrer que le mot-pont se place hors de la grille (case 0).
Image : le mot-pont reste « sur le pont », il n'entre dans aucune des deux phrases. Donc chaque phrase garde sa structure du M3. Seule exception : dus peut entrer en case ① (et provoquer l'inversion).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l'erreur n°1 : « parce que » se dit de deux façons, avec deux ordres différents.
want et omdat ont le même sens. La différence est uniquement grammaticale. Astuce : want = « car » (court, 4 lettres, rien ne bouge). omdat répond aussi seul à Waarom? (Omdat ik ziek ben.), want 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Formuler la règle du rejet du verbe avec le schéma P1 / P2 de l'archive, standardisé.
C'est l'exemple de l'archive (Ik denk dat ik ziek ben omdat ik buikpijn heb), découpé en deux étapes. Faites lire la phrase en tapant sur la table au moment du verbe : le rythme aide à mémoriser. Le sujet suit en général directement le mot-crochet (dat ik…, omdat de trein…).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Employer omdat dans des situations professionnelles.
vertraging hebben = avoir du retard (train, bus). Demandez à chacun : Waarom leer je Nederlands? Les réponses sont notées au tableau et corrigées ensemble (le verbe à la fin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Employer dat après les verbes d'opinion et de savoir.
Le français garde « que » ; le néerlandais garde dat. Mais attention : dat ne s'omet jamais (en anglais, I think he's right ; en néerlandais, toujours Ik denk dat hij gelijk heeft). het druk hebben = être très occupé.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Employer als (« si », condition) et découvrir le « choc des verbes » quand la subordonnée vient en tête.
C'est la suite logique de l'inversion du M3 : la subordonnée entière compte comme un seul bloc en case ①. Phrase de l'archive, simplifiée : Als er vragen zijn, mag u me altijd contacteren. (formel, M8). Autre exemple : Als het regent, neem ik de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les deux « si » français (contraste FR/NL de l'archive).
Exemples de l'archive (diapos 13 et 15). of « si » est un mot-crochet (verbe à la fin) ; of « ou » est un mot-pont (rien ne bouge). zich afvragen (se demander) est à reconnaître, pas à conjuguer.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un verbe de modalité et un infinitif à la fin de la subordonnée.
L'ordre werken moet existe aussi (surtout aux Pays-Bas). En classe, on enseigne un seul ordre : verbe conjugué + infinitif, qui est aussi le plus fréquent en Belgique. Les verbes séparables se recollent : omdat ik je morgen opbel.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visuelle à photographier.
Ce schéma est la référence pour tous les exercices. Il reste affiché pendant les exercices 1 à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après la diapo 9 ; les suivants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Prévoir l'effet de chaque mot de liaison (reprise simplifiée de la diapo 17 de l'archive).
Faites justifier : un adverbe en case ① provoque l'inversion (M3) ; un mot-crochet provoque le rejet ; un mot-pont ne change rien. dikwijls (souvent) est très belge ; vaak est le mot commun.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Prévoir l'effet de chaque mot de liaison (reprise simplifiée de la diapo 17 de l'archive).
Faites justifier : un adverbe en case ① provoque l'inversion (M3) ; un mot-crochet provoque le rejet ; un mot-pont ne change rien. dikwijls (souvent) est très belge ; vaak est le mot commun.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Transformer want en omdat (déplacement du verbe).
N° 6 réinvestit la diapo 13. Avec omdat, la virgule est facultative ; avec want, on la met. Variante orale rapide : l'enseignant dit la phrase en want, la classe répond en chœur en omdat.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Transformer want en omdat (déplacement du verbe).
N° 6 réinvestit la diapo 13. Avec omdat, la virgule est facultative ; avec want, on la met. Variante orale rapide : l'enseignant dit la phrase en want, la classe répond en chœur en omdat.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le mot de liaison selon le sens et la structure.
La structure est un indice : n° 5, ik heb (verbe en ②) → mot-pont (want, pas omdat). N° 8, heeft à la fin → mot-crochet. N° 6 : of = « si » (question indirecte). Acceptez aussi maar au n° 1 et blij dat ze een nieuwe job heeft au n° 8 : ces réponses sont correctes.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le mot de liaison selon le sens et la structure.
La structure est un indice : n° 5, ik heb (verbe en ②) → mot-pont (want, pas omdat). N° 8, heeft à la fin → mot-crochet. N° 6 : of = « si » (question indirecte). Acceptez aussi maar au n° 1 et blij dat ze een nieuwe job heeft au n° 8 : ces réponses sont correctes.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Juger la place du verbe (reprise de la diapo 15 de l'archive, adaptée).
Les fautes reprennent les 3 pièges du module : verbe pas rejeté (1), pas d'inversion après la subordonnée (3), als au lieu de of (6, phrase de l'archive). Faites voter à main levée avant la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Juger la place du verbe (reprise de la diapo 15 de l'archive, adaptée).
Les fautes reprennent les 3 pièges du module : verbe pas rejeté (1), pas d'inversion après la subordonnée (3), als au lieu de of (6, phrase de l'archive). Faites voter à main levée avant la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oralement des raisons en want / omdat (reprise des questions « Waarom is … belangrijk? » de l'archive).
Exemples de réponses : Nederlands is belangrijk, want je kunt met je collega's praten. · Sport is belangrijk omdat het gezond is. · Koffie is belangrijk omdat ik 's morgens moe ben! Les thèmes de l'archive trop abstraits pour l'A1 (klimaatverandering, tradities, medisch onderzoek) sont remplacés.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Se justifier dans une situation professionnelle (réinvestissement du M8 : registre formel).
in de file staan = être dans les embouteillages (BE et NL). Sorry dat ik te laat ben est désormais analysable : dat + verbe à la fin. Variante comique : l'excuse la plus incroyable de la classe (… omdat er een koe op de weg staat). Corrigez surtout la place du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Ik ben moe, maar ik werk nog.
2. Ik blijf thuis omdat ik ziek ben.
3. Als het regent, neem ik de bus.
Réservé à Néerlandais 2 (contenu de l'archive non repris ici) :
• les relatives (die / dat, waarover) ;
• om … te + infinitif ;
• hoewel, tenzij, zodra, terwijl, voordat, nadat, sinds, doordat, aangezien, mits, ook al ;
• les « défis-photos » à 5 phrases (passé, futur, exclamative).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9 · Zinnen verbinden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9 · Zinnen verbinden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image" Target="../media/image-22-14.png"/><Relationship Id="rId15" Type="http://schemas.openxmlformats.org/officeDocument/2006/relationships/image" Target="../media/image-22-15.png"/><Relationship Id="rId16" Type="http://schemas.openxmlformats.org/officeDocument/2006/relationships/image" Target="../media/image-22-16.png"/><Relationship Id="rId17" Type="http://schemas.openxmlformats.org/officeDocument/2006/relationships/image" Target="../media/image-22-17.png"/><Relationship Id="rId18" Type="http://schemas.openxmlformats.org/officeDocument/2006/relationships/slideLayout" Target="../slideLayouts/slideLayout2.xml"/><Relationship Id="rId1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slideLayout" Target="../slideLayouts/slideLayout2.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2.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2.xml"/><Relationship Id="rId1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00223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9 / 15</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Zinnen verbinden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Relier deux phrases</a:t>
            </a:r>
            <a:endParaRPr lang="en-US" sz="2000" dirty="0"/>
          </a:p>
          <a:p>
            <a:pPr algn="l" indent="0" marL="0">
              <a:buNone/>
            </a:pPr>
            <a:r>
              <a:rPr lang="en-US" sz="2000" b="1" dirty="0">
                <a:solidFill>
                  <a:srgbClr val="FFFFFF"/>
                </a:solidFill>
              </a:rPr>
              <a:t>Ik blijf thuis omdat ik ziek ben.</a:t>
            </a:r>
            <a:endParaRPr lang="en-US" sz="2000" dirty="0"/>
          </a:p>
        </p:txBody>
      </p:sp>
      <p:pic>
        <p:nvPicPr>
          <p:cNvPr id="5" name="Image 0" descr="locomotive">    </p:cNvPr>
          <p:cNvPicPr>
            <a:picLocks noChangeAspect="1"/>
          </p:cNvPicPr>
          <p:nvPr/>
        </p:nvPicPr>
        <p:blipFill>
          <a:blip r:embed="rId1"/>
          <a:stretch>
            <a:fillRect/>
          </a:stretch>
        </p:blipFill>
        <p:spPr>
          <a:xfrm>
            <a:off x="9966960" y="1143000"/>
            <a:ext cx="1645920" cy="1645920"/>
          </a:xfrm>
          <a:prstGeom prst="rect">
            <a:avLst/>
          </a:prstGeom>
        </p:spPr>
      </p:pic>
      <p:sp>
        <p:nvSpPr>
          <p:cNvPr id="6" name="Shape 3"/>
          <p:cNvSpPr/>
          <p:nvPr/>
        </p:nvSpPr>
        <p:spPr>
          <a:xfrm>
            <a:off x="6309360" y="4434840"/>
            <a:ext cx="5394960" cy="914"/>
          </a:xfrm>
          <a:prstGeom prst="line">
            <a:avLst/>
          </a:prstGeom>
          <a:noFill/>
          <a:ln w="38100">
            <a:solidFill>
              <a:srgbClr val="B8C2CF"/>
            </a:solidFill>
            <a:prstDash val="solid"/>
          </a:ln>
        </p:spPr>
      </p:sp>
      <p:sp>
        <p:nvSpPr>
          <p:cNvPr id="7" name="Shape 4"/>
          <p:cNvSpPr/>
          <p:nvPr/>
        </p:nvSpPr>
        <p:spPr>
          <a:xfrm>
            <a:off x="6355080" y="2971800"/>
            <a:ext cx="2331720" cy="1234440"/>
          </a:xfrm>
          <a:prstGeom prst="roundRect">
            <a:avLst>
              <a:gd name="adj" fmla="val 7407"/>
            </a:avLst>
          </a:prstGeom>
          <a:solidFill>
            <a:srgbClr val="FFFFFF"/>
          </a:solidFill>
          <a:ln w="38100">
            <a:solidFill>
              <a:srgbClr val="2A6FB0"/>
            </a:solidFill>
            <a:prstDash val="solid"/>
          </a:ln>
        </p:spPr>
      </p:sp>
      <p:sp>
        <p:nvSpPr>
          <p:cNvPr id="8" name="Text 5"/>
          <p:cNvSpPr txBox="1"/>
          <p:nvPr/>
        </p:nvSpPr>
        <p:spPr>
          <a:xfrm>
            <a:off x="6355080" y="2971800"/>
            <a:ext cx="2331720" cy="1234440"/>
          </a:xfrm>
          <a:prstGeom prst="rect">
            <a:avLst/>
          </a:prstGeom>
          <a:noFill/>
          <a:ln/>
        </p:spPr>
        <p:txBody>
          <a:bodyPr wrap="square" lIns="0" tIns="0" rIns="0" bIns="0" rtlCol="0" anchor="ctr"/>
          <a:lstStyle/>
          <a:p>
            <a:pPr algn="ctr" indent="0" marL="0">
              <a:buNone/>
            </a:pPr>
            <a:r>
              <a:rPr lang="en-US" sz="2000" b="1" dirty="0">
                <a:solidFill>
                  <a:schemeClr val="tx2"/>
                </a:solidFill>
              </a:rPr>
              <a:t>Ik blijf thuis</a:t>
            </a:r>
            <a:endParaRPr lang="en-US" sz="2000" dirty="0"/>
          </a:p>
        </p:txBody>
      </p:sp>
      <p:sp>
        <p:nvSpPr>
          <p:cNvPr id="9" name="Shape 6"/>
          <p:cNvSpPr/>
          <p:nvPr/>
        </p:nvSpPr>
        <p:spPr>
          <a:xfrm>
            <a:off x="6675120" y="4069080"/>
            <a:ext cx="365760" cy="365760"/>
          </a:xfrm>
          <a:prstGeom prst="ellipse">
            <a:avLst/>
          </a:prstGeom>
          <a:solidFill>
            <a:srgbClr val="4A5A70"/>
          </a:solidFill>
          <a:ln w="19050">
            <a:solidFill>
              <a:srgbClr val="FFFFFF"/>
            </a:solidFill>
            <a:prstDash val="solid"/>
          </a:ln>
        </p:spPr>
      </p:sp>
      <p:sp>
        <p:nvSpPr>
          <p:cNvPr id="10" name="Shape 7"/>
          <p:cNvSpPr/>
          <p:nvPr/>
        </p:nvSpPr>
        <p:spPr>
          <a:xfrm>
            <a:off x="8001000" y="4069080"/>
            <a:ext cx="365760" cy="365760"/>
          </a:xfrm>
          <a:prstGeom prst="ellipse">
            <a:avLst/>
          </a:prstGeom>
          <a:solidFill>
            <a:srgbClr val="4A5A70"/>
          </a:solidFill>
          <a:ln w="19050">
            <a:solidFill>
              <a:srgbClr val="FFFFFF"/>
            </a:solidFill>
            <a:prstDash val="solid"/>
          </a:ln>
        </p:spPr>
      </p:sp>
      <p:sp>
        <p:nvSpPr>
          <p:cNvPr id="11" name="Shape 8"/>
          <p:cNvSpPr/>
          <p:nvPr/>
        </p:nvSpPr>
        <p:spPr>
          <a:xfrm>
            <a:off x="8686800" y="3611880"/>
            <a:ext cx="411480" cy="914"/>
          </a:xfrm>
          <a:prstGeom prst="line">
            <a:avLst/>
          </a:prstGeom>
          <a:noFill/>
          <a:ln w="38100">
            <a:solidFill>
              <a:srgbClr val="FFFFFF"/>
            </a:solidFill>
            <a:prstDash val="solid"/>
          </a:ln>
        </p:spPr>
      </p:sp>
      <p:sp>
        <p:nvSpPr>
          <p:cNvPr id="12" name="tag"/>
          <p:cNvSpPr/>
          <p:nvPr/>
        </p:nvSpPr>
        <p:spPr>
          <a:xfrm>
            <a:off x="8412480" y="2423160"/>
            <a:ext cx="1040130" cy="365760"/>
          </a:xfrm>
          <a:prstGeom prst="roundRect">
            <a:avLst>
              <a:gd name="adj" fmla="val 12500"/>
            </a:avLst>
          </a:prstGeom>
          <a:solidFill>
            <a:schemeClr val="accent1"/>
          </a:solidFill>
          <a:ln/>
        </p:spPr>
        <p:txBody>
          <a:bodyPr wrap="square" lIns="0" tIns="0" rIns="0" bIns="0" rtlCol="0" anchor="ctr"/>
          <a:lstStyle/>
          <a:p>
            <a:pPr algn="ctr" indent="0" marL="0">
              <a:buNone/>
            </a:pPr>
            <a:r>
              <a:rPr lang="en-US" sz="1500" b="1" spc="100" kern="0" dirty="0">
                <a:solidFill>
                  <a:srgbClr val="FFFFFF"/>
                </a:solidFill>
              </a:rPr>
              <a:t>omdat</a:t>
            </a:r>
            <a:endParaRPr lang="en-US" sz="1500" dirty="0"/>
          </a:p>
        </p:txBody>
      </p:sp>
      <p:sp>
        <p:nvSpPr>
          <p:cNvPr id="13" name="Shape 10"/>
          <p:cNvSpPr/>
          <p:nvPr/>
        </p:nvSpPr>
        <p:spPr>
          <a:xfrm>
            <a:off x="9098280" y="2971800"/>
            <a:ext cx="2560320" cy="1234440"/>
          </a:xfrm>
          <a:prstGeom prst="roundRect">
            <a:avLst>
              <a:gd name="adj" fmla="val 7407"/>
            </a:avLst>
          </a:prstGeom>
          <a:solidFill>
            <a:srgbClr val="FFFFFF"/>
          </a:solidFill>
          <a:ln w="38100">
            <a:solidFill>
              <a:srgbClr val="D9700F"/>
            </a:solidFill>
            <a:prstDash val="solid"/>
          </a:ln>
        </p:spPr>
      </p:sp>
      <p:sp>
        <p:nvSpPr>
          <p:cNvPr id="14" name="Text 11"/>
          <p:cNvSpPr txBox="1"/>
          <p:nvPr/>
        </p:nvSpPr>
        <p:spPr>
          <a:xfrm>
            <a:off x="9098280" y="2971800"/>
            <a:ext cx="1600200" cy="1234440"/>
          </a:xfrm>
          <a:prstGeom prst="rect">
            <a:avLst/>
          </a:prstGeom>
          <a:noFill/>
          <a:ln/>
        </p:spPr>
        <p:txBody>
          <a:bodyPr wrap="square" lIns="0" tIns="0" rIns="0" bIns="0" rtlCol="0" anchor="ctr"/>
          <a:lstStyle/>
          <a:p>
            <a:pPr algn="ctr" indent="0" marL="0">
              <a:buNone/>
            </a:pPr>
            <a:r>
              <a:rPr lang="en-US" sz="2000" b="1" dirty="0">
                <a:solidFill>
                  <a:schemeClr val="tx2"/>
                </a:solidFill>
              </a:rPr>
              <a:t>ik ziek</a:t>
            </a:r>
            <a:endParaRPr lang="en-US" sz="2000" dirty="0"/>
          </a:p>
        </p:txBody>
      </p:sp>
      <p:sp>
        <p:nvSpPr>
          <p:cNvPr id="15" name="Shape 12"/>
          <p:cNvSpPr/>
          <p:nvPr/>
        </p:nvSpPr>
        <p:spPr>
          <a:xfrm>
            <a:off x="10698480" y="3154680"/>
            <a:ext cx="841248" cy="868680"/>
          </a:xfrm>
          <a:prstGeom prst="roundRect">
            <a:avLst>
              <a:gd name="adj" fmla="val 8696"/>
            </a:avLst>
          </a:prstGeom>
          <a:solidFill>
            <a:srgbClr val="FBEDEB"/>
          </a:solidFill>
          <a:ln w="31750">
            <a:solidFill>
              <a:srgbClr val="B83227"/>
            </a:solidFill>
            <a:prstDash val="solid"/>
          </a:ln>
        </p:spPr>
      </p:sp>
      <p:sp>
        <p:nvSpPr>
          <p:cNvPr id="16" name="Text 13"/>
          <p:cNvSpPr txBox="1"/>
          <p:nvPr/>
        </p:nvSpPr>
        <p:spPr>
          <a:xfrm>
            <a:off x="10698480" y="3154680"/>
            <a:ext cx="841248" cy="868680"/>
          </a:xfrm>
          <a:prstGeom prst="rect">
            <a:avLst/>
          </a:prstGeom>
          <a:noFill/>
          <a:ln/>
        </p:spPr>
        <p:txBody>
          <a:bodyPr wrap="square" lIns="0" tIns="0" rIns="0" bIns="0" rtlCol="0" anchor="ctr"/>
          <a:lstStyle/>
          <a:p>
            <a:pPr algn="ctr" indent="0" marL="0">
              <a:buNone/>
            </a:pPr>
            <a:r>
              <a:rPr lang="en-US" sz="2000" b="1" dirty="0">
                <a:solidFill>
                  <a:schemeClr val="accent6"/>
                </a:solidFill>
              </a:rPr>
              <a:t>ben</a:t>
            </a:r>
            <a:endParaRPr lang="en-US" sz="2000" dirty="0"/>
          </a:p>
        </p:txBody>
      </p:sp>
      <p:sp>
        <p:nvSpPr>
          <p:cNvPr id="17" name="Shape 14"/>
          <p:cNvSpPr/>
          <p:nvPr/>
        </p:nvSpPr>
        <p:spPr>
          <a:xfrm>
            <a:off x="9418320" y="4069080"/>
            <a:ext cx="365760" cy="365760"/>
          </a:xfrm>
          <a:prstGeom prst="ellipse">
            <a:avLst/>
          </a:prstGeom>
          <a:solidFill>
            <a:srgbClr val="4A5A70"/>
          </a:solidFill>
          <a:ln w="19050">
            <a:solidFill>
              <a:srgbClr val="FFFFFF"/>
            </a:solidFill>
            <a:prstDash val="solid"/>
          </a:ln>
        </p:spPr>
      </p:sp>
      <p:sp>
        <p:nvSpPr>
          <p:cNvPr id="18" name="Shape 15"/>
          <p:cNvSpPr/>
          <p:nvPr/>
        </p:nvSpPr>
        <p:spPr>
          <a:xfrm>
            <a:off x="10972800" y="4069080"/>
            <a:ext cx="365760" cy="365760"/>
          </a:xfrm>
          <a:prstGeom prst="ellipse">
            <a:avLst/>
          </a:prstGeom>
          <a:solidFill>
            <a:srgbClr val="4A5A70"/>
          </a:solidFill>
          <a:ln w="1905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457200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StoneBridg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Relier</a:t>
            </a:r>
            <a:endParaRPr lang="en-US" sz="2400" dirty="0"/>
          </a:p>
        </p:txBody>
      </p:sp>
      <p:sp>
        <p:nvSpPr>
          <p:cNvPr id="9" name="Text 5"/>
          <p:cNvSpPr txBox="1"/>
          <p:nvPr/>
        </p:nvSpPr>
        <p:spPr>
          <a:xfrm>
            <a:off x="77724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relie deux phrases avec </a:t>
            </a:r>
            <a:r>
              <a:rPr lang="en-US" sz="2000" i="1" dirty="0">
                <a:solidFill>
                  <a:schemeClr val="tx1"/>
                </a:solidFill>
              </a:rPr>
              <a:t>en, maar, want, of, dus</a:t>
            </a:r>
            <a:r>
              <a:rPr lang="en-US" sz="2000" dirty="0">
                <a:solidFill>
                  <a:schemeClr val="tx1"/>
                </a:solidFill>
              </a:rPr>
              <a:t>.</a:t>
            </a:r>
            <a:endParaRPr lang="en-US" sz="2000" dirty="0"/>
          </a:p>
        </p:txBody>
      </p:sp>
      <p:sp>
        <p:nvSpPr>
          <p:cNvPr id="10" name="Shape 6"/>
          <p:cNvSpPr/>
          <p:nvPr/>
        </p:nvSpPr>
        <p:spPr>
          <a:xfrm>
            <a:off x="3688080" y="1554480"/>
            <a:ext cx="2865120" cy="457200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Train">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Accrocher</a:t>
            </a:r>
            <a:endParaRPr lang="en-US" sz="2400" dirty="0"/>
          </a:p>
        </p:txBody>
      </p:sp>
      <p:sp>
        <p:nvSpPr>
          <p:cNvPr id="14" name="Text 9"/>
          <p:cNvSpPr txBox="1"/>
          <p:nvPr/>
        </p:nvSpPr>
        <p:spPr>
          <a:xfrm>
            <a:off x="391668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construis une phrase avec </a:t>
            </a:r>
            <a:r>
              <a:rPr lang="en-US" sz="2000" i="1" dirty="0">
                <a:solidFill>
                  <a:schemeClr val="tx1"/>
                </a:solidFill>
              </a:rPr>
              <a:t>omdat, dat, als</a:t>
            </a:r>
            <a:r>
              <a:rPr lang="en-US" sz="2000" dirty="0">
                <a:solidFill>
                  <a:schemeClr val="tx1"/>
                </a:solidFill>
              </a:rPr>
              <a:t>… et je mets le </a:t>
            </a:r>
            <a:r>
              <a:rPr lang="en-US" sz="2000" b="1" dirty="0">
                <a:solidFill>
                  <a:schemeClr val="tx1"/>
                </a:solidFill>
              </a:rPr>
              <a:t>verbe à la fin</a:t>
            </a:r>
            <a:r>
              <a:rPr lang="en-US" sz="2000" dirty="0">
                <a:solidFill>
                  <a:schemeClr val="tx1"/>
                </a:solidFill>
              </a:rPr>
              <a:t>.</a:t>
            </a:r>
            <a:endParaRPr lang="en-US" sz="2000" dirty="0"/>
          </a:p>
        </p:txBody>
      </p:sp>
      <p:sp>
        <p:nvSpPr>
          <p:cNvPr id="15" name="Shape 10"/>
          <p:cNvSpPr/>
          <p:nvPr/>
        </p:nvSpPr>
        <p:spPr>
          <a:xfrm>
            <a:off x="6827520" y="1554480"/>
            <a:ext cx="2865120" cy="457200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Question">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Expliquer</a:t>
            </a:r>
            <a:endParaRPr lang="en-US" sz="2400" dirty="0"/>
          </a:p>
        </p:txBody>
      </p:sp>
      <p:sp>
        <p:nvSpPr>
          <p:cNvPr id="19" name="Text 13"/>
          <p:cNvSpPr txBox="1"/>
          <p:nvPr/>
        </p:nvSpPr>
        <p:spPr>
          <a:xfrm>
            <a:off x="705612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donne une raison : </a:t>
            </a:r>
            <a:r>
              <a:rPr lang="en-US" sz="2000" i="1" dirty="0">
                <a:solidFill>
                  <a:schemeClr val="tx1"/>
                </a:solidFill>
              </a:rPr>
              <a:t>want… / omdat…</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où est le verbe ?</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2148840" y="1554480"/>
            <a:ext cx="457200" cy="457200"/>
          </a:xfrm>
          <a:prstGeom prst="ellipse">
            <a:avLst/>
          </a:prstGeom>
          <a:solidFill>
            <a:schemeClr val="tx2"/>
          </a:solidFill>
          <a:ln w="12700">
            <a:solidFill>
              <a:srgbClr val="FFFFFF">
                <a:alpha val="0"/>
              </a:srgbClr>
            </a:solidFill>
            <a:prstDash val="solid"/>
          </a:ln>
        </p:spPr>
      </p:sp>
      <p:sp>
        <p:nvSpPr>
          <p:cNvPr id="6" name="Text 3"/>
          <p:cNvSpPr txBox="1"/>
          <p:nvPr/>
        </p:nvSpPr>
        <p:spPr>
          <a:xfrm>
            <a:off x="21488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hape 4"/>
          <p:cNvSpPr/>
          <p:nvPr/>
        </p:nvSpPr>
        <p:spPr>
          <a:xfrm>
            <a:off x="3995928" y="1554480"/>
            <a:ext cx="457200" cy="457200"/>
          </a:xfrm>
          <a:prstGeom prst="ellipse">
            <a:avLst/>
          </a:prstGeom>
          <a:solidFill>
            <a:schemeClr val="accent6"/>
          </a:solidFill>
          <a:ln w="12700">
            <a:solidFill>
              <a:srgbClr val="FFFFFF">
                <a:alpha val="0"/>
              </a:srgbClr>
            </a:solidFill>
            <a:prstDash val="solid"/>
          </a:ln>
        </p:spPr>
      </p:sp>
      <p:sp>
        <p:nvSpPr>
          <p:cNvPr id="8" name="Text 5"/>
          <p:cNvSpPr txBox="1"/>
          <p:nvPr/>
        </p:nvSpPr>
        <p:spPr>
          <a:xfrm>
            <a:off x="3995928"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Shape 6"/>
          <p:cNvSpPr/>
          <p:nvPr/>
        </p:nvSpPr>
        <p:spPr>
          <a:xfrm>
            <a:off x="7031736" y="1554480"/>
            <a:ext cx="457200" cy="457200"/>
          </a:xfrm>
          <a:prstGeom prst="ellipse">
            <a:avLst/>
          </a:prstGeom>
          <a:solidFill>
            <a:schemeClr val="tx2"/>
          </a:solidFill>
          <a:ln w="12700">
            <a:solidFill>
              <a:srgbClr val="FFFFFF">
                <a:alpha val="0"/>
              </a:srgbClr>
            </a:solidFill>
            <a:prstDash val="solid"/>
          </a:ln>
        </p:spPr>
      </p:sp>
      <p:sp>
        <p:nvSpPr>
          <p:cNvPr id="10" name="Text 7"/>
          <p:cNvSpPr txBox="1"/>
          <p:nvPr/>
        </p:nvSpPr>
        <p:spPr>
          <a:xfrm>
            <a:off x="7031736"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Shape 8"/>
          <p:cNvSpPr/>
          <p:nvPr/>
        </p:nvSpPr>
        <p:spPr>
          <a:xfrm>
            <a:off x="10067544" y="1554480"/>
            <a:ext cx="457200" cy="457200"/>
          </a:xfrm>
          <a:prstGeom prst="ellipse">
            <a:avLst/>
          </a:prstGeom>
          <a:solidFill>
            <a:schemeClr val="accent6"/>
          </a:solidFill>
          <a:ln w="12700">
            <a:solidFill>
              <a:srgbClr val="FFFFFF">
                <a:alpha val="0"/>
              </a:srgbClr>
            </a:solidFill>
            <a:prstDash val="solid"/>
          </a:ln>
        </p:spPr>
      </p:sp>
      <p:sp>
        <p:nvSpPr>
          <p:cNvPr id="12" name="Text 9"/>
          <p:cNvSpPr txBox="1"/>
          <p:nvPr/>
        </p:nvSpPr>
        <p:spPr>
          <a:xfrm>
            <a:off x="10067544"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13" name="Image 0" descr="man office worker">    </p:cNvPr>
          <p:cNvPicPr>
            <a:picLocks noChangeAspect="1"/>
          </p:cNvPicPr>
          <p:nvPr/>
        </p:nvPicPr>
        <p:blipFill>
          <a:blip r:embed="rId1"/>
          <a:stretch>
            <a:fillRect/>
          </a:stretch>
        </p:blipFill>
        <p:spPr>
          <a:xfrm>
            <a:off x="594360" y="2240280"/>
            <a:ext cx="640080" cy="640080"/>
          </a:xfrm>
          <a:prstGeom prst="rect">
            <a:avLst/>
          </a:prstGeom>
        </p:spPr>
      </p:pic>
      <p:sp>
        <p:nvSpPr>
          <p:cNvPr id="14" name="Shape 10"/>
          <p:cNvSpPr/>
          <p:nvPr/>
        </p:nvSpPr>
        <p:spPr>
          <a:xfrm>
            <a:off x="1463040" y="2194560"/>
            <a:ext cx="1828800" cy="731520"/>
          </a:xfrm>
          <a:prstGeom prst="roundRect">
            <a:avLst>
              <a:gd name="adj" fmla="val 10000"/>
            </a:avLst>
          </a:prstGeom>
          <a:solidFill>
            <a:schemeClr val="bg1"/>
          </a:solidFill>
          <a:ln w="15875">
            <a:solidFill>
              <a:srgbClr val="D5DCE6"/>
            </a:solidFill>
            <a:prstDash val="solid"/>
          </a:ln>
        </p:spPr>
      </p:sp>
      <p:sp>
        <p:nvSpPr>
          <p:cNvPr id="15" name="Text 11"/>
          <p:cNvSpPr txBox="1"/>
          <p:nvPr/>
        </p:nvSpPr>
        <p:spPr>
          <a:xfrm>
            <a:off x="1463040" y="2194560"/>
            <a:ext cx="1828800" cy="731520"/>
          </a:xfrm>
          <a:prstGeom prst="rect">
            <a:avLst/>
          </a:prstGeom>
          <a:noFill/>
          <a:ln/>
        </p:spPr>
        <p:txBody>
          <a:bodyPr wrap="square" lIns="0" tIns="0" rIns="0" bIns="0" rtlCol="0" anchor="ctr"/>
          <a:lstStyle/>
          <a:p>
            <a:pPr algn="ctr" indent="0" marL="0">
              <a:buNone/>
            </a:pPr>
            <a:r>
              <a:rPr lang="en-US" sz="2200" dirty="0">
                <a:solidFill>
                  <a:schemeClr val="tx1"/>
                </a:solidFill>
              </a:rPr>
              <a:t>Karim</a:t>
            </a:r>
            <a:endParaRPr lang="en-US" sz="2200" dirty="0"/>
          </a:p>
        </p:txBody>
      </p:sp>
      <p:sp>
        <p:nvSpPr>
          <p:cNvPr id="16" name="Shape 12"/>
          <p:cNvSpPr/>
          <p:nvPr/>
        </p:nvSpPr>
        <p:spPr>
          <a:xfrm>
            <a:off x="3401568" y="2194560"/>
            <a:ext cx="1645920" cy="731520"/>
          </a:xfrm>
          <a:prstGeom prst="roundRect">
            <a:avLst>
              <a:gd name="adj" fmla="val 10000"/>
            </a:avLst>
          </a:prstGeom>
          <a:solidFill>
            <a:srgbClr val="FBEDEB"/>
          </a:solidFill>
          <a:ln w="31750">
            <a:solidFill>
              <a:srgbClr val="B83227"/>
            </a:solidFill>
            <a:prstDash val="solid"/>
          </a:ln>
        </p:spPr>
      </p:sp>
      <p:sp>
        <p:nvSpPr>
          <p:cNvPr id="17" name="Text 13"/>
          <p:cNvSpPr txBox="1"/>
          <p:nvPr/>
        </p:nvSpPr>
        <p:spPr>
          <a:xfrm>
            <a:off x="3401568" y="2194560"/>
            <a:ext cx="1645920" cy="731520"/>
          </a:xfrm>
          <a:prstGeom prst="rect">
            <a:avLst/>
          </a:prstGeom>
          <a:noFill/>
          <a:ln/>
        </p:spPr>
        <p:txBody>
          <a:bodyPr wrap="square" lIns="0" tIns="0" rIns="0" bIns="0" rtlCol="0" anchor="ctr"/>
          <a:lstStyle/>
          <a:p>
            <a:pPr algn="ctr" indent="0" marL="0">
              <a:buNone/>
            </a:pPr>
            <a:r>
              <a:rPr lang="en-US" sz="2200" b="1" dirty="0">
                <a:solidFill>
                  <a:schemeClr val="accent6"/>
                </a:solidFill>
              </a:rPr>
              <a:t>werkt</a:t>
            </a:r>
            <a:endParaRPr lang="en-US" sz="2200" dirty="0"/>
          </a:p>
        </p:txBody>
      </p:sp>
      <p:sp>
        <p:nvSpPr>
          <p:cNvPr id="18" name="Shape 14"/>
          <p:cNvSpPr/>
          <p:nvPr/>
        </p:nvSpPr>
        <p:spPr>
          <a:xfrm>
            <a:off x="5157216" y="2194560"/>
            <a:ext cx="4206240" cy="731520"/>
          </a:xfrm>
          <a:prstGeom prst="roundRect">
            <a:avLst>
              <a:gd name="adj" fmla="val 10000"/>
            </a:avLst>
          </a:prstGeom>
          <a:solidFill>
            <a:schemeClr val="bg1"/>
          </a:solidFill>
          <a:ln w="15875">
            <a:solidFill>
              <a:srgbClr val="D5DCE6"/>
            </a:solidFill>
            <a:prstDash val="solid"/>
          </a:ln>
        </p:spPr>
      </p:sp>
      <p:sp>
        <p:nvSpPr>
          <p:cNvPr id="19" name="Text 15"/>
          <p:cNvSpPr txBox="1"/>
          <p:nvPr/>
        </p:nvSpPr>
        <p:spPr>
          <a:xfrm>
            <a:off x="5157216" y="2194560"/>
            <a:ext cx="4206240" cy="731520"/>
          </a:xfrm>
          <a:prstGeom prst="rect">
            <a:avLst/>
          </a:prstGeom>
          <a:noFill/>
          <a:ln/>
        </p:spPr>
        <p:txBody>
          <a:bodyPr wrap="square" lIns="0" tIns="0" rIns="0" bIns="0" rtlCol="0" anchor="ctr"/>
          <a:lstStyle/>
          <a:p>
            <a:pPr algn="ctr" indent="0" marL="0">
              <a:buNone/>
            </a:pPr>
            <a:r>
              <a:rPr lang="en-US" sz="2200" dirty="0">
                <a:solidFill>
                  <a:schemeClr val="tx1"/>
                </a:solidFill>
              </a:rPr>
              <a:t>vandaag in Brussel.</a:t>
            </a:r>
            <a:endParaRPr lang="en-US" sz="2200" dirty="0"/>
          </a:p>
        </p:txBody>
      </p:sp>
      <p:pic>
        <p:nvPicPr>
          <p:cNvPr id="20" name="Image 1" descr="spiral calendar">    </p:cNvPr>
          <p:cNvPicPr>
            <a:picLocks noChangeAspect="1"/>
          </p:cNvPicPr>
          <p:nvPr/>
        </p:nvPicPr>
        <p:blipFill>
          <a:blip r:embed="rId2"/>
          <a:stretch>
            <a:fillRect/>
          </a:stretch>
        </p:blipFill>
        <p:spPr>
          <a:xfrm>
            <a:off x="594360" y="3154680"/>
            <a:ext cx="640080" cy="640080"/>
          </a:xfrm>
          <a:prstGeom prst="rect">
            <a:avLst/>
          </a:prstGeom>
        </p:spPr>
      </p:pic>
      <p:sp>
        <p:nvSpPr>
          <p:cNvPr id="21" name="Shape 16"/>
          <p:cNvSpPr/>
          <p:nvPr/>
        </p:nvSpPr>
        <p:spPr>
          <a:xfrm>
            <a:off x="1463040" y="3108960"/>
            <a:ext cx="1828800" cy="731520"/>
          </a:xfrm>
          <a:prstGeom prst="roundRect">
            <a:avLst>
              <a:gd name="adj" fmla="val 10000"/>
            </a:avLst>
          </a:prstGeom>
          <a:solidFill>
            <a:schemeClr val="bg1"/>
          </a:solidFill>
          <a:ln w="15875">
            <a:solidFill>
              <a:srgbClr val="D5DCE6"/>
            </a:solidFill>
            <a:prstDash val="solid"/>
          </a:ln>
        </p:spPr>
      </p:sp>
      <p:sp>
        <p:nvSpPr>
          <p:cNvPr id="22" name="Text 17"/>
          <p:cNvSpPr txBox="1"/>
          <p:nvPr/>
        </p:nvSpPr>
        <p:spPr>
          <a:xfrm>
            <a:off x="1463040" y="3108960"/>
            <a:ext cx="1828800" cy="731520"/>
          </a:xfrm>
          <a:prstGeom prst="rect">
            <a:avLst/>
          </a:prstGeom>
          <a:noFill/>
          <a:ln/>
        </p:spPr>
        <p:txBody>
          <a:bodyPr wrap="square" lIns="0" tIns="0" rIns="0" bIns="0" rtlCol="0" anchor="ctr"/>
          <a:lstStyle/>
          <a:p>
            <a:pPr algn="ctr" indent="0" marL="0">
              <a:buNone/>
            </a:pPr>
            <a:r>
              <a:rPr lang="en-US" sz="2200" dirty="0">
                <a:solidFill>
                  <a:schemeClr val="tx1"/>
                </a:solidFill>
              </a:rPr>
              <a:t>Vandaag</a:t>
            </a:r>
            <a:endParaRPr lang="en-US" sz="2200" dirty="0"/>
          </a:p>
        </p:txBody>
      </p:sp>
      <p:sp>
        <p:nvSpPr>
          <p:cNvPr id="23" name="Shape 18"/>
          <p:cNvSpPr/>
          <p:nvPr/>
        </p:nvSpPr>
        <p:spPr>
          <a:xfrm>
            <a:off x="3401568" y="3108960"/>
            <a:ext cx="1645920" cy="731520"/>
          </a:xfrm>
          <a:prstGeom prst="roundRect">
            <a:avLst>
              <a:gd name="adj" fmla="val 10000"/>
            </a:avLst>
          </a:prstGeom>
          <a:solidFill>
            <a:srgbClr val="FBEDEB"/>
          </a:solidFill>
          <a:ln w="31750">
            <a:solidFill>
              <a:srgbClr val="B83227"/>
            </a:solidFill>
            <a:prstDash val="solid"/>
          </a:ln>
        </p:spPr>
      </p:sp>
      <p:sp>
        <p:nvSpPr>
          <p:cNvPr id="24" name="Text 19"/>
          <p:cNvSpPr txBox="1"/>
          <p:nvPr/>
        </p:nvSpPr>
        <p:spPr>
          <a:xfrm>
            <a:off x="3401568" y="3108960"/>
            <a:ext cx="1645920" cy="731520"/>
          </a:xfrm>
          <a:prstGeom prst="rect">
            <a:avLst/>
          </a:prstGeom>
          <a:noFill/>
          <a:ln/>
        </p:spPr>
        <p:txBody>
          <a:bodyPr wrap="square" lIns="0" tIns="0" rIns="0" bIns="0" rtlCol="0" anchor="ctr"/>
          <a:lstStyle/>
          <a:p>
            <a:pPr algn="ctr" indent="0" marL="0">
              <a:buNone/>
            </a:pPr>
            <a:r>
              <a:rPr lang="en-US" sz="2200" b="1" dirty="0">
                <a:solidFill>
                  <a:schemeClr val="accent6"/>
                </a:solidFill>
              </a:rPr>
              <a:t>werkt</a:t>
            </a:r>
            <a:endParaRPr lang="en-US" sz="2200" dirty="0"/>
          </a:p>
        </p:txBody>
      </p:sp>
      <p:sp>
        <p:nvSpPr>
          <p:cNvPr id="25" name="Shape 20"/>
          <p:cNvSpPr/>
          <p:nvPr/>
        </p:nvSpPr>
        <p:spPr>
          <a:xfrm>
            <a:off x="5157216" y="3108960"/>
            <a:ext cx="4206240" cy="731520"/>
          </a:xfrm>
          <a:prstGeom prst="roundRect">
            <a:avLst>
              <a:gd name="adj" fmla="val 10000"/>
            </a:avLst>
          </a:prstGeom>
          <a:solidFill>
            <a:schemeClr val="bg1"/>
          </a:solidFill>
          <a:ln w="15875">
            <a:solidFill>
              <a:srgbClr val="D5DCE6"/>
            </a:solidFill>
            <a:prstDash val="solid"/>
          </a:ln>
        </p:spPr>
      </p:sp>
      <p:sp>
        <p:nvSpPr>
          <p:cNvPr id="26" name="Text 21"/>
          <p:cNvSpPr txBox="1"/>
          <p:nvPr/>
        </p:nvSpPr>
        <p:spPr>
          <a:xfrm>
            <a:off x="5157216" y="3108960"/>
            <a:ext cx="4206240" cy="731520"/>
          </a:xfrm>
          <a:prstGeom prst="rect">
            <a:avLst/>
          </a:prstGeom>
          <a:noFill/>
          <a:ln/>
        </p:spPr>
        <p:txBody>
          <a:bodyPr wrap="square" lIns="0" tIns="0" rIns="0" bIns="0" rtlCol="0" anchor="ctr"/>
          <a:lstStyle/>
          <a:p>
            <a:pPr algn="ctr" indent="0" marL="0">
              <a:buNone/>
            </a:pPr>
            <a:r>
              <a:rPr lang="en-US" sz="2200" dirty="0">
                <a:solidFill>
                  <a:schemeClr val="tx1"/>
                </a:solidFill>
              </a:rPr>
              <a:t>Karim in Brussel.</a:t>
            </a:r>
            <a:endParaRPr lang="en-US" sz="2200" dirty="0"/>
          </a:p>
        </p:txBody>
      </p:sp>
      <p:pic>
        <p:nvPicPr>
          <p:cNvPr id="27" name="Image 2" descr="man office worker">    </p:cNvPr>
          <p:cNvPicPr>
            <a:picLocks noChangeAspect="1"/>
          </p:cNvPicPr>
          <p:nvPr/>
        </p:nvPicPr>
        <p:blipFill>
          <a:blip r:embed="rId3"/>
          <a:stretch>
            <a:fillRect/>
          </a:stretch>
        </p:blipFill>
        <p:spPr>
          <a:xfrm>
            <a:off x="594360" y="4069080"/>
            <a:ext cx="640080" cy="640080"/>
          </a:xfrm>
          <a:prstGeom prst="rect">
            <a:avLst/>
          </a:prstGeom>
        </p:spPr>
      </p:pic>
      <p:sp>
        <p:nvSpPr>
          <p:cNvPr id="28" name="Shape 22"/>
          <p:cNvSpPr/>
          <p:nvPr/>
        </p:nvSpPr>
        <p:spPr>
          <a:xfrm>
            <a:off x="1463040" y="4023360"/>
            <a:ext cx="1828800" cy="731520"/>
          </a:xfrm>
          <a:prstGeom prst="roundRect">
            <a:avLst>
              <a:gd name="adj" fmla="val 10000"/>
            </a:avLst>
          </a:prstGeom>
          <a:solidFill>
            <a:schemeClr val="bg1"/>
          </a:solidFill>
          <a:ln w="15875">
            <a:solidFill>
              <a:srgbClr val="D5DCE6"/>
            </a:solidFill>
            <a:prstDash val="solid"/>
          </a:ln>
        </p:spPr>
      </p:sp>
      <p:sp>
        <p:nvSpPr>
          <p:cNvPr id="29" name="Text 23"/>
          <p:cNvSpPr txBox="1"/>
          <p:nvPr/>
        </p:nvSpPr>
        <p:spPr>
          <a:xfrm>
            <a:off x="1463040" y="4023360"/>
            <a:ext cx="1828800" cy="731520"/>
          </a:xfrm>
          <a:prstGeom prst="rect">
            <a:avLst/>
          </a:prstGeom>
          <a:noFill/>
          <a:ln/>
        </p:spPr>
        <p:txBody>
          <a:bodyPr wrap="square" lIns="0" tIns="0" rIns="0" bIns="0" rtlCol="0" anchor="ctr"/>
          <a:lstStyle/>
          <a:p>
            <a:pPr algn="ctr" indent="0" marL="0">
              <a:buNone/>
            </a:pPr>
            <a:r>
              <a:rPr lang="en-US" sz="2200" dirty="0">
                <a:solidFill>
                  <a:schemeClr val="tx1"/>
                </a:solidFill>
              </a:rPr>
              <a:t>Karim</a:t>
            </a:r>
            <a:endParaRPr lang="en-US" sz="2200" dirty="0"/>
          </a:p>
        </p:txBody>
      </p:sp>
      <p:sp>
        <p:nvSpPr>
          <p:cNvPr id="30" name="Shape 24"/>
          <p:cNvSpPr/>
          <p:nvPr/>
        </p:nvSpPr>
        <p:spPr>
          <a:xfrm>
            <a:off x="3401568" y="4023360"/>
            <a:ext cx="1645920" cy="731520"/>
          </a:xfrm>
          <a:prstGeom prst="roundRect">
            <a:avLst>
              <a:gd name="adj" fmla="val 10000"/>
            </a:avLst>
          </a:prstGeom>
          <a:solidFill>
            <a:srgbClr val="FBEDEB"/>
          </a:solidFill>
          <a:ln w="31750">
            <a:solidFill>
              <a:srgbClr val="B83227"/>
            </a:solidFill>
            <a:prstDash val="solid"/>
          </a:ln>
        </p:spPr>
      </p:sp>
      <p:sp>
        <p:nvSpPr>
          <p:cNvPr id="31" name="Text 25"/>
          <p:cNvSpPr txBox="1"/>
          <p:nvPr/>
        </p:nvSpPr>
        <p:spPr>
          <a:xfrm>
            <a:off x="3401568" y="4023360"/>
            <a:ext cx="1645920" cy="731520"/>
          </a:xfrm>
          <a:prstGeom prst="rect">
            <a:avLst/>
          </a:prstGeom>
          <a:noFill/>
          <a:ln/>
        </p:spPr>
        <p:txBody>
          <a:bodyPr wrap="square" lIns="0" tIns="0" rIns="0" bIns="0" rtlCol="0" anchor="ctr"/>
          <a:lstStyle/>
          <a:p>
            <a:pPr algn="ctr" indent="0" marL="0">
              <a:buNone/>
            </a:pPr>
            <a:r>
              <a:rPr lang="en-US" sz="2200" b="1" dirty="0">
                <a:solidFill>
                  <a:schemeClr val="accent6"/>
                </a:solidFill>
              </a:rPr>
              <a:t>moet</a:t>
            </a:r>
            <a:endParaRPr lang="en-US" sz="2200" dirty="0"/>
          </a:p>
        </p:txBody>
      </p:sp>
      <p:sp>
        <p:nvSpPr>
          <p:cNvPr id="32" name="Shape 26"/>
          <p:cNvSpPr/>
          <p:nvPr/>
        </p:nvSpPr>
        <p:spPr>
          <a:xfrm>
            <a:off x="5157216" y="4023360"/>
            <a:ext cx="4206240" cy="731520"/>
          </a:xfrm>
          <a:prstGeom prst="roundRect">
            <a:avLst>
              <a:gd name="adj" fmla="val 10000"/>
            </a:avLst>
          </a:prstGeom>
          <a:solidFill>
            <a:schemeClr val="bg1"/>
          </a:solidFill>
          <a:ln w="15875">
            <a:solidFill>
              <a:srgbClr val="D5DCE6"/>
            </a:solidFill>
            <a:prstDash val="solid"/>
          </a:ln>
        </p:spPr>
      </p:sp>
      <p:sp>
        <p:nvSpPr>
          <p:cNvPr id="33" name="Text 27"/>
          <p:cNvSpPr txBox="1"/>
          <p:nvPr/>
        </p:nvSpPr>
        <p:spPr>
          <a:xfrm>
            <a:off x="5157216" y="4023360"/>
            <a:ext cx="4206240" cy="731520"/>
          </a:xfrm>
          <a:prstGeom prst="rect">
            <a:avLst/>
          </a:prstGeom>
          <a:noFill/>
          <a:ln/>
        </p:spPr>
        <p:txBody>
          <a:bodyPr wrap="square" lIns="0" tIns="0" rIns="0" bIns="0" rtlCol="0" anchor="ctr"/>
          <a:lstStyle/>
          <a:p>
            <a:pPr algn="ctr" indent="0" marL="0">
              <a:buNone/>
            </a:pPr>
            <a:r>
              <a:rPr lang="en-US" sz="2200" dirty="0">
                <a:solidFill>
                  <a:schemeClr val="tx1"/>
                </a:solidFill>
              </a:rPr>
              <a:t>vandaag in Brussel</a:t>
            </a:r>
            <a:endParaRPr lang="en-US" sz="2200" dirty="0"/>
          </a:p>
        </p:txBody>
      </p:sp>
      <p:sp>
        <p:nvSpPr>
          <p:cNvPr id="34" name="Shape 28"/>
          <p:cNvSpPr/>
          <p:nvPr/>
        </p:nvSpPr>
        <p:spPr>
          <a:xfrm>
            <a:off x="9473184" y="4023360"/>
            <a:ext cx="1645920" cy="731520"/>
          </a:xfrm>
          <a:prstGeom prst="roundRect">
            <a:avLst>
              <a:gd name="adj" fmla="val 10000"/>
            </a:avLst>
          </a:prstGeom>
          <a:solidFill>
            <a:srgbClr val="FBEDEB"/>
          </a:solidFill>
          <a:ln w="25400">
            <a:solidFill>
              <a:srgbClr val="B83227"/>
            </a:solidFill>
            <a:prstDash val="dash"/>
          </a:ln>
        </p:spPr>
      </p:sp>
      <p:sp>
        <p:nvSpPr>
          <p:cNvPr id="35" name="Text 29"/>
          <p:cNvSpPr txBox="1"/>
          <p:nvPr/>
        </p:nvSpPr>
        <p:spPr>
          <a:xfrm>
            <a:off x="9473184" y="4023360"/>
            <a:ext cx="1645920" cy="731520"/>
          </a:xfrm>
          <a:prstGeom prst="rect">
            <a:avLst/>
          </a:prstGeom>
          <a:noFill/>
          <a:ln/>
        </p:spPr>
        <p:txBody>
          <a:bodyPr wrap="square" lIns="0" tIns="0" rIns="0" bIns="0" rtlCol="0" anchor="ctr"/>
          <a:lstStyle/>
          <a:p>
            <a:pPr algn="ctr" indent="0" marL="0">
              <a:buNone/>
            </a:pPr>
            <a:r>
              <a:rPr lang="en-US" sz="2200" b="1" dirty="0">
                <a:solidFill>
                  <a:schemeClr val="accent6"/>
                </a:solidFill>
              </a:rPr>
              <a:t>werken.</a:t>
            </a:r>
            <a:endParaRPr lang="en-US" sz="2200" dirty="0"/>
          </a:p>
        </p:txBody>
      </p:sp>
      <p:sp>
        <p:nvSpPr>
          <p:cNvPr id="36" name="Shape 30"/>
          <p:cNvSpPr/>
          <p:nvPr/>
        </p:nvSpPr>
        <p:spPr>
          <a:xfrm>
            <a:off x="548640" y="5029200"/>
            <a:ext cx="11091672" cy="502920"/>
          </a:xfrm>
          <a:prstGeom prst="roundRect">
            <a:avLst>
              <a:gd name="adj" fmla="val 14545"/>
            </a:avLst>
          </a:prstGeom>
          <a:solidFill>
            <a:schemeClr val="accent6">
              <a:alpha val="10000"/>
            </a:schemeClr>
          </a:solidFill>
          <a:ln w="12700">
            <a:solidFill>
              <a:srgbClr val="B83227"/>
            </a:solidFill>
            <a:prstDash val="solid"/>
          </a:ln>
        </p:spPr>
      </p:sp>
      <p:sp>
        <p:nvSpPr>
          <p:cNvPr id="37" name="Text 31"/>
          <p:cNvSpPr txBox="1"/>
          <p:nvPr/>
        </p:nvSpPr>
        <p:spPr>
          <a:xfrm>
            <a:off x="777240" y="5029200"/>
            <a:ext cx="10698480" cy="502920"/>
          </a:xfrm>
          <a:prstGeom prst="rect">
            <a:avLst/>
          </a:prstGeom>
          <a:noFill/>
          <a:ln/>
        </p:spPr>
        <p:txBody>
          <a:bodyPr wrap="square" lIns="0" tIns="0" rIns="0" bIns="0" rtlCol="0" anchor="ctr"/>
          <a:lstStyle/>
          <a:p>
            <a:pPr algn="l" indent="0" marL="0">
              <a:buNone/>
            </a:pPr>
            <a:r>
              <a:rPr lang="en-US" sz="1900" dirty="0">
                <a:solidFill>
                  <a:schemeClr val="tx1"/>
                </a:solidFill>
              </a:rPr>
              <a:t>Rappel (M3) : le verbe conjugué est </a:t>
            </a:r>
            <a:r>
              <a:rPr lang="en-US" sz="1900" b="1" dirty="0">
                <a:solidFill>
                  <a:schemeClr val="tx1"/>
                </a:solidFill>
              </a:rPr>
              <a:t>toujours en case ②</a:t>
            </a:r>
            <a:r>
              <a:rPr lang="en-US" sz="1900" dirty="0">
                <a:solidFill>
                  <a:schemeClr val="tx1"/>
                </a:solidFill>
              </a:rPr>
              <a:t>.</a:t>
            </a:r>
            <a:endParaRPr lang="en-US" sz="1900" dirty="0"/>
          </a:p>
        </p:txBody>
      </p:sp>
      <p:sp>
        <p:nvSpPr>
          <p:cNvPr id="38" name="Shape 32"/>
          <p:cNvSpPr/>
          <p:nvPr/>
        </p:nvSpPr>
        <p:spPr>
          <a:xfrm>
            <a:off x="548640" y="5669280"/>
            <a:ext cx="11091672" cy="594360"/>
          </a:xfrm>
          <a:prstGeom prst="roundRect">
            <a:avLst>
              <a:gd name="adj" fmla="val 12308"/>
            </a:avLst>
          </a:prstGeom>
          <a:solidFill>
            <a:schemeClr val="accent1"/>
          </a:solidFill>
          <a:ln w="12700">
            <a:solidFill>
              <a:srgbClr val="FFFFFF">
                <a:alpha val="0"/>
              </a:srgbClr>
            </a:solidFill>
            <a:prstDash val="solid"/>
          </a:ln>
        </p:spPr>
      </p:sp>
      <p:sp>
        <p:nvSpPr>
          <p:cNvPr id="39" name="Text 33"/>
          <p:cNvSpPr txBox="1"/>
          <p:nvPr/>
        </p:nvSpPr>
        <p:spPr>
          <a:xfrm>
            <a:off x="822960" y="5669280"/>
            <a:ext cx="10607040" cy="594360"/>
          </a:xfrm>
          <a:prstGeom prst="rect">
            <a:avLst/>
          </a:prstGeom>
          <a:noFill/>
          <a:ln/>
        </p:spPr>
        <p:txBody>
          <a:bodyPr wrap="square" lIns="0" tIns="0" rIns="0" bIns="0" rtlCol="0" anchor="ctr"/>
          <a:lstStyle/>
          <a:p>
            <a:pPr algn="l" indent="0" marL="0">
              <a:buNone/>
            </a:pPr>
            <a:r>
              <a:rPr lang="en-US" sz="1900" dirty="0">
                <a:solidFill>
                  <a:schemeClr val="bg1"/>
                </a:solidFill>
              </a:rPr>
              <a:t>Aujourd’hui : la </a:t>
            </a:r>
            <a:r>
              <a:rPr lang="en-US" sz="1900" b="1" dirty="0">
                <a:solidFill>
                  <a:schemeClr val="bg1"/>
                </a:solidFill>
              </a:rPr>
              <a:t>seule</a:t>
            </a:r>
            <a:r>
              <a:rPr lang="en-US" sz="1900" dirty="0">
                <a:solidFill>
                  <a:schemeClr val="bg1"/>
                </a:solidFill>
              </a:rPr>
              <a:t> situation, dans une phrase affirmative, où le verbe quitte la case ② → la subordonnée.</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Deux façons de relier deux phrases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40680" cy="3566160"/>
          </a:xfrm>
          <a:prstGeom prst="roundRect">
            <a:avLst>
              <a:gd name="adj" fmla="val 2051"/>
            </a:avLst>
          </a:prstGeom>
          <a:solidFill>
            <a:schemeClr val="accent2">
              <a:alpha val="8000"/>
            </a:schemeClr>
          </a:solidFill>
          <a:ln w="25400">
            <a:solidFill>
              <a:srgbClr val="2A6FB0"/>
            </a:solidFill>
            <a:prstDash val="solid"/>
          </a:ln>
        </p:spPr>
      </p:sp>
      <p:sp>
        <p:nvSpPr>
          <p:cNvPr id="6" name="Text 3"/>
          <p:cNvSpPr txBox="1"/>
          <p:nvPr/>
        </p:nvSpPr>
        <p:spPr>
          <a:xfrm>
            <a:off x="777240" y="1600200"/>
            <a:ext cx="5029200" cy="502920"/>
          </a:xfrm>
          <a:prstGeom prst="rect">
            <a:avLst/>
          </a:prstGeom>
          <a:noFill/>
          <a:ln/>
        </p:spPr>
        <p:txBody>
          <a:bodyPr wrap="square" lIns="0" tIns="0" rIns="0" bIns="0" rtlCol="0" anchor="ctr"/>
          <a:lstStyle/>
          <a:p>
            <a:pPr algn="l" indent="0" marL="0">
              <a:buNone/>
            </a:pPr>
            <a:r>
              <a:rPr lang="en-US" sz="2200" b="1" dirty="0">
                <a:solidFill>
                  <a:schemeClr val="accent2"/>
                </a:solidFill>
                <a:latin typeface="+mj-lt" pitchFamily="34" charset="0"/>
                <a:ea typeface="+mj-lt" pitchFamily="34" charset="-122"/>
                <a:cs typeface="+mj-lt" pitchFamily="34" charset="-120"/>
              </a:rPr>
              <a:t>Le pont</a:t>
            </a:r>
            <a:endParaRPr lang="en-US" sz="2200" dirty="0"/>
          </a:p>
        </p:txBody>
      </p:sp>
      <p:sp>
        <p:nvSpPr>
          <p:cNvPr id="7" name="Shape 4"/>
          <p:cNvSpPr/>
          <p:nvPr/>
        </p:nvSpPr>
        <p:spPr>
          <a:xfrm>
            <a:off x="2057400" y="2606040"/>
            <a:ext cx="2468880" cy="1280160"/>
          </a:xfrm>
          <a:prstGeom prst="arc">
            <a:avLst>
              <a:gd name="adj1" fmla="val 10800000"/>
              <a:gd name="adj2" fmla="val 21600000"/>
            </a:avLst>
          </a:prstGeom>
          <a:solidFill>
            <a:srgbClr val="FFFFFF">
              <a:alpha val="0"/>
            </a:srgbClr>
          </a:solidFill>
          <a:ln w="50800">
            <a:solidFill>
              <a:srgbClr val="2A6FB0"/>
            </a:solidFill>
            <a:prstDash val="solid"/>
            <a:tailEnd type="triangle"/>
          </a:ln>
        </p:spPr>
      </p:sp>
      <p:sp>
        <p:nvSpPr>
          <p:cNvPr id="8" name="tag"/>
          <p:cNvSpPr/>
          <p:nvPr/>
        </p:nvSpPr>
        <p:spPr>
          <a:xfrm>
            <a:off x="2880360" y="2395728"/>
            <a:ext cx="941222" cy="384048"/>
          </a:xfrm>
          <a:prstGeom prst="roundRect">
            <a:avLst>
              <a:gd name="adj" fmla="val 11905"/>
            </a:avLst>
          </a:prstGeom>
          <a:solidFill>
            <a:schemeClr val="accent2"/>
          </a:solidFill>
          <a:ln/>
        </p:spPr>
        <p:txBody>
          <a:bodyPr wrap="square" lIns="0" tIns="0" rIns="0" bIns="0" rtlCol="0" anchor="ctr"/>
          <a:lstStyle/>
          <a:p>
            <a:pPr algn="ctr" indent="0" marL="0">
              <a:buNone/>
            </a:pPr>
            <a:r>
              <a:rPr lang="en-US" sz="1600" b="1" spc="100" kern="0" dirty="0">
                <a:solidFill>
                  <a:srgbClr val="FFFFFF"/>
                </a:solidFill>
              </a:rPr>
              <a:t>want</a:t>
            </a:r>
            <a:endParaRPr lang="en-US" sz="1600" dirty="0"/>
          </a:p>
        </p:txBody>
      </p:sp>
      <p:sp>
        <p:nvSpPr>
          <p:cNvPr id="9" name="Shape 6"/>
          <p:cNvSpPr/>
          <p:nvPr/>
        </p:nvSpPr>
        <p:spPr>
          <a:xfrm>
            <a:off x="777240" y="3246120"/>
            <a:ext cx="2325319" cy="685800"/>
          </a:xfrm>
          <a:prstGeom prst="roundRect">
            <a:avLst>
              <a:gd name="adj" fmla="val 10667"/>
            </a:avLst>
          </a:prstGeom>
          <a:solidFill>
            <a:schemeClr val="bg1"/>
          </a:solidFill>
          <a:ln w="15875">
            <a:solidFill>
              <a:srgbClr val="D5DCE6"/>
            </a:solidFill>
            <a:prstDash val="solid"/>
          </a:ln>
        </p:spPr>
      </p:sp>
      <p:sp>
        <p:nvSpPr>
          <p:cNvPr id="10" name="Text 7"/>
          <p:cNvSpPr txBox="1"/>
          <p:nvPr/>
        </p:nvSpPr>
        <p:spPr>
          <a:xfrm>
            <a:off x="777240" y="3246120"/>
            <a:ext cx="2325319" cy="685800"/>
          </a:xfrm>
          <a:prstGeom prst="rect">
            <a:avLst/>
          </a:prstGeom>
          <a:noFill/>
          <a:ln/>
        </p:spPr>
        <p:txBody>
          <a:bodyPr wrap="square" lIns="0" tIns="0" rIns="0" bIns="0" rtlCol="0" anchor="ctr"/>
          <a:lstStyle/>
          <a:p>
            <a:pPr algn="ctr" indent="0" marL="0">
              <a:buNone/>
            </a:pPr>
            <a:r>
              <a:rPr lang="en-US" sz="1900" dirty="0">
                <a:solidFill>
                  <a:schemeClr val="tx1"/>
                </a:solidFill>
              </a:rPr>
              <a:t>Ik blijf thuis,</a:t>
            </a:r>
            <a:endParaRPr lang="en-US" sz="1900" dirty="0"/>
          </a:p>
        </p:txBody>
      </p:sp>
      <p:sp>
        <p:nvSpPr>
          <p:cNvPr id="11" name="Shape 8"/>
          <p:cNvSpPr/>
          <p:nvPr/>
        </p:nvSpPr>
        <p:spPr>
          <a:xfrm>
            <a:off x="3611880" y="3246120"/>
            <a:ext cx="563636" cy="685800"/>
          </a:xfrm>
          <a:prstGeom prst="roundRect">
            <a:avLst>
              <a:gd name="adj" fmla="val 12979"/>
            </a:avLst>
          </a:prstGeom>
          <a:solidFill>
            <a:schemeClr val="bg1"/>
          </a:solidFill>
          <a:ln w="15875">
            <a:solidFill>
              <a:srgbClr val="D5DCE6"/>
            </a:solidFill>
            <a:prstDash val="solid"/>
          </a:ln>
        </p:spPr>
      </p:sp>
      <p:sp>
        <p:nvSpPr>
          <p:cNvPr id="12" name="Text 9"/>
          <p:cNvSpPr txBox="1"/>
          <p:nvPr/>
        </p:nvSpPr>
        <p:spPr>
          <a:xfrm>
            <a:off x="3611880" y="3246120"/>
            <a:ext cx="563636" cy="685800"/>
          </a:xfrm>
          <a:prstGeom prst="rect">
            <a:avLst/>
          </a:prstGeom>
          <a:noFill/>
          <a:ln/>
        </p:spPr>
        <p:txBody>
          <a:bodyPr wrap="square" lIns="0" tIns="0" rIns="0" bIns="0" rtlCol="0" anchor="ctr"/>
          <a:lstStyle/>
          <a:p>
            <a:pPr algn="ctr" indent="0" marL="0">
              <a:buNone/>
            </a:pPr>
            <a:r>
              <a:rPr lang="en-US" sz="1900" dirty="0">
                <a:solidFill>
                  <a:schemeClr val="tx1"/>
                </a:solidFill>
              </a:rPr>
              <a:t>ik</a:t>
            </a:r>
            <a:endParaRPr lang="en-US" sz="1900" dirty="0"/>
          </a:p>
        </p:txBody>
      </p:sp>
      <p:sp>
        <p:nvSpPr>
          <p:cNvPr id="13" name="Shape 10"/>
          <p:cNvSpPr/>
          <p:nvPr/>
        </p:nvSpPr>
        <p:spPr>
          <a:xfrm>
            <a:off x="4230380" y="3246120"/>
            <a:ext cx="699150" cy="685800"/>
          </a:xfrm>
          <a:prstGeom prst="roundRect">
            <a:avLst>
              <a:gd name="adj" fmla="val 10667"/>
            </a:avLst>
          </a:prstGeom>
          <a:solidFill>
            <a:srgbClr val="FBEDEB"/>
          </a:solidFill>
          <a:ln w="31750">
            <a:solidFill>
              <a:srgbClr val="B83227"/>
            </a:solidFill>
            <a:prstDash val="solid"/>
          </a:ln>
        </p:spPr>
      </p:sp>
      <p:sp>
        <p:nvSpPr>
          <p:cNvPr id="14" name="Text 11"/>
          <p:cNvSpPr txBox="1"/>
          <p:nvPr/>
        </p:nvSpPr>
        <p:spPr>
          <a:xfrm>
            <a:off x="4230380" y="3246120"/>
            <a:ext cx="699150" cy="685800"/>
          </a:xfrm>
          <a:prstGeom prst="rect">
            <a:avLst/>
          </a:prstGeom>
          <a:noFill/>
          <a:ln/>
        </p:spPr>
        <p:txBody>
          <a:bodyPr wrap="square" lIns="0" tIns="0" rIns="0" bIns="0" rtlCol="0" anchor="ctr"/>
          <a:lstStyle/>
          <a:p>
            <a:pPr algn="ctr" indent="0" marL="0">
              <a:buNone/>
            </a:pPr>
            <a:r>
              <a:rPr lang="en-US" sz="1900" b="1" dirty="0">
                <a:solidFill>
                  <a:schemeClr val="accent6"/>
                </a:solidFill>
              </a:rPr>
              <a:t>ben</a:t>
            </a:r>
            <a:endParaRPr lang="en-US" sz="1900" dirty="0"/>
          </a:p>
        </p:txBody>
      </p:sp>
      <p:sp>
        <p:nvSpPr>
          <p:cNvPr id="15" name="Shape 12"/>
          <p:cNvSpPr/>
          <p:nvPr/>
        </p:nvSpPr>
        <p:spPr>
          <a:xfrm>
            <a:off x="4984394" y="3246120"/>
            <a:ext cx="970178" cy="685800"/>
          </a:xfrm>
          <a:prstGeom prst="roundRect">
            <a:avLst>
              <a:gd name="adj" fmla="val 10667"/>
            </a:avLst>
          </a:prstGeom>
          <a:solidFill>
            <a:schemeClr val="bg1"/>
          </a:solidFill>
          <a:ln w="15875">
            <a:solidFill>
              <a:srgbClr val="D5DCE6"/>
            </a:solidFill>
            <a:prstDash val="solid"/>
          </a:ln>
        </p:spPr>
      </p:sp>
      <p:sp>
        <p:nvSpPr>
          <p:cNvPr id="16" name="Text 13"/>
          <p:cNvSpPr txBox="1"/>
          <p:nvPr/>
        </p:nvSpPr>
        <p:spPr>
          <a:xfrm>
            <a:off x="4984394" y="3246120"/>
            <a:ext cx="970178" cy="685800"/>
          </a:xfrm>
          <a:prstGeom prst="rect">
            <a:avLst/>
          </a:prstGeom>
          <a:noFill/>
          <a:ln/>
        </p:spPr>
        <p:txBody>
          <a:bodyPr wrap="square" lIns="0" tIns="0" rIns="0" bIns="0" rtlCol="0" anchor="ctr"/>
          <a:lstStyle/>
          <a:p>
            <a:pPr algn="ctr" indent="0" marL="0">
              <a:buNone/>
            </a:pPr>
            <a:r>
              <a:rPr lang="en-US" sz="1900" dirty="0">
                <a:solidFill>
                  <a:schemeClr val="tx1"/>
                </a:solidFill>
              </a:rPr>
              <a:t>ziek.</a:t>
            </a:r>
            <a:endParaRPr lang="en-US" sz="1900" dirty="0"/>
          </a:p>
        </p:txBody>
      </p:sp>
      <p:sp>
        <p:nvSpPr>
          <p:cNvPr id="17" name="Text 14"/>
          <p:cNvSpPr txBox="1"/>
          <p:nvPr/>
        </p:nvSpPr>
        <p:spPr>
          <a:xfrm>
            <a:off x="777240" y="4160520"/>
            <a:ext cx="5029200" cy="411480"/>
          </a:xfrm>
          <a:prstGeom prst="rect">
            <a:avLst/>
          </a:prstGeom>
          <a:noFill/>
          <a:ln/>
        </p:spPr>
        <p:txBody>
          <a:bodyPr wrap="square" lIns="0" tIns="0" rIns="0" bIns="0" rtlCol="0" anchor="t"/>
          <a:lstStyle/>
          <a:p>
            <a:pPr algn="ctr" indent="0" marL="0">
              <a:buNone/>
            </a:pPr>
            <a:r>
              <a:rPr lang="en-US" sz="1700" dirty="0">
                <a:solidFill>
                  <a:schemeClr val="tx2"/>
                </a:solidFill>
              </a:rPr>
              <a:t>deux phrases complètes : </a:t>
            </a:r>
            <a:r>
              <a:rPr lang="en-US" sz="1700" b="1" dirty="0">
                <a:solidFill>
                  <a:schemeClr val="tx2"/>
                </a:solidFill>
              </a:rPr>
              <a:t>rien ne bouge</a:t>
            </a:r>
            <a:endParaRPr lang="en-US" sz="1700" dirty="0"/>
          </a:p>
        </p:txBody>
      </p:sp>
      <p:sp>
        <p:nvSpPr>
          <p:cNvPr id="18" name="Shape 15"/>
          <p:cNvSpPr/>
          <p:nvPr/>
        </p:nvSpPr>
        <p:spPr>
          <a:xfrm>
            <a:off x="6199632" y="1554480"/>
            <a:ext cx="5440680" cy="3566160"/>
          </a:xfrm>
          <a:prstGeom prst="roundRect">
            <a:avLst>
              <a:gd name="adj" fmla="val 2051"/>
            </a:avLst>
          </a:prstGeom>
          <a:solidFill>
            <a:schemeClr val="accent1">
              <a:alpha val="8000"/>
            </a:schemeClr>
          </a:solidFill>
          <a:ln w="25400">
            <a:solidFill>
              <a:srgbClr val="D9700F"/>
            </a:solidFill>
            <a:prstDash val="solid"/>
          </a:ln>
        </p:spPr>
      </p:sp>
      <p:sp>
        <p:nvSpPr>
          <p:cNvPr id="19" name="Text 16"/>
          <p:cNvSpPr txBox="1"/>
          <p:nvPr/>
        </p:nvSpPr>
        <p:spPr>
          <a:xfrm>
            <a:off x="6400800" y="1600200"/>
            <a:ext cx="5029200" cy="502920"/>
          </a:xfrm>
          <a:prstGeom prst="rect">
            <a:avLst/>
          </a:prstGeom>
          <a:noFill/>
          <a:ln/>
        </p:spPr>
        <p:txBody>
          <a:bodyPr wrap="square" lIns="0" tIns="0" rIns="0" bIns="0" rtlCol="0" anchor="ctr"/>
          <a:lstStyle/>
          <a:p>
            <a:pPr algn="l" indent="0" marL="0">
              <a:buNone/>
            </a:pPr>
            <a:r>
              <a:rPr lang="en-US" sz="2200" b="1" dirty="0">
                <a:solidFill>
                  <a:schemeClr val="accent1"/>
                </a:solidFill>
                <a:latin typeface="+mj-lt" pitchFamily="34" charset="0"/>
                <a:ea typeface="+mj-lt" pitchFamily="34" charset="-122"/>
                <a:cs typeface="+mj-lt" pitchFamily="34" charset="-120"/>
              </a:rPr>
              <a:t>Le wagon accroché</a:t>
            </a:r>
            <a:endParaRPr lang="en-US" sz="2200" dirty="0"/>
          </a:p>
        </p:txBody>
      </p:sp>
      <p:sp>
        <p:nvSpPr>
          <p:cNvPr id="20" name="Shape 17"/>
          <p:cNvSpPr/>
          <p:nvPr/>
        </p:nvSpPr>
        <p:spPr>
          <a:xfrm>
            <a:off x="6400800" y="3246120"/>
            <a:ext cx="2189805" cy="685800"/>
          </a:xfrm>
          <a:prstGeom prst="roundRect">
            <a:avLst>
              <a:gd name="adj" fmla="val 10667"/>
            </a:avLst>
          </a:prstGeom>
          <a:solidFill>
            <a:schemeClr val="bg1"/>
          </a:solidFill>
          <a:ln w="15875">
            <a:solidFill>
              <a:srgbClr val="D5DCE6"/>
            </a:solidFill>
            <a:prstDash val="solid"/>
          </a:ln>
        </p:spPr>
      </p:sp>
      <p:sp>
        <p:nvSpPr>
          <p:cNvPr id="21" name="Text 18"/>
          <p:cNvSpPr txBox="1"/>
          <p:nvPr/>
        </p:nvSpPr>
        <p:spPr>
          <a:xfrm>
            <a:off x="6400800" y="3246120"/>
            <a:ext cx="2189805" cy="685800"/>
          </a:xfrm>
          <a:prstGeom prst="rect">
            <a:avLst/>
          </a:prstGeom>
          <a:noFill/>
          <a:ln/>
        </p:spPr>
        <p:txBody>
          <a:bodyPr wrap="square" lIns="0" tIns="0" rIns="0" bIns="0" rtlCol="0" anchor="ctr"/>
          <a:lstStyle/>
          <a:p>
            <a:pPr algn="ctr" indent="0" marL="0">
              <a:buNone/>
            </a:pPr>
            <a:r>
              <a:rPr lang="en-US" sz="1900" dirty="0">
                <a:solidFill>
                  <a:schemeClr val="tx1"/>
                </a:solidFill>
              </a:rPr>
              <a:t>Ik blijf thuis</a:t>
            </a:r>
            <a:endParaRPr lang="en-US" sz="1900" dirty="0"/>
          </a:p>
        </p:txBody>
      </p:sp>
      <p:sp>
        <p:nvSpPr>
          <p:cNvPr id="22" name="tag"/>
          <p:cNvSpPr/>
          <p:nvPr/>
        </p:nvSpPr>
        <p:spPr>
          <a:xfrm>
            <a:off x="8275320" y="2514600"/>
            <a:ext cx="1085088"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600" b="1" spc="100" kern="0" dirty="0">
                <a:solidFill>
                  <a:srgbClr val="FFFFFF"/>
                </a:solidFill>
              </a:rPr>
              <a:t>omdat</a:t>
            </a:r>
            <a:endParaRPr lang="en-US" sz="1600" dirty="0"/>
          </a:p>
        </p:txBody>
      </p:sp>
      <p:sp>
        <p:nvSpPr>
          <p:cNvPr id="23" name="Shape 20"/>
          <p:cNvSpPr/>
          <p:nvPr/>
        </p:nvSpPr>
        <p:spPr>
          <a:xfrm>
            <a:off x="8796528" y="2898648"/>
            <a:ext cx="914" cy="301752"/>
          </a:xfrm>
          <a:prstGeom prst="line">
            <a:avLst/>
          </a:prstGeom>
          <a:noFill/>
          <a:ln w="31750">
            <a:solidFill>
              <a:srgbClr val="D9700F"/>
            </a:solidFill>
            <a:prstDash val="solid"/>
            <a:tailEnd type="triangle"/>
          </a:ln>
        </p:spPr>
      </p:sp>
      <p:sp>
        <p:nvSpPr>
          <p:cNvPr id="24" name="Shape 21"/>
          <p:cNvSpPr/>
          <p:nvPr/>
        </p:nvSpPr>
        <p:spPr>
          <a:xfrm>
            <a:off x="8686800" y="3246120"/>
            <a:ext cx="563636" cy="685800"/>
          </a:xfrm>
          <a:prstGeom prst="roundRect">
            <a:avLst>
              <a:gd name="adj" fmla="val 12979"/>
            </a:avLst>
          </a:prstGeom>
          <a:solidFill>
            <a:schemeClr val="bg1"/>
          </a:solidFill>
          <a:ln w="15875">
            <a:solidFill>
              <a:srgbClr val="D5DCE6"/>
            </a:solidFill>
            <a:prstDash val="solid"/>
          </a:ln>
        </p:spPr>
      </p:sp>
      <p:sp>
        <p:nvSpPr>
          <p:cNvPr id="25" name="Text 22"/>
          <p:cNvSpPr txBox="1"/>
          <p:nvPr/>
        </p:nvSpPr>
        <p:spPr>
          <a:xfrm>
            <a:off x="8686800" y="3246120"/>
            <a:ext cx="563636" cy="685800"/>
          </a:xfrm>
          <a:prstGeom prst="rect">
            <a:avLst/>
          </a:prstGeom>
          <a:noFill/>
          <a:ln/>
        </p:spPr>
        <p:txBody>
          <a:bodyPr wrap="square" lIns="0" tIns="0" rIns="0" bIns="0" rtlCol="0" anchor="ctr"/>
          <a:lstStyle/>
          <a:p>
            <a:pPr algn="ctr" indent="0" marL="0">
              <a:buNone/>
            </a:pPr>
            <a:r>
              <a:rPr lang="en-US" sz="1900" dirty="0">
                <a:solidFill>
                  <a:schemeClr val="tx1"/>
                </a:solidFill>
              </a:rPr>
              <a:t>ik</a:t>
            </a:r>
            <a:endParaRPr lang="en-US" sz="1900" dirty="0"/>
          </a:p>
        </p:txBody>
      </p:sp>
      <p:sp>
        <p:nvSpPr>
          <p:cNvPr id="26" name="Shape 23"/>
          <p:cNvSpPr/>
          <p:nvPr/>
        </p:nvSpPr>
        <p:spPr>
          <a:xfrm>
            <a:off x="9305300" y="3246120"/>
            <a:ext cx="834664" cy="685800"/>
          </a:xfrm>
          <a:prstGeom prst="roundRect">
            <a:avLst>
              <a:gd name="adj" fmla="val 10667"/>
            </a:avLst>
          </a:prstGeom>
          <a:solidFill>
            <a:schemeClr val="bg1"/>
          </a:solidFill>
          <a:ln w="15875">
            <a:solidFill>
              <a:srgbClr val="D5DCE6"/>
            </a:solidFill>
            <a:prstDash val="solid"/>
          </a:ln>
        </p:spPr>
      </p:sp>
      <p:sp>
        <p:nvSpPr>
          <p:cNvPr id="27" name="Text 24"/>
          <p:cNvSpPr txBox="1"/>
          <p:nvPr/>
        </p:nvSpPr>
        <p:spPr>
          <a:xfrm>
            <a:off x="9305300" y="3246120"/>
            <a:ext cx="834664" cy="685800"/>
          </a:xfrm>
          <a:prstGeom prst="rect">
            <a:avLst/>
          </a:prstGeom>
          <a:noFill/>
          <a:ln/>
        </p:spPr>
        <p:txBody>
          <a:bodyPr wrap="square" lIns="0" tIns="0" rIns="0" bIns="0" rtlCol="0" anchor="ctr"/>
          <a:lstStyle/>
          <a:p>
            <a:pPr algn="ctr" indent="0" marL="0">
              <a:buNone/>
            </a:pPr>
            <a:r>
              <a:rPr lang="en-US" sz="1900" dirty="0">
                <a:solidFill>
                  <a:schemeClr val="tx1"/>
                </a:solidFill>
              </a:rPr>
              <a:t>ziek</a:t>
            </a:r>
            <a:endParaRPr lang="en-US" sz="1900" dirty="0"/>
          </a:p>
        </p:txBody>
      </p:sp>
      <p:sp>
        <p:nvSpPr>
          <p:cNvPr id="28" name="Shape 25"/>
          <p:cNvSpPr/>
          <p:nvPr/>
        </p:nvSpPr>
        <p:spPr>
          <a:xfrm>
            <a:off x="10194828" y="3246120"/>
            <a:ext cx="699150" cy="685800"/>
          </a:xfrm>
          <a:prstGeom prst="roundRect">
            <a:avLst>
              <a:gd name="adj" fmla="val 10667"/>
            </a:avLst>
          </a:prstGeom>
          <a:solidFill>
            <a:srgbClr val="FBEDEB"/>
          </a:solidFill>
          <a:ln w="31750">
            <a:solidFill>
              <a:srgbClr val="B83227"/>
            </a:solidFill>
            <a:prstDash val="solid"/>
          </a:ln>
        </p:spPr>
      </p:sp>
      <p:sp>
        <p:nvSpPr>
          <p:cNvPr id="29" name="Text 26"/>
          <p:cNvSpPr txBox="1"/>
          <p:nvPr/>
        </p:nvSpPr>
        <p:spPr>
          <a:xfrm>
            <a:off x="10194828" y="3246120"/>
            <a:ext cx="699150" cy="685800"/>
          </a:xfrm>
          <a:prstGeom prst="rect">
            <a:avLst/>
          </a:prstGeom>
          <a:noFill/>
          <a:ln/>
        </p:spPr>
        <p:txBody>
          <a:bodyPr wrap="square" lIns="0" tIns="0" rIns="0" bIns="0" rtlCol="0" anchor="ctr"/>
          <a:lstStyle/>
          <a:p>
            <a:pPr algn="ctr" indent="0" marL="0">
              <a:buNone/>
            </a:pPr>
            <a:r>
              <a:rPr lang="en-US" sz="1900" b="1" dirty="0">
                <a:solidFill>
                  <a:schemeClr val="accent6"/>
                </a:solidFill>
              </a:rPr>
              <a:t>ben</a:t>
            </a:r>
            <a:endParaRPr lang="en-US" sz="1900" dirty="0"/>
          </a:p>
        </p:txBody>
      </p:sp>
      <p:sp>
        <p:nvSpPr>
          <p:cNvPr id="30" name="Shape 27"/>
          <p:cNvSpPr/>
          <p:nvPr/>
        </p:nvSpPr>
        <p:spPr>
          <a:xfrm>
            <a:off x="9372600" y="2926080"/>
            <a:ext cx="1201339" cy="640080"/>
          </a:xfrm>
          <a:prstGeom prst="arc">
            <a:avLst>
              <a:gd name="adj1" fmla="val 10800000"/>
              <a:gd name="adj2" fmla="val 21600000"/>
            </a:avLst>
          </a:prstGeom>
          <a:solidFill>
            <a:srgbClr val="FFFFFF">
              <a:alpha val="0"/>
            </a:srgbClr>
          </a:solidFill>
          <a:ln w="31750">
            <a:solidFill>
              <a:srgbClr val="B83227"/>
            </a:solidFill>
            <a:prstDash val="solid"/>
            <a:tailEnd type="triangle"/>
          </a:ln>
        </p:spPr>
      </p:sp>
      <p:sp>
        <p:nvSpPr>
          <p:cNvPr id="31" name="Text 28"/>
          <p:cNvSpPr txBox="1"/>
          <p:nvPr/>
        </p:nvSpPr>
        <p:spPr>
          <a:xfrm>
            <a:off x="6400800" y="4160520"/>
            <a:ext cx="5029200" cy="411480"/>
          </a:xfrm>
          <a:prstGeom prst="rect">
            <a:avLst/>
          </a:prstGeom>
          <a:noFill/>
          <a:ln/>
        </p:spPr>
        <p:txBody>
          <a:bodyPr wrap="square" lIns="0" tIns="0" rIns="0" bIns="0" rtlCol="0" anchor="t"/>
          <a:lstStyle/>
          <a:p>
            <a:pPr algn="ctr" indent="0" marL="0">
              <a:buNone/>
            </a:pPr>
            <a:r>
              <a:rPr lang="en-US" sz="1700" dirty="0">
                <a:solidFill>
                  <a:schemeClr val="tx2"/>
                </a:solidFill>
              </a:rPr>
              <a:t>principale + subordonnée : </a:t>
            </a:r>
            <a:r>
              <a:rPr lang="en-US" sz="1700" b="1" dirty="0">
                <a:solidFill>
                  <a:schemeClr val="tx2"/>
                </a:solidFill>
              </a:rPr>
              <a:t>verbe à la fin</a:t>
            </a:r>
            <a:endParaRPr lang="en-US" sz="1700" dirty="0"/>
          </a:p>
        </p:txBody>
      </p:sp>
      <p:sp>
        <p:nvSpPr>
          <p:cNvPr id="32" name="Shape 29"/>
          <p:cNvSpPr/>
          <p:nvPr/>
        </p:nvSpPr>
        <p:spPr>
          <a:xfrm>
            <a:off x="548640" y="5349240"/>
            <a:ext cx="11091672" cy="640080"/>
          </a:xfrm>
          <a:prstGeom prst="roundRect">
            <a:avLst>
              <a:gd name="adj" fmla="val 11429"/>
            </a:avLst>
          </a:prstGeom>
          <a:solidFill>
            <a:schemeClr val="tx2"/>
          </a:solidFill>
          <a:ln w="12700">
            <a:solidFill>
              <a:srgbClr val="FFFFFF">
                <a:alpha val="0"/>
              </a:srgbClr>
            </a:solidFill>
            <a:prstDash val="solid"/>
          </a:ln>
        </p:spPr>
      </p:sp>
      <p:sp>
        <p:nvSpPr>
          <p:cNvPr id="33" name="Text 30"/>
          <p:cNvSpPr txBox="1"/>
          <p:nvPr/>
        </p:nvSpPr>
        <p:spPr>
          <a:xfrm>
            <a:off x="822960" y="5349240"/>
            <a:ext cx="10607040" cy="640080"/>
          </a:xfrm>
          <a:prstGeom prst="rect">
            <a:avLst/>
          </a:prstGeom>
          <a:noFill/>
          <a:ln/>
        </p:spPr>
        <p:txBody>
          <a:bodyPr wrap="square" lIns="0" tIns="0" rIns="0" bIns="0" rtlCol="0" anchor="ctr"/>
          <a:lstStyle/>
          <a:p>
            <a:pPr algn="l" indent="0" marL="0">
              <a:buNone/>
            </a:pPr>
            <a:r>
              <a:rPr lang="en-US" sz="1900" dirty="0">
                <a:solidFill>
                  <a:schemeClr val="bg1"/>
                </a:solidFill>
              </a:rPr>
              <a:t>Même sens : « Je reste à la maison </a:t>
            </a:r>
            <a:r>
              <a:rPr lang="en-US" sz="1900" b="1" dirty="0">
                <a:solidFill>
                  <a:schemeClr val="bg1"/>
                </a:solidFill>
              </a:rPr>
              <a:t>parce que</a:t>
            </a:r>
            <a:r>
              <a:rPr lang="en-US" sz="1900" dirty="0">
                <a:solidFill>
                  <a:schemeClr val="bg1"/>
                </a:solidFill>
              </a:rPr>
              <a:t> je suis malade. »</a:t>
            </a:r>
            <a:endParaRPr lang="en-US" sz="1900" dirty="0"/>
          </a:p>
        </p:txBody>
      </p:sp>
      <p:sp>
        <p:nvSpPr>
          <p:cNvPr id="34" name="Text 31"/>
          <p:cNvSpPr txBox="1"/>
          <p:nvPr/>
        </p:nvSpPr>
        <p:spPr>
          <a:xfrm>
            <a:off x="548640" y="6035040"/>
            <a:ext cx="11091672" cy="274320"/>
          </a:xfrm>
          <a:prstGeom prst="rect">
            <a:avLst/>
          </a:prstGeom>
          <a:noFill/>
          <a:ln/>
        </p:spPr>
        <p:txBody>
          <a:bodyPr wrap="square" lIns="0" tIns="0" rIns="0" bIns="0" rtlCol="0" anchor="t"/>
          <a:lstStyle/>
          <a:p>
            <a:pPr algn="ctr" indent="0" marL="0">
              <a:buNone/>
            </a:pPr>
            <a:r>
              <a:rPr lang="en-US" sz="1400" i="1" dirty="0">
                <a:solidFill>
                  <a:schemeClr val="accent5"/>
                </a:solidFill>
              </a:rPr>
              <a:t>hoofdzin</a:t>
            </a:r>
            <a:r>
              <a:rPr lang="en-US" sz="1400" i="1" dirty="0">
                <a:solidFill>
                  <a:schemeClr val="accent5"/>
                </a:solidFill>
              </a:rPr>
              <a:t> = proposition principale · </a:t>
            </a:r>
            <a:r>
              <a:rPr lang="en-US" sz="1400" i="1" dirty="0">
                <a:solidFill>
                  <a:schemeClr val="accent5"/>
                </a:solidFill>
              </a:rPr>
              <a:t>bijzin</a:t>
            </a:r>
            <a:r>
              <a:rPr lang="en-US" sz="1400" i="1" dirty="0">
                <a:solidFill>
                  <a:schemeClr val="accent5"/>
                </a:solidFill>
              </a:rPr>
              <a:t> = subordonnée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5 mots-ponts : rien ne bouge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2072030" cy="3931920"/>
          </a:xfrm>
          <a:prstGeom prst="roundRect">
            <a:avLst>
              <a:gd name="adj" fmla="val 3530"/>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2072030" cy="1234440"/>
          </a:xfrm>
          <a:prstGeom prst="roundRect">
            <a:avLst>
              <a:gd name="adj" fmla="val 5926"/>
            </a:avLst>
          </a:prstGeom>
          <a:solidFill>
            <a:schemeClr val="accent2"/>
          </a:solidFill>
          <a:ln w="12700">
            <a:solidFill>
              <a:srgbClr val="FFFFFF">
                <a:alpha val="0"/>
              </a:srgbClr>
            </a:solidFill>
            <a:prstDash val="solid"/>
          </a:ln>
        </p:spPr>
      </p:sp>
      <p:sp>
        <p:nvSpPr>
          <p:cNvPr id="7" name="Text 4"/>
          <p:cNvSpPr txBox="1"/>
          <p:nvPr/>
        </p:nvSpPr>
        <p:spPr>
          <a:xfrm>
            <a:off x="548640" y="1572768"/>
            <a:ext cx="2072030" cy="777240"/>
          </a:xfrm>
          <a:prstGeom prst="rect">
            <a:avLst/>
          </a:prstGeom>
          <a:noFill/>
          <a:ln/>
        </p:spPr>
        <p:txBody>
          <a:bodyPr wrap="square" lIns="0" tIns="0" rIns="0" bIns="0" rtlCol="0" anchor="ctr"/>
          <a:lstStyle/>
          <a:p>
            <a:pPr algn="ctr" indent="0" marL="0">
              <a:buNone/>
            </a:pPr>
            <a:r>
              <a:rPr lang="en-US" sz="3800" b="1" dirty="0">
                <a:solidFill>
                  <a:schemeClr val="bg1"/>
                </a:solidFill>
                <a:latin typeface="+mj-lt" pitchFamily="34" charset="0"/>
                <a:ea typeface="+mj-lt" pitchFamily="34" charset="-122"/>
                <a:cs typeface="+mj-lt" pitchFamily="34" charset="-120"/>
              </a:rPr>
              <a:t>en</a:t>
            </a:r>
            <a:endParaRPr lang="en-US" sz="3800" dirty="0"/>
          </a:p>
        </p:txBody>
      </p:sp>
      <p:sp>
        <p:nvSpPr>
          <p:cNvPr id="8" name="Text 5"/>
          <p:cNvSpPr txBox="1"/>
          <p:nvPr/>
        </p:nvSpPr>
        <p:spPr>
          <a:xfrm>
            <a:off x="548640" y="2286000"/>
            <a:ext cx="2072030" cy="411480"/>
          </a:xfrm>
          <a:prstGeom prst="rect">
            <a:avLst/>
          </a:prstGeom>
          <a:noFill/>
          <a:ln/>
        </p:spPr>
        <p:txBody>
          <a:bodyPr wrap="square" lIns="0" tIns="0" rIns="0" bIns="0" rtlCol="0" anchor="ctr"/>
          <a:lstStyle/>
          <a:p>
            <a:pPr algn="ctr" indent="0" marL="0">
              <a:buNone/>
            </a:pPr>
            <a:r>
              <a:rPr lang="en-US" sz="1700" i="1" dirty="0">
                <a:solidFill>
                  <a:schemeClr val="bg1"/>
                </a:solidFill>
              </a:rPr>
              <a:t>et</a:t>
            </a:r>
            <a:endParaRPr lang="en-US" sz="1700" dirty="0"/>
          </a:p>
        </p:txBody>
      </p:sp>
      <p:sp>
        <p:nvSpPr>
          <p:cNvPr id="9" name="Text 6"/>
          <p:cNvSpPr txBox="1"/>
          <p:nvPr/>
        </p:nvSpPr>
        <p:spPr>
          <a:xfrm>
            <a:off x="685800" y="2926080"/>
            <a:ext cx="1797710" cy="2423160"/>
          </a:xfrm>
          <a:prstGeom prst="rect">
            <a:avLst/>
          </a:prstGeom>
          <a:noFill/>
          <a:ln/>
        </p:spPr>
        <p:txBody>
          <a:bodyPr wrap="square" lIns="0" tIns="0" rIns="0" bIns="0" rtlCol="0" anchor="t"/>
          <a:lstStyle/>
          <a:p>
            <a:pPr algn="l" indent="0" marL="0">
              <a:buNone/>
            </a:pPr>
            <a:r>
              <a:rPr lang="en-US" sz="1700" i="1" dirty="0">
                <a:solidFill>
                  <a:schemeClr val="tx1"/>
                </a:solidFill>
              </a:rPr>
              <a:t>Karim </a:t>
            </a:r>
            <a:r>
              <a:rPr lang="en-US" sz="1700" b="1" i="1" dirty="0">
                <a:solidFill>
                  <a:schemeClr val="accent6"/>
                </a:solidFill>
              </a:rPr>
              <a:t>werkt</a:t>
            </a:r>
            <a:r>
              <a:rPr lang="en-US" sz="1700" i="1" dirty="0">
                <a:solidFill>
                  <a:schemeClr val="tx1"/>
                </a:solidFill>
              </a:rPr>
              <a:t> in Brussel </a:t>
            </a:r>
            <a:r>
              <a:rPr lang="en-US" sz="1700" b="1" i="1" dirty="0">
                <a:solidFill>
                  <a:schemeClr val="tx1"/>
                </a:solidFill>
              </a:rPr>
              <a:t>en</a:t>
            </a:r>
            <a:r>
              <a:rPr lang="en-US" sz="1700" i="1" dirty="0">
                <a:solidFill>
                  <a:schemeClr val="tx1"/>
                </a:solidFill>
              </a:rPr>
              <a:t> Sofie </a:t>
            </a:r>
            <a:r>
              <a:rPr lang="en-US" sz="1700" b="1" i="1" dirty="0">
                <a:solidFill>
                  <a:schemeClr val="accent6"/>
                </a:solidFill>
              </a:rPr>
              <a:t>woont</a:t>
            </a:r>
            <a:r>
              <a:rPr lang="en-US" sz="1700" i="1" dirty="0">
                <a:solidFill>
                  <a:schemeClr val="tx1"/>
                </a:solidFill>
              </a:rPr>
              <a:t> in Gent.</a:t>
            </a:r>
            <a:endParaRPr lang="en-US" sz="1700" dirty="0"/>
          </a:p>
        </p:txBody>
      </p:sp>
      <p:sp>
        <p:nvSpPr>
          <p:cNvPr id="10" name="Shape 7"/>
          <p:cNvSpPr/>
          <p:nvPr/>
        </p:nvSpPr>
        <p:spPr>
          <a:xfrm>
            <a:off x="2803550" y="1554480"/>
            <a:ext cx="2072030" cy="3931920"/>
          </a:xfrm>
          <a:prstGeom prst="roundRect">
            <a:avLst>
              <a:gd name="adj" fmla="val 3530"/>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2803550" y="1554480"/>
            <a:ext cx="2072030" cy="1234440"/>
          </a:xfrm>
          <a:prstGeom prst="roundRect">
            <a:avLst>
              <a:gd name="adj" fmla="val 5926"/>
            </a:avLst>
          </a:prstGeom>
          <a:solidFill>
            <a:schemeClr val="accent2"/>
          </a:solidFill>
          <a:ln w="12700">
            <a:solidFill>
              <a:srgbClr val="FFFFFF">
                <a:alpha val="0"/>
              </a:srgbClr>
            </a:solidFill>
            <a:prstDash val="solid"/>
          </a:ln>
        </p:spPr>
      </p:sp>
      <p:sp>
        <p:nvSpPr>
          <p:cNvPr id="12" name="Text 9"/>
          <p:cNvSpPr txBox="1"/>
          <p:nvPr/>
        </p:nvSpPr>
        <p:spPr>
          <a:xfrm>
            <a:off x="2803550" y="1572768"/>
            <a:ext cx="2072030" cy="777240"/>
          </a:xfrm>
          <a:prstGeom prst="rect">
            <a:avLst/>
          </a:prstGeom>
          <a:noFill/>
          <a:ln/>
        </p:spPr>
        <p:txBody>
          <a:bodyPr wrap="square" lIns="0" tIns="0" rIns="0" bIns="0" rtlCol="0" anchor="ctr"/>
          <a:lstStyle/>
          <a:p>
            <a:pPr algn="ctr" indent="0" marL="0">
              <a:buNone/>
            </a:pPr>
            <a:r>
              <a:rPr lang="en-US" sz="3800" b="1" dirty="0">
                <a:solidFill>
                  <a:schemeClr val="bg1"/>
                </a:solidFill>
                <a:latin typeface="+mj-lt" pitchFamily="34" charset="0"/>
                <a:ea typeface="+mj-lt" pitchFamily="34" charset="-122"/>
                <a:cs typeface="+mj-lt" pitchFamily="34" charset="-120"/>
              </a:rPr>
              <a:t>maar</a:t>
            </a:r>
            <a:endParaRPr lang="en-US" sz="3800" dirty="0"/>
          </a:p>
        </p:txBody>
      </p:sp>
      <p:sp>
        <p:nvSpPr>
          <p:cNvPr id="13" name="Text 10"/>
          <p:cNvSpPr txBox="1"/>
          <p:nvPr/>
        </p:nvSpPr>
        <p:spPr>
          <a:xfrm>
            <a:off x="2803550" y="2286000"/>
            <a:ext cx="2072030" cy="411480"/>
          </a:xfrm>
          <a:prstGeom prst="rect">
            <a:avLst/>
          </a:prstGeom>
          <a:noFill/>
          <a:ln/>
        </p:spPr>
        <p:txBody>
          <a:bodyPr wrap="square" lIns="0" tIns="0" rIns="0" bIns="0" rtlCol="0" anchor="ctr"/>
          <a:lstStyle/>
          <a:p>
            <a:pPr algn="ctr" indent="0" marL="0">
              <a:buNone/>
            </a:pPr>
            <a:r>
              <a:rPr lang="en-US" sz="1700" i="1" dirty="0">
                <a:solidFill>
                  <a:schemeClr val="bg1"/>
                </a:solidFill>
              </a:rPr>
              <a:t>mais</a:t>
            </a:r>
            <a:endParaRPr lang="en-US" sz="1700" dirty="0"/>
          </a:p>
        </p:txBody>
      </p:sp>
      <p:sp>
        <p:nvSpPr>
          <p:cNvPr id="14" name="Text 11"/>
          <p:cNvSpPr txBox="1"/>
          <p:nvPr/>
        </p:nvSpPr>
        <p:spPr>
          <a:xfrm>
            <a:off x="2940710" y="2926080"/>
            <a:ext cx="1797710" cy="2423160"/>
          </a:xfrm>
          <a:prstGeom prst="rect">
            <a:avLst/>
          </a:prstGeom>
          <a:noFill/>
          <a:ln/>
        </p:spPr>
        <p:txBody>
          <a:bodyPr wrap="square" lIns="0" tIns="0" rIns="0" bIns="0" rtlCol="0" anchor="t"/>
          <a:lstStyle/>
          <a:p>
            <a:pPr algn="l" indent="0" marL="0">
              <a:buNone/>
            </a:pPr>
            <a:r>
              <a:rPr lang="en-US" sz="1700" i="1" dirty="0">
                <a:solidFill>
                  <a:schemeClr val="tx1"/>
                </a:solidFill>
              </a:rPr>
              <a:t>Ik </a:t>
            </a:r>
            <a:r>
              <a:rPr lang="en-US" sz="1700" b="1" i="1" dirty="0">
                <a:solidFill>
                  <a:schemeClr val="accent6"/>
                </a:solidFill>
              </a:rPr>
              <a:t>spreek</a:t>
            </a:r>
            <a:r>
              <a:rPr lang="en-US" sz="1700" i="1" dirty="0">
                <a:solidFill>
                  <a:schemeClr val="tx1"/>
                </a:solidFill>
              </a:rPr>
              <a:t> Frans, </a:t>
            </a:r>
            <a:r>
              <a:rPr lang="en-US" sz="1700" b="1" i="1" dirty="0">
                <a:solidFill>
                  <a:schemeClr val="tx1"/>
                </a:solidFill>
              </a:rPr>
              <a:t>maar</a:t>
            </a:r>
            <a:r>
              <a:rPr lang="en-US" sz="1700" i="1" dirty="0">
                <a:solidFill>
                  <a:schemeClr val="tx1"/>
                </a:solidFill>
              </a:rPr>
              <a:t> ik </a:t>
            </a:r>
            <a:r>
              <a:rPr lang="en-US" sz="1700" b="1" i="1" dirty="0">
                <a:solidFill>
                  <a:schemeClr val="accent6"/>
                </a:solidFill>
              </a:rPr>
              <a:t>leer</a:t>
            </a:r>
            <a:r>
              <a:rPr lang="en-US" sz="1700" i="1" dirty="0">
                <a:solidFill>
                  <a:schemeClr val="tx1"/>
                </a:solidFill>
              </a:rPr>
              <a:t> Nederlands.</a:t>
            </a:r>
            <a:endParaRPr lang="en-US" sz="1700" dirty="0"/>
          </a:p>
        </p:txBody>
      </p:sp>
      <p:sp>
        <p:nvSpPr>
          <p:cNvPr id="15" name="Shape 12"/>
          <p:cNvSpPr/>
          <p:nvPr/>
        </p:nvSpPr>
        <p:spPr>
          <a:xfrm>
            <a:off x="5058461" y="1554480"/>
            <a:ext cx="2072030" cy="3931920"/>
          </a:xfrm>
          <a:prstGeom prst="roundRect">
            <a:avLst>
              <a:gd name="adj" fmla="val 3530"/>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5058461" y="1554480"/>
            <a:ext cx="2072030" cy="1234440"/>
          </a:xfrm>
          <a:prstGeom prst="roundRect">
            <a:avLst>
              <a:gd name="adj" fmla="val 5926"/>
            </a:avLst>
          </a:prstGeom>
          <a:solidFill>
            <a:schemeClr val="accent2"/>
          </a:solidFill>
          <a:ln w="12700">
            <a:solidFill>
              <a:srgbClr val="FFFFFF">
                <a:alpha val="0"/>
              </a:srgbClr>
            </a:solidFill>
            <a:prstDash val="solid"/>
          </a:ln>
        </p:spPr>
      </p:sp>
      <p:sp>
        <p:nvSpPr>
          <p:cNvPr id="17" name="Text 14"/>
          <p:cNvSpPr txBox="1"/>
          <p:nvPr/>
        </p:nvSpPr>
        <p:spPr>
          <a:xfrm>
            <a:off x="5058461" y="1572768"/>
            <a:ext cx="2072030" cy="777240"/>
          </a:xfrm>
          <a:prstGeom prst="rect">
            <a:avLst/>
          </a:prstGeom>
          <a:noFill/>
          <a:ln/>
        </p:spPr>
        <p:txBody>
          <a:bodyPr wrap="square" lIns="0" tIns="0" rIns="0" bIns="0" rtlCol="0" anchor="ctr"/>
          <a:lstStyle/>
          <a:p>
            <a:pPr algn="ctr" indent="0" marL="0">
              <a:buNone/>
            </a:pPr>
            <a:r>
              <a:rPr lang="en-US" sz="3800" b="1" dirty="0">
                <a:solidFill>
                  <a:schemeClr val="bg1"/>
                </a:solidFill>
                <a:latin typeface="+mj-lt" pitchFamily="34" charset="0"/>
                <a:ea typeface="+mj-lt" pitchFamily="34" charset="-122"/>
                <a:cs typeface="+mj-lt" pitchFamily="34" charset="-120"/>
              </a:rPr>
              <a:t>want</a:t>
            </a:r>
            <a:endParaRPr lang="en-US" sz="3800" dirty="0"/>
          </a:p>
        </p:txBody>
      </p:sp>
      <p:sp>
        <p:nvSpPr>
          <p:cNvPr id="18" name="Text 15"/>
          <p:cNvSpPr txBox="1"/>
          <p:nvPr/>
        </p:nvSpPr>
        <p:spPr>
          <a:xfrm>
            <a:off x="5058461" y="2286000"/>
            <a:ext cx="2072030" cy="411480"/>
          </a:xfrm>
          <a:prstGeom prst="rect">
            <a:avLst/>
          </a:prstGeom>
          <a:noFill/>
          <a:ln/>
        </p:spPr>
        <p:txBody>
          <a:bodyPr wrap="square" lIns="0" tIns="0" rIns="0" bIns="0" rtlCol="0" anchor="ctr"/>
          <a:lstStyle/>
          <a:p>
            <a:pPr algn="ctr" indent="0" marL="0">
              <a:buNone/>
            </a:pPr>
            <a:r>
              <a:rPr lang="en-US" sz="1700" i="1" dirty="0">
                <a:solidFill>
                  <a:schemeClr val="bg1"/>
                </a:solidFill>
              </a:rPr>
              <a:t>car</a:t>
            </a:r>
            <a:endParaRPr lang="en-US" sz="1700" dirty="0"/>
          </a:p>
        </p:txBody>
      </p:sp>
      <p:sp>
        <p:nvSpPr>
          <p:cNvPr id="19" name="Text 16"/>
          <p:cNvSpPr txBox="1"/>
          <p:nvPr/>
        </p:nvSpPr>
        <p:spPr>
          <a:xfrm>
            <a:off x="5195621" y="2926080"/>
            <a:ext cx="1797710" cy="2423160"/>
          </a:xfrm>
          <a:prstGeom prst="rect">
            <a:avLst/>
          </a:prstGeom>
          <a:noFill/>
          <a:ln/>
        </p:spPr>
        <p:txBody>
          <a:bodyPr wrap="square" lIns="0" tIns="0" rIns="0" bIns="0" rtlCol="0" anchor="t"/>
          <a:lstStyle/>
          <a:p>
            <a:pPr algn="l" indent="0" marL="0">
              <a:buNone/>
            </a:pPr>
            <a:r>
              <a:rPr lang="en-US" sz="1700" i="1" dirty="0">
                <a:solidFill>
                  <a:schemeClr val="tx1"/>
                </a:solidFill>
              </a:rPr>
              <a:t>Ik </a:t>
            </a:r>
            <a:r>
              <a:rPr lang="en-US" sz="1700" b="1" i="1" dirty="0">
                <a:solidFill>
                  <a:schemeClr val="accent6"/>
                </a:solidFill>
              </a:rPr>
              <a:t>neem</a:t>
            </a:r>
            <a:r>
              <a:rPr lang="en-US" sz="1700" i="1" dirty="0">
                <a:solidFill>
                  <a:schemeClr val="tx1"/>
                </a:solidFill>
              </a:rPr>
              <a:t> de trein, </a:t>
            </a:r>
            <a:r>
              <a:rPr lang="en-US" sz="1700" b="1" i="1" dirty="0">
                <a:solidFill>
                  <a:schemeClr val="tx1"/>
                </a:solidFill>
              </a:rPr>
              <a:t>want</a:t>
            </a:r>
            <a:r>
              <a:rPr lang="en-US" sz="1700" i="1" dirty="0">
                <a:solidFill>
                  <a:schemeClr val="tx1"/>
                </a:solidFill>
              </a:rPr>
              <a:t> ik </a:t>
            </a:r>
            <a:r>
              <a:rPr lang="en-US" sz="1700" b="1" i="1" dirty="0">
                <a:solidFill>
                  <a:schemeClr val="accent6"/>
                </a:solidFill>
              </a:rPr>
              <a:t>heb</a:t>
            </a:r>
            <a:r>
              <a:rPr lang="en-US" sz="1700" i="1" dirty="0">
                <a:solidFill>
                  <a:schemeClr val="tx1"/>
                </a:solidFill>
              </a:rPr>
              <a:t> geen auto.</a:t>
            </a:r>
            <a:endParaRPr lang="en-US" sz="1700" dirty="0"/>
          </a:p>
        </p:txBody>
      </p:sp>
      <p:sp>
        <p:nvSpPr>
          <p:cNvPr id="20" name="Shape 17"/>
          <p:cNvSpPr/>
          <p:nvPr/>
        </p:nvSpPr>
        <p:spPr>
          <a:xfrm>
            <a:off x="7313371" y="1554480"/>
            <a:ext cx="2072030" cy="3931920"/>
          </a:xfrm>
          <a:prstGeom prst="roundRect">
            <a:avLst>
              <a:gd name="adj" fmla="val 3530"/>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1" name="Shape 18"/>
          <p:cNvSpPr/>
          <p:nvPr/>
        </p:nvSpPr>
        <p:spPr>
          <a:xfrm>
            <a:off x="7313371" y="1554480"/>
            <a:ext cx="2072030" cy="1234440"/>
          </a:xfrm>
          <a:prstGeom prst="roundRect">
            <a:avLst>
              <a:gd name="adj" fmla="val 5926"/>
            </a:avLst>
          </a:prstGeom>
          <a:solidFill>
            <a:schemeClr val="accent2"/>
          </a:solidFill>
          <a:ln w="12700">
            <a:solidFill>
              <a:srgbClr val="FFFFFF">
                <a:alpha val="0"/>
              </a:srgbClr>
            </a:solidFill>
            <a:prstDash val="solid"/>
          </a:ln>
        </p:spPr>
      </p:sp>
      <p:sp>
        <p:nvSpPr>
          <p:cNvPr id="22" name="Text 19"/>
          <p:cNvSpPr txBox="1"/>
          <p:nvPr/>
        </p:nvSpPr>
        <p:spPr>
          <a:xfrm>
            <a:off x="7313371" y="1572768"/>
            <a:ext cx="2072030" cy="777240"/>
          </a:xfrm>
          <a:prstGeom prst="rect">
            <a:avLst/>
          </a:prstGeom>
          <a:noFill/>
          <a:ln/>
        </p:spPr>
        <p:txBody>
          <a:bodyPr wrap="square" lIns="0" tIns="0" rIns="0" bIns="0" rtlCol="0" anchor="ctr"/>
          <a:lstStyle/>
          <a:p>
            <a:pPr algn="ctr" indent="0" marL="0">
              <a:buNone/>
            </a:pPr>
            <a:r>
              <a:rPr lang="en-US" sz="3800" b="1" dirty="0">
                <a:solidFill>
                  <a:schemeClr val="bg1"/>
                </a:solidFill>
                <a:latin typeface="+mj-lt" pitchFamily="34" charset="0"/>
                <a:ea typeface="+mj-lt" pitchFamily="34" charset="-122"/>
                <a:cs typeface="+mj-lt" pitchFamily="34" charset="-120"/>
              </a:rPr>
              <a:t>of</a:t>
            </a:r>
            <a:endParaRPr lang="en-US" sz="3800" dirty="0"/>
          </a:p>
        </p:txBody>
      </p:sp>
      <p:sp>
        <p:nvSpPr>
          <p:cNvPr id="23" name="Text 20"/>
          <p:cNvSpPr txBox="1"/>
          <p:nvPr/>
        </p:nvSpPr>
        <p:spPr>
          <a:xfrm>
            <a:off x="7313371" y="2286000"/>
            <a:ext cx="2072030" cy="411480"/>
          </a:xfrm>
          <a:prstGeom prst="rect">
            <a:avLst/>
          </a:prstGeom>
          <a:noFill/>
          <a:ln/>
        </p:spPr>
        <p:txBody>
          <a:bodyPr wrap="square" lIns="0" tIns="0" rIns="0" bIns="0" rtlCol="0" anchor="ctr"/>
          <a:lstStyle/>
          <a:p>
            <a:pPr algn="ctr" indent="0" marL="0">
              <a:buNone/>
            </a:pPr>
            <a:r>
              <a:rPr lang="en-US" sz="1700" i="1" dirty="0">
                <a:solidFill>
                  <a:schemeClr val="bg1"/>
                </a:solidFill>
              </a:rPr>
              <a:t>ou</a:t>
            </a:r>
            <a:endParaRPr lang="en-US" sz="1700" dirty="0"/>
          </a:p>
        </p:txBody>
      </p:sp>
      <p:sp>
        <p:nvSpPr>
          <p:cNvPr id="24" name="Text 21"/>
          <p:cNvSpPr txBox="1"/>
          <p:nvPr/>
        </p:nvSpPr>
        <p:spPr>
          <a:xfrm>
            <a:off x="7450531" y="2926080"/>
            <a:ext cx="1797710" cy="2423160"/>
          </a:xfrm>
          <a:prstGeom prst="rect">
            <a:avLst/>
          </a:prstGeom>
          <a:noFill/>
          <a:ln/>
        </p:spPr>
        <p:txBody>
          <a:bodyPr wrap="square" lIns="0" tIns="0" rIns="0" bIns="0" rtlCol="0" anchor="t"/>
          <a:lstStyle/>
          <a:p>
            <a:pPr algn="l" indent="0" marL="0">
              <a:buNone/>
            </a:pPr>
            <a:r>
              <a:rPr lang="en-US" sz="1700" i="1" dirty="0">
                <a:solidFill>
                  <a:schemeClr val="tx1"/>
                </a:solidFill>
              </a:rPr>
              <a:t>Sofie </a:t>
            </a:r>
            <a:r>
              <a:rPr lang="en-US" sz="1700" b="1" i="1" dirty="0">
                <a:solidFill>
                  <a:schemeClr val="accent6"/>
                </a:solidFill>
              </a:rPr>
              <a:t>werkt</a:t>
            </a:r>
            <a:r>
              <a:rPr lang="en-US" sz="1700" i="1" dirty="0">
                <a:solidFill>
                  <a:schemeClr val="tx1"/>
                </a:solidFill>
              </a:rPr>
              <a:t> thuis </a:t>
            </a:r>
            <a:r>
              <a:rPr lang="en-US" sz="1700" b="1" i="1" dirty="0">
                <a:solidFill>
                  <a:schemeClr val="tx1"/>
                </a:solidFill>
              </a:rPr>
              <a:t>of</a:t>
            </a:r>
            <a:r>
              <a:rPr lang="en-US" sz="1700" i="1" dirty="0">
                <a:solidFill>
                  <a:schemeClr val="tx1"/>
                </a:solidFill>
              </a:rPr>
              <a:t> ze </a:t>
            </a:r>
            <a:r>
              <a:rPr lang="en-US" sz="1700" b="1" i="1" dirty="0">
                <a:solidFill>
                  <a:schemeClr val="accent6"/>
                </a:solidFill>
              </a:rPr>
              <a:t>is</a:t>
            </a:r>
            <a:r>
              <a:rPr lang="en-US" sz="1700" i="1" dirty="0">
                <a:solidFill>
                  <a:schemeClr val="tx1"/>
                </a:solidFill>
              </a:rPr>
              <a:t> ziek.</a:t>
            </a:r>
            <a:endParaRPr lang="en-US" sz="1700" dirty="0"/>
          </a:p>
        </p:txBody>
      </p:sp>
      <p:sp>
        <p:nvSpPr>
          <p:cNvPr id="25" name="Shape 22"/>
          <p:cNvSpPr/>
          <p:nvPr/>
        </p:nvSpPr>
        <p:spPr>
          <a:xfrm>
            <a:off x="9568282" y="1554480"/>
            <a:ext cx="2072030" cy="3931920"/>
          </a:xfrm>
          <a:prstGeom prst="roundRect">
            <a:avLst>
              <a:gd name="adj" fmla="val 3530"/>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9568282" y="1554480"/>
            <a:ext cx="2072030" cy="1234440"/>
          </a:xfrm>
          <a:prstGeom prst="roundRect">
            <a:avLst>
              <a:gd name="adj" fmla="val 5926"/>
            </a:avLst>
          </a:prstGeom>
          <a:solidFill>
            <a:schemeClr val="accent2"/>
          </a:solidFill>
          <a:ln w="12700">
            <a:solidFill>
              <a:srgbClr val="FFFFFF">
                <a:alpha val="0"/>
              </a:srgbClr>
            </a:solidFill>
            <a:prstDash val="solid"/>
          </a:ln>
        </p:spPr>
      </p:sp>
      <p:sp>
        <p:nvSpPr>
          <p:cNvPr id="27" name="Text 24"/>
          <p:cNvSpPr txBox="1"/>
          <p:nvPr/>
        </p:nvSpPr>
        <p:spPr>
          <a:xfrm>
            <a:off x="9568282" y="1572768"/>
            <a:ext cx="2072030" cy="777240"/>
          </a:xfrm>
          <a:prstGeom prst="rect">
            <a:avLst/>
          </a:prstGeom>
          <a:noFill/>
          <a:ln/>
        </p:spPr>
        <p:txBody>
          <a:bodyPr wrap="square" lIns="0" tIns="0" rIns="0" bIns="0" rtlCol="0" anchor="ctr"/>
          <a:lstStyle/>
          <a:p>
            <a:pPr algn="ctr" indent="0" marL="0">
              <a:buNone/>
            </a:pPr>
            <a:r>
              <a:rPr lang="en-US" sz="3800" b="1" dirty="0">
                <a:solidFill>
                  <a:schemeClr val="bg1"/>
                </a:solidFill>
                <a:latin typeface="+mj-lt" pitchFamily="34" charset="0"/>
                <a:ea typeface="+mj-lt" pitchFamily="34" charset="-122"/>
                <a:cs typeface="+mj-lt" pitchFamily="34" charset="-120"/>
              </a:rPr>
              <a:t>dus</a:t>
            </a:r>
            <a:endParaRPr lang="en-US" sz="3800" dirty="0"/>
          </a:p>
        </p:txBody>
      </p:sp>
      <p:sp>
        <p:nvSpPr>
          <p:cNvPr id="28" name="Text 25"/>
          <p:cNvSpPr txBox="1"/>
          <p:nvPr/>
        </p:nvSpPr>
        <p:spPr>
          <a:xfrm>
            <a:off x="9568282" y="2286000"/>
            <a:ext cx="2072030" cy="411480"/>
          </a:xfrm>
          <a:prstGeom prst="rect">
            <a:avLst/>
          </a:prstGeom>
          <a:noFill/>
          <a:ln/>
        </p:spPr>
        <p:txBody>
          <a:bodyPr wrap="square" lIns="0" tIns="0" rIns="0" bIns="0" rtlCol="0" anchor="ctr"/>
          <a:lstStyle/>
          <a:p>
            <a:pPr algn="ctr" indent="0" marL="0">
              <a:buNone/>
            </a:pPr>
            <a:r>
              <a:rPr lang="en-US" sz="1700" i="1" dirty="0">
                <a:solidFill>
                  <a:schemeClr val="bg1"/>
                </a:solidFill>
              </a:rPr>
              <a:t>donc</a:t>
            </a:r>
            <a:endParaRPr lang="en-US" sz="1700" dirty="0"/>
          </a:p>
        </p:txBody>
      </p:sp>
      <p:sp>
        <p:nvSpPr>
          <p:cNvPr id="29" name="Text 26"/>
          <p:cNvSpPr txBox="1"/>
          <p:nvPr/>
        </p:nvSpPr>
        <p:spPr>
          <a:xfrm>
            <a:off x="9705442" y="2926080"/>
            <a:ext cx="1797710" cy="2423160"/>
          </a:xfrm>
          <a:prstGeom prst="rect">
            <a:avLst/>
          </a:prstGeom>
          <a:noFill/>
          <a:ln/>
        </p:spPr>
        <p:txBody>
          <a:bodyPr wrap="square" lIns="0" tIns="0" rIns="0" bIns="0" rtlCol="0" anchor="t"/>
          <a:lstStyle/>
          <a:p>
            <a:pPr algn="l" indent="0" marL="0">
              <a:buNone/>
            </a:pPr>
            <a:r>
              <a:rPr lang="en-US" sz="1700" i="1" dirty="0">
                <a:solidFill>
                  <a:schemeClr val="tx1"/>
                </a:solidFill>
              </a:rPr>
              <a:t>Het </a:t>
            </a:r>
            <a:r>
              <a:rPr lang="en-US" sz="1700" b="1" i="1" dirty="0">
                <a:solidFill>
                  <a:schemeClr val="accent6"/>
                </a:solidFill>
              </a:rPr>
              <a:t>regent</a:t>
            </a:r>
            <a:r>
              <a:rPr lang="en-US" sz="1700" i="1" dirty="0">
                <a:solidFill>
                  <a:schemeClr val="tx1"/>
                </a:solidFill>
              </a:rPr>
              <a:t>, </a:t>
            </a:r>
            <a:r>
              <a:rPr lang="en-US" sz="1700" b="1" i="1" dirty="0">
                <a:solidFill>
                  <a:schemeClr val="tx1"/>
                </a:solidFill>
              </a:rPr>
              <a:t>dus</a:t>
            </a:r>
            <a:r>
              <a:rPr lang="en-US" sz="1700" i="1" dirty="0">
                <a:solidFill>
                  <a:schemeClr val="tx1"/>
                </a:solidFill>
              </a:rPr>
              <a:t> ik </a:t>
            </a:r>
            <a:r>
              <a:rPr lang="en-US" sz="1700" b="1" i="1" dirty="0">
                <a:solidFill>
                  <a:schemeClr val="accent6"/>
                </a:solidFill>
              </a:rPr>
              <a:t>neem</a:t>
            </a:r>
            <a:r>
              <a:rPr lang="en-US" sz="1700" i="1" dirty="0">
                <a:solidFill>
                  <a:schemeClr val="tx1"/>
                </a:solidFill>
              </a:rPr>
              <a:t> de bus.</a:t>
            </a:r>
            <a:r>
              <a:rPr lang="en-US" sz="1700" dirty="0">
                <a:solidFill>
                  <a:schemeClr val="tx1"/>
                </a:solidFill>
              </a:rPr>
              <a:t>
</a:t>
            </a:r>
            <a:r>
              <a:rPr lang="en-US" sz="1700" i="1" dirty="0">
                <a:solidFill>
                  <a:schemeClr val="tx1"/>
                </a:solidFill>
              </a:rPr>
              <a:t>Het </a:t>
            </a:r>
            <a:r>
              <a:rPr lang="en-US" sz="1700" b="1" i="1" dirty="0">
                <a:solidFill>
                  <a:schemeClr val="accent6"/>
                </a:solidFill>
              </a:rPr>
              <a:t>regent</a:t>
            </a:r>
            <a:r>
              <a:rPr lang="en-US" sz="1700" i="1" dirty="0">
                <a:solidFill>
                  <a:schemeClr val="tx1"/>
                </a:solidFill>
              </a:rPr>
              <a:t>, </a:t>
            </a:r>
            <a:r>
              <a:rPr lang="en-US" sz="1700" b="1" i="1" dirty="0">
                <a:solidFill>
                  <a:schemeClr val="tx1"/>
                </a:solidFill>
              </a:rPr>
              <a:t>dus</a:t>
            </a:r>
            <a:r>
              <a:rPr lang="en-US" sz="1700" i="1" dirty="0">
                <a:solidFill>
                  <a:schemeClr val="tx1"/>
                </a:solidFill>
              </a:rPr>
              <a:t> </a:t>
            </a:r>
            <a:r>
              <a:rPr lang="en-US" sz="1700" b="1" i="1" dirty="0">
                <a:solidFill>
                  <a:schemeClr val="accent6"/>
                </a:solidFill>
              </a:rPr>
              <a:t>neem</a:t>
            </a:r>
            <a:r>
              <a:rPr lang="en-US" sz="1700" i="1" dirty="0">
                <a:solidFill>
                  <a:schemeClr val="tx1"/>
                </a:solidFill>
              </a:rPr>
              <a:t> ik de bus.</a:t>
            </a:r>
            <a:endParaRPr lang="en-US" sz="1700" dirty="0"/>
          </a:p>
        </p:txBody>
      </p:sp>
      <p:sp>
        <p:nvSpPr>
          <p:cNvPr id="30" name="tag"/>
          <p:cNvSpPr/>
          <p:nvPr/>
        </p:nvSpPr>
        <p:spPr>
          <a:xfrm>
            <a:off x="9796882" y="4983480"/>
            <a:ext cx="1552651" cy="347472"/>
          </a:xfrm>
          <a:prstGeom prst="roundRect">
            <a:avLst>
              <a:gd name="adj" fmla="val 13158"/>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 inversion</a:t>
            </a:r>
            <a:endParaRPr lang="en-US" sz="1200" dirty="0"/>
          </a:p>
        </p:txBody>
      </p:sp>
      <p:sp>
        <p:nvSpPr>
          <p:cNvPr id="31" name="Shape 28"/>
          <p:cNvSpPr/>
          <p:nvPr/>
        </p:nvSpPr>
        <p:spPr>
          <a:xfrm>
            <a:off x="548640" y="5669280"/>
            <a:ext cx="11091672" cy="594360"/>
          </a:xfrm>
          <a:prstGeom prst="roundRect">
            <a:avLst>
              <a:gd name="adj" fmla="val 12308"/>
            </a:avLst>
          </a:prstGeom>
          <a:solidFill>
            <a:schemeClr val="accent2"/>
          </a:solidFill>
          <a:ln w="12700">
            <a:solidFill>
              <a:srgbClr val="FFFFFF">
                <a:alpha val="0"/>
              </a:srgbClr>
            </a:solidFill>
            <a:prstDash val="solid"/>
          </a:ln>
        </p:spPr>
      </p:sp>
      <p:sp>
        <p:nvSpPr>
          <p:cNvPr id="32" name="Text 29"/>
          <p:cNvSpPr txBox="1"/>
          <p:nvPr/>
        </p:nvSpPr>
        <p:spPr>
          <a:xfrm>
            <a:off x="822960" y="5669280"/>
            <a:ext cx="10607040" cy="594360"/>
          </a:xfrm>
          <a:prstGeom prst="rect">
            <a:avLst/>
          </a:prstGeom>
          <a:noFill/>
          <a:ln/>
        </p:spPr>
        <p:txBody>
          <a:bodyPr wrap="square" lIns="0" tIns="0" rIns="0" bIns="0" rtlCol="0" anchor="ctr"/>
          <a:lstStyle/>
          <a:p>
            <a:pPr algn="l" indent="0" marL="0">
              <a:buNone/>
            </a:pPr>
            <a:r>
              <a:rPr lang="en-US" sz="1900" dirty="0">
                <a:solidFill>
                  <a:schemeClr val="bg1"/>
                </a:solidFill>
              </a:rPr>
              <a:t>Moyen mnémotechnique : </a:t>
            </a:r>
            <a:r>
              <a:rPr lang="en-US" sz="1900" b="1" dirty="0">
                <a:solidFill>
                  <a:schemeClr val="bg1"/>
                </a:solidFill>
              </a:rPr>
              <a:t>EMWOD</a:t>
            </a:r>
            <a:r>
              <a:rPr lang="en-US" sz="1900" dirty="0">
                <a:solidFill>
                  <a:schemeClr val="bg1"/>
                </a:solidFill>
              </a:rPr>
              <a:t> — </a:t>
            </a:r>
            <a:r>
              <a:rPr lang="en-US" sz="1900" i="1" dirty="0">
                <a:solidFill>
                  <a:schemeClr val="bg1"/>
                </a:solidFill>
              </a:rPr>
              <a:t>en · maar · want · of · dus</a:t>
            </a:r>
            <a:r>
              <a:rPr lang="en-US" sz="1900" dirty="0">
                <a:solidFill>
                  <a:schemeClr val="bg1"/>
                </a:solidFill>
              </a:rPr>
              <a:t>. Le verbe reste en case ② des deux côtés.</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pont dans la grille : la case 0</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1028700" y="1572768"/>
            <a:ext cx="457200" cy="457200"/>
          </a:xfrm>
          <a:prstGeom prst="ellipse">
            <a:avLst/>
          </a:prstGeom>
          <a:solidFill>
            <a:schemeClr val="accent2"/>
          </a:solidFill>
          <a:ln w="12700">
            <a:solidFill>
              <a:srgbClr val="FFFFFF">
                <a:alpha val="0"/>
              </a:srgbClr>
            </a:solidFill>
            <a:prstDash val="solid"/>
          </a:ln>
        </p:spPr>
      </p:sp>
      <p:sp>
        <p:nvSpPr>
          <p:cNvPr id="6" name="Text 3"/>
          <p:cNvSpPr txBox="1"/>
          <p:nvPr/>
        </p:nvSpPr>
        <p:spPr>
          <a:xfrm>
            <a:off x="1028700"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0</a:t>
            </a:r>
            <a:endParaRPr lang="en-US" sz="1600" dirty="0"/>
          </a:p>
        </p:txBody>
      </p:sp>
      <p:sp>
        <p:nvSpPr>
          <p:cNvPr id="7" name="Shape 4"/>
          <p:cNvSpPr/>
          <p:nvPr/>
        </p:nvSpPr>
        <p:spPr>
          <a:xfrm>
            <a:off x="2651760" y="1572768"/>
            <a:ext cx="457200" cy="457200"/>
          </a:xfrm>
          <a:prstGeom prst="ellipse">
            <a:avLst/>
          </a:prstGeom>
          <a:solidFill>
            <a:schemeClr val="tx2"/>
          </a:solidFill>
          <a:ln w="12700">
            <a:solidFill>
              <a:srgbClr val="FFFFFF">
                <a:alpha val="0"/>
              </a:srgbClr>
            </a:solidFill>
            <a:prstDash val="solid"/>
          </a:ln>
        </p:spPr>
      </p:sp>
      <p:sp>
        <p:nvSpPr>
          <p:cNvPr id="8" name="Text 5"/>
          <p:cNvSpPr txBox="1"/>
          <p:nvPr/>
        </p:nvSpPr>
        <p:spPr>
          <a:xfrm>
            <a:off x="2651760"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Shape 6"/>
          <p:cNvSpPr/>
          <p:nvPr/>
        </p:nvSpPr>
        <p:spPr>
          <a:xfrm>
            <a:off x="4434840" y="1572768"/>
            <a:ext cx="457200" cy="457200"/>
          </a:xfrm>
          <a:prstGeom prst="ellipse">
            <a:avLst/>
          </a:prstGeom>
          <a:solidFill>
            <a:schemeClr val="accent6"/>
          </a:solidFill>
          <a:ln w="12700">
            <a:solidFill>
              <a:srgbClr val="FFFFFF">
                <a:alpha val="0"/>
              </a:srgbClr>
            </a:solidFill>
            <a:prstDash val="solid"/>
          </a:ln>
        </p:spPr>
      </p:sp>
      <p:sp>
        <p:nvSpPr>
          <p:cNvPr id="10" name="Text 7"/>
          <p:cNvSpPr txBox="1"/>
          <p:nvPr/>
        </p:nvSpPr>
        <p:spPr>
          <a:xfrm>
            <a:off x="4434840"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hape 8"/>
          <p:cNvSpPr/>
          <p:nvPr/>
        </p:nvSpPr>
        <p:spPr>
          <a:xfrm>
            <a:off x="7269480" y="1572768"/>
            <a:ext cx="457200" cy="457200"/>
          </a:xfrm>
          <a:prstGeom prst="ellipse">
            <a:avLst/>
          </a:prstGeom>
          <a:solidFill>
            <a:schemeClr val="tx2"/>
          </a:solidFill>
          <a:ln w="12700">
            <a:solidFill>
              <a:srgbClr val="FFFFFF">
                <a:alpha val="0"/>
              </a:srgbClr>
            </a:solidFill>
            <a:prstDash val="solid"/>
          </a:ln>
        </p:spPr>
      </p:sp>
      <p:sp>
        <p:nvSpPr>
          <p:cNvPr id="12" name="Text 9"/>
          <p:cNvSpPr txBox="1"/>
          <p:nvPr/>
        </p:nvSpPr>
        <p:spPr>
          <a:xfrm>
            <a:off x="7269480"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Shape 10"/>
          <p:cNvSpPr/>
          <p:nvPr/>
        </p:nvSpPr>
        <p:spPr>
          <a:xfrm>
            <a:off x="2103120" y="2194560"/>
            <a:ext cx="1554480" cy="777240"/>
          </a:xfrm>
          <a:prstGeom prst="roundRect">
            <a:avLst>
              <a:gd name="adj" fmla="val 9412"/>
            </a:avLst>
          </a:prstGeom>
          <a:solidFill>
            <a:schemeClr val="bg1"/>
          </a:solidFill>
          <a:ln w="15875">
            <a:solidFill>
              <a:srgbClr val="D5DCE6"/>
            </a:solidFill>
            <a:prstDash val="solid"/>
          </a:ln>
        </p:spPr>
      </p:sp>
      <p:sp>
        <p:nvSpPr>
          <p:cNvPr id="14" name="Text 11"/>
          <p:cNvSpPr txBox="1"/>
          <p:nvPr/>
        </p:nvSpPr>
        <p:spPr>
          <a:xfrm>
            <a:off x="2103120" y="2194560"/>
            <a:ext cx="1554480" cy="777240"/>
          </a:xfrm>
          <a:prstGeom prst="rect">
            <a:avLst/>
          </a:prstGeom>
          <a:noFill/>
          <a:ln/>
        </p:spPr>
        <p:txBody>
          <a:bodyPr wrap="square" lIns="0" tIns="0" rIns="0" bIns="0" rtlCol="0" anchor="ctr"/>
          <a:lstStyle/>
          <a:p>
            <a:pPr algn="ctr" indent="0" marL="0">
              <a:buNone/>
            </a:pPr>
            <a:r>
              <a:rPr lang="en-US" sz="2400" dirty="0">
                <a:solidFill>
                  <a:schemeClr val="tx1"/>
                </a:solidFill>
              </a:rPr>
              <a:t>Sofie</a:t>
            </a:r>
            <a:endParaRPr lang="en-US" sz="2400" dirty="0"/>
          </a:p>
        </p:txBody>
      </p:sp>
      <p:sp>
        <p:nvSpPr>
          <p:cNvPr id="15" name="Shape 12"/>
          <p:cNvSpPr/>
          <p:nvPr/>
        </p:nvSpPr>
        <p:spPr>
          <a:xfrm>
            <a:off x="3749040" y="2194560"/>
            <a:ext cx="1828800" cy="777240"/>
          </a:xfrm>
          <a:prstGeom prst="roundRect">
            <a:avLst>
              <a:gd name="adj" fmla="val 9412"/>
            </a:avLst>
          </a:prstGeom>
          <a:solidFill>
            <a:srgbClr val="FBEDEB"/>
          </a:solidFill>
          <a:ln w="31750">
            <a:solidFill>
              <a:srgbClr val="B83227"/>
            </a:solidFill>
            <a:prstDash val="solid"/>
          </a:ln>
        </p:spPr>
      </p:sp>
      <p:sp>
        <p:nvSpPr>
          <p:cNvPr id="16" name="Text 13"/>
          <p:cNvSpPr txBox="1"/>
          <p:nvPr/>
        </p:nvSpPr>
        <p:spPr>
          <a:xfrm>
            <a:off x="3749040" y="2194560"/>
            <a:ext cx="1828800" cy="777240"/>
          </a:xfrm>
          <a:prstGeom prst="rect">
            <a:avLst/>
          </a:prstGeom>
          <a:noFill/>
          <a:ln/>
        </p:spPr>
        <p:txBody>
          <a:bodyPr wrap="square" lIns="0" tIns="0" rIns="0" bIns="0" rtlCol="0" anchor="ctr"/>
          <a:lstStyle/>
          <a:p>
            <a:pPr algn="ctr" indent="0" marL="0">
              <a:buNone/>
            </a:pPr>
            <a:r>
              <a:rPr lang="en-US" sz="2400" b="1" dirty="0">
                <a:solidFill>
                  <a:schemeClr val="accent6"/>
                </a:solidFill>
              </a:rPr>
              <a:t>werkt</a:t>
            </a:r>
            <a:endParaRPr lang="en-US" sz="2400" dirty="0"/>
          </a:p>
        </p:txBody>
      </p:sp>
      <p:sp>
        <p:nvSpPr>
          <p:cNvPr id="17" name="Shape 14"/>
          <p:cNvSpPr/>
          <p:nvPr/>
        </p:nvSpPr>
        <p:spPr>
          <a:xfrm>
            <a:off x="5669280" y="2194560"/>
            <a:ext cx="3657600" cy="777240"/>
          </a:xfrm>
          <a:prstGeom prst="roundRect">
            <a:avLst>
              <a:gd name="adj" fmla="val 9412"/>
            </a:avLst>
          </a:prstGeom>
          <a:solidFill>
            <a:schemeClr val="bg1"/>
          </a:solidFill>
          <a:ln w="15875">
            <a:solidFill>
              <a:srgbClr val="D5DCE6"/>
            </a:solidFill>
            <a:prstDash val="solid"/>
          </a:ln>
        </p:spPr>
      </p:sp>
      <p:sp>
        <p:nvSpPr>
          <p:cNvPr id="18" name="Text 15"/>
          <p:cNvSpPr txBox="1"/>
          <p:nvPr/>
        </p:nvSpPr>
        <p:spPr>
          <a:xfrm>
            <a:off x="5669280" y="2194560"/>
            <a:ext cx="3657600" cy="777240"/>
          </a:xfrm>
          <a:prstGeom prst="rect">
            <a:avLst/>
          </a:prstGeom>
          <a:noFill/>
          <a:ln/>
        </p:spPr>
        <p:txBody>
          <a:bodyPr wrap="square" lIns="0" tIns="0" rIns="0" bIns="0" rtlCol="0" anchor="ctr"/>
          <a:lstStyle/>
          <a:p>
            <a:pPr algn="ctr" indent="0" marL="0">
              <a:buNone/>
            </a:pPr>
            <a:r>
              <a:rPr lang="en-US" sz="2400" dirty="0">
                <a:solidFill>
                  <a:schemeClr val="tx1"/>
                </a:solidFill>
              </a:rPr>
              <a:t>bij Peeters &amp; Co</a:t>
            </a:r>
            <a:endParaRPr lang="en-US" sz="2400" dirty="0"/>
          </a:p>
        </p:txBody>
      </p:sp>
      <p:sp>
        <p:nvSpPr>
          <p:cNvPr id="19" name="Shape 16"/>
          <p:cNvSpPr/>
          <p:nvPr/>
        </p:nvSpPr>
        <p:spPr>
          <a:xfrm>
            <a:off x="2103120" y="3886200"/>
            <a:ext cx="1554480" cy="777240"/>
          </a:xfrm>
          <a:prstGeom prst="roundRect">
            <a:avLst>
              <a:gd name="adj" fmla="val 9412"/>
            </a:avLst>
          </a:prstGeom>
          <a:solidFill>
            <a:schemeClr val="bg1"/>
          </a:solidFill>
          <a:ln w="15875">
            <a:solidFill>
              <a:srgbClr val="D5DCE6"/>
            </a:solidFill>
            <a:prstDash val="solid"/>
          </a:ln>
        </p:spPr>
      </p:sp>
      <p:sp>
        <p:nvSpPr>
          <p:cNvPr id="20" name="Text 17"/>
          <p:cNvSpPr txBox="1"/>
          <p:nvPr/>
        </p:nvSpPr>
        <p:spPr>
          <a:xfrm>
            <a:off x="2103120" y="3886200"/>
            <a:ext cx="1554480" cy="777240"/>
          </a:xfrm>
          <a:prstGeom prst="rect">
            <a:avLst/>
          </a:prstGeom>
          <a:noFill/>
          <a:ln/>
        </p:spPr>
        <p:txBody>
          <a:bodyPr wrap="square" lIns="0" tIns="0" rIns="0" bIns="0" rtlCol="0" anchor="ctr"/>
          <a:lstStyle/>
          <a:p>
            <a:pPr algn="ctr" indent="0" marL="0">
              <a:buNone/>
            </a:pPr>
            <a:r>
              <a:rPr lang="en-US" sz="2400" dirty="0">
                <a:solidFill>
                  <a:schemeClr val="tx1"/>
                </a:solidFill>
              </a:rPr>
              <a:t>ze</a:t>
            </a:r>
            <a:endParaRPr lang="en-US" sz="2400" dirty="0"/>
          </a:p>
        </p:txBody>
      </p:sp>
      <p:sp>
        <p:nvSpPr>
          <p:cNvPr id="21" name="Shape 18"/>
          <p:cNvSpPr/>
          <p:nvPr/>
        </p:nvSpPr>
        <p:spPr>
          <a:xfrm>
            <a:off x="3749040" y="3886200"/>
            <a:ext cx="1828800" cy="777240"/>
          </a:xfrm>
          <a:prstGeom prst="roundRect">
            <a:avLst>
              <a:gd name="adj" fmla="val 9412"/>
            </a:avLst>
          </a:prstGeom>
          <a:solidFill>
            <a:srgbClr val="FBEDEB"/>
          </a:solidFill>
          <a:ln w="31750">
            <a:solidFill>
              <a:srgbClr val="B83227"/>
            </a:solidFill>
            <a:prstDash val="solid"/>
          </a:ln>
        </p:spPr>
      </p:sp>
      <p:sp>
        <p:nvSpPr>
          <p:cNvPr id="22" name="Text 19"/>
          <p:cNvSpPr txBox="1"/>
          <p:nvPr/>
        </p:nvSpPr>
        <p:spPr>
          <a:xfrm>
            <a:off x="3749040" y="3886200"/>
            <a:ext cx="1828800" cy="777240"/>
          </a:xfrm>
          <a:prstGeom prst="rect">
            <a:avLst/>
          </a:prstGeom>
          <a:noFill/>
          <a:ln/>
        </p:spPr>
        <p:txBody>
          <a:bodyPr wrap="square" lIns="0" tIns="0" rIns="0" bIns="0" rtlCol="0" anchor="ctr"/>
          <a:lstStyle/>
          <a:p>
            <a:pPr algn="ctr" indent="0" marL="0">
              <a:buNone/>
            </a:pPr>
            <a:r>
              <a:rPr lang="en-US" sz="2400" b="1" dirty="0">
                <a:solidFill>
                  <a:schemeClr val="accent6"/>
                </a:solidFill>
              </a:rPr>
              <a:t>woont</a:t>
            </a:r>
            <a:endParaRPr lang="en-US" sz="2400" dirty="0"/>
          </a:p>
        </p:txBody>
      </p:sp>
      <p:sp>
        <p:nvSpPr>
          <p:cNvPr id="23" name="Shape 20"/>
          <p:cNvSpPr/>
          <p:nvPr/>
        </p:nvSpPr>
        <p:spPr>
          <a:xfrm>
            <a:off x="5669280" y="3886200"/>
            <a:ext cx="3657600" cy="777240"/>
          </a:xfrm>
          <a:prstGeom prst="roundRect">
            <a:avLst>
              <a:gd name="adj" fmla="val 9412"/>
            </a:avLst>
          </a:prstGeom>
          <a:solidFill>
            <a:schemeClr val="bg1"/>
          </a:solidFill>
          <a:ln w="15875">
            <a:solidFill>
              <a:srgbClr val="D5DCE6"/>
            </a:solidFill>
            <a:prstDash val="solid"/>
          </a:ln>
        </p:spPr>
      </p:sp>
      <p:sp>
        <p:nvSpPr>
          <p:cNvPr id="24" name="Text 21"/>
          <p:cNvSpPr txBox="1"/>
          <p:nvPr/>
        </p:nvSpPr>
        <p:spPr>
          <a:xfrm>
            <a:off x="5669280" y="3886200"/>
            <a:ext cx="3657600" cy="777240"/>
          </a:xfrm>
          <a:prstGeom prst="rect">
            <a:avLst/>
          </a:prstGeom>
          <a:noFill/>
          <a:ln/>
        </p:spPr>
        <p:txBody>
          <a:bodyPr wrap="square" lIns="0" tIns="0" rIns="0" bIns="0" rtlCol="0" anchor="ctr"/>
          <a:lstStyle/>
          <a:p>
            <a:pPr algn="ctr" indent="0" marL="0">
              <a:buNone/>
            </a:pPr>
            <a:r>
              <a:rPr lang="en-US" sz="2400" dirty="0">
                <a:solidFill>
                  <a:schemeClr val="tx1"/>
                </a:solidFill>
              </a:rPr>
              <a:t>in Gent.</a:t>
            </a:r>
            <a:endParaRPr lang="en-US" sz="2400" dirty="0"/>
          </a:p>
        </p:txBody>
      </p:sp>
      <p:sp>
        <p:nvSpPr>
          <p:cNvPr id="25" name="Shape 22"/>
          <p:cNvSpPr/>
          <p:nvPr/>
        </p:nvSpPr>
        <p:spPr>
          <a:xfrm>
            <a:off x="548640" y="3044952"/>
            <a:ext cx="1417320" cy="731520"/>
          </a:xfrm>
          <a:prstGeom prst="roundRect">
            <a:avLst>
              <a:gd name="adj" fmla="val 10000"/>
            </a:avLst>
          </a:prstGeom>
          <a:solidFill>
            <a:schemeClr val="bg2"/>
          </a:solidFill>
          <a:ln w="15875">
            <a:solidFill>
              <a:srgbClr val="4A5A70"/>
            </a:solidFill>
            <a:prstDash val="sysDash"/>
          </a:ln>
        </p:spPr>
      </p:sp>
      <p:sp>
        <p:nvSpPr>
          <p:cNvPr id="26" name="Text 23"/>
          <p:cNvSpPr txBox="1"/>
          <p:nvPr/>
        </p:nvSpPr>
        <p:spPr>
          <a:xfrm>
            <a:off x="548640" y="3044952"/>
            <a:ext cx="1417320" cy="731520"/>
          </a:xfrm>
          <a:prstGeom prst="rect">
            <a:avLst/>
          </a:prstGeom>
          <a:noFill/>
          <a:ln/>
        </p:spPr>
        <p:txBody>
          <a:bodyPr wrap="square" lIns="0" tIns="0" rIns="0" bIns="0" rtlCol="0" anchor="ctr"/>
          <a:lstStyle/>
          <a:p>
            <a:pPr algn="ctr" indent="0" marL="0">
              <a:buNone/>
            </a:pPr>
            <a:r>
              <a:rPr lang="en-US" sz="2400" b="1" dirty="0">
                <a:solidFill>
                  <a:schemeClr val="accent2"/>
                </a:solidFill>
              </a:rPr>
              <a:t>maar</a:t>
            </a:r>
            <a:endParaRPr lang="en-US" sz="2400" dirty="0"/>
          </a:p>
        </p:txBody>
      </p:sp>
      <p:sp>
        <p:nvSpPr>
          <p:cNvPr id="27" name="Shape 24"/>
          <p:cNvSpPr/>
          <p:nvPr/>
        </p:nvSpPr>
        <p:spPr>
          <a:xfrm>
            <a:off x="1965960" y="3410712"/>
            <a:ext cx="7360920" cy="914"/>
          </a:xfrm>
          <a:prstGeom prst="line">
            <a:avLst/>
          </a:prstGeom>
          <a:noFill/>
          <a:ln w="19050">
            <a:solidFill>
              <a:srgbClr val="2A6FB0"/>
            </a:solidFill>
            <a:prstDash val="dash"/>
          </a:ln>
        </p:spPr>
      </p:sp>
      <p:sp>
        <p:nvSpPr>
          <p:cNvPr id="28" name="Text 25"/>
          <p:cNvSpPr txBox="1"/>
          <p:nvPr/>
        </p:nvSpPr>
        <p:spPr>
          <a:xfrm>
            <a:off x="3749040" y="3090672"/>
            <a:ext cx="5577840" cy="292608"/>
          </a:xfrm>
          <a:prstGeom prst="rect">
            <a:avLst/>
          </a:prstGeom>
          <a:noFill/>
          <a:ln/>
        </p:spPr>
        <p:txBody>
          <a:bodyPr wrap="square" lIns="0" tIns="0" rIns="0" bIns="0" rtlCol="0" anchor="t"/>
          <a:lstStyle/>
          <a:p>
            <a:pPr algn="l" indent="0" marL="0">
              <a:buNone/>
            </a:pPr>
            <a:r>
              <a:rPr lang="en-US" sz="1400" i="1" dirty="0">
                <a:solidFill>
                  <a:schemeClr val="accent2"/>
                </a:solidFill>
              </a:rPr>
              <a:t>le mot-pont reste « sur le pont »</a:t>
            </a:r>
            <a:endParaRPr lang="en-US" sz="1400" dirty="0"/>
          </a:p>
        </p:txBody>
      </p:sp>
      <p:sp>
        <p:nvSpPr>
          <p:cNvPr id="29" name="Shape 26"/>
          <p:cNvSpPr/>
          <p:nvPr/>
        </p:nvSpPr>
        <p:spPr>
          <a:xfrm>
            <a:off x="9555480" y="2194560"/>
            <a:ext cx="2084832" cy="2468880"/>
          </a:xfrm>
          <a:prstGeom prst="roundRect">
            <a:avLst>
              <a:gd name="adj" fmla="val 4386"/>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Shape 27"/>
          <p:cNvSpPr/>
          <p:nvPr/>
        </p:nvSpPr>
        <p:spPr>
          <a:xfrm>
            <a:off x="9738360" y="2359152"/>
            <a:ext cx="566928" cy="566928"/>
          </a:xfrm>
          <a:prstGeom prst="ellipse">
            <a:avLst/>
          </a:prstGeom>
          <a:solidFill>
            <a:schemeClr val="accent1"/>
          </a:solidFill>
          <a:ln w="12700">
            <a:solidFill>
              <a:srgbClr val="FFFFFF">
                <a:alpha val="0"/>
              </a:srgbClr>
            </a:solidFill>
            <a:prstDash val="solid"/>
          </a:ln>
        </p:spPr>
      </p:sp>
      <p:pic>
        <p:nvPicPr>
          <p:cNvPr id="31" name="Image 0" descr="Exclamation">    </p:cNvPr>
          <p:cNvPicPr>
            <a:picLocks noChangeAspect="1"/>
          </p:cNvPicPr>
          <p:nvPr/>
        </p:nvPicPr>
        <p:blipFill>
          <a:blip r:embed="rId1"/>
          <a:stretch>
            <a:fillRect/>
          </a:stretch>
        </p:blipFill>
        <p:spPr>
          <a:xfrm>
            <a:off x="9874423" y="2495215"/>
            <a:ext cx="294803" cy="294803"/>
          </a:xfrm>
          <a:prstGeom prst="rect">
            <a:avLst/>
          </a:prstGeom>
        </p:spPr>
      </p:pic>
      <p:sp>
        <p:nvSpPr>
          <p:cNvPr id="32" name="Text 28"/>
          <p:cNvSpPr txBox="1"/>
          <p:nvPr/>
        </p:nvSpPr>
        <p:spPr>
          <a:xfrm>
            <a:off x="10451592" y="2340864"/>
            <a:ext cx="1051560" cy="603504"/>
          </a:xfrm>
          <a:prstGeom prst="rect">
            <a:avLst/>
          </a:prstGeom>
          <a:noFill/>
          <a:ln/>
        </p:spPr>
        <p:txBody>
          <a:bodyPr wrap="square" lIns="0" tIns="0" rIns="0" bIns="0" rtlCol="0" anchor="ctr"/>
          <a:lstStyle/>
          <a:p>
            <a:pPr algn="l" indent="0" marL="0">
              <a:buNone/>
            </a:pPr>
            <a:r>
              <a:rPr lang="en-US" sz="1900" b="1" dirty="0">
                <a:solidFill>
                  <a:schemeClr val="accent1"/>
                </a:solidFill>
              </a:rPr>
              <a:t>dus</a:t>
            </a:r>
            <a:endParaRPr lang="en-US" sz="1900" dirty="0"/>
          </a:p>
        </p:txBody>
      </p:sp>
      <p:sp>
        <p:nvSpPr>
          <p:cNvPr id="33" name="Text 29"/>
          <p:cNvSpPr txBox="1"/>
          <p:nvPr/>
        </p:nvSpPr>
        <p:spPr>
          <a:xfrm>
            <a:off x="9756648" y="3063240"/>
            <a:ext cx="1682496" cy="1490472"/>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peut aussi entrer en case ① → inversion</a:t>
            </a:r>
            <a:endParaRPr lang="en-US" sz="1600" dirty="0"/>
          </a:p>
        </p:txBody>
      </p:sp>
      <p:sp>
        <p:nvSpPr>
          <p:cNvPr id="34" name="Shape 30"/>
          <p:cNvSpPr/>
          <p:nvPr/>
        </p:nvSpPr>
        <p:spPr>
          <a:xfrm>
            <a:off x="548640" y="5623560"/>
            <a:ext cx="11091672" cy="640080"/>
          </a:xfrm>
          <a:prstGeom prst="roundRect">
            <a:avLst>
              <a:gd name="adj" fmla="val 11429"/>
            </a:avLst>
          </a:prstGeom>
          <a:solidFill>
            <a:schemeClr val="tx2"/>
          </a:solidFill>
          <a:ln w="12700">
            <a:solidFill>
              <a:srgbClr val="FFFFFF">
                <a:alpha val="0"/>
              </a:srgbClr>
            </a:solidFill>
            <a:prstDash val="solid"/>
          </a:ln>
        </p:spPr>
      </p:sp>
      <p:sp>
        <p:nvSpPr>
          <p:cNvPr id="35" name="Text 31"/>
          <p:cNvSpPr txBox="1"/>
          <p:nvPr/>
        </p:nvSpPr>
        <p:spPr>
          <a:xfrm>
            <a:off x="822960" y="5623560"/>
            <a:ext cx="10607040" cy="640080"/>
          </a:xfrm>
          <a:prstGeom prst="rect">
            <a:avLst/>
          </a:prstGeom>
          <a:noFill/>
          <a:ln/>
        </p:spPr>
        <p:txBody>
          <a:bodyPr wrap="square" lIns="0" tIns="0" rIns="0" bIns="0" rtlCol="0" anchor="ctr"/>
          <a:lstStyle/>
          <a:p>
            <a:pPr algn="l" indent="0" marL="0">
              <a:buNone/>
            </a:pPr>
            <a:r>
              <a:rPr lang="en-US" sz="1900" dirty="0">
                <a:solidFill>
                  <a:schemeClr val="bg1"/>
                </a:solidFill>
              </a:rPr>
              <a:t>Chaque phrase garde la structure du M3 : </a:t>
            </a:r>
            <a:r>
              <a:rPr lang="en-US" sz="1900" b="1" dirty="0">
                <a:solidFill>
                  <a:schemeClr val="bg1"/>
                </a:solidFill>
              </a:rPr>
              <a:t>verbe en case ②</a:t>
            </a:r>
            <a:r>
              <a:rPr lang="en-US" sz="1900" dirty="0">
                <a:solidFill>
                  <a:schemeClr val="bg1"/>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want ≠ omdat</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4709160"/>
          </a:xfrm>
          <a:prstGeom prst="roundRect">
            <a:avLst>
              <a:gd name="adj" fmla="val 1553"/>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548640" y="2011680"/>
            <a:ext cx="11091672" cy="548640"/>
          </a:xfrm>
          <a:prstGeom prst="rect">
            <a:avLst/>
          </a:prstGeom>
          <a:noFill/>
          <a:ln/>
        </p:spPr>
        <p:txBody>
          <a:bodyPr wrap="square" lIns="0" tIns="0" rIns="0" bIns="0" rtlCol="0" anchor="ctr"/>
          <a:lstStyle/>
          <a:p>
            <a:pPr algn="ctr" indent="0" marL="0">
              <a:buNone/>
            </a:pPr>
            <a:r>
              <a:rPr lang="en-US" sz="2200" dirty="0">
                <a:solidFill>
                  <a:schemeClr val="tx1"/>
                </a:solidFill>
              </a:rPr>
              <a:t>« Je reste à la maison </a:t>
            </a:r>
            <a:r>
              <a:rPr lang="en-US" sz="2200" b="1" dirty="0">
                <a:solidFill>
                  <a:schemeClr val="tx1"/>
                </a:solidFill>
              </a:rPr>
              <a:t>car / parce que</a:t>
            </a:r>
            <a:r>
              <a:rPr lang="en-US" sz="2200" dirty="0">
                <a:solidFill>
                  <a:schemeClr val="tx1"/>
                </a:solidFill>
              </a:rPr>
              <a:t> je suis malade. »</a:t>
            </a:r>
            <a:endParaRPr lang="en-US" sz="2200" dirty="0"/>
          </a:p>
        </p:txBody>
      </p:sp>
      <p:sp>
        <p:nvSpPr>
          <p:cNvPr id="8" name="Shape 5"/>
          <p:cNvSpPr/>
          <p:nvPr/>
        </p:nvSpPr>
        <p:spPr>
          <a:xfrm flipH="1">
            <a:off x="3383280" y="2606040"/>
            <a:ext cx="2706624" cy="457200"/>
          </a:xfrm>
          <a:prstGeom prst="line">
            <a:avLst/>
          </a:prstGeom>
          <a:noFill/>
          <a:ln w="25400">
            <a:solidFill>
              <a:srgbClr val="4A5A70"/>
            </a:solidFill>
            <a:prstDash val="solid"/>
            <a:tailEnd type="triangle"/>
          </a:ln>
        </p:spPr>
      </p:sp>
      <p:sp>
        <p:nvSpPr>
          <p:cNvPr id="9" name="Shape 6"/>
          <p:cNvSpPr/>
          <p:nvPr/>
        </p:nvSpPr>
        <p:spPr>
          <a:xfrm>
            <a:off x="6089904" y="2606040"/>
            <a:ext cx="2688336" cy="457200"/>
          </a:xfrm>
          <a:prstGeom prst="line">
            <a:avLst/>
          </a:prstGeom>
          <a:noFill/>
          <a:ln w="25400">
            <a:solidFill>
              <a:srgbClr val="4A5A70"/>
            </a:solidFill>
            <a:prstDash val="solid"/>
            <a:tailEnd type="triangle"/>
          </a:ln>
        </p:spPr>
      </p:sp>
      <p:sp>
        <p:nvSpPr>
          <p:cNvPr id="10" name="Shape 7"/>
          <p:cNvSpPr/>
          <p:nvPr/>
        </p:nvSpPr>
        <p:spPr>
          <a:xfrm>
            <a:off x="777240" y="3154680"/>
            <a:ext cx="5212080" cy="1508760"/>
          </a:xfrm>
          <a:prstGeom prst="roundRect">
            <a:avLst>
              <a:gd name="adj" fmla="val 4848"/>
            </a:avLst>
          </a:prstGeom>
          <a:solidFill>
            <a:schemeClr val="accent3">
              <a:alpha val="12000"/>
            </a:schemeClr>
          </a:solidFill>
          <a:ln w="15875">
            <a:solidFill>
              <a:srgbClr val="2E7D4F"/>
            </a:solidFill>
            <a:prstDash val="solid"/>
          </a:ln>
        </p:spPr>
      </p:sp>
      <p:pic>
        <p:nvPicPr>
          <p:cNvPr id="11" name="Image 0" descr="CheckCircle">    </p:cNvPr>
          <p:cNvPicPr>
            <a:picLocks noChangeAspect="1"/>
          </p:cNvPicPr>
          <p:nvPr/>
        </p:nvPicPr>
        <p:blipFill>
          <a:blip r:embed="rId1"/>
          <a:stretch>
            <a:fillRect/>
          </a:stretch>
        </p:blipFill>
        <p:spPr>
          <a:xfrm>
            <a:off x="886968" y="3246120"/>
            <a:ext cx="310896" cy="310896"/>
          </a:xfrm>
          <a:prstGeom prst="rect">
            <a:avLst/>
          </a:prstGeom>
        </p:spPr>
      </p:pic>
      <p:sp>
        <p:nvSpPr>
          <p:cNvPr id="12" name="Shape 8"/>
          <p:cNvSpPr/>
          <p:nvPr/>
        </p:nvSpPr>
        <p:spPr>
          <a:xfrm>
            <a:off x="960120" y="3639312"/>
            <a:ext cx="2111350" cy="566928"/>
          </a:xfrm>
          <a:prstGeom prst="roundRect">
            <a:avLst>
              <a:gd name="adj" fmla="val 12903"/>
            </a:avLst>
          </a:prstGeom>
          <a:solidFill>
            <a:schemeClr val="bg1"/>
          </a:solidFill>
          <a:ln w="15875">
            <a:solidFill>
              <a:srgbClr val="D5DCE6"/>
            </a:solidFill>
            <a:prstDash val="solid"/>
          </a:ln>
        </p:spPr>
      </p:sp>
      <p:sp>
        <p:nvSpPr>
          <p:cNvPr id="13" name="Text 9"/>
          <p:cNvSpPr txBox="1"/>
          <p:nvPr/>
        </p:nvSpPr>
        <p:spPr>
          <a:xfrm>
            <a:off x="960120" y="3639312"/>
            <a:ext cx="2111350" cy="566928"/>
          </a:xfrm>
          <a:prstGeom prst="rect">
            <a:avLst/>
          </a:prstGeom>
          <a:noFill/>
          <a:ln/>
        </p:spPr>
        <p:txBody>
          <a:bodyPr wrap="square" lIns="0" tIns="0" rIns="0" bIns="0" rtlCol="0" anchor="ctr"/>
          <a:lstStyle/>
          <a:p>
            <a:pPr algn="ctr" indent="0" marL="0">
              <a:buNone/>
            </a:pPr>
            <a:r>
              <a:rPr lang="en-US" sz="1700" dirty="0">
                <a:solidFill>
                  <a:schemeClr val="tx1"/>
                </a:solidFill>
              </a:rPr>
              <a:t>Ik blijf thuis,</a:t>
            </a:r>
            <a:endParaRPr lang="en-US" sz="1700" dirty="0"/>
          </a:p>
        </p:txBody>
      </p:sp>
      <p:sp>
        <p:nvSpPr>
          <p:cNvPr id="14" name="Shape 10"/>
          <p:cNvSpPr/>
          <p:nvPr/>
        </p:nvSpPr>
        <p:spPr>
          <a:xfrm>
            <a:off x="3117190" y="3639312"/>
            <a:ext cx="777606" cy="566928"/>
          </a:xfrm>
          <a:prstGeom prst="roundRect">
            <a:avLst>
              <a:gd name="adj" fmla="val 12903"/>
            </a:avLst>
          </a:prstGeom>
          <a:solidFill>
            <a:schemeClr val="accent2"/>
          </a:solidFill>
          <a:ln w="12700">
            <a:solidFill>
              <a:srgbClr val="FFFFFF">
                <a:alpha val="0"/>
              </a:srgbClr>
            </a:solidFill>
            <a:prstDash val="solid"/>
          </a:ln>
        </p:spPr>
      </p:sp>
      <p:sp>
        <p:nvSpPr>
          <p:cNvPr id="15" name="Text 11"/>
          <p:cNvSpPr txBox="1"/>
          <p:nvPr/>
        </p:nvSpPr>
        <p:spPr>
          <a:xfrm>
            <a:off x="3117190" y="3639312"/>
            <a:ext cx="777606" cy="566928"/>
          </a:xfrm>
          <a:prstGeom prst="rect">
            <a:avLst/>
          </a:prstGeom>
          <a:noFill/>
          <a:ln/>
        </p:spPr>
        <p:txBody>
          <a:bodyPr wrap="square" lIns="0" tIns="0" rIns="0" bIns="0" rtlCol="0" anchor="ctr"/>
          <a:lstStyle/>
          <a:p>
            <a:pPr algn="ctr" indent="0" marL="0">
              <a:buNone/>
            </a:pPr>
            <a:r>
              <a:rPr lang="en-US" sz="1700" b="1" dirty="0">
                <a:solidFill>
                  <a:schemeClr val="bg1"/>
                </a:solidFill>
              </a:rPr>
              <a:t>want</a:t>
            </a:r>
            <a:endParaRPr lang="en-US" sz="1700" dirty="0"/>
          </a:p>
        </p:txBody>
      </p:sp>
      <p:sp>
        <p:nvSpPr>
          <p:cNvPr id="16" name="Shape 12"/>
          <p:cNvSpPr/>
          <p:nvPr/>
        </p:nvSpPr>
        <p:spPr>
          <a:xfrm>
            <a:off x="3940515" y="3639312"/>
            <a:ext cx="535107" cy="566928"/>
          </a:xfrm>
          <a:prstGeom prst="roundRect">
            <a:avLst>
              <a:gd name="adj" fmla="val 13671"/>
            </a:avLst>
          </a:prstGeom>
          <a:solidFill>
            <a:schemeClr val="bg1"/>
          </a:solidFill>
          <a:ln w="15875">
            <a:solidFill>
              <a:srgbClr val="D5DCE6"/>
            </a:solidFill>
            <a:prstDash val="solid"/>
          </a:ln>
        </p:spPr>
      </p:sp>
      <p:sp>
        <p:nvSpPr>
          <p:cNvPr id="17" name="Text 13"/>
          <p:cNvSpPr txBox="1"/>
          <p:nvPr/>
        </p:nvSpPr>
        <p:spPr>
          <a:xfrm>
            <a:off x="3940515" y="3639312"/>
            <a:ext cx="535107" cy="566928"/>
          </a:xfrm>
          <a:prstGeom prst="rect">
            <a:avLst/>
          </a:prstGeom>
          <a:noFill/>
          <a:ln/>
        </p:spPr>
        <p:txBody>
          <a:bodyPr wrap="square" lIns="0" tIns="0" rIns="0" bIns="0" rtlCol="0" anchor="ctr"/>
          <a:lstStyle/>
          <a:p>
            <a:pPr algn="ctr" indent="0" marL="0">
              <a:buNone/>
            </a:pPr>
            <a:r>
              <a:rPr lang="en-US" sz="1700" dirty="0">
                <a:solidFill>
                  <a:schemeClr val="tx1"/>
                </a:solidFill>
              </a:rPr>
              <a:t>ik</a:t>
            </a:r>
            <a:endParaRPr lang="en-US" sz="1700" dirty="0"/>
          </a:p>
        </p:txBody>
      </p:sp>
      <p:sp>
        <p:nvSpPr>
          <p:cNvPr id="18" name="Shape 14"/>
          <p:cNvSpPr/>
          <p:nvPr/>
        </p:nvSpPr>
        <p:spPr>
          <a:xfrm>
            <a:off x="4521342" y="3639312"/>
            <a:ext cx="656356" cy="566928"/>
          </a:xfrm>
          <a:prstGeom prst="roundRect">
            <a:avLst>
              <a:gd name="adj" fmla="val 12903"/>
            </a:avLst>
          </a:prstGeom>
          <a:solidFill>
            <a:srgbClr val="FBEDEB"/>
          </a:solidFill>
          <a:ln w="31750">
            <a:solidFill>
              <a:srgbClr val="B83227"/>
            </a:solidFill>
            <a:prstDash val="solid"/>
          </a:ln>
        </p:spPr>
      </p:sp>
      <p:sp>
        <p:nvSpPr>
          <p:cNvPr id="19" name="Text 15"/>
          <p:cNvSpPr txBox="1"/>
          <p:nvPr/>
        </p:nvSpPr>
        <p:spPr>
          <a:xfrm>
            <a:off x="4521342" y="3639312"/>
            <a:ext cx="656356" cy="566928"/>
          </a:xfrm>
          <a:prstGeom prst="rect">
            <a:avLst/>
          </a:prstGeom>
          <a:noFill/>
          <a:ln/>
        </p:spPr>
        <p:txBody>
          <a:bodyPr wrap="square" lIns="0" tIns="0" rIns="0" bIns="0" rtlCol="0" anchor="ctr"/>
          <a:lstStyle/>
          <a:p>
            <a:pPr algn="ctr" indent="0" marL="0">
              <a:buNone/>
            </a:pPr>
            <a:r>
              <a:rPr lang="en-US" sz="1700" b="1" dirty="0">
                <a:solidFill>
                  <a:schemeClr val="accent6"/>
                </a:solidFill>
              </a:rPr>
              <a:t>ben</a:t>
            </a:r>
            <a:endParaRPr lang="en-US" sz="1700" dirty="0"/>
          </a:p>
        </p:txBody>
      </p:sp>
      <p:sp>
        <p:nvSpPr>
          <p:cNvPr id="20" name="Shape 16"/>
          <p:cNvSpPr/>
          <p:nvPr/>
        </p:nvSpPr>
        <p:spPr>
          <a:xfrm>
            <a:off x="5223419" y="3639312"/>
            <a:ext cx="898855" cy="566928"/>
          </a:xfrm>
          <a:prstGeom prst="roundRect">
            <a:avLst>
              <a:gd name="adj" fmla="val 12903"/>
            </a:avLst>
          </a:prstGeom>
          <a:solidFill>
            <a:schemeClr val="bg1"/>
          </a:solidFill>
          <a:ln w="15875">
            <a:solidFill>
              <a:srgbClr val="D5DCE6"/>
            </a:solidFill>
            <a:prstDash val="solid"/>
          </a:ln>
        </p:spPr>
      </p:sp>
      <p:sp>
        <p:nvSpPr>
          <p:cNvPr id="21" name="Text 17"/>
          <p:cNvSpPr txBox="1"/>
          <p:nvPr/>
        </p:nvSpPr>
        <p:spPr>
          <a:xfrm>
            <a:off x="5223419" y="3639312"/>
            <a:ext cx="898855" cy="566928"/>
          </a:xfrm>
          <a:prstGeom prst="rect">
            <a:avLst/>
          </a:prstGeom>
          <a:noFill/>
          <a:ln/>
        </p:spPr>
        <p:txBody>
          <a:bodyPr wrap="square" lIns="0" tIns="0" rIns="0" bIns="0" rtlCol="0" anchor="ctr"/>
          <a:lstStyle/>
          <a:p>
            <a:pPr algn="ctr" indent="0" marL="0">
              <a:buNone/>
            </a:pPr>
            <a:r>
              <a:rPr lang="en-US" sz="1700" dirty="0">
                <a:solidFill>
                  <a:schemeClr val="tx1"/>
                </a:solidFill>
              </a:rPr>
              <a:t>ziek.</a:t>
            </a:r>
            <a:endParaRPr lang="en-US" sz="1700" dirty="0"/>
          </a:p>
        </p:txBody>
      </p:sp>
      <p:sp>
        <p:nvSpPr>
          <p:cNvPr id="22" name="Text 18"/>
          <p:cNvSpPr txBox="1"/>
          <p:nvPr/>
        </p:nvSpPr>
        <p:spPr>
          <a:xfrm>
            <a:off x="777240" y="4279392"/>
            <a:ext cx="5212080" cy="320040"/>
          </a:xfrm>
          <a:prstGeom prst="rect">
            <a:avLst/>
          </a:prstGeom>
          <a:noFill/>
          <a:ln/>
        </p:spPr>
        <p:txBody>
          <a:bodyPr wrap="square" lIns="0" tIns="0" rIns="0" bIns="0" rtlCol="0" anchor="t"/>
          <a:lstStyle/>
          <a:p>
            <a:pPr algn="ctr" indent="0" marL="0">
              <a:buNone/>
            </a:pPr>
            <a:r>
              <a:rPr lang="en-US" sz="1500" b="1" dirty="0">
                <a:solidFill>
                  <a:schemeClr val="accent2"/>
                </a:solidFill>
              </a:rPr>
              <a:t>verbe en ②</a:t>
            </a:r>
            <a:endParaRPr lang="en-US" sz="1500" dirty="0"/>
          </a:p>
        </p:txBody>
      </p:sp>
      <p:sp>
        <p:nvSpPr>
          <p:cNvPr id="23" name="Shape 19"/>
          <p:cNvSpPr/>
          <p:nvPr/>
        </p:nvSpPr>
        <p:spPr>
          <a:xfrm>
            <a:off x="6217920" y="3154680"/>
            <a:ext cx="5212080" cy="1508760"/>
          </a:xfrm>
          <a:prstGeom prst="roundRect">
            <a:avLst>
              <a:gd name="adj" fmla="val 4848"/>
            </a:avLst>
          </a:prstGeom>
          <a:solidFill>
            <a:schemeClr val="accent3">
              <a:alpha val="12000"/>
            </a:schemeClr>
          </a:solidFill>
          <a:ln w="15875">
            <a:solidFill>
              <a:srgbClr val="2E7D4F"/>
            </a:solidFill>
            <a:prstDash val="solid"/>
          </a:ln>
        </p:spPr>
      </p:sp>
      <p:pic>
        <p:nvPicPr>
          <p:cNvPr id="24" name="Image 1" descr="CheckCircle">    </p:cNvPr>
          <p:cNvPicPr>
            <a:picLocks noChangeAspect="1"/>
          </p:cNvPicPr>
          <p:nvPr/>
        </p:nvPicPr>
        <p:blipFill>
          <a:blip r:embed="rId2"/>
          <a:stretch>
            <a:fillRect/>
          </a:stretch>
        </p:blipFill>
        <p:spPr>
          <a:xfrm>
            <a:off x="6327648" y="3246120"/>
            <a:ext cx="310896" cy="310896"/>
          </a:xfrm>
          <a:prstGeom prst="rect">
            <a:avLst/>
          </a:prstGeom>
        </p:spPr>
      </p:pic>
      <p:sp>
        <p:nvSpPr>
          <p:cNvPr id="25" name="Shape 20"/>
          <p:cNvSpPr/>
          <p:nvPr/>
        </p:nvSpPr>
        <p:spPr>
          <a:xfrm>
            <a:off x="6400800" y="3639312"/>
            <a:ext cx="1990100" cy="566928"/>
          </a:xfrm>
          <a:prstGeom prst="roundRect">
            <a:avLst>
              <a:gd name="adj" fmla="val 12903"/>
            </a:avLst>
          </a:prstGeom>
          <a:solidFill>
            <a:schemeClr val="bg1"/>
          </a:solidFill>
          <a:ln w="15875">
            <a:solidFill>
              <a:srgbClr val="D5DCE6"/>
            </a:solidFill>
            <a:prstDash val="solid"/>
          </a:ln>
        </p:spPr>
      </p:sp>
      <p:sp>
        <p:nvSpPr>
          <p:cNvPr id="26" name="Text 21"/>
          <p:cNvSpPr txBox="1"/>
          <p:nvPr/>
        </p:nvSpPr>
        <p:spPr>
          <a:xfrm>
            <a:off x="6400800" y="3639312"/>
            <a:ext cx="1990100" cy="566928"/>
          </a:xfrm>
          <a:prstGeom prst="rect">
            <a:avLst/>
          </a:prstGeom>
          <a:noFill/>
          <a:ln/>
        </p:spPr>
        <p:txBody>
          <a:bodyPr wrap="square" lIns="0" tIns="0" rIns="0" bIns="0" rtlCol="0" anchor="ctr"/>
          <a:lstStyle/>
          <a:p>
            <a:pPr algn="ctr" indent="0" marL="0">
              <a:buNone/>
            </a:pPr>
            <a:r>
              <a:rPr lang="en-US" sz="1700" dirty="0">
                <a:solidFill>
                  <a:schemeClr val="tx1"/>
                </a:solidFill>
              </a:rPr>
              <a:t>Ik blijf thuis</a:t>
            </a:r>
            <a:endParaRPr lang="en-US" sz="1700" dirty="0"/>
          </a:p>
        </p:txBody>
      </p:sp>
      <p:sp>
        <p:nvSpPr>
          <p:cNvPr id="27" name="Shape 22"/>
          <p:cNvSpPr/>
          <p:nvPr/>
        </p:nvSpPr>
        <p:spPr>
          <a:xfrm>
            <a:off x="8436620" y="3639312"/>
            <a:ext cx="898855" cy="566928"/>
          </a:xfrm>
          <a:prstGeom prst="roundRect">
            <a:avLst>
              <a:gd name="adj" fmla="val 12903"/>
            </a:avLst>
          </a:prstGeom>
          <a:solidFill>
            <a:schemeClr val="accent1"/>
          </a:solidFill>
          <a:ln w="12700">
            <a:solidFill>
              <a:srgbClr val="FFFFFF">
                <a:alpha val="0"/>
              </a:srgbClr>
            </a:solidFill>
            <a:prstDash val="solid"/>
          </a:ln>
        </p:spPr>
      </p:sp>
      <p:sp>
        <p:nvSpPr>
          <p:cNvPr id="28" name="Text 23"/>
          <p:cNvSpPr txBox="1"/>
          <p:nvPr/>
        </p:nvSpPr>
        <p:spPr>
          <a:xfrm>
            <a:off x="8436620" y="3639312"/>
            <a:ext cx="898855" cy="566928"/>
          </a:xfrm>
          <a:prstGeom prst="rect">
            <a:avLst/>
          </a:prstGeom>
          <a:noFill/>
          <a:ln/>
        </p:spPr>
        <p:txBody>
          <a:bodyPr wrap="square" lIns="0" tIns="0" rIns="0" bIns="0" rtlCol="0" anchor="ctr"/>
          <a:lstStyle/>
          <a:p>
            <a:pPr algn="ctr" indent="0" marL="0">
              <a:buNone/>
            </a:pPr>
            <a:r>
              <a:rPr lang="en-US" sz="1700" b="1" dirty="0">
                <a:solidFill>
                  <a:schemeClr val="bg1"/>
                </a:solidFill>
              </a:rPr>
              <a:t>omdat</a:t>
            </a:r>
            <a:endParaRPr lang="en-US" sz="1700" dirty="0"/>
          </a:p>
        </p:txBody>
      </p:sp>
      <p:sp>
        <p:nvSpPr>
          <p:cNvPr id="29" name="Shape 24"/>
          <p:cNvSpPr/>
          <p:nvPr/>
        </p:nvSpPr>
        <p:spPr>
          <a:xfrm>
            <a:off x="9381195" y="3639312"/>
            <a:ext cx="535107" cy="566928"/>
          </a:xfrm>
          <a:prstGeom prst="roundRect">
            <a:avLst>
              <a:gd name="adj" fmla="val 13671"/>
            </a:avLst>
          </a:prstGeom>
          <a:solidFill>
            <a:schemeClr val="bg1"/>
          </a:solidFill>
          <a:ln w="15875">
            <a:solidFill>
              <a:srgbClr val="D5DCE6"/>
            </a:solidFill>
            <a:prstDash val="solid"/>
          </a:ln>
        </p:spPr>
      </p:sp>
      <p:sp>
        <p:nvSpPr>
          <p:cNvPr id="30" name="Text 25"/>
          <p:cNvSpPr txBox="1"/>
          <p:nvPr/>
        </p:nvSpPr>
        <p:spPr>
          <a:xfrm>
            <a:off x="9381195" y="3639312"/>
            <a:ext cx="535107" cy="566928"/>
          </a:xfrm>
          <a:prstGeom prst="rect">
            <a:avLst/>
          </a:prstGeom>
          <a:noFill/>
          <a:ln/>
        </p:spPr>
        <p:txBody>
          <a:bodyPr wrap="square" lIns="0" tIns="0" rIns="0" bIns="0" rtlCol="0" anchor="ctr"/>
          <a:lstStyle/>
          <a:p>
            <a:pPr algn="ctr" indent="0" marL="0">
              <a:buNone/>
            </a:pPr>
            <a:r>
              <a:rPr lang="en-US" sz="1700" dirty="0">
                <a:solidFill>
                  <a:schemeClr val="tx1"/>
                </a:solidFill>
              </a:rPr>
              <a:t>ik</a:t>
            </a:r>
            <a:endParaRPr lang="en-US" sz="1700" dirty="0"/>
          </a:p>
        </p:txBody>
      </p:sp>
      <p:sp>
        <p:nvSpPr>
          <p:cNvPr id="31" name="Shape 26"/>
          <p:cNvSpPr/>
          <p:nvPr/>
        </p:nvSpPr>
        <p:spPr>
          <a:xfrm>
            <a:off x="9962022" y="3639312"/>
            <a:ext cx="777606" cy="566928"/>
          </a:xfrm>
          <a:prstGeom prst="roundRect">
            <a:avLst>
              <a:gd name="adj" fmla="val 12903"/>
            </a:avLst>
          </a:prstGeom>
          <a:solidFill>
            <a:schemeClr val="bg1"/>
          </a:solidFill>
          <a:ln w="15875">
            <a:solidFill>
              <a:srgbClr val="D5DCE6"/>
            </a:solidFill>
            <a:prstDash val="solid"/>
          </a:ln>
        </p:spPr>
      </p:sp>
      <p:sp>
        <p:nvSpPr>
          <p:cNvPr id="32" name="Text 27"/>
          <p:cNvSpPr txBox="1"/>
          <p:nvPr/>
        </p:nvSpPr>
        <p:spPr>
          <a:xfrm>
            <a:off x="9962022" y="3639312"/>
            <a:ext cx="777606" cy="566928"/>
          </a:xfrm>
          <a:prstGeom prst="rect">
            <a:avLst/>
          </a:prstGeom>
          <a:noFill/>
          <a:ln/>
        </p:spPr>
        <p:txBody>
          <a:bodyPr wrap="square" lIns="0" tIns="0" rIns="0" bIns="0" rtlCol="0" anchor="ctr"/>
          <a:lstStyle/>
          <a:p>
            <a:pPr algn="ctr" indent="0" marL="0">
              <a:buNone/>
            </a:pPr>
            <a:r>
              <a:rPr lang="en-US" sz="1700" dirty="0">
                <a:solidFill>
                  <a:schemeClr val="tx1"/>
                </a:solidFill>
              </a:rPr>
              <a:t>ziek</a:t>
            </a:r>
            <a:endParaRPr lang="en-US" sz="1700" dirty="0"/>
          </a:p>
        </p:txBody>
      </p:sp>
      <p:sp>
        <p:nvSpPr>
          <p:cNvPr id="33" name="Shape 28"/>
          <p:cNvSpPr/>
          <p:nvPr/>
        </p:nvSpPr>
        <p:spPr>
          <a:xfrm>
            <a:off x="10785348" y="3639312"/>
            <a:ext cx="656356" cy="566928"/>
          </a:xfrm>
          <a:prstGeom prst="roundRect">
            <a:avLst>
              <a:gd name="adj" fmla="val 12903"/>
            </a:avLst>
          </a:prstGeom>
          <a:solidFill>
            <a:srgbClr val="FBEDEB"/>
          </a:solidFill>
          <a:ln w="31750">
            <a:solidFill>
              <a:srgbClr val="B83227"/>
            </a:solidFill>
            <a:prstDash val="solid"/>
          </a:ln>
        </p:spPr>
      </p:sp>
      <p:sp>
        <p:nvSpPr>
          <p:cNvPr id="34" name="Text 29"/>
          <p:cNvSpPr txBox="1"/>
          <p:nvPr/>
        </p:nvSpPr>
        <p:spPr>
          <a:xfrm>
            <a:off x="10785348" y="3639312"/>
            <a:ext cx="656356" cy="566928"/>
          </a:xfrm>
          <a:prstGeom prst="rect">
            <a:avLst/>
          </a:prstGeom>
          <a:noFill/>
          <a:ln/>
        </p:spPr>
        <p:txBody>
          <a:bodyPr wrap="square" lIns="0" tIns="0" rIns="0" bIns="0" rtlCol="0" anchor="ctr"/>
          <a:lstStyle/>
          <a:p>
            <a:pPr algn="ctr" indent="0" marL="0">
              <a:buNone/>
            </a:pPr>
            <a:r>
              <a:rPr lang="en-US" sz="1700" b="1" dirty="0">
                <a:solidFill>
                  <a:schemeClr val="accent6"/>
                </a:solidFill>
              </a:rPr>
              <a:t>ben</a:t>
            </a:r>
            <a:endParaRPr lang="en-US" sz="1700" dirty="0"/>
          </a:p>
        </p:txBody>
      </p:sp>
      <p:sp>
        <p:nvSpPr>
          <p:cNvPr id="35" name="Text 30"/>
          <p:cNvSpPr txBox="1"/>
          <p:nvPr/>
        </p:nvSpPr>
        <p:spPr>
          <a:xfrm>
            <a:off x="6217920" y="4279392"/>
            <a:ext cx="5212080" cy="320040"/>
          </a:xfrm>
          <a:prstGeom prst="rect">
            <a:avLst/>
          </a:prstGeom>
          <a:noFill/>
          <a:ln/>
        </p:spPr>
        <p:txBody>
          <a:bodyPr wrap="square" lIns="0" tIns="0" rIns="0" bIns="0" rtlCol="0" anchor="t"/>
          <a:lstStyle/>
          <a:p>
            <a:pPr algn="ctr" indent="0" marL="0">
              <a:buNone/>
            </a:pPr>
            <a:r>
              <a:rPr lang="en-US" sz="1500" b="1" dirty="0">
                <a:solidFill>
                  <a:schemeClr val="accent1"/>
                </a:solidFill>
              </a:rPr>
              <a:t>verbe à la fin</a:t>
            </a:r>
            <a:endParaRPr lang="en-US" sz="1500" dirty="0"/>
          </a:p>
        </p:txBody>
      </p:sp>
      <p:pic>
        <p:nvPicPr>
          <p:cNvPr id="36" name="Image 2" descr="TimesCircle">    </p:cNvPr>
          <p:cNvPicPr>
            <a:picLocks noChangeAspect="1"/>
          </p:cNvPicPr>
          <p:nvPr/>
        </p:nvPicPr>
        <p:blipFill>
          <a:blip r:embed="rId3"/>
          <a:stretch>
            <a:fillRect/>
          </a:stretch>
        </p:blipFill>
        <p:spPr>
          <a:xfrm>
            <a:off x="868680" y="5029200"/>
            <a:ext cx="347472" cy="347472"/>
          </a:xfrm>
          <a:prstGeom prst="rect">
            <a:avLst/>
          </a:prstGeom>
        </p:spPr>
      </p:pic>
      <p:sp>
        <p:nvSpPr>
          <p:cNvPr id="37" name="Text 31"/>
          <p:cNvSpPr txBox="1"/>
          <p:nvPr/>
        </p:nvSpPr>
        <p:spPr>
          <a:xfrm>
            <a:off x="1325880" y="4892040"/>
            <a:ext cx="4754880" cy="640080"/>
          </a:xfrm>
          <a:prstGeom prst="rect">
            <a:avLst/>
          </a:prstGeom>
          <a:noFill/>
          <a:ln/>
        </p:spPr>
        <p:txBody>
          <a:bodyPr wrap="square" lIns="0" tIns="0" rIns="0" bIns="0" rtlCol="0" anchor="ctr"/>
          <a:lstStyle/>
          <a:p>
            <a:pPr algn="l" indent="0" marL="0">
              <a:buNone/>
            </a:pPr>
            <a:r>
              <a:rPr lang="en-US" sz="1900" i="1" strike="sngStrike" dirty="0">
                <a:solidFill>
                  <a:schemeClr val="accent6"/>
                </a:solidFill>
              </a:rPr>
              <a:t>Ik blijf thuis omdat ik ben ziek.</a:t>
            </a:r>
            <a:endParaRPr lang="en-US" sz="1900" dirty="0"/>
          </a:p>
        </p:txBody>
      </p:sp>
      <p:pic>
        <p:nvPicPr>
          <p:cNvPr id="38" name="Image 3" descr="TimesCircle">    </p:cNvPr>
          <p:cNvPicPr>
            <a:picLocks noChangeAspect="1"/>
          </p:cNvPicPr>
          <p:nvPr/>
        </p:nvPicPr>
        <p:blipFill>
          <a:blip r:embed="rId4"/>
          <a:stretch>
            <a:fillRect/>
          </a:stretch>
        </p:blipFill>
        <p:spPr>
          <a:xfrm>
            <a:off x="6309360" y="5029200"/>
            <a:ext cx="347472" cy="347472"/>
          </a:xfrm>
          <a:prstGeom prst="rect">
            <a:avLst/>
          </a:prstGeom>
        </p:spPr>
      </p:pic>
      <p:sp>
        <p:nvSpPr>
          <p:cNvPr id="39" name="Text 32"/>
          <p:cNvSpPr txBox="1"/>
          <p:nvPr/>
        </p:nvSpPr>
        <p:spPr>
          <a:xfrm>
            <a:off x="6766560" y="4892040"/>
            <a:ext cx="4754880" cy="640080"/>
          </a:xfrm>
          <a:prstGeom prst="rect">
            <a:avLst/>
          </a:prstGeom>
          <a:noFill/>
          <a:ln/>
        </p:spPr>
        <p:txBody>
          <a:bodyPr wrap="square" lIns="0" tIns="0" rIns="0" bIns="0" rtlCol="0" anchor="ctr"/>
          <a:lstStyle/>
          <a:p>
            <a:pPr algn="l" indent="0" marL="0">
              <a:buNone/>
            </a:pPr>
            <a:r>
              <a:rPr lang="en-US" sz="1900" i="1" strike="sngStrike" dirty="0">
                <a:solidFill>
                  <a:schemeClr val="accent6"/>
                </a:solidFill>
              </a:rPr>
              <a:t>Ik blijf thuis want ik ziek ben.</a:t>
            </a:r>
            <a:endParaRPr lang="en-US" sz="1900" dirty="0"/>
          </a:p>
        </p:txBody>
      </p:sp>
      <p:sp>
        <p:nvSpPr>
          <p:cNvPr id="40" name="Text 33"/>
          <p:cNvSpPr txBox="1"/>
          <p:nvPr/>
        </p:nvSpPr>
        <p:spPr>
          <a:xfrm>
            <a:off x="548640" y="5623560"/>
            <a:ext cx="11091672" cy="502920"/>
          </a:xfrm>
          <a:prstGeom prst="rect">
            <a:avLst/>
          </a:prstGeom>
          <a:noFill/>
          <a:ln/>
        </p:spPr>
        <p:txBody>
          <a:bodyPr wrap="square" lIns="0" tIns="0" rIns="0" bIns="0" rtlCol="0" anchor="ctr"/>
          <a:lstStyle/>
          <a:p>
            <a:pPr algn="ctr" indent="0" marL="0">
              <a:buNone/>
            </a:pPr>
            <a:r>
              <a:rPr lang="en-US" sz="1600" i="1" dirty="0">
                <a:solidFill>
                  <a:schemeClr val="tx2"/>
                </a:solidFill>
              </a:rPr>
              <a:t>Même sens, grammaire différente. Seul </a:t>
            </a:r>
            <a:r>
              <a:rPr lang="en-US" sz="1600" i="1" dirty="0">
                <a:solidFill>
                  <a:schemeClr val="tx2"/>
                </a:solidFill>
              </a:rPr>
              <a:t>omdat</a:t>
            </a:r>
            <a:r>
              <a:rPr lang="en-US" sz="1600" i="1" dirty="0">
                <a:solidFill>
                  <a:schemeClr val="tx2"/>
                </a:solidFill>
              </a:rPr>
              <a:t> répond à </a:t>
            </a:r>
            <a:r>
              <a:rPr lang="en-US" sz="1600" i="1" dirty="0">
                <a:solidFill>
                  <a:schemeClr val="tx2"/>
                </a:solidFill>
              </a:rPr>
              <a:t>Waarom?</a:t>
            </a:r>
            <a:r>
              <a:rPr lang="en-US" sz="1600" i="1" dirty="0">
                <a:solidFill>
                  <a:schemeClr val="tx2"/>
                </a:solidFill>
              </a:rPr>
              <a:t> : </a:t>
            </a:r>
            <a:r>
              <a:rPr lang="en-US" sz="1600" i="1" dirty="0">
                <a:solidFill>
                  <a:schemeClr val="tx2"/>
                </a:solidFill>
              </a:rPr>
              <a:t>Omdat ik ziek ben.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subordonnée : le verbe va au bout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783080"/>
            <a:ext cx="3291840" cy="1417320"/>
          </a:xfrm>
          <a:prstGeom prst="roundRect">
            <a:avLst>
              <a:gd name="adj" fmla="val 5161"/>
            </a:avLst>
          </a:prstGeom>
          <a:solidFill>
            <a:schemeClr val="accent2">
              <a:alpha val="10000"/>
            </a:schemeClr>
          </a:solidFill>
          <a:ln w="25400">
            <a:solidFill>
              <a:srgbClr val="2A6FB0"/>
            </a:solidFill>
            <a:prstDash val="solid"/>
          </a:ln>
        </p:spPr>
      </p:sp>
      <p:sp>
        <p:nvSpPr>
          <p:cNvPr id="6" name="Text 3"/>
          <p:cNvSpPr txBox="1"/>
          <p:nvPr/>
        </p:nvSpPr>
        <p:spPr>
          <a:xfrm>
            <a:off x="548640" y="1463040"/>
            <a:ext cx="3291840" cy="292608"/>
          </a:xfrm>
          <a:prstGeom prst="rect">
            <a:avLst/>
          </a:prstGeom>
          <a:noFill/>
          <a:ln/>
        </p:spPr>
        <p:txBody>
          <a:bodyPr wrap="square" lIns="0" tIns="0" rIns="0" bIns="0" rtlCol="0" anchor="t"/>
          <a:lstStyle/>
          <a:p>
            <a:pPr algn="ctr" indent="0" marL="0">
              <a:buNone/>
            </a:pPr>
            <a:r>
              <a:rPr lang="en-US" sz="1300" b="1" spc="100" kern="0" dirty="0">
                <a:solidFill>
                  <a:schemeClr val="accent2"/>
                </a:solidFill>
              </a:rPr>
              <a:t>HOOFDZIN · principale</a:t>
            </a:r>
            <a:endParaRPr lang="en-US" sz="1300" dirty="0"/>
          </a:p>
        </p:txBody>
      </p:sp>
      <p:sp>
        <p:nvSpPr>
          <p:cNvPr id="7" name="Shape 4"/>
          <p:cNvSpPr/>
          <p:nvPr/>
        </p:nvSpPr>
        <p:spPr>
          <a:xfrm>
            <a:off x="777240" y="2148840"/>
            <a:ext cx="1097280" cy="731520"/>
          </a:xfrm>
          <a:prstGeom prst="roundRect">
            <a:avLst>
              <a:gd name="adj" fmla="val 10000"/>
            </a:avLst>
          </a:prstGeom>
          <a:solidFill>
            <a:schemeClr val="bg1"/>
          </a:solidFill>
          <a:ln w="15875">
            <a:solidFill>
              <a:srgbClr val="D5DCE6"/>
            </a:solidFill>
            <a:prstDash val="solid"/>
          </a:ln>
        </p:spPr>
      </p:sp>
      <p:sp>
        <p:nvSpPr>
          <p:cNvPr id="8" name="Text 5"/>
          <p:cNvSpPr txBox="1"/>
          <p:nvPr/>
        </p:nvSpPr>
        <p:spPr>
          <a:xfrm>
            <a:off x="777240" y="2148840"/>
            <a:ext cx="1097280" cy="731520"/>
          </a:xfrm>
          <a:prstGeom prst="rect">
            <a:avLst/>
          </a:prstGeom>
          <a:noFill/>
          <a:ln/>
        </p:spPr>
        <p:txBody>
          <a:bodyPr wrap="square" lIns="0" tIns="0" rIns="0" bIns="0" rtlCol="0" anchor="ctr"/>
          <a:lstStyle/>
          <a:p>
            <a:pPr algn="ctr" indent="0" marL="0">
              <a:buNone/>
            </a:pPr>
            <a:r>
              <a:rPr lang="en-US" sz="2600" dirty="0">
                <a:solidFill>
                  <a:schemeClr val="tx1"/>
                </a:solidFill>
              </a:rPr>
              <a:t>Ik</a:t>
            </a:r>
            <a:endParaRPr lang="en-US" sz="2600" dirty="0"/>
          </a:p>
        </p:txBody>
      </p:sp>
      <p:sp>
        <p:nvSpPr>
          <p:cNvPr id="9" name="Shape 6"/>
          <p:cNvSpPr/>
          <p:nvPr/>
        </p:nvSpPr>
        <p:spPr>
          <a:xfrm>
            <a:off x="1965960" y="2148840"/>
            <a:ext cx="1600200" cy="731520"/>
          </a:xfrm>
          <a:prstGeom prst="roundRect">
            <a:avLst>
              <a:gd name="adj" fmla="val 10000"/>
            </a:avLst>
          </a:prstGeom>
          <a:solidFill>
            <a:srgbClr val="FBEDEB"/>
          </a:solidFill>
          <a:ln w="31750">
            <a:solidFill>
              <a:srgbClr val="B83227"/>
            </a:solidFill>
            <a:prstDash val="solid"/>
          </a:ln>
        </p:spPr>
      </p:sp>
      <p:sp>
        <p:nvSpPr>
          <p:cNvPr id="10" name="Text 7"/>
          <p:cNvSpPr txBox="1"/>
          <p:nvPr/>
        </p:nvSpPr>
        <p:spPr>
          <a:xfrm>
            <a:off x="1965960" y="2148840"/>
            <a:ext cx="1600200" cy="731520"/>
          </a:xfrm>
          <a:prstGeom prst="rect">
            <a:avLst/>
          </a:prstGeom>
          <a:noFill/>
          <a:ln/>
        </p:spPr>
        <p:txBody>
          <a:bodyPr wrap="square" lIns="0" tIns="0" rIns="0" bIns="0" rtlCol="0" anchor="ctr"/>
          <a:lstStyle/>
          <a:p>
            <a:pPr algn="ctr" indent="0" marL="0">
              <a:buNone/>
            </a:pPr>
            <a:r>
              <a:rPr lang="en-US" sz="2600" b="1" dirty="0">
                <a:solidFill>
                  <a:schemeClr val="accent6"/>
                </a:solidFill>
              </a:rPr>
              <a:t>denk</a:t>
            </a:r>
            <a:endParaRPr lang="en-US" sz="2600" dirty="0"/>
          </a:p>
        </p:txBody>
      </p:sp>
      <p:sp>
        <p:nvSpPr>
          <p:cNvPr id="11" name="Shape 8"/>
          <p:cNvSpPr/>
          <p:nvPr/>
        </p:nvSpPr>
        <p:spPr>
          <a:xfrm>
            <a:off x="4069080" y="2148840"/>
            <a:ext cx="1463040" cy="731520"/>
          </a:xfrm>
          <a:prstGeom prst="roundRect">
            <a:avLst>
              <a:gd name="adj" fmla="val 10000"/>
            </a:avLst>
          </a:prstGeom>
          <a:solidFill>
            <a:schemeClr val="accent1"/>
          </a:solidFill>
          <a:ln w="12700">
            <a:solidFill>
              <a:srgbClr val="FFFFFF">
                <a:alpha val="0"/>
              </a:srgbClr>
            </a:solidFill>
            <a:prstDash val="solid"/>
          </a:ln>
        </p:spPr>
      </p:sp>
      <p:sp>
        <p:nvSpPr>
          <p:cNvPr id="12" name="Text 9"/>
          <p:cNvSpPr txBox="1"/>
          <p:nvPr/>
        </p:nvSpPr>
        <p:spPr>
          <a:xfrm>
            <a:off x="4069080" y="2148840"/>
            <a:ext cx="1463040" cy="731520"/>
          </a:xfrm>
          <a:prstGeom prst="rect">
            <a:avLst/>
          </a:prstGeom>
          <a:noFill/>
          <a:ln/>
        </p:spPr>
        <p:txBody>
          <a:bodyPr wrap="square" lIns="0" tIns="0" rIns="0" bIns="0" rtlCol="0" anchor="ctr"/>
          <a:lstStyle/>
          <a:p>
            <a:pPr algn="ctr" indent="0" marL="0">
              <a:buNone/>
            </a:pPr>
            <a:r>
              <a:rPr lang="en-US" sz="2600" b="1" dirty="0">
                <a:solidFill>
                  <a:schemeClr val="bg1"/>
                </a:solidFill>
              </a:rPr>
              <a:t>dat</a:t>
            </a:r>
            <a:endParaRPr lang="en-US" sz="2600" dirty="0"/>
          </a:p>
        </p:txBody>
      </p:sp>
      <p:sp>
        <p:nvSpPr>
          <p:cNvPr id="13" name="Text 10"/>
          <p:cNvSpPr txBox="1"/>
          <p:nvPr/>
        </p:nvSpPr>
        <p:spPr>
          <a:xfrm>
            <a:off x="3886200" y="1463040"/>
            <a:ext cx="1828800" cy="292608"/>
          </a:xfrm>
          <a:prstGeom prst="rect">
            <a:avLst/>
          </a:prstGeom>
          <a:noFill/>
          <a:ln/>
        </p:spPr>
        <p:txBody>
          <a:bodyPr wrap="square" lIns="0" tIns="0" rIns="0" bIns="0" rtlCol="0" anchor="t"/>
          <a:lstStyle/>
          <a:p>
            <a:pPr algn="ctr" indent="0" marL="0">
              <a:buNone/>
            </a:pPr>
            <a:r>
              <a:rPr lang="en-US" sz="1300" b="1" dirty="0">
                <a:solidFill>
                  <a:schemeClr val="accent1"/>
                </a:solidFill>
              </a:rPr>
              <a:t>mot-crochet</a:t>
            </a:r>
            <a:endParaRPr lang="en-US" sz="1300" dirty="0"/>
          </a:p>
        </p:txBody>
      </p:sp>
      <p:sp>
        <p:nvSpPr>
          <p:cNvPr id="14" name="Shape 11"/>
          <p:cNvSpPr/>
          <p:nvPr/>
        </p:nvSpPr>
        <p:spPr>
          <a:xfrm>
            <a:off x="5760720" y="1783080"/>
            <a:ext cx="5879592" cy="1417320"/>
          </a:xfrm>
          <a:prstGeom prst="roundRect">
            <a:avLst>
              <a:gd name="adj" fmla="val 5161"/>
            </a:avLst>
          </a:prstGeom>
          <a:solidFill>
            <a:schemeClr val="accent1">
              <a:alpha val="10000"/>
            </a:schemeClr>
          </a:solidFill>
          <a:ln w="25400">
            <a:solidFill>
              <a:srgbClr val="D9700F"/>
            </a:solidFill>
            <a:prstDash val="solid"/>
          </a:ln>
        </p:spPr>
      </p:sp>
      <p:sp>
        <p:nvSpPr>
          <p:cNvPr id="15" name="Text 12"/>
          <p:cNvSpPr txBox="1"/>
          <p:nvPr/>
        </p:nvSpPr>
        <p:spPr>
          <a:xfrm>
            <a:off x="5760720" y="1463040"/>
            <a:ext cx="5879592" cy="292608"/>
          </a:xfrm>
          <a:prstGeom prst="rect">
            <a:avLst/>
          </a:prstGeom>
          <a:noFill/>
          <a:ln/>
        </p:spPr>
        <p:txBody>
          <a:bodyPr wrap="square" lIns="0" tIns="0" rIns="0" bIns="0" rtlCol="0" anchor="t"/>
          <a:lstStyle/>
          <a:p>
            <a:pPr algn="ctr" indent="0" marL="0">
              <a:buNone/>
            </a:pPr>
            <a:r>
              <a:rPr lang="en-US" sz="1300" b="1" spc="100" kern="0" dirty="0">
                <a:solidFill>
                  <a:schemeClr val="accent1"/>
                </a:solidFill>
              </a:rPr>
              <a:t>BIJZIN · subordonnée</a:t>
            </a:r>
            <a:endParaRPr lang="en-US" sz="1300" dirty="0"/>
          </a:p>
        </p:txBody>
      </p:sp>
      <p:sp>
        <p:nvSpPr>
          <p:cNvPr id="16" name="Shape 13"/>
          <p:cNvSpPr/>
          <p:nvPr/>
        </p:nvSpPr>
        <p:spPr>
          <a:xfrm>
            <a:off x="5989320" y="2148840"/>
            <a:ext cx="1097280" cy="731520"/>
          </a:xfrm>
          <a:prstGeom prst="roundRect">
            <a:avLst>
              <a:gd name="adj" fmla="val 10000"/>
            </a:avLst>
          </a:prstGeom>
          <a:solidFill>
            <a:schemeClr val="bg1"/>
          </a:solidFill>
          <a:ln w="15875">
            <a:solidFill>
              <a:srgbClr val="D5DCE6"/>
            </a:solidFill>
            <a:prstDash val="solid"/>
          </a:ln>
        </p:spPr>
      </p:sp>
      <p:sp>
        <p:nvSpPr>
          <p:cNvPr id="17" name="Text 14"/>
          <p:cNvSpPr txBox="1"/>
          <p:nvPr/>
        </p:nvSpPr>
        <p:spPr>
          <a:xfrm>
            <a:off x="5989320" y="2148840"/>
            <a:ext cx="1097280" cy="731520"/>
          </a:xfrm>
          <a:prstGeom prst="rect">
            <a:avLst/>
          </a:prstGeom>
          <a:noFill/>
          <a:ln/>
        </p:spPr>
        <p:txBody>
          <a:bodyPr wrap="square" lIns="0" tIns="0" rIns="0" bIns="0" rtlCol="0" anchor="ctr"/>
          <a:lstStyle/>
          <a:p>
            <a:pPr algn="ctr" indent="0" marL="0">
              <a:buNone/>
            </a:pPr>
            <a:r>
              <a:rPr lang="en-US" sz="2600" dirty="0">
                <a:solidFill>
                  <a:schemeClr val="tx1"/>
                </a:solidFill>
              </a:rPr>
              <a:t>ik</a:t>
            </a:r>
            <a:endParaRPr lang="en-US" sz="2600" dirty="0"/>
          </a:p>
        </p:txBody>
      </p:sp>
      <p:sp>
        <p:nvSpPr>
          <p:cNvPr id="18" name="Shape 15"/>
          <p:cNvSpPr/>
          <p:nvPr/>
        </p:nvSpPr>
        <p:spPr>
          <a:xfrm>
            <a:off x="7178040" y="2148840"/>
            <a:ext cx="1417320" cy="731520"/>
          </a:xfrm>
          <a:prstGeom prst="roundRect">
            <a:avLst>
              <a:gd name="adj" fmla="val 10000"/>
            </a:avLst>
          </a:prstGeom>
          <a:solidFill>
            <a:schemeClr val="bg2"/>
          </a:solidFill>
          <a:ln w="15875">
            <a:solidFill>
              <a:srgbClr val="4A5A70"/>
            </a:solidFill>
            <a:prstDash val="sysDash"/>
          </a:ln>
        </p:spPr>
      </p:sp>
      <p:sp>
        <p:nvSpPr>
          <p:cNvPr id="19" name="Text 16"/>
          <p:cNvSpPr txBox="1"/>
          <p:nvPr/>
        </p:nvSpPr>
        <p:spPr>
          <a:xfrm>
            <a:off x="7178040" y="2148840"/>
            <a:ext cx="1417320" cy="731520"/>
          </a:xfrm>
          <a:prstGeom prst="rect">
            <a:avLst/>
          </a:prstGeom>
          <a:noFill/>
          <a:ln/>
        </p:spPr>
        <p:txBody>
          <a:bodyPr wrap="square" lIns="0" tIns="0" rIns="0" bIns="0" rtlCol="0" anchor="ctr"/>
          <a:lstStyle/>
          <a:p>
            <a:pPr algn="ctr" indent="0" marL="0">
              <a:buNone/>
            </a:pPr>
            <a:endParaRPr lang="en-US" sz="2600" dirty="0"/>
          </a:p>
        </p:txBody>
      </p:sp>
      <p:sp>
        <p:nvSpPr>
          <p:cNvPr id="20" name="Shape 17"/>
          <p:cNvSpPr/>
          <p:nvPr/>
        </p:nvSpPr>
        <p:spPr>
          <a:xfrm>
            <a:off x="8686800" y="2148840"/>
            <a:ext cx="1463040" cy="731520"/>
          </a:xfrm>
          <a:prstGeom prst="roundRect">
            <a:avLst>
              <a:gd name="adj" fmla="val 10000"/>
            </a:avLst>
          </a:prstGeom>
          <a:solidFill>
            <a:schemeClr val="bg1"/>
          </a:solidFill>
          <a:ln w="15875">
            <a:solidFill>
              <a:srgbClr val="D5DCE6"/>
            </a:solidFill>
            <a:prstDash val="solid"/>
          </a:ln>
        </p:spPr>
      </p:sp>
      <p:sp>
        <p:nvSpPr>
          <p:cNvPr id="21" name="Text 18"/>
          <p:cNvSpPr txBox="1"/>
          <p:nvPr/>
        </p:nvSpPr>
        <p:spPr>
          <a:xfrm>
            <a:off x="8686800" y="2148840"/>
            <a:ext cx="1463040" cy="731520"/>
          </a:xfrm>
          <a:prstGeom prst="rect">
            <a:avLst/>
          </a:prstGeom>
          <a:noFill/>
          <a:ln/>
        </p:spPr>
        <p:txBody>
          <a:bodyPr wrap="square" lIns="0" tIns="0" rIns="0" bIns="0" rtlCol="0" anchor="ctr"/>
          <a:lstStyle/>
          <a:p>
            <a:pPr algn="ctr" indent="0" marL="0">
              <a:buNone/>
            </a:pPr>
            <a:r>
              <a:rPr lang="en-US" sz="2600" dirty="0">
                <a:solidFill>
                  <a:schemeClr val="tx1"/>
                </a:solidFill>
              </a:rPr>
              <a:t>ziek</a:t>
            </a:r>
            <a:endParaRPr lang="en-US" sz="2600" dirty="0"/>
          </a:p>
        </p:txBody>
      </p:sp>
      <p:sp>
        <p:nvSpPr>
          <p:cNvPr id="22" name="Shape 19"/>
          <p:cNvSpPr/>
          <p:nvPr/>
        </p:nvSpPr>
        <p:spPr>
          <a:xfrm>
            <a:off x="10241280" y="2148840"/>
            <a:ext cx="1371600" cy="731520"/>
          </a:xfrm>
          <a:prstGeom prst="roundRect">
            <a:avLst>
              <a:gd name="adj" fmla="val 10000"/>
            </a:avLst>
          </a:prstGeom>
          <a:solidFill>
            <a:srgbClr val="FBEDEB"/>
          </a:solidFill>
          <a:ln w="31750">
            <a:solidFill>
              <a:srgbClr val="B83227"/>
            </a:solidFill>
            <a:prstDash val="solid"/>
          </a:ln>
        </p:spPr>
      </p:sp>
      <p:sp>
        <p:nvSpPr>
          <p:cNvPr id="23" name="Text 20"/>
          <p:cNvSpPr txBox="1"/>
          <p:nvPr/>
        </p:nvSpPr>
        <p:spPr>
          <a:xfrm>
            <a:off x="10241280" y="2148840"/>
            <a:ext cx="1371600" cy="731520"/>
          </a:xfrm>
          <a:prstGeom prst="rect">
            <a:avLst/>
          </a:prstGeom>
          <a:noFill/>
          <a:ln/>
        </p:spPr>
        <p:txBody>
          <a:bodyPr wrap="square" lIns="0" tIns="0" rIns="0" bIns="0" rtlCol="0" anchor="ctr"/>
          <a:lstStyle/>
          <a:p>
            <a:pPr algn="ctr" indent="0" marL="0">
              <a:buNone/>
            </a:pPr>
            <a:r>
              <a:rPr lang="en-US" sz="2600" b="1" dirty="0">
                <a:solidFill>
                  <a:schemeClr val="accent6"/>
                </a:solidFill>
              </a:rPr>
              <a:t>ben</a:t>
            </a:r>
            <a:endParaRPr lang="en-US" sz="2600" dirty="0"/>
          </a:p>
        </p:txBody>
      </p:sp>
      <p:sp>
        <p:nvSpPr>
          <p:cNvPr id="24" name="Shape 21"/>
          <p:cNvSpPr/>
          <p:nvPr/>
        </p:nvSpPr>
        <p:spPr>
          <a:xfrm>
            <a:off x="7818120" y="1828800"/>
            <a:ext cx="3017520" cy="640080"/>
          </a:xfrm>
          <a:prstGeom prst="arc">
            <a:avLst>
              <a:gd name="adj1" fmla="val 10800000"/>
              <a:gd name="adj2" fmla="val 21600000"/>
            </a:avLst>
          </a:prstGeom>
          <a:solidFill>
            <a:srgbClr val="FFFFFF">
              <a:alpha val="0"/>
            </a:srgbClr>
          </a:solidFill>
          <a:ln w="38100">
            <a:solidFill>
              <a:srgbClr val="B83227"/>
            </a:solidFill>
            <a:prstDash val="solid"/>
            <a:tailEnd type="triangle"/>
          </a:ln>
        </p:spPr>
      </p:sp>
      <p:sp>
        <p:nvSpPr>
          <p:cNvPr id="25" name="Text 22"/>
          <p:cNvSpPr txBox="1"/>
          <p:nvPr/>
        </p:nvSpPr>
        <p:spPr>
          <a:xfrm>
            <a:off x="7863840" y="2926080"/>
            <a:ext cx="3017520" cy="274320"/>
          </a:xfrm>
          <a:prstGeom prst="rect">
            <a:avLst/>
          </a:prstGeom>
          <a:noFill/>
          <a:ln/>
        </p:spPr>
        <p:txBody>
          <a:bodyPr wrap="square" lIns="0" tIns="0" rIns="0" bIns="0" rtlCol="0" anchor="t"/>
          <a:lstStyle/>
          <a:p>
            <a:pPr algn="ctr" indent="0" marL="0">
              <a:buNone/>
            </a:pPr>
            <a:r>
              <a:rPr lang="en-US" sz="1300" i="1" dirty="0">
                <a:solidFill>
                  <a:schemeClr val="accent6"/>
                </a:solidFill>
              </a:rPr>
              <a:t>le verbe saute au bout</a:t>
            </a:r>
            <a:endParaRPr lang="en-US" sz="1300" dirty="0"/>
          </a:p>
        </p:txBody>
      </p:sp>
      <p:sp>
        <p:nvSpPr>
          <p:cNvPr id="26" name="Text 23"/>
          <p:cNvSpPr txBox="1"/>
          <p:nvPr/>
        </p:nvSpPr>
        <p:spPr>
          <a:xfrm>
            <a:off x="548640" y="3520440"/>
            <a:ext cx="2743200" cy="292608"/>
          </a:xfrm>
          <a:prstGeom prst="rect">
            <a:avLst/>
          </a:prstGeom>
          <a:noFill/>
          <a:ln/>
        </p:spPr>
        <p:txBody>
          <a:bodyPr wrap="square" lIns="0" tIns="0" rIns="0" bIns="0" rtlCol="0" anchor="t"/>
          <a:lstStyle/>
          <a:p>
            <a:pPr algn="l" indent="0" marL="0">
              <a:buNone/>
            </a:pPr>
            <a:r>
              <a:rPr lang="en-US" sz="1300" b="1" spc="200" kern="0" dirty="0">
                <a:solidFill>
                  <a:schemeClr val="accent5"/>
                </a:solidFill>
              </a:rPr>
              <a:t>FRANÇAIS</a:t>
            </a:r>
            <a:endParaRPr lang="en-US" sz="1300" dirty="0"/>
          </a:p>
        </p:txBody>
      </p:sp>
      <p:sp>
        <p:nvSpPr>
          <p:cNvPr id="27" name="Shape 24"/>
          <p:cNvSpPr/>
          <p:nvPr/>
        </p:nvSpPr>
        <p:spPr>
          <a:xfrm>
            <a:off x="777240" y="3840480"/>
            <a:ext cx="1097280" cy="640080"/>
          </a:xfrm>
          <a:prstGeom prst="roundRect">
            <a:avLst>
              <a:gd name="adj" fmla="val 11429"/>
            </a:avLst>
          </a:prstGeom>
          <a:solidFill>
            <a:srgbClr val="F4F5F7"/>
          </a:solidFill>
          <a:ln w="12700">
            <a:solidFill>
              <a:srgbClr val="D5DCE6"/>
            </a:solidFill>
            <a:prstDash val="solid"/>
          </a:ln>
        </p:spPr>
      </p:sp>
      <p:sp>
        <p:nvSpPr>
          <p:cNvPr id="28" name="Text 25"/>
          <p:cNvSpPr txBox="1"/>
          <p:nvPr/>
        </p:nvSpPr>
        <p:spPr>
          <a:xfrm>
            <a:off x="777240" y="3840480"/>
            <a:ext cx="1097280" cy="640080"/>
          </a:xfrm>
          <a:prstGeom prst="rect">
            <a:avLst/>
          </a:prstGeom>
          <a:noFill/>
          <a:ln/>
        </p:spPr>
        <p:txBody>
          <a:bodyPr wrap="square" lIns="0" tIns="0" rIns="0" bIns="0" rtlCol="0" anchor="ctr"/>
          <a:lstStyle/>
          <a:p>
            <a:pPr algn="ctr" indent="0" marL="0">
              <a:buNone/>
            </a:pPr>
            <a:r>
              <a:rPr lang="en-US" sz="2200" i="1" dirty="0">
                <a:solidFill>
                  <a:schemeClr val="accent5"/>
                </a:solidFill>
              </a:rPr>
              <a:t>Je</a:t>
            </a:r>
            <a:endParaRPr lang="en-US" sz="2200" dirty="0"/>
          </a:p>
        </p:txBody>
      </p:sp>
      <p:sp>
        <p:nvSpPr>
          <p:cNvPr id="29" name="Shape 26"/>
          <p:cNvSpPr/>
          <p:nvPr/>
        </p:nvSpPr>
        <p:spPr>
          <a:xfrm>
            <a:off x="1965960" y="3840480"/>
            <a:ext cx="1600200" cy="640080"/>
          </a:xfrm>
          <a:prstGeom prst="roundRect">
            <a:avLst>
              <a:gd name="adj" fmla="val 11429"/>
            </a:avLst>
          </a:prstGeom>
          <a:solidFill>
            <a:srgbClr val="F4F5F7"/>
          </a:solidFill>
          <a:ln w="12700">
            <a:solidFill>
              <a:srgbClr val="D5DCE6"/>
            </a:solidFill>
            <a:prstDash val="solid"/>
          </a:ln>
        </p:spPr>
      </p:sp>
      <p:sp>
        <p:nvSpPr>
          <p:cNvPr id="30" name="Text 27"/>
          <p:cNvSpPr txBox="1"/>
          <p:nvPr/>
        </p:nvSpPr>
        <p:spPr>
          <a:xfrm>
            <a:off x="1965960" y="3840480"/>
            <a:ext cx="1600200" cy="640080"/>
          </a:xfrm>
          <a:prstGeom prst="rect">
            <a:avLst/>
          </a:prstGeom>
          <a:noFill/>
          <a:ln/>
        </p:spPr>
        <p:txBody>
          <a:bodyPr wrap="square" lIns="0" tIns="0" rIns="0" bIns="0" rtlCol="0" anchor="ctr"/>
          <a:lstStyle/>
          <a:p>
            <a:pPr algn="ctr" indent="0" marL="0">
              <a:buNone/>
            </a:pPr>
            <a:r>
              <a:rPr lang="en-US" sz="2200" i="1" dirty="0">
                <a:solidFill>
                  <a:schemeClr val="accent5"/>
                </a:solidFill>
              </a:rPr>
              <a:t>pense</a:t>
            </a:r>
            <a:endParaRPr lang="en-US" sz="2200" dirty="0"/>
          </a:p>
        </p:txBody>
      </p:sp>
      <p:sp>
        <p:nvSpPr>
          <p:cNvPr id="31" name="Shape 28"/>
          <p:cNvSpPr/>
          <p:nvPr/>
        </p:nvSpPr>
        <p:spPr>
          <a:xfrm>
            <a:off x="4069080" y="3840480"/>
            <a:ext cx="1463040" cy="640080"/>
          </a:xfrm>
          <a:prstGeom prst="roundRect">
            <a:avLst>
              <a:gd name="adj" fmla="val 11429"/>
            </a:avLst>
          </a:prstGeom>
          <a:solidFill>
            <a:srgbClr val="F4F5F7"/>
          </a:solidFill>
          <a:ln w="12700">
            <a:solidFill>
              <a:srgbClr val="D5DCE6"/>
            </a:solidFill>
            <a:prstDash val="solid"/>
          </a:ln>
        </p:spPr>
      </p:sp>
      <p:sp>
        <p:nvSpPr>
          <p:cNvPr id="32" name="Text 29"/>
          <p:cNvSpPr txBox="1"/>
          <p:nvPr/>
        </p:nvSpPr>
        <p:spPr>
          <a:xfrm>
            <a:off x="4069080" y="3840480"/>
            <a:ext cx="1463040" cy="640080"/>
          </a:xfrm>
          <a:prstGeom prst="rect">
            <a:avLst/>
          </a:prstGeom>
          <a:noFill/>
          <a:ln/>
        </p:spPr>
        <p:txBody>
          <a:bodyPr wrap="square" lIns="0" tIns="0" rIns="0" bIns="0" rtlCol="0" anchor="ctr"/>
          <a:lstStyle/>
          <a:p>
            <a:pPr algn="ctr" indent="0" marL="0">
              <a:buNone/>
            </a:pPr>
            <a:r>
              <a:rPr lang="en-US" sz="2200" i="1" dirty="0">
                <a:solidFill>
                  <a:schemeClr val="accent5"/>
                </a:solidFill>
              </a:rPr>
              <a:t>que</a:t>
            </a:r>
            <a:endParaRPr lang="en-US" sz="2200" dirty="0"/>
          </a:p>
        </p:txBody>
      </p:sp>
      <p:sp>
        <p:nvSpPr>
          <p:cNvPr id="33" name="Shape 30"/>
          <p:cNvSpPr/>
          <p:nvPr/>
        </p:nvSpPr>
        <p:spPr>
          <a:xfrm>
            <a:off x="5989320" y="3840480"/>
            <a:ext cx="1097280" cy="640080"/>
          </a:xfrm>
          <a:prstGeom prst="roundRect">
            <a:avLst>
              <a:gd name="adj" fmla="val 11429"/>
            </a:avLst>
          </a:prstGeom>
          <a:solidFill>
            <a:srgbClr val="F4F5F7"/>
          </a:solidFill>
          <a:ln w="12700">
            <a:solidFill>
              <a:srgbClr val="D5DCE6"/>
            </a:solidFill>
            <a:prstDash val="solid"/>
          </a:ln>
        </p:spPr>
      </p:sp>
      <p:sp>
        <p:nvSpPr>
          <p:cNvPr id="34" name="Text 31"/>
          <p:cNvSpPr txBox="1"/>
          <p:nvPr/>
        </p:nvSpPr>
        <p:spPr>
          <a:xfrm>
            <a:off x="5989320" y="3840480"/>
            <a:ext cx="1097280" cy="640080"/>
          </a:xfrm>
          <a:prstGeom prst="rect">
            <a:avLst/>
          </a:prstGeom>
          <a:noFill/>
          <a:ln/>
        </p:spPr>
        <p:txBody>
          <a:bodyPr wrap="square" lIns="0" tIns="0" rIns="0" bIns="0" rtlCol="0" anchor="ctr"/>
          <a:lstStyle/>
          <a:p>
            <a:pPr algn="ctr" indent="0" marL="0">
              <a:buNone/>
            </a:pPr>
            <a:r>
              <a:rPr lang="en-US" sz="2200" i="1" dirty="0">
                <a:solidFill>
                  <a:schemeClr val="accent5"/>
                </a:solidFill>
              </a:rPr>
              <a:t>je</a:t>
            </a:r>
            <a:endParaRPr lang="en-US" sz="2200" dirty="0"/>
          </a:p>
        </p:txBody>
      </p:sp>
      <p:sp>
        <p:nvSpPr>
          <p:cNvPr id="35" name="Shape 32"/>
          <p:cNvSpPr/>
          <p:nvPr/>
        </p:nvSpPr>
        <p:spPr>
          <a:xfrm>
            <a:off x="7178040" y="3840480"/>
            <a:ext cx="1417320" cy="640080"/>
          </a:xfrm>
          <a:prstGeom prst="roundRect">
            <a:avLst>
              <a:gd name="adj" fmla="val 11429"/>
            </a:avLst>
          </a:prstGeom>
          <a:solidFill>
            <a:srgbClr val="F4F5F7"/>
          </a:solidFill>
          <a:ln w="12700">
            <a:solidFill>
              <a:srgbClr val="D5DCE6"/>
            </a:solidFill>
            <a:prstDash val="solid"/>
          </a:ln>
        </p:spPr>
      </p:sp>
      <p:sp>
        <p:nvSpPr>
          <p:cNvPr id="36" name="Text 33"/>
          <p:cNvSpPr txBox="1"/>
          <p:nvPr/>
        </p:nvSpPr>
        <p:spPr>
          <a:xfrm>
            <a:off x="7178040" y="3840480"/>
            <a:ext cx="1417320" cy="640080"/>
          </a:xfrm>
          <a:prstGeom prst="rect">
            <a:avLst/>
          </a:prstGeom>
          <a:noFill/>
          <a:ln/>
        </p:spPr>
        <p:txBody>
          <a:bodyPr wrap="square" lIns="0" tIns="0" rIns="0" bIns="0" rtlCol="0" anchor="ctr"/>
          <a:lstStyle/>
          <a:p>
            <a:pPr algn="ctr" indent="0" marL="0">
              <a:buNone/>
            </a:pPr>
            <a:r>
              <a:rPr lang="en-US" sz="2200" i="1" dirty="0">
                <a:solidFill>
                  <a:schemeClr val="accent5"/>
                </a:solidFill>
              </a:rPr>
              <a:t>suis</a:t>
            </a:r>
            <a:endParaRPr lang="en-US" sz="2200" dirty="0"/>
          </a:p>
        </p:txBody>
      </p:sp>
      <p:sp>
        <p:nvSpPr>
          <p:cNvPr id="37" name="Shape 34"/>
          <p:cNvSpPr/>
          <p:nvPr/>
        </p:nvSpPr>
        <p:spPr>
          <a:xfrm>
            <a:off x="8686800" y="3840480"/>
            <a:ext cx="1463040" cy="640080"/>
          </a:xfrm>
          <a:prstGeom prst="roundRect">
            <a:avLst>
              <a:gd name="adj" fmla="val 11429"/>
            </a:avLst>
          </a:prstGeom>
          <a:solidFill>
            <a:srgbClr val="F4F5F7"/>
          </a:solidFill>
          <a:ln w="12700">
            <a:solidFill>
              <a:srgbClr val="D5DCE6"/>
            </a:solidFill>
            <a:prstDash val="solid"/>
          </a:ln>
        </p:spPr>
      </p:sp>
      <p:sp>
        <p:nvSpPr>
          <p:cNvPr id="38" name="Text 35"/>
          <p:cNvSpPr txBox="1"/>
          <p:nvPr/>
        </p:nvSpPr>
        <p:spPr>
          <a:xfrm>
            <a:off x="8686800" y="3840480"/>
            <a:ext cx="1463040" cy="640080"/>
          </a:xfrm>
          <a:prstGeom prst="rect">
            <a:avLst/>
          </a:prstGeom>
          <a:noFill/>
          <a:ln/>
        </p:spPr>
        <p:txBody>
          <a:bodyPr wrap="square" lIns="0" tIns="0" rIns="0" bIns="0" rtlCol="0" anchor="ctr"/>
          <a:lstStyle/>
          <a:p>
            <a:pPr algn="ctr" indent="0" marL="0">
              <a:buNone/>
            </a:pPr>
            <a:r>
              <a:rPr lang="en-US" sz="2200" i="1" dirty="0">
                <a:solidFill>
                  <a:schemeClr val="accent5"/>
                </a:solidFill>
              </a:rPr>
              <a:t>malade.</a:t>
            </a:r>
            <a:endParaRPr lang="en-US" sz="2200" dirty="0"/>
          </a:p>
        </p:txBody>
      </p:sp>
      <p:sp>
        <p:nvSpPr>
          <p:cNvPr id="39" name="Text 36"/>
          <p:cNvSpPr txBox="1"/>
          <p:nvPr/>
        </p:nvSpPr>
        <p:spPr>
          <a:xfrm>
            <a:off x="548640" y="4498848"/>
            <a:ext cx="11091672" cy="274320"/>
          </a:xfrm>
          <a:prstGeom prst="rect">
            <a:avLst/>
          </a:prstGeom>
          <a:noFill/>
          <a:ln/>
        </p:spPr>
        <p:txBody>
          <a:bodyPr wrap="square" lIns="0" tIns="0" rIns="0" bIns="0" rtlCol="0" anchor="t"/>
          <a:lstStyle/>
          <a:p>
            <a:pPr algn="ctr" indent="0" marL="0">
              <a:buNone/>
            </a:pPr>
            <a:r>
              <a:rPr lang="en-US" sz="1400" i="1" dirty="0">
                <a:solidFill>
                  <a:schemeClr val="accent5"/>
                </a:solidFill>
              </a:rPr>
              <a:t>→ en français, le verbe reste à sa place</a:t>
            </a:r>
            <a:endParaRPr lang="en-US" sz="1400" dirty="0"/>
          </a:p>
        </p:txBody>
      </p:sp>
      <p:sp>
        <p:nvSpPr>
          <p:cNvPr id="40" name="Shape 37"/>
          <p:cNvSpPr/>
          <p:nvPr/>
        </p:nvSpPr>
        <p:spPr>
          <a:xfrm>
            <a:off x="548640" y="4892040"/>
            <a:ext cx="11091672" cy="868680"/>
          </a:xfrm>
          <a:prstGeom prst="roundRect">
            <a:avLst>
              <a:gd name="adj" fmla="val 8421"/>
            </a:avLst>
          </a:prstGeom>
          <a:solidFill>
            <a:schemeClr val="tx2"/>
          </a:solidFill>
          <a:ln w="12700">
            <a:solidFill>
              <a:srgbClr val="FFFFFF">
                <a:alpha val="0"/>
              </a:srgbClr>
            </a:solidFill>
            <a:prstDash val="solid"/>
          </a:ln>
        </p:spPr>
      </p:sp>
      <p:sp>
        <p:nvSpPr>
          <p:cNvPr id="41" name="Text 38"/>
          <p:cNvSpPr txBox="1"/>
          <p:nvPr/>
        </p:nvSpPr>
        <p:spPr>
          <a:xfrm>
            <a:off x="822960" y="4892040"/>
            <a:ext cx="10607040" cy="868680"/>
          </a:xfrm>
          <a:prstGeom prst="rect">
            <a:avLst/>
          </a:prstGeom>
          <a:noFill/>
          <a:ln/>
        </p:spPr>
        <p:txBody>
          <a:bodyPr wrap="square" lIns="0" tIns="0" rIns="0" bIns="0" rtlCol="0" anchor="ctr"/>
          <a:lstStyle/>
          <a:p>
            <a:pPr algn="l" indent="0" marL="0">
              <a:buNone/>
            </a:pPr>
            <a:r>
              <a:rPr lang="en-US" sz="1900" dirty="0">
                <a:solidFill>
                  <a:schemeClr val="bg1"/>
                </a:solidFill>
              </a:rPr>
              <a:t>Règle : après un mot-crochet, le verbe conjugué va </a:t>
            </a:r>
            <a:r>
              <a:rPr lang="en-US" sz="1900" b="1" dirty="0">
                <a:solidFill>
                  <a:schemeClr val="bg1"/>
                </a:solidFill>
              </a:rPr>
              <a:t>à la fin de la subordonnée</a:t>
            </a:r>
            <a:r>
              <a:rPr lang="en-US" sz="1900" dirty="0">
                <a:solidFill>
                  <a:schemeClr val="bg1"/>
                </a:solidFill>
              </a:rPr>
              <a:t>. Le sujet suit </a:t>
            </a:r>
            <a:r>
              <a:rPr lang="en-US" sz="1900" b="1" dirty="0">
                <a:solidFill>
                  <a:schemeClr val="bg1"/>
                </a:solidFill>
              </a:rPr>
              <a:t>en général</a:t>
            </a:r>
            <a:r>
              <a:rPr lang="en-US" sz="1900" dirty="0">
                <a:solidFill>
                  <a:schemeClr val="bg1"/>
                </a:solidFill>
              </a:rPr>
              <a:t> directement le mot-crochet.</a:t>
            </a:r>
            <a:endParaRPr lang="en-US" sz="1900" dirty="0"/>
          </a:p>
        </p:txBody>
      </p:sp>
      <p:sp>
        <p:nvSpPr>
          <p:cNvPr id="42" name="Text 39"/>
          <p:cNvSpPr txBox="1"/>
          <p:nvPr/>
        </p:nvSpPr>
        <p:spPr>
          <a:xfrm>
            <a:off x="548640" y="5897880"/>
            <a:ext cx="11091672" cy="365760"/>
          </a:xfrm>
          <a:prstGeom prst="rect">
            <a:avLst/>
          </a:prstGeom>
          <a:noFill/>
          <a:ln/>
        </p:spPr>
        <p:txBody>
          <a:bodyPr wrap="square" lIns="0" tIns="0" rIns="0" bIns="0" rtlCol="0" anchor="t"/>
          <a:lstStyle/>
          <a:p>
            <a:pPr algn="ctr" indent="0" marL="0">
              <a:buNone/>
            </a:pPr>
            <a:r>
              <a:rPr lang="en-US" sz="1500" i="1" dirty="0">
                <a:solidFill>
                  <a:schemeClr val="accent5"/>
                </a:solidFill>
              </a:rPr>
              <a:t>Astuce : lisez la phrase et tapez sur la table au moment du verbe !</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omdat : donner une raison</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pic>
        <p:nvPicPr>
          <p:cNvPr id="5" name="Image 0" descr="thinking face">    </p:cNvPr>
          <p:cNvPicPr>
            <a:picLocks noChangeAspect="1"/>
          </p:cNvPicPr>
          <p:nvPr/>
        </p:nvPicPr>
        <p:blipFill>
          <a:blip r:embed="rId1"/>
          <a:stretch>
            <a:fillRect/>
          </a:stretch>
        </p:blipFill>
        <p:spPr>
          <a:xfrm>
            <a:off x="731520" y="1828800"/>
            <a:ext cx="1645920" cy="1645920"/>
          </a:xfrm>
          <a:prstGeom prst="rect">
            <a:avLst/>
          </a:prstGeom>
        </p:spPr>
      </p:pic>
      <p:sp>
        <p:nvSpPr>
          <p:cNvPr id="6" name="Shape 2"/>
          <p:cNvSpPr/>
          <p:nvPr/>
        </p:nvSpPr>
        <p:spPr>
          <a:xfrm>
            <a:off x="548640" y="3657600"/>
            <a:ext cx="2194560" cy="914400"/>
          </a:xfrm>
          <a:prstGeom prst="roundRect">
            <a:avLst>
              <a:gd name="adj" fmla="val 30000"/>
            </a:avLst>
          </a:prstGeom>
          <a:solidFill>
            <a:schemeClr val="accent2"/>
          </a:solidFill>
          <a:ln w="12700">
            <a:solidFill>
              <a:srgbClr val="FFFFFF">
                <a:alpha val="0"/>
              </a:srgbClr>
            </a:solidFill>
            <a:prstDash val="solid"/>
          </a:ln>
        </p:spPr>
      </p:sp>
      <p:sp>
        <p:nvSpPr>
          <p:cNvPr id="7" name="Text 3"/>
          <p:cNvSpPr txBox="1"/>
          <p:nvPr/>
        </p:nvSpPr>
        <p:spPr>
          <a:xfrm>
            <a:off x="548640" y="3657600"/>
            <a:ext cx="2194560" cy="914400"/>
          </a:xfrm>
          <a:prstGeom prst="rect">
            <a:avLst/>
          </a:prstGeom>
          <a:noFill/>
          <a:ln/>
        </p:spPr>
        <p:txBody>
          <a:bodyPr wrap="square" lIns="0" tIns="0" rIns="0" bIns="0" rtlCol="0" anchor="ctr"/>
          <a:lstStyle/>
          <a:p>
            <a:pPr algn="ctr" indent="0" marL="0">
              <a:buNone/>
            </a:pPr>
            <a:r>
              <a:rPr lang="en-US" sz="3000" b="1" i="1" dirty="0">
                <a:solidFill>
                  <a:schemeClr val="bg1"/>
                </a:solidFill>
              </a:rPr>
              <a:t>Waarom?</a:t>
            </a:r>
            <a:endParaRPr lang="en-US" sz="3000" dirty="0"/>
          </a:p>
        </p:txBody>
      </p:sp>
      <p:sp>
        <p:nvSpPr>
          <p:cNvPr id="8" name="Shape 4"/>
          <p:cNvSpPr/>
          <p:nvPr/>
        </p:nvSpPr>
        <p:spPr>
          <a:xfrm flipV="1">
            <a:off x="2788920" y="2057400"/>
            <a:ext cx="502920" cy="2057400"/>
          </a:xfrm>
          <a:prstGeom prst="line">
            <a:avLst/>
          </a:prstGeom>
          <a:noFill/>
          <a:ln w="19050">
            <a:solidFill>
              <a:srgbClr val="B8C2CF"/>
            </a:solidFill>
            <a:prstDash val="solid"/>
          </a:ln>
        </p:spPr>
      </p:sp>
      <p:sp>
        <p:nvSpPr>
          <p:cNvPr id="9" name="Shape 5"/>
          <p:cNvSpPr/>
          <p:nvPr/>
        </p:nvSpPr>
        <p:spPr>
          <a:xfrm>
            <a:off x="3291840" y="1600200"/>
            <a:ext cx="8348472" cy="914400"/>
          </a:xfrm>
          <a:prstGeom prst="roundRect">
            <a:avLst>
              <a:gd name="adj" fmla="val 8000"/>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10" name="Image 1" descr="train">    </p:cNvPr>
          <p:cNvPicPr>
            <a:picLocks noChangeAspect="1"/>
          </p:cNvPicPr>
          <p:nvPr/>
        </p:nvPicPr>
        <p:blipFill>
          <a:blip r:embed="rId2"/>
          <a:stretch>
            <a:fillRect/>
          </a:stretch>
        </p:blipFill>
        <p:spPr>
          <a:xfrm>
            <a:off x="3429000" y="1764792"/>
            <a:ext cx="585216" cy="585216"/>
          </a:xfrm>
          <a:prstGeom prst="rect">
            <a:avLst/>
          </a:prstGeom>
        </p:spPr>
      </p:pic>
      <p:sp>
        <p:nvSpPr>
          <p:cNvPr id="11" name="Text 6"/>
          <p:cNvSpPr txBox="1"/>
          <p:nvPr/>
        </p:nvSpPr>
        <p:spPr>
          <a:xfrm>
            <a:off x="4206240" y="1600200"/>
            <a:ext cx="7315200" cy="914400"/>
          </a:xfrm>
          <a:prstGeom prst="rect">
            <a:avLst/>
          </a:prstGeom>
          <a:noFill/>
          <a:ln/>
        </p:spPr>
        <p:txBody>
          <a:bodyPr wrap="square" lIns="0" tIns="0" rIns="0" bIns="0" rtlCol="0" anchor="ctr"/>
          <a:lstStyle/>
          <a:p>
            <a:pPr algn="l" indent="0" marL="0">
              <a:buNone/>
            </a:pPr>
            <a:r>
              <a:rPr lang="en-US" sz="2100" i="1" dirty="0">
                <a:solidFill>
                  <a:schemeClr val="tx1"/>
                </a:solidFill>
              </a:rPr>
              <a:t>Ik kom te laat </a:t>
            </a:r>
            <a:r>
              <a:rPr lang="en-US" sz="2100" b="1" i="1" dirty="0">
                <a:solidFill>
                  <a:schemeClr val="tx1"/>
                </a:solidFill>
              </a:rPr>
              <a:t>omdat</a:t>
            </a:r>
            <a:r>
              <a:rPr lang="en-US" sz="2100" i="1" dirty="0">
                <a:solidFill>
                  <a:schemeClr val="tx1"/>
                </a:solidFill>
              </a:rPr>
              <a:t> de trein vertraging </a:t>
            </a:r>
            <a:r>
              <a:rPr lang="en-US" sz="2100" b="1" i="1" dirty="0">
                <a:solidFill>
                  <a:schemeClr val="accent6"/>
                </a:solidFill>
              </a:rPr>
              <a:t>heeft</a:t>
            </a:r>
            <a:r>
              <a:rPr lang="en-US" sz="2100" i="1" dirty="0">
                <a:solidFill>
                  <a:schemeClr val="tx1"/>
                </a:solidFill>
              </a:rPr>
              <a:t>.</a:t>
            </a:r>
            <a:endParaRPr lang="en-US" sz="2100" dirty="0"/>
          </a:p>
        </p:txBody>
      </p:sp>
      <p:sp>
        <p:nvSpPr>
          <p:cNvPr id="12" name="Shape 7"/>
          <p:cNvSpPr/>
          <p:nvPr/>
        </p:nvSpPr>
        <p:spPr>
          <a:xfrm flipV="1">
            <a:off x="2788920" y="3136392"/>
            <a:ext cx="502920" cy="978408"/>
          </a:xfrm>
          <a:prstGeom prst="line">
            <a:avLst/>
          </a:prstGeom>
          <a:noFill/>
          <a:ln w="19050">
            <a:solidFill>
              <a:srgbClr val="B8C2CF"/>
            </a:solidFill>
            <a:prstDash val="solid"/>
          </a:ln>
        </p:spPr>
      </p:sp>
      <p:sp>
        <p:nvSpPr>
          <p:cNvPr id="13" name="Shape 8"/>
          <p:cNvSpPr/>
          <p:nvPr/>
        </p:nvSpPr>
        <p:spPr>
          <a:xfrm>
            <a:off x="3291840" y="2679192"/>
            <a:ext cx="8348472" cy="914400"/>
          </a:xfrm>
          <a:prstGeom prst="roundRect">
            <a:avLst>
              <a:gd name="adj" fmla="val 8000"/>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14" name="Image 2" descr="woman office worker">    </p:cNvPr>
          <p:cNvPicPr>
            <a:picLocks noChangeAspect="1"/>
          </p:cNvPicPr>
          <p:nvPr/>
        </p:nvPicPr>
        <p:blipFill>
          <a:blip r:embed="rId3"/>
          <a:stretch>
            <a:fillRect/>
          </a:stretch>
        </p:blipFill>
        <p:spPr>
          <a:xfrm>
            <a:off x="3429000" y="2843784"/>
            <a:ext cx="585216" cy="585216"/>
          </a:xfrm>
          <a:prstGeom prst="rect">
            <a:avLst/>
          </a:prstGeom>
        </p:spPr>
      </p:pic>
      <p:sp>
        <p:nvSpPr>
          <p:cNvPr id="15" name="Text 9"/>
          <p:cNvSpPr txBox="1"/>
          <p:nvPr/>
        </p:nvSpPr>
        <p:spPr>
          <a:xfrm>
            <a:off x="4206240" y="2679192"/>
            <a:ext cx="7315200" cy="914400"/>
          </a:xfrm>
          <a:prstGeom prst="rect">
            <a:avLst/>
          </a:prstGeom>
          <a:noFill/>
          <a:ln/>
        </p:spPr>
        <p:txBody>
          <a:bodyPr wrap="square" lIns="0" tIns="0" rIns="0" bIns="0" rtlCol="0" anchor="ctr"/>
          <a:lstStyle/>
          <a:p>
            <a:pPr algn="l" indent="0" marL="0">
              <a:buNone/>
            </a:pPr>
            <a:r>
              <a:rPr lang="en-US" sz="2100" i="1" dirty="0">
                <a:solidFill>
                  <a:schemeClr val="tx1"/>
                </a:solidFill>
              </a:rPr>
              <a:t>Sofie is blij </a:t>
            </a:r>
            <a:r>
              <a:rPr lang="en-US" sz="2100" b="1" i="1" dirty="0">
                <a:solidFill>
                  <a:schemeClr val="tx1"/>
                </a:solidFill>
              </a:rPr>
              <a:t>omdat</a:t>
            </a:r>
            <a:r>
              <a:rPr lang="en-US" sz="2100" i="1" dirty="0">
                <a:solidFill>
                  <a:schemeClr val="tx1"/>
                </a:solidFill>
              </a:rPr>
              <a:t> ze een nieuwe collega </a:t>
            </a:r>
            <a:r>
              <a:rPr lang="en-US" sz="2100" b="1" i="1" dirty="0">
                <a:solidFill>
                  <a:schemeClr val="accent6"/>
                </a:solidFill>
              </a:rPr>
              <a:t>heeft</a:t>
            </a:r>
            <a:r>
              <a:rPr lang="en-US" sz="2100" i="1" dirty="0">
                <a:solidFill>
                  <a:schemeClr val="tx1"/>
                </a:solidFill>
              </a:rPr>
              <a:t>.</a:t>
            </a:r>
            <a:endParaRPr lang="en-US" sz="2100" dirty="0"/>
          </a:p>
        </p:txBody>
      </p:sp>
      <p:sp>
        <p:nvSpPr>
          <p:cNvPr id="16" name="Shape 10"/>
          <p:cNvSpPr/>
          <p:nvPr/>
        </p:nvSpPr>
        <p:spPr>
          <a:xfrm>
            <a:off x="2788920" y="4114800"/>
            <a:ext cx="502920" cy="100584"/>
          </a:xfrm>
          <a:prstGeom prst="line">
            <a:avLst/>
          </a:prstGeom>
          <a:noFill/>
          <a:ln w="19050">
            <a:solidFill>
              <a:srgbClr val="B8C2CF"/>
            </a:solidFill>
            <a:prstDash val="solid"/>
          </a:ln>
        </p:spPr>
      </p:sp>
      <p:sp>
        <p:nvSpPr>
          <p:cNvPr id="17" name="Shape 11"/>
          <p:cNvSpPr/>
          <p:nvPr/>
        </p:nvSpPr>
        <p:spPr>
          <a:xfrm>
            <a:off x="3291840" y="3758184"/>
            <a:ext cx="8348472" cy="914400"/>
          </a:xfrm>
          <a:prstGeom prst="roundRect">
            <a:avLst>
              <a:gd name="adj" fmla="val 8000"/>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18" name="Image 3" descr="office building">    </p:cNvPr>
          <p:cNvPicPr>
            <a:picLocks noChangeAspect="1"/>
          </p:cNvPicPr>
          <p:nvPr/>
        </p:nvPicPr>
        <p:blipFill>
          <a:blip r:embed="rId4"/>
          <a:stretch>
            <a:fillRect/>
          </a:stretch>
        </p:blipFill>
        <p:spPr>
          <a:xfrm>
            <a:off x="3429000" y="3922776"/>
            <a:ext cx="585216" cy="585216"/>
          </a:xfrm>
          <a:prstGeom prst="rect">
            <a:avLst/>
          </a:prstGeom>
        </p:spPr>
      </p:pic>
      <p:sp>
        <p:nvSpPr>
          <p:cNvPr id="19" name="Text 12"/>
          <p:cNvSpPr txBox="1"/>
          <p:nvPr/>
        </p:nvSpPr>
        <p:spPr>
          <a:xfrm>
            <a:off x="4206240" y="3758184"/>
            <a:ext cx="7315200" cy="914400"/>
          </a:xfrm>
          <a:prstGeom prst="rect">
            <a:avLst/>
          </a:prstGeom>
          <a:noFill/>
          <a:ln/>
        </p:spPr>
        <p:txBody>
          <a:bodyPr wrap="square" lIns="0" tIns="0" rIns="0" bIns="0" rtlCol="0" anchor="ctr"/>
          <a:lstStyle/>
          <a:p>
            <a:pPr algn="l" indent="0" marL="0">
              <a:buNone/>
            </a:pPr>
            <a:r>
              <a:rPr lang="en-US" sz="2100" i="1" dirty="0">
                <a:solidFill>
                  <a:schemeClr val="tx1"/>
                </a:solidFill>
              </a:rPr>
              <a:t>Karim leert Nederlands </a:t>
            </a:r>
            <a:r>
              <a:rPr lang="en-US" sz="2100" b="1" i="1" dirty="0">
                <a:solidFill>
                  <a:schemeClr val="tx1"/>
                </a:solidFill>
              </a:rPr>
              <a:t>omdat</a:t>
            </a:r>
            <a:r>
              <a:rPr lang="en-US" sz="2100" i="1" dirty="0">
                <a:solidFill>
                  <a:schemeClr val="tx1"/>
                </a:solidFill>
              </a:rPr>
              <a:t> hij in Brussel </a:t>
            </a:r>
            <a:r>
              <a:rPr lang="en-US" sz="2100" b="1" i="1" dirty="0">
                <a:solidFill>
                  <a:schemeClr val="accent6"/>
                </a:solidFill>
              </a:rPr>
              <a:t>werkt</a:t>
            </a:r>
            <a:r>
              <a:rPr lang="en-US" sz="2100" i="1" dirty="0">
                <a:solidFill>
                  <a:schemeClr val="tx1"/>
                </a:solidFill>
              </a:rPr>
              <a:t>.</a:t>
            </a:r>
            <a:endParaRPr lang="en-US" sz="2100" dirty="0"/>
          </a:p>
        </p:txBody>
      </p:sp>
      <p:sp>
        <p:nvSpPr>
          <p:cNvPr id="20" name="Shape 13"/>
          <p:cNvSpPr/>
          <p:nvPr/>
        </p:nvSpPr>
        <p:spPr>
          <a:xfrm>
            <a:off x="3291840" y="4937760"/>
            <a:ext cx="8348472" cy="1325880"/>
          </a:xfrm>
          <a:prstGeom prst="roundRect">
            <a:avLst>
              <a:gd name="adj" fmla="val 5517"/>
            </a:avLst>
          </a:prstGeom>
          <a:solidFill>
            <a:schemeClr val="accent3">
              <a:alpha val="12000"/>
            </a:schemeClr>
          </a:solidFill>
          <a:ln w="15875">
            <a:solidFill>
              <a:srgbClr val="2E7D4F"/>
            </a:solidFill>
            <a:prstDash val="solid"/>
          </a:ln>
        </p:spPr>
      </p:sp>
      <p:sp>
        <p:nvSpPr>
          <p:cNvPr id="21" name="Text 14"/>
          <p:cNvSpPr txBox="1"/>
          <p:nvPr/>
        </p:nvSpPr>
        <p:spPr>
          <a:xfrm>
            <a:off x="3520440" y="4937760"/>
            <a:ext cx="7955280" cy="1325880"/>
          </a:xfrm>
          <a:prstGeom prst="rect">
            <a:avLst/>
          </a:prstGeom>
          <a:noFill/>
          <a:ln/>
        </p:spPr>
        <p:txBody>
          <a:bodyPr wrap="square" lIns="0" tIns="0" rIns="0" bIns="0" rtlCol="0" anchor="ctr"/>
          <a:lstStyle/>
          <a:p>
            <a:pPr algn="l" indent="0" marL="0">
              <a:spcAft>
                <a:spcPts val="600"/>
              </a:spcAft>
              <a:buNone/>
            </a:pPr>
            <a:r>
              <a:rPr lang="en-US" sz="2000" dirty="0">
                <a:solidFill>
                  <a:schemeClr val="tx1"/>
                </a:solidFill>
              </a:rPr>
              <a:t>— </a:t>
            </a:r>
            <a:r>
              <a:rPr lang="en-US" sz="2000" i="1" dirty="0">
                <a:solidFill>
                  <a:schemeClr val="tx1"/>
                </a:solidFill>
              </a:rPr>
              <a:t>Waarom bel je?</a:t>
            </a:r>
            <a:endParaRPr lang="en-US" sz="2000" dirty="0"/>
          </a:p>
          <a:p>
            <a:pPr algn="l" indent="0" marL="0">
              <a:spcAft>
                <a:spcPts val="600"/>
              </a:spcAft>
              <a:buNone/>
            </a:pPr>
            <a:r>
              <a:rPr lang="en-US" sz="2000" dirty="0">
                <a:solidFill>
                  <a:schemeClr val="tx1"/>
                </a:solidFill>
              </a:rPr>
              <a:t>— </a:t>
            </a:r>
            <a:r>
              <a:rPr lang="en-US" sz="2000" b="1" i="1" dirty="0">
                <a:solidFill>
                  <a:schemeClr val="tx1"/>
                </a:solidFill>
              </a:rPr>
              <a:t>Omdat</a:t>
            </a:r>
            <a:r>
              <a:rPr lang="en-US" sz="2000" i="1" dirty="0">
                <a:solidFill>
                  <a:schemeClr val="tx1"/>
                </a:solidFill>
              </a:rPr>
              <a:t> ik een vraag </a:t>
            </a:r>
            <a:r>
              <a:rPr lang="en-US" sz="2000" b="1" i="1" dirty="0">
                <a:solidFill>
                  <a:schemeClr val="accent6"/>
                </a:solidFill>
              </a:rPr>
              <a:t>heb</a:t>
            </a:r>
            <a:r>
              <a:rPr lang="en-US" sz="2000" i="1" dirty="0">
                <a:solidFill>
                  <a:schemeClr val="tx1"/>
                </a:solidFill>
              </a:rPr>
              <a:t>.</a:t>
            </a:r>
            <a:r>
              <a:rPr lang="en-US" sz="2000" dirty="0">
                <a:solidFill>
                  <a:schemeClr val="tx1"/>
                </a:solidFill>
              </a:rPr>
              <a:t>  (la subordonnée répond seule)</a:t>
            </a:r>
            <a:endParaRPr lang="en-US" sz="2000" dirty="0"/>
          </a:p>
        </p:txBody>
      </p:sp>
      <p:sp>
        <p:nvSpPr>
          <p:cNvPr id="22" name="Text 15"/>
          <p:cNvSpPr txBox="1"/>
          <p:nvPr/>
        </p:nvSpPr>
        <p:spPr>
          <a:xfrm>
            <a:off x="548640" y="4846320"/>
            <a:ext cx="2560320" cy="731520"/>
          </a:xfrm>
          <a:prstGeom prst="rect">
            <a:avLst/>
          </a:prstGeom>
          <a:noFill/>
          <a:ln/>
        </p:spPr>
        <p:txBody>
          <a:bodyPr wrap="square" lIns="0" tIns="0" rIns="0" bIns="0" rtlCol="0" anchor="t"/>
          <a:lstStyle/>
          <a:p>
            <a:pPr algn="ctr" indent="0" marL="0">
              <a:buNone/>
            </a:pPr>
            <a:r>
              <a:rPr lang="en-US" sz="1300" i="1" dirty="0">
                <a:solidFill>
                  <a:schemeClr val="accent5"/>
                </a:solidFill>
              </a:rPr>
              <a:t>vertraging hebben</a:t>
            </a:r>
            <a:r>
              <a:rPr lang="en-US" sz="1300" i="1" dirty="0">
                <a:solidFill>
                  <a:schemeClr val="accent5"/>
                </a:solidFill>
              </a:rPr>
              <a:t> = avoir du retard</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dat : rapporter une pensée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640080" y="1554480"/>
            <a:ext cx="2418588" cy="1965960"/>
          </a:xfrm>
          <a:prstGeom prst="roundRect">
            <a:avLst>
              <a:gd name="adj" fmla="val 16279"/>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822960" y="1600200"/>
            <a:ext cx="2052828" cy="1874520"/>
          </a:xfrm>
          <a:prstGeom prst="rect">
            <a:avLst/>
          </a:prstGeom>
          <a:noFill/>
          <a:ln/>
        </p:spPr>
        <p:txBody>
          <a:bodyPr wrap="square" lIns="0" tIns="0" rIns="0" bIns="0" rtlCol="0" anchor="ctr"/>
          <a:lstStyle/>
          <a:p>
            <a:pPr algn="ctr" indent="0" marL="0">
              <a:buNone/>
            </a:pPr>
            <a:r>
              <a:rPr lang="en-US" sz="1800" i="1" dirty="0">
                <a:solidFill>
                  <a:schemeClr val="tx1"/>
                </a:solidFill>
              </a:rPr>
              <a:t>… </a:t>
            </a:r>
            <a:r>
              <a:rPr lang="en-US" sz="1800" b="1" i="1" dirty="0">
                <a:solidFill>
                  <a:schemeClr val="tx1"/>
                </a:solidFill>
              </a:rPr>
              <a:t>dat</a:t>
            </a:r>
            <a:r>
              <a:rPr lang="en-US" sz="1800" i="1" dirty="0">
                <a:solidFill>
                  <a:schemeClr val="tx1"/>
                </a:solidFill>
              </a:rPr>
              <a:t> de vergadering om 10 uur </a:t>
            </a:r>
            <a:r>
              <a:rPr lang="en-US" sz="1800" b="1" i="1" dirty="0">
                <a:solidFill>
                  <a:schemeClr val="accent6"/>
                </a:solidFill>
              </a:rPr>
              <a:t>begint</a:t>
            </a:r>
            <a:r>
              <a:rPr lang="en-US" sz="1800" i="1" dirty="0">
                <a:solidFill>
                  <a:schemeClr val="tx1"/>
                </a:solidFill>
              </a:rPr>
              <a:t>.</a:t>
            </a:r>
            <a:endParaRPr lang="en-US" sz="1800" dirty="0"/>
          </a:p>
        </p:txBody>
      </p:sp>
      <p:sp>
        <p:nvSpPr>
          <p:cNvPr id="7" name="Shape 4"/>
          <p:cNvSpPr/>
          <p:nvPr/>
        </p:nvSpPr>
        <p:spPr>
          <a:xfrm>
            <a:off x="1748790" y="3566160"/>
            <a:ext cx="201168" cy="201168"/>
          </a:xfrm>
          <a:prstGeom prst="ellipse">
            <a:avLst/>
          </a:prstGeom>
          <a:solidFill>
            <a:srgbClr val="FFFFFF"/>
          </a:solidFill>
          <a:ln w="19050">
            <a:solidFill>
              <a:srgbClr val="D9700F"/>
            </a:solidFill>
            <a:prstDash val="solid"/>
          </a:ln>
        </p:spPr>
      </p:sp>
      <p:sp>
        <p:nvSpPr>
          <p:cNvPr id="8" name="Shape 5"/>
          <p:cNvSpPr/>
          <p:nvPr/>
        </p:nvSpPr>
        <p:spPr>
          <a:xfrm>
            <a:off x="1671066" y="3822192"/>
            <a:ext cx="137160" cy="137160"/>
          </a:xfrm>
          <a:prstGeom prst="ellipse">
            <a:avLst/>
          </a:prstGeom>
          <a:solidFill>
            <a:srgbClr val="FFFFFF"/>
          </a:solidFill>
          <a:ln w="19050">
            <a:solidFill>
              <a:srgbClr val="D9700F"/>
            </a:solidFill>
            <a:prstDash val="solid"/>
          </a:ln>
        </p:spPr>
      </p:sp>
      <p:pic>
        <p:nvPicPr>
          <p:cNvPr id="9" name="Image 0" descr="thinking face">    </p:cNvPr>
          <p:cNvPicPr>
            <a:picLocks noChangeAspect="1"/>
          </p:cNvPicPr>
          <p:nvPr/>
        </p:nvPicPr>
        <p:blipFill>
          <a:blip r:embed="rId1"/>
          <a:stretch>
            <a:fillRect/>
          </a:stretch>
        </p:blipFill>
        <p:spPr>
          <a:xfrm>
            <a:off x="1300734" y="3977640"/>
            <a:ext cx="1097280" cy="1097280"/>
          </a:xfrm>
          <a:prstGeom prst="rect">
            <a:avLst/>
          </a:prstGeom>
        </p:spPr>
      </p:pic>
      <p:sp>
        <p:nvSpPr>
          <p:cNvPr id="10" name="Text 6"/>
          <p:cNvSpPr txBox="1"/>
          <p:nvPr/>
        </p:nvSpPr>
        <p:spPr>
          <a:xfrm>
            <a:off x="548640" y="5120640"/>
            <a:ext cx="2601468" cy="411480"/>
          </a:xfrm>
          <a:prstGeom prst="rect">
            <a:avLst/>
          </a:prstGeom>
          <a:noFill/>
          <a:ln/>
        </p:spPr>
        <p:txBody>
          <a:bodyPr wrap="square" lIns="0" tIns="0" rIns="0" bIns="0" rtlCol="0" anchor="ctr"/>
          <a:lstStyle/>
          <a:p>
            <a:pPr algn="ctr" indent="0" marL="0">
              <a:buNone/>
            </a:pPr>
            <a:r>
              <a:rPr lang="en-US" sz="2000" i="1" dirty="0">
                <a:solidFill>
                  <a:schemeClr val="tx1"/>
                </a:solidFill>
              </a:rPr>
              <a:t>Ik </a:t>
            </a:r>
            <a:r>
              <a:rPr lang="en-US" sz="2000" b="1" i="1" dirty="0">
                <a:solidFill>
                  <a:schemeClr val="tx1"/>
                </a:solidFill>
              </a:rPr>
              <a:t>denk</a:t>
            </a:r>
            <a:r>
              <a:rPr lang="en-US" sz="2000" i="1" dirty="0">
                <a:solidFill>
                  <a:schemeClr val="tx1"/>
                </a:solidFill>
              </a:rPr>
              <a:t>…</a:t>
            </a:r>
            <a:endParaRPr lang="en-US" sz="2000" dirty="0"/>
          </a:p>
        </p:txBody>
      </p:sp>
      <p:sp>
        <p:nvSpPr>
          <p:cNvPr id="11" name="Text 7"/>
          <p:cNvSpPr txBox="1"/>
          <p:nvPr/>
        </p:nvSpPr>
        <p:spPr>
          <a:xfrm>
            <a:off x="548640" y="5504688"/>
            <a:ext cx="2601468" cy="320040"/>
          </a:xfrm>
          <a:prstGeom prst="rect">
            <a:avLst/>
          </a:prstGeom>
          <a:noFill/>
          <a:ln/>
        </p:spPr>
        <p:txBody>
          <a:bodyPr wrap="square" lIns="0" tIns="0" rIns="0" bIns="0" rtlCol="0" anchor="t"/>
          <a:lstStyle/>
          <a:p>
            <a:pPr algn="ctr" indent="0" marL="0">
              <a:buNone/>
            </a:pPr>
            <a:r>
              <a:rPr lang="en-US" sz="1400" i="1" dirty="0">
                <a:solidFill>
                  <a:schemeClr val="accent5"/>
                </a:solidFill>
              </a:rPr>
              <a:t>je pense que</a:t>
            </a:r>
            <a:endParaRPr lang="en-US" sz="1400" dirty="0"/>
          </a:p>
        </p:txBody>
      </p:sp>
      <p:sp>
        <p:nvSpPr>
          <p:cNvPr id="12" name="Shape 8"/>
          <p:cNvSpPr/>
          <p:nvPr/>
        </p:nvSpPr>
        <p:spPr>
          <a:xfrm>
            <a:off x="3470148" y="1554480"/>
            <a:ext cx="2418588" cy="1965960"/>
          </a:xfrm>
          <a:prstGeom prst="roundRect">
            <a:avLst>
              <a:gd name="adj" fmla="val 16279"/>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3" name="Text 9"/>
          <p:cNvSpPr txBox="1"/>
          <p:nvPr/>
        </p:nvSpPr>
        <p:spPr>
          <a:xfrm>
            <a:off x="3653028" y="1600200"/>
            <a:ext cx="2052828" cy="1874520"/>
          </a:xfrm>
          <a:prstGeom prst="rect">
            <a:avLst/>
          </a:prstGeom>
          <a:noFill/>
          <a:ln/>
        </p:spPr>
        <p:txBody>
          <a:bodyPr wrap="square" lIns="0" tIns="0" rIns="0" bIns="0" rtlCol="0" anchor="ctr"/>
          <a:lstStyle/>
          <a:p>
            <a:pPr algn="ctr" indent="0" marL="0">
              <a:buNone/>
            </a:pPr>
            <a:r>
              <a:rPr lang="en-US" sz="1800" i="1" dirty="0">
                <a:solidFill>
                  <a:schemeClr val="tx1"/>
                </a:solidFill>
              </a:rPr>
              <a:t>… </a:t>
            </a:r>
            <a:r>
              <a:rPr lang="en-US" sz="1800" b="1" i="1" dirty="0">
                <a:solidFill>
                  <a:schemeClr val="tx1"/>
                </a:solidFill>
              </a:rPr>
              <a:t>dat</a:t>
            </a:r>
            <a:r>
              <a:rPr lang="en-US" sz="1800" i="1" dirty="0">
                <a:solidFill>
                  <a:schemeClr val="tx1"/>
                </a:solidFill>
              </a:rPr>
              <a:t> je het druk </a:t>
            </a:r>
            <a:r>
              <a:rPr lang="en-US" sz="1800" b="1" i="1" dirty="0">
                <a:solidFill>
                  <a:schemeClr val="accent6"/>
                </a:solidFill>
              </a:rPr>
              <a:t>hebt</a:t>
            </a:r>
            <a:r>
              <a:rPr lang="en-US" sz="1800" i="1" dirty="0">
                <a:solidFill>
                  <a:schemeClr val="tx1"/>
                </a:solidFill>
              </a:rPr>
              <a:t>.</a:t>
            </a:r>
            <a:endParaRPr lang="en-US" sz="1800" dirty="0"/>
          </a:p>
        </p:txBody>
      </p:sp>
      <p:sp>
        <p:nvSpPr>
          <p:cNvPr id="14" name="Shape 10"/>
          <p:cNvSpPr/>
          <p:nvPr/>
        </p:nvSpPr>
        <p:spPr>
          <a:xfrm>
            <a:off x="4578858" y="3566160"/>
            <a:ext cx="201168" cy="201168"/>
          </a:xfrm>
          <a:prstGeom prst="ellipse">
            <a:avLst/>
          </a:prstGeom>
          <a:solidFill>
            <a:srgbClr val="FFFFFF"/>
          </a:solidFill>
          <a:ln w="19050">
            <a:solidFill>
              <a:srgbClr val="D9700F"/>
            </a:solidFill>
            <a:prstDash val="solid"/>
          </a:ln>
        </p:spPr>
      </p:sp>
      <p:sp>
        <p:nvSpPr>
          <p:cNvPr id="15" name="Shape 11"/>
          <p:cNvSpPr/>
          <p:nvPr/>
        </p:nvSpPr>
        <p:spPr>
          <a:xfrm>
            <a:off x="4501134" y="3822192"/>
            <a:ext cx="137160" cy="137160"/>
          </a:xfrm>
          <a:prstGeom prst="ellipse">
            <a:avLst/>
          </a:prstGeom>
          <a:solidFill>
            <a:srgbClr val="FFFFFF"/>
          </a:solidFill>
          <a:ln w="19050">
            <a:solidFill>
              <a:srgbClr val="D9700F"/>
            </a:solidFill>
            <a:prstDash val="solid"/>
          </a:ln>
        </p:spPr>
      </p:sp>
      <p:pic>
        <p:nvPicPr>
          <p:cNvPr id="16" name="Image 1" descr="nerd face">    </p:cNvPr>
          <p:cNvPicPr>
            <a:picLocks noChangeAspect="1"/>
          </p:cNvPicPr>
          <p:nvPr/>
        </p:nvPicPr>
        <p:blipFill>
          <a:blip r:embed="rId2"/>
          <a:stretch>
            <a:fillRect/>
          </a:stretch>
        </p:blipFill>
        <p:spPr>
          <a:xfrm>
            <a:off x="4130802" y="3977640"/>
            <a:ext cx="1097280" cy="1097280"/>
          </a:xfrm>
          <a:prstGeom prst="rect">
            <a:avLst/>
          </a:prstGeom>
        </p:spPr>
      </p:pic>
      <p:sp>
        <p:nvSpPr>
          <p:cNvPr id="17" name="Text 12"/>
          <p:cNvSpPr txBox="1"/>
          <p:nvPr/>
        </p:nvSpPr>
        <p:spPr>
          <a:xfrm>
            <a:off x="3378708" y="5120640"/>
            <a:ext cx="2601468" cy="411480"/>
          </a:xfrm>
          <a:prstGeom prst="rect">
            <a:avLst/>
          </a:prstGeom>
          <a:noFill/>
          <a:ln/>
        </p:spPr>
        <p:txBody>
          <a:bodyPr wrap="square" lIns="0" tIns="0" rIns="0" bIns="0" rtlCol="0" anchor="ctr"/>
          <a:lstStyle/>
          <a:p>
            <a:pPr algn="ctr" indent="0" marL="0">
              <a:buNone/>
            </a:pPr>
            <a:r>
              <a:rPr lang="en-US" sz="2000" i="1" dirty="0">
                <a:solidFill>
                  <a:schemeClr val="tx1"/>
                </a:solidFill>
              </a:rPr>
              <a:t>Ik </a:t>
            </a:r>
            <a:r>
              <a:rPr lang="en-US" sz="2000" b="1" i="1" dirty="0">
                <a:solidFill>
                  <a:schemeClr val="tx1"/>
                </a:solidFill>
              </a:rPr>
              <a:t>weet</a:t>
            </a:r>
            <a:r>
              <a:rPr lang="en-US" sz="2000" i="1" dirty="0">
                <a:solidFill>
                  <a:schemeClr val="tx1"/>
                </a:solidFill>
              </a:rPr>
              <a:t>…</a:t>
            </a:r>
            <a:endParaRPr lang="en-US" sz="2000" dirty="0"/>
          </a:p>
        </p:txBody>
      </p:sp>
      <p:sp>
        <p:nvSpPr>
          <p:cNvPr id="18" name="Text 13"/>
          <p:cNvSpPr txBox="1"/>
          <p:nvPr/>
        </p:nvSpPr>
        <p:spPr>
          <a:xfrm>
            <a:off x="3378708" y="5504688"/>
            <a:ext cx="2601468" cy="320040"/>
          </a:xfrm>
          <a:prstGeom prst="rect">
            <a:avLst/>
          </a:prstGeom>
          <a:noFill/>
          <a:ln/>
        </p:spPr>
        <p:txBody>
          <a:bodyPr wrap="square" lIns="0" tIns="0" rIns="0" bIns="0" rtlCol="0" anchor="t"/>
          <a:lstStyle/>
          <a:p>
            <a:pPr algn="ctr" indent="0" marL="0">
              <a:buNone/>
            </a:pPr>
            <a:r>
              <a:rPr lang="en-US" sz="1400" i="1" dirty="0">
                <a:solidFill>
                  <a:schemeClr val="accent5"/>
                </a:solidFill>
              </a:rPr>
              <a:t>je sais que</a:t>
            </a:r>
            <a:endParaRPr lang="en-US" sz="1400" dirty="0"/>
          </a:p>
        </p:txBody>
      </p:sp>
      <p:sp>
        <p:nvSpPr>
          <p:cNvPr id="19" name="Shape 14"/>
          <p:cNvSpPr/>
          <p:nvPr/>
        </p:nvSpPr>
        <p:spPr>
          <a:xfrm>
            <a:off x="6300216" y="1554480"/>
            <a:ext cx="2418588" cy="1965960"/>
          </a:xfrm>
          <a:prstGeom prst="roundRect">
            <a:avLst>
              <a:gd name="adj" fmla="val 16279"/>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0" name="Text 15"/>
          <p:cNvSpPr txBox="1"/>
          <p:nvPr/>
        </p:nvSpPr>
        <p:spPr>
          <a:xfrm>
            <a:off x="6483096" y="1600200"/>
            <a:ext cx="2052828" cy="1874520"/>
          </a:xfrm>
          <a:prstGeom prst="rect">
            <a:avLst/>
          </a:prstGeom>
          <a:noFill/>
          <a:ln/>
        </p:spPr>
        <p:txBody>
          <a:bodyPr wrap="square" lIns="0" tIns="0" rIns="0" bIns="0" rtlCol="0" anchor="ctr"/>
          <a:lstStyle/>
          <a:p>
            <a:pPr algn="ctr" indent="0" marL="0">
              <a:buNone/>
            </a:pPr>
            <a:r>
              <a:rPr lang="en-US" sz="1800" i="1" dirty="0">
                <a:solidFill>
                  <a:schemeClr val="tx1"/>
                </a:solidFill>
              </a:rPr>
              <a:t>… </a:t>
            </a:r>
            <a:r>
              <a:rPr lang="en-US" sz="1800" b="1" i="1" dirty="0">
                <a:solidFill>
                  <a:schemeClr val="tx1"/>
                </a:solidFill>
              </a:rPr>
              <a:t>dat</a:t>
            </a:r>
            <a:r>
              <a:rPr lang="en-US" sz="1800" i="1" dirty="0">
                <a:solidFill>
                  <a:schemeClr val="tx1"/>
                </a:solidFill>
              </a:rPr>
              <a:t> het morgen mooi weer </a:t>
            </a:r>
            <a:r>
              <a:rPr lang="en-US" sz="1800" b="1" i="1" dirty="0">
                <a:solidFill>
                  <a:schemeClr val="accent6"/>
                </a:solidFill>
              </a:rPr>
              <a:t>is</a:t>
            </a:r>
            <a:r>
              <a:rPr lang="en-US" sz="1800" i="1" dirty="0">
                <a:solidFill>
                  <a:schemeClr val="tx1"/>
                </a:solidFill>
              </a:rPr>
              <a:t>.</a:t>
            </a:r>
            <a:endParaRPr lang="en-US" sz="1800" dirty="0"/>
          </a:p>
        </p:txBody>
      </p:sp>
      <p:sp>
        <p:nvSpPr>
          <p:cNvPr id="21" name="Shape 16"/>
          <p:cNvSpPr/>
          <p:nvPr/>
        </p:nvSpPr>
        <p:spPr>
          <a:xfrm>
            <a:off x="7408926" y="3566160"/>
            <a:ext cx="201168" cy="201168"/>
          </a:xfrm>
          <a:prstGeom prst="ellipse">
            <a:avLst/>
          </a:prstGeom>
          <a:solidFill>
            <a:srgbClr val="FFFFFF"/>
          </a:solidFill>
          <a:ln w="19050">
            <a:solidFill>
              <a:srgbClr val="D9700F"/>
            </a:solidFill>
            <a:prstDash val="solid"/>
          </a:ln>
        </p:spPr>
      </p:sp>
      <p:sp>
        <p:nvSpPr>
          <p:cNvPr id="22" name="Shape 17"/>
          <p:cNvSpPr/>
          <p:nvPr/>
        </p:nvSpPr>
        <p:spPr>
          <a:xfrm>
            <a:off x="7331202" y="3822192"/>
            <a:ext cx="137160" cy="137160"/>
          </a:xfrm>
          <a:prstGeom prst="ellipse">
            <a:avLst/>
          </a:prstGeom>
          <a:solidFill>
            <a:srgbClr val="FFFFFF"/>
          </a:solidFill>
          <a:ln w="19050">
            <a:solidFill>
              <a:srgbClr val="D9700F"/>
            </a:solidFill>
            <a:prstDash val="solid"/>
          </a:ln>
        </p:spPr>
      </p:sp>
      <p:pic>
        <p:nvPicPr>
          <p:cNvPr id="23" name="Image 2" descr="crossed fingers">    </p:cNvPr>
          <p:cNvPicPr>
            <a:picLocks noChangeAspect="1"/>
          </p:cNvPicPr>
          <p:nvPr/>
        </p:nvPicPr>
        <p:blipFill>
          <a:blip r:embed="rId3"/>
          <a:stretch>
            <a:fillRect/>
          </a:stretch>
        </p:blipFill>
        <p:spPr>
          <a:xfrm>
            <a:off x="6960870" y="3977640"/>
            <a:ext cx="1097280" cy="1097280"/>
          </a:xfrm>
          <a:prstGeom prst="rect">
            <a:avLst/>
          </a:prstGeom>
        </p:spPr>
      </p:pic>
      <p:sp>
        <p:nvSpPr>
          <p:cNvPr id="24" name="Text 18"/>
          <p:cNvSpPr txBox="1"/>
          <p:nvPr/>
        </p:nvSpPr>
        <p:spPr>
          <a:xfrm>
            <a:off x="6208776" y="5120640"/>
            <a:ext cx="2601468" cy="411480"/>
          </a:xfrm>
          <a:prstGeom prst="rect">
            <a:avLst/>
          </a:prstGeom>
          <a:noFill/>
          <a:ln/>
        </p:spPr>
        <p:txBody>
          <a:bodyPr wrap="square" lIns="0" tIns="0" rIns="0" bIns="0" rtlCol="0" anchor="ctr"/>
          <a:lstStyle/>
          <a:p>
            <a:pPr algn="ctr" indent="0" marL="0">
              <a:buNone/>
            </a:pPr>
            <a:r>
              <a:rPr lang="en-US" sz="2000" i="1" dirty="0">
                <a:solidFill>
                  <a:schemeClr val="tx1"/>
                </a:solidFill>
              </a:rPr>
              <a:t>Ik </a:t>
            </a:r>
            <a:r>
              <a:rPr lang="en-US" sz="2000" b="1" i="1" dirty="0">
                <a:solidFill>
                  <a:schemeClr val="tx1"/>
                </a:solidFill>
              </a:rPr>
              <a:t>hoop</a:t>
            </a:r>
            <a:r>
              <a:rPr lang="en-US" sz="2000" i="1" dirty="0">
                <a:solidFill>
                  <a:schemeClr val="tx1"/>
                </a:solidFill>
              </a:rPr>
              <a:t>…</a:t>
            </a:r>
            <a:endParaRPr lang="en-US" sz="2000" dirty="0"/>
          </a:p>
        </p:txBody>
      </p:sp>
      <p:sp>
        <p:nvSpPr>
          <p:cNvPr id="25" name="Text 19"/>
          <p:cNvSpPr txBox="1"/>
          <p:nvPr/>
        </p:nvSpPr>
        <p:spPr>
          <a:xfrm>
            <a:off x="6208776" y="5504688"/>
            <a:ext cx="2601468" cy="320040"/>
          </a:xfrm>
          <a:prstGeom prst="rect">
            <a:avLst/>
          </a:prstGeom>
          <a:noFill/>
          <a:ln/>
        </p:spPr>
        <p:txBody>
          <a:bodyPr wrap="square" lIns="0" tIns="0" rIns="0" bIns="0" rtlCol="0" anchor="t"/>
          <a:lstStyle/>
          <a:p>
            <a:pPr algn="ctr" indent="0" marL="0">
              <a:buNone/>
            </a:pPr>
            <a:r>
              <a:rPr lang="en-US" sz="1400" i="1" dirty="0">
                <a:solidFill>
                  <a:schemeClr val="accent5"/>
                </a:solidFill>
              </a:rPr>
              <a:t>j’espère que</a:t>
            </a:r>
            <a:endParaRPr lang="en-US" sz="1400" dirty="0"/>
          </a:p>
        </p:txBody>
      </p:sp>
      <p:sp>
        <p:nvSpPr>
          <p:cNvPr id="26" name="Shape 20"/>
          <p:cNvSpPr/>
          <p:nvPr/>
        </p:nvSpPr>
        <p:spPr>
          <a:xfrm>
            <a:off x="9130284" y="1554480"/>
            <a:ext cx="2418588" cy="1965960"/>
          </a:xfrm>
          <a:prstGeom prst="roundRect">
            <a:avLst>
              <a:gd name="adj" fmla="val 16279"/>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7" name="Text 21"/>
          <p:cNvSpPr txBox="1"/>
          <p:nvPr/>
        </p:nvSpPr>
        <p:spPr>
          <a:xfrm>
            <a:off x="9313164" y="1600200"/>
            <a:ext cx="2052828" cy="1874520"/>
          </a:xfrm>
          <a:prstGeom prst="rect">
            <a:avLst/>
          </a:prstGeom>
          <a:noFill/>
          <a:ln/>
        </p:spPr>
        <p:txBody>
          <a:bodyPr wrap="square" lIns="0" tIns="0" rIns="0" bIns="0" rtlCol="0" anchor="ctr"/>
          <a:lstStyle/>
          <a:p>
            <a:pPr algn="ctr" indent="0" marL="0">
              <a:buNone/>
            </a:pPr>
            <a:r>
              <a:rPr lang="en-US" sz="1800" i="1" dirty="0">
                <a:solidFill>
                  <a:schemeClr val="tx1"/>
                </a:solidFill>
              </a:rPr>
              <a:t>… </a:t>
            </a:r>
            <a:r>
              <a:rPr lang="en-US" sz="1800" b="1" i="1" dirty="0">
                <a:solidFill>
                  <a:schemeClr val="tx1"/>
                </a:solidFill>
              </a:rPr>
              <a:t>dat</a:t>
            </a:r>
            <a:r>
              <a:rPr lang="en-US" sz="1800" i="1" dirty="0">
                <a:solidFill>
                  <a:schemeClr val="tx1"/>
                </a:solidFill>
              </a:rPr>
              <a:t> ze vandaag thuis </a:t>
            </a:r>
            <a:r>
              <a:rPr lang="en-US" sz="1800" b="1" i="1" dirty="0">
                <a:solidFill>
                  <a:schemeClr val="accent6"/>
                </a:solidFill>
              </a:rPr>
              <a:t>werkt</a:t>
            </a:r>
            <a:r>
              <a:rPr lang="en-US" sz="1800" i="1" dirty="0">
                <a:solidFill>
                  <a:schemeClr val="tx1"/>
                </a:solidFill>
              </a:rPr>
              <a:t>.</a:t>
            </a:r>
            <a:endParaRPr lang="en-US" sz="1800" dirty="0"/>
          </a:p>
        </p:txBody>
      </p:sp>
      <p:sp>
        <p:nvSpPr>
          <p:cNvPr id="28" name="Shape 22"/>
          <p:cNvSpPr/>
          <p:nvPr/>
        </p:nvSpPr>
        <p:spPr>
          <a:xfrm>
            <a:off x="10238994" y="3566160"/>
            <a:ext cx="201168" cy="201168"/>
          </a:xfrm>
          <a:prstGeom prst="ellipse">
            <a:avLst/>
          </a:prstGeom>
          <a:solidFill>
            <a:srgbClr val="FFFFFF"/>
          </a:solidFill>
          <a:ln w="19050">
            <a:solidFill>
              <a:srgbClr val="D9700F"/>
            </a:solidFill>
            <a:prstDash val="solid"/>
          </a:ln>
        </p:spPr>
      </p:sp>
      <p:sp>
        <p:nvSpPr>
          <p:cNvPr id="29" name="Shape 23"/>
          <p:cNvSpPr/>
          <p:nvPr/>
        </p:nvSpPr>
        <p:spPr>
          <a:xfrm>
            <a:off x="10161270" y="3822192"/>
            <a:ext cx="137160" cy="137160"/>
          </a:xfrm>
          <a:prstGeom prst="ellipse">
            <a:avLst/>
          </a:prstGeom>
          <a:solidFill>
            <a:srgbClr val="FFFFFF"/>
          </a:solidFill>
          <a:ln w="19050">
            <a:solidFill>
              <a:srgbClr val="D9700F"/>
            </a:solidFill>
            <a:prstDash val="solid"/>
          </a:ln>
        </p:spPr>
      </p:sp>
      <p:pic>
        <p:nvPicPr>
          <p:cNvPr id="30" name="Image 3" descr="speaking head">    </p:cNvPr>
          <p:cNvPicPr>
            <a:picLocks noChangeAspect="1"/>
          </p:cNvPicPr>
          <p:nvPr/>
        </p:nvPicPr>
        <p:blipFill>
          <a:blip r:embed="rId4"/>
          <a:stretch>
            <a:fillRect/>
          </a:stretch>
        </p:blipFill>
        <p:spPr>
          <a:xfrm>
            <a:off x="9790938" y="3977640"/>
            <a:ext cx="1097280" cy="1097280"/>
          </a:xfrm>
          <a:prstGeom prst="rect">
            <a:avLst/>
          </a:prstGeom>
        </p:spPr>
      </p:pic>
      <p:sp>
        <p:nvSpPr>
          <p:cNvPr id="31" name="Text 24"/>
          <p:cNvSpPr txBox="1"/>
          <p:nvPr/>
        </p:nvSpPr>
        <p:spPr>
          <a:xfrm>
            <a:off x="9038844" y="5120640"/>
            <a:ext cx="2601468" cy="411480"/>
          </a:xfrm>
          <a:prstGeom prst="rect">
            <a:avLst/>
          </a:prstGeom>
          <a:noFill/>
          <a:ln/>
        </p:spPr>
        <p:txBody>
          <a:bodyPr wrap="square" lIns="0" tIns="0" rIns="0" bIns="0" rtlCol="0" anchor="ctr"/>
          <a:lstStyle/>
          <a:p>
            <a:pPr algn="ctr" indent="0" marL="0">
              <a:buNone/>
            </a:pPr>
            <a:r>
              <a:rPr lang="en-US" sz="2000" i="1" dirty="0">
                <a:solidFill>
                  <a:schemeClr val="tx1"/>
                </a:solidFill>
              </a:rPr>
              <a:t>Sofie </a:t>
            </a:r>
            <a:r>
              <a:rPr lang="en-US" sz="2000" b="1" i="1" dirty="0">
                <a:solidFill>
                  <a:schemeClr val="tx1"/>
                </a:solidFill>
              </a:rPr>
              <a:t>zegt</a:t>
            </a:r>
            <a:r>
              <a:rPr lang="en-US" sz="2000" i="1" dirty="0">
                <a:solidFill>
                  <a:schemeClr val="tx1"/>
                </a:solidFill>
              </a:rPr>
              <a:t>…</a:t>
            </a:r>
            <a:endParaRPr lang="en-US" sz="2000" dirty="0"/>
          </a:p>
        </p:txBody>
      </p:sp>
      <p:sp>
        <p:nvSpPr>
          <p:cNvPr id="32" name="Text 25"/>
          <p:cNvSpPr txBox="1"/>
          <p:nvPr/>
        </p:nvSpPr>
        <p:spPr>
          <a:xfrm>
            <a:off x="9038844" y="5504688"/>
            <a:ext cx="2601468" cy="320040"/>
          </a:xfrm>
          <a:prstGeom prst="rect">
            <a:avLst/>
          </a:prstGeom>
          <a:noFill/>
          <a:ln/>
        </p:spPr>
        <p:txBody>
          <a:bodyPr wrap="square" lIns="0" tIns="0" rIns="0" bIns="0" rtlCol="0" anchor="t"/>
          <a:lstStyle/>
          <a:p>
            <a:pPr algn="ctr" indent="0" marL="0">
              <a:buNone/>
            </a:pPr>
            <a:r>
              <a:rPr lang="en-US" sz="1400" i="1" dirty="0">
                <a:solidFill>
                  <a:schemeClr val="accent5"/>
                </a:solidFill>
              </a:rPr>
              <a:t>Sofie dit que</a:t>
            </a:r>
            <a:endParaRPr lang="en-US" sz="1400" dirty="0"/>
          </a:p>
        </p:txBody>
      </p:sp>
      <p:sp>
        <p:nvSpPr>
          <p:cNvPr id="33" name="Text 26"/>
          <p:cNvSpPr txBox="1"/>
          <p:nvPr/>
        </p:nvSpPr>
        <p:spPr>
          <a:xfrm>
            <a:off x="548640" y="5897880"/>
            <a:ext cx="11091672" cy="365760"/>
          </a:xfrm>
          <a:prstGeom prst="rect">
            <a:avLst/>
          </a:prstGeom>
          <a:noFill/>
          <a:ln/>
        </p:spPr>
        <p:txBody>
          <a:bodyPr wrap="square" lIns="0" tIns="0" rIns="0" bIns="0" rtlCol="0" anchor="t"/>
          <a:lstStyle/>
          <a:p>
            <a:pPr algn="ctr" indent="0" marL="0">
              <a:buNone/>
            </a:pPr>
            <a:r>
              <a:rPr lang="en-US" sz="1500" dirty="0">
                <a:solidFill>
                  <a:schemeClr val="accent6"/>
                </a:solidFill>
              </a:rPr>
              <a:t>⚠ </a:t>
            </a:r>
            <a:r>
              <a:rPr lang="en-US" sz="1500" i="1" dirty="0">
                <a:solidFill>
                  <a:schemeClr val="accent6"/>
                </a:solidFill>
              </a:rPr>
              <a:t>dat</a:t>
            </a:r>
            <a:r>
              <a:rPr lang="en-US" sz="1500" dirty="0">
                <a:solidFill>
                  <a:schemeClr val="accent6"/>
                </a:solidFill>
              </a:rPr>
              <a:t> ne s’omet </a:t>
            </a:r>
            <a:r>
              <a:rPr lang="en-US" sz="1500" b="1" dirty="0">
                <a:solidFill>
                  <a:schemeClr val="accent6"/>
                </a:solidFill>
              </a:rPr>
              <a:t>jamais</a:t>
            </a:r>
            <a:r>
              <a:rPr lang="en-US" sz="1500" dirty="0">
                <a:solidFill>
                  <a:schemeClr val="accent6"/>
                </a:solidFill>
              </a:rPr>
              <a:t> (≠ anglais </a:t>
            </a:r>
            <a:r>
              <a:rPr lang="en-US" sz="1500" i="1" dirty="0">
                <a:solidFill>
                  <a:schemeClr val="accent6"/>
                </a:solidFill>
              </a:rPr>
              <a:t>I think he’s right</a:t>
            </a:r>
            <a:r>
              <a:rPr lang="en-US" sz="1500" dirty="0">
                <a:solidFill>
                  <a:schemeClr val="accent6"/>
                </a:solidFill>
              </a:rPr>
              <a:t>) : </a:t>
            </a:r>
            <a:r>
              <a:rPr lang="en-US" sz="1500" i="1" dirty="0">
                <a:solidFill>
                  <a:schemeClr val="accent6"/>
                </a:solidFill>
              </a:rPr>
              <a:t>Ik denk </a:t>
            </a:r>
            <a:r>
              <a:rPr lang="en-US" sz="1500" b="1" i="1" dirty="0">
                <a:solidFill>
                  <a:schemeClr val="accent6"/>
                </a:solidFill>
              </a:rPr>
              <a:t>dat</a:t>
            </a:r>
            <a:r>
              <a:rPr lang="en-US" sz="1500" i="1" dirty="0">
                <a:solidFill>
                  <a:schemeClr val="accent6"/>
                </a:solidFill>
              </a:rPr>
              <a:t> hij gelijk heeft.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als : la condition… et le choc des verbes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554480"/>
            <a:ext cx="4572000" cy="320040"/>
          </a:xfrm>
          <a:prstGeom prst="rect">
            <a:avLst/>
          </a:prstGeom>
          <a:noFill/>
          <a:ln/>
        </p:spPr>
        <p:txBody>
          <a:bodyPr wrap="square" lIns="0" tIns="0" rIns="0" bIns="0" rtlCol="0" anchor="t"/>
          <a:lstStyle/>
          <a:p>
            <a:pPr algn="l" indent="0" marL="0">
              <a:buNone/>
            </a:pPr>
            <a:r>
              <a:rPr lang="en-US" sz="1400" b="1" spc="200" kern="0" dirty="0">
                <a:solidFill>
                  <a:schemeClr val="accent5"/>
                </a:solidFill>
              </a:rPr>
              <a:t>① ORDRE DE BASE</a:t>
            </a:r>
            <a:endParaRPr lang="en-US" sz="1400" dirty="0"/>
          </a:p>
        </p:txBody>
      </p:sp>
      <p:sp>
        <p:nvSpPr>
          <p:cNvPr id="6" name="Shape 3"/>
          <p:cNvSpPr/>
          <p:nvPr/>
        </p:nvSpPr>
        <p:spPr>
          <a:xfrm>
            <a:off x="548640" y="1920240"/>
            <a:ext cx="606430" cy="731520"/>
          </a:xfrm>
          <a:prstGeom prst="roundRect">
            <a:avLst>
              <a:gd name="adj" fmla="val 12063"/>
            </a:avLst>
          </a:prstGeom>
          <a:solidFill>
            <a:schemeClr val="bg1"/>
          </a:solidFill>
          <a:ln w="15875">
            <a:solidFill>
              <a:srgbClr val="D5DCE6"/>
            </a:solidFill>
            <a:prstDash val="solid"/>
          </a:ln>
        </p:spPr>
      </p:sp>
      <p:sp>
        <p:nvSpPr>
          <p:cNvPr id="7" name="Text 4"/>
          <p:cNvSpPr txBox="1"/>
          <p:nvPr/>
        </p:nvSpPr>
        <p:spPr>
          <a:xfrm>
            <a:off x="548640" y="1920240"/>
            <a:ext cx="606430" cy="731520"/>
          </a:xfrm>
          <a:prstGeom prst="rect">
            <a:avLst/>
          </a:prstGeom>
          <a:noFill/>
          <a:ln/>
        </p:spPr>
        <p:txBody>
          <a:bodyPr wrap="square" lIns="0" tIns="0" rIns="0" bIns="0" rtlCol="0" anchor="ctr"/>
          <a:lstStyle/>
          <a:p>
            <a:pPr algn="ctr" indent="0" marL="0">
              <a:buNone/>
            </a:pPr>
            <a:r>
              <a:rPr lang="en-US" sz="2200" dirty="0">
                <a:solidFill>
                  <a:schemeClr val="tx1"/>
                </a:solidFill>
              </a:rPr>
              <a:t>Je</a:t>
            </a:r>
            <a:endParaRPr lang="en-US" sz="2200" dirty="0"/>
          </a:p>
        </p:txBody>
      </p:sp>
      <p:sp>
        <p:nvSpPr>
          <p:cNvPr id="8" name="Shape 5"/>
          <p:cNvSpPr/>
          <p:nvPr/>
        </p:nvSpPr>
        <p:spPr>
          <a:xfrm>
            <a:off x="1228222" y="1920240"/>
            <a:ext cx="763341" cy="731520"/>
          </a:xfrm>
          <a:prstGeom prst="roundRect">
            <a:avLst>
              <a:gd name="adj" fmla="val 10000"/>
            </a:avLst>
          </a:prstGeom>
          <a:solidFill>
            <a:srgbClr val="FBEDEB"/>
          </a:solidFill>
          <a:ln w="31750">
            <a:solidFill>
              <a:srgbClr val="B83227"/>
            </a:solidFill>
            <a:prstDash val="solid"/>
          </a:ln>
        </p:spPr>
      </p:sp>
      <p:sp>
        <p:nvSpPr>
          <p:cNvPr id="9" name="Text 6"/>
          <p:cNvSpPr txBox="1"/>
          <p:nvPr/>
        </p:nvSpPr>
        <p:spPr>
          <a:xfrm>
            <a:off x="1228222" y="1920240"/>
            <a:ext cx="763341" cy="731520"/>
          </a:xfrm>
          <a:prstGeom prst="rect">
            <a:avLst/>
          </a:prstGeom>
          <a:noFill/>
          <a:ln/>
        </p:spPr>
        <p:txBody>
          <a:bodyPr wrap="square" lIns="0" tIns="0" rIns="0" bIns="0" rtlCol="0" anchor="ctr"/>
          <a:lstStyle/>
          <a:p>
            <a:pPr algn="ctr" indent="0" marL="0">
              <a:buNone/>
            </a:pPr>
            <a:r>
              <a:rPr lang="en-US" sz="2200" b="1" dirty="0">
                <a:solidFill>
                  <a:schemeClr val="accent6"/>
                </a:solidFill>
              </a:rPr>
              <a:t>mag</a:t>
            </a:r>
            <a:endParaRPr lang="en-US" sz="2200" dirty="0"/>
          </a:p>
        </p:txBody>
      </p:sp>
      <p:sp>
        <p:nvSpPr>
          <p:cNvPr id="10" name="Shape 7"/>
          <p:cNvSpPr/>
          <p:nvPr/>
        </p:nvSpPr>
        <p:spPr>
          <a:xfrm>
            <a:off x="2064715" y="1920240"/>
            <a:ext cx="2803185" cy="731520"/>
          </a:xfrm>
          <a:prstGeom prst="roundRect">
            <a:avLst>
              <a:gd name="adj" fmla="val 10000"/>
            </a:avLst>
          </a:prstGeom>
          <a:solidFill>
            <a:schemeClr val="bg1"/>
          </a:solidFill>
          <a:ln w="15875">
            <a:solidFill>
              <a:srgbClr val="D5DCE6"/>
            </a:solidFill>
            <a:prstDash val="solid"/>
          </a:ln>
        </p:spPr>
      </p:sp>
      <p:sp>
        <p:nvSpPr>
          <p:cNvPr id="11" name="Text 8"/>
          <p:cNvSpPr txBox="1"/>
          <p:nvPr/>
        </p:nvSpPr>
        <p:spPr>
          <a:xfrm>
            <a:off x="2064715" y="1920240"/>
            <a:ext cx="2803185" cy="731520"/>
          </a:xfrm>
          <a:prstGeom prst="rect">
            <a:avLst/>
          </a:prstGeom>
          <a:noFill/>
          <a:ln/>
        </p:spPr>
        <p:txBody>
          <a:bodyPr wrap="square" lIns="0" tIns="0" rIns="0" bIns="0" rtlCol="0" anchor="ctr"/>
          <a:lstStyle/>
          <a:p>
            <a:pPr algn="ctr" indent="0" marL="0">
              <a:buNone/>
            </a:pPr>
            <a:r>
              <a:rPr lang="en-US" sz="2200" dirty="0">
                <a:solidFill>
                  <a:schemeClr val="tx1"/>
                </a:solidFill>
              </a:rPr>
              <a:t>me altijd bellen</a:t>
            </a:r>
            <a:endParaRPr lang="en-US" sz="2200" dirty="0"/>
          </a:p>
        </p:txBody>
      </p:sp>
      <p:sp>
        <p:nvSpPr>
          <p:cNvPr id="12" name="Shape 9"/>
          <p:cNvSpPr/>
          <p:nvPr/>
        </p:nvSpPr>
        <p:spPr>
          <a:xfrm>
            <a:off x="4941052" y="1920240"/>
            <a:ext cx="763341" cy="731520"/>
          </a:xfrm>
          <a:prstGeom prst="roundRect">
            <a:avLst>
              <a:gd name="adj" fmla="val 10000"/>
            </a:avLst>
          </a:prstGeom>
          <a:solidFill>
            <a:schemeClr val="accent1"/>
          </a:solidFill>
          <a:ln w="12700">
            <a:solidFill>
              <a:srgbClr val="FFFFFF">
                <a:alpha val="0"/>
              </a:srgbClr>
            </a:solidFill>
            <a:prstDash val="solid"/>
          </a:ln>
        </p:spPr>
      </p:sp>
      <p:sp>
        <p:nvSpPr>
          <p:cNvPr id="13" name="Text 10"/>
          <p:cNvSpPr txBox="1"/>
          <p:nvPr/>
        </p:nvSpPr>
        <p:spPr>
          <a:xfrm>
            <a:off x="4941052" y="1920240"/>
            <a:ext cx="763341" cy="731520"/>
          </a:xfrm>
          <a:prstGeom prst="rect">
            <a:avLst/>
          </a:prstGeom>
          <a:noFill/>
          <a:ln/>
        </p:spPr>
        <p:txBody>
          <a:bodyPr wrap="square" lIns="0" tIns="0" rIns="0" bIns="0" rtlCol="0" anchor="ctr"/>
          <a:lstStyle/>
          <a:p>
            <a:pPr algn="ctr" indent="0" marL="0">
              <a:buNone/>
            </a:pPr>
            <a:r>
              <a:rPr lang="en-US" sz="2200" b="1" dirty="0">
                <a:solidFill>
                  <a:schemeClr val="bg1"/>
                </a:solidFill>
              </a:rPr>
              <a:t>als</a:t>
            </a:r>
            <a:endParaRPr lang="en-US" sz="2200" dirty="0"/>
          </a:p>
        </p:txBody>
      </p:sp>
      <p:sp>
        <p:nvSpPr>
          <p:cNvPr id="14" name="Shape 11"/>
          <p:cNvSpPr/>
          <p:nvPr/>
        </p:nvSpPr>
        <p:spPr>
          <a:xfrm>
            <a:off x="5777545" y="1920240"/>
            <a:ext cx="1704807" cy="731520"/>
          </a:xfrm>
          <a:prstGeom prst="roundRect">
            <a:avLst>
              <a:gd name="adj" fmla="val 10000"/>
            </a:avLst>
          </a:prstGeom>
          <a:solidFill>
            <a:schemeClr val="bg1"/>
          </a:solidFill>
          <a:ln w="15875">
            <a:solidFill>
              <a:srgbClr val="D5DCE6"/>
            </a:solidFill>
            <a:prstDash val="solid"/>
          </a:ln>
        </p:spPr>
      </p:sp>
      <p:sp>
        <p:nvSpPr>
          <p:cNvPr id="15" name="Text 12"/>
          <p:cNvSpPr txBox="1"/>
          <p:nvPr/>
        </p:nvSpPr>
        <p:spPr>
          <a:xfrm>
            <a:off x="5777545" y="1920240"/>
            <a:ext cx="1704807" cy="731520"/>
          </a:xfrm>
          <a:prstGeom prst="rect">
            <a:avLst/>
          </a:prstGeom>
          <a:noFill/>
          <a:ln/>
        </p:spPr>
        <p:txBody>
          <a:bodyPr wrap="square" lIns="0" tIns="0" rIns="0" bIns="0" rtlCol="0" anchor="ctr"/>
          <a:lstStyle/>
          <a:p>
            <a:pPr algn="ctr" indent="0" marL="0">
              <a:buNone/>
            </a:pPr>
            <a:r>
              <a:rPr lang="en-US" sz="2200" dirty="0">
                <a:solidFill>
                  <a:schemeClr val="tx1"/>
                </a:solidFill>
              </a:rPr>
              <a:t>je vragen</a:t>
            </a:r>
            <a:endParaRPr lang="en-US" sz="2200" dirty="0"/>
          </a:p>
        </p:txBody>
      </p:sp>
      <p:sp>
        <p:nvSpPr>
          <p:cNvPr id="16" name="Shape 13"/>
          <p:cNvSpPr/>
          <p:nvPr/>
        </p:nvSpPr>
        <p:spPr>
          <a:xfrm>
            <a:off x="7555504" y="1920240"/>
            <a:ext cx="1077163" cy="731520"/>
          </a:xfrm>
          <a:prstGeom prst="roundRect">
            <a:avLst>
              <a:gd name="adj" fmla="val 10000"/>
            </a:avLst>
          </a:prstGeom>
          <a:solidFill>
            <a:srgbClr val="FBEDEB"/>
          </a:solidFill>
          <a:ln w="31750">
            <a:solidFill>
              <a:srgbClr val="B83227"/>
            </a:solidFill>
            <a:prstDash val="solid"/>
          </a:ln>
        </p:spPr>
      </p:sp>
      <p:sp>
        <p:nvSpPr>
          <p:cNvPr id="17" name="Text 14"/>
          <p:cNvSpPr txBox="1"/>
          <p:nvPr/>
        </p:nvSpPr>
        <p:spPr>
          <a:xfrm>
            <a:off x="7555504" y="1920240"/>
            <a:ext cx="1077163" cy="731520"/>
          </a:xfrm>
          <a:prstGeom prst="rect">
            <a:avLst/>
          </a:prstGeom>
          <a:noFill/>
          <a:ln/>
        </p:spPr>
        <p:txBody>
          <a:bodyPr wrap="square" lIns="0" tIns="0" rIns="0" bIns="0" rtlCol="0" anchor="ctr"/>
          <a:lstStyle/>
          <a:p>
            <a:pPr algn="ctr" indent="0" marL="0">
              <a:buNone/>
            </a:pPr>
            <a:r>
              <a:rPr lang="en-US" sz="2200" b="1" dirty="0">
                <a:solidFill>
                  <a:schemeClr val="accent6"/>
                </a:solidFill>
              </a:rPr>
              <a:t>hebt.</a:t>
            </a:r>
            <a:endParaRPr lang="en-US" sz="2200" dirty="0"/>
          </a:p>
        </p:txBody>
      </p:sp>
      <p:sp>
        <p:nvSpPr>
          <p:cNvPr id="18" name="Text 15"/>
          <p:cNvSpPr txBox="1"/>
          <p:nvPr/>
        </p:nvSpPr>
        <p:spPr>
          <a:xfrm>
            <a:off x="548640" y="2971800"/>
            <a:ext cx="7315200" cy="320040"/>
          </a:xfrm>
          <a:prstGeom prst="rect">
            <a:avLst/>
          </a:prstGeom>
          <a:noFill/>
          <a:ln/>
        </p:spPr>
        <p:txBody>
          <a:bodyPr wrap="square" lIns="0" tIns="0" rIns="0" bIns="0" rtlCol="0" anchor="t"/>
          <a:lstStyle/>
          <a:p>
            <a:pPr algn="l" indent="0" marL="0">
              <a:buNone/>
            </a:pPr>
            <a:r>
              <a:rPr lang="en-US" sz="1400" b="1" spc="200" kern="0" dirty="0">
                <a:solidFill>
                  <a:schemeClr val="accent5"/>
                </a:solidFill>
              </a:rPr>
              <a:t>② LA SUBORDONNÉE EN TÊTE = CASE ①</a:t>
            </a:r>
            <a:endParaRPr lang="en-US" sz="1400" dirty="0"/>
          </a:p>
        </p:txBody>
      </p:sp>
      <p:sp>
        <p:nvSpPr>
          <p:cNvPr id="19" name="Shape 16"/>
          <p:cNvSpPr/>
          <p:nvPr/>
        </p:nvSpPr>
        <p:spPr>
          <a:xfrm>
            <a:off x="457200" y="3291840"/>
            <a:ext cx="4251960" cy="960120"/>
          </a:xfrm>
          <a:prstGeom prst="roundRect">
            <a:avLst>
              <a:gd name="adj" fmla="val 7619"/>
            </a:avLst>
          </a:prstGeom>
          <a:solidFill>
            <a:schemeClr val="accent1">
              <a:alpha val="10000"/>
            </a:schemeClr>
          </a:solidFill>
          <a:ln w="19050">
            <a:solidFill>
              <a:srgbClr val="D9700F"/>
            </a:solidFill>
            <a:prstDash val="dash"/>
          </a:ln>
        </p:spPr>
      </p:sp>
      <p:sp>
        <p:nvSpPr>
          <p:cNvPr id="20" name="Shape 17"/>
          <p:cNvSpPr/>
          <p:nvPr/>
        </p:nvSpPr>
        <p:spPr>
          <a:xfrm>
            <a:off x="548640" y="3401568"/>
            <a:ext cx="763341" cy="731520"/>
          </a:xfrm>
          <a:prstGeom prst="roundRect">
            <a:avLst>
              <a:gd name="adj" fmla="val 10000"/>
            </a:avLst>
          </a:prstGeom>
          <a:solidFill>
            <a:schemeClr val="accent1"/>
          </a:solidFill>
          <a:ln w="12700">
            <a:solidFill>
              <a:srgbClr val="FFFFFF">
                <a:alpha val="0"/>
              </a:srgbClr>
            </a:solidFill>
            <a:prstDash val="solid"/>
          </a:ln>
        </p:spPr>
      </p:sp>
      <p:sp>
        <p:nvSpPr>
          <p:cNvPr id="21" name="Text 18"/>
          <p:cNvSpPr txBox="1"/>
          <p:nvPr/>
        </p:nvSpPr>
        <p:spPr>
          <a:xfrm>
            <a:off x="548640" y="3401568"/>
            <a:ext cx="763341" cy="731520"/>
          </a:xfrm>
          <a:prstGeom prst="rect">
            <a:avLst/>
          </a:prstGeom>
          <a:noFill/>
          <a:ln/>
        </p:spPr>
        <p:txBody>
          <a:bodyPr wrap="square" lIns="0" tIns="0" rIns="0" bIns="0" rtlCol="0" anchor="ctr"/>
          <a:lstStyle/>
          <a:p>
            <a:pPr algn="ctr" indent="0" marL="0">
              <a:buNone/>
            </a:pPr>
            <a:r>
              <a:rPr lang="en-US" sz="2200" b="1" dirty="0">
                <a:solidFill>
                  <a:schemeClr val="bg1"/>
                </a:solidFill>
              </a:rPr>
              <a:t>Als</a:t>
            </a:r>
            <a:endParaRPr lang="en-US" sz="2200" dirty="0"/>
          </a:p>
        </p:txBody>
      </p:sp>
      <p:sp>
        <p:nvSpPr>
          <p:cNvPr id="22" name="Shape 19"/>
          <p:cNvSpPr/>
          <p:nvPr/>
        </p:nvSpPr>
        <p:spPr>
          <a:xfrm>
            <a:off x="1385133" y="3401568"/>
            <a:ext cx="1704807" cy="731520"/>
          </a:xfrm>
          <a:prstGeom prst="roundRect">
            <a:avLst>
              <a:gd name="adj" fmla="val 10000"/>
            </a:avLst>
          </a:prstGeom>
          <a:solidFill>
            <a:schemeClr val="bg1"/>
          </a:solidFill>
          <a:ln w="15875">
            <a:solidFill>
              <a:srgbClr val="D5DCE6"/>
            </a:solidFill>
            <a:prstDash val="solid"/>
          </a:ln>
        </p:spPr>
      </p:sp>
      <p:sp>
        <p:nvSpPr>
          <p:cNvPr id="23" name="Text 20"/>
          <p:cNvSpPr txBox="1"/>
          <p:nvPr/>
        </p:nvSpPr>
        <p:spPr>
          <a:xfrm>
            <a:off x="1385133" y="3401568"/>
            <a:ext cx="1704807" cy="731520"/>
          </a:xfrm>
          <a:prstGeom prst="rect">
            <a:avLst/>
          </a:prstGeom>
          <a:noFill/>
          <a:ln/>
        </p:spPr>
        <p:txBody>
          <a:bodyPr wrap="square" lIns="0" tIns="0" rIns="0" bIns="0" rtlCol="0" anchor="ctr"/>
          <a:lstStyle/>
          <a:p>
            <a:pPr algn="ctr" indent="0" marL="0">
              <a:buNone/>
            </a:pPr>
            <a:r>
              <a:rPr lang="en-US" sz="2200" dirty="0">
                <a:solidFill>
                  <a:schemeClr val="tx1"/>
                </a:solidFill>
              </a:rPr>
              <a:t>je vragen</a:t>
            </a:r>
            <a:endParaRPr lang="en-US" sz="2200" dirty="0"/>
          </a:p>
        </p:txBody>
      </p:sp>
      <p:sp>
        <p:nvSpPr>
          <p:cNvPr id="24" name="Shape 21"/>
          <p:cNvSpPr/>
          <p:nvPr/>
        </p:nvSpPr>
        <p:spPr>
          <a:xfrm>
            <a:off x="3163092" y="3401568"/>
            <a:ext cx="1077163" cy="731520"/>
          </a:xfrm>
          <a:prstGeom prst="roundRect">
            <a:avLst>
              <a:gd name="adj" fmla="val 10000"/>
            </a:avLst>
          </a:prstGeom>
          <a:solidFill>
            <a:srgbClr val="FBEDEB"/>
          </a:solidFill>
          <a:ln w="31750">
            <a:solidFill>
              <a:srgbClr val="B83227"/>
            </a:solidFill>
            <a:prstDash val="solid"/>
          </a:ln>
        </p:spPr>
      </p:sp>
      <p:sp>
        <p:nvSpPr>
          <p:cNvPr id="25" name="Text 22"/>
          <p:cNvSpPr txBox="1"/>
          <p:nvPr/>
        </p:nvSpPr>
        <p:spPr>
          <a:xfrm>
            <a:off x="3163092" y="3401568"/>
            <a:ext cx="1077163" cy="731520"/>
          </a:xfrm>
          <a:prstGeom prst="rect">
            <a:avLst/>
          </a:prstGeom>
          <a:noFill/>
          <a:ln/>
        </p:spPr>
        <p:txBody>
          <a:bodyPr wrap="square" lIns="0" tIns="0" rIns="0" bIns="0" rtlCol="0" anchor="ctr"/>
          <a:lstStyle/>
          <a:p>
            <a:pPr algn="ctr" indent="0" marL="0">
              <a:buNone/>
            </a:pPr>
            <a:r>
              <a:rPr lang="en-US" sz="2200" b="1" dirty="0">
                <a:solidFill>
                  <a:schemeClr val="accent6"/>
                </a:solidFill>
              </a:rPr>
              <a:t>hebt,</a:t>
            </a:r>
            <a:endParaRPr lang="en-US" sz="2200" dirty="0"/>
          </a:p>
        </p:txBody>
      </p:sp>
      <p:sp>
        <p:nvSpPr>
          <p:cNvPr id="26" name="Shape 23"/>
          <p:cNvSpPr/>
          <p:nvPr/>
        </p:nvSpPr>
        <p:spPr>
          <a:xfrm>
            <a:off x="4349984" y="3401568"/>
            <a:ext cx="763341" cy="731520"/>
          </a:xfrm>
          <a:prstGeom prst="roundRect">
            <a:avLst>
              <a:gd name="adj" fmla="val 10000"/>
            </a:avLst>
          </a:prstGeom>
          <a:solidFill>
            <a:srgbClr val="FBEDEB"/>
          </a:solidFill>
          <a:ln w="31750">
            <a:solidFill>
              <a:srgbClr val="B83227"/>
            </a:solidFill>
            <a:prstDash val="solid"/>
          </a:ln>
        </p:spPr>
      </p:sp>
      <p:sp>
        <p:nvSpPr>
          <p:cNvPr id="27" name="Text 24"/>
          <p:cNvSpPr txBox="1"/>
          <p:nvPr/>
        </p:nvSpPr>
        <p:spPr>
          <a:xfrm>
            <a:off x="4349984" y="3401568"/>
            <a:ext cx="763341" cy="731520"/>
          </a:xfrm>
          <a:prstGeom prst="rect">
            <a:avLst/>
          </a:prstGeom>
          <a:noFill/>
          <a:ln/>
        </p:spPr>
        <p:txBody>
          <a:bodyPr wrap="square" lIns="0" tIns="0" rIns="0" bIns="0" rtlCol="0" anchor="ctr"/>
          <a:lstStyle/>
          <a:p>
            <a:pPr algn="ctr" indent="0" marL="0">
              <a:buNone/>
            </a:pPr>
            <a:r>
              <a:rPr lang="en-US" sz="2200" b="1" dirty="0">
                <a:solidFill>
                  <a:schemeClr val="accent6"/>
                </a:solidFill>
              </a:rPr>
              <a:t>mag</a:t>
            </a:r>
            <a:endParaRPr lang="en-US" sz="2200" dirty="0"/>
          </a:p>
        </p:txBody>
      </p:sp>
      <p:sp>
        <p:nvSpPr>
          <p:cNvPr id="28" name="Shape 25"/>
          <p:cNvSpPr/>
          <p:nvPr/>
        </p:nvSpPr>
        <p:spPr>
          <a:xfrm>
            <a:off x="5186477" y="3401568"/>
            <a:ext cx="3430829" cy="731520"/>
          </a:xfrm>
          <a:prstGeom prst="roundRect">
            <a:avLst>
              <a:gd name="adj" fmla="val 10000"/>
            </a:avLst>
          </a:prstGeom>
          <a:solidFill>
            <a:schemeClr val="bg1"/>
          </a:solidFill>
          <a:ln w="15875">
            <a:solidFill>
              <a:srgbClr val="D5DCE6"/>
            </a:solidFill>
            <a:prstDash val="solid"/>
          </a:ln>
        </p:spPr>
      </p:sp>
      <p:sp>
        <p:nvSpPr>
          <p:cNvPr id="29" name="Text 26"/>
          <p:cNvSpPr txBox="1"/>
          <p:nvPr/>
        </p:nvSpPr>
        <p:spPr>
          <a:xfrm>
            <a:off x="5186477" y="3401568"/>
            <a:ext cx="3430829" cy="731520"/>
          </a:xfrm>
          <a:prstGeom prst="rect">
            <a:avLst/>
          </a:prstGeom>
          <a:noFill/>
          <a:ln/>
        </p:spPr>
        <p:txBody>
          <a:bodyPr wrap="square" lIns="0" tIns="0" rIns="0" bIns="0" rtlCol="0" anchor="ctr"/>
          <a:lstStyle/>
          <a:p>
            <a:pPr algn="ctr" indent="0" marL="0">
              <a:buNone/>
            </a:pPr>
            <a:r>
              <a:rPr lang="en-US" sz="2200" dirty="0">
                <a:solidFill>
                  <a:schemeClr val="tx1"/>
                </a:solidFill>
              </a:rPr>
              <a:t>je me altijd bellen.</a:t>
            </a:r>
            <a:endParaRPr lang="en-US" sz="2200" dirty="0"/>
          </a:p>
        </p:txBody>
      </p:sp>
      <p:pic>
        <p:nvPicPr>
          <p:cNvPr id="30" name="Image 0" descr="collision">    </p:cNvPr>
          <p:cNvPicPr>
            <a:picLocks noChangeAspect="1"/>
          </p:cNvPicPr>
          <p:nvPr/>
        </p:nvPicPr>
        <p:blipFill>
          <a:blip r:embed="rId1"/>
          <a:stretch>
            <a:fillRect/>
          </a:stretch>
        </p:blipFill>
        <p:spPr>
          <a:xfrm>
            <a:off x="3856208" y="4160520"/>
            <a:ext cx="685800" cy="685800"/>
          </a:xfrm>
          <a:prstGeom prst="rect">
            <a:avLst/>
          </a:prstGeom>
        </p:spPr>
      </p:pic>
      <p:sp>
        <p:nvSpPr>
          <p:cNvPr id="31" name="Text 27"/>
          <p:cNvSpPr txBox="1"/>
          <p:nvPr/>
        </p:nvSpPr>
        <p:spPr>
          <a:xfrm>
            <a:off x="3142976" y="4800600"/>
            <a:ext cx="2377440" cy="365760"/>
          </a:xfrm>
          <a:prstGeom prst="rect">
            <a:avLst/>
          </a:prstGeom>
          <a:noFill/>
          <a:ln/>
        </p:spPr>
        <p:txBody>
          <a:bodyPr wrap="square" lIns="0" tIns="0" rIns="0" bIns="0" rtlCol="0" anchor="t"/>
          <a:lstStyle/>
          <a:p>
            <a:pPr algn="ctr" indent="0" marL="0">
              <a:buNone/>
            </a:pPr>
            <a:r>
              <a:rPr lang="en-US" sz="1700" b="1" dirty="0">
                <a:solidFill>
                  <a:schemeClr val="accent6"/>
                </a:solidFill>
              </a:rPr>
              <a:t>verbe, verbe</a:t>
            </a:r>
            <a:r>
              <a:rPr lang="en-US" sz="1700" dirty="0">
                <a:solidFill>
                  <a:schemeClr val="accent6"/>
                </a:solidFill>
              </a:rPr>
              <a:t> !</a:t>
            </a:r>
            <a:endParaRPr lang="en-US" sz="1700" dirty="0"/>
          </a:p>
        </p:txBody>
      </p:sp>
      <p:sp>
        <p:nvSpPr>
          <p:cNvPr id="32" name="Text 28"/>
          <p:cNvSpPr txBox="1"/>
          <p:nvPr/>
        </p:nvSpPr>
        <p:spPr>
          <a:xfrm>
            <a:off x="548640" y="4297680"/>
            <a:ext cx="4114800" cy="292608"/>
          </a:xfrm>
          <a:prstGeom prst="rect">
            <a:avLst/>
          </a:prstGeom>
          <a:noFill/>
          <a:ln/>
        </p:spPr>
        <p:txBody>
          <a:bodyPr wrap="square" lIns="0" tIns="0" rIns="0" bIns="0" rtlCol="0" anchor="t"/>
          <a:lstStyle/>
          <a:p>
            <a:pPr algn="ctr" indent="0" marL="0">
              <a:buNone/>
            </a:pPr>
            <a:r>
              <a:rPr lang="en-US" sz="1300" i="1" dirty="0">
                <a:solidFill>
                  <a:schemeClr val="accent1"/>
                </a:solidFill>
              </a:rPr>
              <a:t>case ①</a:t>
            </a:r>
            <a:endParaRPr lang="en-US" sz="1300" dirty="0"/>
          </a:p>
        </p:txBody>
      </p:sp>
      <p:sp>
        <p:nvSpPr>
          <p:cNvPr id="33" name="Shape 29"/>
          <p:cNvSpPr/>
          <p:nvPr/>
        </p:nvSpPr>
        <p:spPr>
          <a:xfrm>
            <a:off x="8915400" y="1508760"/>
            <a:ext cx="2724912" cy="1783080"/>
          </a:xfrm>
          <a:prstGeom prst="roundRect">
            <a:avLst>
              <a:gd name="adj" fmla="val 5128"/>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4" name="Shape 30"/>
          <p:cNvSpPr/>
          <p:nvPr/>
        </p:nvSpPr>
        <p:spPr>
          <a:xfrm>
            <a:off x="9098280" y="1673352"/>
            <a:ext cx="566928" cy="566928"/>
          </a:xfrm>
          <a:prstGeom prst="ellipse">
            <a:avLst/>
          </a:prstGeom>
          <a:solidFill>
            <a:schemeClr val="tx2"/>
          </a:solidFill>
          <a:ln w="12700">
            <a:solidFill>
              <a:srgbClr val="FFFFFF">
                <a:alpha val="0"/>
              </a:srgbClr>
            </a:solidFill>
            <a:prstDash val="solid"/>
          </a:ln>
        </p:spPr>
      </p:sp>
      <p:pic>
        <p:nvPicPr>
          <p:cNvPr id="35" name="Image 1" descr="Sync">    </p:cNvPr>
          <p:cNvPicPr>
            <a:picLocks noChangeAspect="1"/>
          </p:cNvPicPr>
          <p:nvPr/>
        </p:nvPicPr>
        <p:blipFill>
          <a:blip r:embed="rId2"/>
          <a:stretch>
            <a:fillRect/>
          </a:stretch>
        </p:blipFill>
        <p:spPr>
          <a:xfrm>
            <a:off x="9234343" y="1809415"/>
            <a:ext cx="294803" cy="294803"/>
          </a:xfrm>
          <a:prstGeom prst="rect">
            <a:avLst/>
          </a:prstGeom>
        </p:spPr>
      </p:pic>
      <p:sp>
        <p:nvSpPr>
          <p:cNvPr id="36" name="Text 31"/>
          <p:cNvSpPr txBox="1"/>
          <p:nvPr/>
        </p:nvSpPr>
        <p:spPr>
          <a:xfrm>
            <a:off x="9811512" y="1655064"/>
            <a:ext cx="1691640" cy="603504"/>
          </a:xfrm>
          <a:prstGeom prst="rect">
            <a:avLst/>
          </a:prstGeom>
          <a:noFill/>
          <a:ln/>
        </p:spPr>
        <p:txBody>
          <a:bodyPr wrap="square" lIns="0" tIns="0" rIns="0" bIns="0" rtlCol="0" anchor="ctr"/>
          <a:lstStyle/>
          <a:p>
            <a:pPr algn="l" indent="0" marL="0">
              <a:buNone/>
            </a:pPr>
            <a:r>
              <a:rPr lang="en-US" sz="1600" b="1" dirty="0">
                <a:solidFill>
                  <a:schemeClr val="tx2"/>
                </a:solidFill>
              </a:rPr>
              <a:t>Comme au M3</a:t>
            </a:r>
            <a:endParaRPr lang="en-US" sz="1600" dirty="0"/>
          </a:p>
        </p:txBody>
      </p:sp>
      <p:sp>
        <p:nvSpPr>
          <p:cNvPr id="37" name="Text 32"/>
          <p:cNvSpPr txBox="1"/>
          <p:nvPr/>
        </p:nvSpPr>
        <p:spPr>
          <a:xfrm>
            <a:off x="9116568" y="2377440"/>
            <a:ext cx="2322576" cy="804672"/>
          </a:xfrm>
          <a:prstGeom prst="rect">
            <a:avLst/>
          </a:prstGeom>
          <a:noFill/>
          <a:ln/>
        </p:spPr>
        <p:txBody>
          <a:bodyPr wrap="square" lIns="0" tIns="0" rIns="0" bIns="0" rtlCol="0" anchor="t"/>
          <a:lstStyle/>
          <a:p>
            <a:pPr algn="l" indent="0" marL="0">
              <a:spcAft>
                <a:spcPts val="600"/>
              </a:spcAft>
              <a:buNone/>
            </a:pPr>
            <a:r>
              <a:rPr lang="en-US" sz="1300" i="1" dirty="0">
                <a:solidFill>
                  <a:schemeClr val="tx1"/>
                </a:solidFill>
              </a:rPr>
              <a:t>Morgen </a:t>
            </a:r>
            <a:r>
              <a:rPr lang="en-US" sz="1300" b="1" i="1" dirty="0">
                <a:solidFill>
                  <a:schemeClr val="accent6"/>
                </a:solidFill>
              </a:rPr>
              <a:t>werk</a:t>
            </a:r>
            <a:r>
              <a:rPr lang="en-US" sz="1300" i="1" dirty="0">
                <a:solidFill>
                  <a:schemeClr val="tx1"/>
                </a:solidFill>
              </a:rPr>
              <a:t> ik.</a:t>
            </a:r>
            <a:endParaRPr lang="en-US" sz="1300" dirty="0"/>
          </a:p>
          <a:p>
            <a:pPr algn="l" indent="0" marL="0">
              <a:spcAft>
                <a:spcPts val="600"/>
              </a:spcAft>
              <a:buNone/>
            </a:pPr>
            <a:r>
              <a:rPr lang="en-US" sz="1300" dirty="0">
                <a:solidFill>
                  <a:schemeClr val="tx1"/>
                </a:solidFill>
              </a:rPr>
              <a:t>Un </a:t>
            </a:r>
            <a:r>
              <a:rPr lang="en-US" sz="1300" b="1" dirty="0">
                <a:solidFill>
                  <a:schemeClr val="tx1"/>
                </a:solidFill>
              </a:rPr>
              <a:t>seul bloc</a:t>
            </a:r>
            <a:r>
              <a:rPr lang="en-US" sz="1300" dirty="0">
                <a:solidFill>
                  <a:schemeClr val="tx1"/>
                </a:solidFill>
              </a:rPr>
              <a:t> en ① → </a:t>
            </a:r>
            <a:r>
              <a:rPr lang="en-US" sz="1300" b="1" dirty="0">
                <a:solidFill>
                  <a:schemeClr val="tx1"/>
                </a:solidFill>
              </a:rPr>
              <a:t>inversion</a:t>
            </a:r>
            <a:r>
              <a:rPr lang="en-US" sz="1300" dirty="0">
                <a:solidFill>
                  <a:schemeClr val="tx1"/>
                </a:solidFill>
              </a:rPr>
              <a:t>.</a:t>
            </a:r>
            <a:endParaRPr lang="en-US" sz="1300" dirty="0"/>
          </a:p>
        </p:txBody>
      </p:sp>
      <p:sp>
        <p:nvSpPr>
          <p:cNvPr id="38" name="Shape 33"/>
          <p:cNvSpPr/>
          <p:nvPr/>
        </p:nvSpPr>
        <p:spPr>
          <a:xfrm>
            <a:off x="548640" y="5486400"/>
            <a:ext cx="11091672" cy="777240"/>
          </a:xfrm>
          <a:prstGeom prst="roundRect">
            <a:avLst>
              <a:gd name="adj" fmla="val 9412"/>
            </a:avLst>
          </a:prstGeom>
          <a:solidFill>
            <a:schemeClr val="tx2"/>
          </a:solidFill>
          <a:ln w="12700">
            <a:solidFill>
              <a:srgbClr val="FFFFFF">
                <a:alpha val="0"/>
              </a:srgbClr>
            </a:solidFill>
            <a:prstDash val="solid"/>
          </a:ln>
        </p:spPr>
      </p:sp>
      <p:sp>
        <p:nvSpPr>
          <p:cNvPr id="39" name="Text 34"/>
          <p:cNvSpPr txBox="1"/>
          <p:nvPr/>
        </p:nvSpPr>
        <p:spPr>
          <a:xfrm>
            <a:off x="822960" y="5486400"/>
            <a:ext cx="10607040" cy="777240"/>
          </a:xfrm>
          <a:prstGeom prst="rect">
            <a:avLst/>
          </a:prstGeom>
          <a:noFill/>
          <a:ln/>
        </p:spPr>
        <p:txBody>
          <a:bodyPr wrap="square" lIns="0" tIns="0" rIns="0" bIns="0" rtlCol="0" anchor="ctr"/>
          <a:lstStyle/>
          <a:p>
            <a:pPr algn="l" indent="0" marL="0">
              <a:buNone/>
            </a:pPr>
            <a:r>
              <a:rPr lang="en-US" sz="1900" dirty="0">
                <a:solidFill>
                  <a:schemeClr val="bg1"/>
                </a:solidFill>
              </a:rPr>
              <a:t>Autre exemple : </a:t>
            </a:r>
            <a:r>
              <a:rPr lang="en-US" sz="1900" b="1" i="1" dirty="0">
                <a:solidFill>
                  <a:schemeClr val="bg1"/>
                </a:solidFill>
              </a:rPr>
              <a:t>Als</a:t>
            </a:r>
            <a:r>
              <a:rPr lang="en-US" sz="1900" i="1" dirty="0">
                <a:solidFill>
                  <a:schemeClr val="bg1"/>
                </a:solidFill>
              </a:rPr>
              <a:t> het </a:t>
            </a:r>
            <a:r>
              <a:rPr lang="en-US" sz="1900" b="1" i="1" dirty="0">
                <a:solidFill>
                  <a:schemeClr val="accent6"/>
                </a:solidFill>
              </a:rPr>
              <a:t>regent</a:t>
            </a:r>
            <a:r>
              <a:rPr lang="en-US" sz="1900" i="1" dirty="0">
                <a:solidFill>
                  <a:schemeClr val="bg1"/>
                </a:solidFill>
              </a:rPr>
              <a:t>, </a:t>
            </a:r>
            <a:r>
              <a:rPr lang="en-US" sz="1900" b="1" i="1" dirty="0">
                <a:solidFill>
                  <a:schemeClr val="accent6"/>
                </a:solidFill>
              </a:rPr>
              <a:t>neem</a:t>
            </a:r>
            <a:r>
              <a:rPr lang="en-US" sz="1900" i="1" dirty="0">
                <a:solidFill>
                  <a:schemeClr val="bg1"/>
                </a:solidFill>
              </a:rPr>
              <a:t> ik de bus.</a:t>
            </a:r>
            <a:r>
              <a:rPr lang="en-US" sz="1900" dirty="0">
                <a:solidFill>
                  <a:schemeClr val="bg1"/>
                </a:solidFill>
              </a:rPr>
              <a:t>  ·  Formel : </a:t>
            </a:r>
            <a:r>
              <a:rPr lang="en-US" sz="1900" i="1" dirty="0">
                <a:solidFill>
                  <a:schemeClr val="bg1"/>
                </a:solidFill>
              </a:rPr>
              <a:t>Als er vragen zijn, mag u me altijd contacteren.</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BONUS : « si » = als ou of ?</a:t>
            </a:r>
            <a:endParaRPr lang="en-US" sz="3000" dirty="0"/>
          </a:p>
        </p:txBody>
      </p:sp>
      <p:sp>
        <p:nvSpPr>
          <p:cNvPr id="3" name="tag"/>
          <p:cNvSpPr/>
          <p:nvPr/>
        </p:nvSpPr>
        <p:spPr>
          <a:xfrm>
            <a:off x="548640" y="237744"/>
            <a:ext cx="1121054"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BONUS</a:t>
            </a:r>
            <a:endParaRPr lang="en-US" sz="1200" dirty="0"/>
          </a:p>
        </p:txBody>
      </p:sp>
      <p:sp>
        <p:nvSpPr>
          <p:cNvPr id="5" name="Shape 2"/>
          <p:cNvSpPr/>
          <p:nvPr/>
        </p:nvSpPr>
        <p:spPr>
          <a:xfrm>
            <a:off x="548640" y="1554480"/>
            <a:ext cx="5422392" cy="3154680"/>
          </a:xfrm>
          <a:prstGeom prst="roundRect">
            <a:avLst>
              <a:gd name="adj" fmla="val 2319"/>
            </a:avLst>
          </a:prstGeom>
          <a:solidFill>
            <a:schemeClr val="bg1"/>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22392" cy="914400"/>
          </a:xfrm>
          <a:prstGeom prst="roundRect">
            <a:avLst>
              <a:gd name="adj" fmla="val 8000"/>
            </a:avLst>
          </a:prstGeom>
          <a:solidFill>
            <a:schemeClr val="accent1"/>
          </a:solidFill>
          <a:ln w="12700">
            <a:solidFill>
              <a:srgbClr val="FFFFFF">
                <a:alpha val="0"/>
              </a:srgbClr>
            </a:solidFill>
            <a:prstDash val="solid"/>
          </a:ln>
        </p:spPr>
      </p:sp>
      <p:sp>
        <p:nvSpPr>
          <p:cNvPr id="7" name="Text 4"/>
          <p:cNvSpPr txBox="1"/>
          <p:nvPr/>
        </p:nvSpPr>
        <p:spPr>
          <a:xfrm>
            <a:off x="777240" y="1554480"/>
            <a:ext cx="1280160" cy="914400"/>
          </a:xfrm>
          <a:prstGeom prst="rect">
            <a:avLst/>
          </a:prstGeom>
          <a:noFill/>
          <a:ln/>
        </p:spPr>
        <p:txBody>
          <a:bodyPr wrap="square" lIns="0" tIns="0" rIns="0" bIns="0" rtlCol="0" anchor="ctr"/>
          <a:lstStyle/>
          <a:p>
            <a:pPr algn="l" indent="0" marL="0">
              <a:buNone/>
            </a:pPr>
            <a:r>
              <a:rPr lang="en-US" sz="3800" b="1" dirty="0">
                <a:solidFill>
                  <a:schemeClr val="bg1"/>
                </a:solidFill>
                <a:latin typeface="+mj-lt" pitchFamily="34" charset="0"/>
                <a:ea typeface="+mj-lt" pitchFamily="34" charset="-122"/>
                <a:cs typeface="+mj-lt" pitchFamily="34" charset="-120"/>
              </a:rPr>
              <a:t>als</a:t>
            </a:r>
            <a:endParaRPr lang="en-US" sz="3800" dirty="0"/>
          </a:p>
        </p:txBody>
      </p:sp>
      <p:sp>
        <p:nvSpPr>
          <p:cNvPr id="8" name="Text 5"/>
          <p:cNvSpPr txBox="1"/>
          <p:nvPr/>
        </p:nvSpPr>
        <p:spPr>
          <a:xfrm>
            <a:off x="2011680" y="1554480"/>
            <a:ext cx="3108960" cy="914400"/>
          </a:xfrm>
          <a:prstGeom prst="rect">
            <a:avLst/>
          </a:prstGeom>
          <a:noFill/>
          <a:ln/>
        </p:spPr>
        <p:txBody>
          <a:bodyPr wrap="square" lIns="0" tIns="0" rIns="0" bIns="0" rtlCol="0" anchor="ctr"/>
          <a:lstStyle/>
          <a:p>
            <a:pPr algn="l" indent="0" marL="0">
              <a:buNone/>
            </a:pPr>
            <a:r>
              <a:rPr lang="en-US" sz="1800" b="1" dirty="0">
                <a:solidFill>
                  <a:schemeClr val="bg1"/>
                </a:solidFill>
              </a:rPr>
              <a:t>si = condition</a:t>
            </a:r>
            <a:endParaRPr lang="en-US" sz="1800" dirty="0"/>
          </a:p>
        </p:txBody>
      </p:sp>
      <p:pic>
        <p:nvPicPr>
          <p:cNvPr id="9" name="Image 0" descr="cloud with rain">    </p:cNvPr>
          <p:cNvPicPr>
            <a:picLocks noChangeAspect="1"/>
          </p:cNvPicPr>
          <p:nvPr/>
        </p:nvPicPr>
        <p:blipFill>
          <a:blip r:embed="rId1"/>
          <a:stretch>
            <a:fillRect/>
          </a:stretch>
        </p:blipFill>
        <p:spPr>
          <a:xfrm>
            <a:off x="5120640" y="1664208"/>
            <a:ext cx="694944" cy="694944"/>
          </a:xfrm>
          <a:prstGeom prst="rect">
            <a:avLst/>
          </a:prstGeom>
        </p:spPr>
      </p:pic>
      <p:sp>
        <p:nvSpPr>
          <p:cNvPr id="10" name="Text 6"/>
          <p:cNvSpPr txBox="1"/>
          <p:nvPr/>
        </p:nvSpPr>
        <p:spPr>
          <a:xfrm>
            <a:off x="822960" y="2560320"/>
            <a:ext cx="4937760" cy="1097280"/>
          </a:xfrm>
          <a:prstGeom prst="rect">
            <a:avLst/>
          </a:prstGeom>
          <a:noFill/>
          <a:ln/>
        </p:spPr>
        <p:txBody>
          <a:bodyPr wrap="square" lIns="0" tIns="0" rIns="0" bIns="0" rtlCol="0" anchor="ctr"/>
          <a:lstStyle/>
          <a:p>
            <a:pPr algn="l" indent="0" marL="0">
              <a:spcAft>
                <a:spcPts val="800"/>
              </a:spcAft>
              <a:buNone/>
            </a:pPr>
            <a:r>
              <a:rPr lang="en-US" sz="2000" b="1" i="1" dirty="0">
                <a:solidFill>
                  <a:schemeClr val="tx1"/>
                </a:solidFill>
              </a:rPr>
              <a:t>Als</a:t>
            </a:r>
            <a:r>
              <a:rPr lang="en-US" sz="2000" i="1" dirty="0">
                <a:solidFill>
                  <a:schemeClr val="tx1"/>
                </a:solidFill>
              </a:rPr>
              <a:t> het </a:t>
            </a:r>
            <a:r>
              <a:rPr lang="en-US" sz="2000" b="1" i="1" dirty="0">
                <a:solidFill>
                  <a:schemeClr val="accent6"/>
                </a:solidFill>
              </a:rPr>
              <a:t>regent</a:t>
            </a:r>
            <a:r>
              <a:rPr lang="en-US" sz="2000" i="1" dirty="0">
                <a:solidFill>
                  <a:schemeClr val="tx1"/>
                </a:solidFill>
              </a:rPr>
              <a:t>, neem ik de bus.</a:t>
            </a:r>
            <a:endParaRPr lang="en-US" sz="2000" dirty="0"/>
          </a:p>
        </p:txBody>
      </p:sp>
      <p:sp>
        <p:nvSpPr>
          <p:cNvPr id="11" name="Shape 7"/>
          <p:cNvSpPr/>
          <p:nvPr/>
        </p:nvSpPr>
        <p:spPr>
          <a:xfrm>
            <a:off x="777240" y="3749040"/>
            <a:ext cx="4965192" cy="777240"/>
          </a:xfrm>
          <a:prstGeom prst="roundRect">
            <a:avLst>
              <a:gd name="adj" fmla="val 9412"/>
            </a:avLst>
          </a:prstGeom>
          <a:solidFill>
            <a:schemeClr val="bg2"/>
          </a:solidFill>
          <a:ln w="12700">
            <a:solidFill>
              <a:srgbClr val="FFFFFF">
                <a:alpha val="0"/>
              </a:srgbClr>
            </a:solidFill>
            <a:prstDash val="solid"/>
          </a:ln>
        </p:spPr>
      </p:sp>
      <p:sp>
        <p:nvSpPr>
          <p:cNvPr id="12" name="Text 8"/>
          <p:cNvSpPr txBox="1"/>
          <p:nvPr/>
        </p:nvSpPr>
        <p:spPr>
          <a:xfrm>
            <a:off x="914400" y="3749040"/>
            <a:ext cx="4754880" cy="777240"/>
          </a:xfrm>
          <a:prstGeom prst="rect">
            <a:avLst/>
          </a:prstGeom>
          <a:noFill/>
          <a:ln/>
        </p:spPr>
        <p:txBody>
          <a:bodyPr wrap="square" lIns="0" tIns="0" rIns="0" bIns="0" rtlCol="0" anchor="ctr"/>
          <a:lstStyle/>
          <a:p>
            <a:pPr algn="l" indent="0" marL="0">
              <a:buNone/>
            </a:pPr>
            <a:r>
              <a:rPr lang="en-US" sz="1600" dirty="0">
                <a:solidFill>
                  <a:schemeClr val="tx1"/>
                </a:solidFill>
              </a:rPr>
              <a:t>Peut-on dire « </a:t>
            </a:r>
            <a:r>
              <a:rPr lang="en-US" sz="1600" b="1" dirty="0">
                <a:solidFill>
                  <a:schemeClr val="tx1"/>
                </a:solidFill>
              </a:rPr>
              <a:t>à condition que</a:t>
            </a:r>
            <a:r>
              <a:rPr lang="en-US" sz="1600" dirty="0">
                <a:solidFill>
                  <a:schemeClr val="tx1"/>
                </a:solidFill>
              </a:rPr>
              <a:t> » ? → </a:t>
            </a:r>
            <a:r>
              <a:rPr lang="en-US" sz="1600" i="1" dirty="0">
                <a:solidFill>
                  <a:schemeClr val="tx1"/>
                </a:solidFill>
              </a:rPr>
              <a:t>als</a:t>
            </a:r>
            <a:endParaRPr lang="en-US" sz="1600" dirty="0"/>
          </a:p>
        </p:txBody>
      </p:sp>
      <p:sp>
        <p:nvSpPr>
          <p:cNvPr id="13" name="Shape 9"/>
          <p:cNvSpPr/>
          <p:nvPr/>
        </p:nvSpPr>
        <p:spPr>
          <a:xfrm>
            <a:off x="6217920" y="1554480"/>
            <a:ext cx="5422392" cy="3154680"/>
          </a:xfrm>
          <a:prstGeom prst="roundRect">
            <a:avLst>
              <a:gd name="adj" fmla="val 2319"/>
            </a:avLst>
          </a:prstGeom>
          <a:solidFill>
            <a:schemeClr val="bg1"/>
          </a:solidFill>
          <a:ln w="31750">
            <a:solidFill>
              <a:srgbClr val="6E4A9E"/>
            </a:solidFill>
            <a:prstDash val="solid"/>
          </a:ln>
          <a:effectLst>
            <a:outerShdw sx="100000" sy="100000" kx="0" ky="0" algn="bl" rotWithShape="0" blurRad="101600" dist="25400" dir="3600000">
              <a:srgbClr val="000000">
                <a:alpha val="16000"/>
              </a:srgbClr>
            </a:outerShdw>
          </a:effectLst>
        </p:spPr>
      </p:sp>
      <p:sp>
        <p:nvSpPr>
          <p:cNvPr id="14" name="Shape 10"/>
          <p:cNvSpPr/>
          <p:nvPr/>
        </p:nvSpPr>
        <p:spPr>
          <a:xfrm>
            <a:off x="6217920" y="1554480"/>
            <a:ext cx="5422392" cy="914400"/>
          </a:xfrm>
          <a:prstGeom prst="roundRect">
            <a:avLst>
              <a:gd name="adj" fmla="val 8000"/>
            </a:avLst>
          </a:prstGeom>
          <a:solidFill>
            <a:srgbClr val="6E4A9E"/>
          </a:solidFill>
          <a:ln w="12700">
            <a:solidFill>
              <a:srgbClr val="FFFFFF">
                <a:alpha val="0"/>
              </a:srgbClr>
            </a:solidFill>
            <a:prstDash val="solid"/>
          </a:ln>
        </p:spPr>
      </p:sp>
      <p:sp>
        <p:nvSpPr>
          <p:cNvPr id="15" name="Text 11"/>
          <p:cNvSpPr txBox="1"/>
          <p:nvPr/>
        </p:nvSpPr>
        <p:spPr>
          <a:xfrm>
            <a:off x="6446520" y="1554480"/>
            <a:ext cx="1280160" cy="914400"/>
          </a:xfrm>
          <a:prstGeom prst="rect">
            <a:avLst/>
          </a:prstGeom>
          <a:noFill/>
          <a:ln/>
        </p:spPr>
        <p:txBody>
          <a:bodyPr wrap="square" lIns="0" tIns="0" rIns="0" bIns="0" rtlCol="0" anchor="ctr"/>
          <a:lstStyle/>
          <a:p>
            <a:pPr algn="l" indent="0" marL="0">
              <a:buNone/>
            </a:pPr>
            <a:r>
              <a:rPr lang="en-US" sz="3800" b="1" dirty="0">
                <a:solidFill>
                  <a:schemeClr val="bg1"/>
                </a:solidFill>
                <a:latin typeface="+mj-lt" pitchFamily="34" charset="0"/>
                <a:ea typeface="+mj-lt" pitchFamily="34" charset="-122"/>
                <a:cs typeface="+mj-lt" pitchFamily="34" charset="-120"/>
              </a:rPr>
              <a:t>of</a:t>
            </a:r>
            <a:endParaRPr lang="en-US" sz="3800" dirty="0"/>
          </a:p>
        </p:txBody>
      </p:sp>
      <p:sp>
        <p:nvSpPr>
          <p:cNvPr id="16" name="Text 12"/>
          <p:cNvSpPr txBox="1"/>
          <p:nvPr/>
        </p:nvSpPr>
        <p:spPr>
          <a:xfrm>
            <a:off x="7680960" y="1554480"/>
            <a:ext cx="3108960" cy="914400"/>
          </a:xfrm>
          <a:prstGeom prst="rect">
            <a:avLst/>
          </a:prstGeom>
          <a:noFill/>
          <a:ln/>
        </p:spPr>
        <p:txBody>
          <a:bodyPr wrap="square" lIns="0" tIns="0" rIns="0" bIns="0" rtlCol="0" anchor="ctr"/>
          <a:lstStyle/>
          <a:p>
            <a:pPr algn="l" indent="0" marL="0">
              <a:buNone/>
            </a:pPr>
            <a:r>
              <a:rPr lang="en-US" sz="1800" b="1" dirty="0">
                <a:solidFill>
                  <a:schemeClr val="bg1"/>
                </a:solidFill>
              </a:rPr>
              <a:t>si = question indirecte</a:t>
            </a:r>
            <a:endParaRPr lang="en-US" sz="1800" dirty="0"/>
          </a:p>
        </p:txBody>
      </p:sp>
      <p:pic>
        <p:nvPicPr>
          <p:cNvPr id="17" name="Image 1" descr="red question mark">    </p:cNvPr>
          <p:cNvPicPr>
            <a:picLocks noChangeAspect="1"/>
          </p:cNvPicPr>
          <p:nvPr/>
        </p:nvPicPr>
        <p:blipFill>
          <a:blip r:embed="rId2"/>
          <a:stretch>
            <a:fillRect/>
          </a:stretch>
        </p:blipFill>
        <p:spPr>
          <a:xfrm>
            <a:off x="10789920" y="1664208"/>
            <a:ext cx="694944" cy="694944"/>
          </a:xfrm>
          <a:prstGeom prst="rect">
            <a:avLst/>
          </a:prstGeom>
        </p:spPr>
      </p:pic>
      <p:sp>
        <p:nvSpPr>
          <p:cNvPr id="18" name="Text 13"/>
          <p:cNvSpPr txBox="1"/>
          <p:nvPr/>
        </p:nvSpPr>
        <p:spPr>
          <a:xfrm>
            <a:off x="6492240" y="2560320"/>
            <a:ext cx="4937760" cy="1097280"/>
          </a:xfrm>
          <a:prstGeom prst="rect">
            <a:avLst/>
          </a:prstGeom>
          <a:noFill/>
          <a:ln/>
        </p:spPr>
        <p:txBody>
          <a:bodyPr wrap="square" lIns="0" tIns="0" rIns="0" bIns="0" rtlCol="0" anchor="ctr"/>
          <a:lstStyle/>
          <a:p>
            <a:pPr algn="l" indent="0" marL="0">
              <a:spcAft>
                <a:spcPts val="800"/>
              </a:spcAft>
              <a:buNone/>
            </a:pPr>
            <a:r>
              <a:rPr lang="en-US" sz="2000" i="1" dirty="0">
                <a:solidFill>
                  <a:schemeClr val="tx1"/>
                </a:solidFill>
              </a:rPr>
              <a:t>Ik weet niet </a:t>
            </a:r>
            <a:r>
              <a:rPr lang="en-US" sz="2000" b="1" i="1" dirty="0">
                <a:solidFill>
                  <a:schemeClr val="tx1"/>
                </a:solidFill>
              </a:rPr>
              <a:t>of</a:t>
            </a:r>
            <a:r>
              <a:rPr lang="en-US" sz="2000" i="1" dirty="0">
                <a:solidFill>
                  <a:schemeClr val="tx1"/>
                </a:solidFill>
              </a:rPr>
              <a:t> hij morgen </a:t>
            </a:r>
            <a:r>
              <a:rPr lang="en-US" sz="2000" b="1" i="1" dirty="0">
                <a:solidFill>
                  <a:schemeClr val="accent6"/>
                </a:solidFill>
              </a:rPr>
              <a:t>komt</a:t>
            </a:r>
            <a:r>
              <a:rPr lang="en-US" sz="2000" i="1" dirty="0">
                <a:solidFill>
                  <a:schemeClr val="tx1"/>
                </a:solidFill>
              </a:rPr>
              <a:t>.</a:t>
            </a:r>
            <a:endParaRPr lang="en-US" sz="2000" dirty="0"/>
          </a:p>
          <a:p>
            <a:pPr algn="l" indent="0" marL="0">
              <a:spcAft>
                <a:spcPts val="800"/>
              </a:spcAft>
              <a:buNone/>
            </a:pPr>
            <a:r>
              <a:rPr lang="en-US" sz="2000" i="1" dirty="0">
                <a:solidFill>
                  <a:schemeClr val="tx1"/>
                </a:solidFill>
              </a:rPr>
              <a:t>Ik vraag me af </a:t>
            </a:r>
            <a:r>
              <a:rPr lang="en-US" sz="2000" b="1" i="1" dirty="0">
                <a:solidFill>
                  <a:schemeClr val="tx1"/>
                </a:solidFill>
              </a:rPr>
              <a:t>of</a:t>
            </a:r>
            <a:r>
              <a:rPr lang="en-US" sz="2000" i="1" dirty="0">
                <a:solidFill>
                  <a:schemeClr val="tx1"/>
                </a:solidFill>
              </a:rPr>
              <a:t> ik kans </a:t>
            </a:r>
            <a:r>
              <a:rPr lang="en-US" sz="2000" b="1" i="1" dirty="0">
                <a:solidFill>
                  <a:schemeClr val="accent6"/>
                </a:solidFill>
              </a:rPr>
              <a:t>maak</a:t>
            </a:r>
            <a:r>
              <a:rPr lang="en-US" sz="2000" i="1" dirty="0">
                <a:solidFill>
                  <a:schemeClr val="tx1"/>
                </a:solidFill>
              </a:rPr>
              <a:t>.</a:t>
            </a:r>
            <a:endParaRPr lang="en-US" sz="2000" dirty="0"/>
          </a:p>
        </p:txBody>
      </p:sp>
      <p:sp>
        <p:nvSpPr>
          <p:cNvPr id="19" name="Shape 14"/>
          <p:cNvSpPr/>
          <p:nvPr/>
        </p:nvSpPr>
        <p:spPr>
          <a:xfrm>
            <a:off x="6446520" y="3749040"/>
            <a:ext cx="4965192" cy="777240"/>
          </a:xfrm>
          <a:prstGeom prst="roundRect">
            <a:avLst>
              <a:gd name="adj" fmla="val 9412"/>
            </a:avLst>
          </a:prstGeom>
          <a:solidFill>
            <a:schemeClr val="bg2"/>
          </a:solidFill>
          <a:ln w="12700">
            <a:solidFill>
              <a:srgbClr val="FFFFFF">
                <a:alpha val="0"/>
              </a:srgbClr>
            </a:solidFill>
            <a:prstDash val="solid"/>
          </a:ln>
        </p:spPr>
      </p:sp>
      <p:sp>
        <p:nvSpPr>
          <p:cNvPr id="20" name="Text 15"/>
          <p:cNvSpPr txBox="1"/>
          <p:nvPr/>
        </p:nvSpPr>
        <p:spPr>
          <a:xfrm>
            <a:off x="6583680" y="3749040"/>
            <a:ext cx="4754880" cy="777240"/>
          </a:xfrm>
          <a:prstGeom prst="rect">
            <a:avLst/>
          </a:prstGeom>
          <a:noFill/>
          <a:ln/>
        </p:spPr>
        <p:txBody>
          <a:bodyPr wrap="square" lIns="0" tIns="0" rIns="0" bIns="0" rtlCol="0" anchor="ctr"/>
          <a:lstStyle/>
          <a:p>
            <a:pPr algn="l" indent="0" marL="0">
              <a:buNone/>
            </a:pPr>
            <a:r>
              <a:rPr lang="en-US" sz="1600" dirty="0">
                <a:solidFill>
                  <a:schemeClr val="tx1"/>
                </a:solidFill>
              </a:rPr>
              <a:t>Peut-on dire « </a:t>
            </a:r>
            <a:r>
              <a:rPr lang="en-US" sz="1600" b="1" dirty="0">
                <a:solidFill>
                  <a:schemeClr val="tx1"/>
                </a:solidFill>
              </a:rPr>
              <a:t>est-ce que</a:t>
            </a:r>
            <a:r>
              <a:rPr lang="en-US" sz="1600" dirty="0">
                <a:solidFill>
                  <a:schemeClr val="tx1"/>
                </a:solidFill>
              </a:rPr>
              <a:t> » ? → </a:t>
            </a:r>
            <a:r>
              <a:rPr lang="en-US" sz="1600" i="1" dirty="0">
                <a:solidFill>
                  <a:schemeClr val="tx1"/>
                </a:solidFill>
              </a:rPr>
              <a:t>of</a:t>
            </a:r>
            <a:endParaRPr lang="en-US" sz="1600" dirty="0"/>
          </a:p>
        </p:txBody>
      </p:sp>
      <p:sp>
        <p:nvSpPr>
          <p:cNvPr id="21" name="Shape 16"/>
          <p:cNvSpPr/>
          <p:nvPr/>
        </p:nvSpPr>
        <p:spPr>
          <a:xfrm>
            <a:off x="548640" y="4864608"/>
            <a:ext cx="11091672" cy="1417320"/>
          </a:xfrm>
          <a:prstGeom prst="roundRect">
            <a:avLst>
              <a:gd name="adj" fmla="val 5161"/>
            </a:avLst>
          </a:prstGeom>
          <a:solidFill>
            <a:schemeClr val="accent6">
              <a:alpha val="7000"/>
            </a:schemeClr>
          </a:solidFill>
          <a:ln w="12700">
            <a:solidFill>
              <a:srgbClr val="B83227">
                <a:alpha val="60000"/>
              </a:srgbClr>
            </a:solidFill>
            <a:prstDash val="solid"/>
          </a:ln>
        </p:spPr>
      </p:sp>
      <p:sp>
        <p:nvSpPr>
          <p:cNvPr id="22" name="tag"/>
          <p:cNvSpPr/>
          <p:nvPr/>
        </p:nvSpPr>
        <p:spPr>
          <a:xfrm>
            <a:off x="731520" y="502920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23" name="Text 18"/>
          <p:cNvSpPr txBox="1"/>
          <p:nvPr/>
        </p:nvSpPr>
        <p:spPr>
          <a:xfrm>
            <a:off x="822960" y="5367528"/>
            <a:ext cx="10543032" cy="320040"/>
          </a:xfrm>
          <a:prstGeom prst="rect">
            <a:avLst/>
          </a:prstGeom>
          <a:noFill/>
          <a:ln/>
        </p:spPr>
        <p:txBody>
          <a:bodyPr wrap="square" lIns="0" tIns="0" rIns="0" bIns="0" rtlCol="0" anchor="ctr"/>
          <a:lstStyle/>
          <a:p>
            <a:pPr algn="l" indent="0" marL="0">
              <a:buNone/>
            </a:pPr>
            <a:r>
              <a:rPr lang="en-US" sz="1700" i="1" strike="sngStrike" dirty="0">
                <a:solidFill>
                  <a:schemeClr val="accent6"/>
                </a:solidFill>
              </a:rPr>
              <a:t>Ik vraag me af als ik kans maak.</a:t>
            </a:r>
            <a:endParaRPr lang="en-US" sz="1700" dirty="0"/>
          </a:p>
        </p:txBody>
      </p:sp>
      <p:pic>
        <p:nvPicPr>
          <p:cNvPr id="24" name="Image 2" descr="ArrowDown">    </p:cNvPr>
          <p:cNvPicPr>
            <a:picLocks noChangeAspect="1"/>
          </p:cNvPicPr>
          <p:nvPr/>
        </p:nvPicPr>
        <p:blipFill>
          <a:blip r:embed="rId3"/>
          <a:stretch>
            <a:fillRect/>
          </a:stretch>
        </p:blipFill>
        <p:spPr>
          <a:xfrm>
            <a:off x="822960" y="5669280"/>
            <a:ext cx="237744" cy="237744"/>
          </a:xfrm>
          <a:prstGeom prst="rect">
            <a:avLst/>
          </a:prstGeom>
        </p:spPr>
      </p:pic>
      <p:sp>
        <p:nvSpPr>
          <p:cNvPr id="25" name="Shape 19"/>
          <p:cNvSpPr/>
          <p:nvPr/>
        </p:nvSpPr>
        <p:spPr>
          <a:xfrm>
            <a:off x="777240" y="5897880"/>
            <a:ext cx="10634472" cy="283464"/>
          </a:xfrm>
          <a:prstGeom prst="roundRect">
            <a:avLst>
              <a:gd name="adj" fmla="val 25806"/>
            </a:avLst>
          </a:prstGeom>
          <a:solidFill>
            <a:schemeClr val="accent3">
              <a:alpha val="12000"/>
            </a:schemeClr>
          </a:solidFill>
          <a:ln w="15875">
            <a:solidFill>
              <a:srgbClr val="2E7D4F"/>
            </a:solidFill>
            <a:prstDash val="solid"/>
          </a:ln>
        </p:spPr>
      </p:sp>
      <p:sp>
        <p:nvSpPr>
          <p:cNvPr id="26" name="Text 20"/>
          <p:cNvSpPr txBox="1"/>
          <p:nvPr/>
        </p:nvSpPr>
        <p:spPr>
          <a:xfrm>
            <a:off x="914400" y="5897880"/>
            <a:ext cx="10360152" cy="283464"/>
          </a:xfrm>
          <a:prstGeom prst="rect">
            <a:avLst/>
          </a:prstGeom>
          <a:noFill/>
          <a:ln/>
        </p:spPr>
        <p:txBody>
          <a:bodyPr wrap="square" lIns="0" tIns="0" rIns="0" bIns="0" rtlCol="0" anchor="ctr"/>
          <a:lstStyle/>
          <a:p>
            <a:pPr algn="l" indent="0" marL="0">
              <a:buNone/>
            </a:pPr>
            <a:r>
              <a:rPr lang="en-US" sz="1500" i="1" dirty="0">
                <a:solidFill>
                  <a:schemeClr val="tx1"/>
                </a:solidFill>
              </a:rPr>
              <a:t>Ik vraag me af </a:t>
            </a:r>
            <a:r>
              <a:rPr lang="en-US" sz="1500" b="1" i="1" dirty="0">
                <a:solidFill>
                  <a:schemeClr val="tx1"/>
                </a:solidFill>
              </a:rPr>
              <a:t>of</a:t>
            </a:r>
            <a:r>
              <a:rPr lang="en-US" sz="1500" i="1" dirty="0">
                <a:solidFill>
                  <a:schemeClr val="tx1"/>
                </a:solidFill>
              </a:rPr>
              <a:t> ik kans maak.</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Deux verbes dans le wagon</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600200"/>
            <a:ext cx="27432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PINCE (M3)</a:t>
            </a:r>
            <a:endParaRPr lang="en-US" sz="1200" dirty="0"/>
          </a:p>
        </p:txBody>
      </p:sp>
      <p:sp>
        <p:nvSpPr>
          <p:cNvPr id="6" name="Shape 3"/>
          <p:cNvSpPr/>
          <p:nvPr/>
        </p:nvSpPr>
        <p:spPr>
          <a:xfrm>
            <a:off x="548640" y="1920240"/>
            <a:ext cx="535107" cy="640080"/>
          </a:xfrm>
          <a:prstGeom prst="roundRect">
            <a:avLst>
              <a:gd name="adj" fmla="val 13671"/>
            </a:avLst>
          </a:prstGeom>
          <a:solidFill>
            <a:schemeClr val="bg1"/>
          </a:solidFill>
          <a:ln w="15875">
            <a:solidFill>
              <a:srgbClr val="D5DCE6"/>
            </a:solidFill>
            <a:prstDash val="solid"/>
          </a:ln>
        </p:spPr>
      </p:sp>
      <p:sp>
        <p:nvSpPr>
          <p:cNvPr id="7" name="Text 4"/>
          <p:cNvSpPr txBox="1"/>
          <p:nvPr/>
        </p:nvSpPr>
        <p:spPr>
          <a:xfrm>
            <a:off x="548640" y="1920240"/>
            <a:ext cx="535107" cy="640080"/>
          </a:xfrm>
          <a:prstGeom prst="rect">
            <a:avLst/>
          </a:prstGeom>
          <a:noFill/>
          <a:ln/>
        </p:spPr>
        <p:txBody>
          <a:bodyPr wrap="square" lIns="0" tIns="0" rIns="0" bIns="0" rtlCol="0" anchor="ctr"/>
          <a:lstStyle/>
          <a:p>
            <a:pPr algn="ctr" indent="0" marL="0">
              <a:buNone/>
            </a:pPr>
            <a:r>
              <a:rPr lang="en-US" sz="1700" dirty="0">
                <a:solidFill>
                  <a:schemeClr val="tx1"/>
                </a:solidFill>
              </a:rPr>
              <a:t>Ik</a:t>
            </a:r>
            <a:endParaRPr lang="en-US" sz="1700" dirty="0"/>
          </a:p>
        </p:txBody>
      </p:sp>
      <p:sp>
        <p:nvSpPr>
          <p:cNvPr id="8" name="Shape 5"/>
          <p:cNvSpPr/>
          <p:nvPr/>
        </p:nvSpPr>
        <p:spPr>
          <a:xfrm>
            <a:off x="1138611" y="1920240"/>
            <a:ext cx="777606" cy="640080"/>
          </a:xfrm>
          <a:prstGeom prst="roundRect">
            <a:avLst>
              <a:gd name="adj" fmla="val 11429"/>
            </a:avLst>
          </a:prstGeom>
          <a:solidFill>
            <a:srgbClr val="FBEDEB"/>
          </a:solidFill>
          <a:ln w="31750">
            <a:solidFill>
              <a:srgbClr val="B83227"/>
            </a:solidFill>
            <a:prstDash val="solid"/>
          </a:ln>
        </p:spPr>
      </p:sp>
      <p:sp>
        <p:nvSpPr>
          <p:cNvPr id="9" name="Text 6"/>
          <p:cNvSpPr txBox="1"/>
          <p:nvPr/>
        </p:nvSpPr>
        <p:spPr>
          <a:xfrm>
            <a:off x="1138611" y="1920240"/>
            <a:ext cx="777606" cy="640080"/>
          </a:xfrm>
          <a:prstGeom prst="rect">
            <a:avLst/>
          </a:prstGeom>
          <a:noFill/>
          <a:ln/>
        </p:spPr>
        <p:txBody>
          <a:bodyPr wrap="square" lIns="0" tIns="0" rIns="0" bIns="0" rtlCol="0" anchor="ctr"/>
          <a:lstStyle/>
          <a:p>
            <a:pPr algn="ctr" indent="0" marL="0">
              <a:buNone/>
            </a:pPr>
            <a:r>
              <a:rPr lang="en-US" sz="1700" b="1" dirty="0">
                <a:solidFill>
                  <a:schemeClr val="accent6"/>
                </a:solidFill>
              </a:rPr>
              <a:t>moet</a:t>
            </a:r>
            <a:endParaRPr lang="en-US" sz="1700" dirty="0"/>
          </a:p>
        </p:txBody>
      </p:sp>
      <p:sp>
        <p:nvSpPr>
          <p:cNvPr id="10" name="Shape 7"/>
          <p:cNvSpPr/>
          <p:nvPr/>
        </p:nvSpPr>
        <p:spPr>
          <a:xfrm>
            <a:off x="1971081" y="1920240"/>
            <a:ext cx="1020105" cy="640080"/>
          </a:xfrm>
          <a:prstGeom prst="roundRect">
            <a:avLst>
              <a:gd name="adj" fmla="val 11429"/>
            </a:avLst>
          </a:prstGeom>
          <a:solidFill>
            <a:schemeClr val="bg1"/>
          </a:solidFill>
          <a:ln w="15875">
            <a:solidFill>
              <a:srgbClr val="D5DCE6"/>
            </a:solidFill>
            <a:prstDash val="solid"/>
          </a:ln>
        </p:spPr>
      </p:sp>
      <p:sp>
        <p:nvSpPr>
          <p:cNvPr id="11" name="Text 8"/>
          <p:cNvSpPr txBox="1"/>
          <p:nvPr/>
        </p:nvSpPr>
        <p:spPr>
          <a:xfrm>
            <a:off x="1971081" y="1920240"/>
            <a:ext cx="1020105" cy="640080"/>
          </a:xfrm>
          <a:prstGeom prst="rect">
            <a:avLst/>
          </a:prstGeom>
          <a:noFill/>
          <a:ln/>
        </p:spPr>
        <p:txBody>
          <a:bodyPr wrap="square" lIns="0" tIns="0" rIns="0" bIns="0" rtlCol="0" anchor="ctr"/>
          <a:lstStyle/>
          <a:p>
            <a:pPr algn="ctr" indent="0" marL="0">
              <a:buNone/>
            </a:pPr>
            <a:r>
              <a:rPr lang="en-US" sz="1700" dirty="0">
                <a:solidFill>
                  <a:schemeClr val="tx1"/>
                </a:solidFill>
              </a:rPr>
              <a:t>morgen</a:t>
            </a:r>
            <a:endParaRPr lang="en-US" sz="1700" dirty="0"/>
          </a:p>
        </p:txBody>
      </p:sp>
      <p:sp>
        <p:nvSpPr>
          <p:cNvPr id="12" name="Shape 9"/>
          <p:cNvSpPr/>
          <p:nvPr/>
        </p:nvSpPr>
        <p:spPr>
          <a:xfrm>
            <a:off x="3046049" y="1920240"/>
            <a:ext cx="1141354" cy="640080"/>
          </a:xfrm>
          <a:prstGeom prst="roundRect">
            <a:avLst>
              <a:gd name="adj" fmla="val 11429"/>
            </a:avLst>
          </a:prstGeom>
          <a:solidFill>
            <a:srgbClr val="FBEDEB"/>
          </a:solidFill>
          <a:ln w="25400">
            <a:solidFill>
              <a:srgbClr val="B83227"/>
            </a:solidFill>
            <a:prstDash val="dash"/>
          </a:ln>
        </p:spPr>
      </p:sp>
      <p:sp>
        <p:nvSpPr>
          <p:cNvPr id="13" name="Text 10"/>
          <p:cNvSpPr txBox="1"/>
          <p:nvPr/>
        </p:nvSpPr>
        <p:spPr>
          <a:xfrm>
            <a:off x="3046049" y="1920240"/>
            <a:ext cx="1141354" cy="640080"/>
          </a:xfrm>
          <a:prstGeom prst="rect">
            <a:avLst/>
          </a:prstGeom>
          <a:noFill/>
          <a:ln/>
        </p:spPr>
        <p:txBody>
          <a:bodyPr wrap="square" lIns="0" tIns="0" rIns="0" bIns="0" rtlCol="0" anchor="ctr"/>
          <a:lstStyle/>
          <a:p>
            <a:pPr algn="ctr" indent="0" marL="0">
              <a:buNone/>
            </a:pPr>
            <a:r>
              <a:rPr lang="en-US" sz="1700" b="1" dirty="0">
                <a:solidFill>
                  <a:schemeClr val="accent6"/>
                </a:solidFill>
              </a:rPr>
              <a:t>werken.</a:t>
            </a:r>
            <a:endParaRPr lang="en-US" sz="1700" dirty="0"/>
          </a:p>
        </p:txBody>
      </p:sp>
      <p:sp>
        <p:nvSpPr>
          <p:cNvPr id="14" name="Shape 11"/>
          <p:cNvSpPr/>
          <p:nvPr/>
        </p:nvSpPr>
        <p:spPr>
          <a:xfrm>
            <a:off x="4434840" y="2240280"/>
            <a:ext cx="731520" cy="914"/>
          </a:xfrm>
          <a:prstGeom prst="line">
            <a:avLst/>
          </a:prstGeom>
          <a:noFill/>
          <a:ln w="31750">
            <a:solidFill>
              <a:srgbClr val="4A5A70"/>
            </a:solidFill>
            <a:prstDash val="solid"/>
            <a:tailEnd type="triangle"/>
          </a:ln>
        </p:spPr>
      </p:sp>
      <p:sp>
        <p:nvSpPr>
          <p:cNvPr id="15" name="Text 12"/>
          <p:cNvSpPr txBox="1"/>
          <p:nvPr/>
        </p:nvSpPr>
        <p:spPr>
          <a:xfrm>
            <a:off x="5349240" y="1600200"/>
            <a:ext cx="603504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SUBORDONNÉE : LA PINCE SE REFERME</a:t>
            </a:r>
            <a:endParaRPr lang="en-US" sz="1200" dirty="0"/>
          </a:p>
        </p:txBody>
      </p:sp>
      <p:sp>
        <p:nvSpPr>
          <p:cNvPr id="16" name="Shape 13"/>
          <p:cNvSpPr/>
          <p:nvPr/>
        </p:nvSpPr>
        <p:spPr>
          <a:xfrm>
            <a:off x="5349240" y="1920240"/>
            <a:ext cx="1626352" cy="640080"/>
          </a:xfrm>
          <a:prstGeom prst="roundRect">
            <a:avLst>
              <a:gd name="adj" fmla="val 11429"/>
            </a:avLst>
          </a:prstGeom>
          <a:solidFill>
            <a:schemeClr val="bg1"/>
          </a:solidFill>
          <a:ln w="15875">
            <a:solidFill>
              <a:srgbClr val="D5DCE6"/>
            </a:solidFill>
            <a:prstDash val="solid"/>
          </a:ln>
        </p:spPr>
      </p:sp>
      <p:sp>
        <p:nvSpPr>
          <p:cNvPr id="17" name="Text 14"/>
          <p:cNvSpPr txBox="1"/>
          <p:nvPr/>
        </p:nvSpPr>
        <p:spPr>
          <a:xfrm>
            <a:off x="5349240" y="1920240"/>
            <a:ext cx="1626352" cy="640080"/>
          </a:xfrm>
          <a:prstGeom prst="rect">
            <a:avLst/>
          </a:prstGeom>
          <a:noFill/>
          <a:ln/>
        </p:spPr>
        <p:txBody>
          <a:bodyPr wrap="square" lIns="0" tIns="0" rIns="0" bIns="0" rtlCol="0" anchor="ctr"/>
          <a:lstStyle/>
          <a:p>
            <a:pPr algn="ctr" indent="0" marL="0">
              <a:buNone/>
            </a:pPr>
            <a:r>
              <a:rPr lang="en-US" sz="1700" dirty="0">
                <a:solidFill>
                  <a:schemeClr val="tx1"/>
                </a:solidFill>
              </a:rPr>
              <a:t>Ik kom niet</a:t>
            </a:r>
            <a:endParaRPr lang="en-US" sz="1700" dirty="0"/>
          </a:p>
        </p:txBody>
      </p:sp>
      <p:sp>
        <p:nvSpPr>
          <p:cNvPr id="18" name="Shape 15"/>
          <p:cNvSpPr/>
          <p:nvPr/>
        </p:nvSpPr>
        <p:spPr>
          <a:xfrm>
            <a:off x="7030456" y="1920240"/>
            <a:ext cx="898855" cy="640080"/>
          </a:xfrm>
          <a:prstGeom prst="roundRect">
            <a:avLst>
              <a:gd name="adj" fmla="val 11429"/>
            </a:avLst>
          </a:prstGeom>
          <a:solidFill>
            <a:schemeClr val="accent1"/>
          </a:solidFill>
          <a:ln w="12700">
            <a:solidFill>
              <a:srgbClr val="FFFFFF">
                <a:alpha val="0"/>
              </a:srgbClr>
            </a:solidFill>
            <a:prstDash val="solid"/>
          </a:ln>
        </p:spPr>
      </p:sp>
      <p:sp>
        <p:nvSpPr>
          <p:cNvPr id="19" name="Text 16"/>
          <p:cNvSpPr txBox="1"/>
          <p:nvPr/>
        </p:nvSpPr>
        <p:spPr>
          <a:xfrm>
            <a:off x="7030456" y="1920240"/>
            <a:ext cx="898855" cy="640080"/>
          </a:xfrm>
          <a:prstGeom prst="rect">
            <a:avLst/>
          </a:prstGeom>
          <a:noFill/>
          <a:ln/>
        </p:spPr>
        <p:txBody>
          <a:bodyPr wrap="square" lIns="0" tIns="0" rIns="0" bIns="0" rtlCol="0" anchor="ctr"/>
          <a:lstStyle/>
          <a:p>
            <a:pPr algn="ctr" indent="0" marL="0">
              <a:buNone/>
            </a:pPr>
            <a:r>
              <a:rPr lang="en-US" sz="1700" b="1" dirty="0">
                <a:solidFill>
                  <a:schemeClr val="bg1"/>
                </a:solidFill>
              </a:rPr>
              <a:t>omdat</a:t>
            </a:r>
            <a:endParaRPr lang="en-US" sz="1700" dirty="0"/>
          </a:p>
        </p:txBody>
      </p:sp>
      <p:sp>
        <p:nvSpPr>
          <p:cNvPr id="20" name="Shape 17"/>
          <p:cNvSpPr/>
          <p:nvPr/>
        </p:nvSpPr>
        <p:spPr>
          <a:xfrm>
            <a:off x="7984175" y="1920240"/>
            <a:ext cx="1383853" cy="640080"/>
          </a:xfrm>
          <a:prstGeom prst="roundRect">
            <a:avLst>
              <a:gd name="adj" fmla="val 11429"/>
            </a:avLst>
          </a:prstGeom>
          <a:solidFill>
            <a:schemeClr val="bg1"/>
          </a:solidFill>
          <a:ln w="15875">
            <a:solidFill>
              <a:srgbClr val="D5DCE6"/>
            </a:solidFill>
            <a:prstDash val="solid"/>
          </a:ln>
        </p:spPr>
      </p:sp>
      <p:sp>
        <p:nvSpPr>
          <p:cNvPr id="21" name="Text 18"/>
          <p:cNvSpPr txBox="1"/>
          <p:nvPr/>
        </p:nvSpPr>
        <p:spPr>
          <a:xfrm>
            <a:off x="7984175" y="1920240"/>
            <a:ext cx="1383853" cy="640080"/>
          </a:xfrm>
          <a:prstGeom prst="rect">
            <a:avLst/>
          </a:prstGeom>
          <a:noFill/>
          <a:ln/>
        </p:spPr>
        <p:txBody>
          <a:bodyPr wrap="square" lIns="0" tIns="0" rIns="0" bIns="0" rtlCol="0" anchor="ctr"/>
          <a:lstStyle/>
          <a:p>
            <a:pPr algn="ctr" indent="0" marL="0">
              <a:buNone/>
            </a:pPr>
            <a:r>
              <a:rPr lang="en-US" sz="1700" dirty="0">
                <a:solidFill>
                  <a:schemeClr val="tx1"/>
                </a:solidFill>
              </a:rPr>
              <a:t>ik morgen</a:t>
            </a:r>
            <a:endParaRPr lang="en-US" sz="1700" dirty="0"/>
          </a:p>
        </p:txBody>
      </p:sp>
      <p:sp>
        <p:nvSpPr>
          <p:cNvPr id="22" name="Shape 19"/>
          <p:cNvSpPr/>
          <p:nvPr/>
        </p:nvSpPr>
        <p:spPr>
          <a:xfrm>
            <a:off x="9422892" y="1920240"/>
            <a:ext cx="777606" cy="640080"/>
          </a:xfrm>
          <a:prstGeom prst="roundRect">
            <a:avLst>
              <a:gd name="adj" fmla="val 11429"/>
            </a:avLst>
          </a:prstGeom>
          <a:solidFill>
            <a:srgbClr val="FBEDEB"/>
          </a:solidFill>
          <a:ln w="31750">
            <a:solidFill>
              <a:srgbClr val="B83227"/>
            </a:solidFill>
            <a:prstDash val="solid"/>
          </a:ln>
        </p:spPr>
      </p:sp>
      <p:sp>
        <p:nvSpPr>
          <p:cNvPr id="23" name="Text 20"/>
          <p:cNvSpPr txBox="1"/>
          <p:nvPr/>
        </p:nvSpPr>
        <p:spPr>
          <a:xfrm>
            <a:off x="9422892" y="1920240"/>
            <a:ext cx="777606" cy="640080"/>
          </a:xfrm>
          <a:prstGeom prst="rect">
            <a:avLst/>
          </a:prstGeom>
          <a:noFill/>
          <a:ln/>
        </p:spPr>
        <p:txBody>
          <a:bodyPr wrap="square" lIns="0" tIns="0" rIns="0" bIns="0" rtlCol="0" anchor="ctr"/>
          <a:lstStyle/>
          <a:p>
            <a:pPr algn="ctr" indent="0" marL="0">
              <a:buNone/>
            </a:pPr>
            <a:r>
              <a:rPr lang="en-US" sz="1700" b="1" dirty="0">
                <a:solidFill>
                  <a:schemeClr val="accent6"/>
                </a:solidFill>
              </a:rPr>
              <a:t>moet</a:t>
            </a:r>
            <a:endParaRPr lang="en-US" sz="1700" dirty="0"/>
          </a:p>
        </p:txBody>
      </p:sp>
      <p:sp>
        <p:nvSpPr>
          <p:cNvPr id="24" name="Shape 21"/>
          <p:cNvSpPr/>
          <p:nvPr/>
        </p:nvSpPr>
        <p:spPr>
          <a:xfrm>
            <a:off x="10255362" y="1920240"/>
            <a:ext cx="1141354" cy="640080"/>
          </a:xfrm>
          <a:prstGeom prst="roundRect">
            <a:avLst>
              <a:gd name="adj" fmla="val 11429"/>
            </a:avLst>
          </a:prstGeom>
          <a:solidFill>
            <a:srgbClr val="FBEDEB"/>
          </a:solidFill>
          <a:ln w="25400">
            <a:solidFill>
              <a:srgbClr val="B83227"/>
            </a:solidFill>
            <a:prstDash val="dash"/>
          </a:ln>
        </p:spPr>
      </p:sp>
      <p:sp>
        <p:nvSpPr>
          <p:cNvPr id="25" name="Text 22"/>
          <p:cNvSpPr txBox="1"/>
          <p:nvPr/>
        </p:nvSpPr>
        <p:spPr>
          <a:xfrm>
            <a:off x="10255362" y="1920240"/>
            <a:ext cx="1141354" cy="640080"/>
          </a:xfrm>
          <a:prstGeom prst="rect">
            <a:avLst/>
          </a:prstGeom>
          <a:noFill/>
          <a:ln/>
        </p:spPr>
        <p:txBody>
          <a:bodyPr wrap="square" lIns="0" tIns="0" rIns="0" bIns="0" rtlCol="0" anchor="ctr"/>
          <a:lstStyle/>
          <a:p>
            <a:pPr algn="ctr" indent="0" marL="0">
              <a:buNone/>
            </a:pPr>
            <a:r>
              <a:rPr lang="en-US" sz="1700" b="1" dirty="0">
                <a:solidFill>
                  <a:schemeClr val="accent6"/>
                </a:solidFill>
              </a:rPr>
              <a:t>werken.</a:t>
            </a:r>
            <a:endParaRPr lang="en-US" sz="1700" dirty="0"/>
          </a:p>
        </p:txBody>
      </p:sp>
      <p:sp>
        <p:nvSpPr>
          <p:cNvPr id="26" name="Shape 23"/>
          <p:cNvSpPr/>
          <p:nvPr/>
        </p:nvSpPr>
        <p:spPr>
          <a:xfrm>
            <a:off x="9247876" y="2651760"/>
            <a:ext cx="2148840" cy="292608"/>
          </a:xfrm>
          <a:prstGeom prst="roundRect">
            <a:avLst>
              <a:gd name="adj" fmla="val 15625"/>
            </a:avLst>
          </a:prstGeom>
          <a:solidFill>
            <a:schemeClr val="accent6"/>
          </a:solidFill>
          <a:ln w="12700">
            <a:solidFill>
              <a:srgbClr val="FFFFFF">
                <a:alpha val="0"/>
              </a:srgbClr>
            </a:solidFill>
            <a:prstDash val="solid"/>
          </a:ln>
        </p:spPr>
      </p:sp>
      <p:sp>
        <p:nvSpPr>
          <p:cNvPr id="27" name="Text 24"/>
          <p:cNvSpPr txBox="1"/>
          <p:nvPr/>
        </p:nvSpPr>
        <p:spPr>
          <a:xfrm>
            <a:off x="9247876" y="2651760"/>
            <a:ext cx="2148840" cy="292608"/>
          </a:xfrm>
          <a:prstGeom prst="rect">
            <a:avLst/>
          </a:prstGeom>
          <a:noFill/>
          <a:ln/>
        </p:spPr>
        <p:txBody>
          <a:bodyPr wrap="square" lIns="0" tIns="0" rIns="0" bIns="0" rtlCol="0" anchor="ctr"/>
          <a:lstStyle/>
          <a:p>
            <a:pPr algn="ctr" indent="0" marL="0">
              <a:buNone/>
            </a:pPr>
            <a:r>
              <a:rPr lang="en-US" sz="1100" b="1" dirty="0">
                <a:solidFill>
                  <a:schemeClr val="bg1"/>
                </a:solidFill>
              </a:rPr>
              <a:t>verbe conjugué + infinitif</a:t>
            </a:r>
            <a:endParaRPr lang="en-US" sz="1100" dirty="0"/>
          </a:p>
        </p:txBody>
      </p:sp>
      <p:sp>
        <p:nvSpPr>
          <p:cNvPr id="28" name="Text 25"/>
          <p:cNvSpPr txBox="1"/>
          <p:nvPr/>
        </p:nvSpPr>
        <p:spPr>
          <a:xfrm>
            <a:off x="548640" y="3474720"/>
            <a:ext cx="27432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PINCE (M3)</a:t>
            </a:r>
            <a:endParaRPr lang="en-US" sz="1200" dirty="0"/>
          </a:p>
        </p:txBody>
      </p:sp>
      <p:sp>
        <p:nvSpPr>
          <p:cNvPr id="29" name="Shape 26"/>
          <p:cNvSpPr/>
          <p:nvPr/>
        </p:nvSpPr>
        <p:spPr>
          <a:xfrm>
            <a:off x="548640" y="3794760"/>
            <a:ext cx="535107" cy="640080"/>
          </a:xfrm>
          <a:prstGeom prst="roundRect">
            <a:avLst>
              <a:gd name="adj" fmla="val 13671"/>
            </a:avLst>
          </a:prstGeom>
          <a:solidFill>
            <a:schemeClr val="bg1"/>
          </a:solidFill>
          <a:ln w="15875">
            <a:solidFill>
              <a:srgbClr val="D5DCE6"/>
            </a:solidFill>
            <a:prstDash val="solid"/>
          </a:ln>
        </p:spPr>
      </p:sp>
      <p:sp>
        <p:nvSpPr>
          <p:cNvPr id="30" name="Text 27"/>
          <p:cNvSpPr txBox="1"/>
          <p:nvPr/>
        </p:nvSpPr>
        <p:spPr>
          <a:xfrm>
            <a:off x="548640" y="3794760"/>
            <a:ext cx="535107" cy="640080"/>
          </a:xfrm>
          <a:prstGeom prst="rect">
            <a:avLst/>
          </a:prstGeom>
          <a:noFill/>
          <a:ln/>
        </p:spPr>
        <p:txBody>
          <a:bodyPr wrap="square" lIns="0" tIns="0" rIns="0" bIns="0" rtlCol="0" anchor="ctr"/>
          <a:lstStyle/>
          <a:p>
            <a:pPr algn="ctr" indent="0" marL="0">
              <a:buNone/>
            </a:pPr>
            <a:r>
              <a:rPr lang="en-US" sz="1700" dirty="0">
                <a:solidFill>
                  <a:schemeClr val="tx1"/>
                </a:solidFill>
              </a:rPr>
              <a:t>Ik</a:t>
            </a:r>
            <a:endParaRPr lang="en-US" sz="1700" dirty="0"/>
          </a:p>
        </p:txBody>
      </p:sp>
      <p:sp>
        <p:nvSpPr>
          <p:cNvPr id="31" name="Shape 28"/>
          <p:cNvSpPr/>
          <p:nvPr/>
        </p:nvSpPr>
        <p:spPr>
          <a:xfrm>
            <a:off x="1138611" y="3794760"/>
            <a:ext cx="656356" cy="640080"/>
          </a:xfrm>
          <a:prstGeom prst="roundRect">
            <a:avLst>
              <a:gd name="adj" fmla="val 11429"/>
            </a:avLst>
          </a:prstGeom>
          <a:solidFill>
            <a:srgbClr val="FBEDEB"/>
          </a:solidFill>
          <a:ln w="31750">
            <a:solidFill>
              <a:srgbClr val="B83227"/>
            </a:solidFill>
            <a:prstDash val="solid"/>
          </a:ln>
        </p:spPr>
      </p:sp>
      <p:sp>
        <p:nvSpPr>
          <p:cNvPr id="32" name="Text 29"/>
          <p:cNvSpPr txBox="1"/>
          <p:nvPr/>
        </p:nvSpPr>
        <p:spPr>
          <a:xfrm>
            <a:off x="1138611" y="3794760"/>
            <a:ext cx="656356" cy="640080"/>
          </a:xfrm>
          <a:prstGeom prst="rect">
            <a:avLst/>
          </a:prstGeom>
          <a:noFill/>
          <a:ln/>
        </p:spPr>
        <p:txBody>
          <a:bodyPr wrap="square" lIns="0" tIns="0" rIns="0" bIns="0" rtlCol="0" anchor="ctr"/>
          <a:lstStyle/>
          <a:p>
            <a:pPr algn="ctr" indent="0" marL="0">
              <a:buNone/>
            </a:pPr>
            <a:r>
              <a:rPr lang="en-US" sz="1700" b="1" dirty="0">
                <a:solidFill>
                  <a:schemeClr val="accent6"/>
                </a:solidFill>
              </a:rPr>
              <a:t>kan</a:t>
            </a:r>
            <a:endParaRPr lang="en-US" sz="1700" dirty="0"/>
          </a:p>
        </p:txBody>
      </p:sp>
      <p:sp>
        <p:nvSpPr>
          <p:cNvPr id="33" name="Shape 30"/>
          <p:cNvSpPr/>
          <p:nvPr/>
        </p:nvSpPr>
        <p:spPr>
          <a:xfrm>
            <a:off x="1849831" y="3794760"/>
            <a:ext cx="777606" cy="640080"/>
          </a:xfrm>
          <a:prstGeom prst="roundRect">
            <a:avLst>
              <a:gd name="adj" fmla="val 11429"/>
            </a:avLst>
          </a:prstGeom>
          <a:solidFill>
            <a:schemeClr val="bg1"/>
          </a:solidFill>
          <a:ln w="15875">
            <a:solidFill>
              <a:srgbClr val="D5DCE6"/>
            </a:solidFill>
            <a:prstDash val="solid"/>
          </a:ln>
        </p:spPr>
      </p:sp>
      <p:sp>
        <p:nvSpPr>
          <p:cNvPr id="34" name="Text 31"/>
          <p:cNvSpPr txBox="1"/>
          <p:nvPr/>
        </p:nvSpPr>
        <p:spPr>
          <a:xfrm>
            <a:off x="1849831" y="3794760"/>
            <a:ext cx="777606" cy="640080"/>
          </a:xfrm>
          <a:prstGeom prst="rect">
            <a:avLst/>
          </a:prstGeom>
          <a:noFill/>
          <a:ln/>
        </p:spPr>
        <p:txBody>
          <a:bodyPr wrap="square" lIns="0" tIns="0" rIns="0" bIns="0" rtlCol="0" anchor="ctr"/>
          <a:lstStyle/>
          <a:p>
            <a:pPr algn="ctr" indent="0" marL="0">
              <a:buNone/>
            </a:pPr>
            <a:r>
              <a:rPr lang="en-US" sz="1700" dirty="0">
                <a:solidFill>
                  <a:schemeClr val="tx1"/>
                </a:solidFill>
              </a:rPr>
              <a:t>niet</a:t>
            </a:r>
            <a:endParaRPr lang="en-US" sz="1700" dirty="0"/>
          </a:p>
        </p:txBody>
      </p:sp>
      <p:sp>
        <p:nvSpPr>
          <p:cNvPr id="35" name="Shape 32"/>
          <p:cNvSpPr/>
          <p:nvPr/>
        </p:nvSpPr>
        <p:spPr>
          <a:xfrm>
            <a:off x="2682301" y="3794760"/>
            <a:ext cx="1020105" cy="640080"/>
          </a:xfrm>
          <a:prstGeom prst="roundRect">
            <a:avLst>
              <a:gd name="adj" fmla="val 11429"/>
            </a:avLst>
          </a:prstGeom>
          <a:solidFill>
            <a:srgbClr val="FBEDEB"/>
          </a:solidFill>
          <a:ln w="25400">
            <a:solidFill>
              <a:srgbClr val="B83227"/>
            </a:solidFill>
            <a:prstDash val="dash"/>
          </a:ln>
        </p:spPr>
      </p:sp>
      <p:sp>
        <p:nvSpPr>
          <p:cNvPr id="36" name="Text 33"/>
          <p:cNvSpPr txBox="1"/>
          <p:nvPr/>
        </p:nvSpPr>
        <p:spPr>
          <a:xfrm>
            <a:off x="2682301" y="3794760"/>
            <a:ext cx="1020105" cy="640080"/>
          </a:xfrm>
          <a:prstGeom prst="rect">
            <a:avLst/>
          </a:prstGeom>
          <a:noFill/>
          <a:ln/>
        </p:spPr>
        <p:txBody>
          <a:bodyPr wrap="square" lIns="0" tIns="0" rIns="0" bIns="0" rtlCol="0" anchor="ctr"/>
          <a:lstStyle/>
          <a:p>
            <a:pPr algn="ctr" indent="0" marL="0">
              <a:buNone/>
            </a:pPr>
            <a:r>
              <a:rPr lang="en-US" sz="1700" b="1" dirty="0">
                <a:solidFill>
                  <a:schemeClr val="accent6"/>
                </a:solidFill>
              </a:rPr>
              <a:t>komen.</a:t>
            </a:r>
            <a:endParaRPr lang="en-US" sz="1700" dirty="0"/>
          </a:p>
        </p:txBody>
      </p:sp>
      <p:sp>
        <p:nvSpPr>
          <p:cNvPr id="37" name="Shape 34"/>
          <p:cNvSpPr/>
          <p:nvPr/>
        </p:nvSpPr>
        <p:spPr>
          <a:xfrm>
            <a:off x="4434840" y="4114800"/>
            <a:ext cx="731520" cy="914"/>
          </a:xfrm>
          <a:prstGeom prst="line">
            <a:avLst/>
          </a:prstGeom>
          <a:noFill/>
          <a:ln w="31750">
            <a:solidFill>
              <a:srgbClr val="4A5A70"/>
            </a:solidFill>
            <a:prstDash val="solid"/>
            <a:tailEnd type="triangle"/>
          </a:ln>
        </p:spPr>
      </p:sp>
      <p:sp>
        <p:nvSpPr>
          <p:cNvPr id="38" name="Text 35"/>
          <p:cNvSpPr txBox="1"/>
          <p:nvPr/>
        </p:nvSpPr>
        <p:spPr>
          <a:xfrm>
            <a:off x="5349240" y="3474720"/>
            <a:ext cx="603504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SUBORDONNÉE : LA PINCE SE REFERME</a:t>
            </a:r>
            <a:endParaRPr lang="en-US" sz="1200" dirty="0"/>
          </a:p>
        </p:txBody>
      </p:sp>
      <p:sp>
        <p:nvSpPr>
          <p:cNvPr id="39" name="Shape 36"/>
          <p:cNvSpPr/>
          <p:nvPr/>
        </p:nvSpPr>
        <p:spPr>
          <a:xfrm>
            <a:off x="5349240" y="3794760"/>
            <a:ext cx="1141354" cy="640080"/>
          </a:xfrm>
          <a:prstGeom prst="roundRect">
            <a:avLst>
              <a:gd name="adj" fmla="val 11429"/>
            </a:avLst>
          </a:prstGeom>
          <a:solidFill>
            <a:schemeClr val="bg1"/>
          </a:solidFill>
          <a:ln w="15875">
            <a:solidFill>
              <a:srgbClr val="D5DCE6"/>
            </a:solidFill>
            <a:prstDash val="solid"/>
          </a:ln>
        </p:spPr>
      </p:sp>
      <p:sp>
        <p:nvSpPr>
          <p:cNvPr id="40" name="Text 37"/>
          <p:cNvSpPr txBox="1"/>
          <p:nvPr/>
        </p:nvSpPr>
        <p:spPr>
          <a:xfrm>
            <a:off x="5349240" y="3794760"/>
            <a:ext cx="1141354" cy="640080"/>
          </a:xfrm>
          <a:prstGeom prst="rect">
            <a:avLst/>
          </a:prstGeom>
          <a:noFill/>
          <a:ln/>
        </p:spPr>
        <p:txBody>
          <a:bodyPr wrap="square" lIns="0" tIns="0" rIns="0" bIns="0" rtlCol="0" anchor="ctr"/>
          <a:lstStyle/>
          <a:p>
            <a:pPr algn="ctr" indent="0" marL="0">
              <a:buNone/>
            </a:pPr>
            <a:r>
              <a:rPr lang="en-US" sz="1700" dirty="0">
                <a:solidFill>
                  <a:schemeClr val="tx1"/>
                </a:solidFill>
              </a:rPr>
              <a:t>Ik denk</a:t>
            </a:r>
            <a:endParaRPr lang="en-US" sz="1700" dirty="0"/>
          </a:p>
        </p:txBody>
      </p:sp>
      <p:sp>
        <p:nvSpPr>
          <p:cNvPr id="41" name="Shape 38"/>
          <p:cNvSpPr/>
          <p:nvPr/>
        </p:nvSpPr>
        <p:spPr>
          <a:xfrm>
            <a:off x="6545458" y="3794760"/>
            <a:ext cx="656356" cy="640080"/>
          </a:xfrm>
          <a:prstGeom prst="roundRect">
            <a:avLst>
              <a:gd name="adj" fmla="val 11429"/>
            </a:avLst>
          </a:prstGeom>
          <a:solidFill>
            <a:schemeClr val="accent1"/>
          </a:solidFill>
          <a:ln w="12700">
            <a:solidFill>
              <a:srgbClr val="FFFFFF">
                <a:alpha val="0"/>
              </a:srgbClr>
            </a:solidFill>
            <a:prstDash val="solid"/>
          </a:ln>
        </p:spPr>
      </p:sp>
      <p:sp>
        <p:nvSpPr>
          <p:cNvPr id="42" name="Text 39"/>
          <p:cNvSpPr txBox="1"/>
          <p:nvPr/>
        </p:nvSpPr>
        <p:spPr>
          <a:xfrm>
            <a:off x="6545458" y="3794760"/>
            <a:ext cx="656356" cy="640080"/>
          </a:xfrm>
          <a:prstGeom prst="rect">
            <a:avLst/>
          </a:prstGeom>
          <a:noFill/>
          <a:ln/>
        </p:spPr>
        <p:txBody>
          <a:bodyPr wrap="square" lIns="0" tIns="0" rIns="0" bIns="0" rtlCol="0" anchor="ctr"/>
          <a:lstStyle/>
          <a:p>
            <a:pPr algn="ctr" indent="0" marL="0">
              <a:buNone/>
            </a:pPr>
            <a:r>
              <a:rPr lang="en-US" sz="1700" b="1" dirty="0">
                <a:solidFill>
                  <a:schemeClr val="bg1"/>
                </a:solidFill>
              </a:rPr>
              <a:t>dat</a:t>
            </a:r>
            <a:endParaRPr lang="en-US" sz="1700" dirty="0"/>
          </a:p>
        </p:txBody>
      </p:sp>
      <p:sp>
        <p:nvSpPr>
          <p:cNvPr id="43" name="Shape 40"/>
          <p:cNvSpPr/>
          <p:nvPr/>
        </p:nvSpPr>
        <p:spPr>
          <a:xfrm>
            <a:off x="7256678" y="3794760"/>
            <a:ext cx="1141354" cy="640080"/>
          </a:xfrm>
          <a:prstGeom prst="roundRect">
            <a:avLst>
              <a:gd name="adj" fmla="val 11429"/>
            </a:avLst>
          </a:prstGeom>
          <a:solidFill>
            <a:schemeClr val="bg1"/>
          </a:solidFill>
          <a:ln w="15875">
            <a:solidFill>
              <a:srgbClr val="D5DCE6"/>
            </a:solidFill>
            <a:prstDash val="solid"/>
          </a:ln>
        </p:spPr>
      </p:sp>
      <p:sp>
        <p:nvSpPr>
          <p:cNvPr id="44" name="Text 41"/>
          <p:cNvSpPr txBox="1"/>
          <p:nvPr/>
        </p:nvSpPr>
        <p:spPr>
          <a:xfrm>
            <a:off x="7256678" y="3794760"/>
            <a:ext cx="1141354" cy="640080"/>
          </a:xfrm>
          <a:prstGeom prst="rect">
            <a:avLst/>
          </a:prstGeom>
          <a:noFill/>
          <a:ln/>
        </p:spPr>
        <p:txBody>
          <a:bodyPr wrap="square" lIns="0" tIns="0" rIns="0" bIns="0" rtlCol="0" anchor="ctr"/>
          <a:lstStyle/>
          <a:p>
            <a:pPr algn="ctr" indent="0" marL="0">
              <a:buNone/>
            </a:pPr>
            <a:r>
              <a:rPr lang="en-US" sz="1700" dirty="0">
                <a:solidFill>
                  <a:schemeClr val="tx1"/>
                </a:solidFill>
              </a:rPr>
              <a:t>ik niet</a:t>
            </a:r>
            <a:endParaRPr lang="en-US" sz="1700" dirty="0"/>
          </a:p>
        </p:txBody>
      </p:sp>
      <p:sp>
        <p:nvSpPr>
          <p:cNvPr id="45" name="Shape 42"/>
          <p:cNvSpPr/>
          <p:nvPr/>
        </p:nvSpPr>
        <p:spPr>
          <a:xfrm>
            <a:off x="8452896" y="3794760"/>
            <a:ext cx="656356" cy="640080"/>
          </a:xfrm>
          <a:prstGeom prst="roundRect">
            <a:avLst>
              <a:gd name="adj" fmla="val 11429"/>
            </a:avLst>
          </a:prstGeom>
          <a:solidFill>
            <a:srgbClr val="FBEDEB"/>
          </a:solidFill>
          <a:ln w="31750">
            <a:solidFill>
              <a:srgbClr val="B83227"/>
            </a:solidFill>
            <a:prstDash val="solid"/>
          </a:ln>
        </p:spPr>
      </p:sp>
      <p:sp>
        <p:nvSpPr>
          <p:cNvPr id="46" name="Text 43"/>
          <p:cNvSpPr txBox="1"/>
          <p:nvPr/>
        </p:nvSpPr>
        <p:spPr>
          <a:xfrm>
            <a:off x="8452896" y="3794760"/>
            <a:ext cx="656356" cy="640080"/>
          </a:xfrm>
          <a:prstGeom prst="rect">
            <a:avLst/>
          </a:prstGeom>
          <a:noFill/>
          <a:ln/>
        </p:spPr>
        <p:txBody>
          <a:bodyPr wrap="square" lIns="0" tIns="0" rIns="0" bIns="0" rtlCol="0" anchor="ctr"/>
          <a:lstStyle/>
          <a:p>
            <a:pPr algn="ctr" indent="0" marL="0">
              <a:buNone/>
            </a:pPr>
            <a:r>
              <a:rPr lang="en-US" sz="1700" b="1" dirty="0">
                <a:solidFill>
                  <a:schemeClr val="accent6"/>
                </a:solidFill>
              </a:rPr>
              <a:t>kan</a:t>
            </a:r>
            <a:endParaRPr lang="en-US" sz="1700" dirty="0"/>
          </a:p>
        </p:txBody>
      </p:sp>
      <p:sp>
        <p:nvSpPr>
          <p:cNvPr id="47" name="Shape 44"/>
          <p:cNvSpPr/>
          <p:nvPr/>
        </p:nvSpPr>
        <p:spPr>
          <a:xfrm>
            <a:off x="9164117" y="3794760"/>
            <a:ext cx="1020105" cy="640080"/>
          </a:xfrm>
          <a:prstGeom prst="roundRect">
            <a:avLst>
              <a:gd name="adj" fmla="val 11429"/>
            </a:avLst>
          </a:prstGeom>
          <a:solidFill>
            <a:srgbClr val="FBEDEB"/>
          </a:solidFill>
          <a:ln w="25400">
            <a:solidFill>
              <a:srgbClr val="B83227"/>
            </a:solidFill>
            <a:prstDash val="dash"/>
          </a:ln>
        </p:spPr>
      </p:sp>
      <p:sp>
        <p:nvSpPr>
          <p:cNvPr id="48" name="Text 45"/>
          <p:cNvSpPr txBox="1"/>
          <p:nvPr/>
        </p:nvSpPr>
        <p:spPr>
          <a:xfrm>
            <a:off x="9164117" y="3794760"/>
            <a:ext cx="1020105" cy="640080"/>
          </a:xfrm>
          <a:prstGeom prst="rect">
            <a:avLst/>
          </a:prstGeom>
          <a:noFill/>
          <a:ln/>
        </p:spPr>
        <p:txBody>
          <a:bodyPr wrap="square" lIns="0" tIns="0" rIns="0" bIns="0" rtlCol="0" anchor="ctr"/>
          <a:lstStyle/>
          <a:p>
            <a:pPr algn="ctr" indent="0" marL="0">
              <a:buNone/>
            </a:pPr>
            <a:r>
              <a:rPr lang="en-US" sz="1700" b="1" dirty="0">
                <a:solidFill>
                  <a:schemeClr val="accent6"/>
                </a:solidFill>
              </a:rPr>
              <a:t>komen.</a:t>
            </a:r>
            <a:endParaRPr lang="en-US" sz="1700" dirty="0"/>
          </a:p>
        </p:txBody>
      </p:sp>
      <p:sp>
        <p:nvSpPr>
          <p:cNvPr id="49" name="Shape 46"/>
          <p:cNvSpPr/>
          <p:nvPr/>
        </p:nvSpPr>
        <p:spPr>
          <a:xfrm>
            <a:off x="8035381" y="4526280"/>
            <a:ext cx="2148840" cy="292608"/>
          </a:xfrm>
          <a:prstGeom prst="roundRect">
            <a:avLst>
              <a:gd name="adj" fmla="val 15625"/>
            </a:avLst>
          </a:prstGeom>
          <a:solidFill>
            <a:schemeClr val="accent6"/>
          </a:solidFill>
          <a:ln w="12700">
            <a:solidFill>
              <a:srgbClr val="FFFFFF">
                <a:alpha val="0"/>
              </a:srgbClr>
            </a:solidFill>
            <a:prstDash val="solid"/>
          </a:ln>
        </p:spPr>
      </p:sp>
      <p:sp>
        <p:nvSpPr>
          <p:cNvPr id="50" name="Text 47"/>
          <p:cNvSpPr txBox="1"/>
          <p:nvPr/>
        </p:nvSpPr>
        <p:spPr>
          <a:xfrm>
            <a:off x="8035381" y="4526280"/>
            <a:ext cx="2148840" cy="292608"/>
          </a:xfrm>
          <a:prstGeom prst="rect">
            <a:avLst/>
          </a:prstGeom>
          <a:noFill/>
          <a:ln/>
        </p:spPr>
        <p:txBody>
          <a:bodyPr wrap="square" lIns="0" tIns="0" rIns="0" bIns="0" rtlCol="0" anchor="ctr"/>
          <a:lstStyle/>
          <a:p>
            <a:pPr algn="ctr" indent="0" marL="0">
              <a:buNone/>
            </a:pPr>
            <a:r>
              <a:rPr lang="en-US" sz="1100" b="1" dirty="0">
                <a:solidFill>
                  <a:schemeClr val="bg1"/>
                </a:solidFill>
              </a:rPr>
              <a:t>verbe conjugué + infinitif</a:t>
            </a:r>
            <a:endParaRPr lang="en-US" sz="1100" dirty="0"/>
          </a:p>
        </p:txBody>
      </p:sp>
      <p:sp>
        <p:nvSpPr>
          <p:cNvPr id="51" name="Shape 48"/>
          <p:cNvSpPr/>
          <p:nvPr/>
        </p:nvSpPr>
        <p:spPr>
          <a:xfrm>
            <a:off x="548640" y="5440680"/>
            <a:ext cx="11091672" cy="822960"/>
          </a:xfrm>
          <a:prstGeom prst="roundRect">
            <a:avLst>
              <a:gd name="adj" fmla="val 8889"/>
            </a:avLst>
          </a:prstGeom>
          <a:solidFill>
            <a:schemeClr val="tx2"/>
          </a:solidFill>
          <a:ln w="12700">
            <a:solidFill>
              <a:srgbClr val="FFFFFF">
                <a:alpha val="0"/>
              </a:srgbClr>
            </a:solidFill>
            <a:prstDash val="solid"/>
          </a:ln>
        </p:spPr>
      </p:sp>
      <p:sp>
        <p:nvSpPr>
          <p:cNvPr id="52" name="Text 49"/>
          <p:cNvSpPr txBox="1"/>
          <p:nvPr/>
        </p:nvSpPr>
        <p:spPr>
          <a:xfrm>
            <a:off x="822960" y="5440680"/>
            <a:ext cx="10607040" cy="822960"/>
          </a:xfrm>
          <a:prstGeom prst="rect">
            <a:avLst/>
          </a:prstGeom>
          <a:noFill/>
          <a:ln/>
        </p:spPr>
        <p:txBody>
          <a:bodyPr wrap="square" lIns="0" tIns="0" rIns="0" bIns="0" rtlCol="0" anchor="ctr"/>
          <a:lstStyle/>
          <a:p>
            <a:pPr algn="l" indent="0" marL="0">
              <a:buNone/>
            </a:pPr>
            <a:r>
              <a:rPr lang="en-US" sz="1900" dirty="0">
                <a:solidFill>
                  <a:schemeClr val="bg1"/>
                </a:solidFill>
              </a:rPr>
              <a:t>En subordonnée, les deux verbes se retrouvent </a:t>
            </a:r>
            <a:r>
              <a:rPr lang="en-US" sz="1900" b="1" dirty="0">
                <a:solidFill>
                  <a:schemeClr val="bg1"/>
                </a:solidFill>
              </a:rPr>
              <a:t>ensemble à la fin</a:t>
            </a:r>
            <a:r>
              <a:rPr lang="en-US" sz="1900" dirty="0">
                <a:solidFill>
                  <a:schemeClr val="bg1"/>
                </a:solidFill>
              </a:rPr>
              <a:t>. Verbe séparable : </a:t>
            </a:r>
            <a:r>
              <a:rPr lang="en-US" sz="1900" i="1" dirty="0">
                <a:solidFill>
                  <a:schemeClr val="bg1"/>
                </a:solidFill>
              </a:rPr>
              <a:t>omdat ik je morgen </a:t>
            </a:r>
            <a:r>
              <a:rPr lang="en-US" sz="1900" b="1" i="1" dirty="0">
                <a:solidFill>
                  <a:schemeClr val="accent6"/>
                </a:solidFill>
              </a:rPr>
              <a:t>opbel</a:t>
            </a:r>
            <a:r>
              <a:rPr lang="en-US" sz="1900" dirty="0">
                <a:solidFill>
                  <a:schemeClr val="bg1"/>
                </a:solidFill>
              </a:rPr>
              <a:t> (recollé).</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pont ou wagon ?</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Text 2"/>
          <p:cNvSpPr/>
          <p:nvPr/>
        </p:nvSpPr>
        <p:spPr>
          <a:xfrm>
            <a:off x="4270248" y="1508760"/>
            <a:ext cx="3657600" cy="100584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800" b="1" dirty="0">
                <a:solidFill>
                  <a:srgbClr val="1B2333"/>
                </a:solidFill>
              </a:rPr>
              <a:t>Quel mot relie ?</a:t>
            </a:r>
            <a:endParaRPr lang="en-US" sz="1800" dirty="0"/>
          </a:p>
        </p:txBody>
      </p:sp>
      <p:sp>
        <p:nvSpPr>
          <p:cNvPr id="6" name="Shape 3"/>
          <p:cNvSpPr/>
          <p:nvPr/>
        </p:nvSpPr>
        <p:spPr>
          <a:xfrm flipH="1">
            <a:off x="3108960" y="2011680"/>
            <a:ext cx="1161288" cy="685800"/>
          </a:xfrm>
          <a:prstGeom prst="line">
            <a:avLst/>
          </a:prstGeom>
          <a:noFill/>
          <a:ln w="31750">
            <a:solidFill>
              <a:srgbClr val="2A6FB0"/>
            </a:solidFill>
            <a:prstDash val="solid"/>
            <a:tailEnd type="triangle"/>
          </a:ln>
        </p:spPr>
      </p:sp>
      <p:sp>
        <p:nvSpPr>
          <p:cNvPr id="7" name="Shape 4"/>
          <p:cNvSpPr/>
          <p:nvPr/>
        </p:nvSpPr>
        <p:spPr>
          <a:xfrm>
            <a:off x="7927848" y="2011680"/>
            <a:ext cx="1124712" cy="685800"/>
          </a:xfrm>
          <a:prstGeom prst="line">
            <a:avLst/>
          </a:prstGeom>
          <a:noFill/>
          <a:ln w="31750">
            <a:solidFill>
              <a:srgbClr val="D9700F"/>
            </a:solidFill>
            <a:prstDash val="solid"/>
            <a:tailEnd type="triangle"/>
          </a:ln>
        </p:spPr>
      </p:sp>
      <p:sp>
        <p:nvSpPr>
          <p:cNvPr id="8" name="Shape 5"/>
          <p:cNvSpPr/>
          <p:nvPr/>
        </p:nvSpPr>
        <p:spPr>
          <a:xfrm>
            <a:off x="548640" y="2743200"/>
            <a:ext cx="5120640" cy="1920240"/>
          </a:xfrm>
          <a:prstGeom prst="roundRect">
            <a:avLst>
              <a:gd name="adj" fmla="val 3810"/>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548640" y="2743200"/>
            <a:ext cx="5120640" cy="548640"/>
          </a:xfrm>
          <a:prstGeom prst="roundRect">
            <a:avLst>
              <a:gd name="adj" fmla="val 13333"/>
            </a:avLst>
          </a:prstGeom>
          <a:solidFill>
            <a:schemeClr val="accent2"/>
          </a:solidFill>
          <a:ln w="12700">
            <a:solidFill>
              <a:srgbClr val="FFFFFF">
                <a:alpha val="0"/>
              </a:srgbClr>
            </a:solidFill>
            <a:prstDash val="solid"/>
          </a:ln>
        </p:spPr>
      </p:sp>
      <p:sp>
        <p:nvSpPr>
          <p:cNvPr id="10" name="Text 7"/>
          <p:cNvSpPr txBox="1"/>
          <p:nvPr/>
        </p:nvSpPr>
        <p:spPr>
          <a:xfrm>
            <a:off x="731520" y="2743200"/>
            <a:ext cx="4846320" cy="548640"/>
          </a:xfrm>
          <a:prstGeom prst="rect">
            <a:avLst/>
          </a:prstGeom>
          <a:noFill/>
          <a:ln/>
        </p:spPr>
        <p:txBody>
          <a:bodyPr wrap="square" lIns="0" tIns="0" rIns="0" bIns="0" rtlCol="0" anchor="ctr"/>
          <a:lstStyle/>
          <a:p>
            <a:pPr algn="l" indent="0" marL="0">
              <a:buNone/>
            </a:pPr>
            <a:r>
              <a:rPr lang="en-US" sz="1700" b="1" dirty="0">
                <a:solidFill>
                  <a:schemeClr val="bg1"/>
                </a:solidFill>
              </a:rPr>
              <a:t>PONT : </a:t>
            </a:r>
            <a:r>
              <a:rPr lang="en-US" sz="1700" b="1" i="1" dirty="0">
                <a:solidFill>
                  <a:schemeClr val="bg1"/>
                </a:solidFill>
              </a:rPr>
              <a:t>en · maar · want · of</a:t>
            </a:r>
            <a:r>
              <a:rPr lang="en-US" sz="1700" b="1" dirty="0">
                <a:solidFill>
                  <a:schemeClr val="bg1"/>
                </a:solidFill>
              </a:rPr>
              <a:t> (ou) · </a:t>
            </a:r>
            <a:r>
              <a:rPr lang="en-US" sz="1700" b="1" i="1" dirty="0">
                <a:solidFill>
                  <a:schemeClr val="bg1"/>
                </a:solidFill>
              </a:rPr>
              <a:t>dus</a:t>
            </a:r>
            <a:endParaRPr lang="en-US" sz="1700" dirty="0"/>
          </a:p>
        </p:txBody>
      </p:sp>
      <p:sp>
        <p:nvSpPr>
          <p:cNvPr id="11" name="Text 8"/>
          <p:cNvSpPr txBox="1"/>
          <p:nvPr/>
        </p:nvSpPr>
        <p:spPr>
          <a:xfrm>
            <a:off x="777240" y="3383280"/>
            <a:ext cx="4663440" cy="1188720"/>
          </a:xfrm>
          <a:prstGeom prst="rect">
            <a:avLst/>
          </a:prstGeom>
          <a:noFill/>
          <a:ln/>
        </p:spPr>
        <p:txBody>
          <a:bodyPr wrap="square" lIns="0" tIns="0" rIns="0" bIns="0" rtlCol="0" anchor="ctr"/>
          <a:lstStyle/>
          <a:p>
            <a:pPr algn="l" indent="0" marL="0">
              <a:spcAft>
                <a:spcPts val="600"/>
              </a:spcAft>
              <a:buNone/>
            </a:pPr>
            <a:r>
              <a:rPr lang="en-US" sz="1900" b="1" dirty="0">
                <a:solidFill>
                  <a:schemeClr val="tx1"/>
                </a:solidFill>
              </a:rPr>
              <a:t>rien ne bouge</a:t>
            </a:r>
            <a:endParaRPr lang="en-US" sz="1900" dirty="0"/>
          </a:p>
          <a:p>
            <a:pPr algn="l" indent="0" marL="0">
              <a:spcAft>
                <a:spcPts val="600"/>
              </a:spcAft>
              <a:buNone/>
            </a:pPr>
            <a:r>
              <a:rPr lang="en-US" sz="1900" i="1" dirty="0">
                <a:solidFill>
                  <a:schemeClr val="tx1"/>
                </a:solidFill>
              </a:rPr>
              <a:t>Ik </a:t>
            </a:r>
            <a:r>
              <a:rPr lang="en-US" sz="1900" b="1" i="1" dirty="0">
                <a:solidFill>
                  <a:schemeClr val="accent6"/>
                </a:solidFill>
              </a:rPr>
              <a:t>ben</a:t>
            </a:r>
            <a:r>
              <a:rPr lang="en-US" sz="1900" i="1" dirty="0">
                <a:solidFill>
                  <a:schemeClr val="tx1"/>
                </a:solidFill>
              </a:rPr>
              <a:t> moe, maar ik </a:t>
            </a:r>
            <a:r>
              <a:rPr lang="en-US" sz="1900" b="1" i="1" dirty="0">
                <a:solidFill>
                  <a:schemeClr val="accent6"/>
                </a:solidFill>
              </a:rPr>
              <a:t>werk</a:t>
            </a:r>
            <a:r>
              <a:rPr lang="en-US" sz="1900" i="1" dirty="0">
                <a:solidFill>
                  <a:schemeClr val="tx1"/>
                </a:solidFill>
              </a:rPr>
              <a:t> nog.</a:t>
            </a:r>
            <a:endParaRPr lang="en-US" sz="1900" dirty="0"/>
          </a:p>
        </p:txBody>
      </p:sp>
      <p:sp>
        <p:nvSpPr>
          <p:cNvPr id="12" name="Shape 9"/>
          <p:cNvSpPr/>
          <p:nvPr/>
        </p:nvSpPr>
        <p:spPr>
          <a:xfrm>
            <a:off x="6519672" y="2743200"/>
            <a:ext cx="5120640" cy="1920240"/>
          </a:xfrm>
          <a:prstGeom prst="roundRect">
            <a:avLst>
              <a:gd name="adj" fmla="val 3810"/>
            </a:avLst>
          </a:prstGeom>
          <a:solidFill>
            <a:schemeClr val="bg1"/>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6519672" y="2743200"/>
            <a:ext cx="5120640" cy="548640"/>
          </a:xfrm>
          <a:prstGeom prst="roundRect">
            <a:avLst>
              <a:gd name="adj" fmla="val 13333"/>
            </a:avLst>
          </a:prstGeom>
          <a:solidFill>
            <a:schemeClr val="accent1"/>
          </a:solidFill>
          <a:ln w="12700">
            <a:solidFill>
              <a:srgbClr val="FFFFFF">
                <a:alpha val="0"/>
              </a:srgbClr>
            </a:solidFill>
            <a:prstDash val="solid"/>
          </a:ln>
        </p:spPr>
      </p:sp>
      <p:sp>
        <p:nvSpPr>
          <p:cNvPr id="14" name="Text 11"/>
          <p:cNvSpPr txBox="1"/>
          <p:nvPr/>
        </p:nvSpPr>
        <p:spPr>
          <a:xfrm>
            <a:off x="6702552" y="2743200"/>
            <a:ext cx="4846320" cy="548640"/>
          </a:xfrm>
          <a:prstGeom prst="rect">
            <a:avLst/>
          </a:prstGeom>
          <a:noFill/>
          <a:ln/>
        </p:spPr>
        <p:txBody>
          <a:bodyPr wrap="square" lIns="0" tIns="0" rIns="0" bIns="0" rtlCol="0" anchor="ctr"/>
          <a:lstStyle/>
          <a:p>
            <a:pPr algn="l" indent="0" marL="0">
              <a:buNone/>
            </a:pPr>
            <a:r>
              <a:rPr lang="en-US" sz="1700" b="1" dirty="0">
                <a:solidFill>
                  <a:schemeClr val="bg1"/>
                </a:solidFill>
              </a:rPr>
              <a:t>WAGON : </a:t>
            </a:r>
            <a:r>
              <a:rPr lang="en-US" sz="1700" b="1" i="1" dirty="0">
                <a:solidFill>
                  <a:schemeClr val="bg1"/>
                </a:solidFill>
              </a:rPr>
              <a:t>omdat · dat · als · of</a:t>
            </a:r>
            <a:r>
              <a:rPr lang="en-US" sz="1700" b="1" dirty="0">
                <a:solidFill>
                  <a:schemeClr val="bg1"/>
                </a:solidFill>
              </a:rPr>
              <a:t> (si)</a:t>
            </a:r>
            <a:endParaRPr lang="en-US" sz="1700" dirty="0"/>
          </a:p>
        </p:txBody>
      </p:sp>
      <p:sp>
        <p:nvSpPr>
          <p:cNvPr id="15" name="Text 12"/>
          <p:cNvSpPr txBox="1"/>
          <p:nvPr/>
        </p:nvSpPr>
        <p:spPr>
          <a:xfrm>
            <a:off x="6748272" y="3383280"/>
            <a:ext cx="4663440" cy="1188720"/>
          </a:xfrm>
          <a:prstGeom prst="rect">
            <a:avLst/>
          </a:prstGeom>
          <a:noFill/>
          <a:ln/>
        </p:spPr>
        <p:txBody>
          <a:bodyPr wrap="square" lIns="0" tIns="0" rIns="0" bIns="0" rtlCol="0" anchor="ctr"/>
          <a:lstStyle/>
          <a:p>
            <a:pPr algn="l" indent="0" marL="0">
              <a:spcAft>
                <a:spcPts val="600"/>
              </a:spcAft>
              <a:buNone/>
            </a:pPr>
            <a:r>
              <a:rPr lang="en-US" sz="1900" b="1" dirty="0">
                <a:solidFill>
                  <a:schemeClr val="tx1"/>
                </a:solidFill>
              </a:rPr>
              <a:t>verbe à la fin</a:t>
            </a:r>
            <a:endParaRPr lang="en-US" sz="1900" dirty="0"/>
          </a:p>
          <a:p>
            <a:pPr algn="l" indent="0" marL="0">
              <a:spcAft>
                <a:spcPts val="600"/>
              </a:spcAft>
              <a:buNone/>
            </a:pPr>
            <a:r>
              <a:rPr lang="en-US" sz="1900" i="1" dirty="0">
                <a:solidFill>
                  <a:schemeClr val="tx1"/>
                </a:solidFill>
              </a:rPr>
              <a:t>… omdat ik moe </a:t>
            </a:r>
            <a:r>
              <a:rPr lang="en-US" sz="1900" b="1" i="1" dirty="0">
                <a:solidFill>
                  <a:schemeClr val="accent6"/>
                </a:solidFill>
              </a:rPr>
              <a:t>ben</a:t>
            </a:r>
            <a:r>
              <a:rPr lang="en-US" sz="1900" i="1" dirty="0">
                <a:solidFill>
                  <a:schemeClr val="tx1"/>
                </a:solidFill>
              </a:rPr>
              <a:t>.</a:t>
            </a:r>
            <a:endParaRPr lang="en-US" sz="1900" dirty="0"/>
          </a:p>
        </p:txBody>
      </p:sp>
      <p:sp>
        <p:nvSpPr>
          <p:cNvPr id="16" name="Shape 13"/>
          <p:cNvSpPr/>
          <p:nvPr/>
        </p:nvSpPr>
        <p:spPr>
          <a:xfrm>
            <a:off x="9079992" y="4663440"/>
            <a:ext cx="914" cy="274320"/>
          </a:xfrm>
          <a:prstGeom prst="line">
            <a:avLst/>
          </a:prstGeom>
          <a:noFill/>
          <a:ln w="25400">
            <a:solidFill>
              <a:srgbClr val="4A5A70"/>
            </a:solidFill>
            <a:prstDash val="solid"/>
            <a:tailEnd type="triangle"/>
          </a:ln>
        </p:spPr>
      </p:sp>
      <p:sp>
        <p:nvSpPr>
          <p:cNvPr id="17" name="Text 14"/>
          <p:cNvSpPr/>
          <p:nvPr/>
        </p:nvSpPr>
        <p:spPr>
          <a:xfrm>
            <a:off x="6519672" y="4937760"/>
            <a:ext cx="3017520" cy="914400"/>
          </a:xfrm>
          <a:prstGeom prst="diamond">
            <a:avLst/>
          </a:prstGeom>
          <a:solidFill>
            <a:srgbClr val="EEF3F8"/>
          </a:solidFill>
          <a:ln w="15875">
            <a:solidFill>
              <a:srgbClr val="17375E"/>
            </a:solidFill>
          </a:ln>
        </p:spPr>
        <p:txBody>
          <a:bodyPr wrap="square" lIns="0" tIns="0" rIns="0" bIns="0" rtlCol="0" anchor="ctr"/>
          <a:lstStyle/>
          <a:p>
            <a:pPr algn="ctr" indent="0" marL="0">
              <a:buNone/>
            </a:pPr>
            <a:r>
              <a:rPr lang="en-US" sz="1300" b="1" dirty="0">
                <a:solidFill>
                  <a:srgbClr val="1B2333"/>
                </a:solidFill>
              </a:rPr>
              <a:t>Le wagon est en tête ?</a:t>
            </a:r>
            <a:endParaRPr lang="en-US" sz="1300" dirty="0"/>
          </a:p>
        </p:txBody>
      </p:sp>
      <p:sp>
        <p:nvSpPr>
          <p:cNvPr id="18" name="Shape 15"/>
          <p:cNvSpPr/>
          <p:nvPr/>
        </p:nvSpPr>
        <p:spPr>
          <a:xfrm>
            <a:off x="9555480" y="5394960"/>
            <a:ext cx="274320" cy="914"/>
          </a:xfrm>
          <a:prstGeom prst="line">
            <a:avLst/>
          </a:prstGeom>
          <a:noFill/>
          <a:ln w="25400">
            <a:solidFill>
              <a:srgbClr val="2E7D4F"/>
            </a:solidFill>
            <a:prstDash val="solid"/>
            <a:tailEnd type="triangle"/>
          </a:ln>
        </p:spPr>
      </p:sp>
      <p:sp>
        <p:nvSpPr>
          <p:cNvPr id="19" name="Text 16"/>
          <p:cNvSpPr txBox="1"/>
          <p:nvPr/>
        </p:nvSpPr>
        <p:spPr>
          <a:xfrm>
            <a:off x="9509760" y="5029200"/>
            <a:ext cx="457200" cy="274320"/>
          </a:xfrm>
          <a:prstGeom prst="rect">
            <a:avLst/>
          </a:prstGeom>
          <a:noFill/>
          <a:ln/>
        </p:spPr>
        <p:txBody>
          <a:bodyPr wrap="square" lIns="0" tIns="0" rIns="0" bIns="0" rtlCol="0" anchor="t"/>
          <a:lstStyle/>
          <a:p>
            <a:pPr algn="l" indent="0" marL="0">
              <a:buNone/>
            </a:pPr>
            <a:r>
              <a:rPr lang="en-US" sz="1100" b="1" dirty="0">
                <a:solidFill>
                  <a:schemeClr val="accent3"/>
                </a:solidFill>
              </a:rPr>
              <a:t>OUI</a:t>
            </a:r>
            <a:endParaRPr lang="en-US" sz="1100" dirty="0"/>
          </a:p>
        </p:txBody>
      </p:sp>
      <p:sp>
        <p:nvSpPr>
          <p:cNvPr id="20" name="Shape 17"/>
          <p:cNvSpPr/>
          <p:nvPr/>
        </p:nvSpPr>
        <p:spPr>
          <a:xfrm>
            <a:off x="9875520" y="4937760"/>
            <a:ext cx="1764792" cy="914400"/>
          </a:xfrm>
          <a:prstGeom prst="roundRect">
            <a:avLst>
              <a:gd name="adj" fmla="val 8000"/>
            </a:avLst>
          </a:prstGeom>
          <a:solidFill>
            <a:schemeClr val="accent6"/>
          </a:solidFill>
          <a:ln w="12700">
            <a:solidFill>
              <a:srgbClr val="FFFFFF">
                <a:alpha val="0"/>
              </a:srgbClr>
            </a:solidFill>
            <a:prstDash val="solid"/>
          </a:ln>
        </p:spPr>
      </p:sp>
      <p:sp>
        <p:nvSpPr>
          <p:cNvPr id="21" name="Text 18"/>
          <p:cNvSpPr txBox="1"/>
          <p:nvPr/>
        </p:nvSpPr>
        <p:spPr>
          <a:xfrm>
            <a:off x="9875520" y="4937760"/>
            <a:ext cx="1764792" cy="914400"/>
          </a:xfrm>
          <a:prstGeom prst="rect">
            <a:avLst/>
          </a:prstGeom>
          <a:noFill/>
          <a:ln/>
        </p:spPr>
        <p:txBody>
          <a:bodyPr wrap="square" lIns="0" tIns="0" rIns="0" bIns="0" rtlCol="0" anchor="ctr"/>
          <a:lstStyle/>
          <a:p>
            <a:pPr algn="ctr" indent="0" marL="0">
              <a:buNone/>
            </a:pPr>
            <a:r>
              <a:rPr lang="en-US" sz="1500" b="1" dirty="0">
                <a:solidFill>
                  <a:schemeClr val="bg1"/>
                </a:solidFill>
              </a:rPr>
              <a:t>verbe, verbe !</a:t>
            </a:r>
            <a:endParaRPr lang="en-US" sz="1500" dirty="0"/>
          </a:p>
        </p:txBody>
      </p:sp>
      <p:sp>
        <p:nvSpPr>
          <p:cNvPr id="22" name="Text 19"/>
          <p:cNvSpPr txBox="1"/>
          <p:nvPr/>
        </p:nvSpPr>
        <p:spPr>
          <a:xfrm>
            <a:off x="548640" y="5029200"/>
            <a:ext cx="5760720" cy="777240"/>
          </a:xfrm>
          <a:prstGeom prst="rect">
            <a:avLst/>
          </a:prstGeom>
          <a:noFill/>
          <a:ln/>
        </p:spPr>
        <p:txBody>
          <a:bodyPr wrap="square" lIns="0" tIns="0" rIns="0" bIns="0" rtlCol="0" anchor="ctr"/>
          <a:lstStyle/>
          <a:p>
            <a:pPr algn="l" indent="0" marL="0">
              <a:buNone/>
            </a:pPr>
            <a:r>
              <a:rPr lang="en-US" sz="1900" b="1" dirty="0">
                <a:solidFill>
                  <a:schemeClr val="tx1"/>
                </a:solidFill>
              </a:rPr>
              <a:t>Wagon en tête</a:t>
            </a:r>
            <a:r>
              <a:rPr lang="en-US" sz="1900" dirty="0">
                <a:solidFill>
                  <a:schemeClr val="tx1"/>
                </a:solidFill>
              </a:rPr>
              <a:t> : </a:t>
            </a:r>
            <a:r>
              <a:rPr lang="en-US" sz="1900" b="1" i="1" dirty="0">
                <a:solidFill>
                  <a:schemeClr val="tx1"/>
                </a:solidFill>
              </a:rPr>
              <a:t>Als</a:t>
            </a:r>
            <a:r>
              <a:rPr lang="en-US" sz="1900" i="1" dirty="0">
                <a:solidFill>
                  <a:schemeClr val="tx1"/>
                </a:solidFill>
              </a:rPr>
              <a:t> ik moe </a:t>
            </a:r>
            <a:r>
              <a:rPr lang="en-US" sz="1900" b="1" i="1" dirty="0">
                <a:solidFill>
                  <a:schemeClr val="accent6"/>
                </a:solidFill>
              </a:rPr>
              <a:t>ben</a:t>
            </a:r>
            <a:r>
              <a:rPr lang="en-US" sz="1900" i="1" dirty="0">
                <a:solidFill>
                  <a:schemeClr val="tx1"/>
                </a:solidFill>
              </a:rPr>
              <a:t>, </a:t>
            </a:r>
            <a:r>
              <a:rPr lang="en-US" sz="1900" b="1" i="1" dirty="0">
                <a:solidFill>
                  <a:schemeClr val="accent6"/>
                </a:solidFill>
              </a:rPr>
              <a:t>drink</a:t>
            </a:r>
            <a:r>
              <a:rPr lang="en-US" sz="1900" i="1" dirty="0">
                <a:solidFill>
                  <a:schemeClr val="tx1"/>
                </a:solidFill>
              </a:rPr>
              <a:t> ik koffie.</a:t>
            </a:r>
            <a:endParaRPr lang="en-US" sz="1900" dirty="0"/>
          </a:p>
        </p:txBody>
      </p:sp>
      <p:pic>
        <p:nvPicPr>
          <p:cNvPr id="23"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Random">    </p:cNvPr>
          <p:cNvPicPr>
            <a:picLocks noChangeAspect="1"/>
          </p:cNvPicPr>
          <p:nvPr/>
        </p:nvPicPr>
        <p:blipFill>
          <a:blip r:embed="rId1"/>
          <a:stretch>
            <a:fillRect/>
          </a:stretch>
        </p:blipFill>
        <p:spPr>
          <a:xfrm>
            <a:off x="2987040" y="2770632"/>
            <a:ext cx="384048" cy="384048"/>
          </a:xfrm>
          <a:prstGeom prst="rect">
            <a:avLst/>
          </a:prstGeom>
        </p:spPr>
      </p:pic>
      <p:sp>
        <p:nvSpPr>
          <p:cNvPr id="10" name="Text 6"/>
          <p:cNvSpPr txBox="1"/>
          <p:nvPr/>
        </p:nvSpPr>
        <p:spPr>
          <a:xfrm>
            <a:off x="68580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Inversion, rejet ou rien ?</a:t>
            </a:r>
            <a:endParaRPr lang="en-US" sz="1600" dirty="0"/>
          </a:p>
        </p:txBody>
      </p:sp>
      <p:sp>
        <p:nvSpPr>
          <p:cNvPr id="11" name="Text 7"/>
          <p:cNvSpPr txBox="1"/>
          <p:nvPr/>
        </p:nvSpPr>
        <p:spPr>
          <a:xfrm>
            <a:off x="68580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376428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90144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90144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Train">    </p:cNvPr>
          <p:cNvPicPr>
            <a:picLocks noChangeAspect="1"/>
          </p:cNvPicPr>
          <p:nvPr/>
        </p:nvPicPr>
        <p:blipFill>
          <a:blip r:embed="rId2"/>
          <a:stretch>
            <a:fillRect/>
          </a:stretch>
        </p:blipFill>
        <p:spPr>
          <a:xfrm>
            <a:off x="6202680" y="2770632"/>
            <a:ext cx="384048" cy="384048"/>
          </a:xfrm>
          <a:prstGeom prst="rect">
            <a:avLst/>
          </a:prstGeom>
        </p:spPr>
      </p:pic>
      <p:sp>
        <p:nvSpPr>
          <p:cNvPr id="16" name="Text 11"/>
          <p:cNvSpPr txBox="1"/>
          <p:nvPr/>
        </p:nvSpPr>
        <p:spPr>
          <a:xfrm>
            <a:off x="390144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Du pont au wagon</a:t>
            </a:r>
            <a:endParaRPr lang="en-US" sz="1600" dirty="0"/>
          </a:p>
        </p:txBody>
      </p:sp>
      <p:sp>
        <p:nvSpPr>
          <p:cNvPr id="17" name="Text 12"/>
          <p:cNvSpPr txBox="1"/>
          <p:nvPr/>
        </p:nvSpPr>
        <p:spPr>
          <a:xfrm>
            <a:off x="390144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697992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711708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711708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PuzzlePiece">    </p:cNvPr>
          <p:cNvPicPr>
            <a:picLocks noChangeAspect="1"/>
          </p:cNvPicPr>
          <p:nvPr/>
        </p:nvPicPr>
        <p:blipFill>
          <a:blip r:embed="rId3"/>
          <a:stretch>
            <a:fillRect/>
          </a:stretch>
        </p:blipFill>
        <p:spPr>
          <a:xfrm>
            <a:off x="9418320" y="2770632"/>
            <a:ext cx="384048" cy="384048"/>
          </a:xfrm>
          <a:prstGeom prst="rect">
            <a:avLst/>
          </a:prstGeom>
        </p:spPr>
      </p:pic>
      <p:sp>
        <p:nvSpPr>
          <p:cNvPr id="22" name="Text 16"/>
          <p:cNvSpPr txBox="1"/>
          <p:nvPr/>
        </p:nvSpPr>
        <p:spPr>
          <a:xfrm>
            <a:off x="711708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Le bon mot</a:t>
            </a:r>
            <a:endParaRPr lang="en-US" sz="1600" dirty="0"/>
          </a:p>
        </p:txBody>
      </p:sp>
      <p:sp>
        <p:nvSpPr>
          <p:cNvPr id="23" name="Text 17"/>
          <p:cNvSpPr txBox="1"/>
          <p:nvPr/>
        </p:nvSpPr>
        <p:spPr>
          <a:xfrm>
            <a:off x="711708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54864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Check">    </p:cNvPr>
          <p:cNvPicPr>
            <a:picLocks noChangeAspect="1"/>
          </p:cNvPicPr>
          <p:nvPr/>
        </p:nvPicPr>
        <p:blipFill>
          <a:blip r:embed="rId4"/>
          <a:stretch>
            <a:fillRect/>
          </a:stretch>
        </p:blipFill>
        <p:spPr>
          <a:xfrm>
            <a:off x="2987040" y="4599432"/>
            <a:ext cx="384048" cy="384048"/>
          </a:xfrm>
          <a:prstGeom prst="rect">
            <a:avLst/>
          </a:prstGeom>
        </p:spPr>
      </p:pic>
      <p:sp>
        <p:nvSpPr>
          <p:cNvPr id="28" name="Text 21"/>
          <p:cNvSpPr txBox="1"/>
          <p:nvPr/>
        </p:nvSpPr>
        <p:spPr>
          <a:xfrm>
            <a:off x="68580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Juist of fout?</a:t>
            </a:r>
            <a:endParaRPr lang="en-US" sz="1600" dirty="0"/>
          </a:p>
        </p:txBody>
      </p:sp>
      <p:sp>
        <p:nvSpPr>
          <p:cNvPr id="29" name="Text 22"/>
          <p:cNvSpPr txBox="1"/>
          <p:nvPr/>
        </p:nvSpPr>
        <p:spPr>
          <a:xfrm>
            <a:off x="68580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376428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390144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390144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Stopwatch">    </p:cNvPr>
          <p:cNvPicPr>
            <a:picLocks noChangeAspect="1"/>
          </p:cNvPicPr>
          <p:nvPr/>
        </p:nvPicPr>
        <p:blipFill>
          <a:blip r:embed="rId5"/>
          <a:stretch>
            <a:fillRect/>
          </a:stretch>
        </p:blipFill>
        <p:spPr>
          <a:xfrm>
            <a:off x="6202680" y="4599432"/>
            <a:ext cx="384048" cy="384048"/>
          </a:xfrm>
          <a:prstGeom prst="rect">
            <a:avLst/>
          </a:prstGeom>
        </p:spPr>
      </p:pic>
      <p:sp>
        <p:nvSpPr>
          <p:cNvPr id="34" name="Text 26"/>
          <p:cNvSpPr txBox="1"/>
          <p:nvPr/>
        </p:nvSpPr>
        <p:spPr>
          <a:xfrm>
            <a:off x="390144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Waarom? en 1 minute</a:t>
            </a:r>
            <a:endParaRPr lang="en-US" sz="1600" dirty="0"/>
          </a:p>
        </p:txBody>
      </p:sp>
      <p:sp>
        <p:nvSpPr>
          <p:cNvPr id="35" name="Text 27"/>
          <p:cNvSpPr txBox="1"/>
          <p:nvPr/>
        </p:nvSpPr>
        <p:spPr>
          <a:xfrm>
            <a:off x="390144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697992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711708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711708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UserClock">    </p:cNvPr>
          <p:cNvPicPr>
            <a:picLocks noChangeAspect="1"/>
          </p:cNvPicPr>
          <p:nvPr/>
        </p:nvPicPr>
        <p:blipFill>
          <a:blip r:embed="rId6"/>
          <a:stretch>
            <a:fillRect/>
          </a:stretch>
        </p:blipFill>
        <p:spPr>
          <a:xfrm>
            <a:off x="9418320" y="4599432"/>
            <a:ext cx="384048" cy="384048"/>
          </a:xfrm>
          <a:prstGeom prst="rect">
            <a:avLst/>
          </a:prstGeom>
        </p:spPr>
      </p:pic>
      <p:sp>
        <p:nvSpPr>
          <p:cNvPr id="40" name="Text 31"/>
          <p:cNvSpPr txBox="1"/>
          <p:nvPr/>
        </p:nvSpPr>
        <p:spPr>
          <a:xfrm>
            <a:off x="711708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Désolé, je suis en retard !</a:t>
            </a:r>
            <a:endParaRPr lang="en-US" sz="1600" dirty="0"/>
          </a:p>
        </p:txBody>
      </p:sp>
      <p:sp>
        <p:nvSpPr>
          <p:cNvPr id="41" name="Text 32"/>
          <p:cNvSpPr txBox="1"/>
          <p:nvPr/>
        </p:nvSpPr>
        <p:spPr>
          <a:xfrm>
            <a:off x="711708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2" name="Image 6" descr="man teacher">    </p:cNvPr>
          <p:cNvPicPr>
            <a:picLocks noChangeAspect="1"/>
          </p:cNvPicPr>
          <p:nvPr/>
        </p:nvPicPr>
        <p:blipFill>
          <a:blip r:embed="rId7"/>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Inversion, rejet ou rien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se passe-t-il après chaque mot ? Classez-les.</a:t>
            </a:r>
            <a:endParaRPr lang="en-US" sz="1700" dirty="0"/>
          </a:p>
        </p:txBody>
      </p:sp>
      <p:sp>
        <p:nvSpPr>
          <p:cNvPr id="8" name="Shape 4"/>
          <p:cNvSpPr/>
          <p:nvPr/>
        </p:nvSpPr>
        <p:spPr>
          <a:xfrm>
            <a:off x="548640" y="193243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Text 5"/>
          <p:cNvSpPr txBox="1"/>
          <p:nvPr/>
        </p:nvSpPr>
        <p:spPr>
          <a:xfrm>
            <a:off x="594360" y="193243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gisteren</a:t>
            </a:r>
            <a:endParaRPr lang="en-US" sz="2200" dirty="0"/>
          </a:p>
        </p:txBody>
      </p:sp>
      <p:sp>
        <p:nvSpPr>
          <p:cNvPr id="10" name="Shape 6"/>
          <p:cNvSpPr/>
          <p:nvPr/>
        </p:nvSpPr>
        <p:spPr>
          <a:xfrm>
            <a:off x="2816352" y="193243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1" name="Text 7"/>
          <p:cNvSpPr txBox="1"/>
          <p:nvPr/>
        </p:nvSpPr>
        <p:spPr>
          <a:xfrm>
            <a:off x="2862072" y="193243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omdat</a:t>
            </a:r>
            <a:endParaRPr lang="en-US" sz="2200" dirty="0"/>
          </a:p>
        </p:txBody>
      </p:sp>
      <p:sp>
        <p:nvSpPr>
          <p:cNvPr id="12" name="Shape 8"/>
          <p:cNvSpPr/>
          <p:nvPr/>
        </p:nvSpPr>
        <p:spPr>
          <a:xfrm>
            <a:off x="5084064" y="193243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3" name="Text 9"/>
          <p:cNvSpPr txBox="1"/>
          <p:nvPr/>
        </p:nvSpPr>
        <p:spPr>
          <a:xfrm>
            <a:off x="5129784" y="193243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dikwijls</a:t>
            </a:r>
            <a:endParaRPr lang="en-US" sz="2200" dirty="0"/>
          </a:p>
        </p:txBody>
      </p:sp>
      <p:sp>
        <p:nvSpPr>
          <p:cNvPr id="14" name="Shape 10"/>
          <p:cNvSpPr/>
          <p:nvPr/>
        </p:nvSpPr>
        <p:spPr>
          <a:xfrm>
            <a:off x="7351776" y="193243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5" name="Text 11"/>
          <p:cNvSpPr txBox="1"/>
          <p:nvPr/>
        </p:nvSpPr>
        <p:spPr>
          <a:xfrm>
            <a:off x="7397496" y="193243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als</a:t>
            </a:r>
            <a:endParaRPr lang="en-US" sz="2200" dirty="0"/>
          </a:p>
        </p:txBody>
      </p:sp>
      <p:sp>
        <p:nvSpPr>
          <p:cNvPr id="16" name="Shape 12"/>
          <p:cNvSpPr/>
          <p:nvPr/>
        </p:nvSpPr>
        <p:spPr>
          <a:xfrm>
            <a:off x="9619488" y="193243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7" name="Text 13"/>
          <p:cNvSpPr txBox="1"/>
          <p:nvPr/>
        </p:nvSpPr>
        <p:spPr>
          <a:xfrm>
            <a:off x="9665208" y="193243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want</a:t>
            </a:r>
            <a:endParaRPr lang="en-US" sz="2200" dirty="0"/>
          </a:p>
        </p:txBody>
      </p:sp>
      <p:sp>
        <p:nvSpPr>
          <p:cNvPr id="18" name="Shape 14"/>
          <p:cNvSpPr/>
          <p:nvPr/>
        </p:nvSpPr>
        <p:spPr>
          <a:xfrm>
            <a:off x="548640" y="266395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9" name="Text 15"/>
          <p:cNvSpPr txBox="1"/>
          <p:nvPr/>
        </p:nvSpPr>
        <p:spPr>
          <a:xfrm>
            <a:off x="594360" y="266395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en</a:t>
            </a:r>
            <a:endParaRPr lang="en-US" sz="2200" dirty="0"/>
          </a:p>
        </p:txBody>
      </p:sp>
      <p:sp>
        <p:nvSpPr>
          <p:cNvPr id="20" name="Shape 16"/>
          <p:cNvSpPr/>
          <p:nvPr/>
        </p:nvSpPr>
        <p:spPr>
          <a:xfrm>
            <a:off x="2816352" y="266395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1" name="Text 17"/>
          <p:cNvSpPr txBox="1"/>
          <p:nvPr/>
        </p:nvSpPr>
        <p:spPr>
          <a:xfrm>
            <a:off x="2862072" y="266395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maar</a:t>
            </a:r>
            <a:endParaRPr lang="en-US" sz="2200" dirty="0"/>
          </a:p>
        </p:txBody>
      </p:sp>
      <p:sp>
        <p:nvSpPr>
          <p:cNvPr id="22" name="Shape 18"/>
          <p:cNvSpPr/>
          <p:nvPr/>
        </p:nvSpPr>
        <p:spPr>
          <a:xfrm>
            <a:off x="5084064" y="266395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3" name="Text 19"/>
          <p:cNvSpPr txBox="1"/>
          <p:nvPr/>
        </p:nvSpPr>
        <p:spPr>
          <a:xfrm>
            <a:off x="5129784" y="266395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dat</a:t>
            </a:r>
            <a:endParaRPr lang="en-US" sz="2200" dirty="0"/>
          </a:p>
        </p:txBody>
      </p:sp>
      <p:sp>
        <p:nvSpPr>
          <p:cNvPr id="24" name="Shape 20"/>
          <p:cNvSpPr/>
          <p:nvPr/>
        </p:nvSpPr>
        <p:spPr>
          <a:xfrm>
            <a:off x="7351776" y="266395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7397496" y="266395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soms</a:t>
            </a:r>
            <a:endParaRPr lang="en-US" sz="2200" dirty="0"/>
          </a:p>
        </p:txBody>
      </p:sp>
      <p:sp>
        <p:nvSpPr>
          <p:cNvPr id="26" name="Shape 22"/>
          <p:cNvSpPr/>
          <p:nvPr/>
        </p:nvSpPr>
        <p:spPr>
          <a:xfrm>
            <a:off x="9619488" y="2663952"/>
            <a:ext cx="2057400" cy="594360"/>
          </a:xfrm>
          <a:prstGeom prst="roundRect">
            <a:avLst>
              <a:gd name="adj" fmla="val 15385"/>
            </a:avLst>
          </a:prstGeom>
          <a:solidFill>
            <a:schemeClr val="bg1"/>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7" name="Text 23"/>
          <p:cNvSpPr txBox="1"/>
          <p:nvPr/>
        </p:nvSpPr>
        <p:spPr>
          <a:xfrm>
            <a:off x="9665208" y="2663952"/>
            <a:ext cx="1965960" cy="59436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morgen</a:t>
            </a:r>
            <a:endParaRPr lang="en-US" sz="2200" dirty="0"/>
          </a:p>
        </p:txBody>
      </p:sp>
      <p:sp>
        <p:nvSpPr>
          <p:cNvPr id="28" name="Shape 24"/>
          <p:cNvSpPr/>
          <p:nvPr/>
        </p:nvSpPr>
        <p:spPr>
          <a:xfrm>
            <a:off x="548640" y="3532632"/>
            <a:ext cx="3520440" cy="2758440"/>
          </a:xfrm>
          <a:prstGeom prst="roundRect">
            <a:avLst>
              <a:gd name="adj" fmla="val 2652"/>
            </a:avLst>
          </a:prstGeom>
          <a:solidFill>
            <a:schemeClr val="accent2">
              <a:alpha val="10000"/>
            </a:schemeClr>
          </a:solidFill>
          <a:ln w="25400">
            <a:solidFill>
              <a:srgbClr val="2A6FB0"/>
            </a:solidFill>
            <a:prstDash val="solid"/>
          </a:ln>
        </p:spPr>
      </p:sp>
      <p:sp>
        <p:nvSpPr>
          <p:cNvPr id="29" name="Shape 25"/>
          <p:cNvSpPr/>
          <p:nvPr/>
        </p:nvSpPr>
        <p:spPr>
          <a:xfrm>
            <a:off x="548640" y="3532632"/>
            <a:ext cx="3520440" cy="777240"/>
          </a:xfrm>
          <a:prstGeom prst="roundRect">
            <a:avLst>
              <a:gd name="adj" fmla="val 9412"/>
            </a:avLst>
          </a:prstGeom>
          <a:solidFill>
            <a:schemeClr val="accent2"/>
          </a:solidFill>
          <a:ln w="12700">
            <a:solidFill>
              <a:srgbClr val="FFFFFF">
                <a:alpha val="0"/>
              </a:srgbClr>
            </a:solidFill>
            <a:prstDash val="solid"/>
          </a:ln>
        </p:spPr>
      </p:sp>
      <p:sp>
        <p:nvSpPr>
          <p:cNvPr id="30" name="Text 26"/>
          <p:cNvSpPr txBox="1"/>
          <p:nvPr/>
        </p:nvSpPr>
        <p:spPr>
          <a:xfrm>
            <a:off x="548640" y="3550920"/>
            <a:ext cx="3520440" cy="457200"/>
          </a:xfrm>
          <a:prstGeom prst="rect">
            <a:avLst/>
          </a:prstGeom>
          <a:noFill/>
          <a:ln/>
        </p:spPr>
        <p:txBody>
          <a:bodyPr wrap="square" lIns="0" tIns="0" rIns="0" bIns="0" rtlCol="0" anchor="ctr"/>
          <a:lstStyle/>
          <a:p>
            <a:pPr algn="ctr" indent="0" marL="0">
              <a:buNone/>
            </a:pPr>
            <a:r>
              <a:rPr lang="en-US" sz="2200" b="1" spc="200" kern="0" dirty="0">
                <a:solidFill>
                  <a:schemeClr val="bg1"/>
                </a:solidFill>
              </a:rPr>
              <a:t>INVERSIE</a:t>
            </a:r>
            <a:endParaRPr lang="en-US" sz="2200" dirty="0"/>
          </a:p>
        </p:txBody>
      </p:sp>
      <p:sp>
        <p:nvSpPr>
          <p:cNvPr id="31" name="Text 27"/>
          <p:cNvSpPr txBox="1"/>
          <p:nvPr/>
        </p:nvSpPr>
        <p:spPr>
          <a:xfrm>
            <a:off x="548640" y="3971544"/>
            <a:ext cx="3520440" cy="301752"/>
          </a:xfrm>
          <a:prstGeom prst="rect">
            <a:avLst/>
          </a:prstGeom>
          <a:noFill/>
          <a:ln/>
        </p:spPr>
        <p:txBody>
          <a:bodyPr wrap="square" lIns="0" tIns="0" rIns="0" bIns="0" rtlCol="0" anchor="ctr"/>
          <a:lstStyle/>
          <a:p>
            <a:pPr algn="ctr" indent="0" marL="0">
              <a:buNone/>
            </a:pPr>
            <a:r>
              <a:rPr lang="en-US" sz="1400" i="1" dirty="0">
                <a:solidFill>
                  <a:schemeClr val="bg1"/>
                </a:solidFill>
              </a:rPr>
              <a:t>le verbe vient juste après</a:t>
            </a:r>
            <a:endParaRPr lang="en-US" sz="1400" dirty="0"/>
          </a:p>
        </p:txBody>
      </p:sp>
      <p:sp>
        <p:nvSpPr>
          <p:cNvPr id="32" name="Shape 28"/>
          <p:cNvSpPr/>
          <p:nvPr/>
        </p:nvSpPr>
        <p:spPr>
          <a:xfrm>
            <a:off x="4334256" y="3532632"/>
            <a:ext cx="3520440" cy="2758440"/>
          </a:xfrm>
          <a:prstGeom prst="roundRect">
            <a:avLst>
              <a:gd name="adj" fmla="val 2652"/>
            </a:avLst>
          </a:prstGeom>
          <a:solidFill>
            <a:schemeClr val="accent1">
              <a:alpha val="10000"/>
            </a:schemeClr>
          </a:solidFill>
          <a:ln w="25400">
            <a:solidFill>
              <a:srgbClr val="D9700F"/>
            </a:solidFill>
            <a:prstDash val="solid"/>
          </a:ln>
        </p:spPr>
      </p:sp>
      <p:sp>
        <p:nvSpPr>
          <p:cNvPr id="33" name="Shape 29"/>
          <p:cNvSpPr/>
          <p:nvPr/>
        </p:nvSpPr>
        <p:spPr>
          <a:xfrm>
            <a:off x="4334256" y="3532632"/>
            <a:ext cx="3520440" cy="777240"/>
          </a:xfrm>
          <a:prstGeom prst="roundRect">
            <a:avLst>
              <a:gd name="adj" fmla="val 9412"/>
            </a:avLst>
          </a:prstGeom>
          <a:solidFill>
            <a:schemeClr val="accent1"/>
          </a:solidFill>
          <a:ln w="12700">
            <a:solidFill>
              <a:srgbClr val="FFFFFF">
                <a:alpha val="0"/>
              </a:srgbClr>
            </a:solidFill>
            <a:prstDash val="solid"/>
          </a:ln>
        </p:spPr>
      </p:sp>
      <p:sp>
        <p:nvSpPr>
          <p:cNvPr id="34" name="Text 30"/>
          <p:cNvSpPr txBox="1"/>
          <p:nvPr/>
        </p:nvSpPr>
        <p:spPr>
          <a:xfrm>
            <a:off x="4334256" y="3550920"/>
            <a:ext cx="3520440" cy="457200"/>
          </a:xfrm>
          <a:prstGeom prst="rect">
            <a:avLst/>
          </a:prstGeom>
          <a:noFill/>
          <a:ln/>
        </p:spPr>
        <p:txBody>
          <a:bodyPr wrap="square" lIns="0" tIns="0" rIns="0" bIns="0" rtlCol="0" anchor="ctr"/>
          <a:lstStyle/>
          <a:p>
            <a:pPr algn="ctr" indent="0" marL="0">
              <a:buNone/>
            </a:pPr>
            <a:r>
              <a:rPr lang="en-US" sz="2200" b="1" spc="200" kern="0" dirty="0">
                <a:solidFill>
                  <a:schemeClr val="bg1"/>
                </a:solidFill>
              </a:rPr>
              <a:t>REJET</a:t>
            </a:r>
            <a:endParaRPr lang="en-US" sz="2200" dirty="0"/>
          </a:p>
        </p:txBody>
      </p:sp>
      <p:sp>
        <p:nvSpPr>
          <p:cNvPr id="35" name="Text 31"/>
          <p:cNvSpPr txBox="1"/>
          <p:nvPr/>
        </p:nvSpPr>
        <p:spPr>
          <a:xfrm>
            <a:off x="4334256" y="3971544"/>
            <a:ext cx="3520440" cy="301752"/>
          </a:xfrm>
          <a:prstGeom prst="rect">
            <a:avLst/>
          </a:prstGeom>
          <a:noFill/>
          <a:ln/>
        </p:spPr>
        <p:txBody>
          <a:bodyPr wrap="square" lIns="0" tIns="0" rIns="0" bIns="0" rtlCol="0" anchor="ctr"/>
          <a:lstStyle/>
          <a:p>
            <a:pPr algn="ctr" indent="0" marL="0">
              <a:buNone/>
            </a:pPr>
            <a:r>
              <a:rPr lang="en-US" sz="1400" i="1" dirty="0">
                <a:solidFill>
                  <a:schemeClr val="bg1"/>
                </a:solidFill>
              </a:rPr>
              <a:t>verbe à la fin</a:t>
            </a:r>
            <a:endParaRPr lang="en-US" sz="1400" dirty="0"/>
          </a:p>
        </p:txBody>
      </p:sp>
      <p:sp>
        <p:nvSpPr>
          <p:cNvPr id="36" name="Shape 32"/>
          <p:cNvSpPr/>
          <p:nvPr/>
        </p:nvSpPr>
        <p:spPr>
          <a:xfrm>
            <a:off x="8119872" y="3532632"/>
            <a:ext cx="3520440" cy="2758440"/>
          </a:xfrm>
          <a:prstGeom prst="roundRect">
            <a:avLst>
              <a:gd name="adj" fmla="val 2652"/>
            </a:avLst>
          </a:prstGeom>
          <a:solidFill>
            <a:schemeClr val="accent5">
              <a:alpha val="10000"/>
            </a:schemeClr>
          </a:solidFill>
          <a:ln w="25400">
            <a:solidFill>
              <a:srgbClr val="4A5A70"/>
            </a:solidFill>
            <a:prstDash val="solid"/>
          </a:ln>
        </p:spPr>
      </p:sp>
      <p:sp>
        <p:nvSpPr>
          <p:cNvPr id="37" name="Shape 33"/>
          <p:cNvSpPr/>
          <p:nvPr/>
        </p:nvSpPr>
        <p:spPr>
          <a:xfrm>
            <a:off x="8119872" y="3532632"/>
            <a:ext cx="3520440" cy="777240"/>
          </a:xfrm>
          <a:prstGeom prst="roundRect">
            <a:avLst>
              <a:gd name="adj" fmla="val 9412"/>
            </a:avLst>
          </a:prstGeom>
          <a:solidFill>
            <a:schemeClr val="accent5"/>
          </a:solidFill>
          <a:ln w="12700">
            <a:solidFill>
              <a:srgbClr val="FFFFFF">
                <a:alpha val="0"/>
              </a:srgbClr>
            </a:solidFill>
            <a:prstDash val="solid"/>
          </a:ln>
        </p:spPr>
      </p:sp>
      <p:sp>
        <p:nvSpPr>
          <p:cNvPr id="38" name="Text 34"/>
          <p:cNvSpPr txBox="1"/>
          <p:nvPr/>
        </p:nvSpPr>
        <p:spPr>
          <a:xfrm>
            <a:off x="8119872" y="3550920"/>
            <a:ext cx="3520440" cy="457200"/>
          </a:xfrm>
          <a:prstGeom prst="rect">
            <a:avLst/>
          </a:prstGeom>
          <a:noFill/>
          <a:ln/>
        </p:spPr>
        <p:txBody>
          <a:bodyPr wrap="square" lIns="0" tIns="0" rIns="0" bIns="0" rtlCol="0" anchor="ctr"/>
          <a:lstStyle/>
          <a:p>
            <a:pPr algn="ctr" indent="0" marL="0">
              <a:buNone/>
            </a:pPr>
            <a:r>
              <a:rPr lang="en-US" sz="2200" b="1" spc="200" kern="0" dirty="0">
                <a:solidFill>
                  <a:schemeClr val="bg1"/>
                </a:solidFill>
              </a:rPr>
              <a:t>NIETS</a:t>
            </a:r>
            <a:endParaRPr lang="en-US" sz="2200" dirty="0"/>
          </a:p>
        </p:txBody>
      </p:sp>
      <p:sp>
        <p:nvSpPr>
          <p:cNvPr id="39" name="Text 35"/>
          <p:cNvSpPr txBox="1"/>
          <p:nvPr/>
        </p:nvSpPr>
        <p:spPr>
          <a:xfrm>
            <a:off x="8119872" y="3971544"/>
            <a:ext cx="3520440" cy="301752"/>
          </a:xfrm>
          <a:prstGeom prst="rect">
            <a:avLst/>
          </a:prstGeom>
          <a:noFill/>
          <a:ln/>
        </p:spPr>
        <p:txBody>
          <a:bodyPr wrap="square" lIns="0" tIns="0" rIns="0" bIns="0" rtlCol="0" anchor="ctr"/>
          <a:lstStyle/>
          <a:p>
            <a:pPr algn="ctr" indent="0" marL="0">
              <a:buNone/>
            </a:pPr>
            <a:r>
              <a:rPr lang="en-US" sz="1400" i="1" dirty="0">
                <a:solidFill>
                  <a:schemeClr val="bg1"/>
                </a:solidFill>
              </a:rPr>
              <a:t>rien ne bouge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Inversion, rejet ou rien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 se passe-t-il après chaque mot ? Classez-les.</a:t>
            </a:r>
            <a:endParaRPr lang="en-US" sz="1700" dirty="0"/>
          </a:p>
        </p:txBody>
      </p:sp>
      <p:sp>
        <p:nvSpPr>
          <p:cNvPr id="9" name="Shape 5"/>
          <p:cNvSpPr/>
          <p:nvPr/>
        </p:nvSpPr>
        <p:spPr>
          <a:xfrm>
            <a:off x="548640" y="2023872"/>
            <a:ext cx="3520440" cy="4267200"/>
          </a:xfrm>
          <a:prstGeom prst="roundRect">
            <a:avLst>
              <a:gd name="adj" fmla="val 2078"/>
            </a:avLst>
          </a:prstGeom>
          <a:solidFill>
            <a:schemeClr val="accent2">
              <a:alpha val="10000"/>
            </a:schemeClr>
          </a:solidFill>
          <a:ln w="25400">
            <a:solidFill>
              <a:srgbClr val="2A6FB0"/>
            </a:solidFill>
            <a:prstDash val="solid"/>
          </a:ln>
        </p:spPr>
      </p:sp>
      <p:sp>
        <p:nvSpPr>
          <p:cNvPr id="10" name="Shape 6"/>
          <p:cNvSpPr/>
          <p:nvPr/>
        </p:nvSpPr>
        <p:spPr>
          <a:xfrm>
            <a:off x="548640" y="2023872"/>
            <a:ext cx="3520440" cy="777240"/>
          </a:xfrm>
          <a:prstGeom prst="roundRect">
            <a:avLst>
              <a:gd name="adj" fmla="val 9412"/>
            </a:avLst>
          </a:prstGeom>
          <a:solidFill>
            <a:schemeClr val="accent2"/>
          </a:solidFill>
          <a:ln w="12700">
            <a:solidFill>
              <a:srgbClr val="FFFFFF">
                <a:alpha val="0"/>
              </a:srgbClr>
            </a:solidFill>
            <a:prstDash val="solid"/>
          </a:ln>
        </p:spPr>
      </p:sp>
      <p:sp>
        <p:nvSpPr>
          <p:cNvPr id="11" name="Text 7"/>
          <p:cNvSpPr txBox="1"/>
          <p:nvPr/>
        </p:nvSpPr>
        <p:spPr>
          <a:xfrm>
            <a:off x="548640" y="2042160"/>
            <a:ext cx="3520440" cy="457200"/>
          </a:xfrm>
          <a:prstGeom prst="rect">
            <a:avLst/>
          </a:prstGeom>
          <a:noFill/>
          <a:ln/>
        </p:spPr>
        <p:txBody>
          <a:bodyPr wrap="square" lIns="0" tIns="0" rIns="0" bIns="0" rtlCol="0" anchor="ctr"/>
          <a:lstStyle/>
          <a:p>
            <a:pPr algn="ctr" indent="0" marL="0">
              <a:buNone/>
            </a:pPr>
            <a:r>
              <a:rPr lang="en-US" sz="2200" b="1" spc="200" kern="0" dirty="0">
                <a:solidFill>
                  <a:schemeClr val="bg1"/>
                </a:solidFill>
              </a:rPr>
              <a:t>INVERSIE</a:t>
            </a:r>
            <a:endParaRPr lang="en-US" sz="2200" dirty="0"/>
          </a:p>
        </p:txBody>
      </p:sp>
      <p:sp>
        <p:nvSpPr>
          <p:cNvPr id="12" name="Text 8"/>
          <p:cNvSpPr txBox="1"/>
          <p:nvPr/>
        </p:nvSpPr>
        <p:spPr>
          <a:xfrm>
            <a:off x="548640" y="2462784"/>
            <a:ext cx="3520440" cy="301752"/>
          </a:xfrm>
          <a:prstGeom prst="rect">
            <a:avLst/>
          </a:prstGeom>
          <a:noFill/>
          <a:ln/>
        </p:spPr>
        <p:txBody>
          <a:bodyPr wrap="square" lIns="0" tIns="0" rIns="0" bIns="0" rtlCol="0" anchor="ctr"/>
          <a:lstStyle/>
          <a:p>
            <a:pPr algn="ctr" indent="0" marL="0">
              <a:buNone/>
            </a:pPr>
            <a:r>
              <a:rPr lang="en-US" sz="1400" i="1" dirty="0">
                <a:solidFill>
                  <a:schemeClr val="bg1"/>
                </a:solidFill>
              </a:rPr>
              <a:t>le verbe vient juste après</a:t>
            </a:r>
            <a:endParaRPr lang="en-US" sz="1400" dirty="0"/>
          </a:p>
        </p:txBody>
      </p:sp>
      <p:sp>
        <p:nvSpPr>
          <p:cNvPr id="13" name="Text 9"/>
          <p:cNvSpPr txBox="1"/>
          <p:nvPr/>
        </p:nvSpPr>
        <p:spPr>
          <a:xfrm>
            <a:off x="548640" y="2938272"/>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gisteren</a:t>
            </a:r>
            <a:endParaRPr lang="en-US" sz="2600" dirty="0"/>
          </a:p>
        </p:txBody>
      </p:sp>
      <p:sp>
        <p:nvSpPr>
          <p:cNvPr id="14" name="Text 10"/>
          <p:cNvSpPr txBox="1"/>
          <p:nvPr/>
        </p:nvSpPr>
        <p:spPr>
          <a:xfrm>
            <a:off x="548640" y="3505200"/>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dikwijls</a:t>
            </a:r>
            <a:endParaRPr lang="en-US" sz="2600" dirty="0"/>
          </a:p>
        </p:txBody>
      </p:sp>
      <p:sp>
        <p:nvSpPr>
          <p:cNvPr id="15" name="Text 11"/>
          <p:cNvSpPr txBox="1"/>
          <p:nvPr/>
        </p:nvSpPr>
        <p:spPr>
          <a:xfrm>
            <a:off x="548640" y="4072128"/>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soms</a:t>
            </a:r>
            <a:endParaRPr lang="en-US" sz="2600" dirty="0"/>
          </a:p>
        </p:txBody>
      </p:sp>
      <p:sp>
        <p:nvSpPr>
          <p:cNvPr id="16" name="Text 12"/>
          <p:cNvSpPr txBox="1"/>
          <p:nvPr/>
        </p:nvSpPr>
        <p:spPr>
          <a:xfrm>
            <a:off x="548640" y="4639056"/>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morgen</a:t>
            </a:r>
            <a:endParaRPr lang="en-US" sz="2600" dirty="0"/>
          </a:p>
        </p:txBody>
      </p:sp>
      <p:sp>
        <p:nvSpPr>
          <p:cNvPr id="17" name="Shape 13"/>
          <p:cNvSpPr/>
          <p:nvPr/>
        </p:nvSpPr>
        <p:spPr>
          <a:xfrm>
            <a:off x="4334256" y="2023872"/>
            <a:ext cx="3520440" cy="4267200"/>
          </a:xfrm>
          <a:prstGeom prst="roundRect">
            <a:avLst>
              <a:gd name="adj" fmla="val 2078"/>
            </a:avLst>
          </a:prstGeom>
          <a:solidFill>
            <a:schemeClr val="accent1">
              <a:alpha val="10000"/>
            </a:schemeClr>
          </a:solidFill>
          <a:ln w="25400">
            <a:solidFill>
              <a:srgbClr val="D9700F"/>
            </a:solidFill>
            <a:prstDash val="solid"/>
          </a:ln>
        </p:spPr>
      </p:sp>
      <p:sp>
        <p:nvSpPr>
          <p:cNvPr id="18" name="Shape 14"/>
          <p:cNvSpPr/>
          <p:nvPr/>
        </p:nvSpPr>
        <p:spPr>
          <a:xfrm>
            <a:off x="4334256" y="2023872"/>
            <a:ext cx="3520440" cy="777240"/>
          </a:xfrm>
          <a:prstGeom prst="roundRect">
            <a:avLst>
              <a:gd name="adj" fmla="val 9412"/>
            </a:avLst>
          </a:prstGeom>
          <a:solidFill>
            <a:schemeClr val="accent1"/>
          </a:solidFill>
          <a:ln w="12700">
            <a:solidFill>
              <a:srgbClr val="FFFFFF">
                <a:alpha val="0"/>
              </a:srgbClr>
            </a:solidFill>
            <a:prstDash val="solid"/>
          </a:ln>
        </p:spPr>
      </p:sp>
      <p:sp>
        <p:nvSpPr>
          <p:cNvPr id="19" name="Text 15"/>
          <p:cNvSpPr txBox="1"/>
          <p:nvPr/>
        </p:nvSpPr>
        <p:spPr>
          <a:xfrm>
            <a:off x="4334256" y="2042160"/>
            <a:ext cx="3520440" cy="457200"/>
          </a:xfrm>
          <a:prstGeom prst="rect">
            <a:avLst/>
          </a:prstGeom>
          <a:noFill/>
          <a:ln/>
        </p:spPr>
        <p:txBody>
          <a:bodyPr wrap="square" lIns="0" tIns="0" rIns="0" bIns="0" rtlCol="0" anchor="ctr"/>
          <a:lstStyle/>
          <a:p>
            <a:pPr algn="ctr" indent="0" marL="0">
              <a:buNone/>
            </a:pPr>
            <a:r>
              <a:rPr lang="en-US" sz="2200" b="1" spc="200" kern="0" dirty="0">
                <a:solidFill>
                  <a:schemeClr val="bg1"/>
                </a:solidFill>
              </a:rPr>
              <a:t>REJET</a:t>
            </a:r>
            <a:endParaRPr lang="en-US" sz="2200" dirty="0"/>
          </a:p>
        </p:txBody>
      </p:sp>
      <p:sp>
        <p:nvSpPr>
          <p:cNvPr id="20" name="Text 16"/>
          <p:cNvSpPr txBox="1"/>
          <p:nvPr/>
        </p:nvSpPr>
        <p:spPr>
          <a:xfrm>
            <a:off x="4334256" y="2462784"/>
            <a:ext cx="3520440" cy="301752"/>
          </a:xfrm>
          <a:prstGeom prst="rect">
            <a:avLst/>
          </a:prstGeom>
          <a:noFill/>
          <a:ln/>
        </p:spPr>
        <p:txBody>
          <a:bodyPr wrap="square" lIns="0" tIns="0" rIns="0" bIns="0" rtlCol="0" anchor="ctr"/>
          <a:lstStyle/>
          <a:p>
            <a:pPr algn="ctr" indent="0" marL="0">
              <a:buNone/>
            </a:pPr>
            <a:r>
              <a:rPr lang="en-US" sz="1400" i="1" dirty="0">
                <a:solidFill>
                  <a:schemeClr val="bg1"/>
                </a:solidFill>
              </a:rPr>
              <a:t>verbe à la fin</a:t>
            </a:r>
            <a:endParaRPr lang="en-US" sz="1400" dirty="0"/>
          </a:p>
        </p:txBody>
      </p:sp>
      <p:sp>
        <p:nvSpPr>
          <p:cNvPr id="21" name="Text 17"/>
          <p:cNvSpPr txBox="1"/>
          <p:nvPr/>
        </p:nvSpPr>
        <p:spPr>
          <a:xfrm>
            <a:off x="4334256" y="2938272"/>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omdat</a:t>
            </a:r>
            <a:endParaRPr lang="en-US" sz="2600" dirty="0"/>
          </a:p>
        </p:txBody>
      </p:sp>
      <p:sp>
        <p:nvSpPr>
          <p:cNvPr id="22" name="Text 18"/>
          <p:cNvSpPr txBox="1"/>
          <p:nvPr/>
        </p:nvSpPr>
        <p:spPr>
          <a:xfrm>
            <a:off x="4334256" y="3505200"/>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als</a:t>
            </a:r>
            <a:endParaRPr lang="en-US" sz="2600" dirty="0"/>
          </a:p>
        </p:txBody>
      </p:sp>
      <p:sp>
        <p:nvSpPr>
          <p:cNvPr id="23" name="Text 19"/>
          <p:cNvSpPr txBox="1"/>
          <p:nvPr/>
        </p:nvSpPr>
        <p:spPr>
          <a:xfrm>
            <a:off x="4334256" y="4072128"/>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dat</a:t>
            </a:r>
            <a:endParaRPr lang="en-US" sz="2600" dirty="0"/>
          </a:p>
        </p:txBody>
      </p:sp>
      <p:sp>
        <p:nvSpPr>
          <p:cNvPr id="24" name="Shape 20"/>
          <p:cNvSpPr/>
          <p:nvPr/>
        </p:nvSpPr>
        <p:spPr>
          <a:xfrm>
            <a:off x="8119872" y="2023872"/>
            <a:ext cx="3520440" cy="4267200"/>
          </a:xfrm>
          <a:prstGeom prst="roundRect">
            <a:avLst>
              <a:gd name="adj" fmla="val 2078"/>
            </a:avLst>
          </a:prstGeom>
          <a:solidFill>
            <a:schemeClr val="accent5">
              <a:alpha val="10000"/>
            </a:schemeClr>
          </a:solidFill>
          <a:ln w="25400">
            <a:solidFill>
              <a:srgbClr val="4A5A70"/>
            </a:solidFill>
            <a:prstDash val="solid"/>
          </a:ln>
        </p:spPr>
      </p:sp>
      <p:sp>
        <p:nvSpPr>
          <p:cNvPr id="25" name="Shape 21"/>
          <p:cNvSpPr/>
          <p:nvPr/>
        </p:nvSpPr>
        <p:spPr>
          <a:xfrm>
            <a:off x="8119872" y="2023872"/>
            <a:ext cx="3520440" cy="777240"/>
          </a:xfrm>
          <a:prstGeom prst="roundRect">
            <a:avLst>
              <a:gd name="adj" fmla="val 9412"/>
            </a:avLst>
          </a:prstGeom>
          <a:solidFill>
            <a:schemeClr val="accent5"/>
          </a:solidFill>
          <a:ln w="12700">
            <a:solidFill>
              <a:srgbClr val="FFFFFF">
                <a:alpha val="0"/>
              </a:srgbClr>
            </a:solidFill>
            <a:prstDash val="solid"/>
          </a:ln>
        </p:spPr>
      </p:sp>
      <p:sp>
        <p:nvSpPr>
          <p:cNvPr id="26" name="Text 22"/>
          <p:cNvSpPr txBox="1"/>
          <p:nvPr/>
        </p:nvSpPr>
        <p:spPr>
          <a:xfrm>
            <a:off x="8119872" y="2042160"/>
            <a:ext cx="3520440" cy="457200"/>
          </a:xfrm>
          <a:prstGeom prst="rect">
            <a:avLst/>
          </a:prstGeom>
          <a:noFill/>
          <a:ln/>
        </p:spPr>
        <p:txBody>
          <a:bodyPr wrap="square" lIns="0" tIns="0" rIns="0" bIns="0" rtlCol="0" anchor="ctr"/>
          <a:lstStyle/>
          <a:p>
            <a:pPr algn="ctr" indent="0" marL="0">
              <a:buNone/>
            </a:pPr>
            <a:r>
              <a:rPr lang="en-US" sz="2200" b="1" spc="200" kern="0" dirty="0">
                <a:solidFill>
                  <a:schemeClr val="bg1"/>
                </a:solidFill>
              </a:rPr>
              <a:t>NIETS</a:t>
            </a:r>
            <a:endParaRPr lang="en-US" sz="2200" dirty="0"/>
          </a:p>
        </p:txBody>
      </p:sp>
      <p:sp>
        <p:nvSpPr>
          <p:cNvPr id="27" name="Text 23"/>
          <p:cNvSpPr txBox="1"/>
          <p:nvPr/>
        </p:nvSpPr>
        <p:spPr>
          <a:xfrm>
            <a:off x="8119872" y="2462784"/>
            <a:ext cx="3520440" cy="301752"/>
          </a:xfrm>
          <a:prstGeom prst="rect">
            <a:avLst/>
          </a:prstGeom>
          <a:noFill/>
          <a:ln/>
        </p:spPr>
        <p:txBody>
          <a:bodyPr wrap="square" lIns="0" tIns="0" rIns="0" bIns="0" rtlCol="0" anchor="ctr"/>
          <a:lstStyle/>
          <a:p>
            <a:pPr algn="ctr" indent="0" marL="0">
              <a:buNone/>
            </a:pPr>
            <a:r>
              <a:rPr lang="en-US" sz="1400" i="1" dirty="0">
                <a:solidFill>
                  <a:schemeClr val="bg1"/>
                </a:solidFill>
              </a:rPr>
              <a:t>rien ne bouge</a:t>
            </a:r>
            <a:endParaRPr lang="en-US" sz="1400" dirty="0"/>
          </a:p>
        </p:txBody>
      </p:sp>
      <p:sp>
        <p:nvSpPr>
          <p:cNvPr id="28" name="Text 24"/>
          <p:cNvSpPr txBox="1"/>
          <p:nvPr/>
        </p:nvSpPr>
        <p:spPr>
          <a:xfrm>
            <a:off x="8119872" y="2938272"/>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want</a:t>
            </a:r>
            <a:endParaRPr lang="en-US" sz="2600" dirty="0"/>
          </a:p>
        </p:txBody>
      </p:sp>
      <p:sp>
        <p:nvSpPr>
          <p:cNvPr id="29" name="Text 25"/>
          <p:cNvSpPr txBox="1"/>
          <p:nvPr/>
        </p:nvSpPr>
        <p:spPr>
          <a:xfrm>
            <a:off x="8119872" y="3505200"/>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en</a:t>
            </a:r>
            <a:endParaRPr lang="en-US" sz="2600" dirty="0"/>
          </a:p>
        </p:txBody>
      </p:sp>
      <p:sp>
        <p:nvSpPr>
          <p:cNvPr id="30" name="Text 26"/>
          <p:cNvSpPr txBox="1"/>
          <p:nvPr/>
        </p:nvSpPr>
        <p:spPr>
          <a:xfrm>
            <a:off x="8119872" y="4072128"/>
            <a:ext cx="3520440" cy="502920"/>
          </a:xfrm>
          <a:prstGeom prst="rect">
            <a:avLst/>
          </a:prstGeom>
          <a:noFill/>
          <a:ln/>
        </p:spPr>
        <p:txBody>
          <a:bodyPr wrap="square" lIns="0" tIns="0" rIns="0" bIns="0" rtlCol="0" anchor="ctr"/>
          <a:lstStyle/>
          <a:p>
            <a:pPr algn="ctr" indent="0" marL="0">
              <a:buNone/>
            </a:pPr>
            <a:r>
              <a:rPr lang="en-US" sz="2600" b="1" i="1" dirty="0">
                <a:solidFill>
                  <a:schemeClr val="tx1"/>
                </a:solidFill>
              </a:rPr>
              <a:t>maar</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Du pont au wagon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Remplacez want par omdat : attention au verbe !</a:t>
            </a:r>
            <a:endParaRPr lang="en-US" sz="1700" dirty="0"/>
          </a:p>
        </p:txBody>
      </p:sp>
      <p:sp>
        <p:nvSpPr>
          <p:cNvPr id="8" name="Shape 4"/>
          <p:cNvSpPr/>
          <p:nvPr/>
        </p:nvSpPr>
        <p:spPr>
          <a:xfrm>
            <a:off x="548640" y="2112772"/>
            <a:ext cx="365760" cy="365760"/>
          </a:xfrm>
          <a:prstGeom prst="ellipse">
            <a:avLst/>
          </a:prstGeom>
          <a:solidFill>
            <a:schemeClr val="accent2"/>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005840" y="197815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11" name="Text 7"/>
          <p:cNvSpPr txBox="1"/>
          <p:nvPr/>
        </p:nvSpPr>
        <p:spPr>
          <a:xfrm>
            <a:off x="1143000" y="197815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Ik neem de trein, want ik heb geen auto.</a:t>
            </a:r>
            <a:endParaRPr lang="en-US" sz="1800" dirty="0"/>
          </a:p>
        </p:txBody>
      </p:sp>
      <p:sp>
        <p:nvSpPr>
          <p:cNvPr id="12" name="Shape 8"/>
          <p:cNvSpPr/>
          <p:nvPr/>
        </p:nvSpPr>
        <p:spPr>
          <a:xfrm>
            <a:off x="6492240" y="2268220"/>
            <a:ext cx="594360" cy="914"/>
          </a:xfrm>
          <a:prstGeom prst="line">
            <a:avLst/>
          </a:prstGeom>
          <a:noFill/>
          <a:ln w="38100">
            <a:solidFill>
              <a:srgbClr val="D9700F"/>
            </a:solidFill>
            <a:prstDash val="solid"/>
            <a:tailEnd type="triangle"/>
          </a:ln>
        </p:spPr>
      </p:sp>
      <p:sp>
        <p:nvSpPr>
          <p:cNvPr id="13" name="Text 9"/>
          <p:cNvSpPr txBox="1"/>
          <p:nvPr/>
        </p:nvSpPr>
        <p:spPr>
          <a:xfrm>
            <a:off x="6400800" y="193243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14" name="Shape 10"/>
          <p:cNvSpPr/>
          <p:nvPr/>
        </p:nvSpPr>
        <p:spPr>
          <a:xfrm>
            <a:off x="7132320" y="1978152"/>
            <a:ext cx="4507992" cy="616712"/>
          </a:xfrm>
          <a:prstGeom prst="roundRect">
            <a:avLst>
              <a:gd name="adj" fmla="val 11862"/>
            </a:avLst>
          </a:prstGeom>
          <a:solidFill>
            <a:schemeClr val="bg1"/>
          </a:solidFill>
          <a:ln w="15875">
            <a:solidFill>
              <a:srgbClr val="D9700F"/>
            </a:solidFill>
            <a:prstDash val="solid"/>
          </a:ln>
        </p:spPr>
      </p:sp>
      <p:sp>
        <p:nvSpPr>
          <p:cNvPr id="15" name="Shape 11"/>
          <p:cNvSpPr/>
          <p:nvPr/>
        </p:nvSpPr>
        <p:spPr>
          <a:xfrm>
            <a:off x="548640" y="2839212"/>
            <a:ext cx="365760" cy="365760"/>
          </a:xfrm>
          <a:prstGeom prst="ellipse">
            <a:avLst/>
          </a:prstGeom>
          <a:solidFill>
            <a:schemeClr val="accent2"/>
          </a:solidFill>
          <a:ln w="12700">
            <a:solidFill>
              <a:srgbClr val="FFFFFF">
                <a:alpha val="0"/>
              </a:srgbClr>
            </a:solidFill>
            <a:prstDash val="solid"/>
          </a:ln>
        </p:spPr>
      </p:sp>
      <p:sp>
        <p:nvSpPr>
          <p:cNvPr id="16" name="Text 12"/>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Shape 13"/>
          <p:cNvSpPr/>
          <p:nvPr/>
        </p:nvSpPr>
        <p:spPr>
          <a:xfrm>
            <a:off x="1005840" y="270459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18" name="Text 14"/>
          <p:cNvSpPr txBox="1"/>
          <p:nvPr/>
        </p:nvSpPr>
        <p:spPr>
          <a:xfrm>
            <a:off x="1143000" y="270459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Sofie is blij, want het is vrijdag.</a:t>
            </a:r>
            <a:endParaRPr lang="en-US" sz="1800" dirty="0"/>
          </a:p>
        </p:txBody>
      </p:sp>
      <p:sp>
        <p:nvSpPr>
          <p:cNvPr id="19" name="Shape 15"/>
          <p:cNvSpPr/>
          <p:nvPr/>
        </p:nvSpPr>
        <p:spPr>
          <a:xfrm>
            <a:off x="6492240" y="2994660"/>
            <a:ext cx="594360" cy="914"/>
          </a:xfrm>
          <a:prstGeom prst="line">
            <a:avLst/>
          </a:prstGeom>
          <a:noFill/>
          <a:ln w="38100">
            <a:solidFill>
              <a:srgbClr val="D9700F"/>
            </a:solidFill>
            <a:prstDash val="solid"/>
            <a:tailEnd type="triangle"/>
          </a:ln>
        </p:spPr>
      </p:sp>
      <p:sp>
        <p:nvSpPr>
          <p:cNvPr id="20" name="Text 16"/>
          <p:cNvSpPr txBox="1"/>
          <p:nvPr/>
        </p:nvSpPr>
        <p:spPr>
          <a:xfrm>
            <a:off x="6400800" y="265887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21" name="Shape 17"/>
          <p:cNvSpPr/>
          <p:nvPr/>
        </p:nvSpPr>
        <p:spPr>
          <a:xfrm>
            <a:off x="7132320" y="2704592"/>
            <a:ext cx="4507992" cy="616712"/>
          </a:xfrm>
          <a:prstGeom prst="roundRect">
            <a:avLst>
              <a:gd name="adj" fmla="val 11862"/>
            </a:avLst>
          </a:prstGeom>
          <a:solidFill>
            <a:schemeClr val="bg1"/>
          </a:solidFill>
          <a:ln w="15875">
            <a:solidFill>
              <a:srgbClr val="D9700F"/>
            </a:solidFill>
            <a:prstDash val="solid"/>
          </a:ln>
        </p:spPr>
      </p:sp>
      <p:sp>
        <p:nvSpPr>
          <p:cNvPr id="22" name="Shape 18"/>
          <p:cNvSpPr/>
          <p:nvPr/>
        </p:nvSpPr>
        <p:spPr>
          <a:xfrm>
            <a:off x="548640" y="3565652"/>
            <a:ext cx="365760" cy="365760"/>
          </a:xfrm>
          <a:prstGeom prst="ellipse">
            <a:avLst/>
          </a:prstGeom>
          <a:solidFill>
            <a:schemeClr val="accent2"/>
          </a:solidFill>
          <a:ln w="12700">
            <a:solidFill>
              <a:srgbClr val="FFFFFF">
                <a:alpha val="0"/>
              </a:srgbClr>
            </a:solidFill>
            <a:prstDash val="solid"/>
          </a:ln>
        </p:spPr>
      </p:sp>
      <p:sp>
        <p:nvSpPr>
          <p:cNvPr id="23" name="Text 19"/>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Shape 20"/>
          <p:cNvSpPr/>
          <p:nvPr/>
        </p:nvSpPr>
        <p:spPr>
          <a:xfrm>
            <a:off x="1005840" y="343103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25" name="Text 21"/>
          <p:cNvSpPr txBox="1"/>
          <p:nvPr/>
        </p:nvSpPr>
        <p:spPr>
          <a:xfrm>
            <a:off x="1143000" y="343103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Karim belt de klant, want hij heeft een vraag.</a:t>
            </a:r>
            <a:endParaRPr lang="en-US" sz="1800" dirty="0"/>
          </a:p>
        </p:txBody>
      </p:sp>
      <p:sp>
        <p:nvSpPr>
          <p:cNvPr id="26" name="Shape 22"/>
          <p:cNvSpPr/>
          <p:nvPr/>
        </p:nvSpPr>
        <p:spPr>
          <a:xfrm>
            <a:off x="6492240" y="3721100"/>
            <a:ext cx="594360" cy="914"/>
          </a:xfrm>
          <a:prstGeom prst="line">
            <a:avLst/>
          </a:prstGeom>
          <a:noFill/>
          <a:ln w="38100">
            <a:solidFill>
              <a:srgbClr val="D9700F"/>
            </a:solidFill>
            <a:prstDash val="solid"/>
            <a:tailEnd type="triangle"/>
          </a:ln>
        </p:spPr>
      </p:sp>
      <p:sp>
        <p:nvSpPr>
          <p:cNvPr id="27" name="Text 23"/>
          <p:cNvSpPr txBox="1"/>
          <p:nvPr/>
        </p:nvSpPr>
        <p:spPr>
          <a:xfrm>
            <a:off x="6400800" y="338531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28" name="Shape 24"/>
          <p:cNvSpPr/>
          <p:nvPr/>
        </p:nvSpPr>
        <p:spPr>
          <a:xfrm>
            <a:off x="7132320" y="3431032"/>
            <a:ext cx="4507992" cy="616712"/>
          </a:xfrm>
          <a:prstGeom prst="roundRect">
            <a:avLst>
              <a:gd name="adj" fmla="val 11862"/>
            </a:avLst>
          </a:prstGeom>
          <a:solidFill>
            <a:schemeClr val="bg1"/>
          </a:solidFill>
          <a:ln w="15875">
            <a:solidFill>
              <a:srgbClr val="D9700F"/>
            </a:solidFill>
            <a:prstDash val="solid"/>
          </a:ln>
        </p:spPr>
      </p:sp>
      <p:sp>
        <p:nvSpPr>
          <p:cNvPr id="29" name="Shape 25"/>
          <p:cNvSpPr/>
          <p:nvPr/>
        </p:nvSpPr>
        <p:spPr>
          <a:xfrm>
            <a:off x="548640" y="4292092"/>
            <a:ext cx="365760" cy="365760"/>
          </a:xfrm>
          <a:prstGeom prst="ellipse">
            <a:avLst/>
          </a:prstGeom>
          <a:solidFill>
            <a:schemeClr val="accent2"/>
          </a:solidFill>
          <a:ln w="12700">
            <a:solidFill>
              <a:srgbClr val="FFFFFF">
                <a:alpha val="0"/>
              </a:srgbClr>
            </a:solidFill>
            <a:prstDash val="solid"/>
          </a:ln>
        </p:spPr>
      </p:sp>
      <p:sp>
        <p:nvSpPr>
          <p:cNvPr id="30" name="Text 26"/>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1" name="Shape 27"/>
          <p:cNvSpPr/>
          <p:nvPr/>
        </p:nvSpPr>
        <p:spPr>
          <a:xfrm>
            <a:off x="1005840" y="415747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32" name="Text 28"/>
          <p:cNvSpPr txBox="1"/>
          <p:nvPr/>
        </p:nvSpPr>
        <p:spPr>
          <a:xfrm>
            <a:off x="1143000" y="415747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We eten in de kantine, want het is goedkoop.</a:t>
            </a:r>
            <a:endParaRPr lang="en-US" sz="1800" dirty="0"/>
          </a:p>
        </p:txBody>
      </p:sp>
      <p:sp>
        <p:nvSpPr>
          <p:cNvPr id="33" name="Shape 29"/>
          <p:cNvSpPr/>
          <p:nvPr/>
        </p:nvSpPr>
        <p:spPr>
          <a:xfrm>
            <a:off x="6492240" y="4447540"/>
            <a:ext cx="594360" cy="914"/>
          </a:xfrm>
          <a:prstGeom prst="line">
            <a:avLst/>
          </a:prstGeom>
          <a:noFill/>
          <a:ln w="38100">
            <a:solidFill>
              <a:srgbClr val="D9700F"/>
            </a:solidFill>
            <a:prstDash val="solid"/>
            <a:tailEnd type="triangle"/>
          </a:ln>
        </p:spPr>
      </p:sp>
      <p:sp>
        <p:nvSpPr>
          <p:cNvPr id="34" name="Text 30"/>
          <p:cNvSpPr txBox="1"/>
          <p:nvPr/>
        </p:nvSpPr>
        <p:spPr>
          <a:xfrm>
            <a:off x="6400800" y="411175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35" name="Shape 31"/>
          <p:cNvSpPr/>
          <p:nvPr/>
        </p:nvSpPr>
        <p:spPr>
          <a:xfrm>
            <a:off x="7132320" y="4157472"/>
            <a:ext cx="4507992" cy="616712"/>
          </a:xfrm>
          <a:prstGeom prst="roundRect">
            <a:avLst>
              <a:gd name="adj" fmla="val 11862"/>
            </a:avLst>
          </a:prstGeom>
          <a:solidFill>
            <a:schemeClr val="bg1"/>
          </a:solidFill>
          <a:ln w="15875">
            <a:solidFill>
              <a:srgbClr val="D9700F"/>
            </a:solidFill>
            <a:prstDash val="solid"/>
          </a:ln>
        </p:spPr>
      </p:sp>
      <p:sp>
        <p:nvSpPr>
          <p:cNvPr id="36" name="Shape 32"/>
          <p:cNvSpPr/>
          <p:nvPr/>
        </p:nvSpPr>
        <p:spPr>
          <a:xfrm>
            <a:off x="548640" y="5018532"/>
            <a:ext cx="365760" cy="365760"/>
          </a:xfrm>
          <a:prstGeom prst="ellipse">
            <a:avLst/>
          </a:prstGeom>
          <a:solidFill>
            <a:schemeClr val="accent2"/>
          </a:solidFill>
          <a:ln w="12700">
            <a:solidFill>
              <a:srgbClr val="FFFFFF">
                <a:alpha val="0"/>
              </a:srgbClr>
            </a:solidFill>
            <a:prstDash val="solid"/>
          </a:ln>
        </p:spPr>
      </p:sp>
      <p:sp>
        <p:nvSpPr>
          <p:cNvPr id="37" name="Text 33"/>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8" name="Shape 34"/>
          <p:cNvSpPr/>
          <p:nvPr/>
        </p:nvSpPr>
        <p:spPr>
          <a:xfrm>
            <a:off x="1005840" y="488391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39" name="Text 35"/>
          <p:cNvSpPr txBox="1"/>
          <p:nvPr/>
        </p:nvSpPr>
        <p:spPr>
          <a:xfrm>
            <a:off x="1143000" y="488391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Ik leer Nederlands, want ik werk in Brussel.</a:t>
            </a:r>
            <a:endParaRPr lang="en-US" sz="1800" dirty="0"/>
          </a:p>
        </p:txBody>
      </p:sp>
      <p:sp>
        <p:nvSpPr>
          <p:cNvPr id="40" name="Shape 36"/>
          <p:cNvSpPr/>
          <p:nvPr/>
        </p:nvSpPr>
        <p:spPr>
          <a:xfrm>
            <a:off x="6492240" y="5173980"/>
            <a:ext cx="594360" cy="914"/>
          </a:xfrm>
          <a:prstGeom prst="line">
            <a:avLst/>
          </a:prstGeom>
          <a:noFill/>
          <a:ln w="38100">
            <a:solidFill>
              <a:srgbClr val="D9700F"/>
            </a:solidFill>
            <a:prstDash val="solid"/>
            <a:tailEnd type="triangle"/>
          </a:ln>
        </p:spPr>
      </p:sp>
      <p:sp>
        <p:nvSpPr>
          <p:cNvPr id="41" name="Text 37"/>
          <p:cNvSpPr txBox="1"/>
          <p:nvPr/>
        </p:nvSpPr>
        <p:spPr>
          <a:xfrm>
            <a:off x="6400800" y="483819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42" name="Shape 38"/>
          <p:cNvSpPr/>
          <p:nvPr/>
        </p:nvSpPr>
        <p:spPr>
          <a:xfrm>
            <a:off x="7132320" y="4883912"/>
            <a:ext cx="4507992" cy="616712"/>
          </a:xfrm>
          <a:prstGeom prst="roundRect">
            <a:avLst>
              <a:gd name="adj" fmla="val 11862"/>
            </a:avLst>
          </a:prstGeom>
          <a:solidFill>
            <a:schemeClr val="bg1"/>
          </a:solidFill>
          <a:ln w="15875">
            <a:solidFill>
              <a:srgbClr val="D9700F"/>
            </a:solidFill>
            <a:prstDash val="solid"/>
          </a:ln>
        </p:spPr>
      </p:sp>
      <p:sp>
        <p:nvSpPr>
          <p:cNvPr id="43" name="Shape 39"/>
          <p:cNvSpPr/>
          <p:nvPr/>
        </p:nvSpPr>
        <p:spPr>
          <a:xfrm>
            <a:off x="548640" y="5744972"/>
            <a:ext cx="365760" cy="365760"/>
          </a:xfrm>
          <a:prstGeom prst="ellipse">
            <a:avLst/>
          </a:prstGeom>
          <a:solidFill>
            <a:schemeClr val="accent2"/>
          </a:solidFill>
          <a:ln w="12700">
            <a:solidFill>
              <a:srgbClr val="FFFFFF">
                <a:alpha val="0"/>
              </a:srgbClr>
            </a:solidFill>
            <a:prstDash val="solid"/>
          </a:ln>
        </p:spPr>
      </p:sp>
      <p:sp>
        <p:nvSpPr>
          <p:cNvPr id="44" name="Text 40"/>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Shape 41"/>
          <p:cNvSpPr/>
          <p:nvPr/>
        </p:nvSpPr>
        <p:spPr>
          <a:xfrm>
            <a:off x="1005840" y="561035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46" name="Text 42"/>
          <p:cNvSpPr txBox="1"/>
          <p:nvPr/>
        </p:nvSpPr>
        <p:spPr>
          <a:xfrm>
            <a:off x="1143000" y="561035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Ik kom niet, want ik moet werken.</a:t>
            </a:r>
            <a:endParaRPr lang="en-US" sz="1800" dirty="0"/>
          </a:p>
        </p:txBody>
      </p:sp>
      <p:sp>
        <p:nvSpPr>
          <p:cNvPr id="47" name="Shape 43"/>
          <p:cNvSpPr/>
          <p:nvPr/>
        </p:nvSpPr>
        <p:spPr>
          <a:xfrm>
            <a:off x="6492240" y="5900420"/>
            <a:ext cx="594360" cy="914"/>
          </a:xfrm>
          <a:prstGeom prst="line">
            <a:avLst/>
          </a:prstGeom>
          <a:noFill/>
          <a:ln w="38100">
            <a:solidFill>
              <a:srgbClr val="D9700F"/>
            </a:solidFill>
            <a:prstDash val="solid"/>
            <a:tailEnd type="triangle"/>
          </a:ln>
        </p:spPr>
      </p:sp>
      <p:sp>
        <p:nvSpPr>
          <p:cNvPr id="48" name="Text 44"/>
          <p:cNvSpPr txBox="1"/>
          <p:nvPr/>
        </p:nvSpPr>
        <p:spPr>
          <a:xfrm>
            <a:off x="6400800" y="556463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49" name="Shape 45"/>
          <p:cNvSpPr/>
          <p:nvPr/>
        </p:nvSpPr>
        <p:spPr>
          <a:xfrm>
            <a:off x="7132320" y="5610352"/>
            <a:ext cx="4507992" cy="616712"/>
          </a:xfrm>
          <a:prstGeom prst="roundRect">
            <a:avLst>
              <a:gd name="adj" fmla="val 11862"/>
            </a:avLst>
          </a:prstGeom>
          <a:solidFill>
            <a:schemeClr val="bg1"/>
          </a:solidFill>
          <a:ln w="15875">
            <a:solidFill>
              <a:srgbClr val="D9700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Du pont au wagon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Remplacez want par omdat : attention au verbe !</a:t>
            </a:r>
            <a:endParaRPr lang="en-US" sz="1700" dirty="0"/>
          </a:p>
        </p:txBody>
      </p:sp>
      <p:sp>
        <p:nvSpPr>
          <p:cNvPr id="9" name="Shape 5"/>
          <p:cNvSpPr/>
          <p:nvPr/>
        </p:nvSpPr>
        <p:spPr>
          <a:xfrm>
            <a:off x="548640" y="2112772"/>
            <a:ext cx="365760" cy="365760"/>
          </a:xfrm>
          <a:prstGeom prst="ellipse">
            <a:avLst/>
          </a:prstGeom>
          <a:solidFill>
            <a:schemeClr val="accent2"/>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1005840" y="197815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12" name="Text 8"/>
          <p:cNvSpPr txBox="1"/>
          <p:nvPr/>
        </p:nvSpPr>
        <p:spPr>
          <a:xfrm>
            <a:off x="1143000" y="197815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Ik neem de trein, want ik heb geen auto.</a:t>
            </a:r>
            <a:endParaRPr lang="en-US" sz="1800" dirty="0"/>
          </a:p>
        </p:txBody>
      </p:sp>
      <p:sp>
        <p:nvSpPr>
          <p:cNvPr id="13" name="Shape 9"/>
          <p:cNvSpPr/>
          <p:nvPr/>
        </p:nvSpPr>
        <p:spPr>
          <a:xfrm>
            <a:off x="6492240" y="2268220"/>
            <a:ext cx="594360" cy="914"/>
          </a:xfrm>
          <a:prstGeom prst="line">
            <a:avLst/>
          </a:prstGeom>
          <a:noFill/>
          <a:ln w="38100">
            <a:solidFill>
              <a:srgbClr val="D9700F"/>
            </a:solidFill>
            <a:prstDash val="solid"/>
            <a:tailEnd type="triangle"/>
          </a:ln>
        </p:spPr>
      </p:sp>
      <p:sp>
        <p:nvSpPr>
          <p:cNvPr id="14" name="Text 10"/>
          <p:cNvSpPr txBox="1"/>
          <p:nvPr/>
        </p:nvSpPr>
        <p:spPr>
          <a:xfrm>
            <a:off x="6400800" y="193243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15" name="Shape 11"/>
          <p:cNvSpPr/>
          <p:nvPr/>
        </p:nvSpPr>
        <p:spPr>
          <a:xfrm>
            <a:off x="7132320" y="1978152"/>
            <a:ext cx="4507992" cy="616712"/>
          </a:xfrm>
          <a:prstGeom prst="roundRect">
            <a:avLst>
              <a:gd name="adj" fmla="val 11862"/>
            </a:avLst>
          </a:prstGeom>
          <a:solidFill>
            <a:srgbClr val="FDF1E6"/>
          </a:solidFill>
          <a:ln w="15875">
            <a:solidFill>
              <a:srgbClr val="D9700F"/>
            </a:solidFill>
            <a:prstDash val="solid"/>
          </a:ln>
        </p:spPr>
      </p:sp>
      <p:sp>
        <p:nvSpPr>
          <p:cNvPr id="16" name="Text 12"/>
          <p:cNvSpPr txBox="1"/>
          <p:nvPr/>
        </p:nvSpPr>
        <p:spPr>
          <a:xfrm>
            <a:off x="7269480" y="1978152"/>
            <a:ext cx="4297680" cy="616712"/>
          </a:xfrm>
          <a:prstGeom prst="rect">
            <a:avLst/>
          </a:prstGeom>
          <a:noFill/>
          <a:ln/>
        </p:spPr>
        <p:txBody>
          <a:bodyPr wrap="square" lIns="0" tIns="0" rIns="0" bIns="0" rtlCol="0" anchor="ctr"/>
          <a:lstStyle/>
          <a:p>
            <a:pPr algn="l" indent="0" marL="0">
              <a:buNone/>
            </a:pPr>
            <a:r>
              <a:rPr lang="en-US" sz="1900" i="1" dirty="0">
                <a:solidFill>
                  <a:schemeClr val="tx1"/>
                </a:solidFill>
              </a:rPr>
              <a:t>… omdat ik geen auto </a:t>
            </a:r>
            <a:r>
              <a:rPr lang="en-US" sz="1900" b="1" i="1" dirty="0">
                <a:solidFill>
                  <a:schemeClr val="accent6"/>
                </a:solidFill>
              </a:rPr>
              <a:t>heb</a:t>
            </a:r>
            <a:r>
              <a:rPr lang="en-US" sz="1900" i="1" dirty="0">
                <a:solidFill>
                  <a:schemeClr val="tx1"/>
                </a:solidFill>
              </a:rPr>
              <a:t>.</a:t>
            </a:r>
            <a:endParaRPr lang="en-US" sz="1900" dirty="0"/>
          </a:p>
        </p:txBody>
      </p:sp>
      <p:sp>
        <p:nvSpPr>
          <p:cNvPr id="17" name="Shape 13"/>
          <p:cNvSpPr/>
          <p:nvPr/>
        </p:nvSpPr>
        <p:spPr>
          <a:xfrm>
            <a:off x="548640" y="2839212"/>
            <a:ext cx="365760" cy="365760"/>
          </a:xfrm>
          <a:prstGeom prst="ellipse">
            <a:avLst/>
          </a:prstGeom>
          <a:solidFill>
            <a:schemeClr val="accent2"/>
          </a:solidFill>
          <a:ln w="12700">
            <a:solidFill>
              <a:srgbClr val="FFFFFF">
                <a:alpha val="0"/>
              </a:srgbClr>
            </a:solidFill>
            <a:prstDash val="solid"/>
          </a:ln>
        </p:spPr>
      </p:sp>
      <p:sp>
        <p:nvSpPr>
          <p:cNvPr id="18" name="Text 14"/>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Shape 15"/>
          <p:cNvSpPr/>
          <p:nvPr/>
        </p:nvSpPr>
        <p:spPr>
          <a:xfrm>
            <a:off x="1005840" y="270459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20" name="Text 16"/>
          <p:cNvSpPr txBox="1"/>
          <p:nvPr/>
        </p:nvSpPr>
        <p:spPr>
          <a:xfrm>
            <a:off x="1143000" y="270459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Sofie is blij, want het is vrijdag.</a:t>
            </a:r>
            <a:endParaRPr lang="en-US" sz="1800" dirty="0"/>
          </a:p>
        </p:txBody>
      </p:sp>
      <p:sp>
        <p:nvSpPr>
          <p:cNvPr id="21" name="Shape 17"/>
          <p:cNvSpPr/>
          <p:nvPr/>
        </p:nvSpPr>
        <p:spPr>
          <a:xfrm>
            <a:off x="6492240" y="2994660"/>
            <a:ext cx="594360" cy="914"/>
          </a:xfrm>
          <a:prstGeom prst="line">
            <a:avLst/>
          </a:prstGeom>
          <a:noFill/>
          <a:ln w="38100">
            <a:solidFill>
              <a:srgbClr val="D9700F"/>
            </a:solidFill>
            <a:prstDash val="solid"/>
            <a:tailEnd type="triangle"/>
          </a:ln>
        </p:spPr>
      </p:sp>
      <p:sp>
        <p:nvSpPr>
          <p:cNvPr id="22" name="Text 18"/>
          <p:cNvSpPr txBox="1"/>
          <p:nvPr/>
        </p:nvSpPr>
        <p:spPr>
          <a:xfrm>
            <a:off x="6400800" y="265887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23" name="Shape 19"/>
          <p:cNvSpPr/>
          <p:nvPr/>
        </p:nvSpPr>
        <p:spPr>
          <a:xfrm>
            <a:off x="7132320" y="2704592"/>
            <a:ext cx="4507992" cy="616712"/>
          </a:xfrm>
          <a:prstGeom prst="roundRect">
            <a:avLst>
              <a:gd name="adj" fmla="val 11862"/>
            </a:avLst>
          </a:prstGeom>
          <a:solidFill>
            <a:srgbClr val="FDF1E6"/>
          </a:solidFill>
          <a:ln w="15875">
            <a:solidFill>
              <a:srgbClr val="D9700F"/>
            </a:solidFill>
            <a:prstDash val="solid"/>
          </a:ln>
        </p:spPr>
      </p:sp>
      <p:sp>
        <p:nvSpPr>
          <p:cNvPr id="24" name="Text 20"/>
          <p:cNvSpPr txBox="1"/>
          <p:nvPr/>
        </p:nvSpPr>
        <p:spPr>
          <a:xfrm>
            <a:off x="7269480" y="2704592"/>
            <a:ext cx="4297680" cy="616712"/>
          </a:xfrm>
          <a:prstGeom prst="rect">
            <a:avLst/>
          </a:prstGeom>
          <a:noFill/>
          <a:ln/>
        </p:spPr>
        <p:txBody>
          <a:bodyPr wrap="square" lIns="0" tIns="0" rIns="0" bIns="0" rtlCol="0" anchor="ctr"/>
          <a:lstStyle/>
          <a:p>
            <a:pPr algn="l" indent="0" marL="0">
              <a:buNone/>
            </a:pPr>
            <a:r>
              <a:rPr lang="en-US" sz="1900" i="1" dirty="0">
                <a:solidFill>
                  <a:schemeClr val="tx1"/>
                </a:solidFill>
              </a:rPr>
              <a:t>… omdat het vrijdag </a:t>
            </a:r>
            <a:r>
              <a:rPr lang="en-US" sz="1900" b="1" i="1" dirty="0">
                <a:solidFill>
                  <a:schemeClr val="accent6"/>
                </a:solidFill>
              </a:rPr>
              <a:t>is</a:t>
            </a:r>
            <a:r>
              <a:rPr lang="en-US" sz="1900" i="1" dirty="0">
                <a:solidFill>
                  <a:schemeClr val="tx1"/>
                </a:solidFill>
              </a:rPr>
              <a:t>.</a:t>
            </a:r>
            <a:endParaRPr lang="en-US" sz="1900" dirty="0"/>
          </a:p>
        </p:txBody>
      </p:sp>
      <p:sp>
        <p:nvSpPr>
          <p:cNvPr id="25" name="Shape 21"/>
          <p:cNvSpPr/>
          <p:nvPr/>
        </p:nvSpPr>
        <p:spPr>
          <a:xfrm>
            <a:off x="548640" y="3565652"/>
            <a:ext cx="365760" cy="365760"/>
          </a:xfrm>
          <a:prstGeom prst="ellipse">
            <a:avLst/>
          </a:prstGeom>
          <a:solidFill>
            <a:schemeClr val="accent2"/>
          </a:solidFill>
          <a:ln w="12700">
            <a:solidFill>
              <a:srgbClr val="FFFFFF">
                <a:alpha val="0"/>
              </a:srgbClr>
            </a:solidFill>
            <a:prstDash val="solid"/>
          </a:ln>
        </p:spPr>
      </p:sp>
      <p:sp>
        <p:nvSpPr>
          <p:cNvPr id="26" name="Text 22"/>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7" name="Shape 23"/>
          <p:cNvSpPr/>
          <p:nvPr/>
        </p:nvSpPr>
        <p:spPr>
          <a:xfrm>
            <a:off x="1005840" y="343103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28" name="Text 24"/>
          <p:cNvSpPr txBox="1"/>
          <p:nvPr/>
        </p:nvSpPr>
        <p:spPr>
          <a:xfrm>
            <a:off x="1143000" y="343103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Karim belt de klant, want hij heeft een vraag.</a:t>
            </a:r>
            <a:endParaRPr lang="en-US" sz="1800" dirty="0"/>
          </a:p>
        </p:txBody>
      </p:sp>
      <p:sp>
        <p:nvSpPr>
          <p:cNvPr id="29" name="Shape 25"/>
          <p:cNvSpPr/>
          <p:nvPr/>
        </p:nvSpPr>
        <p:spPr>
          <a:xfrm>
            <a:off x="6492240" y="3721100"/>
            <a:ext cx="594360" cy="914"/>
          </a:xfrm>
          <a:prstGeom prst="line">
            <a:avLst/>
          </a:prstGeom>
          <a:noFill/>
          <a:ln w="38100">
            <a:solidFill>
              <a:srgbClr val="D9700F"/>
            </a:solidFill>
            <a:prstDash val="solid"/>
            <a:tailEnd type="triangle"/>
          </a:ln>
        </p:spPr>
      </p:sp>
      <p:sp>
        <p:nvSpPr>
          <p:cNvPr id="30" name="Text 26"/>
          <p:cNvSpPr txBox="1"/>
          <p:nvPr/>
        </p:nvSpPr>
        <p:spPr>
          <a:xfrm>
            <a:off x="6400800" y="338531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31" name="Shape 27"/>
          <p:cNvSpPr/>
          <p:nvPr/>
        </p:nvSpPr>
        <p:spPr>
          <a:xfrm>
            <a:off x="7132320" y="3431032"/>
            <a:ext cx="4507992" cy="616712"/>
          </a:xfrm>
          <a:prstGeom prst="roundRect">
            <a:avLst>
              <a:gd name="adj" fmla="val 11862"/>
            </a:avLst>
          </a:prstGeom>
          <a:solidFill>
            <a:srgbClr val="FDF1E6"/>
          </a:solidFill>
          <a:ln w="15875">
            <a:solidFill>
              <a:srgbClr val="D9700F"/>
            </a:solidFill>
            <a:prstDash val="solid"/>
          </a:ln>
        </p:spPr>
      </p:sp>
      <p:sp>
        <p:nvSpPr>
          <p:cNvPr id="32" name="Text 28"/>
          <p:cNvSpPr txBox="1"/>
          <p:nvPr/>
        </p:nvSpPr>
        <p:spPr>
          <a:xfrm>
            <a:off x="7269480" y="3431032"/>
            <a:ext cx="4297680" cy="616712"/>
          </a:xfrm>
          <a:prstGeom prst="rect">
            <a:avLst/>
          </a:prstGeom>
          <a:noFill/>
          <a:ln/>
        </p:spPr>
        <p:txBody>
          <a:bodyPr wrap="square" lIns="0" tIns="0" rIns="0" bIns="0" rtlCol="0" anchor="ctr"/>
          <a:lstStyle/>
          <a:p>
            <a:pPr algn="l" indent="0" marL="0">
              <a:buNone/>
            </a:pPr>
            <a:r>
              <a:rPr lang="en-US" sz="1900" i="1" dirty="0">
                <a:solidFill>
                  <a:schemeClr val="tx1"/>
                </a:solidFill>
              </a:rPr>
              <a:t>… omdat hij een vraag </a:t>
            </a:r>
            <a:r>
              <a:rPr lang="en-US" sz="1900" b="1" i="1" dirty="0">
                <a:solidFill>
                  <a:schemeClr val="accent6"/>
                </a:solidFill>
              </a:rPr>
              <a:t>heeft</a:t>
            </a:r>
            <a:r>
              <a:rPr lang="en-US" sz="1900" i="1" dirty="0">
                <a:solidFill>
                  <a:schemeClr val="tx1"/>
                </a:solidFill>
              </a:rPr>
              <a:t>.</a:t>
            </a:r>
            <a:endParaRPr lang="en-US" sz="1900" dirty="0"/>
          </a:p>
        </p:txBody>
      </p:sp>
      <p:sp>
        <p:nvSpPr>
          <p:cNvPr id="33" name="Shape 29"/>
          <p:cNvSpPr/>
          <p:nvPr/>
        </p:nvSpPr>
        <p:spPr>
          <a:xfrm>
            <a:off x="548640" y="4292092"/>
            <a:ext cx="365760" cy="365760"/>
          </a:xfrm>
          <a:prstGeom prst="ellipse">
            <a:avLst/>
          </a:prstGeom>
          <a:solidFill>
            <a:schemeClr val="accent2"/>
          </a:solidFill>
          <a:ln w="12700">
            <a:solidFill>
              <a:srgbClr val="FFFFFF">
                <a:alpha val="0"/>
              </a:srgbClr>
            </a:solidFill>
            <a:prstDash val="solid"/>
          </a:ln>
        </p:spPr>
      </p:sp>
      <p:sp>
        <p:nvSpPr>
          <p:cNvPr id="34" name="Text 30"/>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5" name="Shape 31"/>
          <p:cNvSpPr/>
          <p:nvPr/>
        </p:nvSpPr>
        <p:spPr>
          <a:xfrm>
            <a:off x="1005840" y="415747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36" name="Text 32"/>
          <p:cNvSpPr txBox="1"/>
          <p:nvPr/>
        </p:nvSpPr>
        <p:spPr>
          <a:xfrm>
            <a:off x="1143000" y="415747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We eten in de kantine, want het is goedkoop.</a:t>
            </a:r>
            <a:endParaRPr lang="en-US" sz="1800" dirty="0"/>
          </a:p>
        </p:txBody>
      </p:sp>
      <p:sp>
        <p:nvSpPr>
          <p:cNvPr id="37" name="Shape 33"/>
          <p:cNvSpPr/>
          <p:nvPr/>
        </p:nvSpPr>
        <p:spPr>
          <a:xfrm>
            <a:off x="6492240" y="4447540"/>
            <a:ext cx="594360" cy="914"/>
          </a:xfrm>
          <a:prstGeom prst="line">
            <a:avLst/>
          </a:prstGeom>
          <a:noFill/>
          <a:ln w="38100">
            <a:solidFill>
              <a:srgbClr val="D9700F"/>
            </a:solidFill>
            <a:prstDash val="solid"/>
            <a:tailEnd type="triangle"/>
          </a:ln>
        </p:spPr>
      </p:sp>
      <p:sp>
        <p:nvSpPr>
          <p:cNvPr id="38" name="Text 34"/>
          <p:cNvSpPr txBox="1"/>
          <p:nvPr/>
        </p:nvSpPr>
        <p:spPr>
          <a:xfrm>
            <a:off x="6400800" y="411175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39" name="Shape 35"/>
          <p:cNvSpPr/>
          <p:nvPr/>
        </p:nvSpPr>
        <p:spPr>
          <a:xfrm>
            <a:off x="7132320" y="4157472"/>
            <a:ext cx="4507992" cy="616712"/>
          </a:xfrm>
          <a:prstGeom prst="roundRect">
            <a:avLst>
              <a:gd name="adj" fmla="val 11862"/>
            </a:avLst>
          </a:prstGeom>
          <a:solidFill>
            <a:srgbClr val="FDF1E6"/>
          </a:solidFill>
          <a:ln w="15875">
            <a:solidFill>
              <a:srgbClr val="D9700F"/>
            </a:solidFill>
            <a:prstDash val="solid"/>
          </a:ln>
        </p:spPr>
      </p:sp>
      <p:sp>
        <p:nvSpPr>
          <p:cNvPr id="40" name="Text 36"/>
          <p:cNvSpPr txBox="1"/>
          <p:nvPr/>
        </p:nvSpPr>
        <p:spPr>
          <a:xfrm>
            <a:off x="7269480" y="4157472"/>
            <a:ext cx="4297680" cy="616712"/>
          </a:xfrm>
          <a:prstGeom prst="rect">
            <a:avLst/>
          </a:prstGeom>
          <a:noFill/>
          <a:ln/>
        </p:spPr>
        <p:txBody>
          <a:bodyPr wrap="square" lIns="0" tIns="0" rIns="0" bIns="0" rtlCol="0" anchor="ctr"/>
          <a:lstStyle/>
          <a:p>
            <a:pPr algn="l" indent="0" marL="0">
              <a:buNone/>
            </a:pPr>
            <a:r>
              <a:rPr lang="en-US" sz="1900" i="1" dirty="0">
                <a:solidFill>
                  <a:schemeClr val="tx1"/>
                </a:solidFill>
              </a:rPr>
              <a:t>… omdat het goedkoop </a:t>
            </a:r>
            <a:r>
              <a:rPr lang="en-US" sz="1900" b="1" i="1" dirty="0">
                <a:solidFill>
                  <a:schemeClr val="accent6"/>
                </a:solidFill>
              </a:rPr>
              <a:t>is</a:t>
            </a:r>
            <a:r>
              <a:rPr lang="en-US" sz="1900" i="1" dirty="0">
                <a:solidFill>
                  <a:schemeClr val="tx1"/>
                </a:solidFill>
              </a:rPr>
              <a:t>.</a:t>
            </a:r>
            <a:endParaRPr lang="en-US" sz="1900" dirty="0"/>
          </a:p>
        </p:txBody>
      </p:sp>
      <p:sp>
        <p:nvSpPr>
          <p:cNvPr id="41" name="Shape 37"/>
          <p:cNvSpPr/>
          <p:nvPr/>
        </p:nvSpPr>
        <p:spPr>
          <a:xfrm>
            <a:off x="548640" y="5018532"/>
            <a:ext cx="365760" cy="365760"/>
          </a:xfrm>
          <a:prstGeom prst="ellipse">
            <a:avLst/>
          </a:prstGeom>
          <a:solidFill>
            <a:schemeClr val="accent2"/>
          </a:solidFill>
          <a:ln w="12700">
            <a:solidFill>
              <a:srgbClr val="FFFFFF">
                <a:alpha val="0"/>
              </a:srgbClr>
            </a:solidFill>
            <a:prstDash val="solid"/>
          </a:ln>
        </p:spPr>
      </p:sp>
      <p:sp>
        <p:nvSpPr>
          <p:cNvPr id="42" name="Text 38"/>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3" name="Shape 39"/>
          <p:cNvSpPr/>
          <p:nvPr/>
        </p:nvSpPr>
        <p:spPr>
          <a:xfrm>
            <a:off x="1005840" y="488391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44" name="Text 40"/>
          <p:cNvSpPr txBox="1"/>
          <p:nvPr/>
        </p:nvSpPr>
        <p:spPr>
          <a:xfrm>
            <a:off x="1143000" y="488391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Ik leer Nederlands, want ik werk in Brussel.</a:t>
            </a:r>
            <a:endParaRPr lang="en-US" sz="1800" dirty="0"/>
          </a:p>
        </p:txBody>
      </p:sp>
      <p:sp>
        <p:nvSpPr>
          <p:cNvPr id="45" name="Shape 41"/>
          <p:cNvSpPr/>
          <p:nvPr/>
        </p:nvSpPr>
        <p:spPr>
          <a:xfrm>
            <a:off x="6492240" y="5173980"/>
            <a:ext cx="594360" cy="914"/>
          </a:xfrm>
          <a:prstGeom prst="line">
            <a:avLst/>
          </a:prstGeom>
          <a:noFill/>
          <a:ln w="38100">
            <a:solidFill>
              <a:srgbClr val="D9700F"/>
            </a:solidFill>
            <a:prstDash val="solid"/>
            <a:tailEnd type="triangle"/>
          </a:ln>
        </p:spPr>
      </p:sp>
      <p:sp>
        <p:nvSpPr>
          <p:cNvPr id="46" name="Text 42"/>
          <p:cNvSpPr txBox="1"/>
          <p:nvPr/>
        </p:nvSpPr>
        <p:spPr>
          <a:xfrm>
            <a:off x="6400800" y="483819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47" name="Shape 43"/>
          <p:cNvSpPr/>
          <p:nvPr/>
        </p:nvSpPr>
        <p:spPr>
          <a:xfrm>
            <a:off x="7132320" y="4883912"/>
            <a:ext cx="4507992" cy="616712"/>
          </a:xfrm>
          <a:prstGeom prst="roundRect">
            <a:avLst>
              <a:gd name="adj" fmla="val 11862"/>
            </a:avLst>
          </a:prstGeom>
          <a:solidFill>
            <a:srgbClr val="FDF1E6"/>
          </a:solidFill>
          <a:ln w="15875">
            <a:solidFill>
              <a:srgbClr val="D9700F"/>
            </a:solidFill>
            <a:prstDash val="solid"/>
          </a:ln>
        </p:spPr>
      </p:sp>
      <p:sp>
        <p:nvSpPr>
          <p:cNvPr id="48" name="Text 44"/>
          <p:cNvSpPr txBox="1"/>
          <p:nvPr/>
        </p:nvSpPr>
        <p:spPr>
          <a:xfrm>
            <a:off x="7269480" y="4883912"/>
            <a:ext cx="4297680" cy="616712"/>
          </a:xfrm>
          <a:prstGeom prst="rect">
            <a:avLst/>
          </a:prstGeom>
          <a:noFill/>
          <a:ln/>
        </p:spPr>
        <p:txBody>
          <a:bodyPr wrap="square" lIns="0" tIns="0" rIns="0" bIns="0" rtlCol="0" anchor="ctr"/>
          <a:lstStyle/>
          <a:p>
            <a:pPr algn="l" indent="0" marL="0">
              <a:buNone/>
            </a:pPr>
            <a:r>
              <a:rPr lang="en-US" sz="1900" i="1" dirty="0">
                <a:solidFill>
                  <a:schemeClr val="tx1"/>
                </a:solidFill>
              </a:rPr>
              <a:t>… omdat ik in Brussel </a:t>
            </a:r>
            <a:r>
              <a:rPr lang="en-US" sz="1900" b="1" i="1" dirty="0">
                <a:solidFill>
                  <a:schemeClr val="accent6"/>
                </a:solidFill>
              </a:rPr>
              <a:t>werk</a:t>
            </a:r>
            <a:r>
              <a:rPr lang="en-US" sz="1900" i="1" dirty="0">
                <a:solidFill>
                  <a:schemeClr val="tx1"/>
                </a:solidFill>
              </a:rPr>
              <a:t>.</a:t>
            </a:r>
            <a:endParaRPr lang="en-US" sz="1900" dirty="0"/>
          </a:p>
        </p:txBody>
      </p:sp>
      <p:sp>
        <p:nvSpPr>
          <p:cNvPr id="49" name="Shape 45"/>
          <p:cNvSpPr/>
          <p:nvPr/>
        </p:nvSpPr>
        <p:spPr>
          <a:xfrm>
            <a:off x="548640" y="5744972"/>
            <a:ext cx="365760" cy="365760"/>
          </a:xfrm>
          <a:prstGeom prst="ellipse">
            <a:avLst/>
          </a:prstGeom>
          <a:solidFill>
            <a:schemeClr val="accent2"/>
          </a:solidFill>
          <a:ln w="12700">
            <a:solidFill>
              <a:srgbClr val="FFFFFF">
                <a:alpha val="0"/>
              </a:srgbClr>
            </a:solidFill>
            <a:prstDash val="solid"/>
          </a:ln>
        </p:spPr>
      </p:sp>
      <p:sp>
        <p:nvSpPr>
          <p:cNvPr id="50" name="Text 46"/>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1" name="Shape 47"/>
          <p:cNvSpPr/>
          <p:nvPr/>
        </p:nvSpPr>
        <p:spPr>
          <a:xfrm>
            <a:off x="1005840" y="5610352"/>
            <a:ext cx="5440680" cy="616712"/>
          </a:xfrm>
          <a:prstGeom prst="roundRect">
            <a:avLst>
              <a:gd name="adj" fmla="val 11862"/>
            </a:avLst>
          </a:prstGeom>
          <a:solidFill>
            <a:schemeClr val="accent2">
              <a:alpha val="12000"/>
            </a:schemeClr>
          </a:solidFill>
          <a:ln w="12700">
            <a:solidFill>
              <a:srgbClr val="2A6FB0"/>
            </a:solidFill>
            <a:prstDash val="solid"/>
          </a:ln>
        </p:spPr>
      </p:sp>
      <p:sp>
        <p:nvSpPr>
          <p:cNvPr id="52" name="Text 48"/>
          <p:cNvSpPr txBox="1"/>
          <p:nvPr/>
        </p:nvSpPr>
        <p:spPr>
          <a:xfrm>
            <a:off x="1143000" y="5610352"/>
            <a:ext cx="5212080" cy="616712"/>
          </a:xfrm>
          <a:prstGeom prst="rect">
            <a:avLst/>
          </a:prstGeom>
          <a:noFill/>
          <a:ln/>
        </p:spPr>
        <p:txBody>
          <a:bodyPr wrap="square" lIns="0" tIns="0" rIns="0" bIns="0" rtlCol="0" anchor="ctr"/>
          <a:lstStyle/>
          <a:p>
            <a:pPr algn="l" indent="0" marL="0">
              <a:buNone/>
            </a:pPr>
            <a:r>
              <a:rPr lang="en-US" sz="1800" i="1" dirty="0">
                <a:solidFill>
                  <a:schemeClr val="tx1"/>
                </a:solidFill>
              </a:rPr>
              <a:t>Ik kom niet, want ik moet werken.</a:t>
            </a:r>
            <a:endParaRPr lang="en-US" sz="1800" dirty="0"/>
          </a:p>
        </p:txBody>
      </p:sp>
      <p:sp>
        <p:nvSpPr>
          <p:cNvPr id="53" name="Shape 49"/>
          <p:cNvSpPr/>
          <p:nvPr/>
        </p:nvSpPr>
        <p:spPr>
          <a:xfrm>
            <a:off x="6492240" y="5900420"/>
            <a:ext cx="594360" cy="914"/>
          </a:xfrm>
          <a:prstGeom prst="line">
            <a:avLst/>
          </a:prstGeom>
          <a:noFill/>
          <a:ln w="38100">
            <a:solidFill>
              <a:srgbClr val="D9700F"/>
            </a:solidFill>
            <a:prstDash val="solid"/>
            <a:tailEnd type="triangle"/>
          </a:ln>
        </p:spPr>
      </p:sp>
      <p:sp>
        <p:nvSpPr>
          <p:cNvPr id="54" name="Text 50"/>
          <p:cNvSpPr txBox="1"/>
          <p:nvPr/>
        </p:nvSpPr>
        <p:spPr>
          <a:xfrm>
            <a:off x="6400800" y="5564632"/>
            <a:ext cx="777240" cy="317500"/>
          </a:xfrm>
          <a:prstGeom prst="rect">
            <a:avLst/>
          </a:prstGeom>
          <a:noFill/>
          <a:ln/>
        </p:spPr>
        <p:txBody>
          <a:bodyPr wrap="square" lIns="0" tIns="0" rIns="0" bIns="0" rtlCol="0" anchor="b"/>
          <a:lstStyle/>
          <a:p>
            <a:pPr algn="ctr" indent="0" marL="0">
              <a:buNone/>
            </a:pPr>
            <a:r>
              <a:rPr lang="en-US" sz="1100" b="1" dirty="0">
                <a:solidFill>
                  <a:schemeClr val="accent1"/>
                </a:solidFill>
              </a:rPr>
              <a:t>omdat</a:t>
            </a:r>
            <a:endParaRPr lang="en-US" sz="1100" dirty="0"/>
          </a:p>
        </p:txBody>
      </p:sp>
      <p:sp>
        <p:nvSpPr>
          <p:cNvPr id="55" name="Shape 51"/>
          <p:cNvSpPr/>
          <p:nvPr/>
        </p:nvSpPr>
        <p:spPr>
          <a:xfrm>
            <a:off x="7132320" y="5610352"/>
            <a:ext cx="4507992" cy="616712"/>
          </a:xfrm>
          <a:prstGeom prst="roundRect">
            <a:avLst>
              <a:gd name="adj" fmla="val 11862"/>
            </a:avLst>
          </a:prstGeom>
          <a:solidFill>
            <a:srgbClr val="FDF1E6"/>
          </a:solidFill>
          <a:ln w="15875">
            <a:solidFill>
              <a:srgbClr val="D9700F"/>
            </a:solidFill>
            <a:prstDash val="solid"/>
          </a:ln>
        </p:spPr>
      </p:sp>
      <p:sp>
        <p:nvSpPr>
          <p:cNvPr id="56" name="Text 52"/>
          <p:cNvSpPr txBox="1"/>
          <p:nvPr/>
        </p:nvSpPr>
        <p:spPr>
          <a:xfrm>
            <a:off x="7269480" y="5610352"/>
            <a:ext cx="4297680" cy="616712"/>
          </a:xfrm>
          <a:prstGeom prst="rect">
            <a:avLst/>
          </a:prstGeom>
          <a:noFill/>
          <a:ln/>
        </p:spPr>
        <p:txBody>
          <a:bodyPr wrap="square" lIns="0" tIns="0" rIns="0" bIns="0" rtlCol="0" anchor="ctr"/>
          <a:lstStyle/>
          <a:p>
            <a:pPr algn="l" indent="0" marL="0">
              <a:buNone/>
            </a:pPr>
            <a:r>
              <a:rPr lang="en-US" sz="1900" i="1" dirty="0">
                <a:solidFill>
                  <a:schemeClr val="tx1"/>
                </a:solidFill>
              </a:rPr>
              <a:t>… omdat ik </a:t>
            </a:r>
            <a:r>
              <a:rPr lang="en-US" sz="1900" b="1" i="1" dirty="0">
                <a:solidFill>
                  <a:schemeClr val="accent6"/>
                </a:solidFill>
              </a:rPr>
              <a:t>moet werken</a:t>
            </a:r>
            <a:r>
              <a:rPr lang="en-US" sz="1900" i="1" dirty="0">
                <a:solidFill>
                  <a:schemeClr val="tx1"/>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Le bon mot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un mot de la banque. Regardez la place du verbe !</a:t>
            </a:r>
            <a:endParaRPr lang="en-US" sz="1700" dirty="0"/>
          </a:p>
        </p:txBody>
      </p:sp>
      <p:sp>
        <p:nvSpPr>
          <p:cNvPr id="8" name="Text 4"/>
          <p:cNvSpPr txBox="1"/>
          <p:nvPr/>
        </p:nvSpPr>
        <p:spPr>
          <a:xfrm>
            <a:off x="548640" y="2023872"/>
            <a:ext cx="8229600" cy="4267200"/>
          </a:xfrm>
          <a:prstGeom prst="rect">
            <a:avLst/>
          </a:prstGeom>
          <a:noFill/>
          <a:ln/>
        </p:spPr>
        <p:txBody>
          <a:bodyPr wrap="square" lIns="0" tIns="0" rIns="0" bIns="0" rtlCol="0" anchor="t"/>
          <a:lstStyle/>
          <a:p>
            <a:pPr indent="0" marL="0">
              <a:spcAft>
                <a:spcPts val="900"/>
              </a:spcAft>
              <a:buNone/>
            </a:pPr>
            <a:r>
              <a:rPr lang="en-US" sz="2000" b="1" dirty="0">
                <a:solidFill>
                  <a:schemeClr val="tx2"/>
                </a:solidFill>
              </a:rPr>
              <a:t>1  </a:t>
            </a:r>
            <a:r>
              <a:rPr lang="en-US" sz="2000" i="1" dirty="0">
                <a:solidFill>
                  <a:schemeClr val="tx1"/>
                </a:solidFill>
              </a:rPr>
              <a:t>Ik drink koffie </a:t>
            </a:r>
            <a:r>
              <a:rPr lang="en-US" sz="2000" i="1" dirty="0">
                <a:solidFill>
                  <a:schemeClr val="accent5"/>
                </a:solidFill>
              </a:rPr>
              <a:t>…………</a:t>
            </a:r>
            <a:r>
              <a:rPr lang="en-US" sz="2000" i="1" dirty="0">
                <a:solidFill>
                  <a:schemeClr val="tx1"/>
                </a:solidFill>
              </a:rPr>
              <a:t> Sofie drinkt thee.</a:t>
            </a:r>
            <a:endParaRPr lang="en-US" sz="2000" dirty="0"/>
          </a:p>
          <a:p>
            <a:pPr indent="0" marL="0">
              <a:spcAft>
                <a:spcPts val="900"/>
              </a:spcAft>
              <a:buNone/>
            </a:pPr>
            <a:r>
              <a:rPr lang="en-US" sz="2000" b="1" dirty="0">
                <a:solidFill>
                  <a:schemeClr val="tx2"/>
                </a:solidFill>
              </a:rPr>
              <a:t>2  </a:t>
            </a:r>
            <a:r>
              <a:rPr lang="en-US" sz="2000" i="1" dirty="0">
                <a:solidFill>
                  <a:schemeClr val="tx1"/>
                </a:solidFill>
              </a:rPr>
              <a:t>Ik weet </a:t>
            </a:r>
            <a:r>
              <a:rPr lang="en-US" sz="2000" i="1" dirty="0">
                <a:solidFill>
                  <a:schemeClr val="accent5"/>
                </a:solidFill>
              </a:rPr>
              <a:t>…………</a:t>
            </a:r>
            <a:r>
              <a:rPr lang="en-US" sz="2000" i="1" dirty="0">
                <a:solidFill>
                  <a:schemeClr val="tx1"/>
                </a:solidFill>
              </a:rPr>
              <a:t> je het druk hebt.</a:t>
            </a:r>
            <a:endParaRPr lang="en-US" sz="2000" dirty="0"/>
          </a:p>
          <a:p>
            <a:pPr indent="0" marL="0">
              <a:spcAft>
                <a:spcPts val="900"/>
              </a:spcAft>
              <a:buNone/>
            </a:pPr>
            <a:r>
              <a:rPr lang="en-US" sz="2000" b="1" dirty="0">
                <a:solidFill>
                  <a:schemeClr val="tx2"/>
                </a:solidFill>
              </a:rPr>
              <a:t>3  </a:t>
            </a:r>
            <a:r>
              <a:rPr lang="en-US" sz="2000" i="1" dirty="0">
                <a:solidFill>
                  <a:schemeClr val="accent5"/>
                </a:solidFill>
              </a:rPr>
              <a:t>…………</a:t>
            </a:r>
            <a:r>
              <a:rPr lang="en-US" sz="2000" i="1" dirty="0">
                <a:solidFill>
                  <a:schemeClr val="tx1"/>
                </a:solidFill>
              </a:rPr>
              <a:t> het regent, neem ik de bus.</a:t>
            </a:r>
            <a:endParaRPr lang="en-US" sz="2000" dirty="0"/>
          </a:p>
          <a:p>
            <a:pPr indent="0" marL="0">
              <a:spcAft>
                <a:spcPts val="900"/>
              </a:spcAft>
              <a:buNone/>
            </a:pPr>
            <a:r>
              <a:rPr lang="en-US" sz="2000" b="1" dirty="0">
                <a:solidFill>
                  <a:schemeClr val="tx2"/>
                </a:solidFill>
              </a:rPr>
              <a:t>4  </a:t>
            </a:r>
            <a:r>
              <a:rPr lang="en-US" sz="2000" i="1" dirty="0">
                <a:solidFill>
                  <a:schemeClr val="tx1"/>
                </a:solidFill>
              </a:rPr>
              <a:t>Karim is moe, </a:t>
            </a:r>
            <a:r>
              <a:rPr lang="en-US" sz="2000" i="1" dirty="0">
                <a:solidFill>
                  <a:schemeClr val="accent5"/>
                </a:solidFill>
              </a:rPr>
              <a:t>…………</a:t>
            </a:r>
            <a:r>
              <a:rPr lang="en-US" sz="2000" i="1" dirty="0">
                <a:solidFill>
                  <a:schemeClr val="tx1"/>
                </a:solidFill>
              </a:rPr>
              <a:t> hij werkt nog.</a:t>
            </a:r>
            <a:endParaRPr lang="en-US" sz="2000" dirty="0"/>
          </a:p>
          <a:p>
            <a:pPr indent="0" marL="0">
              <a:spcAft>
                <a:spcPts val="900"/>
              </a:spcAft>
              <a:buNone/>
            </a:pPr>
            <a:r>
              <a:rPr lang="en-US" sz="2000" b="1" dirty="0">
                <a:solidFill>
                  <a:schemeClr val="tx2"/>
                </a:solidFill>
              </a:rPr>
              <a:t>5  </a:t>
            </a:r>
            <a:r>
              <a:rPr lang="en-US" sz="2000" i="1" dirty="0">
                <a:solidFill>
                  <a:schemeClr val="tx1"/>
                </a:solidFill>
              </a:rPr>
              <a:t>Ik bel je, </a:t>
            </a:r>
            <a:r>
              <a:rPr lang="en-US" sz="2000" i="1" dirty="0">
                <a:solidFill>
                  <a:schemeClr val="accent5"/>
                </a:solidFill>
              </a:rPr>
              <a:t>…………</a:t>
            </a:r>
            <a:r>
              <a:rPr lang="en-US" sz="2000" i="1" dirty="0">
                <a:solidFill>
                  <a:schemeClr val="tx1"/>
                </a:solidFill>
              </a:rPr>
              <a:t> ik heb een vraag.</a:t>
            </a:r>
            <a:endParaRPr lang="en-US" sz="2000" dirty="0"/>
          </a:p>
          <a:p>
            <a:pPr indent="0" marL="0">
              <a:spcAft>
                <a:spcPts val="900"/>
              </a:spcAft>
              <a:buNone/>
            </a:pPr>
            <a:r>
              <a:rPr lang="en-US" sz="2000" b="1" dirty="0">
                <a:solidFill>
                  <a:schemeClr val="tx2"/>
                </a:solidFill>
              </a:rPr>
              <a:t>6  </a:t>
            </a:r>
            <a:r>
              <a:rPr lang="en-US" sz="2000" i="1" dirty="0">
                <a:solidFill>
                  <a:schemeClr val="tx1"/>
                </a:solidFill>
              </a:rPr>
              <a:t>Ik weet niet </a:t>
            </a:r>
            <a:r>
              <a:rPr lang="en-US" sz="2000" i="1" dirty="0">
                <a:solidFill>
                  <a:schemeClr val="accent5"/>
                </a:solidFill>
              </a:rPr>
              <a:t>…………</a:t>
            </a:r>
            <a:r>
              <a:rPr lang="en-US" sz="2000" i="1" dirty="0">
                <a:solidFill>
                  <a:schemeClr val="tx1"/>
                </a:solidFill>
              </a:rPr>
              <a:t> de vergadering om 10 uur begint.</a:t>
            </a:r>
            <a:endParaRPr lang="en-US" sz="2000" dirty="0"/>
          </a:p>
          <a:p>
            <a:pPr indent="0" marL="0">
              <a:spcAft>
                <a:spcPts val="900"/>
              </a:spcAft>
              <a:buNone/>
            </a:pPr>
            <a:r>
              <a:rPr lang="en-US" sz="2000" b="1" dirty="0">
                <a:solidFill>
                  <a:schemeClr val="tx2"/>
                </a:solidFill>
              </a:rPr>
              <a:t>7  </a:t>
            </a:r>
            <a:r>
              <a:rPr lang="en-US" sz="2000" i="1" dirty="0">
                <a:solidFill>
                  <a:schemeClr val="tx1"/>
                </a:solidFill>
              </a:rPr>
              <a:t>Het is laat, </a:t>
            </a:r>
            <a:r>
              <a:rPr lang="en-US" sz="2000" i="1" dirty="0">
                <a:solidFill>
                  <a:schemeClr val="accent5"/>
                </a:solidFill>
              </a:rPr>
              <a:t>…………</a:t>
            </a:r>
            <a:r>
              <a:rPr lang="en-US" sz="2000" i="1" dirty="0">
                <a:solidFill>
                  <a:schemeClr val="tx1"/>
                </a:solidFill>
              </a:rPr>
              <a:t> ik ga naar huis.</a:t>
            </a:r>
            <a:endParaRPr lang="en-US" sz="2000" dirty="0"/>
          </a:p>
          <a:p>
            <a:pPr indent="0" marL="0">
              <a:spcAft>
                <a:spcPts val="900"/>
              </a:spcAft>
              <a:buNone/>
            </a:pPr>
            <a:r>
              <a:rPr lang="en-US" sz="2000" b="1" dirty="0">
                <a:solidFill>
                  <a:schemeClr val="tx2"/>
                </a:solidFill>
              </a:rPr>
              <a:t>8  </a:t>
            </a:r>
            <a:r>
              <a:rPr lang="en-US" sz="2000" i="1" dirty="0">
                <a:solidFill>
                  <a:schemeClr val="tx1"/>
                </a:solidFill>
              </a:rPr>
              <a:t>Sofie is blij </a:t>
            </a:r>
            <a:r>
              <a:rPr lang="en-US" sz="2000" i="1" dirty="0">
                <a:solidFill>
                  <a:schemeClr val="accent5"/>
                </a:solidFill>
              </a:rPr>
              <a:t>…………</a:t>
            </a:r>
            <a:r>
              <a:rPr lang="en-US" sz="2000" i="1" dirty="0">
                <a:solidFill>
                  <a:schemeClr val="tx1"/>
                </a:solidFill>
              </a:rPr>
              <a:t> ze een nieuwe job heeft.</a:t>
            </a:r>
            <a:endParaRPr lang="en-US" sz="2000" dirty="0"/>
          </a:p>
        </p:txBody>
      </p:sp>
      <p:sp>
        <p:nvSpPr>
          <p:cNvPr id="9" name="Shape 5"/>
          <p:cNvSpPr/>
          <p:nvPr/>
        </p:nvSpPr>
        <p:spPr>
          <a:xfrm>
            <a:off x="9052560" y="2023872"/>
            <a:ext cx="2587752" cy="4267200"/>
          </a:xfrm>
          <a:prstGeom prst="roundRect">
            <a:avLst>
              <a:gd name="adj" fmla="val 2827"/>
            </a:avLst>
          </a:prstGeom>
          <a:solidFill>
            <a:schemeClr val="bg2"/>
          </a:solidFill>
          <a:ln w="12700">
            <a:solidFill>
              <a:srgbClr val="D5DCE6"/>
            </a:solidFill>
            <a:prstDash val="solid"/>
          </a:ln>
        </p:spPr>
      </p:sp>
      <p:sp>
        <p:nvSpPr>
          <p:cNvPr id="10" name="Text 6"/>
          <p:cNvSpPr txBox="1"/>
          <p:nvPr/>
        </p:nvSpPr>
        <p:spPr>
          <a:xfrm>
            <a:off x="9144000" y="2115312"/>
            <a:ext cx="2377440" cy="320040"/>
          </a:xfrm>
          <a:prstGeom prst="rect">
            <a:avLst/>
          </a:prstGeom>
          <a:noFill/>
          <a:ln/>
        </p:spPr>
        <p:txBody>
          <a:bodyPr wrap="square" lIns="0" tIns="0" rIns="0" bIns="0" rtlCol="0" anchor="t"/>
          <a:lstStyle/>
          <a:p>
            <a:pPr algn="ctr" indent="0" marL="0">
              <a:buNone/>
            </a:pPr>
            <a:r>
              <a:rPr lang="en-US" sz="1300" b="1" spc="200" kern="0" dirty="0">
                <a:solidFill>
                  <a:schemeClr val="accent5"/>
                </a:solidFill>
              </a:rPr>
              <a:t>BANQUE</a:t>
            </a:r>
            <a:endParaRPr lang="en-US" sz="1300" dirty="0"/>
          </a:p>
        </p:txBody>
      </p:sp>
      <p:sp>
        <p:nvSpPr>
          <p:cNvPr id="11" name="Shape 7"/>
          <p:cNvSpPr/>
          <p:nvPr/>
        </p:nvSpPr>
        <p:spPr>
          <a:xfrm>
            <a:off x="9235440" y="2572512"/>
            <a:ext cx="1051560" cy="548640"/>
          </a:xfrm>
          <a:prstGeom prst="roundRect">
            <a:avLst>
              <a:gd name="adj" fmla="val 50000"/>
            </a:avLst>
          </a:prstGeom>
          <a:solidFill>
            <a:schemeClr val="accent2"/>
          </a:solidFill>
          <a:ln w="12700">
            <a:solidFill>
              <a:srgbClr val="FFFFFF">
                <a:alpha val="0"/>
              </a:srgbClr>
            </a:solidFill>
            <a:prstDash val="solid"/>
          </a:ln>
        </p:spPr>
      </p:sp>
      <p:sp>
        <p:nvSpPr>
          <p:cNvPr id="12" name="Text 8"/>
          <p:cNvSpPr txBox="1"/>
          <p:nvPr/>
        </p:nvSpPr>
        <p:spPr>
          <a:xfrm>
            <a:off x="9235440" y="257251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en</a:t>
            </a:r>
            <a:endParaRPr lang="en-US" sz="1800" dirty="0"/>
          </a:p>
        </p:txBody>
      </p:sp>
      <p:sp>
        <p:nvSpPr>
          <p:cNvPr id="13" name="Shape 9"/>
          <p:cNvSpPr/>
          <p:nvPr/>
        </p:nvSpPr>
        <p:spPr>
          <a:xfrm>
            <a:off x="10424160" y="2572512"/>
            <a:ext cx="1051560" cy="548640"/>
          </a:xfrm>
          <a:prstGeom prst="roundRect">
            <a:avLst>
              <a:gd name="adj" fmla="val 50000"/>
            </a:avLst>
          </a:prstGeom>
          <a:solidFill>
            <a:schemeClr val="accent2"/>
          </a:solidFill>
          <a:ln w="12700">
            <a:solidFill>
              <a:srgbClr val="FFFFFF">
                <a:alpha val="0"/>
              </a:srgbClr>
            </a:solidFill>
            <a:prstDash val="solid"/>
          </a:ln>
        </p:spPr>
      </p:sp>
      <p:sp>
        <p:nvSpPr>
          <p:cNvPr id="14" name="Text 10"/>
          <p:cNvSpPr txBox="1"/>
          <p:nvPr/>
        </p:nvSpPr>
        <p:spPr>
          <a:xfrm>
            <a:off x="10424160" y="257251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maar</a:t>
            </a:r>
            <a:endParaRPr lang="en-US" sz="1800" dirty="0"/>
          </a:p>
        </p:txBody>
      </p:sp>
      <p:sp>
        <p:nvSpPr>
          <p:cNvPr id="15" name="Shape 11"/>
          <p:cNvSpPr/>
          <p:nvPr/>
        </p:nvSpPr>
        <p:spPr>
          <a:xfrm>
            <a:off x="9235440" y="3304032"/>
            <a:ext cx="1051560" cy="548640"/>
          </a:xfrm>
          <a:prstGeom prst="roundRect">
            <a:avLst>
              <a:gd name="adj" fmla="val 50000"/>
            </a:avLst>
          </a:prstGeom>
          <a:solidFill>
            <a:schemeClr val="accent2"/>
          </a:solidFill>
          <a:ln w="12700">
            <a:solidFill>
              <a:srgbClr val="FFFFFF">
                <a:alpha val="0"/>
              </a:srgbClr>
            </a:solidFill>
            <a:prstDash val="solid"/>
          </a:ln>
        </p:spPr>
      </p:sp>
      <p:sp>
        <p:nvSpPr>
          <p:cNvPr id="16" name="Text 12"/>
          <p:cNvSpPr txBox="1"/>
          <p:nvPr/>
        </p:nvSpPr>
        <p:spPr>
          <a:xfrm>
            <a:off x="9235440" y="330403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want</a:t>
            </a:r>
            <a:endParaRPr lang="en-US" sz="1800" dirty="0"/>
          </a:p>
        </p:txBody>
      </p:sp>
      <p:sp>
        <p:nvSpPr>
          <p:cNvPr id="17" name="Shape 13"/>
          <p:cNvSpPr/>
          <p:nvPr/>
        </p:nvSpPr>
        <p:spPr>
          <a:xfrm>
            <a:off x="10424160" y="3304032"/>
            <a:ext cx="1051560" cy="548640"/>
          </a:xfrm>
          <a:prstGeom prst="roundRect">
            <a:avLst>
              <a:gd name="adj" fmla="val 50000"/>
            </a:avLst>
          </a:prstGeom>
          <a:solidFill>
            <a:schemeClr val="accent2"/>
          </a:solidFill>
          <a:ln w="12700">
            <a:solidFill>
              <a:srgbClr val="FFFFFF">
                <a:alpha val="0"/>
              </a:srgbClr>
            </a:solidFill>
            <a:prstDash val="solid"/>
          </a:ln>
        </p:spPr>
      </p:sp>
      <p:sp>
        <p:nvSpPr>
          <p:cNvPr id="18" name="Text 14"/>
          <p:cNvSpPr txBox="1"/>
          <p:nvPr/>
        </p:nvSpPr>
        <p:spPr>
          <a:xfrm>
            <a:off x="10424160" y="330403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dus</a:t>
            </a:r>
            <a:endParaRPr lang="en-US" sz="1800" dirty="0"/>
          </a:p>
        </p:txBody>
      </p:sp>
      <p:sp>
        <p:nvSpPr>
          <p:cNvPr id="19" name="Shape 15"/>
          <p:cNvSpPr/>
          <p:nvPr/>
        </p:nvSpPr>
        <p:spPr>
          <a:xfrm>
            <a:off x="9235440" y="4035552"/>
            <a:ext cx="1051560" cy="548640"/>
          </a:xfrm>
          <a:prstGeom prst="roundRect">
            <a:avLst>
              <a:gd name="adj" fmla="val 50000"/>
            </a:avLst>
          </a:prstGeom>
          <a:solidFill>
            <a:schemeClr val="accent1"/>
          </a:solidFill>
          <a:ln w="12700">
            <a:solidFill>
              <a:srgbClr val="FFFFFF">
                <a:alpha val="0"/>
              </a:srgbClr>
            </a:solidFill>
            <a:prstDash val="solid"/>
          </a:ln>
        </p:spPr>
      </p:sp>
      <p:sp>
        <p:nvSpPr>
          <p:cNvPr id="20" name="Text 16"/>
          <p:cNvSpPr txBox="1"/>
          <p:nvPr/>
        </p:nvSpPr>
        <p:spPr>
          <a:xfrm>
            <a:off x="9235440" y="403555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omdat</a:t>
            </a:r>
            <a:endParaRPr lang="en-US" sz="1800" dirty="0"/>
          </a:p>
        </p:txBody>
      </p:sp>
      <p:sp>
        <p:nvSpPr>
          <p:cNvPr id="21" name="Shape 17"/>
          <p:cNvSpPr/>
          <p:nvPr/>
        </p:nvSpPr>
        <p:spPr>
          <a:xfrm>
            <a:off x="10424160" y="4035552"/>
            <a:ext cx="1051560" cy="548640"/>
          </a:xfrm>
          <a:prstGeom prst="roundRect">
            <a:avLst>
              <a:gd name="adj" fmla="val 50000"/>
            </a:avLst>
          </a:prstGeom>
          <a:solidFill>
            <a:schemeClr val="accent1"/>
          </a:solidFill>
          <a:ln w="12700">
            <a:solidFill>
              <a:srgbClr val="FFFFFF">
                <a:alpha val="0"/>
              </a:srgbClr>
            </a:solidFill>
            <a:prstDash val="solid"/>
          </a:ln>
        </p:spPr>
      </p:sp>
      <p:sp>
        <p:nvSpPr>
          <p:cNvPr id="22" name="Text 18"/>
          <p:cNvSpPr txBox="1"/>
          <p:nvPr/>
        </p:nvSpPr>
        <p:spPr>
          <a:xfrm>
            <a:off x="10424160" y="403555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als</a:t>
            </a:r>
            <a:endParaRPr lang="en-US" sz="1800" dirty="0"/>
          </a:p>
        </p:txBody>
      </p:sp>
      <p:sp>
        <p:nvSpPr>
          <p:cNvPr id="23" name="Shape 19"/>
          <p:cNvSpPr/>
          <p:nvPr/>
        </p:nvSpPr>
        <p:spPr>
          <a:xfrm>
            <a:off x="9235440" y="4767072"/>
            <a:ext cx="1051560" cy="548640"/>
          </a:xfrm>
          <a:prstGeom prst="roundRect">
            <a:avLst>
              <a:gd name="adj" fmla="val 50000"/>
            </a:avLst>
          </a:prstGeom>
          <a:solidFill>
            <a:schemeClr val="accent1"/>
          </a:solidFill>
          <a:ln w="12700">
            <a:solidFill>
              <a:srgbClr val="FFFFFF">
                <a:alpha val="0"/>
              </a:srgbClr>
            </a:solidFill>
            <a:prstDash val="solid"/>
          </a:ln>
        </p:spPr>
      </p:sp>
      <p:sp>
        <p:nvSpPr>
          <p:cNvPr id="24" name="Text 20"/>
          <p:cNvSpPr txBox="1"/>
          <p:nvPr/>
        </p:nvSpPr>
        <p:spPr>
          <a:xfrm>
            <a:off x="9235440" y="476707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dat</a:t>
            </a:r>
            <a:endParaRPr lang="en-US" sz="1800" dirty="0"/>
          </a:p>
        </p:txBody>
      </p:sp>
      <p:sp>
        <p:nvSpPr>
          <p:cNvPr id="25" name="Shape 21"/>
          <p:cNvSpPr/>
          <p:nvPr/>
        </p:nvSpPr>
        <p:spPr>
          <a:xfrm>
            <a:off x="10424160" y="4767072"/>
            <a:ext cx="1051560" cy="548640"/>
          </a:xfrm>
          <a:prstGeom prst="roundRect">
            <a:avLst>
              <a:gd name="adj" fmla="val 50000"/>
            </a:avLst>
          </a:prstGeom>
          <a:solidFill>
            <a:srgbClr val="6E4A9E"/>
          </a:solidFill>
          <a:ln w="12700">
            <a:solidFill>
              <a:srgbClr val="FFFFFF">
                <a:alpha val="0"/>
              </a:srgbClr>
            </a:solidFill>
            <a:prstDash val="solid"/>
          </a:ln>
        </p:spPr>
      </p:sp>
      <p:sp>
        <p:nvSpPr>
          <p:cNvPr id="26" name="Text 22"/>
          <p:cNvSpPr txBox="1"/>
          <p:nvPr/>
        </p:nvSpPr>
        <p:spPr>
          <a:xfrm>
            <a:off x="10424160" y="476707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of</a:t>
            </a:r>
            <a:endParaRPr lang="en-US" sz="1800" dirty="0"/>
          </a:p>
        </p:txBody>
      </p:sp>
      <p:sp>
        <p:nvSpPr>
          <p:cNvPr id="27" name="Text 23"/>
          <p:cNvSpPr txBox="1"/>
          <p:nvPr/>
        </p:nvSpPr>
        <p:spPr>
          <a:xfrm>
            <a:off x="9098280" y="5590032"/>
            <a:ext cx="2514600" cy="365760"/>
          </a:xfrm>
          <a:prstGeom prst="rect">
            <a:avLst/>
          </a:prstGeom>
          <a:noFill/>
          <a:ln/>
        </p:spPr>
        <p:txBody>
          <a:bodyPr wrap="square" lIns="0" tIns="0" rIns="0" bIns="0" rtlCol="0" anchor="t"/>
          <a:lstStyle/>
          <a:p>
            <a:pPr algn="ctr" indent="0" marL="0">
              <a:buNone/>
            </a:pPr>
            <a:r>
              <a:rPr lang="en-US" sz="1300" b="1" dirty="0">
                <a:solidFill>
                  <a:schemeClr val="accent2"/>
                </a:solidFill>
              </a:rPr>
              <a:t>bleu</a:t>
            </a:r>
            <a:r>
              <a:rPr lang="en-US" sz="1300" dirty="0">
                <a:solidFill>
                  <a:schemeClr val="accent5"/>
                </a:solidFill>
              </a:rPr>
              <a:t> = pont · </a:t>
            </a:r>
            <a:r>
              <a:rPr lang="en-US" sz="1300" b="1" dirty="0">
                <a:solidFill>
                  <a:schemeClr val="accent1"/>
                </a:solidFill>
              </a:rPr>
              <a:t>orange</a:t>
            </a:r>
            <a:r>
              <a:rPr lang="en-US" sz="1300" dirty="0">
                <a:solidFill>
                  <a:schemeClr val="accent5"/>
                </a:solidFill>
              </a:rPr>
              <a:t> = crochet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Le bon mot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un mot de la banque. Regardez la place du verbe !</a:t>
            </a:r>
            <a:endParaRPr lang="en-US" sz="1700" dirty="0"/>
          </a:p>
        </p:txBody>
      </p:sp>
      <p:sp>
        <p:nvSpPr>
          <p:cNvPr id="9" name="Text 5"/>
          <p:cNvSpPr txBox="1"/>
          <p:nvPr/>
        </p:nvSpPr>
        <p:spPr>
          <a:xfrm>
            <a:off x="548640" y="2023872"/>
            <a:ext cx="8229600" cy="4267200"/>
          </a:xfrm>
          <a:prstGeom prst="rect">
            <a:avLst/>
          </a:prstGeom>
          <a:noFill/>
          <a:ln/>
        </p:spPr>
        <p:txBody>
          <a:bodyPr wrap="square" lIns="0" tIns="0" rIns="0" bIns="0" rtlCol="0" anchor="t"/>
          <a:lstStyle/>
          <a:p>
            <a:pPr indent="0" marL="0">
              <a:spcAft>
                <a:spcPts val="900"/>
              </a:spcAft>
              <a:buNone/>
            </a:pPr>
            <a:r>
              <a:rPr lang="en-US" sz="2000" b="1" dirty="0">
                <a:solidFill>
                  <a:schemeClr val="tx2"/>
                </a:solidFill>
              </a:rPr>
              <a:t>1  </a:t>
            </a:r>
            <a:r>
              <a:rPr lang="en-US" sz="2000" i="1" dirty="0">
                <a:solidFill>
                  <a:schemeClr val="tx1"/>
                </a:solidFill>
              </a:rPr>
              <a:t>Ik drink koffie </a:t>
            </a:r>
            <a:r>
              <a:rPr lang="en-US" sz="2000" b="1" i="1" dirty="0">
                <a:solidFill>
                  <a:schemeClr val="accent3"/>
                </a:solidFill>
              </a:rPr>
              <a:t>en</a:t>
            </a:r>
            <a:r>
              <a:rPr lang="en-US" sz="2000" i="1" dirty="0">
                <a:solidFill>
                  <a:schemeClr val="tx1"/>
                </a:solidFill>
              </a:rPr>
              <a:t> Sofie drinkt thee.</a:t>
            </a:r>
            <a:endParaRPr lang="en-US" sz="2000" dirty="0"/>
          </a:p>
          <a:p>
            <a:pPr indent="0" marL="0">
              <a:spcAft>
                <a:spcPts val="900"/>
              </a:spcAft>
              <a:buNone/>
            </a:pPr>
            <a:r>
              <a:rPr lang="en-US" sz="2000" b="1" dirty="0">
                <a:solidFill>
                  <a:schemeClr val="tx2"/>
                </a:solidFill>
              </a:rPr>
              <a:t>2  </a:t>
            </a:r>
            <a:r>
              <a:rPr lang="en-US" sz="2000" i="1" dirty="0">
                <a:solidFill>
                  <a:schemeClr val="tx1"/>
                </a:solidFill>
              </a:rPr>
              <a:t>Ik weet </a:t>
            </a:r>
            <a:r>
              <a:rPr lang="en-US" sz="2000" b="1" i="1" dirty="0">
                <a:solidFill>
                  <a:schemeClr val="accent3"/>
                </a:solidFill>
              </a:rPr>
              <a:t>dat</a:t>
            </a:r>
            <a:r>
              <a:rPr lang="en-US" sz="2000" i="1" dirty="0">
                <a:solidFill>
                  <a:schemeClr val="tx1"/>
                </a:solidFill>
              </a:rPr>
              <a:t> je het druk hebt.</a:t>
            </a:r>
            <a:endParaRPr lang="en-US" sz="2000" dirty="0"/>
          </a:p>
          <a:p>
            <a:pPr indent="0" marL="0">
              <a:spcAft>
                <a:spcPts val="900"/>
              </a:spcAft>
              <a:buNone/>
            </a:pPr>
            <a:r>
              <a:rPr lang="en-US" sz="2000" b="1" dirty="0">
                <a:solidFill>
                  <a:schemeClr val="tx2"/>
                </a:solidFill>
              </a:rPr>
              <a:t>3  </a:t>
            </a:r>
            <a:r>
              <a:rPr lang="en-US" sz="2000" b="1" i="1" dirty="0">
                <a:solidFill>
                  <a:schemeClr val="accent3"/>
                </a:solidFill>
              </a:rPr>
              <a:t>Als</a:t>
            </a:r>
            <a:r>
              <a:rPr lang="en-US" sz="2000" i="1" dirty="0">
                <a:solidFill>
                  <a:schemeClr val="tx1"/>
                </a:solidFill>
              </a:rPr>
              <a:t> het regent, neem ik de bus.</a:t>
            </a:r>
            <a:endParaRPr lang="en-US" sz="2000" dirty="0"/>
          </a:p>
          <a:p>
            <a:pPr indent="0" marL="0">
              <a:spcAft>
                <a:spcPts val="900"/>
              </a:spcAft>
              <a:buNone/>
            </a:pPr>
            <a:r>
              <a:rPr lang="en-US" sz="2000" b="1" dirty="0">
                <a:solidFill>
                  <a:schemeClr val="tx2"/>
                </a:solidFill>
              </a:rPr>
              <a:t>4  </a:t>
            </a:r>
            <a:r>
              <a:rPr lang="en-US" sz="2000" i="1" dirty="0">
                <a:solidFill>
                  <a:schemeClr val="tx1"/>
                </a:solidFill>
              </a:rPr>
              <a:t>Karim is moe, </a:t>
            </a:r>
            <a:r>
              <a:rPr lang="en-US" sz="2000" b="1" i="1" dirty="0">
                <a:solidFill>
                  <a:schemeClr val="accent3"/>
                </a:solidFill>
              </a:rPr>
              <a:t>maar</a:t>
            </a:r>
            <a:r>
              <a:rPr lang="en-US" sz="2000" i="1" dirty="0">
                <a:solidFill>
                  <a:schemeClr val="tx1"/>
                </a:solidFill>
              </a:rPr>
              <a:t> hij werkt nog.</a:t>
            </a:r>
            <a:endParaRPr lang="en-US" sz="2000" dirty="0"/>
          </a:p>
          <a:p>
            <a:pPr indent="0" marL="0">
              <a:spcAft>
                <a:spcPts val="900"/>
              </a:spcAft>
              <a:buNone/>
            </a:pPr>
            <a:r>
              <a:rPr lang="en-US" sz="2000" b="1" dirty="0">
                <a:solidFill>
                  <a:schemeClr val="tx2"/>
                </a:solidFill>
              </a:rPr>
              <a:t>5  </a:t>
            </a:r>
            <a:r>
              <a:rPr lang="en-US" sz="2000" i="1" dirty="0">
                <a:solidFill>
                  <a:schemeClr val="tx1"/>
                </a:solidFill>
              </a:rPr>
              <a:t>Ik bel je, </a:t>
            </a:r>
            <a:r>
              <a:rPr lang="en-US" sz="2000" b="1" i="1" dirty="0">
                <a:solidFill>
                  <a:schemeClr val="accent3"/>
                </a:solidFill>
              </a:rPr>
              <a:t>want</a:t>
            </a:r>
            <a:r>
              <a:rPr lang="en-US" sz="2000" i="1" dirty="0">
                <a:solidFill>
                  <a:schemeClr val="tx1"/>
                </a:solidFill>
              </a:rPr>
              <a:t> ik heb een vraag.</a:t>
            </a:r>
            <a:endParaRPr lang="en-US" sz="2000" dirty="0"/>
          </a:p>
          <a:p>
            <a:pPr indent="0" marL="0">
              <a:spcAft>
                <a:spcPts val="900"/>
              </a:spcAft>
              <a:buNone/>
            </a:pPr>
            <a:r>
              <a:rPr lang="en-US" sz="2000" b="1" dirty="0">
                <a:solidFill>
                  <a:schemeClr val="tx2"/>
                </a:solidFill>
              </a:rPr>
              <a:t>6  </a:t>
            </a:r>
            <a:r>
              <a:rPr lang="en-US" sz="2000" i="1" dirty="0">
                <a:solidFill>
                  <a:schemeClr val="tx1"/>
                </a:solidFill>
              </a:rPr>
              <a:t>Ik weet niet </a:t>
            </a:r>
            <a:r>
              <a:rPr lang="en-US" sz="2000" b="1" i="1" dirty="0">
                <a:solidFill>
                  <a:schemeClr val="accent3"/>
                </a:solidFill>
              </a:rPr>
              <a:t>of</a:t>
            </a:r>
            <a:r>
              <a:rPr lang="en-US" sz="2000" i="1" dirty="0">
                <a:solidFill>
                  <a:schemeClr val="tx1"/>
                </a:solidFill>
              </a:rPr>
              <a:t> de vergadering om 10 uur begint.</a:t>
            </a:r>
            <a:endParaRPr lang="en-US" sz="2000" dirty="0"/>
          </a:p>
          <a:p>
            <a:pPr indent="0" marL="0">
              <a:spcAft>
                <a:spcPts val="900"/>
              </a:spcAft>
              <a:buNone/>
            </a:pPr>
            <a:r>
              <a:rPr lang="en-US" sz="2000" b="1" dirty="0">
                <a:solidFill>
                  <a:schemeClr val="tx2"/>
                </a:solidFill>
              </a:rPr>
              <a:t>7  </a:t>
            </a:r>
            <a:r>
              <a:rPr lang="en-US" sz="2000" i="1" dirty="0">
                <a:solidFill>
                  <a:schemeClr val="tx1"/>
                </a:solidFill>
              </a:rPr>
              <a:t>Het is laat, </a:t>
            </a:r>
            <a:r>
              <a:rPr lang="en-US" sz="2000" b="1" i="1" dirty="0">
                <a:solidFill>
                  <a:schemeClr val="accent3"/>
                </a:solidFill>
              </a:rPr>
              <a:t>dus</a:t>
            </a:r>
            <a:r>
              <a:rPr lang="en-US" sz="2000" i="1" dirty="0">
                <a:solidFill>
                  <a:schemeClr val="tx1"/>
                </a:solidFill>
              </a:rPr>
              <a:t> ik ga naar huis.</a:t>
            </a:r>
            <a:endParaRPr lang="en-US" sz="2000" dirty="0"/>
          </a:p>
          <a:p>
            <a:pPr indent="0" marL="0">
              <a:spcAft>
                <a:spcPts val="900"/>
              </a:spcAft>
              <a:buNone/>
            </a:pPr>
            <a:r>
              <a:rPr lang="en-US" sz="2000" b="1" dirty="0">
                <a:solidFill>
                  <a:schemeClr val="tx2"/>
                </a:solidFill>
              </a:rPr>
              <a:t>8  </a:t>
            </a:r>
            <a:r>
              <a:rPr lang="en-US" sz="2000" i="1" dirty="0">
                <a:solidFill>
                  <a:schemeClr val="tx1"/>
                </a:solidFill>
              </a:rPr>
              <a:t>Sofie is blij </a:t>
            </a:r>
            <a:r>
              <a:rPr lang="en-US" sz="2000" b="1" i="1" dirty="0">
                <a:solidFill>
                  <a:schemeClr val="accent3"/>
                </a:solidFill>
              </a:rPr>
              <a:t>omdat</a:t>
            </a:r>
            <a:r>
              <a:rPr lang="en-US" sz="2000" i="1" dirty="0">
                <a:solidFill>
                  <a:schemeClr val="tx1"/>
                </a:solidFill>
              </a:rPr>
              <a:t> ze een nieuwe job heeft.</a:t>
            </a:r>
            <a:endParaRPr lang="en-US" sz="2000" dirty="0"/>
          </a:p>
        </p:txBody>
      </p:sp>
      <p:sp>
        <p:nvSpPr>
          <p:cNvPr id="10" name="Shape 6"/>
          <p:cNvSpPr/>
          <p:nvPr/>
        </p:nvSpPr>
        <p:spPr>
          <a:xfrm>
            <a:off x="9052560" y="2023872"/>
            <a:ext cx="2587752" cy="4267200"/>
          </a:xfrm>
          <a:prstGeom prst="roundRect">
            <a:avLst>
              <a:gd name="adj" fmla="val 2827"/>
            </a:avLst>
          </a:prstGeom>
          <a:solidFill>
            <a:schemeClr val="bg2"/>
          </a:solidFill>
          <a:ln w="12700">
            <a:solidFill>
              <a:srgbClr val="D5DCE6"/>
            </a:solidFill>
            <a:prstDash val="solid"/>
          </a:ln>
        </p:spPr>
      </p:sp>
      <p:sp>
        <p:nvSpPr>
          <p:cNvPr id="11" name="Text 7"/>
          <p:cNvSpPr txBox="1"/>
          <p:nvPr/>
        </p:nvSpPr>
        <p:spPr>
          <a:xfrm>
            <a:off x="9144000" y="2115312"/>
            <a:ext cx="2377440" cy="320040"/>
          </a:xfrm>
          <a:prstGeom prst="rect">
            <a:avLst/>
          </a:prstGeom>
          <a:noFill/>
          <a:ln/>
        </p:spPr>
        <p:txBody>
          <a:bodyPr wrap="square" lIns="0" tIns="0" rIns="0" bIns="0" rtlCol="0" anchor="t"/>
          <a:lstStyle/>
          <a:p>
            <a:pPr algn="ctr" indent="0" marL="0">
              <a:buNone/>
            </a:pPr>
            <a:r>
              <a:rPr lang="en-US" sz="1300" b="1" spc="200" kern="0" dirty="0">
                <a:solidFill>
                  <a:schemeClr val="accent5"/>
                </a:solidFill>
              </a:rPr>
              <a:t>BANQUE</a:t>
            </a:r>
            <a:endParaRPr lang="en-US" sz="1300" dirty="0"/>
          </a:p>
        </p:txBody>
      </p:sp>
      <p:sp>
        <p:nvSpPr>
          <p:cNvPr id="12" name="Shape 8"/>
          <p:cNvSpPr/>
          <p:nvPr/>
        </p:nvSpPr>
        <p:spPr>
          <a:xfrm>
            <a:off x="9235440" y="2572512"/>
            <a:ext cx="1051560" cy="548640"/>
          </a:xfrm>
          <a:prstGeom prst="roundRect">
            <a:avLst>
              <a:gd name="adj" fmla="val 50000"/>
            </a:avLst>
          </a:prstGeom>
          <a:solidFill>
            <a:schemeClr val="accent2"/>
          </a:solidFill>
          <a:ln w="12700">
            <a:solidFill>
              <a:srgbClr val="FFFFFF">
                <a:alpha val="0"/>
              </a:srgbClr>
            </a:solidFill>
            <a:prstDash val="solid"/>
          </a:ln>
        </p:spPr>
      </p:sp>
      <p:sp>
        <p:nvSpPr>
          <p:cNvPr id="13" name="Text 9"/>
          <p:cNvSpPr txBox="1"/>
          <p:nvPr/>
        </p:nvSpPr>
        <p:spPr>
          <a:xfrm>
            <a:off x="9235440" y="257251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en</a:t>
            </a:r>
            <a:endParaRPr lang="en-US" sz="1800" dirty="0"/>
          </a:p>
        </p:txBody>
      </p:sp>
      <p:sp>
        <p:nvSpPr>
          <p:cNvPr id="14" name="Shape 10"/>
          <p:cNvSpPr/>
          <p:nvPr/>
        </p:nvSpPr>
        <p:spPr>
          <a:xfrm>
            <a:off x="10424160" y="2572512"/>
            <a:ext cx="1051560" cy="548640"/>
          </a:xfrm>
          <a:prstGeom prst="roundRect">
            <a:avLst>
              <a:gd name="adj" fmla="val 50000"/>
            </a:avLst>
          </a:prstGeom>
          <a:solidFill>
            <a:schemeClr val="accent2"/>
          </a:solidFill>
          <a:ln w="12700">
            <a:solidFill>
              <a:srgbClr val="FFFFFF">
                <a:alpha val="0"/>
              </a:srgbClr>
            </a:solidFill>
            <a:prstDash val="solid"/>
          </a:ln>
        </p:spPr>
      </p:sp>
      <p:sp>
        <p:nvSpPr>
          <p:cNvPr id="15" name="Text 11"/>
          <p:cNvSpPr txBox="1"/>
          <p:nvPr/>
        </p:nvSpPr>
        <p:spPr>
          <a:xfrm>
            <a:off x="10424160" y="257251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maar</a:t>
            </a:r>
            <a:endParaRPr lang="en-US" sz="1800" dirty="0"/>
          </a:p>
        </p:txBody>
      </p:sp>
      <p:sp>
        <p:nvSpPr>
          <p:cNvPr id="16" name="Shape 12"/>
          <p:cNvSpPr/>
          <p:nvPr/>
        </p:nvSpPr>
        <p:spPr>
          <a:xfrm>
            <a:off x="9235440" y="3304032"/>
            <a:ext cx="1051560" cy="548640"/>
          </a:xfrm>
          <a:prstGeom prst="roundRect">
            <a:avLst>
              <a:gd name="adj" fmla="val 50000"/>
            </a:avLst>
          </a:prstGeom>
          <a:solidFill>
            <a:schemeClr val="accent2"/>
          </a:solidFill>
          <a:ln w="12700">
            <a:solidFill>
              <a:srgbClr val="FFFFFF">
                <a:alpha val="0"/>
              </a:srgbClr>
            </a:solidFill>
            <a:prstDash val="solid"/>
          </a:ln>
        </p:spPr>
      </p:sp>
      <p:sp>
        <p:nvSpPr>
          <p:cNvPr id="17" name="Text 13"/>
          <p:cNvSpPr txBox="1"/>
          <p:nvPr/>
        </p:nvSpPr>
        <p:spPr>
          <a:xfrm>
            <a:off x="9235440" y="330403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want</a:t>
            </a:r>
            <a:endParaRPr lang="en-US" sz="1800" dirty="0"/>
          </a:p>
        </p:txBody>
      </p:sp>
      <p:sp>
        <p:nvSpPr>
          <p:cNvPr id="18" name="Shape 14"/>
          <p:cNvSpPr/>
          <p:nvPr/>
        </p:nvSpPr>
        <p:spPr>
          <a:xfrm>
            <a:off x="10424160" y="3304032"/>
            <a:ext cx="1051560" cy="548640"/>
          </a:xfrm>
          <a:prstGeom prst="roundRect">
            <a:avLst>
              <a:gd name="adj" fmla="val 50000"/>
            </a:avLst>
          </a:prstGeom>
          <a:solidFill>
            <a:schemeClr val="accent2"/>
          </a:solidFill>
          <a:ln w="12700">
            <a:solidFill>
              <a:srgbClr val="FFFFFF">
                <a:alpha val="0"/>
              </a:srgbClr>
            </a:solidFill>
            <a:prstDash val="solid"/>
          </a:ln>
        </p:spPr>
      </p:sp>
      <p:sp>
        <p:nvSpPr>
          <p:cNvPr id="19" name="Text 15"/>
          <p:cNvSpPr txBox="1"/>
          <p:nvPr/>
        </p:nvSpPr>
        <p:spPr>
          <a:xfrm>
            <a:off x="10424160" y="330403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dus</a:t>
            </a:r>
            <a:endParaRPr lang="en-US" sz="1800" dirty="0"/>
          </a:p>
        </p:txBody>
      </p:sp>
      <p:sp>
        <p:nvSpPr>
          <p:cNvPr id="20" name="Shape 16"/>
          <p:cNvSpPr/>
          <p:nvPr/>
        </p:nvSpPr>
        <p:spPr>
          <a:xfrm>
            <a:off x="9235440" y="4035552"/>
            <a:ext cx="1051560" cy="548640"/>
          </a:xfrm>
          <a:prstGeom prst="roundRect">
            <a:avLst>
              <a:gd name="adj" fmla="val 50000"/>
            </a:avLst>
          </a:prstGeom>
          <a:solidFill>
            <a:schemeClr val="accent1"/>
          </a:solidFill>
          <a:ln w="12700">
            <a:solidFill>
              <a:srgbClr val="FFFFFF">
                <a:alpha val="0"/>
              </a:srgbClr>
            </a:solidFill>
            <a:prstDash val="solid"/>
          </a:ln>
        </p:spPr>
      </p:sp>
      <p:sp>
        <p:nvSpPr>
          <p:cNvPr id="21" name="Text 17"/>
          <p:cNvSpPr txBox="1"/>
          <p:nvPr/>
        </p:nvSpPr>
        <p:spPr>
          <a:xfrm>
            <a:off x="9235440" y="403555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omdat</a:t>
            </a:r>
            <a:endParaRPr lang="en-US" sz="1800" dirty="0"/>
          </a:p>
        </p:txBody>
      </p:sp>
      <p:sp>
        <p:nvSpPr>
          <p:cNvPr id="22" name="Shape 18"/>
          <p:cNvSpPr/>
          <p:nvPr/>
        </p:nvSpPr>
        <p:spPr>
          <a:xfrm>
            <a:off x="10424160" y="4035552"/>
            <a:ext cx="1051560" cy="548640"/>
          </a:xfrm>
          <a:prstGeom prst="roundRect">
            <a:avLst>
              <a:gd name="adj" fmla="val 50000"/>
            </a:avLst>
          </a:prstGeom>
          <a:solidFill>
            <a:schemeClr val="accent1"/>
          </a:solidFill>
          <a:ln w="12700">
            <a:solidFill>
              <a:srgbClr val="FFFFFF">
                <a:alpha val="0"/>
              </a:srgbClr>
            </a:solidFill>
            <a:prstDash val="solid"/>
          </a:ln>
        </p:spPr>
      </p:sp>
      <p:sp>
        <p:nvSpPr>
          <p:cNvPr id="23" name="Text 19"/>
          <p:cNvSpPr txBox="1"/>
          <p:nvPr/>
        </p:nvSpPr>
        <p:spPr>
          <a:xfrm>
            <a:off x="10424160" y="403555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als</a:t>
            </a:r>
            <a:endParaRPr lang="en-US" sz="1800" dirty="0"/>
          </a:p>
        </p:txBody>
      </p:sp>
      <p:sp>
        <p:nvSpPr>
          <p:cNvPr id="24" name="Shape 20"/>
          <p:cNvSpPr/>
          <p:nvPr/>
        </p:nvSpPr>
        <p:spPr>
          <a:xfrm>
            <a:off x="9235440" y="4767072"/>
            <a:ext cx="1051560" cy="548640"/>
          </a:xfrm>
          <a:prstGeom prst="roundRect">
            <a:avLst>
              <a:gd name="adj" fmla="val 50000"/>
            </a:avLst>
          </a:prstGeom>
          <a:solidFill>
            <a:schemeClr val="accent1"/>
          </a:solidFill>
          <a:ln w="12700">
            <a:solidFill>
              <a:srgbClr val="FFFFFF">
                <a:alpha val="0"/>
              </a:srgbClr>
            </a:solidFill>
            <a:prstDash val="solid"/>
          </a:ln>
        </p:spPr>
      </p:sp>
      <p:sp>
        <p:nvSpPr>
          <p:cNvPr id="25" name="Text 21"/>
          <p:cNvSpPr txBox="1"/>
          <p:nvPr/>
        </p:nvSpPr>
        <p:spPr>
          <a:xfrm>
            <a:off x="9235440" y="476707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dat</a:t>
            </a:r>
            <a:endParaRPr lang="en-US" sz="1800" dirty="0"/>
          </a:p>
        </p:txBody>
      </p:sp>
      <p:sp>
        <p:nvSpPr>
          <p:cNvPr id="26" name="Shape 22"/>
          <p:cNvSpPr/>
          <p:nvPr/>
        </p:nvSpPr>
        <p:spPr>
          <a:xfrm>
            <a:off x="10424160" y="4767072"/>
            <a:ext cx="1051560" cy="548640"/>
          </a:xfrm>
          <a:prstGeom prst="roundRect">
            <a:avLst>
              <a:gd name="adj" fmla="val 50000"/>
            </a:avLst>
          </a:prstGeom>
          <a:solidFill>
            <a:srgbClr val="6E4A9E"/>
          </a:solidFill>
          <a:ln w="12700">
            <a:solidFill>
              <a:srgbClr val="FFFFFF">
                <a:alpha val="0"/>
              </a:srgbClr>
            </a:solidFill>
            <a:prstDash val="solid"/>
          </a:ln>
        </p:spPr>
      </p:sp>
      <p:sp>
        <p:nvSpPr>
          <p:cNvPr id="27" name="Text 23"/>
          <p:cNvSpPr txBox="1"/>
          <p:nvPr/>
        </p:nvSpPr>
        <p:spPr>
          <a:xfrm>
            <a:off x="10424160" y="4767072"/>
            <a:ext cx="1051560" cy="548640"/>
          </a:xfrm>
          <a:prstGeom prst="rect">
            <a:avLst/>
          </a:prstGeom>
          <a:noFill/>
          <a:ln/>
        </p:spPr>
        <p:txBody>
          <a:bodyPr wrap="square" lIns="0" tIns="0" rIns="0" bIns="0" rtlCol="0" anchor="ctr"/>
          <a:lstStyle/>
          <a:p>
            <a:pPr algn="ctr" indent="0" marL="0">
              <a:buNone/>
            </a:pPr>
            <a:r>
              <a:rPr lang="en-US" sz="1800" b="1" dirty="0">
                <a:solidFill>
                  <a:schemeClr val="bg1"/>
                </a:solidFill>
              </a:rPr>
              <a:t>of</a:t>
            </a:r>
            <a:endParaRPr lang="en-US" sz="1800" dirty="0"/>
          </a:p>
        </p:txBody>
      </p:sp>
      <p:sp>
        <p:nvSpPr>
          <p:cNvPr id="28" name="Text 24"/>
          <p:cNvSpPr txBox="1"/>
          <p:nvPr/>
        </p:nvSpPr>
        <p:spPr>
          <a:xfrm>
            <a:off x="9098280" y="5590032"/>
            <a:ext cx="2514600" cy="365760"/>
          </a:xfrm>
          <a:prstGeom prst="rect">
            <a:avLst/>
          </a:prstGeom>
          <a:noFill/>
          <a:ln/>
        </p:spPr>
        <p:txBody>
          <a:bodyPr wrap="square" lIns="0" tIns="0" rIns="0" bIns="0" rtlCol="0" anchor="t"/>
          <a:lstStyle/>
          <a:p>
            <a:pPr algn="ctr" indent="0" marL="0">
              <a:buNone/>
            </a:pPr>
            <a:r>
              <a:rPr lang="en-US" sz="1300" b="1" dirty="0">
                <a:solidFill>
                  <a:schemeClr val="accent2"/>
                </a:solidFill>
              </a:rPr>
              <a:t>bleu</a:t>
            </a:r>
            <a:r>
              <a:rPr lang="en-US" sz="1300" dirty="0">
                <a:solidFill>
                  <a:schemeClr val="accent5"/>
                </a:solidFill>
              </a:rPr>
              <a:t> = pont · </a:t>
            </a:r>
            <a:r>
              <a:rPr lang="en-US" sz="1300" b="1" dirty="0">
                <a:solidFill>
                  <a:schemeClr val="accent1"/>
                </a:solidFill>
              </a:rPr>
              <a:t>orange</a:t>
            </a:r>
            <a:r>
              <a:rPr lang="en-US" sz="1300" dirty="0">
                <a:solidFill>
                  <a:schemeClr val="accent5"/>
                </a:solidFill>
              </a:rPr>
              <a:t> = crochet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Juist of fout?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La place du verbe est-elle correcte ? Votez !</a:t>
            </a:r>
            <a:endParaRPr lang="en-US" sz="1700" dirty="0"/>
          </a:p>
        </p:txBody>
      </p:sp>
      <p:sp>
        <p:nvSpPr>
          <p:cNvPr id="8" name="Shape 4"/>
          <p:cNvSpPr/>
          <p:nvPr/>
        </p:nvSpPr>
        <p:spPr>
          <a:xfrm>
            <a:off x="548640" y="1932432"/>
            <a:ext cx="5440680" cy="986790"/>
          </a:xfrm>
          <a:prstGeom prst="roundRect">
            <a:avLst>
              <a:gd name="adj" fmla="val 7413"/>
            </a:avLst>
          </a:prstGeom>
          <a:solidFill>
            <a:schemeClr val="bg1"/>
          </a:solidFill>
          <a:ln w="15875">
            <a:solidFill>
              <a:srgbClr val="D5DCE6"/>
            </a:solidFill>
            <a:prstDash val="solid"/>
          </a:ln>
        </p:spPr>
      </p:sp>
      <p:sp>
        <p:nvSpPr>
          <p:cNvPr id="9" name="Shape 5"/>
          <p:cNvSpPr/>
          <p:nvPr/>
        </p:nvSpPr>
        <p:spPr>
          <a:xfrm>
            <a:off x="658368" y="2042160"/>
            <a:ext cx="347472" cy="347472"/>
          </a:xfrm>
          <a:prstGeom prst="ellipse">
            <a:avLst/>
          </a:prstGeom>
          <a:solidFill>
            <a:schemeClr val="tx2"/>
          </a:solidFill>
          <a:ln w="12700">
            <a:solidFill>
              <a:srgbClr val="FFFFFF">
                <a:alpha val="0"/>
              </a:srgbClr>
            </a:solidFill>
            <a:prstDash val="solid"/>
          </a:ln>
        </p:spPr>
      </p:sp>
      <p:sp>
        <p:nvSpPr>
          <p:cNvPr id="10" name="Text 6"/>
          <p:cNvSpPr txBox="1"/>
          <p:nvPr/>
        </p:nvSpPr>
        <p:spPr>
          <a:xfrm>
            <a:off x="658368" y="20421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1097280" y="197815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blijf thuis omdat ik ben ziek.</a:t>
            </a:r>
            <a:endParaRPr lang="en-US" sz="1700" dirty="0"/>
          </a:p>
        </p:txBody>
      </p:sp>
      <p:pic>
        <p:nvPicPr>
          <p:cNvPr id="12" name="Image 1" descr="Check">    </p:cNvPr>
          <p:cNvPicPr>
            <a:picLocks noChangeAspect="1"/>
          </p:cNvPicPr>
          <p:nvPr/>
        </p:nvPicPr>
        <p:blipFill>
          <a:blip r:embed="rId2"/>
          <a:stretch>
            <a:fillRect/>
          </a:stretch>
        </p:blipFill>
        <p:spPr>
          <a:xfrm>
            <a:off x="5166360" y="2288667"/>
            <a:ext cx="274320" cy="274320"/>
          </a:xfrm>
          <a:prstGeom prst="rect">
            <a:avLst/>
          </a:prstGeom>
        </p:spPr>
      </p:pic>
      <p:pic>
        <p:nvPicPr>
          <p:cNvPr id="13" name="Image 2" descr="Times">    </p:cNvPr>
          <p:cNvPicPr>
            <a:picLocks noChangeAspect="1"/>
          </p:cNvPicPr>
          <p:nvPr/>
        </p:nvPicPr>
        <p:blipFill>
          <a:blip r:embed="rId3"/>
          <a:stretch>
            <a:fillRect/>
          </a:stretch>
        </p:blipFill>
        <p:spPr>
          <a:xfrm>
            <a:off x="5532120" y="2288667"/>
            <a:ext cx="274320" cy="274320"/>
          </a:xfrm>
          <a:prstGeom prst="rect">
            <a:avLst/>
          </a:prstGeom>
        </p:spPr>
      </p:pic>
      <p:sp>
        <p:nvSpPr>
          <p:cNvPr id="14" name="Shape 8"/>
          <p:cNvSpPr/>
          <p:nvPr/>
        </p:nvSpPr>
        <p:spPr>
          <a:xfrm>
            <a:off x="6199632" y="1932432"/>
            <a:ext cx="5440680" cy="986790"/>
          </a:xfrm>
          <a:prstGeom prst="roundRect">
            <a:avLst>
              <a:gd name="adj" fmla="val 7413"/>
            </a:avLst>
          </a:prstGeom>
          <a:solidFill>
            <a:schemeClr val="bg1"/>
          </a:solidFill>
          <a:ln w="15875">
            <a:solidFill>
              <a:srgbClr val="D5DCE6"/>
            </a:solidFill>
            <a:prstDash val="solid"/>
          </a:ln>
        </p:spPr>
      </p:sp>
      <p:sp>
        <p:nvSpPr>
          <p:cNvPr id="15" name="Shape 9"/>
          <p:cNvSpPr/>
          <p:nvPr/>
        </p:nvSpPr>
        <p:spPr>
          <a:xfrm>
            <a:off x="6309360" y="2042160"/>
            <a:ext cx="347472" cy="347472"/>
          </a:xfrm>
          <a:prstGeom prst="ellipse">
            <a:avLst/>
          </a:prstGeom>
          <a:solidFill>
            <a:schemeClr val="tx2"/>
          </a:solidFill>
          <a:ln w="12700">
            <a:solidFill>
              <a:srgbClr val="FFFFFF">
                <a:alpha val="0"/>
              </a:srgbClr>
            </a:solidFill>
            <a:prstDash val="solid"/>
          </a:ln>
        </p:spPr>
      </p:sp>
      <p:sp>
        <p:nvSpPr>
          <p:cNvPr id="16" name="Text 10"/>
          <p:cNvSpPr txBox="1"/>
          <p:nvPr/>
        </p:nvSpPr>
        <p:spPr>
          <a:xfrm>
            <a:off x="6309360" y="20421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7" name="Text 11"/>
          <p:cNvSpPr txBox="1"/>
          <p:nvPr/>
        </p:nvSpPr>
        <p:spPr>
          <a:xfrm>
            <a:off x="6748272" y="197815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denk dat Sofie vandaag thuis werkt.</a:t>
            </a:r>
            <a:endParaRPr lang="en-US" sz="1700" dirty="0"/>
          </a:p>
        </p:txBody>
      </p:sp>
      <p:pic>
        <p:nvPicPr>
          <p:cNvPr id="18" name="Image 3" descr="Check">    </p:cNvPr>
          <p:cNvPicPr>
            <a:picLocks noChangeAspect="1"/>
          </p:cNvPicPr>
          <p:nvPr/>
        </p:nvPicPr>
        <p:blipFill>
          <a:blip r:embed="rId4"/>
          <a:stretch>
            <a:fillRect/>
          </a:stretch>
        </p:blipFill>
        <p:spPr>
          <a:xfrm>
            <a:off x="10817352" y="2288667"/>
            <a:ext cx="274320" cy="274320"/>
          </a:xfrm>
          <a:prstGeom prst="rect">
            <a:avLst/>
          </a:prstGeom>
        </p:spPr>
      </p:pic>
      <p:pic>
        <p:nvPicPr>
          <p:cNvPr id="19" name="Image 4" descr="Times">    </p:cNvPr>
          <p:cNvPicPr>
            <a:picLocks noChangeAspect="1"/>
          </p:cNvPicPr>
          <p:nvPr/>
        </p:nvPicPr>
        <p:blipFill>
          <a:blip r:embed="rId5"/>
          <a:stretch>
            <a:fillRect/>
          </a:stretch>
        </p:blipFill>
        <p:spPr>
          <a:xfrm>
            <a:off x="11183112" y="2288667"/>
            <a:ext cx="274320" cy="274320"/>
          </a:xfrm>
          <a:prstGeom prst="rect">
            <a:avLst/>
          </a:prstGeom>
        </p:spPr>
      </p:pic>
      <p:sp>
        <p:nvSpPr>
          <p:cNvPr id="20" name="Shape 12"/>
          <p:cNvSpPr/>
          <p:nvPr/>
        </p:nvSpPr>
        <p:spPr>
          <a:xfrm>
            <a:off x="548640" y="3056382"/>
            <a:ext cx="5440680" cy="986790"/>
          </a:xfrm>
          <a:prstGeom prst="roundRect">
            <a:avLst>
              <a:gd name="adj" fmla="val 7413"/>
            </a:avLst>
          </a:prstGeom>
          <a:solidFill>
            <a:schemeClr val="bg1"/>
          </a:solidFill>
          <a:ln w="15875">
            <a:solidFill>
              <a:srgbClr val="D5DCE6"/>
            </a:solidFill>
            <a:prstDash val="solid"/>
          </a:ln>
        </p:spPr>
      </p:sp>
      <p:sp>
        <p:nvSpPr>
          <p:cNvPr id="21" name="Shape 13"/>
          <p:cNvSpPr/>
          <p:nvPr/>
        </p:nvSpPr>
        <p:spPr>
          <a:xfrm>
            <a:off x="658368" y="3166110"/>
            <a:ext cx="347472" cy="347472"/>
          </a:xfrm>
          <a:prstGeom prst="ellipse">
            <a:avLst/>
          </a:prstGeom>
          <a:solidFill>
            <a:schemeClr val="tx2"/>
          </a:solidFill>
          <a:ln w="12700">
            <a:solidFill>
              <a:srgbClr val="FFFFFF">
                <a:alpha val="0"/>
              </a:srgbClr>
            </a:solidFill>
            <a:prstDash val="solid"/>
          </a:ln>
        </p:spPr>
      </p:sp>
      <p:sp>
        <p:nvSpPr>
          <p:cNvPr id="22" name="Text 14"/>
          <p:cNvSpPr txBox="1"/>
          <p:nvPr/>
        </p:nvSpPr>
        <p:spPr>
          <a:xfrm>
            <a:off x="658368" y="31661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3" name="Text 15"/>
          <p:cNvSpPr txBox="1"/>
          <p:nvPr/>
        </p:nvSpPr>
        <p:spPr>
          <a:xfrm>
            <a:off x="1097280" y="310210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Als het regent, ik neem de bus.</a:t>
            </a:r>
            <a:endParaRPr lang="en-US" sz="1700" dirty="0"/>
          </a:p>
        </p:txBody>
      </p:sp>
      <p:pic>
        <p:nvPicPr>
          <p:cNvPr id="24" name="Image 5" descr="Check">    </p:cNvPr>
          <p:cNvPicPr>
            <a:picLocks noChangeAspect="1"/>
          </p:cNvPicPr>
          <p:nvPr/>
        </p:nvPicPr>
        <p:blipFill>
          <a:blip r:embed="rId6"/>
          <a:stretch>
            <a:fillRect/>
          </a:stretch>
        </p:blipFill>
        <p:spPr>
          <a:xfrm>
            <a:off x="5166360" y="3412617"/>
            <a:ext cx="274320" cy="274320"/>
          </a:xfrm>
          <a:prstGeom prst="rect">
            <a:avLst/>
          </a:prstGeom>
        </p:spPr>
      </p:pic>
      <p:pic>
        <p:nvPicPr>
          <p:cNvPr id="25" name="Image 6" descr="Times">    </p:cNvPr>
          <p:cNvPicPr>
            <a:picLocks noChangeAspect="1"/>
          </p:cNvPicPr>
          <p:nvPr/>
        </p:nvPicPr>
        <p:blipFill>
          <a:blip r:embed="rId7"/>
          <a:stretch>
            <a:fillRect/>
          </a:stretch>
        </p:blipFill>
        <p:spPr>
          <a:xfrm>
            <a:off x="5532120" y="3412617"/>
            <a:ext cx="274320" cy="274320"/>
          </a:xfrm>
          <a:prstGeom prst="rect">
            <a:avLst/>
          </a:prstGeom>
        </p:spPr>
      </p:pic>
      <p:sp>
        <p:nvSpPr>
          <p:cNvPr id="26" name="Shape 16"/>
          <p:cNvSpPr/>
          <p:nvPr/>
        </p:nvSpPr>
        <p:spPr>
          <a:xfrm>
            <a:off x="6199632" y="3056382"/>
            <a:ext cx="5440680" cy="986790"/>
          </a:xfrm>
          <a:prstGeom prst="roundRect">
            <a:avLst>
              <a:gd name="adj" fmla="val 7413"/>
            </a:avLst>
          </a:prstGeom>
          <a:solidFill>
            <a:schemeClr val="bg1"/>
          </a:solidFill>
          <a:ln w="15875">
            <a:solidFill>
              <a:srgbClr val="D5DCE6"/>
            </a:solidFill>
            <a:prstDash val="solid"/>
          </a:ln>
        </p:spPr>
      </p:sp>
      <p:sp>
        <p:nvSpPr>
          <p:cNvPr id="27" name="Shape 17"/>
          <p:cNvSpPr/>
          <p:nvPr/>
        </p:nvSpPr>
        <p:spPr>
          <a:xfrm>
            <a:off x="6309360" y="3166110"/>
            <a:ext cx="347472" cy="347472"/>
          </a:xfrm>
          <a:prstGeom prst="ellipse">
            <a:avLst/>
          </a:prstGeom>
          <a:solidFill>
            <a:schemeClr val="tx2"/>
          </a:solidFill>
          <a:ln w="12700">
            <a:solidFill>
              <a:srgbClr val="FFFFFF">
                <a:alpha val="0"/>
              </a:srgbClr>
            </a:solidFill>
            <a:prstDash val="solid"/>
          </a:ln>
        </p:spPr>
      </p:sp>
      <p:sp>
        <p:nvSpPr>
          <p:cNvPr id="28" name="Text 18"/>
          <p:cNvSpPr txBox="1"/>
          <p:nvPr/>
        </p:nvSpPr>
        <p:spPr>
          <a:xfrm>
            <a:off x="6309360" y="31661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9" name="Text 19"/>
          <p:cNvSpPr txBox="1"/>
          <p:nvPr/>
        </p:nvSpPr>
        <p:spPr>
          <a:xfrm>
            <a:off x="6748272" y="310210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neem de bus, want het regent.</a:t>
            </a:r>
            <a:endParaRPr lang="en-US" sz="1700" dirty="0"/>
          </a:p>
        </p:txBody>
      </p:sp>
      <p:pic>
        <p:nvPicPr>
          <p:cNvPr id="30" name="Image 7" descr="Check">    </p:cNvPr>
          <p:cNvPicPr>
            <a:picLocks noChangeAspect="1"/>
          </p:cNvPicPr>
          <p:nvPr/>
        </p:nvPicPr>
        <p:blipFill>
          <a:blip r:embed="rId8"/>
          <a:stretch>
            <a:fillRect/>
          </a:stretch>
        </p:blipFill>
        <p:spPr>
          <a:xfrm>
            <a:off x="10817352" y="3412617"/>
            <a:ext cx="274320" cy="274320"/>
          </a:xfrm>
          <a:prstGeom prst="rect">
            <a:avLst/>
          </a:prstGeom>
        </p:spPr>
      </p:pic>
      <p:pic>
        <p:nvPicPr>
          <p:cNvPr id="31" name="Image 8" descr="Times">    </p:cNvPr>
          <p:cNvPicPr>
            <a:picLocks noChangeAspect="1"/>
          </p:cNvPicPr>
          <p:nvPr/>
        </p:nvPicPr>
        <p:blipFill>
          <a:blip r:embed="rId9"/>
          <a:stretch>
            <a:fillRect/>
          </a:stretch>
        </p:blipFill>
        <p:spPr>
          <a:xfrm>
            <a:off x="11183112" y="3412617"/>
            <a:ext cx="274320" cy="274320"/>
          </a:xfrm>
          <a:prstGeom prst="rect">
            <a:avLst/>
          </a:prstGeom>
        </p:spPr>
      </p:pic>
      <p:sp>
        <p:nvSpPr>
          <p:cNvPr id="32" name="Shape 20"/>
          <p:cNvSpPr/>
          <p:nvPr/>
        </p:nvSpPr>
        <p:spPr>
          <a:xfrm>
            <a:off x="548640" y="4180332"/>
            <a:ext cx="5440680" cy="986790"/>
          </a:xfrm>
          <a:prstGeom prst="roundRect">
            <a:avLst>
              <a:gd name="adj" fmla="val 7413"/>
            </a:avLst>
          </a:prstGeom>
          <a:solidFill>
            <a:schemeClr val="bg1"/>
          </a:solidFill>
          <a:ln w="15875">
            <a:solidFill>
              <a:srgbClr val="D5DCE6"/>
            </a:solidFill>
            <a:prstDash val="solid"/>
          </a:ln>
        </p:spPr>
      </p:sp>
      <p:sp>
        <p:nvSpPr>
          <p:cNvPr id="33" name="Shape 21"/>
          <p:cNvSpPr/>
          <p:nvPr/>
        </p:nvSpPr>
        <p:spPr>
          <a:xfrm>
            <a:off x="658368" y="4290060"/>
            <a:ext cx="347472" cy="347472"/>
          </a:xfrm>
          <a:prstGeom prst="ellipse">
            <a:avLst/>
          </a:prstGeom>
          <a:solidFill>
            <a:schemeClr val="tx2"/>
          </a:solidFill>
          <a:ln w="12700">
            <a:solidFill>
              <a:srgbClr val="FFFFFF">
                <a:alpha val="0"/>
              </a:srgbClr>
            </a:solidFill>
            <a:prstDash val="solid"/>
          </a:ln>
        </p:spPr>
      </p:sp>
      <p:sp>
        <p:nvSpPr>
          <p:cNvPr id="34" name="Text 22"/>
          <p:cNvSpPr txBox="1"/>
          <p:nvPr/>
        </p:nvSpPr>
        <p:spPr>
          <a:xfrm>
            <a:off x="658368" y="42900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5" name="Text 23"/>
          <p:cNvSpPr txBox="1"/>
          <p:nvPr/>
        </p:nvSpPr>
        <p:spPr>
          <a:xfrm>
            <a:off x="1097280" y="422605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weet dat je het druk hebt.</a:t>
            </a:r>
            <a:endParaRPr lang="en-US" sz="1700" dirty="0"/>
          </a:p>
        </p:txBody>
      </p:sp>
      <p:pic>
        <p:nvPicPr>
          <p:cNvPr id="36" name="Image 9" descr="Check">    </p:cNvPr>
          <p:cNvPicPr>
            <a:picLocks noChangeAspect="1"/>
          </p:cNvPicPr>
          <p:nvPr/>
        </p:nvPicPr>
        <p:blipFill>
          <a:blip r:embed="rId10"/>
          <a:stretch>
            <a:fillRect/>
          </a:stretch>
        </p:blipFill>
        <p:spPr>
          <a:xfrm>
            <a:off x="5166360" y="4536567"/>
            <a:ext cx="274320" cy="274320"/>
          </a:xfrm>
          <a:prstGeom prst="rect">
            <a:avLst/>
          </a:prstGeom>
        </p:spPr>
      </p:pic>
      <p:pic>
        <p:nvPicPr>
          <p:cNvPr id="37" name="Image 10" descr="Times">    </p:cNvPr>
          <p:cNvPicPr>
            <a:picLocks noChangeAspect="1"/>
          </p:cNvPicPr>
          <p:nvPr/>
        </p:nvPicPr>
        <p:blipFill>
          <a:blip r:embed="rId11"/>
          <a:stretch>
            <a:fillRect/>
          </a:stretch>
        </p:blipFill>
        <p:spPr>
          <a:xfrm>
            <a:off x="5532120" y="4536567"/>
            <a:ext cx="274320" cy="274320"/>
          </a:xfrm>
          <a:prstGeom prst="rect">
            <a:avLst/>
          </a:prstGeom>
        </p:spPr>
      </p:pic>
      <p:sp>
        <p:nvSpPr>
          <p:cNvPr id="38" name="Shape 24"/>
          <p:cNvSpPr/>
          <p:nvPr/>
        </p:nvSpPr>
        <p:spPr>
          <a:xfrm>
            <a:off x="6199632" y="4180332"/>
            <a:ext cx="5440680" cy="986790"/>
          </a:xfrm>
          <a:prstGeom prst="roundRect">
            <a:avLst>
              <a:gd name="adj" fmla="val 7413"/>
            </a:avLst>
          </a:prstGeom>
          <a:solidFill>
            <a:schemeClr val="bg1"/>
          </a:solidFill>
          <a:ln w="15875">
            <a:solidFill>
              <a:srgbClr val="D5DCE6"/>
            </a:solidFill>
            <a:prstDash val="solid"/>
          </a:ln>
        </p:spPr>
      </p:sp>
      <p:sp>
        <p:nvSpPr>
          <p:cNvPr id="39" name="Shape 25"/>
          <p:cNvSpPr/>
          <p:nvPr/>
        </p:nvSpPr>
        <p:spPr>
          <a:xfrm>
            <a:off x="6309360" y="4290060"/>
            <a:ext cx="347472" cy="347472"/>
          </a:xfrm>
          <a:prstGeom prst="ellipse">
            <a:avLst/>
          </a:prstGeom>
          <a:solidFill>
            <a:schemeClr val="tx2"/>
          </a:solidFill>
          <a:ln w="12700">
            <a:solidFill>
              <a:srgbClr val="FFFFFF">
                <a:alpha val="0"/>
              </a:srgbClr>
            </a:solidFill>
            <a:prstDash val="solid"/>
          </a:ln>
        </p:spPr>
      </p:sp>
      <p:sp>
        <p:nvSpPr>
          <p:cNvPr id="40" name="Text 26"/>
          <p:cNvSpPr txBox="1"/>
          <p:nvPr/>
        </p:nvSpPr>
        <p:spPr>
          <a:xfrm>
            <a:off x="6309360" y="42900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1" name="Text 27"/>
          <p:cNvSpPr txBox="1"/>
          <p:nvPr/>
        </p:nvSpPr>
        <p:spPr>
          <a:xfrm>
            <a:off x="6748272" y="422605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vraag me af als hij komt.</a:t>
            </a:r>
            <a:endParaRPr lang="en-US" sz="1700" dirty="0"/>
          </a:p>
        </p:txBody>
      </p:sp>
      <p:pic>
        <p:nvPicPr>
          <p:cNvPr id="42" name="Image 11" descr="Check">    </p:cNvPr>
          <p:cNvPicPr>
            <a:picLocks noChangeAspect="1"/>
          </p:cNvPicPr>
          <p:nvPr/>
        </p:nvPicPr>
        <p:blipFill>
          <a:blip r:embed="rId12"/>
          <a:stretch>
            <a:fillRect/>
          </a:stretch>
        </p:blipFill>
        <p:spPr>
          <a:xfrm>
            <a:off x="10817352" y="4536567"/>
            <a:ext cx="274320" cy="274320"/>
          </a:xfrm>
          <a:prstGeom prst="rect">
            <a:avLst/>
          </a:prstGeom>
        </p:spPr>
      </p:pic>
      <p:pic>
        <p:nvPicPr>
          <p:cNvPr id="43" name="Image 12" descr="Times">    </p:cNvPr>
          <p:cNvPicPr>
            <a:picLocks noChangeAspect="1"/>
          </p:cNvPicPr>
          <p:nvPr/>
        </p:nvPicPr>
        <p:blipFill>
          <a:blip r:embed="rId13"/>
          <a:stretch>
            <a:fillRect/>
          </a:stretch>
        </p:blipFill>
        <p:spPr>
          <a:xfrm>
            <a:off x="11183112" y="4536567"/>
            <a:ext cx="274320" cy="274320"/>
          </a:xfrm>
          <a:prstGeom prst="rect">
            <a:avLst/>
          </a:prstGeom>
        </p:spPr>
      </p:pic>
      <p:sp>
        <p:nvSpPr>
          <p:cNvPr id="44" name="Shape 28"/>
          <p:cNvSpPr/>
          <p:nvPr/>
        </p:nvSpPr>
        <p:spPr>
          <a:xfrm>
            <a:off x="548640" y="5304282"/>
            <a:ext cx="5440680" cy="986790"/>
          </a:xfrm>
          <a:prstGeom prst="roundRect">
            <a:avLst>
              <a:gd name="adj" fmla="val 7413"/>
            </a:avLst>
          </a:prstGeom>
          <a:solidFill>
            <a:schemeClr val="bg1"/>
          </a:solidFill>
          <a:ln w="15875">
            <a:solidFill>
              <a:srgbClr val="D5DCE6"/>
            </a:solidFill>
            <a:prstDash val="solid"/>
          </a:ln>
        </p:spPr>
      </p:sp>
      <p:sp>
        <p:nvSpPr>
          <p:cNvPr id="45" name="Shape 29"/>
          <p:cNvSpPr/>
          <p:nvPr/>
        </p:nvSpPr>
        <p:spPr>
          <a:xfrm>
            <a:off x="658368" y="5414010"/>
            <a:ext cx="347472" cy="347472"/>
          </a:xfrm>
          <a:prstGeom prst="ellipse">
            <a:avLst/>
          </a:prstGeom>
          <a:solidFill>
            <a:schemeClr val="tx2"/>
          </a:solidFill>
          <a:ln w="12700">
            <a:solidFill>
              <a:srgbClr val="FFFFFF">
                <a:alpha val="0"/>
              </a:srgbClr>
            </a:solidFill>
            <a:prstDash val="solid"/>
          </a:ln>
        </p:spPr>
      </p:sp>
      <p:sp>
        <p:nvSpPr>
          <p:cNvPr id="46" name="Text 30"/>
          <p:cNvSpPr txBox="1"/>
          <p:nvPr/>
        </p:nvSpPr>
        <p:spPr>
          <a:xfrm>
            <a:off x="658368" y="54140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7" name="Text 31"/>
          <p:cNvSpPr txBox="1"/>
          <p:nvPr/>
        </p:nvSpPr>
        <p:spPr>
          <a:xfrm>
            <a:off x="1097280" y="535000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Karim is moe, maar hij werkt nog.</a:t>
            </a:r>
            <a:endParaRPr lang="en-US" sz="1700" dirty="0"/>
          </a:p>
        </p:txBody>
      </p:sp>
      <p:pic>
        <p:nvPicPr>
          <p:cNvPr id="48" name="Image 13" descr="Check">    </p:cNvPr>
          <p:cNvPicPr>
            <a:picLocks noChangeAspect="1"/>
          </p:cNvPicPr>
          <p:nvPr/>
        </p:nvPicPr>
        <p:blipFill>
          <a:blip r:embed="rId14"/>
          <a:stretch>
            <a:fillRect/>
          </a:stretch>
        </p:blipFill>
        <p:spPr>
          <a:xfrm>
            <a:off x="5166360" y="5660517"/>
            <a:ext cx="274320" cy="274320"/>
          </a:xfrm>
          <a:prstGeom prst="rect">
            <a:avLst/>
          </a:prstGeom>
        </p:spPr>
      </p:pic>
      <p:pic>
        <p:nvPicPr>
          <p:cNvPr id="49" name="Image 14" descr="Times">    </p:cNvPr>
          <p:cNvPicPr>
            <a:picLocks noChangeAspect="1"/>
          </p:cNvPicPr>
          <p:nvPr/>
        </p:nvPicPr>
        <p:blipFill>
          <a:blip r:embed="rId15"/>
          <a:stretch>
            <a:fillRect/>
          </a:stretch>
        </p:blipFill>
        <p:spPr>
          <a:xfrm>
            <a:off x="5532120" y="5660517"/>
            <a:ext cx="274320" cy="274320"/>
          </a:xfrm>
          <a:prstGeom prst="rect">
            <a:avLst/>
          </a:prstGeom>
        </p:spPr>
      </p:pic>
      <p:sp>
        <p:nvSpPr>
          <p:cNvPr id="50" name="Shape 32"/>
          <p:cNvSpPr/>
          <p:nvPr/>
        </p:nvSpPr>
        <p:spPr>
          <a:xfrm>
            <a:off x="6199632" y="5304282"/>
            <a:ext cx="5440680" cy="986790"/>
          </a:xfrm>
          <a:prstGeom prst="roundRect">
            <a:avLst>
              <a:gd name="adj" fmla="val 7413"/>
            </a:avLst>
          </a:prstGeom>
          <a:solidFill>
            <a:schemeClr val="bg1"/>
          </a:solidFill>
          <a:ln w="15875">
            <a:solidFill>
              <a:srgbClr val="D5DCE6"/>
            </a:solidFill>
            <a:prstDash val="solid"/>
          </a:ln>
        </p:spPr>
      </p:sp>
      <p:sp>
        <p:nvSpPr>
          <p:cNvPr id="51" name="Shape 33"/>
          <p:cNvSpPr/>
          <p:nvPr/>
        </p:nvSpPr>
        <p:spPr>
          <a:xfrm>
            <a:off x="6309360" y="5414010"/>
            <a:ext cx="347472" cy="347472"/>
          </a:xfrm>
          <a:prstGeom prst="ellipse">
            <a:avLst/>
          </a:prstGeom>
          <a:solidFill>
            <a:schemeClr val="tx2"/>
          </a:solidFill>
          <a:ln w="12700">
            <a:solidFill>
              <a:srgbClr val="FFFFFF">
                <a:alpha val="0"/>
              </a:srgbClr>
            </a:solidFill>
            <a:prstDash val="solid"/>
          </a:ln>
        </p:spPr>
      </p:sp>
      <p:sp>
        <p:nvSpPr>
          <p:cNvPr id="52" name="Text 34"/>
          <p:cNvSpPr txBox="1"/>
          <p:nvPr/>
        </p:nvSpPr>
        <p:spPr>
          <a:xfrm>
            <a:off x="6309360" y="54140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53" name="Text 35"/>
          <p:cNvSpPr txBox="1"/>
          <p:nvPr/>
        </p:nvSpPr>
        <p:spPr>
          <a:xfrm>
            <a:off x="6748272" y="535000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kom niet omdat ik moet werken.</a:t>
            </a:r>
            <a:endParaRPr lang="en-US" sz="1700" dirty="0"/>
          </a:p>
        </p:txBody>
      </p:sp>
      <p:pic>
        <p:nvPicPr>
          <p:cNvPr id="54" name="Image 15" descr="Check">    </p:cNvPr>
          <p:cNvPicPr>
            <a:picLocks noChangeAspect="1"/>
          </p:cNvPicPr>
          <p:nvPr/>
        </p:nvPicPr>
        <p:blipFill>
          <a:blip r:embed="rId16"/>
          <a:stretch>
            <a:fillRect/>
          </a:stretch>
        </p:blipFill>
        <p:spPr>
          <a:xfrm>
            <a:off x="10817352" y="5660517"/>
            <a:ext cx="274320" cy="274320"/>
          </a:xfrm>
          <a:prstGeom prst="rect">
            <a:avLst/>
          </a:prstGeom>
        </p:spPr>
      </p:pic>
      <p:pic>
        <p:nvPicPr>
          <p:cNvPr id="55" name="Image 16" descr="Times">    </p:cNvPr>
          <p:cNvPicPr>
            <a:picLocks noChangeAspect="1"/>
          </p:cNvPicPr>
          <p:nvPr/>
        </p:nvPicPr>
        <p:blipFill>
          <a:blip r:embed="rId17"/>
          <a:stretch>
            <a:fillRect/>
          </a:stretch>
        </p:blipFill>
        <p:spPr>
          <a:xfrm>
            <a:off x="11183112" y="5660517"/>
            <a:ext cx="274320" cy="2743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Juist of fout?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La place du verbe est-elle correcte ? Votez !</a:t>
            </a:r>
            <a:endParaRPr lang="en-US" sz="1700" dirty="0"/>
          </a:p>
        </p:txBody>
      </p:sp>
      <p:sp>
        <p:nvSpPr>
          <p:cNvPr id="9" name="Shape 5"/>
          <p:cNvSpPr/>
          <p:nvPr/>
        </p:nvSpPr>
        <p:spPr>
          <a:xfrm>
            <a:off x="548640" y="1932432"/>
            <a:ext cx="5440680" cy="986790"/>
          </a:xfrm>
          <a:prstGeom prst="roundRect">
            <a:avLst>
              <a:gd name="adj" fmla="val 7413"/>
            </a:avLst>
          </a:prstGeom>
          <a:solidFill>
            <a:srgbClr val="FBEDEB"/>
          </a:solidFill>
          <a:ln w="25400">
            <a:solidFill>
              <a:srgbClr val="B83227"/>
            </a:solidFill>
            <a:prstDash val="solid"/>
          </a:ln>
        </p:spPr>
      </p:sp>
      <p:sp>
        <p:nvSpPr>
          <p:cNvPr id="10" name="Shape 6"/>
          <p:cNvSpPr/>
          <p:nvPr/>
        </p:nvSpPr>
        <p:spPr>
          <a:xfrm>
            <a:off x="658368" y="2042160"/>
            <a:ext cx="347472" cy="347472"/>
          </a:xfrm>
          <a:prstGeom prst="ellipse">
            <a:avLst/>
          </a:prstGeom>
          <a:solidFill>
            <a:schemeClr val="tx2"/>
          </a:solidFill>
          <a:ln w="12700">
            <a:solidFill>
              <a:srgbClr val="FFFFFF">
                <a:alpha val="0"/>
              </a:srgbClr>
            </a:solidFill>
            <a:prstDash val="solid"/>
          </a:ln>
        </p:spPr>
      </p:sp>
      <p:sp>
        <p:nvSpPr>
          <p:cNvPr id="11" name="Text 7"/>
          <p:cNvSpPr txBox="1"/>
          <p:nvPr/>
        </p:nvSpPr>
        <p:spPr>
          <a:xfrm>
            <a:off x="658368" y="20421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2" name="Text 8"/>
          <p:cNvSpPr txBox="1"/>
          <p:nvPr/>
        </p:nvSpPr>
        <p:spPr>
          <a:xfrm>
            <a:off x="1097280" y="1978152"/>
            <a:ext cx="4023360" cy="542735"/>
          </a:xfrm>
          <a:prstGeom prst="rect">
            <a:avLst/>
          </a:prstGeom>
          <a:noFill/>
          <a:ln/>
        </p:spPr>
        <p:txBody>
          <a:bodyPr wrap="square" lIns="0" tIns="0" rIns="0" bIns="0" rtlCol="0" anchor="ctr"/>
          <a:lstStyle/>
          <a:p>
            <a:pPr algn="l" indent="0" marL="0">
              <a:buNone/>
            </a:pPr>
            <a:r>
              <a:rPr lang="en-US" sz="1700" i="1" dirty="0">
                <a:solidFill>
                  <a:schemeClr val="tx1"/>
                </a:solidFill>
              </a:rPr>
              <a:t>Ik blijf thuis omdat ik ben ziek.</a:t>
            </a:r>
            <a:endParaRPr lang="en-US" sz="1700" dirty="0"/>
          </a:p>
        </p:txBody>
      </p:sp>
      <p:pic>
        <p:nvPicPr>
          <p:cNvPr id="13" name="Image 1" descr="TimesCircle">    </p:cNvPr>
          <p:cNvPicPr>
            <a:picLocks noChangeAspect="1"/>
          </p:cNvPicPr>
          <p:nvPr/>
        </p:nvPicPr>
        <p:blipFill>
          <a:blip r:embed="rId2"/>
          <a:stretch>
            <a:fillRect/>
          </a:stretch>
        </p:blipFill>
        <p:spPr>
          <a:xfrm>
            <a:off x="5440680" y="2069592"/>
            <a:ext cx="384048" cy="384048"/>
          </a:xfrm>
          <a:prstGeom prst="rect">
            <a:avLst/>
          </a:prstGeom>
        </p:spPr>
      </p:pic>
      <p:sp>
        <p:nvSpPr>
          <p:cNvPr id="14" name="Text 9"/>
          <p:cNvSpPr txBox="1"/>
          <p:nvPr/>
        </p:nvSpPr>
        <p:spPr>
          <a:xfrm>
            <a:off x="1097280" y="2425827"/>
            <a:ext cx="4754880" cy="444056"/>
          </a:xfrm>
          <a:prstGeom prst="rect">
            <a:avLst/>
          </a:prstGeom>
          <a:noFill/>
          <a:ln/>
        </p:spPr>
        <p:txBody>
          <a:bodyPr wrap="square" lIns="0" tIns="0" rIns="0" bIns="0" rtlCol="0" anchor="ctr"/>
          <a:lstStyle/>
          <a:p>
            <a:pPr algn="l" indent="0" marL="0">
              <a:buNone/>
            </a:pPr>
            <a:r>
              <a:rPr lang="en-US" sz="1600" b="1" dirty="0">
                <a:solidFill>
                  <a:schemeClr val="accent3"/>
                </a:solidFill>
              </a:rPr>
              <a:t>→ </a:t>
            </a:r>
            <a:r>
              <a:rPr lang="en-US" sz="1600" b="1" i="1" dirty="0">
                <a:solidFill>
                  <a:schemeClr val="accent3"/>
                </a:solidFill>
              </a:rPr>
              <a:t>omdat ik ziek </a:t>
            </a:r>
            <a:r>
              <a:rPr lang="en-US" sz="1600" b="1" i="1" dirty="0">
                <a:solidFill>
                  <a:schemeClr val="accent3"/>
                </a:solidFill>
              </a:rPr>
              <a:t>ben</a:t>
            </a:r>
            <a:endParaRPr lang="en-US" sz="1600" dirty="0"/>
          </a:p>
        </p:txBody>
      </p:sp>
      <p:sp>
        <p:nvSpPr>
          <p:cNvPr id="15" name="Shape 10"/>
          <p:cNvSpPr/>
          <p:nvPr/>
        </p:nvSpPr>
        <p:spPr>
          <a:xfrm>
            <a:off x="6199632" y="1932432"/>
            <a:ext cx="5440680" cy="986790"/>
          </a:xfrm>
          <a:prstGeom prst="roundRect">
            <a:avLst>
              <a:gd name="adj" fmla="val 7413"/>
            </a:avLst>
          </a:prstGeom>
          <a:solidFill>
            <a:srgbClr val="EDF6F0"/>
          </a:solidFill>
          <a:ln w="25400">
            <a:solidFill>
              <a:srgbClr val="2E7D4F"/>
            </a:solidFill>
            <a:prstDash val="solid"/>
          </a:ln>
        </p:spPr>
      </p:sp>
      <p:sp>
        <p:nvSpPr>
          <p:cNvPr id="16" name="Shape 11"/>
          <p:cNvSpPr/>
          <p:nvPr/>
        </p:nvSpPr>
        <p:spPr>
          <a:xfrm>
            <a:off x="6309360" y="2042160"/>
            <a:ext cx="347472" cy="347472"/>
          </a:xfrm>
          <a:prstGeom prst="ellipse">
            <a:avLst/>
          </a:prstGeom>
          <a:solidFill>
            <a:schemeClr val="tx2"/>
          </a:solidFill>
          <a:ln w="12700">
            <a:solidFill>
              <a:srgbClr val="FFFFFF">
                <a:alpha val="0"/>
              </a:srgbClr>
            </a:solidFill>
            <a:prstDash val="solid"/>
          </a:ln>
        </p:spPr>
      </p:sp>
      <p:sp>
        <p:nvSpPr>
          <p:cNvPr id="17" name="Text 12"/>
          <p:cNvSpPr txBox="1"/>
          <p:nvPr/>
        </p:nvSpPr>
        <p:spPr>
          <a:xfrm>
            <a:off x="6309360" y="20421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8" name="Text 13"/>
          <p:cNvSpPr txBox="1"/>
          <p:nvPr/>
        </p:nvSpPr>
        <p:spPr>
          <a:xfrm>
            <a:off x="6748272" y="197815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denk dat Sofie vandaag thuis werkt.</a:t>
            </a:r>
            <a:endParaRPr lang="en-US" sz="1700" dirty="0"/>
          </a:p>
        </p:txBody>
      </p:sp>
      <p:pic>
        <p:nvPicPr>
          <p:cNvPr id="19" name="Image 2" descr="CheckCircle">    </p:cNvPr>
          <p:cNvPicPr>
            <a:picLocks noChangeAspect="1"/>
          </p:cNvPicPr>
          <p:nvPr/>
        </p:nvPicPr>
        <p:blipFill>
          <a:blip r:embed="rId3"/>
          <a:stretch>
            <a:fillRect/>
          </a:stretch>
        </p:blipFill>
        <p:spPr>
          <a:xfrm>
            <a:off x="11091672" y="2069592"/>
            <a:ext cx="384048" cy="384048"/>
          </a:xfrm>
          <a:prstGeom prst="rect">
            <a:avLst/>
          </a:prstGeom>
        </p:spPr>
      </p:pic>
      <p:sp>
        <p:nvSpPr>
          <p:cNvPr id="20" name="Shape 14"/>
          <p:cNvSpPr/>
          <p:nvPr/>
        </p:nvSpPr>
        <p:spPr>
          <a:xfrm>
            <a:off x="548640" y="3056382"/>
            <a:ext cx="5440680" cy="986790"/>
          </a:xfrm>
          <a:prstGeom prst="roundRect">
            <a:avLst>
              <a:gd name="adj" fmla="val 7413"/>
            </a:avLst>
          </a:prstGeom>
          <a:solidFill>
            <a:srgbClr val="FBEDEB"/>
          </a:solidFill>
          <a:ln w="25400">
            <a:solidFill>
              <a:srgbClr val="B83227"/>
            </a:solidFill>
            <a:prstDash val="solid"/>
          </a:ln>
        </p:spPr>
      </p:sp>
      <p:sp>
        <p:nvSpPr>
          <p:cNvPr id="21" name="Shape 15"/>
          <p:cNvSpPr/>
          <p:nvPr/>
        </p:nvSpPr>
        <p:spPr>
          <a:xfrm>
            <a:off x="658368" y="3166110"/>
            <a:ext cx="347472" cy="347472"/>
          </a:xfrm>
          <a:prstGeom prst="ellipse">
            <a:avLst/>
          </a:prstGeom>
          <a:solidFill>
            <a:schemeClr val="tx2"/>
          </a:solidFill>
          <a:ln w="12700">
            <a:solidFill>
              <a:srgbClr val="FFFFFF">
                <a:alpha val="0"/>
              </a:srgbClr>
            </a:solidFill>
            <a:prstDash val="solid"/>
          </a:ln>
        </p:spPr>
      </p:sp>
      <p:sp>
        <p:nvSpPr>
          <p:cNvPr id="22" name="Text 16"/>
          <p:cNvSpPr txBox="1"/>
          <p:nvPr/>
        </p:nvSpPr>
        <p:spPr>
          <a:xfrm>
            <a:off x="658368" y="31661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3" name="Text 17"/>
          <p:cNvSpPr txBox="1"/>
          <p:nvPr/>
        </p:nvSpPr>
        <p:spPr>
          <a:xfrm>
            <a:off x="1097280" y="3102102"/>
            <a:ext cx="4023360" cy="542735"/>
          </a:xfrm>
          <a:prstGeom prst="rect">
            <a:avLst/>
          </a:prstGeom>
          <a:noFill/>
          <a:ln/>
        </p:spPr>
        <p:txBody>
          <a:bodyPr wrap="square" lIns="0" tIns="0" rIns="0" bIns="0" rtlCol="0" anchor="ctr"/>
          <a:lstStyle/>
          <a:p>
            <a:pPr algn="l" indent="0" marL="0">
              <a:buNone/>
            </a:pPr>
            <a:r>
              <a:rPr lang="en-US" sz="1700" i="1" dirty="0">
                <a:solidFill>
                  <a:schemeClr val="tx1"/>
                </a:solidFill>
              </a:rPr>
              <a:t>Als het regent, ik neem de bus.</a:t>
            </a:r>
            <a:endParaRPr lang="en-US" sz="1700" dirty="0"/>
          </a:p>
        </p:txBody>
      </p:sp>
      <p:pic>
        <p:nvPicPr>
          <p:cNvPr id="24" name="Image 3" descr="TimesCircle">    </p:cNvPr>
          <p:cNvPicPr>
            <a:picLocks noChangeAspect="1"/>
          </p:cNvPicPr>
          <p:nvPr/>
        </p:nvPicPr>
        <p:blipFill>
          <a:blip r:embed="rId4"/>
          <a:stretch>
            <a:fillRect/>
          </a:stretch>
        </p:blipFill>
        <p:spPr>
          <a:xfrm>
            <a:off x="5440680" y="3193542"/>
            <a:ext cx="384048" cy="384048"/>
          </a:xfrm>
          <a:prstGeom prst="rect">
            <a:avLst/>
          </a:prstGeom>
        </p:spPr>
      </p:pic>
      <p:sp>
        <p:nvSpPr>
          <p:cNvPr id="25" name="Text 18"/>
          <p:cNvSpPr txBox="1"/>
          <p:nvPr/>
        </p:nvSpPr>
        <p:spPr>
          <a:xfrm>
            <a:off x="1097280" y="3549777"/>
            <a:ext cx="4754880" cy="444056"/>
          </a:xfrm>
          <a:prstGeom prst="rect">
            <a:avLst/>
          </a:prstGeom>
          <a:noFill/>
          <a:ln/>
        </p:spPr>
        <p:txBody>
          <a:bodyPr wrap="square" lIns="0" tIns="0" rIns="0" bIns="0" rtlCol="0" anchor="ctr"/>
          <a:lstStyle/>
          <a:p>
            <a:pPr algn="l" indent="0" marL="0">
              <a:buNone/>
            </a:pPr>
            <a:r>
              <a:rPr lang="en-US" sz="1600" b="1" dirty="0">
                <a:solidFill>
                  <a:schemeClr val="accent3"/>
                </a:solidFill>
              </a:rPr>
              <a:t>→ </a:t>
            </a:r>
            <a:r>
              <a:rPr lang="en-US" sz="1600" b="1" i="1" dirty="0">
                <a:solidFill>
                  <a:schemeClr val="accent3"/>
                </a:solidFill>
              </a:rPr>
              <a:t>Als het regent, </a:t>
            </a:r>
            <a:r>
              <a:rPr lang="en-US" sz="1600" b="1" i="1" dirty="0">
                <a:solidFill>
                  <a:schemeClr val="accent3"/>
                </a:solidFill>
              </a:rPr>
              <a:t>neem ik</a:t>
            </a:r>
            <a:r>
              <a:rPr lang="en-US" sz="1600" b="1" i="1" dirty="0">
                <a:solidFill>
                  <a:schemeClr val="accent3"/>
                </a:solidFill>
              </a:rPr>
              <a:t> de bus.</a:t>
            </a:r>
            <a:endParaRPr lang="en-US" sz="1600" dirty="0"/>
          </a:p>
        </p:txBody>
      </p:sp>
      <p:sp>
        <p:nvSpPr>
          <p:cNvPr id="26" name="Shape 19"/>
          <p:cNvSpPr/>
          <p:nvPr/>
        </p:nvSpPr>
        <p:spPr>
          <a:xfrm>
            <a:off x="6199632" y="3056382"/>
            <a:ext cx="5440680" cy="986790"/>
          </a:xfrm>
          <a:prstGeom prst="roundRect">
            <a:avLst>
              <a:gd name="adj" fmla="val 7413"/>
            </a:avLst>
          </a:prstGeom>
          <a:solidFill>
            <a:srgbClr val="EDF6F0"/>
          </a:solidFill>
          <a:ln w="25400">
            <a:solidFill>
              <a:srgbClr val="2E7D4F"/>
            </a:solidFill>
            <a:prstDash val="solid"/>
          </a:ln>
        </p:spPr>
      </p:sp>
      <p:sp>
        <p:nvSpPr>
          <p:cNvPr id="27" name="Shape 20"/>
          <p:cNvSpPr/>
          <p:nvPr/>
        </p:nvSpPr>
        <p:spPr>
          <a:xfrm>
            <a:off x="6309360" y="3166110"/>
            <a:ext cx="347472" cy="347472"/>
          </a:xfrm>
          <a:prstGeom prst="ellipse">
            <a:avLst/>
          </a:prstGeom>
          <a:solidFill>
            <a:schemeClr val="tx2"/>
          </a:solidFill>
          <a:ln w="12700">
            <a:solidFill>
              <a:srgbClr val="FFFFFF">
                <a:alpha val="0"/>
              </a:srgbClr>
            </a:solidFill>
            <a:prstDash val="solid"/>
          </a:ln>
        </p:spPr>
      </p:sp>
      <p:sp>
        <p:nvSpPr>
          <p:cNvPr id="28" name="Text 21"/>
          <p:cNvSpPr txBox="1"/>
          <p:nvPr/>
        </p:nvSpPr>
        <p:spPr>
          <a:xfrm>
            <a:off x="6309360" y="31661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9" name="Text 22"/>
          <p:cNvSpPr txBox="1"/>
          <p:nvPr/>
        </p:nvSpPr>
        <p:spPr>
          <a:xfrm>
            <a:off x="6748272" y="310210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neem de bus, want het regent.</a:t>
            </a:r>
            <a:endParaRPr lang="en-US" sz="1700" dirty="0"/>
          </a:p>
        </p:txBody>
      </p:sp>
      <p:pic>
        <p:nvPicPr>
          <p:cNvPr id="30" name="Image 4" descr="CheckCircle">    </p:cNvPr>
          <p:cNvPicPr>
            <a:picLocks noChangeAspect="1"/>
          </p:cNvPicPr>
          <p:nvPr/>
        </p:nvPicPr>
        <p:blipFill>
          <a:blip r:embed="rId5"/>
          <a:stretch>
            <a:fillRect/>
          </a:stretch>
        </p:blipFill>
        <p:spPr>
          <a:xfrm>
            <a:off x="11091672" y="3193542"/>
            <a:ext cx="384048" cy="384048"/>
          </a:xfrm>
          <a:prstGeom prst="rect">
            <a:avLst/>
          </a:prstGeom>
        </p:spPr>
      </p:pic>
      <p:sp>
        <p:nvSpPr>
          <p:cNvPr id="31" name="Shape 23"/>
          <p:cNvSpPr/>
          <p:nvPr/>
        </p:nvSpPr>
        <p:spPr>
          <a:xfrm>
            <a:off x="548640" y="4180332"/>
            <a:ext cx="5440680" cy="986790"/>
          </a:xfrm>
          <a:prstGeom prst="roundRect">
            <a:avLst>
              <a:gd name="adj" fmla="val 7413"/>
            </a:avLst>
          </a:prstGeom>
          <a:solidFill>
            <a:srgbClr val="EDF6F0"/>
          </a:solidFill>
          <a:ln w="25400">
            <a:solidFill>
              <a:srgbClr val="2E7D4F"/>
            </a:solidFill>
            <a:prstDash val="solid"/>
          </a:ln>
        </p:spPr>
      </p:sp>
      <p:sp>
        <p:nvSpPr>
          <p:cNvPr id="32" name="Shape 24"/>
          <p:cNvSpPr/>
          <p:nvPr/>
        </p:nvSpPr>
        <p:spPr>
          <a:xfrm>
            <a:off x="658368" y="4290060"/>
            <a:ext cx="347472" cy="347472"/>
          </a:xfrm>
          <a:prstGeom prst="ellipse">
            <a:avLst/>
          </a:prstGeom>
          <a:solidFill>
            <a:schemeClr val="tx2"/>
          </a:solidFill>
          <a:ln w="12700">
            <a:solidFill>
              <a:srgbClr val="FFFFFF">
                <a:alpha val="0"/>
              </a:srgbClr>
            </a:solidFill>
            <a:prstDash val="solid"/>
          </a:ln>
        </p:spPr>
      </p:sp>
      <p:sp>
        <p:nvSpPr>
          <p:cNvPr id="33" name="Text 25"/>
          <p:cNvSpPr txBox="1"/>
          <p:nvPr/>
        </p:nvSpPr>
        <p:spPr>
          <a:xfrm>
            <a:off x="658368" y="42900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4" name="Text 26"/>
          <p:cNvSpPr txBox="1"/>
          <p:nvPr/>
        </p:nvSpPr>
        <p:spPr>
          <a:xfrm>
            <a:off x="1097280" y="422605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weet dat je het druk hebt.</a:t>
            </a:r>
            <a:endParaRPr lang="en-US" sz="1700" dirty="0"/>
          </a:p>
        </p:txBody>
      </p:sp>
      <p:pic>
        <p:nvPicPr>
          <p:cNvPr id="35" name="Image 5" descr="CheckCircle">    </p:cNvPr>
          <p:cNvPicPr>
            <a:picLocks noChangeAspect="1"/>
          </p:cNvPicPr>
          <p:nvPr/>
        </p:nvPicPr>
        <p:blipFill>
          <a:blip r:embed="rId6"/>
          <a:stretch>
            <a:fillRect/>
          </a:stretch>
        </p:blipFill>
        <p:spPr>
          <a:xfrm>
            <a:off x="5440680" y="4317492"/>
            <a:ext cx="384048" cy="384048"/>
          </a:xfrm>
          <a:prstGeom prst="rect">
            <a:avLst/>
          </a:prstGeom>
        </p:spPr>
      </p:pic>
      <p:sp>
        <p:nvSpPr>
          <p:cNvPr id="36" name="Shape 27"/>
          <p:cNvSpPr/>
          <p:nvPr/>
        </p:nvSpPr>
        <p:spPr>
          <a:xfrm>
            <a:off x="6199632" y="4180332"/>
            <a:ext cx="5440680" cy="986790"/>
          </a:xfrm>
          <a:prstGeom prst="roundRect">
            <a:avLst>
              <a:gd name="adj" fmla="val 7413"/>
            </a:avLst>
          </a:prstGeom>
          <a:solidFill>
            <a:srgbClr val="FBEDEB"/>
          </a:solidFill>
          <a:ln w="25400">
            <a:solidFill>
              <a:srgbClr val="B83227"/>
            </a:solidFill>
            <a:prstDash val="solid"/>
          </a:ln>
        </p:spPr>
      </p:sp>
      <p:sp>
        <p:nvSpPr>
          <p:cNvPr id="37" name="Shape 28"/>
          <p:cNvSpPr/>
          <p:nvPr/>
        </p:nvSpPr>
        <p:spPr>
          <a:xfrm>
            <a:off x="6309360" y="4290060"/>
            <a:ext cx="347472" cy="347472"/>
          </a:xfrm>
          <a:prstGeom prst="ellipse">
            <a:avLst/>
          </a:prstGeom>
          <a:solidFill>
            <a:schemeClr val="tx2"/>
          </a:solidFill>
          <a:ln w="12700">
            <a:solidFill>
              <a:srgbClr val="FFFFFF">
                <a:alpha val="0"/>
              </a:srgbClr>
            </a:solidFill>
            <a:prstDash val="solid"/>
          </a:ln>
        </p:spPr>
      </p:sp>
      <p:sp>
        <p:nvSpPr>
          <p:cNvPr id="38" name="Text 29"/>
          <p:cNvSpPr txBox="1"/>
          <p:nvPr/>
        </p:nvSpPr>
        <p:spPr>
          <a:xfrm>
            <a:off x="6309360" y="42900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9" name="Text 30"/>
          <p:cNvSpPr txBox="1"/>
          <p:nvPr/>
        </p:nvSpPr>
        <p:spPr>
          <a:xfrm>
            <a:off x="6748272" y="4226052"/>
            <a:ext cx="4023360" cy="542735"/>
          </a:xfrm>
          <a:prstGeom prst="rect">
            <a:avLst/>
          </a:prstGeom>
          <a:noFill/>
          <a:ln/>
        </p:spPr>
        <p:txBody>
          <a:bodyPr wrap="square" lIns="0" tIns="0" rIns="0" bIns="0" rtlCol="0" anchor="ctr"/>
          <a:lstStyle/>
          <a:p>
            <a:pPr algn="l" indent="0" marL="0">
              <a:buNone/>
            </a:pPr>
            <a:r>
              <a:rPr lang="en-US" sz="1700" i="1" dirty="0">
                <a:solidFill>
                  <a:schemeClr val="tx1"/>
                </a:solidFill>
              </a:rPr>
              <a:t>Ik vraag me af als hij komt.</a:t>
            </a:r>
            <a:endParaRPr lang="en-US" sz="1700" dirty="0"/>
          </a:p>
        </p:txBody>
      </p:sp>
      <p:pic>
        <p:nvPicPr>
          <p:cNvPr id="40" name="Image 6" descr="TimesCircle">    </p:cNvPr>
          <p:cNvPicPr>
            <a:picLocks noChangeAspect="1"/>
          </p:cNvPicPr>
          <p:nvPr/>
        </p:nvPicPr>
        <p:blipFill>
          <a:blip r:embed="rId7"/>
          <a:stretch>
            <a:fillRect/>
          </a:stretch>
        </p:blipFill>
        <p:spPr>
          <a:xfrm>
            <a:off x="11091672" y="4317492"/>
            <a:ext cx="384048" cy="384048"/>
          </a:xfrm>
          <a:prstGeom prst="rect">
            <a:avLst/>
          </a:prstGeom>
        </p:spPr>
      </p:pic>
      <p:sp>
        <p:nvSpPr>
          <p:cNvPr id="41" name="Text 31"/>
          <p:cNvSpPr txBox="1"/>
          <p:nvPr/>
        </p:nvSpPr>
        <p:spPr>
          <a:xfrm>
            <a:off x="6748272" y="4673727"/>
            <a:ext cx="4754880" cy="444056"/>
          </a:xfrm>
          <a:prstGeom prst="rect">
            <a:avLst/>
          </a:prstGeom>
          <a:noFill/>
          <a:ln/>
        </p:spPr>
        <p:txBody>
          <a:bodyPr wrap="square" lIns="0" tIns="0" rIns="0" bIns="0" rtlCol="0" anchor="ctr"/>
          <a:lstStyle/>
          <a:p>
            <a:pPr algn="l" indent="0" marL="0">
              <a:buNone/>
            </a:pPr>
            <a:r>
              <a:rPr lang="en-US" sz="1600" b="1" dirty="0">
                <a:solidFill>
                  <a:schemeClr val="accent3"/>
                </a:solidFill>
              </a:rPr>
              <a:t>→ </a:t>
            </a:r>
            <a:r>
              <a:rPr lang="en-US" sz="1600" b="1" i="1" dirty="0">
                <a:solidFill>
                  <a:schemeClr val="accent3"/>
                </a:solidFill>
              </a:rPr>
              <a:t>Ik vraag me af </a:t>
            </a:r>
            <a:r>
              <a:rPr lang="en-US" sz="1600" b="1" i="1" dirty="0">
                <a:solidFill>
                  <a:schemeClr val="accent3"/>
                </a:solidFill>
              </a:rPr>
              <a:t>of</a:t>
            </a:r>
            <a:r>
              <a:rPr lang="en-US" sz="1600" b="1" i="1" dirty="0">
                <a:solidFill>
                  <a:schemeClr val="accent3"/>
                </a:solidFill>
              </a:rPr>
              <a:t> hij komt.</a:t>
            </a:r>
            <a:endParaRPr lang="en-US" sz="1600" dirty="0"/>
          </a:p>
        </p:txBody>
      </p:sp>
      <p:sp>
        <p:nvSpPr>
          <p:cNvPr id="42" name="Shape 32"/>
          <p:cNvSpPr/>
          <p:nvPr/>
        </p:nvSpPr>
        <p:spPr>
          <a:xfrm>
            <a:off x="548640" y="5304282"/>
            <a:ext cx="5440680" cy="986790"/>
          </a:xfrm>
          <a:prstGeom prst="roundRect">
            <a:avLst>
              <a:gd name="adj" fmla="val 7413"/>
            </a:avLst>
          </a:prstGeom>
          <a:solidFill>
            <a:srgbClr val="EDF6F0"/>
          </a:solidFill>
          <a:ln w="25400">
            <a:solidFill>
              <a:srgbClr val="2E7D4F"/>
            </a:solidFill>
            <a:prstDash val="solid"/>
          </a:ln>
        </p:spPr>
      </p:sp>
      <p:sp>
        <p:nvSpPr>
          <p:cNvPr id="43" name="Shape 33"/>
          <p:cNvSpPr/>
          <p:nvPr/>
        </p:nvSpPr>
        <p:spPr>
          <a:xfrm>
            <a:off x="658368" y="5414010"/>
            <a:ext cx="347472" cy="347472"/>
          </a:xfrm>
          <a:prstGeom prst="ellipse">
            <a:avLst/>
          </a:prstGeom>
          <a:solidFill>
            <a:schemeClr val="tx2"/>
          </a:solidFill>
          <a:ln w="12700">
            <a:solidFill>
              <a:srgbClr val="FFFFFF">
                <a:alpha val="0"/>
              </a:srgbClr>
            </a:solidFill>
            <a:prstDash val="solid"/>
          </a:ln>
        </p:spPr>
      </p:sp>
      <p:sp>
        <p:nvSpPr>
          <p:cNvPr id="44" name="Text 34"/>
          <p:cNvSpPr txBox="1"/>
          <p:nvPr/>
        </p:nvSpPr>
        <p:spPr>
          <a:xfrm>
            <a:off x="658368" y="54140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5" name="Text 35"/>
          <p:cNvSpPr txBox="1"/>
          <p:nvPr/>
        </p:nvSpPr>
        <p:spPr>
          <a:xfrm>
            <a:off x="1097280" y="535000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Karim is moe, maar hij werkt nog.</a:t>
            </a:r>
            <a:endParaRPr lang="en-US" sz="1700" dirty="0"/>
          </a:p>
        </p:txBody>
      </p:sp>
      <p:pic>
        <p:nvPicPr>
          <p:cNvPr id="46" name="Image 7" descr="CheckCircle">    </p:cNvPr>
          <p:cNvPicPr>
            <a:picLocks noChangeAspect="1"/>
          </p:cNvPicPr>
          <p:nvPr/>
        </p:nvPicPr>
        <p:blipFill>
          <a:blip r:embed="rId8"/>
          <a:stretch>
            <a:fillRect/>
          </a:stretch>
        </p:blipFill>
        <p:spPr>
          <a:xfrm>
            <a:off x="5440680" y="5441442"/>
            <a:ext cx="384048" cy="384048"/>
          </a:xfrm>
          <a:prstGeom prst="rect">
            <a:avLst/>
          </a:prstGeom>
        </p:spPr>
      </p:pic>
      <p:sp>
        <p:nvSpPr>
          <p:cNvPr id="47" name="Shape 36"/>
          <p:cNvSpPr/>
          <p:nvPr/>
        </p:nvSpPr>
        <p:spPr>
          <a:xfrm>
            <a:off x="6199632" y="5304282"/>
            <a:ext cx="5440680" cy="986790"/>
          </a:xfrm>
          <a:prstGeom prst="roundRect">
            <a:avLst>
              <a:gd name="adj" fmla="val 7413"/>
            </a:avLst>
          </a:prstGeom>
          <a:solidFill>
            <a:srgbClr val="EDF6F0"/>
          </a:solidFill>
          <a:ln w="25400">
            <a:solidFill>
              <a:srgbClr val="2E7D4F"/>
            </a:solidFill>
            <a:prstDash val="solid"/>
          </a:ln>
        </p:spPr>
      </p:sp>
      <p:sp>
        <p:nvSpPr>
          <p:cNvPr id="48" name="Shape 37"/>
          <p:cNvSpPr/>
          <p:nvPr/>
        </p:nvSpPr>
        <p:spPr>
          <a:xfrm>
            <a:off x="6309360" y="5414010"/>
            <a:ext cx="347472" cy="347472"/>
          </a:xfrm>
          <a:prstGeom prst="ellipse">
            <a:avLst/>
          </a:prstGeom>
          <a:solidFill>
            <a:schemeClr val="tx2"/>
          </a:solidFill>
          <a:ln w="12700">
            <a:solidFill>
              <a:srgbClr val="FFFFFF">
                <a:alpha val="0"/>
              </a:srgbClr>
            </a:solidFill>
            <a:prstDash val="solid"/>
          </a:ln>
        </p:spPr>
      </p:sp>
      <p:sp>
        <p:nvSpPr>
          <p:cNvPr id="49" name="Text 38"/>
          <p:cNvSpPr txBox="1"/>
          <p:nvPr/>
        </p:nvSpPr>
        <p:spPr>
          <a:xfrm>
            <a:off x="6309360" y="541401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50" name="Text 39"/>
          <p:cNvSpPr txBox="1"/>
          <p:nvPr/>
        </p:nvSpPr>
        <p:spPr>
          <a:xfrm>
            <a:off x="6748272" y="5350002"/>
            <a:ext cx="4023360" cy="895350"/>
          </a:xfrm>
          <a:prstGeom prst="rect">
            <a:avLst/>
          </a:prstGeom>
          <a:noFill/>
          <a:ln/>
        </p:spPr>
        <p:txBody>
          <a:bodyPr wrap="square" lIns="0" tIns="0" rIns="0" bIns="0" rtlCol="0" anchor="ctr"/>
          <a:lstStyle/>
          <a:p>
            <a:pPr algn="l" indent="0" marL="0">
              <a:buNone/>
            </a:pPr>
            <a:r>
              <a:rPr lang="en-US" sz="1700" i="1" dirty="0">
                <a:solidFill>
                  <a:schemeClr val="tx1"/>
                </a:solidFill>
              </a:rPr>
              <a:t>Ik kom niet omdat ik moet werken.</a:t>
            </a:r>
            <a:endParaRPr lang="en-US" sz="1700" dirty="0"/>
          </a:p>
        </p:txBody>
      </p:sp>
      <p:pic>
        <p:nvPicPr>
          <p:cNvPr id="51" name="Image 8" descr="CheckCircle">    </p:cNvPr>
          <p:cNvPicPr>
            <a:picLocks noChangeAspect="1"/>
          </p:cNvPicPr>
          <p:nvPr/>
        </p:nvPicPr>
        <p:blipFill>
          <a:blip r:embed="rId9"/>
          <a:stretch>
            <a:fillRect/>
          </a:stretch>
        </p:blipFill>
        <p:spPr>
          <a:xfrm>
            <a:off x="11091672" y="5441442"/>
            <a:ext cx="384048" cy="384048"/>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Waarom? en 1 minute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Text 3"/>
          <p:cNvSpPr txBox="1"/>
          <p:nvPr/>
        </p:nvSpPr>
        <p:spPr>
          <a:xfrm>
            <a:off x="548640" y="1508760"/>
            <a:ext cx="6949440" cy="640080"/>
          </a:xfrm>
          <a:prstGeom prst="rect">
            <a:avLst/>
          </a:prstGeom>
          <a:noFill/>
          <a:ln/>
        </p:spPr>
        <p:txBody>
          <a:bodyPr wrap="square" lIns="0" tIns="0" rIns="0" bIns="0" rtlCol="0" anchor="ctr"/>
          <a:lstStyle/>
          <a:p>
            <a:pPr algn="l" indent="0" marL="0">
              <a:buNone/>
            </a:pPr>
            <a:r>
              <a:rPr lang="en-US" sz="2800" b="1" i="1" dirty="0">
                <a:solidFill>
                  <a:schemeClr val="tx2"/>
                </a:solidFill>
                <a:latin typeface="+mj-lt" pitchFamily="34" charset="0"/>
                <a:ea typeface="+mj-lt" pitchFamily="34" charset="-122"/>
                <a:cs typeface="+mj-lt" pitchFamily="34" charset="-120"/>
              </a:rPr>
              <a:t>Waarom is … belangrijk?</a:t>
            </a:r>
            <a:endParaRPr lang="en-US" sz="2800" dirty="0"/>
          </a:p>
        </p:txBody>
      </p:sp>
      <p:sp>
        <p:nvSpPr>
          <p:cNvPr id="7" name="Shape 4"/>
          <p:cNvSpPr/>
          <p:nvPr/>
        </p:nvSpPr>
        <p:spPr>
          <a:xfrm>
            <a:off x="548640" y="2286000"/>
            <a:ext cx="2194560" cy="1600200"/>
          </a:xfrm>
          <a:prstGeom prst="roundRect">
            <a:avLst>
              <a:gd name="adj" fmla="val 4571"/>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8" name="Image 0" descr="speaking head">    </p:cNvPr>
          <p:cNvPicPr>
            <a:picLocks noChangeAspect="1"/>
          </p:cNvPicPr>
          <p:nvPr/>
        </p:nvPicPr>
        <p:blipFill>
          <a:blip r:embed="rId1"/>
          <a:stretch>
            <a:fillRect/>
          </a:stretch>
        </p:blipFill>
        <p:spPr>
          <a:xfrm>
            <a:off x="1234440" y="2423160"/>
            <a:ext cx="822960" cy="822960"/>
          </a:xfrm>
          <a:prstGeom prst="rect">
            <a:avLst/>
          </a:prstGeom>
        </p:spPr>
      </p:pic>
      <p:sp>
        <p:nvSpPr>
          <p:cNvPr id="9" name="Text 5"/>
          <p:cNvSpPr txBox="1"/>
          <p:nvPr/>
        </p:nvSpPr>
        <p:spPr>
          <a:xfrm>
            <a:off x="548640" y="3291840"/>
            <a:ext cx="2194560" cy="502920"/>
          </a:xfrm>
          <a:prstGeom prst="rect">
            <a:avLst/>
          </a:prstGeom>
          <a:noFill/>
          <a:ln/>
        </p:spPr>
        <p:txBody>
          <a:bodyPr wrap="square" lIns="0" tIns="0" rIns="0" bIns="0" rtlCol="0" anchor="ctr"/>
          <a:lstStyle/>
          <a:p>
            <a:pPr algn="ctr" indent="0" marL="0">
              <a:buNone/>
            </a:pPr>
            <a:r>
              <a:rPr lang="en-US" sz="1900" b="1" i="1" dirty="0">
                <a:solidFill>
                  <a:schemeClr val="tx1"/>
                </a:solidFill>
              </a:rPr>
              <a:t>Nederlands</a:t>
            </a:r>
            <a:endParaRPr lang="en-US" sz="1900" dirty="0"/>
          </a:p>
        </p:txBody>
      </p:sp>
      <p:sp>
        <p:nvSpPr>
          <p:cNvPr id="10" name="Shape 6"/>
          <p:cNvSpPr/>
          <p:nvPr/>
        </p:nvSpPr>
        <p:spPr>
          <a:xfrm>
            <a:off x="2926080" y="2286000"/>
            <a:ext cx="2194560" cy="1600200"/>
          </a:xfrm>
          <a:prstGeom prst="roundRect">
            <a:avLst>
              <a:gd name="adj" fmla="val 4571"/>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11" name="Image 1" descr="person running">    </p:cNvPr>
          <p:cNvPicPr>
            <a:picLocks noChangeAspect="1"/>
          </p:cNvPicPr>
          <p:nvPr/>
        </p:nvPicPr>
        <p:blipFill>
          <a:blip r:embed="rId2"/>
          <a:stretch>
            <a:fillRect/>
          </a:stretch>
        </p:blipFill>
        <p:spPr>
          <a:xfrm>
            <a:off x="3611880" y="2423160"/>
            <a:ext cx="822960" cy="822960"/>
          </a:xfrm>
          <a:prstGeom prst="rect">
            <a:avLst/>
          </a:prstGeom>
        </p:spPr>
      </p:pic>
      <p:sp>
        <p:nvSpPr>
          <p:cNvPr id="12" name="Text 7"/>
          <p:cNvSpPr txBox="1"/>
          <p:nvPr/>
        </p:nvSpPr>
        <p:spPr>
          <a:xfrm>
            <a:off x="2926080" y="3291840"/>
            <a:ext cx="2194560" cy="502920"/>
          </a:xfrm>
          <a:prstGeom prst="rect">
            <a:avLst/>
          </a:prstGeom>
          <a:noFill/>
          <a:ln/>
        </p:spPr>
        <p:txBody>
          <a:bodyPr wrap="square" lIns="0" tIns="0" rIns="0" bIns="0" rtlCol="0" anchor="ctr"/>
          <a:lstStyle/>
          <a:p>
            <a:pPr algn="ctr" indent="0" marL="0">
              <a:buNone/>
            </a:pPr>
            <a:r>
              <a:rPr lang="en-US" sz="1900" b="1" i="1" dirty="0">
                <a:solidFill>
                  <a:schemeClr val="tx1"/>
                </a:solidFill>
              </a:rPr>
              <a:t>sport</a:t>
            </a:r>
            <a:endParaRPr lang="en-US" sz="1900" dirty="0"/>
          </a:p>
        </p:txBody>
      </p:sp>
      <p:sp>
        <p:nvSpPr>
          <p:cNvPr id="13" name="Shape 8"/>
          <p:cNvSpPr/>
          <p:nvPr/>
        </p:nvSpPr>
        <p:spPr>
          <a:xfrm>
            <a:off x="5303520" y="2286000"/>
            <a:ext cx="2194560" cy="1600200"/>
          </a:xfrm>
          <a:prstGeom prst="roundRect">
            <a:avLst>
              <a:gd name="adj" fmla="val 4571"/>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14" name="Image 2" descr="handshake">    </p:cNvPr>
          <p:cNvPicPr>
            <a:picLocks noChangeAspect="1"/>
          </p:cNvPicPr>
          <p:nvPr/>
        </p:nvPicPr>
        <p:blipFill>
          <a:blip r:embed="rId3"/>
          <a:stretch>
            <a:fillRect/>
          </a:stretch>
        </p:blipFill>
        <p:spPr>
          <a:xfrm>
            <a:off x="5989320" y="2423160"/>
            <a:ext cx="822960" cy="822960"/>
          </a:xfrm>
          <a:prstGeom prst="rect">
            <a:avLst/>
          </a:prstGeom>
        </p:spPr>
      </p:pic>
      <p:sp>
        <p:nvSpPr>
          <p:cNvPr id="15" name="Text 9"/>
          <p:cNvSpPr txBox="1"/>
          <p:nvPr/>
        </p:nvSpPr>
        <p:spPr>
          <a:xfrm>
            <a:off x="5303520" y="3291840"/>
            <a:ext cx="2194560" cy="502920"/>
          </a:xfrm>
          <a:prstGeom prst="rect">
            <a:avLst/>
          </a:prstGeom>
          <a:noFill/>
          <a:ln/>
        </p:spPr>
        <p:txBody>
          <a:bodyPr wrap="square" lIns="0" tIns="0" rIns="0" bIns="0" rtlCol="0" anchor="ctr"/>
          <a:lstStyle/>
          <a:p>
            <a:pPr algn="ctr" indent="0" marL="0">
              <a:buNone/>
            </a:pPr>
            <a:r>
              <a:rPr lang="en-US" sz="1900" b="1" i="1" dirty="0">
                <a:solidFill>
                  <a:schemeClr val="tx1"/>
                </a:solidFill>
              </a:rPr>
              <a:t>teamwerk</a:t>
            </a:r>
            <a:endParaRPr lang="en-US" sz="1900" dirty="0"/>
          </a:p>
        </p:txBody>
      </p:sp>
      <p:sp>
        <p:nvSpPr>
          <p:cNvPr id="16" name="Shape 10"/>
          <p:cNvSpPr/>
          <p:nvPr/>
        </p:nvSpPr>
        <p:spPr>
          <a:xfrm>
            <a:off x="548640" y="4069080"/>
            <a:ext cx="2194560" cy="1600200"/>
          </a:xfrm>
          <a:prstGeom prst="roundRect">
            <a:avLst>
              <a:gd name="adj" fmla="val 4571"/>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17" name="Image 3" descr="woman teacher">    </p:cNvPr>
          <p:cNvPicPr>
            <a:picLocks noChangeAspect="1"/>
          </p:cNvPicPr>
          <p:nvPr/>
        </p:nvPicPr>
        <p:blipFill>
          <a:blip r:embed="rId4"/>
          <a:stretch>
            <a:fillRect/>
          </a:stretch>
        </p:blipFill>
        <p:spPr>
          <a:xfrm>
            <a:off x="1234440" y="4206240"/>
            <a:ext cx="822960" cy="822960"/>
          </a:xfrm>
          <a:prstGeom prst="rect">
            <a:avLst/>
          </a:prstGeom>
        </p:spPr>
      </p:pic>
      <p:sp>
        <p:nvSpPr>
          <p:cNvPr id="18" name="Text 11"/>
          <p:cNvSpPr txBox="1"/>
          <p:nvPr/>
        </p:nvSpPr>
        <p:spPr>
          <a:xfrm>
            <a:off x="548640" y="5074920"/>
            <a:ext cx="2194560" cy="502920"/>
          </a:xfrm>
          <a:prstGeom prst="rect">
            <a:avLst/>
          </a:prstGeom>
          <a:noFill/>
          <a:ln/>
        </p:spPr>
        <p:txBody>
          <a:bodyPr wrap="square" lIns="0" tIns="0" rIns="0" bIns="0" rtlCol="0" anchor="ctr"/>
          <a:lstStyle/>
          <a:p>
            <a:pPr algn="ctr" indent="0" marL="0">
              <a:buNone/>
            </a:pPr>
            <a:r>
              <a:rPr lang="en-US" sz="1500" b="1" i="1" dirty="0">
                <a:solidFill>
                  <a:schemeClr val="tx1"/>
                </a:solidFill>
              </a:rPr>
              <a:t>een goede leraar</a:t>
            </a:r>
            <a:endParaRPr lang="en-US" sz="1500" dirty="0"/>
          </a:p>
        </p:txBody>
      </p:sp>
      <p:sp>
        <p:nvSpPr>
          <p:cNvPr id="19" name="Shape 12"/>
          <p:cNvSpPr/>
          <p:nvPr/>
        </p:nvSpPr>
        <p:spPr>
          <a:xfrm>
            <a:off x="2926080" y="4069080"/>
            <a:ext cx="2194560" cy="1600200"/>
          </a:xfrm>
          <a:prstGeom prst="roundRect">
            <a:avLst>
              <a:gd name="adj" fmla="val 4571"/>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20" name="Image 4" descr="beach with umbrella">    </p:cNvPr>
          <p:cNvPicPr>
            <a:picLocks noChangeAspect="1"/>
          </p:cNvPicPr>
          <p:nvPr/>
        </p:nvPicPr>
        <p:blipFill>
          <a:blip r:embed="rId5"/>
          <a:stretch>
            <a:fillRect/>
          </a:stretch>
        </p:blipFill>
        <p:spPr>
          <a:xfrm>
            <a:off x="3611880" y="4206240"/>
            <a:ext cx="822960" cy="822960"/>
          </a:xfrm>
          <a:prstGeom prst="rect">
            <a:avLst/>
          </a:prstGeom>
        </p:spPr>
      </p:pic>
      <p:sp>
        <p:nvSpPr>
          <p:cNvPr id="21" name="Text 13"/>
          <p:cNvSpPr txBox="1"/>
          <p:nvPr/>
        </p:nvSpPr>
        <p:spPr>
          <a:xfrm>
            <a:off x="2926080" y="5074920"/>
            <a:ext cx="2194560" cy="502920"/>
          </a:xfrm>
          <a:prstGeom prst="rect">
            <a:avLst/>
          </a:prstGeom>
          <a:noFill/>
          <a:ln/>
        </p:spPr>
        <p:txBody>
          <a:bodyPr wrap="square" lIns="0" tIns="0" rIns="0" bIns="0" rtlCol="0" anchor="ctr"/>
          <a:lstStyle/>
          <a:p>
            <a:pPr algn="ctr" indent="0" marL="0">
              <a:buNone/>
            </a:pPr>
            <a:r>
              <a:rPr lang="en-US" sz="1900" b="1" i="1" dirty="0">
                <a:solidFill>
                  <a:schemeClr val="tx1"/>
                </a:solidFill>
              </a:rPr>
              <a:t>vakantie</a:t>
            </a:r>
            <a:endParaRPr lang="en-US" sz="1900" dirty="0"/>
          </a:p>
        </p:txBody>
      </p:sp>
      <p:sp>
        <p:nvSpPr>
          <p:cNvPr id="22" name="Shape 14"/>
          <p:cNvSpPr/>
          <p:nvPr/>
        </p:nvSpPr>
        <p:spPr>
          <a:xfrm>
            <a:off x="5303520" y="4069080"/>
            <a:ext cx="2194560" cy="1600200"/>
          </a:xfrm>
          <a:prstGeom prst="roundRect">
            <a:avLst>
              <a:gd name="adj" fmla="val 4571"/>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23" name="Image 5" descr="hot beverage">    </p:cNvPr>
          <p:cNvPicPr>
            <a:picLocks noChangeAspect="1"/>
          </p:cNvPicPr>
          <p:nvPr/>
        </p:nvPicPr>
        <p:blipFill>
          <a:blip r:embed="rId6"/>
          <a:stretch>
            <a:fillRect/>
          </a:stretch>
        </p:blipFill>
        <p:spPr>
          <a:xfrm>
            <a:off x="5989320" y="4206240"/>
            <a:ext cx="822960" cy="822960"/>
          </a:xfrm>
          <a:prstGeom prst="rect">
            <a:avLst/>
          </a:prstGeom>
        </p:spPr>
      </p:pic>
      <p:sp>
        <p:nvSpPr>
          <p:cNvPr id="24" name="Text 15"/>
          <p:cNvSpPr txBox="1"/>
          <p:nvPr/>
        </p:nvSpPr>
        <p:spPr>
          <a:xfrm>
            <a:off x="5303520" y="5074920"/>
            <a:ext cx="2194560" cy="502920"/>
          </a:xfrm>
          <a:prstGeom prst="rect">
            <a:avLst/>
          </a:prstGeom>
          <a:noFill/>
          <a:ln/>
        </p:spPr>
        <p:txBody>
          <a:bodyPr wrap="square" lIns="0" tIns="0" rIns="0" bIns="0" rtlCol="0" anchor="ctr"/>
          <a:lstStyle/>
          <a:p>
            <a:pPr algn="ctr" indent="0" marL="0">
              <a:buNone/>
            </a:pPr>
            <a:r>
              <a:rPr lang="en-US" sz="1900" b="1" i="1" dirty="0">
                <a:solidFill>
                  <a:schemeClr val="tx1"/>
                </a:solidFill>
              </a:rPr>
              <a:t>koffie</a:t>
            </a:r>
            <a:endParaRPr lang="en-US" sz="1900" dirty="0"/>
          </a:p>
        </p:txBody>
      </p:sp>
      <p:pic>
        <p:nvPicPr>
          <p:cNvPr id="25" name="Image 6" descr="stopwatch">    </p:cNvPr>
          <p:cNvPicPr>
            <a:picLocks noChangeAspect="1"/>
          </p:cNvPicPr>
          <p:nvPr/>
        </p:nvPicPr>
        <p:blipFill>
          <a:blip r:embed="rId7"/>
          <a:stretch>
            <a:fillRect/>
          </a:stretch>
        </p:blipFill>
        <p:spPr>
          <a:xfrm>
            <a:off x="7818120" y="1554480"/>
            <a:ext cx="1005840" cy="1005840"/>
          </a:xfrm>
          <a:prstGeom prst="rect">
            <a:avLst/>
          </a:prstGeom>
        </p:spPr>
      </p:pic>
      <p:sp>
        <p:nvSpPr>
          <p:cNvPr id="26" name="Shape 16"/>
          <p:cNvSpPr/>
          <p:nvPr/>
        </p:nvSpPr>
        <p:spPr>
          <a:xfrm>
            <a:off x="9006840" y="1691640"/>
            <a:ext cx="2633472" cy="731520"/>
          </a:xfrm>
          <a:prstGeom prst="roundRect">
            <a:avLst>
              <a:gd name="adj" fmla="val 50000"/>
            </a:avLst>
          </a:prstGeom>
          <a:solidFill>
            <a:schemeClr val="accent3"/>
          </a:solidFill>
          <a:ln w="12700">
            <a:solidFill>
              <a:srgbClr val="FFFFFF">
                <a:alpha val="0"/>
              </a:srgbClr>
            </a:solidFill>
            <a:prstDash val="solid"/>
          </a:ln>
        </p:spPr>
      </p:sp>
      <p:sp>
        <p:nvSpPr>
          <p:cNvPr id="27" name="Text 17"/>
          <p:cNvSpPr txBox="1"/>
          <p:nvPr/>
        </p:nvSpPr>
        <p:spPr>
          <a:xfrm>
            <a:off x="9006840" y="1691640"/>
            <a:ext cx="2633472" cy="731520"/>
          </a:xfrm>
          <a:prstGeom prst="rect">
            <a:avLst/>
          </a:prstGeom>
          <a:noFill/>
          <a:ln/>
        </p:spPr>
        <p:txBody>
          <a:bodyPr wrap="square" lIns="0" tIns="0" rIns="0" bIns="0" rtlCol="0" anchor="ctr"/>
          <a:lstStyle/>
          <a:p>
            <a:pPr algn="ctr" indent="0" marL="0">
              <a:buNone/>
            </a:pPr>
            <a:r>
              <a:rPr lang="en-US" sz="2600" b="1" dirty="0">
                <a:solidFill>
                  <a:schemeClr val="bg1"/>
                </a:solidFill>
              </a:rPr>
              <a:t>Start!</a:t>
            </a:r>
            <a:endParaRPr lang="en-US" sz="2600" dirty="0"/>
          </a:p>
        </p:txBody>
      </p:sp>
      <p:sp>
        <p:nvSpPr>
          <p:cNvPr id="28" name="Text 18"/>
          <p:cNvSpPr txBox="1"/>
          <p:nvPr/>
        </p:nvSpPr>
        <p:spPr>
          <a:xfrm>
            <a:off x="7818120" y="2697480"/>
            <a:ext cx="3822192" cy="2194560"/>
          </a:xfrm>
          <a:prstGeom prst="rect">
            <a:avLst/>
          </a:prstGeom>
          <a:noFill/>
          <a:ln/>
        </p:spPr>
        <p:txBody>
          <a:bodyPr wrap="square" lIns="0" tIns="0" rIns="0" bIns="0" rtlCol="0" anchor="t"/>
          <a:lstStyle/>
          <a:p>
            <a:pPr algn="l" indent="0" marL="0">
              <a:spcAft>
                <a:spcPts val="800"/>
              </a:spcAft>
              <a:buNone/>
            </a:pPr>
            <a:r>
              <a:rPr lang="en-US" sz="1700" b="1" dirty="0">
                <a:solidFill>
                  <a:schemeClr val="tx1"/>
                </a:solidFill>
              </a:rPr>
              <a:t>1.</a:t>
            </a:r>
            <a:r>
              <a:rPr lang="en-US" sz="1700" dirty="0">
                <a:solidFill>
                  <a:schemeClr val="tx1"/>
                </a:solidFill>
              </a:rPr>
              <a:t> Par deux, tirez une tuile.</a:t>
            </a:r>
            <a:endParaRPr lang="en-US" sz="1700" dirty="0"/>
          </a:p>
          <a:p>
            <a:pPr algn="l" indent="0" marL="0">
              <a:spcAft>
                <a:spcPts val="800"/>
              </a:spcAft>
              <a:buNone/>
            </a:pPr>
            <a:r>
              <a:rPr lang="en-US" sz="1700" b="1" dirty="0">
                <a:solidFill>
                  <a:schemeClr val="tx1"/>
                </a:solidFill>
              </a:rPr>
              <a:t>2.</a:t>
            </a:r>
            <a:r>
              <a:rPr lang="en-US" sz="1700" dirty="0">
                <a:solidFill>
                  <a:schemeClr val="tx1"/>
                </a:solidFill>
              </a:rPr>
              <a:t> 1 minute : un maximum de raisons.</a:t>
            </a:r>
            <a:endParaRPr lang="en-US" sz="1700" dirty="0"/>
          </a:p>
          <a:p>
            <a:pPr algn="l" indent="0" marL="0">
              <a:spcAft>
                <a:spcPts val="800"/>
              </a:spcAft>
              <a:buNone/>
            </a:pPr>
            <a:r>
              <a:rPr lang="en-US" sz="1700" b="1" dirty="0">
                <a:solidFill>
                  <a:schemeClr val="tx1"/>
                </a:solidFill>
              </a:rPr>
              <a:t>3.</a:t>
            </a:r>
            <a:r>
              <a:rPr lang="en-US" sz="1700" dirty="0">
                <a:solidFill>
                  <a:schemeClr val="tx1"/>
                </a:solidFill>
              </a:rPr>
              <a:t> 1 point par phrase correcte (</a:t>
            </a:r>
            <a:r>
              <a:rPr lang="en-US" sz="1700" i="1" dirty="0">
                <a:solidFill>
                  <a:schemeClr val="tx1"/>
                </a:solidFill>
              </a:rPr>
              <a:t>want</a:t>
            </a:r>
            <a:r>
              <a:rPr lang="en-US" sz="1700" dirty="0">
                <a:solidFill>
                  <a:schemeClr val="tx1"/>
                </a:solidFill>
              </a:rPr>
              <a:t> : verbe en ②, </a:t>
            </a:r>
            <a:r>
              <a:rPr lang="en-US" sz="1700" i="1" dirty="0">
                <a:solidFill>
                  <a:schemeClr val="tx1"/>
                </a:solidFill>
              </a:rPr>
              <a:t>omdat</a:t>
            </a:r>
            <a:r>
              <a:rPr lang="en-US" sz="1700" dirty="0">
                <a:solidFill>
                  <a:schemeClr val="tx1"/>
                </a:solidFill>
              </a:rPr>
              <a:t> : verbe à la fin).</a:t>
            </a:r>
            <a:endParaRPr lang="en-US" sz="1700" dirty="0"/>
          </a:p>
        </p:txBody>
      </p:sp>
      <p:sp>
        <p:nvSpPr>
          <p:cNvPr id="29" name="Shape 19"/>
          <p:cNvSpPr/>
          <p:nvPr/>
        </p:nvSpPr>
        <p:spPr>
          <a:xfrm>
            <a:off x="7818120" y="4983480"/>
            <a:ext cx="3822192" cy="1280160"/>
          </a:xfrm>
          <a:prstGeom prst="roundRect">
            <a:avLst>
              <a:gd name="adj" fmla="val 5714"/>
            </a:avLst>
          </a:prstGeom>
          <a:solidFill>
            <a:schemeClr val="bg2"/>
          </a:solidFill>
          <a:ln w="12700">
            <a:solidFill>
              <a:srgbClr val="D5DCE6"/>
            </a:solidFill>
            <a:prstDash val="solid"/>
          </a:ln>
        </p:spPr>
      </p:sp>
      <p:sp>
        <p:nvSpPr>
          <p:cNvPr id="30" name="Text 20"/>
          <p:cNvSpPr txBox="1"/>
          <p:nvPr/>
        </p:nvSpPr>
        <p:spPr>
          <a:xfrm>
            <a:off x="7955280" y="4983480"/>
            <a:ext cx="3611880" cy="1280160"/>
          </a:xfrm>
          <a:prstGeom prst="rect">
            <a:avLst/>
          </a:prstGeom>
          <a:noFill/>
          <a:ln/>
        </p:spPr>
        <p:txBody>
          <a:bodyPr wrap="square" lIns="0" tIns="0" rIns="0" bIns="0" rtlCol="0" anchor="ctr"/>
          <a:lstStyle/>
          <a:p>
            <a:pPr algn="l" indent="0" marL="0">
              <a:spcAft>
                <a:spcPts val="600"/>
              </a:spcAft>
              <a:buNone/>
            </a:pPr>
            <a:r>
              <a:rPr lang="en-US" sz="1600" i="1" dirty="0">
                <a:solidFill>
                  <a:schemeClr val="tx1"/>
                </a:solidFill>
              </a:rPr>
              <a:t>… is belangrijk, </a:t>
            </a:r>
            <a:r>
              <a:rPr lang="en-US" sz="1600" b="1" i="1" dirty="0">
                <a:solidFill>
                  <a:schemeClr val="tx1"/>
                </a:solidFill>
              </a:rPr>
              <a:t>want</a:t>
            </a:r>
            <a:r>
              <a:rPr lang="en-US" sz="1600" i="1" dirty="0">
                <a:solidFill>
                  <a:schemeClr val="tx1"/>
                </a:solidFill>
              </a:rPr>
              <a:t> het is …</a:t>
            </a:r>
            <a:endParaRPr lang="en-US" sz="1600" dirty="0"/>
          </a:p>
          <a:p>
            <a:pPr algn="l" indent="0" marL="0">
              <a:spcAft>
                <a:spcPts val="600"/>
              </a:spcAft>
              <a:buNone/>
            </a:pPr>
            <a:r>
              <a:rPr lang="en-US" sz="1600" i="1" dirty="0">
                <a:solidFill>
                  <a:schemeClr val="tx1"/>
                </a:solidFill>
              </a:rPr>
              <a:t>… is belangrijk </a:t>
            </a:r>
            <a:r>
              <a:rPr lang="en-US" sz="1600" b="1" i="1" dirty="0">
                <a:solidFill>
                  <a:schemeClr val="tx1"/>
                </a:solidFill>
              </a:rPr>
              <a:t>omdat</a:t>
            </a:r>
            <a:r>
              <a:rPr lang="en-US" sz="1600" i="1" dirty="0">
                <a:solidFill>
                  <a:schemeClr val="tx1"/>
                </a:solidFill>
              </a:rPr>
              <a:t> je … kunt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Désolé, je suis en retard !</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3488436" cy="3026664"/>
          </a:xfrm>
          <a:prstGeom prst="roundRect">
            <a:avLst>
              <a:gd name="adj" fmla="val 2417"/>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713232" y="1618488"/>
            <a:ext cx="457200" cy="457200"/>
          </a:xfrm>
          <a:prstGeom prst="ellipse">
            <a:avLst/>
          </a:prstGeom>
          <a:solidFill>
            <a:schemeClr val="accent2"/>
          </a:solidFill>
          <a:ln w="12700">
            <a:solidFill>
              <a:srgbClr val="FFFFFF">
                <a:alpha val="0"/>
              </a:srgbClr>
            </a:solidFill>
            <a:prstDash val="solid"/>
          </a:ln>
        </p:spPr>
      </p:sp>
      <p:sp>
        <p:nvSpPr>
          <p:cNvPr id="8" name="Text 5"/>
          <p:cNvSpPr txBox="1"/>
          <p:nvPr/>
        </p:nvSpPr>
        <p:spPr>
          <a:xfrm>
            <a:off x="713232"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9" name="Text 6"/>
          <p:cNvSpPr txBox="1"/>
          <p:nvPr/>
        </p:nvSpPr>
        <p:spPr>
          <a:xfrm>
            <a:off x="1325880"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Employé·e</a:t>
            </a:r>
            <a:r>
              <a:rPr lang="en-US" sz="1700" dirty="0">
                <a:solidFill>
                  <a:schemeClr val="tx1"/>
                </a:solidFill>
              </a:rPr>
              <a:t> : vous arrivez en retard à une réunion. Excusez-vous et donnez la raison (</a:t>
            </a:r>
            <a:r>
              <a:rPr lang="en-US" sz="1700" i="1" dirty="0">
                <a:solidFill>
                  <a:schemeClr val="tx1"/>
                </a:solidFill>
              </a:rPr>
              <a:t>omdat</a:t>
            </a:r>
            <a:r>
              <a:rPr lang="en-US" sz="1700" dirty="0">
                <a:solidFill>
                  <a:schemeClr val="tx1"/>
                </a:solidFill>
              </a:rPr>
              <a:t>).</a:t>
            </a:r>
            <a:endParaRPr lang="en-US" sz="1700" dirty="0"/>
          </a:p>
        </p:txBody>
      </p:sp>
      <p:sp>
        <p:nvSpPr>
          <p:cNvPr id="10" name="Shape 7"/>
          <p:cNvSpPr/>
          <p:nvPr/>
        </p:nvSpPr>
        <p:spPr>
          <a:xfrm>
            <a:off x="4311396" y="1481328"/>
            <a:ext cx="3488436" cy="3026664"/>
          </a:xfrm>
          <a:prstGeom prst="roundRect">
            <a:avLst>
              <a:gd name="adj" fmla="val 2417"/>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1" name="Shape 8"/>
          <p:cNvSpPr/>
          <p:nvPr/>
        </p:nvSpPr>
        <p:spPr>
          <a:xfrm>
            <a:off x="4475988" y="1618488"/>
            <a:ext cx="457200" cy="457200"/>
          </a:xfrm>
          <a:prstGeom prst="ellipse">
            <a:avLst/>
          </a:prstGeom>
          <a:solidFill>
            <a:srgbClr val="6E4A9E"/>
          </a:solidFill>
          <a:ln w="12700">
            <a:solidFill>
              <a:srgbClr val="FFFFFF">
                <a:alpha val="0"/>
              </a:srgbClr>
            </a:solidFill>
            <a:prstDash val="solid"/>
          </a:ln>
        </p:spPr>
      </p:sp>
      <p:sp>
        <p:nvSpPr>
          <p:cNvPr id="12" name="Text 9"/>
          <p:cNvSpPr txBox="1"/>
          <p:nvPr/>
        </p:nvSpPr>
        <p:spPr>
          <a:xfrm>
            <a:off x="4475988" y="16184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Text 10"/>
          <p:cNvSpPr txBox="1"/>
          <p:nvPr/>
        </p:nvSpPr>
        <p:spPr>
          <a:xfrm>
            <a:off x="5088636" y="1572768"/>
            <a:ext cx="2574036" cy="2843784"/>
          </a:xfrm>
          <a:prstGeom prst="rect">
            <a:avLst/>
          </a:prstGeom>
          <a:noFill/>
          <a:ln/>
        </p:spPr>
        <p:txBody>
          <a:bodyPr wrap="square" lIns="0" tIns="0" rIns="0" bIns="0" rtlCol="0" anchor="ctr"/>
          <a:lstStyle/>
          <a:p>
            <a:pPr algn="l" indent="0" marL="0">
              <a:buNone/>
            </a:pPr>
            <a:r>
              <a:rPr lang="en-US" sz="1700" b="1" dirty="0">
                <a:solidFill>
                  <a:schemeClr val="tx1"/>
                </a:solidFill>
              </a:rPr>
              <a:t>Cheffe d’équipe</a:t>
            </a:r>
            <a:r>
              <a:rPr lang="en-US" sz="1700" dirty="0">
                <a:solidFill>
                  <a:schemeClr val="tx1"/>
                </a:solidFill>
              </a:rPr>
              <a:t> : demandez </a:t>
            </a:r>
            <a:r>
              <a:rPr lang="en-US" sz="1700" i="1" dirty="0">
                <a:solidFill>
                  <a:schemeClr val="tx1"/>
                </a:solidFill>
              </a:rPr>
              <a:t>Waarom?</a:t>
            </a:r>
            <a:r>
              <a:rPr lang="en-US" sz="1700" dirty="0">
                <a:solidFill>
                  <a:schemeClr val="tx1"/>
                </a:solidFill>
              </a:rPr>
              <a:t>, puis réagissez.</a:t>
            </a:r>
            <a:endParaRPr lang="en-US" sz="1700" dirty="0"/>
          </a:p>
        </p:txBody>
      </p:sp>
      <p:sp>
        <p:nvSpPr>
          <p:cNvPr id="14" name="Shape 11"/>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5" name="Text 12"/>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6" name="Text 13"/>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Sorry dat ik te laat ben. · Excuseer, mevrouw. · Ik ben te laat omdat… · Geen probleem. · Ga zitten. · Gelukkig ben je er nu!</a:t>
            </a:r>
            <a:endParaRPr lang="en-US" sz="1600" dirty="0"/>
          </a:p>
        </p:txBody>
      </p:sp>
      <p:sp>
        <p:nvSpPr>
          <p:cNvPr id="17" name="Shape 14"/>
          <p:cNvSpPr/>
          <p:nvPr/>
        </p:nvSpPr>
        <p:spPr>
          <a:xfrm>
            <a:off x="8074152" y="1481328"/>
            <a:ext cx="3566160" cy="4809744"/>
          </a:xfrm>
          <a:prstGeom prst="roundRect">
            <a:avLst>
              <a:gd name="adj" fmla="val 2051"/>
            </a:avLst>
          </a:prstGeom>
          <a:solidFill>
            <a:schemeClr val="bg2"/>
          </a:solidFill>
          <a:ln w="12700">
            <a:solidFill>
              <a:srgbClr val="D5DCE6"/>
            </a:solidFill>
            <a:prstDash val="solid"/>
          </a:ln>
        </p:spPr>
      </p:sp>
      <p:sp>
        <p:nvSpPr>
          <p:cNvPr id="18" name="Text 15"/>
          <p:cNvSpPr txBox="1"/>
          <p:nvPr/>
        </p:nvSpPr>
        <p:spPr>
          <a:xfrm>
            <a:off x="8074152" y="1554480"/>
            <a:ext cx="3566160" cy="320040"/>
          </a:xfrm>
          <a:prstGeom prst="rect">
            <a:avLst/>
          </a:prstGeom>
          <a:noFill/>
          <a:ln/>
        </p:spPr>
        <p:txBody>
          <a:bodyPr wrap="square" lIns="0" tIns="0" rIns="0" bIns="0" rtlCol="0" anchor="t"/>
          <a:lstStyle/>
          <a:p>
            <a:pPr algn="ctr" indent="0" marL="0">
              <a:buNone/>
            </a:pPr>
            <a:r>
              <a:rPr lang="en-US" sz="1200" b="1" spc="200" kern="0" dirty="0">
                <a:solidFill>
                  <a:schemeClr val="accent5"/>
                </a:solidFill>
              </a:rPr>
              <a:t>LES EXCUSES</a:t>
            </a:r>
            <a:endParaRPr lang="en-US" sz="1200" dirty="0"/>
          </a:p>
        </p:txBody>
      </p:sp>
      <p:pic>
        <p:nvPicPr>
          <p:cNvPr id="19" name="Image 0" descr="train">    </p:cNvPr>
          <p:cNvPicPr>
            <a:picLocks noChangeAspect="1"/>
          </p:cNvPicPr>
          <p:nvPr/>
        </p:nvPicPr>
        <p:blipFill>
          <a:blip r:embed="rId1"/>
          <a:stretch>
            <a:fillRect/>
          </a:stretch>
        </p:blipFill>
        <p:spPr>
          <a:xfrm>
            <a:off x="8211312" y="1984248"/>
            <a:ext cx="566928" cy="566928"/>
          </a:xfrm>
          <a:prstGeom prst="rect">
            <a:avLst/>
          </a:prstGeom>
        </p:spPr>
      </p:pic>
      <p:sp>
        <p:nvSpPr>
          <p:cNvPr id="20" name="Text 16"/>
          <p:cNvSpPr txBox="1"/>
          <p:nvPr/>
        </p:nvSpPr>
        <p:spPr>
          <a:xfrm>
            <a:off x="8897112" y="1938528"/>
            <a:ext cx="2651760" cy="658368"/>
          </a:xfrm>
          <a:prstGeom prst="rect">
            <a:avLst/>
          </a:prstGeom>
          <a:noFill/>
          <a:ln/>
        </p:spPr>
        <p:txBody>
          <a:bodyPr wrap="square" lIns="0" tIns="0" rIns="0" bIns="0" rtlCol="0" anchor="ctr"/>
          <a:lstStyle/>
          <a:p>
            <a:pPr algn="l" indent="0" marL="0">
              <a:buNone/>
            </a:pPr>
            <a:r>
              <a:rPr lang="en-US" sz="1400" i="1" dirty="0">
                <a:solidFill>
                  <a:schemeClr val="tx1"/>
                </a:solidFill>
              </a:rPr>
              <a:t>de trein heeft vertraging</a:t>
            </a:r>
            <a:endParaRPr lang="en-US" sz="1400" dirty="0"/>
          </a:p>
        </p:txBody>
      </p:sp>
      <p:pic>
        <p:nvPicPr>
          <p:cNvPr id="21" name="Image 1" descr="automobile">    </p:cNvPr>
          <p:cNvPicPr>
            <a:picLocks noChangeAspect="1"/>
          </p:cNvPicPr>
          <p:nvPr/>
        </p:nvPicPr>
        <p:blipFill>
          <a:blip r:embed="rId2"/>
          <a:stretch>
            <a:fillRect/>
          </a:stretch>
        </p:blipFill>
        <p:spPr>
          <a:xfrm>
            <a:off x="8211312" y="2694432"/>
            <a:ext cx="566928" cy="566928"/>
          </a:xfrm>
          <a:prstGeom prst="rect">
            <a:avLst/>
          </a:prstGeom>
        </p:spPr>
      </p:pic>
      <p:sp>
        <p:nvSpPr>
          <p:cNvPr id="22" name="Text 17"/>
          <p:cNvSpPr txBox="1"/>
          <p:nvPr/>
        </p:nvSpPr>
        <p:spPr>
          <a:xfrm>
            <a:off x="8897112" y="2648712"/>
            <a:ext cx="2651760" cy="658368"/>
          </a:xfrm>
          <a:prstGeom prst="rect">
            <a:avLst/>
          </a:prstGeom>
          <a:noFill/>
          <a:ln/>
        </p:spPr>
        <p:txBody>
          <a:bodyPr wrap="square" lIns="0" tIns="0" rIns="0" bIns="0" rtlCol="0" anchor="ctr"/>
          <a:lstStyle/>
          <a:p>
            <a:pPr algn="l" indent="0" marL="0">
              <a:buNone/>
            </a:pPr>
            <a:r>
              <a:rPr lang="en-US" sz="1400" i="1" dirty="0">
                <a:solidFill>
                  <a:schemeClr val="tx1"/>
                </a:solidFill>
              </a:rPr>
              <a:t>ik sta in de file</a:t>
            </a:r>
            <a:endParaRPr lang="en-US" sz="1400" dirty="0"/>
          </a:p>
        </p:txBody>
      </p:sp>
      <p:pic>
        <p:nvPicPr>
          <p:cNvPr id="23" name="Image 2" descr="alarm clock">    </p:cNvPr>
          <p:cNvPicPr>
            <a:picLocks noChangeAspect="1"/>
          </p:cNvPicPr>
          <p:nvPr/>
        </p:nvPicPr>
        <p:blipFill>
          <a:blip r:embed="rId3"/>
          <a:stretch>
            <a:fillRect/>
          </a:stretch>
        </p:blipFill>
        <p:spPr>
          <a:xfrm>
            <a:off x="8211312" y="3404616"/>
            <a:ext cx="566928" cy="566928"/>
          </a:xfrm>
          <a:prstGeom prst="rect">
            <a:avLst/>
          </a:prstGeom>
        </p:spPr>
      </p:pic>
      <p:sp>
        <p:nvSpPr>
          <p:cNvPr id="24" name="Text 18"/>
          <p:cNvSpPr txBox="1"/>
          <p:nvPr/>
        </p:nvSpPr>
        <p:spPr>
          <a:xfrm>
            <a:off x="8897112" y="3358896"/>
            <a:ext cx="2651760" cy="658368"/>
          </a:xfrm>
          <a:prstGeom prst="rect">
            <a:avLst/>
          </a:prstGeom>
          <a:noFill/>
          <a:ln/>
        </p:spPr>
        <p:txBody>
          <a:bodyPr wrap="square" lIns="0" tIns="0" rIns="0" bIns="0" rtlCol="0" anchor="ctr"/>
          <a:lstStyle/>
          <a:p>
            <a:pPr algn="l" indent="0" marL="0">
              <a:buNone/>
            </a:pPr>
            <a:r>
              <a:rPr lang="en-US" sz="1400" i="1" dirty="0">
                <a:solidFill>
                  <a:schemeClr val="tx1"/>
                </a:solidFill>
              </a:rPr>
              <a:t>mijn wekker is kapot</a:t>
            </a:r>
            <a:endParaRPr lang="en-US" sz="1400" dirty="0"/>
          </a:p>
        </p:txBody>
      </p:sp>
      <p:pic>
        <p:nvPicPr>
          <p:cNvPr id="25" name="Image 3" descr="baby">    </p:cNvPr>
          <p:cNvPicPr>
            <a:picLocks noChangeAspect="1"/>
          </p:cNvPicPr>
          <p:nvPr/>
        </p:nvPicPr>
        <p:blipFill>
          <a:blip r:embed="rId4"/>
          <a:stretch>
            <a:fillRect/>
          </a:stretch>
        </p:blipFill>
        <p:spPr>
          <a:xfrm>
            <a:off x="8211312" y="4114800"/>
            <a:ext cx="566928" cy="566928"/>
          </a:xfrm>
          <a:prstGeom prst="rect">
            <a:avLst/>
          </a:prstGeom>
        </p:spPr>
      </p:pic>
      <p:sp>
        <p:nvSpPr>
          <p:cNvPr id="26" name="Text 19"/>
          <p:cNvSpPr txBox="1"/>
          <p:nvPr/>
        </p:nvSpPr>
        <p:spPr>
          <a:xfrm>
            <a:off x="8897112" y="4069080"/>
            <a:ext cx="2651760" cy="658368"/>
          </a:xfrm>
          <a:prstGeom prst="rect">
            <a:avLst/>
          </a:prstGeom>
          <a:noFill/>
          <a:ln/>
        </p:spPr>
        <p:txBody>
          <a:bodyPr wrap="square" lIns="0" tIns="0" rIns="0" bIns="0" rtlCol="0" anchor="ctr"/>
          <a:lstStyle/>
          <a:p>
            <a:pPr algn="l" indent="0" marL="0">
              <a:buNone/>
            </a:pPr>
            <a:r>
              <a:rPr lang="en-US" sz="1400" i="1" dirty="0">
                <a:solidFill>
                  <a:schemeClr val="tx1"/>
                </a:solidFill>
              </a:rPr>
              <a:t>mijn kind is ziek</a:t>
            </a:r>
            <a:endParaRPr lang="en-US" sz="1400" dirty="0"/>
          </a:p>
        </p:txBody>
      </p:sp>
      <p:pic>
        <p:nvPicPr>
          <p:cNvPr id="27" name="Image 4" descr="cloud with rain">    </p:cNvPr>
          <p:cNvPicPr>
            <a:picLocks noChangeAspect="1"/>
          </p:cNvPicPr>
          <p:nvPr/>
        </p:nvPicPr>
        <p:blipFill>
          <a:blip r:embed="rId5"/>
          <a:stretch>
            <a:fillRect/>
          </a:stretch>
        </p:blipFill>
        <p:spPr>
          <a:xfrm>
            <a:off x="8211312" y="4824984"/>
            <a:ext cx="566928" cy="566928"/>
          </a:xfrm>
          <a:prstGeom prst="rect">
            <a:avLst/>
          </a:prstGeom>
        </p:spPr>
      </p:pic>
      <p:sp>
        <p:nvSpPr>
          <p:cNvPr id="28" name="Text 20"/>
          <p:cNvSpPr txBox="1"/>
          <p:nvPr/>
        </p:nvSpPr>
        <p:spPr>
          <a:xfrm>
            <a:off x="8897112" y="4779264"/>
            <a:ext cx="2651760" cy="658368"/>
          </a:xfrm>
          <a:prstGeom prst="rect">
            <a:avLst/>
          </a:prstGeom>
          <a:noFill/>
          <a:ln/>
        </p:spPr>
        <p:txBody>
          <a:bodyPr wrap="square" lIns="0" tIns="0" rIns="0" bIns="0" rtlCol="0" anchor="ctr"/>
          <a:lstStyle/>
          <a:p>
            <a:pPr algn="l" indent="0" marL="0">
              <a:buNone/>
            </a:pPr>
            <a:r>
              <a:rPr lang="en-US" sz="1400" i="1" dirty="0">
                <a:solidFill>
                  <a:schemeClr val="tx1"/>
                </a:solidFill>
              </a:rPr>
              <a:t>het regent heel hard</a:t>
            </a:r>
            <a:endParaRPr lang="en-US" sz="1400" dirty="0"/>
          </a:p>
        </p:txBody>
      </p:sp>
      <p:pic>
        <p:nvPicPr>
          <p:cNvPr id="29" name="Image 5" descr="bicycle">    </p:cNvPr>
          <p:cNvPicPr>
            <a:picLocks noChangeAspect="1"/>
          </p:cNvPicPr>
          <p:nvPr/>
        </p:nvPicPr>
        <p:blipFill>
          <a:blip r:embed="rId6"/>
          <a:stretch>
            <a:fillRect/>
          </a:stretch>
        </p:blipFill>
        <p:spPr>
          <a:xfrm>
            <a:off x="8211312" y="5535168"/>
            <a:ext cx="566928" cy="566928"/>
          </a:xfrm>
          <a:prstGeom prst="rect">
            <a:avLst/>
          </a:prstGeom>
        </p:spPr>
      </p:pic>
      <p:sp>
        <p:nvSpPr>
          <p:cNvPr id="30" name="Text 21"/>
          <p:cNvSpPr txBox="1"/>
          <p:nvPr/>
        </p:nvSpPr>
        <p:spPr>
          <a:xfrm>
            <a:off x="8897112" y="5489448"/>
            <a:ext cx="2651760" cy="658368"/>
          </a:xfrm>
          <a:prstGeom prst="rect">
            <a:avLst/>
          </a:prstGeom>
          <a:noFill/>
          <a:ln/>
        </p:spPr>
        <p:txBody>
          <a:bodyPr wrap="square" lIns="0" tIns="0" rIns="0" bIns="0" rtlCol="0" anchor="ctr"/>
          <a:lstStyle/>
          <a:p>
            <a:pPr algn="l" indent="0" marL="0">
              <a:buNone/>
            </a:pPr>
            <a:r>
              <a:rPr lang="en-US" sz="1400" i="1" dirty="0">
                <a:solidFill>
                  <a:schemeClr val="tx1"/>
                </a:solidFill>
              </a:rPr>
              <a:t>mijn fiets heeft een lekke band</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Reliez avec </a:t>
            </a:r>
            <a:r>
              <a:rPr lang="en-US" sz="2000" i="1" dirty="0">
                <a:solidFill>
                  <a:schemeClr val="tx1"/>
                </a:solidFill>
              </a:rPr>
              <a:t>maar</a:t>
            </a:r>
            <a:r>
              <a:rPr lang="en-US" sz="2000" dirty="0">
                <a:solidFill>
                  <a:schemeClr val="tx1"/>
                </a:solidFill>
              </a:rPr>
              <a:t> : </a:t>
            </a:r>
            <a:r>
              <a:rPr lang="en-US" sz="2000" i="1" dirty="0">
                <a:solidFill>
                  <a:schemeClr val="tx1"/>
                </a:solidFill>
              </a:rPr>
              <a:t>Ik ben moe. Ik werk nog.</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Reliez avec </a:t>
            </a:r>
            <a:r>
              <a:rPr lang="en-US" sz="2000" i="1" dirty="0">
                <a:solidFill>
                  <a:schemeClr val="tx1"/>
                </a:solidFill>
              </a:rPr>
              <a:t>omdat</a:t>
            </a:r>
            <a:r>
              <a:rPr lang="en-US" sz="2000" dirty="0">
                <a:solidFill>
                  <a:schemeClr val="tx1"/>
                </a:solidFill>
              </a:rPr>
              <a:t> : </a:t>
            </a:r>
            <a:r>
              <a:rPr lang="en-US" sz="2000" i="1" dirty="0">
                <a:solidFill>
                  <a:schemeClr val="tx1"/>
                </a:solidFill>
              </a:rPr>
              <a:t>Ik blijf thuis. Ik ben ziek.</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Complétez : </a:t>
            </a:r>
            <a:r>
              <a:rPr lang="en-US" sz="2000" i="1" dirty="0">
                <a:solidFill>
                  <a:schemeClr val="tx1"/>
                </a:solidFill>
              </a:rPr>
              <a:t>Als het regent, …… (ik / nemen / de bus).</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Relier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Accrocher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Expliquer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EnvelopeOpenText">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Een mail opstellen</a:t>
            </a:r>
            <a:r>
              <a:rPr lang="en-US" sz="1800" dirty="0">
                <a:solidFill>
                  <a:schemeClr val="bg1"/>
                </a:solidFill>
              </a:rPr>
              <a:t> — écrire un e-mail en néerlandais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9 — Zinnen verbinden — Relier deux phrases</dc:title>
  <dc:subject>Néerlandais 1 — Langue en situation, en milieu professionnel</dc:subject>
  <dc:creator>A. Jouniaux</dc:creator>
  <cp:lastModifiedBy>A. Jouniaux</cp:lastModifiedBy>
  <cp:revision>1</cp:revision>
  <dcterms:created xsi:type="dcterms:W3CDTF">2026-10-04T11:19:41Z</dcterms:created>
  <dcterms:modified xsi:type="dcterms:W3CDTF">2026-10-04T11:19:41Z</dcterms:modified>
</cp:coreProperties>
</file>