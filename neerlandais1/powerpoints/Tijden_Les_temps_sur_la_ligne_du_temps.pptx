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aa1370c-2c51-de5e-cdc4-68b496605448}">
          <p14:sldIdLst>
            <p14:sldId id="256"/>
          </p14:sldIdLst>
        </p14:section>
        <p14:section name="Découvrir" id="{3f916945-73ff-1de0-0994-431020e049f6}">
          <p14:sldIdLst>
            <p14:sldId id="257"/>
            <p14:sldId id="258"/>
            <p14:sldId id="259"/>
            <p14:sldId id="260"/>
            <p14:sldId id="261"/>
            <p14:sldId id="262"/>
          </p14:sldIdLst>
        </p14:section>
        <p14:section name="Le présent" id="{aba37807-7e33-b756-c1e3-d6723c2660ca}">
          <p14:sldIdLst>
            <p14:sldId id="263"/>
            <p14:sldId id="264"/>
          </p14:sldIdLst>
        </p14:section>
        <p14:section name="Le passé" id="{38b29692-8cb9-84bb-396d-b06f19e7c9e8}">
          <p14:sldIdLst>
            <p14:sldId id="265"/>
            <p14:sldId id="266"/>
            <p14:sldId id="267"/>
            <p14:sldId id="268"/>
          </p14:sldIdLst>
        </p14:section>
        <p14:section name="Le futur" id="{db09fe28-1d65-0ad3-dfc0-ccd6a255626e}">
          <p14:sldIdLst>
            <p14:sldId id="269"/>
            <p14:sldId id="270"/>
          </p14:sldIdLst>
        </p14:section>
        <p14:section name="L’imaginaire" id="{ca22429a-1269-7bbb-65b5-aa14763351b7}">
          <p14:sldIdLst>
            <p14:sldId id="271"/>
            <p14:sldId id="272"/>
            <p14:sldId id="273"/>
          </p14:sldIdLst>
        </p14:section>
        <p14:section name="Combiner" id="{4a737dbd-8c6e-8da5-f3f8-8d810637067f}">
          <p14:sldIdLst>
            <p14:sldId id="274"/>
            <p14:sldId id="275"/>
            <p14:sldId id="276"/>
            <p14:sldId id="277"/>
          </p14:sldIdLst>
        </p14:section>
        <p14:section name="JIJ NU ! — Oefeningen" id="{d922fb01-7002-bfb0-deed-77e736467191}">
          <p14:sldIdLst>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 name="Clôture" id="{dc2cf4f0-eae2-817e-77d9-c60a448b6823}">
          <p14:sldIdLst>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tous les temps sur une même ligne.
Demandez : « Combien de temps connaissez-vous déjà en néerlandais ? » (M3, M15, M18, M19, M29). Réponse attendue : cinq ou six. Annoncez qu'il y en a huit, et qu'ils tiennent sur une seule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Ce module est une synthèse : il ne remplace pas les M15, M18, M19 et M29, il les met en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Activer les connaissances : situer des phrases sur la ligne avant toute règle.
Réponses : a NU · b passé · c passé (longue période) · d was begonnen avant le passé, aankwam dans le passé · e futur · f futur (terminé avant vendredi) · g nuage · h juste avant NU. Faites remarquer que e est au présent mais parle du futur : la forme et le moment ne coïncident pas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la carte complète (schéma L1).
Le perfectum est placé près de NU : il regarde le passé depuis le présent (le résultat compte maintenant). L'imperfectum est une barre : il « filme » une période. Le conditionnel n'est pas sur la ligne : il décrit ce qui n'est pas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logique du système néerlandais (schéma L2).
Les abréviations (o.t.t. = onvoltooid tegenwoordige tijd, etc.) sont celles des écoles néerlandophones et des grammaires : les apprenant·es les rencontreront. Inutile de les mémoriser ; retenir la logique « deux lignes, quatre cases » suffit. Le conditionnel apparaît ici comme un « futur vu du passé » (Hij zei dat hij zou komen) : c'est son sens d'origine.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Visualiser les formes des huit temps, avec hebben et avec zijn.
L'ordre à la fin (gewerkt hebben / hebben gewerkt) varie : les deux sont corrects. La colonne « français » donne l'équivalent le plus proche, pas une traduction automatique (voir diapo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Rappel théorique : tous les temps se construisent avec trois briques.
Rappel rapide (M15, M19) : faites construire oralement d'autres recettes avec wonen ou gaan (ik was gegaan, ik zou wonen…).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les quatre usages du présent, dont le piège « depuis ».
al + durée (al drie jaar), sinds + point de départ (sinds 2021) ; on dit aussi sinds drie jaar. Le piège « depuis » est très fréquent chez les francophones (et chez les anglophones : I have lived). Lien avec le M32 (sinds / al / geleden).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Maîtriser quatre formules autour du moment présent.
zitten / staan / liggen te + infinitif (M17) précisent la position : Ik zit te lezen, hij staat te koken. aan het existe aussi au passé : Ik was aan het koken toen de telefoon ging (voir diapo 21). net se place après le verbe conjugué (Ik heb net…), ou après le sujet en cas d'inversion (Daarom heb ik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les deux temps du passé (schéma L3).
Différence de fréquence avec le français : à l'oral, le perfectum domine pour les faits isolés ; l'imperfectum s'impose dès qu'on raconte ou décrit. En Belgique, le perfectum est encore plus fréquent à l'oral qu'aux Pays-Bas. En cas de doute : le fait → perfectum, le décor → imperfectum.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Rappel ponctuel de la morphologie du passé (M15, M19).
Les mêmes choix (t / d, hebben / zijn) valent pour tous les temps composés : ik had gewerkt, ik was gekomen, ik zal gekomen zijn. Proposez un memory des irréguliers en fin de séance si besoin (M19, ex.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Voir le perfectum et l'imperfectum travailler ensemble dans un récit.
Faites relire le récit en remplaçant les 🎬 par des perfectums : c'est possible, mais le récit devient une liste de faits. Invitez chacun·e à raconter une petite mésaventure avec le même schéma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 plusquamperfectum pour une action antérieure à une autre action passée.
Bonne nouvelle pour les francophones : le plus-que-parfait se traduit presque toujours par le plusquamperfectum. Lien avec le module « Relier les phrases » : toen, nadat, voordat sont des wagons (verbe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les trois façons de parler du futur (rappel M18).
Piège du M18 : « je vais à Gand » (Ik ga naar Gent, mouvement) ≠ « je vais travailler » (Ik ga werken, futur). straks = tout à l'heure (futur) ; en Belgique, straks peut aussi renvoyer au passé proche à l'oral. Zullen we…? = « Et si on…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Reconnaître et utiliser le futurum exactum.
Comme en français, le futur antérieur sert aussi à faire une supposition sur le passé (il aura raté le train). À l'oral, le perfectum + marqueur futur est la solution la plus simple ; le futurum exactum est surtout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Rappeler les quatre emplois du conditionnel (M29).
Le quatrième emploi relie le conditionnel au schéma L2 : zal (futur vu de NU) devient zou (futur vu de TOEN). En Belgique, Ik had graag… (« je voudrais ») est très fréquent au magasin (M29).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Exprimer le regret et l'irréel du passé.
Ik had moeten bellen utilise le double infinitif (module « Le double infinitif ») : faites le lien. Exercice oral rapide : chacun·e exprime un petit regret de la semaine (Ik had … moeten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les trois niveaux d'hypothèse avec als.
Le parallèle avec le français fonctionne bien ici : « si j'ai / si j'avais / si j'avais eu » ↔ als ik heb / had / gehad had. Ordre des verbes au niveau ③ : gehad had ou had gehad, les deux sont corrects. Rappel « verbe, verbe » : Als ik tijd had, zou ik 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Rapporter des paroles au passé en appliquant le schéma L2.
Comme en français (« il a dit qu'il était malade, qu'il viendrait »). Faites remarquer morgen → de volgende dag. À l'oral, on garde parfois le présent quand c'est encore vrai (Hij zei dat hij ziek is) ; à l'écrit, on applique la concordance.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les marqueurs de temps aux zones et aux temps.
Jeu rapide : l'enseignant·e dit un marqueur, le groupe répond avec une phrase au bon temps (vroeger → Vroeger woonde ik in Namen). vroeger (autrefois) appelle l'imperfectum d'habitude.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Anticiper les correspondances trompeuses entre les temps français et néerlandais.
Faites classer les cartes : « presque 1 = 1 » (présent, passé composé → perfectum, passé simple → imperfectum, si + imparfait) et « pièges » (depuis, j'ai été, imparfait → aan het, venir de, futur → présent, j'aurais dû → had moeten). Le plus-que-parfait, lui, se traduit presque toujours 1 = 1 (diapo 13). Le passé simple n'existe qu'à l'écrit en français ; en néerlandais, l'imperfectum sert aussi à l'oral.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Synthèse à photographier.
Invitez à photographier la diapo.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croisés.
Ex. 1 et 2 en séance 1, ex. 3 à 6 en séance 2, ex. 7 à 11 en séance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Situer l'action d'un verbe (zone) et nommer son temps.
Les n° 3 et 8 croisent forme et moment : un présent pour le futur, un présent pour une action commencée dans le passé. N° 4 : was est un imperfectum, mais il décrit l'imaginaire.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Situer l'action d'un verbe (zone) et nommer son temps.
Les n° 3 et 8 croisent forme et moment : un présent pour le futur, un présent pour une action commencée dans le passé. N° 4 : was est un imperfectum, mais il décrit l'imaginaire.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les huit formes avec un verbe régulier (hebben) et un verbe irrégulier (zijn).
Faites remarquer : we vertrokken (imperfectum) = la même forme que le participe vertrokken. Variante : la classe choisit un troisième verbe (gaan, schrijven) et le conjugue en chaîne, un temps par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les huit formes avec un verbe régulier (hebben) et un verbe irrégulier (zijn).
Faites remarquer : we vertrokken (imperfectum) = la même forme que le participe vertrokken. Variante : la classe choisit un troisième verbe (gaan, schrijven) et le conjugue en chaîne, un temps par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perfectum et imperfectum dans un récit.
Les deux cases par verbe évitent de « donner » le temps : chacun·e décide s'il faut un participe. Acceptez les variantes justifiées : le choix dépend du regard. Exigez en revanche la forme correcte (irréguliers : scheen, stonden, kocht, dronk, zag).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entre perfectum et imperfectum dans un récit.
Les deux cases par verbe évitent de « donner » le temps : chacun·e décide s'il faut un participe. Acceptez les variantes justifiées : le choix dépend du regard. Exigez en revanche la forme correcte (irréguliers : scheen, stonden, kocht, dronk, zag).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 depuis » et « venir de » en choisissant le marqueur et le temps.
N° 3 : vertrekken → zijn. N° 6 croise deux temps du passé (wachtte … kwam) et le wagon toen (verbe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Traduire « depuis » et « venir de » en choisissant le marqueur et le temps.
N° 3 : vertrekken → zijn. N° 6 croise deux temps du passé (wachtte … kwam) et le wagon toen (verbe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la forme du futur selon l'intention.
N° 5 : zullen + wel = supposition (« ça doit être Tom »), un emploi fréquent. N° 4 : Zullen we…? = « Et si on…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la forme du futur selon l'intention.
N° 5 : zullen + wel = supposition (« ça doit être Tom »), un emploi fréquent. N° 4 : Zullen we…? = « Et si on…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Utiliser le plusquamperfectum pour l'action la plus ancienne.
N° 1, 3 et 5 : inversion après le wagon toen (verbe, verbe : aankwam, was). Faites dessiner la ligne du temps pour une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Utiliser le plusquamperfectum pour l'action la plus ancienne.
N° 1, 3 et 5 : inversion après le wagon toen (verbe, verbe : aankwam, was). Faites dessiner la ligne du temps pour une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Transformer une situation aux trois niveaux d'hypothèse.
② Als ik … zou hebben est fréquent à l'oral ; acceptez-le. Prolongement oral : Wat zou je doen als je de lotto won? (M29).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Transformer une situation aux trois niveaux d'hypothèse.
② Als ik … zou hebben est fréquent à l'oral ; acceptez-le. Prolongement oral : Wat zou je doen als je de lotto won? (M29).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en évitant les correspondances automatiques.
Pour chaque phrase, demandez la diapo de référence (piège « depuis », photo / film, net, plusquamperfectum…). N° 1 : Vorige week was ik ziek est aussi correct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Traduire en évitant les correspondances automatiques.
Pour chaque phrase, demandez la diapo de référence (piège « depuis », photo / film, net, plusquamperfectum…). N° 1 : Vorige week was ik ziek est aussi correct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Corriger les erreurs de temps dans un message réaliste.
Faites nommer la règle pour chaque erreur (diapos 8, 10, 9, 10, 18). Ik kom van te… est un gallicisme belge fréquent (« je viens de… ») : à éviter. van job veranderen est courant en Belgique (NL : van baan veranderen).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Corriger les erreurs de temps dans un message réaliste.
Faites nommer la règle pour chaque erreur (diapos 8, 10, 9, 10, 18). Ik kom van te… est un gallicisme belge fréquent (« je viens de… ») : à éviter. van job veranderen est courant en Belgique (NL : van baan veranderen).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rapidement des phrases à un temps imposé, de façon ludique.
Imprimez la roue (une attache parisienne et une flèche en carton) ou utilisez un dé à 8 faces. L'arbitre (un·e troisième apprenant·e ou l'enseignant·e) vérifie la forme. Variante : l'équipe adverse doit dire si le marqueur est compatible.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raconter un parcours professionnel en combinant au moins 6 temps.
A coche les temps entendus sur une grille (huit cases aux couleurs de la ligne). Puis A écrit l'article de la newsletter (8 à 10 phrases). Lien avec le M32 (le pitch et la ligne du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Ik woon hier al drie jaar.
2. Gisteren regende het en ik ben thuisgebleven. (le décor : imperfectum · le fait : perfectum ; … en ik bleef thuis est aussi possible)
3. Als ik tijd had, zou ik komen.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 A2–B1 · Les temps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 A2–B1 · Les temps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slideLayout" Target="../slideLayouts/slideLayout3.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2.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2.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2.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2.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2.xml"/><Relationship Id="rId1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74137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COMPLÉMENT · A2–B1</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Gisteren,</a:t>
            </a:r>
            <a:endParaRPr lang="en-US" sz="4200" dirty="0"/>
          </a:p>
          <a:p>
            <a:pPr algn="l" indent="0" marL="0">
              <a:buNone/>
            </a:pPr>
            <a:r>
              <a:rPr lang="en-US" sz="4200" b="1" dirty="0">
                <a:solidFill>
                  <a:schemeClr val="bg1"/>
                </a:solidFill>
              </a:rPr>
              <a:t>vandaag,</a:t>
            </a:r>
            <a:endParaRPr lang="en-US" sz="4200" dirty="0"/>
          </a:p>
          <a:p>
            <a:pPr algn="l" indent="0" marL="0">
              <a:buNone/>
            </a:pPr>
            <a:r>
              <a:rPr lang="en-US" sz="4200" b="1" dirty="0">
                <a:solidFill>
                  <a:schemeClr val="bg1"/>
                </a:solidFill>
              </a:rPr>
              <a:t>morgen</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temps du néerlandais sur la ligne du temps</a:t>
            </a:r>
            <a:endParaRPr lang="en-US" sz="2000" dirty="0"/>
          </a:p>
          <a:p>
            <a:pPr algn="l" indent="0" marL="0">
              <a:buNone/>
            </a:pPr>
            <a:r>
              <a:rPr lang="en-US" sz="2000" b="1" dirty="0">
                <a:solidFill>
                  <a:srgbClr val="FFFFFF"/>
                </a:solidFill>
              </a:rPr>
              <a:t>huit temps · trois zones · un nuage</a:t>
            </a:r>
            <a:endParaRPr lang="en-US" sz="2000" dirty="0"/>
          </a:p>
        </p:txBody>
      </p:sp>
      <p:sp>
        <p:nvSpPr>
          <p:cNvPr id="5" name="Shape 3"/>
          <p:cNvSpPr/>
          <p:nvPr/>
        </p:nvSpPr>
        <p:spPr>
          <a:xfrm>
            <a:off x="5989320" y="1097280"/>
            <a:ext cx="5943600" cy="3840480"/>
          </a:xfrm>
          <a:prstGeom prst="roundRect">
            <a:avLst>
              <a:gd name="adj" fmla="val 3810"/>
            </a:avLst>
          </a:prstGeom>
          <a:solidFill>
            <a:srgbClr val="FFFFFF"/>
          </a:solidFill>
          <a:ln w="12700">
            <a:solidFill>
              <a:srgbClr val="FFFFFF">
                <a:alpha val="0"/>
              </a:srgbClr>
            </a:solidFill>
            <a:prstDash val="solid"/>
          </a:ln>
        </p:spPr>
      </p:sp>
      <p:sp>
        <p:nvSpPr>
          <p:cNvPr id="6" name="Shape 4"/>
          <p:cNvSpPr/>
          <p:nvPr/>
        </p:nvSpPr>
        <p:spPr>
          <a:xfrm>
            <a:off x="9189720" y="1207008"/>
            <a:ext cx="2606040" cy="1051560"/>
          </a:xfrm>
          <a:prstGeom prst="cloud">
            <a:avLst/>
          </a:prstGeom>
          <a:solidFill>
            <a:srgbClr val="F1ECF7"/>
          </a:solidFill>
          <a:ln w="19050">
            <a:solidFill>
              <a:srgbClr val="6E4A9E"/>
            </a:solidFill>
            <a:prstDash val="solid"/>
          </a:ln>
        </p:spPr>
      </p:sp>
      <p:sp>
        <p:nvSpPr>
          <p:cNvPr id="7" name="Text 5"/>
          <p:cNvSpPr txBox="1"/>
          <p:nvPr/>
        </p:nvSpPr>
        <p:spPr>
          <a:xfrm>
            <a:off x="9372600" y="1298448"/>
            <a:ext cx="2240280" cy="868680"/>
          </a:xfrm>
          <a:prstGeom prst="rect">
            <a:avLst/>
          </a:prstGeom>
          <a:noFill/>
          <a:ln/>
        </p:spPr>
        <p:txBody>
          <a:bodyPr wrap="square" lIns="0" tIns="0" rIns="0" bIns="0" rtlCol="0" anchor="ctr"/>
          <a:lstStyle/>
          <a:p>
            <a:pPr algn="ctr" indent="0" marL="0">
              <a:buNone/>
            </a:pPr>
            <a:r>
              <a:rPr lang="en-US" sz="1300" b="1" dirty="0">
                <a:solidFill>
                  <a:srgbClr val="6E4A9E"/>
                </a:solidFill>
              </a:rPr>
              <a:t>als…</a:t>
            </a:r>
            <a:endParaRPr lang="en-US" sz="1300" dirty="0"/>
          </a:p>
          <a:p>
            <a:pPr algn="ctr" indent="0" marL="0">
              <a:buNone/>
            </a:pPr>
            <a:r>
              <a:rPr lang="en-US" sz="1300" i="1" dirty="0">
                <a:solidFill>
                  <a:srgbClr val="6E4A9E"/>
                </a:solidFill>
              </a:rPr>
              <a:t>ik zou werken</a:t>
            </a:r>
            <a:endParaRPr lang="en-US" sz="1300" dirty="0"/>
          </a:p>
        </p:txBody>
      </p:sp>
      <p:sp>
        <p:nvSpPr>
          <p:cNvPr id="8" name="Shape 6"/>
          <p:cNvSpPr/>
          <p:nvPr/>
        </p:nvSpPr>
        <p:spPr>
          <a:xfrm>
            <a:off x="6263640" y="3154680"/>
            <a:ext cx="2240280" cy="182880"/>
          </a:xfrm>
          <a:prstGeom prst="rect">
            <a:avLst/>
          </a:prstGeom>
          <a:solidFill>
            <a:schemeClr val="accent4"/>
          </a:solidFill>
          <a:ln w="12700">
            <a:solidFill>
              <a:srgbClr val="FFFFFF">
                <a:alpha val="0"/>
              </a:srgbClr>
            </a:solidFill>
            <a:prstDash val="solid"/>
          </a:ln>
        </p:spPr>
      </p:sp>
      <p:sp>
        <p:nvSpPr>
          <p:cNvPr id="9" name="Shape 7"/>
          <p:cNvSpPr/>
          <p:nvPr/>
        </p:nvSpPr>
        <p:spPr>
          <a:xfrm>
            <a:off x="8823960" y="3154680"/>
            <a:ext cx="2743200" cy="182880"/>
          </a:xfrm>
          <a:prstGeom prst="rect">
            <a:avLst/>
          </a:prstGeom>
          <a:solidFill>
            <a:schemeClr val="accent3"/>
          </a:solidFill>
          <a:ln w="12700">
            <a:solidFill>
              <a:srgbClr val="FFFFFF">
                <a:alpha val="0"/>
              </a:srgbClr>
            </a:solidFill>
            <a:prstDash val="solid"/>
          </a:ln>
        </p:spPr>
      </p:sp>
      <p:sp>
        <p:nvSpPr>
          <p:cNvPr id="10" name="Shape 8"/>
          <p:cNvSpPr/>
          <p:nvPr/>
        </p:nvSpPr>
        <p:spPr>
          <a:xfrm>
            <a:off x="6172200" y="3246120"/>
            <a:ext cx="5577840" cy="914"/>
          </a:xfrm>
          <a:prstGeom prst="line">
            <a:avLst/>
          </a:prstGeom>
          <a:noFill/>
          <a:ln w="31750">
            <a:solidFill>
              <a:srgbClr val="17375E"/>
            </a:solidFill>
            <a:prstDash val="solid"/>
            <a:tailEnd type="triangle"/>
          </a:ln>
        </p:spPr>
      </p:sp>
      <p:sp>
        <p:nvSpPr>
          <p:cNvPr id="11" name="Shape 9"/>
          <p:cNvSpPr/>
          <p:nvPr/>
        </p:nvSpPr>
        <p:spPr>
          <a:xfrm>
            <a:off x="8613648" y="2916936"/>
            <a:ext cx="91440" cy="658368"/>
          </a:xfrm>
          <a:prstGeom prst="rect">
            <a:avLst/>
          </a:prstGeom>
          <a:solidFill>
            <a:schemeClr val="accent6"/>
          </a:solidFill>
          <a:ln w="12700">
            <a:solidFill>
              <a:srgbClr val="FFFFFF">
                <a:alpha val="0"/>
              </a:srgbClr>
            </a:solidFill>
            <a:prstDash val="solid"/>
          </a:ln>
        </p:spPr>
      </p:sp>
      <p:sp>
        <p:nvSpPr>
          <p:cNvPr id="12" name="Text 10"/>
          <p:cNvSpPr txBox="1"/>
          <p:nvPr/>
        </p:nvSpPr>
        <p:spPr>
          <a:xfrm>
            <a:off x="6217920" y="2331720"/>
            <a:ext cx="2286000" cy="685800"/>
          </a:xfrm>
          <a:prstGeom prst="rect">
            <a:avLst/>
          </a:prstGeom>
          <a:noFill/>
          <a:ln/>
        </p:spPr>
        <p:txBody>
          <a:bodyPr wrap="square" lIns="0" tIns="0" rIns="0" bIns="0" rtlCol="0" anchor="ctr"/>
          <a:lstStyle/>
          <a:p>
            <a:pPr algn="ctr" indent="0" marL="0">
              <a:buNone/>
            </a:pPr>
            <a:r>
              <a:rPr lang="en-US" sz="1300" b="1" i="1" dirty="0">
                <a:solidFill>
                  <a:schemeClr val="accent4"/>
                </a:solidFill>
              </a:rPr>
              <a:t>ik werkte</a:t>
            </a:r>
            <a:endParaRPr lang="en-US" sz="1300" dirty="0"/>
          </a:p>
          <a:p>
            <a:pPr algn="ctr" indent="0" marL="0">
              <a:buNone/>
            </a:pPr>
            <a:r>
              <a:rPr lang="en-US" sz="1300" b="1" i="1" dirty="0">
                <a:solidFill>
                  <a:schemeClr val="accent4"/>
                </a:solidFill>
              </a:rPr>
              <a:t>ik heb gewerkt</a:t>
            </a:r>
            <a:endParaRPr lang="en-US" sz="1300" dirty="0"/>
          </a:p>
        </p:txBody>
      </p:sp>
      <p:sp>
        <p:nvSpPr>
          <p:cNvPr id="13" name="Text 11"/>
          <p:cNvSpPr txBox="1"/>
          <p:nvPr/>
        </p:nvSpPr>
        <p:spPr>
          <a:xfrm>
            <a:off x="8183880" y="2514600"/>
            <a:ext cx="960120" cy="365760"/>
          </a:xfrm>
          <a:prstGeom prst="rect">
            <a:avLst/>
          </a:prstGeom>
          <a:noFill/>
          <a:ln/>
        </p:spPr>
        <p:txBody>
          <a:bodyPr wrap="square" lIns="0" tIns="0" rIns="0" bIns="0" rtlCol="0" anchor="ctr"/>
          <a:lstStyle/>
          <a:p>
            <a:pPr algn="ctr" indent="0" marL="0">
              <a:buNone/>
            </a:pPr>
            <a:r>
              <a:rPr lang="en-US" sz="1300" b="1" i="1" dirty="0">
                <a:solidFill>
                  <a:schemeClr val="accent2"/>
                </a:solidFill>
              </a:rPr>
              <a:t>ik werk</a:t>
            </a:r>
            <a:endParaRPr lang="en-US" sz="1300" dirty="0"/>
          </a:p>
        </p:txBody>
      </p:sp>
      <p:sp>
        <p:nvSpPr>
          <p:cNvPr id="14" name="Text 12"/>
          <p:cNvSpPr txBox="1"/>
          <p:nvPr/>
        </p:nvSpPr>
        <p:spPr>
          <a:xfrm>
            <a:off x="9235440" y="2331720"/>
            <a:ext cx="2377440" cy="685800"/>
          </a:xfrm>
          <a:prstGeom prst="rect">
            <a:avLst/>
          </a:prstGeom>
          <a:noFill/>
          <a:ln/>
        </p:spPr>
        <p:txBody>
          <a:bodyPr wrap="square" lIns="0" tIns="0" rIns="0" bIns="0" rtlCol="0" anchor="ctr"/>
          <a:lstStyle/>
          <a:p>
            <a:pPr algn="ctr" indent="0" marL="0">
              <a:buNone/>
            </a:pPr>
            <a:r>
              <a:rPr lang="en-US" sz="1300" b="1" i="1" dirty="0">
                <a:solidFill>
                  <a:schemeClr val="accent3"/>
                </a:solidFill>
              </a:rPr>
              <a:t>ik ga werken</a:t>
            </a:r>
            <a:endParaRPr lang="en-US" sz="1300" dirty="0"/>
          </a:p>
          <a:p>
            <a:pPr algn="ctr" indent="0" marL="0">
              <a:buNone/>
            </a:pPr>
            <a:r>
              <a:rPr lang="en-US" sz="1300" b="1" i="1" dirty="0">
                <a:solidFill>
                  <a:schemeClr val="accent3"/>
                </a:solidFill>
              </a:rPr>
              <a:t>ik zal werken</a:t>
            </a:r>
            <a:endParaRPr lang="en-US" sz="1300" dirty="0"/>
          </a:p>
        </p:txBody>
      </p:sp>
      <p:pic>
        <p:nvPicPr>
          <p:cNvPr id="15" name="Image 0" descr="camera with flash">    </p:cNvPr>
          <p:cNvPicPr>
            <a:picLocks noChangeAspect="1"/>
          </p:cNvPicPr>
          <p:nvPr/>
        </p:nvPicPr>
        <p:blipFill>
          <a:blip r:embed="rId1"/>
          <a:stretch>
            <a:fillRect/>
          </a:stretch>
        </p:blipFill>
        <p:spPr>
          <a:xfrm>
            <a:off x="6537960" y="3520440"/>
            <a:ext cx="640080" cy="640080"/>
          </a:xfrm>
          <a:prstGeom prst="rect">
            <a:avLst/>
          </a:prstGeom>
        </p:spPr>
      </p:pic>
      <p:pic>
        <p:nvPicPr>
          <p:cNvPr id="16" name="Image 1" descr="clapper board">    </p:cNvPr>
          <p:cNvPicPr>
            <a:picLocks noChangeAspect="1"/>
          </p:cNvPicPr>
          <p:nvPr/>
        </p:nvPicPr>
        <p:blipFill>
          <a:blip r:embed="rId2"/>
          <a:stretch>
            <a:fillRect/>
          </a:stretch>
        </p:blipFill>
        <p:spPr>
          <a:xfrm>
            <a:off x="7452360" y="3520440"/>
            <a:ext cx="640080" cy="640080"/>
          </a:xfrm>
          <a:prstGeom prst="rect">
            <a:avLst/>
          </a:prstGeom>
        </p:spPr>
      </p:pic>
      <p:pic>
        <p:nvPicPr>
          <p:cNvPr id="17" name="Image 2" descr="round pushpin">    </p:cNvPr>
          <p:cNvPicPr>
            <a:picLocks noChangeAspect="1"/>
          </p:cNvPicPr>
          <p:nvPr/>
        </p:nvPicPr>
        <p:blipFill>
          <a:blip r:embed="rId3"/>
          <a:stretch>
            <a:fillRect/>
          </a:stretch>
        </p:blipFill>
        <p:spPr>
          <a:xfrm>
            <a:off x="8339328" y="3520440"/>
            <a:ext cx="640080" cy="640080"/>
          </a:xfrm>
          <a:prstGeom prst="rect">
            <a:avLst/>
          </a:prstGeom>
        </p:spPr>
      </p:pic>
      <p:pic>
        <p:nvPicPr>
          <p:cNvPr id="18" name="Image 3" descr="crystal ball">    </p:cNvPr>
          <p:cNvPicPr>
            <a:picLocks noChangeAspect="1"/>
          </p:cNvPicPr>
          <p:nvPr/>
        </p:nvPicPr>
        <p:blipFill>
          <a:blip r:embed="rId4"/>
          <a:stretch>
            <a:fillRect/>
          </a:stretch>
        </p:blipFill>
        <p:spPr>
          <a:xfrm>
            <a:off x="10058400" y="3520440"/>
            <a:ext cx="640080" cy="640080"/>
          </a:xfrm>
          <a:prstGeom prst="rect">
            <a:avLst/>
          </a:prstGeom>
        </p:spPr>
      </p:pic>
      <p:sp>
        <p:nvSpPr>
          <p:cNvPr id="19" name="Shape 13"/>
          <p:cNvSpPr/>
          <p:nvPr/>
        </p:nvSpPr>
        <p:spPr>
          <a:xfrm>
            <a:off x="6263640" y="4315968"/>
            <a:ext cx="2240280" cy="420624"/>
          </a:xfrm>
          <a:prstGeom prst="roundRect">
            <a:avLst>
              <a:gd name="adj" fmla="val 21739"/>
            </a:avLst>
          </a:prstGeom>
          <a:solidFill>
            <a:schemeClr val="accent4"/>
          </a:solidFill>
          <a:ln w="12700">
            <a:solidFill>
              <a:srgbClr val="FFFFFF">
                <a:alpha val="0"/>
              </a:srgbClr>
            </a:solidFill>
            <a:prstDash val="solid"/>
          </a:ln>
        </p:spPr>
      </p:sp>
      <p:sp>
        <p:nvSpPr>
          <p:cNvPr id="20" name="Text 14"/>
          <p:cNvSpPr txBox="1"/>
          <p:nvPr/>
        </p:nvSpPr>
        <p:spPr>
          <a:xfrm>
            <a:off x="6263640" y="4315968"/>
            <a:ext cx="2240280" cy="420624"/>
          </a:xfrm>
          <a:prstGeom prst="rect">
            <a:avLst/>
          </a:prstGeom>
          <a:noFill/>
          <a:ln/>
        </p:spPr>
        <p:txBody>
          <a:bodyPr wrap="square" lIns="0" tIns="0" rIns="0" bIns="0" rtlCol="0" anchor="ctr"/>
          <a:lstStyle/>
          <a:p>
            <a:pPr algn="ctr" indent="0" marL="0">
              <a:buNone/>
            </a:pPr>
            <a:r>
              <a:rPr lang="en-US" sz="1300" b="1" dirty="0">
                <a:solidFill>
                  <a:schemeClr val="bg1"/>
                </a:solidFill>
              </a:rPr>
              <a:t>GISTEREN</a:t>
            </a:r>
            <a:endParaRPr lang="en-US" sz="1300" dirty="0"/>
          </a:p>
        </p:txBody>
      </p:sp>
      <p:sp>
        <p:nvSpPr>
          <p:cNvPr id="21" name="Shape 15"/>
          <p:cNvSpPr/>
          <p:nvPr/>
        </p:nvSpPr>
        <p:spPr>
          <a:xfrm>
            <a:off x="8110728" y="4315968"/>
            <a:ext cx="1097280" cy="420624"/>
          </a:xfrm>
          <a:prstGeom prst="roundRect">
            <a:avLst>
              <a:gd name="adj" fmla="val 21739"/>
            </a:avLst>
          </a:prstGeom>
          <a:solidFill>
            <a:schemeClr val="accent2"/>
          </a:solidFill>
          <a:ln w="12700">
            <a:solidFill>
              <a:srgbClr val="FFFFFF">
                <a:alpha val="0"/>
              </a:srgbClr>
            </a:solidFill>
            <a:prstDash val="solid"/>
          </a:ln>
        </p:spPr>
      </p:sp>
      <p:sp>
        <p:nvSpPr>
          <p:cNvPr id="22" name="Text 16"/>
          <p:cNvSpPr txBox="1"/>
          <p:nvPr/>
        </p:nvSpPr>
        <p:spPr>
          <a:xfrm>
            <a:off x="8110728" y="4315968"/>
            <a:ext cx="1097280" cy="420624"/>
          </a:xfrm>
          <a:prstGeom prst="rect">
            <a:avLst/>
          </a:prstGeom>
          <a:noFill/>
          <a:ln/>
        </p:spPr>
        <p:txBody>
          <a:bodyPr wrap="square" lIns="0" tIns="0" rIns="0" bIns="0" rtlCol="0" anchor="ctr"/>
          <a:lstStyle/>
          <a:p>
            <a:pPr algn="ctr" indent="0" marL="0">
              <a:buNone/>
            </a:pPr>
            <a:r>
              <a:rPr lang="en-US" sz="1300" b="1" dirty="0">
                <a:solidFill>
                  <a:schemeClr val="bg1"/>
                </a:solidFill>
              </a:rPr>
              <a:t>VANDAAG</a:t>
            </a:r>
            <a:endParaRPr lang="en-US" sz="1300" dirty="0"/>
          </a:p>
        </p:txBody>
      </p:sp>
      <p:sp>
        <p:nvSpPr>
          <p:cNvPr id="23" name="Shape 17"/>
          <p:cNvSpPr/>
          <p:nvPr/>
        </p:nvSpPr>
        <p:spPr>
          <a:xfrm>
            <a:off x="9464040" y="4315968"/>
            <a:ext cx="1783080" cy="420624"/>
          </a:xfrm>
          <a:prstGeom prst="roundRect">
            <a:avLst>
              <a:gd name="adj" fmla="val 21739"/>
            </a:avLst>
          </a:prstGeom>
          <a:solidFill>
            <a:schemeClr val="accent3"/>
          </a:solidFill>
          <a:ln w="12700">
            <a:solidFill>
              <a:srgbClr val="FFFFFF">
                <a:alpha val="0"/>
              </a:srgbClr>
            </a:solidFill>
            <a:prstDash val="solid"/>
          </a:ln>
        </p:spPr>
      </p:sp>
      <p:sp>
        <p:nvSpPr>
          <p:cNvPr id="24" name="Text 18"/>
          <p:cNvSpPr txBox="1"/>
          <p:nvPr/>
        </p:nvSpPr>
        <p:spPr>
          <a:xfrm>
            <a:off x="9464040" y="4315968"/>
            <a:ext cx="1783080" cy="420624"/>
          </a:xfrm>
          <a:prstGeom prst="rect">
            <a:avLst/>
          </a:prstGeom>
          <a:noFill/>
          <a:ln/>
        </p:spPr>
        <p:txBody>
          <a:bodyPr wrap="square" lIns="0" tIns="0" rIns="0" bIns="0" rtlCol="0" anchor="ctr"/>
          <a:lstStyle/>
          <a:p>
            <a:pPr algn="ctr" indent="0" marL="0">
              <a:buNone/>
            </a:pPr>
            <a:r>
              <a:rPr lang="en-US" sz="1300" b="1" dirty="0">
                <a:solidFill>
                  <a:schemeClr val="bg1"/>
                </a:solidFill>
              </a:rPr>
              <a:t>MORGEN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MapMarkerAlt">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Situer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place les huit temps sur la ligne du temps.</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4"/>
          </a:solidFill>
          <a:ln w="12700">
            <a:solidFill>
              <a:srgbClr val="FFFFFF">
                <a:alpha val="0"/>
              </a:srgbClr>
            </a:solidFill>
            <a:prstDash val="solid"/>
          </a:ln>
        </p:spPr>
      </p:sp>
      <p:pic>
        <p:nvPicPr>
          <p:cNvPr id="12" name="Image 1" descr="Camera">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Choisir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choisis le bon temps : photo ou film, gaan ou zullen…</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rgbClr val="6E4A9E"/>
          </a:solidFill>
          <a:ln w="12700">
            <a:solidFill>
              <a:srgbClr val="FFFFFF">
                <a:alpha val="0"/>
              </a:srgbClr>
            </a:solidFill>
            <a:prstDash val="solid"/>
          </a:ln>
        </p:spPr>
      </p:sp>
      <p:pic>
        <p:nvPicPr>
          <p:cNvPr id="17" name="Image 2" descr="LayerGroup">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rgbClr val="6E4A9E"/>
                </a:solidFill>
                <a:latin typeface="+mj-lt" pitchFamily="34" charset="0"/>
                <a:ea typeface="+mj-lt" pitchFamily="34" charset="-122"/>
                <a:cs typeface="+mj-lt" pitchFamily="34" charset="-120"/>
              </a:rPr>
              <a:t>Combiner</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combine les temps dans un récit et une hypothèse.</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Trois zones, huit temps, trois briques : le système est plus simple qu’il n’y paraît.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Où est l’action ? Placez les phrases</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9052560" y="1371600"/>
            <a:ext cx="2560320" cy="777240"/>
          </a:xfrm>
          <a:prstGeom prst="cloud">
            <a:avLst/>
          </a:prstGeom>
          <a:solidFill>
            <a:srgbClr val="F1ECF7"/>
          </a:solidFill>
          <a:ln w="15875">
            <a:solidFill>
              <a:srgbClr val="6E4A9E"/>
            </a:solidFill>
            <a:prstDash val="solid"/>
          </a:ln>
        </p:spPr>
      </p:sp>
      <p:sp>
        <p:nvSpPr>
          <p:cNvPr id="6" name="Text 3"/>
          <p:cNvSpPr txBox="1"/>
          <p:nvPr/>
        </p:nvSpPr>
        <p:spPr>
          <a:xfrm>
            <a:off x="9052560" y="1371600"/>
            <a:ext cx="2560320" cy="777240"/>
          </a:xfrm>
          <a:prstGeom prst="rect">
            <a:avLst/>
          </a:prstGeom>
          <a:noFill/>
          <a:ln/>
        </p:spPr>
        <p:txBody>
          <a:bodyPr wrap="square" lIns="0" tIns="0" rIns="0" bIns="0" rtlCol="0" anchor="ctr"/>
          <a:lstStyle/>
          <a:p>
            <a:pPr algn="ctr" indent="0" marL="0">
              <a:buNone/>
            </a:pPr>
            <a:r>
              <a:rPr lang="en-US" sz="1400" b="1" dirty="0">
                <a:solidFill>
                  <a:srgbClr val="6E4A9E"/>
                </a:solidFill>
              </a:rPr>
              <a:t>imaginaire</a:t>
            </a:r>
            <a:endParaRPr lang="en-US" sz="1400" dirty="0"/>
          </a:p>
        </p:txBody>
      </p:sp>
      <p:sp>
        <p:nvSpPr>
          <p:cNvPr id="7" name="Shape 4"/>
          <p:cNvSpPr/>
          <p:nvPr/>
        </p:nvSpPr>
        <p:spPr>
          <a:xfrm>
            <a:off x="822960" y="2423160"/>
            <a:ext cx="1828800" cy="182880"/>
          </a:xfrm>
          <a:prstGeom prst="rect">
            <a:avLst/>
          </a:prstGeom>
          <a:solidFill>
            <a:srgbClr val="7A1748"/>
          </a:solidFill>
          <a:ln w="12700">
            <a:solidFill>
              <a:srgbClr val="FFFFFF">
                <a:alpha val="0"/>
              </a:srgbClr>
            </a:solidFill>
            <a:prstDash val="solid"/>
          </a:ln>
        </p:spPr>
      </p:sp>
      <p:sp>
        <p:nvSpPr>
          <p:cNvPr id="8" name="Text 5"/>
          <p:cNvSpPr txBox="1"/>
          <p:nvPr/>
        </p:nvSpPr>
        <p:spPr>
          <a:xfrm>
            <a:off x="822960" y="2660904"/>
            <a:ext cx="1828800" cy="292608"/>
          </a:xfrm>
          <a:prstGeom prst="rect">
            <a:avLst/>
          </a:prstGeom>
          <a:noFill/>
          <a:ln/>
        </p:spPr>
        <p:txBody>
          <a:bodyPr wrap="square" lIns="0" tIns="0" rIns="0" bIns="0" rtlCol="0" anchor="ctr"/>
          <a:lstStyle/>
          <a:p>
            <a:pPr algn="ctr" indent="0" marL="0">
              <a:buNone/>
            </a:pPr>
            <a:r>
              <a:rPr lang="en-US" sz="1200" b="1" i="1" dirty="0">
                <a:solidFill>
                  <a:srgbClr val="7A1748"/>
                </a:solidFill>
              </a:rPr>
              <a:t>avant le passé</a:t>
            </a:r>
            <a:endParaRPr lang="en-US" sz="1200" dirty="0"/>
          </a:p>
        </p:txBody>
      </p:sp>
      <p:sp>
        <p:nvSpPr>
          <p:cNvPr id="9" name="Shape 6"/>
          <p:cNvSpPr/>
          <p:nvPr/>
        </p:nvSpPr>
        <p:spPr>
          <a:xfrm>
            <a:off x="2743200" y="2423160"/>
            <a:ext cx="4023360" cy="182880"/>
          </a:xfrm>
          <a:prstGeom prst="rect">
            <a:avLst/>
          </a:prstGeom>
          <a:solidFill>
            <a:schemeClr val="accent4"/>
          </a:solidFill>
          <a:ln w="12700">
            <a:solidFill>
              <a:srgbClr val="FFFFFF">
                <a:alpha val="0"/>
              </a:srgbClr>
            </a:solidFill>
            <a:prstDash val="solid"/>
          </a:ln>
        </p:spPr>
      </p:sp>
      <p:sp>
        <p:nvSpPr>
          <p:cNvPr id="10" name="Text 7"/>
          <p:cNvSpPr txBox="1"/>
          <p:nvPr/>
        </p:nvSpPr>
        <p:spPr>
          <a:xfrm>
            <a:off x="2743200" y="2660904"/>
            <a:ext cx="4023360" cy="292608"/>
          </a:xfrm>
          <a:prstGeom prst="rect">
            <a:avLst/>
          </a:prstGeom>
          <a:noFill/>
          <a:ln/>
        </p:spPr>
        <p:txBody>
          <a:bodyPr wrap="square" lIns="0" tIns="0" rIns="0" bIns="0" rtlCol="0" anchor="ctr"/>
          <a:lstStyle/>
          <a:p>
            <a:pPr algn="ctr" indent="0" marL="0">
              <a:buNone/>
            </a:pPr>
            <a:r>
              <a:rPr lang="en-US" sz="1200" b="1" i="1" dirty="0">
                <a:solidFill>
                  <a:schemeClr val="accent4"/>
                </a:solidFill>
              </a:rPr>
              <a:t>passé</a:t>
            </a:r>
            <a:endParaRPr lang="en-US" sz="1200" dirty="0"/>
          </a:p>
        </p:txBody>
      </p:sp>
      <p:sp>
        <p:nvSpPr>
          <p:cNvPr id="11" name="Shape 8"/>
          <p:cNvSpPr/>
          <p:nvPr/>
        </p:nvSpPr>
        <p:spPr>
          <a:xfrm>
            <a:off x="7132320" y="2423160"/>
            <a:ext cx="4206240" cy="182880"/>
          </a:xfrm>
          <a:prstGeom prst="rect">
            <a:avLst/>
          </a:prstGeom>
          <a:solidFill>
            <a:schemeClr val="accent3"/>
          </a:solidFill>
          <a:ln w="12700">
            <a:solidFill>
              <a:srgbClr val="FFFFFF">
                <a:alpha val="0"/>
              </a:srgbClr>
            </a:solidFill>
            <a:prstDash val="solid"/>
          </a:ln>
        </p:spPr>
      </p:sp>
      <p:sp>
        <p:nvSpPr>
          <p:cNvPr id="12" name="Text 9"/>
          <p:cNvSpPr txBox="1"/>
          <p:nvPr/>
        </p:nvSpPr>
        <p:spPr>
          <a:xfrm>
            <a:off x="7132320" y="2660904"/>
            <a:ext cx="4206240" cy="292608"/>
          </a:xfrm>
          <a:prstGeom prst="rect">
            <a:avLst/>
          </a:prstGeom>
          <a:noFill/>
          <a:ln/>
        </p:spPr>
        <p:txBody>
          <a:bodyPr wrap="square" lIns="0" tIns="0" rIns="0" bIns="0" rtlCol="0" anchor="ctr"/>
          <a:lstStyle/>
          <a:p>
            <a:pPr algn="ctr" indent="0" marL="0">
              <a:buNone/>
            </a:pPr>
            <a:r>
              <a:rPr lang="en-US" sz="1200" b="1" i="1" dirty="0">
                <a:solidFill>
                  <a:schemeClr val="accent3"/>
                </a:solidFill>
              </a:rPr>
              <a:t>futur</a:t>
            </a:r>
            <a:endParaRPr lang="en-US" sz="1200" dirty="0"/>
          </a:p>
        </p:txBody>
      </p:sp>
      <p:sp>
        <p:nvSpPr>
          <p:cNvPr id="13" name="Shape 10"/>
          <p:cNvSpPr/>
          <p:nvPr/>
        </p:nvSpPr>
        <p:spPr>
          <a:xfrm>
            <a:off x="731520" y="2514600"/>
            <a:ext cx="10927080" cy="914"/>
          </a:xfrm>
          <a:prstGeom prst="line">
            <a:avLst/>
          </a:prstGeom>
          <a:noFill/>
          <a:ln w="31750">
            <a:solidFill>
              <a:srgbClr val="17375E"/>
            </a:solidFill>
            <a:prstDash val="solid"/>
            <a:tailEnd type="triangle"/>
          </a:ln>
        </p:spPr>
      </p:sp>
      <p:sp>
        <p:nvSpPr>
          <p:cNvPr id="14" name="Shape 11"/>
          <p:cNvSpPr/>
          <p:nvPr/>
        </p:nvSpPr>
        <p:spPr>
          <a:xfrm>
            <a:off x="6903720" y="2203704"/>
            <a:ext cx="91440" cy="621792"/>
          </a:xfrm>
          <a:prstGeom prst="rect">
            <a:avLst/>
          </a:prstGeom>
          <a:solidFill>
            <a:schemeClr val="accent6"/>
          </a:solidFill>
          <a:ln w="12700">
            <a:solidFill>
              <a:srgbClr val="FFFFFF">
                <a:alpha val="0"/>
              </a:srgbClr>
            </a:solidFill>
            <a:prstDash val="solid"/>
          </a:ln>
        </p:spPr>
      </p:sp>
      <p:sp>
        <p:nvSpPr>
          <p:cNvPr id="15" name="Text 12"/>
          <p:cNvSpPr txBox="1"/>
          <p:nvPr/>
        </p:nvSpPr>
        <p:spPr>
          <a:xfrm>
            <a:off x="6492240" y="1837944"/>
            <a:ext cx="914400" cy="329184"/>
          </a:xfrm>
          <a:prstGeom prst="rect">
            <a:avLst/>
          </a:prstGeom>
          <a:noFill/>
          <a:ln/>
        </p:spPr>
        <p:txBody>
          <a:bodyPr wrap="square" lIns="0" tIns="0" rIns="0" bIns="0" rtlCol="0" anchor="ctr"/>
          <a:lstStyle/>
          <a:p>
            <a:pPr algn="ctr" indent="0" marL="0">
              <a:buNone/>
            </a:pPr>
            <a:r>
              <a:rPr lang="en-US" sz="1500" b="1" dirty="0">
                <a:solidFill>
                  <a:schemeClr val="accent6"/>
                </a:solidFill>
              </a:rPr>
              <a:t>NU</a:t>
            </a:r>
            <a:endParaRPr lang="en-US" sz="1500" dirty="0"/>
          </a:p>
        </p:txBody>
      </p:sp>
      <p:sp>
        <p:nvSpPr>
          <p:cNvPr id="16" name="Shape 13"/>
          <p:cNvSpPr/>
          <p:nvPr/>
        </p:nvSpPr>
        <p:spPr>
          <a:xfrm>
            <a:off x="548640" y="3063240"/>
            <a:ext cx="5454396" cy="621792"/>
          </a:xfrm>
          <a:prstGeom prst="roundRect">
            <a:avLst>
              <a:gd name="adj" fmla="val 14706"/>
            </a:avLst>
          </a:prstGeom>
          <a:solidFill>
            <a:srgbClr val="FFFFFF"/>
          </a:solidFill>
          <a:ln w="12700">
            <a:solidFill>
              <a:srgbClr val="D5DCE6"/>
            </a:solidFill>
            <a:prstDash val="solid"/>
          </a:ln>
        </p:spPr>
      </p:sp>
      <p:sp>
        <p:nvSpPr>
          <p:cNvPr id="17" name="Shape 14"/>
          <p:cNvSpPr/>
          <p:nvPr/>
        </p:nvSpPr>
        <p:spPr>
          <a:xfrm>
            <a:off x="658368" y="3182112"/>
            <a:ext cx="384048" cy="384048"/>
          </a:xfrm>
          <a:prstGeom prst="ellipse">
            <a:avLst/>
          </a:prstGeom>
          <a:solidFill>
            <a:schemeClr val="tx2"/>
          </a:solidFill>
          <a:ln w="12700">
            <a:solidFill>
              <a:srgbClr val="FFFFFF">
                <a:alpha val="0"/>
              </a:srgbClr>
            </a:solidFill>
            <a:prstDash val="solid"/>
          </a:ln>
        </p:spPr>
      </p:sp>
      <p:sp>
        <p:nvSpPr>
          <p:cNvPr id="18" name="Text 15"/>
          <p:cNvSpPr txBox="1"/>
          <p:nvPr/>
        </p:nvSpPr>
        <p:spPr>
          <a:xfrm>
            <a:off x="658368" y="3182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9" name="Text 16"/>
          <p:cNvSpPr txBox="1"/>
          <p:nvPr/>
        </p:nvSpPr>
        <p:spPr>
          <a:xfrm>
            <a:off x="1170432" y="3063240"/>
            <a:ext cx="4722876" cy="621792"/>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rgbClr val="B83227"/>
                </a:solidFill>
              </a:rPr>
              <a:t>werk</a:t>
            </a:r>
            <a:r>
              <a:rPr lang="en-US" sz="1600" i="1" dirty="0">
                <a:solidFill>
                  <a:schemeClr val="tx1"/>
                </a:solidFill>
              </a:rPr>
              <a:t> bij Peeters &amp; Co.</a:t>
            </a:r>
            <a:endParaRPr lang="en-US" sz="1800" dirty="0"/>
          </a:p>
        </p:txBody>
      </p:sp>
      <p:sp>
        <p:nvSpPr>
          <p:cNvPr id="20" name="Shape 17"/>
          <p:cNvSpPr/>
          <p:nvPr/>
        </p:nvSpPr>
        <p:spPr>
          <a:xfrm>
            <a:off x="548640" y="3758184"/>
            <a:ext cx="5454396" cy="621792"/>
          </a:xfrm>
          <a:prstGeom prst="roundRect">
            <a:avLst>
              <a:gd name="adj" fmla="val 14706"/>
            </a:avLst>
          </a:prstGeom>
          <a:solidFill>
            <a:srgbClr val="FFFFFF"/>
          </a:solidFill>
          <a:ln w="12700">
            <a:solidFill>
              <a:srgbClr val="D5DCE6"/>
            </a:solidFill>
            <a:prstDash val="solid"/>
          </a:ln>
        </p:spPr>
      </p:sp>
      <p:sp>
        <p:nvSpPr>
          <p:cNvPr id="21" name="Shape 18"/>
          <p:cNvSpPr/>
          <p:nvPr/>
        </p:nvSpPr>
        <p:spPr>
          <a:xfrm>
            <a:off x="658368" y="3877056"/>
            <a:ext cx="384048" cy="384048"/>
          </a:xfrm>
          <a:prstGeom prst="ellipse">
            <a:avLst/>
          </a:prstGeom>
          <a:solidFill>
            <a:schemeClr val="tx2"/>
          </a:solidFill>
          <a:ln w="12700">
            <a:solidFill>
              <a:srgbClr val="FFFFFF">
                <a:alpha val="0"/>
              </a:srgbClr>
            </a:solidFill>
            <a:prstDash val="solid"/>
          </a:ln>
        </p:spPr>
      </p:sp>
      <p:sp>
        <p:nvSpPr>
          <p:cNvPr id="22" name="Text 19"/>
          <p:cNvSpPr txBox="1"/>
          <p:nvPr/>
        </p:nvSpPr>
        <p:spPr>
          <a:xfrm>
            <a:off x="658368" y="3877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3" name="Text 20"/>
          <p:cNvSpPr txBox="1"/>
          <p:nvPr/>
        </p:nvSpPr>
        <p:spPr>
          <a:xfrm>
            <a:off x="1170432" y="3758184"/>
            <a:ext cx="4722876" cy="621792"/>
          </a:xfrm>
          <a:prstGeom prst="rect">
            <a:avLst/>
          </a:prstGeom>
          <a:noFill/>
          <a:ln/>
        </p:spPr>
        <p:txBody>
          <a:bodyPr wrap="square" lIns="0" tIns="0" rIns="0" bIns="0" rtlCol="0" anchor="ctr"/>
          <a:lstStyle/>
          <a:p>
            <a:pPr algn="l" indent="0" marL="0">
              <a:buNone/>
            </a:pPr>
            <a:r>
              <a:rPr lang="en-US" sz="1600" b="1" i="1" dirty="0">
                <a:solidFill>
                  <a:srgbClr val="D9700F"/>
                </a:solidFill>
              </a:rPr>
              <a:t>Gisteren</a:t>
            </a:r>
            <a:r>
              <a:rPr lang="en-US" sz="1600" i="1" dirty="0">
                <a:solidFill>
                  <a:schemeClr val="tx1"/>
                </a:solidFill>
              </a:rPr>
              <a:t> </a:t>
            </a:r>
            <a:r>
              <a:rPr lang="en-US" sz="1600" b="1" i="1" dirty="0">
                <a:solidFill>
                  <a:srgbClr val="B83227"/>
                </a:solidFill>
              </a:rPr>
              <a:t>heb</a:t>
            </a:r>
            <a:r>
              <a:rPr lang="en-US" sz="1600" i="1" dirty="0">
                <a:solidFill>
                  <a:schemeClr val="tx1"/>
                </a:solidFill>
              </a:rPr>
              <a:t> ik tot 19 uur </a:t>
            </a:r>
            <a:r>
              <a:rPr lang="en-US" sz="1600" b="1" i="1" dirty="0">
                <a:solidFill>
                  <a:srgbClr val="B83227"/>
                </a:solidFill>
              </a:rPr>
              <a:t>gewerkt</a:t>
            </a:r>
            <a:r>
              <a:rPr lang="en-US" sz="1600" i="1" dirty="0">
                <a:solidFill>
                  <a:schemeClr val="tx1"/>
                </a:solidFill>
              </a:rPr>
              <a:t>.</a:t>
            </a:r>
            <a:endParaRPr lang="en-US" sz="1800" dirty="0"/>
          </a:p>
        </p:txBody>
      </p:sp>
      <p:sp>
        <p:nvSpPr>
          <p:cNvPr id="24" name="Shape 21"/>
          <p:cNvSpPr/>
          <p:nvPr/>
        </p:nvSpPr>
        <p:spPr>
          <a:xfrm>
            <a:off x="548640" y="4453128"/>
            <a:ext cx="5454396" cy="621792"/>
          </a:xfrm>
          <a:prstGeom prst="roundRect">
            <a:avLst>
              <a:gd name="adj" fmla="val 14706"/>
            </a:avLst>
          </a:prstGeom>
          <a:solidFill>
            <a:srgbClr val="FFFFFF"/>
          </a:solidFill>
          <a:ln w="12700">
            <a:solidFill>
              <a:srgbClr val="D5DCE6"/>
            </a:solidFill>
            <a:prstDash val="solid"/>
          </a:ln>
        </p:spPr>
      </p:sp>
      <p:sp>
        <p:nvSpPr>
          <p:cNvPr id="25" name="Shape 22"/>
          <p:cNvSpPr/>
          <p:nvPr/>
        </p:nvSpPr>
        <p:spPr>
          <a:xfrm>
            <a:off x="658368" y="4572000"/>
            <a:ext cx="384048" cy="384048"/>
          </a:xfrm>
          <a:prstGeom prst="ellipse">
            <a:avLst/>
          </a:prstGeom>
          <a:solidFill>
            <a:schemeClr val="tx2"/>
          </a:solidFill>
          <a:ln w="12700">
            <a:solidFill>
              <a:srgbClr val="FFFFFF">
                <a:alpha val="0"/>
              </a:srgbClr>
            </a:solidFill>
            <a:prstDash val="solid"/>
          </a:ln>
        </p:spPr>
      </p:sp>
      <p:sp>
        <p:nvSpPr>
          <p:cNvPr id="26" name="Text 23"/>
          <p:cNvSpPr txBox="1"/>
          <p:nvPr/>
        </p:nvSpPr>
        <p:spPr>
          <a:xfrm>
            <a:off x="658368" y="4572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7" name="Text 24"/>
          <p:cNvSpPr txBox="1"/>
          <p:nvPr/>
        </p:nvSpPr>
        <p:spPr>
          <a:xfrm>
            <a:off x="1170432" y="4453128"/>
            <a:ext cx="4722876" cy="621792"/>
          </a:xfrm>
          <a:prstGeom prst="rect">
            <a:avLst/>
          </a:prstGeom>
          <a:noFill/>
          <a:ln/>
        </p:spPr>
        <p:txBody>
          <a:bodyPr wrap="square" lIns="0" tIns="0" rIns="0" bIns="0" rtlCol="0" anchor="ctr"/>
          <a:lstStyle/>
          <a:p>
            <a:pPr algn="l" indent="0" marL="0">
              <a:buNone/>
            </a:pPr>
            <a:r>
              <a:rPr lang="en-US" sz="1600" b="1" i="1" dirty="0">
                <a:solidFill>
                  <a:srgbClr val="D9700F"/>
                </a:solidFill>
              </a:rPr>
              <a:t>Vroeger</a:t>
            </a:r>
            <a:r>
              <a:rPr lang="en-US" sz="1600" i="1" dirty="0">
                <a:solidFill>
                  <a:schemeClr val="tx1"/>
                </a:solidFill>
              </a:rPr>
              <a:t> </a:t>
            </a:r>
            <a:r>
              <a:rPr lang="en-US" sz="1600" b="1" i="1" dirty="0">
                <a:solidFill>
                  <a:srgbClr val="B83227"/>
                </a:solidFill>
              </a:rPr>
              <a:t>werkte</a:t>
            </a:r>
            <a:r>
              <a:rPr lang="en-US" sz="1600" i="1" dirty="0">
                <a:solidFill>
                  <a:schemeClr val="tx1"/>
                </a:solidFill>
              </a:rPr>
              <a:t> ik in Namen.</a:t>
            </a:r>
            <a:endParaRPr lang="en-US" sz="1800" dirty="0"/>
          </a:p>
        </p:txBody>
      </p:sp>
      <p:sp>
        <p:nvSpPr>
          <p:cNvPr id="28" name="Shape 25"/>
          <p:cNvSpPr/>
          <p:nvPr/>
        </p:nvSpPr>
        <p:spPr>
          <a:xfrm>
            <a:off x="548640" y="5148072"/>
            <a:ext cx="5454396" cy="621792"/>
          </a:xfrm>
          <a:prstGeom prst="roundRect">
            <a:avLst>
              <a:gd name="adj" fmla="val 14706"/>
            </a:avLst>
          </a:prstGeom>
          <a:solidFill>
            <a:srgbClr val="FFFFFF"/>
          </a:solidFill>
          <a:ln w="12700">
            <a:solidFill>
              <a:srgbClr val="D5DCE6"/>
            </a:solidFill>
            <a:prstDash val="solid"/>
          </a:ln>
        </p:spPr>
      </p:sp>
      <p:sp>
        <p:nvSpPr>
          <p:cNvPr id="29" name="Shape 26"/>
          <p:cNvSpPr/>
          <p:nvPr/>
        </p:nvSpPr>
        <p:spPr>
          <a:xfrm>
            <a:off x="658368" y="5266944"/>
            <a:ext cx="384048" cy="384048"/>
          </a:xfrm>
          <a:prstGeom prst="ellipse">
            <a:avLst/>
          </a:prstGeom>
          <a:solidFill>
            <a:schemeClr val="tx2"/>
          </a:solidFill>
          <a:ln w="12700">
            <a:solidFill>
              <a:srgbClr val="FFFFFF">
                <a:alpha val="0"/>
              </a:srgbClr>
            </a:solidFill>
            <a:prstDash val="solid"/>
          </a:ln>
        </p:spPr>
      </p:sp>
      <p:sp>
        <p:nvSpPr>
          <p:cNvPr id="30" name="Text 27"/>
          <p:cNvSpPr txBox="1"/>
          <p:nvPr/>
        </p:nvSpPr>
        <p:spPr>
          <a:xfrm>
            <a:off x="658368" y="52669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31" name="Text 28"/>
          <p:cNvSpPr txBox="1"/>
          <p:nvPr/>
        </p:nvSpPr>
        <p:spPr>
          <a:xfrm>
            <a:off x="1170432" y="5148072"/>
            <a:ext cx="4722876" cy="621792"/>
          </a:xfrm>
          <a:prstGeom prst="rect">
            <a:avLst/>
          </a:prstGeom>
          <a:noFill/>
          <a:ln/>
        </p:spPr>
        <p:txBody>
          <a:bodyPr wrap="square" lIns="0" tIns="0" rIns="0" bIns="0" rtlCol="0" anchor="ctr"/>
          <a:lstStyle/>
          <a:p>
            <a:pPr algn="l" indent="0" marL="0">
              <a:buNone/>
            </a:pPr>
            <a:r>
              <a:rPr lang="en-US" sz="1600" b="1" i="1" dirty="0">
                <a:solidFill>
                  <a:srgbClr val="D9700F"/>
                </a:solidFill>
              </a:rPr>
              <a:t>Toen</a:t>
            </a:r>
            <a:r>
              <a:rPr lang="en-US" sz="1600" i="1" dirty="0">
                <a:solidFill>
                  <a:schemeClr val="tx1"/>
                </a:solidFill>
              </a:rPr>
              <a:t> ik </a:t>
            </a:r>
            <a:r>
              <a:rPr lang="en-US" sz="1600" b="1" i="1" dirty="0">
                <a:solidFill>
                  <a:srgbClr val="B83227"/>
                </a:solidFill>
              </a:rPr>
              <a:t>aankwam</a:t>
            </a:r>
            <a:r>
              <a:rPr lang="en-US" sz="1600" i="1" dirty="0">
                <a:solidFill>
                  <a:schemeClr val="tx1"/>
                </a:solidFill>
              </a:rPr>
              <a:t>, </a:t>
            </a:r>
            <a:r>
              <a:rPr lang="en-US" sz="1600" b="1" i="1" dirty="0">
                <a:solidFill>
                  <a:srgbClr val="B83227"/>
                </a:solidFill>
              </a:rPr>
              <a:t>was</a:t>
            </a:r>
            <a:r>
              <a:rPr lang="en-US" sz="1600" i="1" dirty="0">
                <a:solidFill>
                  <a:schemeClr val="tx1"/>
                </a:solidFill>
              </a:rPr>
              <a:t> de vergadering </a:t>
            </a:r>
            <a:r>
              <a:rPr lang="en-US" sz="1600" b="1" i="1" dirty="0">
                <a:solidFill>
                  <a:srgbClr val="D9700F"/>
                </a:solidFill>
              </a:rPr>
              <a:t>al</a:t>
            </a:r>
            <a:r>
              <a:rPr lang="en-US" sz="1600" i="1" dirty="0">
                <a:solidFill>
                  <a:schemeClr val="tx1"/>
                </a:solidFill>
              </a:rPr>
              <a:t> </a:t>
            </a:r>
            <a:r>
              <a:rPr lang="en-US" sz="1600" b="1" i="1" dirty="0">
                <a:solidFill>
                  <a:srgbClr val="B83227"/>
                </a:solidFill>
              </a:rPr>
              <a:t>begonnen</a:t>
            </a:r>
            <a:r>
              <a:rPr lang="en-US" sz="1600" i="1" dirty="0">
                <a:solidFill>
                  <a:schemeClr val="tx1"/>
                </a:solidFill>
              </a:rPr>
              <a:t>.</a:t>
            </a:r>
            <a:endParaRPr lang="en-US" sz="1800" dirty="0"/>
          </a:p>
        </p:txBody>
      </p:sp>
      <p:sp>
        <p:nvSpPr>
          <p:cNvPr id="32" name="Shape 29"/>
          <p:cNvSpPr/>
          <p:nvPr/>
        </p:nvSpPr>
        <p:spPr>
          <a:xfrm>
            <a:off x="6185916" y="3063240"/>
            <a:ext cx="5454396" cy="621792"/>
          </a:xfrm>
          <a:prstGeom prst="roundRect">
            <a:avLst>
              <a:gd name="adj" fmla="val 14706"/>
            </a:avLst>
          </a:prstGeom>
          <a:solidFill>
            <a:srgbClr val="FFFFFF"/>
          </a:solidFill>
          <a:ln w="12700">
            <a:solidFill>
              <a:srgbClr val="D5DCE6"/>
            </a:solidFill>
            <a:prstDash val="solid"/>
          </a:ln>
        </p:spPr>
      </p:sp>
      <p:sp>
        <p:nvSpPr>
          <p:cNvPr id="33" name="Shape 30"/>
          <p:cNvSpPr/>
          <p:nvPr/>
        </p:nvSpPr>
        <p:spPr>
          <a:xfrm>
            <a:off x="6295644" y="3182112"/>
            <a:ext cx="384048" cy="384048"/>
          </a:xfrm>
          <a:prstGeom prst="ellipse">
            <a:avLst/>
          </a:prstGeom>
          <a:solidFill>
            <a:schemeClr val="tx2"/>
          </a:solidFill>
          <a:ln w="12700">
            <a:solidFill>
              <a:srgbClr val="FFFFFF">
                <a:alpha val="0"/>
              </a:srgbClr>
            </a:solidFill>
            <a:prstDash val="solid"/>
          </a:ln>
        </p:spPr>
      </p:sp>
      <p:sp>
        <p:nvSpPr>
          <p:cNvPr id="34" name="Text 31"/>
          <p:cNvSpPr txBox="1"/>
          <p:nvPr/>
        </p:nvSpPr>
        <p:spPr>
          <a:xfrm>
            <a:off x="6295644" y="3182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5" name="Text 32"/>
          <p:cNvSpPr txBox="1"/>
          <p:nvPr/>
        </p:nvSpPr>
        <p:spPr>
          <a:xfrm>
            <a:off x="6807708" y="3063240"/>
            <a:ext cx="4722876" cy="621792"/>
          </a:xfrm>
          <a:prstGeom prst="rect">
            <a:avLst/>
          </a:prstGeom>
          <a:noFill/>
          <a:ln/>
        </p:spPr>
        <p:txBody>
          <a:bodyPr wrap="square" lIns="0" tIns="0" rIns="0" bIns="0" rtlCol="0" anchor="ctr"/>
          <a:lstStyle/>
          <a:p>
            <a:pPr algn="l" indent="0" marL="0">
              <a:buNone/>
            </a:pPr>
            <a:r>
              <a:rPr lang="en-US" sz="1600" b="1" i="1" dirty="0">
                <a:solidFill>
                  <a:srgbClr val="D9700F"/>
                </a:solidFill>
              </a:rPr>
              <a:t>Morgen</a:t>
            </a:r>
            <a:r>
              <a:rPr lang="en-US" sz="1600" i="1" dirty="0">
                <a:solidFill>
                  <a:schemeClr val="tx1"/>
                </a:solidFill>
              </a:rPr>
              <a:t> </a:t>
            </a:r>
            <a:r>
              <a:rPr lang="en-US" sz="1600" b="1" i="1" dirty="0">
                <a:solidFill>
                  <a:srgbClr val="B83227"/>
                </a:solidFill>
              </a:rPr>
              <a:t>ga</a:t>
            </a:r>
            <a:r>
              <a:rPr lang="en-US" sz="1600" i="1" dirty="0">
                <a:solidFill>
                  <a:schemeClr val="tx1"/>
                </a:solidFill>
              </a:rPr>
              <a:t> ik naar Gent.</a:t>
            </a:r>
            <a:endParaRPr lang="en-US" sz="1800" dirty="0"/>
          </a:p>
        </p:txBody>
      </p:sp>
      <p:sp>
        <p:nvSpPr>
          <p:cNvPr id="36" name="Shape 33"/>
          <p:cNvSpPr/>
          <p:nvPr/>
        </p:nvSpPr>
        <p:spPr>
          <a:xfrm>
            <a:off x="6185916" y="3758184"/>
            <a:ext cx="5454396" cy="621792"/>
          </a:xfrm>
          <a:prstGeom prst="roundRect">
            <a:avLst>
              <a:gd name="adj" fmla="val 14706"/>
            </a:avLst>
          </a:prstGeom>
          <a:solidFill>
            <a:srgbClr val="FFFFFF"/>
          </a:solidFill>
          <a:ln w="12700">
            <a:solidFill>
              <a:srgbClr val="D5DCE6"/>
            </a:solidFill>
            <a:prstDash val="solid"/>
          </a:ln>
        </p:spPr>
      </p:sp>
      <p:sp>
        <p:nvSpPr>
          <p:cNvPr id="37" name="Shape 34"/>
          <p:cNvSpPr/>
          <p:nvPr/>
        </p:nvSpPr>
        <p:spPr>
          <a:xfrm>
            <a:off x="6295644" y="3877056"/>
            <a:ext cx="384048" cy="384048"/>
          </a:xfrm>
          <a:prstGeom prst="ellipse">
            <a:avLst/>
          </a:prstGeom>
          <a:solidFill>
            <a:schemeClr val="tx2"/>
          </a:solidFill>
          <a:ln w="12700">
            <a:solidFill>
              <a:srgbClr val="FFFFFF">
                <a:alpha val="0"/>
              </a:srgbClr>
            </a:solidFill>
            <a:prstDash val="solid"/>
          </a:ln>
        </p:spPr>
      </p:sp>
      <p:sp>
        <p:nvSpPr>
          <p:cNvPr id="38" name="Text 35"/>
          <p:cNvSpPr txBox="1"/>
          <p:nvPr/>
        </p:nvSpPr>
        <p:spPr>
          <a:xfrm>
            <a:off x="6295644" y="38770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39" name="Text 36"/>
          <p:cNvSpPr txBox="1"/>
          <p:nvPr/>
        </p:nvSpPr>
        <p:spPr>
          <a:xfrm>
            <a:off x="6807708" y="3758184"/>
            <a:ext cx="4722876" cy="621792"/>
          </a:xfrm>
          <a:prstGeom prst="rect">
            <a:avLst/>
          </a:prstGeom>
          <a:noFill/>
          <a:ln/>
        </p:spPr>
        <p:txBody>
          <a:bodyPr wrap="square" lIns="0" tIns="0" rIns="0" bIns="0" rtlCol="0" anchor="ctr"/>
          <a:lstStyle/>
          <a:p>
            <a:pPr algn="l" indent="0" marL="0">
              <a:buNone/>
            </a:pPr>
            <a:r>
              <a:rPr lang="en-US" sz="1600" b="1" i="1" dirty="0">
                <a:solidFill>
                  <a:srgbClr val="D9700F"/>
                </a:solidFill>
              </a:rPr>
              <a:t>Tegen vrijdag</a:t>
            </a:r>
            <a:r>
              <a:rPr lang="en-US" sz="1600" i="1" dirty="0">
                <a:solidFill>
                  <a:schemeClr val="tx1"/>
                </a:solidFill>
              </a:rPr>
              <a:t> </a:t>
            </a:r>
            <a:r>
              <a:rPr lang="en-US" sz="1600" b="1" i="1" dirty="0">
                <a:solidFill>
                  <a:srgbClr val="B83227"/>
                </a:solidFill>
              </a:rPr>
              <a:t>zal</a:t>
            </a:r>
            <a:r>
              <a:rPr lang="en-US" sz="1600" i="1" dirty="0">
                <a:solidFill>
                  <a:schemeClr val="tx1"/>
                </a:solidFill>
              </a:rPr>
              <a:t> ik het rapport </a:t>
            </a:r>
            <a:r>
              <a:rPr lang="en-US" sz="1600" b="1" i="1" dirty="0">
                <a:solidFill>
                  <a:srgbClr val="B83227"/>
                </a:solidFill>
              </a:rPr>
              <a:t>geschreven hebben</a:t>
            </a:r>
            <a:r>
              <a:rPr lang="en-US" sz="1600" i="1" dirty="0">
                <a:solidFill>
                  <a:schemeClr val="tx1"/>
                </a:solidFill>
              </a:rPr>
              <a:t>.</a:t>
            </a:r>
            <a:endParaRPr lang="en-US" sz="1800" dirty="0"/>
          </a:p>
        </p:txBody>
      </p:sp>
      <p:sp>
        <p:nvSpPr>
          <p:cNvPr id="40" name="Shape 37"/>
          <p:cNvSpPr/>
          <p:nvPr/>
        </p:nvSpPr>
        <p:spPr>
          <a:xfrm>
            <a:off x="6185916" y="4453128"/>
            <a:ext cx="5454396" cy="621792"/>
          </a:xfrm>
          <a:prstGeom prst="roundRect">
            <a:avLst>
              <a:gd name="adj" fmla="val 14706"/>
            </a:avLst>
          </a:prstGeom>
          <a:solidFill>
            <a:srgbClr val="FFFFFF"/>
          </a:solidFill>
          <a:ln w="12700">
            <a:solidFill>
              <a:srgbClr val="D5DCE6"/>
            </a:solidFill>
            <a:prstDash val="solid"/>
          </a:ln>
        </p:spPr>
      </p:sp>
      <p:sp>
        <p:nvSpPr>
          <p:cNvPr id="41" name="Shape 38"/>
          <p:cNvSpPr/>
          <p:nvPr/>
        </p:nvSpPr>
        <p:spPr>
          <a:xfrm>
            <a:off x="6295644" y="4572000"/>
            <a:ext cx="384048" cy="384048"/>
          </a:xfrm>
          <a:prstGeom prst="ellipse">
            <a:avLst/>
          </a:prstGeom>
          <a:solidFill>
            <a:schemeClr val="tx2"/>
          </a:solidFill>
          <a:ln w="12700">
            <a:solidFill>
              <a:srgbClr val="FFFFFF">
                <a:alpha val="0"/>
              </a:srgbClr>
            </a:solidFill>
            <a:prstDash val="solid"/>
          </a:ln>
        </p:spPr>
      </p:sp>
      <p:sp>
        <p:nvSpPr>
          <p:cNvPr id="42" name="Text 39"/>
          <p:cNvSpPr txBox="1"/>
          <p:nvPr/>
        </p:nvSpPr>
        <p:spPr>
          <a:xfrm>
            <a:off x="6295644" y="4572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g</a:t>
            </a:r>
            <a:endParaRPr lang="en-US" sz="1400" dirty="0"/>
          </a:p>
        </p:txBody>
      </p:sp>
      <p:sp>
        <p:nvSpPr>
          <p:cNvPr id="43" name="Text 40"/>
          <p:cNvSpPr txBox="1"/>
          <p:nvPr/>
        </p:nvSpPr>
        <p:spPr>
          <a:xfrm>
            <a:off x="6807708" y="4453128"/>
            <a:ext cx="4722876" cy="621792"/>
          </a:xfrm>
          <a:prstGeom prst="rect">
            <a:avLst/>
          </a:prstGeom>
          <a:noFill/>
          <a:ln/>
        </p:spPr>
        <p:txBody>
          <a:bodyPr wrap="square" lIns="0" tIns="0" rIns="0" bIns="0" rtlCol="0" anchor="ctr"/>
          <a:lstStyle/>
          <a:p>
            <a:pPr algn="l" indent="0" marL="0">
              <a:buNone/>
            </a:pPr>
            <a:r>
              <a:rPr lang="en-US" sz="1600" b="1" i="1" dirty="0">
                <a:solidFill>
                  <a:srgbClr val="D9700F"/>
                </a:solidFill>
              </a:rPr>
              <a:t>Als</a:t>
            </a:r>
            <a:r>
              <a:rPr lang="en-US" sz="1600" i="1" dirty="0">
                <a:solidFill>
                  <a:schemeClr val="tx1"/>
                </a:solidFill>
              </a:rPr>
              <a:t> ik tijd </a:t>
            </a:r>
            <a:r>
              <a:rPr lang="en-US" sz="1600" b="1" i="1" dirty="0">
                <a:solidFill>
                  <a:srgbClr val="B83227"/>
                </a:solidFill>
              </a:rPr>
              <a:t>had</a:t>
            </a:r>
            <a:r>
              <a:rPr lang="en-US" sz="1600" i="1" dirty="0">
                <a:solidFill>
                  <a:schemeClr val="tx1"/>
                </a:solidFill>
              </a:rPr>
              <a:t>, </a:t>
            </a:r>
            <a:r>
              <a:rPr lang="en-US" sz="1600" b="1" i="1" dirty="0">
                <a:solidFill>
                  <a:srgbClr val="B83227"/>
                </a:solidFill>
              </a:rPr>
              <a:t>zou</a:t>
            </a:r>
            <a:r>
              <a:rPr lang="en-US" sz="1600" i="1" dirty="0">
                <a:solidFill>
                  <a:schemeClr val="tx1"/>
                </a:solidFill>
              </a:rPr>
              <a:t> ik meer </a:t>
            </a:r>
            <a:r>
              <a:rPr lang="en-US" sz="1600" b="1" i="1" dirty="0">
                <a:solidFill>
                  <a:srgbClr val="B83227"/>
                </a:solidFill>
              </a:rPr>
              <a:t>sporten</a:t>
            </a:r>
            <a:r>
              <a:rPr lang="en-US" sz="1600" i="1" dirty="0">
                <a:solidFill>
                  <a:schemeClr val="tx1"/>
                </a:solidFill>
              </a:rPr>
              <a:t>.</a:t>
            </a:r>
            <a:endParaRPr lang="en-US" sz="1800" dirty="0"/>
          </a:p>
        </p:txBody>
      </p:sp>
      <p:sp>
        <p:nvSpPr>
          <p:cNvPr id="44" name="Shape 41"/>
          <p:cNvSpPr/>
          <p:nvPr/>
        </p:nvSpPr>
        <p:spPr>
          <a:xfrm>
            <a:off x="6185916" y="5148072"/>
            <a:ext cx="5454396" cy="621792"/>
          </a:xfrm>
          <a:prstGeom prst="roundRect">
            <a:avLst>
              <a:gd name="adj" fmla="val 14706"/>
            </a:avLst>
          </a:prstGeom>
          <a:solidFill>
            <a:srgbClr val="FFFFFF"/>
          </a:solidFill>
          <a:ln w="12700">
            <a:solidFill>
              <a:srgbClr val="D5DCE6"/>
            </a:solidFill>
            <a:prstDash val="solid"/>
          </a:ln>
        </p:spPr>
      </p:sp>
      <p:sp>
        <p:nvSpPr>
          <p:cNvPr id="45" name="Shape 42"/>
          <p:cNvSpPr/>
          <p:nvPr/>
        </p:nvSpPr>
        <p:spPr>
          <a:xfrm>
            <a:off x="6295644" y="5266944"/>
            <a:ext cx="384048" cy="384048"/>
          </a:xfrm>
          <a:prstGeom prst="ellipse">
            <a:avLst/>
          </a:prstGeom>
          <a:solidFill>
            <a:schemeClr val="tx2"/>
          </a:solidFill>
          <a:ln w="12700">
            <a:solidFill>
              <a:srgbClr val="FFFFFF">
                <a:alpha val="0"/>
              </a:srgbClr>
            </a:solidFill>
            <a:prstDash val="solid"/>
          </a:ln>
        </p:spPr>
      </p:sp>
      <p:sp>
        <p:nvSpPr>
          <p:cNvPr id="46" name="Text 43"/>
          <p:cNvSpPr txBox="1"/>
          <p:nvPr/>
        </p:nvSpPr>
        <p:spPr>
          <a:xfrm>
            <a:off x="6295644" y="52669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47" name="Text 44"/>
          <p:cNvSpPr txBox="1"/>
          <p:nvPr/>
        </p:nvSpPr>
        <p:spPr>
          <a:xfrm>
            <a:off x="6807708" y="5148072"/>
            <a:ext cx="4722876" cy="621792"/>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rgbClr val="B83227"/>
                </a:solidFill>
              </a:rPr>
              <a:t>heb</a:t>
            </a:r>
            <a:r>
              <a:rPr lang="en-US" sz="1600" i="1" dirty="0">
                <a:solidFill>
                  <a:schemeClr val="tx1"/>
                </a:solidFill>
              </a:rPr>
              <a:t> </a:t>
            </a:r>
            <a:r>
              <a:rPr lang="en-US" sz="1600" b="1" i="1" dirty="0">
                <a:solidFill>
                  <a:srgbClr val="D9700F"/>
                </a:solidFill>
              </a:rPr>
              <a:t>net</a:t>
            </a:r>
            <a:r>
              <a:rPr lang="en-US" sz="1600" i="1" dirty="0">
                <a:solidFill>
                  <a:schemeClr val="tx1"/>
                </a:solidFill>
              </a:rPr>
              <a:t> </a:t>
            </a:r>
            <a:r>
              <a:rPr lang="en-US" sz="1600" b="1" i="1" dirty="0">
                <a:solidFill>
                  <a:srgbClr val="B83227"/>
                </a:solidFill>
              </a:rPr>
              <a:t>gegeten</a:t>
            </a:r>
            <a:r>
              <a:rPr lang="en-US" sz="1600" i="1" dirty="0">
                <a:solidFill>
                  <a:schemeClr val="tx1"/>
                </a:solidFill>
              </a:rPr>
              <a:t>.</a:t>
            </a:r>
            <a:endParaRPr lang="en-US" sz="1800" dirty="0"/>
          </a:p>
        </p:txBody>
      </p:sp>
      <p:sp>
        <p:nvSpPr>
          <p:cNvPr id="48" name="Shape 45"/>
          <p:cNvSpPr/>
          <p:nvPr/>
        </p:nvSpPr>
        <p:spPr>
          <a:xfrm>
            <a:off x="548640" y="5852160"/>
            <a:ext cx="11091672" cy="457200"/>
          </a:xfrm>
          <a:prstGeom prst="roundRect">
            <a:avLst>
              <a:gd name="adj" fmla="val 16000"/>
            </a:avLst>
          </a:prstGeom>
          <a:solidFill>
            <a:schemeClr val="tx2"/>
          </a:solidFill>
          <a:ln w="12700">
            <a:solidFill>
              <a:srgbClr val="FFFFFF">
                <a:alpha val="0"/>
              </a:srgbClr>
            </a:solidFill>
            <a:prstDash val="solid"/>
          </a:ln>
        </p:spPr>
      </p:sp>
      <p:sp>
        <p:nvSpPr>
          <p:cNvPr id="49" name="Text 46"/>
          <p:cNvSpPr txBox="1"/>
          <p:nvPr/>
        </p:nvSpPr>
        <p:spPr>
          <a:xfrm>
            <a:off x="822960" y="5852160"/>
            <a:ext cx="10607040" cy="457200"/>
          </a:xfrm>
          <a:prstGeom prst="rect">
            <a:avLst/>
          </a:prstGeom>
          <a:noFill/>
          <a:ln/>
        </p:spPr>
        <p:txBody>
          <a:bodyPr wrap="square" lIns="0" tIns="0" rIns="0" bIns="0" rtlCol="0" anchor="ctr"/>
          <a:lstStyle/>
          <a:p>
            <a:pPr algn="l" indent="0" marL="0">
              <a:buNone/>
            </a:pPr>
            <a:r>
              <a:rPr lang="en-US" sz="1500" dirty="0">
                <a:solidFill>
                  <a:schemeClr val="bg1"/>
                </a:solidFill>
              </a:rPr>
              <a:t>Par deux : placez chaque phrase sur la ligne. Regardez le </a:t>
            </a:r>
            <a:r>
              <a:rPr lang="en-US" sz="1500" b="1" dirty="0">
                <a:solidFill>
                  <a:schemeClr val="bg1"/>
                </a:solidFill>
              </a:rPr>
              <a:t>verbe rouge</a:t>
            </a:r>
            <a:r>
              <a:rPr lang="en-US" sz="1500" dirty="0">
                <a:solidFill>
                  <a:schemeClr val="bg1"/>
                </a:solidFill>
              </a:rPr>
              <a:t> et le </a:t>
            </a:r>
            <a:r>
              <a:rPr lang="en-US" sz="1500" b="1" dirty="0">
                <a:solidFill>
                  <a:schemeClr val="bg1"/>
                </a:solidFill>
              </a:rPr>
              <a:t>marqueur orange</a:t>
            </a:r>
            <a:r>
              <a:rPr lang="en-US" sz="1500" dirty="0">
                <a:solidFill>
                  <a:schemeClr val="bg1"/>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ligne du temps : huit temps, trois zones</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LA CARTE</a:t>
            </a:r>
            <a:endParaRPr lang="en-US" sz="1200" dirty="0"/>
          </a:p>
        </p:txBody>
      </p:sp>
      <p:sp>
        <p:nvSpPr>
          <p:cNvPr id="5" name="Text 2"/>
          <p:cNvSpPr txBox="1"/>
          <p:nvPr/>
        </p:nvSpPr>
        <p:spPr>
          <a:xfrm>
            <a:off x="548640" y="1417320"/>
            <a:ext cx="6400800" cy="960120"/>
          </a:xfrm>
          <a:prstGeom prst="rect">
            <a:avLst/>
          </a:prstGeom>
          <a:noFill/>
          <a:ln/>
        </p:spPr>
        <p:txBody>
          <a:bodyPr wrap="square" lIns="0" tIns="0" rIns="0" bIns="0" rtlCol="0" anchor="ctr"/>
          <a:lstStyle/>
          <a:p>
            <a:pPr algn="l" indent="0" marL="0">
              <a:spcAft>
                <a:spcPts val="400"/>
              </a:spcAft>
              <a:buNone/>
            </a:pPr>
            <a:r>
              <a:rPr lang="en-US" sz="1500" dirty="0">
                <a:solidFill>
                  <a:schemeClr val="tx2"/>
                </a:solidFill>
              </a:rPr>
              <a:t>De gauche à droite : </a:t>
            </a:r>
            <a:r>
              <a:rPr lang="en-US" sz="1500" b="1" dirty="0">
                <a:solidFill>
                  <a:schemeClr val="tx2"/>
                </a:solidFill>
              </a:rPr>
              <a:t>avant le passé → passé → NU → futur</a:t>
            </a:r>
            <a:r>
              <a:rPr lang="en-US" sz="1500" dirty="0">
                <a:solidFill>
                  <a:schemeClr val="tx2"/>
                </a:solidFill>
              </a:rPr>
              <a:t>.</a:t>
            </a:r>
            <a:endParaRPr lang="en-US" sz="1500" dirty="0"/>
          </a:p>
          <a:p>
            <a:pPr algn="l" indent="0" marL="0">
              <a:spcAft>
                <a:spcPts val="400"/>
              </a:spcAft>
              <a:buNone/>
            </a:pPr>
            <a:r>
              <a:rPr lang="en-US" sz="1500" dirty="0">
                <a:solidFill>
                  <a:schemeClr val="tx2"/>
                </a:solidFill>
              </a:rPr>
              <a:t>Le </a:t>
            </a:r>
            <a:r>
              <a:rPr lang="en-US" sz="1500" b="1" dirty="0">
                <a:solidFill>
                  <a:schemeClr val="tx2"/>
                </a:solidFill>
              </a:rPr>
              <a:t>nuage</a:t>
            </a:r>
            <a:r>
              <a:rPr lang="en-US" sz="1500" dirty="0">
                <a:solidFill>
                  <a:schemeClr val="tx2"/>
                </a:solidFill>
              </a:rPr>
              <a:t> au-dessus de la ligne = l’imaginaire (</a:t>
            </a:r>
            <a:r>
              <a:rPr lang="en-US" sz="1500" i="1" dirty="0">
                <a:solidFill>
                  <a:schemeClr val="tx2"/>
                </a:solidFill>
              </a:rPr>
              <a:t>si…</a:t>
            </a:r>
            <a:r>
              <a:rPr lang="en-US" sz="1500" dirty="0">
                <a:solidFill>
                  <a:schemeClr val="tx2"/>
                </a:solidFill>
              </a:rPr>
              <a:t>).</a:t>
            </a:r>
            <a:endParaRPr lang="en-US" sz="1500" dirty="0"/>
          </a:p>
        </p:txBody>
      </p:sp>
      <p:sp>
        <p:nvSpPr>
          <p:cNvPr id="6" name="Shape 3"/>
          <p:cNvSpPr/>
          <p:nvPr/>
        </p:nvSpPr>
        <p:spPr>
          <a:xfrm>
            <a:off x="7178040" y="1325880"/>
            <a:ext cx="4480560" cy="1188720"/>
          </a:xfrm>
          <a:prstGeom prst="cloud">
            <a:avLst/>
          </a:prstGeom>
          <a:solidFill>
            <a:srgbClr val="F1ECF7"/>
          </a:solidFill>
          <a:ln w="19050">
            <a:solidFill>
              <a:srgbClr val="6E4A9E"/>
            </a:solidFill>
            <a:prstDash val="solid"/>
          </a:ln>
        </p:spPr>
      </p:sp>
      <p:sp>
        <p:nvSpPr>
          <p:cNvPr id="7" name="Shape 4"/>
          <p:cNvSpPr/>
          <p:nvPr/>
        </p:nvSpPr>
        <p:spPr>
          <a:xfrm>
            <a:off x="7726680" y="1627632"/>
            <a:ext cx="1691640" cy="621792"/>
          </a:xfrm>
          <a:prstGeom prst="roundRect">
            <a:avLst>
              <a:gd name="adj" fmla="val 17647"/>
            </a:avLst>
          </a:prstGeom>
          <a:solidFill>
            <a:srgbClr val="6E4A9E"/>
          </a:solidFill>
          <a:ln w="12700">
            <a:solidFill>
              <a:srgbClr val="FFFFFF">
                <a:alpha val="0"/>
              </a:srgbClr>
            </a:solidFill>
            <a:prstDash val="solid"/>
          </a:ln>
        </p:spPr>
      </p:sp>
      <p:sp>
        <p:nvSpPr>
          <p:cNvPr id="8" name="Text 5"/>
          <p:cNvSpPr txBox="1"/>
          <p:nvPr/>
        </p:nvSpPr>
        <p:spPr>
          <a:xfrm>
            <a:off x="7781544" y="1627632"/>
            <a:ext cx="1581912" cy="621792"/>
          </a:xfrm>
          <a:prstGeom prst="rect">
            <a:avLst/>
          </a:prstGeom>
          <a:noFill/>
          <a:ln/>
        </p:spPr>
        <p:txBody>
          <a:bodyPr wrap="square" lIns="0" tIns="0" rIns="0" bIns="0" rtlCol="0" anchor="ctr"/>
          <a:lstStyle/>
          <a:p>
            <a:pPr algn="ctr" indent="0" marL="0">
              <a:buNone/>
            </a:pPr>
            <a:r>
              <a:rPr lang="en-US" sz="1100" b="1" dirty="0">
                <a:solidFill>
                  <a:schemeClr val="bg1"/>
                </a:solidFill>
              </a:rPr>
              <a:t>conditionalis</a:t>
            </a:r>
            <a:endParaRPr lang="en-US" sz="1100" dirty="0"/>
          </a:p>
          <a:p>
            <a:pPr algn="ctr" indent="0" marL="0">
              <a:buNone/>
            </a:pPr>
            <a:r>
              <a:rPr lang="en-US" sz="1100" i="1" dirty="0">
                <a:solidFill>
                  <a:schemeClr val="bg1"/>
                </a:solidFill>
              </a:rPr>
              <a:t>ik zou werken</a:t>
            </a:r>
            <a:endParaRPr lang="en-US" sz="1100" dirty="0"/>
          </a:p>
        </p:txBody>
      </p:sp>
      <p:sp>
        <p:nvSpPr>
          <p:cNvPr id="9" name="Shape 6"/>
          <p:cNvSpPr/>
          <p:nvPr/>
        </p:nvSpPr>
        <p:spPr>
          <a:xfrm>
            <a:off x="9491472" y="1627632"/>
            <a:ext cx="1828800" cy="621792"/>
          </a:xfrm>
          <a:prstGeom prst="roundRect">
            <a:avLst>
              <a:gd name="adj" fmla="val 17647"/>
            </a:avLst>
          </a:prstGeom>
          <a:solidFill>
            <a:srgbClr val="45306A"/>
          </a:solidFill>
          <a:ln w="12700">
            <a:solidFill>
              <a:srgbClr val="FFFFFF">
                <a:alpha val="0"/>
              </a:srgbClr>
            </a:solidFill>
            <a:prstDash val="solid"/>
          </a:ln>
        </p:spPr>
      </p:sp>
      <p:sp>
        <p:nvSpPr>
          <p:cNvPr id="10" name="Text 7"/>
          <p:cNvSpPr txBox="1"/>
          <p:nvPr/>
        </p:nvSpPr>
        <p:spPr>
          <a:xfrm>
            <a:off x="9546336" y="1627632"/>
            <a:ext cx="1719072" cy="621792"/>
          </a:xfrm>
          <a:prstGeom prst="rect">
            <a:avLst/>
          </a:prstGeom>
          <a:noFill/>
          <a:ln/>
        </p:spPr>
        <p:txBody>
          <a:bodyPr wrap="square" lIns="0" tIns="0" rIns="0" bIns="0" rtlCol="0" anchor="ctr"/>
          <a:lstStyle/>
          <a:p>
            <a:pPr algn="ctr" indent="0" marL="0">
              <a:buNone/>
            </a:pPr>
            <a:r>
              <a:rPr lang="en-US" sz="1000" b="1" dirty="0">
                <a:solidFill>
                  <a:schemeClr val="bg1"/>
                </a:solidFill>
              </a:rPr>
              <a:t>conditionalis perfectum</a:t>
            </a:r>
            <a:endParaRPr lang="en-US" sz="1000" dirty="0"/>
          </a:p>
          <a:p>
            <a:pPr algn="ctr" indent="0" marL="0">
              <a:buNone/>
            </a:pPr>
            <a:r>
              <a:rPr lang="en-US" sz="1000" i="1" dirty="0">
                <a:solidFill>
                  <a:schemeClr val="bg1"/>
                </a:solidFill>
              </a:rPr>
              <a:t>ik zou gewerkt hebben</a:t>
            </a:r>
            <a:endParaRPr lang="en-US" sz="1000" dirty="0"/>
          </a:p>
        </p:txBody>
      </p:sp>
      <p:sp>
        <p:nvSpPr>
          <p:cNvPr id="11" name="Shape 8"/>
          <p:cNvSpPr/>
          <p:nvPr/>
        </p:nvSpPr>
        <p:spPr>
          <a:xfrm>
            <a:off x="685800" y="3703320"/>
            <a:ext cx="1828800" cy="182880"/>
          </a:xfrm>
          <a:prstGeom prst="rect">
            <a:avLst/>
          </a:prstGeom>
          <a:solidFill>
            <a:srgbClr val="7A1748"/>
          </a:solidFill>
          <a:ln w="12700">
            <a:solidFill>
              <a:srgbClr val="FFFFFF">
                <a:alpha val="0"/>
              </a:srgbClr>
            </a:solidFill>
            <a:prstDash val="solid"/>
          </a:ln>
        </p:spPr>
      </p:sp>
      <p:sp>
        <p:nvSpPr>
          <p:cNvPr id="12" name="Shape 9"/>
          <p:cNvSpPr/>
          <p:nvPr/>
        </p:nvSpPr>
        <p:spPr>
          <a:xfrm>
            <a:off x="2606040" y="3703320"/>
            <a:ext cx="3977640" cy="182880"/>
          </a:xfrm>
          <a:prstGeom prst="rect">
            <a:avLst/>
          </a:prstGeom>
          <a:solidFill>
            <a:schemeClr val="accent4"/>
          </a:solidFill>
          <a:ln w="12700">
            <a:solidFill>
              <a:srgbClr val="FFFFFF">
                <a:alpha val="0"/>
              </a:srgbClr>
            </a:solidFill>
            <a:prstDash val="solid"/>
          </a:ln>
        </p:spPr>
      </p:sp>
      <p:sp>
        <p:nvSpPr>
          <p:cNvPr id="13" name="Shape 10"/>
          <p:cNvSpPr/>
          <p:nvPr/>
        </p:nvSpPr>
        <p:spPr>
          <a:xfrm>
            <a:off x="6949440" y="3703320"/>
            <a:ext cx="2468880" cy="182880"/>
          </a:xfrm>
          <a:prstGeom prst="rect">
            <a:avLst/>
          </a:prstGeom>
          <a:solidFill>
            <a:schemeClr val="accent3"/>
          </a:solidFill>
          <a:ln w="12700">
            <a:solidFill>
              <a:srgbClr val="FFFFFF">
                <a:alpha val="0"/>
              </a:srgbClr>
            </a:solidFill>
            <a:prstDash val="solid"/>
          </a:ln>
        </p:spPr>
      </p:sp>
      <p:sp>
        <p:nvSpPr>
          <p:cNvPr id="14" name="Shape 11"/>
          <p:cNvSpPr/>
          <p:nvPr/>
        </p:nvSpPr>
        <p:spPr>
          <a:xfrm>
            <a:off x="9509760" y="3703320"/>
            <a:ext cx="1920240" cy="182880"/>
          </a:xfrm>
          <a:prstGeom prst="rect">
            <a:avLst/>
          </a:prstGeom>
          <a:solidFill>
            <a:srgbClr val="1B5734"/>
          </a:solidFill>
          <a:ln w="12700">
            <a:solidFill>
              <a:srgbClr val="FFFFFF">
                <a:alpha val="0"/>
              </a:srgbClr>
            </a:solidFill>
            <a:prstDash val="solid"/>
          </a:ln>
        </p:spPr>
      </p:sp>
      <p:sp>
        <p:nvSpPr>
          <p:cNvPr id="15" name="Shape 12"/>
          <p:cNvSpPr/>
          <p:nvPr/>
        </p:nvSpPr>
        <p:spPr>
          <a:xfrm>
            <a:off x="640080" y="3794760"/>
            <a:ext cx="11018520" cy="914"/>
          </a:xfrm>
          <a:prstGeom prst="line">
            <a:avLst/>
          </a:prstGeom>
          <a:noFill/>
          <a:ln w="31750">
            <a:solidFill>
              <a:srgbClr val="17375E"/>
            </a:solidFill>
            <a:prstDash val="solid"/>
            <a:tailEnd type="triangle"/>
          </a:ln>
        </p:spPr>
      </p:sp>
      <p:sp>
        <p:nvSpPr>
          <p:cNvPr id="16" name="Shape 13"/>
          <p:cNvSpPr/>
          <p:nvPr/>
        </p:nvSpPr>
        <p:spPr>
          <a:xfrm>
            <a:off x="6720840" y="3483864"/>
            <a:ext cx="91440" cy="621792"/>
          </a:xfrm>
          <a:prstGeom prst="rect">
            <a:avLst/>
          </a:prstGeom>
          <a:solidFill>
            <a:schemeClr val="accent6"/>
          </a:solidFill>
          <a:ln w="12700">
            <a:solidFill>
              <a:srgbClr val="FFFFFF">
                <a:alpha val="0"/>
              </a:srgbClr>
            </a:solidFill>
            <a:prstDash val="solid"/>
          </a:ln>
        </p:spPr>
      </p:sp>
      <p:sp>
        <p:nvSpPr>
          <p:cNvPr id="17" name="Shape 14"/>
          <p:cNvSpPr/>
          <p:nvPr/>
        </p:nvSpPr>
        <p:spPr>
          <a:xfrm>
            <a:off x="1600200" y="3538728"/>
            <a:ext cx="914" cy="146304"/>
          </a:xfrm>
          <a:prstGeom prst="line">
            <a:avLst/>
          </a:prstGeom>
          <a:noFill/>
          <a:ln w="19050">
            <a:solidFill>
              <a:srgbClr val="7A1748"/>
            </a:solidFill>
            <a:prstDash val="solid"/>
          </a:ln>
        </p:spPr>
      </p:sp>
      <p:sp>
        <p:nvSpPr>
          <p:cNvPr id="18" name="Shape 15"/>
          <p:cNvSpPr/>
          <p:nvPr/>
        </p:nvSpPr>
        <p:spPr>
          <a:xfrm>
            <a:off x="1472184" y="3666744"/>
            <a:ext cx="256032" cy="256032"/>
          </a:xfrm>
          <a:prstGeom prst="ellipse">
            <a:avLst/>
          </a:prstGeom>
          <a:solidFill>
            <a:srgbClr val="7A1748"/>
          </a:solidFill>
          <a:ln w="12700">
            <a:solidFill>
              <a:srgbClr val="FFFFFF"/>
            </a:solidFill>
            <a:prstDash val="solid"/>
          </a:ln>
        </p:spPr>
      </p:sp>
      <p:sp>
        <p:nvSpPr>
          <p:cNvPr id="19" name="Shape 16"/>
          <p:cNvSpPr/>
          <p:nvPr/>
        </p:nvSpPr>
        <p:spPr>
          <a:xfrm>
            <a:off x="576072" y="2697480"/>
            <a:ext cx="2048256" cy="841248"/>
          </a:xfrm>
          <a:prstGeom prst="roundRect">
            <a:avLst>
              <a:gd name="adj" fmla="val 13043"/>
            </a:avLst>
          </a:prstGeom>
          <a:solidFill>
            <a:srgbClr val="7A1748"/>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0" name="Text 17"/>
          <p:cNvSpPr txBox="1"/>
          <p:nvPr/>
        </p:nvSpPr>
        <p:spPr>
          <a:xfrm>
            <a:off x="630936" y="2697480"/>
            <a:ext cx="1938528" cy="841248"/>
          </a:xfrm>
          <a:prstGeom prst="rect">
            <a:avLst/>
          </a:prstGeom>
          <a:noFill/>
          <a:ln/>
        </p:spPr>
        <p:txBody>
          <a:bodyPr wrap="square" lIns="0" tIns="0" rIns="0" bIns="0" rtlCol="0" anchor="ctr"/>
          <a:lstStyle/>
          <a:p>
            <a:pPr algn="ctr" indent="0" marL="0">
              <a:buNone/>
            </a:pPr>
            <a:r>
              <a:rPr lang="en-US" sz="1300" b="1" dirty="0">
                <a:solidFill>
                  <a:schemeClr val="bg1"/>
                </a:solidFill>
              </a:rPr>
              <a:t>plusquamperfectum</a:t>
            </a:r>
            <a:endParaRPr lang="en-US" sz="1300" dirty="0"/>
          </a:p>
          <a:p>
            <a:pPr algn="ctr" indent="0" marL="0">
              <a:buNone/>
            </a:pPr>
            <a:r>
              <a:rPr lang="en-US" sz="1300" i="1" dirty="0">
                <a:solidFill>
                  <a:schemeClr val="bg1"/>
                </a:solidFill>
              </a:rPr>
              <a:t>ik had gewerkt</a:t>
            </a:r>
            <a:endParaRPr lang="en-US" sz="1300" dirty="0"/>
          </a:p>
        </p:txBody>
      </p:sp>
      <p:sp>
        <p:nvSpPr>
          <p:cNvPr id="21" name="Shape 18"/>
          <p:cNvSpPr/>
          <p:nvPr/>
        </p:nvSpPr>
        <p:spPr>
          <a:xfrm>
            <a:off x="5212080" y="3538728"/>
            <a:ext cx="914" cy="146304"/>
          </a:xfrm>
          <a:prstGeom prst="line">
            <a:avLst/>
          </a:prstGeom>
          <a:noFill/>
          <a:ln w="19050">
            <a:solidFill>
              <a:srgbClr val="B4236A"/>
            </a:solidFill>
            <a:prstDash val="solid"/>
          </a:ln>
        </p:spPr>
      </p:sp>
      <p:sp>
        <p:nvSpPr>
          <p:cNvPr id="22" name="Shape 19"/>
          <p:cNvSpPr/>
          <p:nvPr/>
        </p:nvSpPr>
        <p:spPr>
          <a:xfrm>
            <a:off x="5084064" y="3666744"/>
            <a:ext cx="256032" cy="256032"/>
          </a:xfrm>
          <a:prstGeom prst="ellipse">
            <a:avLst/>
          </a:prstGeom>
          <a:solidFill>
            <a:schemeClr val="accent4"/>
          </a:solidFill>
          <a:ln w="12700">
            <a:solidFill>
              <a:srgbClr val="FFFFFF"/>
            </a:solidFill>
            <a:prstDash val="solid"/>
          </a:ln>
        </p:spPr>
      </p:sp>
      <p:sp>
        <p:nvSpPr>
          <p:cNvPr id="23" name="Shape 20"/>
          <p:cNvSpPr/>
          <p:nvPr/>
        </p:nvSpPr>
        <p:spPr>
          <a:xfrm>
            <a:off x="4187952" y="2697480"/>
            <a:ext cx="2048256" cy="841248"/>
          </a:xfrm>
          <a:prstGeom prst="roundRect">
            <a:avLst>
              <a:gd name="adj" fmla="val 13043"/>
            </a:avLst>
          </a:prstGeom>
          <a:solidFill>
            <a:schemeClr val="accent4"/>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4" name="Text 21"/>
          <p:cNvSpPr txBox="1"/>
          <p:nvPr/>
        </p:nvSpPr>
        <p:spPr>
          <a:xfrm>
            <a:off x="4242816" y="2697480"/>
            <a:ext cx="1938528" cy="841248"/>
          </a:xfrm>
          <a:prstGeom prst="rect">
            <a:avLst/>
          </a:prstGeom>
          <a:noFill/>
          <a:ln/>
        </p:spPr>
        <p:txBody>
          <a:bodyPr wrap="square" lIns="0" tIns="0" rIns="0" bIns="0" rtlCol="0" anchor="ctr"/>
          <a:lstStyle/>
          <a:p>
            <a:pPr algn="ctr" indent="0" marL="0">
              <a:buNone/>
            </a:pPr>
            <a:r>
              <a:rPr lang="en-US" sz="1300" b="1" dirty="0">
                <a:solidFill>
                  <a:schemeClr val="bg1"/>
                </a:solidFill>
              </a:rPr>
              <a:t>perfectum</a:t>
            </a:r>
            <a:endParaRPr lang="en-US" sz="1300" dirty="0"/>
          </a:p>
          <a:p>
            <a:pPr algn="ctr" indent="0" marL="0">
              <a:buNone/>
            </a:pPr>
            <a:r>
              <a:rPr lang="en-US" sz="1300" i="1" dirty="0">
                <a:solidFill>
                  <a:schemeClr val="bg1"/>
                </a:solidFill>
              </a:rPr>
              <a:t>ik heb gewerkt</a:t>
            </a:r>
            <a:endParaRPr lang="en-US" sz="1300" dirty="0"/>
          </a:p>
        </p:txBody>
      </p:sp>
      <p:sp>
        <p:nvSpPr>
          <p:cNvPr id="25" name="Shape 22"/>
          <p:cNvSpPr/>
          <p:nvPr/>
        </p:nvSpPr>
        <p:spPr>
          <a:xfrm>
            <a:off x="8183880" y="3538728"/>
            <a:ext cx="914" cy="146304"/>
          </a:xfrm>
          <a:prstGeom prst="line">
            <a:avLst/>
          </a:prstGeom>
          <a:noFill/>
          <a:ln w="19050">
            <a:solidFill>
              <a:srgbClr val="2E7D4F"/>
            </a:solidFill>
            <a:prstDash val="solid"/>
          </a:ln>
        </p:spPr>
      </p:sp>
      <p:sp>
        <p:nvSpPr>
          <p:cNvPr id="26" name="Shape 23"/>
          <p:cNvSpPr/>
          <p:nvPr/>
        </p:nvSpPr>
        <p:spPr>
          <a:xfrm>
            <a:off x="8055864" y="3666744"/>
            <a:ext cx="256032" cy="256032"/>
          </a:xfrm>
          <a:prstGeom prst="ellipse">
            <a:avLst/>
          </a:prstGeom>
          <a:solidFill>
            <a:schemeClr val="accent3"/>
          </a:solidFill>
          <a:ln w="12700">
            <a:solidFill>
              <a:srgbClr val="FFFFFF"/>
            </a:solidFill>
            <a:prstDash val="solid"/>
          </a:ln>
        </p:spPr>
      </p:sp>
      <p:sp>
        <p:nvSpPr>
          <p:cNvPr id="27" name="Shape 24"/>
          <p:cNvSpPr/>
          <p:nvPr/>
        </p:nvSpPr>
        <p:spPr>
          <a:xfrm>
            <a:off x="7159752" y="2697480"/>
            <a:ext cx="2048256" cy="841248"/>
          </a:xfrm>
          <a:prstGeom prst="roundRect">
            <a:avLst>
              <a:gd name="adj" fmla="val 13043"/>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8" name="Text 25"/>
          <p:cNvSpPr txBox="1"/>
          <p:nvPr/>
        </p:nvSpPr>
        <p:spPr>
          <a:xfrm>
            <a:off x="7214616" y="2697480"/>
            <a:ext cx="1938528" cy="841248"/>
          </a:xfrm>
          <a:prstGeom prst="rect">
            <a:avLst/>
          </a:prstGeom>
          <a:noFill/>
          <a:ln/>
        </p:spPr>
        <p:txBody>
          <a:bodyPr wrap="square" lIns="0" tIns="0" rIns="0" bIns="0" rtlCol="0" anchor="ctr"/>
          <a:lstStyle/>
          <a:p>
            <a:pPr algn="ctr" indent="0" marL="0">
              <a:buNone/>
            </a:pPr>
            <a:r>
              <a:rPr lang="en-US" sz="1300" b="1" dirty="0">
                <a:solidFill>
                  <a:schemeClr val="bg1"/>
                </a:solidFill>
              </a:rPr>
              <a:t>futurum</a:t>
            </a:r>
            <a:endParaRPr lang="en-US" sz="1300" dirty="0"/>
          </a:p>
          <a:p>
            <a:pPr algn="ctr" indent="0" marL="0">
              <a:buNone/>
            </a:pPr>
            <a:r>
              <a:rPr lang="en-US" sz="1300" i="1" dirty="0">
                <a:solidFill>
                  <a:schemeClr val="bg1"/>
                </a:solidFill>
              </a:rPr>
              <a:t>ik zal werken</a:t>
            </a:r>
            <a:endParaRPr lang="en-US" sz="1300" dirty="0"/>
          </a:p>
        </p:txBody>
      </p:sp>
      <p:sp>
        <p:nvSpPr>
          <p:cNvPr id="29" name="Shape 26"/>
          <p:cNvSpPr/>
          <p:nvPr/>
        </p:nvSpPr>
        <p:spPr>
          <a:xfrm>
            <a:off x="3383280" y="3904488"/>
            <a:ext cx="914" cy="301752"/>
          </a:xfrm>
          <a:prstGeom prst="line">
            <a:avLst/>
          </a:prstGeom>
          <a:noFill/>
          <a:ln w="19050">
            <a:solidFill>
              <a:srgbClr val="B4236A"/>
            </a:solidFill>
            <a:prstDash val="solid"/>
          </a:ln>
        </p:spPr>
      </p:sp>
      <p:sp>
        <p:nvSpPr>
          <p:cNvPr id="30" name="Shape 27"/>
          <p:cNvSpPr/>
          <p:nvPr/>
        </p:nvSpPr>
        <p:spPr>
          <a:xfrm>
            <a:off x="2697480" y="3675888"/>
            <a:ext cx="1463040" cy="237744"/>
          </a:xfrm>
          <a:prstGeom prst="roundRect">
            <a:avLst>
              <a:gd name="adj" fmla="val 23077"/>
            </a:avLst>
          </a:prstGeom>
          <a:solidFill>
            <a:schemeClr val="accent4"/>
          </a:solidFill>
          <a:ln w="12700">
            <a:solidFill>
              <a:srgbClr val="FFFFFF"/>
            </a:solidFill>
            <a:prstDash val="solid"/>
          </a:ln>
        </p:spPr>
      </p:sp>
      <p:sp>
        <p:nvSpPr>
          <p:cNvPr id="31" name="Shape 28"/>
          <p:cNvSpPr/>
          <p:nvPr/>
        </p:nvSpPr>
        <p:spPr>
          <a:xfrm>
            <a:off x="2359152" y="4206240"/>
            <a:ext cx="2048256" cy="841248"/>
          </a:xfrm>
          <a:prstGeom prst="roundRect">
            <a:avLst>
              <a:gd name="adj" fmla="val 13043"/>
            </a:avLst>
          </a:prstGeom>
          <a:solidFill>
            <a:schemeClr val="accent4"/>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2" name="Text 29"/>
          <p:cNvSpPr txBox="1"/>
          <p:nvPr/>
        </p:nvSpPr>
        <p:spPr>
          <a:xfrm>
            <a:off x="2414016" y="4206240"/>
            <a:ext cx="1938528" cy="841248"/>
          </a:xfrm>
          <a:prstGeom prst="rect">
            <a:avLst/>
          </a:prstGeom>
          <a:noFill/>
          <a:ln/>
        </p:spPr>
        <p:txBody>
          <a:bodyPr wrap="square" lIns="0" tIns="0" rIns="0" bIns="0" rtlCol="0" anchor="ctr"/>
          <a:lstStyle/>
          <a:p>
            <a:pPr algn="ctr" indent="0" marL="0">
              <a:buNone/>
            </a:pPr>
            <a:r>
              <a:rPr lang="en-US" sz="1300" b="1" dirty="0">
                <a:solidFill>
                  <a:schemeClr val="bg1"/>
                </a:solidFill>
              </a:rPr>
              <a:t>imperfectum</a:t>
            </a:r>
            <a:endParaRPr lang="en-US" sz="1300" dirty="0"/>
          </a:p>
          <a:p>
            <a:pPr algn="ctr" indent="0" marL="0">
              <a:buNone/>
            </a:pPr>
            <a:r>
              <a:rPr lang="en-US" sz="1300" i="1" dirty="0">
                <a:solidFill>
                  <a:schemeClr val="bg1"/>
                </a:solidFill>
              </a:rPr>
              <a:t>ik werkte</a:t>
            </a:r>
            <a:endParaRPr lang="en-US" sz="1300" dirty="0"/>
          </a:p>
        </p:txBody>
      </p:sp>
      <p:sp>
        <p:nvSpPr>
          <p:cNvPr id="33" name="Shape 30"/>
          <p:cNvSpPr/>
          <p:nvPr/>
        </p:nvSpPr>
        <p:spPr>
          <a:xfrm>
            <a:off x="6766560" y="3904488"/>
            <a:ext cx="914" cy="301752"/>
          </a:xfrm>
          <a:prstGeom prst="line">
            <a:avLst/>
          </a:prstGeom>
          <a:noFill/>
          <a:ln w="19050">
            <a:solidFill>
              <a:srgbClr val="2A6FB0"/>
            </a:solidFill>
            <a:prstDash val="solid"/>
          </a:ln>
        </p:spPr>
      </p:sp>
      <p:sp>
        <p:nvSpPr>
          <p:cNvPr id="34" name="Shape 31"/>
          <p:cNvSpPr/>
          <p:nvPr/>
        </p:nvSpPr>
        <p:spPr>
          <a:xfrm>
            <a:off x="6638544" y="3666744"/>
            <a:ext cx="256032" cy="256032"/>
          </a:xfrm>
          <a:prstGeom prst="ellipse">
            <a:avLst/>
          </a:prstGeom>
          <a:solidFill>
            <a:schemeClr val="accent2"/>
          </a:solidFill>
          <a:ln w="12700">
            <a:solidFill>
              <a:srgbClr val="FFFFFF"/>
            </a:solidFill>
            <a:prstDash val="solid"/>
          </a:ln>
        </p:spPr>
      </p:sp>
      <p:sp>
        <p:nvSpPr>
          <p:cNvPr id="35" name="Shape 32"/>
          <p:cNvSpPr/>
          <p:nvPr/>
        </p:nvSpPr>
        <p:spPr>
          <a:xfrm>
            <a:off x="5742432" y="4206240"/>
            <a:ext cx="2048256" cy="841248"/>
          </a:xfrm>
          <a:prstGeom prst="roundRect">
            <a:avLst>
              <a:gd name="adj" fmla="val 13043"/>
            </a:avLst>
          </a:prstGeom>
          <a:solidFill>
            <a:schemeClr val="accent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6" name="Text 33"/>
          <p:cNvSpPr txBox="1"/>
          <p:nvPr/>
        </p:nvSpPr>
        <p:spPr>
          <a:xfrm>
            <a:off x="5797296" y="4206240"/>
            <a:ext cx="1938528" cy="841248"/>
          </a:xfrm>
          <a:prstGeom prst="rect">
            <a:avLst/>
          </a:prstGeom>
          <a:noFill/>
          <a:ln/>
        </p:spPr>
        <p:txBody>
          <a:bodyPr wrap="square" lIns="0" tIns="0" rIns="0" bIns="0" rtlCol="0" anchor="ctr"/>
          <a:lstStyle/>
          <a:p>
            <a:pPr algn="ctr" indent="0" marL="0">
              <a:buNone/>
            </a:pPr>
            <a:r>
              <a:rPr lang="en-US" sz="1300" b="1" dirty="0">
                <a:solidFill>
                  <a:schemeClr val="bg1"/>
                </a:solidFill>
              </a:rPr>
              <a:t>presens</a:t>
            </a:r>
            <a:endParaRPr lang="en-US" sz="1300" dirty="0"/>
          </a:p>
          <a:p>
            <a:pPr algn="ctr" indent="0" marL="0">
              <a:buNone/>
            </a:pPr>
            <a:r>
              <a:rPr lang="en-US" sz="1300" i="1" dirty="0">
                <a:solidFill>
                  <a:schemeClr val="bg1"/>
                </a:solidFill>
              </a:rPr>
              <a:t>ik werk</a:t>
            </a:r>
            <a:endParaRPr lang="en-US" sz="1300" dirty="0"/>
          </a:p>
        </p:txBody>
      </p:sp>
      <p:sp>
        <p:nvSpPr>
          <p:cNvPr id="37" name="Shape 34"/>
          <p:cNvSpPr/>
          <p:nvPr/>
        </p:nvSpPr>
        <p:spPr>
          <a:xfrm>
            <a:off x="10469880" y="3904488"/>
            <a:ext cx="914" cy="301752"/>
          </a:xfrm>
          <a:prstGeom prst="line">
            <a:avLst/>
          </a:prstGeom>
          <a:noFill/>
          <a:ln w="19050">
            <a:solidFill>
              <a:srgbClr val="1B5734"/>
            </a:solidFill>
            <a:prstDash val="solid"/>
          </a:ln>
        </p:spPr>
      </p:sp>
      <p:sp>
        <p:nvSpPr>
          <p:cNvPr id="38" name="Shape 35"/>
          <p:cNvSpPr/>
          <p:nvPr/>
        </p:nvSpPr>
        <p:spPr>
          <a:xfrm>
            <a:off x="10341864" y="3666744"/>
            <a:ext cx="256032" cy="256032"/>
          </a:xfrm>
          <a:prstGeom prst="ellipse">
            <a:avLst/>
          </a:prstGeom>
          <a:solidFill>
            <a:srgbClr val="1B5734"/>
          </a:solidFill>
          <a:ln w="12700">
            <a:solidFill>
              <a:srgbClr val="FFFFFF"/>
            </a:solidFill>
            <a:prstDash val="solid"/>
          </a:ln>
        </p:spPr>
      </p:sp>
      <p:sp>
        <p:nvSpPr>
          <p:cNvPr id="39" name="Shape 36"/>
          <p:cNvSpPr/>
          <p:nvPr/>
        </p:nvSpPr>
        <p:spPr>
          <a:xfrm>
            <a:off x="9445752" y="4206240"/>
            <a:ext cx="2048256" cy="841248"/>
          </a:xfrm>
          <a:prstGeom prst="roundRect">
            <a:avLst>
              <a:gd name="adj" fmla="val 13043"/>
            </a:avLst>
          </a:prstGeom>
          <a:solidFill>
            <a:srgbClr val="1B5734"/>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0" name="Text 37"/>
          <p:cNvSpPr txBox="1"/>
          <p:nvPr/>
        </p:nvSpPr>
        <p:spPr>
          <a:xfrm>
            <a:off x="9500616" y="4206240"/>
            <a:ext cx="1938528" cy="841248"/>
          </a:xfrm>
          <a:prstGeom prst="rect">
            <a:avLst/>
          </a:prstGeom>
          <a:noFill/>
          <a:ln/>
        </p:spPr>
        <p:txBody>
          <a:bodyPr wrap="square" lIns="0" tIns="0" rIns="0" bIns="0" rtlCol="0" anchor="ctr"/>
          <a:lstStyle/>
          <a:p>
            <a:pPr algn="ctr" indent="0" marL="0">
              <a:buNone/>
            </a:pPr>
            <a:r>
              <a:rPr lang="en-US" sz="1300" b="1" dirty="0">
                <a:solidFill>
                  <a:schemeClr val="bg1"/>
                </a:solidFill>
              </a:rPr>
              <a:t>futurum exactum</a:t>
            </a:r>
            <a:endParaRPr lang="en-US" sz="1300" dirty="0"/>
          </a:p>
          <a:p>
            <a:pPr algn="ctr" indent="0" marL="0">
              <a:buNone/>
            </a:pPr>
            <a:r>
              <a:rPr lang="en-US" sz="1300" i="1" dirty="0">
                <a:solidFill>
                  <a:schemeClr val="bg1"/>
                </a:solidFill>
              </a:rPr>
              <a:t>ik zal gewerkt hebben</a:t>
            </a:r>
            <a:endParaRPr lang="en-US" sz="1300" dirty="0"/>
          </a:p>
        </p:txBody>
      </p:sp>
      <p:sp>
        <p:nvSpPr>
          <p:cNvPr id="41" name="Text 38"/>
          <p:cNvSpPr txBox="1"/>
          <p:nvPr/>
        </p:nvSpPr>
        <p:spPr>
          <a:xfrm>
            <a:off x="6309360" y="5074920"/>
            <a:ext cx="914400" cy="320040"/>
          </a:xfrm>
          <a:prstGeom prst="rect">
            <a:avLst/>
          </a:prstGeom>
          <a:noFill/>
          <a:ln/>
        </p:spPr>
        <p:txBody>
          <a:bodyPr wrap="square" lIns="0" tIns="0" rIns="0" bIns="0" rtlCol="0" anchor="t"/>
          <a:lstStyle/>
          <a:p>
            <a:pPr algn="ctr" indent="0" marL="0">
              <a:buNone/>
            </a:pPr>
            <a:r>
              <a:rPr lang="en-US" sz="1500" b="1" dirty="0">
                <a:solidFill>
                  <a:schemeClr val="accent6"/>
                </a:solidFill>
              </a:rPr>
              <a:t>NU</a:t>
            </a:r>
            <a:endParaRPr lang="en-US" sz="1500" dirty="0"/>
          </a:p>
        </p:txBody>
      </p:sp>
      <p:sp>
        <p:nvSpPr>
          <p:cNvPr id="42" name="Shape 39"/>
          <p:cNvSpPr/>
          <p:nvPr/>
        </p:nvSpPr>
        <p:spPr>
          <a:xfrm>
            <a:off x="548640" y="5532120"/>
            <a:ext cx="11091672" cy="566928"/>
          </a:xfrm>
          <a:prstGeom prst="roundRect">
            <a:avLst>
              <a:gd name="adj" fmla="val 12903"/>
            </a:avLst>
          </a:prstGeom>
          <a:solidFill>
            <a:schemeClr val="tx2"/>
          </a:solidFill>
          <a:ln w="12700">
            <a:solidFill>
              <a:srgbClr val="FFFFFF">
                <a:alpha val="0"/>
              </a:srgbClr>
            </a:solidFill>
            <a:prstDash val="solid"/>
          </a:ln>
        </p:spPr>
      </p:sp>
      <p:sp>
        <p:nvSpPr>
          <p:cNvPr id="43" name="Text 40"/>
          <p:cNvSpPr txBox="1"/>
          <p:nvPr/>
        </p:nvSpPr>
        <p:spPr>
          <a:xfrm>
            <a:off x="822960" y="5532120"/>
            <a:ext cx="10607040" cy="566928"/>
          </a:xfrm>
          <a:prstGeom prst="rect">
            <a:avLst/>
          </a:prstGeom>
          <a:noFill/>
          <a:ln/>
        </p:spPr>
        <p:txBody>
          <a:bodyPr wrap="square" lIns="0" tIns="0" rIns="0" bIns="0" rtlCol="0" anchor="ctr"/>
          <a:lstStyle/>
          <a:p>
            <a:pPr algn="l" indent="0" marL="0">
              <a:buNone/>
            </a:pPr>
            <a:r>
              <a:rPr lang="en-US" sz="1600" b="1" dirty="0">
                <a:solidFill>
                  <a:schemeClr val="bg1"/>
                </a:solidFill>
              </a:rPr>
              <a:t>voltooid</a:t>
            </a:r>
            <a:r>
              <a:rPr lang="en-US" sz="1600" dirty="0">
                <a:solidFill>
                  <a:schemeClr val="bg1"/>
                </a:solidFill>
              </a:rPr>
              <a:t> (v.) = l’action est </a:t>
            </a:r>
            <a:r>
              <a:rPr lang="en-US" sz="1600" b="1" dirty="0">
                <a:solidFill>
                  <a:schemeClr val="bg1"/>
                </a:solidFill>
              </a:rPr>
              <a:t>terminée</a:t>
            </a:r>
            <a:r>
              <a:rPr lang="en-US" sz="1600" dirty="0">
                <a:solidFill>
                  <a:schemeClr val="bg1"/>
                </a:solidFill>
              </a:rPr>
              <a:t> à ce moment · </a:t>
            </a:r>
            <a:r>
              <a:rPr lang="en-US" sz="1600" b="1" dirty="0">
                <a:solidFill>
                  <a:schemeClr val="bg1"/>
                </a:solidFill>
              </a:rPr>
              <a:t>onvoltooid</a:t>
            </a:r>
            <a:r>
              <a:rPr lang="en-US" sz="1600" dirty="0">
                <a:solidFill>
                  <a:schemeClr val="bg1"/>
                </a:solidFill>
              </a:rPr>
              <a:t> (o.) = elle est en cours ou à venir</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Huit temps = deux lignes × quatre cases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LE SCHÉMA</a:t>
            </a:r>
            <a:endParaRPr lang="en-US" sz="1200" dirty="0"/>
          </a:p>
        </p:txBody>
      </p:sp>
      <p:sp>
        <p:nvSpPr>
          <p:cNvPr id="5" name="Shape 2"/>
          <p:cNvSpPr/>
          <p:nvPr/>
        </p:nvSpPr>
        <p:spPr>
          <a:xfrm>
            <a:off x="2560320" y="1417320"/>
            <a:ext cx="2203704" cy="457200"/>
          </a:xfrm>
          <a:prstGeom prst="roundRect">
            <a:avLst>
              <a:gd name="adj" fmla="val 20000"/>
            </a:avLst>
          </a:prstGeom>
          <a:solidFill>
            <a:schemeClr val="tx2"/>
          </a:solidFill>
          <a:ln w="12700">
            <a:solidFill>
              <a:srgbClr val="FFFFFF">
                <a:alpha val="0"/>
              </a:srgbClr>
            </a:solidFill>
            <a:prstDash val="solid"/>
          </a:ln>
        </p:spPr>
      </p:sp>
      <p:sp>
        <p:nvSpPr>
          <p:cNvPr id="6" name="Text 3"/>
          <p:cNvSpPr txBox="1"/>
          <p:nvPr/>
        </p:nvSpPr>
        <p:spPr>
          <a:xfrm>
            <a:off x="2560320" y="1417320"/>
            <a:ext cx="2203704" cy="457200"/>
          </a:xfrm>
          <a:prstGeom prst="rect">
            <a:avLst/>
          </a:prstGeom>
          <a:noFill/>
          <a:ln/>
        </p:spPr>
        <p:txBody>
          <a:bodyPr wrap="square" lIns="0" tIns="0" rIns="0" bIns="0" rtlCol="0" anchor="ctr"/>
          <a:lstStyle/>
          <a:p>
            <a:pPr algn="ctr" indent="0" marL="0">
              <a:buNone/>
            </a:pPr>
            <a:r>
              <a:rPr lang="en-US" sz="1300" b="1" dirty="0">
                <a:solidFill>
                  <a:schemeClr val="bg1"/>
                </a:solidFill>
              </a:rPr>
              <a:t>AVANT · terminé</a:t>
            </a:r>
            <a:endParaRPr lang="en-US" sz="1300" dirty="0"/>
          </a:p>
        </p:txBody>
      </p:sp>
      <p:sp>
        <p:nvSpPr>
          <p:cNvPr id="7" name="Shape 4"/>
          <p:cNvSpPr/>
          <p:nvPr/>
        </p:nvSpPr>
        <p:spPr>
          <a:xfrm>
            <a:off x="4855464" y="1417320"/>
            <a:ext cx="2203704" cy="457200"/>
          </a:xfrm>
          <a:prstGeom prst="roundRect">
            <a:avLst>
              <a:gd name="adj" fmla="val 20000"/>
            </a:avLst>
          </a:prstGeom>
          <a:solidFill>
            <a:schemeClr val="tx2"/>
          </a:solidFill>
          <a:ln w="12700">
            <a:solidFill>
              <a:srgbClr val="FFFFFF">
                <a:alpha val="0"/>
              </a:srgbClr>
            </a:solidFill>
            <a:prstDash val="solid"/>
          </a:ln>
        </p:spPr>
      </p:sp>
      <p:sp>
        <p:nvSpPr>
          <p:cNvPr id="8" name="Text 5"/>
          <p:cNvSpPr txBox="1"/>
          <p:nvPr/>
        </p:nvSpPr>
        <p:spPr>
          <a:xfrm>
            <a:off x="4855464" y="1417320"/>
            <a:ext cx="2203704" cy="457200"/>
          </a:xfrm>
          <a:prstGeom prst="rect">
            <a:avLst/>
          </a:prstGeom>
          <a:noFill/>
          <a:ln/>
        </p:spPr>
        <p:txBody>
          <a:bodyPr wrap="square" lIns="0" tIns="0" rIns="0" bIns="0" rtlCol="0" anchor="ctr"/>
          <a:lstStyle/>
          <a:p>
            <a:pPr algn="ctr" indent="0" marL="0">
              <a:buNone/>
            </a:pPr>
            <a:r>
              <a:rPr lang="en-US" sz="1300" b="1" dirty="0">
                <a:solidFill>
                  <a:schemeClr val="bg1"/>
                </a:solidFill>
              </a:rPr>
              <a:t>AU MOMENT</a:t>
            </a:r>
            <a:endParaRPr lang="en-US" sz="1300" dirty="0"/>
          </a:p>
        </p:txBody>
      </p:sp>
      <p:sp>
        <p:nvSpPr>
          <p:cNvPr id="9" name="Shape 6"/>
          <p:cNvSpPr/>
          <p:nvPr/>
        </p:nvSpPr>
        <p:spPr>
          <a:xfrm>
            <a:off x="7150608" y="1417320"/>
            <a:ext cx="2203704" cy="457200"/>
          </a:xfrm>
          <a:prstGeom prst="roundRect">
            <a:avLst>
              <a:gd name="adj" fmla="val 20000"/>
            </a:avLst>
          </a:prstGeom>
          <a:solidFill>
            <a:schemeClr val="tx2"/>
          </a:solidFill>
          <a:ln w="12700">
            <a:solidFill>
              <a:srgbClr val="FFFFFF">
                <a:alpha val="0"/>
              </a:srgbClr>
            </a:solidFill>
            <a:prstDash val="solid"/>
          </a:ln>
        </p:spPr>
      </p:sp>
      <p:sp>
        <p:nvSpPr>
          <p:cNvPr id="10" name="Text 7"/>
          <p:cNvSpPr txBox="1"/>
          <p:nvPr/>
        </p:nvSpPr>
        <p:spPr>
          <a:xfrm>
            <a:off x="7150608" y="1417320"/>
            <a:ext cx="2203704" cy="457200"/>
          </a:xfrm>
          <a:prstGeom prst="rect">
            <a:avLst/>
          </a:prstGeom>
          <a:noFill/>
          <a:ln/>
        </p:spPr>
        <p:txBody>
          <a:bodyPr wrap="square" lIns="0" tIns="0" rIns="0" bIns="0" rtlCol="0" anchor="ctr"/>
          <a:lstStyle/>
          <a:p>
            <a:pPr algn="ctr" indent="0" marL="0">
              <a:buNone/>
            </a:pPr>
            <a:r>
              <a:rPr lang="en-US" sz="1300" b="1" dirty="0">
                <a:solidFill>
                  <a:schemeClr val="bg1"/>
                </a:solidFill>
              </a:rPr>
              <a:t>APRÈS</a:t>
            </a:r>
            <a:endParaRPr lang="en-US" sz="1300" dirty="0"/>
          </a:p>
        </p:txBody>
      </p:sp>
      <p:sp>
        <p:nvSpPr>
          <p:cNvPr id="11" name="Shape 8"/>
          <p:cNvSpPr/>
          <p:nvPr/>
        </p:nvSpPr>
        <p:spPr>
          <a:xfrm>
            <a:off x="9445752" y="1417320"/>
            <a:ext cx="2203704" cy="457200"/>
          </a:xfrm>
          <a:prstGeom prst="roundRect">
            <a:avLst>
              <a:gd name="adj" fmla="val 20000"/>
            </a:avLst>
          </a:prstGeom>
          <a:solidFill>
            <a:schemeClr val="tx2"/>
          </a:solidFill>
          <a:ln w="12700">
            <a:solidFill>
              <a:srgbClr val="FFFFFF">
                <a:alpha val="0"/>
              </a:srgbClr>
            </a:solidFill>
            <a:prstDash val="solid"/>
          </a:ln>
        </p:spPr>
      </p:sp>
      <p:sp>
        <p:nvSpPr>
          <p:cNvPr id="12" name="Text 9"/>
          <p:cNvSpPr txBox="1"/>
          <p:nvPr/>
        </p:nvSpPr>
        <p:spPr>
          <a:xfrm>
            <a:off x="9445752" y="1417320"/>
            <a:ext cx="2203704" cy="457200"/>
          </a:xfrm>
          <a:prstGeom prst="rect">
            <a:avLst/>
          </a:prstGeom>
          <a:noFill/>
          <a:ln/>
        </p:spPr>
        <p:txBody>
          <a:bodyPr wrap="square" lIns="0" tIns="0" rIns="0" bIns="0" rtlCol="0" anchor="ctr"/>
          <a:lstStyle/>
          <a:p>
            <a:pPr algn="ctr" indent="0" marL="0">
              <a:buNone/>
            </a:pPr>
            <a:r>
              <a:rPr lang="en-US" sz="1300" b="1" dirty="0">
                <a:solidFill>
                  <a:schemeClr val="bg1"/>
                </a:solidFill>
              </a:rPr>
              <a:t>APRÈS · terminé</a:t>
            </a:r>
            <a:endParaRPr lang="en-US" sz="1300" dirty="0"/>
          </a:p>
        </p:txBody>
      </p:sp>
      <p:sp>
        <p:nvSpPr>
          <p:cNvPr id="13" name="Shape 10"/>
          <p:cNvSpPr/>
          <p:nvPr/>
        </p:nvSpPr>
        <p:spPr>
          <a:xfrm>
            <a:off x="548640" y="1965960"/>
            <a:ext cx="1874520" cy="1371600"/>
          </a:xfrm>
          <a:prstGeom prst="roundRect">
            <a:avLst>
              <a:gd name="adj" fmla="val 8000"/>
            </a:avLst>
          </a:prstGeom>
          <a:solidFill>
            <a:srgbClr val="EAF2FB"/>
          </a:solidFill>
          <a:ln w="19050">
            <a:solidFill>
              <a:srgbClr val="2A6FB0"/>
            </a:solidFill>
            <a:prstDash val="solid"/>
          </a:ln>
        </p:spPr>
      </p:sp>
      <p:pic>
        <p:nvPicPr>
          <p:cNvPr id="14" name="Image 0" descr="round pushpin">    </p:cNvPr>
          <p:cNvPicPr>
            <a:picLocks noChangeAspect="1"/>
          </p:cNvPicPr>
          <p:nvPr/>
        </p:nvPicPr>
        <p:blipFill>
          <a:blip r:embed="rId1"/>
          <a:stretch>
            <a:fillRect/>
          </a:stretch>
        </p:blipFill>
        <p:spPr>
          <a:xfrm>
            <a:off x="658368" y="2075688"/>
            <a:ext cx="548640" cy="548640"/>
          </a:xfrm>
          <a:prstGeom prst="rect">
            <a:avLst/>
          </a:prstGeom>
        </p:spPr>
      </p:pic>
      <p:sp>
        <p:nvSpPr>
          <p:cNvPr id="15" name="Text 11"/>
          <p:cNvSpPr txBox="1"/>
          <p:nvPr/>
        </p:nvSpPr>
        <p:spPr>
          <a:xfrm>
            <a:off x="1234440" y="2075688"/>
            <a:ext cx="1143000" cy="548640"/>
          </a:xfrm>
          <a:prstGeom prst="rect">
            <a:avLst/>
          </a:prstGeom>
          <a:noFill/>
          <a:ln/>
        </p:spPr>
        <p:txBody>
          <a:bodyPr wrap="square" lIns="0" tIns="0" rIns="0" bIns="0" rtlCol="0" anchor="ctr"/>
          <a:lstStyle/>
          <a:p>
            <a:pPr algn="l" indent="0" marL="0">
              <a:buNone/>
            </a:pPr>
            <a:r>
              <a:rPr lang="en-US" sz="2000" b="1" dirty="0">
                <a:solidFill>
                  <a:schemeClr val="accent2"/>
                </a:solidFill>
              </a:rPr>
              <a:t>NU</a:t>
            </a:r>
            <a:endParaRPr lang="en-US" sz="2000" dirty="0"/>
          </a:p>
        </p:txBody>
      </p:sp>
      <p:sp>
        <p:nvSpPr>
          <p:cNvPr id="16" name="Text 12"/>
          <p:cNvSpPr txBox="1"/>
          <p:nvPr/>
        </p:nvSpPr>
        <p:spPr>
          <a:xfrm>
            <a:off x="640080" y="2679192"/>
            <a:ext cx="1737360" cy="594360"/>
          </a:xfrm>
          <a:prstGeom prst="rect">
            <a:avLst/>
          </a:prstGeom>
          <a:noFill/>
          <a:ln/>
        </p:spPr>
        <p:txBody>
          <a:bodyPr wrap="square" lIns="0" tIns="0" rIns="0" bIns="0" rtlCol="0" anchor="ctr"/>
          <a:lstStyle/>
          <a:p>
            <a:pPr algn="l" indent="0" marL="0">
              <a:buNone/>
            </a:pPr>
            <a:r>
              <a:rPr lang="en-US" sz="1200" i="1" dirty="0">
                <a:solidFill>
                  <a:schemeClr val="tx2"/>
                </a:solidFill>
              </a:rPr>
              <a:t>point de vue : maintenant</a:t>
            </a:r>
            <a:endParaRPr lang="en-US" sz="1200" dirty="0"/>
          </a:p>
        </p:txBody>
      </p:sp>
      <p:sp>
        <p:nvSpPr>
          <p:cNvPr id="17" name="Shape 13"/>
          <p:cNvSpPr/>
          <p:nvPr/>
        </p:nvSpPr>
        <p:spPr>
          <a:xfrm>
            <a:off x="2560320" y="1965960"/>
            <a:ext cx="2203704" cy="1371600"/>
          </a:xfrm>
          <a:prstGeom prst="roundRect">
            <a:avLst>
              <a:gd name="adj" fmla="val 8000"/>
            </a:avLst>
          </a:prstGeom>
          <a:solidFill>
            <a:srgbClr val="FBEAF2"/>
          </a:solidFill>
          <a:ln w="22225">
            <a:solidFill>
              <a:srgbClr val="B4236A"/>
            </a:solidFill>
            <a:prstDash val="solid"/>
          </a:ln>
        </p:spPr>
      </p:sp>
      <p:sp>
        <p:nvSpPr>
          <p:cNvPr id="18" name="Text 14"/>
          <p:cNvSpPr txBox="1"/>
          <p:nvPr/>
        </p:nvSpPr>
        <p:spPr>
          <a:xfrm>
            <a:off x="2651760" y="2011680"/>
            <a:ext cx="2020824" cy="274320"/>
          </a:xfrm>
          <a:prstGeom prst="rect">
            <a:avLst/>
          </a:prstGeom>
          <a:noFill/>
          <a:ln/>
        </p:spPr>
        <p:txBody>
          <a:bodyPr wrap="square" lIns="0" tIns="0" rIns="0" bIns="0" rtlCol="0" anchor="t"/>
          <a:lstStyle/>
          <a:p>
            <a:pPr algn="l" indent="0" marL="0">
              <a:buNone/>
            </a:pPr>
            <a:r>
              <a:rPr lang="en-US" sz="1100" b="1" dirty="0">
                <a:solidFill>
                  <a:schemeClr val="accent4"/>
                </a:solidFill>
              </a:rPr>
              <a:t>v.t.t.</a:t>
            </a:r>
            <a:endParaRPr lang="en-US" sz="1100" dirty="0"/>
          </a:p>
        </p:txBody>
      </p:sp>
      <p:sp>
        <p:nvSpPr>
          <p:cNvPr id="19" name="Text 15"/>
          <p:cNvSpPr txBox="1"/>
          <p:nvPr/>
        </p:nvSpPr>
        <p:spPr>
          <a:xfrm>
            <a:off x="2651760" y="2240280"/>
            <a:ext cx="2020824" cy="329184"/>
          </a:xfrm>
          <a:prstGeom prst="rect">
            <a:avLst/>
          </a:prstGeom>
          <a:noFill/>
          <a:ln/>
        </p:spPr>
        <p:txBody>
          <a:bodyPr wrap="square" lIns="0" tIns="0" rIns="0" bIns="0" rtlCol="0" anchor="ctr"/>
          <a:lstStyle/>
          <a:p>
            <a:pPr algn="l" indent="0" marL="0">
              <a:buNone/>
            </a:pPr>
            <a:r>
              <a:rPr lang="en-US" sz="1400" b="1" dirty="0">
                <a:solidFill>
                  <a:schemeClr val="accent4"/>
                </a:solidFill>
              </a:rPr>
              <a:t>perfectum</a:t>
            </a:r>
            <a:endParaRPr lang="en-US" sz="1400" dirty="0"/>
          </a:p>
        </p:txBody>
      </p:sp>
      <p:sp>
        <p:nvSpPr>
          <p:cNvPr id="20" name="Text 16"/>
          <p:cNvSpPr txBox="1"/>
          <p:nvPr/>
        </p:nvSpPr>
        <p:spPr>
          <a:xfrm>
            <a:off x="2651760" y="2587752"/>
            <a:ext cx="2020824" cy="384048"/>
          </a:xfrm>
          <a:prstGeom prst="rect">
            <a:avLst/>
          </a:prstGeom>
          <a:noFill/>
          <a:ln/>
        </p:spPr>
        <p:txBody>
          <a:bodyPr wrap="square" lIns="0" tIns="0" rIns="0" bIns="0" rtlCol="0" anchor="ctr"/>
          <a:lstStyle/>
          <a:p>
            <a:pPr algn="l" indent="0" marL="0">
              <a:buNone/>
            </a:pPr>
            <a:r>
              <a:rPr lang="en-US" sz="1500" b="1" i="1" dirty="0">
                <a:solidFill>
                  <a:schemeClr val="tx1"/>
                </a:solidFill>
              </a:rPr>
              <a:t>ik heb gewerkt</a:t>
            </a:r>
            <a:endParaRPr lang="en-US" sz="1500" dirty="0"/>
          </a:p>
        </p:txBody>
      </p:sp>
      <p:sp>
        <p:nvSpPr>
          <p:cNvPr id="21" name="Text 17"/>
          <p:cNvSpPr txBox="1"/>
          <p:nvPr/>
        </p:nvSpPr>
        <p:spPr>
          <a:xfrm>
            <a:off x="2651760" y="297180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passé composé</a:t>
            </a:r>
            <a:endParaRPr lang="en-US" sz="1200" dirty="0"/>
          </a:p>
        </p:txBody>
      </p:sp>
      <p:sp>
        <p:nvSpPr>
          <p:cNvPr id="22" name="Shape 18"/>
          <p:cNvSpPr/>
          <p:nvPr/>
        </p:nvSpPr>
        <p:spPr>
          <a:xfrm>
            <a:off x="4855464" y="1965960"/>
            <a:ext cx="2203704" cy="1371600"/>
          </a:xfrm>
          <a:prstGeom prst="roundRect">
            <a:avLst>
              <a:gd name="adj" fmla="val 8000"/>
            </a:avLst>
          </a:prstGeom>
          <a:solidFill>
            <a:srgbClr val="EAF2FB"/>
          </a:solidFill>
          <a:ln w="22225">
            <a:solidFill>
              <a:srgbClr val="2A6FB0"/>
            </a:solidFill>
            <a:prstDash val="solid"/>
          </a:ln>
        </p:spPr>
      </p:sp>
      <p:sp>
        <p:nvSpPr>
          <p:cNvPr id="23" name="Text 19"/>
          <p:cNvSpPr txBox="1"/>
          <p:nvPr/>
        </p:nvSpPr>
        <p:spPr>
          <a:xfrm>
            <a:off x="4946904" y="2011680"/>
            <a:ext cx="2020824" cy="274320"/>
          </a:xfrm>
          <a:prstGeom prst="rect">
            <a:avLst/>
          </a:prstGeom>
          <a:noFill/>
          <a:ln/>
        </p:spPr>
        <p:txBody>
          <a:bodyPr wrap="square" lIns="0" tIns="0" rIns="0" bIns="0" rtlCol="0" anchor="t"/>
          <a:lstStyle/>
          <a:p>
            <a:pPr algn="l" indent="0" marL="0">
              <a:buNone/>
            </a:pPr>
            <a:r>
              <a:rPr lang="en-US" sz="1100" b="1" dirty="0">
                <a:solidFill>
                  <a:schemeClr val="accent2"/>
                </a:solidFill>
              </a:rPr>
              <a:t>o.t.t.</a:t>
            </a:r>
            <a:endParaRPr lang="en-US" sz="1100" dirty="0"/>
          </a:p>
        </p:txBody>
      </p:sp>
      <p:sp>
        <p:nvSpPr>
          <p:cNvPr id="24" name="Text 20"/>
          <p:cNvSpPr txBox="1"/>
          <p:nvPr/>
        </p:nvSpPr>
        <p:spPr>
          <a:xfrm>
            <a:off x="4946904" y="2240280"/>
            <a:ext cx="2020824" cy="329184"/>
          </a:xfrm>
          <a:prstGeom prst="rect">
            <a:avLst/>
          </a:prstGeom>
          <a:noFill/>
          <a:ln/>
        </p:spPr>
        <p:txBody>
          <a:bodyPr wrap="square" lIns="0" tIns="0" rIns="0" bIns="0" rtlCol="0" anchor="ctr"/>
          <a:lstStyle/>
          <a:p>
            <a:pPr algn="l" indent="0" marL="0">
              <a:buNone/>
            </a:pPr>
            <a:r>
              <a:rPr lang="en-US" sz="1400" b="1" dirty="0">
                <a:solidFill>
                  <a:schemeClr val="accent2"/>
                </a:solidFill>
              </a:rPr>
              <a:t>presens</a:t>
            </a:r>
            <a:endParaRPr lang="en-US" sz="1400" dirty="0"/>
          </a:p>
        </p:txBody>
      </p:sp>
      <p:sp>
        <p:nvSpPr>
          <p:cNvPr id="25" name="Text 21"/>
          <p:cNvSpPr txBox="1"/>
          <p:nvPr/>
        </p:nvSpPr>
        <p:spPr>
          <a:xfrm>
            <a:off x="4946904" y="2587752"/>
            <a:ext cx="2020824" cy="384048"/>
          </a:xfrm>
          <a:prstGeom prst="rect">
            <a:avLst/>
          </a:prstGeom>
          <a:noFill/>
          <a:ln/>
        </p:spPr>
        <p:txBody>
          <a:bodyPr wrap="square" lIns="0" tIns="0" rIns="0" bIns="0" rtlCol="0" anchor="ctr"/>
          <a:lstStyle/>
          <a:p>
            <a:pPr algn="l" indent="0" marL="0">
              <a:buNone/>
            </a:pPr>
            <a:r>
              <a:rPr lang="en-US" sz="1500" b="1" i="1" dirty="0">
                <a:solidFill>
                  <a:schemeClr val="tx1"/>
                </a:solidFill>
              </a:rPr>
              <a:t>ik werk</a:t>
            </a:r>
            <a:endParaRPr lang="en-US" sz="1500" dirty="0"/>
          </a:p>
        </p:txBody>
      </p:sp>
      <p:sp>
        <p:nvSpPr>
          <p:cNvPr id="26" name="Text 22"/>
          <p:cNvSpPr txBox="1"/>
          <p:nvPr/>
        </p:nvSpPr>
        <p:spPr>
          <a:xfrm>
            <a:off x="4946904" y="297180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présent</a:t>
            </a:r>
            <a:endParaRPr lang="en-US" sz="1200" dirty="0"/>
          </a:p>
        </p:txBody>
      </p:sp>
      <p:sp>
        <p:nvSpPr>
          <p:cNvPr id="27" name="Shape 23"/>
          <p:cNvSpPr/>
          <p:nvPr/>
        </p:nvSpPr>
        <p:spPr>
          <a:xfrm>
            <a:off x="7150608" y="1965960"/>
            <a:ext cx="2203704" cy="1371600"/>
          </a:xfrm>
          <a:prstGeom prst="roundRect">
            <a:avLst>
              <a:gd name="adj" fmla="val 8000"/>
            </a:avLst>
          </a:prstGeom>
          <a:solidFill>
            <a:srgbClr val="E8F4EC"/>
          </a:solidFill>
          <a:ln w="22225">
            <a:solidFill>
              <a:srgbClr val="2E7D4F"/>
            </a:solidFill>
            <a:prstDash val="solid"/>
          </a:ln>
        </p:spPr>
      </p:sp>
      <p:sp>
        <p:nvSpPr>
          <p:cNvPr id="28" name="Text 24"/>
          <p:cNvSpPr txBox="1"/>
          <p:nvPr/>
        </p:nvSpPr>
        <p:spPr>
          <a:xfrm>
            <a:off x="7242048" y="2011680"/>
            <a:ext cx="2020824" cy="274320"/>
          </a:xfrm>
          <a:prstGeom prst="rect">
            <a:avLst/>
          </a:prstGeom>
          <a:noFill/>
          <a:ln/>
        </p:spPr>
        <p:txBody>
          <a:bodyPr wrap="square" lIns="0" tIns="0" rIns="0" bIns="0" rtlCol="0" anchor="t"/>
          <a:lstStyle/>
          <a:p>
            <a:pPr algn="l" indent="0" marL="0">
              <a:buNone/>
            </a:pPr>
            <a:r>
              <a:rPr lang="en-US" sz="1100" b="1" dirty="0">
                <a:solidFill>
                  <a:schemeClr val="accent3"/>
                </a:solidFill>
              </a:rPr>
              <a:t>o.t.t.t.</a:t>
            </a:r>
            <a:endParaRPr lang="en-US" sz="1100" dirty="0"/>
          </a:p>
        </p:txBody>
      </p:sp>
      <p:sp>
        <p:nvSpPr>
          <p:cNvPr id="29" name="Text 25"/>
          <p:cNvSpPr txBox="1"/>
          <p:nvPr/>
        </p:nvSpPr>
        <p:spPr>
          <a:xfrm>
            <a:off x="7242048" y="2240280"/>
            <a:ext cx="2020824" cy="329184"/>
          </a:xfrm>
          <a:prstGeom prst="rect">
            <a:avLst/>
          </a:prstGeom>
          <a:noFill/>
          <a:ln/>
        </p:spPr>
        <p:txBody>
          <a:bodyPr wrap="square" lIns="0" tIns="0" rIns="0" bIns="0" rtlCol="0" anchor="ctr"/>
          <a:lstStyle/>
          <a:p>
            <a:pPr algn="l" indent="0" marL="0">
              <a:buNone/>
            </a:pPr>
            <a:r>
              <a:rPr lang="en-US" sz="1400" b="1" dirty="0">
                <a:solidFill>
                  <a:schemeClr val="accent3"/>
                </a:solidFill>
              </a:rPr>
              <a:t>futurum</a:t>
            </a:r>
            <a:endParaRPr lang="en-US" sz="1400" dirty="0"/>
          </a:p>
        </p:txBody>
      </p:sp>
      <p:sp>
        <p:nvSpPr>
          <p:cNvPr id="30" name="Text 26"/>
          <p:cNvSpPr txBox="1"/>
          <p:nvPr/>
        </p:nvSpPr>
        <p:spPr>
          <a:xfrm>
            <a:off x="7242048" y="2587752"/>
            <a:ext cx="2020824" cy="384048"/>
          </a:xfrm>
          <a:prstGeom prst="rect">
            <a:avLst/>
          </a:prstGeom>
          <a:noFill/>
          <a:ln/>
        </p:spPr>
        <p:txBody>
          <a:bodyPr wrap="square" lIns="0" tIns="0" rIns="0" bIns="0" rtlCol="0" anchor="ctr"/>
          <a:lstStyle/>
          <a:p>
            <a:pPr algn="l" indent="0" marL="0">
              <a:buNone/>
            </a:pPr>
            <a:r>
              <a:rPr lang="en-US" sz="1500" b="1" i="1" dirty="0">
                <a:solidFill>
                  <a:schemeClr val="tx1"/>
                </a:solidFill>
              </a:rPr>
              <a:t>ik zal werken</a:t>
            </a:r>
            <a:endParaRPr lang="en-US" sz="1500" dirty="0"/>
          </a:p>
        </p:txBody>
      </p:sp>
      <p:sp>
        <p:nvSpPr>
          <p:cNvPr id="31" name="Text 27"/>
          <p:cNvSpPr txBox="1"/>
          <p:nvPr/>
        </p:nvSpPr>
        <p:spPr>
          <a:xfrm>
            <a:off x="7242048" y="297180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futur</a:t>
            </a:r>
            <a:endParaRPr lang="en-US" sz="1200" dirty="0"/>
          </a:p>
        </p:txBody>
      </p:sp>
      <p:sp>
        <p:nvSpPr>
          <p:cNvPr id="32" name="Shape 28"/>
          <p:cNvSpPr/>
          <p:nvPr/>
        </p:nvSpPr>
        <p:spPr>
          <a:xfrm>
            <a:off x="9445752" y="1965960"/>
            <a:ext cx="2203704" cy="1371600"/>
          </a:xfrm>
          <a:prstGeom prst="roundRect">
            <a:avLst>
              <a:gd name="adj" fmla="val 8000"/>
            </a:avLst>
          </a:prstGeom>
          <a:solidFill>
            <a:srgbClr val="E3EFE7"/>
          </a:solidFill>
          <a:ln w="22225">
            <a:solidFill>
              <a:srgbClr val="1B5734"/>
            </a:solidFill>
            <a:prstDash val="solid"/>
          </a:ln>
        </p:spPr>
      </p:sp>
      <p:sp>
        <p:nvSpPr>
          <p:cNvPr id="33" name="Text 29"/>
          <p:cNvSpPr txBox="1"/>
          <p:nvPr/>
        </p:nvSpPr>
        <p:spPr>
          <a:xfrm>
            <a:off x="9537192" y="2011680"/>
            <a:ext cx="2020824" cy="274320"/>
          </a:xfrm>
          <a:prstGeom prst="rect">
            <a:avLst/>
          </a:prstGeom>
          <a:noFill/>
          <a:ln/>
        </p:spPr>
        <p:txBody>
          <a:bodyPr wrap="square" lIns="0" tIns="0" rIns="0" bIns="0" rtlCol="0" anchor="t"/>
          <a:lstStyle/>
          <a:p>
            <a:pPr algn="l" indent="0" marL="0">
              <a:buNone/>
            </a:pPr>
            <a:r>
              <a:rPr lang="en-US" sz="1100" b="1" dirty="0">
                <a:solidFill>
                  <a:srgbClr val="1B5734"/>
                </a:solidFill>
              </a:rPr>
              <a:t>v.t.t.t.</a:t>
            </a:r>
            <a:endParaRPr lang="en-US" sz="1100" dirty="0"/>
          </a:p>
        </p:txBody>
      </p:sp>
      <p:sp>
        <p:nvSpPr>
          <p:cNvPr id="34" name="Text 30"/>
          <p:cNvSpPr txBox="1"/>
          <p:nvPr/>
        </p:nvSpPr>
        <p:spPr>
          <a:xfrm>
            <a:off x="9537192" y="2240280"/>
            <a:ext cx="2020824" cy="329184"/>
          </a:xfrm>
          <a:prstGeom prst="rect">
            <a:avLst/>
          </a:prstGeom>
          <a:noFill/>
          <a:ln/>
        </p:spPr>
        <p:txBody>
          <a:bodyPr wrap="square" lIns="0" tIns="0" rIns="0" bIns="0" rtlCol="0" anchor="ctr"/>
          <a:lstStyle/>
          <a:p>
            <a:pPr algn="l" indent="0" marL="0">
              <a:buNone/>
            </a:pPr>
            <a:r>
              <a:rPr lang="en-US" sz="1400" b="1" dirty="0">
                <a:solidFill>
                  <a:srgbClr val="1B5734"/>
                </a:solidFill>
              </a:rPr>
              <a:t>futurum exactum</a:t>
            </a:r>
            <a:endParaRPr lang="en-US" sz="1400" dirty="0"/>
          </a:p>
        </p:txBody>
      </p:sp>
      <p:sp>
        <p:nvSpPr>
          <p:cNvPr id="35" name="Text 31"/>
          <p:cNvSpPr txBox="1"/>
          <p:nvPr/>
        </p:nvSpPr>
        <p:spPr>
          <a:xfrm>
            <a:off x="9537192" y="2587752"/>
            <a:ext cx="2020824" cy="384048"/>
          </a:xfrm>
          <a:prstGeom prst="rect">
            <a:avLst/>
          </a:prstGeom>
          <a:noFill/>
          <a:ln/>
        </p:spPr>
        <p:txBody>
          <a:bodyPr wrap="square" lIns="0" tIns="0" rIns="0" bIns="0" rtlCol="0" anchor="ctr"/>
          <a:lstStyle/>
          <a:p>
            <a:pPr algn="l" indent="0" marL="0">
              <a:buNone/>
            </a:pPr>
            <a:r>
              <a:rPr lang="en-US" sz="1300" b="1" i="1" dirty="0">
                <a:solidFill>
                  <a:schemeClr val="tx1"/>
                </a:solidFill>
              </a:rPr>
              <a:t>ik zal gewerkt hebben</a:t>
            </a:r>
            <a:endParaRPr lang="en-US" sz="1300" dirty="0"/>
          </a:p>
        </p:txBody>
      </p:sp>
      <p:sp>
        <p:nvSpPr>
          <p:cNvPr id="36" name="Text 32"/>
          <p:cNvSpPr txBox="1"/>
          <p:nvPr/>
        </p:nvSpPr>
        <p:spPr>
          <a:xfrm>
            <a:off x="9537192" y="297180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futur antérieur</a:t>
            </a:r>
            <a:endParaRPr lang="en-US" sz="1200" dirty="0"/>
          </a:p>
        </p:txBody>
      </p:sp>
      <p:sp>
        <p:nvSpPr>
          <p:cNvPr id="37" name="Shape 33"/>
          <p:cNvSpPr/>
          <p:nvPr/>
        </p:nvSpPr>
        <p:spPr>
          <a:xfrm>
            <a:off x="548640" y="3931920"/>
            <a:ext cx="1874520" cy="1371600"/>
          </a:xfrm>
          <a:prstGeom prst="roundRect">
            <a:avLst>
              <a:gd name="adj" fmla="val 8000"/>
            </a:avLst>
          </a:prstGeom>
          <a:solidFill>
            <a:srgbClr val="FBEAF2"/>
          </a:solidFill>
          <a:ln w="19050">
            <a:solidFill>
              <a:srgbClr val="B4236A"/>
            </a:solidFill>
            <a:prstDash val="solid"/>
          </a:ln>
        </p:spPr>
      </p:sp>
      <p:pic>
        <p:nvPicPr>
          <p:cNvPr id="38" name="Image 1" descr="hourglass done">    </p:cNvPr>
          <p:cNvPicPr>
            <a:picLocks noChangeAspect="1"/>
          </p:cNvPicPr>
          <p:nvPr/>
        </p:nvPicPr>
        <p:blipFill>
          <a:blip r:embed="rId2"/>
          <a:stretch>
            <a:fillRect/>
          </a:stretch>
        </p:blipFill>
        <p:spPr>
          <a:xfrm>
            <a:off x="658368" y="4041648"/>
            <a:ext cx="548640" cy="548640"/>
          </a:xfrm>
          <a:prstGeom prst="rect">
            <a:avLst/>
          </a:prstGeom>
        </p:spPr>
      </p:pic>
      <p:sp>
        <p:nvSpPr>
          <p:cNvPr id="39" name="Text 34"/>
          <p:cNvSpPr txBox="1"/>
          <p:nvPr/>
        </p:nvSpPr>
        <p:spPr>
          <a:xfrm>
            <a:off x="1234440" y="4041648"/>
            <a:ext cx="1143000" cy="548640"/>
          </a:xfrm>
          <a:prstGeom prst="rect">
            <a:avLst/>
          </a:prstGeom>
          <a:noFill/>
          <a:ln/>
        </p:spPr>
        <p:txBody>
          <a:bodyPr wrap="square" lIns="0" tIns="0" rIns="0" bIns="0" rtlCol="0" anchor="ctr"/>
          <a:lstStyle/>
          <a:p>
            <a:pPr algn="l" indent="0" marL="0">
              <a:buNone/>
            </a:pPr>
            <a:r>
              <a:rPr lang="en-US" sz="2000" b="1" dirty="0">
                <a:solidFill>
                  <a:schemeClr val="accent4"/>
                </a:solidFill>
              </a:rPr>
              <a:t>TOEN</a:t>
            </a:r>
            <a:endParaRPr lang="en-US" sz="2000" dirty="0"/>
          </a:p>
        </p:txBody>
      </p:sp>
      <p:sp>
        <p:nvSpPr>
          <p:cNvPr id="40" name="Text 35"/>
          <p:cNvSpPr txBox="1"/>
          <p:nvPr/>
        </p:nvSpPr>
        <p:spPr>
          <a:xfrm>
            <a:off x="640080" y="4645152"/>
            <a:ext cx="1737360" cy="594360"/>
          </a:xfrm>
          <a:prstGeom prst="rect">
            <a:avLst/>
          </a:prstGeom>
          <a:noFill/>
          <a:ln/>
        </p:spPr>
        <p:txBody>
          <a:bodyPr wrap="square" lIns="0" tIns="0" rIns="0" bIns="0" rtlCol="0" anchor="ctr"/>
          <a:lstStyle/>
          <a:p>
            <a:pPr algn="l" indent="0" marL="0">
              <a:buNone/>
            </a:pPr>
            <a:r>
              <a:rPr lang="en-US" sz="1200" i="1" dirty="0">
                <a:solidFill>
                  <a:schemeClr val="tx2"/>
                </a:solidFill>
              </a:rPr>
              <a:t>point de vue : un moment passé</a:t>
            </a:r>
            <a:endParaRPr lang="en-US" sz="1200" dirty="0"/>
          </a:p>
        </p:txBody>
      </p:sp>
      <p:sp>
        <p:nvSpPr>
          <p:cNvPr id="41" name="Shape 36"/>
          <p:cNvSpPr/>
          <p:nvPr/>
        </p:nvSpPr>
        <p:spPr>
          <a:xfrm>
            <a:off x="2560320" y="3931920"/>
            <a:ext cx="2203704" cy="1371600"/>
          </a:xfrm>
          <a:prstGeom prst="roundRect">
            <a:avLst>
              <a:gd name="adj" fmla="val 8000"/>
            </a:avLst>
          </a:prstGeom>
          <a:solidFill>
            <a:srgbClr val="F5E6EE"/>
          </a:solidFill>
          <a:ln w="22225">
            <a:solidFill>
              <a:srgbClr val="7A1748"/>
            </a:solidFill>
            <a:prstDash val="solid"/>
          </a:ln>
        </p:spPr>
      </p:sp>
      <p:sp>
        <p:nvSpPr>
          <p:cNvPr id="42" name="Text 37"/>
          <p:cNvSpPr txBox="1"/>
          <p:nvPr/>
        </p:nvSpPr>
        <p:spPr>
          <a:xfrm>
            <a:off x="2651760" y="3977640"/>
            <a:ext cx="2020824" cy="274320"/>
          </a:xfrm>
          <a:prstGeom prst="rect">
            <a:avLst/>
          </a:prstGeom>
          <a:noFill/>
          <a:ln/>
        </p:spPr>
        <p:txBody>
          <a:bodyPr wrap="square" lIns="0" tIns="0" rIns="0" bIns="0" rtlCol="0" anchor="t"/>
          <a:lstStyle/>
          <a:p>
            <a:pPr algn="l" indent="0" marL="0">
              <a:buNone/>
            </a:pPr>
            <a:r>
              <a:rPr lang="en-US" sz="1100" b="1" dirty="0">
                <a:solidFill>
                  <a:srgbClr val="7A1748"/>
                </a:solidFill>
              </a:rPr>
              <a:t>v.v.t.</a:t>
            </a:r>
            <a:endParaRPr lang="en-US" sz="1100" dirty="0"/>
          </a:p>
        </p:txBody>
      </p:sp>
      <p:sp>
        <p:nvSpPr>
          <p:cNvPr id="43" name="Text 38"/>
          <p:cNvSpPr txBox="1"/>
          <p:nvPr/>
        </p:nvSpPr>
        <p:spPr>
          <a:xfrm>
            <a:off x="2651760" y="4206240"/>
            <a:ext cx="2020824" cy="329184"/>
          </a:xfrm>
          <a:prstGeom prst="rect">
            <a:avLst/>
          </a:prstGeom>
          <a:noFill/>
          <a:ln/>
        </p:spPr>
        <p:txBody>
          <a:bodyPr wrap="square" lIns="0" tIns="0" rIns="0" bIns="0" rtlCol="0" anchor="ctr"/>
          <a:lstStyle/>
          <a:p>
            <a:pPr algn="l" indent="0" marL="0">
              <a:buNone/>
            </a:pPr>
            <a:r>
              <a:rPr lang="en-US" sz="1200" b="1" dirty="0">
                <a:solidFill>
                  <a:srgbClr val="7A1748"/>
                </a:solidFill>
              </a:rPr>
              <a:t>plusquamperfectum</a:t>
            </a:r>
            <a:endParaRPr lang="en-US" sz="1200" dirty="0"/>
          </a:p>
        </p:txBody>
      </p:sp>
      <p:sp>
        <p:nvSpPr>
          <p:cNvPr id="44" name="Text 39"/>
          <p:cNvSpPr txBox="1"/>
          <p:nvPr/>
        </p:nvSpPr>
        <p:spPr>
          <a:xfrm>
            <a:off x="2651760" y="4553712"/>
            <a:ext cx="2020824" cy="384048"/>
          </a:xfrm>
          <a:prstGeom prst="rect">
            <a:avLst/>
          </a:prstGeom>
          <a:noFill/>
          <a:ln/>
        </p:spPr>
        <p:txBody>
          <a:bodyPr wrap="square" lIns="0" tIns="0" rIns="0" bIns="0" rtlCol="0" anchor="ctr"/>
          <a:lstStyle/>
          <a:p>
            <a:pPr algn="l" indent="0" marL="0">
              <a:buNone/>
            </a:pPr>
            <a:r>
              <a:rPr lang="en-US" sz="1500" b="1" i="1" dirty="0">
                <a:solidFill>
                  <a:schemeClr val="tx1"/>
                </a:solidFill>
              </a:rPr>
              <a:t>ik had gewerkt</a:t>
            </a:r>
            <a:endParaRPr lang="en-US" sz="1500" dirty="0"/>
          </a:p>
        </p:txBody>
      </p:sp>
      <p:sp>
        <p:nvSpPr>
          <p:cNvPr id="45" name="Text 40"/>
          <p:cNvSpPr txBox="1"/>
          <p:nvPr/>
        </p:nvSpPr>
        <p:spPr>
          <a:xfrm>
            <a:off x="2651760" y="493776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plus-que-parfait</a:t>
            </a:r>
            <a:endParaRPr lang="en-US" sz="1200" dirty="0"/>
          </a:p>
        </p:txBody>
      </p:sp>
      <p:sp>
        <p:nvSpPr>
          <p:cNvPr id="46" name="Shape 41"/>
          <p:cNvSpPr/>
          <p:nvPr/>
        </p:nvSpPr>
        <p:spPr>
          <a:xfrm>
            <a:off x="4855464" y="3931920"/>
            <a:ext cx="2203704" cy="1371600"/>
          </a:xfrm>
          <a:prstGeom prst="roundRect">
            <a:avLst>
              <a:gd name="adj" fmla="val 8000"/>
            </a:avLst>
          </a:prstGeom>
          <a:solidFill>
            <a:srgbClr val="FBEAF2"/>
          </a:solidFill>
          <a:ln w="22225">
            <a:solidFill>
              <a:srgbClr val="B4236A"/>
            </a:solidFill>
            <a:prstDash val="solid"/>
          </a:ln>
        </p:spPr>
      </p:sp>
      <p:sp>
        <p:nvSpPr>
          <p:cNvPr id="47" name="Text 42"/>
          <p:cNvSpPr txBox="1"/>
          <p:nvPr/>
        </p:nvSpPr>
        <p:spPr>
          <a:xfrm>
            <a:off x="4946904" y="3977640"/>
            <a:ext cx="2020824" cy="274320"/>
          </a:xfrm>
          <a:prstGeom prst="rect">
            <a:avLst/>
          </a:prstGeom>
          <a:noFill/>
          <a:ln/>
        </p:spPr>
        <p:txBody>
          <a:bodyPr wrap="square" lIns="0" tIns="0" rIns="0" bIns="0" rtlCol="0" anchor="t"/>
          <a:lstStyle/>
          <a:p>
            <a:pPr algn="l" indent="0" marL="0">
              <a:buNone/>
            </a:pPr>
            <a:r>
              <a:rPr lang="en-US" sz="1100" b="1" dirty="0">
                <a:solidFill>
                  <a:schemeClr val="accent4"/>
                </a:solidFill>
              </a:rPr>
              <a:t>o.v.t.</a:t>
            </a:r>
            <a:endParaRPr lang="en-US" sz="1100" dirty="0"/>
          </a:p>
        </p:txBody>
      </p:sp>
      <p:sp>
        <p:nvSpPr>
          <p:cNvPr id="48" name="Text 43"/>
          <p:cNvSpPr txBox="1"/>
          <p:nvPr/>
        </p:nvSpPr>
        <p:spPr>
          <a:xfrm>
            <a:off x="4946904" y="4206240"/>
            <a:ext cx="2020824" cy="329184"/>
          </a:xfrm>
          <a:prstGeom prst="rect">
            <a:avLst/>
          </a:prstGeom>
          <a:noFill/>
          <a:ln/>
        </p:spPr>
        <p:txBody>
          <a:bodyPr wrap="square" lIns="0" tIns="0" rIns="0" bIns="0" rtlCol="0" anchor="ctr"/>
          <a:lstStyle/>
          <a:p>
            <a:pPr algn="l" indent="0" marL="0">
              <a:buNone/>
            </a:pPr>
            <a:r>
              <a:rPr lang="en-US" sz="1400" b="1" dirty="0">
                <a:solidFill>
                  <a:schemeClr val="accent4"/>
                </a:solidFill>
              </a:rPr>
              <a:t>imperfectum</a:t>
            </a:r>
            <a:endParaRPr lang="en-US" sz="1400" dirty="0"/>
          </a:p>
        </p:txBody>
      </p:sp>
      <p:sp>
        <p:nvSpPr>
          <p:cNvPr id="49" name="Text 44"/>
          <p:cNvSpPr txBox="1"/>
          <p:nvPr/>
        </p:nvSpPr>
        <p:spPr>
          <a:xfrm>
            <a:off x="4946904" y="4553712"/>
            <a:ext cx="2020824" cy="384048"/>
          </a:xfrm>
          <a:prstGeom prst="rect">
            <a:avLst/>
          </a:prstGeom>
          <a:noFill/>
          <a:ln/>
        </p:spPr>
        <p:txBody>
          <a:bodyPr wrap="square" lIns="0" tIns="0" rIns="0" bIns="0" rtlCol="0" anchor="ctr"/>
          <a:lstStyle/>
          <a:p>
            <a:pPr algn="l" indent="0" marL="0">
              <a:buNone/>
            </a:pPr>
            <a:r>
              <a:rPr lang="en-US" sz="1500" b="1" i="1" dirty="0">
                <a:solidFill>
                  <a:schemeClr val="tx1"/>
                </a:solidFill>
              </a:rPr>
              <a:t>ik werkte</a:t>
            </a:r>
            <a:endParaRPr lang="en-US" sz="1500" dirty="0"/>
          </a:p>
        </p:txBody>
      </p:sp>
      <p:sp>
        <p:nvSpPr>
          <p:cNvPr id="50" name="Text 45"/>
          <p:cNvSpPr txBox="1"/>
          <p:nvPr/>
        </p:nvSpPr>
        <p:spPr>
          <a:xfrm>
            <a:off x="4946904" y="493776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imparfait</a:t>
            </a:r>
            <a:endParaRPr lang="en-US" sz="1200" dirty="0"/>
          </a:p>
        </p:txBody>
      </p:sp>
      <p:sp>
        <p:nvSpPr>
          <p:cNvPr id="51" name="Shape 46"/>
          <p:cNvSpPr/>
          <p:nvPr/>
        </p:nvSpPr>
        <p:spPr>
          <a:xfrm>
            <a:off x="7150608" y="3931920"/>
            <a:ext cx="2203704" cy="1371600"/>
          </a:xfrm>
          <a:prstGeom prst="roundRect">
            <a:avLst>
              <a:gd name="adj" fmla="val 8000"/>
            </a:avLst>
          </a:prstGeom>
          <a:solidFill>
            <a:srgbClr val="F1ECF7"/>
          </a:solidFill>
          <a:ln w="22225">
            <a:solidFill>
              <a:srgbClr val="6E4A9E"/>
            </a:solidFill>
            <a:prstDash val="solid"/>
          </a:ln>
        </p:spPr>
      </p:sp>
      <p:sp>
        <p:nvSpPr>
          <p:cNvPr id="52" name="Text 47"/>
          <p:cNvSpPr txBox="1"/>
          <p:nvPr/>
        </p:nvSpPr>
        <p:spPr>
          <a:xfrm>
            <a:off x="7242048" y="3977640"/>
            <a:ext cx="2020824" cy="274320"/>
          </a:xfrm>
          <a:prstGeom prst="rect">
            <a:avLst/>
          </a:prstGeom>
          <a:noFill/>
          <a:ln/>
        </p:spPr>
        <p:txBody>
          <a:bodyPr wrap="square" lIns="0" tIns="0" rIns="0" bIns="0" rtlCol="0" anchor="t"/>
          <a:lstStyle/>
          <a:p>
            <a:pPr algn="l" indent="0" marL="0">
              <a:buNone/>
            </a:pPr>
            <a:r>
              <a:rPr lang="en-US" sz="1100" b="1" dirty="0">
                <a:solidFill>
                  <a:srgbClr val="6E4A9E"/>
                </a:solidFill>
              </a:rPr>
              <a:t>o.v.t.t.</a:t>
            </a:r>
            <a:endParaRPr lang="en-US" sz="1100" dirty="0"/>
          </a:p>
        </p:txBody>
      </p:sp>
      <p:sp>
        <p:nvSpPr>
          <p:cNvPr id="53" name="Text 48"/>
          <p:cNvSpPr txBox="1"/>
          <p:nvPr/>
        </p:nvSpPr>
        <p:spPr>
          <a:xfrm>
            <a:off x="7242048" y="4206240"/>
            <a:ext cx="2020824" cy="329184"/>
          </a:xfrm>
          <a:prstGeom prst="rect">
            <a:avLst/>
          </a:prstGeom>
          <a:noFill/>
          <a:ln/>
        </p:spPr>
        <p:txBody>
          <a:bodyPr wrap="square" lIns="0" tIns="0" rIns="0" bIns="0" rtlCol="0" anchor="ctr"/>
          <a:lstStyle/>
          <a:p>
            <a:pPr algn="l" indent="0" marL="0">
              <a:buNone/>
            </a:pPr>
            <a:r>
              <a:rPr lang="en-US" sz="1400" b="1" dirty="0">
                <a:solidFill>
                  <a:srgbClr val="6E4A9E"/>
                </a:solidFill>
              </a:rPr>
              <a:t>conditionalis</a:t>
            </a:r>
            <a:endParaRPr lang="en-US" sz="1400" dirty="0"/>
          </a:p>
        </p:txBody>
      </p:sp>
      <p:sp>
        <p:nvSpPr>
          <p:cNvPr id="54" name="Text 49"/>
          <p:cNvSpPr txBox="1"/>
          <p:nvPr/>
        </p:nvSpPr>
        <p:spPr>
          <a:xfrm>
            <a:off x="7242048" y="4553712"/>
            <a:ext cx="2020824" cy="384048"/>
          </a:xfrm>
          <a:prstGeom prst="rect">
            <a:avLst/>
          </a:prstGeom>
          <a:noFill/>
          <a:ln/>
        </p:spPr>
        <p:txBody>
          <a:bodyPr wrap="square" lIns="0" tIns="0" rIns="0" bIns="0" rtlCol="0" anchor="ctr"/>
          <a:lstStyle/>
          <a:p>
            <a:pPr algn="l" indent="0" marL="0">
              <a:buNone/>
            </a:pPr>
            <a:r>
              <a:rPr lang="en-US" sz="1500" b="1" i="1" dirty="0">
                <a:solidFill>
                  <a:schemeClr val="tx1"/>
                </a:solidFill>
              </a:rPr>
              <a:t>ik zou werken</a:t>
            </a:r>
            <a:endParaRPr lang="en-US" sz="1500" dirty="0"/>
          </a:p>
        </p:txBody>
      </p:sp>
      <p:sp>
        <p:nvSpPr>
          <p:cNvPr id="55" name="Text 50"/>
          <p:cNvSpPr txBox="1"/>
          <p:nvPr/>
        </p:nvSpPr>
        <p:spPr>
          <a:xfrm>
            <a:off x="7242048" y="493776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conditionnel</a:t>
            </a:r>
            <a:endParaRPr lang="en-US" sz="1200" dirty="0"/>
          </a:p>
        </p:txBody>
      </p:sp>
      <p:sp>
        <p:nvSpPr>
          <p:cNvPr id="56" name="Shape 51"/>
          <p:cNvSpPr/>
          <p:nvPr/>
        </p:nvSpPr>
        <p:spPr>
          <a:xfrm>
            <a:off x="9445752" y="3931920"/>
            <a:ext cx="2203704" cy="1371600"/>
          </a:xfrm>
          <a:prstGeom prst="roundRect">
            <a:avLst>
              <a:gd name="adj" fmla="val 8000"/>
            </a:avLst>
          </a:prstGeom>
          <a:solidFill>
            <a:srgbClr val="ECE8F3"/>
          </a:solidFill>
          <a:ln w="22225">
            <a:solidFill>
              <a:srgbClr val="45306A"/>
            </a:solidFill>
            <a:prstDash val="solid"/>
          </a:ln>
        </p:spPr>
      </p:sp>
      <p:sp>
        <p:nvSpPr>
          <p:cNvPr id="57" name="Text 52"/>
          <p:cNvSpPr txBox="1"/>
          <p:nvPr/>
        </p:nvSpPr>
        <p:spPr>
          <a:xfrm>
            <a:off x="9537192" y="3977640"/>
            <a:ext cx="2020824" cy="274320"/>
          </a:xfrm>
          <a:prstGeom prst="rect">
            <a:avLst/>
          </a:prstGeom>
          <a:noFill/>
          <a:ln/>
        </p:spPr>
        <p:txBody>
          <a:bodyPr wrap="square" lIns="0" tIns="0" rIns="0" bIns="0" rtlCol="0" anchor="t"/>
          <a:lstStyle/>
          <a:p>
            <a:pPr algn="l" indent="0" marL="0">
              <a:buNone/>
            </a:pPr>
            <a:r>
              <a:rPr lang="en-US" sz="1100" b="1" dirty="0">
                <a:solidFill>
                  <a:srgbClr val="45306A"/>
                </a:solidFill>
              </a:rPr>
              <a:t>v.v.t.t.</a:t>
            </a:r>
            <a:endParaRPr lang="en-US" sz="1100" dirty="0"/>
          </a:p>
        </p:txBody>
      </p:sp>
      <p:sp>
        <p:nvSpPr>
          <p:cNvPr id="58" name="Text 53"/>
          <p:cNvSpPr txBox="1"/>
          <p:nvPr/>
        </p:nvSpPr>
        <p:spPr>
          <a:xfrm>
            <a:off x="9537192" y="4206240"/>
            <a:ext cx="2020824" cy="329184"/>
          </a:xfrm>
          <a:prstGeom prst="rect">
            <a:avLst/>
          </a:prstGeom>
          <a:noFill/>
          <a:ln/>
        </p:spPr>
        <p:txBody>
          <a:bodyPr wrap="square" lIns="0" tIns="0" rIns="0" bIns="0" rtlCol="0" anchor="ctr"/>
          <a:lstStyle/>
          <a:p>
            <a:pPr algn="l" indent="0" marL="0">
              <a:buNone/>
            </a:pPr>
            <a:r>
              <a:rPr lang="en-US" sz="1200" b="1" dirty="0">
                <a:solidFill>
                  <a:srgbClr val="45306A"/>
                </a:solidFill>
              </a:rPr>
              <a:t>conditionalis perfectum</a:t>
            </a:r>
            <a:endParaRPr lang="en-US" sz="1200" dirty="0"/>
          </a:p>
        </p:txBody>
      </p:sp>
      <p:sp>
        <p:nvSpPr>
          <p:cNvPr id="59" name="Text 54"/>
          <p:cNvSpPr txBox="1"/>
          <p:nvPr/>
        </p:nvSpPr>
        <p:spPr>
          <a:xfrm>
            <a:off x="9537192" y="4553712"/>
            <a:ext cx="2020824" cy="384048"/>
          </a:xfrm>
          <a:prstGeom prst="rect">
            <a:avLst/>
          </a:prstGeom>
          <a:noFill/>
          <a:ln/>
        </p:spPr>
        <p:txBody>
          <a:bodyPr wrap="square" lIns="0" tIns="0" rIns="0" bIns="0" rtlCol="0" anchor="ctr"/>
          <a:lstStyle/>
          <a:p>
            <a:pPr algn="l" indent="0" marL="0">
              <a:buNone/>
            </a:pPr>
            <a:r>
              <a:rPr lang="en-US" sz="1300" b="1" i="1" dirty="0">
                <a:solidFill>
                  <a:schemeClr val="tx1"/>
                </a:solidFill>
              </a:rPr>
              <a:t>ik zou gewerkt hebben</a:t>
            </a:r>
            <a:endParaRPr lang="en-US" sz="1300" dirty="0"/>
          </a:p>
        </p:txBody>
      </p:sp>
      <p:sp>
        <p:nvSpPr>
          <p:cNvPr id="60" name="Text 55"/>
          <p:cNvSpPr txBox="1"/>
          <p:nvPr/>
        </p:nvSpPr>
        <p:spPr>
          <a:xfrm>
            <a:off x="9537192" y="4937760"/>
            <a:ext cx="2020824" cy="292608"/>
          </a:xfrm>
          <a:prstGeom prst="rect">
            <a:avLst/>
          </a:prstGeom>
          <a:noFill/>
          <a:ln/>
        </p:spPr>
        <p:txBody>
          <a:bodyPr wrap="square" lIns="0" tIns="0" rIns="0" bIns="0" rtlCol="0" anchor="ctr"/>
          <a:lstStyle/>
          <a:p>
            <a:pPr algn="l" indent="0" marL="0">
              <a:buNone/>
            </a:pPr>
            <a:r>
              <a:rPr lang="en-US" sz="1200" i="1" dirty="0">
                <a:solidFill>
                  <a:schemeClr val="accent5"/>
                </a:solidFill>
              </a:rPr>
              <a:t>conditionnel passé</a:t>
            </a:r>
            <a:endParaRPr lang="en-US" sz="1200" dirty="0"/>
          </a:p>
        </p:txBody>
      </p:sp>
      <p:sp>
        <p:nvSpPr>
          <p:cNvPr id="61" name="Shape 56"/>
          <p:cNvSpPr/>
          <p:nvPr/>
        </p:nvSpPr>
        <p:spPr>
          <a:xfrm>
            <a:off x="3662172" y="3401568"/>
            <a:ext cx="914" cy="457200"/>
          </a:xfrm>
          <a:prstGeom prst="line">
            <a:avLst/>
          </a:prstGeom>
          <a:noFill/>
          <a:ln w="25400">
            <a:solidFill>
              <a:srgbClr val="4A5A70"/>
            </a:solidFill>
            <a:prstDash val="solid"/>
            <a:tailEnd type="triangle"/>
          </a:ln>
        </p:spPr>
      </p:sp>
      <p:sp>
        <p:nvSpPr>
          <p:cNvPr id="62" name="Shape 57"/>
          <p:cNvSpPr/>
          <p:nvPr/>
        </p:nvSpPr>
        <p:spPr>
          <a:xfrm>
            <a:off x="5957316" y="3401568"/>
            <a:ext cx="914" cy="457200"/>
          </a:xfrm>
          <a:prstGeom prst="line">
            <a:avLst/>
          </a:prstGeom>
          <a:noFill/>
          <a:ln w="25400">
            <a:solidFill>
              <a:srgbClr val="4A5A70"/>
            </a:solidFill>
            <a:prstDash val="solid"/>
            <a:tailEnd type="triangle"/>
          </a:ln>
        </p:spPr>
      </p:sp>
      <p:sp>
        <p:nvSpPr>
          <p:cNvPr id="63" name="Shape 58"/>
          <p:cNvSpPr/>
          <p:nvPr/>
        </p:nvSpPr>
        <p:spPr>
          <a:xfrm>
            <a:off x="8252460" y="3401568"/>
            <a:ext cx="914" cy="457200"/>
          </a:xfrm>
          <a:prstGeom prst="line">
            <a:avLst/>
          </a:prstGeom>
          <a:noFill/>
          <a:ln w="25400">
            <a:solidFill>
              <a:srgbClr val="4A5A70"/>
            </a:solidFill>
            <a:prstDash val="solid"/>
            <a:tailEnd type="triangle"/>
          </a:ln>
        </p:spPr>
      </p:sp>
      <p:sp>
        <p:nvSpPr>
          <p:cNvPr id="64" name="Shape 59"/>
          <p:cNvSpPr/>
          <p:nvPr/>
        </p:nvSpPr>
        <p:spPr>
          <a:xfrm>
            <a:off x="10547604" y="3401568"/>
            <a:ext cx="914" cy="457200"/>
          </a:xfrm>
          <a:prstGeom prst="line">
            <a:avLst/>
          </a:prstGeom>
          <a:noFill/>
          <a:ln w="25400">
            <a:solidFill>
              <a:srgbClr val="4A5A70"/>
            </a:solidFill>
            <a:prstDash val="solid"/>
            <a:tailEnd type="triangle"/>
          </a:ln>
        </p:spPr>
      </p:sp>
      <p:sp>
        <p:nvSpPr>
          <p:cNvPr id="65" name="Text 60"/>
          <p:cNvSpPr txBox="1"/>
          <p:nvPr/>
        </p:nvSpPr>
        <p:spPr>
          <a:xfrm>
            <a:off x="548640" y="3401568"/>
            <a:ext cx="1874520" cy="457200"/>
          </a:xfrm>
          <a:prstGeom prst="rect">
            <a:avLst/>
          </a:prstGeom>
          <a:noFill/>
          <a:ln/>
        </p:spPr>
        <p:txBody>
          <a:bodyPr wrap="square" lIns="0" tIns="0" rIns="0" bIns="0" rtlCol="0" anchor="ctr"/>
          <a:lstStyle/>
          <a:p>
            <a:pPr algn="ctr" indent="0" marL="0">
              <a:buNone/>
            </a:pPr>
            <a:r>
              <a:rPr lang="en-US" sz="1200" b="1" i="1" dirty="0">
                <a:solidFill>
                  <a:schemeClr val="accent5"/>
                </a:solidFill>
              </a:rPr>
              <a:t>une ligne plus bas</a:t>
            </a:r>
            <a:endParaRPr lang="en-US" sz="1200" dirty="0"/>
          </a:p>
        </p:txBody>
      </p:sp>
      <p:sp>
        <p:nvSpPr>
          <p:cNvPr id="66" name="Shape 61"/>
          <p:cNvSpPr/>
          <p:nvPr/>
        </p:nvSpPr>
        <p:spPr>
          <a:xfrm>
            <a:off x="548640" y="5486400"/>
            <a:ext cx="11091672" cy="640080"/>
          </a:xfrm>
          <a:prstGeom prst="roundRect">
            <a:avLst>
              <a:gd name="adj" fmla="val 11429"/>
            </a:avLst>
          </a:prstGeom>
          <a:solidFill>
            <a:schemeClr val="tx2"/>
          </a:solidFill>
          <a:ln w="12700">
            <a:solidFill>
              <a:srgbClr val="FFFFFF">
                <a:alpha val="0"/>
              </a:srgbClr>
            </a:solidFill>
            <a:prstDash val="solid"/>
          </a:ln>
        </p:spPr>
      </p:sp>
      <p:sp>
        <p:nvSpPr>
          <p:cNvPr id="67" name="Text 62"/>
          <p:cNvSpPr txBox="1"/>
          <p:nvPr/>
        </p:nvSpPr>
        <p:spPr>
          <a:xfrm>
            <a:off x="822960" y="5486400"/>
            <a:ext cx="10607040" cy="640080"/>
          </a:xfrm>
          <a:prstGeom prst="rect">
            <a:avLst/>
          </a:prstGeom>
          <a:noFill/>
          <a:ln/>
        </p:spPr>
        <p:txBody>
          <a:bodyPr wrap="square" lIns="0" tIns="0" rIns="0" bIns="0" rtlCol="0" anchor="ctr"/>
          <a:lstStyle/>
          <a:p>
            <a:pPr algn="l" indent="0" marL="0">
              <a:buNone/>
            </a:pPr>
            <a:r>
              <a:rPr lang="en-US" sz="1500" dirty="0">
                <a:solidFill>
                  <a:schemeClr val="bg1"/>
                </a:solidFill>
              </a:rPr>
              <a:t>Une ligne plus bas = le verbe conjugué (souvent l’auxiliaire) passe au passé : </a:t>
            </a:r>
            <a:r>
              <a:rPr lang="en-US" sz="1500" b="1" i="1" dirty="0">
                <a:solidFill>
                  <a:schemeClr val="bg1"/>
                </a:solidFill>
              </a:rPr>
              <a:t>heb → had · ben → was · zal → zou · werk → werkte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huit temps de werken et komen</a:t>
            </a:r>
            <a:endParaRPr lang="en-US" sz="3000" dirty="0"/>
          </a:p>
        </p:txBody>
      </p:sp>
      <p:sp>
        <p:nvSpPr>
          <p:cNvPr id="3" name="tag"/>
          <p:cNvSpPr/>
          <p:nvPr/>
        </p:nvSpPr>
        <p:spPr>
          <a:xfrm>
            <a:off x="548640" y="237744"/>
            <a:ext cx="1444752"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LES FORMES</a:t>
            </a:r>
            <a:endParaRPr lang="en-US" sz="1200" dirty="0"/>
          </a:p>
        </p:txBody>
      </p:sp>
      <p:sp>
        <p:nvSpPr>
          <p:cNvPr id="5" name="Shape 2"/>
          <p:cNvSpPr/>
          <p:nvPr/>
        </p:nvSpPr>
        <p:spPr>
          <a:xfrm>
            <a:off x="548640" y="1417320"/>
            <a:ext cx="2560320" cy="384048"/>
          </a:xfrm>
          <a:prstGeom prst="roundRect">
            <a:avLst>
              <a:gd name="adj" fmla="val 14286"/>
            </a:avLst>
          </a:prstGeom>
          <a:solidFill>
            <a:schemeClr val="tx2"/>
          </a:solidFill>
          <a:ln w="12700">
            <a:solidFill>
              <a:srgbClr val="FFFFFF">
                <a:alpha val="0"/>
              </a:srgbClr>
            </a:solidFill>
            <a:prstDash val="solid"/>
          </a:ln>
        </p:spPr>
      </p:sp>
      <p:sp>
        <p:nvSpPr>
          <p:cNvPr id="6" name="Text 3"/>
          <p:cNvSpPr txBox="1"/>
          <p:nvPr/>
        </p:nvSpPr>
        <p:spPr>
          <a:xfrm>
            <a:off x="548640" y="1417320"/>
            <a:ext cx="2560320" cy="384048"/>
          </a:xfrm>
          <a:prstGeom prst="rect">
            <a:avLst/>
          </a:prstGeom>
          <a:noFill/>
          <a:ln/>
        </p:spPr>
        <p:txBody>
          <a:bodyPr wrap="square" lIns="0" tIns="0" rIns="0" bIns="0" rtlCol="0" anchor="ctr"/>
          <a:lstStyle/>
          <a:p>
            <a:pPr algn="ctr" indent="0" marL="0">
              <a:buNone/>
            </a:pPr>
            <a:r>
              <a:rPr lang="en-US" sz="1300" b="1" dirty="0">
                <a:solidFill>
                  <a:schemeClr val="bg1"/>
                </a:solidFill>
              </a:rPr>
              <a:t>temps</a:t>
            </a:r>
            <a:endParaRPr lang="en-US" sz="1300" dirty="0"/>
          </a:p>
        </p:txBody>
      </p:sp>
      <p:sp>
        <p:nvSpPr>
          <p:cNvPr id="7" name="Shape 4"/>
          <p:cNvSpPr/>
          <p:nvPr/>
        </p:nvSpPr>
        <p:spPr>
          <a:xfrm>
            <a:off x="3154680" y="1417320"/>
            <a:ext cx="1920240" cy="384048"/>
          </a:xfrm>
          <a:prstGeom prst="roundRect">
            <a:avLst>
              <a:gd name="adj" fmla="val 14286"/>
            </a:avLst>
          </a:prstGeom>
          <a:solidFill>
            <a:schemeClr val="tx2"/>
          </a:solidFill>
          <a:ln w="12700">
            <a:solidFill>
              <a:srgbClr val="FFFFFF">
                <a:alpha val="0"/>
              </a:srgbClr>
            </a:solidFill>
            <a:prstDash val="solid"/>
          </a:ln>
        </p:spPr>
      </p:sp>
      <p:sp>
        <p:nvSpPr>
          <p:cNvPr id="8" name="Text 5"/>
          <p:cNvSpPr txBox="1"/>
          <p:nvPr/>
        </p:nvSpPr>
        <p:spPr>
          <a:xfrm>
            <a:off x="3154680" y="1417320"/>
            <a:ext cx="1920240" cy="384048"/>
          </a:xfrm>
          <a:prstGeom prst="rect">
            <a:avLst/>
          </a:prstGeom>
          <a:noFill/>
          <a:ln/>
        </p:spPr>
        <p:txBody>
          <a:bodyPr wrap="square" lIns="0" tIns="0" rIns="0" bIns="0" rtlCol="0" anchor="ctr"/>
          <a:lstStyle/>
          <a:p>
            <a:pPr algn="ctr" indent="0" marL="0">
              <a:buNone/>
            </a:pPr>
            <a:r>
              <a:rPr lang="en-US" sz="1300" b="1" dirty="0">
                <a:solidFill>
                  <a:schemeClr val="bg1"/>
                </a:solidFill>
              </a:rPr>
              <a:t>français</a:t>
            </a:r>
            <a:endParaRPr lang="en-US" sz="1300" dirty="0"/>
          </a:p>
        </p:txBody>
      </p:sp>
      <p:sp>
        <p:nvSpPr>
          <p:cNvPr id="9" name="Shape 6"/>
          <p:cNvSpPr/>
          <p:nvPr/>
        </p:nvSpPr>
        <p:spPr>
          <a:xfrm>
            <a:off x="5120640" y="1417320"/>
            <a:ext cx="2697480" cy="384048"/>
          </a:xfrm>
          <a:prstGeom prst="roundRect">
            <a:avLst>
              <a:gd name="adj" fmla="val 14286"/>
            </a:avLst>
          </a:prstGeom>
          <a:solidFill>
            <a:schemeClr val="tx2"/>
          </a:solidFill>
          <a:ln w="12700">
            <a:solidFill>
              <a:srgbClr val="FFFFFF">
                <a:alpha val="0"/>
              </a:srgbClr>
            </a:solidFill>
            <a:prstDash val="solid"/>
          </a:ln>
        </p:spPr>
      </p:sp>
      <p:sp>
        <p:nvSpPr>
          <p:cNvPr id="10" name="Text 7"/>
          <p:cNvSpPr txBox="1"/>
          <p:nvPr/>
        </p:nvSpPr>
        <p:spPr>
          <a:xfrm>
            <a:off x="5120640" y="1417320"/>
            <a:ext cx="2697480" cy="384048"/>
          </a:xfrm>
          <a:prstGeom prst="rect">
            <a:avLst/>
          </a:prstGeom>
          <a:noFill/>
          <a:ln/>
        </p:spPr>
        <p:txBody>
          <a:bodyPr wrap="square" lIns="0" tIns="0" rIns="0" bIns="0" rtlCol="0" anchor="ctr"/>
          <a:lstStyle/>
          <a:p>
            <a:pPr algn="ctr" indent="0" marL="0">
              <a:buNone/>
            </a:pPr>
            <a:r>
              <a:rPr lang="en-US" sz="1300" b="1" dirty="0">
                <a:solidFill>
                  <a:schemeClr val="bg1"/>
                </a:solidFill>
              </a:rPr>
              <a:t>formule</a:t>
            </a:r>
            <a:endParaRPr lang="en-US" sz="1300" dirty="0"/>
          </a:p>
        </p:txBody>
      </p:sp>
      <p:sp>
        <p:nvSpPr>
          <p:cNvPr id="11" name="Shape 8"/>
          <p:cNvSpPr/>
          <p:nvPr/>
        </p:nvSpPr>
        <p:spPr>
          <a:xfrm>
            <a:off x="7863840" y="1417320"/>
            <a:ext cx="1783080" cy="384048"/>
          </a:xfrm>
          <a:prstGeom prst="roundRect">
            <a:avLst>
              <a:gd name="adj" fmla="val 14286"/>
            </a:avLst>
          </a:prstGeom>
          <a:solidFill>
            <a:schemeClr val="tx2"/>
          </a:solidFill>
          <a:ln w="12700">
            <a:solidFill>
              <a:srgbClr val="FFFFFF">
                <a:alpha val="0"/>
              </a:srgbClr>
            </a:solidFill>
            <a:prstDash val="solid"/>
          </a:ln>
        </p:spPr>
      </p:sp>
      <p:sp>
        <p:nvSpPr>
          <p:cNvPr id="12" name="Text 9"/>
          <p:cNvSpPr txBox="1"/>
          <p:nvPr/>
        </p:nvSpPr>
        <p:spPr>
          <a:xfrm>
            <a:off x="7863840" y="1417320"/>
            <a:ext cx="1783080" cy="384048"/>
          </a:xfrm>
          <a:prstGeom prst="rect">
            <a:avLst/>
          </a:prstGeom>
          <a:noFill/>
          <a:ln/>
        </p:spPr>
        <p:txBody>
          <a:bodyPr wrap="square" lIns="0" tIns="0" rIns="0" bIns="0" rtlCol="0" anchor="ctr"/>
          <a:lstStyle/>
          <a:p>
            <a:pPr algn="ctr" indent="0" marL="0">
              <a:buNone/>
            </a:pPr>
            <a:r>
              <a:rPr lang="en-US" sz="1300" b="1" dirty="0">
                <a:solidFill>
                  <a:schemeClr val="bg1"/>
                </a:solidFill>
              </a:rPr>
              <a:t>werken (hebben)</a:t>
            </a:r>
            <a:endParaRPr lang="en-US" sz="1300" dirty="0"/>
          </a:p>
        </p:txBody>
      </p:sp>
      <p:sp>
        <p:nvSpPr>
          <p:cNvPr id="13" name="Shape 10"/>
          <p:cNvSpPr/>
          <p:nvPr/>
        </p:nvSpPr>
        <p:spPr>
          <a:xfrm>
            <a:off x="9692640" y="1417320"/>
            <a:ext cx="1901952" cy="384048"/>
          </a:xfrm>
          <a:prstGeom prst="roundRect">
            <a:avLst>
              <a:gd name="adj" fmla="val 14286"/>
            </a:avLst>
          </a:prstGeom>
          <a:solidFill>
            <a:schemeClr val="tx2"/>
          </a:solidFill>
          <a:ln w="12700">
            <a:solidFill>
              <a:srgbClr val="FFFFFF">
                <a:alpha val="0"/>
              </a:srgbClr>
            </a:solidFill>
            <a:prstDash val="solid"/>
          </a:ln>
        </p:spPr>
      </p:sp>
      <p:sp>
        <p:nvSpPr>
          <p:cNvPr id="14" name="Text 11"/>
          <p:cNvSpPr txBox="1"/>
          <p:nvPr/>
        </p:nvSpPr>
        <p:spPr>
          <a:xfrm>
            <a:off x="9692640" y="1417320"/>
            <a:ext cx="1901952" cy="384048"/>
          </a:xfrm>
          <a:prstGeom prst="rect">
            <a:avLst/>
          </a:prstGeom>
          <a:noFill/>
          <a:ln/>
        </p:spPr>
        <p:txBody>
          <a:bodyPr wrap="square" lIns="0" tIns="0" rIns="0" bIns="0" rtlCol="0" anchor="ctr"/>
          <a:lstStyle/>
          <a:p>
            <a:pPr algn="ctr" indent="0" marL="0">
              <a:buNone/>
            </a:pPr>
            <a:r>
              <a:rPr lang="en-US" sz="1300" b="1" dirty="0">
                <a:solidFill>
                  <a:schemeClr val="bg1"/>
                </a:solidFill>
              </a:rPr>
              <a:t>komen (zijn)</a:t>
            </a:r>
            <a:endParaRPr lang="en-US" sz="1300" dirty="0"/>
          </a:p>
        </p:txBody>
      </p:sp>
      <p:sp>
        <p:nvSpPr>
          <p:cNvPr id="15" name="Shape 12"/>
          <p:cNvSpPr/>
          <p:nvPr/>
        </p:nvSpPr>
        <p:spPr>
          <a:xfrm>
            <a:off x="548640" y="1856232"/>
            <a:ext cx="11045952" cy="457200"/>
          </a:xfrm>
          <a:prstGeom prst="roundRect">
            <a:avLst>
              <a:gd name="adj" fmla="val 12000"/>
            </a:avLst>
          </a:prstGeom>
          <a:solidFill>
            <a:schemeClr val="bg2"/>
          </a:solidFill>
          <a:ln w="12700">
            <a:solidFill>
              <a:srgbClr val="FFFFFF">
                <a:alpha val="0"/>
              </a:srgbClr>
            </a:solidFill>
            <a:prstDash val="solid"/>
          </a:ln>
        </p:spPr>
      </p:sp>
      <p:sp>
        <p:nvSpPr>
          <p:cNvPr id="16" name="Shape 13"/>
          <p:cNvSpPr/>
          <p:nvPr/>
        </p:nvSpPr>
        <p:spPr>
          <a:xfrm>
            <a:off x="548640" y="1856232"/>
            <a:ext cx="109728" cy="457200"/>
          </a:xfrm>
          <a:prstGeom prst="rect">
            <a:avLst/>
          </a:prstGeom>
          <a:solidFill>
            <a:schemeClr val="accent2"/>
          </a:solidFill>
          <a:ln w="12700">
            <a:solidFill>
              <a:srgbClr val="FFFFFF">
                <a:alpha val="0"/>
              </a:srgbClr>
            </a:solidFill>
            <a:prstDash val="solid"/>
          </a:ln>
        </p:spPr>
      </p:sp>
      <p:sp>
        <p:nvSpPr>
          <p:cNvPr id="17" name="Text 14"/>
          <p:cNvSpPr txBox="1"/>
          <p:nvPr/>
        </p:nvSpPr>
        <p:spPr>
          <a:xfrm>
            <a:off x="749808" y="1856232"/>
            <a:ext cx="2331720" cy="457200"/>
          </a:xfrm>
          <a:prstGeom prst="rect">
            <a:avLst/>
          </a:prstGeom>
          <a:noFill/>
          <a:ln/>
        </p:spPr>
        <p:txBody>
          <a:bodyPr wrap="square" lIns="0" tIns="0" rIns="0" bIns="0" rtlCol="0" anchor="ctr"/>
          <a:lstStyle/>
          <a:p>
            <a:pPr algn="l" indent="0" marL="0">
              <a:buNone/>
            </a:pPr>
            <a:r>
              <a:rPr lang="en-US" sz="1300" b="1" dirty="0">
                <a:solidFill>
                  <a:schemeClr val="accent2"/>
                </a:solidFill>
              </a:rPr>
              <a:t>presens</a:t>
            </a:r>
            <a:endParaRPr lang="en-US" sz="1300" dirty="0"/>
          </a:p>
          <a:p>
            <a:pPr algn="l" indent="0" marL="0">
              <a:buNone/>
            </a:pPr>
            <a:r>
              <a:rPr lang="en-US" sz="1300" dirty="0">
                <a:solidFill>
                  <a:schemeClr val="accent2"/>
                </a:solidFill>
              </a:rPr>
              <a:t>o.t.t.</a:t>
            </a:r>
            <a:endParaRPr lang="en-US" sz="1300" dirty="0"/>
          </a:p>
        </p:txBody>
      </p:sp>
      <p:sp>
        <p:nvSpPr>
          <p:cNvPr id="18" name="Text 15"/>
          <p:cNvSpPr txBox="1"/>
          <p:nvPr/>
        </p:nvSpPr>
        <p:spPr>
          <a:xfrm>
            <a:off x="3200400" y="1856232"/>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présent</a:t>
            </a:r>
            <a:endParaRPr lang="en-US" sz="1300" dirty="0"/>
          </a:p>
        </p:txBody>
      </p:sp>
      <p:sp>
        <p:nvSpPr>
          <p:cNvPr id="19" name="Text 16"/>
          <p:cNvSpPr txBox="1"/>
          <p:nvPr/>
        </p:nvSpPr>
        <p:spPr>
          <a:xfrm>
            <a:off x="5166360" y="1856232"/>
            <a:ext cx="2651760" cy="457200"/>
          </a:xfrm>
          <a:prstGeom prst="rect">
            <a:avLst/>
          </a:prstGeom>
          <a:noFill/>
          <a:ln/>
        </p:spPr>
        <p:txBody>
          <a:bodyPr wrap="square" lIns="0" tIns="0" rIns="0" bIns="0" rtlCol="0" anchor="ctr"/>
          <a:lstStyle/>
          <a:p>
            <a:pPr algn="l" indent="0" marL="0">
              <a:buNone/>
            </a:pPr>
            <a:r>
              <a:rPr lang="en-US" sz="1250" dirty="0">
                <a:solidFill>
                  <a:schemeClr val="tx2"/>
                </a:solidFill>
              </a:rPr>
              <a:t>radical (+ t)</a:t>
            </a:r>
            <a:endParaRPr lang="en-US" sz="1250" dirty="0"/>
          </a:p>
        </p:txBody>
      </p:sp>
      <p:sp>
        <p:nvSpPr>
          <p:cNvPr id="20" name="Text 17"/>
          <p:cNvSpPr txBox="1"/>
          <p:nvPr/>
        </p:nvSpPr>
        <p:spPr>
          <a:xfrm>
            <a:off x="7909560" y="1856232"/>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werk</a:t>
            </a:r>
            <a:endParaRPr lang="en-US" sz="1300" dirty="0"/>
          </a:p>
        </p:txBody>
      </p:sp>
      <p:sp>
        <p:nvSpPr>
          <p:cNvPr id="21" name="Text 18"/>
          <p:cNvSpPr txBox="1"/>
          <p:nvPr/>
        </p:nvSpPr>
        <p:spPr>
          <a:xfrm>
            <a:off x="9738360" y="1856232"/>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kom</a:t>
            </a:r>
            <a:endParaRPr lang="en-US" sz="1300" dirty="0"/>
          </a:p>
        </p:txBody>
      </p:sp>
      <p:sp>
        <p:nvSpPr>
          <p:cNvPr id="22" name="Shape 19"/>
          <p:cNvSpPr/>
          <p:nvPr/>
        </p:nvSpPr>
        <p:spPr>
          <a:xfrm>
            <a:off x="548640" y="2350008"/>
            <a:ext cx="11045952" cy="457200"/>
          </a:xfrm>
          <a:prstGeom prst="roundRect">
            <a:avLst>
              <a:gd name="adj" fmla="val 12000"/>
            </a:avLst>
          </a:prstGeom>
          <a:solidFill>
            <a:srgbClr val="FFFFFF"/>
          </a:solidFill>
          <a:ln w="12700">
            <a:solidFill>
              <a:srgbClr val="FFFFFF">
                <a:alpha val="0"/>
              </a:srgbClr>
            </a:solidFill>
            <a:prstDash val="solid"/>
          </a:ln>
        </p:spPr>
      </p:sp>
      <p:sp>
        <p:nvSpPr>
          <p:cNvPr id="23" name="Shape 20"/>
          <p:cNvSpPr/>
          <p:nvPr/>
        </p:nvSpPr>
        <p:spPr>
          <a:xfrm>
            <a:off x="548640" y="2350008"/>
            <a:ext cx="109728" cy="457200"/>
          </a:xfrm>
          <a:prstGeom prst="rect">
            <a:avLst/>
          </a:prstGeom>
          <a:solidFill>
            <a:schemeClr val="accent4"/>
          </a:solidFill>
          <a:ln w="12700">
            <a:solidFill>
              <a:srgbClr val="FFFFFF">
                <a:alpha val="0"/>
              </a:srgbClr>
            </a:solidFill>
            <a:prstDash val="solid"/>
          </a:ln>
        </p:spPr>
      </p:sp>
      <p:sp>
        <p:nvSpPr>
          <p:cNvPr id="24" name="Text 21"/>
          <p:cNvSpPr txBox="1"/>
          <p:nvPr/>
        </p:nvSpPr>
        <p:spPr>
          <a:xfrm>
            <a:off x="749808" y="2350008"/>
            <a:ext cx="2331720" cy="457200"/>
          </a:xfrm>
          <a:prstGeom prst="rect">
            <a:avLst/>
          </a:prstGeom>
          <a:noFill/>
          <a:ln/>
        </p:spPr>
        <p:txBody>
          <a:bodyPr wrap="square" lIns="0" tIns="0" rIns="0" bIns="0" rtlCol="0" anchor="ctr"/>
          <a:lstStyle/>
          <a:p>
            <a:pPr algn="l" indent="0" marL="0">
              <a:buNone/>
            </a:pPr>
            <a:r>
              <a:rPr lang="en-US" sz="1300" b="1" dirty="0">
                <a:solidFill>
                  <a:schemeClr val="accent4"/>
                </a:solidFill>
              </a:rPr>
              <a:t>perfectum</a:t>
            </a:r>
            <a:endParaRPr lang="en-US" sz="1300" dirty="0"/>
          </a:p>
          <a:p>
            <a:pPr algn="l" indent="0" marL="0">
              <a:buNone/>
            </a:pPr>
            <a:r>
              <a:rPr lang="en-US" sz="1300" dirty="0">
                <a:solidFill>
                  <a:schemeClr val="accent4"/>
                </a:solidFill>
              </a:rPr>
              <a:t>v.t.t.</a:t>
            </a:r>
            <a:endParaRPr lang="en-US" sz="1300" dirty="0"/>
          </a:p>
        </p:txBody>
      </p:sp>
      <p:sp>
        <p:nvSpPr>
          <p:cNvPr id="25" name="Text 22"/>
          <p:cNvSpPr txBox="1"/>
          <p:nvPr/>
        </p:nvSpPr>
        <p:spPr>
          <a:xfrm>
            <a:off x="3200400" y="2350008"/>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passé composé</a:t>
            </a:r>
            <a:endParaRPr lang="en-US" sz="1300" dirty="0"/>
          </a:p>
        </p:txBody>
      </p:sp>
      <p:sp>
        <p:nvSpPr>
          <p:cNvPr id="26" name="Text 23"/>
          <p:cNvSpPr txBox="1"/>
          <p:nvPr/>
        </p:nvSpPr>
        <p:spPr>
          <a:xfrm>
            <a:off x="5166360" y="2350008"/>
            <a:ext cx="2651760" cy="457200"/>
          </a:xfrm>
          <a:prstGeom prst="rect">
            <a:avLst/>
          </a:prstGeom>
          <a:noFill/>
          <a:ln/>
        </p:spPr>
        <p:txBody>
          <a:bodyPr wrap="square" lIns="0" tIns="0" rIns="0" bIns="0" rtlCol="0" anchor="ctr"/>
          <a:lstStyle/>
          <a:p>
            <a:pPr algn="l" indent="0" marL="0">
              <a:buNone/>
            </a:pPr>
            <a:r>
              <a:rPr lang="en-US" sz="1250" i="1" dirty="0">
                <a:solidFill>
                  <a:schemeClr val="tx2"/>
                </a:solidFill>
              </a:rPr>
              <a:t>hebben / zijn</a:t>
            </a:r>
            <a:r>
              <a:rPr lang="en-US" sz="1250" dirty="0">
                <a:solidFill>
                  <a:schemeClr val="tx2"/>
                </a:solidFill>
              </a:rPr>
              <a:t> + participe</a:t>
            </a:r>
            <a:endParaRPr lang="en-US" sz="1250" dirty="0"/>
          </a:p>
        </p:txBody>
      </p:sp>
      <p:sp>
        <p:nvSpPr>
          <p:cNvPr id="27" name="Text 24"/>
          <p:cNvSpPr txBox="1"/>
          <p:nvPr/>
        </p:nvSpPr>
        <p:spPr>
          <a:xfrm>
            <a:off x="7909560" y="2350008"/>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heb</a:t>
            </a:r>
            <a:r>
              <a:rPr lang="en-US" sz="1300" i="1" dirty="0">
                <a:solidFill>
                  <a:schemeClr val="tx1"/>
                </a:solidFill>
              </a:rPr>
              <a:t> gewerkt</a:t>
            </a:r>
            <a:endParaRPr lang="en-US" sz="1300" dirty="0"/>
          </a:p>
        </p:txBody>
      </p:sp>
      <p:sp>
        <p:nvSpPr>
          <p:cNvPr id="28" name="Text 25"/>
          <p:cNvSpPr txBox="1"/>
          <p:nvPr/>
        </p:nvSpPr>
        <p:spPr>
          <a:xfrm>
            <a:off x="9738360" y="2350008"/>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ben</a:t>
            </a:r>
            <a:r>
              <a:rPr lang="en-US" sz="1300" i="1" dirty="0">
                <a:solidFill>
                  <a:schemeClr val="tx1"/>
                </a:solidFill>
              </a:rPr>
              <a:t> gekomen</a:t>
            </a:r>
            <a:endParaRPr lang="en-US" sz="1300" dirty="0"/>
          </a:p>
        </p:txBody>
      </p:sp>
      <p:sp>
        <p:nvSpPr>
          <p:cNvPr id="29" name="Shape 26"/>
          <p:cNvSpPr/>
          <p:nvPr/>
        </p:nvSpPr>
        <p:spPr>
          <a:xfrm>
            <a:off x="548640" y="2843784"/>
            <a:ext cx="11045952" cy="457200"/>
          </a:xfrm>
          <a:prstGeom prst="roundRect">
            <a:avLst>
              <a:gd name="adj" fmla="val 12000"/>
            </a:avLst>
          </a:prstGeom>
          <a:solidFill>
            <a:schemeClr val="bg2"/>
          </a:solidFill>
          <a:ln w="12700">
            <a:solidFill>
              <a:srgbClr val="FFFFFF">
                <a:alpha val="0"/>
              </a:srgbClr>
            </a:solidFill>
            <a:prstDash val="solid"/>
          </a:ln>
        </p:spPr>
      </p:sp>
      <p:sp>
        <p:nvSpPr>
          <p:cNvPr id="30" name="Shape 27"/>
          <p:cNvSpPr/>
          <p:nvPr/>
        </p:nvSpPr>
        <p:spPr>
          <a:xfrm>
            <a:off x="548640" y="2843784"/>
            <a:ext cx="109728" cy="457200"/>
          </a:xfrm>
          <a:prstGeom prst="rect">
            <a:avLst/>
          </a:prstGeom>
          <a:solidFill>
            <a:schemeClr val="accent4"/>
          </a:solidFill>
          <a:ln w="12700">
            <a:solidFill>
              <a:srgbClr val="FFFFFF">
                <a:alpha val="0"/>
              </a:srgbClr>
            </a:solidFill>
            <a:prstDash val="solid"/>
          </a:ln>
        </p:spPr>
      </p:sp>
      <p:sp>
        <p:nvSpPr>
          <p:cNvPr id="31" name="Text 28"/>
          <p:cNvSpPr txBox="1"/>
          <p:nvPr/>
        </p:nvSpPr>
        <p:spPr>
          <a:xfrm>
            <a:off x="749808" y="2843784"/>
            <a:ext cx="2331720" cy="457200"/>
          </a:xfrm>
          <a:prstGeom prst="rect">
            <a:avLst/>
          </a:prstGeom>
          <a:noFill/>
          <a:ln/>
        </p:spPr>
        <p:txBody>
          <a:bodyPr wrap="square" lIns="0" tIns="0" rIns="0" bIns="0" rtlCol="0" anchor="ctr"/>
          <a:lstStyle/>
          <a:p>
            <a:pPr algn="l" indent="0" marL="0">
              <a:buNone/>
            </a:pPr>
            <a:r>
              <a:rPr lang="en-US" sz="1300" b="1" dirty="0">
                <a:solidFill>
                  <a:schemeClr val="accent4"/>
                </a:solidFill>
              </a:rPr>
              <a:t>imperfectum</a:t>
            </a:r>
            <a:endParaRPr lang="en-US" sz="1300" dirty="0"/>
          </a:p>
          <a:p>
            <a:pPr algn="l" indent="0" marL="0">
              <a:buNone/>
            </a:pPr>
            <a:r>
              <a:rPr lang="en-US" sz="1300" dirty="0">
                <a:solidFill>
                  <a:schemeClr val="accent4"/>
                </a:solidFill>
              </a:rPr>
              <a:t>o.v.t.</a:t>
            </a:r>
            <a:endParaRPr lang="en-US" sz="1300" dirty="0"/>
          </a:p>
        </p:txBody>
      </p:sp>
      <p:sp>
        <p:nvSpPr>
          <p:cNvPr id="32" name="Text 29"/>
          <p:cNvSpPr txBox="1"/>
          <p:nvPr/>
        </p:nvSpPr>
        <p:spPr>
          <a:xfrm>
            <a:off x="3200400" y="2843784"/>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imparfait</a:t>
            </a:r>
            <a:endParaRPr lang="en-US" sz="1300" dirty="0"/>
          </a:p>
        </p:txBody>
      </p:sp>
      <p:sp>
        <p:nvSpPr>
          <p:cNvPr id="33" name="Text 30"/>
          <p:cNvSpPr txBox="1"/>
          <p:nvPr/>
        </p:nvSpPr>
        <p:spPr>
          <a:xfrm>
            <a:off x="5166360" y="2843784"/>
            <a:ext cx="2651760" cy="457200"/>
          </a:xfrm>
          <a:prstGeom prst="rect">
            <a:avLst/>
          </a:prstGeom>
          <a:noFill/>
          <a:ln/>
        </p:spPr>
        <p:txBody>
          <a:bodyPr wrap="square" lIns="0" tIns="0" rIns="0" bIns="0" rtlCol="0" anchor="ctr"/>
          <a:lstStyle/>
          <a:p>
            <a:pPr algn="l" indent="0" marL="0">
              <a:buNone/>
            </a:pPr>
            <a:r>
              <a:rPr lang="en-US" sz="1250" dirty="0">
                <a:solidFill>
                  <a:schemeClr val="tx2"/>
                </a:solidFill>
              </a:rPr>
              <a:t>radical + </a:t>
            </a:r>
            <a:r>
              <a:rPr lang="en-US" sz="1250" i="1" dirty="0">
                <a:solidFill>
                  <a:schemeClr val="tx2"/>
                </a:solidFill>
              </a:rPr>
              <a:t>te / de</a:t>
            </a:r>
            <a:endParaRPr lang="en-US" sz="1250" dirty="0"/>
          </a:p>
        </p:txBody>
      </p:sp>
      <p:sp>
        <p:nvSpPr>
          <p:cNvPr id="34" name="Text 31"/>
          <p:cNvSpPr txBox="1"/>
          <p:nvPr/>
        </p:nvSpPr>
        <p:spPr>
          <a:xfrm>
            <a:off x="7909560" y="2843784"/>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werkte</a:t>
            </a:r>
            <a:endParaRPr lang="en-US" sz="1300" dirty="0"/>
          </a:p>
        </p:txBody>
      </p:sp>
      <p:sp>
        <p:nvSpPr>
          <p:cNvPr id="35" name="Text 32"/>
          <p:cNvSpPr txBox="1"/>
          <p:nvPr/>
        </p:nvSpPr>
        <p:spPr>
          <a:xfrm>
            <a:off x="9738360" y="2843784"/>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kwam</a:t>
            </a:r>
            <a:endParaRPr lang="en-US" sz="1300" dirty="0"/>
          </a:p>
        </p:txBody>
      </p:sp>
      <p:sp>
        <p:nvSpPr>
          <p:cNvPr id="36" name="Shape 33"/>
          <p:cNvSpPr/>
          <p:nvPr/>
        </p:nvSpPr>
        <p:spPr>
          <a:xfrm>
            <a:off x="548640" y="3337560"/>
            <a:ext cx="11045952" cy="457200"/>
          </a:xfrm>
          <a:prstGeom prst="roundRect">
            <a:avLst>
              <a:gd name="adj" fmla="val 12000"/>
            </a:avLst>
          </a:prstGeom>
          <a:solidFill>
            <a:srgbClr val="FFFFFF"/>
          </a:solidFill>
          <a:ln w="12700">
            <a:solidFill>
              <a:srgbClr val="FFFFFF">
                <a:alpha val="0"/>
              </a:srgbClr>
            </a:solidFill>
            <a:prstDash val="solid"/>
          </a:ln>
        </p:spPr>
      </p:sp>
      <p:sp>
        <p:nvSpPr>
          <p:cNvPr id="37" name="Shape 34"/>
          <p:cNvSpPr/>
          <p:nvPr/>
        </p:nvSpPr>
        <p:spPr>
          <a:xfrm>
            <a:off x="548640" y="3337560"/>
            <a:ext cx="109728" cy="457200"/>
          </a:xfrm>
          <a:prstGeom prst="rect">
            <a:avLst/>
          </a:prstGeom>
          <a:solidFill>
            <a:srgbClr val="7A1748"/>
          </a:solidFill>
          <a:ln w="12700">
            <a:solidFill>
              <a:srgbClr val="FFFFFF">
                <a:alpha val="0"/>
              </a:srgbClr>
            </a:solidFill>
            <a:prstDash val="solid"/>
          </a:ln>
        </p:spPr>
      </p:sp>
      <p:sp>
        <p:nvSpPr>
          <p:cNvPr id="38" name="Text 35"/>
          <p:cNvSpPr txBox="1"/>
          <p:nvPr/>
        </p:nvSpPr>
        <p:spPr>
          <a:xfrm>
            <a:off x="749808" y="3337560"/>
            <a:ext cx="2331720" cy="457200"/>
          </a:xfrm>
          <a:prstGeom prst="rect">
            <a:avLst/>
          </a:prstGeom>
          <a:noFill/>
          <a:ln/>
        </p:spPr>
        <p:txBody>
          <a:bodyPr wrap="square" lIns="0" tIns="0" rIns="0" bIns="0" rtlCol="0" anchor="ctr"/>
          <a:lstStyle/>
          <a:p>
            <a:pPr algn="l" indent="0" marL="0">
              <a:buNone/>
            </a:pPr>
            <a:r>
              <a:rPr lang="en-US" sz="1150" b="1" dirty="0">
                <a:solidFill>
                  <a:srgbClr val="7A1748"/>
                </a:solidFill>
              </a:rPr>
              <a:t>plusquamperfectum</a:t>
            </a:r>
            <a:endParaRPr lang="en-US" sz="1150" dirty="0"/>
          </a:p>
          <a:p>
            <a:pPr algn="l" indent="0" marL="0">
              <a:buNone/>
            </a:pPr>
            <a:r>
              <a:rPr lang="en-US" sz="1150" dirty="0">
                <a:solidFill>
                  <a:srgbClr val="7A1748"/>
                </a:solidFill>
              </a:rPr>
              <a:t>v.v.t.</a:t>
            </a:r>
            <a:endParaRPr lang="en-US" sz="1150" dirty="0"/>
          </a:p>
        </p:txBody>
      </p:sp>
      <p:sp>
        <p:nvSpPr>
          <p:cNvPr id="39" name="Text 36"/>
          <p:cNvSpPr txBox="1"/>
          <p:nvPr/>
        </p:nvSpPr>
        <p:spPr>
          <a:xfrm>
            <a:off x="3200400" y="3337560"/>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plus-que-parfait</a:t>
            </a:r>
            <a:endParaRPr lang="en-US" sz="1300" dirty="0"/>
          </a:p>
        </p:txBody>
      </p:sp>
      <p:sp>
        <p:nvSpPr>
          <p:cNvPr id="40" name="Text 37"/>
          <p:cNvSpPr txBox="1"/>
          <p:nvPr/>
        </p:nvSpPr>
        <p:spPr>
          <a:xfrm>
            <a:off x="5166360" y="3337560"/>
            <a:ext cx="2651760" cy="457200"/>
          </a:xfrm>
          <a:prstGeom prst="rect">
            <a:avLst/>
          </a:prstGeom>
          <a:noFill/>
          <a:ln/>
        </p:spPr>
        <p:txBody>
          <a:bodyPr wrap="square" lIns="0" tIns="0" rIns="0" bIns="0" rtlCol="0" anchor="ctr"/>
          <a:lstStyle/>
          <a:p>
            <a:pPr algn="l" indent="0" marL="0">
              <a:buNone/>
            </a:pPr>
            <a:r>
              <a:rPr lang="en-US" sz="1250" i="1" dirty="0">
                <a:solidFill>
                  <a:schemeClr val="tx2"/>
                </a:solidFill>
              </a:rPr>
              <a:t>had / was</a:t>
            </a:r>
            <a:r>
              <a:rPr lang="en-US" sz="1250" dirty="0">
                <a:solidFill>
                  <a:schemeClr val="tx2"/>
                </a:solidFill>
              </a:rPr>
              <a:t> + participe</a:t>
            </a:r>
            <a:endParaRPr lang="en-US" sz="1250" dirty="0"/>
          </a:p>
        </p:txBody>
      </p:sp>
      <p:sp>
        <p:nvSpPr>
          <p:cNvPr id="41" name="Text 38"/>
          <p:cNvSpPr txBox="1"/>
          <p:nvPr/>
        </p:nvSpPr>
        <p:spPr>
          <a:xfrm>
            <a:off x="7909560" y="3337560"/>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had</a:t>
            </a:r>
            <a:r>
              <a:rPr lang="en-US" sz="1300" i="1" dirty="0">
                <a:solidFill>
                  <a:schemeClr val="tx1"/>
                </a:solidFill>
              </a:rPr>
              <a:t> gewerkt</a:t>
            </a:r>
            <a:endParaRPr lang="en-US" sz="1300" dirty="0"/>
          </a:p>
        </p:txBody>
      </p:sp>
      <p:sp>
        <p:nvSpPr>
          <p:cNvPr id="42" name="Text 39"/>
          <p:cNvSpPr txBox="1"/>
          <p:nvPr/>
        </p:nvSpPr>
        <p:spPr>
          <a:xfrm>
            <a:off x="9738360" y="3337560"/>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was</a:t>
            </a:r>
            <a:r>
              <a:rPr lang="en-US" sz="1300" i="1" dirty="0">
                <a:solidFill>
                  <a:schemeClr val="tx1"/>
                </a:solidFill>
              </a:rPr>
              <a:t> gekomen</a:t>
            </a:r>
            <a:endParaRPr lang="en-US" sz="1300" dirty="0"/>
          </a:p>
        </p:txBody>
      </p:sp>
      <p:sp>
        <p:nvSpPr>
          <p:cNvPr id="43" name="Shape 40"/>
          <p:cNvSpPr/>
          <p:nvPr/>
        </p:nvSpPr>
        <p:spPr>
          <a:xfrm>
            <a:off x="548640" y="3831336"/>
            <a:ext cx="11045952" cy="457200"/>
          </a:xfrm>
          <a:prstGeom prst="roundRect">
            <a:avLst>
              <a:gd name="adj" fmla="val 12000"/>
            </a:avLst>
          </a:prstGeom>
          <a:solidFill>
            <a:schemeClr val="bg2"/>
          </a:solidFill>
          <a:ln w="12700">
            <a:solidFill>
              <a:srgbClr val="FFFFFF">
                <a:alpha val="0"/>
              </a:srgbClr>
            </a:solidFill>
            <a:prstDash val="solid"/>
          </a:ln>
        </p:spPr>
      </p:sp>
      <p:sp>
        <p:nvSpPr>
          <p:cNvPr id="44" name="Shape 41"/>
          <p:cNvSpPr/>
          <p:nvPr/>
        </p:nvSpPr>
        <p:spPr>
          <a:xfrm>
            <a:off x="548640" y="3831336"/>
            <a:ext cx="109728" cy="457200"/>
          </a:xfrm>
          <a:prstGeom prst="rect">
            <a:avLst/>
          </a:prstGeom>
          <a:solidFill>
            <a:schemeClr val="accent3"/>
          </a:solidFill>
          <a:ln w="12700">
            <a:solidFill>
              <a:srgbClr val="FFFFFF">
                <a:alpha val="0"/>
              </a:srgbClr>
            </a:solidFill>
            <a:prstDash val="solid"/>
          </a:ln>
        </p:spPr>
      </p:sp>
      <p:sp>
        <p:nvSpPr>
          <p:cNvPr id="45" name="Text 42"/>
          <p:cNvSpPr txBox="1"/>
          <p:nvPr/>
        </p:nvSpPr>
        <p:spPr>
          <a:xfrm>
            <a:off x="749808" y="3831336"/>
            <a:ext cx="2331720" cy="457200"/>
          </a:xfrm>
          <a:prstGeom prst="rect">
            <a:avLst/>
          </a:prstGeom>
          <a:noFill/>
          <a:ln/>
        </p:spPr>
        <p:txBody>
          <a:bodyPr wrap="square" lIns="0" tIns="0" rIns="0" bIns="0" rtlCol="0" anchor="ctr"/>
          <a:lstStyle/>
          <a:p>
            <a:pPr algn="l" indent="0" marL="0">
              <a:buNone/>
            </a:pPr>
            <a:r>
              <a:rPr lang="en-US" sz="1300" b="1" dirty="0">
                <a:solidFill>
                  <a:schemeClr val="accent3"/>
                </a:solidFill>
              </a:rPr>
              <a:t>futurum</a:t>
            </a:r>
            <a:endParaRPr lang="en-US" sz="1300" dirty="0"/>
          </a:p>
          <a:p>
            <a:pPr algn="l" indent="0" marL="0">
              <a:buNone/>
            </a:pPr>
            <a:r>
              <a:rPr lang="en-US" sz="1300" dirty="0">
                <a:solidFill>
                  <a:schemeClr val="accent3"/>
                </a:solidFill>
              </a:rPr>
              <a:t>o.t.t.t.</a:t>
            </a:r>
            <a:endParaRPr lang="en-US" sz="1300" dirty="0"/>
          </a:p>
        </p:txBody>
      </p:sp>
      <p:sp>
        <p:nvSpPr>
          <p:cNvPr id="46" name="Text 43"/>
          <p:cNvSpPr txBox="1"/>
          <p:nvPr/>
        </p:nvSpPr>
        <p:spPr>
          <a:xfrm>
            <a:off x="3200400" y="3831336"/>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futur</a:t>
            </a:r>
            <a:endParaRPr lang="en-US" sz="1300" dirty="0"/>
          </a:p>
        </p:txBody>
      </p:sp>
      <p:sp>
        <p:nvSpPr>
          <p:cNvPr id="47" name="Text 44"/>
          <p:cNvSpPr txBox="1"/>
          <p:nvPr/>
        </p:nvSpPr>
        <p:spPr>
          <a:xfrm>
            <a:off x="5166360" y="3831336"/>
            <a:ext cx="2651760" cy="457200"/>
          </a:xfrm>
          <a:prstGeom prst="rect">
            <a:avLst/>
          </a:prstGeom>
          <a:noFill/>
          <a:ln/>
        </p:spPr>
        <p:txBody>
          <a:bodyPr wrap="square" lIns="0" tIns="0" rIns="0" bIns="0" rtlCol="0" anchor="ctr"/>
          <a:lstStyle/>
          <a:p>
            <a:pPr algn="l" indent="0" marL="0">
              <a:buNone/>
            </a:pPr>
            <a:r>
              <a:rPr lang="en-US" sz="1250" i="1" dirty="0">
                <a:solidFill>
                  <a:schemeClr val="tx2"/>
                </a:solidFill>
              </a:rPr>
              <a:t>zal</a:t>
            </a:r>
            <a:r>
              <a:rPr lang="en-US" sz="1250" dirty="0">
                <a:solidFill>
                  <a:schemeClr val="tx2"/>
                </a:solidFill>
              </a:rPr>
              <a:t> + infinitif</a:t>
            </a:r>
            <a:endParaRPr lang="en-US" sz="1250" dirty="0"/>
          </a:p>
        </p:txBody>
      </p:sp>
      <p:sp>
        <p:nvSpPr>
          <p:cNvPr id="48" name="Text 45"/>
          <p:cNvSpPr txBox="1"/>
          <p:nvPr/>
        </p:nvSpPr>
        <p:spPr>
          <a:xfrm>
            <a:off x="7909560" y="3831336"/>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zal</a:t>
            </a:r>
            <a:r>
              <a:rPr lang="en-US" sz="1300" i="1" dirty="0">
                <a:solidFill>
                  <a:schemeClr val="tx1"/>
                </a:solidFill>
              </a:rPr>
              <a:t> werken</a:t>
            </a:r>
            <a:endParaRPr lang="en-US" sz="1300" dirty="0"/>
          </a:p>
        </p:txBody>
      </p:sp>
      <p:sp>
        <p:nvSpPr>
          <p:cNvPr id="49" name="Text 46"/>
          <p:cNvSpPr txBox="1"/>
          <p:nvPr/>
        </p:nvSpPr>
        <p:spPr>
          <a:xfrm>
            <a:off x="9738360" y="3831336"/>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zal</a:t>
            </a:r>
            <a:r>
              <a:rPr lang="en-US" sz="1300" i="1" dirty="0">
                <a:solidFill>
                  <a:schemeClr val="tx1"/>
                </a:solidFill>
              </a:rPr>
              <a:t> komen</a:t>
            </a:r>
            <a:endParaRPr lang="en-US" sz="1300" dirty="0"/>
          </a:p>
        </p:txBody>
      </p:sp>
      <p:sp>
        <p:nvSpPr>
          <p:cNvPr id="50" name="Shape 47"/>
          <p:cNvSpPr/>
          <p:nvPr/>
        </p:nvSpPr>
        <p:spPr>
          <a:xfrm>
            <a:off x="548640" y="4325112"/>
            <a:ext cx="11045952" cy="457200"/>
          </a:xfrm>
          <a:prstGeom prst="roundRect">
            <a:avLst>
              <a:gd name="adj" fmla="val 12000"/>
            </a:avLst>
          </a:prstGeom>
          <a:solidFill>
            <a:srgbClr val="FFFFFF"/>
          </a:solidFill>
          <a:ln w="12700">
            <a:solidFill>
              <a:srgbClr val="FFFFFF">
                <a:alpha val="0"/>
              </a:srgbClr>
            </a:solidFill>
            <a:prstDash val="solid"/>
          </a:ln>
        </p:spPr>
      </p:sp>
      <p:sp>
        <p:nvSpPr>
          <p:cNvPr id="51" name="Shape 48"/>
          <p:cNvSpPr/>
          <p:nvPr/>
        </p:nvSpPr>
        <p:spPr>
          <a:xfrm>
            <a:off x="548640" y="4325112"/>
            <a:ext cx="109728" cy="457200"/>
          </a:xfrm>
          <a:prstGeom prst="rect">
            <a:avLst/>
          </a:prstGeom>
          <a:solidFill>
            <a:srgbClr val="1B5734"/>
          </a:solidFill>
          <a:ln w="12700">
            <a:solidFill>
              <a:srgbClr val="FFFFFF">
                <a:alpha val="0"/>
              </a:srgbClr>
            </a:solidFill>
            <a:prstDash val="solid"/>
          </a:ln>
        </p:spPr>
      </p:sp>
      <p:sp>
        <p:nvSpPr>
          <p:cNvPr id="52" name="Text 49"/>
          <p:cNvSpPr txBox="1"/>
          <p:nvPr/>
        </p:nvSpPr>
        <p:spPr>
          <a:xfrm>
            <a:off x="749808" y="4325112"/>
            <a:ext cx="2331720" cy="457200"/>
          </a:xfrm>
          <a:prstGeom prst="rect">
            <a:avLst/>
          </a:prstGeom>
          <a:noFill/>
          <a:ln/>
        </p:spPr>
        <p:txBody>
          <a:bodyPr wrap="square" lIns="0" tIns="0" rIns="0" bIns="0" rtlCol="0" anchor="ctr"/>
          <a:lstStyle/>
          <a:p>
            <a:pPr algn="l" indent="0" marL="0">
              <a:buNone/>
            </a:pPr>
            <a:r>
              <a:rPr lang="en-US" sz="1300" b="1" dirty="0">
                <a:solidFill>
                  <a:srgbClr val="1B5734"/>
                </a:solidFill>
              </a:rPr>
              <a:t>futurum exactum</a:t>
            </a:r>
            <a:endParaRPr lang="en-US" sz="1300" dirty="0"/>
          </a:p>
          <a:p>
            <a:pPr algn="l" indent="0" marL="0">
              <a:buNone/>
            </a:pPr>
            <a:r>
              <a:rPr lang="en-US" sz="1300" dirty="0">
                <a:solidFill>
                  <a:srgbClr val="1B5734"/>
                </a:solidFill>
              </a:rPr>
              <a:t>v.t.t.t.</a:t>
            </a:r>
            <a:endParaRPr lang="en-US" sz="1300" dirty="0"/>
          </a:p>
        </p:txBody>
      </p:sp>
      <p:sp>
        <p:nvSpPr>
          <p:cNvPr id="53" name="Text 50"/>
          <p:cNvSpPr txBox="1"/>
          <p:nvPr/>
        </p:nvSpPr>
        <p:spPr>
          <a:xfrm>
            <a:off x="3200400" y="4325112"/>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futur antérieur</a:t>
            </a:r>
            <a:endParaRPr lang="en-US" sz="1300" dirty="0"/>
          </a:p>
        </p:txBody>
      </p:sp>
      <p:sp>
        <p:nvSpPr>
          <p:cNvPr id="54" name="Text 51"/>
          <p:cNvSpPr txBox="1"/>
          <p:nvPr/>
        </p:nvSpPr>
        <p:spPr>
          <a:xfrm>
            <a:off x="5166360" y="4325112"/>
            <a:ext cx="2651760" cy="457200"/>
          </a:xfrm>
          <a:prstGeom prst="rect">
            <a:avLst/>
          </a:prstGeom>
          <a:noFill/>
          <a:ln/>
        </p:spPr>
        <p:txBody>
          <a:bodyPr wrap="square" lIns="0" tIns="0" rIns="0" bIns="0" rtlCol="0" anchor="ctr"/>
          <a:lstStyle/>
          <a:p>
            <a:pPr algn="l" indent="0" marL="0">
              <a:buNone/>
            </a:pPr>
            <a:r>
              <a:rPr lang="en-US" sz="1250" i="1" dirty="0">
                <a:solidFill>
                  <a:schemeClr val="tx2"/>
                </a:solidFill>
              </a:rPr>
              <a:t>zal</a:t>
            </a:r>
            <a:r>
              <a:rPr lang="en-US" sz="1250" dirty="0">
                <a:solidFill>
                  <a:schemeClr val="tx2"/>
                </a:solidFill>
              </a:rPr>
              <a:t> + participe + </a:t>
            </a:r>
            <a:r>
              <a:rPr lang="en-US" sz="1250" i="1" dirty="0">
                <a:solidFill>
                  <a:schemeClr val="tx2"/>
                </a:solidFill>
              </a:rPr>
              <a:t>hebben / zijn</a:t>
            </a:r>
            <a:endParaRPr lang="en-US" sz="1250" dirty="0"/>
          </a:p>
        </p:txBody>
      </p:sp>
      <p:sp>
        <p:nvSpPr>
          <p:cNvPr id="55" name="Text 52"/>
          <p:cNvSpPr txBox="1"/>
          <p:nvPr/>
        </p:nvSpPr>
        <p:spPr>
          <a:xfrm>
            <a:off x="7909560" y="4325112"/>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zal</a:t>
            </a:r>
            <a:r>
              <a:rPr lang="en-US" sz="1300" i="1" dirty="0">
                <a:solidFill>
                  <a:schemeClr val="tx1"/>
                </a:solidFill>
              </a:rPr>
              <a:t> gewerkt </a:t>
            </a:r>
            <a:r>
              <a:rPr lang="en-US" sz="1300" b="1" i="1" dirty="0">
                <a:solidFill>
                  <a:schemeClr val="tx1"/>
                </a:solidFill>
              </a:rPr>
              <a:t>hebben</a:t>
            </a:r>
            <a:endParaRPr lang="en-US" sz="1300" dirty="0"/>
          </a:p>
        </p:txBody>
      </p:sp>
      <p:sp>
        <p:nvSpPr>
          <p:cNvPr id="56" name="Text 53"/>
          <p:cNvSpPr txBox="1"/>
          <p:nvPr/>
        </p:nvSpPr>
        <p:spPr>
          <a:xfrm>
            <a:off x="9738360" y="4325112"/>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zal</a:t>
            </a:r>
            <a:r>
              <a:rPr lang="en-US" sz="1300" i="1" dirty="0">
                <a:solidFill>
                  <a:schemeClr val="tx1"/>
                </a:solidFill>
              </a:rPr>
              <a:t> gekomen </a:t>
            </a:r>
            <a:r>
              <a:rPr lang="en-US" sz="1300" b="1" i="1" dirty="0">
                <a:solidFill>
                  <a:schemeClr val="tx1"/>
                </a:solidFill>
              </a:rPr>
              <a:t>zijn</a:t>
            </a:r>
            <a:endParaRPr lang="en-US" sz="1300" dirty="0"/>
          </a:p>
        </p:txBody>
      </p:sp>
      <p:sp>
        <p:nvSpPr>
          <p:cNvPr id="57" name="Shape 54"/>
          <p:cNvSpPr/>
          <p:nvPr/>
        </p:nvSpPr>
        <p:spPr>
          <a:xfrm>
            <a:off x="548640" y="4818888"/>
            <a:ext cx="11045952" cy="457200"/>
          </a:xfrm>
          <a:prstGeom prst="roundRect">
            <a:avLst>
              <a:gd name="adj" fmla="val 12000"/>
            </a:avLst>
          </a:prstGeom>
          <a:solidFill>
            <a:schemeClr val="bg2"/>
          </a:solidFill>
          <a:ln w="12700">
            <a:solidFill>
              <a:srgbClr val="FFFFFF">
                <a:alpha val="0"/>
              </a:srgbClr>
            </a:solidFill>
            <a:prstDash val="solid"/>
          </a:ln>
        </p:spPr>
      </p:sp>
      <p:sp>
        <p:nvSpPr>
          <p:cNvPr id="58" name="Shape 55"/>
          <p:cNvSpPr/>
          <p:nvPr/>
        </p:nvSpPr>
        <p:spPr>
          <a:xfrm>
            <a:off x="548640" y="4818888"/>
            <a:ext cx="109728" cy="457200"/>
          </a:xfrm>
          <a:prstGeom prst="rect">
            <a:avLst/>
          </a:prstGeom>
          <a:solidFill>
            <a:srgbClr val="6E4A9E"/>
          </a:solidFill>
          <a:ln w="12700">
            <a:solidFill>
              <a:srgbClr val="FFFFFF">
                <a:alpha val="0"/>
              </a:srgbClr>
            </a:solidFill>
            <a:prstDash val="solid"/>
          </a:ln>
        </p:spPr>
      </p:sp>
      <p:sp>
        <p:nvSpPr>
          <p:cNvPr id="59" name="Text 56"/>
          <p:cNvSpPr txBox="1"/>
          <p:nvPr/>
        </p:nvSpPr>
        <p:spPr>
          <a:xfrm>
            <a:off x="749808" y="4818888"/>
            <a:ext cx="2331720" cy="457200"/>
          </a:xfrm>
          <a:prstGeom prst="rect">
            <a:avLst/>
          </a:prstGeom>
          <a:noFill/>
          <a:ln/>
        </p:spPr>
        <p:txBody>
          <a:bodyPr wrap="square" lIns="0" tIns="0" rIns="0" bIns="0" rtlCol="0" anchor="ctr"/>
          <a:lstStyle/>
          <a:p>
            <a:pPr algn="l" indent="0" marL="0">
              <a:buNone/>
            </a:pPr>
            <a:r>
              <a:rPr lang="en-US" sz="1300" b="1" dirty="0">
                <a:solidFill>
                  <a:srgbClr val="6E4A9E"/>
                </a:solidFill>
              </a:rPr>
              <a:t>conditionalis</a:t>
            </a:r>
            <a:endParaRPr lang="en-US" sz="1300" dirty="0"/>
          </a:p>
          <a:p>
            <a:pPr algn="l" indent="0" marL="0">
              <a:buNone/>
            </a:pPr>
            <a:r>
              <a:rPr lang="en-US" sz="1300" dirty="0">
                <a:solidFill>
                  <a:srgbClr val="6E4A9E"/>
                </a:solidFill>
              </a:rPr>
              <a:t>o.v.t.t.</a:t>
            </a:r>
            <a:endParaRPr lang="en-US" sz="1300" dirty="0"/>
          </a:p>
        </p:txBody>
      </p:sp>
      <p:sp>
        <p:nvSpPr>
          <p:cNvPr id="60" name="Text 57"/>
          <p:cNvSpPr txBox="1"/>
          <p:nvPr/>
        </p:nvSpPr>
        <p:spPr>
          <a:xfrm>
            <a:off x="3200400" y="4818888"/>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conditionnel</a:t>
            </a:r>
            <a:endParaRPr lang="en-US" sz="1300" dirty="0"/>
          </a:p>
        </p:txBody>
      </p:sp>
      <p:sp>
        <p:nvSpPr>
          <p:cNvPr id="61" name="Text 58"/>
          <p:cNvSpPr txBox="1"/>
          <p:nvPr/>
        </p:nvSpPr>
        <p:spPr>
          <a:xfrm>
            <a:off x="5166360" y="4818888"/>
            <a:ext cx="2651760" cy="457200"/>
          </a:xfrm>
          <a:prstGeom prst="rect">
            <a:avLst/>
          </a:prstGeom>
          <a:noFill/>
          <a:ln/>
        </p:spPr>
        <p:txBody>
          <a:bodyPr wrap="square" lIns="0" tIns="0" rIns="0" bIns="0" rtlCol="0" anchor="ctr"/>
          <a:lstStyle/>
          <a:p>
            <a:pPr algn="l" indent="0" marL="0">
              <a:buNone/>
            </a:pPr>
            <a:r>
              <a:rPr lang="en-US" sz="1250" i="1" dirty="0">
                <a:solidFill>
                  <a:schemeClr val="tx2"/>
                </a:solidFill>
              </a:rPr>
              <a:t>zou</a:t>
            </a:r>
            <a:r>
              <a:rPr lang="en-US" sz="1250" dirty="0">
                <a:solidFill>
                  <a:schemeClr val="tx2"/>
                </a:solidFill>
              </a:rPr>
              <a:t> + infinitif</a:t>
            </a:r>
            <a:endParaRPr lang="en-US" sz="1250" dirty="0"/>
          </a:p>
        </p:txBody>
      </p:sp>
      <p:sp>
        <p:nvSpPr>
          <p:cNvPr id="62" name="Text 59"/>
          <p:cNvSpPr txBox="1"/>
          <p:nvPr/>
        </p:nvSpPr>
        <p:spPr>
          <a:xfrm>
            <a:off x="7909560" y="4818888"/>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zou</a:t>
            </a:r>
            <a:r>
              <a:rPr lang="en-US" sz="1300" i="1" dirty="0">
                <a:solidFill>
                  <a:schemeClr val="tx1"/>
                </a:solidFill>
              </a:rPr>
              <a:t> werken</a:t>
            </a:r>
            <a:endParaRPr lang="en-US" sz="1300" dirty="0"/>
          </a:p>
        </p:txBody>
      </p:sp>
      <p:sp>
        <p:nvSpPr>
          <p:cNvPr id="63" name="Text 60"/>
          <p:cNvSpPr txBox="1"/>
          <p:nvPr/>
        </p:nvSpPr>
        <p:spPr>
          <a:xfrm>
            <a:off x="9738360" y="4818888"/>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zou</a:t>
            </a:r>
            <a:r>
              <a:rPr lang="en-US" sz="1300" i="1" dirty="0">
                <a:solidFill>
                  <a:schemeClr val="tx1"/>
                </a:solidFill>
              </a:rPr>
              <a:t> komen</a:t>
            </a:r>
            <a:endParaRPr lang="en-US" sz="1300" dirty="0"/>
          </a:p>
        </p:txBody>
      </p:sp>
      <p:sp>
        <p:nvSpPr>
          <p:cNvPr id="64" name="Shape 61"/>
          <p:cNvSpPr/>
          <p:nvPr/>
        </p:nvSpPr>
        <p:spPr>
          <a:xfrm>
            <a:off x="548640" y="5312664"/>
            <a:ext cx="11045952" cy="457200"/>
          </a:xfrm>
          <a:prstGeom prst="roundRect">
            <a:avLst>
              <a:gd name="adj" fmla="val 12000"/>
            </a:avLst>
          </a:prstGeom>
          <a:solidFill>
            <a:srgbClr val="FFFFFF"/>
          </a:solidFill>
          <a:ln w="12700">
            <a:solidFill>
              <a:srgbClr val="FFFFFF">
                <a:alpha val="0"/>
              </a:srgbClr>
            </a:solidFill>
            <a:prstDash val="solid"/>
          </a:ln>
        </p:spPr>
      </p:sp>
      <p:sp>
        <p:nvSpPr>
          <p:cNvPr id="65" name="Shape 62"/>
          <p:cNvSpPr/>
          <p:nvPr/>
        </p:nvSpPr>
        <p:spPr>
          <a:xfrm>
            <a:off x="548640" y="5312664"/>
            <a:ext cx="109728" cy="457200"/>
          </a:xfrm>
          <a:prstGeom prst="rect">
            <a:avLst/>
          </a:prstGeom>
          <a:solidFill>
            <a:srgbClr val="45306A"/>
          </a:solidFill>
          <a:ln w="12700">
            <a:solidFill>
              <a:srgbClr val="FFFFFF">
                <a:alpha val="0"/>
              </a:srgbClr>
            </a:solidFill>
            <a:prstDash val="solid"/>
          </a:ln>
        </p:spPr>
      </p:sp>
      <p:sp>
        <p:nvSpPr>
          <p:cNvPr id="66" name="Text 63"/>
          <p:cNvSpPr txBox="1"/>
          <p:nvPr/>
        </p:nvSpPr>
        <p:spPr>
          <a:xfrm>
            <a:off x="749808" y="5312664"/>
            <a:ext cx="2331720" cy="457200"/>
          </a:xfrm>
          <a:prstGeom prst="rect">
            <a:avLst/>
          </a:prstGeom>
          <a:noFill/>
          <a:ln/>
        </p:spPr>
        <p:txBody>
          <a:bodyPr wrap="square" lIns="0" tIns="0" rIns="0" bIns="0" rtlCol="0" anchor="ctr"/>
          <a:lstStyle/>
          <a:p>
            <a:pPr algn="l" indent="0" marL="0">
              <a:buNone/>
            </a:pPr>
            <a:r>
              <a:rPr lang="en-US" sz="1150" b="1" dirty="0">
                <a:solidFill>
                  <a:srgbClr val="45306A"/>
                </a:solidFill>
              </a:rPr>
              <a:t>conditionalis perfectum</a:t>
            </a:r>
            <a:endParaRPr lang="en-US" sz="1150" dirty="0"/>
          </a:p>
          <a:p>
            <a:pPr algn="l" indent="0" marL="0">
              <a:buNone/>
            </a:pPr>
            <a:r>
              <a:rPr lang="en-US" sz="1150" dirty="0">
                <a:solidFill>
                  <a:srgbClr val="45306A"/>
                </a:solidFill>
              </a:rPr>
              <a:t>v.v.t.t.</a:t>
            </a:r>
            <a:endParaRPr lang="en-US" sz="1150" dirty="0"/>
          </a:p>
        </p:txBody>
      </p:sp>
      <p:sp>
        <p:nvSpPr>
          <p:cNvPr id="67" name="Text 64"/>
          <p:cNvSpPr txBox="1"/>
          <p:nvPr/>
        </p:nvSpPr>
        <p:spPr>
          <a:xfrm>
            <a:off x="3200400" y="5312664"/>
            <a:ext cx="1874520" cy="457200"/>
          </a:xfrm>
          <a:prstGeom prst="rect">
            <a:avLst/>
          </a:prstGeom>
          <a:noFill/>
          <a:ln/>
        </p:spPr>
        <p:txBody>
          <a:bodyPr wrap="square" lIns="0" tIns="0" rIns="0" bIns="0" rtlCol="0" anchor="ctr"/>
          <a:lstStyle/>
          <a:p>
            <a:pPr algn="l" indent="0" marL="0">
              <a:buNone/>
            </a:pPr>
            <a:r>
              <a:rPr lang="en-US" sz="1300" i="1" dirty="0">
                <a:solidFill>
                  <a:schemeClr val="accent5"/>
                </a:solidFill>
              </a:rPr>
              <a:t>conditionnel passé</a:t>
            </a:r>
            <a:endParaRPr lang="en-US" sz="1300" dirty="0"/>
          </a:p>
        </p:txBody>
      </p:sp>
      <p:sp>
        <p:nvSpPr>
          <p:cNvPr id="68" name="Text 65"/>
          <p:cNvSpPr txBox="1"/>
          <p:nvPr/>
        </p:nvSpPr>
        <p:spPr>
          <a:xfrm>
            <a:off x="5166360" y="5312664"/>
            <a:ext cx="2651760" cy="457200"/>
          </a:xfrm>
          <a:prstGeom prst="rect">
            <a:avLst/>
          </a:prstGeom>
          <a:noFill/>
          <a:ln/>
        </p:spPr>
        <p:txBody>
          <a:bodyPr wrap="square" lIns="0" tIns="0" rIns="0" bIns="0" rtlCol="0" anchor="ctr"/>
          <a:lstStyle/>
          <a:p>
            <a:pPr algn="l" indent="0" marL="0">
              <a:buNone/>
            </a:pPr>
            <a:r>
              <a:rPr lang="en-US" sz="1250" i="1" dirty="0">
                <a:solidFill>
                  <a:schemeClr val="tx2"/>
                </a:solidFill>
              </a:rPr>
              <a:t>zou</a:t>
            </a:r>
            <a:r>
              <a:rPr lang="en-US" sz="1250" dirty="0">
                <a:solidFill>
                  <a:schemeClr val="tx2"/>
                </a:solidFill>
              </a:rPr>
              <a:t> + participe + </a:t>
            </a:r>
            <a:r>
              <a:rPr lang="en-US" sz="1250" i="1" dirty="0">
                <a:solidFill>
                  <a:schemeClr val="tx2"/>
                </a:solidFill>
              </a:rPr>
              <a:t>hebben / zijn</a:t>
            </a:r>
            <a:endParaRPr lang="en-US" sz="1250" dirty="0"/>
          </a:p>
        </p:txBody>
      </p:sp>
      <p:sp>
        <p:nvSpPr>
          <p:cNvPr id="69" name="Text 66"/>
          <p:cNvSpPr txBox="1"/>
          <p:nvPr/>
        </p:nvSpPr>
        <p:spPr>
          <a:xfrm>
            <a:off x="7909560" y="5312664"/>
            <a:ext cx="178308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zou</a:t>
            </a:r>
            <a:r>
              <a:rPr lang="en-US" sz="1300" i="1" dirty="0">
                <a:solidFill>
                  <a:schemeClr val="tx1"/>
                </a:solidFill>
              </a:rPr>
              <a:t> gewerkt </a:t>
            </a:r>
            <a:r>
              <a:rPr lang="en-US" sz="1300" b="1" i="1" dirty="0">
                <a:solidFill>
                  <a:schemeClr val="tx1"/>
                </a:solidFill>
              </a:rPr>
              <a:t>hebben</a:t>
            </a:r>
            <a:endParaRPr lang="en-US" sz="1300" dirty="0"/>
          </a:p>
        </p:txBody>
      </p:sp>
      <p:sp>
        <p:nvSpPr>
          <p:cNvPr id="70" name="Text 67"/>
          <p:cNvSpPr txBox="1"/>
          <p:nvPr/>
        </p:nvSpPr>
        <p:spPr>
          <a:xfrm>
            <a:off x="9738360" y="5312664"/>
            <a:ext cx="1874520" cy="457200"/>
          </a:xfrm>
          <a:prstGeom prst="rect">
            <a:avLst/>
          </a:prstGeom>
          <a:noFill/>
          <a:ln/>
        </p:spPr>
        <p:txBody>
          <a:bodyPr wrap="square" lIns="0" tIns="0" rIns="0" bIns="0" rtlCol="0" anchor="ctr"/>
          <a:lstStyle/>
          <a:p>
            <a:pPr algn="l" indent="0" marL="0">
              <a:buNone/>
            </a:pPr>
            <a:r>
              <a:rPr lang="en-US" sz="1300" i="1" dirty="0">
                <a:solidFill>
                  <a:schemeClr val="tx1"/>
                </a:solidFill>
              </a:rPr>
              <a:t>ik </a:t>
            </a:r>
            <a:r>
              <a:rPr lang="en-US" sz="1300" b="1" i="1" dirty="0">
                <a:solidFill>
                  <a:schemeClr val="tx1"/>
                </a:solidFill>
              </a:rPr>
              <a:t>zou</a:t>
            </a:r>
            <a:r>
              <a:rPr lang="en-US" sz="1300" i="1" dirty="0">
                <a:solidFill>
                  <a:schemeClr val="tx1"/>
                </a:solidFill>
              </a:rPr>
              <a:t> gekomen </a:t>
            </a:r>
            <a:r>
              <a:rPr lang="en-US" sz="1300" b="1" i="1" dirty="0">
                <a:solidFill>
                  <a:schemeClr val="tx1"/>
                </a:solidFill>
              </a:rPr>
              <a:t>zijn</a:t>
            </a:r>
            <a:endParaRPr lang="en-US" sz="1300" dirty="0"/>
          </a:p>
        </p:txBody>
      </p:sp>
      <p:sp>
        <p:nvSpPr>
          <p:cNvPr id="71" name="Text 68"/>
          <p:cNvSpPr txBox="1"/>
          <p:nvPr/>
        </p:nvSpPr>
        <p:spPr>
          <a:xfrm>
            <a:off x="548640" y="5852160"/>
            <a:ext cx="11091672" cy="365760"/>
          </a:xfrm>
          <a:prstGeom prst="rect">
            <a:avLst/>
          </a:prstGeom>
          <a:noFill/>
          <a:ln/>
        </p:spPr>
        <p:txBody>
          <a:bodyPr wrap="square" lIns="0" tIns="0" rIns="0" bIns="0" rtlCol="0" anchor="ctr"/>
          <a:lstStyle/>
          <a:p>
            <a:pPr algn="ctr" indent="0" marL="0">
              <a:buNone/>
            </a:pPr>
            <a:r>
              <a:rPr lang="en-US" sz="1400" dirty="0">
                <a:solidFill>
                  <a:schemeClr val="tx2"/>
                </a:solidFill>
              </a:rPr>
              <a:t>Forme courte, très fréquente : </a:t>
            </a:r>
            <a:r>
              <a:rPr lang="en-US" sz="1400" i="1" dirty="0">
                <a:solidFill>
                  <a:schemeClr val="tx2"/>
                </a:solidFill>
              </a:rPr>
              <a:t>ik zou gewerkt hebben</a:t>
            </a:r>
            <a:r>
              <a:rPr lang="en-US" sz="1400" dirty="0">
                <a:solidFill>
                  <a:schemeClr val="tx2"/>
                </a:solidFill>
              </a:rPr>
              <a:t> → </a:t>
            </a:r>
            <a:r>
              <a:rPr lang="en-US" sz="1400" i="1" dirty="0">
                <a:solidFill>
                  <a:schemeClr val="tx2"/>
                </a:solidFill>
              </a:rPr>
              <a:t>ik </a:t>
            </a:r>
            <a:r>
              <a:rPr lang="en-US" sz="1400" b="1" i="1" dirty="0">
                <a:solidFill>
                  <a:schemeClr val="tx2"/>
                </a:solidFill>
              </a:rPr>
              <a:t>had</a:t>
            </a:r>
            <a:r>
              <a:rPr lang="en-US" sz="1400" i="1" dirty="0">
                <a:solidFill>
                  <a:schemeClr val="tx2"/>
                </a:solidFill>
              </a:rPr>
              <a:t> gewerkt</a:t>
            </a:r>
            <a:r>
              <a:rPr lang="en-US" sz="1400" dirty="0">
                <a:solidFill>
                  <a:schemeClr val="tx2"/>
                </a:solidFill>
              </a:rPr>
              <a:t> · </a:t>
            </a:r>
            <a:r>
              <a:rPr lang="en-US" sz="1400" i="1" dirty="0">
                <a:solidFill>
                  <a:schemeClr val="tx2"/>
                </a:solidFill>
              </a:rPr>
              <a:t>ik zou gekomen zijn</a:t>
            </a:r>
            <a:r>
              <a:rPr lang="en-US" sz="1400" dirty="0">
                <a:solidFill>
                  <a:schemeClr val="tx2"/>
                </a:solidFill>
              </a:rPr>
              <a:t> → </a:t>
            </a:r>
            <a:r>
              <a:rPr lang="en-US" sz="1400" i="1" dirty="0">
                <a:solidFill>
                  <a:schemeClr val="tx2"/>
                </a:solidFill>
              </a:rPr>
              <a:t>ik </a:t>
            </a:r>
            <a:r>
              <a:rPr lang="en-US" sz="1400" b="1" i="1" dirty="0">
                <a:solidFill>
                  <a:schemeClr val="tx2"/>
                </a:solidFill>
              </a:rPr>
              <a:t>was</a:t>
            </a:r>
            <a:r>
              <a:rPr lang="en-US" sz="1400" i="1" dirty="0">
                <a:solidFill>
                  <a:schemeClr val="tx2"/>
                </a:solidFill>
              </a:rPr>
              <a:t> gekomen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Trois briques pour construire tous les temps</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RAPPEL</a:t>
            </a:r>
            <a:endParaRPr lang="en-US" sz="1200" dirty="0"/>
          </a:p>
        </p:txBody>
      </p:sp>
      <p:sp>
        <p:nvSpPr>
          <p:cNvPr id="5" name="Shape 2"/>
          <p:cNvSpPr/>
          <p:nvPr/>
        </p:nvSpPr>
        <p:spPr>
          <a:xfrm>
            <a:off x="576072" y="1463040"/>
            <a:ext cx="402336" cy="219456"/>
          </a:xfrm>
          <a:prstGeom prst="ellipse">
            <a:avLst/>
          </a:prstGeom>
          <a:solidFill>
            <a:schemeClr val="accent2"/>
          </a:solidFill>
          <a:ln w="12700">
            <a:solidFill>
              <a:srgbClr val="FFFFFF">
                <a:alpha val="0"/>
              </a:srgbClr>
            </a:solidFill>
            <a:prstDash val="solid"/>
          </a:ln>
        </p:spPr>
      </p:sp>
      <p:sp>
        <p:nvSpPr>
          <p:cNvPr id="6" name="Shape 3"/>
          <p:cNvSpPr/>
          <p:nvPr/>
        </p:nvSpPr>
        <p:spPr>
          <a:xfrm>
            <a:off x="2135124" y="1463040"/>
            <a:ext cx="402336" cy="219456"/>
          </a:xfrm>
          <a:prstGeom prst="ellipse">
            <a:avLst/>
          </a:prstGeom>
          <a:solidFill>
            <a:schemeClr val="accent2"/>
          </a:solidFill>
          <a:ln w="12700">
            <a:solidFill>
              <a:srgbClr val="FFFFFF">
                <a:alpha val="0"/>
              </a:srgbClr>
            </a:solidFill>
            <a:prstDash val="solid"/>
          </a:ln>
        </p:spPr>
      </p:sp>
      <p:sp>
        <p:nvSpPr>
          <p:cNvPr id="7" name="Shape 4"/>
          <p:cNvSpPr/>
          <p:nvPr/>
        </p:nvSpPr>
        <p:spPr>
          <a:xfrm>
            <a:off x="3694176" y="1463040"/>
            <a:ext cx="402336" cy="219456"/>
          </a:xfrm>
          <a:prstGeom prst="ellipse">
            <a:avLst/>
          </a:prstGeom>
          <a:solidFill>
            <a:schemeClr val="accent2"/>
          </a:solidFill>
          <a:ln w="12700">
            <a:solidFill>
              <a:srgbClr val="FFFFFF">
                <a:alpha val="0"/>
              </a:srgbClr>
            </a:solidFill>
            <a:prstDash val="solid"/>
          </a:ln>
        </p:spPr>
      </p:sp>
      <p:sp>
        <p:nvSpPr>
          <p:cNvPr id="8" name="Shape 5"/>
          <p:cNvSpPr/>
          <p:nvPr/>
        </p:nvSpPr>
        <p:spPr>
          <a:xfrm>
            <a:off x="548640" y="1572768"/>
            <a:ext cx="3575304" cy="1600200"/>
          </a:xfrm>
          <a:prstGeom prst="roundRect">
            <a:avLst>
              <a:gd name="adj" fmla="val 4571"/>
            </a:avLst>
          </a:prstGeom>
          <a:solidFill>
            <a:schemeClr val="accent2"/>
          </a:solidFill>
          <a:ln w="12700">
            <a:solidFill>
              <a:srgbClr val="FFFFFF">
                <a:alpha val="0"/>
              </a:srgbClr>
            </a:solidFill>
            <a:prstDash val="solid"/>
          </a:ln>
        </p:spPr>
      </p:sp>
      <p:sp>
        <p:nvSpPr>
          <p:cNvPr id="9" name="Text 6"/>
          <p:cNvSpPr txBox="1"/>
          <p:nvPr/>
        </p:nvSpPr>
        <p:spPr>
          <a:xfrm>
            <a:off x="685800" y="1645920"/>
            <a:ext cx="3300984" cy="411480"/>
          </a:xfrm>
          <a:prstGeom prst="rect">
            <a:avLst/>
          </a:prstGeom>
          <a:noFill/>
          <a:ln/>
        </p:spPr>
        <p:txBody>
          <a:bodyPr wrap="square" lIns="0" tIns="0" rIns="0" bIns="0" rtlCol="0" anchor="ctr"/>
          <a:lstStyle/>
          <a:p>
            <a:pPr algn="ctr" indent="0" marL="0">
              <a:buNone/>
            </a:pPr>
            <a:r>
              <a:rPr lang="en-US" sz="1700" b="1" dirty="0">
                <a:solidFill>
                  <a:schemeClr val="bg1"/>
                </a:solidFill>
              </a:rPr>
              <a:t>LE RADICAL</a:t>
            </a:r>
            <a:endParaRPr lang="en-US" sz="1700" dirty="0"/>
          </a:p>
        </p:txBody>
      </p:sp>
      <p:sp>
        <p:nvSpPr>
          <p:cNvPr id="10" name="Text 7"/>
          <p:cNvSpPr txBox="1"/>
          <p:nvPr/>
        </p:nvSpPr>
        <p:spPr>
          <a:xfrm>
            <a:off x="685800" y="2084832"/>
            <a:ext cx="3300984" cy="457200"/>
          </a:xfrm>
          <a:prstGeom prst="rect">
            <a:avLst/>
          </a:prstGeom>
          <a:noFill/>
          <a:ln/>
        </p:spPr>
        <p:txBody>
          <a:bodyPr wrap="square" lIns="0" tIns="0" rIns="0" bIns="0" rtlCol="0" anchor="ctr"/>
          <a:lstStyle/>
          <a:p>
            <a:pPr algn="ctr" indent="0" marL="0">
              <a:buNone/>
            </a:pPr>
            <a:r>
              <a:rPr lang="en-US" sz="1700" b="1" i="1" dirty="0">
                <a:solidFill>
                  <a:schemeClr val="bg1"/>
                </a:solidFill>
              </a:rPr>
              <a:t>werk- · kom-</a:t>
            </a:r>
            <a:endParaRPr lang="en-US" sz="1700" dirty="0"/>
          </a:p>
        </p:txBody>
      </p:sp>
      <p:sp>
        <p:nvSpPr>
          <p:cNvPr id="11" name="Text 8"/>
          <p:cNvSpPr txBox="1"/>
          <p:nvPr/>
        </p:nvSpPr>
        <p:spPr>
          <a:xfrm>
            <a:off x="685800" y="2560320"/>
            <a:ext cx="3300984" cy="502920"/>
          </a:xfrm>
          <a:prstGeom prst="rect">
            <a:avLst/>
          </a:prstGeom>
          <a:noFill/>
          <a:ln/>
        </p:spPr>
        <p:txBody>
          <a:bodyPr wrap="square" lIns="0" tIns="0" rIns="0" bIns="0" rtlCol="0" anchor="ctr"/>
          <a:lstStyle/>
          <a:p>
            <a:pPr algn="ctr" indent="0" marL="0">
              <a:buNone/>
            </a:pPr>
            <a:r>
              <a:rPr lang="en-US" sz="1300" dirty="0">
                <a:solidFill>
                  <a:schemeClr val="bg1"/>
                </a:solidFill>
              </a:rPr>
              <a:t>presens · imperfectum (+ </a:t>
            </a:r>
            <a:r>
              <a:rPr lang="en-US" sz="1300" i="1" dirty="0">
                <a:solidFill>
                  <a:schemeClr val="bg1"/>
                </a:solidFill>
              </a:rPr>
              <a:t>te / de</a:t>
            </a:r>
            <a:r>
              <a:rPr lang="en-US" sz="1300" dirty="0">
                <a:solidFill>
                  <a:schemeClr val="bg1"/>
                </a:solidFill>
              </a:rPr>
              <a:t>)</a:t>
            </a:r>
            <a:endParaRPr lang="en-US" sz="1300" dirty="0"/>
          </a:p>
        </p:txBody>
      </p:sp>
      <p:sp>
        <p:nvSpPr>
          <p:cNvPr id="12" name="Shape 9"/>
          <p:cNvSpPr/>
          <p:nvPr/>
        </p:nvSpPr>
        <p:spPr>
          <a:xfrm>
            <a:off x="4334256" y="1463040"/>
            <a:ext cx="402336" cy="219456"/>
          </a:xfrm>
          <a:prstGeom prst="ellipse">
            <a:avLst/>
          </a:prstGeom>
          <a:solidFill>
            <a:schemeClr val="accent4"/>
          </a:solidFill>
          <a:ln w="12700">
            <a:solidFill>
              <a:srgbClr val="FFFFFF">
                <a:alpha val="0"/>
              </a:srgbClr>
            </a:solidFill>
            <a:prstDash val="solid"/>
          </a:ln>
        </p:spPr>
      </p:sp>
      <p:sp>
        <p:nvSpPr>
          <p:cNvPr id="13" name="Shape 10"/>
          <p:cNvSpPr/>
          <p:nvPr/>
        </p:nvSpPr>
        <p:spPr>
          <a:xfrm>
            <a:off x="5893308" y="1463040"/>
            <a:ext cx="402336" cy="219456"/>
          </a:xfrm>
          <a:prstGeom prst="ellipse">
            <a:avLst/>
          </a:prstGeom>
          <a:solidFill>
            <a:schemeClr val="accent4"/>
          </a:solidFill>
          <a:ln w="12700">
            <a:solidFill>
              <a:srgbClr val="FFFFFF">
                <a:alpha val="0"/>
              </a:srgbClr>
            </a:solidFill>
            <a:prstDash val="solid"/>
          </a:ln>
        </p:spPr>
      </p:sp>
      <p:sp>
        <p:nvSpPr>
          <p:cNvPr id="14" name="Shape 11"/>
          <p:cNvSpPr/>
          <p:nvPr/>
        </p:nvSpPr>
        <p:spPr>
          <a:xfrm>
            <a:off x="7452360" y="1463040"/>
            <a:ext cx="402336" cy="219456"/>
          </a:xfrm>
          <a:prstGeom prst="ellipse">
            <a:avLst/>
          </a:prstGeom>
          <a:solidFill>
            <a:schemeClr val="accent4"/>
          </a:solidFill>
          <a:ln w="12700">
            <a:solidFill>
              <a:srgbClr val="FFFFFF">
                <a:alpha val="0"/>
              </a:srgbClr>
            </a:solidFill>
            <a:prstDash val="solid"/>
          </a:ln>
        </p:spPr>
      </p:sp>
      <p:sp>
        <p:nvSpPr>
          <p:cNvPr id="15" name="Shape 12"/>
          <p:cNvSpPr/>
          <p:nvPr/>
        </p:nvSpPr>
        <p:spPr>
          <a:xfrm>
            <a:off x="4306824" y="1572768"/>
            <a:ext cx="3575304" cy="1600200"/>
          </a:xfrm>
          <a:prstGeom prst="roundRect">
            <a:avLst>
              <a:gd name="adj" fmla="val 4571"/>
            </a:avLst>
          </a:prstGeom>
          <a:solidFill>
            <a:schemeClr val="accent4"/>
          </a:solidFill>
          <a:ln w="12700">
            <a:solidFill>
              <a:srgbClr val="FFFFFF">
                <a:alpha val="0"/>
              </a:srgbClr>
            </a:solidFill>
            <a:prstDash val="solid"/>
          </a:ln>
        </p:spPr>
      </p:sp>
      <p:sp>
        <p:nvSpPr>
          <p:cNvPr id="16" name="Text 13"/>
          <p:cNvSpPr txBox="1"/>
          <p:nvPr/>
        </p:nvSpPr>
        <p:spPr>
          <a:xfrm>
            <a:off x="4443984" y="1645920"/>
            <a:ext cx="3300984" cy="411480"/>
          </a:xfrm>
          <a:prstGeom prst="rect">
            <a:avLst/>
          </a:prstGeom>
          <a:noFill/>
          <a:ln/>
        </p:spPr>
        <p:txBody>
          <a:bodyPr wrap="square" lIns="0" tIns="0" rIns="0" bIns="0" rtlCol="0" anchor="ctr"/>
          <a:lstStyle/>
          <a:p>
            <a:pPr algn="ctr" indent="0" marL="0">
              <a:buNone/>
            </a:pPr>
            <a:r>
              <a:rPr lang="en-US" sz="1700" b="1" dirty="0">
                <a:solidFill>
                  <a:schemeClr val="bg1"/>
                </a:solidFill>
              </a:rPr>
              <a:t>LE PARTICIPE</a:t>
            </a:r>
            <a:endParaRPr lang="en-US" sz="1700" dirty="0"/>
          </a:p>
        </p:txBody>
      </p:sp>
      <p:sp>
        <p:nvSpPr>
          <p:cNvPr id="17" name="Text 14"/>
          <p:cNvSpPr txBox="1"/>
          <p:nvPr/>
        </p:nvSpPr>
        <p:spPr>
          <a:xfrm>
            <a:off x="4443984" y="2084832"/>
            <a:ext cx="3300984" cy="457200"/>
          </a:xfrm>
          <a:prstGeom prst="rect">
            <a:avLst/>
          </a:prstGeom>
          <a:noFill/>
          <a:ln/>
        </p:spPr>
        <p:txBody>
          <a:bodyPr wrap="square" lIns="0" tIns="0" rIns="0" bIns="0" rtlCol="0" anchor="ctr"/>
          <a:lstStyle/>
          <a:p>
            <a:pPr algn="ctr" indent="0" marL="0">
              <a:buNone/>
            </a:pPr>
            <a:r>
              <a:rPr lang="en-US" sz="1700" b="1" i="1" dirty="0">
                <a:solidFill>
                  <a:schemeClr val="bg1"/>
                </a:solidFill>
              </a:rPr>
              <a:t>ge-werk-t · ge-kom-en</a:t>
            </a:r>
            <a:endParaRPr lang="en-US" sz="1700" dirty="0"/>
          </a:p>
        </p:txBody>
      </p:sp>
      <p:sp>
        <p:nvSpPr>
          <p:cNvPr id="18" name="Text 15"/>
          <p:cNvSpPr txBox="1"/>
          <p:nvPr/>
        </p:nvSpPr>
        <p:spPr>
          <a:xfrm>
            <a:off x="4443984" y="2560320"/>
            <a:ext cx="3300984" cy="502920"/>
          </a:xfrm>
          <a:prstGeom prst="rect">
            <a:avLst/>
          </a:prstGeom>
          <a:noFill/>
          <a:ln/>
        </p:spPr>
        <p:txBody>
          <a:bodyPr wrap="square" lIns="0" tIns="0" rIns="0" bIns="0" rtlCol="0" anchor="ctr"/>
          <a:lstStyle/>
          <a:p>
            <a:pPr algn="ctr" indent="0" marL="0">
              <a:buNone/>
            </a:pPr>
            <a:r>
              <a:rPr lang="en-US" sz="1300" dirty="0">
                <a:solidFill>
                  <a:schemeClr val="bg1"/>
                </a:solidFill>
              </a:rPr>
              <a:t>les 4 temps </a:t>
            </a:r>
            <a:r>
              <a:rPr lang="en-US" sz="1300" i="1" dirty="0">
                <a:solidFill>
                  <a:schemeClr val="bg1"/>
                </a:solidFill>
              </a:rPr>
              <a:t>voltooid</a:t>
            </a:r>
            <a:r>
              <a:rPr lang="en-US" sz="1300" dirty="0">
                <a:solidFill>
                  <a:schemeClr val="bg1"/>
                </a:solidFill>
              </a:rPr>
              <a:t> (terminés)</a:t>
            </a:r>
            <a:endParaRPr lang="en-US" sz="1300" dirty="0"/>
          </a:p>
        </p:txBody>
      </p:sp>
      <p:sp>
        <p:nvSpPr>
          <p:cNvPr id="19" name="Shape 16"/>
          <p:cNvSpPr/>
          <p:nvPr/>
        </p:nvSpPr>
        <p:spPr>
          <a:xfrm>
            <a:off x="8092440" y="1463040"/>
            <a:ext cx="402336" cy="219456"/>
          </a:xfrm>
          <a:prstGeom prst="ellipse">
            <a:avLst/>
          </a:prstGeom>
          <a:solidFill>
            <a:schemeClr val="tx2"/>
          </a:solidFill>
          <a:ln w="12700">
            <a:solidFill>
              <a:srgbClr val="FFFFFF">
                <a:alpha val="0"/>
              </a:srgbClr>
            </a:solidFill>
            <a:prstDash val="solid"/>
          </a:ln>
        </p:spPr>
      </p:sp>
      <p:sp>
        <p:nvSpPr>
          <p:cNvPr id="20" name="Shape 17"/>
          <p:cNvSpPr/>
          <p:nvPr/>
        </p:nvSpPr>
        <p:spPr>
          <a:xfrm>
            <a:off x="9651492" y="1463040"/>
            <a:ext cx="402336" cy="219456"/>
          </a:xfrm>
          <a:prstGeom prst="ellipse">
            <a:avLst/>
          </a:prstGeom>
          <a:solidFill>
            <a:schemeClr val="tx2"/>
          </a:solidFill>
          <a:ln w="12700">
            <a:solidFill>
              <a:srgbClr val="FFFFFF">
                <a:alpha val="0"/>
              </a:srgbClr>
            </a:solidFill>
            <a:prstDash val="solid"/>
          </a:ln>
        </p:spPr>
      </p:sp>
      <p:sp>
        <p:nvSpPr>
          <p:cNvPr id="21" name="Shape 18"/>
          <p:cNvSpPr/>
          <p:nvPr/>
        </p:nvSpPr>
        <p:spPr>
          <a:xfrm>
            <a:off x="11210544" y="1463040"/>
            <a:ext cx="402336" cy="219456"/>
          </a:xfrm>
          <a:prstGeom prst="ellipse">
            <a:avLst/>
          </a:prstGeom>
          <a:solidFill>
            <a:schemeClr val="tx2"/>
          </a:solidFill>
          <a:ln w="12700">
            <a:solidFill>
              <a:srgbClr val="FFFFFF">
                <a:alpha val="0"/>
              </a:srgbClr>
            </a:solidFill>
            <a:prstDash val="solid"/>
          </a:ln>
        </p:spPr>
      </p:sp>
      <p:sp>
        <p:nvSpPr>
          <p:cNvPr id="22" name="Shape 19"/>
          <p:cNvSpPr/>
          <p:nvPr/>
        </p:nvSpPr>
        <p:spPr>
          <a:xfrm>
            <a:off x="8065008" y="1572768"/>
            <a:ext cx="3575304" cy="1600200"/>
          </a:xfrm>
          <a:prstGeom prst="roundRect">
            <a:avLst>
              <a:gd name="adj" fmla="val 4571"/>
            </a:avLst>
          </a:prstGeom>
          <a:solidFill>
            <a:schemeClr val="tx2"/>
          </a:solidFill>
          <a:ln w="12700">
            <a:solidFill>
              <a:srgbClr val="FFFFFF">
                <a:alpha val="0"/>
              </a:srgbClr>
            </a:solidFill>
            <a:prstDash val="solid"/>
          </a:ln>
        </p:spPr>
      </p:sp>
      <p:sp>
        <p:nvSpPr>
          <p:cNvPr id="23" name="Text 20"/>
          <p:cNvSpPr txBox="1"/>
          <p:nvPr/>
        </p:nvSpPr>
        <p:spPr>
          <a:xfrm>
            <a:off x="8202168" y="1645920"/>
            <a:ext cx="3300984" cy="411480"/>
          </a:xfrm>
          <a:prstGeom prst="rect">
            <a:avLst/>
          </a:prstGeom>
          <a:noFill/>
          <a:ln/>
        </p:spPr>
        <p:txBody>
          <a:bodyPr wrap="square" lIns="0" tIns="0" rIns="0" bIns="0" rtlCol="0" anchor="ctr"/>
          <a:lstStyle/>
          <a:p>
            <a:pPr algn="ctr" indent="0" marL="0">
              <a:buNone/>
            </a:pPr>
            <a:r>
              <a:rPr lang="en-US" sz="1700" b="1" dirty="0">
                <a:solidFill>
                  <a:schemeClr val="bg1"/>
                </a:solidFill>
              </a:rPr>
              <a:t>LES AUXILIAIRES</a:t>
            </a:r>
            <a:endParaRPr lang="en-US" sz="1700" dirty="0"/>
          </a:p>
        </p:txBody>
      </p:sp>
      <p:sp>
        <p:nvSpPr>
          <p:cNvPr id="24" name="Text 21"/>
          <p:cNvSpPr txBox="1"/>
          <p:nvPr/>
        </p:nvSpPr>
        <p:spPr>
          <a:xfrm>
            <a:off x="8202168" y="2084832"/>
            <a:ext cx="3300984" cy="457200"/>
          </a:xfrm>
          <a:prstGeom prst="rect">
            <a:avLst/>
          </a:prstGeom>
          <a:noFill/>
          <a:ln/>
        </p:spPr>
        <p:txBody>
          <a:bodyPr wrap="square" lIns="0" tIns="0" rIns="0" bIns="0" rtlCol="0" anchor="ctr"/>
          <a:lstStyle/>
          <a:p>
            <a:pPr algn="ctr" indent="0" marL="0">
              <a:buNone/>
            </a:pPr>
            <a:r>
              <a:rPr lang="en-US" sz="1700" b="1" i="1" dirty="0">
                <a:solidFill>
                  <a:schemeClr val="bg1"/>
                </a:solidFill>
              </a:rPr>
              <a:t>heb / had · ben / was · zal / zou</a:t>
            </a:r>
            <a:endParaRPr lang="en-US" sz="1700" dirty="0"/>
          </a:p>
        </p:txBody>
      </p:sp>
      <p:sp>
        <p:nvSpPr>
          <p:cNvPr id="25" name="Text 22"/>
          <p:cNvSpPr txBox="1"/>
          <p:nvPr/>
        </p:nvSpPr>
        <p:spPr>
          <a:xfrm>
            <a:off x="8202168" y="2560320"/>
            <a:ext cx="3300984" cy="502920"/>
          </a:xfrm>
          <a:prstGeom prst="rect">
            <a:avLst/>
          </a:prstGeom>
          <a:noFill/>
          <a:ln/>
        </p:spPr>
        <p:txBody>
          <a:bodyPr wrap="square" lIns="0" tIns="0" rIns="0" bIns="0" rtlCol="0" anchor="ctr"/>
          <a:lstStyle/>
          <a:p>
            <a:pPr algn="ctr" indent="0" marL="0">
              <a:buNone/>
            </a:pPr>
            <a:r>
              <a:rPr lang="en-US" sz="1300" dirty="0">
                <a:solidFill>
                  <a:schemeClr val="bg1"/>
                </a:solidFill>
              </a:rPr>
              <a:t>le temps et le point de vue</a:t>
            </a:r>
            <a:endParaRPr lang="en-US" sz="1300" dirty="0"/>
          </a:p>
        </p:txBody>
      </p:sp>
      <p:sp>
        <p:nvSpPr>
          <p:cNvPr id="26" name="Shape 23"/>
          <p:cNvSpPr/>
          <p:nvPr/>
        </p:nvSpPr>
        <p:spPr>
          <a:xfrm>
            <a:off x="1097280" y="3429000"/>
            <a:ext cx="808271" cy="457200"/>
          </a:xfrm>
          <a:prstGeom prst="roundRect">
            <a:avLst>
              <a:gd name="adj" fmla="val 20000"/>
            </a:avLst>
          </a:prstGeom>
          <a:solidFill>
            <a:schemeClr val="tx2"/>
          </a:solidFill>
          <a:ln w="12700">
            <a:solidFill>
              <a:srgbClr val="FFFFFF">
                <a:alpha val="0"/>
              </a:srgbClr>
            </a:solidFill>
            <a:prstDash val="solid"/>
          </a:ln>
        </p:spPr>
      </p:sp>
      <p:sp>
        <p:nvSpPr>
          <p:cNvPr id="27" name="Text 24"/>
          <p:cNvSpPr txBox="1"/>
          <p:nvPr/>
        </p:nvSpPr>
        <p:spPr>
          <a:xfrm>
            <a:off x="1097280" y="3429000"/>
            <a:ext cx="808271" cy="457200"/>
          </a:xfrm>
          <a:prstGeom prst="rect">
            <a:avLst/>
          </a:prstGeom>
          <a:noFill/>
          <a:ln/>
        </p:spPr>
        <p:txBody>
          <a:bodyPr wrap="square" lIns="0" tIns="0" rIns="0" bIns="0" rtlCol="0" anchor="ctr"/>
          <a:lstStyle/>
          <a:p>
            <a:pPr algn="ctr" indent="0" marL="0">
              <a:buNone/>
            </a:pPr>
            <a:r>
              <a:rPr lang="en-US" sz="1700" b="1" dirty="0">
                <a:solidFill>
                  <a:schemeClr val="bg1"/>
                </a:solidFill>
              </a:rPr>
              <a:t>had</a:t>
            </a:r>
            <a:endParaRPr lang="en-US" sz="1700" dirty="0"/>
          </a:p>
        </p:txBody>
      </p:sp>
      <p:sp>
        <p:nvSpPr>
          <p:cNvPr id="28" name="Text 25"/>
          <p:cNvSpPr txBox="1"/>
          <p:nvPr/>
        </p:nvSpPr>
        <p:spPr>
          <a:xfrm>
            <a:off x="1960415" y="3429000"/>
            <a:ext cx="353873" cy="457200"/>
          </a:xfrm>
          <a:prstGeom prst="rect">
            <a:avLst/>
          </a:prstGeom>
          <a:noFill/>
          <a:ln/>
        </p:spPr>
        <p:txBody>
          <a:bodyPr wrap="square" lIns="0" tIns="0" rIns="0" bIns="0" rtlCol="0" anchor="ctr"/>
          <a:lstStyle/>
          <a:p>
            <a:pPr algn="ctr" indent="0" marL="0">
              <a:buNone/>
            </a:pPr>
            <a:r>
              <a:rPr lang="en-US" sz="1700" b="1" dirty="0">
                <a:solidFill>
                  <a:schemeClr val="accent5"/>
                </a:solidFill>
              </a:rPr>
              <a:t>+</a:t>
            </a:r>
            <a:endParaRPr lang="en-US" sz="1700" dirty="0"/>
          </a:p>
        </p:txBody>
      </p:sp>
      <p:sp>
        <p:nvSpPr>
          <p:cNvPr id="29" name="Shape 26"/>
          <p:cNvSpPr/>
          <p:nvPr/>
        </p:nvSpPr>
        <p:spPr>
          <a:xfrm>
            <a:off x="2369152" y="3429000"/>
            <a:ext cx="1351469" cy="457200"/>
          </a:xfrm>
          <a:prstGeom prst="roundRect">
            <a:avLst>
              <a:gd name="adj" fmla="val 20000"/>
            </a:avLst>
          </a:prstGeom>
          <a:solidFill>
            <a:srgbClr val="FBEAF2"/>
          </a:solidFill>
          <a:ln w="22225">
            <a:solidFill>
              <a:srgbClr val="B4236A"/>
            </a:solidFill>
            <a:prstDash val="solid"/>
          </a:ln>
        </p:spPr>
      </p:sp>
      <p:sp>
        <p:nvSpPr>
          <p:cNvPr id="30" name="Text 27"/>
          <p:cNvSpPr txBox="1"/>
          <p:nvPr/>
        </p:nvSpPr>
        <p:spPr>
          <a:xfrm>
            <a:off x="2369152" y="3429000"/>
            <a:ext cx="1351469" cy="457200"/>
          </a:xfrm>
          <a:prstGeom prst="rect">
            <a:avLst/>
          </a:prstGeom>
          <a:noFill/>
          <a:ln/>
        </p:spPr>
        <p:txBody>
          <a:bodyPr wrap="square" lIns="0" tIns="0" rIns="0" bIns="0" rtlCol="0" anchor="ctr"/>
          <a:lstStyle/>
          <a:p>
            <a:pPr algn="ctr" indent="0" marL="0">
              <a:buNone/>
            </a:pPr>
            <a:r>
              <a:rPr lang="en-US" sz="1700" b="1" dirty="0">
                <a:solidFill>
                  <a:schemeClr val="accent4"/>
                </a:solidFill>
              </a:rPr>
              <a:t>gewerkt</a:t>
            </a:r>
            <a:endParaRPr lang="en-US" sz="1700" dirty="0"/>
          </a:p>
        </p:txBody>
      </p:sp>
      <p:sp>
        <p:nvSpPr>
          <p:cNvPr id="31" name="Text 28"/>
          <p:cNvSpPr txBox="1"/>
          <p:nvPr/>
        </p:nvSpPr>
        <p:spPr>
          <a:xfrm>
            <a:off x="3903500" y="3429000"/>
            <a:ext cx="3657600" cy="457200"/>
          </a:xfrm>
          <a:prstGeom prst="rect">
            <a:avLst/>
          </a:prstGeom>
          <a:noFill/>
          <a:ln/>
        </p:spPr>
        <p:txBody>
          <a:bodyPr wrap="square" lIns="0" tIns="0" rIns="0" bIns="0" rtlCol="0" anchor="ctr"/>
          <a:lstStyle/>
          <a:p>
            <a:pPr algn="l" indent="0" marL="0">
              <a:buNone/>
            </a:pPr>
            <a:r>
              <a:rPr lang="en-US" sz="1700" dirty="0">
                <a:solidFill>
                  <a:srgbClr val="7A1748"/>
                </a:solidFill>
              </a:rPr>
              <a:t>= </a:t>
            </a:r>
            <a:r>
              <a:rPr lang="en-US" sz="1700" b="1" dirty="0">
                <a:solidFill>
                  <a:srgbClr val="7A1748"/>
                </a:solidFill>
              </a:rPr>
              <a:t>plusquamperfectum</a:t>
            </a:r>
            <a:endParaRPr lang="en-US" sz="1700" dirty="0"/>
          </a:p>
        </p:txBody>
      </p:sp>
      <p:sp>
        <p:nvSpPr>
          <p:cNvPr id="32" name="Shape 29"/>
          <p:cNvSpPr/>
          <p:nvPr/>
        </p:nvSpPr>
        <p:spPr>
          <a:xfrm>
            <a:off x="1097280" y="3977640"/>
            <a:ext cx="808271" cy="457200"/>
          </a:xfrm>
          <a:prstGeom prst="roundRect">
            <a:avLst>
              <a:gd name="adj" fmla="val 20000"/>
            </a:avLst>
          </a:prstGeom>
          <a:solidFill>
            <a:schemeClr val="tx2"/>
          </a:solidFill>
          <a:ln w="12700">
            <a:solidFill>
              <a:srgbClr val="FFFFFF">
                <a:alpha val="0"/>
              </a:srgbClr>
            </a:solidFill>
            <a:prstDash val="solid"/>
          </a:ln>
        </p:spPr>
      </p:sp>
      <p:sp>
        <p:nvSpPr>
          <p:cNvPr id="33" name="Text 30"/>
          <p:cNvSpPr txBox="1"/>
          <p:nvPr/>
        </p:nvSpPr>
        <p:spPr>
          <a:xfrm>
            <a:off x="1097280" y="3977640"/>
            <a:ext cx="808271" cy="457200"/>
          </a:xfrm>
          <a:prstGeom prst="rect">
            <a:avLst/>
          </a:prstGeom>
          <a:noFill/>
          <a:ln/>
        </p:spPr>
        <p:txBody>
          <a:bodyPr wrap="square" lIns="0" tIns="0" rIns="0" bIns="0" rtlCol="0" anchor="ctr"/>
          <a:lstStyle/>
          <a:p>
            <a:pPr algn="ctr" indent="0" marL="0">
              <a:buNone/>
            </a:pPr>
            <a:r>
              <a:rPr lang="en-US" sz="1700" b="1" dirty="0">
                <a:solidFill>
                  <a:schemeClr val="bg1"/>
                </a:solidFill>
              </a:rPr>
              <a:t>zal</a:t>
            </a:r>
            <a:endParaRPr lang="en-US" sz="1700" dirty="0"/>
          </a:p>
        </p:txBody>
      </p:sp>
      <p:sp>
        <p:nvSpPr>
          <p:cNvPr id="34" name="Text 31"/>
          <p:cNvSpPr txBox="1"/>
          <p:nvPr/>
        </p:nvSpPr>
        <p:spPr>
          <a:xfrm>
            <a:off x="1960415" y="3977640"/>
            <a:ext cx="353873" cy="457200"/>
          </a:xfrm>
          <a:prstGeom prst="rect">
            <a:avLst/>
          </a:prstGeom>
          <a:noFill/>
          <a:ln/>
        </p:spPr>
        <p:txBody>
          <a:bodyPr wrap="square" lIns="0" tIns="0" rIns="0" bIns="0" rtlCol="0" anchor="ctr"/>
          <a:lstStyle/>
          <a:p>
            <a:pPr algn="ctr" indent="0" marL="0">
              <a:buNone/>
            </a:pPr>
            <a:r>
              <a:rPr lang="en-US" sz="1700" b="1" dirty="0">
                <a:solidFill>
                  <a:schemeClr val="accent5"/>
                </a:solidFill>
              </a:rPr>
              <a:t>+</a:t>
            </a:r>
            <a:endParaRPr lang="en-US" sz="1700" dirty="0"/>
          </a:p>
        </p:txBody>
      </p:sp>
      <p:sp>
        <p:nvSpPr>
          <p:cNvPr id="35" name="Shape 32"/>
          <p:cNvSpPr/>
          <p:nvPr/>
        </p:nvSpPr>
        <p:spPr>
          <a:xfrm>
            <a:off x="2369152" y="3977640"/>
            <a:ext cx="1351469" cy="457200"/>
          </a:xfrm>
          <a:prstGeom prst="roundRect">
            <a:avLst>
              <a:gd name="adj" fmla="val 20000"/>
            </a:avLst>
          </a:prstGeom>
          <a:solidFill>
            <a:srgbClr val="FBEAF2"/>
          </a:solidFill>
          <a:ln w="22225">
            <a:solidFill>
              <a:srgbClr val="B4236A"/>
            </a:solidFill>
            <a:prstDash val="solid"/>
          </a:ln>
        </p:spPr>
      </p:sp>
      <p:sp>
        <p:nvSpPr>
          <p:cNvPr id="36" name="Text 33"/>
          <p:cNvSpPr txBox="1"/>
          <p:nvPr/>
        </p:nvSpPr>
        <p:spPr>
          <a:xfrm>
            <a:off x="2369152" y="3977640"/>
            <a:ext cx="1351469" cy="457200"/>
          </a:xfrm>
          <a:prstGeom prst="rect">
            <a:avLst/>
          </a:prstGeom>
          <a:noFill/>
          <a:ln/>
        </p:spPr>
        <p:txBody>
          <a:bodyPr wrap="square" lIns="0" tIns="0" rIns="0" bIns="0" rtlCol="0" anchor="ctr"/>
          <a:lstStyle/>
          <a:p>
            <a:pPr algn="ctr" indent="0" marL="0">
              <a:buNone/>
            </a:pPr>
            <a:r>
              <a:rPr lang="en-US" sz="1700" b="1" dirty="0">
                <a:solidFill>
                  <a:schemeClr val="accent4"/>
                </a:solidFill>
              </a:rPr>
              <a:t>gewerkt</a:t>
            </a:r>
            <a:endParaRPr lang="en-US" sz="1700" dirty="0"/>
          </a:p>
        </p:txBody>
      </p:sp>
      <p:sp>
        <p:nvSpPr>
          <p:cNvPr id="37" name="Text 34"/>
          <p:cNvSpPr txBox="1"/>
          <p:nvPr/>
        </p:nvSpPr>
        <p:spPr>
          <a:xfrm>
            <a:off x="3775484" y="3977640"/>
            <a:ext cx="353873" cy="457200"/>
          </a:xfrm>
          <a:prstGeom prst="rect">
            <a:avLst/>
          </a:prstGeom>
          <a:noFill/>
          <a:ln/>
        </p:spPr>
        <p:txBody>
          <a:bodyPr wrap="square" lIns="0" tIns="0" rIns="0" bIns="0" rtlCol="0" anchor="ctr"/>
          <a:lstStyle/>
          <a:p>
            <a:pPr algn="ctr" indent="0" marL="0">
              <a:buNone/>
            </a:pPr>
            <a:r>
              <a:rPr lang="en-US" sz="1700" b="1" dirty="0">
                <a:solidFill>
                  <a:schemeClr val="accent5"/>
                </a:solidFill>
              </a:rPr>
              <a:t>+</a:t>
            </a:r>
            <a:endParaRPr lang="en-US" sz="1700" dirty="0"/>
          </a:p>
        </p:txBody>
      </p:sp>
      <p:sp>
        <p:nvSpPr>
          <p:cNvPr id="38" name="Shape 35"/>
          <p:cNvSpPr/>
          <p:nvPr/>
        </p:nvSpPr>
        <p:spPr>
          <a:xfrm>
            <a:off x="4184221" y="3977640"/>
            <a:ext cx="1215669" cy="457200"/>
          </a:xfrm>
          <a:prstGeom prst="roundRect">
            <a:avLst>
              <a:gd name="adj" fmla="val 20000"/>
            </a:avLst>
          </a:prstGeom>
          <a:solidFill>
            <a:schemeClr val="tx2"/>
          </a:solidFill>
          <a:ln w="12700">
            <a:solidFill>
              <a:srgbClr val="FFFFFF">
                <a:alpha val="0"/>
              </a:srgbClr>
            </a:solidFill>
            <a:prstDash val="solid"/>
          </a:ln>
        </p:spPr>
      </p:sp>
      <p:sp>
        <p:nvSpPr>
          <p:cNvPr id="39" name="Text 36"/>
          <p:cNvSpPr txBox="1"/>
          <p:nvPr/>
        </p:nvSpPr>
        <p:spPr>
          <a:xfrm>
            <a:off x="4184221" y="3977640"/>
            <a:ext cx="1215669" cy="457200"/>
          </a:xfrm>
          <a:prstGeom prst="rect">
            <a:avLst/>
          </a:prstGeom>
          <a:noFill/>
          <a:ln/>
        </p:spPr>
        <p:txBody>
          <a:bodyPr wrap="square" lIns="0" tIns="0" rIns="0" bIns="0" rtlCol="0" anchor="ctr"/>
          <a:lstStyle/>
          <a:p>
            <a:pPr algn="ctr" indent="0" marL="0">
              <a:buNone/>
            </a:pPr>
            <a:r>
              <a:rPr lang="en-US" sz="1700" b="1" dirty="0">
                <a:solidFill>
                  <a:schemeClr val="bg1"/>
                </a:solidFill>
              </a:rPr>
              <a:t>hebben</a:t>
            </a:r>
            <a:endParaRPr lang="en-US" sz="1700" dirty="0"/>
          </a:p>
        </p:txBody>
      </p:sp>
      <p:sp>
        <p:nvSpPr>
          <p:cNvPr id="40" name="Text 37"/>
          <p:cNvSpPr txBox="1"/>
          <p:nvPr/>
        </p:nvSpPr>
        <p:spPr>
          <a:xfrm>
            <a:off x="5582770" y="3977640"/>
            <a:ext cx="3657600" cy="457200"/>
          </a:xfrm>
          <a:prstGeom prst="rect">
            <a:avLst/>
          </a:prstGeom>
          <a:noFill/>
          <a:ln/>
        </p:spPr>
        <p:txBody>
          <a:bodyPr wrap="square" lIns="0" tIns="0" rIns="0" bIns="0" rtlCol="0" anchor="ctr"/>
          <a:lstStyle/>
          <a:p>
            <a:pPr algn="l" indent="0" marL="0">
              <a:buNone/>
            </a:pPr>
            <a:r>
              <a:rPr lang="en-US" sz="1700" dirty="0">
                <a:solidFill>
                  <a:srgbClr val="1B5734"/>
                </a:solidFill>
              </a:rPr>
              <a:t>= </a:t>
            </a:r>
            <a:r>
              <a:rPr lang="en-US" sz="1700" b="1" dirty="0">
                <a:solidFill>
                  <a:srgbClr val="1B5734"/>
                </a:solidFill>
              </a:rPr>
              <a:t>futurum exactum</a:t>
            </a:r>
            <a:endParaRPr lang="en-US" sz="1700" dirty="0"/>
          </a:p>
        </p:txBody>
      </p:sp>
      <p:sp>
        <p:nvSpPr>
          <p:cNvPr id="41" name="Shape 38"/>
          <p:cNvSpPr/>
          <p:nvPr/>
        </p:nvSpPr>
        <p:spPr>
          <a:xfrm>
            <a:off x="1097280" y="4526280"/>
            <a:ext cx="808271" cy="457200"/>
          </a:xfrm>
          <a:prstGeom prst="roundRect">
            <a:avLst>
              <a:gd name="adj" fmla="val 20000"/>
            </a:avLst>
          </a:prstGeom>
          <a:solidFill>
            <a:schemeClr val="tx2"/>
          </a:solidFill>
          <a:ln w="12700">
            <a:solidFill>
              <a:srgbClr val="FFFFFF">
                <a:alpha val="0"/>
              </a:srgbClr>
            </a:solidFill>
            <a:prstDash val="solid"/>
          </a:ln>
        </p:spPr>
      </p:sp>
      <p:sp>
        <p:nvSpPr>
          <p:cNvPr id="42" name="Text 39"/>
          <p:cNvSpPr txBox="1"/>
          <p:nvPr/>
        </p:nvSpPr>
        <p:spPr>
          <a:xfrm>
            <a:off x="1097280" y="4526280"/>
            <a:ext cx="808271" cy="457200"/>
          </a:xfrm>
          <a:prstGeom prst="rect">
            <a:avLst/>
          </a:prstGeom>
          <a:noFill/>
          <a:ln/>
        </p:spPr>
        <p:txBody>
          <a:bodyPr wrap="square" lIns="0" tIns="0" rIns="0" bIns="0" rtlCol="0" anchor="ctr"/>
          <a:lstStyle/>
          <a:p>
            <a:pPr algn="ctr" indent="0" marL="0">
              <a:buNone/>
            </a:pPr>
            <a:r>
              <a:rPr lang="en-US" sz="1700" b="1" dirty="0">
                <a:solidFill>
                  <a:schemeClr val="bg1"/>
                </a:solidFill>
              </a:rPr>
              <a:t>zou</a:t>
            </a:r>
            <a:endParaRPr lang="en-US" sz="1700" dirty="0"/>
          </a:p>
        </p:txBody>
      </p:sp>
      <p:sp>
        <p:nvSpPr>
          <p:cNvPr id="43" name="Text 40"/>
          <p:cNvSpPr txBox="1"/>
          <p:nvPr/>
        </p:nvSpPr>
        <p:spPr>
          <a:xfrm>
            <a:off x="1960415" y="4526280"/>
            <a:ext cx="353873" cy="457200"/>
          </a:xfrm>
          <a:prstGeom prst="rect">
            <a:avLst/>
          </a:prstGeom>
          <a:noFill/>
          <a:ln/>
        </p:spPr>
        <p:txBody>
          <a:bodyPr wrap="square" lIns="0" tIns="0" rIns="0" bIns="0" rtlCol="0" anchor="ctr"/>
          <a:lstStyle/>
          <a:p>
            <a:pPr algn="ctr" indent="0" marL="0">
              <a:buNone/>
            </a:pPr>
            <a:r>
              <a:rPr lang="en-US" sz="1700" b="1" dirty="0">
                <a:solidFill>
                  <a:schemeClr val="accent5"/>
                </a:solidFill>
              </a:rPr>
              <a:t>+</a:t>
            </a:r>
            <a:endParaRPr lang="en-US" sz="1700" dirty="0"/>
          </a:p>
        </p:txBody>
      </p:sp>
      <p:sp>
        <p:nvSpPr>
          <p:cNvPr id="44" name="Shape 41"/>
          <p:cNvSpPr/>
          <p:nvPr/>
        </p:nvSpPr>
        <p:spPr>
          <a:xfrm>
            <a:off x="2369152" y="4526280"/>
            <a:ext cx="1215669" cy="457200"/>
          </a:xfrm>
          <a:prstGeom prst="roundRect">
            <a:avLst>
              <a:gd name="adj" fmla="val 20000"/>
            </a:avLst>
          </a:prstGeom>
          <a:solidFill>
            <a:schemeClr val="accent2"/>
          </a:solidFill>
          <a:ln w="12700">
            <a:solidFill>
              <a:srgbClr val="FFFFFF">
                <a:alpha val="0"/>
              </a:srgbClr>
            </a:solidFill>
            <a:prstDash val="solid"/>
          </a:ln>
        </p:spPr>
      </p:sp>
      <p:sp>
        <p:nvSpPr>
          <p:cNvPr id="45" name="Text 42"/>
          <p:cNvSpPr txBox="1"/>
          <p:nvPr/>
        </p:nvSpPr>
        <p:spPr>
          <a:xfrm>
            <a:off x="2369152" y="4526280"/>
            <a:ext cx="1215669" cy="457200"/>
          </a:xfrm>
          <a:prstGeom prst="rect">
            <a:avLst/>
          </a:prstGeom>
          <a:noFill/>
          <a:ln/>
        </p:spPr>
        <p:txBody>
          <a:bodyPr wrap="square" lIns="0" tIns="0" rIns="0" bIns="0" rtlCol="0" anchor="ctr"/>
          <a:lstStyle/>
          <a:p>
            <a:pPr algn="ctr" indent="0" marL="0">
              <a:buNone/>
            </a:pPr>
            <a:r>
              <a:rPr lang="en-US" sz="1700" b="1" dirty="0">
                <a:solidFill>
                  <a:schemeClr val="bg1"/>
                </a:solidFill>
              </a:rPr>
              <a:t>werken</a:t>
            </a:r>
            <a:endParaRPr lang="en-US" sz="1700" dirty="0"/>
          </a:p>
        </p:txBody>
      </p:sp>
      <p:sp>
        <p:nvSpPr>
          <p:cNvPr id="46" name="Text 43"/>
          <p:cNvSpPr txBox="1"/>
          <p:nvPr/>
        </p:nvSpPr>
        <p:spPr>
          <a:xfrm>
            <a:off x="3767701" y="4526280"/>
            <a:ext cx="3657600" cy="457200"/>
          </a:xfrm>
          <a:prstGeom prst="rect">
            <a:avLst/>
          </a:prstGeom>
          <a:noFill/>
          <a:ln/>
        </p:spPr>
        <p:txBody>
          <a:bodyPr wrap="square" lIns="0" tIns="0" rIns="0" bIns="0" rtlCol="0" anchor="ctr"/>
          <a:lstStyle/>
          <a:p>
            <a:pPr algn="l" indent="0" marL="0">
              <a:buNone/>
            </a:pPr>
            <a:r>
              <a:rPr lang="en-US" sz="1700" dirty="0">
                <a:solidFill>
                  <a:srgbClr val="6E4A9E"/>
                </a:solidFill>
              </a:rPr>
              <a:t>= </a:t>
            </a:r>
            <a:r>
              <a:rPr lang="en-US" sz="1700" b="1" dirty="0">
                <a:solidFill>
                  <a:srgbClr val="6E4A9E"/>
                </a:solidFill>
              </a:rPr>
              <a:t>conditionalis</a:t>
            </a:r>
            <a:endParaRPr lang="en-US" sz="1700" dirty="0"/>
          </a:p>
        </p:txBody>
      </p:sp>
      <p:sp>
        <p:nvSpPr>
          <p:cNvPr id="47" name="Shape 44"/>
          <p:cNvSpPr/>
          <p:nvPr/>
        </p:nvSpPr>
        <p:spPr>
          <a:xfrm>
            <a:off x="1097280" y="5074920"/>
            <a:ext cx="944070" cy="457200"/>
          </a:xfrm>
          <a:prstGeom prst="roundRect">
            <a:avLst>
              <a:gd name="adj" fmla="val 20000"/>
            </a:avLst>
          </a:prstGeom>
          <a:solidFill>
            <a:schemeClr val="accent2"/>
          </a:solidFill>
          <a:ln w="12700">
            <a:solidFill>
              <a:srgbClr val="FFFFFF">
                <a:alpha val="0"/>
              </a:srgbClr>
            </a:solidFill>
            <a:prstDash val="solid"/>
          </a:ln>
        </p:spPr>
      </p:sp>
      <p:sp>
        <p:nvSpPr>
          <p:cNvPr id="48" name="Text 45"/>
          <p:cNvSpPr txBox="1"/>
          <p:nvPr/>
        </p:nvSpPr>
        <p:spPr>
          <a:xfrm>
            <a:off x="1097280" y="5074920"/>
            <a:ext cx="944070" cy="457200"/>
          </a:xfrm>
          <a:prstGeom prst="rect">
            <a:avLst/>
          </a:prstGeom>
          <a:noFill/>
          <a:ln/>
        </p:spPr>
        <p:txBody>
          <a:bodyPr wrap="square" lIns="0" tIns="0" rIns="0" bIns="0" rtlCol="0" anchor="ctr"/>
          <a:lstStyle/>
          <a:p>
            <a:pPr algn="ctr" indent="0" marL="0">
              <a:buNone/>
            </a:pPr>
            <a:r>
              <a:rPr lang="en-US" sz="1700" b="1" dirty="0">
                <a:solidFill>
                  <a:schemeClr val="bg1"/>
                </a:solidFill>
              </a:rPr>
              <a:t>werk</a:t>
            </a:r>
            <a:endParaRPr lang="en-US" sz="1700" dirty="0"/>
          </a:p>
        </p:txBody>
      </p:sp>
      <p:sp>
        <p:nvSpPr>
          <p:cNvPr id="49" name="Text 46"/>
          <p:cNvSpPr txBox="1"/>
          <p:nvPr/>
        </p:nvSpPr>
        <p:spPr>
          <a:xfrm>
            <a:off x="2096214" y="5074920"/>
            <a:ext cx="353873" cy="457200"/>
          </a:xfrm>
          <a:prstGeom prst="rect">
            <a:avLst/>
          </a:prstGeom>
          <a:noFill/>
          <a:ln/>
        </p:spPr>
        <p:txBody>
          <a:bodyPr wrap="square" lIns="0" tIns="0" rIns="0" bIns="0" rtlCol="0" anchor="ctr"/>
          <a:lstStyle/>
          <a:p>
            <a:pPr algn="ctr" indent="0" marL="0">
              <a:buNone/>
            </a:pPr>
            <a:r>
              <a:rPr lang="en-US" sz="1700" b="1" dirty="0">
                <a:solidFill>
                  <a:schemeClr val="accent5"/>
                </a:solidFill>
              </a:rPr>
              <a:t>+</a:t>
            </a:r>
            <a:endParaRPr lang="en-US" sz="1700" dirty="0"/>
          </a:p>
        </p:txBody>
      </p:sp>
      <p:sp>
        <p:nvSpPr>
          <p:cNvPr id="50" name="Shape 47"/>
          <p:cNvSpPr/>
          <p:nvPr/>
        </p:nvSpPr>
        <p:spPr>
          <a:xfrm>
            <a:off x="2504951" y="5074920"/>
            <a:ext cx="672472" cy="457200"/>
          </a:xfrm>
          <a:prstGeom prst="roundRect">
            <a:avLst>
              <a:gd name="adj" fmla="val 20000"/>
            </a:avLst>
          </a:prstGeom>
          <a:solidFill>
            <a:schemeClr val="accent1"/>
          </a:solidFill>
          <a:ln w="12700">
            <a:solidFill>
              <a:srgbClr val="FFFFFF">
                <a:alpha val="0"/>
              </a:srgbClr>
            </a:solidFill>
            <a:prstDash val="solid"/>
          </a:ln>
        </p:spPr>
      </p:sp>
      <p:sp>
        <p:nvSpPr>
          <p:cNvPr id="51" name="Text 48"/>
          <p:cNvSpPr txBox="1"/>
          <p:nvPr/>
        </p:nvSpPr>
        <p:spPr>
          <a:xfrm>
            <a:off x="2504951" y="5074920"/>
            <a:ext cx="672472" cy="457200"/>
          </a:xfrm>
          <a:prstGeom prst="rect">
            <a:avLst/>
          </a:prstGeom>
          <a:noFill/>
          <a:ln/>
        </p:spPr>
        <p:txBody>
          <a:bodyPr wrap="square" lIns="0" tIns="0" rIns="0" bIns="0" rtlCol="0" anchor="ctr"/>
          <a:lstStyle/>
          <a:p>
            <a:pPr algn="ctr" indent="0" marL="0">
              <a:buNone/>
            </a:pPr>
            <a:r>
              <a:rPr lang="en-US" sz="1700" b="1" dirty="0">
                <a:solidFill>
                  <a:schemeClr val="bg1"/>
                </a:solidFill>
              </a:rPr>
              <a:t>te</a:t>
            </a:r>
            <a:endParaRPr lang="en-US" sz="1700" dirty="0"/>
          </a:p>
        </p:txBody>
      </p:sp>
      <p:sp>
        <p:nvSpPr>
          <p:cNvPr id="52" name="Text 49"/>
          <p:cNvSpPr txBox="1"/>
          <p:nvPr/>
        </p:nvSpPr>
        <p:spPr>
          <a:xfrm>
            <a:off x="3360303" y="5074920"/>
            <a:ext cx="3657600" cy="457200"/>
          </a:xfrm>
          <a:prstGeom prst="rect">
            <a:avLst/>
          </a:prstGeom>
          <a:noFill/>
          <a:ln/>
        </p:spPr>
        <p:txBody>
          <a:bodyPr wrap="square" lIns="0" tIns="0" rIns="0" bIns="0" rtlCol="0" anchor="ctr"/>
          <a:lstStyle/>
          <a:p>
            <a:pPr algn="l" indent="0" marL="0">
              <a:buNone/>
            </a:pPr>
            <a:r>
              <a:rPr lang="en-US" sz="1700" dirty="0">
                <a:solidFill>
                  <a:schemeClr val="accent4"/>
                </a:solidFill>
              </a:rPr>
              <a:t>= </a:t>
            </a:r>
            <a:r>
              <a:rPr lang="en-US" sz="1700" b="1" dirty="0">
                <a:solidFill>
                  <a:schemeClr val="accent4"/>
                </a:solidFill>
              </a:rPr>
              <a:t>imperfectum</a:t>
            </a:r>
            <a:endParaRPr lang="en-US" sz="1700" dirty="0"/>
          </a:p>
        </p:txBody>
      </p:sp>
      <p:pic>
        <p:nvPicPr>
          <p:cNvPr id="53" name="Image 0" descr="building construction">    </p:cNvPr>
          <p:cNvPicPr>
            <a:picLocks noChangeAspect="1"/>
          </p:cNvPicPr>
          <p:nvPr/>
        </p:nvPicPr>
        <p:blipFill>
          <a:blip r:embed="rId1"/>
          <a:stretch>
            <a:fillRect/>
          </a:stretch>
        </p:blipFill>
        <p:spPr>
          <a:xfrm>
            <a:off x="9966960" y="3429000"/>
            <a:ext cx="1463040" cy="1463040"/>
          </a:xfrm>
          <a:prstGeom prst="rect">
            <a:avLst/>
          </a:prstGeom>
        </p:spPr>
      </p:pic>
      <p:sp>
        <p:nvSpPr>
          <p:cNvPr id="54" name="Shape 50"/>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55" name="Text 51"/>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Le passé de l’auxiliaire (</a:t>
            </a:r>
            <a:r>
              <a:rPr lang="en-US" sz="1600" i="1" dirty="0">
                <a:solidFill>
                  <a:schemeClr val="bg1"/>
                </a:solidFill>
              </a:rPr>
              <a:t>had, was, zou</a:t>
            </a:r>
            <a:r>
              <a:rPr lang="en-US" sz="1600" dirty="0">
                <a:solidFill>
                  <a:schemeClr val="bg1"/>
                </a:solidFill>
              </a:rPr>
              <a:t>) fait reculer tout le temps d’un cran.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presens : bien plus que « maintenant »</a:t>
            </a:r>
            <a:endParaRPr lang="en-US" sz="3000" dirty="0"/>
          </a:p>
        </p:txBody>
      </p:sp>
      <p:sp>
        <p:nvSpPr>
          <p:cNvPr id="3" name="tag"/>
          <p:cNvSpPr/>
          <p:nvPr/>
        </p:nvSpPr>
        <p:spPr>
          <a:xfrm>
            <a:off x="548640" y="237744"/>
            <a:ext cx="155448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LE PRÉSENT</a:t>
            </a:r>
            <a:endParaRPr lang="en-US" sz="1200" dirty="0"/>
          </a:p>
        </p:txBody>
      </p:sp>
      <p:sp>
        <p:nvSpPr>
          <p:cNvPr id="5" name="Shape 2"/>
          <p:cNvSpPr/>
          <p:nvPr/>
        </p:nvSpPr>
        <p:spPr>
          <a:xfrm>
            <a:off x="548640" y="1463040"/>
            <a:ext cx="5454396" cy="1901952"/>
          </a:xfrm>
          <a:prstGeom prst="roundRect">
            <a:avLst>
              <a:gd name="adj" fmla="val 576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91440" cy="1901952"/>
          </a:xfrm>
          <a:prstGeom prst="rect">
            <a:avLst/>
          </a:prstGeom>
          <a:solidFill>
            <a:schemeClr val="accent2"/>
          </a:solidFill>
          <a:ln w="12700">
            <a:solidFill>
              <a:srgbClr val="FFFFFF">
                <a:alpha val="0"/>
              </a:srgbClr>
            </a:solidFill>
            <a:prstDash val="solid"/>
          </a:ln>
        </p:spPr>
      </p:sp>
      <p:pic>
        <p:nvPicPr>
          <p:cNvPr id="7" name="Image 0" descr="round pushpin">    </p:cNvPr>
          <p:cNvPicPr>
            <a:picLocks noChangeAspect="1"/>
          </p:cNvPicPr>
          <p:nvPr/>
        </p:nvPicPr>
        <p:blipFill>
          <a:blip r:embed="rId1"/>
          <a:stretch>
            <a:fillRect/>
          </a:stretch>
        </p:blipFill>
        <p:spPr>
          <a:xfrm>
            <a:off x="777240" y="1600200"/>
            <a:ext cx="594360" cy="594360"/>
          </a:xfrm>
          <a:prstGeom prst="rect">
            <a:avLst/>
          </a:prstGeom>
        </p:spPr>
      </p:pic>
      <p:sp>
        <p:nvSpPr>
          <p:cNvPr id="8" name="Text 4"/>
          <p:cNvSpPr txBox="1"/>
          <p:nvPr/>
        </p:nvSpPr>
        <p:spPr>
          <a:xfrm>
            <a:off x="1463040" y="1600200"/>
            <a:ext cx="2560320" cy="594360"/>
          </a:xfrm>
          <a:prstGeom prst="rect">
            <a:avLst/>
          </a:prstGeom>
          <a:noFill/>
          <a:ln/>
        </p:spPr>
        <p:txBody>
          <a:bodyPr wrap="square" lIns="0" tIns="0" rIns="0" bIns="0" rtlCol="0" anchor="ctr"/>
          <a:lstStyle/>
          <a:p>
            <a:pPr algn="l" indent="0" marL="0">
              <a:buNone/>
            </a:pPr>
            <a:r>
              <a:rPr lang="en-US" sz="1500" b="1" dirty="0">
                <a:solidFill>
                  <a:schemeClr val="accent2"/>
                </a:solidFill>
              </a:rPr>
              <a:t>MAINTENANT</a:t>
            </a:r>
            <a:endParaRPr lang="en-US" sz="1500" dirty="0"/>
          </a:p>
        </p:txBody>
      </p:sp>
      <p:sp>
        <p:nvSpPr>
          <p:cNvPr id="9" name="Shape 5"/>
          <p:cNvSpPr/>
          <p:nvPr/>
        </p:nvSpPr>
        <p:spPr>
          <a:xfrm>
            <a:off x="4064508" y="1920240"/>
            <a:ext cx="1783080" cy="914"/>
          </a:xfrm>
          <a:prstGeom prst="line">
            <a:avLst/>
          </a:prstGeom>
          <a:noFill/>
          <a:ln w="19050">
            <a:solidFill>
              <a:srgbClr val="8A96A8"/>
            </a:solidFill>
            <a:prstDash val="solid"/>
            <a:tailEnd type="triangle"/>
          </a:ln>
        </p:spPr>
      </p:sp>
      <p:sp>
        <p:nvSpPr>
          <p:cNvPr id="10" name="Shape 6"/>
          <p:cNvSpPr/>
          <p:nvPr/>
        </p:nvSpPr>
        <p:spPr>
          <a:xfrm>
            <a:off x="5075834" y="1755648"/>
            <a:ext cx="45720" cy="329184"/>
          </a:xfrm>
          <a:prstGeom prst="rect">
            <a:avLst/>
          </a:prstGeom>
          <a:solidFill>
            <a:schemeClr val="accent6"/>
          </a:solidFill>
          <a:ln w="12700">
            <a:solidFill>
              <a:srgbClr val="FFFFFF">
                <a:alpha val="0"/>
              </a:srgbClr>
            </a:solidFill>
            <a:prstDash val="solid"/>
          </a:ln>
        </p:spPr>
      </p:sp>
      <p:sp>
        <p:nvSpPr>
          <p:cNvPr id="11" name="Shape 7"/>
          <p:cNvSpPr/>
          <p:nvPr/>
        </p:nvSpPr>
        <p:spPr>
          <a:xfrm>
            <a:off x="5016398" y="1837944"/>
            <a:ext cx="164592" cy="164592"/>
          </a:xfrm>
          <a:prstGeom prst="ellipse">
            <a:avLst/>
          </a:prstGeom>
          <a:solidFill>
            <a:schemeClr val="accent2"/>
          </a:solidFill>
          <a:ln w="12700">
            <a:solidFill>
              <a:srgbClr val="FFFFFF">
                <a:alpha val="0"/>
              </a:srgbClr>
            </a:solidFill>
            <a:prstDash val="solid"/>
          </a:ln>
        </p:spPr>
      </p:sp>
      <p:sp>
        <p:nvSpPr>
          <p:cNvPr id="12" name="Text 8"/>
          <p:cNvSpPr txBox="1"/>
          <p:nvPr/>
        </p:nvSpPr>
        <p:spPr>
          <a:xfrm>
            <a:off x="822960" y="2286000"/>
            <a:ext cx="4997196" cy="594360"/>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b="1" i="1" dirty="0">
                <a:solidFill>
                  <a:srgbClr val="B83227"/>
                </a:solidFill>
              </a:rPr>
              <a:t>werk</a:t>
            </a:r>
            <a:r>
              <a:rPr lang="en-US" sz="1800" i="1" dirty="0">
                <a:solidFill>
                  <a:schemeClr val="tx1"/>
                </a:solidFill>
              </a:rPr>
              <a:t> </a:t>
            </a:r>
            <a:r>
              <a:rPr lang="en-US" sz="1800" b="1" i="1" dirty="0">
                <a:solidFill>
                  <a:srgbClr val="D9700F"/>
                </a:solidFill>
              </a:rPr>
              <a:t>nu</a:t>
            </a:r>
            <a:r>
              <a:rPr lang="en-US" sz="1800" i="1" dirty="0">
                <a:solidFill>
                  <a:schemeClr val="tx1"/>
                </a:solidFill>
              </a:rPr>
              <a:t> aan een rapport.</a:t>
            </a:r>
            <a:endParaRPr lang="en-US" sz="1800" dirty="0"/>
          </a:p>
        </p:txBody>
      </p:sp>
      <p:sp>
        <p:nvSpPr>
          <p:cNvPr id="13" name="Text 9"/>
          <p:cNvSpPr txBox="1"/>
          <p:nvPr/>
        </p:nvSpPr>
        <p:spPr>
          <a:xfrm>
            <a:off x="822960" y="2852928"/>
            <a:ext cx="4997196" cy="384048"/>
          </a:xfrm>
          <a:prstGeom prst="rect">
            <a:avLst/>
          </a:prstGeom>
          <a:noFill/>
          <a:ln/>
        </p:spPr>
        <p:txBody>
          <a:bodyPr wrap="square" lIns="0" tIns="0" rIns="0" bIns="0" rtlCol="0" anchor="ctr"/>
          <a:lstStyle/>
          <a:p>
            <a:pPr algn="l" indent="0" marL="0">
              <a:buNone/>
            </a:pPr>
            <a:r>
              <a:rPr lang="en-US" sz="1300" i="1" dirty="0">
                <a:solidFill>
                  <a:schemeClr val="accent5"/>
                </a:solidFill>
              </a:rPr>
              <a:t>« je travaille (en ce moment) »</a:t>
            </a:r>
            <a:endParaRPr lang="en-US" sz="1300" dirty="0"/>
          </a:p>
        </p:txBody>
      </p:sp>
      <p:sp>
        <p:nvSpPr>
          <p:cNvPr id="14" name="Shape 10"/>
          <p:cNvSpPr/>
          <p:nvPr/>
        </p:nvSpPr>
        <p:spPr>
          <a:xfrm>
            <a:off x="6185916" y="1463040"/>
            <a:ext cx="5454396" cy="1901952"/>
          </a:xfrm>
          <a:prstGeom prst="roundRect">
            <a:avLst>
              <a:gd name="adj" fmla="val 576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5" name="Shape 11"/>
          <p:cNvSpPr/>
          <p:nvPr/>
        </p:nvSpPr>
        <p:spPr>
          <a:xfrm>
            <a:off x="6185916" y="1463040"/>
            <a:ext cx="91440" cy="1901952"/>
          </a:xfrm>
          <a:prstGeom prst="rect">
            <a:avLst/>
          </a:prstGeom>
          <a:solidFill>
            <a:schemeClr val="accent2"/>
          </a:solidFill>
          <a:ln w="12700">
            <a:solidFill>
              <a:srgbClr val="FFFFFF">
                <a:alpha val="0"/>
              </a:srgbClr>
            </a:solidFill>
            <a:prstDash val="solid"/>
          </a:ln>
        </p:spPr>
      </p:sp>
      <p:pic>
        <p:nvPicPr>
          <p:cNvPr id="16" name="Image 1" descr="repeat button">    </p:cNvPr>
          <p:cNvPicPr>
            <a:picLocks noChangeAspect="1"/>
          </p:cNvPicPr>
          <p:nvPr/>
        </p:nvPicPr>
        <p:blipFill>
          <a:blip r:embed="rId2"/>
          <a:stretch>
            <a:fillRect/>
          </a:stretch>
        </p:blipFill>
        <p:spPr>
          <a:xfrm>
            <a:off x="6414516" y="1600200"/>
            <a:ext cx="594360" cy="594360"/>
          </a:xfrm>
          <a:prstGeom prst="rect">
            <a:avLst/>
          </a:prstGeom>
        </p:spPr>
      </p:pic>
      <p:sp>
        <p:nvSpPr>
          <p:cNvPr id="17" name="Text 12"/>
          <p:cNvSpPr txBox="1"/>
          <p:nvPr/>
        </p:nvSpPr>
        <p:spPr>
          <a:xfrm>
            <a:off x="7100316" y="1600200"/>
            <a:ext cx="2560320" cy="594360"/>
          </a:xfrm>
          <a:prstGeom prst="rect">
            <a:avLst/>
          </a:prstGeom>
          <a:noFill/>
          <a:ln/>
        </p:spPr>
        <p:txBody>
          <a:bodyPr wrap="square" lIns="0" tIns="0" rIns="0" bIns="0" rtlCol="0" anchor="ctr"/>
          <a:lstStyle/>
          <a:p>
            <a:pPr algn="l" indent="0" marL="0">
              <a:buNone/>
            </a:pPr>
            <a:r>
              <a:rPr lang="en-US" sz="1500" b="1" dirty="0">
                <a:solidFill>
                  <a:schemeClr val="accent2"/>
                </a:solidFill>
              </a:rPr>
              <a:t>L’HABITUDE</a:t>
            </a:r>
            <a:endParaRPr lang="en-US" sz="1500" dirty="0"/>
          </a:p>
        </p:txBody>
      </p:sp>
      <p:sp>
        <p:nvSpPr>
          <p:cNvPr id="18" name="Shape 13"/>
          <p:cNvSpPr/>
          <p:nvPr/>
        </p:nvSpPr>
        <p:spPr>
          <a:xfrm>
            <a:off x="9701784" y="1920240"/>
            <a:ext cx="1783080" cy="914"/>
          </a:xfrm>
          <a:prstGeom prst="line">
            <a:avLst/>
          </a:prstGeom>
          <a:noFill/>
          <a:ln w="19050">
            <a:solidFill>
              <a:srgbClr val="8A96A8"/>
            </a:solidFill>
            <a:prstDash val="solid"/>
            <a:tailEnd type="triangle"/>
          </a:ln>
        </p:spPr>
      </p:sp>
      <p:sp>
        <p:nvSpPr>
          <p:cNvPr id="19" name="Shape 14"/>
          <p:cNvSpPr/>
          <p:nvPr/>
        </p:nvSpPr>
        <p:spPr>
          <a:xfrm>
            <a:off x="10713110" y="1755648"/>
            <a:ext cx="45720" cy="329184"/>
          </a:xfrm>
          <a:prstGeom prst="rect">
            <a:avLst/>
          </a:prstGeom>
          <a:solidFill>
            <a:schemeClr val="accent6"/>
          </a:solidFill>
          <a:ln w="12700">
            <a:solidFill>
              <a:srgbClr val="FFFFFF">
                <a:alpha val="0"/>
              </a:srgbClr>
            </a:solidFill>
            <a:prstDash val="solid"/>
          </a:ln>
        </p:spPr>
      </p:sp>
      <p:sp>
        <p:nvSpPr>
          <p:cNvPr id="20" name="Shape 15"/>
          <p:cNvSpPr/>
          <p:nvPr/>
        </p:nvSpPr>
        <p:spPr>
          <a:xfrm>
            <a:off x="9797796" y="1837944"/>
            <a:ext cx="164592" cy="164592"/>
          </a:xfrm>
          <a:prstGeom prst="ellipse">
            <a:avLst/>
          </a:prstGeom>
          <a:solidFill>
            <a:schemeClr val="accent2"/>
          </a:solidFill>
          <a:ln w="12700">
            <a:solidFill>
              <a:srgbClr val="FFFFFF">
                <a:alpha val="0"/>
              </a:srgbClr>
            </a:solidFill>
            <a:prstDash val="solid"/>
          </a:ln>
        </p:spPr>
      </p:sp>
      <p:sp>
        <p:nvSpPr>
          <p:cNvPr id="21" name="Shape 16"/>
          <p:cNvSpPr/>
          <p:nvPr/>
        </p:nvSpPr>
        <p:spPr>
          <a:xfrm>
            <a:off x="10065258" y="1837944"/>
            <a:ext cx="164592" cy="164592"/>
          </a:xfrm>
          <a:prstGeom prst="ellipse">
            <a:avLst/>
          </a:prstGeom>
          <a:solidFill>
            <a:schemeClr val="accent2"/>
          </a:solidFill>
          <a:ln w="12700">
            <a:solidFill>
              <a:srgbClr val="FFFFFF">
                <a:alpha val="0"/>
              </a:srgbClr>
            </a:solidFill>
            <a:prstDash val="solid"/>
          </a:ln>
        </p:spPr>
      </p:sp>
      <p:sp>
        <p:nvSpPr>
          <p:cNvPr id="22" name="Shape 17"/>
          <p:cNvSpPr/>
          <p:nvPr/>
        </p:nvSpPr>
        <p:spPr>
          <a:xfrm>
            <a:off x="10332720" y="1837944"/>
            <a:ext cx="164592" cy="164592"/>
          </a:xfrm>
          <a:prstGeom prst="ellipse">
            <a:avLst/>
          </a:prstGeom>
          <a:solidFill>
            <a:schemeClr val="accent2"/>
          </a:solidFill>
          <a:ln w="12700">
            <a:solidFill>
              <a:srgbClr val="FFFFFF">
                <a:alpha val="0"/>
              </a:srgbClr>
            </a:solidFill>
            <a:prstDash val="solid"/>
          </a:ln>
        </p:spPr>
      </p:sp>
      <p:sp>
        <p:nvSpPr>
          <p:cNvPr id="23" name="Shape 18"/>
          <p:cNvSpPr/>
          <p:nvPr/>
        </p:nvSpPr>
        <p:spPr>
          <a:xfrm>
            <a:off x="10956798" y="1837944"/>
            <a:ext cx="164592" cy="164592"/>
          </a:xfrm>
          <a:prstGeom prst="ellipse">
            <a:avLst/>
          </a:prstGeom>
          <a:solidFill>
            <a:schemeClr val="accent2"/>
          </a:solidFill>
          <a:ln w="12700">
            <a:solidFill>
              <a:srgbClr val="FFFFFF">
                <a:alpha val="0"/>
              </a:srgbClr>
            </a:solidFill>
            <a:prstDash val="solid"/>
          </a:ln>
        </p:spPr>
      </p:sp>
      <p:sp>
        <p:nvSpPr>
          <p:cNvPr id="24" name="Shape 19"/>
          <p:cNvSpPr/>
          <p:nvPr/>
        </p:nvSpPr>
        <p:spPr>
          <a:xfrm>
            <a:off x="11224260" y="1837944"/>
            <a:ext cx="164592" cy="164592"/>
          </a:xfrm>
          <a:prstGeom prst="ellipse">
            <a:avLst/>
          </a:prstGeom>
          <a:solidFill>
            <a:schemeClr val="accent2"/>
          </a:solidFill>
          <a:ln w="12700">
            <a:solidFill>
              <a:srgbClr val="FFFFFF">
                <a:alpha val="0"/>
              </a:srgbClr>
            </a:solidFill>
            <a:prstDash val="solid"/>
          </a:ln>
        </p:spPr>
      </p:sp>
      <p:sp>
        <p:nvSpPr>
          <p:cNvPr id="25" name="Text 20"/>
          <p:cNvSpPr txBox="1"/>
          <p:nvPr/>
        </p:nvSpPr>
        <p:spPr>
          <a:xfrm>
            <a:off x="6460236" y="2286000"/>
            <a:ext cx="4997196" cy="594360"/>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b="1" i="1" dirty="0">
                <a:solidFill>
                  <a:srgbClr val="B83227"/>
                </a:solidFill>
              </a:rPr>
              <a:t>werk</a:t>
            </a:r>
            <a:r>
              <a:rPr lang="en-US" sz="1800" i="1" dirty="0">
                <a:solidFill>
                  <a:schemeClr val="tx1"/>
                </a:solidFill>
              </a:rPr>
              <a:t> </a:t>
            </a:r>
            <a:r>
              <a:rPr lang="en-US" sz="1800" b="1" i="1" dirty="0">
                <a:solidFill>
                  <a:srgbClr val="D9700F"/>
                </a:solidFill>
              </a:rPr>
              <a:t>elke maandag</a:t>
            </a:r>
            <a:r>
              <a:rPr lang="en-US" sz="1800" i="1" dirty="0">
                <a:solidFill>
                  <a:schemeClr val="tx1"/>
                </a:solidFill>
              </a:rPr>
              <a:t> thuis.</a:t>
            </a:r>
            <a:endParaRPr lang="en-US" sz="1800" dirty="0"/>
          </a:p>
        </p:txBody>
      </p:sp>
      <p:sp>
        <p:nvSpPr>
          <p:cNvPr id="26" name="Text 21"/>
          <p:cNvSpPr txBox="1"/>
          <p:nvPr/>
        </p:nvSpPr>
        <p:spPr>
          <a:xfrm>
            <a:off x="6460236" y="2852928"/>
            <a:ext cx="4997196" cy="384048"/>
          </a:xfrm>
          <a:prstGeom prst="rect">
            <a:avLst/>
          </a:prstGeom>
          <a:noFill/>
          <a:ln/>
        </p:spPr>
        <p:txBody>
          <a:bodyPr wrap="square" lIns="0" tIns="0" rIns="0" bIns="0" rtlCol="0" anchor="ctr"/>
          <a:lstStyle/>
          <a:p>
            <a:pPr algn="l" indent="0" marL="0">
              <a:buNone/>
            </a:pPr>
            <a:r>
              <a:rPr lang="en-US" sz="1300" i="1" dirty="0">
                <a:solidFill>
                  <a:schemeClr val="accent5"/>
                </a:solidFill>
              </a:rPr>
              <a:t>« chaque lundi »</a:t>
            </a:r>
            <a:endParaRPr lang="en-US" sz="1300" dirty="0"/>
          </a:p>
        </p:txBody>
      </p:sp>
      <p:sp>
        <p:nvSpPr>
          <p:cNvPr id="27" name="Shape 22"/>
          <p:cNvSpPr/>
          <p:nvPr/>
        </p:nvSpPr>
        <p:spPr>
          <a:xfrm>
            <a:off x="548640" y="3502152"/>
            <a:ext cx="5454396" cy="1901952"/>
          </a:xfrm>
          <a:prstGeom prst="roundRect">
            <a:avLst>
              <a:gd name="adj" fmla="val 576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8" name="Shape 23"/>
          <p:cNvSpPr/>
          <p:nvPr/>
        </p:nvSpPr>
        <p:spPr>
          <a:xfrm>
            <a:off x="548640" y="3502152"/>
            <a:ext cx="91440" cy="1901952"/>
          </a:xfrm>
          <a:prstGeom prst="rect">
            <a:avLst/>
          </a:prstGeom>
          <a:solidFill>
            <a:schemeClr val="accent2"/>
          </a:solidFill>
          <a:ln w="12700">
            <a:solidFill>
              <a:srgbClr val="FFFFFF">
                <a:alpha val="0"/>
              </a:srgbClr>
            </a:solidFill>
            <a:prstDash val="solid"/>
          </a:ln>
        </p:spPr>
      </p:sp>
      <p:pic>
        <p:nvPicPr>
          <p:cNvPr id="29" name="Image 2" descr="hourglass not done">    </p:cNvPr>
          <p:cNvPicPr>
            <a:picLocks noChangeAspect="1"/>
          </p:cNvPicPr>
          <p:nvPr/>
        </p:nvPicPr>
        <p:blipFill>
          <a:blip r:embed="rId3"/>
          <a:stretch>
            <a:fillRect/>
          </a:stretch>
        </p:blipFill>
        <p:spPr>
          <a:xfrm>
            <a:off x="777240" y="3639312"/>
            <a:ext cx="594360" cy="594360"/>
          </a:xfrm>
          <a:prstGeom prst="rect">
            <a:avLst/>
          </a:prstGeom>
        </p:spPr>
      </p:pic>
      <p:sp>
        <p:nvSpPr>
          <p:cNvPr id="30" name="Text 24"/>
          <p:cNvSpPr txBox="1"/>
          <p:nvPr/>
        </p:nvSpPr>
        <p:spPr>
          <a:xfrm>
            <a:off x="1463040" y="3639312"/>
            <a:ext cx="2560320" cy="594360"/>
          </a:xfrm>
          <a:prstGeom prst="rect">
            <a:avLst/>
          </a:prstGeom>
          <a:noFill/>
          <a:ln/>
        </p:spPr>
        <p:txBody>
          <a:bodyPr wrap="square" lIns="0" tIns="0" rIns="0" bIns="0" rtlCol="0" anchor="ctr"/>
          <a:lstStyle/>
          <a:p>
            <a:pPr algn="l" indent="0" marL="0">
              <a:buNone/>
            </a:pPr>
            <a:r>
              <a:rPr lang="en-US" sz="1500" b="1" dirty="0">
                <a:solidFill>
                  <a:schemeClr val="accent2"/>
                </a:solidFill>
              </a:rPr>
              <a:t>DEPUIS… ET ENCORE</a:t>
            </a:r>
            <a:endParaRPr lang="en-US" sz="1500" dirty="0"/>
          </a:p>
        </p:txBody>
      </p:sp>
      <p:sp>
        <p:nvSpPr>
          <p:cNvPr id="31" name="Shape 25"/>
          <p:cNvSpPr/>
          <p:nvPr/>
        </p:nvSpPr>
        <p:spPr>
          <a:xfrm>
            <a:off x="4064508" y="3959352"/>
            <a:ext cx="1783080" cy="914"/>
          </a:xfrm>
          <a:prstGeom prst="line">
            <a:avLst/>
          </a:prstGeom>
          <a:noFill/>
          <a:ln w="19050">
            <a:solidFill>
              <a:srgbClr val="8A96A8"/>
            </a:solidFill>
            <a:prstDash val="solid"/>
            <a:tailEnd type="triangle"/>
          </a:ln>
        </p:spPr>
      </p:sp>
      <p:sp>
        <p:nvSpPr>
          <p:cNvPr id="32" name="Shape 26"/>
          <p:cNvSpPr/>
          <p:nvPr/>
        </p:nvSpPr>
        <p:spPr>
          <a:xfrm>
            <a:off x="5075834" y="3794760"/>
            <a:ext cx="45720" cy="329184"/>
          </a:xfrm>
          <a:prstGeom prst="rect">
            <a:avLst/>
          </a:prstGeom>
          <a:solidFill>
            <a:schemeClr val="accent6"/>
          </a:solidFill>
          <a:ln w="12700">
            <a:solidFill>
              <a:srgbClr val="FFFFFF">
                <a:alpha val="0"/>
              </a:srgbClr>
            </a:solidFill>
            <a:prstDash val="solid"/>
          </a:ln>
        </p:spPr>
      </p:sp>
      <p:sp>
        <p:nvSpPr>
          <p:cNvPr id="33" name="Shape 27"/>
          <p:cNvSpPr/>
          <p:nvPr/>
        </p:nvSpPr>
        <p:spPr>
          <a:xfrm>
            <a:off x="4278478" y="3895344"/>
            <a:ext cx="838505" cy="128016"/>
          </a:xfrm>
          <a:prstGeom prst="roundRect">
            <a:avLst>
              <a:gd name="adj" fmla="val 28571"/>
            </a:avLst>
          </a:prstGeom>
          <a:solidFill>
            <a:schemeClr val="accent2"/>
          </a:solidFill>
          <a:ln w="12700">
            <a:solidFill>
              <a:srgbClr val="FFFFFF">
                <a:alpha val="0"/>
              </a:srgbClr>
            </a:solidFill>
            <a:prstDash val="solid"/>
          </a:ln>
        </p:spPr>
      </p:sp>
      <p:sp>
        <p:nvSpPr>
          <p:cNvPr id="34" name="Text 28"/>
          <p:cNvSpPr txBox="1"/>
          <p:nvPr/>
        </p:nvSpPr>
        <p:spPr>
          <a:xfrm>
            <a:off x="822960" y="4325112"/>
            <a:ext cx="4997196" cy="594360"/>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b="1" i="1" dirty="0">
                <a:solidFill>
                  <a:srgbClr val="B83227"/>
                </a:solidFill>
              </a:rPr>
              <a:t>werk</a:t>
            </a:r>
            <a:r>
              <a:rPr lang="en-US" sz="1800" i="1" dirty="0">
                <a:solidFill>
                  <a:schemeClr val="tx1"/>
                </a:solidFill>
              </a:rPr>
              <a:t> hier </a:t>
            </a:r>
            <a:r>
              <a:rPr lang="en-US" sz="1800" b="1" i="1" dirty="0">
                <a:solidFill>
                  <a:srgbClr val="D9700F"/>
                </a:solidFill>
              </a:rPr>
              <a:t>al</a:t>
            </a:r>
            <a:r>
              <a:rPr lang="en-US" sz="1800" i="1" dirty="0">
                <a:solidFill>
                  <a:schemeClr val="tx1"/>
                </a:solidFill>
              </a:rPr>
              <a:t> drie jaar. · </a:t>
            </a:r>
            <a:r>
              <a:rPr lang="en-US" sz="1800" b="1" i="1" dirty="0">
                <a:solidFill>
                  <a:srgbClr val="D9700F"/>
                </a:solidFill>
              </a:rPr>
              <a:t>sinds</a:t>
            </a:r>
            <a:r>
              <a:rPr lang="en-US" sz="1800" i="1" dirty="0">
                <a:solidFill>
                  <a:schemeClr val="tx1"/>
                </a:solidFill>
              </a:rPr>
              <a:t> 2021</a:t>
            </a:r>
            <a:endParaRPr lang="en-US" sz="1800" dirty="0"/>
          </a:p>
        </p:txBody>
      </p:sp>
      <p:sp>
        <p:nvSpPr>
          <p:cNvPr id="35" name="Text 29"/>
          <p:cNvSpPr txBox="1"/>
          <p:nvPr/>
        </p:nvSpPr>
        <p:spPr>
          <a:xfrm>
            <a:off x="822960" y="4892040"/>
            <a:ext cx="4997196" cy="384048"/>
          </a:xfrm>
          <a:prstGeom prst="rect">
            <a:avLst/>
          </a:prstGeom>
          <a:noFill/>
          <a:ln/>
        </p:spPr>
        <p:txBody>
          <a:bodyPr wrap="square" lIns="0" tIns="0" rIns="0" bIns="0" rtlCol="0" anchor="ctr"/>
          <a:lstStyle/>
          <a:p>
            <a:pPr algn="l" indent="0" marL="0">
              <a:buNone/>
            </a:pPr>
            <a:r>
              <a:rPr lang="en-US" sz="1300" i="1" dirty="0">
                <a:solidFill>
                  <a:schemeClr val="accent5"/>
                </a:solidFill>
              </a:rPr>
              <a:t>« depuis trois ans · depuis 2021 »</a:t>
            </a:r>
            <a:endParaRPr lang="en-US" sz="1300" dirty="0"/>
          </a:p>
        </p:txBody>
      </p:sp>
      <p:sp>
        <p:nvSpPr>
          <p:cNvPr id="36" name="Shape 30"/>
          <p:cNvSpPr/>
          <p:nvPr/>
        </p:nvSpPr>
        <p:spPr>
          <a:xfrm>
            <a:off x="6185916" y="3502152"/>
            <a:ext cx="5454396" cy="1901952"/>
          </a:xfrm>
          <a:prstGeom prst="roundRect">
            <a:avLst>
              <a:gd name="adj" fmla="val 5769"/>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Shape 31"/>
          <p:cNvSpPr/>
          <p:nvPr/>
        </p:nvSpPr>
        <p:spPr>
          <a:xfrm>
            <a:off x="6185916" y="3502152"/>
            <a:ext cx="91440" cy="1901952"/>
          </a:xfrm>
          <a:prstGeom prst="rect">
            <a:avLst/>
          </a:prstGeom>
          <a:solidFill>
            <a:schemeClr val="accent2"/>
          </a:solidFill>
          <a:ln w="12700">
            <a:solidFill>
              <a:srgbClr val="FFFFFF">
                <a:alpha val="0"/>
              </a:srgbClr>
            </a:solidFill>
            <a:prstDash val="solid"/>
          </a:ln>
        </p:spPr>
      </p:sp>
      <p:pic>
        <p:nvPicPr>
          <p:cNvPr id="38" name="Image 3" descr="spiral calendar">    </p:cNvPr>
          <p:cNvPicPr>
            <a:picLocks noChangeAspect="1"/>
          </p:cNvPicPr>
          <p:nvPr/>
        </p:nvPicPr>
        <p:blipFill>
          <a:blip r:embed="rId4"/>
          <a:stretch>
            <a:fillRect/>
          </a:stretch>
        </p:blipFill>
        <p:spPr>
          <a:xfrm>
            <a:off x="6414516" y="3639312"/>
            <a:ext cx="594360" cy="594360"/>
          </a:xfrm>
          <a:prstGeom prst="rect">
            <a:avLst/>
          </a:prstGeom>
        </p:spPr>
      </p:pic>
      <p:sp>
        <p:nvSpPr>
          <p:cNvPr id="39" name="Text 32"/>
          <p:cNvSpPr txBox="1"/>
          <p:nvPr/>
        </p:nvSpPr>
        <p:spPr>
          <a:xfrm>
            <a:off x="7100316" y="3639312"/>
            <a:ext cx="2560320" cy="594360"/>
          </a:xfrm>
          <a:prstGeom prst="rect">
            <a:avLst/>
          </a:prstGeom>
          <a:noFill/>
          <a:ln/>
        </p:spPr>
        <p:txBody>
          <a:bodyPr wrap="square" lIns="0" tIns="0" rIns="0" bIns="0" rtlCol="0" anchor="ctr"/>
          <a:lstStyle/>
          <a:p>
            <a:pPr algn="l" indent="0" marL="0">
              <a:buNone/>
            </a:pPr>
            <a:r>
              <a:rPr lang="en-US" sz="1500" b="1" dirty="0">
                <a:solidFill>
                  <a:schemeClr val="accent2"/>
                </a:solidFill>
              </a:rPr>
              <a:t>FUTUR + MARQUEUR</a:t>
            </a:r>
            <a:endParaRPr lang="en-US" sz="1500" dirty="0"/>
          </a:p>
        </p:txBody>
      </p:sp>
      <p:sp>
        <p:nvSpPr>
          <p:cNvPr id="40" name="Shape 33"/>
          <p:cNvSpPr/>
          <p:nvPr/>
        </p:nvSpPr>
        <p:spPr>
          <a:xfrm>
            <a:off x="9701784" y="3959352"/>
            <a:ext cx="1783080" cy="914"/>
          </a:xfrm>
          <a:prstGeom prst="line">
            <a:avLst/>
          </a:prstGeom>
          <a:noFill/>
          <a:ln w="19050">
            <a:solidFill>
              <a:srgbClr val="8A96A8"/>
            </a:solidFill>
            <a:prstDash val="solid"/>
            <a:tailEnd type="triangle"/>
          </a:ln>
        </p:spPr>
      </p:sp>
      <p:sp>
        <p:nvSpPr>
          <p:cNvPr id="41" name="Shape 34"/>
          <p:cNvSpPr/>
          <p:nvPr/>
        </p:nvSpPr>
        <p:spPr>
          <a:xfrm>
            <a:off x="10713110" y="3794760"/>
            <a:ext cx="45720" cy="329184"/>
          </a:xfrm>
          <a:prstGeom prst="rect">
            <a:avLst/>
          </a:prstGeom>
          <a:solidFill>
            <a:schemeClr val="accent6"/>
          </a:solidFill>
          <a:ln w="12700">
            <a:solidFill>
              <a:srgbClr val="FFFFFF">
                <a:alpha val="0"/>
              </a:srgbClr>
            </a:solidFill>
            <a:prstDash val="solid"/>
          </a:ln>
        </p:spPr>
      </p:sp>
      <p:sp>
        <p:nvSpPr>
          <p:cNvPr id="42" name="Shape 35"/>
          <p:cNvSpPr/>
          <p:nvPr/>
        </p:nvSpPr>
        <p:spPr>
          <a:xfrm>
            <a:off x="11135106" y="3877056"/>
            <a:ext cx="164592" cy="164592"/>
          </a:xfrm>
          <a:prstGeom prst="ellipse">
            <a:avLst/>
          </a:prstGeom>
          <a:solidFill>
            <a:schemeClr val="accent3"/>
          </a:solidFill>
          <a:ln w="12700">
            <a:solidFill>
              <a:srgbClr val="FFFFFF">
                <a:alpha val="0"/>
              </a:srgbClr>
            </a:solidFill>
            <a:prstDash val="solid"/>
          </a:ln>
        </p:spPr>
      </p:sp>
      <p:sp>
        <p:nvSpPr>
          <p:cNvPr id="43" name="Text 36"/>
          <p:cNvSpPr txBox="1"/>
          <p:nvPr/>
        </p:nvSpPr>
        <p:spPr>
          <a:xfrm>
            <a:off x="6460236" y="4325112"/>
            <a:ext cx="4997196" cy="594360"/>
          </a:xfrm>
          <a:prstGeom prst="rect">
            <a:avLst/>
          </a:prstGeom>
          <a:noFill/>
          <a:ln/>
        </p:spPr>
        <p:txBody>
          <a:bodyPr wrap="square" lIns="0" tIns="0" rIns="0" bIns="0" rtlCol="0" anchor="ctr"/>
          <a:lstStyle/>
          <a:p>
            <a:pPr algn="l" indent="0" marL="0">
              <a:buNone/>
            </a:pPr>
            <a:r>
              <a:rPr lang="en-US" sz="1800" b="1" i="1" dirty="0">
                <a:solidFill>
                  <a:srgbClr val="D9700F"/>
                </a:solidFill>
              </a:rPr>
              <a:t>Morgen</a:t>
            </a:r>
            <a:r>
              <a:rPr lang="en-US" sz="1800" i="1" dirty="0">
                <a:solidFill>
                  <a:schemeClr val="tx1"/>
                </a:solidFill>
              </a:rPr>
              <a:t> </a:t>
            </a:r>
            <a:r>
              <a:rPr lang="en-US" sz="1800" b="1" i="1" dirty="0">
                <a:solidFill>
                  <a:srgbClr val="B83227"/>
                </a:solidFill>
              </a:rPr>
              <a:t>werk</a:t>
            </a:r>
            <a:r>
              <a:rPr lang="en-US" sz="1800" i="1" dirty="0">
                <a:solidFill>
                  <a:schemeClr val="tx1"/>
                </a:solidFill>
              </a:rPr>
              <a:t> ik thuis.</a:t>
            </a:r>
            <a:endParaRPr lang="en-US" sz="1800" dirty="0"/>
          </a:p>
        </p:txBody>
      </p:sp>
      <p:sp>
        <p:nvSpPr>
          <p:cNvPr id="44" name="Text 37"/>
          <p:cNvSpPr txBox="1"/>
          <p:nvPr/>
        </p:nvSpPr>
        <p:spPr>
          <a:xfrm>
            <a:off x="6460236" y="4892040"/>
            <a:ext cx="4997196" cy="384048"/>
          </a:xfrm>
          <a:prstGeom prst="rect">
            <a:avLst/>
          </a:prstGeom>
          <a:noFill/>
          <a:ln/>
        </p:spPr>
        <p:txBody>
          <a:bodyPr wrap="square" lIns="0" tIns="0" rIns="0" bIns="0" rtlCol="0" anchor="ctr"/>
          <a:lstStyle/>
          <a:p>
            <a:pPr algn="l" indent="0" marL="0">
              <a:buNone/>
            </a:pPr>
            <a:r>
              <a:rPr lang="en-US" sz="1300" i="1" dirty="0">
                <a:solidFill>
                  <a:schemeClr val="accent5"/>
                </a:solidFill>
              </a:rPr>
              <a:t>« demain, je travaille à la maison »</a:t>
            </a:r>
            <a:endParaRPr lang="en-US" sz="1300" dirty="0"/>
          </a:p>
        </p:txBody>
      </p:sp>
      <p:sp>
        <p:nvSpPr>
          <p:cNvPr id="45" name="Shape 38"/>
          <p:cNvSpPr/>
          <p:nvPr/>
        </p:nvSpPr>
        <p:spPr>
          <a:xfrm>
            <a:off x="548640" y="5577840"/>
            <a:ext cx="11091672" cy="640080"/>
          </a:xfrm>
          <a:prstGeom prst="roundRect">
            <a:avLst>
              <a:gd name="adj" fmla="val 11429"/>
            </a:avLst>
          </a:prstGeom>
          <a:solidFill>
            <a:schemeClr val="accent6"/>
          </a:solidFill>
          <a:ln w="12700">
            <a:solidFill>
              <a:srgbClr val="FFFFFF">
                <a:alpha val="0"/>
              </a:srgbClr>
            </a:solidFill>
            <a:prstDash val="solid"/>
          </a:ln>
        </p:spPr>
      </p:sp>
      <p:sp>
        <p:nvSpPr>
          <p:cNvPr id="46" name="Text 39"/>
          <p:cNvSpPr txBox="1"/>
          <p:nvPr/>
        </p:nvSpPr>
        <p:spPr>
          <a:xfrm>
            <a:off x="822960" y="5577840"/>
            <a:ext cx="10607040" cy="640080"/>
          </a:xfrm>
          <a:prstGeom prst="rect">
            <a:avLst/>
          </a:prstGeom>
          <a:noFill/>
          <a:ln/>
        </p:spPr>
        <p:txBody>
          <a:bodyPr wrap="square" lIns="0" tIns="0" rIns="0" bIns="0" rtlCol="0" anchor="ctr"/>
          <a:lstStyle/>
          <a:p>
            <a:pPr algn="l" indent="0" marL="0">
              <a:buNone/>
            </a:pPr>
            <a:r>
              <a:rPr lang="en-US" sz="1600" dirty="0">
                <a:solidFill>
                  <a:schemeClr val="bg1"/>
                </a:solidFill>
              </a:rPr>
              <a:t>⚠ « J’habite ici depuis 3 ans » = </a:t>
            </a:r>
            <a:r>
              <a:rPr lang="en-US" sz="1600" i="1" dirty="0">
                <a:solidFill>
                  <a:schemeClr val="bg1"/>
                </a:solidFill>
              </a:rPr>
              <a:t>Ik </a:t>
            </a:r>
            <a:r>
              <a:rPr lang="en-US" sz="1600" b="1" i="1" dirty="0">
                <a:solidFill>
                  <a:schemeClr val="bg1"/>
                </a:solidFill>
              </a:rPr>
              <a:t>woon</a:t>
            </a:r>
            <a:r>
              <a:rPr lang="en-US" sz="1600" i="1" dirty="0">
                <a:solidFill>
                  <a:schemeClr val="bg1"/>
                </a:solidFill>
              </a:rPr>
              <a:t> hier al 3 jaar.</a:t>
            </a:r>
            <a:r>
              <a:rPr lang="en-US" sz="1600" dirty="0">
                <a:solidFill>
                  <a:schemeClr val="bg1"/>
                </a:solidFill>
              </a:rPr>
              <a:t>  —  </a:t>
            </a:r>
            <a:r>
              <a:rPr lang="en-US" sz="1600" i="1" dirty="0">
                <a:solidFill>
                  <a:schemeClr val="bg1"/>
                </a:solidFill>
              </a:rPr>
              <a:t>Ik heb hier 3 jaar gewoond</a:t>
            </a:r>
            <a:r>
              <a:rPr lang="en-US" sz="1600" dirty="0">
                <a:solidFill>
                  <a:schemeClr val="bg1"/>
                </a:solidFill>
              </a:rPr>
              <a:t> = je n’y habite plus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Zoom sur NU : net, aan het, op het punt, gaan</a:t>
            </a:r>
            <a:endParaRPr lang="en-US" sz="3000" dirty="0"/>
          </a:p>
        </p:txBody>
      </p:sp>
      <p:sp>
        <p:nvSpPr>
          <p:cNvPr id="3" name="tag"/>
          <p:cNvSpPr/>
          <p:nvPr/>
        </p:nvSpPr>
        <p:spPr>
          <a:xfrm>
            <a:off x="548640" y="237744"/>
            <a:ext cx="155448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LE PRÉSENT</a:t>
            </a:r>
            <a:endParaRPr lang="en-US" sz="1200" dirty="0"/>
          </a:p>
        </p:txBody>
      </p:sp>
      <p:pic>
        <p:nvPicPr>
          <p:cNvPr id="5" name="Image 0" descr="magnifying glass tilted left">    </p:cNvPr>
          <p:cNvPicPr>
            <a:picLocks noChangeAspect="1"/>
          </p:cNvPicPr>
          <p:nvPr/>
        </p:nvPicPr>
        <p:blipFill>
          <a:blip r:embed="rId1"/>
          <a:stretch>
            <a:fillRect/>
          </a:stretch>
        </p:blipFill>
        <p:spPr>
          <a:xfrm>
            <a:off x="548640" y="1371600"/>
            <a:ext cx="777240" cy="777240"/>
          </a:xfrm>
          <a:prstGeom prst="rect">
            <a:avLst/>
          </a:prstGeom>
        </p:spPr>
      </p:pic>
      <p:sp>
        <p:nvSpPr>
          <p:cNvPr id="6" name="Text 2"/>
          <p:cNvSpPr txBox="1"/>
          <p:nvPr/>
        </p:nvSpPr>
        <p:spPr>
          <a:xfrm>
            <a:off x="1463040" y="1371600"/>
            <a:ext cx="10149840" cy="777240"/>
          </a:xfrm>
          <a:prstGeom prst="rect">
            <a:avLst/>
          </a:prstGeom>
          <a:noFill/>
          <a:ln/>
        </p:spPr>
        <p:txBody>
          <a:bodyPr wrap="square" lIns="0" tIns="0" rIns="0" bIns="0" rtlCol="0" anchor="ctr"/>
          <a:lstStyle/>
          <a:p>
            <a:pPr algn="l" indent="0" marL="0">
              <a:buNone/>
            </a:pPr>
            <a:r>
              <a:rPr lang="en-US" sz="1600" dirty="0">
                <a:solidFill>
                  <a:schemeClr val="tx2"/>
                </a:solidFill>
              </a:rPr>
              <a:t>Quatre formules très fréquentes, juste avant, pendant et juste après le moment présent.</a:t>
            </a:r>
            <a:endParaRPr lang="en-US" sz="1600" dirty="0"/>
          </a:p>
        </p:txBody>
      </p:sp>
      <p:sp>
        <p:nvSpPr>
          <p:cNvPr id="7" name="Shape 3"/>
          <p:cNvSpPr/>
          <p:nvPr/>
        </p:nvSpPr>
        <p:spPr>
          <a:xfrm>
            <a:off x="3291840" y="2697480"/>
            <a:ext cx="2697480" cy="182880"/>
          </a:xfrm>
          <a:prstGeom prst="rect">
            <a:avLst/>
          </a:prstGeom>
          <a:solidFill>
            <a:schemeClr val="accent4"/>
          </a:solidFill>
          <a:ln w="12700">
            <a:solidFill>
              <a:srgbClr val="FFFFFF">
                <a:alpha val="0"/>
              </a:srgbClr>
            </a:solidFill>
            <a:prstDash val="solid"/>
          </a:ln>
        </p:spPr>
      </p:sp>
      <p:sp>
        <p:nvSpPr>
          <p:cNvPr id="8" name="Shape 4"/>
          <p:cNvSpPr/>
          <p:nvPr/>
        </p:nvSpPr>
        <p:spPr>
          <a:xfrm>
            <a:off x="6355080" y="2697480"/>
            <a:ext cx="4160520" cy="182880"/>
          </a:xfrm>
          <a:prstGeom prst="rect">
            <a:avLst/>
          </a:prstGeom>
          <a:solidFill>
            <a:schemeClr val="accent3"/>
          </a:solidFill>
          <a:ln w="12700">
            <a:solidFill>
              <a:srgbClr val="FFFFFF">
                <a:alpha val="0"/>
              </a:srgbClr>
            </a:solidFill>
            <a:prstDash val="solid"/>
          </a:ln>
        </p:spPr>
      </p:sp>
      <p:sp>
        <p:nvSpPr>
          <p:cNvPr id="9" name="Shape 5"/>
          <p:cNvSpPr/>
          <p:nvPr/>
        </p:nvSpPr>
        <p:spPr>
          <a:xfrm>
            <a:off x="731520" y="2788920"/>
            <a:ext cx="10927080" cy="914"/>
          </a:xfrm>
          <a:prstGeom prst="line">
            <a:avLst/>
          </a:prstGeom>
          <a:noFill/>
          <a:ln w="31750">
            <a:solidFill>
              <a:srgbClr val="17375E"/>
            </a:solidFill>
            <a:prstDash val="solid"/>
            <a:tailEnd type="triangle"/>
          </a:ln>
        </p:spPr>
      </p:sp>
      <p:sp>
        <p:nvSpPr>
          <p:cNvPr id="10" name="Shape 6"/>
          <p:cNvSpPr/>
          <p:nvPr/>
        </p:nvSpPr>
        <p:spPr>
          <a:xfrm>
            <a:off x="6126480" y="2478024"/>
            <a:ext cx="91440" cy="621792"/>
          </a:xfrm>
          <a:prstGeom prst="rect">
            <a:avLst/>
          </a:prstGeom>
          <a:solidFill>
            <a:schemeClr val="accent6"/>
          </a:solidFill>
          <a:ln w="12700">
            <a:solidFill>
              <a:srgbClr val="FFFFFF">
                <a:alpha val="0"/>
              </a:srgbClr>
            </a:solidFill>
            <a:prstDash val="solid"/>
          </a:ln>
        </p:spPr>
      </p:sp>
      <p:sp>
        <p:nvSpPr>
          <p:cNvPr id="11" name="Shape 7"/>
          <p:cNvSpPr/>
          <p:nvPr/>
        </p:nvSpPr>
        <p:spPr>
          <a:xfrm>
            <a:off x="5669280" y="2642616"/>
            <a:ext cx="1005840" cy="292608"/>
          </a:xfrm>
          <a:prstGeom prst="roundRect">
            <a:avLst>
              <a:gd name="adj" fmla="val 25000"/>
            </a:avLst>
          </a:prstGeom>
          <a:solidFill>
            <a:schemeClr val="accent2"/>
          </a:solidFill>
          <a:ln w="12700">
            <a:solidFill>
              <a:srgbClr val="FFFFFF"/>
            </a:solidFill>
            <a:prstDash val="solid"/>
          </a:ln>
        </p:spPr>
      </p:sp>
      <p:sp>
        <p:nvSpPr>
          <p:cNvPr id="12" name="Shape 8"/>
          <p:cNvSpPr/>
          <p:nvPr/>
        </p:nvSpPr>
        <p:spPr>
          <a:xfrm>
            <a:off x="6126480" y="2423160"/>
            <a:ext cx="91440" cy="731520"/>
          </a:xfrm>
          <a:prstGeom prst="rect">
            <a:avLst/>
          </a:prstGeom>
          <a:solidFill>
            <a:schemeClr val="accent6"/>
          </a:solidFill>
          <a:ln w="12700">
            <a:solidFill>
              <a:srgbClr val="FFFFFF">
                <a:alpha val="0"/>
              </a:srgbClr>
            </a:solidFill>
            <a:prstDash val="solid"/>
          </a:ln>
        </p:spPr>
      </p:sp>
      <p:sp>
        <p:nvSpPr>
          <p:cNvPr id="13" name="Text 9"/>
          <p:cNvSpPr txBox="1"/>
          <p:nvPr/>
        </p:nvSpPr>
        <p:spPr>
          <a:xfrm>
            <a:off x="5715000" y="2039112"/>
            <a:ext cx="914400" cy="329184"/>
          </a:xfrm>
          <a:prstGeom prst="rect">
            <a:avLst/>
          </a:prstGeom>
          <a:noFill/>
          <a:ln/>
        </p:spPr>
        <p:txBody>
          <a:bodyPr wrap="square" lIns="0" tIns="0" rIns="0" bIns="0" rtlCol="0" anchor="t"/>
          <a:lstStyle/>
          <a:p>
            <a:pPr algn="ctr" indent="0" marL="0">
              <a:buNone/>
            </a:pPr>
            <a:r>
              <a:rPr lang="en-US" sz="1500" b="1" dirty="0">
                <a:solidFill>
                  <a:schemeClr val="accent6"/>
                </a:solidFill>
              </a:rPr>
              <a:t>NU</a:t>
            </a:r>
            <a:endParaRPr lang="en-US" sz="1500" dirty="0"/>
          </a:p>
        </p:txBody>
      </p:sp>
      <p:sp>
        <p:nvSpPr>
          <p:cNvPr id="14" name="Shape 10"/>
          <p:cNvSpPr/>
          <p:nvPr/>
        </p:nvSpPr>
        <p:spPr>
          <a:xfrm>
            <a:off x="4864608" y="2670048"/>
            <a:ext cx="237744" cy="237744"/>
          </a:xfrm>
          <a:prstGeom prst="ellipse">
            <a:avLst/>
          </a:prstGeom>
          <a:solidFill>
            <a:schemeClr val="accent4"/>
          </a:solidFill>
          <a:ln w="12700">
            <a:solidFill>
              <a:srgbClr val="FFFFFF"/>
            </a:solidFill>
            <a:prstDash val="solid"/>
          </a:ln>
        </p:spPr>
      </p:sp>
      <p:sp>
        <p:nvSpPr>
          <p:cNvPr id="15" name="Text 11"/>
          <p:cNvSpPr txBox="1"/>
          <p:nvPr/>
        </p:nvSpPr>
        <p:spPr>
          <a:xfrm>
            <a:off x="4361688" y="3172968"/>
            <a:ext cx="1243584" cy="256032"/>
          </a:xfrm>
          <a:prstGeom prst="rect">
            <a:avLst/>
          </a:prstGeom>
          <a:noFill/>
          <a:ln/>
        </p:spPr>
        <p:txBody>
          <a:bodyPr wrap="square" lIns="0" tIns="0" rIns="0" bIns="0" rtlCol="0" anchor="t"/>
          <a:lstStyle/>
          <a:p>
            <a:pPr algn="ctr" indent="0" marL="0">
              <a:buNone/>
            </a:pPr>
            <a:r>
              <a:rPr lang="en-US" sz="1150" b="1" i="1" dirty="0">
                <a:solidFill>
                  <a:schemeClr val="accent4"/>
                </a:solidFill>
              </a:rPr>
              <a:t>juste avant</a:t>
            </a:r>
            <a:endParaRPr lang="en-US" sz="1150" dirty="0"/>
          </a:p>
        </p:txBody>
      </p:sp>
      <p:sp>
        <p:nvSpPr>
          <p:cNvPr id="16" name="Shape 12"/>
          <p:cNvSpPr/>
          <p:nvPr/>
        </p:nvSpPr>
        <p:spPr>
          <a:xfrm flipH="1">
            <a:off x="1873377" y="3447288"/>
            <a:ext cx="3110103" cy="54864"/>
          </a:xfrm>
          <a:prstGeom prst="line">
            <a:avLst/>
          </a:prstGeom>
          <a:noFill/>
          <a:ln w="15875">
            <a:solidFill>
              <a:srgbClr val="B4236A"/>
            </a:solidFill>
            <a:prstDash val="dash"/>
          </a:ln>
        </p:spPr>
      </p:sp>
      <p:sp>
        <p:nvSpPr>
          <p:cNvPr id="17" name="Shape 13"/>
          <p:cNvSpPr/>
          <p:nvPr/>
        </p:nvSpPr>
        <p:spPr>
          <a:xfrm>
            <a:off x="548640" y="3520440"/>
            <a:ext cx="2649474" cy="1920240"/>
          </a:xfrm>
          <a:prstGeom prst="roundRect">
            <a:avLst>
              <a:gd name="adj" fmla="val 5714"/>
            </a:avLst>
          </a:prstGeom>
          <a:solidFill>
            <a:srgbClr val="FFFFFF"/>
          </a:solidFill>
          <a:ln w="22225">
            <a:solidFill>
              <a:srgbClr val="B4236A"/>
            </a:solidFill>
            <a:prstDash val="solid"/>
          </a:ln>
          <a:effectLst>
            <a:outerShdw sx="100000" sy="100000" kx="0" ky="0" algn="bl" rotWithShape="0" blurRad="101600" dist="25400" dir="3600000">
              <a:srgbClr val="000000">
                <a:alpha val="16000"/>
              </a:srgbClr>
            </a:outerShdw>
          </a:effectLst>
        </p:spPr>
      </p:sp>
      <p:sp>
        <p:nvSpPr>
          <p:cNvPr id="18" name="Shape 14"/>
          <p:cNvSpPr/>
          <p:nvPr/>
        </p:nvSpPr>
        <p:spPr>
          <a:xfrm>
            <a:off x="548640" y="3520440"/>
            <a:ext cx="2649474" cy="457200"/>
          </a:xfrm>
          <a:prstGeom prst="roundRect">
            <a:avLst>
              <a:gd name="adj" fmla="val 24000"/>
            </a:avLst>
          </a:prstGeom>
          <a:solidFill>
            <a:schemeClr val="accent4"/>
          </a:solidFill>
          <a:ln w="12700">
            <a:solidFill>
              <a:srgbClr val="FFFFFF">
                <a:alpha val="0"/>
              </a:srgbClr>
            </a:solidFill>
            <a:prstDash val="solid"/>
          </a:ln>
        </p:spPr>
      </p:sp>
      <p:sp>
        <p:nvSpPr>
          <p:cNvPr id="19" name="Text 15"/>
          <p:cNvSpPr txBox="1"/>
          <p:nvPr/>
        </p:nvSpPr>
        <p:spPr>
          <a:xfrm>
            <a:off x="548640" y="3520440"/>
            <a:ext cx="2649474" cy="457200"/>
          </a:xfrm>
          <a:prstGeom prst="rect">
            <a:avLst/>
          </a:prstGeom>
          <a:noFill/>
          <a:ln/>
        </p:spPr>
        <p:txBody>
          <a:bodyPr wrap="square" lIns="0" tIns="0" rIns="0" bIns="0" rtlCol="0" anchor="ctr"/>
          <a:lstStyle/>
          <a:p>
            <a:pPr algn="ctr" indent="0" marL="0">
              <a:buNone/>
            </a:pPr>
            <a:r>
              <a:rPr lang="en-US" sz="1400" b="1" dirty="0">
                <a:solidFill>
                  <a:schemeClr val="bg1"/>
                </a:solidFill>
              </a:rPr>
              <a:t>net + perfectum</a:t>
            </a:r>
            <a:endParaRPr lang="en-US" sz="1400" dirty="0"/>
          </a:p>
        </p:txBody>
      </p:sp>
      <p:sp>
        <p:nvSpPr>
          <p:cNvPr id="20" name="Text 16"/>
          <p:cNvSpPr txBox="1"/>
          <p:nvPr/>
        </p:nvSpPr>
        <p:spPr>
          <a:xfrm>
            <a:off x="640080" y="4023360"/>
            <a:ext cx="2466594" cy="320040"/>
          </a:xfrm>
          <a:prstGeom prst="rect">
            <a:avLst/>
          </a:prstGeom>
          <a:noFill/>
          <a:ln/>
        </p:spPr>
        <p:txBody>
          <a:bodyPr wrap="square" lIns="0" tIns="0" rIns="0" bIns="0" rtlCol="0" anchor="ctr"/>
          <a:lstStyle/>
          <a:p>
            <a:pPr algn="ctr" indent="0" marL="0">
              <a:buNone/>
            </a:pPr>
            <a:r>
              <a:rPr lang="en-US" sz="1300" i="1" dirty="0">
                <a:solidFill>
                  <a:schemeClr val="accent5"/>
                </a:solidFill>
              </a:rPr>
              <a:t>« venir de »</a:t>
            </a:r>
            <a:endParaRPr lang="en-US" sz="1300" dirty="0"/>
          </a:p>
        </p:txBody>
      </p:sp>
      <p:sp>
        <p:nvSpPr>
          <p:cNvPr id="21" name="Text 17"/>
          <p:cNvSpPr txBox="1"/>
          <p:nvPr/>
        </p:nvSpPr>
        <p:spPr>
          <a:xfrm>
            <a:off x="685800" y="4389120"/>
            <a:ext cx="2375154" cy="96012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rgbClr val="B83227"/>
                </a:solidFill>
              </a:rPr>
              <a:t>heb</a:t>
            </a:r>
            <a:r>
              <a:rPr lang="en-US" sz="1600" i="1" dirty="0">
                <a:solidFill>
                  <a:schemeClr val="tx1"/>
                </a:solidFill>
              </a:rPr>
              <a:t> </a:t>
            </a:r>
            <a:r>
              <a:rPr lang="en-US" sz="1600" b="1" i="1" dirty="0">
                <a:solidFill>
                  <a:srgbClr val="D9700F"/>
                </a:solidFill>
              </a:rPr>
              <a:t>net</a:t>
            </a:r>
            <a:r>
              <a:rPr lang="en-US" sz="1600" i="1" dirty="0">
                <a:solidFill>
                  <a:schemeClr val="tx1"/>
                </a:solidFill>
              </a:rPr>
              <a:t> </a:t>
            </a:r>
            <a:r>
              <a:rPr lang="en-US" sz="1600" b="1" i="1" dirty="0">
                <a:solidFill>
                  <a:srgbClr val="B83227"/>
                </a:solidFill>
              </a:rPr>
              <a:t>gegeten</a:t>
            </a:r>
            <a:r>
              <a:rPr lang="en-US" sz="1600" i="1" dirty="0">
                <a:solidFill>
                  <a:schemeClr val="tx1"/>
                </a:solidFill>
              </a:rPr>
              <a:t>.</a:t>
            </a:r>
            <a:endParaRPr lang="en-US" sz="1800" dirty="0"/>
          </a:p>
        </p:txBody>
      </p:sp>
      <p:sp>
        <p:nvSpPr>
          <p:cNvPr id="22" name="Text 18"/>
          <p:cNvSpPr txBox="1"/>
          <p:nvPr/>
        </p:nvSpPr>
        <p:spPr>
          <a:xfrm>
            <a:off x="5550408" y="3172968"/>
            <a:ext cx="1243584" cy="256032"/>
          </a:xfrm>
          <a:prstGeom prst="rect">
            <a:avLst/>
          </a:prstGeom>
          <a:noFill/>
          <a:ln/>
        </p:spPr>
        <p:txBody>
          <a:bodyPr wrap="square" lIns="0" tIns="0" rIns="0" bIns="0" rtlCol="0" anchor="t"/>
          <a:lstStyle/>
          <a:p>
            <a:pPr algn="ctr" indent="0" marL="0">
              <a:buNone/>
            </a:pPr>
            <a:r>
              <a:rPr lang="en-US" sz="1150" b="1" i="1" dirty="0">
                <a:solidFill>
                  <a:schemeClr val="accent2"/>
                </a:solidFill>
              </a:rPr>
              <a:t>en ce moment</a:t>
            </a:r>
            <a:endParaRPr lang="en-US" sz="1150" dirty="0"/>
          </a:p>
        </p:txBody>
      </p:sp>
      <p:sp>
        <p:nvSpPr>
          <p:cNvPr id="23" name="Shape 19"/>
          <p:cNvSpPr/>
          <p:nvPr/>
        </p:nvSpPr>
        <p:spPr>
          <a:xfrm flipH="1">
            <a:off x="4687443" y="3447288"/>
            <a:ext cx="1484757" cy="54864"/>
          </a:xfrm>
          <a:prstGeom prst="line">
            <a:avLst/>
          </a:prstGeom>
          <a:noFill/>
          <a:ln w="15875">
            <a:solidFill>
              <a:srgbClr val="2A6FB0"/>
            </a:solidFill>
            <a:prstDash val="dash"/>
          </a:ln>
        </p:spPr>
      </p:sp>
      <p:sp>
        <p:nvSpPr>
          <p:cNvPr id="24" name="Shape 20"/>
          <p:cNvSpPr/>
          <p:nvPr/>
        </p:nvSpPr>
        <p:spPr>
          <a:xfrm>
            <a:off x="3362706" y="3520440"/>
            <a:ext cx="2649474" cy="1920240"/>
          </a:xfrm>
          <a:prstGeom prst="roundRect">
            <a:avLst>
              <a:gd name="adj" fmla="val 5714"/>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25" name="Shape 21"/>
          <p:cNvSpPr/>
          <p:nvPr/>
        </p:nvSpPr>
        <p:spPr>
          <a:xfrm>
            <a:off x="3362706" y="3520440"/>
            <a:ext cx="2649474" cy="457200"/>
          </a:xfrm>
          <a:prstGeom prst="roundRect">
            <a:avLst>
              <a:gd name="adj" fmla="val 24000"/>
            </a:avLst>
          </a:prstGeom>
          <a:solidFill>
            <a:schemeClr val="accent2"/>
          </a:solidFill>
          <a:ln w="12700">
            <a:solidFill>
              <a:srgbClr val="FFFFFF">
                <a:alpha val="0"/>
              </a:srgbClr>
            </a:solidFill>
            <a:prstDash val="solid"/>
          </a:ln>
        </p:spPr>
      </p:sp>
      <p:sp>
        <p:nvSpPr>
          <p:cNvPr id="26" name="Text 22"/>
          <p:cNvSpPr txBox="1"/>
          <p:nvPr/>
        </p:nvSpPr>
        <p:spPr>
          <a:xfrm>
            <a:off x="3362706" y="3520440"/>
            <a:ext cx="2649474" cy="457200"/>
          </a:xfrm>
          <a:prstGeom prst="rect">
            <a:avLst/>
          </a:prstGeom>
          <a:noFill/>
          <a:ln/>
        </p:spPr>
        <p:txBody>
          <a:bodyPr wrap="square" lIns="0" tIns="0" rIns="0" bIns="0" rtlCol="0" anchor="ctr"/>
          <a:lstStyle/>
          <a:p>
            <a:pPr algn="ctr" indent="0" marL="0">
              <a:buNone/>
            </a:pPr>
            <a:r>
              <a:rPr lang="en-US" sz="1400" b="1" dirty="0">
                <a:solidFill>
                  <a:schemeClr val="bg1"/>
                </a:solidFill>
              </a:rPr>
              <a:t>zijn aan het + inf.</a:t>
            </a:r>
            <a:endParaRPr lang="en-US" sz="1400" dirty="0"/>
          </a:p>
        </p:txBody>
      </p:sp>
      <p:sp>
        <p:nvSpPr>
          <p:cNvPr id="27" name="Text 23"/>
          <p:cNvSpPr txBox="1"/>
          <p:nvPr/>
        </p:nvSpPr>
        <p:spPr>
          <a:xfrm>
            <a:off x="3454146" y="4023360"/>
            <a:ext cx="2466594" cy="320040"/>
          </a:xfrm>
          <a:prstGeom prst="rect">
            <a:avLst/>
          </a:prstGeom>
          <a:noFill/>
          <a:ln/>
        </p:spPr>
        <p:txBody>
          <a:bodyPr wrap="square" lIns="0" tIns="0" rIns="0" bIns="0" rtlCol="0" anchor="ctr"/>
          <a:lstStyle/>
          <a:p>
            <a:pPr algn="ctr" indent="0" marL="0">
              <a:buNone/>
            </a:pPr>
            <a:r>
              <a:rPr lang="en-US" sz="1300" i="1" dirty="0">
                <a:solidFill>
                  <a:schemeClr val="accent5"/>
                </a:solidFill>
              </a:rPr>
              <a:t>« être en train de »</a:t>
            </a:r>
            <a:endParaRPr lang="en-US" sz="1300" dirty="0"/>
          </a:p>
        </p:txBody>
      </p:sp>
      <p:sp>
        <p:nvSpPr>
          <p:cNvPr id="28" name="Text 24"/>
          <p:cNvSpPr txBox="1"/>
          <p:nvPr/>
        </p:nvSpPr>
        <p:spPr>
          <a:xfrm>
            <a:off x="3499866" y="4389120"/>
            <a:ext cx="2375154" cy="96012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rgbClr val="B83227"/>
                </a:solidFill>
              </a:rPr>
              <a:t>ben</a:t>
            </a:r>
            <a:r>
              <a:rPr lang="en-US" sz="1600" i="1" dirty="0">
                <a:solidFill>
                  <a:schemeClr val="tx1"/>
                </a:solidFill>
              </a:rPr>
              <a:t> </a:t>
            </a:r>
            <a:r>
              <a:rPr lang="en-US" sz="1600" b="1" i="1" dirty="0">
                <a:solidFill>
                  <a:srgbClr val="D9700F"/>
                </a:solidFill>
              </a:rPr>
              <a:t>aan het</a:t>
            </a:r>
            <a:r>
              <a:rPr lang="en-US" sz="1600" i="1" dirty="0">
                <a:solidFill>
                  <a:schemeClr val="tx1"/>
                </a:solidFill>
              </a:rPr>
              <a:t> </a:t>
            </a:r>
            <a:r>
              <a:rPr lang="en-US" sz="1600" b="1" i="1" dirty="0">
                <a:solidFill>
                  <a:srgbClr val="B83227"/>
                </a:solidFill>
              </a:rPr>
              <a:t>koken</a:t>
            </a:r>
            <a:r>
              <a:rPr lang="en-US" sz="1600" i="1" dirty="0">
                <a:solidFill>
                  <a:schemeClr val="tx1"/>
                </a:solidFill>
              </a:rPr>
              <a:t>. · Ik </a:t>
            </a:r>
            <a:r>
              <a:rPr lang="en-US" sz="1600" b="1" i="1" dirty="0">
                <a:solidFill>
                  <a:srgbClr val="B83227"/>
                </a:solidFill>
              </a:rPr>
              <a:t>zit</a:t>
            </a:r>
            <a:r>
              <a:rPr lang="en-US" sz="1600" i="1" dirty="0">
                <a:solidFill>
                  <a:schemeClr val="tx1"/>
                </a:solidFill>
              </a:rPr>
              <a:t> te </a:t>
            </a:r>
            <a:r>
              <a:rPr lang="en-US" sz="1600" b="1" i="1" dirty="0">
                <a:solidFill>
                  <a:srgbClr val="B83227"/>
                </a:solidFill>
              </a:rPr>
              <a:t>lezen</a:t>
            </a:r>
            <a:r>
              <a:rPr lang="en-US" sz="1600" i="1" dirty="0">
                <a:solidFill>
                  <a:schemeClr val="tx1"/>
                </a:solidFill>
              </a:rPr>
              <a:t>.</a:t>
            </a:r>
            <a:endParaRPr lang="en-US" sz="1800" dirty="0"/>
          </a:p>
        </p:txBody>
      </p:sp>
      <p:sp>
        <p:nvSpPr>
          <p:cNvPr id="29" name="Shape 25"/>
          <p:cNvSpPr/>
          <p:nvPr/>
        </p:nvSpPr>
        <p:spPr>
          <a:xfrm>
            <a:off x="7287768" y="2670048"/>
            <a:ext cx="237744" cy="237744"/>
          </a:xfrm>
          <a:prstGeom prst="ellipse">
            <a:avLst/>
          </a:prstGeom>
          <a:solidFill>
            <a:schemeClr val="accent3"/>
          </a:solidFill>
          <a:ln w="12700">
            <a:solidFill>
              <a:srgbClr val="FFFFFF"/>
            </a:solidFill>
            <a:prstDash val="solid"/>
          </a:ln>
        </p:spPr>
      </p:sp>
      <p:sp>
        <p:nvSpPr>
          <p:cNvPr id="30" name="Text 26"/>
          <p:cNvSpPr txBox="1"/>
          <p:nvPr/>
        </p:nvSpPr>
        <p:spPr>
          <a:xfrm>
            <a:off x="6784848" y="3172968"/>
            <a:ext cx="1243584" cy="256032"/>
          </a:xfrm>
          <a:prstGeom prst="rect">
            <a:avLst/>
          </a:prstGeom>
          <a:noFill/>
          <a:ln/>
        </p:spPr>
        <p:txBody>
          <a:bodyPr wrap="square" lIns="0" tIns="0" rIns="0" bIns="0" rtlCol="0" anchor="t"/>
          <a:lstStyle/>
          <a:p>
            <a:pPr algn="ctr" indent="0" marL="0">
              <a:buNone/>
            </a:pPr>
            <a:r>
              <a:rPr lang="en-US" sz="1150" b="1" i="1" dirty="0">
                <a:solidFill>
                  <a:schemeClr val="accent3"/>
                </a:solidFill>
              </a:rPr>
              <a:t>juste après</a:t>
            </a:r>
            <a:endParaRPr lang="en-US" sz="1150" dirty="0"/>
          </a:p>
        </p:txBody>
      </p:sp>
      <p:sp>
        <p:nvSpPr>
          <p:cNvPr id="31" name="Shape 27"/>
          <p:cNvSpPr/>
          <p:nvPr/>
        </p:nvSpPr>
        <p:spPr>
          <a:xfrm>
            <a:off x="7406640" y="3447288"/>
            <a:ext cx="94869" cy="54864"/>
          </a:xfrm>
          <a:prstGeom prst="line">
            <a:avLst/>
          </a:prstGeom>
          <a:noFill/>
          <a:ln w="15875">
            <a:solidFill>
              <a:srgbClr val="2E7D4F"/>
            </a:solidFill>
            <a:prstDash val="dash"/>
          </a:ln>
        </p:spPr>
      </p:sp>
      <p:sp>
        <p:nvSpPr>
          <p:cNvPr id="32" name="Shape 28"/>
          <p:cNvSpPr/>
          <p:nvPr/>
        </p:nvSpPr>
        <p:spPr>
          <a:xfrm>
            <a:off x="6176772" y="3520440"/>
            <a:ext cx="2649474" cy="1920240"/>
          </a:xfrm>
          <a:prstGeom prst="roundRect">
            <a:avLst>
              <a:gd name="adj" fmla="val 5714"/>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sp>
        <p:nvSpPr>
          <p:cNvPr id="33" name="Shape 29"/>
          <p:cNvSpPr/>
          <p:nvPr/>
        </p:nvSpPr>
        <p:spPr>
          <a:xfrm>
            <a:off x="6176772" y="3520440"/>
            <a:ext cx="2649474" cy="457200"/>
          </a:xfrm>
          <a:prstGeom prst="roundRect">
            <a:avLst>
              <a:gd name="adj" fmla="val 24000"/>
            </a:avLst>
          </a:prstGeom>
          <a:solidFill>
            <a:schemeClr val="accent3"/>
          </a:solidFill>
          <a:ln w="12700">
            <a:solidFill>
              <a:srgbClr val="FFFFFF">
                <a:alpha val="0"/>
              </a:srgbClr>
            </a:solidFill>
            <a:prstDash val="solid"/>
          </a:ln>
        </p:spPr>
      </p:sp>
      <p:sp>
        <p:nvSpPr>
          <p:cNvPr id="34" name="Text 30"/>
          <p:cNvSpPr txBox="1"/>
          <p:nvPr/>
        </p:nvSpPr>
        <p:spPr>
          <a:xfrm>
            <a:off x="6176772" y="3520440"/>
            <a:ext cx="2649474" cy="457200"/>
          </a:xfrm>
          <a:prstGeom prst="rect">
            <a:avLst/>
          </a:prstGeom>
          <a:noFill/>
          <a:ln/>
        </p:spPr>
        <p:txBody>
          <a:bodyPr wrap="square" lIns="0" tIns="0" rIns="0" bIns="0" rtlCol="0" anchor="ctr"/>
          <a:lstStyle/>
          <a:p>
            <a:pPr algn="ctr" indent="0" marL="0">
              <a:buNone/>
            </a:pPr>
            <a:r>
              <a:rPr lang="en-US" sz="1400" b="1" dirty="0">
                <a:solidFill>
                  <a:schemeClr val="bg1"/>
                </a:solidFill>
              </a:rPr>
              <a:t>op het punt staan te</a:t>
            </a:r>
            <a:endParaRPr lang="en-US" sz="1400" dirty="0"/>
          </a:p>
        </p:txBody>
      </p:sp>
      <p:sp>
        <p:nvSpPr>
          <p:cNvPr id="35" name="Text 31"/>
          <p:cNvSpPr txBox="1"/>
          <p:nvPr/>
        </p:nvSpPr>
        <p:spPr>
          <a:xfrm>
            <a:off x="6268212" y="4023360"/>
            <a:ext cx="2466594" cy="320040"/>
          </a:xfrm>
          <a:prstGeom prst="rect">
            <a:avLst/>
          </a:prstGeom>
          <a:noFill/>
          <a:ln/>
        </p:spPr>
        <p:txBody>
          <a:bodyPr wrap="square" lIns="0" tIns="0" rIns="0" bIns="0" rtlCol="0" anchor="ctr"/>
          <a:lstStyle/>
          <a:p>
            <a:pPr algn="ctr" indent="0" marL="0">
              <a:buNone/>
            </a:pPr>
            <a:r>
              <a:rPr lang="en-US" sz="1300" i="1" dirty="0">
                <a:solidFill>
                  <a:schemeClr val="accent5"/>
                </a:solidFill>
              </a:rPr>
              <a:t>« être sur le point de »</a:t>
            </a:r>
            <a:endParaRPr lang="en-US" sz="1300" dirty="0"/>
          </a:p>
        </p:txBody>
      </p:sp>
      <p:sp>
        <p:nvSpPr>
          <p:cNvPr id="36" name="Text 32"/>
          <p:cNvSpPr txBox="1"/>
          <p:nvPr/>
        </p:nvSpPr>
        <p:spPr>
          <a:xfrm>
            <a:off x="6313932" y="4389120"/>
            <a:ext cx="2375154" cy="96012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rgbClr val="B83227"/>
                </a:solidFill>
              </a:rPr>
              <a:t>sta</a:t>
            </a:r>
            <a:r>
              <a:rPr lang="en-US" sz="1600" i="1" dirty="0">
                <a:solidFill>
                  <a:schemeClr val="tx1"/>
                </a:solidFill>
              </a:rPr>
              <a:t> </a:t>
            </a:r>
            <a:r>
              <a:rPr lang="en-US" sz="1600" b="1" i="1" dirty="0">
                <a:solidFill>
                  <a:srgbClr val="D9700F"/>
                </a:solidFill>
              </a:rPr>
              <a:t>op het punt</a:t>
            </a:r>
            <a:r>
              <a:rPr lang="en-US" sz="1600" i="1" dirty="0">
                <a:solidFill>
                  <a:schemeClr val="tx1"/>
                </a:solidFill>
              </a:rPr>
              <a:t> te </a:t>
            </a:r>
            <a:r>
              <a:rPr lang="en-US" sz="1600" b="1" i="1" dirty="0">
                <a:solidFill>
                  <a:srgbClr val="B83227"/>
                </a:solidFill>
              </a:rPr>
              <a:t>vertrekken</a:t>
            </a:r>
            <a:r>
              <a:rPr lang="en-US" sz="1600" i="1" dirty="0">
                <a:solidFill>
                  <a:schemeClr val="tx1"/>
                </a:solidFill>
              </a:rPr>
              <a:t>.</a:t>
            </a:r>
            <a:endParaRPr lang="en-US" sz="1800" dirty="0"/>
          </a:p>
        </p:txBody>
      </p:sp>
      <p:sp>
        <p:nvSpPr>
          <p:cNvPr id="37" name="Shape 33"/>
          <p:cNvSpPr/>
          <p:nvPr/>
        </p:nvSpPr>
        <p:spPr>
          <a:xfrm>
            <a:off x="9025128" y="2670048"/>
            <a:ext cx="237744" cy="237744"/>
          </a:xfrm>
          <a:prstGeom prst="ellipse">
            <a:avLst/>
          </a:prstGeom>
          <a:solidFill>
            <a:schemeClr val="accent3"/>
          </a:solidFill>
          <a:ln w="12700">
            <a:solidFill>
              <a:srgbClr val="FFFFFF"/>
            </a:solidFill>
            <a:prstDash val="solid"/>
          </a:ln>
        </p:spPr>
      </p:sp>
      <p:sp>
        <p:nvSpPr>
          <p:cNvPr id="38" name="Text 34"/>
          <p:cNvSpPr txBox="1"/>
          <p:nvPr/>
        </p:nvSpPr>
        <p:spPr>
          <a:xfrm>
            <a:off x="8522208" y="3172968"/>
            <a:ext cx="1243584" cy="256032"/>
          </a:xfrm>
          <a:prstGeom prst="rect">
            <a:avLst/>
          </a:prstGeom>
          <a:noFill/>
          <a:ln/>
        </p:spPr>
        <p:txBody>
          <a:bodyPr wrap="square" lIns="0" tIns="0" rIns="0" bIns="0" rtlCol="0" anchor="t"/>
          <a:lstStyle/>
          <a:p>
            <a:pPr algn="ctr" indent="0" marL="0">
              <a:buNone/>
            </a:pPr>
            <a:r>
              <a:rPr lang="en-US" sz="1150" b="1" i="1" dirty="0">
                <a:solidFill>
                  <a:schemeClr val="accent3"/>
                </a:solidFill>
              </a:rPr>
              <a:t>bientôt</a:t>
            </a:r>
            <a:endParaRPr lang="en-US" sz="1150" dirty="0"/>
          </a:p>
        </p:txBody>
      </p:sp>
      <p:sp>
        <p:nvSpPr>
          <p:cNvPr id="39" name="Shape 35"/>
          <p:cNvSpPr/>
          <p:nvPr/>
        </p:nvSpPr>
        <p:spPr>
          <a:xfrm>
            <a:off x="9144000" y="3447288"/>
            <a:ext cx="1171575" cy="54864"/>
          </a:xfrm>
          <a:prstGeom prst="line">
            <a:avLst/>
          </a:prstGeom>
          <a:noFill/>
          <a:ln w="15875">
            <a:solidFill>
              <a:srgbClr val="2E7D4F"/>
            </a:solidFill>
            <a:prstDash val="dash"/>
          </a:ln>
        </p:spPr>
      </p:sp>
      <p:sp>
        <p:nvSpPr>
          <p:cNvPr id="40" name="Shape 36"/>
          <p:cNvSpPr/>
          <p:nvPr/>
        </p:nvSpPr>
        <p:spPr>
          <a:xfrm>
            <a:off x="8990838" y="3520440"/>
            <a:ext cx="2649474" cy="1920240"/>
          </a:xfrm>
          <a:prstGeom prst="roundRect">
            <a:avLst>
              <a:gd name="adj" fmla="val 5714"/>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sp>
        <p:nvSpPr>
          <p:cNvPr id="41" name="Shape 37"/>
          <p:cNvSpPr/>
          <p:nvPr/>
        </p:nvSpPr>
        <p:spPr>
          <a:xfrm>
            <a:off x="8990838" y="3520440"/>
            <a:ext cx="2649474" cy="457200"/>
          </a:xfrm>
          <a:prstGeom prst="roundRect">
            <a:avLst>
              <a:gd name="adj" fmla="val 24000"/>
            </a:avLst>
          </a:prstGeom>
          <a:solidFill>
            <a:schemeClr val="accent3"/>
          </a:solidFill>
          <a:ln w="12700">
            <a:solidFill>
              <a:srgbClr val="FFFFFF">
                <a:alpha val="0"/>
              </a:srgbClr>
            </a:solidFill>
            <a:prstDash val="solid"/>
          </a:ln>
        </p:spPr>
      </p:sp>
      <p:sp>
        <p:nvSpPr>
          <p:cNvPr id="42" name="Text 38"/>
          <p:cNvSpPr txBox="1"/>
          <p:nvPr/>
        </p:nvSpPr>
        <p:spPr>
          <a:xfrm>
            <a:off x="8990838" y="3520440"/>
            <a:ext cx="2649474" cy="457200"/>
          </a:xfrm>
          <a:prstGeom prst="rect">
            <a:avLst/>
          </a:prstGeom>
          <a:noFill/>
          <a:ln/>
        </p:spPr>
        <p:txBody>
          <a:bodyPr wrap="square" lIns="0" tIns="0" rIns="0" bIns="0" rtlCol="0" anchor="ctr"/>
          <a:lstStyle/>
          <a:p>
            <a:pPr algn="ctr" indent="0" marL="0">
              <a:buNone/>
            </a:pPr>
            <a:r>
              <a:rPr lang="en-US" sz="1400" b="1" dirty="0">
                <a:solidFill>
                  <a:schemeClr val="bg1"/>
                </a:solidFill>
              </a:rPr>
              <a:t>gaan + infinitif</a:t>
            </a:r>
            <a:endParaRPr lang="en-US" sz="1400" dirty="0"/>
          </a:p>
        </p:txBody>
      </p:sp>
      <p:sp>
        <p:nvSpPr>
          <p:cNvPr id="43" name="Text 39"/>
          <p:cNvSpPr txBox="1"/>
          <p:nvPr/>
        </p:nvSpPr>
        <p:spPr>
          <a:xfrm>
            <a:off x="9082278" y="4023360"/>
            <a:ext cx="2466594" cy="320040"/>
          </a:xfrm>
          <a:prstGeom prst="rect">
            <a:avLst/>
          </a:prstGeom>
          <a:noFill/>
          <a:ln/>
        </p:spPr>
        <p:txBody>
          <a:bodyPr wrap="square" lIns="0" tIns="0" rIns="0" bIns="0" rtlCol="0" anchor="ctr"/>
          <a:lstStyle/>
          <a:p>
            <a:pPr algn="ctr" indent="0" marL="0">
              <a:buNone/>
            </a:pPr>
            <a:r>
              <a:rPr lang="en-US" sz="1300" i="1" dirty="0">
                <a:solidFill>
                  <a:schemeClr val="accent5"/>
                </a:solidFill>
              </a:rPr>
              <a:t>« aller + infinitif »</a:t>
            </a:r>
            <a:endParaRPr lang="en-US" sz="1300" dirty="0"/>
          </a:p>
        </p:txBody>
      </p:sp>
      <p:sp>
        <p:nvSpPr>
          <p:cNvPr id="44" name="Text 40"/>
          <p:cNvSpPr txBox="1"/>
          <p:nvPr/>
        </p:nvSpPr>
        <p:spPr>
          <a:xfrm>
            <a:off x="9127998" y="4389120"/>
            <a:ext cx="2375154" cy="960120"/>
          </a:xfrm>
          <a:prstGeom prst="rect">
            <a:avLst/>
          </a:prstGeom>
          <a:noFill/>
          <a:ln/>
        </p:spPr>
        <p:txBody>
          <a:bodyPr wrap="square" lIns="0" tIns="0" rIns="0" bIns="0" rtlCol="0" anchor="ctr"/>
          <a:lstStyle/>
          <a:p>
            <a:pPr algn="ctr" indent="0" marL="0">
              <a:buNone/>
            </a:pPr>
            <a:r>
              <a:rPr lang="en-US" sz="1600" i="1" dirty="0">
                <a:solidFill>
                  <a:schemeClr val="tx1"/>
                </a:solidFill>
              </a:rPr>
              <a:t>Ik </a:t>
            </a:r>
            <a:r>
              <a:rPr lang="en-US" sz="1600" b="1" i="1" dirty="0">
                <a:solidFill>
                  <a:srgbClr val="B83227"/>
                </a:solidFill>
              </a:rPr>
              <a:t>ga</a:t>
            </a:r>
            <a:r>
              <a:rPr lang="en-US" sz="1600" i="1" dirty="0">
                <a:solidFill>
                  <a:schemeClr val="tx1"/>
                </a:solidFill>
              </a:rPr>
              <a:t> </a:t>
            </a:r>
            <a:r>
              <a:rPr lang="en-US" sz="1600" b="1" i="1" dirty="0">
                <a:solidFill>
                  <a:srgbClr val="D9700F"/>
                </a:solidFill>
              </a:rPr>
              <a:t>zo meteen</a:t>
            </a:r>
            <a:r>
              <a:rPr lang="en-US" sz="1600" i="1" dirty="0">
                <a:solidFill>
                  <a:schemeClr val="tx1"/>
                </a:solidFill>
              </a:rPr>
              <a:t> </a:t>
            </a:r>
            <a:r>
              <a:rPr lang="en-US" sz="1600" b="1" i="1" dirty="0">
                <a:solidFill>
                  <a:srgbClr val="B83227"/>
                </a:solidFill>
              </a:rPr>
              <a:t>eten</a:t>
            </a:r>
            <a:r>
              <a:rPr lang="en-US" sz="1600" i="1" dirty="0">
                <a:solidFill>
                  <a:schemeClr val="tx1"/>
                </a:solidFill>
              </a:rPr>
              <a:t>.</a:t>
            </a:r>
            <a:endParaRPr lang="en-US" sz="1800" dirty="0"/>
          </a:p>
        </p:txBody>
      </p:sp>
      <p:sp>
        <p:nvSpPr>
          <p:cNvPr id="45" name="Shape 41"/>
          <p:cNvSpPr/>
          <p:nvPr/>
        </p:nvSpPr>
        <p:spPr>
          <a:xfrm>
            <a:off x="548640" y="5623560"/>
            <a:ext cx="11091672" cy="566928"/>
          </a:xfrm>
          <a:prstGeom prst="roundRect">
            <a:avLst>
              <a:gd name="adj" fmla="val 12903"/>
            </a:avLst>
          </a:prstGeom>
          <a:solidFill>
            <a:schemeClr val="accent6"/>
          </a:solidFill>
          <a:ln w="12700">
            <a:solidFill>
              <a:srgbClr val="FFFFFF">
                <a:alpha val="0"/>
              </a:srgbClr>
            </a:solidFill>
            <a:prstDash val="solid"/>
          </a:ln>
        </p:spPr>
      </p:sp>
      <p:sp>
        <p:nvSpPr>
          <p:cNvPr id="46" name="Text 42"/>
          <p:cNvSpPr txBox="1"/>
          <p:nvPr/>
        </p:nvSpPr>
        <p:spPr>
          <a:xfrm>
            <a:off x="822960" y="5623560"/>
            <a:ext cx="10607040" cy="566928"/>
          </a:xfrm>
          <a:prstGeom prst="rect">
            <a:avLst/>
          </a:prstGeom>
          <a:noFill/>
          <a:ln/>
        </p:spPr>
        <p:txBody>
          <a:bodyPr wrap="square" lIns="0" tIns="0" rIns="0" bIns="0" rtlCol="0" anchor="ctr"/>
          <a:lstStyle/>
          <a:p>
            <a:pPr algn="l" indent="0" marL="0">
              <a:buNone/>
            </a:pPr>
            <a:r>
              <a:rPr lang="en-US" sz="1600" dirty="0">
                <a:solidFill>
                  <a:schemeClr val="bg1"/>
                </a:solidFill>
              </a:rPr>
              <a:t>⚠ « Je viens de manger » : ✗ </a:t>
            </a:r>
            <a:r>
              <a:rPr lang="en-US" sz="1600" i="1" dirty="0">
                <a:solidFill>
                  <a:schemeClr val="bg1"/>
                </a:solidFill>
              </a:rPr>
              <a:t>ik kom van te eten</a:t>
            </a:r>
            <a:r>
              <a:rPr lang="en-US" sz="1600" dirty="0">
                <a:solidFill>
                  <a:schemeClr val="bg1"/>
                </a:solidFill>
              </a:rPr>
              <a:t> (gallicisme)  ✓ </a:t>
            </a:r>
            <a:r>
              <a:rPr lang="en-US" sz="1600" i="1" dirty="0">
                <a:solidFill>
                  <a:schemeClr val="bg1"/>
                </a:solidFill>
              </a:rPr>
              <a:t>Ik </a:t>
            </a:r>
            <a:r>
              <a:rPr lang="en-US" sz="1600" b="1" i="1" dirty="0">
                <a:solidFill>
                  <a:schemeClr val="bg1"/>
                </a:solidFill>
              </a:rPr>
              <a:t>heb net gegeten</a:t>
            </a:r>
            <a:r>
              <a:rPr lang="en-US" sz="1600" i="1"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Perfectum ou imperfectum ? La photo ou le film</a:t>
            </a:r>
            <a:endParaRPr lang="en-US" sz="3000" dirty="0"/>
          </a:p>
        </p:txBody>
      </p:sp>
      <p:sp>
        <p:nvSpPr>
          <p:cNvPr id="3" name="tag"/>
          <p:cNvSpPr/>
          <p:nvPr/>
        </p:nvSpPr>
        <p:spPr>
          <a:xfrm>
            <a:off x="548640" y="237744"/>
            <a:ext cx="1338682"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LE PASSÉ</a:t>
            </a:r>
            <a:endParaRPr lang="en-US" sz="1200" dirty="0"/>
          </a:p>
        </p:txBody>
      </p:sp>
      <p:sp>
        <p:nvSpPr>
          <p:cNvPr id="5" name="Shape 2"/>
          <p:cNvSpPr/>
          <p:nvPr/>
        </p:nvSpPr>
        <p:spPr>
          <a:xfrm>
            <a:off x="548640" y="1463040"/>
            <a:ext cx="5431536" cy="3840480"/>
          </a:xfrm>
          <a:prstGeom prst="roundRect">
            <a:avLst>
              <a:gd name="adj" fmla="val 285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5431536" cy="960120"/>
          </a:xfrm>
          <a:prstGeom prst="roundRect">
            <a:avLst>
              <a:gd name="adj" fmla="val 11429"/>
            </a:avLst>
          </a:prstGeom>
          <a:solidFill>
            <a:srgbClr val="FBEAF2"/>
          </a:solidFill>
          <a:ln w="12700">
            <a:solidFill>
              <a:srgbClr val="FFFFFF">
                <a:alpha val="0"/>
              </a:srgbClr>
            </a:solidFill>
            <a:prstDash val="solid"/>
          </a:ln>
        </p:spPr>
      </p:sp>
      <p:pic>
        <p:nvPicPr>
          <p:cNvPr id="7" name="Image 0" descr="camera with flash">    </p:cNvPr>
          <p:cNvPicPr>
            <a:picLocks noChangeAspect="1"/>
          </p:cNvPicPr>
          <p:nvPr/>
        </p:nvPicPr>
        <p:blipFill>
          <a:blip r:embed="rId1"/>
          <a:stretch>
            <a:fillRect/>
          </a:stretch>
        </p:blipFill>
        <p:spPr>
          <a:xfrm>
            <a:off x="731520" y="1536192"/>
            <a:ext cx="822960" cy="822960"/>
          </a:xfrm>
          <a:prstGeom prst="rect">
            <a:avLst/>
          </a:prstGeom>
        </p:spPr>
      </p:pic>
      <p:sp>
        <p:nvSpPr>
          <p:cNvPr id="8" name="Text 4"/>
          <p:cNvSpPr txBox="1"/>
          <p:nvPr/>
        </p:nvSpPr>
        <p:spPr>
          <a:xfrm>
            <a:off x="1691640" y="1508760"/>
            <a:ext cx="2103120" cy="868680"/>
          </a:xfrm>
          <a:prstGeom prst="rect">
            <a:avLst/>
          </a:prstGeom>
          <a:noFill/>
          <a:ln/>
        </p:spPr>
        <p:txBody>
          <a:bodyPr wrap="square" lIns="0" tIns="0" rIns="0" bIns="0" rtlCol="0" anchor="ctr"/>
          <a:lstStyle/>
          <a:p>
            <a:pPr algn="l" indent="0" marL="0">
              <a:buNone/>
            </a:pPr>
            <a:r>
              <a:rPr lang="en-US" sz="1800" b="1" dirty="0">
                <a:solidFill>
                  <a:schemeClr val="accent4"/>
                </a:solidFill>
              </a:rPr>
              <a:t>PERFECTUM</a:t>
            </a:r>
            <a:endParaRPr lang="en-US" sz="1800" dirty="0"/>
          </a:p>
          <a:p>
            <a:pPr algn="l" indent="0" marL="0">
              <a:buNone/>
            </a:pPr>
            <a:r>
              <a:rPr lang="en-US" sz="1800" i="1" dirty="0">
                <a:solidFill>
                  <a:schemeClr val="accent4"/>
                </a:solidFill>
              </a:rPr>
              <a:t>la photo</a:t>
            </a:r>
            <a:endParaRPr lang="en-US" sz="1800" dirty="0"/>
          </a:p>
        </p:txBody>
      </p:sp>
      <p:sp>
        <p:nvSpPr>
          <p:cNvPr id="9" name="Shape 5"/>
          <p:cNvSpPr/>
          <p:nvPr/>
        </p:nvSpPr>
        <p:spPr>
          <a:xfrm>
            <a:off x="3739896" y="1920240"/>
            <a:ext cx="2057400" cy="914"/>
          </a:xfrm>
          <a:prstGeom prst="line">
            <a:avLst/>
          </a:prstGeom>
          <a:noFill/>
          <a:ln w="19050">
            <a:solidFill>
              <a:srgbClr val="8A96A8"/>
            </a:solidFill>
            <a:prstDash val="solid"/>
            <a:tailEnd type="triangle"/>
          </a:ln>
        </p:spPr>
      </p:sp>
      <p:sp>
        <p:nvSpPr>
          <p:cNvPr id="10" name="Shape 6"/>
          <p:cNvSpPr/>
          <p:nvPr/>
        </p:nvSpPr>
        <p:spPr>
          <a:xfrm>
            <a:off x="4910328" y="1755648"/>
            <a:ext cx="45720" cy="329184"/>
          </a:xfrm>
          <a:prstGeom prst="rect">
            <a:avLst/>
          </a:prstGeom>
          <a:solidFill>
            <a:schemeClr val="accent6"/>
          </a:solidFill>
          <a:ln w="12700">
            <a:solidFill>
              <a:srgbClr val="FFFFFF">
                <a:alpha val="0"/>
              </a:srgbClr>
            </a:solidFill>
            <a:prstDash val="solid"/>
          </a:ln>
        </p:spPr>
      </p:sp>
      <p:sp>
        <p:nvSpPr>
          <p:cNvPr id="11" name="Shape 7"/>
          <p:cNvSpPr/>
          <p:nvPr/>
        </p:nvSpPr>
        <p:spPr>
          <a:xfrm>
            <a:off x="4233672" y="1837944"/>
            <a:ext cx="164592" cy="164592"/>
          </a:xfrm>
          <a:prstGeom prst="ellipse">
            <a:avLst/>
          </a:prstGeom>
          <a:solidFill>
            <a:schemeClr val="accent4"/>
          </a:solidFill>
          <a:ln w="12700">
            <a:solidFill>
              <a:srgbClr val="FFFFFF">
                <a:alpha val="0"/>
              </a:srgbClr>
            </a:solidFill>
            <a:prstDash val="solid"/>
          </a:ln>
        </p:spPr>
      </p:sp>
      <p:sp>
        <p:nvSpPr>
          <p:cNvPr id="12" name="Text 8"/>
          <p:cNvSpPr txBox="1"/>
          <p:nvPr/>
        </p:nvSpPr>
        <p:spPr>
          <a:xfrm>
            <a:off x="777240" y="2514600"/>
            <a:ext cx="4974336" cy="411480"/>
          </a:xfrm>
          <a:prstGeom prst="rect">
            <a:avLst/>
          </a:prstGeom>
          <a:noFill/>
          <a:ln/>
        </p:spPr>
        <p:txBody>
          <a:bodyPr wrap="square" lIns="0" tIns="0" rIns="0" bIns="0" rtlCol="0" anchor="ctr"/>
          <a:lstStyle/>
          <a:p>
            <a:pPr algn="l" indent="0" marL="0">
              <a:buNone/>
            </a:pPr>
            <a:r>
              <a:rPr lang="en-US" sz="1500" b="1" dirty="0">
                <a:solidFill>
                  <a:schemeClr val="tx2"/>
                </a:solidFill>
              </a:rPr>
              <a:t>le fait · le résultat · le bilan</a:t>
            </a:r>
            <a:endParaRPr lang="en-US" sz="1500" dirty="0"/>
          </a:p>
        </p:txBody>
      </p:sp>
      <p:sp>
        <p:nvSpPr>
          <p:cNvPr id="13" name="Text 9"/>
          <p:cNvSpPr txBox="1"/>
          <p:nvPr/>
        </p:nvSpPr>
        <p:spPr>
          <a:xfrm>
            <a:off x="822960" y="3017520"/>
            <a:ext cx="4974336" cy="640080"/>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heb</a:t>
            </a:r>
            <a:r>
              <a:rPr lang="en-US" sz="1700" i="1" dirty="0">
                <a:solidFill>
                  <a:schemeClr val="tx1"/>
                </a:solidFill>
              </a:rPr>
              <a:t> de trein </a:t>
            </a:r>
            <a:r>
              <a:rPr lang="en-US" sz="1700" b="1" i="1" dirty="0">
                <a:solidFill>
                  <a:srgbClr val="B83227"/>
                </a:solidFill>
              </a:rPr>
              <a:t>gemist</a:t>
            </a:r>
            <a:r>
              <a:rPr lang="en-US" sz="1700" i="1" dirty="0">
                <a:solidFill>
                  <a:schemeClr val="tx1"/>
                </a:solidFill>
              </a:rPr>
              <a:t>!</a:t>
            </a:r>
            <a:endParaRPr lang="en-US" sz="1800" dirty="0"/>
          </a:p>
        </p:txBody>
      </p:sp>
      <p:sp>
        <p:nvSpPr>
          <p:cNvPr id="14" name="Text 10"/>
          <p:cNvSpPr txBox="1"/>
          <p:nvPr/>
        </p:nvSpPr>
        <p:spPr>
          <a:xfrm>
            <a:off x="822960" y="3749040"/>
            <a:ext cx="4974336" cy="640080"/>
          </a:xfrm>
          <a:prstGeom prst="rect">
            <a:avLst/>
          </a:prstGeom>
          <a:noFill/>
          <a:ln/>
        </p:spPr>
        <p:txBody>
          <a:bodyPr wrap="square" lIns="0" tIns="0" rIns="0" bIns="0" rtlCol="0" anchor="ctr"/>
          <a:lstStyle/>
          <a:p>
            <a:pPr algn="l" indent="0" marL="0">
              <a:buNone/>
            </a:pPr>
            <a:r>
              <a:rPr lang="en-US" sz="1700" i="1" dirty="0">
                <a:solidFill>
                  <a:schemeClr val="tx1"/>
                </a:solidFill>
              </a:rPr>
              <a:t>Wat </a:t>
            </a:r>
            <a:r>
              <a:rPr lang="en-US" sz="1700" b="1" i="1" dirty="0">
                <a:solidFill>
                  <a:srgbClr val="B83227"/>
                </a:solidFill>
              </a:rPr>
              <a:t>heb</a:t>
            </a:r>
            <a:r>
              <a:rPr lang="en-US" sz="1700" i="1" dirty="0">
                <a:solidFill>
                  <a:schemeClr val="tx1"/>
                </a:solidFill>
              </a:rPr>
              <a:t> je </a:t>
            </a:r>
            <a:r>
              <a:rPr lang="en-US" sz="1700" b="1" i="1" dirty="0">
                <a:solidFill>
                  <a:srgbClr val="D9700F"/>
                </a:solidFill>
              </a:rPr>
              <a:t>gisteren</a:t>
            </a:r>
            <a:r>
              <a:rPr lang="en-US" sz="1700" i="1" dirty="0">
                <a:solidFill>
                  <a:schemeClr val="tx1"/>
                </a:solidFill>
              </a:rPr>
              <a:t> </a:t>
            </a:r>
            <a:r>
              <a:rPr lang="en-US" sz="1700" b="1" i="1" dirty="0">
                <a:solidFill>
                  <a:srgbClr val="B83227"/>
                </a:solidFill>
              </a:rPr>
              <a:t>gedaan</a:t>
            </a:r>
            <a:r>
              <a:rPr lang="en-US" sz="1700" i="1" dirty="0">
                <a:solidFill>
                  <a:schemeClr val="tx1"/>
                </a:solidFill>
              </a:rPr>
              <a:t>?</a:t>
            </a:r>
            <a:endParaRPr lang="en-US" sz="1800" dirty="0"/>
          </a:p>
        </p:txBody>
      </p:sp>
      <p:sp>
        <p:nvSpPr>
          <p:cNvPr id="15" name="Text 11"/>
          <p:cNvSpPr txBox="1"/>
          <p:nvPr/>
        </p:nvSpPr>
        <p:spPr>
          <a:xfrm>
            <a:off x="822960" y="4480560"/>
            <a:ext cx="4974336" cy="640080"/>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ben</a:t>
            </a:r>
            <a:r>
              <a:rPr lang="en-US" sz="1700" i="1" dirty="0">
                <a:solidFill>
                  <a:schemeClr val="tx1"/>
                </a:solidFill>
              </a:rPr>
              <a:t> </a:t>
            </a:r>
            <a:r>
              <a:rPr lang="en-US" sz="1700" b="1" i="1" dirty="0">
                <a:solidFill>
                  <a:srgbClr val="D9700F"/>
                </a:solidFill>
              </a:rPr>
              <a:t>al twee keer</a:t>
            </a:r>
            <a:r>
              <a:rPr lang="en-US" sz="1700" i="1" dirty="0">
                <a:solidFill>
                  <a:schemeClr val="tx1"/>
                </a:solidFill>
              </a:rPr>
              <a:t> in Gent </a:t>
            </a:r>
            <a:r>
              <a:rPr lang="en-US" sz="1700" b="1" i="1" dirty="0">
                <a:solidFill>
                  <a:srgbClr val="B83227"/>
                </a:solidFill>
              </a:rPr>
              <a:t>geweest</a:t>
            </a:r>
            <a:r>
              <a:rPr lang="en-US" sz="1700" i="1" dirty="0">
                <a:solidFill>
                  <a:schemeClr val="tx1"/>
                </a:solidFill>
              </a:rPr>
              <a:t>.</a:t>
            </a:r>
            <a:endParaRPr lang="en-US" sz="1800" dirty="0"/>
          </a:p>
        </p:txBody>
      </p:sp>
      <p:sp>
        <p:nvSpPr>
          <p:cNvPr id="16" name="Shape 12"/>
          <p:cNvSpPr/>
          <p:nvPr/>
        </p:nvSpPr>
        <p:spPr>
          <a:xfrm>
            <a:off x="6208776" y="1463040"/>
            <a:ext cx="5431536" cy="3840480"/>
          </a:xfrm>
          <a:prstGeom prst="roundRect">
            <a:avLst>
              <a:gd name="adj" fmla="val 285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7" name="Shape 13"/>
          <p:cNvSpPr/>
          <p:nvPr/>
        </p:nvSpPr>
        <p:spPr>
          <a:xfrm>
            <a:off x="6208776" y="1463040"/>
            <a:ext cx="5431536" cy="960120"/>
          </a:xfrm>
          <a:prstGeom prst="roundRect">
            <a:avLst>
              <a:gd name="adj" fmla="val 11429"/>
            </a:avLst>
          </a:prstGeom>
          <a:solidFill>
            <a:srgbClr val="FBEAF2"/>
          </a:solidFill>
          <a:ln w="12700">
            <a:solidFill>
              <a:srgbClr val="FFFFFF">
                <a:alpha val="0"/>
              </a:srgbClr>
            </a:solidFill>
            <a:prstDash val="solid"/>
          </a:ln>
        </p:spPr>
      </p:sp>
      <p:pic>
        <p:nvPicPr>
          <p:cNvPr id="18" name="Image 1" descr="clapper board">    </p:cNvPr>
          <p:cNvPicPr>
            <a:picLocks noChangeAspect="1"/>
          </p:cNvPicPr>
          <p:nvPr/>
        </p:nvPicPr>
        <p:blipFill>
          <a:blip r:embed="rId2"/>
          <a:stretch>
            <a:fillRect/>
          </a:stretch>
        </p:blipFill>
        <p:spPr>
          <a:xfrm>
            <a:off x="6391656" y="1536192"/>
            <a:ext cx="822960" cy="822960"/>
          </a:xfrm>
          <a:prstGeom prst="rect">
            <a:avLst/>
          </a:prstGeom>
        </p:spPr>
      </p:pic>
      <p:sp>
        <p:nvSpPr>
          <p:cNvPr id="19" name="Text 14"/>
          <p:cNvSpPr txBox="1"/>
          <p:nvPr/>
        </p:nvSpPr>
        <p:spPr>
          <a:xfrm>
            <a:off x="7351776" y="1508760"/>
            <a:ext cx="2103120" cy="868680"/>
          </a:xfrm>
          <a:prstGeom prst="rect">
            <a:avLst/>
          </a:prstGeom>
          <a:noFill/>
          <a:ln/>
        </p:spPr>
        <p:txBody>
          <a:bodyPr wrap="square" lIns="0" tIns="0" rIns="0" bIns="0" rtlCol="0" anchor="ctr"/>
          <a:lstStyle/>
          <a:p>
            <a:pPr algn="l" indent="0" marL="0">
              <a:buNone/>
            </a:pPr>
            <a:r>
              <a:rPr lang="en-US" sz="1800" b="1" dirty="0">
                <a:solidFill>
                  <a:schemeClr val="accent4"/>
                </a:solidFill>
              </a:rPr>
              <a:t>IMPERFECTUM</a:t>
            </a:r>
            <a:endParaRPr lang="en-US" sz="1800" dirty="0"/>
          </a:p>
          <a:p>
            <a:pPr algn="l" indent="0" marL="0">
              <a:buNone/>
            </a:pPr>
            <a:r>
              <a:rPr lang="en-US" sz="1800" i="1" dirty="0">
                <a:solidFill>
                  <a:schemeClr val="accent4"/>
                </a:solidFill>
              </a:rPr>
              <a:t>le film</a:t>
            </a:r>
            <a:endParaRPr lang="en-US" sz="1800" dirty="0"/>
          </a:p>
        </p:txBody>
      </p:sp>
      <p:sp>
        <p:nvSpPr>
          <p:cNvPr id="20" name="Shape 15"/>
          <p:cNvSpPr/>
          <p:nvPr/>
        </p:nvSpPr>
        <p:spPr>
          <a:xfrm>
            <a:off x="9400032" y="1920240"/>
            <a:ext cx="2057400" cy="914"/>
          </a:xfrm>
          <a:prstGeom prst="line">
            <a:avLst/>
          </a:prstGeom>
          <a:noFill/>
          <a:ln w="19050">
            <a:solidFill>
              <a:srgbClr val="8A96A8"/>
            </a:solidFill>
            <a:prstDash val="solid"/>
            <a:tailEnd type="triangle"/>
          </a:ln>
        </p:spPr>
      </p:sp>
      <p:sp>
        <p:nvSpPr>
          <p:cNvPr id="21" name="Shape 16"/>
          <p:cNvSpPr/>
          <p:nvPr/>
        </p:nvSpPr>
        <p:spPr>
          <a:xfrm>
            <a:off x="10570464" y="1755648"/>
            <a:ext cx="45720" cy="329184"/>
          </a:xfrm>
          <a:prstGeom prst="rect">
            <a:avLst/>
          </a:prstGeom>
          <a:solidFill>
            <a:schemeClr val="accent6"/>
          </a:solidFill>
          <a:ln w="12700">
            <a:solidFill>
              <a:srgbClr val="FFFFFF">
                <a:alpha val="0"/>
              </a:srgbClr>
            </a:solidFill>
            <a:prstDash val="solid"/>
          </a:ln>
        </p:spPr>
      </p:sp>
      <p:sp>
        <p:nvSpPr>
          <p:cNvPr id="22" name="Shape 17"/>
          <p:cNvSpPr/>
          <p:nvPr/>
        </p:nvSpPr>
        <p:spPr>
          <a:xfrm>
            <a:off x="9564624" y="1856232"/>
            <a:ext cx="761238" cy="128016"/>
          </a:xfrm>
          <a:prstGeom prst="roundRect">
            <a:avLst>
              <a:gd name="adj" fmla="val 28571"/>
            </a:avLst>
          </a:prstGeom>
          <a:solidFill>
            <a:schemeClr val="accent4"/>
          </a:solidFill>
          <a:ln w="12700">
            <a:solidFill>
              <a:srgbClr val="FFFFFF">
                <a:alpha val="0"/>
              </a:srgbClr>
            </a:solidFill>
            <a:prstDash val="solid"/>
          </a:ln>
        </p:spPr>
      </p:sp>
      <p:sp>
        <p:nvSpPr>
          <p:cNvPr id="23" name="Text 18"/>
          <p:cNvSpPr txBox="1"/>
          <p:nvPr/>
        </p:nvSpPr>
        <p:spPr>
          <a:xfrm>
            <a:off x="6437376" y="2514600"/>
            <a:ext cx="4974336" cy="411480"/>
          </a:xfrm>
          <a:prstGeom prst="rect">
            <a:avLst/>
          </a:prstGeom>
          <a:noFill/>
          <a:ln/>
        </p:spPr>
        <p:txBody>
          <a:bodyPr wrap="square" lIns="0" tIns="0" rIns="0" bIns="0" rtlCol="0" anchor="ctr"/>
          <a:lstStyle/>
          <a:p>
            <a:pPr algn="l" indent="0" marL="0">
              <a:buNone/>
            </a:pPr>
            <a:r>
              <a:rPr lang="en-US" sz="1500" b="1" dirty="0">
                <a:solidFill>
                  <a:schemeClr val="tx2"/>
                </a:solidFill>
              </a:rPr>
              <a:t>le décor · l’habitude · le récit</a:t>
            </a:r>
            <a:endParaRPr lang="en-US" sz="1500" dirty="0"/>
          </a:p>
        </p:txBody>
      </p:sp>
      <p:sp>
        <p:nvSpPr>
          <p:cNvPr id="24" name="Text 19"/>
          <p:cNvSpPr txBox="1"/>
          <p:nvPr/>
        </p:nvSpPr>
        <p:spPr>
          <a:xfrm>
            <a:off x="6483096" y="3017520"/>
            <a:ext cx="4974336" cy="640080"/>
          </a:xfrm>
          <a:prstGeom prst="rect">
            <a:avLst/>
          </a:prstGeom>
          <a:noFill/>
          <a:ln/>
        </p:spPr>
        <p:txBody>
          <a:bodyPr wrap="square" lIns="0" tIns="0" rIns="0" bIns="0" rtlCol="0" anchor="ctr"/>
          <a:lstStyle/>
          <a:p>
            <a:pPr algn="l" indent="0" marL="0">
              <a:buNone/>
            </a:pPr>
            <a:r>
              <a:rPr lang="en-US" sz="1700" i="1" dirty="0">
                <a:solidFill>
                  <a:schemeClr val="tx1"/>
                </a:solidFill>
              </a:rPr>
              <a:t>Het </a:t>
            </a:r>
            <a:r>
              <a:rPr lang="en-US" sz="1700" b="1" i="1" dirty="0">
                <a:solidFill>
                  <a:srgbClr val="B83227"/>
                </a:solidFill>
              </a:rPr>
              <a:t>regende</a:t>
            </a:r>
            <a:r>
              <a:rPr lang="en-US" sz="1700" i="1" dirty="0">
                <a:solidFill>
                  <a:schemeClr val="tx1"/>
                </a:solidFill>
              </a:rPr>
              <a:t> en het </a:t>
            </a:r>
            <a:r>
              <a:rPr lang="en-US" sz="1700" b="1" i="1" dirty="0">
                <a:solidFill>
                  <a:srgbClr val="B83227"/>
                </a:solidFill>
              </a:rPr>
              <a:t>was</a:t>
            </a:r>
            <a:r>
              <a:rPr lang="en-US" sz="1700" i="1" dirty="0">
                <a:solidFill>
                  <a:schemeClr val="tx1"/>
                </a:solidFill>
              </a:rPr>
              <a:t> koud.</a:t>
            </a:r>
            <a:endParaRPr lang="en-US" sz="1800" dirty="0"/>
          </a:p>
        </p:txBody>
      </p:sp>
      <p:sp>
        <p:nvSpPr>
          <p:cNvPr id="25" name="Text 20"/>
          <p:cNvSpPr txBox="1"/>
          <p:nvPr/>
        </p:nvSpPr>
        <p:spPr>
          <a:xfrm>
            <a:off x="6483096" y="3749040"/>
            <a:ext cx="4974336" cy="640080"/>
          </a:xfrm>
          <a:prstGeom prst="rect">
            <a:avLst/>
          </a:prstGeom>
          <a:noFill/>
          <a:ln/>
        </p:spPr>
        <p:txBody>
          <a:bodyPr wrap="square" lIns="0" tIns="0" rIns="0" bIns="0" rtlCol="0" anchor="ctr"/>
          <a:lstStyle/>
          <a:p>
            <a:pPr algn="l" indent="0" marL="0">
              <a:buNone/>
            </a:pPr>
            <a:r>
              <a:rPr lang="en-US" sz="1700" b="1" i="1" dirty="0">
                <a:solidFill>
                  <a:srgbClr val="D9700F"/>
                </a:solidFill>
              </a:rPr>
              <a:t>Vroeger</a:t>
            </a:r>
            <a:r>
              <a:rPr lang="en-US" sz="1700" i="1" dirty="0">
                <a:solidFill>
                  <a:schemeClr val="tx1"/>
                </a:solidFill>
              </a:rPr>
              <a:t> </a:t>
            </a:r>
            <a:r>
              <a:rPr lang="en-US" sz="1700" b="1" i="1" dirty="0">
                <a:solidFill>
                  <a:srgbClr val="B83227"/>
                </a:solidFill>
              </a:rPr>
              <a:t>nam</a:t>
            </a:r>
            <a:r>
              <a:rPr lang="en-US" sz="1700" i="1" dirty="0">
                <a:solidFill>
                  <a:schemeClr val="tx1"/>
                </a:solidFill>
              </a:rPr>
              <a:t> ik elke dag de trein.</a:t>
            </a:r>
            <a:endParaRPr lang="en-US" sz="1800" dirty="0"/>
          </a:p>
        </p:txBody>
      </p:sp>
      <p:sp>
        <p:nvSpPr>
          <p:cNvPr id="26" name="Text 21"/>
          <p:cNvSpPr txBox="1"/>
          <p:nvPr/>
        </p:nvSpPr>
        <p:spPr>
          <a:xfrm>
            <a:off x="6483096" y="4480560"/>
            <a:ext cx="4974336" cy="640080"/>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stond</a:t>
            </a:r>
            <a:r>
              <a:rPr lang="en-US" sz="1700" i="1" dirty="0">
                <a:solidFill>
                  <a:schemeClr val="tx1"/>
                </a:solidFill>
              </a:rPr>
              <a:t> op, </a:t>
            </a:r>
            <a:r>
              <a:rPr lang="en-US" sz="1700" b="1" i="1" dirty="0">
                <a:solidFill>
                  <a:srgbClr val="B83227"/>
                </a:solidFill>
              </a:rPr>
              <a:t>dronk</a:t>
            </a:r>
            <a:r>
              <a:rPr lang="en-US" sz="1700" i="1" dirty="0">
                <a:solidFill>
                  <a:schemeClr val="tx1"/>
                </a:solidFill>
              </a:rPr>
              <a:t> een koffie en </a:t>
            </a:r>
            <a:r>
              <a:rPr lang="en-US" sz="1700" b="1" i="1" dirty="0">
                <a:solidFill>
                  <a:srgbClr val="B83227"/>
                </a:solidFill>
              </a:rPr>
              <a:t>vertrok</a:t>
            </a:r>
            <a:r>
              <a:rPr lang="en-US" sz="1700" i="1" dirty="0">
                <a:solidFill>
                  <a:schemeClr val="tx1"/>
                </a:solidFill>
              </a:rPr>
              <a:t>.</a:t>
            </a:r>
            <a:endParaRPr lang="en-US" sz="1800" dirty="0"/>
          </a:p>
        </p:txBody>
      </p:sp>
      <p:sp>
        <p:nvSpPr>
          <p:cNvPr id="27" name="Shape 22"/>
          <p:cNvSpPr/>
          <p:nvPr/>
        </p:nvSpPr>
        <p:spPr>
          <a:xfrm>
            <a:off x="548640" y="5440680"/>
            <a:ext cx="11091672" cy="685800"/>
          </a:xfrm>
          <a:prstGeom prst="roundRect">
            <a:avLst>
              <a:gd name="adj" fmla="val 10667"/>
            </a:avLst>
          </a:prstGeom>
          <a:solidFill>
            <a:schemeClr val="tx2"/>
          </a:solidFill>
          <a:ln w="12700">
            <a:solidFill>
              <a:srgbClr val="FFFFFF">
                <a:alpha val="0"/>
              </a:srgbClr>
            </a:solidFill>
            <a:prstDash val="solid"/>
          </a:ln>
        </p:spPr>
      </p:sp>
      <p:sp>
        <p:nvSpPr>
          <p:cNvPr id="28" name="Text 23"/>
          <p:cNvSpPr txBox="1"/>
          <p:nvPr/>
        </p:nvSpPr>
        <p:spPr>
          <a:xfrm>
            <a:off x="822960" y="5440680"/>
            <a:ext cx="10607040" cy="685800"/>
          </a:xfrm>
          <a:prstGeom prst="rect">
            <a:avLst/>
          </a:prstGeom>
          <a:noFill/>
          <a:ln/>
        </p:spPr>
        <p:txBody>
          <a:bodyPr wrap="square" lIns="0" tIns="0" rIns="0" bIns="0" rtlCol="0" anchor="ctr"/>
          <a:lstStyle/>
          <a:p>
            <a:pPr algn="l" indent="0" marL="0">
              <a:buNone/>
            </a:pPr>
            <a:r>
              <a:rPr lang="en-US" sz="1600" i="1" dirty="0">
                <a:solidFill>
                  <a:schemeClr val="bg1"/>
                </a:solidFill>
              </a:rPr>
              <a:t>zijn, hebben</a:t>
            </a:r>
            <a:r>
              <a:rPr lang="en-US" sz="1600" dirty="0">
                <a:solidFill>
                  <a:schemeClr val="bg1"/>
                </a:solidFill>
              </a:rPr>
              <a:t> et les modaux préfèrent l’imperfectum : </a:t>
            </a:r>
            <a:r>
              <a:rPr lang="en-US" sz="1600" i="1" dirty="0">
                <a:solidFill>
                  <a:schemeClr val="bg1"/>
                </a:solidFill>
              </a:rPr>
              <a:t>Ik </a:t>
            </a:r>
            <a:r>
              <a:rPr lang="en-US" sz="1600" b="1" i="1" dirty="0">
                <a:solidFill>
                  <a:schemeClr val="bg1"/>
                </a:solidFill>
              </a:rPr>
              <a:t>was</a:t>
            </a:r>
            <a:r>
              <a:rPr lang="en-US" sz="1600" i="1" dirty="0">
                <a:solidFill>
                  <a:schemeClr val="bg1"/>
                </a:solidFill>
              </a:rPr>
              <a:t> ziek. Ik </a:t>
            </a:r>
            <a:r>
              <a:rPr lang="en-US" sz="1600" b="1" i="1" dirty="0">
                <a:solidFill>
                  <a:schemeClr val="bg1"/>
                </a:solidFill>
              </a:rPr>
              <a:t>moest</a:t>
            </a:r>
            <a:r>
              <a:rPr lang="en-US" sz="1600" i="1" dirty="0">
                <a:solidFill>
                  <a:schemeClr val="bg1"/>
                </a:solidFill>
              </a:rPr>
              <a:t> werken.</a:t>
            </a:r>
            <a:r>
              <a:rPr lang="en-US" sz="1600" dirty="0">
                <a:solidFill>
                  <a:schemeClr val="bg1"/>
                </a:solidFill>
              </a:rPr>
              <a:t> (= j’ai été, j’ai dû)</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Rappel : t ou d, hebben ou zijn, les irréguliers</a:t>
            </a:r>
            <a:endParaRPr lang="en-US" sz="3000" dirty="0"/>
          </a:p>
        </p:txBody>
      </p:sp>
      <p:sp>
        <p:nvSpPr>
          <p:cNvPr id="3" name="tag"/>
          <p:cNvSpPr/>
          <p:nvPr/>
        </p:nvSpPr>
        <p:spPr>
          <a:xfrm>
            <a:off x="548640" y="237744"/>
            <a:ext cx="2201875"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RAPPEL M15 · M19</a:t>
            </a:r>
            <a:endParaRPr lang="en-US" sz="1200" dirty="0"/>
          </a:p>
        </p:txBody>
      </p:sp>
      <p:sp>
        <p:nvSpPr>
          <p:cNvPr id="5" name="Shape 2"/>
          <p:cNvSpPr/>
          <p:nvPr/>
        </p:nvSpPr>
        <p:spPr>
          <a:xfrm>
            <a:off x="548640" y="1463040"/>
            <a:ext cx="5394960" cy="1874520"/>
          </a:xfrm>
          <a:prstGeom prst="roundRect">
            <a:avLst>
              <a:gd name="adj" fmla="val 585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731520" y="1536192"/>
            <a:ext cx="5029200" cy="411480"/>
          </a:xfrm>
          <a:prstGeom prst="rect">
            <a:avLst/>
          </a:prstGeom>
          <a:noFill/>
          <a:ln/>
        </p:spPr>
        <p:txBody>
          <a:bodyPr wrap="square" lIns="0" tIns="0" rIns="0" bIns="0" rtlCol="0" anchor="ctr"/>
          <a:lstStyle/>
          <a:p>
            <a:pPr algn="l" indent="0" marL="0">
              <a:buNone/>
            </a:pPr>
            <a:r>
              <a:rPr lang="en-US" sz="1600" b="1" dirty="0">
                <a:solidFill>
                  <a:schemeClr val="accent4"/>
                </a:solidFill>
              </a:rPr>
              <a:t>t ou d ? « SoFT KetCHuP »</a:t>
            </a:r>
            <a:endParaRPr lang="en-US" sz="1600" dirty="0"/>
          </a:p>
        </p:txBody>
      </p:sp>
      <p:sp>
        <p:nvSpPr>
          <p:cNvPr id="7" name="Text 4"/>
          <p:cNvSpPr txBox="1"/>
          <p:nvPr/>
        </p:nvSpPr>
        <p:spPr>
          <a:xfrm>
            <a:off x="731520" y="1965960"/>
            <a:ext cx="5029200" cy="1325880"/>
          </a:xfrm>
          <a:prstGeom prst="rect">
            <a:avLst/>
          </a:prstGeom>
          <a:noFill/>
          <a:ln/>
        </p:spPr>
        <p:txBody>
          <a:bodyPr wrap="square" lIns="0" tIns="0" rIns="0" bIns="0" rtlCol="0" anchor="t"/>
          <a:lstStyle/>
          <a:p>
            <a:pPr algn="l" indent="0" marL="0">
              <a:spcAft>
                <a:spcPts val="200"/>
              </a:spcAft>
              <a:buNone/>
            </a:pPr>
            <a:r>
              <a:rPr lang="en-US" sz="1500" dirty="0">
                <a:solidFill>
                  <a:schemeClr val="tx1"/>
                </a:solidFill>
              </a:rPr>
              <a:t>radical en </a:t>
            </a:r>
            <a:r>
              <a:rPr lang="en-US" sz="1500" b="1" dirty="0">
                <a:solidFill>
                  <a:schemeClr val="tx1"/>
                </a:solidFill>
              </a:rPr>
              <a:t>s, f, t, k, ch, p</a:t>
            </a:r>
            <a:r>
              <a:rPr lang="en-US" sz="1500" dirty="0">
                <a:solidFill>
                  <a:schemeClr val="tx1"/>
                </a:solidFill>
              </a:rPr>
              <a:t> → </a:t>
            </a:r>
            <a:r>
              <a:rPr lang="en-US" sz="1500" i="1" dirty="0">
                <a:solidFill>
                  <a:schemeClr val="tx1"/>
                </a:solidFill>
              </a:rPr>
              <a:t>-te · ge…t</a:t>
            </a:r>
            <a:endParaRPr lang="en-US" sz="1500" dirty="0"/>
          </a:p>
          <a:p>
            <a:pPr algn="l" indent="0" marL="0">
              <a:spcAft>
                <a:spcPts val="200"/>
              </a:spcAft>
              <a:buNone/>
            </a:pPr>
            <a:r>
              <a:rPr lang="en-US" sz="1500" i="1" dirty="0">
                <a:solidFill>
                  <a:schemeClr val="tx1"/>
                </a:solidFill>
              </a:rPr>
              <a:t>werk → werk</a:t>
            </a:r>
            <a:r>
              <a:rPr lang="en-US" sz="1500" b="1" i="1" dirty="0">
                <a:solidFill>
                  <a:schemeClr val="tx1"/>
                </a:solidFill>
              </a:rPr>
              <a:t>te</a:t>
            </a:r>
            <a:r>
              <a:rPr lang="en-US" sz="1500" i="1" dirty="0">
                <a:solidFill>
                  <a:schemeClr val="tx1"/>
                </a:solidFill>
              </a:rPr>
              <a:t> · ge</a:t>
            </a:r>
            <a:r>
              <a:rPr lang="en-US" sz="1500" b="1" i="1" dirty="0">
                <a:solidFill>
                  <a:schemeClr val="tx1"/>
                </a:solidFill>
              </a:rPr>
              <a:t>werkt</a:t>
            </a:r>
            <a:endParaRPr lang="en-US" sz="1500" dirty="0"/>
          </a:p>
          <a:p>
            <a:pPr algn="l" indent="0" marL="0">
              <a:spcAft>
                <a:spcPts val="200"/>
              </a:spcAft>
              <a:buNone/>
            </a:pPr>
            <a:r>
              <a:rPr lang="en-US" sz="1500" dirty="0">
                <a:solidFill>
                  <a:schemeClr val="tx1"/>
                </a:solidFill>
              </a:rPr>
              <a:t>sinon → </a:t>
            </a:r>
            <a:r>
              <a:rPr lang="en-US" sz="1500" i="1" dirty="0">
                <a:solidFill>
                  <a:schemeClr val="tx1"/>
                </a:solidFill>
              </a:rPr>
              <a:t>-de · ge…d</a:t>
            </a:r>
            <a:endParaRPr lang="en-US" sz="1500" dirty="0"/>
          </a:p>
          <a:p>
            <a:pPr algn="l" indent="0" marL="0">
              <a:spcAft>
                <a:spcPts val="200"/>
              </a:spcAft>
              <a:buNone/>
            </a:pPr>
            <a:r>
              <a:rPr lang="en-US" sz="1500" i="1" dirty="0">
                <a:solidFill>
                  <a:schemeClr val="tx1"/>
                </a:solidFill>
              </a:rPr>
              <a:t>woon → woon</a:t>
            </a:r>
            <a:r>
              <a:rPr lang="en-US" sz="1500" b="1" i="1" dirty="0">
                <a:solidFill>
                  <a:schemeClr val="tx1"/>
                </a:solidFill>
              </a:rPr>
              <a:t>de</a:t>
            </a:r>
            <a:r>
              <a:rPr lang="en-US" sz="1500" i="1" dirty="0">
                <a:solidFill>
                  <a:schemeClr val="tx1"/>
                </a:solidFill>
              </a:rPr>
              <a:t> · ge</a:t>
            </a:r>
            <a:r>
              <a:rPr lang="en-US" sz="1500" b="1" i="1" dirty="0">
                <a:solidFill>
                  <a:schemeClr val="tx1"/>
                </a:solidFill>
              </a:rPr>
              <a:t>woond</a:t>
            </a:r>
            <a:endParaRPr lang="en-US" sz="1500" dirty="0"/>
          </a:p>
        </p:txBody>
      </p:sp>
      <p:sp>
        <p:nvSpPr>
          <p:cNvPr id="8" name="Shape 5"/>
          <p:cNvSpPr/>
          <p:nvPr/>
        </p:nvSpPr>
        <p:spPr>
          <a:xfrm>
            <a:off x="548640" y="3474720"/>
            <a:ext cx="5394960" cy="2011680"/>
          </a:xfrm>
          <a:prstGeom prst="roundRect">
            <a:avLst>
              <a:gd name="adj" fmla="val 5455"/>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Text 6"/>
          <p:cNvSpPr txBox="1"/>
          <p:nvPr/>
        </p:nvSpPr>
        <p:spPr>
          <a:xfrm>
            <a:off x="731520" y="3547872"/>
            <a:ext cx="5029200" cy="411480"/>
          </a:xfrm>
          <a:prstGeom prst="rect">
            <a:avLst/>
          </a:prstGeom>
          <a:noFill/>
          <a:ln/>
        </p:spPr>
        <p:txBody>
          <a:bodyPr wrap="square" lIns="0" tIns="0" rIns="0" bIns="0" rtlCol="0" anchor="ctr"/>
          <a:lstStyle/>
          <a:p>
            <a:pPr algn="l" indent="0" marL="0">
              <a:buNone/>
            </a:pPr>
            <a:r>
              <a:rPr lang="en-US" sz="1600" b="1" dirty="0">
                <a:solidFill>
                  <a:schemeClr val="accent4"/>
                </a:solidFill>
              </a:rPr>
              <a:t>hebben ou zijn ?</a:t>
            </a:r>
            <a:endParaRPr lang="en-US" sz="1600" dirty="0"/>
          </a:p>
        </p:txBody>
      </p:sp>
      <p:sp>
        <p:nvSpPr>
          <p:cNvPr id="10" name="Text 7"/>
          <p:cNvSpPr txBox="1"/>
          <p:nvPr/>
        </p:nvSpPr>
        <p:spPr>
          <a:xfrm>
            <a:off x="731520" y="3977640"/>
            <a:ext cx="5029200" cy="1463040"/>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zijn</a:t>
            </a:r>
            <a:r>
              <a:rPr lang="en-US" sz="1500" dirty="0">
                <a:solidFill>
                  <a:schemeClr val="tx1"/>
                </a:solidFill>
              </a:rPr>
              <a:t> : un changement de lieu (vers un but) ou d’état</a:t>
            </a:r>
            <a:endParaRPr lang="en-US" sz="1500" dirty="0"/>
          </a:p>
          <a:p>
            <a:pPr algn="l" indent="0" marL="0">
              <a:spcAft>
                <a:spcPts val="200"/>
              </a:spcAft>
              <a:buNone/>
            </a:pPr>
            <a:r>
              <a:rPr lang="en-US" sz="1500" i="1" dirty="0">
                <a:solidFill>
                  <a:schemeClr val="tx1"/>
                </a:solidFill>
              </a:rPr>
              <a:t>gaan, komen, vertrekken, worden, beginnen</a:t>
            </a:r>
            <a:r>
              <a:rPr lang="en-US" sz="1500" dirty="0">
                <a:solidFill>
                  <a:schemeClr val="tx1"/>
                </a:solidFill>
              </a:rPr>
              <a:t> + </a:t>
            </a:r>
            <a:r>
              <a:rPr lang="en-US" sz="1500" i="1" dirty="0">
                <a:solidFill>
                  <a:schemeClr val="tx1"/>
                </a:solidFill>
              </a:rPr>
              <a:t>zijn, blijven</a:t>
            </a:r>
            <a:endParaRPr lang="en-US" sz="1500" dirty="0"/>
          </a:p>
          <a:p>
            <a:pPr algn="l" indent="0" marL="0">
              <a:spcAft>
                <a:spcPts val="200"/>
              </a:spcAft>
              <a:buNone/>
            </a:pPr>
            <a:r>
              <a:rPr lang="en-US" sz="1500" b="1" dirty="0">
                <a:solidFill>
                  <a:schemeClr val="tx1"/>
                </a:solidFill>
              </a:rPr>
              <a:t>hebben</a:t>
            </a:r>
            <a:r>
              <a:rPr lang="en-US" sz="1500" dirty="0">
                <a:solidFill>
                  <a:schemeClr val="tx1"/>
                </a:solidFill>
              </a:rPr>
              <a:t> : tout le reste</a:t>
            </a:r>
            <a:endParaRPr lang="en-US" sz="1500" dirty="0"/>
          </a:p>
          <a:p>
            <a:pPr algn="l" indent="0" marL="0">
              <a:spcAft>
                <a:spcPts val="200"/>
              </a:spcAft>
              <a:buNone/>
            </a:pPr>
            <a:r>
              <a:rPr lang="en-US" sz="1500" i="1" dirty="0">
                <a:solidFill>
                  <a:schemeClr val="tx1"/>
                </a:solidFill>
              </a:rPr>
              <a:t>werken, eten, bellen, hebben, doen…</a:t>
            </a:r>
            <a:endParaRPr lang="en-US" sz="1500" dirty="0"/>
          </a:p>
        </p:txBody>
      </p:sp>
      <p:sp>
        <p:nvSpPr>
          <p:cNvPr id="11" name="Shape 8"/>
          <p:cNvSpPr/>
          <p:nvPr/>
        </p:nvSpPr>
        <p:spPr>
          <a:xfrm>
            <a:off x="6172200" y="1463040"/>
            <a:ext cx="1426464" cy="384048"/>
          </a:xfrm>
          <a:prstGeom prst="roundRect">
            <a:avLst>
              <a:gd name="adj" fmla="val 14286"/>
            </a:avLst>
          </a:prstGeom>
          <a:solidFill>
            <a:schemeClr val="accent4"/>
          </a:solidFill>
          <a:ln w="12700">
            <a:solidFill>
              <a:srgbClr val="FFFFFF">
                <a:alpha val="0"/>
              </a:srgbClr>
            </a:solidFill>
            <a:prstDash val="solid"/>
          </a:ln>
        </p:spPr>
      </p:sp>
      <p:sp>
        <p:nvSpPr>
          <p:cNvPr id="12" name="Text 9"/>
          <p:cNvSpPr txBox="1"/>
          <p:nvPr/>
        </p:nvSpPr>
        <p:spPr>
          <a:xfrm>
            <a:off x="6172200" y="1463040"/>
            <a:ext cx="1426464" cy="384048"/>
          </a:xfrm>
          <a:prstGeom prst="rect">
            <a:avLst/>
          </a:prstGeom>
          <a:noFill/>
          <a:ln/>
        </p:spPr>
        <p:txBody>
          <a:bodyPr wrap="square" lIns="0" tIns="0" rIns="0" bIns="0" rtlCol="0" anchor="ctr"/>
          <a:lstStyle/>
          <a:p>
            <a:pPr algn="ctr" indent="0" marL="0">
              <a:buNone/>
            </a:pPr>
            <a:r>
              <a:rPr lang="en-US" sz="1300" b="1" dirty="0">
                <a:solidFill>
                  <a:schemeClr val="bg1"/>
                </a:solidFill>
              </a:rPr>
              <a:t>infinitif</a:t>
            </a:r>
            <a:endParaRPr lang="en-US" sz="1300" dirty="0"/>
          </a:p>
        </p:txBody>
      </p:sp>
      <p:sp>
        <p:nvSpPr>
          <p:cNvPr id="13" name="Shape 10"/>
          <p:cNvSpPr/>
          <p:nvPr/>
        </p:nvSpPr>
        <p:spPr>
          <a:xfrm>
            <a:off x="7635240" y="1463040"/>
            <a:ext cx="2020824" cy="384048"/>
          </a:xfrm>
          <a:prstGeom prst="roundRect">
            <a:avLst>
              <a:gd name="adj" fmla="val 14286"/>
            </a:avLst>
          </a:prstGeom>
          <a:solidFill>
            <a:schemeClr val="accent4"/>
          </a:solidFill>
          <a:ln w="12700">
            <a:solidFill>
              <a:srgbClr val="FFFFFF">
                <a:alpha val="0"/>
              </a:srgbClr>
            </a:solidFill>
            <a:prstDash val="solid"/>
          </a:ln>
        </p:spPr>
      </p:sp>
      <p:sp>
        <p:nvSpPr>
          <p:cNvPr id="14" name="Text 11"/>
          <p:cNvSpPr txBox="1"/>
          <p:nvPr/>
        </p:nvSpPr>
        <p:spPr>
          <a:xfrm>
            <a:off x="7635240" y="1463040"/>
            <a:ext cx="2020824" cy="384048"/>
          </a:xfrm>
          <a:prstGeom prst="rect">
            <a:avLst/>
          </a:prstGeom>
          <a:noFill/>
          <a:ln/>
        </p:spPr>
        <p:txBody>
          <a:bodyPr wrap="square" lIns="0" tIns="0" rIns="0" bIns="0" rtlCol="0" anchor="ctr"/>
          <a:lstStyle/>
          <a:p>
            <a:pPr algn="ctr" indent="0" marL="0">
              <a:buNone/>
            </a:pPr>
            <a:r>
              <a:rPr lang="en-US" sz="1300" b="1" dirty="0">
                <a:solidFill>
                  <a:schemeClr val="bg1"/>
                </a:solidFill>
              </a:rPr>
              <a:t>imperfectum</a:t>
            </a:r>
            <a:endParaRPr lang="en-US" sz="1300" dirty="0"/>
          </a:p>
        </p:txBody>
      </p:sp>
      <p:sp>
        <p:nvSpPr>
          <p:cNvPr id="15" name="Shape 12"/>
          <p:cNvSpPr/>
          <p:nvPr/>
        </p:nvSpPr>
        <p:spPr>
          <a:xfrm>
            <a:off x="9692640" y="1463040"/>
            <a:ext cx="1911096" cy="384048"/>
          </a:xfrm>
          <a:prstGeom prst="roundRect">
            <a:avLst>
              <a:gd name="adj" fmla="val 14286"/>
            </a:avLst>
          </a:prstGeom>
          <a:solidFill>
            <a:schemeClr val="accent4"/>
          </a:solidFill>
          <a:ln w="12700">
            <a:solidFill>
              <a:srgbClr val="FFFFFF">
                <a:alpha val="0"/>
              </a:srgbClr>
            </a:solidFill>
            <a:prstDash val="solid"/>
          </a:ln>
        </p:spPr>
      </p:sp>
      <p:sp>
        <p:nvSpPr>
          <p:cNvPr id="16" name="Text 13"/>
          <p:cNvSpPr txBox="1"/>
          <p:nvPr/>
        </p:nvSpPr>
        <p:spPr>
          <a:xfrm>
            <a:off x="9692640" y="1463040"/>
            <a:ext cx="1911096" cy="384048"/>
          </a:xfrm>
          <a:prstGeom prst="rect">
            <a:avLst/>
          </a:prstGeom>
          <a:noFill/>
          <a:ln/>
        </p:spPr>
        <p:txBody>
          <a:bodyPr wrap="square" lIns="0" tIns="0" rIns="0" bIns="0" rtlCol="0" anchor="ctr"/>
          <a:lstStyle/>
          <a:p>
            <a:pPr algn="ctr" indent="0" marL="0">
              <a:buNone/>
            </a:pPr>
            <a:r>
              <a:rPr lang="en-US" sz="1300" b="1" dirty="0">
                <a:solidFill>
                  <a:schemeClr val="bg1"/>
                </a:solidFill>
              </a:rPr>
              <a:t>participe</a:t>
            </a:r>
            <a:endParaRPr lang="en-US" sz="1300" dirty="0"/>
          </a:p>
        </p:txBody>
      </p:sp>
      <p:sp>
        <p:nvSpPr>
          <p:cNvPr id="17" name="Shape 14"/>
          <p:cNvSpPr/>
          <p:nvPr/>
        </p:nvSpPr>
        <p:spPr>
          <a:xfrm>
            <a:off x="6172200" y="1883664"/>
            <a:ext cx="5431536" cy="347472"/>
          </a:xfrm>
          <a:prstGeom prst="roundRect">
            <a:avLst>
              <a:gd name="adj" fmla="val 10526"/>
            </a:avLst>
          </a:prstGeom>
          <a:solidFill>
            <a:schemeClr val="bg2"/>
          </a:solidFill>
          <a:ln w="12700">
            <a:solidFill>
              <a:srgbClr val="FFFFFF">
                <a:alpha val="0"/>
              </a:srgbClr>
            </a:solidFill>
            <a:prstDash val="solid"/>
          </a:ln>
        </p:spPr>
      </p:sp>
      <p:sp>
        <p:nvSpPr>
          <p:cNvPr id="18" name="Text 15"/>
          <p:cNvSpPr txBox="1"/>
          <p:nvPr/>
        </p:nvSpPr>
        <p:spPr>
          <a:xfrm>
            <a:off x="6263640" y="188366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zijn</a:t>
            </a:r>
            <a:endParaRPr lang="en-US" sz="1400" dirty="0"/>
          </a:p>
        </p:txBody>
      </p:sp>
      <p:sp>
        <p:nvSpPr>
          <p:cNvPr id="19" name="Text 16"/>
          <p:cNvSpPr txBox="1"/>
          <p:nvPr/>
        </p:nvSpPr>
        <p:spPr>
          <a:xfrm>
            <a:off x="7726680" y="188366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was · waren</a:t>
            </a:r>
            <a:endParaRPr lang="en-US" sz="1400" dirty="0"/>
          </a:p>
        </p:txBody>
      </p:sp>
      <p:sp>
        <p:nvSpPr>
          <p:cNvPr id="20" name="Text 17"/>
          <p:cNvSpPr txBox="1"/>
          <p:nvPr/>
        </p:nvSpPr>
        <p:spPr>
          <a:xfrm>
            <a:off x="9784080" y="188366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(ben) geweest</a:t>
            </a:r>
            <a:endParaRPr lang="en-US" sz="1400" dirty="0"/>
          </a:p>
        </p:txBody>
      </p:sp>
      <p:sp>
        <p:nvSpPr>
          <p:cNvPr id="21" name="Shape 18"/>
          <p:cNvSpPr/>
          <p:nvPr/>
        </p:nvSpPr>
        <p:spPr>
          <a:xfrm>
            <a:off x="6172200" y="2249424"/>
            <a:ext cx="5431536" cy="347472"/>
          </a:xfrm>
          <a:prstGeom prst="roundRect">
            <a:avLst>
              <a:gd name="adj" fmla="val 10526"/>
            </a:avLst>
          </a:prstGeom>
          <a:solidFill>
            <a:srgbClr val="FFFFFF"/>
          </a:solidFill>
          <a:ln w="12700">
            <a:solidFill>
              <a:srgbClr val="FFFFFF">
                <a:alpha val="0"/>
              </a:srgbClr>
            </a:solidFill>
            <a:prstDash val="solid"/>
          </a:ln>
        </p:spPr>
      </p:sp>
      <p:sp>
        <p:nvSpPr>
          <p:cNvPr id="22" name="Text 19"/>
          <p:cNvSpPr txBox="1"/>
          <p:nvPr/>
        </p:nvSpPr>
        <p:spPr>
          <a:xfrm>
            <a:off x="6263640" y="224942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hebben</a:t>
            </a:r>
            <a:endParaRPr lang="en-US" sz="1400" dirty="0"/>
          </a:p>
        </p:txBody>
      </p:sp>
      <p:sp>
        <p:nvSpPr>
          <p:cNvPr id="23" name="Text 20"/>
          <p:cNvSpPr txBox="1"/>
          <p:nvPr/>
        </p:nvSpPr>
        <p:spPr>
          <a:xfrm>
            <a:off x="7726680" y="224942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had · hadden</a:t>
            </a:r>
            <a:endParaRPr lang="en-US" sz="1400" dirty="0"/>
          </a:p>
        </p:txBody>
      </p:sp>
      <p:sp>
        <p:nvSpPr>
          <p:cNvPr id="24" name="Text 21"/>
          <p:cNvSpPr txBox="1"/>
          <p:nvPr/>
        </p:nvSpPr>
        <p:spPr>
          <a:xfrm>
            <a:off x="9784080" y="224942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gehad</a:t>
            </a:r>
            <a:endParaRPr lang="en-US" sz="1400" dirty="0"/>
          </a:p>
        </p:txBody>
      </p:sp>
      <p:sp>
        <p:nvSpPr>
          <p:cNvPr id="25" name="Shape 22"/>
          <p:cNvSpPr/>
          <p:nvPr/>
        </p:nvSpPr>
        <p:spPr>
          <a:xfrm>
            <a:off x="6172200" y="2615184"/>
            <a:ext cx="5431536" cy="347472"/>
          </a:xfrm>
          <a:prstGeom prst="roundRect">
            <a:avLst>
              <a:gd name="adj" fmla="val 10526"/>
            </a:avLst>
          </a:prstGeom>
          <a:solidFill>
            <a:schemeClr val="bg2"/>
          </a:solidFill>
          <a:ln w="12700">
            <a:solidFill>
              <a:srgbClr val="FFFFFF">
                <a:alpha val="0"/>
              </a:srgbClr>
            </a:solidFill>
            <a:prstDash val="solid"/>
          </a:ln>
        </p:spPr>
      </p:sp>
      <p:sp>
        <p:nvSpPr>
          <p:cNvPr id="26" name="Text 23"/>
          <p:cNvSpPr txBox="1"/>
          <p:nvPr/>
        </p:nvSpPr>
        <p:spPr>
          <a:xfrm>
            <a:off x="6263640" y="261518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gaan</a:t>
            </a:r>
            <a:endParaRPr lang="en-US" sz="1400" dirty="0"/>
          </a:p>
        </p:txBody>
      </p:sp>
      <p:sp>
        <p:nvSpPr>
          <p:cNvPr id="27" name="Text 24"/>
          <p:cNvSpPr txBox="1"/>
          <p:nvPr/>
        </p:nvSpPr>
        <p:spPr>
          <a:xfrm>
            <a:off x="7726680" y="261518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ging · gingen</a:t>
            </a:r>
            <a:endParaRPr lang="en-US" sz="1400" dirty="0"/>
          </a:p>
        </p:txBody>
      </p:sp>
      <p:sp>
        <p:nvSpPr>
          <p:cNvPr id="28" name="Text 25"/>
          <p:cNvSpPr txBox="1"/>
          <p:nvPr/>
        </p:nvSpPr>
        <p:spPr>
          <a:xfrm>
            <a:off x="9784080" y="261518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(ben) gegaan</a:t>
            </a:r>
            <a:endParaRPr lang="en-US" sz="1400" dirty="0"/>
          </a:p>
        </p:txBody>
      </p:sp>
      <p:sp>
        <p:nvSpPr>
          <p:cNvPr id="29" name="Shape 26"/>
          <p:cNvSpPr/>
          <p:nvPr/>
        </p:nvSpPr>
        <p:spPr>
          <a:xfrm>
            <a:off x="6172200" y="2980944"/>
            <a:ext cx="5431536" cy="347472"/>
          </a:xfrm>
          <a:prstGeom prst="roundRect">
            <a:avLst>
              <a:gd name="adj" fmla="val 10526"/>
            </a:avLst>
          </a:prstGeom>
          <a:solidFill>
            <a:srgbClr val="FFFFFF"/>
          </a:solidFill>
          <a:ln w="12700">
            <a:solidFill>
              <a:srgbClr val="FFFFFF">
                <a:alpha val="0"/>
              </a:srgbClr>
            </a:solidFill>
            <a:prstDash val="solid"/>
          </a:ln>
        </p:spPr>
      </p:sp>
      <p:sp>
        <p:nvSpPr>
          <p:cNvPr id="30" name="Text 27"/>
          <p:cNvSpPr txBox="1"/>
          <p:nvPr/>
        </p:nvSpPr>
        <p:spPr>
          <a:xfrm>
            <a:off x="6263640" y="298094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komen</a:t>
            </a:r>
            <a:endParaRPr lang="en-US" sz="1400" dirty="0"/>
          </a:p>
        </p:txBody>
      </p:sp>
      <p:sp>
        <p:nvSpPr>
          <p:cNvPr id="31" name="Text 28"/>
          <p:cNvSpPr txBox="1"/>
          <p:nvPr/>
        </p:nvSpPr>
        <p:spPr>
          <a:xfrm>
            <a:off x="7726680" y="298094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kwam · kwamen</a:t>
            </a:r>
            <a:endParaRPr lang="en-US" sz="1400" dirty="0"/>
          </a:p>
        </p:txBody>
      </p:sp>
      <p:sp>
        <p:nvSpPr>
          <p:cNvPr id="32" name="Text 29"/>
          <p:cNvSpPr txBox="1"/>
          <p:nvPr/>
        </p:nvSpPr>
        <p:spPr>
          <a:xfrm>
            <a:off x="9784080" y="298094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(ben) gekomen</a:t>
            </a:r>
            <a:endParaRPr lang="en-US" sz="1400" dirty="0"/>
          </a:p>
        </p:txBody>
      </p:sp>
      <p:sp>
        <p:nvSpPr>
          <p:cNvPr id="33" name="Shape 30"/>
          <p:cNvSpPr/>
          <p:nvPr/>
        </p:nvSpPr>
        <p:spPr>
          <a:xfrm>
            <a:off x="6172200" y="3346704"/>
            <a:ext cx="5431536" cy="347472"/>
          </a:xfrm>
          <a:prstGeom prst="roundRect">
            <a:avLst>
              <a:gd name="adj" fmla="val 10526"/>
            </a:avLst>
          </a:prstGeom>
          <a:solidFill>
            <a:schemeClr val="bg2"/>
          </a:solidFill>
          <a:ln w="12700">
            <a:solidFill>
              <a:srgbClr val="FFFFFF">
                <a:alpha val="0"/>
              </a:srgbClr>
            </a:solidFill>
            <a:prstDash val="solid"/>
          </a:ln>
        </p:spPr>
      </p:sp>
      <p:sp>
        <p:nvSpPr>
          <p:cNvPr id="34" name="Text 31"/>
          <p:cNvSpPr txBox="1"/>
          <p:nvPr/>
        </p:nvSpPr>
        <p:spPr>
          <a:xfrm>
            <a:off x="6263640" y="334670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doen</a:t>
            </a:r>
            <a:endParaRPr lang="en-US" sz="1400" dirty="0"/>
          </a:p>
        </p:txBody>
      </p:sp>
      <p:sp>
        <p:nvSpPr>
          <p:cNvPr id="35" name="Text 32"/>
          <p:cNvSpPr txBox="1"/>
          <p:nvPr/>
        </p:nvSpPr>
        <p:spPr>
          <a:xfrm>
            <a:off x="7726680" y="334670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deed · deden</a:t>
            </a:r>
            <a:endParaRPr lang="en-US" sz="1400" dirty="0"/>
          </a:p>
        </p:txBody>
      </p:sp>
      <p:sp>
        <p:nvSpPr>
          <p:cNvPr id="36" name="Text 33"/>
          <p:cNvSpPr txBox="1"/>
          <p:nvPr/>
        </p:nvSpPr>
        <p:spPr>
          <a:xfrm>
            <a:off x="9784080" y="334670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gedaan</a:t>
            </a:r>
            <a:endParaRPr lang="en-US" sz="1400" dirty="0"/>
          </a:p>
        </p:txBody>
      </p:sp>
      <p:sp>
        <p:nvSpPr>
          <p:cNvPr id="37" name="Shape 34"/>
          <p:cNvSpPr/>
          <p:nvPr/>
        </p:nvSpPr>
        <p:spPr>
          <a:xfrm>
            <a:off x="6172200" y="3712464"/>
            <a:ext cx="5431536" cy="347472"/>
          </a:xfrm>
          <a:prstGeom prst="roundRect">
            <a:avLst>
              <a:gd name="adj" fmla="val 10526"/>
            </a:avLst>
          </a:prstGeom>
          <a:solidFill>
            <a:srgbClr val="FFFFFF"/>
          </a:solidFill>
          <a:ln w="12700">
            <a:solidFill>
              <a:srgbClr val="FFFFFF">
                <a:alpha val="0"/>
              </a:srgbClr>
            </a:solidFill>
            <a:prstDash val="solid"/>
          </a:ln>
        </p:spPr>
      </p:sp>
      <p:sp>
        <p:nvSpPr>
          <p:cNvPr id="38" name="Text 35"/>
          <p:cNvSpPr txBox="1"/>
          <p:nvPr/>
        </p:nvSpPr>
        <p:spPr>
          <a:xfrm>
            <a:off x="6263640" y="371246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zien</a:t>
            </a:r>
            <a:endParaRPr lang="en-US" sz="1400" dirty="0"/>
          </a:p>
        </p:txBody>
      </p:sp>
      <p:sp>
        <p:nvSpPr>
          <p:cNvPr id="39" name="Text 36"/>
          <p:cNvSpPr txBox="1"/>
          <p:nvPr/>
        </p:nvSpPr>
        <p:spPr>
          <a:xfrm>
            <a:off x="7726680" y="371246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zag · zagen</a:t>
            </a:r>
            <a:endParaRPr lang="en-US" sz="1400" dirty="0"/>
          </a:p>
        </p:txBody>
      </p:sp>
      <p:sp>
        <p:nvSpPr>
          <p:cNvPr id="40" name="Text 37"/>
          <p:cNvSpPr txBox="1"/>
          <p:nvPr/>
        </p:nvSpPr>
        <p:spPr>
          <a:xfrm>
            <a:off x="9784080" y="371246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gezien</a:t>
            </a:r>
            <a:endParaRPr lang="en-US" sz="1400" dirty="0"/>
          </a:p>
        </p:txBody>
      </p:sp>
      <p:sp>
        <p:nvSpPr>
          <p:cNvPr id="41" name="Shape 38"/>
          <p:cNvSpPr/>
          <p:nvPr/>
        </p:nvSpPr>
        <p:spPr>
          <a:xfrm>
            <a:off x="6172200" y="4078224"/>
            <a:ext cx="5431536" cy="347472"/>
          </a:xfrm>
          <a:prstGeom prst="roundRect">
            <a:avLst>
              <a:gd name="adj" fmla="val 10526"/>
            </a:avLst>
          </a:prstGeom>
          <a:solidFill>
            <a:schemeClr val="bg2"/>
          </a:solidFill>
          <a:ln w="12700">
            <a:solidFill>
              <a:srgbClr val="FFFFFF">
                <a:alpha val="0"/>
              </a:srgbClr>
            </a:solidFill>
            <a:prstDash val="solid"/>
          </a:ln>
        </p:spPr>
      </p:sp>
      <p:sp>
        <p:nvSpPr>
          <p:cNvPr id="42" name="Text 39"/>
          <p:cNvSpPr txBox="1"/>
          <p:nvPr/>
        </p:nvSpPr>
        <p:spPr>
          <a:xfrm>
            <a:off x="6263640" y="407822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nemen</a:t>
            </a:r>
            <a:endParaRPr lang="en-US" sz="1400" dirty="0"/>
          </a:p>
        </p:txBody>
      </p:sp>
      <p:sp>
        <p:nvSpPr>
          <p:cNvPr id="43" name="Text 40"/>
          <p:cNvSpPr txBox="1"/>
          <p:nvPr/>
        </p:nvSpPr>
        <p:spPr>
          <a:xfrm>
            <a:off x="7726680" y="407822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nam · namen</a:t>
            </a:r>
            <a:endParaRPr lang="en-US" sz="1400" dirty="0"/>
          </a:p>
        </p:txBody>
      </p:sp>
      <p:sp>
        <p:nvSpPr>
          <p:cNvPr id="44" name="Text 41"/>
          <p:cNvSpPr txBox="1"/>
          <p:nvPr/>
        </p:nvSpPr>
        <p:spPr>
          <a:xfrm>
            <a:off x="9784080" y="407822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genomen</a:t>
            </a:r>
            <a:endParaRPr lang="en-US" sz="1400" dirty="0"/>
          </a:p>
        </p:txBody>
      </p:sp>
      <p:sp>
        <p:nvSpPr>
          <p:cNvPr id="45" name="Shape 42"/>
          <p:cNvSpPr/>
          <p:nvPr/>
        </p:nvSpPr>
        <p:spPr>
          <a:xfrm>
            <a:off x="6172200" y="4443984"/>
            <a:ext cx="5431536" cy="347472"/>
          </a:xfrm>
          <a:prstGeom prst="roundRect">
            <a:avLst>
              <a:gd name="adj" fmla="val 10526"/>
            </a:avLst>
          </a:prstGeom>
          <a:solidFill>
            <a:srgbClr val="FFFFFF"/>
          </a:solidFill>
          <a:ln w="12700">
            <a:solidFill>
              <a:srgbClr val="FFFFFF">
                <a:alpha val="0"/>
              </a:srgbClr>
            </a:solidFill>
            <a:prstDash val="solid"/>
          </a:ln>
        </p:spPr>
      </p:sp>
      <p:sp>
        <p:nvSpPr>
          <p:cNvPr id="46" name="Text 43"/>
          <p:cNvSpPr txBox="1"/>
          <p:nvPr/>
        </p:nvSpPr>
        <p:spPr>
          <a:xfrm>
            <a:off x="6263640" y="444398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krijgen</a:t>
            </a:r>
            <a:endParaRPr lang="en-US" sz="1400" dirty="0"/>
          </a:p>
        </p:txBody>
      </p:sp>
      <p:sp>
        <p:nvSpPr>
          <p:cNvPr id="47" name="Text 44"/>
          <p:cNvSpPr txBox="1"/>
          <p:nvPr/>
        </p:nvSpPr>
        <p:spPr>
          <a:xfrm>
            <a:off x="7726680" y="444398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kreeg · kregen</a:t>
            </a:r>
            <a:endParaRPr lang="en-US" sz="1400" dirty="0"/>
          </a:p>
        </p:txBody>
      </p:sp>
      <p:sp>
        <p:nvSpPr>
          <p:cNvPr id="48" name="Text 45"/>
          <p:cNvSpPr txBox="1"/>
          <p:nvPr/>
        </p:nvSpPr>
        <p:spPr>
          <a:xfrm>
            <a:off x="9784080" y="444398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gekregen</a:t>
            </a:r>
            <a:endParaRPr lang="en-US" sz="1400" dirty="0"/>
          </a:p>
        </p:txBody>
      </p:sp>
      <p:sp>
        <p:nvSpPr>
          <p:cNvPr id="49" name="Shape 46"/>
          <p:cNvSpPr/>
          <p:nvPr/>
        </p:nvSpPr>
        <p:spPr>
          <a:xfrm>
            <a:off x="6172200" y="4809744"/>
            <a:ext cx="5431536" cy="347472"/>
          </a:xfrm>
          <a:prstGeom prst="roundRect">
            <a:avLst>
              <a:gd name="adj" fmla="val 10526"/>
            </a:avLst>
          </a:prstGeom>
          <a:solidFill>
            <a:schemeClr val="bg2"/>
          </a:solidFill>
          <a:ln w="12700">
            <a:solidFill>
              <a:srgbClr val="FFFFFF">
                <a:alpha val="0"/>
              </a:srgbClr>
            </a:solidFill>
            <a:prstDash val="solid"/>
          </a:ln>
        </p:spPr>
      </p:sp>
      <p:sp>
        <p:nvSpPr>
          <p:cNvPr id="50" name="Text 47"/>
          <p:cNvSpPr txBox="1"/>
          <p:nvPr/>
        </p:nvSpPr>
        <p:spPr>
          <a:xfrm>
            <a:off x="6263640" y="480974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schrijven</a:t>
            </a:r>
            <a:endParaRPr lang="en-US" sz="1400" dirty="0"/>
          </a:p>
        </p:txBody>
      </p:sp>
      <p:sp>
        <p:nvSpPr>
          <p:cNvPr id="51" name="Text 48"/>
          <p:cNvSpPr txBox="1"/>
          <p:nvPr/>
        </p:nvSpPr>
        <p:spPr>
          <a:xfrm>
            <a:off x="7726680" y="480974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schreef · schreven</a:t>
            </a:r>
            <a:endParaRPr lang="en-US" sz="1400" dirty="0"/>
          </a:p>
        </p:txBody>
      </p:sp>
      <p:sp>
        <p:nvSpPr>
          <p:cNvPr id="52" name="Text 49"/>
          <p:cNvSpPr txBox="1"/>
          <p:nvPr/>
        </p:nvSpPr>
        <p:spPr>
          <a:xfrm>
            <a:off x="9784080" y="480974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geschreven</a:t>
            </a:r>
            <a:endParaRPr lang="en-US" sz="1400" dirty="0"/>
          </a:p>
        </p:txBody>
      </p:sp>
      <p:sp>
        <p:nvSpPr>
          <p:cNvPr id="53" name="Shape 50"/>
          <p:cNvSpPr/>
          <p:nvPr/>
        </p:nvSpPr>
        <p:spPr>
          <a:xfrm>
            <a:off x="6172200" y="5175504"/>
            <a:ext cx="5431536" cy="347472"/>
          </a:xfrm>
          <a:prstGeom prst="roundRect">
            <a:avLst>
              <a:gd name="adj" fmla="val 10526"/>
            </a:avLst>
          </a:prstGeom>
          <a:solidFill>
            <a:srgbClr val="FFFFFF"/>
          </a:solidFill>
          <a:ln w="12700">
            <a:solidFill>
              <a:srgbClr val="FFFFFF">
                <a:alpha val="0"/>
              </a:srgbClr>
            </a:solidFill>
            <a:prstDash val="solid"/>
          </a:ln>
        </p:spPr>
      </p:sp>
      <p:sp>
        <p:nvSpPr>
          <p:cNvPr id="54" name="Text 51"/>
          <p:cNvSpPr txBox="1"/>
          <p:nvPr/>
        </p:nvSpPr>
        <p:spPr>
          <a:xfrm>
            <a:off x="6263640" y="5175504"/>
            <a:ext cx="1325880" cy="347472"/>
          </a:xfrm>
          <a:prstGeom prst="rect">
            <a:avLst/>
          </a:prstGeom>
          <a:noFill/>
          <a:ln/>
        </p:spPr>
        <p:txBody>
          <a:bodyPr wrap="square" lIns="0" tIns="0" rIns="0" bIns="0" rtlCol="0" anchor="ctr"/>
          <a:lstStyle/>
          <a:p>
            <a:pPr algn="l" indent="0" marL="0">
              <a:buNone/>
            </a:pPr>
            <a:r>
              <a:rPr lang="en-US" sz="1400" b="1" dirty="0">
                <a:solidFill>
                  <a:schemeClr val="tx1"/>
                </a:solidFill>
              </a:rPr>
              <a:t>blijven</a:t>
            </a:r>
            <a:endParaRPr lang="en-US" sz="1400" dirty="0"/>
          </a:p>
        </p:txBody>
      </p:sp>
      <p:sp>
        <p:nvSpPr>
          <p:cNvPr id="55" name="Text 52"/>
          <p:cNvSpPr txBox="1"/>
          <p:nvPr/>
        </p:nvSpPr>
        <p:spPr>
          <a:xfrm>
            <a:off x="7726680" y="5175504"/>
            <a:ext cx="1920240" cy="347472"/>
          </a:xfrm>
          <a:prstGeom prst="rect">
            <a:avLst/>
          </a:prstGeom>
          <a:noFill/>
          <a:ln/>
        </p:spPr>
        <p:txBody>
          <a:bodyPr wrap="square" lIns="0" tIns="0" rIns="0" bIns="0" rtlCol="0" anchor="ctr"/>
          <a:lstStyle/>
          <a:p>
            <a:pPr algn="l" indent="0" marL="0">
              <a:buNone/>
            </a:pPr>
            <a:r>
              <a:rPr lang="en-US" sz="1400" i="1" dirty="0">
                <a:solidFill>
                  <a:schemeClr val="tx1"/>
                </a:solidFill>
              </a:rPr>
              <a:t>bleef · bleven</a:t>
            </a:r>
            <a:endParaRPr lang="en-US" sz="1400" dirty="0"/>
          </a:p>
        </p:txBody>
      </p:sp>
      <p:sp>
        <p:nvSpPr>
          <p:cNvPr id="56" name="Text 53"/>
          <p:cNvSpPr txBox="1"/>
          <p:nvPr/>
        </p:nvSpPr>
        <p:spPr>
          <a:xfrm>
            <a:off x="9784080" y="5175504"/>
            <a:ext cx="1810512" cy="347472"/>
          </a:xfrm>
          <a:prstGeom prst="rect">
            <a:avLst/>
          </a:prstGeom>
          <a:noFill/>
          <a:ln/>
        </p:spPr>
        <p:txBody>
          <a:bodyPr wrap="square" lIns="0" tIns="0" rIns="0" bIns="0" rtlCol="0" anchor="ctr"/>
          <a:lstStyle/>
          <a:p>
            <a:pPr algn="l" indent="0" marL="0">
              <a:buNone/>
            </a:pPr>
            <a:r>
              <a:rPr lang="en-US" sz="1400" i="1" dirty="0">
                <a:solidFill>
                  <a:schemeClr val="tx1"/>
                </a:solidFill>
              </a:rPr>
              <a:t>(ben) gebleven</a:t>
            </a:r>
            <a:endParaRPr lang="en-US" sz="1400" dirty="0"/>
          </a:p>
        </p:txBody>
      </p:sp>
      <p:sp>
        <p:nvSpPr>
          <p:cNvPr id="57" name="Text 54"/>
          <p:cNvSpPr txBox="1"/>
          <p:nvPr/>
        </p:nvSpPr>
        <p:spPr>
          <a:xfrm>
            <a:off x="548640" y="5623560"/>
            <a:ext cx="11091672" cy="457200"/>
          </a:xfrm>
          <a:prstGeom prst="rect">
            <a:avLst/>
          </a:prstGeom>
          <a:noFill/>
          <a:ln/>
        </p:spPr>
        <p:txBody>
          <a:bodyPr wrap="square" lIns="0" tIns="0" rIns="0" bIns="0" rtlCol="0" anchor="ctr"/>
          <a:lstStyle/>
          <a:p>
            <a:pPr algn="l" indent="0" marL="0">
              <a:buNone/>
            </a:pPr>
            <a:r>
              <a:rPr lang="en-US" sz="1500" dirty="0">
                <a:solidFill>
                  <a:schemeClr val="tx2"/>
                </a:solidFill>
              </a:rPr>
              <a:t>Pluriel de l’imperfectum : </a:t>
            </a:r>
            <a:r>
              <a:rPr lang="en-US" sz="1500" i="1" dirty="0">
                <a:solidFill>
                  <a:schemeClr val="tx2"/>
                </a:solidFill>
              </a:rPr>
              <a:t>-ten / -den</a:t>
            </a:r>
            <a:r>
              <a:rPr lang="en-US" sz="1500" dirty="0">
                <a:solidFill>
                  <a:schemeClr val="tx2"/>
                </a:solidFill>
              </a:rPr>
              <a:t> (</a:t>
            </a:r>
            <a:r>
              <a:rPr lang="en-US" sz="1500" i="1" dirty="0">
                <a:solidFill>
                  <a:schemeClr val="tx2"/>
                </a:solidFill>
              </a:rPr>
              <a:t>werkten, woonden</a:t>
            </a:r>
            <a:r>
              <a:rPr lang="en-US" sz="1500" dirty="0">
                <a:solidFill>
                  <a:schemeClr val="tx2"/>
                </a:solidFill>
              </a:rPr>
              <a:t>) ou </a:t>
            </a:r>
            <a:r>
              <a:rPr lang="en-US" sz="1500" i="1" dirty="0">
                <a:solidFill>
                  <a:schemeClr val="tx2"/>
                </a:solidFill>
              </a:rPr>
              <a:t>-en</a:t>
            </a:r>
            <a:r>
              <a:rPr lang="en-US" sz="1500" dirty="0">
                <a:solidFill>
                  <a:schemeClr val="tx2"/>
                </a:solidFill>
              </a:rPr>
              <a:t> (</a:t>
            </a:r>
            <a:r>
              <a:rPr lang="en-US" sz="1500" i="1" dirty="0">
                <a:solidFill>
                  <a:schemeClr val="tx2"/>
                </a:solidFill>
              </a:rPr>
              <a:t>kwamen</a:t>
            </a:r>
            <a:r>
              <a:rPr lang="en-US" sz="1500" dirty="0">
                <a:solidFill>
                  <a:schemeClr val="tx2"/>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Une histoire, deux temps</a:t>
            </a:r>
            <a:endParaRPr lang="en-US" sz="3000" dirty="0"/>
          </a:p>
        </p:txBody>
      </p:sp>
      <p:sp>
        <p:nvSpPr>
          <p:cNvPr id="3" name="tag"/>
          <p:cNvSpPr/>
          <p:nvPr/>
        </p:nvSpPr>
        <p:spPr>
          <a:xfrm>
            <a:off x="548640" y="237744"/>
            <a:ext cx="1338682" cy="310896"/>
          </a:xfrm>
          <a:prstGeom prst="roundRect">
            <a:avLst>
              <a:gd name="adj" fmla="val 14706"/>
            </a:avLst>
          </a:prstGeom>
          <a:solidFill>
            <a:schemeClr val="accent4"/>
          </a:solidFill>
          <a:ln/>
        </p:spPr>
        <p:txBody>
          <a:bodyPr wrap="square" lIns="0" tIns="0" rIns="0" bIns="0" rtlCol="0" anchor="ctr"/>
          <a:lstStyle/>
          <a:p>
            <a:pPr algn="ctr" indent="0" marL="0">
              <a:buNone/>
            </a:pPr>
            <a:r>
              <a:rPr lang="en-US" sz="1200" b="1" spc="100" kern="0" dirty="0">
                <a:solidFill>
                  <a:srgbClr val="FFFFFF"/>
                </a:solidFill>
              </a:rPr>
              <a:t>LE PASSÉ</a:t>
            </a:r>
            <a:endParaRPr lang="en-US" sz="1200" dirty="0"/>
          </a:p>
        </p:txBody>
      </p:sp>
      <p:sp>
        <p:nvSpPr>
          <p:cNvPr id="5" name="Shape 2"/>
          <p:cNvSpPr/>
          <p:nvPr/>
        </p:nvSpPr>
        <p:spPr>
          <a:xfrm>
            <a:off x="548640" y="1463040"/>
            <a:ext cx="7772400" cy="3931920"/>
          </a:xfrm>
          <a:prstGeom prst="roundRect">
            <a:avLst>
              <a:gd name="adj" fmla="val 2791"/>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 name="Image 0" descr="camera with flash">    </p:cNvPr>
          <p:cNvPicPr>
            <a:picLocks noChangeAspect="1"/>
          </p:cNvPicPr>
          <p:nvPr/>
        </p:nvPicPr>
        <p:blipFill>
          <a:blip r:embed="rId1"/>
          <a:stretch>
            <a:fillRect/>
          </a:stretch>
        </p:blipFill>
        <p:spPr>
          <a:xfrm>
            <a:off x="731520" y="1655064"/>
            <a:ext cx="457200" cy="457200"/>
          </a:xfrm>
          <a:prstGeom prst="rect">
            <a:avLst/>
          </a:prstGeom>
        </p:spPr>
      </p:pic>
      <p:sp>
        <p:nvSpPr>
          <p:cNvPr id="7" name="Text 3"/>
          <p:cNvSpPr txBox="1"/>
          <p:nvPr/>
        </p:nvSpPr>
        <p:spPr>
          <a:xfrm>
            <a:off x="1325880" y="1600200"/>
            <a:ext cx="6858000" cy="566928"/>
          </a:xfrm>
          <a:prstGeom prst="rect">
            <a:avLst/>
          </a:prstGeom>
          <a:noFill/>
          <a:ln/>
        </p:spPr>
        <p:txBody>
          <a:bodyPr wrap="square" lIns="0" tIns="0" rIns="0" bIns="0" rtlCol="0" anchor="ctr"/>
          <a:lstStyle/>
          <a:p>
            <a:pPr algn="l" indent="0" marL="0">
              <a:buNone/>
            </a:pPr>
            <a:r>
              <a:rPr lang="en-US" sz="1700" b="1" i="1" dirty="0">
                <a:solidFill>
                  <a:srgbClr val="D9700F"/>
                </a:solidFill>
              </a:rPr>
              <a:t>Gisteren</a:t>
            </a:r>
            <a:r>
              <a:rPr lang="en-US" sz="1700" i="1" dirty="0">
                <a:solidFill>
                  <a:schemeClr val="tx1"/>
                </a:solidFill>
              </a:rPr>
              <a:t> </a:t>
            </a:r>
            <a:r>
              <a:rPr lang="en-US" sz="1700" b="1" i="1" dirty="0">
                <a:solidFill>
                  <a:srgbClr val="B83227"/>
                </a:solidFill>
              </a:rPr>
              <a:t>heb</a:t>
            </a:r>
            <a:r>
              <a:rPr lang="en-US" sz="1700" i="1" dirty="0">
                <a:solidFill>
                  <a:schemeClr val="tx1"/>
                </a:solidFill>
              </a:rPr>
              <a:t> ik iets geks </a:t>
            </a:r>
            <a:r>
              <a:rPr lang="en-US" sz="1700" b="1" i="1" dirty="0">
                <a:solidFill>
                  <a:srgbClr val="B83227"/>
                </a:solidFill>
              </a:rPr>
              <a:t>meegemaakt</a:t>
            </a:r>
            <a:r>
              <a:rPr lang="en-US" sz="1700" i="1" dirty="0">
                <a:solidFill>
                  <a:schemeClr val="tx1"/>
                </a:solidFill>
              </a:rPr>
              <a:t>.</a:t>
            </a:r>
            <a:endParaRPr lang="en-US" sz="1800" dirty="0"/>
          </a:p>
        </p:txBody>
      </p:sp>
      <p:pic>
        <p:nvPicPr>
          <p:cNvPr id="8" name="Image 1" descr="clapper board">    </p:cNvPr>
          <p:cNvPicPr>
            <a:picLocks noChangeAspect="1"/>
          </p:cNvPicPr>
          <p:nvPr/>
        </p:nvPicPr>
        <p:blipFill>
          <a:blip r:embed="rId2"/>
          <a:stretch>
            <a:fillRect/>
          </a:stretch>
        </p:blipFill>
        <p:spPr>
          <a:xfrm>
            <a:off x="731520" y="2276856"/>
            <a:ext cx="457200" cy="457200"/>
          </a:xfrm>
          <a:prstGeom prst="rect">
            <a:avLst/>
          </a:prstGeom>
        </p:spPr>
      </p:pic>
      <p:sp>
        <p:nvSpPr>
          <p:cNvPr id="9" name="Text 4"/>
          <p:cNvSpPr txBox="1"/>
          <p:nvPr/>
        </p:nvSpPr>
        <p:spPr>
          <a:xfrm>
            <a:off x="1325880" y="2221992"/>
            <a:ext cx="6858000" cy="566928"/>
          </a:xfrm>
          <a:prstGeom prst="rect">
            <a:avLst/>
          </a:prstGeom>
          <a:noFill/>
          <a:ln/>
        </p:spPr>
        <p:txBody>
          <a:bodyPr wrap="square" lIns="0" tIns="0" rIns="0" bIns="0" rtlCol="0" anchor="ctr"/>
          <a:lstStyle/>
          <a:p>
            <a:pPr algn="l" indent="0" marL="0">
              <a:buNone/>
            </a:pPr>
            <a:r>
              <a:rPr lang="en-US" sz="1700" i="1" dirty="0">
                <a:solidFill>
                  <a:schemeClr val="tx1"/>
                </a:solidFill>
              </a:rPr>
              <a:t>Het </a:t>
            </a:r>
            <a:r>
              <a:rPr lang="en-US" sz="1700" b="1" i="1" dirty="0">
                <a:solidFill>
                  <a:srgbClr val="B83227"/>
                </a:solidFill>
              </a:rPr>
              <a:t>was</a:t>
            </a:r>
            <a:r>
              <a:rPr lang="en-US" sz="1700" i="1" dirty="0">
                <a:solidFill>
                  <a:schemeClr val="tx1"/>
                </a:solidFill>
              </a:rPr>
              <a:t> acht uur en het </a:t>
            </a:r>
            <a:r>
              <a:rPr lang="en-US" sz="1700" b="1" i="1" dirty="0">
                <a:solidFill>
                  <a:srgbClr val="B83227"/>
                </a:solidFill>
              </a:rPr>
              <a:t>regende</a:t>
            </a:r>
            <a:r>
              <a:rPr lang="en-US" sz="1700" i="1" dirty="0">
                <a:solidFill>
                  <a:schemeClr val="tx1"/>
                </a:solidFill>
              </a:rPr>
              <a:t>.</a:t>
            </a:r>
            <a:endParaRPr lang="en-US" sz="1800" dirty="0"/>
          </a:p>
        </p:txBody>
      </p:sp>
      <p:pic>
        <p:nvPicPr>
          <p:cNvPr id="10" name="Image 2" descr="clapper board">    </p:cNvPr>
          <p:cNvPicPr>
            <a:picLocks noChangeAspect="1"/>
          </p:cNvPicPr>
          <p:nvPr/>
        </p:nvPicPr>
        <p:blipFill>
          <a:blip r:embed="rId3"/>
          <a:stretch>
            <a:fillRect/>
          </a:stretch>
        </p:blipFill>
        <p:spPr>
          <a:xfrm>
            <a:off x="731520" y="2898648"/>
            <a:ext cx="457200" cy="457200"/>
          </a:xfrm>
          <a:prstGeom prst="rect">
            <a:avLst/>
          </a:prstGeom>
        </p:spPr>
      </p:pic>
      <p:sp>
        <p:nvSpPr>
          <p:cNvPr id="11" name="Text 5"/>
          <p:cNvSpPr txBox="1"/>
          <p:nvPr/>
        </p:nvSpPr>
        <p:spPr>
          <a:xfrm>
            <a:off x="1325880" y="2843784"/>
            <a:ext cx="6858000" cy="56692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stond</a:t>
            </a:r>
            <a:r>
              <a:rPr lang="en-US" sz="1700" i="1" dirty="0">
                <a:solidFill>
                  <a:schemeClr val="tx1"/>
                </a:solidFill>
              </a:rPr>
              <a:t> op het perron en </a:t>
            </a:r>
            <a:r>
              <a:rPr lang="en-US" sz="1700" b="1" i="1" dirty="0">
                <a:solidFill>
                  <a:srgbClr val="B83227"/>
                </a:solidFill>
              </a:rPr>
              <a:t>wachtte</a:t>
            </a:r>
            <a:r>
              <a:rPr lang="en-US" sz="1700" i="1" dirty="0">
                <a:solidFill>
                  <a:schemeClr val="tx1"/>
                </a:solidFill>
              </a:rPr>
              <a:t> op de trein.</a:t>
            </a:r>
            <a:endParaRPr lang="en-US" sz="1800" dirty="0"/>
          </a:p>
        </p:txBody>
      </p:sp>
      <p:pic>
        <p:nvPicPr>
          <p:cNvPr id="12" name="Image 3" descr="clapper board">    </p:cNvPr>
          <p:cNvPicPr>
            <a:picLocks noChangeAspect="1"/>
          </p:cNvPicPr>
          <p:nvPr/>
        </p:nvPicPr>
        <p:blipFill>
          <a:blip r:embed="rId4"/>
          <a:stretch>
            <a:fillRect/>
          </a:stretch>
        </p:blipFill>
        <p:spPr>
          <a:xfrm>
            <a:off x="731520" y="3520440"/>
            <a:ext cx="457200" cy="457200"/>
          </a:xfrm>
          <a:prstGeom prst="rect">
            <a:avLst/>
          </a:prstGeom>
        </p:spPr>
      </p:pic>
      <p:sp>
        <p:nvSpPr>
          <p:cNvPr id="13" name="Text 6"/>
          <p:cNvSpPr txBox="1"/>
          <p:nvPr/>
        </p:nvSpPr>
        <p:spPr>
          <a:xfrm>
            <a:off x="1325880" y="3465576"/>
            <a:ext cx="6858000" cy="566928"/>
          </a:xfrm>
          <a:prstGeom prst="rect">
            <a:avLst/>
          </a:prstGeom>
          <a:noFill/>
          <a:ln/>
        </p:spPr>
        <p:txBody>
          <a:bodyPr wrap="square" lIns="0" tIns="0" rIns="0" bIns="0" rtlCol="0" anchor="ctr"/>
          <a:lstStyle/>
          <a:p>
            <a:pPr algn="l" indent="0" marL="0">
              <a:buNone/>
            </a:pPr>
            <a:r>
              <a:rPr lang="en-US" sz="1700" b="1" i="1" dirty="0">
                <a:solidFill>
                  <a:srgbClr val="D9700F"/>
                </a:solidFill>
              </a:rPr>
              <a:t>Plots</a:t>
            </a:r>
            <a:r>
              <a:rPr lang="en-US" sz="1700" i="1" dirty="0">
                <a:solidFill>
                  <a:schemeClr val="tx1"/>
                </a:solidFill>
              </a:rPr>
              <a:t> </a:t>
            </a:r>
            <a:r>
              <a:rPr lang="en-US" sz="1700" b="1" i="1" dirty="0">
                <a:solidFill>
                  <a:srgbClr val="B83227"/>
                </a:solidFill>
              </a:rPr>
              <a:t>kwam</a:t>
            </a:r>
            <a:r>
              <a:rPr lang="en-US" sz="1700" i="1" dirty="0">
                <a:solidFill>
                  <a:schemeClr val="tx1"/>
                </a:solidFill>
              </a:rPr>
              <a:t> er een hond naar me toe.</a:t>
            </a:r>
            <a:endParaRPr lang="en-US" sz="1800" dirty="0"/>
          </a:p>
        </p:txBody>
      </p:sp>
      <p:pic>
        <p:nvPicPr>
          <p:cNvPr id="14" name="Image 4" descr="clapper board">    </p:cNvPr>
          <p:cNvPicPr>
            <a:picLocks noChangeAspect="1"/>
          </p:cNvPicPr>
          <p:nvPr/>
        </p:nvPicPr>
        <p:blipFill>
          <a:blip r:embed="rId5"/>
          <a:stretch>
            <a:fillRect/>
          </a:stretch>
        </p:blipFill>
        <p:spPr>
          <a:xfrm>
            <a:off x="731520" y="4142232"/>
            <a:ext cx="457200" cy="457200"/>
          </a:xfrm>
          <a:prstGeom prst="rect">
            <a:avLst/>
          </a:prstGeom>
        </p:spPr>
      </p:pic>
      <p:sp>
        <p:nvSpPr>
          <p:cNvPr id="15" name="Text 7"/>
          <p:cNvSpPr txBox="1"/>
          <p:nvPr/>
        </p:nvSpPr>
        <p:spPr>
          <a:xfrm>
            <a:off x="1325880" y="4087368"/>
            <a:ext cx="6858000" cy="566928"/>
          </a:xfrm>
          <a:prstGeom prst="rect">
            <a:avLst/>
          </a:prstGeom>
          <a:noFill/>
          <a:ln/>
        </p:spPr>
        <p:txBody>
          <a:bodyPr wrap="square" lIns="0" tIns="0" rIns="0" bIns="0" rtlCol="0" anchor="ctr"/>
          <a:lstStyle/>
          <a:p>
            <a:pPr algn="l" indent="0" marL="0">
              <a:buNone/>
            </a:pPr>
            <a:r>
              <a:rPr lang="en-US" sz="1700" i="1" dirty="0">
                <a:solidFill>
                  <a:schemeClr val="tx1"/>
                </a:solidFill>
              </a:rPr>
              <a:t>Hij </a:t>
            </a:r>
            <a:r>
              <a:rPr lang="en-US" sz="1700" b="1" i="1" dirty="0">
                <a:solidFill>
                  <a:srgbClr val="B83227"/>
                </a:solidFill>
              </a:rPr>
              <a:t>had</a:t>
            </a:r>
            <a:r>
              <a:rPr lang="en-US" sz="1700" i="1" dirty="0">
                <a:solidFill>
                  <a:schemeClr val="tx1"/>
                </a:solidFill>
              </a:rPr>
              <a:t> een sandwich in zijn bek: mijn sandwich!</a:t>
            </a:r>
            <a:endParaRPr lang="en-US" sz="1800" dirty="0"/>
          </a:p>
        </p:txBody>
      </p:sp>
      <p:pic>
        <p:nvPicPr>
          <p:cNvPr id="16" name="Image 5" descr="camera with flash">    </p:cNvPr>
          <p:cNvPicPr>
            <a:picLocks noChangeAspect="1"/>
          </p:cNvPicPr>
          <p:nvPr/>
        </p:nvPicPr>
        <p:blipFill>
          <a:blip r:embed="rId6"/>
          <a:stretch>
            <a:fillRect/>
          </a:stretch>
        </p:blipFill>
        <p:spPr>
          <a:xfrm>
            <a:off x="731520" y="4764024"/>
            <a:ext cx="457200" cy="457200"/>
          </a:xfrm>
          <a:prstGeom prst="rect">
            <a:avLst/>
          </a:prstGeom>
        </p:spPr>
      </p:pic>
      <p:sp>
        <p:nvSpPr>
          <p:cNvPr id="17" name="Text 8"/>
          <p:cNvSpPr txBox="1"/>
          <p:nvPr/>
        </p:nvSpPr>
        <p:spPr>
          <a:xfrm>
            <a:off x="1325880" y="4709160"/>
            <a:ext cx="6858000" cy="566928"/>
          </a:xfrm>
          <a:prstGeom prst="rect">
            <a:avLst/>
          </a:prstGeom>
          <a:noFill/>
          <a:ln/>
        </p:spPr>
        <p:txBody>
          <a:bodyPr wrap="square" lIns="0" tIns="0" rIns="0" bIns="0" rtlCol="0" anchor="ctr"/>
          <a:lstStyle/>
          <a:p>
            <a:pPr algn="l" indent="0" marL="0">
              <a:buNone/>
            </a:pPr>
            <a:r>
              <a:rPr lang="en-US" sz="1700" b="1" i="1" dirty="0">
                <a:solidFill>
                  <a:srgbClr val="D9700F"/>
                </a:solidFill>
              </a:rPr>
              <a:t>Uiteindelijk</a:t>
            </a:r>
            <a:r>
              <a:rPr lang="en-US" sz="1700" i="1" dirty="0">
                <a:solidFill>
                  <a:schemeClr val="tx1"/>
                </a:solidFill>
              </a:rPr>
              <a:t> </a:t>
            </a:r>
            <a:r>
              <a:rPr lang="en-US" sz="1700" b="1" i="1" dirty="0">
                <a:solidFill>
                  <a:srgbClr val="B83227"/>
                </a:solidFill>
              </a:rPr>
              <a:t>heb</a:t>
            </a:r>
            <a:r>
              <a:rPr lang="en-US" sz="1700" i="1" dirty="0">
                <a:solidFill>
                  <a:schemeClr val="tx1"/>
                </a:solidFill>
              </a:rPr>
              <a:t> ik de bus </a:t>
            </a:r>
            <a:r>
              <a:rPr lang="en-US" sz="1700" b="1" i="1" dirty="0">
                <a:solidFill>
                  <a:srgbClr val="B83227"/>
                </a:solidFill>
              </a:rPr>
              <a:t>genomen</a:t>
            </a:r>
            <a:r>
              <a:rPr lang="en-US" sz="1700" i="1" dirty="0">
                <a:solidFill>
                  <a:schemeClr val="tx1"/>
                </a:solidFill>
              </a:rPr>
              <a:t>… zonder ontbijt.</a:t>
            </a:r>
            <a:endParaRPr lang="en-US" sz="1800" dirty="0"/>
          </a:p>
        </p:txBody>
      </p:sp>
      <p:sp>
        <p:nvSpPr>
          <p:cNvPr id="18" name="Shape 9"/>
          <p:cNvSpPr/>
          <p:nvPr/>
        </p:nvSpPr>
        <p:spPr>
          <a:xfrm>
            <a:off x="8549640" y="1463040"/>
            <a:ext cx="3090672" cy="3931920"/>
          </a:xfrm>
          <a:prstGeom prst="roundRect">
            <a:avLst>
              <a:gd name="adj" fmla="val 3550"/>
            </a:avLst>
          </a:prstGeom>
          <a:solidFill>
            <a:srgbClr val="FBEAF2"/>
          </a:solidFill>
          <a:ln w="19050">
            <a:solidFill>
              <a:srgbClr val="B4236A"/>
            </a:solidFill>
            <a:prstDash val="solid"/>
          </a:ln>
        </p:spPr>
      </p:sp>
      <p:pic>
        <p:nvPicPr>
          <p:cNvPr id="19" name="Image 6" descr="dog">    </p:cNvPr>
          <p:cNvPicPr>
            <a:picLocks noChangeAspect="1"/>
          </p:cNvPicPr>
          <p:nvPr/>
        </p:nvPicPr>
        <p:blipFill>
          <a:blip r:embed="rId7"/>
          <a:stretch>
            <a:fillRect/>
          </a:stretch>
        </p:blipFill>
        <p:spPr>
          <a:xfrm>
            <a:off x="8823960" y="1600200"/>
            <a:ext cx="1097280" cy="1097280"/>
          </a:xfrm>
          <a:prstGeom prst="rect">
            <a:avLst/>
          </a:prstGeom>
        </p:spPr>
      </p:pic>
      <p:pic>
        <p:nvPicPr>
          <p:cNvPr id="20" name="Image 7" descr="sandwich">    </p:cNvPr>
          <p:cNvPicPr>
            <a:picLocks noChangeAspect="1"/>
          </p:cNvPicPr>
          <p:nvPr/>
        </p:nvPicPr>
        <p:blipFill>
          <a:blip r:embed="rId8"/>
          <a:stretch>
            <a:fillRect/>
          </a:stretch>
        </p:blipFill>
        <p:spPr>
          <a:xfrm>
            <a:off x="10195560" y="1783080"/>
            <a:ext cx="868680" cy="868680"/>
          </a:xfrm>
          <a:prstGeom prst="rect">
            <a:avLst/>
          </a:prstGeom>
        </p:spPr>
      </p:pic>
      <p:pic>
        <p:nvPicPr>
          <p:cNvPr id="21" name="Image 8" descr="camera with flash">    </p:cNvPr>
          <p:cNvPicPr>
            <a:picLocks noChangeAspect="1"/>
          </p:cNvPicPr>
          <p:nvPr/>
        </p:nvPicPr>
        <p:blipFill>
          <a:blip r:embed="rId9"/>
          <a:stretch>
            <a:fillRect/>
          </a:stretch>
        </p:blipFill>
        <p:spPr>
          <a:xfrm>
            <a:off x="8732520" y="2926080"/>
            <a:ext cx="502920" cy="502920"/>
          </a:xfrm>
          <a:prstGeom prst="rect">
            <a:avLst/>
          </a:prstGeom>
        </p:spPr>
      </p:pic>
      <p:sp>
        <p:nvSpPr>
          <p:cNvPr id="22" name="Text 10"/>
          <p:cNvSpPr txBox="1"/>
          <p:nvPr/>
        </p:nvSpPr>
        <p:spPr>
          <a:xfrm>
            <a:off x="9326880" y="2852928"/>
            <a:ext cx="2240280" cy="658368"/>
          </a:xfrm>
          <a:prstGeom prst="rect">
            <a:avLst/>
          </a:prstGeom>
          <a:noFill/>
          <a:ln/>
        </p:spPr>
        <p:txBody>
          <a:bodyPr wrap="square" lIns="0" tIns="0" rIns="0" bIns="0" rtlCol="0" anchor="ctr"/>
          <a:lstStyle/>
          <a:p>
            <a:pPr algn="l" indent="0" marL="0">
              <a:buNone/>
            </a:pPr>
            <a:r>
              <a:rPr lang="en-US" sz="1400" b="1" dirty="0">
                <a:solidFill>
                  <a:schemeClr val="accent4"/>
                </a:solidFill>
              </a:rPr>
              <a:t>ouvrir, conclure</a:t>
            </a:r>
            <a:endParaRPr lang="en-US" sz="1400" dirty="0"/>
          </a:p>
          <a:p>
            <a:pPr algn="l" indent="0" marL="0">
              <a:buNone/>
            </a:pPr>
            <a:r>
              <a:rPr lang="en-US" sz="1400" dirty="0">
                <a:solidFill>
                  <a:schemeClr val="accent4"/>
                </a:solidFill>
              </a:rPr>
              <a:t>perfectum</a:t>
            </a:r>
            <a:endParaRPr lang="en-US" sz="1400" dirty="0"/>
          </a:p>
        </p:txBody>
      </p:sp>
      <p:pic>
        <p:nvPicPr>
          <p:cNvPr id="23" name="Image 9" descr="clapper board">    </p:cNvPr>
          <p:cNvPicPr>
            <a:picLocks noChangeAspect="1"/>
          </p:cNvPicPr>
          <p:nvPr/>
        </p:nvPicPr>
        <p:blipFill>
          <a:blip r:embed="rId10"/>
          <a:stretch>
            <a:fillRect/>
          </a:stretch>
        </p:blipFill>
        <p:spPr>
          <a:xfrm>
            <a:off x="8732520" y="3749040"/>
            <a:ext cx="502920" cy="502920"/>
          </a:xfrm>
          <a:prstGeom prst="rect">
            <a:avLst/>
          </a:prstGeom>
        </p:spPr>
      </p:pic>
      <p:sp>
        <p:nvSpPr>
          <p:cNvPr id="24" name="Text 11"/>
          <p:cNvSpPr txBox="1"/>
          <p:nvPr/>
        </p:nvSpPr>
        <p:spPr>
          <a:xfrm>
            <a:off x="9326880" y="3675888"/>
            <a:ext cx="2240280" cy="658368"/>
          </a:xfrm>
          <a:prstGeom prst="rect">
            <a:avLst/>
          </a:prstGeom>
          <a:noFill/>
          <a:ln/>
        </p:spPr>
        <p:txBody>
          <a:bodyPr wrap="square" lIns="0" tIns="0" rIns="0" bIns="0" rtlCol="0" anchor="ctr"/>
          <a:lstStyle/>
          <a:p>
            <a:pPr algn="l" indent="0" marL="0">
              <a:buNone/>
            </a:pPr>
            <a:r>
              <a:rPr lang="en-US" sz="1400" b="1" dirty="0">
                <a:solidFill>
                  <a:schemeClr val="accent4"/>
                </a:solidFill>
              </a:rPr>
              <a:t>décrire, raconter</a:t>
            </a:r>
            <a:endParaRPr lang="en-US" sz="1400" dirty="0"/>
          </a:p>
          <a:p>
            <a:pPr algn="l" indent="0" marL="0">
              <a:buNone/>
            </a:pPr>
            <a:r>
              <a:rPr lang="en-US" sz="1400" dirty="0">
                <a:solidFill>
                  <a:schemeClr val="accent4"/>
                </a:solidFill>
              </a:rPr>
              <a:t>imperfectum</a:t>
            </a:r>
            <a:endParaRPr lang="en-US" sz="1400" dirty="0"/>
          </a:p>
        </p:txBody>
      </p:sp>
      <p:sp>
        <p:nvSpPr>
          <p:cNvPr id="25" name="Text 12"/>
          <p:cNvSpPr txBox="1"/>
          <p:nvPr/>
        </p:nvSpPr>
        <p:spPr>
          <a:xfrm>
            <a:off x="8686800" y="4663440"/>
            <a:ext cx="2834640" cy="548640"/>
          </a:xfrm>
          <a:prstGeom prst="rect">
            <a:avLst/>
          </a:prstGeom>
          <a:noFill/>
          <a:ln/>
        </p:spPr>
        <p:txBody>
          <a:bodyPr wrap="square" lIns="0" tIns="0" rIns="0" bIns="0" rtlCol="0" anchor="ctr"/>
          <a:lstStyle/>
          <a:p>
            <a:pPr algn="l" indent="0" marL="0">
              <a:buNone/>
            </a:pPr>
            <a:r>
              <a:rPr lang="en-US" sz="1200" i="1" dirty="0">
                <a:solidFill>
                  <a:schemeClr val="accent5"/>
                </a:solidFill>
              </a:rPr>
              <a:t>plots</a:t>
            </a:r>
            <a:r>
              <a:rPr lang="en-US" sz="1200" i="1" dirty="0">
                <a:solidFill>
                  <a:schemeClr val="accent5"/>
                </a:solidFill>
              </a:rPr>
              <a:t> (BE) = </a:t>
            </a:r>
            <a:r>
              <a:rPr lang="en-US" sz="1200" i="1" dirty="0">
                <a:solidFill>
                  <a:schemeClr val="accent5"/>
                </a:solidFill>
              </a:rPr>
              <a:t>plotseling</a:t>
            </a:r>
            <a:endParaRPr lang="en-US" sz="1200" dirty="0"/>
          </a:p>
        </p:txBody>
      </p:sp>
      <p:sp>
        <p:nvSpPr>
          <p:cNvPr id="26" name="Shape 13"/>
          <p:cNvSpPr/>
          <p:nvPr/>
        </p:nvSpPr>
        <p:spPr>
          <a:xfrm>
            <a:off x="548640" y="5577840"/>
            <a:ext cx="11091672" cy="594360"/>
          </a:xfrm>
          <a:prstGeom prst="roundRect">
            <a:avLst>
              <a:gd name="adj" fmla="val 12308"/>
            </a:avLst>
          </a:prstGeom>
          <a:solidFill>
            <a:schemeClr val="tx2"/>
          </a:solidFill>
          <a:ln w="12700">
            <a:solidFill>
              <a:srgbClr val="FFFFFF">
                <a:alpha val="0"/>
              </a:srgbClr>
            </a:solidFill>
            <a:prstDash val="solid"/>
          </a:ln>
        </p:spPr>
      </p:sp>
      <p:sp>
        <p:nvSpPr>
          <p:cNvPr id="27" name="Text 14"/>
          <p:cNvSpPr txBox="1"/>
          <p:nvPr/>
        </p:nvSpPr>
        <p:spPr>
          <a:xfrm>
            <a:off x="822960" y="5577840"/>
            <a:ext cx="10607040" cy="594360"/>
          </a:xfrm>
          <a:prstGeom prst="rect">
            <a:avLst/>
          </a:prstGeom>
          <a:noFill/>
          <a:ln/>
        </p:spPr>
        <p:txBody>
          <a:bodyPr wrap="square" lIns="0" tIns="0" rIns="0" bIns="0" rtlCol="0" anchor="ctr"/>
          <a:lstStyle/>
          <a:p>
            <a:pPr algn="l" indent="0" marL="0">
              <a:buNone/>
            </a:pPr>
            <a:r>
              <a:rPr lang="en-US" sz="1600" dirty="0">
                <a:solidFill>
                  <a:schemeClr val="bg1"/>
                </a:solidFill>
              </a:rPr>
              <a:t>Un récit s’ouvre souvent au </a:t>
            </a:r>
            <a:r>
              <a:rPr lang="en-US" sz="1600" b="1" dirty="0">
                <a:solidFill>
                  <a:schemeClr val="bg1"/>
                </a:solidFill>
              </a:rPr>
              <a:t>perfectum</a:t>
            </a:r>
            <a:r>
              <a:rPr lang="en-US" sz="1600" dirty="0">
                <a:solidFill>
                  <a:schemeClr val="bg1"/>
                </a:solidFill>
              </a:rPr>
              <a:t>, continue à l’</a:t>
            </a:r>
            <a:r>
              <a:rPr lang="en-US" sz="1600" b="1" dirty="0">
                <a:solidFill>
                  <a:schemeClr val="bg1"/>
                </a:solidFill>
              </a:rPr>
              <a:t>imperfectum</a:t>
            </a:r>
            <a:r>
              <a:rPr lang="en-US" sz="1600" dirty="0">
                <a:solidFill>
                  <a:schemeClr val="bg1"/>
                </a:solidFill>
              </a:rPr>
              <a:t> et se conclut au </a:t>
            </a:r>
            <a:r>
              <a:rPr lang="en-US" sz="1600" b="1" dirty="0">
                <a:solidFill>
                  <a:schemeClr val="bg1"/>
                </a:solidFill>
              </a:rPr>
              <a:t>perfectum</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passé du passé : had / was + participe</a:t>
            </a:r>
            <a:endParaRPr lang="en-US" sz="3000" dirty="0"/>
          </a:p>
        </p:txBody>
      </p:sp>
      <p:sp>
        <p:nvSpPr>
          <p:cNvPr id="3" name="tag"/>
          <p:cNvSpPr/>
          <p:nvPr/>
        </p:nvSpPr>
        <p:spPr>
          <a:xfrm>
            <a:off x="548640" y="237744"/>
            <a:ext cx="1338682" cy="310896"/>
          </a:xfrm>
          <a:prstGeom prst="roundRect">
            <a:avLst>
              <a:gd name="adj" fmla="val 14706"/>
            </a:avLst>
          </a:prstGeom>
          <a:solidFill>
            <a:srgbClr val="7A1748"/>
          </a:solidFill>
          <a:ln/>
        </p:spPr>
        <p:txBody>
          <a:bodyPr wrap="square" lIns="0" tIns="0" rIns="0" bIns="0" rtlCol="0" anchor="ctr"/>
          <a:lstStyle/>
          <a:p>
            <a:pPr algn="ctr" indent="0" marL="0">
              <a:buNone/>
            </a:pPr>
            <a:r>
              <a:rPr lang="en-US" sz="1200" b="1" spc="100" kern="0" dirty="0">
                <a:solidFill>
                  <a:srgbClr val="FFFFFF"/>
                </a:solidFill>
              </a:rPr>
              <a:t>LE PASSÉ</a:t>
            </a:r>
            <a:endParaRPr lang="en-US" sz="1200" dirty="0"/>
          </a:p>
        </p:txBody>
      </p:sp>
      <p:sp>
        <p:nvSpPr>
          <p:cNvPr id="5" name="Shape 2"/>
          <p:cNvSpPr/>
          <p:nvPr/>
        </p:nvSpPr>
        <p:spPr>
          <a:xfrm>
            <a:off x="1097280" y="2606040"/>
            <a:ext cx="3474720" cy="182880"/>
          </a:xfrm>
          <a:prstGeom prst="rect">
            <a:avLst/>
          </a:prstGeom>
          <a:solidFill>
            <a:srgbClr val="7A1748"/>
          </a:solidFill>
          <a:ln w="12700">
            <a:solidFill>
              <a:srgbClr val="FFFFFF">
                <a:alpha val="0"/>
              </a:srgbClr>
            </a:solidFill>
            <a:prstDash val="solid"/>
          </a:ln>
        </p:spPr>
      </p:sp>
      <p:sp>
        <p:nvSpPr>
          <p:cNvPr id="6" name="Shape 3"/>
          <p:cNvSpPr/>
          <p:nvPr/>
        </p:nvSpPr>
        <p:spPr>
          <a:xfrm>
            <a:off x="4937760" y="2606040"/>
            <a:ext cx="4937760" cy="182880"/>
          </a:xfrm>
          <a:prstGeom prst="rect">
            <a:avLst/>
          </a:prstGeom>
          <a:solidFill>
            <a:schemeClr val="accent4"/>
          </a:solidFill>
          <a:ln w="12700">
            <a:solidFill>
              <a:srgbClr val="FFFFFF">
                <a:alpha val="0"/>
              </a:srgbClr>
            </a:solidFill>
            <a:prstDash val="solid"/>
          </a:ln>
        </p:spPr>
      </p:sp>
      <p:sp>
        <p:nvSpPr>
          <p:cNvPr id="7" name="Shape 4"/>
          <p:cNvSpPr/>
          <p:nvPr/>
        </p:nvSpPr>
        <p:spPr>
          <a:xfrm>
            <a:off x="731520" y="2697480"/>
            <a:ext cx="10927080" cy="914"/>
          </a:xfrm>
          <a:prstGeom prst="line">
            <a:avLst/>
          </a:prstGeom>
          <a:noFill/>
          <a:ln w="31750">
            <a:solidFill>
              <a:srgbClr val="17375E"/>
            </a:solidFill>
            <a:prstDash val="solid"/>
            <a:tailEnd type="triangle"/>
          </a:ln>
        </p:spPr>
      </p:sp>
      <p:sp>
        <p:nvSpPr>
          <p:cNvPr id="8" name="Shape 5"/>
          <p:cNvSpPr/>
          <p:nvPr/>
        </p:nvSpPr>
        <p:spPr>
          <a:xfrm>
            <a:off x="10561320" y="2386584"/>
            <a:ext cx="91440" cy="621792"/>
          </a:xfrm>
          <a:prstGeom prst="rect">
            <a:avLst/>
          </a:prstGeom>
          <a:solidFill>
            <a:schemeClr val="accent6"/>
          </a:solidFill>
          <a:ln w="12700">
            <a:solidFill>
              <a:srgbClr val="FFFFFF">
                <a:alpha val="0"/>
              </a:srgbClr>
            </a:solidFill>
            <a:prstDash val="solid"/>
          </a:ln>
        </p:spPr>
      </p:sp>
      <p:sp>
        <p:nvSpPr>
          <p:cNvPr id="9" name="Text 6"/>
          <p:cNvSpPr txBox="1"/>
          <p:nvPr/>
        </p:nvSpPr>
        <p:spPr>
          <a:xfrm>
            <a:off x="10149840" y="2020824"/>
            <a:ext cx="914400" cy="329184"/>
          </a:xfrm>
          <a:prstGeom prst="rect">
            <a:avLst/>
          </a:prstGeom>
          <a:noFill/>
          <a:ln/>
        </p:spPr>
        <p:txBody>
          <a:bodyPr wrap="square" lIns="0" tIns="0" rIns="0" bIns="0" rtlCol="0" anchor="ctr"/>
          <a:lstStyle/>
          <a:p>
            <a:pPr algn="ctr" indent="0" marL="0">
              <a:buNone/>
            </a:pPr>
            <a:r>
              <a:rPr lang="en-US" sz="1500" b="1" dirty="0">
                <a:solidFill>
                  <a:schemeClr val="accent6"/>
                </a:solidFill>
              </a:rPr>
              <a:t>NU</a:t>
            </a:r>
            <a:endParaRPr lang="en-US" sz="1500" dirty="0"/>
          </a:p>
        </p:txBody>
      </p:sp>
      <p:sp>
        <p:nvSpPr>
          <p:cNvPr id="10" name="Shape 7"/>
          <p:cNvSpPr/>
          <p:nvPr/>
        </p:nvSpPr>
        <p:spPr>
          <a:xfrm>
            <a:off x="2743200" y="2496312"/>
            <a:ext cx="402336" cy="402336"/>
          </a:xfrm>
          <a:prstGeom prst="ellipse">
            <a:avLst/>
          </a:prstGeom>
          <a:solidFill>
            <a:srgbClr val="7A1748"/>
          </a:solidFill>
          <a:ln w="19050">
            <a:solidFill>
              <a:srgbClr val="FFFFFF"/>
            </a:solidFill>
            <a:prstDash val="solid"/>
          </a:ln>
        </p:spPr>
      </p:sp>
      <p:sp>
        <p:nvSpPr>
          <p:cNvPr id="11" name="Text 8"/>
          <p:cNvSpPr txBox="1"/>
          <p:nvPr/>
        </p:nvSpPr>
        <p:spPr>
          <a:xfrm>
            <a:off x="2743200" y="24963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Shape 9"/>
          <p:cNvSpPr/>
          <p:nvPr/>
        </p:nvSpPr>
        <p:spPr>
          <a:xfrm>
            <a:off x="6949440" y="2496312"/>
            <a:ext cx="402336" cy="402336"/>
          </a:xfrm>
          <a:prstGeom prst="ellipse">
            <a:avLst/>
          </a:prstGeom>
          <a:solidFill>
            <a:schemeClr val="accent4"/>
          </a:solidFill>
          <a:ln w="19050">
            <a:solidFill>
              <a:srgbClr val="FFFFFF"/>
            </a:solidFill>
            <a:prstDash val="solid"/>
          </a:ln>
        </p:spPr>
      </p:sp>
      <p:sp>
        <p:nvSpPr>
          <p:cNvPr id="13" name="Text 10"/>
          <p:cNvSpPr txBox="1"/>
          <p:nvPr/>
        </p:nvSpPr>
        <p:spPr>
          <a:xfrm>
            <a:off x="6949440" y="24963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1463040" y="1417320"/>
            <a:ext cx="3017520" cy="777240"/>
          </a:xfrm>
          <a:prstGeom prst="rect">
            <a:avLst/>
          </a:prstGeom>
          <a:noFill/>
          <a:ln/>
        </p:spPr>
        <p:txBody>
          <a:bodyPr wrap="square" lIns="0" tIns="0" rIns="0" bIns="0" rtlCol="0" anchor="ctr"/>
          <a:lstStyle/>
          <a:p>
            <a:pPr algn="ctr" indent="0" marL="0">
              <a:buNone/>
            </a:pPr>
            <a:r>
              <a:rPr lang="en-US" sz="1500" dirty="0">
                <a:solidFill>
                  <a:srgbClr val="7A1748"/>
                </a:solidFill>
              </a:rPr>
              <a:t>de vergadering begint</a:t>
            </a:r>
            <a:endParaRPr lang="en-US" sz="1500" dirty="0"/>
          </a:p>
          <a:p>
            <a:pPr algn="ctr" indent="0" marL="0">
              <a:buNone/>
            </a:pPr>
            <a:r>
              <a:rPr lang="en-US" sz="1500" b="1" i="1" dirty="0">
                <a:solidFill>
                  <a:srgbClr val="7A1748"/>
                </a:solidFill>
              </a:rPr>
              <a:t>was begonnen</a:t>
            </a:r>
            <a:endParaRPr lang="en-US" sz="1500" dirty="0"/>
          </a:p>
        </p:txBody>
      </p:sp>
      <p:sp>
        <p:nvSpPr>
          <p:cNvPr id="15" name="Text 12"/>
          <p:cNvSpPr txBox="1"/>
          <p:nvPr/>
        </p:nvSpPr>
        <p:spPr>
          <a:xfrm>
            <a:off x="5623560" y="1417320"/>
            <a:ext cx="3017520" cy="777240"/>
          </a:xfrm>
          <a:prstGeom prst="rect">
            <a:avLst/>
          </a:prstGeom>
          <a:noFill/>
          <a:ln/>
        </p:spPr>
        <p:txBody>
          <a:bodyPr wrap="square" lIns="0" tIns="0" rIns="0" bIns="0" rtlCol="0" anchor="ctr"/>
          <a:lstStyle/>
          <a:p>
            <a:pPr algn="ctr" indent="0" marL="0">
              <a:buNone/>
            </a:pPr>
            <a:r>
              <a:rPr lang="en-US" sz="1500" dirty="0">
                <a:solidFill>
                  <a:schemeClr val="accent4"/>
                </a:solidFill>
              </a:rPr>
              <a:t>ik kom aan</a:t>
            </a:r>
            <a:endParaRPr lang="en-US" sz="1500" dirty="0"/>
          </a:p>
          <a:p>
            <a:pPr algn="ctr" indent="0" marL="0">
              <a:buNone/>
            </a:pPr>
            <a:r>
              <a:rPr lang="en-US" sz="1500" b="1" i="1" dirty="0">
                <a:solidFill>
                  <a:schemeClr val="accent4"/>
                </a:solidFill>
              </a:rPr>
              <a:t>kwam aan</a:t>
            </a:r>
            <a:endParaRPr lang="en-US" sz="1500" dirty="0"/>
          </a:p>
        </p:txBody>
      </p:sp>
      <p:sp>
        <p:nvSpPr>
          <p:cNvPr id="16" name="Shape 13"/>
          <p:cNvSpPr/>
          <p:nvPr/>
        </p:nvSpPr>
        <p:spPr>
          <a:xfrm>
            <a:off x="3108960" y="2560320"/>
            <a:ext cx="3886200" cy="822960"/>
          </a:xfrm>
          <a:prstGeom prst="arc">
            <a:avLst>
              <a:gd name="adj1" fmla="val 0"/>
              <a:gd name="adj2" fmla="val 10800000"/>
            </a:avLst>
          </a:prstGeom>
          <a:solidFill>
            <a:srgbClr val="FFFFFF">
              <a:alpha val="0"/>
            </a:srgbClr>
          </a:solidFill>
          <a:ln w="25400">
            <a:solidFill>
              <a:srgbClr val="7A1748"/>
            </a:solidFill>
            <a:prstDash val="solid"/>
            <a:headEnd type="triangle"/>
          </a:ln>
        </p:spPr>
      </p:sp>
      <p:sp>
        <p:nvSpPr>
          <p:cNvPr id="17" name="Text 14"/>
          <p:cNvSpPr txBox="1"/>
          <p:nvPr/>
        </p:nvSpPr>
        <p:spPr>
          <a:xfrm>
            <a:off x="4023360" y="2953512"/>
            <a:ext cx="2103120" cy="274320"/>
          </a:xfrm>
          <a:prstGeom prst="rect">
            <a:avLst/>
          </a:prstGeom>
          <a:noFill/>
          <a:ln/>
        </p:spPr>
        <p:txBody>
          <a:bodyPr wrap="square" lIns="0" tIns="0" rIns="0" bIns="0" rtlCol="0" anchor="t"/>
          <a:lstStyle/>
          <a:p>
            <a:pPr algn="ctr" indent="0" marL="0">
              <a:buNone/>
            </a:pPr>
            <a:r>
              <a:rPr lang="en-US" sz="1300" b="1" i="1" dirty="0">
                <a:solidFill>
                  <a:srgbClr val="7A1748"/>
                </a:solidFill>
              </a:rPr>
              <a:t>déjà fini avant</a:t>
            </a:r>
            <a:endParaRPr lang="en-US" sz="1300" dirty="0"/>
          </a:p>
        </p:txBody>
      </p:sp>
      <p:sp>
        <p:nvSpPr>
          <p:cNvPr id="18" name="Shape 15"/>
          <p:cNvSpPr/>
          <p:nvPr/>
        </p:nvSpPr>
        <p:spPr>
          <a:xfrm>
            <a:off x="548640" y="3611880"/>
            <a:ext cx="7223760" cy="502920"/>
          </a:xfrm>
          <a:prstGeom prst="roundRect">
            <a:avLst>
              <a:gd name="adj" fmla="val 14545"/>
            </a:avLst>
          </a:prstGeom>
          <a:solidFill>
            <a:schemeClr val="bg2"/>
          </a:solidFill>
          <a:ln w="12700">
            <a:solidFill>
              <a:srgbClr val="FFFFFF">
                <a:alpha val="0"/>
              </a:srgbClr>
            </a:solidFill>
            <a:prstDash val="solid"/>
          </a:ln>
        </p:spPr>
      </p:sp>
      <p:sp>
        <p:nvSpPr>
          <p:cNvPr id="19" name="Text 16"/>
          <p:cNvSpPr txBox="1"/>
          <p:nvPr/>
        </p:nvSpPr>
        <p:spPr>
          <a:xfrm>
            <a:off x="731520" y="3611880"/>
            <a:ext cx="6949440" cy="502920"/>
          </a:xfrm>
          <a:prstGeom prst="rect">
            <a:avLst/>
          </a:prstGeom>
          <a:noFill/>
          <a:ln/>
        </p:spPr>
        <p:txBody>
          <a:bodyPr wrap="square" lIns="0" tIns="0" rIns="0" bIns="0" rtlCol="0" anchor="ctr"/>
          <a:lstStyle/>
          <a:p>
            <a:pPr algn="l" indent="0" marL="0">
              <a:buNone/>
            </a:pPr>
            <a:r>
              <a:rPr lang="en-US" sz="1700" b="1" i="1" dirty="0">
                <a:solidFill>
                  <a:srgbClr val="D9700F"/>
                </a:solidFill>
              </a:rPr>
              <a:t>Toen</a:t>
            </a:r>
            <a:r>
              <a:rPr lang="en-US" sz="1700" i="1" dirty="0">
                <a:solidFill>
                  <a:schemeClr val="tx1"/>
                </a:solidFill>
              </a:rPr>
              <a:t> ik </a:t>
            </a:r>
            <a:r>
              <a:rPr lang="en-US" sz="1700" b="1" i="1" dirty="0">
                <a:solidFill>
                  <a:srgbClr val="B83227"/>
                </a:solidFill>
              </a:rPr>
              <a:t>aankwam</a:t>
            </a:r>
            <a:r>
              <a:rPr lang="en-US" sz="1700" i="1" dirty="0">
                <a:solidFill>
                  <a:schemeClr val="tx1"/>
                </a:solidFill>
              </a:rPr>
              <a:t>, </a:t>
            </a:r>
            <a:r>
              <a:rPr lang="en-US" sz="1700" b="1" i="1" dirty="0">
                <a:solidFill>
                  <a:srgbClr val="B83227"/>
                </a:solidFill>
              </a:rPr>
              <a:t>was</a:t>
            </a:r>
            <a:r>
              <a:rPr lang="en-US" sz="1700" i="1" dirty="0">
                <a:solidFill>
                  <a:schemeClr val="tx1"/>
                </a:solidFill>
              </a:rPr>
              <a:t> de vergadering </a:t>
            </a:r>
            <a:r>
              <a:rPr lang="en-US" sz="1700" b="1" i="1" dirty="0">
                <a:solidFill>
                  <a:srgbClr val="D9700F"/>
                </a:solidFill>
              </a:rPr>
              <a:t>al</a:t>
            </a:r>
            <a:r>
              <a:rPr lang="en-US" sz="1700" i="1" dirty="0">
                <a:solidFill>
                  <a:schemeClr val="tx1"/>
                </a:solidFill>
              </a:rPr>
              <a:t> </a:t>
            </a:r>
            <a:r>
              <a:rPr lang="en-US" sz="1700" b="1" i="1" dirty="0">
                <a:solidFill>
                  <a:srgbClr val="B83227"/>
                </a:solidFill>
              </a:rPr>
              <a:t>begonnen</a:t>
            </a:r>
            <a:r>
              <a:rPr lang="en-US" sz="1700" i="1" dirty="0">
                <a:solidFill>
                  <a:schemeClr val="tx1"/>
                </a:solidFill>
              </a:rPr>
              <a:t>.</a:t>
            </a:r>
            <a:endParaRPr lang="en-US" sz="1800" dirty="0"/>
          </a:p>
        </p:txBody>
      </p:sp>
      <p:sp>
        <p:nvSpPr>
          <p:cNvPr id="20" name="Shape 17"/>
          <p:cNvSpPr/>
          <p:nvPr/>
        </p:nvSpPr>
        <p:spPr>
          <a:xfrm>
            <a:off x="548640" y="4178808"/>
            <a:ext cx="7223760" cy="502920"/>
          </a:xfrm>
          <a:prstGeom prst="roundRect">
            <a:avLst>
              <a:gd name="adj" fmla="val 14545"/>
            </a:avLst>
          </a:prstGeom>
          <a:solidFill>
            <a:srgbClr val="FFFFFF"/>
          </a:solidFill>
          <a:ln w="12700">
            <a:solidFill>
              <a:srgbClr val="FFFFFF">
                <a:alpha val="0"/>
              </a:srgbClr>
            </a:solidFill>
            <a:prstDash val="solid"/>
          </a:ln>
        </p:spPr>
      </p:sp>
      <p:sp>
        <p:nvSpPr>
          <p:cNvPr id="21" name="Text 18"/>
          <p:cNvSpPr txBox="1"/>
          <p:nvPr/>
        </p:nvSpPr>
        <p:spPr>
          <a:xfrm>
            <a:off x="731520" y="4178808"/>
            <a:ext cx="6949440" cy="502920"/>
          </a:xfrm>
          <a:prstGeom prst="rect">
            <a:avLst/>
          </a:prstGeom>
          <a:noFill/>
          <a:ln/>
        </p:spPr>
        <p:txBody>
          <a:bodyPr wrap="square" lIns="0" tIns="0" rIns="0" bIns="0" rtlCol="0" anchor="ctr"/>
          <a:lstStyle/>
          <a:p>
            <a:pPr algn="l" indent="0" marL="0">
              <a:buNone/>
            </a:pPr>
            <a:r>
              <a:rPr lang="en-US" sz="1700" b="1" i="1" dirty="0">
                <a:solidFill>
                  <a:srgbClr val="D9700F"/>
                </a:solidFill>
              </a:rPr>
              <a:t>Nadat</a:t>
            </a:r>
            <a:r>
              <a:rPr lang="en-US" sz="1700" i="1" dirty="0">
                <a:solidFill>
                  <a:schemeClr val="tx1"/>
                </a:solidFill>
              </a:rPr>
              <a:t> hij </a:t>
            </a:r>
            <a:r>
              <a:rPr lang="en-US" sz="1700" b="1" i="1" dirty="0">
                <a:solidFill>
                  <a:srgbClr val="B83227"/>
                </a:solidFill>
              </a:rPr>
              <a:t>gegeten had</a:t>
            </a:r>
            <a:r>
              <a:rPr lang="en-US" sz="1700" i="1" dirty="0">
                <a:solidFill>
                  <a:schemeClr val="tx1"/>
                </a:solidFill>
              </a:rPr>
              <a:t>, </a:t>
            </a:r>
            <a:r>
              <a:rPr lang="en-US" sz="1700" b="1" i="1" dirty="0">
                <a:solidFill>
                  <a:srgbClr val="B83227"/>
                </a:solidFill>
              </a:rPr>
              <a:t>ging</a:t>
            </a:r>
            <a:r>
              <a:rPr lang="en-US" sz="1700" i="1" dirty="0">
                <a:solidFill>
                  <a:schemeClr val="tx1"/>
                </a:solidFill>
              </a:rPr>
              <a:t> hij slapen.</a:t>
            </a:r>
            <a:endParaRPr lang="en-US" sz="1800" dirty="0"/>
          </a:p>
        </p:txBody>
      </p:sp>
      <p:sp>
        <p:nvSpPr>
          <p:cNvPr id="22" name="Shape 19"/>
          <p:cNvSpPr/>
          <p:nvPr/>
        </p:nvSpPr>
        <p:spPr>
          <a:xfrm>
            <a:off x="548640" y="4745736"/>
            <a:ext cx="7223760" cy="502920"/>
          </a:xfrm>
          <a:prstGeom prst="roundRect">
            <a:avLst>
              <a:gd name="adj" fmla="val 14545"/>
            </a:avLst>
          </a:prstGeom>
          <a:solidFill>
            <a:schemeClr val="bg2"/>
          </a:solidFill>
          <a:ln w="12700">
            <a:solidFill>
              <a:srgbClr val="FFFFFF">
                <a:alpha val="0"/>
              </a:srgbClr>
            </a:solidFill>
            <a:prstDash val="solid"/>
          </a:ln>
        </p:spPr>
      </p:sp>
      <p:sp>
        <p:nvSpPr>
          <p:cNvPr id="23" name="Text 20"/>
          <p:cNvSpPr txBox="1"/>
          <p:nvPr/>
        </p:nvSpPr>
        <p:spPr>
          <a:xfrm>
            <a:off x="731520" y="4745736"/>
            <a:ext cx="6949440" cy="502920"/>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had</a:t>
            </a:r>
            <a:r>
              <a:rPr lang="en-US" sz="1700" i="1" dirty="0">
                <a:solidFill>
                  <a:schemeClr val="tx1"/>
                </a:solidFill>
              </a:rPr>
              <a:t> het rapport </a:t>
            </a:r>
            <a:r>
              <a:rPr lang="en-US" sz="1700" b="1" i="1" dirty="0">
                <a:solidFill>
                  <a:srgbClr val="D9700F"/>
                </a:solidFill>
              </a:rPr>
              <a:t>al</a:t>
            </a:r>
            <a:r>
              <a:rPr lang="en-US" sz="1700" i="1" dirty="0">
                <a:solidFill>
                  <a:schemeClr val="tx1"/>
                </a:solidFill>
              </a:rPr>
              <a:t> </a:t>
            </a:r>
            <a:r>
              <a:rPr lang="en-US" sz="1700" b="1" i="1" dirty="0">
                <a:solidFill>
                  <a:srgbClr val="B83227"/>
                </a:solidFill>
              </a:rPr>
              <a:t>gelezen</a:t>
            </a:r>
            <a:r>
              <a:rPr lang="en-US" sz="1700" i="1" dirty="0">
                <a:solidFill>
                  <a:schemeClr val="tx1"/>
                </a:solidFill>
              </a:rPr>
              <a:t> voor de vergadering.</a:t>
            </a:r>
            <a:endParaRPr lang="en-US" sz="1800" dirty="0"/>
          </a:p>
        </p:txBody>
      </p:sp>
      <p:sp>
        <p:nvSpPr>
          <p:cNvPr id="24" name="Shape 21"/>
          <p:cNvSpPr/>
          <p:nvPr/>
        </p:nvSpPr>
        <p:spPr>
          <a:xfrm>
            <a:off x="8001000" y="3611880"/>
            <a:ext cx="3639312" cy="1645920"/>
          </a:xfrm>
          <a:prstGeom prst="roundRect">
            <a:avLst>
              <a:gd name="adj" fmla="val 6667"/>
            </a:avLst>
          </a:prstGeom>
          <a:solidFill>
            <a:srgbClr val="F5E6EE"/>
          </a:solidFill>
          <a:ln w="19050">
            <a:solidFill>
              <a:srgbClr val="7A1748"/>
            </a:solidFill>
            <a:prstDash val="solid"/>
          </a:ln>
        </p:spPr>
      </p:sp>
      <p:sp>
        <p:nvSpPr>
          <p:cNvPr id="25" name="Text 22"/>
          <p:cNvSpPr txBox="1"/>
          <p:nvPr/>
        </p:nvSpPr>
        <p:spPr>
          <a:xfrm>
            <a:off x="8138160" y="3657600"/>
            <a:ext cx="3383280" cy="1554480"/>
          </a:xfrm>
          <a:prstGeom prst="rect">
            <a:avLst/>
          </a:prstGeom>
          <a:noFill/>
          <a:ln/>
        </p:spPr>
        <p:txBody>
          <a:bodyPr wrap="square" lIns="0" tIns="0" rIns="0" bIns="0" rtlCol="0" anchor="ctr"/>
          <a:lstStyle/>
          <a:p>
            <a:pPr algn="l" indent="0" marL="0">
              <a:spcAft>
                <a:spcPts val="200"/>
              </a:spcAft>
              <a:buNone/>
            </a:pPr>
            <a:r>
              <a:rPr lang="en-US" sz="1400" b="1" dirty="0">
                <a:solidFill>
                  <a:schemeClr val="tx1"/>
                </a:solidFill>
              </a:rPr>
              <a:t>had / was + participe</a:t>
            </a:r>
            <a:endParaRPr lang="en-US" sz="1400" dirty="0"/>
          </a:p>
          <a:p>
            <a:pPr algn="l" indent="0" marL="0">
              <a:spcAft>
                <a:spcPts val="200"/>
              </a:spcAft>
              <a:buNone/>
            </a:pPr>
            <a:r>
              <a:rPr lang="en-US" sz="1400" dirty="0">
                <a:solidFill>
                  <a:schemeClr val="tx1"/>
                </a:solidFill>
              </a:rPr>
              <a:t>même choix </a:t>
            </a:r>
            <a:r>
              <a:rPr lang="en-US" sz="1400" i="1" dirty="0">
                <a:solidFill>
                  <a:schemeClr val="tx1"/>
                </a:solidFill>
              </a:rPr>
              <a:t>hebben / zijn</a:t>
            </a:r>
            <a:r>
              <a:rPr lang="en-US" sz="1400" dirty="0">
                <a:solidFill>
                  <a:schemeClr val="tx1"/>
                </a:solidFill>
              </a:rPr>
              <a:t> qu’au perfectum</a:t>
            </a:r>
            <a:endParaRPr lang="en-US" sz="1400" dirty="0"/>
          </a:p>
          <a:p>
            <a:pPr algn="l" indent="0" marL="0">
              <a:spcAft>
                <a:spcPts val="200"/>
              </a:spcAft>
              <a:buNone/>
            </a:pPr>
            <a:endParaRPr lang="en-US" sz="1400" dirty="0"/>
          </a:p>
          <a:p>
            <a:pPr algn="l" indent="0" marL="0">
              <a:spcAft>
                <a:spcPts val="200"/>
              </a:spcAft>
              <a:buNone/>
            </a:pPr>
            <a:r>
              <a:rPr lang="en-US" sz="1400" dirty="0">
                <a:solidFill>
                  <a:schemeClr val="tx1"/>
                </a:solidFill>
              </a:rPr>
              <a:t>FR : le plus-que-parfait (« j’avais lu ») → </a:t>
            </a:r>
            <a:r>
              <a:rPr lang="en-US" sz="1400" b="1" dirty="0">
                <a:solidFill>
                  <a:schemeClr val="tx1"/>
                </a:solidFill>
              </a:rPr>
              <a:t>1 = 1 !</a:t>
            </a:r>
            <a:endParaRPr lang="en-US" sz="1400" dirty="0"/>
          </a:p>
        </p:txBody>
      </p:sp>
      <p:sp>
        <p:nvSpPr>
          <p:cNvPr id="26" name="Shape 23"/>
          <p:cNvSpPr/>
          <p:nvPr/>
        </p:nvSpPr>
        <p:spPr>
          <a:xfrm>
            <a:off x="548640" y="5577840"/>
            <a:ext cx="11091672" cy="594360"/>
          </a:xfrm>
          <a:prstGeom prst="roundRect">
            <a:avLst>
              <a:gd name="adj" fmla="val 12308"/>
            </a:avLst>
          </a:prstGeom>
          <a:solidFill>
            <a:schemeClr val="tx2"/>
          </a:solidFill>
          <a:ln w="12700">
            <a:solidFill>
              <a:srgbClr val="FFFFFF">
                <a:alpha val="0"/>
              </a:srgbClr>
            </a:solidFill>
            <a:prstDash val="solid"/>
          </a:ln>
        </p:spPr>
      </p:sp>
      <p:sp>
        <p:nvSpPr>
          <p:cNvPr id="27" name="Text 24"/>
          <p:cNvSpPr txBox="1"/>
          <p:nvPr/>
        </p:nvSpPr>
        <p:spPr>
          <a:xfrm>
            <a:off x="822960" y="5577840"/>
            <a:ext cx="10607040" cy="594360"/>
          </a:xfrm>
          <a:prstGeom prst="rect">
            <a:avLst/>
          </a:prstGeom>
          <a:noFill/>
          <a:ln/>
        </p:spPr>
        <p:txBody>
          <a:bodyPr wrap="square" lIns="0" tIns="0" rIns="0" bIns="0" rtlCol="0" anchor="ctr"/>
          <a:lstStyle/>
          <a:p>
            <a:pPr algn="l" indent="0" marL="0">
              <a:buNone/>
            </a:pPr>
            <a:r>
              <a:rPr lang="en-US" sz="1600" dirty="0">
                <a:solidFill>
                  <a:schemeClr val="bg1"/>
                </a:solidFill>
              </a:rPr>
              <a:t>Deux actions passées : la plus ancienne au </a:t>
            </a:r>
            <a:r>
              <a:rPr lang="en-US" sz="1600" b="1" dirty="0">
                <a:solidFill>
                  <a:schemeClr val="bg1"/>
                </a:solidFill>
              </a:rPr>
              <a:t>plusquamperfectum</a:t>
            </a:r>
            <a:r>
              <a:rPr lang="en-US" sz="1600" dirty="0">
                <a:solidFill>
                  <a:schemeClr val="bg1"/>
                </a:solidFill>
              </a:rPr>
              <a:t>, l’autre au perfectum ou à l’imperfectum.</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futur : présent, gaan ou zullen ?</a:t>
            </a:r>
            <a:endParaRPr lang="en-US" sz="3000" dirty="0"/>
          </a:p>
        </p:txBody>
      </p:sp>
      <p:sp>
        <p:nvSpPr>
          <p:cNvPr id="3" name="tag"/>
          <p:cNvSpPr/>
          <p:nvPr/>
        </p:nvSpPr>
        <p:spPr>
          <a:xfrm>
            <a:off x="548640" y="237744"/>
            <a:ext cx="1228954"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LE FUTUR</a:t>
            </a:r>
            <a:endParaRPr lang="en-US" sz="1200" dirty="0"/>
          </a:p>
        </p:txBody>
      </p:sp>
      <p:sp>
        <p:nvSpPr>
          <p:cNvPr id="5" name="Shape 2"/>
          <p:cNvSpPr/>
          <p:nvPr/>
        </p:nvSpPr>
        <p:spPr>
          <a:xfrm>
            <a:off x="548640" y="1463040"/>
            <a:ext cx="3575304" cy="3246120"/>
          </a:xfrm>
          <a:prstGeom prst="roundRect">
            <a:avLst>
              <a:gd name="adj" fmla="val 3380"/>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pic>
        <p:nvPicPr>
          <p:cNvPr id="6" name="Image 0" descr="spiral calendar">    </p:cNvPr>
          <p:cNvPicPr>
            <a:picLocks noChangeAspect="1"/>
          </p:cNvPicPr>
          <p:nvPr/>
        </p:nvPicPr>
        <p:blipFill>
          <a:blip r:embed="rId1"/>
          <a:stretch>
            <a:fillRect/>
          </a:stretch>
        </p:blipFill>
        <p:spPr>
          <a:xfrm>
            <a:off x="731520" y="1572768"/>
            <a:ext cx="685800" cy="685800"/>
          </a:xfrm>
          <a:prstGeom prst="rect">
            <a:avLst/>
          </a:prstGeom>
        </p:spPr>
      </p:pic>
      <p:sp>
        <p:nvSpPr>
          <p:cNvPr id="7" name="Text 3"/>
          <p:cNvSpPr txBox="1"/>
          <p:nvPr/>
        </p:nvSpPr>
        <p:spPr>
          <a:xfrm>
            <a:off x="1508760" y="1572768"/>
            <a:ext cx="2523744" cy="685800"/>
          </a:xfrm>
          <a:prstGeom prst="rect">
            <a:avLst/>
          </a:prstGeom>
          <a:noFill/>
          <a:ln/>
        </p:spPr>
        <p:txBody>
          <a:bodyPr wrap="square" lIns="0" tIns="0" rIns="0" bIns="0" rtlCol="0" anchor="ctr"/>
          <a:lstStyle/>
          <a:p>
            <a:pPr algn="l" indent="0" marL="0">
              <a:buNone/>
            </a:pPr>
            <a:r>
              <a:rPr lang="en-US" sz="1500" b="1" dirty="0">
                <a:solidFill>
                  <a:schemeClr val="accent3"/>
                </a:solidFill>
              </a:rPr>
              <a:t>PRÉSENT + MARQUEUR</a:t>
            </a:r>
            <a:endParaRPr lang="en-US" sz="1500" dirty="0"/>
          </a:p>
        </p:txBody>
      </p:sp>
      <p:sp>
        <p:nvSpPr>
          <p:cNvPr id="8" name="Text 4"/>
          <p:cNvSpPr txBox="1"/>
          <p:nvPr/>
        </p:nvSpPr>
        <p:spPr>
          <a:xfrm>
            <a:off x="731520" y="2331720"/>
            <a:ext cx="3209544" cy="457200"/>
          </a:xfrm>
          <a:prstGeom prst="rect">
            <a:avLst/>
          </a:prstGeom>
          <a:noFill/>
          <a:ln/>
        </p:spPr>
        <p:txBody>
          <a:bodyPr wrap="square" lIns="0" tIns="0" rIns="0" bIns="0" rtlCol="0" anchor="ctr"/>
          <a:lstStyle/>
          <a:p>
            <a:pPr algn="l" indent="0" marL="0">
              <a:buNone/>
            </a:pPr>
            <a:r>
              <a:rPr lang="en-US" sz="1300" i="1" dirty="0">
                <a:solidFill>
                  <a:schemeClr val="accent5"/>
                </a:solidFill>
              </a:rPr>
              <a:t>le planning</a:t>
            </a:r>
            <a:endParaRPr lang="en-US" sz="1300" dirty="0"/>
          </a:p>
        </p:txBody>
      </p:sp>
      <p:sp>
        <p:nvSpPr>
          <p:cNvPr id="9" name="Text 5"/>
          <p:cNvSpPr txBox="1"/>
          <p:nvPr/>
        </p:nvSpPr>
        <p:spPr>
          <a:xfrm>
            <a:off x="777240" y="2834640"/>
            <a:ext cx="3209544" cy="548640"/>
          </a:xfrm>
          <a:prstGeom prst="rect">
            <a:avLst/>
          </a:prstGeom>
          <a:noFill/>
          <a:ln/>
        </p:spPr>
        <p:txBody>
          <a:bodyPr wrap="square" lIns="0" tIns="0" rIns="0" bIns="0" rtlCol="0" anchor="ctr"/>
          <a:lstStyle/>
          <a:p>
            <a:pPr algn="l" indent="0" marL="0">
              <a:buNone/>
            </a:pPr>
            <a:r>
              <a:rPr lang="en-US" sz="1600" b="1" i="1" dirty="0">
                <a:solidFill>
                  <a:srgbClr val="D9700F"/>
                </a:solidFill>
              </a:rPr>
              <a:t>Morgen</a:t>
            </a:r>
            <a:r>
              <a:rPr lang="en-US" sz="1600" i="1" dirty="0">
                <a:solidFill>
                  <a:schemeClr val="tx1"/>
                </a:solidFill>
              </a:rPr>
              <a:t> </a:t>
            </a:r>
            <a:r>
              <a:rPr lang="en-US" sz="1600" b="1" i="1" dirty="0">
                <a:solidFill>
                  <a:srgbClr val="B83227"/>
                </a:solidFill>
              </a:rPr>
              <a:t>werk</a:t>
            </a:r>
            <a:r>
              <a:rPr lang="en-US" sz="1600" i="1" dirty="0">
                <a:solidFill>
                  <a:schemeClr val="tx1"/>
                </a:solidFill>
              </a:rPr>
              <a:t> ik thuis.</a:t>
            </a:r>
            <a:endParaRPr lang="en-US" sz="1800" dirty="0"/>
          </a:p>
        </p:txBody>
      </p:sp>
      <p:sp>
        <p:nvSpPr>
          <p:cNvPr id="10" name="Text 6"/>
          <p:cNvSpPr txBox="1"/>
          <p:nvPr/>
        </p:nvSpPr>
        <p:spPr>
          <a:xfrm>
            <a:off x="777240" y="3429000"/>
            <a:ext cx="3209544" cy="548640"/>
          </a:xfrm>
          <a:prstGeom prst="rect">
            <a:avLst/>
          </a:prstGeom>
          <a:noFill/>
          <a:ln/>
        </p:spPr>
        <p:txBody>
          <a:bodyPr wrap="square" lIns="0" tIns="0" rIns="0" bIns="0" rtlCol="0" anchor="ctr"/>
          <a:lstStyle/>
          <a:p>
            <a:pPr algn="l" indent="0" marL="0">
              <a:buNone/>
            </a:pPr>
            <a:r>
              <a:rPr lang="en-US" sz="1600" b="1" i="1" dirty="0">
                <a:solidFill>
                  <a:srgbClr val="D9700F"/>
                </a:solidFill>
              </a:rPr>
              <a:t>Volgende week</a:t>
            </a:r>
            <a:r>
              <a:rPr lang="en-US" sz="1600" i="1" dirty="0">
                <a:solidFill>
                  <a:schemeClr val="tx1"/>
                </a:solidFill>
              </a:rPr>
              <a:t> </a:t>
            </a:r>
            <a:r>
              <a:rPr lang="en-US" sz="1600" b="1" i="1" dirty="0">
                <a:solidFill>
                  <a:srgbClr val="B83227"/>
                </a:solidFill>
              </a:rPr>
              <a:t>begint</a:t>
            </a:r>
            <a:r>
              <a:rPr lang="en-US" sz="1600" i="1" dirty="0">
                <a:solidFill>
                  <a:schemeClr val="tx1"/>
                </a:solidFill>
              </a:rPr>
              <a:t> de cursus.</a:t>
            </a:r>
            <a:endParaRPr lang="en-US" sz="1800" dirty="0"/>
          </a:p>
        </p:txBody>
      </p:sp>
      <p:sp>
        <p:nvSpPr>
          <p:cNvPr id="11" name="Shape 7"/>
          <p:cNvSpPr/>
          <p:nvPr/>
        </p:nvSpPr>
        <p:spPr>
          <a:xfrm>
            <a:off x="4306824" y="1463040"/>
            <a:ext cx="3575304" cy="3246120"/>
          </a:xfrm>
          <a:prstGeom prst="roundRect">
            <a:avLst>
              <a:gd name="adj" fmla="val 3380"/>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pic>
        <p:nvPicPr>
          <p:cNvPr id="12" name="Image 1" descr="bullseye">    </p:cNvPr>
          <p:cNvPicPr>
            <a:picLocks noChangeAspect="1"/>
          </p:cNvPicPr>
          <p:nvPr/>
        </p:nvPicPr>
        <p:blipFill>
          <a:blip r:embed="rId2"/>
          <a:stretch>
            <a:fillRect/>
          </a:stretch>
        </p:blipFill>
        <p:spPr>
          <a:xfrm>
            <a:off x="4489704" y="1572768"/>
            <a:ext cx="685800" cy="685800"/>
          </a:xfrm>
          <a:prstGeom prst="rect">
            <a:avLst/>
          </a:prstGeom>
        </p:spPr>
      </p:pic>
      <p:sp>
        <p:nvSpPr>
          <p:cNvPr id="13" name="Text 8"/>
          <p:cNvSpPr txBox="1"/>
          <p:nvPr/>
        </p:nvSpPr>
        <p:spPr>
          <a:xfrm>
            <a:off x="5266944" y="1572768"/>
            <a:ext cx="2523744" cy="685800"/>
          </a:xfrm>
          <a:prstGeom prst="rect">
            <a:avLst/>
          </a:prstGeom>
          <a:noFill/>
          <a:ln/>
        </p:spPr>
        <p:txBody>
          <a:bodyPr wrap="square" lIns="0" tIns="0" rIns="0" bIns="0" rtlCol="0" anchor="ctr"/>
          <a:lstStyle/>
          <a:p>
            <a:pPr algn="l" indent="0" marL="0">
              <a:buNone/>
            </a:pPr>
            <a:r>
              <a:rPr lang="en-US" sz="1500" b="1" dirty="0">
                <a:solidFill>
                  <a:schemeClr val="accent3"/>
                </a:solidFill>
              </a:rPr>
              <a:t>GAAN + INFINITIF</a:t>
            </a:r>
            <a:endParaRPr lang="en-US" sz="1500" dirty="0"/>
          </a:p>
        </p:txBody>
      </p:sp>
      <p:sp>
        <p:nvSpPr>
          <p:cNvPr id="14" name="Text 9"/>
          <p:cNvSpPr txBox="1"/>
          <p:nvPr/>
        </p:nvSpPr>
        <p:spPr>
          <a:xfrm>
            <a:off x="4489704" y="2331720"/>
            <a:ext cx="3209544" cy="457200"/>
          </a:xfrm>
          <a:prstGeom prst="rect">
            <a:avLst/>
          </a:prstGeom>
          <a:noFill/>
          <a:ln/>
        </p:spPr>
        <p:txBody>
          <a:bodyPr wrap="square" lIns="0" tIns="0" rIns="0" bIns="0" rtlCol="0" anchor="ctr"/>
          <a:lstStyle/>
          <a:p>
            <a:pPr algn="l" indent="0" marL="0">
              <a:buNone/>
            </a:pPr>
            <a:r>
              <a:rPr lang="en-US" sz="1300" i="1" dirty="0">
                <a:solidFill>
                  <a:schemeClr val="accent5"/>
                </a:solidFill>
              </a:rPr>
              <a:t>l’intention, la prévision</a:t>
            </a:r>
            <a:endParaRPr lang="en-US" sz="1300" dirty="0"/>
          </a:p>
        </p:txBody>
      </p:sp>
      <p:sp>
        <p:nvSpPr>
          <p:cNvPr id="15" name="Text 10"/>
          <p:cNvSpPr txBox="1"/>
          <p:nvPr/>
        </p:nvSpPr>
        <p:spPr>
          <a:xfrm>
            <a:off x="4535424" y="2834640"/>
            <a:ext cx="3209544" cy="548640"/>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rgbClr val="B83227"/>
                </a:solidFill>
              </a:rPr>
              <a:t>ga</a:t>
            </a:r>
            <a:r>
              <a:rPr lang="en-US" sz="1600" i="1" dirty="0">
                <a:solidFill>
                  <a:schemeClr val="tx1"/>
                </a:solidFill>
              </a:rPr>
              <a:t> een nieuwe job </a:t>
            </a:r>
            <a:r>
              <a:rPr lang="en-US" sz="1600" b="1" i="1" dirty="0">
                <a:solidFill>
                  <a:srgbClr val="B83227"/>
                </a:solidFill>
              </a:rPr>
              <a:t>zoeken</a:t>
            </a:r>
            <a:r>
              <a:rPr lang="en-US" sz="1600" i="1" dirty="0">
                <a:solidFill>
                  <a:schemeClr val="tx1"/>
                </a:solidFill>
              </a:rPr>
              <a:t>.</a:t>
            </a:r>
            <a:endParaRPr lang="en-US" sz="1800" dirty="0"/>
          </a:p>
        </p:txBody>
      </p:sp>
      <p:sp>
        <p:nvSpPr>
          <p:cNvPr id="16" name="Text 11"/>
          <p:cNvSpPr txBox="1"/>
          <p:nvPr/>
        </p:nvSpPr>
        <p:spPr>
          <a:xfrm>
            <a:off x="4535424" y="3429000"/>
            <a:ext cx="3209544" cy="548640"/>
          </a:xfrm>
          <a:prstGeom prst="rect">
            <a:avLst/>
          </a:prstGeom>
          <a:noFill/>
          <a:ln/>
        </p:spPr>
        <p:txBody>
          <a:bodyPr wrap="square" lIns="0" tIns="0" rIns="0" bIns="0" rtlCol="0" anchor="ctr"/>
          <a:lstStyle/>
          <a:p>
            <a:pPr algn="l" indent="0" marL="0">
              <a:buNone/>
            </a:pPr>
            <a:r>
              <a:rPr lang="en-US" sz="1600" i="1" dirty="0">
                <a:solidFill>
                  <a:schemeClr val="tx1"/>
                </a:solidFill>
              </a:rPr>
              <a:t>Kijk, het </a:t>
            </a:r>
            <a:r>
              <a:rPr lang="en-US" sz="1600" b="1" i="1" dirty="0">
                <a:solidFill>
                  <a:srgbClr val="B83227"/>
                </a:solidFill>
              </a:rPr>
              <a:t>gaat</a:t>
            </a:r>
            <a:r>
              <a:rPr lang="en-US" sz="1600" i="1" dirty="0">
                <a:solidFill>
                  <a:schemeClr val="tx1"/>
                </a:solidFill>
              </a:rPr>
              <a:t> </a:t>
            </a:r>
            <a:r>
              <a:rPr lang="en-US" sz="1600" b="1" i="1" dirty="0">
                <a:solidFill>
                  <a:srgbClr val="B83227"/>
                </a:solidFill>
              </a:rPr>
              <a:t>regenen</a:t>
            </a:r>
            <a:r>
              <a:rPr lang="en-US" sz="1600" i="1" dirty="0">
                <a:solidFill>
                  <a:schemeClr val="tx1"/>
                </a:solidFill>
              </a:rPr>
              <a:t>.</a:t>
            </a:r>
            <a:endParaRPr lang="en-US" sz="1800" dirty="0"/>
          </a:p>
        </p:txBody>
      </p:sp>
      <p:sp>
        <p:nvSpPr>
          <p:cNvPr id="17" name="Shape 12"/>
          <p:cNvSpPr/>
          <p:nvPr/>
        </p:nvSpPr>
        <p:spPr>
          <a:xfrm>
            <a:off x="8065008" y="1463040"/>
            <a:ext cx="3575304" cy="3246120"/>
          </a:xfrm>
          <a:prstGeom prst="roundRect">
            <a:avLst>
              <a:gd name="adj" fmla="val 3380"/>
            </a:avLst>
          </a:prstGeom>
          <a:solidFill>
            <a:srgbClr val="FFFFFF"/>
          </a:solidFill>
          <a:ln w="22225">
            <a:solidFill>
              <a:srgbClr val="2E7D4F"/>
            </a:solidFill>
            <a:prstDash val="solid"/>
          </a:ln>
          <a:effectLst>
            <a:outerShdw sx="100000" sy="100000" kx="0" ky="0" algn="bl" rotWithShape="0" blurRad="101600" dist="25400" dir="3600000">
              <a:srgbClr val="000000">
                <a:alpha val="16000"/>
              </a:srgbClr>
            </a:outerShdw>
          </a:effectLst>
        </p:spPr>
      </p:sp>
      <p:pic>
        <p:nvPicPr>
          <p:cNvPr id="18" name="Image 2" descr="handshake">    </p:cNvPr>
          <p:cNvPicPr>
            <a:picLocks noChangeAspect="1"/>
          </p:cNvPicPr>
          <p:nvPr/>
        </p:nvPicPr>
        <p:blipFill>
          <a:blip r:embed="rId3"/>
          <a:stretch>
            <a:fillRect/>
          </a:stretch>
        </p:blipFill>
        <p:spPr>
          <a:xfrm>
            <a:off x="8247888" y="1572768"/>
            <a:ext cx="685800" cy="685800"/>
          </a:xfrm>
          <a:prstGeom prst="rect">
            <a:avLst/>
          </a:prstGeom>
        </p:spPr>
      </p:pic>
      <p:sp>
        <p:nvSpPr>
          <p:cNvPr id="19" name="Text 13"/>
          <p:cNvSpPr txBox="1"/>
          <p:nvPr/>
        </p:nvSpPr>
        <p:spPr>
          <a:xfrm>
            <a:off x="9025128" y="1572768"/>
            <a:ext cx="2523744" cy="685800"/>
          </a:xfrm>
          <a:prstGeom prst="rect">
            <a:avLst/>
          </a:prstGeom>
          <a:noFill/>
          <a:ln/>
        </p:spPr>
        <p:txBody>
          <a:bodyPr wrap="square" lIns="0" tIns="0" rIns="0" bIns="0" rtlCol="0" anchor="ctr"/>
          <a:lstStyle/>
          <a:p>
            <a:pPr algn="l" indent="0" marL="0">
              <a:buNone/>
            </a:pPr>
            <a:r>
              <a:rPr lang="en-US" sz="1500" b="1" dirty="0">
                <a:solidFill>
                  <a:schemeClr val="accent3"/>
                </a:solidFill>
              </a:rPr>
              <a:t>ZULLEN + INFINITIF</a:t>
            </a:r>
            <a:endParaRPr lang="en-US" sz="1500" dirty="0"/>
          </a:p>
        </p:txBody>
      </p:sp>
      <p:sp>
        <p:nvSpPr>
          <p:cNvPr id="20" name="Text 14"/>
          <p:cNvSpPr txBox="1"/>
          <p:nvPr/>
        </p:nvSpPr>
        <p:spPr>
          <a:xfrm>
            <a:off x="8247888" y="2331720"/>
            <a:ext cx="3209544" cy="457200"/>
          </a:xfrm>
          <a:prstGeom prst="rect">
            <a:avLst/>
          </a:prstGeom>
          <a:noFill/>
          <a:ln/>
        </p:spPr>
        <p:txBody>
          <a:bodyPr wrap="square" lIns="0" tIns="0" rIns="0" bIns="0" rtlCol="0" anchor="ctr"/>
          <a:lstStyle/>
          <a:p>
            <a:pPr algn="l" indent="0" marL="0">
              <a:buNone/>
            </a:pPr>
            <a:r>
              <a:rPr lang="en-US" sz="1300" i="1" dirty="0">
                <a:solidFill>
                  <a:schemeClr val="accent5"/>
                </a:solidFill>
              </a:rPr>
              <a:t>la promesse, la supposition, la proposition</a:t>
            </a:r>
            <a:endParaRPr lang="en-US" sz="1300" dirty="0"/>
          </a:p>
        </p:txBody>
      </p:sp>
      <p:sp>
        <p:nvSpPr>
          <p:cNvPr id="21" name="Text 15"/>
          <p:cNvSpPr txBox="1"/>
          <p:nvPr/>
        </p:nvSpPr>
        <p:spPr>
          <a:xfrm>
            <a:off x="8293608" y="2834640"/>
            <a:ext cx="3209544" cy="548640"/>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rgbClr val="B83227"/>
                </a:solidFill>
              </a:rPr>
              <a:t>zal</a:t>
            </a:r>
            <a:r>
              <a:rPr lang="en-US" sz="1600" i="1" dirty="0">
                <a:solidFill>
                  <a:schemeClr val="tx1"/>
                </a:solidFill>
              </a:rPr>
              <a:t> je morgen </a:t>
            </a:r>
            <a:r>
              <a:rPr lang="en-US" sz="1600" b="1" i="1" dirty="0">
                <a:solidFill>
                  <a:srgbClr val="B83227"/>
                </a:solidFill>
              </a:rPr>
              <a:t>bellen</a:t>
            </a:r>
            <a:r>
              <a:rPr lang="en-US" sz="1600" i="1" dirty="0">
                <a:solidFill>
                  <a:schemeClr val="tx1"/>
                </a:solidFill>
              </a:rPr>
              <a:t>.</a:t>
            </a:r>
            <a:endParaRPr lang="en-US" sz="1800" dirty="0"/>
          </a:p>
        </p:txBody>
      </p:sp>
      <p:sp>
        <p:nvSpPr>
          <p:cNvPr id="22" name="Text 16"/>
          <p:cNvSpPr txBox="1"/>
          <p:nvPr/>
        </p:nvSpPr>
        <p:spPr>
          <a:xfrm>
            <a:off x="8293608" y="3429000"/>
            <a:ext cx="3209544" cy="548640"/>
          </a:xfrm>
          <a:prstGeom prst="rect">
            <a:avLst/>
          </a:prstGeom>
          <a:noFill/>
          <a:ln/>
        </p:spPr>
        <p:txBody>
          <a:bodyPr wrap="square" lIns="0" tIns="0" rIns="0" bIns="0" rtlCol="0" anchor="ctr"/>
          <a:lstStyle/>
          <a:p>
            <a:pPr algn="l" indent="0" marL="0">
              <a:buNone/>
            </a:pPr>
            <a:r>
              <a:rPr lang="en-US" sz="1600" i="1" dirty="0">
                <a:solidFill>
                  <a:schemeClr val="tx1"/>
                </a:solidFill>
              </a:rPr>
              <a:t>Dat </a:t>
            </a:r>
            <a:r>
              <a:rPr lang="en-US" sz="1600" b="1" i="1" dirty="0">
                <a:solidFill>
                  <a:srgbClr val="B83227"/>
                </a:solidFill>
              </a:rPr>
              <a:t>zal</a:t>
            </a:r>
            <a:r>
              <a:rPr lang="en-US" sz="1600" i="1" dirty="0">
                <a:solidFill>
                  <a:schemeClr val="tx1"/>
                </a:solidFill>
              </a:rPr>
              <a:t> Tom wel </a:t>
            </a:r>
            <a:r>
              <a:rPr lang="en-US" sz="1600" b="1" i="1" dirty="0">
                <a:solidFill>
                  <a:srgbClr val="B83227"/>
                </a:solidFill>
              </a:rPr>
              <a:t>zijn</a:t>
            </a:r>
            <a:r>
              <a:rPr lang="en-US" sz="1600" i="1" dirty="0">
                <a:solidFill>
                  <a:schemeClr val="tx1"/>
                </a:solidFill>
              </a:rPr>
              <a:t>.</a:t>
            </a:r>
            <a:endParaRPr lang="en-US" sz="1800" dirty="0"/>
          </a:p>
        </p:txBody>
      </p:sp>
      <p:sp>
        <p:nvSpPr>
          <p:cNvPr id="23" name="Text 17"/>
          <p:cNvSpPr txBox="1"/>
          <p:nvPr/>
        </p:nvSpPr>
        <p:spPr>
          <a:xfrm>
            <a:off x="8293608" y="4023360"/>
            <a:ext cx="3209544" cy="548640"/>
          </a:xfrm>
          <a:prstGeom prst="rect">
            <a:avLst/>
          </a:prstGeom>
          <a:noFill/>
          <a:ln/>
        </p:spPr>
        <p:txBody>
          <a:bodyPr wrap="square" lIns="0" tIns="0" rIns="0" bIns="0" rtlCol="0" anchor="ctr"/>
          <a:lstStyle/>
          <a:p>
            <a:pPr algn="l" indent="0" marL="0">
              <a:buNone/>
            </a:pPr>
            <a:r>
              <a:rPr lang="en-US" sz="1600" b="1" i="1" dirty="0">
                <a:solidFill>
                  <a:srgbClr val="B83227"/>
                </a:solidFill>
              </a:rPr>
              <a:t>Zullen</a:t>
            </a:r>
            <a:r>
              <a:rPr lang="en-US" sz="1600" i="1" dirty="0">
                <a:solidFill>
                  <a:schemeClr val="tx1"/>
                </a:solidFill>
              </a:rPr>
              <a:t> we </a:t>
            </a:r>
            <a:r>
              <a:rPr lang="en-US" sz="1600" b="1" i="1" dirty="0">
                <a:solidFill>
                  <a:srgbClr val="B83227"/>
                </a:solidFill>
              </a:rPr>
              <a:t>gaan</a:t>
            </a:r>
            <a:r>
              <a:rPr lang="en-US" sz="1600" i="1" dirty="0">
                <a:solidFill>
                  <a:schemeClr val="tx1"/>
                </a:solidFill>
              </a:rPr>
              <a:t>?</a:t>
            </a:r>
            <a:endParaRPr lang="en-US" sz="1800" dirty="0"/>
          </a:p>
        </p:txBody>
      </p:sp>
      <p:sp>
        <p:nvSpPr>
          <p:cNvPr id="24" name="Shape 18"/>
          <p:cNvSpPr/>
          <p:nvPr/>
        </p:nvSpPr>
        <p:spPr>
          <a:xfrm>
            <a:off x="2377440" y="5074920"/>
            <a:ext cx="8869680" cy="182880"/>
          </a:xfrm>
          <a:prstGeom prst="rect">
            <a:avLst/>
          </a:prstGeom>
          <a:solidFill>
            <a:schemeClr val="accent3"/>
          </a:solidFill>
          <a:ln w="12700">
            <a:solidFill>
              <a:srgbClr val="FFFFFF">
                <a:alpha val="0"/>
              </a:srgbClr>
            </a:solidFill>
            <a:prstDash val="solid"/>
          </a:ln>
        </p:spPr>
      </p:sp>
      <p:sp>
        <p:nvSpPr>
          <p:cNvPr id="25" name="Shape 19"/>
          <p:cNvSpPr/>
          <p:nvPr/>
        </p:nvSpPr>
        <p:spPr>
          <a:xfrm>
            <a:off x="1737360" y="5166360"/>
            <a:ext cx="9921240" cy="914"/>
          </a:xfrm>
          <a:prstGeom prst="line">
            <a:avLst/>
          </a:prstGeom>
          <a:noFill/>
          <a:ln w="31750">
            <a:solidFill>
              <a:srgbClr val="17375E"/>
            </a:solidFill>
            <a:prstDash val="solid"/>
            <a:tailEnd type="triangle"/>
          </a:ln>
        </p:spPr>
      </p:sp>
      <p:sp>
        <p:nvSpPr>
          <p:cNvPr id="26" name="Shape 20"/>
          <p:cNvSpPr/>
          <p:nvPr/>
        </p:nvSpPr>
        <p:spPr>
          <a:xfrm>
            <a:off x="1965960" y="4855464"/>
            <a:ext cx="91440" cy="621792"/>
          </a:xfrm>
          <a:prstGeom prst="rect">
            <a:avLst/>
          </a:prstGeom>
          <a:solidFill>
            <a:schemeClr val="accent6"/>
          </a:solidFill>
          <a:ln w="12700">
            <a:solidFill>
              <a:srgbClr val="FFFFFF">
                <a:alpha val="0"/>
              </a:srgbClr>
            </a:solidFill>
            <a:prstDash val="solid"/>
          </a:ln>
        </p:spPr>
      </p:sp>
      <p:sp>
        <p:nvSpPr>
          <p:cNvPr id="27" name="Text 21"/>
          <p:cNvSpPr txBox="1"/>
          <p:nvPr/>
        </p:nvSpPr>
        <p:spPr>
          <a:xfrm>
            <a:off x="685800" y="5001768"/>
            <a:ext cx="1005840" cy="329184"/>
          </a:xfrm>
          <a:prstGeom prst="rect">
            <a:avLst/>
          </a:prstGeom>
          <a:noFill/>
          <a:ln/>
        </p:spPr>
        <p:txBody>
          <a:bodyPr wrap="square" lIns="0" tIns="0" rIns="0" bIns="0" rtlCol="0" anchor="t"/>
          <a:lstStyle/>
          <a:p>
            <a:pPr algn="r" indent="0" marL="0">
              <a:buNone/>
            </a:pPr>
            <a:r>
              <a:rPr lang="en-US" sz="1400" b="1" dirty="0">
                <a:solidFill>
                  <a:schemeClr val="accent6"/>
                </a:solidFill>
              </a:rPr>
              <a:t>NU</a:t>
            </a:r>
            <a:endParaRPr lang="en-US" sz="1400" dirty="0"/>
          </a:p>
        </p:txBody>
      </p:sp>
      <p:sp>
        <p:nvSpPr>
          <p:cNvPr id="28" name="Text 22"/>
          <p:cNvSpPr txBox="1"/>
          <p:nvPr/>
        </p:nvSpPr>
        <p:spPr>
          <a:xfrm>
            <a:off x="2286000" y="5321808"/>
            <a:ext cx="1645920" cy="292608"/>
          </a:xfrm>
          <a:prstGeom prst="rect">
            <a:avLst/>
          </a:prstGeom>
          <a:noFill/>
          <a:ln/>
        </p:spPr>
        <p:txBody>
          <a:bodyPr wrap="square" lIns="0" tIns="0" rIns="0" bIns="0" rtlCol="0" anchor="t"/>
          <a:lstStyle/>
          <a:p>
            <a:pPr algn="ctr" indent="0" marL="0">
              <a:buNone/>
            </a:pPr>
            <a:r>
              <a:rPr lang="en-US" sz="1300" b="1" i="1" dirty="0">
                <a:solidFill>
                  <a:schemeClr val="accent1"/>
                </a:solidFill>
              </a:rPr>
              <a:t>zo meteen</a:t>
            </a:r>
            <a:endParaRPr lang="en-US" sz="1300" dirty="0"/>
          </a:p>
        </p:txBody>
      </p:sp>
      <p:sp>
        <p:nvSpPr>
          <p:cNvPr id="29" name="Text 23"/>
          <p:cNvSpPr txBox="1"/>
          <p:nvPr/>
        </p:nvSpPr>
        <p:spPr>
          <a:xfrm>
            <a:off x="3749040" y="5321808"/>
            <a:ext cx="1645920" cy="292608"/>
          </a:xfrm>
          <a:prstGeom prst="rect">
            <a:avLst/>
          </a:prstGeom>
          <a:noFill/>
          <a:ln/>
        </p:spPr>
        <p:txBody>
          <a:bodyPr wrap="square" lIns="0" tIns="0" rIns="0" bIns="0" rtlCol="0" anchor="t"/>
          <a:lstStyle/>
          <a:p>
            <a:pPr algn="ctr" indent="0" marL="0">
              <a:buNone/>
            </a:pPr>
            <a:r>
              <a:rPr lang="en-US" sz="1300" b="1" i="1" dirty="0">
                <a:solidFill>
                  <a:schemeClr val="accent1"/>
                </a:solidFill>
              </a:rPr>
              <a:t>straks</a:t>
            </a:r>
            <a:endParaRPr lang="en-US" sz="1300" dirty="0"/>
          </a:p>
        </p:txBody>
      </p:sp>
      <p:sp>
        <p:nvSpPr>
          <p:cNvPr id="30" name="Text 24"/>
          <p:cNvSpPr txBox="1"/>
          <p:nvPr/>
        </p:nvSpPr>
        <p:spPr>
          <a:xfrm>
            <a:off x="5120640" y="5321808"/>
            <a:ext cx="1645920" cy="292608"/>
          </a:xfrm>
          <a:prstGeom prst="rect">
            <a:avLst/>
          </a:prstGeom>
          <a:noFill/>
          <a:ln/>
        </p:spPr>
        <p:txBody>
          <a:bodyPr wrap="square" lIns="0" tIns="0" rIns="0" bIns="0" rtlCol="0" anchor="t"/>
          <a:lstStyle/>
          <a:p>
            <a:pPr algn="ctr" indent="0" marL="0">
              <a:buNone/>
            </a:pPr>
            <a:r>
              <a:rPr lang="en-US" sz="1300" b="1" i="1" dirty="0">
                <a:solidFill>
                  <a:schemeClr val="accent1"/>
                </a:solidFill>
              </a:rPr>
              <a:t>morgen</a:t>
            </a:r>
            <a:endParaRPr lang="en-US" sz="1300" dirty="0"/>
          </a:p>
        </p:txBody>
      </p:sp>
      <p:sp>
        <p:nvSpPr>
          <p:cNvPr id="31" name="Text 25"/>
          <p:cNvSpPr txBox="1"/>
          <p:nvPr/>
        </p:nvSpPr>
        <p:spPr>
          <a:xfrm>
            <a:off x="6766560" y="5321808"/>
            <a:ext cx="1645920" cy="292608"/>
          </a:xfrm>
          <a:prstGeom prst="rect">
            <a:avLst/>
          </a:prstGeom>
          <a:noFill/>
          <a:ln/>
        </p:spPr>
        <p:txBody>
          <a:bodyPr wrap="square" lIns="0" tIns="0" rIns="0" bIns="0" rtlCol="0" anchor="t"/>
          <a:lstStyle/>
          <a:p>
            <a:pPr algn="ctr" indent="0" marL="0">
              <a:buNone/>
            </a:pPr>
            <a:r>
              <a:rPr lang="en-US" sz="1300" b="1" i="1" dirty="0">
                <a:solidFill>
                  <a:schemeClr val="accent1"/>
                </a:solidFill>
              </a:rPr>
              <a:t>volgende week</a:t>
            </a:r>
            <a:endParaRPr lang="en-US" sz="1300" dirty="0"/>
          </a:p>
        </p:txBody>
      </p:sp>
      <p:sp>
        <p:nvSpPr>
          <p:cNvPr id="32" name="Text 26"/>
          <p:cNvSpPr txBox="1"/>
          <p:nvPr/>
        </p:nvSpPr>
        <p:spPr>
          <a:xfrm>
            <a:off x="8503920" y="5321808"/>
            <a:ext cx="1645920" cy="292608"/>
          </a:xfrm>
          <a:prstGeom prst="rect">
            <a:avLst/>
          </a:prstGeom>
          <a:noFill/>
          <a:ln/>
        </p:spPr>
        <p:txBody>
          <a:bodyPr wrap="square" lIns="0" tIns="0" rIns="0" bIns="0" rtlCol="0" anchor="t"/>
          <a:lstStyle/>
          <a:p>
            <a:pPr algn="ctr" indent="0" marL="0">
              <a:buNone/>
            </a:pPr>
            <a:r>
              <a:rPr lang="en-US" sz="1300" b="1" i="1" dirty="0">
                <a:solidFill>
                  <a:schemeClr val="accent1"/>
                </a:solidFill>
              </a:rPr>
              <a:t>binnenkort</a:t>
            </a:r>
            <a:endParaRPr lang="en-US" sz="1300" dirty="0"/>
          </a:p>
        </p:txBody>
      </p:sp>
      <p:sp>
        <p:nvSpPr>
          <p:cNvPr id="33" name="Text 27"/>
          <p:cNvSpPr txBox="1"/>
          <p:nvPr/>
        </p:nvSpPr>
        <p:spPr>
          <a:xfrm>
            <a:off x="9875520" y="5321808"/>
            <a:ext cx="1645920" cy="292608"/>
          </a:xfrm>
          <a:prstGeom prst="rect">
            <a:avLst/>
          </a:prstGeom>
          <a:noFill/>
          <a:ln/>
        </p:spPr>
        <p:txBody>
          <a:bodyPr wrap="square" lIns="0" tIns="0" rIns="0" bIns="0" rtlCol="0" anchor="t"/>
          <a:lstStyle/>
          <a:p>
            <a:pPr algn="ctr" indent="0" marL="0">
              <a:buNone/>
            </a:pPr>
            <a:r>
              <a:rPr lang="en-US" sz="1300" b="1" i="1" dirty="0">
                <a:solidFill>
                  <a:schemeClr val="accent1"/>
                </a:solidFill>
              </a:rPr>
              <a:t>later</a:t>
            </a:r>
            <a:endParaRPr lang="en-US" sz="1300" dirty="0"/>
          </a:p>
        </p:txBody>
      </p:sp>
      <p:sp>
        <p:nvSpPr>
          <p:cNvPr id="34" name="Shape 28"/>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35" name="Text 29"/>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À l’oral, le plus fréquent : </a:t>
            </a:r>
            <a:r>
              <a:rPr lang="en-US" sz="1600" b="1" dirty="0">
                <a:solidFill>
                  <a:schemeClr val="bg1"/>
                </a:solidFill>
              </a:rPr>
              <a:t>présent + marqueur</a:t>
            </a:r>
            <a:r>
              <a:rPr lang="en-US" sz="1600" dirty="0">
                <a:solidFill>
                  <a:schemeClr val="bg1"/>
                </a:solidFill>
              </a:rPr>
              <a:t>. </a:t>
            </a:r>
            <a:r>
              <a:rPr lang="en-US" sz="1600" i="1" dirty="0">
                <a:solidFill>
                  <a:schemeClr val="bg1"/>
                </a:solidFill>
              </a:rPr>
              <a:t>zullen</a:t>
            </a:r>
            <a:r>
              <a:rPr lang="en-US" sz="1600" dirty="0">
                <a:solidFill>
                  <a:schemeClr val="bg1"/>
                </a:solidFill>
              </a:rPr>
              <a:t> n’est pas le « futur automatique ».</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futur antérieur : ce sera fait avant…</a:t>
            </a:r>
            <a:endParaRPr lang="en-US" sz="3000" dirty="0"/>
          </a:p>
        </p:txBody>
      </p:sp>
      <p:sp>
        <p:nvSpPr>
          <p:cNvPr id="3" name="tag"/>
          <p:cNvSpPr/>
          <p:nvPr/>
        </p:nvSpPr>
        <p:spPr>
          <a:xfrm>
            <a:off x="548640" y="237744"/>
            <a:ext cx="1228954" cy="310896"/>
          </a:xfrm>
          <a:prstGeom prst="roundRect">
            <a:avLst>
              <a:gd name="adj" fmla="val 14706"/>
            </a:avLst>
          </a:prstGeom>
          <a:solidFill>
            <a:srgbClr val="1B5734"/>
          </a:solidFill>
          <a:ln/>
        </p:spPr>
        <p:txBody>
          <a:bodyPr wrap="square" lIns="0" tIns="0" rIns="0" bIns="0" rtlCol="0" anchor="ctr"/>
          <a:lstStyle/>
          <a:p>
            <a:pPr algn="ctr" indent="0" marL="0">
              <a:buNone/>
            </a:pPr>
            <a:r>
              <a:rPr lang="en-US" sz="1200" b="1" spc="100" kern="0" dirty="0">
                <a:solidFill>
                  <a:srgbClr val="FFFFFF"/>
                </a:solidFill>
              </a:rPr>
              <a:t>LE FUTUR</a:t>
            </a:r>
            <a:endParaRPr lang="en-US" sz="1200" dirty="0"/>
          </a:p>
        </p:txBody>
      </p:sp>
      <p:sp>
        <p:nvSpPr>
          <p:cNvPr id="5" name="Shape 2"/>
          <p:cNvSpPr/>
          <p:nvPr/>
        </p:nvSpPr>
        <p:spPr>
          <a:xfrm>
            <a:off x="731520" y="2514600"/>
            <a:ext cx="10927080" cy="914"/>
          </a:xfrm>
          <a:prstGeom prst="line">
            <a:avLst/>
          </a:prstGeom>
          <a:noFill/>
          <a:ln w="31750">
            <a:solidFill>
              <a:srgbClr val="17375E"/>
            </a:solidFill>
            <a:prstDash val="solid"/>
            <a:tailEnd type="triangle"/>
          </a:ln>
        </p:spPr>
      </p:sp>
      <p:sp>
        <p:nvSpPr>
          <p:cNvPr id="6" name="Shape 3"/>
          <p:cNvSpPr/>
          <p:nvPr/>
        </p:nvSpPr>
        <p:spPr>
          <a:xfrm>
            <a:off x="1783080" y="2203704"/>
            <a:ext cx="91440" cy="621792"/>
          </a:xfrm>
          <a:prstGeom prst="rect">
            <a:avLst/>
          </a:prstGeom>
          <a:solidFill>
            <a:schemeClr val="accent6"/>
          </a:solidFill>
          <a:ln w="12700">
            <a:solidFill>
              <a:srgbClr val="FFFFFF">
                <a:alpha val="0"/>
              </a:srgbClr>
            </a:solidFill>
            <a:prstDash val="solid"/>
          </a:ln>
        </p:spPr>
      </p:sp>
      <p:sp>
        <p:nvSpPr>
          <p:cNvPr id="7" name="Text 4"/>
          <p:cNvSpPr txBox="1"/>
          <p:nvPr/>
        </p:nvSpPr>
        <p:spPr>
          <a:xfrm>
            <a:off x="1371600" y="1837944"/>
            <a:ext cx="914400" cy="329184"/>
          </a:xfrm>
          <a:prstGeom prst="rect">
            <a:avLst/>
          </a:prstGeom>
          <a:noFill/>
          <a:ln/>
        </p:spPr>
        <p:txBody>
          <a:bodyPr wrap="square" lIns="0" tIns="0" rIns="0" bIns="0" rtlCol="0" anchor="ctr"/>
          <a:lstStyle/>
          <a:p>
            <a:pPr algn="ctr" indent="0" marL="0">
              <a:buNone/>
            </a:pPr>
            <a:r>
              <a:rPr lang="en-US" sz="1500" b="1" dirty="0">
                <a:solidFill>
                  <a:schemeClr val="accent6"/>
                </a:solidFill>
              </a:rPr>
              <a:t>NU</a:t>
            </a:r>
            <a:endParaRPr lang="en-US" sz="1500" dirty="0"/>
          </a:p>
        </p:txBody>
      </p:sp>
      <p:sp>
        <p:nvSpPr>
          <p:cNvPr id="8" name="Shape 5"/>
          <p:cNvSpPr/>
          <p:nvPr/>
        </p:nvSpPr>
        <p:spPr>
          <a:xfrm>
            <a:off x="2194560" y="2359152"/>
            <a:ext cx="5120640" cy="310896"/>
          </a:xfrm>
          <a:prstGeom prst="roundRect">
            <a:avLst>
              <a:gd name="adj" fmla="val 23529"/>
            </a:avLst>
          </a:prstGeom>
          <a:solidFill>
            <a:srgbClr val="1B5734"/>
          </a:solidFill>
          <a:ln w="12700">
            <a:solidFill>
              <a:srgbClr val="FFFFFF">
                <a:alpha val="0"/>
              </a:srgbClr>
            </a:solidFill>
            <a:prstDash val="solid"/>
          </a:ln>
        </p:spPr>
      </p:sp>
      <p:sp>
        <p:nvSpPr>
          <p:cNvPr id="9" name="Text 6"/>
          <p:cNvSpPr txBox="1"/>
          <p:nvPr/>
        </p:nvSpPr>
        <p:spPr>
          <a:xfrm>
            <a:off x="2194560" y="2715768"/>
            <a:ext cx="5120640" cy="320040"/>
          </a:xfrm>
          <a:prstGeom prst="rect">
            <a:avLst/>
          </a:prstGeom>
          <a:noFill/>
          <a:ln/>
        </p:spPr>
        <p:txBody>
          <a:bodyPr wrap="square" lIns="0" tIns="0" rIns="0" bIns="0" rtlCol="0" anchor="t"/>
          <a:lstStyle/>
          <a:p>
            <a:pPr algn="ctr" indent="0" marL="0">
              <a:buNone/>
            </a:pPr>
            <a:r>
              <a:rPr lang="en-US" sz="1400" b="1" i="1" dirty="0">
                <a:solidFill>
                  <a:srgbClr val="1B5734"/>
                </a:solidFill>
              </a:rPr>
              <a:t>het rapport schrijven</a:t>
            </a:r>
            <a:endParaRPr lang="en-US" sz="1400" dirty="0"/>
          </a:p>
        </p:txBody>
      </p:sp>
      <p:pic>
        <p:nvPicPr>
          <p:cNvPr id="10" name="Image 0" descr="chequered flag">    </p:cNvPr>
          <p:cNvPicPr>
            <a:picLocks noChangeAspect="1"/>
          </p:cNvPicPr>
          <p:nvPr/>
        </p:nvPicPr>
        <p:blipFill>
          <a:blip r:embed="rId1"/>
          <a:stretch>
            <a:fillRect/>
          </a:stretch>
        </p:blipFill>
        <p:spPr>
          <a:xfrm>
            <a:off x="7818120" y="1463040"/>
            <a:ext cx="822960" cy="822960"/>
          </a:xfrm>
          <a:prstGeom prst="rect">
            <a:avLst/>
          </a:prstGeom>
        </p:spPr>
      </p:pic>
      <p:sp>
        <p:nvSpPr>
          <p:cNvPr id="11" name="Shape 7"/>
          <p:cNvSpPr/>
          <p:nvPr/>
        </p:nvSpPr>
        <p:spPr>
          <a:xfrm>
            <a:off x="8202168" y="2240280"/>
            <a:ext cx="54864" cy="548640"/>
          </a:xfrm>
          <a:prstGeom prst="rect">
            <a:avLst/>
          </a:prstGeom>
          <a:solidFill>
            <a:schemeClr val="accent1"/>
          </a:solidFill>
          <a:ln w="12700">
            <a:solidFill>
              <a:srgbClr val="FFFFFF">
                <a:alpha val="0"/>
              </a:srgbClr>
            </a:solidFill>
            <a:prstDash val="solid"/>
          </a:ln>
        </p:spPr>
      </p:sp>
      <p:sp>
        <p:nvSpPr>
          <p:cNvPr id="12" name="Text 8"/>
          <p:cNvSpPr txBox="1"/>
          <p:nvPr/>
        </p:nvSpPr>
        <p:spPr>
          <a:xfrm>
            <a:off x="8686800" y="1508760"/>
            <a:ext cx="2560320" cy="777240"/>
          </a:xfrm>
          <a:prstGeom prst="rect">
            <a:avLst/>
          </a:prstGeom>
          <a:noFill/>
          <a:ln/>
        </p:spPr>
        <p:txBody>
          <a:bodyPr wrap="square" lIns="0" tIns="0" rIns="0" bIns="0" rtlCol="0" anchor="ctr"/>
          <a:lstStyle/>
          <a:p>
            <a:pPr algn="l" indent="0" marL="0">
              <a:buNone/>
            </a:pPr>
            <a:r>
              <a:rPr lang="en-US" sz="1500" b="1" dirty="0">
                <a:solidFill>
                  <a:schemeClr val="accent1"/>
                </a:solidFill>
              </a:rPr>
              <a:t>vrijdag 17 uur</a:t>
            </a:r>
            <a:endParaRPr lang="en-US" sz="1500" dirty="0"/>
          </a:p>
          <a:p>
            <a:pPr algn="l" indent="0" marL="0">
              <a:buNone/>
            </a:pPr>
            <a:r>
              <a:rPr lang="en-US" sz="1500" i="1" dirty="0">
                <a:solidFill>
                  <a:schemeClr val="accent1"/>
                </a:solidFill>
              </a:rPr>
              <a:t>tegen vrijdag</a:t>
            </a:r>
            <a:endParaRPr lang="en-US" sz="1500" dirty="0"/>
          </a:p>
        </p:txBody>
      </p:sp>
      <p:pic>
        <p:nvPicPr>
          <p:cNvPr id="13" name="Image 1" descr="check mark button">    </p:cNvPr>
          <p:cNvPicPr>
            <a:picLocks noChangeAspect="1"/>
          </p:cNvPicPr>
          <p:nvPr/>
        </p:nvPicPr>
        <p:blipFill>
          <a:blip r:embed="rId2"/>
          <a:stretch>
            <a:fillRect/>
          </a:stretch>
        </p:blipFill>
        <p:spPr>
          <a:xfrm>
            <a:off x="7040880" y="1737360"/>
            <a:ext cx="457200" cy="457200"/>
          </a:xfrm>
          <a:prstGeom prst="rect">
            <a:avLst/>
          </a:prstGeom>
        </p:spPr>
      </p:pic>
      <p:sp>
        <p:nvSpPr>
          <p:cNvPr id="14" name="Shape 9"/>
          <p:cNvSpPr/>
          <p:nvPr/>
        </p:nvSpPr>
        <p:spPr>
          <a:xfrm>
            <a:off x="548640" y="3246120"/>
            <a:ext cx="11091672" cy="621792"/>
          </a:xfrm>
          <a:prstGeom prst="roundRect">
            <a:avLst>
              <a:gd name="adj" fmla="val 11765"/>
            </a:avLst>
          </a:prstGeom>
          <a:solidFill>
            <a:schemeClr val="bg2"/>
          </a:solidFill>
          <a:ln w="12700">
            <a:solidFill>
              <a:srgbClr val="FFFFFF">
                <a:alpha val="0"/>
              </a:srgbClr>
            </a:solidFill>
            <a:prstDash val="solid"/>
          </a:ln>
        </p:spPr>
      </p:sp>
      <p:sp>
        <p:nvSpPr>
          <p:cNvPr id="15" name="Text 10"/>
          <p:cNvSpPr txBox="1"/>
          <p:nvPr/>
        </p:nvSpPr>
        <p:spPr>
          <a:xfrm>
            <a:off x="731520" y="3246120"/>
            <a:ext cx="6949440" cy="621792"/>
          </a:xfrm>
          <a:prstGeom prst="rect">
            <a:avLst/>
          </a:prstGeom>
          <a:noFill/>
          <a:ln/>
        </p:spPr>
        <p:txBody>
          <a:bodyPr wrap="square" lIns="0" tIns="0" rIns="0" bIns="0" rtlCol="0" anchor="ctr"/>
          <a:lstStyle/>
          <a:p>
            <a:pPr algn="l" indent="0" marL="0">
              <a:buNone/>
            </a:pPr>
            <a:r>
              <a:rPr lang="en-US" sz="1700" b="1" i="1" dirty="0">
                <a:solidFill>
                  <a:srgbClr val="D9700F"/>
                </a:solidFill>
              </a:rPr>
              <a:t>Tegen vrijdag</a:t>
            </a:r>
            <a:r>
              <a:rPr lang="en-US" sz="1700" i="1" dirty="0">
                <a:solidFill>
                  <a:schemeClr val="tx1"/>
                </a:solidFill>
              </a:rPr>
              <a:t> </a:t>
            </a:r>
            <a:r>
              <a:rPr lang="en-US" sz="1700" b="1" i="1" dirty="0">
                <a:solidFill>
                  <a:srgbClr val="B83227"/>
                </a:solidFill>
              </a:rPr>
              <a:t>zal</a:t>
            </a:r>
            <a:r>
              <a:rPr lang="en-US" sz="1700" i="1" dirty="0">
                <a:solidFill>
                  <a:schemeClr val="tx1"/>
                </a:solidFill>
              </a:rPr>
              <a:t> ik het rapport </a:t>
            </a:r>
            <a:r>
              <a:rPr lang="en-US" sz="1700" b="1" i="1" dirty="0">
                <a:solidFill>
                  <a:srgbClr val="B83227"/>
                </a:solidFill>
              </a:rPr>
              <a:t>geschreven hebben</a:t>
            </a:r>
            <a:r>
              <a:rPr lang="en-US" sz="1700" i="1" dirty="0">
                <a:solidFill>
                  <a:schemeClr val="tx1"/>
                </a:solidFill>
              </a:rPr>
              <a:t>.</a:t>
            </a:r>
            <a:endParaRPr lang="en-US" sz="1800" dirty="0"/>
          </a:p>
        </p:txBody>
      </p:sp>
      <p:sp>
        <p:nvSpPr>
          <p:cNvPr id="16" name="Text 11"/>
          <p:cNvSpPr txBox="1"/>
          <p:nvPr/>
        </p:nvSpPr>
        <p:spPr>
          <a:xfrm>
            <a:off x="7772400" y="3246120"/>
            <a:ext cx="3749040" cy="621792"/>
          </a:xfrm>
          <a:prstGeom prst="rect">
            <a:avLst/>
          </a:prstGeom>
          <a:noFill/>
          <a:ln/>
        </p:spPr>
        <p:txBody>
          <a:bodyPr wrap="square" lIns="0" tIns="0" rIns="0" bIns="0" rtlCol="0" anchor="ctr"/>
          <a:lstStyle/>
          <a:p>
            <a:pPr algn="l" indent="0" marL="0">
              <a:buNone/>
            </a:pPr>
            <a:r>
              <a:rPr lang="en-US" sz="1300" i="1" dirty="0">
                <a:solidFill>
                  <a:schemeClr val="accent5"/>
                </a:solidFill>
              </a:rPr>
              <a:t>« d’ici vendredi, j’aurai écrit le rapport »</a:t>
            </a:r>
            <a:endParaRPr lang="en-US" sz="1300" dirty="0"/>
          </a:p>
        </p:txBody>
      </p:sp>
      <p:sp>
        <p:nvSpPr>
          <p:cNvPr id="17" name="Shape 12"/>
          <p:cNvSpPr/>
          <p:nvPr/>
        </p:nvSpPr>
        <p:spPr>
          <a:xfrm>
            <a:off x="548640" y="3931920"/>
            <a:ext cx="11091672" cy="621792"/>
          </a:xfrm>
          <a:prstGeom prst="roundRect">
            <a:avLst>
              <a:gd name="adj" fmla="val 11765"/>
            </a:avLst>
          </a:prstGeom>
          <a:solidFill>
            <a:srgbClr val="FFFFFF"/>
          </a:solidFill>
          <a:ln w="12700">
            <a:solidFill>
              <a:srgbClr val="FFFFFF">
                <a:alpha val="0"/>
              </a:srgbClr>
            </a:solidFill>
            <a:prstDash val="solid"/>
          </a:ln>
        </p:spPr>
      </p:sp>
      <p:sp>
        <p:nvSpPr>
          <p:cNvPr id="18" name="Text 13"/>
          <p:cNvSpPr txBox="1"/>
          <p:nvPr/>
        </p:nvSpPr>
        <p:spPr>
          <a:xfrm>
            <a:off x="731520" y="3931920"/>
            <a:ext cx="6949440" cy="621792"/>
          </a:xfrm>
          <a:prstGeom prst="rect">
            <a:avLst/>
          </a:prstGeom>
          <a:noFill/>
          <a:ln/>
        </p:spPr>
        <p:txBody>
          <a:bodyPr wrap="square" lIns="0" tIns="0" rIns="0" bIns="0" rtlCol="0" anchor="ctr"/>
          <a:lstStyle/>
          <a:p>
            <a:pPr algn="l" indent="0" marL="0">
              <a:buNone/>
            </a:pPr>
            <a:r>
              <a:rPr lang="en-US" sz="1700" b="1" i="1" dirty="0">
                <a:solidFill>
                  <a:srgbClr val="D9700F"/>
                </a:solidFill>
              </a:rPr>
              <a:t>Volgend jaar</a:t>
            </a:r>
            <a:r>
              <a:rPr lang="en-US" sz="1700" i="1" dirty="0">
                <a:solidFill>
                  <a:schemeClr val="tx1"/>
                </a:solidFill>
              </a:rPr>
              <a:t> </a:t>
            </a:r>
            <a:r>
              <a:rPr lang="en-US" sz="1700" b="1" i="1" dirty="0">
                <a:solidFill>
                  <a:srgbClr val="B83227"/>
                </a:solidFill>
              </a:rPr>
              <a:t>zal</a:t>
            </a:r>
            <a:r>
              <a:rPr lang="en-US" sz="1700" i="1" dirty="0">
                <a:solidFill>
                  <a:schemeClr val="tx1"/>
                </a:solidFill>
              </a:rPr>
              <a:t> ik hier tien jaar </a:t>
            </a:r>
            <a:r>
              <a:rPr lang="en-US" sz="1700" b="1" i="1" dirty="0">
                <a:solidFill>
                  <a:srgbClr val="B83227"/>
                </a:solidFill>
              </a:rPr>
              <a:t>gewerkt hebben</a:t>
            </a:r>
            <a:r>
              <a:rPr lang="en-US" sz="1700" i="1" dirty="0">
                <a:solidFill>
                  <a:schemeClr val="tx1"/>
                </a:solidFill>
              </a:rPr>
              <a:t>.</a:t>
            </a:r>
            <a:endParaRPr lang="en-US" sz="1800" dirty="0"/>
          </a:p>
        </p:txBody>
      </p:sp>
      <p:sp>
        <p:nvSpPr>
          <p:cNvPr id="19" name="Text 14"/>
          <p:cNvSpPr txBox="1"/>
          <p:nvPr/>
        </p:nvSpPr>
        <p:spPr>
          <a:xfrm>
            <a:off x="7772400" y="3931920"/>
            <a:ext cx="3749040" cy="621792"/>
          </a:xfrm>
          <a:prstGeom prst="rect">
            <a:avLst/>
          </a:prstGeom>
          <a:noFill/>
          <a:ln/>
        </p:spPr>
        <p:txBody>
          <a:bodyPr wrap="square" lIns="0" tIns="0" rIns="0" bIns="0" rtlCol="0" anchor="ctr"/>
          <a:lstStyle/>
          <a:p>
            <a:pPr algn="l" indent="0" marL="0">
              <a:buNone/>
            </a:pPr>
            <a:r>
              <a:rPr lang="en-US" sz="1300" i="1" dirty="0">
                <a:solidFill>
                  <a:schemeClr val="accent5"/>
                </a:solidFill>
              </a:rPr>
              <a:t>« l’an prochain, j’aurai travaillé ici dix ans »</a:t>
            </a:r>
            <a:endParaRPr lang="en-US" sz="1300" dirty="0"/>
          </a:p>
        </p:txBody>
      </p:sp>
      <p:sp>
        <p:nvSpPr>
          <p:cNvPr id="20" name="Shape 15"/>
          <p:cNvSpPr/>
          <p:nvPr/>
        </p:nvSpPr>
        <p:spPr>
          <a:xfrm>
            <a:off x="548640" y="4617720"/>
            <a:ext cx="11091672" cy="621792"/>
          </a:xfrm>
          <a:prstGeom prst="roundRect">
            <a:avLst>
              <a:gd name="adj" fmla="val 11765"/>
            </a:avLst>
          </a:prstGeom>
          <a:solidFill>
            <a:schemeClr val="bg2"/>
          </a:solidFill>
          <a:ln w="12700">
            <a:solidFill>
              <a:srgbClr val="FFFFFF">
                <a:alpha val="0"/>
              </a:srgbClr>
            </a:solidFill>
            <a:prstDash val="solid"/>
          </a:ln>
        </p:spPr>
      </p:sp>
      <p:sp>
        <p:nvSpPr>
          <p:cNvPr id="21" name="Text 16"/>
          <p:cNvSpPr txBox="1"/>
          <p:nvPr/>
        </p:nvSpPr>
        <p:spPr>
          <a:xfrm>
            <a:off x="731520" y="4617720"/>
            <a:ext cx="6949440" cy="621792"/>
          </a:xfrm>
          <a:prstGeom prst="rect">
            <a:avLst/>
          </a:prstGeom>
          <a:noFill/>
          <a:ln/>
        </p:spPr>
        <p:txBody>
          <a:bodyPr wrap="square" lIns="0" tIns="0" rIns="0" bIns="0" rtlCol="0" anchor="ctr"/>
          <a:lstStyle/>
          <a:p>
            <a:pPr algn="l" indent="0" marL="0">
              <a:buNone/>
            </a:pPr>
            <a:r>
              <a:rPr lang="en-US" sz="1700" i="1" dirty="0">
                <a:solidFill>
                  <a:schemeClr val="tx1"/>
                </a:solidFill>
              </a:rPr>
              <a:t>Hij is er nog niet: hij </a:t>
            </a:r>
            <a:r>
              <a:rPr lang="en-US" sz="1700" b="1" i="1" dirty="0">
                <a:solidFill>
                  <a:srgbClr val="B83227"/>
                </a:solidFill>
              </a:rPr>
              <a:t>zal</a:t>
            </a:r>
            <a:r>
              <a:rPr lang="en-US" sz="1700" i="1" dirty="0">
                <a:solidFill>
                  <a:schemeClr val="tx1"/>
                </a:solidFill>
              </a:rPr>
              <a:t> de trein </a:t>
            </a:r>
            <a:r>
              <a:rPr lang="en-US" sz="1700" b="1" i="1" dirty="0">
                <a:solidFill>
                  <a:srgbClr val="D9700F"/>
                </a:solidFill>
              </a:rPr>
              <a:t>wel</a:t>
            </a:r>
            <a:r>
              <a:rPr lang="en-US" sz="1700" i="1" dirty="0">
                <a:solidFill>
                  <a:schemeClr val="tx1"/>
                </a:solidFill>
              </a:rPr>
              <a:t> </a:t>
            </a:r>
            <a:r>
              <a:rPr lang="en-US" sz="1700" b="1" i="1" dirty="0">
                <a:solidFill>
                  <a:srgbClr val="B83227"/>
                </a:solidFill>
              </a:rPr>
              <a:t>gemist hebben</a:t>
            </a:r>
            <a:r>
              <a:rPr lang="en-US" sz="1700" i="1" dirty="0">
                <a:solidFill>
                  <a:schemeClr val="tx1"/>
                </a:solidFill>
              </a:rPr>
              <a:t>.</a:t>
            </a:r>
            <a:endParaRPr lang="en-US" sz="1800" dirty="0"/>
          </a:p>
        </p:txBody>
      </p:sp>
      <p:sp>
        <p:nvSpPr>
          <p:cNvPr id="22" name="Text 17"/>
          <p:cNvSpPr txBox="1"/>
          <p:nvPr/>
        </p:nvSpPr>
        <p:spPr>
          <a:xfrm>
            <a:off x="7772400" y="4617720"/>
            <a:ext cx="3749040" cy="621792"/>
          </a:xfrm>
          <a:prstGeom prst="rect">
            <a:avLst/>
          </a:prstGeom>
          <a:noFill/>
          <a:ln/>
        </p:spPr>
        <p:txBody>
          <a:bodyPr wrap="square" lIns="0" tIns="0" rIns="0" bIns="0" rtlCol="0" anchor="ctr"/>
          <a:lstStyle/>
          <a:p>
            <a:pPr algn="l" indent="0" marL="0">
              <a:buNone/>
            </a:pPr>
            <a:r>
              <a:rPr lang="en-US" sz="1300" i="1" dirty="0">
                <a:solidFill>
                  <a:schemeClr val="accent5"/>
                </a:solidFill>
              </a:rPr>
              <a:t>« supposition : il aura raté le train »</a:t>
            </a:r>
            <a:endParaRPr lang="en-US" sz="1300" dirty="0"/>
          </a:p>
        </p:txBody>
      </p:sp>
      <p:sp>
        <p:nvSpPr>
          <p:cNvPr id="23" name="Shape 18"/>
          <p:cNvSpPr/>
          <p:nvPr/>
        </p:nvSpPr>
        <p:spPr>
          <a:xfrm>
            <a:off x="548640" y="5486400"/>
            <a:ext cx="11091672" cy="640080"/>
          </a:xfrm>
          <a:prstGeom prst="roundRect">
            <a:avLst>
              <a:gd name="adj" fmla="val 11429"/>
            </a:avLst>
          </a:prstGeom>
          <a:solidFill>
            <a:srgbClr val="1B5734"/>
          </a:solidFill>
          <a:ln w="12700">
            <a:solidFill>
              <a:srgbClr val="FFFFFF">
                <a:alpha val="0"/>
              </a:srgbClr>
            </a:solidFill>
            <a:prstDash val="solid"/>
          </a:ln>
        </p:spPr>
      </p:sp>
      <p:sp>
        <p:nvSpPr>
          <p:cNvPr id="24" name="Text 19"/>
          <p:cNvSpPr txBox="1"/>
          <p:nvPr/>
        </p:nvSpPr>
        <p:spPr>
          <a:xfrm>
            <a:off x="822960" y="5486400"/>
            <a:ext cx="10607040" cy="640080"/>
          </a:xfrm>
          <a:prstGeom prst="rect">
            <a:avLst/>
          </a:prstGeom>
          <a:noFill/>
          <a:ln/>
        </p:spPr>
        <p:txBody>
          <a:bodyPr wrap="square" lIns="0" tIns="0" rIns="0" bIns="0" rtlCol="0" anchor="ctr"/>
          <a:lstStyle/>
          <a:p>
            <a:pPr algn="l" indent="0" marL="0">
              <a:buNone/>
            </a:pPr>
            <a:r>
              <a:rPr lang="en-US" sz="1600" dirty="0">
                <a:solidFill>
                  <a:schemeClr val="bg1"/>
                </a:solidFill>
              </a:rPr>
              <a:t>À l’oral, plus simple : </a:t>
            </a:r>
            <a:r>
              <a:rPr lang="en-US" sz="1600" i="1" dirty="0">
                <a:solidFill>
                  <a:schemeClr val="bg1"/>
                </a:solidFill>
              </a:rPr>
              <a:t>Tegen vrijdag </a:t>
            </a:r>
            <a:r>
              <a:rPr lang="en-US" sz="1600" b="1" i="1" dirty="0">
                <a:solidFill>
                  <a:schemeClr val="bg1"/>
                </a:solidFill>
              </a:rPr>
              <a:t>heb</a:t>
            </a:r>
            <a:r>
              <a:rPr lang="en-US" sz="1600" i="1" dirty="0">
                <a:solidFill>
                  <a:schemeClr val="bg1"/>
                </a:solidFill>
              </a:rPr>
              <a:t> ik het rapport </a:t>
            </a:r>
            <a:r>
              <a:rPr lang="en-US" sz="1600" b="1" i="1" dirty="0">
                <a:solidFill>
                  <a:schemeClr val="bg1"/>
                </a:solidFill>
              </a:rPr>
              <a:t>geschreven</a:t>
            </a:r>
            <a:r>
              <a:rPr lang="en-US" sz="1600" i="1" dirty="0">
                <a:solidFill>
                  <a:schemeClr val="bg1"/>
                </a:solidFill>
              </a:rPr>
              <a:t>.</a:t>
            </a:r>
            <a:r>
              <a:rPr lang="en-US" sz="1600" dirty="0">
                <a:solidFill>
                  <a:schemeClr val="bg1"/>
                </a:solidFill>
              </a:rPr>
              <a:t> (perfectum + marqueur)</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conditionnel : zou + infinitif</a:t>
            </a:r>
            <a:endParaRPr lang="en-US" sz="3000" dirty="0"/>
          </a:p>
        </p:txBody>
      </p:sp>
      <p:sp>
        <p:nvSpPr>
          <p:cNvPr id="3" name="tag"/>
          <p:cNvSpPr/>
          <p:nvPr/>
        </p:nvSpPr>
        <p:spPr>
          <a:xfrm>
            <a:off x="548640" y="237744"/>
            <a:ext cx="1770278"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L’IMAGINAIRE</a:t>
            </a:r>
            <a:endParaRPr lang="en-US" sz="1200" dirty="0"/>
          </a:p>
        </p:txBody>
      </p:sp>
      <p:sp>
        <p:nvSpPr>
          <p:cNvPr id="5" name="Shape 2"/>
          <p:cNvSpPr/>
          <p:nvPr/>
        </p:nvSpPr>
        <p:spPr>
          <a:xfrm>
            <a:off x="548640" y="1325880"/>
            <a:ext cx="3017520" cy="1097280"/>
          </a:xfrm>
          <a:prstGeom prst="cloud">
            <a:avLst/>
          </a:prstGeom>
          <a:solidFill>
            <a:srgbClr val="F1ECF7"/>
          </a:solidFill>
          <a:ln w="19050">
            <a:solidFill>
              <a:srgbClr val="6E4A9E"/>
            </a:solidFill>
            <a:prstDash val="solid"/>
          </a:ln>
        </p:spPr>
      </p:sp>
      <p:pic>
        <p:nvPicPr>
          <p:cNvPr id="6" name="Image 0" descr="thought balloon">    </p:cNvPr>
          <p:cNvPicPr>
            <a:picLocks noChangeAspect="1"/>
          </p:cNvPicPr>
          <p:nvPr/>
        </p:nvPicPr>
        <p:blipFill>
          <a:blip r:embed="rId1"/>
          <a:stretch>
            <a:fillRect/>
          </a:stretch>
        </p:blipFill>
        <p:spPr>
          <a:xfrm>
            <a:off x="914400" y="1463040"/>
            <a:ext cx="731520" cy="731520"/>
          </a:xfrm>
          <a:prstGeom prst="rect">
            <a:avLst/>
          </a:prstGeom>
        </p:spPr>
      </p:pic>
      <p:sp>
        <p:nvSpPr>
          <p:cNvPr id="7" name="Text 3"/>
          <p:cNvSpPr txBox="1"/>
          <p:nvPr/>
        </p:nvSpPr>
        <p:spPr>
          <a:xfrm>
            <a:off x="1737360" y="1463040"/>
            <a:ext cx="1371600" cy="731520"/>
          </a:xfrm>
          <a:prstGeom prst="rect">
            <a:avLst/>
          </a:prstGeom>
          <a:noFill/>
          <a:ln/>
        </p:spPr>
        <p:txBody>
          <a:bodyPr wrap="square" lIns="0" tIns="0" rIns="0" bIns="0" rtlCol="0" anchor="ctr"/>
          <a:lstStyle/>
          <a:p>
            <a:pPr algn="l" indent="0" marL="0">
              <a:buNone/>
            </a:pPr>
            <a:r>
              <a:rPr lang="en-US" sz="2400" b="1" dirty="0">
                <a:solidFill>
                  <a:srgbClr val="6E4A9E"/>
                </a:solidFill>
              </a:rPr>
              <a:t>zou</a:t>
            </a:r>
            <a:endParaRPr lang="en-US" sz="2400" dirty="0"/>
          </a:p>
        </p:txBody>
      </p:sp>
      <p:sp>
        <p:nvSpPr>
          <p:cNvPr id="8" name="Shape 4"/>
          <p:cNvSpPr/>
          <p:nvPr/>
        </p:nvSpPr>
        <p:spPr>
          <a:xfrm>
            <a:off x="3931920" y="1600200"/>
            <a:ext cx="577901" cy="566928"/>
          </a:xfrm>
          <a:prstGeom prst="roundRect">
            <a:avLst>
              <a:gd name="adj" fmla="val 16129"/>
            </a:avLst>
          </a:prstGeom>
          <a:solidFill>
            <a:schemeClr val="bg1"/>
          </a:solidFill>
          <a:ln w="15875">
            <a:solidFill>
              <a:srgbClr val="D5DCE6"/>
            </a:solidFill>
            <a:prstDash val="solid"/>
          </a:ln>
        </p:spPr>
      </p:sp>
      <p:sp>
        <p:nvSpPr>
          <p:cNvPr id="9" name="Text 5"/>
          <p:cNvSpPr txBox="1"/>
          <p:nvPr/>
        </p:nvSpPr>
        <p:spPr>
          <a:xfrm>
            <a:off x="3931920" y="1600200"/>
            <a:ext cx="577901" cy="566928"/>
          </a:xfrm>
          <a:prstGeom prst="rect">
            <a:avLst/>
          </a:prstGeom>
          <a:noFill/>
          <a:ln/>
        </p:spPr>
        <p:txBody>
          <a:bodyPr wrap="square" lIns="0" tIns="0" rIns="0" bIns="0" rtlCol="0" anchor="ctr"/>
          <a:lstStyle/>
          <a:p>
            <a:pPr algn="ctr" indent="0" marL="0">
              <a:buNone/>
            </a:pPr>
            <a:r>
              <a:rPr lang="en-US" sz="2000" dirty="0">
                <a:solidFill>
                  <a:schemeClr val="tx1"/>
                </a:solidFill>
              </a:rPr>
              <a:t>Ik</a:t>
            </a:r>
            <a:endParaRPr lang="en-US" sz="2000" dirty="0"/>
          </a:p>
        </p:txBody>
      </p:sp>
      <p:sp>
        <p:nvSpPr>
          <p:cNvPr id="10" name="Shape 6"/>
          <p:cNvSpPr/>
          <p:nvPr/>
        </p:nvSpPr>
        <p:spPr>
          <a:xfrm>
            <a:off x="4582973" y="1600200"/>
            <a:ext cx="880165" cy="566928"/>
          </a:xfrm>
          <a:prstGeom prst="roundRect">
            <a:avLst>
              <a:gd name="adj" fmla="val 16129"/>
            </a:avLst>
          </a:prstGeom>
          <a:solidFill>
            <a:schemeClr val="accent6"/>
          </a:solidFill>
          <a:ln w="12700">
            <a:solidFill>
              <a:srgbClr val="FFFFFF">
                <a:alpha val="0"/>
              </a:srgbClr>
            </a:solidFill>
            <a:prstDash val="solid"/>
          </a:ln>
        </p:spPr>
      </p:sp>
      <p:sp>
        <p:nvSpPr>
          <p:cNvPr id="11" name="Text 7"/>
          <p:cNvSpPr txBox="1"/>
          <p:nvPr/>
        </p:nvSpPr>
        <p:spPr>
          <a:xfrm>
            <a:off x="4582973" y="1600200"/>
            <a:ext cx="880165" cy="566928"/>
          </a:xfrm>
          <a:prstGeom prst="rect">
            <a:avLst/>
          </a:prstGeom>
          <a:noFill/>
          <a:ln/>
        </p:spPr>
        <p:txBody>
          <a:bodyPr wrap="square" lIns="0" tIns="0" rIns="0" bIns="0" rtlCol="0" anchor="ctr"/>
          <a:lstStyle/>
          <a:p>
            <a:pPr algn="ctr" indent="0" marL="0">
              <a:buNone/>
            </a:pPr>
            <a:r>
              <a:rPr lang="en-US" sz="2000" b="1" dirty="0">
                <a:solidFill>
                  <a:schemeClr val="bg1"/>
                </a:solidFill>
              </a:rPr>
              <a:t>zou</a:t>
            </a:r>
            <a:endParaRPr lang="en-US" sz="2000" dirty="0"/>
          </a:p>
        </p:txBody>
      </p:sp>
      <p:sp>
        <p:nvSpPr>
          <p:cNvPr id="12" name="Shape 8"/>
          <p:cNvSpPr/>
          <p:nvPr/>
        </p:nvSpPr>
        <p:spPr>
          <a:xfrm>
            <a:off x="5536290" y="1600200"/>
            <a:ext cx="1005840" cy="566928"/>
          </a:xfrm>
          <a:prstGeom prst="roundRect">
            <a:avLst>
              <a:gd name="adj" fmla="val 16129"/>
            </a:avLst>
          </a:prstGeom>
          <a:solidFill>
            <a:schemeClr val="bg1"/>
          </a:solidFill>
          <a:ln w="15875">
            <a:solidFill>
              <a:srgbClr val="D5DCE6"/>
            </a:solidFill>
            <a:prstDash val="solid"/>
          </a:ln>
        </p:spPr>
      </p:sp>
      <p:sp>
        <p:nvSpPr>
          <p:cNvPr id="13" name="Text 9"/>
          <p:cNvSpPr txBox="1"/>
          <p:nvPr/>
        </p:nvSpPr>
        <p:spPr>
          <a:xfrm>
            <a:off x="5536290" y="1600200"/>
            <a:ext cx="1005840" cy="566928"/>
          </a:xfrm>
          <a:prstGeom prst="rect">
            <a:avLst/>
          </a:prstGeom>
          <a:noFill/>
          <a:ln/>
        </p:spPr>
        <p:txBody>
          <a:bodyPr wrap="square" lIns="0" tIns="0" rIns="0" bIns="0" rtlCol="0" anchor="ctr"/>
          <a:lstStyle/>
          <a:p>
            <a:pPr algn="ctr" indent="0" marL="0">
              <a:buNone/>
            </a:pPr>
            <a:r>
              <a:rPr lang="en-US" sz="2000" dirty="0">
                <a:solidFill>
                  <a:schemeClr val="tx1"/>
                </a:solidFill>
              </a:rPr>
              <a:t>graag</a:t>
            </a:r>
            <a:endParaRPr lang="en-US" sz="2000" dirty="0"/>
          </a:p>
        </p:txBody>
      </p:sp>
      <p:sp>
        <p:nvSpPr>
          <p:cNvPr id="14" name="Shape 10"/>
          <p:cNvSpPr/>
          <p:nvPr/>
        </p:nvSpPr>
        <p:spPr>
          <a:xfrm>
            <a:off x="6615282" y="1600200"/>
            <a:ext cx="1359457" cy="566928"/>
          </a:xfrm>
          <a:prstGeom prst="roundRect">
            <a:avLst>
              <a:gd name="adj" fmla="val 16129"/>
            </a:avLst>
          </a:prstGeom>
          <a:solidFill>
            <a:srgbClr val="FBEDEB"/>
          </a:solidFill>
          <a:ln w="22225">
            <a:solidFill>
              <a:srgbClr val="B83227"/>
            </a:solidFill>
            <a:prstDash val="solid"/>
          </a:ln>
        </p:spPr>
      </p:sp>
      <p:sp>
        <p:nvSpPr>
          <p:cNvPr id="15" name="Text 11"/>
          <p:cNvSpPr txBox="1"/>
          <p:nvPr/>
        </p:nvSpPr>
        <p:spPr>
          <a:xfrm>
            <a:off x="6615282" y="1600200"/>
            <a:ext cx="1359457" cy="566928"/>
          </a:xfrm>
          <a:prstGeom prst="rect">
            <a:avLst/>
          </a:prstGeom>
          <a:noFill/>
          <a:ln/>
        </p:spPr>
        <p:txBody>
          <a:bodyPr wrap="square" lIns="0" tIns="0" rIns="0" bIns="0" rtlCol="0" anchor="ctr"/>
          <a:lstStyle/>
          <a:p>
            <a:pPr algn="ctr" indent="0" marL="0">
              <a:buNone/>
            </a:pPr>
            <a:r>
              <a:rPr lang="en-US" sz="2000" b="1" dirty="0">
                <a:solidFill>
                  <a:schemeClr val="accent6"/>
                </a:solidFill>
              </a:rPr>
              <a:t>komen.</a:t>
            </a:r>
            <a:endParaRPr lang="en-US" sz="2000" dirty="0"/>
          </a:p>
        </p:txBody>
      </p:sp>
      <p:sp>
        <p:nvSpPr>
          <p:cNvPr id="16" name="Text 12"/>
          <p:cNvSpPr txBox="1"/>
          <p:nvPr/>
        </p:nvSpPr>
        <p:spPr>
          <a:xfrm>
            <a:off x="3931920" y="2194560"/>
            <a:ext cx="7680960" cy="365760"/>
          </a:xfrm>
          <a:prstGeom prst="rect">
            <a:avLst/>
          </a:prstGeom>
          <a:noFill/>
          <a:ln/>
        </p:spPr>
        <p:txBody>
          <a:bodyPr wrap="square" lIns="0" tIns="0" rIns="0" bIns="0" rtlCol="0" anchor="t"/>
          <a:lstStyle/>
          <a:p>
            <a:pPr algn="l" indent="0" marL="0">
              <a:buNone/>
            </a:pPr>
            <a:r>
              <a:rPr lang="en-US" sz="1400" i="1" dirty="0">
                <a:solidFill>
                  <a:schemeClr val="tx2"/>
                </a:solidFill>
              </a:rPr>
              <a:t>zou</a:t>
            </a:r>
            <a:r>
              <a:rPr lang="en-US" sz="1400" dirty="0">
                <a:solidFill>
                  <a:schemeClr val="tx2"/>
                </a:solidFill>
              </a:rPr>
              <a:t> (ik, jij, hij) · </a:t>
            </a:r>
            <a:r>
              <a:rPr lang="en-US" sz="1400" i="1" dirty="0">
                <a:solidFill>
                  <a:schemeClr val="tx2"/>
                </a:solidFill>
              </a:rPr>
              <a:t>zouden</a:t>
            </a:r>
            <a:r>
              <a:rPr lang="en-US" sz="1400" dirty="0">
                <a:solidFill>
                  <a:schemeClr val="tx2"/>
                </a:solidFill>
              </a:rPr>
              <a:t> (we, jullie, ze) · infinitif </a:t>
            </a:r>
            <a:r>
              <a:rPr lang="en-US" sz="1400" b="1" dirty="0">
                <a:solidFill>
                  <a:schemeClr val="tx2"/>
                </a:solidFill>
              </a:rPr>
              <a:t>à la fin</a:t>
            </a:r>
            <a:endParaRPr lang="en-US" sz="1400" dirty="0"/>
          </a:p>
        </p:txBody>
      </p:sp>
      <p:sp>
        <p:nvSpPr>
          <p:cNvPr id="17" name="Shape 13"/>
          <p:cNvSpPr/>
          <p:nvPr/>
        </p:nvSpPr>
        <p:spPr>
          <a:xfrm>
            <a:off x="548640" y="2697480"/>
            <a:ext cx="5454396" cy="1325880"/>
          </a:xfrm>
          <a:prstGeom prst="roundRect">
            <a:avLst>
              <a:gd name="adj" fmla="val 8276"/>
            </a:avLst>
          </a:prstGeom>
          <a:solidFill>
            <a:srgbClr val="FFFFFF"/>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8" name="Text 14"/>
          <p:cNvSpPr txBox="1"/>
          <p:nvPr/>
        </p:nvSpPr>
        <p:spPr>
          <a:xfrm>
            <a:off x="731520" y="2752344"/>
            <a:ext cx="5088636" cy="365760"/>
          </a:xfrm>
          <a:prstGeom prst="rect">
            <a:avLst/>
          </a:prstGeom>
          <a:noFill/>
          <a:ln/>
        </p:spPr>
        <p:txBody>
          <a:bodyPr wrap="square" lIns="0" tIns="0" rIns="0" bIns="0" rtlCol="0" anchor="ctr"/>
          <a:lstStyle/>
          <a:p>
            <a:pPr algn="l" indent="0" marL="0">
              <a:buNone/>
            </a:pPr>
            <a:r>
              <a:rPr lang="en-US" sz="1400" b="1" dirty="0">
                <a:solidFill>
                  <a:srgbClr val="6E4A9E"/>
                </a:solidFill>
              </a:rPr>
              <a:t>POLITESSE</a:t>
            </a:r>
            <a:endParaRPr lang="en-US" sz="1400" dirty="0"/>
          </a:p>
        </p:txBody>
      </p:sp>
      <p:sp>
        <p:nvSpPr>
          <p:cNvPr id="19" name="Text 15"/>
          <p:cNvSpPr txBox="1"/>
          <p:nvPr/>
        </p:nvSpPr>
        <p:spPr>
          <a:xfrm>
            <a:off x="731520" y="3108960"/>
            <a:ext cx="5088636" cy="502920"/>
          </a:xfrm>
          <a:prstGeom prst="rect">
            <a:avLst/>
          </a:prstGeom>
          <a:noFill/>
          <a:ln/>
        </p:spPr>
        <p:txBody>
          <a:bodyPr wrap="square" lIns="0" tIns="0" rIns="0" bIns="0" rtlCol="0" anchor="ctr"/>
          <a:lstStyle/>
          <a:p>
            <a:pPr algn="l" indent="0" marL="0">
              <a:buNone/>
            </a:pPr>
            <a:r>
              <a:rPr lang="en-US" sz="1800" b="1" i="1" dirty="0">
                <a:solidFill>
                  <a:srgbClr val="B83227"/>
                </a:solidFill>
              </a:rPr>
              <a:t>Zou</a:t>
            </a:r>
            <a:r>
              <a:rPr lang="en-US" sz="1800" i="1" dirty="0">
                <a:solidFill>
                  <a:schemeClr val="tx1"/>
                </a:solidFill>
              </a:rPr>
              <a:t> u het raam </a:t>
            </a:r>
            <a:r>
              <a:rPr lang="en-US" sz="1800" b="1" i="1" dirty="0">
                <a:solidFill>
                  <a:srgbClr val="B83227"/>
                </a:solidFill>
              </a:rPr>
              <a:t>kunnen sluiten</a:t>
            </a:r>
            <a:r>
              <a:rPr lang="en-US" sz="1800" i="1" dirty="0">
                <a:solidFill>
                  <a:schemeClr val="tx1"/>
                </a:solidFill>
              </a:rPr>
              <a:t>?</a:t>
            </a:r>
            <a:endParaRPr lang="en-US" sz="1800" dirty="0"/>
          </a:p>
        </p:txBody>
      </p:sp>
      <p:sp>
        <p:nvSpPr>
          <p:cNvPr id="20" name="Text 16"/>
          <p:cNvSpPr txBox="1"/>
          <p:nvPr/>
        </p:nvSpPr>
        <p:spPr>
          <a:xfrm>
            <a:off x="731520" y="3611880"/>
            <a:ext cx="5088636" cy="347472"/>
          </a:xfrm>
          <a:prstGeom prst="rect">
            <a:avLst/>
          </a:prstGeom>
          <a:noFill/>
          <a:ln/>
        </p:spPr>
        <p:txBody>
          <a:bodyPr wrap="square" lIns="0" tIns="0" rIns="0" bIns="0" rtlCol="0" anchor="ctr"/>
          <a:lstStyle/>
          <a:p>
            <a:pPr algn="l" indent="0" marL="0">
              <a:buNone/>
            </a:pPr>
            <a:r>
              <a:rPr lang="en-US" sz="1300" i="1" dirty="0">
                <a:solidFill>
                  <a:schemeClr val="accent5"/>
                </a:solidFill>
              </a:rPr>
              <a:t>« pourriez-vous fermer la fenêtre ? »</a:t>
            </a:r>
            <a:endParaRPr lang="en-US" sz="1300" dirty="0"/>
          </a:p>
        </p:txBody>
      </p:sp>
      <p:sp>
        <p:nvSpPr>
          <p:cNvPr id="21" name="Shape 17"/>
          <p:cNvSpPr/>
          <p:nvPr/>
        </p:nvSpPr>
        <p:spPr>
          <a:xfrm>
            <a:off x="6185916" y="2697480"/>
            <a:ext cx="5454396" cy="1325880"/>
          </a:xfrm>
          <a:prstGeom prst="roundRect">
            <a:avLst>
              <a:gd name="adj" fmla="val 8276"/>
            </a:avLst>
          </a:prstGeom>
          <a:solidFill>
            <a:srgbClr val="FFFFFF"/>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22" name="Text 18"/>
          <p:cNvSpPr txBox="1"/>
          <p:nvPr/>
        </p:nvSpPr>
        <p:spPr>
          <a:xfrm>
            <a:off x="6368796" y="2752344"/>
            <a:ext cx="5088636" cy="365760"/>
          </a:xfrm>
          <a:prstGeom prst="rect">
            <a:avLst/>
          </a:prstGeom>
          <a:noFill/>
          <a:ln/>
        </p:spPr>
        <p:txBody>
          <a:bodyPr wrap="square" lIns="0" tIns="0" rIns="0" bIns="0" rtlCol="0" anchor="ctr"/>
          <a:lstStyle/>
          <a:p>
            <a:pPr algn="l" indent="0" marL="0">
              <a:buNone/>
            </a:pPr>
            <a:r>
              <a:rPr lang="en-US" sz="1400" b="1" dirty="0">
                <a:solidFill>
                  <a:srgbClr val="6E4A9E"/>
                </a:solidFill>
              </a:rPr>
              <a:t>CONSEIL</a:t>
            </a:r>
            <a:endParaRPr lang="en-US" sz="1400" dirty="0"/>
          </a:p>
        </p:txBody>
      </p:sp>
      <p:sp>
        <p:nvSpPr>
          <p:cNvPr id="23" name="Text 19"/>
          <p:cNvSpPr txBox="1"/>
          <p:nvPr/>
        </p:nvSpPr>
        <p:spPr>
          <a:xfrm>
            <a:off x="6368796" y="3108960"/>
            <a:ext cx="5088636" cy="502920"/>
          </a:xfrm>
          <a:prstGeom prst="rect">
            <a:avLst/>
          </a:prstGeom>
          <a:noFill/>
          <a:ln/>
        </p:spPr>
        <p:txBody>
          <a:bodyPr wrap="square" lIns="0" tIns="0" rIns="0" bIns="0" rtlCol="0" anchor="ctr"/>
          <a:lstStyle/>
          <a:p>
            <a:pPr algn="l" indent="0" marL="0">
              <a:buNone/>
            </a:pPr>
            <a:r>
              <a:rPr lang="en-US" sz="1800" i="1" dirty="0">
                <a:solidFill>
                  <a:schemeClr val="tx1"/>
                </a:solidFill>
              </a:rPr>
              <a:t>Je </a:t>
            </a:r>
            <a:r>
              <a:rPr lang="en-US" sz="1800" b="1" i="1" dirty="0">
                <a:solidFill>
                  <a:srgbClr val="B83227"/>
                </a:solidFill>
              </a:rPr>
              <a:t>zou</a:t>
            </a:r>
            <a:r>
              <a:rPr lang="en-US" sz="1800" i="1" dirty="0">
                <a:solidFill>
                  <a:schemeClr val="tx1"/>
                </a:solidFill>
              </a:rPr>
              <a:t> meer </a:t>
            </a:r>
            <a:r>
              <a:rPr lang="en-US" sz="1800" b="1" i="1" dirty="0">
                <a:solidFill>
                  <a:srgbClr val="B83227"/>
                </a:solidFill>
              </a:rPr>
              <a:t>moeten slapen</a:t>
            </a:r>
            <a:r>
              <a:rPr lang="en-US" sz="1800" i="1" dirty="0">
                <a:solidFill>
                  <a:schemeClr val="tx1"/>
                </a:solidFill>
              </a:rPr>
              <a:t>.</a:t>
            </a:r>
            <a:endParaRPr lang="en-US" sz="1800" dirty="0"/>
          </a:p>
        </p:txBody>
      </p:sp>
      <p:sp>
        <p:nvSpPr>
          <p:cNvPr id="24" name="Text 20"/>
          <p:cNvSpPr txBox="1"/>
          <p:nvPr/>
        </p:nvSpPr>
        <p:spPr>
          <a:xfrm>
            <a:off x="6368796" y="3611880"/>
            <a:ext cx="5088636" cy="347472"/>
          </a:xfrm>
          <a:prstGeom prst="rect">
            <a:avLst/>
          </a:prstGeom>
          <a:noFill/>
          <a:ln/>
        </p:spPr>
        <p:txBody>
          <a:bodyPr wrap="square" lIns="0" tIns="0" rIns="0" bIns="0" rtlCol="0" anchor="ctr"/>
          <a:lstStyle/>
          <a:p>
            <a:pPr algn="l" indent="0" marL="0">
              <a:buNone/>
            </a:pPr>
            <a:r>
              <a:rPr lang="en-US" sz="1300" i="1" dirty="0">
                <a:solidFill>
                  <a:schemeClr val="accent5"/>
                </a:solidFill>
              </a:rPr>
              <a:t>« tu devrais dormir plus »</a:t>
            </a:r>
            <a:endParaRPr lang="en-US" sz="1300" dirty="0"/>
          </a:p>
        </p:txBody>
      </p:sp>
      <p:sp>
        <p:nvSpPr>
          <p:cNvPr id="25" name="Shape 21"/>
          <p:cNvSpPr/>
          <p:nvPr/>
        </p:nvSpPr>
        <p:spPr>
          <a:xfrm>
            <a:off x="548640" y="4133088"/>
            <a:ext cx="5454396" cy="1325880"/>
          </a:xfrm>
          <a:prstGeom prst="roundRect">
            <a:avLst>
              <a:gd name="adj" fmla="val 8276"/>
            </a:avLst>
          </a:prstGeom>
          <a:solidFill>
            <a:srgbClr val="FFFFFF"/>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26" name="Text 22"/>
          <p:cNvSpPr txBox="1"/>
          <p:nvPr/>
        </p:nvSpPr>
        <p:spPr>
          <a:xfrm>
            <a:off x="731520" y="4187952"/>
            <a:ext cx="5088636" cy="365760"/>
          </a:xfrm>
          <a:prstGeom prst="rect">
            <a:avLst/>
          </a:prstGeom>
          <a:noFill/>
          <a:ln/>
        </p:spPr>
        <p:txBody>
          <a:bodyPr wrap="square" lIns="0" tIns="0" rIns="0" bIns="0" rtlCol="0" anchor="ctr"/>
          <a:lstStyle/>
          <a:p>
            <a:pPr algn="l" indent="0" marL="0">
              <a:buNone/>
            </a:pPr>
            <a:r>
              <a:rPr lang="en-US" sz="1400" b="1" dirty="0">
                <a:solidFill>
                  <a:srgbClr val="6E4A9E"/>
                </a:solidFill>
              </a:rPr>
              <a:t>HYPOTHÈSE</a:t>
            </a:r>
            <a:endParaRPr lang="en-US" sz="1400" dirty="0"/>
          </a:p>
        </p:txBody>
      </p:sp>
      <p:sp>
        <p:nvSpPr>
          <p:cNvPr id="27" name="Text 23"/>
          <p:cNvSpPr txBox="1"/>
          <p:nvPr/>
        </p:nvSpPr>
        <p:spPr>
          <a:xfrm>
            <a:off x="731520" y="4544568"/>
            <a:ext cx="5088636" cy="502920"/>
          </a:xfrm>
          <a:prstGeom prst="rect">
            <a:avLst/>
          </a:prstGeom>
          <a:noFill/>
          <a:ln/>
        </p:spPr>
        <p:txBody>
          <a:bodyPr wrap="square" lIns="0" tIns="0" rIns="0" bIns="0" rtlCol="0" anchor="ctr"/>
          <a:lstStyle/>
          <a:p>
            <a:pPr algn="l" indent="0" marL="0">
              <a:buNone/>
            </a:pPr>
            <a:r>
              <a:rPr lang="en-US" sz="1800" b="1" i="1" dirty="0">
                <a:solidFill>
                  <a:srgbClr val="D9700F"/>
                </a:solidFill>
              </a:rPr>
              <a:t>Als</a:t>
            </a:r>
            <a:r>
              <a:rPr lang="en-US" sz="1800" i="1" dirty="0">
                <a:solidFill>
                  <a:schemeClr val="tx1"/>
                </a:solidFill>
              </a:rPr>
              <a:t> ik tijd </a:t>
            </a:r>
            <a:r>
              <a:rPr lang="en-US" sz="1800" b="1" i="1" dirty="0">
                <a:solidFill>
                  <a:srgbClr val="B83227"/>
                </a:solidFill>
              </a:rPr>
              <a:t>had</a:t>
            </a:r>
            <a:r>
              <a:rPr lang="en-US" sz="1800" i="1" dirty="0">
                <a:solidFill>
                  <a:schemeClr val="tx1"/>
                </a:solidFill>
              </a:rPr>
              <a:t>, </a:t>
            </a:r>
            <a:r>
              <a:rPr lang="en-US" sz="1800" b="1" i="1" dirty="0">
                <a:solidFill>
                  <a:srgbClr val="B83227"/>
                </a:solidFill>
              </a:rPr>
              <a:t>zou</a:t>
            </a:r>
            <a:r>
              <a:rPr lang="en-US" sz="1800" i="1" dirty="0">
                <a:solidFill>
                  <a:schemeClr val="tx1"/>
                </a:solidFill>
              </a:rPr>
              <a:t> ik meer </a:t>
            </a:r>
            <a:r>
              <a:rPr lang="en-US" sz="1800" b="1" i="1" dirty="0">
                <a:solidFill>
                  <a:srgbClr val="B83227"/>
                </a:solidFill>
              </a:rPr>
              <a:t>sporten</a:t>
            </a:r>
            <a:r>
              <a:rPr lang="en-US" sz="1800" i="1" dirty="0">
                <a:solidFill>
                  <a:schemeClr val="tx1"/>
                </a:solidFill>
              </a:rPr>
              <a:t>.</a:t>
            </a:r>
            <a:endParaRPr lang="en-US" sz="1800" dirty="0"/>
          </a:p>
        </p:txBody>
      </p:sp>
      <p:sp>
        <p:nvSpPr>
          <p:cNvPr id="28" name="Text 24"/>
          <p:cNvSpPr txBox="1"/>
          <p:nvPr/>
        </p:nvSpPr>
        <p:spPr>
          <a:xfrm>
            <a:off x="731520" y="5047488"/>
            <a:ext cx="5088636" cy="347472"/>
          </a:xfrm>
          <a:prstGeom prst="rect">
            <a:avLst/>
          </a:prstGeom>
          <a:noFill/>
          <a:ln/>
        </p:spPr>
        <p:txBody>
          <a:bodyPr wrap="square" lIns="0" tIns="0" rIns="0" bIns="0" rtlCol="0" anchor="ctr"/>
          <a:lstStyle/>
          <a:p>
            <a:pPr algn="l" indent="0" marL="0">
              <a:buNone/>
            </a:pPr>
            <a:r>
              <a:rPr lang="en-US" sz="1300" i="1" dirty="0">
                <a:solidFill>
                  <a:schemeClr val="accent5"/>
                </a:solidFill>
              </a:rPr>
              <a:t>« si j’avais le temps, je ferais plus de sport »</a:t>
            </a:r>
            <a:endParaRPr lang="en-US" sz="1300" dirty="0"/>
          </a:p>
        </p:txBody>
      </p:sp>
      <p:sp>
        <p:nvSpPr>
          <p:cNvPr id="29" name="Shape 25"/>
          <p:cNvSpPr/>
          <p:nvPr/>
        </p:nvSpPr>
        <p:spPr>
          <a:xfrm>
            <a:off x="6185916" y="4133088"/>
            <a:ext cx="5454396" cy="1325880"/>
          </a:xfrm>
          <a:prstGeom prst="roundRect">
            <a:avLst>
              <a:gd name="adj" fmla="val 8276"/>
            </a:avLst>
          </a:prstGeom>
          <a:solidFill>
            <a:srgbClr val="FFFFFF"/>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30" name="Text 26"/>
          <p:cNvSpPr txBox="1"/>
          <p:nvPr/>
        </p:nvSpPr>
        <p:spPr>
          <a:xfrm>
            <a:off x="6368796" y="4187952"/>
            <a:ext cx="5088636" cy="365760"/>
          </a:xfrm>
          <a:prstGeom prst="rect">
            <a:avLst/>
          </a:prstGeom>
          <a:noFill/>
          <a:ln/>
        </p:spPr>
        <p:txBody>
          <a:bodyPr wrap="square" lIns="0" tIns="0" rIns="0" bIns="0" rtlCol="0" anchor="ctr"/>
          <a:lstStyle/>
          <a:p>
            <a:pPr algn="l" indent="0" marL="0">
              <a:buNone/>
            </a:pPr>
            <a:r>
              <a:rPr lang="en-US" sz="1400" b="1" dirty="0">
                <a:solidFill>
                  <a:srgbClr val="6E4A9E"/>
                </a:solidFill>
              </a:rPr>
              <a:t>FUTUR DANS LE PASSÉ</a:t>
            </a:r>
            <a:endParaRPr lang="en-US" sz="1400" dirty="0"/>
          </a:p>
        </p:txBody>
      </p:sp>
      <p:sp>
        <p:nvSpPr>
          <p:cNvPr id="31" name="Text 27"/>
          <p:cNvSpPr txBox="1"/>
          <p:nvPr/>
        </p:nvSpPr>
        <p:spPr>
          <a:xfrm>
            <a:off x="6368796" y="4544568"/>
            <a:ext cx="5088636" cy="502920"/>
          </a:xfrm>
          <a:prstGeom prst="rect">
            <a:avLst/>
          </a:prstGeom>
          <a:noFill/>
          <a:ln/>
        </p:spPr>
        <p:txBody>
          <a:bodyPr wrap="square" lIns="0" tIns="0" rIns="0" bIns="0" rtlCol="0" anchor="ctr"/>
          <a:lstStyle/>
          <a:p>
            <a:pPr algn="l" indent="0" marL="0">
              <a:buNone/>
            </a:pPr>
            <a:r>
              <a:rPr lang="en-US" sz="1800" i="1" dirty="0">
                <a:solidFill>
                  <a:schemeClr val="tx1"/>
                </a:solidFill>
              </a:rPr>
              <a:t>Hij zei dat hij </a:t>
            </a:r>
            <a:r>
              <a:rPr lang="en-US" sz="1800" b="1" i="1" dirty="0">
                <a:solidFill>
                  <a:srgbClr val="B83227"/>
                </a:solidFill>
              </a:rPr>
              <a:t>zou</a:t>
            </a:r>
            <a:r>
              <a:rPr lang="en-US" sz="1800" i="1" dirty="0">
                <a:solidFill>
                  <a:schemeClr val="tx1"/>
                </a:solidFill>
              </a:rPr>
              <a:t> </a:t>
            </a:r>
            <a:r>
              <a:rPr lang="en-US" sz="1800" b="1" i="1" dirty="0">
                <a:solidFill>
                  <a:srgbClr val="B83227"/>
                </a:solidFill>
              </a:rPr>
              <a:t>komen</a:t>
            </a:r>
            <a:r>
              <a:rPr lang="en-US" sz="1800" i="1" dirty="0">
                <a:solidFill>
                  <a:schemeClr val="tx1"/>
                </a:solidFill>
              </a:rPr>
              <a:t>.</a:t>
            </a:r>
            <a:endParaRPr lang="en-US" sz="1800" dirty="0"/>
          </a:p>
        </p:txBody>
      </p:sp>
      <p:sp>
        <p:nvSpPr>
          <p:cNvPr id="32" name="Text 28"/>
          <p:cNvSpPr txBox="1"/>
          <p:nvPr/>
        </p:nvSpPr>
        <p:spPr>
          <a:xfrm>
            <a:off x="6368796" y="5047488"/>
            <a:ext cx="5088636" cy="347472"/>
          </a:xfrm>
          <a:prstGeom prst="rect">
            <a:avLst/>
          </a:prstGeom>
          <a:noFill/>
          <a:ln/>
        </p:spPr>
        <p:txBody>
          <a:bodyPr wrap="square" lIns="0" tIns="0" rIns="0" bIns="0" rtlCol="0" anchor="ctr"/>
          <a:lstStyle/>
          <a:p>
            <a:pPr algn="l" indent="0" marL="0">
              <a:buNone/>
            </a:pPr>
            <a:r>
              <a:rPr lang="en-US" sz="1300" i="1" dirty="0">
                <a:solidFill>
                  <a:schemeClr val="accent5"/>
                </a:solidFill>
              </a:rPr>
              <a:t>« il a dit qu’il viendrait »</a:t>
            </a:r>
            <a:endParaRPr lang="en-US" sz="1300" dirty="0"/>
          </a:p>
        </p:txBody>
      </p:sp>
      <p:sp>
        <p:nvSpPr>
          <p:cNvPr id="33" name="Shape 29"/>
          <p:cNvSpPr/>
          <p:nvPr/>
        </p:nvSpPr>
        <p:spPr>
          <a:xfrm>
            <a:off x="548640" y="5623560"/>
            <a:ext cx="11091672" cy="548640"/>
          </a:xfrm>
          <a:prstGeom prst="roundRect">
            <a:avLst>
              <a:gd name="adj" fmla="val 13333"/>
            </a:avLst>
          </a:prstGeom>
          <a:solidFill>
            <a:srgbClr val="6E4A9E"/>
          </a:solidFill>
          <a:ln w="12700">
            <a:solidFill>
              <a:srgbClr val="FFFFFF">
                <a:alpha val="0"/>
              </a:srgbClr>
            </a:solidFill>
            <a:prstDash val="solid"/>
          </a:ln>
        </p:spPr>
      </p:sp>
      <p:sp>
        <p:nvSpPr>
          <p:cNvPr id="34" name="Text 30"/>
          <p:cNvSpPr txBox="1"/>
          <p:nvPr/>
        </p:nvSpPr>
        <p:spPr>
          <a:xfrm>
            <a:off x="822960" y="562356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L’imaginaire flotte au-dessus de la ligne : </a:t>
            </a:r>
            <a:r>
              <a:rPr lang="en-US" sz="1600" i="1" dirty="0">
                <a:solidFill>
                  <a:schemeClr val="bg1"/>
                </a:solidFill>
              </a:rPr>
              <a:t>zou</a:t>
            </a:r>
            <a:r>
              <a:rPr lang="en-US" sz="1600" dirty="0">
                <a:solidFill>
                  <a:schemeClr val="bg1"/>
                </a:solidFill>
              </a:rPr>
              <a:t> est le passé de </a:t>
            </a:r>
            <a:r>
              <a:rPr lang="en-US" sz="1600" i="1" dirty="0">
                <a:solidFill>
                  <a:schemeClr val="bg1"/>
                </a:solidFill>
              </a:rPr>
              <a:t>zal</a:t>
            </a:r>
            <a:r>
              <a:rPr lang="en-US" sz="1600" dirty="0">
                <a:solidFill>
                  <a:schemeClr val="bg1"/>
                </a:solidFill>
              </a:rPr>
              <a:t> (diapo 5).</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conditionnel passé : regrets et « si j’avais su »</a:t>
            </a:r>
            <a:endParaRPr lang="en-US" sz="3000" dirty="0"/>
          </a:p>
        </p:txBody>
      </p:sp>
      <p:sp>
        <p:nvSpPr>
          <p:cNvPr id="3" name="tag"/>
          <p:cNvSpPr/>
          <p:nvPr/>
        </p:nvSpPr>
        <p:spPr>
          <a:xfrm>
            <a:off x="548640" y="237744"/>
            <a:ext cx="1770278" cy="310896"/>
          </a:xfrm>
          <a:prstGeom prst="roundRect">
            <a:avLst>
              <a:gd name="adj" fmla="val 14706"/>
            </a:avLst>
          </a:prstGeom>
          <a:solidFill>
            <a:srgbClr val="45306A"/>
          </a:solidFill>
          <a:ln/>
        </p:spPr>
        <p:txBody>
          <a:bodyPr wrap="square" lIns="0" tIns="0" rIns="0" bIns="0" rtlCol="0" anchor="ctr"/>
          <a:lstStyle/>
          <a:p>
            <a:pPr algn="ctr" indent="0" marL="0">
              <a:buNone/>
            </a:pPr>
            <a:r>
              <a:rPr lang="en-US" sz="1200" b="1" spc="100" kern="0" dirty="0">
                <a:solidFill>
                  <a:srgbClr val="FFFFFF"/>
                </a:solidFill>
              </a:rPr>
              <a:t>L’IMAGINAIRE</a:t>
            </a:r>
            <a:endParaRPr lang="en-US" sz="1200" dirty="0"/>
          </a:p>
        </p:txBody>
      </p:sp>
      <p:sp>
        <p:nvSpPr>
          <p:cNvPr id="5" name="Shape 2"/>
          <p:cNvSpPr/>
          <p:nvPr/>
        </p:nvSpPr>
        <p:spPr>
          <a:xfrm>
            <a:off x="914400" y="2514600"/>
            <a:ext cx="8961120" cy="182880"/>
          </a:xfrm>
          <a:prstGeom prst="rect">
            <a:avLst/>
          </a:prstGeom>
          <a:solidFill>
            <a:schemeClr val="accent4"/>
          </a:solidFill>
          <a:ln w="12700">
            <a:solidFill>
              <a:srgbClr val="FFFFFF">
                <a:alpha val="0"/>
              </a:srgbClr>
            </a:solidFill>
            <a:prstDash val="solid"/>
          </a:ln>
        </p:spPr>
      </p:sp>
      <p:sp>
        <p:nvSpPr>
          <p:cNvPr id="6" name="Shape 3"/>
          <p:cNvSpPr/>
          <p:nvPr/>
        </p:nvSpPr>
        <p:spPr>
          <a:xfrm>
            <a:off x="731520" y="2606040"/>
            <a:ext cx="10927080" cy="914"/>
          </a:xfrm>
          <a:prstGeom prst="line">
            <a:avLst/>
          </a:prstGeom>
          <a:noFill/>
          <a:ln w="31750">
            <a:solidFill>
              <a:srgbClr val="17375E"/>
            </a:solidFill>
            <a:prstDash val="solid"/>
            <a:tailEnd type="triangle"/>
          </a:ln>
        </p:spPr>
      </p:sp>
      <p:sp>
        <p:nvSpPr>
          <p:cNvPr id="7" name="Shape 4"/>
          <p:cNvSpPr/>
          <p:nvPr/>
        </p:nvSpPr>
        <p:spPr>
          <a:xfrm>
            <a:off x="10378440" y="2295144"/>
            <a:ext cx="91440" cy="621792"/>
          </a:xfrm>
          <a:prstGeom prst="rect">
            <a:avLst/>
          </a:prstGeom>
          <a:solidFill>
            <a:schemeClr val="accent6"/>
          </a:solidFill>
          <a:ln w="12700">
            <a:solidFill>
              <a:srgbClr val="FFFFFF">
                <a:alpha val="0"/>
              </a:srgbClr>
            </a:solidFill>
            <a:prstDash val="solid"/>
          </a:ln>
        </p:spPr>
      </p:sp>
      <p:sp>
        <p:nvSpPr>
          <p:cNvPr id="8" name="Text 5"/>
          <p:cNvSpPr txBox="1"/>
          <p:nvPr/>
        </p:nvSpPr>
        <p:spPr>
          <a:xfrm>
            <a:off x="9966960" y="1929384"/>
            <a:ext cx="914400" cy="329184"/>
          </a:xfrm>
          <a:prstGeom prst="rect">
            <a:avLst/>
          </a:prstGeom>
          <a:noFill/>
          <a:ln/>
        </p:spPr>
        <p:txBody>
          <a:bodyPr wrap="square" lIns="0" tIns="0" rIns="0" bIns="0" rtlCol="0" anchor="ctr"/>
          <a:lstStyle/>
          <a:p>
            <a:pPr algn="ctr" indent="0" marL="0">
              <a:buNone/>
            </a:pPr>
            <a:r>
              <a:rPr lang="en-US" sz="1500" b="1" dirty="0">
                <a:solidFill>
                  <a:schemeClr val="accent6"/>
                </a:solidFill>
              </a:rPr>
              <a:t>NU</a:t>
            </a:r>
            <a:endParaRPr lang="en-US" sz="1500" dirty="0"/>
          </a:p>
        </p:txBody>
      </p:sp>
      <p:sp>
        <p:nvSpPr>
          <p:cNvPr id="9" name="Shape 6"/>
          <p:cNvSpPr/>
          <p:nvPr/>
        </p:nvSpPr>
        <p:spPr>
          <a:xfrm>
            <a:off x="3108960" y="2468880"/>
            <a:ext cx="274320" cy="274320"/>
          </a:xfrm>
          <a:prstGeom prst="ellipse">
            <a:avLst/>
          </a:prstGeom>
          <a:solidFill>
            <a:schemeClr val="accent4"/>
          </a:solidFill>
          <a:ln w="12700">
            <a:solidFill>
              <a:srgbClr val="FFFFFF"/>
            </a:solidFill>
            <a:prstDash val="solid"/>
          </a:ln>
        </p:spPr>
      </p:sp>
      <p:sp>
        <p:nvSpPr>
          <p:cNvPr id="10" name="Shape 7"/>
          <p:cNvSpPr/>
          <p:nvPr/>
        </p:nvSpPr>
        <p:spPr>
          <a:xfrm flipV="1">
            <a:off x="3291840" y="1691640"/>
            <a:ext cx="3657600" cy="804672"/>
          </a:xfrm>
          <a:prstGeom prst="line">
            <a:avLst/>
          </a:prstGeom>
          <a:noFill/>
          <a:ln w="31750">
            <a:solidFill>
              <a:srgbClr val="45306A"/>
            </a:solidFill>
            <a:prstDash val="dash"/>
            <a:tailEnd type="triangle"/>
          </a:ln>
        </p:spPr>
      </p:sp>
      <p:sp>
        <p:nvSpPr>
          <p:cNvPr id="11" name="Shape 8"/>
          <p:cNvSpPr/>
          <p:nvPr/>
        </p:nvSpPr>
        <p:spPr>
          <a:xfrm>
            <a:off x="6995160" y="1280160"/>
            <a:ext cx="3108960" cy="868680"/>
          </a:xfrm>
          <a:prstGeom prst="cloud">
            <a:avLst/>
          </a:prstGeom>
          <a:solidFill>
            <a:srgbClr val="ECE8F3"/>
          </a:solidFill>
          <a:ln w="15875">
            <a:solidFill>
              <a:srgbClr val="45306A"/>
            </a:solidFill>
            <a:prstDash val="solid"/>
          </a:ln>
        </p:spPr>
      </p:sp>
      <p:sp>
        <p:nvSpPr>
          <p:cNvPr id="12" name="Text 9"/>
          <p:cNvSpPr txBox="1"/>
          <p:nvPr/>
        </p:nvSpPr>
        <p:spPr>
          <a:xfrm>
            <a:off x="6995160" y="1280160"/>
            <a:ext cx="3108960" cy="868680"/>
          </a:xfrm>
          <a:prstGeom prst="rect">
            <a:avLst/>
          </a:prstGeom>
          <a:noFill/>
          <a:ln/>
        </p:spPr>
        <p:txBody>
          <a:bodyPr wrap="square" lIns="0" tIns="0" rIns="0" bIns="0" rtlCol="0" anchor="ctr"/>
          <a:lstStyle/>
          <a:p>
            <a:pPr algn="ctr" indent="0" marL="0">
              <a:buNone/>
            </a:pPr>
            <a:r>
              <a:rPr lang="en-US" sz="1500" b="1" i="1" dirty="0">
                <a:solidFill>
                  <a:srgbClr val="45306A"/>
                </a:solidFill>
              </a:rPr>
              <a:t>ik was gekomen</a:t>
            </a:r>
            <a:endParaRPr lang="en-US" sz="1500" dirty="0"/>
          </a:p>
        </p:txBody>
      </p:sp>
      <p:sp>
        <p:nvSpPr>
          <p:cNvPr id="13" name="Text 10"/>
          <p:cNvSpPr txBox="1"/>
          <p:nvPr/>
        </p:nvSpPr>
        <p:spPr>
          <a:xfrm>
            <a:off x="3657600" y="2743200"/>
            <a:ext cx="4114800" cy="640080"/>
          </a:xfrm>
          <a:prstGeom prst="rect">
            <a:avLst/>
          </a:prstGeom>
          <a:noFill/>
          <a:ln/>
        </p:spPr>
        <p:txBody>
          <a:bodyPr wrap="square" lIns="0" tIns="0" rIns="0" bIns="0" rtlCol="0" anchor="ctr"/>
          <a:lstStyle/>
          <a:p>
            <a:pPr algn="l" indent="0" marL="0">
              <a:buNone/>
            </a:pPr>
            <a:r>
              <a:rPr lang="en-US" sz="1300" dirty="0">
                <a:solidFill>
                  <a:schemeClr val="accent4"/>
                </a:solidFill>
              </a:rPr>
              <a:t>réalité : </a:t>
            </a:r>
            <a:r>
              <a:rPr lang="en-US" sz="1300" i="1" dirty="0">
                <a:solidFill>
                  <a:schemeClr val="accent4"/>
                </a:solidFill>
              </a:rPr>
              <a:t>ik wist het niet</a:t>
            </a:r>
            <a:endParaRPr lang="en-US" sz="1300" dirty="0"/>
          </a:p>
          <a:p>
            <a:pPr algn="l" indent="0" marL="0">
              <a:buNone/>
            </a:pPr>
            <a:r>
              <a:rPr lang="en-US" sz="1300" dirty="0">
                <a:solidFill>
                  <a:schemeClr val="accent4"/>
                </a:solidFill>
              </a:rPr>
              <a:t>→ </a:t>
            </a:r>
            <a:r>
              <a:rPr lang="en-US" sz="1300" i="1" dirty="0">
                <a:solidFill>
                  <a:schemeClr val="accent4"/>
                </a:solidFill>
              </a:rPr>
              <a:t>ik ben niet gekomen</a:t>
            </a:r>
            <a:endParaRPr lang="en-US" sz="1300" dirty="0"/>
          </a:p>
        </p:txBody>
      </p:sp>
      <p:sp>
        <p:nvSpPr>
          <p:cNvPr id="14" name="Text 11"/>
          <p:cNvSpPr txBox="1"/>
          <p:nvPr/>
        </p:nvSpPr>
        <p:spPr>
          <a:xfrm>
            <a:off x="3931920" y="1417320"/>
            <a:ext cx="3017520" cy="365760"/>
          </a:xfrm>
          <a:prstGeom prst="rect">
            <a:avLst/>
          </a:prstGeom>
          <a:noFill/>
          <a:ln/>
        </p:spPr>
        <p:txBody>
          <a:bodyPr wrap="square" lIns="0" tIns="0" rIns="0" bIns="0" rtlCol="0" anchor="t"/>
          <a:lstStyle/>
          <a:p>
            <a:pPr algn="l" indent="0" marL="0">
              <a:buNone/>
            </a:pPr>
            <a:r>
              <a:rPr lang="en-US" sz="1300" i="1" dirty="0">
                <a:solidFill>
                  <a:srgbClr val="45306A"/>
                </a:solidFill>
              </a:rPr>
              <a:t>ce qui ne s’est </a:t>
            </a:r>
            <a:r>
              <a:rPr lang="en-US" sz="1300" b="1" i="1" dirty="0">
                <a:solidFill>
                  <a:srgbClr val="45306A"/>
                </a:solidFill>
              </a:rPr>
              <a:t>pas</a:t>
            </a:r>
            <a:r>
              <a:rPr lang="en-US" sz="1300" i="1" dirty="0">
                <a:solidFill>
                  <a:srgbClr val="45306A"/>
                </a:solidFill>
              </a:rPr>
              <a:t> passé</a:t>
            </a:r>
            <a:endParaRPr lang="en-US" sz="1300" dirty="0"/>
          </a:p>
        </p:txBody>
      </p:sp>
      <p:sp>
        <p:nvSpPr>
          <p:cNvPr id="15" name="Shape 12"/>
          <p:cNvSpPr/>
          <p:nvPr/>
        </p:nvSpPr>
        <p:spPr>
          <a:xfrm>
            <a:off x="548640" y="3474720"/>
            <a:ext cx="7040880" cy="566928"/>
          </a:xfrm>
          <a:prstGeom prst="roundRect">
            <a:avLst>
              <a:gd name="adj" fmla="val 12903"/>
            </a:avLst>
          </a:prstGeom>
          <a:solidFill>
            <a:schemeClr val="bg2"/>
          </a:solidFill>
          <a:ln w="12700">
            <a:solidFill>
              <a:srgbClr val="FFFFFF">
                <a:alpha val="0"/>
              </a:srgbClr>
            </a:solidFill>
            <a:prstDash val="solid"/>
          </a:ln>
        </p:spPr>
      </p:sp>
      <p:sp>
        <p:nvSpPr>
          <p:cNvPr id="16" name="Text 13"/>
          <p:cNvSpPr txBox="1"/>
          <p:nvPr/>
        </p:nvSpPr>
        <p:spPr>
          <a:xfrm>
            <a:off x="731520" y="3493008"/>
            <a:ext cx="6766560" cy="329184"/>
          </a:xfrm>
          <a:prstGeom prst="rect">
            <a:avLst/>
          </a:prstGeom>
          <a:noFill/>
          <a:ln/>
        </p:spPr>
        <p:txBody>
          <a:bodyPr wrap="square" lIns="0" tIns="0" rIns="0" bIns="0" rtlCol="0" anchor="ctr"/>
          <a:lstStyle/>
          <a:p>
            <a:pPr algn="l" indent="0" marL="0">
              <a:buNone/>
            </a:pPr>
            <a:r>
              <a:rPr lang="en-US" sz="1600" b="1" i="1" dirty="0">
                <a:solidFill>
                  <a:srgbClr val="D9700F"/>
                </a:solidFill>
              </a:rPr>
              <a:t>Als</a:t>
            </a:r>
            <a:r>
              <a:rPr lang="en-US" sz="1600" i="1" dirty="0">
                <a:solidFill>
                  <a:schemeClr val="tx1"/>
                </a:solidFill>
              </a:rPr>
              <a:t> ik het </a:t>
            </a:r>
            <a:r>
              <a:rPr lang="en-US" sz="1600" b="1" i="1" dirty="0">
                <a:solidFill>
                  <a:srgbClr val="B83227"/>
                </a:solidFill>
              </a:rPr>
              <a:t>geweten had</a:t>
            </a:r>
            <a:r>
              <a:rPr lang="en-US" sz="1600" i="1" dirty="0">
                <a:solidFill>
                  <a:schemeClr val="tx1"/>
                </a:solidFill>
              </a:rPr>
              <a:t>, </a:t>
            </a:r>
            <a:r>
              <a:rPr lang="en-US" sz="1600" b="1" i="1" dirty="0">
                <a:solidFill>
                  <a:srgbClr val="B83227"/>
                </a:solidFill>
              </a:rPr>
              <a:t>was</a:t>
            </a:r>
            <a:r>
              <a:rPr lang="en-US" sz="1600" i="1" dirty="0">
                <a:solidFill>
                  <a:schemeClr val="tx1"/>
                </a:solidFill>
              </a:rPr>
              <a:t> ik </a:t>
            </a:r>
            <a:r>
              <a:rPr lang="en-US" sz="1600" b="1" i="1" dirty="0">
                <a:solidFill>
                  <a:srgbClr val="B83227"/>
                </a:solidFill>
              </a:rPr>
              <a:t>gekomen</a:t>
            </a:r>
            <a:r>
              <a:rPr lang="en-US" sz="1600" i="1" dirty="0">
                <a:solidFill>
                  <a:schemeClr val="tx1"/>
                </a:solidFill>
              </a:rPr>
              <a:t>.</a:t>
            </a:r>
            <a:endParaRPr lang="en-US" sz="1800" dirty="0"/>
          </a:p>
        </p:txBody>
      </p:sp>
      <p:sp>
        <p:nvSpPr>
          <p:cNvPr id="17" name="Text 14"/>
          <p:cNvSpPr txBox="1"/>
          <p:nvPr/>
        </p:nvSpPr>
        <p:spPr>
          <a:xfrm>
            <a:off x="731520" y="3803904"/>
            <a:ext cx="6766560" cy="219456"/>
          </a:xfrm>
          <a:prstGeom prst="rect">
            <a:avLst/>
          </a:prstGeom>
          <a:noFill/>
          <a:ln/>
        </p:spPr>
        <p:txBody>
          <a:bodyPr wrap="square" lIns="0" tIns="0" rIns="0" bIns="0" rtlCol="0" anchor="ctr"/>
          <a:lstStyle/>
          <a:p>
            <a:pPr algn="l" indent="0" marL="0">
              <a:buNone/>
            </a:pPr>
            <a:r>
              <a:rPr lang="en-US" sz="1150" i="1" dirty="0">
                <a:solidFill>
                  <a:schemeClr val="accent5"/>
                </a:solidFill>
              </a:rPr>
              <a:t>« si j’avais su, je serais venu·e »</a:t>
            </a:r>
            <a:endParaRPr lang="en-US" sz="1150" dirty="0"/>
          </a:p>
        </p:txBody>
      </p:sp>
      <p:sp>
        <p:nvSpPr>
          <p:cNvPr id="18" name="Shape 15"/>
          <p:cNvSpPr/>
          <p:nvPr/>
        </p:nvSpPr>
        <p:spPr>
          <a:xfrm>
            <a:off x="548640" y="4096512"/>
            <a:ext cx="7040880" cy="566928"/>
          </a:xfrm>
          <a:prstGeom prst="roundRect">
            <a:avLst>
              <a:gd name="adj" fmla="val 12903"/>
            </a:avLst>
          </a:prstGeom>
          <a:solidFill>
            <a:srgbClr val="FFFFFF"/>
          </a:solidFill>
          <a:ln w="12700">
            <a:solidFill>
              <a:srgbClr val="FFFFFF">
                <a:alpha val="0"/>
              </a:srgbClr>
            </a:solidFill>
            <a:prstDash val="solid"/>
          </a:ln>
        </p:spPr>
      </p:sp>
      <p:sp>
        <p:nvSpPr>
          <p:cNvPr id="19" name="Text 16"/>
          <p:cNvSpPr txBox="1"/>
          <p:nvPr/>
        </p:nvSpPr>
        <p:spPr>
          <a:xfrm>
            <a:off x="731520" y="4114800"/>
            <a:ext cx="6766560" cy="329184"/>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rgbClr val="B83227"/>
                </a:solidFill>
              </a:rPr>
              <a:t>had</a:t>
            </a:r>
            <a:r>
              <a:rPr lang="en-US" sz="1600" i="1" dirty="0">
                <a:solidFill>
                  <a:schemeClr val="tx1"/>
                </a:solidFill>
              </a:rPr>
              <a:t> moeten </a:t>
            </a:r>
            <a:r>
              <a:rPr lang="en-US" sz="1600" b="1" i="1" dirty="0">
                <a:solidFill>
                  <a:srgbClr val="B83227"/>
                </a:solidFill>
              </a:rPr>
              <a:t>bellen</a:t>
            </a:r>
            <a:r>
              <a:rPr lang="en-US" sz="1600" i="1" dirty="0">
                <a:solidFill>
                  <a:schemeClr val="tx1"/>
                </a:solidFill>
              </a:rPr>
              <a:t>.</a:t>
            </a:r>
            <a:endParaRPr lang="en-US" sz="1800" dirty="0"/>
          </a:p>
        </p:txBody>
      </p:sp>
      <p:sp>
        <p:nvSpPr>
          <p:cNvPr id="20" name="Text 17"/>
          <p:cNvSpPr txBox="1"/>
          <p:nvPr/>
        </p:nvSpPr>
        <p:spPr>
          <a:xfrm>
            <a:off x="731520" y="4425696"/>
            <a:ext cx="6766560" cy="219456"/>
          </a:xfrm>
          <a:prstGeom prst="rect">
            <a:avLst/>
          </a:prstGeom>
          <a:noFill/>
          <a:ln/>
        </p:spPr>
        <p:txBody>
          <a:bodyPr wrap="square" lIns="0" tIns="0" rIns="0" bIns="0" rtlCol="0" anchor="ctr"/>
          <a:lstStyle/>
          <a:p>
            <a:pPr algn="l" indent="0" marL="0">
              <a:buNone/>
            </a:pPr>
            <a:r>
              <a:rPr lang="en-US" sz="1150" i="1" dirty="0">
                <a:solidFill>
                  <a:schemeClr val="accent5"/>
                </a:solidFill>
              </a:rPr>
              <a:t>« regret : j’aurais dû appeler »</a:t>
            </a:r>
            <a:endParaRPr lang="en-US" sz="1150" dirty="0"/>
          </a:p>
        </p:txBody>
      </p:sp>
      <p:sp>
        <p:nvSpPr>
          <p:cNvPr id="21" name="Shape 18"/>
          <p:cNvSpPr/>
          <p:nvPr/>
        </p:nvSpPr>
        <p:spPr>
          <a:xfrm>
            <a:off x="548640" y="4718304"/>
            <a:ext cx="7040880" cy="566928"/>
          </a:xfrm>
          <a:prstGeom prst="roundRect">
            <a:avLst>
              <a:gd name="adj" fmla="val 12903"/>
            </a:avLst>
          </a:prstGeom>
          <a:solidFill>
            <a:schemeClr val="bg2"/>
          </a:solidFill>
          <a:ln w="12700">
            <a:solidFill>
              <a:srgbClr val="FFFFFF">
                <a:alpha val="0"/>
              </a:srgbClr>
            </a:solidFill>
            <a:prstDash val="solid"/>
          </a:ln>
        </p:spPr>
      </p:sp>
      <p:sp>
        <p:nvSpPr>
          <p:cNvPr id="22" name="Text 19"/>
          <p:cNvSpPr txBox="1"/>
          <p:nvPr/>
        </p:nvSpPr>
        <p:spPr>
          <a:xfrm>
            <a:off x="731520" y="4736592"/>
            <a:ext cx="6766560" cy="329184"/>
          </a:xfrm>
          <a:prstGeom prst="rect">
            <a:avLst/>
          </a:prstGeom>
          <a:noFill/>
          <a:ln/>
        </p:spPr>
        <p:txBody>
          <a:bodyPr wrap="square" lIns="0" tIns="0" rIns="0" bIns="0" rtlCol="0" anchor="ctr"/>
          <a:lstStyle/>
          <a:p>
            <a:pPr algn="l" indent="0" marL="0">
              <a:buNone/>
            </a:pPr>
            <a:r>
              <a:rPr lang="en-US" sz="1600" i="1" dirty="0">
                <a:solidFill>
                  <a:schemeClr val="tx1"/>
                </a:solidFill>
              </a:rPr>
              <a:t>Ik </a:t>
            </a:r>
            <a:r>
              <a:rPr lang="en-US" sz="1600" b="1" i="1" dirty="0">
                <a:solidFill>
                  <a:srgbClr val="B83227"/>
                </a:solidFill>
              </a:rPr>
              <a:t>had</a:t>
            </a:r>
            <a:r>
              <a:rPr lang="en-US" sz="1600" i="1" dirty="0">
                <a:solidFill>
                  <a:schemeClr val="tx1"/>
                </a:solidFill>
              </a:rPr>
              <a:t> het graag </a:t>
            </a:r>
            <a:r>
              <a:rPr lang="en-US" sz="1600" b="1" i="1" dirty="0">
                <a:solidFill>
                  <a:srgbClr val="B83227"/>
                </a:solidFill>
              </a:rPr>
              <a:t>gedaan</a:t>
            </a:r>
            <a:r>
              <a:rPr lang="en-US" sz="1600" i="1" dirty="0">
                <a:solidFill>
                  <a:schemeClr val="tx1"/>
                </a:solidFill>
              </a:rPr>
              <a:t>.</a:t>
            </a:r>
            <a:endParaRPr lang="en-US" sz="1800" dirty="0"/>
          </a:p>
        </p:txBody>
      </p:sp>
      <p:sp>
        <p:nvSpPr>
          <p:cNvPr id="23" name="Text 20"/>
          <p:cNvSpPr txBox="1"/>
          <p:nvPr/>
        </p:nvSpPr>
        <p:spPr>
          <a:xfrm>
            <a:off x="731520" y="5047488"/>
            <a:ext cx="6766560" cy="219456"/>
          </a:xfrm>
          <a:prstGeom prst="rect">
            <a:avLst/>
          </a:prstGeom>
          <a:noFill/>
          <a:ln/>
        </p:spPr>
        <p:txBody>
          <a:bodyPr wrap="square" lIns="0" tIns="0" rIns="0" bIns="0" rtlCol="0" anchor="ctr"/>
          <a:lstStyle/>
          <a:p>
            <a:pPr algn="l" indent="0" marL="0">
              <a:buNone/>
            </a:pPr>
            <a:r>
              <a:rPr lang="en-US" sz="1150" i="1" dirty="0">
                <a:solidFill>
                  <a:schemeClr val="accent5"/>
                </a:solidFill>
              </a:rPr>
              <a:t>« je l’aurais fait volontiers »</a:t>
            </a:r>
            <a:endParaRPr lang="en-US" sz="1150" dirty="0"/>
          </a:p>
        </p:txBody>
      </p:sp>
      <p:sp>
        <p:nvSpPr>
          <p:cNvPr id="24" name="Shape 21"/>
          <p:cNvSpPr/>
          <p:nvPr/>
        </p:nvSpPr>
        <p:spPr>
          <a:xfrm>
            <a:off x="7818120" y="3520440"/>
            <a:ext cx="3822192" cy="1783080"/>
          </a:xfrm>
          <a:prstGeom prst="roundRect">
            <a:avLst>
              <a:gd name="adj" fmla="val 6154"/>
            </a:avLst>
          </a:prstGeom>
          <a:solidFill>
            <a:srgbClr val="ECE8F3"/>
          </a:solidFill>
          <a:ln w="19050">
            <a:solidFill>
              <a:srgbClr val="45306A"/>
            </a:solidFill>
            <a:prstDash val="solid"/>
          </a:ln>
        </p:spPr>
      </p:sp>
      <p:sp>
        <p:nvSpPr>
          <p:cNvPr id="25" name="Text 22"/>
          <p:cNvSpPr txBox="1"/>
          <p:nvPr/>
        </p:nvSpPr>
        <p:spPr>
          <a:xfrm>
            <a:off x="7955280" y="3566160"/>
            <a:ext cx="3566160" cy="1691640"/>
          </a:xfrm>
          <a:prstGeom prst="rect">
            <a:avLst/>
          </a:prstGeom>
          <a:noFill/>
          <a:ln/>
        </p:spPr>
        <p:txBody>
          <a:bodyPr wrap="square" lIns="0" tIns="0" rIns="0" bIns="0" rtlCol="0" anchor="ctr"/>
          <a:lstStyle/>
          <a:p>
            <a:pPr algn="l" indent="0" marL="0">
              <a:spcAft>
                <a:spcPts val="200"/>
              </a:spcAft>
              <a:buNone/>
            </a:pPr>
            <a:r>
              <a:rPr lang="en-US" sz="1400" i="1" dirty="0">
                <a:solidFill>
                  <a:schemeClr val="tx1"/>
                </a:solidFill>
              </a:rPr>
              <a:t>zou</a:t>
            </a:r>
            <a:r>
              <a:rPr lang="en-US" sz="1400" dirty="0">
                <a:solidFill>
                  <a:schemeClr val="tx1"/>
                </a:solidFill>
              </a:rPr>
              <a:t> + participe + </a:t>
            </a:r>
            <a:r>
              <a:rPr lang="en-US" sz="1400" i="1" dirty="0">
                <a:solidFill>
                  <a:schemeClr val="tx1"/>
                </a:solidFill>
              </a:rPr>
              <a:t>hebben / zijn</a:t>
            </a:r>
            <a:endParaRPr lang="en-US" sz="1400" dirty="0"/>
          </a:p>
          <a:p>
            <a:pPr algn="l" indent="0" marL="0">
              <a:spcAft>
                <a:spcPts val="200"/>
              </a:spcAft>
              <a:buNone/>
            </a:pPr>
            <a:r>
              <a:rPr lang="en-US" sz="1400" dirty="0">
                <a:solidFill>
                  <a:schemeClr val="tx1"/>
                </a:solidFill>
              </a:rPr>
              <a:t>= </a:t>
            </a:r>
            <a:r>
              <a:rPr lang="en-US" sz="1400" b="1" i="1" dirty="0">
                <a:solidFill>
                  <a:schemeClr val="tx1"/>
                </a:solidFill>
              </a:rPr>
              <a:t>had / was</a:t>
            </a:r>
            <a:r>
              <a:rPr lang="en-US" sz="1400" b="1" dirty="0">
                <a:solidFill>
                  <a:schemeClr val="tx1"/>
                </a:solidFill>
              </a:rPr>
              <a:t> + participe</a:t>
            </a:r>
            <a:endParaRPr lang="en-US" sz="1400" dirty="0"/>
          </a:p>
          <a:p>
            <a:pPr algn="l" indent="0" marL="0">
              <a:spcAft>
                <a:spcPts val="200"/>
              </a:spcAft>
              <a:buNone/>
            </a:pPr>
            <a:r>
              <a:rPr lang="en-US" sz="1400" dirty="0">
                <a:solidFill>
                  <a:schemeClr val="tx1"/>
                </a:solidFill>
              </a:rPr>
              <a:t>(forme courte, très fréquente)</a:t>
            </a:r>
            <a:endParaRPr lang="en-US" sz="1400" dirty="0"/>
          </a:p>
          <a:p>
            <a:pPr algn="l" indent="0" marL="0">
              <a:spcAft>
                <a:spcPts val="200"/>
              </a:spcAft>
              <a:buNone/>
            </a:pPr>
            <a:r>
              <a:rPr lang="en-US" sz="1400" i="1" dirty="0">
                <a:solidFill>
                  <a:schemeClr val="tx1"/>
                </a:solidFill>
              </a:rPr>
              <a:t>zou ik gekomen zijn</a:t>
            </a:r>
            <a:r>
              <a:rPr lang="en-US" sz="1400" dirty="0">
                <a:solidFill>
                  <a:schemeClr val="tx1"/>
                </a:solidFill>
              </a:rPr>
              <a:t> = </a:t>
            </a:r>
            <a:r>
              <a:rPr lang="en-US" sz="1400" i="1" dirty="0">
                <a:solidFill>
                  <a:schemeClr val="tx1"/>
                </a:solidFill>
              </a:rPr>
              <a:t>was ik gekomen</a:t>
            </a:r>
            <a:endParaRPr lang="en-US" sz="1400" dirty="0"/>
          </a:p>
        </p:txBody>
      </p:sp>
      <p:sp>
        <p:nvSpPr>
          <p:cNvPr id="26" name="Shape 23"/>
          <p:cNvSpPr/>
          <p:nvPr/>
        </p:nvSpPr>
        <p:spPr>
          <a:xfrm>
            <a:off x="548640" y="5532120"/>
            <a:ext cx="11091672" cy="640080"/>
          </a:xfrm>
          <a:prstGeom prst="roundRect">
            <a:avLst>
              <a:gd name="adj" fmla="val 11429"/>
            </a:avLst>
          </a:prstGeom>
          <a:solidFill>
            <a:srgbClr val="45306A"/>
          </a:solidFill>
          <a:ln w="12700">
            <a:solidFill>
              <a:srgbClr val="FFFFFF">
                <a:alpha val="0"/>
              </a:srgbClr>
            </a:solidFill>
            <a:prstDash val="solid"/>
          </a:ln>
        </p:spPr>
      </p:sp>
      <p:sp>
        <p:nvSpPr>
          <p:cNvPr id="27" name="Text 24"/>
          <p:cNvSpPr txBox="1"/>
          <p:nvPr/>
        </p:nvSpPr>
        <p:spPr>
          <a:xfrm>
            <a:off x="822960" y="5532120"/>
            <a:ext cx="10607040" cy="640080"/>
          </a:xfrm>
          <a:prstGeom prst="rect">
            <a:avLst/>
          </a:prstGeom>
          <a:noFill/>
          <a:ln/>
        </p:spPr>
        <p:txBody>
          <a:bodyPr wrap="square" lIns="0" tIns="0" rIns="0" bIns="0" rtlCol="0" anchor="ctr"/>
          <a:lstStyle/>
          <a:p>
            <a:pPr algn="l" indent="0" marL="0">
              <a:buNone/>
            </a:pPr>
            <a:r>
              <a:rPr lang="en-US" sz="1600" dirty="0">
                <a:solidFill>
                  <a:schemeClr val="bg1"/>
                </a:solidFill>
              </a:rPr>
              <a:t>⚠ </a:t>
            </a:r>
            <a:r>
              <a:rPr lang="en-US" sz="1600" i="1" dirty="0">
                <a:solidFill>
                  <a:schemeClr val="bg1"/>
                </a:solidFill>
              </a:rPr>
              <a:t>had gewerkt</a:t>
            </a:r>
            <a:r>
              <a:rPr lang="en-US" sz="1600" dirty="0">
                <a:solidFill>
                  <a:schemeClr val="bg1"/>
                </a:solidFill>
              </a:rPr>
              <a:t> = plus-que-parfait </a:t>
            </a:r>
            <a:r>
              <a:rPr lang="en-US" sz="1600" b="1" dirty="0">
                <a:solidFill>
                  <a:schemeClr val="bg1"/>
                </a:solidFill>
              </a:rPr>
              <a:t>ou</a:t>
            </a:r>
            <a:r>
              <a:rPr lang="en-US" sz="1600" dirty="0">
                <a:solidFill>
                  <a:schemeClr val="bg1"/>
                </a:solidFill>
              </a:rPr>
              <a:t> conditionnel passé : le contexte (</a:t>
            </a:r>
            <a:r>
              <a:rPr lang="en-US" sz="1600" i="1" dirty="0">
                <a:solidFill>
                  <a:schemeClr val="bg1"/>
                </a:solidFill>
              </a:rPr>
              <a:t>als, graag, moeten</a:t>
            </a:r>
            <a:r>
              <a:rPr lang="en-US" sz="1600" dirty="0">
                <a:solidFill>
                  <a:schemeClr val="bg1"/>
                </a:solidFill>
              </a:rPr>
              <a:t>) décide.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Si… : trois niveaux d’hypothèse</a:t>
            </a:r>
            <a:endParaRPr lang="en-US" sz="3000" dirty="0"/>
          </a:p>
        </p:txBody>
      </p:sp>
      <p:sp>
        <p:nvSpPr>
          <p:cNvPr id="3" name="tag"/>
          <p:cNvSpPr/>
          <p:nvPr/>
        </p:nvSpPr>
        <p:spPr>
          <a:xfrm>
            <a:off x="548640" y="237744"/>
            <a:ext cx="1770278"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L’IMAGINAIRE</a:t>
            </a:r>
            <a:endParaRPr lang="en-US" sz="1200" dirty="0"/>
          </a:p>
        </p:txBody>
      </p:sp>
      <p:sp>
        <p:nvSpPr>
          <p:cNvPr id="5" name="Shape 2"/>
          <p:cNvSpPr/>
          <p:nvPr/>
        </p:nvSpPr>
        <p:spPr>
          <a:xfrm>
            <a:off x="548640" y="1463040"/>
            <a:ext cx="11091672" cy="1170432"/>
          </a:xfrm>
          <a:prstGeom prst="roundRect">
            <a:avLst>
              <a:gd name="adj" fmla="val 9375"/>
            </a:avLst>
          </a:prstGeom>
          <a:solidFill>
            <a:srgbClr val="EAF2FB"/>
          </a:solidFill>
          <a:ln w="22225">
            <a:solidFill>
              <a:srgbClr val="2A6FB0"/>
            </a:solidFill>
            <a:prstDash val="solid"/>
          </a:ln>
        </p:spPr>
      </p:sp>
      <p:pic>
        <p:nvPicPr>
          <p:cNvPr id="6" name="Image 0" descr="sun">    </p:cNvPr>
          <p:cNvPicPr>
            <a:picLocks noChangeAspect="1"/>
          </p:cNvPicPr>
          <p:nvPr/>
        </p:nvPicPr>
        <p:blipFill>
          <a:blip r:embed="rId1"/>
          <a:stretch>
            <a:fillRect/>
          </a:stretch>
        </p:blipFill>
        <p:spPr>
          <a:xfrm>
            <a:off x="685800" y="1645920"/>
            <a:ext cx="777240" cy="777240"/>
          </a:xfrm>
          <a:prstGeom prst="rect">
            <a:avLst/>
          </a:prstGeom>
        </p:spPr>
      </p:pic>
      <p:sp>
        <p:nvSpPr>
          <p:cNvPr id="7" name="Text 3"/>
          <p:cNvSpPr txBox="1"/>
          <p:nvPr/>
        </p:nvSpPr>
        <p:spPr>
          <a:xfrm>
            <a:off x="1554480" y="1554480"/>
            <a:ext cx="1737360" cy="960120"/>
          </a:xfrm>
          <a:prstGeom prst="rect">
            <a:avLst/>
          </a:prstGeom>
          <a:noFill/>
          <a:ln/>
        </p:spPr>
        <p:txBody>
          <a:bodyPr wrap="square" lIns="0" tIns="0" rIns="0" bIns="0" rtlCol="0" anchor="ctr"/>
          <a:lstStyle/>
          <a:p>
            <a:pPr algn="l" indent="0" marL="0">
              <a:buNone/>
            </a:pPr>
            <a:r>
              <a:rPr lang="en-US" sz="1500" b="1" dirty="0">
                <a:solidFill>
                  <a:schemeClr val="accent2"/>
                </a:solidFill>
              </a:rPr>
              <a:t>① RÉEL</a:t>
            </a:r>
            <a:endParaRPr lang="en-US" sz="1500" dirty="0"/>
          </a:p>
          <a:p>
            <a:pPr algn="l" indent="0" marL="0">
              <a:buNone/>
            </a:pPr>
            <a:r>
              <a:rPr lang="en-US" sz="1500" dirty="0">
                <a:solidFill>
                  <a:schemeClr val="accent2"/>
                </a:solidFill>
              </a:rPr>
              <a:t>possible</a:t>
            </a:r>
            <a:endParaRPr lang="en-US" sz="1500" dirty="0"/>
          </a:p>
        </p:txBody>
      </p:sp>
      <p:sp>
        <p:nvSpPr>
          <p:cNvPr id="8" name="Text 4"/>
          <p:cNvSpPr txBox="1"/>
          <p:nvPr/>
        </p:nvSpPr>
        <p:spPr>
          <a:xfrm>
            <a:off x="3931920" y="1536192"/>
            <a:ext cx="5029200" cy="566928"/>
          </a:xfrm>
          <a:prstGeom prst="rect">
            <a:avLst/>
          </a:prstGeom>
          <a:noFill/>
          <a:ln/>
        </p:spPr>
        <p:txBody>
          <a:bodyPr wrap="square" lIns="0" tIns="0" rIns="0" bIns="0" rtlCol="0" anchor="ctr"/>
          <a:lstStyle/>
          <a:p>
            <a:pPr algn="l" indent="0" marL="0">
              <a:buNone/>
            </a:pPr>
            <a:r>
              <a:rPr lang="en-US" sz="1800" b="1" i="1" dirty="0">
                <a:solidFill>
                  <a:srgbClr val="D9700F"/>
                </a:solidFill>
              </a:rPr>
              <a:t>Als</a:t>
            </a:r>
            <a:r>
              <a:rPr lang="en-US" sz="1800" i="1" dirty="0">
                <a:solidFill>
                  <a:schemeClr val="tx1"/>
                </a:solidFill>
              </a:rPr>
              <a:t> ik tijd </a:t>
            </a:r>
            <a:r>
              <a:rPr lang="en-US" sz="1800" b="1" i="1" dirty="0">
                <a:solidFill>
                  <a:srgbClr val="B83227"/>
                </a:solidFill>
              </a:rPr>
              <a:t>heb</a:t>
            </a:r>
            <a:r>
              <a:rPr lang="en-US" sz="1800" i="1" dirty="0">
                <a:solidFill>
                  <a:schemeClr val="tx1"/>
                </a:solidFill>
              </a:rPr>
              <a:t>, </a:t>
            </a:r>
            <a:r>
              <a:rPr lang="en-US" sz="1800" b="1" i="1" dirty="0">
                <a:solidFill>
                  <a:srgbClr val="B83227"/>
                </a:solidFill>
              </a:rPr>
              <a:t>kom</a:t>
            </a:r>
            <a:r>
              <a:rPr lang="en-US" sz="1800" i="1" dirty="0">
                <a:solidFill>
                  <a:schemeClr val="tx1"/>
                </a:solidFill>
              </a:rPr>
              <a:t> ik.</a:t>
            </a:r>
            <a:endParaRPr lang="en-US" sz="1800" dirty="0"/>
          </a:p>
        </p:txBody>
      </p:sp>
      <p:sp>
        <p:nvSpPr>
          <p:cNvPr id="9" name="Text 5"/>
          <p:cNvSpPr txBox="1"/>
          <p:nvPr/>
        </p:nvSpPr>
        <p:spPr>
          <a:xfrm>
            <a:off x="3931920" y="2084832"/>
            <a:ext cx="5029200" cy="457200"/>
          </a:xfrm>
          <a:prstGeom prst="rect">
            <a:avLst/>
          </a:prstGeom>
          <a:noFill/>
          <a:ln/>
        </p:spPr>
        <p:txBody>
          <a:bodyPr wrap="square" lIns="0" tIns="0" rIns="0" bIns="0" rtlCol="0" anchor="ctr"/>
          <a:lstStyle/>
          <a:p>
            <a:pPr algn="l" indent="0" marL="0">
              <a:buNone/>
            </a:pPr>
            <a:r>
              <a:rPr lang="en-US" sz="1400" i="1" dirty="0">
                <a:solidFill>
                  <a:schemeClr val="accent5"/>
                </a:solidFill>
              </a:rPr>
              <a:t>« Si j’ai le temps, je viens. »</a:t>
            </a:r>
            <a:endParaRPr lang="en-US" sz="1400" dirty="0"/>
          </a:p>
        </p:txBody>
      </p:sp>
      <p:sp>
        <p:nvSpPr>
          <p:cNvPr id="10" name="Text 6"/>
          <p:cNvSpPr txBox="1"/>
          <p:nvPr/>
        </p:nvSpPr>
        <p:spPr>
          <a:xfrm>
            <a:off x="9006840" y="1554480"/>
            <a:ext cx="2514600" cy="987552"/>
          </a:xfrm>
          <a:prstGeom prst="rect">
            <a:avLst/>
          </a:prstGeom>
          <a:noFill/>
          <a:ln/>
        </p:spPr>
        <p:txBody>
          <a:bodyPr wrap="square" lIns="0" tIns="0" rIns="0" bIns="0" rtlCol="0" anchor="ctr"/>
          <a:lstStyle/>
          <a:p>
            <a:pPr algn="ctr" indent="0" marL="0">
              <a:buNone/>
            </a:pPr>
            <a:r>
              <a:rPr lang="en-US" sz="1300" b="1" dirty="0">
                <a:solidFill>
                  <a:schemeClr val="accent2"/>
                </a:solidFill>
              </a:rPr>
              <a:t>presens + presens</a:t>
            </a:r>
            <a:endParaRPr lang="en-US" sz="1300" dirty="0"/>
          </a:p>
        </p:txBody>
      </p:sp>
      <p:sp>
        <p:nvSpPr>
          <p:cNvPr id="11" name="Shape 7"/>
          <p:cNvSpPr/>
          <p:nvPr/>
        </p:nvSpPr>
        <p:spPr>
          <a:xfrm>
            <a:off x="868680" y="2761488"/>
            <a:ext cx="10771632" cy="1170432"/>
          </a:xfrm>
          <a:prstGeom prst="roundRect">
            <a:avLst>
              <a:gd name="adj" fmla="val 9375"/>
            </a:avLst>
          </a:prstGeom>
          <a:solidFill>
            <a:srgbClr val="F1ECF7"/>
          </a:solidFill>
          <a:ln w="22225">
            <a:solidFill>
              <a:srgbClr val="6E4A9E"/>
            </a:solidFill>
            <a:prstDash val="solid"/>
          </a:ln>
        </p:spPr>
      </p:sp>
      <p:pic>
        <p:nvPicPr>
          <p:cNvPr id="12" name="Image 1" descr="thought balloon">    </p:cNvPr>
          <p:cNvPicPr>
            <a:picLocks noChangeAspect="1"/>
          </p:cNvPicPr>
          <p:nvPr/>
        </p:nvPicPr>
        <p:blipFill>
          <a:blip r:embed="rId2"/>
          <a:stretch>
            <a:fillRect/>
          </a:stretch>
        </p:blipFill>
        <p:spPr>
          <a:xfrm>
            <a:off x="1005840" y="2944368"/>
            <a:ext cx="777240" cy="777240"/>
          </a:xfrm>
          <a:prstGeom prst="rect">
            <a:avLst/>
          </a:prstGeom>
        </p:spPr>
      </p:pic>
      <p:sp>
        <p:nvSpPr>
          <p:cNvPr id="13" name="Text 8"/>
          <p:cNvSpPr txBox="1"/>
          <p:nvPr/>
        </p:nvSpPr>
        <p:spPr>
          <a:xfrm>
            <a:off x="1874520" y="2852928"/>
            <a:ext cx="1737360" cy="960120"/>
          </a:xfrm>
          <a:prstGeom prst="rect">
            <a:avLst/>
          </a:prstGeom>
          <a:noFill/>
          <a:ln/>
        </p:spPr>
        <p:txBody>
          <a:bodyPr wrap="square" lIns="0" tIns="0" rIns="0" bIns="0" rtlCol="0" anchor="ctr"/>
          <a:lstStyle/>
          <a:p>
            <a:pPr algn="l" indent="0" marL="0">
              <a:buNone/>
            </a:pPr>
            <a:r>
              <a:rPr lang="en-US" sz="1500" b="1" dirty="0">
                <a:solidFill>
                  <a:srgbClr val="6E4A9E"/>
                </a:solidFill>
              </a:rPr>
              <a:t>② IMAGINAIRE</a:t>
            </a:r>
            <a:endParaRPr lang="en-US" sz="1500" dirty="0"/>
          </a:p>
          <a:p>
            <a:pPr algn="l" indent="0" marL="0">
              <a:buNone/>
            </a:pPr>
            <a:r>
              <a:rPr lang="en-US" sz="1500" dirty="0">
                <a:solidFill>
                  <a:srgbClr val="6E4A9E"/>
                </a:solidFill>
              </a:rPr>
              <a:t>maintenant</a:t>
            </a:r>
            <a:endParaRPr lang="en-US" sz="1500" dirty="0"/>
          </a:p>
        </p:txBody>
      </p:sp>
      <p:sp>
        <p:nvSpPr>
          <p:cNvPr id="14" name="Text 9"/>
          <p:cNvSpPr txBox="1"/>
          <p:nvPr/>
        </p:nvSpPr>
        <p:spPr>
          <a:xfrm>
            <a:off x="3931920" y="2834640"/>
            <a:ext cx="5029200" cy="566928"/>
          </a:xfrm>
          <a:prstGeom prst="rect">
            <a:avLst/>
          </a:prstGeom>
          <a:noFill/>
          <a:ln/>
        </p:spPr>
        <p:txBody>
          <a:bodyPr wrap="square" lIns="0" tIns="0" rIns="0" bIns="0" rtlCol="0" anchor="ctr"/>
          <a:lstStyle/>
          <a:p>
            <a:pPr algn="l" indent="0" marL="0">
              <a:buNone/>
            </a:pPr>
            <a:r>
              <a:rPr lang="en-US" sz="1800" b="1" i="1" dirty="0">
                <a:solidFill>
                  <a:srgbClr val="D9700F"/>
                </a:solidFill>
              </a:rPr>
              <a:t>Als</a:t>
            </a:r>
            <a:r>
              <a:rPr lang="en-US" sz="1800" i="1" dirty="0">
                <a:solidFill>
                  <a:schemeClr val="tx1"/>
                </a:solidFill>
              </a:rPr>
              <a:t> ik tijd </a:t>
            </a:r>
            <a:r>
              <a:rPr lang="en-US" sz="1800" b="1" i="1" dirty="0">
                <a:solidFill>
                  <a:srgbClr val="B83227"/>
                </a:solidFill>
              </a:rPr>
              <a:t>had</a:t>
            </a:r>
            <a:r>
              <a:rPr lang="en-US" sz="1800" i="1" dirty="0">
                <a:solidFill>
                  <a:schemeClr val="tx1"/>
                </a:solidFill>
              </a:rPr>
              <a:t>, </a:t>
            </a:r>
            <a:r>
              <a:rPr lang="en-US" sz="1800" b="1" i="1" dirty="0">
                <a:solidFill>
                  <a:srgbClr val="B83227"/>
                </a:solidFill>
              </a:rPr>
              <a:t>zou</a:t>
            </a:r>
            <a:r>
              <a:rPr lang="en-US" sz="1800" i="1" dirty="0">
                <a:solidFill>
                  <a:schemeClr val="tx1"/>
                </a:solidFill>
              </a:rPr>
              <a:t> ik </a:t>
            </a:r>
            <a:r>
              <a:rPr lang="en-US" sz="1800" b="1" i="1" dirty="0">
                <a:solidFill>
                  <a:srgbClr val="B83227"/>
                </a:solidFill>
              </a:rPr>
              <a:t>komen</a:t>
            </a:r>
            <a:r>
              <a:rPr lang="en-US" sz="1800" i="1" dirty="0">
                <a:solidFill>
                  <a:schemeClr val="tx1"/>
                </a:solidFill>
              </a:rPr>
              <a:t>.</a:t>
            </a:r>
            <a:endParaRPr lang="en-US" sz="1800" dirty="0"/>
          </a:p>
        </p:txBody>
      </p:sp>
      <p:sp>
        <p:nvSpPr>
          <p:cNvPr id="15" name="Text 10"/>
          <p:cNvSpPr txBox="1"/>
          <p:nvPr/>
        </p:nvSpPr>
        <p:spPr>
          <a:xfrm>
            <a:off x="3931920" y="3383280"/>
            <a:ext cx="5029200" cy="457200"/>
          </a:xfrm>
          <a:prstGeom prst="rect">
            <a:avLst/>
          </a:prstGeom>
          <a:noFill/>
          <a:ln/>
        </p:spPr>
        <p:txBody>
          <a:bodyPr wrap="square" lIns="0" tIns="0" rIns="0" bIns="0" rtlCol="0" anchor="ctr"/>
          <a:lstStyle/>
          <a:p>
            <a:pPr algn="l" indent="0" marL="0">
              <a:buNone/>
            </a:pPr>
            <a:r>
              <a:rPr lang="en-US" sz="1400" i="1" dirty="0">
                <a:solidFill>
                  <a:schemeClr val="accent5"/>
                </a:solidFill>
              </a:rPr>
              <a:t>« Si j’avais le temps, je viendrais. »</a:t>
            </a:r>
            <a:endParaRPr lang="en-US" sz="1400" dirty="0"/>
          </a:p>
        </p:txBody>
      </p:sp>
      <p:sp>
        <p:nvSpPr>
          <p:cNvPr id="16" name="Text 11"/>
          <p:cNvSpPr txBox="1"/>
          <p:nvPr/>
        </p:nvSpPr>
        <p:spPr>
          <a:xfrm>
            <a:off x="9006840" y="2852928"/>
            <a:ext cx="2514600" cy="987552"/>
          </a:xfrm>
          <a:prstGeom prst="rect">
            <a:avLst/>
          </a:prstGeom>
          <a:noFill/>
          <a:ln/>
        </p:spPr>
        <p:txBody>
          <a:bodyPr wrap="square" lIns="0" tIns="0" rIns="0" bIns="0" rtlCol="0" anchor="ctr"/>
          <a:lstStyle/>
          <a:p>
            <a:pPr algn="ctr" indent="0" marL="0">
              <a:buNone/>
            </a:pPr>
            <a:r>
              <a:rPr lang="en-US" sz="1300" b="1" dirty="0">
                <a:solidFill>
                  <a:srgbClr val="6E4A9E"/>
                </a:solidFill>
              </a:rPr>
              <a:t>imperfectum + zou</a:t>
            </a:r>
            <a:endParaRPr lang="en-US" sz="1300" dirty="0"/>
          </a:p>
        </p:txBody>
      </p:sp>
      <p:sp>
        <p:nvSpPr>
          <p:cNvPr id="17" name="Shape 12"/>
          <p:cNvSpPr/>
          <p:nvPr/>
        </p:nvSpPr>
        <p:spPr>
          <a:xfrm>
            <a:off x="1188720" y="4059936"/>
            <a:ext cx="10451592" cy="1170432"/>
          </a:xfrm>
          <a:prstGeom prst="roundRect">
            <a:avLst>
              <a:gd name="adj" fmla="val 9375"/>
            </a:avLst>
          </a:prstGeom>
          <a:solidFill>
            <a:srgbClr val="ECE8F3"/>
          </a:solidFill>
          <a:ln w="22225">
            <a:solidFill>
              <a:srgbClr val="45306A"/>
            </a:solidFill>
            <a:prstDash val="solid"/>
          </a:ln>
        </p:spPr>
      </p:sp>
      <p:pic>
        <p:nvPicPr>
          <p:cNvPr id="18" name="Image 2" descr="pensive face">    </p:cNvPr>
          <p:cNvPicPr>
            <a:picLocks noChangeAspect="1"/>
          </p:cNvPicPr>
          <p:nvPr/>
        </p:nvPicPr>
        <p:blipFill>
          <a:blip r:embed="rId3"/>
          <a:stretch>
            <a:fillRect/>
          </a:stretch>
        </p:blipFill>
        <p:spPr>
          <a:xfrm>
            <a:off x="1325880" y="4242816"/>
            <a:ext cx="777240" cy="777240"/>
          </a:xfrm>
          <a:prstGeom prst="rect">
            <a:avLst/>
          </a:prstGeom>
        </p:spPr>
      </p:pic>
      <p:sp>
        <p:nvSpPr>
          <p:cNvPr id="19" name="Text 13"/>
          <p:cNvSpPr txBox="1"/>
          <p:nvPr/>
        </p:nvSpPr>
        <p:spPr>
          <a:xfrm>
            <a:off x="2194560" y="4151376"/>
            <a:ext cx="1737360" cy="960120"/>
          </a:xfrm>
          <a:prstGeom prst="rect">
            <a:avLst/>
          </a:prstGeom>
          <a:noFill/>
          <a:ln/>
        </p:spPr>
        <p:txBody>
          <a:bodyPr wrap="square" lIns="0" tIns="0" rIns="0" bIns="0" rtlCol="0" anchor="ctr"/>
          <a:lstStyle/>
          <a:p>
            <a:pPr algn="l" indent="0" marL="0">
              <a:buNone/>
            </a:pPr>
            <a:r>
              <a:rPr lang="en-US" sz="1500" b="1" dirty="0">
                <a:solidFill>
                  <a:srgbClr val="45306A"/>
                </a:solidFill>
              </a:rPr>
              <a:t>③ IRRÉEL</a:t>
            </a:r>
            <a:endParaRPr lang="en-US" sz="1500" dirty="0"/>
          </a:p>
          <a:p>
            <a:pPr algn="l" indent="0" marL="0">
              <a:buNone/>
            </a:pPr>
            <a:r>
              <a:rPr lang="en-US" sz="1500" dirty="0">
                <a:solidFill>
                  <a:srgbClr val="45306A"/>
                </a:solidFill>
              </a:rPr>
              <a:t>dans le passé</a:t>
            </a:r>
            <a:endParaRPr lang="en-US" sz="1500" dirty="0"/>
          </a:p>
        </p:txBody>
      </p:sp>
      <p:sp>
        <p:nvSpPr>
          <p:cNvPr id="20" name="Text 14"/>
          <p:cNvSpPr txBox="1"/>
          <p:nvPr/>
        </p:nvSpPr>
        <p:spPr>
          <a:xfrm>
            <a:off x="3931920" y="4133088"/>
            <a:ext cx="5029200" cy="566928"/>
          </a:xfrm>
          <a:prstGeom prst="rect">
            <a:avLst/>
          </a:prstGeom>
          <a:noFill/>
          <a:ln/>
        </p:spPr>
        <p:txBody>
          <a:bodyPr wrap="square" lIns="0" tIns="0" rIns="0" bIns="0" rtlCol="0" anchor="ctr"/>
          <a:lstStyle/>
          <a:p>
            <a:pPr algn="l" indent="0" marL="0">
              <a:buNone/>
            </a:pPr>
            <a:r>
              <a:rPr lang="en-US" sz="1800" b="1" i="1" dirty="0">
                <a:solidFill>
                  <a:srgbClr val="D9700F"/>
                </a:solidFill>
              </a:rPr>
              <a:t>Als</a:t>
            </a:r>
            <a:r>
              <a:rPr lang="en-US" sz="1800" i="1" dirty="0">
                <a:solidFill>
                  <a:schemeClr val="tx1"/>
                </a:solidFill>
              </a:rPr>
              <a:t> ik tijd </a:t>
            </a:r>
            <a:r>
              <a:rPr lang="en-US" sz="1800" b="1" i="1" dirty="0">
                <a:solidFill>
                  <a:srgbClr val="B83227"/>
                </a:solidFill>
              </a:rPr>
              <a:t>gehad had</a:t>
            </a:r>
            <a:r>
              <a:rPr lang="en-US" sz="1800" i="1" dirty="0">
                <a:solidFill>
                  <a:schemeClr val="tx1"/>
                </a:solidFill>
              </a:rPr>
              <a:t>, </a:t>
            </a:r>
            <a:r>
              <a:rPr lang="en-US" sz="1800" b="1" i="1" dirty="0">
                <a:solidFill>
                  <a:srgbClr val="B83227"/>
                </a:solidFill>
              </a:rPr>
              <a:t>was</a:t>
            </a:r>
            <a:r>
              <a:rPr lang="en-US" sz="1800" i="1" dirty="0">
                <a:solidFill>
                  <a:schemeClr val="tx1"/>
                </a:solidFill>
              </a:rPr>
              <a:t> ik </a:t>
            </a:r>
            <a:r>
              <a:rPr lang="en-US" sz="1800" b="1" i="1" dirty="0">
                <a:solidFill>
                  <a:srgbClr val="B83227"/>
                </a:solidFill>
              </a:rPr>
              <a:t>gekomen</a:t>
            </a:r>
            <a:r>
              <a:rPr lang="en-US" sz="1800" i="1" dirty="0">
                <a:solidFill>
                  <a:schemeClr val="tx1"/>
                </a:solidFill>
              </a:rPr>
              <a:t>.</a:t>
            </a:r>
            <a:endParaRPr lang="en-US" sz="1800" dirty="0"/>
          </a:p>
        </p:txBody>
      </p:sp>
      <p:sp>
        <p:nvSpPr>
          <p:cNvPr id="21" name="Text 15"/>
          <p:cNvSpPr txBox="1"/>
          <p:nvPr/>
        </p:nvSpPr>
        <p:spPr>
          <a:xfrm>
            <a:off x="3931920" y="4681728"/>
            <a:ext cx="5029200" cy="457200"/>
          </a:xfrm>
          <a:prstGeom prst="rect">
            <a:avLst/>
          </a:prstGeom>
          <a:noFill/>
          <a:ln/>
        </p:spPr>
        <p:txBody>
          <a:bodyPr wrap="square" lIns="0" tIns="0" rIns="0" bIns="0" rtlCol="0" anchor="ctr"/>
          <a:lstStyle/>
          <a:p>
            <a:pPr algn="l" indent="0" marL="0">
              <a:buNone/>
            </a:pPr>
            <a:r>
              <a:rPr lang="en-US" sz="1400" i="1" dirty="0">
                <a:solidFill>
                  <a:schemeClr val="accent5"/>
                </a:solidFill>
              </a:rPr>
              <a:t>« Si j’avais eu le temps, je serais venu·e. »</a:t>
            </a:r>
            <a:endParaRPr lang="en-US" sz="1400" dirty="0"/>
          </a:p>
        </p:txBody>
      </p:sp>
      <p:sp>
        <p:nvSpPr>
          <p:cNvPr id="22" name="Text 16"/>
          <p:cNvSpPr txBox="1"/>
          <p:nvPr/>
        </p:nvSpPr>
        <p:spPr>
          <a:xfrm>
            <a:off x="9006840" y="4151376"/>
            <a:ext cx="2514600" cy="987552"/>
          </a:xfrm>
          <a:prstGeom prst="rect">
            <a:avLst/>
          </a:prstGeom>
          <a:noFill/>
          <a:ln/>
        </p:spPr>
        <p:txBody>
          <a:bodyPr wrap="square" lIns="0" tIns="0" rIns="0" bIns="0" rtlCol="0" anchor="ctr"/>
          <a:lstStyle/>
          <a:p>
            <a:pPr algn="ctr" indent="0" marL="0">
              <a:buNone/>
            </a:pPr>
            <a:r>
              <a:rPr lang="en-US" sz="1300" b="1" dirty="0">
                <a:solidFill>
                  <a:srgbClr val="45306A"/>
                </a:solidFill>
              </a:rPr>
              <a:t>had + participe · had / was + participe</a:t>
            </a:r>
            <a:endParaRPr lang="en-US" sz="1300" dirty="0"/>
          </a:p>
        </p:txBody>
      </p:sp>
      <p:sp>
        <p:nvSpPr>
          <p:cNvPr id="23" name="Shape 17"/>
          <p:cNvSpPr/>
          <p:nvPr/>
        </p:nvSpPr>
        <p:spPr>
          <a:xfrm>
            <a:off x="548640" y="5486400"/>
            <a:ext cx="11091672" cy="640080"/>
          </a:xfrm>
          <a:prstGeom prst="roundRect">
            <a:avLst>
              <a:gd name="adj" fmla="val 11429"/>
            </a:avLst>
          </a:prstGeom>
          <a:solidFill>
            <a:schemeClr val="tx2"/>
          </a:solidFill>
          <a:ln w="12700">
            <a:solidFill>
              <a:srgbClr val="FFFFFF">
                <a:alpha val="0"/>
              </a:srgbClr>
            </a:solidFill>
            <a:prstDash val="solid"/>
          </a:ln>
        </p:spPr>
      </p:sp>
      <p:sp>
        <p:nvSpPr>
          <p:cNvPr id="24" name="Text 18"/>
          <p:cNvSpPr txBox="1"/>
          <p:nvPr/>
        </p:nvSpPr>
        <p:spPr>
          <a:xfrm>
            <a:off x="822960" y="5486400"/>
            <a:ext cx="10607040" cy="640080"/>
          </a:xfrm>
          <a:prstGeom prst="rect">
            <a:avLst/>
          </a:prstGeom>
          <a:noFill/>
          <a:ln/>
        </p:spPr>
        <p:txBody>
          <a:bodyPr wrap="square" lIns="0" tIns="0" rIns="0" bIns="0" rtlCol="0" anchor="ctr"/>
          <a:lstStyle/>
          <a:p>
            <a:pPr algn="l" indent="0" marL="0">
              <a:buNone/>
            </a:pPr>
            <a:r>
              <a:rPr lang="en-US" sz="1600" dirty="0">
                <a:solidFill>
                  <a:schemeClr val="bg1"/>
                </a:solidFill>
              </a:rPr>
              <a:t>Comme en français, le temps recule d’un cran à chaque niveau. ③ aussi : </a:t>
            </a:r>
            <a:r>
              <a:rPr lang="en-US" sz="1600" i="1" dirty="0">
                <a:solidFill>
                  <a:schemeClr val="bg1"/>
                </a:solidFill>
              </a:rPr>
              <a:t>…, </a:t>
            </a:r>
            <a:r>
              <a:rPr lang="en-US" sz="1600" b="1" i="1" dirty="0">
                <a:solidFill>
                  <a:schemeClr val="bg1"/>
                </a:solidFill>
              </a:rPr>
              <a:t>zou</a:t>
            </a:r>
            <a:r>
              <a:rPr lang="en-US" sz="1600" i="1" dirty="0">
                <a:solidFill>
                  <a:schemeClr val="bg1"/>
                </a:solidFill>
              </a:rPr>
              <a:t> ik </a:t>
            </a:r>
            <a:r>
              <a:rPr lang="en-US" sz="1600" b="1" i="1" dirty="0">
                <a:solidFill>
                  <a:schemeClr val="bg1"/>
                </a:solidFill>
              </a:rPr>
              <a:t>gekomen zijn</a:t>
            </a:r>
            <a:r>
              <a:rPr lang="en-US" sz="1600" i="1"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Il a dit que… : la concordance des temps</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COMBINER</a:t>
            </a:r>
            <a:endParaRPr lang="en-US" sz="1200" dirty="0"/>
          </a:p>
        </p:txBody>
      </p:sp>
      <p:pic>
        <p:nvPicPr>
          <p:cNvPr id="5" name="Image 0" descr="speaking head">    </p:cNvPr>
          <p:cNvPicPr>
            <a:picLocks noChangeAspect="1"/>
          </p:cNvPicPr>
          <p:nvPr/>
        </p:nvPicPr>
        <p:blipFill>
          <a:blip r:embed="rId1"/>
          <a:stretch>
            <a:fillRect/>
          </a:stretch>
        </p:blipFill>
        <p:spPr>
          <a:xfrm>
            <a:off x="548640" y="1371600"/>
            <a:ext cx="731520" cy="731520"/>
          </a:xfrm>
          <a:prstGeom prst="rect">
            <a:avLst/>
          </a:prstGeom>
        </p:spPr>
      </p:pic>
      <p:sp>
        <p:nvSpPr>
          <p:cNvPr id="6" name="Text 2"/>
          <p:cNvSpPr txBox="1"/>
          <p:nvPr/>
        </p:nvSpPr>
        <p:spPr>
          <a:xfrm>
            <a:off x="1417320" y="1371600"/>
            <a:ext cx="10149840" cy="731520"/>
          </a:xfrm>
          <a:prstGeom prst="rect">
            <a:avLst/>
          </a:prstGeom>
          <a:noFill/>
          <a:ln/>
        </p:spPr>
        <p:txBody>
          <a:bodyPr wrap="square" lIns="0" tIns="0" rIns="0" bIns="0" rtlCol="0" anchor="ctr"/>
          <a:lstStyle/>
          <a:p>
            <a:pPr algn="l" indent="0" marL="0">
              <a:buNone/>
            </a:pPr>
            <a:r>
              <a:rPr lang="en-US" sz="1700" i="1" dirty="0">
                <a:solidFill>
                  <a:schemeClr val="tx2"/>
                </a:solidFill>
              </a:rPr>
              <a:t>Hij zegt…</a:t>
            </a:r>
            <a:r>
              <a:rPr lang="en-US" sz="1700" dirty="0">
                <a:solidFill>
                  <a:schemeClr val="tx2"/>
                </a:solidFill>
              </a:rPr>
              <a:t> → </a:t>
            </a:r>
            <a:r>
              <a:rPr lang="en-US" sz="1700" i="1" dirty="0">
                <a:solidFill>
                  <a:schemeClr val="tx2"/>
                </a:solidFill>
              </a:rPr>
              <a:t>Hij </a:t>
            </a:r>
            <a:r>
              <a:rPr lang="en-US" sz="1700" b="1" i="1" dirty="0">
                <a:solidFill>
                  <a:schemeClr val="tx2"/>
                </a:solidFill>
              </a:rPr>
              <a:t>zei</a:t>
            </a:r>
            <a:r>
              <a:rPr lang="en-US" sz="1700" i="1" dirty="0">
                <a:solidFill>
                  <a:schemeClr val="tx2"/>
                </a:solidFill>
              </a:rPr>
              <a:t> dat…</a:t>
            </a:r>
            <a:r>
              <a:rPr lang="en-US" sz="1700" dirty="0">
                <a:solidFill>
                  <a:schemeClr val="tx2"/>
                </a:solidFill>
              </a:rPr>
              <a:t> : chaque temps descend d’une ligne (diapo 5).</a:t>
            </a:r>
            <a:endParaRPr lang="en-US" sz="1700" dirty="0"/>
          </a:p>
        </p:txBody>
      </p:sp>
      <p:sp>
        <p:nvSpPr>
          <p:cNvPr id="7" name="Shape 3"/>
          <p:cNvSpPr/>
          <p:nvPr/>
        </p:nvSpPr>
        <p:spPr>
          <a:xfrm>
            <a:off x="548640" y="2286000"/>
            <a:ext cx="3931920" cy="868680"/>
          </a:xfrm>
          <a:prstGeom prst="roundRect">
            <a:avLst>
              <a:gd name="adj" fmla="val 23158"/>
            </a:avLst>
          </a:prstGeom>
          <a:solidFill>
            <a:srgbClr val="EAF2FB"/>
          </a:solidFill>
          <a:ln w="19050">
            <a:solidFill>
              <a:srgbClr val="2A6FB0"/>
            </a:solidFill>
            <a:prstDash val="solid"/>
          </a:ln>
        </p:spPr>
      </p:sp>
      <p:sp>
        <p:nvSpPr>
          <p:cNvPr id="8" name="Text 4"/>
          <p:cNvSpPr txBox="1"/>
          <p:nvPr/>
        </p:nvSpPr>
        <p:spPr>
          <a:xfrm>
            <a:off x="731520" y="2322576"/>
            <a:ext cx="3611880" cy="530352"/>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ben</a:t>
            </a:r>
            <a:r>
              <a:rPr lang="en-US" sz="1700" i="1" dirty="0">
                <a:solidFill>
                  <a:schemeClr val="tx1"/>
                </a:solidFill>
              </a:rPr>
              <a:t> ziek.»</a:t>
            </a:r>
            <a:endParaRPr lang="en-US" sz="1800" dirty="0"/>
          </a:p>
        </p:txBody>
      </p:sp>
      <p:sp>
        <p:nvSpPr>
          <p:cNvPr id="9" name="Text 5"/>
          <p:cNvSpPr txBox="1"/>
          <p:nvPr/>
        </p:nvSpPr>
        <p:spPr>
          <a:xfrm>
            <a:off x="2743200" y="2834640"/>
            <a:ext cx="1600200" cy="274320"/>
          </a:xfrm>
          <a:prstGeom prst="rect">
            <a:avLst/>
          </a:prstGeom>
          <a:noFill/>
          <a:ln/>
        </p:spPr>
        <p:txBody>
          <a:bodyPr wrap="square" lIns="0" tIns="0" rIns="0" bIns="0" rtlCol="0" anchor="ctr"/>
          <a:lstStyle/>
          <a:p>
            <a:pPr algn="r" indent="0" marL="0">
              <a:buNone/>
            </a:pPr>
            <a:r>
              <a:rPr lang="en-US" sz="1100" b="1" dirty="0">
                <a:solidFill>
                  <a:schemeClr val="accent2"/>
                </a:solidFill>
              </a:rPr>
              <a:t>presens</a:t>
            </a:r>
            <a:endParaRPr lang="en-US" sz="1100" dirty="0"/>
          </a:p>
        </p:txBody>
      </p:sp>
      <p:sp>
        <p:nvSpPr>
          <p:cNvPr id="10" name="Text 6"/>
          <p:cNvSpPr txBox="1"/>
          <p:nvPr/>
        </p:nvSpPr>
        <p:spPr>
          <a:xfrm>
            <a:off x="4526280" y="2286000"/>
            <a:ext cx="640080" cy="8686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1" name="Shape 7"/>
          <p:cNvSpPr/>
          <p:nvPr/>
        </p:nvSpPr>
        <p:spPr>
          <a:xfrm>
            <a:off x="5212080" y="2286000"/>
            <a:ext cx="6428232" cy="868680"/>
          </a:xfrm>
          <a:prstGeom prst="roundRect">
            <a:avLst>
              <a:gd name="adj" fmla="val 12632"/>
            </a:avLst>
          </a:prstGeom>
          <a:solidFill>
            <a:srgbClr val="FFFFFF"/>
          </a:solidFill>
          <a:ln w="19050">
            <a:solidFill>
              <a:srgbClr val="B4236A"/>
            </a:solidFill>
            <a:prstDash val="solid"/>
          </a:ln>
        </p:spPr>
      </p:sp>
      <p:sp>
        <p:nvSpPr>
          <p:cNvPr id="12" name="Text 8"/>
          <p:cNvSpPr txBox="1"/>
          <p:nvPr/>
        </p:nvSpPr>
        <p:spPr>
          <a:xfrm>
            <a:off x="5394960" y="2286000"/>
            <a:ext cx="4754880" cy="868680"/>
          </a:xfrm>
          <a:prstGeom prst="rect">
            <a:avLst/>
          </a:prstGeom>
          <a:noFill/>
          <a:ln/>
        </p:spPr>
        <p:txBody>
          <a:bodyPr wrap="square" lIns="0" tIns="0" rIns="0" bIns="0" rtlCol="0" anchor="ctr"/>
          <a:lstStyle/>
          <a:p>
            <a:pPr algn="l" indent="0" marL="0">
              <a:buNone/>
            </a:pPr>
            <a:r>
              <a:rPr lang="en-US" sz="1800" i="1" dirty="0">
                <a:solidFill>
                  <a:schemeClr val="tx1"/>
                </a:solidFill>
              </a:rPr>
              <a:t>Hij zei dat hij ziek </a:t>
            </a:r>
            <a:r>
              <a:rPr lang="en-US" sz="1800" b="1" i="1" dirty="0">
                <a:solidFill>
                  <a:srgbClr val="B83227"/>
                </a:solidFill>
              </a:rPr>
              <a:t>was</a:t>
            </a:r>
            <a:r>
              <a:rPr lang="en-US" sz="1800" i="1" dirty="0">
                <a:solidFill>
                  <a:schemeClr val="tx1"/>
                </a:solidFill>
              </a:rPr>
              <a:t>.</a:t>
            </a:r>
            <a:endParaRPr lang="en-US" sz="1800" dirty="0"/>
          </a:p>
        </p:txBody>
      </p:sp>
      <p:sp>
        <p:nvSpPr>
          <p:cNvPr id="13" name="Shape 9"/>
          <p:cNvSpPr/>
          <p:nvPr/>
        </p:nvSpPr>
        <p:spPr>
          <a:xfrm>
            <a:off x="10195560" y="2514600"/>
            <a:ext cx="1325880" cy="411480"/>
          </a:xfrm>
          <a:prstGeom prst="roundRect">
            <a:avLst>
              <a:gd name="adj" fmla="val 22222"/>
            </a:avLst>
          </a:prstGeom>
          <a:solidFill>
            <a:schemeClr val="accent4"/>
          </a:solidFill>
          <a:ln w="12700">
            <a:solidFill>
              <a:srgbClr val="FFFFFF">
                <a:alpha val="0"/>
              </a:srgbClr>
            </a:solidFill>
            <a:prstDash val="solid"/>
          </a:ln>
        </p:spPr>
      </p:sp>
      <p:sp>
        <p:nvSpPr>
          <p:cNvPr id="14" name="Text 10"/>
          <p:cNvSpPr txBox="1"/>
          <p:nvPr/>
        </p:nvSpPr>
        <p:spPr>
          <a:xfrm>
            <a:off x="10195560" y="2514600"/>
            <a:ext cx="1325880" cy="411480"/>
          </a:xfrm>
          <a:prstGeom prst="rect">
            <a:avLst/>
          </a:prstGeom>
          <a:noFill/>
          <a:ln/>
        </p:spPr>
        <p:txBody>
          <a:bodyPr wrap="square" lIns="0" tIns="0" rIns="0" bIns="0" rtlCol="0" anchor="ctr"/>
          <a:lstStyle/>
          <a:p>
            <a:pPr algn="ctr" indent="0" marL="0">
              <a:buNone/>
            </a:pPr>
            <a:r>
              <a:rPr lang="en-US" sz="1200" b="1" dirty="0">
                <a:solidFill>
                  <a:schemeClr val="bg1"/>
                </a:solidFill>
              </a:rPr>
              <a:t>o.v.t.</a:t>
            </a:r>
            <a:endParaRPr lang="en-US" sz="1200" dirty="0"/>
          </a:p>
        </p:txBody>
      </p:sp>
      <p:sp>
        <p:nvSpPr>
          <p:cNvPr id="15" name="Shape 11"/>
          <p:cNvSpPr/>
          <p:nvPr/>
        </p:nvSpPr>
        <p:spPr>
          <a:xfrm>
            <a:off x="548640" y="3310128"/>
            <a:ext cx="3931920" cy="868680"/>
          </a:xfrm>
          <a:prstGeom prst="roundRect">
            <a:avLst>
              <a:gd name="adj" fmla="val 23158"/>
            </a:avLst>
          </a:prstGeom>
          <a:solidFill>
            <a:srgbClr val="FBEAF2"/>
          </a:solidFill>
          <a:ln w="19050">
            <a:solidFill>
              <a:srgbClr val="B4236A"/>
            </a:solidFill>
            <a:prstDash val="solid"/>
          </a:ln>
        </p:spPr>
      </p:sp>
      <p:sp>
        <p:nvSpPr>
          <p:cNvPr id="16" name="Text 12"/>
          <p:cNvSpPr txBox="1"/>
          <p:nvPr/>
        </p:nvSpPr>
        <p:spPr>
          <a:xfrm>
            <a:off x="731520" y="3346704"/>
            <a:ext cx="3611880" cy="530352"/>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heb</a:t>
            </a:r>
            <a:r>
              <a:rPr lang="en-US" sz="1700" i="1" dirty="0">
                <a:solidFill>
                  <a:schemeClr val="tx1"/>
                </a:solidFill>
              </a:rPr>
              <a:t> hard </a:t>
            </a:r>
            <a:r>
              <a:rPr lang="en-US" sz="1700" b="1" i="1" dirty="0">
                <a:solidFill>
                  <a:srgbClr val="B83227"/>
                </a:solidFill>
              </a:rPr>
              <a:t>gewerkt</a:t>
            </a:r>
            <a:r>
              <a:rPr lang="en-US" sz="1700" i="1" dirty="0">
                <a:solidFill>
                  <a:schemeClr val="tx1"/>
                </a:solidFill>
              </a:rPr>
              <a:t>.»</a:t>
            </a:r>
            <a:endParaRPr lang="en-US" sz="1800" dirty="0"/>
          </a:p>
        </p:txBody>
      </p:sp>
      <p:sp>
        <p:nvSpPr>
          <p:cNvPr id="17" name="Text 13"/>
          <p:cNvSpPr txBox="1"/>
          <p:nvPr/>
        </p:nvSpPr>
        <p:spPr>
          <a:xfrm>
            <a:off x="2743200" y="3858768"/>
            <a:ext cx="1600200" cy="274320"/>
          </a:xfrm>
          <a:prstGeom prst="rect">
            <a:avLst/>
          </a:prstGeom>
          <a:noFill/>
          <a:ln/>
        </p:spPr>
        <p:txBody>
          <a:bodyPr wrap="square" lIns="0" tIns="0" rIns="0" bIns="0" rtlCol="0" anchor="ctr"/>
          <a:lstStyle/>
          <a:p>
            <a:pPr algn="r" indent="0" marL="0">
              <a:buNone/>
            </a:pPr>
            <a:r>
              <a:rPr lang="en-US" sz="1100" b="1" dirty="0">
                <a:solidFill>
                  <a:schemeClr val="accent4"/>
                </a:solidFill>
              </a:rPr>
              <a:t>perfectum</a:t>
            </a:r>
            <a:endParaRPr lang="en-US" sz="1100" dirty="0"/>
          </a:p>
        </p:txBody>
      </p:sp>
      <p:sp>
        <p:nvSpPr>
          <p:cNvPr id="18" name="Text 14"/>
          <p:cNvSpPr txBox="1"/>
          <p:nvPr/>
        </p:nvSpPr>
        <p:spPr>
          <a:xfrm>
            <a:off x="4526280" y="3310128"/>
            <a:ext cx="640080" cy="8686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9" name="Shape 15"/>
          <p:cNvSpPr/>
          <p:nvPr/>
        </p:nvSpPr>
        <p:spPr>
          <a:xfrm>
            <a:off x="5212080" y="3310128"/>
            <a:ext cx="6428232" cy="868680"/>
          </a:xfrm>
          <a:prstGeom prst="roundRect">
            <a:avLst>
              <a:gd name="adj" fmla="val 12632"/>
            </a:avLst>
          </a:prstGeom>
          <a:solidFill>
            <a:srgbClr val="FFFFFF"/>
          </a:solidFill>
          <a:ln w="19050">
            <a:solidFill>
              <a:srgbClr val="7A1748"/>
            </a:solidFill>
            <a:prstDash val="solid"/>
          </a:ln>
        </p:spPr>
      </p:sp>
      <p:sp>
        <p:nvSpPr>
          <p:cNvPr id="20" name="Text 16"/>
          <p:cNvSpPr txBox="1"/>
          <p:nvPr/>
        </p:nvSpPr>
        <p:spPr>
          <a:xfrm>
            <a:off x="5394960" y="3310128"/>
            <a:ext cx="4754880" cy="868680"/>
          </a:xfrm>
          <a:prstGeom prst="rect">
            <a:avLst/>
          </a:prstGeom>
          <a:noFill/>
          <a:ln/>
        </p:spPr>
        <p:txBody>
          <a:bodyPr wrap="square" lIns="0" tIns="0" rIns="0" bIns="0" rtlCol="0" anchor="ctr"/>
          <a:lstStyle/>
          <a:p>
            <a:pPr algn="l" indent="0" marL="0">
              <a:buNone/>
            </a:pPr>
            <a:r>
              <a:rPr lang="en-US" sz="1800" i="1" dirty="0">
                <a:solidFill>
                  <a:schemeClr val="tx1"/>
                </a:solidFill>
              </a:rPr>
              <a:t>Hij zei dat hij hard </a:t>
            </a:r>
            <a:r>
              <a:rPr lang="en-US" sz="1800" b="1" i="1" dirty="0">
                <a:solidFill>
                  <a:srgbClr val="B83227"/>
                </a:solidFill>
              </a:rPr>
              <a:t>gewerkt had</a:t>
            </a:r>
            <a:r>
              <a:rPr lang="en-US" sz="1800" i="1" dirty="0">
                <a:solidFill>
                  <a:schemeClr val="tx1"/>
                </a:solidFill>
              </a:rPr>
              <a:t>.</a:t>
            </a:r>
            <a:endParaRPr lang="en-US" sz="1800" dirty="0"/>
          </a:p>
        </p:txBody>
      </p:sp>
      <p:sp>
        <p:nvSpPr>
          <p:cNvPr id="21" name="Shape 17"/>
          <p:cNvSpPr/>
          <p:nvPr/>
        </p:nvSpPr>
        <p:spPr>
          <a:xfrm>
            <a:off x="10195560" y="3538728"/>
            <a:ext cx="1325880" cy="411480"/>
          </a:xfrm>
          <a:prstGeom prst="roundRect">
            <a:avLst>
              <a:gd name="adj" fmla="val 22222"/>
            </a:avLst>
          </a:prstGeom>
          <a:solidFill>
            <a:srgbClr val="7A1748"/>
          </a:solidFill>
          <a:ln w="12700">
            <a:solidFill>
              <a:srgbClr val="FFFFFF">
                <a:alpha val="0"/>
              </a:srgbClr>
            </a:solidFill>
            <a:prstDash val="solid"/>
          </a:ln>
        </p:spPr>
      </p:sp>
      <p:sp>
        <p:nvSpPr>
          <p:cNvPr id="22" name="Text 18"/>
          <p:cNvSpPr txBox="1"/>
          <p:nvPr/>
        </p:nvSpPr>
        <p:spPr>
          <a:xfrm>
            <a:off x="10195560" y="3538728"/>
            <a:ext cx="1325880" cy="411480"/>
          </a:xfrm>
          <a:prstGeom prst="rect">
            <a:avLst/>
          </a:prstGeom>
          <a:noFill/>
          <a:ln/>
        </p:spPr>
        <p:txBody>
          <a:bodyPr wrap="square" lIns="0" tIns="0" rIns="0" bIns="0" rtlCol="0" anchor="ctr"/>
          <a:lstStyle/>
          <a:p>
            <a:pPr algn="ctr" indent="0" marL="0">
              <a:buNone/>
            </a:pPr>
            <a:r>
              <a:rPr lang="en-US" sz="1200" b="1" dirty="0">
                <a:solidFill>
                  <a:schemeClr val="bg1"/>
                </a:solidFill>
              </a:rPr>
              <a:t>v.v.t.</a:t>
            </a:r>
            <a:endParaRPr lang="en-US" sz="1200" dirty="0"/>
          </a:p>
        </p:txBody>
      </p:sp>
      <p:sp>
        <p:nvSpPr>
          <p:cNvPr id="23" name="Shape 19"/>
          <p:cNvSpPr/>
          <p:nvPr/>
        </p:nvSpPr>
        <p:spPr>
          <a:xfrm>
            <a:off x="548640" y="4334256"/>
            <a:ext cx="3931920" cy="868680"/>
          </a:xfrm>
          <a:prstGeom prst="roundRect">
            <a:avLst>
              <a:gd name="adj" fmla="val 23158"/>
            </a:avLst>
          </a:prstGeom>
          <a:solidFill>
            <a:srgbClr val="E8F4EC"/>
          </a:solidFill>
          <a:ln w="19050">
            <a:solidFill>
              <a:srgbClr val="2E7D4F"/>
            </a:solidFill>
            <a:prstDash val="solid"/>
          </a:ln>
        </p:spPr>
      </p:sp>
      <p:sp>
        <p:nvSpPr>
          <p:cNvPr id="24" name="Text 20"/>
          <p:cNvSpPr txBox="1"/>
          <p:nvPr/>
        </p:nvSpPr>
        <p:spPr>
          <a:xfrm>
            <a:off x="731520" y="4370832"/>
            <a:ext cx="3611880" cy="530352"/>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rgbClr val="B83227"/>
                </a:solidFill>
              </a:rPr>
              <a:t>zal</a:t>
            </a:r>
            <a:r>
              <a:rPr lang="en-US" sz="1700" i="1" dirty="0">
                <a:solidFill>
                  <a:schemeClr val="tx1"/>
                </a:solidFill>
              </a:rPr>
              <a:t> morgen </a:t>
            </a:r>
            <a:r>
              <a:rPr lang="en-US" sz="1700" b="1" i="1" dirty="0">
                <a:solidFill>
                  <a:srgbClr val="B83227"/>
                </a:solidFill>
              </a:rPr>
              <a:t>komen</a:t>
            </a:r>
            <a:r>
              <a:rPr lang="en-US" sz="1700" i="1" dirty="0">
                <a:solidFill>
                  <a:schemeClr val="tx1"/>
                </a:solidFill>
              </a:rPr>
              <a:t>.»</a:t>
            </a:r>
            <a:endParaRPr lang="en-US" sz="1800" dirty="0"/>
          </a:p>
        </p:txBody>
      </p:sp>
      <p:sp>
        <p:nvSpPr>
          <p:cNvPr id="25" name="Text 21"/>
          <p:cNvSpPr txBox="1"/>
          <p:nvPr/>
        </p:nvSpPr>
        <p:spPr>
          <a:xfrm>
            <a:off x="2743200" y="4882896"/>
            <a:ext cx="1600200" cy="274320"/>
          </a:xfrm>
          <a:prstGeom prst="rect">
            <a:avLst/>
          </a:prstGeom>
          <a:noFill/>
          <a:ln/>
        </p:spPr>
        <p:txBody>
          <a:bodyPr wrap="square" lIns="0" tIns="0" rIns="0" bIns="0" rtlCol="0" anchor="ctr"/>
          <a:lstStyle/>
          <a:p>
            <a:pPr algn="r" indent="0" marL="0">
              <a:buNone/>
            </a:pPr>
            <a:r>
              <a:rPr lang="en-US" sz="1100" b="1" dirty="0">
                <a:solidFill>
                  <a:schemeClr val="accent3"/>
                </a:solidFill>
              </a:rPr>
              <a:t>futurum</a:t>
            </a:r>
            <a:endParaRPr lang="en-US" sz="1100" dirty="0"/>
          </a:p>
        </p:txBody>
      </p:sp>
      <p:sp>
        <p:nvSpPr>
          <p:cNvPr id="26" name="Text 22"/>
          <p:cNvSpPr txBox="1"/>
          <p:nvPr/>
        </p:nvSpPr>
        <p:spPr>
          <a:xfrm>
            <a:off x="4526280" y="4334256"/>
            <a:ext cx="640080" cy="868680"/>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27" name="Shape 23"/>
          <p:cNvSpPr/>
          <p:nvPr/>
        </p:nvSpPr>
        <p:spPr>
          <a:xfrm>
            <a:off x="5212080" y="4334256"/>
            <a:ext cx="6428232" cy="868680"/>
          </a:xfrm>
          <a:prstGeom prst="roundRect">
            <a:avLst>
              <a:gd name="adj" fmla="val 12632"/>
            </a:avLst>
          </a:prstGeom>
          <a:solidFill>
            <a:srgbClr val="FFFFFF"/>
          </a:solidFill>
          <a:ln w="19050">
            <a:solidFill>
              <a:srgbClr val="6E4A9E"/>
            </a:solidFill>
            <a:prstDash val="solid"/>
          </a:ln>
        </p:spPr>
      </p:sp>
      <p:sp>
        <p:nvSpPr>
          <p:cNvPr id="28" name="Text 24"/>
          <p:cNvSpPr txBox="1"/>
          <p:nvPr/>
        </p:nvSpPr>
        <p:spPr>
          <a:xfrm>
            <a:off x="5394960" y="4334256"/>
            <a:ext cx="4754880" cy="868680"/>
          </a:xfrm>
          <a:prstGeom prst="rect">
            <a:avLst/>
          </a:prstGeom>
          <a:noFill/>
          <a:ln/>
        </p:spPr>
        <p:txBody>
          <a:bodyPr wrap="square" lIns="0" tIns="0" rIns="0" bIns="0" rtlCol="0" anchor="ctr"/>
          <a:lstStyle/>
          <a:p>
            <a:pPr algn="l" indent="0" marL="0">
              <a:buNone/>
            </a:pPr>
            <a:r>
              <a:rPr lang="en-US" sz="1800" i="1" dirty="0">
                <a:solidFill>
                  <a:schemeClr val="tx1"/>
                </a:solidFill>
              </a:rPr>
              <a:t>Hij zei dat hij </a:t>
            </a:r>
            <a:r>
              <a:rPr lang="en-US" sz="1800" b="1" i="1" dirty="0">
                <a:solidFill>
                  <a:srgbClr val="D9700F"/>
                </a:solidFill>
              </a:rPr>
              <a:t>de volgende dag</a:t>
            </a:r>
            <a:r>
              <a:rPr lang="en-US" sz="1800" i="1" dirty="0">
                <a:solidFill>
                  <a:schemeClr val="tx1"/>
                </a:solidFill>
              </a:rPr>
              <a:t> </a:t>
            </a:r>
            <a:r>
              <a:rPr lang="en-US" sz="1800" b="1" i="1" dirty="0">
                <a:solidFill>
                  <a:srgbClr val="B83227"/>
                </a:solidFill>
              </a:rPr>
              <a:t>zou komen</a:t>
            </a:r>
            <a:r>
              <a:rPr lang="en-US" sz="1800" i="1" dirty="0">
                <a:solidFill>
                  <a:schemeClr val="tx1"/>
                </a:solidFill>
              </a:rPr>
              <a:t>.</a:t>
            </a:r>
            <a:endParaRPr lang="en-US" sz="1800" dirty="0"/>
          </a:p>
        </p:txBody>
      </p:sp>
      <p:sp>
        <p:nvSpPr>
          <p:cNvPr id="29" name="Shape 25"/>
          <p:cNvSpPr/>
          <p:nvPr/>
        </p:nvSpPr>
        <p:spPr>
          <a:xfrm>
            <a:off x="10195560" y="4562856"/>
            <a:ext cx="1325880" cy="411480"/>
          </a:xfrm>
          <a:prstGeom prst="roundRect">
            <a:avLst>
              <a:gd name="adj" fmla="val 22222"/>
            </a:avLst>
          </a:prstGeom>
          <a:solidFill>
            <a:srgbClr val="6E4A9E"/>
          </a:solidFill>
          <a:ln w="12700">
            <a:solidFill>
              <a:srgbClr val="FFFFFF">
                <a:alpha val="0"/>
              </a:srgbClr>
            </a:solidFill>
            <a:prstDash val="solid"/>
          </a:ln>
        </p:spPr>
      </p:sp>
      <p:sp>
        <p:nvSpPr>
          <p:cNvPr id="30" name="Text 26"/>
          <p:cNvSpPr txBox="1"/>
          <p:nvPr/>
        </p:nvSpPr>
        <p:spPr>
          <a:xfrm>
            <a:off x="10195560" y="4562856"/>
            <a:ext cx="1325880" cy="411480"/>
          </a:xfrm>
          <a:prstGeom prst="rect">
            <a:avLst/>
          </a:prstGeom>
          <a:noFill/>
          <a:ln/>
        </p:spPr>
        <p:txBody>
          <a:bodyPr wrap="square" lIns="0" tIns="0" rIns="0" bIns="0" rtlCol="0" anchor="ctr"/>
          <a:lstStyle/>
          <a:p>
            <a:pPr algn="ctr" indent="0" marL="0">
              <a:buNone/>
            </a:pPr>
            <a:r>
              <a:rPr lang="en-US" sz="1200" b="1" dirty="0">
                <a:solidFill>
                  <a:schemeClr val="bg1"/>
                </a:solidFill>
              </a:rPr>
              <a:t>o.v.t.t.</a:t>
            </a:r>
            <a:endParaRPr lang="en-US" sz="1200" dirty="0"/>
          </a:p>
        </p:txBody>
      </p:sp>
      <p:sp>
        <p:nvSpPr>
          <p:cNvPr id="31" name="Shape 27"/>
          <p:cNvSpPr/>
          <p:nvPr/>
        </p:nvSpPr>
        <p:spPr>
          <a:xfrm>
            <a:off x="548640" y="5440680"/>
            <a:ext cx="11091672" cy="731520"/>
          </a:xfrm>
          <a:prstGeom prst="roundRect">
            <a:avLst>
              <a:gd name="adj" fmla="val 10000"/>
            </a:avLst>
          </a:prstGeom>
          <a:solidFill>
            <a:schemeClr val="tx2"/>
          </a:solidFill>
          <a:ln w="12700">
            <a:solidFill>
              <a:srgbClr val="FFFFFF">
                <a:alpha val="0"/>
              </a:srgbClr>
            </a:solidFill>
            <a:prstDash val="solid"/>
          </a:ln>
        </p:spPr>
      </p:sp>
      <p:sp>
        <p:nvSpPr>
          <p:cNvPr id="32" name="Text 28"/>
          <p:cNvSpPr txBox="1"/>
          <p:nvPr/>
        </p:nvSpPr>
        <p:spPr>
          <a:xfrm>
            <a:off x="822960" y="5440680"/>
            <a:ext cx="10607040" cy="731520"/>
          </a:xfrm>
          <a:prstGeom prst="rect">
            <a:avLst/>
          </a:prstGeom>
          <a:noFill/>
          <a:ln/>
        </p:spPr>
        <p:txBody>
          <a:bodyPr wrap="square" lIns="0" tIns="0" rIns="0" bIns="0" rtlCol="0" anchor="ctr"/>
          <a:lstStyle/>
          <a:p>
            <a:pPr algn="l" indent="0" marL="0">
              <a:buNone/>
            </a:pPr>
            <a:r>
              <a:rPr lang="en-US" sz="1600" dirty="0">
                <a:solidFill>
                  <a:schemeClr val="bg1"/>
                </a:solidFill>
              </a:rPr>
              <a:t>Après </a:t>
            </a:r>
            <a:r>
              <a:rPr lang="en-US" sz="1600" i="1" dirty="0">
                <a:solidFill>
                  <a:schemeClr val="bg1"/>
                </a:solidFill>
              </a:rPr>
              <a:t>Hij </a:t>
            </a:r>
            <a:r>
              <a:rPr lang="en-US" sz="1600" b="1" i="1" dirty="0">
                <a:solidFill>
                  <a:schemeClr val="bg1"/>
                </a:solidFill>
              </a:rPr>
              <a:t>zegt</a:t>
            </a:r>
            <a:r>
              <a:rPr lang="en-US" sz="1600" i="1" dirty="0">
                <a:solidFill>
                  <a:schemeClr val="bg1"/>
                </a:solidFill>
              </a:rPr>
              <a:t> dat…</a:t>
            </a:r>
            <a:r>
              <a:rPr lang="en-US" sz="1600" dirty="0">
                <a:solidFill>
                  <a:schemeClr val="bg1"/>
                </a:solidFill>
              </a:rPr>
              <a:t> (présent) : rien ne change → </a:t>
            </a:r>
            <a:r>
              <a:rPr lang="en-US" sz="1600" i="1" dirty="0">
                <a:solidFill>
                  <a:schemeClr val="bg1"/>
                </a:solidFill>
              </a:rPr>
              <a:t>Hij zegt dat hij ziek </a:t>
            </a:r>
            <a:r>
              <a:rPr lang="en-US" sz="1600" b="1" i="1" dirty="0">
                <a:solidFill>
                  <a:schemeClr val="bg1"/>
                </a:solidFill>
              </a:rPr>
              <a:t>is</a:t>
            </a:r>
            <a:r>
              <a:rPr lang="en-US" sz="1600" i="1" dirty="0">
                <a:solidFill>
                  <a:schemeClr val="bg1"/>
                </a:solidFill>
              </a:rPr>
              <a:t>.</a:t>
            </a:r>
            <a:r>
              <a:rPr lang="en-US" sz="1600" dirty="0">
                <a:solidFill>
                  <a:schemeClr val="bg1"/>
                </a:solidFill>
              </a:rPr>
              <a:t> · Après </a:t>
            </a:r>
            <a:r>
              <a:rPr lang="en-US" sz="1600" i="1" dirty="0">
                <a:solidFill>
                  <a:schemeClr val="bg1"/>
                </a:solidFill>
              </a:rPr>
              <a:t>dat</a:t>
            </a:r>
            <a:r>
              <a:rPr lang="en-US" sz="1600" dirty="0">
                <a:solidFill>
                  <a:schemeClr val="bg1"/>
                </a:solidFill>
              </a:rPr>
              <a:t>, le verbe va à la fin (le wagon).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marqueurs de temps sur la ligne</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COMBINER</a:t>
            </a:r>
            <a:endParaRPr lang="en-US" sz="1200" dirty="0"/>
          </a:p>
        </p:txBody>
      </p:sp>
      <p:sp>
        <p:nvSpPr>
          <p:cNvPr id="5" name="Shape 2"/>
          <p:cNvSpPr/>
          <p:nvPr/>
        </p:nvSpPr>
        <p:spPr>
          <a:xfrm>
            <a:off x="731520" y="2971800"/>
            <a:ext cx="5486400" cy="182880"/>
          </a:xfrm>
          <a:prstGeom prst="rect">
            <a:avLst/>
          </a:prstGeom>
          <a:solidFill>
            <a:schemeClr val="accent4"/>
          </a:solidFill>
          <a:ln w="12700">
            <a:solidFill>
              <a:srgbClr val="FFFFFF">
                <a:alpha val="0"/>
              </a:srgbClr>
            </a:solidFill>
            <a:prstDash val="solid"/>
          </a:ln>
        </p:spPr>
      </p:sp>
      <p:sp>
        <p:nvSpPr>
          <p:cNvPr id="6" name="Shape 3"/>
          <p:cNvSpPr/>
          <p:nvPr/>
        </p:nvSpPr>
        <p:spPr>
          <a:xfrm>
            <a:off x="6583680" y="2971800"/>
            <a:ext cx="4754880" cy="182880"/>
          </a:xfrm>
          <a:prstGeom prst="rect">
            <a:avLst/>
          </a:prstGeom>
          <a:solidFill>
            <a:schemeClr val="accent3"/>
          </a:solidFill>
          <a:ln w="12700">
            <a:solidFill>
              <a:srgbClr val="FFFFFF">
                <a:alpha val="0"/>
              </a:srgbClr>
            </a:solidFill>
            <a:prstDash val="solid"/>
          </a:ln>
        </p:spPr>
      </p:sp>
      <p:sp>
        <p:nvSpPr>
          <p:cNvPr id="7" name="Shape 4"/>
          <p:cNvSpPr/>
          <p:nvPr/>
        </p:nvSpPr>
        <p:spPr>
          <a:xfrm>
            <a:off x="640080" y="3063240"/>
            <a:ext cx="11018520" cy="914"/>
          </a:xfrm>
          <a:prstGeom prst="line">
            <a:avLst/>
          </a:prstGeom>
          <a:noFill/>
          <a:ln w="31750">
            <a:solidFill>
              <a:srgbClr val="17375E"/>
            </a:solidFill>
            <a:prstDash val="solid"/>
            <a:tailEnd type="triangle"/>
          </a:ln>
        </p:spPr>
      </p:sp>
      <p:sp>
        <p:nvSpPr>
          <p:cNvPr id="8" name="Shape 5"/>
          <p:cNvSpPr/>
          <p:nvPr/>
        </p:nvSpPr>
        <p:spPr>
          <a:xfrm>
            <a:off x="6355080" y="2752344"/>
            <a:ext cx="91440" cy="621792"/>
          </a:xfrm>
          <a:prstGeom prst="rect">
            <a:avLst/>
          </a:prstGeom>
          <a:solidFill>
            <a:schemeClr val="accent6"/>
          </a:solidFill>
          <a:ln w="12700">
            <a:solidFill>
              <a:srgbClr val="FFFFFF">
                <a:alpha val="0"/>
              </a:srgbClr>
            </a:solidFill>
            <a:prstDash val="solid"/>
          </a:ln>
        </p:spPr>
      </p:sp>
      <p:sp>
        <p:nvSpPr>
          <p:cNvPr id="9" name="Shape 6"/>
          <p:cNvSpPr/>
          <p:nvPr/>
        </p:nvSpPr>
        <p:spPr>
          <a:xfrm>
            <a:off x="2377440" y="2953512"/>
            <a:ext cx="4023360" cy="219456"/>
          </a:xfrm>
          <a:prstGeom prst="roundRect">
            <a:avLst>
              <a:gd name="adj" fmla="val 25000"/>
            </a:avLst>
          </a:prstGeom>
          <a:solidFill>
            <a:schemeClr val="accent2"/>
          </a:solidFill>
          <a:ln w="12700">
            <a:solidFill>
              <a:srgbClr val="FFFFFF"/>
            </a:solidFill>
            <a:prstDash val="solid"/>
          </a:ln>
        </p:spPr>
      </p:sp>
      <p:sp>
        <p:nvSpPr>
          <p:cNvPr id="10" name="Shape 7"/>
          <p:cNvSpPr/>
          <p:nvPr/>
        </p:nvSpPr>
        <p:spPr>
          <a:xfrm flipV="1">
            <a:off x="1143000" y="2651760"/>
            <a:ext cx="914" cy="301752"/>
          </a:xfrm>
          <a:prstGeom prst="line">
            <a:avLst/>
          </a:prstGeom>
          <a:noFill/>
          <a:ln w="12700">
            <a:solidFill>
              <a:srgbClr val="B4236A"/>
            </a:solidFill>
            <a:prstDash val="solid"/>
          </a:ln>
        </p:spPr>
      </p:sp>
      <p:sp>
        <p:nvSpPr>
          <p:cNvPr id="11" name="Shape 8"/>
          <p:cNvSpPr/>
          <p:nvPr/>
        </p:nvSpPr>
        <p:spPr>
          <a:xfrm>
            <a:off x="541998" y="2194560"/>
            <a:ext cx="1202004" cy="457200"/>
          </a:xfrm>
          <a:prstGeom prst="roundRect">
            <a:avLst>
              <a:gd name="adj" fmla="val 24000"/>
            </a:avLst>
          </a:prstGeom>
          <a:solidFill>
            <a:schemeClr val="accent4"/>
          </a:solidFill>
          <a:ln w="12700">
            <a:solidFill>
              <a:srgbClr val="FFFFFF">
                <a:alpha val="0"/>
              </a:srgbClr>
            </a:solidFill>
            <a:prstDash val="solid"/>
          </a:ln>
        </p:spPr>
      </p:sp>
      <p:sp>
        <p:nvSpPr>
          <p:cNvPr id="12" name="Text 9"/>
          <p:cNvSpPr txBox="1"/>
          <p:nvPr/>
        </p:nvSpPr>
        <p:spPr>
          <a:xfrm>
            <a:off x="541998" y="2194560"/>
            <a:ext cx="1202004" cy="457200"/>
          </a:xfrm>
          <a:prstGeom prst="rect">
            <a:avLst/>
          </a:prstGeom>
          <a:noFill/>
          <a:ln/>
        </p:spPr>
        <p:txBody>
          <a:bodyPr wrap="square" lIns="0" tIns="0" rIns="0" bIns="0" rtlCol="0" anchor="ctr"/>
          <a:lstStyle/>
          <a:p>
            <a:pPr algn="ctr" indent="0" marL="0">
              <a:buNone/>
            </a:pPr>
            <a:r>
              <a:rPr lang="en-US" sz="1400" b="1" i="1" dirty="0">
                <a:solidFill>
                  <a:schemeClr val="bg1"/>
                </a:solidFill>
              </a:rPr>
              <a:t>vroeger</a:t>
            </a:r>
            <a:endParaRPr lang="en-US" sz="1400" dirty="0"/>
          </a:p>
        </p:txBody>
      </p:sp>
      <p:sp>
        <p:nvSpPr>
          <p:cNvPr id="13" name="Shape 10"/>
          <p:cNvSpPr/>
          <p:nvPr/>
        </p:nvSpPr>
        <p:spPr>
          <a:xfrm flipV="1">
            <a:off x="3246120" y="2651760"/>
            <a:ext cx="914" cy="301752"/>
          </a:xfrm>
          <a:prstGeom prst="line">
            <a:avLst/>
          </a:prstGeom>
          <a:noFill/>
          <a:ln w="12700">
            <a:solidFill>
              <a:srgbClr val="B4236A"/>
            </a:solidFill>
            <a:prstDash val="solid"/>
          </a:ln>
        </p:spPr>
      </p:sp>
      <p:sp>
        <p:nvSpPr>
          <p:cNvPr id="14" name="Shape 11"/>
          <p:cNvSpPr/>
          <p:nvPr/>
        </p:nvSpPr>
        <p:spPr>
          <a:xfrm>
            <a:off x="2421448" y="2194560"/>
            <a:ext cx="1649344" cy="457200"/>
          </a:xfrm>
          <a:prstGeom prst="roundRect">
            <a:avLst>
              <a:gd name="adj" fmla="val 24000"/>
            </a:avLst>
          </a:prstGeom>
          <a:solidFill>
            <a:schemeClr val="accent4"/>
          </a:solidFill>
          <a:ln w="12700">
            <a:solidFill>
              <a:srgbClr val="FFFFFF">
                <a:alpha val="0"/>
              </a:srgbClr>
            </a:solidFill>
            <a:prstDash val="solid"/>
          </a:ln>
        </p:spPr>
      </p:sp>
      <p:sp>
        <p:nvSpPr>
          <p:cNvPr id="15" name="Text 12"/>
          <p:cNvSpPr txBox="1"/>
          <p:nvPr/>
        </p:nvSpPr>
        <p:spPr>
          <a:xfrm>
            <a:off x="2421448" y="2194560"/>
            <a:ext cx="1649344" cy="457200"/>
          </a:xfrm>
          <a:prstGeom prst="rect">
            <a:avLst/>
          </a:prstGeom>
          <a:noFill/>
          <a:ln/>
        </p:spPr>
        <p:txBody>
          <a:bodyPr wrap="square" lIns="0" tIns="0" rIns="0" bIns="0" rtlCol="0" anchor="ctr"/>
          <a:lstStyle/>
          <a:p>
            <a:pPr algn="ctr" indent="0" marL="0">
              <a:buNone/>
            </a:pPr>
            <a:r>
              <a:rPr lang="en-US" sz="1400" b="1" i="1" dirty="0">
                <a:solidFill>
                  <a:schemeClr val="bg1"/>
                </a:solidFill>
              </a:rPr>
              <a:t>eergisteren</a:t>
            </a:r>
            <a:endParaRPr lang="en-US" sz="1400" dirty="0"/>
          </a:p>
        </p:txBody>
      </p:sp>
      <p:sp>
        <p:nvSpPr>
          <p:cNvPr id="16" name="Shape 13"/>
          <p:cNvSpPr/>
          <p:nvPr/>
        </p:nvSpPr>
        <p:spPr>
          <a:xfrm flipV="1">
            <a:off x="5074920" y="2651760"/>
            <a:ext cx="914" cy="301752"/>
          </a:xfrm>
          <a:prstGeom prst="line">
            <a:avLst/>
          </a:prstGeom>
          <a:noFill/>
          <a:ln w="12700">
            <a:solidFill>
              <a:srgbClr val="B4236A"/>
            </a:solidFill>
            <a:prstDash val="solid"/>
          </a:ln>
        </p:spPr>
      </p:sp>
      <p:sp>
        <p:nvSpPr>
          <p:cNvPr id="17" name="Shape 14"/>
          <p:cNvSpPr/>
          <p:nvPr/>
        </p:nvSpPr>
        <p:spPr>
          <a:xfrm>
            <a:off x="4641670" y="2194560"/>
            <a:ext cx="866500" cy="457200"/>
          </a:xfrm>
          <a:prstGeom prst="roundRect">
            <a:avLst>
              <a:gd name="adj" fmla="val 24000"/>
            </a:avLst>
          </a:prstGeom>
          <a:solidFill>
            <a:schemeClr val="accent4"/>
          </a:solidFill>
          <a:ln w="12700">
            <a:solidFill>
              <a:srgbClr val="FFFFFF">
                <a:alpha val="0"/>
              </a:srgbClr>
            </a:solidFill>
            <a:prstDash val="solid"/>
          </a:ln>
        </p:spPr>
      </p:sp>
      <p:sp>
        <p:nvSpPr>
          <p:cNvPr id="18" name="Text 15"/>
          <p:cNvSpPr txBox="1"/>
          <p:nvPr/>
        </p:nvSpPr>
        <p:spPr>
          <a:xfrm>
            <a:off x="4641670" y="2194560"/>
            <a:ext cx="866500" cy="457200"/>
          </a:xfrm>
          <a:prstGeom prst="rect">
            <a:avLst/>
          </a:prstGeom>
          <a:noFill/>
          <a:ln/>
        </p:spPr>
        <p:txBody>
          <a:bodyPr wrap="square" lIns="0" tIns="0" rIns="0" bIns="0" rtlCol="0" anchor="ctr"/>
          <a:lstStyle/>
          <a:p>
            <a:pPr algn="ctr" indent="0" marL="0">
              <a:buNone/>
            </a:pPr>
            <a:r>
              <a:rPr lang="en-US" sz="1400" b="1" i="1" dirty="0">
                <a:solidFill>
                  <a:schemeClr val="bg1"/>
                </a:solidFill>
              </a:rPr>
              <a:t>toen</a:t>
            </a:r>
            <a:endParaRPr lang="en-US" sz="1400" dirty="0"/>
          </a:p>
        </p:txBody>
      </p:sp>
      <p:sp>
        <p:nvSpPr>
          <p:cNvPr id="19" name="Shape 16"/>
          <p:cNvSpPr/>
          <p:nvPr/>
        </p:nvSpPr>
        <p:spPr>
          <a:xfrm flipV="1">
            <a:off x="6400800" y="2651760"/>
            <a:ext cx="914" cy="301752"/>
          </a:xfrm>
          <a:prstGeom prst="line">
            <a:avLst/>
          </a:prstGeom>
          <a:noFill/>
          <a:ln w="12700">
            <a:solidFill>
              <a:srgbClr val="2A6FB0"/>
            </a:solidFill>
            <a:prstDash val="solid"/>
          </a:ln>
        </p:spPr>
      </p:sp>
      <p:sp>
        <p:nvSpPr>
          <p:cNvPr id="20" name="Shape 17"/>
          <p:cNvSpPr/>
          <p:nvPr/>
        </p:nvSpPr>
        <p:spPr>
          <a:xfrm>
            <a:off x="5520211" y="2194560"/>
            <a:ext cx="1761178" cy="457200"/>
          </a:xfrm>
          <a:prstGeom prst="roundRect">
            <a:avLst>
              <a:gd name="adj" fmla="val 24000"/>
            </a:avLst>
          </a:prstGeom>
          <a:solidFill>
            <a:schemeClr val="accent2"/>
          </a:solidFill>
          <a:ln w="12700">
            <a:solidFill>
              <a:srgbClr val="FFFFFF">
                <a:alpha val="0"/>
              </a:srgbClr>
            </a:solidFill>
            <a:prstDash val="solid"/>
          </a:ln>
        </p:spPr>
      </p:sp>
      <p:sp>
        <p:nvSpPr>
          <p:cNvPr id="21" name="Text 18"/>
          <p:cNvSpPr txBox="1"/>
          <p:nvPr/>
        </p:nvSpPr>
        <p:spPr>
          <a:xfrm>
            <a:off x="5520211" y="2194560"/>
            <a:ext cx="1761178" cy="457200"/>
          </a:xfrm>
          <a:prstGeom prst="rect">
            <a:avLst/>
          </a:prstGeom>
          <a:noFill/>
          <a:ln/>
        </p:spPr>
        <p:txBody>
          <a:bodyPr wrap="square" lIns="0" tIns="0" rIns="0" bIns="0" rtlCol="0" anchor="ctr"/>
          <a:lstStyle/>
          <a:p>
            <a:pPr algn="ctr" indent="0" marL="0">
              <a:buNone/>
            </a:pPr>
            <a:r>
              <a:rPr lang="en-US" sz="1400" b="1" i="1" dirty="0">
                <a:solidFill>
                  <a:schemeClr val="bg1"/>
                </a:solidFill>
              </a:rPr>
              <a:t>nu · vandaag</a:t>
            </a:r>
            <a:endParaRPr lang="en-US" sz="1400" dirty="0"/>
          </a:p>
        </p:txBody>
      </p:sp>
      <p:sp>
        <p:nvSpPr>
          <p:cNvPr id="22" name="Shape 19"/>
          <p:cNvSpPr/>
          <p:nvPr/>
        </p:nvSpPr>
        <p:spPr>
          <a:xfrm flipV="1">
            <a:off x="8046720" y="2651760"/>
            <a:ext cx="914" cy="301752"/>
          </a:xfrm>
          <a:prstGeom prst="line">
            <a:avLst/>
          </a:prstGeom>
          <a:noFill/>
          <a:ln w="12700">
            <a:solidFill>
              <a:srgbClr val="2E7D4F"/>
            </a:solidFill>
            <a:prstDash val="solid"/>
          </a:ln>
        </p:spPr>
      </p:sp>
      <p:sp>
        <p:nvSpPr>
          <p:cNvPr id="23" name="Shape 20"/>
          <p:cNvSpPr/>
          <p:nvPr/>
        </p:nvSpPr>
        <p:spPr>
          <a:xfrm>
            <a:off x="7501635" y="2194560"/>
            <a:ext cx="1090170" cy="457200"/>
          </a:xfrm>
          <a:prstGeom prst="roundRect">
            <a:avLst>
              <a:gd name="adj" fmla="val 24000"/>
            </a:avLst>
          </a:prstGeom>
          <a:solidFill>
            <a:schemeClr val="accent3"/>
          </a:solidFill>
          <a:ln w="12700">
            <a:solidFill>
              <a:srgbClr val="FFFFFF">
                <a:alpha val="0"/>
              </a:srgbClr>
            </a:solidFill>
            <a:prstDash val="solid"/>
          </a:ln>
        </p:spPr>
      </p:sp>
      <p:sp>
        <p:nvSpPr>
          <p:cNvPr id="24" name="Text 21"/>
          <p:cNvSpPr txBox="1"/>
          <p:nvPr/>
        </p:nvSpPr>
        <p:spPr>
          <a:xfrm>
            <a:off x="7501635" y="2194560"/>
            <a:ext cx="1090170" cy="457200"/>
          </a:xfrm>
          <a:prstGeom prst="rect">
            <a:avLst/>
          </a:prstGeom>
          <a:noFill/>
          <a:ln/>
        </p:spPr>
        <p:txBody>
          <a:bodyPr wrap="square" lIns="0" tIns="0" rIns="0" bIns="0" rtlCol="0" anchor="ctr"/>
          <a:lstStyle/>
          <a:p>
            <a:pPr algn="ctr" indent="0" marL="0">
              <a:buNone/>
            </a:pPr>
            <a:r>
              <a:rPr lang="en-US" sz="1400" b="1" i="1" dirty="0">
                <a:solidFill>
                  <a:schemeClr val="bg1"/>
                </a:solidFill>
              </a:rPr>
              <a:t>straks</a:t>
            </a:r>
            <a:endParaRPr lang="en-US" sz="1400" dirty="0"/>
          </a:p>
        </p:txBody>
      </p:sp>
      <p:sp>
        <p:nvSpPr>
          <p:cNvPr id="25" name="Shape 22"/>
          <p:cNvSpPr/>
          <p:nvPr/>
        </p:nvSpPr>
        <p:spPr>
          <a:xfrm flipV="1">
            <a:off x="9692640" y="2651760"/>
            <a:ext cx="914" cy="301752"/>
          </a:xfrm>
          <a:prstGeom prst="line">
            <a:avLst/>
          </a:prstGeom>
          <a:noFill/>
          <a:ln w="12700">
            <a:solidFill>
              <a:srgbClr val="2E7D4F"/>
            </a:solidFill>
            <a:prstDash val="solid"/>
          </a:ln>
        </p:spPr>
      </p:sp>
      <p:sp>
        <p:nvSpPr>
          <p:cNvPr id="26" name="Shape 23"/>
          <p:cNvSpPr/>
          <p:nvPr/>
        </p:nvSpPr>
        <p:spPr>
          <a:xfrm>
            <a:off x="8756133" y="2194560"/>
            <a:ext cx="1873013" cy="457200"/>
          </a:xfrm>
          <a:prstGeom prst="roundRect">
            <a:avLst>
              <a:gd name="adj" fmla="val 24000"/>
            </a:avLst>
          </a:prstGeom>
          <a:solidFill>
            <a:schemeClr val="accent3"/>
          </a:solidFill>
          <a:ln w="12700">
            <a:solidFill>
              <a:srgbClr val="FFFFFF">
                <a:alpha val="0"/>
              </a:srgbClr>
            </a:solidFill>
            <a:prstDash val="solid"/>
          </a:ln>
        </p:spPr>
      </p:sp>
      <p:sp>
        <p:nvSpPr>
          <p:cNvPr id="27" name="Text 24"/>
          <p:cNvSpPr txBox="1"/>
          <p:nvPr/>
        </p:nvSpPr>
        <p:spPr>
          <a:xfrm>
            <a:off x="8756133" y="2194560"/>
            <a:ext cx="1873013" cy="457200"/>
          </a:xfrm>
          <a:prstGeom prst="rect">
            <a:avLst/>
          </a:prstGeom>
          <a:noFill/>
          <a:ln/>
        </p:spPr>
        <p:txBody>
          <a:bodyPr wrap="square" lIns="0" tIns="0" rIns="0" bIns="0" rtlCol="0" anchor="ctr"/>
          <a:lstStyle/>
          <a:p>
            <a:pPr algn="ctr" indent="0" marL="0">
              <a:buNone/>
            </a:pPr>
            <a:r>
              <a:rPr lang="en-US" sz="1400" b="1" i="1" dirty="0">
                <a:solidFill>
                  <a:schemeClr val="bg1"/>
                </a:solidFill>
              </a:rPr>
              <a:t>volgende week</a:t>
            </a:r>
            <a:endParaRPr lang="en-US" sz="1400" dirty="0"/>
          </a:p>
        </p:txBody>
      </p:sp>
      <p:sp>
        <p:nvSpPr>
          <p:cNvPr id="28" name="Shape 25"/>
          <p:cNvSpPr/>
          <p:nvPr/>
        </p:nvSpPr>
        <p:spPr>
          <a:xfrm>
            <a:off x="2194560" y="3172968"/>
            <a:ext cx="914" cy="274320"/>
          </a:xfrm>
          <a:prstGeom prst="line">
            <a:avLst/>
          </a:prstGeom>
          <a:noFill/>
          <a:ln w="12700">
            <a:solidFill>
              <a:srgbClr val="B4236A"/>
            </a:solidFill>
            <a:prstDash val="solid"/>
          </a:ln>
        </p:spPr>
      </p:sp>
      <p:sp>
        <p:nvSpPr>
          <p:cNvPr id="29" name="Shape 26"/>
          <p:cNvSpPr/>
          <p:nvPr/>
        </p:nvSpPr>
        <p:spPr>
          <a:xfrm>
            <a:off x="1369888" y="3447288"/>
            <a:ext cx="1649344" cy="457200"/>
          </a:xfrm>
          <a:prstGeom prst="roundRect">
            <a:avLst>
              <a:gd name="adj" fmla="val 24000"/>
            </a:avLst>
          </a:prstGeom>
          <a:solidFill>
            <a:schemeClr val="accent4"/>
          </a:solidFill>
          <a:ln w="12700">
            <a:solidFill>
              <a:srgbClr val="FFFFFF">
                <a:alpha val="0"/>
              </a:srgbClr>
            </a:solidFill>
            <a:prstDash val="solid"/>
          </a:ln>
        </p:spPr>
      </p:sp>
      <p:sp>
        <p:nvSpPr>
          <p:cNvPr id="30" name="Text 27"/>
          <p:cNvSpPr txBox="1"/>
          <p:nvPr/>
        </p:nvSpPr>
        <p:spPr>
          <a:xfrm>
            <a:off x="1369888" y="3447288"/>
            <a:ext cx="1649344" cy="457200"/>
          </a:xfrm>
          <a:prstGeom prst="rect">
            <a:avLst/>
          </a:prstGeom>
          <a:noFill/>
          <a:ln/>
        </p:spPr>
        <p:txBody>
          <a:bodyPr wrap="square" lIns="0" tIns="0" rIns="0" bIns="0" rtlCol="0" anchor="ctr"/>
          <a:lstStyle/>
          <a:p>
            <a:pPr algn="ctr" indent="0" marL="0">
              <a:buNone/>
            </a:pPr>
            <a:r>
              <a:rPr lang="en-US" sz="1400" b="1" i="1" dirty="0">
                <a:solidFill>
                  <a:schemeClr val="bg1"/>
                </a:solidFill>
              </a:rPr>
              <a:t>vorige week</a:t>
            </a:r>
            <a:endParaRPr lang="en-US" sz="1400" dirty="0"/>
          </a:p>
        </p:txBody>
      </p:sp>
      <p:sp>
        <p:nvSpPr>
          <p:cNvPr id="31" name="Shape 28"/>
          <p:cNvSpPr/>
          <p:nvPr/>
        </p:nvSpPr>
        <p:spPr>
          <a:xfrm>
            <a:off x="4251960" y="3172968"/>
            <a:ext cx="914" cy="274320"/>
          </a:xfrm>
          <a:prstGeom prst="line">
            <a:avLst/>
          </a:prstGeom>
          <a:noFill/>
          <a:ln w="12700">
            <a:solidFill>
              <a:srgbClr val="B4236A"/>
            </a:solidFill>
            <a:prstDash val="solid"/>
          </a:ln>
        </p:spPr>
      </p:sp>
      <p:sp>
        <p:nvSpPr>
          <p:cNvPr id="32" name="Shape 29"/>
          <p:cNvSpPr/>
          <p:nvPr/>
        </p:nvSpPr>
        <p:spPr>
          <a:xfrm>
            <a:off x="3595040" y="3447288"/>
            <a:ext cx="1313839" cy="457200"/>
          </a:xfrm>
          <a:prstGeom prst="roundRect">
            <a:avLst>
              <a:gd name="adj" fmla="val 24000"/>
            </a:avLst>
          </a:prstGeom>
          <a:solidFill>
            <a:schemeClr val="accent4"/>
          </a:solidFill>
          <a:ln w="12700">
            <a:solidFill>
              <a:srgbClr val="FFFFFF">
                <a:alpha val="0"/>
              </a:srgbClr>
            </a:solidFill>
            <a:prstDash val="solid"/>
          </a:ln>
        </p:spPr>
      </p:sp>
      <p:sp>
        <p:nvSpPr>
          <p:cNvPr id="33" name="Text 30"/>
          <p:cNvSpPr txBox="1"/>
          <p:nvPr/>
        </p:nvSpPr>
        <p:spPr>
          <a:xfrm>
            <a:off x="3595040" y="3447288"/>
            <a:ext cx="1313839" cy="457200"/>
          </a:xfrm>
          <a:prstGeom prst="rect">
            <a:avLst/>
          </a:prstGeom>
          <a:noFill/>
          <a:ln/>
        </p:spPr>
        <p:txBody>
          <a:bodyPr wrap="square" lIns="0" tIns="0" rIns="0" bIns="0" rtlCol="0" anchor="ctr"/>
          <a:lstStyle/>
          <a:p>
            <a:pPr algn="ctr" indent="0" marL="0">
              <a:buNone/>
            </a:pPr>
            <a:r>
              <a:rPr lang="en-US" sz="1400" b="1" i="1" dirty="0">
                <a:solidFill>
                  <a:schemeClr val="bg1"/>
                </a:solidFill>
              </a:rPr>
              <a:t>gisteren</a:t>
            </a:r>
            <a:endParaRPr lang="en-US" sz="1400" dirty="0"/>
          </a:p>
        </p:txBody>
      </p:sp>
      <p:sp>
        <p:nvSpPr>
          <p:cNvPr id="34" name="Shape 31"/>
          <p:cNvSpPr/>
          <p:nvPr/>
        </p:nvSpPr>
        <p:spPr>
          <a:xfrm>
            <a:off x="5760720" y="3172968"/>
            <a:ext cx="914" cy="274320"/>
          </a:xfrm>
          <a:prstGeom prst="line">
            <a:avLst/>
          </a:prstGeom>
          <a:noFill/>
          <a:ln w="12700">
            <a:solidFill>
              <a:srgbClr val="B4236A"/>
            </a:solidFill>
            <a:prstDash val="solid"/>
          </a:ln>
        </p:spPr>
      </p:sp>
      <p:sp>
        <p:nvSpPr>
          <p:cNvPr id="35" name="Shape 32"/>
          <p:cNvSpPr/>
          <p:nvPr/>
        </p:nvSpPr>
        <p:spPr>
          <a:xfrm>
            <a:off x="5383387" y="3447288"/>
            <a:ext cx="754665" cy="457200"/>
          </a:xfrm>
          <a:prstGeom prst="roundRect">
            <a:avLst>
              <a:gd name="adj" fmla="val 24000"/>
            </a:avLst>
          </a:prstGeom>
          <a:solidFill>
            <a:schemeClr val="accent4"/>
          </a:solidFill>
          <a:ln w="12700">
            <a:solidFill>
              <a:srgbClr val="FFFFFF">
                <a:alpha val="0"/>
              </a:srgbClr>
            </a:solidFill>
            <a:prstDash val="solid"/>
          </a:ln>
        </p:spPr>
      </p:sp>
      <p:sp>
        <p:nvSpPr>
          <p:cNvPr id="36" name="Text 33"/>
          <p:cNvSpPr txBox="1"/>
          <p:nvPr/>
        </p:nvSpPr>
        <p:spPr>
          <a:xfrm>
            <a:off x="5383387" y="3447288"/>
            <a:ext cx="754665" cy="457200"/>
          </a:xfrm>
          <a:prstGeom prst="rect">
            <a:avLst/>
          </a:prstGeom>
          <a:noFill/>
          <a:ln/>
        </p:spPr>
        <p:txBody>
          <a:bodyPr wrap="square" lIns="0" tIns="0" rIns="0" bIns="0" rtlCol="0" anchor="ctr"/>
          <a:lstStyle/>
          <a:p>
            <a:pPr algn="ctr" indent="0" marL="0">
              <a:buNone/>
            </a:pPr>
            <a:r>
              <a:rPr lang="en-US" sz="1400" b="1" i="1" dirty="0">
                <a:solidFill>
                  <a:schemeClr val="bg1"/>
                </a:solidFill>
              </a:rPr>
              <a:t>net</a:t>
            </a:r>
            <a:endParaRPr lang="en-US" sz="1400" dirty="0"/>
          </a:p>
        </p:txBody>
      </p:sp>
      <p:sp>
        <p:nvSpPr>
          <p:cNvPr id="37" name="Shape 34"/>
          <p:cNvSpPr/>
          <p:nvPr/>
        </p:nvSpPr>
        <p:spPr>
          <a:xfrm>
            <a:off x="7178040" y="3172968"/>
            <a:ext cx="914" cy="274320"/>
          </a:xfrm>
          <a:prstGeom prst="line">
            <a:avLst/>
          </a:prstGeom>
          <a:noFill/>
          <a:ln w="12700">
            <a:solidFill>
              <a:srgbClr val="2E7D4F"/>
            </a:solidFill>
            <a:prstDash val="solid"/>
          </a:ln>
        </p:spPr>
      </p:sp>
      <p:sp>
        <p:nvSpPr>
          <p:cNvPr id="38" name="Shape 35"/>
          <p:cNvSpPr/>
          <p:nvPr/>
        </p:nvSpPr>
        <p:spPr>
          <a:xfrm>
            <a:off x="6465203" y="3447288"/>
            <a:ext cx="1425674" cy="457200"/>
          </a:xfrm>
          <a:prstGeom prst="roundRect">
            <a:avLst>
              <a:gd name="adj" fmla="val 24000"/>
            </a:avLst>
          </a:prstGeom>
          <a:solidFill>
            <a:schemeClr val="accent3"/>
          </a:solidFill>
          <a:ln w="12700">
            <a:solidFill>
              <a:srgbClr val="FFFFFF">
                <a:alpha val="0"/>
              </a:srgbClr>
            </a:solidFill>
            <a:prstDash val="solid"/>
          </a:ln>
        </p:spPr>
      </p:sp>
      <p:sp>
        <p:nvSpPr>
          <p:cNvPr id="39" name="Text 36"/>
          <p:cNvSpPr txBox="1"/>
          <p:nvPr/>
        </p:nvSpPr>
        <p:spPr>
          <a:xfrm>
            <a:off x="6465203" y="3447288"/>
            <a:ext cx="1425674" cy="457200"/>
          </a:xfrm>
          <a:prstGeom prst="rect">
            <a:avLst/>
          </a:prstGeom>
          <a:noFill/>
          <a:ln/>
        </p:spPr>
        <p:txBody>
          <a:bodyPr wrap="square" lIns="0" tIns="0" rIns="0" bIns="0" rtlCol="0" anchor="ctr"/>
          <a:lstStyle/>
          <a:p>
            <a:pPr algn="ctr" indent="0" marL="0">
              <a:buNone/>
            </a:pPr>
            <a:r>
              <a:rPr lang="en-US" sz="1400" b="1" i="1" dirty="0">
                <a:solidFill>
                  <a:schemeClr val="bg1"/>
                </a:solidFill>
              </a:rPr>
              <a:t>zo meteen</a:t>
            </a:r>
            <a:endParaRPr lang="en-US" sz="1400" dirty="0"/>
          </a:p>
        </p:txBody>
      </p:sp>
      <p:sp>
        <p:nvSpPr>
          <p:cNvPr id="40" name="Shape 37"/>
          <p:cNvSpPr/>
          <p:nvPr/>
        </p:nvSpPr>
        <p:spPr>
          <a:xfrm>
            <a:off x="8595360" y="3172968"/>
            <a:ext cx="914" cy="274320"/>
          </a:xfrm>
          <a:prstGeom prst="line">
            <a:avLst/>
          </a:prstGeom>
          <a:noFill/>
          <a:ln w="12700">
            <a:solidFill>
              <a:srgbClr val="2E7D4F"/>
            </a:solidFill>
            <a:prstDash val="solid"/>
          </a:ln>
        </p:spPr>
      </p:sp>
      <p:sp>
        <p:nvSpPr>
          <p:cNvPr id="41" name="Shape 38"/>
          <p:cNvSpPr/>
          <p:nvPr/>
        </p:nvSpPr>
        <p:spPr>
          <a:xfrm>
            <a:off x="8050275" y="3447288"/>
            <a:ext cx="1090170" cy="457200"/>
          </a:xfrm>
          <a:prstGeom prst="roundRect">
            <a:avLst>
              <a:gd name="adj" fmla="val 24000"/>
            </a:avLst>
          </a:prstGeom>
          <a:solidFill>
            <a:schemeClr val="accent3"/>
          </a:solidFill>
          <a:ln w="12700">
            <a:solidFill>
              <a:srgbClr val="FFFFFF">
                <a:alpha val="0"/>
              </a:srgbClr>
            </a:solidFill>
            <a:prstDash val="solid"/>
          </a:ln>
        </p:spPr>
      </p:sp>
      <p:sp>
        <p:nvSpPr>
          <p:cNvPr id="42" name="Text 39"/>
          <p:cNvSpPr txBox="1"/>
          <p:nvPr/>
        </p:nvSpPr>
        <p:spPr>
          <a:xfrm>
            <a:off x="8050275" y="3447288"/>
            <a:ext cx="1090170" cy="457200"/>
          </a:xfrm>
          <a:prstGeom prst="rect">
            <a:avLst/>
          </a:prstGeom>
          <a:noFill/>
          <a:ln/>
        </p:spPr>
        <p:txBody>
          <a:bodyPr wrap="square" lIns="0" tIns="0" rIns="0" bIns="0" rtlCol="0" anchor="ctr"/>
          <a:lstStyle/>
          <a:p>
            <a:pPr algn="ctr" indent="0" marL="0">
              <a:buNone/>
            </a:pPr>
            <a:r>
              <a:rPr lang="en-US" sz="1400" b="1" i="1" dirty="0">
                <a:solidFill>
                  <a:schemeClr val="bg1"/>
                </a:solidFill>
              </a:rPr>
              <a:t>morgen</a:t>
            </a:r>
            <a:endParaRPr lang="en-US" sz="1400" dirty="0"/>
          </a:p>
        </p:txBody>
      </p:sp>
      <p:sp>
        <p:nvSpPr>
          <p:cNvPr id="43" name="Shape 40"/>
          <p:cNvSpPr/>
          <p:nvPr/>
        </p:nvSpPr>
        <p:spPr>
          <a:xfrm>
            <a:off x="10607040" y="3172968"/>
            <a:ext cx="914" cy="274320"/>
          </a:xfrm>
          <a:prstGeom prst="line">
            <a:avLst/>
          </a:prstGeom>
          <a:noFill/>
          <a:ln w="12700">
            <a:solidFill>
              <a:srgbClr val="2E7D4F"/>
            </a:solidFill>
            <a:prstDash val="solid"/>
          </a:ln>
        </p:spPr>
      </p:sp>
      <p:sp>
        <p:nvSpPr>
          <p:cNvPr id="44" name="Shape 41"/>
          <p:cNvSpPr/>
          <p:nvPr/>
        </p:nvSpPr>
        <p:spPr>
          <a:xfrm>
            <a:off x="9670533" y="3447288"/>
            <a:ext cx="1873013" cy="457200"/>
          </a:xfrm>
          <a:prstGeom prst="roundRect">
            <a:avLst>
              <a:gd name="adj" fmla="val 24000"/>
            </a:avLst>
          </a:prstGeom>
          <a:solidFill>
            <a:schemeClr val="accent3"/>
          </a:solidFill>
          <a:ln w="12700">
            <a:solidFill>
              <a:srgbClr val="FFFFFF">
                <a:alpha val="0"/>
              </a:srgbClr>
            </a:solidFill>
            <a:prstDash val="solid"/>
          </a:ln>
        </p:spPr>
      </p:sp>
      <p:sp>
        <p:nvSpPr>
          <p:cNvPr id="45" name="Text 42"/>
          <p:cNvSpPr txBox="1"/>
          <p:nvPr/>
        </p:nvSpPr>
        <p:spPr>
          <a:xfrm>
            <a:off x="9670533" y="3447288"/>
            <a:ext cx="1873013" cy="457200"/>
          </a:xfrm>
          <a:prstGeom prst="rect">
            <a:avLst/>
          </a:prstGeom>
          <a:noFill/>
          <a:ln/>
        </p:spPr>
        <p:txBody>
          <a:bodyPr wrap="square" lIns="0" tIns="0" rIns="0" bIns="0" rtlCol="0" anchor="ctr"/>
          <a:lstStyle/>
          <a:p>
            <a:pPr algn="ctr" indent="0" marL="0">
              <a:buNone/>
            </a:pPr>
            <a:r>
              <a:rPr lang="en-US" sz="1400" b="1" i="1" dirty="0">
                <a:solidFill>
                  <a:schemeClr val="bg1"/>
                </a:solidFill>
              </a:rPr>
              <a:t>tegen vrijdag</a:t>
            </a:r>
            <a:endParaRPr lang="en-US" sz="1400" dirty="0"/>
          </a:p>
        </p:txBody>
      </p:sp>
      <p:sp>
        <p:nvSpPr>
          <p:cNvPr id="46" name="Text 43"/>
          <p:cNvSpPr txBox="1"/>
          <p:nvPr/>
        </p:nvSpPr>
        <p:spPr>
          <a:xfrm>
            <a:off x="2743200" y="1645920"/>
            <a:ext cx="3291840" cy="365760"/>
          </a:xfrm>
          <a:prstGeom prst="rect">
            <a:avLst/>
          </a:prstGeom>
          <a:noFill/>
          <a:ln/>
        </p:spPr>
        <p:txBody>
          <a:bodyPr wrap="square" lIns="0" tIns="0" rIns="0" bIns="0" rtlCol="0" anchor="t"/>
          <a:lstStyle/>
          <a:p>
            <a:pPr algn="ctr" indent="0" marL="0">
              <a:buNone/>
            </a:pPr>
            <a:r>
              <a:rPr lang="en-US" sz="1400" b="1" i="1" dirty="0">
                <a:solidFill>
                  <a:schemeClr val="accent2"/>
                </a:solidFill>
              </a:rPr>
              <a:t>al … · sinds …</a:t>
            </a:r>
            <a:r>
              <a:rPr lang="en-US" sz="1400" b="1" dirty="0">
                <a:solidFill>
                  <a:schemeClr val="accent2"/>
                </a:solidFill>
              </a:rPr>
              <a:t> (depuis)</a:t>
            </a:r>
            <a:endParaRPr lang="en-US" sz="1400" dirty="0"/>
          </a:p>
        </p:txBody>
      </p:sp>
      <p:sp>
        <p:nvSpPr>
          <p:cNvPr id="47" name="Shape 44"/>
          <p:cNvSpPr/>
          <p:nvPr/>
        </p:nvSpPr>
        <p:spPr>
          <a:xfrm>
            <a:off x="4389120" y="2011680"/>
            <a:ext cx="914" cy="923544"/>
          </a:xfrm>
          <a:prstGeom prst="line">
            <a:avLst/>
          </a:prstGeom>
          <a:noFill/>
          <a:ln w="12700">
            <a:solidFill>
              <a:srgbClr val="2A6FB0"/>
            </a:solidFill>
            <a:prstDash val="dash"/>
          </a:ln>
        </p:spPr>
      </p:sp>
      <p:sp>
        <p:nvSpPr>
          <p:cNvPr id="48" name="Shape 45"/>
          <p:cNvSpPr/>
          <p:nvPr/>
        </p:nvSpPr>
        <p:spPr>
          <a:xfrm>
            <a:off x="548640" y="4343400"/>
            <a:ext cx="3575304" cy="1783080"/>
          </a:xfrm>
          <a:prstGeom prst="roundRect">
            <a:avLst>
              <a:gd name="adj" fmla="val 6154"/>
            </a:avLst>
          </a:prstGeom>
          <a:solidFill>
            <a:srgbClr val="FBEAF2"/>
          </a:solidFill>
          <a:ln w="19050">
            <a:solidFill>
              <a:srgbClr val="B4236A"/>
            </a:solidFill>
            <a:prstDash val="solid"/>
          </a:ln>
        </p:spPr>
      </p:sp>
      <p:sp>
        <p:nvSpPr>
          <p:cNvPr id="49" name="Text 46"/>
          <p:cNvSpPr txBox="1"/>
          <p:nvPr/>
        </p:nvSpPr>
        <p:spPr>
          <a:xfrm>
            <a:off x="731520" y="4407408"/>
            <a:ext cx="3209544" cy="411480"/>
          </a:xfrm>
          <a:prstGeom prst="rect">
            <a:avLst/>
          </a:prstGeom>
          <a:noFill/>
          <a:ln/>
        </p:spPr>
        <p:txBody>
          <a:bodyPr wrap="square" lIns="0" tIns="0" rIns="0" bIns="0" rtlCol="0" anchor="ctr"/>
          <a:lstStyle/>
          <a:p>
            <a:pPr algn="l" indent="0" marL="0">
              <a:buNone/>
            </a:pPr>
            <a:r>
              <a:rPr lang="en-US" sz="1600" b="1" dirty="0">
                <a:solidFill>
                  <a:schemeClr val="accent4"/>
                </a:solidFill>
              </a:rPr>
              <a:t>PASSÉ</a:t>
            </a:r>
            <a:endParaRPr lang="en-US" sz="1600" dirty="0"/>
          </a:p>
        </p:txBody>
      </p:sp>
      <p:sp>
        <p:nvSpPr>
          <p:cNvPr id="50" name="Text 47"/>
          <p:cNvSpPr txBox="1"/>
          <p:nvPr/>
        </p:nvSpPr>
        <p:spPr>
          <a:xfrm>
            <a:off x="731520" y="4846320"/>
            <a:ext cx="3209544" cy="1188720"/>
          </a:xfrm>
          <a:prstGeom prst="rect">
            <a:avLst/>
          </a:prstGeom>
          <a:noFill/>
          <a:ln/>
        </p:spPr>
        <p:txBody>
          <a:bodyPr wrap="square" lIns="0" tIns="0" rIns="0" bIns="0" rtlCol="0" anchor="t"/>
          <a:lstStyle/>
          <a:p>
            <a:pPr algn="l" indent="0" marL="0">
              <a:buNone/>
            </a:pPr>
            <a:r>
              <a:rPr lang="en-US" sz="1500" i="1" dirty="0">
                <a:solidFill>
                  <a:schemeClr val="tx1"/>
                </a:solidFill>
              </a:rPr>
              <a:t>perfectum · imperfectum</a:t>
            </a:r>
            <a:r>
              <a:rPr lang="en-US" sz="1500" dirty="0">
                <a:solidFill>
                  <a:schemeClr val="tx1"/>
                </a:solidFill>
              </a:rPr>
              <a:t> · avant un autre passé : </a:t>
            </a:r>
            <a:r>
              <a:rPr lang="en-US" sz="1500" i="1" dirty="0">
                <a:solidFill>
                  <a:schemeClr val="tx1"/>
                </a:solidFill>
              </a:rPr>
              <a:t>had / was</a:t>
            </a:r>
            <a:r>
              <a:rPr lang="en-US" sz="1500" dirty="0">
                <a:solidFill>
                  <a:schemeClr val="tx1"/>
                </a:solidFill>
              </a:rPr>
              <a:t> + participe</a:t>
            </a:r>
            <a:endParaRPr lang="en-US" sz="1500" dirty="0"/>
          </a:p>
        </p:txBody>
      </p:sp>
      <p:sp>
        <p:nvSpPr>
          <p:cNvPr id="51" name="Shape 48"/>
          <p:cNvSpPr/>
          <p:nvPr/>
        </p:nvSpPr>
        <p:spPr>
          <a:xfrm>
            <a:off x="4306824" y="4343400"/>
            <a:ext cx="3575304" cy="1783080"/>
          </a:xfrm>
          <a:prstGeom prst="roundRect">
            <a:avLst>
              <a:gd name="adj" fmla="val 6154"/>
            </a:avLst>
          </a:prstGeom>
          <a:solidFill>
            <a:srgbClr val="EAF2FB"/>
          </a:solidFill>
          <a:ln w="19050">
            <a:solidFill>
              <a:srgbClr val="2A6FB0"/>
            </a:solidFill>
            <a:prstDash val="solid"/>
          </a:ln>
        </p:spPr>
      </p:sp>
      <p:sp>
        <p:nvSpPr>
          <p:cNvPr id="52" name="Text 49"/>
          <p:cNvSpPr txBox="1"/>
          <p:nvPr/>
        </p:nvSpPr>
        <p:spPr>
          <a:xfrm>
            <a:off x="4489704" y="4407408"/>
            <a:ext cx="3209544" cy="411480"/>
          </a:xfrm>
          <a:prstGeom prst="rect">
            <a:avLst/>
          </a:prstGeom>
          <a:noFill/>
          <a:ln/>
        </p:spPr>
        <p:txBody>
          <a:bodyPr wrap="square" lIns="0" tIns="0" rIns="0" bIns="0" rtlCol="0" anchor="ctr"/>
          <a:lstStyle/>
          <a:p>
            <a:pPr algn="l" indent="0" marL="0">
              <a:buNone/>
            </a:pPr>
            <a:r>
              <a:rPr lang="en-US" sz="1600" b="1" dirty="0">
                <a:solidFill>
                  <a:schemeClr val="accent2"/>
                </a:solidFill>
              </a:rPr>
              <a:t>NU</a:t>
            </a:r>
            <a:endParaRPr lang="en-US" sz="1600" dirty="0"/>
          </a:p>
        </p:txBody>
      </p:sp>
      <p:sp>
        <p:nvSpPr>
          <p:cNvPr id="53" name="Text 50"/>
          <p:cNvSpPr txBox="1"/>
          <p:nvPr/>
        </p:nvSpPr>
        <p:spPr>
          <a:xfrm>
            <a:off x="4489704" y="4846320"/>
            <a:ext cx="3209544" cy="1188720"/>
          </a:xfrm>
          <a:prstGeom prst="rect">
            <a:avLst/>
          </a:prstGeom>
          <a:noFill/>
          <a:ln/>
        </p:spPr>
        <p:txBody>
          <a:bodyPr wrap="square" lIns="0" tIns="0" rIns="0" bIns="0" rtlCol="0" anchor="t"/>
          <a:lstStyle/>
          <a:p>
            <a:pPr algn="l" indent="0" marL="0">
              <a:buNone/>
            </a:pPr>
            <a:r>
              <a:rPr lang="en-US" sz="1500" i="1" dirty="0">
                <a:solidFill>
                  <a:schemeClr val="tx1"/>
                </a:solidFill>
              </a:rPr>
              <a:t>presens</a:t>
            </a:r>
            <a:r>
              <a:rPr lang="en-US" sz="1500" dirty="0">
                <a:solidFill>
                  <a:schemeClr val="tx1"/>
                </a:solidFill>
              </a:rPr>
              <a:t> · depuis : </a:t>
            </a:r>
            <a:r>
              <a:rPr lang="en-US" sz="1500" i="1" dirty="0">
                <a:solidFill>
                  <a:schemeClr val="tx1"/>
                </a:solidFill>
              </a:rPr>
              <a:t>al, sinds</a:t>
            </a:r>
            <a:r>
              <a:rPr lang="en-US" sz="1500" dirty="0">
                <a:solidFill>
                  <a:schemeClr val="tx1"/>
                </a:solidFill>
              </a:rPr>
              <a:t> + presens · </a:t>
            </a:r>
            <a:r>
              <a:rPr lang="en-US" sz="1500" i="1" dirty="0">
                <a:solidFill>
                  <a:schemeClr val="tx1"/>
                </a:solidFill>
              </a:rPr>
              <a:t>aan het</a:t>
            </a:r>
            <a:endParaRPr lang="en-US" sz="1500" dirty="0"/>
          </a:p>
        </p:txBody>
      </p:sp>
      <p:sp>
        <p:nvSpPr>
          <p:cNvPr id="54" name="Shape 51"/>
          <p:cNvSpPr/>
          <p:nvPr/>
        </p:nvSpPr>
        <p:spPr>
          <a:xfrm>
            <a:off x="8065008" y="4343400"/>
            <a:ext cx="3575304" cy="1783080"/>
          </a:xfrm>
          <a:prstGeom prst="roundRect">
            <a:avLst>
              <a:gd name="adj" fmla="val 6154"/>
            </a:avLst>
          </a:prstGeom>
          <a:solidFill>
            <a:srgbClr val="E8F4EC"/>
          </a:solidFill>
          <a:ln w="19050">
            <a:solidFill>
              <a:srgbClr val="2E7D4F"/>
            </a:solidFill>
            <a:prstDash val="solid"/>
          </a:ln>
        </p:spPr>
      </p:sp>
      <p:sp>
        <p:nvSpPr>
          <p:cNvPr id="55" name="Text 52"/>
          <p:cNvSpPr txBox="1"/>
          <p:nvPr/>
        </p:nvSpPr>
        <p:spPr>
          <a:xfrm>
            <a:off x="8247888" y="4407408"/>
            <a:ext cx="3209544" cy="411480"/>
          </a:xfrm>
          <a:prstGeom prst="rect">
            <a:avLst/>
          </a:prstGeom>
          <a:noFill/>
          <a:ln/>
        </p:spPr>
        <p:txBody>
          <a:bodyPr wrap="square" lIns="0" tIns="0" rIns="0" bIns="0" rtlCol="0" anchor="ctr"/>
          <a:lstStyle/>
          <a:p>
            <a:pPr algn="l" indent="0" marL="0">
              <a:buNone/>
            </a:pPr>
            <a:r>
              <a:rPr lang="en-US" sz="1600" b="1" dirty="0">
                <a:solidFill>
                  <a:schemeClr val="accent3"/>
                </a:solidFill>
              </a:rPr>
              <a:t>FUTUR</a:t>
            </a:r>
            <a:endParaRPr lang="en-US" sz="1600" dirty="0"/>
          </a:p>
        </p:txBody>
      </p:sp>
      <p:sp>
        <p:nvSpPr>
          <p:cNvPr id="56" name="Text 53"/>
          <p:cNvSpPr txBox="1"/>
          <p:nvPr/>
        </p:nvSpPr>
        <p:spPr>
          <a:xfrm>
            <a:off x="8247888" y="4846320"/>
            <a:ext cx="3209544" cy="1188720"/>
          </a:xfrm>
          <a:prstGeom prst="rect">
            <a:avLst/>
          </a:prstGeom>
          <a:noFill/>
          <a:ln/>
        </p:spPr>
        <p:txBody>
          <a:bodyPr wrap="square" lIns="0" tIns="0" rIns="0" bIns="0" rtlCol="0" anchor="t"/>
          <a:lstStyle/>
          <a:p>
            <a:pPr algn="l" indent="0" marL="0">
              <a:buNone/>
            </a:pPr>
            <a:r>
              <a:rPr lang="en-US" sz="1500" i="1" dirty="0">
                <a:solidFill>
                  <a:schemeClr val="tx1"/>
                </a:solidFill>
              </a:rPr>
              <a:t>presens</a:t>
            </a:r>
            <a:r>
              <a:rPr lang="en-US" sz="1500" dirty="0">
                <a:solidFill>
                  <a:schemeClr val="tx1"/>
                </a:solidFill>
              </a:rPr>
              <a:t> + marqueur · </a:t>
            </a:r>
            <a:r>
              <a:rPr lang="en-US" sz="1500" i="1" dirty="0">
                <a:solidFill>
                  <a:schemeClr val="tx1"/>
                </a:solidFill>
              </a:rPr>
              <a:t>gaan</a:t>
            </a:r>
            <a:r>
              <a:rPr lang="en-US" sz="1500" dirty="0">
                <a:solidFill>
                  <a:schemeClr val="tx1"/>
                </a:solidFill>
              </a:rPr>
              <a:t> · </a:t>
            </a:r>
            <a:r>
              <a:rPr lang="en-US" sz="1500" i="1" dirty="0">
                <a:solidFill>
                  <a:schemeClr val="tx1"/>
                </a:solidFill>
              </a:rPr>
              <a:t>zullen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Français → néerlandais : pas de 1 = 1</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444752"/>
            <a:ext cx="5454396" cy="850392"/>
          </a:xfrm>
          <a:prstGeom prst="roundRect">
            <a:avLst>
              <a:gd name="adj" fmla="val 10753"/>
            </a:avLst>
          </a:prstGeom>
          <a:solidFill>
            <a:srgbClr val="FFFFFF"/>
          </a:solidFill>
          <a:ln w="12700">
            <a:solidFill>
              <a:srgbClr val="D5DCE6"/>
            </a:solidFill>
            <a:prstDash val="solid"/>
          </a:ln>
        </p:spPr>
      </p:sp>
      <p:sp>
        <p:nvSpPr>
          <p:cNvPr id="6" name="Shape 3"/>
          <p:cNvSpPr/>
          <p:nvPr/>
        </p:nvSpPr>
        <p:spPr>
          <a:xfrm>
            <a:off x="548640" y="1444752"/>
            <a:ext cx="91440" cy="850392"/>
          </a:xfrm>
          <a:prstGeom prst="rect">
            <a:avLst/>
          </a:prstGeom>
          <a:solidFill>
            <a:schemeClr val="accent2"/>
          </a:solidFill>
          <a:ln w="12700">
            <a:solidFill>
              <a:srgbClr val="FFFFFF">
                <a:alpha val="0"/>
              </a:srgbClr>
            </a:solidFill>
            <a:prstDash val="solid"/>
          </a:ln>
        </p:spPr>
      </p:sp>
      <p:sp>
        <p:nvSpPr>
          <p:cNvPr id="7" name="Text 4"/>
          <p:cNvSpPr txBox="1"/>
          <p:nvPr/>
        </p:nvSpPr>
        <p:spPr>
          <a:xfrm>
            <a:off x="777240" y="1472184"/>
            <a:ext cx="5088636" cy="256032"/>
          </a:xfrm>
          <a:prstGeom prst="rect">
            <a:avLst/>
          </a:prstGeom>
          <a:noFill/>
          <a:ln/>
        </p:spPr>
        <p:txBody>
          <a:bodyPr wrap="square" lIns="0" tIns="0" rIns="0" bIns="0" rtlCol="0" anchor="ctr"/>
          <a:lstStyle/>
          <a:p>
            <a:pPr algn="l" indent="0" marL="0">
              <a:buNone/>
            </a:pPr>
            <a:r>
              <a:rPr lang="en-US" sz="1150" b="1" dirty="0">
                <a:solidFill>
                  <a:schemeClr val="accent2"/>
                </a:solidFill>
              </a:rPr>
              <a:t>présent → presens</a:t>
            </a:r>
            <a:endParaRPr lang="en-US" sz="1150" dirty="0"/>
          </a:p>
        </p:txBody>
      </p:sp>
      <p:sp>
        <p:nvSpPr>
          <p:cNvPr id="8" name="Text 5"/>
          <p:cNvSpPr txBox="1"/>
          <p:nvPr/>
        </p:nvSpPr>
        <p:spPr>
          <a:xfrm>
            <a:off x="777240" y="17190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Je travaille. »</a:t>
            </a:r>
            <a:endParaRPr lang="en-US" sz="1200" dirty="0"/>
          </a:p>
        </p:txBody>
      </p:sp>
      <p:sp>
        <p:nvSpPr>
          <p:cNvPr id="9" name="Text 6"/>
          <p:cNvSpPr txBox="1"/>
          <p:nvPr/>
        </p:nvSpPr>
        <p:spPr>
          <a:xfrm>
            <a:off x="777240" y="19568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werk</a:t>
            </a:r>
            <a:r>
              <a:rPr lang="en-US" sz="1500" i="1" dirty="0">
                <a:solidFill>
                  <a:schemeClr val="tx1"/>
                </a:solidFill>
              </a:rPr>
              <a:t>.</a:t>
            </a:r>
            <a:endParaRPr lang="en-US" sz="1800" dirty="0"/>
          </a:p>
        </p:txBody>
      </p:sp>
      <p:sp>
        <p:nvSpPr>
          <p:cNvPr id="10" name="Shape 7"/>
          <p:cNvSpPr/>
          <p:nvPr/>
        </p:nvSpPr>
        <p:spPr>
          <a:xfrm>
            <a:off x="6185916" y="1444752"/>
            <a:ext cx="5454396" cy="850392"/>
          </a:xfrm>
          <a:prstGeom prst="roundRect">
            <a:avLst>
              <a:gd name="adj" fmla="val 10753"/>
            </a:avLst>
          </a:prstGeom>
          <a:solidFill>
            <a:srgbClr val="FFFFFF"/>
          </a:solidFill>
          <a:ln w="12700">
            <a:solidFill>
              <a:srgbClr val="D5DCE6"/>
            </a:solidFill>
            <a:prstDash val="solid"/>
          </a:ln>
        </p:spPr>
      </p:sp>
      <p:sp>
        <p:nvSpPr>
          <p:cNvPr id="11" name="Shape 8"/>
          <p:cNvSpPr/>
          <p:nvPr/>
        </p:nvSpPr>
        <p:spPr>
          <a:xfrm>
            <a:off x="6185916" y="1444752"/>
            <a:ext cx="91440" cy="850392"/>
          </a:xfrm>
          <a:prstGeom prst="rect">
            <a:avLst/>
          </a:prstGeom>
          <a:solidFill>
            <a:schemeClr val="accent2"/>
          </a:solidFill>
          <a:ln w="12700">
            <a:solidFill>
              <a:srgbClr val="FFFFFF">
                <a:alpha val="0"/>
              </a:srgbClr>
            </a:solidFill>
            <a:prstDash val="solid"/>
          </a:ln>
        </p:spPr>
      </p:sp>
      <p:sp>
        <p:nvSpPr>
          <p:cNvPr id="12" name="Text 9"/>
          <p:cNvSpPr txBox="1"/>
          <p:nvPr/>
        </p:nvSpPr>
        <p:spPr>
          <a:xfrm>
            <a:off x="6414516" y="1472184"/>
            <a:ext cx="5088636" cy="256032"/>
          </a:xfrm>
          <a:prstGeom prst="rect">
            <a:avLst/>
          </a:prstGeom>
          <a:noFill/>
          <a:ln/>
        </p:spPr>
        <p:txBody>
          <a:bodyPr wrap="square" lIns="0" tIns="0" rIns="0" bIns="0" rtlCol="0" anchor="ctr"/>
          <a:lstStyle/>
          <a:p>
            <a:pPr algn="l" indent="0" marL="0">
              <a:buNone/>
            </a:pPr>
            <a:r>
              <a:rPr lang="en-US" sz="1150" b="1" dirty="0">
                <a:solidFill>
                  <a:schemeClr val="accent2"/>
                </a:solidFill>
              </a:rPr>
              <a:t>présent + depuis → presens + al / sinds</a:t>
            </a:r>
            <a:endParaRPr lang="en-US" sz="1150" dirty="0"/>
          </a:p>
        </p:txBody>
      </p:sp>
      <p:sp>
        <p:nvSpPr>
          <p:cNvPr id="13" name="Text 10"/>
          <p:cNvSpPr txBox="1"/>
          <p:nvPr/>
        </p:nvSpPr>
        <p:spPr>
          <a:xfrm>
            <a:off x="6414516" y="17190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J’habite ici depuis 3 ans. »</a:t>
            </a:r>
            <a:endParaRPr lang="en-US" sz="1200" dirty="0"/>
          </a:p>
        </p:txBody>
      </p:sp>
      <p:sp>
        <p:nvSpPr>
          <p:cNvPr id="14" name="Text 11"/>
          <p:cNvSpPr txBox="1"/>
          <p:nvPr/>
        </p:nvSpPr>
        <p:spPr>
          <a:xfrm>
            <a:off x="6414516" y="19568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woon</a:t>
            </a:r>
            <a:r>
              <a:rPr lang="en-US" sz="1500" i="1" dirty="0">
                <a:solidFill>
                  <a:schemeClr val="tx1"/>
                </a:solidFill>
              </a:rPr>
              <a:t> hier </a:t>
            </a:r>
            <a:r>
              <a:rPr lang="en-US" sz="1500" b="1" i="1" dirty="0">
                <a:solidFill>
                  <a:srgbClr val="D9700F"/>
                </a:solidFill>
              </a:rPr>
              <a:t>al</a:t>
            </a:r>
            <a:r>
              <a:rPr lang="en-US" sz="1500" i="1" dirty="0">
                <a:solidFill>
                  <a:schemeClr val="tx1"/>
                </a:solidFill>
              </a:rPr>
              <a:t> 3 jaar.</a:t>
            </a:r>
            <a:endParaRPr lang="en-US" sz="1800" dirty="0"/>
          </a:p>
        </p:txBody>
      </p:sp>
      <p:sp>
        <p:nvSpPr>
          <p:cNvPr id="15" name="Shape 12"/>
          <p:cNvSpPr/>
          <p:nvPr/>
        </p:nvSpPr>
        <p:spPr>
          <a:xfrm>
            <a:off x="548640" y="2359152"/>
            <a:ext cx="5454396" cy="850392"/>
          </a:xfrm>
          <a:prstGeom prst="roundRect">
            <a:avLst>
              <a:gd name="adj" fmla="val 10753"/>
            </a:avLst>
          </a:prstGeom>
          <a:solidFill>
            <a:srgbClr val="FFFFFF"/>
          </a:solidFill>
          <a:ln w="12700">
            <a:solidFill>
              <a:srgbClr val="D5DCE6"/>
            </a:solidFill>
            <a:prstDash val="solid"/>
          </a:ln>
        </p:spPr>
      </p:sp>
      <p:sp>
        <p:nvSpPr>
          <p:cNvPr id="16" name="Shape 13"/>
          <p:cNvSpPr/>
          <p:nvPr/>
        </p:nvSpPr>
        <p:spPr>
          <a:xfrm>
            <a:off x="548640" y="2359152"/>
            <a:ext cx="91440" cy="850392"/>
          </a:xfrm>
          <a:prstGeom prst="rect">
            <a:avLst/>
          </a:prstGeom>
          <a:solidFill>
            <a:schemeClr val="accent4"/>
          </a:solidFill>
          <a:ln w="12700">
            <a:solidFill>
              <a:srgbClr val="FFFFFF">
                <a:alpha val="0"/>
              </a:srgbClr>
            </a:solidFill>
            <a:prstDash val="solid"/>
          </a:ln>
        </p:spPr>
      </p:sp>
      <p:sp>
        <p:nvSpPr>
          <p:cNvPr id="17" name="Text 14"/>
          <p:cNvSpPr txBox="1"/>
          <p:nvPr/>
        </p:nvSpPr>
        <p:spPr>
          <a:xfrm>
            <a:off x="777240" y="2386584"/>
            <a:ext cx="5088636" cy="256032"/>
          </a:xfrm>
          <a:prstGeom prst="rect">
            <a:avLst/>
          </a:prstGeom>
          <a:noFill/>
          <a:ln/>
        </p:spPr>
        <p:txBody>
          <a:bodyPr wrap="square" lIns="0" tIns="0" rIns="0" bIns="0" rtlCol="0" anchor="ctr"/>
          <a:lstStyle/>
          <a:p>
            <a:pPr algn="l" indent="0" marL="0">
              <a:buNone/>
            </a:pPr>
            <a:r>
              <a:rPr lang="en-US" sz="1150" b="1" dirty="0">
                <a:solidFill>
                  <a:schemeClr val="accent4"/>
                </a:solidFill>
              </a:rPr>
              <a:t>passé composé → perfectum</a:t>
            </a:r>
            <a:endParaRPr lang="en-US" sz="1150" dirty="0"/>
          </a:p>
        </p:txBody>
      </p:sp>
      <p:sp>
        <p:nvSpPr>
          <p:cNvPr id="18" name="Text 15"/>
          <p:cNvSpPr txBox="1"/>
          <p:nvPr/>
        </p:nvSpPr>
        <p:spPr>
          <a:xfrm>
            <a:off x="777240" y="26334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J’ai raté le train. »</a:t>
            </a:r>
            <a:endParaRPr lang="en-US" sz="1200" dirty="0"/>
          </a:p>
        </p:txBody>
      </p:sp>
      <p:sp>
        <p:nvSpPr>
          <p:cNvPr id="19" name="Text 16"/>
          <p:cNvSpPr txBox="1"/>
          <p:nvPr/>
        </p:nvSpPr>
        <p:spPr>
          <a:xfrm>
            <a:off x="777240" y="28712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heb</a:t>
            </a:r>
            <a:r>
              <a:rPr lang="en-US" sz="1500" i="1" dirty="0">
                <a:solidFill>
                  <a:schemeClr val="tx1"/>
                </a:solidFill>
              </a:rPr>
              <a:t> de trein </a:t>
            </a:r>
            <a:r>
              <a:rPr lang="en-US" sz="1500" b="1" i="1" dirty="0">
                <a:solidFill>
                  <a:srgbClr val="B83227"/>
                </a:solidFill>
              </a:rPr>
              <a:t>gemist</a:t>
            </a:r>
            <a:r>
              <a:rPr lang="en-US" sz="1500" i="1" dirty="0">
                <a:solidFill>
                  <a:schemeClr val="tx1"/>
                </a:solidFill>
              </a:rPr>
              <a:t>.</a:t>
            </a:r>
            <a:endParaRPr lang="en-US" sz="1800" dirty="0"/>
          </a:p>
        </p:txBody>
      </p:sp>
      <p:sp>
        <p:nvSpPr>
          <p:cNvPr id="20" name="Shape 17"/>
          <p:cNvSpPr/>
          <p:nvPr/>
        </p:nvSpPr>
        <p:spPr>
          <a:xfrm>
            <a:off x="6185916" y="2359152"/>
            <a:ext cx="5454396" cy="850392"/>
          </a:xfrm>
          <a:prstGeom prst="roundRect">
            <a:avLst>
              <a:gd name="adj" fmla="val 10753"/>
            </a:avLst>
          </a:prstGeom>
          <a:solidFill>
            <a:srgbClr val="FFFFFF"/>
          </a:solidFill>
          <a:ln w="12700">
            <a:solidFill>
              <a:srgbClr val="D5DCE6"/>
            </a:solidFill>
            <a:prstDash val="solid"/>
          </a:ln>
        </p:spPr>
      </p:sp>
      <p:sp>
        <p:nvSpPr>
          <p:cNvPr id="21" name="Shape 18"/>
          <p:cNvSpPr/>
          <p:nvPr/>
        </p:nvSpPr>
        <p:spPr>
          <a:xfrm>
            <a:off x="6185916" y="2359152"/>
            <a:ext cx="91440" cy="850392"/>
          </a:xfrm>
          <a:prstGeom prst="rect">
            <a:avLst/>
          </a:prstGeom>
          <a:solidFill>
            <a:schemeClr val="accent4"/>
          </a:solidFill>
          <a:ln w="12700">
            <a:solidFill>
              <a:srgbClr val="FFFFFF">
                <a:alpha val="0"/>
              </a:srgbClr>
            </a:solidFill>
            <a:prstDash val="solid"/>
          </a:ln>
        </p:spPr>
      </p:sp>
      <p:sp>
        <p:nvSpPr>
          <p:cNvPr id="22" name="Text 19"/>
          <p:cNvSpPr txBox="1"/>
          <p:nvPr/>
        </p:nvSpPr>
        <p:spPr>
          <a:xfrm>
            <a:off x="6414516" y="2386584"/>
            <a:ext cx="5088636" cy="256032"/>
          </a:xfrm>
          <a:prstGeom prst="rect">
            <a:avLst/>
          </a:prstGeom>
          <a:noFill/>
          <a:ln/>
        </p:spPr>
        <p:txBody>
          <a:bodyPr wrap="square" lIns="0" tIns="0" rIns="0" bIns="0" rtlCol="0" anchor="ctr"/>
          <a:lstStyle/>
          <a:p>
            <a:pPr algn="l" indent="0" marL="0">
              <a:buNone/>
            </a:pPr>
            <a:r>
              <a:rPr lang="en-US" sz="1150" b="1" dirty="0">
                <a:solidFill>
                  <a:schemeClr val="accent4"/>
                </a:solidFill>
              </a:rPr>
              <a:t>passé composé → imperfectum (zijn, hebben, modaux)</a:t>
            </a:r>
            <a:endParaRPr lang="en-US" sz="1150" dirty="0"/>
          </a:p>
        </p:txBody>
      </p:sp>
      <p:sp>
        <p:nvSpPr>
          <p:cNvPr id="23" name="Text 20"/>
          <p:cNvSpPr txBox="1"/>
          <p:nvPr/>
        </p:nvSpPr>
        <p:spPr>
          <a:xfrm>
            <a:off x="6414516" y="26334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J’ai été malade. »</a:t>
            </a:r>
            <a:endParaRPr lang="en-US" sz="1200" dirty="0"/>
          </a:p>
        </p:txBody>
      </p:sp>
      <p:sp>
        <p:nvSpPr>
          <p:cNvPr id="24" name="Text 21"/>
          <p:cNvSpPr txBox="1"/>
          <p:nvPr/>
        </p:nvSpPr>
        <p:spPr>
          <a:xfrm>
            <a:off x="6414516" y="28712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was</a:t>
            </a:r>
            <a:r>
              <a:rPr lang="en-US" sz="1500" i="1" dirty="0">
                <a:solidFill>
                  <a:schemeClr val="tx1"/>
                </a:solidFill>
              </a:rPr>
              <a:t> ziek.</a:t>
            </a:r>
            <a:endParaRPr lang="en-US" sz="1800" dirty="0"/>
          </a:p>
        </p:txBody>
      </p:sp>
      <p:sp>
        <p:nvSpPr>
          <p:cNvPr id="25" name="Shape 22"/>
          <p:cNvSpPr/>
          <p:nvPr/>
        </p:nvSpPr>
        <p:spPr>
          <a:xfrm>
            <a:off x="548640" y="3273552"/>
            <a:ext cx="5454396" cy="850392"/>
          </a:xfrm>
          <a:prstGeom prst="roundRect">
            <a:avLst>
              <a:gd name="adj" fmla="val 10753"/>
            </a:avLst>
          </a:prstGeom>
          <a:solidFill>
            <a:srgbClr val="FFFFFF"/>
          </a:solidFill>
          <a:ln w="12700">
            <a:solidFill>
              <a:srgbClr val="D5DCE6"/>
            </a:solidFill>
            <a:prstDash val="solid"/>
          </a:ln>
        </p:spPr>
      </p:sp>
      <p:sp>
        <p:nvSpPr>
          <p:cNvPr id="26" name="Shape 23"/>
          <p:cNvSpPr/>
          <p:nvPr/>
        </p:nvSpPr>
        <p:spPr>
          <a:xfrm>
            <a:off x="548640" y="3273552"/>
            <a:ext cx="91440" cy="850392"/>
          </a:xfrm>
          <a:prstGeom prst="rect">
            <a:avLst/>
          </a:prstGeom>
          <a:solidFill>
            <a:schemeClr val="accent4"/>
          </a:solidFill>
          <a:ln w="12700">
            <a:solidFill>
              <a:srgbClr val="FFFFFF">
                <a:alpha val="0"/>
              </a:srgbClr>
            </a:solidFill>
            <a:prstDash val="solid"/>
          </a:ln>
        </p:spPr>
      </p:sp>
      <p:sp>
        <p:nvSpPr>
          <p:cNvPr id="27" name="Text 24"/>
          <p:cNvSpPr txBox="1"/>
          <p:nvPr/>
        </p:nvSpPr>
        <p:spPr>
          <a:xfrm>
            <a:off x="777240" y="3300984"/>
            <a:ext cx="5088636" cy="256032"/>
          </a:xfrm>
          <a:prstGeom prst="rect">
            <a:avLst/>
          </a:prstGeom>
          <a:noFill/>
          <a:ln/>
        </p:spPr>
        <p:txBody>
          <a:bodyPr wrap="square" lIns="0" tIns="0" rIns="0" bIns="0" rtlCol="0" anchor="ctr"/>
          <a:lstStyle/>
          <a:p>
            <a:pPr algn="l" indent="0" marL="0">
              <a:buNone/>
            </a:pPr>
            <a:r>
              <a:rPr lang="en-US" sz="1150" b="1" dirty="0">
                <a:solidFill>
                  <a:schemeClr val="accent4"/>
                </a:solidFill>
              </a:rPr>
              <a:t>imparfait → imperfectum, aan het</a:t>
            </a:r>
            <a:endParaRPr lang="en-US" sz="1150" dirty="0"/>
          </a:p>
        </p:txBody>
      </p:sp>
      <p:sp>
        <p:nvSpPr>
          <p:cNvPr id="28" name="Text 25"/>
          <p:cNvSpPr txBox="1"/>
          <p:nvPr/>
        </p:nvSpPr>
        <p:spPr>
          <a:xfrm>
            <a:off x="777240" y="35478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Je lisais quand il a appelé. »</a:t>
            </a:r>
            <a:endParaRPr lang="en-US" sz="1200" dirty="0"/>
          </a:p>
        </p:txBody>
      </p:sp>
      <p:sp>
        <p:nvSpPr>
          <p:cNvPr id="29" name="Text 26"/>
          <p:cNvSpPr txBox="1"/>
          <p:nvPr/>
        </p:nvSpPr>
        <p:spPr>
          <a:xfrm>
            <a:off x="777240" y="37856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was</a:t>
            </a:r>
            <a:r>
              <a:rPr lang="en-US" sz="1500" i="1" dirty="0">
                <a:solidFill>
                  <a:schemeClr val="tx1"/>
                </a:solidFill>
              </a:rPr>
              <a:t> aan het </a:t>
            </a:r>
            <a:r>
              <a:rPr lang="en-US" sz="1500" b="1" i="1" dirty="0">
                <a:solidFill>
                  <a:srgbClr val="B83227"/>
                </a:solidFill>
              </a:rPr>
              <a:t>lezen</a:t>
            </a:r>
            <a:r>
              <a:rPr lang="en-US" sz="1500" i="1" dirty="0">
                <a:solidFill>
                  <a:schemeClr val="tx1"/>
                </a:solidFill>
              </a:rPr>
              <a:t> toen hij </a:t>
            </a:r>
            <a:r>
              <a:rPr lang="en-US" sz="1500" b="1" i="1" dirty="0">
                <a:solidFill>
                  <a:srgbClr val="B83227"/>
                </a:solidFill>
              </a:rPr>
              <a:t>belde</a:t>
            </a:r>
            <a:r>
              <a:rPr lang="en-US" sz="1500" i="1" dirty="0">
                <a:solidFill>
                  <a:schemeClr val="tx1"/>
                </a:solidFill>
              </a:rPr>
              <a:t>.</a:t>
            </a:r>
            <a:endParaRPr lang="en-US" sz="1800" dirty="0"/>
          </a:p>
        </p:txBody>
      </p:sp>
      <p:sp>
        <p:nvSpPr>
          <p:cNvPr id="30" name="Shape 27"/>
          <p:cNvSpPr/>
          <p:nvPr/>
        </p:nvSpPr>
        <p:spPr>
          <a:xfrm>
            <a:off x="6185916" y="3273552"/>
            <a:ext cx="5454396" cy="850392"/>
          </a:xfrm>
          <a:prstGeom prst="roundRect">
            <a:avLst>
              <a:gd name="adj" fmla="val 10753"/>
            </a:avLst>
          </a:prstGeom>
          <a:solidFill>
            <a:srgbClr val="FFFFFF"/>
          </a:solidFill>
          <a:ln w="12700">
            <a:solidFill>
              <a:srgbClr val="D5DCE6"/>
            </a:solidFill>
            <a:prstDash val="solid"/>
          </a:ln>
        </p:spPr>
      </p:sp>
      <p:sp>
        <p:nvSpPr>
          <p:cNvPr id="31" name="Shape 28"/>
          <p:cNvSpPr/>
          <p:nvPr/>
        </p:nvSpPr>
        <p:spPr>
          <a:xfrm>
            <a:off x="6185916" y="3273552"/>
            <a:ext cx="91440" cy="850392"/>
          </a:xfrm>
          <a:prstGeom prst="rect">
            <a:avLst/>
          </a:prstGeom>
          <a:solidFill>
            <a:schemeClr val="accent4"/>
          </a:solidFill>
          <a:ln w="12700">
            <a:solidFill>
              <a:srgbClr val="FFFFFF">
                <a:alpha val="0"/>
              </a:srgbClr>
            </a:solidFill>
            <a:prstDash val="solid"/>
          </a:ln>
        </p:spPr>
      </p:sp>
      <p:sp>
        <p:nvSpPr>
          <p:cNvPr id="32" name="Text 29"/>
          <p:cNvSpPr txBox="1"/>
          <p:nvPr/>
        </p:nvSpPr>
        <p:spPr>
          <a:xfrm>
            <a:off x="6414516" y="3300984"/>
            <a:ext cx="5088636" cy="256032"/>
          </a:xfrm>
          <a:prstGeom prst="rect">
            <a:avLst/>
          </a:prstGeom>
          <a:noFill/>
          <a:ln/>
        </p:spPr>
        <p:txBody>
          <a:bodyPr wrap="square" lIns="0" tIns="0" rIns="0" bIns="0" rtlCol="0" anchor="ctr"/>
          <a:lstStyle/>
          <a:p>
            <a:pPr algn="l" indent="0" marL="0">
              <a:buNone/>
            </a:pPr>
            <a:r>
              <a:rPr lang="en-US" sz="1150" b="1" dirty="0">
                <a:solidFill>
                  <a:schemeClr val="accent4"/>
                </a:solidFill>
              </a:rPr>
              <a:t>passé simple → imperfectum</a:t>
            </a:r>
            <a:endParaRPr lang="en-US" sz="1150" dirty="0"/>
          </a:p>
        </p:txBody>
      </p:sp>
      <p:sp>
        <p:nvSpPr>
          <p:cNvPr id="33" name="Text 30"/>
          <p:cNvSpPr txBox="1"/>
          <p:nvPr/>
        </p:nvSpPr>
        <p:spPr>
          <a:xfrm>
            <a:off x="6414516" y="35478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Il entra et s’assit. »</a:t>
            </a:r>
            <a:endParaRPr lang="en-US" sz="1200" dirty="0"/>
          </a:p>
        </p:txBody>
      </p:sp>
      <p:sp>
        <p:nvSpPr>
          <p:cNvPr id="34" name="Text 31"/>
          <p:cNvSpPr txBox="1"/>
          <p:nvPr/>
        </p:nvSpPr>
        <p:spPr>
          <a:xfrm>
            <a:off x="6414516" y="37856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Hij </a:t>
            </a:r>
            <a:r>
              <a:rPr lang="en-US" sz="1500" b="1" i="1" dirty="0">
                <a:solidFill>
                  <a:srgbClr val="B83227"/>
                </a:solidFill>
              </a:rPr>
              <a:t>kwam</a:t>
            </a:r>
            <a:r>
              <a:rPr lang="en-US" sz="1500" i="1" dirty="0">
                <a:solidFill>
                  <a:schemeClr val="tx1"/>
                </a:solidFill>
              </a:rPr>
              <a:t> binnen en </a:t>
            </a:r>
            <a:r>
              <a:rPr lang="en-US" sz="1500" b="1" i="1" dirty="0">
                <a:solidFill>
                  <a:srgbClr val="B83227"/>
                </a:solidFill>
              </a:rPr>
              <a:t>ging</a:t>
            </a:r>
            <a:r>
              <a:rPr lang="en-US" sz="1500" i="1" dirty="0">
                <a:solidFill>
                  <a:schemeClr val="tx1"/>
                </a:solidFill>
              </a:rPr>
              <a:t> zitten.</a:t>
            </a:r>
            <a:endParaRPr lang="en-US" sz="1800" dirty="0"/>
          </a:p>
        </p:txBody>
      </p:sp>
      <p:sp>
        <p:nvSpPr>
          <p:cNvPr id="35" name="Shape 32"/>
          <p:cNvSpPr/>
          <p:nvPr/>
        </p:nvSpPr>
        <p:spPr>
          <a:xfrm>
            <a:off x="548640" y="4187952"/>
            <a:ext cx="5454396" cy="850392"/>
          </a:xfrm>
          <a:prstGeom prst="roundRect">
            <a:avLst>
              <a:gd name="adj" fmla="val 10753"/>
            </a:avLst>
          </a:prstGeom>
          <a:solidFill>
            <a:srgbClr val="FFFFFF"/>
          </a:solidFill>
          <a:ln w="12700">
            <a:solidFill>
              <a:srgbClr val="D5DCE6"/>
            </a:solidFill>
            <a:prstDash val="solid"/>
          </a:ln>
        </p:spPr>
      </p:sp>
      <p:sp>
        <p:nvSpPr>
          <p:cNvPr id="36" name="Shape 33"/>
          <p:cNvSpPr/>
          <p:nvPr/>
        </p:nvSpPr>
        <p:spPr>
          <a:xfrm>
            <a:off x="548640" y="4187952"/>
            <a:ext cx="91440" cy="850392"/>
          </a:xfrm>
          <a:prstGeom prst="rect">
            <a:avLst/>
          </a:prstGeom>
          <a:solidFill>
            <a:schemeClr val="accent4"/>
          </a:solidFill>
          <a:ln w="12700">
            <a:solidFill>
              <a:srgbClr val="FFFFFF">
                <a:alpha val="0"/>
              </a:srgbClr>
            </a:solidFill>
            <a:prstDash val="solid"/>
          </a:ln>
        </p:spPr>
      </p:sp>
      <p:sp>
        <p:nvSpPr>
          <p:cNvPr id="37" name="Text 34"/>
          <p:cNvSpPr txBox="1"/>
          <p:nvPr/>
        </p:nvSpPr>
        <p:spPr>
          <a:xfrm>
            <a:off x="777240" y="4215384"/>
            <a:ext cx="5088636" cy="256032"/>
          </a:xfrm>
          <a:prstGeom prst="rect">
            <a:avLst/>
          </a:prstGeom>
          <a:noFill/>
          <a:ln/>
        </p:spPr>
        <p:txBody>
          <a:bodyPr wrap="square" lIns="0" tIns="0" rIns="0" bIns="0" rtlCol="0" anchor="ctr"/>
          <a:lstStyle/>
          <a:p>
            <a:pPr algn="l" indent="0" marL="0">
              <a:buNone/>
            </a:pPr>
            <a:r>
              <a:rPr lang="en-US" sz="1150" b="1" dirty="0">
                <a:solidFill>
                  <a:schemeClr val="accent4"/>
                </a:solidFill>
              </a:rPr>
              <a:t>venir de → net + perfectum</a:t>
            </a:r>
            <a:endParaRPr lang="en-US" sz="1150" dirty="0"/>
          </a:p>
        </p:txBody>
      </p:sp>
      <p:sp>
        <p:nvSpPr>
          <p:cNvPr id="38" name="Text 35"/>
          <p:cNvSpPr txBox="1"/>
          <p:nvPr/>
        </p:nvSpPr>
        <p:spPr>
          <a:xfrm>
            <a:off x="777240" y="44622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Je viens de manger. »</a:t>
            </a:r>
            <a:endParaRPr lang="en-US" sz="1200" dirty="0"/>
          </a:p>
        </p:txBody>
      </p:sp>
      <p:sp>
        <p:nvSpPr>
          <p:cNvPr id="39" name="Text 36"/>
          <p:cNvSpPr txBox="1"/>
          <p:nvPr/>
        </p:nvSpPr>
        <p:spPr>
          <a:xfrm>
            <a:off x="777240" y="47000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heb</a:t>
            </a:r>
            <a:r>
              <a:rPr lang="en-US" sz="1500" i="1" dirty="0">
                <a:solidFill>
                  <a:schemeClr val="tx1"/>
                </a:solidFill>
              </a:rPr>
              <a:t> </a:t>
            </a:r>
            <a:r>
              <a:rPr lang="en-US" sz="1500" b="1" i="1" dirty="0">
                <a:solidFill>
                  <a:srgbClr val="D9700F"/>
                </a:solidFill>
              </a:rPr>
              <a:t>net</a:t>
            </a:r>
            <a:r>
              <a:rPr lang="en-US" sz="1500" i="1" dirty="0">
                <a:solidFill>
                  <a:schemeClr val="tx1"/>
                </a:solidFill>
              </a:rPr>
              <a:t> </a:t>
            </a:r>
            <a:r>
              <a:rPr lang="en-US" sz="1500" b="1" i="1" dirty="0">
                <a:solidFill>
                  <a:srgbClr val="B83227"/>
                </a:solidFill>
              </a:rPr>
              <a:t>gegeten</a:t>
            </a:r>
            <a:r>
              <a:rPr lang="en-US" sz="1500" i="1" dirty="0">
                <a:solidFill>
                  <a:schemeClr val="tx1"/>
                </a:solidFill>
              </a:rPr>
              <a:t>.</a:t>
            </a:r>
            <a:endParaRPr lang="en-US" sz="1800" dirty="0"/>
          </a:p>
        </p:txBody>
      </p:sp>
      <p:sp>
        <p:nvSpPr>
          <p:cNvPr id="40" name="Shape 37"/>
          <p:cNvSpPr/>
          <p:nvPr/>
        </p:nvSpPr>
        <p:spPr>
          <a:xfrm>
            <a:off x="6185916" y="4187952"/>
            <a:ext cx="5454396" cy="850392"/>
          </a:xfrm>
          <a:prstGeom prst="roundRect">
            <a:avLst>
              <a:gd name="adj" fmla="val 10753"/>
            </a:avLst>
          </a:prstGeom>
          <a:solidFill>
            <a:srgbClr val="FFFFFF"/>
          </a:solidFill>
          <a:ln w="12700">
            <a:solidFill>
              <a:srgbClr val="D5DCE6"/>
            </a:solidFill>
            <a:prstDash val="solid"/>
          </a:ln>
        </p:spPr>
      </p:sp>
      <p:sp>
        <p:nvSpPr>
          <p:cNvPr id="41" name="Shape 38"/>
          <p:cNvSpPr/>
          <p:nvPr/>
        </p:nvSpPr>
        <p:spPr>
          <a:xfrm>
            <a:off x="6185916" y="4187952"/>
            <a:ext cx="91440" cy="850392"/>
          </a:xfrm>
          <a:prstGeom prst="rect">
            <a:avLst/>
          </a:prstGeom>
          <a:solidFill>
            <a:schemeClr val="accent3"/>
          </a:solidFill>
          <a:ln w="12700">
            <a:solidFill>
              <a:srgbClr val="FFFFFF">
                <a:alpha val="0"/>
              </a:srgbClr>
            </a:solidFill>
            <a:prstDash val="solid"/>
          </a:ln>
        </p:spPr>
      </p:sp>
      <p:sp>
        <p:nvSpPr>
          <p:cNvPr id="42" name="Text 39"/>
          <p:cNvSpPr txBox="1"/>
          <p:nvPr/>
        </p:nvSpPr>
        <p:spPr>
          <a:xfrm>
            <a:off x="6414516" y="4215384"/>
            <a:ext cx="5088636" cy="256032"/>
          </a:xfrm>
          <a:prstGeom prst="rect">
            <a:avLst/>
          </a:prstGeom>
          <a:noFill/>
          <a:ln/>
        </p:spPr>
        <p:txBody>
          <a:bodyPr wrap="square" lIns="0" tIns="0" rIns="0" bIns="0" rtlCol="0" anchor="ctr"/>
          <a:lstStyle/>
          <a:p>
            <a:pPr algn="l" indent="0" marL="0">
              <a:buNone/>
            </a:pPr>
            <a:r>
              <a:rPr lang="en-US" sz="1150" b="1" dirty="0">
                <a:solidFill>
                  <a:schemeClr val="accent3"/>
                </a:solidFill>
              </a:rPr>
              <a:t>futur → presens + marqueur, zullen</a:t>
            </a:r>
            <a:endParaRPr lang="en-US" sz="1150" dirty="0"/>
          </a:p>
        </p:txBody>
      </p:sp>
      <p:sp>
        <p:nvSpPr>
          <p:cNvPr id="43" name="Text 40"/>
          <p:cNvSpPr txBox="1"/>
          <p:nvPr/>
        </p:nvSpPr>
        <p:spPr>
          <a:xfrm>
            <a:off x="6414516" y="44622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Je viendrai demain. »</a:t>
            </a:r>
            <a:endParaRPr lang="en-US" sz="1200" dirty="0"/>
          </a:p>
        </p:txBody>
      </p:sp>
      <p:sp>
        <p:nvSpPr>
          <p:cNvPr id="44" name="Text 41"/>
          <p:cNvSpPr txBox="1"/>
          <p:nvPr/>
        </p:nvSpPr>
        <p:spPr>
          <a:xfrm>
            <a:off x="6414516" y="47000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kom</a:t>
            </a:r>
            <a:r>
              <a:rPr lang="en-US" sz="1500" i="1" dirty="0">
                <a:solidFill>
                  <a:schemeClr val="tx1"/>
                </a:solidFill>
              </a:rPr>
              <a:t> </a:t>
            </a:r>
            <a:r>
              <a:rPr lang="en-US" sz="1500" b="1" i="1" dirty="0">
                <a:solidFill>
                  <a:srgbClr val="D9700F"/>
                </a:solidFill>
              </a:rPr>
              <a:t>morgen</a:t>
            </a:r>
            <a:r>
              <a:rPr lang="en-US" sz="1500" i="1" dirty="0">
                <a:solidFill>
                  <a:schemeClr val="tx1"/>
                </a:solidFill>
              </a:rPr>
              <a:t>.</a:t>
            </a:r>
            <a:endParaRPr lang="en-US" sz="1800" dirty="0"/>
          </a:p>
        </p:txBody>
      </p:sp>
      <p:sp>
        <p:nvSpPr>
          <p:cNvPr id="45" name="Shape 42"/>
          <p:cNvSpPr/>
          <p:nvPr/>
        </p:nvSpPr>
        <p:spPr>
          <a:xfrm>
            <a:off x="548640" y="5102352"/>
            <a:ext cx="5454396" cy="850392"/>
          </a:xfrm>
          <a:prstGeom prst="roundRect">
            <a:avLst>
              <a:gd name="adj" fmla="val 10753"/>
            </a:avLst>
          </a:prstGeom>
          <a:solidFill>
            <a:srgbClr val="FFFFFF"/>
          </a:solidFill>
          <a:ln w="12700">
            <a:solidFill>
              <a:srgbClr val="D5DCE6"/>
            </a:solidFill>
            <a:prstDash val="solid"/>
          </a:ln>
        </p:spPr>
      </p:sp>
      <p:sp>
        <p:nvSpPr>
          <p:cNvPr id="46" name="Shape 43"/>
          <p:cNvSpPr/>
          <p:nvPr/>
        </p:nvSpPr>
        <p:spPr>
          <a:xfrm>
            <a:off x="548640" y="5102352"/>
            <a:ext cx="91440" cy="850392"/>
          </a:xfrm>
          <a:prstGeom prst="rect">
            <a:avLst/>
          </a:prstGeom>
          <a:solidFill>
            <a:srgbClr val="6E4A9E"/>
          </a:solidFill>
          <a:ln w="12700">
            <a:solidFill>
              <a:srgbClr val="FFFFFF">
                <a:alpha val="0"/>
              </a:srgbClr>
            </a:solidFill>
            <a:prstDash val="solid"/>
          </a:ln>
        </p:spPr>
      </p:sp>
      <p:sp>
        <p:nvSpPr>
          <p:cNvPr id="47" name="Text 44"/>
          <p:cNvSpPr txBox="1"/>
          <p:nvPr/>
        </p:nvSpPr>
        <p:spPr>
          <a:xfrm>
            <a:off x="777240" y="5129784"/>
            <a:ext cx="5088636" cy="256032"/>
          </a:xfrm>
          <a:prstGeom prst="rect">
            <a:avLst/>
          </a:prstGeom>
          <a:noFill/>
          <a:ln/>
        </p:spPr>
        <p:txBody>
          <a:bodyPr wrap="square" lIns="0" tIns="0" rIns="0" bIns="0" rtlCol="0" anchor="ctr"/>
          <a:lstStyle/>
          <a:p>
            <a:pPr algn="l" indent="0" marL="0">
              <a:buNone/>
            </a:pPr>
            <a:r>
              <a:rPr lang="en-US" sz="1150" b="1" dirty="0">
                <a:solidFill>
                  <a:srgbClr val="6E4A9E"/>
                </a:solidFill>
              </a:rPr>
              <a:t>si + imparfait → als + imperfectum, zou</a:t>
            </a:r>
            <a:endParaRPr lang="en-US" sz="1150" dirty="0"/>
          </a:p>
        </p:txBody>
      </p:sp>
      <p:sp>
        <p:nvSpPr>
          <p:cNvPr id="48" name="Text 45"/>
          <p:cNvSpPr txBox="1"/>
          <p:nvPr/>
        </p:nvSpPr>
        <p:spPr>
          <a:xfrm>
            <a:off x="777240" y="53766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Si j’avais le temps, je viendrais. »</a:t>
            </a:r>
            <a:endParaRPr lang="en-US" sz="1200" dirty="0"/>
          </a:p>
        </p:txBody>
      </p:sp>
      <p:sp>
        <p:nvSpPr>
          <p:cNvPr id="49" name="Text 46"/>
          <p:cNvSpPr txBox="1"/>
          <p:nvPr/>
        </p:nvSpPr>
        <p:spPr>
          <a:xfrm>
            <a:off x="777240" y="5614416"/>
            <a:ext cx="5088636" cy="310896"/>
          </a:xfrm>
          <a:prstGeom prst="rect">
            <a:avLst/>
          </a:prstGeom>
          <a:noFill/>
          <a:ln/>
        </p:spPr>
        <p:txBody>
          <a:bodyPr wrap="square" lIns="0" tIns="0" rIns="0" bIns="0" rtlCol="0" anchor="ctr"/>
          <a:lstStyle/>
          <a:p>
            <a:pPr algn="l" indent="0" marL="0">
              <a:buNone/>
            </a:pPr>
            <a:r>
              <a:rPr lang="en-US" sz="1500" b="1" i="1" dirty="0">
                <a:solidFill>
                  <a:srgbClr val="D9700F"/>
                </a:solidFill>
              </a:rPr>
              <a:t>Als</a:t>
            </a:r>
            <a:r>
              <a:rPr lang="en-US" sz="1500" i="1" dirty="0">
                <a:solidFill>
                  <a:schemeClr val="tx1"/>
                </a:solidFill>
              </a:rPr>
              <a:t> ik tijd </a:t>
            </a:r>
            <a:r>
              <a:rPr lang="en-US" sz="1500" b="1" i="1" dirty="0">
                <a:solidFill>
                  <a:srgbClr val="B83227"/>
                </a:solidFill>
              </a:rPr>
              <a:t>had</a:t>
            </a:r>
            <a:r>
              <a:rPr lang="en-US" sz="1500" i="1" dirty="0">
                <a:solidFill>
                  <a:schemeClr val="tx1"/>
                </a:solidFill>
              </a:rPr>
              <a:t>, </a:t>
            </a:r>
            <a:r>
              <a:rPr lang="en-US" sz="1500" b="1" i="1" dirty="0">
                <a:solidFill>
                  <a:srgbClr val="B83227"/>
                </a:solidFill>
              </a:rPr>
              <a:t>zou</a:t>
            </a:r>
            <a:r>
              <a:rPr lang="en-US" sz="1500" i="1" dirty="0">
                <a:solidFill>
                  <a:schemeClr val="tx1"/>
                </a:solidFill>
              </a:rPr>
              <a:t> ik </a:t>
            </a:r>
            <a:r>
              <a:rPr lang="en-US" sz="1500" b="1" i="1" dirty="0">
                <a:solidFill>
                  <a:srgbClr val="B83227"/>
                </a:solidFill>
              </a:rPr>
              <a:t>komen</a:t>
            </a:r>
            <a:r>
              <a:rPr lang="en-US" sz="1500" i="1" dirty="0">
                <a:solidFill>
                  <a:schemeClr val="tx1"/>
                </a:solidFill>
              </a:rPr>
              <a:t>.</a:t>
            </a:r>
            <a:endParaRPr lang="en-US" sz="1800" dirty="0"/>
          </a:p>
        </p:txBody>
      </p:sp>
      <p:sp>
        <p:nvSpPr>
          <p:cNvPr id="50" name="Shape 47"/>
          <p:cNvSpPr/>
          <p:nvPr/>
        </p:nvSpPr>
        <p:spPr>
          <a:xfrm>
            <a:off x="6185916" y="5102352"/>
            <a:ext cx="5454396" cy="850392"/>
          </a:xfrm>
          <a:prstGeom prst="roundRect">
            <a:avLst>
              <a:gd name="adj" fmla="val 10753"/>
            </a:avLst>
          </a:prstGeom>
          <a:solidFill>
            <a:srgbClr val="FFFFFF"/>
          </a:solidFill>
          <a:ln w="12700">
            <a:solidFill>
              <a:srgbClr val="D5DCE6"/>
            </a:solidFill>
            <a:prstDash val="solid"/>
          </a:ln>
        </p:spPr>
      </p:sp>
      <p:sp>
        <p:nvSpPr>
          <p:cNvPr id="51" name="Shape 48"/>
          <p:cNvSpPr/>
          <p:nvPr/>
        </p:nvSpPr>
        <p:spPr>
          <a:xfrm>
            <a:off x="6185916" y="5102352"/>
            <a:ext cx="91440" cy="850392"/>
          </a:xfrm>
          <a:prstGeom prst="rect">
            <a:avLst/>
          </a:prstGeom>
          <a:solidFill>
            <a:srgbClr val="45306A"/>
          </a:solidFill>
          <a:ln w="12700">
            <a:solidFill>
              <a:srgbClr val="FFFFFF">
                <a:alpha val="0"/>
              </a:srgbClr>
            </a:solidFill>
            <a:prstDash val="solid"/>
          </a:ln>
        </p:spPr>
      </p:sp>
      <p:sp>
        <p:nvSpPr>
          <p:cNvPr id="52" name="Text 49"/>
          <p:cNvSpPr txBox="1"/>
          <p:nvPr/>
        </p:nvSpPr>
        <p:spPr>
          <a:xfrm>
            <a:off x="6414516" y="5129784"/>
            <a:ext cx="5088636" cy="256032"/>
          </a:xfrm>
          <a:prstGeom prst="rect">
            <a:avLst/>
          </a:prstGeom>
          <a:noFill/>
          <a:ln/>
        </p:spPr>
        <p:txBody>
          <a:bodyPr wrap="square" lIns="0" tIns="0" rIns="0" bIns="0" rtlCol="0" anchor="ctr"/>
          <a:lstStyle/>
          <a:p>
            <a:pPr algn="l" indent="0" marL="0">
              <a:buNone/>
            </a:pPr>
            <a:r>
              <a:rPr lang="en-US" sz="1150" b="1" dirty="0">
                <a:solidFill>
                  <a:srgbClr val="45306A"/>
                </a:solidFill>
              </a:rPr>
              <a:t>j’aurais dû → had moeten</a:t>
            </a:r>
            <a:endParaRPr lang="en-US" sz="1150" dirty="0"/>
          </a:p>
        </p:txBody>
      </p:sp>
      <p:sp>
        <p:nvSpPr>
          <p:cNvPr id="53" name="Text 50"/>
          <p:cNvSpPr txBox="1"/>
          <p:nvPr/>
        </p:nvSpPr>
        <p:spPr>
          <a:xfrm>
            <a:off x="6414516" y="5376672"/>
            <a:ext cx="5088636" cy="246888"/>
          </a:xfrm>
          <a:prstGeom prst="rect">
            <a:avLst/>
          </a:prstGeom>
          <a:noFill/>
          <a:ln/>
        </p:spPr>
        <p:txBody>
          <a:bodyPr wrap="square" lIns="0" tIns="0" rIns="0" bIns="0" rtlCol="0" anchor="ctr"/>
          <a:lstStyle/>
          <a:p>
            <a:pPr algn="l" indent="0" marL="0">
              <a:buNone/>
            </a:pPr>
            <a:r>
              <a:rPr lang="en-US" sz="1200" i="1" dirty="0">
                <a:solidFill>
                  <a:schemeClr val="accent5"/>
                </a:solidFill>
              </a:rPr>
              <a:t>« J’aurais dû appeler. »</a:t>
            </a:r>
            <a:endParaRPr lang="en-US" sz="1200" dirty="0"/>
          </a:p>
        </p:txBody>
      </p:sp>
      <p:sp>
        <p:nvSpPr>
          <p:cNvPr id="54" name="Text 51"/>
          <p:cNvSpPr txBox="1"/>
          <p:nvPr/>
        </p:nvSpPr>
        <p:spPr>
          <a:xfrm>
            <a:off x="6414516" y="5614416"/>
            <a:ext cx="5088636" cy="31089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had</a:t>
            </a:r>
            <a:r>
              <a:rPr lang="en-US" sz="1500" i="1" dirty="0">
                <a:solidFill>
                  <a:schemeClr val="tx1"/>
                </a:solidFill>
              </a:rPr>
              <a:t> moeten </a:t>
            </a:r>
            <a:r>
              <a:rPr lang="en-US" sz="1500" b="1" i="1" dirty="0">
                <a:solidFill>
                  <a:srgbClr val="B83227"/>
                </a:solidFill>
              </a:rPr>
              <a:t>bellen</a:t>
            </a:r>
            <a:r>
              <a:rPr lang="en-US" sz="1500" i="1"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la ligne du temps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463040"/>
            <a:ext cx="5120640" cy="475488"/>
          </a:xfrm>
          <a:prstGeom prst="roundRect">
            <a:avLst>
              <a:gd name="adj" fmla="val 15385"/>
            </a:avLst>
          </a:prstGeom>
          <a:solidFill>
            <a:srgbClr val="EAF2FB"/>
          </a:solidFill>
          <a:ln w="12700">
            <a:solidFill>
              <a:srgbClr val="FFFFFF">
                <a:alpha val="0"/>
              </a:srgbClr>
            </a:solidFill>
            <a:prstDash val="solid"/>
          </a:ln>
        </p:spPr>
      </p:sp>
      <p:sp>
        <p:nvSpPr>
          <p:cNvPr id="6" name="Shape 3"/>
          <p:cNvSpPr/>
          <p:nvPr/>
        </p:nvSpPr>
        <p:spPr>
          <a:xfrm>
            <a:off x="548640" y="1463040"/>
            <a:ext cx="91440" cy="475488"/>
          </a:xfrm>
          <a:prstGeom prst="rect">
            <a:avLst/>
          </a:prstGeom>
          <a:solidFill>
            <a:schemeClr val="accent2"/>
          </a:solidFill>
          <a:ln w="12700">
            <a:solidFill>
              <a:srgbClr val="FFFFFF">
                <a:alpha val="0"/>
              </a:srgbClr>
            </a:solidFill>
            <a:prstDash val="solid"/>
          </a:ln>
        </p:spPr>
      </p:sp>
      <p:sp>
        <p:nvSpPr>
          <p:cNvPr id="7" name="Text 4"/>
          <p:cNvSpPr txBox="1"/>
          <p:nvPr/>
        </p:nvSpPr>
        <p:spPr>
          <a:xfrm>
            <a:off x="731520" y="1463040"/>
            <a:ext cx="2331720" cy="475488"/>
          </a:xfrm>
          <a:prstGeom prst="rect">
            <a:avLst/>
          </a:prstGeom>
          <a:noFill/>
          <a:ln/>
        </p:spPr>
        <p:txBody>
          <a:bodyPr wrap="square" lIns="0" tIns="0" rIns="0" bIns="0" rtlCol="0" anchor="ctr"/>
          <a:lstStyle/>
          <a:p>
            <a:pPr algn="l" indent="0" marL="0">
              <a:buNone/>
            </a:pPr>
            <a:r>
              <a:rPr lang="en-US" sz="1200" b="1" dirty="0">
                <a:solidFill>
                  <a:schemeClr val="accent2"/>
                </a:solidFill>
              </a:rPr>
              <a:t>presens</a:t>
            </a:r>
            <a:endParaRPr lang="en-US" sz="1200" dirty="0"/>
          </a:p>
          <a:p>
            <a:pPr algn="l" indent="0" marL="0">
              <a:buNone/>
            </a:pPr>
            <a:r>
              <a:rPr lang="en-US" sz="1200" dirty="0">
                <a:solidFill>
                  <a:schemeClr val="accent2"/>
                </a:solidFill>
              </a:rPr>
              <a:t>présent</a:t>
            </a:r>
            <a:endParaRPr lang="en-US" sz="1200" dirty="0"/>
          </a:p>
        </p:txBody>
      </p:sp>
      <p:sp>
        <p:nvSpPr>
          <p:cNvPr id="8" name="Text 5"/>
          <p:cNvSpPr txBox="1"/>
          <p:nvPr/>
        </p:nvSpPr>
        <p:spPr>
          <a:xfrm>
            <a:off x="3108960" y="146304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werk</a:t>
            </a:r>
            <a:endParaRPr lang="en-US" sz="1300" dirty="0"/>
          </a:p>
        </p:txBody>
      </p:sp>
      <p:sp>
        <p:nvSpPr>
          <p:cNvPr id="9" name="Shape 6"/>
          <p:cNvSpPr/>
          <p:nvPr/>
        </p:nvSpPr>
        <p:spPr>
          <a:xfrm>
            <a:off x="548640" y="2011680"/>
            <a:ext cx="5120640" cy="475488"/>
          </a:xfrm>
          <a:prstGeom prst="roundRect">
            <a:avLst>
              <a:gd name="adj" fmla="val 15385"/>
            </a:avLst>
          </a:prstGeom>
          <a:solidFill>
            <a:srgbClr val="FBEAF2"/>
          </a:solidFill>
          <a:ln w="12700">
            <a:solidFill>
              <a:srgbClr val="FFFFFF">
                <a:alpha val="0"/>
              </a:srgbClr>
            </a:solidFill>
            <a:prstDash val="solid"/>
          </a:ln>
        </p:spPr>
      </p:sp>
      <p:sp>
        <p:nvSpPr>
          <p:cNvPr id="10" name="Shape 7"/>
          <p:cNvSpPr/>
          <p:nvPr/>
        </p:nvSpPr>
        <p:spPr>
          <a:xfrm>
            <a:off x="548640" y="2011680"/>
            <a:ext cx="91440" cy="475488"/>
          </a:xfrm>
          <a:prstGeom prst="rect">
            <a:avLst/>
          </a:prstGeom>
          <a:solidFill>
            <a:schemeClr val="accent4"/>
          </a:solidFill>
          <a:ln w="12700">
            <a:solidFill>
              <a:srgbClr val="FFFFFF">
                <a:alpha val="0"/>
              </a:srgbClr>
            </a:solidFill>
            <a:prstDash val="solid"/>
          </a:ln>
        </p:spPr>
      </p:sp>
      <p:sp>
        <p:nvSpPr>
          <p:cNvPr id="11" name="Text 8"/>
          <p:cNvSpPr txBox="1"/>
          <p:nvPr/>
        </p:nvSpPr>
        <p:spPr>
          <a:xfrm>
            <a:off x="731520" y="2011680"/>
            <a:ext cx="2331720" cy="475488"/>
          </a:xfrm>
          <a:prstGeom prst="rect">
            <a:avLst/>
          </a:prstGeom>
          <a:noFill/>
          <a:ln/>
        </p:spPr>
        <p:txBody>
          <a:bodyPr wrap="square" lIns="0" tIns="0" rIns="0" bIns="0" rtlCol="0" anchor="ctr"/>
          <a:lstStyle/>
          <a:p>
            <a:pPr algn="l" indent="0" marL="0">
              <a:buNone/>
            </a:pPr>
            <a:r>
              <a:rPr lang="en-US" sz="1200" b="1" dirty="0">
                <a:solidFill>
                  <a:schemeClr val="accent4"/>
                </a:solidFill>
              </a:rPr>
              <a:t>perfectum</a:t>
            </a:r>
            <a:endParaRPr lang="en-US" sz="1200" dirty="0"/>
          </a:p>
          <a:p>
            <a:pPr algn="l" indent="0" marL="0">
              <a:buNone/>
            </a:pPr>
            <a:r>
              <a:rPr lang="en-US" sz="1200" dirty="0">
                <a:solidFill>
                  <a:schemeClr val="accent4"/>
                </a:solidFill>
              </a:rPr>
              <a:t>passé composé</a:t>
            </a:r>
            <a:endParaRPr lang="en-US" sz="1200" dirty="0"/>
          </a:p>
        </p:txBody>
      </p:sp>
      <p:sp>
        <p:nvSpPr>
          <p:cNvPr id="12" name="Text 9"/>
          <p:cNvSpPr txBox="1"/>
          <p:nvPr/>
        </p:nvSpPr>
        <p:spPr>
          <a:xfrm>
            <a:off x="3108960" y="201168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heb gewerkt</a:t>
            </a:r>
            <a:endParaRPr lang="en-US" sz="1300" dirty="0"/>
          </a:p>
        </p:txBody>
      </p:sp>
      <p:sp>
        <p:nvSpPr>
          <p:cNvPr id="13" name="Shape 10"/>
          <p:cNvSpPr/>
          <p:nvPr/>
        </p:nvSpPr>
        <p:spPr>
          <a:xfrm>
            <a:off x="548640" y="2560320"/>
            <a:ext cx="5120640" cy="475488"/>
          </a:xfrm>
          <a:prstGeom prst="roundRect">
            <a:avLst>
              <a:gd name="adj" fmla="val 15385"/>
            </a:avLst>
          </a:prstGeom>
          <a:solidFill>
            <a:srgbClr val="FBEAF2"/>
          </a:solidFill>
          <a:ln w="12700">
            <a:solidFill>
              <a:srgbClr val="FFFFFF">
                <a:alpha val="0"/>
              </a:srgbClr>
            </a:solidFill>
            <a:prstDash val="solid"/>
          </a:ln>
        </p:spPr>
      </p:sp>
      <p:sp>
        <p:nvSpPr>
          <p:cNvPr id="14" name="Shape 11"/>
          <p:cNvSpPr/>
          <p:nvPr/>
        </p:nvSpPr>
        <p:spPr>
          <a:xfrm>
            <a:off x="548640" y="2560320"/>
            <a:ext cx="91440" cy="475488"/>
          </a:xfrm>
          <a:prstGeom prst="rect">
            <a:avLst/>
          </a:prstGeom>
          <a:solidFill>
            <a:schemeClr val="accent4"/>
          </a:solidFill>
          <a:ln w="12700">
            <a:solidFill>
              <a:srgbClr val="FFFFFF">
                <a:alpha val="0"/>
              </a:srgbClr>
            </a:solidFill>
            <a:prstDash val="solid"/>
          </a:ln>
        </p:spPr>
      </p:sp>
      <p:sp>
        <p:nvSpPr>
          <p:cNvPr id="15" name="Text 12"/>
          <p:cNvSpPr txBox="1"/>
          <p:nvPr/>
        </p:nvSpPr>
        <p:spPr>
          <a:xfrm>
            <a:off x="731520" y="2560320"/>
            <a:ext cx="2331720" cy="475488"/>
          </a:xfrm>
          <a:prstGeom prst="rect">
            <a:avLst/>
          </a:prstGeom>
          <a:noFill/>
          <a:ln/>
        </p:spPr>
        <p:txBody>
          <a:bodyPr wrap="square" lIns="0" tIns="0" rIns="0" bIns="0" rtlCol="0" anchor="ctr"/>
          <a:lstStyle/>
          <a:p>
            <a:pPr algn="l" indent="0" marL="0">
              <a:buNone/>
            </a:pPr>
            <a:r>
              <a:rPr lang="en-US" sz="1200" b="1" dirty="0">
                <a:solidFill>
                  <a:schemeClr val="accent4"/>
                </a:solidFill>
              </a:rPr>
              <a:t>imperfectum</a:t>
            </a:r>
            <a:endParaRPr lang="en-US" sz="1200" dirty="0"/>
          </a:p>
          <a:p>
            <a:pPr algn="l" indent="0" marL="0">
              <a:buNone/>
            </a:pPr>
            <a:r>
              <a:rPr lang="en-US" sz="1200" dirty="0">
                <a:solidFill>
                  <a:schemeClr val="accent4"/>
                </a:solidFill>
              </a:rPr>
              <a:t>imparfait</a:t>
            </a:r>
            <a:endParaRPr lang="en-US" sz="1200" dirty="0"/>
          </a:p>
        </p:txBody>
      </p:sp>
      <p:sp>
        <p:nvSpPr>
          <p:cNvPr id="16" name="Text 13"/>
          <p:cNvSpPr txBox="1"/>
          <p:nvPr/>
        </p:nvSpPr>
        <p:spPr>
          <a:xfrm>
            <a:off x="3108960" y="256032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werkte</a:t>
            </a:r>
            <a:endParaRPr lang="en-US" sz="1300" dirty="0"/>
          </a:p>
        </p:txBody>
      </p:sp>
      <p:sp>
        <p:nvSpPr>
          <p:cNvPr id="17" name="Shape 14"/>
          <p:cNvSpPr/>
          <p:nvPr/>
        </p:nvSpPr>
        <p:spPr>
          <a:xfrm>
            <a:off x="548640" y="3108960"/>
            <a:ext cx="5120640" cy="475488"/>
          </a:xfrm>
          <a:prstGeom prst="roundRect">
            <a:avLst>
              <a:gd name="adj" fmla="val 15385"/>
            </a:avLst>
          </a:prstGeom>
          <a:solidFill>
            <a:srgbClr val="F5E6EE"/>
          </a:solidFill>
          <a:ln w="12700">
            <a:solidFill>
              <a:srgbClr val="FFFFFF">
                <a:alpha val="0"/>
              </a:srgbClr>
            </a:solidFill>
            <a:prstDash val="solid"/>
          </a:ln>
        </p:spPr>
      </p:sp>
      <p:sp>
        <p:nvSpPr>
          <p:cNvPr id="18" name="Shape 15"/>
          <p:cNvSpPr/>
          <p:nvPr/>
        </p:nvSpPr>
        <p:spPr>
          <a:xfrm>
            <a:off x="548640" y="3108960"/>
            <a:ext cx="91440" cy="475488"/>
          </a:xfrm>
          <a:prstGeom prst="rect">
            <a:avLst/>
          </a:prstGeom>
          <a:solidFill>
            <a:srgbClr val="7A1748"/>
          </a:solidFill>
          <a:ln w="12700">
            <a:solidFill>
              <a:srgbClr val="FFFFFF">
                <a:alpha val="0"/>
              </a:srgbClr>
            </a:solidFill>
            <a:prstDash val="solid"/>
          </a:ln>
        </p:spPr>
      </p:sp>
      <p:sp>
        <p:nvSpPr>
          <p:cNvPr id="19" name="Text 16"/>
          <p:cNvSpPr txBox="1"/>
          <p:nvPr/>
        </p:nvSpPr>
        <p:spPr>
          <a:xfrm>
            <a:off x="731520" y="3108960"/>
            <a:ext cx="2331720" cy="475488"/>
          </a:xfrm>
          <a:prstGeom prst="rect">
            <a:avLst/>
          </a:prstGeom>
          <a:noFill/>
          <a:ln/>
        </p:spPr>
        <p:txBody>
          <a:bodyPr wrap="square" lIns="0" tIns="0" rIns="0" bIns="0" rtlCol="0" anchor="ctr"/>
          <a:lstStyle/>
          <a:p>
            <a:pPr algn="l" indent="0" marL="0">
              <a:buNone/>
            </a:pPr>
            <a:r>
              <a:rPr lang="en-US" sz="1100" b="1" dirty="0">
                <a:solidFill>
                  <a:srgbClr val="7A1748"/>
                </a:solidFill>
              </a:rPr>
              <a:t>plusquamperfectum</a:t>
            </a:r>
            <a:endParaRPr lang="en-US" sz="1100" dirty="0"/>
          </a:p>
          <a:p>
            <a:pPr algn="l" indent="0" marL="0">
              <a:buNone/>
            </a:pPr>
            <a:r>
              <a:rPr lang="en-US" sz="1100" dirty="0">
                <a:solidFill>
                  <a:srgbClr val="7A1748"/>
                </a:solidFill>
              </a:rPr>
              <a:t>plus-que-parfait</a:t>
            </a:r>
            <a:endParaRPr lang="en-US" sz="1100" dirty="0"/>
          </a:p>
        </p:txBody>
      </p:sp>
      <p:sp>
        <p:nvSpPr>
          <p:cNvPr id="20" name="Text 17"/>
          <p:cNvSpPr txBox="1"/>
          <p:nvPr/>
        </p:nvSpPr>
        <p:spPr>
          <a:xfrm>
            <a:off x="3108960" y="310896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had gewerkt</a:t>
            </a:r>
            <a:endParaRPr lang="en-US" sz="1300" dirty="0"/>
          </a:p>
        </p:txBody>
      </p:sp>
      <p:sp>
        <p:nvSpPr>
          <p:cNvPr id="21" name="Shape 18"/>
          <p:cNvSpPr/>
          <p:nvPr/>
        </p:nvSpPr>
        <p:spPr>
          <a:xfrm>
            <a:off x="548640" y="3657600"/>
            <a:ext cx="5120640" cy="475488"/>
          </a:xfrm>
          <a:prstGeom prst="roundRect">
            <a:avLst>
              <a:gd name="adj" fmla="val 15385"/>
            </a:avLst>
          </a:prstGeom>
          <a:solidFill>
            <a:srgbClr val="E8F4EC"/>
          </a:solidFill>
          <a:ln w="12700">
            <a:solidFill>
              <a:srgbClr val="FFFFFF">
                <a:alpha val="0"/>
              </a:srgbClr>
            </a:solidFill>
            <a:prstDash val="solid"/>
          </a:ln>
        </p:spPr>
      </p:sp>
      <p:sp>
        <p:nvSpPr>
          <p:cNvPr id="22" name="Shape 19"/>
          <p:cNvSpPr/>
          <p:nvPr/>
        </p:nvSpPr>
        <p:spPr>
          <a:xfrm>
            <a:off x="548640" y="3657600"/>
            <a:ext cx="91440" cy="475488"/>
          </a:xfrm>
          <a:prstGeom prst="rect">
            <a:avLst/>
          </a:prstGeom>
          <a:solidFill>
            <a:schemeClr val="accent3"/>
          </a:solidFill>
          <a:ln w="12700">
            <a:solidFill>
              <a:srgbClr val="FFFFFF">
                <a:alpha val="0"/>
              </a:srgbClr>
            </a:solidFill>
            <a:prstDash val="solid"/>
          </a:ln>
        </p:spPr>
      </p:sp>
      <p:sp>
        <p:nvSpPr>
          <p:cNvPr id="23" name="Text 20"/>
          <p:cNvSpPr txBox="1"/>
          <p:nvPr/>
        </p:nvSpPr>
        <p:spPr>
          <a:xfrm>
            <a:off x="731520" y="3657600"/>
            <a:ext cx="2331720" cy="475488"/>
          </a:xfrm>
          <a:prstGeom prst="rect">
            <a:avLst/>
          </a:prstGeom>
          <a:noFill/>
          <a:ln/>
        </p:spPr>
        <p:txBody>
          <a:bodyPr wrap="square" lIns="0" tIns="0" rIns="0" bIns="0" rtlCol="0" anchor="ctr"/>
          <a:lstStyle/>
          <a:p>
            <a:pPr algn="l" indent="0" marL="0">
              <a:buNone/>
            </a:pPr>
            <a:r>
              <a:rPr lang="en-US" sz="1200" b="1" dirty="0">
                <a:solidFill>
                  <a:schemeClr val="accent3"/>
                </a:solidFill>
              </a:rPr>
              <a:t>futurum</a:t>
            </a:r>
            <a:endParaRPr lang="en-US" sz="1200" dirty="0"/>
          </a:p>
          <a:p>
            <a:pPr algn="l" indent="0" marL="0">
              <a:buNone/>
            </a:pPr>
            <a:r>
              <a:rPr lang="en-US" sz="1200" dirty="0">
                <a:solidFill>
                  <a:schemeClr val="accent3"/>
                </a:solidFill>
              </a:rPr>
              <a:t>futur</a:t>
            </a:r>
            <a:endParaRPr lang="en-US" sz="1200" dirty="0"/>
          </a:p>
        </p:txBody>
      </p:sp>
      <p:sp>
        <p:nvSpPr>
          <p:cNvPr id="24" name="Text 21"/>
          <p:cNvSpPr txBox="1"/>
          <p:nvPr/>
        </p:nvSpPr>
        <p:spPr>
          <a:xfrm>
            <a:off x="3108960" y="365760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zal werken</a:t>
            </a:r>
            <a:endParaRPr lang="en-US" sz="1300" dirty="0"/>
          </a:p>
        </p:txBody>
      </p:sp>
      <p:sp>
        <p:nvSpPr>
          <p:cNvPr id="25" name="Shape 22"/>
          <p:cNvSpPr/>
          <p:nvPr/>
        </p:nvSpPr>
        <p:spPr>
          <a:xfrm>
            <a:off x="548640" y="4206240"/>
            <a:ext cx="5120640" cy="475488"/>
          </a:xfrm>
          <a:prstGeom prst="roundRect">
            <a:avLst>
              <a:gd name="adj" fmla="val 15385"/>
            </a:avLst>
          </a:prstGeom>
          <a:solidFill>
            <a:srgbClr val="E3EFE7"/>
          </a:solidFill>
          <a:ln w="12700">
            <a:solidFill>
              <a:srgbClr val="FFFFFF">
                <a:alpha val="0"/>
              </a:srgbClr>
            </a:solidFill>
            <a:prstDash val="solid"/>
          </a:ln>
        </p:spPr>
      </p:sp>
      <p:sp>
        <p:nvSpPr>
          <p:cNvPr id="26" name="Shape 23"/>
          <p:cNvSpPr/>
          <p:nvPr/>
        </p:nvSpPr>
        <p:spPr>
          <a:xfrm>
            <a:off x="548640" y="4206240"/>
            <a:ext cx="91440" cy="475488"/>
          </a:xfrm>
          <a:prstGeom prst="rect">
            <a:avLst/>
          </a:prstGeom>
          <a:solidFill>
            <a:srgbClr val="1B5734"/>
          </a:solidFill>
          <a:ln w="12700">
            <a:solidFill>
              <a:srgbClr val="FFFFFF">
                <a:alpha val="0"/>
              </a:srgbClr>
            </a:solidFill>
            <a:prstDash val="solid"/>
          </a:ln>
        </p:spPr>
      </p:sp>
      <p:sp>
        <p:nvSpPr>
          <p:cNvPr id="27" name="Text 24"/>
          <p:cNvSpPr txBox="1"/>
          <p:nvPr/>
        </p:nvSpPr>
        <p:spPr>
          <a:xfrm>
            <a:off x="731520" y="4206240"/>
            <a:ext cx="2331720" cy="475488"/>
          </a:xfrm>
          <a:prstGeom prst="rect">
            <a:avLst/>
          </a:prstGeom>
          <a:noFill/>
          <a:ln/>
        </p:spPr>
        <p:txBody>
          <a:bodyPr wrap="square" lIns="0" tIns="0" rIns="0" bIns="0" rtlCol="0" anchor="ctr"/>
          <a:lstStyle/>
          <a:p>
            <a:pPr algn="l" indent="0" marL="0">
              <a:buNone/>
            </a:pPr>
            <a:r>
              <a:rPr lang="en-US" sz="1200" b="1" dirty="0">
                <a:solidFill>
                  <a:srgbClr val="1B5734"/>
                </a:solidFill>
              </a:rPr>
              <a:t>futurum exactum</a:t>
            </a:r>
            <a:endParaRPr lang="en-US" sz="1200" dirty="0"/>
          </a:p>
          <a:p>
            <a:pPr algn="l" indent="0" marL="0">
              <a:buNone/>
            </a:pPr>
            <a:r>
              <a:rPr lang="en-US" sz="1200" dirty="0">
                <a:solidFill>
                  <a:srgbClr val="1B5734"/>
                </a:solidFill>
              </a:rPr>
              <a:t>futur antérieur</a:t>
            </a:r>
            <a:endParaRPr lang="en-US" sz="1200" dirty="0"/>
          </a:p>
        </p:txBody>
      </p:sp>
      <p:sp>
        <p:nvSpPr>
          <p:cNvPr id="28" name="Text 25"/>
          <p:cNvSpPr txBox="1"/>
          <p:nvPr/>
        </p:nvSpPr>
        <p:spPr>
          <a:xfrm>
            <a:off x="3108960" y="420624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zal gewerkt hebben</a:t>
            </a:r>
            <a:endParaRPr lang="en-US" sz="1300" dirty="0"/>
          </a:p>
        </p:txBody>
      </p:sp>
      <p:sp>
        <p:nvSpPr>
          <p:cNvPr id="29" name="Shape 26"/>
          <p:cNvSpPr/>
          <p:nvPr/>
        </p:nvSpPr>
        <p:spPr>
          <a:xfrm>
            <a:off x="548640" y="4754880"/>
            <a:ext cx="5120640" cy="475488"/>
          </a:xfrm>
          <a:prstGeom prst="roundRect">
            <a:avLst>
              <a:gd name="adj" fmla="val 15385"/>
            </a:avLst>
          </a:prstGeom>
          <a:solidFill>
            <a:srgbClr val="F1ECF7"/>
          </a:solidFill>
          <a:ln w="12700">
            <a:solidFill>
              <a:srgbClr val="FFFFFF">
                <a:alpha val="0"/>
              </a:srgbClr>
            </a:solidFill>
            <a:prstDash val="solid"/>
          </a:ln>
        </p:spPr>
      </p:sp>
      <p:sp>
        <p:nvSpPr>
          <p:cNvPr id="30" name="Shape 27"/>
          <p:cNvSpPr/>
          <p:nvPr/>
        </p:nvSpPr>
        <p:spPr>
          <a:xfrm>
            <a:off x="548640" y="4754880"/>
            <a:ext cx="91440" cy="475488"/>
          </a:xfrm>
          <a:prstGeom prst="rect">
            <a:avLst/>
          </a:prstGeom>
          <a:solidFill>
            <a:srgbClr val="6E4A9E"/>
          </a:solidFill>
          <a:ln w="12700">
            <a:solidFill>
              <a:srgbClr val="FFFFFF">
                <a:alpha val="0"/>
              </a:srgbClr>
            </a:solidFill>
            <a:prstDash val="solid"/>
          </a:ln>
        </p:spPr>
      </p:sp>
      <p:sp>
        <p:nvSpPr>
          <p:cNvPr id="31" name="Text 28"/>
          <p:cNvSpPr txBox="1"/>
          <p:nvPr/>
        </p:nvSpPr>
        <p:spPr>
          <a:xfrm>
            <a:off x="731520" y="4754880"/>
            <a:ext cx="2331720" cy="475488"/>
          </a:xfrm>
          <a:prstGeom prst="rect">
            <a:avLst/>
          </a:prstGeom>
          <a:noFill/>
          <a:ln/>
        </p:spPr>
        <p:txBody>
          <a:bodyPr wrap="square" lIns="0" tIns="0" rIns="0" bIns="0" rtlCol="0" anchor="ctr"/>
          <a:lstStyle/>
          <a:p>
            <a:pPr algn="l" indent="0" marL="0">
              <a:buNone/>
            </a:pPr>
            <a:r>
              <a:rPr lang="en-US" sz="1200" b="1" dirty="0">
                <a:solidFill>
                  <a:srgbClr val="6E4A9E"/>
                </a:solidFill>
              </a:rPr>
              <a:t>conditionalis</a:t>
            </a:r>
            <a:endParaRPr lang="en-US" sz="1200" dirty="0"/>
          </a:p>
          <a:p>
            <a:pPr algn="l" indent="0" marL="0">
              <a:buNone/>
            </a:pPr>
            <a:r>
              <a:rPr lang="en-US" sz="1200" dirty="0">
                <a:solidFill>
                  <a:srgbClr val="6E4A9E"/>
                </a:solidFill>
              </a:rPr>
              <a:t>conditionnel</a:t>
            </a:r>
            <a:endParaRPr lang="en-US" sz="1200" dirty="0"/>
          </a:p>
        </p:txBody>
      </p:sp>
      <p:sp>
        <p:nvSpPr>
          <p:cNvPr id="32" name="Text 29"/>
          <p:cNvSpPr txBox="1"/>
          <p:nvPr/>
        </p:nvSpPr>
        <p:spPr>
          <a:xfrm>
            <a:off x="3108960" y="475488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zou werken</a:t>
            </a:r>
            <a:endParaRPr lang="en-US" sz="1300" dirty="0"/>
          </a:p>
        </p:txBody>
      </p:sp>
      <p:sp>
        <p:nvSpPr>
          <p:cNvPr id="33" name="Shape 30"/>
          <p:cNvSpPr/>
          <p:nvPr/>
        </p:nvSpPr>
        <p:spPr>
          <a:xfrm>
            <a:off x="548640" y="5303520"/>
            <a:ext cx="5120640" cy="475488"/>
          </a:xfrm>
          <a:prstGeom prst="roundRect">
            <a:avLst>
              <a:gd name="adj" fmla="val 15385"/>
            </a:avLst>
          </a:prstGeom>
          <a:solidFill>
            <a:srgbClr val="ECE8F3"/>
          </a:solidFill>
          <a:ln w="12700">
            <a:solidFill>
              <a:srgbClr val="FFFFFF">
                <a:alpha val="0"/>
              </a:srgbClr>
            </a:solidFill>
            <a:prstDash val="solid"/>
          </a:ln>
        </p:spPr>
      </p:sp>
      <p:sp>
        <p:nvSpPr>
          <p:cNvPr id="34" name="Shape 31"/>
          <p:cNvSpPr/>
          <p:nvPr/>
        </p:nvSpPr>
        <p:spPr>
          <a:xfrm>
            <a:off x="548640" y="5303520"/>
            <a:ext cx="91440" cy="475488"/>
          </a:xfrm>
          <a:prstGeom prst="rect">
            <a:avLst/>
          </a:prstGeom>
          <a:solidFill>
            <a:srgbClr val="45306A"/>
          </a:solidFill>
          <a:ln w="12700">
            <a:solidFill>
              <a:srgbClr val="FFFFFF">
                <a:alpha val="0"/>
              </a:srgbClr>
            </a:solidFill>
            <a:prstDash val="solid"/>
          </a:ln>
        </p:spPr>
      </p:sp>
      <p:sp>
        <p:nvSpPr>
          <p:cNvPr id="35" name="Text 32"/>
          <p:cNvSpPr txBox="1"/>
          <p:nvPr/>
        </p:nvSpPr>
        <p:spPr>
          <a:xfrm>
            <a:off x="731520" y="5303520"/>
            <a:ext cx="2331720" cy="475488"/>
          </a:xfrm>
          <a:prstGeom prst="rect">
            <a:avLst/>
          </a:prstGeom>
          <a:noFill/>
          <a:ln/>
        </p:spPr>
        <p:txBody>
          <a:bodyPr wrap="square" lIns="0" tIns="0" rIns="0" bIns="0" rtlCol="0" anchor="ctr"/>
          <a:lstStyle/>
          <a:p>
            <a:pPr algn="l" indent="0" marL="0">
              <a:buNone/>
            </a:pPr>
            <a:r>
              <a:rPr lang="en-US" sz="1100" b="1" dirty="0">
                <a:solidFill>
                  <a:srgbClr val="45306A"/>
                </a:solidFill>
              </a:rPr>
              <a:t>conditionalis perfectum</a:t>
            </a:r>
            <a:endParaRPr lang="en-US" sz="1100" dirty="0"/>
          </a:p>
          <a:p>
            <a:pPr algn="l" indent="0" marL="0">
              <a:buNone/>
            </a:pPr>
            <a:r>
              <a:rPr lang="en-US" sz="1100" dirty="0">
                <a:solidFill>
                  <a:srgbClr val="45306A"/>
                </a:solidFill>
              </a:rPr>
              <a:t>conditionnel passé</a:t>
            </a:r>
            <a:endParaRPr lang="en-US" sz="1100" dirty="0"/>
          </a:p>
        </p:txBody>
      </p:sp>
      <p:sp>
        <p:nvSpPr>
          <p:cNvPr id="36" name="Text 33"/>
          <p:cNvSpPr txBox="1"/>
          <p:nvPr/>
        </p:nvSpPr>
        <p:spPr>
          <a:xfrm>
            <a:off x="3108960" y="5303520"/>
            <a:ext cx="2514600" cy="475488"/>
          </a:xfrm>
          <a:prstGeom prst="rect">
            <a:avLst/>
          </a:prstGeom>
          <a:noFill/>
          <a:ln/>
        </p:spPr>
        <p:txBody>
          <a:bodyPr wrap="square" lIns="0" tIns="0" rIns="0" bIns="0" rtlCol="0" anchor="ctr"/>
          <a:lstStyle/>
          <a:p>
            <a:pPr algn="l" indent="0" marL="0">
              <a:buNone/>
            </a:pPr>
            <a:r>
              <a:rPr lang="en-US" sz="1300" b="1" i="1" dirty="0">
                <a:solidFill>
                  <a:schemeClr val="tx1"/>
                </a:solidFill>
              </a:rPr>
              <a:t>ik zou gewerkt hebben</a:t>
            </a:r>
            <a:endParaRPr lang="en-US" sz="1300" dirty="0"/>
          </a:p>
        </p:txBody>
      </p:sp>
      <p:sp>
        <p:nvSpPr>
          <p:cNvPr id="37" name="Shape 34"/>
          <p:cNvSpPr/>
          <p:nvPr/>
        </p:nvSpPr>
        <p:spPr>
          <a:xfrm>
            <a:off x="5897880" y="1463040"/>
            <a:ext cx="5742432" cy="795528"/>
          </a:xfrm>
          <a:prstGeom prst="roundRect">
            <a:avLst>
              <a:gd name="adj" fmla="val 1149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38" name="Image 0" descr="hourglass not done">    </p:cNvPr>
          <p:cNvPicPr>
            <a:picLocks noChangeAspect="1"/>
          </p:cNvPicPr>
          <p:nvPr/>
        </p:nvPicPr>
        <p:blipFill>
          <a:blip r:embed="rId1"/>
          <a:stretch>
            <a:fillRect/>
          </a:stretch>
        </p:blipFill>
        <p:spPr>
          <a:xfrm>
            <a:off x="6016752" y="1591056"/>
            <a:ext cx="548640" cy="548640"/>
          </a:xfrm>
          <a:prstGeom prst="rect">
            <a:avLst/>
          </a:prstGeom>
        </p:spPr>
      </p:pic>
      <p:sp>
        <p:nvSpPr>
          <p:cNvPr id="39" name="Text 35"/>
          <p:cNvSpPr txBox="1"/>
          <p:nvPr/>
        </p:nvSpPr>
        <p:spPr>
          <a:xfrm>
            <a:off x="6720840" y="1463040"/>
            <a:ext cx="4800600" cy="795528"/>
          </a:xfrm>
          <a:prstGeom prst="rect">
            <a:avLst/>
          </a:prstGeom>
          <a:noFill/>
          <a:ln/>
        </p:spPr>
        <p:txBody>
          <a:bodyPr wrap="square" lIns="0" tIns="0" rIns="0" bIns="0" rtlCol="0" anchor="ctr"/>
          <a:lstStyle/>
          <a:p>
            <a:pPr algn="l" indent="0" marL="0">
              <a:buNone/>
            </a:pPr>
            <a:r>
              <a:rPr lang="en-US" sz="1400" b="1" dirty="0">
                <a:solidFill>
                  <a:schemeClr val="tx1"/>
                </a:solidFill>
              </a:rPr>
              <a:t>depuis</a:t>
            </a:r>
            <a:r>
              <a:rPr lang="en-US" sz="1400" dirty="0">
                <a:solidFill>
                  <a:schemeClr val="tx1"/>
                </a:solidFill>
              </a:rPr>
              <a:t> = presens + </a:t>
            </a:r>
            <a:r>
              <a:rPr lang="en-US" sz="1400" i="1" dirty="0">
                <a:solidFill>
                  <a:schemeClr val="tx1"/>
                </a:solidFill>
              </a:rPr>
              <a:t>al / sinds</a:t>
            </a:r>
            <a:r>
              <a:rPr lang="en-US" sz="1400" dirty="0">
                <a:solidFill>
                  <a:schemeClr val="tx1"/>
                </a:solidFill>
              </a:rPr>
              <a:t> : </a:t>
            </a:r>
            <a:r>
              <a:rPr lang="en-US" sz="1400" i="1" dirty="0">
                <a:solidFill>
                  <a:schemeClr val="tx1"/>
                </a:solidFill>
              </a:rPr>
              <a:t>Ik woon hier al 3 jaar.</a:t>
            </a:r>
            <a:endParaRPr lang="en-US" sz="1400" dirty="0"/>
          </a:p>
        </p:txBody>
      </p:sp>
      <p:sp>
        <p:nvSpPr>
          <p:cNvPr id="40" name="Shape 36"/>
          <p:cNvSpPr/>
          <p:nvPr/>
        </p:nvSpPr>
        <p:spPr>
          <a:xfrm>
            <a:off x="5897880" y="2350008"/>
            <a:ext cx="5742432" cy="795528"/>
          </a:xfrm>
          <a:prstGeom prst="roundRect">
            <a:avLst>
              <a:gd name="adj" fmla="val 1149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41" name="Image 1" descr="camera with flash">    </p:cNvPr>
          <p:cNvPicPr>
            <a:picLocks noChangeAspect="1"/>
          </p:cNvPicPr>
          <p:nvPr/>
        </p:nvPicPr>
        <p:blipFill>
          <a:blip r:embed="rId2"/>
          <a:stretch>
            <a:fillRect/>
          </a:stretch>
        </p:blipFill>
        <p:spPr>
          <a:xfrm>
            <a:off x="6016752" y="2478024"/>
            <a:ext cx="548640" cy="548640"/>
          </a:xfrm>
          <a:prstGeom prst="rect">
            <a:avLst/>
          </a:prstGeom>
        </p:spPr>
      </p:pic>
      <p:sp>
        <p:nvSpPr>
          <p:cNvPr id="42" name="Text 37"/>
          <p:cNvSpPr txBox="1"/>
          <p:nvPr/>
        </p:nvSpPr>
        <p:spPr>
          <a:xfrm>
            <a:off x="6720840" y="2350008"/>
            <a:ext cx="4800600" cy="795528"/>
          </a:xfrm>
          <a:prstGeom prst="rect">
            <a:avLst/>
          </a:prstGeom>
          <a:noFill/>
          <a:ln/>
        </p:spPr>
        <p:txBody>
          <a:bodyPr wrap="square" lIns="0" tIns="0" rIns="0" bIns="0" rtlCol="0" anchor="ctr"/>
          <a:lstStyle/>
          <a:p>
            <a:pPr algn="l" indent="0" marL="0">
              <a:buNone/>
            </a:pPr>
            <a:r>
              <a:rPr lang="en-US" sz="1400" b="1" dirty="0">
                <a:solidFill>
                  <a:schemeClr val="tx1"/>
                </a:solidFill>
              </a:rPr>
              <a:t>perfectum</a:t>
            </a:r>
            <a:r>
              <a:rPr lang="en-US" sz="1400" dirty="0">
                <a:solidFill>
                  <a:schemeClr val="tx1"/>
                </a:solidFill>
              </a:rPr>
              <a:t> = le fait, le bilan · </a:t>
            </a:r>
            <a:r>
              <a:rPr lang="en-US" sz="1400" b="1" dirty="0">
                <a:solidFill>
                  <a:schemeClr val="tx1"/>
                </a:solidFill>
              </a:rPr>
              <a:t>imperfectum</a:t>
            </a:r>
            <a:r>
              <a:rPr lang="en-US" sz="1400" dirty="0">
                <a:solidFill>
                  <a:schemeClr val="tx1"/>
                </a:solidFill>
              </a:rPr>
              <a:t> = décor, habitude, récit</a:t>
            </a:r>
            <a:endParaRPr lang="en-US" sz="1400" dirty="0"/>
          </a:p>
        </p:txBody>
      </p:sp>
      <p:sp>
        <p:nvSpPr>
          <p:cNvPr id="43" name="Shape 38"/>
          <p:cNvSpPr/>
          <p:nvPr/>
        </p:nvSpPr>
        <p:spPr>
          <a:xfrm>
            <a:off x="5897880" y="3236976"/>
            <a:ext cx="5742432" cy="795528"/>
          </a:xfrm>
          <a:prstGeom prst="roundRect">
            <a:avLst>
              <a:gd name="adj" fmla="val 1149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44" name="Image 2" descr="hourglass done">    </p:cNvPr>
          <p:cNvPicPr>
            <a:picLocks noChangeAspect="1"/>
          </p:cNvPicPr>
          <p:nvPr/>
        </p:nvPicPr>
        <p:blipFill>
          <a:blip r:embed="rId3"/>
          <a:stretch>
            <a:fillRect/>
          </a:stretch>
        </p:blipFill>
        <p:spPr>
          <a:xfrm>
            <a:off x="6016752" y="3364992"/>
            <a:ext cx="548640" cy="548640"/>
          </a:xfrm>
          <a:prstGeom prst="rect">
            <a:avLst/>
          </a:prstGeom>
        </p:spPr>
      </p:pic>
      <p:sp>
        <p:nvSpPr>
          <p:cNvPr id="45" name="Text 39"/>
          <p:cNvSpPr txBox="1"/>
          <p:nvPr/>
        </p:nvSpPr>
        <p:spPr>
          <a:xfrm>
            <a:off x="6720840" y="3236976"/>
            <a:ext cx="4800600" cy="795528"/>
          </a:xfrm>
          <a:prstGeom prst="rect">
            <a:avLst/>
          </a:prstGeom>
          <a:noFill/>
          <a:ln/>
        </p:spPr>
        <p:txBody>
          <a:bodyPr wrap="square" lIns="0" tIns="0" rIns="0" bIns="0" rtlCol="0" anchor="ctr"/>
          <a:lstStyle/>
          <a:p>
            <a:pPr algn="l" indent="0" marL="0">
              <a:buNone/>
            </a:pPr>
            <a:r>
              <a:rPr lang="en-US" sz="1400" b="1" dirty="0">
                <a:solidFill>
                  <a:schemeClr val="tx1"/>
                </a:solidFill>
              </a:rPr>
              <a:t>avant le passé</a:t>
            </a:r>
            <a:r>
              <a:rPr lang="en-US" sz="1400" dirty="0">
                <a:solidFill>
                  <a:schemeClr val="tx1"/>
                </a:solidFill>
              </a:rPr>
              <a:t> = </a:t>
            </a:r>
            <a:r>
              <a:rPr lang="en-US" sz="1400" i="1" dirty="0">
                <a:solidFill>
                  <a:schemeClr val="tx1"/>
                </a:solidFill>
              </a:rPr>
              <a:t>had / was</a:t>
            </a:r>
            <a:r>
              <a:rPr lang="en-US" sz="1400" dirty="0">
                <a:solidFill>
                  <a:schemeClr val="tx1"/>
                </a:solidFill>
              </a:rPr>
              <a:t> + participe : </a:t>
            </a:r>
            <a:r>
              <a:rPr lang="en-US" sz="1400" i="1" dirty="0">
                <a:solidFill>
                  <a:schemeClr val="tx1"/>
                </a:solidFill>
              </a:rPr>
              <a:t>Toen ik aankwam, was hij al vertrokken.</a:t>
            </a:r>
            <a:endParaRPr lang="en-US" sz="1400" dirty="0"/>
          </a:p>
        </p:txBody>
      </p:sp>
      <p:sp>
        <p:nvSpPr>
          <p:cNvPr id="46" name="Shape 40"/>
          <p:cNvSpPr/>
          <p:nvPr/>
        </p:nvSpPr>
        <p:spPr>
          <a:xfrm>
            <a:off x="5897880" y="4123944"/>
            <a:ext cx="5742432" cy="795528"/>
          </a:xfrm>
          <a:prstGeom prst="roundRect">
            <a:avLst>
              <a:gd name="adj" fmla="val 1149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47" name="Image 3" descr="crystal ball">    </p:cNvPr>
          <p:cNvPicPr>
            <a:picLocks noChangeAspect="1"/>
          </p:cNvPicPr>
          <p:nvPr/>
        </p:nvPicPr>
        <p:blipFill>
          <a:blip r:embed="rId4"/>
          <a:stretch>
            <a:fillRect/>
          </a:stretch>
        </p:blipFill>
        <p:spPr>
          <a:xfrm>
            <a:off x="6016752" y="4251960"/>
            <a:ext cx="548640" cy="548640"/>
          </a:xfrm>
          <a:prstGeom prst="rect">
            <a:avLst/>
          </a:prstGeom>
        </p:spPr>
      </p:pic>
      <p:sp>
        <p:nvSpPr>
          <p:cNvPr id="48" name="Text 41"/>
          <p:cNvSpPr txBox="1"/>
          <p:nvPr/>
        </p:nvSpPr>
        <p:spPr>
          <a:xfrm>
            <a:off x="6720840" y="4123944"/>
            <a:ext cx="4800600" cy="795528"/>
          </a:xfrm>
          <a:prstGeom prst="rect">
            <a:avLst/>
          </a:prstGeom>
          <a:noFill/>
          <a:ln/>
        </p:spPr>
        <p:txBody>
          <a:bodyPr wrap="square" lIns="0" tIns="0" rIns="0" bIns="0" rtlCol="0" anchor="ctr"/>
          <a:lstStyle/>
          <a:p>
            <a:pPr algn="l" indent="0" marL="0">
              <a:buNone/>
            </a:pPr>
            <a:r>
              <a:rPr lang="en-US" sz="1400" b="1" dirty="0">
                <a:solidFill>
                  <a:schemeClr val="tx1"/>
                </a:solidFill>
              </a:rPr>
              <a:t>futur</a:t>
            </a:r>
            <a:r>
              <a:rPr lang="en-US" sz="1400" dirty="0">
                <a:solidFill>
                  <a:schemeClr val="tx1"/>
                </a:solidFill>
              </a:rPr>
              <a:t> = presens + marqueur (souvent), </a:t>
            </a:r>
            <a:r>
              <a:rPr lang="en-US" sz="1400" i="1" dirty="0">
                <a:solidFill>
                  <a:schemeClr val="tx1"/>
                </a:solidFill>
              </a:rPr>
              <a:t>gaan</a:t>
            </a:r>
            <a:r>
              <a:rPr lang="en-US" sz="1400" dirty="0">
                <a:solidFill>
                  <a:schemeClr val="tx1"/>
                </a:solidFill>
              </a:rPr>
              <a:t>, </a:t>
            </a:r>
            <a:r>
              <a:rPr lang="en-US" sz="1400" i="1" dirty="0">
                <a:solidFill>
                  <a:schemeClr val="tx1"/>
                </a:solidFill>
              </a:rPr>
              <a:t>zullen</a:t>
            </a:r>
            <a:endParaRPr lang="en-US" sz="1400" dirty="0"/>
          </a:p>
        </p:txBody>
      </p:sp>
      <p:sp>
        <p:nvSpPr>
          <p:cNvPr id="49" name="Shape 42"/>
          <p:cNvSpPr/>
          <p:nvPr/>
        </p:nvSpPr>
        <p:spPr>
          <a:xfrm>
            <a:off x="5897880" y="5010912"/>
            <a:ext cx="5742432" cy="795528"/>
          </a:xfrm>
          <a:prstGeom prst="roundRect">
            <a:avLst>
              <a:gd name="adj" fmla="val 1149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50" name="Image 4" descr="thought balloon">    </p:cNvPr>
          <p:cNvPicPr>
            <a:picLocks noChangeAspect="1"/>
          </p:cNvPicPr>
          <p:nvPr/>
        </p:nvPicPr>
        <p:blipFill>
          <a:blip r:embed="rId5"/>
          <a:stretch>
            <a:fillRect/>
          </a:stretch>
        </p:blipFill>
        <p:spPr>
          <a:xfrm>
            <a:off x="6016752" y="5138928"/>
            <a:ext cx="548640" cy="548640"/>
          </a:xfrm>
          <a:prstGeom prst="rect">
            <a:avLst/>
          </a:prstGeom>
        </p:spPr>
      </p:pic>
      <p:sp>
        <p:nvSpPr>
          <p:cNvPr id="51" name="Text 43"/>
          <p:cNvSpPr txBox="1"/>
          <p:nvPr/>
        </p:nvSpPr>
        <p:spPr>
          <a:xfrm>
            <a:off x="6720840" y="5010912"/>
            <a:ext cx="4800600" cy="795528"/>
          </a:xfrm>
          <a:prstGeom prst="rect">
            <a:avLst/>
          </a:prstGeom>
          <a:noFill/>
          <a:ln/>
        </p:spPr>
        <p:txBody>
          <a:bodyPr wrap="square" lIns="0" tIns="0" rIns="0" bIns="0" rtlCol="0" anchor="ctr"/>
          <a:lstStyle/>
          <a:p>
            <a:pPr algn="l" indent="0" marL="0">
              <a:buNone/>
            </a:pPr>
            <a:r>
              <a:rPr lang="en-US" sz="1400" b="1" dirty="0">
                <a:solidFill>
                  <a:schemeClr val="tx1"/>
                </a:solidFill>
              </a:rPr>
              <a:t>imaginaire</a:t>
            </a:r>
            <a:r>
              <a:rPr lang="en-US" sz="1400" dirty="0">
                <a:solidFill>
                  <a:schemeClr val="tx1"/>
                </a:solidFill>
              </a:rPr>
              <a:t> = </a:t>
            </a:r>
            <a:r>
              <a:rPr lang="en-US" sz="1400" i="1" dirty="0">
                <a:solidFill>
                  <a:schemeClr val="tx1"/>
                </a:solidFill>
              </a:rPr>
              <a:t>zou</a:t>
            </a:r>
            <a:r>
              <a:rPr lang="en-US" sz="1400" dirty="0">
                <a:solidFill>
                  <a:schemeClr val="tx1"/>
                </a:solidFill>
              </a:rPr>
              <a:t> · </a:t>
            </a:r>
            <a:r>
              <a:rPr lang="en-US" sz="1400" b="1" dirty="0">
                <a:solidFill>
                  <a:schemeClr val="tx1"/>
                </a:solidFill>
              </a:rPr>
              <a:t>si</a:t>
            </a:r>
            <a:r>
              <a:rPr lang="en-US" sz="1400" dirty="0">
                <a:solidFill>
                  <a:schemeClr val="tx1"/>
                </a:solidFill>
              </a:rPr>
              <a:t> = </a:t>
            </a:r>
            <a:r>
              <a:rPr lang="en-US" sz="1400" i="1" dirty="0">
                <a:solidFill>
                  <a:schemeClr val="tx1"/>
                </a:solidFill>
              </a:rPr>
              <a:t>als</a:t>
            </a:r>
            <a:r>
              <a:rPr lang="en-US" sz="1400" dirty="0">
                <a:solidFill>
                  <a:schemeClr val="tx1"/>
                </a:solidFill>
              </a:rPr>
              <a:t> + imperfectum · </a:t>
            </a:r>
            <a:r>
              <a:rPr lang="en-US" sz="1400" b="1" dirty="0">
                <a:solidFill>
                  <a:schemeClr val="tx1"/>
                </a:solidFill>
              </a:rPr>
              <a:t>regret</a:t>
            </a:r>
            <a:r>
              <a:rPr lang="en-US" sz="1400" dirty="0">
                <a:solidFill>
                  <a:schemeClr val="tx1"/>
                </a:solidFill>
              </a:rPr>
              <a:t> = </a:t>
            </a:r>
            <a:r>
              <a:rPr lang="en-US" sz="1400" i="1" dirty="0">
                <a:solidFill>
                  <a:schemeClr val="tx1"/>
                </a:solidFill>
              </a:rPr>
              <a:t>had moeten</a:t>
            </a:r>
            <a:endParaRPr lang="en-US" sz="1400" dirty="0"/>
          </a:p>
        </p:txBody>
      </p:sp>
      <p:pic>
        <p:nvPicPr>
          <p:cNvPr id="52" name="Image 5" descr="Camera">    </p:cNvPr>
          <p:cNvPicPr>
            <a:picLocks noChangeAspect="1"/>
          </p:cNvPicPr>
          <p:nvPr/>
        </p:nvPicPr>
        <p:blipFill>
          <a:blip r:embed="rId6"/>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MapMarkerAlt">    </p:cNvPr>
          <p:cNvPicPr>
            <a:picLocks noChangeAspect="1"/>
          </p:cNvPicPr>
          <p:nvPr/>
        </p:nvPicPr>
        <p:blipFill>
          <a:blip r:embed="rId1"/>
          <a:stretch>
            <a:fillRect/>
          </a:stretch>
        </p:blipFill>
        <p:spPr>
          <a:xfrm>
            <a:off x="1379220" y="2770632"/>
            <a:ext cx="384048" cy="384048"/>
          </a:xfrm>
          <a:prstGeom prst="rect">
            <a:avLst/>
          </a:prstGeom>
        </p:spPr>
      </p:pic>
      <p:sp>
        <p:nvSpPr>
          <p:cNvPr id="10" name="Text 6"/>
          <p:cNvSpPr txBox="1"/>
          <p:nvPr/>
        </p:nvSpPr>
        <p:spPr>
          <a:xfrm>
            <a:off x="685800" y="32644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Sur la ligne</a:t>
            </a:r>
            <a:endParaRPr lang="en-US" sz="1600" dirty="0"/>
          </a:p>
        </p:txBody>
      </p:sp>
      <p:sp>
        <p:nvSpPr>
          <p:cNvPr id="11" name="Text 7"/>
          <p:cNvSpPr txBox="1"/>
          <p:nvPr/>
        </p:nvSpPr>
        <p:spPr>
          <a:xfrm>
            <a:off x="685800" y="38404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156460" y="26060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13" name="Shape 9"/>
          <p:cNvSpPr/>
          <p:nvPr/>
        </p:nvSpPr>
        <p:spPr>
          <a:xfrm>
            <a:off x="229362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229362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Table">    </p:cNvPr>
          <p:cNvPicPr>
            <a:picLocks noChangeAspect="1"/>
          </p:cNvPicPr>
          <p:nvPr/>
        </p:nvPicPr>
        <p:blipFill>
          <a:blip r:embed="rId2"/>
          <a:stretch>
            <a:fillRect/>
          </a:stretch>
        </p:blipFill>
        <p:spPr>
          <a:xfrm>
            <a:off x="2987040" y="2770632"/>
            <a:ext cx="384048" cy="384048"/>
          </a:xfrm>
          <a:prstGeom prst="rect">
            <a:avLst/>
          </a:prstGeom>
        </p:spPr>
      </p:pic>
      <p:sp>
        <p:nvSpPr>
          <p:cNvPr id="16" name="Text 11"/>
          <p:cNvSpPr txBox="1"/>
          <p:nvPr/>
        </p:nvSpPr>
        <p:spPr>
          <a:xfrm>
            <a:off x="2293620" y="32644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Huit temps</a:t>
            </a:r>
            <a:endParaRPr lang="en-US" sz="1600" dirty="0"/>
          </a:p>
        </p:txBody>
      </p:sp>
      <p:sp>
        <p:nvSpPr>
          <p:cNvPr id="17" name="Text 12"/>
          <p:cNvSpPr txBox="1"/>
          <p:nvPr/>
        </p:nvSpPr>
        <p:spPr>
          <a:xfrm>
            <a:off x="2293620" y="38404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3764280" y="26060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19" name="Shape 14"/>
          <p:cNvSpPr/>
          <p:nvPr/>
        </p:nvSpPr>
        <p:spPr>
          <a:xfrm>
            <a:off x="390144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390144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Camera">    </p:cNvPr>
          <p:cNvPicPr>
            <a:picLocks noChangeAspect="1"/>
          </p:cNvPicPr>
          <p:nvPr/>
        </p:nvPicPr>
        <p:blipFill>
          <a:blip r:embed="rId3"/>
          <a:stretch>
            <a:fillRect/>
          </a:stretch>
        </p:blipFill>
        <p:spPr>
          <a:xfrm>
            <a:off x="4594860" y="2770632"/>
            <a:ext cx="384048" cy="384048"/>
          </a:xfrm>
          <a:prstGeom prst="rect">
            <a:avLst/>
          </a:prstGeom>
        </p:spPr>
      </p:pic>
      <p:sp>
        <p:nvSpPr>
          <p:cNvPr id="22" name="Text 16"/>
          <p:cNvSpPr txBox="1"/>
          <p:nvPr/>
        </p:nvSpPr>
        <p:spPr>
          <a:xfrm>
            <a:off x="3901440" y="32644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Photo ou film ?</a:t>
            </a:r>
            <a:endParaRPr lang="en-US" sz="1600" dirty="0"/>
          </a:p>
        </p:txBody>
      </p:sp>
      <p:sp>
        <p:nvSpPr>
          <p:cNvPr id="23" name="Text 17"/>
          <p:cNvSpPr txBox="1"/>
          <p:nvPr/>
        </p:nvSpPr>
        <p:spPr>
          <a:xfrm>
            <a:off x="3901440" y="38404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5372100" y="26060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25" name="Shape 19"/>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HourglassHalf">    </p:cNvPr>
          <p:cNvPicPr>
            <a:picLocks noChangeAspect="1"/>
          </p:cNvPicPr>
          <p:nvPr/>
        </p:nvPicPr>
        <p:blipFill>
          <a:blip r:embed="rId4"/>
          <a:stretch>
            <a:fillRect/>
          </a:stretch>
        </p:blipFill>
        <p:spPr>
          <a:xfrm>
            <a:off x="6202680" y="2770632"/>
            <a:ext cx="384048" cy="384048"/>
          </a:xfrm>
          <a:prstGeom prst="rect">
            <a:avLst/>
          </a:prstGeom>
        </p:spPr>
      </p:pic>
      <p:sp>
        <p:nvSpPr>
          <p:cNvPr id="28" name="Text 21"/>
          <p:cNvSpPr txBox="1"/>
          <p:nvPr/>
        </p:nvSpPr>
        <p:spPr>
          <a:xfrm>
            <a:off x="5509260" y="32644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Depuis, venir de</a:t>
            </a:r>
            <a:endParaRPr lang="en-US" sz="1600" dirty="0"/>
          </a:p>
        </p:txBody>
      </p:sp>
      <p:sp>
        <p:nvSpPr>
          <p:cNvPr id="29" name="Text 22"/>
          <p:cNvSpPr txBox="1"/>
          <p:nvPr/>
        </p:nvSpPr>
        <p:spPr>
          <a:xfrm>
            <a:off x="5509260" y="38404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6979920" y="26060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31" name="Shape 24"/>
          <p:cNvSpPr/>
          <p:nvPr/>
        </p:nvSpPr>
        <p:spPr>
          <a:xfrm>
            <a:off x="7117080" y="27432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711708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Rocket">    </p:cNvPr>
          <p:cNvPicPr>
            <a:picLocks noChangeAspect="1"/>
          </p:cNvPicPr>
          <p:nvPr/>
        </p:nvPicPr>
        <p:blipFill>
          <a:blip r:embed="rId5"/>
          <a:stretch>
            <a:fillRect/>
          </a:stretch>
        </p:blipFill>
        <p:spPr>
          <a:xfrm>
            <a:off x="7810500" y="2770632"/>
            <a:ext cx="384048" cy="384048"/>
          </a:xfrm>
          <a:prstGeom prst="rect">
            <a:avLst/>
          </a:prstGeom>
        </p:spPr>
      </p:pic>
      <p:sp>
        <p:nvSpPr>
          <p:cNvPr id="34" name="Text 26"/>
          <p:cNvSpPr txBox="1"/>
          <p:nvPr/>
        </p:nvSpPr>
        <p:spPr>
          <a:xfrm>
            <a:off x="7117080" y="32644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Quel futur ?</a:t>
            </a:r>
            <a:endParaRPr lang="en-US" sz="1600" dirty="0"/>
          </a:p>
        </p:txBody>
      </p:sp>
      <p:sp>
        <p:nvSpPr>
          <p:cNvPr id="35" name="Text 27"/>
          <p:cNvSpPr txBox="1"/>
          <p:nvPr/>
        </p:nvSpPr>
        <p:spPr>
          <a:xfrm>
            <a:off x="7117080" y="38404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8587740" y="26060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37" name="Shape 29"/>
          <p:cNvSpPr/>
          <p:nvPr/>
        </p:nvSpPr>
        <p:spPr>
          <a:xfrm>
            <a:off x="8724900" y="27432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87249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History">    </p:cNvPr>
          <p:cNvPicPr>
            <a:picLocks noChangeAspect="1"/>
          </p:cNvPicPr>
          <p:nvPr/>
        </p:nvPicPr>
        <p:blipFill>
          <a:blip r:embed="rId6"/>
          <a:stretch>
            <a:fillRect/>
          </a:stretch>
        </p:blipFill>
        <p:spPr>
          <a:xfrm>
            <a:off x="9418320" y="2770632"/>
            <a:ext cx="384048" cy="384048"/>
          </a:xfrm>
          <a:prstGeom prst="rect">
            <a:avLst/>
          </a:prstGeom>
        </p:spPr>
      </p:pic>
      <p:sp>
        <p:nvSpPr>
          <p:cNvPr id="40" name="Text 31"/>
          <p:cNvSpPr txBox="1"/>
          <p:nvPr/>
        </p:nvSpPr>
        <p:spPr>
          <a:xfrm>
            <a:off x="8724900" y="32644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Avant ou après ?</a:t>
            </a:r>
            <a:endParaRPr lang="en-US" sz="1600" dirty="0"/>
          </a:p>
        </p:txBody>
      </p:sp>
      <p:sp>
        <p:nvSpPr>
          <p:cNvPr id="41" name="Text 32"/>
          <p:cNvSpPr txBox="1"/>
          <p:nvPr/>
        </p:nvSpPr>
        <p:spPr>
          <a:xfrm>
            <a:off x="8724900" y="38404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48640" y="44348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43" name="Shape 3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loud">    </p:cNvPr>
          <p:cNvPicPr>
            <a:picLocks noChangeAspect="1"/>
          </p:cNvPicPr>
          <p:nvPr/>
        </p:nvPicPr>
        <p:blipFill>
          <a:blip r:embed="rId7"/>
          <a:stretch>
            <a:fillRect/>
          </a:stretch>
        </p:blipFill>
        <p:spPr>
          <a:xfrm>
            <a:off x="1379220" y="4599432"/>
            <a:ext cx="384048" cy="384048"/>
          </a:xfrm>
          <a:prstGeom prst="rect">
            <a:avLst/>
          </a:prstGeom>
        </p:spPr>
      </p:pic>
      <p:sp>
        <p:nvSpPr>
          <p:cNvPr id="46" name="Text 36"/>
          <p:cNvSpPr txBox="1"/>
          <p:nvPr/>
        </p:nvSpPr>
        <p:spPr>
          <a:xfrm>
            <a:off x="685800" y="50932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Si… si… si…</a:t>
            </a:r>
            <a:endParaRPr lang="en-US" sz="1600" dirty="0"/>
          </a:p>
        </p:txBody>
      </p:sp>
      <p:sp>
        <p:nvSpPr>
          <p:cNvPr id="47" name="Text 37"/>
          <p:cNvSpPr txBox="1"/>
          <p:nvPr/>
        </p:nvSpPr>
        <p:spPr>
          <a:xfrm>
            <a:off x="685800" y="56692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8" name="Shape 38"/>
          <p:cNvSpPr/>
          <p:nvPr/>
        </p:nvSpPr>
        <p:spPr>
          <a:xfrm>
            <a:off x="2156460" y="44348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49" name="Shape 39"/>
          <p:cNvSpPr/>
          <p:nvPr/>
        </p:nvSpPr>
        <p:spPr>
          <a:xfrm>
            <a:off x="2293620" y="4572000"/>
            <a:ext cx="438912" cy="438912"/>
          </a:xfrm>
          <a:prstGeom prst="ellipse">
            <a:avLst/>
          </a:prstGeom>
          <a:solidFill>
            <a:schemeClr val="accent1"/>
          </a:solidFill>
          <a:ln w="12700">
            <a:solidFill>
              <a:srgbClr val="FFFFFF">
                <a:alpha val="0"/>
              </a:srgbClr>
            </a:solidFill>
            <a:prstDash val="solid"/>
          </a:ln>
        </p:spPr>
      </p:sp>
      <p:sp>
        <p:nvSpPr>
          <p:cNvPr id="50" name="Text 40"/>
          <p:cNvSpPr txBox="1"/>
          <p:nvPr/>
        </p:nvSpPr>
        <p:spPr>
          <a:xfrm>
            <a:off x="229362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pic>
        <p:nvPicPr>
          <p:cNvPr id="51" name="Image 7" descr="Language">    </p:cNvPr>
          <p:cNvPicPr>
            <a:picLocks noChangeAspect="1"/>
          </p:cNvPicPr>
          <p:nvPr/>
        </p:nvPicPr>
        <p:blipFill>
          <a:blip r:embed="rId8"/>
          <a:stretch>
            <a:fillRect/>
          </a:stretch>
        </p:blipFill>
        <p:spPr>
          <a:xfrm>
            <a:off x="2987040" y="4599432"/>
            <a:ext cx="384048" cy="384048"/>
          </a:xfrm>
          <a:prstGeom prst="rect">
            <a:avLst/>
          </a:prstGeom>
        </p:spPr>
      </p:pic>
      <p:sp>
        <p:nvSpPr>
          <p:cNvPr id="52" name="Text 41"/>
          <p:cNvSpPr txBox="1"/>
          <p:nvPr/>
        </p:nvSpPr>
        <p:spPr>
          <a:xfrm>
            <a:off x="2293620" y="50932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FR → NL</a:t>
            </a:r>
            <a:endParaRPr lang="en-US" sz="1600" dirty="0"/>
          </a:p>
        </p:txBody>
      </p:sp>
      <p:sp>
        <p:nvSpPr>
          <p:cNvPr id="53" name="Text 42"/>
          <p:cNvSpPr txBox="1"/>
          <p:nvPr/>
        </p:nvSpPr>
        <p:spPr>
          <a:xfrm>
            <a:off x="2293620" y="56692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54" name="Shape 43"/>
          <p:cNvSpPr/>
          <p:nvPr/>
        </p:nvSpPr>
        <p:spPr>
          <a:xfrm>
            <a:off x="3764280" y="44348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55" name="Shape 44"/>
          <p:cNvSpPr/>
          <p:nvPr/>
        </p:nvSpPr>
        <p:spPr>
          <a:xfrm>
            <a:off x="3901440" y="4572000"/>
            <a:ext cx="438912" cy="438912"/>
          </a:xfrm>
          <a:prstGeom prst="ellipse">
            <a:avLst/>
          </a:prstGeom>
          <a:solidFill>
            <a:schemeClr val="accent1"/>
          </a:solidFill>
          <a:ln w="12700">
            <a:solidFill>
              <a:srgbClr val="FFFFFF">
                <a:alpha val="0"/>
              </a:srgbClr>
            </a:solidFill>
            <a:prstDash val="solid"/>
          </a:ln>
        </p:spPr>
      </p:sp>
      <p:sp>
        <p:nvSpPr>
          <p:cNvPr id="56" name="Text 45"/>
          <p:cNvSpPr txBox="1"/>
          <p:nvPr/>
        </p:nvSpPr>
        <p:spPr>
          <a:xfrm>
            <a:off x="390144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pic>
        <p:nvPicPr>
          <p:cNvPr id="57" name="Image 8" descr="Search">    </p:cNvPr>
          <p:cNvPicPr>
            <a:picLocks noChangeAspect="1"/>
          </p:cNvPicPr>
          <p:nvPr/>
        </p:nvPicPr>
        <p:blipFill>
          <a:blip r:embed="rId9"/>
          <a:stretch>
            <a:fillRect/>
          </a:stretch>
        </p:blipFill>
        <p:spPr>
          <a:xfrm>
            <a:off x="4594860" y="4599432"/>
            <a:ext cx="384048" cy="384048"/>
          </a:xfrm>
          <a:prstGeom prst="rect">
            <a:avLst/>
          </a:prstGeom>
        </p:spPr>
      </p:pic>
      <p:sp>
        <p:nvSpPr>
          <p:cNvPr id="58" name="Text 46"/>
          <p:cNvSpPr txBox="1"/>
          <p:nvPr/>
        </p:nvSpPr>
        <p:spPr>
          <a:xfrm>
            <a:off x="3901440" y="50932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59" name="Text 47"/>
          <p:cNvSpPr txBox="1"/>
          <p:nvPr/>
        </p:nvSpPr>
        <p:spPr>
          <a:xfrm>
            <a:off x="3901440" y="56692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60" name="Shape 48"/>
          <p:cNvSpPr/>
          <p:nvPr/>
        </p:nvSpPr>
        <p:spPr>
          <a:xfrm>
            <a:off x="5372100" y="44348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61" name="Shape 49"/>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62" name="Text 50"/>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pic>
        <p:nvPicPr>
          <p:cNvPr id="63" name="Image 9" descr="SyncAlt">    </p:cNvPr>
          <p:cNvPicPr>
            <a:picLocks noChangeAspect="1"/>
          </p:cNvPicPr>
          <p:nvPr/>
        </p:nvPicPr>
        <p:blipFill>
          <a:blip r:embed="rId10"/>
          <a:stretch>
            <a:fillRect/>
          </a:stretch>
        </p:blipFill>
        <p:spPr>
          <a:xfrm>
            <a:off x="6202680" y="4599432"/>
            <a:ext cx="384048" cy="384048"/>
          </a:xfrm>
          <a:prstGeom prst="rect">
            <a:avLst/>
          </a:prstGeom>
        </p:spPr>
      </p:pic>
      <p:sp>
        <p:nvSpPr>
          <p:cNvPr id="64" name="Text 51"/>
          <p:cNvSpPr txBox="1"/>
          <p:nvPr/>
        </p:nvSpPr>
        <p:spPr>
          <a:xfrm>
            <a:off x="5509260" y="50932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La roue du temps</a:t>
            </a:r>
            <a:endParaRPr lang="en-US" sz="1600" dirty="0"/>
          </a:p>
        </p:txBody>
      </p:sp>
      <p:sp>
        <p:nvSpPr>
          <p:cNvPr id="65" name="Text 52"/>
          <p:cNvSpPr txBox="1"/>
          <p:nvPr/>
        </p:nvSpPr>
        <p:spPr>
          <a:xfrm>
            <a:off x="5509260" y="56692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66" name="Shape 53"/>
          <p:cNvSpPr/>
          <p:nvPr/>
        </p:nvSpPr>
        <p:spPr>
          <a:xfrm>
            <a:off x="6979920" y="4434840"/>
            <a:ext cx="1379220" cy="1600200"/>
          </a:xfrm>
          <a:prstGeom prst="roundRect">
            <a:avLst>
              <a:gd name="adj" fmla="val 5304"/>
            </a:avLst>
          </a:prstGeom>
          <a:solidFill>
            <a:srgbClr val="FFFFFF">
              <a:alpha val="12000"/>
            </a:srgbClr>
          </a:solidFill>
          <a:ln w="12700">
            <a:solidFill>
              <a:srgbClr val="FFFFFF">
                <a:alpha val="50000"/>
              </a:srgbClr>
            </a:solidFill>
            <a:prstDash val="solid"/>
          </a:ln>
        </p:spPr>
      </p:sp>
      <p:sp>
        <p:nvSpPr>
          <p:cNvPr id="67" name="Shape 54"/>
          <p:cNvSpPr/>
          <p:nvPr/>
        </p:nvSpPr>
        <p:spPr>
          <a:xfrm>
            <a:off x="7117080" y="4572000"/>
            <a:ext cx="438912" cy="438912"/>
          </a:xfrm>
          <a:prstGeom prst="ellipse">
            <a:avLst/>
          </a:prstGeom>
          <a:solidFill>
            <a:schemeClr val="accent1"/>
          </a:solidFill>
          <a:ln w="12700">
            <a:solidFill>
              <a:srgbClr val="FFFFFF">
                <a:alpha val="0"/>
              </a:srgbClr>
            </a:solidFill>
            <a:prstDash val="solid"/>
          </a:ln>
        </p:spPr>
      </p:sp>
      <p:sp>
        <p:nvSpPr>
          <p:cNvPr id="68" name="Text 55"/>
          <p:cNvSpPr txBox="1"/>
          <p:nvPr/>
        </p:nvSpPr>
        <p:spPr>
          <a:xfrm>
            <a:off x="711708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pic>
        <p:nvPicPr>
          <p:cNvPr id="69" name="Image 10" descr="Microphone">    </p:cNvPr>
          <p:cNvPicPr>
            <a:picLocks noChangeAspect="1"/>
          </p:cNvPicPr>
          <p:nvPr/>
        </p:nvPicPr>
        <p:blipFill>
          <a:blip r:embed="rId11"/>
          <a:stretch>
            <a:fillRect/>
          </a:stretch>
        </p:blipFill>
        <p:spPr>
          <a:xfrm>
            <a:off x="7810500" y="4599432"/>
            <a:ext cx="384048" cy="384048"/>
          </a:xfrm>
          <a:prstGeom prst="rect">
            <a:avLst/>
          </a:prstGeom>
        </p:spPr>
      </p:pic>
      <p:sp>
        <p:nvSpPr>
          <p:cNvPr id="70" name="Text 56"/>
          <p:cNvSpPr txBox="1"/>
          <p:nvPr/>
        </p:nvSpPr>
        <p:spPr>
          <a:xfrm>
            <a:off x="7117080" y="5093208"/>
            <a:ext cx="1104900" cy="621792"/>
          </a:xfrm>
          <a:prstGeom prst="rect">
            <a:avLst/>
          </a:prstGeom>
          <a:noFill/>
          <a:ln/>
        </p:spPr>
        <p:txBody>
          <a:bodyPr wrap="square" lIns="0" tIns="0" rIns="0" bIns="0" rtlCol="0" anchor="t"/>
          <a:lstStyle/>
          <a:p>
            <a:pPr algn="l" indent="0" marL="0">
              <a:buNone/>
            </a:pPr>
            <a:r>
              <a:rPr lang="en-US" sz="1600" b="1" dirty="0">
                <a:solidFill>
                  <a:schemeClr val="bg1"/>
                </a:solidFill>
              </a:rPr>
              <a:t>Mon parcours</a:t>
            </a:r>
            <a:endParaRPr lang="en-US" sz="1600" dirty="0"/>
          </a:p>
        </p:txBody>
      </p:sp>
      <p:sp>
        <p:nvSpPr>
          <p:cNvPr id="71" name="Text 57"/>
          <p:cNvSpPr txBox="1"/>
          <p:nvPr/>
        </p:nvSpPr>
        <p:spPr>
          <a:xfrm>
            <a:off x="7117080" y="5669280"/>
            <a:ext cx="110490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72" name="Image 11" descr="man teacher">    </p:cNvPr>
          <p:cNvPicPr>
            <a:picLocks noChangeAspect="1"/>
          </p:cNvPicPr>
          <p:nvPr/>
        </p:nvPicPr>
        <p:blipFill>
          <a:blip r:embed="rId12"/>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Sur la ligne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Dans quelle zone est l’action du verbe rouge ? Écrivez le numéro, puis le nom du temps.</a:t>
            </a:r>
            <a:endParaRPr lang="en-US" sz="1700" dirty="0"/>
          </a:p>
        </p:txBody>
      </p:sp>
      <p:sp>
        <p:nvSpPr>
          <p:cNvPr id="8" name="Shape 4"/>
          <p:cNvSpPr/>
          <p:nvPr/>
        </p:nvSpPr>
        <p:spPr>
          <a:xfrm>
            <a:off x="9281160" y="1886712"/>
            <a:ext cx="2331720" cy="566928"/>
          </a:xfrm>
          <a:prstGeom prst="cloud">
            <a:avLst/>
          </a:prstGeom>
          <a:solidFill>
            <a:srgbClr val="F1ECF7"/>
          </a:solidFill>
          <a:ln w="12700">
            <a:solidFill>
              <a:srgbClr val="6E4A9E"/>
            </a:solidFill>
            <a:prstDash val="solid"/>
          </a:ln>
        </p:spPr>
      </p:sp>
      <p:sp>
        <p:nvSpPr>
          <p:cNvPr id="9" name="Text 5"/>
          <p:cNvSpPr txBox="1"/>
          <p:nvPr/>
        </p:nvSpPr>
        <p:spPr>
          <a:xfrm>
            <a:off x="9281160" y="1886712"/>
            <a:ext cx="2331720" cy="566928"/>
          </a:xfrm>
          <a:prstGeom prst="rect">
            <a:avLst/>
          </a:prstGeom>
          <a:noFill/>
          <a:ln/>
        </p:spPr>
        <p:txBody>
          <a:bodyPr wrap="square" lIns="0" tIns="0" rIns="0" bIns="0" rtlCol="0" anchor="ctr"/>
          <a:lstStyle/>
          <a:p>
            <a:pPr algn="ctr" indent="0" marL="0">
              <a:buNone/>
            </a:pPr>
            <a:r>
              <a:rPr lang="en-US" sz="1300" b="1" dirty="0">
                <a:solidFill>
                  <a:srgbClr val="6E4A9E"/>
                </a:solidFill>
              </a:rPr>
              <a:t>⑤ imaginaire</a:t>
            </a:r>
            <a:endParaRPr lang="en-US" sz="1300" dirty="0"/>
          </a:p>
        </p:txBody>
      </p:sp>
      <p:sp>
        <p:nvSpPr>
          <p:cNvPr id="10" name="Shape 6"/>
          <p:cNvSpPr/>
          <p:nvPr/>
        </p:nvSpPr>
        <p:spPr>
          <a:xfrm>
            <a:off x="822960" y="2526792"/>
            <a:ext cx="1828800" cy="182880"/>
          </a:xfrm>
          <a:prstGeom prst="rect">
            <a:avLst/>
          </a:prstGeom>
          <a:solidFill>
            <a:srgbClr val="7A1748"/>
          </a:solidFill>
          <a:ln w="12700">
            <a:solidFill>
              <a:srgbClr val="FFFFFF">
                <a:alpha val="0"/>
              </a:srgbClr>
            </a:solidFill>
            <a:prstDash val="solid"/>
          </a:ln>
        </p:spPr>
      </p:sp>
      <p:sp>
        <p:nvSpPr>
          <p:cNvPr id="11" name="Text 7"/>
          <p:cNvSpPr txBox="1"/>
          <p:nvPr/>
        </p:nvSpPr>
        <p:spPr>
          <a:xfrm>
            <a:off x="822960" y="2764536"/>
            <a:ext cx="1828800" cy="292608"/>
          </a:xfrm>
          <a:prstGeom prst="rect">
            <a:avLst/>
          </a:prstGeom>
          <a:noFill/>
          <a:ln/>
        </p:spPr>
        <p:txBody>
          <a:bodyPr wrap="square" lIns="0" tIns="0" rIns="0" bIns="0" rtlCol="0" anchor="ctr"/>
          <a:lstStyle/>
          <a:p>
            <a:pPr algn="ctr" indent="0" marL="0">
              <a:buNone/>
            </a:pPr>
            <a:r>
              <a:rPr lang="en-US" sz="1300" b="1" i="1" dirty="0">
                <a:solidFill>
                  <a:srgbClr val="7A1748"/>
                </a:solidFill>
              </a:rPr>
              <a:t>① avant le passé</a:t>
            </a:r>
            <a:endParaRPr lang="en-US" sz="1300" dirty="0"/>
          </a:p>
        </p:txBody>
      </p:sp>
      <p:sp>
        <p:nvSpPr>
          <p:cNvPr id="12" name="Shape 8"/>
          <p:cNvSpPr/>
          <p:nvPr/>
        </p:nvSpPr>
        <p:spPr>
          <a:xfrm>
            <a:off x="2743200" y="2526792"/>
            <a:ext cx="3749040" cy="182880"/>
          </a:xfrm>
          <a:prstGeom prst="rect">
            <a:avLst/>
          </a:prstGeom>
          <a:solidFill>
            <a:schemeClr val="accent4"/>
          </a:solidFill>
          <a:ln w="12700">
            <a:solidFill>
              <a:srgbClr val="FFFFFF">
                <a:alpha val="0"/>
              </a:srgbClr>
            </a:solidFill>
            <a:prstDash val="solid"/>
          </a:ln>
        </p:spPr>
      </p:sp>
      <p:sp>
        <p:nvSpPr>
          <p:cNvPr id="13" name="Text 9"/>
          <p:cNvSpPr txBox="1"/>
          <p:nvPr/>
        </p:nvSpPr>
        <p:spPr>
          <a:xfrm>
            <a:off x="2743200" y="2764536"/>
            <a:ext cx="3749040" cy="292608"/>
          </a:xfrm>
          <a:prstGeom prst="rect">
            <a:avLst/>
          </a:prstGeom>
          <a:noFill/>
          <a:ln/>
        </p:spPr>
        <p:txBody>
          <a:bodyPr wrap="square" lIns="0" tIns="0" rIns="0" bIns="0" rtlCol="0" anchor="ctr"/>
          <a:lstStyle/>
          <a:p>
            <a:pPr algn="ctr" indent="0" marL="0">
              <a:buNone/>
            </a:pPr>
            <a:r>
              <a:rPr lang="en-US" sz="1300" b="1" i="1" dirty="0">
                <a:solidFill>
                  <a:schemeClr val="accent4"/>
                </a:solidFill>
              </a:rPr>
              <a:t>② passé</a:t>
            </a:r>
            <a:endParaRPr lang="en-US" sz="1300" dirty="0"/>
          </a:p>
        </p:txBody>
      </p:sp>
      <p:sp>
        <p:nvSpPr>
          <p:cNvPr id="14" name="Shape 10"/>
          <p:cNvSpPr/>
          <p:nvPr/>
        </p:nvSpPr>
        <p:spPr>
          <a:xfrm>
            <a:off x="6858000" y="2526792"/>
            <a:ext cx="4389120" cy="182880"/>
          </a:xfrm>
          <a:prstGeom prst="rect">
            <a:avLst/>
          </a:prstGeom>
          <a:solidFill>
            <a:schemeClr val="accent3"/>
          </a:solidFill>
          <a:ln w="12700">
            <a:solidFill>
              <a:srgbClr val="FFFFFF">
                <a:alpha val="0"/>
              </a:srgbClr>
            </a:solidFill>
            <a:prstDash val="solid"/>
          </a:ln>
        </p:spPr>
      </p:sp>
      <p:sp>
        <p:nvSpPr>
          <p:cNvPr id="15" name="Text 11"/>
          <p:cNvSpPr txBox="1"/>
          <p:nvPr/>
        </p:nvSpPr>
        <p:spPr>
          <a:xfrm>
            <a:off x="6858000" y="2764536"/>
            <a:ext cx="4389120" cy="292608"/>
          </a:xfrm>
          <a:prstGeom prst="rect">
            <a:avLst/>
          </a:prstGeom>
          <a:noFill/>
          <a:ln/>
        </p:spPr>
        <p:txBody>
          <a:bodyPr wrap="square" lIns="0" tIns="0" rIns="0" bIns="0" rtlCol="0" anchor="ctr"/>
          <a:lstStyle/>
          <a:p>
            <a:pPr algn="ctr" indent="0" marL="0">
              <a:buNone/>
            </a:pPr>
            <a:r>
              <a:rPr lang="en-US" sz="1300" b="1" i="1" dirty="0">
                <a:solidFill>
                  <a:schemeClr val="accent3"/>
                </a:solidFill>
              </a:rPr>
              <a:t>④ futur</a:t>
            </a:r>
            <a:endParaRPr lang="en-US" sz="1300" dirty="0"/>
          </a:p>
        </p:txBody>
      </p:sp>
      <p:sp>
        <p:nvSpPr>
          <p:cNvPr id="16" name="Shape 12"/>
          <p:cNvSpPr/>
          <p:nvPr/>
        </p:nvSpPr>
        <p:spPr>
          <a:xfrm>
            <a:off x="731520" y="2618232"/>
            <a:ext cx="10927080" cy="914"/>
          </a:xfrm>
          <a:prstGeom prst="line">
            <a:avLst/>
          </a:prstGeom>
          <a:noFill/>
          <a:ln w="31750">
            <a:solidFill>
              <a:srgbClr val="17375E"/>
            </a:solidFill>
            <a:prstDash val="solid"/>
            <a:tailEnd type="triangle"/>
          </a:ln>
        </p:spPr>
      </p:sp>
      <p:sp>
        <p:nvSpPr>
          <p:cNvPr id="17" name="Shape 13"/>
          <p:cNvSpPr/>
          <p:nvPr/>
        </p:nvSpPr>
        <p:spPr>
          <a:xfrm>
            <a:off x="6629400" y="2307336"/>
            <a:ext cx="91440" cy="621792"/>
          </a:xfrm>
          <a:prstGeom prst="rect">
            <a:avLst/>
          </a:prstGeom>
          <a:solidFill>
            <a:schemeClr val="accent6"/>
          </a:solidFill>
          <a:ln w="12700">
            <a:solidFill>
              <a:srgbClr val="FFFFFF">
                <a:alpha val="0"/>
              </a:srgbClr>
            </a:solidFill>
            <a:prstDash val="solid"/>
          </a:ln>
        </p:spPr>
      </p:sp>
      <p:sp>
        <p:nvSpPr>
          <p:cNvPr id="18" name="Text 14"/>
          <p:cNvSpPr txBox="1"/>
          <p:nvPr/>
        </p:nvSpPr>
        <p:spPr>
          <a:xfrm>
            <a:off x="6748272" y="2764536"/>
            <a:ext cx="1097280" cy="292608"/>
          </a:xfrm>
          <a:prstGeom prst="rect">
            <a:avLst/>
          </a:prstGeom>
          <a:noFill/>
          <a:ln/>
        </p:spPr>
        <p:txBody>
          <a:bodyPr wrap="square" lIns="0" tIns="0" rIns="0" bIns="0" rtlCol="0" anchor="ctr"/>
          <a:lstStyle/>
          <a:p>
            <a:pPr algn="l" indent="0" marL="0">
              <a:buNone/>
            </a:pPr>
            <a:r>
              <a:rPr lang="en-US" sz="1300" b="1" dirty="0">
                <a:solidFill>
                  <a:schemeClr val="accent6"/>
                </a:solidFill>
              </a:rPr>
              <a:t>③ NU</a:t>
            </a:r>
            <a:endParaRPr lang="en-US" sz="1300" dirty="0"/>
          </a:p>
        </p:txBody>
      </p:sp>
      <p:sp>
        <p:nvSpPr>
          <p:cNvPr id="19" name="Shape 15"/>
          <p:cNvSpPr/>
          <p:nvPr/>
        </p:nvSpPr>
        <p:spPr>
          <a:xfrm>
            <a:off x="548640" y="3249168"/>
            <a:ext cx="5454396" cy="671322"/>
          </a:xfrm>
          <a:prstGeom prst="roundRect">
            <a:avLst>
              <a:gd name="adj" fmla="val 13621"/>
            </a:avLst>
          </a:prstGeom>
          <a:solidFill>
            <a:schemeClr val="bg2"/>
          </a:solidFill>
          <a:ln w="9525">
            <a:solidFill>
              <a:srgbClr val="D5DCE6"/>
            </a:solidFill>
            <a:prstDash val="solid"/>
          </a:ln>
        </p:spPr>
      </p:sp>
      <p:sp>
        <p:nvSpPr>
          <p:cNvPr id="20" name="Text 16"/>
          <p:cNvSpPr txBox="1"/>
          <p:nvPr/>
        </p:nvSpPr>
        <p:spPr>
          <a:xfrm>
            <a:off x="640080" y="3249168"/>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21" name="Text 17"/>
          <p:cNvSpPr txBox="1"/>
          <p:nvPr/>
        </p:nvSpPr>
        <p:spPr>
          <a:xfrm>
            <a:off x="960120" y="3249168"/>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Vorig jaar</a:t>
            </a:r>
            <a:r>
              <a:rPr lang="en-US" sz="1500" i="1" dirty="0">
                <a:solidFill>
                  <a:schemeClr val="tx1"/>
                </a:solidFill>
              </a:rPr>
              <a:t> </a:t>
            </a:r>
            <a:r>
              <a:rPr lang="en-US" sz="1500" b="1" i="1" dirty="0">
                <a:solidFill>
                  <a:srgbClr val="B83227"/>
                </a:solidFill>
              </a:rPr>
              <a:t>werkte</a:t>
            </a:r>
            <a:r>
              <a:rPr lang="en-US" sz="1500" i="1" dirty="0">
                <a:solidFill>
                  <a:schemeClr val="tx1"/>
                </a:solidFill>
              </a:rPr>
              <a:t> ik in Brussel.</a:t>
            </a:r>
            <a:endParaRPr lang="en-US" sz="1800" dirty="0"/>
          </a:p>
        </p:txBody>
      </p:sp>
      <p:sp>
        <p:nvSpPr>
          <p:cNvPr id="22" name="Shape 18"/>
          <p:cNvSpPr/>
          <p:nvPr/>
        </p:nvSpPr>
        <p:spPr>
          <a:xfrm>
            <a:off x="4265676" y="3340608"/>
            <a:ext cx="1645920" cy="488442"/>
          </a:xfrm>
          <a:prstGeom prst="roundRect">
            <a:avLst>
              <a:gd name="adj" fmla="val 18721"/>
            </a:avLst>
          </a:prstGeom>
          <a:solidFill>
            <a:srgbClr val="FFFFFF"/>
          </a:solidFill>
          <a:ln w="12700">
            <a:solidFill>
              <a:srgbClr val="4A5A70"/>
            </a:solidFill>
            <a:prstDash val="dash"/>
          </a:ln>
        </p:spPr>
      </p:sp>
      <p:sp>
        <p:nvSpPr>
          <p:cNvPr id="23" name="Shape 19"/>
          <p:cNvSpPr/>
          <p:nvPr/>
        </p:nvSpPr>
        <p:spPr>
          <a:xfrm>
            <a:off x="548640" y="4011930"/>
            <a:ext cx="5454396" cy="671322"/>
          </a:xfrm>
          <a:prstGeom prst="roundRect">
            <a:avLst>
              <a:gd name="adj" fmla="val 13621"/>
            </a:avLst>
          </a:prstGeom>
          <a:solidFill>
            <a:srgbClr val="FFFFFF"/>
          </a:solidFill>
          <a:ln w="9525">
            <a:solidFill>
              <a:srgbClr val="D5DCE6"/>
            </a:solidFill>
            <a:prstDash val="solid"/>
          </a:ln>
        </p:spPr>
      </p:sp>
      <p:sp>
        <p:nvSpPr>
          <p:cNvPr id="24" name="Text 20"/>
          <p:cNvSpPr txBox="1"/>
          <p:nvPr/>
        </p:nvSpPr>
        <p:spPr>
          <a:xfrm>
            <a:off x="640080" y="4011930"/>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25" name="Text 21"/>
          <p:cNvSpPr txBox="1"/>
          <p:nvPr/>
        </p:nvSpPr>
        <p:spPr>
          <a:xfrm>
            <a:off x="960120" y="4011930"/>
            <a:ext cx="3259836" cy="671322"/>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ben</a:t>
            </a:r>
            <a:r>
              <a:rPr lang="en-US" sz="1500" i="1" dirty="0">
                <a:solidFill>
                  <a:schemeClr val="tx1"/>
                </a:solidFill>
              </a:rPr>
              <a:t> </a:t>
            </a:r>
            <a:r>
              <a:rPr lang="en-US" sz="1500" b="1" i="1" dirty="0">
                <a:solidFill>
                  <a:srgbClr val="D9700F"/>
                </a:solidFill>
              </a:rPr>
              <a:t>nu</a:t>
            </a:r>
            <a:r>
              <a:rPr lang="en-US" sz="1500" i="1" dirty="0">
                <a:solidFill>
                  <a:schemeClr val="tx1"/>
                </a:solidFill>
              </a:rPr>
              <a:t> aan het werken.</a:t>
            </a:r>
            <a:endParaRPr lang="en-US" sz="1800" dirty="0"/>
          </a:p>
        </p:txBody>
      </p:sp>
      <p:sp>
        <p:nvSpPr>
          <p:cNvPr id="26" name="Shape 22"/>
          <p:cNvSpPr/>
          <p:nvPr/>
        </p:nvSpPr>
        <p:spPr>
          <a:xfrm>
            <a:off x="4265676" y="4103370"/>
            <a:ext cx="1645920" cy="488442"/>
          </a:xfrm>
          <a:prstGeom prst="roundRect">
            <a:avLst>
              <a:gd name="adj" fmla="val 18721"/>
            </a:avLst>
          </a:prstGeom>
          <a:solidFill>
            <a:srgbClr val="FFFFFF"/>
          </a:solidFill>
          <a:ln w="12700">
            <a:solidFill>
              <a:srgbClr val="4A5A70"/>
            </a:solidFill>
            <a:prstDash val="dash"/>
          </a:ln>
        </p:spPr>
      </p:sp>
      <p:sp>
        <p:nvSpPr>
          <p:cNvPr id="27" name="Shape 23"/>
          <p:cNvSpPr/>
          <p:nvPr/>
        </p:nvSpPr>
        <p:spPr>
          <a:xfrm>
            <a:off x="548640" y="4774692"/>
            <a:ext cx="5454396" cy="671322"/>
          </a:xfrm>
          <a:prstGeom prst="roundRect">
            <a:avLst>
              <a:gd name="adj" fmla="val 13621"/>
            </a:avLst>
          </a:prstGeom>
          <a:solidFill>
            <a:schemeClr val="bg2"/>
          </a:solidFill>
          <a:ln w="9525">
            <a:solidFill>
              <a:srgbClr val="D5DCE6"/>
            </a:solidFill>
            <a:prstDash val="solid"/>
          </a:ln>
        </p:spPr>
      </p:sp>
      <p:sp>
        <p:nvSpPr>
          <p:cNvPr id="28" name="Text 24"/>
          <p:cNvSpPr txBox="1"/>
          <p:nvPr/>
        </p:nvSpPr>
        <p:spPr>
          <a:xfrm>
            <a:off x="640080" y="4774692"/>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29" name="Text 25"/>
          <p:cNvSpPr txBox="1"/>
          <p:nvPr/>
        </p:nvSpPr>
        <p:spPr>
          <a:xfrm>
            <a:off x="960120" y="4774692"/>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Volgende week</a:t>
            </a:r>
            <a:r>
              <a:rPr lang="en-US" sz="1500" i="1" dirty="0">
                <a:solidFill>
                  <a:schemeClr val="tx1"/>
                </a:solidFill>
              </a:rPr>
              <a:t> </a:t>
            </a:r>
            <a:r>
              <a:rPr lang="en-US" sz="1500" b="1" i="1" dirty="0">
                <a:solidFill>
                  <a:srgbClr val="B83227"/>
                </a:solidFill>
              </a:rPr>
              <a:t>ga</a:t>
            </a:r>
            <a:r>
              <a:rPr lang="en-US" sz="1500" i="1" dirty="0">
                <a:solidFill>
                  <a:schemeClr val="tx1"/>
                </a:solidFill>
              </a:rPr>
              <a:t> ik naar Antwerpen.</a:t>
            </a:r>
            <a:endParaRPr lang="en-US" sz="1800" dirty="0"/>
          </a:p>
        </p:txBody>
      </p:sp>
      <p:sp>
        <p:nvSpPr>
          <p:cNvPr id="30" name="Shape 26"/>
          <p:cNvSpPr/>
          <p:nvPr/>
        </p:nvSpPr>
        <p:spPr>
          <a:xfrm>
            <a:off x="4265676" y="4866132"/>
            <a:ext cx="1645920" cy="488442"/>
          </a:xfrm>
          <a:prstGeom prst="roundRect">
            <a:avLst>
              <a:gd name="adj" fmla="val 18721"/>
            </a:avLst>
          </a:prstGeom>
          <a:solidFill>
            <a:srgbClr val="FFFFFF"/>
          </a:solidFill>
          <a:ln w="12700">
            <a:solidFill>
              <a:srgbClr val="4A5A70"/>
            </a:solidFill>
            <a:prstDash val="dash"/>
          </a:ln>
        </p:spPr>
      </p:sp>
      <p:sp>
        <p:nvSpPr>
          <p:cNvPr id="31" name="Shape 27"/>
          <p:cNvSpPr/>
          <p:nvPr/>
        </p:nvSpPr>
        <p:spPr>
          <a:xfrm>
            <a:off x="548640" y="5537454"/>
            <a:ext cx="5454396" cy="671322"/>
          </a:xfrm>
          <a:prstGeom prst="roundRect">
            <a:avLst>
              <a:gd name="adj" fmla="val 13621"/>
            </a:avLst>
          </a:prstGeom>
          <a:solidFill>
            <a:srgbClr val="FFFFFF"/>
          </a:solidFill>
          <a:ln w="9525">
            <a:solidFill>
              <a:srgbClr val="D5DCE6"/>
            </a:solidFill>
            <a:prstDash val="solid"/>
          </a:ln>
        </p:spPr>
      </p:sp>
      <p:sp>
        <p:nvSpPr>
          <p:cNvPr id="32" name="Text 28"/>
          <p:cNvSpPr txBox="1"/>
          <p:nvPr/>
        </p:nvSpPr>
        <p:spPr>
          <a:xfrm>
            <a:off x="640080" y="5537454"/>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33" name="Text 29"/>
          <p:cNvSpPr txBox="1"/>
          <p:nvPr/>
        </p:nvSpPr>
        <p:spPr>
          <a:xfrm>
            <a:off x="960120" y="5537454"/>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Als</a:t>
            </a:r>
            <a:r>
              <a:rPr lang="en-US" sz="1500" i="1" dirty="0">
                <a:solidFill>
                  <a:schemeClr val="tx1"/>
                </a:solidFill>
              </a:rPr>
              <a:t> ik rijk </a:t>
            </a:r>
            <a:r>
              <a:rPr lang="en-US" sz="1500" b="1" i="1" dirty="0">
                <a:solidFill>
                  <a:srgbClr val="B83227"/>
                </a:solidFill>
              </a:rPr>
              <a:t>was</a:t>
            </a:r>
            <a:r>
              <a:rPr lang="en-US" sz="1500" i="1" dirty="0">
                <a:solidFill>
                  <a:schemeClr val="tx1"/>
                </a:solidFill>
              </a:rPr>
              <a:t>, </a:t>
            </a:r>
            <a:r>
              <a:rPr lang="en-US" sz="1500" b="1" i="1" dirty="0">
                <a:solidFill>
                  <a:srgbClr val="B83227"/>
                </a:solidFill>
              </a:rPr>
              <a:t>zou</a:t>
            </a:r>
            <a:r>
              <a:rPr lang="en-US" sz="1500" i="1" dirty="0">
                <a:solidFill>
                  <a:schemeClr val="tx1"/>
                </a:solidFill>
              </a:rPr>
              <a:t> ik een boot kopen.</a:t>
            </a:r>
            <a:endParaRPr lang="en-US" sz="1800" dirty="0"/>
          </a:p>
        </p:txBody>
      </p:sp>
      <p:sp>
        <p:nvSpPr>
          <p:cNvPr id="34" name="Shape 30"/>
          <p:cNvSpPr/>
          <p:nvPr/>
        </p:nvSpPr>
        <p:spPr>
          <a:xfrm>
            <a:off x="4265676" y="5628894"/>
            <a:ext cx="1645920" cy="488442"/>
          </a:xfrm>
          <a:prstGeom prst="roundRect">
            <a:avLst>
              <a:gd name="adj" fmla="val 18721"/>
            </a:avLst>
          </a:prstGeom>
          <a:solidFill>
            <a:srgbClr val="FFFFFF"/>
          </a:solidFill>
          <a:ln w="12700">
            <a:solidFill>
              <a:srgbClr val="4A5A70"/>
            </a:solidFill>
            <a:prstDash val="dash"/>
          </a:ln>
        </p:spPr>
      </p:sp>
      <p:sp>
        <p:nvSpPr>
          <p:cNvPr id="35" name="Shape 31"/>
          <p:cNvSpPr/>
          <p:nvPr/>
        </p:nvSpPr>
        <p:spPr>
          <a:xfrm>
            <a:off x="6185916" y="3249168"/>
            <a:ext cx="5454396" cy="671322"/>
          </a:xfrm>
          <a:prstGeom prst="roundRect">
            <a:avLst>
              <a:gd name="adj" fmla="val 13621"/>
            </a:avLst>
          </a:prstGeom>
          <a:solidFill>
            <a:schemeClr val="bg2"/>
          </a:solidFill>
          <a:ln w="9525">
            <a:solidFill>
              <a:srgbClr val="D5DCE6"/>
            </a:solidFill>
            <a:prstDash val="solid"/>
          </a:ln>
        </p:spPr>
      </p:sp>
      <p:sp>
        <p:nvSpPr>
          <p:cNvPr id="36" name="Text 32"/>
          <p:cNvSpPr txBox="1"/>
          <p:nvPr/>
        </p:nvSpPr>
        <p:spPr>
          <a:xfrm>
            <a:off x="6277356" y="3249168"/>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37" name="Text 33"/>
          <p:cNvSpPr txBox="1"/>
          <p:nvPr/>
        </p:nvSpPr>
        <p:spPr>
          <a:xfrm>
            <a:off x="6597396" y="3249168"/>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Toen</a:t>
            </a:r>
            <a:r>
              <a:rPr lang="en-US" sz="1500" i="1" dirty="0">
                <a:solidFill>
                  <a:schemeClr val="tx1"/>
                </a:solidFill>
              </a:rPr>
              <a:t> ik aankwam, </a:t>
            </a:r>
            <a:r>
              <a:rPr lang="en-US" sz="1500" b="1" i="1" dirty="0">
                <a:solidFill>
                  <a:srgbClr val="B83227"/>
                </a:solidFill>
              </a:rPr>
              <a:t>was</a:t>
            </a:r>
            <a:r>
              <a:rPr lang="en-US" sz="1500" i="1" dirty="0">
                <a:solidFill>
                  <a:schemeClr val="tx1"/>
                </a:solidFill>
              </a:rPr>
              <a:t> de trein </a:t>
            </a:r>
            <a:r>
              <a:rPr lang="en-US" sz="1500" b="1" i="1" dirty="0">
                <a:solidFill>
                  <a:srgbClr val="D9700F"/>
                </a:solidFill>
              </a:rPr>
              <a:t>al</a:t>
            </a:r>
            <a:r>
              <a:rPr lang="en-US" sz="1500" i="1" dirty="0">
                <a:solidFill>
                  <a:schemeClr val="tx1"/>
                </a:solidFill>
              </a:rPr>
              <a:t> </a:t>
            </a:r>
            <a:r>
              <a:rPr lang="en-US" sz="1500" b="1" i="1" dirty="0">
                <a:solidFill>
                  <a:srgbClr val="B83227"/>
                </a:solidFill>
              </a:rPr>
              <a:t>vertrokken</a:t>
            </a:r>
            <a:r>
              <a:rPr lang="en-US" sz="1500" i="1" dirty="0">
                <a:solidFill>
                  <a:schemeClr val="tx1"/>
                </a:solidFill>
              </a:rPr>
              <a:t>.</a:t>
            </a:r>
            <a:endParaRPr lang="en-US" sz="1800" dirty="0"/>
          </a:p>
        </p:txBody>
      </p:sp>
      <p:sp>
        <p:nvSpPr>
          <p:cNvPr id="38" name="Shape 34"/>
          <p:cNvSpPr/>
          <p:nvPr/>
        </p:nvSpPr>
        <p:spPr>
          <a:xfrm>
            <a:off x="9902952" y="3340608"/>
            <a:ext cx="1645920" cy="488442"/>
          </a:xfrm>
          <a:prstGeom prst="roundRect">
            <a:avLst>
              <a:gd name="adj" fmla="val 18721"/>
            </a:avLst>
          </a:prstGeom>
          <a:solidFill>
            <a:srgbClr val="FFFFFF"/>
          </a:solidFill>
          <a:ln w="12700">
            <a:solidFill>
              <a:srgbClr val="4A5A70"/>
            </a:solidFill>
            <a:prstDash val="dash"/>
          </a:ln>
        </p:spPr>
      </p:sp>
      <p:sp>
        <p:nvSpPr>
          <p:cNvPr id="39" name="Shape 35"/>
          <p:cNvSpPr/>
          <p:nvPr/>
        </p:nvSpPr>
        <p:spPr>
          <a:xfrm>
            <a:off x="6185916" y="4011930"/>
            <a:ext cx="5454396" cy="671322"/>
          </a:xfrm>
          <a:prstGeom prst="roundRect">
            <a:avLst>
              <a:gd name="adj" fmla="val 13621"/>
            </a:avLst>
          </a:prstGeom>
          <a:solidFill>
            <a:srgbClr val="FFFFFF"/>
          </a:solidFill>
          <a:ln w="9525">
            <a:solidFill>
              <a:srgbClr val="D5DCE6"/>
            </a:solidFill>
            <a:prstDash val="solid"/>
          </a:ln>
        </p:spPr>
      </p:sp>
      <p:sp>
        <p:nvSpPr>
          <p:cNvPr id="40" name="Text 36"/>
          <p:cNvSpPr txBox="1"/>
          <p:nvPr/>
        </p:nvSpPr>
        <p:spPr>
          <a:xfrm>
            <a:off x="6277356" y="4011930"/>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41" name="Text 37"/>
          <p:cNvSpPr txBox="1"/>
          <p:nvPr/>
        </p:nvSpPr>
        <p:spPr>
          <a:xfrm>
            <a:off x="6597396" y="4011930"/>
            <a:ext cx="3259836" cy="671322"/>
          </a:xfrm>
          <a:prstGeom prst="rect">
            <a:avLst/>
          </a:prstGeom>
          <a:noFill/>
          <a:ln/>
        </p:spPr>
        <p:txBody>
          <a:bodyPr wrap="square" lIns="0" tIns="0" rIns="0" bIns="0" rtlCol="0" anchor="ctr"/>
          <a:lstStyle/>
          <a:p>
            <a:pPr algn="l" indent="0" marL="0">
              <a:buNone/>
            </a:pPr>
            <a:r>
              <a:rPr lang="en-US" sz="1500" b="1" i="1" dirty="0">
                <a:solidFill>
                  <a:srgbClr val="B83227"/>
                </a:solidFill>
              </a:rPr>
              <a:t>Heb</a:t>
            </a:r>
            <a:r>
              <a:rPr lang="en-US" sz="1500" i="1" dirty="0">
                <a:solidFill>
                  <a:schemeClr val="tx1"/>
                </a:solidFill>
              </a:rPr>
              <a:t> je het rapport </a:t>
            </a:r>
            <a:r>
              <a:rPr lang="en-US" sz="1500" b="1" i="1" dirty="0">
                <a:solidFill>
                  <a:srgbClr val="D9700F"/>
                </a:solidFill>
              </a:rPr>
              <a:t>al</a:t>
            </a:r>
            <a:r>
              <a:rPr lang="en-US" sz="1500" i="1" dirty="0">
                <a:solidFill>
                  <a:schemeClr val="tx1"/>
                </a:solidFill>
              </a:rPr>
              <a:t> </a:t>
            </a:r>
            <a:r>
              <a:rPr lang="en-US" sz="1500" b="1" i="1" dirty="0">
                <a:solidFill>
                  <a:srgbClr val="B83227"/>
                </a:solidFill>
              </a:rPr>
              <a:t>gelezen</a:t>
            </a:r>
            <a:r>
              <a:rPr lang="en-US" sz="1500" i="1" dirty="0">
                <a:solidFill>
                  <a:schemeClr val="tx1"/>
                </a:solidFill>
              </a:rPr>
              <a:t>?</a:t>
            </a:r>
            <a:endParaRPr lang="en-US" sz="1800" dirty="0"/>
          </a:p>
        </p:txBody>
      </p:sp>
      <p:sp>
        <p:nvSpPr>
          <p:cNvPr id="42" name="Shape 38"/>
          <p:cNvSpPr/>
          <p:nvPr/>
        </p:nvSpPr>
        <p:spPr>
          <a:xfrm>
            <a:off x="9902952" y="4103370"/>
            <a:ext cx="1645920" cy="488442"/>
          </a:xfrm>
          <a:prstGeom prst="roundRect">
            <a:avLst>
              <a:gd name="adj" fmla="val 18721"/>
            </a:avLst>
          </a:prstGeom>
          <a:solidFill>
            <a:srgbClr val="FFFFFF"/>
          </a:solidFill>
          <a:ln w="12700">
            <a:solidFill>
              <a:srgbClr val="4A5A70"/>
            </a:solidFill>
            <a:prstDash val="dash"/>
          </a:ln>
        </p:spPr>
      </p:sp>
      <p:sp>
        <p:nvSpPr>
          <p:cNvPr id="43" name="Shape 39"/>
          <p:cNvSpPr/>
          <p:nvPr/>
        </p:nvSpPr>
        <p:spPr>
          <a:xfrm>
            <a:off x="6185916" y="4774692"/>
            <a:ext cx="5454396" cy="671322"/>
          </a:xfrm>
          <a:prstGeom prst="roundRect">
            <a:avLst>
              <a:gd name="adj" fmla="val 13621"/>
            </a:avLst>
          </a:prstGeom>
          <a:solidFill>
            <a:schemeClr val="bg2"/>
          </a:solidFill>
          <a:ln w="9525">
            <a:solidFill>
              <a:srgbClr val="D5DCE6"/>
            </a:solidFill>
            <a:prstDash val="solid"/>
          </a:ln>
        </p:spPr>
      </p:sp>
      <p:sp>
        <p:nvSpPr>
          <p:cNvPr id="44" name="Text 40"/>
          <p:cNvSpPr txBox="1"/>
          <p:nvPr/>
        </p:nvSpPr>
        <p:spPr>
          <a:xfrm>
            <a:off x="6277356" y="4774692"/>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45" name="Text 41"/>
          <p:cNvSpPr txBox="1"/>
          <p:nvPr/>
        </p:nvSpPr>
        <p:spPr>
          <a:xfrm>
            <a:off x="6597396" y="4774692"/>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Tegen juni</a:t>
            </a:r>
            <a:r>
              <a:rPr lang="en-US" sz="1500" i="1" dirty="0">
                <a:solidFill>
                  <a:schemeClr val="tx1"/>
                </a:solidFill>
              </a:rPr>
              <a:t> </a:t>
            </a:r>
            <a:r>
              <a:rPr lang="en-US" sz="1500" b="1" i="1" dirty="0">
                <a:solidFill>
                  <a:srgbClr val="B83227"/>
                </a:solidFill>
              </a:rPr>
              <a:t>zal</a:t>
            </a:r>
            <a:r>
              <a:rPr lang="en-US" sz="1500" i="1" dirty="0">
                <a:solidFill>
                  <a:schemeClr val="tx1"/>
                </a:solidFill>
              </a:rPr>
              <a:t> ik mijn diploma </a:t>
            </a:r>
            <a:r>
              <a:rPr lang="en-US" sz="1500" b="1" i="1" dirty="0">
                <a:solidFill>
                  <a:srgbClr val="B83227"/>
                </a:solidFill>
              </a:rPr>
              <a:t>behaald hebben</a:t>
            </a:r>
            <a:r>
              <a:rPr lang="en-US" sz="1500" i="1" dirty="0">
                <a:solidFill>
                  <a:schemeClr val="tx1"/>
                </a:solidFill>
              </a:rPr>
              <a:t>.</a:t>
            </a:r>
            <a:endParaRPr lang="en-US" sz="1800" dirty="0"/>
          </a:p>
        </p:txBody>
      </p:sp>
      <p:sp>
        <p:nvSpPr>
          <p:cNvPr id="46" name="Shape 42"/>
          <p:cNvSpPr/>
          <p:nvPr/>
        </p:nvSpPr>
        <p:spPr>
          <a:xfrm>
            <a:off x="9902952" y="4866132"/>
            <a:ext cx="1645920" cy="488442"/>
          </a:xfrm>
          <a:prstGeom prst="roundRect">
            <a:avLst>
              <a:gd name="adj" fmla="val 18721"/>
            </a:avLst>
          </a:prstGeom>
          <a:solidFill>
            <a:srgbClr val="FFFFFF"/>
          </a:solidFill>
          <a:ln w="12700">
            <a:solidFill>
              <a:srgbClr val="4A5A70"/>
            </a:solidFill>
            <a:prstDash val="dash"/>
          </a:ln>
        </p:spPr>
      </p:sp>
      <p:sp>
        <p:nvSpPr>
          <p:cNvPr id="47" name="Shape 43"/>
          <p:cNvSpPr/>
          <p:nvPr/>
        </p:nvSpPr>
        <p:spPr>
          <a:xfrm>
            <a:off x="6185916" y="5537454"/>
            <a:ext cx="5454396" cy="671322"/>
          </a:xfrm>
          <a:prstGeom prst="roundRect">
            <a:avLst>
              <a:gd name="adj" fmla="val 13621"/>
            </a:avLst>
          </a:prstGeom>
          <a:solidFill>
            <a:srgbClr val="FFFFFF"/>
          </a:solidFill>
          <a:ln w="9525">
            <a:solidFill>
              <a:srgbClr val="D5DCE6"/>
            </a:solidFill>
            <a:prstDash val="solid"/>
          </a:ln>
        </p:spPr>
      </p:sp>
      <p:sp>
        <p:nvSpPr>
          <p:cNvPr id="48" name="Text 44"/>
          <p:cNvSpPr txBox="1"/>
          <p:nvPr/>
        </p:nvSpPr>
        <p:spPr>
          <a:xfrm>
            <a:off x="6277356" y="5537454"/>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49" name="Text 45"/>
          <p:cNvSpPr txBox="1"/>
          <p:nvPr/>
        </p:nvSpPr>
        <p:spPr>
          <a:xfrm>
            <a:off x="6597396" y="5537454"/>
            <a:ext cx="3259836" cy="671322"/>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woon</a:t>
            </a:r>
            <a:r>
              <a:rPr lang="en-US" sz="1500" i="1" dirty="0">
                <a:solidFill>
                  <a:schemeClr val="tx1"/>
                </a:solidFill>
              </a:rPr>
              <a:t> hier </a:t>
            </a:r>
            <a:r>
              <a:rPr lang="en-US" sz="1500" b="1" i="1" dirty="0">
                <a:solidFill>
                  <a:srgbClr val="D9700F"/>
                </a:solidFill>
              </a:rPr>
              <a:t>al</a:t>
            </a:r>
            <a:r>
              <a:rPr lang="en-US" sz="1500" i="1" dirty="0">
                <a:solidFill>
                  <a:schemeClr val="tx1"/>
                </a:solidFill>
              </a:rPr>
              <a:t> tien jaar.</a:t>
            </a:r>
            <a:endParaRPr lang="en-US" sz="1800" dirty="0"/>
          </a:p>
        </p:txBody>
      </p:sp>
      <p:sp>
        <p:nvSpPr>
          <p:cNvPr id="50" name="Shape 46"/>
          <p:cNvSpPr/>
          <p:nvPr/>
        </p:nvSpPr>
        <p:spPr>
          <a:xfrm>
            <a:off x="9902952" y="5628894"/>
            <a:ext cx="1645920" cy="488442"/>
          </a:xfrm>
          <a:prstGeom prst="roundRect">
            <a:avLst>
              <a:gd name="adj" fmla="val 18721"/>
            </a:avLst>
          </a:prstGeom>
          <a:solidFill>
            <a:srgbClr val="FFFFFF"/>
          </a:solidFill>
          <a:ln w="12700">
            <a:solidFill>
              <a:srgbClr val="4A5A70"/>
            </a:solidFill>
            <a:prstDash val="dash"/>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Sur la ligne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Dans quelle zone est l’action du verbe rouge ? Écrivez le numéro, puis le nom du temps.</a:t>
            </a:r>
            <a:endParaRPr lang="en-US" sz="1700" dirty="0"/>
          </a:p>
        </p:txBody>
      </p:sp>
      <p:sp>
        <p:nvSpPr>
          <p:cNvPr id="9" name="Shape 5"/>
          <p:cNvSpPr/>
          <p:nvPr/>
        </p:nvSpPr>
        <p:spPr>
          <a:xfrm>
            <a:off x="9281160" y="1886712"/>
            <a:ext cx="2331720" cy="566928"/>
          </a:xfrm>
          <a:prstGeom prst="cloud">
            <a:avLst/>
          </a:prstGeom>
          <a:solidFill>
            <a:srgbClr val="F1ECF7"/>
          </a:solidFill>
          <a:ln w="12700">
            <a:solidFill>
              <a:srgbClr val="6E4A9E"/>
            </a:solidFill>
            <a:prstDash val="solid"/>
          </a:ln>
        </p:spPr>
      </p:sp>
      <p:sp>
        <p:nvSpPr>
          <p:cNvPr id="10" name="Text 6"/>
          <p:cNvSpPr txBox="1"/>
          <p:nvPr/>
        </p:nvSpPr>
        <p:spPr>
          <a:xfrm>
            <a:off x="9281160" y="1886712"/>
            <a:ext cx="2331720" cy="566928"/>
          </a:xfrm>
          <a:prstGeom prst="rect">
            <a:avLst/>
          </a:prstGeom>
          <a:noFill/>
          <a:ln/>
        </p:spPr>
        <p:txBody>
          <a:bodyPr wrap="square" lIns="0" tIns="0" rIns="0" bIns="0" rtlCol="0" anchor="ctr"/>
          <a:lstStyle/>
          <a:p>
            <a:pPr algn="ctr" indent="0" marL="0">
              <a:buNone/>
            </a:pPr>
            <a:r>
              <a:rPr lang="en-US" sz="1300" b="1" dirty="0">
                <a:solidFill>
                  <a:srgbClr val="6E4A9E"/>
                </a:solidFill>
              </a:rPr>
              <a:t>⑤ imaginaire</a:t>
            </a:r>
            <a:endParaRPr lang="en-US" sz="1300" dirty="0"/>
          </a:p>
        </p:txBody>
      </p:sp>
      <p:sp>
        <p:nvSpPr>
          <p:cNvPr id="11" name="Shape 7"/>
          <p:cNvSpPr/>
          <p:nvPr/>
        </p:nvSpPr>
        <p:spPr>
          <a:xfrm>
            <a:off x="822960" y="2526792"/>
            <a:ext cx="1828800" cy="182880"/>
          </a:xfrm>
          <a:prstGeom prst="rect">
            <a:avLst/>
          </a:prstGeom>
          <a:solidFill>
            <a:srgbClr val="7A1748"/>
          </a:solidFill>
          <a:ln w="12700">
            <a:solidFill>
              <a:srgbClr val="FFFFFF">
                <a:alpha val="0"/>
              </a:srgbClr>
            </a:solidFill>
            <a:prstDash val="solid"/>
          </a:ln>
        </p:spPr>
      </p:sp>
      <p:sp>
        <p:nvSpPr>
          <p:cNvPr id="12" name="Text 8"/>
          <p:cNvSpPr txBox="1"/>
          <p:nvPr/>
        </p:nvSpPr>
        <p:spPr>
          <a:xfrm>
            <a:off x="822960" y="2764536"/>
            <a:ext cx="1828800" cy="292608"/>
          </a:xfrm>
          <a:prstGeom prst="rect">
            <a:avLst/>
          </a:prstGeom>
          <a:noFill/>
          <a:ln/>
        </p:spPr>
        <p:txBody>
          <a:bodyPr wrap="square" lIns="0" tIns="0" rIns="0" bIns="0" rtlCol="0" anchor="ctr"/>
          <a:lstStyle/>
          <a:p>
            <a:pPr algn="ctr" indent="0" marL="0">
              <a:buNone/>
            </a:pPr>
            <a:r>
              <a:rPr lang="en-US" sz="1300" b="1" i="1" dirty="0">
                <a:solidFill>
                  <a:srgbClr val="7A1748"/>
                </a:solidFill>
              </a:rPr>
              <a:t>① avant le passé</a:t>
            </a:r>
            <a:endParaRPr lang="en-US" sz="1300" dirty="0"/>
          </a:p>
        </p:txBody>
      </p:sp>
      <p:sp>
        <p:nvSpPr>
          <p:cNvPr id="13" name="Shape 9"/>
          <p:cNvSpPr/>
          <p:nvPr/>
        </p:nvSpPr>
        <p:spPr>
          <a:xfrm>
            <a:off x="2743200" y="2526792"/>
            <a:ext cx="3749040" cy="182880"/>
          </a:xfrm>
          <a:prstGeom prst="rect">
            <a:avLst/>
          </a:prstGeom>
          <a:solidFill>
            <a:schemeClr val="accent4"/>
          </a:solidFill>
          <a:ln w="12700">
            <a:solidFill>
              <a:srgbClr val="FFFFFF">
                <a:alpha val="0"/>
              </a:srgbClr>
            </a:solidFill>
            <a:prstDash val="solid"/>
          </a:ln>
        </p:spPr>
      </p:sp>
      <p:sp>
        <p:nvSpPr>
          <p:cNvPr id="14" name="Text 10"/>
          <p:cNvSpPr txBox="1"/>
          <p:nvPr/>
        </p:nvSpPr>
        <p:spPr>
          <a:xfrm>
            <a:off x="2743200" y="2764536"/>
            <a:ext cx="3749040" cy="292608"/>
          </a:xfrm>
          <a:prstGeom prst="rect">
            <a:avLst/>
          </a:prstGeom>
          <a:noFill/>
          <a:ln/>
        </p:spPr>
        <p:txBody>
          <a:bodyPr wrap="square" lIns="0" tIns="0" rIns="0" bIns="0" rtlCol="0" anchor="ctr"/>
          <a:lstStyle/>
          <a:p>
            <a:pPr algn="ctr" indent="0" marL="0">
              <a:buNone/>
            </a:pPr>
            <a:r>
              <a:rPr lang="en-US" sz="1300" b="1" i="1" dirty="0">
                <a:solidFill>
                  <a:schemeClr val="accent4"/>
                </a:solidFill>
              </a:rPr>
              <a:t>② passé</a:t>
            </a:r>
            <a:endParaRPr lang="en-US" sz="1300" dirty="0"/>
          </a:p>
        </p:txBody>
      </p:sp>
      <p:sp>
        <p:nvSpPr>
          <p:cNvPr id="15" name="Shape 11"/>
          <p:cNvSpPr/>
          <p:nvPr/>
        </p:nvSpPr>
        <p:spPr>
          <a:xfrm>
            <a:off x="6858000" y="2526792"/>
            <a:ext cx="4389120" cy="182880"/>
          </a:xfrm>
          <a:prstGeom prst="rect">
            <a:avLst/>
          </a:prstGeom>
          <a:solidFill>
            <a:schemeClr val="accent3"/>
          </a:solidFill>
          <a:ln w="12700">
            <a:solidFill>
              <a:srgbClr val="FFFFFF">
                <a:alpha val="0"/>
              </a:srgbClr>
            </a:solidFill>
            <a:prstDash val="solid"/>
          </a:ln>
        </p:spPr>
      </p:sp>
      <p:sp>
        <p:nvSpPr>
          <p:cNvPr id="16" name="Text 12"/>
          <p:cNvSpPr txBox="1"/>
          <p:nvPr/>
        </p:nvSpPr>
        <p:spPr>
          <a:xfrm>
            <a:off x="6858000" y="2764536"/>
            <a:ext cx="4389120" cy="292608"/>
          </a:xfrm>
          <a:prstGeom prst="rect">
            <a:avLst/>
          </a:prstGeom>
          <a:noFill/>
          <a:ln/>
        </p:spPr>
        <p:txBody>
          <a:bodyPr wrap="square" lIns="0" tIns="0" rIns="0" bIns="0" rtlCol="0" anchor="ctr"/>
          <a:lstStyle/>
          <a:p>
            <a:pPr algn="ctr" indent="0" marL="0">
              <a:buNone/>
            </a:pPr>
            <a:r>
              <a:rPr lang="en-US" sz="1300" b="1" i="1" dirty="0">
                <a:solidFill>
                  <a:schemeClr val="accent3"/>
                </a:solidFill>
              </a:rPr>
              <a:t>④ futur</a:t>
            </a:r>
            <a:endParaRPr lang="en-US" sz="1300" dirty="0"/>
          </a:p>
        </p:txBody>
      </p:sp>
      <p:sp>
        <p:nvSpPr>
          <p:cNvPr id="17" name="Shape 13"/>
          <p:cNvSpPr/>
          <p:nvPr/>
        </p:nvSpPr>
        <p:spPr>
          <a:xfrm>
            <a:off x="731520" y="2618232"/>
            <a:ext cx="10927080" cy="914"/>
          </a:xfrm>
          <a:prstGeom prst="line">
            <a:avLst/>
          </a:prstGeom>
          <a:noFill/>
          <a:ln w="31750">
            <a:solidFill>
              <a:srgbClr val="17375E"/>
            </a:solidFill>
            <a:prstDash val="solid"/>
            <a:tailEnd type="triangle"/>
          </a:ln>
        </p:spPr>
      </p:sp>
      <p:sp>
        <p:nvSpPr>
          <p:cNvPr id="18" name="Shape 14"/>
          <p:cNvSpPr/>
          <p:nvPr/>
        </p:nvSpPr>
        <p:spPr>
          <a:xfrm>
            <a:off x="6629400" y="2307336"/>
            <a:ext cx="91440" cy="621792"/>
          </a:xfrm>
          <a:prstGeom prst="rect">
            <a:avLst/>
          </a:prstGeom>
          <a:solidFill>
            <a:schemeClr val="accent6"/>
          </a:solidFill>
          <a:ln w="12700">
            <a:solidFill>
              <a:srgbClr val="FFFFFF">
                <a:alpha val="0"/>
              </a:srgbClr>
            </a:solidFill>
            <a:prstDash val="solid"/>
          </a:ln>
        </p:spPr>
      </p:sp>
      <p:sp>
        <p:nvSpPr>
          <p:cNvPr id="19" name="Text 15"/>
          <p:cNvSpPr txBox="1"/>
          <p:nvPr/>
        </p:nvSpPr>
        <p:spPr>
          <a:xfrm>
            <a:off x="6748272" y="2764536"/>
            <a:ext cx="1097280" cy="292608"/>
          </a:xfrm>
          <a:prstGeom prst="rect">
            <a:avLst/>
          </a:prstGeom>
          <a:noFill/>
          <a:ln/>
        </p:spPr>
        <p:txBody>
          <a:bodyPr wrap="square" lIns="0" tIns="0" rIns="0" bIns="0" rtlCol="0" anchor="ctr"/>
          <a:lstStyle/>
          <a:p>
            <a:pPr algn="l" indent="0" marL="0">
              <a:buNone/>
            </a:pPr>
            <a:r>
              <a:rPr lang="en-US" sz="1300" b="1" dirty="0">
                <a:solidFill>
                  <a:schemeClr val="accent6"/>
                </a:solidFill>
              </a:rPr>
              <a:t>③ NU</a:t>
            </a:r>
            <a:endParaRPr lang="en-US" sz="1300" dirty="0"/>
          </a:p>
        </p:txBody>
      </p:sp>
      <p:sp>
        <p:nvSpPr>
          <p:cNvPr id="20" name="Shape 16"/>
          <p:cNvSpPr/>
          <p:nvPr/>
        </p:nvSpPr>
        <p:spPr>
          <a:xfrm>
            <a:off x="548640" y="3249168"/>
            <a:ext cx="5454396" cy="671322"/>
          </a:xfrm>
          <a:prstGeom prst="roundRect">
            <a:avLst>
              <a:gd name="adj" fmla="val 13621"/>
            </a:avLst>
          </a:prstGeom>
          <a:solidFill>
            <a:schemeClr val="bg2"/>
          </a:solidFill>
          <a:ln w="9525">
            <a:solidFill>
              <a:srgbClr val="D5DCE6"/>
            </a:solidFill>
            <a:prstDash val="solid"/>
          </a:ln>
        </p:spPr>
      </p:sp>
      <p:sp>
        <p:nvSpPr>
          <p:cNvPr id="21" name="Text 17"/>
          <p:cNvSpPr txBox="1"/>
          <p:nvPr/>
        </p:nvSpPr>
        <p:spPr>
          <a:xfrm>
            <a:off x="640080" y="3249168"/>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22" name="Text 18"/>
          <p:cNvSpPr txBox="1"/>
          <p:nvPr/>
        </p:nvSpPr>
        <p:spPr>
          <a:xfrm>
            <a:off x="960120" y="3249168"/>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Vorig jaar</a:t>
            </a:r>
            <a:r>
              <a:rPr lang="en-US" sz="1500" i="1" dirty="0">
                <a:solidFill>
                  <a:schemeClr val="tx1"/>
                </a:solidFill>
              </a:rPr>
              <a:t> </a:t>
            </a:r>
            <a:r>
              <a:rPr lang="en-US" sz="1500" b="1" i="1" dirty="0">
                <a:solidFill>
                  <a:srgbClr val="B83227"/>
                </a:solidFill>
              </a:rPr>
              <a:t>werkte</a:t>
            </a:r>
            <a:r>
              <a:rPr lang="en-US" sz="1500" i="1" dirty="0">
                <a:solidFill>
                  <a:schemeClr val="tx1"/>
                </a:solidFill>
              </a:rPr>
              <a:t> ik in Brussel.</a:t>
            </a:r>
            <a:endParaRPr lang="en-US" sz="1800" dirty="0"/>
          </a:p>
        </p:txBody>
      </p:sp>
      <p:sp>
        <p:nvSpPr>
          <p:cNvPr id="23" name="Shape 19"/>
          <p:cNvSpPr/>
          <p:nvPr/>
        </p:nvSpPr>
        <p:spPr>
          <a:xfrm>
            <a:off x="4265676" y="3340608"/>
            <a:ext cx="1645920" cy="488442"/>
          </a:xfrm>
          <a:prstGeom prst="roundRect">
            <a:avLst>
              <a:gd name="adj" fmla="val 18721"/>
            </a:avLst>
          </a:prstGeom>
          <a:solidFill>
            <a:schemeClr val="accent4"/>
          </a:solidFill>
          <a:ln w="12700">
            <a:solidFill>
              <a:srgbClr val="FFFFFF">
                <a:alpha val="0"/>
              </a:srgbClr>
            </a:solidFill>
            <a:prstDash val="solid"/>
          </a:ln>
        </p:spPr>
      </p:sp>
      <p:sp>
        <p:nvSpPr>
          <p:cNvPr id="24" name="Text 20"/>
          <p:cNvSpPr txBox="1"/>
          <p:nvPr/>
        </p:nvSpPr>
        <p:spPr>
          <a:xfrm>
            <a:off x="4265676" y="3340608"/>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②</a:t>
            </a:r>
            <a:endParaRPr lang="en-US" sz="1100" dirty="0"/>
          </a:p>
          <a:p>
            <a:pPr algn="ctr" indent="0" marL="0">
              <a:buNone/>
            </a:pPr>
            <a:r>
              <a:rPr lang="en-US" sz="1100" dirty="0">
                <a:solidFill>
                  <a:schemeClr val="bg1"/>
                </a:solidFill>
              </a:rPr>
              <a:t>imperfectum</a:t>
            </a:r>
            <a:endParaRPr lang="en-US" sz="1100" dirty="0"/>
          </a:p>
        </p:txBody>
      </p:sp>
      <p:sp>
        <p:nvSpPr>
          <p:cNvPr id="25" name="Shape 21"/>
          <p:cNvSpPr/>
          <p:nvPr/>
        </p:nvSpPr>
        <p:spPr>
          <a:xfrm>
            <a:off x="548640" y="4011930"/>
            <a:ext cx="5454396" cy="671322"/>
          </a:xfrm>
          <a:prstGeom prst="roundRect">
            <a:avLst>
              <a:gd name="adj" fmla="val 13621"/>
            </a:avLst>
          </a:prstGeom>
          <a:solidFill>
            <a:srgbClr val="FFFFFF"/>
          </a:solidFill>
          <a:ln w="9525">
            <a:solidFill>
              <a:srgbClr val="D5DCE6"/>
            </a:solidFill>
            <a:prstDash val="solid"/>
          </a:ln>
        </p:spPr>
      </p:sp>
      <p:sp>
        <p:nvSpPr>
          <p:cNvPr id="26" name="Text 22"/>
          <p:cNvSpPr txBox="1"/>
          <p:nvPr/>
        </p:nvSpPr>
        <p:spPr>
          <a:xfrm>
            <a:off x="640080" y="4011930"/>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27" name="Text 23"/>
          <p:cNvSpPr txBox="1"/>
          <p:nvPr/>
        </p:nvSpPr>
        <p:spPr>
          <a:xfrm>
            <a:off x="960120" y="4011930"/>
            <a:ext cx="3259836" cy="671322"/>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ben</a:t>
            </a:r>
            <a:r>
              <a:rPr lang="en-US" sz="1500" i="1" dirty="0">
                <a:solidFill>
                  <a:schemeClr val="tx1"/>
                </a:solidFill>
              </a:rPr>
              <a:t> </a:t>
            </a:r>
            <a:r>
              <a:rPr lang="en-US" sz="1500" b="1" i="1" dirty="0">
                <a:solidFill>
                  <a:srgbClr val="D9700F"/>
                </a:solidFill>
              </a:rPr>
              <a:t>nu</a:t>
            </a:r>
            <a:r>
              <a:rPr lang="en-US" sz="1500" i="1" dirty="0">
                <a:solidFill>
                  <a:schemeClr val="tx1"/>
                </a:solidFill>
              </a:rPr>
              <a:t> aan het werken.</a:t>
            </a:r>
            <a:endParaRPr lang="en-US" sz="1800" dirty="0"/>
          </a:p>
        </p:txBody>
      </p:sp>
      <p:sp>
        <p:nvSpPr>
          <p:cNvPr id="28" name="Shape 24"/>
          <p:cNvSpPr/>
          <p:nvPr/>
        </p:nvSpPr>
        <p:spPr>
          <a:xfrm>
            <a:off x="4265676" y="4103370"/>
            <a:ext cx="1645920" cy="488442"/>
          </a:xfrm>
          <a:prstGeom prst="roundRect">
            <a:avLst>
              <a:gd name="adj" fmla="val 18721"/>
            </a:avLst>
          </a:prstGeom>
          <a:solidFill>
            <a:schemeClr val="accent2"/>
          </a:solidFill>
          <a:ln w="12700">
            <a:solidFill>
              <a:srgbClr val="FFFFFF">
                <a:alpha val="0"/>
              </a:srgbClr>
            </a:solidFill>
            <a:prstDash val="solid"/>
          </a:ln>
        </p:spPr>
      </p:sp>
      <p:sp>
        <p:nvSpPr>
          <p:cNvPr id="29" name="Text 25"/>
          <p:cNvSpPr txBox="1"/>
          <p:nvPr/>
        </p:nvSpPr>
        <p:spPr>
          <a:xfrm>
            <a:off x="4265676" y="4103370"/>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③</a:t>
            </a:r>
            <a:endParaRPr lang="en-US" sz="1100" dirty="0"/>
          </a:p>
          <a:p>
            <a:pPr algn="ctr" indent="0" marL="0">
              <a:buNone/>
            </a:pPr>
            <a:r>
              <a:rPr lang="en-US" sz="1100" dirty="0">
                <a:solidFill>
                  <a:schemeClr val="bg1"/>
                </a:solidFill>
              </a:rPr>
              <a:t>presens</a:t>
            </a:r>
            <a:endParaRPr lang="en-US" sz="1100" dirty="0"/>
          </a:p>
        </p:txBody>
      </p:sp>
      <p:sp>
        <p:nvSpPr>
          <p:cNvPr id="30" name="Shape 26"/>
          <p:cNvSpPr/>
          <p:nvPr/>
        </p:nvSpPr>
        <p:spPr>
          <a:xfrm>
            <a:off x="548640" y="4774692"/>
            <a:ext cx="5454396" cy="671322"/>
          </a:xfrm>
          <a:prstGeom prst="roundRect">
            <a:avLst>
              <a:gd name="adj" fmla="val 13621"/>
            </a:avLst>
          </a:prstGeom>
          <a:solidFill>
            <a:schemeClr val="bg2"/>
          </a:solidFill>
          <a:ln w="9525">
            <a:solidFill>
              <a:srgbClr val="D5DCE6"/>
            </a:solidFill>
            <a:prstDash val="solid"/>
          </a:ln>
        </p:spPr>
      </p:sp>
      <p:sp>
        <p:nvSpPr>
          <p:cNvPr id="31" name="Text 27"/>
          <p:cNvSpPr txBox="1"/>
          <p:nvPr/>
        </p:nvSpPr>
        <p:spPr>
          <a:xfrm>
            <a:off x="640080" y="4774692"/>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32" name="Text 28"/>
          <p:cNvSpPr txBox="1"/>
          <p:nvPr/>
        </p:nvSpPr>
        <p:spPr>
          <a:xfrm>
            <a:off x="960120" y="4774692"/>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Volgende week</a:t>
            </a:r>
            <a:r>
              <a:rPr lang="en-US" sz="1500" i="1" dirty="0">
                <a:solidFill>
                  <a:schemeClr val="tx1"/>
                </a:solidFill>
              </a:rPr>
              <a:t> </a:t>
            </a:r>
            <a:r>
              <a:rPr lang="en-US" sz="1500" b="1" i="1" dirty="0">
                <a:solidFill>
                  <a:srgbClr val="B83227"/>
                </a:solidFill>
              </a:rPr>
              <a:t>ga</a:t>
            </a:r>
            <a:r>
              <a:rPr lang="en-US" sz="1500" i="1" dirty="0">
                <a:solidFill>
                  <a:schemeClr val="tx1"/>
                </a:solidFill>
              </a:rPr>
              <a:t> ik naar Antwerpen.</a:t>
            </a:r>
            <a:endParaRPr lang="en-US" sz="1800" dirty="0"/>
          </a:p>
        </p:txBody>
      </p:sp>
      <p:sp>
        <p:nvSpPr>
          <p:cNvPr id="33" name="Shape 29"/>
          <p:cNvSpPr/>
          <p:nvPr/>
        </p:nvSpPr>
        <p:spPr>
          <a:xfrm>
            <a:off x="4265676" y="4866132"/>
            <a:ext cx="1645920" cy="488442"/>
          </a:xfrm>
          <a:prstGeom prst="roundRect">
            <a:avLst>
              <a:gd name="adj" fmla="val 18721"/>
            </a:avLst>
          </a:prstGeom>
          <a:solidFill>
            <a:schemeClr val="accent3"/>
          </a:solidFill>
          <a:ln w="12700">
            <a:solidFill>
              <a:srgbClr val="FFFFFF">
                <a:alpha val="0"/>
              </a:srgbClr>
            </a:solidFill>
            <a:prstDash val="solid"/>
          </a:ln>
        </p:spPr>
      </p:sp>
      <p:sp>
        <p:nvSpPr>
          <p:cNvPr id="34" name="Text 30"/>
          <p:cNvSpPr txBox="1"/>
          <p:nvPr/>
        </p:nvSpPr>
        <p:spPr>
          <a:xfrm>
            <a:off x="4265676" y="4866132"/>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④</a:t>
            </a:r>
            <a:endParaRPr lang="en-US" sz="1100" dirty="0"/>
          </a:p>
          <a:p>
            <a:pPr algn="ctr" indent="0" marL="0">
              <a:buNone/>
            </a:pPr>
            <a:r>
              <a:rPr lang="en-US" sz="1100" dirty="0">
                <a:solidFill>
                  <a:schemeClr val="bg1"/>
                </a:solidFill>
              </a:rPr>
              <a:t>presens !</a:t>
            </a:r>
            <a:endParaRPr lang="en-US" sz="1100" dirty="0"/>
          </a:p>
        </p:txBody>
      </p:sp>
      <p:sp>
        <p:nvSpPr>
          <p:cNvPr id="35" name="Shape 31"/>
          <p:cNvSpPr/>
          <p:nvPr/>
        </p:nvSpPr>
        <p:spPr>
          <a:xfrm>
            <a:off x="548640" y="5537454"/>
            <a:ext cx="5454396" cy="671322"/>
          </a:xfrm>
          <a:prstGeom prst="roundRect">
            <a:avLst>
              <a:gd name="adj" fmla="val 13621"/>
            </a:avLst>
          </a:prstGeom>
          <a:solidFill>
            <a:srgbClr val="FFFFFF"/>
          </a:solidFill>
          <a:ln w="9525">
            <a:solidFill>
              <a:srgbClr val="D5DCE6"/>
            </a:solidFill>
            <a:prstDash val="solid"/>
          </a:ln>
        </p:spPr>
      </p:sp>
      <p:sp>
        <p:nvSpPr>
          <p:cNvPr id="36" name="Text 32"/>
          <p:cNvSpPr txBox="1"/>
          <p:nvPr/>
        </p:nvSpPr>
        <p:spPr>
          <a:xfrm>
            <a:off x="640080" y="5537454"/>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37" name="Text 33"/>
          <p:cNvSpPr txBox="1"/>
          <p:nvPr/>
        </p:nvSpPr>
        <p:spPr>
          <a:xfrm>
            <a:off x="960120" y="5537454"/>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Als</a:t>
            </a:r>
            <a:r>
              <a:rPr lang="en-US" sz="1500" i="1" dirty="0">
                <a:solidFill>
                  <a:schemeClr val="tx1"/>
                </a:solidFill>
              </a:rPr>
              <a:t> ik rijk </a:t>
            </a:r>
            <a:r>
              <a:rPr lang="en-US" sz="1500" b="1" i="1" dirty="0">
                <a:solidFill>
                  <a:srgbClr val="B83227"/>
                </a:solidFill>
              </a:rPr>
              <a:t>was</a:t>
            </a:r>
            <a:r>
              <a:rPr lang="en-US" sz="1500" i="1" dirty="0">
                <a:solidFill>
                  <a:schemeClr val="tx1"/>
                </a:solidFill>
              </a:rPr>
              <a:t>, </a:t>
            </a:r>
            <a:r>
              <a:rPr lang="en-US" sz="1500" b="1" i="1" dirty="0">
                <a:solidFill>
                  <a:srgbClr val="B83227"/>
                </a:solidFill>
              </a:rPr>
              <a:t>zou</a:t>
            </a:r>
            <a:r>
              <a:rPr lang="en-US" sz="1500" i="1" dirty="0">
                <a:solidFill>
                  <a:schemeClr val="tx1"/>
                </a:solidFill>
              </a:rPr>
              <a:t> ik een boot kopen.</a:t>
            </a:r>
            <a:endParaRPr lang="en-US" sz="1800" dirty="0"/>
          </a:p>
        </p:txBody>
      </p:sp>
      <p:sp>
        <p:nvSpPr>
          <p:cNvPr id="38" name="Shape 34"/>
          <p:cNvSpPr/>
          <p:nvPr/>
        </p:nvSpPr>
        <p:spPr>
          <a:xfrm>
            <a:off x="4265676" y="5628894"/>
            <a:ext cx="1645920" cy="488442"/>
          </a:xfrm>
          <a:prstGeom prst="roundRect">
            <a:avLst>
              <a:gd name="adj" fmla="val 18721"/>
            </a:avLst>
          </a:prstGeom>
          <a:solidFill>
            <a:srgbClr val="6E4A9E"/>
          </a:solidFill>
          <a:ln w="12700">
            <a:solidFill>
              <a:srgbClr val="FFFFFF">
                <a:alpha val="0"/>
              </a:srgbClr>
            </a:solidFill>
            <a:prstDash val="solid"/>
          </a:ln>
        </p:spPr>
      </p:sp>
      <p:sp>
        <p:nvSpPr>
          <p:cNvPr id="39" name="Text 35"/>
          <p:cNvSpPr txBox="1"/>
          <p:nvPr/>
        </p:nvSpPr>
        <p:spPr>
          <a:xfrm>
            <a:off x="4265676" y="5628894"/>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⑤</a:t>
            </a:r>
            <a:endParaRPr lang="en-US" sz="1100" dirty="0"/>
          </a:p>
          <a:p>
            <a:pPr algn="ctr" indent="0" marL="0">
              <a:buNone/>
            </a:pPr>
            <a:r>
              <a:rPr lang="en-US" sz="1100" dirty="0">
                <a:solidFill>
                  <a:schemeClr val="bg1"/>
                </a:solidFill>
              </a:rPr>
              <a:t>conditionalis</a:t>
            </a:r>
            <a:endParaRPr lang="en-US" sz="1100" dirty="0"/>
          </a:p>
        </p:txBody>
      </p:sp>
      <p:sp>
        <p:nvSpPr>
          <p:cNvPr id="40" name="Shape 36"/>
          <p:cNvSpPr/>
          <p:nvPr/>
        </p:nvSpPr>
        <p:spPr>
          <a:xfrm>
            <a:off x="6185916" y="3249168"/>
            <a:ext cx="5454396" cy="671322"/>
          </a:xfrm>
          <a:prstGeom prst="roundRect">
            <a:avLst>
              <a:gd name="adj" fmla="val 13621"/>
            </a:avLst>
          </a:prstGeom>
          <a:solidFill>
            <a:schemeClr val="bg2"/>
          </a:solidFill>
          <a:ln w="9525">
            <a:solidFill>
              <a:srgbClr val="D5DCE6"/>
            </a:solidFill>
            <a:prstDash val="solid"/>
          </a:ln>
        </p:spPr>
      </p:sp>
      <p:sp>
        <p:nvSpPr>
          <p:cNvPr id="41" name="Text 37"/>
          <p:cNvSpPr txBox="1"/>
          <p:nvPr/>
        </p:nvSpPr>
        <p:spPr>
          <a:xfrm>
            <a:off x="6277356" y="3249168"/>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42" name="Text 38"/>
          <p:cNvSpPr txBox="1"/>
          <p:nvPr/>
        </p:nvSpPr>
        <p:spPr>
          <a:xfrm>
            <a:off x="6597396" y="3249168"/>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Toen</a:t>
            </a:r>
            <a:r>
              <a:rPr lang="en-US" sz="1500" i="1" dirty="0">
                <a:solidFill>
                  <a:schemeClr val="tx1"/>
                </a:solidFill>
              </a:rPr>
              <a:t> ik aankwam, </a:t>
            </a:r>
            <a:r>
              <a:rPr lang="en-US" sz="1500" b="1" i="1" dirty="0">
                <a:solidFill>
                  <a:srgbClr val="B83227"/>
                </a:solidFill>
              </a:rPr>
              <a:t>was</a:t>
            </a:r>
            <a:r>
              <a:rPr lang="en-US" sz="1500" i="1" dirty="0">
                <a:solidFill>
                  <a:schemeClr val="tx1"/>
                </a:solidFill>
              </a:rPr>
              <a:t> de trein </a:t>
            </a:r>
            <a:r>
              <a:rPr lang="en-US" sz="1500" b="1" i="1" dirty="0">
                <a:solidFill>
                  <a:srgbClr val="D9700F"/>
                </a:solidFill>
              </a:rPr>
              <a:t>al</a:t>
            </a:r>
            <a:r>
              <a:rPr lang="en-US" sz="1500" i="1" dirty="0">
                <a:solidFill>
                  <a:schemeClr val="tx1"/>
                </a:solidFill>
              </a:rPr>
              <a:t> </a:t>
            </a:r>
            <a:r>
              <a:rPr lang="en-US" sz="1500" b="1" i="1" dirty="0">
                <a:solidFill>
                  <a:srgbClr val="B83227"/>
                </a:solidFill>
              </a:rPr>
              <a:t>vertrokken</a:t>
            </a:r>
            <a:r>
              <a:rPr lang="en-US" sz="1500" i="1" dirty="0">
                <a:solidFill>
                  <a:schemeClr val="tx1"/>
                </a:solidFill>
              </a:rPr>
              <a:t>.</a:t>
            </a:r>
            <a:endParaRPr lang="en-US" sz="1800" dirty="0"/>
          </a:p>
        </p:txBody>
      </p:sp>
      <p:sp>
        <p:nvSpPr>
          <p:cNvPr id="43" name="Shape 39"/>
          <p:cNvSpPr/>
          <p:nvPr/>
        </p:nvSpPr>
        <p:spPr>
          <a:xfrm>
            <a:off x="9902952" y="3340608"/>
            <a:ext cx="1645920" cy="488442"/>
          </a:xfrm>
          <a:prstGeom prst="roundRect">
            <a:avLst>
              <a:gd name="adj" fmla="val 18721"/>
            </a:avLst>
          </a:prstGeom>
          <a:solidFill>
            <a:srgbClr val="7A1748"/>
          </a:solidFill>
          <a:ln w="12700">
            <a:solidFill>
              <a:srgbClr val="FFFFFF">
                <a:alpha val="0"/>
              </a:srgbClr>
            </a:solidFill>
            <a:prstDash val="solid"/>
          </a:ln>
        </p:spPr>
      </p:sp>
      <p:sp>
        <p:nvSpPr>
          <p:cNvPr id="44" name="Text 40"/>
          <p:cNvSpPr txBox="1"/>
          <p:nvPr/>
        </p:nvSpPr>
        <p:spPr>
          <a:xfrm>
            <a:off x="9902952" y="3340608"/>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①</a:t>
            </a:r>
            <a:endParaRPr lang="en-US" sz="1100" dirty="0"/>
          </a:p>
          <a:p>
            <a:pPr algn="ctr" indent="0" marL="0">
              <a:buNone/>
            </a:pPr>
            <a:r>
              <a:rPr lang="en-US" sz="1100" dirty="0">
                <a:solidFill>
                  <a:schemeClr val="bg1"/>
                </a:solidFill>
              </a:rPr>
              <a:t>plusquamperfectum</a:t>
            </a:r>
            <a:endParaRPr lang="en-US" sz="1100" dirty="0"/>
          </a:p>
        </p:txBody>
      </p:sp>
      <p:sp>
        <p:nvSpPr>
          <p:cNvPr id="45" name="Shape 41"/>
          <p:cNvSpPr/>
          <p:nvPr/>
        </p:nvSpPr>
        <p:spPr>
          <a:xfrm>
            <a:off x="6185916" y="4011930"/>
            <a:ext cx="5454396" cy="671322"/>
          </a:xfrm>
          <a:prstGeom prst="roundRect">
            <a:avLst>
              <a:gd name="adj" fmla="val 13621"/>
            </a:avLst>
          </a:prstGeom>
          <a:solidFill>
            <a:srgbClr val="FFFFFF"/>
          </a:solidFill>
          <a:ln w="9525">
            <a:solidFill>
              <a:srgbClr val="D5DCE6"/>
            </a:solidFill>
            <a:prstDash val="solid"/>
          </a:ln>
        </p:spPr>
      </p:sp>
      <p:sp>
        <p:nvSpPr>
          <p:cNvPr id="46" name="Text 42"/>
          <p:cNvSpPr txBox="1"/>
          <p:nvPr/>
        </p:nvSpPr>
        <p:spPr>
          <a:xfrm>
            <a:off x="6277356" y="4011930"/>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47" name="Text 43"/>
          <p:cNvSpPr txBox="1"/>
          <p:nvPr/>
        </p:nvSpPr>
        <p:spPr>
          <a:xfrm>
            <a:off x="6597396" y="4011930"/>
            <a:ext cx="3259836" cy="671322"/>
          </a:xfrm>
          <a:prstGeom prst="rect">
            <a:avLst/>
          </a:prstGeom>
          <a:noFill/>
          <a:ln/>
        </p:spPr>
        <p:txBody>
          <a:bodyPr wrap="square" lIns="0" tIns="0" rIns="0" bIns="0" rtlCol="0" anchor="ctr"/>
          <a:lstStyle/>
          <a:p>
            <a:pPr algn="l" indent="0" marL="0">
              <a:buNone/>
            </a:pPr>
            <a:r>
              <a:rPr lang="en-US" sz="1500" b="1" i="1" dirty="0">
                <a:solidFill>
                  <a:srgbClr val="B83227"/>
                </a:solidFill>
              </a:rPr>
              <a:t>Heb</a:t>
            </a:r>
            <a:r>
              <a:rPr lang="en-US" sz="1500" i="1" dirty="0">
                <a:solidFill>
                  <a:schemeClr val="tx1"/>
                </a:solidFill>
              </a:rPr>
              <a:t> je het rapport </a:t>
            </a:r>
            <a:r>
              <a:rPr lang="en-US" sz="1500" b="1" i="1" dirty="0">
                <a:solidFill>
                  <a:srgbClr val="D9700F"/>
                </a:solidFill>
              </a:rPr>
              <a:t>al</a:t>
            </a:r>
            <a:r>
              <a:rPr lang="en-US" sz="1500" i="1" dirty="0">
                <a:solidFill>
                  <a:schemeClr val="tx1"/>
                </a:solidFill>
              </a:rPr>
              <a:t> </a:t>
            </a:r>
            <a:r>
              <a:rPr lang="en-US" sz="1500" b="1" i="1" dirty="0">
                <a:solidFill>
                  <a:srgbClr val="B83227"/>
                </a:solidFill>
              </a:rPr>
              <a:t>gelezen</a:t>
            </a:r>
            <a:r>
              <a:rPr lang="en-US" sz="1500" i="1" dirty="0">
                <a:solidFill>
                  <a:schemeClr val="tx1"/>
                </a:solidFill>
              </a:rPr>
              <a:t>?</a:t>
            </a:r>
            <a:endParaRPr lang="en-US" sz="1800" dirty="0"/>
          </a:p>
        </p:txBody>
      </p:sp>
      <p:sp>
        <p:nvSpPr>
          <p:cNvPr id="48" name="Shape 44"/>
          <p:cNvSpPr/>
          <p:nvPr/>
        </p:nvSpPr>
        <p:spPr>
          <a:xfrm>
            <a:off x="9902952" y="4103370"/>
            <a:ext cx="1645920" cy="488442"/>
          </a:xfrm>
          <a:prstGeom prst="roundRect">
            <a:avLst>
              <a:gd name="adj" fmla="val 18721"/>
            </a:avLst>
          </a:prstGeom>
          <a:solidFill>
            <a:schemeClr val="accent4"/>
          </a:solidFill>
          <a:ln w="12700">
            <a:solidFill>
              <a:srgbClr val="FFFFFF">
                <a:alpha val="0"/>
              </a:srgbClr>
            </a:solidFill>
            <a:prstDash val="solid"/>
          </a:ln>
        </p:spPr>
      </p:sp>
      <p:sp>
        <p:nvSpPr>
          <p:cNvPr id="49" name="Text 45"/>
          <p:cNvSpPr txBox="1"/>
          <p:nvPr/>
        </p:nvSpPr>
        <p:spPr>
          <a:xfrm>
            <a:off x="9902952" y="4103370"/>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②</a:t>
            </a:r>
            <a:endParaRPr lang="en-US" sz="1100" dirty="0"/>
          </a:p>
          <a:p>
            <a:pPr algn="ctr" indent="0" marL="0">
              <a:buNone/>
            </a:pPr>
            <a:r>
              <a:rPr lang="en-US" sz="1100" dirty="0">
                <a:solidFill>
                  <a:schemeClr val="bg1"/>
                </a:solidFill>
              </a:rPr>
              <a:t>perfectum</a:t>
            </a:r>
            <a:endParaRPr lang="en-US" sz="1100" dirty="0"/>
          </a:p>
        </p:txBody>
      </p:sp>
      <p:sp>
        <p:nvSpPr>
          <p:cNvPr id="50" name="Shape 46"/>
          <p:cNvSpPr/>
          <p:nvPr/>
        </p:nvSpPr>
        <p:spPr>
          <a:xfrm>
            <a:off x="6185916" y="4774692"/>
            <a:ext cx="5454396" cy="671322"/>
          </a:xfrm>
          <a:prstGeom prst="roundRect">
            <a:avLst>
              <a:gd name="adj" fmla="val 13621"/>
            </a:avLst>
          </a:prstGeom>
          <a:solidFill>
            <a:schemeClr val="bg2"/>
          </a:solidFill>
          <a:ln w="9525">
            <a:solidFill>
              <a:srgbClr val="D5DCE6"/>
            </a:solidFill>
            <a:prstDash val="solid"/>
          </a:ln>
        </p:spPr>
      </p:sp>
      <p:sp>
        <p:nvSpPr>
          <p:cNvPr id="51" name="Text 47"/>
          <p:cNvSpPr txBox="1"/>
          <p:nvPr/>
        </p:nvSpPr>
        <p:spPr>
          <a:xfrm>
            <a:off x="6277356" y="4774692"/>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52" name="Text 48"/>
          <p:cNvSpPr txBox="1"/>
          <p:nvPr/>
        </p:nvSpPr>
        <p:spPr>
          <a:xfrm>
            <a:off x="6597396" y="4774692"/>
            <a:ext cx="3259836" cy="671322"/>
          </a:xfrm>
          <a:prstGeom prst="rect">
            <a:avLst/>
          </a:prstGeom>
          <a:noFill/>
          <a:ln/>
        </p:spPr>
        <p:txBody>
          <a:bodyPr wrap="square" lIns="0" tIns="0" rIns="0" bIns="0" rtlCol="0" anchor="ctr"/>
          <a:lstStyle/>
          <a:p>
            <a:pPr algn="l" indent="0" marL="0">
              <a:buNone/>
            </a:pPr>
            <a:r>
              <a:rPr lang="en-US" sz="1500" b="1" i="1" dirty="0">
                <a:solidFill>
                  <a:srgbClr val="D9700F"/>
                </a:solidFill>
              </a:rPr>
              <a:t>Tegen juni</a:t>
            </a:r>
            <a:r>
              <a:rPr lang="en-US" sz="1500" i="1" dirty="0">
                <a:solidFill>
                  <a:schemeClr val="tx1"/>
                </a:solidFill>
              </a:rPr>
              <a:t> </a:t>
            </a:r>
            <a:r>
              <a:rPr lang="en-US" sz="1500" b="1" i="1" dirty="0">
                <a:solidFill>
                  <a:srgbClr val="B83227"/>
                </a:solidFill>
              </a:rPr>
              <a:t>zal</a:t>
            </a:r>
            <a:r>
              <a:rPr lang="en-US" sz="1500" i="1" dirty="0">
                <a:solidFill>
                  <a:schemeClr val="tx1"/>
                </a:solidFill>
              </a:rPr>
              <a:t> ik mijn diploma </a:t>
            </a:r>
            <a:r>
              <a:rPr lang="en-US" sz="1500" b="1" i="1" dirty="0">
                <a:solidFill>
                  <a:srgbClr val="B83227"/>
                </a:solidFill>
              </a:rPr>
              <a:t>behaald hebben</a:t>
            </a:r>
            <a:r>
              <a:rPr lang="en-US" sz="1500" i="1" dirty="0">
                <a:solidFill>
                  <a:schemeClr val="tx1"/>
                </a:solidFill>
              </a:rPr>
              <a:t>.</a:t>
            </a:r>
            <a:endParaRPr lang="en-US" sz="1800" dirty="0"/>
          </a:p>
        </p:txBody>
      </p:sp>
      <p:sp>
        <p:nvSpPr>
          <p:cNvPr id="53" name="Shape 49"/>
          <p:cNvSpPr/>
          <p:nvPr/>
        </p:nvSpPr>
        <p:spPr>
          <a:xfrm>
            <a:off x="9902952" y="4866132"/>
            <a:ext cx="1645920" cy="488442"/>
          </a:xfrm>
          <a:prstGeom prst="roundRect">
            <a:avLst>
              <a:gd name="adj" fmla="val 18721"/>
            </a:avLst>
          </a:prstGeom>
          <a:solidFill>
            <a:schemeClr val="accent3"/>
          </a:solidFill>
          <a:ln w="12700">
            <a:solidFill>
              <a:srgbClr val="FFFFFF">
                <a:alpha val="0"/>
              </a:srgbClr>
            </a:solidFill>
            <a:prstDash val="solid"/>
          </a:ln>
        </p:spPr>
      </p:sp>
      <p:sp>
        <p:nvSpPr>
          <p:cNvPr id="54" name="Text 50"/>
          <p:cNvSpPr txBox="1"/>
          <p:nvPr/>
        </p:nvSpPr>
        <p:spPr>
          <a:xfrm>
            <a:off x="9902952" y="4866132"/>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④</a:t>
            </a:r>
            <a:endParaRPr lang="en-US" sz="1100" dirty="0"/>
          </a:p>
          <a:p>
            <a:pPr algn="ctr" indent="0" marL="0">
              <a:buNone/>
            </a:pPr>
            <a:r>
              <a:rPr lang="en-US" sz="1100" dirty="0">
                <a:solidFill>
                  <a:schemeClr val="bg1"/>
                </a:solidFill>
              </a:rPr>
              <a:t>futurum exactum</a:t>
            </a:r>
            <a:endParaRPr lang="en-US" sz="1100" dirty="0"/>
          </a:p>
        </p:txBody>
      </p:sp>
      <p:sp>
        <p:nvSpPr>
          <p:cNvPr id="55" name="Shape 51"/>
          <p:cNvSpPr/>
          <p:nvPr/>
        </p:nvSpPr>
        <p:spPr>
          <a:xfrm>
            <a:off x="6185916" y="5537454"/>
            <a:ext cx="5454396" cy="671322"/>
          </a:xfrm>
          <a:prstGeom prst="roundRect">
            <a:avLst>
              <a:gd name="adj" fmla="val 13621"/>
            </a:avLst>
          </a:prstGeom>
          <a:solidFill>
            <a:srgbClr val="FFFFFF"/>
          </a:solidFill>
          <a:ln w="9525">
            <a:solidFill>
              <a:srgbClr val="D5DCE6"/>
            </a:solidFill>
            <a:prstDash val="solid"/>
          </a:ln>
        </p:spPr>
      </p:sp>
      <p:sp>
        <p:nvSpPr>
          <p:cNvPr id="56" name="Text 52"/>
          <p:cNvSpPr txBox="1"/>
          <p:nvPr/>
        </p:nvSpPr>
        <p:spPr>
          <a:xfrm>
            <a:off x="6277356" y="5537454"/>
            <a:ext cx="320040" cy="671322"/>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57" name="Text 53"/>
          <p:cNvSpPr txBox="1"/>
          <p:nvPr/>
        </p:nvSpPr>
        <p:spPr>
          <a:xfrm>
            <a:off x="6597396" y="5537454"/>
            <a:ext cx="3259836" cy="671322"/>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rgbClr val="B83227"/>
                </a:solidFill>
              </a:rPr>
              <a:t>woon</a:t>
            </a:r>
            <a:r>
              <a:rPr lang="en-US" sz="1500" i="1" dirty="0">
                <a:solidFill>
                  <a:schemeClr val="tx1"/>
                </a:solidFill>
              </a:rPr>
              <a:t> hier </a:t>
            </a:r>
            <a:r>
              <a:rPr lang="en-US" sz="1500" b="1" i="1" dirty="0">
                <a:solidFill>
                  <a:srgbClr val="D9700F"/>
                </a:solidFill>
              </a:rPr>
              <a:t>al</a:t>
            </a:r>
            <a:r>
              <a:rPr lang="en-US" sz="1500" i="1" dirty="0">
                <a:solidFill>
                  <a:schemeClr val="tx1"/>
                </a:solidFill>
              </a:rPr>
              <a:t> tien jaar.</a:t>
            </a:r>
            <a:endParaRPr lang="en-US" sz="1800" dirty="0"/>
          </a:p>
        </p:txBody>
      </p:sp>
      <p:sp>
        <p:nvSpPr>
          <p:cNvPr id="58" name="Shape 54"/>
          <p:cNvSpPr/>
          <p:nvPr/>
        </p:nvSpPr>
        <p:spPr>
          <a:xfrm>
            <a:off x="9902952" y="5628894"/>
            <a:ext cx="1645920" cy="488442"/>
          </a:xfrm>
          <a:prstGeom prst="roundRect">
            <a:avLst>
              <a:gd name="adj" fmla="val 18721"/>
            </a:avLst>
          </a:prstGeom>
          <a:solidFill>
            <a:schemeClr val="accent2"/>
          </a:solidFill>
          <a:ln w="12700">
            <a:solidFill>
              <a:srgbClr val="FFFFFF">
                <a:alpha val="0"/>
              </a:srgbClr>
            </a:solidFill>
            <a:prstDash val="solid"/>
          </a:ln>
        </p:spPr>
      </p:sp>
      <p:sp>
        <p:nvSpPr>
          <p:cNvPr id="59" name="Text 55"/>
          <p:cNvSpPr txBox="1"/>
          <p:nvPr/>
        </p:nvSpPr>
        <p:spPr>
          <a:xfrm>
            <a:off x="9902952" y="5628894"/>
            <a:ext cx="1645920" cy="488442"/>
          </a:xfrm>
          <a:prstGeom prst="rect">
            <a:avLst/>
          </a:prstGeom>
          <a:noFill/>
          <a:ln/>
        </p:spPr>
        <p:txBody>
          <a:bodyPr wrap="square" lIns="0" tIns="0" rIns="0" bIns="0" rtlCol="0" anchor="ctr"/>
          <a:lstStyle/>
          <a:p>
            <a:pPr algn="ctr" indent="0" marL="0">
              <a:buNone/>
            </a:pPr>
            <a:r>
              <a:rPr lang="en-US" sz="1100" b="1" dirty="0">
                <a:solidFill>
                  <a:schemeClr val="bg1"/>
                </a:solidFill>
              </a:rPr>
              <a:t>② → ③</a:t>
            </a:r>
            <a:endParaRPr lang="en-US" sz="1100" dirty="0"/>
          </a:p>
          <a:p>
            <a:pPr algn="ctr" indent="0" marL="0">
              <a:buNone/>
            </a:pPr>
            <a:r>
              <a:rPr lang="en-US" sz="1100" dirty="0">
                <a:solidFill>
                  <a:schemeClr val="bg1"/>
                </a:solidFill>
              </a:rPr>
              <a:t>presens + al</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Un verbe, huit temps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a:t>
            </a:r>
            <a:r>
              <a:rPr lang="en-US" sz="1700" i="1" dirty="0">
                <a:solidFill>
                  <a:schemeClr val="accent5"/>
                </a:solidFill>
              </a:rPr>
              <a:t>bellen</a:t>
            </a:r>
            <a:r>
              <a:rPr lang="en-US" sz="1700" i="1" dirty="0">
                <a:solidFill>
                  <a:schemeClr val="accent5"/>
                </a:solidFill>
              </a:rPr>
              <a:t> (avec </a:t>
            </a:r>
            <a:r>
              <a:rPr lang="en-US" sz="1700" i="1" dirty="0">
                <a:solidFill>
                  <a:schemeClr val="accent5"/>
                </a:solidFill>
              </a:rPr>
              <a:t>ik</a:t>
            </a:r>
            <a:r>
              <a:rPr lang="en-US" sz="1700" i="1" dirty="0">
                <a:solidFill>
                  <a:schemeClr val="accent5"/>
                </a:solidFill>
              </a:rPr>
              <a:t>) et </a:t>
            </a:r>
            <a:r>
              <a:rPr lang="en-US" sz="1700" i="1" dirty="0">
                <a:solidFill>
                  <a:schemeClr val="accent5"/>
                </a:solidFill>
              </a:rPr>
              <a:t>vertrekken</a:t>
            </a:r>
            <a:r>
              <a:rPr lang="en-US" sz="1700" i="1" dirty="0">
                <a:solidFill>
                  <a:schemeClr val="accent5"/>
                </a:solidFill>
              </a:rPr>
              <a:t> (avec </a:t>
            </a:r>
            <a:r>
              <a:rPr lang="en-US" sz="1700" i="1" dirty="0">
                <a:solidFill>
                  <a:schemeClr val="accent5"/>
                </a:solidFill>
              </a:rPr>
              <a:t>we</a:t>
            </a:r>
            <a:r>
              <a:rPr lang="en-US" sz="1700" i="1" dirty="0">
                <a:solidFill>
                  <a:schemeClr val="accent5"/>
                </a:solidFill>
              </a:rPr>
              <a:t>) aux huit temps.</a:t>
            </a:r>
            <a:endParaRPr lang="en-US" sz="1700" dirty="0"/>
          </a:p>
        </p:txBody>
      </p:sp>
      <p:sp>
        <p:nvSpPr>
          <p:cNvPr id="8" name="Shape 4"/>
          <p:cNvSpPr/>
          <p:nvPr/>
        </p:nvSpPr>
        <p:spPr>
          <a:xfrm>
            <a:off x="548640" y="1932432"/>
            <a:ext cx="3063240" cy="365760"/>
          </a:xfrm>
          <a:prstGeom prst="roundRect">
            <a:avLst>
              <a:gd name="adj" fmla="val 15000"/>
            </a:avLst>
          </a:prstGeom>
          <a:solidFill>
            <a:schemeClr val="tx2"/>
          </a:solidFill>
          <a:ln w="12700">
            <a:solidFill>
              <a:srgbClr val="FFFFFF">
                <a:alpha val="0"/>
              </a:srgbClr>
            </a:solidFill>
            <a:prstDash val="solid"/>
          </a:ln>
        </p:spPr>
      </p:sp>
      <p:sp>
        <p:nvSpPr>
          <p:cNvPr id="9" name="Text 5"/>
          <p:cNvSpPr txBox="1"/>
          <p:nvPr/>
        </p:nvSpPr>
        <p:spPr>
          <a:xfrm>
            <a:off x="548640" y="1932432"/>
            <a:ext cx="3063240" cy="365760"/>
          </a:xfrm>
          <a:prstGeom prst="rect">
            <a:avLst/>
          </a:prstGeom>
          <a:noFill/>
          <a:ln/>
        </p:spPr>
        <p:txBody>
          <a:bodyPr wrap="square" lIns="0" tIns="0" rIns="0" bIns="0" rtlCol="0" anchor="ctr"/>
          <a:lstStyle/>
          <a:p>
            <a:pPr algn="ctr" indent="0" marL="0">
              <a:buNone/>
            </a:pPr>
            <a:r>
              <a:rPr lang="en-US" sz="1400" b="1" dirty="0">
                <a:solidFill>
                  <a:schemeClr val="bg1"/>
                </a:solidFill>
              </a:rPr>
              <a:t>temps</a:t>
            </a:r>
            <a:endParaRPr lang="en-US" sz="1400" dirty="0"/>
          </a:p>
        </p:txBody>
      </p:sp>
      <p:sp>
        <p:nvSpPr>
          <p:cNvPr id="10" name="Shape 6"/>
          <p:cNvSpPr/>
          <p:nvPr/>
        </p:nvSpPr>
        <p:spPr>
          <a:xfrm>
            <a:off x="3657600" y="1932432"/>
            <a:ext cx="3886200" cy="365760"/>
          </a:xfrm>
          <a:prstGeom prst="roundRect">
            <a:avLst>
              <a:gd name="adj" fmla="val 15000"/>
            </a:avLst>
          </a:prstGeom>
          <a:solidFill>
            <a:schemeClr val="tx2"/>
          </a:solidFill>
          <a:ln w="12700">
            <a:solidFill>
              <a:srgbClr val="FFFFFF">
                <a:alpha val="0"/>
              </a:srgbClr>
            </a:solidFill>
            <a:prstDash val="solid"/>
          </a:ln>
        </p:spPr>
      </p:sp>
      <p:sp>
        <p:nvSpPr>
          <p:cNvPr id="11" name="Text 7"/>
          <p:cNvSpPr txBox="1"/>
          <p:nvPr/>
        </p:nvSpPr>
        <p:spPr>
          <a:xfrm>
            <a:off x="3657600" y="1932432"/>
            <a:ext cx="3886200" cy="365760"/>
          </a:xfrm>
          <a:prstGeom prst="rect">
            <a:avLst/>
          </a:prstGeom>
          <a:noFill/>
          <a:ln/>
        </p:spPr>
        <p:txBody>
          <a:bodyPr wrap="square" lIns="0" tIns="0" rIns="0" bIns="0" rtlCol="0" anchor="ctr"/>
          <a:lstStyle/>
          <a:p>
            <a:pPr algn="ctr" indent="0" marL="0">
              <a:buNone/>
            </a:pPr>
            <a:r>
              <a:rPr lang="en-US" sz="1400" b="1" dirty="0">
                <a:solidFill>
                  <a:schemeClr val="bg1"/>
                </a:solidFill>
              </a:rPr>
              <a:t>bellen (ik)</a:t>
            </a:r>
            <a:endParaRPr lang="en-US" sz="1400" dirty="0"/>
          </a:p>
        </p:txBody>
      </p:sp>
      <p:sp>
        <p:nvSpPr>
          <p:cNvPr id="12" name="Shape 8"/>
          <p:cNvSpPr/>
          <p:nvPr/>
        </p:nvSpPr>
        <p:spPr>
          <a:xfrm>
            <a:off x="7589520" y="1932432"/>
            <a:ext cx="4005072" cy="365760"/>
          </a:xfrm>
          <a:prstGeom prst="roundRect">
            <a:avLst>
              <a:gd name="adj" fmla="val 15000"/>
            </a:avLst>
          </a:prstGeom>
          <a:solidFill>
            <a:schemeClr val="tx2"/>
          </a:solidFill>
          <a:ln w="12700">
            <a:solidFill>
              <a:srgbClr val="FFFFFF">
                <a:alpha val="0"/>
              </a:srgbClr>
            </a:solidFill>
            <a:prstDash val="solid"/>
          </a:ln>
        </p:spPr>
      </p:sp>
      <p:sp>
        <p:nvSpPr>
          <p:cNvPr id="13" name="Text 9"/>
          <p:cNvSpPr txBox="1"/>
          <p:nvPr/>
        </p:nvSpPr>
        <p:spPr>
          <a:xfrm>
            <a:off x="7589520" y="1932432"/>
            <a:ext cx="4005072" cy="365760"/>
          </a:xfrm>
          <a:prstGeom prst="rect">
            <a:avLst/>
          </a:prstGeom>
          <a:noFill/>
          <a:ln/>
        </p:spPr>
        <p:txBody>
          <a:bodyPr wrap="square" lIns="0" tIns="0" rIns="0" bIns="0" rtlCol="0" anchor="ctr"/>
          <a:lstStyle/>
          <a:p>
            <a:pPr algn="ctr" indent="0" marL="0">
              <a:buNone/>
            </a:pPr>
            <a:r>
              <a:rPr lang="en-US" sz="1400" b="1" dirty="0">
                <a:solidFill>
                  <a:schemeClr val="bg1"/>
                </a:solidFill>
              </a:rPr>
              <a:t>vertrekken (we)</a:t>
            </a:r>
            <a:endParaRPr lang="en-US" sz="1400" dirty="0"/>
          </a:p>
        </p:txBody>
      </p:sp>
      <p:sp>
        <p:nvSpPr>
          <p:cNvPr id="14" name="Shape 10"/>
          <p:cNvSpPr/>
          <p:nvPr/>
        </p:nvSpPr>
        <p:spPr>
          <a:xfrm>
            <a:off x="548640" y="2362200"/>
            <a:ext cx="11045952" cy="453390"/>
          </a:xfrm>
          <a:prstGeom prst="roundRect">
            <a:avLst>
              <a:gd name="adj" fmla="val 12101"/>
            </a:avLst>
          </a:prstGeom>
          <a:solidFill>
            <a:schemeClr val="bg2"/>
          </a:solidFill>
          <a:ln w="12700">
            <a:solidFill>
              <a:srgbClr val="FFFFFF">
                <a:alpha val="0"/>
              </a:srgbClr>
            </a:solidFill>
            <a:prstDash val="solid"/>
          </a:ln>
        </p:spPr>
      </p:sp>
      <p:sp>
        <p:nvSpPr>
          <p:cNvPr id="15" name="Shape 11"/>
          <p:cNvSpPr/>
          <p:nvPr/>
        </p:nvSpPr>
        <p:spPr>
          <a:xfrm>
            <a:off x="548640" y="2362200"/>
            <a:ext cx="91440" cy="453390"/>
          </a:xfrm>
          <a:prstGeom prst="rect">
            <a:avLst/>
          </a:prstGeom>
          <a:solidFill>
            <a:schemeClr val="accent2"/>
          </a:solidFill>
          <a:ln w="12700">
            <a:solidFill>
              <a:srgbClr val="FFFFFF">
                <a:alpha val="0"/>
              </a:srgbClr>
            </a:solidFill>
            <a:prstDash val="solid"/>
          </a:ln>
        </p:spPr>
      </p:sp>
      <p:sp>
        <p:nvSpPr>
          <p:cNvPr id="16" name="Text 12"/>
          <p:cNvSpPr txBox="1"/>
          <p:nvPr/>
        </p:nvSpPr>
        <p:spPr>
          <a:xfrm>
            <a:off x="731520" y="2343912"/>
            <a:ext cx="2926080" cy="489966"/>
          </a:xfrm>
          <a:prstGeom prst="rect">
            <a:avLst/>
          </a:prstGeom>
          <a:noFill/>
          <a:ln/>
        </p:spPr>
        <p:txBody>
          <a:bodyPr wrap="square" lIns="0" tIns="0" rIns="0" bIns="0" rtlCol="0" anchor="ctr"/>
          <a:lstStyle/>
          <a:p>
            <a:pPr algn="l" indent="0" marL="0">
              <a:buNone/>
            </a:pPr>
            <a:r>
              <a:rPr lang="en-US" sz="1250" b="1" dirty="0">
                <a:solidFill>
                  <a:schemeClr val="accent2"/>
                </a:solidFill>
              </a:rPr>
              <a:t>presens</a:t>
            </a:r>
            <a:r>
              <a:rPr lang="en-US" sz="1250" dirty="0">
                <a:solidFill>
                  <a:schemeClr val="accent2"/>
                </a:solidFill>
              </a:rPr>
              <a:t> · présent</a:t>
            </a:r>
            <a:endParaRPr lang="en-US" sz="1250" dirty="0"/>
          </a:p>
        </p:txBody>
      </p:sp>
      <p:sp>
        <p:nvSpPr>
          <p:cNvPr id="17" name="Text 13"/>
          <p:cNvSpPr txBox="1"/>
          <p:nvPr/>
        </p:nvSpPr>
        <p:spPr>
          <a:xfrm>
            <a:off x="3794760" y="2343912"/>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18" name="Text 14"/>
          <p:cNvSpPr txBox="1"/>
          <p:nvPr/>
        </p:nvSpPr>
        <p:spPr>
          <a:xfrm>
            <a:off x="7726680" y="2343912"/>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19" name="Shape 15"/>
          <p:cNvSpPr/>
          <p:nvPr/>
        </p:nvSpPr>
        <p:spPr>
          <a:xfrm>
            <a:off x="548640" y="2852166"/>
            <a:ext cx="11045952" cy="453390"/>
          </a:xfrm>
          <a:prstGeom prst="roundRect">
            <a:avLst>
              <a:gd name="adj" fmla="val 12101"/>
            </a:avLst>
          </a:prstGeom>
          <a:solidFill>
            <a:srgbClr val="FFFFFF"/>
          </a:solidFill>
          <a:ln w="12700">
            <a:solidFill>
              <a:srgbClr val="FFFFFF">
                <a:alpha val="0"/>
              </a:srgbClr>
            </a:solidFill>
            <a:prstDash val="solid"/>
          </a:ln>
        </p:spPr>
      </p:sp>
      <p:sp>
        <p:nvSpPr>
          <p:cNvPr id="20" name="Shape 16"/>
          <p:cNvSpPr/>
          <p:nvPr/>
        </p:nvSpPr>
        <p:spPr>
          <a:xfrm>
            <a:off x="548640" y="2852166"/>
            <a:ext cx="91440" cy="453390"/>
          </a:xfrm>
          <a:prstGeom prst="rect">
            <a:avLst/>
          </a:prstGeom>
          <a:solidFill>
            <a:schemeClr val="accent4"/>
          </a:solidFill>
          <a:ln w="12700">
            <a:solidFill>
              <a:srgbClr val="FFFFFF">
                <a:alpha val="0"/>
              </a:srgbClr>
            </a:solidFill>
            <a:prstDash val="solid"/>
          </a:ln>
        </p:spPr>
      </p:sp>
      <p:sp>
        <p:nvSpPr>
          <p:cNvPr id="21" name="Text 17"/>
          <p:cNvSpPr txBox="1"/>
          <p:nvPr/>
        </p:nvSpPr>
        <p:spPr>
          <a:xfrm>
            <a:off x="731520" y="2833878"/>
            <a:ext cx="2926080" cy="489966"/>
          </a:xfrm>
          <a:prstGeom prst="rect">
            <a:avLst/>
          </a:prstGeom>
          <a:noFill/>
          <a:ln/>
        </p:spPr>
        <p:txBody>
          <a:bodyPr wrap="square" lIns="0" tIns="0" rIns="0" bIns="0" rtlCol="0" anchor="ctr"/>
          <a:lstStyle/>
          <a:p>
            <a:pPr algn="l" indent="0" marL="0">
              <a:buNone/>
            </a:pPr>
            <a:r>
              <a:rPr lang="en-US" sz="1250" b="1" dirty="0">
                <a:solidFill>
                  <a:schemeClr val="accent4"/>
                </a:solidFill>
              </a:rPr>
              <a:t>perfectum</a:t>
            </a:r>
            <a:r>
              <a:rPr lang="en-US" sz="1250" dirty="0">
                <a:solidFill>
                  <a:schemeClr val="accent4"/>
                </a:solidFill>
              </a:rPr>
              <a:t> · passé composé</a:t>
            </a:r>
            <a:endParaRPr lang="en-US" sz="1250" dirty="0"/>
          </a:p>
        </p:txBody>
      </p:sp>
      <p:sp>
        <p:nvSpPr>
          <p:cNvPr id="22" name="Text 18"/>
          <p:cNvSpPr txBox="1"/>
          <p:nvPr/>
        </p:nvSpPr>
        <p:spPr>
          <a:xfrm>
            <a:off x="3794760" y="2833878"/>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23" name="Text 19"/>
          <p:cNvSpPr txBox="1"/>
          <p:nvPr/>
        </p:nvSpPr>
        <p:spPr>
          <a:xfrm>
            <a:off x="7726680" y="2833878"/>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24" name="Shape 20"/>
          <p:cNvSpPr/>
          <p:nvPr/>
        </p:nvSpPr>
        <p:spPr>
          <a:xfrm>
            <a:off x="548640" y="3342132"/>
            <a:ext cx="11045952" cy="453390"/>
          </a:xfrm>
          <a:prstGeom prst="roundRect">
            <a:avLst>
              <a:gd name="adj" fmla="val 12101"/>
            </a:avLst>
          </a:prstGeom>
          <a:solidFill>
            <a:schemeClr val="bg2"/>
          </a:solidFill>
          <a:ln w="12700">
            <a:solidFill>
              <a:srgbClr val="FFFFFF">
                <a:alpha val="0"/>
              </a:srgbClr>
            </a:solidFill>
            <a:prstDash val="solid"/>
          </a:ln>
        </p:spPr>
      </p:sp>
      <p:sp>
        <p:nvSpPr>
          <p:cNvPr id="25" name="Shape 21"/>
          <p:cNvSpPr/>
          <p:nvPr/>
        </p:nvSpPr>
        <p:spPr>
          <a:xfrm>
            <a:off x="548640" y="3342132"/>
            <a:ext cx="91440" cy="453390"/>
          </a:xfrm>
          <a:prstGeom prst="rect">
            <a:avLst/>
          </a:prstGeom>
          <a:solidFill>
            <a:schemeClr val="accent4"/>
          </a:solidFill>
          <a:ln w="12700">
            <a:solidFill>
              <a:srgbClr val="FFFFFF">
                <a:alpha val="0"/>
              </a:srgbClr>
            </a:solidFill>
            <a:prstDash val="solid"/>
          </a:ln>
        </p:spPr>
      </p:sp>
      <p:sp>
        <p:nvSpPr>
          <p:cNvPr id="26" name="Text 22"/>
          <p:cNvSpPr txBox="1"/>
          <p:nvPr/>
        </p:nvSpPr>
        <p:spPr>
          <a:xfrm>
            <a:off x="731520" y="3323844"/>
            <a:ext cx="2926080" cy="489966"/>
          </a:xfrm>
          <a:prstGeom prst="rect">
            <a:avLst/>
          </a:prstGeom>
          <a:noFill/>
          <a:ln/>
        </p:spPr>
        <p:txBody>
          <a:bodyPr wrap="square" lIns="0" tIns="0" rIns="0" bIns="0" rtlCol="0" anchor="ctr"/>
          <a:lstStyle/>
          <a:p>
            <a:pPr algn="l" indent="0" marL="0">
              <a:buNone/>
            </a:pPr>
            <a:r>
              <a:rPr lang="en-US" sz="1250" b="1" dirty="0">
                <a:solidFill>
                  <a:schemeClr val="accent4"/>
                </a:solidFill>
              </a:rPr>
              <a:t>imperfectum</a:t>
            </a:r>
            <a:r>
              <a:rPr lang="en-US" sz="1250" dirty="0">
                <a:solidFill>
                  <a:schemeClr val="accent4"/>
                </a:solidFill>
              </a:rPr>
              <a:t> · imparfait</a:t>
            </a:r>
            <a:endParaRPr lang="en-US" sz="1250" dirty="0"/>
          </a:p>
        </p:txBody>
      </p:sp>
      <p:sp>
        <p:nvSpPr>
          <p:cNvPr id="27" name="Text 23"/>
          <p:cNvSpPr txBox="1"/>
          <p:nvPr/>
        </p:nvSpPr>
        <p:spPr>
          <a:xfrm>
            <a:off x="3794760" y="3323844"/>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28" name="Text 24"/>
          <p:cNvSpPr txBox="1"/>
          <p:nvPr/>
        </p:nvSpPr>
        <p:spPr>
          <a:xfrm>
            <a:off x="7726680" y="3323844"/>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29" name="Shape 25"/>
          <p:cNvSpPr/>
          <p:nvPr/>
        </p:nvSpPr>
        <p:spPr>
          <a:xfrm>
            <a:off x="548640" y="3832098"/>
            <a:ext cx="11045952" cy="453390"/>
          </a:xfrm>
          <a:prstGeom prst="roundRect">
            <a:avLst>
              <a:gd name="adj" fmla="val 12101"/>
            </a:avLst>
          </a:prstGeom>
          <a:solidFill>
            <a:srgbClr val="FFFFFF"/>
          </a:solidFill>
          <a:ln w="12700">
            <a:solidFill>
              <a:srgbClr val="FFFFFF">
                <a:alpha val="0"/>
              </a:srgbClr>
            </a:solidFill>
            <a:prstDash val="solid"/>
          </a:ln>
        </p:spPr>
      </p:sp>
      <p:sp>
        <p:nvSpPr>
          <p:cNvPr id="30" name="Shape 26"/>
          <p:cNvSpPr/>
          <p:nvPr/>
        </p:nvSpPr>
        <p:spPr>
          <a:xfrm>
            <a:off x="548640" y="3832098"/>
            <a:ext cx="91440" cy="453390"/>
          </a:xfrm>
          <a:prstGeom prst="rect">
            <a:avLst/>
          </a:prstGeom>
          <a:solidFill>
            <a:srgbClr val="7A1748"/>
          </a:solidFill>
          <a:ln w="12700">
            <a:solidFill>
              <a:srgbClr val="FFFFFF">
                <a:alpha val="0"/>
              </a:srgbClr>
            </a:solidFill>
            <a:prstDash val="solid"/>
          </a:ln>
        </p:spPr>
      </p:sp>
      <p:sp>
        <p:nvSpPr>
          <p:cNvPr id="31" name="Text 27"/>
          <p:cNvSpPr txBox="1"/>
          <p:nvPr/>
        </p:nvSpPr>
        <p:spPr>
          <a:xfrm>
            <a:off x="731520" y="3813810"/>
            <a:ext cx="2926080" cy="489966"/>
          </a:xfrm>
          <a:prstGeom prst="rect">
            <a:avLst/>
          </a:prstGeom>
          <a:noFill/>
          <a:ln/>
        </p:spPr>
        <p:txBody>
          <a:bodyPr wrap="square" lIns="0" tIns="0" rIns="0" bIns="0" rtlCol="0" anchor="ctr"/>
          <a:lstStyle/>
          <a:p>
            <a:pPr algn="l" indent="0" marL="0">
              <a:buNone/>
            </a:pPr>
            <a:r>
              <a:rPr lang="en-US" sz="1100" b="1" dirty="0">
                <a:solidFill>
                  <a:srgbClr val="7A1748"/>
                </a:solidFill>
              </a:rPr>
              <a:t>plusquamperfectum</a:t>
            </a:r>
            <a:r>
              <a:rPr lang="en-US" sz="1100" dirty="0">
                <a:solidFill>
                  <a:srgbClr val="7A1748"/>
                </a:solidFill>
              </a:rPr>
              <a:t> · plus-que-parfait</a:t>
            </a:r>
            <a:endParaRPr lang="en-US" sz="1100" dirty="0"/>
          </a:p>
        </p:txBody>
      </p:sp>
      <p:sp>
        <p:nvSpPr>
          <p:cNvPr id="32" name="Text 28"/>
          <p:cNvSpPr txBox="1"/>
          <p:nvPr/>
        </p:nvSpPr>
        <p:spPr>
          <a:xfrm>
            <a:off x="3794760" y="3813810"/>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33" name="Text 29"/>
          <p:cNvSpPr txBox="1"/>
          <p:nvPr/>
        </p:nvSpPr>
        <p:spPr>
          <a:xfrm>
            <a:off x="7726680" y="3813810"/>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34" name="Shape 30"/>
          <p:cNvSpPr/>
          <p:nvPr/>
        </p:nvSpPr>
        <p:spPr>
          <a:xfrm>
            <a:off x="548640" y="4322064"/>
            <a:ext cx="11045952" cy="453390"/>
          </a:xfrm>
          <a:prstGeom prst="roundRect">
            <a:avLst>
              <a:gd name="adj" fmla="val 12101"/>
            </a:avLst>
          </a:prstGeom>
          <a:solidFill>
            <a:schemeClr val="bg2"/>
          </a:solidFill>
          <a:ln w="12700">
            <a:solidFill>
              <a:srgbClr val="FFFFFF">
                <a:alpha val="0"/>
              </a:srgbClr>
            </a:solidFill>
            <a:prstDash val="solid"/>
          </a:ln>
        </p:spPr>
      </p:sp>
      <p:sp>
        <p:nvSpPr>
          <p:cNvPr id="35" name="Shape 31"/>
          <p:cNvSpPr/>
          <p:nvPr/>
        </p:nvSpPr>
        <p:spPr>
          <a:xfrm>
            <a:off x="548640" y="4322064"/>
            <a:ext cx="91440" cy="453390"/>
          </a:xfrm>
          <a:prstGeom prst="rect">
            <a:avLst/>
          </a:prstGeom>
          <a:solidFill>
            <a:schemeClr val="accent3"/>
          </a:solidFill>
          <a:ln w="12700">
            <a:solidFill>
              <a:srgbClr val="FFFFFF">
                <a:alpha val="0"/>
              </a:srgbClr>
            </a:solidFill>
            <a:prstDash val="solid"/>
          </a:ln>
        </p:spPr>
      </p:sp>
      <p:sp>
        <p:nvSpPr>
          <p:cNvPr id="36" name="Text 32"/>
          <p:cNvSpPr txBox="1"/>
          <p:nvPr/>
        </p:nvSpPr>
        <p:spPr>
          <a:xfrm>
            <a:off x="731520" y="4303776"/>
            <a:ext cx="2926080" cy="489966"/>
          </a:xfrm>
          <a:prstGeom prst="rect">
            <a:avLst/>
          </a:prstGeom>
          <a:noFill/>
          <a:ln/>
        </p:spPr>
        <p:txBody>
          <a:bodyPr wrap="square" lIns="0" tIns="0" rIns="0" bIns="0" rtlCol="0" anchor="ctr"/>
          <a:lstStyle/>
          <a:p>
            <a:pPr algn="l" indent="0" marL="0">
              <a:buNone/>
            </a:pPr>
            <a:r>
              <a:rPr lang="en-US" sz="1250" b="1" dirty="0">
                <a:solidFill>
                  <a:schemeClr val="accent3"/>
                </a:solidFill>
              </a:rPr>
              <a:t>futurum</a:t>
            </a:r>
            <a:r>
              <a:rPr lang="en-US" sz="1250" dirty="0">
                <a:solidFill>
                  <a:schemeClr val="accent3"/>
                </a:solidFill>
              </a:rPr>
              <a:t> · futur</a:t>
            </a:r>
            <a:endParaRPr lang="en-US" sz="1250" dirty="0"/>
          </a:p>
        </p:txBody>
      </p:sp>
      <p:sp>
        <p:nvSpPr>
          <p:cNvPr id="37" name="Text 33"/>
          <p:cNvSpPr txBox="1"/>
          <p:nvPr/>
        </p:nvSpPr>
        <p:spPr>
          <a:xfrm>
            <a:off x="3794760" y="4303776"/>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38" name="Text 34"/>
          <p:cNvSpPr txBox="1"/>
          <p:nvPr/>
        </p:nvSpPr>
        <p:spPr>
          <a:xfrm>
            <a:off x="7726680" y="4303776"/>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39" name="Shape 35"/>
          <p:cNvSpPr/>
          <p:nvPr/>
        </p:nvSpPr>
        <p:spPr>
          <a:xfrm>
            <a:off x="548640" y="4812030"/>
            <a:ext cx="11045952" cy="453390"/>
          </a:xfrm>
          <a:prstGeom prst="roundRect">
            <a:avLst>
              <a:gd name="adj" fmla="val 12101"/>
            </a:avLst>
          </a:prstGeom>
          <a:solidFill>
            <a:srgbClr val="FFFFFF"/>
          </a:solidFill>
          <a:ln w="12700">
            <a:solidFill>
              <a:srgbClr val="FFFFFF">
                <a:alpha val="0"/>
              </a:srgbClr>
            </a:solidFill>
            <a:prstDash val="solid"/>
          </a:ln>
        </p:spPr>
      </p:sp>
      <p:sp>
        <p:nvSpPr>
          <p:cNvPr id="40" name="Shape 36"/>
          <p:cNvSpPr/>
          <p:nvPr/>
        </p:nvSpPr>
        <p:spPr>
          <a:xfrm>
            <a:off x="548640" y="4812030"/>
            <a:ext cx="91440" cy="453390"/>
          </a:xfrm>
          <a:prstGeom prst="rect">
            <a:avLst/>
          </a:prstGeom>
          <a:solidFill>
            <a:srgbClr val="1B5734"/>
          </a:solidFill>
          <a:ln w="12700">
            <a:solidFill>
              <a:srgbClr val="FFFFFF">
                <a:alpha val="0"/>
              </a:srgbClr>
            </a:solidFill>
            <a:prstDash val="solid"/>
          </a:ln>
        </p:spPr>
      </p:sp>
      <p:sp>
        <p:nvSpPr>
          <p:cNvPr id="41" name="Text 37"/>
          <p:cNvSpPr txBox="1"/>
          <p:nvPr/>
        </p:nvSpPr>
        <p:spPr>
          <a:xfrm>
            <a:off x="731520" y="4793742"/>
            <a:ext cx="2926080" cy="489966"/>
          </a:xfrm>
          <a:prstGeom prst="rect">
            <a:avLst/>
          </a:prstGeom>
          <a:noFill/>
          <a:ln/>
        </p:spPr>
        <p:txBody>
          <a:bodyPr wrap="square" lIns="0" tIns="0" rIns="0" bIns="0" rtlCol="0" anchor="ctr"/>
          <a:lstStyle/>
          <a:p>
            <a:pPr algn="l" indent="0" marL="0">
              <a:buNone/>
            </a:pPr>
            <a:r>
              <a:rPr lang="en-US" sz="1250" b="1" dirty="0">
                <a:solidFill>
                  <a:srgbClr val="1B5734"/>
                </a:solidFill>
              </a:rPr>
              <a:t>futurum exactum</a:t>
            </a:r>
            <a:r>
              <a:rPr lang="en-US" sz="1250" dirty="0">
                <a:solidFill>
                  <a:srgbClr val="1B5734"/>
                </a:solidFill>
              </a:rPr>
              <a:t> · futur antérieur</a:t>
            </a:r>
            <a:endParaRPr lang="en-US" sz="1250" dirty="0"/>
          </a:p>
        </p:txBody>
      </p:sp>
      <p:sp>
        <p:nvSpPr>
          <p:cNvPr id="42" name="Text 38"/>
          <p:cNvSpPr txBox="1"/>
          <p:nvPr/>
        </p:nvSpPr>
        <p:spPr>
          <a:xfrm>
            <a:off x="3794760" y="4793742"/>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43" name="Text 39"/>
          <p:cNvSpPr txBox="1"/>
          <p:nvPr/>
        </p:nvSpPr>
        <p:spPr>
          <a:xfrm>
            <a:off x="7726680" y="4793742"/>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44" name="Shape 40"/>
          <p:cNvSpPr/>
          <p:nvPr/>
        </p:nvSpPr>
        <p:spPr>
          <a:xfrm>
            <a:off x="548640" y="5301996"/>
            <a:ext cx="11045952" cy="453390"/>
          </a:xfrm>
          <a:prstGeom prst="roundRect">
            <a:avLst>
              <a:gd name="adj" fmla="val 12101"/>
            </a:avLst>
          </a:prstGeom>
          <a:solidFill>
            <a:schemeClr val="bg2"/>
          </a:solidFill>
          <a:ln w="12700">
            <a:solidFill>
              <a:srgbClr val="FFFFFF">
                <a:alpha val="0"/>
              </a:srgbClr>
            </a:solidFill>
            <a:prstDash val="solid"/>
          </a:ln>
        </p:spPr>
      </p:sp>
      <p:sp>
        <p:nvSpPr>
          <p:cNvPr id="45" name="Shape 41"/>
          <p:cNvSpPr/>
          <p:nvPr/>
        </p:nvSpPr>
        <p:spPr>
          <a:xfrm>
            <a:off x="548640" y="5301996"/>
            <a:ext cx="91440" cy="453390"/>
          </a:xfrm>
          <a:prstGeom prst="rect">
            <a:avLst/>
          </a:prstGeom>
          <a:solidFill>
            <a:srgbClr val="6E4A9E"/>
          </a:solidFill>
          <a:ln w="12700">
            <a:solidFill>
              <a:srgbClr val="FFFFFF">
                <a:alpha val="0"/>
              </a:srgbClr>
            </a:solidFill>
            <a:prstDash val="solid"/>
          </a:ln>
        </p:spPr>
      </p:sp>
      <p:sp>
        <p:nvSpPr>
          <p:cNvPr id="46" name="Text 42"/>
          <p:cNvSpPr txBox="1"/>
          <p:nvPr/>
        </p:nvSpPr>
        <p:spPr>
          <a:xfrm>
            <a:off x="731520" y="5283708"/>
            <a:ext cx="2926080" cy="489966"/>
          </a:xfrm>
          <a:prstGeom prst="rect">
            <a:avLst/>
          </a:prstGeom>
          <a:noFill/>
          <a:ln/>
        </p:spPr>
        <p:txBody>
          <a:bodyPr wrap="square" lIns="0" tIns="0" rIns="0" bIns="0" rtlCol="0" anchor="ctr"/>
          <a:lstStyle/>
          <a:p>
            <a:pPr algn="l" indent="0" marL="0">
              <a:buNone/>
            </a:pPr>
            <a:r>
              <a:rPr lang="en-US" sz="1250" b="1" dirty="0">
                <a:solidFill>
                  <a:srgbClr val="6E4A9E"/>
                </a:solidFill>
              </a:rPr>
              <a:t>conditionalis</a:t>
            </a:r>
            <a:r>
              <a:rPr lang="en-US" sz="1250" dirty="0">
                <a:solidFill>
                  <a:srgbClr val="6E4A9E"/>
                </a:solidFill>
              </a:rPr>
              <a:t> · conditionnel</a:t>
            </a:r>
            <a:endParaRPr lang="en-US" sz="1250" dirty="0"/>
          </a:p>
        </p:txBody>
      </p:sp>
      <p:sp>
        <p:nvSpPr>
          <p:cNvPr id="47" name="Text 43"/>
          <p:cNvSpPr txBox="1"/>
          <p:nvPr/>
        </p:nvSpPr>
        <p:spPr>
          <a:xfrm>
            <a:off x="3794760" y="5283708"/>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48" name="Text 44"/>
          <p:cNvSpPr txBox="1"/>
          <p:nvPr/>
        </p:nvSpPr>
        <p:spPr>
          <a:xfrm>
            <a:off x="7726680" y="5283708"/>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49" name="Shape 45"/>
          <p:cNvSpPr/>
          <p:nvPr/>
        </p:nvSpPr>
        <p:spPr>
          <a:xfrm>
            <a:off x="548640" y="5791962"/>
            <a:ext cx="11045952" cy="453390"/>
          </a:xfrm>
          <a:prstGeom prst="roundRect">
            <a:avLst>
              <a:gd name="adj" fmla="val 12101"/>
            </a:avLst>
          </a:prstGeom>
          <a:solidFill>
            <a:srgbClr val="FFFFFF"/>
          </a:solidFill>
          <a:ln w="12700">
            <a:solidFill>
              <a:srgbClr val="FFFFFF">
                <a:alpha val="0"/>
              </a:srgbClr>
            </a:solidFill>
            <a:prstDash val="solid"/>
          </a:ln>
        </p:spPr>
      </p:sp>
      <p:sp>
        <p:nvSpPr>
          <p:cNvPr id="50" name="Shape 46"/>
          <p:cNvSpPr/>
          <p:nvPr/>
        </p:nvSpPr>
        <p:spPr>
          <a:xfrm>
            <a:off x="548640" y="5791962"/>
            <a:ext cx="91440" cy="453390"/>
          </a:xfrm>
          <a:prstGeom prst="rect">
            <a:avLst/>
          </a:prstGeom>
          <a:solidFill>
            <a:srgbClr val="45306A"/>
          </a:solidFill>
          <a:ln w="12700">
            <a:solidFill>
              <a:srgbClr val="FFFFFF">
                <a:alpha val="0"/>
              </a:srgbClr>
            </a:solidFill>
            <a:prstDash val="solid"/>
          </a:ln>
        </p:spPr>
      </p:sp>
      <p:sp>
        <p:nvSpPr>
          <p:cNvPr id="51" name="Text 47"/>
          <p:cNvSpPr txBox="1"/>
          <p:nvPr/>
        </p:nvSpPr>
        <p:spPr>
          <a:xfrm>
            <a:off x="731520" y="5773674"/>
            <a:ext cx="2926080" cy="489966"/>
          </a:xfrm>
          <a:prstGeom prst="rect">
            <a:avLst/>
          </a:prstGeom>
          <a:noFill/>
          <a:ln/>
        </p:spPr>
        <p:txBody>
          <a:bodyPr wrap="square" lIns="0" tIns="0" rIns="0" bIns="0" rtlCol="0" anchor="ctr"/>
          <a:lstStyle/>
          <a:p>
            <a:pPr algn="l" indent="0" marL="0">
              <a:buNone/>
            </a:pPr>
            <a:r>
              <a:rPr lang="en-US" sz="1100" b="1" dirty="0">
                <a:solidFill>
                  <a:srgbClr val="45306A"/>
                </a:solidFill>
              </a:rPr>
              <a:t>conditionalis perfectum</a:t>
            </a:r>
            <a:r>
              <a:rPr lang="en-US" sz="1100" dirty="0">
                <a:solidFill>
                  <a:srgbClr val="45306A"/>
                </a:solidFill>
              </a:rPr>
              <a:t> · conditionnel passé</a:t>
            </a:r>
            <a:endParaRPr lang="en-US" sz="1100" dirty="0"/>
          </a:p>
        </p:txBody>
      </p:sp>
      <p:sp>
        <p:nvSpPr>
          <p:cNvPr id="52" name="Text 48"/>
          <p:cNvSpPr txBox="1"/>
          <p:nvPr/>
        </p:nvSpPr>
        <p:spPr>
          <a:xfrm>
            <a:off x="3794760" y="5773674"/>
            <a:ext cx="3703320" cy="48996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i="1" dirty="0">
                <a:solidFill>
                  <a:schemeClr val="accent5"/>
                </a:solidFill>
              </a:rPr>
              <a:t>…………………………</a:t>
            </a:r>
            <a:endParaRPr lang="en-US" sz="1500" dirty="0"/>
          </a:p>
        </p:txBody>
      </p:sp>
      <p:sp>
        <p:nvSpPr>
          <p:cNvPr id="53" name="Text 49"/>
          <p:cNvSpPr txBox="1"/>
          <p:nvPr/>
        </p:nvSpPr>
        <p:spPr>
          <a:xfrm>
            <a:off x="7726680" y="5773674"/>
            <a:ext cx="3822192" cy="48996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Un verbe, huit temps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a:t>
            </a:r>
            <a:r>
              <a:rPr lang="en-US" sz="1700" i="1" dirty="0">
                <a:solidFill>
                  <a:schemeClr val="accent5"/>
                </a:solidFill>
              </a:rPr>
              <a:t>bellen</a:t>
            </a:r>
            <a:r>
              <a:rPr lang="en-US" sz="1700" i="1" dirty="0">
                <a:solidFill>
                  <a:schemeClr val="accent5"/>
                </a:solidFill>
              </a:rPr>
              <a:t> (avec </a:t>
            </a:r>
            <a:r>
              <a:rPr lang="en-US" sz="1700" i="1" dirty="0">
                <a:solidFill>
                  <a:schemeClr val="accent5"/>
                </a:solidFill>
              </a:rPr>
              <a:t>ik</a:t>
            </a:r>
            <a:r>
              <a:rPr lang="en-US" sz="1700" i="1" dirty="0">
                <a:solidFill>
                  <a:schemeClr val="accent5"/>
                </a:solidFill>
              </a:rPr>
              <a:t>) et </a:t>
            </a:r>
            <a:r>
              <a:rPr lang="en-US" sz="1700" i="1" dirty="0">
                <a:solidFill>
                  <a:schemeClr val="accent5"/>
                </a:solidFill>
              </a:rPr>
              <a:t>vertrekken</a:t>
            </a:r>
            <a:r>
              <a:rPr lang="en-US" sz="1700" i="1" dirty="0">
                <a:solidFill>
                  <a:schemeClr val="accent5"/>
                </a:solidFill>
              </a:rPr>
              <a:t> (avec </a:t>
            </a:r>
            <a:r>
              <a:rPr lang="en-US" sz="1700" i="1" dirty="0">
                <a:solidFill>
                  <a:schemeClr val="accent5"/>
                </a:solidFill>
              </a:rPr>
              <a:t>we</a:t>
            </a:r>
            <a:r>
              <a:rPr lang="en-US" sz="1700" i="1" dirty="0">
                <a:solidFill>
                  <a:schemeClr val="accent5"/>
                </a:solidFill>
              </a:rPr>
              <a:t>) aux huit temps.</a:t>
            </a:r>
            <a:endParaRPr lang="en-US" sz="1700" dirty="0"/>
          </a:p>
        </p:txBody>
      </p:sp>
      <p:sp>
        <p:nvSpPr>
          <p:cNvPr id="9" name="Shape 5"/>
          <p:cNvSpPr/>
          <p:nvPr/>
        </p:nvSpPr>
        <p:spPr>
          <a:xfrm>
            <a:off x="548640" y="1932432"/>
            <a:ext cx="3063240" cy="365760"/>
          </a:xfrm>
          <a:prstGeom prst="roundRect">
            <a:avLst>
              <a:gd name="adj" fmla="val 15000"/>
            </a:avLst>
          </a:prstGeom>
          <a:solidFill>
            <a:schemeClr val="tx2"/>
          </a:solidFill>
          <a:ln w="12700">
            <a:solidFill>
              <a:srgbClr val="FFFFFF">
                <a:alpha val="0"/>
              </a:srgbClr>
            </a:solidFill>
            <a:prstDash val="solid"/>
          </a:ln>
        </p:spPr>
      </p:sp>
      <p:sp>
        <p:nvSpPr>
          <p:cNvPr id="10" name="Text 6"/>
          <p:cNvSpPr txBox="1"/>
          <p:nvPr/>
        </p:nvSpPr>
        <p:spPr>
          <a:xfrm>
            <a:off x="548640" y="1932432"/>
            <a:ext cx="3063240" cy="365760"/>
          </a:xfrm>
          <a:prstGeom prst="rect">
            <a:avLst/>
          </a:prstGeom>
          <a:noFill/>
          <a:ln/>
        </p:spPr>
        <p:txBody>
          <a:bodyPr wrap="square" lIns="0" tIns="0" rIns="0" bIns="0" rtlCol="0" anchor="ctr"/>
          <a:lstStyle/>
          <a:p>
            <a:pPr algn="ctr" indent="0" marL="0">
              <a:buNone/>
            </a:pPr>
            <a:r>
              <a:rPr lang="en-US" sz="1400" b="1" dirty="0">
                <a:solidFill>
                  <a:schemeClr val="bg1"/>
                </a:solidFill>
              </a:rPr>
              <a:t>temps</a:t>
            </a:r>
            <a:endParaRPr lang="en-US" sz="1400" dirty="0"/>
          </a:p>
        </p:txBody>
      </p:sp>
      <p:sp>
        <p:nvSpPr>
          <p:cNvPr id="11" name="Shape 7"/>
          <p:cNvSpPr/>
          <p:nvPr/>
        </p:nvSpPr>
        <p:spPr>
          <a:xfrm>
            <a:off x="3657600" y="1932432"/>
            <a:ext cx="3886200" cy="365760"/>
          </a:xfrm>
          <a:prstGeom prst="roundRect">
            <a:avLst>
              <a:gd name="adj" fmla="val 15000"/>
            </a:avLst>
          </a:prstGeom>
          <a:solidFill>
            <a:schemeClr val="tx2"/>
          </a:solidFill>
          <a:ln w="12700">
            <a:solidFill>
              <a:srgbClr val="FFFFFF">
                <a:alpha val="0"/>
              </a:srgbClr>
            </a:solidFill>
            <a:prstDash val="solid"/>
          </a:ln>
        </p:spPr>
      </p:sp>
      <p:sp>
        <p:nvSpPr>
          <p:cNvPr id="12" name="Text 8"/>
          <p:cNvSpPr txBox="1"/>
          <p:nvPr/>
        </p:nvSpPr>
        <p:spPr>
          <a:xfrm>
            <a:off x="3657600" y="1932432"/>
            <a:ext cx="3886200" cy="365760"/>
          </a:xfrm>
          <a:prstGeom prst="rect">
            <a:avLst/>
          </a:prstGeom>
          <a:noFill/>
          <a:ln/>
        </p:spPr>
        <p:txBody>
          <a:bodyPr wrap="square" lIns="0" tIns="0" rIns="0" bIns="0" rtlCol="0" anchor="ctr"/>
          <a:lstStyle/>
          <a:p>
            <a:pPr algn="ctr" indent="0" marL="0">
              <a:buNone/>
            </a:pPr>
            <a:r>
              <a:rPr lang="en-US" sz="1400" b="1" dirty="0">
                <a:solidFill>
                  <a:schemeClr val="bg1"/>
                </a:solidFill>
              </a:rPr>
              <a:t>bellen (ik)</a:t>
            </a:r>
            <a:endParaRPr lang="en-US" sz="1400" dirty="0"/>
          </a:p>
        </p:txBody>
      </p:sp>
      <p:sp>
        <p:nvSpPr>
          <p:cNvPr id="13" name="Shape 9"/>
          <p:cNvSpPr/>
          <p:nvPr/>
        </p:nvSpPr>
        <p:spPr>
          <a:xfrm>
            <a:off x="7589520" y="1932432"/>
            <a:ext cx="4005072" cy="365760"/>
          </a:xfrm>
          <a:prstGeom prst="roundRect">
            <a:avLst>
              <a:gd name="adj" fmla="val 15000"/>
            </a:avLst>
          </a:prstGeom>
          <a:solidFill>
            <a:schemeClr val="tx2"/>
          </a:solidFill>
          <a:ln w="12700">
            <a:solidFill>
              <a:srgbClr val="FFFFFF">
                <a:alpha val="0"/>
              </a:srgbClr>
            </a:solidFill>
            <a:prstDash val="solid"/>
          </a:ln>
        </p:spPr>
      </p:sp>
      <p:sp>
        <p:nvSpPr>
          <p:cNvPr id="14" name="Text 10"/>
          <p:cNvSpPr txBox="1"/>
          <p:nvPr/>
        </p:nvSpPr>
        <p:spPr>
          <a:xfrm>
            <a:off x="7589520" y="1932432"/>
            <a:ext cx="4005072" cy="365760"/>
          </a:xfrm>
          <a:prstGeom prst="rect">
            <a:avLst/>
          </a:prstGeom>
          <a:noFill/>
          <a:ln/>
        </p:spPr>
        <p:txBody>
          <a:bodyPr wrap="square" lIns="0" tIns="0" rIns="0" bIns="0" rtlCol="0" anchor="ctr"/>
          <a:lstStyle/>
          <a:p>
            <a:pPr algn="ctr" indent="0" marL="0">
              <a:buNone/>
            </a:pPr>
            <a:r>
              <a:rPr lang="en-US" sz="1400" b="1" dirty="0">
                <a:solidFill>
                  <a:schemeClr val="bg1"/>
                </a:solidFill>
              </a:rPr>
              <a:t>vertrekken (we)</a:t>
            </a:r>
            <a:endParaRPr lang="en-US" sz="1400" dirty="0"/>
          </a:p>
        </p:txBody>
      </p:sp>
      <p:sp>
        <p:nvSpPr>
          <p:cNvPr id="15" name="Text 11"/>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L’ordre à la fin est libre : aussi </a:t>
            </a:r>
            <a:r>
              <a:rPr lang="en-US" sz="1300" i="1" dirty="0">
                <a:solidFill>
                  <a:schemeClr val="accent5"/>
                </a:solidFill>
              </a:rPr>
              <a:t>zal hebben gebeld · zullen zijn vertrokken · zou hebben gebeld · zouden zijn vertrokken</a:t>
            </a:r>
            <a:r>
              <a:rPr lang="en-US" sz="1300" i="1" dirty="0">
                <a:solidFill>
                  <a:schemeClr val="accent5"/>
                </a:solidFill>
              </a:rPr>
              <a:t>.</a:t>
            </a:r>
            <a:endParaRPr lang="en-US" sz="1300" dirty="0"/>
          </a:p>
        </p:txBody>
      </p:sp>
      <p:sp>
        <p:nvSpPr>
          <p:cNvPr id="16" name="Shape 12"/>
          <p:cNvSpPr/>
          <p:nvPr/>
        </p:nvSpPr>
        <p:spPr>
          <a:xfrm>
            <a:off x="548640" y="2362200"/>
            <a:ext cx="11045952" cy="407670"/>
          </a:xfrm>
          <a:prstGeom prst="roundRect">
            <a:avLst>
              <a:gd name="adj" fmla="val 13458"/>
            </a:avLst>
          </a:prstGeom>
          <a:solidFill>
            <a:schemeClr val="bg2"/>
          </a:solidFill>
          <a:ln w="12700">
            <a:solidFill>
              <a:srgbClr val="FFFFFF">
                <a:alpha val="0"/>
              </a:srgbClr>
            </a:solidFill>
            <a:prstDash val="solid"/>
          </a:ln>
        </p:spPr>
      </p:sp>
      <p:sp>
        <p:nvSpPr>
          <p:cNvPr id="17" name="Shape 13"/>
          <p:cNvSpPr/>
          <p:nvPr/>
        </p:nvSpPr>
        <p:spPr>
          <a:xfrm>
            <a:off x="548640" y="2362200"/>
            <a:ext cx="91440" cy="407670"/>
          </a:xfrm>
          <a:prstGeom prst="rect">
            <a:avLst/>
          </a:prstGeom>
          <a:solidFill>
            <a:schemeClr val="accent2"/>
          </a:solidFill>
          <a:ln w="12700">
            <a:solidFill>
              <a:srgbClr val="FFFFFF">
                <a:alpha val="0"/>
              </a:srgbClr>
            </a:solidFill>
            <a:prstDash val="solid"/>
          </a:ln>
        </p:spPr>
      </p:sp>
      <p:sp>
        <p:nvSpPr>
          <p:cNvPr id="18" name="Text 14"/>
          <p:cNvSpPr txBox="1"/>
          <p:nvPr/>
        </p:nvSpPr>
        <p:spPr>
          <a:xfrm>
            <a:off x="731520" y="2343912"/>
            <a:ext cx="2926080" cy="444246"/>
          </a:xfrm>
          <a:prstGeom prst="rect">
            <a:avLst/>
          </a:prstGeom>
          <a:noFill/>
          <a:ln/>
        </p:spPr>
        <p:txBody>
          <a:bodyPr wrap="square" lIns="0" tIns="0" rIns="0" bIns="0" rtlCol="0" anchor="ctr"/>
          <a:lstStyle/>
          <a:p>
            <a:pPr algn="l" indent="0" marL="0">
              <a:buNone/>
            </a:pPr>
            <a:r>
              <a:rPr lang="en-US" sz="1250" b="1" dirty="0">
                <a:solidFill>
                  <a:schemeClr val="accent2"/>
                </a:solidFill>
              </a:rPr>
              <a:t>presens</a:t>
            </a:r>
            <a:r>
              <a:rPr lang="en-US" sz="1250" dirty="0">
                <a:solidFill>
                  <a:schemeClr val="accent2"/>
                </a:solidFill>
              </a:rPr>
              <a:t> · présent</a:t>
            </a:r>
            <a:endParaRPr lang="en-US" sz="1250" dirty="0"/>
          </a:p>
        </p:txBody>
      </p:sp>
      <p:sp>
        <p:nvSpPr>
          <p:cNvPr id="19" name="Text 15"/>
          <p:cNvSpPr txBox="1"/>
          <p:nvPr/>
        </p:nvSpPr>
        <p:spPr>
          <a:xfrm>
            <a:off x="3794760" y="2343912"/>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bel</a:t>
            </a:r>
            <a:endParaRPr lang="en-US" sz="1500" dirty="0"/>
          </a:p>
        </p:txBody>
      </p:sp>
      <p:sp>
        <p:nvSpPr>
          <p:cNvPr id="20" name="Text 16"/>
          <p:cNvSpPr txBox="1"/>
          <p:nvPr/>
        </p:nvSpPr>
        <p:spPr>
          <a:xfrm>
            <a:off x="7726680" y="2343912"/>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vertrekken</a:t>
            </a:r>
            <a:endParaRPr lang="en-US" sz="1500" dirty="0"/>
          </a:p>
        </p:txBody>
      </p:sp>
      <p:sp>
        <p:nvSpPr>
          <p:cNvPr id="21" name="Shape 17"/>
          <p:cNvSpPr/>
          <p:nvPr/>
        </p:nvSpPr>
        <p:spPr>
          <a:xfrm>
            <a:off x="548640" y="2806446"/>
            <a:ext cx="11045952" cy="407670"/>
          </a:xfrm>
          <a:prstGeom prst="roundRect">
            <a:avLst>
              <a:gd name="adj" fmla="val 13458"/>
            </a:avLst>
          </a:prstGeom>
          <a:solidFill>
            <a:srgbClr val="FFFFFF"/>
          </a:solidFill>
          <a:ln w="12700">
            <a:solidFill>
              <a:srgbClr val="FFFFFF">
                <a:alpha val="0"/>
              </a:srgbClr>
            </a:solidFill>
            <a:prstDash val="solid"/>
          </a:ln>
        </p:spPr>
      </p:sp>
      <p:sp>
        <p:nvSpPr>
          <p:cNvPr id="22" name="Shape 18"/>
          <p:cNvSpPr/>
          <p:nvPr/>
        </p:nvSpPr>
        <p:spPr>
          <a:xfrm>
            <a:off x="548640" y="2806446"/>
            <a:ext cx="91440" cy="407670"/>
          </a:xfrm>
          <a:prstGeom prst="rect">
            <a:avLst/>
          </a:prstGeom>
          <a:solidFill>
            <a:schemeClr val="accent4"/>
          </a:solidFill>
          <a:ln w="12700">
            <a:solidFill>
              <a:srgbClr val="FFFFFF">
                <a:alpha val="0"/>
              </a:srgbClr>
            </a:solidFill>
            <a:prstDash val="solid"/>
          </a:ln>
        </p:spPr>
      </p:sp>
      <p:sp>
        <p:nvSpPr>
          <p:cNvPr id="23" name="Text 19"/>
          <p:cNvSpPr txBox="1"/>
          <p:nvPr/>
        </p:nvSpPr>
        <p:spPr>
          <a:xfrm>
            <a:off x="731520" y="2788158"/>
            <a:ext cx="2926080" cy="444246"/>
          </a:xfrm>
          <a:prstGeom prst="rect">
            <a:avLst/>
          </a:prstGeom>
          <a:noFill/>
          <a:ln/>
        </p:spPr>
        <p:txBody>
          <a:bodyPr wrap="square" lIns="0" tIns="0" rIns="0" bIns="0" rtlCol="0" anchor="ctr"/>
          <a:lstStyle/>
          <a:p>
            <a:pPr algn="l" indent="0" marL="0">
              <a:buNone/>
            </a:pPr>
            <a:r>
              <a:rPr lang="en-US" sz="1250" b="1" dirty="0">
                <a:solidFill>
                  <a:schemeClr val="accent4"/>
                </a:solidFill>
              </a:rPr>
              <a:t>perfectum</a:t>
            </a:r>
            <a:r>
              <a:rPr lang="en-US" sz="1250" dirty="0">
                <a:solidFill>
                  <a:schemeClr val="accent4"/>
                </a:solidFill>
              </a:rPr>
              <a:t> · passé composé</a:t>
            </a:r>
            <a:endParaRPr lang="en-US" sz="1250" dirty="0"/>
          </a:p>
        </p:txBody>
      </p:sp>
      <p:sp>
        <p:nvSpPr>
          <p:cNvPr id="24" name="Text 20"/>
          <p:cNvSpPr txBox="1"/>
          <p:nvPr/>
        </p:nvSpPr>
        <p:spPr>
          <a:xfrm>
            <a:off x="3794760" y="2788158"/>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heb gebeld</a:t>
            </a:r>
            <a:endParaRPr lang="en-US" sz="1500" dirty="0"/>
          </a:p>
        </p:txBody>
      </p:sp>
      <p:sp>
        <p:nvSpPr>
          <p:cNvPr id="25" name="Text 21"/>
          <p:cNvSpPr txBox="1"/>
          <p:nvPr/>
        </p:nvSpPr>
        <p:spPr>
          <a:xfrm>
            <a:off x="7726680" y="2788158"/>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zijn vertrokken</a:t>
            </a:r>
            <a:endParaRPr lang="en-US" sz="1500" dirty="0"/>
          </a:p>
        </p:txBody>
      </p:sp>
      <p:sp>
        <p:nvSpPr>
          <p:cNvPr id="26" name="Shape 22"/>
          <p:cNvSpPr/>
          <p:nvPr/>
        </p:nvSpPr>
        <p:spPr>
          <a:xfrm>
            <a:off x="548640" y="3250692"/>
            <a:ext cx="11045952" cy="407670"/>
          </a:xfrm>
          <a:prstGeom prst="roundRect">
            <a:avLst>
              <a:gd name="adj" fmla="val 13458"/>
            </a:avLst>
          </a:prstGeom>
          <a:solidFill>
            <a:schemeClr val="bg2"/>
          </a:solidFill>
          <a:ln w="12700">
            <a:solidFill>
              <a:srgbClr val="FFFFFF">
                <a:alpha val="0"/>
              </a:srgbClr>
            </a:solidFill>
            <a:prstDash val="solid"/>
          </a:ln>
        </p:spPr>
      </p:sp>
      <p:sp>
        <p:nvSpPr>
          <p:cNvPr id="27" name="Shape 23"/>
          <p:cNvSpPr/>
          <p:nvPr/>
        </p:nvSpPr>
        <p:spPr>
          <a:xfrm>
            <a:off x="548640" y="3250692"/>
            <a:ext cx="91440" cy="407670"/>
          </a:xfrm>
          <a:prstGeom prst="rect">
            <a:avLst/>
          </a:prstGeom>
          <a:solidFill>
            <a:schemeClr val="accent4"/>
          </a:solidFill>
          <a:ln w="12700">
            <a:solidFill>
              <a:srgbClr val="FFFFFF">
                <a:alpha val="0"/>
              </a:srgbClr>
            </a:solidFill>
            <a:prstDash val="solid"/>
          </a:ln>
        </p:spPr>
      </p:sp>
      <p:sp>
        <p:nvSpPr>
          <p:cNvPr id="28" name="Text 24"/>
          <p:cNvSpPr txBox="1"/>
          <p:nvPr/>
        </p:nvSpPr>
        <p:spPr>
          <a:xfrm>
            <a:off x="731520" y="3232404"/>
            <a:ext cx="2926080" cy="444246"/>
          </a:xfrm>
          <a:prstGeom prst="rect">
            <a:avLst/>
          </a:prstGeom>
          <a:noFill/>
          <a:ln/>
        </p:spPr>
        <p:txBody>
          <a:bodyPr wrap="square" lIns="0" tIns="0" rIns="0" bIns="0" rtlCol="0" anchor="ctr"/>
          <a:lstStyle/>
          <a:p>
            <a:pPr algn="l" indent="0" marL="0">
              <a:buNone/>
            </a:pPr>
            <a:r>
              <a:rPr lang="en-US" sz="1250" b="1" dirty="0">
                <a:solidFill>
                  <a:schemeClr val="accent4"/>
                </a:solidFill>
              </a:rPr>
              <a:t>imperfectum</a:t>
            </a:r>
            <a:r>
              <a:rPr lang="en-US" sz="1250" dirty="0">
                <a:solidFill>
                  <a:schemeClr val="accent4"/>
                </a:solidFill>
              </a:rPr>
              <a:t> · imparfait</a:t>
            </a:r>
            <a:endParaRPr lang="en-US" sz="1250" dirty="0"/>
          </a:p>
        </p:txBody>
      </p:sp>
      <p:sp>
        <p:nvSpPr>
          <p:cNvPr id="29" name="Text 25"/>
          <p:cNvSpPr txBox="1"/>
          <p:nvPr/>
        </p:nvSpPr>
        <p:spPr>
          <a:xfrm>
            <a:off x="3794760" y="3232404"/>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belde</a:t>
            </a:r>
            <a:endParaRPr lang="en-US" sz="1500" dirty="0"/>
          </a:p>
        </p:txBody>
      </p:sp>
      <p:sp>
        <p:nvSpPr>
          <p:cNvPr id="30" name="Text 26"/>
          <p:cNvSpPr txBox="1"/>
          <p:nvPr/>
        </p:nvSpPr>
        <p:spPr>
          <a:xfrm>
            <a:off x="7726680" y="3232404"/>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vertrokken</a:t>
            </a:r>
            <a:endParaRPr lang="en-US" sz="1500" dirty="0"/>
          </a:p>
        </p:txBody>
      </p:sp>
      <p:sp>
        <p:nvSpPr>
          <p:cNvPr id="31" name="Shape 27"/>
          <p:cNvSpPr/>
          <p:nvPr/>
        </p:nvSpPr>
        <p:spPr>
          <a:xfrm>
            <a:off x="548640" y="3694938"/>
            <a:ext cx="11045952" cy="407670"/>
          </a:xfrm>
          <a:prstGeom prst="roundRect">
            <a:avLst>
              <a:gd name="adj" fmla="val 13458"/>
            </a:avLst>
          </a:prstGeom>
          <a:solidFill>
            <a:srgbClr val="FFFFFF"/>
          </a:solidFill>
          <a:ln w="12700">
            <a:solidFill>
              <a:srgbClr val="FFFFFF">
                <a:alpha val="0"/>
              </a:srgbClr>
            </a:solidFill>
            <a:prstDash val="solid"/>
          </a:ln>
        </p:spPr>
      </p:sp>
      <p:sp>
        <p:nvSpPr>
          <p:cNvPr id="32" name="Shape 28"/>
          <p:cNvSpPr/>
          <p:nvPr/>
        </p:nvSpPr>
        <p:spPr>
          <a:xfrm>
            <a:off x="548640" y="3694938"/>
            <a:ext cx="91440" cy="407670"/>
          </a:xfrm>
          <a:prstGeom prst="rect">
            <a:avLst/>
          </a:prstGeom>
          <a:solidFill>
            <a:srgbClr val="7A1748"/>
          </a:solidFill>
          <a:ln w="12700">
            <a:solidFill>
              <a:srgbClr val="FFFFFF">
                <a:alpha val="0"/>
              </a:srgbClr>
            </a:solidFill>
            <a:prstDash val="solid"/>
          </a:ln>
        </p:spPr>
      </p:sp>
      <p:sp>
        <p:nvSpPr>
          <p:cNvPr id="33" name="Text 29"/>
          <p:cNvSpPr txBox="1"/>
          <p:nvPr/>
        </p:nvSpPr>
        <p:spPr>
          <a:xfrm>
            <a:off x="731520" y="3676650"/>
            <a:ext cx="2926080" cy="444246"/>
          </a:xfrm>
          <a:prstGeom prst="rect">
            <a:avLst/>
          </a:prstGeom>
          <a:noFill/>
          <a:ln/>
        </p:spPr>
        <p:txBody>
          <a:bodyPr wrap="square" lIns="0" tIns="0" rIns="0" bIns="0" rtlCol="0" anchor="ctr"/>
          <a:lstStyle/>
          <a:p>
            <a:pPr algn="l" indent="0" marL="0">
              <a:buNone/>
            </a:pPr>
            <a:r>
              <a:rPr lang="en-US" sz="1100" b="1" dirty="0">
                <a:solidFill>
                  <a:srgbClr val="7A1748"/>
                </a:solidFill>
              </a:rPr>
              <a:t>plusquamperfectum</a:t>
            </a:r>
            <a:r>
              <a:rPr lang="en-US" sz="1100" dirty="0">
                <a:solidFill>
                  <a:srgbClr val="7A1748"/>
                </a:solidFill>
              </a:rPr>
              <a:t> · plus-que-parfait</a:t>
            </a:r>
            <a:endParaRPr lang="en-US" sz="1100" dirty="0"/>
          </a:p>
        </p:txBody>
      </p:sp>
      <p:sp>
        <p:nvSpPr>
          <p:cNvPr id="34" name="Text 30"/>
          <p:cNvSpPr txBox="1"/>
          <p:nvPr/>
        </p:nvSpPr>
        <p:spPr>
          <a:xfrm>
            <a:off x="3794760" y="3676650"/>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had gebeld</a:t>
            </a:r>
            <a:endParaRPr lang="en-US" sz="1500" dirty="0"/>
          </a:p>
        </p:txBody>
      </p:sp>
      <p:sp>
        <p:nvSpPr>
          <p:cNvPr id="35" name="Text 31"/>
          <p:cNvSpPr txBox="1"/>
          <p:nvPr/>
        </p:nvSpPr>
        <p:spPr>
          <a:xfrm>
            <a:off x="7726680" y="3676650"/>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waren vertrokken</a:t>
            </a:r>
            <a:endParaRPr lang="en-US" sz="1500" dirty="0"/>
          </a:p>
        </p:txBody>
      </p:sp>
      <p:sp>
        <p:nvSpPr>
          <p:cNvPr id="36" name="Shape 32"/>
          <p:cNvSpPr/>
          <p:nvPr/>
        </p:nvSpPr>
        <p:spPr>
          <a:xfrm>
            <a:off x="548640" y="4139184"/>
            <a:ext cx="11045952" cy="407670"/>
          </a:xfrm>
          <a:prstGeom prst="roundRect">
            <a:avLst>
              <a:gd name="adj" fmla="val 13458"/>
            </a:avLst>
          </a:prstGeom>
          <a:solidFill>
            <a:schemeClr val="bg2"/>
          </a:solidFill>
          <a:ln w="12700">
            <a:solidFill>
              <a:srgbClr val="FFFFFF">
                <a:alpha val="0"/>
              </a:srgbClr>
            </a:solidFill>
            <a:prstDash val="solid"/>
          </a:ln>
        </p:spPr>
      </p:sp>
      <p:sp>
        <p:nvSpPr>
          <p:cNvPr id="37" name="Shape 33"/>
          <p:cNvSpPr/>
          <p:nvPr/>
        </p:nvSpPr>
        <p:spPr>
          <a:xfrm>
            <a:off x="548640" y="4139184"/>
            <a:ext cx="91440" cy="407670"/>
          </a:xfrm>
          <a:prstGeom prst="rect">
            <a:avLst/>
          </a:prstGeom>
          <a:solidFill>
            <a:schemeClr val="accent3"/>
          </a:solidFill>
          <a:ln w="12700">
            <a:solidFill>
              <a:srgbClr val="FFFFFF">
                <a:alpha val="0"/>
              </a:srgbClr>
            </a:solidFill>
            <a:prstDash val="solid"/>
          </a:ln>
        </p:spPr>
      </p:sp>
      <p:sp>
        <p:nvSpPr>
          <p:cNvPr id="38" name="Text 34"/>
          <p:cNvSpPr txBox="1"/>
          <p:nvPr/>
        </p:nvSpPr>
        <p:spPr>
          <a:xfrm>
            <a:off x="731520" y="4120896"/>
            <a:ext cx="2926080" cy="444246"/>
          </a:xfrm>
          <a:prstGeom prst="rect">
            <a:avLst/>
          </a:prstGeom>
          <a:noFill/>
          <a:ln/>
        </p:spPr>
        <p:txBody>
          <a:bodyPr wrap="square" lIns="0" tIns="0" rIns="0" bIns="0" rtlCol="0" anchor="ctr"/>
          <a:lstStyle/>
          <a:p>
            <a:pPr algn="l" indent="0" marL="0">
              <a:buNone/>
            </a:pPr>
            <a:r>
              <a:rPr lang="en-US" sz="1250" b="1" dirty="0">
                <a:solidFill>
                  <a:schemeClr val="accent3"/>
                </a:solidFill>
              </a:rPr>
              <a:t>futurum</a:t>
            </a:r>
            <a:r>
              <a:rPr lang="en-US" sz="1250" dirty="0">
                <a:solidFill>
                  <a:schemeClr val="accent3"/>
                </a:solidFill>
              </a:rPr>
              <a:t> · futur</a:t>
            </a:r>
            <a:endParaRPr lang="en-US" sz="1250" dirty="0"/>
          </a:p>
        </p:txBody>
      </p:sp>
      <p:sp>
        <p:nvSpPr>
          <p:cNvPr id="39" name="Text 35"/>
          <p:cNvSpPr txBox="1"/>
          <p:nvPr/>
        </p:nvSpPr>
        <p:spPr>
          <a:xfrm>
            <a:off x="3794760" y="4120896"/>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zal bellen</a:t>
            </a:r>
            <a:endParaRPr lang="en-US" sz="1500" dirty="0"/>
          </a:p>
        </p:txBody>
      </p:sp>
      <p:sp>
        <p:nvSpPr>
          <p:cNvPr id="40" name="Text 36"/>
          <p:cNvSpPr txBox="1"/>
          <p:nvPr/>
        </p:nvSpPr>
        <p:spPr>
          <a:xfrm>
            <a:off x="7726680" y="4120896"/>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zullen vertrekken</a:t>
            </a:r>
            <a:endParaRPr lang="en-US" sz="1500" dirty="0"/>
          </a:p>
        </p:txBody>
      </p:sp>
      <p:sp>
        <p:nvSpPr>
          <p:cNvPr id="41" name="Shape 37"/>
          <p:cNvSpPr/>
          <p:nvPr/>
        </p:nvSpPr>
        <p:spPr>
          <a:xfrm>
            <a:off x="548640" y="4583430"/>
            <a:ext cx="11045952" cy="407670"/>
          </a:xfrm>
          <a:prstGeom prst="roundRect">
            <a:avLst>
              <a:gd name="adj" fmla="val 13458"/>
            </a:avLst>
          </a:prstGeom>
          <a:solidFill>
            <a:srgbClr val="FFFFFF"/>
          </a:solidFill>
          <a:ln w="12700">
            <a:solidFill>
              <a:srgbClr val="FFFFFF">
                <a:alpha val="0"/>
              </a:srgbClr>
            </a:solidFill>
            <a:prstDash val="solid"/>
          </a:ln>
        </p:spPr>
      </p:sp>
      <p:sp>
        <p:nvSpPr>
          <p:cNvPr id="42" name="Shape 38"/>
          <p:cNvSpPr/>
          <p:nvPr/>
        </p:nvSpPr>
        <p:spPr>
          <a:xfrm>
            <a:off x="548640" y="4583430"/>
            <a:ext cx="91440" cy="407670"/>
          </a:xfrm>
          <a:prstGeom prst="rect">
            <a:avLst/>
          </a:prstGeom>
          <a:solidFill>
            <a:srgbClr val="1B5734"/>
          </a:solidFill>
          <a:ln w="12700">
            <a:solidFill>
              <a:srgbClr val="FFFFFF">
                <a:alpha val="0"/>
              </a:srgbClr>
            </a:solidFill>
            <a:prstDash val="solid"/>
          </a:ln>
        </p:spPr>
      </p:sp>
      <p:sp>
        <p:nvSpPr>
          <p:cNvPr id="43" name="Text 39"/>
          <p:cNvSpPr txBox="1"/>
          <p:nvPr/>
        </p:nvSpPr>
        <p:spPr>
          <a:xfrm>
            <a:off x="731520" y="4565142"/>
            <a:ext cx="2926080" cy="444246"/>
          </a:xfrm>
          <a:prstGeom prst="rect">
            <a:avLst/>
          </a:prstGeom>
          <a:noFill/>
          <a:ln/>
        </p:spPr>
        <p:txBody>
          <a:bodyPr wrap="square" lIns="0" tIns="0" rIns="0" bIns="0" rtlCol="0" anchor="ctr"/>
          <a:lstStyle/>
          <a:p>
            <a:pPr algn="l" indent="0" marL="0">
              <a:buNone/>
            </a:pPr>
            <a:r>
              <a:rPr lang="en-US" sz="1250" b="1" dirty="0">
                <a:solidFill>
                  <a:srgbClr val="1B5734"/>
                </a:solidFill>
              </a:rPr>
              <a:t>futurum exactum</a:t>
            </a:r>
            <a:r>
              <a:rPr lang="en-US" sz="1250" dirty="0">
                <a:solidFill>
                  <a:srgbClr val="1B5734"/>
                </a:solidFill>
              </a:rPr>
              <a:t> · futur antérieur</a:t>
            </a:r>
            <a:endParaRPr lang="en-US" sz="1250" dirty="0"/>
          </a:p>
        </p:txBody>
      </p:sp>
      <p:sp>
        <p:nvSpPr>
          <p:cNvPr id="44" name="Text 40"/>
          <p:cNvSpPr txBox="1"/>
          <p:nvPr/>
        </p:nvSpPr>
        <p:spPr>
          <a:xfrm>
            <a:off x="3794760" y="4565142"/>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zal gebeld hebben</a:t>
            </a:r>
            <a:endParaRPr lang="en-US" sz="1500" dirty="0"/>
          </a:p>
        </p:txBody>
      </p:sp>
      <p:sp>
        <p:nvSpPr>
          <p:cNvPr id="45" name="Text 41"/>
          <p:cNvSpPr txBox="1"/>
          <p:nvPr/>
        </p:nvSpPr>
        <p:spPr>
          <a:xfrm>
            <a:off x="7726680" y="4565142"/>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zullen vertrokken zijn</a:t>
            </a:r>
            <a:endParaRPr lang="en-US" sz="1500" dirty="0"/>
          </a:p>
        </p:txBody>
      </p:sp>
      <p:sp>
        <p:nvSpPr>
          <p:cNvPr id="46" name="Shape 42"/>
          <p:cNvSpPr/>
          <p:nvPr/>
        </p:nvSpPr>
        <p:spPr>
          <a:xfrm>
            <a:off x="548640" y="5027676"/>
            <a:ext cx="11045952" cy="407670"/>
          </a:xfrm>
          <a:prstGeom prst="roundRect">
            <a:avLst>
              <a:gd name="adj" fmla="val 13458"/>
            </a:avLst>
          </a:prstGeom>
          <a:solidFill>
            <a:schemeClr val="bg2"/>
          </a:solidFill>
          <a:ln w="12700">
            <a:solidFill>
              <a:srgbClr val="FFFFFF">
                <a:alpha val="0"/>
              </a:srgbClr>
            </a:solidFill>
            <a:prstDash val="solid"/>
          </a:ln>
        </p:spPr>
      </p:sp>
      <p:sp>
        <p:nvSpPr>
          <p:cNvPr id="47" name="Shape 43"/>
          <p:cNvSpPr/>
          <p:nvPr/>
        </p:nvSpPr>
        <p:spPr>
          <a:xfrm>
            <a:off x="548640" y="5027676"/>
            <a:ext cx="91440" cy="407670"/>
          </a:xfrm>
          <a:prstGeom prst="rect">
            <a:avLst/>
          </a:prstGeom>
          <a:solidFill>
            <a:srgbClr val="6E4A9E"/>
          </a:solidFill>
          <a:ln w="12700">
            <a:solidFill>
              <a:srgbClr val="FFFFFF">
                <a:alpha val="0"/>
              </a:srgbClr>
            </a:solidFill>
            <a:prstDash val="solid"/>
          </a:ln>
        </p:spPr>
      </p:sp>
      <p:sp>
        <p:nvSpPr>
          <p:cNvPr id="48" name="Text 44"/>
          <p:cNvSpPr txBox="1"/>
          <p:nvPr/>
        </p:nvSpPr>
        <p:spPr>
          <a:xfrm>
            <a:off x="731520" y="5009388"/>
            <a:ext cx="2926080" cy="444246"/>
          </a:xfrm>
          <a:prstGeom prst="rect">
            <a:avLst/>
          </a:prstGeom>
          <a:noFill/>
          <a:ln/>
        </p:spPr>
        <p:txBody>
          <a:bodyPr wrap="square" lIns="0" tIns="0" rIns="0" bIns="0" rtlCol="0" anchor="ctr"/>
          <a:lstStyle/>
          <a:p>
            <a:pPr algn="l" indent="0" marL="0">
              <a:buNone/>
            </a:pPr>
            <a:r>
              <a:rPr lang="en-US" sz="1250" b="1" dirty="0">
                <a:solidFill>
                  <a:srgbClr val="6E4A9E"/>
                </a:solidFill>
              </a:rPr>
              <a:t>conditionalis</a:t>
            </a:r>
            <a:r>
              <a:rPr lang="en-US" sz="1250" dirty="0">
                <a:solidFill>
                  <a:srgbClr val="6E4A9E"/>
                </a:solidFill>
              </a:rPr>
              <a:t> · conditionnel</a:t>
            </a:r>
            <a:endParaRPr lang="en-US" sz="1250" dirty="0"/>
          </a:p>
        </p:txBody>
      </p:sp>
      <p:sp>
        <p:nvSpPr>
          <p:cNvPr id="49" name="Text 45"/>
          <p:cNvSpPr txBox="1"/>
          <p:nvPr/>
        </p:nvSpPr>
        <p:spPr>
          <a:xfrm>
            <a:off x="3794760" y="5009388"/>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zou bellen</a:t>
            </a:r>
            <a:endParaRPr lang="en-US" sz="1500" dirty="0"/>
          </a:p>
        </p:txBody>
      </p:sp>
      <p:sp>
        <p:nvSpPr>
          <p:cNvPr id="50" name="Text 46"/>
          <p:cNvSpPr txBox="1"/>
          <p:nvPr/>
        </p:nvSpPr>
        <p:spPr>
          <a:xfrm>
            <a:off x="7726680" y="5009388"/>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zouden vertrekken</a:t>
            </a:r>
            <a:endParaRPr lang="en-US" sz="1500" dirty="0"/>
          </a:p>
        </p:txBody>
      </p:sp>
      <p:sp>
        <p:nvSpPr>
          <p:cNvPr id="51" name="Shape 47"/>
          <p:cNvSpPr/>
          <p:nvPr/>
        </p:nvSpPr>
        <p:spPr>
          <a:xfrm>
            <a:off x="548640" y="5471922"/>
            <a:ext cx="11045952" cy="407670"/>
          </a:xfrm>
          <a:prstGeom prst="roundRect">
            <a:avLst>
              <a:gd name="adj" fmla="val 13458"/>
            </a:avLst>
          </a:prstGeom>
          <a:solidFill>
            <a:srgbClr val="FFFFFF"/>
          </a:solidFill>
          <a:ln w="12700">
            <a:solidFill>
              <a:srgbClr val="FFFFFF">
                <a:alpha val="0"/>
              </a:srgbClr>
            </a:solidFill>
            <a:prstDash val="solid"/>
          </a:ln>
        </p:spPr>
      </p:sp>
      <p:sp>
        <p:nvSpPr>
          <p:cNvPr id="52" name="Shape 48"/>
          <p:cNvSpPr/>
          <p:nvPr/>
        </p:nvSpPr>
        <p:spPr>
          <a:xfrm>
            <a:off x="548640" y="5471922"/>
            <a:ext cx="91440" cy="407670"/>
          </a:xfrm>
          <a:prstGeom prst="rect">
            <a:avLst/>
          </a:prstGeom>
          <a:solidFill>
            <a:srgbClr val="45306A"/>
          </a:solidFill>
          <a:ln w="12700">
            <a:solidFill>
              <a:srgbClr val="FFFFFF">
                <a:alpha val="0"/>
              </a:srgbClr>
            </a:solidFill>
            <a:prstDash val="solid"/>
          </a:ln>
        </p:spPr>
      </p:sp>
      <p:sp>
        <p:nvSpPr>
          <p:cNvPr id="53" name="Text 49"/>
          <p:cNvSpPr txBox="1"/>
          <p:nvPr/>
        </p:nvSpPr>
        <p:spPr>
          <a:xfrm>
            <a:off x="731520" y="5453634"/>
            <a:ext cx="2926080" cy="444246"/>
          </a:xfrm>
          <a:prstGeom prst="rect">
            <a:avLst/>
          </a:prstGeom>
          <a:noFill/>
          <a:ln/>
        </p:spPr>
        <p:txBody>
          <a:bodyPr wrap="square" lIns="0" tIns="0" rIns="0" bIns="0" rtlCol="0" anchor="ctr"/>
          <a:lstStyle/>
          <a:p>
            <a:pPr algn="l" indent="0" marL="0">
              <a:buNone/>
            </a:pPr>
            <a:r>
              <a:rPr lang="en-US" sz="1100" b="1" dirty="0">
                <a:solidFill>
                  <a:srgbClr val="45306A"/>
                </a:solidFill>
              </a:rPr>
              <a:t>conditionalis perfectum</a:t>
            </a:r>
            <a:r>
              <a:rPr lang="en-US" sz="1100" dirty="0">
                <a:solidFill>
                  <a:srgbClr val="45306A"/>
                </a:solidFill>
              </a:rPr>
              <a:t> · conditionnel passé</a:t>
            </a:r>
            <a:endParaRPr lang="en-US" sz="1100" dirty="0"/>
          </a:p>
        </p:txBody>
      </p:sp>
      <p:sp>
        <p:nvSpPr>
          <p:cNvPr id="54" name="Text 50"/>
          <p:cNvSpPr txBox="1"/>
          <p:nvPr/>
        </p:nvSpPr>
        <p:spPr>
          <a:xfrm>
            <a:off x="3794760" y="5453634"/>
            <a:ext cx="3703320" cy="444246"/>
          </a:xfrm>
          <a:prstGeom prst="rect">
            <a:avLst/>
          </a:prstGeom>
          <a:noFill/>
          <a:ln/>
        </p:spPr>
        <p:txBody>
          <a:bodyPr wrap="square" lIns="0" tIns="0" rIns="0" bIns="0" rtlCol="0" anchor="ctr"/>
          <a:lstStyle/>
          <a:p>
            <a:pPr algn="l" indent="0" marL="0">
              <a:buNone/>
            </a:pPr>
            <a:r>
              <a:rPr lang="en-US" sz="1500" i="1" dirty="0">
                <a:solidFill>
                  <a:schemeClr val="tx1"/>
                </a:solidFill>
              </a:rPr>
              <a:t>ik </a:t>
            </a:r>
            <a:r>
              <a:rPr lang="en-US" sz="1500" b="1" i="1" dirty="0">
                <a:solidFill>
                  <a:schemeClr val="accent3"/>
                </a:solidFill>
              </a:rPr>
              <a:t>zou gebeld hebben</a:t>
            </a:r>
            <a:endParaRPr lang="en-US" sz="1500" dirty="0"/>
          </a:p>
        </p:txBody>
      </p:sp>
      <p:sp>
        <p:nvSpPr>
          <p:cNvPr id="55" name="Text 51"/>
          <p:cNvSpPr txBox="1"/>
          <p:nvPr/>
        </p:nvSpPr>
        <p:spPr>
          <a:xfrm>
            <a:off x="7726680" y="5453634"/>
            <a:ext cx="3822192" cy="444246"/>
          </a:xfrm>
          <a:prstGeom prst="rect">
            <a:avLst/>
          </a:prstGeom>
          <a:noFill/>
          <a:ln/>
        </p:spPr>
        <p:txBody>
          <a:bodyPr wrap="square" lIns="0" tIns="0" rIns="0" bIns="0" rtlCol="0" anchor="ctr"/>
          <a:lstStyle/>
          <a:p>
            <a:pPr algn="l" indent="0" marL="0">
              <a:buNone/>
            </a:pPr>
            <a:r>
              <a:rPr lang="en-US" sz="1500" i="1" dirty="0">
                <a:solidFill>
                  <a:schemeClr val="tx1"/>
                </a:solidFill>
              </a:rPr>
              <a:t>we </a:t>
            </a:r>
            <a:r>
              <a:rPr lang="en-US" sz="1500" b="1" i="1" dirty="0">
                <a:solidFill>
                  <a:schemeClr val="accent3"/>
                </a:solidFill>
              </a:rPr>
              <a:t>zouden vertrokken zijn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Photo ou film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Photo ou film ? 1re case : le verbe conjugué · 2e case : le participe (ou rien).</a:t>
            </a:r>
            <a:endParaRPr lang="en-US" sz="1700" dirty="0"/>
          </a:p>
        </p:txBody>
      </p:sp>
      <p:sp>
        <p:nvSpPr>
          <p:cNvPr id="8" name="Shape 4"/>
          <p:cNvSpPr/>
          <p:nvPr/>
        </p:nvSpPr>
        <p:spPr>
          <a:xfrm>
            <a:off x="548640" y="1932432"/>
            <a:ext cx="7863840" cy="4331208"/>
          </a:xfrm>
          <a:prstGeom prst="roundRect">
            <a:avLst>
              <a:gd name="adj" fmla="val 253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777240" y="2069592"/>
            <a:ext cx="7406640" cy="4056888"/>
          </a:xfrm>
          <a:prstGeom prst="rect">
            <a:avLst/>
          </a:prstGeom>
          <a:noFill/>
          <a:ln/>
        </p:spPr>
        <p:txBody>
          <a:bodyPr wrap="square" lIns="0" tIns="0" rIns="0" bIns="0" rtlCol="0" anchor="t"/>
          <a:lstStyle/>
          <a:p>
            <a:pPr algn="l" indent="0" marL="0">
              <a:lnSpc>
                <a:spcPct val="140000"/>
              </a:lnSpc>
              <a:buNone/>
            </a:pPr>
            <a:r>
              <a:rPr lang="en-US" sz="1700" dirty="0">
                <a:solidFill>
                  <a:schemeClr val="tx1"/>
                </a:solidFill>
              </a:rPr>
              <a:t>Vorige zaterdag </a:t>
            </a:r>
            <a:r>
              <a:rPr lang="en-US" sz="1700" dirty="0">
                <a:solidFill>
                  <a:schemeClr val="accent5"/>
                </a:solidFill>
              </a:rPr>
              <a:t>…………</a:t>
            </a:r>
            <a:r>
              <a:rPr lang="en-US" sz="1700" dirty="0">
                <a:solidFill>
                  <a:schemeClr val="tx1"/>
                </a:solidFill>
              </a:rPr>
              <a:t> </a:t>
            </a:r>
            <a:r>
              <a:rPr lang="en-US" sz="1700" i="1" dirty="0">
                <a:solidFill>
                  <a:schemeClr val="tx1"/>
                </a:solidFill>
              </a:rPr>
              <a:t>(gaan)</a:t>
            </a:r>
            <a:r>
              <a:rPr lang="en-US" sz="1700" dirty="0">
                <a:solidFill>
                  <a:schemeClr val="tx1"/>
                </a:solidFill>
              </a:rPr>
              <a:t> ik naar de markt </a:t>
            </a:r>
            <a:r>
              <a:rPr lang="en-US" sz="1700" dirty="0">
                <a:solidFill>
                  <a:schemeClr val="accent5"/>
                </a:solidFill>
              </a:rPr>
              <a:t>…………</a:t>
            </a:r>
            <a:r>
              <a:rPr lang="en-US" sz="1700" dirty="0">
                <a:solidFill>
                  <a:schemeClr val="tx1"/>
                </a:solidFill>
              </a:rPr>
              <a:t>. Het </a:t>
            </a:r>
            <a:r>
              <a:rPr lang="en-US" sz="1700" dirty="0">
                <a:solidFill>
                  <a:schemeClr val="accent5"/>
                </a:solidFill>
              </a:rPr>
              <a:t>…………</a:t>
            </a:r>
            <a:r>
              <a:rPr lang="en-US" sz="1700" dirty="0">
                <a:solidFill>
                  <a:schemeClr val="tx1"/>
                </a:solidFill>
              </a:rPr>
              <a:t> </a:t>
            </a:r>
            <a:r>
              <a:rPr lang="en-US" sz="1700" i="1" dirty="0">
                <a:solidFill>
                  <a:schemeClr val="tx1"/>
                </a:solidFill>
              </a:rPr>
              <a:t>(zijn)</a:t>
            </a:r>
            <a:r>
              <a:rPr lang="en-US" sz="1700" dirty="0">
                <a:solidFill>
                  <a:schemeClr val="tx1"/>
                </a:solidFill>
              </a:rPr>
              <a:t> mooi weer </a:t>
            </a:r>
            <a:r>
              <a:rPr lang="en-US" sz="1700" dirty="0">
                <a:solidFill>
                  <a:schemeClr val="accent5"/>
                </a:solidFill>
              </a:rPr>
              <a:t>…………</a:t>
            </a:r>
            <a:r>
              <a:rPr lang="en-US" sz="1700" dirty="0">
                <a:solidFill>
                  <a:schemeClr val="tx1"/>
                </a:solidFill>
              </a:rPr>
              <a:t> en de zon </a:t>
            </a:r>
            <a:r>
              <a:rPr lang="en-US" sz="1700" dirty="0">
                <a:solidFill>
                  <a:schemeClr val="accent5"/>
                </a:solidFill>
              </a:rPr>
              <a:t>…………</a:t>
            </a:r>
            <a:r>
              <a:rPr lang="en-US" sz="1700" dirty="0">
                <a:solidFill>
                  <a:schemeClr val="tx1"/>
                </a:solidFill>
              </a:rPr>
              <a:t> </a:t>
            </a:r>
            <a:r>
              <a:rPr lang="en-US" sz="1700" i="1" dirty="0">
                <a:solidFill>
                  <a:schemeClr val="tx1"/>
                </a:solidFill>
              </a:rPr>
              <a:t>(schijnen)</a:t>
            </a:r>
            <a:r>
              <a:rPr lang="en-US" sz="1700" dirty="0">
                <a:solidFill>
                  <a:schemeClr val="tx1"/>
                </a:solidFill>
              </a:rPr>
              <a:t> </a:t>
            </a:r>
            <a:r>
              <a:rPr lang="en-US" sz="1700" dirty="0">
                <a:solidFill>
                  <a:schemeClr val="accent5"/>
                </a:solidFill>
              </a:rPr>
              <a:t>…………</a:t>
            </a:r>
            <a:r>
              <a:rPr lang="en-US" sz="1700" dirty="0">
                <a:solidFill>
                  <a:schemeClr val="tx1"/>
                </a:solidFill>
              </a:rPr>
              <a:t>. Overal </a:t>
            </a:r>
            <a:r>
              <a:rPr lang="en-US" sz="1700" dirty="0">
                <a:solidFill>
                  <a:schemeClr val="accent5"/>
                </a:solidFill>
              </a:rPr>
              <a:t>…………</a:t>
            </a:r>
            <a:r>
              <a:rPr lang="en-US" sz="1700" dirty="0">
                <a:solidFill>
                  <a:schemeClr val="tx1"/>
                </a:solidFill>
              </a:rPr>
              <a:t> </a:t>
            </a:r>
            <a:r>
              <a:rPr lang="en-US" sz="1700" i="1" dirty="0">
                <a:solidFill>
                  <a:schemeClr val="tx1"/>
                </a:solidFill>
              </a:rPr>
              <a:t>(staan)</a:t>
            </a:r>
            <a:r>
              <a:rPr lang="en-US" sz="1700" dirty="0">
                <a:solidFill>
                  <a:schemeClr val="tx1"/>
                </a:solidFill>
              </a:rPr>
              <a:t> mensen </a:t>
            </a:r>
            <a:r>
              <a:rPr lang="en-US" sz="1700" dirty="0">
                <a:solidFill>
                  <a:schemeClr val="accent5"/>
                </a:solidFill>
              </a:rPr>
              <a:t>…………</a:t>
            </a:r>
            <a:r>
              <a:rPr lang="en-US" sz="1700" dirty="0">
                <a:solidFill>
                  <a:schemeClr val="tx1"/>
                </a:solidFill>
              </a:rPr>
              <a:t>. Ik </a:t>
            </a:r>
            <a:r>
              <a:rPr lang="en-US" sz="1700" dirty="0">
                <a:solidFill>
                  <a:schemeClr val="accent5"/>
                </a:solidFill>
              </a:rPr>
              <a:t>…………</a:t>
            </a:r>
            <a:r>
              <a:rPr lang="en-US" sz="1700" dirty="0">
                <a:solidFill>
                  <a:schemeClr val="tx1"/>
                </a:solidFill>
              </a:rPr>
              <a:t> </a:t>
            </a:r>
            <a:r>
              <a:rPr lang="en-US" sz="1700" i="1" dirty="0">
                <a:solidFill>
                  <a:schemeClr val="tx1"/>
                </a:solidFill>
              </a:rPr>
              <a:t>(kopen)</a:t>
            </a:r>
            <a:r>
              <a:rPr lang="en-US" sz="1700" dirty="0">
                <a:solidFill>
                  <a:schemeClr val="tx1"/>
                </a:solidFill>
              </a:rPr>
              <a:t> groenten </a:t>
            </a:r>
            <a:r>
              <a:rPr lang="en-US" sz="1700" dirty="0">
                <a:solidFill>
                  <a:schemeClr val="accent5"/>
                </a:solidFill>
              </a:rPr>
              <a:t>…………</a:t>
            </a:r>
            <a:r>
              <a:rPr lang="en-US" sz="1700" dirty="0">
                <a:solidFill>
                  <a:schemeClr val="tx1"/>
                </a:solidFill>
              </a:rPr>
              <a:t> en </a:t>
            </a:r>
            <a:r>
              <a:rPr lang="en-US" sz="1700" dirty="0">
                <a:solidFill>
                  <a:schemeClr val="accent5"/>
                </a:solidFill>
              </a:rPr>
              <a:t>…………</a:t>
            </a:r>
            <a:r>
              <a:rPr lang="en-US" sz="1700" dirty="0">
                <a:solidFill>
                  <a:schemeClr val="tx1"/>
                </a:solidFill>
              </a:rPr>
              <a:t> </a:t>
            </a:r>
            <a:r>
              <a:rPr lang="en-US" sz="1700" i="1" dirty="0">
                <a:solidFill>
                  <a:schemeClr val="tx1"/>
                </a:solidFill>
              </a:rPr>
              <a:t>(drinken)</a:t>
            </a:r>
            <a:r>
              <a:rPr lang="en-US" sz="1700" dirty="0">
                <a:solidFill>
                  <a:schemeClr val="tx1"/>
                </a:solidFill>
              </a:rPr>
              <a:t> een koffie </a:t>
            </a:r>
            <a:r>
              <a:rPr lang="en-US" sz="1700" dirty="0">
                <a:solidFill>
                  <a:schemeClr val="accent5"/>
                </a:solidFill>
              </a:rPr>
              <a:t>…………</a:t>
            </a:r>
            <a:r>
              <a:rPr lang="en-US" sz="1700" dirty="0">
                <a:solidFill>
                  <a:schemeClr val="tx1"/>
                </a:solidFill>
              </a:rPr>
              <a:t>. Plots </a:t>
            </a:r>
            <a:r>
              <a:rPr lang="en-US" sz="1700" dirty="0">
                <a:solidFill>
                  <a:schemeClr val="accent5"/>
                </a:solidFill>
              </a:rPr>
              <a:t>…………</a:t>
            </a:r>
            <a:r>
              <a:rPr lang="en-US" sz="1700" dirty="0">
                <a:solidFill>
                  <a:schemeClr val="tx1"/>
                </a:solidFill>
              </a:rPr>
              <a:t> </a:t>
            </a:r>
            <a:r>
              <a:rPr lang="en-US" sz="1700" i="1" dirty="0">
                <a:solidFill>
                  <a:schemeClr val="tx1"/>
                </a:solidFill>
              </a:rPr>
              <a:t>(zien)</a:t>
            </a:r>
            <a:r>
              <a:rPr lang="en-US" sz="1700" dirty="0">
                <a:solidFill>
                  <a:schemeClr val="tx1"/>
                </a:solidFill>
              </a:rPr>
              <a:t> ik mijn oude collega Karim </a:t>
            </a:r>
            <a:r>
              <a:rPr lang="en-US" sz="1700" dirty="0">
                <a:solidFill>
                  <a:schemeClr val="accent5"/>
                </a:solidFill>
              </a:rPr>
              <a:t>…………</a:t>
            </a:r>
            <a:r>
              <a:rPr lang="en-US" sz="1700" dirty="0">
                <a:solidFill>
                  <a:schemeClr val="tx1"/>
                </a:solidFill>
              </a:rPr>
              <a:t>! We </a:t>
            </a:r>
            <a:r>
              <a:rPr lang="en-US" sz="1700" dirty="0">
                <a:solidFill>
                  <a:schemeClr val="accent5"/>
                </a:solidFill>
              </a:rPr>
              <a:t>…………</a:t>
            </a:r>
            <a:r>
              <a:rPr lang="en-US" sz="1700" dirty="0">
                <a:solidFill>
                  <a:schemeClr val="tx1"/>
                </a:solidFill>
              </a:rPr>
              <a:t> </a:t>
            </a:r>
            <a:r>
              <a:rPr lang="en-US" sz="1700" i="1" dirty="0">
                <a:solidFill>
                  <a:schemeClr val="tx1"/>
                </a:solidFill>
              </a:rPr>
              <a:t>(praten)</a:t>
            </a:r>
            <a:r>
              <a:rPr lang="en-US" sz="1700" dirty="0">
                <a:solidFill>
                  <a:schemeClr val="tx1"/>
                </a:solidFill>
              </a:rPr>
              <a:t> een uur </a:t>
            </a:r>
            <a:r>
              <a:rPr lang="en-US" sz="1700" dirty="0">
                <a:solidFill>
                  <a:schemeClr val="accent5"/>
                </a:solidFill>
              </a:rPr>
              <a:t>…………</a:t>
            </a:r>
            <a:r>
              <a:rPr lang="en-US" sz="1700" dirty="0">
                <a:solidFill>
                  <a:schemeClr val="tx1"/>
                </a:solidFill>
              </a:rPr>
              <a:t>. Het </a:t>
            </a:r>
            <a:r>
              <a:rPr lang="en-US" sz="1700" dirty="0">
                <a:solidFill>
                  <a:schemeClr val="accent5"/>
                </a:solidFill>
              </a:rPr>
              <a:t>…………</a:t>
            </a:r>
            <a:r>
              <a:rPr lang="en-US" sz="1700" dirty="0">
                <a:solidFill>
                  <a:schemeClr val="tx1"/>
                </a:solidFill>
              </a:rPr>
              <a:t> </a:t>
            </a:r>
            <a:r>
              <a:rPr lang="en-US" sz="1700" i="1" dirty="0">
                <a:solidFill>
                  <a:schemeClr val="tx1"/>
                </a:solidFill>
              </a:rPr>
              <a:t>(zijn)</a:t>
            </a:r>
            <a:r>
              <a:rPr lang="en-US" sz="1700" dirty="0">
                <a:solidFill>
                  <a:schemeClr val="tx1"/>
                </a:solidFill>
              </a:rPr>
              <a:t> een fijne dag </a:t>
            </a:r>
            <a:r>
              <a:rPr lang="en-US" sz="1700" dirty="0">
                <a:solidFill>
                  <a:schemeClr val="accent5"/>
                </a:solidFill>
              </a:rPr>
              <a:t>…………</a:t>
            </a:r>
            <a:r>
              <a:rPr lang="en-US" sz="1700" dirty="0">
                <a:solidFill>
                  <a:schemeClr val="tx1"/>
                </a:solidFill>
              </a:rPr>
              <a:t>.</a:t>
            </a:r>
            <a:endParaRPr lang="en-US" sz="1700" dirty="0"/>
          </a:p>
        </p:txBody>
      </p:sp>
      <p:sp>
        <p:nvSpPr>
          <p:cNvPr id="10" name="Shape 6"/>
          <p:cNvSpPr/>
          <p:nvPr/>
        </p:nvSpPr>
        <p:spPr>
          <a:xfrm>
            <a:off x="8641080" y="1932432"/>
            <a:ext cx="2999232" cy="4331208"/>
          </a:xfrm>
          <a:prstGeom prst="roundRect">
            <a:avLst>
              <a:gd name="adj" fmla="val 3659"/>
            </a:avLst>
          </a:prstGeom>
          <a:solidFill>
            <a:srgbClr val="FBEAF2"/>
          </a:solidFill>
          <a:ln w="19050">
            <a:solidFill>
              <a:srgbClr val="B4236A"/>
            </a:solidFill>
            <a:prstDash val="solid"/>
          </a:ln>
        </p:spPr>
      </p:sp>
      <p:pic>
        <p:nvPicPr>
          <p:cNvPr id="11" name="Image 1" descr="camera with flash">    </p:cNvPr>
          <p:cNvPicPr>
            <a:picLocks noChangeAspect="1"/>
          </p:cNvPicPr>
          <p:nvPr/>
        </p:nvPicPr>
        <p:blipFill>
          <a:blip r:embed="rId2"/>
          <a:stretch>
            <a:fillRect/>
          </a:stretch>
        </p:blipFill>
        <p:spPr>
          <a:xfrm>
            <a:off x="8778240" y="2069592"/>
            <a:ext cx="548640" cy="548640"/>
          </a:xfrm>
          <a:prstGeom prst="rect">
            <a:avLst/>
          </a:prstGeom>
        </p:spPr>
      </p:pic>
      <p:sp>
        <p:nvSpPr>
          <p:cNvPr id="12" name="Text 7"/>
          <p:cNvSpPr txBox="1"/>
          <p:nvPr/>
        </p:nvSpPr>
        <p:spPr>
          <a:xfrm>
            <a:off x="9418320" y="2069592"/>
            <a:ext cx="2148840" cy="548640"/>
          </a:xfrm>
          <a:prstGeom prst="rect">
            <a:avLst/>
          </a:prstGeom>
          <a:noFill/>
          <a:ln/>
        </p:spPr>
        <p:txBody>
          <a:bodyPr wrap="square" lIns="0" tIns="0" rIns="0" bIns="0" rtlCol="0" anchor="ctr"/>
          <a:lstStyle/>
          <a:p>
            <a:pPr algn="l" indent="0" marL="0">
              <a:buNone/>
            </a:pPr>
            <a:r>
              <a:rPr lang="en-US" sz="1400" b="1" dirty="0">
                <a:solidFill>
                  <a:schemeClr val="accent4"/>
                </a:solidFill>
              </a:rPr>
              <a:t>photo</a:t>
            </a:r>
            <a:r>
              <a:rPr lang="en-US" sz="1400" dirty="0">
                <a:solidFill>
                  <a:schemeClr val="accent4"/>
                </a:solidFill>
              </a:rPr>
              <a:t> : perfectum</a:t>
            </a:r>
            <a:endParaRPr lang="en-US" sz="1400" dirty="0"/>
          </a:p>
        </p:txBody>
      </p:sp>
      <p:pic>
        <p:nvPicPr>
          <p:cNvPr id="13" name="Image 2" descr="clapper board">    </p:cNvPr>
          <p:cNvPicPr>
            <a:picLocks noChangeAspect="1"/>
          </p:cNvPicPr>
          <p:nvPr/>
        </p:nvPicPr>
        <p:blipFill>
          <a:blip r:embed="rId3"/>
          <a:stretch>
            <a:fillRect/>
          </a:stretch>
        </p:blipFill>
        <p:spPr>
          <a:xfrm>
            <a:off x="8778240" y="2709672"/>
            <a:ext cx="548640" cy="548640"/>
          </a:xfrm>
          <a:prstGeom prst="rect">
            <a:avLst/>
          </a:prstGeom>
        </p:spPr>
      </p:pic>
      <p:sp>
        <p:nvSpPr>
          <p:cNvPr id="14" name="Text 8"/>
          <p:cNvSpPr txBox="1"/>
          <p:nvPr/>
        </p:nvSpPr>
        <p:spPr>
          <a:xfrm>
            <a:off x="9418320" y="2709672"/>
            <a:ext cx="2148840" cy="548640"/>
          </a:xfrm>
          <a:prstGeom prst="rect">
            <a:avLst/>
          </a:prstGeom>
          <a:noFill/>
          <a:ln/>
        </p:spPr>
        <p:txBody>
          <a:bodyPr wrap="square" lIns="0" tIns="0" rIns="0" bIns="0" rtlCol="0" anchor="ctr"/>
          <a:lstStyle/>
          <a:p>
            <a:pPr algn="l" indent="0" marL="0">
              <a:buNone/>
            </a:pPr>
            <a:r>
              <a:rPr lang="en-US" sz="1400" b="1" dirty="0">
                <a:solidFill>
                  <a:schemeClr val="accent4"/>
                </a:solidFill>
              </a:rPr>
              <a:t>film</a:t>
            </a:r>
            <a:r>
              <a:rPr lang="en-US" sz="1400" dirty="0">
                <a:solidFill>
                  <a:schemeClr val="accent4"/>
                </a:solidFill>
              </a:rPr>
              <a:t> : imperfectum</a:t>
            </a:r>
            <a:endParaRPr lang="en-US" sz="1400" dirty="0"/>
          </a:p>
        </p:txBody>
      </p:sp>
      <p:pic>
        <p:nvPicPr>
          <p:cNvPr id="15" name="Image 3" descr="shopping cart">    </p:cNvPr>
          <p:cNvPicPr>
            <a:picLocks noChangeAspect="1"/>
          </p:cNvPicPr>
          <p:nvPr/>
        </p:nvPicPr>
        <p:blipFill>
          <a:blip r:embed="rId4"/>
          <a:stretch>
            <a:fillRect/>
          </a:stretch>
        </p:blipFill>
        <p:spPr>
          <a:xfrm>
            <a:off x="9509760" y="3944112"/>
            <a:ext cx="1280160" cy="128016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Photo ou film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Photo ou film ? 1re case : le verbe conjugué · 2e case : le participe (ou rien).</a:t>
            </a:r>
            <a:endParaRPr lang="en-US" sz="1700" dirty="0"/>
          </a:p>
        </p:txBody>
      </p:sp>
      <p:sp>
        <p:nvSpPr>
          <p:cNvPr id="9" name="Shape 5"/>
          <p:cNvSpPr/>
          <p:nvPr/>
        </p:nvSpPr>
        <p:spPr>
          <a:xfrm>
            <a:off x="548640" y="1932432"/>
            <a:ext cx="7863840" cy="4331208"/>
          </a:xfrm>
          <a:prstGeom prst="roundRect">
            <a:avLst>
              <a:gd name="adj" fmla="val 253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777240" y="2069592"/>
            <a:ext cx="7406640" cy="4056888"/>
          </a:xfrm>
          <a:prstGeom prst="rect">
            <a:avLst/>
          </a:prstGeom>
          <a:noFill/>
          <a:ln/>
        </p:spPr>
        <p:txBody>
          <a:bodyPr wrap="square" lIns="0" tIns="0" rIns="0" bIns="0" rtlCol="0" anchor="t"/>
          <a:lstStyle/>
          <a:p>
            <a:pPr algn="l" indent="0" marL="0">
              <a:lnSpc>
                <a:spcPct val="140000"/>
              </a:lnSpc>
              <a:buNone/>
            </a:pPr>
            <a:r>
              <a:rPr lang="en-US" sz="1700" dirty="0">
                <a:solidFill>
                  <a:schemeClr val="tx1"/>
                </a:solidFill>
              </a:rPr>
              <a:t>Vorige zaterdag </a:t>
            </a:r>
            <a:r>
              <a:rPr lang="en-US" sz="1700" b="1" dirty="0">
                <a:solidFill>
                  <a:schemeClr val="accent3"/>
                </a:solidFill>
              </a:rPr>
              <a:t>ben</a:t>
            </a:r>
            <a:r>
              <a:rPr lang="en-US" sz="1700" dirty="0">
                <a:solidFill>
                  <a:schemeClr val="tx1"/>
                </a:solidFill>
              </a:rPr>
              <a:t> </a:t>
            </a:r>
            <a:r>
              <a:rPr lang="en-US" sz="1700" i="1" dirty="0">
                <a:solidFill>
                  <a:schemeClr val="tx1"/>
                </a:solidFill>
              </a:rPr>
              <a:t>(gaan)</a:t>
            </a:r>
            <a:r>
              <a:rPr lang="en-US" sz="1700" dirty="0">
                <a:solidFill>
                  <a:schemeClr val="tx1"/>
                </a:solidFill>
              </a:rPr>
              <a:t> ik naar de markt </a:t>
            </a:r>
            <a:r>
              <a:rPr lang="en-US" sz="1700" b="1" dirty="0">
                <a:solidFill>
                  <a:schemeClr val="accent3"/>
                </a:solidFill>
              </a:rPr>
              <a:t>gegaan</a:t>
            </a:r>
            <a:r>
              <a:rPr lang="en-US" sz="1700" dirty="0">
                <a:solidFill>
                  <a:schemeClr val="tx1"/>
                </a:solidFill>
              </a:rPr>
              <a:t>. Het </a:t>
            </a:r>
            <a:r>
              <a:rPr lang="en-US" sz="1700" b="1" dirty="0">
                <a:solidFill>
                  <a:schemeClr val="accent3"/>
                </a:solidFill>
              </a:rPr>
              <a:t>was</a:t>
            </a:r>
            <a:r>
              <a:rPr lang="en-US" sz="1700" dirty="0">
                <a:solidFill>
                  <a:schemeClr val="tx1"/>
                </a:solidFill>
              </a:rPr>
              <a:t> </a:t>
            </a:r>
            <a:r>
              <a:rPr lang="en-US" sz="1700" i="1" dirty="0">
                <a:solidFill>
                  <a:schemeClr val="tx1"/>
                </a:solidFill>
              </a:rPr>
              <a:t>(zijn)</a:t>
            </a:r>
            <a:r>
              <a:rPr lang="en-US" sz="1700" dirty="0">
                <a:solidFill>
                  <a:schemeClr val="tx1"/>
                </a:solidFill>
              </a:rPr>
              <a:t> mooi weer </a:t>
            </a:r>
            <a:r>
              <a:rPr lang="en-US" sz="1700" b="1" dirty="0">
                <a:solidFill>
                  <a:schemeClr val="accent3"/>
                </a:solidFill>
              </a:rPr>
              <a:t>—</a:t>
            </a:r>
            <a:r>
              <a:rPr lang="en-US" sz="1700" dirty="0">
                <a:solidFill>
                  <a:schemeClr val="tx1"/>
                </a:solidFill>
              </a:rPr>
              <a:t> en de zon </a:t>
            </a:r>
            <a:r>
              <a:rPr lang="en-US" sz="1700" b="1" dirty="0">
                <a:solidFill>
                  <a:schemeClr val="accent3"/>
                </a:solidFill>
              </a:rPr>
              <a:t>scheen</a:t>
            </a:r>
            <a:r>
              <a:rPr lang="en-US" sz="1700" dirty="0">
                <a:solidFill>
                  <a:schemeClr val="tx1"/>
                </a:solidFill>
              </a:rPr>
              <a:t> </a:t>
            </a:r>
            <a:r>
              <a:rPr lang="en-US" sz="1700" i="1" dirty="0">
                <a:solidFill>
                  <a:schemeClr val="tx1"/>
                </a:solidFill>
              </a:rPr>
              <a:t>(schijnen)</a:t>
            </a:r>
            <a:r>
              <a:rPr lang="en-US" sz="1700" dirty="0">
                <a:solidFill>
                  <a:schemeClr val="tx1"/>
                </a:solidFill>
              </a:rPr>
              <a:t> </a:t>
            </a:r>
            <a:r>
              <a:rPr lang="en-US" sz="1700" b="1" dirty="0">
                <a:solidFill>
                  <a:schemeClr val="accent3"/>
                </a:solidFill>
              </a:rPr>
              <a:t>—</a:t>
            </a:r>
            <a:r>
              <a:rPr lang="en-US" sz="1700" dirty="0">
                <a:solidFill>
                  <a:schemeClr val="tx1"/>
                </a:solidFill>
              </a:rPr>
              <a:t>. Overal </a:t>
            </a:r>
            <a:r>
              <a:rPr lang="en-US" sz="1700" b="1" dirty="0">
                <a:solidFill>
                  <a:schemeClr val="accent3"/>
                </a:solidFill>
              </a:rPr>
              <a:t>stonden</a:t>
            </a:r>
            <a:r>
              <a:rPr lang="en-US" sz="1700" dirty="0">
                <a:solidFill>
                  <a:schemeClr val="tx1"/>
                </a:solidFill>
              </a:rPr>
              <a:t> </a:t>
            </a:r>
            <a:r>
              <a:rPr lang="en-US" sz="1700" i="1" dirty="0">
                <a:solidFill>
                  <a:schemeClr val="tx1"/>
                </a:solidFill>
              </a:rPr>
              <a:t>(staan)</a:t>
            </a:r>
            <a:r>
              <a:rPr lang="en-US" sz="1700" dirty="0">
                <a:solidFill>
                  <a:schemeClr val="tx1"/>
                </a:solidFill>
              </a:rPr>
              <a:t> mensen </a:t>
            </a:r>
            <a:r>
              <a:rPr lang="en-US" sz="1700" b="1" dirty="0">
                <a:solidFill>
                  <a:schemeClr val="accent3"/>
                </a:solidFill>
              </a:rPr>
              <a:t>—</a:t>
            </a:r>
            <a:r>
              <a:rPr lang="en-US" sz="1700" dirty="0">
                <a:solidFill>
                  <a:schemeClr val="tx1"/>
                </a:solidFill>
              </a:rPr>
              <a:t>. Ik </a:t>
            </a:r>
            <a:r>
              <a:rPr lang="en-US" sz="1700" b="1" dirty="0">
                <a:solidFill>
                  <a:schemeClr val="accent3"/>
                </a:solidFill>
              </a:rPr>
              <a:t>kocht</a:t>
            </a:r>
            <a:r>
              <a:rPr lang="en-US" sz="1700" dirty="0">
                <a:solidFill>
                  <a:schemeClr val="tx1"/>
                </a:solidFill>
              </a:rPr>
              <a:t> </a:t>
            </a:r>
            <a:r>
              <a:rPr lang="en-US" sz="1700" i="1" dirty="0">
                <a:solidFill>
                  <a:schemeClr val="tx1"/>
                </a:solidFill>
              </a:rPr>
              <a:t>(kopen)</a:t>
            </a:r>
            <a:r>
              <a:rPr lang="en-US" sz="1700" dirty="0">
                <a:solidFill>
                  <a:schemeClr val="tx1"/>
                </a:solidFill>
              </a:rPr>
              <a:t> groenten </a:t>
            </a:r>
            <a:r>
              <a:rPr lang="en-US" sz="1700" b="1" dirty="0">
                <a:solidFill>
                  <a:schemeClr val="accent3"/>
                </a:solidFill>
              </a:rPr>
              <a:t>—</a:t>
            </a:r>
            <a:r>
              <a:rPr lang="en-US" sz="1700" dirty="0">
                <a:solidFill>
                  <a:schemeClr val="tx1"/>
                </a:solidFill>
              </a:rPr>
              <a:t> en </a:t>
            </a:r>
            <a:r>
              <a:rPr lang="en-US" sz="1700" b="1" dirty="0">
                <a:solidFill>
                  <a:schemeClr val="accent3"/>
                </a:solidFill>
              </a:rPr>
              <a:t>dronk</a:t>
            </a:r>
            <a:r>
              <a:rPr lang="en-US" sz="1700" dirty="0">
                <a:solidFill>
                  <a:schemeClr val="tx1"/>
                </a:solidFill>
              </a:rPr>
              <a:t> </a:t>
            </a:r>
            <a:r>
              <a:rPr lang="en-US" sz="1700" i="1" dirty="0">
                <a:solidFill>
                  <a:schemeClr val="tx1"/>
                </a:solidFill>
              </a:rPr>
              <a:t>(drinken)</a:t>
            </a:r>
            <a:r>
              <a:rPr lang="en-US" sz="1700" dirty="0">
                <a:solidFill>
                  <a:schemeClr val="tx1"/>
                </a:solidFill>
              </a:rPr>
              <a:t> een koffie </a:t>
            </a:r>
            <a:r>
              <a:rPr lang="en-US" sz="1700" b="1" dirty="0">
                <a:solidFill>
                  <a:schemeClr val="accent3"/>
                </a:solidFill>
              </a:rPr>
              <a:t>—</a:t>
            </a:r>
            <a:r>
              <a:rPr lang="en-US" sz="1700" dirty="0">
                <a:solidFill>
                  <a:schemeClr val="tx1"/>
                </a:solidFill>
              </a:rPr>
              <a:t>. Plots </a:t>
            </a:r>
            <a:r>
              <a:rPr lang="en-US" sz="1700" b="1" dirty="0">
                <a:solidFill>
                  <a:schemeClr val="accent3"/>
                </a:solidFill>
              </a:rPr>
              <a:t>zag</a:t>
            </a:r>
            <a:r>
              <a:rPr lang="en-US" sz="1700" dirty="0">
                <a:solidFill>
                  <a:schemeClr val="tx1"/>
                </a:solidFill>
              </a:rPr>
              <a:t> </a:t>
            </a:r>
            <a:r>
              <a:rPr lang="en-US" sz="1700" i="1" dirty="0">
                <a:solidFill>
                  <a:schemeClr val="tx1"/>
                </a:solidFill>
              </a:rPr>
              <a:t>(zien)</a:t>
            </a:r>
            <a:r>
              <a:rPr lang="en-US" sz="1700" dirty="0">
                <a:solidFill>
                  <a:schemeClr val="tx1"/>
                </a:solidFill>
              </a:rPr>
              <a:t> ik mijn oude collega Karim </a:t>
            </a:r>
            <a:r>
              <a:rPr lang="en-US" sz="1700" b="1" dirty="0">
                <a:solidFill>
                  <a:schemeClr val="accent3"/>
                </a:solidFill>
              </a:rPr>
              <a:t>—</a:t>
            </a:r>
            <a:r>
              <a:rPr lang="en-US" sz="1700" dirty="0">
                <a:solidFill>
                  <a:schemeClr val="tx1"/>
                </a:solidFill>
              </a:rPr>
              <a:t>! We </a:t>
            </a:r>
            <a:r>
              <a:rPr lang="en-US" sz="1700" b="1" dirty="0">
                <a:solidFill>
                  <a:schemeClr val="accent3"/>
                </a:solidFill>
              </a:rPr>
              <a:t>hebben</a:t>
            </a:r>
            <a:r>
              <a:rPr lang="en-US" sz="1700" dirty="0">
                <a:solidFill>
                  <a:schemeClr val="tx1"/>
                </a:solidFill>
              </a:rPr>
              <a:t> </a:t>
            </a:r>
            <a:r>
              <a:rPr lang="en-US" sz="1700" i="1" dirty="0">
                <a:solidFill>
                  <a:schemeClr val="tx1"/>
                </a:solidFill>
              </a:rPr>
              <a:t>(praten)</a:t>
            </a:r>
            <a:r>
              <a:rPr lang="en-US" sz="1700" dirty="0">
                <a:solidFill>
                  <a:schemeClr val="tx1"/>
                </a:solidFill>
              </a:rPr>
              <a:t> een uur </a:t>
            </a:r>
            <a:r>
              <a:rPr lang="en-US" sz="1700" b="1" dirty="0">
                <a:solidFill>
                  <a:schemeClr val="accent3"/>
                </a:solidFill>
              </a:rPr>
              <a:t>gepraat</a:t>
            </a:r>
            <a:r>
              <a:rPr lang="en-US" sz="1700" dirty="0">
                <a:solidFill>
                  <a:schemeClr val="tx1"/>
                </a:solidFill>
              </a:rPr>
              <a:t>. Het </a:t>
            </a:r>
            <a:r>
              <a:rPr lang="en-US" sz="1700" b="1" dirty="0">
                <a:solidFill>
                  <a:schemeClr val="accent3"/>
                </a:solidFill>
              </a:rPr>
              <a:t>is</a:t>
            </a:r>
            <a:r>
              <a:rPr lang="en-US" sz="1700" dirty="0">
                <a:solidFill>
                  <a:schemeClr val="tx1"/>
                </a:solidFill>
              </a:rPr>
              <a:t> </a:t>
            </a:r>
            <a:r>
              <a:rPr lang="en-US" sz="1700" i="1" dirty="0">
                <a:solidFill>
                  <a:schemeClr val="tx1"/>
                </a:solidFill>
              </a:rPr>
              <a:t>(zijn)</a:t>
            </a:r>
            <a:r>
              <a:rPr lang="en-US" sz="1700" dirty="0">
                <a:solidFill>
                  <a:schemeClr val="tx1"/>
                </a:solidFill>
              </a:rPr>
              <a:t> een fijne dag </a:t>
            </a:r>
            <a:r>
              <a:rPr lang="en-US" sz="1700" b="1" dirty="0">
                <a:solidFill>
                  <a:schemeClr val="accent3"/>
                </a:solidFill>
              </a:rPr>
              <a:t>geweest</a:t>
            </a:r>
            <a:r>
              <a:rPr lang="en-US" sz="1700" dirty="0">
                <a:solidFill>
                  <a:schemeClr val="tx1"/>
                </a:solidFill>
              </a:rPr>
              <a:t>.</a:t>
            </a:r>
            <a:endParaRPr lang="en-US" sz="1700" dirty="0"/>
          </a:p>
        </p:txBody>
      </p:sp>
      <p:sp>
        <p:nvSpPr>
          <p:cNvPr id="11" name="Shape 7"/>
          <p:cNvSpPr/>
          <p:nvPr/>
        </p:nvSpPr>
        <p:spPr>
          <a:xfrm>
            <a:off x="8641080" y="1932432"/>
            <a:ext cx="2999232" cy="4331208"/>
          </a:xfrm>
          <a:prstGeom prst="roundRect">
            <a:avLst>
              <a:gd name="adj" fmla="val 3659"/>
            </a:avLst>
          </a:prstGeom>
          <a:solidFill>
            <a:srgbClr val="FBEAF2"/>
          </a:solidFill>
          <a:ln w="19050">
            <a:solidFill>
              <a:srgbClr val="B4236A"/>
            </a:solidFill>
            <a:prstDash val="solid"/>
          </a:ln>
        </p:spPr>
      </p:sp>
      <p:pic>
        <p:nvPicPr>
          <p:cNvPr id="12" name="Image 1" descr="camera with flash">    </p:cNvPr>
          <p:cNvPicPr>
            <a:picLocks noChangeAspect="1"/>
          </p:cNvPicPr>
          <p:nvPr/>
        </p:nvPicPr>
        <p:blipFill>
          <a:blip r:embed="rId2"/>
          <a:stretch>
            <a:fillRect/>
          </a:stretch>
        </p:blipFill>
        <p:spPr>
          <a:xfrm>
            <a:off x="8778240" y="2069592"/>
            <a:ext cx="548640" cy="548640"/>
          </a:xfrm>
          <a:prstGeom prst="rect">
            <a:avLst/>
          </a:prstGeom>
        </p:spPr>
      </p:pic>
      <p:sp>
        <p:nvSpPr>
          <p:cNvPr id="13" name="Text 8"/>
          <p:cNvSpPr txBox="1"/>
          <p:nvPr/>
        </p:nvSpPr>
        <p:spPr>
          <a:xfrm>
            <a:off x="9418320" y="2069592"/>
            <a:ext cx="2148840" cy="548640"/>
          </a:xfrm>
          <a:prstGeom prst="rect">
            <a:avLst/>
          </a:prstGeom>
          <a:noFill/>
          <a:ln/>
        </p:spPr>
        <p:txBody>
          <a:bodyPr wrap="square" lIns="0" tIns="0" rIns="0" bIns="0" rtlCol="0" anchor="ctr"/>
          <a:lstStyle/>
          <a:p>
            <a:pPr algn="l" indent="0" marL="0">
              <a:buNone/>
            </a:pPr>
            <a:r>
              <a:rPr lang="en-US" sz="1400" b="1" dirty="0">
                <a:solidFill>
                  <a:schemeClr val="accent4"/>
                </a:solidFill>
              </a:rPr>
              <a:t>photo</a:t>
            </a:r>
            <a:r>
              <a:rPr lang="en-US" sz="1400" dirty="0">
                <a:solidFill>
                  <a:schemeClr val="accent4"/>
                </a:solidFill>
              </a:rPr>
              <a:t> : perfectum</a:t>
            </a:r>
            <a:endParaRPr lang="en-US" sz="1400" dirty="0"/>
          </a:p>
        </p:txBody>
      </p:sp>
      <p:pic>
        <p:nvPicPr>
          <p:cNvPr id="14" name="Image 2" descr="clapper board">    </p:cNvPr>
          <p:cNvPicPr>
            <a:picLocks noChangeAspect="1"/>
          </p:cNvPicPr>
          <p:nvPr/>
        </p:nvPicPr>
        <p:blipFill>
          <a:blip r:embed="rId3"/>
          <a:stretch>
            <a:fillRect/>
          </a:stretch>
        </p:blipFill>
        <p:spPr>
          <a:xfrm>
            <a:off x="8778240" y="2709672"/>
            <a:ext cx="548640" cy="548640"/>
          </a:xfrm>
          <a:prstGeom prst="rect">
            <a:avLst/>
          </a:prstGeom>
        </p:spPr>
      </p:pic>
      <p:sp>
        <p:nvSpPr>
          <p:cNvPr id="15" name="Text 9"/>
          <p:cNvSpPr txBox="1"/>
          <p:nvPr/>
        </p:nvSpPr>
        <p:spPr>
          <a:xfrm>
            <a:off x="9418320" y="2709672"/>
            <a:ext cx="2148840" cy="548640"/>
          </a:xfrm>
          <a:prstGeom prst="rect">
            <a:avLst/>
          </a:prstGeom>
          <a:noFill/>
          <a:ln/>
        </p:spPr>
        <p:txBody>
          <a:bodyPr wrap="square" lIns="0" tIns="0" rIns="0" bIns="0" rtlCol="0" anchor="ctr"/>
          <a:lstStyle/>
          <a:p>
            <a:pPr algn="l" indent="0" marL="0">
              <a:buNone/>
            </a:pPr>
            <a:r>
              <a:rPr lang="en-US" sz="1400" b="1" dirty="0">
                <a:solidFill>
                  <a:schemeClr val="accent4"/>
                </a:solidFill>
              </a:rPr>
              <a:t>film</a:t>
            </a:r>
            <a:r>
              <a:rPr lang="en-US" sz="1400" dirty="0">
                <a:solidFill>
                  <a:schemeClr val="accent4"/>
                </a:solidFill>
              </a:rPr>
              <a:t> : imperfectum</a:t>
            </a:r>
            <a:endParaRPr lang="en-US" sz="1400" dirty="0"/>
          </a:p>
        </p:txBody>
      </p:sp>
      <p:sp>
        <p:nvSpPr>
          <p:cNvPr id="16" name="Text 10"/>
          <p:cNvSpPr txBox="1"/>
          <p:nvPr/>
        </p:nvSpPr>
        <p:spPr>
          <a:xfrm>
            <a:off x="8778240" y="3395472"/>
            <a:ext cx="2743200" cy="2731008"/>
          </a:xfrm>
          <a:prstGeom prst="rect">
            <a:avLst/>
          </a:prstGeom>
          <a:noFill/>
          <a:ln/>
        </p:spPr>
        <p:txBody>
          <a:bodyPr wrap="square" lIns="0" tIns="0" rIns="0" bIns="0" rtlCol="0" anchor="t"/>
          <a:lstStyle/>
          <a:p>
            <a:pPr algn="l" indent="0" marL="0">
              <a:spcAft>
                <a:spcPts val="600"/>
              </a:spcAft>
              <a:buNone/>
            </a:pPr>
            <a:r>
              <a:rPr lang="en-US" sz="1300" b="1" dirty="0">
                <a:solidFill>
                  <a:schemeClr val="tx1"/>
                </a:solidFill>
              </a:rPr>
              <a:t>photo</a:t>
            </a:r>
            <a:r>
              <a:rPr lang="en-US" sz="1300" dirty="0">
                <a:solidFill>
                  <a:schemeClr val="tx1"/>
                </a:solidFill>
              </a:rPr>
              <a:t> : </a:t>
            </a:r>
            <a:r>
              <a:rPr lang="en-US" sz="1300" i="1" dirty="0">
                <a:solidFill>
                  <a:schemeClr val="tx1"/>
                </a:solidFill>
              </a:rPr>
              <a:t>ben gegaan · hebben gepraat · is geweest</a:t>
            </a:r>
            <a:r>
              <a:rPr lang="en-US" sz="1300" dirty="0">
                <a:solidFill>
                  <a:schemeClr val="tx1"/>
                </a:solidFill>
              </a:rPr>
              <a:t> (ouvrir, conclure)</a:t>
            </a:r>
            <a:endParaRPr lang="en-US" sz="1300" dirty="0"/>
          </a:p>
          <a:p>
            <a:pPr algn="l" indent="0" marL="0">
              <a:spcAft>
                <a:spcPts val="600"/>
              </a:spcAft>
              <a:buNone/>
            </a:pPr>
            <a:r>
              <a:rPr lang="en-US" sz="1300" b="1" dirty="0">
                <a:solidFill>
                  <a:schemeClr val="tx1"/>
                </a:solidFill>
              </a:rPr>
              <a:t>film</a:t>
            </a:r>
            <a:r>
              <a:rPr lang="en-US" sz="1300" dirty="0">
                <a:solidFill>
                  <a:schemeClr val="tx1"/>
                </a:solidFill>
              </a:rPr>
              <a:t> : </a:t>
            </a:r>
            <a:r>
              <a:rPr lang="en-US" sz="1300" i="1" dirty="0">
                <a:solidFill>
                  <a:schemeClr val="tx1"/>
                </a:solidFill>
              </a:rPr>
              <a:t>was · scheen · stonden · kocht · dronk · zag</a:t>
            </a:r>
            <a:r>
              <a:rPr lang="en-US" sz="1300" dirty="0">
                <a:solidFill>
                  <a:schemeClr val="tx1"/>
                </a:solidFill>
              </a:rPr>
              <a:t> (décor, récit)</a:t>
            </a:r>
            <a:endParaRPr lang="en-US" sz="1300" dirty="0"/>
          </a:p>
          <a:p>
            <a:pPr algn="l" indent="0" marL="0">
              <a:spcAft>
                <a:spcPts val="600"/>
              </a:spcAft>
              <a:buNone/>
            </a:pPr>
            <a:r>
              <a:rPr lang="en-US" sz="1300" dirty="0">
                <a:solidFill>
                  <a:schemeClr val="tx1"/>
                </a:solidFill>
              </a:rPr>
              <a:t>Aussi possible : </a:t>
            </a:r>
            <a:r>
              <a:rPr lang="en-US" sz="1300" i="1" dirty="0">
                <a:solidFill>
                  <a:schemeClr val="tx1"/>
                </a:solidFill>
              </a:rPr>
              <a:t>ging ik · praatten we · was</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Depuis, venir de : al, sinds, net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 choisissez le marqueur (</a:t>
            </a:r>
            <a:r>
              <a:rPr lang="en-US" sz="1700" i="1" dirty="0">
                <a:solidFill>
                  <a:schemeClr val="accent5"/>
                </a:solidFill>
              </a:rPr>
              <a:t>al, sinds, net</a:t>
            </a:r>
            <a:r>
              <a:rPr lang="en-US" sz="1700" i="1" dirty="0">
                <a:solidFill>
                  <a:schemeClr val="accent5"/>
                </a:solidFill>
              </a:rPr>
              <a:t>) </a:t>
            </a:r>
            <a:r>
              <a:rPr lang="en-US" sz="1700" b="1" i="1" dirty="0">
                <a:solidFill>
                  <a:schemeClr val="accent5"/>
                </a:solidFill>
              </a:rPr>
              <a:t>et</a:t>
            </a:r>
            <a:r>
              <a:rPr lang="en-US" sz="1700" i="1" dirty="0">
                <a:solidFill>
                  <a:schemeClr val="accent5"/>
                </a:solidFill>
              </a:rPr>
              <a:t> le temps du verbe.</a:t>
            </a:r>
            <a:endParaRPr lang="en-US" sz="1700" dirty="0"/>
          </a:p>
        </p:txBody>
      </p:sp>
      <p:sp>
        <p:nvSpPr>
          <p:cNvPr id="8" name="Shape 4"/>
          <p:cNvSpPr/>
          <p:nvPr/>
        </p:nvSpPr>
        <p:spPr>
          <a:xfrm>
            <a:off x="548640" y="1969008"/>
            <a:ext cx="11091672" cy="569468"/>
          </a:xfrm>
          <a:prstGeom prst="roundRect">
            <a:avLst>
              <a:gd name="adj" fmla="val 16057"/>
            </a:avLst>
          </a:prstGeom>
          <a:solidFill>
            <a:schemeClr val="bg2"/>
          </a:solidFill>
          <a:ln w="9525">
            <a:solidFill>
              <a:srgbClr val="D5DCE6"/>
            </a:solidFill>
            <a:prstDash val="solid"/>
          </a:ln>
        </p:spPr>
      </p:sp>
      <p:sp>
        <p:nvSpPr>
          <p:cNvPr id="9" name="Text 5"/>
          <p:cNvSpPr txBox="1"/>
          <p:nvPr/>
        </p:nvSpPr>
        <p:spPr>
          <a:xfrm>
            <a:off x="685800" y="1969008"/>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1</a:t>
            </a:r>
            <a:r>
              <a:rPr lang="en-US" sz="1500" i="1" dirty="0">
                <a:solidFill>
                  <a:schemeClr val="tx2"/>
                </a:solidFill>
              </a:rPr>
              <a:t>  « J’habite ici depuis cinq ans. »</a:t>
            </a:r>
            <a:endParaRPr lang="en-US" sz="1500" dirty="0"/>
          </a:p>
        </p:txBody>
      </p:sp>
      <p:sp>
        <p:nvSpPr>
          <p:cNvPr id="10" name="Text 6"/>
          <p:cNvSpPr txBox="1"/>
          <p:nvPr/>
        </p:nvSpPr>
        <p:spPr>
          <a:xfrm>
            <a:off x="5486400" y="1969008"/>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1" name="Text 7"/>
          <p:cNvSpPr txBox="1"/>
          <p:nvPr/>
        </p:nvSpPr>
        <p:spPr>
          <a:xfrm>
            <a:off x="5943600" y="1969008"/>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i="1" dirty="0">
                <a:solidFill>
                  <a:schemeClr val="accent5"/>
                </a:solidFill>
              </a:rPr>
              <a:t>…………</a:t>
            </a:r>
            <a:r>
              <a:rPr lang="en-US" sz="1700" i="1" dirty="0">
                <a:solidFill>
                  <a:schemeClr val="tx1"/>
                </a:solidFill>
              </a:rPr>
              <a:t> hier </a:t>
            </a:r>
            <a:r>
              <a:rPr lang="en-US" sz="1700" i="1" dirty="0">
                <a:solidFill>
                  <a:schemeClr val="accent5"/>
                </a:solidFill>
              </a:rPr>
              <a:t>…………</a:t>
            </a:r>
            <a:r>
              <a:rPr lang="en-US" sz="1700" i="1" dirty="0">
                <a:solidFill>
                  <a:schemeClr val="tx1"/>
                </a:solidFill>
              </a:rPr>
              <a:t> vijf jaar.</a:t>
            </a:r>
            <a:endParaRPr lang="en-US" sz="1700" dirty="0"/>
          </a:p>
        </p:txBody>
      </p:sp>
      <p:sp>
        <p:nvSpPr>
          <p:cNvPr id="12" name="Shape 8"/>
          <p:cNvSpPr/>
          <p:nvPr/>
        </p:nvSpPr>
        <p:spPr>
          <a:xfrm>
            <a:off x="548640" y="2629916"/>
            <a:ext cx="11091672" cy="569468"/>
          </a:xfrm>
          <a:prstGeom prst="roundRect">
            <a:avLst>
              <a:gd name="adj" fmla="val 16057"/>
            </a:avLst>
          </a:prstGeom>
          <a:solidFill>
            <a:srgbClr val="FFFFFF"/>
          </a:solidFill>
          <a:ln w="9525">
            <a:solidFill>
              <a:srgbClr val="D5DCE6"/>
            </a:solidFill>
            <a:prstDash val="solid"/>
          </a:ln>
        </p:spPr>
      </p:sp>
      <p:sp>
        <p:nvSpPr>
          <p:cNvPr id="13" name="Text 9"/>
          <p:cNvSpPr txBox="1"/>
          <p:nvPr/>
        </p:nvSpPr>
        <p:spPr>
          <a:xfrm>
            <a:off x="685800" y="2629916"/>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2</a:t>
            </a:r>
            <a:r>
              <a:rPr lang="en-US" sz="1500" i="1" dirty="0">
                <a:solidFill>
                  <a:schemeClr val="tx2"/>
                </a:solidFill>
              </a:rPr>
              <a:t>  « Je travaille chez Koopzo depuis 2022. »</a:t>
            </a:r>
            <a:endParaRPr lang="en-US" sz="1500" dirty="0"/>
          </a:p>
        </p:txBody>
      </p:sp>
      <p:sp>
        <p:nvSpPr>
          <p:cNvPr id="14" name="Text 10"/>
          <p:cNvSpPr txBox="1"/>
          <p:nvPr/>
        </p:nvSpPr>
        <p:spPr>
          <a:xfrm>
            <a:off x="5486400" y="2629916"/>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5" name="Text 11"/>
          <p:cNvSpPr txBox="1"/>
          <p:nvPr/>
        </p:nvSpPr>
        <p:spPr>
          <a:xfrm>
            <a:off x="5943600" y="2629916"/>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 2022 bij Koopzo.</a:t>
            </a:r>
            <a:endParaRPr lang="en-US" sz="1700" dirty="0"/>
          </a:p>
        </p:txBody>
      </p:sp>
      <p:sp>
        <p:nvSpPr>
          <p:cNvPr id="16" name="Shape 12"/>
          <p:cNvSpPr/>
          <p:nvPr/>
        </p:nvSpPr>
        <p:spPr>
          <a:xfrm>
            <a:off x="548640" y="3290824"/>
            <a:ext cx="11091672" cy="569468"/>
          </a:xfrm>
          <a:prstGeom prst="roundRect">
            <a:avLst>
              <a:gd name="adj" fmla="val 16057"/>
            </a:avLst>
          </a:prstGeom>
          <a:solidFill>
            <a:schemeClr val="bg2"/>
          </a:solidFill>
          <a:ln w="9525">
            <a:solidFill>
              <a:srgbClr val="D5DCE6"/>
            </a:solidFill>
            <a:prstDash val="solid"/>
          </a:ln>
        </p:spPr>
      </p:sp>
      <p:sp>
        <p:nvSpPr>
          <p:cNvPr id="17" name="Text 13"/>
          <p:cNvSpPr txBox="1"/>
          <p:nvPr/>
        </p:nvSpPr>
        <p:spPr>
          <a:xfrm>
            <a:off x="685800" y="3290824"/>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3</a:t>
            </a:r>
            <a:r>
              <a:rPr lang="en-US" sz="1500" i="1" dirty="0">
                <a:solidFill>
                  <a:schemeClr val="tx2"/>
                </a:solidFill>
              </a:rPr>
              <a:t>  « Elle vient de partir. »</a:t>
            </a:r>
            <a:endParaRPr lang="en-US" sz="1500" dirty="0"/>
          </a:p>
        </p:txBody>
      </p:sp>
      <p:sp>
        <p:nvSpPr>
          <p:cNvPr id="18" name="Text 14"/>
          <p:cNvSpPr txBox="1"/>
          <p:nvPr/>
        </p:nvSpPr>
        <p:spPr>
          <a:xfrm>
            <a:off x="5486400" y="3290824"/>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9" name="Text 15"/>
          <p:cNvSpPr txBox="1"/>
          <p:nvPr/>
        </p:nvSpPr>
        <p:spPr>
          <a:xfrm>
            <a:off x="5943600" y="3290824"/>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Ze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a:t>
            </a:r>
            <a:endParaRPr lang="en-US" sz="1700" dirty="0"/>
          </a:p>
        </p:txBody>
      </p:sp>
      <p:sp>
        <p:nvSpPr>
          <p:cNvPr id="20" name="Shape 16"/>
          <p:cNvSpPr/>
          <p:nvPr/>
        </p:nvSpPr>
        <p:spPr>
          <a:xfrm>
            <a:off x="548640" y="3951732"/>
            <a:ext cx="11091672" cy="569468"/>
          </a:xfrm>
          <a:prstGeom prst="roundRect">
            <a:avLst>
              <a:gd name="adj" fmla="val 16057"/>
            </a:avLst>
          </a:prstGeom>
          <a:solidFill>
            <a:srgbClr val="FFFFFF"/>
          </a:solidFill>
          <a:ln w="9525">
            <a:solidFill>
              <a:srgbClr val="D5DCE6"/>
            </a:solidFill>
            <a:prstDash val="solid"/>
          </a:ln>
        </p:spPr>
      </p:sp>
      <p:sp>
        <p:nvSpPr>
          <p:cNvPr id="21" name="Text 17"/>
          <p:cNvSpPr txBox="1"/>
          <p:nvPr/>
        </p:nvSpPr>
        <p:spPr>
          <a:xfrm>
            <a:off x="685800" y="3951732"/>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4</a:t>
            </a:r>
            <a:r>
              <a:rPr lang="en-US" sz="1500" i="1" dirty="0">
                <a:solidFill>
                  <a:schemeClr val="tx2"/>
                </a:solidFill>
              </a:rPr>
              <a:t>  « Nous attendons depuis une heure ! »</a:t>
            </a:r>
            <a:endParaRPr lang="en-US" sz="1500" dirty="0"/>
          </a:p>
        </p:txBody>
      </p:sp>
      <p:sp>
        <p:nvSpPr>
          <p:cNvPr id="22" name="Text 18"/>
          <p:cNvSpPr txBox="1"/>
          <p:nvPr/>
        </p:nvSpPr>
        <p:spPr>
          <a:xfrm>
            <a:off x="5486400" y="3951732"/>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3" name="Text 19"/>
          <p:cNvSpPr txBox="1"/>
          <p:nvPr/>
        </p:nvSpPr>
        <p:spPr>
          <a:xfrm>
            <a:off x="5943600" y="3951732"/>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We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 een uur!</a:t>
            </a:r>
            <a:endParaRPr lang="en-US" sz="1700" dirty="0"/>
          </a:p>
        </p:txBody>
      </p:sp>
      <p:sp>
        <p:nvSpPr>
          <p:cNvPr id="24" name="Shape 20"/>
          <p:cNvSpPr/>
          <p:nvPr/>
        </p:nvSpPr>
        <p:spPr>
          <a:xfrm>
            <a:off x="548640" y="4612640"/>
            <a:ext cx="11091672" cy="569468"/>
          </a:xfrm>
          <a:prstGeom prst="roundRect">
            <a:avLst>
              <a:gd name="adj" fmla="val 16057"/>
            </a:avLst>
          </a:prstGeom>
          <a:solidFill>
            <a:schemeClr val="bg2"/>
          </a:solidFill>
          <a:ln w="9525">
            <a:solidFill>
              <a:srgbClr val="D5DCE6"/>
            </a:solidFill>
            <a:prstDash val="solid"/>
          </a:ln>
        </p:spPr>
      </p:sp>
      <p:sp>
        <p:nvSpPr>
          <p:cNvPr id="25" name="Text 21"/>
          <p:cNvSpPr txBox="1"/>
          <p:nvPr/>
        </p:nvSpPr>
        <p:spPr>
          <a:xfrm>
            <a:off x="685800" y="4612640"/>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5</a:t>
            </a:r>
            <a:r>
              <a:rPr lang="en-US" sz="1500" i="1" dirty="0">
                <a:solidFill>
                  <a:schemeClr val="tx2"/>
                </a:solidFill>
              </a:rPr>
              <a:t>  « Je viens de manger. »</a:t>
            </a:r>
            <a:endParaRPr lang="en-US" sz="1500" dirty="0"/>
          </a:p>
        </p:txBody>
      </p:sp>
      <p:sp>
        <p:nvSpPr>
          <p:cNvPr id="26" name="Text 22"/>
          <p:cNvSpPr txBox="1"/>
          <p:nvPr/>
        </p:nvSpPr>
        <p:spPr>
          <a:xfrm>
            <a:off x="5486400" y="4612640"/>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7" name="Text 23"/>
          <p:cNvSpPr txBox="1"/>
          <p:nvPr/>
        </p:nvSpPr>
        <p:spPr>
          <a:xfrm>
            <a:off x="5943600" y="4612640"/>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a:t>
            </a:r>
            <a:endParaRPr lang="en-US" sz="1700" dirty="0"/>
          </a:p>
        </p:txBody>
      </p:sp>
      <p:sp>
        <p:nvSpPr>
          <p:cNvPr id="28" name="Shape 24"/>
          <p:cNvSpPr/>
          <p:nvPr/>
        </p:nvSpPr>
        <p:spPr>
          <a:xfrm>
            <a:off x="548640" y="5273548"/>
            <a:ext cx="11091672" cy="569468"/>
          </a:xfrm>
          <a:prstGeom prst="roundRect">
            <a:avLst>
              <a:gd name="adj" fmla="val 16057"/>
            </a:avLst>
          </a:prstGeom>
          <a:solidFill>
            <a:srgbClr val="FFFFFF"/>
          </a:solidFill>
          <a:ln w="9525">
            <a:solidFill>
              <a:srgbClr val="D5DCE6"/>
            </a:solidFill>
            <a:prstDash val="solid"/>
          </a:ln>
        </p:spPr>
      </p:sp>
      <p:sp>
        <p:nvSpPr>
          <p:cNvPr id="29" name="Text 25"/>
          <p:cNvSpPr txBox="1"/>
          <p:nvPr/>
        </p:nvSpPr>
        <p:spPr>
          <a:xfrm>
            <a:off x="685800" y="5273548"/>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6</a:t>
            </a:r>
            <a:r>
              <a:rPr lang="en-US" sz="1500" i="1" dirty="0">
                <a:solidFill>
                  <a:schemeClr val="tx2"/>
                </a:solidFill>
              </a:rPr>
              <a:t>  « Il attendait depuis une heure quand le bus est arrivé. »</a:t>
            </a:r>
            <a:endParaRPr lang="en-US" sz="1500" dirty="0"/>
          </a:p>
        </p:txBody>
      </p:sp>
      <p:sp>
        <p:nvSpPr>
          <p:cNvPr id="30" name="Text 26"/>
          <p:cNvSpPr txBox="1"/>
          <p:nvPr/>
        </p:nvSpPr>
        <p:spPr>
          <a:xfrm>
            <a:off x="5486400" y="5273548"/>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1" name="Text 27"/>
          <p:cNvSpPr txBox="1"/>
          <p:nvPr/>
        </p:nvSpPr>
        <p:spPr>
          <a:xfrm>
            <a:off x="5943600" y="5273548"/>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Hij </a:t>
            </a:r>
            <a:r>
              <a:rPr lang="en-US" sz="1700" i="1" dirty="0">
                <a:solidFill>
                  <a:schemeClr val="accent5"/>
                </a:solidFill>
              </a:rPr>
              <a:t>…………</a:t>
            </a:r>
            <a:r>
              <a:rPr lang="en-US" sz="1700" i="1" dirty="0">
                <a:solidFill>
                  <a:schemeClr val="tx1"/>
                </a:solidFill>
              </a:rPr>
              <a:t> </a:t>
            </a:r>
            <a:r>
              <a:rPr lang="en-US" sz="1700" i="1" dirty="0">
                <a:solidFill>
                  <a:schemeClr val="accent5"/>
                </a:solidFill>
              </a:rPr>
              <a:t>…………</a:t>
            </a:r>
            <a:r>
              <a:rPr lang="en-US" sz="1700" i="1" dirty="0">
                <a:solidFill>
                  <a:schemeClr val="tx1"/>
                </a:solidFill>
              </a:rPr>
              <a:t> een uur toen de bus </a:t>
            </a:r>
            <a:r>
              <a:rPr lang="en-US" sz="1700" i="1" dirty="0">
                <a:solidFill>
                  <a:schemeClr val="accent5"/>
                </a:solidFill>
              </a:rPr>
              <a:t>…………</a:t>
            </a:r>
            <a:r>
              <a:rPr lang="en-US" sz="1700" i="1"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Depuis, venir de : al, sinds, net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 choisissez le marqueur (</a:t>
            </a:r>
            <a:r>
              <a:rPr lang="en-US" sz="1700" i="1" dirty="0">
                <a:solidFill>
                  <a:schemeClr val="accent5"/>
                </a:solidFill>
              </a:rPr>
              <a:t>al, sinds, net</a:t>
            </a:r>
            <a:r>
              <a:rPr lang="en-US" sz="1700" i="1" dirty="0">
                <a:solidFill>
                  <a:schemeClr val="accent5"/>
                </a:solidFill>
              </a:rPr>
              <a:t>) </a:t>
            </a:r>
            <a:r>
              <a:rPr lang="en-US" sz="1700" b="1" i="1" dirty="0">
                <a:solidFill>
                  <a:schemeClr val="accent5"/>
                </a:solidFill>
              </a:rPr>
              <a:t>et</a:t>
            </a:r>
            <a:r>
              <a:rPr lang="en-US" sz="1700" i="1" dirty="0">
                <a:solidFill>
                  <a:schemeClr val="accent5"/>
                </a:solidFill>
              </a:rPr>
              <a:t> le temps du verbe.</a:t>
            </a:r>
            <a:endParaRPr lang="en-US" sz="1700" dirty="0"/>
          </a:p>
        </p:txBody>
      </p:sp>
      <p:sp>
        <p:nvSpPr>
          <p:cNvPr id="9" name="Shape 5"/>
          <p:cNvSpPr/>
          <p:nvPr/>
        </p:nvSpPr>
        <p:spPr>
          <a:xfrm>
            <a:off x="548640" y="1969008"/>
            <a:ext cx="11091672" cy="569468"/>
          </a:xfrm>
          <a:prstGeom prst="roundRect">
            <a:avLst>
              <a:gd name="adj" fmla="val 16057"/>
            </a:avLst>
          </a:prstGeom>
          <a:solidFill>
            <a:schemeClr val="bg2"/>
          </a:solidFill>
          <a:ln w="9525">
            <a:solidFill>
              <a:srgbClr val="D5DCE6"/>
            </a:solidFill>
            <a:prstDash val="solid"/>
          </a:ln>
        </p:spPr>
      </p:sp>
      <p:sp>
        <p:nvSpPr>
          <p:cNvPr id="10" name="Text 6"/>
          <p:cNvSpPr txBox="1"/>
          <p:nvPr/>
        </p:nvSpPr>
        <p:spPr>
          <a:xfrm>
            <a:off x="685800" y="1969008"/>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1</a:t>
            </a:r>
            <a:r>
              <a:rPr lang="en-US" sz="1500" i="1" dirty="0">
                <a:solidFill>
                  <a:schemeClr val="tx2"/>
                </a:solidFill>
              </a:rPr>
              <a:t>  « J’habite ici depuis cinq ans. »</a:t>
            </a:r>
            <a:endParaRPr lang="en-US" sz="1500" dirty="0"/>
          </a:p>
        </p:txBody>
      </p:sp>
      <p:sp>
        <p:nvSpPr>
          <p:cNvPr id="11" name="Text 7"/>
          <p:cNvSpPr txBox="1"/>
          <p:nvPr/>
        </p:nvSpPr>
        <p:spPr>
          <a:xfrm>
            <a:off x="5486400" y="1969008"/>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2" name="Text 8"/>
          <p:cNvSpPr txBox="1"/>
          <p:nvPr/>
        </p:nvSpPr>
        <p:spPr>
          <a:xfrm>
            <a:off x="5943600" y="1969008"/>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chemeClr val="accent3"/>
                </a:solidFill>
              </a:rPr>
              <a:t>woon</a:t>
            </a:r>
            <a:r>
              <a:rPr lang="en-US" sz="1700" i="1" dirty="0">
                <a:solidFill>
                  <a:schemeClr val="tx1"/>
                </a:solidFill>
              </a:rPr>
              <a:t> hier </a:t>
            </a:r>
            <a:r>
              <a:rPr lang="en-US" sz="1700" b="1" i="1" dirty="0">
                <a:solidFill>
                  <a:schemeClr val="accent3"/>
                </a:solidFill>
              </a:rPr>
              <a:t>al</a:t>
            </a:r>
            <a:r>
              <a:rPr lang="en-US" sz="1700" i="1" dirty="0">
                <a:solidFill>
                  <a:schemeClr val="tx1"/>
                </a:solidFill>
              </a:rPr>
              <a:t> vijf jaar.</a:t>
            </a:r>
            <a:endParaRPr lang="en-US" sz="1700" dirty="0"/>
          </a:p>
        </p:txBody>
      </p:sp>
      <p:sp>
        <p:nvSpPr>
          <p:cNvPr id="13" name="Shape 9"/>
          <p:cNvSpPr/>
          <p:nvPr/>
        </p:nvSpPr>
        <p:spPr>
          <a:xfrm>
            <a:off x="548640" y="2629916"/>
            <a:ext cx="11091672" cy="569468"/>
          </a:xfrm>
          <a:prstGeom prst="roundRect">
            <a:avLst>
              <a:gd name="adj" fmla="val 16057"/>
            </a:avLst>
          </a:prstGeom>
          <a:solidFill>
            <a:srgbClr val="FFFFFF"/>
          </a:solidFill>
          <a:ln w="9525">
            <a:solidFill>
              <a:srgbClr val="D5DCE6"/>
            </a:solidFill>
            <a:prstDash val="solid"/>
          </a:ln>
        </p:spPr>
      </p:sp>
      <p:sp>
        <p:nvSpPr>
          <p:cNvPr id="14" name="Text 10"/>
          <p:cNvSpPr txBox="1"/>
          <p:nvPr/>
        </p:nvSpPr>
        <p:spPr>
          <a:xfrm>
            <a:off x="685800" y="2629916"/>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2</a:t>
            </a:r>
            <a:r>
              <a:rPr lang="en-US" sz="1500" i="1" dirty="0">
                <a:solidFill>
                  <a:schemeClr val="tx2"/>
                </a:solidFill>
              </a:rPr>
              <a:t>  « Je travaille chez Koopzo depuis 2022. »</a:t>
            </a:r>
            <a:endParaRPr lang="en-US" sz="1500" dirty="0"/>
          </a:p>
        </p:txBody>
      </p:sp>
      <p:sp>
        <p:nvSpPr>
          <p:cNvPr id="15" name="Text 11"/>
          <p:cNvSpPr txBox="1"/>
          <p:nvPr/>
        </p:nvSpPr>
        <p:spPr>
          <a:xfrm>
            <a:off x="5486400" y="2629916"/>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6" name="Text 12"/>
          <p:cNvSpPr txBox="1"/>
          <p:nvPr/>
        </p:nvSpPr>
        <p:spPr>
          <a:xfrm>
            <a:off x="5943600" y="2629916"/>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chemeClr val="accent3"/>
                </a:solidFill>
              </a:rPr>
              <a:t>werk</a:t>
            </a:r>
            <a:r>
              <a:rPr lang="en-US" sz="1700" i="1" dirty="0">
                <a:solidFill>
                  <a:schemeClr val="tx1"/>
                </a:solidFill>
              </a:rPr>
              <a:t> </a:t>
            </a:r>
            <a:r>
              <a:rPr lang="en-US" sz="1700" b="1" i="1" dirty="0">
                <a:solidFill>
                  <a:schemeClr val="accent3"/>
                </a:solidFill>
              </a:rPr>
              <a:t>sinds</a:t>
            </a:r>
            <a:r>
              <a:rPr lang="en-US" sz="1700" i="1" dirty="0">
                <a:solidFill>
                  <a:schemeClr val="tx1"/>
                </a:solidFill>
              </a:rPr>
              <a:t> 2022 bij Koopzo.</a:t>
            </a:r>
            <a:endParaRPr lang="en-US" sz="1700" dirty="0"/>
          </a:p>
        </p:txBody>
      </p:sp>
      <p:sp>
        <p:nvSpPr>
          <p:cNvPr id="17" name="Shape 13"/>
          <p:cNvSpPr/>
          <p:nvPr/>
        </p:nvSpPr>
        <p:spPr>
          <a:xfrm>
            <a:off x="548640" y="3290824"/>
            <a:ext cx="11091672" cy="569468"/>
          </a:xfrm>
          <a:prstGeom prst="roundRect">
            <a:avLst>
              <a:gd name="adj" fmla="val 16057"/>
            </a:avLst>
          </a:prstGeom>
          <a:solidFill>
            <a:schemeClr val="bg2"/>
          </a:solidFill>
          <a:ln w="9525">
            <a:solidFill>
              <a:srgbClr val="D5DCE6"/>
            </a:solidFill>
            <a:prstDash val="solid"/>
          </a:ln>
        </p:spPr>
      </p:sp>
      <p:sp>
        <p:nvSpPr>
          <p:cNvPr id="18" name="Text 14"/>
          <p:cNvSpPr txBox="1"/>
          <p:nvPr/>
        </p:nvSpPr>
        <p:spPr>
          <a:xfrm>
            <a:off x="685800" y="3290824"/>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3</a:t>
            </a:r>
            <a:r>
              <a:rPr lang="en-US" sz="1500" i="1" dirty="0">
                <a:solidFill>
                  <a:schemeClr val="tx2"/>
                </a:solidFill>
              </a:rPr>
              <a:t>  « Elle vient de partir. »</a:t>
            </a:r>
            <a:endParaRPr lang="en-US" sz="1500" dirty="0"/>
          </a:p>
        </p:txBody>
      </p:sp>
      <p:sp>
        <p:nvSpPr>
          <p:cNvPr id="19" name="Text 15"/>
          <p:cNvSpPr txBox="1"/>
          <p:nvPr/>
        </p:nvSpPr>
        <p:spPr>
          <a:xfrm>
            <a:off x="5486400" y="3290824"/>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0" name="Text 16"/>
          <p:cNvSpPr txBox="1"/>
          <p:nvPr/>
        </p:nvSpPr>
        <p:spPr>
          <a:xfrm>
            <a:off x="5943600" y="3290824"/>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Ze </a:t>
            </a:r>
            <a:r>
              <a:rPr lang="en-US" sz="1700" b="1" i="1" dirty="0">
                <a:solidFill>
                  <a:schemeClr val="accent3"/>
                </a:solidFill>
              </a:rPr>
              <a:t>is</a:t>
            </a:r>
            <a:r>
              <a:rPr lang="en-US" sz="1700" i="1" dirty="0">
                <a:solidFill>
                  <a:schemeClr val="tx1"/>
                </a:solidFill>
              </a:rPr>
              <a:t> </a:t>
            </a:r>
            <a:r>
              <a:rPr lang="en-US" sz="1700" b="1" i="1" dirty="0">
                <a:solidFill>
                  <a:schemeClr val="accent3"/>
                </a:solidFill>
              </a:rPr>
              <a:t>net</a:t>
            </a:r>
            <a:r>
              <a:rPr lang="en-US" sz="1700" i="1" dirty="0">
                <a:solidFill>
                  <a:schemeClr val="tx1"/>
                </a:solidFill>
              </a:rPr>
              <a:t> </a:t>
            </a:r>
            <a:r>
              <a:rPr lang="en-US" sz="1700" b="1" i="1" dirty="0">
                <a:solidFill>
                  <a:schemeClr val="accent3"/>
                </a:solidFill>
              </a:rPr>
              <a:t>vertrokken</a:t>
            </a:r>
            <a:r>
              <a:rPr lang="en-US" sz="1700" i="1" dirty="0">
                <a:solidFill>
                  <a:schemeClr val="tx1"/>
                </a:solidFill>
              </a:rPr>
              <a:t>.</a:t>
            </a:r>
            <a:endParaRPr lang="en-US" sz="1700" dirty="0"/>
          </a:p>
        </p:txBody>
      </p:sp>
      <p:sp>
        <p:nvSpPr>
          <p:cNvPr id="21" name="Shape 17"/>
          <p:cNvSpPr/>
          <p:nvPr/>
        </p:nvSpPr>
        <p:spPr>
          <a:xfrm>
            <a:off x="548640" y="3951732"/>
            <a:ext cx="11091672" cy="569468"/>
          </a:xfrm>
          <a:prstGeom prst="roundRect">
            <a:avLst>
              <a:gd name="adj" fmla="val 16057"/>
            </a:avLst>
          </a:prstGeom>
          <a:solidFill>
            <a:srgbClr val="FFFFFF"/>
          </a:solidFill>
          <a:ln w="9525">
            <a:solidFill>
              <a:srgbClr val="D5DCE6"/>
            </a:solidFill>
            <a:prstDash val="solid"/>
          </a:ln>
        </p:spPr>
      </p:sp>
      <p:sp>
        <p:nvSpPr>
          <p:cNvPr id="22" name="Text 18"/>
          <p:cNvSpPr txBox="1"/>
          <p:nvPr/>
        </p:nvSpPr>
        <p:spPr>
          <a:xfrm>
            <a:off x="685800" y="3951732"/>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4</a:t>
            </a:r>
            <a:r>
              <a:rPr lang="en-US" sz="1500" i="1" dirty="0">
                <a:solidFill>
                  <a:schemeClr val="tx2"/>
                </a:solidFill>
              </a:rPr>
              <a:t>  « Nous attendons depuis une heure ! »</a:t>
            </a:r>
            <a:endParaRPr lang="en-US" sz="1500" dirty="0"/>
          </a:p>
        </p:txBody>
      </p:sp>
      <p:sp>
        <p:nvSpPr>
          <p:cNvPr id="23" name="Text 19"/>
          <p:cNvSpPr txBox="1"/>
          <p:nvPr/>
        </p:nvSpPr>
        <p:spPr>
          <a:xfrm>
            <a:off x="5486400" y="3951732"/>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4" name="Text 20"/>
          <p:cNvSpPr txBox="1"/>
          <p:nvPr/>
        </p:nvSpPr>
        <p:spPr>
          <a:xfrm>
            <a:off x="5943600" y="3951732"/>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We </a:t>
            </a:r>
            <a:r>
              <a:rPr lang="en-US" sz="1700" b="1" i="1" dirty="0">
                <a:solidFill>
                  <a:schemeClr val="accent3"/>
                </a:solidFill>
              </a:rPr>
              <a:t>wachten</a:t>
            </a:r>
            <a:r>
              <a:rPr lang="en-US" sz="1700" i="1" dirty="0">
                <a:solidFill>
                  <a:schemeClr val="tx1"/>
                </a:solidFill>
              </a:rPr>
              <a:t> </a:t>
            </a:r>
            <a:r>
              <a:rPr lang="en-US" sz="1700" b="1" i="1" dirty="0">
                <a:solidFill>
                  <a:schemeClr val="accent3"/>
                </a:solidFill>
              </a:rPr>
              <a:t>al</a:t>
            </a:r>
            <a:r>
              <a:rPr lang="en-US" sz="1700" i="1" dirty="0">
                <a:solidFill>
                  <a:schemeClr val="tx1"/>
                </a:solidFill>
              </a:rPr>
              <a:t> een uur!</a:t>
            </a:r>
            <a:endParaRPr lang="en-US" sz="1700" dirty="0"/>
          </a:p>
        </p:txBody>
      </p:sp>
      <p:sp>
        <p:nvSpPr>
          <p:cNvPr id="25" name="Shape 21"/>
          <p:cNvSpPr/>
          <p:nvPr/>
        </p:nvSpPr>
        <p:spPr>
          <a:xfrm>
            <a:off x="548640" y="4612640"/>
            <a:ext cx="11091672" cy="569468"/>
          </a:xfrm>
          <a:prstGeom prst="roundRect">
            <a:avLst>
              <a:gd name="adj" fmla="val 16057"/>
            </a:avLst>
          </a:prstGeom>
          <a:solidFill>
            <a:schemeClr val="bg2"/>
          </a:solidFill>
          <a:ln w="9525">
            <a:solidFill>
              <a:srgbClr val="D5DCE6"/>
            </a:solidFill>
            <a:prstDash val="solid"/>
          </a:ln>
        </p:spPr>
      </p:sp>
      <p:sp>
        <p:nvSpPr>
          <p:cNvPr id="26" name="Text 22"/>
          <p:cNvSpPr txBox="1"/>
          <p:nvPr/>
        </p:nvSpPr>
        <p:spPr>
          <a:xfrm>
            <a:off x="685800" y="4612640"/>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5</a:t>
            </a:r>
            <a:r>
              <a:rPr lang="en-US" sz="1500" i="1" dirty="0">
                <a:solidFill>
                  <a:schemeClr val="tx2"/>
                </a:solidFill>
              </a:rPr>
              <a:t>  « Je viens de manger. »</a:t>
            </a:r>
            <a:endParaRPr lang="en-US" sz="1500" dirty="0"/>
          </a:p>
        </p:txBody>
      </p:sp>
      <p:sp>
        <p:nvSpPr>
          <p:cNvPr id="27" name="Text 23"/>
          <p:cNvSpPr txBox="1"/>
          <p:nvPr/>
        </p:nvSpPr>
        <p:spPr>
          <a:xfrm>
            <a:off x="5486400" y="4612640"/>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8" name="Text 24"/>
          <p:cNvSpPr txBox="1"/>
          <p:nvPr/>
        </p:nvSpPr>
        <p:spPr>
          <a:xfrm>
            <a:off x="5943600" y="4612640"/>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Ik </a:t>
            </a:r>
            <a:r>
              <a:rPr lang="en-US" sz="1700" b="1" i="1" dirty="0">
                <a:solidFill>
                  <a:schemeClr val="accent3"/>
                </a:solidFill>
              </a:rPr>
              <a:t>heb</a:t>
            </a:r>
            <a:r>
              <a:rPr lang="en-US" sz="1700" i="1" dirty="0">
                <a:solidFill>
                  <a:schemeClr val="tx1"/>
                </a:solidFill>
              </a:rPr>
              <a:t> </a:t>
            </a:r>
            <a:r>
              <a:rPr lang="en-US" sz="1700" b="1" i="1" dirty="0">
                <a:solidFill>
                  <a:schemeClr val="accent3"/>
                </a:solidFill>
              </a:rPr>
              <a:t>net</a:t>
            </a:r>
            <a:r>
              <a:rPr lang="en-US" sz="1700" i="1" dirty="0">
                <a:solidFill>
                  <a:schemeClr val="tx1"/>
                </a:solidFill>
              </a:rPr>
              <a:t> </a:t>
            </a:r>
            <a:r>
              <a:rPr lang="en-US" sz="1700" b="1" i="1" dirty="0">
                <a:solidFill>
                  <a:schemeClr val="accent3"/>
                </a:solidFill>
              </a:rPr>
              <a:t>gegeten</a:t>
            </a:r>
            <a:r>
              <a:rPr lang="en-US" sz="1700" i="1" dirty="0">
                <a:solidFill>
                  <a:schemeClr val="tx1"/>
                </a:solidFill>
              </a:rPr>
              <a:t>.</a:t>
            </a:r>
            <a:endParaRPr lang="en-US" sz="1700" dirty="0"/>
          </a:p>
        </p:txBody>
      </p:sp>
      <p:sp>
        <p:nvSpPr>
          <p:cNvPr id="29" name="Shape 25"/>
          <p:cNvSpPr/>
          <p:nvPr/>
        </p:nvSpPr>
        <p:spPr>
          <a:xfrm>
            <a:off x="548640" y="5273548"/>
            <a:ext cx="11091672" cy="569468"/>
          </a:xfrm>
          <a:prstGeom prst="roundRect">
            <a:avLst>
              <a:gd name="adj" fmla="val 16057"/>
            </a:avLst>
          </a:prstGeom>
          <a:solidFill>
            <a:srgbClr val="FFFFFF"/>
          </a:solidFill>
          <a:ln w="9525">
            <a:solidFill>
              <a:srgbClr val="D5DCE6"/>
            </a:solidFill>
            <a:prstDash val="solid"/>
          </a:ln>
        </p:spPr>
      </p:sp>
      <p:sp>
        <p:nvSpPr>
          <p:cNvPr id="30" name="Text 26"/>
          <p:cNvSpPr txBox="1"/>
          <p:nvPr/>
        </p:nvSpPr>
        <p:spPr>
          <a:xfrm>
            <a:off x="685800" y="5273548"/>
            <a:ext cx="4846320" cy="569468"/>
          </a:xfrm>
          <a:prstGeom prst="rect">
            <a:avLst/>
          </a:prstGeom>
          <a:noFill/>
          <a:ln/>
        </p:spPr>
        <p:txBody>
          <a:bodyPr wrap="square" lIns="0" tIns="0" rIns="0" bIns="0" rtlCol="0" anchor="ctr"/>
          <a:lstStyle/>
          <a:p>
            <a:pPr algn="l" indent="0" marL="0">
              <a:buNone/>
            </a:pPr>
            <a:r>
              <a:rPr lang="en-US" sz="1500" b="1" i="1" dirty="0">
                <a:solidFill>
                  <a:schemeClr val="tx2"/>
                </a:solidFill>
              </a:rPr>
              <a:t>6</a:t>
            </a:r>
            <a:r>
              <a:rPr lang="en-US" sz="1500" i="1" dirty="0">
                <a:solidFill>
                  <a:schemeClr val="tx2"/>
                </a:solidFill>
              </a:rPr>
              <a:t>  « Il attendait depuis une heure quand le bus est arrivé. »</a:t>
            </a:r>
            <a:endParaRPr lang="en-US" sz="1500" dirty="0"/>
          </a:p>
        </p:txBody>
      </p:sp>
      <p:sp>
        <p:nvSpPr>
          <p:cNvPr id="31" name="Text 27"/>
          <p:cNvSpPr txBox="1"/>
          <p:nvPr/>
        </p:nvSpPr>
        <p:spPr>
          <a:xfrm>
            <a:off x="5486400" y="5273548"/>
            <a:ext cx="411480" cy="56946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2" name="Text 28"/>
          <p:cNvSpPr txBox="1"/>
          <p:nvPr/>
        </p:nvSpPr>
        <p:spPr>
          <a:xfrm>
            <a:off x="5943600" y="5273548"/>
            <a:ext cx="5623560" cy="569468"/>
          </a:xfrm>
          <a:prstGeom prst="rect">
            <a:avLst/>
          </a:prstGeom>
          <a:noFill/>
          <a:ln/>
        </p:spPr>
        <p:txBody>
          <a:bodyPr wrap="square" lIns="0" tIns="0" rIns="0" bIns="0" rtlCol="0" anchor="ctr"/>
          <a:lstStyle/>
          <a:p>
            <a:pPr algn="l" indent="0" marL="0">
              <a:buNone/>
            </a:pPr>
            <a:r>
              <a:rPr lang="en-US" sz="1700" i="1" dirty="0">
                <a:solidFill>
                  <a:schemeClr val="tx1"/>
                </a:solidFill>
              </a:rPr>
              <a:t>Hij </a:t>
            </a:r>
            <a:r>
              <a:rPr lang="en-US" sz="1700" b="1" i="1" dirty="0">
                <a:solidFill>
                  <a:schemeClr val="accent3"/>
                </a:solidFill>
              </a:rPr>
              <a:t>wachtte</a:t>
            </a:r>
            <a:r>
              <a:rPr lang="en-US" sz="1700" i="1" dirty="0">
                <a:solidFill>
                  <a:schemeClr val="tx1"/>
                </a:solidFill>
              </a:rPr>
              <a:t> </a:t>
            </a:r>
            <a:r>
              <a:rPr lang="en-US" sz="1700" b="1" i="1" dirty="0">
                <a:solidFill>
                  <a:schemeClr val="accent3"/>
                </a:solidFill>
              </a:rPr>
              <a:t>al</a:t>
            </a:r>
            <a:r>
              <a:rPr lang="en-US" sz="1700" i="1" dirty="0">
                <a:solidFill>
                  <a:schemeClr val="tx1"/>
                </a:solidFill>
              </a:rPr>
              <a:t> een uur toen de bus </a:t>
            </a:r>
            <a:r>
              <a:rPr lang="en-US" sz="1700" b="1" i="1" dirty="0">
                <a:solidFill>
                  <a:schemeClr val="accent3"/>
                </a:solidFill>
              </a:rPr>
              <a:t>kwam</a:t>
            </a:r>
            <a:r>
              <a:rPr lang="en-US" sz="1700" i="1" dirty="0">
                <a:solidFill>
                  <a:schemeClr val="tx1"/>
                </a:solidFill>
              </a:rPr>
              <a:t>.</a:t>
            </a:r>
            <a:endParaRPr lang="en-US" sz="1700" dirty="0"/>
          </a:p>
        </p:txBody>
      </p:sp>
      <p:sp>
        <p:nvSpPr>
          <p:cNvPr id="33" name="Text 29"/>
          <p:cNvSpPr txBox="1"/>
          <p:nvPr/>
        </p:nvSpPr>
        <p:spPr>
          <a:xfrm>
            <a:off x="548640" y="5925312"/>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N° 6 : depuis + imparfait = </a:t>
            </a:r>
            <a:r>
              <a:rPr lang="en-US" sz="1300" i="1" dirty="0">
                <a:solidFill>
                  <a:schemeClr val="accent5"/>
                </a:solidFill>
              </a:rPr>
              <a:t>al</a:t>
            </a:r>
            <a:r>
              <a:rPr lang="en-US" sz="1300" i="1" dirty="0">
                <a:solidFill>
                  <a:schemeClr val="accent5"/>
                </a:solidFill>
              </a:rPr>
              <a:t> + imperfectum. « depuis… et encore » → jamais de perfectum.</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Quel futur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Présent, </a:t>
            </a:r>
            <a:r>
              <a:rPr lang="en-US" sz="1700" i="1" dirty="0">
                <a:solidFill>
                  <a:schemeClr val="accent5"/>
                </a:solidFill>
              </a:rPr>
              <a:t>gaan</a:t>
            </a:r>
            <a:r>
              <a:rPr lang="en-US" sz="1700" i="1" dirty="0">
                <a:solidFill>
                  <a:schemeClr val="accent5"/>
                </a:solidFill>
              </a:rPr>
              <a:t> ou </a:t>
            </a:r>
            <a:r>
              <a:rPr lang="en-US" sz="1700" i="1" dirty="0">
                <a:solidFill>
                  <a:schemeClr val="accent5"/>
                </a:solidFill>
              </a:rPr>
              <a:t>zullen</a:t>
            </a:r>
            <a:r>
              <a:rPr lang="en-US" sz="1700" i="1" dirty="0">
                <a:solidFill>
                  <a:schemeClr val="accent5"/>
                </a:solidFill>
              </a:rPr>
              <a:t> ? Choisissez la forme la plus naturelle.</a:t>
            </a:r>
            <a:endParaRPr lang="en-US" sz="1700" dirty="0"/>
          </a:p>
        </p:txBody>
      </p:sp>
      <p:sp>
        <p:nvSpPr>
          <p:cNvPr id="8" name="Shape 4"/>
          <p:cNvSpPr/>
          <p:nvPr/>
        </p:nvSpPr>
        <p:spPr>
          <a:xfrm>
            <a:off x="548640" y="1978152"/>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9" name="Image 1" descr="cloud with rain">    </p:cNvPr>
          <p:cNvPicPr>
            <a:picLocks noChangeAspect="1"/>
          </p:cNvPicPr>
          <p:nvPr/>
        </p:nvPicPr>
        <p:blipFill>
          <a:blip r:embed="rId2"/>
          <a:stretch>
            <a:fillRect/>
          </a:stretch>
        </p:blipFill>
        <p:spPr>
          <a:xfrm>
            <a:off x="685800" y="2115312"/>
            <a:ext cx="640080" cy="640080"/>
          </a:xfrm>
          <a:prstGeom prst="rect">
            <a:avLst/>
          </a:prstGeom>
        </p:spPr>
      </p:pic>
      <p:sp>
        <p:nvSpPr>
          <p:cNvPr id="10" name="Text 5"/>
          <p:cNvSpPr txBox="1"/>
          <p:nvPr/>
        </p:nvSpPr>
        <p:spPr>
          <a:xfrm>
            <a:off x="1417320" y="2042160"/>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prévision</a:t>
            </a:r>
            <a:endParaRPr lang="en-US" sz="1300" dirty="0"/>
          </a:p>
        </p:txBody>
      </p:sp>
      <p:sp>
        <p:nvSpPr>
          <p:cNvPr id="11" name="Text 6"/>
          <p:cNvSpPr txBox="1"/>
          <p:nvPr/>
        </p:nvSpPr>
        <p:spPr>
          <a:xfrm>
            <a:off x="1417320" y="2343912"/>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Il va pleuvoir. »</a:t>
            </a:r>
            <a:endParaRPr lang="en-US" sz="1400" dirty="0"/>
          </a:p>
        </p:txBody>
      </p:sp>
      <p:sp>
        <p:nvSpPr>
          <p:cNvPr id="12" name="Text 7"/>
          <p:cNvSpPr txBox="1"/>
          <p:nvPr/>
        </p:nvSpPr>
        <p:spPr>
          <a:xfrm>
            <a:off x="1417320" y="2709672"/>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Het </a:t>
            </a:r>
            <a:r>
              <a:rPr lang="en-US" sz="1800" i="1" dirty="0">
                <a:solidFill>
                  <a:schemeClr val="accent5"/>
                </a:solidFill>
              </a:rPr>
              <a:t>…………</a:t>
            </a:r>
            <a:r>
              <a:rPr lang="en-US" sz="1800" i="1" dirty="0">
                <a:solidFill>
                  <a:schemeClr val="tx1"/>
                </a:solidFill>
              </a:rPr>
              <a:t> </a:t>
            </a:r>
            <a:r>
              <a:rPr lang="en-US" sz="1800" i="1" dirty="0">
                <a:solidFill>
                  <a:schemeClr val="accent5"/>
                </a:solidFill>
              </a:rPr>
              <a:t>…………</a:t>
            </a:r>
            <a:r>
              <a:rPr lang="en-US" sz="1800" i="1" dirty="0">
                <a:solidFill>
                  <a:schemeClr val="tx1"/>
                </a:solidFill>
              </a:rPr>
              <a:t>.</a:t>
            </a:r>
            <a:endParaRPr lang="en-US" sz="1800" dirty="0"/>
          </a:p>
        </p:txBody>
      </p:sp>
      <p:sp>
        <p:nvSpPr>
          <p:cNvPr id="13" name="Shape 8"/>
          <p:cNvSpPr/>
          <p:nvPr/>
        </p:nvSpPr>
        <p:spPr>
          <a:xfrm>
            <a:off x="6185916" y="1978152"/>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14" name="Image 2" descr="handshake">    </p:cNvPr>
          <p:cNvPicPr>
            <a:picLocks noChangeAspect="1"/>
          </p:cNvPicPr>
          <p:nvPr/>
        </p:nvPicPr>
        <p:blipFill>
          <a:blip r:embed="rId3"/>
          <a:stretch>
            <a:fillRect/>
          </a:stretch>
        </p:blipFill>
        <p:spPr>
          <a:xfrm>
            <a:off x="6323076" y="2115312"/>
            <a:ext cx="640080" cy="640080"/>
          </a:xfrm>
          <a:prstGeom prst="rect">
            <a:avLst/>
          </a:prstGeom>
        </p:spPr>
      </p:pic>
      <p:sp>
        <p:nvSpPr>
          <p:cNvPr id="15" name="Text 9"/>
          <p:cNvSpPr txBox="1"/>
          <p:nvPr/>
        </p:nvSpPr>
        <p:spPr>
          <a:xfrm>
            <a:off x="7054596" y="2042160"/>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promesse</a:t>
            </a:r>
            <a:endParaRPr lang="en-US" sz="1300" dirty="0"/>
          </a:p>
        </p:txBody>
      </p:sp>
      <p:sp>
        <p:nvSpPr>
          <p:cNvPr id="16" name="Text 10"/>
          <p:cNvSpPr txBox="1"/>
          <p:nvPr/>
        </p:nvSpPr>
        <p:spPr>
          <a:xfrm>
            <a:off x="7054596" y="2343912"/>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Je t’appellerai demain. »</a:t>
            </a:r>
            <a:endParaRPr lang="en-US" sz="1400" dirty="0"/>
          </a:p>
        </p:txBody>
      </p:sp>
      <p:sp>
        <p:nvSpPr>
          <p:cNvPr id="17" name="Text 11"/>
          <p:cNvSpPr txBox="1"/>
          <p:nvPr/>
        </p:nvSpPr>
        <p:spPr>
          <a:xfrm>
            <a:off x="7054596" y="2709672"/>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i="1" dirty="0">
                <a:solidFill>
                  <a:schemeClr val="accent5"/>
                </a:solidFill>
              </a:rPr>
              <a:t>…………</a:t>
            </a:r>
            <a:r>
              <a:rPr lang="en-US" sz="1800" i="1" dirty="0">
                <a:solidFill>
                  <a:schemeClr val="tx1"/>
                </a:solidFill>
              </a:rPr>
              <a:t> je morgen </a:t>
            </a:r>
            <a:r>
              <a:rPr lang="en-US" sz="1800" i="1" dirty="0">
                <a:solidFill>
                  <a:schemeClr val="accent5"/>
                </a:solidFill>
              </a:rPr>
              <a:t>…………</a:t>
            </a:r>
            <a:r>
              <a:rPr lang="en-US" sz="1800" i="1" dirty="0">
                <a:solidFill>
                  <a:schemeClr val="tx1"/>
                </a:solidFill>
              </a:rPr>
              <a:t>.</a:t>
            </a:r>
            <a:endParaRPr lang="en-US" sz="1800" dirty="0"/>
          </a:p>
        </p:txBody>
      </p:sp>
      <p:sp>
        <p:nvSpPr>
          <p:cNvPr id="18" name="Shape 12"/>
          <p:cNvSpPr/>
          <p:nvPr/>
        </p:nvSpPr>
        <p:spPr>
          <a:xfrm>
            <a:off x="548640" y="3299968"/>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19" name="Image 3" descr="spiral calendar">    </p:cNvPr>
          <p:cNvPicPr>
            <a:picLocks noChangeAspect="1"/>
          </p:cNvPicPr>
          <p:nvPr/>
        </p:nvPicPr>
        <p:blipFill>
          <a:blip r:embed="rId4"/>
          <a:stretch>
            <a:fillRect/>
          </a:stretch>
        </p:blipFill>
        <p:spPr>
          <a:xfrm>
            <a:off x="685800" y="3437128"/>
            <a:ext cx="640080" cy="640080"/>
          </a:xfrm>
          <a:prstGeom prst="rect">
            <a:avLst/>
          </a:prstGeom>
        </p:spPr>
      </p:pic>
      <p:sp>
        <p:nvSpPr>
          <p:cNvPr id="20" name="Text 13"/>
          <p:cNvSpPr txBox="1"/>
          <p:nvPr/>
        </p:nvSpPr>
        <p:spPr>
          <a:xfrm>
            <a:off x="1417320" y="3363976"/>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planning</a:t>
            </a:r>
            <a:endParaRPr lang="en-US" sz="1300" dirty="0"/>
          </a:p>
        </p:txBody>
      </p:sp>
      <p:sp>
        <p:nvSpPr>
          <p:cNvPr id="21" name="Text 14"/>
          <p:cNvSpPr txBox="1"/>
          <p:nvPr/>
        </p:nvSpPr>
        <p:spPr>
          <a:xfrm>
            <a:off x="1417320" y="3665728"/>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Lundi, je travaille à la maison. »</a:t>
            </a:r>
            <a:endParaRPr lang="en-US" sz="1400" dirty="0"/>
          </a:p>
        </p:txBody>
      </p:sp>
      <p:sp>
        <p:nvSpPr>
          <p:cNvPr id="22" name="Text 15"/>
          <p:cNvSpPr txBox="1"/>
          <p:nvPr/>
        </p:nvSpPr>
        <p:spPr>
          <a:xfrm>
            <a:off x="1417320" y="4031488"/>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Maandag </a:t>
            </a:r>
            <a:r>
              <a:rPr lang="en-US" sz="1800" i="1" dirty="0">
                <a:solidFill>
                  <a:schemeClr val="accent5"/>
                </a:solidFill>
              </a:rPr>
              <a:t>…………</a:t>
            </a:r>
            <a:r>
              <a:rPr lang="en-US" sz="1800" i="1" dirty="0">
                <a:solidFill>
                  <a:schemeClr val="tx1"/>
                </a:solidFill>
              </a:rPr>
              <a:t> ik thuis.</a:t>
            </a:r>
            <a:endParaRPr lang="en-US" sz="1800" dirty="0"/>
          </a:p>
        </p:txBody>
      </p:sp>
      <p:sp>
        <p:nvSpPr>
          <p:cNvPr id="23" name="Shape 16"/>
          <p:cNvSpPr/>
          <p:nvPr/>
        </p:nvSpPr>
        <p:spPr>
          <a:xfrm>
            <a:off x="6185916" y="3299968"/>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24" name="Image 4" descr="hot beverage">    </p:cNvPr>
          <p:cNvPicPr>
            <a:picLocks noChangeAspect="1"/>
          </p:cNvPicPr>
          <p:nvPr/>
        </p:nvPicPr>
        <p:blipFill>
          <a:blip r:embed="rId5"/>
          <a:stretch>
            <a:fillRect/>
          </a:stretch>
        </p:blipFill>
        <p:spPr>
          <a:xfrm>
            <a:off x="6323076" y="3437128"/>
            <a:ext cx="640080" cy="640080"/>
          </a:xfrm>
          <a:prstGeom prst="rect">
            <a:avLst/>
          </a:prstGeom>
        </p:spPr>
      </p:pic>
      <p:sp>
        <p:nvSpPr>
          <p:cNvPr id="25" name="Text 17"/>
          <p:cNvSpPr txBox="1"/>
          <p:nvPr/>
        </p:nvSpPr>
        <p:spPr>
          <a:xfrm>
            <a:off x="7054596" y="3363976"/>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proposition</a:t>
            </a:r>
            <a:endParaRPr lang="en-US" sz="1300" dirty="0"/>
          </a:p>
        </p:txBody>
      </p:sp>
      <p:sp>
        <p:nvSpPr>
          <p:cNvPr id="26" name="Text 18"/>
          <p:cNvSpPr txBox="1"/>
          <p:nvPr/>
        </p:nvSpPr>
        <p:spPr>
          <a:xfrm>
            <a:off x="7054596" y="3665728"/>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On fait une pause ? »</a:t>
            </a:r>
            <a:endParaRPr lang="en-US" sz="1400" dirty="0"/>
          </a:p>
        </p:txBody>
      </p:sp>
      <p:sp>
        <p:nvSpPr>
          <p:cNvPr id="27" name="Text 19"/>
          <p:cNvSpPr txBox="1"/>
          <p:nvPr/>
        </p:nvSpPr>
        <p:spPr>
          <a:xfrm>
            <a:off x="7054596" y="4031488"/>
            <a:ext cx="4448556" cy="407416"/>
          </a:xfrm>
          <a:prstGeom prst="rect">
            <a:avLst/>
          </a:prstGeom>
          <a:noFill/>
          <a:ln/>
        </p:spPr>
        <p:txBody>
          <a:bodyPr wrap="square" lIns="0" tIns="0" rIns="0" bIns="0" rtlCol="0" anchor="ctr"/>
          <a:lstStyle/>
          <a:p>
            <a:pPr algn="l" indent="0" marL="0">
              <a:buNone/>
            </a:pPr>
            <a:r>
              <a:rPr lang="en-US" sz="1800" i="1" dirty="0">
                <a:solidFill>
                  <a:schemeClr val="accent5"/>
                </a:solidFill>
              </a:rPr>
              <a:t>…………</a:t>
            </a:r>
            <a:r>
              <a:rPr lang="en-US" sz="1800" i="1" dirty="0">
                <a:solidFill>
                  <a:schemeClr val="tx1"/>
                </a:solidFill>
              </a:rPr>
              <a:t> we een pauze </a:t>
            </a:r>
            <a:r>
              <a:rPr lang="en-US" sz="1800" i="1" dirty="0">
                <a:solidFill>
                  <a:schemeClr val="accent5"/>
                </a:solidFill>
              </a:rPr>
              <a:t>…………</a:t>
            </a:r>
            <a:r>
              <a:rPr lang="en-US" sz="1800" i="1" dirty="0">
                <a:solidFill>
                  <a:schemeClr val="tx1"/>
                </a:solidFill>
              </a:rPr>
              <a:t>?</a:t>
            </a:r>
            <a:endParaRPr lang="en-US" sz="1800" dirty="0"/>
          </a:p>
        </p:txBody>
      </p:sp>
      <p:sp>
        <p:nvSpPr>
          <p:cNvPr id="28" name="Shape 20"/>
          <p:cNvSpPr/>
          <p:nvPr/>
        </p:nvSpPr>
        <p:spPr>
          <a:xfrm>
            <a:off x="548640" y="4621784"/>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29" name="Image 5" descr="bell">    </p:cNvPr>
          <p:cNvPicPr>
            <a:picLocks noChangeAspect="1"/>
          </p:cNvPicPr>
          <p:nvPr/>
        </p:nvPicPr>
        <p:blipFill>
          <a:blip r:embed="rId6"/>
          <a:stretch>
            <a:fillRect/>
          </a:stretch>
        </p:blipFill>
        <p:spPr>
          <a:xfrm>
            <a:off x="685800" y="4758944"/>
            <a:ext cx="640080" cy="640080"/>
          </a:xfrm>
          <a:prstGeom prst="rect">
            <a:avLst/>
          </a:prstGeom>
        </p:spPr>
      </p:pic>
      <p:sp>
        <p:nvSpPr>
          <p:cNvPr id="30" name="Text 21"/>
          <p:cNvSpPr txBox="1"/>
          <p:nvPr/>
        </p:nvSpPr>
        <p:spPr>
          <a:xfrm>
            <a:off x="1417320" y="4685792"/>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supposition</a:t>
            </a:r>
            <a:endParaRPr lang="en-US" sz="1300" dirty="0"/>
          </a:p>
        </p:txBody>
      </p:sp>
      <p:sp>
        <p:nvSpPr>
          <p:cNvPr id="31" name="Text 22"/>
          <p:cNvSpPr txBox="1"/>
          <p:nvPr/>
        </p:nvSpPr>
        <p:spPr>
          <a:xfrm>
            <a:off x="1417320" y="4987544"/>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On sonne : ce sera Tom. »</a:t>
            </a:r>
            <a:endParaRPr lang="en-US" sz="1400" dirty="0"/>
          </a:p>
        </p:txBody>
      </p:sp>
      <p:sp>
        <p:nvSpPr>
          <p:cNvPr id="32" name="Text 23"/>
          <p:cNvSpPr txBox="1"/>
          <p:nvPr/>
        </p:nvSpPr>
        <p:spPr>
          <a:xfrm>
            <a:off x="1417320" y="5353304"/>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Dat </a:t>
            </a:r>
            <a:r>
              <a:rPr lang="en-US" sz="1800" i="1" dirty="0">
                <a:solidFill>
                  <a:schemeClr val="accent5"/>
                </a:solidFill>
              </a:rPr>
              <a:t>…………</a:t>
            </a:r>
            <a:r>
              <a:rPr lang="en-US" sz="1800" i="1" dirty="0">
                <a:solidFill>
                  <a:schemeClr val="tx1"/>
                </a:solidFill>
              </a:rPr>
              <a:t> Tom wel </a:t>
            </a:r>
            <a:r>
              <a:rPr lang="en-US" sz="1800" i="1" dirty="0">
                <a:solidFill>
                  <a:schemeClr val="accent5"/>
                </a:solidFill>
              </a:rPr>
              <a:t>…………</a:t>
            </a:r>
            <a:r>
              <a:rPr lang="en-US" sz="1800" i="1" dirty="0">
                <a:solidFill>
                  <a:schemeClr val="tx1"/>
                </a:solidFill>
              </a:rPr>
              <a:t>.</a:t>
            </a:r>
            <a:endParaRPr lang="en-US" sz="1800" dirty="0"/>
          </a:p>
        </p:txBody>
      </p:sp>
      <p:sp>
        <p:nvSpPr>
          <p:cNvPr id="33" name="Shape 24"/>
          <p:cNvSpPr/>
          <p:nvPr/>
        </p:nvSpPr>
        <p:spPr>
          <a:xfrm>
            <a:off x="6185916" y="4621784"/>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34" name="Image 6" descr="bullseye">    </p:cNvPr>
          <p:cNvPicPr>
            <a:picLocks noChangeAspect="1"/>
          </p:cNvPicPr>
          <p:nvPr/>
        </p:nvPicPr>
        <p:blipFill>
          <a:blip r:embed="rId7"/>
          <a:stretch>
            <a:fillRect/>
          </a:stretch>
        </p:blipFill>
        <p:spPr>
          <a:xfrm>
            <a:off x="6323076" y="4758944"/>
            <a:ext cx="640080" cy="640080"/>
          </a:xfrm>
          <a:prstGeom prst="rect">
            <a:avLst/>
          </a:prstGeom>
        </p:spPr>
      </p:pic>
      <p:sp>
        <p:nvSpPr>
          <p:cNvPr id="35" name="Text 25"/>
          <p:cNvSpPr txBox="1"/>
          <p:nvPr/>
        </p:nvSpPr>
        <p:spPr>
          <a:xfrm>
            <a:off x="7054596" y="4685792"/>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intention</a:t>
            </a:r>
            <a:endParaRPr lang="en-US" sz="1300" dirty="0"/>
          </a:p>
        </p:txBody>
      </p:sp>
      <p:sp>
        <p:nvSpPr>
          <p:cNvPr id="36" name="Text 26"/>
          <p:cNvSpPr txBox="1"/>
          <p:nvPr/>
        </p:nvSpPr>
        <p:spPr>
          <a:xfrm>
            <a:off x="7054596" y="4987544"/>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Je vais chercher un nouveau job. »</a:t>
            </a:r>
            <a:endParaRPr lang="en-US" sz="1400" dirty="0"/>
          </a:p>
        </p:txBody>
      </p:sp>
      <p:sp>
        <p:nvSpPr>
          <p:cNvPr id="37" name="Text 27"/>
          <p:cNvSpPr txBox="1"/>
          <p:nvPr/>
        </p:nvSpPr>
        <p:spPr>
          <a:xfrm>
            <a:off x="7054596" y="5353304"/>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i="1" dirty="0">
                <a:solidFill>
                  <a:schemeClr val="accent5"/>
                </a:solidFill>
              </a:rPr>
              <a:t>…………</a:t>
            </a:r>
            <a:r>
              <a:rPr lang="en-US" sz="1800" i="1" dirty="0">
                <a:solidFill>
                  <a:schemeClr val="tx1"/>
                </a:solidFill>
              </a:rPr>
              <a:t> een nieuwe job </a:t>
            </a:r>
            <a:r>
              <a:rPr lang="en-US" sz="1800" i="1" dirty="0">
                <a:solidFill>
                  <a:schemeClr val="accent5"/>
                </a:solidFill>
              </a:rPr>
              <a:t>…………</a:t>
            </a:r>
            <a:r>
              <a:rPr lang="en-US" sz="1800" i="1"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Quel futur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Présent, </a:t>
            </a:r>
            <a:r>
              <a:rPr lang="en-US" sz="1700" i="1" dirty="0">
                <a:solidFill>
                  <a:schemeClr val="accent5"/>
                </a:solidFill>
              </a:rPr>
              <a:t>gaan</a:t>
            </a:r>
            <a:r>
              <a:rPr lang="en-US" sz="1700" i="1" dirty="0">
                <a:solidFill>
                  <a:schemeClr val="accent5"/>
                </a:solidFill>
              </a:rPr>
              <a:t> ou </a:t>
            </a:r>
            <a:r>
              <a:rPr lang="en-US" sz="1700" i="1" dirty="0">
                <a:solidFill>
                  <a:schemeClr val="accent5"/>
                </a:solidFill>
              </a:rPr>
              <a:t>zullen</a:t>
            </a:r>
            <a:r>
              <a:rPr lang="en-US" sz="1700" i="1" dirty="0">
                <a:solidFill>
                  <a:schemeClr val="accent5"/>
                </a:solidFill>
              </a:rPr>
              <a:t> ? Choisissez la forme la plus naturelle.</a:t>
            </a:r>
            <a:endParaRPr lang="en-US" sz="1700" dirty="0"/>
          </a:p>
        </p:txBody>
      </p:sp>
      <p:sp>
        <p:nvSpPr>
          <p:cNvPr id="9" name="Shape 5"/>
          <p:cNvSpPr/>
          <p:nvPr/>
        </p:nvSpPr>
        <p:spPr>
          <a:xfrm>
            <a:off x="548640" y="1978152"/>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10" name="Image 1" descr="cloud with rain">    </p:cNvPr>
          <p:cNvPicPr>
            <a:picLocks noChangeAspect="1"/>
          </p:cNvPicPr>
          <p:nvPr/>
        </p:nvPicPr>
        <p:blipFill>
          <a:blip r:embed="rId2"/>
          <a:stretch>
            <a:fillRect/>
          </a:stretch>
        </p:blipFill>
        <p:spPr>
          <a:xfrm>
            <a:off x="685800" y="2115312"/>
            <a:ext cx="640080" cy="640080"/>
          </a:xfrm>
          <a:prstGeom prst="rect">
            <a:avLst/>
          </a:prstGeom>
        </p:spPr>
      </p:pic>
      <p:sp>
        <p:nvSpPr>
          <p:cNvPr id="11" name="Text 6"/>
          <p:cNvSpPr txBox="1"/>
          <p:nvPr/>
        </p:nvSpPr>
        <p:spPr>
          <a:xfrm>
            <a:off x="1417320" y="2042160"/>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prévision</a:t>
            </a:r>
            <a:endParaRPr lang="en-US" sz="1300" dirty="0"/>
          </a:p>
        </p:txBody>
      </p:sp>
      <p:sp>
        <p:nvSpPr>
          <p:cNvPr id="12" name="Text 7"/>
          <p:cNvSpPr txBox="1"/>
          <p:nvPr/>
        </p:nvSpPr>
        <p:spPr>
          <a:xfrm>
            <a:off x="1417320" y="2343912"/>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Il va pleuvoir. »</a:t>
            </a:r>
            <a:endParaRPr lang="en-US" sz="1400" dirty="0"/>
          </a:p>
        </p:txBody>
      </p:sp>
      <p:sp>
        <p:nvSpPr>
          <p:cNvPr id="13" name="Text 8"/>
          <p:cNvSpPr txBox="1"/>
          <p:nvPr/>
        </p:nvSpPr>
        <p:spPr>
          <a:xfrm>
            <a:off x="1417320" y="2709672"/>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Het </a:t>
            </a:r>
            <a:r>
              <a:rPr lang="en-US" sz="1800" b="1" i="1" dirty="0">
                <a:solidFill>
                  <a:schemeClr val="accent3"/>
                </a:solidFill>
              </a:rPr>
              <a:t>gaat</a:t>
            </a:r>
            <a:r>
              <a:rPr lang="en-US" sz="1800" i="1" dirty="0">
                <a:solidFill>
                  <a:schemeClr val="tx1"/>
                </a:solidFill>
              </a:rPr>
              <a:t> </a:t>
            </a:r>
            <a:r>
              <a:rPr lang="en-US" sz="1800" b="1" i="1" dirty="0">
                <a:solidFill>
                  <a:schemeClr val="accent3"/>
                </a:solidFill>
              </a:rPr>
              <a:t>regenen</a:t>
            </a:r>
            <a:r>
              <a:rPr lang="en-US" sz="1800" i="1" dirty="0">
                <a:solidFill>
                  <a:schemeClr val="tx1"/>
                </a:solidFill>
              </a:rPr>
              <a:t>.</a:t>
            </a:r>
            <a:endParaRPr lang="en-US" sz="1800" dirty="0"/>
          </a:p>
        </p:txBody>
      </p:sp>
      <p:sp>
        <p:nvSpPr>
          <p:cNvPr id="14" name="Shape 9"/>
          <p:cNvSpPr/>
          <p:nvPr/>
        </p:nvSpPr>
        <p:spPr>
          <a:xfrm>
            <a:off x="6185916" y="1978152"/>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15" name="Image 2" descr="handshake">    </p:cNvPr>
          <p:cNvPicPr>
            <a:picLocks noChangeAspect="1"/>
          </p:cNvPicPr>
          <p:nvPr/>
        </p:nvPicPr>
        <p:blipFill>
          <a:blip r:embed="rId3"/>
          <a:stretch>
            <a:fillRect/>
          </a:stretch>
        </p:blipFill>
        <p:spPr>
          <a:xfrm>
            <a:off x="6323076" y="2115312"/>
            <a:ext cx="640080" cy="640080"/>
          </a:xfrm>
          <a:prstGeom prst="rect">
            <a:avLst/>
          </a:prstGeom>
        </p:spPr>
      </p:pic>
      <p:sp>
        <p:nvSpPr>
          <p:cNvPr id="16" name="Text 10"/>
          <p:cNvSpPr txBox="1"/>
          <p:nvPr/>
        </p:nvSpPr>
        <p:spPr>
          <a:xfrm>
            <a:off x="7054596" y="2042160"/>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promesse</a:t>
            </a:r>
            <a:endParaRPr lang="en-US" sz="1300" dirty="0"/>
          </a:p>
        </p:txBody>
      </p:sp>
      <p:sp>
        <p:nvSpPr>
          <p:cNvPr id="17" name="Text 11"/>
          <p:cNvSpPr txBox="1"/>
          <p:nvPr/>
        </p:nvSpPr>
        <p:spPr>
          <a:xfrm>
            <a:off x="7054596" y="2343912"/>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Je t’appellerai demain. »</a:t>
            </a:r>
            <a:endParaRPr lang="en-US" sz="1400" dirty="0"/>
          </a:p>
        </p:txBody>
      </p:sp>
      <p:sp>
        <p:nvSpPr>
          <p:cNvPr id="18" name="Text 12"/>
          <p:cNvSpPr txBox="1"/>
          <p:nvPr/>
        </p:nvSpPr>
        <p:spPr>
          <a:xfrm>
            <a:off x="7054596" y="2709672"/>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b="1" i="1" dirty="0">
                <a:solidFill>
                  <a:schemeClr val="accent3"/>
                </a:solidFill>
              </a:rPr>
              <a:t>zal</a:t>
            </a:r>
            <a:r>
              <a:rPr lang="en-US" sz="1800" i="1" dirty="0">
                <a:solidFill>
                  <a:schemeClr val="tx1"/>
                </a:solidFill>
              </a:rPr>
              <a:t> je morgen </a:t>
            </a:r>
            <a:r>
              <a:rPr lang="en-US" sz="1800" b="1" i="1" dirty="0">
                <a:solidFill>
                  <a:schemeClr val="accent3"/>
                </a:solidFill>
              </a:rPr>
              <a:t>bellen</a:t>
            </a:r>
            <a:r>
              <a:rPr lang="en-US" sz="1800" i="1" dirty="0">
                <a:solidFill>
                  <a:schemeClr val="tx1"/>
                </a:solidFill>
              </a:rPr>
              <a:t>.</a:t>
            </a:r>
            <a:endParaRPr lang="en-US" sz="1800" dirty="0"/>
          </a:p>
        </p:txBody>
      </p:sp>
      <p:sp>
        <p:nvSpPr>
          <p:cNvPr id="19" name="Shape 13"/>
          <p:cNvSpPr/>
          <p:nvPr/>
        </p:nvSpPr>
        <p:spPr>
          <a:xfrm>
            <a:off x="548640" y="3299968"/>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20" name="Image 3" descr="spiral calendar">    </p:cNvPr>
          <p:cNvPicPr>
            <a:picLocks noChangeAspect="1"/>
          </p:cNvPicPr>
          <p:nvPr/>
        </p:nvPicPr>
        <p:blipFill>
          <a:blip r:embed="rId4"/>
          <a:stretch>
            <a:fillRect/>
          </a:stretch>
        </p:blipFill>
        <p:spPr>
          <a:xfrm>
            <a:off x="685800" y="3437128"/>
            <a:ext cx="640080" cy="640080"/>
          </a:xfrm>
          <a:prstGeom prst="rect">
            <a:avLst/>
          </a:prstGeom>
        </p:spPr>
      </p:pic>
      <p:sp>
        <p:nvSpPr>
          <p:cNvPr id="21" name="Text 14"/>
          <p:cNvSpPr txBox="1"/>
          <p:nvPr/>
        </p:nvSpPr>
        <p:spPr>
          <a:xfrm>
            <a:off x="1417320" y="3363976"/>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planning</a:t>
            </a:r>
            <a:endParaRPr lang="en-US" sz="1300" dirty="0"/>
          </a:p>
        </p:txBody>
      </p:sp>
      <p:sp>
        <p:nvSpPr>
          <p:cNvPr id="22" name="Text 15"/>
          <p:cNvSpPr txBox="1"/>
          <p:nvPr/>
        </p:nvSpPr>
        <p:spPr>
          <a:xfrm>
            <a:off x="1417320" y="3665728"/>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Lundi, je travaille à la maison. »</a:t>
            </a:r>
            <a:endParaRPr lang="en-US" sz="1400" dirty="0"/>
          </a:p>
        </p:txBody>
      </p:sp>
      <p:sp>
        <p:nvSpPr>
          <p:cNvPr id="23" name="Text 16"/>
          <p:cNvSpPr txBox="1"/>
          <p:nvPr/>
        </p:nvSpPr>
        <p:spPr>
          <a:xfrm>
            <a:off x="1417320" y="4031488"/>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Maandag </a:t>
            </a:r>
            <a:r>
              <a:rPr lang="en-US" sz="1800" b="1" i="1" dirty="0">
                <a:solidFill>
                  <a:schemeClr val="accent3"/>
                </a:solidFill>
              </a:rPr>
              <a:t>werk</a:t>
            </a:r>
            <a:r>
              <a:rPr lang="en-US" sz="1800" i="1" dirty="0">
                <a:solidFill>
                  <a:schemeClr val="tx1"/>
                </a:solidFill>
              </a:rPr>
              <a:t> ik thuis.</a:t>
            </a:r>
            <a:endParaRPr lang="en-US" sz="1800" dirty="0"/>
          </a:p>
        </p:txBody>
      </p:sp>
      <p:sp>
        <p:nvSpPr>
          <p:cNvPr id="24" name="Shape 17"/>
          <p:cNvSpPr/>
          <p:nvPr/>
        </p:nvSpPr>
        <p:spPr>
          <a:xfrm>
            <a:off x="6185916" y="3299968"/>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25" name="Image 4" descr="hot beverage">    </p:cNvPr>
          <p:cNvPicPr>
            <a:picLocks noChangeAspect="1"/>
          </p:cNvPicPr>
          <p:nvPr/>
        </p:nvPicPr>
        <p:blipFill>
          <a:blip r:embed="rId5"/>
          <a:stretch>
            <a:fillRect/>
          </a:stretch>
        </p:blipFill>
        <p:spPr>
          <a:xfrm>
            <a:off x="6323076" y="3437128"/>
            <a:ext cx="640080" cy="640080"/>
          </a:xfrm>
          <a:prstGeom prst="rect">
            <a:avLst/>
          </a:prstGeom>
        </p:spPr>
      </p:pic>
      <p:sp>
        <p:nvSpPr>
          <p:cNvPr id="26" name="Text 18"/>
          <p:cNvSpPr txBox="1"/>
          <p:nvPr/>
        </p:nvSpPr>
        <p:spPr>
          <a:xfrm>
            <a:off x="7054596" y="3363976"/>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proposition</a:t>
            </a:r>
            <a:endParaRPr lang="en-US" sz="1300" dirty="0"/>
          </a:p>
        </p:txBody>
      </p:sp>
      <p:sp>
        <p:nvSpPr>
          <p:cNvPr id="27" name="Text 19"/>
          <p:cNvSpPr txBox="1"/>
          <p:nvPr/>
        </p:nvSpPr>
        <p:spPr>
          <a:xfrm>
            <a:off x="7054596" y="3665728"/>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On fait une pause ? »</a:t>
            </a:r>
            <a:endParaRPr lang="en-US" sz="1400" dirty="0"/>
          </a:p>
        </p:txBody>
      </p:sp>
      <p:sp>
        <p:nvSpPr>
          <p:cNvPr id="28" name="Text 20"/>
          <p:cNvSpPr txBox="1"/>
          <p:nvPr/>
        </p:nvSpPr>
        <p:spPr>
          <a:xfrm>
            <a:off x="7054596" y="4031488"/>
            <a:ext cx="4448556" cy="407416"/>
          </a:xfrm>
          <a:prstGeom prst="rect">
            <a:avLst/>
          </a:prstGeom>
          <a:noFill/>
          <a:ln/>
        </p:spPr>
        <p:txBody>
          <a:bodyPr wrap="square" lIns="0" tIns="0" rIns="0" bIns="0" rtlCol="0" anchor="ctr"/>
          <a:lstStyle/>
          <a:p>
            <a:pPr algn="l" indent="0" marL="0">
              <a:buNone/>
            </a:pPr>
            <a:r>
              <a:rPr lang="en-US" sz="1800" b="1" i="1" dirty="0">
                <a:solidFill>
                  <a:schemeClr val="accent3"/>
                </a:solidFill>
              </a:rPr>
              <a:t>Zullen</a:t>
            </a:r>
            <a:r>
              <a:rPr lang="en-US" sz="1800" i="1" dirty="0">
                <a:solidFill>
                  <a:schemeClr val="tx1"/>
                </a:solidFill>
              </a:rPr>
              <a:t> we een pauze </a:t>
            </a:r>
            <a:r>
              <a:rPr lang="en-US" sz="1800" b="1" i="1" dirty="0">
                <a:solidFill>
                  <a:schemeClr val="accent3"/>
                </a:solidFill>
              </a:rPr>
              <a:t>nemen</a:t>
            </a:r>
            <a:r>
              <a:rPr lang="en-US" sz="1800" i="1" dirty="0">
                <a:solidFill>
                  <a:schemeClr val="tx1"/>
                </a:solidFill>
              </a:rPr>
              <a:t>?</a:t>
            </a:r>
            <a:endParaRPr lang="en-US" sz="1800" dirty="0"/>
          </a:p>
        </p:txBody>
      </p:sp>
      <p:sp>
        <p:nvSpPr>
          <p:cNvPr id="29" name="Shape 21"/>
          <p:cNvSpPr/>
          <p:nvPr/>
        </p:nvSpPr>
        <p:spPr>
          <a:xfrm>
            <a:off x="548640" y="4621784"/>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30" name="Image 5" descr="bell">    </p:cNvPr>
          <p:cNvPicPr>
            <a:picLocks noChangeAspect="1"/>
          </p:cNvPicPr>
          <p:nvPr/>
        </p:nvPicPr>
        <p:blipFill>
          <a:blip r:embed="rId6"/>
          <a:stretch>
            <a:fillRect/>
          </a:stretch>
        </p:blipFill>
        <p:spPr>
          <a:xfrm>
            <a:off x="685800" y="4758944"/>
            <a:ext cx="640080" cy="640080"/>
          </a:xfrm>
          <a:prstGeom prst="rect">
            <a:avLst/>
          </a:prstGeom>
        </p:spPr>
      </p:pic>
      <p:sp>
        <p:nvSpPr>
          <p:cNvPr id="31" name="Text 22"/>
          <p:cNvSpPr txBox="1"/>
          <p:nvPr/>
        </p:nvSpPr>
        <p:spPr>
          <a:xfrm>
            <a:off x="1417320" y="4685792"/>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supposition</a:t>
            </a:r>
            <a:endParaRPr lang="en-US" sz="1300" dirty="0"/>
          </a:p>
        </p:txBody>
      </p:sp>
      <p:sp>
        <p:nvSpPr>
          <p:cNvPr id="32" name="Text 23"/>
          <p:cNvSpPr txBox="1"/>
          <p:nvPr/>
        </p:nvSpPr>
        <p:spPr>
          <a:xfrm>
            <a:off x="1417320" y="4987544"/>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On sonne : ce sera Tom. »</a:t>
            </a:r>
            <a:endParaRPr lang="en-US" sz="1400" dirty="0"/>
          </a:p>
        </p:txBody>
      </p:sp>
      <p:sp>
        <p:nvSpPr>
          <p:cNvPr id="33" name="Text 24"/>
          <p:cNvSpPr txBox="1"/>
          <p:nvPr/>
        </p:nvSpPr>
        <p:spPr>
          <a:xfrm>
            <a:off x="1417320" y="5353304"/>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Dat </a:t>
            </a:r>
            <a:r>
              <a:rPr lang="en-US" sz="1800" b="1" i="1" dirty="0">
                <a:solidFill>
                  <a:schemeClr val="accent3"/>
                </a:solidFill>
              </a:rPr>
              <a:t>zal</a:t>
            </a:r>
            <a:r>
              <a:rPr lang="en-US" sz="1800" i="1" dirty="0">
                <a:solidFill>
                  <a:schemeClr val="tx1"/>
                </a:solidFill>
              </a:rPr>
              <a:t> Tom wel </a:t>
            </a:r>
            <a:r>
              <a:rPr lang="en-US" sz="1800" b="1" i="1" dirty="0">
                <a:solidFill>
                  <a:schemeClr val="accent3"/>
                </a:solidFill>
              </a:rPr>
              <a:t>zijn</a:t>
            </a:r>
            <a:r>
              <a:rPr lang="en-US" sz="1800" i="1" dirty="0">
                <a:solidFill>
                  <a:schemeClr val="tx1"/>
                </a:solidFill>
              </a:rPr>
              <a:t>.</a:t>
            </a:r>
            <a:endParaRPr lang="en-US" sz="1800" dirty="0"/>
          </a:p>
        </p:txBody>
      </p:sp>
      <p:sp>
        <p:nvSpPr>
          <p:cNvPr id="34" name="Shape 25"/>
          <p:cNvSpPr/>
          <p:nvPr/>
        </p:nvSpPr>
        <p:spPr>
          <a:xfrm>
            <a:off x="6185916" y="4621784"/>
            <a:ext cx="5454396" cy="1212088"/>
          </a:xfrm>
          <a:prstGeom prst="roundRect">
            <a:avLst>
              <a:gd name="adj" fmla="val 9053"/>
            </a:avLst>
          </a:prstGeom>
          <a:solidFill>
            <a:srgbClr val="FFFFFF"/>
          </a:solidFill>
          <a:ln w="15875">
            <a:solidFill>
              <a:srgbClr val="2E7D4F"/>
            </a:solidFill>
            <a:prstDash val="solid"/>
          </a:ln>
          <a:effectLst>
            <a:outerShdw sx="100000" sy="100000" kx="0" ky="0" algn="bl" rotWithShape="0" blurRad="101600" dist="25400" dir="3600000">
              <a:srgbClr val="000000">
                <a:alpha val="16000"/>
              </a:srgbClr>
            </a:outerShdw>
          </a:effectLst>
        </p:spPr>
      </p:sp>
      <p:pic>
        <p:nvPicPr>
          <p:cNvPr id="35" name="Image 6" descr="bullseye">    </p:cNvPr>
          <p:cNvPicPr>
            <a:picLocks noChangeAspect="1"/>
          </p:cNvPicPr>
          <p:nvPr/>
        </p:nvPicPr>
        <p:blipFill>
          <a:blip r:embed="rId7"/>
          <a:stretch>
            <a:fillRect/>
          </a:stretch>
        </p:blipFill>
        <p:spPr>
          <a:xfrm>
            <a:off x="6323076" y="4758944"/>
            <a:ext cx="640080" cy="640080"/>
          </a:xfrm>
          <a:prstGeom prst="rect">
            <a:avLst/>
          </a:prstGeom>
        </p:spPr>
      </p:pic>
      <p:sp>
        <p:nvSpPr>
          <p:cNvPr id="36" name="Text 26"/>
          <p:cNvSpPr txBox="1"/>
          <p:nvPr/>
        </p:nvSpPr>
        <p:spPr>
          <a:xfrm>
            <a:off x="7054596" y="4685792"/>
            <a:ext cx="4448556" cy="320040"/>
          </a:xfrm>
          <a:prstGeom prst="rect">
            <a:avLst/>
          </a:prstGeom>
          <a:noFill/>
          <a:ln/>
        </p:spPr>
        <p:txBody>
          <a:bodyPr wrap="square" lIns="0" tIns="0" rIns="0" bIns="0" rtlCol="0" anchor="ctr"/>
          <a:lstStyle/>
          <a:p>
            <a:pPr algn="l" indent="0" marL="0">
              <a:buNone/>
            </a:pPr>
            <a:r>
              <a:rPr lang="en-US" sz="1300" b="1" dirty="0">
                <a:solidFill>
                  <a:schemeClr val="accent3"/>
                </a:solidFill>
              </a:rPr>
              <a:t>intention</a:t>
            </a:r>
            <a:endParaRPr lang="en-US" sz="1300" dirty="0"/>
          </a:p>
        </p:txBody>
      </p:sp>
      <p:sp>
        <p:nvSpPr>
          <p:cNvPr id="37" name="Text 27"/>
          <p:cNvSpPr txBox="1"/>
          <p:nvPr/>
        </p:nvSpPr>
        <p:spPr>
          <a:xfrm>
            <a:off x="7054596" y="4987544"/>
            <a:ext cx="4448556" cy="365760"/>
          </a:xfrm>
          <a:prstGeom prst="rect">
            <a:avLst/>
          </a:prstGeom>
          <a:noFill/>
          <a:ln/>
        </p:spPr>
        <p:txBody>
          <a:bodyPr wrap="square" lIns="0" tIns="0" rIns="0" bIns="0" rtlCol="0" anchor="ctr"/>
          <a:lstStyle/>
          <a:p>
            <a:pPr algn="l" indent="0" marL="0">
              <a:buNone/>
            </a:pPr>
            <a:r>
              <a:rPr lang="en-US" sz="1400" i="1" dirty="0">
                <a:solidFill>
                  <a:schemeClr val="accent5"/>
                </a:solidFill>
              </a:rPr>
              <a:t>« Je vais chercher un nouveau job. »</a:t>
            </a:r>
            <a:endParaRPr lang="en-US" sz="1400" dirty="0"/>
          </a:p>
        </p:txBody>
      </p:sp>
      <p:sp>
        <p:nvSpPr>
          <p:cNvPr id="38" name="Text 28"/>
          <p:cNvSpPr txBox="1"/>
          <p:nvPr/>
        </p:nvSpPr>
        <p:spPr>
          <a:xfrm>
            <a:off x="7054596" y="5353304"/>
            <a:ext cx="4448556" cy="407416"/>
          </a:xfrm>
          <a:prstGeom prst="rect">
            <a:avLst/>
          </a:prstGeom>
          <a:noFill/>
          <a:ln/>
        </p:spPr>
        <p:txBody>
          <a:bodyPr wrap="square" lIns="0" tIns="0" rIns="0" bIns="0" rtlCol="0" anchor="ctr"/>
          <a:lstStyle/>
          <a:p>
            <a:pPr algn="l" indent="0" marL="0">
              <a:buNone/>
            </a:pPr>
            <a:r>
              <a:rPr lang="en-US" sz="1800" i="1" dirty="0">
                <a:solidFill>
                  <a:schemeClr val="tx1"/>
                </a:solidFill>
              </a:rPr>
              <a:t>Ik </a:t>
            </a:r>
            <a:r>
              <a:rPr lang="en-US" sz="1800" b="1" i="1" dirty="0">
                <a:solidFill>
                  <a:schemeClr val="accent3"/>
                </a:solidFill>
              </a:rPr>
              <a:t>ga</a:t>
            </a:r>
            <a:r>
              <a:rPr lang="en-US" sz="1800" i="1" dirty="0">
                <a:solidFill>
                  <a:schemeClr val="tx1"/>
                </a:solidFill>
              </a:rPr>
              <a:t> een nieuwe job </a:t>
            </a:r>
            <a:r>
              <a:rPr lang="en-US" sz="1800" b="1" i="1" dirty="0">
                <a:solidFill>
                  <a:schemeClr val="accent3"/>
                </a:solidFill>
              </a:rPr>
              <a:t>zoeken</a:t>
            </a:r>
            <a:r>
              <a:rPr lang="en-US" sz="1800" i="1" dirty="0">
                <a:solidFill>
                  <a:schemeClr val="tx1"/>
                </a:solidFill>
              </a:rPr>
              <a:t>.</a:t>
            </a:r>
            <a:endParaRPr lang="en-US" sz="1800" dirty="0"/>
          </a:p>
        </p:txBody>
      </p:sp>
      <p:sp>
        <p:nvSpPr>
          <p:cNvPr id="39" name="Text 29"/>
          <p:cNvSpPr txBox="1"/>
          <p:nvPr/>
        </p:nvSpPr>
        <p:spPr>
          <a:xfrm>
            <a:off x="548640" y="5925312"/>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N° 2 : aussi </a:t>
            </a:r>
            <a:r>
              <a:rPr lang="en-US" sz="1300" i="1" dirty="0">
                <a:solidFill>
                  <a:schemeClr val="accent5"/>
                </a:solidFill>
              </a:rPr>
              <a:t>Ik bel je morgen.</a:t>
            </a:r>
            <a:r>
              <a:rPr lang="en-US" sz="1300" i="1" dirty="0">
                <a:solidFill>
                  <a:schemeClr val="accent5"/>
                </a:solidFill>
              </a:rPr>
              <a:t> N° 3 : aussi </a:t>
            </a:r>
            <a:r>
              <a:rPr lang="en-US" sz="1300" i="1" dirty="0">
                <a:solidFill>
                  <a:schemeClr val="accent5"/>
                </a:solidFill>
              </a:rPr>
              <a:t>Maandag ga ik thuis werken.</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Avant ou après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L’action ① est terminée avant l’action ② : complétez avec le plusquamperfectum.</a:t>
            </a:r>
            <a:endParaRPr lang="en-US" sz="1700" dirty="0"/>
          </a:p>
        </p:txBody>
      </p:sp>
      <p:sp>
        <p:nvSpPr>
          <p:cNvPr id="8" name="Shape 4"/>
          <p:cNvSpPr/>
          <p:nvPr/>
        </p:nvSpPr>
        <p:spPr>
          <a:xfrm>
            <a:off x="548640" y="1969008"/>
            <a:ext cx="11091672" cy="710794"/>
          </a:xfrm>
          <a:prstGeom prst="roundRect">
            <a:avLst>
              <a:gd name="adj" fmla="val 12864"/>
            </a:avLst>
          </a:prstGeom>
          <a:solidFill>
            <a:schemeClr val="bg2"/>
          </a:solidFill>
          <a:ln w="9525">
            <a:solidFill>
              <a:srgbClr val="D5DCE6"/>
            </a:solidFill>
            <a:prstDash val="solid"/>
          </a:ln>
        </p:spPr>
      </p:sp>
      <p:pic>
        <p:nvPicPr>
          <p:cNvPr id="9" name="Image 1" descr="railway car">    </p:cNvPr>
          <p:cNvPicPr>
            <a:picLocks noChangeAspect="1"/>
          </p:cNvPicPr>
          <p:nvPr/>
        </p:nvPicPr>
        <p:blipFill>
          <a:blip r:embed="rId2"/>
          <a:stretch>
            <a:fillRect/>
          </a:stretch>
        </p:blipFill>
        <p:spPr>
          <a:xfrm>
            <a:off x="658368" y="2023872"/>
            <a:ext cx="601066" cy="601066"/>
          </a:xfrm>
          <a:prstGeom prst="rect">
            <a:avLst/>
          </a:prstGeom>
        </p:spPr>
      </p:pic>
      <p:sp>
        <p:nvSpPr>
          <p:cNvPr id="10" name="Text 5"/>
          <p:cNvSpPr txBox="1"/>
          <p:nvPr/>
        </p:nvSpPr>
        <p:spPr>
          <a:xfrm>
            <a:off x="1325880" y="1969008"/>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de trein vertrekt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ik kom aan</a:t>
            </a:r>
            <a:endParaRPr lang="en-US" sz="1300" dirty="0"/>
          </a:p>
        </p:txBody>
      </p:sp>
      <p:sp>
        <p:nvSpPr>
          <p:cNvPr id="11" name="Text 6"/>
          <p:cNvSpPr txBox="1"/>
          <p:nvPr/>
        </p:nvSpPr>
        <p:spPr>
          <a:xfrm>
            <a:off x="4526280" y="1969008"/>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Toen ik aankwam, </a:t>
            </a:r>
            <a:r>
              <a:rPr lang="en-US" sz="1700" i="1" dirty="0">
                <a:solidFill>
                  <a:schemeClr val="accent5"/>
                </a:solidFill>
              </a:rPr>
              <a:t>………………………………</a:t>
            </a:r>
            <a:r>
              <a:rPr lang="en-US" sz="1700" i="1" dirty="0">
                <a:solidFill>
                  <a:schemeClr val="tx1"/>
                </a:solidFill>
              </a:rPr>
              <a:t>.</a:t>
            </a:r>
            <a:endParaRPr lang="en-US" sz="1700" dirty="0"/>
          </a:p>
        </p:txBody>
      </p:sp>
      <p:sp>
        <p:nvSpPr>
          <p:cNvPr id="12" name="Shape 7"/>
          <p:cNvSpPr/>
          <p:nvPr/>
        </p:nvSpPr>
        <p:spPr>
          <a:xfrm>
            <a:off x="548640" y="2771242"/>
            <a:ext cx="11091672" cy="710794"/>
          </a:xfrm>
          <a:prstGeom prst="roundRect">
            <a:avLst>
              <a:gd name="adj" fmla="val 12864"/>
            </a:avLst>
          </a:prstGeom>
          <a:solidFill>
            <a:srgbClr val="FFFFFF"/>
          </a:solidFill>
          <a:ln w="9525">
            <a:solidFill>
              <a:srgbClr val="D5DCE6"/>
            </a:solidFill>
            <a:prstDash val="solid"/>
          </a:ln>
        </p:spPr>
      </p:sp>
      <p:pic>
        <p:nvPicPr>
          <p:cNvPr id="13" name="Image 2" descr="fork and knife with plate">    </p:cNvPr>
          <p:cNvPicPr>
            <a:picLocks noChangeAspect="1"/>
          </p:cNvPicPr>
          <p:nvPr/>
        </p:nvPicPr>
        <p:blipFill>
          <a:blip r:embed="rId3"/>
          <a:stretch>
            <a:fillRect/>
          </a:stretch>
        </p:blipFill>
        <p:spPr>
          <a:xfrm>
            <a:off x="658368" y="2826106"/>
            <a:ext cx="601066" cy="601066"/>
          </a:xfrm>
          <a:prstGeom prst="rect">
            <a:avLst/>
          </a:prstGeom>
        </p:spPr>
      </p:pic>
      <p:sp>
        <p:nvSpPr>
          <p:cNvPr id="14" name="Text 8"/>
          <p:cNvSpPr txBox="1"/>
          <p:nvPr/>
        </p:nvSpPr>
        <p:spPr>
          <a:xfrm>
            <a:off x="1325880" y="2771242"/>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hij eet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hij gaat slapen</a:t>
            </a:r>
            <a:endParaRPr lang="en-US" sz="1300" dirty="0"/>
          </a:p>
        </p:txBody>
      </p:sp>
      <p:sp>
        <p:nvSpPr>
          <p:cNvPr id="15" name="Text 9"/>
          <p:cNvSpPr txBox="1"/>
          <p:nvPr/>
        </p:nvSpPr>
        <p:spPr>
          <a:xfrm>
            <a:off x="4526280" y="2771242"/>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Nadat hij </a:t>
            </a:r>
            <a:r>
              <a:rPr lang="en-US" sz="1700" i="1" dirty="0">
                <a:solidFill>
                  <a:schemeClr val="accent5"/>
                </a:solidFill>
              </a:rPr>
              <a:t>…………………</a:t>
            </a:r>
            <a:r>
              <a:rPr lang="en-US" sz="1700" i="1" dirty="0">
                <a:solidFill>
                  <a:schemeClr val="tx1"/>
                </a:solidFill>
              </a:rPr>
              <a:t>, ging hij slapen.</a:t>
            </a:r>
            <a:endParaRPr lang="en-US" sz="1700" dirty="0"/>
          </a:p>
        </p:txBody>
      </p:sp>
      <p:sp>
        <p:nvSpPr>
          <p:cNvPr id="16" name="Shape 10"/>
          <p:cNvSpPr/>
          <p:nvPr/>
        </p:nvSpPr>
        <p:spPr>
          <a:xfrm>
            <a:off x="548640" y="3573475"/>
            <a:ext cx="11091672" cy="710794"/>
          </a:xfrm>
          <a:prstGeom prst="roundRect">
            <a:avLst>
              <a:gd name="adj" fmla="val 12864"/>
            </a:avLst>
          </a:prstGeom>
          <a:solidFill>
            <a:schemeClr val="bg2"/>
          </a:solidFill>
          <a:ln w="9525">
            <a:solidFill>
              <a:srgbClr val="D5DCE6"/>
            </a:solidFill>
            <a:prstDash val="solid"/>
          </a:ln>
        </p:spPr>
      </p:sp>
      <p:pic>
        <p:nvPicPr>
          <p:cNvPr id="17" name="Image 3" descr="clapper board">    </p:cNvPr>
          <p:cNvPicPr>
            <a:picLocks noChangeAspect="1"/>
          </p:cNvPicPr>
          <p:nvPr/>
        </p:nvPicPr>
        <p:blipFill>
          <a:blip r:embed="rId4"/>
          <a:stretch>
            <a:fillRect/>
          </a:stretch>
        </p:blipFill>
        <p:spPr>
          <a:xfrm>
            <a:off x="658368" y="3628339"/>
            <a:ext cx="601066" cy="601066"/>
          </a:xfrm>
          <a:prstGeom prst="rect">
            <a:avLst/>
          </a:prstGeom>
        </p:spPr>
      </p:pic>
      <p:sp>
        <p:nvSpPr>
          <p:cNvPr id="18" name="Text 11"/>
          <p:cNvSpPr txBox="1"/>
          <p:nvPr/>
        </p:nvSpPr>
        <p:spPr>
          <a:xfrm>
            <a:off x="1325880" y="3573475"/>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de film begint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we komen binnen</a:t>
            </a:r>
            <a:endParaRPr lang="en-US" sz="1300" dirty="0"/>
          </a:p>
        </p:txBody>
      </p:sp>
      <p:sp>
        <p:nvSpPr>
          <p:cNvPr id="19" name="Text 12"/>
          <p:cNvSpPr txBox="1"/>
          <p:nvPr/>
        </p:nvSpPr>
        <p:spPr>
          <a:xfrm>
            <a:off x="4526280" y="3573475"/>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Toen we binnenkwamen, </a:t>
            </a:r>
            <a:r>
              <a:rPr lang="en-US" sz="1700" i="1" dirty="0">
                <a:solidFill>
                  <a:schemeClr val="accent5"/>
                </a:solidFill>
              </a:rPr>
              <a:t>………………………………</a:t>
            </a:r>
            <a:r>
              <a:rPr lang="en-US" sz="1700" i="1" dirty="0">
                <a:solidFill>
                  <a:schemeClr val="tx1"/>
                </a:solidFill>
              </a:rPr>
              <a:t>.</a:t>
            </a:r>
            <a:endParaRPr lang="en-US" sz="1700" dirty="0"/>
          </a:p>
        </p:txBody>
      </p:sp>
      <p:sp>
        <p:nvSpPr>
          <p:cNvPr id="20" name="Shape 13"/>
          <p:cNvSpPr/>
          <p:nvPr/>
        </p:nvSpPr>
        <p:spPr>
          <a:xfrm>
            <a:off x="548640" y="4375709"/>
            <a:ext cx="11091672" cy="710794"/>
          </a:xfrm>
          <a:prstGeom prst="roundRect">
            <a:avLst>
              <a:gd name="adj" fmla="val 12864"/>
            </a:avLst>
          </a:prstGeom>
          <a:solidFill>
            <a:srgbClr val="FFFFFF"/>
          </a:solidFill>
          <a:ln w="9525">
            <a:solidFill>
              <a:srgbClr val="D5DCE6"/>
            </a:solidFill>
            <a:prstDash val="solid"/>
          </a:ln>
        </p:spPr>
      </p:sp>
      <p:pic>
        <p:nvPicPr>
          <p:cNvPr id="21" name="Image 4" descr="page facing up">    </p:cNvPr>
          <p:cNvPicPr>
            <a:picLocks noChangeAspect="1"/>
          </p:cNvPicPr>
          <p:nvPr/>
        </p:nvPicPr>
        <p:blipFill>
          <a:blip r:embed="rId5"/>
          <a:stretch>
            <a:fillRect/>
          </a:stretch>
        </p:blipFill>
        <p:spPr>
          <a:xfrm>
            <a:off x="658368" y="4430573"/>
            <a:ext cx="601066" cy="601066"/>
          </a:xfrm>
          <a:prstGeom prst="rect">
            <a:avLst/>
          </a:prstGeom>
        </p:spPr>
      </p:pic>
      <p:sp>
        <p:nvSpPr>
          <p:cNvPr id="22" name="Text 14"/>
          <p:cNvSpPr txBox="1"/>
          <p:nvPr/>
        </p:nvSpPr>
        <p:spPr>
          <a:xfrm>
            <a:off x="1325880" y="4375709"/>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Lotte leest het rapport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de vergadering</a:t>
            </a:r>
            <a:endParaRPr lang="en-US" sz="1300" dirty="0"/>
          </a:p>
        </p:txBody>
      </p:sp>
      <p:sp>
        <p:nvSpPr>
          <p:cNvPr id="23" name="Text 15"/>
          <p:cNvSpPr txBox="1"/>
          <p:nvPr/>
        </p:nvSpPr>
        <p:spPr>
          <a:xfrm>
            <a:off x="4526280" y="4375709"/>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Lotte </a:t>
            </a:r>
            <a:r>
              <a:rPr lang="en-US" sz="1700" i="1" dirty="0">
                <a:solidFill>
                  <a:schemeClr val="accent5"/>
                </a:solidFill>
              </a:rPr>
              <a:t>………………………………</a:t>
            </a:r>
            <a:r>
              <a:rPr lang="en-US" sz="1700" i="1" dirty="0">
                <a:solidFill>
                  <a:schemeClr val="tx1"/>
                </a:solidFill>
              </a:rPr>
              <a:t> voor de vergadering.</a:t>
            </a:r>
            <a:endParaRPr lang="en-US" sz="1700" dirty="0"/>
          </a:p>
        </p:txBody>
      </p:sp>
      <p:sp>
        <p:nvSpPr>
          <p:cNvPr id="24" name="Shape 16"/>
          <p:cNvSpPr/>
          <p:nvPr/>
        </p:nvSpPr>
        <p:spPr>
          <a:xfrm>
            <a:off x="548640" y="5177942"/>
            <a:ext cx="11091672" cy="710794"/>
          </a:xfrm>
          <a:prstGeom prst="roundRect">
            <a:avLst>
              <a:gd name="adj" fmla="val 12864"/>
            </a:avLst>
          </a:prstGeom>
          <a:solidFill>
            <a:schemeClr val="bg2"/>
          </a:solidFill>
          <a:ln w="9525">
            <a:solidFill>
              <a:srgbClr val="D5DCE6"/>
            </a:solidFill>
            <a:prstDash val="solid"/>
          </a:ln>
        </p:spPr>
      </p:sp>
      <p:pic>
        <p:nvPicPr>
          <p:cNvPr id="25" name="Image 5" descr="telephone receiver">    </p:cNvPr>
          <p:cNvPicPr>
            <a:picLocks noChangeAspect="1"/>
          </p:cNvPicPr>
          <p:nvPr/>
        </p:nvPicPr>
        <p:blipFill>
          <a:blip r:embed="rId6"/>
          <a:stretch>
            <a:fillRect/>
          </a:stretch>
        </p:blipFill>
        <p:spPr>
          <a:xfrm>
            <a:off x="658368" y="5232806"/>
            <a:ext cx="601066" cy="601066"/>
          </a:xfrm>
          <a:prstGeom prst="rect">
            <a:avLst/>
          </a:prstGeom>
        </p:spPr>
      </p:pic>
      <p:sp>
        <p:nvSpPr>
          <p:cNvPr id="26" name="Text 17"/>
          <p:cNvSpPr txBox="1"/>
          <p:nvPr/>
        </p:nvSpPr>
        <p:spPr>
          <a:xfrm>
            <a:off x="1325880" y="5177942"/>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ik bel de klant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de chef vraagt het</a:t>
            </a:r>
            <a:endParaRPr lang="en-US" sz="1300" dirty="0"/>
          </a:p>
        </p:txBody>
      </p:sp>
      <p:sp>
        <p:nvSpPr>
          <p:cNvPr id="27" name="Text 18"/>
          <p:cNvSpPr txBox="1"/>
          <p:nvPr/>
        </p:nvSpPr>
        <p:spPr>
          <a:xfrm>
            <a:off x="4526280" y="5177942"/>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Toen de chef het vroeg, </a:t>
            </a:r>
            <a:r>
              <a:rPr lang="en-US" sz="1700" i="1" dirty="0">
                <a:solidFill>
                  <a:schemeClr val="accent5"/>
                </a:solidFill>
              </a:rPr>
              <a:t>………………………………</a:t>
            </a:r>
            <a:r>
              <a:rPr lang="en-US" sz="1700" i="1"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Avant ou après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L’action ① est terminée avant l’action ② : complétez avec le plusquamperfectum.</a:t>
            </a:r>
            <a:endParaRPr lang="en-US" sz="1700" dirty="0"/>
          </a:p>
        </p:txBody>
      </p:sp>
      <p:sp>
        <p:nvSpPr>
          <p:cNvPr id="9" name="Shape 5"/>
          <p:cNvSpPr/>
          <p:nvPr/>
        </p:nvSpPr>
        <p:spPr>
          <a:xfrm>
            <a:off x="548640" y="1969008"/>
            <a:ext cx="11091672" cy="710794"/>
          </a:xfrm>
          <a:prstGeom prst="roundRect">
            <a:avLst>
              <a:gd name="adj" fmla="val 12864"/>
            </a:avLst>
          </a:prstGeom>
          <a:solidFill>
            <a:schemeClr val="bg2"/>
          </a:solidFill>
          <a:ln w="9525">
            <a:solidFill>
              <a:srgbClr val="D5DCE6"/>
            </a:solidFill>
            <a:prstDash val="solid"/>
          </a:ln>
        </p:spPr>
      </p:sp>
      <p:pic>
        <p:nvPicPr>
          <p:cNvPr id="10" name="Image 1" descr="railway car">    </p:cNvPr>
          <p:cNvPicPr>
            <a:picLocks noChangeAspect="1"/>
          </p:cNvPicPr>
          <p:nvPr/>
        </p:nvPicPr>
        <p:blipFill>
          <a:blip r:embed="rId2"/>
          <a:stretch>
            <a:fillRect/>
          </a:stretch>
        </p:blipFill>
        <p:spPr>
          <a:xfrm>
            <a:off x="658368" y="2023872"/>
            <a:ext cx="601066" cy="601066"/>
          </a:xfrm>
          <a:prstGeom prst="rect">
            <a:avLst/>
          </a:prstGeom>
        </p:spPr>
      </p:pic>
      <p:sp>
        <p:nvSpPr>
          <p:cNvPr id="11" name="Text 6"/>
          <p:cNvSpPr txBox="1"/>
          <p:nvPr/>
        </p:nvSpPr>
        <p:spPr>
          <a:xfrm>
            <a:off x="1325880" y="1969008"/>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de trein vertrekt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ik kom aan</a:t>
            </a:r>
            <a:endParaRPr lang="en-US" sz="1300" dirty="0"/>
          </a:p>
        </p:txBody>
      </p:sp>
      <p:sp>
        <p:nvSpPr>
          <p:cNvPr id="12" name="Text 7"/>
          <p:cNvSpPr txBox="1"/>
          <p:nvPr/>
        </p:nvSpPr>
        <p:spPr>
          <a:xfrm>
            <a:off x="4526280" y="1969008"/>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Toen ik aankwam, </a:t>
            </a:r>
            <a:r>
              <a:rPr lang="en-US" sz="1700" b="1" i="1" dirty="0">
                <a:solidFill>
                  <a:schemeClr val="accent3"/>
                </a:solidFill>
              </a:rPr>
              <a:t>was de trein al vertrokken</a:t>
            </a:r>
            <a:r>
              <a:rPr lang="en-US" sz="1700" i="1" dirty="0">
                <a:solidFill>
                  <a:schemeClr val="tx1"/>
                </a:solidFill>
              </a:rPr>
              <a:t>.</a:t>
            </a:r>
            <a:endParaRPr lang="en-US" sz="1700" dirty="0"/>
          </a:p>
        </p:txBody>
      </p:sp>
      <p:sp>
        <p:nvSpPr>
          <p:cNvPr id="13" name="Shape 8"/>
          <p:cNvSpPr/>
          <p:nvPr/>
        </p:nvSpPr>
        <p:spPr>
          <a:xfrm>
            <a:off x="548640" y="2771242"/>
            <a:ext cx="11091672" cy="710794"/>
          </a:xfrm>
          <a:prstGeom prst="roundRect">
            <a:avLst>
              <a:gd name="adj" fmla="val 12864"/>
            </a:avLst>
          </a:prstGeom>
          <a:solidFill>
            <a:srgbClr val="FFFFFF"/>
          </a:solidFill>
          <a:ln w="9525">
            <a:solidFill>
              <a:srgbClr val="D5DCE6"/>
            </a:solidFill>
            <a:prstDash val="solid"/>
          </a:ln>
        </p:spPr>
      </p:sp>
      <p:pic>
        <p:nvPicPr>
          <p:cNvPr id="14" name="Image 2" descr="fork and knife with plate">    </p:cNvPr>
          <p:cNvPicPr>
            <a:picLocks noChangeAspect="1"/>
          </p:cNvPicPr>
          <p:nvPr/>
        </p:nvPicPr>
        <p:blipFill>
          <a:blip r:embed="rId3"/>
          <a:stretch>
            <a:fillRect/>
          </a:stretch>
        </p:blipFill>
        <p:spPr>
          <a:xfrm>
            <a:off x="658368" y="2826106"/>
            <a:ext cx="601066" cy="601066"/>
          </a:xfrm>
          <a:prstGeom prst="rect">
            <a:avLst/>
          </a:prstGeom>
        </p:spPr>
      </p:pic>
      <p:sp>
        <p:nvSpPr>
          <p:cNvPr id="15" name="Text 9"/>
          <p:cNvSpPr txBox="1"/>
          <p:nvPr/>
        </p:nvSpPr>
        <p:spPr>
          <a:xfrm>
            <a:off x="1325880" y="2771242"/>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hij eet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hij gaat slapen</a:t>
            </a:r>
            <a:endParaRPr lang="en-US" sz="1300" dirty="0"/>
          </a:p>
        </p:txBody>
      </p:sp>
      <p:sp>
        <p:nvSpPr>
          <p:cNvPr id="16" name="Text 10"/>
          <p:cNvSpPr txBox="1"/>
          <p:nvPr/>
        </p:nvSpPr>
        <p:spPr>
          <a:xfrm>
            <a:off x="4526280" y="2771242"/>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Nadat hij </a:t>
            </a:r>
            <a:r>
              <a:rPr lang="en-US" sz="1700" b="1" i="1" dirty="0">
                <a:solidFill>
                  <a:schemeClr val="accent3"/>
                </a:solidFill>
              </a:rPr>
              <a:t>gegeten had</a:t>
            </a:r>
            <a:r>
              <a:rPr lang="en-US" sz="1700" i="1" dirty="0">
                <a:solidFill>
                  <a:schemeClr val="tx1"/>
                </a:solidFill>
              </a:rPr>
              <a:t>, ging hij slapen.</a:t>
            </a:r>
            <a:endParaRPr lang="en-US" sz="1700" dirty="0"/>
          </a:p>
        </p:txBody>
      </p:sp>
      <p:sp>
        <p:nvSpPr>
          <p:cNvPr id="17" name="Shape 11"/>
          <p:cNvSpPr/>
          <p:nvPr/>
        </p:nvSpPr>
        <p:spPr>
          <a:xfrm>
            <a:off x="548640" y="3573475"/>
            <a:ext cx="11091672" cy="710794"/>
          </a:xfrm>
          <a:prstGeom prst="roundRect">
            <a:avLst>
              <a:gd name="adj" fmla="val 12864"/>
            </a:avLst>
          </a:prstGeom>
          <a:solidFill>
            <a:schemeClr val="bg2"/>
          </a:solidFill>
          <a:ln w="9525">
            <a:solidFill>
              <a:srgbClr val="D5DCE6"/>
            </a:solidFill>
            <a:prstDash val="solid"/>
          </a:ln>
        </p:spPr>
      </p:sp>
      <p:pic>
        <p:nvPicPr>
          <p:cNvPr id="18" name="Image 3" descr="clapper board">    </p:cNvPr>
          <p:cNvPicPr>
            <a:picLocks noChangeAspect="1"/>
          </p:cNvPicPr>
          <p:nvPr/>
        </p:nvPicPr>
        <p:blipFill>
          <a:blip r:embed="rId4"/>
          <a:stretch>
            <a:fillRect/>
          </a:stretch>
        </p:blipFill>
        <p:spPr>
          <a:xfrm>
            <a:off x="658368" y="3628339"/>
            <a:ext cx="601066" cy="601066"/>
          </a:xfrm>
          <a:prstGeom prst="rect">
            <a:avLst/>
          </a:prstGeom>
        </p:spPr>
      </p:pic>
      <p:sp>
        <p:nvSpPr>
          <p:cNvPr id="19" name="Text 12"/>
          <p:cNvSpPr txBox="1"/>
          <p:nvPr/>
        </p:nvSpPr>
        <p:spPr>
          <a:xfrm>
            <a:off x="1325880" y="3573475"/>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de film begint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we komen binnen</a:t>
            </a:r>
            <a:endParaRPr lang="en-US" sz="1300" dirty="0"/>
          </a:p>
        </p:txBody>
      </p:sp>
      <p:sp>
        <p:nvSpPr>
          <p:cNvPr id="20" name="Text 13"/>
          <p:cNvSpPr txBox="1"/>
          <p:nvPr/>
        </p:nvSpPr>
        <p:spPr>
          <a:xfrm>
            <a:off x="4526280" y="3573475"/>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Toen we binnenkwamen, </a:t>
            </a:r>
            <a:r>
              <a:rPr lang="en-US" sz="1700" b="1" i="1" dirty="0">
                <a:solidFill>
                  <a:schemeClr val="accent3"/>
                </a:solidFill>
              </a:rPr>
              <a:t>was de film al begonnen</a:t>
            </a:r>
            <a:r>
              <a:rPr lang="en-US" sz="1700" i="1" dirty="0">
                <a:solidFill>
                  <a:schemeClr val="tx1"/>
                </a:solidFill>
              </a:rPr>
              <a:t>.</a:t>
            </a:r>
            <a:endParaRPr lang="en-US" sz="1700" dirty="0"/>
          </a:p>
        </p:txBody>
      </p:sp>
      <p:sp>
        <p:nvSpPr>
          <p:cNvPr id="21" name="Shape 14"/>
          <p:cNvSpPr/>
          <p:nvPr/>
        </p:nvSpPr>
        <p:spPr>
          <a:xfrm>
            <a:off x="548640" y="4375709"/>
            <a:ext cx="11091672" cy="710794"/>
          </a:xfrm>
          <a:prstGeom prst="roundRect">
            <a:avLst>
              <a:gd name="adj" fmla="val 12864"/>
            </a:avLst>
          </a:prstGeom>
          <a:solidFill>
            <a:srgbClr val="FFFFFF"/>
          </a:solidFill>
          <a:ln w="9525">
            <a:solidFill>
              <a:srgbClr val="D5DCE6"/>
            </a:solidFill>
            <a:prstDash val="solid"/>
          </a:ln>
        </p:spPr>
      </p:sp>
      <p:pic>
        <p:nvPicPr>
          <p:cNvPr id="22" name="Image 4" descr="page facing up">    </p:cNvPr>
          <p:cNvPicPr>
            <a:picLocks noChangeAspect="1"/>
          </p:cNvPicPr>
          <p:nvPr/>
        </p:nvPicPr>
        <p:blipFill>
          <a:blip r:embed="rId5"/>
          <a:stretch>
            <a:fillRect/>
          </a:stretch>
        </p:blipFill>
        <p:spPr>
          <a:xfrm>
            <a:off x="658368" y="4430573"/>
            <a:ext cx="601066" cy="601066"/>
          </a:xfrm>
          <a:prstGeom prst="rect">
            <a:avLst/>
          </a:prstGeom>
        </p:spPr>
      </p:pic>
      <p:sp>
        <p:nvSpPr>
          <p:cNvPr id="23" name="Text 15"/>
          <p:cNvSpPr txBox="1"/>
          <p:nvPr/>
        </p:nvSpPr>
        <p:spPr>
          <a:xfrm>
            <a:off x="1325880" y="4375709"/>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Lotte leest het rapport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de vergadering</a:t>
            </a:r>
            <a:endParaRPr lang="en-US" sz="1300" dirty="0"/>
          </a:p>
        </p:txBody>
      </p:sp>
      <p:sp>
        <p:nvSpPr>
          <p:cNvPr id="24" name="Text 16"/>
          <p:cNvSpPr txBox="1"/>
          <p:nvPr/>
        </p:nvSpPr>
        <p:spPr>
          <a:xfrm>
            <a:off x="4526280" y="4375709"/>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Lotte </a:t>
            </a:r>
            <a:r>
              <a:rPr lang="en-US" sz="1700" b="1" i="1" dirty="0">
                <a:solidFill>
                  <a:schemeClr val="accent3"/>
                </a:solidFill>
              </a:rPr>
              <a:t>had het rapport al gelezen</a:t>
            </a:r>
            <a:r>
              <a:rPr lang="en-US" sz="1700" i="1" dirty="0">
                <a:solidFill>
                  <a:schemeClr val="tx1"/>
                </a:solidFill>
              </a:rPr>
              <a:t> voor de vergadering.</a:t>
            </a:r>
            <a:endParaRPr lang="en-US" sz="1700" dirty="0"/>
          </a:p>
        </p:txBody>
      </p:sp>
      <p:sp>
        <p:nvSpPr>
          <p:cNvPr id="25" name="Shape 17"/>
          <p:cNvSpPr/>
          <p:nvPr/>
        </p:nvSpPr>
        <p:spPr>
          <a:xfrm>
            <a:off x="548640" y="5177942"/>
            <a:ext cx="11091672" cy="710794"/>
          </a:xfrm>
          <a:prstGeom prst="roundRect">
            <a:avLst>
              <a:gd name="adj" fmla="val 12864"/>
            </a:avLst>
          </a:prstGeom>
          <a:solidFill>
            <a:schemeClr val="bg2"/>
          </a:solidFill>
          <a:ln w="9525">
            <a:solidFill>
              <a:srgbClr val="D5DCE6"/>
            </a:solidFill>
            <a:prstDash val="solid"/>
          </a:ln>
        </p:spPr>
      </p:sp>
      <p:pic>
        <p:nvPicPr>
          <p:cNvPr id="26" name="Image 5" descr="telephone receiver">    </p:cNvPr>
          <p:cNvPicPr>
            <a:picLocks noChangeAspect="1"/>
          </p:cNvPicPr>
          <p:nvPr/>
        </p:nvPicPr>
        <p:blipFill>
          <a:blip r:embed="rId6"/>
          <a:stretch>
            <a:fillRect/>
          </a:stretch>
        </p:blipFill>
        <p:spPr>
          <a:xfrm>
            <a:off x="658368" y="5232806"/>
            <a:ext cx="601066" cy="601066"/>
          </a:xfrm>
          <a:prstGeom prst="rect">
            <a:avLst/>
          </a:prstGeom>
        </p:spPr>
      </p:pic>
      <p:sp>
        <p:nvSpPr>
          <p:cNvPr id="27" name="Text 18"/>
          <p:cNvSpPr txBox="1"/>
          <p:nvPr/>
        </p:nvSpPr>
        <p:spPr>
          <a:xfrm>
            <a:off x="1325880" y="5177942"/>
            <a:ext cx="3108960" cy="710794"/>
          </a:xfrm>
          <a:prstGeom prst="rect">
            <a:avLst/>
          </a:prstGeom>
          <a:noFill/>
          <a:ln/>
        </p:spPr>
        <p:txBody>
          <a:bodyPr wrap="square" lIns="0" tIns="0" rIns="0" bIns="0" rtlCol="0" anchor="ctr"/>
          <a:lstStyle/>
          <a:p>
            <a:pPr algn="l" indent="0" marL="0">
              <a:buNone/>
            </a:pPr>
            <a:r>
              <a:rPr lang="en-US" sz="1300" b="1" dirty="0">
                <a:solidFill>
                  <a:schemeClr val="tx2"/>
                </a:solidFill>
              </a:rPr>
              <a:t>①</a:t>
            </a:r>
            <a:r>
              <a:rPr lang="en-US" sz="1300" dirty="0">
                <a:solidFill>
                  <a:schemeClr val="tx2"/>
                </a:solidFill>
              </a:rPr>
              <a:t> </a:t>
            </a:r>
            <a:r>
              <a:rPr lang="en-US" sz="1300" i="1" dirty="0">
                <a:solidFill>
                  <a:schemeClr val="tx2"/>
                </a:solidFill>
              </a:rPr>
              <a:t>ik bel de klant</a:t>
            </a:r>
            <a:endParaRPr lang="en-US" sz="1300" dirty="0"/>
          </a:p>
          <a:p>
            <a:pPr algn="l" indent="0" marL="0">
              <a:buNone/>
            </a:pPr>
            <a:r>
              <a:rPr lang="en-US" sz="1300" b="1" dirty="0">
                <a:solidFill>
                  <a:schemeClr val="tx2"/>
                </a:solidFill>
              </a:rPr>
              <a:t>②</a:t>
            </a:r>
            <a:r>
              <a:rPr lang="en-US" sz="1300" dirty="0">
                <a:solidFill>
                  <a:schemeClr val="tx2"/>
                </a:solidFill>
              </a:rPr>
              <a:t> </a:t>
            </a:r>
            <a:r>
              <a:rPr lang="en-US" sz="1300" i="1" dirty="0">
                <a:solidFill>
                  <a:schemeClr val="tx2"/>
                </a:solidFill>
              </a:rPr>
              <a:t>de chef vraagt het</a:t>
            </a:r>
            <a:endParaRPr lang="en-US" sz="1300" dirty="0"/>
          </a:p>
        </p:txBody>
      </p:sp>
      <p:sp>
        <p:nvSpPr>
          <p:cNvPr id="28" name="Text 19"/>
          <p:cNvSpPr txBox="1"/>
          <p:nvPr/>
        </p:nvSpPr>
        <p:spPr>
          <a:xfrm>
            <a:off x="4526280" y="5177942"/>
            <a:ext cx="7040880" cy="710794"/>
          </a:xfrm>
          <a:prstGeom prst="rect">
            <a:avLst/>
          </a:prstGeom>
          <a:noFill/>
          <a:ln/>
        </p:spPr>
        <p:txBody>
          <a:bodyPr wrap="square" lIns="0" tIns="0" rIns="0" bIns="0" rtlCol="0" anchor="ctr"/>
          <a:lstStyle/>
          <a:p>
            <a:pPr algn="l" indent="0" marL="0">
              <a:buNone/>
            </a:pPr>
            <a:r>
              <a:rPr lang="en-US" sz="1700" i="1" dirty="0">
                <a:solidFill>
                  <a:schemeClr val="tx1"/>
                </a:solidFill>
              </a:rPr>
              <a:t>Toen de chef het vroeg, </a:t>
            </a:r>
            <a:r>
              <a:rPr lang="en-US" sz="1700" b="1" i="1" dirty="0">
                <a:solidFill>
                  <a:schemeClr val="accent3"/>
                </a:solidFill>
              </a:rPr>
              <a:t>had ik de klant al gebeld</a:t>
            </a:r>
            <a:r>
              <a:rPr lang="en-US" sz="1700" i="1" dirty="0">
                <a:solidFill>
                  <a:schemeClr val="tx1"/>
                </a:solidFill>
              </a:rPr>
              <a:t>.</a:t>
            </a:r>
            <a:endParaRPr lang="en-US" sz="1700" dirty="0"/>
          </a:p>
        </p:txBody>
      </p:sp>
      <p:sp>
        <p:nvSpPr>
          <p:cNvPr id="29" name="Text 20"/>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N° 2 : aussi </a:t>
            </a:r>
            <a:r>
              <a:rPr lang="en-US" sz="1300" i="1" dirty="0">
                <a:solidFill>
                  <a:schemeClr val="accent5"/>
                </a:solidFill>
              </a:rPr>
              <a:t>had gegeten</a:t>
            </a:r>
            <a:r>
              <a:rPr lang="en-US" sz="1300" i="1" dirty="0">
                <a:solidFill>
                  <a:schemeClr val="accent5"/>
                </a:solidFill>
              </a:rPr>
              <a:t>. Le verbe ② reste au perfectum ou à l’imperfectum.</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Si… si… si… : trois hypothèses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Écrivez chaque situation aux trois niveaux : réel, imaginaire, irréel passé.</a:t>
            </a:r>
            <a:endParaRPr lang="en-US" sz="1700" dirty="0"/>
          </a:p>
        </p:txBody>
      </p:sp>
      <p:sp>
        <p:nvSpPr>
          <p:cNvPr id="8" name="Shape 4"/>
          <p:cNvSpPr/>
          <p:nvPr/>
        </p:nvSpPr>
        <p:spPr>
          <a:xfrm>
            <a:off x="2834640" y="1932432"/>
            <a:ext cx="2874264" cy="411480"/>
          </a:xfrm>
          <a:prstGeom prst="roundRect">
            <a:avLst>
              <a:gd name="adj" fmla="val 17778"/>
            </a:avLst>
          </a:prstGeom>
          <a:solidFill>
            <a:schemeClr val="accent2"/>
          </a:solidFill>
          <a:ln w="12700">
            <a:solidFill>
              <a:srgbClr val="FFFFFF">
                <a:alpha val="0"/>
              </a:srgbClr>
            </a:solidFill>
            <a:prstDash val="solid"/>
          </a:ln>
        </p:spPr>
      </p:sp>
      <p:sp>
        <p:nvSpPr>
          <p:cNvPr id="9" name="Text 5"/>
          <p:cNvSpPr txBox="1"/>
          <p:nvPr/>
        </p:nvSpPr>
        <p:spPr>
          <a:xfrm>
            <a:off x="2834640" y="1932432"/>
            <a:ext cx="2874264" cy="411480"/>
          </a:xfrm>
          <a:prstGeom prst="rect">
            <a:avLst/>
          </a:prstGeom>
          <a:noFill/>
          <a:ln/>
        </p:spPr>
        <p:txBody>
          <a:bodyPr wrap="square" lIns="0" tIns="0" rIns="0" bIns="0" rtlCol="0" anchor="ctr"/>
          <a:lstStyle/>
          <a:p>
            <a:pPr algn="ctr" indent="0" marL="0">
              <a:buNone/>
            </a:pPr>
            <a:r>
              <a:rPr lang="en-US" sz="1400" b="1" dirty="0">
                <a:solidFill>
                  <a:schemeClr val="bg1"/>
                </a:solidFill>
              </a:rPr>
              <a:t>① RÉEL</a:t>
            </a:r>
            <a:endParaRPr lang="en-US" sz="1400" dirty="0"/>
          </a:p>
        </p:txBody>
      </p:sp>
      <p:sp>
        <p:nvSpPr>
          <p:cNvPr id="10" name="Shape 6"/>
          <p:cNvSpPr/>
          <p:nvPr/>
        </p:nvSpPr>
        <p:spPr>
          <a:xfrm>
            <a:off x="5800344" y="1932432"/>
            <a:ext cx="2874264" cy="411480"/>
          </a:xfrm>
          <a:prstGeom prst="roundRect">
            <a:avLst>
              <a:gd name="adj" fmla="val 17778"/>
            </a:avLst>
          </a:prstGeom>
          <a:solidFill>
            <a:srgbClr val="6E4A9E"/>
          </a:solidFill>
          <a:ln w="12700">
            <a:solidFill>
              <a:srgbClr val="FFFFFF">
                <a:alpha val="0"/>
              </a:srgbClr>
            </a:solidFill>
            <a:prstDash val="solid"/>
          </a:ln>
        </p:spPr>
      </p:sp>
      <p:sp>
        <p:nvSpPr>
          <p:cNvPr id="11" name="Text 7"/>
          <p:cNvSpPr txBox="1"/>
          <p:nvPr/>
        </p:nvSpPr>
        <p:spPr>
          <a:xfrm>
            <a:off x="5800344" y="1932432"/>
            <a:ext cx="2874264" cy="411480"/>
          </a:xfrm>
          <a:prstGeom prst="rect">
            <a:avLst/>
          </a:prstGeom>
          <a:noFill/>
          <a:ln/>
        </p:spPr>
        <p:txBody>
          <a:bodyPr wrap="square" lIns="0" tIns="0" rIns="0" bIns="0" rtlCol="0" anchor="ctr"/>
          <a:lstStyle/>
          <a:p>
            <a:pPr algn="ctr" indent="0" marL="0">
              <a:buNone/>
            </a:pPr>
            <a:r>
              <a:rPr lang="en-US" sz="1400" b="1" dirty="0">
                <a:solidFill>
                  <a:schemeClr val="bg1"/>
                </a:solidFill>
              </a:rPr>
              <a:t>② IMAGINAIRE</a:t>
            </a:r>
            <a:endParaRPr lang="en-US" sz="1400" dirty="0"/>
          </a:p>
        </p:txBody>
      </p:sp>
      <p:sp>
        <p:nvSpPr>
          <p:cNvPr id="12" name="Shape 8"/>
          <p:cNvSpPr/>
          <p:nvPr/>
        </p:nvSpPr>
        <p:spPr>
          <a:xfrm>
            <a:off x="8766048" y="1932432"/>
            <a:ext cx="2874264" cy="411480"/>
          </a:xfrm>
          <a:prstGeom prst="roundRect">
            <a:avLst>
              <a:gd name="adj" fmla="val 17778"/>
            </a:avLst>
          </a:prstGeom>
          <a:solidFill>
            <a:srgbClr val="45306A"/>
          </a:solidFill>
          <a:ln w="12700">
            <a:solidFill>
              <a:srgbClr val="FFFFFF">
                <a:alpha val="0"/>
              </a:srgbClr>
            </a:solidFill>
            <a:prstDash val="solid"/>
          </a:ln>
        </p:spPr>
      </p:sp>
      <p:sp>
        <p:nvSpPr>
          <p:cNvPr id="13" name="Text 9"/>
          <p:cNvSpPr txBox="1"/>
          <p:nvPr/>
        </p:nvSpPr>
        <p:spPr>
          <a:xfrm>
            <a:off x="8766048" y="1932432"/>
            <a:ext cx="2874264" cy="411480"/>
          </a:xfrm>
          <a:prstGeom prst="rect">
            <a:avLst/>
          </a:prstGeom>
          <a:noFill/>
          <a:ln/>
        </p:spPr>
        <p:txBody>
          <a:bodyPr wrap="square" lIns="0" tIns="0" rIns="0" bIns="0" rtlCol="0" anchor="ctr"/>
          <a:lstStyle/>
          <a:p>
            <a:pPr algn="ctr" indent="0" marL="0">
              <a:buNone/>
            </a:pPr>
            <a:r>
              <a:rPr lang="en-US" sz="1400" b="1" dirty="0">
                <a:solidFill>
                  <a:schemeClr val="bg1"/>
                </a:solidFill>
              </a:rPr>
              <a:t>③ IRRÉEL PASSÉ</a:t>
            </a:r>
            <a:endParaRPr lang="en-US" sz="1400" dirty="0"/>
          </a:p>
        </p:txBody>
      </p:sp>
      <p:sp>
        <p:nvSpPr>
          <p:cNvPr id="14" name="Shape 10"/>
          <p:cNvSpPr/>
          <p:nvPr/>
        </p:nvSpPr>
        <p:spPr>
          <a:xfrm>
            <a:off x="548640" y="2435352"/>
            <a:ext cx="2194560" cy="1804416"/>
          </a:xfrm>
          <a:prstGeom prst="roundRect">
            <a:avLst>
              <a:gd name="adj" fmla="val 5068"/>
            </a:avLst>
          </a:prstGeom>
          <a:solidFill>
            <a:schemeClr val="bg2"/>
          </a:solidFill>
          <a:ln w="12700">
            <a:solidFill>
              <a:srgbClr val="D5DCE6"/>
            </a:solidFill>
            <a:prstDash val="solid"/>
          </a:ln>
        </p:spPr>
      </p:sp>
      <p:pic>
        <p:nvPicPr>
          <p:cNvPr id="15" name="Image 1" descr="money bag">    </p:cNvPr>
          <p:cNvPicPr>
            <a:picLocks noChangeAspect="1"/>
          </p:cNvPicPr>
          <p:nvPr/>
        </p:nvPicPr>
        <p:blipFill>
          <a:blip r:embed="rId2"/>
          <a:stretch>
            <a:fillRect/>
          </a:stretch>
        </p:blipFill>
        <p:spPr>
          <a:xfrm>
            <a:off x="1280160" y="2572512"/>
            <a:ext cx="731520" cy="731520"/>
          </a:xfrm>
          <a:prstGeom prst="rect">
            <a:avLst/>
          </a:prstGeom>
        </p:spPr>
      </p:pic>
      <p:sp>
        <p:nvSpPr>
          <p:cNvPr id="16" name="Text 11"/>
          <p:cNvSpPr txBox="1"/>
          <p:nvPr/>
        </p:nvSpPr>
        <p:spPr>
          <a:xfrm>
            <a:off x="640080" y="3349752"/>
            <a:ext cx="2011680" cy="816864"/>
          </a:xfrm>
          <a:prstGeom prst="rect">
            <a:avLst/>
          </a:prstGeom>
          <a:noFill/>
          <a:ln/>
        </p:spPr>
        <p:txBody>
          <a:bodyPr wrap="square" lIns="0" tIns="0" rIns="0" bIns="0" rtlCol="0" anchor="ctr"/>
          <a:lstStyle/>
          <a:p>
            <a:pPr algn="ctr" indent="0" marL="0">
              <a:buNone/>
            </a:pPr>
            <a:r>
              <a:rPr lang="en-US" sz="1400" b="1" dirty="0">
                <a:solidFill>
                  <a:schemeClr val="tx1"/>
                </a:solidFill>
              </a:rPr>
              <a:t>geld hebben → een huis kopen</a:t>
            </a:r>
            <a:endParaRPr lang="en-US" sz="1400" dirty="0"/>
          </a:p>
        </p:txBody>
      </p:sp>
      <p:sp>
        <p:nvSpPr>
          <p:cNvPr id="17" name="Shape 12"/>
          <p:cNvSpPr/>
          <p:nvPr/>
        </p:nvSpPr>
        <p:spPr>
          <a:xfrm>
            <a:off x="2834640" y="2435352"/>
            <a:ext cx="2874264" cy="1804416"/>
          </a:xfrm>
          <a:prstGeom prst="roundRect">
            <a:avLst>
              <a:gd name="adj" fmla="val 5068"/>
            </a:avLst>
          </a:prstGeom>
          <a:solidFill>
            <a:srgbClr val="FFFFFF"/>
          </a:solidFill>
          <a:ln w="15875">
            <a:solidFill>
              <a:srgbClr val="2A6FB0"/>
            </a:solidFill>
            <a:prstDash val="solid"/>
          </a:ln>
        </p:spPr>
      </p:sp>
      <p:sp>
        <p:nvSpPr>
          <p:cNvPr id="18" name="Text 13"/>
          <p:cNvSpPr txBox="1"/>
          <p:nvPr/>
        </p:nvSpPr>
        <p:spPr>
          <a:xfrm>
            <a:off x="2971800" y="2481072"/>
            <a:ext cx="2599944" cy="171297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geld </a:t>
            </a:r>
            <a:r>
              <a:rPr lang="en-US" sz="1600" i="1" dirty="0">
                <a:solidFill>
                  <a:schemeClr val="accent5"/>
                </a:solidFill>
              </a:rPr>
              <a:t>…………</a:t>
            </a:r>
            <a:r>
              <a:rPr lang="en-US" sz="1600" i="1" dirty="0">
                <a:solidFill>
                  <a:schemeClr val="tx1"/>
                </a:solidFill>
              </a:rPr>
              <a:t>, </a:t>
            </a:r>
            <a:r>
              <a:rPr lang="en-US" sz="1600" i="1" dirty="0">
                <a:solidFill>
                  <a:schemeClr val="accent5"/>
                </a:solidFill>
              </a:rPr>
              <a:t>…………</a:t>
            </a:r>
            <a:r>
              <a:rPr lang="en-US" sz="1600" i="1" dirty="0">
                <a:solidFill>
                  <a:schemeClr val="tx1"/>
                </a:solidFill>
              </a:rPr>
              <a:t> ik een huis.</a:t>
            </a:r>
            <a:endParaRPr lang="en-US" sz="1600" dirty="0"/>
          </a:p>
        </p:txBody>
      </p:sp>
      <p:sp>
        <p:nvSpPr>
          <p:cNvPr id="19" name="Shape 14"/>
          <p:cNvSpPr/>
          <p:nvPr/>
        </p:nvSpPr>
        <p:spPr>
          <a:xfrm>
            <a:off x="5800344" y="2435352"/>
            <a:ext cx="2874264" cy="1804416"/>
          </a:xfrm>
          <a:prstGeom prst="roundRect">
            <a:avLst>
              <a:gd name="adj" fmla="val 5068"/>
            </a:avLst>
          </a:prstGeom>
          <a:solidFill>
            <a:srgbClr val="FFFFFF"/>
          </a:solidFill>
          <a:ln w="15875">
            <a:solidFill>
              <a:srgbClr val="6E4A9E"/>
            </a:solidFill>
            <a:prstDash val="solid"/>
          </a:ln>
        </p:spPr>
      </p:sp>
      <p:sp>
        <p:nvSpPr>
          <p:cNvPr id="20" name="Text 15"/>
          <p:cNvSpPr txBox="1"/>
          <p:nvPr/>
        </p:nvSpPr>
        <p:spPr>
          <a:xfrm>
            <a:off x="5937504" y="2481072"/>
            <a:ext cx="2599944" cy="171297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geld </a:t>
            </a:r>
            <a:r>
              <a:rPr lang="en-US" sz="1600" i="1" dirty="0">
                <a:solidFill>
                  <a:schemeClr val="accent5"/>
                </a:solidFill>
              </a:rPr>
              <a:t>…………</a:t>
            </a:r>
            <a:r>
              <a:rPr lang="en-US" sz="1600" i="1" dirty="0">
                <a:solidFill>
                  <a:schemeClr val="tx1"/>
                </a:solidFill>
              </a:rPr>
              <a:t>, </a:t>
            </a:r>
            <a:r>
              <a:rPr lang="en-US" sz="1600" i="1" dirty="0">
                <a:solidFill>
                  <a:schemeClr val="accent5"/>
                </a:solidFill>
              </a:rPr>
              <a:t>…………</a:t>
            </a:r>
            <a:r>
              <a:rPr lang="en-US" sz="1600" i="1" dirty="0">
                <a:solidFill>
                  <a:schemeClr val="tx1"/>
                </a:solidFill>
              </a:rPr>
              <a:t> ik een huis </a:t>
            </a:r>
            <a:r>
              <a:rPr lang="en-US" sz="1600" i="1" dirty="0">
                <a:solidFill>
                  <a:schemeClr val="accent5"/>
                </a:solidFill>
              </a:rPr>
              <a:t>…………</a:t>
            </a:r>
            <a:r>
              <a:rPr lang="en-US" sz="1600" i="1" dirty="0">
                <a:solidFill>
                  <a:schemeClr val="tx1"/>
                </a:solidFill>
              </a:rPr>
              <a:t>.</a:t>
            </a:r>
            <a:endParaRPr lang="en-US" sz="1600" dirty="0"/>
          </a:p>
        </p:txBody>
      </p:sp>
      <p:sp>
        <p:nvSpPr>
          <p:cNvPr id="21" name="Shape 16"/>
          <p:cNvSpPr/>
          <p:nvPr/>
        </p:nvSpPr>
        <p:spPr>
          <a:xfrm>
            <a:off x="8766048" y="2435352"/>
            <a:ext cx="2874264" cy="1804416"/>
          </a:xfrm>
          <a:prstGeom prst="roundRect">
            <a:avLst>
              <a:gd name="adj" fmla="val 5068"/>
            </a:avLst>
          </a:prstGeom>
          <a:solidFill>
            <a:srgbClr val="FFFFFF"/>
          </a:solidFill>
          <a:ln w="15875">
            <a:solidFill>
              <a:srgbClr val="45306A"/>
            </a:solidFill>
            <a:prstDash val="solid"/>
          </a:ln>
        </p:spPr>
      </p:sp>
      <p:sp>
        <p:nvSpPr>
          <p:cNvPr id="22" name="Text 17"/>
          <p:cNvSpPr txBox="1"/>
          <p:nvPr/>
        </p:nvSpPr>
        <p:spPr>
          <a:xfrm>
            <a:off x="8903208" y="2481072"/>
            <a:ext cx="2599944" cy="171297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geld </a:t>
            </a:r>
            <a:r>
              <a:rPr lang="en-US" sz="1600" i="1" dirty="0">
                <a:solidFill>
                  <a:schemeClr val="accent5"/>
                </a:solidFill>
              </a:rPr>
              <a:t>……………</a:t>
            </a:r>
            <a:r>
              <a:rPr lang="en-US" sz="1600" i="1" dirty="0">
                <a:solidFill>
                  <a:schemeClr val="tx1"/>
                </a:solidFill>
              </a:rPr>
              <a:t>, </a:t>
            </a:r>
            <a:r>
              <a:rPr lang="en-US" sz="1600" i="1" dirty="0">
                <a:solidFill>
                  <a:schemeClr val="accent5"/>
                </a:solidFill>
              </a:rPr>
              <a:t>…………</a:t>
            </a:r>
            <a:r>
              <a:rPr lang="en-US" sz="1600" i="1" dirty="0">
                <a:solidFill>
                  <a:schemeClr val="tx1"/>
                </a:solidFill>
              </a:rPr>
              <a:t> ik een huis </a:t>
            </a:r>
            <a:r>
              <a:rPr lang="en-US" sz="1600" i="1" dirty="0">
                <a:solidFill>
                  <a:schemeClr val="accent5"/>
                </a:solidFill>
              </a:rPr>
              <a:t>…………</a:t>
            </a:r>
            <a:r>
              <a:rPr lang="en-US" sz="1600" i="1" dirty="0">
                <a:solidFill>
                  <a:schemeClr val="tx1"/>
                </a:solidFill>
              </a:rPr>
              <a:t>.</a:t>
            </a:r>
            <a:endParaRPr lang="en-US" sz="1600" dirty="0"/>
          </a:p>
        </p:txBody>
      </p:sp>
      <p:sp>
        <p:nvSpPr>
          <p:cNvPr id="23" name="Shape 18"/>
          <p:cNvSpPr/>
          <p:nvPr/>
        </p:nvSpPr>
        <p:spPr>
          <a:xfrm>
            <a:off x="548640" y="4349496"/>
            <a:ext cx="2194560" cy="1804416"/>
          </a:xfrm>
          <a:prstGeom prst="roundRect">
            <a:avLst>
              <a:gd name="adj" fmla="val 5068"/>
            </a:avLst>
          </a:prstGeom>
          <a:solidFill>
            <a:schemeClr val="bg2"/>
          </a:solidFill>
          <a:ln w="12700">
            <a:solidFill>
              <a:srgbClr val="D5DCE6"/>
            </a:solidFill>
            <a:prstDash val="solid"/>
          </a:ln>
        </p:spPr>
      </p:sp>
      <p:pic>
        <p:nvPicPr>
          <p:cNvPr id="24" name="Image 2" descr="light bulb">    </p:cNvPr>
          <p:cNvPicPr>
            <a:picLocks noChangeAspect="1"/>
          </p:cNvPicPr>
          <p:nvPr/>
        </p:nvPicPr>
        <p:blipFill>
          <a:blip r:embed="rId3"/>
          <a:stretch>
            <a:fillRect/>
          </a:stretch>
        </p:blipFill>
        <p:spPr>
          <a:xfrm>
            <a:off x="1280160" y="4486656"/>
            <a:ext cx="731520" cy="731520"/>
          </a:xfrm>
          <a:prstGeom prst="rect">
            <a:avLst/>
          </a:prstGeom>
        </p:spPr>
      </p:pic>
      <p:sp>
        <p:nvSpPr>
          <p:cNvPr id="25" name="Text 19"/>
          <p:cNvSpPr txBox="1"/>
          <p:nvPr/>
        </p:nvSpPr>
        <p:spPr>
          <a:xfrm>
            <a:off x="640080" y="5263896"/>
            <a:ext cx="2011680" cy="816864"/>
          </a:xfrm>
          <a:prstGeom prst="rect">
            <a:avLst/>
          </a:prstGeom>
          <a:noFill/>
          <a:ln/>
        </p:spPr>
        <p:txBody>
          <a:bodyPr wrap="square" lIns="0" tIns="0" rIns="0" bIns="0" rtlCol="0" anchor="ctr"/>
          <a:lstStyle/>
          <a:p>
            <a:pPr algn="ctr" indent="0" marL="0">
              <a:buNone/>
            </a:pPr>
            <a:r>
              <a:rPr lang="en-US" sz="1400" b="1" dirty="0">
                <a:solidFill>
                  <a:schemeClr val="tx1"/>
                </a:solidFill>
              </a:rPr>
              <a:t>het weten → je helpen</a:t>
            </a:r>
            <a:endParaRPr lang="en-US" sz="1400" dirty="0"/>
          </a:p>
        </p:txBody>
      </p:sp>
      <p:sp>
        <p:nvSpPr>
          <p:cNvPr id="26" name="Shape 20"/>
          <p:cNvSpPr/>
          <p:nvPr/>
        </p:nvSpPr>
        <p:spPr>
          <a:xfrm>
            <a:off x="2834640" y="4349496"/>
            <a:ext cx="2874264" cy="1804416"/>
          </a:xfrm>
          <a:prstGeom prst="roundRect">
            <a:avLst>
              <a:gd name="adj" fmla="val 5068"/>
            </a:avLst>
          </a:prstGeom>
          <a:solidFill>
            <a:srgbClr val="FFFFFF"/>
          </a:solidFill>
          <a:ln w="15875">
            <a:solidFill>
              <a:srgbClr val="2A6FB0"/>
            </a:solidFill>
            <a:prstDash val="solid"/>
          </a:ln>
        </p:spPr>
      </p:sp>
      <p:sp>
        <p:nvSpPr>
          <p:cNvPr id="27" name="Text 21"/>
          <p:cNvSpPr txBox="1"/>
          <p:nvPr/>
        </p:nvSpPr>
        <p:spPr>
          <a:xfrm>
            <a:off x="2971800" y="4395216"/>
            <a:ext cx="2599944" cy="171297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het </a:t>
            </a:r>
            <a:r>
              <a:rPr lang="en-US" sz="1600" i="1" dirty="0">
                <a:solidFill>
                  <a:schemeClr val="accent5"/>
                </a:solidFill>
              </a:rPr>
              <a:t>…………</a:t>
            </a:r>
            <a:r>
              <a:rPr lang="en-US" sz="1600" i="1" dirty="0">
                <a:solidFill>
                  <a:schemeClr val="tx1"/>
                </a:solidFill>
              </a:rPr>
              <a:t>, </a:t>
            </a:r>
            <a:r>
              <a:rPr lang="en-US" sz="1600" i="1" dirty="0">
                <a:solidFill>
                  <a:schemeClr val="accent5"/>
                </a:solidFill>
              </a:rPr>
              <a:t>…………</a:t>
            </a:r>
            <a:r>
              <a:rPr lang="en-US" sz="1600" i="1" dirty="0">
                <a:solidFill>
                  <a:schemeClr val="tx1"/>
                </a:solidFill>
              </a:rPr>
              <a:t> ik je.</a:t>
            </a:r>
            <a:endParaRPr lang="en-US" sz="1600" dirty="0"/>
          </a:p>
        </p:txBody>
      </p:sp>
      <p:sp>
        <p:nvSpPr>
          <p:cNvPr id="28" name="Shape 22"/>
          <p:cNvSpPr/>
          <p:nvPr/>
        </p:nvSpPr>
        <p:spPr>
          <a:xfrm>
            <a:off x="5800344" y="4349496"/>
            <a:ext cx="2874264" cy="1804416"/>
          </a:xfrm>
          <a:prstGeom prst="roundRect">
            <a:avLst>
              <a:gd name="adj" fmla="val 5068"/>
            </a:avLst>
          </a:prstGeom>
          <a:solidFill>
            <a:srgbClr val="FFFFFF"/>
          </a:solidFill>
          <a:ln w="15875">
            <a:solidFill>
              <a:srgbClr val="6E4A9E"/>
            </a:solidFill>
            <a:prstDash val="solid"/>
          </a:ln>
        </p:spPr>
      </p:sp>
      <p:sp>
        <p:nvSpPr>
          <p:cNvPr id="29" name="Text 23"/>
          <p:cNvSpPr txBox="1"/>
          <p:nvPr/>
        </p:nvSpPr>
        <p:spPr>
          <a:xfrm>
            <a:off x="5937504" y="4395216"/>
            <a:ext cx="2599944" cy="171297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het </a:t>
            </a:r>
            <a:r>
              <a:rPr lang="en-US" sz="1600" i="1" dirty="0">
                <a:solidFill>
                  <a:schemeClr val="accent5"/>
                </a:solidFill>
              </a:rPr>
              <a:t>…………</a:t>
            </a:r>
            <a:r>
              <a:rPr lang="en-US" sz="1600" i="1" dirty="0">
                <a:solidFill>
                  <a:schemeClr val="tx1"/>
                </a:solidFill>
              </a:rPr>
              <a:t>, </a:t>
            </a:r>
            <a:r>
              <a:rPr lang="en-US" sz="1600" i="1" dirty="0">
                <a:solidFill>
                  <a:schemeClr val="accent5"/>
                </a:solidFill>
              </a:rPr>
              <a:t>…………</a:t>
            </a:r>
            <a:r>
              <a:rPr lang="en-US" sz="1600" i="1" dirty="0">
                <a:solidFill>
                  <a:schemeClr val="tx1"/>
                </a:solidFill>
              </a:rPr>
              <a:t> ik je </a:t>
            </a:r>
            <a:r>
              <a:rPr lang="en-US" sz="1600" i="1" dirty="0">
                <a:solidFill>
                  <a:schemeClr val="accent5"/>
                </a:solidFill>
              </a:rPr>
              <a:t>…………</a:t>
            </a:r>
            <a:r>
              <a:rPr lang="en-US" sz="1600" i="1" dirty="0">
                <a:solidFill>
                  <a:schemeClr val="tx1"/>
                </a:solidFill>
              </a:rPr>
              <a:t>.</a:t>
            </a:r>
            <a:endParaRPr lang="en-US" sz="1600" dirty="0"/>
          </a:p>
        </p:txBody>
      </p:sp>
      <p:sp>
        <p:nvSpPr>
          <p:cNvPr id="30" name="Shape 24"/>
          <p:cNvSpPr/>
          <p:nvPr/>
        </p:nvSpPr>
        <p:spPr>
          <a:xfrm>
            <a:off x="8766048" y="4349496"/>
            <a:ext cx="2874264" cy="1804416"/>
          </a:xfrm>
          <a:prstGeom prst="roundRect">
            <a:avLst>
              <a:gd name="adj" fmla="val 5068"/>
            </a:avLst>
          </a:prstGeom>
          <a:solidFill>
            <a:srgbClr val="FFFFFF"/>
          </a:solidFill>
          <a:ln w="15875">
            <a:solidFill>
              <a:srgbClr val="45306A"/>
            </a:solidFill>
            <a:prstDash val="solid"/>
          </a:ln>
        </p:spPr>
      </p:sp>
      <p:sp>
        <p:nvSpPr>
          <p:cNvPr id="31" name="Text 25"/>
          <p:cNvSpPr txBox="1"/>
          <p:nvPr/>
        </p:nvSpPr>
        <p:spPr>
          <a:xfrm>
            <a:off x="8903208" y="4395216"/>
            <a:ext cx="2599944" cy="171297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het </a:t>
            </a:r>
            <a:r>
              <a:rPr lang="en-US" sz="1600" i="1" dirty="0">
                <a:solidFill>
                  <a:schemeClr val="accent5"/>
                </a:solidFill>
              </a:rPr>
              <a:t>…………………</a:t>
            </a:r>
            <a:r>
              <a:rPr lang="en-US" sz="1600" i="1" dirty="0">
                <a:solidFill>
                  <a:schemeClr val="tx1"/>
                </a:solidFill>
              </a:rPr>
              <a:t>, </a:t>
            </a:r>
            <a:r>
              <a:rPr lang="en-US" sz="1600" i="1" dirty="0">
                <a:solidFill>
                  <a:schemeClr val="accent5"/>
                </a:solidFill>
              </a:rPr>
              <a:t>…………</a:t>
            </a:r>
            <a:r>
              <a:rPr lang="en-US" sz="1600" i="1" dirty="0">
                <a:solidFill>
                  <a:schemeClr val="tx1"/>
                </a:solidFill>
              </a:rPr>
              <a:t> ik je </a:t>
            </a:r>
            <a:r>
              <a:rPr lang="en-US" sz="1600" i="1" dirty="0">
                <a:solidFill>
                  <a:schemeClr val="accent5"/>
                </a:solidFill>
              </a:rPr>
              <a:t>……………</a:t>
            </a:r>
            <a:r>
              <a:rPr lang="en-US" sz="1600" i="1"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Si… si… si… : trois hypothèses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Écrivez chaque situation aux trois niveaux : réel, imaginaire, irréel passé.</a:t>
            </a:r>
            <a:endParaRPr lang="en-US" sz="1700" dirty="0"/>
          </a:p>
        </p:txBody>
      </p:sp>
      <p:sp>
        <p:nvSpPr>
          <p:cNvPr id="9" name="Shape 5"/>
          <p:cNvSpPr/>
          <p:nvPr/>
        </p:nvSpPr>
        <p:spPr>
          <a:xfrm>
            <a:off x="2834640" y="1932432"/>
            <a:ext cx="2874264" cy="411480"/>
          </a:xfrm>
          <a:prstGeom prst="roundRect">
            <a:avLst>
              <a:gd name="adj" fmla="val 17778"/>
            </a:avLst>
          </a:prstGeom>
          <a:solidFill>
            <a:schemeClr val="accent2"/>
          </a:solidFill>
          <a:ln w="12700">
            <a:solidFill>
              <a:srgbClr val="FFFFFF">
                <a:alpha val="0"/>
              </a:srgbClr>
            </a:solidFill>
            <a:prstDash val="solid"/>
          </a:ln>
        </p:spPr>
      </p:sp>
      <p:sp>
        <p:nvSpPr>
          <p:cNvPr id="10" name="Text 6"/>
          <p:cNvSpPr txBox="1"/>
          <p:nvPr/>
        </p:nvSpPr>
        <p:spPr>
          <a:xfrm>
            <a:off x="2834640" y="1932432"/>
            <a:ext cx="2874264" cy="411480"/>
          </a:xfrm>
          <a:prstGeom prst="rect">
            <a:avLst/>
          </a:prstGeom>
          <a:noFill/>
          <a:ln/>
        </p:spPr>
        <p:txBody>
          <a:bodyPr wrap="square" lIns="0" tIns="0" rIns="0" bIns="0" rtlCol="0" anchor="ctr"/>
          <a:lstStyle/>
          <a:p>
            <a:pPr algn="ctr" indent="0" marL="0">
              <a:buNone/>
            </a:pPr>
            <a:r>
              <a:rPr lang="en-US" sz="1400" b="1" dirty="0">
                <a:solidFill>
                  <a:schemeClr val="bg1"/>
                </a:solidFill>
              </a:rPr>
              <a:t>① RÉEL</a:t>
            </a:r>
            <a:endParaRPr lang="en-US" sz="1400" dirty="0"/>
          </a:p>
        </p:txBody>
      </p:sp>
      <p:sp>
        <p:nvSpPr>
          <p:cNvPr id="11" name="Shape 7"/>
          <p:cNvSpPr/>
          <p:nvPr/>
        </p:nvSpPr>
        <p:spPr>
          <a:xfrm>
            <a:off x="5800344" y="1932432"/>
            <a:ext cx="2874264" cy="411480"/>
          </a:xfrm>
          <a:prstGeom prst="roundRect">
            <a:avLst>
              <a:gd name="adj" fmla="val 17778"/>
            </a:avLst>
          </a:prstGeom>
          <a:solidFill>
            <a:srgbClr val="6E4A9E"/>
          </a:solidFill>
          <a:ln w="12700">
            <a:solidFill>
              <a:srgbClr val="FFFFFF">
                <a:alpha val="0"/>
              </a:srgbClr>
            </a:solidFill>
            <a:prstDash val="solid"/>
          </a:ln>
        </p:spPr>
      </p:sp>
      <p:sp>
        <p:nvSpPr>
          <p:cNvPr id="12" name="Text 8"/>
          <p:cNvSpPr txBox="1"/>
          <p:nvPr/>
        </p:nvSpPr>
        <p:spPr>
          <a:xfrm>
            <a:off x="5800344" y="1932432"/>
            <a:ext cx="2874264" cy="411480"/>
          </a:xfrm>
          <a:prstGeom prst="rect">
            <a:avLst/>
          </a:prstGeom>
          <a:noFill/>
          <a:ln/>
        </p:spPr>
        <p:txBody>
          <a:bodyPr wrap="square" lIns="0" tIns="0" rIns="0" bIns="0" rtlCol="0" anchor="ctr"/>
          <a:lstStyle/>
          <a:p>
            <a:pPr algn="ctr" indent="0" marL="0">
              <a:buNone/>
            </a:pPr>
            <a:r>
              <a:rPr lang="en-US" sz="1400" b="1" dirty="0">
                <a:solidFill>
                  <a:schemeClr val="bg1"/>
                </a:solidFill>
              </a:rPr>
              <a:t>② IMAGINAIRE</a:t>
            </a:r>
            <a:endParaRPr lang="en-US" sz="1400" dirty="0"/>
          </a:p>
        </p:txBody>
      </p:sp>
      <p:sp>
        <p:nvSpPr>
          <p:cNvPr id="13" name="Shape 9"/>
          <p:cNvSpPr/>
          <p:nvPr/>
        </p:nvSpPr>
        <p:spPr>
          <a:xfrm>
            <a:off x="8766048" y="1932432"/>
            <a:ext cx="2874264" cy="411480"/>
          </a:xfrm>
          <a:prstGeom prst="roundRect">
            <a:avLst>
              <a:gd name="adj" fmla="val 17778"/>
            </a:avLst>
          </a:prstGeom>
          <a:solidFill>
            <a:srgbClr val="45306A"/>
          </a:solidFill>
          <a:ln w="12700">
            <a:solidFill>
              <a:srgbClr val="FFFFFF">
                <a:alpha val="0"/>
              </a:srgbClr>
            </a:solidFill>
            <a:prstDash val="solid"/>
          </a:ln>
        </p:spPr>
      </p:sp>
      <p:sp>
        <p:nvSpPr>
          <p:cNvPr id="14" name="Text 10"/>
          <p:cNvSpPr txBox="1"/>
          <p:nvPr/>
        </p:nvSpPr>
        <p:spPr>
          <a:xfrm>
            <a:off x="8766048" y="1932432"/>
            <a:ext cx="2874264" cy="411480"/>
          </a:xfrm>
          <a:prstGeom prst="rect">
            <a:avLst/>
          </a:prstGeom>
          <a:noFill/>
          <a:ln/>
        </p:spPr>
        <p:txBody>
          <a:bodyPr wrap="square" lIns="0" tIns="0" rIns="0" bIns="0" rtlCol="0" anchor="ctr"/>
          <a:lstStyle/>
          <a:p>
            <a:pPr algn="ctr" indent="0" marL="0">
              <a:buNone/>
            </a:pPr>
            <a:r>
              <a:rPr lang="en-US" sz="1400" b="1" dirty="0">
                <a:solidFill>
                  <a:schemeClr val="bg1"/>
                </a:solidFill>
              </a:rPr>
              <a:t>③ IRRÉEL PASSÉ</a:t>
            </a:r>
            <a:endParaRPr lang="en-US" sz="1400" dirty="0"/>
          </a:p>
        </p:txBody>
      </p:sp>
      <p:sp>
        <p:nvSpPr>
          <p:cNvPr id="15" name="Text 11"/>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Aussi : ② </a:t>
            </a:r>
            <a:r>
              <a:rPr lang="en-US" sz="1300" i="1" dirty="0">
                <a:solidFill>
                  <a:schemeClr val="accent5"/>
                </a:solidFill>
              </a:rPr>
              <a:t>Als ik geld zou hebben, …</a:t>
            </a:r>
            <a:r>
              <a:rPr lang="en-US" sz="1300" i="1" dirty="0">
                <a:solidFill>
                  <a:schemeClr val="accent5"/>
                </a:solidFill>
              </a:rPr>
              <a:t> · ③ </a:t>
            </a:r>
            <a:r>
              <a:rPr lang="en-US" sz="1300" i="1" dirty="0">
                <a:solidFill>
                  <a:schemeClr val="accent5"/>
                </a:solidFill>
              </a:rPr>
              <a:t>…, zou ik een huis gekocht hebben · had gehad, had geweten</a:t>
            </a:r>
            <a:r>
              <a:rPr lang="en-US" sz="1300" i="1" dirty="0">
                <a:solidFill>
                  <a:schemeClr val="accent5"/>
                </a:solidFill>
              </a:rPr>
              <a:t> (ordre libre).</a:t>
            </a:r>
            <a:endParaRPr lang="en-US" sz="1300" dirty="0"/>
          </a:p>
        </p:txBody>
      </p:sp>
      <p:sp>
        <p:nvSpPr>
          <p:cNvPr id="16" name="Shape 12"/>
          <p:cNvSpPr/>
          <p:nvPr/>
        </p:nvSpPr>
        <p:spPr>
          <a:xfrm>
            <a:off x="548640" y="2435352"/>
            <a:ext cx="2194560" cy="1621536"/>
          </a:xfrm>
          <a:prstGeom prst="roundRect">
            <a:avLst>
              <a:gd name="adj" fmla="val 5639"/>
            </a:avLst>
          </a:prstGeom>
          <a:solidFill>
            <a:schemeClr val="bg2"/>
          </a:solidFill>
          <a:ln w="12700">
            <a:solidFill>
              <a:srgbClr val="D5DCE6"/>
            </a:solidFill>
            <a:prstDash val="solid"/>
          </a:ln>
        </p:spPr>
      </p:sp>
      <p:pic>
        <p:nvPicPr>
          <p:cNvPr id="17" name="Image 1" descr="money bag">    </p:cNvPr>
          <p:cNvPicPr>
            <a:picLocks noChangeAspect="1"/>
          </p:cNvPicPr>
          <p:nvPr/>
        </p:nvPicPr>
        <p:blipFill>
          <a:blip r:embed="rId2"/>
          <a:stretch>
            <a:fillRect/>
          </a:stretch>
        </p:blipFill>
        <p:spPr>
          <a:xfrm>
            <a:off x="1280160" y="2572512"/>
            <a:ext cx="731520" cy="731520"/>
          </a:xfrm>
          <a:prstGeom prst="rect">
            <a:avLst/>
          </a:prstGeom>
        </p:spPr>
      </p:pic>
      <p:sp>
        <p:nvSpPr>
          <p:cNvPr id="18" name="Text 13"/>
          <p:cNvSpPr txBox="1"/>
          <p:nvPr/>
        </p:nvSpPr>
        <p:spPr>
          <a:xfrm>
            <a:off x="640080" y="3349752"/>
            <a:ext cx="2011680" cy="633984"/>
          </a:xfrm>
          <a:prstGeom prst="rect">
            <a:avLst/>
          </a:prstGeom>
          <a:noFill/>
          <a:ln/>
        </p:spPr>
        <p:txBody>
          <a:bodyPr wrap="square" lIns="0" tIns="0" rIns="0" bIns="0" rtlCol="0" anchor="ctr"/>
          <a:lstStyle/>
          <a:p>
            <a:pPr algn="ctr" indent="0" marL="0">
              <a:buNone/>
            </a:pPr>
            <a:r>
              <a:rPr lang="en-US" sz="1400" b="1" dirty="0">
                <a:solidFill>
                  <a:schemeClr val="tx1"/>
                </a:solidFill>
              </a:rPr>
              <a:t>geld hebben → een huis kopen</a:t>
            </a:r>
            <a:endParaRPr lang="en-US" sz="1400" dirty="0"/>
          </a:p>
        </p:txBody>
      </p:sp>
      <p:sp>
        <p:nvSpPr>
          <p:cNvPr id="19" name="Shape 14"/>
          <p:cNvSpPr/>
          <p:nvPr/>
        </p:nvSpPr>
        <p:spPr>
          <a:xfrm>
            <a:off x="2834640" y="2435352"/>
            <a:ext cx="2874264" cy="1621536"/>
          </a:xfrm>
          <a:prstGeom prst="roundRect">
            <a:avLst>
              <a:gd name="adj" fmla="val 5639"/>
            </a:avLst>
          </a:prstGeom>
          <a:solidFill>
            <a:srgbClr val="FFFFFF"/>
          </a:solidFill>
          <a:ln w="15875">
            <a:solidFill>
              <a:srgbClr val="2A6FB0"/>
            </a:solidFill>
            <a:prstDash val="solid"/>
          </a:ln>
        </p:spPr>
      </p:sp>
      <p:sp>
        <p:nvSpPr>
          <p:cNvPr id="20" name="Text 15"/>
          <p:cNvSpPr txBox="1"/>
          <p:nvPr/>
        </p:nvSpPr>
        <p:spPr>
          <a:xfrm>
            <a:off x="2971800" y="2481072"/>
            <a:ext cx="2599944" cy="153009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geld </a:t>
            </a:r>
            <a:r>
              <a:rPr lang="en-US" sz="1600" b="1" i="1" dirty="0">
                <a:solidFill>
                  <a:schemeClr val="accent3"/>
                </a:solidFill>
              </a:rPr>
              <a:t>heb</a:t>
            </a:r>
            <a:r>
              <a:rPr lang="en-US" sz="1600" i="1" dirty="0">
                <a:solidFill>
                  <a:schemeClr val="tx1"/>
                </a:solidFill>
              </a:rPr>
              <a:t>, </a:t>
            </a:r>
            <a:r>
              <a:rPr lang="en-US" sz="1600" b="1" i="1" dirty="0">
                <a:solidFill>
                  <a:schemeClr val="accent3"/>
                </a:solidFill>
              </a:rPr>
              <a:t>koop</a:t>
            </a:r>
            <a:r>
              <a:rPr lang="en-US" sz="1600" i="1" dirty="0">
                <a:solidFill>
                  <a:schemeClr val="tx1"/>
                </a:solidFill>
              </a:rPr>
              <a:t> ik een huis.</a:t>
            </a:r>
            <a:endParaRPr lang="en-US" sz="1600" dirty="0"/>
          </a:p>
        </p:txBody>
      </p:sp>
      <p:sp>
        <p:nvSpPr>
          <p:cNvPr id="21" name="Shape 16"/>
          <p:cNvSpPr/>
          <p:nvPr/>
        </p:nvSpPr>
        <p:spPr>
          <a:xfrm>
            <a:off x="5800344" y="2435352"/>
            <a:ext cx="2874264" cy="1621536"/>
          </a:xfrm>
          <a:prstGeom prst="roundRect">
            <a:avLst>
              <a:gd name="adj" fmla="val 5639"/>
            </a:avLst>
          </a:prstGeom>
          <a:solidFill>
            <a:srgbClr val="FFFFFF"/>
          </a:solidFill>
          <a:ln w="15875">
            <a:solidFill>
              <a:srgbClr val="6E4A9E"/>
            </a:solidFill>
            <a:prstDash val="solid"/>
          </a:ln>
        </p:spPr>
      </p:sp>
      <p:sp>
        <p:nvSpPr>
          <p:cNvPr id="22" name="Text 17"/>
          <p:cNvSpPr txBox="1"/>
          <p:nvPr/>
        </p:nvSpPr>
        <p:spPr>
          <a:xfrm>
            <a:off x="5937504" y="2481072"/>
            <a:ext cx="2599944" cy="153009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geld </a:t>
            </a:r>
            <a:r>
              <a:rPr lang="en-US" sz="1600" b="1" i="1" dirty="0">
                <a:solidFill>
                  <a:schemeClr val="accent3"/>
                </a:solidFill>
              </a:rPr>
              <a:t>had</a:t>
            </a:r>
            <a:r>
              <a:rPr lang="en-US" sz="1600" i="1" dirty="0">
                <a:solidFill>
                  <a:schemeClr val="tx1"/>
                </a:solidFill>
              </a:rPr>
              <a:t>, </a:t>
            </a:r>
            <a:r>
              <a:rPr lang="en-US" sz="1600" b="1" i="1" dirty="0">
                <a:solidFill>
                  <a:schemeClr val="accent3"/>
                </a:solidFill>
              </a:rPr>
              <a:t>zou</a:t>
            </a:r>
            <a:r>
              <a:rPr lang="en-US" sz="1600" i="1" dirty="0">
                <a:solidFill>
                  <a:schemeClr val="tx1"/>
                </a:solidFill>
              </a:rPr>
              <a:t> ik een huis </a:t>
            </a:r>
            <a:r>
              <a:rPr lang="en-US" sz="1600" b="1" i="1" dirty="0">
                <a:solidFill>
                  <a:schemeClr val="accent3"/>
                </a:solidFill>
              </a:rPr>
              <a:t>kopen</a:t>
            </a:r>
            <a:r>
              <a:rPr lang="en-US" sz="1600" i="1" dirty="0">
                <a:solidFill>
                  <a:schemeClr val="tx1"/>
                </a:solidFill>
              </a:rPr>
              <a:t>.</a:t>
            </a:r>
            <a:endParaRPr lang="en-US" sz="1600" dirty="0"/>
          </a:p>
        </p:txBody>
      </p:sp>
      <p:sp>
        <p:nvSpPr>
          <p:cNvPr id="23" name="Shape 18"/>
          <p:cNvSpPr/>
          <p:nvPr/>
        </p:nvSpPr>
        <p:spPr>
          <a:xfrm>
            <a:off x="8766048" y="2435352"/>
            <a:ext cx="2874264" cy="1621536"/>
          </a:xfrm>
          <a:prstGeom prst="roundRect">
            <a:avLst>
              <a:gd name="adj" fmla="val 5639"/>
            </a:avLst>
          </a:prstGeom>
          <a:solidFill>
            <a:srgbClr val="FFFFFF"/>
          </a:solidFill>
          <a:ln w="15875">
            <a:solidFill>
              <a:srgbClr val="45306A"/>
            </a:solidFill>
            <a:prstDash val="solid"/>
          </a:ln>
        </p:spPr>
      </p:sp>
      <p:sp>
        <p:nvSpPr>
          <p:cNvPr id="24" name="Text 19"/>
          <p:cNvSpPr txBox="1"/>
          <p:nvPr/>
        </p:nvSpPr>
        <p:spPr>
          <a:xfrm>
            <a:off x="8903208" y="2481072"/>
            <a:ext cx="2599944" cy="153009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geld </a:t>
            </a:r>
            <a:r>
              <a:rPr lang="en-US" sz="1600" b="1" i="1" dirty="0">
                <a:solidFill>
                  <a:schemeClr val="accent3"/>
                </a:solidFill>
              </a:rPr>
              <a:t>gehad had</a:t>
            </a:r>
            <a:r>
              <a:rPr lang="en-US" sz="1600" i="1" dirty="0">
                <a:solidFill>
                  <a:schemeClr val="tx1"/>
                </a:solidFill>
              </a:rPr>
              <a:t>, </a:t>
            </a:r>
            <a:r>
              <a:rPr lang="en-US" sz="1600" b="1" i="1" dirty="0">
                <a:solidFill>
                  <a:schemeClr val="accent3"/>
                </a:solidFill>
              </a:rPr>
              <a:t>had</a:t>
            </a:r>
            <a:r>
              <a:rPr lang="en-US" sz="1600" i="1" dirty="0">
                <a:solidFill>
                  <a:schemeClr val="tx1"/>
                </a:solidFill>
              </a:rPr>
              <a:t> ik een huis </a:t>
            </a:r>
            <a:r>
              <a:rPr lang="en-US" sz="1600" b="1" i="1" dirty="0">
                <a:solidFill>
                  <a:schemeClr val="accent3"/>
                </a:solidFill>
              </a:rPr>
              <a:t>gekocht</a:t>
            </a:r>
            <a:r>
              <a:rPr lang="en-US" sz="1600" i="1" dirty="0">
                <a:solidFill>
                  <a:schemeClr val="tx1"/>
                </a:solidFill>
              </a:rPr>
              <a:t>.</a:t>
            </a:r>
            <a:endParaRPr lang="en-US" sz="1600" dirty="0"/>
          </a:p>
        </p:txBody>
      </p:sp>
      <p:sp>
        <p:nvSpPr>
          <p:cNvPr id="25" name="Shape 20"/>
          <p:cNvSpPr/>
          <p:nvPr/>
        </p:nvSpPr>
        <p:spPr>
          <a:xfrm>
            <a:off x="548640" y="4166616"/>
            <a:ext cx="2194560" cy="1621536"/>
          </a:xfrm>
          <a:prstGeom prst="roundRect">
            <a:avLst>
              <a:gd name="adj" fmla="val 5639"/>
            </a:avLst>
          </a:prstGeom>
          <a:solidFill>
            <a:schemeClr val="bg2"/>
          </a:solidFill>
          <a:ln w="12700">
            <a:solidFill>
              <a:srgbClr val="D5DCE6"/>
            </a:solidFill>
            <a:prstDash val="solid"/>
          </a:ln>
        </p:spPr>
      </p:sp>
      <p:pic>
        <p:nvPicPr>
          <p:cNvPr id="26" name="Image 2" descr="light bulb">    </p:cNvPr>
          <p:cNvPicPr>
            <a:picLocks noChangeAspect="1"/>
          </p:cNvPicPr>
          <p:nvPr/>
        </p:nvPicPr>
        <p:blipFill>
          <a:blip r:embed="rId3"/>
          <a:stretch>
            <a:fillRect/>
          </a:stretch>
        </p:blipFill>
        <p:spPr>
          <a:xfrm>
            <a:off x="1280160" y="4303776"/>
            <a:ext cx="731520" cy="731520"/>
          </a:xfrm>
          <a:prstGeom prst="rect">
            <a:avLst/>
          </a:prstGeom>
        </p:spPr>
      </p:pic>
      <p:sp>
        <p:nvSpPr>
          <p:cNvPr id="27" name="Text 21"/>
          <p:cNvSpPr txBox="1"/>
          <p:nvPr/>
        </p:nvSpPr>
        <p:spPr>
          <a:xfrm>
            <a:off x="640080" y="5081016"/>
            <a:ext cx="2011680" cy="633984"/>
          </a:xfrm>
          <a:prstGeom prst="rect">
            <a:avLst/>
          </a:prstGeom>
          <a:noFill/>
          <a:ln/>
        </p:spPr>
        <p:txBody>
          <a:bodyPr wrap="square" lIns="0" tIns="0" rIns="0" bIns="0" rtlCol="0" anchor="ctr"/>
          <a:lstStyle/>
          <a:p>
            <a:pPr algn="ctr" indent="0" marL="0">
              <a:buNone/>
            </a:pPr>
            <a:r>
              <a:rPr lang="en-US" sz="1400" b="1" dirty="0">
                <a:solidFill>
                  <a:schemeClr val="tx1"/>
                </a:solidFill>
              </a:rPr>
              <a:t>het weten → je helpen</a:t>
            </a:r>
            <a:endParaRPr lang="en-US" sz="1400" dirty="0"/>
          </a:p>
        </p:txBody>
      </p:sp>
      <p:sp>
        <p:nvSpPr>
          <p:cNvPr id="28" name="Shape 22"/>
          <p:cNvSpPr/>
          <p:nvPr/>
        </p:nvSpPr>
        <p:spPr>
          <a:xfrm>
            <a:off x="2834640" y="4166616"/>
            <a:ext cx="2874264" cy="1621536"/>
          </a:xfrm>
          <a:prstGeom prst="roundRect">
            <a:avLst>
              <a:gd name="adj" fmla="val 5639"/>
            </a:avLst>
          </a:prstGeom>
          <a:solidFill>
            <a:srgbClr val="FFFFFF"/>
          </a:solidFill>
          <a:ln w="15875">
            <a:solidFill>
              <a:srgbClr val="2A6FB0"/>
            </a:solidFill>
            <a:prstDash val="solid"/>
          </a:ln>
        </p:spPr>
      </p:sp>
      <p:sp>
        <p:nvSpPr>
          <p:cNvPr id="29" name="Text 23"/>
          <p:cNvSpPr txBox="1"/>
          <p:nvPr/>
        </p:nvSpPr>
        <p:spPr>
          <a:xfrm>
            <a:off x="2971800" y="4212336"/>
            <a:ext cx="2599944" cy="153009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het </a:t>
            </a:r>
            <a:r>
              <a:rPr lang="en-US" sz="1600" b="1" i="1" dirty="0">
                <a:solidFill>
                  <a:schemeClr val="accent3"/>
                </a:solidFill>
              </a:rPr>
              <a:t>weet</a:t>
            </a:r>
            <a:r>
              <a:rPr lang="en-US" sz="1600" i="1" dirty="0">
                <a:solidFill>
                  <a:schemeClr val="tx1"/>
                </a:solidFill>
              </a:rPr>
              <a:t>, </a:t>
            </a:r>
            <a:r>
              <a:rPr lang="en-US" sz="1600" b="1" i="1" dirty="0">
                <a:solidFill>
                  <a:schemeClr val="accent3"/>
                </a:solidFill>
              </a:rPr>
              <a:t>help</a:t>
            </a:r>
            <a:r>
              <a:rPr lang="en-US" sz="1600" i="1" dirty="0">
                <a:solidFill>
                  <a:schemeClr val="tx1"/>
                </a:solidFill>
              </a:rPr>
              <a:t> ik je.</a:t>
            </a:r>
            <a:endParaRPr lang="en-US" sz="1600" dirty="0"/>
          </a:p>
        </p:txBody>
      </p:sp>
      <p:sp>
        <p:nvSpPr>
          <p:cNvPr id="30" name="Shape 24"/>
          <p:cNvSpPr/>
          <p:nvPr/>
        </p:nvSpPr>
        <p:spPr>
          <a:xfrm>
            <a:off x="5800344" y="4166616"/>
            <a:ext cx="2874264" cy="1621536"/>
          </a:xfrm>
          <a:prstGeom prst="roundRect">
            <a:avLst>
              <a:gd name="adj" fmla="val 5639"/>
            </a:avLst>
          </a:prstGeom>
          <a:solidFill>
            <a:srgbClr val="FFFFFF"/>
          </a:solidFill>
          <a:ln w="15875">
            <a:solidFill>
              <a:srgbClr val="6E4A9E"/>
            </a:solidFill>
            <a:prstDash val="solid"/>
          </a:ln>
        </p:spPr>
      </p:sp>
      <p:sp>
        <p:nvSpPr>
          <p:cNvPr id="31" name="Text 25"/>
          <p:cNvSpPr txBox="1"/>
          <p:nvPr/>
        </p:nvSpPr>
        <p:spPr>
          <a:xfrm>
            <a:off x="5937504" y="4212336"/>
            <a:ext cx="2599944" cy="153009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het </a:t>
            </a:r>
            <a:r>
              <a:rPr lang="en-US" sz="1600" b="1" i="1" dirty="0">
                <a:solidFill>
                  <a:schemeClr val="accent3"/>
                </a:solidFill>
              </a:rPr>
              <a:t>wist</a:t>
            </a:r>
            <a:r>
              <a:rPr lang="en-US" sz="1600" i="1" dirty="0">
                <a:solidFill>
                  <a:schemeClr val="tx1"/>
                </a:solidFill>
              </a:rPr>
              <a:t>, </a:t>
            </a:r>
            <a:r>
              <a:rPr lang="en-US" sz="1600" b="1" i="1" dirty="0">
                <a:solidFill>
                  <a:schemeClr val="accent3"/>
                </a:solidFill>
              </a:rPr>
              <a:t>zou</a:t>
            </a:r>
            <a:r>
              <a:rPr lang="en-US" sz="1600" i="1" dirty="0">
                <a:solidFill>
                  <a:schemeClr val="tx1"/>
                </a:solidFill>
              </a:rPr>
              <a:t> ik je </a:t>
            </a:r>
            <a:r>
              <a:rPr lang="en-US" sz="1600" b="1" i="1" dirty="0">
                <a:solidFill>
                  <a:schemeClr val="accent3"/>
                </a:solidFill>
              </a:rPr>
              <a:t>helpen</a:t>
            </a:r>
            <a:r>
              <a:rPr lang="en-US" sz="1600" i="1" dirty="0">
                <a:solidFill>
                  <a:schemeClr val="tx1"/>
                </a:solidFill>
              </a:rPr>
              <a:t>.</a:t>
            </a:r>
            <a:endParaRPr lang="en-US" sz="1600" dirty="0"/>
          </a:p>
        </p:txBody>
      </p:sp>
      <p:sp>
        <p:nvSpPr>
          <p:cNvPr id="32" name="Shape 26"/>
          <p:cNvSpPr/>
          <p:nvPr/>
        </p:nvSpPr>
        <p:spPr>
          <a:xfrm>
            <a:off x="8766048" y="4166616"/>
            <a:ext cx="2874264" cy="1621536"/>
          </a:xfrm>
          <a:prstGeom prst="roundRect">
            <a:avLst>
              <a:gd name="adj" fmla="val 5639"/>
            </a:avLst>
          </a:prstGeom>
          <a:solidFill>
            <a:srgbClr val="FFFFFF"/>
          </a:solidFill>
          <a:ln w="15875">
            <a:solidFill>
              <a:srgbClr val="45306A"/>
            </a:solidFill>
            <a:prstDash val="solid"/>
          </a:ln>
        </p:spPr>
      </p:sp>
      <p:sp>
        <p:nvSpPr>
          <p:cNvPr id="33" name="Text 27"/>
          <p:cNvSpPr txBox="1"/>
          <p:nvPr/>
        </p:nvSpPr>
        <p:spPr>
          <a:xfrm>
            <a:off x="8903208" y="4212336"/>
            <a:ext cx="2599944" cy="1530096"/>
          </a:xfrm>
          <a:prstGeom prst="rect">
            <a:avLst/>
          </a:prstGeom>
          <a:noFill/>
          <a:ln/>
        </p:spPr>
        <p:txBody>
          <a:bodyPr wrap="square" lIns="0" tIns="0" rIns="0" bIns="0" rtlCol="0" anchor="ctr"/>
          <a:lstStyle/>
          <a:p>
            <a:pPr algn="l" indent="0" marL="0">
              <a:lnSpc>
                <a:spcPct val="120000"/>
              </a:lnSpc>
              <a:buNone/>
            </a:pPr>
            <a:r>
              <a:rPr lang="en-US" sz="1600" i="1" dirty="0">
                <a:solidFill>
                  <a:schemeClr val="tx1"/>
                </a:solidFill>
              </a:rPr>
              <a:t>Als ik het </a:t>
            </a:r>
            <a:r>
              <a:rPr lang="en-US" sz="1600" b="1" i="1" dirty="0">
                <a:solidFill>
                  <a:schemeClr val="accent3"/>
                </a:solidFill>
              </a:rPr>
              <a:t>geweten had</a:t>
            </a:r>
            <a:r>
              <a:rPr lang="en-US" sz="1600" i="1" dirty="0">
                <a:solidFill>
                  <a:schemeClr val="tx1"/>
                </a:solidFill>
              </a:rPr>
              <a:t>, </a:t>
            </a:r>
            <a:r>
              <a:rPr lang="en-US" sz="1600" b="1" i="1" dirty="0">
                <a:solidFill>
                  <a:schemeClr val="accent3"/>
                </a:solidFill>
              </a:rPr>
              <a:t>had</a:t>
            </a:r>
            <a:r>
              <a:rPr lang="en-US" sz="1600" i="1" dirty="0">
                <a:solidFill>
                  <a:schemeClr val="tx1"/>
                </a:solidFill>
              </a:rPr>
              <a:t> ik je </a:t>
            </a:r>
            <a:r>
              <a:rPr lang="en-US" sz="1600" b="1" i="1" dirty="0">
                <a:solidFill>
                  <a:schemeClr val="accent3"/>
                </a:solidFill>
              </a:rPr>
              <a:t>geholpen</a:t>
            </a:r>
            <a:r>
              <a:rPr lang="en-US" sz="1600" i="1"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8 — FR → NL : le traducteur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Attention : le temps français ne donne pas toujours le temps néerlandais !</a:t>
            </a:r>
            <a:endParaRPr lang="en-US" sz="1700" dirty="0"/>
          </a:p>
        </p:txBody>
      </p:sp>
      <p:sp>
        <p:nvSpPr>
          <p:cNvPr id="8" name="Shape 4"/>
          <p:cNvSpPr/>
          <p:nvPr/>
        </p:nvSpPr>
        <p:spPr>
          <a:xfrm>
            <a:off x="548640" y="1959864"/>
            <a:ext cx="11091672" cy="437388"/>
          </a:xfrm>
          <a:prstGeom prst="roundRect">
            <a:avLst>
              <a:gd name="adj" fmla="val 16725"/>
            </a:avLst>
          </a:prstGeom>
          <a:solidFill>
            <a:schemeClr val="bg2"/>
          </a:solidFill>
          <a:ln w="12700">
            <a:solidFill>
              <a:srgbClr val="FFFFFF">
                <a:alpha val="0"/>
              </a:srgbClr>
            </a:solidFill>
            <a:prstDash val="solid"/>
          </a:ln>
        </p:spPr>
      </p:sp>
      <p:sp>
        <p:nvSpPr>
          <p:cNvPr id="9" name="Text 5"/>
          <p:cNvSpPr txBox="1"/>
          <p:nvPr/>
        </p:nvSpPr>
        <p:spPr>
          <a:xfrm>
            <a:off x="685800" y="1932432"/>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1</a:t>
            </a:r>
            <a:r>
              <a:rPr lang="en-US" sz="1350" i="1" dirty="0">
                <a:solidFill>
                  <a:schemeClr val="tx2"/>
                </a:solidFill>
              </a:rPr>
              <a:t>  « J’ai été malade la semaine passée. »</a:t>
            </a:r>
            <a:endParaRPr lang="en-US" sz="1350" dirty="0"/>
          </a:p>
        </p:txBody>
      </p:sp>
      <p:sp>
        <p:nvSpPr>
          <p:cNvPr id="10" name="Text 6"/>
          <p:cNvSpPr txBox="1"/>
          <p:nvPr/>
        </p:nvSpPr>
        <p:spPr>
          <a:xfrm>
            <a:off x="6080760" y="1932432"/>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11" name="Shape 7"/>
          <p:cNvSpPr/>
          <p:nvPr/>
        </p:nvSpPr>
        <p:spPr>
          <a:xfrm>
            <a:off x="548640" y="2461260"/>
            <a:ext cx="11091672" cy="437388"/>
          </a:xfrm>
          <a:prstGeom prst="roundRect">
            <a:avLst>
              <a:gd name="adj" fmla="val 16725"/>
            </a:avLst>
          </a:prstGeom>
          <a:solidFill>
            <a:srgbClr val="FFFFFF"/>
          </a:solidFill>
          <a:ln w="12700">
            <a:solidFill>
              <a:srgbClr val="FFFFFF">
                <a:alpha val="0"/>
              </a:srgbClr>
            </a:solidFill>
            <a:prstDash val="solid"/>
          </a:ln>
        </p:spPr>
      </p:sp>
      <p:sp>
        <p:nvSpPr>
          <p:cNvPr id="12" name="Text 8"/>
          <p:cNvSpPr txBox="1"/>
          <p:nvPr/>
        </p:nvSpPr>
        <p:spPr>
          <a:xfrm>
            <a:off x="685800" y="2433828"/>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2</a:t>
            </a:r>
            <a:r>
              <a:rPr lang="en-US" sz="1350" i="1" dirty="0">
                <a:solidFill>
                  <a:schemeClr val="tx2"/>
                </a:solidFill>
              </a:rPr>
              <a:t>  « J’habite à Gand depuis 2019. »</a:t>
            </a:r>
            <a:endParaRPr lang="en-US" sz="1350" dirty="0"/>
          </a:p>
        </p:txBody>
      </p:sp>
      <p:sp>
        <p:nvSpPr>
          <p:cNvPr id="13" name="Text 9"/>
          <p:cNvSpPr txBox="1"/>
          <p:nvPr/>
        </p:nvSpPr>
        <p:spPr>
          <a:xfrm>
            <a:off x="6080760" y="2433828"/>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14" name="Shape 10"/>
          <p:cNvSpPr/>
          <p:nvPr/>
        </p:nvSpPr>
        <p:spPr>
          <a:xfrm>
            <a:off x="548640" y="2962656"/>
            <a:ext cx="11091672" cy="437388"/>
          </a:xfrm>
          <a:prstGeom prst="roundRect">
            <a:avLst>
              <a:gd name="adj" fmla="val 16725"/>
            </a:avLst>
          </a:prstGeom>
          <a:solidFill>
            <a:schemeClr val="bg2"/>
          </a:solidFill>
          <a:ln w="12700">
            <a:solidFill>
              <a:srgbClr val="FFFFFF">
                <a:alpha val="0"/>
              </a:srgbClr>
            </a:solidFill>
            <a:prstDash val="solid"/>
          </a:ln>
        </p:spPr>
      </p:sp>
      <p:sp>
        <p:nvSpPr>
          <p:cNvPr id="15" name="Text 11"/>
          <p:cNvSpPr txBox="1"/>
          <p:nvPr/>
        </p:nvSpPr>
        <p:spPr>
          <a:xfrm>
            <a:off x="685800" y="2935224"/>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3</a:t>
            </a:r>
            <a:r>
              <a:rPr lang="en-US" sz="1350" i="1" dirty="0">
                <a:solidFill>
                  <a:schemeClr val="tx2"/>
                </a:solidFill>
              </a:rPr>
              <a:t>  « Je viens de recevoir ton mail. »</a:t>
            </a:r>
            <a:endParaRPr lang="en-US" sz="1350" dirty="0"/>
          </a:p>
        </p:txBody>
      </p:sp>
      <p:sp>
        <p:nvSpPr>
          <p:cNvPr id="16" name="Text 12"/>
          <p:cNvSpPr txBox="1"/>
          <p:nvPr/>
        </p:nvSpPr>
        <p:spPr>
          <a:xfrm>
            <a:off x="6080760" y="2935224"/>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17" name="Shape 13"/>
          <p:cNvSpPr/>
          <p:nvPr/>
        </p:nvSpPr>
        <p:spPr>
          <a:xfrm>
            <a:off x="548640" y="3464052"/>
            <a:ext cx="11091672" cy="437388"/>
          </a:xfrm>
          <a:prstGeom prst="roundRect">
            <a:avLst>
              <a:gd name="adj" fmla="val 16725"/>
            </a:avLst>
          </a:prstGeom>
          <a:solidFill>
            <a:srgbClr val="FFFFFF"/>
          </a:solidFill>
          <a:ln w="12700">
            <a:solidFill>
              <a:srgbClr val="FFFFFF">
                <a:alpha val="0"/>
              </a:srgbClr>
            </a:solidFill>
            <a:prstDash val="solid"/>
          </a:ln>
        </p:spPr>
      </p:sp>
      <p:sp>
        <p:nvSpPr>
          <p:cNvPr id="18" name="Text 14"/>
          <p:cNvSpPr txBox="1"/>
          <p:nvPr/>
        </p:nvSpPr>
        <p:spPr>
          <a:xfrm>
            <a:off x="685800" y="3436620"/>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4</a:t>
            </a:r>
            <a:r>
              <a:rPr lang="en-US" sz="1350" i="1" dirty="0">
                <a:solidFill>
                  <a:schemeClr val="tx2"/>
                </a:solidFill>
              </a:rPr>
              <a:t>  « Quand je suis arrivé·e, la réunion avait commencé. »</a:t>
            </a:r>
            <a:endParaRPr lang="en-US" sz="1350" dirty="0"/>
          </a:p>
        </p:txBody>
      </p:sp>
      <p:sp>
        <p:nvSpPr>
          <p:cNvPr id="19" name="Text 15"/>
          <p:cNvSpPr txBox="1"/>
          <p:nvPr/>
        </p:nvSpPr>
        <p:spPr>
          <a:xfrm>
            <a:off x="6080760" y="3436620"/>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20" name="Shape 16"/>
          <p:cNvSpPr/>
          <p:nvPr/>
        </p:nvSpPr>
        <p:spPr>
          <a:xfrm>
            <a:off x="548640" y="3965448"/>
            <a:ext cx="11091672" cy="437388"/>
          </a:xfrm>
          <a:prstGeom prst="roundRect">
            <a:avLst>
              <a:gd name="adj" fmla="val 16725"/>
            </a:avLst>
          </a:prstGeom>
          <a:solidFill>
            <a:schemeClr val="bg2"/>
          </a:solidFill>
          <a:ln w="12700">
            <a:solidFill>
              <a:srgbClr val="FFFFFF">
                <a:alpha val="0"/>
              </a:srgbClr>
            </a:solidFill>
            <a:prstDash val="solid"/>
          </a:ln>
        </p:spPr>
      </p:sp>
      <p:sp>
        <p:nvSpPr>
          <p:cNvPr id="21" name="Text 17"/>
          <p:cNvSpPr txBox="1"/>
          <p:nvPr/>
        </p:nvSpPr>
        <p:spPr>
          <a:xfrm>
            <a:off x="685800" y="3938016"/>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5</a:t>
            </a:r>
            <a:r>
              <a:rPr lang="en-US" sz="1350" i="1" dirty="0">
                <a:solidFill>
                  <a:schemeClr val="tx2"/>
                </a:solidFill>
              </a:rPr>
              <a:t>  « Il va pleuvoir. »</a:t>
            </a:r>
            <a:endParaRPr lang="en-US" sz="1350" dirty="0"/>
          </a:p>
        </p:txBody>
      </p:sp>
      <p:sp>
        <p:nvSpPr>
          <p:cNvPr id="22" name="Text 18"/>
          <p:cNvSpPr txBox="1"/>
          <p:nvPr/>
        </p:nvSpPr>
        <p:spPr>
          <a:xfrm>
            <a:off x="6080760" y="3938016"/>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23" name="Shape 19"/>
          <p:cNvSpPr/>
          <p:nvPr/>
        </p:nvSpPr>
        <p:spPr>
          <a:xfrm>
            <a:off x="548640" y="4466844"/>
            <a:ext cx="11091672" cy="437388"/>
          </a:xfrm>
          <a:prstGeom prst="roundRect">
            <a:avLst>
              <a:gd name="adj" fmla="val 16725"/>
            </a:avLst>
          </a:prstGeom>
          <a:solidFill>
            <a:srgbClr val="FFFFFF"/>
          </a:solidFill>
          <a:ln w="12700">
            <a:solidFill>
              <a:srgbClr val="FFFFFF">
                <a:alpha val="0"/>
              </a:srgbClr>
            </a:solidFill>
            <a:prstDash val="solid"/>
          </a:ln>
        </p:spPr>
      </p:sp>
      <p:sp>
        <p:nvSpPr>
          <p:cNvPr id="24" name="Text 20"/>
          <p:cNvSpPr txBox="1"/>
          <p:nvPr/>
        </p:nvSpPr>
        <p:spPr>
          <a:xfrm>
            <a:off x="685800" y="4439412"/>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6</a:t>
            </a:r>
            <a:r>
              <a:rPr lang="en-US" sz="1350" i="1" dirty="0">
                <a:solidFill>
                  <a:schemeClr val="tx2"/>
                </a:solidFill>
              </a:rPr>
              <a:t>  « Si j’avais le temps, je viendrais. »</a:t>
            </a:r>
            <a:endParaRPr lang="en-US" sz="1350" dirty="0"/>
          </a:p>
        </p:txBody>
      </p:sp>
      <p:sp>
        <p:nvSpPr>
          <p:cNvPr id="25" name="Text 21"/>
          <p:cNvSpPr txBox="1"/>
          <p:nvPr/>
        </p:nvSpPr>
        <p:spPr>
          <a:xfrm>
            <a:off x="6080760" y="4439412"/>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26" name="Shape 22"/>
          <p:cNvSpPr/>
          <p:nvPr/>
        </p:nvSpPr>
        <p:spPr>
          <a:xfrm>
            <a:off x="548640" y="4968240"/>
            <a:ext cx="11091672" cy="437388"/>
          </a:xfrm>
          <a:prstGeom prst="roundRect">
            <a:avLst>
              <a:gd name="adj" fmla="val 16725"/>
            </a:avLst>
          </a:prstGeom>
          <a:solidFill>
            <a:schemeClr val="bg2"/>
          </a:solidFill>
          <a:ln w="12700">
            <a:solidFill>
              <a:srgbClr val="FFFFFF">
                <a:alpha val="0"/>
              </a:srgbClr>
            </a:solidFill>
            <a:prstDash val="solid"/>
          </a:ln>
        </p:spPr>
      </p:sp>
      <p:sp>
        <p:nvSpPr>
          <p:cNvPr id="27" name="Text 23"/>
          <p:cNvSpPr txBox="1"/>
          <p:nvPr/>
        </p:nvSpPr>
        <p:spPr>
          <a:xfrm>
            <a:off x="685800" y="4940808"/>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7</a:t>
            </a:r>
            <a:r>
              <a:rPr lang="en-US" sz="1350" i="1" dirty="0">
                <a:solidFill>
                  <a:schemeClr val="tx2"/>
                </a:solidFill>
              </a:rPr>
              <a:t>  « J’aurais dû appeler. »</a:t>
            </a:r>
            <a:endParaRPr lang="en-US" sz="1350" dirty="0"/>
          </a:p>
        </p:txBody>
      </p:sp>
      <p:sp>
        <p:nvSpPr>
          <p:cNvPr id="28" name="Text 24"/>
          <p:cNvSpPr txBox="1"/>
          <p:nvPr/>
        </p:nvSpPr>
        <p:spPr>
          <a:xfrm>
            <a:off x="6080760" y="4940808"/>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29" name="Shape 25"/>
          <p:cNvSpPr/>
          <p:nvPr/>
        </p:nvSpPr>
        <p:spPr>
          <a:xfrm>
            <a:off x="548640" y="5469636"/>
            <a:ext cx="11091672" cy="437388"/>
          </a:xfrm>
          <a:prstGeom prst="roundRect">
            <a:avLst>
              <a:gd name="adj" fmla="val 16725"/>
            </a:avLst>
          </a:prstGeom>
          <a:solidFill>
            <a:srgbClr val="FFFFFF"/>
          </a:solidFill>
          <a:ln w="12700">
            <a:solidFill>
              <a:srgbClr val="FFFFFF">
                <a:alpha val="0"/>
              </a:srgbClr>
            </a:solidFill>
            <a:prstDash val="solid"/>
          </a:ln>
        </p:spPr>
      </p:sp>
      <p:sp>
        <p:nvSpPr>
          <p:cNvPr id="30" name="Text 26"/>
          <p:cNvSpPr txBox="1"/>
          <p:nvPr/>
        </p:nvSpPr>
        <p:spPr>
          <a:xfrm>
            <a:off x="685800" y="5442204"/>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8</a:t>
            </a:r>
            <a:r>
              <a:rPr lang="en-US" sz="1350" i="1" dirty="0">
                <a:solidFill>
                  <a:schemeClr val="tx2"/>
                </a:solidFill>
              </a:rPr>
              <a:t>  « D’ici vendredi, j’aurai écrit le rapport. »</a:t>
            </a:r>
            <a:endParaRPr lang="en-US" sz="1350" dirty="0"/>
          </a:p>
        </p:txBody>
      </p:sp>
      <p:sp>
        <p:nvSpPr>
          <p:cNvPr id="31" name="Text 27"/>
          <p:cNvSpPr txBox="1"/>
          <p:nvPr/>
        </p:nvSpPr>
        <p:spPr>
          <a:xfrm>
            <a:off x="6080760" y="5442204"/>
            <a:ext cx="5532120" cy="501396"/>
          </a:xfrm>
          <a:prstGeom prst="rect">
            <a:avLst/>
          </a:prstGeom>
          <a:noFill/>
          <a:ln/>
        </p:spPr>
        <p:txBody>
          <a:bodyPr wrap="square" lIns="0" tIns="0" rIns="0" bIns="0" rtlCol="0" anchor="ctr"/>
          <a:lstStyle/>
          <a:p>
            <a:pPr algn="l" indent="0" marL="0">
              <a:buNone/>
            </a:pP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8 — FR → NL : le traducteur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Attention : le temps français ne donne pas toujours le temps néerlandais !</a:t>
            </a:r>
            <a:endParaRPr lang="en-US" sz="1700" dirty="0"/>
          </a:p>
        </p:txBody>
      </p:sp>
      <p:sp>
        <p:nvSpPr>
          <p:cNvPr id="9" name="Shape 5"/>
          <p:cNvSpPr/>
          <p:nvPr/>
        </p:nvSpPr>
        <p:spPr>
          <a:xfrm>
            <a:off x="548640" y="1959864"/>
            <a:ext cx="11091672" cy="437388"/>
          </a:xfrm>
          <a:prstGeom prst="roundRect">
            <a:avLst>
              <a:gd name="adj" fmla="val 16725"/>
            </a:avLst>
          </a:prstGeom>
          <a:solidFill>
            <a:schemeClr val="bg2"/>
          </a:solidFill>
          <a:ln w="12700">
            <a:solidFill>
              <a:srgbClr val="FFFFFF">
                <a:alpha val="0"/>
              </a:srgbClr>
            </a:solidFill>
            <a:prstDash val="solid"/>
          </a:ln>
        </p:spPr>
      </p:sp>
      <p:sp>
        <p:nvSpPr>
          <p:cNvPr id="10" name="Text 6"/>
          <p:cNvSpPr txBox="1"/>
          <p:nvPr/>
        </p:nvSpPr>
        <p:spPr>
          <a:xfrm>
            <a:off x="685800" y="1932432"/>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1</a:t>
            </a:r>
            <a:r>
              <a:rPr lang="en-US" sz="1350" i="1" dirty="0">
                <a:solidFill>
                  <a:schemeClr val="tx2"/>
                </a:solidFill>
              </a:rPr>
              <a:t>  « J’ai été malade la semaine passée. »</a:t>
            </a:r>
            <a:endParaRPr lang="en-US" sz="1350" dirty="0"/>
          </a:p>
        </p:txBody>
      </p:sp>
      <p:sp>
        <p:nvSpPr>
          <p:cNvPr id="11" name="Text 7"/>
          <p:cNvSpPr txBox="1"/>
          <p:nvPr/>
        </p:nvSpPr>
        <p:spPr>
          <a:xfrm>
            <a:off x="6080760" y="1932432"/>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Ik was vorige week ziek.</a:t>
            </a:r>
            <a:endParaRPr lang="en-US" sz="1500" dirty="0"/>
          </a:p>
        </p:txBody>
      </p:sp>
      <p:sp>
        <p:nvSpPr>
          <p:cNvPr id="12" name="Shape 8"/>
          <p:cNvSpPr/>
          <p:nvPr/>
        </p:nvSpPr>
        <p:spPr>
          <a:xfrm>
            <a:off x="548640" y="2461260"/>
            <a:ext cx="11091672" cy="437388"/>
          </a:xfrm>
          <a:prstGeom prst="roundRect">
            <a:avLst>
              <a:gd name="adj" fmla="val 16725"/>
            </a:avLst>
          </a:prstGeom>
          <a:solidFill>
            <a:srgbClr val="FFFFFF"/>
          </a:solidFill>
          <a:ln w="12700">
            <a:solidFill>
              <a:srgbClr val="FFFFFF">
                <a:alpha val="0"/>
              </a:srgbClr>
            </a:solidFill>
            <a:prstDash val="solid"/>
          </a:ln>
        </p:spPr>
      </p:sp>
      <p:sp>
        <p:nvSpPr>
          <p:cNvPr id="13" name="Text 9"/>
          <p:cNvSpPr txBox="1"/>
          <p:nvPr/>
        </p:nvSpPr>
        <p:spPr>
          <a:xfrm>
            <a:off x="685800" y="2433828"/>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2</a:t>
            </a:r>
            <a:r>
              <a:rPr lang="en-US" sz="1350" i="1" dirty="0">
                <a:solidFill>
                  <a:schemeClr val="tx2"/>
                </a:solidFill>
              </a:rPr>
              <a:t>  « J’habite à Gand depuis 2019. »</a:t>
            </a:r>
            <a:endParaRPr lang="en-US" sz="1350" dirty="0"/>
          </a:p>
        </p:txBody>
      </p:sp>
      <p:sp>
        <p:nvSpPr>
          <p:cNvPr id="14" name="Text 10"/>
          <p:cNvSpPr txBox="1"/>
          <p:nvPr/>
        </p:nvSpPr>
        <p:spPr>
          <a:xfrm>
            <a:off x="6080760" y="2433828"/>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Ik woon sinds 2019 in Gent.</a:t>
            </a:r>
            <a:endParaRPr lang="en-US" sz="1500" dirty="0"/>
          </a:p>
        </p:txBody>
      </p:sp>
      <p:sp>
        <p:nvSpPr>
          <p:cNvPr id="15" name="Shape 11"/>
          <p:cNvSpPr/>
          <p:nvPr/>
        </p:nvSpPr>
        <p:spPr>
          <a:xfrm>
            <a:off x="548640" y="2962656"/>
            <a:ext cx="11091672" cy="437388"/>
          </a:xfrm>
          <a:prstGeom prst="roundRect">
            <a:avLst>
              <a:gd name="adj" fmla="val 16725"/>
            </a:avLst>
          </a:prstGeom>
          <a:solidFill>
            <a:schemeClr val="bg2"/>
          </a:solidFill>
          <a:ln w="12700">
            <a:solidFill>
              <a:srgbClr val="FFFFFF">
                <a:alpha val="0"/>
              </a:srgbClr>
            </a:solidFill>
            <a:prstDash val="solid"/>
          </a:ln>
        </p:spPr>
      </p:sp>
      <p:sp>
        <p:nvSpPr>
          <p:cNvPr id="16" name="Text 12"/>
          <p:cNvSpPr txBox="1"/>
          <p:nvPr/>
        </p:nvSpPr>
        <p:spPr>
          <a:xfrm>
            <a:off x="685800" y="2935224"/>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3</a:t>
            </a:r>
            <a:r>
              <a:rPr lang="en-US" sz="1350" i="1" dirty="0">
                <a:solidFill>
                  <a:schemeClr val="tx2"/>
                </a:solidFill>
              </a:rPr>
              <a:t>  « Je viens de recevoir ton mail. »</a:t>
            </a:r>
            <a:endParaRPr lang="en-US" sz="1350" dirty="0"/>
          </a:p>
        </p:txBody>
      </p:sp>
      <p:sp>
        <p:nvSpPr>
          <p:cNvPr id="17" name="Text 13"/>
          <p:cNvSpPr txBox="1"/>
          <p:nvPr/>
        </p:nvSpPr>
        <p:spPr>
          <a:xfrm>
            <a:off x="6080760" y="2935224"/>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Ik heb net je mail gekregen.</a:t>
            </a:r>
            <a:endParaRPr lang="en-US" sz="1500" dirty="0"/>
          </a:p>
        </p:txBody>
      </p:sp>
      <p:sp>
        <p:nvSpPr>
          <p:cNvPr id="18" name="Shape 14"/>
          <p:cNvSpPr/>
          <p:nvPr/>
        </p:nvSpPr>
        <p:spPr>
          <a:xfrm>
            <a:off x="548640" y="3464052"/>
            <a:ext cx="11091672" cy="437388"/>
          </a:xfrm>
          <a:prstGeom prst="roundRect">
            <a:avLst>
              <a:gd name="adj" fmla="val 16725"/>
            </a:avLst>
          </a:prstGeom>
          <a:solidFill>
            <a:srgbClr val="FFFFFF"/>
          </a:solidFill>
          <a:ln w="12700">
            <a:solidFill>
              <a:srgbClr val="FFFFFF">
                <a:alpha val="0"/>
              </a:srgbClr>
            </a:solidFill>
            <a:prstDash val="solid"/>
          </a:ln>
        </p:spPr>
      </p:sp>
      <p:sp>
        <p:nvSpPr>
          <p:cNvPr id="19" name="Text 15"/>
          <p:cNvSpPr txBox="1"/>
          <p:nvPr/>
        </p:nvSpPr>
        <p:spPr>
          <a:xfrm>
            <a:off x="685800" y="3436620"/>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4</a:t>
            </a:r>
            <a:r>
              <a:rPr lang="en-US" sz="1350" i="1" dirty="0">
                <a:solidFill>
                  <a:schemeClr val="tx2"/>
                </a:solidFill>
              </a:rPr>
              <a:t>  « Quand je suis arrivé·e, la réunion avait commencé. »</a:t>
            </a:r>
            <a:endParaRPr lang="en-US" sz="1350" dirty="0"/>
          </a:p>
        </p:txBody>
      </p:sp>
      <p:sp>
        <p:nvSpPr>
          <p:cNvPr id="20" name="Text 16"/>
          <p:cNvSpPr txBox="1"/>
          <p:nvPr/>
        </p:nvSpPr>
        <p:spPr>
          <a:xfrm>
            <a:off x="6080760" y="3436620"/>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Toen ik aankwam, was de vergadering begonnen.</a:t>
            </a:r>
            <a:endParaRPr lang="en-US" sz="1500" dirty="0"/>
          </a:p>
        </p:txBody>
      </p:sp>
      <p:sp>
        <p:nvSpPr>
          <p:cNvPr id="21" name="Shape 17"/>
          <p:cNvSpPr/>
          <p:nvPr/>
        </p:nvSpPr>
        <p:spPr>
          <a:xfrm>
            <a:off x="548640" y="3965448"/>
            <a:ext cx="11091672" cy="437388"/>
          </a:xfrm>
          <a:prstGeom prst="roundRect">
            <a:avLst>
              <a:gd name="adj" fmla="val 16725"/>
            </a:avLst>
          </a:prstGeom>
          <a:solidFill>
            <a:schemeClr val="bg2"/>
          </a:solidFill>
          <a:ln w="12700">
            <a:solidFill>
              <a:srgbClr val="FFFFFF">
                <a:alpha val="0"/>
              </a:srgbClr>
            </a:solidFill>
            <a:prstDash val="solid"/>
          </a:ln>
        </p:spPr>
      </p:sp>
      <p:sp>
        <p:nvSpPr>
          <p:cNvPr id="22" name="Text 18"/>
          <p:cNvSpPr txBox="1"/>
          <p:nvPr/>
        </p:nvSpPr>
        <p:spPr>
          <a:xfrm>
            <a:off x="685800" y="3938016"/>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5</a:t>
            </a:r>
            <a:r>
              <a:rPr lang="en-US" sz="1350" i="1" dirty="0">
                <a:solidFill>
                  <a:schemeClr val="tx2"/>
                </a:solidFill>
              </a:rPr>
              <a:t>  « Il va pleuvoir. »</a:t>
            </a:r>
            <a:endParaRPr lang="en-US" sz="1350" dirty="0"/>
          </a:p>
        </p:txBody>
      </p:sp>
      <p:sp>
        <p:nvSpPr>
          <p:cNvPr id="23" name="Text 19"/>
          <p:cNvSpPr txBox="1"/>
          <p:nvPr/>
        </p:nvSpPr>
        <p:spPr>
          <a:xfrm>
            <a:off x="6080760" y="3938016"/>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Het gaat regenen.</a:t>
            </a:r>
            <a:endParaRPr lang="en-US" sz="1500" dirty="0"/>
          </a:p>
        </p:txBody>
      </p:sp>
      <p:sp>
        <p:nvSpPr>
          <p:cNvPr id="24" name="Shape 20"/>
          <p:cNvSpPr/>
          <p:nvPr/>
        </p:nvSpPr>
        <p:spPr>
          <a:xfrm>
            <a:off x="548640" y="4466844"/>
            <a:ext cx="11091672" cy="437388"/>
          </a:xfrm>
          <a:prstGeom prst="roundRect">
            <a:avLst>
              <a:gd name="adj" fmla="val 16725"/>
            </a:avLst>
          </a:prstGeom>
          <a:solidFill>
            <a:srgbClr val="FFFFFF"/>
          </a:solidFill>
          <a:ln w="12700">
            <a:solidFill>
              <a:srgbClr val="FFFFFF">
                <a:alpha val="0"/>
              </a:srgbClr>
            </a:solidFill>
            <a:prstDash val="solid"/>
          </a:ln>
        </p:spPr>
      </p:sp>
      <p:sp>
        <p:nvSpPr>
          <p:cNvPr id="25" name="Text 21"/>
          <p:cNvSpPr txBox="1"/>
          <p:nvPr/>
        </p:nvSpPr>
        <p:spPr>
          <a:xfrm>
            <a:off x="685800" y="4439412"/>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6</a:t>
            </a:r>
            <a:r>
              <a:rPr lang="en-US" sz="1350" i="1" dirty="0">
                <a:solidFill>
                  <a:schemeClr val="tx2"/>
                </a:solidFill>
              </a:rPr>
              <a:t>  « Si j’avais le temps, je viendrais. »</a:t>
            </a:r>
            <a:endParaRPr lang="en-US" sz="1350" dirty="0"/>
          </a:p>
        </p:txBody>
      </p:sp>
      <p:sp>
        <p:nvSpPr>
          <p:cNvPr id="26" name="Text 22"/>
          <p:cNvSpPr txBox="1"/>
          <p:nvPr/>
        </p:nvSpPr>
        <p:spPr>
          <a:xfrm>
            <a:off x="6080760" y="4439412"/>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Als ik tijd had, zou ik komen.</a:t>
            </a:r>
            <a:endParaRPr lang="en-US" sz="1500" dirty="0"/>
          </a:p>
        </p:txBody>
      </p:sp>
      <p:sp>
        <p:nvSpPr>
          <p:cNvPr id="27" name="Shape 23"/>
          <p:cNvSpPr/>
          <p:nvPr/>
        </p:nvSpPr>
        <p:spPr>
          <a:xfrm>
            <a:off x="548640" y="4968240"/>
            <a:ext cx="11091672" cy="437388"/>
          </a:xfrm>
          <a:prstGeom prst="roundRect">
            <a:avLst>
              <a:gd name="adj" fmla="val 16725"/>
            </a:avLst>
          </a:prstGeom>
          <a:solidFill>
            <a:schemeClr val="bg2"/>
          </a:solidFill>
          <a:ln w="12700">
            <a:solidFill>
              <a:srgbClr val="FFFFFF">
                <a:alpha val="0"/>
              </a:srgbClr>
            </a:solidFill>
            <a:prstDash val="solid"/>
          </a:ln>
        </p:spPr>
      </p:sp>
      <p:sp>
        <p:nvSpPr>
          <p:cNvPr id="28" name="Text 24"/>
          <p:cNvSpPr txBox="1"/>
          <p:nvPr/>
        </p:nvSpPr>
        <p:spPr>
          <a:xfrm>
            <a:off x="685800" y="4940808"/>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7</a:t>
            </a:r>
            <a:r>
              <a:rPr lang="en-US" sz="1350" i="1" dirty="0">
                <a:solidFill>
                  <a:schemeClr val="tx2"/>
                </a:solidFill>
              </a:rPr>
              <a:t>  « J’aurais dû appeler. »</a:t>
            </a:r>
            <a:endParaRPr lang="en-US" sz="1350" dirty="0"/>
          </a:p>
        </p:txBody>
      </p:sp>
      <p:sp>
        <p:nvSpPr>
          <p:cNvPr id="29" name="Text 25"/>
          <p:cNvSpPr txBox="1"/>
          <p:nvPr/>
        </p:nvSpPr>
        <p:spPr>
          <a:xfrm>
            <a:off x="6080760" y="4940808"/>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Ik had moeten bellen.</a:t>
            </a:r>
            <a:endParaRPr lang="en-US" sz="1500" dirty="0"/>
          </a:p>
        </p:txBody>
      </p:sp>
      <p:sp>
        <p:nvSpPr>
          <p:cNvPr id="30" name="Shape 26"/>
          <p:cNvSpPr/>
          <p:nvPr/>
        </p:nvSpPr>
        <p:spPr>
          <a:xfrm>
            <a:off x="548640" y="5469636"/>
            <a:ext cx="11091672" cy="437388"/>
          </a:xfrm>
          <a:prstGeom prst="roundRect">
            <a:avLst>
              <a:gd name="adj" fmla="val 16725"/>
            </a:avLst>
          </a:prstGeom>
          <a:solidFill>
            <a:srgbClr val="FFFFFF"/>
          </a:solidFill>
          <a:ln w="12700">
            <a:solidFill>
              <a:srgbClr val="FFFFFF">
                <a:alpha val="0"/>
              </a:srgbClr>
            </a:solidFill>
            <a:prstDash val="solid"/>
          </a:ln>
        </p:spPr>
      </p:sp>
      <p:sp>
        <p:nvSpPr>
          <p:cNvPr id="31" name="Text 27"/>
          <p:cNvSpPr txBox="1"/>
          <p:nvPr/>
        </p:nvSpPr>
        <p:spPr>
          <a:xfrm>
            <a:off x="685800" y="5442204"/>
            <a:ext cx="5349240" cy="501396"/>
          </a:xfrm>
          <a:prstGeom prst="rect">
            <a:avLst/>
          </a:prstGeom>
          <a:noFill/>
          <a:ln/>
        </p:spPr>
        <p:txBody>
          <a:bodyPr wrap="square" lIns="0" tIns="0" rIns="0" bIns="0" rtlCol="0" anchor="ctr"/>
          <a:lstStyle/>
          <a:p>
            <a:pPr algn="l" indent="0" marL="0">
              <a:buNone/>
            </a:pPr>
            <a:r>
              <a:rPr lang="en-US" sz="1350" b="1" i="1" dirty="0">
                <a:solidFill>
                  <a:schemeClr val="tx2"/>
                </a:solidFill>
              </a:rPr>
              <a:t>8</a:t>
            </a:r>
            <a:r>
              <a:rPr lang="en-US" sz="1350" i="1" dirty="0">
                <a:solidFill>
                  <a:schemeClr val="tx2"/>
                </a:solidFill>
              </a:rPr>
              <a:t>  « D’ici vendredi, j’aurai écrit le rapport. »</a:t>
            </a:r>
            <a:endParaRPr lang="en-US" sz="1350" dirty="0"/>
          </a:p>
        </p:txBody>
      </p:sp>
      <p:sp>
        <p:nvSpPr>
          <p:cNvPr id="32" name="Text 28"/>
          <p:cNvSpPr txBox="1"/>
          <p:nvPr/>
        </p:nvSpPr>
        <p:spPr>
          <a:xfrm>
            <a:off x="6080760" y="5442204"/>
            <a:ext cx="5532120" cy="501396"/>
          </a:xfrm>
          <a:prstGeom prst="rect">
            <a:avLst/>
          </a:prstGeom>
          <a:noFill/>
          <a:ln/>
        </p:spPr>
        <p:txBody>
          <a:bodyPr wrap="square" lIns="0" tIns="0" rIns="0" bIns="0" rtlCol="0" anchor="ctr"/>
          <a:lstStyle/>
          <a:p>
            <a:pPr algn="l" indent="0" marL="0">
              <a:buNone/>
            </a:pPr>
            <a:r>
              <a:rPr lang="en-US" sz="1500" b="1" i="1" dirty="0">
                <a:solidFill>
                  <a:schemeClr val="accent3"/>
                </a:solidFill>
              </a:rPr>
              <a:t>Tegen vrijdag zal ik het rapport geschreven hebben.</a:t>
            </a:r>
            <a:endParaRPr lang="en-US" sz="1500" dirty="0"/>
          </a:p>
        </p:txBody>
      </p:sp>
      <p:sp>
        <p:nvSpPr>
          <p:cNvPr id="33" name="Text 29"/>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N° 4 : aussi </a:t>
            </a:r>
            <a:r>
              <a:rPr lang="en-US" sz="1300" i="1" dirty="0">
                <a:solidFill>
                  <a:schemeClr val="accent5"/>
                </a:solidFill>
              </a:rPr>
              <a:t>was … al begonnen</a:t>
            </a:r>
            <a:r>
              <a:rPr lang="en-US" sz="1300" i="1" dirty="0">
                <a:solidFill>
                  <a:schemeClr val="accent5"/>
                </a:solidFill>
              </a:rPr>
              <a:t>. N° 8 : aussi </a:t>
            </a:r>
            <a:r>
              <a:rPr lang="en-US" sz="1300" i="1" dirty="0">
                <a:solidFill>
                  <a:schemeClr val="accent5"/>
                </a:solidFill>
              </a:rPr>
              <a:t>Tegen vrijdag heb ik het rapport geschreven.</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9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Sofie écrit à Lotte. Trouvez les 5 erreurs de temps.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Sofie Claes · Aan: Lotte Maes · Onderwerp: Groot nieuws!</a:t>
            </a:r>
            <a:endParaRPr lang="en-US" sz="1300" dirty="0"/>
          </a:p>
        </p:txBody>
      </p:sp>
      <p:sp>
        <p:nvSpPr>
          <p:cNvPr id="11" name="Text 7"/>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600" i="1" dirty="0">
                <a:solidFill>
                  <a:schemeClr val="tx1"/>
                </a:solidFill>
              </a:rPr>
              <a:t>Hoi Lotte,</a:t>
            </a:r>
            <a:endParaRPr lang="en-US" sz="1600" dirty="0"/>
          </a:p>
          <a:p>
            <a:pPr algn="l" indent="0" marL="0">
              <a:lnSpc>
                <a:spcPct val="115000"/>
              </a:lnSpc>
              <a:spcAft>
                <a:spcPts val="600"/>
              </a:spcAft>
              <a:buNone/>
            </a:pPr>
            <a:r>
              <a:rPr lang="en-US" sz="1600" i="1" dirty="0">
                <a:solidFill>
                  <a:schemeClr val="tx1"/>
                </a:solidFill>
              </a:rPr>
              <a:t>Hoe gaat het? Ik </a:t>
            </a:r>
            <a:r>
              <a:rPr lang="en-US" sz="1600" i="1" dirty="0">
                <a:solidFill>
                  <a:schemeClr val="tx1"/>
                </a:solidFill>
              </a:rPr>
              <a:t>heb sinds september Nederlandse les gevolgd</a:t>
            </a:r>
            <a:r>
              <a:rPr lang="en-US" sz="1600" i="1" dirty="0">
                <a:solidFill>
                  <a:schemeClr val="tx1"/>
                </a:solidFill>
              </a:rPr>
              <a:t> en ik vind het nog altijd super! En ik heb groot nieuws: volgende maand verander ik van job! Vorige week </a:t>
            </a:r>
            <a:r>
              <a:rPr lang="en-US" sz="1600" i="1" dirty="0">
                <a:solidFill>
                  <a:schemeClr val="tx1"/>
                </a:solidFill>
              </a:rPr>
              <a:t>heb</a:t>
            </a:r>
            <a:r>
              <a:rPr lang="en-US" sz="1600" i="1" dirty="0">
                <a:solidFill>
                  <a:schemeClr val="tx1"/>
                </a:solidFill>
              </a:rPr>
              <a:t> ik een sollicitatiegesprek bij Koopzo. Ik </a:t>
            </a:r>
            <a:r>
              <a:rPr lang="en-US" sz="1600" i="1" dirty="0">
                <a:solidFill>
                  <a:schemeClr val="tx1"/>
                </a:solidFill>
              </a:rPr>
              <a:t>kom van te bellen met de HR-dienst</a:t>
            </a:r>
            <a:r>
              <a:rPr lang="en-US" sz="1600" i="1" dirty="0">
                <a:solidFill>
                  <a:schemeClr val="tx1"/>
                </a:solidFill>
              </a:rPr>
              <a:t>: ze nemen me aan! Toen ik het hoorde, </a:t>
            </a:r>
            <a:r>
              <a:rPr lang="en-US" sz="1600" i="1" dirty="0">
                <a:solidFill>
                  <a:schemeClr val="tx1"/>
                </a:solidFill>
              </a:rPr>
              <a:t>ben</a:t>
            </a:r>
            <a:r>
              <a:rPr lang="en-US" sz="1600" i="1" dirty="0">
                <a:solidFill>
                  <a:schemeClr val="tx1"/>
                </a:solidFill>
              </a:rPr>
              <a:t> ik zo blij. Ik had dat echt niet verwacht. Als ik meer tijd </a:t>
            </a:r>
            <a:r>
              <a:rPr lang="en-US" sz="1600" i="1" dirty="0">
                <a:solidFill>
                  <a:schemeClr val="tx1"/>
                </a:solidFill>
              </a:rPr>
              <a:t>heb</a:t>
            </a:r>
            <a:r>
              <a:rPr lang="en-US" sz="1600" i="1" dirty="0">
                <a:solidFill>
                  <a:schemeClr val="tx1"/>
                </a:solidFill>
              </a:rPr>
              <a:t>, zou ik een feestje geven.</a:t>
            </a:r>
            <a:endParaRPr lang="en-US" sz="1600" dirty="0"/>
          </a:p>
          <a:p>
            <a:pPr algn="l" indent="0" marL="0">
              <a:lnSpc>
                <a:spcPct val="115000"/>
              </a:lnSpc>
              <a:spcAft>
                <a:spcPts val="600"/>
              </a:spcAft>
              <a:buNone/>
            </a:pPr>
            <a:r>
              <a:rPr lang="en-US" sz="1600" i="1" dirty="0">
                <a:solidFill>
                  <a:schemeClr val="tx1"/>
                </a:solidFill>
              </a:rPr>
              <a:t>Groetjes,</a:t>
            </a:r>
            <a:endParaRPr lang="en-US" sz="1600" dirty="0"/>
          </a:p>
          <a:p>
            <a:pPr algn="l" indent="0" marL="0">
              <a:lnSpc>
                <a:spcPct val="115000"/>
              </a:lnSpc>
              <a:spcAft>
                <a:spcPts val="600"/>
              </a:spcAft>
              <a:buNone/>
            </a:pPr>
            <a:r>
              <a:rPr lang="en-US" sz="1600" i="1" dirty="0">
                <a:solidFill>
                  <a:schemeClr val="tx1"/>
                </a:solidFill>
              </a:rPr>
              <a:t>Sofie</a:t>
            </a:r>
            <a:endParaRPr lang="en-US" sz="16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9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Sofie écrit à Lotte. Trouvez les 5 erreurs de temps.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Van: Sofie Claes · Aan: Lotte Maes · Onderwerp: Groot nieuws!</a:t>
            </a:r>
            <a:endParaRPr lang="en-US" sz="1300" dirty="0"/>
          </a:p>
        </p:txBody>
      </p:sp>
      <p:sp>
        <p:nvSpPr>
          <p:cNvPr id="12" name="Text 8"/>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600" i="1" dirty="0">
                <a:solidFill>
                  <a:schemeClr val="tx1"/>
                </a:solidFill>
              </a:rPr>
              <a:t>Hoi Lotte,</a:t>
            </a:r>
            <a:endParaRPr lang="en-US" sz="1600" dirty="0"/>
          </a:p>
          <a:p>
            <a:pPr algn="l" indent="0" marL="0">
              <a:lnSpc>
                <a:spcPct val="115000"/>
              </a:lnSpc>
              <a:spcAft>
                <a:spcPts val="600"/>
              </a:spcAft>
              <a:buNone/>
            </a:pPr>
            <a:r>
              <a:rPr lang="en-US" sz="1600" i="1" dirty="0">
                <a:solidFill>
                  <a:schemeClr val="tx1"/>
                </a:solidFill>
              </a:rPr>
              <a:t>Hoe gaat het? Ik </a:t>
            </a:r>
            <a:r>
              <a:rPr lang="en-US" sz="1600" i="1" strike="sngStrike" dirty="0">
                <a:solidFill>
                  <a:schemeClr val="accent6"/>
                </a:solidFill>
              </a:rPr>
              <a:t>heb sinds september Nederlandse les gevolgd</a:t>
            </a:r>
            <a:r>
              <a:rPr lang="en-US" sz="1600" b="1" i="1" dirty="0">
                <a:solidFill>
                  <a:schemeClr val="accent3"/>
                </a:solidFill>
              </a:rPr>
              <a:t> volg sinds september Nederlandse les</a:t>
            </a:r>
            <a:r>
              <a:rPr lang="en-US" sz="1600" i="1" dirty="0">
                <a:solidFill>
                  <a:schemeClr val="tx1"/>
                </a:solidFill>
              </a:rPr>
              <a:t> en ik vind het nog altijd super! En ik heb groot nieuws: volgende maand verander ik van job! Vorige week </a:t>
            </a:r>
            <a:r>
              <a:rPr lang="en-US" sz="1600" i="1" strike="sngStrike" dirty="0">
                <a:solidFill>
                  <a:schemeClr val="accent6"/>
                </a:solidFill>
              </a:rPr>
              <a:t>heb</a:t>
            </a:r>
            <a:r>
              <a:rPr lang="en-US" sz="1600" b="1" i="1" dirty="0">
                <a:solidFill>
                  <a:schemeClr val="accent3"/>
                </a:solidFill>
              </a:rPr>
              <a:t> had</a:t>
            </a:r>
            <a:r>
              <a:rPr lang="en-US" sz="1600" i="1" dirty="0">
                <a:solidFill>
                  <a:schemeClr val="tx1"/>
                </a:solidFill>
              </a:rPr>
              <a:t> ik een sollicitatiegesprek bij Koopzo. Ik </a:t>
            </a:r>
            <a:r>
              <a:rPr lang="en-US" sz="1600" i="1" strike="sngStrike" dirty="0">
                <a:solidFill>
                  <a:schemeClr val="accent6"/>
                </a:solidFill>
              </a:rPr>
              <a:t>kom van te bellen met de HR-dienst</a:t>
            </a:r>
            <a:r>
              <a:rPr lang="en-US" sz="1600" b="1" i="1" dirty="0">
                <a:solidFill>
                  <a:schemeClr val="accent3"/>
                </a:solidFill>
              </a:rPr>
              <a:t> heb net met de HR-dienst gebeld</a:t>
            </a:r>
            <a:r>
              <a:rPr lang="en-US" sz="1600" i="1" dirty="0">
                <a:solidFill>
                  <a:schemeClr val="tx1"/>
                </a:solidFill>
              </a:rPr>
              <a:t>: ze nemen me aan! Toen ik het hoorde, </a:t>
            </a:r>
            <a:r>
              <a:rPr lang="en-US" sz="1600" i="1" strike="sngStrike" dirty="0">
                <a:solidFill>
                  <a:schemeClr val="accent6"/>
                </a:solidFill>
              </a:rPr>
              <a:t>ben</a:t>
            </a:r>
            <a:r>
              <a:rPr lang="en-US" sz="1600" b="1" i="1" dirty="0">
                <a:solidFill>
                  <a:schemeClr val="accent3"/>
                </a:solidFill>
              </a:rPr>
              <a:t> was</a:t>
            </a:r>
            <a:r>
              <a:rPr lang="en-US" sz="1600" i="1" dirty="0">
                <a:solidFill>
                  <a:schemeClr val="tx1"/>
                </a:solidFill>
              </a:rPr>
              <a:t> ik zo blij. Ik had dat echt niet verwacht. Als ik meer tijd </a:t>
            </a:r>
            <a:r>
              <a:rPr lang="en-US" sz="1600" i="1" strike="sngStrike" dirty="0">
                <a:solidFill>
                  <a:schemeClr val="accent6"/>
                </a:solidFill>
              </a:rPr>
              <a:t>heb</a:t>
            </a:r>
            <a:r>
              <a:rPr lang="en-US" sz="1600" b="1" i="1" dirty="0">
                <a:solidFill>
                  <a:schemeClr val="accent3"/>
                </a:solidFill>
              </a:rPr>
              <a:t> had</a:t>
            </a:r>
            <a:r>
              <a:rPr lang="en-US" sz="1600" i="1" dirty="0">
                <a:solidFill>
                  <a:schemeClr val="tx1"/>
                </a:solidFill>
              </a:rPr>
              <a:t>, zou ik een feestje geven.</a:t>
            </a:r>
            <a:endParaRPr lang="en-US" sz="1600" dirty="0"/>
          </a:p>
          <a:p>
            <a:pPr algn="l" indent="0" marL="0">
              <a:lnSpc>
                <a:spcPct val="115000"/>
              </a:lnSpc>
              <a:spcAft>
                <a:spcPts val="600"/>
              </a:spcAft>
              <a:buNone/>
            </a:pPr>
            <a:r>
              <a:rPr lang="en-US" sz="1600" i="1" dirty="0">
                <a:solidFill>
                  <a:schemeClr val="tx1"/>
                </a:solidFill>
              </a:rPr>
              <a:t>Groetjes,</a:t>
            </a:r>
            <a:endParaRPr lang="en-US" sz="1600" dirty="0"/>
          </a:p>
          <a:p>
            <a:pPr algn="l" indent="0" marL="0">
              <a:lnSpc>
                <a:spcPct val="115000"/>
              </a:lnSpc>
              <a:spcAft>
                <a:spcPts val="600"/>
              </a:spcAft>
              <a:buNone/>
            </a:pPr>
            <a:r>
              <a:rPr lang="en-US" sz="1600" i="1" dirty="0">
                <a:solidFill>
                  <a:schemeClr val="tx1"/>
                </a:solidFill>
              </a:rPr>
              <a:t>Sofie</a:t>
            </a:r>
            <a:endParaRPr lang="en-US" sz="16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erreurs ✓</a:t>
            </a:r>
            <a:endParaRPr lang="en-US" sz="2200" dirty="0"/>
          </a:p>
        </p:txBody>
      </p:sp>
      <p:sp>
        <p:nvSpPr>
          <p:cNvPr id="16" name="Text 11"/>
          <p:cNvSpPr txBox="1"/>
          <p:nvPr/>
        </p:nvSpPr>
        <p:spPr>
          <a:xfrm>
            <a:off x="9052560" y="4721352"/>
            <a:ext cx="2587752" cy="2468880"/>
          </a:xfrm>
          <a:prstGeom prst="rect">
            <a:avLst/>
          </a:prstGeom>
          <a:noFill/>
          <a:ln/>
        </p:spPr>
        <p:txBody>
          <a:bodyPr wrap="square" lIns="0" tIns="0" rIns="0" bIns="0" rtlCol="0" anchor="t"/>
          <a:lstStyle/>
          <a:p>
            <a:pPr algn="l" indent="0" marL="0">
              <a:spcAft>
                <a:spcPts val="600"/>
              </a:spcAft>
              <a:buNone/>
            </a:pPr>
            <a:r>
              <a:rPr lang="en-US" sz="1250" i="1" dirty="0">
                <a:solidFill>
                  <a:schemeClr val="accent5"/>
                </a:solidFill>
              </a:rPr>
              <a:t>Aussi : </a:t>
            </a:r>
            <a:r>
              <a:rPr lang="en-US" sz="1250" i="1" dirty="0">
                <a:solidFill>
                  <a:schemeClr val="accent5"/>
                </a:solidFill>
              </a:rPr>
              <a:t>heb ik … gehad</a:t>
            </a:r>
            <a:r>
              <a:rPr lang="en-US" sz="1250" i="1" dirty="0">
                <a:solidFill>
                  <a:schemeClr val="accent5"/>
                </a:solidFill>
              </a:rPr>
              <a:t> · </a:t>
            </a:r>
            <a:r>
              <a:rPr lang="en-US" sz="1250" i="1" dirty="0">
                <a:solidFill>
                  <a:schemeClr val="accent5"/>
                </a:solidFill>
              </a:rPr>
              <a:t>Als ik meer tijd heb, geef ik…</a:t>
            </a:r>
            <a:endParaRPr lang="en-US" sz="1250" dirty="0"/>
          </a:p>
          <a:p>
            <a:pPr algn="l" indent="0" marL="0">
              <a:spcAft>
                <a:spcPts val="600"/>
              </a:spcAft>
              <a:buNone/>
            </a:pPr>
            <a:r>
              <a:rPr lang="en-US" sz="1250" i="1" dirty="0">
                <a:solidFill>
                  <a:schemeClr val="accent5"/>
                </a:solidFill>
              </a:rPr>
              <a:t>Corrects : </a:t>
            </a:r>
            <a:r>
              <a:rPr lang="en-US" sz="1250" i="1" dirty="0">
                <a:solidFill>
                  <a:schemeClr val="accent5"/>
                </a:solidFill>
              </a:rPr>
              <a:t>volgende maand verander ik</a:t>
            </a:r>
            <a:r>
              <a:rPr lang="en-US" sz="1250" i="1" dirty="0">
                <a:solidFill>
                  <a:schemeClr val="accent5"/>
                </a:solidFill>
              </a:rPr>
              <a:t> (présent + marqueur = futur), </a:t>
            </a:r>
            <a:r>
              <a:rPr lang="en-US" sz="1250" i="1" dirty="0">
                <a:solidFill>
                  <a:schemeClr val="accent5"/>
                </a:solidFill>
              </a:rPr>
              <a:t>Ik had dat niet verwacht</a:t>
            </a:r>
            <a:r>
              <a:rPr lang="en-US" sz="1250" i="1" dirty="0">
                <a:solidFill>
                  <a:schemeClr val="accent5"/>
                </a:solidFill>
              </a:rPr>
              <a:t> (passé du passé).</a:t>
            </a:r>
            <a:endParaRPr lang="en-US" sz="12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10 — La roue du temps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640080" y="1737360"/>
            <a:ext cx="4114800" cy="4114800"/>
          </a:xfrm>
          <a:prstGeom prst="pie">
            <a:avLst>
              <a:gd name="adj1" fmla="val 14850000"/>
              <a:gd name="adj2" fmla="val 17550000"/>
            </a:avLst>
          </a:prstGeom>
          <a:solidFill>
            <a:srgbClr val="2A6FB0"/>
          </a:solidFill>
          <a:ln w="25400">
            <a:solidFill>
              <a:srgbClr val="FFFFFF"/>
            </a:solidFill>
            <a:prstDash val="solid"/>
          </a:ln>
        </p:spPr>
      </p:sp>
      <p:sp>
        <p:nvSpPr>
          <p:cNvPr id="7" name="Text 4"/>
          <p:cNvSpPr txBox="1"/>
          <p:nvPr/>
        </p:nvSpPr>
        <p:spPr>
          <a:xfrm>
            <a:off x="2075688" y="2144268"/>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presens</a:t>
            </a:r>
            <a:endParaRPr lang="en-US" sz="1050" dirty="0"/>
          </a:p>
        </p:txBody>
      </p:sp>
      <p:sp>
        <p:nvSpPr>
          <p:cNvPr id="8" name="Shape 5"/>
          <p:cNvSpPr/>
          <p:nvPr/>
        </p:nvSpPr>
        <p:spPr>
          <a:xfrm>
            <a:off x="640080" y="1737360"/>
            <a:ext cx="4114800" cy="4114800"/>
          </a:xfrm>
          <a:prstGeom prst="pie">
            <a:avLst>
              <a:gd name="adj1" fmla="val 17550000"/>
              <a:gd name="adj2" fmla="val 20250000"/>
            </a:avLst>
          </a:prstGeom>
          <a:solidFill>
            <a:srgbClr val="B4236A"/>
          </a:solidFill>
          <a:ln w="25400">
            <a:solidFill>
              <a:srgbClr val="FFFFFF"/>
            </a:solidFill>
            <a:prstDash val="solid"/>
          </a:ln>
        </p:spPr>
      </p:sp>
      <p:sp>
        <p:nvSpPr>
          <p:cNvPr id="9" name="Text 6"/>
          <p:cNvSpPr txBox="1"/>
          <p:nvPr/>
        </p:nvSpPr>
        <p:spPr>
          <a:xfrm>
            <a:off x="3035857" y="2541983"/>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perfectum</a:t>
            </a:r>
            <a:endParaRPr lang="en-US" sz="1050" dirty="0"/>
          </a:p>
        </p:txBody>
      </p:sp>
      <p:sp>
        <p:nvSpPr>
          <p:cNvPr id="10" name="Shape 7"/>
          <p:cNvSpPr/>
          <p:nvPr/>
        </p:nvSpPr>
        <p:spPr>
          <a:xfrm>
            <a:off x="640080" y="1737360"/>
            <a:ext cx="4114800" cy="4114800"/>
          </a:xfrm>
          <a:prstGeom prst="pie">
            <a:avLst>
              <a:gd name="adj1" fmla="val 20250000"/>
              <a:gd name="adj2" fmla="val 1350000"/>
            </a:avLst>
          </a:prstGeom>
          <a:solidFill>
            <a:srgbClr val="B4236A"/>
          </a:solidFill>
          <a:ln w="25400">
            <a:solidFill>
              <a:srgbClr val="FFFFFF"/>
            </a:solidFill>
            <a:prstDash val="solid"/>
          </a:ln>
        </p:spPr>
      </p:sp>
      <p:sp>
        <p:nvSpPr>
          <p:cNvPr id="11" name="Text 8"/>
          <p:cNvSpPr txBox="1"/>
          <p:nvPr/>
        </p:nvSpPr>
        <p:spPr>
          <a:xfrm>
            <a:off x="3433572" y="3502152"/>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imperfectum</a:t>
            </a:r>
            <a:endParaRPr lang="en-US" sz="1050" dirty="0"/>
          </a:p>
        </p:txBody>
      </p:sp>
      <p:sp>
        <p:nvSpPr>
          <p:cNvPr id="12" name="Shape 9"/>
          <p:cNvSpPr/>
          <p:nvPr/>
        </p:nvSpPr>
        <p:spPr>
          <a:xfrm>
            <a:off x="640080" y="1737360"/>
            <a:ext cx="4114800" cy="4114800"/>
          </a:xfrm>
          <a:prstGeom prst="pie">
            <a:avLst>
              <a:gd name="adj1" fmla="val 1350000"/>
              <a:gd name="adj2" fmla="val 4050000"/>
            </a:avLst>
          </a:prstGeom>
          <a:solidFill>
            <a:srgbClr val="7A1748"/>
          </a:solidFill>
          <a:ln w="25400">
            <a:solidFill>
              <a:srgbClr val="FFFFFF"/>
            </a:solidFill>
            <a:prstDash val="solid"/>
          </a:ln>
        </p:spPr>
      </p:sp>
      <p:sp>
        <p:nvSpPr>
          <p:cNvPr id="13" name="Text 10"/>
          <p:cNvSpPr txBox="1"/>
          <p:nvPr/>
        </p:nvSpPr>
        <p:spPr>
          <a:xfrm>
            <a:off x="3035857" y="4462321"/>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plusquam-</a:t>
            </a:r>
            <a:endParaRPr lang="en-US" sz="1050" dirty="0"/>
          </a:p>
          <a:p>
            <a:pPr algn="ctr" indent="0" marL="0">
              <a:buNone/>
            </a:pPr>
            <a:r>
              <a:rPr lang="en-US" sz="1050" b="1" dirty="0">
                <a:solidFill>
                  <a:schemeClr val="bg1"/>
                </a:solidFill>
              </a:rPr>
              <a:t>perfectum</a:t>
            </a:r>
            <a:endParaRPr lang="en-US" sz="1050" dirty="0"/>
          </a:p>
        </p:txBody>
      </p:sp>
      <p:sp>
        <p:nvSpPr>
          <p:cNvPr id="14" name="Shape 11"/>
          <p:cNvSpPr/>
          <p:nvPr/>
        </p:nvSpPr>
        <p:spPr>
          <a:xfrm>
            <a:off x="640080" y="1737360"/>
            <a:ext cx="4114800" cy="4114800"/>
          </a:xfrm>
          <a:prstGeom prst="pie">
            <a:avLst>
              <a:gd name="adj1" fmla="val 4050000"/>
              <a:gd name="adj2" fmla="val 6750000"/>
            </a:avLst>
          </a:prstGeom>
          <a:solidFill>
            <a:srgbClr val="2E7D4F"/>
          </a:solidFill>
          <a:ln w="25400">
            <a:solidFill>
              <a:srgbClr val="FFFFFF"/>
            </a:solidFill>
            <a:prstDash val="solid"/>
          </a:ln>
        </p:spPr>
      </p:sp>
      <p:sp>
        <p:nvSpPr>
          <p:cNvPr id="15" name="Text 12"/>
          <p:cNvSpPr txBox="1"/>
          <p:nvPr/>
        </p:nvSpPr>
        <p:spPr>
          <a:xfrm>
            <a:off x="2075688" y="4860036"/>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futurum</a:t>
            </a:r>
            <a:endParaRPr lang="en-US" sz="1050" dirty="0"/>
          </a:p>
        </p:txBody>
      </p:sp>
      <p:sp>
        <p:nvSpPr>
          <p:cNvPr id="16" name="Shape 13"/>
          <p:cNvSpPr/>
          <p:nvPr/>
        </p:nvSpPr>
        <p:spPr>
          <a:xfrm>
            <a:off x="640080" y="1737360"/>
            <a:ext cx="4114800" cy="4114800"/>
          </a:xfrm>
          <a:prstGeom prst="pie">
            <a:avLst>
              <a:gd name="adj1" fmla="val 6750000"/>
              <a:gd name="adj2" fmla="val 9450000"/>
            </a:avLst>
          </a:prstGeom>
          <a:solidFill>
            <a:srgbClr val="1B5734"/>
          </a:solidFill>
          <a:ln w="25400">
            <a:solidFill>
              <a:srgbClr val="FFFFFF"/>
            </a:solidFill>
            <a:prstDash val="solid"/>
          </a:ln>
        </p:spPr>
      </p:sp>
      <p:sp>
        <p:nvSpPr>
          <p:cNvPr id="17" name="Text 14"/>
          <p:cNvSpPr txBox="1"/>
          <p:nvPr/>
        </p:nvSpPr>
        <p:spPr>
          <a:xfrm>
            <a:off x="1115519" y="4462321"/>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futurum</a:t>
            </a:r>
            <a:endParaRPr lang="en-US" sz="1050" dirty="0"/>
          </a:p>
          <a:p>
            <a:pPr algn="ctr" indent="0" marL="0">
              <a:buNone/>
            </a:pPr>
            <a:r>
              <a:rPr lang="en-US" sz="1050" b="1" dirty="0">
                <a:solidFill>
                  <a:schemeClr val="bg1"/>
                </a:solidFill>
              </a:rPr>
              <a:t>exactum</a:t>
            </a:r>
            <a:endParaRPr lang="en-US" sz="1050" dirty="0"/>
          </a:p>
        </p:txBody>
      </p:sp>
      <p:sp>
        <p:nvSpPr>
          <p:cNvPr id="18" name="Shape 15"/>
          <p:cNvSpPr/>
          <p:nvPr/>
        </p:nvSpPr>
        <p:spPr>
          <a:xfrm>
            <a:off x="640080" y="1737360"/>
            <a:ext cx="4114800" cy="4114800"/>
          </a:xfrm>
          <a:prstGeom prst="pie">
            <a:avLst>
              <a:gd name="adj1" fmla="val 9450000"/>
              <a:gd name="adj2" fmla="val 12150000"/>
            </a:avLst>
          </a:prstGeom>
          <a:solidFill>
            <a:srgbClr val="6E4A9E"/>
          </a:solidFill>
          <a:ln w="25400">
            <a:solidFill>
              <a:srgbClr val="FFFFFF"/>
            </a:solidFill>
            <a:prstDash val="solid"/>
          </a:ln>
        </p:spPr>
      </p:sp>
      <p:sp>
        <p:nvSpPr>
          <p:cNvPr id="19" name="Text 16"/>
          <p:cNvSpPr txBox="1"/>
          <p:nvPr/>
        </p:nvSpPr>
        <p:spPr>
          <a:xfrm>
            <a:off x="717804" y="3502152"/>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conditionalis</a:t>
            </a:r>
            <a:endParaRPr lang="en-US" sz="1050" dirty="0"/>
          </a:p>
        </p:txBody>
      </p:sp>
      <p:sp>
        <p:nvSpPr>
          <p:cNvPr id="20" name="Shape 17"/>
          <p:cNvSpPr/>
          <p:nvPr/>
        </p:nvSpPr>
        <p:spPr>
          <a:xfrm>
            <a:off x="640080" y="1737360"/>
            <a:ext cx="4114800" cy="4114800"/>
          </a:xfrm>
          <a:prstGeom prst="pie">
            <a:avLst>
              <a:gd name="adj1" fmla="val 12150000"/>
              <a:gd name="adj2" fmla="val 14850000"/>
            </a:avLst>
          </a:prstGeom>
          <a:solidFill>
            <a:srgbClr val="45306A"/>
          </a:solidFill>
          <a:ln w="25400">
            <a:solidFill>
              <a:srgbClr val="FFFFFF"/>
            </a:solidFill>
            <a:prstDash val="solid"/>
          </a:ln>
        </p:spPr>
      </p:sp>
      <p:sp>
        <p:nvSpPr>
          <p:cNvPr id="21" name="Text 18"/>
          <p:cNvSpPr txBox="1"/>
          <p:nvPr/>
        </p:nvSpPr>
        <p:spPr>
          <a:xfrm>
            <a:off x="1115519" y="2541983"/>
            <a:ext cx="1243584" cy="585216"/>
          </a:xfrm>
          <a:prstGeom prst="rect">
            <a:avLst/>
          </a:prstGeom>
          <a:noFill/>
          <a:ln/>
        </p:spPr>
        <p:txBody>
          <a:bodyPr wrap="square" lIns="0" tIns="0" rIns="0" bIns="0" rtlCol="0" anchor="ctr"/>
          <a:lstStyle/>
          <a:p>
            <a:pPr algn="ctr" indent="0" marL="0">
              <a:buNone/>
            </a:pPr>
            <a:r>
              <a:rPr lang="en-US" sz="1050" b="1" dirty="0">
                <a:solidFill>
                  <a:schemeClr val="bg1"/>
                </a:solidFill>
              </a:rPr>
              <a:t>cond.</a:t>
            </a:r>
            <a:endParaRPr lang="en-US" sz="1050" dirty="0"/>
          </a:p>
          <a:p>
            <a:pPr algn="ctr" indent="0" marL="0">
              <a:buNone/>
            </a:pPr>
            <a:r>
              <a:rPr lang="en-US" sz="1050" b="1" dirty="0">
                <a:solidFill>
                  <a:schemeClr val="bg1"/>
                </a:solidFill>
              </a:rPr>
              <a:t>perfectum</a:t>
            </a:r>
            <a:endParaRPr lang="en-US" sz="1050" dirty="0"/>
          </a:p>
        </p:txBody>
      </p:sp>
      <p:sp>
        <p:nvSpPr>
          <p:cNvPr id="22" name="Shape 19"/>
          <p:cNvSpPr/>
          <p:nvPr/>
        </p:nvSpPr>
        <p:spPr>
          <a:xfrm>
            <a:off x="2313432" y="3410712"/>
            <a:ext cx="768096" cy="768096"/>
          </a:xfrm>
          <a:prstGeom prst="ellipse">
            <a:avLst/>
          </a:prstGeom>
          <a:solidFill>
            <a:srgbClr val="FFFFFF"/>
          </a:solidFill>
          <a:ln w="25400">
            <a:solidFill>
              <a:srgbClr val="17375E"/>
            </a:solidFill>
            <a:prstDash val="solid"/>
          </a:ln>
        </p:spPr>
      </p:sp>
      <p:pic>
        <p:nvPicPr>
          <p:cNvPr id="23" name="Image 0" descr="SyncAlt">    </p:cNvPr>
          <p:cNvPicPr>
            <a:picLocks noChangeAspect="1"/>
          </p:cNvPicPr>
          <p:nvPr/>
        </p:nvPicPr>
        <p:blipFill>
          <a:blip r:embed="rId1"/>
          <a:stretch>
            <a:fillRect/>
          </a:stretch>
        </p:blipFill>
        <p:spPr>
          <a:xfrm>
            <a:off x="2496312" y="3593592"/>
            <a:ext cx="402336" cy="402336"/>
          </a:xfrm>
          <a:prstGeom prst="rect">
            <a:avLst/>
          </a:prstGeom>
        </p:spPr>
      </p:pic>
      <p:sp>
        <p:nvSpPr>
          <p:cNvPr id="24" name="Shape 20"/>
          <p:cNvSpPr/>
          <p:nvPr/>
        </p:nvSpPr>
        <p:spPr>
          <a:xfrm>
            <a:off x="2496312" y="1353312"/>
            <a:ext cx="402336" cy="457200"/>
          </a:xfrm>
          <a:prstGeom prst="downArrow">
            <a:avLst/>
          </a:prstGeom>
          <a:solidFill>
            <a:srgbClr val="B83227"/>
          </a:solidFill>
          <a:ln w="12700">
            <a:solidFill>
              <a:srgbClr val="FFFFFF"/>
            </a:solidFill>
            <a:prstDash val="solid"/>
          </a:ln>
        </p:spPr>
      </p:sp>
      <p:sp>
        <p:nvSpPr>
          <p:cNvPr id="25" name="Text 21"/>
          <p:cNvSpPr txBox="1"/>
          <p:nvPr/>
        </p:nvSpPr>
        <p:spPr>
          <a:xfrm>
            <a:off x="5120640" y="1463040"/>
            <a:ext cx="2743200" cy="347472"/>
          </a:xfrm>
          <a:prstGeom prst="rect">
            <a:avLst/>
          </a:prstGeom>
          <a:noFill/>
          <a:ln/>
        </p:spPr>
        <p:txBody>
          <a:bodyPr wrap="square" lIns="0" tIns="0" rIns="0" bIns="0" rtlCol="0" anchor="t"/>
          <a:lstStyle/>
          <a:p>
            <a:pPr algn="l" indent="0" marL="0">
              <a:buNone/>
            </a:pPr>
            <a:r>
              <a:rPr lang="en-US" sz="1300" b="1" spc="100" kern="0" dirty="0">
                <a:solidFill>
                  <a:schemeClr val="tx2"/>
                </a:solidFill>
              </a:rPr>
              <a:t>VERBES</a:t>
            </a:r>
            <a:endParaRPr lang="en-US" sz="1300" dirty="0"/>
          </a:p>
        </p:txBody>
      </p:sp>
      <p:sp>
        <p:nvSpPr>
          <p:cNvPr id="26" name="Shape 22"/>
          <p:cNvSpPr/>
          <p:nvPr/>
        </p:nvSpPr>
        <p:spPr>
          <a:xfrm rot="-120000">
            <a:off x="5120640" y="1847088"/>
            <a:ext cx="1554480" cy="475488"/>
          </a:xfrm>
          <a:prstGeom prst="roundRect">
            <a:avLst>
              <a:gd name="adj" fmla="val 19231"/>
            </a:avLst>
          </a:prstGeom>
          <a:solidFill>
            <a:srgbClr val="FFFFFF"/>
          </a:solidFill>
          <a:ln w="15875">
            <a:solidFill>
              <a:srgbClr val="17375E"/>
            </a:solidFill>
            <a:prstDash val="solid"/>
          </a:ln>
        </p:spPr>
      </p:sp>
      <p:sp>
        <p:nvSpPr>
          <p:cNvPr id="27" name="Text 23"/>
          <p:cNvSpPr txBox="1"/>
          <p:nvPr/>
        </p:nvSpPr>
        <p:spPr>
          <a:xfrm rot="-120000">
            <a:off x="5120640" y="1847088"/>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werken</a:t>
            </a:r>
            <a:endParaRPr lang="en-US" sz="1400" dirty="0"/>
          </a:p>
        </p:txBody>
      </p:sp>
      <p:sp>
        <p:nvSpPr>
          <p:cNvPr id="28" name="Shape 24"/>
          <p:cNvSpPr/>
          <p:nvPr/>
        </p:nvSpPr>
        <p:spPr>
          <a:xfrm rot="60000">
            <a:off x="6766560" y="1847088"/>
            <a:ext cx="1554480" cy="475488"/>
          </a:xfrm>
          <a:prstGeom prst="roundRect">
            <a:avLst>
              <a:gd name="adj" fmla="val 19231"/>
            </a:avLst>
          </a:prstGeom>
          <a:solidFill>
            <a:srgbClr val="FFFFFF"/>
          </a:solidFill>
          <a:ln w="15875">
            <a:solidFill>
              <a:srgbClr val="17375E"/>
            </a:solidFill>
            <a:prstDash val="solid"/>
          </a:ln>
        </p:spPr>
      </p:sp>
      <p:sp>
        <p:nvSpPr>
          <p:cNvPr id="29" name="Text 25"/>
          <p:cNvSpPr txBox="1"/>
          <p:nvPr/>
        </p:nvSpPr>
        <p:spPr>
          <a:xfrm rot="60000">
            <a:off x="6766560" y="1847088"/>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gaan</a:t>
            </a:r>
            <a:endParaRPr lang="en-US" sz="1400" dirty="0"/>
          </a:p>
        </p:txBody>
      </p:sp>
      <p:sp>
        <p:nvSpPr>
          <p:cNvPr id="30" name="Shape 26"/>
          <p:cNvSpPr/>
          <p:nvPr/>
        </p:nvSpPr>
        <p:spPr>
          <a:xfrm rot="120000">
            <a:off x="8412480" y="1847088"/>
            <a:ext cx="1554480" cy="475488"/>
          </a:xfrm>
          <a:prstGeom prst="roundRect">
            <a:avLst>
              <a:gd name="adj" fmla="val 19231"/>
            </a:avLst>
          </a:prstGeom>
          <a:solidFill>
            <a:srgbClr val="FFFFFF"/>
          </a:solidFill>
          <a:ln w="15875">
            <a:solidFill>
              <a:srgbClr val="17375E"/>
            </a:solidFill>
            <a:prstDash val="solid"/>
          </a:ln>
        </p:spPr>
      </p:sp>
      <p:sp>
        <p:nvSpPr>
          <p:cNvPr id="31" name="Text 27"/>
          <p:cNvSpPr txBox="1"/>
          <p:nvPr/>
        </p:nvSpPr>
        <p:spPr>
          <a:xfrm rot="120000">
            <a:off x="8412480" y="1847088"/>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schrijven</a:t>
            </a:r>
            <a:endParaRPr lang="en-US" sz="1400" dirty="0"/>
          </a:p>
        </p:txBody>
      </p:sp>
      <p:sp>
        <p:nvSpPr>
          <p:cNvPr id="32" name="Shape 28"/>
          <p:cNvSpPr/>
          <p:nvPr/>
        </p:nvSpPr>
        <p:spPr>
          <a:xfrm rot="-60000">
            <a:off x="10058400" y="1847088"/>
            <a:ext cx="1554480" cy="475488"/>
          </a:xfrm>
          <a:prstGeom prst="roundRect">
            <a:avLst>
              <a:gd name="adj" fmla="val 19231"/>
            </a:avLst>
          </a:prstGeom>
          <a:solidFill>
            <a:srgbClr val="FFFFFF"/>
          </a:solidFill>
          <a:ln w="15875">
            <a:solidFill>
              <a:srgbClr val="17375E"/>
            </a:solidFill>
            <a:prstDash val="solid"/>
          </a:ln>
        </p:spPr>
      </p:sp>
      <p:sp>
        <p:nvSpPr>
          <p:cNvPr id="33" name="Text 29"/>
          <p:cNvSpPr txBox="1"/>
          <p:nvPr/>
        </p:nvSpPr>
        <p:spPr>
          <a:xfrm rot="-60000">
            <a:off x="10058400" y="1847088"/>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bellen</a:t>
            </a:r>
            <a:endParaRPr lang="en-US" sz="1400" dirty="0"/>
          </a:p>
        </p:txBody>
      </p:sp>
      <p:sp>
        <p:nvSpPr>
          <p:cNvPr id="34" name="Shape 30"/>
          <p:cNvSpPr/>
          <p:nvPr/>
        </p:nvSpPr>
        <p:spPr>
          <a:xfrm rot="-120000">
            <a:off x="5120640" y="2414016"/>
            <a:ext cx="1554480" cy="475488"/>
          </a:xfrm>
          <a:prstGeom prst="roundRect">
            <a:avLst>
              <a:gd name="adj" fmla="val 19231"/>
            </a:avLst>
          </a:prstGeom>
          <a:solidFill>
            <a:srgbClr val="FFFFFF"/>
          </a:solidFill>
          <a:ln w="15875">
            <a:solidFill>
              <a:srgbClr val="17375E"/>
            </a:solidFill>
            <a:prstDash val="solid"/>
          </a:ln>
        </p:spPr>
      </p:sp>
      <p:sp>
        <p:nvSpPr>
          <p:cNvPr id="35" name="Text 31"/>
          <p:cNvSpPr txBox="1"/>
          <p:nvPr/>
        </p:nvSpPr>
        <p:spPr>
          <a:xfrm rot="-120000">
            <a:off x="5120640" y="2414016"/>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komen</a:t>
            </a:r>
            <a:endParaRPr lang="en-US" sz="1400" dirty="0"/>
          </a:p>
        </p:txBody>
      </p:sp>
      <p:sp>
        <p:nvSpPr>
          <p:cNvPr id="36" name="Shape 32"/>
          <p:cNvSpPr/>
          <p:nvPr/>
        </p:nvSpPr>
        <p:spPr>
          <a:xfrm rot="60000">
            <a:off x="6766560" y="2414016"/>
            <a:ext cx="1554480" cy="475488"/>
          </a:xfrm>
          <a:prstGeom prst="roundRect">
            <a:avLst>
              <a:gd name="adj" fmla="val 19231"/>
            </a:avLst>
          </a:prstGeom>
          <a:solidFill>
            <a:srgbClr val="FFFFFF"/>
          </a:solidFill>
          <a:ln w="15875">
            <a:solidFill>
              <a:srgbClr val="17375E"/>
            </a:solidFill>
            <a:prstDash val="solid"/>
          </a:ln>
        </p:spPr>
      </p:sp>
      <p:sp>
        <p:nvSpPr>
          <p:cNvPr id="37" name="Text 33"/>
          <p:cNvSpPr txBox="1"/>
          <p:nvPr/>
        </p:nvSpPr>
        <p:spPr>
          <a:xfrm rot="60000">
            <a:off x="6766560" y="2414016"/>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eten</a:t>
            </a:r>
            <a:endParaRPr lang="en-US" sz="1400" dirty="0"/>
          </a:p>
        </p:txBody>
      </p:sp>
      <p:sp>
        <p:nvSpPr>
          <p:cNvPr id="38" name="Shape 34"/>
          <p:cNvSpPr/>
          <p:nvPr/>
        </p:nvSpPr>
        <p:spPr>
          <a:xfrm rot="120000">
            <a:off x="8412480" y="2414016"/>
            <a:ext cx="1554480" cy="475488"/>
          </a:xfrm>
          <a:prstGeom prst="roundRect">
            <a:avLst>
              <a:gd name="adj" fmla="val 19231"/>
            </a:avLst>
          </a:prstGeom>
          <a:solidFill>
            <a:srgbClr val="FFFFFF"/>
          </a:solidFill>
          <a:ln w="15875">
            <a:solidFill>
              <a:srgbClr val="17375E"/>
            </a:solidFill>
            <a:prstDash val="solid"/>
          </a:ln>
        </p:spPr>
      </p:sp>
      <p:sp>
        <p:nvSpPr>
          <p:cNvPr id="39" name="Text 35"/>
          <p:cNvSpPr txBox="1"/>
          <p:nvPr/>
        </p:nvSpPr>
        <p:spPr>
          <a:xfrm rot="120000">
            <a:off x="8412480" y="2414016"/>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vertrekken</a:t>
            </a:r>
            <a:endParaRPr lang="en-US" sz="1400" dirty="0"/>
          </a:p>
        </p:txBody>
      </p:sp>
      <p:sp>
        <p:nvSpPr>
          <p:cNvPr id="40" name="Shape 36"/>
          <p:cNvSpPr/>
          <p:nvPr/>
        </p:nvSpPr>
        <p:spPr>
          <a:xfrm rot="-60000">
            <a:off x="10058400" y="2414016"/>
            <a:ext cx="1554480" cy="475488"/>
          </a:xfrm>
          <a:prstGeom prst="roundRect">
            <a:avLst>
              <a:gd name="adj" fmla="val 19231"/>
            </a:avLst>
          </a:prstGeom>
          <a:solidFill>
            <a:srgbClr val="FFFFFF"/>
          </a:solidFill>
          <a:ln w="15875">
            <a:solidFill>
              <a:srgbClr val="17375E"/>
            </a:solidFill>
            <a:prstDash val="solid"/>
          </a:ln>
        </p:spPr>
      </p:sp>
      <p:sp>
        <p:nvSpPr>
          <p:cNvPr id="41" name="Text 37"/>
          <p:cNvSpPr txBox="1"/>
          <p:nvPr/>
        </p:nvSpPr>
        <p:spPr>
          <a:xfrm rot="-60000">
            <a:off x="10058400" y="2414016"/>
            <a:ext cx="1554480" cy="475488"/>
          </a:xfrm>
          <a:prstGeom prst="rect">
            <a:avLst/>
          </a:prstGeom>
          <a:noFill/>
          <a:ln/>
        </p:spPr>
        <p:txBody>
          <a:bodyPr wrap="square" lIns="0" tIns="0" rIns="0" bIns="0" rtlCol="0" anchor="ctr"/>
          <a:lstStyle/>
          <a:p>
            <a:pPr algn="ctr" indent="0" marL="0">
              <a:buNone/>
            </a:pPr>
            <a:r>
              <a:rPr lang="en-US" sz="1400" b="1" i="1" dirty="0">
                <a:solidFill>
                  <a:schemeClr val="tx2"/>
                </a:solidFill>
              </a:rPr>
              <a:t>kopen</a:t>
            </a:r>
            <a:endParaRPr lang="en-US" sz="1400" dirty="0"/>
          </a:p>
        </p:txBody>
      </p:sp>
      <p:sp>
        <p:nvSpPr>
          <p:cNvPr id="42" name="Text 38"/>
          <p:cNvSpPr txBox="1"/>
          <p:nvPr/>
        </p:nvSpPr>
        <p:spPr>
          <a:xfrm>
            <a:off x="5120640" y="3063240"/>
            <a:ext cx="2743200" cy="347472"/>
          </a:xfrm>
          <a:prstGeom prst="rect">
            <a:avLst/>
          </a:prstGeom>
          <a:noFill/>
          <a:ln/>
        </p:spPr>
        <p:txBody>
          <a:bodyPr wrap="square" lIns="0" tIns="0" rIns="0" bIns="0" rtlCol="0" anchor="t"/>
          <a:lstStyle/>
          <a:p>
            <a:pPr algn="l" indent="0" marL="0">
              <a:buNone/>
            </a:pPr>
            <a:r>
              <a:rPr lang="en-US" sz="1300" b="1" spc="100" kern="0" dirty="0">
                <a:solidFill>
                  <a:schemeClr val="accent1"/>
                </a:solidFill>
              </a:rPr>
              <a:t>MARQUEURS</a:t>
            </a:r>
            <a:endParaRPr lang="en-US" sz="1300" dirty="0"/>
          </a:p>
        </p:txBody>
      </p:sp>
      <p:sp>
        <p:nvSpPr>
          <p:cNvPr id="43" name="Shape 39"/>
          <p:cNvSpPr/>
          <p:nvPr/>
        </p:nvSpPr>
        <p:spPr>
          <a:xfrm rot="-120000">
            <a:off x="5120640" y="3447288"/>
            <a:ext cx="1554480" cy="475488"/>
          </a:xfrm>
          <a:prstGeom prst="roundRect">
            <a:avLst>
              <a:gd name="adj" fmla="val 19231"/>
            </a:avLst>
          </a:prstGeom>
          <a:solidFill>
            <a:srgbClr val="FDF1E6"/>
          </a:solidFill>
          <a:ln w="15875">
            <a:solidFill>
              <a:srgbClr val="D9700F"/>
            </a:solidFill>
            <a:prstDash val="solid"/>
          </a:ln>
        </p:spPr>
      </p:sp>
      <p:sp>
        <p:nvSpPr>
          <p:cNvPr id="44" name="Text 40"/>
          <p:cNvSpPr txBox="1"/>
          <p:nvPr/>
        </p:nvSpPr>
        <p:spPr>
          <a:xfrm rot="-120000">
            <a:off x="5120640" y="3447288"/>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gisteren</a:t>
            </a:r>
            <a:endParaRPr lang="en-US" sz="1400" dirty="0"/>
          </a:p>
        </p:txBody>
      </p:sp>
      <p:sp>
        <p:nvSpPr>
          <p:cNvPr id="45" name="Shape 41"/>
          <p:cNvSpPr/>
          <p:nvPr/>
        </p:nvSpPr>
        <p:spPr>
          <a:xfrm rot="60000">
            <a:off x="6766560" y="3447288"/>
            <a:ext cx="1554480" cy="475488"/>
          </a:xfrm>
          <a:prstGeom prst="roundRect">
            <a:avLst>
              <a:gd name="adj" fmla="val 19231"/>
            </a:avLst>
          </a:prstGeom>
          <a:solidFill>
            <a:srgbClr val="FDF1E6"/>
          </a:solidFill>
          <a:ln w="15875">
            <a:solidFill>
              <a:srgbClr val="D9700F"/>
            </a:solidFill>
            <a:prstDash val="solid"/>
          </a:ln>
        </p:spPr>
      </p:sp>
      <p:sp>
        <p:nvSpPr>
          <p:cNvPr id="46" name="Text 42"/>
          <p:cNvSpPr txBox="1"/>
          <p:nvPr/>
        </p:nvSpPr>
        <p:spPr>
          <a:xfrm rot="60000">
            <a:off x="6766560" y="3447288"/>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vroeger</a:t>
            </a:r>
            <a:endParaRPr lang="en-US" sz="1400" dirty="0"/>
          </a:p>
        </p:txBody>
      </p:sp>
      <p:sp>
        <p:nvSpPr>
          <p:cNvPr id="47" name="Shape 43"/>
          <p:cNvSpPr/>
          <p:nvPr/>
        </p:nvSpPr>
        <p:spPr>
          <a:xfrm rot="120000">
            <a:off x="8412480" y="3447288"/>
            <a:ext cx="1554480" cy="475488"/>
          </a:xfrm>
          <a:prstGeom prst="roundRect">
            <a:avLst>
              <a:gd name="adj" fmla="val 19231"/>
            </a:avLst>
          </a:prstGeom>
          <a:solidFill>
            <a:srgbClr val="FDF1E6"/>
          </a:solidFill>
          <a:ln w="15875">
            <a:solidFill>
              <a:srgbClr val="D9700F"/>
            </a:solidFill>
            <a:prstDash val="solid"/>
          </a:ln>
        </p:spPr>
      </p:sp>
      <p:sp>
        <p:nvSpPr>
          <p:cNvPr id="48" name="Text 44"/>
          <p:cNvSpPr txBox="1"/>
          <p:nvPr/>
        </p:nvSpPr>
        <p:spPr>
          <a:xfrm rot="120000">
            <a:off x="8412480" y="3447288"/>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nu</a:t>
            </a:r>
            <a:endParaRPr lang="en-US" sz="1400" dirty="0"/>
          </a:p>
        </p:txBody>
      </p:sp>
      <p:sp>
        <p:nvSpPr>
          <p:cNvPr id="49" name="Shape 45"/>
          <p:cNvSpPr/>
          <p:nvPr/>
        </p:nvSpPr>
        <p:spPr>
          <a:xfrm rot="-60000">
            <a:off x="10058400" y="3447288"/>
            <a:ext cx="1554480" cy="475488"/>
          </a:xfrm>
          <a:prstGeom prst="roundRect">
            <a:avLst>
              <a:gd name="adj" fmla="val 19231"/>
            </a:avLst>
          </a:prstGeom>
          <a:solidFill>
            <a:srgbClr val="FDF1E6"/>
          </a:solidFill>
          <a:ln w="15875">
            <a:solidFill>
              <a:srgbClr val="D9700F"/>
            </a:solidFill>
            <a:prstDash val="solid"/>
          </a:ln>
        </p:spPr>
      </p:sp>
      <p:sp>
        <p:nvSpPr>
          <p:cNvPr id="50" name="Text 46"/>
          <p:cNvSpPr txBox="1"/>
          <p:nvPr/>
        </p:nvSpPr>
        <p:spPr>
          <a:xfrm rot="-60000">
            <a:off x="10058400" y="3447288"/>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al drie jaar</a:t>
            </a:r>
            <a:endParaRPr lang="en-US" sz="1400" dirty="0"/>
          </a:p>
        </p:txBody>
      </p:sp>
      <p:sp>
        <p:nvSpPr>
          <p:cNvPr id="51" name="Shape 47"/>
          <p:cNvSpPr/>
          <p:nvPr/>
        </p:nvSpPr>
        <p:spPr>
          <a:xfrm rot="-120000">
            <a:off x="5120640" y="4014216"/>
            <a:ext cx="1554480" cy="475488"/>
          </a:xfrm>
          <a:prstGeom prst="roundRect">
            <a:avLst>
              <a:gd name="adj" fmla="val 19231"/>
            </a:avLst>
          </a:prstGeom>
          <a:solidFill>
            <a:srgbClr val="FDF1E6"/>
          </a:solidFill>
          <a:ln w="15875">
            <a:solidFill>
              <a:srgbClr val="D9700F"/>
            </a:solidFill>
            <a:prstDash val="solid"/>
          </a:ln>
        </p:spPr>
      </p:sp>
      <p:sp>
        <p:nvSpPr>
          <p:cNvPr id="52" name="Text 48"/>
          <p:cNvSpPr txBox="1"/>
          <p:nvPr/>
        </p:nvSpPr>
        <p:spPr>
          <a:xfrm rot="-120000">
            <a:off x="5120640" y="4014216"/>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morgen</a:t>
            </a:r>
            <a:endParaRPr lang="en-US" sz="1400" dirty="0"/>
          </a:p>
        </p:txBody>
      </p:sp>
      <p:sp>
        <p:nvSpPr>
          <p:cNvPr id="53" name="Shape 49"/>
          <p:cNvSpPr/>
          <p:nvPr/>
        </p:nvSpPr>
        <p:spPr>
          <a:xfrm rot="60000">
            <a:off x="6766560" y="4014216"/>
            <a:ext cx="1554480" cy="475488"/>
          </a:xfrm>
          <a:prstGeom prst="roundRect">
            <a:avLst>
              <a:gd name="adj" fmla="val 19231"/>
            </a:avLst>
          </a:prstGeom>
          <a:solidFill>
            <a:srgbClr val="FDF1E6"/>
          </a:solidFill>
          <a:ln w="15875">
            <a:solidFill>
              <a:srgbClr val="D9700F"/>
            </a:solidFill>
            <a:prstDash val="solid"/>
          </a:ln>
        </p:spPr>
      </p:sp>
      <p:sp>
        <p:nvSpPr>
          <p:cNvPr id="54" name="Text 50"/>
          <p:cNvSpPr txBox="1"/>
          <p:nvPr/>
        </p:nvSpPr>
        <p:spPr>
          <a:xfrm rot="60000">
            <a:off x="6766560" y="4014216"/>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tegen vrijdag</a:t>
            </a:r>
            <a:endParaRPr lang="en-US" sz="1400" dirty="0"/>
          </a:p>
        </p:txBody>
      </p:sp>
      <p:sp>
        <p:nvSpPr>
          <p:cNvPr id="55" name="Shape 51"/>
          <p:cNvSpPr/>
          <p:nvPr/>
        </p:nvSpPr>
        <p:spPr>
          <a:xfrm rot="120000">
            <a:off x="8412480" y="4014216"/>
            <a:ext cx="1554480" cy="475488"/>
          </a:xfrm>
          <a:prstGeom prst="roundRect">
            <a:avLst>
              <a:gd name="adj" fmla="val 19231"/>
            </a:avLst>
          </a:prstGeom>
          <a:solidFill>
            <a:srgbClr val="FDF1E6"/>
          </a:solidFill>
          <a:ln w="15875">
            <a:solidFill>
              <a:srgbClr val="D9700F"/>
            </a:solidFill>
            <a:prstDash val="solid"/>
          </a:ln>
        </p:spPr>
      </p:sp>
      <p:sp>
        <p:nvSpPr>
          <p:cNvPr id="56" name="Text 52"/>
          <p:cNvSpPr txBox="1"/>
          <p:nvPr/>
        </p:nvSpPr>
        <p:spPr>
          <a:xfrm rot="120000">
            <a:off x="8412480" y="4014216"/>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als ik tijd had</a:t>
            </a:r>
            <a:endParaRPr lang="en-US" sz="1400" dirty="0"/>
          </a:p>
        </p:txBody>
      </p:sp>
      <p:sp>
        <p:nvSpPr>
          <p:cNvPr id="57" name="Shape 53"/>
          <p:cNvSpPr/>
          <p:nvPr/>
        </p:nvSpPr>
        <p:spPr>
          <a:xfrm rot="-60000">
            <a:off x="10058400" y="4014216"/>
            <a:ext cx="1554480" cy="475488"/>
          </a:xfrm>
          <a:prstGeom prst="roundRect">
            <a:avLst>
              <a:gd name="adj" fmla="val 19231"/>
            </a:avLst>
          </a:prstGeom>
          <a:solidFill>
            <a:srgbClr val="FDF1E6"/>
          </a:solidFill>
          <a:ln w="15875">
            <a:solidFill>
              <a:srgbClr val="D9700F"/>
            </a:solidFill>
            <a:prstDash val="solid"/>
          </a:ln>
        </p:spPr>
      </p:sp>
      <p:sp>
        <p:nvSpPr>
          <p:cNvPr id="58" name="Text 54"/>
          <p:cNvSpPr txBox="1"/>
          <p:nvPr/>
        </p:nvSpPr>
        <p:spPr>
          <a:xfrm rot="-60000">
            <a:off x="10058400" y="4014216"/>
            <a:ext cx="1554480" cy="475488"/>
          </a:xfrm>
          <a:prstGeom prst="rect">
            <a:avLst/>
          </a:prstGeom>
          <a:noFill/>
          <a:ln/>
        </p:spPr>
        <p:txBody>
          <a:bodyPr wrap="square" lIns="0" tIns="0" rIns="0" bIns="0" rtlCol="0" anchor="ctr"/>
          <a:lstStyle/>
          <a:p>
            <a:pPr algn="ctr" indent="0" marL="0">
              <a:buNone/>
            </a:pPr>
            <a:r>
              <a:rPr lang="en-US" sz="1400" b="1" i="1" dirty="0">
                <a:solidFill>
                  <a:schemeClr val="accent1"/>
                </a:solidFill>
              </a:rPr>
              <a:t>net</a:t>
            </a:r>
            <a:endParaRPr lang="en-US" sz="1400" dirty="0"/>
          </a:p>
        </p:txBody>
      </p:sp>
      <p:sp>
        <p:nvSpPr>
          <p:cNvPr id="59" name="Shape 55"/>
          <p:cNvSpPr/>
          <p:nvPr/>
        </p:nvSpPr>
        <p:spPr>
          <a:xfrm>
            <a:off x="5120640" y="4709160"/>
            <a:ext cx="6519672" cy="1463040"/>
          </a:xfrm>
          <a:prstGeom prst="roundRect">
            <a:avLst>
              <a:gd name="adj" fmla="val 7500"/>
            </a:avLst>
          </a:prstGeom>
          <a:solidFill>
            <a:schemeClr val="bg2"/>
          </a:solidFill>
          <a:ln w="12700">
            <a:solidFill>
              <a:srgbClr val="D5DCE6"/>
            </a:solidFill>
            <a:prstDash val="solid"/>
          </a:ln>
        </p:spPr>
      </p:sp>
      <p:sp>
        <p:nvSpPr>
          <p:cNvPr id="60" name="Text 56"/>
          <p:cNvSpPr txBox="1"/>
          <p:nvPr/>
        </p:nvSpPr>
        <p:spPr>
          <a:xfrm>
            <a:off x="5303520" y="4736592"/>
            <a:ext cx="6217920" cy="1417320"/>
          </a:xfrm>
          <a:prstGeom prst="rect">
            <a:avLst/>
          </a:prstGeom>
          <a:noFill/>
          <a:ln/>
        </p:spPr>
        <p:txBody>
          <a:bodyPr wrap="square" lIns="0" tIns="0" rIns="0" bIns="0" rtlCol="0" anchor="ctr"/>
          <a:lstStyle/>
          <a:p>
            <a:pPr algn="l" indent="0" marL="0">
              <a:spcAft>
                <a:spcPts val="500"/>
              </a:spcAft>
              <a:buNone/>
            </a:pPr>
            <a:r>
              <a:rPr lang="en-US" sz="1400" dirty="0">
                <a:solidFill>
                  <a:schemeClr val="tx1"/>
                </a:solidFill>
              </a:rPr>
              <a:t>Par deux : tournez la roue (ou lancez un dé à 8 faces), tirez un verbe et un marqueur.</a:t>
            </a:r>
            <a:endParaRPr lang="en-US" sz="1400" dirty="0"/>
          </a:p>
          <a:p>
            <a:pPr algn="l" indent="0" marL="0">
              <a:spcAft>
                <a:spcPts val="500"/>
              </a:spcAft>
              <a:buNone/>
            </a:pPr>
            <a:r>
              <a:rPr lang="en-US" sz="1400" dirty="0">
                <a:solidFill>
                  <a:schemeClr val="tx1"/>
                </a:solidFill>
              </a:rPr>
              <a:t>Faites une phrase au temps indiqué. </a:t>
            </a:r>
            <a:r>
              <a:rPr lang="en-US" sz="1400" b="1" dirty="0">
                <a:solidFill>
                  <a:schemeClr val="tx1"/>
                </a:solidFill>
              </a:rPr>
              <a:t>1 point</a:t>
            </a:r>
            <a:r>
              <a:rPr lang="en-US" sz="1400" dirty="0">
                <a:solidFill>
                  <a:schemeClr val="tx1"/>
                </a:solidFill>
              </a:rPr>
              <a:t> si la forme est juste · </a:t>
            </a:r>
            <a:r>
              <a:rPr lang="en-US" sz="1400" b="1" dirty="0">
                <a:solidFill>
                  <a:schemeClr val="tx1"/>
                </a:solidFill>
              </a:rPr>
              <a:t>1 point</a:t>
            </a:r>
            <a:r>
              <a:rPr lang="en-US" sz="1400" dirty="0">
                <a:solidFill>
                  <a:schemeClr val="tx1"/>
                </a:solidFill>
              </a:rPr>
              <a:t> si le marqueur va avec le temps (sinon, changez de marqueur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11 — Mon parcours</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La newsletter de Peeters &amp; Co présente un·e collègue. A interviewe B sur son parcours. Objectif : 6 temps différents.</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A — journaliste</a:t>
            </a:r>
            <a:endParaRPr lang="en-US" sz="1700" dirty="0"/>
          </a:p>
          <a:p>
            <a:pPr algn="l" indent="0" marL="0">
              <a:spcAft>
                <a:spcPts val="600"/>
              </a:spcAft>
              <a:buNone/>
            </a:pPr>
            <a:r>
              <a:rPr lang="en-US" sz="1700" dirty="0">
                <a:solidFill>
                  <a:schemeClr val="tx1"/>
                </a:solidFill>
              </a:rPr>
              <a:t>Posez des questions sur le passé, le présent, les projets et les rêves de B.</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B — collègue</a:t>
            </a:r>
            <a:endParaRPr lang="en-US" sz="1700" dirty="0"/>
          </a:p>
          <a:p>
            <a:pPr algn="l" indent="0" marL="0">
              <a:spcAft>
                <a:spcPts val="600"/>
              </a:spcAft>
              <a:buNone/>
            </a:pPr>
            <a:r>
              <a:rPr lang="en-US" sz="1700" dirty="0">
                <a:solidFill>
                  <a:schemeClr val="tx1"/>
                </a:solidFill>
              </a:rPr>
              <a:t>Répondez avec la fiche : parcours, poste actuel, projets… et un regret.</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Wat deed je vroeger? · Hoe lang werk je hier al? · Wat is er toen gebeurd? · Wat ga je volgend jaar doen? · Wat zou je doen als …? · Wat zou je anders gedaan hebben? — Ik werkte … · Ik werk hier al … · Ik had nog nooit … · Ik ga … · Ik zou graag … · Ik had …</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48640"/>
          </a:xfrm>
          <a:prstGeom prst="roundRect">
            <a:avLst>
              <a:gd name="adj" fmla="val 6667"/>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548640"/>
          </a:xfrm>
          <a:prstGeom prst="rect">
            <a:avLst/>
          </a:prstGeom>
          <a:noFill/>
          <a:ln/>
        </p:spPr>
        <p:txBody>
          <a:bodyPr wrap="square" lIns="0" tIns="0" rIns="0" bIns="0" rtlCol="0" anchor="ctr"/>
          <a:lstStyle/>
          <a:p>
            <a:pPr algn="l" indent="0" marL="0">
              <a:buNone/>
            </a:pPr>
            <a:r>
              <a:rPr lang="en-US" sz="1300" b="1" spc="100" kern="0" dirty="0">
                <a:solidFill>
                  <a:schemeClr val="bg1"/>
                </a:solidFill>
              </a:rPr>
              <a:t>MIJN PARCOURS</a:t>
            </a:r>
            <a:endParaRPr lang="en-US" sz="1300" dirty="0"/>
          </a:p>
        </p:txBody>
      </p:sp>
      <p:sp>
        <p:nvSpPr>
          <p:cNvPr id="22" name="Shape 19"/>
          <p:cNvSpPr/>
          <p:nvPr/>
        </p:nvSpPr>
        <p:spPr>
          <a:xfrm>
            <a:off x="8366760" y="2258568"/>
            <a:ext cx="914" cy="3319272"/>
          </a:xfrm>
          <a:prstGeom prst="line">
            <a:avLst/>
          </a:prstGeom>
          <a:noFill/>
          <a:ln w="25400">
            <a:solidFill>
              <a:srgbClr val="8A96A8"/>
            </a:solidFill>
            <a:prstDash val="solid"/>
          </a:ln>
        </p:spPr>
      </p:sp>
      <p:sp>
        <p:nvSpPr>
          <p:cNvPr id="23" name="Shape 20"/>
          <p:cNvSpPr/>
          <p:nvPr/>
        </p:nvSpPr>
        <p:spPr>
          <a:xfrm>
            <a:off x="8275320" y="2286000"/>
            <a:ext cx="182880" cy="182880"/>
          </a:xfrm>
          <a:prstGeom prst="ellipse">
            <a:avLst/>
          </a:prstGeom>
          <a:solidFill>
            <a:schemeClr val="accent4"/>
          </a:solidFill>
          <a:ln w="12700">
            <a:solidFill>
              <a:srgbClr val="FFFFFF">
                <a:alpha val="0"/>
              </a:srgbClr>
            </a:solidFill>
            <a:prstDash val="solid"/>
          </a:ln>
        </p:spPr>
      </p:sp>
      <p:sp>
        <p:nvSpPr>
          <p:cNvPr id="24" name="Text 21"/>
          <p:cNvSpPr txBox="1"/>
          <p:nvPr/>
        </p:nvSpPr>
        <p:spPr>
          <a:xfrm>
            <a:off x="8549640" y="2148840"/>
            <a:ext cx="3017520" cy="274320"/>
          </a:xfrm>
          <a:prstGeom prst="rect">
            <a:avLst/>
          </a:prstGeom>
          <a:noFill/>
          <a:ln/>
        </p:spPr>
        <p:txBody>
          <a:bodyPr wrap="square" lIns="0" tIns="0" rIns="0" bIns="0" rtlCol="0" anchor="ctr"/>
          <a:lstStyle/>
          <a:p>
            <a:pPr algn="l" indent="0" marL="0">
              <a:buNone/>
            </a:pPr>
            <a:r>
              <a:rPr lang="en-US" sz="1200" b="1" dirty="0">
                <a:solidFill>
                  <a:schemeClr val="accent4"/>
                </a:solidFill>
              </a:rPr>
              <a:t>2012</a:t>
            </a:r>
            <a:endParaRPr lang="en-US" sz="1200" dirty="0"/>
          </a:p>
        </p:txBody>
      </p:sp>
      <p:sp>
        <p:nvSpPr>
          <p:cNvPr id="25" name="Text 22"/>
          <p:cNvSpPr txBox="1"/>
          <p:nvPr/>
        </p:nvSpPr>
        <p:spPr>
          <a:xfrm>
            <a:off x="8549640" y="2414016"/>
            <a:ext cx="3017520" cy="310896"/>
          </a:xfrm>
          <a:prstGeom prst="rect">
            <a:avLst/>
          </a:prstGeom>
          <a:noFill/>
          <a:ln/>
        </p:spPr>
        <p:txBody>
          <a:bodyPr wrap="square" lIns="0" tIns="0" rIns="0" bIns="0" rtlCol="0" anchor="ctr"/>
          <a:lstStyle/>
          <a:p>
            <a:pPr algn="l" indent="0" marL="0">
              <a:buNone/>
            </a:pPr>
            <a:r>
              <a:rPr lang="en-US" sz="1300" i="1" dirty="0">
                <a:solidFill>
                  <a:schemeClr val="tx1"/>
                </a:solidFill>
              </a:rPr>
              <a:t>diploma in Namen</a:t>
            </a:r>
            <a:endParaRPr lang="en-US" sz="1300" dirty="0"/>
          </a:p>
        </p:txBody>
      </p:sp>
      <p:sp>
        <p:nvSpPr>
          <p:cNvPr id="26" name="Shape 23"/>
          <p:cNvSpPr/>
          <p:nvPr/>
        </p:nvSpPr>
        <p:spPr>
          <a:xfrm>
            <a:off x="8275320" y="2944368"/>
            <a:ext cx="182880" cy="182880"/>
          </a:xfrm>
          <a:prstGeom prst="ellipse">
            <a:avLst/>
          </a:prstGeom>
          <a:solidFill>
            <a:schemeClr val="accent4"/>
          </a:solidFill>
          <a:ln w="12700">
            <a:solidFill>
              <a:srgbClr val="FFFFFF">
                <a:alpha val="0"/>
              </a:srgbClr>
            </a:solidFill>
            <a:prstDash val="solid"/>
          </a:ln>
        </p:spPr>
      </p:sp>
      <p:sp>
        <p:nvSpPr>
          <p:cNvPr id="27" name="Text 24"/>
          <p:cNvSpPr txBox="1"/>
          <p:nvPr/>
        </p:nvSpPr>
        <p:spPr>
          <a:xfrm>
            <a:off x="8549640" y="2807208"/>
            <a:ext cx="3017520" cy="274320"/>
          </a:xfrm>
          <a:prstGeom prst="rect">
            <a:avLst/>
          </a:prstGeom>
          <a:noFill/>
          <a:ln/>
        </p:spPr>
        <p:txBody>
          <a:bodyPr wrap="square" lIns="0" tIns="0" rIns="0" bIns="0" rtlCol="0" anchor="ctr"/>
          <a:lstStyle/>
          <a:p>
            <a:pPr algn="l" indent="0" marL="0">
              <a:buNone/>
            </a:pPr>
            <a:r>
              <a:rPr lang="en-US" sz="1200" b="1" dirty="0">
                <a:solidFill>
                  <a:schemeClr val="accent4"/>
                </a:solidFill>
              </a:rPr>
              <a:t>2013–2019</a:t>
            </a:r>
            <a:endParaRPr lang="en-US" sz="1200" dirty="0"/>
          </a:p>
        </p:txBody>
      </p:sp>
      <p:sp>
        <p:nvSpPr>
          <p:cNvPr id="28" name="Text 25"/>
          <p:cNvSpPr txBox="1"/>
          <p:nvPr/>
        </p:nvSpPr>
        <p:spPr>
          <a:xfrm>
            <a:off x="8549640" y="3072384"/>
            <a:ext cx="3017520" cy="310896"/>
          </a:xfrm>
          <a:prstGeom prst="rect">
            <a:avLst/>
          </a:prstGeom>
          <a:noFill/>
          <a:ln/>
        </p:spPr>
        <p:txBody>
          <a:bodyPr wrap="square" lIns="0" tIns="0" rIns="0" bIns="0" rtlCol="0" anchor="ctr"/>
          <a:lstStyle/>
          <a:p>
            <a:pPr algn="l" indent="0" marL="0">
              <a:buNone/>
            </a:pPr>
            <a:r>
              <a:rPr lang="en-US" sz="1300" i="1" dirty="0">
                <a:solidFill>
                  <a:schemeClr val="tx1"/>
                </a:solidFill>
              </a:rPr>
              <a:t>werken bij Maesbouw</a:t>
            </a:r>
            <a:endParaRPr lang="en-US" sz="1300" dirty="0"/>
          </a:p>
        </p:txBody>
      </p:sp>
      <p:sp>
        <p:nvSpPr>
          <p:cNvPr id="29" name="Shape 26"/>
          <p:cNvSpPr/>
          <p:nvPr/>
        </p:nvSpPr>
        <p:spPr>
          <a:xfrm>
            <a:off x="8275320" y="3602736"/>
            <a:ext cx="182880" cy="182880"/>
          </a:xfrm>
          <a:prstGeom prst="ellipse">
            <a:avLst/>
          </a:prstGeom>
          <a:solidFill>
            <a:schemeClr val="accent4"/>
          </a:solidFill>
          <a:ln w="12700">
            <a:solidFill>
              <a:srgbClr val="FFFFFF">
                <a:alpha val="0"/>
              </a:srgbClr>
            </a:solidFill>
            <a:prstDash val="solid"/>
          </a:ln>
        </p:spPr>
      </p:sp>
      <p:sp>
        <p:nvSpPr>
          <p:cNvPr id="30" name="Text 27"/>
          <p:cNvSpPr txBox="1"/>
          <p:nvPr/>
        </p:nvSpPr>
        <p:spPr>
          <a:xfrm>
            <a:off x="8549640" y="3465576"/>
            <a:ext cx="3017520" cy="274320"/>
          </a:xfrm>
          <a:prstGeom prst="rect">
            <a:avLst/>
          </a:prstGeom>
          <a:noFill/>
          <a:ln/>
        </p:spPr>
        <p:txBody>
          <a:bodyPr wrap="square" lIns="0" tIns="0" rIns="0" bIns="0" rtlCol="0" anchor="ctr"/>
          <a:lstStyle/>
          <a:p>
            <a:pPr algn="l" indent="0" marL="0">
              <a:buNone/>
            </a:pPr>
            <a:r>
              <a:rPr lang="en-US" sz="1200" b="1" dirty="0">
                <a:solidFill>
                  <a:schemeClr val="accent4"/>
                </a:solidFill>
              </a:rPr>
              <a:t>2020</a:t>
            </a:r>
            <a:endParaRPr lang="en-US" sz="1200" dirty="0"/>
          </a:p>
        </p:txBody>
      </p:sp>
      <p:sp>
        <p:nvSpPr>
          <p:cNvPr id="31" name="Text 28"/>
          <p:cNvSpPr txBox="1"/>
          <p:nvPr/>
        </p:nvSpPr>
        <p:spPr>
          <a:xfrm>
            <a:off x="8549640" y="3730752"/>
            <a:ext cx="3017520" cy="310896"/>
          </a:xfrm>
          <a:prstGeom prst="rect">
            <a:avLst/>
          </a:prstGeom>
          <a:noFill/>
          <a:ln/>
        </p:spPr>
        <p:txBody>
          <a:bodyPr wrap="square" lIns="0" tIns="0" rIns="0" bIns="0" rtlCol="0" anchor="ctr"/>
          <a:lstStyle/>
          <a:p>
            <a:pPr algn="l" indent="0" marL="0">
              <a:buNone/>
            </a:pPr>
            <a:r>
              <a:rPr lang="en-US" sz="1300" i="1" dirty="0">
                <a:solidFill>
                  <a:schemeClr val="tx1"/>
                </a:solidFill>
              </a:rPr>
              <a:t>verhuizen naar Gent</a:t>
            </a:r>
            <a:endParaRPr lang="en-US" sz="1300" dirty="0"/>
          </a:p>
        </p:txBody>
      </p:sp>
      <p:sp>
        <p:nvSpPr>
          <p:cNvPr id="32" name="Shape 29"/>
          <p:cNvSpPr/>
          <p:nvPr/>
        </p:nvSpPr>
        <p:spPr>
          <a:xfrm>
            <a:off x="8275320" y="4261104"/>
            <a:ext cx="182880" cy="182880"/>
          </a:xfrm>
          <a:prstGeom prst="ellipse">
            <a:avLst/>
          </a:prstGeom>
          <a:solidFill>
            <a:schemeClr val="accent2"/>
          </a:solidFill>
          <a:ln w="12700">
            <a:solidFill>
              <a:srgbClr val="FFFFFF">
                <a:alpha val="0"/>
              </a:srgbClr>
            </a:solidFill>
            <a:prstDash val="solid"/>
          </a:ln>
        </p:spPr>
      </p:sp>
      <p:sp>
        <p:nvSpPr>
          <p:cNvPr id="33" name="Text 30"/>
          <p:cNvSpPr txBox="1"/>
          <p:nvPr/>
        </p:nvSpPr>
        <p:spPr>
          <a:xfrm>
            <a:off x="8549640" y="4123944"/>
            <a:ext cx="3017520" cy="274320"/>
          </a:xfrm>
          <a:prstGeom prst="rect">
            <a:avLst/>
          </a:prstGeom>
          <a:noFill/>
          <a:ln/>
        </p:spPr>
        <p:txBody>
          <a:bodyPr wrap="square" lIns="0" tIns="0" rIns="0" bIns="0" rtlCol="0" anchor="ctr"/>
          <a:lstStyle/>
          <a:p>
            <a:pPr algn="l" indent="0" marL="0">
              <a:buNone/>
            </a:pPr>
            <a:r>
              <a:rPr lang="en-US" sz="1200" b="1" dirty="0">
                <a:solidFill>
                  <a:schemeClr val="accent2"/>
                </a:solidFill>
              </a:rPr>
              <a:t>sinds 2021</a:t>
            </a:r>
            <a:endParaRPr lang="en-US" sz="1200" dirty="0"/>
          </a:p>
        </p:txBody>
      </p:sp>
      <p:sp>
        <p:nvSpPr>
          <p:cNvPr id="34" name="Text 31"/>
          <p:cNvSpPr txBox="1"/>
          <p:nvPr/>
        </p:nvSpPr>
        <p:spPr>
          <a:xfrm>
            <a:off x="8549640" y="4389120"/>
            <a:ext cx="3017520" cy="310896"/>
          </a:xfrm>
          <a:prstGeom prst="rect">
            <a:avLst/>
          </a:prstGeom>
          <a:noFill/>
          <a:ln/>
        </p:spPr>
        <p:txBody>
          <a:bodyPr wrap="square" lIns="0" tIns="0" rIns="0" bIns="0" rtlCol="0" anchor="ctr"/>
          <a:lstStyle/>
          <a:p>
            <a:pPr algn="l" indent="0" marL="0">
              <a:buNone/>
            </a:pPr>
            <a:r>
              <a:rPr lang="en-US" sz="1300" i="1" dirty="0">
                <a:solidFill>
                  <a:schemeClr val="tx1"/>
                </a:solidFill>
              </a:rPr>
              <a:t>projectleider bij Peeters &amp; Co</a:t>
            </a:r>
            <a:endParaRPr lang="en-US" sz="1300" dirty="0"/>
          </a:p>
        </p:txBody>
      </p:sp>
      <p:sp>
        <p:nvSpPr>
          <p:cNvPr id="35" name="Shape 32"/>
          <p:cNvSpPr/>
          <p:nvPr/>
        </p:nvSpPr>
        <p:spPr>
          <a:xfrm>
            <a:off x="8275320" y="4919472"/>
            <a:ext cx="182880" cy="182880"/>
          </a:xfrm>
          <a:prstGeom prst="ellipse">
            <a:avLst/>
          </a:prstGeom>
          <a:solidFill>
            <a:schemeClr val="accent3"/>
          </a:solidFill>
          <a:ln w="12700">
            <a:solidFill>
              <a:srgbClr val="FFFFFF">
                <a:alpha val="0"/>
              </a:srgbClr>
            </a:solidFill>
            <a:prstDash val="solid"/>
          </a:ln>
        </p:spPr>
      </p:sp>
      <p:sp>
        <p:nvSpPr>
          <p:cNvPr id="36" name="Text 33"/>
          <p:cNvSpPr txBox="1"/>
          <p:nvPr/>
        </p:nvSpPr>
        <p:spPr>
          <a:xfrm>
            <a:off x="8549640" y="4782312"/>
            <a:ext cx="3017520" cy="274320"/>
          </a:xfrm>
          <a:prstGeom prst="rect">
            <a:avLst/>
          </a:prstGeom>
          <a:noFill/>
          <a:ln/>
        </p:spPr>
        <p:txBody>
          <a:bodyPr wrap="square" lIns="0" tIns="0" rIns="0" bIns="0" rtlCol="0" anchor="ctr"/>
          <a:lstStyle/>
          <a:p>
            <a:pPr algn="l" indent="0" marL="0">
              <a:buNone/>
            </a:pPr>
            <a:r>
              <a:rPr lang="en-US" sz="1200" b="1" dirty="0">
                <a:solidFill>
                  <a:schemeClr val="accent3"/>
                </a:solidFill>
              </a:rPr>
              <a:t>volgend jaar</a:t>
            </a:r>
            <a:endParaRPr lang="en-US" sz="1200" dirty="0"/>
          </a:p>
        </p:txBody>
      </p:sp>
      <p:sp>
        <p:nvSpPr>
          <p:cNvPr id="37" name="Text 34"/>
          <p:cNvSpPr txBox="1"/>
          <p:nvPr/>
        </p:nvSpPr>
        <p:spPr>
          <a:xfrm>
            <a:off x="8549640" y="5047488"/>
            <a:ext cx="3017520" cy="310896"/>
          </a:xfrm>
          <a:prstGeom prst="rect">
            <a:avLst/>
          </a:prstGeom>
          <a:noFill/>
          <a:ln/>
        </p:spPr>
        <p:txBody>
          <a:bodyPr wrap="square" lIns="0" tIns="0" rIns="0" bIns="0" rtlCol="0" anchor="ctr"/>
          <a:lstStyle/>
          <a:p>
            <a:pPr algn="l" indent="0" marL="0">
              <a:buNone/>
            </a:pPr>
            <a:r>
              <a:rPr lang="en-US" sz="1300" i="1" dirty="0">
                <a:solidFill>
                  <a:schemeClr val="tx1"/>
                </a:solidFill>
              </a:rPr>
              <a:t>een team leiden</a:t>
            </a:r>
            <a:endParaRPr lang="en-US" sz="1300" dirty="0"/>
          </a:p>
        </p:txBody>
      </p:sp>
      <p:sp>
        <p:nvSpPr>
          <p:cNvPr id="38" name="Shape 35"/>
          <p:cNvSpPr/>
          <p:nvPr/>
        </p:nvSpPr>
        <p:spPr>
          <a:xfrm>
            <a:off x="8275320" y="5577840"/>
            <a:ext cx="182880" cy="182880"/>
          </a:xfrm>
          <a:prstGeom prst="ellipse">
            <a:avLst/>
          </a:prstGeom>
          <a:solidFill>
            <a:srgbClr val="6E4A9E"/>
          </a:solidFill>
          <a:ln w="12700">
            <a:solidFill>
              <a:srgbClr val="FFFFFF">
                <a:alpha val="0"/>
              </a:srgbClr>
            </a:solidFill>
            <a:prstDash val="solid"/>
          </a:ln>
        </p:spPr>
      </p:sp>
      <p:sp>
        <p:nvSpPr>
          <p:cNvPr id="39" name="Text 36"/>
          <p:cNvSpPr txBox="1"/>
          <p:nvPr/>
        </p:nvSpPr>
        <p:spPr>
          <a:xfrm>
            <a:off x="8549640" y="5440680"/>
            <a:ext cx="3017520" cy="274320"/>
          </a:xfrm>
          <a:prstGeom prst="rect">
            <a:avLst/>
          </a:prstGeom>
          <a:noFill/>
          <a:ln/>
        </p:spPr>
        <p:txBody>
          <a:bodyPr wrap="square" lIns="0" tIns="0" rIns="0" bIns="0" rtlCol="0" anchor="ctr"/>
          <a:lstStyle/>
          <a:p>
            <a:pPr algn="l" indent="0" marL="0">
              <a:buNone/>
            </a:pPr>
            <a:r>
              <a:rPr lang="en-US" sz="1200" b="1" dirty="0">
                <a:solidFill>
                  <a:srgbClr val="6E4A9E"/>
                </a:solidFill>
              </a:rPr>
              <a:t>droom</a:t>
            </a:r>
            <a:endParaRPr lang="en-US" sz="1200" dirty="0"/>
          </a:p>
        </p:txBody>
      </p:sp>
      <p:sp>
        <p:nvSpPr>
          <p:cNvPr id="40" name="Text 37"/>
          <p:cNvSpPr txBox="1"/>
          <p:nvPr/>
        </p:nvSpPr>
        <p:spPr>
          <a:xfrm>
            <a:off x="8549640" y="5705856"/>
            <a:ext cx="3017520" cy="310896"/>
          </a:xfrm>
          <a:prstGeom prst="rect">
            <a:avLst/>
          </a:prstGeom>
          <a:noFill/>
          <a:ln/>
        </p:spPr>
        <p:txBody>
          <a:bodyPr wrap="square" lIns="0" tIns="0" rIns="0" bIns="0" rtlCol="0" anchor="ctr"/>
          <a:lstStyle/>
          <a:p>
            <a:pPr algn="l" indent="0" marL="0">
              <a:buNone/>
            </a:pPr>
            <a:r>
              <a:rPr lang="en-US" sz="1300" i="1" dirty="0">
                <a:solidFill>
                  <a:schemeClr val="tx1"/>
                </a:solidFill>
              </a:rPr>
              <a:t>een jaar in Canada wonen</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a:t>
            </a:r>
            <a:r>
              <a:rPr lang="en-US" sz="2000" i="1" dirty="0">
                <a:solidFill>
                  <a:schemeClr val="tx1"/>
                </a:solidFill>
              </a:rPr>
              <a:t>J’habite ici depuis trois ans.</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Perfectum ou imperfectum ? </a:t>
            </a:r>
            <a:r>
              <a:rPr lang="en-US" sz="2000" i="1" dirty="0">
                <a:solidFill>
                  <a:schemeClr val="tx1"/>
                </a:solidFill>
              </a:rPr>
              <a:t>Hier, il pleuvait et je suis resté·e à la maison.</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Als ik tijd …, … ik komen.</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Situer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Choisir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Combiner</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Défi de la semaine</a:t>
            </a:r>
            <a:r>
              <a:rPr lang="en-US" sz="1800" dirty="0">
                <a:solidFill>
                  <a:schemeClr val="bg1"/>
                </a:solidFill>
              </a:rPr>
              <a:t> : racontez votre parcours en 8 phrases, avec au moins 5 temps différents.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Gisteren, vandaag, morgen — Les temps du néerlandais sur la ligne du temps</dc:title>
  <dc:subject>Néerlandais 1 — Langue en situation, en milieu professionnel</dc:subject>
  <dc:creator>A. Jouniaux</dc:creator>
  <cp:lastModifiedBy>A. Jouniaux</cp:lastModifiedBy>
  <cp:revision>1</cp:revision>
  <dcterms:created xsi:type="dcterms:W3CDTF">2026-10-06T11:50:13Z</dcterms:created>
  <dcterms:modified xsi:type="dcterms:W3CDTF">2026-10-06T11:50:13Z</dcterms:modified>
</cp:coreProperties>
</file>