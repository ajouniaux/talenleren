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f8f77a1-18b1-c967-7f67-6f3935b92b58}">
          <p14:sldIdLst>
            <p14:sldId id="256"/>
          </p14:sldIdLst>
        </p14:section>
        <p14:section name="Découvrir" id="{fc30206c-5bf2-61a4-8bd1-dd6369529db4}">
          <p14:sldIdLst>
            <p14:sldId id="257"/>
            <p14:sldId id="258"/>
          </p14:sldIdLst>
        </p14:section>
        <p14:section name="Comprendre" id="{315ec3fa-bcec-5ffa-30a4-49fe9608fa26}">
          <p14:sldIdLst>
            <p14:sldId id="259"/>
            <p14:sldId id="260"/>
            <p14:sldId id="261"/>
            <p14:sldId id="262"/>
            <p14:sldId id="263"/>
            <p14:sldId id="264"/>
            <p14:sldId id="265"/>
            <p14:sldId id="266"/>
            <p14:sldId id="267"/>
            <p14:sldId id="268"/>
            <p14:sldId id="269"/>
            <p14:sldId id="270"/>
          </p14:sldIdLst>
        </p14:section>
        <p14:section name="JIJ NU ! — Oefeningen" id="{e848b6de-cb92-607c-4811-7e844258705d}">
          <p14:sldIdLst>
            <p14:sldId id="271"/>
            <p14:sldId id="272"/>
            <p14:sldId id="273"/>
            <p14:sldId id="274"/>
            <p14:sldId id="275"/>
            <p14:sldId id="276"/>
            <p14:sldId id="277"/>
            <p14:sldId id="278"/>
            <p14:sldId id="279"/>
            <p14:sldId id="280"/>
            <p14:sldId id="281"/>
            <p14:sldId id="282"/>
            <p14:sldId id="283"/>
          </p14:sldIdLst>
        </p14:section>
        <p14:section name="Clôture" id="{e70b5503-99b9-6962-9ab3-00f23f0855cc}">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tâche finale du parcours : se présenter de façon professionnelle.
Rappelez le M2 : « Au début du parcours, vous saviez dire votre nom et votre ville. Aujourd'hui, vous allez présenter votre parcours, votre travail et vos projets.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C'est le module de synthèse du parcours : chaque diapo renvoie à un module précédent. Annoncez la tâche finale (ex. 7) : un entretien d'embauche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ce que les apprenants savent déjà et prendre conscience des situations.
Faites essayer en binôme, sans correction, puis relevez les phrases au tableau. Elles serviront de « avant » à la diapo 4. Réponses attendues : je à la machine à café, u en entretien et avec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chemin parcouru : de phrases isolées à une présentation reliée.
Faites repérer ce qui a changé : les mots de liaison (en, maar, want, M9), le passé (werkte, M19), les repères de temps (sinds, daarvoor). Un bon pitch dure entre 30 secondes et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structure simple et mémorisable.
Ce schéma est la colonne vertébrale du module et de la tâche finale. L'ordre peut varier, mais ① et ② viennent toujours en premier. En entretien, l'étape ⑤ est très courte.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Dire où et comment on travaille, avec la bonne préposition.
Le français dit « chez Peeters », « comme comptable », « responsable de » : trois pièges en une phrase. Faites compléter la carte par chaque apprenant avec sa propre situation (ou une situation 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Décrire ses tâches avec des formules variées.
zich bezighouden met = s'occuper de : verbe réfléchi (M28) et à particule (M11). instaan voor = être en charge de (très belge). Varier les formules rend la présentation plus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Raconter son parcours avec les bons temps.
afstuderen (terminer ses études) prend zijn : Ik ben afgestudeerd. Pour une période passée, les deux temps sont possibles (Ik heb vijf jaar bij Maesbouw gewerkt) ; l'imperfectum est plus naturel quand on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calques les plus fréquents dans une présentation.
sinds + un point de départ (une date, un mois) ; al + une durée. sinds + une durée est aussi correct, surtout en Belgique (sinds vier jaar, sinds jaren, sinds lang) ; al vier jaar est la forme la plus courante. Comme en français, « depuis » se construit avec le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l'avenir : projets sûrs, envies, rêves.
En entretien, Ik zou graag… est la formule la plus polie pour exprimer un souhait. Faites formuler un projet réel ou imaginaire à chaque apprenant.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soi sans entrer dans l'intime, avec les codes belges du travail.
Au travail en Belgique, on parle volontiers de ses loisirs, de ses vacances et brièvement de sa famille. Personne n'est obligé de parler de sa vie privée : Ik sport graag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Adapter la présentation et les formules à la situation.
Aangenaam (enchanté·e) est très courant en Belgique, en se serrant la main. Autres formules : Prettig kennis te maken. · Leuk je te leren kennen. (Leuk je te ontmoeten est un calque de l'anglais.) Rappel M8 : on garde le même registre dans toute la conversation, jusqu'à ce que l'autre propose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vivre la conversation : questions à l'autre et réactions.
Une présentation est un échange : après son pitch, on renvoie la balle (En jij?). Hoelang werk je hier al? → Al drie jaar. (diapo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Rédiger un court e-mail de présentation à un client (lien M10).
Graag stel ik me even voor : graag en tête, donc inversion (M3), et zich voorstellen (M28). Hebt u et Heeft u sont tous deux corrects. Présentation de l'e-mail :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 et la tâche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 L'exercice 7 est la tâche finale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présenter vite et poser des questions, en changeant souvent de partenaire.
Toutes les entreprises sont fictives. Disposez la classe en deux rangées face à face ; une rangée se décale d'une place toutes les 2 minutes. de magazijnier (Belgique) = le magasinier.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Tâche finale du parcours : un entretien d'embauche en néerlandais.
Tâche finale : évaluez avec la grille des 5 étapes (structure), les temps (passé, présent, futur), le registre (u) et la fluidité. m/v/x = homme / femme / non-binaire. Synthèse : M8 (registre), M15 et M19 (passé), M27 (graag), M29 (zou), M30 (voltijds,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Ik ben 32 (jaar) en ik ben boekhouder.
2. bij · als
3. Ik werk hier al vier jaar.
Bilan : faites relire la frise des 32 modules et choisir un module à retravailler. En Néerlandais 2 : om … te, les autres conjonctions, hoeven te, le passif, le conditionnel passé.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Even voorstellen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au travail</a:t>
            </a:r>
            <a:endParaRPr lang="en-US" sz="2000" dirty="0"/>
          </a:p>
          <a:p>
            <a:pPr algn="l" indent="0" marL="0">
              <a:buNone/>
            </a:pPr>
            <a:r>
              <a:rPr lang="en-US" sz="2000" b="1" dirty="0">
                <a:solidFill>
                  <a:srgbClr val="FFFFFF"/>
                </a:solidFill>
              </a:rPr>
              <a:t>Ik ben Karim Benali, boekhouder bij Peeters &amp; Co.</a:t>
            </a:r>
            <a:endParaRPr lang="en-US" sz="2000" dirty="0"/>
          </a:p>
        </p:txBody>
      </p:sp>
      <p:sp>
        <p:nvSpPr>
          <p:cNvPr id="5" name="Shape 3"/>
          <p:cNvSpPr/>
          <p:nvPr/>
        </p:nvSpPr>
        <p:spPr>
          <a:xfrm>
            <a:off x="7406640" y="502920"/>
            <a:ext cx="109728" cy="640080"/>
          </a:xfrm>
          <a:prstGeom prst="rect">
            <a:avLst/>
          </a:prstGeom>
          <a:solidFill>
            <a:schemeClr val="accent1"/>
          </a:solidFill>
          <a:ln w="12700">
            <a:solidFill>
              <a:srgbClr val="FFFFFF">
                <a:alpha val="0"/>
              </a:srgbClr>
            </a:solidFill>
            <a:prstDash val="solid"/>
          </a:ln>
        </p:spPr>
      </p:sp>
      <p:sp>
        <p:nvSpPr>
          <p:cNvPr id="6" name="Shape 4"/>
          <p:cNvSpPr/>
          <p:nvPr/>
        </p:nvSpPr>
        <p:spPr>
          <a:xfrm>
            <a:off x="9052560" y="502920"/>
            <a:ext cx="109728" cy="640080"/>
          </a:xfrm>
          <a:prstGeom prst="rect">
            <a:avLst/>
          </a:prstGeom>
          <a:solidFill>
            <a:schemeClr val="accent1"/>
          </a:solidFill>
          <a:ln w="12700">
            <a:solidFill>
              <a:srgbClr val="FFFFFF">
                <a:alpha val="0"/>
              </a:srgbClr>
            </a:solidFill>
            <a:prstDash val="solid"/>
          </a:ln>
        </p:spPr>
      </p:sp>
      <p:sp>
        <p:nvSpPr>
          <p:cNvPr id="7" name="Shape 5"/>
          <p:cNvSpPr/>
          <p:nvPr/>
        </p:nvSpPr>
        <p:spPr>
          <a:xfrm>
            <a:off x="6766560" y="1051560"/>
            <a:ext cx="3063240" cy="3246120"/>
          </a:xfrm>
          <a:prstGeom prst="roundRect">
            <a:avLst>
              <a:gd name="adj" fmla="val 597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8" name="Shape 6"/>
          <p:cNvSpPr/>
          <p:nvPr/>
        </p:nvSpPr>
        <p:spPr>
          <a:xfrm>
            <a:off x="6766560" y="1051560"/>
            <a:ext cx="3063240" cy="685800"/>
          </a:xfrm>
          <a:prstGeom prst="roundRect">
            <a:avLst>
              <a:gd name="adj" fmla="val 26667"/>
            </a:avLst>
          </a:prstGeom>
          <a:solidFill>
            <a:schemeClr val="accent1"/>
          </a:solidFill>
          <a:ln w="12700">
            <a:solidFill>
              <a:srgbClr val="FFFFFF">
                <a:alpha val="0"/>
              </a:srgbClr>
            </a:solidFill>
            <a:prstDash val="solid"/>
          </a:ln>
        </p:spPr>
      </p:sp>
      <p:sp>
        <p:nvSpPr>
          <p:cNvPr id="9" name="Text 7"/>
          <p:cNvSpPr txBox="1"/>
          <p:nvPr/>
        </p:nvSpPr>
        <p:spPr>
          <a:xfrm>
            <a:off x="6766560" y="1051560"/>
            <a:ext cx="30632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HALLO, IK BEN</a:t>
            </a:r>
            <a:endParaRPr lang="en-US" sz="1600" dirty="0"/>
          </a:p>
        </p:txBody>
      </p:sp>
      <p:pic>
        <p:nvPicPr>
          <p:cNvPr id="10" name="Image 0" descr="man office worker">    </p:cNvPr>
          <p:cNvPicPr>
            <a:picLocks noChangeAspect="1"/>
          </p:cNvPicPr>
          <p:nvPr/>
        </p:nvPicPr>
        <p:blipFill>
          <a:blip r:embed="rId1"/>
          <a:stretch>
            <a:fillRect/>
          </a:stretch>
        </p:blipFill>
        <p:spPr>
          <a:xfrm>
            <a:off x="7744968" y="1828800"/>
            <a:ext cx="1097280" cy="1097280"/>
          </a:xfrm>
          <a:prstGeom prst="rect">
            <a:avLst/>
          </a:prstGeom>
        </p:spPr>
      </p:pic>
      <p:sp>
        <p:nvSpPr>
          <p:cNvPr id="11" name="Text 8"/>
          <p:cNvSpPr txBox="1"/>
          <p:nvPr/>
        </p:nvSpPr>
        <p:spPr>
          <a:xfrm>
            <a:off x="6858000" y="2971800"/>
            <a:ext cx="2880360" cy="1234440"/>
          </a:xfrm>
          <a:prstGeom prst="rect">
            <a:avLst/>
          </a:prstGeom>
          <a:noFill/>
          <a:ln/>
        </p:spPr>
        <p:txBody>
          <a:bodyPr wrap="square" lIns="0" tIns="0" rIns="0" bIns="0" rtlCol="0" anchor="ctr"/>
          <a:lstStyle/>
          <a:p>
            <a:pPr algn="ctr" indent="0" marL="0">
              <a:spcAft>
                <a:spcPts val="100"/>
              </a:spcAft>
              <a:buNone/>
            </a:pPr>
            <a:r>
              <a:rPr lang="en-US" sz="1700" b="1" dirty="0">
                <a:solidFill>
                  <a:schemeClr val="tx2"/>
                </a:solidFill>
              </a:rPr>
              <a:t>Karim Benali</a:t>
            </a:r>
            <a:endParaRPr lang="en-US" sz="1700" dirty="0"/>
          </a:p>
          <a:p>
            <a:pPr algn="ctr" indent="0" marL="0">
              <a:spcAft>
                <a:spcPts val="100"/>
              </a:spcAft>
              <a:buNone/>
            </a:pPr>
            <a:r>
              <a:rPr lang="en-US" sz="1700" dirty="0">
                <a:solidFill>
                  <a:schemeClr val="tx2"/>
                </a:solidFill>
              </a:rPr>
              <a:t>Boekhouder</a:t>
            </a:r>
            <a:endParaRPr lang="en-US" sz="1700" dirty="0"/>
          </a:p>
          <a:p>
            <a:pPr algn="ctr" indent="0" marL="0">
              <a:spcAft>
                <a:spcPts val="100"/>
              </a:spcAft>
              <a:buNone/>
            </a:pPr>
            <a:r>
              <a:rPr lang="en-US" sz="1700" dirty="0">
                <a:solidFill>
                  <a:schemeClr val="tx2"/>
                </a:solidFill>
              </a:rPr>
              <a:t>Peeters &amp; Co</a:t>
            </a:r>
            <a:endParaRPr lang="en-US" sz="1700" dirty="0"/>
          </a:p>
        </p:txBody>
      </p:sp>
      <p:sp>
        <p:nvSpPr>
          <p:cNvPr id="12" name="Shape 9"/>
          <p:cNvSpPr/>
          <p:nvPr/>
        </p:nvSpPr>
        <p:spPr>
          <a:xfrm>
            <a:off x="10012680" y="1234440"/>
            <a:ext cx="1920240" cy="731520"/>
          </a:xfrm>
          <a:prstGeom prst="roundRect">
            <a:avLst>
              <a:gd name="adj" fmla="val 31250"/>
            </a:avLst>
          </a:prstGeom>
          <a:solidFill>
            <a:srgbClr val="FFFFFF"/>
          </a:solidFill>
          <a:ln w="31750">
            <a:solidFill>
              <a:srgbClr val="2E7D4F"/>
            </a:solidFill>
            <a:prstDash val="solid"/>
          </a:ln>
        </p:spPr>
      </p:sp>
      <p:sp>
        <p:nvSpPr>
          <p:cNvPr id="13" name="Shape 10"/>
          <p:cNvSpPr/>
          <p:nvPr/>
        </p:nvSpPr>
        <p:spPr>
          <a:xfrm>
            <a:off x="10058400" y="1920240"/>
            <a:ext cx="457200" cy="320040"/>
          </a:xfrm>
          <a:custGeom>
            <a:avLst/>
            <a:gdLst/>
            <a:ahLst/>
            <a:cxnLst/>
            <a:rect l="l" t="t" r="r" b="b"/>
            <a:pathLst>
              <a:path w="457200" h="320040">
                <a:moveTo>
                  <a:pt x="137160" y="0"/>
                </a:moveTo>
                <a:lnTo>
                  <a:pt x="0" y="320040"/>
                </a:lnTo>
                <a:lnTo>
                  <a:pt x="457200" y="18288"/>
                </a:lnTo>
                <a:close/>
              </a:path>
            </a:pathLst>
          </a:custGeom>
          <a:solidFill>
            <a:srgbClr val="FFFFFF"/>
          </a:solidFill>
          <a:ln w="12700">
            <a:solidFill>
              <a:srgbClr val="FFFFFF">
                <a:alpha val="0"/>
              </a:srgbClr>
            </a:solidFill>
            <a:prstDash val="solid"/>
          </a:ln>
        </p:spPr>
      </p:sp>
      <p:sp>
        <p:nvSpPr>
          <p:cNvPr id="14" name="Text 11"/>
          <p:cNvSpPr txBox="1"/>
          <p:nvPr/>
        </p:nvSpPr>
        <p:spPr>
          <a:xfrm>
            <a:off x="10012680" y="1234440"/>
            <a:ext cx="1920240" cy="731520"/>
          </a:xfrm>
          <a:prstGeom prst="rect">
            <a:avLst/>
          </a:prstGeom>
          <a:noFill/>
          <a:ln/>
        </p:spPr>
        <p:txBody>
          <a:bodyPr wrap="square" lIns="0" tIns="0" rIns="0" bIns="0" rtlCol="0" anchor="ctr"/>
          <a:lstStyle/>
          <a:p>
            <a:pPr algn="ctr" indent="0" marL="0">
              <a:buNone/>
            </a:pPr>
            <a:r>
              <a:rPr lang="en-US" sz="1900" b="1" i="1" dirty="0">
                <a:solidFill>
                  <a:schemeClr val="accent3"/>
                </a:solidFill>
              </a:rPr>
              <a:t>Aangenaam!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IdBa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 qui je suis et ce que je fais : </a:t>
            </a:r>
            <a:r>
              <a:rPr lang="en-US" sz="2000" i="1" dirty="0">
                <a:solidFill>
                  <a:schemeClr val="tx1"/>
                </a:solidFill>
              </a:rPr>
              <a:t>Ik werk als boekhouder bij Peeters &amp; Co.</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Mon parcours</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parcours et mes projets : </a:t>
            </a:r>
            <a:r>
              <a:rPr lang="en-US" sz="2000" i="1" dirty="0">
                <a:solidFill>
                  <a:schemeClr val="tx1"/>
                </a:solidFill>
              </a:rPr>
              <a:t>Daarvoor werkte ik bij Maesbouw.</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M’adapter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J’adapte ma présentation : collègue, entretien, réseau, e-mail.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de synthèse du parcours. Tâche finale : un entretien d’embauche en néerlandais.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30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hot beverage">    </p:cNvPr>
          <p:cNvPicPr>
            <a:picLocks noChangeAspect="1"/>
          </p:cNvPicPr>
          <p:nvPr/>
        </p:nvPicPr>
        <p:blipFill>
          <a:blip r:embed="rId1"/>
          <a:stretch>
            <a:fillRect/>
          </a:stretch>
        </p:blipFill>
        <p:spPr>
          <a:xfrm>
            <a:off x="1726692" y="1737360"/>
            <a:ext cx="1188720" cy="1188720"/>
          </a:xfrm>
          <a:prstGeom prst="rect">
            <a:avLst/>
          </a:prstGeom>
        </p:spPr>
      </p:pic>
      <p:sp>
        <p:nvSpPr>
          <p:cNvPr id="7" name="Text 3"/>
          <p:cNvSpPr txBox="1"/>
          <p:nvPr/>
        </p:nvSpPr>
        <p:spPr>
          <a:xfrm>
            <a:off x="685800"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Aan de koffieautomaat</a:t>
            </a:r>
            <a:endParaRPr lang="en-US" sz="1900" dirty="0"/>
          </a:p>
        </p:txBody>
      </p:sp>
      <p:sp>
        <p:nvSpPr>
          <p:cNvPr id="8" name="Text 4"/>
          <p:cNvSpPr txBox="1"/>
          <p:nvPr/>
        </p:nvSpPr>
        <p:spPr>
          <a:xfrm>
            <a:off x="685800"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un·e nouveau·elle collègue</a:t>
            </a:r>
            <a:endParaRPr lang="en-US" sz="1500" dirty="0"/>
          </a:p>
        </p:txBody>
      </p:sp>
      <p:sp>
        <p:nvSpPr>
          <p:cNvPr id="9" name="Text 5"/>
          <p:cNvSpPr txBox="1"/>
          <p:nvPr/>
        </p:nvSpPr>
        <p:spPr>
          <a:xfrm>
            <a:off x="1589532"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0" name="Shape 6"/>
          <p:cNvSpPr/>
          <p:nvPr/>
        </p:nvSpPr>
        <p:spPr>
          <a:xfrm>
            <a:off x="4322064"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briefcase">    </p:cNvPr>
          <p:cNvPicPr>
            <a:picLocks noChangeAspect="1"/>
          </p:cNvPicPr>
          <p:nvPr/>
        </p:nvPicPr>
        <p:blipFill>
          <a:blip r:embed="rId2"/>
          <a:stretch>
            <a:fillRect/>
          </a:stretch>
        </p:blipFill>
        <p:spPr>
          <a:xfrm>
            <a:off x="5500116" y="1737360"/>
            <a:ext cx="1188720" cy="1188720"/>
          </a:xfrm>
          <a:prstGeom prst="rect">
            <a:avLst/>
          </a:prstGeom>
        </p:spPr>
      </p:pic>
      <p:sp>
        <p:nvSpPr>
          <p:cNvPr id="12" name="Text 7"/>
          <p:cNvSpPr txBox="1"/>
          <p:nvPr/>
        </p:nvSpPr>
        <p:spPr>
          <a:xfrm>
            <a:off x="4459224"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sollicitatiegesprek</a:t>
            </a:r>
            <a:endParaRPr lang="en-US" sz="1900" dirty="0"/>
          </a:p>
        </p:txBody>
      </p:sp>
      <p:sp>
        <p:nvSpPr>
          <p:cNvPr id="13" name="Text 8"/>
          <p:cNvSpPr txBox="1"/>
          <p:nvPr/>
        </p:nvSpPr>
        <p:spPr>
          <a:xfrm>
            <a:off x="4459224"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entretien d’embauche</a:t>
            </a:r>
            <a:endParaRPr lang="en-US" sz="1500" dirty="0"/>
          </a:p>
        </p:txBody>
      </p:sp>
      <p:sp>
        <p:nvSpPr>
          <p:cNvPr id="14" name="Text 9"/>
          <p:cNvSpPr txBox="1"/>
          <p:nvPr/>
        </p:nvSpPr>
        <p:spPr>
          <a:xfrm>
            <a:off x="5362956"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5" name="Shape 10"/>
          <p:cNvSpPr/>
          <p:nvPr/>
        </p:nvSpPr>
        <p:spPr>
          <a:xfrm>
            <a:off x="8095488"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2" descr="laptop">    </p:cNvPr>
          <p:cNvPicPr>
            <a:picLocks noChangeAspect="1"/>
          </p:cNvPicPr>
          <p:nvPr/>
        </p:nvPicPr>
        <p:blipFill>
          <a:blip r:embed="rId3"/>
          <a:stretch>
            <a:fillRect/>
          </a:stretch>
        </p:blipFill>
        <p:spPr>
          <a:xfrm>
            <a:off x="9273540" y="1737360"/>
            <a:ext cx="1188720" cy="1188720"/>
          </a:xfrm>
          <a:prstGeom prst="rect">
            <a:avLst/>
          </a:prstGeom>
        </p:spPr>
      </p:pic>
      <p:sp>
        <p:nvSpPr>
          <p:cNvPr id="17" name="Text 11"/>
          <p:cNvSpPr txBox="1"/>
          <p:nvPr/>
        </p:nvSpPr>
        <p:spPr>
          <a:xfrm>
            <a:off x="8232648"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online vergadering</a:t>
            </a:r>
            <a:endParaRPr lang="en-US" sz="1900" dirty="0"/>
          </a:p>
        </p:txBody>
      </p:sp>
      <p:sp>
        <p:nvSpPr>
          <p:cNvPr id="18" name="Text 12"/>
          <p:cNvSpPr txBox="1"/>
          <p:nvPr/>
        </p:nvSpPr>
        <p:spPr>
          <a:xfrm>
            <a:off x="8232648"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client</a:t>
            </a:r>
            <a:endParaRPr lang="en-US" sz="1500" dirty="0"/>
          </a:p>
        </p:txBody>
      </p:sp>
      <p:sp>
        <p:nvSpPr>
          <p:cNvPr id="19" name="Text 13"/>
          <p:cNvSpPr txBox="1"/>
          <p:nvPr/>
        </p:nvSpPr>
        <p:spPr>
          <a:xfrm>
            <a:off x="9136380"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20" name="Shape 14"/>
          <p:cNvSpPr/>
          <p:nvPr/>
        </p:nvSpPr>
        <p:spPr>
          <a:xfrm>
            <a:off x="548640" y="4983480"/>
            <a:ext cx="11091672" cy="1234440"/>
          </a:xfrm>
          <a:prstGeom prst="roundRect">
            <a:avLst>
              <a:gd name="adj" fmla="val 5926"/>
            </a:avLst>
          </a:prstGeom>
          <a:solidFill>
            <a:schemeClr val="accent1">
              <a:alpha val="15000"/>
            </a:schemeClr>
          </a:solidFill>
          <a:ln w="15875">
            <a:solidFill>
              <a:srgbClr val="D9700F"/>
            </a:solidFill>
            <a:prstDash val="solid"/>
          </a:ln>
        </p:spPr>
      </p:sp>
      <p:pic>
        <p:nvPicPr>
          <p:cNvPr id="21" name="Image 3" descr="stopwatch">    </p:cNvPr>
          <p:cNvPicPr>
            <a:picLocks noChangeAspect="1"/>
          </p:cNvPicPr>
          <p:nvPr/>
        </p:nvPicPr>
        <p:blipFill>
          <a:blip r:embed="rId4"/>
          <a:stretch>
            <a:fillRect/>
          </a:stretch>
        </p:blipFill>
        <p:spPr>
          <a:xfrm>
            <a:off x="777240" y="5166360"/>
            <a:ext cx="868680" cy="868680"/>
          </a:xfrm>
          <a:prstGeom prst="rect">
            <a:avLst/>
          </a:prstGeom>
        </p:spPr>
      </p:pic>
      <p:sp>
        <p:nvSpPr>
          <p:cNvPr id="22" name="Text 15"/>
          <p:cNvSpPr txBox="1"/>
          <p:nvPr/>
        </p:nvSpPr>
        <p:spPr>
          <a:xfrm>
            <a:off x="1828800" y="4983480"/>
            <a:ext cx="9601200" cy="123444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Vous avez </a:t>
            </a:r>
            <a:r>
              <a:rPr lang="en-US" sz="1800" b="1" dirty="0">
                <a:solidFill>
                  <a:schemeClr val="tx1"/>
                </a:solidFill>
              </a:rPr>
              <a:t>30 secondes</a:t>
            </a:r>
            <a:r>
              <a:rPr lang="en-US" sz="1800" dirty="0">
                <a:solidFill>
                  <a:schemeClr val="tx1"/>
                </a:solidFill>
              </a:rPr>
              <a:t> : que dites-vous ?</a:t>
            </a:r>
            <a:endParaRPr lang="en-US" sz="1800" dirty="0"/>
          </a:p>
          <a:p>
            <a:pPr algn="l" indent="0" marL="0">
              <a:spcAft>
                <a:spcPts val="400"/>
              </a:spcAft>
              <a:buNone/>
            </a:pPr>
            <a:r>
              <a:rPr lang="en-US" sz="1800" dirty="0">
                <a:solidFill>
                  <a:schemeClr val="tx1"/>
                </a:solidFill>
              </a:rPr>
              <a:t>En binôme, essayez les trois situations. On garde vos phrases pour la diapo suivante.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M2 au pitch</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66160" cy="3566160"/>
          </a:xfrm>
          <a:prstGeom prst="roundRect">
            <a:avLst>
              <a:gd name="adj" fmla="val 3077"/>
            </a:avLst>
          </a:prstGeom>
          <a:solidFill>
            <a:schemeClr val="bg2"/>
          </a:solidFill>
          <a:ln w="12700">
            <a:solidFill>
              <a:srgbClr val="D5DCE6"/>
            </a:solidFill>
            <a:prstDash val="solid"/>
          </a:ln>
        </p:spPr>
      </p:sp>
      <p:sp>
        <p:nvSpPr>
          <p:cNvPr id="6" name="tag"/>
          <p:cNvSpPr/>
          <p:nvPr/>
        </p:nvSpPr>
        <p:spPr>
          <a:xfrm>
            <a:off x="731520" y="1691640"/>
            <a:ext cx="599542" cy="329184"/>
          </a:xfrm>
          <a:prstGeom prst="roundRect">
            <a:avLst>
              <a:gd name="adj" fmla="val 13889"/>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M2</a:t>
            </a:r>
            <a:endParaRPr lang="en-US" sz="1300" dirty="0"/>
          </a:p>
        </p:txBody>
      </p:sp>
      <p:sp>
        <p:nvSpPr>
          <p:cNvPr id="7" name="Text 4"/>
          <p:cNvSpPr txBox="1"/>
          <p:nvPr/>
        </p:nvSpPr>
        <p:spPr>
          <a:xfrm>
            <a:off x="777240" y="2148840"/>
            <a:ext cx="3200400" cy="2834640"/>
          </a:xfrm>
          <a:prstGeom prst="rect">
            <a:avLst/>
          </a:prstGeom>
          <a:noFill/>
          <a:ln/>
        </p:spPr>
        <p:txBody>
          <a:bodyPr wrap="square" lIns="0" tIns="0" rIns="0" bIns="0" rtlCol="0" anchor="ctr"/>
          <a:lstStyle/>
          <a:p>
            <a:pPr algn="l" indent="0" marL="0">
              <a:spcAft>
                <a:spcPts val="1000"/>
              </a:spcAft>
              <a:buNone/>
            </a:pPr>
            <a:r>
              <a:rPr lang="en-US" sz="2000" i="1" dirty="0">
                <a:solidFill>
                  <a:schemeClr val="accent5"/>
                </a:solidFill>
              </a:rPr>
              <a:t>Ik ben Karim.</a:t>
            </a:r>
            <a:endParaRPr lang="en-US" sz="2000" dirty="0"/>
          </a:p>
          <a:p>
            <a:pPr algn="l" indent="0" marL="0">
              <a:spcAft>
                <a:spcPts val="1000"/>
              </a:spcAft>
              <a:buNone/>
            </a:pPr>
            <a:r>
              <a:rPr lang="en-US" sz="2000" i="1" dirty="0">
                <a:solidFill>
                  <a:schemeClr val="accent5"/>
                </a:solidFill>
              </a:rPr>
              <a:t>Ik ben boekhouder.</a:t>
            </a:r>
            <a:endParaRPr lang="en-US" sz="2000" dirty="0"/>
          </a:p>
          <a:p>
            <a:pPr algn="l" indent="0" marL="0">
              <a:spcAft>
                <a:spcPts val="1000"/>
              </a:spcAft>
              <a:buNone/>
            </a:pPr>
            <a:r>
              <a:rPr lang="en-US" sz="2000" i="1" dirty="0">
                <a:solidFill>
                  <a:schemeClr val="accent5"/>
                </a:solidFill>
              </a:rPr>
              <a:t>Ik woon in Namen.</a:t>
            </a:r>
            <a:endParaRPr lang="en-US" sz="2000" dirty="0"/>
          </a:p>
          <a:p>
            <a:pPr algn="l" indent="0" marL="0">
              <a:spcAft>
                <a:spcPts val="1000"/>
              </a:spcAft>
              <a:buNone/>
            </a:pPr>
            <a:r>
              <a:rPr lang="en-US" sz="2000" i="1" dirty="0">
                <a:solidFill>
                  <a:schemeClr val="accent5"/>
                </a:solidFill>
              </a:rPr>
              <a:t>Ik spreek Frans.</a:t>
            </a:r>
            <a:endParaRPr lang="en-US" sz="2000" dirty="0"/>
          </a:p>
        </p:txBody>
      </p:sp>
      <p:sp>
        <p:nvSpPr>
          <p:cNvPr id="8" name="Shape 5"/>
          <p:cNvSpPr/>
          <p:nvPr/>
        </p:nvSpPr>
        <p:spPr>
          <a:xfrm>
            <a:off x="4251960" y="3337560"/>
            <a:ext cx="640080" cy="914"/>
          </a:xfrm>
          <a:prstGeom prst="line">
            <a:avLst/>
          </a:prstGeom>
          <a:noFill/>
          <a:ln w="50800">
            <a:solidFill>
              <a:srgbClr val="D9700F"/>
            </a:solidFill>
            <a:prstDash val="solid"/>
            <a:tailEnd type="triangle"/>
          </a:ln>
        </p:spPr>
      </p:sp>
      <p:sp>
        <p:nvSpPr>
          <p:cNvPr id="9" name="Shape 6"/>
          <p:cNvSpPr/>
          <p:nvPr/>
        </p:nvSpPr>
        <p:spPr>
          <a:xfrm>
            <a:off x="5029200" y="1554480"/>
            <a:ext cx="6611112" cy="3566160"/>
          </a:xfrm>
          <a:prstGeom prst="roundRect">
            <a:avLst>
              <a:gd name="adj" fmla="val 307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5212080" y="1691640"/>
            <a:ext cx="7164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M32</a:t>
            </a:r>
            <a:endParaRPr lang="en-US" sz="1300" dirty="0"/>
          </a:p>
        </p:txBody>
      </p:sp>
      <p:sp>
        <p:nvSpPr>
          <p:cNvPr id="11" name="Text 8"/>
          <p:cNvSpPr txBox="1"/>
          <p:nvPr/>
        </p:nvSpPr>
        <p:spPr>
          <a:xfrm>
            <a:off x="5257800" y="2148840"/>
            <a:ext cx="6172200" cy="2834640"/>
          </a:xfrm>
          <a:prstGeom prst="rect">
            <a:avLst/>
          </a:prstGeom>
          <a:noFill/>
          <a:ln/>
        </p:spPr>
        <p:txBody>
          <a:bodyPr wrap="square" lIns="0" tIns="0" rIns="0" bIns="0" rtlCol="0" anchor="ctr"/>
          <a:lstStyle/>
          <a:p>
            <a:pPr algn="l" indent="0" marL="0">
              <a:lnSpc>
                <a:spcPct val="115000"/>
              </a:lnSpc>
              <a:buNone/>
            </a:pPr>
            <a:r>
              <a:rPr lang="en-US" sz="1900" i="1" dirty="0">
                <a:solidFill>
                  <a:schemeClr val="tx1"/>
                </a:solidFill>
              </a:rPr>
              <a:t>Ik ben Karim Benali </a:t>
            </a:r>
            <a:r>
              <a:rPr lang="en-US" sz="1900" b="1" i="1" dirty="0">
                <a:solidFill>
                  <a:schemeClr val="accent2"/>
                </a:solidFill>
              </a:rPr>
              <a:t>en</a:t>
            </a:r>
            <a:r>
              <a:rPr lang="en-US" sz="1900" i="1" dirty="0">
                <a:solidFill>
                  <a:schemeClr val="tx1"/>
                </a:solidFill>
              </a:rPr>
              <a:t> ik werk </a:t>
            </a:r>
            <a:r>
              <a:rPr lang="en-US" sz="1900" b="1" i="1" dirty="0">
                <a:solidFill>
                  <a:schemeClr val="accent2"/>
                </a:solidFill>
              </a:rPr>
              <a:t>sinds</a:t>
            </a:r>
            <a:r>
              <a:rPr lang="en-US" sz="1900" i="1" dirty="0">
                <a:solidFill>
                  <a:schemeClr val="tx1"/>
                </a:solidFill>
              </a:rPr>
              <a:t> januari als boekhouder bij Peeters &amp; Co. </a:t>
            </a:r>
            <a:r>
              <a:rPr lang="en-US" sz="1900" b="1" i="1" dirty="0">
                <a:solidFill>
                  <a:schemeClr val="accent2"/>
                </a:solidFill>
              </a:rPr>
              <a:t>Daarvoor</a:t>
            </a:r>
            <a:r>
              <a:rPr lang="en-US" sz="1900" i="1" dirty="0">
                <a:solidFill>
                  <a:schemeClr val="tx1"/>
                </a:solidFill>
              </a:rPr>
              <a:t> </a:t>
            </a:r>
            <a:r>
              <a:rPr lang="en-US" sz="1900" b="1" i="1" dirty="0">
                <a:solidFill>
                  <a:schemeClr val="accent4"/>
                </a:solidFill>
              </a:rPr>
              <a:t>werkte</a:t>
            </a:r>
            <a:r>
              <a:rPr lang="en-US" sz="1900" i="1" dirty="0">
                <a:solidFill>
                  <a:schemeClr val="tx1"/>
                </a:solidFill>
              </a:rPr>
              <a:t> ik vijf jaar bij Maesbouw. Ik woon in Namen, </a:t>
            </a:r>
            <a:r>
              <a:rPr lang="en-US" sz="1900" b="1" i="1" dirty="0">
                <a:solidFill>
                  <a:schemeClr val="accent2"/>
                </a:solidFill>
              </a:rPr>
              <a:t>maar</a:t>
            </a:r>
            <a:r>
              <a:rPr lang="en-US" sz="1900" i="1" dirty="0">
                <a:solidFill>
                  <a:schemeClr val="tx1"/>
                </a:solidFill>
              </a:rPr>
              <a:t> ik werk in Brussel. Ik spreek Frans en Nederlands, </a:t>
            </a:r>
            <a:r>
              <a:rPr lang="en-US" sz="1900" b="1" i="1" dirty="0">
                <a:solidFill>
                  <a:schemeClr val="accent2"/>
                </a:solidFill>
              </a:rPr>
              <a:t>want</a:t>
            </a:r>
            <a:r>
              <a:rPr lang="en-US" sz="1900" i="1" dirty="0">
                <a:solidFill>
                  <a:schemeClr val="tx1"/>
                </a:solidFill>
              </a:rPr>
              <a:t> ik werk met Vlaamse klanten.</a:t>
            </a:r>
            <a:endParaRPr lang="en-US" sz="1900" dirty="0"/>
          </a:p>
        </p:txBody>
      </p:sp>
      <p:sp>
        <p:nvSpPr>
          <p:cNvPr id="12" name="Shape 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13" name="Text 10"/>
          <p:cNvSpPr txBox="1"/>
          <p:nvPr/>
        </p:nvSpPr>
        <p:spPr>
          <a:xfrm>
            <a:off x="822960" y="534924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Ce qui change : les </a:t>
            </a:r>
            <a:r>
              <a:rPr lang="en-US" sz="1700" b="1" dirty="0">
                <a:solidFill>
                  <a:schemeClr val="bg1"/>
                </a:solidFill>
              </a:rPr>
              <a:t>mots de liaison</a:t>
            </a:r>
            <a:r>
              <a:rPr lang="en-US" sz="1700" dirty="0">
                <a:solidFill>
                  <a:schemeClr val="bg1"/>
                </a:solidFill>
              </a:rPr>
              <a:t> (</a:t>
            </a:r>
            <a:r>
              <a:rPr lang="en-US" sz="1700" i="1" dirty="0">
                <a:solidFill>
                  <a:schemeClr val="bg1"/>
                </a:solidFill>
              </a:rPr>
              <a:t>en, maar, want</a:t>
            </a:r>
            <a:r>
              <a:rPr lang="en-US" sz="1700" dirty="0">
                <a:solidFill>
                  <a:schemeClr val="bg1"/>
                </a:solidFill>
              </a:rPr>
              <a:t>, M9), le </a:t>
            </a:r>
            <a:r>
              <a:rPr lang="en-US" sz="1700" b="1" dirty="0">
                <a:solidFill>
                  <a:schemeClr val="bg1"/>
                </a:solidFill>
              </a:rPr>
              <a:t>passé</a:t>
            </a:r>
            <a:r>
              <a:rPr lang="en-US" sz="1700" dirty="0">
                <a:solidFill>
                  <a:schemeClr val="bg1"/>
                </a:solidFill>
              </a:rPr>
              <a:t> (</a:t>
            </a:r>
            <a:r>
              <a:rPr lang="en-US" sz="1700" i="1" dirty="0">
                <a:solidFill>
                  <a:schemeClr val="bg1"/>
                </a:solidFill>
              </a:rPr>
              <a:t>werkte</a:t>
            </a:r>
            <a:r>
              <a:rPr lang="en-US" sz="1700" dirty="0">
                <a:solidFill>
                  <a:schemeClr val="bg1"/>
                </a:solidFill>
              </a:rPr>
              <a:t>, M19), les repères </a:t>
            </a:r>
            <a:r>
              <a:rPr lang="en-US" sz="1700" i="1" dirty="0">
                <a:solidFill>
                  <a:schemeClr val="bg1"/>
                </a:solidFill>
              </a:rPr>
              <a:t>sinds, daarvoor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pitch en 5 étapes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Wie ben ik?</a:t>
            </a:r>
            <a:endParaRPr lang="en-US" sz="1700" dirty="0"/>
          </a:p>
        </p:txBody>
      </p:sp>
      <p:sp>
        <p:nvSpPr>
          <p:cNvPr id="10" name="tag"/>
          <p:cNvSpPr/>
          <p:nvPr/>
        </p:nvSpPr>
        <p:spPr>
          <a:xfrm>
            <a:off x="1012241"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1" name="Text 8"/>
          <p:cNvSpPr txBox="1"/>
          <p:nvPr/>
        </p:nvSpPr>
        <p:spPr>
          <a:xfrm>
            <a:off x="64008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ben Karim Benali. Ik kom uit Namen.</a:t>
            </a:r>
            <a:endParaRPr lang="en-US" sz="1400" dirty="0"/>
          </a:p>
        </p:txBody>
      </p:sp>
      <p:sp>
        <p:nvSpPr>
          <p:cNvPr id="12" name="Shape 9"/>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3" name="Text 10"/>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Shape 11"/>
          <p:cNvSpPr/>
          <p:nvPr/>
        </p:nvSpPr>
        <p:spPr>
          <a:xfrm>
            <a:off x="2792578"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15" name="Text 12"/>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Wat doe ik?</a:t>
            </a:r>
            <a:endParaRPr lang="en-US" sz="1700" dirty="0"/>
          </a:p>
        </p:txBody>
      </p:sp>
      <p:sp>
        <p:nvSpPr>
          <p:cNvPr id="16" name="tag"/>
          <p:cNvSpPr/>
          <p:nvPr/>
        </p:nvSpPr>
        <p:spPr>
          <a:xfrm>
            <a:off x="3256178"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7" name="Text 14"/>
          <p:cNvSpPr txBox="1"/>
          <p:nvPr/>
        </p:nvSpPr>
        <p:spPr>
          <a:xfrm>
            <a:off x="2884018"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werk als boekhouder bij Peeters &amp; Co.</a:t>
            </a:r>
            <a:endParaRPr lang="en-US" sz="1400" dirty="0"/>
          </a:p>
        </p:txBody>
      </p:sp>
      <p:sp>
        <p:nvSpPr>
          <p:cNvPr id="18" name="Shape 15"/>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9" name="Text 16"/>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Shape 17"/>
          <p:cNvSpPr/>
          <p:nvPr/>
        </p:nvSpPr>
        <p:spPr>
          <a:xfrm>
            <a:off x="5036515" y="2377440"/>
            <a:ext cx="2115922" cy="2971800"/>
          </a:xfrm>
          <a:prstGeom prst="roundRect">
            <a:avLst>
              <a:gd name="adj" fmla="val 5186"/>
            </a:avLst>
          </a:prstGeom>
          <a:solidFill>
            <a:schemeClr val="accent4">
              <a:alpha val="10000"/>
            </a:schemeClr>
          </a:solidFill>
          <a:ln w="22225">
            <a:solidFill>
              <a:srgbClr val="B4236A"/>
            </a:solidFill>
            <a:prstDash val="solid"/>
          </a:ln>
        </p:spPr>
      </p:sp>
      <p:sp>
        <p:nvSpPr>
          <p:cNvPr id="21" name="Text 18"/>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4"/>
                </a:solidFill>
              </a:rPr>
              <a:t>Wat heb ik gedaan?</a:t>
            </a:r>
            <a:endParaRPr lang="en-US" sz="1700" dirty="0"/>
          </a:p>
        </p:txBody>
      </p:sp>
      <p:sp>
        <p:nvSpPr>
          <p:cNvPr id="22" name="tag"/>
          <p:cNvSpPr/>
          <p:nvPr/>
        </p:nvSpPr>
        <p:spPr>
          <a:xfrm>
            <a:off x="5500116" y="2953512"/>
            <a:ext cx="92506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000" b="1" spc="100" kern="0" dirty="0">
                <a:solidFill>
                  <a:srgbClr val="FFFFFF"/>
                </a:solidFill>
              </a:rPr>
              <a:t>passé</a:t>
            </a:r>
            <a:endParaRPr lang="en-US" sz="1000" dirty="0"/>
          </a:p>
        </p:txBody>
      </p:sp>
      <p:sp>
        <p:nvSpPr>
          <p:cNvPr id="23" name="Text 20"/>
          <p:cNvSpPr txBox="1"/>
          <p:nvPr/>
        </p:nvSpPr>
        <p:spPr>
          <a:xfrm>
            <a:off x="5127955"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heb economie gestudeerd. Daarna werkte ik bij Maesbouw.</a:t>
            </a:r>
            <a:endParaRPr lang="en-US" sz="1400" dirty="0"/>
          </a:p>
        </p:txBody>
      </p:sp>
      <p:sp>
        <p:nvSpPr>
          <p:cNvPr id="24" name="Shape 21"/>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25" name="Text 22"/>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Shape 23"/>
          <p:cNvSpPr/>
          <p:nvPr/>
        </p:nvSpPr>
        <p:spPr>
          <a:xfrm>
            <a:off x="7280453" y="2377440"/>
            <a:ext cx="2115922" cy="2971800"/>
          </a:xfrm>
          <a:prstGeom prst="roundRect">
            <a:avLst>
              <a:gd name="adj" fmla="val 5186"/>
            </a:avLst>
          </a:prstGeom>
          <a:solidFill>
            <a:schemeClr val="accent3">
              <a:alpha val="10000"/>
            </a:schemeClr>
          </a:solidFill>
          <a:ln w="22225">
            <a:solidFill>
              <a:srgbClr val="2E7D4F"/>
            </a:solidFill>
            <a:prstDash val="solid"/>
          </a:ln>
        </p:spPr>
      </p:sp>
      <p:sp>
        <p:nvSpPr>
          <p:cNvPr id="27" name="Text 24"/>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3"/>
                </a:solidFill>
              </a:rPr>
              <a:t>Wat wil ik?</a:t>
            </a:r>
            <a:endParaRPr lang="en-US" sz="1700" dirty="0"/>
          </a:p>
        </p:txBody>
      </p:sp>
      <p:sp>
        <p:nvSpPr>
          <p:cNvPr id="28" name="tag"/>
          <p:cNvSpPr/>
          <p:nvPr/>
        </p:nvSpPr>
        <p:spPr>
          <a:xfrm>
            <a:off x="7744054" y="2953512"/>
            <a:ext cx="1624584"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000" b="1" spc="100" kern="0" dirty="0">
                <a:solidFill>
                  <a:srgbClr val="FFFFFF"/>
                </a:solidFill>
              </a:rPr>
              <a:t>futur, souhait</a:t>
            </a:r>
            <a:endParaRPr lang="en-US" sz="1000" dirty="0"/>
          </a:p>
        </p:txBody>
      </p:sp>
      <p:sp>
        <p:nvSpPr>
          <p:cNvPr id="29" name="Text 26"/>
          <p:cNvSpPr txBox="1"/>
          <p:nvPr/>
        </p:nvSpPr>
        <p:spPr>
          <a:xfrm>
            <a:off x="7371893"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Volgend jaar ga ik een opleiding volgen. Later zou ik graag een team leiden.</a:t>
            </a:r>
            <a:endParaRPr lang="en-US" sz="1400" dirty="0"/>
          </a:p>
        </p:txBody>
      </p:sp>
      <p:sp>
        <p:nvSpPr>
          <p:cNvPr id="30" name="Shape 27"/>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31" name="Text 28"/>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Shape 29"/>
          <p:cNvSpPr/>
          <p:nvPr/>
        </p:nvSpPr>
        <p:spPr>
          <a:xfrm>
            <a:off x="9524390" y="2377440"/>
            <a:ext cx="2115922" cy="2971800"/>
          </a:xfrm>
          <a:prstGeom prst="roundRect">
            <a:avLst>
              <a:gd name="adj" fmla="val 5186"/>
            </a:avLst>
          </a:prstGeom>
          <a:solidFill>
            <a:schemeClr val="accent5">
              <a:alpha val="10000"/>
            </a:schemeClr>
          </a:solidFill>
          <a:ln w="22225">
            <a:solidFill>
              <a:srgbClr val="4A5A70"/>
            </a:solidFill>
            <a:prstDash val="solid"/>
          </a:ln>
        </p:spPr>
      </p:sp>
      <p:sp>
        <p:nvSpPr>
          <p:cNvPr id="33" name="Text 30"/>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5"/>
                </a:solidFill>
              </a:rPr>
              <a:t>En privé?</a:t>
            </a:r>
            <a:endParaRPr lang="en-US" sz="1700" dirty="0"/>
          </a:p>
        </p:txBody>
      </p:sp>
      <p:sp>
        <p:nvSpPr>
          <p:cNvPr id="34" name="tag"/>
          <p:cNvSpPr/>
          <p:nvPr/>
        </p:nvSpPr>
        <p:spPr>
          <a:xfrm>
            <a:off x="9987991" y="2953512"/>
            <a:ext cx="995172"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loisirs</a:t>
            </a:r>
            <a:endParaRPr lang="en-US" sz="1000" dirty="0"/>
          </a:p>
        </p:txBody>
      </p:sp>
      <p:sp>
        <p:nvSpPr>
          <p:cNvPr id="35" name="Text 32"/>
          <p:cNvSpPr txBox="1"/>
          <p:nvPr/>
        </p:nvSpPr>
        <p:spPr>
          <a:xfrm>
            <a:off x="961583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In mijn vrije tijd kook ik graag.</a:t>
            </a:r>
            <a:endParaRPr lang="en-US" sz="1400" dirty="0"/>
          </a:p>
        </p:txBody>
      </p:sp>
      <p:sp>
        <p:nvSpPr>
          <p:cNvPr id="36" name="Shape 33"/>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34"/>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En serrant la main : </a:t>
            </a:r>
            <a:r>
              <a:rPr lang="en-US" sz="1700" b="1" i="1" dirty="0">
                <a:solidFill>
                  <a:schemeClr val="bg1"/>
                </a:solidFill>
              </a:rPr>
              <a:t>Aangenaam!</a:t>
            </a:r>
            <a:r>
              <a:rPr lang="en-US" sz="1700" dirty="0">
                <a:solidFill>
                  <a:schemeClr val="bg1"/>
                </a:solidFill>
              </a:rPr>
              <a:t> · pour finir : </a:t>
            </a:r>
            <a:r>
              <a:rPr lang="en-US" sz="1700" i="1" dirty="0">
                <a:solidFill>
                  <a:schemeClr val="bg1"/>
                </a:solidFill>
              </a:rPr>
              <a:t>Leuk je te leren kennen!</a:t>
            </a:r>
            <a:r>
              <a:rPr lang="en-US" sz="1700" dirty="0">
                <a:solidFill>
                  <a:schemeClr val="bg1"/>
                </a:solidFill>
              </a:rPr>
              <a:t> — un bon pitch dure de 30 secondes à 1 minute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fonction : la carte de visite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3931920"/>
          </a:xfrm>
          <a:prstGeom prst="roundRect">
            <a:avLst>
              <a:gd name="adj" fmla="val 3488"/>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164592" cy="3931920"/>
          </a:xfrm>
          <a:prstGeom prst="rect">
            <a:avLst/>
          </a:prstGeom>
          <a:solidFill>
            <a:schemeClr val="accent1"/>
          </a:solidFill>
          <a:ln w="12700">
            <a:solidFill>
              <a:srgbClr val="FFFFFF">
                <a:alpha val="0"/>
              </a:srgbClr>
            </a:solidFill>
            <a:prstDash val="solid"/>
          </a:ln>
        </p:spPr>
      </p:sp>
      <p:sp>
        <p:nvSpPr>
          <p:cNvPr id="7" name="Shape 4"/>
          <p:cNvSpPr/>
          <p:nvPr/>
        </p:nvSpPr>
        <p:spPr>
          <a:xfrm>
            <a:off x="960120" y="1691640"/>
            <a:ext cx="1188720" cy="594360"/>
          </a:xfrm>
          <a:prstGeom prst="roundRect">
            <a:avLst>
              <a:gd name="adj" fmla="val 15385"/>
            </a:avLst>
          </a:prstGeom>
          <a:solidFill>
            <a:schemeClr val="accent1"/>
          </a:solidFill>
          <a:ln w="12700">
            <a:solidFill>
              <a:srgbClr val="FFFFFF">
                <a:alpha val="0"/>
              </a:srgbClr>
            </a:solidFill>
            <a:prstDash val="solid"/>
          </a:ln>
        </p:spPr>
      </p:sp>
      <p:sp>
        <p:nvSpPr>
          <p:cNvPr id="8" name="Text 5"/>
          <p:cNvSpPr txBox="1"/>
          <p:nvPr/>
        </p:nvSpPr>
        <p:spPr>
          <a:xfrm>
            <a:off x="960120" y="169164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9" name="Text 6"/>
          <p:cNvSpPr txBox="1"/>
          <p:nvPr/>
        </p:nvSpPr>
        <p:spPr>
          <a:xfrm>
            <a:off x="2286000" y="169164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l’entreprise</a:t>
            </a:r>
            <a:endParaRPr lang="en-US" sz="1500" dirty="0"/>
          </a:p>
        </p:txBody>
      </p:sp>
      <p:sp>
        <p:nvSpPr>
          <p:cNvPr id="10" name="Text 7"/>
          <p:cNvSpPr txBox="1"/>
          <p:nvPr/>
        </p:nvSpPr>
        <p:spPr>
          <a:xfrm>
            <a:off x="4663440" y="169164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bij</a:t>
            </a:r>
            <a:r>
              <a:rPr lang="en-US" sz="1800" i="1" dirty="0">
                <a:solidFill>
                  <a:schemeClr val="tx1"/>
                </a:solidFill>
              </a:rPr>
              <a:t> Peeters &amp; Co.</a:t>
            </a:r>
            <a:endParaRPr lang="en-US" sz="1800" dirty="0"/>
          </a:p>
        </p:txBody>
      </p:sp>
      <p:sp>
        <p:nvSpPr>
          <p:cNvPr id="11" name="Shape 8"/>
          <p:cNvSpPr/>
          <p:nvPr/>
        </p:nvSpPr>
        <p:spPr>
          <a:xfrm>
            <a:off x="960120" y="2423160"/>
            <a:ext cx="1188720" cy="594360"/>
          </a:xfrm>
          <a:prstGeom prst="roundRect">
            <a:avLst>
              <a:gd name="adj" fmla="val 15385"/>
            </a:avLst>
          </a:prstGeom>
          <a:solidFill>
            <a:schemeClr val="accent1"/>
          </a:solidFill>
          <a:ln w="12700">
            <a:solidFill>
              <a:srgbClr val="FFFFFF">
                <a:alpha val="0"/>
              </a:srgbClr>
            </a:solidFill>
            <a:prstDash val="solid"/>
          </a:ln>
        </p:spPr>
      </p:sp>
      <p:sp>
        <p:nvSpPr>
          <p:cNvPr id="12" name="Text 9"/>
          <p:cNvSpPr txBox="1"/>
          <p:nvPr/>
        </p:nvSpPr>
        <p:spPr>
          <a:xfrm>
            <a:off x="960120" y="242316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13" name="Text 10"/>
          <p:cNvSpPr txBox="1"/>
          <p:nvPr/>
        </p:nvSpPr>
        <p:spPr>
          <a:xfrm>
            <a:off x="2286000" y="242316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 service</a:t>
            </a:r>
            <a:endParaRPr lang="en-US" sz="1500" dirty="0"/>
          </a:p>
        </p:txBody>
      </p:sp>
      <p:sp>
        <p:nvSpPr>
          <p:cNvPr id="14" name="Text 11"/>
          <p:cNvSpPr txBox="1"/>
          <p:nvPr/>
        </p:nvSpPr>
        <p:spPr>
          <a:xfrm>
            <a:off x="4663440" y="242316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op</a:t>
            </a:r>
            <a:r>
              <a:rPr lang="en-US" sz="1800" i="1" dirty="0">
                <a:solidFill>
                  <a:schemeClr val="tx1"/>
                </a:solidFill>
              </a:rPr>
              <a:t> de boekhouding. (aussi : </a:t>
            </a:r>
            <a:r>
              <a:rPr lang="en-US" sz="1800" b="1" i="1" dirty="0">
                <a:solidFill>
                  <a:schemeClr val="accent1"/>
                </a:solidFill>
              </a:rPr>
              <a:t>bij</a:t>
            </a:r>
            <a:r>
              <a:rPr lang="en-US" sz="1800" i="1" dirty="0">
                <a:solidFill>
                  <a:schemeClr val="tx1"/>
                </a:solidFill>
              </a:rPr>
              <a:t> de personeelsdienst)</a:t>
            </a:r>
            <a:endParaRPr lang="en-US" sz="1800" dirty="0"/>
          </a:p>
        </p:txBody>
      </p:sp>
      <p:sp>
        <p:nvSpPr>
          <p:cNvPr id="15" name="Shape 12"/>
          <p:cNvSpPr/>
          <p:nvPr/>
        </p:nvSpPr>
        <p:spPr>
          <a:xfrm>
            <a:off x="960120" y="3154680"/>
            <a:ext cx="1188720" cy="594360"/>
          </a:xfrm>
          <a:prstGeom prst="roundRect">
            <a:avLst>
              <a:gd name="adj" fmla="val 15385"/>
            </a:avLst>
          </a:prstGeom>
          <a:solidFill>
            <a:schemeClr val="accent1"/>
          </a:solidFill>
          <a:ln w="12700">
            <a:solidFill>
              <a:srgbClr val="FFFFFF">
                <a:alpha val="0"/>
              </a:srgbClr>
            </a:solidFill>
            <a:prstDash val="solid"/>
          </a:ln>
        </p:spPr>
      </p:sp>
      <p:sp>
        <p:nvSpPr>
          <p:cNvPr id="16" name="Text 13"/>
          <p:cNvSpPr txBox="1"/>
          <p:nvPr/>
        </p:nvSpPr>
        <p:spPr>
          <a:xfrm>
            <a:off x="960120" y="315468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7" name="Text 14"/>
          <p:cNvSpPr txBox="1"/>
          <p:nvPr/>
        </p:nvSpPr>
        <p:spPr>
          <a:xfrm>
            <a:off x="2286000" y="315468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fonction</a:t>
            </a:r>
            <a:endParaRPr lang="en-US" sz="1500" dirty="0"/>
          </a:p>
        </p:txBody>
      </p:sp>
      <p:sp>
        <p:nvSpPr>
          <p:cNvPr id="18" name="Text 15"/>
          <p:cNvSpPr txBox="1"/>
          <p:nvPr/>
        </p:nvSpPr>
        <p:spPr>
          <a:xfrm>
            <a:off x="4663440" y="315468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als</a:t>
            </a:r>
            <a:r>
              <a:rPr lang="en-US" sz="1800" i="1" dirty="0">
                <a:solidFill>
                  <a:schemeClr val="tx1"/>
                </a:solidFill>
              </a:rPr>
              <a:t> boekhouder. · Ik ben boekhouder. (sans </a:t>
            </a:r>
            <a:r>
              <a:rPr lang="en-US" sz="1800" dirty="0">
                <a:solidFill>
                  <a:schemeClr val="tx1"/>
                </a:solidFill>
              </a:rPr>
              <a:t>een</a:t>
            </a:r>
            <a:r>
              <a:rPr lang="en-US" sz="1800" i="1" dirty="0">
                <a:solidFill>
                  <a:schemeClr val="tx1"/>
                </a:solidFill>
              </a:rPr>
              <a:t>)</a:t>
            </a:r>
            <a:endParaRPr lang="en-US" sz="1800" dirty="0"/>
          </a:p>
        </p:txBody>
      </p:sp>
      <p:sp>
        <p:nvSpPr>
          <p:cNvPr id="19" name="Shape 16"/>
          <p:cNvSpPr/>
          <p:nvPr/>
        </p:nvSpPr>
        <p:spPr>
          <a:xfrm>
            <a:off x="960120" y="3886200"/>
            <a:ext cx="1188720" cy="594360"/>
          </a:xfrm>
          <a:prstGeom prst="roundRect">
            <a:avLst>
              <a:gd name="adj" fmla="val 15385"/>
            </a:avLst>
          </a:prstGeom>
          <a:solidFill>
            <a:schemeClr val="accent1"/>
          </a:solidFill>
          <a:ln w="12700">
            <a:solidFill>
              <a:srgbClr val="FFFFFF">
                <a:alpha val="0"/>
              </a:srgbClr>
            </a:solidFill>
            <a:prstDash val="solid"/>
          </a:ln>
        </p:spPr>
      </p:sp>
      <p:sp>
        <p:nvSpPr>
          <p:cNvPr id="20" name="Text 17"/>
          <p:cNvSpPr txBox="1"/>
          <p:nvPr/>
        </p:nvSpPr>
        <p:spPr>
          <a:xfrm>
            <a:off x="960120" y="388620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Text 18"/>
          <p:cNvSpPr txBox="1"/>
          <p:nvPr/>
        </p:nvSpPr>
        <p:spPr>
          <a:xfrm>
            <a:off x="2286000" y="388620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ville, le secteur</a:t>
            </a:r>
            <a:endParaRPr lang="en-US" sz="1500" dirty="0"/>
          </a:p>
        </p:txBody>
      </p:sp>
      <p:sp>
        <p:nvSpPr>
          <p:cNvPr id="22" name="Text 19"/>
          <p:cNvSpPr txBox="1"/>
          <p:nvPr/>
        </p:nvSpPr>
        <p:spPr>
          <a:xfrm>
            <a:off x="4663440" y="388620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in</a:t>
            </a:r>
            <a:r>
              <a:rPr lang="en-US" sz="1800" i="1" dirty="0">
                <a:solidFill>
                  <a:schemeClr val="tx1"/>
                </a:solidFill>
              </a:rPr>
              <a:t> Brussel, </a:t>
            </a:r>
            <a:r>
              <a:rPr lang="en-US" sz="1800" b="1" i="1" dirty="0">
                <a:solidFill>
                  <a:schemeClr val="accent1"/>
                </a:solidFill>
              </a:rPr>
              <a:t>in</a:t>
            </a:r>
            <a:r>
              <a:rPr lang="en-US" sz="1800" i="1" dirty="0">
                <a:solidFill>
                  <a:schemeClr val="tx1"/>
                </a:solidFill>
              </a:rPr>
              <a:t> de bouwsector.</a:t>
            </a:r>
            <a:endParaRPr lang="en-US" sz="1800" dirty="0"/>
          </a:p>
        </p:txBody>
      </p:sp>
      <p:sp>
        <p:nvSpPr>
          <p:cNvPr id="23" name="Shape 20"/>
          <p:cNvSpPr/>
          <p:nvPr/>
        </p:nvSpPr>
        <p:spPr>
          <a:xfrm>
            <a:off x="960120" y="4617720"/>
            <a:ext cx="1188720" cy="594360"/>
          </a:xfrm>
          <a:prstGeom prst="roundRect">
            <a:avLst>
              <a:gd name="adj" fmla="val 15385"/>
            </a:avLst>
          </a:prstGeom>
          <a:solidFill>
            <a:schemeClr val="accent1"/>
          </a:solidFill>
          <a:ln w="12700">
            <a:solidFill>
              <a:srgbClr val="FFFFFF">
                <a:alpha val="0"/>
              </a:srgbClr>
            </a:solidFill>
            <a:prstDash val="solid"/>
          </a:ln>
        </p:spPr>
      </p:sp>
      <p:sp>
        <p:nvSpPr>
          <p:cNvPr id="24" name="Text 21"/>
          <p:cNvSpPr txBox="1"/>
          <p:nvPr/>
        </p:nvSpPr>
        <p:spPr>
          <a:xfrm>
            <a:off x="960120" y="461772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voor</a:t>
            </a:r>
            <a:endParaRPr lang="en-US" sz="2200" dirty="0"/>
          </a:p>
        </p:txBody>
      </p:sp>
      <p:sp>
        <p:nvSpPr>
          <p:cNvPr id="25" name="Text 22"/>
          <p:cNvSpPr txBox="1"/>
          <p:nvPr/>
        </p:nvSpPr>
        <p:spPr>
          <a:xfrm>
            <a:off x="2286000" y="461772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responsabilité, le client</a:t>
            </a:r>
            <a:endParaRPr lang="en-US" sz="1500" dirty="0"/>
          </a:p>
        </p:txBody>
      </p:sp>
      <p:sp>
        <p:nvSpPr>
          <p:cNvPr id="26" name="Text 23"/>
          <p:cNvSpPr txBox="1"/>
          <p:nvPr/>
        </p:nvSpPr>
        <p:spPr>
          <a:xfrm>
            <a:off x="4663440" y="461772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ben verantwoordelijk </a:t>
            </a:r>
            <a:r>
              <a:rPr lang="en-US" sz="1800" b="1" i="1" dirty="0">
                <a:solidFill>
                  <a:schemeClr val="accent1"/>
                </a:solidFill>
              </a:rPr>
              <a:t>voor</a:t>
            </a:r>
            <a:r>
              <a:rPr lang="en-US" sz="1800" i="1" dirty="0">
                <a:solidFill>
                  <a:schemeClr val="tx1"/>
                </a:solidFill>
              </a:rPr>
              <a:t> de facturatie.</a:t>
            </a:r>
            <a:endParaRPr lang="en-US" sz="1800" dirty="0"/>
          </a:p>
        </p:txBody>
      </p:sp>
      <p:sp>
        <p:nvSpPr>
          <p:cNvPr id="27" name="Shape 24"/>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28" name="Text 25"/>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Le français dit « </a:t>
            </a:r>
            <a:r>
              <a:rPr lang="en-US" sz="1700" b="1" dirty="0">
                <a:solidFill>
                  <a:schemeClr val="bg1"/>
                </a:solidFill>
              </a:rPr>
              <a:t>chez</a:t>
            </a:r>
            <a:r>
              <a:rPr lang="en-US" sz="1700" dirty="0">
                <a:solidFill>
                  <a:schemeClr val="bg1"/>
                </a:solidFill>
              </a:rPr>
              <a:t> Peeters », « </a:t>
            </a:r>
            <a:r>
              <a:rPr lang="en-US" sz="1700" b="1" dirty="0">
                <a:solidFill>
                  <a:schemeClr val="bg1"/>
                </a:solidFill>
              </a:rPr>
              <a:t>comme</a:t>
            </a:r>
            <a:r>
              <a:rPr lang="en-US" sz="1700" dirty="0">
                <a:solidFill>
                  <a:schemeClr val="bg1"/>
                </a:solidFill>
              </a:rPr>
              <a:t> comptable », « responsable </a:t>
            </a:r>
            <a:r>
              <a:rPr lang="en-US" sz="1700" b="1" dirty="0">
                <a:solidFill>
                  <a:schemeClr val="bg1"/>
                </a:solidFill>
              </a:rPr>
              <a:t>de</a:t>
            </a:r>
            <a:r>
              <a:rPr lang="en-US" sz="1700" dirty="0">
                <a:solidFill>
                  <a:schemeClr val="bg1"/>
                </a:solidFill>
              </a:rPr>
              <a:t> » : trois pièges en une phrase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tâches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31536" cy="960120"/>
          </a:xfrm>
          <a:prstGeom prst="roundRect">
            <a:avLst>
              <a:gd name="adj" fmla="val 9524"/>
            </a:avLst>
          </a:prstGeom>
          <a:solidFill>
            <a:srgbClr val="EAF2FB"/>
          </a:solidFill>
          <a:ln w="19050">
            <a:solidFill>
              <a:srgbClr val="2A6FB0"/>
            </a:solidFill>
            <a:prstDash val="solid"/>
          </a:ln>
        </p:spPr>
      </p:sp>
      <p:sp>
        <p:nvSpPr>
          <p:cNvPr id="6" name="Text 3"/>
          <p:cNvSpPr txBox="1"/>
          <p:nvPr/>
        </p:nvSpPr>
        <p:spPr>
          <a:xfrm>
            <a:off x="777240"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ben verantwoordelijk </a:t>
            </a:r>
            <a:r>
              <a:rPr lang="en-US" sz="1800" b="1" i="1" dirty="0">
                <a:solidFill>
                  <a:schemeClr val="tx1"/>
                </a:solidFill>
              </a:rPr>
              <a:t>voor</a:t>
            </a:r>
            <a:r>
              <a:rPr lang="en-US" sz="1800" i="1" dirty="0">
                <a:solidFill>
                  <a:schemeClr val="tx1"/>
                </a:solidFill>
              </a:rPr>
              <a:t> de facturatie.</a:t>
            </a:r>
            <a:endParaRPr lang="en-US" sz="1800" dirty="0"/>
          </a:p>
          <a:p>
            <a:pPr algn="l" indent="0" marL="0">
              <a:spcAft>
                <a:spcPts val="200"/>
              </a:spcAft>
              <a:buNone/>
            </a:pPr>
            <a:r>
              <a:rPr lang="en-US" sz="1800" dirty="0">
                <a:solidFill>
                  <a:schemeClr val="tx1"/>
                </a:solidFill>
              </a:rPr>
              <a:t>je suis responsable de</a:t>
            </a:r>
            <a:endParaRPr lang="en-US" sz="1800" dirty="0"/>
          </a:p>
        </p:txBody>
      </p:sp>
      <p:sp>
        <p:nvSpPr>
          <p:cNvPr id="7" name="Shape 4"/>
          <p:cNvSpPr/>
          <p:nvPr/>
        </p:nvSpPr>
        <p:spPr>
          <a:xfrm>
            <a:off x="6208776" y="1554480"/>
            <a:ext cx="5431536" cy="960120"/>
          </a:xfrm>
          <a:prstGeom prst="roundRect">
            <a:avLst>
              <a:gd name="adj" fmla="val 9524"/>
            </a:avLst>
          </a:prstGeom>
          <a:solidFill>
            <a:srgbClr val="EAF2FB"/>
          </a:solidFill>
          <a:ln w="19050">
            <a:solidFill>
              <a:srgbClr val="2A6FB0"/>
            </a:solidFill>
            <a:prstDash val="solid"/>
          </a:ln>
        </p:spPr>
      </p:sp>
      <p:sp>
        <p:nvSpPr>
          <p:cNvPr id="8" name="Text 5"/>
          <p:cNvSpPr txBox="1"/>
          <p:nvPr/>
        </p:nvSpPr>
        <p:spPr>
          <a:xfrm>
            <a:off x="6437376"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zorg </a:t>
            </a:r>
            <a:r>
              <a:rPr lang="en-US" sz="1800" b="1" i="1" dirty="0">
                <a:solidFill>
                  <a:schemeClr val="tx1"/>
                </a:solidFill>
              </a:rPr>
              <a:t>voor</a:t>
            </a:r>
            <a:r>
              <a:rPr lang="en-US" sz="1800" i="1" dirty="0">
                <a:solidFill>
                  <a:schemeClr val="tx1"/>
                </a:solidFill>
              </a:rPr>
              <a:t> de planning.</a:t>
            </a:r>
            <a:endParaRPr lang="en-US" sz="1800" dirty="0"/>
          </a:p>
          <a:p>
            <a:pPr algn="l" indent="0" marL="0">
              <a:spcAft>
                <a:spcPts val="200"/>
              </a:spcAft>
              <a:buNone/>
            </a:pPr>
            <a:r>
              <a:rPr lang="en-US" sz="1800" dirty="0">
                <a:solidFill>
                  <a:schemeClr val="tx1"/>
                </a:solidFill>
              </a:rPr>
              <a:t>je m’occupe de</a:t>
            </a:r>
            <a:endParaRPr lang="en-US" sz="1800" dirty="0"/>
          </a:p>
        </p:txBody>
      </p:sp>
      <p:sp>
        <p:nvSpPr>
          <p:cNvPr id="9" name="Shape 6"/>
          <p:cNvSpPr/>
          <p:nvPr/>
        </p:nvSpPr>
        <p:spPr>
          <a:xfrm>
            <a:off x="548640" y="2651760"/>
            <a:ext cx="5431536" cy="960120"/>
          </a:xfrm>
          <a:prstGeom prst="roundRect">
            <a:avLst>
              <a:gd name="adj" fmla="val 9524"/>
            </a:avLst>
          </a:prstGeom>
          <a:solidFill>
            <a:srgbClr val="EAF2FB"/>
          </a:solidFill>
          <a:ln w="19050">
            <a:solidFill>
              <a:srgbClr val="2A6FB0"/>
            </a:solidFill>
            <a:prstDash val="solid"/>
          </a:ln>
        </p:spPr>
      </p:sp>
      <p:sp>
        <p:nvSpPr>
          <p:cNvPr id="10" name="Text 7"/>
          <p:cNvSpPr txBox="1"/>
          <p:nvPr/>
        </p:nvSpPr>
        <p:spPr>
          <a:xfrm>
            <a:off x="777240"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hou </a:t>
            </a:r>
            <a:r>
              <a:rPr lang="en-US" sz="1800" b="1" i="1" dirty="0">
                <a:solidFill>
                  <a:schemeClr val="tx1"/>
                </a:solidFill>
              </a:rPr>
              <a:t>me</a:t>
            </a:r>
            <a:r>
              <a:rPr lang="en-US" sz="1800" i="1" dirty="0">
                <a:solidFill>
                  <a:schemeClr val="tx1"/>
                </a:solidFill>
              </a:rPr>
              <a:t> bezig </a:t>
            </a:r>
            <a:r>
              <a:rPr lang="en-US" sz="1800" b="1" i="1" dirty="0">
                <a:solidFill>
                  <a:schemeClr val="tx1"/>
                </a:solidFill>
              </a:rPr>
              <a:t>met</a:t>
            </a:r>
            <a:r>
              <a:rPr lang="en-US" sz="1800" i="1" dirty="0">
                <a:solidFill>
                  <a:schemeClr val="tx1"/>
                </a:solidFill>
              </a:rPr>
              <a:t> de lonen.</a:t>
            </a:r>
            <a:endParaRPr lang="en-US" sz="1800" dirty="0"/>
          </a:p>
          <a:p>
            <a:pPr algn="l" indent="0" marL="0">
              <a:spcAft>
                <a:spcPts val="200"/>
              </a:spcAft>
              <a:buNone/>
            </a:pPr>
            <a:r>
              <a:rPr lang="en-US" sz="1800" dirty="0">
                <a:solidFill>
                  <a:schemeClr val="tx1"/>
                </a:solidFill>
              </a:rPr>
              <a:t>s’occuper de (M28, M11)</a:t>
            </a:r>
            <a:endParaRPr lang="en-US" sz="1800" dirty="0"/>
          </a:p>
        </p:txBody>
      </p:sp>
      <p:sp>
        <p:nvSpPr>
          <p:cNvPr id="11" name="Shape 8"/>
          <p:cNvSpPr/>
          <p:nvPr/>
        </p:nvSpPr>
        <p:spPr>
          <a:xfrm>
            <a:off x="6208776" y="2651760"/>
            <a:ext cx="5431536" cy="960120"/>
          </a:xfrm>
          <a:prstGeom prst="roundRect">
            <a:avLst>
              <a:gd name="adj" fmla="val 9524"/>
            </a:avLst>
          </a:prstGeom>
          <a:solidFill>
            <a:srgbClr val="EAF2FB"/>
          </a:solidFill>
          <a:ln w="19050">
            <a:solidFill>
              <a:srgbClr val="2A6FB0"/>
            </a:solidFill>
            <a:prstDash val="solid"/>
          </a:ln>
        </p:spPr>
      </p:sp>
      <p:sp>
        <p:nvSpPr>
          <p:cNvPr id="12" name="Text 9"/>
          <p:cNvSpPr txBox="1"/>
          <p:nvPr/>
        </p:nvSpPr>
        <p:spPr>
          <a:xfrm>
            <a:off x="6437376"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sta in </a:t>
            </a:r>
            <a:r>
              <a:rPr lang="en-US" sz="1800" b="1" i="1" dirty="0">
                <a:solidFill>
                  <a:schemeClr val="tx1"/>
                </a:solidFill>
              </a:rPr>
              <a:t>voor</a:t>
            </a:r>
            <a:r>
              <a:rPr lang="en-US" sz="1800" i="1" dirty="0">
                <a:solidFill>
                  <a:schemeClr val="tx1"/>
                </a:solidFill>
              </a:rPr>
              <a:t> de klantendienst.</a:t>
            </a:r>
            <a:endParaRPr lang="en-US" sz="1800" dirty="0"/>
          </a:p>
          <a:p>
            <a:pPr algn="l" indent="0" marL="0">
              <a:spcAft>
                <a:spcPts val="200"/>
              </a:spcAft>
              <a:buNone/>
            </a:pPr>
            <a:r>
              <a:rPr lang="en-US" sz="1800" dirty="0">
                <a:solidFill>
                  <a:schemeClr val="tx1"/>
                </a:solidFill>
              </a:rPr>
              <a:t>être en charge de (BE)</a:t>
            </a:r>
            <a:endParaRPr lang="en-US" sz="1800" dirty="0"/>
          </a:p>
        </p:txBody>
      </p:sp>
      <p:sp>
        <p:nvSpPr>
          <p:cNvPr id="13" name="Text 10"/>
          <p:cNvSpPr txBox="1"/>
          <p:nvPr/>
        </p:nvSpPr>
        <p:spPr>
          <a:xfrm>
            <a:off x="548640" y="384048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MES TÂCHES</a:t>
            </a:r>
            <a:endParaRPr lang="en-US" sz="1300" dirty="0"/>
          </a:p>
        </p:txBody>
      </p:sp>
      <p:sp>
        <p:nvSpPr>
          <p:cNvPr id="14" name="Shape 11"/>
          <p:cNvSpPr/>
          <p:nvPr/>
        </p:nvSpPr>
        <p:spPr>
          <a:xfrm>
            <a:off x="548640" y="4206240"/>
            <a:ext cx="2635758" cy="1097280"/>
          </a:xfrm>
          <a:prstGeom prst="roundRect">
            <a:avLst>
              <a:gd name="adj" fmla="val 8333"/>
            </a:avLst>
          </a:prstGeom>
          <a:solidFill>
            <a:srgbClr val="FFFFFF"/>
          </a:solidFill>
          <a:ln w="12700">
            <a:solidFill>
              <a:srgbClr val="D5DCE6"/>
            </a:solidFill>
            <a:prstDash val="solid"/>
          </a:ln>
        </p:spPr>
      </p:sp>
      <p:pic>
        <p:nvPicPr>
          <p:cNvPr id="15" name="Image 0" descr="e mail">    </p:cNvPr>
          <p:cNvPicPr>
            <a:picLocks noChangeAspect="1"/>
          </p:cNvPicPr>
          <p:nvPr/>
        </p:nvPicPr>
        <p:blipFill>
          <a:blip r:embed="rId1"/>
          <a:stretch>
            <a:fillRect/>
          </a:stretch>
        </p:blipFill>
        <p:spPr>
          <a:xfrm>
            <a:off x="685800" y="4434840"/>
            <a:ext cx="640080" cy="640080"/>
          </a:xfrm>
          <a:prstGeom prst="rect">
            <a:avLst/>
          </a:prstGeom>
        </p:spPr>
      </p:pic>
      <p:sp>
        <p:nvSpPr>
          <p:cNvPr id="16" name="Text 12"/>
          <p:cNvSpPr txBox="1"/>
          <p:nvPr/>
        </p:nvSpPr>
        <p:spPr>
          <a:xfrm>
            <a:off x="1417320"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beantwoord e-mails.</a:t>
            </a:r>
            <a:endParaRPr lang="en-US" sz="1600" dirty="0"/>
          </a:p>
        </p:txBody>
      </p:sp>
      <p:sp>
        <p:nvSpPr>
          <p:cNvPr id="17" name="Shape 13"/>
          <p:cNvSpPr/>
          <p:nvPr/>
        </p:nvSpPr>
        <p:spPr>
          <a:xfrm>
            <a:off x="3367278" y="4206240"/>
            <a:ext cx="2635758" cy="1097280"/>
          </a:xfrm>
          <a:prstGeom prst="roundRect">
            <a:avLst>
              <a:gd name="adj" fmla="val 8333"/>
            </a:avLst>
          </a:prstGeom>
          <a:solidFill>
            <a:srgbClr val="FFFFFF"/>
          </a:solidFill>
          <a:ln w="12700">
            <a:solidFill>
              <a:srgbClr val="D5DCE6"/>
            </a:solidFill>
            <a:prstDash val="solid"/>
          </a:ln>
        </p:spPr>
      </p:sp>
      <p:pic>
        <p:nvPicPr>
          <p:cNvPr id="18" name="Image 1" descr="receipt">    </p:cNvPr>
          <p:cNvPicPr>
            <a:picLocks noChangeAspect="1"/>
          </p:cNvPicPr>
          <p:nvPr/>
        </p:nvPicPr>
        <p:blipFill>
          <a:blip r:embed="rId2"/>
          <a:stretch>
            <a:fillRect/>
          </a:stretch>
        </p:blipFill>
        <p:spPr>
          <a:xfrm>
            <a:off x="3504438" y="4434840"/>
            <a:ext cx="640080" cy="640080"/>
          </a:xfrm>
          <a:prstGeom prst="rect">
            <a:avLst/>
          </a:prstGeom>
        </p:spPr>
      </p:pic>
      <p:sp>
        <p:nvSpPr>
          <p:cNvPr id="19" name="Text 14"/>
          <p:cNvSpPr txBox="1"/>
          <p:nvPr/>
        </p:nvSpPr>
        <p:spPr>
          <a:xfrm>
            <a:off x="4235958"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maak offertes.</a:t>
            </a:r>
            <a:endParaRPr lang="en-US" sz="1600" dirty="0"/>
          </a:p>
        </p:txBody>
      </p:sp>
      <p:sp>
        <p:nvSpPr>
          <p:cNvPr id="20" name="Shape 15"/>
          <p:cNvSpPr/>
          <p:nvPr/>
        </p:nvSpPr>
        <p:spPr>
          <a:xfrm>
            <a:off x="6185916" y="4206240"/>
            <a:ext cx="2635758" cy="1097280"/>
          </a:xfrm>
          <a:prstGeom prst="roundRect">
            <a:avLst>
              <a:gd name="adj" fmla="val 8333"/>
            </a:avLst>
          </a:prstGeom>
          <a:solidFill>
            <a:srgbClr val="FFFFFF"/>
          </a:solidFill>
          <a:ln w="12700">
            <a:solidFill>
              <a:srgbClr val="D5DCE6"/>
            </a:solidFill>
            <a:prstDash val="solid"/>
          </a:ln>
        </p:spPr>
      </p:sp>
      <p:pic>
        <p:nvPicPr>
          <p:cNvPr id="21" name="Image 2" descr="handshake">    </p:cNvPr>
          <p:cNvPicPr>
            <a:picLocks noChangeAspect="1"/>
          </p:cNvPicPr>
          <p:nvPr/>
        </p:nvPicPr>
        <p:blipFill>
          <a:blip r:embed="rId3"/>
          <a:stretch>
            <a:fillRect/>
          </a:stretch>
        </p:blipFill>
        <p:spPr>
          <a:xfrm>
            <a:off x="6323076" y="4434840"/>
            <a:ext cx="640080" cy="640080"/>
          </a:xfrm>
          <a:prstGeom prst="rect">
            <a:avLst/>
          </a:prstGeom>
        </p:spPr>
      </p:pic>
      <p:sp>
        <p:nvSpPr>
          <p:cNvPr id="22" name="Text 16"/>
          <p:cNvSpPr txBox="1"/>
          <p:nvPr/>
        </p:nvSpPr>
        <p:spPr>
          <a:xfrm>
            <a:off x="7054596"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ontvang klanten.</a:t>
            </a:r>
            <a:endParaRPr lang="en-US" sz="1600" dirty="0"/>
          </a:p>
        </p:txBody>
      </p:sp>
      <p:sp>
        <p:nvSpPr>
          <p:cNvPr id="23" name="Shape 17"/>
          <p:cNvSpPr/>
          <p:nvPr/>
        </p:nvSpPr>
        <p:spPr>
          <a:xfrm>
            <a:off x="9004554" y="4206240"/>
            <a:ext cx="2635758" cy="1097280"/>
          </a:xfrm>
          <a:prstGeom prst="roundRect">
            <a:avLst>
              <a:gd name="adj" fmla="val 8333"/>
            </a:avLst>
          </a:prstGeom>
          <a:solidFill>
            <a:srgbClr val="FFFFFF"/>
          </a:solidFill>
          <a:ln w="12700">
            <a:solidFill>
              <a:srgbClr val="D5DCE6"/>
            </a:solidFill>
            <a:prstDash val="solid"/>
          </a:ln>
        </p:spPr>
      </p:sp>
      <p:pic>
        <p:nvPicPr>
          <p:cNvPr id="24" name="Image 3" descr="spiral calendar">    </p:cNvPr>
          <p:cNvPicPr>
            <a:picLocks noChangeAspect="1"/>
          </p:cNvPicPr>
          <p:nvPr/>
        </p:nvPicPr>
        <p:blipFill>
          <a:blip r:embed="rId4"/>
          <a:stretch>
            <a:fillRect/>
          </a:stretch>
        </p:blipFill>
        <p:spPr>
          <a:xfrm>
            <a:off x="9141714" y="4434840"/>
            <a:ext cx="640080" cy="640080"/>
          </a:xfrm>
          <a:prstGeom prst="rect">
            <a:avLst/>
          </a:prstGeom>
        </p:spPr>
      </p:pic>
      <p:sp>
        <p:nvSpPr>
          <p:cNvPr id="25" name="Text 18"/>
          <p:cNvSpPr txBox="1"/>
          <p:nvPr/>
        </p:nvSpPr>
        <p:spPr>
          <a:xfrm>
            <a:off x="9873234"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plan vergaderingen.</a:t>
            </a:r>
            <a:endParaRPr lang="en-US" sz="1600" dirty="0"/>
          </a:p>
        </p:txBody>
      </p:sp>
      <p:sp>
        <p:nvSpPr>
          <p:cNvPr id="26" name="Shape 19"/>
          <p:cNvSpPr/>
          <p:nvPr/>
        </p:nvSpPr>
        <p:spPr>
          <a:xfrm>
            <a:off x="548640" y="5532120"/>
            <a:ext cx="11091672" cy="640080"/>
          </a:xfrm>
          <a:prstGeom prst="roundRect">
            <a:avLst>
              <a:gd name="adj" fmla="val 11429"/>
            </a:avLst>
          </a:prstGeom>
          <a:solidFill>
            <a:schemeClr val="tx2"/>
          </a:solidFill>
          <a:ln w="12700">
            <a:solidFill>
              <a:srgbClr val="FFFFFF">
                <a:alpha val="0"/>
              </a:srgbClr>
            </a:solidFill>
            <a:prstDash val="solid"/>
          </a:ln>
        </p:spPr>
      </p:sp>
      <p:sp>
        <p:nvSpPr>
          <p:cNvPr id="27" name="Text 20"/>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Variez les formules : la présentation devient plus naturelle.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parcours : la ligne du temps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514600"/>
            <a:ext cx="10881360" cy="914"/>
          </a:xfrm>
          <a:prstGeom prst="line">
            <a:avLst/>
          </a:prstGeom>
          <a:noFill/>
          <a:ln w="38100">
            <a:solidFill>
              <a:srgbClr val="17375E"/>
            </a:solidFill>
            <a:prstDash val="solid"/>
            <a:tailEnd type="triangle"/>
          </a:ln>
        </p:spPr>
      </p:sp>
      <p:sp>
        <p:nvSpPr>
          <p:cNvPr id="6" name="Shape 3"/>
          <p:cNvSpPr/>
          <p:nvPr/>
        </p:nvSpPr>
        <p:spPr>
          <a:xfrm>
            <a:off x="2194560" y="2377440"/>
            <a:ext cx="274320" cy="274320"/>
          </a:xfrm>
          <a:prstGeom prst="ellipse">
            <a:avLst/>
          </a:prstGeom>
          <a:solidFill>
            <a:schemeClr val="accent4"/>
          </a:solidFill>
          <a:ln w="12700">
            <a:solidFill>
              <a:srgbClr val="FFFFFF">
                <a:alpha val="0"/>
              </a:srgbClr>
            </a:solidFill>
            <a:prstDash val="solid"/>
          </a:ln>
        </p:spPr>
      </p:sp>
      <p:pic>
        <p:nvPicPr>
          <p:cNvPr id="7" name="Image 0" descr="graduation cap">    </p:cNvPr>
          <p:cNvPicPr>
            <a:picLocks noChangeAspect="1"/>
          </p:cNvPicPr>
          <p:nvPr/>
        </p:nvPicPr>
        <p:blipFill>
          <a:blip r:embed="rId1"/>
          <a:stretch>
            <a:fillRect/>
          </a:stretch>
        </p:blipFill>
        <p:spPr>
          <a:xfrm>
            <a:off x="1965960" y="1508760"/>
            <a:ext cx="731520" cy="731520"/>
          </a:xfrm>
          <a:prstGeom prst="rect">
            <a:avLst/>
          </a:prstGeom>
        </p:spPr>
      </p:pic>
      <p:sp>
        <p:nvSpPr>
          <p:cNvPr id="8" name="Text 4"/>
          <p:cNvSpPr txBox="1"/>
          <p:nvPr/>
        </p:nvSpPr>
        <p:spPr>
          <a:xfrm>
            <a:off x="118872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2010–2014</a:t>
            </a:r>
            <a:endParaRPr lang="en-US" sz="1500" dirty="0"/>
          </a:p>
        </p:txBody>
      </p:sp>
      <p:sp>
        <p:nvSpPr>
          <p:cNvPr id="9" name="Shape 5"/>
          <p:cNvSpPr/>
          <p:nvPr/>
        </p:nvSpPr>
        <p:spPr>
          <a:xfrm>
            <a:off x="118872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0" name="Text 6"/>
          <p:cNvSpPr txBox="1"/>
          <p:nvPr/>
        </p:nvSpPr>
        <p:spPr>
          <a:xfrm>
            <a:off x="128016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heb</a:t>
            </a:r>
            <a:r>
              <a:rPr lang="en-US" sz="1500" i="1" dirty="0">
                <a:solidFill>
                  <a:schemeClr val="tx1"/>
                </a:solidFill>
              </a:rPr>
              <a:t> economie </a:t>
            </a:r>
            <a:r>
              <a:rPr lang="en-US" sz="1500" b="1" i="1" dirty="0">
                <a:solidFill>
                  <a:schemeClr val="accent4"/>
                </a:solidFill>
              </a:rPr>
              <a:t>gestudeerd</a:t>
            </a:r>
            <a:r>
              <a:rPr lang="en-US" sz="1500" i="1" dirty="0">
                <a:solidFill>
                  <a:schemeClr val="tx1"/>
                </a:solidFill>
              </a:rPr>
              <a:t> in Namen.</a:t>
            </a:r>
            <a:endParaRPr lang="en-US" sz="1500" dirty="0"/>
          </a:p>
        </p:txBody>
      </p:sp>
      <p:sp>
        <p:nvSpPr>
          <p:cNvPr id="11" name="Shape 7"/>
          <p:cNvSpPr/>
          <p:nvPr/>
        </p:nvSpPr>
        <p:spPr>
          <a:xfrm>
            <a:off x="4846320" y="2377440"/>
            <a:ext cx="274320" cy="274320"/>
          </a:xfrm>
          <a:prstGeom prst="ellipse">
            <a:avLst/>
          </a:prstGeom>
          <a:solidFill>
            <a:schemeClr val="accent4"/>
          </a:solidFill>
          <a:ln w="12700">
            <a:solidFill>
              <a:srgbClr val="FFFFFF">
                <a:alpha val="0"/>
              </a:srgbClr>
            </a:solidFill>
            <a:prstDash val="solid"/>
          </a:ln>
        </p:spPr>
      </p:sp>
      <p:pic>
        <p:nvPicPr>
          <p:cNvPr id="12" name="Image 1" descr="graduation cap">    </p:cNvPr>
          <p:cNvPicPr>
            <a:picLocks noChangeAspect="1"/>
          </p:cNvPicPr>
          <p:nvPr/>
        </p:nvPicPr>
        <p:blipFill>
          <a:blip r:embed="rId2"/>
          <a:stretch>
            <a:fillRect/>
          </a:stretch>
        </p:blipFill>
        <p:spPr>
          <a:xfrm>
            <a:off x="4617720" y="1508760"/>
            <a:ext cx="731520" cy="731520"/>
          </a:xfrm>
          <a:prstGeom prst="rect">
            <a:avLst/>
          </a:prstGeom>
        </p:spPr>
      </p:pic>
      <p:sp>
        <p:nvSpPr>
          <p:cNvPr id="13" name="Text 8"/>
          <p:cNvSpPr txBox="1"/>
          <p:nvPr/>
        </p:nvSpPr>
        <p:spPr>
          <a:xfrm>
            <a:off x="384048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2014</a:t>
            </a:r>
            <a:endParaRPr lang="en-US" sz="1500" dirty="0"/>
          </a:p>
        </p:txBody>
      </p:sp>
      <p:sp>
        <p:nvSpPr>
          <p:cNvPr id="14" name="Shape 9"/>
          <p:cNvSpPr/>
          <p:nvPr/>
        </p:nvSpPr>
        <p:spPr>
          <a:xfrm>
            <a:off x="384048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5" name="Text 10"/>
          <p:cNvSpPr txBox="1"/>
          <p:nvPr/>
        </p:nvSpPr>
        <p:spPr>
          <a:xfrm>
            <a:off x="393192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ben</a:t>
            </a:r>
            <a:r>
              <a:rPr lang="en-US" sz="1500" i="1" dirty="0">
                <a:solidFill>
                  <a:schemeClr val="tx1"/>
                </a:solidFill>
              </a:rPr>
              <a:t> in 2014 </a:t>
            </a:r>
            <a:r>
              <a:rPr lang="en-US" sz="1500" b="1" i="1" dirty="0">
                <a:solidFill>
                  <a:schemeClr val="accent4"/>
                </a:solidFill>
              </a:rPr>
              <a:t>afgestudeerd</a:t>
            </a:r>
            <a:r>
              <a:rPr lang="en-US" sz="1500" i="1" dirty="0">
                <a:solidFill>
                  <a:schemeClr val="tx1"/>
                </a:solidFill>
              </a:rPr>
              <a:t>.</a:t>
            </a:r>
            <a:endParaRPr lang="en-US" sz="1500" dirty="0"/>
          </a:p>
        </p:txBody>
      </p:sp>
      <p:sp>
        <p:nvSpPr>
          <p:cNvPr id="16" name="Shape 11"/>
          <p:cNvSpPr/>
          <p:nvPr/>
        </p:nvSpPr>
        <p:spPr>
          <a:xfrm>
            <a:off x="7498080" y="2377440"/>
            <a:ext cx="274320" cy="274320"/>
          </a:xfrm>
          <a:prstGeom prst="ellipse">
            <a:avLst/>
          </a:prstGeom>
          <a:solidFill>
            <a:schemeClr val="accent4"/>
          </a:solidFill>
          <a:ln w="12700">
            <a:solidFill>
              <a:srgbClr val="FFFFFF">
                <a:alpha val="0"/>
              </a:srgbClr>
            </a:solidFill>
            <a:prstDash val="solid"/>
          </a:ln>
        </p:spPr>
      </p:sp>
      <p:pic>
        <p:nvPicPr>
          <p:cNvPr id="17" name="Image 2" descr="building construction">    </p:cNvPr>
          <p:cNvPicPr>
            <a:picLocks noChangeAspect="1"/>
          </p:cNvPicPr>
          <p:nvPr/>
        </p:nvPicPr>
        <p:blipFill>
          <a:blip r:embed="rId3"/>
          <a:stretch>
            <a:fillRect/>
          </a:stretch>
        </p:blipFill>
        <p:spPr>
          <a:xfrm>
            <a:off x="7269480" y="1508760"/>
            <a:ext cx="731520" cy="731520"/>
          </a:xfrm>
          <a:prstGeom prst="rect">
            <a:avLst/>
          </a:prstGeom>
        </p:spPr>
      </p:pic>
      <p:sp>
        <p:nvSpPr>
          <p:cNvPr id="18" name="Text 12"/>
          <p:cNvSpPr txBox="1"/>
          <p:nvPr/>
        </p:nvSpPr>
        <p:spPr>
          <a:xfrm>
            <a:off x="649224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2015–2020</a:t>
            </a:r>
            <a:endParaRPr lang="en-US" sz="1500" dirty="0"/>
          </a:p>
        </p:txBody>
      </p:sp>
      <p:sp>
        <p:nvSpPr>
          <p:cNvPr id="19" name="Shape 13"/>
          <p:cNvSpPr/>
          <p:nvPr/>
        </p:nvSpPr>
        <p:spPr>
          <a:xfrm>
            <a:off x="649224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20" name="Text 14"/>
          <p:cNvSpPr txBox="1"/>
          <p:nvPr/>
        </p:nvSpPr>
        <p:spPr>
          <a:xfrm>
            <a:off x="658368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Daarna </a:t>
            </a:r>
            <a:r>
              <a:rPr lang="en-US" sz="1500" b="1" i="1" dirty="0">
                <a:solidFill>
                  <a:schemeClr val="accent4"/>
                </a:solidFill>
              </a:rPr>
              <a:t>werkte</a:t>
            </a:r>
            <a:r>
              <a:rPr lang="en-US" sz="1500" i="1" dirty="0">
                <a:solidFill>
                  <a:schemeClr val="tx1"/>
                </a:solidFill>
              </a:rPr>
              <a:t> ik vijf jaar bij Maesbouw.</a:t>
            </a:r>
            <a:endParaRPr lang="en-US" sz="1500" dirty="0"/>
          </a:p>
        </p:txBody>
      </p:sp>
      <p:sp>
        <p:nvSpPr>
          <p:cNvPr id="21" name="Shape 15"/>
          <p:cNvSpPr/>
          <p:nvPr/>
        </p:nvSpPr>
        <p:spPr>
          <a:xfrm>
            <a:off x="10149840" y="2377440"/>
            <a:ext cx="274320" cy="274320"/>
          </a:xfrm>
          <a:prstGeom prst="ellipse">
            <a:avLst/>
          </a:prstGeom>
          <a:solidFill>
            <a:schemeClr val="accent2"/>
          </a:solidFill>
          <a:ln w="12700">
            <a:solidFill>
              <a:srgbClr val="FFFFFF">
                <a:alpha val="0"/>
              </a:srgbClr>
            </a:solidFill>
            <a:prstDash val="solid"/>
          </a:ln>
        </p:spPr>
      </p:sp>
      <p:pic>
        <p:nvPicPr>
          <p:cNvPr id="22" name="Image 3" descr="office building">    </p:cNvPr>
          <p:cNvPicPr>
            <a:picLocks noChangeAspect="1"/>
          </p:cNvPicPr>
          <p:nvPr/>
        </p:nvPicPr>
        <p:blipFill>
          <a:blip r:embed="rId4"/>
          <a:stretch>
            <a:fillRect/>
          </a:stretch>
        </p:blipFill>
        <p:spPr>
          <a:xfrm>
            <a:off x="9921240" y="1508760"/>
            <a:ext cx="731520" cy="731520"/>
          </a:xfrm>
          <a:prstGeom prst="rect">
            <a:avLst/>
          </a:prstGeom>
        </p:spPr>
      </p:pic>
      <p:sp>
        <p:nvSpPr>
          <p:cNvPr id="23" name="Text 16"/>
          <p:cNvSpPr txBox="1"/>
          <p:nvPr/>
        </p:nvSpPr>
        <p:spPr>
          <a:xfrm>
            <a:off x="914400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2"/>
                </a:solidFill>
              </a:rPr>
              <a:t>sinds januari</a:t>
            </a:r>
            <a:endParaRPr lang="en-US" sz="1500" dirty="0"/>
          </a:p>
        </p:txBody>
      </p:sp>
      <p:sp>
        <p:nvSpPr>
          <p:cNvPr id="24" name="Shape 17"/>
          <p:cNvSpPr/>
          <p:nvPr/>
        </p:nvSpPr>
        <p:spPr>
          <a:xfrm>
            <a:off x="9144000" y="3108960"/>
            <a:ext cx="2286000" cy="1417320"/>
          </a:xfrm>
          <a:prstGeom prst="roundRect">
            <a:avLst>
              <a:gd name="adj" fmla="val 6452"/>
            </a:avLst>
          </a:prstGeom>
          <a:solidFill>
            <a:schemeClr val="accent2">
              <a:alpha val="10000"/>
            </a:schemeClr>
          </a:solidFill>
          <a:ln w="15875">
            <a:solidFill>
              <a:srgbClr val="2A6FB0"/>
            </a:solidFill>
            <a:prstDash val="solid"/>
          </a:ln>
        </p:spPr>
      </p:sp>
      <p:sp>
        <p:nvSpPr>
          <p:cNvPr id="25" name="Text 18"/>
          <p:cNvSpPr txBox="1"/>
          <p:nvPr/>
        </p:nvSpPr>
        <p:spPr>
          <a:xfrm>
            <a:off x="923544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2"/>
                </a:solidFill>
              </a:rPr>
              <a:t>werk</a:t>
            </a:r>
            <a:r>
              <a:rPr lang="en-US" sz="1500" i="1" dirty="0">
                <a:solidFill>
                  <a:schemeClr val="tx1"/>
                </a:solidFill>
              </a:rPr>
              <a:t> sinds januari bij Peeters &amp; Co.</a:t>
            </a:r>
            <a:endParaRPr lang="en-US" sz="1500" dirty="0"/>
          </a:p>
        </p:txBody>
      </p:sp>
      <p:sp>
        <p:nvSpPr>
          <p:cNvPr id="26" name="Shape 19"/>
          <p:cNvSpPr/>
          <p:nvPr/>
        </p:nvSpPr>
        <p:spPr>
          <a:xfrm>
            <a:off x="548640" y="4709160"/>
            <a:ext cx="11091672" cy="685800"/>
          </a:xfrm>
          <a:prstGeom prst="roundRect">
            <a:avLst>
              <a:gd name="adj" fmla="val 13333"/>
            </a:avLst>
          </a:prstGeom>
          <a:solidFill>
            <a:schemeClr val="bg2"/>
          </a:solidFill>
          <a:ln w="12700">
            <a:solidFill>
              <a:srgbClr val="D5DCE6"/>
            </a:solidFill>
            <a:prstDash val="solid"/>
          </a:ln>
        </p:spPr>
      </p:sp>
      <p:sp>
        <p:nvSpPr>
          <p:cNvPr id="27" name="Text 20"/>
          <p:cNvSpPr txBox="1"/>
          <p:nvPr/>
        </p:nvSpPr>
        <p:spPr>
          <a:xfrm>
            <a:off x="777240" y="4709160"/>
            <a:ext cx="10698480" cy="685800"/>
          </a:xfrm>
          <a:prstGeom prst="rect">
            <a:avLst/>
          </a:prstGeom>
          <a:noFill/>
          <a:ln/>
        </p:spPr>
        <p:txBody>
          <a:bodyPr wrap="square" lIns="0" tIns="0" rIns="0" bIns="0" rtlCol="0" anchor="ctr"/>
          <a:lstStyle/>
          <a:p>
            <a:pPr algn="ctr" indent="0" marL="0">
              <a:buNone/>
            </a:pPr>
            <a:r>
              <a:rPr lang="en-US" sz="1700" b="1" dirty="0">
                <a:solidFill>
                  <a:schemeClr val="accent4"/>
                </a:solidFill>
              </a:rPr>
              <a:t>perfectum</a:t>
            </a:r>
            <a:r>
              <a:rPr lang="en-US" sz="1700" dirty="0">
                <a:solidFill>
                  <a:schemeClr val="tx1"/>
                </a:solidFill>
              </a:rPr>
              <a:t> : un fait (M15) · </a:t>
            </a:r>
            <a:r>
              <a:rPr lang="en-US" sz="1700" b="1" dirty="0">
                <a:solidFill>
                  <a:schemeClr val="accent4"/>
                </a:solidFill>
              </a:rPr>
              <a:t>imperfectum</a:t>
            </a:r>
            <a:r>
              <a:rPr lang="en-US" sz="1700" dirty="0">
                <a:solidFill>
                  <a:schemeClr val="tx1"/>
                </a:solidFill>
              </a:rPr>
              <a:t> : une période, un récit (M19) · </a:t>
            </a:r>
            <a:r>
              <a:rPr lang="en-US" sz="1700" b="1" dirty="0">
                <a:solidFill>
                  <a:schemeClr val="accent2"/>
                </a:solidFill>
              </a:rPr>
              <a:t>présent</a:t>
            </a:r>
            <a:r>
              <a:rPr lang="en-US" sz="1700" dirty="0">
                <a:solidFill>
                  <a:schemeClr val="tx1"/>
                </a:solidFill>
              </a:rPr>
              <a:t> avec </a:t>
            </a:r>
            <a:r>
              <a:rPr lang="en-US" sz="1700" i="1" dirty="0">
                <a:solidFill>
                  <a:schemeClr val="tx1"/>
                </a:solidFill>
              </a:rPr>
              <a:t>sinds</a:t>
            </a:r>
            <a:r>
              <a:rPr lang="en-US" sz="1700" dirty="0">
                <a:solidFill>
                  <a:schemeClr val="tx1"/>
                </a:solidFill>
              </a:rPr>
              <a:t> et </a:t>
            </a:r>
            <a:r>
              <a:rPr lang="en-US" sz="1700" i="1" dirty="0">
                <a:solidFill>
                  <a:schemeClr val="tx1"/>
                </a:solidFill>
              </a:rPr>
              <a:t>al</a:t>
            </a:r>
            <a:endParaRPr lang="en-US" sz="1700" dirty="0"/>
          </a:p>
        </p:txBody>
      </p:sp>
      <p:sp>
        <p:nvSpPr>
          <p:cNvPr id="28" name="Shape 21"/>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2"/>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i="1" dirty="0">
                <a:solidFill>
                  <a:schemeClr val="bg1"/>
                </a:solidFill>
              </a:rPr>
              <a:t>afstuderen</a:t>
            </a:r>
            <a:r>
              <a:rPr lang="en-US" sz="1700" dirty="0">
                <a:solidFill>
                  <a:schemeClr val="bg1"/>
                </a:solidFill>
              </a:rPr>
              <a:t> prend </a:t>
            </a:r>
            <a:r>
              <a:rPr lang="en-US" sz="1700" i="1" dirty="0">
                <a:solidFill>
                  <a:schemeClr val="bg1"/>
                </a:solidFill>
              </a:rPr>
              <a:t>zijn</a:t>
            </a:r>
            <a:r>
              <a:rPr lang="en-US" sz="1700" dirty="0">
                <a:solidFill>
                  <a:schemeClr val="bg1"/>
                </a:solidFill>
              </a:rPr>
              <a:t> : </a:t>
            </a:r>
            <a:r>
              <a:rPr lang="en-US" sz="1700" i="1" dirty="0">
                <a:solidFill>
                  <a:schemeClr val="bg1"/>
                </a:solidFill>
              </a:rPr>
              <a:t>Ik </a:t>
            </a:r>
            <a:r>
              <a:rPr lang="en-US" sz="1700" b="1" i="1" dirty="0">
                <a:solidFill>
                  <a:schemeClr val="bg1"/>
                </a:solidFill>
              </a:rPr>
              <a:t>ben</a:t>
            </a:r>
            <a:r>
              <a:rPr lang="en-US" sz="1700" i="1" dirty="0">
                <a:solidFill>
                  <a:schemeClr val="bg1"/>
                </a:solidFill>
              </a:rPr>
              <a:t> afgestudeerd.</a:t>
            </a:r>
            <a:r>
              <a:rPr lang="en-US" sz="1700" dirty="0">
                <a:solidFill>
                  <a:schemeClr val="bg1"/>
                </a:solidFill>
              </a:rPr>
              <a:t> · aussi possible : </a:t>
            </a:r>
            <a:r>
              <a:rPr lang="en-US" sz="1700" i="1" dirty="0">
                <a:solidFill>
                  <a:schemeClr val="bg1"/>
                </a:solidFill>
              </a:rPr>
              <a:t>Ik heb vijf jaar bij Maesbouw gewerkt.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depuis, il y a, j’ai…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69080"/>
          </a:xfrm>
          <a:prstGeom prst="roundRect">
            <a:avLst>
              <a:gd name="adj" fmla="val 179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05740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J’ai 32 ans »</a:t>
            </a:r>
            <a:endParaRPr lang="en-US" sz="1600" dirty="0"/>
          </a:p>
        </p:txBody>
      </p:sp>
      <p:sp>
        <p:nvSpPr>
          <p:cNvPr id="8" name="Text 5"/>
          <p:cNvSpPr txBox="1"/>
          <p:nvPr/>
        </p:nvSpPr>
        <p:spPr>
          <a:xfrm>
            <a:off x="4434840" y="2057400"/>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heb 32 jaar</a:t>
            </a:r>
            <a:endParaRPr lang="en-US" sz="1500" dirty="0"/>
          </a:p>
        </p:txBody>
      </p:sp>
      <p:sp>
        <p:nvSpPr>
          <p:cNvPr id="9" name="Shape 6"/>
          <p:cNvSpPr/>
          <p:nvPr/>
        </p:nvSpPr>
        <p:spPr>
          <a:xfrm>
            <a:off x="7086600" y="2313432"/>
            <a:ext cx="274320" cy="914"/>
          </a:xfrm>
          <a:prstGeom prst="line">
            <a:avLst/>
          </a:prstGeom>
          <a:noFill/>
          <a:ln w="25400">
            <a:solidFill>
              <a:srgbClr val="2E7D4F"/>
            </a:solidFill>
            <a:prstDash val="solid"/>
            <a:tailEnd type="triangle"/>
          </a:ln>
        </p:spPr>
      </p:sp>
      <p:sp>
        <p:nvSpPr>
          <p:cNvPr id="10" name="Shape 7"/>
          <p:cNvSpPr/>
          <p:nvPr/>
        </p:nvSpPr>
        <p:spPr>
          <a:xfrm>
            <a:off x="7406640" y="208483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1" name="Text 8"/>
          <p:cNvSpPr txBox="1"/>
          <p:nvPr/>
        </p:nvSpPr>
        <p:spPr>
          <a:xfrm>
            <a:off x="7516368" y="208483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a:t>
            </a:r>
            <a:r>
              <a:rPr lang="en-US" sz="1600" b="1" i="1" dirty="0">
                <a:solidFill>
                  <a:schemeClr val="tx1"/>
                </a:solidFill>
              </a:rPr>
              <a:t>ben</a:t>
            </a:r>
            <a:r>
              <a:rPr lang="en-US" sz="1600" i="1" dirty="0">
                <a:solidFill>
                  <a:schemeClr val="tx1"/>
                </a:solidFill>
              </a:rPr>
              <a:t> 32 (jaar)</a:t>
            </a:r>
            <a:endParaRPr lang="en-US" sz="1600" dirty="0"/>
          </a:p>
        </p:txBody>
      </p:sp>
      <p:sp>
        <p:nvSpPr>
          <p:cNvPr id="12" name="Text 9"/>
          <p:cNvSpPr txBox="1"/>
          <p:nvPr/>
        </p:nvSpPr>
        <p:spPr>
          <a:xfrm>
            <a:off x="868680" y="2633472"/>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comptable »</a:t>
            </a:r>
            <a:endParaRPr lang="en-US" sz="1600" dirty="0"/>
          </a:p>
        </p:txBody>
      </p:sp>
      <p:sp>
        <p:nvSpPr>
          <p:cNvPr id="13" name="Text 10"/>
          <p:cNvSpPr txBox="1"/>
          <p:nvPr/>
        </p:nvSpPr>
        <p:spPr>
          <a:xfrm>
            <a:off x="4434840" y="2633472"/>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ben een boekhouder</a:t>
            </a:r>
            <a:endParaRPr lang="en-US" sz="1500" dirty="0"/>
          </a:p>
        </p:txBody>
      </p:sp>
      <p:sp>
        <p:nvSpPr>
          <p:cNvPr id="14" name="Shape 11"/>
          <p:cNvSpPr/>
          <p:nvPr/>
        </p:nvSpPr>
        <p:spPr>
          <a:xfrm>
            <a:off x="7086600" y="2889504"/>
            <a:ext cx="274320" cy="914"/>
          </a:xfrm>
          <a:prstGeom prst="line">
            <a:avLst/>
          </a:prstGeom>
          <a:noFill/>
          <a:ln w="25400">
            <a:solidFill>
              <a:srgbClr val="2E7D4F"/>
            </a:solidFill>
            <a:prstDash val="solid"/>
            <a:tailEnd type="triangle"/>
          </a:ln>
        </p:spPr>
      </p:sp>
      <p:sp>
        <p:nvSpPr>
          <p:cNvPr id="15" name="Shape 12"/>
          <p:cNvSpPr/>
          <p:nvPr/>
        </p:nvSpPr>
        <p:spPr>
          <a:xfrm>
            <a:off x="7406640" y="2660904"/>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6" name="Text 13"/>
          <p:cNvSpPr txBox="1"/>
          <p:nvPr/>
        </p:nvSpPr>
        <p:spPr>
          <a:xfrm>
            <a:off x="7516368" y="2660904"/>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ben boekhouder</a:t>
            </a:r>
            <a:endParaRPr lang="en-US" sz="1600" dirty="0"/>
          </a:p>
        </p:txBody>
      </p:sp>
      <p:sp>
        <p:nvSpPr>
          <p:cNvPr id="17" name="Text 14"/>
          <p:cNvSpPr txBox="1"/>
          <p:nvPr/>
        </p:nvSpPr>
        <p:spPr>
          <a:xfrm>
            <a:off x="868680" y="3209544"/>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comme comptable »</a:t>
            </a:r>
            <a:endParaRPr lang="en-US" sz="1600" dirty="0"/>
          </a:p>
        </p:txBody>
      </p:sp>
      <p:sp>
        <p:nvSpPr>
          <p:cNvPr id="18" name="Text 15"/>
          <p:cNvSpPr txBox="1"/>
          <p:nvPr/>
        </p:nvSpPr>
        <p:spPr>
          <a:xfrm>
            <a:off x="4434840" y="3209544"/>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werk zoals boekhouder</a:t>
            </a:r>
            <a:endParaRPr lang="en-US" sz="1500" dirty="0"/>
          </a:p>
        </p:txBody>
      </p:sp>
      <p:sp>
        <p:nvSpPr>
          <p:cNvPr id="19" name="Shape 16"/>
          <p:cNvSpPr/>
          <p:nvPr/>
        </p:nvSpPr>
        <p:spPr>
          <a:xfrm>
            <a:off x="7086600" y="3465576"/>
            <a:ext cx="274320" cy="914"/>
          </a:xfrm>
          <a:prstGeom prst="line">
            <a:avLst/>
          </a:prstGeom>
          <a:noFill/>
          <a:ln w="25400">
            <a:solidFill>
              <a:srgbClr val="2E7D4F"/>
            </a:solidFill>
            <a:prstDash val="solid"/>
            <a:tailEnd type="triangle"/>
          </a:ln>
        </p:spPr>
      </p:sp>
      <p:sp>
        <p:nvSpPr>
          <p:cNvPr id="20" name="Shape 17"/>
          <p:cNvSpPr/>
          <p:nvPr/>
        </p:nvSpPr>
        <p:spPr>
          <a:xfrm>
            <a:off x="7406640" y="3236976"/>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1" name="Text 18"/>
          <p:cNvSpPr txBox="1"/>
          <p:nvPr/>
        </p:nvSpPr>
        <p:spPr>
          <a:xfrm>
            <a:off x="7516368" y="3236976"/>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a:t>
            </a:r>
            <a:r>
              <a:rPr lang="en-US" sz="1600" b="1" i="1" dirty="0">
                <a:solidFill>
                  <a:schemeClr val="accent1"/>
                </a:solidFill>
              </a:rPr>
              <a:t>als</a:t>
            </a:r>
            <a:r>
              <a:rPr lang="en-US" sz="1600" i="1" dirty="0">
                <a:solidFill>
                  <a:schemeClr val="tx1"/>
                </a:solidFill>
              </a:rPr>
              <a:t> boekhouder</a:t>
            </a:r>
            <a:endParaRPr lang="en-US" sz="1600" dirty="0"/>
          </a:p>
        </p:txBody>
      </p:sp>
      <p:sp>
        <p:nvSpPr>
          <p:cNvPr id="22" name="Text 19"/>
          <p:cNvSpPr txBox="1"/>
          <p:nvPr/>
        </p:nvSpPr>
        <p:spPr>
          <a:xfrm>
            <a:off x="868680" y="3785616"/>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responsable de… »</a:t>
            </a:r>
            <a:endParaRPr lang="en-US" sz="1600" dirty="0"/>
          </a:p>
        </p:txBody>
      </p:sp>
      <p:sp>
        <p:nvSpPr>
          <p:cNvPr id="23" name="Text 20"/>
          <p:cNvSpPr txBox="1"/>
          <p:nvPr/>
        </p:nvSpPr>
        <p:spPr>
          <a:xfrm>
            <a:off x="4434840" y="3785616"/>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verantwoordelijk van</a:t>
            </a:r>
            <a:endParaRPr lang="en-US" sz="1500" dirty="0"/>
          </a:p>
        </p:txBody>
      </p:sp>
      <p:sp>
        <p:nvSpPr>
          <p:cNvPr id="24" name="Shape 21"/>
          <p:cNvSpPr/>
          <p:nvPr/>
        </p:nvSpPr>
        <p:spPr>
          <a:xfrm>
            <a:off x="7086600" y="4041648"/>
            <a:ext cx="274320" cy="914"/>
          </a:xfrm>
          <a:prstGeom prst="line">
            <a:avLst/>
          </a:prstGeom>
          <a:noFill/>
          <a:ln w="25400">
            <a:solidFill>
              <a:srgbClr val="2E7D4F"/>
            </a:solidFill>
            <a:prstDash val="solid"/>
            <a:tailEnd type="triangle"/>
          </a:ln>
        </p:spPr>
      </p:sp>
      <p:sp>
        <p:nvSpPr>
          <p:cNvPr id="25" name="Shape 22"/>
          <p:cNvSpPr/>
          <p:nvPr/>
        </p:nvSpPr>
        <p:spPr>
          <a:xfrm>
            <a:off x="7406640" y="3813048"/>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6" name="Text 23"/>
          <p:cNvSpPr txBox="1"/>
          <p:nvPr/>
        </p:nvSpPr>
        <p:spPr>
          <a:xfrm>
            <a:off x="7516368" y="3813048"/>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verantwoordelijk </a:t>
            </a:r>
            <a:r>
              <a:rPr lang="en-US" sz="1600" b="1" i="1" dirty="0">
                <a:solidFill>
                  <a:schemeClr val="accent1"/>
                </a:solidFill>
              </a:rPr>
              <a:t>voor</a:t>
            </a:r>
            <a:endParaRPr lang="en-US" sz="1600" dirty="0"/>
          </a:p>
        </p:txBody>
      </p:sp>
      <p:sp>
        <p:nvSpPr>
          <p:cNvPr id="27" name="Text 24"/>
          <p:cNvSpPr txBox="1"/>
          <p:nvPr/>
        </p:nvSpPr>
        <p:spPr>
          <a:xfrm>
            <a:off x="868680" y="4361688"/>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ici depuis 2021 »</a:t>
            </a:r>
            <a:endParaRPr lang="en-US" sz="1600" dirty="0"/>
          </a:p>
        </p:txBody>
      </p:sp>
      <p:sp>
        <p:nvSpPr>
          <p:cNvPr id="28" name="Shape 25"/>
          <p:cNvSpPr/>
          <p:nvPr/>
        </p:nvSpPr>
        <p:spPr>
          <a:xfrm>
            <a:off x="7086600" y="4617720"/>
            <a:ext cx="274320" cy="914"/>
          </a:xfrm>
          <a:prstGeom prst="line">
            <a:avLst/>
          </a:prstGeom>
          <a:noFill/>
          <a:ln w="25400">
            <a:solidFill>
              <a:srgbClr val="2E7D4F"/>
            </a:solidFill>
            <a:prstDash val="solid"/>
            <a:tailEnd type="triangle"/>
          </a:ln>
        </p:spPr>
      </p:sp>
      <p:sp>
        <p:nvSpPr>
          <p:cNvPr id="29" name="Shape 26"/>
          <p:cNvSpPr/>
          <p:nvPr/>
        </p:nvSpPr>
        <p:spPr>
          <a:xfrm>
            <a:off x="7406640" y="4389120"/>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0" name="Text 27"/>
          <p:cNvSpPr txBox="1"/>
          <p:nvPr/>
        </p:nvSpPr>
        <p:spPr>
          <a:xfrm>
            <a:off x="7516368" y="4389120"/>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sinds</a:t>
            </a:r>
            <a:r>
              <a:rPr lang="en-US" sz="1600" i="1" dirty="0">
                <a:solidFill>
                  <a:schemeClr val="tx1"/>
                </a:solidFill>
              </a:rPr>
              <a:t> 2021</a:t>
            </a:r>
            <a:endParaRPr lang="en-US" sz="1600" dirty="0"/>
          </a:p>
        </p:txBody>
      </p:sp>
      <p:sp>
        <p:nvSpPr>
          <p:cNvPr id="31" name="Text 28"/>
          <p:cNvSpPr txBox="1"/>
          <p:nvPr/>
        </p:nvSpPr>
        <p:spPr>
          <a:xfrm>
            <a:off x="868680" y="493776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 depuis quatre ans »</a:t>
            </a:r>
            <a:endParaRPr lang="en-US" sz="1600" dirty="0"/>
          </a:p>
        </p:txBody>
      </p:sp>
      <p:sp>
        <p:nvSpPr>
          <p:cNvPr id="32" name="Shape 29"/>
          <p:cNvSpPr/>
          <p:nvPr/>
        </p:nvSpPr>
        <p:spPr>
          <a:xfrm>
            <a:off x="7086600" y="5193792"/>
            <a:ext cx="274320" cy="914"/>
          </a:xfrm>
          <a:prstGeom prst="line">
            <a:avLst/>
          </a:prstGeom>
          <a:noFill/>
          <a:ln w="25400">
            <a:solidFill>
              <a:srgbClr val="2E7D4F"/>
            </a:solidFill>
            <a:prstDash val="solid"/>
            <a:tailEnd type="triangle"/>
          </a:ln>
        </p:spPr>
      </p:sp>
      <p:sp>
        <p:nvSpPr>
          <p:cNvPr id="33" name="Shape 30"/>
          <p:cNvSpPr/>
          <p:nvPr/>
        </p:nvSpPr>
        <p:spPr>
          <a:xfrm>
            <a:off x="7406640" y="496519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4" name="Text 31"/>
          <p:cNvSpPr txBox="1"/>
          <p:nvPr/>
        </p:nvSpPr>
        <p:spPr>
          <a:xfrm>
            <a:off x="7516368" y="496519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al</a:t>
            </a:r>
            <a:r>
              <a:rPr lang="en-US" sz="1600" i="1" dirty="0">
                <a:solidFill>
                  <a:schemeClr val="tx1"/>
                </a:solidFill>
              </a:rPr>
              <a:t> vier jaar</a:t>
            </a:r>
            <a:endParaRPr lang="en-US" sz="1600" dirty="0"/>
          </a:p>
        </p:txBody>
      </p:sp>
      <p:sp>
        <p:nvSpPr>
          <p:cNvPr id="35" name="Shape 32"/>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6" name="Text 33"/>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sinds</a:t>
            </a:r>
            <a:r>
              <a:rPr lang="en-US" sz="1700" dirty="0">
                <a:solidFill>
                  <a:schemeClr val="bg1"/>
                </a:solidFill>
              </a:rPr>
              <a:t> + point de départ · </a:t>
            </a:r>
            <a:r>
              <a:rPr lang="en-US" sz="1700" i="1" dirty="0">
                <a:solidFill>
                  <a:schemeClr val="bg1"/>
                </a:solidFill>
              </a:rPr>
              <a:t>al</a:t>
            </a:r>
            <a:r>
              <a:rPr lang="en-US" sz="1700" dirty="0">
                <a:solidFill>
                  <a:schemeClr val="bg1"/>
                </a:solidFill>
              </a:rPr>
              <a:t> + durée · « il y a » : </a:t>
            </a:r>
            <a:r>
              <a:rPr lang="en-US" sz="1700" i="1" dirty="0">
                <a:solidFill>
                  <a:schemeClr val="bg1"/>
                </a:solidFill>
              </a:rPr>
              <a:t>vier jaar </a:t>
            </a:r>
            <a:r>
              <a:rPr lang="en-US" sz="1700" b="1" i="1" dirty="0">
                <a:solidFill>
                  <a:schemeClr val="bg1"/>
                </a:solidFill>
              </a:rPr>
              <a:t>geleden</a:t>
            </a:r>
            <a:r>
              <a:rPr lang="en-US" sz="1700" dirty="0">
                <a:solidFill>
                  <a:schemeClr val="bg1"/>
                </a:solidFill>
              </a:rPr>
              <a:t> · « depuis » + </a:t>
            </a:r>
            <a:r>
              <a:rPr lang="en-US" sz="1700" b="1" dirty="0">
                <a:solidFill>
                  <a:schemeClr val="bg1"/>
                </a:solidFill>
              </a:rPr>
              <a:t>présent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projets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9994392" cy="1005840"/>
          </a:xfrm>
          <a:prstGeom prst="roundRect">
            <a:avLst>
              <a:gd name="adj" fmla="val 10909"/>
            </a:avLst>
          </a:prstGeom>
          <a:solidFill>
            <a:srgbClr val="1F6B3F">
              <a:alpha val="20000"/>
            </a:srgbClr>
          </a:solidFill>
          <a:ln w="25400">
            <a:solidFill>
              <a:srgbClr val="1F6B3F"/>
            </a:solidFill>
            <a:prstDash val="solid"/>
          </a:ln>
        </p:spPr>
      </p:sp>
      <p:pic>
        <p:nvPicPr>
          <p:cNvPr id="6" name="Image 0" descr="rocket">    </p:cNvPr>
          <p:cNvPicPr>
            <a:picLocks noChangeAspect="1"/>
          </p:cNvPicPr>
          <p:nvPr/>
        </p:nvPicPr>
        <p:blipFill>
          <a:blip r:embed="rId1"/>
          <a:stretch>
            <a:fillRect/>
          </a:stretch>
        </p:blipFill>
        <p:spPr>
          <a:xfrm>
            <a:off x="731520" y="1764792"/>
            <a:ext cx="685800" cy="685800"/>
          </a:xfrm>
          <a:prstGeom prst="rect">
            <a:avLst/>
          </a:prstGeom>
        </p:spPr>
      </p:pic>
      <p:sp>
        <p:nvSpPr>
          <p:cNvPr id="7" name="Text 3"/>
          <p:cNvSpPr txBox="1"/>
          <p:nvPr/>
        </p:nvSpPr>
        <p:spPr>
          <a:xfrm>
            <a:off x="1554480" y="160020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Projet</a:t>
            </a:r>
            <a:endParaRPr lang="en-US" sz="1600" dirty="0"/>
          </a:p>
          <a:p>
            <a:pPr algn="l" indent="0" marL="0">
              <a:buNone/>
            </a:pPr>
            <a:r>
              <a:rPr lang="en-US" sz="1600" dirty="0">
                <a:solidFill>
                  <a:schemeClr val="tx2"/>
                </a:solidFill>
              </a:rPr>
              <a:t>presque sûr</a:t>
            </a:r>
            <a:endParaRPr lang="en-US" sz="1600" dirty="0"/>
          </a:p>
        </p:txBody>
      </p:sp>
      <p:sp>
        <p:nvSpPr>
          <p:cNvPr id="8" name="Text 4"/>
          <p:cNvSpPr txBox="1"/>
          <p:nvPr/>
        </p:nvSpPr>
        <p:spPr>
          <a:xfrm>
            <a:off x="3657600" y="160020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Volgend jaar </a:t>
            </a:r>
            <a:r>
              <a:rPr lang="en-US" sz="1900" b="1" i="1" dirty="0">
                <a:solidFill>
                  <a:schemeClr val="accent3"/>
                </a:solidFill>
              </a:rPr>
              <a:t>ga</a:t>
            </a:r>
            <a:r>
              <a:rPr lang="en-US" sz="1900" i="1" dirty="0">
                <a:solidFill>
                  <a:schemeClr val="tx1"/>
                </a:solidFill>
              </a:rPr>
              <a:t> ik een opleiding Excel </a:t>
            </a:r>
            <a:r>
              <a:rPr lang="en-US" sz="1900" b="1" i="1" dirty="0">
                <a:solidFill>
                  <a:schemeClr val="accent3"/>
                </a:solidFill>
              </a:rPr>
              <a:t>volgen</a:t>
            </a:r>
            <a:r>
              <a:rPr lang="en-US" sz="1900" i="1" dirty="0">
                <a:solidFill>
                  <a:schemeClr val="tx1"/>
                </a:solidFill>
              </a:rPr>
              <a:t>.</a:t>
            </a:r>
            <a:endParaRPr lang="en-US" sz="1900" dirty="0"/>
          </a:p>
        </p:txBody>
      </p:sp>
      <p:sp>
        <p:nvSpPr>
          <p:cNvPr id="9" name="tag"/>
          <p:cNvSpPr/>
          <p:nvPr/>
        </p:nvSpPr>
        <p:spPr>
          <a:xfrm>
            <a:off x="9400032" y="194767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M18</a:t>
            </a:r>
            <a:endParaRPr lang="en-US" sz="1000" dirty="0"/>
          </a:p>
        </p:txBody>
      </p:sp>
      <p:sp>
        <p:nvSpPr>
          <p:cNvPr id="10" name="Shape 6"/>
          <p:cNvSpPr/>
          <p:nvPr/>
        </p:nvSpPr>
        <p:spPr>
          <a:xfrm>
            <a:off x="1097280" y="2788920"/>
            <a:ext cx="9994392" cy="1005840"/>
          </a:xfrm>
          <a:prstGeom prst="roundRect">
            <a:avLst>
              <a:gd name="adj" fmla="val 10909"/>
            </a:avLst>
          </a:prstGeom>
          <a:solidFill>
            <a:schemeClr val="accent3">
              <a:alpha val="20000"/>
            </a:schemeClr>
          </a:solidFill>
          <a:ln w="25400">
            <a:solidFill>
              <a:srgbClr val="2E7D4F"/>
            </a:solidFill>
            <a:prstDash val="solid"/>
          </a:ln>
        </p:spPr>
      </p:sp>
      <p:pic>
        <p:nvPicPr>
          <p:cNvPr id="11" name="Image 1" descr="seedling">    </p:cNvPr>
          <p:cNvPicPr>
            <a:picLocks noChangeAspect="1"/>
          </p:cNvPicPr>
          <p:nvPr/>
        </p:nvPicPr>
        <p:blipFill>
          <a:blip r:embed="rId2"/>
          <a:stretch>
            <a:fillRect/>
          </a:stretch>
        </p:blipFill>
        <p:spPr>
          <a:xfrm>
            <a:off x="1280160" y="2953512"/>
            <a:ext cx="685800" cy="685800"/>
          </a:xfrm>
          <a:prstGeom prst="rect">
            <a:avLst/>
          </a:prstGeom>
        </p:spPr>
      </p:pic>
      <p:sp>
        <p:nvSpPr>
          <p:cNvPr id="12" name="Text 7"/>
          <p:cNvSpPr txBox="1"/>
          <p:nvPr/>
        </p:nvSpPr>
        <p:spPr>
          <a:xfrm>
            <a:off x="2103120" y="278892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Envie</a:t>
            </a:r>
            <a:endParaRPr lang="en-US" sz="1600" dirty="0"/>
          </a:p>
          <a:p>
            <a:pPr algn="l" indent="0" marL="0">
              <a:buNone/>
            </a:pPr>
            <a:r>
              <a:rPr lang="en-US" sz="1600" dirty="0">
                <a:solidFill>
                  <a:schemeClr val="tx2"/>
                </a:solidFill>
              </a:rPr>
              <a:t>je veux</a:t>
            </a:r>
            <a:endParaRPr lang="en-US" sz="1600" dirty="0"/>
          </a:p>
        </p:txBody>
      </p:sp>
      <p:sp>
        <p:nvSpPr>
          <p:cNvPr id="13" name="Text 8"/>
          <p:cNvSpPr txBox="1"/>
          <p:nvPr/>
        </p:nvSpPr>
        <p:spPr>
          <a:xfrm>
            <a:off x="4206240" y="278892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3"/>
                </a:solidFill>
              </a:rPr>
              <a:t>wil</a:t>
            </a:r>
            <a:r>
              <a:rPr lang="en-US" sz="1900" i="1" dirty="0">
                <a:solidFill>
                  <a:schemeClr val="tx1"/>
                </a:solidFill>
              </a:rPr>
              <a:t> graag meer met klanten </a:t>
            </a:r>
            <a:r>
              <a:rPr lang="en-US" sz="1900" b="1" i="1" dirty="0">
                <a:solidFill>
                  <a:schemeClr val="accent3"/>
                </a:solidFill>
              </a:rPr>
              <a:t>werken</a:t>
            </a:r>
            <a:r>
              <a:rPr lang="en-US" sz="1900" i="1" dirty="0">
                <a:solidFill>
                  <a:schemeClr val="tx1"/>
                </a:solidFill>
              </a:rPr>
              <a:t>.</a:t>
            </a:r>
            <a:endParaRPr lang="en-US" sz="1900" dirty="0"/>
          </a:p>
        </p:txBody>
      </p:sp>
      <p:sp>
        <p:nvSpPr>
          <p:cNvPr id="14" name="tag"/>
          <p:cNvSpPr/>
          <p:nvPr/>
        </p:nvSpPr>
        <p:spPr>
          <a:xfrm>
            <a:off x="9948672" y="3136392"/>
            <a:ext cx="108508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M12, M27</a:t>
            </a:r>
            <a:endParaRPr lang="en-US" sz="1000" dirty="0"/>
          </a:p>
        </p:txBody>
      </p:sp>
      <p:sp>
        <p:nvSpPr>
          <p:cNvPr id="15" name="Shape 10"/>
          <p:cNvSpPr/>
          <p:nvPr/>
        </p:nvSpPr>
        <p:spPr>
          <a:xfrm>
            <a:off x="1645920" y="3977640"/>
            <a:ext cx="9994392" cy="1005840"/>
          </a:xfrm>
          <a:prstGeom prst="roundRect">
            <a:avLst>
              <a:gd name="adj" fmla="val 10909"/>
            </a:avLst>
          </a:prstGeom>
          <a:solidFill>
            <a:srgbClr val="8CC79A">
              <a:alpha val="20000"/>
            </a:srgbClr>
          </a:solidFill>
          <a:ln w="25400">
            <a:solidFill>
              <a:srgbClr val="8CC79A"/>
            </a:solidFill>
            <a:prstDash val="solid"/>
          </a:ln>
        </p:spPr>
      </p:sp>
      <p:pic>
        <p:nvPicPr>
          <p:cNvPr id="16" name="Image 2" descr="sparkles">    </p:cNvPr>
          <p:cNvPicPr>
            <a:picLocks noChangeAspect="1"/>
          </p:cNvPicPr>
          <p:nvPr/>
        </p:nvPicPr>
        <p:blipFill>
          <a:blip r:embed="rId3"/>
          <a:stretch>
            <a:fillRect/>
          </a:stretch>
        </p:blipFill>
        <p:spPr>
          <a:xfrm>
            <a:off x="1828800" y="4142232"/>
            <a:ext cx="685800" cy="685800"/>
          </a:xfrm>
          <a:prstGeom prst="rect">
            <a:avLst/>
          </a:prstGeom>
        </p:spPr>
      </p:pic>
      <p:sp>
        <p:nvSpPr>
          <p:cNvPr id="17" name="Text 11"/>
          <p:cNvSpPr txBox="1"/>
          <p:nvPr/>
        </p:nvSpPr>
        <p:spPr>
          <a:xfrm>
            <a:off x="2651760" y="397764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Rêve, souhait poli</a:t>
            </a:r>
            <a:endParaRPr lang="en-US" sz="1600" dirty="0"/>
          </a:p>
          <a:p>
            <a:pPr algn="l" indent="0" marL="0">
              <a:buNone/>
            </a:pPr>
            <a:r>
              <a:rPr lang="en-US" sz="1600" dirty="0">
                <a:solidFill>
                  <a:schemeClr val="tx2"/>
                </a:solidFill>
              </a:rPr>
              <a:t>je voudrais</a:t>
            </a:r>
            <a:endParaRPr lang="en-US" sz="1600" dirty="0"/>
          </a:p>
        </p:txBody>
      </p:sp>
      <p:sp>
        <p:nvSpPr>
          <p:cNvPr id="18" name="Text 12"/>
          <p:cNvSpPr txBox="1"/>
          <p:nvPr/>
        </p:nvSpPr>
        <p:spPr>
          <a:xfrm>
            <a:off x="4754880" y="397764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Later </a:t>
            </a:r>
            <a:r>
              <a:rPr lang="en-US" sz="1900" b="1" i="1" dirty="0">
                <a:solidFill>
                  <a:schemeClr val="accent3"/>
                </a:solidFill>
              </a:rPr>
              <a:t>zou</a:t>
            </a:r>
            <a:r>
              <a:rPr lang="en-US" sz="1900" i="1" dirty="0">
                <a:solidFill>
                  <a:schemeClr val="tx1"/>
                </a:solidFill>
              </a:rPr>
              <a:t> ik graag een team </a:t>
            </a:r>
            <a:r>
              <a:rPr lang="en-US" sz="1900" b="1" i="1" dirty="0">
                <a:solidFill>
                  <a:schemeClr val="accent3"/>
                </a:solidFill>
              </a:rPr>
              <a:t>leiden</a:t>
            </a:r>
            <a:r>
              <a:rPr lang="en-US" sz="1900" i="1" dirty="0">
                <a:solidFill>
                  <a:schemeClr val="tx1"/>
                </a:solidFill>
              </a:rPr>
              <a:t>.</a:t>
            </a:r>
            <a:endParaRPr lang="en-US" sz="1900" dirty="0"/>
          </a:p>
        </p:txBody>
      </p:sp>
      <p:sp>
        <p:nvSpPr>
          <p:cNvPr id="19" name="tag"/>
          <p:cNvSpPr/>
          <p:nvPr/>
        </p:nvSpPr>
        <p:spPr>
          <a:xfrm>
            <a:off x="10497312" y="432511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M29</a:t>
            </a:r>
            <a:endParaRPr lang="en-US" sz="1000" dirty="0"/>
          </a:p>
        </p:txBody>
      </p:sp>
      <p:sp>
        <p:nvSpPr>
          <p:cNvPr id="20" name="Shape 14"/>
          <p:cNvSpPr/>
          <p:nvPr/>
        </p:nvSpPr>
        <p:spPr>
          <a:xfrm>
            <a:off x="640080" y="5257800"/>
            <a:ext cx="10881360" cy="914"/>
          </a:xfrm>
          <a:prstGeom prst="line">
            <a:avLst/>
          </a:prstGeom>
          <a:noFill/>
          <a:ln w="38100">
            <a:solidFill>
              <a:srgbClr val="2E7D4F"/>
            </a:solidFill>
            <a:prstDash val="solid"/>
            <a:tailEnd type="triangle"/>
          </a:ln>
        </p:spPr>
      </p:sp>
      <p:sp>
        <p:nvSpPr>
          <p:cNvPr id="21" name="Text 15"/>
          <p:cNvSpPr txBox="1"/>
          <p:nvPr/>
        </p:nvSpPr>
        <p:spPr>
          <a:xfrm>
            <a:off x="9601200" y="4892040"/>
            <a:ext cx="2011680" cy="347472"/>
          </a:xfrm>
          <a:prstGeom prst="rect">
            <a:avLst/>
          </a:prstGeom>
          <a:noFill/>
          <a:ln/>
        </p:spPr>
        <p:txBody>
          <a:bodyPr wrap="square" lIns="0" tIns="0" rIns="0" bIns="0" rtlCol="0" anchor="t"/>
          <a:lstStyle/>
          <a:p>
            <a:pPr algn="r" indent="0" marL="0">
              <a:buNone/>
            </a:pPr>
            <a:r>
              <a:rPr lang="en-US" sz="1300" i="1" dirty="0">
                <a:solidFill>
                  <a:schemeClr val="accent3"/>
                </a:solidFill>
              </a:rPr>
              <a:t>vers l’avenir →</a:t>
            </a:r>
            <a:endParaRPr lang="en-US" sz="1300" dirty="0"/>
          </a:p>
        </p:txBody>
      </p:sp>
      <p:sp>
        <p:nvSpPr>
          <p:cNvPr id="22"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entretien, </a:t>
            </a:r>
            <a:r>
              <a:rPr lang="en-US" sz="1800" i="1" dirty="0">
                <a:solidFill>
                  <a:schemeClr val="bg1"/>
                </a:solidFill>
              </a:rPr>
              <a:t>Ik zou graag…</a:t>
            </a:r>
            <a:r>
              <a:rPr lang="en-US" sz="1800" dirty="0">
                <a:solidFill>
                  <a:schemeClr val="bg1"/>
                </a:solidFill>
              </a:rPr>
              <a:t> est la formule la plus polie pour exprimer un souhait.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vie privée : que dire au travail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CULTURE</a:t>
            </a:r>
            <a:endParaRPr lang="en-US" sz="1200" dirty="0"/>
          </a:p>
        </p:txBody>
      </p:sp>
      <p:sp>
        <p:nvSpPr>
          <p:cNvPr id="5" name="Shape 2"/>
          <p:cNvSpPr/>
          <p:nvPr/>
        </p:nvSpPr>
        <p:spPr>
          <a:xfrm>
            <a:off x="548640" y="1554480"/>
            <a:ext cx="5413248" cy="2423160"/>
          </a:xfrm>
          <a:prstGeom prst="roundRect">
            <a:avLst>
              <a:gd name="adj" fmla="val 3774"/>
            </a:avLst>
          </a:prstGeom>
          <a:solidFill>
            <a:schemeClr val="accent3">
              <a:alpha val="8000"/>
            </a:schemeClr>
          </a:solidFill>
          <a:ln w="25400">
            <a:solidFill>
              <a:srgbClr val="2E7D4F"/>
            </a:solidFill>
            <a:prstDash val="solid"/>
          </a:ln>
        </p:spPr>
      </p:sp>
      <p:sp>
        <p:nvSpPr>
          <p:cNvPr id="6" name="Text 3"/>
          <p:cNvSpPr txBox="1"/>
          <p:nvPr/>
        </p:nvSpPr>
        <p:spPr>
          <a:xfrm>
            <a:off x="731520" y="1600200"/>
            <a:ext cx="5047488" cy="457200"/>
          </a:xfrm>
          <a:prstGeom prst="rect">
            <a:avLst/>
          </a:prstGeom>
          <a:noFill/>
          <a:ln/>
        </p:spPr>
        <p:txBody>
          <a:bodyPr wrap="square" lIns="0" tIns="0" rIns="0" bIns="0" rtlCol="0" anchor="ctr"/>
          <a:lstStyle/>
          <a:p>
            <a:pPr algn="l" indent="0" marL="0">
              <a:buNone/>
            </a:pPr>
            <a:r>
              <a:rPr lang="en-US" sz="1900" b="1" dirty="0">
                <a:solidFill>
                  <a:schemeClr val="accent3"/>
                </a:solidFill>
              </a:rPr>
              <a:t>✓ on en parle</a:t>
            </a:r>
            <a:endParaRPr lang="en-US" sz="1900" dirty="0"/>
          </a:p>
        </p:txBody>
      </p:sp>
      <p:pic>
        <p:nvPicPr>
          <p:cNvPr id="7" name="Image 0" descr="soccer ball">    </p:cNvPr>
          <p:cNvPicPr>
            <a:picLocks noChangeAspect="1"/>
          </p:cNvPicPr>
          <p:nvPr/>
        </p:nvPicPr>
        <p:blipFill>
          <a:blip r:embed="rId1"/>
          <a:stretch>
            <a:fillRect/>
          </a:stretch>
        </p:blipFill>
        <p:spPr>
          <a:xfrm>
            <a:off x="731520" y="2148840"/>
            <a:ext cx="548640" cy="548640"/>
          </a:xfrm>
          <a:prstGeom prst="rect">
            <a:avLst/>
          </a:prstGeom>
        </p:spPr>
      </p:pic>
      <p:sp>
        <p:nvSpPr>
          <p:cNvPr id="8" name="Text 4"/>
          <p:cNvSpPr txBox="1"/>
          <p:nvPr/>
        </p:nvSpPr>
        <p:spPr>
          <a:xfrm>
            <a:off x="137160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sport</a:t>
            </a:r>
            <a:endParaRPr lang="en-US" sz="1500" dirty="0"/>
          </a:p>
        </p:txBody>
      </p:sp>
      <p:pic>
        <p:nvPicPr>
          <p:cNvPr id="9" name="Image 1" descr="people hugging">    </p:cNvPr>
          <p:cNvPicPr>
            <a:picLocks noChangeAspect="1"/>
          </p:cNvPicPr>
          <p:nvPr/>
        </p:nvPicPr>
        <p:blipFill>
          <a:blip r:embed="rId2"/>
          <a:stretch>
            <a:fillRect/>
          </a:stretch>
        </p:blipFill>
        <p:spPr>
          <a:xfrm>
            <a:off x="3337560" y="2148840"/>
            <a:ext cx="548640" cy="548640"/>
          </a:xfrm>
          <a:prstGeom prst="rect">
            <a:avLst/>
          </a:prstGeom>
        </p:spPr>
      </p:pic>
      <p:sp>
        <p:nvSpPr>
          <p:cNvPr id="10" name="Text 5"/>
          <p:cNvSpPr txBox="1"/>
          <p:nvPr/>
        </p:nvSpPr>
        <p:spPr>
          <a:xfrm>
            <a:off x="397764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famille (brièvement)</a:t>
            </a:r>
            <a:endParaRPr lang="en-US" sz="1500" dirty="0"/>
          </a:p>
        </p:txBody>
      </p:sp>
      <p:pic>
        <p:nvPicPr>
          <p:cNvPr id="11" name="Image 2" descr="airplane">    </p:cNvPr>
          <p:cNvPicPr>
            <a:picLocks noChangeAspect="1"/>
          </p:cNvPicPr>
          <p:nvPr/>
        </p:nvPicPr>
        <p:blipFill>
          <a:blip r:embed="rId3"/>
          <a:stretch>
            <a:fillRect/>
          </a:stretch>
        </p:blipFill>
        <p:spPr>
          <a:xfrm>
            <a:off x="731520" y="3017520"/>
            <a:ext cx="548640" cy="548640"/>
          </a:xfrm>
          <a:prstGeom prst="rect">
            <a:avLst/>
          </a:prstGeom>
        </p:spPr>
      </p:pic>
      <p:sp>
        <p:nvSpPr>
          <p:cNvPr id="12" name="Text 6"/>
          <p:cNvSpPr txBox="1"/>
          <p:nvPr/>
        </p:nvSpPr>
        <p:spPr>
          <a:xfrm>
            <a:off x="137160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les vacances</a:t>
            </a:r>
            <a:endParaRPr lang="en-US" sz="1500" dirty="0"/>
          </a:p>
        </p:txBody>
      </p:sp>
      <p:pic>
        <p:nvPicPr>
          <p:cNvPr id="13" name="Image 3" descr="cooking">    </p:cNvPr>
          <p:cNvPicPr>
            <a:picLocks noChangeAspect="1"/>
          </p:cNvPicPr>
          <p:nvPr/>
        </p:nvPicPr>
        <p:blipFill>
          <a:blip r:embed="rId4"/>
          <a:stretch>
            <a:fillRect/>
          </a:stretch>
        </p:blipFill>
        <p:spPr>
          <a:xfrm>
            <a:off x="3337560" y="3017520"/>
            <a:ext cx="548640" cy="548640"/>
          </a:xfrm>
          <a:prstGeom prst="rect">
            <a:avLst/>
          </a:prstGeom>
        </p:spPr>
      </p:pic>
      <p:sp>
        <p:nvSpPr>
          <p:cNvPr id="14" name="Text 7"/>
          <p:cNvSpPr txBox="1"/>
          <p:nvPr/>
        </p:nvSpPr>
        <p:spPr>
          <a:xfrm>
            <a:off x="397764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cuisine, les loisirs</a:t>
            </a:r>
            <a:endParaRPr lang="en-US" sz="1500" dirty="0"/>
          </a:p>
        </p:txBody>
      </p:sp>
      <p:sp>
        <p:nvSpPr>
          <p:cNvPr id="15" name="Shape 8"/>
          <p:cNvSpPr/>
          <p:nvPr/>
        </p:nvSpPr>
        <p:spPr>
          <a:xfrm>
            <a:off x="6227064" y="1554480"/>
            <a:ext cx="5413248" cy="2423160"/>
          </a:xfrm>
          <a:prstGeom prst="roundRect">
            <a:avLst>
              <a:gd name="adj" fmla="val 3774"/>
            </a:avLst>
          </a:prstGeom>
          <a:solidFill>
            <a:schemeClr val="accent6">
              <a:alpha val="8000"/>
            </a:schemeClr>
          </a:solidFill>
          <a:ln w="25400">
            <a:solidFill>
              <a:srgbClr val="B83227"/>
            </a:solidFill>
            <a:prstDash val="solid"/>
          </a:ln>
        </p:spPr>
      </p:sp>
      <p:sp>
        <p:nvSpPr>
          <p:cNvPr id="16" name="Text 9"/>
          <p:cNvSpPr txBox="1"/>
          <p:nvPr/>
        </p:nvSpPr>
        <p:spPr>
          <a:xfrm>
            <a:off x="6409944" y="1600200"/>
            <a:ext cx="5047488" cy="457200"/>
          </a:xfrm>
          <a:prstGeom prst="rect">
            <a:avLst/>
          </a:prstGeom>
          <a:noFill/>
          <a:ln/>
        </p:spPr>
        <p:txBody>
          <a:bodyPr wrap="square" lIns="0" tIns="0" rIns="0" bIns="0" rtlCol="0" anchor="ctr"/>
          <a:lstStyle/>
          <a:p>
            <a:pPr algn="l" indent="0" marL="0">
              <a:buNone/>
            </a:pPr>
            <a:r>
              <a:rPr lang="en-US" sz="1900" b="1" dirty="0">
                <a:solidFill>
                  <a:schemeClr val="accent6"/>
                </a:solidFill>
              </a:rPr>
              <a:t>✗ on évite</a:t>
            </a:r>
            <a:endParaRPr lang="en-US" sz="1900" dirty="0"/>
          </a:p>
        </p:txBody>
      </p:sp>
      <p:pic>
        <p:nvPicPr>
          <p:cNvPr id="17" name="Image 4" descr="money bag">    </p:cNvPr>
          <p:cNvPicPr>
            <a:picLocks noChangeAspect="1"/>
          </p:cNvPicPr>
          <p:nvPr/>
        </p:nvPicPr>
        <p:blipFill>
          <a:blip r:embed="rId5"/>
          <a:stretch>
            <a:fillRect/>
          </a:stretch>
        </p:blipFill>
        <p:spPr>
          <a:xfrm>
            <a:off x="6409944" y="2148840"/>
            <a:ext cx="548640" cy="548640"/>
          </a:xfrm>
          <a:prstGeom prst="rect">
            <a:avLst/>
          </a:prstGeom>
        </p:spPr>
      </p:pic>
      <p:sp>
        <p:nvSpPr>
          <p:cNvPr id="18" name="Text 10"/>
          <p:cNvSpPr txBox="1"/>
          <p:nvPr/>
        </p:nvSpPr>
        <p:spPr>
          <a:xfrm>
            <a:off x="705002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salaire</a:t>
            </a:r>
            <a:endParaRPr lang="en-US" sz="1500" dirty="0"/>
          </a:p>
        </p:txBody>
      </p:sp>
      <p:pic>
        <p:nvPicPr>
          <p:cNvPr id="19" name="Image 5" descr="place of worship">    </p:cNvPr>
          <p:cNvPicPr>
            <a:picLocks noChangeAspect="1"/>
          </p:cNvPicPr>
          <p:nvPr/>
        </p:nvPicPr>
        <p:blipFill>
          <a:blip r:embed="rId6"/>
          <a:stretch>
            <a:fillRect/>
          </a:stretch>
        </p:blipFill>
        <p:spPr>
          <a:xfrm>
            <a:off x="9015984" y="2148840"/>
            <a:ext cx="548640" cy="548640"/>
          </a:xfrm>
          <a:prstGeom prst="rect">
            <a:avLst/>
          </a:prstGeom>
        </p:spPr>
      </p:pic>
      <p:sp>
        <p:nvSpPr>
          <p:cNvPr id="20" name="Text 11"/>
          <p:cNvSpPr txBox="1"/>
          <p:nvPr/>
        </p:nvSpPr>
        <p:spPr>
          <a:xfrm>
            <a:off x="965606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religion</a:t>
            </a:r>
            <a:endParaRPr lang="en-US" sz="1500" dirty="0"/>
          </a:p>
        </p:txBody>
      </p:sp>
      <p:pic>
        <p:nvPicPr>
          <p:cNvPr id="21" name="Image 6" descr="ballot box with ballot">    </p:cNvPr>
          <p:cNvPicPr>
            <a:picLocks noChangeAspect="1"/>
          </p:cNvPicPr>
          <p:nvPr/>
        </p:nvPicPr>
        <p:blipFill>
          <a:blip r:embed="rId7"/>
          <a:stretch>
            <a:fillRect/>
          </a:stretch>
        </p:blipFill>
        <p:spPr>
          <a:xfrm>
            <a:off x="6409944" y="3017520"/>
            <a:ext cx="548640" cy="548640"/>
          </a:xfrm>
          <a:prstGeom prst="rect">
            <a:avLst/>
          </a:prstGeom>
        </p:spPr>
      </p:pic>
      <p:sp>
        <p:nvSpPr>
          <p:cNvPr id="22" name="Text 12"/>
          <p:cNvSpPr txBox="1"/>
          <p:nvPr/>
        </p:nvSpPr>
        <p:spPr>
          <a:xfrm>
            <a:off x="705002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politique</a:t>
            </a:r>
            <a:endParaRPr lang="en-US" sz="1500" dirty="0"/>
          </a:p>
        </p:txBody>
      </p:sp>
      <p:pic>
        <p:nvPicPr>
          <p:cNvPr id="23" name="Image 7" descr="pill">    </p:cNvPr>
          <p:cNvPicPr>
            <a:picLocks noChangeAspect="1"/>
          </p:cNvPicPr>
          <p:nvPr/>
        </p:nvPicPr>
        <p:blipFill>
          <a:blip r:embed="rId8"/>
          <a:stretch>
            <a:fillRect/>
          </a:stretch>
        </p:blipFill>
        <p:spPr>
          <a:xfrm>
            <a:off x="9015984" y="3017520"/>
            <a:ext cx="548640" cy="548640"/>
          </a:xfrm>
          <a:prstGeom prst="rect">
            <a:avLst/>
          </a:prstGeom>
        </p:spPr>
      </p:pic>
      <p:sp>
        <p:nvSpPr>
          <p:cNvPr id="24" name="Text 13"/>
          <p:cNvSpPr txBox="1"/>
          <p:nvPr/>
        </p:nvSpPr>
        <p:spPr>
          <a:xfrm>
            <a:off x="965606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santé</a:t>
            </a:r>
            <a:endParaRPr lang="en-US" sz="1500" dirty="0"/>
          </a:p>
        </p:txBody>
      </p:sp>
      <p:sp>
        <p:nvSpPr>
          <p:cNvPr id="25" name="Shape 14"/>
          <p:cNvSpPr/>
          <p:nvPr/>
        </p:nvSpPr>
        <p:spPr>
          <a:xfrm>
            <a:off x="548640" y="4160520"/>
            <a:ext cx="11091672" cy="1234440"/>
          </a:xfrm>
          <a:prstGeom prst="roundRect">
            <a:avLst>
              <a:gd name="adj" fmla="val 7407"/>
            </a:avLst>
          </a:prstGeom>
          <a:solidFill>
            <a:schemeClr val="bg2"/>
          </a:solidFill>
          <a:ln w="12700">
            <a:solidFill>
              <a:srgbClr val="D5DCE6"/>
            </a:solidFill>
            <a:prstDash val="solid"/>
          </a:ln>
        </p:spPr>
      </p:sp>
      <p:sp>
        <p:nvSpPr>
          <p:cNvPr id="26" name="Text 15"/>
          <p:cNvSpPr txBox="1"/>
          <p:nvPr/>
        </p:nvSpPr>
        <p:spPr>
          <a:xfrm>
            <a:off x="777240" y="4160520"/>
            <a:ext cx="10698480" cy="1234440"/>
          </a:xfrm>
          <a:prstGeom prst="rect">
            <a:avLst/>
          </a:prstGeom>
          <a:noFill/>
          <a:ln/>
        </p:spPr>
        <p:txBody>
          <a:bodyPr wrap="square" lIns="0" tIns="0" rIns="0" bIns="0" rtlCol="0" anchor="ctr"/>
          <a:lstStyle/>
          <a:p>
            <a:pPr algn="l" indent="0" marL="0">
              <a:spcAft>
                <a:spcPts val="600"/>
              </a:spcAft>
              <a:buNone/>
            </a:pPr>
            <a:r>
              <a:rPr lang="en-US" sz="1800" i="1" dirty="0">
                <a:solidFill>
                  <a:schemeClr val="tx1"/>
                </a:solidFill>
              </a:rPr>
              <a:t>Ik heb twee kinderen. · In mijn vrije tijd sport ik graag. · Ik hou van koken. · Ik ben dol op reizen.</a:t>
            </a:r>
            <a:r>
              <a:rPr lang="en-US" sz="1800" dirty="0">
                <a:solidFill>
                  <a:schemeClr val="tx1"/>
                </a:solidFill>
              </a:rPr>
              <a:t> (M27)</a:t>
            </a:r>
            <a:endParaRPr lang="en-US" sz="1800" dirty="0"/>
          </a:p>
          <a:p>
            <a:pPr algn="l" indent="0" marL="0">
              <a:spcAft>
                <a:spcPts val="600"/>
              </a:spcAft>
              <a:buNone/>
            </a:pPr>
            <a:r>
              <a:rPr lang="en-US" sz="1800" i="1" dirty="0">
                <a:solidFill>
                  <a:schemeClr val="tx1"/>
                </a:solidFill>
              </a:rPr>
              <a:t>Wat doe jij graag in je vrije tijd?</a:t>
            </a:r>
            <a:endParaRPr lang="en-US" sz="1800" dirty="0"/>
          </a:p>
        </p:txBody>
      </p:sp>
      <p:sp>
        <p:nvSpPr>
          <p:cNvPr id="27"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8"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Personne n’est obligé de parler de sa vie privée : </a:t>
            </a:r>
            <a:r>
              <a:rPr lang="en-US" sz="1800" i="1" dirty="0">
                <a:solidFill>
                  <a:schemeClr val="bg1"/>
                </a:solidFill>
              </a:rPr>
              <a:t>Ik sport graag</a:t>
            </a:r>
            <a:r>
              <a:rPr lang="en-US" sz="1800" dirty="0">
                <a:solidFill>
                  <a:schemeClr val="bg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bon registre : trois situations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54480"/>
            <a:ext cx="3544824" cy="379476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548640"/>
          </a:xfrm>
          <a:prstGeom prst="roundRect">
            <a:avLst>
              <a:gd name="adj" fmla="val 16667"/>
            </a:avLst>
          </a:prstGeom>
          <a:solidFill>
            <a:schemeClr val="accent3"/>
          </a:solidFill>
          <a:ln w="12700">
            <a:solidFill>
              <a:srgbClr val="FFFFFF">
                <a:alpha val="0"/>
              </a:srgbClr>
            </a:solidFill>
            <a:prstDash val="solid"/>
          </a:ln>
        </p:spPr>
      </p:sp>
      <p:sp>
        <p:nvSpPr>
          <p:cNvPr id="7" name="Text 4"/>
          <p:cNvSpPr txBox="1"/>
          <p:nvPr/>
        </p:nvSpPr>
        <p:spPr>
          <a:xfrm>
            <a:off x="731520"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Un·e collègue</a:t>
            </a:r>
            <a:endParaRPr lang="en-US" sz="1700" dirty="0"/>
          </a:p>
        </p:txBody>
      </p:sp>
      <p:sp>
        <p:nvSpPr>
          <p:cNvPr id="8" name="tag"/>
          <p:cNvSpPr/>
          <p:nvPr/>
        </p:nvSpPr>
        <p:spPr>
          <a:xfrm>
            <a:off x="3316224" y="1673352"/>
            <a:ext cx="581558"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je</a:t>
            </a:r>
            <a:endParaRPr lang="en-US" sz="1200" dirty="0"/>
          </a:p>
        </p:txBody>
      </p:sp>
      <p:pic>
        <p:nvPicPr>
          <p:cNvPr id="9" name="Image 0" descr="woman red hair">    </p:cNvPr>
          <p:cNvPicPr>
            <a:picLocks noChangeAspect="1"/>
          </p:cNvPicPr>
          <p:nvPr/>
        </p:nvPicPr>
        <p:blipFill>
          <a:blip r:embed="rId1"/>
          <a:stretch>
            <a:fillRect/>
          </a:stretch>
        </p:blipFill>
        <p:spPr>
          <a:xfrm>
            <a:off x="685800" y="2286000"/>
            <a:ext cx="594360" cy="594360"/>
          </a:xfrm>
          <a:prstGeom prst="rect">
            <a:avLst/>
          </a:prstGeom>
        </p:spPr>
      </p:pic>
      <p:sp>
        <p:nvSpPr>
          <p:cNvPr id="10" name="Shape 6"/>
          <p:cNvSpPr/>
          <p:nvPr/>
        </p:nvSpPr>
        <p:spPr>
          <a:xfrm>
            <a:off x="1371600" y="2240280"/>
            <a:ext cx="2584704" cy="1051560"/>
          </a:xfrm>
          <a:prstGeom prst="roundRect">
            <a:avLst>
              <a:gd name="adj" fmla="val 15652"/>
            </a:avLst>
          </a:prstGeom>
          <a:solidFill>
            <a:schemeClr val="accent3">
              <a:alpha val="12000"/>
            </a:schemeClr>
          </a:solidFill>
          <a:ln w="15875">
            <a:solidFill>
              <a:srgbClr val="2E7D4F"/>
            </a:solidFill>
            <a:prstDash val="solid"/>
          </a:ln>
        </p:spPr>
      </p:sp>
      <p:sp>
        <p:nvSpPr>
          <p:cNvPr id="11" name="Text 7"/>
          <p:cNvSpPr txBox="1"/>
          <p:nvPr/>
        </p:nvSpPr>
        <p:spPr>
          <a:xfrm>
            <a:off x="1536192"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Hoi, ik ben Lotte, de nieuwe stagiaire. En jij?</a:t>
            </a:r>
            <a:endParaRPr lang="en-US" sz="1500" dirty="0"/>
          </a:p>
        </p:txBody>
      </p:sp>
      <p:pic>
        <p:nvPicPr>
          <p:cNvPr id="12" name="Image 1" descr="man office worker">    </p:cNvPr>
          <p:cNvPicPr>
            <a:picLocks noChangeAspect="1"/>
          </p:cNvPicPr>
          <p:nvPr/>
        </p:nvPicPr>
        <p:blipFill>
          <a:blip r:embed="rId2"/>
          <a:stretch>
            <a:fillRect/>
          </a:stretch>
        </p:blipFill>
        <p:spPr>
          <a:xfrm>
            <a:off x="3361944" y="3611880"/>
            <a:ext cx="594360" cy="594360"/>
          </a:xfrm>
          <a:prstGeom prst="rect">
            <a:avLst/>
          </a:prstGeom>
        </p:spPr>
      </p:pic>
      <p:sp>
        <p:nvSpPr>
          <p:cNvPr id="13" name="Shape 8"/>
          <p:cNvSpPr/>
          <p:nvPr/>
        </p:nvSpPr>
        <p:spPr>
          <a:xfrm>
            <a:off x="685800"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14" name="Text 9"/>
          <p:cNvSpPr txBox="1"/>
          <p:nvPr/>
        </p:nvSpPr>
        <p:spPr>
          <a:xfrm>
            <a:off x="850392"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Ik ben Karim, van de boekhouding. Welkom!</a:t>
            </a:r>
            <a:endParaRPr lang="en-US" sz="1500" dirty="0"/>
          </a:p>
        </p:txBody>
      </p:sp>
      <p:sp>
        <p:nvSpPr>
          <p:cNvPr id="15" name="Shape 10"/>
          <p:cNvSpPr/>
          <p:nvPr/>
        </p:nvSpPr>
        <p:spPr>
          <a:xfrm>
            <a:off x="4322064" y="1554480"/>
            <a:ext cx="3544824" cy="3794760"/>
          </a:xfrm>
          <a:prstGeom prst="roundRect">
            <a:avLst>
              <a:gd name="adj" fmla="val 258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4322064" y="1554480"/>
            <a:ext cx="3544824" cy="548640"/>
          </a:xfrm>
          <a:prstGeom prst="roundRect">
            <a:avLst>
              <a:gd name="adj" fmla="val 16667"/>
            </a:avLst>
          </a:prstGeom>
          <a:solidFill>
            <a:schemeClr val="accent2"/>
          </a:solidFill>
          <a:ln w="12700">
            <a:solidFill>
              <a:srgbClr val="FFFFFF">
                <a:alpha val="0"/>
              </a:srgbClr>
            </a:solidFill>
            <a:prstDash val="solid"/>
          </a:ln>
        </p:spPr>
      </p:sp>
      <p:sp>
        <p:nvSpPr>
          <p:cNvPr id="17" name="Text 12"/>
          <p:cNvSpPr txBox="1"/>
          <p:nvPr/>
        </p:nvSpPr>
        <p:spPr>
          <a:xfrm>
            <a:off x="4504944"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 entretien</a:t>
            </a:r>
            <a:endParaRPr lang="en-US" sz="1700" dirty="0"/>
          </a:p>
        </p:txBody>
      </p:sp>
      <p:sp>
        <p:nvSpPr>
          <p:cNvPr id="18" name="tag"/>
          <p:cNvSpPr/>
          <p:nvPr/>
        </p:nvSpPr>
        <p:spPr>
          <a:xfrm>
            <a:off x="7089648" y="1673352"/>
            <a:ext cx="47365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a:t>
            </a:r>
            <a:endParaRPr lang="en-US" sz="1200" dirty="0"/>
          </a:p>
        </p:txBody>
      </p:sp>
      <p:pic>
        <p:nvPicPr>
          <p:cNvPr id="19" name="Image 2" descr="woman office worker">    </p:cNvPr>
          <p:cNvPicPr>
            <a:picLocks noChangeAspect="1"/>
          </p:cNvPicPr>
          <p:nvPr/>
        </p:nvPicPr>
        <p:blipFill>
          <a:blip r:embed="rId3"/>
          <a:stretch>
            <a:fillRect/>
          </a:stretch>
        </p:blipFill>
        <p:spPr>
          <a:xfrm>
            <a:off x="4459224" y="2286000"/>
            <a:ext cx="594360" cy="594360"/>
          </a:xfrm>
          <a:prstGeom prst="rect">
            <a:avLst/>
          </a:prstGeom>
        </p:spPr>
      </p:pic>
      <p:sp>
        <p:nvSpPr>
          <p:cNvPr id="20" name="Shape 14"/>
          <p:cNvSpPr/>
          <p:nvPr/>
        </p:nvSpPr>
        <p:spPr>
          <a:xfrm>
            <a:off x="5145024" y="2240280"/>
            <a:ext cx="2584704" cy="1051560"/>
          </a:xfrm>
          <a:prstGeom prst="roundRect">
            <a:avLst>
              <a:gd name="adj" fmla="val 15652"/>
            </a:avLst>
          </a:prstGeom>
          <a:solidFill>
            <a:schemeClr val="accent2">
              <a:alpha val="12000"/>
            </a:schemeClr>
          </a:solidFill>
          <a:ln w="15875">
            <a:solidFill>
              <a:srgbClr val="2A6FB0"/>
            </a:solidFill>
            <a:prstDash val="solid"/>
          </a:ln>
        </p:spPr>
      </p:sp>
      <p:sp>
        <p:nvSpPr>
          <p:cNvPr id="21" name="Text 15"/>
          <p:cNvSpPr txBox="1"/>
          <p:nvPr/>
        </p:nvSpPr>
        <p:spPr>
          <a:xfrm>
            <a:off x="5309616"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Vertelt u eens iets over uzelf.</a:t>
            </a:r>
            <a:endParaRPr lang="en-US" sz="1500" dirty="0"/>
          </a:p>
        </p:txBody>
      </p:sp>
      <p:pic>
        <p:nvPicPr>
          <p:cNvPr id="22" name="Image 3" descr="man office worker">    </p:cNvPr>
          <p:cNvPicPr>
            <a:picLocks noChangeAspect="1"/>
          </p:cNvPicPr>
          <p:nvPr/>
        </p:nvPicPr>
        <p:blipFill>
          <a:blip r:embed="rId4"/>
          <a:stretch>
            <a:fillRect/>
          </a:stretch>
        </p:blipFill>
        <p:spPr>
          <a:xfrm>
            <a:off x="7135368" y="3611880"/>
            <a:ext cx="594360" cy="594360"/>
          </a:xfrm>
          <a:prstGeom prst="rect">
            <a:avLst/>
          </a:prstGeom>
        </p:spPr>
      </p:pic>
      <p:sp>
        <p:nvSpPr>
          <p:cNvPr id="23" name="Shape 16"/>
          <p:cNvSpPr/>
          <p:nvPr/>
        </p:nvSpPr>
        <p:spPr>
          <a:xfrm>
            <a:off x="4459224"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24" name="Text 17"/>
          <p:cNvSpPr txBox="1"/>
          <p:nvPr/>
        </p:nvSpPr>
        <p:spPr>
          <a:xfrm>
            <a:off x="4623816"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Graag. Ik ben Karim Benali en ik werk sinds…</a:t>
            </a:r>
            <a:endParaRPr lang="en-US" sz="1500" dirty="0"/>
          </a:p>
        </p:txBody>
      </p:sp>
      <p:sp>
        <p:nvSpPr>
          <p:cNvPr id="25" name="Shape 18"/>
          <p:cNvSpPr/>
          <p:nvPr/>
        </p:nvSpPr>
        <p:spPr>
          <a:xfrm>
            <a:off x="8095488" y="1554480"/>
            <a:ext cx="3544824" cy="3794760"/>
          </a:xfrm>
          <a:prstGeom prst="roundRect">
            <a:avLst>
              <a:gd name="adj" fmla="val 2580"/>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19"/>
          <p:cNvSpPr/>
          <p:nvPr/>
        </p:nvSpPr>
        <p:spPr>
          <a:xfrm>
            <a:off x="8095488" y="1554480"/>
            <a:ext cx="3544824" cy="548640"/>
          </a:xfrm>
          <a:prstGeom prst="roundRect">
            <a:avLst>
              <a:gd name="adj" fmla="val 16667"/>
            </a:avLst>
          </a:prstGeom>
          <a:solidFill>
            <a:srgbClr val="6E4A9E"/>
          </a:solidFill>
          <a:ln w="12700">
            <a:solidFill>
              <a:srgbClr val="FFFFFF">
                <a:alpha val="0"/>
              </a:srgbClr>
            </a:solidFill>
            <a:prstDash val="solid"/>
          </a:ln>
        </p:spPr>
      </p:sp>
      <p:sp>
        <p:nvSpPr>
          <p:cNvPr id="27" name="Text 20"/>
          <p:cNvSpPr txBox="1"/>
          <p:nvPr/>
        </p:nvSpPr>
        <p:spPr>
          <a:xfrm>
            <a:off x="8278368"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Le réseau</a:t>
            </a:r>
            <a:endParaRPr lang="en-US" sz="1700" dirty="0"/>
          </a:p>
        </p:txBody>
      </p:sp>
      <p:sp>
        <p:nvSpPr>
          <p:cNvPr id="28" name="tag"/>
          <p:cNvSpPr/>
          <p:nvPr/>
        </p:nvSpPr>
        <p:spPr>
          <a:xfrm>
            <a:off x="10405872" y="1673352"/>
            <a:ext cx="112288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 → je</a:t>
            </a:r>
            <a:endParaRPr lang="en-US" sz="1200" dirty="0"/>
          </a:p>
        </p:txBody>
      </p:sp>
      <p:pic>
        <p:nvPicPr>
          <p:cNvPr id="29" name="Image 4" descr="man office worker">    </p:cNvPr>
          <p:cNvPicPr>
            <a:picLocks noChangeAspect="1"/>
          </p:cNvPicPr>
          <p:nvPr/>
        </p:nvPicPr>
        <p:blipFill>
          <a:blip r:embed="rId5"/>
          <a:stretch>
            <a:fillRect/>
          </a:stretch>
        </p:blipFill>
        <p:spPr>
          <a:xfrm>
            <a:off x="8232648" y="2286000"/>
            <a:ext cx="594360" cy="594360"/>
          </a:xfrm>
          <a:prstGeom prst="rect">
            <a:avLst/>
          </a:prstGeom>
        </p:spPr>
      </p:pic>
      <p:sp>
        <p:nvSpPr>
          <p:cNvPr id="30" name="Shape 22"/>
          <p:cNvSpPr/>
          <p:nvPr/>
        </p:nvSpPr>
        <p:spPr>
          <a:xfrm>
            <a:off x="8918448" y="2240280"/>
            <a:ext cx="2584704" cy="1051560"/>
          </a:xfrm>
          <a:prstGeom prst="roundRect">
            <a:avLst>
              <a:gd name="adj" fmla="val 15652"/>
            </a:avLst>
          </a:prstGeom>
          <a:solidFill>
            <a:srgbClr val="6E4A9E">
              <a:alpha val="12000"/>
            </a:srgbClr>
          </a:solidFill>
          <a:ln w="15875">
            <a:solidFill>
              <a:srgbClr val="6E4A9E"/>
            </a:solidFill>
            <a:prstDash val="solid"/>
          </a:ln>
        </p:spPr>
      </p:sp>
      <p:sp>
        <p:nvSpPr>
          <p:cNvPr id="31" name="Text 23"/>
          <p:cNvSpPr txBox="1"/>
          <p:nvPr/>
        </p:nvSpPr>
        <p:spPr>
          <a:xfrm>
            <a:off x="9083040"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Karim Benali.</a:t>
            </a:r>
            <a:endParaRPr lang="en-US" sz="1500" dirty="0"/>
          </a:p>
        </p:txBody>
      </p:sp>
      <p:pic>
        <p:nvPicPr>
          <p:cNvPr id="32" name="Image 5" descr="woman">    </p:cNvPr>
          <p:cNvPicPr>
            <a:picLocks noChangeAspect="1"/>
          </p:cNvPicPr>
          <p:nvPr/>
        </p:nvPicPr>
        <p:blipFill>
          <a:blip r:embed="rId6"/>
          <a:stretch>
            <a:fillRect/>
          </a:stretch>
        </p:blipFill>
        <p:spPr>
          <a:xfrm>
            <a:off x="10908792" y="3611880"/>
            <a:ext cx="594360" cy="594360"/>
          </a:xfrm>
          <a:prstGeom prst="rect">
            <a:avLst/>
          </a:prstGeom>
        </p:spPr>
      </p:pic>
      <p:sp>
        <p:nvSpPr>
          <p:cNvPr id="33" name="Shape 24"/>
          <p:cNvSpPr/>
          <p:nvPr/>
        </p:nvSpPr>
        <p:spPr>
          <a:xfrm>
            <a:off x="8232648"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34" name="Text 25"/>
          <p:cNvSpPr txBox="1"/>
          <p:nvPr/>
        </p:nvSpPr>
        <p:spPr>
          <a:xfrm>
            <a:off x="8397240"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Eva Wouters, van Maesbouw.</a:t>
            </a:r>
            <a:endParaRPr lang="en-US" sz="1500" dirty="0"/>
          </a:p>
        </p:txBody>
      </p:sp>
      <p:pic>
        <p:nvPicPr>
          <p:cNvPr id="35" name="Image 6" descr="handshake">    </p:cNvPr>
          <p:cNvPicPr>
            <a:picLocks noChangeAspect="1"/>
          </p:cNvPicPr>
          <p:nvPr/>
        </p:nvPicPr>
        <p:blipFill>
          <a:blip r:embed="rId7"/>
          <a:stretch>
            <a:fillRect/>
          </a:stretch>
        </p:blipFill>
        <p:spPr>
          <a:xfrm>
            <a:off x="9593580" y="4663440"/>
            <a:ext cx="548640" cy="548640"/>
          </a:xfrm>
          <a:prstGeom prst="rect">
            <a:avLst/>
          </a:prstGeom>
        </p:spPr>
      </p:pic>
      <p:sp>
        <p:nvSpPr>
          <p:cNvPr id="36"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b="1" i="1" dirty="0">
                <a:solidFill>
                  <a:schemeClr val="bg1"/>
                </a:solidFill>
              </a:rPr>
              <a:t>Aangenaam</a:t>
            </a:r>
            <a:r>
              <a:rPr lang="en-US" sz="1700" dirty="0">
                <a:solidFill>
                  <a:schemeClr val="bg1"/>
                </a:solidFill>
              </a:rPr>
              <a:t> (enchanté·e) : très courant en Belgique · </a:t>
            </a:r>
            <a:r>
              <a:rPr lang="en-US" sz="1700" i="1" dirty="0">
                <a:solidFill>
                  <a:schemeClr val="bg1"/>
                </a:solidFill>
              </a:rPr>
              <a:t>Prettig kennis te maken. · Leuk je te leren kennen.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des questions et réagir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ext 2"/>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Text 3"/>
          <p:cNvSpPr txBox="1"/>
          <p:nvPr/>
        </p:nvSpPr>
        <p:spPr>
          <a:xfrm>
            <a:off x="7315200" y="1463040"/>
            <a:ext cx="4297680" cy="320040"/>
          </a:xfrm>
          <a:prstGeom prst="rect">
            <a:avLst/>
          </a:prstGeom>
          <a:noFill/>
          <a:ln/>
        </p:spPr>
        <p:txBody>
          <a:bodyPr wrap="square" lIns="0" tIns="0" rIns="0" bIns="0" rtlCol="0" anchor="t"/>
          <a:lstStyle/>
          <a:p>
            <a:pPr algn="l" indent="0" marL="0">
              <a:buNone/>
            </a:pPr>
            <a:r>
              <a:rPr lang="en-US" sz="1300" b="1" spc="200" kern="0" dirty="0">
                <a:solidFill>
                  <a:schemeClr val="accent3"/>
                </a:solidFill>
              </a:rPr>
              <a:t>RÉACTIONS</a:t>
            </a:r>
            <a:endParaRPr lang="en-US" sz="1300" dirty="0"/>
          </a:p>
        </p:txBody>
      </p:sp>
      <p:sp>
        <p:nvSpPr>
          <p:cNvPr id="7" name="Shape 4"/>
          <p:cNvSpPr/>
          <p:nvPr/>
        </p:nvSpPr>
        <p:spPr>
          <a:xfrm>
            <a:off x="548640" y="1828800"/>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8" name="Text 5"/>
          <p:cNvSpPr txBox="1"/>
          <p:nvPr/>
        </p:nvSpPr>
        <p:spPr>
          <a:xfrm>
            <a:off x="713232" y="1828800"/>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precies?</a:t>
            </a:r>
            <a:endParaRPr lang="en-US" sz="1700" dirty="0"/>
          </a:p>
        </p:txBody>
      </p:sp>
      <p:sp>
        <p:nvSpPr>
          <p:cNvPr id="9" name="Shape 6"/>
          <p:cNvSpPr/>
          <p:nvPr/>
        </p:nvSpPr>
        <p:spPr>
          <a:xfrm>
            <a:off x="548640" y="2542032"/>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0" name="Text 7"/>
          <p:cNvSpPr txBox="1"/>
          <p:nvPr/>
        </p:nvSpPr>
        <p:spPr>
          <a:xfrm>
            <a:off x="713232" y="2542032"/>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Op welke afdeling werk je?</a:t>
            </a:r>
            <a:endParaRPr lang="en-US" sz="1700" dirty="0"/>
          </a:p>
        </p:txBody>
      </p:sp>
      <p:sp>
        <p:nvSpPr>
          <p:cNvPr id="11" name="Shape 8"/>
          <p:cNvSpPr/>
          <p:nvPr/>
        </p:nvSpPr>
        <p:spPr>
          <a:xfrm>
            <a:off x="548640" y="3255264"/>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2" name="Text 9"/>
          <p:cNvSpPr txBox="1"/>
          <p:nvPr/>
        </p:nvSpPr>
        <p:spPr>
          <a:xfrm>
            <a:off x="713232" y="3255264"/>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Hoelang werk je hier al?</a:t>
            </a:r>
            <a:endParaRPr lang="en-US" sz="1700" dirty="0"/>
          </a:p>
        </p:txBody>
      </p:sp>
      <p:sp>
        <p:nvSpPr>
          <p:cNvPr id="13" name="Shape 10"/>
          <p:cNvSpPr/>
          <p:nvPr/>
        </p:nvSpPr>
        <p:spPr>
          <a:xfrm>
            <a:off x="548640" y="3968496"/>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4" name="Text 11"/>
          <p:cNvSpPr txBox="1"/>
          <p:nvPr/>
        </p:nvSpPr>
        <p:spPr>
          <a:xfrm>
            <a:off x="713232" y="3968496"/>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heb je gestudeerd?</a:t>
            </a:r>
            <a:endParaRPr lang="en-US" sz="1700" dirty="0"/>
          </a:p>
        </p:txBody>
      </p:sp>
      <p:sp>
        <p:nvSpPr>
          <p:cNvPr id="15" name="Shape 12"/>
          <p:cNvSpPr/>
          <p:nvPr/>
        </p:nvSpPr>
        <p:spPr>
          <a:xfrm>
            <a:off x="548640" y="4681728"/>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6" name="Text 13"/>
          <p:cNvSpPr txBox="1"/>
          <p:nvPr/>
        </p:nvSpPr>
        <p:spPr>
          <a:xfrm>
            <a:off x="713232" y="4681728"/>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graag in je vrije tijd?</a:t>
            </a:r>
            <a:endParaRPr lang="en-US" sz="1700" dirty="0"/>
          </a:p>
        </p:txBody>
      </p:sp>
      <p:sp>
        <p:nvSpPr>
          <p:cNvPr id="17" name="Shape 14"/>
          <p:cNvSpPr/>
          <p:nvPr/>
        </p:nvSpPr>
        <p:spPr>
          <a:xfrm>
            <a:off x="731520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18" name="Text 15"/>
          <p:cNvSpPr txBox="1"/>
          <p:nvPr/>
        </p:nvSpPr>
        <p:spPr>
          <a:xfrm>
            <a:off x="731520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O ja?</a:t>
            </a:r>
            <a:endParaRPr lang="en-US" sz="1800" dirty="0"/>
          </a:p>
        </p:txBody>
      </p:sp>
      <p:sp>
        <p:nvSpPr>
          <p:cNvPr id="19" name="Shape 16"/>
          <p:cNvSpPr/>
          <p:nvPr/>
        </p:nvSpPr>
        <p:spPr>
          <a:xfrm>
            <a:off x="950976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0" name="Text 17"/>
          <p:cNvSpPr txBox="1"/>
          <p:nvPr/>
        </p:nvSpPr>
        <p:spPr>
          <a:xfrm>
            <a:off x="950976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Interessant!</a:t>
            </a:r>
            <a:endParaRPr lang="en-US" sz="1800" dirty="0"/>
          </a:p>
        </p:txBody>
      </p:sp>
      <p:sp>
        <p:nvSpPr>
          <p:cNvPr id="21" name="Shape 18"/>
          <p:cNvSpPr/>
          <p:nvPr/>
        </p:nvSpPr>
        <p:spPr>
          <a:xfrm>
            <a:off x="731520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2" name="Text 19"/>
          <p:cNvSpPr txBox="1"/>
          <p:nvPr/>
        </p:nvSpPr>
        <p:spPr>
          <a:xfrm>
            <a:off x="731520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Echt waar?</a:t>
            </a:r>
            <a:endParaRPr lang="en-US" sz="1800" dirty="0"/>
          </a:p>
        </p:txBody>
      </p:sp>
      <p:sp>
        <p:nvSpPr>
          <p:cNvPr id="23" name="Shape 20"/>
          <p:cNvSpPr/>
          <p:nvPr/>
        </p:nvSpPr>
        <p:spPr>
          <a:xfrm>
            <a:off x="950976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4" name="Text 21"/>
          <p:cNvSpPr txBox="1"/>
          <p:nvPr/>
        </p:nvSpPr>
        <p:spPr>
          <a:xfrm>
            <a:off x="950976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Ik ook!</a:t>
            </a:r>
            <a:endParaRPr lang="en-US" sz="1800" dirty="0"/>
          </a:p>
        </p:txBody>
      </p:sp>
      <p:sp>
        <p:nvSpPr>
          <p:cNvPr id="25" name="Shape 22"/>
          <p:cNvSpPr/>
          <p:nvPr/>
        </p:nvSpPr>
        <p:spPr>
          <a:xfrm>
            <a:off x="731520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6" name="Text 23"/>
          <p:cNvSpPr txBox="1"/>
          <p:nvPr/>
        </p:nvSpPr>
        <p:spPr>
          <a:xfrm>
            <a:off x="731520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Wat leuk!</a:t>
            </a:r>
            <a:endParaRPr lang="en-US" sz="1800" dirty="0"/>
          </a:p>
        </p:txBody>
      </p:sp>
      <p:sp>
        <p:nvSpPr>
          <p:cNvPr id="27" name="Shape 24"/>
          <p:cNvSpPr/>
          <p:nvPr/>
        </p:nvSpPr>
        <p:spPr>
          <a:xfrm>
            <a:off x="950976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8" name="Text 25"/>
          <p:cNvSpPr txBox="1"/>
          <p:nvPr/>
        </p:nvSpPr>
        <p:spPr>
          <a:xfrm>
            <a:off x="950976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En jij?</a:t>
            </a:r>
            <a:endParaRPr lang="en-US" sz="1800" dirty="0"/>
          </a:p>
        </p:txBody>
      </p:sp>
      <p:pic>
        <p:nvPicPr>
          <p:cNvPr id="29" name="Image 0" descr="ping pong">    </p:cNvPr>
          <p:cNvPicPr>
            <a:picLocks noChangeAspect="1"/>
          </p:cNvPicPr>
          <p:nvPr/>
        </p:nvPicPr>
        <p:blipFill>
          <a:blip r:embed="rId1"/>
          <a:stretch>
            <a:fillRect/>
          </a:stretch>
        </p:blipFill>
        <p:spPr>
          <a:xfrm>
            <a:off x="6537960" y="2926080"/>
            <a:ext cx="685800" cy="685800"/>
          </a:xfrm>
          <a:prstGeom prst="rect">
            <a:avLst/>
          </a:prstGeom>
        </p:spPr>
      </p:pic>
      <p:sp>
        <p:nvSpPr>
          <p:cNvPr id="30"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1"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Une présentation est un échange : après votre pitch, renvoyez la balle : </a:t>
            </a:r>
            <a:r>
              <a:rPr lang="en-US" sz="1700" i="1" dirty="0">
                <a:solidFill>
                  <a:schemeClr val="bg1"/>
                </a:solidFill>
              </a:rPr>
              <a:t>En jij?</a:t>
            </a:r>
            <a:r>
              <a:rPr lang="en-US" sz="1700" dirty="0">
                <a:solidFill>
                  <a:schemeClr val="bg1"/>
                </a:solidFill>
              </a:rPr>
              <a:t> · </a:t>
            </a:r>
            <a:r>
              <a:rPr lang="en-US" sz="1700" i="1" dirty="0">
                <a:solidFill>
                  <a:schemeClr val="bg1"/>
                </a:solidFill>
              </a:rPr>
              <a:t>Hoelang werk je hier al? — Al drie jaar.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 présenter par e-mail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08760"/>
            <a:ext cx="7680960" cy="3931920"/>
          </a:xfrm>
          <a:prstGeom prst="roundRect">
            <a:avLst>
              <a:gd name="adj" fmla="val 1860"/>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7680960" cy="457200"/>
          </a:xfrm>
          <a:prstGeom prst="roundRect">
            <a:avLst>
              <a:gd name="adj" fmla="val 8000"/>
            </a:avLst>
          </a:prstGeom>
          <a:solidFill>
            <a:srgbClr val="E6EBF2"/>
          </a:solidFill>
          <a:ln w="12700">
            <a:solidFill>
              <a:srgbClr val="FFFFFF">
                <a:alpha val="0"/>
              </a:srgbClr>
            </a:solidFill>
            <a:prstDash val="solid"/>
          </a:ln>
        </p:spPr>
      </p:sp>
      <p:sp>
        <p:nvSpPr>
          <p:cNvPr id="7" name="Text 4"/>
          <p:cNvSpPr txBox="1"/>
          <p:nvPr/>
        </p:nvSpPr>
        <p:spPr>
          <a:xfrm>
            <a:off x="777240" y="1508760"/>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even voorstellen</a:t>
            </a:r>
            <a:endParaRPr lang="en-US" sz="1300" dirty="0"/>
          </a:p>
        </p:txBody>
      </p:sp>
      <p:sp>
        <p:nvSpPr>
          <p:cNvPr id="8" name="Text 5"/>
          <p:cNvSpPr txBox="1"/>
          <p:nvPr/>
        </p:nvSpPr>
        <p:spPr>
          <a:xfrm>
            <a:off x="868680" y="2103120"/>
            <a:ext cx="7178040" cy="411480"/>
          </a:xfrm>
          <a:prstGeom prst="rect">
            <a:avLst/>
          </a:prstGeom>
          <a:noFill/>
          <a:ln/>
        </p:spPr>
        <p:txBody>
          <a:bodyPr wrap="square" lIns="0" tIns="0" rIns="0" bIns="0" rtlCol="0" anchor="ctr"/>
          <a:lstStyle/>
          <a:p>
            <a:pPr algn="l" indent="0" marL="0">
              <a:buNone/>
            </a:pPr>
            <a:r>
              <a:rPr lang="en-US" sz="1700" i="1" dirty="0">
                <a:solidFill>
                  <a:schemeClr val="tx1"/>
                </a:solidFill>
              </a:rPr>
              <a:t>Geachte mevrouw Wouters,</a:t>
            </a:r>
            <a:endParaRPr lang="en-US" sz="1700" dirty="0"/>
          </a:p>
        </p:txBody>
      </p:sp>
      <p:sp>
        <p:nvSpPr>
          <p:cNvPr id="9" name="Shape 6"/>
          <p:cNvSpPr/>
          <p:nvPr/>
        </p:nvSpPr>
        <p:spPr>
          <a:xfrm>
            <a:off x="8275320" y="2308860"/>
            <a:ext cx="365760" cy="914"/>
          </a:xfrm>
          <a:prstGeom prst="line">
            <a:avLst/>
          </a:prstGeom>
          <a:noFill/>
          <a:ln w="25400">
            <a:solidFill>
              <a:srgbClr val="2A6FB0"/>
            </a:solidFill>
            <a:prstDash val="solid"/>
          </a:ln>
        </p:spPr>
      </p:sp>
      <p:sp>
        <p:nvSpPr>
          <p:cNvPr id="10" name="Shape 7"/>
          <p:cNvSpPr/>
          <p:nvPr/>
        </p:nvSpPr>
        <p:spPr>
          <a:xfrm>
            <a:off x="8686800" y="2107692"/>
            <a:ext cx="2953512" cy="402336"/>
          </a:xfrm>
          <a:prstGeom prst="roundRect">
            <a:avLst>
              <a:gd name="adj" fmla="val 22727"/>
            </a:avLst>
          </a:prstGeom>
          <a:solidFill>
            <a:schemeClr val="accent2">
              <a:alpha val="15000"/>
            </a:schemeClr>
          </a:solidFill>
          <a:ln w="15875">
            <a:solidFill>
              <a:srgbClr val="2A6FB0"/>
            </a:solidFill>
            <a:prstDash val="solid"/>
          </a:ln>
        </p:spPr>
      </p:sp>
      <p:sp>
        <p:nvSpPr>
          <p:cNvPr id="11" name="Text 8"/>
          <p:cNvSpPr txBox="1"/>
          <p:nvPr/>
        </p:nvSpPr>
        <p:spPr>
          <a:xfrm>
            <a:off x="8778240" y="2107692"/>
            <a:ext cx="2788920" cy="402336"/>
          </a:xfrm>
          <a:prstGeom prst="rect">
            <a:avLst/>
          </a:prstGeom>
          <a:noFill/>
          <a:ln/>
        </p:spPr>
        <p:txBody>
          <a:bodyPr wrap="square" lIns="0" tIns="0" rIns="0" bIns="0" rtlCol="0" anchor="ctr"/>
          <a:lstStyle/>
          <a:p>
            <a:pPr algn="l" indent="0" marL="0">
              <a:buNone/>
            </a:pPr>
            <a:r>
              <a:rPr lang="en-US" sz="1400" b="1" dirty="0">
                <a:solidFill>
                  <a:schemeClr val="accent2"/>
                </a:solidFill>
              </a:rPr>
              <a:t>formule d’appel</a:t>
            </a:r>
            <a:endParaRPr lang="en-US" sz="1400" dirty="0"/>
          </a:p>
        </p:txBody>
      </p:sp>
      <p:sp>
        <p:nvSpPr>
          <p:cNvPr id="12" name="Text 9"/>
          <p:cNvSpPr txBox="1"/>
          <p:nvPr/>
        </p:nvSpPr>
        <p:spPr>
          <a:xfrm>
            <a:off x="868680" y="2606040"/>
            <a:ext cx="7178040" cy="777240"/>
          </a:xfrm>
          <a:prstGeom prst="rect">
            <a:avLst/>
          </a:prstGeom>
          <a:noFill/>
          <a:ln/>
        </p:spPr>
        <p:txBody>
          <a:bodyPr wrap="square" lIns="0" tIns="0" rIns="0" bIns="0" rtlCol="0" anchor="ctr"/>
          <a:lstStyle/>
          <a:p>
            <a:pPr algn="l" indent="0" marL="0">
              <a:buNone/>
            </a:pPr>
            <a:r>
              <a:rPr lang="en-US" sz="1700" b="1" i="1" dirty="0">
                <a:solidFill>
                  <a:schemeClr val="tx1"/>
                </a:solidFill>
              </a:rPr>
              <a:t>Graag stel ik me even voor</a:t>
            </a:r>
            <a:r>
              <a:rPr lang="en-US" sz="1700" i="1" dirty="0">
                <a:solidFill>
                  <a:schemeClr val="tx1"/>
                </a:solidFill>
              </a:rPr>
              <a:t>: ik ben Karim Benali, de nieuwe boekhouder van Peeters &amp; Co.</a:t>
            </a:r>
            <a:endParaRPr lang="en-US" sz="1700" dirty="0"/>
          </a:p>
        </p:txBody>
      </p:sp>
      <p:sp>
        <p:nvSpPr>
          <p:cNvPr id="13" name="Shape 10"/>
          <p:cNvSpPr/>
          <p:nvPr/>
        </p:nvSpPr>
        <p:spPr>
          <a:xfrm>
            <a:off x="8275320" y="2994660"/>
            <a:ext cx="365760" cy="914"/>
          </a:xfrm>
          <a:prstGeom prst="line">
            <a:avLst/>
          </a:prstGeom>
          <a:noFill/>
          <a:ln w="25400">
            <a:solidFill>
              <a:srgbClr val="D9700F"/>
            </a:solidFill>
            <a:prstDash val="solid"/>
          </a:ln>
        </p:spPr>
      </p:sp>
      <p:sp>
        <p:nvSpPr>
          <p:cNvPr id="14" name="Shape 11"/>
          <p:cNvSpPr/>
          <p:nvPr/>
        </p:nvSpPr>
        <p:spPr>
          <a:xfrm>
            <a:off x="8686800" y="2793492"/>
            <a:ext cx="2953512" cy="402336"/>
          </a:xfrm>
          <a:prstGeom prst="roundRect">
            <a:avLst>
              <a:gd name="adj" fmla="val 22727"/>
            </a:avLst>
          </a:prstGeom>
          <a:solidFill>
            <a:schemeClr val="accent1">
              <a:alpha val="15000"/>
            </a:schemeClr>
          </a:solidFill>
          <a:ln w="15875">
            <a:solidFill>
              <a:srgbClr val="D9700F"/>
            </a:solidFill>
            <a:prstDash val="solid"/>
          </a:ln>
        </p:spPr>
      </p:sp>
      <p:sp>
        <p:nvSpPr>
          <p:cNvPr id="15" name="Text 12"/>
          <p:cNvSpPr txBox="1"/>
          <p:nvPr/>
        </p:nvSpPr>
        <p:spPr>
          <a:xfrm>
            <a:off x="8778240" y="2793492"/>
            <a:ext cx="2788920" cy="402336"/>
          </a:xfrm>
          <a:prstGeom prst="rect">
            <a:avLst/>
          </a:prstGeom>
          <a:noFill/>
          <a:ln/>
        </p:spPr>
        <p:txBody>
          <a:bodyPr wrap="square" lIns="0" tIns="0" rIns="0" bIns="0" rtlCol="0" anchor="ctr"/>
          <a:lstStyle/>
          <a:p>
            <a:pPr algn="l" indent="0" marL="0">
              <a:buNone/>
            </a:pPr>
            <a:r>
              <a:rPr lang="en-US" sz="1400" b="1" dirty="0">
                <a:solidFill>
                  <a:schemeClr val="accent1"/>
                </a:solidFill>
              </a:rPr>
              <a:t>présentation</a:t>
            </a:r>
            <a:endParaRPr lang="en-US" sz="1400" dirty="0"/>
          </a:p>
        </p:txBody>
      </p:sp>
      <p:sp>
        <p:nvSpPr>
          <p:cNvPr id="16" name="Text 13"/>
          <p:cNvSpPr txBox="1"/>
          <p:nvPr/>
        </p:nvSpPr>
        <p:spPr>
          <a:xfrm>
            <a:off x="868680" y="3474720"/>
            <a:ext cx="7178040" cy="502920"/>
          </a:xfrm>
          <a:prstGeom prst="rect">
            <a:avLst/>
          </a:prstGeom>
          <a:noFill/>
          <a:ln/>
        </p:spPr>
        <p:txBody>
          <a:bodyPr wrap="square" lIns="0" tIns="0" rIns="0" bIns="0" rtlCol="0" anchor="ctr"/>
          <a:lstStyle/>
          <a:p>
            <a:pPr algn="l" indent="0" marL="0">
              <a:buNone/>
            </a:pPr>
            <a:r>
              <a:rPr lang="en-US" sz="1700" i="1" dirty="0">
                <a:solidFill>
                  <a:schemeClr val="tx1"/>
                </a:solidFill>
              </a:rPr>
              <a:t>Vanaf 1 maart ben ik uw contactpersoon voor de facturatie.</a:t>
            </a:r>
            <a:endParaRPr lang="en-US" sz="1700" dirty="0"/>
          </a:p>
        </p:txBody>
      </p:sp>
      <p:sp>
        <p:nvSpPr>
          <p:cNvPr id="17" name="Shape 14"/>
          <p:cNvSpPr/>
          <p:nvPr/>
        </p:nvSpPr>
        <p:spPr>
          <a:xfrm>
            <a:off x="8275320" y="3726180"/>
            <a:ext cx="365760" cy="914"/>
          </a:xfrm>
          <a:prstGeom prst="line">
            <a:avLst/>
          </a:prstGeom>
          <a:noFill/>
          <a:ln w="25400">
            <a:solidFill>
              <a:srgbClr val="2E7D4F"/>
            </a:solidFill>
            <a:prstDash val="solid"/>
          </a:ln>
        </p:spPr>
      </p:sp>
      <p:sp>
        <p:nvSpPr>
          <p:cNvPr id="18" name="Shape 15"/>
          <p:cNvSpPr/>
          <p:nvPr/>
        </p:nvSpPr>
        <p:spPr>
          <a:xfrm>
            <a:off x="8686800" y="3525012"/>
            <a:ext cx="2953512" cy="402336"/>
          </a:xfrm>
          <a:prstGeom prst="roundRect">
            <a:avLst>
              <a:gd name="adj" fmla="val 22727"/>
            </a:avLst>
          </a:prstGeom>
          <a:solidFill>
            <a:schemeClr val="accent3">
              <a:alpha val="15000"/>
            </a:schemeClr>
          </a:solidFill>
          <a:ln w="15875">
            <a:solidFill>
              <a:srgbClr val="2E7D4F"/>
            </a:solidFill>
            <a:prstDash val="solid"/>
          </a:ln>
        </p:spPr>
      </p:sp>
      <p:sp>
        <p:nvSpPr>
          <p:cNvPr id="19" name="Text 16"/>
          <p:cNvSpPr txBox="1"/>
          <p:nvPr/>
        </p:nvSpPr>
        <p:spPr>
          <a:xfrm>
            <a:off x="8778240" y="3525012"/>
            <a:ext cx="2788920" cy="402336"/>
          </a:xfrm>
          <a:prstGeom prst="rect">
            <a:avLst/>
          </a:prstGeom>
          <a:noFill/>
          <a:ln/>
        </p:spPr>
        <p:txBody>
          <a:bodyPr wrap="square" lIns="0" tIns="0" rIns="0" bIns="0" rtlCol="0" anchor="ctr"/>
          <a:lstStyle/>
          <a:p>
            <a:pPr algn="l" indent="0" marL="0">
              <a:buNone/>
            </a:pPr>
            <a:r>
              <a:rPr lang="en-US" sz="1400" b="1" dirty="0">
                <a:solidFill>
                  <a:schemeClr val="accent3"/>
                </a:solidFill>
              </a:rPr>
              <a:t>rôle</a:t>
            </a:r>
            <a:endParaRPr lang="en-US" sz="1400" dirty="0"/>
          </a:p>
        </p:txBody>
      </p:sp>
      <p:sp>
        <p:nvSpPr>
          <p:cNvPr id="20" name="Text 17"/>
          <p:cNvSpPr txBox="1"/>
          <p:nvPr/>
        </p:nvSpPr>
        <p:spPr>
          <a:xfrm>
            <a:off x="868680" y="4069080"/>
            <a:ext cx="7178040" cy="457200"/>
          </a:xfrm>
          <a:prstGeom prst="rect">
            <a:avLst/>
          </a:prstGeom>
          <a:noFill/>
          <a:ln/>
        </p:spPr>
        <p:txBody>
          <a:bodyPr wrap="square" lIns="0" tIns="0" rIns="0" bIns="0" rtlCol="0" anchor="ctr"/>
          <a:lstStyle/>
          <a:p>
            <a:pPr algn="l" indent="0" marL="0">
              <a:buNone/>
            </a:pPr>
            <a:r>
              <a:rPr lang="en-US" sz="1700" i="1" dirty="0">
                <a:solidFill>
                  <a:schemeClr val="tx1"/>
                </a:solidFill>
              </a:rPr>
              <a:t>Hebt u vragen? Neem gerust contact met mij op.</a:t>
            </a:r>
            <a:endParaRPr lang="en-US" sz="1700" dirty="0"/>
          </a:p>
        </p:txBody>
      </p:sp>
      <p:sp>
        <p:nvSpPr>
          <p:cNvPr id="21" name="Shape 18"/>
          <p:cNvSpPr/>
          <p:nvPr/>
        </p:nvSpPr>
        <p:spPr>
          <a:xfrm>
            <a:off x="8275320" y="4297680"/>
            <a:ext cx="365760" cy="914"/>
          </a:xfrm>
          <a:prstGeom prst="line">
            <a:avLst/>
          </a:prstGeom>
          <a:noFill/>
          <a:ln w="25400">
            <a:solidFill>
              <a:srgbClr val="6E4A9E"/>
            </a:solidFill>
            <a:prstDash val="solid"/>
          </a:ln>
        </p:spPr>
      </p:sp>
      <p:sp>
        <p:nvSpPr>
          <p:cNvPr id="22" name="Shape 19"/>
          <p:cNvSpPr/>
          <p:nvPr/>
        </p:nvSpPr>
        <p:spPr>
          <a:xfrm>
            <a:off x="8686800" y="4096512"/>
            <a:ext cx="2953512" cy="402336"/>
          </a:xfrm>
          <a:prstGeom prst="roundRect">
            <a:avLst>
              <a:gd name="adj" fmla="val 22727"/>
            </a:avLst>
          </a:prstGeom>
          <a:solidFill>
            <a:srgbClr val="6E4A9E">
              <a:alpha val="15000"/>
            </a:srgbClr>
          </a:solidFill>
          <a:ln w="15875">
            <a:solidFill>
              <a:srgbClr val="6E4A9E"/>
            </a:solidFill>
            <a:prstDash val="solid"/>
          </a:ln>
        </p:spPr>
      </p:sp>
      <p:sp>
        <p:nvSpPr>
          <p:cNvPr id="23" name="Text 20"/>
          <p:cNvSpPr txBox="1"/>
          <p:nvPr/>
        </p:nvSpPr>
        <p:spPr>
          <a:xfrm>
            <a:off x="8778240" y="4096512"/>
            <a:ext cx="2788920" cy="402336"/>
          </a:xfrm>
          <a:prstGeom prst="rect">
            <a:avLst/>
          </a:prstGeom>
          <a:noFill/>
          <a:ln/>
        </p:spPr>
        <p:txBody>
          <a:bodyPr wrap="square" lIns="0" tIns="0" rIns="0" bIns="0" rtlCol="0" anchor="ctr"/>
          <a:lstStyle/>
          <a:p>
            <a:pPr algn="l" indent="0" marL="0">
              <a:buNone/>
            </a:pPr>
            <a:r>
              <a:rPr lang="en-US" sz="1400" b="1" dirty="0">
                <a:solidFill>
                  <a:srgbClr val="6E4A9E"/>
                </a:solidFill>
              </a:rPr>
              <a:t>offre d’aide</a:t>
            </a:r>
            <a:endParaRPr lang="en-US" sz="1400" dirty="0"/>
          </a:p>
        </p:txBody>
      </p:sp>
      <p:sp>
        <p:nvSpPr>
          <p:cNvPr id="24" name="Text 21"/>
          <p:cNvSpPr txBox="1"/>
          <p:nvPr/>
        </p:nvSpPr>
        <p:spPr>
          <a:xfrm>
            <a:off x="868680" y="457200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Met vriendelijke groeten</a:t>
            </a:r>
            <a:endParaRPr lang="en-US" sz="1700" dirty="0"/>
          </a:p>
        </p:txBody>
      </p:sp>
      <p:sp>
        <p:nvSpPr>
          <p:cNvPr id="25" name="Shape 22"/>
          <p:cNvSpPr/>
          <p:nvPr/>
        </p:nvSpPr>
        <p:spPr>
          <a:xfrm>
            <a:off x="8275320" y="4754880"/>
            <a:ext cx="365760" cy="914"/>
          </a:xfrm>
          <a:prstGeom prst="line">
            <a:avLst/>
          </a:prstGeom>
          <a:noFill/>
          <a:ln w="25400">
            <a:solidFill>
              <a:srgbClr val="B4236A"/>
            </a:solidFill>
            <a:prstDash val="solid"/>
          </a:ln>
        </p:spPr>
      </p:sp>
      <p:sp>
        <p:nvSpPr>
          <p:cNvPr id="26" name="Shape 23"/>
          <p:cNvSpPr/>
          <p:nvPr/>
        </p:nvSpPr>
        <p:spPr>
          <a:xfrm>
            <a:off x="8686800" y="4553712"/>
            <a:ext cx="2953512" cy="402336"/>
          </a:xfrm>
          <a:prstGeom prst="roundRect">
            <a:avLst>
              <a:gd name="adj" fmla="val 22727"/>
            </a:avLst>
          </a:prstGeom>
          <a:solidFill>
            <a:schemeClr val="accent4">
              <a:alpha val="15000"/>
            </a:schemeClr>
          </a:solidFill>
          <a:ln w="15875">
            <a:solidFill>
              <a:srgbClr val="B4236A"/>
            </a:solidFill>
            <a:prstDash val="solid"/>
          </a:ln>
        </p:spPr>
      </p:sp>
      <p:sp>
        <p:nvSpPr>
          <p:cNvPr id="27" name="Text 24"/>
          <p:cNvSpPr txBox="1"/>
          <p:nvPr/>
        </p:nvSpPr>
        <p:spPr>
          <a:xfrm>
            <a:off x="8778240" y="4553712"/>
            <a:ext cx="2788920" cy="402336"/>
          </a:xfrm>
          <a:prstGeom prst="rect">
            <a:avLst/>
          </a:prstGeom>
          <a:noFill/>
          <a:ln/>
        </p:spPr>
        <p:txBody>
          <a:bodyPr wrap="square" lIns="0" tIns="0" rIns="0" bIns="0" rtlCol="0" anchor="ctr"/>
          <a:lstStyle/>
          <a:p>
            <a:pPr algn="l" indent="0" marL="0">
              <a:buNone/>
            </a:pPr>
            <a:r>
              <a:rPr lang="en-US" sz="1400" b="1" dirty="0">
                <a:solidFill>
                  <a:schemeClr val="accent4"/>
                </a:solidFill>
              </a:rPr>
              <a:t>formule finale</a:t>
            </a:r>
            <a:endParaRPr lang="en-US" sz="1400" dirty="0"/>
          </a:p>
        </p:txBody>
      </p:sp>
      <p:sp>
        <p:nvSpPr>
          <p:cNvPr id="28" name="Text 25"/>
          <p:cNvSpPr txBox="1"/>
          <p:nvPr/>
        </p:nvSpPr>
        <p:spPr>
          <a:xfrm>
            <a:off x="868680" y="493776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Karim Benali</a:t>
            </a:r>
            <a:endParaRPr lang="en-US" sz="1700" dirty="0"/>
          </a:p>
        </p:txBody>
      </p:sp>
      <p:sp>
        <p:nvSpPr>
          <p:cNvPr id="29" name="Shape 26"/>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30" name="Text 27"/>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b="1" i="1" dirty="0">
                <a:solidFill>
                  <a:schemeClr val="bg1"/>
                </a:solidFill>
              </a:rPr>
              <a:t>Graag</a:t>
            </a:r>
            <a:r>
              <a:rPr lang="en-US" sz="1700" i="1" dirty="0">
                <a:solidFill>
                  <a:schemeClr val="bg1"/>
                </a:solidFill>
              </a:rPr>
              <a:t> stel ik me even voor</a:t>
            </a:r>
            <a:r>
              <a:rPr lang="en-US" sz="1700" dirty="0">
                <a:solidFill>
                  <a:schemeClr val="bg1"/>
                </a:solidFill>
              </a:rPr>
              <a:t> : inversion (M3) + </a:t>
            </a:r>
            <a:r>
              <a:rPr lang="en-US" sz="1700" i="1" dirty="0">
                <a:solidFill>
                  <a:schemeClr val="bg1"/>
                </a:solidFill>
              </a:rPr>
              <a:t>zich voorstellen</a:t>
            </a:r>
            <a:r>
              <a:rPr lang="en-US" sz="1700" dirty="0">
                <a:solidFill>
                  <a:schemeClr val="bg1"/>
                </a:solidFill>
              </a:rPr>
              <a:t> (M28) · présentation de l’e-mail : M10</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pitch en 5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Wie ben ik?</a:t>
            </a:r>
            <a:endParaRPr lang="en-US" sz="1300" dirty="0"/>
          </a:p>
        </p:txBody>
      </p:sp>
      <p:sp>
        <p:nvSpPr>
          <p:cNvPr id="10" name="Shape 7"/>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1" name="Text 8"/>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Shape 9"/>
          <p:cNvSpPr/>
          <p:nvPr/>
        </p:nvSpPr>
        <p:spPr>
          <a:xfrm>
            <a:off x="2792578"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13" name="Text 10"/>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Wat doe ik?</a:t>
            </a:r>
            <a:endParaRPr lang="en-US" sz="1300" dirty="0"/>
          </a:p>
        </p:txBody>
      </p:sp>
      <p:sp>
        <p:nvSpPr>
          <p:cNvPr id="14" name="Shape 11"/>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5" name="Text 12"/>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Shape 13"/>
          <p:cNvSpPr/>
          <p:nvPr/>
        </p:nvSpPr>
        <p:spPr>
          <a:xfrm>
            <a:off x="5036515" y="2377440"/>
            <a:ext cx="2115922" cy="640080"/>
          </a:xfrm>
          <a:prstGeom prst="roundRect">
            <a:avLst>
              <a:gd name="adj" fmla="val 17143"/>
            </a:avLst>
          </a:prstGeom>
          <a:solidFill>
            <a:schemeClr val="accent4">
              <a:alpha val="10000"/>
            </a:schemeClr>
          </a:solidFill>
          <a:ln w="22225">
            <a:solidFill>
              <a:srgbClr val="B4236A"/>
            </a:solidFill>
            <a:prstDash val="solid"/>
          </a:ln>
        </p:spPr>
      </p:sp>
      <p:sp>
        <p:nvSpPr>
          <p:cNvPr id="17" name="Text 14"/>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4"/>
                </a:solidFill>
              </a:rPr>
              <a:t>Wat heb ik gedaan?</a:t>
            </a:r>
            <a:endParaRPr lang="en-US" sz="1300" dirty="0"/>
          </a:p>
        </p:txBody>
      </p:sp>
      <p:sp>
        <p:nvSpPr>
          <p:cNvPr id="18" name="Shape 15"/>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19" name="Text 16"/>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Shape 17"/>
          <p:cNvSpPr/>
          <p:nvPr/>
        </p:nvSpPr>
        <p:spPr>
          <a:xfrm>
            <a:off x="7280453" y="2377440"/>
            <a:ext cx="2115922" cy="640080"/>
          </a:xfrm>
          <a:prstGeom prst="roundRect">
            <a:avLst>
              <a:gd name="adj" fmla="val 17143"/>
            </a:avLst>
          </a:prstGeom>
          <a:solidFill>
            <a:schemeClr val="accent3">
              <a:alpha val="10000"/>
            </a:schemeClr>
          </a:solidFill>
          <a:ln w="22225">
            <a:solidFill>
              <a:srgbClr val="2E7D4F"/>
            </a:solidFill>
            <a:prstDash val="solid"/>
          </a:ln>
        </p:spPr>
      </p:sp>
      <p:sp>
        <p:nvSpPr>
          <p:cNvPr id="21" name="Text 18"/>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3"/>
                </a:solidFill>
              </a:rPr>
              <a:t>Wat wil ik?</a:t>
            </a:r>
            <a:endParaRPr lang="en-US" sz="1300" dirty="0"/>
          </a:p>
        </p:txBody>
      </p:sp>
      <p:sp>
        <p:nvSpPr>
          <p:cNvPr id="22" name="Shape 19"/>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23" name="Text 20"/>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Shape 21"/>
          <p:cNvSpPr/>
          <p:nvPr/>
        </p:nvSpPr>
        <p:spPr>
          <a:xfrm>
            <a:off x="9524390" y="2377440"/>
            <a:ext cx="2115922" cy="640080"/>
          </a:xfrm>
          <a:prstGeom prst="roundRect">
            <a:avLst>
              <a:gd name="adj" fmla="val 17143"/>
            </a:avLst>
          </a:prstGeom>
          <a:solidFill>
            <a:schemeClr val="accent5">
              <a:alpha val="10000"/>
            </a:schemeClr>
          </a:solidFill>
          <a:ln w="22225">
            <a:solidFill>
              <a:srgbClr val="4A5A70"/>
            </a:solidFill>
            <a:prstDash val="solid"/>
          </a:ln>
        </p:spPr>
      </p:sp>
      <p:sp>
        <p:nvSpPr>
          <p:cNvPr id="25" name="Text 22"/>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5"/>
                </a:solidFill>
              </a:rPr>
              <a:t>En privé?</a:t>
            </a:r>
            <a:endParaRPr lang="en-US" sz="1300" dirty="0"/>
          </a:p>
        </p:txBody>
      </p:sp>
      <p:sp>
        <p:nvSpPr>
          <p:cNvPr id="26" name="Shape 23"/>
          <p:cNvSpPr/>
          <p:nvPr/>
        </p:nvSpPr>
        <p:spPr>
          <a:xfrm>
            <a:off x="548640" y="3246120"/>
            <a:ext cx="11091672" cy="777240"/>
          </a:xfrm>
          <a:prstGeom prst="roundRect">
            <a:avLst>
              <a:gd name="adj" fmla="val 11765"/>
            </a:avLst>
          </a:prstGeom>
          <a:solidFill>
            <a:srgbClr val="FDF1E6"/>
          </a:solidFill>
          <a:ln w="19050">
            <a:solidFill>
              <a:srgbClr val="D9700F"/>
            </a:solidFill>
            <a:prstDash val="solid"/>
          </a:ln>
        </p:spPr>
      </p:sp>
      <p:sp>
        <p:nvSpPr>
          <p:cNvPr id="27" name="Text 24"/>
          <p:cNvSpPr txBox="1"/>
          <p:nvPr/>
        </p:nvSpPr>
        <p:spPr>
          <a:xfrm>
            <a:off x="777240" y="3246120"/>
            <a:ext cx="10698480" cy="777240"/>
          </a:xfrm>
          <a:prstGeom prst="rect">
            <a:avLst/>
          </a:prstGeom>
          <a:noFill/>
          <a:ln/>
        </p:spPr>
        <p:txBody>
          <a:bodyPr wrap="square" lIns="0" tIns="0" rIns="0" bIns="0" rtlCol="0" anchor="ctr"/>
          <a:lstStyle/>
          <a:p>
            <a:pPr algn="ctr" indent="0" marL="0">
              <a:buNone/>
            </a:pPr>
            <a:r>
              <a:rPr lang="en-US" sz="1900" b="1" dirty="0">
                <a:solidFill>
                  <a:schemeClr val="accent1"/>
                </a:solidFill>
              </a:rPr>
              <a:t>bij</a:t>
            </a:r>
            <a:r>
              <a:rPr lang="en-US" sz="1900" dirty="0">
                <a:solidFill>
                  <a:schemeClr val="tx1"/>
                </a:solidFill>
              </a:rPr>
              <a:t> (entreprise) · </a:t>
            </a:r>
            <a:r>
              <a:rPr lang="en-US" sz="1900" b="1" dirty="0">
                <a:solidFill>
                  <a:schemeClr val="accent1"/>
                </a:solidFill>
              </a:rPr>
              <a:t>op</a:t>
            </a:r>
            <a:r>
              <a:rPr lang="en-US" sz="1900" dirty="0">
                <a:solidFill>
                  <a:schemeClr val="tx1"/>
                </a:solidFill>
              </a:rPr>
              <a:t> (service) · </a:t>
            </a:r>
            <a:r>
              <a:rPr lang="en-US" sz="1900" b="1" dirty="0">
                <a:solidFill>
                  <a:schemeClr val="accent1"/>
                </a:solidFill>
              </a:rPr>
              <a:t>als</a:t>
            </a:r>
            <a:r>
              <a:rPr lang="en-US" sz="1900" dirty="0">
                <a:solidFill>
                  <a:schemeClr val="tx1"/>
                </a:solidFill>
              </a:rPr>
              <a:t> (fonction) · </a:t>
            </a:r>
            <a:r>
              <a:rPr lang="en-US" sz="1900" b="1" dirty="0">
                <a:solidFill>
                  <a:schemeClr val="accent1"/>
                </a:solidFill>
              </a:rPr>
              <a:t>in</a:t>
            </a:r>
            <a:r>
              <a:rPr lang="en-US" sz="1900" dirty="0">
                <a:solidFill>
                  <a:schemeClr val="tx1"/>
                </a:solidFill>
              </a:rPr>
              <a:t> (ville, secteur) · </a:t>
            </a:r>
            <a:r>
              <a:rPr lang="en-US" sz="1900" b="1" dirty="0">
                <a:solidFill>
                  <a:schemeClr val="accent1"/>
                </a:solidFill>
              </a:rPr>
              <a:t>voor</a:t>
            </a:r>
            <a:r>
              <a:rPr lang="en-US" sz="1900" dirty="0">
                <a:solidFill>
                  <a:schemeClr val="tx1"/>
                </a:solidFill>
              </a:rPr>
              <a:t> (responsabilité)</a:t>
            </a:r>
            <a:endParaRPr lang="en-US" sz="1900" dirty="0"/>
          </a:p>
        </p:txBody>
      </p:sp>
      <p:sp>
        <p:nvSpPr>
          <p:cNvPr id="28" name="Shape 25"/>
          <p:cNvSpPr/>
          <p:nvPr/>
        </p:nvSpPr>
        <p:spPr>
          <a:xfrm>
            <a:off x="548640" y="4206240"/>
            <a:ext cx="11091672" cy="777240"/>
          </a:xfrm>
          <a:prstGeom prst="roundRect">
            <a:avLst>
              <a:gd name="adj" fmla="val 11765"/>
            </a:avLst>
          </a:prstGeom>
          <a:solidFill>
            <a:srgbClr val="FBEDEB"/>
          </a:solidFill>
          <a:ln w="19050">
            <a:solidFill>
              <a:srgbClr val="B83227"/>
            </a:solidFill>
            <a:prstDash val="solid"/>
          </a:ln>
        </p:spPr>
      </p:sp>
      <p:sp>
        <p:nvSpPr>
          <p:cNvPr id="29" name="Text 26"/>
          <p:cNvSpPr txBox="1"/>
          <p:nvPr/>
        </p:nvSpPr>
        <p:spPr>
          <a:xfrm>
            <a:off x="777240" y="4206240"/>
            <a:ext cx="10698480" cy="777240"/>
          </a:xfrm>
          <a:prstGeom prst="rect">
            <a:avLst/>
          </a:prstGeom>
          <a:noFill/>
          <a:ln/>
        </p:spPr>
        <p:txBody>
          <a:bodyPr wrap="square" lIns="0" tIns="0" rIns="0" bIns="0" rtlCol="0" anchor="ctr"/>
          <a:lstStyle/>
          <a:p>
            <a:pPr algn="ctr" indent="0" marL="0">
              <a:buNone/>
            </a:pPr>
            <a:r>
              <a:rPr lang="en-US" sz="1900" i="1" dirty="0">
                <a:solidFill>
                  <a:schemeClr val="tx1"/>
                </a:solidFill>
              </a:rPr>
              <a:t>Ik </a:t>
            </a:r>
            <a:r>
              <a:rPr lang="en-US" sz="1900" b="1" i="1" dirty="0">
                <a:solidFill>
                  <a:schemeClr val="tx1"/>
                </a:solidFill>
              </a:rPr>
              <a:t>ben</a:t>
            </a:r>
            <a:r>
              <a:rPr lang="en-US" sz="1900" i="1" dirty="0">
                <a:solidFill>
                  <a:schemeClr val="tx1"/>
                </a:solidFill>
              </a:rPr>
              <a:t> 32. · Ik ben boekhouder.</a:t>
            </a:r>
            <a:r>
              <a:rPr lang="en-US" sz="1900" dirty="0">
                <a:solidFill>
                  <a:schemeClr val="tx1"/>
                </a:solidFill>
              </a:rPr>
              <a:t> (sans </a:t>
            </a:r>
            <a:r>
              <a:rPr lang="en-US" sz="1900" i="1" dirty="0">
                <a:solidFill>
                  <a:schemeClr val="tx1"/>
                </a:solidFill>
              </a:rPr>
              <a:t>een</a:t>
            </a:r>
            <a:r>
              <a:rPr lang="en-US" sz="1900" dirty="0">
                <a:solidFill>
                  <a:schemeClr val="tx1"/>
                </a:solidFill>
              </a:rPr>
              <a:t>) · </a:t>
            </a:r>
            <a:r>
              <a:rPr lang="en-US" sz="1900" b="1" i="1" dirty="0">
                <a:solidFill>
                  <a:schemeClr val="tx1"/>
                </a:solidFill>
              </a:rPr>
              <a:t>sinds</a:t>
            </a:r>
            <a:r>
              <a:rPr lang="en-US" sz="1900" i="1" dirty="0">
                <a:solidFill>
                  <a:schemeClr val="tx1"/>
                </a:solidFill>
              </a:rPr>
              <a:t> 2021 · </a:t>
            </a:r>
            <a:r>
              <a:rPr lang="en-US" sz="1900" b="1" i="1" dirty="0">
                <a:solidFill>
                  <a:schemeClr val="tx1"/>
                </a:solidFill>
              </a:rPr>
              <a:t>al</a:t>
            </a:r>
            <a:r>
              <a:rPr lang="en-US" sz="1900" i="1" dirty="0">
                <a:solidFill>
                  <a:schemeClr val="tx1"/>
                </a:solidFill>
              </a:rPr>
              <a:t> vier jaar · vier jaar </a:t>
            </a:r>
            <a:r>
              <a:rPr lang="en-US" sz="1900" b="1" i="1" dirty="0">
                <a:solidFill>
                  <a:schemeClr val="tx1"/>
                </a:solidFill>
              </a:rPr>
              <a:t>geleden</a:t>
            </a:r>
            <a:endParaRPr lang="en-US" sz="1900" dirty="0"/>
          </a:p>
        </p:txBody>
      </p:sp>
      <p:sp>
        <p:nvSpPr>
          <p:cNvPr id="30" name="Shape 27"/>
          <p:cNvSpPr/>
          <p:nvPr/>
        </p:nvSpPr>
        <p:spPr>
          <a:xfrm>
            <a:off x="548640" y="5166360"/>
            <a:ext cx="11091672" cy="777240"/>
          </a:xfrm>
          <a:prstGeom prst="roundRect">
            <a:avLst>
              <a:gd name="adj" fmla="val 11765"/>
            </a:avLst>
          </a:prstGeom>
          <a:solidFill>
            <a:schemeClr val="bg2"/>
          </a:solidFill>
          <a:ln w="12700">
            <a:solidFill>
              <a:srgbClr val="D5DCE6"/>
            </a:solidFill>
            <a:prstDash val="solid"/>
          </a:ln>
        </p:spPr>
      </p:sp>
      <p:sp>
        <p:nvSpPr>
          <p:cNvPr id="31" name="Text 28"/>
          <p:cNvSpPr txBox="1"/>
          <p:nvPr/>
        </p:nvSpPr>
        <p:spPr>
          <a:xfrm>
            <a:off x="777240" y="51663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Collègue : </a:t>
            </a:r>
            <a:r>
              <a:rPr lang="en-US" sz="1900" i="1" dirty="0">
                <a:solidFill>
                  <a:schemeClr val="tx1"/>
                </a:solidFill>
              </a:rPr>
              <a:t>je</a:t>
            </a:r>
            <a:r>
              <a:rPr lang="en-US" sz="1900" dirty="0">
                <a:solidFill>
                  <a:schemeClr val="tx1"/>
                </a:solidFill>
              </a:rPr>
              <a:t> · entretien, client : </a:t>
            </a:r>
            <a:r>
              <a:rPr lang="en-US" sz="1900" i="1" dirty="0">
                <a:solidFill>
                  <a:schemeClr val="tx1"/>
                </a:solidFill>
              </a:rPr>
              <a:t>u</a:t>
            </a:r>
            <a:r>
              <a:rPr lang="en-US" sz="1900" dirty="0">
                <a:solidFill>
                  <a:schemeClr val="tx1"/>
                </a:solidFill>
              </a:rPr>
              <a:t> · formule : </a:t>
            </a:r>
            <a:r>
              <a:rPr lang="en-US" sz="1900" b="1" i="1" dirty="0">
                <a:solidFill>
                  <a:schemeClr val="tx1"/>
                </a:solidFill>
              </a:rPr>
              <a:t>Aangenaam!</a:t>
            </a:r>
            <a:r>
              <a:rPr lang="en-US" sz="1900" dirty="0">
                <a:solidFill>
                  <a:schemeClr val="tx1"/>
                </a:solidFill>
              </a:rPr>
              <a:t> · renvoyez la balle : </a:t>
            </a:r>
            <a:r>
              <a:rPr lang="en-US" sz="1900" i="1" dirty="0">
                <a:solidFill>
                  <a:schemeClr val="tx1"/>
                </a:solidFill>
              </a:rPr>
              <a:t>En jij?</a:t>
            </a:r>
            <a:endParaRPr lang="en-US" sz="1900" dirty="0"/>
          </a:p>
        </p:txBody>
      </p:sp>
      <p:pic>
        <p:nvPicPr>
          <p:cNvPr id="32"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IdCard">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bij, op, als, in, voor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sinds, al ou geleden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SortAmountDow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pitch en désordre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Questi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Retrouvez la question</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Friend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Speed-networking</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Briefcas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L’entretien d’embauche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8" name="Text 4"/>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i="1" dirty="0">
                <a:solidFill>
                  <a:schemeClr val="accent5"/>
                </a:solidFill>
              </a:rPr>
              <a:t>…………</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i="1" dirty="0">
                <a:solidFill>
                  <a:schemeClr val="accent5"/>
                </a:solidFill>
              </a:rPr>
              <a:t>…………</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i="1" dirty="0">
                <a:solidFill>
                  <a:schemeClr val="accent5"/>
                </a:solidFill>
              </a:rPr>
              <a:t>…………</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i="1" dirty="0">
                <a:solidFill>
                  <a:schemeClr val="accent5"/>
                </a:solidFill>
              </a:rPr>
              <a:t>…………</a:t>
            </a:r>
            <a:r>
              <a:rPr lang="en-US" sz="2100" i="1" dirty="0">
                <a:solidFill>
                  <a:schemeClr val="tx1"/>
                </a:solidFill>
              </a:rPr>
              <a:t> Gent.</a:t>
            </a:r>
            <a:endParaRPr lang="en-US" sz="2100" dirty="0"/>
          </a:p>
        </p:txBody>
      </p:sp>
      <p:sp>
        <p:nvSpPr>
          <p:cNvPr id="9" name="Text 5"/>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i="1" dirty="0">
                <a:solidFill>
                  <a:schemeClr val="accent5"/>
                </a:solidFill>
              </a:rPr>
              <a:t>…………</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i="1" dirty="0">
                <a:solidFill>
                  <a:schemeClr val="accent5"/>
                </a:solidFill>
              </a:rPr>
              <a:t>…………</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i="1" dirty="0">
                <a:solidFill>
                  <a:schemeClr val="accent5"/>
                </a:solidFill>
              </a:rPr>
              <a:t>…………</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i="1" dirty="0">
                <a:solidFill>
                  <a:schemeClr val="accent5"/>
                </a:solidFill>
              </a:rPr>
              <a:t>…………</a:t>
            </a:r>
            <a:r>
              <a:rPr lang="en-US" sz="2100" i="1" dirty="0">
                <a:solidFill>
                  <a:schemeClr val="tx1"/>
                </a:solidFill>
              </a:rPr>
              <a:t> coach </a:t>
            </a:r>
            <a:r>
              <a:rPr lang="en-US" sz="2100" i="1" dirty="0">
                <a:solidFill>
                  <a:schemeClr val="accent5"/>
                </a:solidFill>
              </a:rPr>
              <a:t>…………</a:t>
            </a:r>
            <a:r>
              <a:rPr lang="en-US" sz="2100" i="1" dirty="0">
                <a:solidFill>
                  <a:schemeClr val="tx1"/>
                </a:solidFill>
              </a:rPr>
              <a:t> Sportclub Vitaal.</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9" name="Text 5"/>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b="1" i="1" dirty="0">
                <a:solidFill>
                  <a:schemeClr val="accent3"/>
                </a:solidFill>
              </a:rPr>
              <a:t>bij</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b="1" i="1" dirty="0">
                <a:solidFill>
                  <a:schemeClr val="accent3"/>
                </a:solidFill>
              </a:rPr>
              <a:t>op</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b="1" i="1" dirty="0">
                <a:solidFill>
                  <a:schemeClr val="accent3"/>
                </a:solidFill>
              </a:rPr>
              <a:t>als</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b="1" i="1" dirty="0">
                <a:solidFill>
                  <a:schemeClr val="accent3"/>
                </a:solidFill>
              </a:rPr>
              <a:t>in</a:t>
            </a:r>
            <a:r>
              <a:rPr lang="en-US" sz="2100" i="1" dirty="0">
                <a:solidFill>
                  <a:schemeClr val="tx1"/>
                </a:solidFill>
              </a:rPr>
              <a:t> Gent.</a:t>
            </a:r>
            <a:endParaRPr lang="en-US" sz="2100" dirty="0"/>
          </a:p>
        </p:txBody>
      </p:sp>
      <p:sp>
        <p:nvSpPr>
          <p:cNvPr id="10" name="Text 6"/>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b="1" i="1" dirty="0">
                <a:solidFill>
                  <a:schemeClr val="accent3"/>
                </a:solidFill>
              </a:rPr>
              <a:t>voor</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b="1" i="1" dirty="0">
                <a:solidFill>
                  <a:schemeClr val="accent3"/>
                </a:solidFill>
              </a:rPr>
              <a:t>in</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b="1" i="1" dirty="0">
                <a:solidFill>
                  <a:schemeClr val="accent3"/>
                </a:solidFill>
              </a:rPr>
              <a:t>voor</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b="1" i="1" dirty="0">
                <a:solidFill>
                  <a:schemeClr val="accent3"/>
                </a:solidFill>
              </a:rPr>
              <a:t>als</a:t>
            </a:r>
            <a:r>
              <a:rPr lang="en-US" sz="2100" i="1" dirty="0">
                <a:solidFill>
                  <a:schemeClr val="tx1"/>
                </a:solidFill>
              </a:rPr>
              <a:t> coach </a:t>
            </a:r>
            <a:r>
              <a:rPr lang="en-US" sz="2100" b="1" i="1" dirty="0">
                <a:solidFill>
                  <a:schemeClr val="accent3"/>
                </a:solidFill>
              </a:rPr>
              <a:t>bij</a:t>
            </a:r>
            <a:r>
              <a:rPr lang="en-US" sz="2100" i="1" dirty="0">
                <a:solidFill>
                  <a:schemeClr val="tx1"/>
                </a:solidFill>
              </a:rPr>
              <a:t> Sportclub Vitaal.</a:t>
            </a:r>
            <a:endParaRPr lang="en-US" sz="2100" dirty="0"/>
          </a:p>
        </p:txBody>
      </p:sp>
      <p:sp>
        <p:nvSpPr>
          <p:cNvPr id="11" name="Text 7"/>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N° 2 : </a:t>
            </a:r>
            <a:r>
              <a:rPr lang="en-US" sz="1500" i="1" dirty="0">
                <a:solidFill>
                  <a:schemeClr val="accent5"/>
                </a:solidFill>
              </a:rPr>
              <a:t>bij</a:t>
            </a:r>
            <a:r>
              <a:rPr lang="en-US" sz="1500" i="1" dirty="0">
                <a:solidFill>
                  <a:schemeClr val="accent5"/>
                </a:solidFill>
              </a:rPr>
              <a:t> est aussi accepté (</a:t>
            </a:r>
            <a:r>
              <a:rPr lang="en-US" sz="1500" i="1" dirty="0">
                <a:solidFill>
                  <a:schemeClr val="accent5"/>
                </a:solidFill>
              </a:rPr>
              <a:t>bij de afdeling verkoop</a:t>
            </a:r>
            <a:r>
              <a:rPr lang="en-US" sz="1500" i="1" dirty="0">
                <a:solidFill>
                  <a:schemeClr val="accent5"/>
                </a:solidFill>
              </a:rPr>
              <a:t>) · n° 8 : deux trous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8" name="Shape 4"/>
          <p:cNvSpPr/>
          <p:nvPr/>
        </p:nvSpPr>
        <p:spPr>
          <a:xfrm>
            <a:off x="731520" y="2343912"/>
            <a:ext cx="10698480" cy="914"/>
          </a:xfrm>
          <a:prstGeom prst="line">
            <a:avLst/>
          </a:prstGeom>
          <a:noFill/>
          <a:ln w="25400">
            <a:solidFill>
              <a:srgbClr val="4A5A70"/>
            </a:solidFill>
            <a:prstDash val="solid"/>
            <a:tailEnd type="triangle"/>
          </a:ln>
        </p:spPr>
      </p:sp>
      <p:sp>
        <p:nvSpPr>
          <p:cNvPr id="9" name="Shape 5"/>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0" name="Text 6"/>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1" name="Shape 7"/>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2" name="Text 8"/>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3" name="Shape 9"/>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4" name="Text 10"/>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5" name="Text 11"/>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i="1" dirty="0">
                <a:solidFill>
                  <a:schemeClr val="accent5"/>
                </a:solidFill>
              </a:rPr>
              <a:t>…………</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i="1" dirty="0">
                <a:solidFill>
                  <a:schemeClr val="accent5"/>
                </a:solidFill>
              </a:rPr>
              <a:t>…………</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i="1" dirty="0">
                <a:solidFill>
                  <a:schemeClr val="accent5"/>
                </a:solidFill>
              </a:rPr>
              <a:t>…………</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i="1" dirty="0">
                <a:solidFill>
                  <a:schemeClr val="accent5"/>
                </a:solidFill>
              </a:rPr>
              <a:t>…………</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i="1" dirty="0">
                <a:solidFill>
                  <a:schemeClr val="accent5"/>
                </a:solidFill>
              </a:rPr>
              <a:t>…………</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i="1" dirty="0">
                <a:solidFill>
                  <a:schemeClr val="accent5"/>
                </a:solidFill>
              </a:rPr>
              <a:t>…………</a:t>
            </a:r>
            <a:r>
              <a:rPr lang="en-US" sz="2100" i="1" dirty="0">
                <a:solidFill>
                  <a:schemeClr val="tx1"/>
                </a:solidFill>
              </a:rPr>
              <a:t> ben ik van werkgever veranderd.</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9" name="Shape 5"/>
          <p:cNvSpPr/>
          <p:nvPr/>
        </p:nvSpPr>
        <p:spPr>
          <a:xfrm>
            <a:off x="731520" y="2343912"/>
            <a:ext cx="10698480" cy="914"/>
          </a:xfrm>
          <a:prstGeom prst="line">
            <a:avLst/>
          </a:prstGeom>
          <a:noFill/>
          <a:ln w="25400">
            <a:solidFill>
              <a:srgbClr val="4A5A70"/>
            </a:solidFill>
            <a:prstDash val="solid"/>
            <a:tailEnd type="triangle"/>
          </a:ln>
        </p:spPr>
      </p:sp>
      <p:sp>
        <p:nvSpPr>
          <p:cNvPr id="10" name="Shape 6"/>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1" name="Text 7"/>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2" name="Shape 8"/>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3" name="Text 9"/>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4" name="Shape 10"/>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5" name="Text 11"/>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6" name="Text 12"/>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b="1" i="1" dirty="0">
                <a:solidFill>
                  <a:schemeClr val="accent3"/>
                </a:solidFill>
              </a:rPr>
              <a:t>sinds</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b="1" i="1" dirty="0">
                <a:solidFill>
                  <a:schemeClr val="accent3"/>
                </a:solidFill>
              </a:rPr>
              <a:t>al</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b="1" i="1" dirty="0">
                <a:solidFill>
                  <a:schemeClr val="accent3"/>
                </a:solidFill>
              </a:rPr>
              <a:t>geleden</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b="1" i="1" dirty="0">
                <a:solidFill>
                  <a:schemeClr val="accent3"/>
                </a:solidFill>
              </a:rPr>
              <a:t>sinds</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b="1" i="1" dirty="0">
                <a:solidFill>
                  <a:schemeClr val="accent3"/>
                </a:solidFill>
              </a:rPr>
              <a:t>al</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b="1" i="1" dirty="0">
                <a:solidFill>
                  <a:schemeClr val="accent3"/>
                </a:solidFill>
              </a:rPr>
              <a:t>geleden</a:t>
            </a:r>
            <a:r>
              <a:rPr lang="en-US" sz="2100" i="1" dirty="0">
                <a:solidFill>
                  <a:schemeClr val="tx1"/>
                </a:solidFill>
              </a:rPr>
              <a:t> ben ik van werkgever veranderd.</a:t>
            </a:r>
            <a:endParaRPr lang="en-US" sz="2100" dirty="0"/>
          </a:p>
        </p:txBody>
      </p:sp>
      <p:sp>
        <p:nvSpPr>
          <p:cNvPr id="17" name="Text 13"/>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N° 2 et 5 : </a:t>
            </a:r>
            <a:r>
              <a:rPr lang="en-US" sz="1500" i="1" dirty="0">
                <a:solidFill>
                  <a:schemeClr val="accent5"/>
                </a:solidFill>
              </a:rPr>
              <a:t>sinds</a:t>
            </a:r>
            <a:r>
              <a:rPr lang="en-US" sz="1500" i="1" dirty="0">
                <a:solidFill>
                  <a:schemeClr val="accent5"/>
                </a:solidFill>
              </a:rPr>
              <a:t> + durée est aussi accepté, surtout en Belgique (</a:t>
            </a:r>
            <a:r>
              <a:rPr lang="en-US" sz="1500" i="1" dirty="0">
                <a:solidFill>
                  <a:schemeClr val="accent5"/>
                </a:solidFill>
              </a:rPr>
              <a:t>sinds jaren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8" name="Shape 4"/>
          <p:cNvSpPr/>
          <p:nvPr/>
        </p:nvSpPr>
        <p:spPr>
          <a:xfrm rot="-60000">
            <a:off x="548640" y="1987296"/>
            <a:ext cx="11091672" cy="762000"/>
          </a:xfrm>
          <a:prstGeom prst="roundRect">
            <a:avLst>
              <a:gd name="adj" fmla="val 12000"/>
            </a:avLst>
          </a:prstGeom>
          <a:solidFill>
            <a:srgbClr val="FFFFFF"/>
          </a:solidFill>
          <a:ln w="19050">
            <a:solidFill>
              <a:srgbClr val="D9700F"/>
            </a:solidFill>
            <a:prstDash val="solid"/>
          </a:ln>
        </p:spPr>
      </p:sp>
      <p:sp>
        <p:nvSpPr>
          <p:cNvPr id="9" name="Text 5"/>
          <p:cNvSpPr txBox="1"/>
          <p:nvPr/>
        </p:nvSpPr>
        <p:spPr>
          <a:xfrm>
            <a:off x="731520" y="1987296"/>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10" name="Shape 6"/>
          <p:cNvSpPr/>
          <p:nvPr/>
        </p:nvSpPr>
        <p:spPr>
          <a:xfrm rot="60000">
            <a:off x="548640" y="2859024"/>
            <a:ext cx="11091672" cy="762000"/>
          </a:xfrm>
          <a:prstGeom prst="roundRect">
            <a:avLst>
              <a:gd name="adj" fmla="val 12000"/>
            </a:avLst>
          </a:prstGeom>
          <a:solidFill>
            <a:srgbClr val="FFFFFF"/>
          </a:solidFill>
          <a:ln w="19050">
            <a:solidFill>
              <a:srgbClr val="D9700F"/>
            </a:solidFill>
            <a:prstDash val="solid"/>
          </a:ln>
        </p:spPr>
      </p:sp>
      <p:sp>
        <p:nvSpPr>
          <p:cNvPr id="11" name="Text 7"/>
          <p:cNvSpPr txBox="1"/>
          <p:nvPr/>
        </p:nvSpPr>
        <p:spPr>
          <a:xfrm>
            <a:off x="731520" y="2859024"/>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2" name="Shape 8"/>
          <p:cNvSpPr/>
          <p:nvPr/>
        </p:nvSpPr>
        <p:spPr>
          <a:xfrm>
            <a:off x="548640" y="3730752"/>
            <a:ext cx="11091672" cy="762000"/>
          </a:xfrm>
          <a:prstGeom prst="roundRect">
            <a:avLst>
              <a:gd name="adj" fmla="val 12000"/>
            </a:avLst>
          </a:prstGeom>
          <a:solidFill>
            <a:srgbClr val="FFFFFF"/>
          </a:solidFill>
          <a:ln w="19050">
            <a:solidFill>
              <a:srgbClr val="D9700F"/>
            </a:solidFill>
            <a:prstDash val="solid"/>
          </a:ln>
        </p:spPr>
      </p:sp>
      <p:sp>
        <p:nvSpPr>
          <p:cNvPr id="13" name="Text 9"/>
          <p:cNvSpPr txBox="1"/>
          <p:nvPr/>
        </p:nvSpPr>
        <p:spPr>
          <a:xfrm>
            <a:off x="731520" y="3730752"/>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14" name="Shape 10"/>
          <p:cNvSpPr/>
          <p:nvPr/>
        </p:nvSpPr>
        <p:spPr>
          <a:xfrm rot="-60000">
            <a:off x="548640" y="4602480"/>
            <a:ext cx="11091672" cy="762000"/>
          </a:xfrm>
          <a:prstGeom prst="roundRect">
            <a:avLst>
              <a:gd name="adj" fmla="val 12000"/>
            </a:avLst>
          </a:prstGeom>
          <a:solidFill>
            <a:srgbClr val="FFFFFF"/>
          </a:solidFill>
          <a:ln w="19050">
            <a:solidFill>
              <a:srgbClr val="D9700F"/>
            </a:solidFill>
            <a:prstDash val="solid"/>
          </a:ln>
        </p:spPr>
      </p:sp>
      <p:sp>
        <p:nvSpPr>
          <p:cNvPr id="15" name="Text 11"/>
          <p:cNvSpPr txBox="1"/>
          <p:nvPr/>
        </p:nvSpPr>
        <p:spPr>
          <a:xfrm>
            <a:off x="731520" y="4602480"/>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6" name="Shape 12"/>
          <p:cNvSpPr/>
          <p:nvPr/>
        </p:nvSpPr>
        <p:spPr>
          <a:xfrm rot="60000">
            <a:off x="548640" y="5474208"/>
            <a:ext cx="11091672" cy="762000"/>
          </a:xfrm>
          <a:prstGeom prst="roundRect">
            <a:avLst>
              <a:gd name="adj" fmla="val 12000"/>
            </a:avLst>
          </a:prstGeom>
          <a:solidFill>
            <a:srgbClr val="FFFFFF"/>
          </a:solidFill>
          <a:ln w="19050">
            <a:solidFill>
              <a:srgbClr val="D9700F"/>
            </a:solidFill>
            <a:prstDash val="solid"/>
          </a:ln>
        </p:spPr>
      </p:sp>
      <p:sp>
        <p:nvSpPr>
          <p:cNvPr id="17" name="Text 13"/>
          <p:cNvSpPr txBox="1"/>
          <p:nvPr/>
        </p:nvSpPr>
        <p:spPr>
          <a:xfrm>
            <a:off x="731520" y="5474208"/>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9" name="Shape 5"/>
          <p:cNvSpPr/>
          <p:nvPr/>
        </p:nvSpPr>
        <p:spPr>
          <a:xfrm>
            <a:off x="548640" y="2148840"/>
            <a:ext cx="438912" cy="438912"/>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7"/>
          <p:cNvSpPr txBox="1"/>
          <p:nvPr/>
        </p:nvSpPr>
        <p:spPr>
          <a:xfrm>
            <a:off x="1097280" y="1932432"/>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Wie ben ik?</a:t>
            </a:r>
            <a:endParaRPr lang="en-US" sz="1400" dirty="0"/>
          </a:p>
        </p:txBody>
      </p:sp>
      <p:sp>
        <p:nvSpPr>
          <p:cNvPr id="12" name="Shape 8"/>
          <p:cNvSpPr/>
          <p:nvPr/>
        </p:nvSpPr>
        <p:spPr>
          <a:xfrm>
            <a:off x="3429000" y="1987296"/>
            <a:ext cx="8211312" cy="762000"/>
          </a:xfrm>
          <a:prstGeom prst="roundRect">
            <a:avLst>
              <a:gd name="adj" fmla="val 12000"/>
            </a:avLst>
          </a:prstGeom>
          <a:solidFill>
            <a:srgbClr val="EDF6F0"/>
          </a:solidFill>
          <a:ln w="19050">
            <a:solidFill>
              <a:srgbClr val="2E7D4F"/>
            </a:solidFill>
            <a:prstDash val="solid"/>
          </a:ln>
        </p:spPr>
      </p:sp>
      <p:sp>
        <p:nvSpPr>
          <p:cNvPr id="13" name="Text 9"/>
          <p:cNvSpPr txBox="1"/>
          <p:nvPr/>
        </p:nvSpPr>
        <p:spPr>
          <a:xfrm>
            <a:off x="3611880" y="1987296"/>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4" name="Shape 10"/>
          <p:cNvSpPr/>
          <p:nvPr/>
        </p:nvSpPr>
        <p:spPr>
          <a:xfrm>
            <a:off x="548640" y="3020568"/>
            <a:ext cx="438912" cy="438912"/>
          </a:xfrm>
          <a:prstGeom prst="ellipse">
            <a:avLst/>
          </a:prstGeom>
          <a:solidFill>
            <a:schemeClr val="accent2"/>
          </a:solidFill>
          <a:ln w="12700">
            <a:solidFill>
              <a:srgbClr val="FFFFFF">
                <a:alpha val="0"/>
              </a:srgbClr>
            </a:solidFill>
            <a:prstDash val="solid"/>
          </a:ln>
        </p:spPr>
      </p:sp>
      <p:sp>
        <p:nvSpPr>
          <p:cNvPr id="15" name="Text 11"/>
          <p:cNvSpPr txBox="1"/>
          <p:nvPr/>
        </p:nvSpPr>
        <p:spPr>
          <a:xfrm>
            <a:off x="548640" y="302056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1097280" y="2804160"/>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Wat doe ik?</a:t>
            </a:r>
            <a:endParaRPr lang="en-US" sz="1400" dirty="0"/>
          </a:p>
        </p:txBody>
      </p:sp>
      <p:sp>
        <p:nvSpPr>
          <p:cNvPr id="17" name="Shape 13"/>
          <p:cNvSpPr/>
          <p:nvPr/>
        </p:nvSpPr>
        <p:spPr>
          <a:xfrm>
            <a:off x="3429000" y="2859024"/>
            <a:ext cx="8211312" cy="762000"/>
          </a:xfrm>
          <a:prstGeom prst="roundRect">
            <a:avLst>
              <a:gd name="adj" fmla="val 12000"/>
            </a:avLst>
          </a:prstGeom>
          <a:solidFill>
            <a:srgbClr val="EDF6F0"/>
          </a:solidFill>
          <a:ln w="19050">
            <a:solidFill>
              <a:srgbClr val="2E7D4F"/>
            </a:solidFill>
            <a:prstDash val="solid"/>
          </a:ln>
        </p:spPr>
      </p:sp>
      <p:sp>
        <p:nvSpPr>
          <p:cNvPr id="18" name="Text 14"/>
          <p:cNvSpPr txBox="1"/>
          <p:nvPr/>
        </p:nvSpPr>
        <p:spPr>
          <a:xfrm>
            <a:off x="3611880" y="2859024"/>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9" name="Shape 15"/>
          <p:cNvSpPr/>
          <p:nvPr/>
        </p:nvSpPr>
        <p:spPr>
          <a:xfrm>
            <a:off x="548640" y="3892296"/>
            <a:ext cx="438912" cy="438912"/>
          </a:xfrm>
          <a:prstGeom prst="ellipse">
            <a:avLst/>
          </a:prstGeom>
          <a:solidFill>
            <a:schemeClr val="accent4"/>
          </a:solidFill>
          <a:ln w="12700">
            <a:solidFill>
              <a:srgbClr val="FFFFFF">
                <a:alpha val="0"/>
              </a:srgbClr>
            </a:solidFill>
            <a:prstDash val="solid"/>
          </a:ln>
        </p:spPr>
      </p:sp>
      <p:sp>
        <p:nvSpPr>
          <p:cNvPr id="20" name="Text 16"/>
          <p:cNvSpPr txBox="1"/>
          <p:nvPr/>
        </p:nvSpPr>
        <p:spPr>
          <a:xfrm>
            <a:off x="548640" y="389229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7"/>
          <p:cNvSpPr txBox="1"/>
          <p:nvPr/>
        </p:nvSpPr>
        <p:spPr>
          <a:xfrm>
            <a:off x="1097280" y="3675888"/>
            <a:ext cx="2286000" cy="871728"/>
          </a:xfrm>
          <a:prstGeom prst="rect">
            <a:avLst/>
          </a:prstGeom>
          <a:noFill/>
          <a:ln/>
        </p:spPr>
        <p:txBody>
          <a:bodyPr wrap="square" lIns="0" tIns="0" rIns="0" bIns="0" rtlCol="0" anchor="ctr"/>
          <a:lstStyle/>
          <a:p>
            <a:pPr algn="l" indent="0" marL="0">
              <a:buNone/>
            </a:pPr>
            <a:r>
              <a:rPr lang="en-US" sz="1400" b="1" i="1" dirty="0">
                <a:solidFill>
                  <a:schemeClr val="accent4"/>
                </a:solidFill>
              </a:rPr>
              <a:t>Wat heb ik gedaan?</a:t>
            </a:r>
            <a:endParaRPr lang="en-US" sz="1400" dirty="0"/>
          </a:p>
        </p:txBody>
      </p:sp>
      <p:sp>
        <p:nvSpPr>
          <p:cNvPr id="22" name="Shape 18"/>
          <p:cNvSpPr/>
          <p:nvPr/>
        </p:nvSpPr>
        <p:spPr>
          <a:xfrm>
            <a:off x="3429000" y="3730752"/>
            <a:ext cx="8211312" cy="762000"/>
          </a:xfrm>
          <a:prstGeom prst="roundRect">
            <a:avLst>
              <a:gd name="adj" fmla="val 12000"/>
            </a:avLst>
          </a:prstGeom>
          <a:solidFill>
            <a:srgbClr val="EDF6F0"/>
          </a:solidFill>
          <a:ln w="19050">
            <a:solidFill>
              <a:srgbClr val="2E7D4F"/>
            </a:solidFill>
            <a:prstDash val="solid"/>
          </a:ln>
        </p:spPr>
      </p:sp>
      <p:sp>
        <p:nvSpPr>
          <p:cNvPr id="23" name="Text 19"/>
          <p:cNvSpPr txBox="1"/>
          <p:nvPr/>
        </p:nvSpPr>
        <p:spPr>
          <a:xfrm>
            <a:off x="3611880" y="3730752"/>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4" name="Shape 20"/>
          <p:cNvSpPr/>
          <p:nvPr/>
        </p:nvSpPr>
        <p:spPr>
          <a:xfrm>
            <a:off x="548640" y="4764024"/>
            <a:ext cx="438912" cy="438912"/>
          </a:xfrm>
          <a:prstGeom prst="ellipse">
            <a:avLst/>
          </a:prstGeom>
          <a:solidFill>
            <a:schemeClr val="accent3"/>
          </a:solidFill>
          <a:ln w="12700">
            <a:solidFill>
              <a:srgbClr val="FFFFFF">
                <a:alpha val="0"/>
              </a:srgbClr>
            </a:solidFill>
            <a:prstDash val="solid"/>
          </a:ln>
        </p:spPr>
      </p:sp>
      <p:sp>
        <p:nvSpPr>
          <p:cNvPr id="25" name="Text 21"/>
          <p:cNvSpPr txBox="1"/>
          <p:nvPr/>
        </p:nvSpPr>
        <p:spPr>
          <a:xfrm>
            <a:off x="548640" y="476402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2"/>
          <p:cNvSpPr txBox="1"/>
          <p:nvPr/>
        </p:nvSpPr>
        <p:spPr>
          <a:xfrm>
            <a:off x="1097280" y="4547616"/>
            <a:ext cx="2286000" cy="871728"/>
          </a:xfrm>
          <a:prstGeom prst="rect">
            <a:avLst/>
          </a:prstGeom>
          <a:noFill/>
          <a:ln/>
        </p:spPr>
        <p:txBody>
          <a:bodyPr wrap="square" lIns="0" tIns="0" rIns="0" bIns="0" rtlCol="0" anchor="ctr"/>
          <a:lstStyle/>
          <a:p>
            <a:pPr algn="l" indent="0" marL="0">
              <a:buNone/>
            </a:pPr>
            <a:r>
              <a:rPr lang="en-US" sz="1400" b="1" i="1" dirty="0">
                <a:solidFill>
                  <a:schemeClr val="accent3"/>
                </a:solidFill>
              </a:rPr>
              <a:t>Wat wil ik?</a:t>
            </a:r>
            <a:endParaRPr lang="en-US" sz="1400" dirty="0"/>
          </a:p>
        </p:txBody>
      </p:sp>
      <p:sp>
        <p:nvSpPr>
          <p:cNvPr id="27" name="Shape 23"/>
          <p:cNvSpPr/>
          <p:nvPr/>
        </p:nvSpPr>
        <p:spPr>
          <a:xfrm>
            <a:off x="3429000" y="4602480"/>
            <a:ext cx="8211312" cy="762000"/>
          </a:xfrm>
          <a:prstGeom prst="roundRect">
            <a:avLst>
              <a:gd name="adj" fmla="val 12000"/>
            </a:avLst>
          </a:prstGeom>
          <a:solidFill>
            <a:srgbClr val="EDF6F0"/>
          </a:solidFill>
          <a:ln w="19050">
            <a:solidFill>
              <a:srgbClr val="2E7D4F"/>
            </a:solidFill>
            <a:prstDash val="solid"/>
          </a:ln>
        </p:spPr>
      </p:sp>
      <p:sp>
        <p:nvSpPr>
          <p:cNvPr id="28" name="Text 24"/>
          <p:cNvSpPr txBox="1"/>
          <p:nvPr/>
        </p:nvSpPr>
        <p:spPr>
          <a:xfrm>
            <a:off x="3611880" y="4602480"/>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29" name="Shape 25"/>
          <p:cNvSpPr/>
          <p:nvPr/>
        </p:nvSpPr>
        <p:spPr>
          <a:xfrm>
            <a:off x="548640" y="5635752"/>
            <a:ext cx="438912" cy="438912"/>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5635752"/>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097280" y="5419344"/>
            <a:ext cx="2286000" cy="871728"/>
          </a:xfrm>
          <a:prstGeom prst="rect">
            <a:avLst/>
          </a:prstGeom>
          <a:noFill/>
          <a:ln/>
        </p:spPr>
        <p:txBody>
          <a:bodyPr wrap="square" lIns="0" tIns="0" rIns="0" bIns="0" rtlCol="0" anchor="ctr"/>
          <a:lstStyle/>
          <a:p>
            <a:pPr algn="l" indent="0" marL="0">
              <a:buNone/>
            </a:pPr>
            <a:r>
              <a:rPr lang="en-US" sz="1400" b="1" i="1" dirty="0">
                <a:solidFill>
                  <a:schemeClr val="accent5"/>
                </a:solidFill>
              </a:rPr>
              <a:t>En privé?</a:t>
            </a:r>
            <a:endParaRPr lang="en-US" sz="1400" dirty="0"/>
          </a:p>
        </p:txBody>
      </p:sp>
      <p:sp>
        <p:nvSpPr>
          <p:cNvPr id="32" name="Shape 28"/>
          <p:cNvSpPr/>
          <p:nvPr/>
        </p:nvSpPr>
        <p:spPr>
          <a:xfrm>
            <a:off x="3429000" y="5474208"/>
            <a:ext cx="8211312" cy="762000"/>
          </a:xfrm>
          <a:prstGeom prst="roundRect">
            <a:avLst>
              <a:gd name="adj" fmla="val 12000"/>
            </a:avLst>
          </a:prstGeom>
          <a:solidFill>
            <a:srgbClr val="EDF6F0"/>
          </a:solidFill>
          <a:ln w="19050">
            <a:solidFill>
              <a:srgbClr val="2E7D4F"/>
            </a:solidFill>
            <a:prstDash val="solid"/>
          </a:ln>
        </p:spPr>
      </p:sp>
      <p:sp>
        <p:nvSpPr>
          <p:cNvPr id="33" name="Text 29"/>
          <p:cNvSpPr txBox="1"/>
          <p:nvPr/>
        </p:nvSpPr>
        <p:spPr>
          <a:xfrm>
            <a:off x="3611880" y="5474208"/>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dirty="0">
                <a:solidFill>
                  <a:schemeClr val="tx1"/>
                </a:solidFill>
              </a:rPr>
              <a:t>ik heb 24 jaar</a:t>
            </a:r>
            <a:r>
              <a:rPr lang="en-US" sz="1900" i="1" dirty="0">
                <a:solidFill>
                  <a:schemeClr val="tx1"/>
                </a:solidFill>
              </a:rPr>
              <a:t>. Ik ben </a:t>
            </a:r>
            <a:r>
              <a:rPr lang="en-US" sz="1900" i="1" dirty="0">
                <a:solidFill>
                  <a:schemeClr val="tx1"/>
                </a:solidFill>
              </a:rPr>
              <a:t>een stagiaire</a:t>
            </a:r>
            <a:r>
              <a:rPr lang="en-US" sz="1900" i="1" dirty="0">
                <a:solidFill>
                  <a:schemeClr val="tx1"/>
                </a:solidFill>
              </a:rPr>
              <a:t> op de afdeling marketing van Peeters &amp; Co. Ik ben verantwoordelijk </a:t>
            </a:r>
            <a:r>
              <a:rPr lang="en-US" sz="1900" i="1" dirty="0">
                <a:solidFill>
                  <a:schemeClr val="tx1"/>
                </a:solidFill>
              </a:rPr>
              <a:t>van</a:t>
            </a:r>
            <a:r>
              <a:rPr lang="en-US" sz="1900" i="1" dirty="0">
                <a:solidFill>
                  <a:schemeClr val="tx1"/>
                </a:solidFill>
              </a:rPr>
              <a:t> onze sociale media. Twee jaar geleden </a:t>
            </a:r>
            <a:r>
              <a:rPr lang="en-US" sz="1900" i="1" dirty="0">
                <a:solidFill>
                  <a:schemeClr val="tx1"/>
                </a:solidFill>
              </a:rPr>
              <a:t>ik ben</a:t>
            </a:r>
            <a:r>
              <a:rPr lang="en-US" sz="1900" i="1" dirty="0">
                <a:solidFill>
                  <a:schemeClr val="tx1"/>
                </a:solidFill>
              </a:rPr>
              <a:t> afgestudeerd in communicatie. Ik woon </a:t>
            </a:r>
            <a:r>
              <a:rPr lang="en-US" sz="1900" i="1" dirty="0">
                <a:solidFill>
                  <a:schemeClr val="tx1"/>
                </a:solidFill>
              </a:rPr>
              <a:t>op</a:t>
            </a:r>
            <a:r>
              <a:rPr lang="en-US" sz="1900" i="1" dirty="0">
                <a:solidFill>
                  <a:schemeClr val="tx1"/>
                </a:solidFill>
              </a:rPr>
              <a:t> Leuven en ik werk hier al drie maanden. Tot snel!</a:t>
            </a:r>
            <a:endParaRPr lang="en-US" sz="19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strike="sngStrike" dirty="0">
                <a:solidFill>
                  <a:schemeClr val="accent6"/>
                </a:solidFill>
              </a:rPr>
              <a:t>ik heb 24 jaar</a:t>
            </a:r>
            <a:r>
              <a:rPr lang="en-US" sz="1900" b="1" i="1" dirty="0">
                <a:solidFill>
                  <a:schemeClr val="accent3"/>
                </a:solidFill>
              </a:rPr>
              <a:t> ik ben 24</a:t>
            </a:r>
            <a:r>
              <a:rPr lang="en-US" sz="1900" i="1" dirty="0">
                <a:solidFill>
                  <a:schemeClr val="tx1"/>
                </a:solidFill>
              </a:rPr>
              <a:t>. Ik ben </a:t>
            </a:r>
            <a:r>
              <a:rPr lang="en-US" sz="1900" i="1" strike="sngStrike" dirty="0">
                <a:solidFill>
                  <a:schemeClr val="accent6"/>
                </a:solidFill>
              </a:rPr>
              <a:t>een stagiaire</a:t>
            </a:r>
            <a:r>
              <a:rPr lang="en-US" sz="1900" b="1" i="1" dirty="0">
                <a:solidFill>
                  <a:schemeClr val="accent3"/>
                </a:solidFill>
              </a:rPr>
              <a:t> stagiaire</a:t>
            </a:r>
            <a:r>
              <a:rPr lang="en-US" sz="1900" i="1" dirty="0">
                <a:solidFill>
                  <a:schemeClr val="tx1"/>
                </a:solidFill>
              </a:rPr>
              <a:t> op de afdeling marketing van Peeters &amp; Co. Ik ben verantwoordelijk </a:t>
            </a:r>
            <a:r>
              <a:rPr lang="en-US" sz="1900" i="1" strike="sngStrike" dirty="0">
                <a:solidFill>
                  <a:schemeClr val="accent6"/>
                </a:solidFill>
              </a:rPr>
              <a:t>van</a:t>
            </a:r>
            <a:r>
              <a:rPr lang="en-US" sz="1900" b="1" i="1" dirty="0">
                <a:solidFill>
                  <a:schemeClr val="accent3"/>
                </a:solidFill>
              </a:rPr>
              <a:t> voor</a:t>
            </a:r>
            <a:r>
              <a:rPr lang="en-US" sz="1900" i="1" dirty="0">
                <a:solidFill>
                  <a:schemeClr val="tx1"/>
                </a:solidFill>
              </a:rPr>
              <a:t> onze sociale media. Twee jaar geleden </a:t>
            </a:r>
            <a:r>
              <a:rPr lang="en-US" sz="1900" i="1" strike="sngStrike" dirty="0">
                <a:solidFill>
                  <a:schemeClr val="accent6"/>
                </a:solidFill>
              </a:rPr>
              <a:t>ik ben</a:t>
            </a:r>
            <a:r>
              <a:rPr lang="en-US" sz="1900" b="1" i="1" dirty="0">
                <a:solidFill>
                  <a:schemeClr val="accent3"/>
                </a:solidFill>
              </a:rPr>
              <a:t> ben ik</a:t>
            </a:r>
            <a:r>
              <a:rPr lang="en-US" sz="1900" i="1" dirty="0">
                <a:solidFill>
                  <a:schemeClr val="tx1"/>
                </a:solidFill>
              </a:rPr>
              <a:t> afgestudeerd in communicatie. Ik woon </a:t>
            </a:r>
            <a:r>
              <a:rPr lang="en-US" sz="1900" i="1" strike="sngStrike" dirty="0">
                <a:solidFill>
                  <a:schemeClr val="accent6"/>
                </a:solidFill>
              </a:rPr>
              <a:t>op</a:t>
            </a:r>
            <a:r>
              <a:rPr lang="en-US" sz="1900" b="1" i="1" dirty="0">
                <a:solidFill>
                  <a:schemeClr val="accent3"/>
                </a:solidFill>
              </a:rPr>
              <a:t> in</a:t>
            </a:r>
            <a:r>
              <a:rPr lang="en-US" sz="1900" i="1" dirty="0">
                <a:solidFill>
                  <a:schemeClr val="tx1"/>
                </a:solidFill>
              </a:rPr>
              <a:t> Leuven en ik werk hier al drie maanden. Tot snel!</a:t>
            </a:r>
            <a:endParaRPr lang="en-US" sz="19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werk hier al drie maanden</a:t>
            </a:r>
            <a:r>
              <a:rPr lang="en-US" sz="1400" i="1" dirty="0">
                <a:solidFill>
                  <a:schemeClr val="accent5"/>
                </a:solidFill>
              </a:rPr>
              <a:t> est correct. Inversion après un complément de temps (M3) · </a:t>
            </a:r>
            <a:r>
              <a:rPr lang="en-US" sz="1400" i="1" dirty="0">
                <a:solidFill>
                  <a:schemeClr val="accent5"/>
                </a:solidFill>
              </a:rPr>
              <a:t>in</a:t>
            </a:r>
            <a:r>
              <a:rPr lang="en-US" sz="1400" i="1" dirty="0">
                <a:solidFill>
                  <a:schemeClr val="accent5"/>
                </a:solidFill>
              </a:rPr>
              <a:t> + ville (M2).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2" name="Shape 8"/>
          <p:cNvSpPr/>
          <p:nvPr/>
        </p:nvSpPr>
        <p:spPr>
          <a:xfrm flipH="1">
            <a:off x="6035040" y="2295652"/>
            <a:ext cx="411480" cy="914"/>
          </a:xfrm>
          <a:prstGeom prst="line">
            <a:avLst/>
          </a:prstGeom>
          <a:noFill/>
          <a:ln w="31750">
            <a:solidFill>
              <a:srgbClr val="D9700F"/>
            </a:solidFill>
            <a:prstDash val="solid"/>
            <a:tailEnd type="triangle"/>
          </a:ln>
        </p:spPr>
      </p:sp>
      <p:sp>
        <p:nvSpPr>
          <p:cNvPr id="13" name="Shape 9"/>
          <p:cNvSpPr/>
          <p:nvPr/>
        </p:nvSpPr>
        <p:spPr>
          <a:xfrm>
            <a:off x="1005840" y="1978152"/>
            <a:ext cx="4937760" cy="616712"/>
          </a:xfrm>
          <a:prstGeom prst="roundRect">
            <a:avLst>
              <a:gd name="adj" fmla="val 11862"/>
            </a:avLst>
          </a:prstGeom>
          <a:solidFill>
            <a:schemeClr val="bg1"/>
          </a:solidFill>
          <a:ln w="15875">
            <a:solidFill>
              <a:srgbClr val="D5DCE6"/>
            </a:solidFill>
            <a:prstDash val="solid"/>
          </a:ln>
        </p:spPr>
      </p:sp>
      <p:sp>
        <p:nvSpPr>
          <p:cNvPr id="14" name="Text 10"/>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5" name="Shape 11"/>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19" name="Shape 15"/>
          <p:cNvSpPr/>
          <p:nvPr/>
        </p:nvSpPr>
        <p:spPr>
          <a:xfrm flipH="1">
            <a:off x="6035040" y="3022092"/>
            <a:ext cx="411480" cy="914"/>
          </a:xfrm>
          <a:prstGeom prst="line">
            <a:avLst/>
          </a:prstGeom>
          <a:noFill/>
          <a:ln w="31750">
            <a:solidFill>
              <a:srgbClr val="D9700F"/>
            </a:solidFill>
            <a:prstDash val="solid"/>
            <a:tailEnd type="triangle"/>
          </a:ln>
        </p:spPr>
      </p:sp>
      <p:sp>
        <p:nvSpPr>
          <p:cNvPr id="20" name="Shape 16"/>
          <p:cNvSpPr/>
          <p:nvPr/>
        </p:nvSpPr>
        <p:spPr>
          <a:xfrm>
            <a:off x="1005840" y="2704592"/>
            <a:ext cx="4937760" cy="616712"/>
          </a:xfrm>
          <a:prstGeom prst="roundRect">
            <a:avLst>
              <a:gd name="adj" fmla="val 11862"/>
            </a:avLst>
          </a:prstGeom>
          <a:solidFill>
            <a:schemeClr val="bg1"/>
          </a:solidFill>
          <a:ln w="15875">
            <a:solidFill>
              <a:srgbClr val="D5DCE6"/>
            </a:solidFill>
            <a:prstDash val="solid"/>
          </a:ln>
        </p:spPr>
      </p:sp>
      <p:sp>
        <p:nvSpPr>
          <p:cNvPr id="21" name="Text 17"/>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2" name="Shape 18"/>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6" name="Shape 22"/>
          <p:cNvSpPr/>
          <p:nvPr/>
        </p:nvSpPr>
        <p:spPr>
          <a:xfrm flipH="1">
            <a:off x="6035040" y="3748532"/>
            <a:ext cx="411480" cy="914"/>
          </a:xfrm>
          <a:prstGeom prst="line">
            <a:avLst/>
          </a:prstGeom>
          <a:noFill/>
          <a:ln w="31750">
            <a:solidFill>
              <a:srgbClr val="D9700F"/>
            </a:solidFill>
            <a:prstDash val="solid"/>
            <a:tailEnd type="triangle"/>
          </a:ln>
        </p:spPr>
      </p:sp>
      <p:sp>
        <p:nvSpPr>
          <p:cNvPr id="27" name="Shape 23"/>
          <p:cNvSpPr/>
          <p:nvPr/>
        </p:nvSpPr>
        <p:spPr>
          <a:xfrm>
            <a:off x="1005840" y="3431032"/>
            <a:ext cx="4937760" cy="616712"/>
          </a:xfrm>
          <a:prstGeom prst="roundRect">
            <a:avLst>
              <a:gd name="adj" fmla="val 11862"/>
            </a:avLst>
          </a:prstGeom>
          <a:solidFill>
            <a:schemeClr val="bg1"/>
          </a:solidFill>
          <a:ln w="15875">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9" name="Shape 25"/>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3" name="Shape 29"/>
          <p:cNvSpPr/>
          <p:nvPr/>
        </p:nvSpPr>
        <p:spPr>
          <a:xfrm flipH="1">
            <a:off x="6035040" y="4474972"/>
            <a:ext cx="411480" cy="914"/>
          </a:xfrm>
          <a:prstGeom prst="line">
            <a:avLst/>
          </a:prstGeom>
          <a:noFill/>
          <a:ln w="31750">
            <a:solidFill>
              <a:srgbClr val="D9700F"/>
            </a:solidFill>
            <a:prstDash val="solid"/>
            <a:tailEnd type="triangle"/>
          </a:ln>
        </p:spPr>
      </p:sp>
      <p:sp>
        <p:nvSpPr>
          <p:cNvPr id="34" name="Shape 30"/>
          <p:cNvSpPr/>
          <p:nvPr/>
        </p:nvSpPr>
        <p:spPr>
          <a:xfrm>
            <a:off x="1005840" y="4157472"/>
            <a:ext cx="4937760" cy="616712"/>
          </a:xfrm>
          <a:prstGeom prst="roundRect">
            <a:avLst>
              <a:gd name="adj" fmla="val 11862"/>
            </a:avLst>
          </a:prstGeom>
          <a:solidFill>
            <a:schemeClr val="bg1"/>
          </a:solidFill>
          <a:ln w="15875">
            <a:solidFill>
              <a:srgbClr val="D5DCE6"/>
            </a:solidFill>
            <a:prstDash val="solid"/>
          </a:ln>
        </p:spPr>
      </p:sp>
      <p:sp>
        <p:nvSpPr>
          <p:cNvPr id="35" name="Text 31"/>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6" name="Shape 32"/>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0" name="Shape 36"/>
          <p:cNvSpPr/>
          <p:nvPr/>
        </p:nvSpPr>
        <p:spPr>
          <a:xfrm flipH="1">
            <a:off x="6035040" y="5201412"/>
            <a:ext cx="411480" cy="914"/>
          </a:xfrm>
          <a:prstGeom prst="line">
            <a:avLst/>
          </a:prstGeom>
          <a:noFill/>
          <a:ln w="31750">
            <a:solidFill>
              <a:srgbClr val="D9700F"/>
            </a:solidFill>
            <a:prstDash val="solid"/>
            <a:tailEnd type="triangle"/>
          </a:ln>
        </p:spPr>
      </p:sp>
      <p:sp>
        <p:nvSpPr>
          <p:cNvPr id="41" name="Shape 37"/>
          <p:cNvSpPr/>
          <p:nvPr/>
        </p:nvSpPr>
        <p:spPr>
          <a:xfrm>
            <a:off x="1005840" y="4883912"/>
            <a:ext cx="4937760" cy="616712"/>
          </a:xfrm>
          <a:prstGeom prst="roundRect">
            <a:avLst>
              <a:gd name="adj" fmla="val 11862"/>
            </a:avLst>
          </a:prstGeom>
          <a:solidFill>
            <a:schemeClr val="bg1"/>
          </a:solidFill>
          <a:ln w="15875">
            <a:solidFill>
              <a:srgbClr val="D5DCE6"/>
            </a:solidFill>
            <a:prstDash val="solid"/>
          </a:ln>
        </p:spPr>
      </p:sp>
      <p:sp>
        <p:nvSpPr>
          <p:cNvPr id="42" name="Text 38"/>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3" name="Shape 39"/>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7" name="Shape 43"/>
          <p:cNvSpPr/>
          <p:nvPr/>
        </p:nvSpPr>
        <p:spPr>
          <a:xfrm flipH="1">
            <a:off x="6035040" y="5927852"/>
            <a:ext cx="411480" cy="914"/>
          </a:xfrm>
          <a:prstGeom prst="line">
            <a:avLst/>
          </a:prstGeom>
          <a:noFill/>
          <a:ln w="31750">
            <a:solidFill>
              <a:srgbClr val="D9700F"/>
            </a:solidFill>
            <a:prstDash val="solid"/>
            <a:tailEnd type="triangle"/>
          </a:ln>
        </p:spPr>
      </p:sp>
      <p:sp>
        <p:nvSpPr>
          <p:cNvPr id="48" name="Shape 44"/>
          <p:cNvSpPr/>
          <p:nvPr/>
        </p:nvSpPr>
        <p:spPr>
          <a:xfrm>
            <a:off x="1005840" y="5610352"/>
            <a:ext cx="4937760" cy="616712"/>
          </a:xfrm>
          <a:prstGeom prst="roundRect">
            <a:avLst>
              <a:gd name="adj" fmla="val 11862"/>
            </a:avLst>
          </a:prstGeom>
          <a:solidFill>
            <a:schemeClr val="bg1"/>
          </a:solidFill>
          <a:ln w="15875">
            <a:solidFill>
              <a:srgbClr val="D5DCE6"/>
            </a:solidFill>
            <a:prstDash val="solid"/>
          </a:ln>
        </p:spPr>
      </p:sp>
      <p:sp>
        <p:nvSpPr>
          <p:cNvPr id="49" name="Text 45"/>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3" name="Shape 9"/>
          <p:cNvSpPr/>
          <p:nvPr/>
        </p:nvSpPr>
        <p:spPr>
          <a:xfrm flipH="1">
            <a:off x="6035040" y="2295652"/>
            <a:ext cx="411480" cy="914"/>
          </a:xfrm>
          <a:prstGeom prst="line">
            <a:avLst/>
          </a:prstGeom>
          <a:noFill/>
          <a:ln w="31750">
            <a:solidFill>
              <a:srgbClr val="D9700F"/>
            </a:solidFill>
            <a:prstDash val="solid"/>
            <a:tailEnd type="triangle"/>
          </a:ln>
        </p:spPr>
      </p:sp>
      <p:sp>
        <p:nvSpPr>
          <p:cNvPr id="14" name="Shape 10"/>
          <p:cNvSpPr/>
          <p:nvPr/>
        </p:nvSpPr>
        <p:spPr>
          <a:xfrm>
            <a:off x="1005840" y="1978152"/>
            <a:ext cx="4937760"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(precies)?</a:t>
            </a:r>
            <a:endParaRPr lang="en-US" sz="18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20" name="Shape 16"/>
          <p:cNvSpPr/>
          <p:nvPr/>
        </p:nvSpPr>
        <p:spPr>
          <a:xfrm flipH="1">
            <a:off x="6035040" y="3022092"/>
            <a:ext cx="411480" cy="914"/>
          </a:xfrm>
          <a:prstGeom prst="line">
            <a:avLst/>
          </a:prstGeom>
          <a:noFill/>
          <a:ln w="31750">
            <a:solidFill>
              <a:srgbClr val="D9700F"/>
            </a:solidFill>
            <a:prstDash val="solid"/>
            <a:tailEnd type="triangle"/>
          </a:ln>
        </p:spPr>
      </p:sp>
      <p:sp>
        <p:nvSpPr>
          <p:cNvPr id="21" name="Shape 17"/>
          <p:cNvSpPr/>
          <p:nvPr/>
        </p:nvSpPr>
        <p:spPr>
          <a:xfrm>
            <a:off x="1005840" y="2704592"/>
            <a:ext cx="4937760"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welke afdeling werk je?</a:t>
            </a:r>
            <a:endParaRPr lang="en-US" sz="18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7" name="Shape 23"/>
          <p:cNvSpPr/>
          <p:nvPr/>
        </p:nvSpPr>
        <p:spPr>
          <a:xfrm flipH="1">
            <a:off x="6035040" y="3748532"/>
            <a:ext cx="411480" cy="914"/>
          </a:xfrm>
          <a:prstGeom prst="line">
            <a:avLst/>
          </a:prstGeom>
          <a:noFill/>
          <a:ln w="31750">
            <a:solidFill>
              <a:srgbClr val="D9700F"/>
            </a:solidFill>
            <a:prstDash val="solid"/>
            <a:tailEnd type="triangle"/>
          </a:ln>
        </p:spPr>
      </p:sp>
      <p:sp>
        <p:nvSpPr>
          <p:cNvPr id="28" name="Shape 24"/>
          <p:cNvSpPr/>
          <p:nvPr/>
        </p:nvSpPr>
        <p:spPr>
          <a:xfrm>
            <a:off x="1005840" y="3431032"/>
            <a:ext cx="4937760"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Hoelang werk je hier al?</a:t>
            </a:r>
            <a:endParaRPr lang="en-US" sz="18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4" name="Shape 30"/>
          <p:cNvSpPr/>
          <p:nvPr/>
        </p:nvSpPr>
        <p:spPr>
          <a:xfrm flipH="1">
            <a:off x="6035040" y="4474972"/>
            <a:ext cx="411480" cy="914"/>
          </a:xfrm>
          <a:prstGeom prst="line">
            <a:avLst/>
          </a:prstGeom>
          <a:noFill/>
          <a:ln w="31750">
            <a:solidFill>
              <a:srgbClr val="D9700F"/>
            </a:solidFill>
            <a:prstDash val="solid"/>
            <a:tailEnd type="triangle"/>
          </a:ln>
        </p:spPr>
      </p:sp>
      <p:sp>
        <p:nvSpPr>
          <p:cNvPr id="35" name="Shape 31"/>
          <p:cNvSpPr/>
          <p:nvPr/>
        </p:nvSpPr>
        <p:spPr>
          <a:xfrm>
            <a:off x="1005840" y="4157472"/>
            <a:ext cx="4937760"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heb je gestudeerd?</a:t>
            </a:r>
            <a:endParaRPr lang="en-US" sz="18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1" name="Shape 37"/>
          <p:cNvSpPr/>
          <p:nvPr/>
        </p:nvSpPr>
        <p:spPr>
          <a:xfrm flipH="1">
            <a:off x="6035040" y="5201412"/>
            <a:ext cx="411480" cy="914"/>
          </a:xfrm>
          <a:prstGeom prst="line">
            <a:avLst/>
          </a:prstGeom>
          <a:noFill/>
          <a:ln w="31750">
            <a:solidFill>
              <a:srgbClr val="D9700F"/>
            </a:solidFill>
            <a:prstDash val="solid"/>
            <a:tailEnd type="triangle"/>
          </a:ln>
        </p:spPr>
      </p:sp>
      <p:sp>
        <p:nvSpPr>
          <p:cNvPr id="42" name="Shape 38"/>
          <p:cNvSpPr/>
          <p:nvPr/>
        </p:nvSpPr>
        <p:spPr>
          <a:xfrm>
            <a:off x="1005840" y="4883912"/>
            <a:ext cx="4937760"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Waar woon je?</a:t>
            </a:r>
            <a:endParaRPr lang="en-US" sz="18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8" name="Shape 44"/>
          <p:cNvSpPr/>
          <p:nvPr/>
        </p:nvSpPr>
        <p:spPr>
          <a:xfrm flipH="1">
            <a:off x="6035040" y="5927852"/>
            <a:ext cx="411480" cy="914"/>
          </a:xfrm>
          <a:prstGeom prst="line">
            <a:avLst/>
          </a:prstGeom>
          <a:noFill/>
          <a:ln w="31750">
            <a:solidFill>
              <a:srgbClr val="D9700F"/>
            </a:solidFill>
            <a:prstDash val="solid"/>
            <a:tailEnd type="triangle"/>
          </a:ln>
        </p:spPr>
      </p:sp>
      <p:sp>
        <p:nvSpPr>
          <p:cNvPr id="49" name="Shape 45"/>
          <p:cNvSpPr/>
          <p:nvPr/>
        </p:nvSpPr>
        <p:spPr>
          <a:xfrm>
            <a:off x="1005840" y="5610352"/>
            <a:ext cx="4937760"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graag in je vrije tijd?</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Speednetworking</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woman">    </p:cNvPr>
          <p:cNvPicPr>
            <a:picLocks noChangeAspect="1"/>
          </p:cNvPicPr>
          <p:nvPr/>
        </p:nvPicPr>
        <p:blipFill>
          <a:blip r:embed="rId1"/>
          <a:stretch>
            <a:fillRect/>
          </a:stretch>
        </p:blipFill>
        <p:spPr>
          <a:xfrm>
            <a:off x="1143000" y="1600200"/>
            <a:ext cx="640080" cy="640080"/>
          </a:xfrm>
          <a:prstGeom prst="rect">
            <a:avLst/>
          </a:prstGeom>
        </p:spPr>
      </p:pic>
      <p:sp>
        <p:nvSpPr>
          <p:cNvPr id="8" name="Text 4"/>
          <p:cNvSpPr txBox="1"/>
          <p:nvPr/>
        </p:nvSpPr>
        <p:spPr>
          <a:xfrm>
            <a:off x="594360"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Eva Wouters</a:t>
            </a:r>
            <a:endParaRPr lang="en-US" sz="1300" dirty="0"/>
          </a:p>
        </p:txBody>
      </p:sp>
      <p:sp>
        <p:nvSpPr>
          <p:cNvPr id="9" name="Text 5"/>
          <p:cNvSpPr txBox="1"/>
          <p:nvPr/>
        </p:nvSpPr>
        <p:spPr>
          <a:xfrm>
            <a:off x="621792"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projectleider · Maesbouw</a:t>
            </a:r>
            <a:endParaRPr lang="en-US" sz="1100" dirty="0"/>
          </a:p>
          <a:p>
            <a:pPr algn="ctr" indent="0" marL="0">
              <a:spcAft>
                <a:spcPts val="100"/>
              </a:spcAft>
              <a:buNone/>
            </a:pPr>
            <a:r>
              <a:rPr lang="en-US" sz="1100" dirty="0">
                <a:solidFill>
                  <a:schemeClr val="tx1"/>
                </a:solidFill>
              </a:rPr>
              <a:t>Brussel · sinds 2019</a:t>
            </a:r>
            <a:endParaRPr lang="en-US" sz="1100" dirty="0"/>
          </a:p>
          <a:p>
            <a:pPr algn="ctr" indent="0" marL="0">
              <a:spcAft>
                <a:spcPts val="100"/>
              </a:spcAft>
              <a:buNone/>
            </a:pPr>
            <a:r>
              <a:rPr lang="en-US" sz="1100" dirty="0">
                <a:solidFill>
                  <a:schemeClr val="tx1"/>
                </a:solidFill>
              </a:rPr>
              <a:t>♥ zingen</a:t>
            </a:r>
            <a:endParaRPr lang="en-US" sz="1100" dirty="0"/>
          </a:p>
        </p:txBody>
      </p:sp>
      <p:sp>
        <p:nvSpPr>
          <p:cNvPr id="10" name="Shape 6"/>
          <p:cNvSpPr/>
          <p:nvPr/>
        </p:nvSpPr>
        <p:spPr>
          <a:xfrm>
            <a:off x="2487168"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man office worker">    </p:cNvPr>
          <p:cNvPicPr>
            <a:picLocks noChangeAspect="1"/>
          </p:cNvPicPr>
          <p:nvPr/>
        </p:nvPicPr>
        <p:blipFill>
          <a:blip r:embed="rId2"/>
          <a:stretch>
            <a:fillRect/>
          </a:stretch>
        </p:blipFill>
        <p:spPr>
          <a:xfrm>
            <a:off x="3081528" y="1600200"/>
            <a:ext cx="640080" cy="640080"/>
          </a:xfrm>
          <a:prstGeom prst="rect">
            <a:avLst/>
          </a:prstGeom>
        </p:spPr>
      </p:pic>
      <p:sp>
        <p:nvSpPr>
          <p:cNvPr id="12" name="Text 7"/>
          <p:cNvSpPr txBox="1"/>
          <p:nvPr/>
        </p:nvSpPr>
        <p:spPr>
          <a:xfrm>
            <a:off x="2532888"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Tom De Smet</a:t>
            </a:r>
            <a:endParaRPr lang="en-US" sz="1300" dirty="0"/>
          </a:p>
        </p:txBody>
      </p:sp>
      <p:sp>
        <p:nvSpPr>
          <p:cNvPr id="13" name="Text 8"/>
          <p:cNvSpPr txBox="1"/>
          <p:nvPr/>
        </p:nvSpPr>
        <p:spPr>
          <a:xfrm>
            <a:off x="2560320"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verkoper · Koopzo</a:t>
            </a:r>
            <a:endParaRPr lang="en-US" sz="1100" dirty="0"/>
          </a:p>
          <a:p>
            <a:pPr algn="ctr" indent="0" marL="0">
              <a:spcAft>
                <a:spcPts val="100"/>
              </a:spcAft>
              <a:buNone/>
            </a:pPr>
            <a:r>
              <a:rPr lang="en-US" sz="1100" dirty="0">
                <a:solidFill>
                  <a:schemeClr val="tx1"/>
                </a:solidFill>
              </a:rPr>
              <a:t>Leuven · sinds 2022</a:t>
            </a:r>
            <a:endParaRPr lang="en-US" sz="1100" dirty="0"/>
          </a:p>
          <a:p>
            <a:pPr algn="ctr" indent="0" marL="0">
              <a:spcAft>
                <a:spcPts val="100"/>
              </a:spcAft>
              <a:buNone/>
            </a:pPr>
            <a:r>
              <a:rPr lang="en-US" sz="1100" dirty="0">
                <a:solidFill>
                  <a:schemeClr val="tx1"/>
                </a:solidFill>
              </a:rPr>
              <a:t>♥ voetbal</a:t>
            </a:r>
            <a:endParaRPr lang="en-US" sz="1100" dirty="0"/>
          </a:p>
        </p:txBody>
      </p:sp>
      <p:sp>
        <p:nvSpPr>
          <p:cNvPr id="14" name="Shape 9"/>
          <p:cNvSpPr/>
          <p:nvPr/>
        </p:nvSpPr>
        <p:spPr>
          <a:xfrm>
            <a:off x="4425696"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woman office worker">    </p:cNvPr>
          <p:cNvPicPr>
            <a:picLocks noChangeAspect="1"/>
          </p:cNvPicPr>
          <p:nvPr/>
        </p:nvPicPr>
        <p:blipFill>
          <a:blip r:embed="rId3"/>
          <a:stretch>
            <a:fillRect/>
          </a:stretch>
        </p:blipFill>
        <p:spPr>
          <a:xfrm>
            <a:off x="5020056" y="1600200"/>
            <a:ext cx="640080" cy="640080"/>
          </a:xfrm>
          <a:prstGeom prst="rect">
            <a:avLst/>
          </a:prstGeom>
        </p:spPr>
      </p:pic>
      <p:sp>
        <p:nvSpPr>
          <p:cNvPr id="16" name="Text 10"/>
          <p:cNvSpPr txBox="1"/>
          <p:nvPr/>
        </p:nvSpPr>
        <p:spPr>
          <a:xfrm>
            <a:off x="4471416"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Nadia El Amrani</a:t>
            </a:r>
            <a:endParaRPr lang="en-US" sz="1300" dirty="0"/>
          </a:p>
        </p:txBody>
      </p:sp>
      <p:sp>
        <p:nvSpPr>
          <p:cNvPr id="17" name="Text 11"/>
          <p:cNvSpPr txBox="1"/>
          <p:nvPr/>
        </p:nvSpPr>
        <p:spPr>
          <a:xfrm>
            <a:off x="4498848"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coach · Sportclub Vitaal</a:t>
            </a:r>
            <a:endParaRPr lang="en-US" sz="1100" dirty="0"/>
          </a:p>
          <a:p>
            <a:pPr algn="ctr" indent="0" marL="0">
              <a:spcAft>
                <a:spcPts val="100"/>
              </a:spcAft>
              <a:buNone/>
            </a:pPr>
            <a:r>
              <a:rPr lang="en-US" sz="1100" dirty="0">
                <a:solidFill>
                  <a:schemeClr val="tx1"/>
                </a:solidFill>
              </a:rPr>
              <a:t>Gent · sinds 2020</a:t>
            </a:r>
            <a:endParaRPr lang="en-US" sz="1100" dirty="0"/>
          </a:p>
          <a:p>
            <a:pPr algn="ctr" indent="0" marL="0">
              <a:spcAft>
                <a:spcPts val="100"/>
              </a:spcAft>
              <a:buNone/>
            </a:pPr>
            <a:r>
              <a:rPr lang="en-US" sz="1100" dirty="0">
                <a:solidFill>
                  <a:schemeClr val="tx1"/>
                </a:solidFill>
              </a:rPr>
              <a:t>♥ reizen</a:t>
            </a:r>
            <a:endParaRPr lang="en-US" sz="1100" dirty="0"/>
          </a:p>
        </p:txBody>
      </p:sp>
      <p:sp>
        <p:nvSpPr>
          <p:cNvPr id="18" name="Shape 12"/>
          <p:cNvSpPr/>
          <p:nvPr/>
        </p:nvSpPr>
        <p:spPr>
          <a:xfrm>
            <a:off x="6364224"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man technologist">    </p:cNvPr>
          <p:cNvPicPr>
            <a:picLocks noChangeAspect="1"/>
          </p:cNvPicPr>
          <p:nvPr/>
        </p:nvPicPr>
        <p:blipFill>
          <a:blip r:embed="rId4"/>
          <a:stretch>
            <a:fillRect/>
          </a:stretch>
        </p:blipFill>
        <p:spPr>
          <a:xfrm>
            <a:off x="6958584" y="1600200"/>
            <a:ext cx="640080" cy="640080"/>
          </a:xfrm>
          <a:prstGeom prst="rect">
            <a:avLst/>
          </a:prstGeom>
        </p:spPr>
      </p:pic>
      <p:sp>
        <p:nvSpPr>
          <p:cNvPr id="20" name="Text 13"/>
          <p:cNvSpPr txBox="1"/>
          <p:nvPr/>
        </p:nvSpPr>
        <p:spPr>
          <a:xfrm>
            <a:off x="6409944"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Pieter Claes</a:t>
            </a:r>
            <a:endParaRPr lang="en-US" sz="1300" dirty="0"/>
          </a:p>
        </p:txBody>
      </p:sp>
      <p:sp>
        <p:nvSpPr>
          <p:cNvPr id="21" name="Text 14"/>
          <p:cNvSpPr txBox="1"/>
          <p:nvPr/>
        </p:nvSpPr>
        <p:spPr>
          <a:xfrm>
            <a:off x="6437376"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webdesigner (freelance)</a:t>
            </a:r>
            <a:endParaRPr lang="en-US" sz="1100" dirty="0"/>
          </a:p>
          <a:p>
            <a:pPr algn="ctr" indent="0" marL="0">
              <a:spcAft>
                <a:spcPts val="100"/>
              </a:spcAft>
              <a:buNone/>
            </a:pPr>
            <a:r>
              <a:rPr lang="en-US" sz="1100" dirty="0">
                <a:solidFill>
                  <a:schemeClr val="tx1"/>
                </a:solidFill>
              </a:rPr>
              <a:t>Mechelen · sinds 2018</a:t>
            </a:r>
            <a:endParaRPr lang="en-US" sz="1100" dirty="0"/>
          </a:p>
          <a:p>
            <a:pPr algn="ctr" indent="0" marL="0">
              <a:spcAft>
                <a:spcPts val="100"/>
              </a:spcAft>
              <a:buNone/>
            </a:pPr>
            <a:r>
              <a:rPr lang="en-US" sz="1100" dirty="0">
                <a:solidFill>
                  <a:schemeClr val="tx1"/>
                </a:solidFill>
              </a:rPr>
              <a:t>♥ koken</a:t>
            </a:r>
            <a:endParaRPr lang="en-US" sz="1100" dirty="0"/>
          </a:p>
        </p:txBody>
      </p:sp>
      <p:sp>
        <p:nvSpPr>
          <p:cNvPr id="22" name="Shape 15"/>
          <p:cNvSpPr/>
          <p:nvPr/>
        </p:nvSpPr>
        <p:spPr>
          <a:xfrm>
            <a:off x="548640"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woman red hair">    </p:cNvPr>
          <p:cNvPicPr>
            <a:picLocks noChangeAspect="1"/>
          </p:cNvPicPr>
          <p:nvPr/>
        </p:nvPicPr>
        <p:blipFill>
          <a:blip r:embed="rId5"/>
          <a:stretch>
            <a:fillRect/>
          </a:stretch>
        </p:blipFill>
        <p:spPr>
          <a:xfrm>
            <a:off x="1143000" y="3904488"/>
            <a:ext cx="640080" cy="640080"/>
          </a:xfrm>
          <a:prstGeom prst="rect">
            <a:avLst/>
          </a:prstGeom>
        </p:spPr>
      </p:pic>
      <p:sp>
        <p:nvSpPr>
          <p:cNvPr id="24" name="Text 16"/>
          <p:cNvSpPr txBox="1"/>
          <p:nvPr/>
        </p:nvSpPr>
        <p:spPr>
          <a:xfrm>
            <a:off x="594360"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Ines Dubois</a:t>
            </a:r>
            <a:endParaRPr lang="en-US" sz="1300" dirty="0"/>
          </a:p>
        </p:txBody>
      </p:sp>
      <p:sp>
        <p:nvSpPr>
          <p:cNvPr id="25" name="Text 17"/>
          <p:cNvSpPr txBox="1"/>
          <p:nvPr/>
        </p:nvSpPr>
        <p:spPr>
          <a:xfrm>
            <a:off x="621792"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onthaalmedewerkster · Brasserie De Lepel</a:t>
            </a:r>
            <a:endParaRPr lang="en-US" sz="1100" dirty="0"/>
          </a:p>
          <a:p>
            <a:pPr algn="ctr" indent="0" marL="0">
              <a:spcAft>
                <a:spcPts val="100"/>
              </a:spcAft>
              <a:buNone/>
            </a:pPr>
            <a:r>
              <a:rPr lang="en-US" sz="1100" dirty="0">
                <a:solidFill>
                  <a:schemeClr val="tx1"/>
                </a:solidFill>
              </a:rPr>
              <a:t>Namen · sinds 2023</a:t>
            </a:r>
            <a:endParaRPr lang="en-US" sz="1100" dirty="0"/>
          </a:p>
          <a:p>
            <a:pPr algn="ctr" indent="0" marL="0">
              <a:spcAft>
                <a:spcPts val="100"/>
              </a:spcAft>
              <a:buNone/>
            </a:pPr>
            <a:r>
              <a:rPr lang="en-US" sz="1100" dirty="0">
                <a:solidFill>
                  <a:schemeClr val="tx1"/>
                </a:solidFill>
              </a:rPr>
              <a:t>♥ lezen</a:t>
            </a:r>
            <a:endParaRPr lang="en-US" sz="1100" dirty="0"/>
          </a:p>
        </p:txBody>
      </p:sp>
      <p:sp>
        <p:nvSpPr>
          <p:cNvPr id="26" name="Shape 18"/>
          <p:cNvSpPr/>
          <p:nvPr/>
        </p:nvSpPr>
        <p:spPr>
          <a:xfrm>
            <a:off x="2487168"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technologist">    </p:cNvPr>
          <p:cNvPicPr>
            <a:picLocks noChangeAspect="1"/>
          </p:cNvPicPr>
          <p:nvPr/>
        </p:nvPicPr>
        <p:blipFill>
          <a:blip r:embed="rId6"/>
          <a:stretch>
            <a:fillRect/>
          </a:stretch>
        </p:blipFill>
        <p:spPr>
          <a:xfrm>
            <a:off x="3081528" y="3904488"/>
            <a:ext cx="640080" cy="640080"/>
          </a:xfrm>
          <a:prstGeom prst="rect">
            <a:avLst/>
          </a:prstGeom>
        </p:spPr>
      </p:pic>
      <p:sp>
        <p:nvSpPr>
          <p:cNvPr id="28" name="Text 19"/>
          <p:cNvSpPr txBox="1"/>
          <p:nvPr/>
        </p:nvSpPr>
        <p:spPr>
          <a:xfrm>
            <a:off x="2532888"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Jonas Peeters</a:t>
            </a:r>
            <a:endParaRPr lang="en-US" sz="1300" dirty="0"/>
          </a:p>
        </p:txBody>
      </p:sp>
      <p:sp>
        <p:nvSpPr>
          <p:cNvPr id="29" name="Text 20"/>
          <p:cNvSpPr txBox="1"/>
          <p:nvPr/>
        </p:nvSpPr>
        <p:spPr>
          <a:xfrm>
            <a:off x="2560320"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IT’er · Peeters &amp; Co</a:t>
            </a:r>
            <a:endParaRPr lang="en-US" sz="1100" dirty="0"/>
          </a:p>
          <a:p>
            <a:pPr algn="ctr" indent="0" marL="0">
              <a:spcAft>
                <a:spcPts val="100"/>
              </a:spcAft>
              <a:buNone/>
            </a:pPr>
            <a:r>
              <a:rPr lang="en-US" sz="1100" dirty="0">
                <a:solidFill>
                  <a:schemeClr val="tx1"/>
                </a:solidFill>
              </a:rPr>
              <a:t>Antwerpen · sinds 2021</a:t>
            </a:r>
            <a:endParaRPr lang="en-US" sz="1100" dirty="0"/>
          </a:p>
          <a:p>
            <a:pPr algn="ctr" indent="0" marL="0">
              <a:spcAft>
                <a:spcPts val="100"/>
              </a:spcAft>
              <a:buNone/>
            </a:pPr>
            <a:r>
              <a:rPr lang="en-US" sz="1100" dirty="0">
                <a:solidFill>
                  <a:schemeClr val="tx1"/>
                </a:solidFill>
              </a:rPr>
              <a:t>♥ gamen</a:t>
            </a:r>
            <a:endParaRPr lang="en-US" sz="1100" dirty="0"/>
          </a:p>
        </p:txBody>
      </p:sp>
      <p:sp>
        <p:nvSpPr>
          <p:cNvPr id="30" name="Shape 21"/>
          <p:cNvSpPr/>
          <p:nvPr/>
        </p:nvSpPr>
        <p:spPr>
          <a:xfrm>
            <a:off x="4425696"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woman student">    </p:cNvPr>
          <p:cNvPicPr>
            <a:picLocks noChangeAspect="1"/>
          </p:cNvPicPr>
          <p:nvPr/>
        </p:nvPicPr>
        <p:blipFill>
          <a:blip r:embed="rId7"/>
          <a:stretch>
            <a:fillRect/>
          </a:stretch>
        </p:blipFill>
        <p:spPr>
          <a:xfrm>
            <a:off x="5020056" y="3904488"/>
            <a:ext cx="640080" cy="640080"/>
          </a:xfrm>
          <a:prstGeom prst="rect">
            <a:avLst/>
          </a:prstGeom>
        </p:spPr>
      </p:pic>
      <p:sp>
        <p:nvSpPr>
          <p:cNvPr id="32" name="Text 22"/>
          <p:cNvSpPr txBox="1"/>
          <p:nvPr/>
        </p:nvSpPr>
        <p:spPr>
          <a:xfrm>
            <a:off x="4471416"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Sarah Vermeulen</a:t>
            </a:r>
            <a:endParaRPr lang="en-US" sz="1300" dirty="0"/>
          </a:p>
        </p:txBody>
      </p:sp>
      <p:sp>
        <p:nvSpPr>
          <p:cNvPr id="33" name="Text 23"/>
          <p:cNvSpPr txBox="1"/>
          <p:nvPr/>
        </p:nvSpPr>
        <p:spPr>
          <a:xfrm>
            <a:off x="4498848"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boekhoudster · Maesbouw</a:t>
            </a:r>
            <a:endParaRPr lang="en-US" sz="1100" dirty="0"/>
          </a:p>
          <a:p>
            <a:pPr algn="ctr" indent="0" marL="0">
              <a:spcAft>
                <a:spcPts val="100"/>
              </a:spcAft>
              <a:buNone/>
            </a:pPr>
            <a:r>
              <a:rPr lang="en-US" sz="1100" dirty="0">
                <a:solidFill>
                  <a:schemeClr val="tx1"/>
                </a:solidFill>
              </a:rPr>
              <a:t>Brugge · sinds 2017</a:t>
            </a:r>
            <a:endParaRPr lang="en-US" sz="1100" dirty="0"/>
          </a:p>
          <a:p>
            <a:pPr algn="ctr" indent="0" marL="0">
              <a:spcAft>
                <a:spcPts val="100"/>
              </a:spcAft>
              <a:buNone/>
            </a:pPr>
            <a:r>
              <a:rPr lang="en-US" sz="1100" dirty="0">
                <a:solidFill>
                  <a:schemeClr val="tx1"/>
                </a:solidFill>
              </a:rPr>
              <a:t>♥ zwemmen</a:t>
            </a:r>
            <a:endParaRPr lang="en-US" sz="1100" dirty="0"/>
          </a:p>
        </p:txBody>
      </p:sp>
      <p:sp>
        <p:nvSpPr>
          <p:cNvPr id="34" name="Shape 24"/>
          <p:cNvSpPr/>
          <p:nvPr/>
        </p:nvSpPr>
        <p:spPr>
          <a:xfrm>
            <a:off x="6364224"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an">    </p:cNvPr>
          <p:cNvPicPr>
            <a:picLocks noChangeAspect="1"/>
          </p:cNvPicPr>
          <p:nvPr/>
        </p:nvPicPr>
        <p:blipFill>
          <a:blip r:embed="rId8"/>
          <a:stretch>
            <a:fillRect/>
          </a:stretch>
        </p:blipFill>
        <p:spPr>
          <a:xfrm>
            <a:off x="6958584" y="3904488"/>
            <a:ext cx="640080" cy="640080"/>
          </a:xfrm>
          <a:prstGeom prst="rect">
            <a:avLst/>
          </a:prstGeom>
        </p:spPr>
      </p:pic>
      <p:sp>
        <p:nvSpPr>
          <p:cNvPr id="36" name="Text 25"/>
          <p:cNvSpPr txBox="1"/>
          <p:nvPr/>
        </p:nvSpPr>
        <p:spPr>
          <a:xfrm>
            <a:off x="6409944"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Youssef Haddad</a:t>
            </a:r>
            <a:endParaRPr lang="en-US" sz="1300" dirty="0"/>
          </a:p>
        </p:txBody>
      </p:sp>
      <p:sp>
        <p:nvSpPr>
          <p:cNvPr id="37" name="Text 26"/>
          <p:cNvSpPr txBox="1"/>
          <p:nvPr/>
        </p:nvSpPr>
        <p:spPr>
          <a:xfrm>
            <a:off x="6437376"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magazijnier · Koopzo</a:t>
            </a:r>
            <a:endParaRPr lang="en-US" sz="1100" dirty="0"/>
          </a:p>
          <a:p>
            <a:pPr algn="ctr" indent="0" marL="0">
              <a:spcAft>
                <a:spcPts val="100"/>
              </a:spcAft>
              <a:buNone/>
            </a:pPr>
            <a:r>
              <a:rPr lang="en-US" sz="1100" dirty="0">
                <a:solidFill>
                  <a:schemeClr val="tx1"/>
                </a:solidFill>
              </a:rPr>
              <a:t>Mechelen · sinds 2024</a:t>
            </a:r>
            <a:endParaRPr lang="en-US" sz="1100" dirty="0"/>
          </a:p>
          <a:p>
            <a:pPr algn="ctr" indent="0" marL="0">
              <a:spcAft>
                <a:spcPts val="100"/>
              </a:spcAft>
              <a:buNone/>
            </a:pPr>
            <a:r>
              <a:rPr lang="en-US" sz="1100" dirty="0">
                <a:solidFill>
                  <a:schemeClr val="tx1"/>
                </a:solidFill>
              </a:rPr>
              <a:t>♥ fietsen</a:t>
            </a:r>
            <a:endParaRPr lang="en-US" sz="1100" dirty="0"/>
          </a:p>
        </p:txBody>
      </p:sp>
      <p:pic>
        <p:nvPicPr>
          <p:cNvPr id="38" name="Image 8" descr="busts in silhouette">    </p:cNvPr>
          <p:cNvPicPr>
            <a:picLocks noChangeAspect="1"/>
          </p:cNvPicPr>
          <p:nvPr/>
        </p:nvPicPr>
        <p:blipFill>
          <a:blip r:embed="rId9"/>
          <a:stretch>
            <a:fillRect/>
          </a:stretch>
        </p:blipFill>
        <p:spPr>
          <a:xfrm>
            <a:off x="8458200" y="1554480"/>
            <a:ext cx="731520" cy="731520"/>
          </a:xfrm>
          <a:prstGeom prst="rect">
            <a:avLst/>
          </a:prstGeom>
        </p:spPr>
      </p:pic>
      <p:sp>
        <p:nvSpPr>
          <p:cNvPr id="39" name="Text 27"/>
          <p:cNvSpPr txBox="1"/>
          <p:nvPr/>
        </p:nvSpPr>
        <p:spPr>
          <a:xfrm>
            <a:off x="9281160" y="1554480"/>
            <a:ext cx="2377440" cy="731520"/>
          </a:xfrm>
          <a:prstGeom prst="rect">
            <a:avLst/>
          </a:prstGeom>
          <a:noFill/>
          <a:ln/>
        </p:spPr>
        <p:txBody>
          <a:bodyPr wrap="square" lIns="0" tIns="0" rIns="0" bIns="0" rtlCol="0" anchor="ctr"/>
          <a:lstStyle/>
          <a:p>
            <a:pPr algn="l" indent="0" marL="0">
              <a:buNone/>
            </a:pPr>
            <a:r>
              <a:rPr lang="en-US" sz="2800" b="1" dirty="0">
                <a:solidFill>
                  <a:schemeClr val="accent2"/>
                </a:solidFill>
                <a:latin typeface="+mj-lt" pitchFamily="34" charset="0"/>
                <a:ea typeface="+mj-lt" pitchFamily="34" charset="-122"/>
                <a:cs typeface="+mj-lt" pitchFamily="34" charset="-120"/>
              </a:rPr>
              <a:t>Speed!</a:t>
            </a:r>
            <a:endParaRPr lang="en-US" sz="2800" dirty="0"/>
          </a:p>
        </p:txBody>
      </p:sp>
      <p:sp>
        <p:nvSpPr>
          <p:cNvPr id="40" name="Text 28"/>
          <p:cNvSpPr txBox="1"/>
          <p:nvPr/>
        </p:nvSpPr>
        <p:spPr>
          <a:xfrm>
            <a:off x="8458200" y="2423160"/>
            <a:ext cx="31821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 : vous êtes cette personne.</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Présentez-vous en </a:t>
            </a:r>
            <a:r>
              <a:rPr lang="en-US" sz="1500" b="1" dirty="0">
                <a:solidFill>
                  <a:schemeClr val="tx1"/>
                </a:solidFill>
              </a:rPr>
              <a:t>30 secondes</a:t>
            </a:r>
            <a:r>
              <a:rPr lang="en-US" sz="1500" dirty="0">
                <a:solidFill>
                  <a:schemeClr val="tx1"/>
                </a:solidFill>
              </a:rPr>
              <a:t> (les 5 étapes).</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Votre partenaire pose 2 questions. Au signal, on change de partenaire.</a:t>
            </a:r>
            <a:endParaRPr lang="en-US" sz="1500" dirty="0"/>
          </a:p>
          <a:p>
            <a:pPr algn="l" indent="0" marL="0">
              <a:spcAft>
                <a:spcPts val="800"/>
              </a:spcAft>
              <a:buNone/>
            </a:pPr>
            <a:r>
              <a:rPr lang="en-US" sz="1500" dirty="0">
                <a:solidFill>
                  <a:schemeClr val="tx1"/>
                </a:solidFill>
              </a:rPr>
              <a:t>Toutes les entreprises sont fictives.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Het sollicitatiegesprek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Tâche finale : Maesbouw cherche un·e collaborateur·rice administratif·ve. Entretien de 5 minutes, en </a:t>
            </a:r>
            <a:r>
              <a:rPr lang="en-US" sz="1700" i="1" dirty="0">
                <a:solidFill>
                  <a:schemeClr val="tx1"/>
                </a:solidFill>
              </a:rPr>
              <a:t>u</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 — le recruteur</a:t>
            </a:r>
            <a:r>
              <a:rPr lang="en-US" sz="1700" dirty="0">
                <a:solidFill>
                  <a:schemeClr val="tx1"/>
                </a:solidFill>
              </a:rPr>
              <a:t> : accueillez, demandez une présentation, posez 3 questions, concluez.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 — le candidat</a:t>
            </a:r>
            <a:r>
              <a:rPr lang="en-US" sz="1700" dirty="0">
                <a:solidFill>
                  <a:schemeClr val="tx1"/>
                </a:solidFill>
              </a:rPr>
              <a:t> : présentez-vous (les 5 étapes), répondez, posez une question sur le poste.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Vertelt u eens iets over uzelf. · Waarom solliciteert u bij ons? · Wat zijn uw sterke punten? · Ik ben… · Ik heb … gestudeerd. · Daarvoor werkte ik… · Ik werk graag in team. · Ik zou graag… · Hoeveel dagen thuiswerk zijn er?</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822960"/>
          </a:xfrm>
          <a:prstGeom prst="roundRect">
            <a:avLst>
              <a:gd name="adj" fmla="val 4444"/>
            </a:avLst>
          </a:prstGeom>
          <a:solidFill>
            <a:schemeClr val="accent1"/>
          </a:solidFill>
          <a:ln w="12700">
            <a:solidFill>
              <a:srgbClr val="FFFFFF">
                <a:alpha val="0"/>
              </a:srgbClr>
            </a:solidFill>
            <a:prstDash val="solid"/>
          </a:ln>
        </p:spPr>
      </p:sp>
      <p:sp>
        <p:nvSpPr>
          <p:cNvPr id="21" name="Text 18"/>
          <p:cNvSpPr txBox="1"/>
          <p:nvPr/>
        </p:nvSpPr>
        <p:spPr>
          <a:xfrm>
            <a:off x="8257032" y="1481328"/>
            <a:ext cx="3200400" cy="822960"/>
          </a:xfrm>
          <a:prstGeom prst="rect">
            <a:avLst/>
          </a:prstGeom>
          <a:noFill/>
          <a:ln/>
        </p:spPr>
        <p:txBody>
          <a:bodyPr wrap="square" lIns="0" tIns="0" rIns="0" bIns="0" rtlCol="0" anchor="ctr"/>
          <a:lstStyle/>
          <a:p>
            <a:pPr algn="l" indent="0" marL="0">
              <a:buNone/>
            </a:pPr>
            <a:r>
              <a:rPr lang="en-US" sz="1500" b="1" dirty="0">
                <a:solidFill>
                  <a:schemeClr val="bg1"/>
                </a:solidFill>
              </a:rPr>
              <a:t>VACATURE</a:t>
            </a:r>
            <a:endParaRPr lang="en-US" sz="1500" dirty="0"/>
          </a:p>
          <a:p>
            <a:pPr algn="l" indent="0" marL="0">
              <a:buNone/>
            </a:pPr>
            <a:r>
              <a:rPr lang="en-US" sz="1500" dirty="0">
                <a:solidFill>
                  <a:schemeClr val="bg1"/>
                </a:solidFill>
              </a:rPr>
              <a:t>Maesbouw · Brussel</a:t>
            </a:r>
            <a:endParaRPr lang="en-US" sz="1500" dirty="0"/>
          </a:p>
        </p:txBody>
      </p:sp>
      <p:pic>
        <p:nvPicPr>
          <p:cNvPr id="22" name="Image 0" descr="building construction">    </p:cNvPr>
          <p:cNvPicPr>
            <a:picLocks noChangeAspect="1"/>
          </p:cNvPicPr>
          <p:nvPr/>
        </p:nvPicPr>
        <p:blipFill>
          <a:blip r:embed="rId1"/>
          <a:stretch>
            <a:fillRect/>
          </a:stretch>
        </p:blipFill>
        <p:spPr>
          <a:xfrm>
            <a:off x="10863072" y="1591056"/>
            <a:ext cx="594360" cy="594360"/>
          </a:xfrm>
          <a:prstGeom prst="rect">
            <a:avLst/>
          </a:prstGeom>
        </p:spPr>
      </p:pic>
      <p:sp>
        <p:nvSpPr>
          <p:cNvPr id="23" name="Text 19"/>
          <p:cNvSpPr txBox="1"/>
          <p:nvPr/>
        </p:nvSpPr>
        <p:spPr>
          <a:xfrm>
            <a:off x="8257032" y="2441448"/>
            <a:ext cx="3200400" cy="640080"/>
          </a:xfrm>
          <a:prstGeom prst="rect">
            <a:avLst/>
          </a:prstGeom>
          <a:noFill/>
          <a:ln/>
        </p:spPr>
        <p:txBody>
          <a:bodyPr wrap="square" lIns="0" tIns="0" rIns="0" bIns="0" rtlCol="0" anchor="ctr"/>
          <a:lstStyle/>
          <a:p>
            <a:pPr algn="l" indent="0" marL="0">
              <a:buNone/>
            </a:pPr>
            <a:r>
              <a:rPr lang="en-US" sz="1500" b="1" dirty="0">
                <a:solidFill>
                  <a:schemeClr val="tx2"/>
                </a:solidFill>
              </a:rPr>
              <a:t>Administratief medewerker (m/v/x)</a:t>
            </a:r>
            <a:endParaRPr lang="en-US" sz="1500" dirty="0"/>
          </a:p>
        </p:txBody>
      </p:sp>
      <p:pic>
        <p:nvPicPr>
          <p:cNvPr id="24" name="Image 1" descr="Check">    </p:cNvPr>
          <p:cNvPicPr>
            <a:picLocks noChangeAspect="1"/>
          </p:cNvPicPr>
          <p:nvPr/>
        </p:nvPicPr>
        <p:blipFill>
          <a:blip r:embed="rId2"/>
          <a:stretch>
            <a:fillRect/>
          </a:stretch>
        </p:blipFill>
        <p:spPr>
          <a:xfrm>
            <a:off x="8302752" y="3236976"/>
            <a:ext cx="219456" cy="219456"/>
          </a:xfrm>
          <a:prstGeom prst="rect">
            <a:avLst/>
          </a:prstGeom>
        </p:spPr>
      </p:pic>
      <p:sp>
        <p:nvSpPr>
          <p:cNvPr id="25" name="Text 20"/>
          <p:cNvSpPr txBox="1"/>
          <p:nvPr/>
        </p:nvSpPr>
        <p:spPr>
          <a:xfrm>
            <a:off x="8622792" y="314553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voltijds</a:t>
            </a:r>
            <a:endParaRPr lang="en-US" sz="1300" dirty="0"/>
          </a:p>
        </p:txBody>
      </p:sp>
      <p:pic>
        <p:nvPicPr>
          <p:cNvPr id="26" name="Image 2" descr="Check">    </p:cNvPr>
          <p:cNvPicPr>
            <a:picLocks noChangeAspect="1"/>
          </p:cNvPicPr>
          <p:nvPr/>
        </p:nvPicPr>
        <p:blipFill>
          <a:blip r:embed="rId3"/>
          <a:stretch>
            <a:fillRect/>
          </a:stretch>
        </p:blipFill>
        <p:spPr>
          <a:xfrm>
            <a:off x="8302752" y="3639312"/>
            <a:ext cx="219456" cy="219456"/>
          </a:xfrm>
          <a:prstGeom prst="rect">
            <a:avLst/>
          </a:prstGeom>
        </p:spPr>
      </p:pic>
      <p:sp>
        <p:nvSpPr>
          <p:cNvPr id="27" name="Text 21"/>
          <p:cNvSpPr txBox="1"/>
          <p:nvPr/>
        </p:nvSpPr>
        <p:spPr>
          <a:xfrm>
            <a:off x="8622792" y="3547872"/>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contract van onbepaalde duur</a:t>
            </a:r>
            <a:endParaRPr lang="en-US" sz="1300" dirty="0"/>
          </a:p>
        </p:txBody>
      </p:sp>
      <p:pic>
        <p:nvPicPr>
          <p:cNvPr id="28" name="Image 3" descr="Check">    </p:cNvPr>
          <p:cNvPicPr>
            <a:picLocks noChangeAspect="1"/>
          </p:cNvPicPr>
          <p:nvPr/>
        </p:nvPicPr>
        <p:blipFill>
          <a:blip r:embed="rId4"/>
          <a:stretch>
            <a:fillRect/>
          </a:stretch>
        </p:blipFill>
        <p:spPr>
          <a:xfrm>
            <a:off x="8302752" y="4041648"/>
            <a:ext cx="219456" cy="219456"/>
          </a:xfrm>
          <a:prstGeom prst="rect">
            <a:avLst/>
          </a:prstGeom>
        </p:spPr>
      </p:pic>
      <p:sp>
        <p:nvSpPr>
          <p:cNvPr id="29" name="Text 22"/>
          <p:cNvSpPr txBox="1"/>
          <p:nvPr/>
        </p:nvSpPr>
        <p:spPr>
          <a:xfrm>
            <a:off x="8622792" y="3950208"/>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Brussel · 2 dagen thuiswerk</a:t>
            </a:r>
            <a:endParaRPr lang="en-US" sz="1300" dirty="0"/>
          </a:p>
        </p:txBody>
      </p:sp>
      <p:pic>
        <p:nvPicPr>
          <p:cNvPr id="30" name="Image 4" descr="Check">    </p:cNvPr>
          <p:cNvPicPr>
            <a:picLocks noChangeAspect="1"/>
          </p:cNvPicPr>
          <p:nvPr/>
        </p:nvPicPr>
        <p:blipFill>
          <a:blip r:embed="rId5"/>
          <a:stretch>
            <a:fillRect/>
          </a:stretch>
        </p:blipFill>
        <p:spPr>
          <a:xfrm>
            <a:off x="8302752" y="4443984"/>
            <a:ext cx="219456" cy="219456"/>
          </a:xfrm>
          <a:prstGeom prst="rect">
            <a:avLst/>
          </a:prstGeom>
        </p:spPr>
      </p:pic>
      <p:sp>
        <p:nvSpPr>
          <p:cNvPr id="31" name="Text 23"/>
          <p:cNvSpPr txBox="1"/>
          <p:nvPr/>
        </p:nvSpPr>
        <p:spPr>
          <a:xfrm>
            <a:off x="8622792" y="4352544"/>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spreekt Nederlands en Frans.</a:t>
            </a:r>
            <a:endParaRPr lang="en-US" sz="1300" dirty="0"/>
          </a:p>
        </p:txBody>
      </p:sp>
      <p:pic>
        <p:nvPicPr>
          <p:cNvPr id="32" name="Image 5" descr="Check">    </p:cNvPr>
          <p:cNvPicPr>
            <a:picLocks noChangeAspect="1"/>
          </p:cNvPicPr>
          <p:nvPr/>
        </p:nvPicPr>
        <p:blipFill>
          <a:blip r:embed="rId6"/>
          <a:stretch>
            <a:fillRect/>
          </a:stretch>
        </p:blipFill>
        <p:spPr>
          <a:xfrm>
            <a:off x="8302752" y="4846320"/>
            <a:ext cx="219456" cy="219456"/>
          </a:xfrm>
          <a:prstGeom prst="rect">
            <a:avLst/>
          </a:prstGeom>
        </p:spPr>
      </p:pic>
      <p:sp>
        <p:nvSpPr>
          <p:cNvPr id="33" name="Text 24"/>
          <p:cNvSpPr txBox="1"/>
          <p:nvPr/>
        </p:nvSpPr>
        <p:spPr>
          <a:xfrm>
            <a:off x="8622792" y="4754880"/>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werkt graag in team.</a:t>
            </a:r>
            <a:endParaRPr lang="en-US" sz="1300" dirty="0"/>
          </a:p>
        </p:txBody>
      </p:sp>
      <p:pic>
        <p:nvPicPr>
          <p:cNvPr id="34" name="Image 6" descr="Check">    </p:cNvPr>
          <p:cNvPicPr>
            <a:picLocks noChangeAspect="1"/>
          </p:cNvPicPr>
          <p:nvPr/>
        </p:nvPicPr>
        <p:blipFill>
          <a:blip r:embed="rId7"/>
          <a:stretch>
            <a:fillRect/>
          </a:stretch>
        </p:blipFill>
        <p:spPr>
          <a:xfrm>
            <a:off x="8302752" y="5248656"/>
            <a:ext cx="219456" cy="219456"/>
          </a:xfrm>
          <a:prstGeom prst="rect">
            <a:avLst/>
          </a:prstGeom>
        </p:spPr>
      </p:pic>
      <p:sp>
        <p:nvSpPr>
          <p:cNvPr id="35" name="Text 25"/>
          <p:cNvSpPr txBox="1"/>
          <p:nvPr/>
        </p:nvSpPr>
        <p:spPr>
          <a:xfrm>
            <a:off x="8622792" y="515721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maaltijdcheques</a:t>
            </a:r>
            <a:endParaRPr lang="en-US" sz="1300" dirty="0"/>
          </a:p>
        </p:txBody>
      </p:sp>
      <p:sp>
        <p:nvSpPr>
          <p:cNvPr id="36" name="Text 26"/>
          <p:cNvSpPr txBox="1"/>
          <p:nvPr/>
        </p:nvSpPr>
        <p:spPr>
          <a:xfrm>
            <a:off x="8257032" y="5788152"/>
            <a:ext cx="3200400" cy="365760"/>
          </a:xfrm>
          <a:prstGeom prst="rect">
            <a:avLst/>
          </a:prstGeom>
          <a:noFill/>
          <a:ln/>
        </p:spPr>
        <p:txBody>
          <a:bodyPr wrap="square" lIns="0" tIns="0" rIns="0" bIns="0" rtlCol="0" anchor="t"/>
          <a:lstStyle/>
          <a:p>
            <a:pPr algn="ctr" indent="0" marL="0">
              <a:buNone/>
            </a:pPr>
            <a:r>
              <a:rPr lang="en-US" sz="1300" b="1" dirty="0">
                <a:solidFill>
                  <a:schemeClr val="accent1"/>
                </a:solidFill>
              </a:rPr>
              <a:t>Solliciteer vóór 30 juni!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32 ans et je suis comptable.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werk …… Peeters &amp; Co, …… boekhouder.</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travaille ici depuis quatre ans.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Mon parcours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M’adapter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599432"/>
            <a:ext cx="420624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32 MODULES</a:t>
            </a:r>
            <a:endParaRPr lang="en-US" sz="1200" dirty="0"/>
          </a:p>
        </p:txBody>
      </p:sp>
      <p:sp>
        <p:nvSpPr>
          <p:cNvPr id="37" name="Shape 24"/>
          <p:cNvSpPr/>
          <p:nvPr/>
        </p:nvSpPr>
        <p:spPr>
          <a:xfrm>
            <a:off x="6949440" y="4919472"/>
            <a:ext cx="615791" cy="411480"/>
          </a:xfrm>
          <a:prstGeom prst="roundRect">
            <a:avLst>
              <a:gd name="adj" fmla="val 13333"/>
            </a:avLst>
          </a:prstGeom>
          <a:solidFill>
            <a:schemeClr val="accent2"/>
          </a:solidFill>
          <a:ln w="12700">
            <a:solidFill>
              <a:srgbClr val="FFFFFF">
                <a:alpha val="0"/>
              </a:srgbClr>
            </a:solidFill>
            <a:prstDash val="solid"/>
          </a:ln>
        </p:spPr>
      </p:sp>
      <p:sp>
        <p:nvSpPr>
          <p:cNvPr id="38" name="Text 25"/>
          <p:cNvSpPr txBox="1"/>
          <p:nvPr/>
        </p:nvSpPr>
        <p:spPr>
          <a:xfrm>
            <a:off x="6949440"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1–5</a:t>
            </a:r>
            <a:endParaRPr lang="en-US" sz="800" dirty="0"/>
          </a:p>
        </p:txBody>
      </p:sp>
      <p:sp>
        <p:nvSpPr>
          <p:cNvPr id="39" name="Shape 26"/>
          <p:cNvSpPr/>
          <p:nvPr/>
        </p:nvSpPr>
        <p:spPr>
          <a:xfrm>
            <a:off x="7601807" y="4919472"/>
            <a:ext cx="615791" cy="411480"/>
          </a:xfrm>
          <a:prstGeom prst="roundRect">
            <a:avLst>
              <a:gd name="adj" fmla="val 13333"/>
            </a:avLst>
          </a:prstGeom>
          <a:solidFill>
            <a:schemeClr val="accent1"/>
          </a:solidFill>
          <a:ln w="12700">
            <a:solidFill>
              <a:srgbClr val="FFFFFF">
                <a:alpha val="0"/>
              </a:srgbClr>
            </a:solidFill>
            <a:prstDash val="solid"/>
          </a:ln>
        </p:spPr>
      </p:sp>
      <p:sp>
        <p:nvSpPr>
          <p:cNvPr id="40" name="Text 27"/>
          <p:cNvSpPr txBox="1"/>
          <p:nvPr/>
        </p:nvSpPr>
        <p:spPr>
          <a:xfrm>
            <a:off x="7601807"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6–10</a:t>
            </a:r>
            <a:endParaRPr lang="en-US" sz="800" dirty="0"/>
          </a:p>
        </p:txBody>
      </p:sp>
      <p:sp>
        <p:nvSpPr>
          <p:cNvPr id="41" name="Shape 28"/>
          <p:cNvSpPr/>
          <p:nvPr/>
        </p:nvSpPr>
        <p:spPr>
          <a:xfrm>
            <a:off x="8254174" y="4919472"/>
            <a:ext cx="615791" cy="411480"/>
          </a:xfrm>
          <a:prstGeom prst="roundRect">
            <a:avLst>
              <a:gd name="adj" fmla="val 13333"/>
            </a:avLst>
          </a:prstGeom>
          <a:solidFill>
            <a:schemeClr val="accent3"/>
          </a:solidFill>
          <a:ln w="12700">
            <a:solidFill>
              <a:srgbClr val="FFFFFF">
                <a:alpha val="0"/>
              </a:srgbClr>
            </a:solidFill>
            <a:prstDash val="solid"/>
          </a:ln>
        </p:spPr>
      </p:sp>
      <p:sp>
        <p:nvSpPr>
          <p:cNvPr id="42" name="Text 29"/>
          <p:cNvSpPr txBox="1"/>
          <p:nvPr/>
        </p:nvSpPr>
        <p:spPr>
          <a:xfrm>
            <a:off x="8254174"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11–15</a:t>
            </a:r>
            <a:endParaRPr lang="en-US" sz="800" dirty="0"/>
          </a:p>
        </p:txBody>
      </p:sp>
      <p:sp>
        <p:nvSpPr>
          <p:cNvPr id="43" name="Shape 30"/>
          <p:cNvSpPr/>
          <p:nvPr/>
        </p:nvSpPr>
        <p:spPr>
          <a:xfrm>
            <a:off x="8906542" y="4919472"/>
            <a:ext cx="492633" cy="411480"/>
          </a:xfrm>
          <a:prstGeom prst="roundRect">
            <a:avLst>
              <a:gd name="adj" fmla="val 13333"/>
            </a:avLst>
          </a:prstGeom>
          <a:solidFill>
            <a:srgbClr val="6E4A9E"/>
          </a:solidFill>
          <a:ln w="12700">
            <a:solidFill>
              <a:srgbClr val="FFFFFF">
                <a:alpha val="0"/>
              </a:srgbClr>
            </a:solidFill>
            <a:prstDash val="solid"/>
          </a:ln>
        </p:spPr>
      </p:sp>
      <p:sp>
        <p:nvSpPr>
          <p:cNvPr id="44" name="Text 31"/>
          <p:cNvSpPr txBox="1"/>
          <p:nvPr/>
        </p:nvSpPr>
        <p:spPr>
          <a:xfrm>
            <a:off x="8906542" y="4919472"/>
            <a:ext cx="492633" cy="411480"/>
          </a:xfrm>
          <a:prstGeom prst="rect">
            <a:avLst/>
          </a:prstGeom>
          <a:noFill/>
          <a:ln/>
        </p:spPr>
        <p:txBody>
          <a:bodyPr wrap="square" lIns="0" tIns="0" rIns="0" bIns="0" rtlCol="0" anchor="ctr"/>
          <a:lstStyle/>
          <a:p>
            <a:pPr algn="ctr" indent="0" marL="0">
              <a:buNone/>
            </a:pPr>
            <a:r>
              <a:rPr lang="en-US" sz="800" b="1" dirty="0">
                <a:solidFill>
                  <a:schemeClr val="bg1"/>
                </a:solidFill>
              </a:rPr>
              <a:t>16–19</a:t>
            </a:r>
            <a:endParaRPr lang="en-US" sz="800" dirty="0"/>
          </a:p>
        </p:txBody>
      </p:sp>
      <p:sp>
        <p:nvSpPr>
          <p:cNvPr id="45" name="Shape 32"/>
          <p:cNvSpPr/>
          <p:nvPr/>
        </p:nvSpPr>
        <p:spPr>
          <a:xfrm>
            <a:off x="9435751" y="4919472"/>
            <a:ext cx="615791" cy="411480"/>
          </a:xfrm>
          <a:prstGeom prst="roundRect">
            <a:avLst>
              <a:gd name="adj" fmla="val 13333"/>
            </a:avLst>
          </a:prstGeom>
          <a:solidFill>
            <a:schemeClr val="accent4"/>
          </a:solidFill>
          <a:ln w="12700">
            <a:solidFill>
              <a:srgbClr val="FFFFFF">
                <a:alpha val="0"/>
              </a:srgbClr>
            </a:solidFill>
            <a:prstDash val="solid"/>
          </a:ln>
        </p:spPr>
      </p:sp>
      <p:sp>
        <p:nvSpPr>
          <p:cNvPr id="46" name="Text 33"/>
          <p:cNvSpPr txBox="1"/>
          <p:nvPr/>
        </p:nvSpPr>
        <p:spPr>
          <a:xfrm>
            <a:off x="9435751"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20–24</a:t>
            </a:r>
            <a:endParaRPr lang="en-US" sz="800" dirty="0"/>
          </a:p>
        </p:txBody>
      </p:sp>
      <p:sp>
        <p:nvSpPr>
          <p:cNvPr id="47" name="Shape 34"/>
          <p:cNvSpPr/>
          <p:nvPr/>
        </p:nvSpPr>
        <p:spPr>
          <a:xfrm>
            <a:off x="10088118" y="4919472"/>
            <a:ext cx="615791" cy="411480"/>
          </a:xfrm>
          <a:prstGeom prst="roundRect">
            <a:avLst>
              <a:gd name="adj" fmla="val 13333"/>
            </a:avLst>
          </a:prstGeom>
          <a:solidFill>
            <a:schemeClr val="tx2"/>
          </a:solidFill>
          <a:ln w="12700">
            <a:solidFill>
              <a:srgbClr val="FFFFFF">
                <a:alpha val="0"/>
              </a:srgbClr>
            </a:solidFill>
            <a:prstDash val="solid"/>
          </a:ln>
        </p:spPr>
      </p:sp>
      <p:sp>
        <p:nvSpPr>
          <p:cNvPr id="48" name="Text 35"/>
          <p:cNvSpPr txBox="1"/>
          <p:nvPr/>
        </p:nvSpPr>
        <p:spPr>
          <a:xfrm>
            <a:off x="10088118"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25–29</a:t>
            </a:r>
            <a:endParaRPr lang="en-US" sz="800" dirty="0"/>
          </a:p>
        </p:txBody>
      </p:sp>
      <p:sp>
        <p:nvSpPr>
          <p:cNvPr id="49" name="Shape 36"/>
          <p:cNvSpPr/>
          <p:nvPr/>
        </p:nvSpPr>
        <p:spPr>
          <a:xfrm>
            <a:off x="10740485" y="4919472"/>
            <a:ext cx="369475" cy="411480"/>
          </a:xfrm>
          <a:prstGeom prst="roundRect">
            <a:avLst>
              <a:gd name="adj" fmla="val 14849"/>
            </a:avLst>
          </a:prstGeom>
          <a:solidFill>
            <a:schemeClr val="accent6"/>
          </a:solidFill>
          <a:ln w="12700">
            <a:solidFill>
              <a:srgbClr val="FFFFFF">
                <a:alpha val="0"/>
              </a:srgbClr>
            </a:solidFill>
            <a:prstDash val="solid"/>
          </a:ln>
        </p:spPr>
      </p:sp>
      <p:sp>
        <p:nvSpPr>
          <p:cNvPr id="50" name="Text 37"/>
          <p:cNvSpPr txBox="1"/>
          <p:nvPr/>
        </p:nvSpPr>
        <p:spPr>
          <a:xfrm>
            <a:off x="10740485" y="4919472"/>
            <a:ext cx="369475" cy="411480"/>
          </a:xfrm>
          <a:prstGeom prst="rect">
            <a:avLst/>
          </a:prstGeom>
          <a:noFill/>
          <a:ln/>
        </p:spPr>
        <p:txBody>
          <a:bodyPr wrap="square" lIns="0" tIns="0" rIns="0" bIns="0" rtlCol="0" anchor="ctr"/>
          <a:lstStyle/>
          <a:p>
            <a:pPr algn="ctr" indent="0" marL="0">
              <a:buNone/>
            </a:pPr>
            <a:r>
              <a:rPr lang="en-US" sz="800" b="1" dirty="0">
                <a:solidFill>
                  <a:schemeClr val="bg1"/>
                </a:solidFill>
              </a:rPr>
              <a:t>30–32</a:t>
            </a:r>
            <a:endParaRPr lang="en-US" sz="800" dirty="0"/>
          </a:p>
        </p:txBody>
      </p:sp>
      <p:pic>
        <p:nvPicPr>
          <p:cNvPr id="51" name="Image 10" descr="trophy">    </p:cNvPr>
          <p:cNvPicPr>
            <a:picLocks noChangeAspect="1"/>
          </p:cNvPicPr>
          <p:nvPr/>
        </p:nvPicPr>
        <p:blipFill>
          <a:blip r:embed="rId11"/>
          <a:stretch>
            <a:fillRect/>
          </a:stretch>
        </p:blipFill>
        <p:spPr>
          <a:xfrm>
            <a:off x="11201400" y="4846320"/>
            <a:ext cx="502920" cy="502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32 — Even voorstellen — Se présenter au travail</dc:title>
  <dc:subject>Néerlandais 1 — Langue en situation, en milieu professionnel</dc:subject>
  <dc:creator>A. Jouniaux</dc:creator>
  <cp:lastModifiedBy>A. Jouniaux</cp:lastModifiedBy>
  <cp:revision>1</cp:revision>
  <dcterms:created xsi:type="dcterms:W3CDTF">2026-10-06T08:28:21Z</dcterms:created>
  <dcterms:modified xsi:type="dcterms:W3CDTF">2026-10-06T08:28:21Z</dcterms:modified>
</cp:coreProperties>
</file>