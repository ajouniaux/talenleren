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c50b942-b4a7-259e-e270-44b0e52af863}">
          <p14:sldIdLst>
            <p14:sldId id="256"/>
          </p14:sldIdLst>
        </p14:section>
        <p14:section name="Découvrir" id="{06047f7f-b90f-e9d9-5c54-6a17586e1d45}">
          <p14:sldIdLst>
            <p14:sldId id="257"/>
            <p14:sldId id="258"/>
          </p14:sldIdLst>
        </p14:section>
        <p14:section name="Comprendre" id="{8d278325-bfd4-ea25-4b74-049b413e8da4}">
          <p14:sldIdLst>
            <p14:sldId id="259"/>
            <p14:sldId id="260"/>
            <p14:sldId id="261"/>
            <p14:sldId id="262"/>
            <p14:sldId id="263"/>
            <p14:sldId id="264"/>
            <p14:sldId id="265"/>
            <p14:sldId id="266"/>
            <p14:sldId id="267"/>
            <p14:sldId id="268"/>
            <p14:sldId id="269"/>
            <p14:sldId id="270"/>
          </p14:sldIdLst>
        </p14:section>
        <p14:section name="JIJ NU ! — Oefeningen" id="{a4fac1f1-d0ca-245c-c235-40acfa7e864c}">
          <p14:sldIdLst>
            <p14:sldId id="271"/>
            <p14:sldId id="272"/>
            <p14:sldId id="273"/>
            <p14:sldId id="274"/>
            <p14:sldId id="275"/>
            <p14:sldId id="276"/>
            <p14:sldId id="277"/>
            <p14:sldId id="278"/>
            <p14:sldId id="279"/>
            <p14:sldId id="280"/>
            <p14:sldId id="281"/>
            <p14:sldId id="282"/>
            <p14:sldId id="283"/>
          </p14:sldIdLst>
        </p14:section>
        <p14:section name="Clôture" id="{c3110e2c-fa6a-109e-810c-40a8ed34b352}">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tâche finale du parcours : se présenter de façon professionnelle.
Rappelez le M2 : « Au début du parcours, vous saviez dire votre nom et votre ville. Aujourd'hui, vous allez présenter votre parcours, votre travail et vos projets.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C'est le module de synthèse du parcours : chaque diapo renvoie à un module précédent. Annoncez la tâche finale (ex. 7) : un entretien d'embauche en néerlandais.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Activer ce que les apprenants savent déjà et prendre conscience des situations.
Faites essayer en binôme, sans correction, puis relevez les phrases au tableau. Elles serviront de « avant » à la diapo 4. Réponses attendues : je à la machine à café, u en entretien et avec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Montrer le chemin parcouru : de phrases isolées à une présentation reliée.
Faites repérer ce qui a changé : les mots de liaison (en, maar, want, M9), le passé (werkte, M19), les repères de temps (sinds, daarvoor). Un bon pitch dure entre 30 secondes et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une structure simple et mémorisable.
Ce schéma est la colonne vertébrale du module et de la tâche finale. L'ordre peut varier, mais ① et ② viennent toujours en premier. En entretien, l'étape ⑤ est très courte.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Dire où et comment on travaille, avec la bonne préposition.
Le français dit « chez Peeters », « comme comptable », « responsable de » : trois pièges en une phrase. Faites compléter la carte par chaque apprenant avec sa propre situation (ou une situation imaginaire).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Décrire ses tâches avec des formules variées.
zich bezighouden met = s'occuper de : verbe réfléchi (M28) et à particule (M11). instaan voor = être en charge de (très belge). Varier les formules rend la présentation plus naturelle.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Raconter son parcours avec les bons temps.
afstuderen (terminer ses études) prend zijn : Ik ben afgestudeerd. Pour une période passée, les deux temps sont possibles (Ik heb vijf jaar bij Maesbouw gewerkt) ; l'imperfectum est plus naturel quand on raconte.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Éviter les calques les plus fréquents dans une présentation.
sinds + un point de départ (une date, un mois) ; al + une durée. sinds + une durée est aussi correct, surtout en Belgique (sinds vier jaar, sinds jaren, sinds lang) ; al vier jaar est la forme la plus courante. Comme en français, « depuis » se construit avec le présent.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Parler de l'avenir : projets sûrs, envies, rêves.
En entretien, Ik zou graag… est la formule la plus polie pour exprimer un souhait. Faites formuler un projet réel ou imaginaire à chaque apprenant.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Parler de soi sans entrer dans l'intime, avec les codes belges du travail.
Au travail en Belgique, on parle volontiers de ses loisirs, de ses vacances et brièvement de sa famille. Personne n'est obligé de parler de sa vie privée : Ik sport graag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Adapter la présentation et les formules à la situation.
Aangenaam (enchanté·e) est très courant en Belgique, en se serrant la main. Autres formules : Prettig kennis te maken. · Leuk je te leren kennen. (Leuk je te ontmoeten est un calque de l'anglais.) Rappel M8 : on garde le même registre dans toute la conversation, jusqu'à ce que l'autre propose 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vivre la conversation : questions à l'autre et réactions.
Une présentation est un échange : après son pitch, on renvoie la balle (En jij?). Hoelang werk je hier al? → Al drie jaar. (diapo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Rédiger un court e-mail de présentation à un client (lien M10).
Graag stel ik me even voor : graag en tête, donc inversion (M3), et zich voorstellen (M28). Hebt u et Heeft u sont tous deux corrects. Présentation de l'e-mail : M10.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Ce récapitulatif est la référence pour tous les exercices et la tâche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 L'exercice 7 est la tâche finale du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 préposition de la carte de visite.
Faites justifier avec la carte de visite (diapo 6). N° 8 : deux trous.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la préposition de la carte de visite.
Faites justifier avec la carte de visite (diapo 6). N° 8 : deux trous.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Situer dans le temps sans calque du français.
sinds + point de départ ; al + durée (avec le présent) ; geleden + durée (avec le passé), placé après la durée.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Situer dans le temps sans calque du français.
sinds + point de départ ; al + durée (avec le présent) ; geleden + durée (avec le passé), placé après la durée.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5 étapes du pitch.
Faites justifier par le temps du verbe : présent (B, D), passé (E), futur ou souhait (C), loisirs (A). het interimkantoor (Belgique) = l'agence d'intérim.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Reconnaître les 5 étapes du pitch.
Faites justifier par le temps du verbe : présent (B, D), passé (E), futur ou souhait (C), loisirs (A). het interimkantoor (Belgique) = l'agence d'intérim.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typiques dans une présentation écrite.
Leurre : Ik werk hier al drie maanden est correct (al + durée). N° 4 : après un complément de temps en tête, inversion (M3). N° 5 : in + ville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typiques dans une présentation écrite.
Leurre : Ik werk hier al drie maanden est correct (al + durée). N° 4 : après un complément de temps en tête, inversion (M3). N° 5 : in + ville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Formuler les questions d'une conversation de présentation.
Acceptez les formes avec u (Wat doet u?). N° 1 : aussi Wat is je functie?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Formuler les questions d'une conversation de présentation.
Acceptez les formes avec u (Wat doet u?). N° 1 : aussi Wat is je functie?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Se présenter vite et poser des questions, en changeant souvent de partenaire.
Toutes les entreprises sont fictives. Disposez la classe en deux rangées face à face ; une rangée se décale d'une place toutes les 2 minutes. de magazijnier (Belgique) = le magasinier.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Tâche finale du parcours : un entretien d'embauche en néerlandais.
Tâche finale : évaluez avec la grille des 5 étapes (structure), les temps (passé, présent, futur), le registre (u) et la fluidité. m/v/x = homme / femme / non-binaire. Synthèse : M8 (registre), M15 et M19 (passé), M27 (graag), M29 (zou), M30 (voltijds,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et clore le parcours Néerlandais 1.
Réponses :
1. Ik ben 32 (jaar) en ik ben boekhouder.
2. bij · als
3. Ik werk hier al vier jaar.
Bilan : faites relire la frise des 32 modules et choisir un module à retravailler. En Néerlandais 2 : om … te, les autres conjonctions, hoeven te, le passif, le conditionnel passé.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32 · Even voorstellen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32 · Even voorstellen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2.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2.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slideLayout" Target="../slideLayouts/slideLayout2.xml"/><Relationship Id="rId1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12811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32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Even voorstellen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Se présenter au travail</a:t>
            </a:r>
            <a:endParaRPr lang="en-US" sz="2000" dirty="0"/>
          </a:p>
          <a:p>
            <a:pPr algn="l" indent="0" marL="0">
              <a:buNone/>
            </a:pPr>
            <a:r>
              <a:rPr lang="en-US" sz="2000" b="1" dirty="0">
                <a:solidFill>
                  <a:srgbClr val="FFFFFF"/>
                </a:solidFill>
              </a:rPr>
              <a:t>Ik ben Karim Benali, boekhouder bij Peeters &amp; Co.</a:t>
            </a:r>
            <a:endParaRPr lang="en-US" sz="2000" dirty="0"/>
          </a:p>
        </p:txBody>
      </p:sp>
      <p:sp>
        <p:nvSpPr>
          <p:cNvPr id="5" name="Shape 3"/>
          <p:cNvSpPr/>
          <p:nvPr/>
        </p:nvSpPr>
        <p:spPr>
          <a:xfrm>
            <a:off x="7406640" y="502920"/>
            <a:ext cx="109728" cy="640080"/>
          </a:xfrm>
          <a:prstGeom prst="rect">
            <a:avLst/>
          </a:prstGeom>
          <a:solidFill>
            <a:schemeClr val="accent1"/>
          </a:solidFill>
          <a:ln w="12700">
            <a:solidFill>
              <a:srgbClr val="FFFFFF">
                <a:alpha val="0"/>
              </a:srgbClr>
            </a:solidFill>
            <a:prstDash val="solid"/>
          </a:ln>
        </p:spPr>
      </p:sp>
      <p:sp>
        <p:nvSpPr>
          <p:cNvPr id="6" name="Shape 4"/>
          <p:cNvSpPr/>
          <p:nvPr/>
        </p:nvSpPr>
        <p:spPr>
          <a:xfrm>
            <a:off x="9052560" y="502920"/>
            <a:ext cx="109728" cy="640080"/>
          </a:xfrm>
          <a:prstGeom prst="rect">
            <a:avLst/>
          </a:prstGeom>
          <a:solidFill>
            <a:schemeClr val="accent1"/>
          </a:solidFill>
          <a:ln w="12700">
            <a:solidFill>
              <a:srgbClr val="FFFFFF">
                <a:alpha val="0"/>
              </a:srgbClr>
            </a:solidFill>
            <a:prstDash val="solid"/>
          </a:ln>
        </p:spPr>
      </p:sp>
      <p:sp>
        <p:nvSpPr>
          <p:cNvPr id="7" name="Shape 5"/>
          <p:cNvSpPr/>
          <p:nvPr/>
        </p:nvSpPr>
        <p:spPr>
          <a:xfrm>
            <a:off x="6766560" y="1051560"/>
            <a:ext cx="3063240" cy="3246120"/>
          </a:xfrm>
          <a:prstGeom prst="roundRect">
            <a:avLst>
              <a:gd name="adj" fmla="val 5970"/>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8" name="Shape 6"/>
          <p:cNvSpPr/>
          <p:nvPr/>
        </p:nvSpPr>
        <p:spPr>
          <a:xfrm>
            <a:off x="6766560" y="1051560"/>
            <a:ext cx="3063240" cy="685800"/>
          </a:xfrm>
          <a:prstGeom prst="roundRect">
            <a:avLst>
              <a:gd name="adj" fmla="val 26667"/>
            </a:avLst>
          </a:prstGeom>
          <a:solidFill>
            <a:schemeClr val="accent1"/>
          </a:solidFill>
          <a:ln w="12700">
            <a:solidFill>
              <a:srgbClr val="FFFFFF">
                <a:alpha val="0"/>
              </a:srgbClr>
            </a:solidFill>
            <a:prstDash val="solid"/>
          </a:ln>
        </p:spPr>
      </p:sp>
      <p:sp>
        <p:nvSpPr>
          <p:cNvPr id="9" name="Text 7"/>
          <p:cNvSpPr txBox="1"/>
          <p:nvPr/>
        </p:nvSpPr>
        <p:spPr>
          <a:xfrm>
            <a:off x="6766560" y="1051560"/>
            <a:ext cx="3063240" cy="685800"/>
          </a:xfrm>
          <a:prstGeom prst="rect">
            <a:avLst/>
          </a:prstGeom>
          <a:noFill/>
          <a:ln/>
        </p:spPr>
        <p:txBody>
          <a:bodyPr wrap="square" lIns="0" tIns="0" rIns="0" bIns="0" rtlCol="0" anchor="ctr"/>
          <a:lstStyle/>
          <a:p>
            <a:pPr algn="ctr" indent="0" marL="0">
              <a:buNone/>
            </a:pPr>
            <a:r>
              <a:rPr lang="en-US" sz="1600" b="1" spc="200" kern="0" dirty="0">
                <a:solidFill>
                  <a:schemeClr val="bg1"/>
                </a:solidFill>
              </a:rPr>
              <a:t>HALLO, IK BEN</a:t>
            </a:r>
            <a:endParaRPr lang="en-US" sz="1600" dirty="0"/>
          </a:p>
        </p:txBody>
      </p:sp>
      <p:pic>
        <p:nvPicPr>
          <p:cNvPr id="10" name="Image 0" descr="man office worker">    </p:cNvPr>
          <p:cNvPicPr>
            <a:picLocks noChangeAspect="1"/>
          </p:cNvPicPr>
          <p:nvPr/>
        </p:nvPicPr>
        <p:blipFill>
          <a:blip r:embed="rId1"/>
          <a:stretch>
            <a:fillRect/>
          </a:stretch>
        </p:blipFill>
        <p:spPr>
          <a:xfrm>
            <a:off x="7744968" y="1828800"/>
            <a:ext cx="1097280" cy="1097280"/>
          </a:xfrm>
          <a:prstGeom prst="rect">
            <a:avLst/>
          </a:prstGeom>
        </p:spPr>
      </p:pic>
      <p:sp>
        <p:nvSpPr>
          <p:cNvPr id="11" name="Text 8"/>
          <p:cNvSpPr txBox="1"/>
          <p:nvPr/>
        </p:nvSpPr>
        <p:spPr>
          <a:xfrm>
            <a:off x="6858000" y="2971800"/>
            <a:ext cx="2880360" cy="1234440"/>
          </a:xfrm>
          <a:prstGeom prst="rect">
            <a:avLst/>
          </a:prstGeom>
          <a:noFill/>
          <a:ln/>
        </p:spPr>
        <p:txBody>
          <a:bodyPr wrap="square" lIns="0" tIns="0" rIns="0" bIns="0" rtlCol="0" anchor="ctr"/>
          <a:lstStyle/>
          <a:p>
            <a:pPr algn="ctr" indent="0" marL="0">
              <a:spcAft>
                <a:spcPts val="100"/>
              </a:spcAft>
              <a:buNone/>
            </a:pPr>
            <a:r>
              <a:rPr lang="en-US" sz="1700" b="1" dirty="0">
                <a:solidFill>
                  <a:schemeClr val="tx2"/>
                </a:solidFill>
              </a:rPr>
              <a:t>Karim Benali</a:t>
            </a:r>
            <a:endParaRPr lang="en-US" sz="1700" dirty="0"/>
          </a:p>
          <a:p>
            <a:pPr algn="ctr" indent="0" marL="0">
              <a:spcAft>
                <a:spcPts val="100"/>
              </a:spcAft>
              <a:buNone/>
            </a:pPr>
            <a:r>
              <a:rPr lang="en-US" sz="1700" dirty="0">
                <a:solidFill>
                  <a:schemeClr val="tx2"/>
                </a:solidFill>
              </a:rPr>
              <a:t>Boekhouder</a:t>
            </a:r>
            <a:endParaRPr lang="en-US" sz="1700" dirty="0"/>
          </a:p>
          <a:p>
            <a:pPr algn="ctr" indent="0" marL="0">
              <a:spcAft>
                <a:spcPts val="100"/>
              </a:spcAft>
              <a:buNone/>
            </a:pPr>
            <a:r>
              <a:rPr lang="en-US" sz="1700" dirty="0">
                <a:solidFill>
                  <a:schemeClr val="tx2"/>
                </a:solidFill>
              </a:rPr>
              <a:t>Peeters &amp; Co</a:t>
            </a:r>
            <a:endParaRPr lang="en-US" sz="1700" dirty="0"/>
          </a:p>
        </p:txBody>
      </p:sp>
      <p:sp>
        <p:nvSpPr>
          <p:cNvPr id="12" name="Shape 9"/>
          <p:cNvSpPr/>
          <p:nvPr/>
        </p:nvSpPr>
        <p:spPr>
          <a:xfrm>
            <a:off x="10012680" y="1234440"/>
            <a:ext cx="1920240" cy="731520"/>
          </a:xfrm>
          <a:prstGeom prst="roundRect">
            <a:avLst>
              <a:gd name="adj" fmla="val 31250"/>
            </a:avLst>
          </a:prstGeom>
          <a:solidFill>
            <a:srgbClr val="FFFFFF"/>
          </a:solidFill>
          <a:ln w="31750">
            <a:solidFill>
              <a:srgbClr val="2E7D4F"/>
            </a:solidFill>
            <a:prstDash val="solid"/>
          </a:ln>
        </p:spPr>
      </p:sp>
      <p:sp>
        <p:nvSpPr>
          <p:cNvPr id="13" name="Shape 10"/>
          <p:cNvSpPr/>
          <p:nvPr/>
        </p:nvSpPr>
        <p:spPr>
          <a:xfrm>
            <a:off x="10058400" y="1920240"/>
            <a:ext cx="457200" cy="320040"/>
          </a:xfrm>
          <a:custGeom>
            <a:avLst/>
            <a:gdLst/>
            <a:ahLst/>
            <a:cxnLst/>
            <a:rect l="l" t="t" r="r" b="b"/>
            <a:pathLst>
              <a:path w="457200" h="320040">
                <a:moveTo>
                  <a:pt x="137160" y="0"/>
                </a:moveTo>
                <a:lnTo>
                  <a:pt x="0" y="320040"/>
                </a:lnTo>
                <a:lnTo>
                  <a:pt x="457200" y="18288"/>
                </a:lnTo>
                <a:close/>
              </a:path>
            </a:pathLst>
          </a:custGeom>
          <a:solidFill>
            <a:srgbClr val="FFFFFF"/>
          </a:solidFill>
          <a:ln w="12700">
            <a:solidFill>
              <a:srgbClr val="FFFFFF">
                <a:alpha val="0"/>
              </a:srgbClr>
            </a:solidFill>
            <a:prstDash val="solid"/>
          </a:ln>
        </p:spPr>
      </p:sp>
      <p:sp>
        <p:nvSpPr>
          <p:cNvPr id="14" name="Text 11"/>
          <p:cNvSpPr txBox="1"/>
          <p:nvPr/>
        </p:nvSpPr>
        <p:spPr>
          <a:xfrm>
            <a:off x="10012680" y="1234440"/>
            <a:ext cx="1920240" cy="731520"/>
          </a:xfrm>
          <a:prstGeom prst="rect">
            <a:avLst/>
          </a:prstGeom>
          <a:noFill/>
          <a:ln/>
        </p:spPr>
        <p:txBody>
          <a:bodyPr wrap="square" lIns="0" tIns="0" rIns="0" bIns="0" rtlCol="0" anchor="ctr"/>
          <a:lstStyle/>
          <a:p>
            <a:pPr algn="ctr" indent="0" marL="0">
              <a:buNone/>
            </a:pPr>
            <a:r>
              <a:rPr lang="en-US" sz="1900" b="1" i="1" dirty="0">
                <a:solidFill>
                  <a:schemeClr val="accent3"/>
                </a:solidFill>
              </a:rPr>
              <a:t>Aangenaam!</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IdBadg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Me présenter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dis qui je suis et ce que je fais : </a:t>
            </a:r>
            <a:r>
              <a:rPr lang="en-US" sz="2000" i="1" dirty="0">
                <a:solidFill>
                  <a:schemeClr val="tx1"/>
                </a:solidFill>
              </a:rPr>
              <a:t>Ik werk als boekhouder bij Peeters &amp; Co.</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4"/>
          </a:solidFill>
          <a:ln w="12700">
            <a:solidFill>
              <a:srgbClr val="FFFFFF">
                <a:alpha val="0"/>
              </a:srgbClr>
            </a:solidFill>
            <a:prstDash val="solid"/>
          </a:ln>
        </p:spPr>
      </p:sp>
      <p:pic>
        <p:nvPicPr>
          <p:cNvPr id="12" name="Image 1" descr="History">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Mon parcours</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raconte mon parcours et mes projets : </a:t>
            </a:r>
            <a:r>
              <a:rPr lang="en-US" sz="2000" i="1" dirty="0">
                <a:solidFill>
                  <a:schemeClr val="tx1"/>
                </a:solidFill>
              </a:rPr>
              <a:t>Daarvoor werkte ik bij Maesbouw.</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Comments">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M’adapter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J’adapte ma présentation : collègue, entretien, réseau, e-mail.</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Module de synthèse du parcours. Tâche finale : un entretien d’embauche en néerlandais.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30 secondes</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54480"/>
            <a:ext cx="3544824" cy="3200400"/>
          </a:xfrm>
          <a:prstGeom prst="roundRect">
            <a:avLst>
              <a:gd name="adj" fmla="val 3429"/>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pic>
        <p:nvPicPr>
          <p:cNvPr id="6" name="Image 0" descr="hot beverage">    </p:cNvPr>
          <p:cNvPicPr>
            <a:picLocks noChangeAspect="1"/>
          </p:cNvPicPr>
          <p:nvPr/>
        </p:nvPicPr>
        <p:blipFill>
          <a:blip r:embed="rId1"/>
          <a:stretch>
            <a:fillRect/>
          </a:stretch>
        </p:blipFill>
        <p:spPr>
          <a:xfrm>
            <a:off x="1726692" y="1737360"/>
            <a:ext cx="1188720" cy="1188720"/>
          </a:xfrm>
          <a:prstGeom prst="rect">
            <a:avLst/>
          </a:prstGeom>
        </p:spPr>
      </p:pic>
      <p:sp>
        <p:nvSpPr>
          <p:cNvPr id="7" name="Text 3"/>
          <p:cNvSpPr txBox="1"/>
          <p:nvPr/>
        </p:nvSpPr>
        <p:spPr>
          <a:xfrm>
            <a:off x="685800" y="3017520"/>
            <a:ext cx="3270504" cy="548640"/>
          </a:xfrm>
          <a:prstGeom prst="rect">
            <a:avLst/>
          </a:prstGeom>
          <a:noFill/>
          <a:ln/>
        </p:spPr>
        <p:txBody>
          <a:bodyPr wrap="square" lIns="0" tIns="0" rIns="0" bIns="0" rtlCol="0" anchor="ctr"/>
          <a:lstStyle/>
          <a:p>
            <a:pPr algn="ctr" indent="0" marL="0">
              <a:buNone/>
            </a:pPr>
            <a:r>
              <a:rPr lang="en-US" sz="1900" b="1" i="1" dirty="0">
                <a:solidFill>
                  <a:schemeClr val="tx2"/>
                </a:solidFill>
              </a:rPr>
              <a:t>Aan de koffieautomaat</a:t>
            </a:r>
            <a:endParaRPr lang="en-US" sz="1900" dirty="0"/>
          </a:p>
        </p:txBody>
      </p:sp>
      <p:sp>
        <p:nvSpPr>
          <p:cNvPr id="8" name="Text 4"/>
          <p:cNvSpPr txBox="1"/>
          <p:nvPr/>
        </p:nvSpPr>
        <p:spPr>
          <a:xfrm>
            <a:off x="685800" y="3566160"/>
            <a:ext cx="3270504" cy="411480"/>
          </a:xfrm>
          <a:prstGeom prst="rect">
            <a:avLst/>
          </a:prstGeom>
          <a:noFill/>
          <a:ln/>
        </p:spPr>
        <p:txBody>
          <a:bodyPr wrap="square" lIns="0" tIns="0" rIns="0" bIns="0" rtlCol="0" anchor="ctr"/>
          <a:lstStyle/>
          <a:p>
            <a:pPr algn="ctr" indent="0" marL="0">
              <a:buNone/>
            </a:pPr>
            <a:r>
              <a:rPr lang="en-US" sz="1500" i="1" dirty="0">
                <a:solidFill>
                  <a:schemeClr val="accent5"/>
                </a:solidFill>
              </a:rPr>
              <a:t>un·e nouveau·elle collègue</a:t>
            </a:r>
            <a:endParaRPr lang="en-US" sz="1500" dirty="0"/>
          </a:p>
        </p:txBody>
      </p:sp>
      <p:sp>
        <p:nvSpPr>
          <p:cNvPr id="9" name="Text 5"/>
          <p:cNvSpPr txBox="1"/>
          <p:nvPr/>
        </p:nvSpPr>
        <p:spPr>
          <a:xfrm>
            <a:off x="1589532" y="4114800"/>
            <a:ext cx="1463040" cy="411480"/>
          </a:xfrm>
          <a:prstGeom prst="rect">
            <a:avLst/>
          </a:prstGeom>
          <a:noFill/>
          <a:ln/>
        </p:spPr>
        <p:txBody>
          <a:bodyPr wrap="square" lIns="0" tIns="0" rIns="0" bIns="0" rtlCol="0" anchor="ctr"/>
          <a:lstStyle/>
          <a:p>
            <a:pPr algn="ctr" indent="0" marL="0">
              <a:buNone/>
            </a:pPr>
            <a:r>
              <a:rPr lang="en-US" sz="1500" b="1" dirty="0">
                <a:solidFill>
                  <a:schemeClr val="accent1"/>
                </a:solidFill>
              </a:rPr>
              <a:t>je ou u ?</a:t>
            </a:r>
            <a:endParaRPr lang="en-US" sz="1500" dirty="0"/>
          </a:p>
        </p:txBody>
      </p:sp>
      <p:sp>
        <p:nvSpPr>
          <p:cNvPr id="10" name="Shape 6"/>
          <p:cNvSpPr/>
          <p:nvPr/>
        </p:nvSpPr>
        <p:spPr>
          <a:xfrm>
            <a:off x="4322064" y="1554480"/>
            <a:ext cx="3544824" cy="3200400"/>
          </a:xfrm>
          <a:prstGeom prst="roundRect">
            <a:avLst>
              <a:gd name="adj" fmla="val 3429"/>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pic>
        <p:nvPicPr>
          <p:cNvPr id="11" name="Image 1" descr="briefcase">    </p:cNvPr>
          <p:cNvPicPr>
            <a:picLocks noChangeAspect="1"/>
          </p:cNvPicPr>
          <p:nvPr/>
        </p:nvPicPr>
        <p:blipFill>
          <a:blip r:embed="rId2"/>
          <a:stretch>
            <a:fillRect/>
          </a:stretch>
        </p:blipFill>
        <p:spPr>
          <a:xfrm>
            <a:off x="5500116" y="1737360"/>
            <a:ext cx="1188720" cy="1188720"/>
          </a:xfrm>
          <a:prstGeom prst="rect">
            <a:avLst/>
          </a:prstGeom>
        </p:spPr>
      </p:pic>
      <p:sp>
        <p:nvSpPr>
          <p:cNvPr id="12" name="Text 7"/>
          <p:cNvSpPr txBox="1"/>
          <p:nvPr/>
        </p:nvSpPr>
        <p:spPr>
          <a:xfrm>
            <a:off x="4459224" y="3017520"/>
            <a:ext cx="3270504" cy="548640"/>
          </a:xfrm>
          <a:prstGeom prst="rect">
            <a:avLst/>
          </a:prstGeom>
          <a:noFill/>
          <a:ln/>
        </p:spPr>
        <p:txBody>
          <a:bodyPr wrap="square" lIns="0" tIns="0" rIns="0" bIns="0" rtlCol="0" anchor="ctr"/>
          <a:lstStyle/>
          <a:p>
            <a:pPr algn="ctr" indent="0" marL="0">
              <a:buNone/>
            </a:pPr>
            <a:r>
              <a:rPr lang="en-US" sz="1900" b="1" i="1" dirty="0">
                <a:solidFill>
                  <a:schemeClr val="tx2"/>
                </a:solidFill>
              </a:rPr>
              <a:t>Een sollicitatiegesprek</a:t>
            </a:r>
            <a:endParaRPr lang="en-US" sz="1900" dirty="0"/>
          </a:p>
        </p:txBody>
      </p:sp>
      <p:sp>
        <p:nvSpPr>
          <p:cNvPr id="13" name="Text 8"/>
          <p:cNvSpPr txBox="1"/>
          <p:nvPr/>
        </p:nvSpPr>
        <p:spPr>
          <a:xfrm>
            <a:off x="4459224" y="3566160"/>
            <a:ext cx="3270504" cy="411480"/>
          </a:xfrm>
          <a:prstGeom prst="rect">
            <a:avLst/>
          </a:prstGeom>
          <a:noFill/>
          <a:ln/>
        </p:spPr>
        <p:txBody>
          <a:bodyPr wrap="square" lIns="0" tIns="0" rIns="0" bIns="0" rtlCol="0" anchor="ctr"/>
          <a:lstStyle/>
          <a:p>
            <a:pPr algn="ctr" indent="0" marL="0">
              <a:buNone/>
            </a:pPr>
            <a:r>
              <a:rPr lang="en-US" sz="1500" i="1" dirty="0">
                <a:solidFill>
                  <a:schemeClr val="accent5"/>
                </a:solidFill>
              </a:rPr>
              <a:t>un entretien d’embauche</a:t>
            </a:r>
            <a:endParaRPr lang="en-US" sz="1500" dirty="0"/>
          </a:p>
        </p:txBody>
      </p:sp>
      <p:sp>
        <p:nvSpPr>
          <p:cNvPr id="14" name="Text 9"/>
          <p:cNvSpPr txBox="1"/>
          <p:nvPr/>
        </p:nvSpPr>
        <p:spPr>
          <a:xfrm>
            <a:off x="5362956" y="4114800"/>
            <a:ext cx="1463040" cy="411480"/>
          </a:xfrm>
          <a:prstGeom prst="rect">
            <a:avLst/>
          </a:prstGeom>
          <a:noFill/>
          <a:ln/>
        </p:spPr>
        <p:txBody>
          <a:bodyPr wrap="square" lIns="0" tIns="0" rIns="0" bIns="0" rtlCol="0" anchor="ctr"/>
          <a:lstStyle/>
          <a:p>
            <a:pPr algn="ctr" indent="0" marL="0">
              <a:buNone/>
            </a:pPr>
            <a:r>
              <a:rPr lang="en-US" sz="1500" b="1" dirty="0">
                <a:solidFill>
                  <a:schemeClr val="accent1"/>
                </a:solidFill>
              </a:rPr>
              <a:t>je ou u ?</a:t>
            </a:r>
            <a:endParaRPr lang="en-US" sz="1500" dirty="0"/>
          </a:p>
        </p:txBody>
      </p:sp>
      <p:sp>
        <p:nvSpPr>
          <p:cNvPr id="15" name="Shape 10"/>
          <p:cNvSpPr/>
          <p:nvPr/>
        </p:nvSpPr>
        <p:spPr>
          <a:xfrm>
            <a:off x="8095488" y="1554480"/>
            <a:ext cx="3544824" cy="3200400"/>
          </a:xfrm>
          <a:prstGeom prst="roundRect">
            <a:avLst>
              <a:gd name="adj" fmla="val 3429"/>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pic>
        <p:nvPicPr>
          <p:cNvPr id="16" name="Image 2" descr="laptop">    </p:cNvPr>
          <p:cNvPicPr>
            <a:picLocks noChangeAspect="1"/>
          </p:cNvPicPr>
          <p:nvPr/>
        </p:nvPicPr>
        <p:blipFill>
          <a:blip r:embed="rId3"/>
          <a:stretch>
            <a:fillRect/>
          </a:stretch>
        </p:blipFill>
        <p:spPr>
          <a:xfrm>
            <a:off x="9273540" y="1737360"/>
            <a:ext cx="1188720" cy="1188720"/>
          </a:xfrm>
          <a:prstGeom prst="rect">
            <a:avLst/>
          </a:prstGeom>
        </p:spPr>
      </p:pic>
      <p:sp>
        <p:nvSpPr>
          <p:cNvPr id="17" name="Text 11"/>
          <p:cNvSpPr txBox="1"/>
          <p:nvPr/>
        </p:nvSpPr>
        <p:spPr>
          <a:xfrm>
            <a:off x="8232648" y="3017520"/>
            <a:ext cx="3270504" cy="548640"/>
          </a:xfrm>
          <a:prstGeom prst="rect">
            <a:avLst/>
          </a:prstGeom>
          <a:noFill/>
          <a:ln/>
        </p:spPr>
        <p:txBody>
          <a:bodyPr wrap="square" lIns="0" tIns="0" rIns="0" bIns="0" rtlCol="0" anchor="ctr"/>
          <a:lstStyle/>
          <a:p>
            <a:pPr algn="ctr" indent="0" marL="0">
              <a:buNone/>
            </a:pPr>
            <a:r>
              <a:rPr lang="en-US" sz="1900" b="1" i="1" dirty="0">
                <a:solidFill>
                  <a:schemeClr val="tx2"/>
                </a:solidFill>
              </a:rPr>
              <a:t>Een online vergadering</a:t>
            </a:r>
            <a:endParaRPr lang="en-US" sz="1900" dirty="0"/>
          </a:p>
        </p:txBody>
      </p:sp>
      <p:sp>
        <p:nvSpPr>
          <p:cNvPr id="18" name="Text 12"/>
          <p:cNvSpPr txBox="1"/>
          <p:nvPr/>
        </p:nvSpPr>
        <p:spPr>
          <a:xfrm>
            <a:off x="8232648" y="3566160"/>
            <a:ext cx="3270504" cy="411480"/>
          </a:xfrm>
          <a:prstGeom prst="rect">
            <a:avLst/>
          </a:prstGeom>
          <a:noFill/>
          <a:ln/>
        </p:spPr>
        <p:txBody>
          <a:bodyPr wrap="square" lIns="0" tIns="0" rIns="0" bIns="0" rtlCol="0" anchor="ctr"/>
          <a:lstStyle/>
          <a:p>
            <a:pPr algn="ctr" indent="0" marL="0">
              <a:buNone/>
            </a:pPr>
            <a:r>
              <a:rPr lang="en-US" sz="1500" i="1" dirty="0">
                <a:solidFill>
                  <a:schemeClr val="accent5"/>
                </a:solidFill>
              </a:rPr>
              <a:t>un client</a:t>
            </a:r>
            <a:endParaRPr lang="en-US" sz="1500" dirty="0"/>
          </a:p>
        </p:txBody>
      </p:sp>
      <p:sp>
        <p:nvSpPr>
          <p:cNvPr id="19" name="Text 13"/>
          <p:cNvSpPr txBox="1"/>
          <p:nvPr/>
        </p:nvSpPr>
        <p:spPr>
          <a:xfrm>
            <a:off x="9136380" y="4114800"/>
            <a:ext cx="1463040" cy="411480"/>
          </a:xfrm>
          <a:prstGeom prst="rect">
            <a:avLst/>
          </a:prstGeom>
          <a:noFill/>
          <a:ln/>
        </p:spPr>
        <p:txBody>
          <a:bodyPr wrap="square" lIns="0" tIns="0" rIns="0" bIns="0" rtlCol="0" anchor="ctr"/>
          <a:lstStyle/>
          <a:p>
            <a:pPr algn="ctr" indent="0" marL="0">
              <a:buNone/>
            </a:pPr>
            <a:r>
              <a:rPr lang="en-US" sz="1500" b="1" dirty="0">
                <a:solidFill>
                  <a:schemeClr val="accent1"/>
                </a:solidFill>
              </a:rPr>
              <a:t>je ou u ?</a:t>
            </a:r>
            <a:endParaRPr lang="en-US" sz="1500" dirty="0"/>
          </a:p>
        </p:txBody>
      </p:sp>
      <p:sp>
        <p:nvSpPr>
          <p:cNvPr id="20" name="Shape 14"/>
          <p:cNvSpPr/>
          <p:nvPr/>
        </p:nvSpPr>
        <p:spPr>
          <a:xfrm>
            <a:off x="548640" y="4983480"/>
            <a:ext cx="11091672" cy="1234440"/>
          </a:xfrm>
          <a:prstGeom prst="roundRect">
            <a:avLst>
              <a:gd name="adj" fmla="val 5926"/>
            </a:avLst>
          </a:prstGeom>
          <a:solidFill>
            <a:schemeClr val="accent1">
              <a:alpha val="15000"/>
            </a:schemeClr>
          </a:solidFill>
          <a:ln w="15875">
            <a:solidFill>
              <a:srgbClr val="D9700F"/>
            </a:solidFill>
            <a:prstDash val="solid"/>
          </a:ln>
        </p:spPr>
      </p:sp>
      <p:pic>
        <p:nvPicPr>
          <p:cNvPr id="21" name="Image 3" descr="stopwatch">    </p:cNvPr>
          <p:cNvPicPr>
            <a:picLocks noChangeAspect="1"/>
          </p:cNvPicPr>
          <p:nvPr/>
        </p:nvPicPr>
        <p:blipFill>
          <a:blip r:embed="rId4"/>
          <a:stretch>
            <a:fillRect/>
          </a:stretch>
        </p:blipFill>
        <p:spPr>
          <a:xfrm>
            <a:off x="777240" y="5166360"/>
            <a:ext cx="868680" cy="868680"/>
          </a:xfrm>
          <a:prstGeom prst="rect">
            <a:avLst/>
          </a:prstGeom>
        </p:spPr>
      </p:pic>
      <p:sp>
        <p:nvSpPr>
          <p:cNvPr id="22" name="Text 15"/>
          <p:cNvSpPr txBox="1"/>
          <p:nvPr/>
        </p:nvSpPr>
        <p:spPr>
          <a:xfrm>
            <a:off x="1828800" y="4983480"/>
            <a:ext cx="9601200" cy="1234440"/>
          </a:xfrm>
          <a:prstGeom prst="rect">
            <a:avLst/>
          </a:prstGeom>
          <a:noFill/>
          <a:ln/>
        </p:spPr>
        <p:txBody>
          <a:bodyPr wrap="square" lIns="0" tIns="0" rIns="0" bIns="0" rtlCol="0" anchor="ctr"/>
          <a:lstStyle/>
          <a:p>
            <a:pPr algn="l" indent="0" marL="0">
              <a:spcAft>
                <a:spcPts val="400"/>
              </a:spcAft>
              <a:buNone/>
            </a:pPr>
            <a:r>
              <a:rPr lang="en-US" sz="1800" dirty="0">
                <a:solidFill>
                  <a:schemeClr val="tx1"/>
                </a:solidFill>
              </a:rPr>
              <a:t>Vous avez </a:t>
            </a:r>
            <a:r>
              <a:rPr lang="en-US" sz="1800" b="1" dirty="0">
                <a:solidFill>
                  <a:schemeClr val="tx1"/>
                </a:solidFill>
              </a:rPr>
              <a:t>30 secondes</a:t>
            </a:r>
            <a:r>
              <a:rPr lang="en-US" sz="1800" dirty="0">
                <a:solidFill>
                  <a:schemeClr val="tx1"/>
                </a:solidFill>
              </a:rPr>
              <a:t> : que dites-vous ?</a:t>
            </a:r>
            <a:endParaRPr lang="en-US" sz="1800" dirty="0"/>
          </a:p>
          <a:p>
            <a:pPr algn="l" indent="0" marL="0">
              <a:spcAft>
                <a:spcPts val="400"/>
              </a:spcAft>
              <a:buNone/>
            </a:pPr>
            <a:r>
              <a:rPr lang="en-US" sz="1800" dirty="0">
                <a:solidFill>
                  <a:schemeClr val="tx1"/>
                </a:solidFill>
              </a:rPr>
              <a:t>En binôme, essayez les trois situations. On garde vos phrases pour la diapo suivante.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Du M2 au pitch</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3566160" cy="3566160"/>
          </a:xfrm>
          <a:prstGeom prst="roundRect">
            <a:avLst>
              <a:gd name="adj" fmla="val 3077"/>
            </a:avLst>
          </a:prstGeom>
          <a:solidFill>
            <a:schemeClr val="bg2"/>
          </a:solidFill>
          <a:ln w="12700">
            <a:solidFill>
              <a:srgbClr val="D5DCE6"/>
            </a:solidFill>
            <a:prstDash val="solid"/>
          </a:ln>
        </p:spPr>
      </p:sp>
      <p:sp>
        <p:nvSpPr>
          <p:cNvPr id="6" name="tag"/>
          <p:cNvSpPr/>
          <p:nvPr/>
        </p:nvSpPr>
        <p:spPr>
          <a:xfrm>
            <a:off x="731520" y="1691640"/>
            <a:ext cx="599542" cy="329184"/>
          </a:xfrm>
          <a:prstGeom prst="roundRect">
            <a:avLst>
              <a:gd name="adj" fmla="val 13889"/>
            </a:avLst>
          </a:prstGeom>
          <a:solidFill>
            <a:schemeClr val="accent5"/>
          </a:solidFill>
          <a:ln/>
        </p:spPr>
        <p:txBody>
          <a:bodyPr wrap="square" lIns="0" tIns="0" rIns="0" bIns="0" rtlCol="0" anchor="ctr"/>
          <a:lstStyle/>
          <a:p>
            <a:pPr algn="ctr" indent="0" marL="0">
              <a:buNone/>
            </a:pPr>
            <a:r>
              <a:rPr lang="en-US" sz="1300" b="1" spc="100" kern="0" dirty="0">
                <a:solidFill>
                  <a:srgbClr val="FFFFFF"/>
                </a:solidFill>
              </a:rPr>
              <a:t>M2</a:t>
            </a:r>
            <a:endParaRPr lang="en-US" sz="1300" dirty="0"/>
          </a:p>
        </p:txBody>
      </p:sp>
      <p:sp>
        <p:nvSpPr>
          <p:cNvPr id="7" name="Text 4"/>
          <p:cNvSpPr txBox="1"/>
          <p:nvPr/>
        </p:nvSpPr>
        <p:spPr>
          <a:xfrm>
            <a:off x="777240" y="2148840"/>
            <a:ext cx="3200400" cy="2834640"/>
          </a:xfrm>
          <a:prstGeom prst="rect">
            <a:avLst/>
          </a:prstGeom>
          <a:noFill/>
          <a:ln/>
        </p:spPr>
        <p:txBody>
          <a:bodyPr wrap="square" lIns="0" tIns="0" rIns="0" bIns="0" rtlCol="0" anchor="ctr"/>
          <a:lstStyle/>
          <a:p>
            <a:pPr algn="l" indent="0" marL="0">
              <a:spcAft>
                <a:spcPts val="1000"/>
              </a:spcAft>
              <a:buNone/>
            </a:pPr>
            <a:r>
              <a:rPr lang="en-US" sz="2000" i="1" dirty="0">
                <a:solidFill>
                  <a:schemeClr val="accent5"/>
                </a:solidFill>
              </a:rPr>
              <a:t>Ik ben Karim.</a:t>
            </a:r>
            <a:endParaRPr lang="en-US" sz="2000" dirty="0"/>
          </a:p>
          <a:p>
            <a:pPr algn="l" indent="0" marL="0">
              <a:spcAft>
                <a:spcPts val="1000"/>
              </a:spcAft>
              <a:buNone/>
            </a:pPr>
            <a:r>
              <a:rPr lang="en-US" sz="2000" i="1" dirty="0">
                <a:solidFill>
                  <a:schemeClr val="accent5"/>
                </a:solidFill>
              </a:rPr>
              <a:t>Ik ben boekhouder.</a:t>
            </a:r>
            <a:endParaRPr lang="en-US" sz="2000" dirty="0"/>
          </a:p>
          <a:p>
            <a:pPr algn="l" indent="0" marL="0">
              <a:spcAft>
                <a:spcPts val="1000"/>
              </a:spcAft>
              <a:buNone/>
            </a:pPr>
            <a:r>
              <a:rPr lang="en-US" sz="2000" i="1" dirty="0">
                <a:solidFill>
                  <a:schemeClr val="accent5"/>
                </a:solidFill>
              </a:rPr>
              <a:t>Ik woon in Namen.</a:t>
            </a:r>
            <a:endParaRPr lang="en-US" sz="2000" dirty="0"/>
          </a:p>
          <a:p>
            <a:pPr algn="l" indent="0" marL="0">
              <a:spcAft>
                <a:spcPts val="1000"/>
              </a:spcAft>
              <a:buNone/>
            </a:pPr>
            <a:r>
              <a:rPr lang="en-US" sz="2000" i="1" dirty="0">
                <a:solidFill>
                  <a:schemeClr val="accent5"/>
                </a:solidFill>
              </a:rPr>
              <a:t>Ik spreek Frans.</a:t>
            </a:r>
            <a:endParaRPr lang="en-US" sz="2000" dirty="0"/>
          </a:p>
        </p:txBody>
      </p:sp>
      <p:sp>
        <p:nvSpPr>
          <p:cNvPr id="8" name="Shape 5"/>
          <p:cNvSpPr/>
          <p:nvPr/>
        </p:nvSpPr>
        <p:spPr>
          <a:xfrm>
            <a:off x="4251960" y="3337560"/>
            <a:ext cx="640080" cy="914"/>
          </a:xfrm>
          <a:prstGeom prst="line">
            <a:avLst/>
          </a:prstGeom>
          <a:noFill/>
          <a:ln w="50800">
            <a:solidFill>
              <a:srgbClr val="D9700F"/>
            </a:solidFill>
            <a:prstDash val="solid"/>
            <a:tailEnd type="triangle"/>
          </a:ln>
        </p:spPr>
      </p:sp>
      <p:sp>
        <p:nvSpPr>
          <p:cNvPr id="9" name="Shape 6"/>
          <p:cNvSpPr/>
          <p:nvPr/>
        </p:nvSpPr>
        <p:spPr>
          <a:xfrm>
            <a:off x="5029200" y="1554480"/>
            <a:ext cx="6611112" cy="3566160"/>
          </a:xfrm>
          <a:prstGeom prst="roundRect">
            <a:avLst>
              <a:gd name="adj" fmla="val 3077"/>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0" name="tag"/>
          <p:cNvSpPr/>
          <p:nvPr/>
        </p:nvSpPr>
        <p:spPr>
          <a:xfrm>
            <a:off x="5212080" y="1691640"/>
            <a:ext cx="716432" cy="329184"/>
          </a:xfrm>
          <a:prstGeom prst="roundRect">
            <a:avLst>
              <a:gd name="adj" fmla="val 13889"/>
            </a:avLst>
          </a:prstGeom>
          <a:solidFill>
            <a:schemeClr val="accent1"/>
          </a:solidFill>
          <a:ln/>
        </p:spPr>
        <p:txBody>
          <a:bodyPr wrap="square" lIns="0" tIns="0" rIns="0" bIns="0" rtlCol="0" anchor="ctr"/>
          <a:lstStyle/>
          <a:p>
            <a:pPr algn="ctr" indent="0" marL="0">
              <a:buNone/>
            </a:pPr>
            <a:r>
              <a:rPr lang="en-US" sz="1300" b="1" spc="100" kern="0" dirty="0">
                <a:solidFill>
                  <a:srgbClr val="FFFFFF"/>
                </a:solidFill>
              </a:rPr>
              <a:t>M32</a:t>
            </a:r>
            <a:endParaRPr lang="en-US" sz="1300" dirty="0"/>
          </a:p>
        </p:txBody>
      </p:sp>
      <p:sp>
        <p:nvSpPr>
          <p:cNvPr id="11" name="Text 8"/>
          <p:cNvSpPr txBox="1"/>
          <p:nvPr/>
        </p:nvSpPr>
        <p:spPr>
          <a:xfrm>
            <a:off x="5257800" y="2148840"/>
            <a:ext cx="6172200" cy="2834640"/>
          </a:xfrm>
          <a:prstGeom prst="rect">
            <a:avLst/>
          </a:prstGeom>
          <a:noFill/>
          <a:ln/>
        </p:spPr>
        <p:txBody>
          <a:bodyPr wrap="square" lIns="0" tIns="0" rIns="0" bIns="0" rtlCol="0" anchor="ctr"/>
          <a:lstStyle/>
          <a:p>
            <a:pPr algn="l" indent="0" marL="0">
              <a:lnSpc>
                <a:spcPct val="115000"/>
              </a:lnSpc>
              <a:buNone/>
            </a:pPr>
            <a:r>
              <a:rPr lang="en-US" sz="1900" i="1" dirty="0">
                <a:solidFill>
                  <a:schemeClr val="tx1"/>
                </a:solidFill>
              </a:rPr>
              <a:t>Ik ben Karim Benali </a:t>
            </a:r>
            <a:r>
              <a:rPr lang="en-US" sz="1900" b="1" i="1" dirty="0">
                <a:solidFill>
                  <a:schemeClr val="accent2"/>
                </a:solidFill>
              </a:rPr>
              <a:t>en</a:t>
            </a:r>
            <a:r>
              <a:rPr lang="en-US" sz="1900" i="1" dirty="0">
                <a:solidFill>
                  <a:schemeClr val="tx1"/>
                </a:solidFill>
              </a:rPr>
              <a:t> ik werk </a:t>
            </a:r>
            <a:r>
              <a:rPr lang="en-US" sz="1900" b="1" i="1" dirty="0">
                <a:solidFill>
                  <a:schemeClr val="accent2"/>
                </a:solidFill>
              </a:rPr>
              <a:t>sinds</a:t>
            </a:r>
            <a:r>
              <a:rPr lang="en-US" sz="1900" i="1" dirty="0">
                <a:solidFill>
                  <a:schemeClr val="tx1"/>
                </a:solidFill>
              </a:rPr>
              <a:t> januari als boekhouder bij Peeters &amp; Co. </a:t>
            </a:r>
            <a:r>
              <a:rPr lang="en-US" sz="1900" b="1" i="1" dirty="0">
                <a:solidFill>
                  <a:schemeClr val="accent2"/>
                </a:solidFill>
              </a:rPr>
              <a:t>Daarvoor</a:t>
            </a:r>
            <a:r>
              <a:rPr lang="en-US" sz="1900" i="1" dirty="0">
                <a:solidFill>
                  <a:schemeClr val="tx1"/>
                </a:solidFill>
              </a:rPr>
              <a:t> </a:t>
            </a:r>
            <a:r>
              <a:rPr lang="en-US" sz="1900" b="1" i="1" dirty="0">
                <a:solidFill>
                  <a:schemeClr val="accent4"/>
                </a:solidFill>
              </a:rPr>
              <a:t>werkte</a:t>
            </a:r>
            <a:r>
              <a:rPr lang="en-US" sz="1900" i="1" dirty="0">
                <a:solidFill>
                  <a:schemeClr val="tx1"/>
                </a:solidFill>
              </a:rPr>
              <a:t> ik vijf jaar bij Maesbouw. Ik woon in Namen, </a:t>
            </a:r>
            <a:r>
              <a:rPr lang="en-US" sz="1900" b="1" i="1" dirty="0">
                <a:solidFill>
                  <a:schemeClr val="accent2"/>
                </a:solidFill>
              </a:rPr>
              <a:t>maar</a:t>
            </a:r>
            <a:r>
              <a:rPr lang="en-US" sz="1900" i="1" dirty="0">
                <a:solidFill>
                  <a:schemeClr val="tx1"/>
                </a:solidFill>
              </a:rPr>
              <a:t> ik werk in Brussel. Ik spreek Frans en Nederlands, </a:t>
            </a:r>
            <a:r>
              <a:rPr lang="en-US" sz="1900" b="1" i="1" dirty="0">
                <a:solidFill>
                  <a:schemeClr val="accent2"/>
                </a:solidFill>
              </a:rPr>
              <a:t>want</a:t>
            </a:r>
            <a:r>
              <a:rPr lang="en-US" sz="1900" i="1" dirty="0">
                <a:solidFill>
                  <a:schemeClr val="tx1"/>
                </a:solidFill>
              </a:rPr>
              <a:t> ik werk met Vlaamse klanten.</a:t>
            </a:r>
            <a:endParaRPr lang="en-US" sz="1900" dirty="0"/>
          </a:p>
        </p:txBody>
      </p:sp>
      <p:sp>
        <p:nvSpPr>
          <p:cNvPr id="12" name="Shape 9"/>
          <p:cNvSpPr/>
          <p:nvPr/>
        </p:nvSpPr>
        <p:spPr>
          <a:xfrm>
            <a:off x="548640" y="5349240"/>
            <a:ext cx="11091672" cy="868680"/>
          </a:xfrm>
          <a:prstGeom prst="roundRect">
            <a:avLst>
              <a:gd name="adj" fmla="val 8421"/>
            </a:avLst>
          </a:prstGeom>
          <a:solidFill>
            <a:schemeClr val="tx2"/>
          </a:solidFill>
          <a:ln w="12700">
            <a:solidFill>
              <a:srgbClr val="FFFFFF">
                <a:alpha val="0"/>
              </a:srgbClr>
            </a:solidFill>
            <a:prstDash val="solid"/>
          </a:ln>
        </p:spPr>
      </p:sp>
      <p:sp>
        <p:nvSpPr>
          <p:cNvPr id="13" name="Text 10"/>
          <p:cNvSpPr txBox="1"/>
          <p:nvPr/>
        </p:nvSpPr>
        <p:spPr>
          <a:xfrm>
            <a:off x="822960" y="5349240"/>
            <a:ext cx="10607040" cy="868680"/>
          </a:xfrm>
          <a:prstGeom prst="rect">
            <a:avLst/>
          </a:prstGeom>
          <a:noFill/>
          <a:ln/>
        </p:spPr>
        <p:txBody>
          <a:bodyPr wrap="square" lIns="0" tIns="0" rIns="0" bIns="0" rtlCol="0" anchor="ctr"/>
          <a:lstStyle/>
          <a:p>
            <a:pPr algn="l" indent="0" marL="0">
              <a:buNone/>
            </a:pPr>
            <a:r>
              <a:rPr lang="en-US" sz="1700" dirty="0">
                <a:solidFill>
                  <a:schemeClr val="bg1"/>
                </a:solidFill>
              </a:rPr>
              <a:t>Ce qui change : les </a:t>
            </a:r>
            <a:r>
              <a:rPr lang="en-US" sz="1700" b="1" dirty="0">
                <a:solidFill>
                  <a:schemeClr val="bg1"/>
                </a:solidFill>
              </a:rPr>
              <a:t>mots de liaison</a:t>
            </a:r>
            <a:r>
              <a:rPr lang="en-US" sz="1700" dirty="0">
                <a:solidFill>
                  <a:schemeClr val="bg1"/>
                </a:solidFill>
              </a:rPr>
              <a:t> (</a:t>
            </a:r>
            <a:r>
              <a:rPr lang="en-US" sz="1700" i="1" dirty="0">
                <a:solidFill>
                  <a:schemeClr val="bg1"/>
                </a:solidFill>
              </a:rPr>
              <a:t>en, maar, want</a:t>
            </a:r>
            <a:r>
              <a:rPr lang="en-US" sz="1700" dirty="0">
                <a:solidFill>
                  <a:schemeClr val="bg1"/>
                </a:solidFill>
              </a:rPr>
              <a:t>, M9), le </a:t>
            </a:r>
            <a:r>
              <a:rPr lang="en-US" sz="1700" b="1" dirty="0">
                <a:solidFill>
                  <a:schemeClr val="bg1"/>
                </a:solidFill>
              </a:rPr>
              <a:t>passé</a:t>
            </a:r>
            <a:r>
              <a:rPr lang="en-US" sz="1700" dirty="0">
                <a:solidFill>
                  <a:schemeClr val="bg1"/>
                </a:solidFill>
              </a:rPr>
              <a:t> (</a:t>
            </a:r>
            <a:r>
              <a:rPr lang="en-US" sz="1700" i="1" dirty="0">
                <a:solidFill>
                  <a:schemeClr val="bg1"/>
                </a:solidFill>
              </a:rPr>
              <a:t>werkte</a:t>
            </a:r>
            <a:r>
              <a:rPr lang="en-US" sz="1700" dirty="0">
                <a:solidFill>
                  <a:schemeClr val="bg1"/>
                </a:solidFill>
              </a:rPr>
              <a:t>, M19), les repères </a:t>
            </a:r>
            <a:r>
              <a:rPr lang="en-US" sz="1700" i="1" dirty="0">
                <a:solidFill>
                  <a:schemeClr val="bg1"/>
                </a:solidFill>
              </a:rPr>
              <a:t>sinds, daarvoor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pitch en 5 étapes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731520" y="1892808"/>
            <a:ext cx="10725912" cy="914"/>
          </a:xfrm>
          <a:prstGeom prst="line">
            <a:avLst/>
          </a:prstGeom>
          <a:noFill/>
          <a:ln w="25400">
            <a:solidFill>
              <a:srgbClr val="4A5A70"/>
            </a:solidFill>
            <a:prstDash val="dash"/>
            <a:tailEnd type="triangle"/>
          </a:ln>
        </p:spPr>
      </p:sp>
      <p:sp>
        <p:nvSpPr>
          <p:cNvPr id="6" name="Shape 3"/>
          <p:cNvSpPr/>
          <p:nvPr/>
        </p:nvSpPr>
        <p:spPr>
          <a:xfrm>
            <a:off x="1222553" y="1508760"/>
            <a:ext cx="768096" cy="768096"/>
          </a:xfrm>
          <a:prstGeom prst="ellipse">
            <a:avLst/>
          </a:prstGeom>
          <a:solidFill>
            <a:schemeClr val="accent2"/>
          </a:solidFill>
          <a:ln w="12700">
            <a:solidFill>
              <a:srgbClr val="FFFFFF">
                <a:alpha val="0"/>
              </a:srgbClr>
            </a:solidFill>
            <a:prstDash val="solid"/>
          </a:ln>
        </p:spPr>
      </p:sp>
      <p:sp>
        <p:nvSpPr>
          <p:cNvPr id="7" name="Text 4"/>
          <p:cNvSpPr txBox="1"/>
          <p:nvPr/>
        </p:nvSpPr>
        <p:spPr>
          <a:xfrm>
            <a:off x="1222553"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Shape 5"/>
          <p:cNvSpPr/>
          <p:nvPr/>
        </p:nvSpPr>
        <p:spPr>
          <a:xfrm>
            <a:off x="548640" y="2377440"/>
            <a:ext cx="2115922" cy="2971800"/>
          </a:xfrm>
          <a:prstGeom prst="roundRect">
            <a:avLst>
              <a:gd name="adj" fmla="val 5186"/>
            </a:avLst>
          </a:prstGeom>
          <a:solidFill>
            <a:schemeClr val="accent2">
              <a:alpha val="10000"/>
            </a:schemeClr>
          </a:solidFill>
          <a:ln w="22225">
            <a:solidFill>
              <a:srgbClr val="2A6FB0"/>
            </a:solidFill>
            <a:prstDash val="solid"/>
          </a:ln>
        </p:spPr>
      </p:sp>
      <p:sp>
        <p:nvSpPr>
          <p:cNvPr id="9" name="Text 6"/>
          <p:cNvSpPr txBox="1"/>
          <p:nvPr/>
        </p:nvSpPr>
        <p:spPr>
          <a:xfrm>
            <a:off x="621792" y="2423160"/>
            <a:ext cx="1969618" cy="502920"/>
          </a:xfrm>
          <a:prstGeom prst="rect">
            <a:avLst/>
          </a:prstGeom>
          <a:noFill/>
          <a:ln/>
        </p:spPr>
        <p:txBody>
          <a:bodyPr wrap="square" lIns="0" tIns="0" rIns="0" bIns="0" rtlCol="0" anchor="ctr"/>
          <a:lstStyle/>
          <a:p>
            <a:pPr algn="ctr" indent="0" marL="0">
              <a:buNone/>
            </a:pPr>
            <a:r>
              <a:rPr lang="en-US" sz="1700" b="1" i="1" dirty="0">
                <a:solidFill>
                  <a:schemeClr val="accent2"/>
                </a:solidFill>
              </a:rPr>
              <a:t>Wie ben ik?</a:t>
            </a:r>
            <a:endParaRPr lang="en-US" sz="1700" dirty="0"/>
          </a:p>
        </p:txBody>
      </p:sp>
      <p:sp>
        <p:nvSpPr>
          <p:cNvPr id="10" name="tag"/>
          <p:cNvSpPr/>
          <p:nvPr/>
        </p:nvSpPr>
        <p:spPr>
          <a:xfrm>
            <a:off x="1012241" y="2953512"/>
            <a:ext cx="1104900"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000" b="1" spc="100" kern="0" dirty="0">
                <a:solidFill>
                  <a:srgbClr val="FFFFFF"/>
                </a:solidFill>
              </a:rPr>
              <a:t>présent</a:t>
            </a:r>
            <a:endParaRPr lang="en-US" sz="1000" dirty="0"/>
          </a:p>
        </p:txBody>
      </p:sp>
      <p:sp>
        <p:nvSpPr>
          <p:cNvPr id="11" name="Text 8"/>
          <p:cNvSpPr txBox="1"/>
          <p:nvPr/>
        </p:nvSpPr>
        <p:spPr>
          <a:xfrm>
            <a:off x="640080" y="3319272"/>
            <a:ext cx="1933042" cy="1965960"/>
          </a:xfrm>
          <a:prstGeom prst="rect">
            <a:avLst/>
          </a:prstGeom>
          <a:noFill/>
          <a:ln/>
        </p:spPr>
        <p:txBody>
          <a:bodyPr wrap="square" lIns="0" tIns="0" rIns="0" bIns="0" rtlCol="0" anchor="ctr"/>
          <a:lstStyle/>
          <a:p>
            <a:pPr algn="ctr" indent="0" marL="0">
              <a:buNone/>
            </a:pPr>
            <a:r>
              <a:rPr lang="en-US" sz="1400" i="1" dirty="0">
                <a:solidFill>
                  <a:schemeClr val="tx1"/>
                </a:solidFill>
              </a:rPr>
              <a:t>Ik ben Karim Benali. Ik kom uit Namen.</a:t>
            </a:r>
            <a:endParaRPr lang="en-US" sz="1400" dirty="0"/>
          </a:p>
        </p:txBody>
      </p:sp>
      <p:sp>
        <p:nvSpPr>
          <p:cNvPr id="12" name="Shape 9"/>
          <p:cNvSpPr/>
          <p:nvPr/>
        </p:nvSpPr>
        <p:spPr>
          <a:xfrm>
            <a:off x="3466490" y="1508760"/>
            <a:ext cx="768096" cy="768096"/>
          </a:xfrm>
          <a:prstGeom prst="ellipse">
            <a:avLst/>
          </a:prstGeom>
          <a:solidFill>
            <a:schemeClr val="accent2"/>
          </a:solidFill>
          <a:ln w="12700">
            <a:solidFill>
              <a:srgbClr val="FFFFFF">
                <a:alpha val="0"/>
              </a:srgbClr>
            </a:solidFill>
            <a:prstDash val="solid"/>
          </a:ln>
        </p:spPr>
      </p:sp>
      <p:sp>
        <p:nvSpPr>
          <p:cNvPr id="13" name="Text 10"/>
          <p:cNvSpPr txBox="1"/>
          <p:nvPr/>
        </p:nvSpPr>
        <p:spPr>
          <a:xfrm>
            <a:off x="3466490"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4" name="Shape 11"/>
          <p:cNvSpPr/>
          <p:nvPr/>
        </p:nvSpPr>
        <p:spPr>
          <a:xfrm>
            <a:off x="2792578" y="2377440"/>
            <a:ext cx="2115922" cy="2971800"/>
          </a:xfrm>
          <a:prstGeom prst="roundRect">
            <a:avLst>
              <a:gd name="adj" fmla="val 5186"/>
            </a:avLst>
          </a:prstGeom>
          <a:solidFill>
            <a:schemeClr val="accent2">
              <a:alpha val="10000"/>
            </a:schemeClr>
          </a:solidFill>
          <a:ln w="22225">
            <a:solidFill>
              <a:srgbClr val="2A6FB0"/>
            </a:solidFill>
            <a:prstDash val="solid"/>
          </a:ln>
        </p:spPr>
      </p:sp>
      <p:sp>
        <p:nvSpPr>
          <p:cNvPr id="15" name="Text 12"/>
          <p:cNvSpPr txBox="1"/>
          <p:nvPr/>
        </p:nvSpPr>
        <p:spPr>
          <a:xfrm>
            <a:off x="2865730" y="2423160"/>
            <a:ext cx="1969618" cy="502920"/>
          </a:xfrm>
          <a:prstGeom prst="rect">
            <a:avLst/>
          </a:prstGeom>
          <a:noFill/>
          <a:ln/>
        </p:spPr>
        <p:txBody>
          <a:bodyPr wrap="square" lIns="0" tIns="0" rIns="0" bIns="0" rtlCol="0" anchor="ctr"/>
          <a:lstStyle/>
          <a:p>
            <a:pPr algn="ctr" indent="0" marL="0">
              <a:buNone/>
            </a:pPr>
            <a:r>
              <a:rPr lang="en-US" sz="1700" b="1" i="1" dirty="0">
                <a:solidFill>
                  <a:schemeClr val="accent2"/>
                </a:solidFill>
              </a:rPr>
              <a:t>Wat doe ik?</a:t>
            </a:r>
            <a:endParaRPr lang="en-US" sz="1700" dirty="0"/>
          </a:p>
        </p:txBody>
      </p:sp>
      <p:sp>
        <p:nvSpPr>
          <p:cNvPr id="16" name="tag"/>
          <p:cNvSpPr/>
          <p:nvPr/>
        </p:nvSpPr>
        <p:spPr>
          <a:xfrm>
            <a:off x="3256178" y="2953512"/>
            <a:ext cx="1104900"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000" b="1" spc="100" kern="0" dirty="0">
                <a:solidFill>
                  <a:srgbClr val="FFFFFF"/>
                </a:solidFill>
              </a:rPr>
              <a:t>présent</a:t>
            </a:r>
            <a:endParaRPr lang="en-US" sz="1000" dirty="0"/>
          </a:p>
        </p:txBody>
      </p:sp>
      <p:sp>
        <p:nvSpPr>
          <p:cNvPr id="17" name="Text 14"/>
          <p:cNvSpPr txBox="1"/>
          <p:nvPr/>
        </p:nvSpPr>
        <p:spPr>
          <a:xfrm>
            <a:off x="2884018" y="3319272"/>
            <a:ext cx="1933042" cy="1965960"/>
          </a:xfrm>
          <a:prstGeom prst="rect">
            <a:avLst/>
          </a:prstGeom>
          <a:noFill/>
          <a:ln/>
        </p:spPr>
        <p:txBody>
          <a:bodyPr wrap="square" lIns="0" tIns="0" rIns="0" bIns="0" rtlCol="0" anchor="ctr"/>
          <a:lstStyle/>
          <a:p>
            <a:pPr algn="ctr" indent="0" marL="0">
              <a:buNone/>
            </a:pPr>
            <a:r>
              <a:rPr lang="en-US" sz="1400" i="1" dirty="0">
                <a:solidFill>
                  <a:schemeClr val="tx1"/>
                </a:solidFill>
              </a:rPr>
              <a:t>Ik werk als boekhouder bij Peeters &amp; Co.</a:t>
            </a:r>
            <a:endParaRPr lang="en-US" sz="1400" dirty="0"/>
          </a:p>
        </p:txBody>
      </p:sp>
      <p:sp>
        <p:nvSpPr>
          <p:cNvPr id="18" name="Shape 15"/>
          <p:cNvSpPr/>
          <p:nvPr/>
        </p:nvSpPr>
        <p:spPr>
          <a:xfrm>
            <a:off x="5710428" y="1508760"/>
            <a:ext cx="768096" cy="768096"/>
          </a:xfrm>
          <a:prstGeom prst="ellipse">
            <a:avLst/>
          </a:prstGeom>
          <a:solidFill>
            <a:schemeClr val="accent4"/>
          </a:solidFill>
          <a:ln w="12700">
            <a:solidFill>
              <a:srgbClr val="FFFFFF">
                <a:alpha val="0"/>
              </a:srgbClr>
            </a:solidFill>
            <a:prstDash val="solid"/>
          </a:ln>
        </p:spPr>
      </p:sp>
      <p:sp>
        <p:nvSpPr>
          <p:cNvPr id="19" name="Text 16"/>
          <p:cNvSpPr txBox="1"/>
          <p:nvPr/>
        </p:nvSpPr>
        <p:spPr>
          <a:xfrm>
            <a:off x="5710428"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0" name="Shape 17"/>
          <p:cNvSpPr/>
          <p:nvPr/>
        </p:nvSpPr>
        <p:spPr>
          <a:xfrm>
            <a:off x="5036515" y="2377440"/>
            <a:ext cx="2115922" cy="2971800"/>
          </a:xfrm>
          <a:prstGeom prst="roundRect">
            <a:avLst>
              <a:gd name="adj" fmla="val 5186"/>
            </a:avLst>
          </a:prstGeom>
          <a:solidFill>
            <a:schemeClr val="accent4">
              <a:alpha val="10000"/>
            </a:schemeClr>
          </a:solidFill>
          <a:ln w="22225">
            <a:solidFill>
              <a:srgbClr val="B4236A"/>
            </a:solidFill>
            <a:prstDash val="solid"/>
          </a:ln>
        </p:spPr>
      </p:sp>
      <p:sp>
        <p:nvSpPr>
          <p:cNvPr id="21" name="Text 18"/>
          <p:cNvSpPr txBox="1"/>
          <p:nvPr/>
        </p:nvSpPr>
        <p:spPr>
          <a:xfrm>
            <a:off x="5109667" y="2423160"/>
            <a:ext cx="1969618" cy="502920"/>
          </a:xfrm>
          <a:prstGeom prst="rect">
            <a:avLst/>
          </a:prstGeom>
          <a:noFill/>
          <a:ln/>
        </p:spPr>
        <p:txBody>
          <a:bodyPr wrap="square" lIns="0" tIns="0" rIns="0" bIns="0" rtlCol="0" anchor="ctr"/>
          <a:lstStyle/>
          <a:p>
            <a:pPr algn="ctr" indent="0" marL="0">
              <a:buNone/>
            </a:pPr>
            <a:r>
              <a:rPr lang="en-US" sz="1700" b="1" i="1" dirty="0">
                <a:solidFill>
                  <a:schemeClr val="accent4"/>
                </a:solidFill>
              </a:rPr>
              <a:t>Wat heb ik gedaan?</a:t>
            </a:r>
            <a:endParaRPr lang="en-US" sz="1700" dirty="0"/>
          </a:p>
        </p:txBody>
      </p:sp>
      <p:sp>
        <p:nvSpPr>
          <p:cNvPr id="22" name="tag"/>
          <p:cNvSpPr/>
          <p:nvPr/>
        </p:nvSpPr>
        <p:spPr>
          <a:xfrm>
            <a:off x="5500116" y="2953512"/>
            <a:ext cx="925068"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000" b="1" spc="100" kern="0" dirty="0">
                <a:solidFill>
                  <a:srgbClr val="FFFFFF"/>
                </a:solidFill>
              </a:rPr>
              <a:t>passé</a:t>
            </a:r>
            <a:endParaRPr lang="en-US" sz="1000" dirty="0"/>
          </a:p>
        </p:txBody>
      </p:sp>
      <p:sp>
        <p:nvSpPr>
          <p:cNvPr id="23" name="Text 20"/>
          <p:cNvSpPr txBox="1"/>
          <p:nvPr/>
        </p:nvSpPr>
        <p:spPr>
          <a:xfrm>
            <a:off x="5127955" y="3319272"/>
            <a:ext cx="1933042" cy="1965960"/>
          </a:xfrm>
          <a:prstGeom prst="rect">
            <a:avLst/>
          </a:prstGeom>
          <a:noFill/>
          <a:ln/>
        </p:spPr>
        <p:txBody>
          <a:bodyPr wrap="square" lIns="0" tIns="0" rIns="0" bIns="0" rtlCol="0" anchor="ctr"/>
          <a:lstStyle/>
          <a:p>
            <a:pPr algn="ctr" indent="0" marL="0">
              <a:buNone/>
            </a:pPr>
            <a:r>
              <a:rPr lang="en-US" sz="1400" i="1" dirty="0">
                <a:solidFill>
                  <a:schemeClr val="tx1"/>
                </a:solidFill>
              </a:rPr>
              <a:t>Ik heb economie gestudeerd. Daarna werkte ik bij Maesbouw.</a:t>
            </a:r>
            <a:endParaRPr lang="en-US" sz="1400" dirty="0"/>
          </a:p>
        </p:txBody>
      </p:sp>
      <p:sp>
        <p:nvSpPr>
          <p:cNvPr id="24" name="Shape 21"/>
          <p:cNvSpPr/>
          <p:nvPr/>
        </p:nvSpPr>
        <p:spPr>
          <a:xfrm>
            <a:off x="7954366" y="1508760"/>
            <a:ext cx="768096" cy="768096"/>
          </a:xfrm>
          <a:prstGeom prst="ellipse">
            <a:avLst/>
          </a:prstGeom>
          <a:solidFill>
            <a:schemeClr val="accent3"/>
          </a:solidFill>
          <a:ln w="12700">
            <a:solidFill>
              <a:srgbClr val="FFFFFF">
                <a:alpha val="0"/>
              </a:srgbClr>
            </a:solidFill>
            <a:prstDash val="solid"/>
          </a:ln>
        </p:spPr>
      </p:sp>
      <p:sp>
        <p:nvSpPr>
          <p:cNvPr id="25" name="Text 22"/>
          <p:cNvSpPr txBox="1"/>
          <p:nvPr/>
        </p:nvSpPr>
        <p:spPr>
          <a:xfrm>
            <a:off x="7954366"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6" name="Shape 23"/>
          <p:cNvSpPr/>
          <p:nvPr/>
        </p:nvSpPr>
        <p:spPr>
          <a:xfrm>
            <a:off x="7280453" y="2377440"/>
            <a:ext cx="2115922" cy="2971800"/>
          </a:xfrm>
          <a:prstGeom prst="roundRect">
            <a:avLst>
              <a:gd name="adj" fmla="val 5186"/>
            </a:avLst>
          </a:prstGeom>
          <a:solidFill>
            <a:schemeClr val="accent3">
              <a:alpha val="10000"/>
            </a:schemeClr>
          </a:solidFill>
          <a:ln w="22225">
            <a:solidFill>
              <a:srgbClr val="2E7D4F"/>
            </a:solidFill>
            <a:prstDash val="solid"/>
          </a:ln>
        </p:spPr>
      </p:sp>
      <p:sp>
        <p:nvSpPr>
          <p:cNvPr id="27" name="Text 24"/>
          <p:cNvSpPr txBox="1"/>
          <p:nvPr/>
        </p:nvSpPr>
        <p:spPr>
          <a:xfrm>
            <a:off x="7353605" y="2423160"/>
            <a:ext cx="1969618" cy="502920"/>
          </a:xfrm>
          <a:prstGeom prst="rect">
            <a:avLst/>
          </a:prstGeom>
          <a:noFill/>
          <a:ln/>
        </p:spPr>
        <p:txBody>
          <a:bodyPr wrap="square" lIns="0" tIns="0" rIns="0" bIns="0" rtlCol="0" anchor="ctr"/>
          <a:lstStyle/>
          <a:p>
            <a:pPr algn="ctr" indent="0" marL="0">
              <a:buNone/>
            </a:pPr>
            <a:r>
              <a:rPr lang="en-US" sz="1700" b="1" i="1" dirty="0">
                <a:solidFill>
                  <a:schemeClr val="accent3"/>
                </a:solidFill>
              </a:rPr>
              <a:t>Wat wil ik?</a:t>
            </a:r>
            <a:endParaRPr lang="en-US" sz="1700" dirty="0"/>
          </a:p>
        </p:txBody>
      </p:sp>
      <p:sp>
        <p:nvSpPr>
          <p:cNvPr id="28" name="tag"/>
          <p:cNvSpPr/>
          <p:nvPr/>
        </p:nvSpPr>
        <p:spPr>
          <a:xfrm>
            <a:off x="7744054" y="2953512"/>
            <a:ext cx="1624584"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000" b="1" spc="100" kern="0" dirty="0">
                <a:solidFill>
                  <a:srgbClr val="FFFFFF"/>
                </a:solidFill>
              </a:rPr>
              <a:t>futur, souhait</a:t>
            </a:r>
            <a:endParaRPr lang="en-US" sz="1000" dirty="0"/>
          </a:p>
        </p:txBody>
      </p:sp>
      <p:sp>
        <p:nvSpPr>
          <p:cNvPr id="29" name="Text 26"/>
          <p:cNvSpPr txBox="1"/>
          <p:nvPr/>
        </p:nvSpPr>
        <p:spPr>
          <a:xfrm>
            <a:off x="7371893" y="3319272"/>
            <a:ext cx="1933042" cy="1965960"/>
          </a:xfrm>
          <a:prstGeom prst="rect">
            <a:avLst/>
          </a:prstGeom>
          <a:noFill/>
          <a:ln/>
        </p:spPr>
        <p:txBody>
          <a:bodyPr wrap="square" lIns="0" tIns="0" rIns="0" bIns="0" rtlCol="0" anchor="ctr"/>
          <a:lstStyle/>
          <a:p>
            <a:pPr algn="ctr" indent="0" marL="0">
              <a:buNone/>
            </a:pPr>
            <a:r>
              <a:rPr lang="en-US" sz="1400" i="1" dirty="0">
                <a:solidFill>
                  <a:schemeClr val="tx1"/>
                </a:solidFill>
              </a:rPr>
              <a:t>Volgend jaar ga ik een opleiding volgen. Later zou ik graag een team leiden.</a:t>
            </a:r>
            <a:endParaRPr lang="en-US" sz="1400" dirty="0"/>
          </a:p>
        </p:txBody>
      </p:sp>
      <p:sp>
        <p:nvSpPr>
          <p:cNvPr id="30" name="Shape 27"/>
          <p:cNvSpPr/>
          <p:nvPr/>
        </p:nvSpPr>
        <p:spPr>
          <a:xfrm>
            <a:off x="10198303" y="1508760"/>
            <a:ext cx="768096" cy="768096"/>
          </a:xfrm>
          <a:prstGeom prst="ellipse">
            <a:avLst/>
          </a:prstGeom>
          <a:solidFill>
            <a:schemeClr val="accent5"/>
          </a:solidFill>
          <a:ln w="12700">
            <a:solidFill>
              <a:srgbClr val="FFFFFF">
                <a:alpha val="0"/>
              </a:srgbClr>
            </a:solidFill>
            <a:prstDash val="solid"/>
          </a:ln>
        </p:spPr>
      </p:sp>
      <p:sp>
        <p:nvSpPr>
          <p:cNvPr id="31" name="Text 28"/>
          <p:cNvSpPr txBox="1"/>
          <p:nvPr/>
        </p:nvSpPr>
        <p:spPr>
          <a:xfrm>
            <a:off x="10198303"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32" name="Shape 29"/>
          <p:cNvSpPr/>
          <p:nvPr/>
        </p:nvSpPr>
        <p:spPr>
          <a:xfrm>
            <a:off x="9524390" y="2377440"/>
            <a:ext cx="2115922" cy="2971800"/>
          </a:xfrm>
          <a:prstGeom prst="roundRect">
            <a:avLst>
              <a:gd name="adj" fmla="val 5186"/>
            </a:avLst>
          </a:prstGeom>
          <a:solidFill>
            <a:schemeClr val="accent5">
              <a:alpha val="10000"/>
            </a:schemeClr>
          </a:solidFill>
          <a:ln w="22225">
            <a:solidFill>
              <a:srgbClr val="4A5A70"/>
            </a:solidFill>
            <a:prstDash val="solid"/>
          </a:ln>
        </p:spPr>
      </p:sp>
      <p:sp>
        <p:nvSpPr>
          <p:cNvPr id="33" name="Text 30"/>
          <p:cNvSpPr txBox="1"/>
          <p:nvPr/>
        </p:nvSpPr>
        <p:spPr>
          <a:xfrm>
            <a:off x="9597542" y="2423160"/>
            <a:ext cx="1969618" cy="502920"/>
          </a:xfrm>
          <a:prstGeom prst="rect">
            <a:avLst/>
          </a:prstGeom>
          <a:noFill/>
          <a:ln/>
        </p:spPr>
        <p:txBody>
          <a:bodyPr wrap="square" lIns="0" tIns="0" rIns="0" bIns="0" rtlCol="0" anchor="ctr"/>
          <a:lstStyle/>
          <a:p>
            <a:pPr algn="ctr" indent="0" marL="0">
              <a:buNone/>
            </a:pPr>
            <a:r>
              <a:rPr lang="en-US" sz="1700" b="1" i="1" dirty="0">
                <a:solidFill>
                  <a:schemeClr val="accent5"/>
                </a:solidFill>
              </a:rPr>
              <a:t>En privé?</a:t>
            </a:r>
            <a:endParaRPr lang="en-US" sz="1700" dirty="0"/>
          </a:p>
        </p:txBody>
      </p:sp>
      <p:sp>
        <p:nvSpPr>
          <p:cNvPr id="34" name="tag"/>
          <p:cNvSpPr/>
          <p:nvPr/>
        </p:nvSpPr>
        <p:spPr>
          <a:xfrm>
            <a:off x="9987991" y="2953512"/>
            <a:ext cx="995172" cy="274320"/>
          </a:xfrm>
          <a:prstGeom prst="roundRect">
            <a:avLst>
              <a:gd name="adj" fmla="val 16667"/>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loisirs</a:t>
            </a:r>
            <a:endParaRPr lang="en-US" sz="1000" dirty="0"/>
          </a:p>
        </p:txBody>
      </p:sp>
      <p:sp>
        <p:nvSpPr>
          <p:cNvPr id="35" name="Text 32"/>
          <p:cNvSpPr txBox="1"/>
          <p:nvPr/>
        </p:nvSpPr>
        <p:spPr>
          <a:xfrm>
            <a:off x="9615830" y="3319272"/>
            <a:ext cx="1933042" cy="1965960"/>
          </a:xfrm>
          <a:prstGeom prst="rect">
            <a:avLst/>
          </a:prstGeom>
          <a:noFill/>
          <a:ln/>
        </p:spPr>
        <p:txBody>
          <a:bodyPr wrap="square" lIns="0" tIns="0" rIns="0" bIns="0" rtlCol="0" anchor="ctr"/>
          <a:lstStyle/>
          <a:p>
            <a:pPr algn="ctr" indent="0" marL="0">
              <a:buNone/>
            </a:pPr>
            <a:r>
              <a:rPr lang="en-US" sz="1400" i="1" dirty="0">
                <a:solidFill>
                  <a:schemeClr val="tx1"/>
                </a:solidFill>
              </a:rPr>
              <a:t>In mijn vrije tijd kook ik graag.</a:t>
            </a:r>
            <a:endParaRPr lang="en-US" sz="1400" dirty="0"/>
          </a:p>
        </p:txBody>
      </p:sp>
      <p:sp>
        <p:nvSpPr>
          <p:cNvPr id="36" name="Shape 33"/>
          <p:cNvSpPr/>
          <p:nvPr/>
        </p:nvSpPr>
        <p:spPr>
          <a:xfrm>
            <a:off x="548640" y="5532120"/>
            <a:ext cx="11091672" cy="685800"/>
          </a:xfrm>
          <a:prstGeom prst="roundRect">
            <a:avLst>
              <a:gd name="adj" fmla="val 10667"/>
            </a:avLst>
          </a:prstGeom>
          <a:solidFill>
            <a:schemeClr val="tx2"/>
          </a:solidFill>
          <a:ln w="12700">
            <a:solidFill>
              <a:srgbClr val="FFFFFF">
                <a:alpha val="0"/>
              </a:srgbClr>
            </a:solidFill>
            <a:prstDash val="solid"/>
          </a:ln>
        </p:spPr>
      </p:sp>
      <p:sp>
        <p:nvSpPr>
          <p:cNvPr id="37" name="Text 34"/>
          <p:cNvSpPr txBox="1"/>
          <p:nvPr/>
        </p:nvSpPr>
        <p:spPr>
          <a:xfrm>
            <a:off x="822960" y="5532120"/>
            <a:ext cx="10607040" cy="685800"/>
          </a:xfrm>
          <a:prstGeom prst="rect">
            <a:avLst/>
          </a:prstGeom>
          <a:noFill/>
          <a:ln/>
        </p:spPr>
        <p:txBody>
          <a:bodyPr wrap="square" lIns="0" tIns="0" rIns="0" bIns="0" rtlCol="0" anchor="ctr"/>
          <a:lstStyle/>
          <a:p>
            <a:pPr algn="l" indent="0" marL="0">
              <a:buNone/>
            </a:pPr>
            <a:r>
              <a:rPr lang="en-US" sz="1700" dirty="0">
                <a:solidFill>
                  <a:schemeClr val="bg1"/>
                </a:solidFill>
              </a:rPr>
              <a:t>En serrant la main : </a:t>
            </a:r>
            <a:r>
              <a:rPr lang="en-US" sz="1700" b="1" i="1" dirty="0">
                <a:solidFill>
                  <a:schemeClr val="bg1"/>
                </a:solidFill>
              </a:rPr>
              <a:t>Aangenaam!</a:t>
            </a:r>
            <a:r>
              <a:rPr lang="en-US" sz="1700" dirty="0">
                <a:solidFill>
                  <a:schemeClr val="bg1"/>
                </a:solidFill>
              </a:rPr>
              <a:t> · pour finir : </a:t>
            </a:r>
            <a:r>
              <a:rPr lang="en-US" sz="1700" i="1" dirty="0">
                <a:solidFill>
                  <a:schemeClr val="bg1"/>
                </a:solidFill>
              </a:rPr>
              <a:t>Leuk je te leren kennen!</a:t>
            </a:r>
            <a:r>
              <a:rPr lang="en-US" sz="1700" dirty="0">
                <a:solidFill>
                  <a:schemeClr val="bg1"/>
                </a:solidFill>
              </a:rPr>
              <a:t> — un bon pitch dure de 30 secondes à 1 minute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Ma fonction : la carte de visite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08760"/>
            <a:ext cx="11091672" cy="3931920"/>
          </a:xfrm>
          <a:prstGeom prst="roundRect">
            <a:avLst>
              <a:gd name="adj" fmla="val 3488"/>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08760"/>
            <a:ext cx="164592" cy="3931920"/>
          </a:xfrm>
          <a:prstGeom prst="rect">
            <a:avLst/>
          </a:prstGeom>
          <a:solidFill>
            <a:schemeClr val="accent1"/>
          </a:solidFill>
          <a:ln w="12700">
            <a:solidFill>
              <a:srgbClr val="FFFFFF">
                <a:alpha val="0"/>
              </a:srgbClr>
            </a:solidFill>
            <a:prstDash val="solid"/>
          </a:ln>
        </p:spPr>
      </p:sp>
      <p:sp>
        <p:nvSpPr>
          <p:cNvPr id="7" name="Shape 4"/>
          <p:cNvSpPr/>
          <p:nvPr/>
        </p:nvSpPr>
        <p:spPr>
          <a:xfrm>
            <a:off x="960120" y="1691640"/>
            <a:ext cx="1188720" cy="594360"/>
          </a:xfrm>
          <a:prstGeom prst="roundRect">
            <a:avLst>
              <a:gd name="adj" fmla="val 15385"/>
            </a:avLst>
          </a:prstGeom>
          <a:solidFill>
            <a:schemeClr val="accent1"/>
          </a:solidFill>
          <a:ln w="12700">
            <a:solidFill>
              <a:srgbClr val="FFFFFF">
                <a:alpha val="0"/>
              </a:srgbClr>
            </a:solidFill>
            <a:prstDash val="solid"/>
          </a:ln>
        </p:spPr>
      </p:sp>
      <p:sp>
        <p:nvSpPr>
          <p:cNvPr id="8" name="Text 5"/>
          <p:cNvSpPr txBox="1"/>
          <p:nvPr/>
        </p:nvSpPr>
        <p:spPr>
          <a:xfrm>
            <a:off x="960120" y="1691640"/>
            <a:ext cx="1188720" cy="594360"/>
          </a:xfrm>
          <a:prstGeom prst="rect">
            <a:avLst/>
          </a:prstGeom>
          <a:noFill/>
          <a:ln/>
        </p:spPr>
        <p:txBody>
          <a:bodyPr wrap="square" lIns="0" tIns="0" rIns="0" bIns="0" rtlCol="0" anchor="ctr"/>
          <a:lstStyle/>
          <a:p>
            <a:pPr algn="ctr" indent="0" marL="0">
              <a:buNone/>
            </a:pPr>
            <a:r>
              <a:rPr lang="en-US" sz="2200" b="1" dirty="0">
                <a:solidFill>
                  <a:schemeClr val="bg1"/>
                </a:solidFill>
              </a:rPr>
              <a:t>bij</a:t>
            </a:r>
            <a:endParaRPr lang="en-US" sz="2200" dirty="0"/>
          </a:p>
        </p:txBody>
      </p:sp>
      <p:sp>
        <p:nvSpPr>
          <p:cNvPr id="9" name="Text 6"/>
          <p:cNvSpPr txBox="1"/>
          <p:nvPr/>
        </p:nvSpPr>
        <p:spPr>
          <a:xfrm>
            <a:off x="2286000" y="1691640"/>
            <a:ext cx="2377440" cy="594360"/>
          </a:xfrm>
          <a:prstGeom prst="rect">
            <a:avLst/>
          </a:prstGeom>
          <a:noFill/>
          <a:ln/>
        </p:spPr>
        <p:txBody>
          <a:bodyPr wrap="square" lIns="0" tIns="0" rIns="0" bIns="0" rtlCol="0" anchor="ctr"/>
          <a:lstStyle/>
          <a:p>
            <a:pPr algn="l" indent="0" marL="0">
              <a:buNone/>
            </a:pPr>
            <a:r>
              <a:rPr lang="en-US" sz="1500" i="1" dirty="0">
                <a:solidFill>
                  <a:schemeClr val="accent5"/>
                </a:solidFill>
              </a:rPr>
              <a:t>+ l’entreprise</a:t>
            </a:r>
            <a:endParaRPr lang="en-US" sz="1500" dirty="0"/>
          </a:p>
        </p:txBody>
      </p:sp>
      <p:sp>
        <p:nvSpPr>
          <p:cNvPr id="10" name="Text 7"/>
          <p:cNvSpPr txBox="1"/>
          <p:nvPr/>
        </p:nvSpPr>
        <p:spPr>
          <a:xfrm>
            <a:off x="4663440" y="1691640"/>
            <a:ext cx="6858000" cy="594360"/>
          </a:xfrm>
          <a:prstGeom prst="rect">
            <a:avLst/>
          </a:prstGeom>
          <a:noFill/>
          <a:ln/>
        </p:spPr>
        <p:txBody>
          <a:bodyPr wrap="square" lIns="0" tIns="0" rIns="0" bIns="0" rtlCol="0" anchor="ctr"/>
          <a:lstStyle/>
          <a:p>
            <a:pPr algn="l" indent="0" marL="0">
              <a:buNone/>
            </a:pPr>
            <a:r>
              <a:rPr lang="en-US" sz="1800" i="1" dirty="0">
                <a:solidFill>
                  <a:schemeClr val="tx1"/>
                </a:solidFill>
              </a:rPr>
              <a:t>Ik werk </a:t>
            </a:r>
            <a:r>
              <a:rPr lang="en-US" sz="1800" b="1" i="1" dirty="0">
                <a:solidFill>
                  <a:schemeClr val="accent1"/>
                </a:solidFill>
              </a:rPr>
              <a:t>bij</a:t>
            </a:r>
            <a:r>
              <a:rPr lang="en-US" sz="1800" i="1" dirty="0">
                <a:solidFill>
                  <a:schemeClr val="tx1"/>
                </a:solidFill>
              </a:rPr>
              <a:t> Peeters &amp; Co.</a:t>
            </a:r>
            <a:endParaRPr lang="en-US" sz="1800" dirty="0"/>
          </a:p>
        </p:txBody>
      </p:sp>
      <p:sp>
        <p:nvSpPr>
          <p:cNvPr id="11" name="Shape 8"/>
          <p:cNvSpPr/>
          <p:nvPr/>
        </p:nvSpPr>
        <p:spPr>
          <a:xfrm>
            <a:off x="960120" y="2423160"/>
            <a:ext cx="1188720" cy="594360"/>
          </a:xfrm>
          <a:prstGeom prst="roundRect">
            <a:avLst>
              <a:gd name="adj" fmla="val 15385"/>
            </a:avLst>
          </a:prstGeom>
          <a:solidFill>
            <a:schemeClr val="accent1"/>
          </a:solidFill>
          <a:ln w="12700">
            <a:solidFill>
              <a:srgbClr val="FFFFFF">
                <a:alpha val="0"/>
              </a:srgbClr>
            </a:solidFill>
            <a:prstDash val="solid"/>
          </a:ln>
        </p:spPr>
      </p:sp>
      <p:sp>
        <p:nvSpPr>
          <p:cNvPr id="12" name="Text 9"/>
          <p:cNvSpPr txBox="1"/>
          <p:nvPr/>
        </p:nvSpPr>
        <p:spPr>
          <a:xfrm>
            <a:off x="960120" y="2423160"/>
            <a:ext cx="1188720" cy="594360"/>
          </a:xfrm>
          <a:prstGeom prst="rect">
            <a:avLst/>
          </a:prstGeom>
          <a:noFill/>
          <a:ln/>
        </p:spPr>
        <p:txBody>
          <a:bodyPr wrap="square" lIns="0" tIns="0" rIns="0" bIns="0" rtlCol="0" anchor="ctr"/>
          <a:lstStyle/>
          <a:p>
            <a:pPr algn="ctr" indent="0" marL="0">
              <a:buNone/>
            </a:pPr>
            <a:r>
              <a:rPr lang="en-US" sz="2200" b="1" dirty="0">
                <a:solidFill>
                  <a:schemeClr val="bg1"/>
                </a:solidFill>
              </a:rPr>
              <a:t>op</a:t>
            </a:r>
            <a:endParaRPr lang="en-US" sz="2200" dirty="0"/>
          </a:p>
        </p:txBody>
      </p:sp>
      <p:sp>
        <p:nvSpPr>
          <p:cNvPr id="13" name="Text 10"/>
          <p:cNvSpPr txBox="1"/>
          <p:nvPr/>
        </p:nvSpPr>
        <p:spPr>
          <a:xfrm>
            <a:off x="2286000" y="2423160"/>
            <a:ext cx="2377440" cy="594360"/>
          </a:xfrm>
          <a:prstGeom prst="rect">
            <a:avLst/>
          </a:prstGeom>
          <a:noFill/>
          <a:ln/>
        </p:spPr>
        <p:txBody>
          <a:bodyPr wrap="square" lIns="0" tIns="0" rIns="0" bIns="0" rtlCol="0" anchor="ctr"/>
          <a:lstStyle/>
          <a:p>
            <a:pPr algn="l" indent="0" marL="0">
              <a:buNone/>
            </a:pPr>
            <a:r>
              <a:rPr lang="en-US" sz="1500" i="1" dirty="0">
                <a:solidFill>
                  <a:schemeClr val="accent5"/>
                </a:solidFill>
              </a:rPr>
              <a:t>+ le service</a:t>
            </a:r>
            <a:endParaRPr lang="en-US" sz="1500" dirty="0"/>
          </a:p>
        </p:txBody>
      </p:sp>
      <p:sp>
        <p:nvSpPr>
          <p:cNvPr id="14" name="Text 11"/>
          <p:cNvSpPr txBox="1"/>
          <p:nvPr/>
        </p:nvSpPr>
        <p:spPr>
          <a:xfrm>
            <a:off x="4663440" y="2423160"/>
            <a:ext cx="6858000" cy="594360"/>
          </a:xfrm>
          <a:prstGeom prst="rect">
            <a:avLst/>
          </a:prstGeom>
          <a:noFill/>
          <a:ln/>
        </p:spPr>
        <p:txBody>
          <a:bodyPr wrap="square" lIns="0" tIns="0" rIns="0" bIns="0" rtlCol="0" anchor="ctr"/>
          <a:lstStyle/>
          <a:p>
            <a:pPr algn="l" indent="0" marL="0">
              <a:buNone/>
            </a:pPr>
            <a:r>
              <a:rPr lang="en-US" sz="1800" i="1" dirty="0">
                <a:solidFill>
                  <a:schemeClr val="tx1"/>
                </a:solidFill>
              </a:rPr>
              <a:t>Ik werk </a:t>
            </a:r>
            <a:r>
              <a:rPr lang="en-US" sz="1800" b="1" i="1" dirty="0">
                <a:solidFill>
                  <a:schemeClr val="accent1"/>
                </a:solidFill>
              </a:rPr>
              <a:t>op</a:t>
            </a:r>
            <a:r>
              <a:rPr lang="en-US" sz="1800" i="1" dirty="0">
                <a:solidFill>
                  <a:schemeClr val="tx1"/>
                </a:solidFill>
              </a:rPr>
              <a:t> de boekhouding. (aussi : </a:t>
            </a:r>
            <a:r>
              <a:rPr lang="en-US" sz="1800" b="1" i="1" dirty="0">
                <a:solidFill>
                  <a:schemeClr val="accent1"/>
                </a:solidFill>
              </a:rPr>
              <a:t>bij</a:t>
            </a:r>
            <a:r>
              <a:rPr lang="en-US" sz="1800" i="1" dirty="0">
                <a:solidFill>
                  <a:schemeClr val="tx1"/>
                </a:solidFill>
              </a:rPr>
              <a:t> de personeelsdienst)</a:t>
            </a:r>
            <a:endParaRPr lang="en-US" sz="1800" dirty="0"/>
          </a:p>
        </p:txBody>
      </p:sp>
      <p:sp>
        <p:nvSpPr>
          <p:cNvPr id="15" name="Shape 12"/>
          <p:cNvSpPr/>
          <p:nvPr/>
        </p:nvSpPr>
        <p:spPr>
          <a:xfrm>
            <a:off x="960120" y="3154680"/>
            <a:ext cx="1188720" cy="594360"/>
          </a:xfrm>
          <a:prstGeom prst="roundRect">
            <a:avLst>
              <a:gd name="adj" fmla="val 15385"/>
            </a:avLst>
          </a:prstGeom>
          <a:solidFill>
            <a:schemeClr val="accent1"/>
          </a:solidFill>
          <a:ln w="12700">
            <a:solidFill>
              <a:srgbClr val="FFFFFF">
                <a:alpha val="0"/>
              </a:srgbClr>
            </a:solidFill>
            <a:prstDash val="solid"/>
          </a:ln>
        </p:spPr>
      </p:sp>
      <p:sp>
        <p:nvSpPr>
          <p:cNvPr id="16" name="Text 13"/>
          <p:cNvSpPr txBox="1"/>
          <p:nvPr/>
        </p:nvSpPr>
        <p:spPr>
          <a:xfrm>
            <a:off x="960120" y="3154680"/>
            <a:ext cx="1188720" cy="594360"/>
          </a:xfrm>
          <a:prstGeom prst="rect">
            <a:avLst/>
          </a:prstGeom>
          <a:noFill/>
          <a:ln/>
        </p:spPr>
        <p:txBody>
          <a:bodyPr wrap="square" lIns="0" tIns="0" rIns="0" bIns="0" rtlCol="0" anchor="ctr"/>
          <a:lstStyle/>
          <a:p>
            <a:pPr algn="ctr" indent="0" marL="0">
              <a:buNone/>
            </a:pPr>
            <a:r>
              <a:rPr lang="en-US" sz="2200" b="1" dirty="0">
                <a:solidFill>
                  <a:schemeClr val="bg1"/>
                </a:solidFill>
              </a:rPr>
              <a:t>als</a:t>
            </a:r>
            <a:endParaRPr lang="en-US" sz="2200" dirty="0"/>
          </a:p>
        </p:txBody>
      </p:sp>
      <p:sp>
        <p:nvSpPr>
          <p:cNvPr id="17" name="Text 14"/>
          <p:cNvSpPr txBox="1"/>
          <p:nvPr/>
        </p:nvSpPr>
        <p:spPr>
          <a:xfrm>
            <a:off x="2286000" y="3154680"/>
            <a:ext cx="2377440" cy="594360"/>
          </a:xfrm>
          <a:prstGeom prst="rect">
            <a:avLst/>
          </a:prstGeom>
          <a:noFill/>
          <a:ln/>
        </p:spPr>
        <p:txBody>
          <a:bodyPr wrap="square" lIns="0" tIns="0" rIns="0" bIns="0" rtlCol="0" anchor="ctr"/>
          <a:lstStyle/>
          <a:p>
            <a:pPr algn="l" indent="0" marL="0">
              <a:buNone/>
            </a:pPr>
            <a:r>
              <a:rPr lang="en-US" sz="1500" i="1" dirty="0">
                <a:solidFill>
                  <a:schemeClr val="accent5"/>
                </a:solidFill>
              </a:rPr>
              <a:t>+ la fonction</a:t>
            </a:r>
            <a:endParaRPr lang="en-US" sz="1500" dirty="0"/>
          </a:p>
        </p:txBody>
      </p:sp>
      <p:sp>
        <p:nvSpPr>
          <p:cNvPr id="18" name="Text 15"/>
          <p:cNvSpPr txBox="1"/>
          <p:nvPr/>
        </p:nvSpPr>
        <p:spPr>
          <a:xfrm>
            <a:off x="4663440" y="3154680"/>
            <a:ext cx="6858000" cy="594360"/>
          </a:xfrm>
          <a:prstGeom prst="rect">
            <a:avLst/>
          </a:prstGeom>
          <a:noFill/>
          <a:ln/>
        </p:spPr>
        <p:txBody>
          <a:bodyPr wrap="square" lIns="0" tIns="0" rIns="0" bIns="0" rtlCol="0" anchor="ctr"/>
          <a:lstStyle/>
          <a:p>
            <a:pPr algn="l" indent="0" marL="0">
              <a:buNone/>
            </a:pPr>
            <a:r>
              <a:rPr lang="en-US" sz="1800" i="1" dirty="0">
                <a:solidFill>
                  <a:schemeClr val="tx1"/>
                </a:solidFill>
              </a:rPr>
              <a:t>Ik werk </a:t>
            </a:r>
            <a:r>
              <a:rPr lang="en-US" sz="1800" b="1" i="1" dirty="0">
                <a:solidFill>
                  <a:schemeClr val="accent1"/>
                </a:solidFill>
              </a:rPr>
              <a:t>als</a:t>
            </a:r>
            <a:r>
              <a:rPr lang="en-US" sz="1800" i="1" dirty="0">
                <a:solidFill>
                  <a:schemeClr val="tx1"/>
                </a:solidFill>
              </a:rPr>
              <a:t> boekhouder. · Ik ben boekhouder. (sans </a:t>
            </a:r>
            <a:r>
              <a:rPr lang="en-US" sz="1800" dirty="0">
                <a:solidFill>
                  <a:schemeClr val="tx1"/>
                </a:solidFill>
              </a:rPr>
              <a:t>een</a:t>
            </a:r>
            <a:r>
              <a:rPr lang="en-US" sz="1800" i="1" dirty="0">
                <a:solidFill>
                  <a:schemeClr val="tx1"/>
                </a:solidFill>
              </a:rPr>
              <a:t>)</a:t>
            </a:r>
            <a:endParaRPr lang="en-US" sz="1800" dirty="0"/>
          </a:p>
        </p:txBody>
      </p:sp>
      <p:sp>
        <p:nvSpPr>
          <p:cNvPr id="19" name="Shape 16"/>
          <p:cNvSpPr/>
          <p:nvPr/>
        </p:nvSpPr>
        <p:spPr>
          <a:xfrm>
            <a:off x="960120" y="3886200"/>
            <a:ext cx="1188720" cy="594360"/>
          </a:xfrm>
          <a:prstGeom prst="roundRect">
            <a:avLst>
              <a:gd name="adj" fmla="val 15385"/>
            </a:avLst>
          </a:prstGeom>
          <a:solidFill>
            <a:schemeClr val="accent1"/>
          </a:solidFill>
          <a:ln w="12700">
            <a:solidFill>
              <a:srgbClr val="FFFFFF">
                <a:alpha val="0"/>
              </a:srgbClr>
            </a:solidFill>
            <a:prstDash val="solid"/>
          </a:ln>
        </p:spPr>
      </p:sp>
      <p:sp>
        <p:nvSpPr>
          <p:cNvPr id="20" name="Text 17"/>
          <p:cNvSpPr txBox="1"/>
          <p:nvPr/>
        </p:nvSpPr>
        <p:spPr>
          <a:xfrm>
            <a:off x="960120" y="3886200"/>
            <a:ext cx="1188720" cy="594360"/>
          </a:xfrm>
          <a:prstGeom prst="rect">
            <a:avLst/>
          </a:prstGeom>
          <a:noFill/>
          <a:ln/>
        </p:spPr>
        <p:txBody>
          <a:bodyPr wrap="square" lIns="0" tIns="0" rIns="0" bIns="0" rtlCol="0" anchor="ctr"/>
          <a:lstStyle/>
          <a:p>
            <a:pPr algn="ctr" indent="0" marL="0">
              <a:buNone/>
            </a:pPr>
            <a:r>
              <a:rPr lang="en-US" sz="2200" b="1" dirty="0">
                <a:solidFill>
                  <a:schemeClr val="bg1"/>
                </a:solidFill>
              </a:rPr>
              <a:t>in</a:t>
            </a:r>
            <a:endParaRPr lang="en-US" sz="2200" dirty="0"/>
          </a:p>
        </p:txBody>
      </p:sp>
      <p:sp>
        <p:nvSpPr>
          <p:cNvPr id="21" name="Text 18"/>
          <p:cNvSpPr txBox="1"/>
          <p:nvPr/>
        </p:nvSpPr>
        <p:spPr>
          <a:xfrm>
            <a:off x="2286000" y="3886200"/>
            <a:ext cx="2377440" cy="594360"/>
          </a:xfrm>
          <a:prstGeom prst="rect">
            <a:avLst/>
          </a:prstGeom>
          <a:noFill/>
          <a:ln/>
        </p:spPr>
        <p:txBody>
          <a:bodyPr wrap="square" lIns="0" tIns="0" rIns="0" bIns="0" rtlCol="0" anchor="ctr"/>
          <a:lstStyle/>
          <a:p>
            <a:pPr algn="l" indent="0" marL="0">
              <a:buNone/>
            </a:pPr>
            <a:r>
              <a:rPr lang="en-US" sz="1500" i="1" dirty="0">
                <a:solidFill>
                  <a:schemeClr val="accent5"/>
                </a:solidFill>
              </a:rPr>
              <a:t>+ la ville, le secteur</a:t>
            </a:r>
            <a:endParaRPr lang="en-US" sz="1500" dirty="0"/>
          </a:p>
        </p:txBody>
      </p:sp>
      <p:sp>
        <p:nvSpPr>
          <p:cNvPr id="22" name="Text 19"/>
          <p:cNvSpPr txBox="1"/>
          <p:nvPr/>
        </p:nvSpPr>
        <p:spPr>
          <a:xfrm>
            <a:off x="4663440" y="3886200"/>
            <a:ext cx="6858000" cy="594360"/>
          </a:xfrm>
          <a:prstGeom prst="rect">
            <a:avLst/>
          </a:prstGeom>
          <a:noFill/>
          <a:ln/>
        </p:spPr>
        <p:txBody>
          <a:bodyPr wrap="square" lIns="0" tIns="0" rIns="0" bIns="0" rtlCol="0" anchor="ctr"/>
          <a:lstStyle/>
          <a:p>
            <a:pPr algn="l" indent="0" marL="0">
              <a:buNone/>
            </a:pPr>
            <a:r>
              <a:rPr lang="en-US" sz="1800" i="1" dirty="0">
                <a:solidFill>
                  <a:schemeClr val="tx1"/>
                </a:solidFill>
              </a:rPr>
              <a:t>Ik werk </a:t>
            </a:r>
            <a:r>
              <a:rPr lang="en-US" sz="1800" b="1" i="1" dirty="0">
                <a:solidFill>
                  <a:schemeClr val="accent1"/>
                </a:solidFill>
              </a:rPr>
              <a:t>in</a:t>
            </a:r>
            <a:r>
              <a:rPr lang="en-US" sz="1800" i="1" dirty="0">
                <a:solidFill>
                  <a:schemeClr val="tx1"/>
                </a:solidFill>
              </a:rPr>
              <a:t> Brussel, </a:t>
            </a:r>
            <a:r>
              <a:rPr lang="en-US" sz="1800" b="1" i="1" dirty="0">
                <a:solidFill>
                  <a:schemeClr val="accent1"/>
                </a:solidFill>
              </a:rPr>
              <a:t>in</a:t>
            </a:r>
            <a:r>
              <a:rPr lang="en-US" sz="1800" i="1" dirty="0">
                <a:solidFill>
                  <a:schemeClr val="tx1"/>
                </a:solidFill>
              </a:rPr>
              <a:t> de bouwsector.</a:t>
            </a:r>
            <a:endParaRPr lang="en-US" sz="1800" dirty="0"/>
          </a:p>
        </p:txBody>
      </p:sp>
      <p:sp>
        <p:nvSpPr>
          <p:cNvPr id="23" name="Shape 20"/>
          <p:cNvSpPr/>
          <p:nvPr/>
        </p:nvSpPr>
        <p:spPr>
          <a:xfrm>
            <a:off x="960120" y="4617720"/>
            <a:ext cx="1188720" cy="594360"/>
          </a:xfrm>
          <a:prstGeom prst="roundRect">
            <a:avLst>
              <a:gd name="adj" fmla="val 15385"/>
            </a:avLst>
          </a:prstGeom>
          <a:solidFill>
            <a:schemeClr val="accent1"/>
          </a:solidFill>
          <a:ln w="12700">
            <a:solidFill>
              <a:srgbClr val="FFFFFF">
                <a:alpha val="0"/>
              </a:srgbClr>
            </a:solidFill>
            <a:prstDash val="solid"/>
          </a:ln>
        </p:spPr>
      </p:sp>
      <p:sp>
        <p:nvSpPr>
          <p:cNvPr id="24" name="Text 21"/>
          <p:cNvSpPr txBox="1"/>
          <p:nvPr/>
        </p:nvSpPr>
        <p:spPr>
          <a:xfrm>
            <a:off x="960120" y="4617720"/>
            <a:ext cx="1188720" cy="594360"/>
          </a:xfrm>
          <a:prstGeom prst="rect">
            <a:avLst/>
          </a:prstGeom>
          <a:noFill/>
          <a:ln/>
        </p:spPr>
        <p:txBody>
          <a:bodyPr wrap="square" lIns="0" tIns="0" rIns="0" bIns="0" rtlCol="0" anchor="ctr"/>
          <a:lstStyle/>
          <a:p>
            <a:pPr algn="ctr" indent="0" marL="0">
              <a:buNone/>
            </a:pPr>
            <a:r>
              <a:rPr lang="en-US" sz="2200" b="1" dirty="0">
                <a:solidFill>
                  <a:schemeClr val="bg1"/>
                </a:solidFill>
              </a:rPr>
              <a:t>voor</a:t>
            </a:r>
            <a:endParaRPr lang="en-US" sz="2200" dirty="0"/>
          </a:p>
        </p:txBody>
      </p:sp>
      <p:sp>
        <p:nvSpPr>
          <p:cNvPr id="25" name="Text 22"/>
          <p:cNvSpPr txBox="1"/>
          <p:nvPr/>
        </p:nvSpPr>
        <p:spPr>
          <a:xfrm>
            <a:off x="2286000" y="4617720"/>
            <a:ext cx="2377440" cy="594360"/>
          </a:xfrm>
          <a:prstGeom prst="rect">
            <a:avLst/>
          </a:prstGeom>
          <a:noFill/>
          <a:ln/>
        </p:spPr>
        <p:txBody>
          <a:bodyPr wrap="square" lIns="0" tIns="0" rIns="0" bIns="0" rtlCol="0" anchor="ctr"/>
          <a:lstStyle/>
          <a:p>
            <a:pPr algn="l" indent="0" marL="0">
              <a:buNone/>
            </a:pPr>
            <a:r>
              <a:rPr lang="en-US" sz="1500" i="1" dirty="0">
                <a:solidFill>
                  <a:schemeClr val="accent5"/>
                </a:solidFill>
              </a:rPr>
              <a:t>+ la responsabilité, le client</a:t>
            </a:r>
            <a:endParaRPr lang="en-US" sz="1500" dirty="0"/>
          </a:p>
        </p:txBody>
      </p:sp>
      <p:sp>
        <p:nvSpPr>
          <p:cNvPr id="26" name="Text 23"/>
          <p:cNvSpPr txBox="1"/>
          <p:nvPr/>
        </p:nvSpPr>
        <p:spPr>
          <a:xfrm>
            <a:off x="4663440" y="4617720"/>
            <a:ext cx="6858000" cy="594360"/>
          </a:xfrm>
          <a:prstGeom prst="rect">
            <a:avLst/>
          </a:prstGeom>
          <a:noFill/>
          <a:ln/>
        </p:spPr>
        <p:txBody>
          <a:bodyPr wrap="square" lIns="0" tIns="0" rIns="0" bIns="0" rtlCol="0" anchor="ctr"/>
          <a:lstStyle/>
          <a:p>
            <a:pPr algn="l" indent="0" marL="0">
              <a:buNone/>
            </a:pPr>
            <a:r>
              <a:rPr lang="en-US" sz="1800" i="1" dirty="0">
                <a:solidFill>
                  <a:schemeClr val="tx1"/>
                </a:solidFill>
              </a:rPr>
              <a:t>Ik ben verantwoordelijk </a:t>
            </a:r>
            <a:r>
              <a:rPr lang="en-US" sz="1800" b="1" i="1" dirty="0">
                <a:solidFill>
                  <a:schemeClr val="accent1"/>
                </a:solidFill>
              </a:rPr>
              <a:t>voor</a:t>
            </a:r>
            <a:r>
              <a:rPr lang="en-US" sz="1800" i="1" dirty="0">
                <a:solidFill>
                  <a:schemeClr val="tx1"/>
                </a:solidFill>
              </a:rPr>
              <a:t> de facturatie.</a:t>
            </a:r>
            <a:endParaRPr lang="en-US" sz="1800" dirty="0"/>
          </a:p>
        </p:txBody>
      </p:sp>
      <p:sp>
        <p:nvSpPr>
          <p:cNvPr id="27" name="Shape 24"/>
          <p:cNvSpPr/>
          <p:nvPr/>
        </p:nvSpPr>
        <p:spPr>
          <a:xfrm>
            <a:off x="548640" y="5623560"/>
            <a:ext cx="11091672" cy="621792"/>
          </a:xfrm>
          <a:prstGeom prst="roundRect">
            <a:avLst>
              <a:gd name="adj" fmla="val 11765"/>
            </a:avLst>
          </a:prstGeom>
          <a:solidFill>
            <a:schemeClr val="tx2"/>
          </a:solidFill>
          <a:ln w="12700">
            <a:solidFill>
              <a:srgbClr val="FFFFFF">
                <a:alpha val="0"/>
              </a:srgbClr>
            </a:solidFill>
            <a:prstDash val="solid"/>
          </a:ln>
        </p:spPr>
      </p:sp>
      <p:sp>
        <p:nvSpPr>
          <p:cNvPr id="28" name="Text 25"/>
          <p:cNvSpPr txBox="1"/>
          <p:nvPr/>
        </p:nvSpPr>
        <p:spPr>
          <a:xfrm>
            <a:off x="822960" y="5623560"/>
            <a:ext cx="10607040" cy="621792"/>
          </a:xfrm>
          <a:prstGeom prst="rect">
            <a:avLst/>
          </a:prstGeom>
          <a:noFill/>
          <a:ln/>
        </p:spPr>
        <p:txBody>
          <a:bodyPr wrap="square" lIns="0" tIns="0" rIns="0" bIns="0" rtlCol="0" anchor="ctr"/>
          <a:lstStyle/>
          <a:p>
            <a:pPr algn="l" indent="0" marL="0">
              <a:buNone/>
            </a:pPr>
            <a:r>
              <a:rPr lang="en-US" sz="1700" dirty="0">
                <a:solidFill>
                  <a:schemeClr val="bg1"/>
                </a:solidFill>
              </a:rPr>
              <a:t>Le français dit « </a:t>
            </a:r>
            <a:r>
              <a:rPr lang="en-US" sz="1700" b="1" dirty="0">
                <a:solidFill>
                  <a:schemeClr val="bg1"/>
                </a:solidFill>
              </a:rPr>
              <a:t>chez</a:t>
            </a:r>
            <a:r>
              <a:rPr lang="en-US" sz="1700" dirty="0">
                <a:solidFill>
                  <a:schemeClr val="bg1"/>
                </a:solidFill>
              </a:rPr>
              <a:t> Peeters », « </a:t>
            </a:r>
            <a:r>
              <a:rPr lang="en-US" sz="1700" b="1" dirty="0">
                <a:solidFill>
                  <a:schemeClr val="bg1"/>
                </a:solidFill>
              </a:rPr>
              <a:t>comme</a:t>
            </a:r>
            <a:r>
              <a:rPr lang="en-US" sz="1700" dirty="0">
                <a:solidFill>
                  <a:schemeClr val="bg1"/>
                </a:solidFill>
              </a:rPr>
              <a:t> comptable », « responsable </a:t>
            </a:r>
            <a:r>
              <a:rPr lang="en-US" sz="1700" b="1" dirty="0">
                <a:solidFill>
                  <a:schemeClr val="bg1"/>
                </a:solidFill>
              </a:rPr>
              <a:t>de</a:t>
            </a:r>
            <a:r>
              <a:rPr lang="en-US" sz="1700" dirty="0">
                <a:solidFill>
                  <a:schemeClr val="bg1"/>
                </a:solidFill>
              </a:rPr>
              <a:t> » : trois pièges en une phrase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Mes tâches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54480"/>
            <a:ext cx="5431536" cy="960120"/>
          </a:xfrm>
          <a:prstGeom prst="roundRect">
            <a:avLst>
              <a:gd name="adj" fmla="val 9524"/>
            </a:avLst>
          </a:prstGeom>
          <a:solidFill>
            <a:srgbClr val="EAF2FB"/>
          </a:solidFill>
          <a:ln w="19050">
            <a:solidFill>
              <a:srgbClr val="2A6FB0"/>
            </a:solidFill>
            <a:prstDash val="solid"/>
          </a:ln>
        </p:spPr>
      </p:sp>
      <p:sp>
        <p:nvSpPr>
          <p:cNvPr id="6" name="Text 3"/>
          <p:cNvSpPr txBox="1"/>
          <p:nvPr/>
        </p:nvSpPr>
        <p:spPr>
          <a:xfrm>
            <a:off x="777240" y="1554480"/>
            <a:ext cx="5065776" cy="960120"/>
          </a:xfrm>
          <a:prstGeom prst="rect">
            <a:avLst/>
          </a:prstGeom>
          <a:noFill/>
          <a:ln/>
        </p:spPr>
        <p:txBody>
          <a:bodyPr wrap="square" lIns="0" tIns="0" rIns="0" bIns="0" rtlCol="0" anchor="ctr"/>
          <a:lstStyle/>
          <a:p>
            <a:pPr algn="l" indent="0" marL="0">
              <a:spcAft>
                <a:spcPts val="200"/>
              </a:spcAft>
              <a:buNone/>
            </a:pPr>
            <a:r>
              <a:rPr lang="en-US" sz="1800" i="1" dirty="0">
                <a:solidFill>
                  <a:schemeClr val="tx1"/>
                </a:solidFill>
              </a:rPr>
              <a:t>Ik ben verantwoordelijk </a:t>
            </a:r>
            <a:r>
              <a:rPr lang="en-US" sz="1800" b="1" i="1" dirty="0">
                <a:solidFill>
                  <a:schemeClr val="tx1"/>
                </a:solidFill>
              </a:rPr>
              <a:t>voor</a:t>
            </a:r>
            <a:r>
              <a:rPr lang="en-US" sz="1800" i="1" dirty="0">
                <a:solidFill>
                  <a:schemeClr val="tx1"/>
                </a:solidFill>
              </a:rPr>
              <a:t> de facturatie.</a:t>
            </a:r>
            <a:endParaRPr lang="en-US" sz="1800" dirty="0"/>
          </a:p>
          <a:p>
            <a:pPr algn="l" indent="0" marL="0">
              <a:spcAft>
                <a:spcPts val="200"/>
              </a:spcAft>
              <a:buNone/>
            </a:pPr>
            <a:r>
              <a:rPr lang="en-US" sz="1800" dirty="0">
                <a:solidFill>
                  <a:schemeClr val="tx1"/>
                </a:solidFill>
              </a:rPr>
              <a:t>je suis responsable de</a:t>
            </a:r>
            <a:endParaRPr lang="en-US" sz="1800" dirty="0"/>
          </a:p>
        </p:txBody>
      </p:sp>
      <p:sp>
        <p:nvSpPr>
          <p:cNvPr id="7" name="Shape 4"/>
          <p:cNvSpPr/>
          <p:nvPr/>
        </p:nvSpPr>
        <p:spPr>
          <a:xfrm>
            <a:off x="6208776" y="1554480"/>
            <a:ext cx="5431536" cy="960120"/>
          </a:xfrm>
          <a:prstGeom prst="roundRect">
            <a:avLst>
              <a:gd name="adj" fmla="val 9524"/>
            </a:avLst>
          </a:prstGeom>
          <a:solidFill>
            <a:srgbClr val="EAF2FB"/>
          </a:solidFill>
          <a:ln w="19050">
            <a:solidFill>
              <a:srgbClr val="2A6FB0"/>
            </a:solidFill>
            <a:prstDash val="solid"/>
          </a:ln>
        </p:spPr>
      </p:sp>
      <p:sp>
        <p:nvSpPr>
          <p:cNvPr id="8" name="Text 5"/>
          <p:cNvSpPr txBox="1"/>
          <p:nvPr/>
        </p:nvSpPr>
        <p:spPr>
          <a:xfrm>
            <a:off x="6437376" y="1554480"/>
            <a:ext cx="5065776" cy="960120"/>
          </a:xfrm>
          <a:prstGeom prst="rect">
            <a:avLst/>
          </a:prstGeom>
          <a:noFill/>
          <a:ln/>
        </p:spPr>
        <p:txBody>
          <a:bodyPr wrap="square" lIns="0" tIns="0" rIns="0" bIns="0" rtlCol="0" anchor="ctr"/>
          <a:lstStyle/>
          <a:p>
            <a:pPr algn="l" indent="0" marL="0">
              <a:spcAft>
                <a:spcPts val="200"/>
              </a:spcAft>
              <a:buNone/>
            </a:pPr>
            <a:r>
              <a:rPr lang="en-US" sz="1800" i="1" dirty="0">
                <a:solidFill>
                  <a:schemeClr val="tx1"/>
                </a:solidFill>
              </a:rPr>
              <a:t>Ik zorg </a:t>
            </a:r>
            <a:r>
              <a:rPr lang="en-US" sz="1800" b="1" i="1" dirty="0">
                <a:solidFill>
                  <a:schemeClr val="tx1"/>
                </a:solidFill>
              </a:rPr>
              <a:t>voor</a:t>
            </a:r>
            <a:r>
              <a:rPr lang="en-US" sz="1800" i="1" dirty="0">
                <a:solidFill>
                  <a:schemeClr val="tx1"/>
                </a:solidFill>
              </a:rPr>
              <a:t> de planning.</a:t>
            </a:r>
            <a:endParaRPr lang="en-US" sz="1800" dirty="0"/>
          </a:p>
          <a:p>
            <a:pPr algn="l" indent="0" marL="0">
              <a:spcAft>
                <a:spcPts val="200"/>
              </a:spcAft>
              <a:buNone/>
            </a:pPr>
            <a:r>
              <a:rPr lang="en-US" sz="1800" dirty="0">
                <a:solidFill>
                  <a:schemeClr val="tx1"/>
                </a:solidFill>
              </a:rPr>
              <a:t>je m’occupe de</a:t>
            </a:r>
            <a:endParaRPr lang="en-US" sz="1800" dirty="0"/>
          </a:p>
        </p:txBody>
      </p:sp>
      <p:sp>
        <p:nvSpPr>
          <p:cNvPr id="9" name="Shape 6"/>
          <p:cNvSpPr/>
          <p:nvPr/>
        </p:nvSpPr>
        <p:spPr>
          <a:xfrm>
            <a:off x="548640" y="2651760"/>
            <a:ext cx="5431536" cy="960120"/>
          </a:xfrm>
          <a:prstGeom prst="roundRect">
            <a:avLst>
              <a:gd name="adj" fmla="val 9524"/>
            </a:avLst>
          </a:prstGeom>
          <a:solidFill>
            <a:srgbClr val="EAF2FB"/>
          </a:solidFill>
          <a:ln w="19050">
            <a:solidFill>
              <a:srgbClr val="2A6FB0"/>
            </a:solidFill>
            <a:prstDash val="solid"/>
          </a:ln>
        </p:spPr>
      </p:sp>
      <p:sp>
        <p:nvSpPr>
          <p:cNvPr id="10" name="Text 7"/>
          <p:cNvSpPr txBox="1"/>
          <p:nvPr/>
        </p:nvSpPr>
        <p:spPr>
          <a:xfrm>
            <a:off x="777240" y="2651760"/>
            <a:ext cx="5065776" cy="960120"/>
          </a:xfrm>
          <a:prstGeom prst="rect">
            <a:avLst/>
          </a:prstGeom>
          <a:noFill/>
          <a:ln/>
        </p:spPr>
        <p:txBody>
          <a:bodyPr wrap="square" lIns="0" tIns="0" rIns="0" bIns="0" rtlCol="0" anchor="ctr"/>
          <a:lstStyle/>
          <a:p>
            <a:pPr algn="l" indent="0" marL="0">
              <a:spcAft>
                <a:spcPts val="200"/>
              </a:spcAft>
              <a:buNone/>
            </a:pPr>
            <a:r>
              <a:rPr lang="en-US" sz="1800" i="1" dirty="0">
                <a:solidFill>
                  <a:schemeClr val="tx1"/>
                </a:solidFill>
              </a:rPr>
              <a:t>Ik hou </a:t>
            </a:r>
            <a:r>
              <a:rPr lang="en-US" sz="1800" b="1" i="1" dirty="0">
                <a:solidFill>
                  <a:schemeClr val="tx1"/>
                </a:solidFill>
              </a:rPr>
              <a:t>me</a:t>
            </a:r>
            <a:r>
              <a:rPr lang="en-US" sz="1800" i="1" dirty="0">
                <a:solidFill>
                  <a:schemeClr val="tx1"/>
                </a:solidFill>
              </a:rPr>
              <a:t> bezig </a:t>
            </a:r>
            <a:r>
              <a:rPr lang="en-US" sz="1800" b="1" i="1" dirty="0">
                <a:solidFill>
                  <a:schemeClr val="tx1"/>
                </a:solidFill>
              </a:rPr>
              <a:t>met</a:t>
            </a:r>
            <a:r>
              <a:rPr lang="en-US" sz="1800" i="1" dirty="0">
                <a:solidFill>
                  <a:schemeClr val="tx1"/>
                </a:solidFill>
              </a:rPr>
              <a:t> de lonen.</a:t>
            </a:r>
            <a:endParaRPr lang="en-US" sz="1800" dirty="0"/>
          </a:p>
          <a:p>
            <a:pPr algn="l" indent="0" marL="0">
              <a:spcAft>
                <a:spcPts val="200"/>
              </a:spcAft>
              <a:buNone/>
            </a:pPr>
            <a:r>
              <a:rPr lang="en-US" sz="1800" dirty="0">
                <a:solidFill>
                  <a:schemeClr val="tx1"/>
                </a:solidFill>
              </a:rPr>
              <a:t>s’occuper de (M28, M11)</a:t>
            </a:r>
            <a:endParaRPr lang="en-US" sz="1800" dirty="0"/>
          </a:p>
        </p:txBody>
      </p:sp>
      <p:sp>
        <p:nvSpPr>
          <p:cNvPr id="11" name="Shape 8"/>
          <p:cNvSpPr/>
          <p:nvPr/>
        </p:nvSpPr>
        <p:spPr>
          <a:xfrm>
            <a:off x="6208776" y="2651760"/>
            <a:ext cx="5431536" cy="960120"/>
          </a:xfrm>
          <a:prstGeom prst="roundRect">
            <a:avLst>
              <a:gd name="adj" fmla="val 9524"/>
            </a:avLst>
          </a:prstGeom>
          <a:solidFill>
            <a:srgbClr val="EAF2FB"/>
          </a:solidFill>
          <a:ln w="19050">
            <a:solidFill>
              <a:srgbClr val="2A6FB0"/>
            </a:solidFill>
            <a:prstDash val="solid"/>
          </a:ln>
        </p:spPr>
      </p:sp>
      <p:sp>
        <p:nvSpPr>
          <p:cNvPr id="12" name="Text 9"/>
          <p:cNvSpPr txBox="1"/>
          <p:nvPr/>
        </p:nvSpPr>
        <p:spPr>
          <a:xfrm>
            <a:off x="6437376" y="2651760"/>
            <a:ext cx="5065776" cy="960120"/>
          </a:xfrm>
          <a:prstGeom prst="rect">
            <a:avLst/>
          </a:prstGeom>
          <a:noFill/>
          <a:ln/>
        </p:spPr>
        <p:txBody>
          <a:bodyPr wrap="square" lIns="0" tIns="0" rIns="0" bIns="0" rtlCol="0" anchor="ctr"/>
          <a:lstStyle/>
          <a:p>
            <a:pPr algn="l" indent="0" marL="0">
              <a:spcAft>
                <a:spcPts val="200"/>
              </a:spcAft>
              <a:buNone/>
            </a:pPr>
            <a:r>
              <a:rPr lang="en-US" sz="1800" i="1" dirty="0">
                <a:solidFill>
                  <a:schemeClr val="tx1"/>
                </a:solidFill>
              </a:rPr>
              <a:t>Ik sta in </a:t>
            </a:r>
            <a:r>
              <a:rPr lang="en-US" sz="1800" b="1" i="1" dirty="0">
                <a:solidFill>
                  <a:schemeClr val="tx1"/>
                </a:solidFill>
              </a:rPr>
              <a:t>voor</a:t>
            </a:r>
            <a:r>
              <a:rPr lang="en-US" sz="1800" i="1" dirty="0">
                <a:solidFill>
                  <a:schemeClr val="tx1"/>
                </a:solidFill>
              </a:rPr>
              <a:t> de klantendienst.</a:t>
            </a:r>
            <a:endParaRPr lang="en-US" sz="1800" dirty="0"/>
          </a:p>
          <a:p>
            <a:pPr algn="l" indent="0" marL="0">
              <a:spcAft>
                <a:spcPts val="200"/>
              </a:spcAft>
              <a:buNone/>
            </a:pPr>
            <a:r>
              <a:rPr lang="en-US" sz="1800" dirty="0">
                <a:solidFill>
                  <a:schemeClr val="tx1"/>
                </a:solidFill>
              </a:rPr>
              <a:t>être en charge de (BE)</a:t>
            </a:r>
            <a:endParaRPr lang="en-US" sz="1800" dirty="0"/>
          </a:p>
        </p:txBody>
      </p:sp>
      <p:sp>
        <p:nvSpPr>
          <p:cNvPr id="13" name="Text 10"/>
          <p:cNvSpPr txBox="1"/>
          <p:nvPr/>
        </p:nvSpPr>
        <p:spPr>
          <a:xfrm>
            <a:off x="548640" y="3840480"/>
            <a:ext cx="5486400" cy="320040"/>
          </a:xfrm>
          <a:prstGeom prst="rect">
            <a:avLst/>
          </a:prstGeom>
          <a:noFill/>
          <a:ln/>
        </p:spPr>
        <p:txBody>
          <a:bodyPr wrap="square" lIns="0" tIns="0" rIns="0" bIns="0" rtlCol="0" anchor="t"/>
          <a:lstStyle/>
          <a:p>
            <a:pPr algn="l" indent="0" marL="0">
              <a:buNone/>
            </a:pPr>
            <a:r>
              <a:rPr lang="en-US" sz="1300" b="1" spc="200" kern="0" dirty="0">
                <a:solidFill>
                  <a:schemeClr val="accent5"/>
                </a:solidFill>
              </a:rPr>
              <a:t>MES TÂCHES</a:t>
            </a:r>
            <a:endParaRPr lang="en-US" sz="1300" dirty="0"/>
          </a:p>
        </p:txBody>
      </p:sp>
      <p:sp>
        <p:nvSpPr>
          <p:cNvPr id="14" name="Shape 11"/>
          <p:cNvSpPr/>
          <p:nvPr/>
        </p:nvSpPr>
        <p:spPr>
          <a:xfrm>
            <a:off x="548640" y="4206240"/>
            <a:ext cx="2635758" cy="1097280"/>
          </a:xfrm>
          <a:prstGeom prst="roundRect">
            <a:avLst>
              <a:gd name="adj" fmla="val 8333"/>
            </a:avLst>
          </a:prstGeom>
          <a:solidFill>
            <a:srgbClr val="FFFFFF"/>
          </a:solidFill>
          <a:ln w="12700">
            <a:solidFill>
              <a:srgbClr val="D5DCE6"/>
            </a:solidFill>
            <a:prstDash val="solid"/>
          </a:ln>
        </p:spPr>
      </p:sp>
      <p:pic>
        <p:nvPicPr>
          <p:cNvPr id="15" name="Image 0" descr="e mail">    </p:cNvPr>
          <p:cNvPicPr>
            <a:picLocks noChangeAspect="1"/>
          </p:cNvPicPr>
          <p:nvPr/>
        </p:nvPicPr>
        <p:blipFill>
          <a:blip r:embed="rId1"/>
          <a:stretch>
            <a:fillRect/>
          </a:stretch>
        </p:blipFill>
        <p:spPr>
          <a:xfrm>
            <a:off x="685800" y="4434840"/>
            <a:ext cx="640080" cy="640080"/>
          </a:xfrm>
          <a:prstGeom prst="rect">
            <a:avLst/>
          </a:prstGeom>
        </p:spPr>
      </p:pic>
      <p:sp>
        <p:nvSpPr>
          <p:cNvPr id="16" name="Text 12"/>
          <p:cNvSpPr txBox="1"/>
          <p:nvPr/>
        </p:nvSpPr>
        <p:spPr>
          <a:xfrm>
            <a:off x="1417320" y="4206240"/>
            <a:ext cx="1675638" cy="1097280"/>
          </a:xfrm>
          <a:prstGeom prst="rect">
            <a:avLst/>
          </a:prstGeom>
          <a:noFill/>
          <a:ln/>
        </p:spPr>
        <p:txBody>
          <a:bodyPr wrap="square" lIns="0" tIns="0" rIns="0" bIns="0" rtlCol="0" anchor="ctr"/>
          <a:lstStyle/>
          <a:p>
            <a:pPr algn="l" indent="0" marL="0">
              <a:buNone/>
            </a:pPr>
            <a:r>
              <a:rPr lang="en-US" sz="1600" i="1" dirty="0">
                <a:solidFill>
                  <a:schemeClr val="tx1"/>
                </a:solidFill>
              </a:rPr>
              <a:t>Ik beantwoord e-mails.</a:t>
            </a:r>
            <a:endParaRPr lang="en-US" sz="1600" dirty="0"/>
          </a:p>
        </p:txBody>
      </p:sp>
      <p:sp>
        <p:nvSpPr>
          <p:cNvPr id="17" name="Shape 13"/>
          <p:cNvSpPr/>
          <p:nvPr/>
        </p:nvSpPr>
        <p:spPr>
          <a:xfrm>
            <a:off x="3367278" y="4206240"/>
            <a:ext cx="2635758" cy="1097280"/>
          </a:xfrm>
          <a:prstGeom prst="roundRect">
            <a:avLst>
              <a:gd name="adj" fmla="val 8333"/>
            </a:avLst>
          </a:prstGeom>
          <a:solidFill>
            <a:srgbClr val="FFFFFF"/>
          </a:solidFill>
          <a:ln w="12700">
            <a:solidFill>
              <a:srgbClr val="D5DCE6"/>
            </a:solidFill>
            <a:prstDash val="solid"/>
          </a:ln>
        </p:spPr>
      </p:sp>
      <p:pic>
        <p:nvPicPr>
          <p:cNvPr id="18" name="Image 1" descr="receipt">    </p:cNvPr>
          <p:cNvPicPr>
            <a:picLocks noChangeAspect="1"/>
          </p:cNvPicPr>
          <p:nvPr/>
        </p:nvPicPr>
        <p:blipFill>
          <a:blip r:embed="rId2"/>
          <a:stretch>
            <a:fillRect/>
          </a:stretch>
        </p:blipFill>
        <p:spPr>
          <a:xfrm>
            <a:off x="3504438" y="4434840"/>
            <a:ext cx="640080" cy="640080"/>
          </a:xfrm>
          <a:prstGeom prst="rect">
            <a:avLst/>
          </a:prstGeom>
        </p:spPr>
      </p:pic>
      <p:sp>
        <p:nvSpPr>
          <p:cNvPr id="19" name="Text 14"/>
          <p:cNvSpPr txBox="1"/>
          <p:nvPr/>
        </p:nvSpPr>
        <p:spPr>
          <a:xfrm>
            <a:off x="4235958" y="4206240"/>
            <a:ext cx="1675638" cy="1097280"/>
          </a:xfrm>
          <a:prstGeom prst="rect">
            <a:avLst/>
          </a:prstGeom>
          <a:noFill/>
          <a:ln/>
        </p:spPr>
        <p:txBody>
          <a:bodyPr wrap="square" lIns="0" tIns="0" rIns="0" bIns="0" rtlCol="0" anchor="ctr"/>
          <a:lstStyle/>
          <a:p>
            <a:pPr algn="l" indent="0" marL="0">
              <a:buNone/>
            </a:pPr>
            <a:r>
              <a:rPr lang="en-US" sz="1600" i="1" dirty="0">
                <a:solidFill>
                  <a:schemeClr val="tx1"/>
                </a:solidFill>
              </a:rPr>
              <a:t>Ik maak offertes.</a:t>
            </a:r>
            <a:endParaRPr lang="en-US" sz="1600" dirty="0"/>
          </a:p>
        </p:txBody>
      </p:sp>
      <p:sp>
        <p:nvSpPr>
          <p:cNvPr id="20" name="Shape 15"/>
          <p:cNvSpPr/>
          <p:nvPr/>
        </p:nvSpPr>
        <p:spPr>
          <a:xfrm>
            <a:off x="6185916" y="4206240"/>
            <a:ext cx="2635758" cy="1097280"/>
          </a:xfrm>
          <a:prstGeom prst="roundRect">
            <a:avLst>
              <a:gd name="adj" fmla="val 8333"/>
            </a:avLst>
          </a:prstGeom>
          <a:solidFill>
            <a:srgbClr val="FFFFFF"/>
          </a:solidFill>
          <a:ln w="12700">
            <a:solidFill>
              <a:srgbClr val="D5DCE6"/>
            </a:solidFill>
            <a:prstDash val="solid"/>
          </a:ln>
        </p:spPr>
      </p:sp>
      <p:pic>
        <p:nvPicPr>
          <p:cNvPr id="21" name="Image 2" descr="handshake">    </p:cNvPr>
          <p:cNvPicPr>
            <a:picLocks noChangeAspect="1"/>
          </p:cNvPicPr>
          <p:nvPr/>
        </p:nvPicPr>
        <p:blipFill>
          <a:blip r:embed="rId3"/>
          <a:stretch>
            <a:fillRect/>
          </a:stretch>
        </p:blipFill>
        <p:spPr>
          <a:xfrm>
            <a:off x="6323076" y="4434840"/>
            <a:ext cx="640080" cy="640080"/>
          </a:xfrm>
          <a:prstGeom prst="rect">
            <a:avLst/>
          </a:prstGeom>
        </p:spPr>
      </p:pic>
      <p:sp>
        <p:nvSpPr>
          <p:cNvPr id="22" name="Text 16"/>
          <p:cNvSpPr txBox="1"/>
          <p:nvPr/>
        </p:nvSpPr>
        <p:spPr>
          <a:xfrm>
            <a:off x="7054596" y="4206240"/>
            <a:ext cx="1675638" cy="1097280"/>
          </a:xfrm>
          <a:prstGeom prst="rect">
            <a:avLst/>
          </a:prstGeom>
          <a:noFill/>
          <a:ln/>
        </p:spPr>
        <p:txBody>
          <a:bodyPr wrap="square" lIns="0" tIns="0" rIns="0" bIns="0" rtlCol="0" anchor="ctr"/>
          <a:lstStyle/>
          <a:p>
            <a:pPr algn="l" indent="0" marL="0">
              <a:buNone/>
            </a:pPr>
            <a:r>
              <a:rPr lang="en-US" sz="1600" i="1" dirty="0">
                <a:solidFill>
                  <a:schemeClr val="tx1"/>
                </a:solidFill>
              </a:rPr>
              <a:t>Ik ontvang klanten.</a:t>
            </a:r>
            <a:endParaRPr lang="en-US" sz="1600" dirty="0"/>
          </a:p>
        </p:txBody>
      </p:sp>
      <p:sp>
        <p:nvSpPr>
          <p:cNvPr id="23" name="Shape 17"/>
          <p:cNvSpPr/>
          <p:nvPr/>
        </p:nvSpPr>
        <p:spPr>
          <a:xfrm>
            <a:off x="9004554" y="4206240"/>
            <a:ext cx="2635758" cy="1097280"/>
          </a:xfrm>
          <a:prstGeom prst="roundRect">
            <a:avLst>
              <a:gd name="adj" fmla="val 8333"/>
            </a:avLst>
          </a:prstGeom>
          <a:solidFill>
            <a:srgbClr val="FFFFFF"/>
          </a:solidFill>
          <a:ln w="12700">
            <a:solidFill>
              <a:srgbClr val="D5DCE6"/>
            </a:solidFill>
            <a:prstDash val="solid"/>
          </a:ln>
        </p:spPr>
      </p:sp>
      <p:pic>
        <p:nvPicPr>
          <p:cNvPr id="24" name="Image 3" descr="spiral calendar">    </p:cNvPr>
          <p:cNvPicPr>
            <a:picLocks noChangeAspect="1"/>
          </p:cNvPicPr>
          <p:nvPr/>
        </p:nvPicPr>
        <p:blipFill>
          <a:blip r:embed="rId4"/>
          <a:stretch>
            <a:fillRect/>
          </a:stretch>
        </p:blipFill>
        <p:spPr>
          <a:xfrm>
            <a:off x="9141714" y="4434840"/>
            <a:ext cx="640080" cy="640080"/>
          </a:xfrm>
          <a:prstGeom prst="rect">
            <a:avLst/>
          </a:prstGeom>
        </p:spPr>
      </p:pic>
      <p:sp>
        <p:nvSpPr>
          <p:cNvPr id="25" name="Text 18"/>
          <p:cNvSpPr txBox="1"/>
          <p:nvPr/>
        </p:nvSpPr>
        <p:spPr>
          <a:xfrm>
            <a:off x="9873234" y="4206240"/>
            <a:ext cx="1675638" cy="1097280"/>
          </a:xfrm>
          <a:prstGeom prst="rect">
            <a:avLst/>
          </a:prstGeom>
          <a:noFill/>
          <a:ln/>
        </p:spPr>
        <p:txBody>
          <a:bodyPr wrap="square" lIns="0" tIns="0" rIns="0" bIns="0" rtlCol="0" anchor="ctr"/>
          <a:lstStyle/>
          <a:p>
            <a:pPr algn="l" indent="0" marL="0">
              <a:buNone/>
            </a:pPr>
            <a:r>
              <a:rPr lang="en-US" sz="1600" i="1" dirty="0">
                <a:solidFill>
                  <a:schemeClr val="tx1"/>
                </a:solidFill>
              </a:rPr>
              <a:t>Ik plan vergaderingen.</a:t>
            </a:r>
            <a:endParaRPr lang="en-US" sz="1600" dirty="0"/>
          </a:p>
        </p:txBody>
      </p:sp>
      <p:sp>
        <p:nvSpPr>
          <p:cNvPr id="26" name="Shape 19"/>
          <p:cNvSpPr/>
          <p:nvPr/>
        </p:nvSpPr>
        <p:spPr>
          <a:xfrm>
            <a:off x="548640" y="5532120"/>
            <a:ext cx="11091672" cy="640080"/>
          </a:xfrm>
          <a:prstGeom prst="roundRect">
            <a:avLst>
              <a:gd name="adj" fmla="val 11429"/>
            </a:avLst>
          </a:prstGeom>
          <a:solidFill>
            <a:schemeClr val="tx2"/>
          </a:solidFill>
          <a:ln w="12700">
            <a:solidFill>
              <a:srgbClr val="FFFFFF">
                <a:alpha val="0"/>
              </a:srgbClr>
            </a:solidFill>
            <a:prstDash val="solid"/>
          </a:ln>
        </p:spPr>
      </p:sp>
      <p:sp>
        <p:nvSpPr>
          <p:cNvPr id="27" name="Text 20"/>
          <p:cNvSpPr txBox="1"/>
          <p:nvPr/>
        </p:nvSpPr>
        <p:spPr>
          <a:xfrm>
            <a:off x="822960" y="553212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Variez les formules : la présentation devient plus naturelle.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Mon parcours : la ligne du temps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640080" y="2514600"/>
            <a:ext cx="10881360" cy="914"/>
          </a:xfrm>
          <a:prstGeom prst="line">
            <a:avLst/>
          </a:prstGeom>
          <a:noFill/>
          <a:ln w="38100">
            <a:solidFill>
              <a:srgbClr val="17375E"/>
            </a:solidFill>
            <a:prstDash val="solid"/>
            <a:tailEnd type="triangle"/>
          </a:ln>
        </p:spPr>
      </p:sp>
      <p:sp>
        <p:nvSpPr>
          <p:cNvPr id="6" name="Shape 3"/>
          <p:cNvSpPr/>
          <p:nvPr/>
        </p:nvSpPr>
        <p:spPr>
          <a:xfrm>
            <a:off x="2194560" y="2377440"/>
            <a:ext cx="274320" cy="274320"/>
          </a:xfrm>
          <a:prstGeom prst="ellipse">
            <a:avLst/>
          </a:prstGeom>
          <a:solidFill>
            <a:schemeClr val="accent4"/>
          </a:solidFill>
          <a:ln w="12700">
            <a:solidFill>
              <a:srgbClr val="FFFFFF">
                <a:alpha val="0"/>
              </a:srgbClr>
            </a:solidFill>
            <a:prstDash val="solid"/>
          </a:ln>
        </p:spPr>
      </p:sp>
      <p:pic>
        <p:nvPicPr>
          <p:cNvPr id="7" name="Image 0" descr="graduation cap">    </p:cNvPr>
          <p:cNvPicPr>
            <a:picLocks noChangeAspect="1"/>
          </p:cNvPicPr>
          <p:nvPr/>
        </p:nvPicPr>
        <p:blipFill>
          <a:blip r:embed="rId1"/>
          <a:stretch>
            <a:fillRect/>
          </a:stretch>
        </p:blipFill>
        <p:spPr>
          <a:xfrm>
            <a:off x="1965960" y="1508760"/>
            <a:ext cx="731520" cy="731520"/>
          </a:xfrm>
          <a:prstGeom prst="rect">
            <a:avLst/>
          </a:prstGeom>
        </p:spPr>
      </p:pic>
      <p:sp>
        <p:nvSpPr>
          <p:cNvPr id="8" name="Text 4"/>
          <p:cNvSpPr txBox="1"/>
          <p:nvPr/>
        </p:nvSpPr>
        <p:spPr>
          <a:xfrm>
            <a:off x="1188720" y="2697480"/>
            <a:ext cx="2286000" cy="365760"/>
          </a:xfrm>
          <a:prstGeom prst="rect">
            <a:avLst/>
          </a:prstGeom>
          <a:noFill/>
          <a:ln/>
        </p:spPr>
        <p:txBody>
          <a:bodyPr wrap="square" lIns="0" tIns="0" rIns="0" bIns="0" rtlCol="0" anchor="t"/>
          <a:lstStyle/>
          <a:p>
            <a:pPr algn="ctr" indent="0" marL="0">
              <a:buNone/>
            </a:pPr>
            <a:r>
              <a:rPr lang="en-US" sz="1500" b="1" dirty="0">
                <a:solidFill>
                  <a:schemeClr val="accent4"/>
                </a:solidFill>
              </a:rPr>
              <a:t>2010–2014</a:t>
            </a:r>
            <a:endParaRPr lang="en-US" sz="1500" dirty="0"/>
          </a:p>
        </p:txBody>
      </p:sp>
      <p:sp>
        <p:nvSpPr>
          <p:cNvPr id="9" name="Shape 5"/>
          <p:cNvSpPr/>
          <p:nvPr/>
        </p:nvSpPr>
        <p:spPr>
          <a:xfrm>
            <a:off x="1188720" y="3108960"/>
            <a:ext cx="2286000" cy="1417320"/>
          </a:xfrm>
          <a:prstGeom prst="roundRect">
            <a:avLst>
              <a:gd name="adj" fmla="val 6452"/>
            </a:avLst>
          </a:prstGeom>
          <a:solidFill>
            <a:schemeClr val="accent4">
              <a:alpha val="10000"/>
            </a:schemeClr>
          </a:solidFill>
          <a:ln w="15875">
            <a:solidFill>
              <a:srgbClr val="B4236A"/>
            </a:solidFill>
            <a:prstDash val="solid"/>
          </a:ln>
        </p:spPr>
      </p:sp>
      <p:sp>
        <p:nvSpPr>
          <p:cNvPr id="10" name="Text 6"/>
          <p:cNvSpPr txBox="1"/>
          <p:nvPr/>
        </p:nvSpPr>
        <p:spPr>
          <a:xfrm>
            <a:off x="1280160" y="3108960"/>
            <a:ext cx="2103120" cy="1417320"/>
          </a:xfrm>
          <a:prstGeom prst="rect">
            <a:avLst/>
          </a:prstGeom>
          <a:noFill/>
          <a:ln/>
        </p:spPr>
        <p:txBody>
          <a:bodyPr wrap="square" lIns="0" tIns="0" rIns="0" bIns="0" rtlCol="0" anchor="ctr"/>
          <a:lstStyle/>
          <a:p>
            <a:pPr algn="ctr" indent="0" marL="0">
              <a:buNone/>
            </a:pPr>
            <a:r>
              <a:rPr lang="en-US" sz="1500" i="1" dirty="0">
                <a:solidFill>
                  <a:schemeClr val="tx1"/>
                </a:solidFill>
              </a:rPr>
              <a:t>Ik </a:t>
            </a:r>
            <a:r>
              <a:rPr lang="en-US" sz="1500" b="1" i="1" dirty="0">
                <a:solidFill>
                  <a:schemeClr val="accent4"/>
                </a:solidFill>
              </a:rPr>
              <a:t>heb</a:t>
            </a:r>
            <a:r>
              <a:rPr lang="en-US" sz="1500" i="1" dirty="0">
                <a:solidFill>
                  <a:schemeClr val="tx1"/>
                </a:solidFill>
              </a:rPr>
              <a:t> economie </a:t>
            </a:r>
            <a:r>
              <a:rPr lang="en-US" sz="1500" b="1" i="1" dirty="0">
                <a:solidFill>
                  <a:schemeClr val="accent4"/>
                </a:solidFill>
              </a:rPr>
              <a:t>gestudeerd</a:t>
            </a:r>
            <a:r>
              <a:rPr lang="en-US" sz="1500" i="1" dirty="0">
                <a:solidFill>
                  <a:schemeClr val="tx1"/>
                </a:solidFill>
              </a:rPr>
              <a:t> in Namen.</a:t>
            </a:r>
            <a:endParaRPr lang="en-US" sz="1500" dirty="0"/>
          </a:p>
        </p:txBody>
      </p:sp>
      <p:sp>
        <p:nvSpPr>
          <p:cNvPr id="11" name="Shape 7"/>
          <p:cNvSpPr/>
          <p:nvPr/>
        </p:nvSpPr>
        <p:spPr>
          <a:xfrm>
            <a:off x="4846320" y="2377440"/>
            <a:ext cx="274320" cy="274320"/>
          </a:xfrm>
          <a:prstGeom prst="ellipse">
            <a:avLst/>
          </a:prstGeom>
          <a:solidFill>
            <a:schemeClr val="accent4"/>
          </a:solidFill>
          <a:ln w="12700">
            <a:solidFill>
              <a:srgbClr val="FFFFFF">
                <a:alpha val="0"/>
              </a:srgbClr>
            </a:solidFill>
            <a:prstDash val="solid"/>
          </a:ln>
        </p:spPr>
      </p:sp>
      <p:pic>
        <p:nvPicPr>
          <p:cNvPr id="12" name="Image 1" descr="graduation cap">    </p:cNvPr>
          <p:cNvPicPr>
            <a:picLocks noChangeAspect="1"/>
          </p:cNvPicPr>
          <p:nvPr/>
        </p:nvPicPr>
        <p:blipFill>
          <a:blip r:embed="rId2"/>
          <a:stretch>
            <a:fillRect/>
          </a:stretch>
        </p:blipFill>
        <p:spPr>
          <a:xfrm>
            <a:off x="4617720" y="1508760"/>
            <a:ext cx="731520" cy="731520"/>
          </a:xfrm>
          <a:prstGeom prst="rect">
            <a:avLst/>
          </a:prstGeom>
        </p:spPr>
      </p:pic>
      <p:sp>
        <p:nvSpPr>
          <p:cNvPr id="13" name="Text 8"/>
          <p:cNvSpPr txBox="1"/>
          <p:nvPr/>
        </p:nvSpPr>
        <p:spPr>
          <a:xfrm>
            <a:off x="3840480" y="2697480"/>
            <a:ext cx="2286000" cy="365760"/>
          </a:xfrm>
          <a:prstGeom prst="rect">
            <a:avLst/>
          </a:prstGeom>
          <a:noFill/>
          <a:ln/>
        </p:spPr>
        <p:txBody>
          <a:bodyPr wrap="square" lIns="0" tIns="0" rIns="0" bIns="0" rtlCol="0" anchor="t"/>
          <a:lstStyle/>
          <a:p>
            <a:pPr algn="ctr" indent="0" marL="0">
              <a:buNone/>
            </a:pPr>
            <a:r>
              <a:rPr lang="en-US" sz="1500" b="1" dirty="0">
                <a:solidFill>
                  <a:schemeClr val="accent4"/>
                </a:solidFill>
              </a:rPr>
              <a:t>2014</a:t>
            </a:r>
            <a:endParaRPr lang="en-US" sz="1500" dirty="0"/>
          </a:p>
        </p:txBody>
      </p:sp>
      <p:sp>
        <p:nvSpPr>
          <p:cNvPr id="14" name="Shape 9"/>
          <p:cNvSpPr/>
          <p:nvPr/>
        </p:nvSpPr>
        <p:spPr>
          <a:xfrm>
            <a:off x="3840480" y="3108960"/>
            <a:ext cx="2286000" cy="1417320"/>
          </a:xfrm>
          <a:prstGeom prst="roundRect">
            <a:avLst>
              <a:gd name="adj" fmla="val 6452"/>
            </a:avLst>
          </a:prstGeom>
          <a:solidFill>
            <a:schemeClr val="accent4">
              <a:alpha val="10000"/>
            </a:schemeClr>
          </a:solidFill>
          <a:ln w="15875">
            <a:solidFill>
              <a:srgbClr val="B4236A"/>
            </a:solidFill>
            <a:prstDash val="solid"/>
          </a:ln>
        </p:spPr>
      </p:sp>
      <p:sp>
        <p:nvSpPr>
          <p:cNvPr id="15" name="Text 10"/>
          <p:cNvSpPr txBox="1"/>
          <p:nvPr/>
        </p:nvSpPr>
        <p:spPr>
          <a:xfrm>
            <a:off x="3931920" y="3108960"/>
            <a:ext cx="2103120" cy="1417320"/>
          </a:xfrm>
          <a:prstGeom prst="rect">
            <a:avLst/>
          </a:prstGeom>
          <a:noFill/>
          <a:ln/>
        </p:spPr>
        <p:txBody>
          <a:bodyPr wrap="square" lIns="0" tIns="0" rIns="0" bIns="0" rtlCol="0" anchor="ctr"/>
          <a:lstStyle/>
          <a:p>
            <a:pPr algn="ctr" indent="0" marL="0">
              <a:buNone/>
            </a:pPr>
            <a:r>
              <a:rPr lang="en-US" sz="1500" i="1" dirty="0">
                <a:solidFill>
                  <a:schemeClr val="tx1"/>
                </a:solidFill>
              </a:rPr>
              <a:t>Ik </a:t>
            </a:r>
            <a:r>
              <a:rPr lang="en-US" sz="1500" b="1" i="1" dirty="0">
                <a:solidFill>
                  <a:schemeClr val="accent4"/>
                </a:solidFill>
              </a:rPr>
              <a:t>ben</a:t>
            </a:r>
            <a:r>
              <a:rPr lang="en-US" sz="1500" i="1" dirty="0">
                <a:solidFill>
                  <a:schemeClr val="tx1"/>
                </a:solidFill>
              </a:rPr>
              <a:t> in 2014 </a:t>
            </a:r>
            <a:r>
              <a:rPr lang="en-US" sz="1500" b="1" i="1" dirty="0">
                <a:solidFill>
                  <a:schemeClr val="accent4"/>
                </a:solidFill>
              </a:rPr>
              <a:t>afgestudeerd</a:t>
            </a:r>
            <a:r>
              <a:rPr lang="en-US" sz="1500" i="1" dirty="0">
                <a:solidFill>
                  <a:schemeClr val="tx1"/>
                </a:solidFill>
              </a:rPr>
              <a:t>.</a:t>
            </a:r>
            <a:endParaRPr lang="en-US" sz="1500" dirty="0"/>
          </a:p>
        </p:txBody>
      </p:sp>
      <p:sp>
        <p:nvSpPr>
          <p:cNvPr id="16" name="Shape 11"/>
          <p:cNvSpPr/>
          <p:nvPr/>
        </p:nvSpPr>
        <p:spPr>
          <a:xfrm>
            <a:off x="7498080" y="2377440"/>
            <a:ext cx="274320" cy="274320"/>
          </a:xfrm>
          <a:prstGeom prst="ellipse">
            <a:avLst/>
          </a:prstGeom>
          <a:solidFill>
            <a:schemeClr val="accent4"/>
          </a:solidFill>
          <a:ln w="12700">
            <a:solidFill>
              <a:srgbClr val="FFFFFF">
                <a:alpha val="0"/>
              </a:srgbClr>
            </a:solidFill>
            <a:prstDash val="solid"/>
          </a:ln>
        </p:spPr>
      </p:sp>
      <p:pic>
        <p:nvPicPr>
          <p:cNvPr id="17" name="Image 2" descr="building construction">    </p:cNvPr>
          <p:cNvPicPr>
            <a:picLocks noChangeAspect="1"/>
          </p:cNvPicPr>
          <p:nvPr/>
        </p:nvPicPr>
        <p:blipFill>
          <a:blip r:embed="rId3"/>
          <a:stretch>
            <a:fillRect/>
          </a:stretch>
        </p:blipFill>
        <p:spPr>
          <a:xfrm>
            <a:off x="7269480" y="1508760"/>
            <a:ext cx="731520" cy="731520"/>
          </a:xfrm>
          <a:prstGeom prst="rect">
            <a:avLst/>
          </a:prstGeom>
        </p:spPr>
      </p:pic>
      <p:sp>
        <p:nvSpPr>
          <p:cNvPr id="18" name="Text 12"/>
          <p:cNvSpPr txBox="1"/>
          <p:nvPr/>
        </p:nvSpPr>
        <p:spPr>
          <a:xfrm>
            <a:off x="6492240" y="2697480"/>
            <a:ext cx="2286000" cy="365760"/>
          </a:xfrm>
          <a:prstGeom prst="rect">
            <a:avLst/>
          </a:prstGeom>
          <a:noFill/>
          <a:ln/>
        </p:spPr>
        <p:txBody>
          <a:bodyPr wrap="square" lIns="0" tIns="0" rIns="0" bIns="0" rtlCol="0" anchor="t"/>
          <a:lstStyle/>
          <a:p>
            <a:pPr algn="ctr" indent="0" marL="0">
              <a:buNone/>
            </a:pPr>
            <a:r>
              <a:rPr lang="en-US" sz="1500" b="1" dirty="0">
                <a:solidFill>
                  <a:schemeClr val="accent4"/>
                </a:solidFill>
              </a:rPr>
              <a:t>2015–2020</a:t>
            </a:r>
            <a:endParaRPr lang="en-US" sz="1500" dirty="0"/>
          </a:p>
        </p:txBody>
      </p:sp>
      <p:sp>
        <p:nvSpPr>
          <p:cNvPr id="19" name="Shape 13"/>
          <p:cNvSpPr/>
          <p:nvPr/>
        </p:nvSpPr>
        <p:spPr>
          <a:xfrm>
            <a:off x="6492240" y="3108960"/>
            <a:ext cx="2286000" cy="1417320"/>
          </a:xfrm>
          <a:prstGeom prst="roundRect">
            <a:avLst>
              <a:gd name="adj" fmla="val 6452"/>
            </a:avLst>
          </a:prstGeom>
          <a:solidFill>
            <a:schemeClr val="accent4">
              <a:alpha val="10000"/>
            </a:schemeClr>
          </a:solidFill>
          <a:ln w="15875">
            <a:solidFill>
              <a:srgbClr val="B4236A"/>
            </a:solidFill>
            <a:prstDash val="solid"/>
          </a:ln>
        </p:spPr>
      </p:sp>
      <p:sp>
        <p:nvSpPr>
          <p:cNvPr id="20" name="Text 14"/>
          <p:cNvSpPr txBox="1"/>
          <p:nvPr/>
        </p:nvSpPr>
        <p:spPr>
          <a:xfrm>
            <a:off x="6583680" y="3108960"/>
            <a:ext cx="2103120" cy="1417320"/>
          </a:xfrm>
          <a:prstGeom prst="rect">
            <a:avLst/>
          </a:prstGeom>
          <a:noFill/>
          <a:ln/>
        </p:spPr>
        <p:txBody>
          <a:bodyPr wrap="square" lIns="0" tIns="0" rIns="0" bIns="0" rtlCol="0" anchor="ctr"/>
          <a:lstStyle/>
          <a:p>
            <a:pPr algn="ctr" indent="0" marL="0">
              <a:buNone/>
            </a:pPr>
            <a:r>
              <a:rPr lang="en-US" sz="1500" i="1" dirty="0">
                <a:solidFill>
                  <a:schemeClr val="tx1"/>
                </a:solidFill>
              </a:rPr>
              <a:t>Daarna </a:t>
            </a:r>
            <a:r>
              <a:rPr lang="en-US" sz="1500" b="1" i="1" dirty="0">
                <a:solidFill>
                  <a:schemeClr val="accent4"/>
                </a:solidFill>
              </a:rPr>
              <a:t>werkte</a:t>
            </a:r>
            <a:r>
              <a:rPr lang="en-US" sz="1500" i="1" dirty="0">
                <a:solidFill>
                  <a:schemeClr val="tx1"/>
                </a:solidFill>
              </a:rPr>
              <a:t> ik vijf jaar bij Maesbouw.</a:t>
            </a:r>
            <a:endParaRPr lang="en-US" sz="1500" dirty="0"/>
          </a:p>
        </p:txBody>
      </p:sp>
      <p:sp>
        <p:nvSpPr>
          <p:cNvPr id="21" name="Shape 15"/>
          <p:cNvSpPr/>
          <p:nvPr/>
        </p:nvSpPr>
        <p:spPr>
          <a:xfrm>
            <a:off x="10149840" y="2377440"/>
            <a:ext cx="274320" cy="274320"/>
          </a:xfrm>
          <a:prstGeom prst="ellipse">
            <a:avLst/>
          </a:prstGeom>
          <a:solidFill>
            <a:schemeClr val="accent2"/>
          </a:solidFill>
          <a:ln w="12700">
            <a:solidFill>
              <a:srgbClr val="FFFFFF">
                <a:alpha val="0"/>
              </a:srgbClr>
            </a:solidFill>
            <a:prstDash val="solid"/>
          </a:ln>
        </p:spPr>
      </p:sp>
      <p:pic>
        <p:nvPicPr>
          <p:cNvPr id="22" name="Image 3" descr="office building">    </p:cNvPr>
          <p:cNvPicPr>
            <a:picLocks noChangeAspect="1"/>
          </p:cNvPicPr>
          <p:nvPr/>
        </p:nvPicPr>
        <p:blipFill>
          <a:blip r:embed="rId4"/>
          <a:stretch>
            <a:fillRect/>
          </a:stretch>
        </p:blipFill>
        <p:spPr>
          <a:xfrm>
            <a:off x="9921240" y="1508760"/>
            <a:ext cx="731520" cy="731520"/>
          </a:xfrm>
          <a:prstGeom prst="rect">
            <a:avLst/>
          </a:prstGeom>
        </p:spPr>
      </p:pic>
      <p:sp>
        <p:nvSpPr>
          <p:cNvPr id="23" name="Text 16"/>
          <p:cNvSpPr txBox="1"/>
          <p:nvPr/>
        </p:nvSpPr>
        <p:spPr>
          <a:xfrm>
            <a:off x="9144000" y="2697480"/>
            <a:ext cx="2286000" cy="365760"/>
          </a:xfrm>
          <a:prstGeom prst="rect">
            <a:avLst/>
          </a:prstGeom>
          <a:noFill/>
          <a:ln/>
        </p:spPr>
        <p:txBody>
          <a:bodyPr wrap="square" lIns="0" tIns="0" rIns="0" bIns="0" rtlCol="0" anchor="t"/>
          <a:lstStyle/>
          <a:p>
            <a:pPr algn="ctr" indent="0" marL="0">
              <a:buNone/>
            </a:pPr>
            <a:r>
              <a:rPr lang="en-US" sz="1500" b="1" dirty="0">
                <a:solidFill>
                  <a:schemeClr val="accent2"/>
                </a:solidFill>
              </a:rPr>
              <a:t>sinds januari</a:t>
            </a:r>
            <a:endParaRPr lang="en-US" sz="1500" dirty="0"/>
          </a:p>
        </p:txBody>
      </p:sp>
      <p:sp>
        <p:nvSpPr>
          <p:cNvPr id="24" name="Shape 17"/>
          <p:cNvSpPr/>
          <p:nvPr/>
        </p:nvSpPr>
        <p:spPr>
          <a:xfrm>
            <a:off x="9144000" y="3108960"/>
            <a:ext cx="2286000" cy="1417320"/>
          </a:xfrm>
          <a:prstGeom prst="roundRect">
            <a:avLst>
              <a:gd name="adj" fmla="val 6452"/>
            </a:avLst>
          </a:prstGeom>
          <a:solidFill>
            <a:schemeClr val="accent2">
              <a:alpha val="10000"/>
            </a:schemeClr>
          </a:solidFill>
          <a:ln w="15875">
            <a:solidFill>
              <a:srgbClr val="2A6FB0"/>
            </a:solidFill>
            <a:prstDash val="solid"/>
          </a:ln>
        </p:spPr>
      </p:sp>
      <p:sp>
        <p:nvSpPr>
          <p:cNvPr id="25" name="Text 18"/>
          <p:cNvSpPr txBox="1"/>
          <p:nvPr/>
        </p:nvSpPr>
        <p:spPr>
          <a:xfrm>
            <a:off x="9235440" y="3108960"/>
            <a:ext cx="2103120" cy="1417320"/>
          </a:xfrm>
          <a:prstGeom prst="rect">
            <a:avLst/>
          </a:prstGeom>
          <a:noFill/>
          <a:ln/>
        </p:spPr>
        <p:txBody>
          <a:bodyPr wrap="square" lIns="0" tIns="0" rIns="0" bIns="0" rtlCol="0" anchor="ctr"/>
          <a:lstStyle/>
          <a:p>
            <a:pPr algn="ctr" indent="0" marL="0">
              <a:buNone/>
            </a:pPr>
            <a:r>
              <a:rPr lang="en-US" sz="1500" i="1" dirty="0">
                <a:solidFill>
                  <a:schemeClr val="tx1"/>
                </a:solidFill>
              </a:rPr>
              <a:t>Ik </a:t>
            </a:r>
            <a:r>
              <a:rPr lang="en-US" sz="1500" b="1" i="1" dirty="0">
                <a:solidFill>
                  <a:schemeClr val="accent2"/>
                </a:solidFill>
              </a:rPr>
              <a:t>werk</a:t>
            </a:r>
            <a:r>
              <a:rPr lang="en-US" sz="1500" i="1" dirty="0">
                <a:solidFill>
                  <a:schemeClr val="tx1"/>
                </a:solidFill>
              </a:rPr>
              <a:t> sinds januari bij Peeters &amp; Co.</a:t>
            </a:r>
            <a:endParaRPr lang="en-US" sz="1500" dirty="0"/>
          </a:p>
        </p:txBody>
      </p:sp>
      <p:sp>
        <p:nvSpPr>
          <p:cNvPr id="26" name="Shape 19"/>
          <p:cNvSpPr/>
          <p:nvPr/>
        </p:nvSpPr>
        <p:spPr>
          <a:xfrm>
            <a:off x="548640" y="4709160"/>
            <a:ext cx="11091672" cy="685800"/>
          </a:xfrm>
          <a:prstGeom prst="roundRect">
            <a:avLst>
              <a:gd name="adj" fmla="val 13333"/>
            </a:avLst>
          </a:prstGeom>
          <a:solidFill>
            <a:schemeClr val="bg2"/>
          </a:solidFill>
          <a:ln w="12700">
            <a:solidFill>
              <a:srgbClr val="D5DCE6"/>
            </a:solidFill>
            <a:prstDash val="solid"/>
          </a:ln>
        </p:spPr>
      </p:sp>
      <p:sp>
        <p:nvSpPr>
          <p:cNvPr id="27" name="Text 20"/>
          <p:cNvSpPr txBox="1"/>
          <p:nvPr/>
        </p:nvSpPr>
        <p:spPr>
          <a:xfrm>
            <a:off x="777240" y="4709160"/>
            <a:ext cx="10698480" cy="685800"/>
          </a:xfrm>
          <a:prstGeom prst="rect">
            <a:avLst/>
          </a:prstGeom>
          <a:noFill/>
          <a:ln/>
        </p:spPr>
        <p:txBody>
          <a:bodyPr wrap="square" lIns="0" tIns="0" rIns="0" bIns="0" rtlCol="0" anchor="ctr"/>
          <a:lstStyle/>
          <a:p>
            <a:pPr algn="ctr" indent="0" marL="0">
              <a:buNone/>
            </a:pPr>
            <a:r>
              <a:rPr lang="en-US" sz="1700" b="1" dirty="0">
                <a:solidFill>
                  <a:schemeClr val="accent4"/>
                </a:solidFill>
              </a:rPr>
              <a:t>perfectum</a:t>
            </a:r>
            <a:r>
              <a:rPr lang="en-US" sz="1700" dirty="0">
                <a:solidFill>
                  <a:schemeClr val="tx1"/>
                </a:solidFill>
              </a:rPr>
              <a:t> : un fait (M15) · </a:t>
            </a:r>
            <a:r>
              <a:rPr lang="en-US" sz="1700" b="1" dirty="0">
                <a:solidFill>
                  <a:schemeClr val="accent4"/>
                </a:solidFill>
              </a:rPr>
              <a:t>imperfectum</a:t>
            </a:r>
            <a:r>
              <a:rPr lang="en-US" sz="1700" dirty="0">
                <a:solidFill>
                  <a:schemeClr val="tx1"/>
                </a:solidFill>
              </a:rPr>
              <a:t> : une période, un récit (M19) · </a:t>
            </a:r>
            <a:r>
              <a:rPr lang="en-US" sz="1700" b="1" dirty="0">
                <a:solidFill>
                  <a:schemeClr val="accent2"/>
                </a:solidFill>
              </a:rPr>
              <a:t>présent</a:t>
            </a:r>
            <a:r>
              <a:rPr lang="en-US" sz="1700" dirty="0">
                <a:solidFill>
                  <a:schemeClr val="tx1"/>
                </a:solidFill>
              </a:rPr>
              <a:t> avec </a:t>
            </a:r>
            <a:r>
              <a:rPr lang="en-US" sz="1700" i="1" dirty="0">
                <a:solidFill>
                  <a:schemeClr val="tx1"/>
                </a:solidFill>
              </a:rPr>
              <a:t>sinds</a:t>
            </a:r>
            <a:r>
              <a:rPr lang="en-US" sz="1700" dirty="0">
                <a:solidFill>
                  <a:schemeClr val="tx1"/>
                </a:solidFill>
              </a:rPr>
              <a:t> et </a:t>
            </a:r>
            <a:r>
              <a:rPr lang="en-US" sz="1700" i="1" dirty="0">
                <a:solidFill>
                  <a:schemeClr val="tx1"/>
                </a:solidFill>
              </a:rPr>
              <a:t>al</a:t>
            </a:r>
            <a:endParaRPr lang="en-US" sz="1700" dirty="0"/>
          </a:p>
        </p:txBody>
      </p:sp>
      <p:sp>
        <p:nvSpPr>
          <p:cNvPr id="28" name="Shape 21"/>
          <p:cNvSpPr/>
          <p:nvPr/>
        </p:nvSpPr>
        <p:spPr>
          <a:xfrm>
            <a:off x="548640" y="5577840"/>
            <a:ext cx="11091672" cy="640080"/>
          </a:xfrm>
          <a:prstGeom prst="roundRect">
            <a:avLst>
              <a:gd name="adj" fmla="val 11429"/>
            </a:avLst>
          </a:prstGeom>
          <a:solidFill>
            <a:schemeClr val="tx2"/>
          </a:solidFill>
          <a:ln w="12700">
            <a:solidFill>
              <a:srgbClr val="FFFFFF">
                <a:alpha val="0"/>
              </a:srgbClr>
            </a:solidFill>
            <a:prstDash val="solid"/>
          </a:ln>
        </p:spPr>
      </p:sp>
      <p:sp>
        <p:nvSpPr>
          <p:cNvPr id="29" name="Text 22"/>
          <p:cNvSpPr txBox="1"/>
          <p:nvPr/>
        </p:nvSpPr>
        <p:spPr>
          <a:xfrm>
            <a:off x="822960" y="5577840"/>
            <a:ext cx="10607040" cy="640080"/>
          </a:xfrm>
          <a:prstGeom prst="rect">
            <a:avLst/>
          </a:prstGeom>
          <a:noFill/>
          <a:ln/>
        </p:spPr>
        <p:txBody>
          <a:bodyPr wrap="square" lIns="0" tIns="0" rIns="0" bIns="0" rtlCol="0" anchor="ctr"/>
          <a:lstStyle/>
          <a:p>
            <a:pPr algn="l" indent="0" marL="0">
              <a:buNone/>
            </a:pPr>
            <a:r>
              <a:rPr lang="en-US" sz="1700" i="1" dirty="0">
                <a:solidFill>
                  <a:schemeClr val="bg1"/>
                </a:solidFill>
              </a:rPr>
              <a:t>afstuderen</a:t>
            </a:r>
            <a:r>
              <a:rPr lang="en-US" sz="1700" dirty="0">
                <a:solidFill>
                  <a:schemeClr val="bg1"/>
                </a:solidFill>
              </a:rPr>
              <a:t> prend </a:t>
            </a:r>
            <a:r>
              <a:rPr lang="en-US" sz="1700" i="1" dirty="0">
                <a:solidFill>
                  <a:schemeClr val="bg1"/>
                </a:solidFill>
              </a:rPr>
              <a:t>zijn</a:t>
            </a:r>
            <a:r>
              <a:rPr lang="en-US" sz="1700" dirty="0">
                <a:solidFill>
                  <a:schemeClr val="bg1"/>
                </a:solidFill>
              </a:rPr>
              <a:t> : </a:t>
            </a:r>
            <a:r>
              <a:rPr lang="en-US" sz="1700" i="1" dirty="0">
                <a:solidFill>
                  <a:schemeClr val="bg1"/>
                </a:solidFill>
              </a:rPr>
              <a:t>Ik </a:t>
            </a:r>
            <a:r>
              <a:rPr lang="en-US" sz="1700" b="1" i="1" dirty="0">
                <a:solidFill>
                  <a:schemeClr val="bg1"/>
                </a:solidFill>
              </a:rPr>
              <a:t>ben</a:t>
            </a:r>
            <a:r>
              <a:rPr lang="en-US" sz="1700" i="1" dirty="0">
                <a:solidFill>
                  <a:schemeClr val="bg1"/>
                </a:solidFill>
              </a:rPr>
              <a:t> afgestudeerd.</a:t>
            </a:r>
            <a:r>
              <a:rPr lang="en-US" sz="1700" dirty="0">
                <a:solidFill>
                  <a:schemeClr val="bg1"/>
                </a:solidFill>
              </a:rPr>
              <a:t> · aussi possible : </a:t>
            </a:r>
            <a:r>
              <a:rPr lang="en-US" sz="1700" i="1" dirty="0">
                <a:solidFill>
                  <a:schemeClr val="bg1"/>
                </a:solidFill>
              </a:rPr>
              <a:t>Ik heb vijf jaar bij Maesbouw gewerkt.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depuis, il y a, j’ai… ans</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4069080"/>
          </a:xfrm>
          <a:prstGeom prst="roundRect">
            <a:avLst>
              <a:gd name="adj" fmla="val 1798"/>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68680" y="2057400"/>
            <a:ext cx="3566160" cy="512064"/>
          </a:xfrm>
          <a:prstGeom prst="rect">
            <a:avLst/>
          </a:prstGeom>
          <a:noFill/>
          <a:ln/>
        </p:spPr>
        <p:txBody>
          <a:bodyPr wrap="square" lIns="0" tIns="0" rIns="0" bIns="0" rtlCol="0" anchor="ctr"/>
          <a:lstStyle/>
          <a:p>
            <a:pPr algn="l" indent="0" marL="0">
              <a:buNone/>
            </a:pPr>
            <a:r>
              <a:rPr lang="en-US" sz="1600" dirty="0">
                <a:solidFill>
                  <a:schemeClr val="tx1"/>
                </a:solidFill>
              </a:rPr>
              <a:t>« J’ai 32 ans »</a:t>
            </a:r>
            <a:endParaRPr lang="en-US" sz="1600" dirty="0"/>
          </a:p>
        </p:txBody>
      </p:sp>
      <p:sp>
        <p:nvSpPr>
          <p:cNvPr id="8" name="Text 5"/>
          <p:cNvSpPr txBox="1"/>
          <p:nvPr/>
        </p:nvSpPr>
        <p:spPr>
          <a:xfrm>
            <a:off x="4434840" y="2057400"/>
            <a:ext cx="2743200" cy="51206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Ik heb 32 jaar</a:t>
            </a:r>
            <a:endParaRPr lang="en-US" sz="1500" dirty="0"/>
          </a:p>
        </p:txBody>
      </p:sp>
      <p:sp>
        <p:nvSpPr>
          <p:cNvPr id="9" name="Shape 6"/>
          <p:cNvSpPr/>
          <p:nvPr/>
        </p:nvSpPr>
        <p:spPr>
          <a:xfrm>
            <a:off x="7086600" y="2313432"/>
            <a:ext cx="274320" cy="914"/>
          </a:xfrm>
          <a:prstGeom prst="line">
            <a:avLst/>
          </a:prstGeom>
          <a:noFill/>
          <a:ln w="25400">
            <a:solidFill>
              <a:srgbClr val="2E7D4F"/>
            </a:solidFill>
            <a:prstDash val="solid"/>
            <a:tailEnd type="triangle"/>
          </a:ln>
        </p:spPr>
      </p:sp>
      <p:sp>
        <p:nvSpPr>
          <p:cNvPr id="10" name="Shape 7"/>
          <p:cNvSpPr/>
          <p:nvPr/>
        </p:nvSpPr>
        <p:spPr>
          <a:xfrm>
            <a:off x="7406640" y="2084832"/>
            <a:ext cx="4069080" cy="457200"/>
          </a:xfrm>
          <a:prstGeom prst="roundRect">
            <a:avLst>
              <a:gd name="adj" fmla="val 20000"/>
            </a:avLst>
          </a:prstGeom>
          <a:solidFill>
            <a:schemeClr val="accent3">
              <a:alpha val="12000"/>
            </a:schemeClr>
          </a:solidFill>
          <a:ln w="19050">
            <a:solidFill>
              <a:srgbClr val="2E7D4F"/>
            </a:solidFill>
            <a:prstDash val="solid"/>
          </a:ln>
        </p:spPr>
      </p:sp>
      <p:sp>
        <p:nvSpPr>
          <p:cNvPr id="11" name="Text 8"/>
          <p:cNvSpPr txBox="1"/>
          <p:nvPr/>
        </p:nvSpPr>
        <p:spPr>
          <a:xfrm>
            <a:off x="7516368" y="2084832"/>
            <a:ext cx="3913632" cy="457200"/>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i="1" dirty="0">
                <a:solidFill>
                  <a:schemeClr val="tx1"/>
                </a:solidFill>
              </a:rPr>
              <a:t>Ik </a:t>
            </a:r>
            <a:r>
              <a:rPr lang="en-US" sz="1600" b="1" i="1" dirty="0">
                <a:solidFill>
                  <a:schemeClr val="tx1"/>
                </a:solidFill>
              </a:rPr>
              <a:t>ben</a:t>
            </a:r>
            <a:r>
              <a:rPr lang="en-US" sz="1600" i="1" dirty="0">
                <a:solidFill>
                  <a:schemeClr val="tx1"/>
                </a:solidFill>
              </a:rPr>
              <a:t> 32 (jaar)</a:t>
            </a:r>
            <a:endParaRPr lang="en-US" sz="1600" dirty="0"/>
          </a:p>
        </p:txBody>
      </p:sp>
      <p:sp>
        <p:nvSpPr>
          <p:cNvPr id="12" name="Text 9"/>
          <p:cNvSpPr txBox="1"/>
          <p:nvPr/>
        </p:nvSpPr>
        <p:spPr>
          <a:xfrm>
            <a:off x="868680" y="2633472"/>
            <a:ext cx="3566160" cy="512064"/>
          </a:xfrm>
          <a:prstGeom prst="rect">
            <a:avLst/>
          </a:prstGeom>
          <a:noFill/>
          <a:ln/>
        </p:spPr>
        <p:txBody>
          <a:bodyPr wrap="square" lIns="0" tIns="0" rIns="0" bIns="0" rtlCol="0" anchor="ctr"/>
          <a:lstStyle/>
          <a:p>
            <a:pPr algn="l" indent="0" marL="0">
              <a:buNone/>
            </a:pPr>
            <a:r>
              <a:rPr lang="en-US" sz="1600" dirty="0">
                <a:solidFill>
                  <a:schemeClr val="tx1"/>
                </a:solidFill>
              </a:rPr>
              <a:t>« Je suis comptable »</a:t>
            </a:r>
            <a:endParaRPr lang="en-US" sz="1600" dirty="0"/>
          </a:p>
        </p:txBody>
      </p:sp>
      <p:sp>
        <p:nvSpPr>
          <p:cNvPr id="13" name="Text 10"/>
          <p:cNvSpPr txBox="1"/>
          <p:nvPr/>
        </p:nvSpPr>
        <p:spPr>
          <a:xfrm>
            <a:off x="4434840" y="2633472"/>
            <a:ext cx="2743200" cy="51206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Ik ben een boekhouder</a:t>
            </a:r>
            <a:endParaRPr lang="en-US" sz="1500" dirty="0"/>
          </a:p>
        </p:txBody>
      </p:sp>
      <p:sp>
        <p:nvSpPr>
          <p:cNvPr id="14" name="Shape 11"/>
          <p:cNvSpPr/>
          <p:nvPr/>
        </p:nvSpPr>
        <p:spPr>
          <a:xfrm>
            <a:off x="7086600" y="2889504"/>
            <a:ext cx="274320" cy="914"/>
          </a:xfrm>
          <a:prstGeom prst="line">
            <a:avLst/>
          </a:prstGeom>
          <a:noFill/>
          <a:ln w="25400">
            <a:solidFill>
              <a:srgbClr val="2E7D4F"/>
            </a:solidFill>
            <a:prstDash val="solid"/>
            <a:tailEnd type="triangle"/>
          </a:ln>
        </p:spPr>
      </p:sp>
      <p:sp>
        <p:nvSpPr>
          <p:cNvPr id="15" name="Shape 12"/>
          <p:cNvSpPr/>
          <p:nvPr/>
        </p:nvSpPr>
        <p:spPr>
          <a:xfrm>
            <a:off x="7406640" y="2660904"/>
            <a:ext cx="4069080" cy="457200"/>
          </a:xfrm>
          <a:prstGeom prst="roundRect">
            <a:avLst>
              <a:gd name="adj" fmla="val 20000"/>
            </a:avLst>
          </a:prstGeom>
          <a:solidFill>
            <a:schemeClr val="accent3">
              <a:alpha val="12000"/>
            </a:schemeClr>
          </a:solidFill>
          <a:ln w="19050">
            <a:solidFill>
              <a:srgbClr val="2E7D4F"/>
            </a:solidFill>
            <a:prstDash val="solid"/>
          </a:ln>
        </p:spPr>
      </p:sp>
      <p:sp>
        <p:nvSpPr>
          <p:cNvPr id="16" name="Text 13"/>
          <p:cNvSpPr txBox="1"/>
          <p:nvPr/>
        </p:nvSpPr>
        <p:spPr>
          <a:xfrm>
            <a:off x="7516368" y="2660904"/>
            <a:ext cx="3913632" cy="457200"/>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i="1" dirty="0">
                <a:solidFill>
                  <a:schemeClr val="tx1"/>
                </a:solidFill>
              </a:rPr>
              <a:t>Ik ben boekhouder</a:t>
            </a:r>
            <a:endParaRPr lang="en-US" sz="1600" dirty="0"/>
          </a:p>
        </p:txBody>
      </p:sp>
      <p:sp>
        <p:nvSpPr>
          <p:cNvPr id="17" name="Text 14"/>
          <p:cNvSpPr txBox="1"/>
          <p:nvPr/>
        </p:nvSpPr>
        <p:spPr>
          <a:xfrm>
            <a:off x="868680" y="3209544"/>
            <a:ext cx="3566160" cy="512064"/>
          </a:xfrm>
          <a:prstGeom prst="rect">
            <a:avLst/>
          </a:prstGeom>
          <a:noFill/>
          <a:ln/>
        </p:spPr>
        <p:txBody>
          <a:bodyPr wrap="square" lIns="0" tIns="0" rIns="0" bIns="0" rtlCol="0" anchor="ctr"/>
          <a:lstStyle/>
          <a:p>
            <a:pPr algn="l" indent="0" marL="0">
              <a:buNone/>
            </a:pPr>
            <a:r>
              <a:rPr lang="en-US" sz="1600" dirty="0">
                <a:solidFill>
                  <a:schemeClr val="tx1"/>
                </a:solidFill>
              </a:rPr>
              <a:t>« Je travaille comme comptable »</a:t>
            </a:r>
            <a:endParaRPr lang="en-US" sz="1600" dirty="0"/>
          </a:p>
        </p:txBody>
      </p:sp>
      <p:sp>
        <p:nvSpPr>
          <p:cNvPr id="18" name="Text 15"/>
          <p:cNvSpPr txBox="1"/>
          <p:nvPr/>
        </p:nvSpPr>
        <p:spPr>
          <a:xfrm>
            <a:off x="4434840" y="3209544"/>
            <a:ext cx="2743200" cy="51206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Ik werk zoals boekhouder</a:t>
            </a:r>
            <a:endParaRPr lang="en-US" sz="1500" dirty="0"/>
          </a:p>
        </p:txBody>
      </p:sp>
      <p:sp>
        <p:nvSpPr>
          <p:cNvPr id="19" name="Shape 16"/>
          <p:cNvSpPr/>
          <p:nvPr/>
        </p:nvSpPr>
        <p:spPr>
          <a:xfrm>
            <a:off x="7086600" y="3465576"/>
            <a:ext cx="274320" cy="914"/>
          </a:xfrm>
          <a:prstGeom prst="line">
            <a:avLst/>
          </a:prstGeom>
          <a:noFill/>
          <a:ln w="25400">
            <a:solidFill>
              <a:srgbClr val="2E7D4F"/>
            </a:solidFill>
            <a:prstDash val="solid"/>
            <a:tailEnd type="triangle"/>
          </a:ln>
        </p:spPr>
      </p:sp>
      <p:sp>
        <p:nvSpPr>
          <p:cNvPr id="20" name="Shape 17"/>
          <p:cNvSpPr/>
          <p:nvPr/>
        </p:nvSpPr>
        <p:spPr>
          <a:xfrm>
            <a:off x="7406640" y="3236976"/>
            <a:ext cx="4069080" cy="457200"/>
          </a:xfrm>
          <a:prstGeom prst="roundRect">
            <a:avLst>
              <a:gd name="adj" fmla="val 20000"/>
            </a:avLst>
          </a:prstGeom>
          <a:solidFill>
            <a:schemeClr val="accent3">
              <a:alpha val="12000"/>
            </a:schemeClr>
          </a:solidFill>
          <a:ln w="19050">
            <a:solidFill>
              <a:srgbClr val="2E7D4F"/>
            </a:solidFill>
            <a:prstDash val="solid"/>
          </a:ln>
        </p:spPr>
      </p:sp>
      <p:sp>
        <p:nvSpPr>
          <p:cNvPr id="21" name="Text 18"/>
          <p:cNvSpPr txBox="1"/>
          <p:nvPr/>
        </p:nvSpPr>
        <p:spPr>
          <a:xfrm>
            <a:off x="7516368" y="3236976"/>
            <a:ext cx="3913632" cy="457200"/>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i="1" dirty="0">
                <a:solidFill>
                  <a:schemeClr val="tx1"/>
                </a:solidFill>
              </a:rPr>
              <a:t>Ik werk </a:t>
            </a:r>
            <a:r>
              <a:rPr lang="en-US" sz="1600" b="1" i="1" dirty="0">
                <a:solidFill>
                  <a:schemeClr val="accent1"/>
                </a:solidFill>
              </a:rPr>
              <a:t>als</a:t>
            </a:r>
            <a:r>
              <a:rPr lang="en-US" sz="1600" i="1" dirty="0">
                <a:solidFill>
                  <a:schemeClr val="tx1"/>
                </a:solidFill>
              </a:rPr>
              <a:t> boekhouder</a:t>
            </a:r>
            <a:endParaRPr lang="en-US" sz="1600" dirty="0"/>
          </a:p>
        </p:txBody>
      </p:sp>
      <p:sp>
        <p:nvSpPr>
          <p:cNvPr id="22" name="Text 19"/>
          <p:cNvSpPr txBox="1"/>
          <p:nvPr/>
        </p:nvSpPr>
        <p:spPr>
          <a:xfrm>
            <a:off x="868680" y="3785616"/>
            <a:ext cx="3566160" cy="512064"/>
          </a:xfrm>
          <a:prstGeom prst="rect">
            <a:avLst/>
          </a:prstGeom>
          <a:noFill/>
          <a:ln/>
        </p:spPr>
        <p:txBody>
          <a:bodyPr wrap="square" lIns="0" tIns="0" rIns="0" bIns="0" rtlCol="0" anchor="ctr"/>
          <a:lstStyle/>
          <a:p>
            <a:pPr algn="l" indent="0" marL="0">
              <a:buNone/>
            </a:pPr>
            <a:r>
              <a:rPr lang="en-US" sz="1600" dirty="0">
                <a:solidFill>
                  <a:schemeClr val="tx1"/>
                </a:solidFill>
              </a:rPr>
              <a:t>« Je suis responsable de… »</a:t>
            </a:r>
            <a:endParaRPr lang="en-US" sz="1600" dirty="0"/>
          </a:p>
        </p:txBody>
      </p:sp>
      <p:sp>
        <p:nvSpPr>
          <p:cNvPr id="23" name="Text 20"/>
          <p:cNvSpPr txBox="1"/>
          <p:nvPr/>
        </p:nvSpPr>
        <p:spPr>
          <a:xfrm>
            <a:off x="4434840" y="3785616"/>
            <a:ext cx="2743200" cy="51206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verantwoordelijk van</a:t>
            </a:r>
            <a:endParaRPr lang="en-US" sz="1500" dirty="0"/>
          </a:p>
        </p:txBody>
      </p:sp>
      <p:sp>
        <p:nvSpPr>
          <p:cNvPr id="24" name="Shape 21"/>
          <p:cNvSpPr/>
          <p:nvPr/>
        </p:nvSpPr>
        <p:spPr>
          <a:xfrm>
            <a:off x="7086600" y="4041648"/>
            <a:ext cx="274320" cy="914"/>
          </a:xfrm>
          <a:prstGeom prst="line">
            <a:avLst/>
          </a:prstGeom>
          <a:noFill/>
          <a:ln w="25400">
            <a:solidFill>
              <a:srgbClr val="2E7D4F"/>
            </a:solidFill>
            <a:prstDash val="solid"/>
            <a:tailEnd type="triangle"/>
          </a:ln>
        </p:spPr>
      </p:sp>
      <p:sp>
        <p:nvSpPr>
          <p:cNvPr id="25" name="Shape 22"/>
          <p:cNvSpPr/>
          <p:nvPr/>
        </p:nvSpPr>
        <p:spPr>
          <a:xfrm>
            <a:off x="7406640" y="3813048"/>
            <a:ext cx="4069080" cy="457200"/>
          </a:xfrm>
          <a:prstGeom prst="roundRect">
            <a:avLst>
              <a:gd name="adj" fmla="val 20000"/>
            </a:avLst>
          </a:prstGeom>
          <a:solidFill>
            <a:schemeClr val="accent3">
              <a:alpha val="12000"/>
            </a:schemeClr>
          </a:solidFill>
          <a:ln w="19050">
            <a:solidFill>
              <a:srgbClr val="2E7D4F"/>
            </a:solidFill>
            <a:prstDash val="solid"/>
          </a:ln>
        </p:spPr>
      </p:sp>
      <p:sp>
        <p:nvSpPr>
          <p:cNvPr id="26" name="Text 23"/>
          <p:cNvSpPr txBox="1"/>
          <p:nvPr/>
        </p:nvSpPr>
        <p:spPr>
          <a:xfrm>
            <a:off x="7516368" y="3813048"/>
            <a:ext cx="3913632" cy="457200"/>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i="1" dirty="0">
                <a:solidFill>
                  <a:schemeClr val="tx1"/>
                </a:solidFill>
              </a:rPr>
              <a:t>verantwoordelijk </a:t>
            </a:r>
            <a:r>
              <a:rPr lang="en-US" sz="1600" b="1" i="1" dirty="0">
                <a:solidFill>
                  <a:schemeClr val="accent1"/>
                </a:solidFill>
              </a:rPr>
              <a:t>voor</a:t>
            </a:r>
            <a:endParaRPr lang="en-US" sz="1600" dirty="0"/>
          </a:p>
        </p:txBody>
      </p:sp>
      <p:sp>
        <p:nvSpPr>
          <p:cNvPr id="27" name="Text 24"/>
          <p:cNvSpPr txBox="1"/>
          <p:nvPr/>
        </p:nvSpPr>
        <p:spPr>
          <a:xfrm>
            <a:off x="868680" y="4361688"/>
            <a:ext cx="3566160" cy="512064"/>
          </a:xfrm>
          <a:prstGeom prst="rect">
            <a:avLst/>
          </a:prstGeom>
          <a:noFill/>
          <a:ln/>
        </p:spPr>
        <p:txBody>
          <a:bodyPr wrap="square" lIns="0" tIns="0" rIns="0" bIns="0" rtlCol="0" anchor="ctr"/>
          <a:lstStyle/>
          <a:p>
            <a:pPr algn="l" indent="0" marL="0">
              <a:buNone/>
            </a:pPr>
            <a:r>
              <a:rPr lang="en-US" sz="1600" dirty="0">
                <a:solidFill>
                  <a:schemeClr val="tx1"/>
                </a:solidFill>
              </a:rPr>
              <a:t>« Je travaille ici depuis 2021 »</a:t>
            </a:r>
            <a:endParaRPr lang="en-US" sz="1600" dirty="0"/>
          </a:p>
        </p:txBody>
      </p:sp>
      <p:sp>
        <p:nvSpPr>
          <p:cNvPr id="28" name="Shape 25"/>
          <p:cNvSpPr/>
          <p:nvPr/>
        </p:nvSpPr>
        <p:spPr>
          <a:xfrm>
            <a:off x="7086600" y="4617720"/>
            <a:ext cx="274320" cy="914"/>
          </a:xfrm>
          <a:prstGeom prst="line">
            <a:avLst/>
          </a:prstGeom>
          <a:noFill/>
          <a:ln w="25400">
            <a:solidFill>
              <a:srgbClr val="2E7D4F"/>
            </a:solidFill>
            <a:prstDash val="solid"/>
            <a:tailEnd type="triangle"/>
          </a:ln>
        </p:spPr>
      </p:sp>
      <p:sp>
        <p:nvSpPr>
          <p:cNvPr id="29" name="Shape 26"/>
          <p:cNvSpPr/>
          <p:nvPr/>
        </p:nvSpPr>
        <p:spPr>
          <a:xfrm>
            <a:off x="7406640" y="4389120"/>
            <a:ext cx="4069080" cy="457200"/>
          </a:xfrm>
          <a:prstGeom prst="roundRect">
            <a:avLst>
              <a:gd name="adj" fmla="val 20000"/>
            </a:avLst>
          </a:prstGeom>
          <a:solidFill>
            <a:schemeClr val="accent3">
              <a:alpha val="12000"/>
            </a:schemeClr>
          </a:solidFill>
          <a:ln w="19050">
            <a:solidFill>
              <a:srgbClr val="2E7D4F"/>
            </a:solidFill>
            <a:prstDash val="solid"/>
          </a:ln>
        </p:spPr>
      </p:sp>
      <p:sp>
        <p:nvSpPr>
          <p:cNvPr id="30" name="Text 27"/>
          <p:cNvSpPr txBox="1"/>
          <p:nvPr/>
        </p:nvSpPr>
        <p:spPr>
          <a:xfrm>
            <a:off x="7516368" y="4389120"/>
            <a:ext cx="3913632" cy="457200"/>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i="1" dirty="0">
                <a:solidFill>
                  <a:schemeClr val="tx1"/>
                </a:solidFill>
              </a:rPr>
              <a:t>Ik werk hier </a:t>
            </a:r>
            <a:r>
              <a:rPr lang="en-US" sz="1600" b="1" i="1" dirty="0">
                <a:solidFill>
                  <a:schemeClr val="tx1"/>
                </a:solidFill>
              </a:rPr>
              <a:t>sinds</a:t>
            </a:r>
            <a:r>
              <a:rPr lang="en-US" sz="1600" i="1" dirty="0">
                <a:solidFill>
                  <a:schemeClr val="tx1"/>
                </a:solidFill>
              </a:rPr>
              <a:t> 2021</a:t>
            </a:r>
            <a:endParaRPr lang="en-US" sz="1600" dirty="0"/>
          </a:p>
        </p:txBody>
      </p:sp>
      <p:sp>
        <p:nvSpPr>
          <p:cNvPr id="31" name="Text 28"/>
          <p:cNvSpPr txBox="1"/>
          <p:nvPr/>
        </p:nvSpPr>
        <p:spPr>
          <a:xfrm>
            <a:off x="868680" y="4937760"/>
            <a:ext cx="3566160" cy="512064"/>
          </a:xfrm>
          <a:prstGeom prst="rect">
            <a:avLst/>
          </a:prstGeom>
          <a:noFill/>
          <a:ln/>
        </p:spPr>
        <p:txBody>
          <a:bodyPr wrap="square" lIns="0" tIns="0" rIns="0" bIns="0" rtlCol="0" anchor="ctr"/>
          <a:lstStyle/>
          <a:p>
            <a:pPr algn="l" indent="0" marL="0">
              <a:buNone/>
            </a:pPr>
            <a:r>
              <a:rPr lang="en-US" sz="1600" dirty="0">
                <a:solidFill>
                  <a:schemeClr val="tx1"/>
                </a:solidFill>
              </a:rPr>
              <a:t>« … depuis quatre ans »</a:t>
            </a:r>
            <a:endParaRPr lang="en-US" sz="1600" dirty="0"/>
          </a:p>
        </p:txBody>
      </p:sp>
      <p:sp>
        <p:nvSpPr>
          <p:cNvPr id="32" name="Shape 29"/>
          <p:cNvSpPr/>
          <p:nvPr/>
        </p:nvSpPr>
        <p:spPr>
          <a:xfrm>
            <a:off x="7086600" y="5193792"/>
            <a:ext cx="274320" cy="914"/>
          </a:xfrm>
          <a:prstGeom prst="line">
            <a:avLst/>
          </a:prstGeom>
          <a:noFill/>
          <a:ln w="25400">
            <a:solidFill>
              <a:srgbClr val="2E7D4F"/>
            </a:solidFill>
            <a:prstDash val="solid"/>
            <a:tailEnd type="triangle"/>
          </a:ln>
        </p:spPr>
      </p:sp>
      <p:sp>
        <p:nvSpPr>
          <p:cNvPr id="33" name="Shape 30"/>
          <p:cNvSpPr/>
          <p:nvPr/>
        </p:nvSpPr>
        <p:spPr>
          <a:xfrm>
            <a:off x="7406640" y="4965192"/>
            <a:ext cx="4069080" cy="457200"/>
          </a:xfrm>
          <a:prstGeom prst="roundRect">
            <a:avLst>
              <a:gd name="adj" fmla="val 20000"/>
            </a:avLst>
          </a:prstGeom>
          <a:solidFill>
            <a:schemeClr val="accent3">
              <a:alpha val="12000"/>
            </a:schemeClr>
          </a:solidFill>
          <a:ln w="19050">
            <a:solidFill>
              <a:srgbClr val="2E7D4F"/>
            </a:solidFill>
            <a:prstDash val="solid"/>
          </a:ln>
        </p:spPr>
      </p:sp>
      <p:sp>
        <p:nvSpPr>
          <p:cNvPr id="34" name="Text 31"/>
          <p:cNvSpPr txBox="1"/>
          <p:nvPr/>
        </p:nvSpPr>
        <p:spPr>
          <a:xfrm>
            <a:off x="7516368" y="4965192"/>
            <a:ext cx="3913632" cy="457200"/>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i="1" dirty="0">
                <a:solidFill>
                  <a:schemeClr val="tx1"/>
                </a:solidFill>
              </a:rPr>
              <a:t>Ik werk hier </a:t>
            </a:r>
            <a:r>
              <a:rPr lang="en-US" sz="1600" b="1" i="1" dirty="0">
                <a:solidFill>
                  <a:schemeClr val="tx1"/>
                </a:solidFill>
              </a:rPr>
              <a:t>al</a:t>
            </a:r>
            <a:r>
              <a:rPr lang="en-US" sz="1600" i="1" dirty="0">
                <a:solidFill>
                  <a:schemeClr val="tx1"/>
                </a:solidFill>
              </a:rPr>
              <a:t> vier jaar</a:t>
            </a:r>
            <a:endParaRPr lang="en-US" sz="1600" dirty="0"/>
          </a:p>
        </p:txBody>
      </p:sp>
      <p:sp>
        <p:nvSpPr>
          <p:cNvPr id="35" name="Shape 32"/>
          <p:cNvSpPr/>
          <p:nvPr/>
        </p:nvSpPr>
        <p:spPr>
          <a:xfrm>
            <a:off x="548640" y="5715000"/>
            <a:ext cx="11091672" cy="566928"/>
          </a:xfrm>
          <a:prstGeom prst="roundRect">
            <a:avLst>
              <a:gd name="adj" fmla="val 12903"/>
            </a:avLst>
          </a:prstGeom>
          <a:solidFill>
            <a:schemeClr val="tx2"/>
          </a:solidFill>
          <a:ln w="12700">
            <a:solidFill>
              <a:srgbClr val="FFFFFF">
                <a:alpha val="0"/>
              </a:srgbClr>
            </a:solidFill>
            <a:prstDash val="solid"/>
          </a:ln>
        </p:spPr>
      </p:sp>
      <p:sp>
        <p:nvSpPr>
          <p:cNvPr id="36" name="Text 33"/>
          <p:cNvSpPr txBox="1"/>
          <p:nvPr/>
        </p:nvSpPr>
        <p:spPr>
          <a:xfrm>
            <a:off x="822960" y="5715000"/>
            <a:ext cx="10607040" cy="566928"/>
          </a:xfrm>
          <a:prstGeom prst="rect">
            <a:avLst/>
          </a:prstGeom>
          <a:noFill/>
          <a:ln/>
        </p:spPr>
        <p:txBody>
          <a:bodyPr wrap="square" lIns="0" tIns="0" rIns="0" bIns="0" rtlCol="0" anchor="ctr"/>
          <a:lstStyle/>
          <a:p>
            <a:pPr algn="l" indent="0" marL="0">
              <a:buNone/>
            </a:pPr>
            <a:r>
              <a:rPr lang="en-US" sz="1700" i="1" dirty="0">
                <a:solidFill>
                  <a:schemeClr val="bg1"/>
                </a:solidFill>
              </a:rPr>
              <a:t>sinds</a:t>
            </a:r>
            <a:r>
              <a:rPr lang="en-US" sz="1700" dirty="0">
                <a:solidFill>
                  <a:schemeClr val="bg1"/>
                </a:solidFill>
              </a:rPr>
              <a:t> + point de départ · </a:t>
            </a:r>
            <a:r>
              <a:rPr lang="en-US" sz="1700" i="1" dirty="0">
                <a:solidFill>
                  <a:schemeClr val="bg1"/>
                </a:solidFill>
              </a:rPr>
              <a:t>al</a:t>
            </a:r>
            <a:r>
              <a:rPr lang="en-US" sz="1700" dirty="0">
                <a:solidFill>
                  <a:schemeClr val="bg1"/>
                </a:solidFill>
              </a:rPr>
              <a:t> + durée · « il y a » : </a:t>
            </a:r>
            <a:r>
              <a:rPr lang="en-US" sz="1700" i="1" dirty="0">
                <a:solidFill>
                  <a:schemeClr val="bg1"/>
                </a:solidFill>
              </a:rPr>
              <a:t>vier jaar </a:t>
            </a:r>
            <a:r>
              <a:rPr lang="en-US" sz="1700" b="1" i="1" dirty="0">
                <a:solidFill>
                  <a:schemeClr val="bg1"/>
                </a:solidFill>
              </a:rPr>
              <a:t>geleden</a:t>
            </a:r>
            <a:r>
              <a:rPr lang="en-US" sz="1700" dirty="0">
                <a:solidFill>
                  <a:schemeClr val="bg1"/>
                </a:solidFill>
              </a:rPr>
              <a:t> · « depuis » + </a:t>
            </a:r>
            <a:r>
              <a:rPr lang="en-US" sz="1700" b="1" dirty="0">
                <a:solidFill>
                  <a:schemeClr val="bg1"/>
                </a:solidFill>
              </a:rPr>
              <a:t>présent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Mes projets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600200"/>
            <a:ext cx="9994392" cy="1005840"/>
          </a:xfrm>
          <a:prstGeom prst="roundRect">
            <a:avLst>
              <a:gd name="adj" fmla="val 10909"/>
            </a:avLst>
          </a:prstGeom>
          <a:solidFill>
            <a:srgbClr val="1F6B3F">
              <a:alpha val="20000"/>
            </a:srgbClr>
          </a:solidFill>
          <a:ln w="25400">
            <a:solidFill>
              <a:srgbClr val="1F6B3F"/>
            </a:solidFill>
            <a:prstDash val="solid"/>
          </a:ln>
        </p:spPr>
      </p:sp>
      <p:pic>
        <p:nvPicPr>
          <p:cNvPr id="6" name="Image 0" descr="rocket">    </p:cNvPr>
          <p:cNvPicPr>
            <a:picLocks noChangeAspect="1"/>
          </p:cNvPicPr>
          <p:nvPr/>
        </p:nvPicPr>
        <p:blipFill>
          <a:blip r:embed="rId1"/>
          <a:stretch>
            <a:fillRect/>
          </a:stretch>
        </p:blipFill>
        <p:spPr>
          <a:xfrm>
            <a:off x="731520" y="1764792"/>
            <a:ext cx="685800" cy="685800"/>
          </a:xfrm>
          <a:prstGeom prst="rect">
            <a:avLst/>
          </a:prstGeom>
        </p:spPr>
      </p:pic>
      <p:sp>
        <p:nvSpPr>
          <p:cNvPr id="7" name="Text 3"/>
          <p:cNvSpPr txBox="1"/>
          <p:nvPr/>
        </p:nvSpPr>
        <p:spPr>
          <a:xfrm>
            <a:off x="1554480" y="1600200"/>
            <a:ext cx="2103120" cy="1005840"/>
          </a:xfrm>
          <a:prstGeom prst="rect">
            <a:avLst/>
          </a:prstGeom>
          <a:noFill/>
          <a:ln/>
        </p:spPr>
        <p:txBody>
          <a:bodyPr wrap="square" lIns="0" tIns="0" rIns="0" bIns="0" rtlCol="0" anchor="ctr"/>
          <a:lstStyle/>
          <a:p>
            <a:pPr algn="l" indent="0" marL="0">
              <a:buNone/>
            </a:pPr>
            <a:r>
              <a:rPr lang="en-US" sz="1600" b="1" dirty="0">
                <a:solidFill>
                  <a:schemeClr val="tx2"/>
                </a:solidFill>
              </a:rPr>
              <a:t>Projet</a:t>
            </a:r>
            <a:endParaRPr lang="en-US" sz="1600" dirty="0"/>
          </a:p>
          <a:p>
            <a:pPr algn="l" indent="0" marL="0">
              <a:buNone/>
            </a:pPr>
            <a:r>
              <a:rPr lang="en-US" sz="1600" dirty="0">
                <a:solidFill>
                  <a:schemeClr val="tx2"/>
                </a:solidFill>
              </a:rPr>
              <a:t>presque sûr</a:t>
            </a:r>
            <a:endParaRPr lang="en-US" sz="1600" dirty="0"/>
          </a:p>
        </p:txBody>
      </p:sp>
      <p:sp>
        <p:nvSpPr>
          <p:cNvPr id="8" name="Text 4"/>
          <p:cNvSpPr txBox="1"/>
          <p:nvPr/>
        </p:nvSpPr>
        <p:spPr>
          <a:xfrm>
            <a:off x="3657600" y="1600200"/>
            <a:ext cx="6400800" cy="1005840"/>
          </a:xfrm>
          <a:prstGeom prst="rect">
            <a:avLst/>
          </a:prstGeom>
          <a:noFill/>
          <a:ln/>
        </p:spPr>
        <p:txBody>
          <a:bodyPr wrap="square" lIns="0" tIns="0" rIns="0" bIns="0" rtlCol="0" anchor="ctr"/>
          <a:lstStyle/>
          <a:p>
            <a:pPr algn="l" indent="0" marL="0">
              <a:buNone/>
            </a:pPr>
            <a:r>
              <a:rPr lang="en-US" sz="1900" i="1" dirty="0">
                <a:solidFill>
                  <a:schemeClr val="tx1"/>
                </a:solidFill>
              </a:rPr>
              <a:t>Volgend jaar </a:t>
            </a:r>
            <a:r>
              <a:rPr lang="en-US" sz="1900" b="1" i="1" dirty="0">
                <a:solidFill>
                  <a:schemeClr val="accent3"/>
                </a:solidFill>
              </a:rPr>
              <a:t>ga</a:t>
            </a:r>
            <a:r>
              <a:rPr lang="en-US" sz="1900" i="1" dirty="0">
                <a:solidFill>
                  <a:schemeClr val="tx1"/>
                </a:solidFill>
              </a:rPr>
              <a:t> ik een opleiding Excel </a:t>
            </a:r>
            <a:r>
              <a:rPr lang="en-US" sz="1900" b="1" i="1" dirty="0">
                <a:solidFill>
                  <a:schemeClr val="accent3"/>
                </a:solidFill>
              </a:rPr>
              <a:t>volgen</a:t>
            </a:r>
            <a:r>
              <a:rPr lang="en-US" sz="1900" i="1" dirty="0">
                <a:solidFill>
                  <a:schemeClr val="tx1"/>
                </a:solidFill>
              </a:rPr>
              <a:t>.</a:t>
            </a:r>
            <a:endParaRPr lang="en-US" sz="1900" dirty="0"/>
          </a:p>
        </p:txBody>
      </p:sp>
      <p:sp>
        <p:nvSpPr>
          <p:cNvPr id="9" name="tag"/>
          <p:cNvSpPr/>
          <p:nvPr/>
        </p:nvSpPr>
        <p:spPr>
          <a:xfrm>
            <a:off x="9400032" y="1947672"/>
            <a:ext cx="635508" cy="292608"/>
          </a:xfrm>
          <a:prstGeom prst="roundRect">
            <a:avLst>
              <a:gd name="adj" fmla="val 15625"/>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M18</a:t>
            </a:r>
            <a:endParaRPr lang="en-US" sz="1000" dirty="0"/>
          </a:p>
        </p:txBody>
      </p:sp>
      <p:sp>
        <p:nvSpPr>
          <p:cNvPr id="10" name="Shape 6"/>
          <p:cNvSpPr/>
          <p:nvPr/>
        </p:nvSpPr>
        <p:spPr>
          <a:xfrm>
            <a:off x="1097280" y="2788920"/>
            <a:ext cx="9994392" cy="1005840"/>
          </a:xfrm>
          <a:prstGeom prst="roundRect">
            <a:avLst>
              <a:gd name="adj" fmla="val 10909"/>
            </a:avLst>
          </a:prstGeom>
          <a:solidFill>
            <a:schemeClr val="accent3">
              <a:alpha val="20000"/>
            </a:schemeClr>
          </a:solidFill>
          <a:ln w="25400">
            <a:solidFill>
              <a:srgbClr val="2E7D4F"/>
            </a:solidFill>
            <a:prstDash val="solid"/>
          </a:ln>
        </p:spPr>
      </p:sp>
      <p:pic>
        <p:nvPicPr>
          <p:cNvPr id="11" name="Image 1" descr="seedling">    </p:cNvPr>
          <p:cNvPicPr>
            <a:picLocks noChangeAspect="1"/>
          </p:cNvPicPr>
          <p:nvPr/>
        </p:nvPicPr>
        <p:blipFill>
          <a:blip r:embed="rId2"/>
          <a:stretch>
            <a:fillRect/>
          </a:stretch>
        </p:blipFill>
        <p:spPr>
          <a:xfrm>
            <a:off x="1280160" y="2953512"/>
            <a:ext cx="685800" cy="685800"/>
          </a:xfrm>
          <a:prstGeom prst="rect">
            <a:avLst/>
          </a:prstGeom>
        </p:spPr>
      </p:pic>
      <p:sp>
        <p:nvSpPr>
          <p:cNvPr id="12" name="Text 7"/>
          <p:cNvSpPr txBox="1"/>
          <p:nvPr/>
        </p:nvSpPr>
        <p:spPr>
          <a:xfrm>
            <a:off x="2103120" y="2788920"/>
            <a:ext cx="2103120" cy="1005840"/>
          </a:xfrm>
          <a:prstGeom prst="rect">
            <a:avLst/>
          </a:prstGeom>
          <a:noFill/>
          <a:ln/>
        </p:spPr>
        <p:txBody>
          <a:bodyPr wrap="square" lIns="0" tIns="0" rIns="0" bIns="0" rtlCol="0" anchor="ctr"/>
          <a:lstStyle/>
          <a:p>
            <a:pPr algn="l" indent="0" marL="0">
              <a:buNone/>
            </a:pPr>
            <a:r>
              <a:rPr lang="en-US" sz="1600" b="1" dirty="0">
                <a:solidFill>
                  <a:schemeClr val="tx2"/>
                </a:solidFill>
              </a:rPr>
              <a:t>Envie</a:t>
            </a:r>
            <a:endParaRPr lang="en-US" sz="1600" dirty="0"/>
          </a:p>
          <a:p>
            <a:pPr algn="l" indent="0" marL="0">
              <a:buNone/>
            </a:pPr>
            <a:r>
              <a:rPr lang="en-US" sz="1600" dirty="0">
                <a:solidFill>
                  <a:schemeClr val="tx2"/>
                </a:solidFill>
              </a:rPr>
              <a:t>je veux</a:t>
            </a:r>
            <a:endParaRPr lang="en-US" sz="1600" dirty="0"/>
          </a:p>
        </p:txBody>
      </p:sp>
      <p:sp>
        <p:nvSpPr>
          <p:cNvPr id="13" name="Text 8"/>
          <p:cNvSpPr txBox="1"/>
          <p:nvPr/>
        </p:nvSpPr>
        <p:spPr>
          <a:xfrm>
            <a:off x="4206240" y="2788920"/>
            <a:ext cx="6400800" cy="1005840"/>
          </a:xfrm>
          <a:prstGeom prst="rect">
            <a:avLst/>
          </a:prstGeom>
          <a:noFill/>
          <a:ln/>
        </p:spPr>
        <p:txBody>
          <a:bodyPr wrap="square" lIns="0" tIns="0" rIns="0" bIns="0" rtlCol="0" anchor="ctr"/>
          <a:lstStyle/>
          <a:p>
            <a:pPr algn="l" indent="0" marL="0">
              <a:buNone/>
            </a:pPr>
            <a:r>
              <a:rPr lang="en-US" sz="1900" i="1" dirty="0">
                <a:solidFill>
                  <a:schemeClr val="tx1"/>
                </a:solidFill>
              </a:rPr>
              <a:t>Ik </a:t>
            </a:r>
            <a:r>
              <a:rPr lang="en-US" sz="1900" b="1" i="1" dirty="0">
                <a:solidFill>
                  <a:schemeClr val="accent3"/>
                </a:solidFill>
              </a:rPr>
              <a:t>wil</a:t>
            </a:r>
            <a:r>
              <a:rPr lang="en-US" sz="1900" i="1" dirty="0">
                <a:solidFill>
                  <a:schemeClr val="tx1"/>
                </a:solidFill>
              </a:rPr>
              <a:t> graag meer met klanten </a:t>
            </a:r>
            <a:r>
              <a:rPr lang="en-US" sz="1900" b="1" i="1" dirty="0">
                <a:solidFill>
                  <a:schemeClr val="accent3"/>
                </a:solidFill>
              </a:rPr>
              <a:t>werken</a:t>
            </a:r>
            <a:r>
              <a:rPr lang="en-US" sz="1900" i="1" dirty="0">
                <a:solidFill>
                  <a:schemeClr val="tx1"/>
                </a:solidFill>
              </a:rPr>
              <a:t>.</a:t>
            </a:r>
            <a:endParaRPr lang="en-US" sz="1900" dirty="0"/>
          </a:p>
        </p:txBody>
      </p:sp>
      <p:sp>
        <p:nvSpPr>
          <p:cNvPr id="14" name="tag"/>
          <p:cNvSpPr/>
          <p:nvPr/>
        </p:nvSpPr>
        <p:spPr>
          <a:xfrm>
            <a:off x="9948672" y="3136392"/>
            <a:ext cx="1085088" cy="292608"/>
          </a:xfrm>
          <a:prstGeom prst="roundRect">
            <a:avLst>
              <a:gd name="adj" fmla="val 15625"/>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M12, M27</a:t>
            </a:r>
            <a:endParaRPr lang="en-US" sz="1000" dirty="0"/>
          </a:p>
        </p:txBody>
      </p:sp>
      <p:sp>
        <p:nvSpPr>
          <p:cNvPr id="15" name="Shape 10"/>
          <p:cNvSpPr/>
          <p:nvPr/>
        </p:nvSpPr>
        <p:spPr>
          <a:xfrm>
            <a:off x="1645920" y="3977640"/>
            <a:ext cx="9994392" cy="1005840"/>
          </a:xfrm>
          <a:prstGeom prst="roundRect">
            <a:avLst>
              <a:gd name="adj" fmla="val 10909"/>
            </a:avLst>
          </a:prstGeom>
          <a:solidFill>
            <a:srgbClr val="8CC79A">
              <a:alpha val="20000"/>
            </a:srgbClr>
          </a:solidFill>
          <a:ln w="25400">
            <a:solidFill>
              <a:srgbClr val="8CC79A"/>
            </a:solidFill>
            <a:prstDash val="solid"/>
          </a:ln>
        </p:spPr>
      </p:sp>
      <p:pic>
        <p:nvPicPr>
          <p:cNvPr id="16" name="Image 2" descr="sparkles">    </p:cNvPr>
          <p:cNvPicPr>
            <a:picLocks noChangeAspect="1"/>
          </p:cNvPicPr>
          <p:nvPr/>
        </p:nvPicPr>
        <p:blipFill>
          <a:blip r:embed="rId3"/>
          <a:stretch>
            <a:fillRect/>
          </a:stretch>
        </p:blipFill>
        <p:spPr>
          <a:xfrm>
            <a:off x="1828800" y="4142232"/>
            <a:ext cx="685800" cy="685800"/>
          </a:xfrm>
          <a:prstGeom prst="rect">
            <a:avLst/>
          </a:prstGeom>
        </p:spPr>
      </p:pic>
      <p:sp>
        <p:nvSpPr>
          <p:cNvPr id="17" name="Text 11"/>
          <p:cNvSpPr txBox="1"/>
          <p:nvPr/>
        </p:nvSpPr>
        <p:spPr>
          <a:xfrm>
            <a:off x="2651760" y="3977640"/>
            <a:ext cx="2103120" cy="1005840"/>
          </a:xfrm>
          <a:prstGeom prst="rect">
            <a:avLst/>
          </a:prstGeom>
          <a:noFill/>
          <a:ln/>
        </p:spPr>
        <p:txBody>
          <a:bodyPr wrap="square" lIns="0" tIns="0" rIns="0" bIns="0" rtlCol="0" anchor="ctr"/>
          <a:lstStyle/>
          <a:p>
            <a:pPr algn="l" indent="0" marL="0">
              <a:buNone/>
            </a:pPr>
            <a:r>
              <a:rPr lang="en-US" sz="1600" b="1" dirty="0">
                <a:solidFill>
                  <a:schemeClr val="tx2"/>
                </a:solidFill>
              </a:rPr>
              <a:t>Rêve, souhait poli</a:t>
            </a:r>
            <a:endParaRPr lang="en-US" sz="1600" dirty="0"/>
          </a:p>
          <a:p>
            <a:pPr algn="l" indent="0" marL="0">
              <a:buNone/>
            </a:pPr>
            <a:r>
              <a:rPr lang="en-US" sz="1600" dirty="0">
                <a:solidFill>
                  <a:schemeClr val="tx2"/>
                </a:solidFill>
              </a:rPr>
              <a:t>je voudrais</a:t>
            </a:r>
            <a:endParaRPr lang="en-US" sz="1600" dirty="0"/>
          </a:p>
        </p:txBody>
      </p:sp>
      <p:sp>
        <p:nvSpPr>
          <p:cNvPr id="18" name="Text 12"/>
          <p:cNvSpPr txBox="1"/>
          <p:nvPr/>
        </p:nvSpPr>
        <p:spPr>
          <a:xfrm>
            <a:off x="4754880" y="3977640"/>
            <a:ext cx="6400800" cy="1005840"/>
          </a:xfrm>
          <a:prstGeom prst="rect">
            <a:avLst/>
          </a:prstGeom>
          <a:noFill/>
          <a:ln/>
        </p:spPr>
        <p:txBody>
          <a:bodyPr wrap="square" lIns="0" tIns="0" rIns="0" bIns="0" rtlCol="0" anchor="ctr"/>
          <a:lstStyle/>
          <a:p>
            <a:pPr algn="l" indent="0" marL="0">
              <a:buNone/>
            </a:pPr>
            <a:r>
              <a:rPr lang="en-US" sz="1900" i="1" dirty="0">
                <a:solidFill>
                  <a:schemeClr val="tx1"/>
                </a:solidFill>
              </a:rPr>
              <a:t>Later </a:t>
            </a:r>
            <a:r>
              <a:rPr lang="en-US" sz="1900" b="1" i="1" dirty="0">
                <a:solidFill>
                  <a:schemeClr val="accent3"/>
                </a:solidFill>
              </a:rPr>
              <a:t>zou</a:t>
            </a:r>
            <a:r>
              <a:rPr lang="en-US" sz="1900" i="1" dirty="0">
                <a:solidFill>
                  <a:schemeClr val="tx1"/>
                </a:solidFill>
              </a:rPr>
              <a:t> ik graag een team </a:t>
            </a:r>
            <a:r>
              <a:rPr lang="en-US" sz="1900" b="1" i="1" dirty="0">
                <a:solidFill>
                  <a:schemeClr val="accent3"/>
                </a:solidFill>
              </a:rPr>
              <a:t>leiden</a:t>
            </a:r>
            <a:r>
              <a:rPr lang="en-US" sz="1900" i="1" dirty="0">
                <a:solidFill>
                  <a:schemeClr val="tx1"/>
                </a:solidFill>
              </a:rPr>
              <a:t>.</a:t>
            </a:r>
            <a:endParaRPr lang="en-US" sz="1900" dirty="0"/>
          </a:p>
        </p:txBody>
      </p:sp>
      <p:sp>
        <p:nvSpPr>
          <p:cNvPr id="19" name="tag"/>
          <p:cNvSpPr/>
          <p:nvPr/>
        </p:nvSpPr>
        <p:spPr>
          <a:xfrm>
            <a:off x="10497312" y="4325112"/>
            <a:ext cx="635508" cy="292608"/>
          </a:xfrm>
          <a:prstGeom prst="roundRect">
            <a:avLst>
              <a:gd name="adj" fmla="val 15625"/>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M29</a:t>
            </a:r>
            <a:endParaRPr lang="en-US" sz="1000" dirty="0"/>
          </a:p>
        </p:txBody>
      </p:sp>
      <p:sp>
        <p:nvSpPr>
          <p:cNvPr id="20" name="Shape 14"/>
          <p:cNvSpPr/>
          <p:nvPr/>
        </p:nvSpPr>
        <p:spPr>
          <a:xfrm>
            <a:off x="640080" y="5257800"/>
            <a:ext cx="10881360" cy="914"/>
          </a:xfrm>
          <a:prstGeom prst="line">
            <a:avLst/>
          </a:prstGeom>
          <a:noFill/>
          <a:ln w="38100">
            <a:solidFill>
              <a:srgbClr val="2E7D4F"/>
            </a:solidFill>
            <a:prstDash val="solid"/>
            <a:tailEnd type="triangle"/>
          </a:ln>
        </p:spPr>
      </p:sp>
      <p:sp>
        <p:nvSpPr>
          <p:cNvPr id="21" name="Text 15"/>
          <p:cNvSpPr txBox="1"/>
          <p:nvPr/>
        </p:nvSpPr>
        <p:spPr>
          <a:xfrm>
            <a:off x="9601200" y="4892040"/>
            <a:ext cx="2011680" cy="347472"/>
          </a:xfrm>
          <a:prstGeom prst="rect">
            <a:avLst/>
          </a:prstGeom>
          <a:noFill/>
          <a:ln/>
        </p:spPr>
        <p:txBody>
          <a:bodyPr wrap="square" lIns="0" tIns="0" rIns="0" bIns="0" rtlCol="0" anchor="t"/>
          <a:lstStyle/>
          <a:p>
            <a:pPr algn="r" indent="0" marL="0">
              <a:buNone/>
            </a:pPr>
            <a:r>
              <a:rPr lang="en-US" sz="1300" i="1" dirty="0">
                <a:solidFill>
                  <a:schemeClr val="accent3"/>
                </a:solidFill>
              </a:rPr>
              <a:t>vers l’avenir →</a:t>
            </a:r>
            <a:endParaRPr lang="en-US" sz="1300" dirty="0"/>
          </a:p>
        </p:txBody>
      </p:sp>
      <p:sp>
        <p:nvSpPr>
          <p:cNvPr id="22" name="Shape 16"/>
          <p:cNvSpPr/>
          <p:nvPr/>
        </p:nvSpPr>
        <p:spPr>
          <a:xfrm>
            <a:off x="548640" y="5577840"/>
            <a:ext cx="11091672" cy="640080"/>
          </a:xfrm>
          <a:prstGeom prst="roundRect">
            <a:avLst>
              <a:gd name="adj" fmla="val 11429"/>
            </a:avLst>
          </a:prstGeom>
          <a:solidFill>
            <a:schemeClr val="tx2"/>
          </a:solidFill>
          <a:ln w="12700">
            <a:solidFill>
              <a:srgbClr val="FFFFFF">
                <a:alpha val="0"/>
              </a:srgbClr>
            </a:solidFill>
            <a:prstDash val="solid"/>
          </a:ln>
        </p:spPr>
      </p:sp>
      <p:sp>
        <p:nvSpPr>
          <p:cNvPr id="23" name="Text 17"/>
          <p:cNvSpPr txBox="1"/>
          <p:nvPr/>
        </p:nvSpPr>
        <p:spPr>
          <a:xfrm>
            <a:off x="822960" y="557784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En entretien, </a:t>
            </a:r>
            <a:r>
              <a:rPr lang="en-US" sz="1800" i="1" dirty="0">
                <a:solidFill>
                  <a:schemeClr val="bg1"/>
                </a:solidFill>
              </a:rPr>
              <a:t>Ik zou graag…</a:t>
            </a:r>
            <a:r>
              <a:rPr lang="en-US" sz="1800" dirty="0">
                <a:solidFill>
                  <a:schemeClr val="bg1"/>
                </a:solidFill>
              </a:rPr>
              <a:t> est la formule la plus polie pour exprimer un souhait.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Ma vie privée : que dire au travail ?</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CULTURE</a:t>
            </a:r>
            <a:endParaRPr lang="en-US" sz="1200" dirty="0"/>
          </a:p>
        </p:txBody>
      </p:sp>
      <p:sp>
        <p:nvSpPr>
          <p:cNvPr id="5" name="Shape 2"/>
          <p:cNvSpPr/>
          <p:nvPr/>
        </p:nvSpPr>
        <p:spPr>
          <a:xfrm>
            <a:off x="548640" y="1554480"/>
            <a:ext cx="5413248" cy="2423160"/>
          </a:xfrm>
          <a:prstGeom prst="roundRect">
            <a:avLst>
              <a:gd name="adj" fmla="val 3774"/>
            </a:avLst>
          </a:prstGeom>
          <a:solidFill>
            <a:schemeClr val="accent3">
              <a:alpha val="8000"/>
            </a:schemeClr>
          </a:solidFill>
          <a:ln w="25400">
            <a:solidFill>
              <a:srgbClr val="2E7D4F"/>
            </a:solidFill>
            <a:prstDash val="solid"/>
          </a:ln>
        </p:spPr>
      </p:sp>
      <p:sp>
        <p:nvSpPr>
          <p:cNvPr id="6" name="Text 3"/>
          <p:cNvSpPr txBox="1"/>
          <p:nvPr/>
        </p:nvSpPr>
        <p:spPr>
          <a:xfrm>
            <a:off x="731520" y="1600200"/>
            <a:ext cx="5047488" cy="457200"/>
          </a:xfrm>
          <a:prstGeom prst="rect">
            <a:avLst/>
          </a:prstGeom>
          <a:noFill/>
          <a:ln/>
        </p:spPr>
        <p:txBody>
          <a:bodyPr wrap="square" lIns="0" tIns="0" rIns="0" bIns="0" rtlCol="0" anchor="ctr"/>
          <a:lstStyle/>
          <a:p>
            <a:pPr algn="l" indent="0" marL="0">
              <a:buNone/>
            </a:pPr>
            <a:r>
              <a:rPr lang="en-US" sz="1900" b="1" dirty="0">
                <a:solidFill>
                  <a:schemeClr val="accent3"/>
                </a:solidFill>
              </a:rPr>
              <a:t>✓ on en parle</a:t>
            </a:r>
            <a:endParaRPr lang="en-US" sz="1900" dirty="0"/>
          </a:p>
        </p:txBody>
      </p:sp>
      <p:pic>
        <p:nvPicPr>
          <p:cNvPr id="7" name="Image 0" descr="soccer ball">    </p:cNvPr>
          <p:cNvPicPr>
            <a:picLocks noChangeAspect="1"/>
          </p:cNvPicPr>
          <p:nvPr/>
        </p:nvPicPr>
        <p:blipFill>
          <a:blip r:embed="rId1"/>
          <a:stretch>
            <a:fillRect/>
          </a:stretch>
        </p:blipFill>
        <p:spPr>
          <a:xfrm>
            <a:off x="731520" y="2148840"/>
            <a:ext cx="548640" cy="548640"/>
          </a:xfrm>
          <a:prstGeom prst="rect">
            <a:avLst/>
          </a:prstGeom>
        </p:spPr>
      </p:pic>
      <p:sp>
        <p:nvSpPr>
          <p:cNvPr id="8" name="Text 4"/>
          <p:cNvSpPr txBox="1"/>
          <p:nvPr/>
        </p:nvSpPr>
        <p:spPr>
          <a:xfrm>
            <a:off x="1371600" y="214884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le sport</a:t>
            </a:r>
            <a:endParaRPr lang="en-US" sz="1500" dirty="0"/>
          </a:p>
        </p:txBody>
      </p:sp>
      <p:pic>
        <p:nvPicPr>
          <p:cNvPr id="9" name="Image 1" descr="people hugging">    </p:cNvPr>
          <p:cNvPicPr>
            <a:picLocks noChangeAspect="1"/>
          </p:cNvPicPr>
          <p:nvPr/>
        </p:nvPicPr>
        <p:blipFill>
          <a:blip r:embed="rId2"/>
          <a:stretch>
            <a:fillRect/>
          </a:stretch>
        </p:blipFill>
        <p:spPr>
          <a:xfrm>
            <a:off x="3337560" y="2148840"/>
            <a:ext cx="548640" cy="548640"/>
          </a:xfrm>
          <a:prstGeom prst="rect">
            <a:avLst/>
          </a:prstGeom>
        </p:spPr>
      </p:pic>
      <p:sp>
        <p:nvSpPr>
          <p:cNvPr id="10" name="Text 5"/>
          <p:cNvSpPr txBox="1"/>
          <p:nvPr/>
        </p:nvSpPr>
        <p:spPr>
          <a:xfrm>
            <a:off x="3977640" y="214884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la famille (brièvement)</a:t>
            </a:r>
            <a:endParaRPr lang="en-US" sz="1500" dirty="0"/>
          </a:p>
        </p:txBody>
      </p:sp>
      <p:pic>
        <p:nvPicPr>
          <p:cNvPr id="11" name="Image 2" descr="airplane">    </p:cNvPr>
          <p:cNvPicPr>
            <a:picLocks noChangeAspect="1"/>
          </p:cNvPicPr>
          <p:nvPr/>
        </p:nvPicPr>
        <p:blipFill>
          <a:blip r:embed="rId3"/>
          <a:stretch>
            <a:fillRect/>
          </a:stretch>
        </p:blipFill>
        <p:spPr>
          <a:xfrm>
            <a:off x="731520" y="3017520"/>
            <a:ext cx="548640" cy="548640"/>
          </a:xfrm>
          <a:prstGeom prst="rect">
            <a:avLst/>
          </a:prstGeom>
        </p:spPr>
      </p:pic>
      <p:sp>
        <p:nvSpPr>
          <p:cNvPr id="12" name="Text 6"/>
          <p:cNvSpPr txBox="1"/>
          <p:nvPr/>
        </p:nvSpPr>
        <p:spPr>
          <a:xfrm>
            <a:off x="1371600" y="301752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les vacances</a:t>
            </a:r>
            <a:endParaRPr lang="en-US" sz="1500" dirty="0"/>
          </a:p>
        </p:txBody>
      </p:sp>
      <p:pic>
        <p:nvPicPr>
          <p:cNvPr id="13" name="Image 3" descr="cooking">    </p:cNvPr>
          <p:cNvPicPr>
            <a:picLocks noChangeAspect="1"/>
          </p:cNvPicPr>
          <p:nvPr/>
        </p:nvPicPr>
        <p:blipFill>
          <a:blip r:embed="rId4"/>
          <a:stretch>
            <a:fillRect/>
          </a:stretch>
        </p:blipFill>
        <p:spPr>
          <a:xfrm>
            <a:off x="3337560" y="3017520"/>
            <a:ext cx="548640" cy="548640"/>
          </a:xfrm>
          <a:prstGeom prst="rect">
            <a:avLst/>
          </a:prstGeom>
        </p:spPr>
      </p:pic>
      <p:sp>
        <p:nvSpPr>
          <p:cNvPr id="14" name="Text 7"/>
          <p:cNvSpPr txBox="1"/>
          <p:nvPr/>
        </p:nvSpPr>
        <p:spPr>
          <a:xfrm>
            <a:off x="3977640" y="301752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la cuisine, les loisirs</a:t>
            </a:r>
            <a:endParaRPr lang="en-US" sz="1500" dirty="0"/>
          </a:p>
        </p:txBody>
      </p:sp>
      <p:sp>
        <p:nvSpPr>
          <p:cNvPr id="15" name="Shape 8"/>
          <p:cNvSpPr/>
          <p:nvPr/>
        </p:nvSpPr>
        <p:spPr>
          <a:xfrm>
            <a:off x="6227064" y="1554480"/>
            <a:ext cx="5413248" cy="2423160"/>
          </a:xfrm>
          <a:prstGeom prst="roundRect">
            <a:avLst>
              <a:gd name="adj" fmla="val 3774"/>
            </a:avLst>
          </a:prstGeom>
          <a:solidFill>
            <a:schemeClr val="accent6">
              <a:alpha val="8000"/>
            </a:schemeClr>
          </a:solidFill>
          <a:ln w="25400">
            <a:solidFill>
              <a:srgbClr val="B83227"/>
            </a:solidFill>
            <a:prstDash val="solid"/>
          </a:ln>
        </p:spPr>
      </p:sp>
      <p:sp>
        <p:nvSpPr>
          <p:cNvPr id="16" name="Text 9"/>
          <p:cNvSpPr txBox="1"/>
          <p:nvPr/>
        </p:nvSpPr>
        <p:spPr>
          <a:xfrm>
            <a:off x="6409944" y="1600200"/>
            <a:ext cx="5047488" cy="457200"/>
          </a:xfrm>
          <a:prstGeom prst="rect">
            <a:avLst/>
          </a:prstGeom>
          <a:noFill/>
          <a:ln/>
        </p:spPr>
        <p:txBody>
          <a:bodyPr wrap="square" lIns="0" tIns="0" rIns="0" bIns="0" rtlCol="0" anchor="ctr"/>
          <a:lstStyle/>
          <a:p>
            <a:pPr algn="l" indent="0" marL="0">
              <a:buNone/>
            </a:pPr>
            <a:r>
              <a:rPr lang="en-US" sz="1900" b="1" dirty="0">
                <a:solidFill>
                  <a:schemeClr val="accent6"/>
                </a:solidFill>
              </a:rPr>
              <a:t>✗ on évite</a:t>
            </a:r>
            <a:endParaRPr lang="en-US" sz="1900" dirty="0"/>
          </a:p>
        </p:txBody>
      </p:sp>
      <p:pic>
        <p:nvPicPr>
          <p:cNvPr id="17" name="Image 4" descr="money bag">    </p:cNvPr>
          <p:cNvPicPr>
            <a:picLocks noChangeAspect="1"/>
          </p:cNvPicPr>
          <p:nvPr/>
        </p:nvPicPr>
        <p:blipFill>
          <a:blip r:embed="rId5"/>
          <a:stretch>
            <a:fillRect/>
          </a:stretch>
        </p:blipFill>
        <p:spPr>
          <a:xfrm>
            <a:off x="6409944" y="2148840"/>
            <a:ext cx="548640" cy="548640"/>
          </a:xfrm>
          <a:prstGeom prst="rect">
            <a:avLst/>
          </a:prstGeom>
        </p:spPr>
      </p:pic>
      <p:sp>
        <p:nvSpPr>
          <p:cNvPr id="18" name="Text 10"/>
          <p:cNvSpPr txBox="1"/>
          <p:nvPr/>
        </p:nvSpPr>
        <p:spPr>
          <a:xfrm>
            <a:off x="7050024" y="214884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le salaire</a:t>
            </a:r>
            <a:endParaRPr lang="en-US" sz="1500" dirty="0"/>
          </a:p>
        </p:txBody>
      </p:sp>
      <p:pic>
        <p:nvPicPr>
          <p:cNvPr id="19" name="Image 5" descr="place of worship">    </p:cNvPr>
          <p:cNvPicPr>
            <a:picLocks noChangeAspect="1"/>
          </p:cNvPicPr>
          <p:nvPr/>
        </p:nvPicPr>
        <p:blipFill>
          <a:blip r:embed="rId6"/>
          <a:stretch>
            <a:fillRect/>
          </a:stretch>
        </p:blipFill>
        <p:spPr>
          <a:xfrm>
            <a:off x="9015984" y="2148840"/>
            <a:ext cx="548640" cy="548640"/>
          </a:xfrm>
          <a:prstGeom prst="rect">
            <a:avLst/>
          </a:prstGeom>
        </p:spPr>
      </p:pic>
      <p:sp>
        <p:nvSpPr>
          <p:cNvPr id="20" name="Text 11"/>
          <p:cNvSpPr txBox="1"/>
          <p:nvPr/>
        </p:nvSpPr>
        <p:spPr>
          <a:xfrm>
            <a:off x="9656064" y="214884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la religion</a:t>
            </a:r>
            <a:endParaRPr lang="en-US" sz="1500" dirty="0"/>
          </a:p>
        </p:txBody>
      </p:sp>
      <p:pic>
        <p:nvPicPr>
          <p:cNvPr id="21" name="Image 6" descr="ballot box with ballot">    </p:cNvPr>
          <p:cNvPicPr>
            <a:picLocks noChangeAspect="1"/>
          </p:cNvPicPr>
          <p:nvPr/>
        </p:nvPicPr>
        <p:blipFill>
          <a:blip r:embed="rId7"/>
          <a:stretch>
            <a:fillRect/>
          </a:stretch>
        </p:blipFill>
        <p:spPr>
          <a:xfrm>
            <a:off x="6409944" y="3017520"/>
            <a:ext cx="548640" cy="548640"/>
          </a:xfrm>
          <a:prstGeom prst="rect">
            <a:avLst/>
          </a:prstGeom>
        </p:spPr>
      </p:pic>
      <p:sp>
        <p:nvSpPr>
          <p:cNvPr id="22" name="Text 12"/>
          <p:cNvSpPr txBox="1"/>
          <p:nvPr/>
        </p:nvSpPr>
        <p:spPr>
          <a:xfrm>
            <a:off x="7050024" y="301752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la politique</a:t>
            </a:r>
            <a:endParaRPr lang="en-US" sz="1500" dirty="0"/>
          </a:p>
        </p:txBody>
      </p:sp>
      <p:pic>
        <p:nvPicPr>
          <p:cNvPr id="23" name="Image 7" descr="pill">    </p:cNvPr>
          <p:cNvPicPr>
            <a:picLocks noChangeAspect="1"/>
          </p:cNvPicPr>
          <p:nvPr/>
        </p:nvPicPr>
        <p:blipFill>
          <a:blip r:embed="rId8"/>
          <a:stretch>
            <a:fillRect/>
          </a:stretch>
        </p:blipFill>
        <p:spPr>
          <a:xfrm>
            <a:off x="9015984" y="3017520"/>
            <a:ext cx="548640" cy="548640"/>
          </a:xfrm>
          <a:prstGeom prst="rect">
            <a:avLst/>
          </a:prstGeom>
        </p:spPr>
      </p:pic>
      <p:sp>
        <p:nvSpPr>
          <p:cNvPr id="24" name="Text 13"/>
          <p:cNvSpPr txBox="1"/>
          <p:nvPr/>
        </p:nvSpPr>
        <p:spPr>
          <a:xfrm>
            <a:off x="9656064" y="3017520"/>
            <a:ext cx="1920240" cy="548640"/>
          </a:xfrm>
          <a:prstGeom prst="rect">
            <a:avLst/>
          </a:prstGeom>
          <a:noFill/>
          <a:ln/>
        </p:spPr>
        <p:txBody>
          <a:bodyPr wrap="square" lIns="0" tIns="0" rIns="0" bIns="0" rtlCol="0" anchor="ctr"/>
          <a:lstStyle/>
          <a:p>
            <a:pPr algn="l" indent="0" marL="0">
              <a:buNone/>
            </a:pPr>
            <a:r>
              <a:rPr lang="en-US" sz="1500" dirty="0">
                <a:solidFill>
                  <a:schemeClr val="tx1"/>
                </a:solidFill>
              </a:rPr>
              <a:t>la santé</a:t>
            </a:r>
            <a:endParaRPr lang="en-US" sz="1500" dirty="0"/>
          </a:p>
        </p:txBody>
      </p:sp>
      <p:sp>
        <p:nvSpPr>
          <p:cNvPr id="25" name="Shape 14"/>
          <p:cNvSpPr/>
          <p:nvPr/>
        </p:nvSpPr>
        <p:spPr>
          <a:xfrm>
            <a:off x="548640" y="4160520"/>
            <a:ext cx="11091672" cy="1234440"/>
          </a:xfrm>
          <a:prstGeom prst="roundRect">
            <a:avLst>
              <a:gd name="adj" fmla="val 7407"/>
            </a:avLst>
          </a:prstGeom>
          <a:solidFill>
            <a:schemeClr val="bg2"/>
          </a:solidFill>
          <a:ln w="12700">
            <a:solidFill>
              <a:srgbClr val="D5DCE6"/>
            </a:solidFill>
            <a:prstDash val="solid"/>
          </a:ln>
        </p:spPr>
      </p:sp>
      <p:sp>
        <p:nvSpPr>
          <p:cNvPr id="26" name="Text 15"/>
          <p:cNvSpPr txBox="1"/>
          <p:nvPr/>
        </p:nvSpPr>
        <p:spPr>
          <a:xfrm>
            <a:off x="777240" y="4160520"/>
            <a:ext cx="10698480" cy="1234440"/>
          </a:xfrm>
          <a:prstGeom prst="rect">
            <a:avLst/>
          </a:prstGeom>
          <a:noFill/>
          <a:ln/>
        </p:spPr>
        <p:txBody>
          <a:bodyPr wrap="square" lIns="0" tIns="0" rIns="0" bIns="0" rtlCol="0" anchor="ctr"/>
          <a:lstStyle/>
          <a:p>
            <a:pPr algn="l" indent="0" marL="0">
              <a:spcAft>
                <a:spcPts val="600"/>
              </a:spcAft>
              <a:buNone/>
            </a:pPr>
            <a:r>
              <a:rPr lang="en-US" sz="1800" i="1" dirty="0">
                <a:solidFill>
                  <a:schemeClr val="tx1"/>
                </a:solidFill>
              </a:rPr>
              <a:t>Ik heb twee kinderen. · In mijn vrije tijd sport ik graag. · Ik hou van koken. · Ik ben dol op reizen.</a:t>
            </a:r>
            <a:r>
              <a:rPr lang="en-US" sz="1800" dirty="0">
                <a:solidFill>
                  <a:schemeClr val="tx1"/>
                </a:solidFill>
              </a:rPr>
              <a:t> (M27)</a:t>
            </a:r>
            <a:endParaRPr lang="en-US" sz="1800" dirty="0"/>
          </a:p>
          <a:p>
            <a:pPr algn="l" indent="0" marL="0">
              <a:spcAft>
                <a:spcPts val="600"/>
              </a:spcAft>
              <a:buNone/>
            </a:pPr>
            <a:r>
              <a:rPr lang="en-US" sz="1800" i="1" dirty="0">
                <a:solidFill>
                  <a:schemeClr val="tx1"/>
                </a:solidFill>
              </a:rPr>
              <a:t>Wat doe jij graag in je vrije tijd?</a:t>
            </a:r>
            <a:endParaRPr lang="en-US" sz="1800" dirty="0"/>
          </a:p>
        </p:txBody>
      </p:sp>
      <p:sp>
        <p:nvSpPr>
          <p:cNvPr id="27" name="Shape 16"/>
          <p:cNvSpPr/>
          <p:nvPr/>
        </p:nvSpPr>
        <p:spPr>
          <a:xfrm>
            <a:off x="548640" y="5577840"/>
            <a:ext cx="11091672" cy="640080"/>
          </a:xfrm>
          <a:prstGeom prst="roundRect">
            <a:avLst>
              <a:gd name="adj" fmla="val 11429"/>
            </a:avLst>
          </a:prstGeom>
          <a:solidFill>
            <a:schemeClr val="tx2"/>
          </a:solidFill>
          <a:ln w="12700">
            <a:solidFill>
              <a:srgbClr val="FFFFFF">
                <a:alpha val="0"/>
              </a:srgbClr>
            </a:solidFill>
            <a:prstDash val="solid"/>
          </a:ln>
        </p:spPr>
      </p:sp>
      <p:sp>
        <p:nvSpPr>
          <p:cNvPr id="28" name="Text 17"/>
          <p:cNvSpPr txBox="1"/>
          <p:nvPr/>
        </p:nvSpPr>
        <p:spPr>
          <a:xfrm>
            <a:off x="822960" y="557784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Personne n’est obligé de parler de sa vie privée : </a:t>
            </a:r>
            <a:r>
              <a:rPr lang="en-US" sz="1800" i="1" dirty="0">
                <a:solidFill>
                  <a:schemeClr val="bg1"/>
                </a:solidFill>
              </a:rPr>
              <a:t>Ik sport graag</a:t>
            </a:r>
            <a:r>
              <a:rPr lang="en-US" sz="1800" dirty="0">
                <a:solidFill>
                  <a:schemeClr val="bg1"/>
                </a:solidFill>
              </a:rPr>
              <a:t> suffit.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bon registre : trois situations</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5" name="Shape 2"/>
          <p:cNvSpPr/>
          <p:nvPr/>
        </p:nvSpPr>
        <p:spPr>
          <a:xfrm>
            <a:off x="548640" y="1554480"/>
            <a:ext cx="3544824" cy="3794760"/>
          </a:xfrm>
          <a:prstGeom prst="roundRect">
            <a:avLst>
              <a:gd name="adj" fmla="val 2580"/>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3544824" cy="548640"/>
          </a:xfrm>
          <a:prstGeom prst="roundRect">
            <a:avLst>
              <a:gd name="adj" fmla="val 16667"/>
            </a:avLst>
          </a:prstGeom>
          <a:solidFill>
            <a:schemeClr val="accent3"/>
          </a:solidFill>
          <a:ln w="12700">
            <a:solidFill>
              <a:srgbClr val="FFFFFF">
                <a:alpha val="0"/>
              </a:srgbClr>
            </a:solidFill>
            <a:prstDash val="solid"/>
          </a:ln>
        </p:spPr>
      </p:sp>
      <p:sp>
        <p:nvSpPr>
          <p:cNvPr id="7" name="Text 4"/>
          <p:cNvSpPr txBox="1"/>
          <p:nvPr/>
        </p:nvSpPr>
        <p:spPr>
          <a:xfrm>
            <a:off x="731520" y="1554480"/>
            <a:ext cx="2356104" cy="548640"/>
          </a:xfrm>
          <a:prstGeom prst="rect">
            <a:avLst/>
          </a:prstGeom>
          <a:noFill/>
          <a:ln/>
        </p:spPr>
        <p:txBody>
          <a:bodyPr wrap="square" lIns="0" tIns="0" rIns="0" bIns="0" rtlCol="0" anchor="ctr"/>
          <a:lstStyle/>
          <a:p>
            <a:pPr algn="l" indent="0" marL="0">
              <a:buNone/>
            </a:pPr>
            <a:r>
              <a:rPr lang="en-US" sz="1700" b="1" dirty="0">
                <a:solidFill>
                  <a:schemeClr val="bg1"/>
                </a:solidFill>
              </a:rPr>
              <a:t>Un·e collègue</a:t>
            </a:r>
            <a:endParaRPr lang="en-US" sz="1700" dirty="0"/>
          </a:p>
        </p:txBody>
      </p:sp>
      <p:sp>
        <p:nvSpPr>
          <p:cNvPr id="8" name="tag"/>
          <p:cNvSpPr/>
          <p:nvPr/>
        </p:nvSpPr>
        <p:spPr>
          <a:xfrm>
            <a:off x="3316224" y="1673352"/>
            <a:ext cx="581558"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je</a:t>
            </a:r>
            <a:endParaRPr lang="en-US" sz="1200" dirty="0"/>
          </a:p>
        </p:txBody>
      </p:sp>
      <p:pic>
        <p:nvPicPr>
          <p:cNvPr id="9" name="Image 0" descr="woman red hair">    </p:cNvPr>
          <p:cNvPicPr>
            <a:picLocks noChangeAspect="1"/>
          </p:cNvPicPr>
          <p:nvPr/>
        </p:nvPicPr>
        <p:blipFill>
          <a:blip r:embed="rId1"/>
          <a:stretch>
            <a:fillRect/>
          </a:stretch>
        </p:blipFill>
        <p:spPr>
          <a:xfrm>
            <a:off x="685800" y="2286000"/>
            <a:ext cx="594360" cy="594360"/>
          </a:xfrm>
          <a:prstGeom prst="rect">
            <a:avLst/>
          </a:prstGeom>
        </p:spPr>
      </p:pic>
      <p:sp>
        <p:nvSpPr>
          <p:cNvPr id="10" name="Shape 6"/>
          <p:cNvSpPr/>
          <p:nvPr/>
        </p:nvSpPr>
        <p:spPr>
          <a:xfrm>
            <a:off x="1371600" y="2240280"/>
            <a:ext cx="2584704" cy="1051560"/>
          </a:xfrm>
          <a:prstGeom prst="roundRect">
            <a:avLst>
              <a:gd name="adj" fmla="val 15652"/>
            </a:avLst>
          </a:prstGeom>
          <a:solidFill>
            <a:schemeClr val="accent3">
              <a:alpha val="12000"/>
            </a:schemeClr>
          </a:solidFill>
          <a:ln w="15875">
            <a:solidFill>
              <a:srgbClr val="2E7D4F"/>
            </a:solidFill>
            <a:prstDash val="solid"/>
          </a:ln>
        </p:spPr>
      </p:sp>
      <p:sp>
        <p:nvSpPr>
          <p:cNvPr id="11" name="Text 7"/>
          <p:cNvSpPr txBox="1"/>
          <p:nvPr/>
        </p:nvSpPr>
        <p:spPr>
          <a:xfrm>
            <a:off x="1536192" y="2240280"/>
            <a:ext cx="2255520" cy="1051560"/>
          </a:xfrm>
          <a:prstGeom prst="rect">
            <a:avLst/>
          </a:prstGeom>
          <a:noFill/>
          <a:ln/>
        </p:spPr>
        <p:txBody>
          <a:bodyPr wrap="square" lIns="0" tIns="0" rIns="0" bIns="0" rtlCol="0" anchor="ctr"/>
          <a:lstStyle/>
          <a:p>
            <a:pPr algn="l" indent="0" marL="0">
              <a:buNone/>
            </a:pPr>
            <a:r>
              <a:rPr lang="en-US" sz="1500" i="1" dirty="0">
                <a:solidFill>
                  <a:schemeClr val="tx1"/>
                </a:solidFill>
              </a:rPr>
              <a:t>Hoi, ik ben Lotte, de nieuwe stagiaire. En jij?</a:t>
            </a:r>
            <a:endParaRPr lang="en-US" sz="1500" dirty="0"/>
          </a:p>
        </p:txBody>
      </p:sp>
      <p:pic>
        <p:nvPicPr>
          <p:cNvPr id="12" name="Image 1" descr="man office worker">    </p:cNvPr>
          <p:cNvPicPr>
            <a:picLocks noChangeAspect="1"/>
          </p:cNvPicPr>
          <p:nvPr/>
        </p:nvPicPr>
        <p:blipFill>
          <a:blip r:embed="rId2"/>
          <a:stretch>
            <a:fillRect/>
          </a:stretch>
        </p:blipFill>
        <p:spPr>
          <a:xfrm>
            <a:off x="3361944" y="3611880"/>
            <a:ext cx="594360" cy="594360"/>
          </a:xfrm>
          <a:prstGeom prst="rect">
            <a:avLst/>
          </a:prstGeom>
        </p:spPr>
      </p:pic>
      <p:sp>
        <p:nvSpPr>
          <p:cNvPr id="13" name="Shape 8"/>
          <p:cNvSpPr/>
          <p:nvPr/>
        </p:nvSpPr>
        <p:spPr>
          <a:xfrm>
            <a:off x="685800" y="3520440"/>
            <a:ext cx="2584704" cy="1051560"/>
          </a:xfrm>
          <a:prstGeom prst="roundRect">
            <a:avLst>
              <a:gd name="adj" fmla="val 15652"/>
            </a:avLst>
          </a:prstGeom>
          <a:solidFill>
            <a:schemeClr val="accent5">
              <a:alpha val="12000"/>
            </a:schemeClr>
          </a:solidFill>
          <a:ln w="15875">
            <a:solidFill>
              <a:srgbClr val="4A5A70"/>
            </a:solidFill>
            <a:prstDash val="solid"/>
          </a:ln>
        </p:spPr>
      </p:sp>
      <p:sp>
        <p:nvSpPr>
          <p:cNvPr id="14" name="Text 9"/>
          <p:cNvSpPr txBox="1"/>
          <p:nvPr/>
        </p:nvSpPr>
        <p:spPr>
          <a:xfrm>
            <a:off x="850392" y="3520440"/>
            <a:ext cx="2255520" cy="1051560"/>
          </a:xfrm>
          <a:prstGeom prst="rect">
            <a:avLst/>
          </a:prstGeom>
          <a:noFill/>
          <a:ln/>
        </p:spPr>
        <p:txBody>
          <a:bodyPr wrap="square" lIns="0" tIns="0" rIns="0" bIns="0" rtlCol="0" anchor="ctr"/>
          <a:lstStyle/>
          <a:p>
            <a:pPr algn="l" indent="0" marL="0">
              <a:buNone/>
            </a:pPr>
            <a:r>
              <a:rPr lang="en-US" sz="1500" i="1" dirty="0">
                <a:solidFill>
                  <a:schemeClr val="tx1"/>
                </a:solidFill>
              </a:rPr>
              <a:t>Ik ben Karim, van de boekhouding. Welkom!</a:t>
            </a:r>
            <a:endParaRPr lang="en-US" sz="1500" dirty="0"/>
          </a:p>
        </p:txBody>
      </p:sp>
      <p:sp>
        <p:nvSpPr>
          <p:cNvPr id="15" name="Shape 10"/>
          <p:cNvSpPr/>
          <p:nvPr/>
        </p:nvSpPr>
        <p:spPr>
          <a:xfrm>
            <a:off x="4322064" y="1554480"/>
            <a:ext cx="3544824" cy="3794760"/>
          </a:xfrm>
          <a:prstGeom prst="roundRect">
            <a:avLst>
              <a:gd name="adj" fmla="val 2580"/>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6" name="Shape 11"/>
          <p:cNvSpPr/>
          <p:nvPr/>
        </p:nvSpPr>
        <p:spPr>
          <a:xfrm>
            <a:off x="4322064" y="1554480"/>
            <a:ext cx="3544824" cy="548640"/>
          </a:xfrm>
          <a:prstGeom prst="roundRect">
            <a:avLst>
              <a:gd name="adj" fmla="val 16667"/>
            </a:avLst>
          </a:prstGeom>
          <a:solidFill>
            <a:schemeClr val="accent2"/>
          </a:solidFill>
          <a:ln w="12700">
            <a:solidFill>
              <a:srgbClr val="FFFFFF">
                <a:alpha val="0"/>
              </a:srgbClr>
            </a:solidFill>
            <a:prstDash val="solid"/>
          </a:ln>
        </p:spPr>
      </p:sp>
      <p:sp>
        <p:nvSpPr>
          <p:cNvPr id="17" name="Text 12"/>
          <p:cNvSpPr txBox="1"/>
          <p:nvPr/>
        </p:nvSpPr>
        <p:spPr>
          <a:xfrm>
            <a:off x="4504944" y="1554480"/>
            <a:ext cx="2356104" cy="548640"/>
          </a:xfrm>
          <a:prstGeom prst="rect">
            <a:avLst/>
          </a:prstGeom>
          <a:noFill/>
          <a:ln/>
        </p:spPr>
        <p:txBody>
          <a:bodyPr wrap="square" lIns="0" tIns="0" rIns="0" bIns="0" rtlCol="0" anchor="ctr"/>
          <a:lstStyle/>
          <a:p>
            <a:pPr algn="l" indent="0" marL="0">
              <a:buNone/>
            </a:pPr>
            <a:r>
              <a:rPr lang="en-US" sz="1700" b="1" dirty="0">
                <a:solidFill>
                  <a:schemeClr val="bg1"/>
                </a:solidFill>
              </a:rPr>
              <a:t>Un entretien</a:t>
            </a:r>
            <a:endParaRPr lang="en-US" sz="1700" dirty="0"/>
          </a:p>
        </p:txBody>
      </p:sp>
      <p:sp>
        <p:nvSpPr>
          <p:cNvPr id="18" name="tag"/>
          <p:cNvSpPr/>
          <p:nvPr/>
        </p:nvSpPr>
        <p:spPr>
          <a:xfrm>
            <a:off x="7089648" y="1673352"/>
            <a:ext cx="473659"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u</a:t>
            </a:r>
            <a:endParaRPr lang="en-US" sz="1200" dirty="0"/>
          </a:p>
        </p:txBody>
      </p:sp>
      <p:pic>
        <p:nvPicPr>
          <p:cNvPr id="19" name="Image 2" descr="woman office worker">    </p:cNvPr>
          <p:cNvPicPr>
            <a:picLocks noChangeAspect="1"/>
          </p:cNvPicPr>
          <p:nvPr/>
        </p:nvPicPr>
        <p:blipFill>
          <a:blip r:embed="rId3"/>
          <a:stretch>
            <a:fillRect/>
          </a:stretch>
        </p:blipFill>
        <p:spPr>
          <a:xfrm>
            <a:off x="4459224" y="2286000"/>
            <a:ext cx="594360" cy="594360"/>
          </a:xfrm>
          <a:prstGeom prst="rect">
            <a:avLst/>
          </a:prstGeom>
        </p:spPr>
      </p:pic>
      <p:sp>
        <p:nvSpPr>
          <p:cNvPr id="20" name="Shape 14"/>
          <p:cNvSpPr/>
          <p:nvPr/>
        </p:nvSpPr>
        <p:spPr>
          <a:xfrm>
            <a:off x="5145024" y="2240280"/>
            <a:ext cx="2584704" cy="1051560"/>
          </a:xfrm>
          <a:prstGeom prst="roundRect">
            <a:avLst>
              <a:gd name="adj" fmla="val 15652"/>
            </a:avLst>
          </a:prstGeom>
          <a:solidFill>
            <a:schemeClr val="accent2">
              <a:alpha val="12000"/>
            </a:schemeClr>
          </a:solidFill>
          <a:ln w="15875">
            <a:solidFill>
              <a:srgbClr val="2A6FB0"/>
            </a:solidFill>
            <a:prstDash val="solid"/>
          </a:ln>
        </p:spPr>
      </p:sp>
      <p:sp>
        <p:nvSpPr>
          <p:cNvPr id="21" name="Text 15"/>
          <p:cNvSpPr txBox="1"/>
          <p:nvPr/>
        </p:nvSpPr>
        <p:spPr>
          <a:xfrm>
            <a:off x="5309616" y="2240280"/>
            <a:ext cx="2255520" cy="1051560"/>
          </a:xfrm>
          <a:prstGeom prst="rect">
            <a:avLst/>
          </a:prstGeom>
          <a:noFill/>
          <a:ln/>
        </p:spPr>
        <p:txBody>
          <a:bodyPr wrap="square" lIns="0" tIns="0" rIns="0" bIns="0" rtlCol="0" anchor="ctr"/>
          <a:lstStyle/>
          <a:p>
            <a:pPr algn="l" indent="0" marL="0">
              <a:buNone/>
            </a:pPr>
            <a:r>
              <a:rPr lang="en-US" sz="1500" i="1" dirty="0">
                <a:solidFill>
                  <a:schemeClr val="tx1"/>
                </a:solidFill>
              </a:rPr>
              <a:t>Vertelt u eens iets over uzelf.</a:t>
            </a:r>
            <a:endParaRPr lang="en-US" sz="1500" dirty="0"/>
          </a:p>
        </p:txBody>
      </p:sp>
      <p:pic>
        <p:nvPicPr>
          <p:cNvPr id="22" name="Image 3" descr="man office worker">    </p:cNvPr>
          <p:cNvPicPr>
            <a:picLocks noChangeAspect="1"/>
          </p:cNvPicPr>
          <p:nvPr/>
        </p:nvPicPr>
        <p:blipFill>
          <a:blip r:embed="rId4"/>
          <a:stretch>
            <a:fillRect/>
          </a:stretch>
        </p:blipFill>
        <p:spPr>
          <a:xfrm>
            <a:off x="7135368" y="3611880"/>
            <a:ext cx="594360" cy="594360"/>
          </a:xfrm>
          <a:prstGeom prst="rect">
            <a:avLst/>
          </a:prstGeom>
        </p:spPr>
      </p:pic>
      <p:sp>
        <p:nvSpPr>
          <p:cNvPr id="23" name="Shape 16"/>
          <p:cNvSpPr/>
          <p:nvPr/>
        </p:nvSpPr>
        <p:spPr>
          <a:xfrm>
            <a:off x="4459224" y="3520440"/>
            <a:ext cx="2584704" cy="1051560"/>
          </a:xfrm>
          <a:prstGeom prst="roundRect">
            <a:avLst>
              <a:gd name="adj" fmla="val 15652"/>
            </a:avLst>
          </a:prstGeom>
          <a:solidFill>
            <a:schemeClr val="accent5">
              <a:alpha val="12000"/>
            </a:schemeClr>
          </a:solidFill>
          <a:ln w="15875">
            <a:solidFill>
              <a:srgbClr val="4A5A70"/>
            </a:solidFill>
            <a:prstDash val="solid"/>
          </a:ln>
        </p:spPr>
      </p:sp>
      <p:sp>
        <p:nvSpPr>
          <p:cNvPr id="24" name="Text 17"/>
          <p:cNvSpPr txBox="1"/>
          <p:nvPr/>
        </p:nvSpPr>
        <p:spPr>
          <a:xfrm>
            <a:off x="4623816" y="3520440"/>
            <a:ext cx="2255520" cy="1051560"/>
          </a:xfrm>
          <a:prstGeom prst="rect">
            <a:avLst/>
          </a:prstGeom>
          <a:noFill/>
          <a:ln/>
        </p:spPr>
        <p:txBody>
          <a:bodyPr wrap="square" lIns="0" tIns="0" rIns="0" bIns="0" rtlCol="0" anchor="ctr"/>
          <a:lstStyle/>
          <a:p>
            <a:pPr algn="l" indent="0" marL="0">
              <a:buNone/>
            </a:pPr>
            <a:r>
              <a:rPr lang="en-US" sz="1500" i="1" dirty="0">
                <a:solidFill>
                  <a:schemeClr val="tx1"/>
                </a:solidFill>
              </a:rPr>
              <a:t>Graag. Ik ben Karim Benali en ik werk sinds…</a:t>
            </a:r>
            <a:endParaRPr lang="en-US" sz="1500" dirty="0"/>
          </a:p>
        </p:txBody>
      </p:sp>
      <p:sp>
        <p:nvSpPr>
          <p:cNvPr id="25" name="Shape 18"/>
          <p:cNvSpPr/>
          <p:nvPr/>
        </p:nvSpPr>
        <p:spPr>
          <a:xfrm>
            <a:off x="8095488" y="1554480"/>
            <a:ext cx="3544824" cy="3794760"/>
          </a:xfrm>
          <a:prstGeom prst="roundRect">
            <a:avLst>
              <a:gd name="adj" fmla="val 2580"/>
            </a:avLst>
          </a:prstGeom>
          <a:solidFill>
            <a:schemeClr val="bg1"/>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26" name="Shape 19"/>
          <p:cNvSpPr/>
          <p:nvPr/>
        </p:nvSpPr>
        <p:spPr>
          <a:xfrm>
            <a:off x="8095488" y="1554480"/>
            <a:ext cx="3544824" cy="548640"/>
          </a:xfrm>
          <a:prstGeom prst="roundRect">
            <a:avLst>
              <a:gd name="adj" fmla="val 16667"/>
            </a:avLst>
          </a:prstGeom>
          <a:solidFill>
            <a:srgbClr val="6E4A9E"/>
          </a:solidFill>
          <a:ln w="12700">
            <a:solidFill>
              <a:srgbClr val="FFFFFF">
                <a:alpha val="0"/>
              </a:srgbClr>
            </a:solidFill>
            <a:prstDash val="solid"/>
          </a:ln>
        </p:spPr>
      </p:sp>
      <p:sp>
        <p:nvSpPr>
          <p:cNvPr id="27" name="Text 20"/>
          <p:cNvSpPr txBox="1"/>
          <p:nvPr/>
        </p:nvSpPr>
        <p:spPr>
          <a:xfrm>
            <a:off x="8278368" y="1554480"/>
            <a:ext cx="2356104" cy="548640"/>
          </a:xfrm>
          <a:prstGeom prst="rect">
            <a:avLst/>
          </a:prstGeom>
          <a:noFill/>
          <a:ln/>
        </p:spPr>
        <p:txBody>
          <a:bodyPr wrap="square" lIns="0" tIns="0" rIns="0" bIns="0" rtlCol="0" anchor="ctr"/>
          <a:lstStyle/>
          <a:p>
            <a:pPr algn="l" indent="0" marL="0">
              <a:buNone/>
            </a:pPr>
            <a:r>
              <a:rPr lang="en-US" sz="1700" b="1" dirty="0">
                <a:solidFill>
                  <a:schemeClr val="bg1"/>
                </a:solidFill>
              </a:rPr>
              <a:t>Le réseau</a:t>
            </a:r>
            <a:endParaRPr lang="en-US" sz="1700" dirty="0"/>
          </a:p>
        </p:txBody>
      </p:sp>
      <p:sp>
        <p:nvSpPr>
          <p:cNvPr id="28" name="tag"/>
          <p:cNvSpPr/>
          <p:nvPr/>
        </p:nvSpPr>
        <p:spPr>
          <a:xfrm>
            <a:off x="10405872" y="1673352"/>
            <a:ext cx="112288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u → je</a:t>
            </a:r>
            <a:endParaRPr lang="en-US" sz="1200" dirty="0"/>
          </a:p>
        </p:txBody>
      </p:sp>
      <p:pic>
        <p:nvPicPr>
          <p:cNvPr id="29" name="Image 4" descr="man office worker">    </p:cNvPr>
          <p:cNvPicPr>
            <a:picLocks noChangeAspect="1"/>
          </p:cNvPicPr>
          <p:nvPr/>
        </p:nvPicPr>
        <p:blipFill>
          <a:blip r:embed="rId5"/>
          <a:stretch>
            <a:fillRect/>
          </a:stretch>
        </p:blipFill>
        <p:spPr>
          <a:xfrm>
            <a:off x="8232648" y="2286000"/>
            <a:ext cx="594360" cy="594360"/>
          </a:xfrm>
          <a:prstGeom prst="rect">
            <a:avLst/>
          </a:prstGeom>
        </p:spPr>
      </p:pic>
      <p:sp>
        <p:nvSpPr>
          <p:cNvPr id="30" name="Shape 22"/>
          <p:cNvSpPr/>
          <p:nvPr/>
        </p:nvSpPr>
        <p:spPr>
          <a:xfrm>
            <a:off x="8918448" y="2240280"/>
            <a:ext cx="2584704" cy="1051560"/>
          </a:xfrm>
          <a:prstGeom prst="roundRect">
            <a:avLst>
              <a:gd name="adj" fmla="val 15652"/>
            </a:avLst>
          </a:prstGeom>
          <a:solidFill>
            <a:srgbClr val="6E4A9E">
              <a:alpha val="12000"/>
            </a:srgbClr>
          </a:solidFill>
          <a:ln w="15875">
            <a:solidFill>
              <a:srgbClr val="6E4A9E"/>
            </a:solidFill>
            <a:prstDash val="solid"/>
          </a:ln>
        </p:spPr>
      </p:sp>
      <p:sp>
        <p:nvSpPr>
          <p:cNvPr id="31" name="Text 23"/>
          <p:cNvSpPr txBox="1"/>
          <p:nvPr/>
        </p:nvSpPr>
        <p:spPr>
          <a:xfrm>
            <a:off x="9083040" y="2240280"/>
            <a:ext cx="2255520" cy="1051560"/>
          </a:xfrm>
          <a:prstGeom prst="rect">
            <a:avLst/>
          </a:prstGeom>
          <a:noFill/>
          <a:ln/>
        </p:spPr>
        <p:txBody>
          <a:bodyPr wrap="square" lIns="0" tIns="0" rIns="0" bIns="0" rtlCol="0" anchor="ctr"/>
          <a:lstStyle/>
          <a:p>
            <a:pPr algn="l" indent="0" marL="0">
              <a:buNone/>
            </a:pPr>
            <a:r>
              <a:rPr lang="en-US" sz="1500" i="1" dirty="0">
                <a:solidFill>
                  <a:schemeClr val="tx1"/>
                </a:solidFill>
              </a:rPr>
              <a:t>Aangenaam, Karim Benali.</a:t>
            </a:r>
            <a:endParaRPr lang="en-US" sz="1500" dirty="0"/>
          </a:p>
        </p:txBody>
      </p:sp>
      <p:pic>
        <p:nvPicPr>
          <p:cNvPr id="32" name="Image 5" descr="woman">    </p:cNvPr>
          <p:cNvPicPr>
            <a:picLocks noChangeAspect="1"/>
          </p:cNvPicPr>
          <p:nvPr/>
        </p:nvPicPr>
        <p:blipFill>
          <a:blip r:embed="rId6"/>
          <a:stretch>
            <a:fillRect/>
          </a:stretch>
        </p:blipFill>
        <p:spPr>
          <a:xfrm>
            <a:off x="10908792" y="3611880"/>
            <a:ext cx="594360" cy="594360"/>
          </a:xfrm>
          <a:prstGeom prst="rect">
            <a:avLst/>
          </a:prstGeom>
        </p:spPr>
      </p:pic>
      <p:sp>
        <p:nvSpPr>
          <p:cNvPr id="33" name="Shape 24"/>
          <p:cNvSpPr/>
          <p:nvPr/>
        </p:nvSpPr>
        <p:spPr>
          <a:xfrm>
            <a:off x="8232648" y="3520440"/>
            <a:ext cx="2584704" cy="1051560"/>
          </a:xfrm>
          <a:prstGeom prst="roundRect">
            <a:avLst>
              <a:gd name="adj" fmla="val 15652"/>
            </a:avLst>
          </a:prstGeom>
          <a:solidFill>
            <a:schemeClr val="accent5">
              <a:alpha val="12000"/>
            </a:schemeClr>
          </a:solidFill>
          <a:ln w="15875">
            <a:solidFill>
              <a:srgbClr val="4A5A70"/>
            </a:solidFill>
            <a:prstDash val="solid"/>
          </a:ln>
        </p:spPr>
      </p:sp>
      <p:sp>
        <p:nvSpPr>
          <p:cNvPr id="34" name="Text 25"/>
          <p:cNvSpPr txBox="1"/>
          <p:nvPr/>
        </p:nvSpPr>
        <p:spPr>
          <a:xfrm>
            <a:off x="8397240" y="3520440"/>
            <a:ext cx="2255520" cy="1051560"/>
          </a:xfrm>
          <a:prstGeom prst="rect">
            <a:avLst/>
          </a:prstGeom>
          <a:noFill/>
          <a:ln/>
        </p:spPr>
        <p:txBody>
          <a:bodyPr wrap="square" lIns="0" tIns="0" rIns="0" bIns="0" rtlCol="0" anchor="ctr"/>
          <a:lstStyle/>
          <a:p>
            <a:pPr algn="l" indent="0" marL="0">
              <a:buNone/>
            </a:pPr>
            <a:r>
              <a:rPr lang="en-US" sz="1500" i="1" dirty="0">
                <a:solidFill>
                  <a:schemeClr val="tx1"/>
                </a:solidFill>
              </a:rPr>
              <a:t>Aangenaam! Eva Wouters, van Maesbouw.</a:t>
            </a:r>
            <a:endParaRPr lang="en-US" sz="1500" dirty="0"/>
          </a:p>
        </p:txBody>
      </p:sp>
      <p:pic>
        <p:nvPicPr>
          <p:cNvPr id="35" name="Image 6" descr="handshake">    </p:cNvPr>
          <p:cNvPicPr>
            <a:picLocks noChangeAspect="1"/>
          </p:cNvPicPr>
          <p:nvPr/>
        </p:nvPicPr>
        <p:blipFill>
          <a:blip r:embed="rId7"/>
          <a:stretch>
            <a:fillRect/>
          </a:stretch>
        </p:blipFill>
        <p:spPr>
          <a:xfrm>
            <a:off x="9593580" y="4663440"/>
            <a:ext cx="548640" cy="548640"/>
          </a:xfrm>
          <a:prstGeom prst="rect">
            <a:avLst/>
          </a:prstGeom>
        </p:spPr>
      </p:pic>
      <p:sp>
        <p:nvSpPr>
          <p:cNvPr id="36" name="Shape 26"/>
          <p:cNvSpPr/>
          <p:nvPr/>
        </p:nvSpPr>
        <p:spPr>
          <a:xfrm>
            <a:off x="548640" y="5532120"/>
            <a:ext cx="11091672" cy="685800"/>
          </a:xfrm>
          <a:prstGeom prst="roundRect">
            <a:avLst>
              <a:gd name="adj" fmla="val 10667"/>
            </a:avLst>
          </a:prstGeom>
          <a:solidFill>
            <a:schemeClr val="tx2"/>
          </a:solidFill>
          <a:ln w="12700">
            <a:solidFill>
              <a:srgbClr val="FFFFFF">
                <a:alpha val="0"/>
              </a:srgbClr>
            </a:solidFill>
            <a:prstDash val="solid"/>
          </a:ln>
        </p:spPr>
      </p:sp>
      <p:sp>
        <p:nvSpPr>
          <p:cNvPr id="37" name="Text 27"/>
          <p:cNvSpPr txBox="1"/>
          <p:nvPr/>
        </p:nvSpPr>
        <p:spPr>
          <a:xfrm>
            <a:off x="822960" y="5532120"/>
            <a:ext cx="10607040" cy="685800"/>
          </a:xfrm>
          <a:prstGeom prst="rect">
            <a:avLst/>
          </a:prstGeom>
          <a:noFill/>
          <a:ln/>
        </p:spPr>
        <p:txBody>
          <a:bodyPr wrap="square" lIns="0" tIns="0" rIns="0" bIns="0" rtlCol="0" anchor="ctr"/>
          <a:lstStyle/>
          <a:p>
            <a:pPr algn="l" indent="0" marL="0">
              <a:buNone/>
            </a:pPr>
            <a:r>
              <a:rPr lang="en-US" sz="1700" b="1" i="1" dirty="0">
                <a:solidFill>
                  <a:schemeClr val="bg1"/>
                </a:solidFill>
              </a:rPr>
              <a:t>Aangenaam</a:t>
            </a:r>
            <a:r>
              <a:rPr lang="en-US" sz="1700" dirty="0">
                <a:solidFill>
                  <a:schemeClr val="bg1"/>
                </a:solidFill>
              </a:rPr>
              <a:t> (enchanté·e) : très courant en Belgique · </a:t>
            </a:r>
            <a:r>
              <a:rPr lang="en-US" sz="1700" i="1" dirty="0">
                <a:solidFill>
                  <a:schemeClr val="bg1"/>
                </a:solidFill>
              </a:rPr>
              <a:t>Prettig kennis te maken. · Leuk je te leren kennen.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Poser des questions et réagir</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5" name="Text 2"/>
          <p:cNvSpPr txBox="1"/>
          <p:nvPr/>
        </p:nvSpPr>
        <p:spPr>
          <a:xfrm>
            <a:off x="548640" y="1463040"/>
            <a:ext cx="5486400" cy="320040"/>
          </a:xfrm>
          <a:prstGeom prst="rect">
            <a:avLst/>
          </a:prstGeom>
          <a:noFill/>
          <a:ln/>
        </p:spPr>
        <p:txBody>
          <a:bodyPr wrap="square" lIns="0" tIns="0" rIns="0" bIns="0" rtlCol="0" anchor="t"/>
          <a:lstStyle/>
          <a:p>
            <a:pPr algn="l" indent="0" marL="0">
              <a:buNone/>
            </a:pPr>
            <a:r>
              <a:rPr lang="en-US" sz="1300" b="1" spc="200" kern="0" dirty="0">
                <a:solidFill>
                  <a:schemeClr val="accent2"/>
                </a:solidFill>
              </a:rPr>
              <a:t>QUESTIONS</a:t>
            </a:r>
            <a:endParaRPr lang="en-US" sz="1300" dirty="0"/>
          </a:p>
        </p:txBody>
      </p:sp>
      <p:sp>
        <p:nvSpPr>
          <p:cNvPr id="6" name="Text 3"/>
          <p:cNvSpPr txBox="1"/>
          <p:nvPr/>
        </p:nvSpPr>
        <p:spPr>
          <a:xfrm>
            <a:off x="7315200" y="1463040"/>
            <a:ext cx="4297680" cy="320040"/>
          </a:xfrm>
          <a:prstGeom prst="rect">
            <a:avLst/>
          </a:prstGeom>
          <a:noFill/>
          <a:ln/>
        </p:spPr>
        <p:txBody>
          <a:bodyPr wrap="square" lIns="0" tIns="0" rIns="0" bIns="0" rtlCol="0" anchor="t"/>
          <a:lstStyle/>
          <a:p>
            <a:pPr algn="l" indent="0" marL="0">
              <a:buNone/>
            </a:pPr>
            <a:r>
              <a:rPr lang="en-US" sz="1300" b="1" spc="200" kern="0" dirty="0">
                <a:solidFill>
                  <a:schemeClr val="accent3"/>
                </a:solidFill>
              </a:rPr>
              <a:t>RÉACTIONS</a:t>
            </a:r>
            <a:endParaRPr lang="en-US" sz="1300" dirty="0"/>
          </a:p>
        </p:txBody>
      </p:sp>
      <p:sp>
        <p:nvSpPr>
          <p:cNvPr id="7" name="Shape 4"/>
          <p:cNvSpPr/>
          <p:nvPr/>
        </p:nvSpPr>
        <p:spPr>
          <a:xfrm>
            <a:off x="548640" y="1828800"/>
            <a:ext cx="5852160" cy="603504"/>
          </a:xfrm>
          <a:prstGeom prst="roundRect">
            <a:avLst>
              <a:gd name="adj" fmla="val 27273"/>
            </a:avLst>
          </a:prstGeom>
          <a:solidFill>
            <a:schemeClr val="accent2">
              <a:alpha val="12000"/>
            </a:schemeClr>
          </a:solidFill>
          <a:ln w="15875">
            <a:solidFill>
              <a:srgbClr val="2A6FB0"/>
            </a:solidFill>
            <a:prstDash val="solid"/>
          </a:ln>
        </p:spPr>
      </p:sp>
      <p:sp>
        <p:nvSpPr>
          <p:cNvPr id="8" name="Text 5"/>
          <p:cNvSpPr txBox="1"/>
          <p:nvPr/>
        </p:nvSpPr>
        <p:spPr>
          <a:xfrm>
            <a:off x="713232" y="1828800"/>
            <a:ext cx="5522976" cy="603504"/>
          </a:xfrm>
          <a:prstGeom prst="rect">
            <a:avLst/>
          </a:prstGeom>
          <a:noFill/>
          <a:ln/>
        </p:spPr>
        <p:txBody>
          <a:bodyPr wrap="square" lIns="0" tIns="0" rIns="0" bIns="0" rtlCol="0" anchor="ctr"/>
          <a:lstStyle/>
          <a:p>
            <a:pPr algn="l" indent="0" marL="0">
              <a:buNone/>
            </a:pPr>
            <a:r>
              <a:rPr lang="en-US" sz="1700" i="1" dirty="0">
                <a:solidFill>
                  <a:schemeClr val="tx1"/>
                </a:solidFill>
              </a:rPr>
              <a:t>Wat doe je precies?</a:t>
            </a:r>
            <a:endParaRPr lang="en-US" sz="1700" dirty="0"/>
          </a:p>
        </p:txBody>
      </p:sp>
      <p:sp>
        <p:nvSpPr>
          <p:cNvPr id="9" name="Shape 6"/>
          <p:cNvSpPr/>
          <p:nvPr/>
        </p:nvSpPr>
        <p:spPr>
          <a:xfrm>
            <a:off x="548640" y="2542032"/>
            <a:ext cx="5852160" cy="603504"/>
          </a:xfrm>
          <a:prstGeom prst="roundRect">
            <a:avLst>
              <a:gd name="adj" fmla="val 27273"/>
            </a:avLst>
          </a:prstGeom>
          <a:solidFill>
            <a:schemeClr val="accent2">
              <a:alpha val="12000"/>
            </a:schemeClr>
          </a:solidFill>
          <a:ln w="15875">
            <a:solidFill>
              <a:srgbClr val="2A6FB0"/>
            </a:solidFill>
            <a:prstDash val="solid"/>
          </a:ln>
        </p:spPr>
      </p:sp>
      <p:sp>
        <p:nvSpPr>
          <p:cNvPr id="10" name="Text 7"/>
          <p:cNvSpPr txBox="1"/>
          <p:nvPr/>
        </p:nvSpPr>
        <p:spPr>
          <a:xfrm>
            <a:off x="713232" y="2542032"/>
            <a:ext cx="5522976" cy="603504"/>
          </a:xfrm>
          <a:prstGeom prst="rect">
            <a:avLst/>
          </a:prstGeom>
          <a:noFill/>
          <a:ln/>
        </p:spPr>
        <p:txBody>
          <a:bodyPr wrap="square" lIns="0" tIns="0" rIns="0" bIns="0" rtlCol="0" anchor="ctr"/>
          <a:lstStyle/>
          <a:p>
            <a:pPr algn="l" indent="0" marL="0">
              <a:buNone/>
            </a:pPr>
            <a:r>
              <a:rPr lang="en-US" sz="1700" i="1" dirty="0">
                <a:solidFill>
                  <a:schemeClr val="tx1"/>
                </a:solidFill>
              </a:rPr>
              <a:t>Op welke afdeling werk je?</a:t>
            </a:r>
            <a:endParaRPr lang="en-US" sz="1700" dirty="0"/>
          </a:p>
        </p:txBody>
      </p:sp>
      <p:sp>
        <p:nvSpPr>
          <p:cNvPr id="11" name="Shape 8"/>
          <p:cNvSpPr/>
          <p:nvPr/>
        </p:nvSpPr>
        <p:spPr>
          <a:xfrm>
            <a:off x="548640" y="3255264"/>
            <a:ext cx="5852160" cy="603504"/>
          </a:xfrm>
          <a:prstGeom prst="roundRect">
            <a:avLst>
              <a:gd name="adj" fmla="val 27273"/>
            </a:avLst>
          </a:prstGeom>
          <a:solidFill>
            <a:schemeClr val="accent2">
              <a:alpha val="12000"/>
            </a:schemeClr>
          </a:solidFill>
          <a:ln w="15875">
            <a:solidFill>
              <a:srgbClr val="2A6FB0"/>
            </a:solidFill>
            <a:prstDash val="solid"/>
          </a:ln>
        </p:spPr>
      </p:sp>
      <p:sp>
        <p:nvSpPr>
          <p:cNvPr id="12" name="Text 9"/>
          <p:cNvSpPr txBox="1"/>
          <p:nvPr/>
        </p:nvSpPr>
        <p:spPr>
          <a:xfrm>
            <a:off x="713232" y="3255264"/>
            <a:ext cx="5522976" cy="603504"/>
          </a:xfrm>
          <a:prstGeom prst="rect">
            <a:avLst/>
          </a:prstGeom>
          <a:noFill/>
          <a:ln/>
        </p:spPr>
        <p:txBody>
          <a:bodyPr wrap="square" lIns="0" tIns="0" rIns="0" bIns="0" rtlCol="0" anchor="ctr"/>
          <a:lstStyle/>
          <a:p>
            <a:pPr algn="l" indent="0" marL="0">
              <a:buNone/>
            </a:pPr>
            <a:r>
              <a:rPr lang="en-US" sz="1700" i="1" dirty="0">
                <a:solidFill>
                  <a:schemeClr val="tx1"/>
                </a:solidFill>
              </a:rPr>
              <a:t>Hoelang werk je hier al?</a:t>
            </a:r>
            <a:endParaRPr lang="en-US" sz="1700" dirty="0"/>
          </a:p>
        </p:txBody>
      </p:sp>
      <p:sp>
        <p:nvSpPr>
          <p:cNvPr id="13" name="Shape 10"/>
          <p:cNvSpPr/>
          <p:nvPr/>
        </p:nvSpPr>
        <p:spPr>
          <a:xfrm>
            <a:off x="548640" y="3968496"/>
            <a:ext cx="5852160" cy="603504"/>
          </a:xfrm>
          <a:prstGeom prst="roundRect">
            <a:avLst>
              <a:gd name="adj" fmla="val 27273"/>
            </a:avLst>
          </a:prstGeom>
          <a:solidFill>
            <a:schemeClr val="accent2">
              <a:alpha val="12000"/>
            </a:schemeClr>
          </a:solidFill>
          <a:ln w="15875">
            <a:solidFill>
              <a:srgbClr val="2A6FB0"/>
            </a:solidFill>
            <a:prstDash val="solid"/>
          </a:ln>
        </p:spPr>
      </p:sp>
      <p:sp>
        <p:nvSpPr>
          <p:cNvPr id="14" name="Text 11"/>
          <p:cNvSpPr txBox="1"/>
          <p:nvPr/>
        </p:nvSpPr>
        <p:spPr>
          <a:xfrm>
            <a:off x="713232" y="3968496"/>
            <a:ext cx="5522976" cy="603504"/>
          </a:xfrm>
          <a:prstGeom prst="rect">
            <a:avLst/>
          </a:prstGeom>
          <a:noFill/>
          <a:ln/>
        </p:spPr>
        <p:txBody>
          <a:bodyPr wrap="square" lIns="0" tIns="0" rIns="0" bIns="0" rtlCol="0" anchor="ctr"/>
          <a:lstStyle/>
          <a:p>
            <a:pPr algn="l" indent="0" marL="0">
              <a:buNone/>
            </a:pPr>
            <a:r>
              <a:rPr lang="en-US" sz="1700" i="1" dirty="0">
                <a:solidFill>
                  <a:schemeClr val="tx1"/>
                </a:solidFill>
              </a:rPr>
              <a:t>Wat heb je gestudeerd?</a:t>
            </a:r>
            <a:endParaRPr lang="en-US" sz="1700" dirty="0"/>
          </a:p>
        </p:txBody>
      </p:sp>
      <p:sp>
        <p:nvSpPr>
          <p:cNvPr id="15" name="Shape 12"/>
          <p:cNvSpPr/>
          <p:nvPr/>
        </p:nvSpPr>
        <p:spPr>
          <a:xfrm>
            <a:off x="548640" y="4681728"/>
            <a:ext cx="5852160" cy="603504"/>
          </a:xfrm>
          <a:prstGeom prst="roundRect">
            <a:avLst>
              <a:gd name="adj" fmla="val 27273"/>
            </a:avLst>
          </a:prstGeom>
          <a:solidFill>
            <a:schemeClr val="accent2">
              <a:alpha val="12000"/>
            </a:schemeClr>
          </a:solidFill>
          <a:ln w="15875">
            <a:solidFill>
              <a:srgbClr val="2A6FB0"/>
            </a:solidFill>
            <a:prstDash val="solid"/>
          </a:ln>
        </p:spPr>
      </p:sp>
      <p:sp>
        <p:nvSpPr>
          <p:cNvPr id="16" name="Text 13"/>
          <p:cNvSpPr txBox="1"/>
          <p:nvPr/>
        </p:nvSpPr>
        <p:spPr>
          <a:xfrm>
            <a:off x="713232" y="4681728"/>
            <a:ext cx="5522976" cy="603504"/>
          </a:xfrm>
          <a:prstGeom prst="rect">
            <a:avLst/>
          </a:prstGeom>
          <a:noFill/>
          <a:ln/>
        </p:spPr>
        <p:txBody>
          <a:bodyPr wrap="square" lIns="0" tIns="0" rIns="0" bIns="0" rtlCol="0" anchor="ctr"/>
          <a:lstStyle/>
          <a:p>
            <a:pPr algn="l" indent="0" marL="0">
              <a:buNone/>
            </a:pPr>
            <a:r>
              <a:rPr lang="en-US" sz="1700" i="1" dirty="0">
                <a:solidFill>
                  <a:schemeClr val="tx1"/>
                </a:solidFill>
              </a:rPr>
              <a:t>Wat doe je graag in je vrije tijd?</a:t>
            </a:r>
            <a:endParaRPr lang="en-US" sz="1700" dirty="0"/>
          </a:p>
        </p:txBody>
      </p:sp>
      <p:sp>
        <p:nvSpPr>
          <p:cNvPr id="17" name="Shape 14"/>
          <p:cNvSpPr/>
          <p:nvPr/>
        </p:nvSpPr>
        <p:spPr>
          <a:xfrm>
            <a:off x="7315200" y="1828800"/>
            <a:ext cx="2057400" cy="731520"/>
          </a:xfrm>
          <a:prstGeom prst="roundRect">
            <a:avLst>
              <a:gd name="adj" fmla="val 25000"/>
            </a:avLst>
          </a:prstGeom>
          <a:solidFill>
            <a:schemeClr val="accent3">
              <a:alpha val="15000"/>
            </a:schemeClr>
          </a:solidFill>
          <a:ln w="19050">
            <a:solidFill>
              <a:srgbClr val="2E7D4F"/>
            </a:solidFill>
            <a:prstDash val="solid"/>
          </a:ln>
        </p:spPr>
      </p:sp>
      <p:sp>
        <p:nvSpPr>
          <p:cNvPr id="18" name="Text 15"/>
          <p:cNvSpPr txBox="1"/>
          <p:nvPr/>
        </p:nvSpPr>
        <p:spPr>
          <a:xfrm>
            <a:off x="7315200" y="1828800"/>
            <a:ext cx="2057400" cy="731520"/>
          </a:xfrm>
          <a:prstGeom prst="rect">
            <a:avLst/>
          </a:prstGeom>
          <a:noFill/>
          <a:ln/>
        </p:spPr>
        <p:txBody>
          <a:bodyPr wrap="square" lIns="0" tIns="0" rIns="0" bIns="0" rtlCol="0" anchor="ctr"/>
          <a:lstStyle/>
          <a:p>
            <a:pPr algn="ctr" indent="0" marL="0">
              <a:buNone/>
            </a:pPr>
            <a:r>
              <a:rPr lang="en-US" sz="1800" b="1" i="1" dirty="0">
                <a:solidFill>
                  <a:srgbClr val="1F6B3F"/>
                </a:solidFill>
              </a:rPr>
              <a:t>O ja?</a:t>
            </a:r>
            <a:endParaRPr lang="en-US" sz="1800" dirty="0"/>
          </a:p>
        </p:txBody>
      </p:sp>
      <p:sp>
        <p:nvSpPr>
          <p:cNvPr id="19" name="Shape 16"/>
          <p:cNvSpPr/>
          <p:nvPr/>
        </p:nvSpPr>
        <p:spPr>
          <a:xfrm>
            <a:off x="9509760" y="1828800"/>
            <a:ext cx="2057400" cy="731520"/>
          </a:xfrm>
          <a:prstGeom prst="roundRect">
            <a:avLst>
              <a:gd name="adj" fmla="val 25000"/>
            </a:avLst>
          </a:prstGeom>
          <a:solidFill>
            <a:schemeClr val="accent3">
              <a:alpha val="15000"/>
            </a:schemeClr>
          </a:solidFill>
          <a:ln w="19050">
            <a:solidFill>
              <a:srgbClr val="2E7D4F"/>
            </a:solidFill>
            <a:prstDash val="solid"/>
          </a:ln>
        </p:spPr>
      </p:sp>
      <p:sp>
        <p:nvSpPr>
          <p:cNvPr id="20" name="Text 17"/>
          <p:cNvSpPr txBox="1"/>
          <p:nvPr/>
        </p:nvSpPr>
        <p:spPr>
          <a:xfrm>
            <a:off x="9509760" y="1828800"/>
            <a:ext cx="2057400" cy="731520"/>
          </a:xfrm>
          <a:prstGeom prst="rect">
            <a:avLst/>
          </a:prstGeom>
          <a:noFill/>
          <a:ln/>
        </p:spPr>
        <p:txBody>
          <a:bodyPr wrap="square" lIns="0" tIns="0" rIns="0" bIns="0" rtlCol="0" anchor="ctr"/>
          <a:lstStyle/>
          <a:p>
            <a:pPr algn="ctr" indent="0" marL="0">
              <a:buNone/>
            </a:pPr>
            <a:r>
              <a:rPr lang="en-US" sz="1800" b="1" i="1" dirty="0">
                <a:solidFill>
                  <a:srgbClr val="1F6B3F"/>
                </a:solidFill>
              </a:rPr>
              <a:t>Interessant!</a:t>
            </a:r>
            <a:endParaRPr lang="en-US" sz="1800" dirty="0"/>
          </a:p>
        </p:txBody>
      </p:sp>
      <p:sp>
        <p:nvSpPr>
          <p:cNvPr id="21" name="Shape 18"/>
          <p:cNvSpPr/>
          <p:nvPr/>
        </p:nvSpPr>
        <p:spPr>
          <a:xfrm>
            <a:off x="7315200" y="2743200"/>
            <a:ext cx="2057400" cy="731520"/>
          </a:xfrm>
          <a:prstGeom prst="roundRect">
            <a:avLst>
              <a:gd name="adj" fmla="val 25000"/>
            </a:avLst>
          </a:prstGeom>
          <a:solidFill>
            <a:schemeClr val="accent3">
              <a:alpha val="15000"/>
            </a:schemeClr>
          </a:solidFill>
          <a:ln w="19050">
            <a:solidFill>
              <a:srgbClr val="2E7D4F"/>
            </a:solidFill>
            <a:prstDash val="solid"/>
          </a:ln>
        </p:spPr>
      </p:sp>
      <p:sp>
        <p:nvSpPr>
          <p:cNvPr id="22" name="Text 19"/>
          <p:cNvSpPr txBox="1"/>
          <p:nvPr/>
        </p:nvSpPr>
        <p:spPr>
          <a:xfrm>
            <a:off x="7315200" y="2743200"/>
            <a:ext cx="2057400" cy="731520"/>
          </a:xfrm>
          <a:prstGeom prst="rect">
            <a:avLst/>
          </a:prstGeom>
          <a:noFill/>
          <a:ln/>
        </p:spPr>
        <p:txBody>
          <a:bodyPr wrap="square" lIns="0" tIns="0" rIns="0" bIns="0" rtlCol="0" anchor="ctr"/>
          <a:lstStyle/>
          <a:p>
            <a:pPr algn="ctr" indent="0" marL="0">
              <a:buNone/>
            </a:pPr>
            <a:r>
              <a:rPr lang="en-US" sz="1800" b="1" i="1" dirty="0">
                <a:solidFill>
                  <a:srgbClr val="1F6B3F"/>
                </a:solidFill>
              </a:rPr>
              <a:t>Echt waar?</a:t>
            </a:r>
            <a:endParaRPr lang="en-US" sz="1800" dirty="0"/>
          </a:p>
        </p:txBody>
      </p:sp>
      <p:sp>
        <p:nvSpPr>
          <p:cNvPr id="23" name="Shape 20"/>
          <p:cNvSpPr/>
          <p:nvPr/>
        </p:nvSpPr>
        <p:spPr>
          <a:xfrm>
            <a:off x="9509760" y="2743200"/>
            <a:ext cx="2057400" cy="731520"/>
          </a:xfrm>
          <a:prstGeom prst="roundRect">
            <a:avLst>
              <a:gd name="adj" fmla="val 25000"/>
            </a:avLst>
          </a:prstGeom>
          <a:solidFill>
            <a:schemeClr val="accent3">
              <a:alpha val="15000"/>
            </a:schemeClr>
          </a:solidFill>
          <a:ln w="19050">
            <a:solidFill>
              <a:srgbClr val="2E7D4F"/>
            </a:solidFill>
            <a:prstDash val="solid"/>
          </a:ln>
        </p:spPr>
      </p:sp>
      <p:sp>
        <p:nvSpPr>
          <p:cNvPr id="24" name="Text 21"/>
          <p:cNvSpPr txBox="1"/>
          <p:nvPr/>
        </p:nvSpPr>
        <p:spPr>
          <a:xfrm>
            <a:off x="9509760" y="2743200"/>
            <a:ext cx="2057400" cy="731520"/>
          </a:xfrm>
          <a:prstGeom prst="rect">
            <a:avLst/>
          </a:prstGeom>
          <a:noFill/>
          <a:ln/>
        </p:spPr>
        <p:txBody>
          <a:bodyPr wrap="square" lIns="0" tIns="0" rIns="0" bIns="0" rtlCol="0" anchor="ctr"/>
          <a:lstStyle/>
          <a:p>
            <a:pPr algn="ctr" indent="0" marL="0">
              <a:buNone/>
            </a:pPr>
            <a:r>
              <a:rPr lang="en-US" sz="1800" b="1" i="1" dirty="0">
                <a:solidFill>
                  <a:srgbClr val="1F6B3F"/>
                </a:solidFill>
              </a:rPr>
              <a:t>Ik ook!</a:t>
            </a:r>
            <a:endParaRPr lang="en-US" sz="1800" dirty="0"/>
          </a:p>
        </p:txBody>
      </p:sp>
      <p:sp>
        <p:nvSpPr>
          <p:cNvPr id="25" name="Shape 22"/>
          <p:cNvSpPr/>
          <p:nvPr/>
        </p:nvSpPr>
        <p:spPr>
          <a:xfrm>
            <a:off x="7315200" y="3657600"/>
            <a:ext cx="2057400" cy="731520"/>
          </a:xfrm>
          <a:prstGeom prst="roundRect">
            <a:avLst>
              <a:gd name="adj" fmla="val 25000"/>
            </a:avLst>
          </a:prstGeom>
          <a:solidFill>
            <a:schemeClr val="accent3">
              <a:alpha val="15000"/>
            </a:schemeClr>
          </a:solidFill>
          <a:ln w="19050">
            <a:solidFill>
              <a:srgbClr val="2E7D4F"/>
            </a:solidFill>
            <a:prstDash val="solid"/>
          </a:ln>
        </p:spPr>
      </p:sp>
      <p:sp>
        <p:nvSpPr>
          <p:cNvPr id="26" name="Text 23"/>
          <p:cNvSpPr txBox="1"/>
          <p:nvPr/>
        </p:nvSpPr>
        <p:spPr>
          <a:xfrm>
            <a:off x="7315200" y="3657600"/>
            <a:ext cx="2057400" cy="731520"/>
          </a:xfrm>
          <a:prstGeom prst="rect">
            <a:avLst/>
          </a:prstGeom>
          <a:noFill/>
          <a:ln/>
        </p:spPr>
        <p:txBody>
          <a:bodyPr wrap="square" lIns="0" tIns="0" rIns="0" bIns="0" rtlCol="0" anchor="ctr"/>
          <a:lstStyle/>
          <a:p>
            <a:pPr algn="ctr" indent="0" marL="0">
              <a:buNone/>
            </a:pPr>
            <a:r>
              <a:rPr lang="en-US" sz="1800" b="1" i="1" dirty="0">
                <a:solidFill>
                  <a:srgbClr val="1F6B3F"/>
                </a:solidFill>
              </a:rPr>
              <a:t>Wat leuk!</a:t>
            </a:r>
            <a:endParaRPr lang="en-US" sz="1800" dirty="0"/>
          </a:p>
        </p:txBody>
      </p:sp>
      <p:sp>
        <p:nvSpPr>
          <p:cNvPr id="27" name="Shape 24"/>
          <p:cNvSpPr/>
          <p:nvPr/>
        </p:nvSpPr>
        <p:spPr>
          <a:xfrm>
            <a:off x="9509760" y="3657600"/>
            <a:ext cx="2057400" cy="731520"/>
          </a:xfrm>
          <a:prstGeom prst="roundRect">
            <a:avLst>
              <a:gd name="adj" fmla="val 25000"/>
            </a:avLst>
          </a:prstGeom>
          <a:solidFill>
            <a:schemeClr val="accent3">
              <a:alpha val="15000"/>
            </a:schemeClr>
          </a:solidFill>
          <a:ln w="19050">
            <a:solidFill>
              <a:srgbClr val="2E7D4F"/>
            </a:solidFill>
            <a:prstDash val="solid"/>
          </a:ln>
        </p:spPr>
      </p:sp>
      <p:sp>
        <p:nvSpPr>
          <p:cNvPr id="28" name="Text 25"/>
          <p:cNvSpPr txBox="1"/>
          <p:nvPr/>
        </p:nvSpPr>
        <p:spPr>
          <a:xfrm>
            <a:off x="9509760" y="3657600"/>
            <a:ext cx="2057400" cy="731520"/>
          </a:xfrm>
          <a:prstGeom prst="rect">
            <a:avLst/>
          </a:prstGeom>
          <a:noFill/>
          <a:ln/>
        </p:spPr>
        <p:txBody>
          <a:bodyPr wrap="square" lIns="0" tIns="0" rIns="0" bIns="0" rtlCol="0" anchor="ctr"/>
          <a:lstStyle/>
          <a:p>
            <a:pPr algn="ctr" indent="0" marL="0">
              <a:buNone/>
            </a:pPr>
            <a:r>
              <a:rPr lang="en-US" sz="1800" b="1" i="1" dirty="0">
                <a:solidFill>
                  <a:srgbClr val="1F6B3F"/>
                </a:solidFill>
              </a:rPr>
              <a:t>En jij?</a:t>
            </a:r>
            <a:endParaRPr lang="en-US" sz="1800" dirty="0"/>
          </a:p>
        </p:txBody>
      </p:sp>
      <p:pic>
        <p:nvPicPr>
          <p:cNvPr id="29" name="Image 0" descr="ping pong">    </p:cNvPr>
          <p:cNvPicPr>
            <a:picLocks noChangeAspect="1"/>
          </p:cNvPicPr>
          <p:nvPr/>
        </p:nvPicPr>
        <p:blipFill>
          <a:blip r:embed="rId1"/>
          <a:stretch>
            <a:fillRect/>
          </a:stretch>
        </p:blipFill>
        <p:spPr>
          <a:xfrm>
            <a:off x="6537960" y="2926080"/>
            <a:ext cx="685800" cy="685800"/>
          </a:xfrm>
          <a:prstGeom prst="rect">
            <a:avLst/>
          </a:prstGeom>
        </p:spPr>
      </p:pic>
      <p:sp>
        <p:nvSpPr>
          <p:cNvPr id="30" name="Shape 26"/>
          <p:cNvSpPr/>
          <p:nvPr/>
        </p:nvSpPr>
        <p:spPr>
          <a:xfrm>
            <a:off x="548640" y="5532120"/>
            <a:ext cx="11091672" cy="685800"/>
          </a:xfrm>
          <a:prstGeom prst="roundRect">
            <a:avLst>
              <a:gd name="adj" fmla="val 10667"/>
            </a:avLst>
          </a:prstGeom>
          <a:solidFill>
            <a:schemeClr val="tx2"/>
          </a:solidFill>
          <a:ln w="12700">
            <a:solidFill>
              <a:srgbClr val="FFFFFF">
                <a:alpha val="0"/>
              </a:srgbClr>
            </a:solidFill>
            <a:prstDash val="solid"/>
          </a:ln>
        </p:spPr>
      </p:sp>
      <p:sp>
        <p:nvSpPr>
          <p:cNvPr id="31" name="Text 27"/>
          <p:cNvSpPr txBox="1"/>
          <p:nvPr/>
        </p:nvSpPr>
        <p:spPr>
          <a:xfrm>
            <a:off x="822960" y="5532120"/>
            <a:ext cx="10607040" cy="685800"/>
          </a:xfrm>
          <a:prstGeom prst="rect">
            <a:avLst/>
          </a:prstGeom>
          <a:noFill/>
          <a:ln/>
        </p:spPr>
        <p:txBody>
          <a:bodyPr wrap="square" lIns="0" tIns="0" rIns="0" bIns="0" rtlCol="0" anchor="ctr"/>
          <a:lstStyle/>
          <a:p>
            <a:pPr algn="l" indent="0" marL="0">
              <a:buNone/>
            </a:pPr>
            <a:r>
              <a:rPr lang="en-US" sz="1700" dirty="0">
                <a:solidFill>
                  <a:schemeClr val="bg1"/>
                </a:solidFill>
              </a:rPr>
              <a:t>Une présentation est un échange : après votre pitch, renvoyez la balle : </a:t>
            </a:r>
            <a:r>
              <a:rPr lang="en-US" sz="1700" i="1" dirty="0">
                <a:solidFill>
                  <a:schemeClr val="bg1"/>
                </a:solidFill>
              </a:rPr>
              <a:t>En jij?</a:t>
            </a:r>
            <a:r>
              <a:rPr lang="en-US" sz="1700" dirty="0">
                <a:solidFill>
                  <a:schemeClr val="bg1"/>
                </a:solidFill>
              </a:rPr>
              <a:t> · </a:t>
            </a:r>
            <a:r>
              <a:rPr lang="en-US" sz="1700" i="1" dirty="0">
                <a:solidFill>
                  <a:schemeClr val="bg1"/>
                </a:solidFill>
              </a:rPr>
              <a:t>Hoelang werk je hier al? — Al drie jaar.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Se présenter par e-mail</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5" name="Shape 2"/>
          <p:cNvSpPr/>
          <p:nvPr/>
        </p:nvSpPr>
        <p:spPr>
          <a:xfrm>
            <a:off x="548640" y="1508760"/>
            <a:ext cx="7680960" cy="3931920"/>
          </a:xfrm>
          <a:prstGeom prst="roundRect">
            <a:avLst>
              <a:gd name="adj" fmla="val 186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08760"/>
            <a:ext cx="7680960" cy="457200"/>
          </a:xfrm>
          <a:prstGeom prst="roundRect">
            <a:avLst>
              <a:gd name="adj" fmla="val 8000"/>
            </a:avLst>
          </a:prstGeom>
          <a:solidFill>
            <a:srgbClr val="E6EBF2"/>
          </a:solidFill>
          <a:ln w="12700">
            <a:solidFill>
              <a:srgbClr val="FFFFFF">
                <a:alpha val="0"/>
              </a:srgbClr>
            </a:solidFill>
            <a:prstDash val="solid"/>
          </a:ln>
        </p:spPr>
      </p:sp>
      <p:sp>
        <p:nvSpPr>
          <p:cNvPr id="7" name="Text 4"/>
          <p:cNvSpPr txBox="1"/>
          <p:nvPr/>
        </p:nvSpPr>
        <p:spPr>
          <a:xfrm>
            <a:off x="777240" y="1508760"/>
            <a:ext cx="7315200" cy="457200"/>
          </a:xfrm>
          <a:prstGeom prst="rect">
            <a:avLst/>
          </a:prstGeom>
          <a:noFill/>
          <a:ln/>
        </p:spPr>
        <p:txBody>
          <a:bodyPr wrap="square" lIns="0" tIns="0" rIns="0" bIns="0" rtlCol="0" anchor="ctr"/>
          <a:lstStyle/>
          <a:p>
            <a:pPr algn="l" indent="0" marL="0">
              <a:buNone/>
            </a:pPr>
            <a:r>
              <a:rPr lang="en-US" sz="1300" dirty="0">
                <a:solidFill>
                  <a:schemeClr val="accent5"/>
                </a:solidFill>
              </a:rPr>
              <a:t>Van: Karim Benali · Aan: Eva Wouters · Onderwerp: even voorstellen</a:t>
            </a:r>
            <a:endParaRPr lang="en-US" sz="1300" dirty="0"/>
          </a:p>
        </p:txBody>
      </p:sp>
      <p:sp>
        <p:nvSpPr>
          <p:cNvPr id="8" name="Text 5"/>
          <p:cNvSpPr txBox="1"/>
          <p:nvPr/>
        </p:nvSpPr>
        <p:spPr>
          <a:xfrm>
            <a:off x="868680" y="2103120"/>
            <a:ext cx="7178040" cy="411480"/>
          </a:xfrm>
          <a:prstGeom prst="rect">
            <a:avLst/>
          </a:prstGeom>
          <a:noFill/>
          <a:ln/>
        </p:spPr>
        <p:txBody>
          <a:bodyPr wrap="square" lIns="0" tIns="0" rIns="0" bIns="0" rtlCol="0" anchor="ctr"/>
          <a:lstStyle/>
          <a:p>
            <a:pPr algn="l" indent="0" marL="0">
              <a:buNone/>
            </a:pPr>
            <a:r>
              <a:rPr lang="en-US" sz="1700" i="1" dirty="0">
                <a:solidFill>
                  <a:schemeClr val="tx1"/>
                </a:solidFill>
              </a:rPr>
              <a:t>Geachte mevrouw Wouters,</a:t>
            </a:r>
            <a:endParaRPr lang="en-US" sz="1700" dirty="0"/>
          </a:p>
        </p:txBody>
      </p:sp>
      <p:sp>
        <p:nvSpPr>
          <p:cNvPr id="9" name="Shape 6"/>
          <p:cNvSpPr/>
          <p:nvPr/>
        </p:nvSpPr>
        <p:spPr>
          <a:xfrm>
            <a:off x="8275320" y="2308860"/>
            <a:ext cx="365760" cy="914"/>
          </a:xfrm>
          <a:prstGeom prst="line">
            <a:avLst/>
          </a:prstGeom>
          <a:noFill/>
          <a:ln w="25400">
            <a:solidFill>
              <a:srgbClr val="2A6FB0"/>
            </a:solidFill>
            <a:prstDash val="solid"/>
          </a:ln>
        </p:spPr>
      </p:sp>
      <p:sp>
        <p:nvSpPr>
          <p:cNvPr id="10" name="Shape 7"/>
          <p:cNvSpPr/>
          <p:nvPr/>
        </p:nvSpPr>
        <p:spPr>
          <a:xfrm>
            <a:off x="8686800" y="2107692"/>
            <a:ext cx="2953512" cy="402336"/>
          </a:xfrm>
          <a:prstGeom prst="roundRect">
            <a:avLst>
              <a:gd name="adj" fmla="val 22727"/>
            </a:avLst>
          </a:prstGeom>
          <a:solidFill>
            <a:schemeClr val="accent2">
              <a:alpha val="15000"/>
            </a:schemeClr>
          </a:solidFill>
          <a:ln w="15875">
            <a:solidFill>
              <a:srgbClr val="2A6FB0"/>
            </a:solidFill>
            <a:prstDash val="solid"/>
          </a:ln>
        </p:spPr>
      </p:sp>
      <p:sp>
        <p:nvSpPr>
          <p:cNvPr id="11" name="Text 8"/>
          <p:cNvSpPr txBox="1"/>
          <p:nvPr/>
        </p:nvSpPr>
        <p:spPr>
          <a:xfrm>
            <a:off x="8778240" y="2107692"/>
            <a:ext cx="2788920" cy="402336"/>
          </a:xfrm>
          <a:prstGeom prst="rect">
            <a:avLst/>
          </a:prstGeom>
          <a:noFill/>
          <a:ln/>
        </p:spPr>
        <p:txBody>
          <a:bodyPr wrap="square" lIns="0" tIns="0" rIns="0" bIns="0" rtlCol="0" anchor="ctr"/>
          <a:lstStyle/>
          <a:p>
            <a:pPr algn="l" indent="0" marL="0">
              <a:buNone/>
            </a:pPr>
            <a:r>
              <a:rPr lang="en-US" sz="1400" b="1" dirty="0">
                <a:solidFill>
                  <a:schemeClr val="accent2"/>
                </a:solidFill>
              </a:rPr>
              <a:t>formule d’appel</a:t>
            </a:r>
            <a:endParaRPr lang="en-US" sz="1400" dirty="0"/>
          </a:p>
        </p:txBody>
      </p:sp>
      <p:sp>
        <p:nvSpPr>
          <p:cNvPr id="12" name="Text 9"/>
          <p:cNvSpPr txBox="1"/>
          <p:nvPr/>
        </p:nvSpPr>
        <p:spPr>
          <a:xfrm>
            <a:off x="868680" y="2606040"/>
            <a:ext cx="7178040" cy="777240"/>
          </a:xfrm>
          <a:prstGeom prst="rect">
            <a:avLst/>
          </a:prstGeom>
          <a:noFill/>
          <a:ln/>
        </p:spPr>
        <p:txBody>
          <a:bodyPr wrap="square" lIns="0" tIns="0" rIns="0" bIns="0" rtlCol="0" anchor="ctr"/>
          <a:lstStyle/>
          <a:p>
            <a:pPr algn="l" indent="0" marL="0">
              <a:buNone/>
            </a:pPr>
            <a:r>
              <a:rPr lang="en-US" sz="1700" b="1" i="1" dirty="0">
                <a:solidFill>
                  <a:schemeClr val="tx1"/>
                </a:solidFill>
              </a:rPr>
              <a:t>Graag stel ik me even voor</a:t>
            </a:r>
            <a:r>
              <a:rPr lang="en-US" sz="1700" i="1" dirty="0">
                <a:solidFill>
                  <a:schemeClr val="tx1"/>
                </a:solidFill>
              </a:rPr>
              <a:t>: ik ben Karim Benali, de nieuwe boekhouder van Peeters &amp; Co.</a:t>
            </a:r>
            <a:endParaRPr lang="en-US" sz="1700" dirty="0"/>
          </a:p>
        </p:txBody>
      </p:sp>
      <p:sp>
        <p:nvSpPr>
          <p:cNvPr id="13" name="Shape 10"/>
          <p:cNvSpPr/>
          <p:nvPr/>
        </p:nvSpPr>
        <p:spPr>
          <a:xfrm>
            <a:off x="8275320" y="2994660"/>
            <a:ext cx="365760" cy="914"/>
          </a:xfrm>
          <a:prstGeom prst="line">
            <a:avLst/>
          </a:prstGeom>
          <a:noFill/>
          <a:ln w="25400">
            <a:solidFill>
              <a:srgbClr val="D9700F"/>
            </a:solidFill>
            <a:prstDash val="solid"/>
          </a:ln>
        </p:spPr>
      </p:sp>
      <p:sp>
        <p:nvSpPr>
          <p:cNvPr id="14" name="Shape 11"/>
          <p:cNvSpPr/>
          <p:nvPr/>
        </p:nvSpPr>
        <p:spPr>
          <a:xfrm>
            <a:off x="8686800" y="2793492"/>
            <a:ext cx="2953512" cy="402336"/>
          </a:xfrm>
          <a:prstGeom prst="roundRect">
            <a:avLst>
              <a:gd name="adj" fmla="val 22727"/>
            </a:avLst>
          </a:prstGeom>
          <a:solidFill>
            <a:schemeClr val="accent1">
              <a:alpha val="15000"/>
            </a:schemeClr>
          </a:solidFill>
          <a:ln w="15875">
            <a:solidFill>
              <a:srgbClr val="D9700F"/>
            </a:solidFill>
            <a:prstDash val="solid"/>
          </a:ln>
        </p:spPr>
      </p:sp>
      <p:sp>
        <p:nvSpPr>
          <p:cNvPr id="15" name="Text 12"/>
          <p:cNvSpPr txBox="1"/>
          <p:nvPr/>
        </p:nvSpPr>
        <p:spPr>
          <a:xfrm>
            <a:off x="8778240" y="2793492"/>
            <a:ext cx="2788920" cy="402336"/>
          </a:xfrm>
          <a:prstGeom prst="rect">
            <a:avLst/>
          </a:prstGeom>
          <a:noFill/>
          <a:ln/>
        </p:spPr>
        <p:txBody>
          <a:bodyPr wrap="square" lIns="0" tIns="0" rIns="0" bIns="0" rtlCol="0" anchor="ctr"/>
          <a:lstStyle/>
          <a:p>
            <a:pPr algn="l" indent="0" marL="0">
              <a:buNone/>
            </a:pPr>
            <a:r>
              <a:rPr lang="en-US" sz="1400" b="1" dirty="0">
                <a:solidFill>
                  <a:schemeClr val="accent1"/>
                </a:solidFill>
              </a:rPr>
              <a:t>présentation</a:t>
            </a:r>
            <a:endParaRPr lang="en-US" sz="1400" dirty="0"/>
          </a:p>
        </p:txBody>
      </p:sp>
      <p:sp>
        <p:nvSpPr>
          <p:cNvPr id="16" name="Text 13"/>
          <p:cNvSpPr txBox="1"/>
          <p:nvPr/>
        </p:nvSpPr>
        <p:spPr>
          <a:xfrm>
            <a:off x="868680" y="3474720"/>
            <a:ext cx="7178040" cy="502920"/>
          </a:xfrm>
          <a:prstGeom prst="rect">
            <a:avLst/>
          </a:prstGeom>
          <a:noFill/>
          <a:ln/>
        </p:spPr>
        <p:txBody>
          <a:bodyPr wrap="square" lIns="0" tIns="0" rIns="0" bIns="0" rtlCol="0" anchor="ctr"/>
          <a:lstStyle/>
          <a:p>
            <a:pPr algn="l" indent="0" marL="0">
              <a:buNone/>
            </a:pPr>
            <a:r>
              <a:rPr lang="en-US" sz="1700" i="1" dirty="0">
                <a:solidFill>
                  <a:schemeClr val="tx1"/>
                </a:solidFill>
              </a:rPr>
              <a:t>Vanaf 1 maart ben ik uw contactpersoon voor de facturatie.</a:t>
            </a:r>
            <a:endParaRPr lang="en-US" sz="1700" dirty="0"/>
          </a:p>
        </p:txBody>
      </p:sp>
      <p:sp>
        <p:nvSpPr>
          <p:cNvPr id="17" name="Shape 14"/>
          <p:cNvSpPr/>
          <p:nvPr/>
        </p:nvSpPr>
        <p:spPr>
          <a:xfrm>
            <a:off x="8275320" y="3726180"/>
            <a:ext cx="365760" cy="914"/>
          </a:xfrm>
          <a:prstGeom prst="line">
            <a:avLst/>
          </a:prstGeom>
          <a:noFill/>
          <a:ln w="25400">
            <a:solidFill>
              <a:srgbClr val="2E7D4F"/>
            </a:solidFill>
            <a:prstDash val="solid"/>
          </a:ln>
        </p:spPr>
      </p:sp>
      <p:sp>
        <p:nvSpPr>
          <p:cNvPr id="18" name="Shape 15"/>
          <p:cNvSpPr/>
          <p:nvPr/>
        </p:nvSpPr>
        <p:spPr>
          <a:xfrm>
            <a:off x="8686800" y="3525012"/>
            <a:ext cx="2953512" cy="402336"/>
          </a:xfrm>
          <a:prstGeom prst="roundRect">
            <a:avLst>
              <a:gd name="adj" fmla="val 22727"/>
            </a:avLst>
          </a:prstGeom>
          <a:solidFill>
            <a:schemeClr val="accent3">
              <a:alpha val="15000"/>
            </a:schemeClr>
          </a:solidFill>
          <a:ln w="15875">
            <a:solidFill>
              <a:srgbClr val="2E7D4F"/>
            </a:solidFill>
            <a:prstDash val="solid"/>
          </a:ln>
        </p:spPr>
      </p:sp>
      <p:sp>
        <p:nvSpPr>
          <p:cNvPr id="19" name="Text 16"/>
          <p:cNvSpPr txBox="1"/>
          <p:nvPr/>
        </p:nvSpPr>
        <p:spPr>
          <a:xfrm>
            <a:off x="8778240" y="3525012"/>
            <a:ext cx="2788920" cy="402336"/>
          </a:xfrm>
          <a:prstGeom prst="rect">
            <a:avLst/>
          </a:prstGeom>
          <a:noFill/>
          <a:ln/>
        </p:spPr>
        <p:txBody>
          <a:bodyPr wrap="square" lIns="0" tIns="0" rIns="0" bIns="0" rtlCol="0" anchor="ctr"/>
          <a:lstStyle/>
          <a:p>
            <a:pPr algn="l" indent="0" marL="0">
              <a:buNone/>
            </a:pPr>
            <a:r>
              <a:rPr lang="en-US" sz="1400" b="1" dirty="0">
                <a:solidFill>
                  <a:schemeClr val="accent3"/>
                </a:solidFill>
              </a:rPr>
              <a:t>rôle</a:t>
            </a:r>
            <a:endParaRPr lang="en-US" sz="1400" dirty="0"/>
          </a:p>
        </p:txBody>
      </p:sp>
      <p:sp>
        <p:nvSpPr>
          <p:cNvPr id="20" name="Text 17"/>
          <p:cNvSpPr txBox="1"/>
          <p:nvPr/>
        </p:nvSpPr>
        <p:spPr>
          <a:xfrm>
            <a:off x="868680" y="4069080"/>
            <a:ext cx="7178040" cy="457200"/>
          </a:xfrm>
          <a:prstGeom prst="rect">
            <a:avLst/>
          </a:prstGeom>
          <a:noFill/>
          <a:ln/>
        </p:spPr>
        <p:txBody>
          <a:bodyPr wrap="square" lIns="0" tIns="0" rIns="0" bIns="0" rtlCol="0" anchor="ctr"/>
          <a:lstStyle/>
          <a:p>
            <a:pPr algn="l" indent="0" marL="0">
              <a:buNone/>
            </a:pPr>
            <a:r>
              <a:rPr lang="en-US" sz="1700" i="1" dirty="0">
                <a:solidFill>
                  <a:schemeClr val="tx1"/>
                </a:solidFill>
              </a:rPr>
              <a:t>Hebt u vragen? Neem gerust contact met mij op.</a:t>
            </a:r>
            <a:endParaRPr lang="en-US" sz="1700" dirty="0"/>
          </a:p>
        </p:txBody>
      </p:sp>
      <p:sp>
        <p:nvSpPr>
          <p:cNvPr id="21" name="Shape 18"/>
          <p:cNvSpPr/>
          <p:nvPr/>
        </p:nvSpPr>
        <p:spPr>
          <a:xfrm>
            <a:off x="8275320" y="4297680"/>
            <a:ext cx="365760" cy="914"/>
          </a:xfrm>
          <a:prstGeom prst="line">
            <a:avLst/>
          </a:prstGeom>
          <a:noFill/>
          <a:ln w="25400">
            <a:solidFill>
              <a:srgbClr val="6E4A9E"/>
            </a:solidFill>
            <a:prstDash val="solid"/>
          </a:ln>
        </p:spPr>
      </p:sp>
      <p:sp>
        <p:nvSpPr>
          <p:cNvPr id="22" name="Shape 19"/>
          <p:cNvSpPr/>
          <p:nvPr/>
        </p:nvSpPr>
        <p:spPr>
          <a:xfrm>
            <a:off x="8686800" y="4096512"/>
            <a:ext cx="2953512" cy="402336"/>
          </a:xfrm>
          <a:prstGeom prst="roundRect">
            <a:avLst>
              <a:gd name="adj" fmla="val 22727"/>
            </a:avLst>
          </a:prstGeom>
          <a:solidFill>
            <a:srgbClr val="6E4A9E">
              <a:alpha val="15000"/>
            </a:srgbClr>
          </a:solidFill>
          <a:ln w="15875">
            <a:solidFill>
              <a:srgbClr val="6E4A9E"/>
            </a:solidFill>
            <a:prstDash val="solid"/>
          </a:ln>
        </p:spPr>
      </p:sp>
      <p:sp>
        <p:nvSpPr>
          <p:cNvPr id="23" name="Text 20"/>
          <p:cNvSpPr txBox="1"/>
          <p:nvPr/>
        </p:nvSpPr>
        <p:spPr>
          <a:xfrm>
            <a:off x="8778240" y="4096512"/>
            <a:ext cx="2788920" cy="402336"/>
          </a:xfrm>
          <a:prstGeom prst="rect">
            <a:avLst/>
          </a:prstGeom>
          <a:noFill/>
          <a:ln/>
        </p:spPr>
        <p:txBody>
          <a:bodyPr wrap="square" lIns="0" tIns="0" rIns="0" bIns="0" rtlCol="0" anchor="ctr"/>
          <a:lstStyle/>
          <a:p>
            <a:pPr algn="l" indent="0" marL="0">
              <a:buNone/>
            </a:pPr>
            <a:r>
              <a:rPr lang="en-US" sz="1400" b="1" dirty="0">
                <a:solidFill>
                  <a:srgbClr val="6E4A9E"/>
                </a:solidFill>
              </a:rPr>
              <a:t>offre d’aide</a:t>
            </a:r>
            <a:endParaRPr lang="en-US" sz="1400" dirty="0"/>
          </a:p>
        </p:txBody>
      </p:sp>
      <p:sp>
        <p:nvSpPr>
          <p:cNvPr id="24" name="Text 21"/>
          <p:cNvSpPr txBox="1"/>
          <p:nvPr/>
        </p:nvSpPr>
        <p:spPr>
          <a:xfrm>
            <a:off x="868680" y="4572000"/>
            <a:ext cx="7178040" cy="365760"/>
          </a:xfrm>
          <a:prstGeom prst="rect">
            <a:avLst/>
          </a:prstGeom>
          <a:noFill/>
          <a:ln/>
        </p:spPr>
        <p:txBody>
          <a:bodyPr wrap="square" lIns="0" tIns="0" rIns="0" bIns="0" rtlCol="0" anchor="ctr"/>
          <a:lstStyle/>
          <a:p>
            <a:pPr algn="l" indent="0" marL="0">
              <a:buNone/>
            </a:pPr>
            <a:r>
              <a:rPr lang="en-US" sz="1700" i="1" dirty="0">
                <a:solidFill>
                  <a:schemeClr val="tx1"/>
                </a:solidFill>
              </a:rPr>
              <a:t>Met vriendelijke groeten</a:t>
            </a:r>
            <a:endParaRPr lang="en-US" sz="1700" dirty="0"/>
          </a:p>
        </p:txBody>
      </p:sp>
      <p:sp>
        <p:nvSpPr>
          <p:cNvPr id="25" name="Shape 22"/>
          <p:cNvSpPr/>
          <p:nvPr/>
        </p:nvSpPr>
        <p:spPr>
          <a:xfrm>
            <a:off x="8275320" y="4754880"/>
            <a:ext cx="365760" cy="914"/>
          </a:xfrm>
          <a:prstGeom prst="line">
            <a:avLst/>
          </a:prstGeom>
          <a:noFill/>
          <a:ln w="25400">
            <a:solidFill>
              <a:srgbClr val="B4236A"/>
            </a:solidFill>
            <a:prstDash val="solid"/>
          </a:ln>
        </p:spPr>
      </p:sp>
      <p:sp>
        <p:nvSpPr>
          <p:cNvPr id="26" name="Shape 23"/>
          <p:cNvSpPr/>
          <p:nvPr/>
        </p:nvSpPr>
        <p:spPr>
          <a:xfrm>
            <a:off x="8686800" y="4553712"/>
            <a:ext cx="2953512" cy="402336"/>
          </a:xfrm>
          <a:prstGeom prst="roundRect">
            <a:avLst>
              <a:gd name="adj" fmla="val 22727"/>
            </a:avLst>
          </a:prstGeom>
          <a:solidFill>
            <a:schemeClr val="accent4">
              <a:alpha val="15000"/>
            </a:schemeClr>
          </a:solidFill>
          <a:ln w="15875">
            <a:solidFill>
              <a:srgbClr val="B4236A"/>
            </a:solidFill>
            <a:prstDash val="solid"/>
          </a:ln>
        </p:spPr>
      </p:sp>
      <p:sp>
        <p:nvSpPr>
          <p:cNvPr id="27" name="Text 24"/>
          <p:cNvSpPr txBox="1"/>
          <p:nvPr/>
        </p:nvSpPr>
        <p:spPr>
          <a:xfrm>
            <a:off x="8778240" y="4553712"/>
            <a:ext cx="2788920" cy="402336"/>
          </a:xfrm>
          <a:prstGeom prst="rect">
            <a:avLst/>
          </a:prstGeom>
          <a:noFill/>
          <a:ln/>
        </p:spPr>
        <p:txBody>
          <a:bodyPr wrap="square" lIns="0" tIns="0" rIns="0" bIns="0" rtlCol="0" anchor="ctr"/>
          <a:lstStyle/>
          <a:p>
            <a:pPr algn="l" indent="0" marL="0">
              <a:buNone/>
            </a:pPr>
            <a:r>
              <a:rPr lang="en-US" sz="1400" b="1" dirty="0">
                <a:solidFill>
                  <a:schemeClr val="accent4"/>
                </a:solidFill>
              </a:rPr>
              <a:t>formule finale</a:t>
            </a:r>
            <a:endParaRPr lang="en-US" sz="1400" dirty="0"/>
          </a:p>
        </p:txBody>
      </p:sp>
      <p:sp>
        <p:nvSpPr>
          <p:cNvPr id="28" name="Text 25"/>
          <p:cNvSpPr txBox="1"/>
          <p:nvPr/>
        </p:nvSpPr>
        <p:spPr>
          <a:xfrm>
            <a:off x="868680" y="4937760"/>
            <a:ext cx="7178040" cy="365760"/>
          </a:xfrm>
          <a:prstGeom prst="rect">
            <a:avLst/>
          </a:prstGeom>
          <a:noFill/>
          <a:ln/>
        </p:spPr>
        <p:txBody>
          <a:bodyPr wrap="square" lIns="0" tIns="0" rIns="0" bIns="0" rtlCol="0" anchor="ctr"/>
          <a:lstStyle/>
          <a:p>
            <a:pPr algn="l" indent="0" marL="0">
              <a:buNone/>
            </a:pPr>
            <a:r>
              <a:rPr lang="en-US" sz="1700" i="1" dirty="0">
                <a:solidFill>
                  <a:schemeClr val="tx1"/>
                </a:solidFill>
              </a:rPr>
              <a:t>Karim Benali</a:t>
            </a:r>
            <a:endParaRPr lang="en-US" sz="1700" dirty="0"/>
          </a:p>
        </p:txBody>
      </p:sp>
      <p:sp>
        <p:nvSpPr>
          <p:cNvPr id="29" name="Shape 26"/>
          <p:cNvSpPr/>
          <p:nvPr/>
        </p:nvSpPr>
        <p:spPr>
          <a:xfrm>
            <a:off x="548640" y="5623560"/>
            <a:ext cx="11091672" cy="621792"/>
          </a:xfrm>
          <a:prstGeom prst="roundRect">
            <a:avLst>
              <a:gd name="adj" fmla="val 11765"/>
            </a:avLst>
          </a:prstGeom>
          <a:solidFill>
            <a:schemeClr val="tx2"/>
          </a:solidFill>
          <a:ln w="12700">
            <a:solidFill>
              <a:srgbClr val="FFFFFF">
                <a:alpha val="0"/>
              </a:srgbClr>
            </a:solidFill>
            <a:prstDash val="solid"/>
          </a:ln>
        </p:spPr>
      </p:sp>
      <p:sp>
        <p:nvSpPr>
          <p:cNvPr id="30" name="Text 27"/>
          <p:cNvSpPr txBox="1"/>
          <p:nvPr/>
        </p:nvSpPr>
        <p:spPr>
          <a:xfrm>
            <a:off x="822960" y="5623560"/>
            <a:ext cx="10607040" cy="621792"/>
          </a:xfrm>
          <a:prstGeom prst="rect">
            <a:avLst/>
          </a:prstGeom>
          <a:noFill/>
          <a:ln/>
        </p:spPr>
        <p:txBody>
          <a:bodyPr wrap="square" lIns="0" tIns="0" rIns="0" bIns="0" rtlCol="0" anchor="ctr"/>
          <a:lstStyle/>
          <a:p>
            <a:pPr algn="l" indent="0" marL="0">
              <a:buNone/>
            </a:pPr>
            <a:r>
              <a:rPr lang="en-US" sz="1700" b="1" i="1" dirty="0">
                <a:solidFill>
                  <a:schemeClr val="bg1"/>
                </a:solidFill>
              </a:rPr>
              <a:t>Graag</a:t>
            </a:r>
            <a:r>
              <a:rPr lang="en-US" sz="1700" i="1" dirty="0">
                <a:solidFill>
                  <a:schemeClr val="bg1"/>
                </a:solidFill>
              </a:rPr>
              <a:t> stel ik me even voor</a:t>
            </a:r>
            <a:r>
              <a:rPr lang="en-US" sz="1700" dirty="0">
                <a:solidFill>
                  <a:schemeClr val="bg1"/>
                </a:solidFill>
              </a:rPr>
              <a:t> : inversion (M3) + </a:t>
            </a:r>
            <a:r>
              <a:rPr lang="en-US" sz="1700" i="1" dirty="0">
                <a:solidFill>
                  <a:schemeClr val="bg1"/>
                </a:solidFill>
              </a:rPr>
              <a:t>zich voorstellen</a:t>
            </a:r>
            <a:r>
              <a:rPr lang="en-US" sz="1700" dirty="0">
                <a:solidFill>
                  <a:schemeClr val="bg1"/>
                </a:solidFill>
              </a:rPr>
              <a:t> (M28) · présentation de l’e-mail : M10</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le pitch en 5 étapes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731520" y="1892808"/>
            <a:ext cx="10725912" cy="914"/>
          </a:xfrm>
          <a:prstGeom prst="line">
            <a:avLst/>
          </a:prstGeom>
          <a:noFill/>
          <a:ln w="25400">
            <a:solidFill>
              <a:srgbClr val="4A5A70"/>
            </a:solidFill>
            <a:prstDash val="dash"/>
            <a:tailEnd type="triangle"/>
          </a:ln>
        </p:spPr>
      </p:sp>
      <p:sp>
        <p:nvSpPr>
          <p:cNvPr id="6" name="Shape 3"/>
          <p:cNvSpPr/>
          <p:nvPr/>
        </p:nvSpPr>
        <p:spPr>
          <a:xfrm>
            <a:off x="1222553" y="1508760"/>
            <a:ext cx="768096" cy="768096"/>
          </a:xfrm>
          <a:prstGeom prst="ellipse">
            <a:avLst/>
          </a:prstGeom>
          <a:solidFill>
            <a:schemeClr val="accent2"/>
          </a:solidFill>
          <a:ln w="12700">
            <a:solidFill>
              <a:srgbClr val="FFFFFF">
                <a:alpha val="0"/>
              </a:srgbClr>
            </a:solidFill>
            <a:prstDash val="solid"/>
          </a:ln>
        </p:spPr>
      </p:sp>
      <p:sp>
        <p:nvSpPr>
          <p:cNvPr id="7" name="Text 4"/>
          <p:cNvSpPr txBox="1"/>
          <p:nvPr/>
        </p:nvSpPr>
        <p:spPr>
          <a:xfrm>
            <a:off x="1222553"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Shape 5"/>
          <p:cNvSpPr/>
          <p:nvPr/>
        </p:nvSpPr>
        <p:spPr>
          <a:xfrm>
            <a:off x="548640" y="2377440"/>
            <a:ext cx="2115922" cy="640080"/>
          </a:xfrm>
          <a:prstGeom prst="roundRect">
            <a:avLst>
              <a:gd name="adj" fmla="val 17143"/>
            </a:avLst>
          </a:prstGeom>
          <a:solidFill>
            <a:schemeClr val="accent2">
              <a:alpha val="10000"/>
            </a:schemeClr>
          </a:solidFill>
          <a:ln w="22225">
            <a:solidFill>
              <a:srgbClr val="2A6FB0"/>
            </a:solidFill>
            <a:prstDash val="solid"/>
          </a:ln>
        </p:spPr>
      </p:sp>
      <p:sp>
        <p:nvSpPr>
          <p:cNvPr id="9" name="Text 6"/>
          <p:cNvSpPr txBox="1"/>
          <p:nvPr/>
        </p:nvSpPr>
        <p:spPr>
          <a:xfrm>
            <a:off x="621792" y="2423160"/>
            <a:ext cx="1969618" cy="502920"/>
          </a:xfrm>
          <a:prstGeom prst="rect">
            <a:avLst/>
          </a:prstGeom>
          <a:noFill/>
          <a:ln/>
        </p:spPr>
        <p:txBody>
          <a:bodyPr wrap="square" lIns="0" tIns="0" rIns="0" bIns="0" rtlCol="0" anchor="ctr"/>
          <a:lstStyle/>
          <a:p>
            <a:pPr algn="ctr" indent="0" marL="0">
              <a:buNone/>
            </a:pPr>
            <a:r>
              <a:rPr lang="en-US" sz="1300" b="1" i="1" dirty="0">
                <a:solidFill>
                  <a:schemeClr val="accent2"/>
                </a:solidFill>
              </a:rPr>
              <a:t>Wie ben ik?</a:t>
            </a:r>
            <a:endParaRPr lang="en-US" sz="1300" dirty="0"/>
          </a:p>
        </p:txBody>
      </p:sp>
      <p:sp>
        <p:nvSpPr>
          <p:cNvPr id="10" name="Shape 7"/>
          <p:cNvSpPr/>
          <p:nvPr/>
        </p:nvSpPr>
        <p:spPr>
          <a:xfrm>
            <a:off x="3466490" y="1508760"/>
            <a:ext cx="768096" cy="768096"/>
          </a:xfrm>
          <a:prstGeom prst="ellipse">
            <a:avLst/>
          </a:prstGeom>
          <a:solidFill>
            <a:schemeClr val="accent2"/>
          </a:solidFill>
          <a:ln w="12700">
            <a:solidFill>
              <a:srgbClr val="FFFFFF">
                <a:alpha val="0"/>
              </a:srgbClr>
            </a:solidFill>
            <a:prstDash val="solid"/>
          </a:ln>
        </p:spPr>
      </p:sp>
      <p:sp>
        <p:nvSpPr>
          <p:cNvPr id="11" name="Text 8"/>
          <p:cNvSpPr txBox="1"/>
          <p:nvPr/>
        </p:nvSpPr>
        <p:spPr>
          <a:xfrm>
            <a:off x="3466490"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Shape 9"/>
          <p:cNvSpPr/>
          <p:nvPr/>
        </p:nvSpPr>
        <p:spPr>
          <a:xfrm>
            <a:off x="2792578" y="2377440"/>
            <a:ext cx="2115922" cy="640080"/>
          </a:xfrm>
          <a:prstGeom prst="roundRect">
            <a:avLst>
              <a:gd name="adj" fmla="val 17143"/>
            </a:avLst>
          </a:prstGeom>
          <a:solidFill>
            <a:schemeClr val="accent2">
              <a:alpha val="10000"/>
            </a:schemeClr>
          </a:solidFill>
          <a:ln w="22225">
            <a:solidFill>
              <a:srgbClr val="2A6FB0"/>
            </a:solidFill>
            <a:prstDash val="solid"/>
          </a:ln>
        </p:spPr>
      </p:sp>
      <p:sp>
        <p:nvSpPr>
          <p:cNvPr id="13" name="Text 10"/>
          <p:cNvSpPr txBox="1"/>
          <p:nvPr/>
        </p:nvSpPr>
        <p:spPr>
          <a:xfrm>
            <a:off x="2865730" y="2423160"/>
            <a:ext cx="1969618" cy="502920"/>
          </a:xfrm>
          <a:prstGeom prst="rect">
            <a:avLst/>
          </a:prstGeom>
          <a:noFill/>
          <a:ln/>
        </p:spPr>
        <p:txBody>
          <a:bodyPr wrap="square" lIns="0" tIns="0" rIns="0" bIns="0" rtlCol="0" anchor="ctr"/>
          <a:lstStyle/>
          <a:p>
            <a:pPr algn="ctr" indent="0" marL="0">
              <a:buNone/>
            </a:pPr>
            <a:r>
              <a:rPr lang="en-US" sz="1300" b="1" i="1" dirty="0">
                <a:solidFill>
                  <a:schemeClr val="accent2"/>
                </a:solidFill>
              </a:rPr>
              <a:t>Wat doe ik?</a:t>
            </a:r>
            <a:endParaRPr lang="en-US" sz="1300" dirty="0"/>
          </a:p>
        </p:txBody>
      </p:sp>
      <p:sp>
        <p:nvSpPr>
          <p:cNvPr id="14" name="Shape 11"/>
          <p:cNvSpPr/>
          <p:nvPr/>
        </p:nvSpPr>
        <p:spPr>
          <a:xfrm>
            <a:off x="5710428" y="1508760"/>
            <a:ext cx="768096" cy="768096"/>
          </a:xfrm>
          <a:prstGeom prst="ellipse">
            <a:avLst/>
          </a:prstGeom>
          <a:solidFill>
            <a:schemeClr val="accent4"/>
          </a:solidFill>
          <a:ln w="12700">
            <a:solidFill>
              <a:srgbClr val="FFFFFF">
                <a:alpha val="0"/>
              </a:srgbClr>
            </a:solidFill>
            <a:prstDash val="solid"/>
          </a:ln>
        </p:spPr>
      </p:sp>
      <p:sp>
        <p:nvSpPr>
          <p:cNvPr id="15" name="Text 12"/>
          <p:cNvSpPr txBox="1"/>
          <p:nvPr/>
        </p:nvSpPr>
        <p:spPr>
          <a:xfrm>
            <a:off x="5710428"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Shape 13"/>
          <p:cNvSpPr/>
          <p:nvPr/>
        </p:nvSpPr>
        <p:spPr>
          <a:xfrm>
            <a:off x="5036515" y="2377440"/>
            <a:ext cx="2115922" cy="640080"/>
          </a:xfrm>
          <a:prstGeom prst="roundRect">
            <a:avLst>
              <a:gd name="adj" fmla="val 17143"/>
            </a:avLst>
          </a:prstGeom>
          <a:solidFill>
            <a:schemeClr val="accent4">
              <a:alpha val="10000"/>
            </a:schemeClr>
          </a:solidFill>
          <a:ln w="22225">
            <a:solidFill>
              <a:srgbClr val="B4236A"/>
            </a:solidFill>
            <a:prstDash val="solid"/>
          </a:ln>
        </p:spPr>
      </p:sp>
      <p:sp>
        <p:nvSpPr>
          <p:cNvPr id="17" name="Text 14"/>
          <p:cNvSpPr txBox="1"/>
          <p:nvPr/>
        </p:nvSpPr>
        <p:spPr>
          <a:xfrm>
            <a:off x="5109667" y="2423160"/>
            <a:ext cx="1969618" cy="502920"/>
          </a:xfrm>
          <a:prstGeom prst="rect">
            <a:avLst/>
          </a:prstGeom>
          <a:noFill/>
          <a:ln/>
        </p:spPr>
        <p:txBody>
          <a:bodyPr wrap="square" lIns="0" tIns="0" rIns="0" bIns="0" rtlCol="0" anchor="ctr"/>
          <a:lstStyle/>
          <a:p>
            <a:pPr algn="ctr" indent="0" marL="0">
              <a:buNone/>
            </a:pPr>
            <a:r>
              <a:rPr lang="en-US" sz="1300" b="1" i="1" dirty="0">
                <a:solidFill>
                  <a:schemeClr val="accent4"/>
                </a:solidFill>
              </a:rPr>
              <a:t>Wat heb ik gedaan?</a:t>
            </a:r>
            <a:endParaRPr lang="en-US" sz="1300" dirty="0"/>
          </a:p>
        </p:txBody>
      </p:sp>
      <p:sp>
        <p:nvSpPr>
          <p:cNvPr id="18" name="Shape 15"/>
          <p:cNvSpPr/>
          <p:nvPr/>
        </p:nvSpPr>
        <p:spPr>
          <a:xfrm>
            <a:off x="7954366" y="1508760"/>
            <a:ext cx="768096" cy="768096"/>
          </a:xfrm>
          <a:prstGeom prst="ellipse">
            <a:avLst/>
          </a:prstGeom>
          <a:solidFill>
            <a:schemeClr val="accent3"/>
          </a:solidFill>
          <a:ln w="12700">
            <a:solidFill>
              <a:srgbClr val="FFFFFF">
                <a:alpha val="0"/>
              </a:srgbClr>
            </a:solidFill>
            <a:prstDash val="solid"/>
          </a:ln>
        </p:spPr>
      </p:sp>
      <p:sp>
        <p:nvSpPr>
          <p:cNvPr id="19" name="Text 16"/>
          <p:cNvSpPr txBox="1"/>
          <p:nvPr/>
        </p:nvSpPr>
        <p:spPr>
          <a:xfrm>
            <a:off x="7954366"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0" name="Shape 17"/>
          <p:cNvSpPr/>
          <p:nvPr/>
        </p:nvSpPr>
        <p:spPr>
          <a:xfrm>
            <a:off x="7280453" y="2377440"/>
            <a:ext cx="2115922" cy="640080"/>
          </a:xfrm>
          <a:prstGeom prst="roundRect">
            <a:avLst>
              <a:gd name="adj" fmla="val 17143"/>
            </a:avLst>
          </a:prstGeom>
          <a:solidFill>
            <a:schemeClr val="accent3">
              <a:alpha val="10000"/>
            </a:schemeClr>
          </a:solidFill>
          <a:ln w="22225">
            <a:solidFill>
              <a:srgbClr val="2E7D4F"/>
            </a:solidFill>
            <a:prstDash val="solid"/>
          </a:ln>
        </p:spPr>
      </p:sp>
      <p:sp>
        <p:nvSpPr>
          <p:cNvPr id="21" name="Text 18"/>
          <p:cNvSpPr txBox="1"/>
          <p:nvPr/>
        </p:nvSpPr>
        <p:spPr>
          <a:xfrm>
            <a:off x="7353605" y="2423160"/>
            <a:ext cx="1969618" cy="502920"/>
          </a:xfrm>
          <a:prstGeom prst="rect">
            <a:avLst/>
          </a:prstGeom>
          <a:noFill/>
          <a:ln/>
        </p:spPr>
        <p:txBody>
          <a:bodyPr wrap="square" lIns="0" tIns="0" rIns="0" bIns="0" rtlCol="0" anchor="ctr"/>
          <a:lstStyle/>
          <a:p>
            <a:pPr algn="ctr" indent="0" marL="0">
              <a:buNone/>
            </a:pPr>
            <a:r>
              <a:rPr lang="en-US" sz="1300" b="1" i="1" dirty="0">
                <a:solidFill>
                  <a:schemeClr val="accent3"/>
                </a:solidFill>
              </a:rPr>
              <a:t>Wat wil ik?</a:t>
            </a:r>
            <a:endParaRPr lang="en-US" sz="1300" dirty="0"/>
          </a:p>
        </p:txBody>
      </p:sp>
      <p:sp>
        <p:nvSpPr>
          <p:cNvPr id="22" name="Shape 19"/>
          <p:cNvSpPr/>
          <p:nvPr/>
        </p:nvSpPr>
        <p:spPr>
          <a:xfrm>
            <a:off x="10198303" y="1508760"/>
            <a:ext cx="768096" cy="768096"/>
          </a:xfrm>
          <a:prstGeom prst="ellipse">
            <a:avLst/>
          </a:prstGeom>
          <a:solidFill>
            <a:schemeClr val="accent5"/>
          </a:solidFill>
          <a:ln w="12700">
            <a:solidFill>
              <a:srgbClr val="FFFFFF">
                <a:alpha val="0"/>
              </a:srgbClr>
            </a:solidFill>
            <a:prstDash val="solid"/>
          </a:ln>
        </p:spPr>
      </p:sp>
      <p:sp>
        <p:nvSpPr>
          <p:cNvPr id="23" name="Text 20"/>
          <p:cNvSpPr txBox="1"/>
          <p:nvPr/>
        </p:nvSpPr>
        <p:spPr>
          <a:xfrm>
            <a:off x="10198303" y="1508760"/>
            <a:ext cx="768096" cy="768096"/>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4" name="Shape 21"/>
          <p:cNvSpPr/>
          <p:nvPr/>
        </p:nvSpPr>
        <p:spPr>
          <a:xfrm>
            <a:off x="9524390" y="2377440"/>
            <a:ext cx="2115922" cy="640080"/>
          </a:xfrm>
          <a:prstGeom prst="roundRect">
            <a:avLst>
              <a:gd name="adj" fmla="val 17143"/>
            </a:avLst>
          </a:prstGeom>
          <a:solidFill>
            <a:schemeClr val="accent5">
              <a:alpha val="10000"/>
            </a:schemeClr>
          </a:solidFill>
          <a:ln w="22225">
            <a:solidFill>
              <a:srgbClr val="4A5A70"/>
            </a:solidFill>
            <a:prstDash val="solid"/>
          </a:ln>
        </p:spPr>
      </p:sp>
      <p:sp>
        <p:nvSpPr>
          <p:cNvPr id="25" name="Text 22"/>
          <p:cNvSpPr txBox="1"/>
          <p:nvPr/>
        </p:nvSpPr>
        <p:spPr>
          <a:xfrm>
            <a:off x="9597542" y="2423160"/>
            <a:ext cx="1969618" cy="502920"/>
          </a:xfrm>
          <a:prstGeom prst="rect">
            <a:avLst/>
          </a:prstGeom>
          <a:noFill/>
          <a:ln/>
        </p:spPr>
        <p:txBody>
          <a:bodyPr wrap="square" lIns="0" tIns="0" rIns="0" bIns="0" rtlCol="0" anchor="ctr"/>
          <a:lstStyle/>
          <a:p>
            <a:pPr algn="ctr" indent="0" marL="0">
              <a:buNone/>
            </a:pPr>
            <a:r>
              <a:rPr lang="en-US" sz="1300" b="1" i="1" dirty="0">
                <a:solidFill>
                  <a:schemeClr val="accent5"/>
                </a:solidFill>
              </a:rPr>
              <a:t>En privé?</a:t>
            </a:r>
            <a:endParaRPr lang="en-US" sz="1300" dirty="0"/>
          </a:p>
        </p:txBody>
      </p:sp>
      <p:sp>
        <p:nvSpPr>
          <p:cNvPr id="26" name="Shape 23"/>
          <p:cNvSpPr/>
          <p:nvPr/>
        </p:nvSpPr>
        <p:spPr>
          <a:xfrm>
            <a:off x="548640" y="3246120"/>
            <a:ext cx="11091672" cy="777240"/>
          </a:xfrm>
          <a:prstGeom prst="roundRect">
            <a:avLst>
              <a:gd name="adj" fmla="val 11765"/>
            </a:avLst>
          </a:prstGeom>
          <a:solidFill>
            <a:srgbClr val="FDF1E6"/>
          </a:solidFill>
          <a:ln w="19050">
            <a:solidFill>
              <a:srgbClr val="D9700F"/>
            </a:solidFill>
            <a:prstDash val="solid"/>
          </a:ln>
        </p:spPr>
      </p:sp>
      <p:sp>
        <p:nvSpPr>
          <p:cNvPr id="27" name="Text 24"/>
          <p:cNvSpPr txBox="1"/>
          <p:nvPr/>
        </p:nvSpPr>
        <p:spPr>
          <a:xfrm>
            <a:off x="777240" y="3246120"/>
            <a:ext cx="10698480" cy="777240"/>
          </a:xfrm>
          <a:prstGeom prst="rect">
            <a:avLst/>
          </a:prstGeom>
          <a:noFill/>
          <a:ln/>
        </p:spPr>
        <p:txBody>
          <a:bodyPr wrap="square" lIns="0" tIns="0" rIns="0" bIns="0" rtlCol="0" anchor="ctr"/>
          <a:lstStyle/>
          <a:p>
            <a:pPr algn="ctr" indent="0" marL="0">
              <a:buNone/>
            </a:pPr>
            <a:r>
              <a:rPr lang="en-US" sz="1900" b="1" dirty="0">
                <a:solidFill>
                  <a:schemeClr val="accent1"/>
                </a:solidFill>
              </a:rPr>
              <a:t>bij</a:t>
            </a:r>
            <a:r>
              <a:rPr lang="en-US" sz="1900" dirty="0">
                <a:solidFill>
                  <a:schemeClr val="tx1"/>
                </a:solidFill>
              </a:rPr>
              <a:t> (entreprise) · </a:t>
            </a:r>
            <a:r>
              <a:rPr lang="en-US" sz="1900" b="1" dirty="0">
                <a:solidFill>
                  <a:schemeClr val="accent1"/>
                </a:solidFill>
              </a:rPr>
              <a:t>op</a:t>
            </a:r>
            <a:r>
              <a:rPr lang="en-US" sz="1900" dirty="0">
                <a:solidFill>
                  <a:schemeClr val="tx1"/>
                </a:solidFill>
              </a:rPr>
              <a:t> (service) · </a:t>
            </a:r>
            <a:r>
              <a:rPr lang="en-US" sz="1900" b="1" dirty="0">
                <a:solidFill>
                  <a:schemeClr val="accent1"/>
                </a:solidFill>
              </a:rPr>
              <a:t>als</a:t>
            </a:r>
            <a:r>
              <a:rPr lang="en-US" sz="1900" dirty="0">
                <a:solidFill>
                  <a:schemeClr val="tx1"/>
                </a:solidFill>
              </a:rPr>
              <a:t> (fonction) · </a:t>
            </a:r>
            <a:r>
              <a:rPr lang="en-US" sz="1900" b="1" dirty="0">
                <a:solidFill>
                  <a:schemeClr val="accent1"/>
                </a:solidFill>
              </a:rPr>
              <a:t>in</a:t>
            </a:r>
            <a:r>
              <a:rPr lang="en-US" sz="1900" dirty="0">
                <a:solidFill>
                  <a:schemeClr val="tx1"/>
                </a:solidFill>
              </a:rPr>
              <a:t> (ville, secteur) · </a:t>
            </a:r>
            <a:r>
              <a:rPr lang="en-US" sz="1900" b="1" dirty="0">
                <a:solidFill>
                  <a:schemeClr val="accent1"/>
                </a:solidFill>
              </a:rPr>
              <a:t>voor</a:t>
            </a:r>
            <a:r>
              <a:rPr lang="en-US" sz="1900" dirty="0">
                <a:solidFill>
                  <a:schemeClr val="tx1"/>
                </a:solidFill>
              </a:rPr>
              <a:t> (responsabilité)</a:t>
            </a:r>
            <a:endParaRPr lang="en-US" sz="1900" dirty="0"/>
          </a:p>
        </p:txBody>
      </p:sp>
      <p:sp>
        <p:nvSpPr>
          <p:cNvPr id="28" name="Shape 25"/>
          <p:cNvSpPr/>
          <p:nvPr/>
        </p:nvSpPr>
        <p:spPr>
          <a:xfrm>
            <a:off x="548640" y="4206240"/>
            <a:ext cx="11091672" cy="777240"/>
          </a:xfrm>
          <a:prstGeom prst="roundRect">
            <a:avLst>
              <a:gd name="adj" fmla="val 11765"/>
            </a:avLst>
          </a:prstGeom>
          <a:solidFill>
            <a:srgbClr val="FBEDEB"/>
          </a:solidFill>
          <a:ln w="19050">
            <a:solidFill>
              <a:srgbClr val="B83227"/>
            </a:solidFill>
            <a:prstDash val="solid"/>
          </a:ln>
        </p:spPr>
      </p:sp>
      <p:sp>
        <p:nvSpPr>
          <p:cNvPr id="29" name="Text 26"/>
          <p:cNvSpPr txBox="1"/>
          <p:nvPr/>
        </p:nvSpPr>
        <p:spPr>
          <a:xfrm>
            <a:off x="777240" y="4206240"/>
            <a:ext cx="10698480" cy="777240"/>
          </a:xfrm>
          <a:prstGeom prst="rect">
            <a:avLst/>
          </a:prstGeom>
          <a:noFill/>
          <a:ln/>
        </p:spPr>
        <p:txBody>
          <a:bodyPr wrap="square" lIns="0" tIns="0" rIns="0" bIns="0" rtlCol="0" anchor="ctr"/>
          <a:lstStyle/>
          <a:p>
            <a:pPr algn="ctr" indent="0" marL="0">
              <a:buNone/>
            </a:pPr>
            <a:r>
              <a:rPr lang="en-US" sz="1900" i="1" dirty="0">
                <a:solidFill>
                  <a:schemeClr val="tx1"/>
                </a:solidFill>
              </a:rPr>
              <a:t>Ik </a:t>
            </a:r>
            <a:r>
              <a:rPr lang="en-US" sz="1900" b="1" i="1" dirty="0">
                <a:solidFill>
                  <a:schemeClr val="tx1"/>
                </a:solidFill>
              </a:rPr>
              <a:t>ben</a:t>
            </a:r>
            <a:r>
              <a:rPr lang="en-US" sz="1900" i="1" dirty="0">
                <a:solidFill>
                  <a:schemeClr val="tx1"/>
                </a:solidFill>
              </a:rPr>
              <a:t> 32. · Ik ben boekhouder.</a:t>
            </a:r>
            <a:r>
              <a:rPr lang="en-US" sz="1900" dirty="0">
                <a:solidFill>
                  <a:schemeClr val="tx1"/>
                </a:solidFill>
              </a:rPr>
              <a:t> (sans </a:t>
            </a:r>
            <a:r>
              <a:rPr lang="en-US" sz="1900" i="1" dirty="0">
                <a:solidFill>
                  <a:schemeClr val="tx1"/>
                </a:solidFill>
              </a:rPr>
              <a:t>een</a:t>
            </a:r>
            <a:r>
              <a:rPr lang="en-US" sz="1900" dirty="0">
                <a:solidFill>
                  <a:schemeClr val="tx1"/>
                </a:solidFill>
              </a:rPr>
              <a:t>) · </a:t>
            </a:r>
            <a:r>
              <a:rPr lang="en-US" sz="1900" b="1" i="1" dirty="0">
                <a:solidFill>
                  <a:schemeClr val="tx1"/>
                </a:solidFill>
              </a:rPr>
              <a:t>sinds</a:t>
            </a:r>
            <a:r>
              <a:rPr lang="en-US" sz="1900" i="1" dirty="0">
                <a:solidFill>
                  <a:schemeClr val="tx1"/>
                </a:solidFill>
              </a:rPr>
              <a:t> 2021 · </a:t>
            </a:r>
            <a:r>
              <a:rPr lang="en-US" sz="1900" b="1" i="1" dirty="0">
                <a:solidFill>
                  <a:schemeClr val="tx1"/>
                </a:solidFill>
              </a:rPr>
              <a:t>al</a:t>
            </a:r>
            <a:r>
              <a:rPr lang="en-US" sz="1900" i="1" dirty="0">
                <a:solidFill>
                  <a:schemeClr val="tx1"/>
                </a:solidFill>
              </a:rPr>
              <a:t> vier jaar · vier jaar </a:t>
            </a:r>
            <a:r>
              <a:rPr lang="en-US" sz="1900" b="1" i="1" dirty="0">
                <a:solidFill>
                  <a:schemeClr val="tx1"/>
                </a:solidFill>
              </a:rPr>
              <a:t>geleden</a:t>
            </a:r>
            <a:endParaRPr lang="en-US" sz="1900" dirty="0"/>
          </a:p>
        </p:txBody>
      </p:sp>
      <p:sp>
        <p:nvSpPr>
          <p:cNvPr id="30" name="Shape 27"/>
          <p:cNvSpPr/>
          <p:nvPr/>
        </p:nvSpPr>
        <p:spPr>
          <a:xfrm>
            <a:off x="548640" y="5166360"/>
            <a:ext cx="11091672" cy="777240"/>
          </a:xfrm>
          <a:prstGeom prst="roundRect">
            <a:avLst>
              <a:gd name="adj" fmla="val 11765"/>
            </a:avLst>
          </a:prstGeom>
          <a:solidFill>
            <a:schemeClr val="bg2"/>
          </a:solidFill>
          <a:ln w="12700">
            <a:solidFill>
              <a:srgbClr val="D5DCE6"/>
            </a:solidFill>
            <a:prstDash val="solid"/>
          </a:ln>
        </p:spPr>
      </p:sp>
      <p:sp>
        <p:nvSpPr>
          <p:cNvPr id="31" name="Text 28"/>
          <p:cNvSpPr txBox="1"/>
          <p:nvPr/>
        </p:nvSpPr>
        <p:spPr>
          <a:xfrm>
            <a:off x="777240" y="5166360"/>
            <a:ext cx="10698480" cy="777240"/>
          </a:xfrm>
          <a:prstGeom prst="rect">
            <a:avLst/>
          </a:prstGeom>
          <a:noFill/>
          <a:ln/>
        </p:spPr>
        <p:txBody>
          <a:bodyPr wrap="square" lIns="0" tIns="0" rIns="0" bIns="0" rtlCol="0" anchor="ctr"/>
          <a:lstStyle/>
          <a:p>
            <a:pPr algn="ctr" indent="0" marL="0">
              <a:buNone/>
            </a:pPr>
            <a:r>
              <a:rPr lang="en-US" sz="1900" dirty="0">
                <a:solidFill>
                  <a:schemeClr val="tx1"/>
                </a:solidFill>
              </a:rPr>
              <a:t>Collègue : </a:t>
            </a:r>
            <a:r>
              <a:rPr lang="en-US" sz="1900" i="1" dirty="0">
                <a:solidFill>
                  <a:schemeClr val="tx1"/>
                </a:solidFill>
              </a:rPr>
              <a:t>je</a:t>
            </a:r>
            <a:r>
              <a:rPr lang="en-US" sz="1900" dirty="0">
                <a:solidFill>
                  <a:schemeClr val="tx1"/>
                </a:solidFill>
              </a:rPr>
              <a:t> · entretien, client : </a:t>
            </a:r>
            <a:r>
              <a:rPr lang="en-US" sz="1900" i="1" dirty="0">
                <a:solidFill>
                  <a:schemeClr val="tx1"/>
                </a:solidFill>
              </a:rPr>
              <a:t>u</a:t>
            </a:r>
            <a:r>
              <a:rPr lang="en-US" sz="1900" dirty="0">
                <a:solidFill>
                  <a:schemeClr val="tx1"/>
                </a:solidFill>
              </a:rPr>
              <a:t> · formule : </a:t>
            </a:r>
            <a:r>
              <a:rPr lang="en-US" sz="1900" b="1" i="1" dirty="0">
                <a:solidFill>
                  <a:schemeClr val="tx1"/>
                </a:solidFill>
              </a:rPr>
              <a:t>Aangenaam!</a:t>
            </a:r>
            <a:r>
              <a:rPr lang="en-US" sz="1900" dirty="0">
                <a:solidFill>
                  <a:schemeClr val="tx1"/>
                </a:solidFill>
              </a:rPr>
              <a:t> · renvoyez la balle : </a:t>
            </a:r>
            <a:r>
              <a:rPr lang="en-US" sz="1900" i="1" dirty="0">
                <a:solidFill>
                  <a:schemeClr val="tx1"/>
                </a:solidFill>
              </a:rPr>
              <a:t>En jij?</a:t>
            </a:r>
            <a:endParaRPr lang="en-US" sz="1900" dirty="0"/>
          </a:p>
        </p:txBody>
      </p:sp>
      <p:pic>
        <p:nvPicPr>
          <p:cNvPr id="32"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IdCard">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bij, op, als, in, voor ?</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Clock">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sinds, al ou geleden ?</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SortAmountDown">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pitch en désordre</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Search">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Question">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Retrouvez la question</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UserFriends">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Speed-networking</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Briefcase">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L’entretien d’embauche</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bij, op, als, in, voor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préposition de la carte de visite.</a:t>
            </a:r>
            <a:endParaRPr lang="en-US" sz="1700" dirty="0"/>
          </a:p>
        </p:txBody>
      </p:sp>
      <p:sp>
        <p:nvSpPr>
          <p:cNvPr id="8" name="Text 4"/>
          <p:cNvSpPr txBox="1"/>
          <p:nvPr/>
        </p:nvSpPr>
        <p:spPr>
          <a:xfrm>
            <a:off x="548640" y="2115312"/>
            <a:ext cx="5340096" cy="3931920"/>
          </a:xfrm>
          <a:prstGeom prst="rect">
            <a:avLst/>
          </a:prstGeom>
          <a:noFill/>
          <a:ln/>
        </p:spPr>
        <p:txBody>
          <a:bodyPr wrap="square" lIns="0" tIns="0" rIns="0" bIns="0" rtlCol="0" anchor="t"/>
          <a:lstStyle/>
          <a:p>
            <a:pPr indent="0" marL="0">
              <a:spcAft>
                <a:spcPts val="2600"/>
              </a:spcAft>
              <a:buNone/>
            </a:pPr>
            <a:r>
              <a:rPr lang="en-US" sz="2100" b="1" dirty="0">
                <a:solidFill>
                  <a:schemeClr val="tx2"/>
                </a:solidFill>
              </a:rPr>
              <a:t>1  </a:t>
            </a:r>
            <a:r>
              <a:rPr lang="en-US" sz="2100" i="1" dirty="0">
                <a:solidFill>
                  <a:schemeClr val="tx1"/>
                </a:solidFill>
              </a:rPr>
              <a:t>Ik werk </a:t>
            </a:r>
            <a:r>
              <a:rPr lang="en-US" sz="2100" i="1" dirty="0">
                <a:solidFill>
                  <a:schemeClr val="accent5"/>
                </a:solidFill>
              </a:rPr>
              <a:t>…………</a:t>
            </a:r>
            <a:r>
              <a:rPr lang="en-US" sz="2100" i="1" dirty="0">
                <a:solidFill>
                  <a:schemeClr val="tx1"/>
                </a:solidFill>
              </a:rPr>
              <a:t> Maesbouw.</a:t>
            </a:r>
            <a:endParaRPr lang="en-US" sz="2100" dirty="0"/>
          </a:p>
          <a:p>
            <a:pPr indent="0" marL="0">
              <a:spcAft>
                <a:spcPts val="2600"/>
              </a:spcAft>
              <a:buNone/>
            </a:pPr>
            <a:r>
              <a:rPr lang="en-US" sz="2100" b="1" dirty="0">
                <a:solidFill>
                  <a:schemeClr val="tx2"/>
                </a:solidFill>
              </a:rPr>
              <a:t>2  </a:t>
            </a:r>
            <a:r>
              <a:rPr lang="en-US" sz="2100" i="1" dirty="0">
                <a:solidFill>
                  <a:schemeClr val="tx1"/>
                </a:solidFill>
              </a:rPr>
              <a:t>Tom werkt </a:t>
            </a:r>
            <a:r>
              <a:rPr lang="en-US" sz="2100" i="1" dirty="0">
                <a:solidFill>
                  <a:schemeClr val="accent5"/>
                </a:solidFill>
              </a:rPr>
              <a:t>…………</a:t>
            </a:r>
            <a:r>
              <a:rPr lang="en-US" sz="2100" i="1" dirty="0">
                <a:solidFill>
                  <a:schemeClr val="tx1"/>
                </a:solidFill>
              </a:rPr>
              <a:t> de afdeling verkoop.</a:t>
            </a:r>
            <a:endParaRPr lang="en-US" sz="2100" dirty="0"/>
          </a:p>
          <a:p>
            <a:pPr indent="0" marL="0">
              <a:spcAft>
                <a:spcPts val="2600"/>
              </a:spcAft>
              <a:buNone/>
            </a:pPr>
            <a:r>
              <a:rPr lang="en-US" sz="2100" b="1" dirty="0">
                <a:solidFill>
                  <a:schemeClr val="tx2"/>
                </a:solidFill>
              </a:rPr>
              <a:t>3  </a:t>
            </a:r>
            <a:r>
              <a:rPr lang="en-US" sz="2100" i="1" dirty="0">
                <a:solidFill>
                  <a:schemeClr val="tx1"/>
                </a:solidFill>
              </a:rPr>
              <a:t>Lotte werkt </a:t>
            </a:r>
            <a:r>
              <a:rPr lang="en-US" sz="2100" i="1" dirty="0">
                <a:solidFill>
                  <a:schemeClr val="accent5"/>
                </a:solidFill>
              </a:rPr>
              <a:t>…………</a:t>
            </a:r>
            <a:r>
              <a:rPr lang="en-US" sz="2100" i="1" dirty="0">
                <a:solidFill>
                  <a:schemeClr val="tx1"/>
                </a:solidFill>
              </a:rPr>
              <a:t> stagiaire.</a:t>
            </a:r>
            <a:endParaRPr lang="en-US" sz="2100" dirty="0"/>
          </a:p>
          <a:p>
            <a:pPr indent="0" marL="0">
              <a:spcAft>
                <a:spcPts val="2600"/>
              </a:spcAft>
              <a:buNone/>
            </a:pPr>
            <a:r>
              <a:rPr lang="en-US" sz="2100" b="1" dirty="0">
                <a:solidFill>
                  <a:schemeClr val="tx2"/>
                </a:solidFill>
              </a:rPr>
              <a:t>4  </a:t>
            </a:r>
            <a:r>
              <a:rPr lang="en-US" sz="2100" i="1" dirty="0">
                <a:solidFill>
                  <a:schemeClr val="tx1"/>
                </a:solidFill>
              </a:rPr>
              <a:t>Ons kantoor is </a:t>
            </a:r>
            <a:r>
              <a:rPr lang="en-US" sz="2100" i="1" dirty="0">
                <a:solidFill>
                  <a:schemeClr val="accent5"/>
                </a:solidFill>
              </a:rPr>
              <a:t>…………</a:t>
            </a:r>
            <a:r>
              <a:rPr lang="en-US" sz="2100" i="1" dirty="0">
                <a:solidFill>
                  <a:schemeClr val="tx1"/>
                </a:solidFill>
              </a:rPr>
              <a:t> Gent.</a:t>
            </a:r>
            <a:endParaRPr lang="en-US" sz="2100" dirty="0"/>
          </a:p>
        </p:txBody>
      </p:sp>
      <p:sp>
        <p:nvSpPr>
          <p:cNvPr id="9" name="Text 5"/>
          <p:cNvSpPr txBox="1"/>
          <p:nvPr/>
        </p:nvSpPr>
        <p:spPr>
          <a:xfrm>
            <a:off x="6300216" y="2115312"/>
            <a:ext cx="5340096" cy="3931920"/>
          </a:xfrm>
          <a:prstGeom prst="rect">
            <a:avLst/>
          </a:prstGeom>
          <a:noFill/>
          <a:ln/>
        </p:spPr>
        <p:txBody>
          <a:bodyPr wrap="square" lIns="0" tIns="0" rIns="0" bIns="0" rtlCol="0" anchor="t"/>
          <a:lstStyle/>
          <a:p>
            <a:pPr indent="0" marL="0">
              <a:spcAft>
                <a:spcPts val="2600"/>
              </a:spcAft>
              <a:buNone/>
            </a:pPr>
            <a:r>
              <a:rPr lang="en-US" sz="2100" b="1" dirty="0">
                <a:solidFill>
                  <a:schemeClr val="tx2"/>
                </a:solidFill>
              </a:rPr>
              <a:t>5  </a:t>
            </a:r>
            <a:r>
              <a:rPr lang="en-US" sz="2100" i="1" dirty="0">
                <a:solidFill>
                  <a:schemeClr val="tx1"/>
                </a:solidFill>
              </a:rPr>
              <a:t>Ik ben verantwoordelijk </a:t>
            </a:r>
            <a:r>
              <a:rPr lang="en-US" sz="2100" i="1" dirty="0">
                <a:solidFill>
                  <a:schemeClr val="accent5"/>
                </a:solidFill>
              </a:rPr>
              <a:t>…………</a:t>
            </a:r>
            <a:r>
              <a:rPr lang="en-US" sz="2100" i="1" dirty="0">
                <a:solidFill>
                  <a:schemeClr val="tx1"/>
                </a:solidFill>
              </a:rPr>
              <a:t> de planning.</a:t>
            </a:r>
            <a:endParaRPr lang="en-US" sz="2100" dirty="0"/>
          </a:p>
          <a:p>
            <a:pPr indent="0" marL="0">
              <a:spcAft>
                <a:spcPts val="2600"/>
              </a:spcAft>
              <a:buNone/>
            </a:pPr>
            <a:r>
              <a:rPr lang="en-US" sz="2100" b="1" dirty="0">
                <a:solidFill>
                  <a:schemeClr val="tx2"/>
                </a:solidFill>
              </a:rPr>
              <a:t>6  </a:t>
            </a:r>
            <a:r>
              <a:rPr lang="en-US" sz="2100" i="1" dirty="0">
                <a:solidFill>
                  <a:schemeClr val="tx1"/>
                </a:solidFill>
              </a:rPr>
              <a:t>Eva werkt al tien jaar </a:t>
            </a:r>
            <a:r>
              <a:rPr lang="en-US" sz="2100" i="1" dirty="0">
                <a:solidFill>
                  <a:schemeClr val="accent5"/>
                </a:solidFill>
              </a:rPr>
              <a:t>…………</a:t>
            </a:r>
            <a:r>
              <a:rPr lang="en-US" sz="2100" i="1" dirty="0">
                <a:solidFill>
                  <a:schemeClr val="tx1"/>
                </a:solidFill>
              </a:rPr>
              <a:t> de bouwsector.</a:t>
            </a:r>
            <a:endParaRPr lang="en-US" sz="2100" dirty="0"/>
          </a:p>
          <a:p>
            <a:pPr indent="0" marL="0">
              <a:spcAft>
                <a:spcPts val="2600"/>
              </a:spcAft>
              <a:buNone/>
            </a:pPr>
            <a:r>
              <a:rPr lang="en-US" sz="2100" b="1" dirty="0">
                <a:solidFill>
                  <a:schemeClr val="tx2"/>
                </a:solidFill>
              </a:rPr>
              <a:t>7  </a:t>
            </a:r>
            <a:r>
              <a:rPr lang="en-US" sz="2100" i="1" dirty="0">
                <a:solidFill>
                  <a:schemeClr val="tx1"/>
                </a:solidFill>
              </a:rPr>
              <a:t>Ik werk vooral </a:t>
            </a:r>
            <a:r>
              <a:rPr lang="en-US" sz="2100" i="1" dirty="0">
                <a:solidFill>
                  <a:schemeClr val="accent5"/>
                </a:solidFill>
              </a:rPr>
              <a:t>…………</a:t>
            </a:r>
            <a:r>
              <a:rPr lang="en-US" sz="2100" i="1" dirty="0">
                <a:solidFill>
                  <a:schemeClr val="tx1"/>
                </a:solidFill>
              </a:rPr>
              <a:t> Franstalige klanten.</a:t>
            </a:r>
            <a:endParaRPr lang="en-US" sz="2100" dirty="0"/>
          </a:p>
          <a:p>
            <a:pPr indent="0" marL="0">
              <a:spcAft>
                <a:spcPts val="2600"/>
              </a:spcAft>
              <a:buNone/>
            </a:pPr>
            <a:r>
              <a:rPr lang="en-US" sz="2100" b="1" dirty="0">
                <a:solidFill>
                  <a:schemeClr val="tx2"/>
                </a:solidFill>
              </a:rPr>
              <a:t>8  </a:t>
            </a:r>
            <a:r>
              <a:rPr lang="en-US" sz="2100" i="1" dirty="0">
                <a:solidFill>
                  <a:schemeClr val="tx1"/>
                </a:solidFill>
              </a:rPr>
              <a:t>Nadia werkt </a:t>
            </a:r>
            <a:r>
              <a:rPr lang="en-US" sz="2100" i="1" dirty="0">
                <a:solidFill>
                  <a:schemeClr val="accent5"/>
                </a:solidFill>
              </a:rPr>
              <a:t>…………</a:t>
            </a:r>
            <a:r>
              <a:rPr lang="en-US" sz="2100" i="1" dirty="0">
                <a:solidFill>
                  <a:schemeClr val="tx1"/>
                </a:solidFill>
              </a:rPr>
              <a:t> coach </a:t>
            </a:r>
            <a:r>
              <a:rPr lang="en-US" sz="2100" i="1" dirty="0">
                <a:solidFill>
                  <a:schemeClr val="accent5"/>
                </a:solidFill>
              </a:rPr>
              <a:t>…………</a:t>
            </a:r>
            <a:r>
              <a:rPr lang="en-US" sz="2100" i="1" dirty="0">
                <a:solidFill>
                  <a:schemeClr val="tx1"/>
                </a:solidFill>
              </a:rPr>
              <a:t> Sportclub Vitaal.</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bij, op, als, in, voor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préposition de la carte de visite.</a:t>
            </a:r>
            <a:endParaRPr lang="en-US" sz="1700" dirty="0"/>
          </a:p>
        </p:txBody>
      </p:sp>
      <p:sp>
        <p:nvSpPr>
          <p:cNvPr id="9" name="Text 5"/>
          <p:cNvSpPr txBox="1"/>
          <p:nvPr/>
        </p:nvSpPr>
        <p:spPr>
          <a:xfrm>
            <a:off x="548640" y="2115312"/>
            <a:ext cx="5340096" cy="3931920"/>
          </a:xfrm>
          <a:prstGeom prst="rect">
            <a:avLst/>
          </a:prstGeom>
          <a:noFill/>
          <a:ln/>
        </p:spPr>
        <p:txBody>
          <a:bodyPr wrap="square" lIns="0" tIns="0" rIns="0" bIns="0" rtlCol="0" anchor="t"/>
          <a:lstStyle/>
          <a:p>
            <a:pPr indent="0" marL="0">
              <a:spcAft>
                <a:spcPts val="2600"/>
              </a:spcAft>
              <a:buNone/>
            </a:pPr>
            <a:r>
              <a:rPr lang="en-US" sz="2100" b="1" dirty="0">
                <a:solidFill>
                  <a:schemeClr val="tx2"/>
                </a:solidFill>
              </a:rPr>
              <a:t>1  </a:t>
            </a:r>
            <a:r>
              <a:rPr lang="en-US" sz="2100" i="1" dirty="0">
                <a:solidFill>
                  <a:schemeClr val="tx1"/>
                </a:solidFill>
              </a:rPr>
              <a:t>Ik werk </a:t>
            </a:r>
            <a:r>
              <a:rPr lang="en-US" sz="2100" b="1" i="1" dirty="0">
                <a:solidFill>
                  <a:schemeClr val="accent3"/>
                </a:solidFill>
              </a:rPr>
              <a:t>bij</a:t>
            </a:r>
            <a:r>
              <a:rPr lang="en-US" sz="2100" i="1" dirty="0">
                <a:solidFill>
                  <a:schemeClr val="tx1"/>
                </a:solidFill>
              </a:rPr>
              <a:t> Maesbouw.</a:t>
            </a:r>
            <a:endParaRPr lang="en-US" sz="2100" dirty="0"/>
          </a:p>
          <a:p>
            <a:pPr indent="0" marL="0">
              <a:spcAft>
                <a:spcPts val="2600"/>
              </a:spcAft>
              <a:buNone/>
            </a:pPr>
            <a:r>
              <a:rPr lang="en-US" sz="2100" b="1" dirty="0">
                <a:solidFill>
                  <a:schemeClr val="tx2"/>
                </a:solidFill>
              </a:rPr>
              <a:t>2  </a:t>
            </a:r>
            <a:r>
              <a:rPr lang="en-US" sz="2100" i="1" dirty="0">
                <a:solidFill>
                  <a:schemeClr val="tx1"/>
                </a:solidFill>
              </a:rPr>
              <a:t>Tom werkt </a:t>
            </a:r>
            <a:r>
              <a:rPr lang="en-US" sz="2100" b="1" i="1" dirty="0">
                <a:solidFill>
                  <a:schemeClr val="accent3"/>
                </a:solidFill>
              </a:rPr>
              <a:t>op</a:t>
            </a:r>
            <a:r>
              <a:rPr lang="en-US" sz="2100" i="1" dirty="0">
                <a:solidFill>
                  <a:schemeClr val="tx1"/>
                </a:solidFill>
              </a:rPr>
              <a:t> de afdeling verkoop.</a:t>
            </a:r>
            <a:endParaRPr lang="en-US" sz="2100" dirty="0"/>
          </a:p>
          <a:p>
            <a:pPr indent="0" marL="0">
              <a:spcAft>
                <a:spcPts val="2600"/>
              </a:spcAft>
              <a:buNone/>
            </a:pPr>
            <a:r>
              <a:rPr lang="en-US" sz="2100" b="1" dirty="0">
                <a:solidFill>
                  <a:schemeClr val="tx2"/>
                </a:solidFill>
              </a:rPr>
              <a:t>3  </a:t>
            </a:r>
            <a:r>
              <a:rPr lang="en-US" sz="2100" i="1" dirty="0">
                <a:solidFill>
                  <a:schemeClr val="tx1"/>
                </a:solidFill>
              </a:rPr>
              <a:t>Lotte werkt </a:t>
            </a:r>
            <a:r>
              <a:rPr lang="en-US" sz="2100" b="1" i="1" dirty="0">
                <a:solidFill>
                  <a:schemeClr val="accent3"/>
                </a:solidFill>
              </a:rPr>
              <a:t>als</a:t>
            </a:r>
            <a:r>
              <a:rPr lang="en-US" sz="2100" i="1" dirty="0">
                <a:solidFill>
                  <a:schemeClr val="tx1"/>
                </a:solidFill>
              </a:rPr>
              <a:t> stagiaire.</a:t>
            </a:r>
            <a:endParaRPr lang="en-US" sz="2100" dirty="0"/>
          </a:p>
          <a:p>
            <a:pPr indent="0" marL="0">
              <a:spcAft>
                <a:spcPts val="2600"/>
              </a:spcAft>
              <a:buNone/>
            </a:pPr>
            <a:r>
              <a:rPr lang="en-US" sz="2100" b="1" dirty="0">
                <a:solidFill>
                  <a:schemeClr val="tx2"/>
                </a:solidFill>
              </a:rPr>
              <a:t>4  </a:t>
            </a:r>
            <a:r>
              <a:rPr lang="en-US" sz="2100" i="1" dirty="0">
                <a:solidFill>
                  <a:schemeClr val="tx1"/>
                </a:solidFill>
              </a:rPr>
              <a:t>Ons kantoor is </a:t>
            </a:r>
            <a:r>
              <a:rPr lang="en-US" sz="2100" b="1" i="1" dirty="0">
                <a:solidFill>
                  <a:schemeClr val="accent3"/>
                </a:solidFill>
              </a:rPr>
              <a:t>in</a:t>
            </a:r>
            <a:r>
              <a:rPr lang="en-US" sz="2100" i="1" dirty="0">
                <a:solidFill>
                  <a:schemeClr val="tx1"/>
                </a:solidFill>
              </a:rPr>
              <a:t> Gent.</a:t>
            </a:r>
            <a:endParaRPr lang="en-US" sz="2100" dirty="0"/>
          </a:p>
        </p:txBody>
      </p:sp>
      <p:sp>
        <p:nvSpPr>
          <p:cNvPr id="10" name="Text 6"/>
          <p:cNvSpPr txBox="1"/>
          <p:nvPr/>
        </p:nvSpPr>
        <p:spPr>
          <a:xfrm>
            <a:off x="6300216" y="2115312"/>
            <a:ext cx="5340096" cy="3931920"/>
          </a:xfrm>
          <a:prstGeom prst="rect">
            <a:avLst/>
          </a:prstGeom>
          <a:noFill/>
          <a:ln/>
        </p:spPr>
        <p:txBody>
          <a:bodyPr wrap="square" lIns="0" tIns="0" rIns="0" bIns="0" rtlCol="0" anchor="t"/>
          <a:lstStyle/>
          <a:p>
            <a:pPr indent="0" marL="0">
              <a:spcAft>
                <a:spcPts val="2600"/>
              </a:spcAft>
              <a:buNone/>
            </a:pPr>
            <a:r>
              <a:rPr lang="en-US" sz="2100" b="1" dirty="0">
                <a:solidFill>
                  <a:schemeClr val="tx2"/>
                </a:solidFill>
              </a:rPr>
              <a:t>5  </a:t>
            </a:r>
            <a:r>
              <a:rPr lang="en-US" sz="2100" i="1" dirty="0">
                <a:solidFill>
                  <a:schemeClr val="tx1"/>
                </a:solidFill>
              </a:rPr>
              <a:t>Ik ben verantwoordelijk </a:t>
            </a:r>
            <a:r>
              <a:rPr lang="en-US" sz="2100" b="1" i="1" dirty="0">
                <a:solidFill>
                  <a:schemeClr val="accent3"/>
                </a:solidFill>
              </a:rPr>
              <a:t>voor</a:t>
            </a:r>
            <a:r>
              <a:rPr lang="en-US" sz="2100" i="1" dirty="0">
                <a:solidFill>
                  <a:schemeClr val="tx1"/>
                </a:solidFill>
              </a:rPr>
              <a:t> de planning.</a:t>
            </a:r>
            <a:endParaRPr lang="en-US" sz="2100" dirty="0"/>
          </a:p>
          <a:p>
            <a:pPr indent="0" marL="0">
              <a:spcAft>
                <a:spcPts val="2600"/>
              </a:spcAft>
              <a:buNone/>
            </a:pPr>
            <a:r>
              <a:rPr lang="en-US" sz="2100" b="1" dirty="0">
                <a:solidFill>
                  <a:schemeClr val="tx2"/>
                </a:solidFill>
              </a:rPr>
              <a:t>6  </a:t>
            </a:r>
            <a:r>
              <a:rPr lang="en-US" sz="2100" i="1" dirty="0">
                <a:solidFill>
                  <a:schemeClr val="tx1"/>
                </a:solidFill>
              </a:rPr>
              <a:t>Eva werkt al tien jaar </a:t>
            </a:r>
            <a:r>
              <a:rPr lang="en-US" sz="2100" b="1" i="1" dirty="0">
                <a:solidFill>
                  <a:schemeClr val="accent3"/>
                </a:solidFill>
              </a:rPr>
              <a:t>in</a:t>
            </a:r>
            <a:r>
              <a:rPr lang="en-US" sz="2100" i="1" dirty="0">
                <a:solidFill>
                  <a:schemeClr val="tx1"/>
                </a:solidFill>
              </a:rPr>
              <a:t> de bouwsector.</a:t>
            </a:r>
            <a:endParaRPr lang="en-US" sz="2100" dirty="0"/>
          </a:p>
          <a:p>
            <a:pPr indent="0" marL="0">
              <a:spcAft>
                <a:spcPts val="2600"/>
              </a:spcAft>
              <a:buNone/>
            </a:pPr>
            <a:r>
              <a:rPr lang="en-US" sz="2100" b="1" dirty="0">
                <a:solidFill>
                  <a:schemeClr val="tx2"/>
                </a:solidFill>
              </a:rPr>
              <a:t>7  </a:t>
            </a:r>
            <a:r>
              <a:rPr lang="en-US" sz="2100" i="1" dirty="0">
                <a:solidFill>
                  <a:schemeClr val="tx1"/>
                </a:solidFill>
              </a:rPr>
              <a:t>Ik werk vooral </a:t>
            </a:r>
            <a:r>
              <a:rPr lang="en-US" sz="2100" b="1" i="1" dirty="0">
                <a:solidFill>
                  <a:schemeClr val="accent3"/>
                </a:solidFill>
              </a:rPr>
              <a:t>voor</a:t>
            </a:r>
            <a:r>
              <a:rPr lang="en-US" sz="2100" i="1" dirty="0">
                <a:solidFill>
                  <a:schemeClr val="tx1"/>
                </a:solidFill>
              </a:rPr>
              <a:t> Franstalige klanten.</a:t>
            </a:r>
            <a:endParaRPr lang="en-US" sz="2100" dirty="0"/>
          </a:p>
          <a:p>
            <a:pPr indent="0" marL="0">
              <a:spcAft>
                <a:spcPts val="2600"/>
              </a:spcAft>
              <a:buNone/>
            </a:pPr>
            <a:r>
              <a:rPr lang="en-US" sz="2100" b="1" dirty="0">
                <a:solidFill>
                  <a:schemeClr val="tx2"/>
                </a:solidFill>
              </a:rPr>
              <a:t>8  </a:t>
            </a:r>
            <a:r>
              <a:rPr lang="en-US" sz="2100" i="1" dirty="0">
                <a:solidFill>
                  <a:schemeClr val="tx1"/>
                </a:solidFill>
              </a:rPr>
              <a:t>Nadia werkt </a:t>
            </a:r>
            <a:r>
              <a:rPr lang="en-US" sz="2100" b="1" i="1" dirty="0">
                <a:solidFill>
                  <a:schemeClr val="accent3"/>
                </a:solidFill>
              </a:rPr>
              <a:t>als</a:t>
            </a:r>
            <a:r>
              <a:rPr lang="en-US" sz="2100" i="1" dirty="0">
                <a:solidFill>
                  <a:schemeClr val="tx1"/>
                </a:solidFill>
              </a:rPr>
              <a:t> coach </a:t>
            </a:r>
            <a:r>
              <a:rPr lang="en-US" sz="2100" b="1" i="1" dirty="0">
                <a:solidFill>
                  <a:schemeClr val="accent3"/>
                </a:solidFill>
              </a:rPr>
              <a:t>bij</a:t>
            </a:r>
            <a:r>
              <a:rPr lang="en-US" sz="2100" i="1" dirty="0">
                <a:solidFill>
                  <a:schemeClr val="tx1"/>
                </a:solidFill>
              </a:rPr>
              <a:t> Sportclub Vitaal.</a:t>
            </a:r>
            <a:endParaRPr lang="en-US" sz="2100" dirty="0"/>
          </a:p>
        </p:txBody>
      </p:sp>
      <p:sp>
        <p:nvSpPr>
          <p:cNvPr id="11" name="Text 7"/>
          <p:cNvSpPr txBox="1"/>
          <p:nvPr/>
        </p:nvSpPr>
        <p:spPr>
          <a:xfrm>
            <a:off x="548640" y="5760720"/>
            <a:ext cx="11091672" cy="411480"/>
          </a:xfrm>
          <a:prstGeom prst="rect">
            <a:avLst/>
          </a:prstGeom>
          <a:noFill/>
          <a:ln/>
        </p:spPr>
        <p:txBody>
          <a:bodyPr wrap="square" lIns="0" tIns="0" rIns="0" bIns="0" rtlCol="0" anchor="t"/>
          <a:lstStyle/>
          <a:p>
            <a:pPr algn="ctr" indent="0" marL="0">
              <a:buNone/>
            </a:pPr>
            <a:r>
              <a:rPr lang="en-US" sz="1500" i="1" dirty="0">
                <a:solidFill>
                  <a:schemeClr val="accent5"/>
                </a:solidFill>
              </a:rPr>
              <a:t>N° 2 : </a:t>
            </a:r>
            <a:r>
              <a:rPr lang="en-US" sz="1500" i="1" dirty="0">
                <a:solidFill>
                  <a:schemeClr val="accent5"/>
                </a:solidFill>
              </a:rPr>
              <a:t>bij</a:t>
            </a:r>
            <a:r>
              <a:rPr lang="en-US" sz="1500" i="1" dirty="0">
                <a:solidFill>
                  <a:schemeClr val="accent5"/>
                </a:solidFill>
              </a:rPr>
              <a:t> est aussi accepté (</a:t>
            </a:r>
            <a:r>
              <a:rPr lang="en-US" sz="1500" i="1" dirty="0">
                <a:solidFill>
                  <a:schemeClr val="accent5"/>
                </a:solidFill>
              </a:rPr>
              <a:t>bij de afdeling verkoop</a:t>
            </a:r>
            <a:r>
              <a:rPr lang="en-US" sz="1500" i="1" dirty="0">
                <a:solidFill>
                  <a:schemeClr val="accent5"/>
                </a:solidFill>
              </a:rPr>
              <a:t>) · n° 8 : deux trous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sinds, al ou geleden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sinds</a:t>
            </a:r>
            <a:r>
              <a:rPr lang="en-US" sz="1700" i="1" dirty="0">
                <a:solidFill>
                  <a:schemeClr val="accent5"/>
                </a:solidFill>
              </a:rPr>
              <a:t> + point de départ · </a:t>
            </a:r>
            <a:r>
              <a:rPr lang="en-US" sz="1700" i="1" dirty="0">
                <a:solidFill>
                  <a:schemeClr val="accent5"/>
                </a:solidFill>
              </a:rPr>
              <a:t>al</a:t>
            </a:r>
            <a:r>
              <a:rPr lang="en-US" sz="1700" i="1" dirty="0">
                <a:solidFill>
                  <a:schemeClr val="accent5"/>
                </a:solidFill>
              </a:rPr>
              <a:t> + durée (présent) · </a:t>
            </a:r>
            <a:r>
              <a:rPr lang="en-US" sz="1700" i="1" dirty="0">
                <a:solidFill>
                  <a:schemeClr val="accent5"/>
                </a:solidFill>
              </a:rPr>
              <a:t>geleden</a:t>
            </a:r>
            <a:r>
              <a:rPr lang="en-US" sz="1700" i="1" dirty="0">
                <a:solidFill>
                  <a:schemeClr val="accent5"/>
                </a:solidFill>
              </a:rPr>
              <a:t> + durée (passé).</a:t>
            </a:r>
            <a:endParaRPr lang="en-US" sz="1700" dirty="0"/>
          </a:p>
        </p:txBody>
      </p:sp>
      <p:sp>
        <p:nvSpPr>
          <p:cNvPr id="8" name="Shape 4"/>
          <p:cNvSpPr/>
          <p:nvPr/>
        </p:nvSpPr>
        <p:spPr>
          <a:xfrm>
            <a:off x="731520" y="2343912"/>
            <a:ext cx="10698480" cy="914"/>
          </a:xfrm>
          <a:prstGeom prst="line">
            <a:avLst/>
          </a:prstGeom>
          <a:noFill/>
          <a:ln w="25400">
            <a:solidFill>
              <a:srgbClr val="4A5A70"/>
            </a:solidFill>
            <a:prstDash val="solid"/>
            <a:tailEnd type="triangle"/>
          </a:ln>
        </p:spPr>
      </p:sp>
      <p:sp>
        <p:nvSpPr>
          <p:cNvPr id="9" name="Shape 5"/>
          <p:cNvSpPr/>
          <p:nvPr/>
        </p:nvSpPr>
        <p:spPr>
          <a:xfrm>
            <a:off x="1371600" y="2234184"/>
            <a:ext cx="219456" cy="219456"/>
          </a:xfrm>
          <a:prstGeom prst="ellipse">
            <a:avLst/>
          </a:prstGeom>
          <a:solidFill>
            <a:schemeClr val="accent4"/>
          </a:solidFill>
          <a:ln w="12700">
            <a:solidFill>
              <a:srgbClr val="FFFFFF">
                <a:alpha val="0"/>
              </a:srgbClr>
            </a:solidFill>
            <a:prstDash val="solid"/>
          </a:ln>
        </p:spPr>
      </p:sp>
      <p:sp>
        <p:nvSpPr>
          <p:cNvPr id="10" name="Text 6"/>
          <p:cNvSpPr txBox="1"/>
          <p:nvPr/>
        </p:nvSpPr>
        <p:spPr>
          <a:xfrm>
            <a:off x="1664208" y="2417064"/>
            <a:ext cx="1463040" cy="365760"/>
          </a:xfrm>
          <a:prstGeom prst="rect">
            <a:avLst/>
          </a:prstGeom>
          <a:noFill/>
          <a:ln/>
        </p:spPr>
        <p:txBody>
          <a:bodyPr wrap="square" lIns="0" tIns="0" rIns="0" bIns="0" rtlCol="0" anchor="ctr"/>
          <a:lstStyle/>
          <a:p>
            <a:pPr algn="l" indent="0" marL="0">
              <a:buNone/>
            </a:pPr>
            <a:r>
              <a:rPr lang="en-US" sz="1600" b="1" i="1" dirty="0">
                <a:solidFill>
                  <a:schemeClr val="accent4"/>
                </a:solidFill>
              </a:rPr>
              <a:t>geleden</a:t>
            </a:r>
            <a:endParaRPr lang="en-US" sz="1600" dirty="0"/>
          </a:p>
        </p:txBody>
      </p:sp>
      <p:sp>
        <p:nvSpPr>
          <p:cNvPr id="11" name="Shape 7"/>
          <p:cNvSpPr/>
          <p:nvPr/>
        </p:nvSpPr>
        <p:spPr>
          <a:xfrm>
            <a:off x="5120640" y="2234184"/>
            <a:ext cx="219456" cy="219456"/>
          </a:xfrm>
          <a:prstGeom prst="ellipse">
            <a:avLst/>
          </a:prstGeom>
          <a:solidFill>
            <a:schemeClr val="accent2"/>
          </a:solidFill>
          <a:ln w="12700">
            <a:solidFill>
              <a:srgbClr val="FFFFFF">
                <a:alpha val="0"/>
              </a:srgbClr>
            </a:solidFill>
            <a:prstDash val="solid"/>
          </a:ln>
        </p:spPr>
      </p:sp>
      <p:sp>
        <p:nvSpPr>
          <p:cNvPr id="12" name="Text 8"/>
          <p:cNvSpPr txBox="1"/>
          <p:nvPr/>
        </p:nvSpPr>
        <p:spPr>
          <a:xfrm>
            <a:off x="5413248" y="2417064"/>
            <a:ext cx="1463040" cy="365760"/>
          </a:xfrm>
          <a:prstGeom prst="rect">
            <a:avLst/>
          </a:prstGeom>
          <a:noFill/>
          <a:ln/>
        </p:spPr>
        <p:txBody>
          <a:bodyPr wrap="square" lIns="0" tIns="0" rIns="0" bIns="0" rtlCol="0" anchor="ctr"/>
          <a:lstStyle/>
          <a:p>
            <a:pPr algn="l" indent="0" marL="0">
              <a:buNone/>
            </a:pPr>
            <a:r>
              <a:rPr lang="en-US" sz="1600" b="1" i="1" dirty="0">
                <a:solidFill>
                  <a:schemeClr val="accent2"/>
                </a:solidFill>
              </a:rPr>
              <a:t>sinds</a:t>
            </a:r>
            <a:endParaRPr lang="en-US" sz="1600" dirty="0"/>
          </a:p>
        </p:txBody>
      </p:sp>
      <p:sp>
        <p:nvSpPr>
          <p:cNvPr id="13" name="Shape 9"/>
          <p:cNvSpPr/>
          <p:nvPr/>
        </p:nvSpPr>
        <p:spPr>
          <a:xfrm>
            <a:off x="8595360" y="2234184"/>
            <a:ext cx="219456" cy="219456"/>
          </a:xfrm>
          <a:prstGeom prst="ellipse">
            <a:avLst/>
          </a:prstGeom>
          <a:solidFill>
            <a:schemeClr val="accent3"/>
          </a:solidFill>
          <a:ln w="12700">
            <a:solidFill>
              <a:srgbClr val="FFFFFF">
                <a:alpha val="0"/>
              </a:srgbClr>
            </a:solidFill>
            <a:prstDash val="solid"/>
          </a:ln>
        </p:spPr>
      </p:sp>
      <p:sp>
        <p:nvSpPr>
          <p:cNvPr id="14" name="Text 10"/>
          <p:cNvSpPr txBox="1"/>
          <p:nvPr/>
        </p:nvSpPr>
        <p:spPr>
          <a:xfrm>
            <a:off x="8887968" y="2417064"/>
            <a:ext cx="1463040" cy="365760"/>
          </a:xfrm>
          <a:prstGeom prst="rect">
            <a:avLst/>
          </a:prstGeom>
          <a:noFill/>
          <a:ln/>
        </p:spPr>
        <p:txBody>
          <a:bodyPr wrap="square" lIns="0" tIns="0" rIns="0" bIns="0" rtlCol="0" anchor="ctr"/>
          <a:lstStyle/>
          <a:p>
            <a:pPr algn="l" indent="0" marL="0">
              <a:buNone/>
            </a:pPr>
            <a:r>
              <a:rPr lang="en-US" sz="1600" b="1" i="1" dirty="0">
                <a:solidFill>
                  <a:schemeClr val="accent3"/>
                </a:solidFill>
              </a:rPr>
              <a:t>al</a:t>
            </a:r>
            <a:endParaRPr lang="en-US" sz="1600" dirty="0"/>
          </a:p>
        </p:txBody>
      </p:sp>
      <p:sp>
        <p:nvSpPr>
          <p:cNvPr id="15" name="Text 11"/>
          <p:cNvSpPr txBox="1"/>
          <p:nvPr/>
        </p:nvSpPr>
        <p:spPr>
          <a:xfrm>
            <a:off x="548640" y="2846832"/>
            <a:ext cx="11091672" cy="3657600"/>
          </a:xfrm>
          <a:prstGeom prst="rect">
            <a:avLst/>
          </a:prstGeom>
          <a:noFill/>
          <a:ln/>
        </p:spPr>
        <p:txBody>
          <a:bodyPr wrap="square" lIns="0" tIns="0" rIns="0" bIns="0" rtlCol="0" anchor="t"/>
          <a:lstStyle/>
          <a:p>
            <a:pPr indent="0" marL="0">
              <a:spcAft>
                <a:spcPts val="1000"/>
              </a:spcAft>
              <a:buNone/>
            </a:pPr>
            <a:r>
              <a:rPr lang="en-US" sz="2100" b="1" dirty="0">
                <a:solidFill>
                  <a:schemeClr val="tx2"/>
                </a:solidFill>
              </a:rPr>
              <a:t>1  </a:t>
            </a:r>
            <a:r>
              <a:rPr lang="en-US" sz="2100" i="1" dirty="0">
                <a:solidFill>
                  <a:schemeClr val="tx1"/>
                </a:solidFill>
              </a:rPr>
              <a:t>Ik werk hier </a:t>
            </a:r>
            <a:r>
              <a:rPr lang="en-US" sz="2100" i="1" dirty="0">
                <a:solidFill>
                  <a:schemeClr val="accent5"/>
                </a:solidFill>
              </a:rPr>
              <a:t>…………</a:t>
            </a:r>
            <a:r>
              <a:rPr lang="en-US" sz="2100" i="1" dirty="0">
                <a:solidFill>
                  <a:schemeClr val="tx1"/>
                </a:solidFill>
              </a:rPr>
              <a:t> 2021.</a:t>
            </a:r>
            <a:endParaRPr lang="en-US" sz="2100" dirty="0"/>
          </a:p>
          <a:p>
            <a:pPr indent="0" marL="0">
              <a:spcAft>
                <a:spcPts val="1000"/>
              </a:spcAft>
              <a:buNone/>
            </a:pPr>
            <a:r>
              <a:rPr lang="en-US" sz="2100" b="1" dirty="0">
                <a:solidFill>
                  <a:schemeClr val="tx2"/>
                </a:solidFill>
              </a:rPr>
              <a:t>2  </a:t>
            </a:r>
            <a:r>
              <a:rPr lang="en-US" sz="2100" i="1" dirty="0">
                <a:solidFill>
                  <a:schemeClr val="tx1"/>
                </a:solidFill>
              </a:rPr>
              <a:t>Ik woon </a:t>
            </a:r>
            <a:r>
              <a:rPr lang="en-US" sz="2100" i="1" dirty="0">
                <a:solidFill>
                  <a:schemeClr val="accent5"/>
                </a:solidFill>
              </a:rPr>
              <a:t>…………</a:t>
            </a:r>
            <a:r>
              <a:rPr lang="en-US" sz="2100" i="1" dirty="0">
                <a:solidFill>
                  <a:schemeClr val="tx1"/>
                </a:solidFill>
              </a:rPr>
              <a:t> vijf jaar in Brussel.</a:t>
            </a:r>
            <a:endParaRPr lang="en-US" sz="2100" dirty="0"/>
          </a:p>
          <a:p>
            <a:pPr indent="0" marL="0">
              <a:spcAft>
                <a:spcPts val="1000"/>
              </a:spcAft>
              <a:buNone/>
            </a:pPr>
            <a:r>
              <a:rPr lang="en-US" sz="2100" b="1" dirty="0">
                <a:solidFill>
                  <a:schemeClr val="tx2"/>
                </a:solidFill>
              </a:rPr>
              <a:t>3  </a:t>
            </a:r>
            <a:r>
              <a:rPr lang="en-US" sz="2100" i="1" dirty="0">
                <a:solidFill>
                  <a:schemeClr val="tx1"/>
                </a:solidFill>
              </a:rPr>
              <a:t>Ik ben drie jaar </a:t>
            </a:r>
            <a:r>
              <a:rPr lang="en-US" sz="2100" i="1" dirty="0">
                <a:solidFill>
                  <a:schemeClr val="accent5"/>
                </a:solidFill>
              </a:rPr>
              <a:t>…………</a:t>
            </a:r>
            <a:r>
              <a:rPr lang="en-US" sz="2100" i="1" dirty="0">
                <a:solidFill>
                  <a:schemeClr val="tx1"/>
                </a:solidFill>
              </a:rPr>
              <a:t> afgestudeerd.</a:t>
            </a:r>
            <a:endParaRPr lang="en-US" sz="2100" dirty="0"/>
          </a:p>
          <a:p>
            <a:pPr indent="0" marL="0">
              <a:spcAft>
                <a:spcPts val="1000"/>
              </a:spcAft>
              <a:buNone/>
            </a:pPr>
            <a:r>
              <a:rPr lang="en-US" sz="2100" b="1" dirty="0">
                <a:solidFill>
                  <a:schemeClr val="tx2"/>
                </a:solidFill>
              </a:rPr>
              <a:t>4  </a:t>
            </a:r>
            <a:r>
              <a:rPr lang="en-US" sz="2100" i="1" dirty="0">
                <a:solidFill>
                  <a:schemeClr val="tx1"/>
                </a:solidFill>
              </a:rPr>
              <a:t>Lotte is hier </a:t>
            </a:r>
            <a:r>
              <a:rPr lang="en-US" sz="2100" i="1" dirty="0">
                <a:solidFill>
                  <a:schemeClr val="accent5"/>
                </a:solidFill>
              </a:rPr>
              <a:t>…………</a:t>
            </a:r>
            <a:r>
              <a:rPr lang="en-US" sz="2100" i="1" dirty="0">
                <a:solidFill>
                  <a:schemeClr val="tx1"/>
                </a:solidFill>
              </a:rPr>
              <a:t> maart stagiaire.</a:t>
            </a:r>
            <a:endParaRPr lang="en-US" sz="2100" dirty="0"/>
          </a:p>
          <a:p>
            <a:pPr indent="0" marL="0">
              <a:spcAft>
                <a:spcPts val="1000"/>
              </a:spcAft>
              <a:buNone/>
            </a:pPr>
            <a:r>
              <a:rPr lang="en-US" sz="2100" b="1" dirty="0">
                <a:solidFill>
                  <a:schemeClr val="tx2"/>
                </a:solidFill>
              </a:rPr>
              <a:t>5  </a:t>
            </a:r>
            <a:r>
              <a:rPr lang="en-US" sz="2100" i="1" dirty="0">
                <a:solidFill>
                  <a:schemeClr val="tx1"/>
                </a:solidFill>
              </a:rPr>
              <a:t>We kennen elkaar </a:t>
            </a:r>
            <a:r>
              <a:rPr lang="en-US" sz="2100" i="1" dirty="0">
                <a:solidFill>
                  <a:schemeClr val="accent5"/>
                </a:solidFill>
              </a:rPr>
              <a:t>…………</a:t>
            </a:r>
            <a:r>
              <a:rPr lang="en-US" sz="2100" i="1" dirty="0">
                <a:solidFill>
                  <a:schemeClr val="tx1"/>
                </a:solidFill>
              </a:rPr>
              <a:t> lang.</a:t>
            </a:r>
            <a:endParaRPr lang="en-US" sz="2100" dirty="0"/>
          </a:p>
          <a:p>
            <a:pPr indent="0" marL="0">
              <a:spcAft>
                <a:spcPts val="1000"/>
              </a:spcAft>
              <a:buNone/>
            </a:pPr>
            <a:r>
              <a:rPr lang="en-US" sz="2100" b="1" dirty="0">
                <a:solidFill>
                  <a:schemeClr val="tx2"/>
                </a:solidFill>
              </a:rPr>
              <a:t>6  </a:t>
            </a:r>
            <a:r>
              <a:rPr lang="en-US" sz="2100" i="1" dirty="0">
                <a:solidFill>
                  <a:schemeClr val="tx1"/>
                </a:solidFill>
              </a:rPr>
              <a:t>Twee maanden </a:t>
            </a:r>
            <a:r>
              <a:rPr lang="en-US" sz="2100" i="1" dirty="0">
                <a:solidFill>
                  <a:schemeClr val="accent5"/>
                </a:solidFill>
              </a:rPr>
              <a:t>…………</a:t>
            </a:r>
            <a:r>
              <a:rPr lang="en-US" sz="2100" i="1" dirty="0">
                <a:solidFill>
                  <a:schemeClr val="tx1"/>
                </a:solidFill>
              </a:rPr>
              <a:t> ben ik van werkgever veranderd.</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sinds, al ou geleden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sinds</a:t>
            </a:r>
            <a:r>
              <a:rPr lang="en-US" sz="1700" i="1" dirty="0">
                <a:solidFill>
                  <a:schemeClr val="accent5"/>
                </a:solidFill>
              </a:rPr>
              <a:t> + point de départ · </a:t>
            </a:r>
            <a:r>
              <a:rPr lang="en-US" sz="1700" i="1" dirty="0">
                <a:solidFill>
                  <a:schemeClr val="accent5"/>
                </a:solidFill>
              </a:rPr>
              <a:t>al</a:t>
            </a:r>
            <a:r>
              <a:rPr lang="en-US" sz="1700" i="1" dirty="0">
                <a:solidFill>
                  <a:schemeClr val="accent5"/>
                </a:solidFill>
              </a:rPr>
              <a:t> + durée (présent) · </a:t>
            </a:r>
            <a:r>
              <a:rPr lang="en-US" sz="1700" i="1" dirty="0">
                <a:solidFill>
                  <a:schemeClr val="accent5"/>
                </a:solidFill>
              </a:rPr>
              <a:t>geleden</a:t>
            </a:r>
            <a:r>
              <a:rPr lang="en-US" sz="1700" i="1" dirty="0">
                <a:solidFill>
                  <a:schemeClr val="accent5"/>
                </a:solidFill>
              </a:rPr>
              <a:t> + durée (passé).</a:t>
            </a:r>
            <a:endParaRPr lang="en-US" sz="1700" dirty="0"/>
          </a:p>
        </p:txBody>
      </p:sp>
      <p:sp>
        <p:nvSpPr>
          <p:cNvPr id="9" name="Shape 5"/>
          <p:cNvSpPr/>
          <p:nvPr/>
        </p:nvSpPr>
        <p:spPr>
          <a:xfrm>
            <a:off x="731520" y="2343912"/>
            <a:ext cx="10698480" cy="914"/>
          </a:xfrm>
          <a:prstGeom prst="line">
            <a:avLst/>
          </a:prstGeom>
          <a:noFill/>
          <a:ln w="25400">
            <a:solidFill>
              <a:srgbClr val="4A5A70"/>
            </a:solidFill>
            <a:prstDash val="solid"/>
            <a:tailEnd type="triangle"/>
          </a:ln>
        </p:spPr>
      </p:sp>
      <p:sp>
        <p:nvSpPr>
          <p:cNvPr id="10" name="Shape 6"/>
          <p:cNvSpPr/>
          <p:nvPr/>
        </p:nvSpPr>
        <p:spPr>
          <a:xfrm>
            <a:off x="1371600" y="2234184"/>
            <a:ext cx="219456" cy="219456"/>
          </a:xfrm>
          <a:prstGeom prst="ellipse">
            <a:avLst/>
          </a:prstGeom>
          <a:solidFill>
            <a:schemeClr val="accent4"/>
          </a:solidFill>
          <a:ln w="12700">
            <a:solidFill>
              <a:srgbClr val="FFFFFF">
                <a:alpha val="0"/>
              </a:srgbClr>
            </a:solidFill>
            <a:prstDash val="solid"/>
          </a:ln>
        </p:spPr>
      </p:sp>
      <p:sp>
        <p:nvSpPr>
          <p:cNvPr id="11" name="Text 7"/>
          <p:cNvSpPr txBox="1"/>
          <p:nvPr/>
        </p:nvSpPr>
        <p:spPr>
          <a:xfrm>
            <a:off x="1664208" y="2417064"/>
            <a:ext cx="1463040" cy="365760"/>
          </a:xfrm>
          <a:prstGeom prst="rect">
            <a:avLst/>
          </a:prstGeom>
          <a:noFill/>
          <a:ln/>
        </p:spPr>
        <p:txBody>
          <a:bodyPr wrap="square" lIns="0" tIns="0" rIns="0" bIns="0" rtlCol="0" anchor="ctr"/>
          <a:lstStyle/>
          <a:p>
            <a:pPr algn="l" indent="0" marL="0">
              <a:buNone/>
            </a:pPr>
            <a:r>
              <a:rPr lang="en-US" sz="1600" b="1" i="1" dirty="0">
                <a:solidFill>
                  <a:schemeClr val="accent4"/>
                </a:solidFill>
              </a:rPr>
              <a:t>geleden</a:t>
            </a:r>
            <a:endParaRPr lang="en-US" sz="1600" dirty="0"/>
          </a:p>
        </p:txBody>
      </p:sp>
      <p:sp>
        <p:nvSpPr>
          <p:cNvPr id="12" name="Shape 8"/>
          <p:cNvSpPr/>
          <p:nvPr/>
        </p:nvSpPr>
        <p:spPr>
          <a:xfrm>
            <a:off x="5120640" y="2234184"/>
            <a:ext cx="219456" cy="219456"/>
          </a:xfrm>
          <a:prstGeom prst="ellipse">
            <a:avLst/>
          </a:prstGeom>
          <a:solidFill>
            <a:schemeClr val="accent2"/>
          </a:solidFill>
          <a:ln w="12700">
            <a:solidFill>
              <a:srgbClr val="FFFFFF">
                <a:alpha val="0"/>
              </a:srgbClr>
            </a:solidFill>
            <a:prstDash val="solid"/>
          </a:ln>
        </p:spPr>
      </p:sp>
      <p:sp>
        <p:nvSpPr>
          <p:cNvPr id="13" name="Text 9"/>
          <p:cNvSpPr txBox="1"/>
          <p:nvPr/>
        </p:nvSpPr>
        <p:spPr>
          <a:xfrm>
            <a:off x="5413248" y="2417064"/>
            <a:ext cx="1463040" cy="365760"/>
          </a:xfrm>
          <a:prstGeom prst="rect">
            <a:avLst/>
          </a:prstGeom>
          <a:noFill/>
          <a:ln/>
        </p:spPr>
        <p:txBody>
          <a:bodyPr wrap="square" lIns="0" tIns="0" rIns="0" bIns="0" rtlCol="0" anchor="ctr"/>
          <a:lstStyle/>
          <a:p>
            <a:pPr algn="l" indent="0" marL="0">
              <a:buNone/>
            </a:pPr>
            <a:r>
              <a:rPr lang="en-US" sz="1600" b="1" i="1" dirty="0">
                <a:solidFill>
                  <a:schemeClr val="accent2"/>
                </a:solidFill>
              </a:rPr>
              <a:t>sinds</a:t>
            </a:r>
            <a:endParaRPr lang="en-US" sz="1600" dirty="0"/>
          </a:p>
        </p:txBody>
      </p:sp>
      <p:sp>
        <p:nvSpPr>
          <p:cNvPr id="14" name="Shape 10"/>
          <p:cNvSpPr/>
          <p:nvPr/>
        </p:nvSpPr>
        <p:spPr>
          <a:xfrm>
            <a:off x="8595360" y="2234184"/>
            <a:ext cx="219456" cy="219456"/>
          </a:xfrm>
          <a:prstGeom prst="ellipse">
            <a:avLst/>
          </a:prstGeom>
          <a:solidFill>
            <a:schemeClr val="accent3"/>
          </a:solidFill>
          <a:ln w="12700">
            <a:solidFill>
              <a:srgbClr val="FFFFFF">
                <a:alpha val="0"/>
              </a:srgbClr>
            </a:solidFill>
            <a:prstDash val="solid"/>
          </a:ln>
        </p:spPr>
      </p:sp>
      <p:sp>
        <p:nvSpPr>
          <p:cNvPr id="15" name="Text 11"/>
          <p:cNvSpPr txBox="1"/>
          <p:nvPr/>
        </p:nvSpPr>
        <p:spPr>
          <a:xfrm>
            <a:off x="8887968" y="2417064"/>
            <a:ext cx="1463040" cy="365760"/>
          </a:xfrm>
          <a:prstGeom prst="rect">
            <a:avLst/>
          </a:prstGeom>
          <a:noFill/>
          <a:ln/>
        </p:spPr>
        <p:txBody>
          <a:bodyPr wrap="square" lIns="0" tIns="0" rIns="0" bIns="0" rtlCol="0" anchor="ctr"/>
          <a:lstStyle/>
          <a:p>
            <a:pPr algn="l" indent="0" marL="0">
              <a:buNone/>
            </a:pPr>
            <a:r>
              <a:rPr lang="en-US" sz="1600" b="1" i="1" dirty="0">
                <a:solidFill>
                  <a:schemeClr val="accent3"/>
                </a:solidFill>
              </a:rPr>
              <a:t>al</a:t>
            </a:r>
            <a:endParaRPr lang="en-US" sz="1600" dirty="0"/>
          </a:p>
        </p:txBody>
      </p:sp>
      <p:sp>
        <p:nvSpPr>
          <p:cNvPr id="16" name="Text 12"/>
          <p:cNvSpPr txBox="1"/>
          <p:nvPr/>
        </p:nvSpPr>
        <p:spPr>
          <a:xfrm>
            <a:off x="548640" y="2846832"/>
            <a:ext cx="11091672" cy="3657600"/>
          </a:xfrm>
          <a:prstGeom prst="rect">
            <a:avLst/>
          </a:prstGeom>
          <a:noFill/>
          <a:ln/>
        </p:spPr>
        <p:txBody>
          <a:bodyPr wrap="square" lIns="0" tIns="0" rIns="0" bIns="0" rtlCol="0" anchor="t"/>
          <a:lstStyle/>
          <a:p>
            <a:pPr indent="0" marL="0">
              <a:spcAft>
                <a:spcPts val="1000"/>
              </a:spcAft>
              <a:buNone/>
            </a:pPr>
            <a:r>
              <a:rPr lang="en-US" sz="2100" b="1" dirty="0">
                <a:solidFill>
                  <a:schemeClr val="tx2"/>
                </a:solidFill>
              </a:rPr>
              <a:t>1  </a:t>
            </a:r>
            <a:r>
              <a:rPr lang="en-US" sz="2100" i="1" dirty="0">
                <a:solidFill>
                  <a:schemeClr val="tx1"/>
                </a:solidFill>
              </a:rPr>
              <a:t>Ik werk hier </a:t>
            </a:r>
            <a:r>
              <a:rPr lang="en-US" sz="2100" b="1" i="1" dirty="0">
                <a:solidFill>
                  <a:schemeClr val="accent3"/>
                </a:solidFill>
              </a:rPr>
              <a:t>sinds</a:t>
            </a:r>
            <a:r>
              <a:rPr lang="en-US" sz="2100" i="1" dirty="0">
                <a:solidFill>
                  <a:schemeClr val="tx1"/>
                </a:solidFill>
              </a:rPr>
              <a:t> 2021.</a:t>
            </a:r>
            <a:endParaRPr lang="en-US" sz="2100" dirty="0"/>
          </a:p>
          <a:p>
            <a:pPr indent="0" marL="0">
              <a:spcAft>
                <a:spcPts val="1000"/>
              </a:spcAft>
              <a:buNone/>
            </a:pPr>
            <a:r>
              <a:rPr lang="en-US" sz="2100" b="1" dirty="0">
                <a:solidFill>
                  <a:schemeClr val="tx2"/>
                </a:solidFill>
              </a:rPr>
              <a:t>2  </a:t>
            </a:r>
            <a:r>
              <a:rPr lang="en-US" sz="2100" i="1" dirty="0">
                <a:solidFill>
                  <a:schemeClr val="tx1"/>
                </a:solidFill>
              </a:rPr>
              <a:t>Ik woon </a:t>
            </a:r>
            <a:r>
              <a:rPr lang="en-US" sz="2100" b="1" i="1" dirty="0">
                <a:solidFill>
                  <a:schemeClr val="accent3"/>
                </a:solidFill>
              </a:rPr>
              <a:t>al</a:t>
            </a:r>
            <a:r>
              <a:rPr lang="en-US" sz="2100" i="1" dirty="0">
                <a:solidFill>
                  <a:schemeClr val="tx1"/>
                </a:solidFill>
              </a:rPr>
              <a:t> vijf jaar in Brussel.</a:t>
            </a:r>
            <a:endParaRPr lang="en-US" sz="2100" dirty="0"/>
          </a:p>
          <a:p>
            <a:pPr indent="0" marL="0">
              <a:spcAft>
                <a:spcPts val="1000"/>
              </a:spcAft>
              <a:buNone/>
            </a:pPr>
            <a:r>
              <a:rPr lang="en-US" sz="2100" b="1" dirty="0">
                <a:solidFill>
                  <a:schemeClr val="tx2"/>
                </a:solidFill>
              </a:rPr>
              <a:t>3  </a:t>
            </a:r>
            <a:r>
              <a:rPr lang="en-US" sz="2100" i="1" dirty="0">
                <a:solidFill>
                  <a:schemeClr val="tx1"/>
                </a:solidFill>
              </a:rPr>
              <a:t>Ik ben drie jaar </a:t>
            </a:r>
            <a:r>
              <a:rPr lang="en-US" sz="2100" b="1" i="1" dirty="0">
                <a:solidFill>
                  <a:schemeClr val="accent3"/>
                </a:solidFill>
              </a:rPr>
              <a:t>geleden</a:t>
            </a:r>
            <a:r>
              <a:rPr lang="en-US" sz="2100" i="1" dirty="0">
                <a:solidFill>
                  <a:schemeClr val="tx1"/>
                </a:solidFill>
              </a:rPr>
              <a:t> afgestudeerd.</a:t>
            </a:r>
            <a:endParaRPr lang="en-US" sz="2100" dirty="0"/>
          </a:p>
          <a:p>
            <a:pPr indent="0" marL="0">
              <a:spcAft>
                <a:spcPts val="1000"/>
              </a:spcAft>
              <a:buNone/>
            </a:pPr>
            <a:r>
              <a:rPr lang="en-US" sz="2100" b="1" dirty="0">
                <a:solidFill>
                  <a:schemeClr val="tx2"/>
                </a:solidFill>
              </a:rPr>
              <a:t>4  </a:t>
            </a:r>
            <a:r>
              <a:rPr lang="en-US" sz="2100" i="1" dirty="0">
                <a:solidFill>
                  <a:schemeClr val="tx1"/>
                </a:solidFill>
              </a:rPr>
              <a:t>Lotte is hier </a:t>
            </a:r>
            <a:r>
              <a:rPr lang="en-US" sz="2100" b="1" i="1" dirty="0">
                <a:solidFill>
                  <a:schemeClr val="accent3"/>
                </a:solidFill>
              </a:rPr>
              <a:t>sinds</a:t>
            </a:r>
            <a:r>
              <a:rPr lang="en-US" sz="2100" i="1" dirty="0">
                <a:solidFill>
                  <a:schemeClr val="tx1"/>
                </a:solidFill>
              </a:rPr>
              <a:t> maart stagiaire.</a:t>
            </a:r>
            <a:endParaRPr lang="en-US" sz="2100" dirty="0"/>
          </a:p>
          <a:p>
            <a:pPr indent="0" marL="0">
              <a:spcAft>
                <a:spcPts val="1000"/>
              </a:spcAft>
              <a:buNone/>
            </a:pPr>
            <a:r>
              <a:rPr lang="en-US" sz="2100" b="1" dirty="0">
                <a:solidFill>
                  <a:schemeClr val="tx2"/>
                </a:solidFill>
              </a:rPr>
              <a:t>5  </a:t>
            </a:r>
            <a:r>
              <a:rPr lang="en-US" sz="2100" i="1" dirty="0">
                <a:solidFill>
                  <a:schemeClr val="tx1"/>
                </a:solidFill>
              </a:rPr>
              <a:t>We kennen elkaar </a:t>
            </a:r>
            <a:r>
              <a:rPr lang="en-US" sz="2100" b="1" i="1" dirty="0">
                <a:solidFill>
                  <a:schemeClr val="accent3"/>
                </a:solidFill>
              </a:rPr>
              <a:t>al</a:t>
            </a:r>
            <a:r>
              <a:rPr lang="en-US" sz="2100" i="1" dirty="0">
                <a:solidFill>
                  <a:schemeClr val="tx1"/>
                </a:solidFill>
              </a:rPr>
              <a:t> lang.</a:t>
            </a:r>
            <a:endParaRPr lang="en-US" sz="2100" dirty="0"/>
          </a:p>
          <a:p>
            <a:pPr indent="0" marL="0">
              <a:spcAft>
                <a:spcPts val="1000"/>
              </a:spcAft>
              <a:buNone/>
            </a:pPr>
            <a:r>
              <a:rPr lang="en-US" sz="2100" b="1" dirty="0">
                <a:solidFill>
                  <a:schemeClr val="tx2"/>
                </a:solidFill>
              </a:rPr>
              <a:t>6  </a:t>
            </a:r>
            <a:r>
              <a:rPr lang="en-US" sz="2100" i="1" dirty="0">
                <a:solidFill>
                  <a:schemeClr val="tx1"/>
                </a:solidFill>
              </a:rPr>
              <a:t>Twee maanden </a:t>
            </a:r>
            <a:r>
              <a:rPr lang="en-US" sz="2100" b="1" i="1" dirty="0">
                <a:solidFill>
                  <a:schemeClr val="accent3"/>
                </a:solidFill>
              </a:rPr>
              <a:t>geleden</a:t>
            </a:r>
            <a:r>
              <a:rPr lang="en-US" sz="2100" i="1" dirty="0">
                <a:solidFill>
                  <a:schemeClr val="tx1"/>
                </a:solidFill>
              </a:rPr>
              <a:t> ben ik van werkgever veranderd.</a:t>
            </a:r>
            <a:endParaRPr lang="en-US" sz="2100" dirty="0"/>
          </a:p>
        </p:txBody>
      </p:sp>
      <p:sp>
        <p:nvSpPr>
          <p:cNvPr id="17" name="Text 13"/>
          <p:cNvSpPr txBox="1"/>
          <p:nvPr/>
        </p:nvSpPr>
        <p:spPr>
          <a:xfrm>
            <a:off x="548640" y="5897880"/>
            <a:ext cx="11091672" cy="365760"/>
          </a:xfrm>
          <a:prstGeom prst="rect">
            <a:avLst/>
          </a:prstGeom>
          <a:noFill/>
          <a:ln/>
        </p:spPr>
        <p:txBody>
          <a:bodyPr wrap="square" lIns="0" tIns="0" rIns="0" bIns="0" rtlCol="0" anchor="t"/>
          <a:lstStyle/>
          <a:p>
            <a:pPr algn="ctr" indent="0" marL="0">
              <a:buNone/>
            </a:pPr>
            <a:r>
              <a:rPr lang="en-US" sz="1500" i="1" dirty="0">
                <a:solidFill>
                  <a:schemeClr val="accent5"/>
                </a:solidFill>
              </a:rPr>
              <a:t>N° 2 et 5 : </a:t>
            </a:r>
            <a:r>
              <a:rPr lang="en-US" sz="1500" i="1" dirty="0">
                <a:solidFill>
                  <a:schemeClr val="accent5"/>
                </a:solidFill>
              </a:rPr>
              <a:t>sinds</a:t>
            </a:r>
            <a:r>
              <a:rPr lang="en-US" sz="1500" i="1" dirty="0">
                <a:solidFill>
                  <a:schemeClr val="accent5"/>
                </a:solidFill>
              </a:rPr>
              <a:t> + durée est aussi accepté, surtout en Belgique (</a:t>
            </a:r>
            <a:r>
              <a:rPr lang="en-US" sz="1500" i="1" dirty="0">
                <a:solidFill>
                  <a:schemeClr val="accent5"/>
                </a:solidFill>
              </a:rPr>
              <a:t>sinds jaren</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Le pitch en désordre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Remettez la présentation de Sofie dans l’ordre des 5 étapes. Regardez le temps du verbe !</a:t>
            </a:r>
            <a:endParaRPr lang="en-US" sz="1700" dirty="0"/>
          </a:p>
        </p:txBody>
      </p:sp>
      <p:sp>
        <p:nvSpPr>
          <p:cNvPr id="8" name="Shape 4"/>
          <p:cNvSpPr/>
          <p:nvPr/>
        </p:nvSpPr>
        <p:spPr>
          <a:xfrm rot="-60000">
            <a:off x="548640" y="1987296"/>
            <a:ext cx="11091672" cy="762000"/>
          </a:xfrm>
          <a:prstGeom prst="roundRect">
            <a:avLst>
              <a:gd name="adj" fmla="val 12000"/>
            </a:avLst>
          </a:prstGeom>
          <a:solidFill>
            <a:srgbClr val="FFFFFF"/>
          </a:solidFill>
          <a:ln w="19050">
            <a:solidFill>
              <a:srgbClr val="D9700F"/>
            </a:solidFill>
            <a:prstDash val="solid"/>
          </a:ln>
        </p:spPr>
      </p:sp>
      <p:sp>
        <p:nvSpPr>
          <p:cNvPr id="9" name="Text 5"/>
          <p:cNvSpPr txBox="1"/>
          <p:nvPr/>
        </p:nvSpPr>
        <p:spPr>
          <a:xfrm>
            <a:off x="731520" y="1987296"/>
            <a:ext cx="10771632" cy="762000"/>
          </a:xfrm>
          <a:prstGeom prst="rect">
            <a:avLst/>
          </a:prstGeom>
          <a:noFill/>
          <a:ln/>
        </p:spPr>
        <p:txBody>
          <a:bodyPr wrap="square" lIns="0" tIns="0" rIns="0" bIns="0" rtlCol="0" anchor="ctr"/>
          <a:lstStyle/>
          <a:p>
            <a:pPr algn="l" indent="0" marL="0">
              <a:buNone/>
            </a:pPr>
            <a:r>
              <a:rPr lang="en-US" sz="1700" b="1" dirty="0">
                <a:solidFill>
                  <a:schemeClr val="tx1"/>
                </a:solidFill>
              </a:rPr>
              <a:t>A</a:t>
            </a:r>
            <a:r>
              <a:rPr lang="en-US" sz="1700" dirty="0">
                <a:solidFill>
                  <a:schemeClr val="tx1"/>
                </a:solidFill>
              </a:rPr>
              <a:t>  </a:t>
            </a:r>
            <a:r>
              <a:rPr lang="en-US" sz="1700" i="1" dirty="0">
                <a:solidFill>
                  <a:schemeClr val="tx1"/>
                </a:solidFill>
              </a:rPr>
              <a:t>In mijn vrije tijd fiets ik graag en ik hou van de zee.</a:t>
            </a:r>
            <a:endParaRPr lang="en-US" sz="1700" dirty="0"/>
          </a:p>
        </p:txBody>
      </p:sp>
      <p:sp>
        <p:nvSpPr>
          <p:cNvPr id="10" name="Shape 6"/>
          <p:cNvSpPr/>
          <p:nvPr/>
        </p:nvSpPr>
        <p:spPr>
          <a:xfrm rot="60000">
            <a:off x="548640" y="2859024"/>
            <a:ext cx="11091672" cy="762000"/>
          </a:xfrm>
          <a:prstGeom prst="roundRect">
            <a:avLst>
              <a:gd name="adj" fmla="val 12000"/>
            </a:avLst>
          </a:prstGeom>
          <a:solidFill>
            <a:srgbClr val="FFFFFF"/>
          </a:solidFill>
          <a:ln w="19050">
            <a:solidFill>
              <a:srgbClr val="D9700F"/>
            </a:solidFill>
            <a:prstDash val="solid"/>
          </a:ln>
        </p:spPr>
      </p:sp>
      <p:sp>
        <p:nvSpPr>
          <p:cNvPr id="11" name="Text 7"/>
          <p:cNvSpPr txBox="1"/>
          <p:nvPr/>
        </p:nvSpPr>
        <p:spPr>
          <a:xfrm>
            <a:off x="731520" y="2859024"/>
            <a:ext cx="10771632" cy="762000"/>
          </a:xfrm>
          <a:prstGeom prst="rect">
            <a:avLst/>
          </a:prstGeom>
          <a:noFill/>
          <a:ln/>
        </p:spPr>
        <p:txBody>
          <a:bodyPr wrap="square" lIns="0" tIns="0" rIns="0" bIns="0" rtlCol="0" anchor="ctr"/>
          <a:lstStyle/>
          <a:p>
            <a:pPr algn="l" indent="0" marL="0">
              <a:buNone/>
            </a:pPr>
            <a:r>
              <a:rPr lang="en-US" sz="1700" b="1" dirty="0">
                <a:solidFill>
                  <a:schemeClr val="tx1"/>
                </a:solidFill>
              </a:rPr>
              <a:t>B</a:t>
            </a:r>
            <a:r>
              <a:rPr lang="en-US" sz="1700" dirty="0">
                <a:solidFill>
                  <a:schemeClr val="tx1"/>
                </a:solidFill>
              </a:rPr>
              <a:t>  </a:t>
            </a:r>
            <a:r>
              <a:rPr lang="en-US" sz="1700" i="1" dirty="0">
                <a:solidFill>
                  <a:schemeClr val="tx1"/>
                </a:solidFill>
              </a:rPr>
              <a:t>Ik ben Sofie Peeters en ik kom uit Gent.</a:t>
            </a:r>
            <a:endParaRPr lang="en-US" sz="1700" dirty="0"/>
          </a:p>
        </p:txBody>
      </p:sp>
      <p:sp>
        <p:nvSpPr>
          <p:cNvPr id="12" name="Shape 8"/>
          <p:cNvSpPr/>
          <p:nvPr/>
        </p:nvSpPr>
        <p:spPr>
          <a:xfrm>
            <a:off x="548640" y="3730752"/>
            <a:ext cx="11091672" cy="762000"/>
          </a:xfrm>
          <a:prstGeom prst="roundRect">
            <a:avLst>
              <a:gd name="adj" fmla="val 12000"/>
            </a:avLst>
          </a:prstGeom>
          <a:solidFill>
            <a:srgbClr val="FFFFFF"/>
          </a:solidFill>
          <a:ln w="19050">
            <a:solidFill>
              <a:srgbClr val="D9700F"/>
            </a:solidFill>
            <a:prstDash val="solid"/>
          </a:ln>
        </p:spPr>
      </p:sp>
      <p:sp>
        <p:nvSpPr>
          <p:cNvPr id="13" name="Text 9"/>
          <p:cNvSpPr txBox="1"/>
          <p:nvPr/>
        </p:nvSpPr>
        <p:spPr>
          <a:xfrm>
            <a:off x="731520" y="3730752"/>
            <a:ext cx="10771632" cy="762000"/>
          </a:xfrm>
          <a:prstGeom prst="rect">
            <a:avLst/>
          </a:prstGeom>
          <a:noFill/>
          <a:ln/>
        </p:spPr>
        <p:txBody>
          <a:bodyPr wrap="square" lIns="0" tIns="0" rIns="0" bIns="0" rtlCol="0" anchor="ctr"/>
          <a:lstStyle/>
          <a:p>
            <a:pPr algn="l" indent="0" marL="0">
              <a:buNone/>
            </a:pPr>
            <a:r>
              <a:rPr lang="en-US" sz="1700" b="1" dirty="0">
                <a:solidFill>
                  <a:schemeClr val="tx1"/>
                </a:solidFill>
              </a:rPr>
              <a:t>C</a:t>
            </a:r>
            <a:r>
              <a:rPr lang="en-US" sz="1700" dirty="0">
                <a:solidFill>
                  <a:schemeClr val="tx1"/>
                </a:solidFill>
              </a:rPr>
              <a:t>  </a:t>
            </a:r>
            <a:r>
              <a:rPr lang="en-US" sz="1700" i="1" dirty="0">
                <a:solidFill>
                  <a:schemeClr val="tx1"/>
                </a:solidFill>
              </a:rPr>
              <a:t>Volgend jaar wil ik graag een opleiding coaching volgen.</a:t>
            </a:r>
            <a:endParaRPr lang="en-US" sz="1700" dirty="0"/>
          </a:p>
        </p:txBody>
      </p:sp>
      <p:sp>
        <p:nvSpPr>
          <p:cNvPr id="14" name="Shape 10"/>
          <p:cNvSpPr/>
          <p:nvPr/>
        </p:nvSpPr>
        <p:spPr>
          <a:xfrm rot="-60000">
            <a:off x="548640" y="4602480"/>
            <a:ext cx="11091672" cy="762000"/>
          </a:xfrm>
          <a:prstGeom prst="roundRect">
            <a:avLst>
              <a:gd name="adj" fmla="val 12000"/>
            </a:avLst>
          </a:prstGeom>
          <a:solidFill>
            <a:srgbClr val="FFFFFF"/>
          </a:solidFill>
          <a:ln w="19050">
            <a:solidFill>
              <a:srgbClr val="D9700F"/>
            </a:solidFill>
            <a:prstDash val="solid"/>
          </a:ln>
        </p:spPr>
      </p:sp>
      <p:sp>
        <p:nvSpPr>
          <p:cNvPr id="15" name="Text 11"/>
          <p:cNvSpPr txBox="1"/>
          <p:nvPr/>
        </p:nvSpPr>
        <p:spPr>
          <a:xfrm>
            <a:off x="731520" y="4602480"/>
            <a:ext cx="10771632" cy="762000"/>
          </a:xfrm>
          <a:prstGeom prst="rect">
            <a:avLst/>
          </a:prstGeom>
          <a:noFill/>
          <a:ln/>
        </p:spPr>
        <p:txBody>
          <a:bodyPr wrap="square" lIns="0" tIns="0" rIns="0" bIns="0" rtlCol="0" anchor="ctr"/>
          <a:lstStyle/>
          <a:p>
            <a:pPr algn="l" indent="0" marL="0">
              <a:buNone/>
            </a:pPr>
            <a:r>
              <a:rPr lang="en-US" sz="1700" b="1" dirty="0">
                <a:solidFill>
                  <a:schemeClr val="tx1"/>
                </a:solidFill>
              </a:rPr>
              <a:t>D</a:t>
            </a:r>
            <a:r>
              <a:rPr lang="en-US" sz="1700" dirty="0">
                <a:solidFill>
                  <a:schemeClr val="tx1"/>
                </a:solidFill>
              </a:rPr>
              <a:t>  </a:t>
            </a:r>
            <a:r>
              <a:rPr lang="en-US" sz="1700" i="1" dirty="0">
                <a:solidFill>
                  <a:schemeClr val="tx1"/>
                </a:solidFill>
              </a:rPr>
              <a:t>Ik werk bij de personeelsdienst van Peeters &amp; Co: ik zorg voor de aanwerving van nieuwe collega’s.</a:t>
            </a:r>
            <a:endParaRPr lang="en-US" sz="1700" dirty="0"/>
          </a:p>
        </p:txBody>
      </p:sp>
      <p:sp>
        <p:nvSpPr>
          <p:cNvPr id="16" name="Shape 12"/>
          <p:cNvSpPr/>
          <p:nvPr/>
        </p:nvSpPr>
        <p:spPr>
          <a:xfrm rot="60000">
            <a:off x="548640" y="5474208"/>
            <a:ext cx="11091672" cy="762000"/>
          </a:xfrm>
          <a:prstGeom prst="roundRect">
            <a:avLst>
              <a:gd name="adj" fmla="val 12000"/>
            </a:avLst>
          </a:prstGeom>
          <a:solidFill>
            <a:srgbClr val="FFFFFF"/>
          </a:solidFill>
          <a:ln w="19050">
            <a:solidFill>
              <a:srgbClr val="D9700F"/>
            </a:solidFill>
            <a:prstDash val="solid"/>
          </a:ln>
        </p:spPr>
      </p:sp>
      <p:sp>
        <p:nvSpPr>
          <p:cNvPr id="17" name="Text 13"/>
          <p:cNvSpPr txBox="1"/>
          <p:nvPr/>
        </p:nvSpPr>
        <p:spPr>
          <a:xfrm>
            <a:off x="731520" y="5474208"/>
            <a:ext cx="10771632" cy="762000"/>
          </a:xfrm>
          <a:prstGeom prst="rect">
            <a:avLst/>
          </a:prstGeom>
          <a:noFill/>
          <a:ln/>
        </p:spPr>
        <p:txBody>
          <a:bodyPr wrap="square" lIns="0" tIns="0" rIns="0" bIns="0" rtlCol="0" anchor="ctr"/>
          <a:lstStyle/>
          <a:p>
            <a:pPr algn="l" indent="0" marL="0">
              <a:buNone/>
            </a:pPr>
            <a:r>
              <a:rPr lang="en-US" sz="1700" b="1" dirty="0">
                <a:solidFill>
                  <a:schemeClr val="tx1"/>
                </a:solidFill>
              </a:rPr>
              <a:t>E</a:t>
            </a:r>
            <a:r>
              <a:rPr lang="en-US" sz="1700" dirty="0">
                <a:solidFill>
                  <a:schemeClr val="tx1"/>
                </a:solidFill>
              </a:rPr>
              <a:t>  </a:t>
            </a:r>
            <a:r>
              <a:rPr lang="en-US" sz="1700" i="1" dirty="0">
                <a:solidFill>
                  <a:schemeClr val="tx1"/>
                </a:solidFill>
              </a:rPr>
              <a:t>Ik heb psychologie gestudeerd en daarna werkte ik zes jaar bij een interimkantoor.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Le pitch en désordre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Remettez la présentation de Sofie dans l’ordre des 5 étapes. Regardez le temps du verbe !</a:t>
            </a:r>
            <a:endParaRPr lang="en-US" sz="1700" dirty="0"/>
          </a:p>
        </p:txBody>
      </p:sp>
      <p:sp>
        <p:nvSpPr>
          <p:cNvPr id="9" name="Shape 5"/>
          <p:cNvSpPr/>
          <p:nvPr/>
        </p:nvSpPr>
        <p:spPr>
          <a:xfrm>
            <a:off x="548640" y="2148840"/>
            <a:ext cx="438912" cy="438912"/>
          </a:xfrm>
          <a:prstGeom prst="ellipse">
            <a:avLst/>
          </a:prstGeom>
          <a:solidFill>
            <a:schemeClr val="accent2"/>
          </a:solidFill>
          <a:ln w="12700">
            <a:solidFill>
              <a:srgbClr val="FFFFFF">
                <a:alpha val="0"/>
              </a:srgbClr>
            </a:solidFill>
            <a:prstDash val="solid"/>
          </a:ln>
        </p:spPr>
      </p:sp>
      <p:sp>
        <p:nvSpPr>
          <p:cNvPr id="10" name="Text 6"/>
          <p:cNvSpPr txBox="1"/>
          <p:nvPr/>
        </p:nvSpPr>
        <p:spPr>
          <a:xfrm>
            <a:off x="548640" y="21488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1" name="Text 7"/>
          <p:cNvSpPr txBox="1"/>
          <p:nvPr/>
        </p:nvSpPr>
        <p:spPr>
          <a:xfrm>
            <a:off x="1097280" y="1932432"/>
            <a:ext cx="2286000" cy="871728"/>
          </a:xfrm>
          <a:prstGeom prst="rect">
            <a:avLst/>
          </a:prstGeom>
          <a:noFill/>
          <a:ln/>
        </p:spPr>
        <p:txBody>
          <a:bodyPr wrap="square" lIns="0" tIns="0" rIns="0" bIns="0" rtlCol="0" anchor="ctr"/>
          <a:lstStyle/>
          <a:p>
            <a:pPr algn="l" indent="0" marL="0">
              <a:buNone/>
            </a:pPr>
            <a:r>
              <a:rPr lang="en-US" sz="1400" b="1" i="1" dirty="0">
                <a:solidFill>
                  <a:schemeClr val="accent2"/>
                </a:solidFill>
              </a:rPr>
              <a:t>Wie ben ik?</a:t>
            </a:r>
            <a:endParaRPr lang="en-US" sz="1400" dirty="0"/>
          </a:p>
        </p:txBody>
      </p:sp>
      <p:sp>
        <p:nvSpPr>
          <p:cNvPr id="12" name="Shape 8"/>
          <p:cNvSpPr/>
          <p:nvPr/>
        </p:nvSpPr>
        <p:spPr>
          <a:xfrm>
            <a:off x="3429000" y="1987296"/>
            <a:ext cx="8211312" cy="762000"/>
          </a:xfrm>
          <a:prstGeom prst="roundRect">
            <a:avLst>
              <a:gd name="adj" fmla="val 12000"/>
            </a:avLst>
          </a:prstGeom>
          <a:solidFill>
            <a:srgbClr val="EDF6F0"/>
          </a:solidFill>
          <a:ln w="19050">
            <a:solidFill>
              <a:srgbClr val="2E7D4F"/>
            </a:solidFill>
            <a:prstDash val="solid"/>
          </a:ln>
        </p:spPr>
      </p:sp>
      <p:sp>
        <p:nvSpPr>
          <p:cNvPr id="13" name="Text 9"/>
          <p:cNvSpPr txBox="1"/>
          <p:nvPr/>
        </p:nvSpPr>
        <p:spPr>
          <a:xfrm>
            <a:off x="3611880" y="1987296"/>
            <a:ext cx="7891272" cy="762000"/>
          </a:xfrm>
          <a:prstGeom prst="rect">
            <a:avLst/>
          </a:prstGeom>
          <a:noFill/>
          <a:ln/>
        </p:spPr>
        <p:txBody>
          <a:bodyPr wrap="square" lIns="0" tIns="0" rIns="0" bIns="0" rtlCol="0" anchor="ctr"/>
          <a:lstStyle/>
          <a:p>
            <a:pPr algn="l" indent="0" marL="0">
              <a:buNone/>
            </a:pPr>
            <a:r>
              <a:rPr lang="en-US" sz="1700" b="1" dirty="0">
                <a:solidFill>
                  <a:schemeClr val="tx1"/>
                </a:solidFill>
              </a:rPr>
              <a:t>B</a:t>
            </a:r>
            <a:r>
              <a:rPr lang="en-US" sz="1700" dirty="0">
                <a:solidFill>
                  <a:schemeClr val="tx1"/>
                </a:solidFill>
              </a:rPr>
              <a:t>  </a:t>
            </a:r>
            <a:r>
              <a:rPr lang="en-US" sz="1700" i="1" dirty="0">
                <a:solidFill>
                  <a:schemeClr val="tx1"/>
                </a:solidFill>
              </a:rPr>
              <a:t>Ik ben Sofie Peeters en ik kom uit Gent.</a:t>
            </a:r>
            <a:endParaRPr lang="en-US" sz="1700" dirty="0"/>
          </a:p>
        </p:txBody>
      </p:sp>
      <p:sp>
        <p:nvSpPr>
          <p:cNvPr id="14" name="Shape 10"/>
          <p:cNvSpPr/>
          <p:nvPr/>
        </p:nvSpPr>
        <p:spPr>
          <a:xfrm>
            <a:off x="548640" y="3020568"/>
            <a:ext cx="438912" cy="438912"/>
          </a:xfrm>
          <a:prstGeom prst="ellipse">
            <a:avLst/>
          </a:prstGeom>
          <a:solidFill>
            <a:schemeClr val="accent2"/>
          </a:solidFill>
          <a:ln w="12700">
            <a:solidFill>
              <a:srgbClr val="FFFFFF">
                <a:alpha val="0"/>
              </a:srgbClr>
            </a:solidFill>
            <a:prstDash val="solid"/>
          </a:ln>
        </p:spPr>
      </p:sp>
      <p:sp>
        <p:nvSpPr>
          <p:cNvPr id="15" name="Text 11"/>
          <p:cNvSpPr txBox="1"/>
          <p:nvPr/>
        </p:nvSpPr>
        <p:spPr>
          <a:xfrm>
            <a:off x="548640" y="3020568"/>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6" name="Text 12"/>
          <p:cNvSpPr txBox="1"/>
          <p:nvPr/>
        </p:nvSpPr>
        <p:spPr>
          <a:xfrm>
            <a:off x="1097280" y="2804160"/>
            <a:ext cx="2286000" cy="871728"/>
          </a:xfrm>
          <a:prstGeom prst="rect">
            <a:avLst/>
          </a:prstGeom>
          <a:noFill/>
          <a:ln/>
        </p:spPr>
        <p:txBody>
          <a:bodyPr wrap="square" lIns="0" tIns="0" rIns="0" bIns="0" rtlCol="0" anchor="ctr"/>
          <a:lstStyle/>
          <a:p>
            <a:pPr algn="l" indent="0" marL="0">
              <a:buNone/>
            </a:pPr>
            <a:r>
              <a:rPr lang="en-US" sz="1400" b="1" i="1" dirty="0">
                <a:solidFill>
                  <a:schemeClr val="accent2"/>
                </a:solidFill>
              </a:rPr>
              <a:t>Wat doe ik?</a:t>
            </a:r>
            <a:endParaRPr lang="en-US" sz="1400" dirty="0"/>
          </a:p>
        </p:txBody>
      </p:sp>
      <p:sp>
        <p:nvSpPr>
          <p:cNvPr id="17" name="Shape 13"/>
          <p:cNvSpPr/>
          <p:nvPr/>
        </p:nvSpPr>
        <p:spPr>
          <a:xfrm>
            <a:off x="3429000" y="2859024"/>
            <a:ext cx="8211312" cy="762000"/>
          </a:xfrm>
          <a:prstGeom prst="roundRect">
            <a:avLst>
              <a:gd name="adj" fmla="val 12000"/>
            </a:avLst>
          </a:prstGeom>
          <a:solidFill>
            <a:srgbClr val="EDF6F0"/>
          </a:solidFill>
          <a:ln w="19050">
            <a:solidFill>
              <a:srgbClr val="2E7D4F"/>
            </a:solidFill>
            <a:prstDash val="solid"/>
          </a:ln>
        </p:spPr>
      </p:sp>
      <p:sp>
        <p:nvSpPr>
          <p:cNvPr id="18" name="Text 14"/>
          <p:cNvSpPr txBox="1"/>
          <p:nvPr/>
        </p:nvSpPr>
        <p:spPr>
          <a:xfrm>
            <a:off x="3611880" y="2859024"/>
            <a:ext cx="7891272" cy="762000"/>
          </a:xfrm>
          <a:prstGeom prst="rect">
            <a:avLst/>
          </a:prstGeom>
          <a:noFill/>
          <a:ln/>
        </p:spPr>
        <p:txBody>
          <a:bodyPr wrap="square" lIns="0" tIns="0" rIns="0" bIns="0" rtlCol="0" anchor="ctr"/>
          <a:lstStyle/>
          <a:p>
            <a:pPr algn="l" indent="0" marL="0">
              <a:buNone/>
            </a:pPr>
            <a:r>
              <a:rPr lang="en-US" sz="1700" b="1" dirty="0">
                <a:solidFill>
                  <a:schemeClr val="tx1"/>
                </a:solidFill>
              </a:rPr>
              <a:t>D</a:t>
            </a:r>
            <a:r>
              <a:rPr lang="en-US" sz="1700" dirty="0">
                <a:solidFill>
                  <a:schemeClr val="tx1"/>
                </a:solidFill>
              </a:rPr>
              <a:t>  </a:t>
            </a:r>
            <a:r>
              <a:rPr lang="en-US" sz="1700" i="1" dirty="0">
                <a:solidFill>
                  <a:schemeClr val="tx1"/>
                </a:solidFill>
              </a:rPr>
              <a:t>Ik werk bij de personeelsdienst van Peeters &amp; Co: ik zorg voor de aanwerving van nieuwe collega’s.</a:t>
            </a:r>
            <a:endParaRPr lang="en-US" sz="1700" dirty="0"/>
          </a:p>
        </p:txBody>
      </p:sp>
      <p:sp>
        <p:nvSpPr>
          <p:cNvPr id="19" name="Shape 15"/>
          <p:cNvSpPr/>
          <p:nvPr/>
        </p:nvSpPr>
        <p:spPr>
          <a:xfrm>
            <a:off x="548640" y="3892296"/>
            <a:ext cx="438912" cy="438912"/>
          </a:xfrm>
          <a:prstGeom prst="ellipse">
            <a:avLst/>
          </a:prstGeom>
          <a:solidFill>
            <a:schemeClr val="accent4"/>
          </a:solidFill>
          <a:ln w="12700">
            <a:solidFill>
              <a:srgbClr val="FFFFFF">
                <a:alpha val="0"/>
              </a:srgbClr>
            </a:solidFill>
            <a:prstDash val="solid"/>
          </a:ln>
        </p:spPr>
      </p:sp>
      <p:sp>
        <p:nvSpPr>
          <p:cNvPr id="20" name="Text 16"/>
          <p:cNvSpPr txBox="1"/>
          <p:nvPr/>
        </p:nvSpPr>
        <p:spPr>
          <a:xfrm>
            <a:off x="548640" y="3892296"/>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 17"/>
          <p:cNvSpPr txBox="1"/>
          <p:nvPr/>
        </p:nvSpPr>
        <p:spPr>
          <a:xfrm>
            <a:off x="1097280" y="3675888"/>
            <a:ext cx="2286000" cy="871728"/>
          </a:xfrm>
          <a:prstGeom prst="rect">
            <a:avLst/>
          </a:prstGeom>
          <a:noFill/>
          <a:ln/>
        </p:spPr>
        <p:txBody>
          <a:bodyPr wrap="square" lIns="0" tIns="0" rIns="0" bIns="0" rtlCol="0" anchor="ctr"/>
          <a:lstStyle/>
          <a:p>
            <a:pPr algn="l" indent="0" marL="0">
              <a:buNone/>
            </a:pPr>
            <a:r>
              <a:rPr lang="en-US" sz="1400" b="1" i="1" dirty="0">
                <a:solidFill>
                  <a:schemeClr val="accent4"/>
                </a:solidFill>
              </a:rPr>
              <a:t>Wat heb ik gedaan?</a:t>
            </a:r>
            <a:endParaRPr lang="en-US" sz="1400" dirty="0"/>
          </a:p>
        </p:txBody>
      </p:sp>
      <p:sp>
        <p:nvSpPr>
          <p:cNvPr id="22" name="Shape 18"/>
          <p:cNvSpPr/>
          <p:nvPr/>
        </p:nvSpPr>
        <p:spPr>
          <a:xfrm>
            <a:off x="3429000" y="3730752"/>
            <a:ext cx="8211312" cy="762000"/>
          </a:xfrm>
          <a:prstGeom prst="roundRect">
            <a:avLst>
              <a:gd name="adj" fmla="val 12000"/>
            </a:avLst>
          </a:prstGeom>
          <a:solidFill>
            <a:srgbClr val="EDF6F0"/>
          </a:solidFill>
          <a:ln w="19050">
            <a:solidFill>
              <a:srgbClr val="2E7D4F"/>
            </a:solidFill>
            <a:prstDash val="solid"/>
          </a:ln>
        </p:spPr>
      </p:sp>
      <p:sp>
        <p:nvSpPr>
          <p:cNvPr id="23" name="Text 19"/>
          <p:cNvSpPr txBox="1"/>
          <p:nvPr/>
        </p:nvSpPr>
        <p:spPr>
          <a:xfrm>
            <a:off x="3611880" y="3730752"/>
            <a:ext cx="7891272" cy="762000"/>
          </a:xfrm>
          <a:prstGeom prst="rect">
            <a:avLst/>
          </a:prstGeom>
          <a:noFill/>
          <a:ln/>
        </p:spPr>
        <p:txBody>
          <a:bodyPr wrap="square" lIns="0" tIns="0" rIns="0" bIns="0" rtlCol="0" anchor="ctr"/>
          <a:lstStyle/>
          <a:p>
            <a:pPr algn="l" indent="0" marL="0">
              <a:buNone/>
            </a:pPr>
            <a:r>
              <a:rPr lang="en-US" sz="1700" b="1" dirty="0">
                <a:solidFill>
                  <a:schemeClr val="tx1"/>
                </a:solidFill>
              </a:rPr>
              <a:t>E</a:t>
            </a:r>
            <a:r>
              <a:rPr lang="en-US" sz="1700" dirty="0">
                <a:solidFill>
                  <a:schemeClr val="tx1"/>
                </a:solidFill>
              </a:rPr>
              <a:t>  </a:t>
            </a:r>
            <a:r>
              <a:rPr lang="en-US" sz="1700" i="1" dirty="0">
                <a:solidFill>
                  <a:schemeClr val="tx1"/>
                </a:solidFill>
              </a:rPr>
              <a:t>Ik heb psychologie gestudeerd en daarna werkte ik zes jaar bij een interimkantoor.</a:t>
            </a:r>
            <a:endParaRPr lang="en-US" sz="1700" dirty="0"/>
          </a:p>
        </p:txBody>
      </p:sp>
      <p:sp>
        <p:nvSpPr>
          <p:cNvPr id="24" name="Shape 20"/>
          <p:cNvSpPr/>
          <p:nvPr/>
        </p:nvSpPr>
        <p:spPr>
          <a:xfrm>
            <a:off x="548640" y="4764024"/>
            <a:ext cx="438912" cy="438912"/>
          </a:xfrm>
          <a:prstGeom prst="ellipse">
            <a:avLst/>
          </a:prstGeom>
          <a:solidFill>
            <a:schemeClr val="accent3"/>
          </a:solidFill>
          <a:ln w="12700">
            <a:solidFill>
              <a:srgbClr val="FFFFFF">
                <a:alpha val="0"/>
              </a:srgbClr>
            </a:solidFill>
            <a:prstDash val="solid"/>
          </a:ln>
        </p:spPr>
      </p:sp>
      <p:sp>
        <p:nvSpPr>
          <p:cNvPr id="25" name="Text 21"/>
          <p:cNvSpPr txBox="1"/>
          <p:nvPr/>
        </p:nvSpPr>
        <p:spPr>
          <a:xfrm>
            <a:off x="548640" y="476402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6" name="Text 22"/>
          <p:cNvSpPr txBox="1"/>
          <p:nvPr/>
        </p:nvSpPr>
        <p:spPr>
          <a:xfrm>
            <a:off x="1097280" y="4547616"/>
            <a:ext cx="2286000" cy="871728"/>
          </a:xfrm>
          <a:prstGeom prst="rect">
            <a:avLst/>
          </a:prstGeom>
          <a:noFill/>
          <a:ln/>
        </p:spPr>
        <p:txBody>
          <a:bodyPr wrap="square" lIns="0" tIns="0" rIns="0" bIns="0" rtlCol="0" anchor="ctr"/>
          <a:lstStyle/>
          <a:p>
            <a:pPr algn="l" indent="0" marL="0">
              <a:buNone/>
            </a:pPr>
            <a:r>
              <a:rPr lang="en-US" sz="1400" b="1" i="1" dirty="0">
                <a:solidFill>
                  <a:schemeClr val="accent3"/>
                </a:solidFill>
              </a:rPr>
              <a:t>Wat wil ik?</a:t>
            </a:r>
            <a:endParaRPr lang="en-US" sz="1400" dirty="0"/>
          </a:p>
        </p:txBody>
      </p:sp>
      <p:sp>
        <p:nvSpPr>
          <p:cNvPr id="27" name="Shape 23"/>
          <p:cNvSpPr/>
          <p:nvPr/>
        </p:nvSpPr>
        <p:spPr>
          <a:xfrm>
            <a:off x="3429000" y="4602480"/>
            <a:ext cx="8211312" cy="762000"/>
          </a:xfrm>
          <a:prstGeom prst="roundRect">
            <a:avLst>
              <a:gd name="adj" fmla="val 12000"/>
            </a:avLst>
          </a:prstGeom>
          <a:solidFill>
            <a:srgbClr val="EDF6F0"/>
          </a:solidFill>
          <a:ln w="19050">
            <a:solidFill>
              <a:srgbClr val="2E7D4F"/>
            </a:solidFill>
            <a:prstDash val="solid"/>
          </a:ln>
        </p:spPr>
      </p:sp>
      <p:sp>
        <p:nvSpPr>
          <p:cNvPr id="28" name="Text 24"/>
          <p:cNvSpPr txBox="1"/>
          <p:nvPr/>
        </p:nvSpPr>
        <p:spPr>
          <a:xfrm>
            <a:off x="3611880" y="4602480"/>
            <a:ext cx="7891272" cy="762000"/>
          </a:xfrm>
          <a:prstGeom prst="rect">
            <a:avLst/>
          </a:prstGeom>
          <a:noFill/>
          <a:ln/>
        </p:spPr>
        <p:txBody>
          <a:bodyPr wrap="square" lIns="0" tIns="0" rIns="0" bIns="0" rtlCol="0" anchor="ctr"/>
          <a:lstStyle/>
          <a:p>
            <a:pPr algn="l" indent="0" marL="0">
              <a:buNone/>
            </a:pPr>
            <a:r>
              <a:rPr lang="en-US" sz="1700" b="1" dirty="0">
                <a:solidFill>
                  <a:schemeClr val="tx1"/>
                </a:solidFill>
              </a:rPr>
              <a:t>C</a:t>
            </a:r>
            <a:r>
              <a:rPr lang="en-US" sz="1700" dirty="0">
                <a:solidFill>
                  <a:schemeClr val="tx1"/>
                </a:solidFill>
              </a:rPr>
              <a:t>  </a:t>
            </a:r>
            <a:r>
              <a:rPr lang="en-US" sz="1700" i="1" dirty="0">
                <a:solidFill>
                  <a:schemeClr val="tx1"/>
                </a:solidFill>
              </a:rPr>
              <a:t>Volgend jaar wil ik graag een opleiding coaching volgen.</a:t>
            </a:r>
            <a:endParaRPr lang="en-US" sz="1700" dirty="0"/>
          </a:p>
        </p:txBody>
      </p:sp>
      <p:sp>
        <p:nvSpPr>
          <p:cNvPr id="29" name="Shape 25"/>
          <p:cNvSpPr/>
          <p:nvPr/>
        </p:nvSpPr>
        <p:spPr>
          <a:xfrm>
            <a:off x="548640" y="5635752"/>
            <a:ext cx="438912" cy="438912"/>
          </a:xfrm>
          <a:prstGeom prst="ellipse">
            <a:avLst/>
          </a:prstGeom>
          <a:solidFill>
            <a:schemeClr val="accent5"/>
          </a:solidFill>
          <a:ln w="12700">
            <a:solidFill>
              <a:srgbClr val="FFFFFF">
                <a:alpha val="0"/>
              </a:srgbClr>
            </a:solidFill>
            <a:prstDash val="solid"/>
          </a:ln>
        </p:spPr>
      </p:sp>
      <p:sp>
        <p:nvSpPr>
          <p:cNvPr id="30" name="Text 26"/>
          <p:cNvSpPr txBox="1"/>
          <p:nvPr/>
        </p:nvSpPr>
        <p:spPr>
          <a:xfrm>
            <a:off x="548640" y="563575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1" name="Text 27"/>
          <p:cNvSpPr txBox="1"/>
          <p:nvPr/>
        </p:nvSpPr>
        <p:spPr>
          <a:xfrm>
            <a:off x="1097280" y="5419344"/>
            <a:ext cx="2286000" cy="871728"/>
          </a:xfrm>
          <a:prstGeom prst="rect">
            <a:avLst/>
          </a:prstGeom>
          <a:noFill/>
          <a:ln/>
        </p:spPr>
        <p:txBody>
          <a:bodyPr wrap="square" lIns="0" tIns="0" rIns="0" bIns="0" rtlCol="0" anchor="ctr"/>
          <a:lstStyle/>
          <a:p>
            <a:pPr algn="l" indent="0" marL="0">
              <a:buNone/>
            </a:pPr>
            <a:r>
              <a:rPr lang="en-US" sz="1400" b="1" i="1" dirty="0">
                <a:solidFill>
                  <a:schemeClr val="accent5"/>
                </a:solidFill>
              </a:rPr>
              <a:t>En privé?</a:t>
            </a:r>
            <a:endParaRPr lang="en-US" sz="1400" dirty="0"/>
          </a:p>
        </p:txBody>
      </p:sp>
      <p:sp>
        <p:nvSpPr>
          <p:cNvPr id="32" name="Shape 28"/>
          <p:cNvSpPr/>
          <p:nvPr/>
        </p:nvSpPr>
        <p:spPr>
          <a:xfrm>
            <a:off x="3429000" y="5474208"/>
            <a:ext cx="8211312" cy="762000"/>
          </a:xfrm>
          <a:prstGeom prst="roundRect">
            <a:avLst>
              <a:gd name="adj" fmla="val 12000"/>
            </a:avLst>
          </a:prstGeom>
          <a:solidFill>
            <a:srgbClr val="EDF6F0"/>
          </a:solidFill>
          <a:ln w="19050">
            <a:solidFill>
              <a:srgbClr val="2E7D4F"/>
            </a:solidFill>
            <a:prstDash val="solid"/>
          </a:ln>
        </p:spPr>
      </p:sp>
      <p:sp>
        <p:nvSpPr>
          <p:cNvPr id="33" name="Text 29"/>
          <p:cNvSpPr txBox="1"/>
          <p:nvPr/>
        </p:nvSpPr>
        <p:spPr>
          <a:xfrm>
            <a:off x="3611880" y="5474208"/>
            <a:ext cx="7891272" cy="762000"/>
          </a:xfrm>
          <a:prstGeom prst="rect">
            <a:avLst/>
          </a:prstGeom>
          <a:noFill/>
          <a:ln/>
        </p:spPr>
        <p:txBody>
          <a:bodyPr wrap="square" lIns="0" tIns="0" rIns="0" bIns="0" rtlCol="0" anchor="ctr"/>
          <a:lstStyle/>
          <a:p>
            <a:pPr algn="l" indent="0" marL="0">
              <a:buNone/>
            </a:pPr>
            <a:r>
              <a:rPr lang="en-US" sz="1700" b="1" dirty="0">
                <a:solidFill>
                  <a:schemeClr val="tx1"/>
                </a:solidFill>
              </a:rPr>
              <a:t>A</a:t>
            </a:r>
            <a:r>
              <a:rPr lang="en-US" sz="1700" dirty="0">
                <a:solidFill>
                  <a:schemeClr val="tx1"/>
                </a:solidFill>
              </a:rPr>
              <a:t>  </a:t>
            </a:r>
            <a:r>
              <a:rPr lang="en-US" sz="1700" i="1" dirty="0">
                <a:solidFill>
                  <a:schemeClr val="tx1"/>
                </a:solidFill>
              </a:rPr>
              <a:t>In mijn vrije tijd fiets ik graag en ik hou van de zee.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Lotte se présente sur l’intranet. Trouvez les 5 erreurs.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Intranet Peeters &amp; Co · Over mij · Lotte Claes</a:t>
            </a:r>
            <a:endParaRPr lang="en-US" sz="1300" dirty="0"/>
          </a:p>
        </p:txBody>
      </p:sp>
      <p:sp>
        <p:nvSpPr>
          <p:cNvPr id="11" name="Text 7"/>
          <p:cNvSpPr txBox="1"/>
          <p:nvPr/>
        </p:nvSpPr>
        <p:spPr>
          <a:xfrm>
            <a:off x="868680" y="2572512"/>
            <a:ext cx="7589520" cy="3535680"/>
          </a:xfrm>
          <a:prstGeom prst="rect">
            <a:avLst/>
          </a:prstGeom>
          <a:noFill/>
          <a:ln/>
        </p:spPr>
        <p:txBody>
          <a:bodyPr wrap="square" lIns="0" tIns="0" rIns="0" bIns="0" rtlCol="0" anchor="t"/>
          <a:lstStyle/>
          <a:p>
            <a:pPr algn="l" indent="0" marL="0">
              <a:lnSpc>
                <a:spcPct val="120000"/>
              </a:lnSpc>
              <a:buNone/>
            </a:pPr>
            <a:r>
              <a:rPr lang="en-US" sz="1900" i="1" dirty="0">
                <a:solidFill>
                  <a:schemeClr val="tx1"/>
                </a:solidFill>
              </a:rPr>
              <a:t>Hallo! Ik ben Lotte Claes en </a:t>
            </a:r>
            <a:r>
              <a:rPr lang="en-US" sz="1900" i="1" dirty="0">
                <a:solidFill>
                  <a:schemeClr val="tx1"/>
                </a:solidFill>
              </a:rPr>
              <a:t>ik heb 24 jaar</a:t>
            </a:r>
            <a:r>
              <a:rPr lang="en-US" sz="1900" i="1" dirty="0">
                <a:solidFill>
                  <a:schemeClr val="tx1"/>
                </a:solidFill>
              </a:rPr>
              <a:t>. Ik ben </a:t>
            </a:r>
            <a:r>
              <a:rPr lang="en-US" sz="1900" i="1" dirty="0">
                <a:solidFill>
                  <a:schemeClr val="tx1"/>
                </a:solidFill>
              </a:rPr>
              <a:t>een stagiaire</a:t>
            </a:r>
            <a:r>
              <a:rPr lang="en-US" sz="1900" i="1" dirty="0">
                <a:solidFill>
                  <a:schemeClr val="tx1"/>
                </a:solidFill>
              </a:rPr>
              <a:t> op de afdeling marketing van Peeters &amp; Co. Ik ben verantwoordelijk </a:t>
            </a:r>
            <a:r>
              <a:rPr lang="en-US" sz="1900" i="1" dirty="0">
                <a:solidFill>
                  <a:schemeClr val="tx1"/>
                </a:solidFill>
              </a:rPr>
              <a:t>van</a:t>
            </a:r>
            <a:r>
              <a:rPr lang="en-US" sz="1900" i="1" dirty="0">
                <a:solidFill>
                  <a:schemeClr val="tx1"/>
                </a:solidFill>
              </a:rPr>
              <a:t> onze sociale media. Twee jaar geleden </a:t>
            </a:r>
            <a:r>
              <a:rPr lang="en-US" sz="1900" i="1" dirty="0">
                <a:solidFill>
                  <a:schemeClr val="tx1"/>
                </a:solidFill>
              </a:rPr>
              <a:t>ik ben</a:t>
            </a:r>
            <a:r>
              <a:rPr lang="en-US" sz="1900" i="1" dirty="0">
                <a:solidFill>
                  <a:schemeClr val="tx1"/>
                </a:solidFill>
              </a:rPr>
              <a:t> afgestudeerd in communicatie. Ik woon </a:t>
            </a:r>
            <a:r>
              <a:rPr lang="en-US" sz="1900" i="1" dirty="0">
                <a:solidFill>
                  <a:schemeClr val="tx1"/>
                </a:solidFill>
              </a:rPr>
              <a:t>op</a:t>
            </a:r>
            <a:r>
              <a:rPr lang="en-US" sz="1900" i="1" dirty="0">
                <a:solidFill>
                  <a:schemeClr val="tx1"/>
                </a:solidFill>
              </a:rPr>
              <a:t> Leuven en ik werk hier al drie maanden. Tot snel!</a:t>
            </a:r>
            <a:endParaRPr lang="en-US" sz="190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Lotte se présente sur l’intranet. Trouvez les 5 erreurs.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Intranet Peeters &amp; Co · Over mij · Lotte Claes</a:t>
            </a:r>
            <a:endParaRPr lang="en-US" sz="1300" dirty="0"/>
          </a:p>
        </p:txBody>
      </p:sp>
      <p:sp>
        <p:nvSpPr>
          <p:cNvPr id="12" name="Text 8"/>
          <p:cNvSpPr txBox="1"/>
          <p:nvPr/>
        </p:nvSpPr>
        <p:spPr>
          <a:xfrm>
            <a:off x="868680" y="2572512"/>
            <a:ext cx="7589520" cy="3535680"/>
          </a:xfrm>
          <a:prstGeom prst="rect">
            <a:avLst/>
          </a:prstGeom>
          <a:noFill/>
          <a:ln/>
        </p:spPr>
        <p:txBody>
          <a:bodyPr wrap="square" lIns="0" tIns="0" rIns="0" bIns="0" rtlCol="0" anchor="t"/>
          <a:lstStyle/>
          <a:p>
            <a:pPr algn="l" indent="0" marL="0">
              <a:lnSpc>
                <a:spcPct val="120000"/>
              </a:lnSpc>
              <a:buNone/>
            </a:pPr>
            <a:r>
              <a:rPr lang="en-US" sz="1900" i="1" dirty="0">
                <a:solidFill>
                  <a:schemeClr val="tx1"/>
                </a:solidFill>
              </a:rPr>
              <a:t>Hallo! Ik ben Lotte Claes en </a:t>
            </a:r>
            <a:r>
              <a:rPr lang="en-US" sz="1900" i="1" strike="sngStrike" dirty="0">
                <a:solidFill>
                  <a:schemeClr val="accent6"/>
                </a:solidFill>
              </a:rPr>
              <a:t>ik heb 24 jaar</a:t>
            </a:r>
            <a:r>
              <a:rPr lang="en-US" sz="1900" b="1" i="1" dirty="0">
                <a:solidFill>
                  <a:schemeClr val="accent3"/>
                </a:solidFill>
              </a:rPr>
              <a:t> ik ben 24</a:t>
            </a:r>
            <a:r>
              <a:rPr lang="en-US" sz="1900" i="1" dirty="0">
                <a:solidFill>
                  <a:schemeClr val="tx1"/>
                </a:solidFill>
              </a:rPr>
              <a:t>. Ik ben </a:t>
            </a:r>
            <a:r>
              <a:rPr lang="en-US" sz="1900" i="1" strike="sngStrike" dirty="0">
                <a:solidFill>
                  <a:schemeClr val="accent6"/>
                </a:solidFill>
              </a:rPr>
              <a:t>een stagiaire</a:t>
            </a:r>
            <a:r>
              <a:rPr lang="en-US" sz="1900" b="1" i="1" dirty="0">
                <a:solidFill>
                  <a:schemeClr val="accent3"/>
                </a:solidFill>
              </a:rPr>
              <a:t> stagiaire</a:t>
            </a:r>
            <a:r>
              <a:rPr lang="en-US" sz="1900" i="1" dirty="0">
                <a:solidFill>
                  <a:schemeClr val="tx1"/>
                </a:solidFill>
              </a:rPr>
              <a:t> op de afdeling marketing van Peeters &amp; Co. Ik ben verantwoordelijk </a:t>
            </a:r>
            <a:r>
              <a:rPr lang="en-US" sz="1900" i="1" strike="sngStrike" dirty="0">
                <a:solidFill>
                  <a:schemeClr val="accent6"/>
                </a:solidFill>
              </a:rPr>
              <a:t>van</a:t>
            </a:r>
            <a:r>
              <a:rPr lang="en-US" sz="1900" b="1" i="1" dirty="0">
                <a:solidFill>
                  <a:schemeClr val="accent3"/>
                </a:solidFill>
              </a:rPr>
              <a:t> voor</a:t>
            </a:r>
            <a:r>
              <a:rPr lang="en-US" sz="1900" i="1" dirty="0">
                <a:solidFill>
                  <a:schemeClr val="tx1"/>
                </a:solidFill>
              </a:rPr>
              <a:t> onze sociale media. Twee jaar geleden </a:t>
            </a:r>
            <a:r>
              <a:rPr lang="en-US" sz="1900" i="1" strike="sngStrike" dirty="0">
                <a:solidFill>
                  <a:schemeClr val="accent6"/>
                </a:solidFill>
              </a:rPr>
              <a:t>ik ben</a:t>
            </a:r>
            <a:r>
              <a:rPr lang="en-US" sz="1900" b="1" i="1" dirty="0">
                <a:solidFill>
                  <a:schemeClr val="accent3"/>
                </a:solidFill>
              </a:rPr>
              <a:t> ben ik</a:t>
            </a:r>
            <a:r>
              <a:rPr lang="en-US" sz="1900" i="1" dirty="0">
                <a:solidFill>
                  <a:schemeClr val="tx1"/>
                </a:solidFill>
              </a:rPr>
              <a:t> afgestudeerd in communicatie. Ik woon </a:t>
            </a:r>
            <a:r>
              <a:rPr lang="en-US" sz="1900" i="1" strike="sngStrike" dirty="0">
                <a:solidFill>
                  <a:schemeClr val="accent6"/>
                </a:solidFill>
              </a:rPr>
              <a:t>op</a:t>
            </a:r>
            <a:r>
              <a:rPr lang="en-US" sz="1900" b="1" i="1" dirty="0">
                <a:solidFill>
                  <a:schemeClr val="accent3"/>
                </a:solidFill>
              </a:rPr>
              <a:t> in</a:t>
            </a:r>
            <a:r>
              <a:rPr lang="en-US" sz="1900" i="1" dirty="0">
                <a:solidFill>
                  <a:schemeClr val="tx1"/>
                </a:solidFill>
              </a:rPr>
              <a:t> Leuven en ik werk hier al drie maanden. Tot snel!</a:t>
            </a:r>
            <a:endParaRPr lang="en-US" sz="190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16" name="Text 11"/>
          <p:cNvSpPr txBox="1"/>
          <p:nvPr/>
        </p:nvSpPr>
        <p:spPr>
          <a:xfrm>
            <a:off x="9052560" y="4721352"/>
            <a:ext cx="2587752" cy="1737360"/>
          </a:xfrm>
          <a:prstGeom prst="rect">
            <a:avLst/>
          </a:prstGeom>
          <a:noFill/>
          <a:ln/>
        </p:spPr>
        <p:txBody>
          <a:bodyPr wrap="square" lIns="0" tIns="0" rIns="0" bIns="0" rtlCol="0" anchor="t"/>
          <a:lstStyle/>
          <a:p>
            <a:pPr algn="l" indent="0" marL="0">
              <a:buNone/>
            </a:pPr>
            <a:r>
              <a:rPr lang="en-US" sz="1400" i="1" dirty="0">
                <a:solidFill>
                  <a:schemeClr val="accent5"/>
                </a:solidFill>
              </a:rPr>
              <a:t>Leurre : </a:t>
            </a:r>
            <a:r>
              <a:rPr lang="en-US" sz="1400" i="1" dirty="0">
                <a:solidFill>
                  <a:schemeClr val="accent5"/>
                </a:solidFill>
              </a:rPr>
              <a:t>Ik werk hier al drie maanden</a:t>
            </a:r>
            <a:r>
              <a:rPr lang="en-US" sz="1400" i="1" dirty="0">
                <a:solidFill>
                  <a:schemeClr val="accent5"/>
                </a:solidFill>
              </a:rPr>
              <a:t> est correct. Inversion après un complément de temps (M3) · </a:t>
            </a:r>
            <a:r>
              <a:rPr lang="en-US" sz="1400" i="1" dirty="0">
                <a:solidFill>
                  <a:schemeClr val="accent5"/>
                </a:solidFill>
              </a:rPr>
              <a:t>in</a:t>
            </a:r>
            <a:r>
              <a:rPr lang="en-US" sz="1400" i="1" dirty="0">
                <a:solidFill>
                  <a:schemeClr val="accent5"/>
                </a:solidFill>
              </a:rPr>
              <a:t> + ville (M2).</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Retrouvez la question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Voici les réponses. Écrivez la question (avec </a:t>
            </a:r>
            <a:r>
              <a:rPr lang="en-US" sz="1700" i="1" dirty="0">
                <a:solidFill>
                  <a:schemeClr val="accent5"/>
                </a:solidFill>
              </a:rPr>
              <a:t>je</a:t>
            </a:r>
            <a:r>
              <a:rPr lang="en-US" sz="1700" i="1" dirty="0">
                <a:solidFill>
                  <a:schemeClr val="accent5"/>
                </a:solidFill>
              </a:rPr>
              <a:t> ou </a:t>
            </a:r>
            <a:r>
              <a:rPr lang="en-US" sz="1700" i="1" dirty="0">
                <a:solidFill>
                  <a:schemeClr val="accent5"/>
                </a:solidFill>
              </a:rPr>
              <a:t>u</a:t>
            </a:r>
            <a:r>
              <a:rPr lang="en-US" sz="1700" i="1" dirty="0">
                <a:solidFill>
                  <a:schemeClr val="accent5"/>
                </a:solidFill>
              </a:rPr>
              <a:t>).</a:t>
            </a:r>
            <a:endParaRPr lang="en-US" sz="1700" dirty="0"/>
          </a:p>
        </p:txBody>
      </p:sp>
      <p:sp>
        <p:nvSpPr>
          <p:cNvPr id="8" name="Shape 4"/>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6537960" y="1978152"/>
            <a:ext cx="5102352" cy="616712"/>
          </a:xfrm>
          <a:prstGeom prst="roundRect">
            <a:avLst>
              <a:gd name="adj" fmla="val 11862"/>
            </a:avLst>
          </a:prstGeom>
          <a:solidFill>
            <a:schemeClr val="bg2"/>
          </a:solidFill>
          <a:ln w="12700">
            <a:solidFill>
              <a:srgbClr val="D5DCE6"/>
            </a:solidFill>
            <a:prstDash val="solid"/>
          </a:ln>
        </p:spPr>
      </p:sp>
      <p:sp>
        <p:nvSpPr>
          <p:cNvPr id="11" name="Text 7"/>
          <p:cNvSpPr txBox="1"/>
          <p:nvPr/>
        </p:nvSpPr>
        <p:spPr>
          <a:xfrm>
            <a:off x="6675120" y="197815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Ik ben boekhouder.</a:t>
            </a:r>
            <a:endParaRPr lang="en-US" sz="1800" dirty="0"/>
          </a:p>
        </p:txBody>
      </p:sp>
      <p:sp>
        <p:nvSpPr>
          <p:cNvPr id="12" name="Shape 8"/>
          <p:cNvSpPr/>
          <p:nvPr/>
        </p:nvSpPr>
        <p:spPr>
          <a:xfrm flipH="1">
            <a:off x="6035040" y="2295652"/>
            <a:ext cx="411480" cy="914"/>
          </a:xfrm>
          <a:prstGeom prst="line">
            <a:avLst/>
          </a:prstGeom>
          <a:noFill/>
          <a:ln w="31750">
            <a:solidFill>
              <a:srgbClr val="D9700F"/>
            </a:solidFill>
            <a:prstDash val="solid"/>
            <a:tailEnd type="triangle"/>
          </a:ln>
        </p:spPr>
      </p:sp>
      <p:sp>
        <p:nvSpPr>
          <p:cNvPr id="13" name="Shape 9"/>
          <p:cNvSpPr/>
          <p:nvPr/>
        </p:nvSpPr>
        <p:spPr>
          <a:xfrm>
            <a:off x="1005840" y="1978152"/>
            <a:ext cx="4937760" cy="616712"/>
          </a:xfrm>
          <a:prstGeom prst="roundRect">
            <a:avLst>
              <a:gd name="adj" fmla="val 11862"/>
            </a:avLst>
          </a:prstGeom>
          <a:solidFill>
            <a:schemeClr val="bg1"/>
          </a:solidFill>
          <a:ln w="15875">
            <a:solidFill>
              <a:srgbClr val="D5DCE6"/>
            </a:solidFill>
            <a:prstDash val="solid"/>
          </a:ln>
        </p:spPr>
      </p:sp>
      <p:sp>
        <p:nvSpPr>
          <p:cNvPr id="14" name="Text 10"/>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15" name="Shape 11"/>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16" name="Text 12"/>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Shape 13"/>
          <p:cNvSpPr/>
          <p:nvPr/>
        </p:nvSpPr>
        <p:spPr>
          <a:xfrm>
            <a:off x="6537960" y="2704592"/>
            <a:ext cx="5102352" cy="616712"/>
          </a:xfrm>
          <a:prstGeom prst="roundRect">
            <a:avLst>
              <a:gd name="adj" fmla="val 11862"/>
            </a:avLst>
          </a:prstGeom>
          <a:solidFill>
            <a:schemeClr val="bg2"/>
          </a:solidFill>
          <a:ln w="12700">
            <a:solidFill>
              <a:srgbClr val="D5DCE6"/>
            </a:solidFill>
            <a:prstDash val="solid"/>
          </a:ln>
        </p:spPr>
      </p:sp>
      <p:sp>
        <p:nvSpPr>
          <p:cNvPr id="18" name="Text 14"/>
          <p:cNvSpPr txBox="1"/>
          <p:nvPr/>
        </p:nvSpPr>
        <p:spPr>
          <a:xfrm>
            <a:off x="6675120" y="270459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Op de afdeling verkoop.</a:t>
            </a:r>
            <a:endParaRPr lang="en-US" sz="1800" dirty="0"/>
          </a:p>
        </p:txBody>
      </p:sp>
      <p:sp>
        <p:nvSpPr>
          <p:cNvPr id="19" name="Shape 15"/>
          <p:cNvSpPr/>
          <p:nvPr/>
        </p:nvSpPr>
        <p:spPr>
          <a:xfrm flipH="1">
            <a:off x="6035040" y="3022092"/>
            <a:ext cx="411480" cy="914"/>
          </a:xfrm>
          <a:prstGeom prst="line">
            <a:avLst/>
          </a:prstGeom>
          <a:noFill/>
          <a:ln w="31750">
            <a:solidFill>
              <a:srgbClr val="D9700F"/>
            </a:solidFill>
            <a:prstDash val="solid"/>
            <a:tailEnd type="triangle"/>
          </a:ln>
        </p:spPr>
      </p:sp>
      <p:sp>
        <p:nvSpPr>
          <p:cNvPr id="20" name="Shape 16"/>
          <p:cNvSpPr/>
          <p:nvPr/>
        </p:nvSpPr>
        <p:spPr>
          <a:xfrm>
            <a:off x="1005840" y="2704592"/>
            <a:ext cx="4937760" cy="616712"/>
          </a:xfrm>
          <a:prstGeom prst="roundRect">
            <a:avLst>
              <a:gd name="adj" fmla="val 11862"/>
            </a:avLst>
          </a:prstGeom>
          <a:solidFill>
            <a:schemeClr val="bg1"/>
          </a:solidFill>
          <a:ln w="15875">
            <a:solidFill>
              <a:srgbClr val="D5DCE6"/>
            </a:solidFill>
            <a:prstDash val="solid"/>
          </a:ln>
        </p:spPr>
      </p:sp>
      <p:sp>
        <p:nvSpPr>
          <p:cNvPr id="21" name="Text 17"/>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22" name="Shape 18"/>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23" name="Text 19"/>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Shape 20"/>
          <p:cNvSpPr/>
          <p:nvPr/>
        </p:nvSpPr>
        <p:spPr>
          <a:xfrm>
            <a:off x="6537960" y="3431032"/>
            <a:ext cx="5102352" cy="616712"/>
          </a:xfrm>
          <a:prstGeom prst="roundRect">
            <a:avLst>
              <a:gd name="adj" fmla="val 11862"/>
            </a:avLst>
          </a:prstGeom>
          <a:solidFill>
            <a:schemeClr val="bg2"/>
          </a:solidFill>
          <a:ln w="12700">
            <a:solidFill>
              <a:srgbClr val="D5DCE6"/>
            </a:solidFill>
            <a:prstDash val="solid"/>
          </a:ln>
        </p:spPr>
      </p:sp>
      <p:sp>
        <p:nvSpPr>
          <p:cNvPr id="25" name="Text 21"/>
          <p:cNvSpPr txBox="1"/>
          <p:nvPr/>
        </p:nvSpPr>
        <p:spPr>
          <a:xfrm>
            <a:off x="6675120" y="343103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Al drie jaar.</a:t>
            </a:r>
            <a:endParaRPr lang="en-US" sz="1800" dirty="0"/>
          </a:p>
        </p:txBody>
      </p:sp>
      <p:sp>
        <p:nvSpPr>
          <p:cNvPr id="26" name="Shape 22"/>
          <p:cNvSpPr/>
          <p:nvPr/>
        </p:nvSpPr>
        <p:spPr>
          <a:xfrm flipH="1">
            <a:off x="6035040" y="3748532"/>
            <a:ext cx="411480" cy="914"/>
          </a:xfrm>
          <a:prstGeom prst="line">
            <a:avLst/>
          </a:prstGeom>
          <a:noFill/>
          <a:ln w="31750">
            <a:solidFill>
              <a:srgbClr val="D9700F"/>
            </a:solidFill>
            <a:prstDash val="solid"/>
            <a:tailEnd type="triangle"/>
          </a:ln>
        </p:spPr>
      </p:sp>
      <p:sp>
        <p:nvSpPr>
          <p:cNvPr id="27" name="Shape 23"/>
          <p:cNvSpPr/>
          <p:nvPr/>
        </p:nvSpPr>
        <p:spPr>
          <a:xfrm>
            <a:off x="1005840" y="3431032"/>
            <a:ext cx="4937760" cy="616712"/>
          </a:xfrm>
          <a:prstGeom prst="roundRect">
            <a:avLst>
              <a:gd name="adj" fmla="val 11862"/>
            </a:avLst>
          </a:prstGeom>
          <a:solidFill>
            <a:schemeClr val="bg1"/>
          </a:solidFill>
          <a:ln w="15875">
            <a:solidFill>
              <a:srgbClr val="D5DCE6"/>
            </a:solidFill>
            <a:prstDash val="solid"/>
          </a:ln>
        </p:spPr>
      </p:sp>
      <p:sp>
        <p:nvSpPr>
          <p:cNvPr id="28" name="Text 24"/>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29" name="Shape 25"/>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30" name="Text 26"/>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1" name="Shape 27"/>
          <p:cNvSpPr/>
          <p:nvPr/>
        </p:nvSpPr>
        <p:spPr>
          <a:xfrm>
            <a:off x="6537960" y="4157472"/>
            <a:ext cx="5102352" cy="616712"/>
          </a:xfrm>
          <a:prstGeom prst="roundRect">
            <a:avLst>
              <a:gd name="adj" fmla="val 11862"/>
            </a:avLst>
          </a:prstGeom>
          <a:solidFill>
            <a:schemeClr val="bg2"/>
          </a:solidFill>
          <a:ln w="12700">
            <a:solidFill>
              <a:srgbClr val="D5DCE6"/>
            </a:solidFill>
            <a:prstDash val="solid"/>
          </a:ln>
        </p:spPr>
      </p:sp>
      <p:sp>
        <p:nvSpPr>
          <p:cNvPr id="32" name="Text 28"/>
          <p:cNvSpPr txBox="1"/>
          <p:nvPr/>
        </p:nvSpPr>
        <p:spPr>
          <a:xfrm>
            <a:off x="6675120" y="415747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Economie, in Namen.</a:t>
            </a:r>
            <a:endParaRPr lang="en-US" sz="1800" dirty="0"/>
          </a:p>
        </p:txBody>
      </p:sp>
      <p:sp>
        <p:nvSpPr>
          <p:cNvPr id="33" name="Shape 29"/>
          <p:cNvSpPr/>
          <p:nvPr/>
        </p:nvSpPr>
        <p:spPr>
          <a:xfrm flipH="1">
            <a:off x="6035040" y="4474972"/>
            <a:ext cx="411480" cy="914"/>
          </a:xfrm>
          <a:prstGeom prst="line">
            <a:avLst/>
          </a:prstGeom>
          <a:noFill/>
          <a:ln w="31750">
            <a:solidFill>
              <a:srgbClr val="D9700F"/>
            </a:solidFill>
            <a:prstDash val="solid"/>
            <a:tailEnd type="triangle"/>
          </a:ln>
        </p:spPr>
      </p:sp>
      <p:sp>
        <p:nvSpPr>
          <p:cNvPr id="34" name="Shape 30"/>
          <p:cNvSpPr/>
          <p:nvPr/>
        </p:nvSpPr>
        <p:spPr>
          <a:xfrm>
            <a:off x="1005840" y="4157472"/>
            <a:ext cx="4937760" cy="616712"/>
          </a:xfrm>
          <a:prstGeom prst="roundRect">
            <a:avLst>
              <a:gd name="adj" fmla="val 11862"/>
            </a:avLst>
          </a:prstGeom>
          <a:solidFill>
            <a:schemeClr val="bg1"/>
          </a:solidFill>
          <a:ln w="15875">
            <a:solidFill>
              <a:srgbClr val="D5DCE6"/>
            </a:solidFill>
            <a:prstDash val="solid"/>
          </a:ln>
        </p:spPr>
      </p:sp>
      <p:sp>
        <p:nvSpPr>
          <p:cNvPr id="35" name="Text 31"/>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36" name="Shape 32"/>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37" name="Text 33"/>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8" name="Shape 34"/>
          <p:cNvSpPr/>
          <p:nvPr/>
        </p:nvSpPr>
        <p:spPr>
          <a:xfrm>
            <a:off x="6537960" y="4883912"/>
            <a:ext cx="5102352" cy="616712"/>
          </a:xfrm>
          <a:prstGeom prst="roundRect">
            <a:avLst>
              <a:gd name="adj" fmla="val 11862"/>
            </a:avLst>
          </a:prstGeom>
          <a:solidFill>
            <a:schemeClr val="bg2"/>
          </a:solidFill>
          <a:ln w="12700">
            <a:solidFill>
              <a:srgbClr val="D5DCE6"/>
            </a:solidFill>
            <a:prstDash val="solid"/>
          </a:ln>
        </p:spPr>
      </p:sp>
      <p:sp>
        <p:nvSpPr>
          <p:cNvPr id="39" name="Text 35"/>
          <p:cNvSpPr txBox="1"/>
          <p:nvPr/>
        </p:nvSpPr>
        <p:spPr>
          <a:xfrm>
            <a:off x="6675120" y="488391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In Leuven.</a:t>
            </a:r>
            <a:endParaRPr lang="en-US" sz="1800" dirty="0"/>
          </a:p>
        </p:txBody>
      </p:sp>
      <p:sp>
        <p:nvSpPr>
          <p:cNvPr id="40" name="Shape 36"/>
          <p:cNvSpPr/>
          <p:nvPr/>
        </p:nvSpPr>
        <p:spPr>
          <a:xfrm flipH="1">
            <a:off x="6035040" y="5201412"/>
            <a:ext cx="411480" cy="914"/>
          </a:xfrm>
          <a:prstGeom prst="line">
            <a:avLst/>
          </a:prstGeom>
          <a:noFill/>
          <a:ln w="31750">
            <a:solidFill>
              <a:srgbClr val="D9700F"/>
            </a:solidFill>
            <a:prstDash val="solid"/>
            <a:tailEnd type="triangle"/>
          </a:ln>
        </p:spPr>
      </p:sp>
      <p:sp>
        <p:nvSpPr>
          <p:cNvPr id="41" name="Shape 37"/>
          <p:cNvSpPr/>
          <p:nvPr/>
        </p:nvSpPr>
        <p:spPr>
          <a:xfrm>
            <a:off x="1005840" y="4883912"/>
            <a:ext cx="4937760" cy="616712"/>
          </a:xfrm>
          <a:prstGeom prst="roundRect">
            <a:avLst>
              <a:gd name="adj" fmla="val 11862"/>
            </a:avLst>
          </a:prstGeom>
          <a:solidFill>
            <a:schemeClr val="bg1"/>
          </a:solidFill>
          <a:ln w="15875">
            <a:solidFill>
              <a:srgbClr val="D5DCE6"/>
            </a:solidFill>
            <a:prstDash val="solid"/>
          </a:ln>
        </p:spPr>
      </p:sp>
      <p:sp>
        <p:nvSpPr>
          <p:cNvPr id="42" name="Text 38"/>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43" name="Shape 39"/>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44" name="Text 40"/>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Shape 41"/>
          <p:cNvSpPr/>
          <p:nvPr/>
        </p:nvSpPr>
        <p:spPr>
          <a:xfrm>
            <a:off x="6537960" y="5610352"/>
            <a:ext cx="5102352" cy="616712"/>
          </a:xfrm>
          <a:prstGeom prst="roundRect">
            <a:avLst>
              <a:gd name="adj" fmla="val 11862"/>
            </a:avLst>
          </a:prstGeom>
          <a:solidFill>
            <a:schemeClr val="bg2"/>
          </a:solidFill>
          <a:ln w="12700">
            <a:solidFill>
              <a:srgbClr val="D5DCE6"/>
            </a:solidFill>
            <a:prstDash val="solid"/>
          </a:ln>
        </p:spPr>
      </p:sp>
      <p:sp>
        <p:nvSpPr>
          <p:cNvPr id="46" name="Text 42"/>
          <p:cNvSpPr txBox="1"/>
          <p:nvPr/>
        </p:nvSpPr>
        <p:spPr>
          <a:xfrm>
            <a:off x="6675120" y="561035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Ik fiets graag.</a:t>
            </a:r>
            <a:endParaRPr lang="en-US" sz="1800" dirty="0"/>
          </a:p>
        </p:txBody>
      </p:sp>
      <p:sp>
        <p:nvSpPr>
          <p:cNvPr id="47" name="Shape 43"/>
          <p:cNvSpPr/>
          <p:nvPr/>
        </p:nvSpPr>
        <p:spPr>
          <a:xfrm flipH="1">
            <a:off x="6035040" y="5927852"/>
            <a:ext cx="411480" cy="914"/>
          </a:xfrm>
          <a:prstGeom prst="line">
            <a:avLst/>
          </a:prstGeom>
          <a:noFill/>
          <a:ln w="31750">
            <a:solidFill>
              <a:srgbClr val="D9700F"/>
            </a:solidFill>
            <a:prstDash val="solid"/>
            <a:tailEnd type="triangle"/>
          </a:ln>
        </p:spPr>
      </p:sp>
      <p:sp>
        <p:nvSpPr>
          <p:cNvPr id="48" name="Shape 44"/>
          <p:cNvSpPr/>
          <p:nvPr/>
        </p:nvSpPr>
        <p:spPr>
          <a:xfrm>
            <a:off x="1005840" y="5610352"/>
            <a:ext cx="4937760" cy="616712"/>
          </a:xfrm>
          <a:prstGeom prst="roundRect">
            <a:avLst>
              <a:gd name="adj" fmla="val 11862"/>
            </a:avLst>
          </a:prstGeom>
          <a:solidFill>
            <a:schemeClr val="bg1"/>
          </a:solidFill>
          <a:ln w="15875">
            <a:solidFill>
              <a:srgbClr val="D5DCE6"/>
            </a:solidFill>
            <a:prstDash val="solid"/>
          </a:ln>
        </p:spPr>
      </p:sp>
      <p:sp>
        <p:nvSpPr>
          <p:cNvPr id="49" name="Text 45"/>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Retrouvez la question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Voici les réponses. Écrivez la question (avec </a:t>
            </a:r>
            <a:r>
              <a:rPr lang="en-US" sz="1700" i="1" dirty="0">
                <a:solidFill>
                  <a:schemeClr val="accent5"/>
                </a:solidFill>
              </a:rPr>
              <a:t>je</a:t>
            </a:r>
            <a:r>
              <a:rPr lang="en-US" sz="1700" i="1" dirty="0">
                <a:solidFill>
                  <a:schemeClr val="accent5"/>
                </a:solidFill>
              </a:rPr>
              <a:t> ou </a:t>
            </a:r>
            <a:r>
              <a:rPr lang="en-US" sz="1700" i="1" dirty="0">
                <a:solidFill>
                  <a:schemeClr val="accent5"/>
                </a:solidFill>
              </a:rPr>
              <a:t>u</a:t>
            </a:r>
            <a:r>
              <a:rPr lang="en-US" sz="1700" i="1" dirty="0">
                <a:solidFill>
                  <a:schemeClr val="accent5"/>
                </a:solidFill>
              </a:rPr>
              <a:t>).</a:t>
            </a:r>
            <a:endParaRPr lang="en-US" sz="1700" dirty="0"/>
          </a:p>
        </p:txBody>
      </p:sp>
      <p:sp>
        <p:nvSpPr>
          <p:cNvPr id="9" name="Shape 5"/>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6537960" y="1978152"/>
            <a:ext cx="5102352" cy="616712"/>
          </a:xfrm>
          <a:prstGeom prst="roundRect">
            <a:avLst>
              <a:gd name="adj" fmla="val 11862"/>
            </a:avLst>
          </a:prstGeom>
          <a:solidFill>
            <a:schemeClr val="bg2"/>
          </a:solidFill>
          <a:ln w="12700">
            <a:solidFill>
              <a:srgbClr val="D5DCE6"/>
            </a:solidFill>
            <a:prstDash val="solid"/>
          </a:ln>
        </p:spPr>
      </p:sp>
      <p:sp>
        <p:nvSpPr>
          <p:cNvPr id="12" name="Text 8"/>
          <p:cNvSpPr txBox="1"/>
          <p:nvPr/>
        </p:nvSpPr>
        <p:spPr>
          <a:xfrm>
            <a:off x="6675120" y="197815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Ik ben boekhouder.</a:t>
            </a:r>
            <a:endParaRPr lang="en-US" sz="1800" dirty="0"/>
          </a:p>
        </p:txBody>
      </p:sp>
      <p:sp>
        <p:nvSpPr>
          <p:cNvPr id="13" name="Shape 9"/>
          <p:cNvSpPr/>
          <p:nvPr/>
        </p:nvSpPr>
        <p:spPr>
          <a:xfrm flipH="1">
            <a:off x="6035040" y="2295652"/>
            <a:ext cx="411480" cy="914"/>
          </a:xfrm>
          <a:prstGeom prst="line">
            <a:avLst/>
          </a:prstGeom>
          <a:noFill/>
          <a:ln w="31750">
            <a:solidFill>
              <a:srgbClr val="D9700F"/>
            </a:solidFill>
            <a:prstDash val="solid"/>
            <a:tailEnd type="triangle"/>
          </a:ln>
        </p:spPr>
      </p:sp>
      <p:sp>
        <p:nvSpPr>
          <p:cNvPr id="14" name="Shape 10"/>
          <p:cNvSpPr/>
          <p:nvPr/>
        </p:nvSpPr>
        <p:spPr>
          <a:xfrm>
            <a:off x="1005840" y="1978152"/>
            <a:ext cx="4937760" cy="616712"/>
          </a:xfrm>
          <a:prstGeom prst="roundRect">
            <a:avLst>
              <a:gd name="adj" fmla="val 11862"/>
            </a:avLst>
          </a:prstGeom>
          <a:solidFill>
            <a:srgbClr val="EDF6F0"/>
          </a:solidFill>
          <a:ln w="15875">
            <a:solidFill>
              <a:srgbClr val="2E7D4F"/>
            </a:solidFill>
            <a:prstDash val="solid"/>
          </a:ln>
        </p:spPr>
      </p:sp>
      <p:sp>
        <p:nvSpPr>
          <p:cNvPr id="15" name="Text 11"/>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Wat doe je (precies)?</a:t>
            </a:r>
            <a:endParaRPr lang="en-US" sz="1800" dirty="0"/>
          </a:p>
        </p:txBody>
      </p:sp>
      <p:sp>
        <p:nvSpPr>
          <p:cNvPr id="16" name="Shape 12"/>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17" name="Text 13"/>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Shape 14"/>
          <p:cNvSpPr/>
          <p:nvPr/>
        </p:nvSpPr>
        <p:spPr>
          <a:xfrm>
            <a:off x="6537960" y="2704592"/>
            <a:ext cx="5102352" cy="616712"/>
          </a:xfrm>
          <a:prstGeom prst="roundRect">
            <a:avLst>
              <a:gd name="adj" fmla="val 11862"/>
            </a:avLst>
          </a:prstGeom>
          <a:solidFill>
            <a:schemeClr val="bg2"/>
          </a:solidFill>
          <a:ln w="12700">
            <a:solidFill>
              <a:srgbClr val="D5DCE6"/>
            </a:solidFill>
            <a:prstDash val="solid"/>
          </a:ln>
        </p:spPr>
      </p:sp>
      <p:sp>
        <p:nvSpPr>
          <p:cNvPr id="19" name="Text 15"/>
          <p:cNvSpPr txBox="1"/>
          <p:nvPr/>
        </p:nvSpPr>
        <p:spPr>
          <a:xfrm>
            <a:off x="6675120" y="270459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Op de afdeling verkoop.</a:t>
            </a:r>
            <a:endParaRPr lang="en-US" sz="1800" dirty="0"/>
          </a:p>
        </p:txBody>
      </p:sp>
      <p:sp>
        <p:nvSpPr>
          <p:cNvPr id="20" name="Shape 16"/>
          <p:cNvSpPr/>
          <p:nvPr/>
        </p:nvSpPr>
        <p:spPr>
          <a:xfrm flipH="1">
            <a:off x="6035040" y="3022092"/>
            <a:ext cx="411480" cy="914"/>
          </a:xfrm>
          <a:prstGeom prst="line">
            <a:avLst/>
          </a:prstGeom>
          <a:noFill/>
          <a:ln w="31750">
            <a:solidFill>
              <a:srgbClr val="D9700F"/>
            </a:solidFill>
            <a:prstDash val="solid"/>
            <a:tailEnd type="triangle"/>
          </a:ln>
        </p:spPr>
      </p:sp>
      <p:sp>
        <p:nvSpPr>
          <p:cNvPr id="21" name="Shape 17"/>
          <p:cNvSpPr/>
          <p:nvPr/>
        </p:nvSpPr>
        <p:spPr>
          <a:xfrm>
            <a:off x="1005840" y="2704592"/>
            <a:ext cx="4937760" cy="616712"/>
          </a:xfrm>
          <a:prstGeom prst="roundRect">
            <a:avLst>
              <a:gd name="adj" fmla="val 11862"/>
            </a:avLst>
          </a:prstGeom>
          <a:solidFill>
            <a:srgbClr val="EDF6F0"/>
          </a:solidFill>
          <a:ln w="15875">
            <a:solidFill>
              <a:srgbClr val="2E7D4F"/>
            </a:solidFill>
            <a:prstDash val="solid"/>
          </a:ln>
        </p:spPr>
      </p:sp>
      <p:sp>
        <p:nvSpPr>
          <p:cNvPr id="22" name="Text 18"/>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Op welke afdeling werk je?</a:t>
            </a:r>
            <a:endParaRPr lang="en-US" sz="1800" dirty="0"/>
          </a:p>
        </p:txBody>
      </p:sp>
      <p:sp>
        <p:nvSpPr>
          <p:cNvPr id="23" name="Shape 19"/>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24" name="Text 20"/>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5" name="Shape 21"/>
          <p:cNvSpPr/>
          <p:nvPr/>
        </p:nvSpPr>
        <p:spPr>
          <a:xfrm>
            <a:off x="6537960" y="3431032"/>
            <a:ext cx="5102352" cy="616712"/>
          </a:xfrm>
          <a:prstGeom prst="roundRect">
            <a:avLst>
              <a:gd name="adj" fmla="val 11862"/>
            </a:avLst>
          </a:prstGeom>
          <a:solidFill>
            <a:schemeClr val="bg2"/>
          </a:solidFill>
          <a:ln w="12700">
            <a:solidFill>
              <a:srgbClr val="D5DCE6"/>
            </a:solidFill>
            <a:prstDash val="solid"/>
          </a:ln>
        </p:spPr>
      </p:sp>
      <p:sp>
        <p:nvSpPr>
          <p:cNvPr id="26" name="Text 22"/>
          <p:cNvSpPr txBox="1"/>
          <p:nvPr/>
        </p:nvSpPr>
        <p:spPr>
          <a:xfrm>
            <a:off x="6675120" y="343103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Al drie jaar.</a:t>
            </a:r>
            <a:endParaRPr lang="en-US" sz="1800" dirty="0"/>
          </a:p>
        </p:txBody>
      </p:sp>
      <p:sp>
        <p:nvSpPr>
          <p:cNvPr id="27" name="Shape 23"/>
          <p:cNvSpPr/>
          <p:nvPr/>
        </p:nvSpPr>
        <p:spPr>
          <a:xfrm flipH="1">
            <a:off x="6035040" y="3748532"/>
            <a:ext cx="411480" cy="914"/>
          </a:xfrm>
          <a:prstGeom prst="line">
            <a:avLst/>
          </a:prstGeom>
          <a:noFill/>
          <a:ln w="31750">
            <a:solidFill>
              <a:srgbClr val="D9700F"/>
            </a:solidFill>
            <a:prstDash val="solid"/>
            <a:tailEnd type="triangle"/>
          </a:ln>
        </p:spPr>
      </p:sp>
      <p:sp>
        <p:nvSpPr>
          <p:cNvPr id="28" name="Shape 24"/>
          <p:cNvSpPr/>
          <p:nvPr/>
        </p:nvSpPr>
        <p:spPr>
          <a:xfrm>
            <a:off x="1005840" y="3431032"/>
            <a:ext cx="4937760" cy="616712"/>
          </a:xfrm>
          <a:prstGeom prst="roundRect">
            <a:avLst>
              <a:gd name="adj" fmla="val 11862"/>
            </a:avLst>
          </a:prstGeom>
          <a:solidFill>
            <a:srgbClr val="EDF6F0"/>
          </a:solidFill>
          <a:ln w="15875">
            <a:solidFill>
              <a:srgbClr val="2E7D4F"/>
            </a:solidFill>
            <a:prstDash val="solid"/>
          </a:ln>
        </p:spPr>
      </p:sp>
      <p:sp>
        <p:nvSpPr>
          <p:cNvPr id="29" name="Text 25"/>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Hoelang werk je hier al?</a:t>
            </a:r>
            <a:endParaRPr lang="en-US" sz="1800" dirty="0"/>
          </a:p>
        </p:txBody>
      </p:sp>
      <p:sp>
        <p:nvSpPr>
          <p:cNvPr id="30" name="Shape 26"/>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31" name="Text 27"/>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2" name="Shape 28"/>
          <p:cNvSpPr/>
          <p:nvPr/>
        </p:nvSpPr>
        <p:spPr>
          <a:xfrm>
            <a:off x="6537960" y="4157472"/>
            <a:ext cx="5102352" cy="616712"/>
          </a:xfrm>
          <a:prstGeom prst="roundRect">
            <a:avLst>
              <a:gd name="adj" fmla="val 11862"/>
            </a:avLst>
          </a:prstGeom>
          <a:solidFill>
            <a:schemeClr val="bg2"/>
          </a:solidFill>
          <a:ln w="12700">
            <a:solidFill>
              <a:srgbClr val="D5DCE6"/>
            </a:solidFill>
            <a:prstDash val="solid"/>
          </a:ln>
        </p:spPr>
      </p:sp>
      <p:sp>
        <p:nvSpPr>
          <p:cNvPr id="33" name="Text 29"/>
          <p:cNvSpPr txBox="1"/>
          <p:nvPr/>
        </p:nvSpPr>
        <p:spPr>
          <a:xfrm>
            <a:off x="6675120" y="415747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Economie, in Namen.</a:t>
            </a:r>
            <a:endParaRPr lang="en-US" sz="1800" dirty="0"/>
          </a:p>
        </p:txBody>
      </p:sp>
      <p:sp>
        <p:nvSpPr>
          <p:cNvPr id="34" name="Shape 30"/>
          <p:cNvSpPr/>
          <p:nvPr/>
        </p:nvSpPr>
        <p:spPr>
          <a:xfrm flipH="1">
            <a:off x="6035040" y="4474972"/>
            <a:ext cx="411480" cy="914"/>
          </a:xfrm>
          <a:prstGeom prst="line">
            <a:avLst/>
          </a:prstGeom>
          <a:noFill/>
          <a:ln w="31750">
            <a:solidFill>
              <a:srgbClr val="D9700F"/>
            </a:solidFill>
            <a:prstDash val="solid"/>
            <a:tailEnd type="triangle"/>
          </a:ln>
        </p:spPr>
      </p:sp>
      <p:sp>
        <p:nvSpPr>
          <p:cNvPr id="35" name="Shape 31"/>
          <p:cNvSpPr/>
          <p:nvPr/>
        </p:nvSpPr>
        <p:spPr>
          <a:xfrm>
            <a:off x="1005840" y="4157472"/>
            <a:ext cx="4937760" cy="616712"/>
          </a:xfrm>
          <a:prstGeom prst="roundRect">
            <a:avLst>
              <a:gd name="adj" fmla="val 11862"/>
            </a:avLst>
          </a:prstGeom>
          <a:solidFill>
            <a:srgbClr val="EDF6F0"/>
          </a:solidFill>
          <a:ln w="15875">
            <a:solidFill>
              <a:srgbClr val="2E7D4F"/>
            </a:solidFill>
            <a:prstDash val="solid"/>
          </a:ln>
        </p:spPr>
      </p:sp>
      <p:sp>
        <p:nvSpPr>
          <p:cNvPr id="36" name="Text 32"/>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Wat heb je gestudeerd?</a:t>
            </a:r>
            <a:endParaRPr lang="en-US" sz="1800" dirty="0"/>
          </a:p>
        </p:txBody>
      </p:sp>
      <p:sp>
        <p:nvSpPr>
          <p:cNvPr id="37" name="Shape 33"/>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38" name="Text 34"/>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9" name="Shape 35"/>
          <p:cNvSpPr/>
          <p:nvPr/>
        </p:nvSpPr>
        <p:spPr>
          <a:xfrm>
            <a:off x="6537960" y="4883912"/>
            <a:ext cx="5102352" cy="616712"/>
          </a:xfrm>
          <a:prstGeom prst="roundRect">
            <a:avLst>
              <a:gd name="adj" fmla="val 11862"/>
            </a:avLst>
          </a:prstGeom>
          <a:solidFill>
            <a:schemeClr val="bg2"/>
          </a:solidFill>
          <a:ln w="12700">
            <a:solidFill>
              <a:srgbClr val="D5DCE6"/>
            </a:solidFill>
            <a:prstDash val="solid"/>
          </a:ln>
        </p:spPr>
      </p:sp>
      <p:sp>
        <p:nvSpPr>
          <p:cNvPr id="40" name="Text 36"/>
          <p:cNvSpPr txBox="1"/>
          <p:nvPr/>
        </p:nvSpPr>
        <p:spPr>
          <a:xfrm>
            <a:off x="6675120" y="488391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In Leuven.</a:t>
            </a:r>
            <a:endParaRPr lang="en-US" sz="1800" dirty="0"/>
          </a:p>
        </p:txBody>
      </p:sp>
      <p:sp>
        <p:nvSpPr>
          <p:cNvPr id="41" name="Shape 37"/>
          <p:cNvSpPr/>
          <p:nvPr/>
        </p:nvSpPr>
        <p:spPr>
          <a:xfrm flipH="1">
            <a:off x="6035040" y="5201412"/>
            <a:ext cx="411480" cy="914"/>
          </a:xfrm>
          <a:prstGeom prst="line">
            <a:avLst/>
          </a:prstGeom>
          <a:noFill/>
          <a:ln w="31750">
            <a:solidFill>
              <a:srgbClr val="D9700F"/>
            </a:solidFill>
            <a:prstDash val="solid"/>
            <a:tailEnd type="triangle"/>
          </a:ln>
        </p:spPr>
      </p:sp>
      <p:sp>
        <p:nvSpPr>
          <p:cNvPr id="42" name="Shape 38"/>
          <p:cNvSpPr/>
          <p:nvPr/>
        </p:nvSpPr>
        <p:spPr>
          <a:xfrm>
            <a:off x="1005840" y="4883912"/>
            <a:ext cx="4937760" cy="616712"/>
          </a:xfrm>
          <a:prstGeom prst="roundRect">
            <a:avLst>
              <a:gd name="adj" fmla="val 11862"/>
            </a:avLst>
          </a:prstGeom>
          <a:solidFill>
            <a:srgbClr val="EDF6F0"/>
          </a:solidFill>
          <a:ln w="15875">
            <a:solidFill>
              <a:srgbClr val="2E7D4F"/>
            </a:solidFill>
            <a:prstDash val="solid"/>
          </a:ln>
        </p:spPr>
      </p:sp>
      <p:sp>
        <p:nvSpPr>
          <p:cNvPr id="43" name="Text 39"/>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Waar woon je?</a:t>
            </a:r>
            <a:endParaRPr lang="en-US" sz="1800" dirty="0"/>
          </a:p>
        </p:txBody>
      </p:sp>
      <p:sp>
        <p:nvSpPr>
          <p:cNvPr id="44" name="Shape 40"/>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45" name="Text 41"/>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6" name="Shape 42"/>
          <p:cNvSpPr/>
          <p:nvPr/>
        </p:nvSpPr>
        <p:spPr>
          <a:xfrm>
            <a:off x="6537960" y="5610352"/>
            <a:ext cx="5102352" cy="616712"/>
          </a:xfrm>
          <a:prstGeom prst="roundRect">
            <a:avLst>
              <a:gd name="adj" fmla="val 11862"/>
            </a:avLst>
          </a:prstGeom>
          <a:solidFill>
            <a:schemeClr val="bg2"/>
          </a:solidFill>
          <a:ln w="12700">
            <a:solidFill>
              <a:srgbClr val="D5DCE6"/>
            </a:solidFill>
            <a:prstDash val="solid"/>
          </a:ln>
        </p:spPr>
      </p:sp>
      <p:sp>
        <p:nvSpPr>
          <p:cNvPr id="47" name="Text 43"/>
          <p:cNvSpPr txBox="1"/>
          <p:nvPr/>
        </p:nvSpPr>
        <p:spPr>
          <a:xfrm>
            <a:off x="6675120" y="5610352"/>
            <a:ext cx="4892040" cy="616712"/>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Ik fiets graag.</a:t>
            </a:r>
            <a:endParaRPr lang="en-US" sz="1800" dirty="0"/>
          </a:p>
        </p:txBody>
      </p:sp>
      <p:sp>
        <p:nvSpPr>
          <p:cNvPr id="48" name="Shape 44"/>
          <p:cNvSpPr/>
          <p:nvPr/>
        </p:nvSpPr>
        <p:spPr>
          <a:xfrm flipH="1">
            <a:off x="6035040" y="5927852"/>
            <a:ext cx="411480" cy="914"/>
          </a:xfrm>
          <a:prstGeom prst="line">
            <a:avLst/>
          </a:prstGeom>
          <a:noFill/>
          <a:ln w="31750">
            <a:solidFill>
              <a:srgbClr val="D9700F"/>
            </a:solidFill>
            <a:prstDash val="solid"/>
            <a:tailEnd type="triangle"/>
          </a:ln>
        </p:spPr>
      </p:sp>
      <p:sp>
        <p:nvSpPr>
          <p:cNvPr id="49" name="Shape 45"/>
          <p:cNvSpPr/>
          <p:nvPr/>
        </p:nvSpPr>
        <p:spPr>
          <a:xfrm>
            <a:off x="1005840" y="5610352"/>
            <a:ext cx="4937760" cy="616712"/>
          </a:xfrm>
          <a:prstGeom prst="roundRect">
            <a:avLst>
              <a:gd name="adj" fmla="val 11862"/>
            </a:avLst>
          </a:prstGeom>
          <a:solidFill>
            <a:srgbClr val="EDF6F0"/>
          </a:solidFill>
          <a:ln w="15875">
            <a:solidFill>
              <a:srgbClr val="2E7D4F"/>
            </a:solidFill>
            <a:prstDash val="solid"/>
          </a:ln>
        </p:spPr>
      </p:sp>
      <p:sp>
        <p:nvSpPr>
          <p:cNvPr id="50" name="Text 46"/>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Wat doe je graag in je vrije tijd?</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Speednetworking</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08760"/>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7" name="Image 0" descr="woman">    </p:cNvPr>
          <p:cNvPicPr>
            <a:picLocks noChangeAspect="1"/>
          </p:cNvPicPr>
          <p:nvPr/>
        </p:nvPicPr>
        <p:blipFill>
          <a:blip r:embed="rId1"/>
          <a:stretch>
            <a:fillRect/>
          </a:stretch>
        </p:blipFill>
        <p:spPr>
          <a:xfrm>
            <a:off x="1143000" y="1600200"/>
            <a:ext cx="640080" cy="640080"/>
          </a:xfrm>
          <a:prstGeom prst="rect">
            <a:avLst/>
          </a:prstGeom>
        </p:spPr>
      </p:pic>
      <p:sp>
        <p:nvSpPr>
          <p:cNvPr id="8" name="Text 4"/>
          <p:cNvSpPr txBox="1"/>
          <p:nvPr/>
        </p:nvSpPr>
        <p:spPr>
          <a:xfrm>
            <a:off x="594360" y="2258568"/>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Eva Wouters</a:t>
            </a:r>
            <a:endParaRPr lang="en-US" sz="1300" dirty="0"/>
          </a:p>
        </p:txBody>
      </p:sp>
      <p:sp>
        <p:nvSpPr>
          <p:cNvPr id="9" name="Text 5"/>
          <p:cNvSpPr txBox="1"/>
          <p:nvPr/>
        </p:nvSpPr>
        <p:spPr>
          <a:xfrm>
            <a:off x="621792" y="2587752"/>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projectleider · Maesbouw</a:t>
            </a:r>
            <a:endParaRPr lang="en-US" sz="1100" dirty="0"/>
          </a:p>
          <a:p>
            <a:pPr algn="ctr" indent="0" marL="0">
              <a:spcAft>
                <a:spcPts val="100"/>
              </a:spcAft>
              <a:buNone/>
            </a:pPr>
            <a:r>
              <a:rPr lang="en-US" sz="1100" dirty="0">
                <a:solidFill>
                  <a:schemeClr val="tx1"/>
                </a:solidFill>
              </a:rPr>
              <a:t>Brussel · sinds 2019</a:t>
            </a:r>
            <a:endParaRPr lang="en-US" sz="1100" dirty="0"/>
          </a:p>
          <a:p>
            <a:pPr algn="ctr" indent="0" marL="0">
              <a:spcAft>
                <a:spcPts val="100"/>
              </a:spcAft>
              <a:buNone/>
            </a:pPr>
            <a:r>
              <a:rPr lang="en-US" sz="1100" dirty="0">
                <a:solidFill>
                  <a:schemeClr val="tx1"/>
                </a:solidFill>
              </a:rPr>
              <a:t>♥ zingen</a:t>
            </a:r>
            <a:endParaRPr lang="en-US" sz="1100" dirty="0"/>
          </a:p>
        </p:txBody>
      </p:sp>
      <p:sp>
        <p:nvSpPr>
          <p:cNvPr id="10" name="Shape 6"/>
          <p:cNvSpPr/>
          <p:nvPr/>
        </p:nvSpPr>
        <p:spPr>
          <a:xfrm>
            <a:off x="2487168" y="1508760"/>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11" name="Image 1" descr="man office worker">    </p:cNvPr>
          <p:cNvPicPr>
            <a:picLocks noChangeAspect="1"/>
          </p:cNvPicPr>
          <p:nvPr/>
        </p:nvPicPr>
        <p:blipFill>
          <a:blip r:embed="rId2"/>
          <a:stretch>
            <a:fillRect/>
          </a:stretch>
        </p:blipFill>
        <p:spPr>
          <a:xfrm>
            <a:off x="3081528" y="1600200"/>
            <a:ext cx="640080" cy="640080"/>
          </a:xfrm>
          <a:prstGeom prst="rect">
            <a:avLst/>
          </a:prstGeom>
        </p:spPr>
      </p:pic>
      <p:sp>
        <p:nvSpPr>
          <p:cNvPr id="12" name="Text 7"/>
          <p:cNvSpPr txBox="1"/>
          <p:nvPr/>
        </p:nvSpPr>
        <p:spPr>
          <a:xfrm>
            <a:off x="2532888" y="2258568"/>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Tom De Smet</a:t>
            </a:r>
            <a:endParaRPr lang="en-US" sz="1300" dirty="0"/>
          </a:p>
        </p:txBody>
      </p:sp>
      <p:sp>
        <p:nvSpPr>
          <p:cNvPr id="13" name="Text 8"/>
          <p:cNvSpPr txBox="1"/>
          <p:nvPr/>
        </p:nvSpPr>
        <p:spPr>
          <a:xfrm>
            <a:off x="2560320" y="2587752"/>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verkoper · Koopzo</a:t>
            </a:r>
            <a:endParaRPr lang="en-US" sz="1100" dirty="0"/>
          </a:p>
          <a:p>
            <a:pPr algn="ctr" indent="0" marL="0">
              <a:spcAft>
                <a:spcPts val="100"/>
              </a:spcAft>
              <a:buNone/>
            </a:pPr>
            <a:r>
              <a:rPr lang="en-US" sz="1100" dirty="0">
                <a:solidFill>
                  <a:schemeClr val="tx1"/>
                </a:solidFill>
              </a:rPr>
              <a:t>Leuven · sinds 2022</a:t>
            </a:r>
            <a:endParaRPr lang="en-US" sz="1100" dirty="0"/>
          </a:p>
          <a:p>
            <a:pPr algn="ctr" indent="0" marL="0">
              <a:spcAft>
                <a:spcPts val="100"/>
              </a:spcAft>
              <a:buNone/>
            </a:pPr>
            <a:r>
              <a:rPr lang="en-US" sz="1100" dirty="0">
                <a:solidFill>
                  <a:schemeClr val="tx1"/>
                </a:solidFill>
              </a:rPr>
              <a:t>♥ voetbal</a:t>
            </a:r>
            <a:endParaRPr lang="en-US" sz="1100" dirty="0"/>
          </a:p>
        </p:txBody>
      </p:sp>
      <p:sp>
        <p:nvSpPr>
          <p:cNvPr id="14" name="Shape 9"/>
          <p:cNvSpPr/>
          <p:nvPr/>
        </p:nvSpPr>
        <p:spPr>
          <a:xfrm>
            <a:off x="4425696" y="1508760"/>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15" name="Image 2" descr="woman office worker">    </p:cNvPr>
          <p:cNvPicPr>
            <a:picLocks noChangeAspect="1"/>
          </p:cNvPicPr>
          <p:nvPr/>
        </p:nvPicPr>
        <p:blipFill>
          <a:blip r:embed="rId3"/>
          <a:stretch>
            <a:fillRect/>
          </a:stretch>
        </p:blipFill>
        <p:spPr>
          <a:xfrm>
            <a:off x="5020056" y="1600200"/>
            <a:ext cx="640080" cy="640080"/>
          </a:xfrm>
          <a:prstGeom prst="rect">
            <a:avLst/>
          </a:prstGeom>
        </p:spPr>
      </p:pic>
      <p:sp>
        <p:nvSpPr>
          <p:cNvPr id="16" name="Text 10"/>
          <p:cNvSpPr txBox="1"/>
          <p:nvPr/>
        </p:nvSpPr>
        <p:spPr>
          <a:xfrm>
            <a:off x="4471416" y="2258568"/>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Nadia El Amrani</a:t>
            </a:r>
            <a:endParaRPr lang="en-US" sz="1300" dirty="0"/>
          </a:p>
        </p:txBody>
      </p:sp>
      <p:sp>
        <p:nvSpPr>
          <p:cNvPr id="17" name="Text 11"/>
          <p:cNvSpPr txBox="1"/>
          <p:nvPr/>
        </p:nvSpPr>
        <p:spPr>
          <a:xfrm>
            <a:off x="4498848" y="2587752"/>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coach · Sportclub Vitaal</a:t>
            </a:r>
            <a:endParaRPr lang="en-US" sz="1100" dirty="0"/>
          </a:p>
          <a:p>
            <a:pPr algn="ctr" indent="0" marL="0">
              <a:spcAft>
                <a:spcPts val="100"/>
              </a:spcAft>
              <a:buNone/>
            </a:pPr>
            <a:r>
              <a:rPr lang="en-US" sz="1100" dirty="0">
                <a:solidFill>
                  <a:schemeClr val="tx1"/>
                </a:solidFill>
              </a:rPr>
              <a:t>Gent · sinds 2020</a:t>
            </a:r>
            <a:endParaRPr lang="en-US" sz="1100" dirty="0"/>
          </a:p>
          <a:p>
            <a:pPr algn="ctr" indent="0" marL="0">
              <a:spcAft>
                <a:spcPts val="100"/>
              </a:spcAft>
              <a:buNone/>
            </a:pPr>
            <a:r>
              <a:rPr lang="en-US" sz="1100" dirty="0">
                <a:solidFill>
                  <a:schemeClr val="tx1"/>
                </a:solidFill>
              </a:rPr>
              <a:t>♥ reizen</a:t>
            </a:r>
            <a:endParaRPr lang="en-US" sz="1100" dirty="0"/>
          </a:p>
        </p:txBody>
      </p:sp>
      <p:sp>
        <p:nvSpPr>
          <p:cNvPr id="18" name="Shape 12"/>
          <p:cNvSpPr/>
          <p:nvPr/>
        </p:nvSpPr>
        <p:spPr>
          <a:xfrm>
            <a:off x="6364224" y="1508760"/>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19" name="Image 3" descr="man technologist">    </p:cNvPr>
          <p:cNvPicPr>
            <a:picLocks noChangeAspect="1"/>
          </p:cNvPicPr>
          <p:nvPr/>
        </p:nvPicPr>
        <p:blipFill>
          <a:blip r:embed="rId4"/>
          <a:stretch>
            <a:fillRect/>
          </a:stretch>
        </p:blipFill>
        <p:spPr>
          <a:xfrm>
            <a:off x="6958584" y="1600200"/>
            <a:ext cx="640080" cy="640080"/>
          </a:xfrm>
          <a:prstGeom prst="rect">
            <a:avLst/>
          </a:prstGeom>
        </p:spPr>
      </p:pic>
      <p:sp>
        <p:nvSpPr>
          <p:cNvPr id="20" name="Text 13"/>
          <p:cNvSpPr txBox="1"/>
          <p:nvPr/>
        </p:nvSpPr>
        <p:spPr>
          <a:xfrm>
            <a:off x="6409944" y="2258568"/>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Pieter Claes</a:t>
            </a:r>
            <a:endParaRPr lang="en-US" sz="1300" dirty="0"/>
          </a:p>
        </p:txBody>
      </p:sp>
      <p:sp>
        <p:nvSpPr>
          <p:cNvPr id="21" name="Text 14"/>
          <p:cNvSpPr txBox="1"/>
          <p:nvPr/>
        </p:nvSpPr>
        <p:spPr>
          <a:xfrm>
            <a:off x="6437376" y="2587752"/>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webdesigner (freelance)</a:t>
            </a:r>
            <a:endParaRPr lang="en-US" sz="1100" dirty="0"/>
          </a:p>
          <a:p>
            <a:pPr algn="ctr" indent="0" marL="0">
              <a:spcAft>
                <a:spcPts val="100"/>
              </a:spcAft>
              <a:buNone/>
            </a:pPr>
            <a:r>
              <a:rPr lang="en-US" sz="1100" dirty="0">
                <a:solidFill>
                  <a:schemeClr val="tx1"/>
                </a:solidFill>
              </a:rPr>
              <a:t>Mechelen · sinds 2018</a:t>
            </a:r>
            <a:endParaRPr lang="en-US" sz="1100" dirty="0"/>
          </a:p>
          <a:p>
            <a:pPr algn="ctr" indent="0" marL="0">
              <a:spcAft>
                <a:spcPts val="100"/>
              </a:spcAft>
              <a:buNone/>
            </a:pPr>
            <a:r>
              <a:rPr lang="en-US" sz="1100" dirty="0">
                <a:solidFill>
                  <a:schemeClr val="tx1"/>
                </a:solidFill>
              </a:rPr>
              <a:t>♥ koken</a:t>
            </a:r>
            <a:endParaRPr lang="en-US" sz="1100" dirty="0"/>
          </a:p>
        </p:txBody>
      </p:sp>
      <p:sp>
        <p:nvSpPr>
          <p:cNvPr id="22" name="Shape 15"/>
          <p:cNvSpPr/>
          <p:nvPr/>
        </p:nvSpPr>
        <p:spPr>
          <a:xfrm>
            <a:off x="548640" y="3813048"/>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23" name="Image 4" descr="woman red hair">    </p:cNvPr>
          <p:cNvPicPr>
            <a:picLocks noChangeAspect="1"/>
          </p:cNvPicPr>
          <p:nvPr/>
        </p:nvPicPr>
        <p:blipFill>
          <a:blip r:embed="rId5"/>
          <a:stretch>
            <a:fillRect/>
          </a:stretch>
        </p:blipFill>
        <p:spPr>
          <a:xfrm>
            <a:off x="1143000" y="3904488"/>
            <a:ext cx="640080" cy="640080"/>
          </a:xfrm>
          <a:prstGeom prst="rect">
            <a:avLst/>
          </a:prstGeom>
        </p:spPr>
      </p:pic>
      <p:sp>
        <p:nvSpPr>
          <p:cNvPr id="24" name="Text 16"/>
          <p:cNvSpPr txBox="1"/>
          <p:nvPr/>
        </p:nvSpPr>
        <p:spPr>
          <a:xfrm>
            <a:off x="594360" y="4562856"/>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Ines Dubois</a:t>
            </a:r>
            <a:endParaRPr lang="en-US" sz="1300" dirty="0"/>
          </a:p>
        </p:txBody>
      </p:sp>
      <p:sp>
        <p:nvSpPr>
          <p:cNvPr id="25" name="Text 17"/>
          <p:cNvSpPr txBox="1"/>
          <p:nvPr/>
        </p:nvSpPr>
        <p:spPr>
          <a:xfrm>
            <a:off x="621792" y="4892040"/>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onthaalmedewerkster · Brasserie De Lepel</a:t>
            </a:r>
            <a:endParaRPr lang="en-US" sz="1100" dirty="0"/>
          </a:p>
          <a:p>
            <a:pPr algn="ctr" indent="0" marL="0">
              <a:spcAft>
                <a:spcPts val="100"/>
              </a:spcAft>
              <a:buNone/>
            </a:pPr>
            <a:r>
              <a:rPr lang="en-US" sz="1100" dirty="0">
                <a:solidFill>
                  <a:schemeClr val="tx1"/>
                </a:solidFill>
              </a:rPr>
              <a:t>Namen · sinds 2023</a:t>
            </a:r>
            <a:endParaRPr lang="en-US" sz="1100" dirty="0"/>
          </a:p>
          <a:p>
            <a:pPr algn="ctr" indent="0" marL="0">
              <a:spcAft>
                <a:spcPts val="100"/>
              </a:spcAft>
              <a:buNone/>
            </a:pPr>
            <a:r>
              <a:rPr lang="en-US" sz="1100" dirty="0">
                <a:solidFill>
                  <a:schemeClr val="tx1"/>
                </a:solidFill>
              </a:rPr>
              <a:t>♥ lezen</a:t>
            </a:r>
            <a:endParaRPr lang="en-US" sz="1100" dirty="0"/>
          </a:p>
        </p:txBody>
      </p:sp>
      <p:sp>
        <p:nvSpPr>
          <p:cNvPr id="26" name="Shape 18"/>
          <p:cNvSpPr/>
          <p:nvPr/>
        </p:nvSpPr>
        <p:spPr>
          <a:xfrm>
            <a:off x="2487168" y="3813048"/>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27" name="Image 5" descr="technologist">    </p:cNvPr>
          <p:cNvPicPr>
            <a:picLocks noChangeAspect="1"/>
          </p:cNvPicPr>
          <p:nvPr/>
        </p:nvPicPr>
        <p:blipFill>
          <a:blip r:embed="rId6"/>
          <a:stretch>
            <a:fillRect/>
          </a:stretch>
        </p:blipFill>
        <p:spPr>
          <a:xfrm>
            <a:off x="3081528" y="3904488"/>
            <a:ext cx="640080" cy="640080"/>
          </a:xfrm>
          <a:prstGeom prst="rect">
            <a:avLst/>
          </a:prstGeom>
        </p:spPr>
      </p:pic>
      <p:sp>
        <p:nvSpPr>
          <p:cNvPr id="28" name="Text 19"/>
          <p:cNvSpPr txBox="1"/>
          <p:nvPr/>
        </p:nvSpPr>
        <p:spPr>
          <a:xfrm>
            <a:off x="2532888" y="4562856"/>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Jonas Peeters</a:t>
            </a:r>
            <a:endParaRPr lang="en-US" sz="1300" dirty="0"/>
          </a:p>
        </p:txBody>
      </p:sp>
      <p:sp>
        <p:nvSpPr>
          <p:cNvPr id="29" name="Text 20"/>
          <p:cNvSpPr txBox="1"/>
          <p:nvPr/>
        </p:nvSpPr>
        <p:spPr>
          <a:xfrm>
            <a:off x="2560320" y="4892040"/>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IT’er · Peeters &amp; Co</a:t>
            </a:r>
            <a:endParaRPr lang="en-US" sz="1100" dirty="0"/>
          </a:p>
          <a:p>
            <a:pPr algn="ctr" indent="0" marL="0">
              <a:spcAft>
                <a:spcPts val="100"/>
              </a:spcAft>
              <a:buNone/>
            </a:pPr>
            <a:r>
              <a:rPr lang="en-US" sz="1100" dirty="0">
                <a:solidFill>
                  <a:schemeClr val="tx1"/>
                </a:solidFill>
              </a:rPr>
              <a:t>Antwerpen · sinds 2021</a:t>
            </a:r>
            <a:endParaRPr lang="en-US" sz="1100" dirty="0"/>
          </a:p>
          <a:p>
            <a:pPr algn="ctr" indent="0" marL="0">
              <a:spcAft>
                <a:spcPts val="100"/>
              </a:spcAft>
              <a:buNone/>
            </a:pPr>
            <a:r>
              <a:rPr lang="en-US" sz="1100" dirty="0">
                <a:solidFill>
                  <a:schemeClr val="tx1"/>
                </a:solidFill>
              </a:rPr>
              <a:t>♥ gamen</a:t>
            </a:r>
            <a:endParaRPr lang="en-US" sz="1100" dirty="0"/>
          </a:p>
        </p:txBody>
      </p:sp>
      <p:sp>
        <p:nvSpPr>
          <p:cNvPr id="30" name="Shape 21"/>
          <p:cNvSpPr/>
          <p:nvPr/>
        </p:nvSpPr>
        <p:spPr>
          <a:xfrm>
            <a:off x="4425696" y="3813048"/>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31" name="Image 6" descr="woman student">    </p:cNvPr>
          <p:cNvPicPr>
            <a:picLocks noChangeAspect="1"/>
          </p:cNvPicPr>
          <p:nvPr/>
        </p:nvPicPr>
        <p:blipFill>
          <a:blip r:embed="rId7"/>
          <a:stretch>
            <a:fillRect/>
          </a:stretch>
        </p:blipFill>
        <p:spPr>
          <a:xfrm>
            <a:off x="5020056" y="3904488"/>
            <a:ext cx="640080" cy="640080"/>
          </a:xfrm>
          <a:prstGeom prst="rect">
            <a:avLst/>
          </a:prstGeom>
        </p:spPr>
      </p:pic>
      <p:sp>
        <p:nvSpPr>
          <p:cNvPr id="32" name="Text 22"/>
          <p:cNvSpPr txBox="1"/>
          <p:nvPr/>
        </p:nvSpPr>
        <p:spPr>
          <a:xfrm>
            <a:off x="4471416" y="4562856"/>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Sarah Vermeulen</a:t>
            </a:r>
            <a:endParaRPr lang="en-US" sz="1300" dirty="0"/>
          </a:p>
        </p:txBody>
      </p:sp>
      <p:sp>
        <p:nvSpPr>
          <p:cNvPr id="33" name="Text 23"/>
          <p:cNvSpPr txBox="1"/>
          <p:nvPr/>
        </p:nvSpPr>
        <p:spPr>
          <a:xfrm>
            <a:off x="4498848" y="4892040"/>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boekhoudster · Maesbouw</a:t>
            </a:r>
            <a:endParaRPr lang="en-US" sz="1100" dirty="0"/>
          </a:p>
          <a:p>
            <a:pPr algn="ctr" indent="0" marL="0">
              <a:spcAft>
                <a:spcPts val="100"/>
              </a:spcAft>
              <a:buNone/>
            </a:pPr>
            <a:r>
              <a:rPr lang="en-US" sz="1100" dirty="0">
                <a:solidFill>
                  <a:schemeClr val="tx1"/>
                </a:solidFill>
              </a:rPr>
              <a:t>Brugge · sinds 2017</a:t>
            </a:r>
            <a:endParaRPr lang="en-US" sz="1100" dirty="0"/>
          </a:p>
          <a:p>
            <a:pPr algn="ctr" indent="0" marL="0">
              <a:spcAft>
                <a:spcPts val="100"/>
              </a:spcAft>
              <a:buNone/>
            </a:pPr>
            <a:r>
              <a:rPr lang="en-US" sz="1100" dirty="0">
                <a:solidFill>
                  <a:schemeClr val="tx1"/>
                </a:solidFill>
              </a:rPr>
              <a:t>♥ zwemmen</a:t>
            </a:r>
            <a:endParaRPr lang="en-US" sz="1100" dirty="0"/>
          </a:p>
        </p:txBody>
      </p:sp>
      <p:sp>
        <p:nvSpPr>
          <p:cNvPr id="34" name="Shape 24"/>
          <p:cNvSpPr/>
          <p:nvPr/>
        </p:nvSpPr>
        <p:spPr>
          <a:xfrm>
            <a:off x="6364224" y="3813048"/>
            <a:ext cx="1828800" cy="2194560"/>
          </a:xfrm>
          <a:prstGeom prst="roundRect">
            <a:avLst>
              <a:gd name="adj" fmla="val 5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35" name="Image 7" descr="man">    </p:cNvPr>
          <p:cNvPicPr>
            <a:picLocks noChangeAspect="1"/>
          </p:cNvPicPr>
          <p:nvPr/>
        </p:nvPicPr>
        <p:blipFill>
          <a:blip r:embed="rId8"/>
          <a:stretch>
            <a:fillRect/>
          </a:stretch>
        </p:blipFill>
        <p:spPr>
          <a:xfrm>
            <a:off x="6958584" y="3904488"/>
            <a:ext cx="640080" cy="640080"/>
          </a:xfrm>
          <a:prstGeom prst="rect">
            <a:avLst/>
          </a:prstGeom>
        </p:spPr>
      </p:pic>
      <p:sp>
        <p:nvSpPr>
          <p:cNvPr id="36" name="Text 25"/>
          <p:cNvSpPr txBox="1"/>
          <p:nvPr/>
        </p:nvSpPr>
        <p:spPr>
          <a:xfrm>
            <a:off x="6409944" y="4562856"/>
            <a:ext cx="1737360" cy="320040"/>
          </a:xfrm>
          <a:prstGeom prst="rect">
            <a:avLst/>
          </a:prstGeom>
          <a:noFill/>
          <a:ln/>
        </p:spPr>
        <p:txBody>
          <a:bodyPr wrap="square" lIns="0" tIns="0" rIns="0" bIns="0" rtlCol="0" anchor="ctr"/>
          <a:lstStyle/>
          <a:p>
            <a:pPr algn="ctr" indent="0" marL="0">
              <a:buNone/>
            </a:pPr>
            <a:r>
              <a:rPr lang="en-US" sz="1300" b="1" dirty="0">
                <a:solidFill>
                  <a:schemeClr val="tx2"/>
                </a:solidFill>
              </a:rPr>
              <a:t>Youssef Haddad</a:t>
            </a:r>
            <a:endParaRPr lang="en-US" sz="1300" dirty="0"/>
          </a:p>
        </p:txBody>
      </p:sp>
      <p:sp>
        <p:nvSpPr>
          <p:cNvPr id="37" name="Text 26"/>
          <p:cNvSpPr txBox="1"/>
          <p:nvPr/>
        </p:nvSpPr>
        <p:spPr>
          <a:xfrm>
            <a:off x="6437376" y="4892040"/>
            <a:ext cx="1682496" cy="1051560"/>
          </a:xfrm>
          <a:prstGeom prst="rect">
            <a:avLst/>
          </a:prstGeom>
          <a:noFill/>
          <a:ln/>
        </p:spPr>
        <p:txBody>
          <a:bodyPr wrap="square" lIns="0" tIns="0" rIns="0" bIns="0" rtlCol="0" anchor="ctr"/>
          <a:lstStyle/>
          <a:p>
            <a:pPr algn="ctr" indent="0" marL="0">
              <a:spcAft>
                <a:spcPts val="100"/>
              </a:spcAft>
              <a:buNone/>
            </a:pPr>
            <a:r>
              <a:rPr lang="en-US" sz="1100" dirty="0">
                <a:solidFill>
                  <a:schemeClr val="tx1"/>
                </a:solidFill>
              </a:rPr>
              <a:t>magazijnier · Koopzo</a:t>
            </a:r>
            <a:endParaRPr lang="en-US" sz="1100" dirty="0"/>
          </a:p>
          <a:p>
            <a:pPr algn="ctr" indent="0" marL="0">
              <a:spcAft>
                <a:spcPts val="100"/>
              </a:spcAft>
              <a:buNone/>
            </a:pPr>
            <a:r>
              <a:rPr lang="en-US" sz="1100" dirty="0">
                <a:solidFill>
                  <a:schemeClr val="tx1"/>
                </a:solidFill>
              </a:rPr>
              <a:t>Mechelen · sinds 2024</a:t>
            </a:r>
            <a:endParaRPr lang="en-US" sz="1100" dirty="0"/>
          </a:p>
          <a:p>
            <a:pPr algn="ctr" indent="0" marL="0">
              <a:spcAft>
                <a:spcPts val="100"/>
              </a:spcAft>
              <a:buNone/>
            </a:pPr>
            <a:r>
              <a:rPr lang="en-US" sz="1100" dirty="0">
                <a:solidFill>
                  <a:schemeClr val="tx1"/>
                </a:solidFill>
              </a:rPr>
              <a:t>♥ fietsen</a:t>
            </a:r>
            <a:endParaRPr lang="en-US" sz="1100" dirty="0"/>
          </a:p>
        </p:txBody>
      </p:sp>
      <p:pic>
        <p:nvPicPr>
          <p:cNvPr id="38" name="Image 8" descr="busts in silhouette">    </p:cNvPr>
          <p:cNvPicPr>
            <a:picLocks noChangeAspect="1"/>
          </p:cNvPicPr>
          <p:nvPr/>
        </p:nvPicPr>
        <p:blipFill>
          <a:blip r:embed="rId9"/>
          <a:stretch>
            <a:fillRect/>
          </a:stretch>
        </p:blipFill>
        <p:spPr>
          <a:xfrm>
            <a:off x="8458200" y="1554480"/>
            <a:ext cx="731520" cy="731520"/>
          </a:xfrm>
          <a:prstGeom prst="rect">
            <a:avLst/>
          </a:prstGeom>
        </p:spPr>
      </p:pic>
      <p:sp>
        <p:nvSpPr>
          <p:cNvPr id="39" name="Text 27"/>
          <p:cNvSpPr txBox="1"/>
          <p:nvPr/>
        </p:nvSpPr>
        <p:spPr>
          <a:xfrm>
            <a:off x="9281160" y="1554480"/>
            <a:ext cx="2377440" cy="731520"/>
          </a:xfrm>
          <a:prstGeom prst="rect">
            <a:avLst/>
          </a:prstGeom>
          <a:noFill/>
          <a:ln/>
        </p:spPr>
        <p:txBody>
          <a:bodyPr wrap="square" lIns="0" tIns="0" rIns="0" bIns="0" rtlCol="0" anchor="ctr"/>
          <a:lstStyle/>
          <a:p>
            <a:pPr algn="l" indent="0" marL="0">
              <a:buNone/>
            </a:pPr>
            <a:r>
              <a:rPr lang="en-US" sz="2800" b="1" dirty="0">
                <a:solidFill>
                  <a:schemeClr val="accent2"/>
                </a:solidFill>
                <a:latin typeface="+mj-lt" pitchFamily="34" charset="0"/>
                <a:ea typeface="+mj-lt" pitchFamily="34" charset="-122"/>
                <a:cs typeface="+mj-lt" pitchFamily="34" charset="-120"/>
              </a:rPr>
              <a:t>Speed!</a:t>
            </a:r>
            <a:endParaRPr lang="en-US" sz="2800" dirty="0"/>
          </a:p>
        </p:txBody>
      </p:sp>
      <p:sp>
        <p:nvSpPr>
          <p:cNvPr id="40" name="Text 28"/>
          <p:cNvSpPr txBox="1"/>
          <p:nvPr/>
        </p:nvSpPr>
        <p:spPr>
          <a:xfrm>
            <a:off x="8458200" y="2423160"/>
            <a:ext cx="3182112" cy="3840480"/>
          </a:xfrm>
          <a:prstGeom prst="rect">
            <a:avLst/>
          </a:prstGeom>
          <a:noFill/>
          <a:ln/>
        </p:spPr>
        <p:txBody>
          <a:bodyPr wrap="square" lIns="0" tIns="0" rIns="0" bIns="0" rtlCol="0" anchor="t"/>
          <a:lstStyle/>
          <a:p>
            <a:pPr algn="l" indent="0" marL="0">
              <a:spcAft>
                <a:spcPts val="800"/>
              </a:spcAft>
              <a:buNone/>
            </a:pPr>
            <a:r>
              <a:rPr lang="en-US" sz="1500" b="1" dirty="0">
                <a:solidFill>
                  <a:schemeClr val="tx1"/>
                </a:solidFill>
              </a:rPr>
              <a:t>1.</a:t>
            </a:r>
            <a:r>
              <a:rPr lang="en-US" sz="1500" dirty="0">
                <a:solidFill>
                  <a:schemeClr val="tx1"/>
                </a:solidFill>
              </a:rPr>
              <a:t> Tirez une carte : vous êtes cette personne.</a:t>
            </a:r>
            <a:endParaRPr lang="en-US" sz="1500" dirty="0"/>
          </a:p>
          <a:p>
            <a:pPr algn="l" indent="0" marL="0">
              <a:spcAft>
                <a:spcPts val="800"/>
              </a:spcAft>
              <a:buNone/>
            </a:pPr>
            <a:r>
              <a:rPr lang="en-US" sz="1500" b="1" dirty="0">
                <a:solidFill>
                  <a:schemeClr val="tx1"/>
                </a:solidFill>
              </a:rPr>
              <a:t>2.</a:t>
            </a:r>
            <a:r>
              <a:rPr lang="en-US" sz="1500" dirty="0">
                <a:solidFill>
                  <a:schemeClr val="tx1"/>
                </a:solidFill>
              </a:rPr>
              <a:t> Présentez-vous en </a:t>
            </a:r>
            <a:r>
              <a:rPr lang="en-US" sz="1500" b="1" dirty="0">
                <a:solidFill>
                  <a:schemeClr val="tx1"/>
                </a:solidFill>
              </a:rPr>
              <a:t>30 secondes</a:t>
            </a:r>
            <a:r>
              <a:rPr lang="en-US" sz="1500" dirty="0">
                <a:solidFill>
                  <a:schemeClr val="tx1"/>
                </a:solidFill>
              </a:rPr>
              <a:t> (les 5 étapes).</a:t>
            </a:r>
            <a:endParaRPr lang="en-US" sz="1500" dirty="0"/>
          </a:p>
          <a:p>
            <a:pPr algn="l" indent="0" marL="0">
              <a:spcAft>
                <a:spcPts val="800"/>
              </a:spcAft>
              <a:buNone/>
            </a:pPr>
            <a:r>
              <a:rPr lang="en-US" sz="1500" b="1" dirty="0">
                <a:solidFill>
                  <a:schemeClr val="tx1"/>
                </a:solidFill>
              </a:rPr>
              <a:t>3.</a:t>
            </a:r>
            <a:r>
              <a:rPr lang="en-US" sz="1500" dirty="0">
                <a:solidFill>
                  <a:schemeClr val="tx1"/>
                </a:solidFill>
              </a:rPr>
              <a:t> Votre partenaire pose 2 questions. Au signal, on change de partenaire.</a:t>
            </a:r>
            <a:endParaRPr lang="en-US" sz="1500" dirty="0"/>
          </a:p>
          <a:p>
            <a:pPr algn="l" indent="0" marL="0">
              <a:spcAft>
                <a:spcPts val="800"/>
              </a:spcAft>
              <a:buNone/>
            </a:pPr>
            <a:r>
              <a:rPr lang="en-US" sz="1500" dirty="0">
                <a:solidFill>
                  <a:schemeClr val="tx1"/>
                </a:solidFill>
              </a:rPr>
              <a:t>Toutes les entreprises sont fictives.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Het sollicitatiegesprek</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Tâche finale : Maesbouw cherche un·e collaborateur·rice administratif·ve. Entretien de 5 minutes, en </a:t>
            </a:r>
            <a:r>
              <a:rPr lang="en-US" sz="1700" i="1" dirty="0">
                <a:solidFill>
                  <a:schemeClr val="tx1"/>
                </a:solidFill>
              </a:rPr>
              <a:t>u</a:t>
            </a:r>
            <a:r>
              <a:rPr lang="en-US" sz="1700" dirty="0">
                <a:solidFill>
                  <a:schemeClr val="tx1"/>
                </a:solidFill>
              </a:rPr>
              <a:t>.</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A — le recruteur</a:t>
            </a:r>
            <a:r>
              <a:rPr lang="en-US" sz="1700" dirty="0">
                <a:solidFill>
                  <a:schemeClr val="tx1"/>
                </a:solidFill>
              </a:rPr>
              <a:t> : accueillez, demandez une présentation, posez 3 questions, concluez.</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B — le candidat</a:t>
            </a:r>
            <a:r>
              <a:rPr lang="en-US" sz="1700" dirty="0">
                <a:solidFill>
                  <a:schemeClr val="tx1"/>
                </a:solidFill>
              </a:rPr>
              <a:t> : présentez-vous (les 5 étapes), répondez, posez une question sur le poste.</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Vertelt u eens iets over uzelf. · Waarom solliciteert u bij ons? · Wat zijn uw sterke punten? · Ik ben… · Ik heb … gestudeerd. · Daarvoor werkte ik… · Ik werk graag in team. · Ik zou graag… · Hoeveel dagen thuiswerk zijn er?</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822960"/>
          </a:xfrm>
          <a:prstGeom prst="roundRect">
            <a:avLst>
              <a:gd name="adj" fmla="val 4444"/>
            </a:avLst>
          </a:prstGeom>
          <a:solidFill>
            <a:schemeClr val="accent1"/>
          </a:solidFill>
          <a:ln w="12700">
            <a:solidFill>
              <a:srgbClr val="FFFFFF">
                <a:alpha val="0"/>
              </a:srgbClr>
            </a:solidFill>
            <a:prstDash val="solid"/>
          </a:ln>
        </p:spPr>
      </p:sp>
      <p:sp>
        <p:nvSpPr>
          <p:cNvPr id="21" name="Text 18"/>
          <p:cNvSpPr txBox="1"/>
          <p:nvPr/>
        </p:nvSpPr>
        <p:spPr>
          <a:xfrm>
            <a:off x="8257032" y="1481328"/>
            <a:ext cx="3200400" cy="822960"/>
          </a:xfrm>
          <a:prstGeom prst="rect">
            <a:avLst/>
          </a:prstGeom>
          <a:noFill/>
          <a:ln/>
        </p:spPr>
        <p:txBody>
          <a:bodyPr wrap="square" lIns="0" tIns="0" rIns="0" bIns="0" rtlCol="0" anchor="ctr"/>
          <a:lstStyle/>
          <a:p>
            <a:pPr algn="l" indent="0" marL="0">
              <a:buNone/>
            </a:pPr>
            <a:r>
              <a:rPr lang="en-US" sz="1500" b="1" dirty="0">
                <a:solidFill>
                  <a:schemeClr val="bg1"/>
                </a:solidFill>
              </a:rPr>
              <a:t>VACATURE</a:t>
            </a:r>
            <a:endParaRPr lang="en-US" sz="1500" dirty="0"/>
          </a:p>
          <a:p>
            <a:pPr algn="l" indent="0" marL="0">
              <a:buNone/>
            </a:pPr>
            <a:r>
              <a:rPr lang="en-US" sz="1500" dirty="0">
                <a:solidFill>
                  <a:schemeClr val="bg1"/>
                </a:solidFill>
              </a:rPr>
              <a:t>Maesbouw · Brussel</a:t>
            </a:r>
            <a:endParaRPr lang="en-US" sz="1500" dirty="0"/>
          </a:p>
        </p:txBody>
      </p:sp>
      <p:pic>
        <p:nvPicPr>
          <p:cNvPr id="22" name="Image 0" descr="building construction">    </p:cNvPr>
          <p:cNvPicPr>
            <a:picLocks noChangeAspect="1"/>
          </p:cNvPicPr>
          <p:nvPr/>
        </p:nvPicPr>
        <p:blipFill>
          <a:blip r:embed="rId1"/>
          <a:stretch>
            <a:fillRect/>
          </a:stretch>
        </p:blipFill>
        <p:spPr>
          <a:xfrm>
            <a:off x="10863072" y="1591056"/>
            <a:ext cx="594360" cy="594360"/>
          </a:xfrm>
          <a:prstGeom prst="rect">
            <a:avLst/>
          </a:prstGeom>
        </p:spPr>
      </p:pic>
      <p:sp>
        <p:nvSpPr>
          <p:cNvPr id="23" name="Text 19"/>
          <p:cNvSpPr txBox="1"/>
          <p:nvPr/>
        </p:nvSpPr>
        <p:spPr>
          <a:xfrm>
            <a:off x="8257032" y="2441448"/>
            <a:ext cx="3200400" cy="640080"/>
          </a:xfrm>
          <a:prstGeom prst="rect">
            <a:avLst/>
          </a:prstGeom>
          <a:noFill/>
          <a:ln/>
        </p:spPr>
        <p:txBody>
          <a:bodyPr wrap="square" lIns="0" tIns="0" rIns="0" bIns="0" rtlCol="0" anchor="ctr"/>
          <a:lstStyle/>
          <a:p>
            <a:pPr algn="l" indent="0" marL="0">
              <a:buNone/>
            </a:pPr>
            <a:r>
              <a:rPr lang="en-US" sz="1500" b="1" dirty="0">
                <a:solidFill>
                  <a:schemeClr val="tx2"/>
                </a:solidFill>
              </a:rPr>
              <a:t>Administratief medewerker (m/v/x)</a:t>
            </a:r>
            <a:endParaRPr lang="en-US" sz="1500" dirty="0"/>
          </a:p>
        </p:txBody>
      </p:sp>
      <p:pic>
        <p:nvPicPr>
          <p:cNvPr id="24" name="Image 1" descr="Check">    </p:cNvPr>
          <p:cNvPicPr>
            <a:picLocks noChangeAspect="1"/>
          </p:cNvPicPr>
          <p:nvPr/>
        </p:nvPicPr>
        <p:blipFill>
          <a:blip r:embed="rId2"/>
          <a:stretch>
            <a:fillRect/>
          </a:stretch>
        </p:blipFill>
        <p:spPr>
          <a:xfrm>
            <a:off x="8302752" y="3236976"/>
            <a:ext cx="219456" cy="219456"/>
          </a:xfrm>
          <a:prstGeom prst="rect">
            <a:avLst/>
          </a:prstGeom>
        </p:spPr>
      </p:pic>
      <p:sp>
        <p:nvSpPr>
          <p:cNvPr id="25" name="Text 20"/>
          <p:cNvSpPr txBox="1"/>
          <p:nvPr/>
        </p:nvSpPr>
        <p:spPr>
          <a:xfrm>
            <a:off x="8622792" y="3145536"/>
            <a:ext cx="2834640" cy="384048"/>
          </a:xfrm>
          <a:prstGeom prst="rect">
            <a:avLst/>
          </a:prstGeom>
          <a:noFill/>
          <a:ln/>
        </p:spPr>
        <p:txBody>
          <a:bodyPr wrap="square" lIns="0" tIns="0" rIns="0" bIns="0" rtlCol="0" anchor="ctr"/>
          <a:lstStyle/>
          <a:p>
            <a:pPr algn="l" indent="0" marL="0">
              <a:buNone/>
            </a:pPr>
            <a:r>
              <a:rPr lang="en-US" sz="1300" i="1" dirty="0">
                <a:solidFill>
                  <a:schemeClr val="tx1"/>
                </a:solidFill>
              </a:rPr>
              <a:t>voltijds</a:t>
            </a:r>
            <a:endParaRPr lang="en-US" sz="1300" dirty="0"/>
          </a:p>
        </p:txBody>
      </p:sp>
      <p:pic>
        <p:nvPicPr>
          <p:cNvPr id="26" name="Image 2" descr="Check">    </p:cNvPr>
          <p:cNvPicPr>
            <a:picLocks noChangeAspect="1"/>
          </p:cNvPicPr>
          <p:nvPr/>
        </p:nvPicPr>
        <p:blipFill>
          <a:blip r:embed="rId3"/>
          <a:stretch>
            <a:fillRect/>
          </a:stretch>
        </p:blipFill>
        <p:spPr>
          <a:xfrm>
            <a:off x="8302752" y="3639312"/>
            <a:ext cx="219456" cy="219456"/>
          </a:xfrm>
          <a:prstGeom prst="rect">
            <a:avLst/>
          </a:prstGeom>
        </p:spPr>
      </p:pic>
      <p:sp>
        <p:nvSpPr>
          <p:cNvPr id="27" name="Text 21"/>
          <p:cNvSpPr txBox="1"/>
          <p:nvPr/>
        </p:nvSpPr>
        <p:spPr>
          <a:xfrm>
            <a:off x="8622792" y="3547872"/>
            <a:ext cx="2834640" cy="384048"/>
          </a:xfrm>
          <a:prstGeom prst="rect">
            <a:avLst/>
          </a:prstGeom>
          <a:noFill/>
          <a:ln/>
        </p:spPr>
        <p:txBody>
          <a:bodyPr wrap="square" lIns="0" tIns="0" rIns="0" bIns="0" rtlCol="0" anchor="ctr"/>
          <a:lstStyle/>
          <a:p>
            <a:pPr algn="l" indent="0" marL="0">
              <a:buNone/>
            </a:pPr>
            <a:r>
              <a:rPr lang="en-US" sz="1300" i="1" dirty="0">
                <a:solidFill>
                  <a:schemeClr val="tx1"/>
                </a:solidFill>
              </a:rPr>
              <a:t>contract van onbepaalde duur</a:t>
            </a:r>
            <a:endParaRPr lang="en-US" sz="1300" dirty="0"/>
          </a:p>
        </p:txBody>
      </p:sp>
      <p:pic>
        <p:nvPicPr>
          <p:cNvPr id="28" name="Image 3" descr="Check">    </p:cNvPr>
          <p:cNvPicPr>
            <a:picLocks noChangeAspect="1"/>
          </p:cNvPicPr>
          <p:nvPr/>
        </p:nvPicPr>
        <p:blipFill>
          <a:blip r:embed="rId4"/>
          <a:stretch>
            <a:fillRect/>
          </a:stretch>
        </p:blipFill>
        <p:spPr>
          <a:xfrm>
            <a:off x="8302752" y="4041648"/>
            <a:ext cx="219456" cy="219456"/>
          </a:xfrm>
          <a:prstGeom prst="rect">
            <a:avLst/>
          </a:prstGeom>
        </p:spPr>
      </p:pic>
      <p:sp>
        <p:nvSpPr>
          <p:cNvPr id="29" name="Text 22"/>
          <p:cNvSpPr txBox="1"/>
          <p:nvPr/>
        </p:nvSpPr>
        <p:spPr>
          <a:xfrm>
            <a:off x="8622792" y="3950208"/>
            <a:ext cx="2834640" cy="384048"/>
          </a:xfrm>
          <a:prstGeom prst="rect">
            <a:avLst/>
          </a:prstGeom>
          <a:noFill/>
          <a:ln/>
        </p:spPr>
        <p:txBody>
          <a:bodyPr wrap="square" lIns="0" tIns="0" rIns="0" bIns="0" rtlCol="0" anchor="ctr"/>
          <a:lstStyle/>
          <a:p>
            <a:pPr algn="l" indent="0" marL="0">
              <a:buNone/>
            </a:pPr>
            <a:r>
              <a:rPr lang="en-US" sz="1300" i="1" dirty="0">
                <a:solidFill>
                  <a:schemeClr val="tx1"/>
                </a:solidFill>
              </a:rPr>
              <a:t>Brussel · 2 dagen thuiswerk</a:t>
            </a:r>
            <a:endParaRPr lang="en-US" sz="1300" dirty="0"/>
          </a:p>
        </p:txBody>
      </p:sp>
      <p:pic>
        <p:nvPicPr>
          <p:cNvPr id="30" name="Image 4" descr="Check">    </p:cNvPr>
          <p:cNvPicPr>
            <a:picLocks noChangeAspect="1"/>
          </p:cNvPicPr>
          <p:nvPr/>
        </p:nvPicPr>
        <p:blipFill>
          <a:blip r:embed="rId5"/>
          <a:stretch>
            <a:fillRect/>
          </a:stretch>
        </p:blipFill>
        <p:spPr>
          <a:xfrm>
            <a:off x="8302752" y="4443984"/>
            <a:ext cx="219456" cy="219456"/>
          </a:xfrm>
          <a:prstGeom prst="rect">
            <a:avLst/>
          </a:prstGeom>
        </p:spPr>
      </p:pic>
      <p:sp>
        <p:nvSpPr>
          <p:cNvPr id="31" name="Text 23"/>
          <p:cNvSpPr txBox="1"/>
          <p:nvPr/>
        </p:nvSpPr>
        <p:spPr>
          <a:xfrm>
            <a:off x="8622792" y="4352544"/>
            <a:ext cx="2834640" cy="384048"/>
          </a:xfrm>
          <a:prstGeom prst="rect">
            <a:avLst/>
          </a:prstGeom>
          <a:noFill/>
          <a:ln/>
        </p:spPr>
        <p:txBody>
          <a:bodyPr wrap="square" lIns="0" tIns="0" rIns="0" bIns="0" rtlCol="0" anchor="ctr"/>
          <a:lstStyle/>
          <a:p>
            <a:pPr algn="l" indent="0" marL="0">
              <a:buNone/>
            </a:pPr>
            <a:r>
              <a:rPr lang="en-US" sz="1300" i="1" dirty="0">
                <a:solidFill>
                  <a:schemeClr val="tx1"/>
                </a:solidFill>
              </a:rPr>
              <a:t>Je spreekt Nederlands en Frans.</a:t>
            </a:r>
            <a:endParaRPr lang="en-US" sz="1300" dirty="0"/>
          </a:p>
        </p:txBody>
      </p:sp>
      <p:pic>
        <p:nvPicPr>
          <p:cNvPr id="32" name="Image 5" descr="Check">    </p:cNvPr>
          <p:cNvPicPr>
            <a:picLocks noChangeAspect="1"/>
          </p:cNvPicPr>
          <p:nvPr/>
        </p:nvPicPr>
        <p:blipFill>
          <a:blip r:embed="rId6"/>
          <a:stretch>
            <a:fillRect/>
          </a:stretch>
        </p:blipFill>
        <p:spPr>
          <a:xfrm>
            <a:off x="8302752" y="4846320"/>
            <a:ext cx="219456" cy="219456"/>
          </a:xfrm>
          <a:prstGeom prst="rect">
            <a:avLst/>
          </a:prstGeom>
        </p:spPr>
      </p:pic>
      <p:sp>
        <p:nvSpPr>
          <p:cNvPr id="33" name="Text 24"/>
          <p:cNvSpPr txBox="1"/>
          <p:nvPr/>
        </p:nvSpPr>
        <p:spPr>
          <a:xfrm>
            <a:off x="8622792" y="4754880"/>
            <a:ext cx="2834640" cy="384048"/>
          </a:xfrm>
          <a:prstGeom prst="rect">
            <a:avLst/>
          </a:prstGeom>
          <a:noFill/>
          <a:ln/>
        </p:spPr>
        <p:txBody>
          <a:bodyPr wrap="square" lIns="0" tIns="0" rIns="0" bIns="0" rtlCol="0" anchor="ctr"/>
          <a:lstStyle/>
          <a:p>
            <a:pPr algn="l" indent="0" marL="0">
              <a:buNone/>
            </a:pPr>
            <a:r>
              <a:rPr lang="en-US" sz="1300" i="1" dirty="0">
                <a:solidFill>
                  <a:schemeClr val="tx1"/>
                </a:solidFill>
              </a:rPr>
              <a:t>Je werkt graag in team.</a:t>
            </a:r>
            <a:endParaRPr lang="en-US" sz="1300" dirty="0"/>
          </a:p>
        </p:txBody>
      </p:sp>
      <p:pic>
        <p:nvPicPr>
          <p:cNvPr id="34" name="Image 6" descr="Check">    </p:cNvPr>
          <p:cNvPicPr>
            <a:picLocks noChangeAspect="1"/>
          </p:cNvPicPr>
          <p:nvPr/>
        </p:nvPicPr>
        <p:blipFill>
          <a:blip r:embed="rId7"/>
          <a:stretch>
            <a:fillRect/>
          </a:stretch>
        </p:blipFill>
        <p:spPr>
          <a:xfrm>
            <a:off x="8302752" y="5248656"/>
            <a:ext cx="219456" cy="219456"/>
          </a:xfrm>
          <a:prstGeom prst="rect">
            <a:avLst/>
          </a:prstGeom>
        </p:spPr>
      </p:pic>
      <p:sp>
        <p:nvSpPr>
          <p:cNvPr id="35" name="Text 25"/>
          <p:cNvSpPr txBox="1"/>
          <p:nvPr/>
        </p:nvSpPr>
        <p:spPr>
          <a:xfrm>
            <a:off x="8622792" y="5157216"/>
            <a:ext cx="2834640" cy="384048"/>
          </a:xfrm>
          <a:prstGeom prst="rect">
            <a:avLst/>
          </a:prstGeom>
          <a:noFill/>
          <a:ln/>
        </p:spPr>
        <p:txBody>
          <a:bodyPr wrap="square" lIns="0" tIns="0" rIns="0" bIns="0" rtlCol="0" anchor="ctr"/>
          <a:lstStyle/>
          <a:p>
            <a:pPr algn="l" indent="0" marL="0">
              <a:buNone/>
            </a:pPr>
            <a:r>
              <a:rPr lang="en-US" sz="1300" i="1" dirty="0">
                <a:solidFill>
                  <a:schemeClr val="tx1"/>
                </a:solidFill>
              </a:rPr>
              <a:t>maaltijdcheques</a:t>
            </a:r>
            <a:endParaRPr lang="en-US" sz="1300" dirty="0"/>
          </a:p>
        </p:txBody>
      </p:sp>
      <p:sp>
        <p:nvSpPr>
          <p:cNvPr id="36" name="Text 26"/>
          <p:cNvSpPr txBox="1"/>
          <p:nvPr/>
        </p:nvSpPr>
        <p:spPr>
          <a:xfrm>
            <a:off x="8257032" y="5788152"/>
            <a:ext cx="3200400" cy="365760"/>
          </a:xfrm>
          <a:prstGeom prst="rect">
            <a:avLst/>
          </a:prstGeom>
          <a:noFill/>
          <a:ln/>
        </p:spPr>
        <p:txBody>
          <a:bodyPr wrap="square" lIns="0" tIns="0" rIns="0" bIns="0" rtlCol="0" anchor="t"/>
          <a:lstStyle/>
          <a:p>
            <a:pPr algn="ctr" indent="0" marL="0">
              <a:buNone/>
            </a:pPr>
            <a:r>
              <a:rPr lang="en-US" sz="1300" b="1" dirty="0">
                <a:solidFill>
                  <a:schemeClr val="accent1"/>
                </a:solidFill>
              </a:rPr>
              <a:t>Solliciteer vóór 30 juni!</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 et bilan du parcours</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 J’ai 32 ans et je suis comptable.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Complétez : </a:t>
            </a:r>
            <a:r>
              <a:rPr lang="en-US" sz="2000" i="1" dirty="0">
                <a:solidFill>
                  <a:schemeClr val="tx1"/>
                </a:solidFill>
              </a:rPr>
              <a:t>Ik werk …… Peeters &amp; Co, …… boekhouder.</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 Je travaille ici depuis quatre ans. »</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Me présenter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Mon parcours</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M’adapter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Trophy">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Proficiat! Néerlandais 1 is klaar.</a:t>
            </a:r>
            <a:r>
              <a:rPr lang="en-US" sz="1800" dirty="0">
                <a:solidFill>
                  <a:schemeClr val="bg1"/>
                </a:solidFill>
              </a:rPr>
              <a:t> — Volgende stap : Néerlandais 2</a:t>
            </a:r>
            <a:endParaRPr lang="en-US" sz="1800" dirty="0"/>
          </a:p>
        </p:txBody>
      </p:sp>
      <p:sp>
        <p:nvSpPr>
          <p:cNvPr id="36" name="Text 23"/>
          <p:cNvSpPr txBox="1"/>
          <p:nvPr/>
        </p:nvSpPr>
        <p:spPr>
          <a:xfrm>
            <a:off x="6949440" y="4599432"/>
            <a:ext cx="420624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NÉERLANDAIS 1 · 32 MODULES</a:t>
            </a:r>
            <a:endParaRPr lang="en-US" sz="1200" dirty="0"/>
          </a:p>
        </p:txBody>
      </p:sp>
      <p:sp>
        <p:nvSpPr>
          <p:cNvPr id="37" name="Shape 24"/>
          <p:cNvSpPr/>
          <p:nvPr/>
        </p:nvSpPr>
        <p:spPr>
          <a:xfrm>
            <a:off x="6949440" y="4919472"/>
            <a:ext cx="615791" cy="411480"/>
          </a:xfrm>
          <a:prstGeom prst="roundRect">
            <a:avLst>
              <a:gd name="adj" fmla="val 13333"/>
            </a:avLst>
          </a:prstGeom>
          <a:solidFill>
            <a:schemeClr val="accent2"/>
          </a:solidFill>
          <a:ln w="12700">
            <a:solidFill>
              <a:srgbClr val="FFFFFF">
                <a:alpha val="0"/>
              </a:srgbClr>
            </a:solidFill>
            <a:prstDash val="solid"/>
          </a:ln>
        </p:spPr>
      </p:sp>
      <p:sp>
        <p:nvSpPr>
          <p:cNvPr id="38" name="Text 25"/>
          <p:cNvSpPr txBox="1"/>
          <p:nvPr/>
        </p:nvSpPr>
        <p:spPr>
          <a:xfrm>
            <a:off x="6949440" y="4919472"/>
            <a:ext cx="615791" cy="411480"/>
          </a:xfrm>
          <a:prstGeom prst="rect">
            <a:avLst/>
          </a:prstGeom>
          <a:noFill/>
          <a:ln/>
        </p:spPr>
        <p:txBody>
          <a:bodyPr wrap="square" lIns="0" tIns="0" rIns="0" bIns="0" rtlCol="0" anchor="ctr"/>
          <a:lstStyle/>
          <a:p>
            <a:pPr algn="ctr" indent="0" marL="0">
              <a:buNone/>
            </a:pPr>
            <a:r>
              <a:rPr lang="en-US" sz="800" b="1" dirty="0">
                <a:solidFill>
                  <a:schemeClr val="bg1"/>
                </a:solidFill>
              </a:rPr>
              <a:t>1–5</a:t>
            </a:r>
            <a:endParaRPr lang="en-US" sz="800" dirty="0"/>
          </a:p>
        </p:txBody>
      </p:sp>
      <p:sp>
        <p:nvSpPr>
          <p:cNvPr id="39" name="Shape 26"/>
          <p:cNvSpPr/>
          <p:nvPr/>
        </p:nvSpPr>
        <p:spPr>
          <a:xfrm>
            <a:off x="7601807" y="4919472"/>
            <a:ext cx="615791" cy="411480"/>
          </a:xfrm>
          <a:prstGeom prst="roundRect">
            <a:avLst>
              <a:gd name="adj" fmla="val 13333"/>
            </a:avLst>
          </a:prstGeom>
          <a:solidFill>
            <a:schemeClr val="accent1"/>
          </a:solidFill>
          <a:ln w="12700">
            <a:solidFill>
              <a:srgbClr val="FFFFFF">
                <a:alpha val="0"/>
              </a:srgbClr>
            </a:solidFill>
            <a:prstDash val="solid"/>
          </a:ln>
        </p:spPr>
      </p:sp>
      <p:sp>
        <p:nvSpPr>
          <p:cNvPr id="40" name="Text 27"/>
          <p:cNvSpPr txBox="1"/>
          <p:nvPr/>
        </p:nvSpPr>
        <p:spPr>
          <a:xfrm>
            <a:off x="7601807" y="4919472"/>
            <a:ext cx="615791" cy="411480"/>
          </a:xfrm>
          <a:prstGeom prst="rect">
            <a:avLst/>
          </a:prstGeom>
          <a:noFill/>
          <a:ln/>
        </p:spPr>
        <p:txBody>
          <a:bodyPr wrap="square" lIns="0" tIns="0" rIns="0" bIns="0" rtlCol="0" anchor="ctr"/>
          <a:lstStyle/>
          <a:p>
            <a:pPr algn="ctr" indent="0" marL="0">
              <a:buNone/>
            </a:pPr>
            <a:r>
              <a:rPr lang="en-US" sz="800" b="1" dirty="0">
                <a:solidFill>
                  <a:schemeClr val="bg1"/>
                </a:solidFill>
              </a:rPr>
              <a:t>6–10</a:t>
            </a:r>
            <a:endParaRPr lang="en-US" sz="800" dirty="0"/>
          </a:p>
        </p:txBody>
      </p:sp>
      <p:sp>
        <p:nvSpPr>
          <p:cNvPr id="41" name="Shape 28"/>
          <p:cNvSpPr/>
          <p:nvPr/>
        </p:nvSpPr>
        <p:spPr>
          <a:xfrm>
            <a:off x="8254174" y="4919472"/>
            <a:ext cx="615791" cy="411480"/>
          </a:xfrm>
          <a:prstGeom prst="roundRect">
            <a:avLst>
              <a:gd name="adj" fmla="val 13333"/>
            </a:avLst>
          </a:prstGeom>
          <a:solidFill>
            <a:schemeClr val="accent3"/>
          </a:solidFill>
          <a:ln w="12700">
            <a:solidFill>
              <a:srgbClr val="FFFFFF">
                <a:alpha val="0"/>
              </a:srgbClr>
            </a:solidFill>
            <a:prstDash val="solid"/>
          </a:ln>
        </p:spPr>
      </p:sp>
      <p:sp>
        <p:nvSpPr>
          <p:cNvPr id="42" name="Text 29"/>
          <p:cNvSpPr txBox="1"/>
          <p:nvPr/>
        </p:nvSpPr>
        <p:spPr>
          <a:xfrm>
            <a:off x="8254174" y="4919472"/>
            <a:ext cx="615791" cy="411480"/>
          </a:xfrm>
          <a:prstGeom prst="rect">
            <a:avLst/>
          </a:prstGeom>
          <a:noFill/>
          <a:ln/>
        </p:spPr>
        <p:txBody>
          <a:bodyPr wrap="square" lIns="0" tIns="0" rIns="0" bIns="0" rtlCol="0" anchor="ctr"/>
          <a:lstStyle/>
          <a:p>
            <a:pPr algn="ctr" indent="0" marL="0">
              <a:buNone/>
            </a:pPr>
            <a:r>
              <a:rPr lang="en-US" sz="800" b="1" dirty="0">
                <a:solidFill>
                  <a:schemeClr val="bg1"/>
                </a:solidFill>
              </a:rPr>
              <a:t>11–15</a:t>
            </a:r>
            <a:endParaRPr lang="en-US" sz="800" dirty="0"/>
          </a:p>
        </p:txBody>
      </p:sp>
      <p:sp>
        <p:nvSpPr>
          <p:cNvPr id="43" name="Shape 30"/>
          <p:cNvSpPr/>
          <p:nvPr/>
        </p:nvSpPr>
        <p:spPr>
          <a:xfrm>
            <a:off x="8906542" y="4919472"/>
            <a:ext cx="492633" cy="411480"/>
          </a:xfrm>
          <a:prstGeom prst="roundRect">
            <a:avLst>
              <a:gd name="adj" fmla="val 13333"/>
            </a:avLst>
          </a:prstGeom>
          <a:solidFill>
            <a:srgbClr val="6E4A9E"/>
          </a:solidFill>
          <a:ln w="12700">
            <a:solidFill>
              <a:srgbClr val="FFFFFF">
                <a:alpha val="0"/>
              </a:srgbClr>
            </a:solidFill>
            <a:prstDash val="solid"/>
          </a:ln>
        </p:spPr>
      </p:sp>
      <p:sp>
        <p:nvSpPr>
          <p:cNvPr id="44" name="Text 31"/>
          <p:cNvSpPr txBox="1"/>
          <p:nvPr/>
        </p:nvSpPr>
        <p:spPr>
          <a:xfrm>
            <a:off x="8906542" y="4919472"/>
            <a:ext cx="492633" cy="411480"/>
          </a:xfrm>
          <a:prstGeom prst="rect">
            <a:avLst/>
          </a:prstGeom>
          <a:noFill/>
          <a:ln/>
        </p:spPr>
        <p:txBody>
          <a:bodyPr wrap="square" lIns="0" tIns="0" rIns="0" bIns="0" rtlCol="0" anchor="ctr"/>
          <a:lstStyle/>
          <a:p>
            <a:pPr algn="ctr" indent="0" marL="0">
              <a:buNone/>
            </a:pPr>
            <a:r>
              <a:rPr lang="en-US" sz="800" b="1" dirty="0">
                <a:solidFill>
                  <a:schemeClr val="bg1"/>
                </a:solidFill>
              </a:rPr>
              <a:t>16–19</a:t>
            </a:r>
            <a:endParaRPr lang="en-US" sz="800" dirty="0"/>
          </a:p>
        </p:txBody>
      </p:sp>
      <p:sp>
        <p:nvSpPr>
          <p:cNvPr id="45" name="Shape 32"/>
          <p:cNvSpPr/>
          <p:nvPr/>
        </p:nvSpPr>
        <p:spPr>
          <a:xfrm>
            <a:off x="9435751" y="4919472"/>
            <a:ext cx="615791" cy="411480"/>
          </a:xfrm>
          <a:prstGeom prst="roundRect">
            <a:avLst>
              <a:gd name="adj" fmla="val 13333"/>
            </a:avLst>
          </a:prstGeom>
          <a:solidFill>
            <a:schemeClr val="accent4"/>
          </a:solidFill>
          <a:ln w="12700">
            <a:solidFill>
              <a:srgbClr val="FFFFFF">
                <a:alpha val="0"/>
              </a:srgbClr>
            </a:solidFill>
            <a:prstDash val="solid"/>
          </a:ln>
        </p:spPr>
      </p:sp>
      <p:sp>
        <p:nvSpPr>
          <p:cNvPr id="46" name="Text 33"/>
          <p:cNvSpPr txBox="1"/>
          <p:nvPr/>
        </p:nvSpPr>
        <p:spPr>
          <a:xfrm>
            <a:off x="9435751" y="4919472"/>
            <a:ext cx="615791" cy="411480"/>
          </a:xfrm>
          <a:prstGeom prst="rect">
            <a:avLst/>
          </a:prstGeom>
          <a:noFill/>
          <a:ln/>
        </p:spPr>
        <p:txBody>
          <a:bodyPr wrap="square" lIns="0" tIns="0" rIns="0" bIns="0" rtlCol="0" anchor="ctr"/>
          <a:lstStyle/>
          <a:p>
            <a:pPr algn="ctr" indent="0" marL="0">
              <a:buNone/>
            </a:pPr>
            <a:r>
              <a:rPr lang="en-US" sz="800" b="1" dirty="0">
                <a:solidFill>
                  <a:schemeClr val="bg1"/>
                </a:solidFill>
              </a:rPr>
              <a:t>20–24</a:t>
            </a:r>
            <a:endParaRPr lang="en-US" sz="800" dirty="0"/>
          </a:p>
        </p:txBody>
      </p:sp>
      <p:sp>
        <p:nvSpPr>
          <p:cNvPr id="47" name="Shape 34"/>
          <p:cNvSpPr/>
          <p:nvPr/>
        </p:nvSpPr>
        <p:spPr>
          <a:xfrm>
            <a:off x="10088118" y="4919472"/>
            <a:ext cx="615791" cy="411480"/>
          </a:xfrm>
          <a:prstGeom prst="roundRect">
            <a:avLst>
              <a:gd name="adj" fmla="val 13333"/>
            </a:avLst>
          </a:prstGeom>
          <a:solidFill>
            <a:schemeClr val="tx2"/>
          </a:solidFill>
          <a:ln w="12700">
            <a:solidFill>
              <a:srgbClr val="FFFFFF">
                <a:alpha val="0"/>
              </a:srgbClr>
            </a:solidFill>
            <a:prstDash val="solid"/>
          </a:ln>
        </p:spPr>
      </p:sp>
      <p:sp>
        <p:nvSpPr>
          <p:cNvPr id="48" name="Text 35"/>
          <p:cNvSpPr txBox="1"/>
          <p:nvPr/>
        </p:nvSpPr>
        <p:spPr>
          <a:xfrm>
            <a:off x="10088118" y="4919472"/>
            <a:ext cx="615791" cy="411480"/>
          </a:xfrm>
          <a:prstGeom prst="rect">
            <a:avLst/>
          </a:prstGeom>
          <a:noFill/>
          <a:ln/>
        </p:spPr>
        <p:txBody>
          <a:bodyPr wrap="square" lIns="0" tIns="0" rIns="0" bIns="0" rtlCol="0" anchor="ctr"/>
          <a:lstStyle/>
          <a:p>
            <a:pPr algn="ctr" indent="0" marL="0">
              <a:buNone/>
            </a:pPr>
            <a:r>
              <a:rPr lang="en-US" sz="800" b="1" dirty="0">
                <a:solidFill>
                  <a:schemeClr val="bg1"/>
                </a:solidFill>
              </a:rPr>
              <a:t>25–29</a:t>
            </a:r>
            <a:endParaRPr lang="en-US" sz="800" dirty="0"/>
          </a:p>
        </p:txBody>
      </p:sp>
      <p:sp>
        <p:nvSpPr>
          <p:cNvPr id="49" name="Shape 36"/>
          <p:cNvSpPr/>
          <p:nvPr/>
        </p:nvSpPr>
        <p:spPr>
          <a:xfrm>
            <a:off x="10740485" y="4919472"/>
            <a:ext cx="369475" cy="411480"/>
          </a:xfrm>
          <a:prstGeom prst="roundRect">
            <a:avLst>
              <a:gd name="adj" fmla="val 14849"/>
            </a:avLst>
          </a:prstGeom>
          <a:solidFill>
            <a:schemeClr val="accent6"/>
          </a:solidFill>
          <a:ln w="12700">
            <a:solidFill>
              <a:srgbClr val="FFFFFF">
                <a:alpha val="0"/>
              </a:srgbClr>
            </a:solidFill>
            <a:prstDash val="solid"/>
          </a:ln>
        </p:spPr>
      </p:sp>
      <p:sp>
        <p:nvSpPr>
          <p:cNvPr id="50" name="Text 37"/>
          <p:cNvSpPr txBox="1"/>
          <p:nvPr/>
        </p:nvSpPr>
        <p:spPr>
          <a:xfrm>
            <a:off x="10740485" y="4919472"/>
            <a:ext cx="369475" cy="411480"/>
          </a:xfrm>
          <a:prstGeom prst="rect">
            <a:avLst/>
          </a:prstGeom>
          <a:noFill/>
          <a:ln/>
        </p:spPr>
        <p:txBody>
          <a:bodyPr wrap="square" lIns="0" tIns="0" rIns="0" bIns="0" rtlCol="0" anchor="ctr"/>
          <a:lstStyle/>
          <a:p>
            <a:pPr algn="ctr" indent="0" marL="0">
              <a:buNone/>
            </a:pPr>
            <a:r>
              <a:rPr lang="en-US" sz="800" b="1" dirty="0">
                <a:solidFill>
                  <a:schemeClr val="bg1"/>
                </a:solidFill>
              </a:rPr>
              <a:t>30–32</a:t>
            </a:r>
            <a:endParaRPr lang="en-US" sz="800" dirty="0"/>
          </a:p>
        </p:txBody>
      </p:sp>
      <p:pic>
        <p:nvPicPr>
          <p:cNvPr id="51" name="Image 10" descr="trophy">    </p:cNvPr>
          <p:cNvPicPr>
            <a:picLocks noChangeAspect="1"/>
          </p:cNvPicPr>
          <p:nvPr/>
        </p:nvPicPr>
        <p:blipFill>
          <a:blip r:embed="rId11"/>
          <a:stretch>
            <a:fillRect/>
          </a:stretch>
        </p:blipFill>
        <p:spPr>
          <a:xfrm>
            <a:off x="11201400" y="4846320"/>
            <a:ext cx="502920" cy="502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32 — Even voorstellen — Se présenter au travail</dc:title>
  <dc:subject>Néerlandais 1 — Langue en situation, en milieu professionnel</dc:subject>
  <dc:creator>A. Jouniaux</dc:creator>
  <cp:lastModifiedBy>A. Jouniaux</cp:lastModifiedBy>
  <cp:revision>1</cp:revision>
  <dcterms:created xsi:type="dcterms:W3CDTF">2026-10-05T15:46:50Z</dcterms:created>
  <dcterms:modified xsi:type="dcterms:W3CDTF">2026-10-05T15:46:50Z</dcterms:modified>
</cp:coreProperties>
</file>