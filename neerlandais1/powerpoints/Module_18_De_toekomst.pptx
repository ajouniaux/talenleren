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cd3ab7b-119d-917b-356a-a6bbb74b8718}">
          <p14:sldIdLst>
            <p14:sldId id="256"/>
          </p14:sldIdLst>
        </p14:section>
        <p14:section name="Découvrir" id="{93c39155-7c5b-11b2-3091-f3258c65c0a5}">
          <p14:sldIdLst>
            <p14:sldId id="257"/>
            <p14:sldId id="258"/>
          </p14:sldIdLst>
        </p14:section>
        <p14:section name="Comprendre" id="{6f216f9c-809f-3580-7e8e-2533a1c0c8c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602bf555-5484-cbcb-18bf-2e13bb122c6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77faba4f-a56d-6cb6-ee3e-7589dd1d752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parler de demain, de ses projets.
Question d'entrée, en français puis en néerlandais : « Que faites-vous demain ? » Notez les réponses au tableau : la plupart sont déjà au présent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le futur sert à planifier, à s'engager et à proposer. Les trois outils du jour couvrent ces trois besoins.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que le présent exprime le futur.
Faites relever le temps du verbe : le présent ! Le marqueur (maandag, dinsdag) suffit à situer l'action dans le futur. de afscheidsdrink = le pot de départ.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Avoir une vue d'ensemble des trois outils.
Le français a un futur simple (« je travaillerai ») ; le néerlandais n'en a pas vraiment besoin. zullen est plus rare qu'on ne le croit : n'en faites pas l'équivalent automatique de « -rai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futur planifié avec le présent.
Marqueur en tête → inversion (M3). En fin de phrase, pas d'inversion : Ik werk morgen thuis. straks = tout à l'heure (dans le futur proche).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les plus fréquents.
Ik ga naar Gent suffit pour « je vais aller » / « j'irai ». Avec zullen, l'infinitif va au bout (la pince, M3). Après als (M9), le présent suffit : c'est le réflexe du français après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employer gaan + infinitif.
Trois usages : une intention (Ik ga stoppen met roken), un changement (We gaan verhuizen), un signe visible (Het gaat regenen). La particule se recolle (M11) : opbellen. niet avant l'infinitif (M13) : Ik ga niet verhuizen.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gaan (déplacement) et gaan + infinitif (futur).
En français comme en néerlandais, « aller » sert aux deux. La différence est dans la suite : un lieu (naar…) ou un infinitif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zullen pour promettre, proposer, annoncer et supposer.
Rappel M12 (bonus). jij zult (standard) / jij zal (très courant en Flandre). zal wel = « sans doute ». Les annonces officielles (gare, courriels formels) utilisent zullen ; à l'oral, le présent est plus fréquent.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l'action dans le futur ; faire le lien avec les mots du passé (M15).
over + durée = « dans » (over een uur) ; in een uur = « en une heure ». volgend jaar (het jaar) mais volgende week (de week), comme vorig / vorige au M15. binnenkort = bientôt.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 vocabulaire des projets de vie et de travail.
op reis gaan et met pensioen gaan (prendre sa retraite) sont des expressions : pas de 2e gaan (✗ ~~We gaan op reis gaan~~). van plan zijn om … te + infinitif : construction de Néerlandais 2, à reconnaître. Faites dire à chacun un projet vrai : Volgend jaar ga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futur antérieur (zullen + participe + hebben / zijn).
À reconnaître seulement. En fin de phrase : participe + hebben (ou hebben + participe). Le passé composé avec un marqueur futur est la solution la plus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Le présent + marqueur est presque toujours possible ; zullen est réservé à la promesse, à la proposition et à l'écrit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Prédire l'avenir de façon ludique avec gaan et zullen.
Exigez au moins une phrase avec gaan et une avec zullen. Variante écrite : chacun écrit 3 prédictions pour un voisin ; on les lit à la fin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organiser une journée d'équipe.
Chaque paire présente ensuite son programme à la classe avec le présent + marqueur : Om 9 uur beginnen we, om 11 uur gaan we… La classe vote pour le meilleur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Morgen werk ik thuis.
2. zal : Ik zal je helpen.
3. Als ik klaar ben, bel ik je.
Teaser M19 : Toen ik klein was…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18 / 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toekomst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Parler du futur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Morgen werk ik thuis.</a:t>
            </a:r>
            <a:endParaRPr lang="en-US" sz="2000" dirty="0"/>
          </a:p>
        </p:txBody>
      </p:sp>
      <p:pic>
        <p:nvPicPr>
          <p:cNvPr id="5" name="Image 0" descr="tear off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morgen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37260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7260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volgende week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60704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 jaar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75320" y="2423160"/>
            <a:ext cx="3291840" cy="914"/>
          </a:xfrm>
          <a:prstGeom prst="line">
            <a:avLst/>
          </a:prstGeom>
          <a:noFill/>
          <a:ln w="38100">
            <a:solidFill>
              <a:srgbClr val="F6C27E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82753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6C27E"/>
                </a:solidFill>
              </a:rPr>
              <a:t>le futur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55080" y="333756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55080" y="333756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 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morgen </a:t>
            </a: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doen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Planifier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de mon agenda : </a:t>
            </a:r>
            <a:r>
              <a:rPr lang="en-US" sz="2000" i="1" dirty="0">
                <a:solidFill>
                  <a:schemeClr val="tx1"/>
                </a:solidFill>
              </a:rPr>
              <a:t>Maandag heb ik een vergadering.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J’annonce un projet : </a:t>
            </a:r>
            <a:r>
              <a:rPr lang="en-US" sz="2000" i="1" dirty="0">
                <a:solidFill>
                  <a:schemeClr val="tx1"/>
                </a:solidFill>
              </a:rPr>
              <a:t>Ik ga verhuizen.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Promettre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promets et je propose : </a:t>
            </a:r>
            <a:r>
              <a:rPr lang="en-US" sz="2000" i="1" dirty="0">
                <a:solidFill>
                  <a:schemeClr val="tx1"/>
                </a:solidFill>
              </a:rPr>
              <a:t>Ik zal je helpen. Zullen we gaan?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planifie, on s’engage, on propose : trois besoins, trois outils.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l’agenda de Sofie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760720" cy="4709160"/>
          </a:xfrm>
          <a:prstGeom prst="roundRect">
            <a:avLst>
              <a:gd name="adj" fmla="val 777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76072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9344"/>
            <a:ext cx="402336" cy="4023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554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SOFIE · VOLGENDE WEEK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34086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21031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9.00 vergadering met An</a:t>
            </a:r>
            <a:endParaRPr lang="en-US" sz="16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22860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92608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316382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1638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29260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thuiswerken</a:t>
            </a:r>
            <a:endParaRPr lang="en-US" sz="1600" dirty="0"/>
          </a:p>
        </p:txBody>
      </p:sp>
      <p:pic>
        <p:nvPicPr>
          <p:cNvPr id="17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3108960"/>
            <a:ext cx="457200" cy="4572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85800" y="374904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85800" y="398678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3986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2011680" y="374904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14.00 gesprek met een kandidaat</a:t>
            </a:r>
            <a:endParaRPr lang="en-US" sz="1600" dirty="0"/>
          </a:p>
        </p:txBody>
      </p:sp>
      <p:pic>
        <p:nvPicPr>
          <p:cNvPr id="22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3931920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85800" y="457200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85800" y="480974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8097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2011680" y="4572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klant in Antwerpen</a:t>
            </a:r>
            <a:endParaRPr lang="en-US" sz="1600" dirty="0"/>
          </a:p>
        </p:txBody>
      </p:sp>
      <p:pic>
        <p:nvPicPr>
          <p:cNvPr id="27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4754880"/>
            <a:ext cx="457200" cy="457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85800" y="539496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85800" y="563270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2011680" y="5394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17.00 afscheidsdrink van Jan</a:t>
            </a:r>
            <a:endParaRPr lang="en-US" sz="1600" dirty="0"/>
          </a:p>
        </p:txBody>
      </p:sp>
      <p:pic>
        <p:nvPicPr>
          <p:cNvPr id="32" name="Image 5" descr="clinking 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5577840"/>
            <a:ext cx="457200" cy="4572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6583680" y="15544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748272" y="15544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Sofie maandag?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6949440" y="22860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114032" y="22860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Maandag </a:t>
            </a:r>
            <a:r>
              <a:rPr lang="en-US" sz="1800" b="1" i="1" dirty="0">
                <a:solidFill>
                  <a:schemeClr val="tx1"/>
                </a:solidFill>
              </a:rPr>
              <a:t>heeft</a:t>
            </a:r>
            <a:r>
              <a:rPr lang="en-US" sz="1800" i="1" dirty="0">
                <a:solidFill>
                  <a:schemeClr val="tx1"/>
                </a:solidFill>
              </a:rPr>
              <a:t> ze een vergadering met An.</a:t>
            </a:r>
            <a:endParaRPr lang="en-US" sz="1800" dirty="0"/>
          </a:p>
        </p:txBody>
      </p:sp>
      <p:sp>
        <p:nvSpPr>
          <p:cNvPr id="37" name="Shape 28"/>
          <p:cNvSpPr/>
          <p:nvPr/>
        </p:nvSpPr>
        <p:spPr>
          <a:xfrm>
            <a:off x="6583680" y="31546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748272" y="31546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ze dinsdag?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6949440" y="38862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114032" y="38862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Dinsdag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ze thuis.</a:t>
            </a:r>
            <a:endParaRPr lang="en-US" sz="1800" dirty="0"/>
          </a:p>
        </p:txBody>
      </p:sp>
      <p:sp>
        <p:nvSpPr>
          <p:cNvPr id="41" name="Shape 32"/>
          <p:cNvSpPr/>
          <p:nvPr/>
        </p:nvSpPr>
        <p:spPr>
          <a:xfrm>
            <a:off x="6583680" y="4846320"/>
            <a:ext cx="505663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5120640"/>
            <a:ext cx="822960" cy="8229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726680" y="484632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 est le temps du verbe 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</a:t>
            </a:r>
            <a:r>
              <a:rPr lang="en-US" sz="1700" b="1" dirty="0">
                <a:solidFill>
                  <a:schemeClr val="tx1"/>
                </a:solidFill>
              </a:rPr>
              <a:t>présent</a:t>
            </a:r>
            <a:r>
              <a:rPr lang="en-US" sz="1700" dirty="0">
                <a:solidFill>
                  <a:schemeClr val="tx1"/>
                </a:solidFill>
              </a:rPr>
              <a:t> ! Le jour suffit à situer l’action.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façons de parler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246120"/>
            <a:ext cx="868680" cy="8686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 flipV="1">
            <a:off x="1435608" y="2286000"/>
            <a:ext cx="347472" cy="1389888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83080" y="1600200"/>
            <a:ext cx="9006840" cy="13716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1600200"/>
            <a:ext cx="502920" cy="1371600"/>
          </a:xfrm>
          <a:custGeom>
            <a:avLst/>
            <a:gdLst/>
            <a:ahLst/>
            <a:cxnLst/>
            <a:rect l="l" t="t" r="r" b="b"/>
            <a:pathLst>
              <a:path w="502920" h="1371600">
                <a:moveTo>
                  <a:pt x="0" y="0"/>
                </a:moveTo>
                <a:lnTo>
                  <a:pt x="502920" y="6858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65960" y="160020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① présent + marqueur</a:t>
            </a:r>
            <a:r>
              <a:rPr lang="en-US" sz="1900" dirty="0">
                <a:solidFill>
                  <a:schemeClr val="bg1"/>
                </a:solidFill>
              </a:rPr>
              <a:t> — un plan, un horaire · </a:t>
            </a:r>
            <a:r>
              <a:rPr lang="en-US" sz="1900" b="1" dirty="0">
                <a:solidFill>
                  <a:schemeClr val="bg1"/>
                </a:solidFill>
              </a:rPr>
              <a:t>le plus fréquent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Morgen</a:t>
            </a:r>
            <a:r>
              <a:rPr lang="en-US" sz="1900" i="1" dirty="0">
                <a:solidFill>
                  <a:schemeClr val="bg1"/>
                </a:solidFill>
              </a:rPr>
              <a:t> werk ik thuis.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1435608" y="3675888"/>
            <a:ext cx="347472" cy="50292"/>
          </a:xfrm>
          <a:prstGeom prst="line">
            <a:avLst/>
          </a:prstGeom>
          <a:noFill/>
          <a:ln w="31750">
            <a:solidFill>
              <a:srgbClr val="2A6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154680"/>
            <a:ext cx="9006840" cy="114300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789920" y="3154680"/>
            <a:ext cx="502920" cy="1143000"/>
          </a:xfrm>
          <a:custGeom>
            <a:avLst/>
            <a:gdLst/>
            <a:ahLst/>
            <a:cxnLst/>
            <a:rect l="l" t="t" r="r" b="b"/>
            <a:pathLst>
              <a:path w="502920" h="1143000">
                <a:moveTo>
                  <a:pt x="0" y="0"/>
                </a:moveTo>
                <a:lnTo>
                  <a:pt x="502920" y="571500"/>
                </a:lnTo>
                <a:lnTo>
                  <a:pt x="0" y="1143000"/>
                </a:lnTo>
                <a:close/>
              </a:path>
            </a:pathLst>
          </a:cu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965960" y="315468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② gaan + infinitif</a:t>
            </a:r>
            <a:r>
              <a:rPr lang="en-US" sz="1900" dirty="0">
                <a:solidFill>
                  <a:schemeClr val="bg1"/>
                </a:solidFill>
              </a:rPr>
              <a:t> — une intention, un changement, un signe visible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i="1" dirty="0">
                <a:solidFill>
                  <a:schemeClr val="bg1"/>
                </a:solidFill>
              </a:rPr>
              <a:t>Ik ga volgend jaar verhuizen. · Het gaat regenen.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435608" y="3675888"/>
            <a:ext cx="347472" cy="1284732"/>
          </a:xfrm>
          <a:prstGeom prst="line">
            <a:avLst/>
          </a:prstGeom>
          <a:noFill/>
          <a:ln w="31750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3080" y="4480560"/>
            <a:ext cx="9006840" cy="960120"/>
          </a:xfrm>
          <a:prstGeom prst="roundRect">
            <a:avLst>
              <a:gd name="adj" fmla="val 571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789920" y="4480560"/>
            <a:ext cx="502920" cy="960120"/>
          </a:xfrm>
          <a:custGeom>
            <a:avLst/>
            <a:gdLst/>
            <a:ahLst/>
            <a:cxnLst/>
            <a:rect l="l" t="t" r="r" b="b"/>
            <a:pathLst>
              <a:path w="502920" h="960120">
                <a:moveTo>
                  <a:pt x="0" y="0"/>
                </a:moveTo>
                <a:lnTo>
                  <a:pt x="502920" y="480060"/>
                </a:lnTo>
                <a:lnTo>
                  <a:pt x="0" y="960120"/>
                </a:lnTo>
                <a:close/>
              </a:path>
            </a:pathLst>
          </a:cu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965960" y="4480560"/>
            <a:ext cx="8778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③ zullen + infinitif</a:t>
            </a:r>
            <a:r>
              <a:rPr lang="en-US" sz="1700" dirty="0">
                <a:solidFill>
                  <a:schemeClr val="bg1"/>
                </a:solidFill>
              </a:rPr>
              <a:t> — une promesse, une proposition, une annonce officielle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bg1"/>
                </a:solidFill>
              </a:rPr>
              <a:t>Ik zal je helpen. · Zullen we gaan?</a:t>
            </a:r>
            <a:endParaRPr lang="en-US" sz="1700" dirty="0"/>
          </a:p>
        </p:txBody>
      </p:sp>
      <p:pic>
        <p:nvPicPr>
          <p:cNvPr id="19" name="Image 0" descr="FlagChecke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3474720"/>
            <a:ext cx="411480" cy="4114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a un futur simple (« je travaillerai ») ; le néerlandais n’en a pas vraiment besoin.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présent + un marqueur de temps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1912" y="15361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8191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marqueur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56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verbe (inversion, M3)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3108960" y="21031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896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werk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297680" y="21031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thuis.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548640" y="288036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880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Volgende week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3108960" y="28803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2880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gaan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4297680" y="288036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we naar Gent.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65760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 3 uur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108960" y="3657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29768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2976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een vergadering.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48640" y="443484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10896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0896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4297680" y="4434840"/>
            <a:ext cx="640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02920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straks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6217920" y="443484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21792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terug.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7269480" y="2103120"/>
            <a:ext cx="4370832" cy="29718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523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423" y="2403775"/>
            <a:ext cx="294803" cy="294803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165592" y="2249424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Repères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7470648" y="2971800"/>
            <a:ext cx="3968496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Marqueur </a:t>
            </a:r>
            <a:r>
              <a:rPr lang="en-US" sz="1600" b="1" dirty="0">
                <a:solidFill>
                  <a:schemeClr val="tx1"/>
                </a:solidFill>
              </a:rPr>
              <a:t>en tête</a:t>
            </a:r>
            <a:r>
              <a:rPr lang="en-US" sz="1600" dirty="0">
                <a:solidFill>
                  <a:schemeClr val="tx1"/>
                </a:solidFill>
              </a:rPr>
              <a:t> → inversion (M3).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 fin de phrase, pas d’inversion : </a:t>
            </a:r>
            <a:r>
              <a:rPr lang="en-US" sz="1600" i="1" dirty="0">
                <a:solidFill>
                  <a:schemeClr val="tx1"/>
                </a:solidFill>
              </a:rPr>
              <a:t>Ik werk morgen thuis.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straks</a:t>
            </a:r>
            <a:r>
              <a:rPr lang="en-US" sz="1600" dirty="0">
                <a:solidFill>
                  <a:schemeClr val="tx1"/>
                </a:solidFill>
              </a:rPr>
              <a:t> = tout à l’heure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: « Je </a:t>
            </a:r>
            <a:r>
              <a:rPr lang="en-US" sz="1900" b="1" dirty="0">
                <a:solidFill>
                  <a:schemeClr val="bg1"/>
                </a:solidFill>
              </a:rPr>
              <a:t>travaillerai</a:t>
            </a:r>
            <a:r>
              <a:rPr lang="en-US" sz="1900" dirty="0">
                <a:solidFill>
                  <a:schemeClr val="bg1"/>
                </a:solidFill>
              </a:rPr>
              <a:t> demain. » → NL : </a:t>
            </a:r>
            <a:r>
              <a:rPr lang="en-US" sz="1900" i="1" dirty="0">
                <a:solidFill>
                  <a:schemeClr val="bg1"/>
                </a:solidFill>
              </a:rPr>
              <a:t>Morgen </a:t>
            </a:r>
            <a:r>
              <a:rPr lang="en-US" sz="1900" b="1" i="1" dirty="0">
                <a:solidFill>
                  <a:schemeClr val="bg1"/>
                </a:solidFill>
              </a:rPr>
              <a:t>werk</a:t>
            </a:r>
            <a:r>
              <a:rPr lang="en-US" sz="1900" i="1" dirty="0">
                <a:solidFill>
                  <a:schemeClr val="bg1"/>
                </a:solidFill>
              </a:rPr>
              <a:t> ik.</a:t>
            </a:r>
            <a:r>
              <a:rPr lang="en-US" sz="1900" dirty="0">
                <a:solidFill>
                  <a:schemeClr val="bg1"/>
                </a:solidFill>
              </a:rPr>
              <a:t> (présent)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trois calques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vais aller à Gand.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ga naar Gent gaan.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2560320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726680" y="2194560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18120" y="21945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ga</a:t>
            </a:r>
            <a:r>
              <a:rPr lang="en-US" sz="1700" i="1" dirty="0">
                <a:solidFill>
                  <a:schemeClr val="tx1"/>
                </a:solidFill>
              </a:rPr>
              <a:t> naar Gent.</a:t>
            </a:r>
            <a:endParaRPr lang="en-US" sz="1700" dirty="0"/>
          </a:p>
        </p:txBody>
      </p:sp>
      <p:pic>
        <p:nvPicPr>
          <p:cNvPr id="13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28416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1868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travaillerai demain.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218688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zal werken morgen.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406640" y="3675888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726680" y="3310128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818120" y="331012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Morgen </a:t>
            </a:r>
            <a:r>
              <a:rPr lang="en-US" sz="1700" b="1" i="1" dirty="0">
                <a:solidFill>
                  <a:schemeClr val="tx1"/>
                </a:solidFill>
              </a:rPr>
              <a:t>werk</a:t>
            </a:r>
            <a:r>
              <a:rPr lang="en-US" sz="1700" i="1" dirty="0">
                <a:solidFill>
                  <a:schemeClr val="tx1"/>
                </a:solidFill>
              </a:rPr>
              <a:t> ik. / Ik zal morgen </a:t>
            </a:r>
            <a:r>
              <a:rPr lang="en-US" sz="1700" b="1" i="1" dirty="0">
                <a:solidFill>
                  <a:schemeClr val="tx1"/>
                </a:solidFill>
              </a:rPr>
              <a:t>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43984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34256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je serai à Bruxelles, je t’appellerai. »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709160" y="4334256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Als ik in Brussel zal zijn, …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406640" y="4791456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726680" y="4425696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818120" y="442569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in Brussel </a:t>
            </a:r>
            <a:r>
              <a:rPr lang="en-US" sz="1700" b="1" i="1" dirty="0">
                <a:solidFill>
                  <a:schemeClr val="tx1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, bel ik je.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ga naar Gent</a:t>
            </a:r>
            <a:r>
              <a:rPr lang="en-US" sz="1700" dirty="0">
                <a:solidFill>
                  <a:schemeClr val="bg1"/>
                </a:solidFill>
              </a:rPr>
              <a:t> = « je vais aller » · avec </a:t>
            </a:r>
            <a:r>
              <a:rPr lang="en-US" sz="1700" i="1" dirty="0">
                <a:solidFill>
                  <a:schemeClr val="bg1"/>
                </a:solidFill>
              </a:rPr>
              <a:t>zullen</a:t>
            </a:r>
            <a:r>
              <a:rPr lang="en-US" sz="1700" dirty="0">
                <a:solidFill>
                  <a:schemeClr val="bg1"/>
                </a:solidFill>
              </a:rPr>
              <a:t>, l’infinitif au bout · après </a:t>
            </a: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, le </a:t>
            </a:r>
            <a:r>
              <a:rPr lang="en-US" sz="1700" b="1" dirty="0">
                <a:solidFill>
                  <a:schemeClr val="bg1"/>
                </a:solidFill>
              </a:rPr>
              <a:t>présent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gaan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00400" cy="38862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gaan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aller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12848" y="233172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8610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8610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 · u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12848" y="308610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4048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384048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59486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9486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12848" y="459486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02336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336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472123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2123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19100" y="1600200"/>
            <a:ext cx="2646274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9100" y="1600200"/>
            <a:ext cx="26462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nieuwe auto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156814" y="1600200"/>
            <a:ext cx="1234074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156814" y="1600200"/>
            <a:ext cx="12340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kopen.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023360" y="256032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3360" y="256032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4721230" y="256032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21230" y="256032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732922" y="2560320"/>
            <a:ext cx="1861718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5732922" y="2560320"/>
            <a:ext cx="1861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verhuizen.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4023360" y="3520440"/>
            <a:ext cx="1704807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023360" y="352044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Kijk, het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5819607" y="352044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19607" y="352044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831300" y="3520440"/>
            <a:ext cx="1547896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831300" y="352044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regenen!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023360" y="4480560"/>
            <a:ext cx="1077163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023360" y="4480560"/>
            <a:ext cx="10771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191963" y="448056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191963" y="448056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203655" y="4480560"/>
            <a:ext cx="1547896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03655" y="448056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842992" y="4480560"/>
            <a:ext cx="1704807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7842992" y="448056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opbellen.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« aller + infinitif » = NL </a:t>
            </a:r>
            <a:r>
              <a:rPr lang="en-US" sz="1900" i="1" dirty="0">
                <a:solidFill>
                  <a:schemeClr val="bg1"/>
                </a:solidFill>
              </a:rPr>
              <a:t>gaan</a:t>
            </a:r>
            <a:r>
              <a:rPr lang="en-US" sz="1900" dirty="0">
                <a:solidFill>
                  <a:schemeClr val="bg1"/>
                </a:solidFill>
              </a:rPr>
              <a:t> + infinitif… mais </a:t>
            </a:r>
            <a:r>
              <a:rPr lang="en-US" sz="1900" b="1" dirty="0">
                <a:solidFill>
                  <a:schemeClr val="bg1"/>
                </a:solidFill>
              </a:rPr>
              <a:t>séparés</a:t>
            </a:r>
            <a:r>
              <a:rPr lang="en-US" sz="1900" dirty="0">
                <a:solidFill>
                  <a:schemeClr val="bg1"/>
                </a:solidFill>
              </a:rPr>
              <a:t> (la pince, M3) 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gaan — aller quelque part ou aller faire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DÉPLACEMENT</a:t>
            </a:r>
            <a:endParaRPr lang="en-US" sz="1700" dirty="0"/>
          </a:p>
        </p:txBody>
      </p:sp>
      <p:pic>
        <p:nvPicPr>
          <p:cNvPr id="8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1097280" cy="1097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03120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</a:t>
            </a:r>
            <a:r>
              <a:rPr lang="en-US" sz="2200" b="1" i="1" dirty="0">
                <a:solidFill>
                  <a:schemeClr val="tx1"/>
                </a:solidFill>
              </a:rPr>
              <a:t>naar de bakker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2103120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chez le boulanger</a:t>
            </a:r>
            <a:endParaRPr lang="en-US" sz="1500" dirty="0"/>
          </a:p>
        </p:txBody>
      </p:sp>
      <p:sp>
        <p:nvSpPr>
          <p:cNvPr id="11" name="tag"/>
          <p:cNvSpPr/>
          <p:nvPr/>
        </p:nvSpPr>
        <p:spPr>
          <a:xfrm>
            <a:off x="2103120" y="3429000"/>
            <a:ext cx="2002231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un lieu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7064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FUTUR</a:t>
            </a:r>
            <a:endParaRPr lang="en-US" sz="1700" dirty="0"/>
          </a:p>
        </p:txBody>
      </p:sp>
      <p:pic>
        <p:nvPicPr>
          <p:cNvPr id="15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2286000"/>
            <a:ext cx="1097280" cy="10972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81544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brood </a:t>
            </a:r>
            <a:r>
              <a:rPr lang="en-US" sz="2200" b="1" i="1" dirty="0">
                <a:solidFill>
                  <a:schemeClr val="tx1"/>
                </a:solidFill>
              </a:rPr>
              <a:t>kopen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7781544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acheter du pain</a:t>
            </a:r>
            <a:endParaRPr lang="en-US" sz="1500" dirty="0"/>
          </a:p>
        </p:txBody>
      </p:sp>
      <p:sp>
        <p:nvSpPr>
          <p:cNvPr id="18" name="tag"/>
          <p:cNvSpPr/>
          <p:nvPr/>
        </p:nvSpPr>
        <p:spPr>
          <a:xfrm>
            <a:off x="7781544" y="3429000"/>
            <a:ext cx="3171139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infinitif au bout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Les deux :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ga</a:t>
            </a:r>
            <a:r>
              <a:rPr lang="en-US" sz="2000" i="1" dirty="0">
                <a:solidFill>
                  <a:schemeClr val="tx1"/>
                </a:solidFill>
              </a:rPr>
              <a:t> bij de bakker brood </a:t>
            </a:r>
            <a:r>
              <a:rPr lang="en-US" sz="2000" b="1" i="1" dirty="0">
                <a:solidFill>
                  <a:schemeClr val="tx1"/>
                </a:solidFill>
              </a:rPr>
              <a:t>kopen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 </a:t>
            </a:r>
            <a:r>
              <a:rPr lang="en-US" sz="1900" i="1" dirty="0">
                <a:solidFill>
                  <a:schemeClr val="tx1"/>
                </a:solidFill>
              </a:rPr>
              <a:t>Ik ga eten.</a:t>
            </a:r>
            <a:r>
              <a:rPr lang="en-US" sz="1900" dirty="0">
                <a:solidFill>
                  <a:schemeClr val="tx1"/>
                </a:solidFill>
              </a:rPr>
              <a:t> = je vais manger (maintenant, ou plus tard : le </a:t>
            </a:r>
            <a:r>
              <a:rPr lang="en-US" sz="1900" b="1" dirty="0">
                <a:solidFill>
                  <a:schemeClr val="tx1"/>
                </a:solidFill>
              </a:rPr>
              <a:t>contexte</a:t>
            </a:r>
            <a:r>
              <a:rPr lang="en-US" sz="1900" dirty="0">
                <a:solidFill>
                  <a:schemeClr val="tx1"/>
                </a:solidFill>
              </a:rPr>
              <a:t> décide)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zullen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91840" cy="47091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zullen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promettre, proposer…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60397" y="2331720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99816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99816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60397" y="3099816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67912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60397" y="3867912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636008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636008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60397" y="4636008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5404104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260397" y="5404104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zullen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069080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2" name="Image 0" descr="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737360"/>
            <a:ext cx="685800" cy="6858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074920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promesse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het morgen </a:t>
            </a:r>
            <a:r>
              <a:rPr lang="en-US" sz="1700" b="1" i="1" dirty="0">
                <a:solidFill>
                  <a:schemeClr val="tx1"/>
                </a:solidFill>
              </a:rPr>
              <a:t>doen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946136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6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1737360"/>
            <a:ext cx="685800" cy="685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51976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proposition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174736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Zullen</a:t>
            </a:r>
            <a:r>
              <a:rPr lang="en-US" sz="1700" i="1" dirty="0">
                <a:solidFill>
                  <a:schemeClr val="tx1"/>
                </a:solidFill>
              </a:rPr>
              <a:t> we koffie </a:t>
            </a:r>
            <a:r>
              <a:rPr lang="en-US" sz="1700" b="1" i="1" dirty="0">
                <a:solidFill>
                  <a:schemeClr val="tx1"/>
                </a:solidFill>
              </a:rPr>
              <a:t>drinken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4069080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0" name="Image 2" descr="loudspea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3703320"/>
            <a:ext cx="685800" cy="6858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074920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annonce officielle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4297680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vergadering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om 10 uur </a:t>
            </a:r>
            <a:r>
              <a:rPr lang="en-US" sz="1700" b="1" i="1" dirty="0">
                <a:solidFill>
                  <a:schemeClr val="tx1"/>
                </a:solidFill>
              </a:rPr>
              <a:t>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946136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3703320"/>
            <a:ext cx="685800" cy="6858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951976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supposition</a:t>
            </a:r>
            <a:endParaRPr lang="en-US" sz="1800" dirty="0"/>
          </a:p>
        </p:txBody>
      </p:sp>
      <p:sp>
        <p:nvSpPr>
          <p:cNvPr id="36" name="Text 29"/>
          <p:cNvSpPr txBox="1"/>
          <p:nvPr/>
        </p:nvSpPr>
        <p:spPr>
          <a:xfrm>
            <a:off x="8174736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wel ziek </a:t>
            </a:r>
            <a:r>
              <a:rPr lang="en-US" sz="1700" b="1" i="1" dirty="0">
                <a:solidFill>
                  <a:schemeClr val="tx1"/>
                </a:solidFill>
              </a:rPr>
              <a:t>zijn</a:t>
            </a:r>
            <a:r>
              <a:rPr lang="en-US" sz="1700" i="1" dirty="0">
                <a:solidFill>
                  <a:schemeClr val="tx1"/>
                </a:solidFill>
              </a:rPr>
              <a:t>. (il doit être malade)</a:t>
            </a:r>
            <a:endParaRPr lang="en-US" sz="1700" dirty="0"/>
          </a:p>
        </p:txBody>
      </p:sp>
      <p:sp>
        <p:nvSpPr>
          <p:cNvPr id="37" name="Text 30"/>
          <p:cNvSpPr txBox="1"/>
          <p:nvPr/>
        </p:nvSpPr>
        <p:spPr>
          <a:xfrm>
            <a:off x="4069080" y="557784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M12 · </a:t>
            </a:r>
            <a:r>
              <a:rPr lang="en-US" sz="1500" i="1" dirty="0">
                <a:solidFill>
                  <a:schemeClr val="accent5"/>
                </a:solidFill>
              </a:rPr>
              <a:t>jij zal</a:t>
            </a:r>
            <a:r>
              <a:rPr lang="en-US" sz="1500" i="1" dirty="0">
                <a:solidFill>
                  <a:schemeClr val="accent5"/>
                </a:solidFill>
              </a:rPr>
              <a:t> : très courant en Flandre · </a:t>
            </a:r>
            <a:r>
              <a:rPr lang="en-US" sz="1500" i="1" dirty="0">
                <a:solidFill>
                  <a:schemeClr val="accent5"/>
                </a:solidFill>
              </a:rPr>
              <a:t>zal wel</a:t>
            </a:r>
            <a:r>
              <a:rPr lang="en-US" sz="1500" i="1" dirty="0">
                <a:solidFill>
                  <a:schemeClr val="accent5"/>
                </a:solidFill>
              </a:rPr>
              <a:t> = « sans doute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marqueurs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697480"/>
            <a:ext cx="1069848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468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5786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straks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7556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tout à l’heure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vanavond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2186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ce soir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06908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morgen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68172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demain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overmorgen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4476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3212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après-demain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99516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volgende week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60780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semaine prochaine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4582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 twee weken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708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4582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dans deux semaines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9212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 jaar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05338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9212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l’an prochain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686800" y="34290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+ </a:t>
            </a:r>
            <a:r>
              <a:rPr lang="en-US" sz="1400" b="1" i="1" dirty="0">
                <a:solidFill>
                  <a:schemeClr val="accent5"/>
                </a:solidFill>
              </a:rPr>
              <a:t>binnenkort</a:t>
            </a:r>
            <a:r>
              <a:rPr lang="en-US" sz="1400" dirty="0">
                <a:solidFill>
                  <a:schemeClr val="accent5"/>
                </a:solidFill>
              </a:rPr>
              <a:t> = bientôt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 MIROIR DU M15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48640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gisteren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morgen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4306824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306824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vorige week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volgende week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8065008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65008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twee dagen geleden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over twee dagen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over</a:t>
            </a:r>
            <a:r>
              <a:rPr lang="en-US" sz="1700" dirty="0">
                <a:solidFill>
                  <a:schemeClr val="bg1"/>
                </a:solidFill>
              </a:rPr>
              <a:t> + durée = « dans » (</a:t>
            </a:r>
            <a:r>
              <a:rPr lang="en-US" sz="1700" i="1" dirty="0">
                <a:solidFill>
                  <a:schemeClr val="bg1"/>
                </a:solidFill>
              </a:rPr>
              <a:t>over een uur</a:t>
            </a:r>
            <a:r>
              <a:rPr lang="en-US" sz="1700" dirty="0">
                <a:solidFill>
                  <a:schemeClr val="bg1"/>
                </a:solidFill>
              </a:rPr>
              <a:t>) · </a:t>
            </a:r>
            <a:r>
              <a:rPr lang="en-US" sz="1700" i="1" dirty="0">
                <a:solidFill>
                  <a:schemeClr val="bg1"/>
                </a:solidFill>
              </a:rPr>
              <a:t>in een uur</a:t>
            </a:r>
            <a:r>
              <a:rPr lang="en-US" sz="1700" dirty="0">
                <a:solidFill>
                  <a:schemeClr val="bg1"/>
                </a:solidFill>
              </a:rPr>
              <a:t> = « en une heure » · </a:t>
            </a:r>
            <a:r>
              <a:rPr lang="en-US" sz="1700" i="1" dirty="0">
                <a:solidFill>
                  <a:schemeClr val="bg1"/>
                </a:solidFill>
              </a:rPr>
              <a:t>volgend jaar</a:t>
            </a:r>
            <a:r>
              <a:rPr lang="en-US" sz="1700" dirty="0">
                <a:solidFill>
                  <a:schemeClr val="bg1"/>
                </a:solidFill>
              </a:rPr>
              <a:t> (het) / </a:t>
            </a:r>
            <a:r>
              <a:rPr lang="en-US" sz="1700" i="1" dirty="0">
                <a:solidFill>
                  <a:schemeClr val="bg1"/>
                </a:solidFill>
              </a:rPr>
              <a:t>volgende week</a:t>
            </a:r>
            <a:r>
              <a:rPr lang="en-US" sz="1700" dirty="0">
                <a:solidFill>
                  <a:schemeClr val="bg1"/>
                </a:solidFill>
              </a:rPr>
              <a:t> (de)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Parler de ses projets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delivery tr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842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 verhuizen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9842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56504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 trouwen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9842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329928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nieuwe job </a:t>
            </a:r>
            <a:r>
              <a:rPr lang="en-US" sz="1800" b="1" i="1" dirty="0">
                <a:solidFill>
                  <a:schemeClr val="tx1"/>
                </a:solidFill>
              </a:rPr>
              <a:t>zoeken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548640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914400" cy="914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783080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cursus </a:t>
            </a:r>
            <a:r>
              <a:rPr lang="en-US" sz="1800" b="1" i="1" dirty="0">
                <a:solidFill>
                  <a:schemeClr val="tx1"/>
                </a:solidFill>
              </a:rPr>
              <a:t>volgen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4322064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lugg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3950208"/>
            <a:ext cx="914400" cy="914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556504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</a:t>
            </a:r>
            <a:r>
              <a:rPr lang="en-US" sz="1800" i="1" dirty="0">
                <a:solidFill>
                  <a:schemeClr val="tx1"/>
                </a:solidFill>
              </a:rPr>
              <a:t> op reis.</a:t>
            </a:r>
            <a:endParaRPr lang="en-US" sz="1800" dirty="0"/>
          </a:p>
        </p:txBody>
      </p:sp>
      <p:sp>
        <p:nvSpPr>
          <p:cNvPr id="20" name="Shape 12"/>
          <p:cNvSpPr/>
          <p:nvPr/>
        </p:nvSpPr>
        <p:spPr>
          <a:xfrm>
            <a:off x="8095488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3950208"/>
            <a:ext cx="914400" cy="9144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329928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vader </a:t>
            </a:r>
            <a:r>
              <a:rPr lang="en-US" sz="1800" b="1" i="1" dirty="0">
                <a:solidFill>
                  <a:schemeClr val="tx1"/>
                </a:solidFill>
              </a:rPr>
              <a:t>gaat</a:t>
            </a:r>
            <a:r>
              <a:rPr lang="en-US" sz="1800" i="1" dirty="0">
                <a:solidFill>
                  <a:schemeClr val="tx1"/>
                </a:solidFill>
              </a:rPr>
              <a:t> met pensioen.</a:t>
            </a:r>
            <a:endParaRPr lang="en-US" sz="18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5623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op reis gaan · met pensioen gaan</a:t>
            </a:r>
            <a:r>
              <a:rPr lang="en-US" sz="1600" i="1" dirty="0">
                <a:solidFill>
                  <a:schemeClr val="accent5"/>
                </a:solidFill>
              </a:rPr>
              <a:t> (prendre sa retraite) : expressions, pas de 2e </a:t>
            </a:r>
            <a:r>
              <a:rPr lang="en-US" sz="1600" i="1" dirty="0">
                <a:solidFill>
                  <a:schemeClr val="accent5"/>
                </a:solidFill>
              </a:rPr>
              <a:t>gaan</a:t>
            </a:r>
            <a:r>
              <a:rPr lang="en-US" sz="1600" i="1" dirty="0">
                <a:solidFill>
                  <a:schemeClr val="accent5"/>
                </a:solidFill>
              </a:rPr>
              <a:t> · aperçu : </a:t>
            </a:r>
            <a:r>
              <a:rPr lang="en-US" sz="1600" i="1" dirty="0">
                <a:solidFill>
                  <a:schemeClr val="accent5"/>
                </a:solidFill>
              </a:rPr>
              <a:t>Ik ben </a:t>
            </a:r>
            <a:r>
              <a:rPr lang="en-US" sz="1600" b="1" i="1" dirty="0">
                <a:solidFill>
                  <a:schemeClr val="accent5"/>
                </a:solidFill>
              </a:rPr>
              <a:t>van plan om</a:t>
            </a:r>
            <a:r>
              <a:rPr lang="en-US" sz="1600" i="1" dirty="0">
                <a:solidFill>
                  <a:schemeClr val="accent5"/>
                </a:solidFill>
              </a:rPr>
              <a:t> te verhuizen.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futur antérieur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1060704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828800" y="22402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6E4A9E">
              <a:alpha val="25000"/>
            </a:srgbClr>
          </a:solidFill>
          <a:ln w="19050">
            <a:solidFill>
              <a:srgbClr val="6E4A9E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828800" y="22402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E4A9E"/>
                </a:solidFill>
              </a:rPr>
              <a:t>het rapport schrijven</a:t>
            </a:r>
            <a:r>
              <a:rPr lang="en-US" sz="1600" b="1" dirty="0">
                <a:solidFill>
                  <a:srgbClr val="6E4A9E"/>
                </a:solidFill>
              </a:rPr>
              <a:t> ✓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315200" y="1691640"/>
            <a:ext cx="914" cy="146304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pic>
        <p:nvPicPr>
          <p:cNvPr id="12" name="Image 1" descr="FlagChecke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00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vrijdag 17 uur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(d’ici vendredi, j’aurai écrit)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Volgend jaar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hier tien jaar </a:t>
            </a:r>
            <a:r>
              <a:rPr lang="en-US" sz="1900" b="1" i="1" dirty="0">
                <a:solidFill>
                  <a:schemeClr val="tx1"/>
                </a:solidFill>
              </a:rPr>
              <a:t>gewerkt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souvent : </a:t>
            </a: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heb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(passé composé + marqueur)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seulement. Le passé composé + un marqueur futur est la solution la plus simple.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quel futur choisir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 plan, un horaire, avec un marqueur ?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4068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présent : </a:t>
            </a:r>
            <a:r>
              <a:rPr lang="en-US" sz="1600" i="1" dirty="0">
                <a:solidFill>
                  <a:schemeClr val="bg1"/>
                </a:solidFill>
              </a:rPr>
              <a:t>Morgen werk ik thuis.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intention, un changement, un signe visible 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gaan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ga verhuizen.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promesse, une proposition, une annonce 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4068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zal je bellen.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0"/>
            <a:ext cx="365760" cy="36576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280160" y="4901184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Dans le doute : le </a:t>
            </a:r>
            <a:r>
              <a:rPr lang="en-US" sz="1800" b="1" dirty="0">
                <a:solidFill>
                  <a:schemeClr val="bg1"/>
                </a:solidFill>
              </a:rPr>
              <a:t>présent + un marqueur</a:t>
            </a:r>
            <a:r>
              <a:rPr lang="en-US" sz="1800" dirty="0">
                <a:solidFill>
                  <a:schemeClr val="bg1"/>
                </a:solidFill>
              </a:rPr>
              <a:t>. C’est presque toujours possible.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LA PINCE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281160" y="210312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281160" y="21031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 / zal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281160" y="267004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② verbe conjugué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9281160" y="315468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5" name="Text 31"/>
          <p:cNvSpPr txBox="1"/>
          <p:nvPr/>
        </p:nvSpPr>
        <p:spPr>
          <a:xfrm>
            <a:off x="9281160" y="3154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infinitif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9281160" y="372160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⑥ au bout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9235440" y="42062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zal</a:t>
            </a:r>
            <a:r>
              <a:rPr lang="en-US" sz="1600" i="1" dirty="0">
                <a:solidFill>
                  <a:schemeClr val="tx1"/>
                </a:solidFill>
              </a:rPr>
              <a:t> je morgen </a:t>
            </a:r>
            <a:r>
              <a:rPr lang="en-US" sz="1600" b="1" i="1" dirty="0">
                <a:solidFill>
                  <a:schemeClr val="tx1"/>
                </a:solidFill>
              </a:rPr>
              <a:t>bellen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870448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39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 de Karim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va se passer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Je vous le promets !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Rand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futur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Magi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boule de cristal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journée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5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0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5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0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5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0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4" name="Shape 33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48" name="Shape 37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Text 40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5" name="Text 44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56" name="Shape 45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Shape 46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3" name="Text 52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64" name="Shape 53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6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1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6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1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6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1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5" name="Shape 34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623560" y="22707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Maandag gaat hij om half negen naar de tandarts.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9" name="Text 38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50" name="Shape 39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23560" y="299720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Dinsdag om 10 uur.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43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5" name="Shape 44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623560" y="372364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Woensdag werkt hij thuis.</a:t>
            </a:r>
            <a:endParaRPr lang="en-US" sz="1500" dirty="0"/>
          </a:p>
        </p:txBody>
      </p:sp>
      <p:sp>
        <p:nvSpPr>
          <p:cNvPr id="57" name="Shape 46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5623560" y="445008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Donderdag volgt hij een cursus Nederlands.</a:t>
            </a:r>
            <a:endParaRPr lang="en-US" sz="1500" dirty="0"/>
          </a:p>
        </p:txBody>
      </p:sp>
      <p:sp>
        <p:nvSpPr>
          <p:cNvPr id="62" name="Shape 51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5" name="Shape 54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623560" y="517652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Vrijdag luncht hij met Sofie.</a:t>
            </a:r>
            <a:endParaRPr lang="en-US" sz="1500" dirty="0"/>
          </a:p>
        </p:txBody>
      </p:sp>
      <p:sp>
        <p:nvSpPr>
          <p:cNvPr id="67" name="Shape 56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9" name="Text 58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70" name="Shape 59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623560" y="59029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Zaterdag verhuist hij. / Zaterdag gaat hij verhuizen.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7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3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9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5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1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accent3"/>
                </a:solidFill>
              </a:rPr>
              <a:t>gaat regenen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b="1" i="1" dirty="0">
                <a:solidFill>
                  <a:schemeClr val="accent3"/>
                </a:solidFill>
              </a:rPr>
              <a:t>missen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gaan eten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b="1" i="1" dirty="0">
                <a:solidFill>
                  <a:schemeClr val="accent3"/>
                </a:solidFill>
              </a:rPr>
              <a:t>gaat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Text 29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b="1" i="1" dirty="0">
                <a:solidFill>
                  <a:schemeClr val="accent3"/>
                </a:solidFill>
              </a:rPr>
              <a:t>krijgen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4" name="Text 34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37960" y="19781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u morgen een offerte sturen.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37960" y="270459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je helpen.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37960" y="343103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de technicus bellen.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537960" y="415747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het rapport vrijdag afmaken.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37960" y="488391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een taart kopen?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537960" y="56103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gaan lunchen?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dirty="0">
                <a:solidFill>
                  <a:schemeClr val="accent5"/>
                </a:solidFill>
              </a:rPr>
              <a:t>…………………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b="1" dirty="0">
                <a:solidFill>
                  <a:schemeClr val="accent3"/>
                </a:solidFill>
              </a:rPr>
              <a:t>werk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b="1" dirty="0">
                <a:solidFill>
                  <a:schemeClr val="accent3"/>
                </a:solidFill>
              </a:rPr>
              <a:t>gaat regenen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b="1" dirty="0">
                <a:solidFill>
                  <a:schemeClr val="accent3"/>
                </a:solidFill>
              </a:rPr>
              <a:t>zal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b="1" dirty="0">
                <a:solidFill>
                  <a:schemeClr val="accent3"/>
                </a:solidFill>
              </a:rPr>
              <a:t>vergeten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b="1" dirty="0">
                <a:solidFill>
                  <a:schemeClr val="accent3"/>
                </a:solidFill>
              </a:rPr>
              <a:t>verhuizen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dirty="0">
                <a:solidFill>
                  <a:schemeClr val="accent3"/>
                </a:solidFill>
              </a:rPr>
              <a:t>Zullen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b="1" dirty="0">
                <a:solidFill>
                  <a:schemeClr val="accent3"/>
                </a:solidFill>
              </a:rPr>
              <a:t>vertrekt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b="1" dirty="0">
                <a:solidFill>
                  <a:schemeClr val="accent3"/>
                </a:solidFill>
              </a:rPr>
              <a:t>ga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b="1" dirty="0">
                <a:solidFill>
                  <a:schemeClr val="accent3"/>
                </a:solidFill>
              </a:rPr>
              <a:t>doen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b="1" dirty="0">
                <a:solidFill>
                  <a:schemeClr val="accent3"/>
                </a:solidFill>
              </a:rPr>
              <a:t>ben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Aussi possible : n° 4 </a:t>
            </a:r>
            <a:r>
              <a:rPr lang="en-US" sz="1500" i="1" dirty="0">
                <a:solidFill>
                  <a:schemeClr val="accent5"/>
                </a:solidFill>
              </a:rPr>
              <a:t>Volgend jaar verhuizen we.</a:t>
            </a:r>
            <a:r>
              <a:rPr lang="en-US" sz="1500" i="1" dirty="0">
                <a:solidFill>
                  <a:schemeClr val="accent5"/>
                </a:solidFill>
              </a:rPr>
              <a:t> · n° 7 </a:t>
            </a:r>
            <a:r>
              <a:rPr lang="en-US" sz="1500" i="1" dirty="0">
                <a:solidFill>
                  <a:schemeClr val="accent5"/>
                </a:solidFill>
              </a:rPr>
              <a:t>Wat doe je in het weekend?</a:t>
            </a:r>
            <a:r>
              <a:rPr lang="en-US" sz="1500" i="1" dirty="0">
                <a:solidFill>
                  <a:schemeClr val="accent5"/>
                </a:solidFill>
              </a:rPr>
              <a:t> · n° 8 : présent après </a:t>
            </a:r>
            <a:r>
              <a:rPr lang="en-US" sz="1500" i="1" dirty="0">
                <a:solidFill>
                  <a:schemeClr val="accent5"/>
                </a:solidFill>
              </a:rPr>
              <a:t>als</a:t>
            </a:r>
            <a:r>
              <a:rPr lang="en-US" sz="1500" i="1" dirty="0">
                <a:solidFill>
                  <a:schemeClr val="accent5"/>
                </a:solidFill>
              </a:rPr>
              <a:t> (diapo 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dirty="0">
                <a:solidFill>
                  <a:schemeClr val="tx1"/>
                </a:solidFill>
              </a:rPr>
              <a:t>volgende week ik ben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dirty="0">
                <a:solidFill>
                  <a:schemeClr val="tx1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dirty="0">
                <a:solidFill>
                  <a:schemeClr val="tx1"/>
                </a:solidFill>
              </a:rPr>
              <a:t>zal ik werken thuis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dirty="0">
                <a:solidFill>
                  <a:schemeClr val="tx1"/>
                </a:solidFill>
              </a:rPr>
              <a:t>zal zijn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dirty="0">
                <a:solidFill>
                  <a:schemeClr val="tx1"/>
                </a:solidFill>
              </a:rPr>
              <a:t>ik schrijf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strike="sngStrike" dirty="0">
                <a:solidFill>
                  <a:schemeClr val="accent6"/>
                </a:solidFill>
              </a:rPr>
              <a:t>volgende week ik ben</a:t>
            </a:r>
            <a:r>
              <a:rPr lang="en-US" sz="2100" b="1" i="1" dirty="0">
                <a:solidFill>
                  <a:schemeClr val="accent3"/>
                </a:solidFill>
              </a:rPr>
              <a:t> volgende week ben ik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strike="sngStrike" dirty="0">
                <a:solidFill>
                  <a:schemeClr val="accent6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ik werken thuis</a:t>
            </a:r>
            <a:r>
              <a:rPr lang="en-US" sz="2100" b="1" i="1" dirty="0">
                <a:solidFill>
                  <a:schemeClr val="accent3"/>
                </a:solidFill>
              </a:rPr>
              <a:t> zal ik thuis werken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zijn</a:t>
            </a:r>
            <a:r>
              <a:rPr lang="en-US" sz="2100" b="1" i="1" dirty="0">
                <a:solidFill>
                  <a:schemeClr val="accent3"/>
                </a:solidFill>
              </a:rPr>
              <a:t> ben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strike="sngStrike" dirty="0">
                <a:solidFill>
                  <a:schemeClr val="accent6"/>
                </a:solidFill>
              </a:rPr>
              <a:t>ik schrijf</a:t>
            </a:r>
            <a:r>
              <a:rPr lang="en-US" sz="2100" b="1" i="1" dirty="0">
                <a:solidFill>
                  <a:schemeClr val="accent3"/>
                </a:solidFill>
              </a:rPr>
              <a:t> schrijf ik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Woensdag ga ik meneer Maes opbellen · Ik zal het je vrijdag sturen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boule de cristal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crystal b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0175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8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502920" cy="5029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werk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3891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1" name="Image 2" descr="red 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19072"/>
            <a:ext cx="502920" cy="5029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891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liefde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57607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4" name="Image 3" descr="airpla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19072"/>
            <a:ext cx="502920" cy="5029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7607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reizen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30175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7" name="Image 4" descr="money b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862072"/>
            <a:ext cx="502920" cy="5029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0175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geld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3891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0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862072"/>
            <a:ext cx="502920" cy="5029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891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wonen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57607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3" name="Image 6" descr="stethoscop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2862072"/>
            <a:ext cx="502920" cy="5029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57607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gezondheid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0" y="164592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trois : la voyante tire 2 cartes-thèmes.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Elle prédit l’avenir d’un camarade, avec </a:t>
            </a:r>
            <a:r>
              <a:rPr lang="en-US" sz="1600" i="1" dirty="0">
                <a:solidFill>
                  <a:schemeClr val="tx1"/>
                </a:solidFill>
              </a:rPr>
              <a:t>gaan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zullen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Le camarade réagit.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48640" y="4206240"/>
            <a:ext cx="6400800" cy="914400"/>
          </a:xfrm>
          <a:prstGeom prst="roundRect">
            <a:avLst>
              <a:gd name="adj" fmla="val 18000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13232" y="4206240"/>
            <a:ext cx="6071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</a:t>
            </a:r>
            <a:r>
              <a:rPr lang="en-US" sz="1900" b="1" i="1" dirty="0">
                <a:solidFill>
                  <a:schemeClr val="tx1"/>
                </a:solidFill>
              </a:rPr>
              <a:t>gaat</a:t>
            </a:r>
            <a:r>
              <a:rPr lang="en-US" sz="1900" i="1" dirty="0">
                <a:solidFill>
                  <a:schemeClr val="tx1"/>
                </a:solidFill>
              </a:rPr>
              <a:t> een nieuwe job </a:t>
            </a:r>
            <a:r>
              <a:rPr lang="en-US" sz="1900" b="1" i="1" dirty="0">
                <a:solidFill>
                  <a:schemeClr val="tx1"/>
                </a:solidFill>
              </a:rPr>
              <a:t>vinden</a:t>
            </a:r>
            <a:r>
              <a:rPr lang="en-US" sz="1900" i="1" dirty="0">
                <a:solidFill>
                  <a:schemeClr val="tx1"/>
                </a:solidFill>
              </a:rPr>
              <a:t>. Je </a:t>
            </a:r>
            <a:r>
              <a:rPr lang="en-US" sz="1900" b="1" i="1" dirty="0">
                <a:solidFill>
                  <a:schemeClr val="tx1"/>
                </a:solidFill>
              </a:rPr>
              <a:t>zult</a:t>
            </a:r>
            <a:r>
              <a:rPr lang="en-US" sz="1900" i="1" dirty="0">
                <a:solidFill>
                  <a:schemeClr val="tx1"/>
                </a:solidFill>
              </a:rPr>
              <a:t> veel </a:t>
            </a:r>
            <a:r>
              <a:rPr lang="en-US" sz="1900" b="1" i="1" dirty="0">
                <a:solidFill>
                  <a:schemeClr val="tx1"/>
                </a:solidFill>
              </a:rPr>
              <a:t>reizen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8" name="Shape 18"/>
          <p:cNvSpPr/>
          <p:nvPr/>
        </p:nvSpPr>
        <p:spPr>
          <a:xfrm>
            <a:off x="2743200" y="5303520"/>
            <a:ext cx="6400800" cy="868680"/>
          </a:xfrm>
          <a:prstGeom prst="roundRect">
            <a:avLst>
              <a:gd name="adj" fmla="val 1894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2907792" y="5303520"/>
            <a:ext cx="6071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Echt? Fantastisch! · Nee, dat geloof ik niet!</a:t>
            </a:r>
            <a:endParaRPr lang="en-US" sz="1900" dirty="0"/>
          </a:p>
        </p:txBody>
      </p:sp>
      <p:pic>
        <p:nvPicPr>
          <p:cNvPr id="30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572000"/>
            <a:ext cx="1097280" cy="1097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journée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mois prochain, Peeters &amp; Co organise une journée d’équipe (</a:t>
            </a:r>
            <a:r>
              <a:rPr lang="en-US" sz="1700" i="1" dirty="0">
                <a:solidFill>
                  <a:schemeClr val="tx1"/>
                </a:solidFill>
              </a:rPr>
              <a:t>teamdag</a:t>
            </a:r>
            <a:r>
              <a:rPr lang="en-US" sz="1700" dirty="0">
                <a:solidFill>
                  <a:schemeClr val="tx1"/>
                </a:solidFill>
              </a:rPr>
              <a:t>). An et Sofie préparent le programme.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proposez des activités et un horaire : </a:t>
            </a:r>
            <a:r>
              <a:rPr lang="en-US" sz="1700" i="1" dirty="0">
                <a:solidFill>
                  <a:schemeClr val="tx1"/>
                </a:solidFill>
              </a:rPr>
              <a:t>Om 9 uur… Daarna gaan we…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réagissez, proposez autre chose et promettez d’organiser : </a:t>
            </a:r>
            <a:r>
              <a:rPr lang="en-US" sz="1700" i="1" dirty="0">
                <a:solidFill>
                  <a:schemeClr val="tx1"/>
                </a:solidFill>
              </a:rPr>
              <a:t>Zullen we…? Ik zal…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Om 9 uur beginnen we met koffie. · Daarna gaan we… · Zullen we ’s middags…? · Ik zal de bus reserveren. · Wat gaan we ’s avonds doen? · Goed idee! · Dat is te duur.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PROGRAMMA TEAMDAG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216712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57032" y="21671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9.00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125712" y="244144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22"/>
          <p:cNvSpPr/>
          <p:nvPr/>
        </p:nvSpPr>
        <p:spPr>
          <a:xfrm>
            <a:off x="8257032" y="2831592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57032" y="283159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125712" y="3105912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8257032" y="3496056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57032" y="349605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12.30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25712" y="3770376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1" name="Shape 28"/>
          <p:cNvSpPr/>
          <p:nvPr/>
        </p:nvSpPr>
        <p:spPr>
          <a:xfrm>
            <a:off x="8257032" y="4160520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57032" y="41605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14.00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9125712" y="4434840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31"/>
          <p:cNvSpPr/>
          <p:nvPr/>
        </p:nvSpPr>
        <p:spPr>
          <a:xfrm>
            <a:off x="8257032" y="4824984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57032" y="48249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16.00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125712" y="5099304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8257032" y="548944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57032" y="54894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18.00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125712" y="576376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le présent : « Demain, je travaillerai à la maison.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gaan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zullen</a:t>
            </a:r>
            <a:r>
              <a:rPr lang="en-US" sz="2000" dirty="0">
                <a:solidFill>
                  <a:schemeClr val="tx1"/>
                </a:solidFill>
              </a:rPr>
              <a:t> ? « Promis : je …… t’aider.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Als ik klaar zal zijn, bel ik je.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Planifier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Promettre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imperfectum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Toen ik klein was…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 — De toekomst — Parler du futur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2026-10-04T18:33:16Z</dcterms:created>
  <dcterms:modified xsi:type="dcterms:W3CDTF">2026-10-04T18:33:16Z</dcterms:modified>
</cp:coreProperties>
</file>