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2c67f047-d9d4-4363-098e-d4bf1202161c}">
          <p14:sldIdLst>
            <p14:sldId id="256"/>
          </p14:sldIdLst>
        </p14:section>
        <p14:section name="Découvrir" id="{ac2c1fa8-f541-886b-7870-96b974d7ad2e}">
          <p14:sldIdLst>
            <p14:sldId id="257"/>
            <p14:sldId id="258"/>
          </p14:sldIdLst>
        </p14:section>
        <p14:section name="Comprendre" id="{d0f4fd34-4a30-7246-0630-9e2cb599540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44568e50-70f4-2633-a9ca-feda4a3abdbc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3438d749-8359-b95f-b213-c39ee886b213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parler de demain, de ses projets.
Question d'entrée, en français puis en néerlandais : « Que faites-vous demain ? » Notez les réponses au tableau : la plupart sont déjà au présent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Au bureau, le futur sert à planifier, à s'engager et à proposer. Les trois outils du jour couvrent ces trois besoins.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que le présent exprime le futur.
Faites relever le temps du verbe : le présent ! Le marqueur (maandag, dinsdag) suffit à situer l'action dans le futur. de afscheidsdrink = le pot de départ.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Avoir une vue d'ensemble des trois outils.
Le français a un futur simple (« je travaillerai ») ; le néerlandais n'en a pas vraiment besoin. zullen est plus rare qu'on ne le croit : n'en faites pas l'équivalent automatique de « -rai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Exprimer un futur planifié avec le présent.
Marqueur en tête → inversion (M3). En fin de phrase, pas d'inversion : Ik werk morgen thuis. straks = tout à l'heure (dans le futur proche).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Neutraliser les calques les plus fréquents.
Ik ga naar Gent suffit pour « je vais aller » / « j'irai ». Avec zullen, l'infinitif va au bout (la pince, M3). Après als (M9), le présent suffit : c'est le réflexe du français après « si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Former et employer gaan + infinitif.
Trois usages : une intention (Ik ga stoppen met roken), un changement (We gaan verhuizen), un signe visible (Het gaat regenen). La particule se recolle (M11) : opbellen. niet avant l'infinitif (M13) : Ik ga niet verhuizen.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gaan (déplacement) et gaan + infinitif (futur).
En français comme en néerlandais, « aller » sert aux deux. La différence est dans la suite : un lieu (naar…) ou un infinitif au 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Employer zullen pour promettre, proposer, annoncer et supposer.
Rappel M12 (bonus). jij zult (standard) / jij zal (très courant en Flandre). zal wel = « sans doute ». Les annonces officielles (gare, courriels formels) utilisent zullen ; à l'oral, le présent est plus fréquent.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Situer l'action dans le futur ; faire le lien avec les mots du passé (M15).
over + durée = « dans » (over een uur) ; in een uur = « en une heure ». volgend jaar (het jaar) mais volgende week (de week), comme vorig / vorige au M15. binnenkort = bientôt.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Acquérir le vocabulaire des projets de vie et de travail.
op reis gaan et met pensioen gaan (prendre sa retraite) sont des expressions : pas de 2e gaan (✗ ~~We gaan op reis gaan~~). van plan zijn om … te + infinitif : construction de Néerlandais 2, à reconnaître. Faites dire à chacun un projet vrai : Volgend jaar ga ik…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le futur antérieur (zullen + participe + hebben / zijn).
À reconnaître seulement. En fin de phrase : participe + hebben (ou hebben + participe). Le passé composé avec un marqueur futur est la solution la plus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 Le présent + marqueur est presque toujours possible ; zullen est réservé à la promesse, à la proposition et à l'écrit formel.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Parler d'un agenda avec le présent et l'inversion.
Exigez l'inversion (M3) quand le jour est en tête. half negen = 8 h 30 (M2). N° 6 : les deux réponses sont correctes.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Parler d'un agenda avec le présent et l'inversion.
Exigez l'inversion (M3) quand le jour est en tête. half negen = 8 h 30 (M2). N° 6 : les deux réponses sont correctes.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un événement proche avec gaan + infinitif.
Ce sont des « signes visibles » (diapo 4) : on voit ce qui va arriver. Faites décrire l'image en une phrase, puis ajoutez un marqueur : Het gaat straks regenen.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Annoncer un événement proche avec gaan + infinitif.
Ce sont des « signes visibles » (diapo 4) : on voit ce qui va arriver. Faites décrire l'image en une phrase, puis ajoutez un marqueur : Het gaat straks regenen.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Promettre et proposer avec zullen.
Acceptez toute promesse correcte. N° 1 : u pour un client (M8). N° 4 : afmaken se recolle (M11). N° 5 et 6 : proposition (Zullen we…?). jarig zijn = avoir son anniversaire (c'est son anniversaire).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Promettre et proposer avec zullen.
Acceptez toute promesse correcte. N° 1 : u pour un client (M8). N° 4 : afmaken se recolle (M11). N° 5 et 6 : proposition (Zullen we…?). jarig zijn = avoir son anniversaire (c'est son anniversaire).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la forme la plus naturelle en contexte.
Plusieurs réponses sont possibles aux n° 4 et 7 : faites justifier. N° 8 : le présent après als (diapo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la forme la plus naturelle en contexte.
Plusieurs réponses sont possibles aux n° 4 et 7 : faites justifier. N° 8 : le présent après als (diapo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courriel.
Leurres : Woensdag ga ik meneer Maes opbellen et Ik zal het je vrijdag sturen sont corrects. Erreurs : inversion (M3), gaan + gaan (diapo 6), infinitif au bout (diapo 6), présent après als (diapo 6), « verbe, verbe » (M9).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courriel.
Leurres : Woensdag ga ik meneer Maes opbellen et Ik zal het je vrijdag sturen sont corrects. Erreurs : inversion (M3), gaan + gaan (diapo 6), infinitif au bout (diapo 6), présent après als (diapo 6), « verbe, verbe » (M9).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Prédire l'avenir de façon ludique avec gaan et zullen.
Exigez au moins une phrase avec gaan et une avec zullen. Variante écrite : chacun écrit 3 prédictions pour un voisin ; on les lit à la fin du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professionnelle : organiser une journée d'équipe.
Chaque paire présente ensuite son programme à la classe avec le présent + marqueur : Om 9 uur beginnen we, om 11 uur gaan we… La classe vote pour le meilleur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Morgen werk ik thuis.
2. zal : Ik zal je helpen.
3. Als ik klaar ben, bel ik je.
Teaser M19 : Toen ik klein was…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18 · De toekomst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18 · De toekomst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18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De toekomst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Parler du futur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Morgen werk ik thuis.</a:t>
            </a:r>
            <a:endParaRPr lang="en-US" sz="2000" dirty="0"/>
          </a:p>
        </p:txBody>
      </p:sp>
      <p:pic>
        <p:nvPicPr>
          <p:cNvPr id="5" name="Image 0" descr="tear off calend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4173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14173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morgen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372600" y="14173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72600" y="14173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volgende week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607040" y="141732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607040" y="14173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volgend jaar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75320" y="2423160"/>
            <a:ext cx="3291840" cy="914"/>
          </a:xfrm>
          <a:prstGeom prst="line">
            <a:avLst/>
          </a:prstGeom>
          <a:noFill/>
          <a:ln w="38100">
            <a:solidFill>
              <a:srgbClr val="F6C27E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827532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C27E"/>
                </a:solidFill>
              </a:rPr>
              <a:t>le futur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5080" y="3337560"/>
            <a:ext cx="5303520" cy="105156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355080" y="33375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Wat </a:t>
            </a: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ga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je morgen </a:t>
            </a:r>
            <a:r>
              <a:rPr lang="en-US" sz="28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doen</a:t>
            </a:r>
            <a:r>
              <a:rPr lang="en-US" sz="28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?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alenda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Planifier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parle de mon agenda : </a:t>
            </a:r>
            <a:r>
              <a:rPr lang="en-US" sz="2000" i="1" dirty="0">
                <a:solidFill>
                  <a:schemeClr val="tx1"/>
                </a:solidFill>
              </a:rPr>
              <a:t>Maandag heb ik een vergadering.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Arrow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Annoncer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J’annonce un projet : </a:t>
            </a:r>
            <a:r>
              <a:rPr lang="en-US" sz="2000" i="1" dirty="0">
                <a:solidFill>
                  <a:schemeClr val="tx1"/>
                </a:solidFill>
              </a:rPr>
              <a:t>Ik ga verhuizen.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Promettre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promets et je propose : </a:t>
            </a:r>
            <a:r>
              <a:rPr lang="en-US" sz="2000" i="1" dirty="0">
                <a:solidFill>
                  <a:schemeClr val="tx1"/>
                </a:solidFill>
              </a:rPr>
              <a:t>Ik zal je helpen. Zullen we gaan?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Au bureau, on planifie, on s’engage, on propose : trois besoins, trois outils.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l’agenda de Sofie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760720" cy="4709160"/>
          </a:xfrm>
          <a:prstGeom prst="roundRect">
            <a:avLst>
              <a:gd name="adj" fmla="val 777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760720" cy="50292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spiral calend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9344"/>
            <a:ext cx="402336" cy="4023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554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SOFIE · VOLGENDE WEEK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85800" y="2340864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23408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maandag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011680" y="21031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9.00 vergadering met An</a:t>
            </a:r>
            <a:endParaRPr lang="en-US" sz="1600" dirty="0"/>
          </a:p>
        </p:txBody>
      </p:sp>
      <p:pic>
        <p:nvPicPr>
          <p:cNvPr id="12" name="Image 1" descr="busts in silhou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2860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2926080"/>
            <a:ext cx="548640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3163824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31638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dinsdag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011680" y="29260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thuiswerken</a:t>
            </a:r>
            <a:endParaRPr lang="en-US" sz="1600" dirty="0"/>
          </a:p>
        </p:txBody>
      </p:sp>
      <p:pic>
        <p:nvPicPr>
          <p:cNvPr id="17" name="Image 2" descr="hou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3108960"/>
            <a:ext cx="457200" cy="4572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5800" y="3749040"/>
            <a:ext cx="548640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85800" y="3986784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85800" y="3986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woensdag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2011680" y="37490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14.00 gesprek met een kandidaat</a:t>
            </a:r>
            <a:endParaRPr lang="en-US" sz="1600" dirty="0"/>
          </a:p>
        </p:txBody>
      </p:sp>
      <p:pic>
        <p:nvPicPr>
          <p:cNvPr id="22" name="Image 3" descr="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3931920"/>
            <a:ext cx="457200" cy="4572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85800" y="4572000"/>
            <a:ext cx="548640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85800" y="4809744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" y="48097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donderdag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2011680" y="45720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klant in Antwerpen</a:t>
            </a:r>
            <a:endParaRPr lang="en-US" sz="1600" dirty="0"/>
          </a:p>
        </p:txBody>
      </p:sp>
      <p:pic>
        <p:nvPicPr>
          <p:cNvPr id="27" name="Image 4" descr="t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4754880"/>
            <a:ext cx="457200" cy="4572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85800" y="5394960"/>
            <a:ext cx="548640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85800" y="5632704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85800" y="56327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vrijdag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2011680" y="53949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17.00 afscheidsdrink van Jan</a:t>
            </a:r>
            <a:endParaRPr lang="en-US" sz="1600" dirty="0"/>
          </a:p>
        </p:txBody>
      </p:sp>
      <p:pic>
        <p:nvPicPr>
          <p:cNvPr id="32" name="Image 5" descr="clinking glass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5577840"/>
            <a:ext cx="457200" cy="45720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583680" y="1554480"/>
            <a:ext cx="5056632" cy="640080"/>
          </a:xfrm>
          <a:prstGeom prst="roundRect">
            <a:avLst>
              <a:gd name="adj" fmla="val 25714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6748272" y="155448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Wat doet Sofie maandag?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6949440" y="2286000"/>
            <a:ext cx="4690872" cy="731520"/>
          </a:xfrm>
          <a:prstGeom prst="roundRect">
            <a:avLst>
              <a:gd name="adj" fmla="val 225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7114032" y="2286000"/>
            <a:ext cx="4361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Maandag </a:t>
            </a:r>
            <a:r>
              <a:rPr lang="en-US" sz="1800" b="1" i="1" dirty="0">
                <a:solidFill>
                  <a:schemeClr val="tx1"/>
                </a:solidFill>
              </a:rPr>
              <a:t>heeft</a:t>
            </a:r>
            <a:r>
              <a:rPr lang="en-US" sz="1800" i="1" dirty="0">
                <a:solidFill>
                  <a:schemeClr val="tx1"/>
                </a:solidFill>
              </a:rPr>
              <a:t> ze een vergadering met An.</a:t>
            </a:r>
            <a:endParaRPr lang="en-US" sz="1800" dirty="0"/>
          </a:p>
        </p:txBody>
      </p:sp>
      <p:sp>
        <p:nvSpPr>
          <p:cNvPr id="37" name="Shape 28"/>
          <p:cNvSpPr/>
          <p:nvPr/>
        </p:nvSpPr>
        <p:spPr>
          <a:xfrm>
            <a:off x="6583680" y="3154680"/>
            <a:ext cx="5056632" cy="640080"/>
          </a:xfrm>
          <a:prstGeom prst="roundRect">
            <a:avLst>
              <a:gd name="adj" fmla="val 25714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6748272" y="315468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Wat doet ze dinsdag?</a:t>
            </a:r>
            <a:endParaRPr lang="en-US" sz="1800" dirty="0"/>
          </a:p>
        </p:txBody>
      </p:sp>
      <p:sp>
        <p:nvSpPr>
          <p:cNvPr id="39" name="Shape 30"/>
          <p:cNvSpPr/>
          <p:nvPr/>
        </p:nvSpPr>
        <p:spPr>
          <a:xfrm>
            <a:off x="6949440" y="3886200"/>
            <a:ext cx="4690872" cy="731520"/>
          </a:xfrm>
          <a:prstGeom prst="roundRect">
            <a:avLst>
              <a:gd name="adj" fmla="val 225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7114032" y="3886200"/>
            <a:ext cx="4361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Dinsdag </a:t>
            </a:r>
            <a:r>
              <a:rPr lang="en-US" sz="1800" b="1" i="1" dirty="0">
                <a:solidFill>
                  <a:schemeClr val="tx1"/>
                </a:solidFill>
              </a:rPr>
              <a:t>werkt</a:t>
            </a:r>
            <a:r>
              <a:rPr lang="en-US" sz="1800" i="1" dirty="0">
                <a:solidFill>
                  <a:schemeClr val="tx1"/>
                </a:solidFill>
              </a:rPr>
              <a:t> ze thuis.</a:t>
            </a:r>
            <a:endParaRPr lang="en-US" sz="1800" dirty="0"/>
          </a:p>
        </p:txBody>
      </p:sp>
      <p:sp>
        <p:nvSpPr>
          <p:cNvPr id="41" name="Shape 32"/>
          <p:cNvSpPr/>
          <p:nvPr/>
        </p:nvSpPr>
        <p:spPr>
          <a:xfrm>
            <a:off x="6583680" y="4846320"/>
            <a:ext cx="5056632" cy="1417320"/>
          </a:xfrm>
          <a:prstGeom prst="roundRect">
            <a:avLst>
              <a:gd name="adj" fmla="val 5161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42" name="Image 6" descr="thinking fa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5120640"/>
            <a:ext cx="822960" cy="82296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7726680" y="48463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Quel est le temps du verbe ?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Le </a:t>
            </a:r>
            <a:r>
              <a:rPr lang="en-US" sz="1700" b="1" dirty="0">
                <a:solidFill>
                  <a:schemeClr val="tx1"/>
                </a:solidFill>
              </a:rPr>
              <a:t>présent</a:t>
            </a:r>
            <a:r>
              <a:rPr lang="en-US" sz="1700" dirty="0">
                <a:solidFill>
                  <a:schemeClr val="tx1"/>
                </a:solidFill>
              </a:rPr>
              <a:t> ! Le jour suffit à situer l’action.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Trois façons de parler du futur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3246120"/>
            <a:ext cx="868680" cy="8686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NU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 flipV="1">
            <a:off x="1435608" y="2286000"/>
            <a:ext cx="347472" cy="1389888"/>
          </a:xfrm>
          <a:prstGeom prst="line">
            <a:avLst/>
          </a:prstGeom>
          <a:noFill/>
          <a:ln w="31750">
            <a:solidFill>
              <a:srgbClr val="2E7D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83080" y="1600200"/>
            <a:ext cx="9006840" cy="1371600"/>
          </a:xfrm>
          <a:prstGeom prst="roundRect">
            <a:avLst>
              <a:gd name="adj" fmla="val 4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789920" y="1600200"/>
            <a:ext cx="502920" cy="1371600"/>
          </a:xfrm>
          <a:custGeom>
            <a:avLst/>
            <a:gdLst/>
            <a:ahLst/>
            <a:cxnLst/>
            <a:rect l="l" t="t" r="r" b="b"/>
            <a:pathLst>
              <a:path w="502920" h="1371600">
                <a:moveTo>
                  <a:pt x="0" y="0"/>
                </a:moveTo>
                <a:lnTo>
                  <a:pt x="502920" y="6858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65960" y="16002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① présent + marqueur</a:t>
            </a:r>
            <a:r>
              <a:rPr lang="en-US" sz="1900" dirty="0">
                <a:solidFill>
                  <a:schemeClr val="bg1"/>
                </a:solidFill>
              </a:rPr>
              <a:t> — un plan, un horaire · </a:t>
            </a:r>
            <a:r>
              <a:rPr lang="en-US" sz="1900" b="1" dirty="0">
                <a:solidFill>
                  <a:schemeClr val="bg1"/>
                </a:solidFill>
              </a:rPr>
              <a:t>le plus fréquent</a:t>
            </a:r>
            <a:endParaRPr lang="en-US" sz="19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b="1" i="1" dirty="0">
                <a:solidFill>
                  <a:schemeClr val="bg1"/>
                </a:solidFill>
              </a:rPr>
              <a:t>Morgen</a:t>
            </a:r>
            <a:r>
              <a:rPr lang="en-US" sz="1900" i="1" dirty="0">
                <a:solidFill>
                  <a:schemeClr val="bg1"/>
                </a:solidFill>
              </a:rPr>
              <a:t> werk ik thuis.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435608" y="3675888"/>
            <a:ext cx="347472" cy="50292"/>
          </a:xfrm>
          <a:prstGeom prst="line">
            <a:avLst/>
          </a:prstGeom>
          <a:noFill/>
          <a:ln w="31750">
            <a:solidFill>
              <a:srgbClr val="2A6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83080" y="3154680"/>
            <a:ext cx="9006840" cy="114300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89920" y="3154680"/>
            <a:ext cx="502920" cy="1143000"/>
          </a:xfrm>
          <a:custGeom>
            <a:avLst/>
            <a:gdLst/>
            <a:ahLst/>
            <a:cxnLst/>
            <a:rect l="l" t="t" r="r" b="b"/>
            <a:pathLst>
              <a:path w="502920" h="1143000">
                <a:moveTo>
                  <a:pt x="0" y="0"/>
                </a:moveTo>
                <a:lnTo>
                  <a:pt x="502920" y="571500"/>
                </a:lnTo>
                <a:lnTo>
                  <a:pt x="0" y="1143000"/>
                </a:ln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965960" y="3154680"/>
            <a:ext cx="8778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② gaan + infinitif</a:t>
            </a:r>
            <a:r>
              <a:rPr lang="en-US" sz="1900" dirty="0">
                <a:solidFill>
                  <a:schemeClr val="bg1"/>
                </a:solidFill>
              </a:rPr>
              <a:t> — une intention, un changement, un signe visible</a:t>
            </a:r>
            <a:endParaRPr lang="en-US" sz="19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900" i="1" dirty="0">
                <a:solidFill>
                  <a:schemeClr val="bg1"/>
                </a:solidFill>
              </a:rPr>
              <a:t>Ik ga volgend jaar verhuizen. · Het gaat regenen.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1435608" y="3675888"/>
            <a:ext cx="347472" cy="1284732"/>
          </a:xfrm>
          <a:prstGeom prst="line">
            <a:avLst/>
          </a:prstGeom>
          <a:noFill/>
          <a:ln w="31750">
            <a:solidFill>
              <a:srgbClr val="6E4A9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83080" y="4480560"/>
            <a:ext cx="9006840" cy="960120"/>
          </a:xfrm>
          <a:prstGeom prst="roundRect">
            <a:avLst>
              <a:gd name="adj" fmla="val 5714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789920" y="4480560"/>
            <a:ext cx="502920" cy="960120"/>
          </a:xfrm>
          <a:custGeom>
            <a:avLst/>
            <a:gdLst/>
            <a:ahLst/>
            <a:cxnLst/>
            <a:rect l="l" t="t" r="r" b="b"/>
            <a:pathLst>
              <a:path w="502920" h="960120">
                <a:moveTo>
                  <a:pt x="0" y="0"/>
                </a:moveTo>
                <a:lnTo>
                  <a:pt x="502920" y="480060"/>
                </a:lnTo>
                <a:lnTo>
                  <a:pt x="0" y="960120"/>
                </a:lnTo>
                <a:close/>
              </a:path>
            </a:pathLst>
          </a:cu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965960" y="448056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③ zullen + infinitif</a:t>
            </a:r>
            <a:r>
              <a:rPr lang="en-US" sz="1700" dirty="0">
                <a:solidFill>
                  <a:schemeClr val="bg1"/>
                </a:solidFill>
              </a:rPr>
              <a:t> — une promesse, une proposition, une annonce officielle</a:t>
            </a:r>
            <a:endParaRPr lang="en-US" sz="17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700" i="1" dirty="0">
                <a:solidFill>
                  <a:schemeClr val="bg1"/>
                </a:solidFill>
              </a:rPr>
              <a:t>Ik zal je helpen. · Zullen we gaan?</a:t>
            </a:r>
            <a:endParaRPr lang="en-US" sz="1700" dirty="0"/>
          </a:p>
        </p:txBody>
      </p:sp>
      <p:pic>
        <p:nvPicPr>
          <p:cNvPr id="19" name="Image 0" descr="FlagChecke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0"/>
            <a:ext cx="411480" cy="4114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Le français a un futur simple (« je travaillerai ») ; le néerlandais n’en a pas vraiment besoin.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présent + un marqueur de temps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581912" y="15361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8191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057400" y="15361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marqueur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56432" y="1536192"/>
            <a:ext cx="402336" cy="402336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643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5361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verbe (inversion, M3)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103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Morgen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3108960" y="210312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08960" y="21031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werk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4297680" y="2103120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768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thuis.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548640" y="288036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2880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Volgende week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3108960" y="28803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08960" y="2880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gaan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4297680" y="2880360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297680" y="2880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we naar Gent.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548640" y="365760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Om 3 uur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3108960" y="36576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0896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heb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4297680" y="3657600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29768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 een vergadering.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548640" y="443484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Ik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3108960" y="443484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108960" y="4434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bel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4297680" y="4434840"/>
            <a:ext cx="64008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2976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je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5029200" y="4434840"/>
            <a:ext cx="10972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0" y="4434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straks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6217920" y="443484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DF1E6"/>
          </a:solidFill>
          <a:ln w="25400">
            <a:solidFill>
              <a:srgbClr val="D9700F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6217920" y="4434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terug.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7269480" y="2103120"/>
            <a:ext cx="4370832" cy="297180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52360" y="22677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0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423" y="2403775"/>
            <a:ext cx="294803" cy="294803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8165592" y="224942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Repères</a:t>
            </a:r>
            <a:endParaRPr lang="en-US" sz="1900" dirty="0"/>
          </a:p>
        </p:txBody>
      </p:sp>
      <p:sp>
        <p:nvSpPr>
          <p:cNvPr id="43" name="Text 39"/>
          <p:cNvSpPr txBox="1"/>
          <p:nvPr/>
        </p:nvSpPr>
        <p:spPr>
          <a:xfrm>
            <a:off x="7470648" y="2971800"/>
            <a:ext cx="396849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Marqueur </a:t>
            </a:r>
            <a:r>
              <a:rPr lang="en-US" sz="1600" b="1" dirty="0">
                <a:solidFill>
                  <a:schemeClr val="tx1"/>
                </a:solidFill>
              </a:rPr>
              <a:t>en tête</a:t>
            </a:r>
            <a:r>
              <a:rPr lang="en-US" sz="1600" dirty="0">
                <a:solidFill>
                  <a:schemeClr val="tx1"/>
                </a:solidFill>
              </a:rPr>
              <a:t> → inversion (M3).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En fin de phrase, pas d’inversion : </a:t>
            </a:r>
            <a:r>
              <a:rPr lang="en-US" sz="1600" i="1" dirty="0">
                <a:solidFill>
                  <a:schemeClr val="tx1"/>
                </a:solidFill>
              </a:rPr>
              <a:t>Ik werk morgen thuis.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straks</a:t>
            </a:r>
            <a:r>
              <a:rPr lang="en-US" sz="1600" dirty="0">
                <a:solidFill>
                  <a:schemeClr val="tx1"/>
                </a:solidFill>
              </a:rPr>
              <a:t> = tout à l’heure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FR : « Je </a:t>
            </a:r>
            <a:r>
              <a:rPr lang="en-US" sz="1900" b="1" dirty="0">
                <a:solidFill>
                  <a:schemeClr val="bg1"/>
                </a:solidFill>
              </a:rPr>
              <a:t>travaillerai</a:t>
            </a:r>
            <a:r>
              <a:rPr lang="en-US" sz="1900" dirty="0">
                <a:solidFill>
                  <a:schemeClr val="bg1"/>
                </a:solidFill>
              </a:rPr>
              <a:t> demain. » → NL : </a:t>
            </a:r>
            <a:r>
              <a:rPr lang="en-US" sz="1900" i="1" dirty="0">
                <a:solidFill>
                  <a:schemeClr val="bg1"/>
                </a:solidFill>
              </a:rPr>
              <a:t>Morgen </a:t>
            </a:r>
            <a:r>
              <a:rPr lang="en-US" sz="1900" b="1" i="1" dirty="0">
                <a:solidFill>
                  <a:schemeClr val="bg1"/>
                </a:solidFill>
              </a:rPr>
              <a:t>werk</a:t>
            </a:r>
            <a:r>
              <a:rPr lang="en-US" sz="1900" i="1" dirty="0">
                <a:solidFill>
                  <a:schemeClr val="bg1"/>
                </a:solidFill>
              </a:rPr>
              <a:t> ik.</a:t>
            </a:r>
            <a:r>
              <a:rPr lang="en-US" sz="1900" dirty="0">
                <a:solidFill>
                  <a:schemeClr val="bg1"/>
                </a:solidFill>
              </a:rPr>
              <a:t> (présent)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trois calques du futur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person wal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12848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103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Je vais aller à Gand. »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21031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✗ </a:t>
            </a:r>
            <a:r>
              <a:rPr lang="en-US" sz="1400" i="1" strike="sngStrike" dirty="0">
                <a:solidFill>
                  <a:schemeClr val="accent6"/>
                </a:solidFill>
              </a:rPr>
              <a:t>Ik ga naar Gent gaan.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06640" y="2560320"/>
            <a:ext cx="27432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7726680" y="2194560"/>
            <a:ext cx="374904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18120" y="21945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ga</a:t>
            </a:r>
            <a:r>
              <a:rPr lang="en-US" sz="1700" i="1" dirty="0">
                <a:solidFill>
                  <a:schemeClr val="tx1"/>
                </a:solidFill>
              </a:rPr>
              <a:t> naar Gent.</a:t>
            </a:r>
            <a:endParaRPr lang="en-US" sz="1700" dirty="0"/>
          </a:p>
        </p:txBody>
      </p:sp>
      <p:pic>
        <p:nvPicPr>
          <p:cNvPr id="13" name="Image 1" descr="lap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28416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21868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Je travaillerai demain. »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321868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✗ </a:t>
            </a:r>
            <a:r>
              <a:rPr lang="en-US" sz="1400" i="1" strike="sngStrike" dirty="0">
                <a:solidFill>
                  <a:schemeClr val="accent6"/>
                </a:solidFill>
              </a:rPr>
              <a:t>Ik zal werken morgen.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406640" y="3675888"/>
            <a:ext cx="27432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726680" y="3310128"/>
            <a:ext cx="374904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818120" y="331012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Morgen </a:t>
            </a:r>
            <a:r>
              <a:rPr lang="en-US" sz="1700" b="1" i="1" dirty="0">
                <a:solidFill>
                  <a:schemeClr val="tx1"/>
                </a:solidFill>
              </a:rPr>
              <a:t>werk</a:t>
            </a:r>
            <a:r>
              <a:rPr lang="en-US" sz="1700" i="1" dirty="0">
                <a:solidFill>
                  <a:schemeClr val="tx1"/>
                </a:solidFill>
              </a:rPr>
              <a:t> ik. / Ik zal morgen </a:t>
            </a:r>
            <a:r>
              <a:rPr lang="en-US" sz="1700" b="1" i="1" dirty="0">
                <a:solidFill>
                  <a:schemeClr val="tx1"/>
                </a:solidFill>
              </a:rPr>
              <a:t>werken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19" name="Image 2" descr="citysca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43984"/>
            <a:ext cx="685800" cy="6858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00200" y="43342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 Quand je serai à Bruxelles, je t’appellerai. »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4709160" y="4334256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✗ </a:t>
            </a:r>
            <a:r>
              <a:rPr lang="en-US" sz="1400" i="1" strike="sngStrike" dirty="0">
                <a:solidFill>
                  <a:schemeClr val="accent6"/>
                </a:solidFill>
              </a:rPr>
              <a:t>Als ik in Brussel zal zijn, …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406640" y="4791456"/>
            <a:ext cx="27432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726680" y="4425696"/>
            <a:ext cx="374904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818120" y="442569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✓ </a:t>
            </a:r>
            <a:r>
              <a:rPr lang="en-US" sz="1700" i="1" dirty="0">
                <a:solidFill>
                  <a:schemeClr val="tx1"/>
                </a:solidFill>
              </a:rPr>
              <a:t>Als ik in Brussel </a:t>
            </a:r>
            <a:r>
              <a:rPr lang="en-US" sz="1700" b="1" i="1" dirty="0">
                <a:solidFill>
                  <a:schemeClr val="tx1"/>
                </a:solidFill>
              </a:rPr>
              <a:t>ben</a:t>
            </a:r>
            <a:r>
              <a:rPr lang="en-US" sz="1700" i="1" dirty="0">
                <a:solidFill>
                  <a:schemeClr val="tx1"/>
                </a:solidFill>
              </a:rPr>
              <a:t>, bel ik je.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Ik ga naar Gent</a:t>
            </a:r>
            <a:r>
              <a:rPr lang="en-US" sz="1700" dirty="0">
                <a:solidFill>
                  <a:schemeClr val="bg1"/>
                </a:solidFill>
              </a:rPr>
              <a:t> = « je vais aller » · avec </a:t>
            </a:r>
            <a:r>
              <a:rPr lang="en-US" sz="1700" i="1" dirty="0">
                <a:solidFill>
                  <a:schemeClr val="bg1"/>
                </a:solidFill>
              </a:rPr>
              <a:t>zullen</a:t>
            </a:r>
            <a:r>
              <a:rPr lang="en-US" sz="1700" dirty="0">
                <a:solidFill>
                  <a:schemeClr val="bg1"/>
                </a:solidFill>
              </a:rPr>
              <a:t>, l’infinitif au bout · après </a:t>
            </a:r>
            <a:r>
              <a:rPr lang="en-US" sz="1700" i="1" dirty="0">
                <a:solidFill>
                  <a:schemeClr val="bg1"/>
                </a:solidFill>
              </a:rPr>
              <a:t>als</a:t>
            </a:r>
            <a:r>
              <a:rPr lang="en-US" sz="1700" dirty="0">
                <a:solidFill>
                  <a:schemeClr val="bg1"/>
                </a:solidFill>
              </a:rPr>
              <a:t>, le </a:t>
            </a:r>
            <a:r>
              <a:rPr lang="en-US" sz="1700" b="1" dirty="0">
                <a:solidFill>
                  <a:schemeClr val="bg1"/>
                </a:solidFill>
              </a:rPr>
              <a:t>présent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gaan + infinitif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200400" cy="38862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32004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gaan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aller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31720"/>
            <a:ext cx="1664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212848" y="2331720"/>
            <a:ext cx="147218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" y="3086100"/>
            <a:ext cx="3054096" cy="754380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086100"/>
            <a:ext cx="1664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jij · u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12848" y="3086100"/>
            <a:ext cx="147218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gaat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840480"/>
            <a:ext cx="1664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hij · zij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212848" y="3840480"/>
            <a:ext cx="147218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gaat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21792" y="4594860"/>
            <a:ext cx="3054096" cy="754380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94860"/>
            <a:ext cx="166420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we · jullie · zij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2212848" y="4594860"/>
            <a:ext cx="147218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gaan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023360" y="1600200"/>
            <a:ext cx="606430" cy="731520"/>
          </a:xfrm>
          <a:prstGeom prst="roundRect">
            <a:avLst>
              <a:gd name="adj" fmla="val 1206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23360" y="1600200"/>
            <a:ext cx="606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721230" y="1600200"/>
            <a:ext cx="606430" cy="731520"/>
          </a:xfrm>
          <a:prstGeom prst="roundRect">
            <a:avLst>
              <a:gd name="adj" fmla="val 12063"/>
            </a:avLst>
          </a:prstGeom>
          <a:solidFill>
            <a:srgbClr val="EAF1F8"/>
          </a:solidFill>
          <a:ln w="31750">
            <a:solidFill>
              <a:srgbClr val="2A6FB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21230" y="1600200"/>
            <a:ext cx="606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ga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419100" y="1600200"/>
            <a:ext cx="2646274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19100" y="1600200"/>
            <a:ext cx="26462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een nieuwe auto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8156814" y="1600200"/>
            <a:ext cx="1234074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8156814" y="1600200"/>
            <a:ext cx="12340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kopen.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4023360" y="2560320"/>
            <a:ext cx="606430" cy="731520"/>
          </a:xfrm>
          <a:prstGeom prst="roundRect">
            <a:avLst>
              <a:gd name="adj" fmla="val 1206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23360" y="2560320"/>
            <a:ext cx="6064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We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4721230" y="2560320"/>
            <a:ext cx="920252" cy="73152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31750">
            <a:solidFill>
              <a:srgbClr val="2A6FB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21230" y="2560320"/>
            <a:ext cx="9202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gaan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732922" y="2560320"/>
            <a:ext cx="1861718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732922" y="2560320"/>
            <a:ext cx="18617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verhuizen.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4023360" y="3520440"/>
            <a:ext cx="1704807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023360" y="3520440"/>
            <a:ext cx="17048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Kijk, het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5819607" y="3520440"/>
            <a:ext cx="920252" cy="73152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31750">
            <a:solidFill>
              <a:srgbClr val="2A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19607" y="3520440"/>
            <a:ext cx="9202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gaat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6831300" y="3520440"/>
            <a:ext cx="1547896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8" name="Text 35"/>
          <p:cNvSpPr txBox="1"/>
          <p:nvPr/>
        </p:nvSpPr>
        <p:spPr>
          <a:xfrm>
            <a:off x="6831300" y="3520440"/>
            <a:ext cx="1547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regenen!</a:t>
            </a:r>
            <a:endParaRPr lang="en-US" sz="2200" dirty="0"/>
          </a:p>
        </p:txBody>
      </p:sp>
      <p:sp>
        <p:nvSpPr>
          <p:cNvPr id="39" name="Shape 36"/>
          <p:cNvSpPr/>
          <p:nvPr/>
        </p:nvSpPr>
        <p:spPr>
          <a:xfrm>
            <a:off x="4023360" y="4480560"/>
            <a:ext cx="107716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023360" y="4480560"/>
            <a:ext cx="10771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Sofie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5191963" y="4480560"/>
            <a:ext cx="920252" cy="731520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31750">
            <a:solidFill>
              <a:srgbClr val="2A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191963" y="4480560"/>
            <a:ext cx="9202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gaat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6203655" y="4480560"/>
            <a:ext cx="1547896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203655" y="4480560"/>
            <a:ext cx="1547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 klant</a:t>
            </a:r>
            <a:endParaRPr lang="en-US" sz="2200" dirty="0"/>
          </a:p>
        </p:txBody>
      </p:sp>
      <p:sp>
        <p:nvSpPr>
          <p:cNvPr id="45" name="Shape 42"/>
          <p:cNvSpPr/>
          <p:nvPr/>
        </p:nvSpPr>
        <p:spPr>
          <a:xfrm>
            <a:off x="7842992" y="4480560"/>
            <a:ext cx="1704807" cy="731520"/>
          </a:xfrm>
          <a:prstGeom prst="roundRect">
            <a:avLst>
              <a:gd name="adj" fmla="val 10000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7842992" y="4480560"/>
            <a:ext cx="17048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opbellen.</a:t>
            </a:r>
            <a:endParaRPr lang="en-US" sz="2200" dirty="0"/>
          </a:p>
        </p:txBody>
      </p:sp>
      <p:sp>
        <p:nvSpPr>
          <p:cNvPr id="47" name="Shape 44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FR « aller + infinitif » = NL </a:t>
            </a:r>
            <a:r>
              <a:rPr lang="en-US" sz="1900" i="1" dirty="0">
                <a:solidFill>
                  <a:schemeClr val="bg1"/>
                </a:solidFill>
              </a:rPr>
              <a:t>gaan</a:t>
            </a:r>
            <a:r>
              <a:rPr lang="en-US" sz="1900" dirty="0">
                <a:solidFill>
                  <a:schemeClr val="bg1"/>
                </a:solidFill>
              </a:rPr>
              <a:t> + infinitif… mais </a:t>
            </a:r>
            <a:r>
              <a:rPr lang="en-US" sz="1900" b="1" dirty="0">
                <a:solidFill>
                  <a:schemeClr val="bg1"/>
                </a:solidFill>
              </a:rPr>
              <a:t>séparés</a:t>
            </a:r>
            <a:r>
              <a:rPr lang="en-US" sz="1900" dirty="0">
                <a:solidFill>
                  <a:schemeClr val="bg1"/>
                </a:solidFill>
              </a:rPr>
              <a:t> (la pince, M3) !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gaan — aller quelque part ou aller faire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DÉPLACEMENT</a:t>
            </a:r>
            <a:endParaRPr lang="en-US" sz="1700" dirty="0"/>
          </a:p>
        </p:txBody>
      </p:sp>
      <p:pic>
        <p:nvPicPr>
          <p:cNvPr id="8" name="Image 0" descr="person wal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1097280" cy="10972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03120" y="2194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 ga </a:t>
            </a:r>
            <a:r>
              <a:rPr lang="en-US" sz="2200" b="1" i="1" dirty="0">
                <a:solidFill>
                  <a:schemeClr val="tx1"/>
                </a:solidFill>
              </a:rPr>
              <a:t>naar de bakker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2103120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je vais chez le boulanger</a:t>
            </a:r>
            <a:endParaRPr lang="en-US" sz="1500" dirty="0"/>
          </a:p>
        </p:txBody>
      </p:sp>
      <p:sp>
        <p:nvSpPr>
          <p:cNvPr id="11" name="tag"/>
          <p:cNvSpPr/>
          <p:nvPr/>
        </p:nvSpPr>
        <p:spPr>
          <a:xfrm>
            <a:off x="2103120" y="3429000"/>
            <a:ext cx="2002231" cy="329184"/>
          </a:xfrm>
          <a:prstGeom prst="roundRect">
            <a:avLst>
              <a:gd name="adj" fmla="val 1388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gaan + un lieu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27064" y="1554480"/>
            <a:ext cx="5413248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27064" y="1554480"/>
            <a:ext cx="5413248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27064" y="1554480"/>
            <a:ext cx="5413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chemeClr val="bg1"/>
                </a:solidFill>
              </a:rPr>
              <a:t>FUTUR</a:t>
            </a:r>
            <a:endParaRPr lang="en-US" sz="1700" dirty="0"/>
          </a:p>
        </p:txBody>
      </p:sp>
      <p:pic>
        <p:nvPicPr>
          <p:cNvPr id="15" name="Image 1" descr="br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2286000"/>
            <a:ext cx="1097280" cy="10972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81544" y="2194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tx1"/>
                </a:solidFill>
              </a:rPr>
              <a:t>Ik ga brood </a:t>
            </a:r>
            <a:r>
              <a:rPr lang="en-US" sz="2200" b="1" i="1" dirty="0">
                <a:solidFill>
                  <a:schemeClr val="tx1"/>
                </a:solidFill>
              </a:rPr>
              <a:t>kopen</a:t>
            </a:r>
            <a:r>
              <a:rPr lang="en-US" sz="2200" i="1" dirty="0">
                <a:solidFill>
                  <a:schemeClr val="tx1"/>
                </a:solidFill>
              </a:rPr>
              <a:t>.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7781544" y="2834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je vais acheter du pain</a:t>
            </a:r>
            <a:endParaRPr lang="en-US" sz="1500" dirty="0"/>
          </a:p>
        </p:txBody>
      </p:sp>
      <p:sp>
        <p:nvSpPr>
          <p:cNvPr id="18" name="tag"/>
          <p:cNvSpPr/>
          <p:nvPr/>
        </p:nvSpPr>
        <p:spPr>
          <a:xfrm>
            <a:off x="7781544" y="3429000"/>
            <a:ext cx="3171139" cy="329184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gaan + infinitif au bout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4805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4480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Les deux : </a:t>
            </a:r>
            <a:r>
              <a:rPr lang="en-US" sz="2000" i="1" dirty="0">
                <a:solidFill>
                  <a:schemeClr val="tx1"/>
                </a:solidFill>
              </a:rPr>
              <a:t>Ik </a:t>
            </a:r>
            <a:r>
              <a:rPr lang="en-US" sz="2000" b="1" i="1" dirty="0">
                <a:solidFill>
                  <a:schemeClr val="tx1"/>
                </a:solidFill>
              </a:rPr>
              <a:t>ga</a:t>
            </a:r>
            <a:r>
              <a:rPr lang="en-US" sz="2000" i="1" dirty="0">
                <a:solidFill>
                  <a:schemeClr val="tx1"/>
                </a:solidFill>
              </a:rPr>
              <a:t> bij de bakker brood </a:t>
            </a:r>
            <a:r>
              <a:rPr lang="en-US" sz="2000" b="1" i="1" dirty="0">
                <a:solidFill>
                  <a:schemeClr val="tx1"/>
                </a:solidFill>
              </a:rPr>
              <a:t>kopen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accent6">
              <a:alpha val="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77240" y="53949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 </a:t>
            </a:r>
            <a:r>
              <a:rPr lang="en-US" sz="1900" i="1" dirty="0">
                <a:solidFill>
                  <a:schemeClr val="tx1"/>
                </a:solidFill>
              </a:rPr>
              <a:t>Ik ga eten.</a:t>
            </a:r>
            <a:r>
              <a:rPr lang="en-US" sz="1900" dirty="0">
                <a:solidFill>
                  <a:schemeClr val="tx1"/>
                </a:solidFill>
              </a:rPr>
              <a:t> = je vais manger (maintenant, ou plus tard : le </a:t>
            </a:r>
            <a:r>
              <a:rPr lang="en-US" sz="1900" b="1" dirty="0">
                <a:solidFill>
                  <a:schemeClr val="tx1"/>
                </a:solidFill>
              </a:rPr>
              <a:t>contexte</a:t>
            </a:r>
            <a:r>
              <a:rPr lang="en-US" sz="1900" dirty="0">
                <a:solidFill>
                  <a:schemeClr val="tx1"/>
                </a:solidFill>
              </a:rPr>
              <a:t> décide)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zullen + infinitif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291840" cy="470916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2540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zullen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bg1"/>
                </a:solidFill>
              </a:rPr>
              <a:t>promettre, proposer…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31720"/>
            <a:ext cx="17117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260397" y="2331720"/>
            <a:ext cx="15142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zal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" y="3099816"/>
            <a:ext cx="3145536" cy="768096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099816"/>
            <a:ext cx="17117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jij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60397" y="3099816"/>
            <a:ext cx="15142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zult · zal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867912"/>
            <a:ext cx="17117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260397" y="3867912"/>
            <a:ext cx="15142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zult · zal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21792" y="4636008"/>
            <a:ext cx="3145536" cy="768096"/>
          </a:xfrm>
          <a:prstGeom prst="rect">
            <a:avLst/>
          </a:prstGeom>
          <a:solidFill>
            <a:schemeClr val="bg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636008"/>
            <a:ext cx="17117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hij · zij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2260397" y="4636008"/>
            <a:ext cx="15142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zal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5404104"/>
            <a:ext cx="1711757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we · jullie · zij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260397" y="5404104"/>
            <a:ext cx="151424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zullen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069080" y="1554480"/>
            <a:ext cx="3694176" cy="1810512"/>
          </a:xfrm>
          <a:prstGeom prst="roundRect">
            <a:avLst>
              <a:gd name="adj" fmla="val 6061"/>
            </a:avLst>
          </a:prstGeom>
          <a:solidFill>
            <a:srgbClr val="6E4A9E">
              <a:alpha val="8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22" name="Image 0" descr="handsh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737360"/>
            <a:ext cx="685800" cy="6858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074920" y="1737360"/>
            <a:ext cx="255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promesse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4297680" y="2468880"/>
            <a:ext cx="3282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Ik </a:t>
            </a:r>
            <a:r>
              <a:rPr lang="en-US" sz="1700" b="1" i="1" dirty="0">
                <a:solidFill>
                  <a:schemeClr val="tx1"/>
                </a:solidFill>
              </a:rPr>
              <a:t>zal</a:t>
            </a:r>
            <a:r>
              <a:rPr lang="en-US" sz="1700" i="1" dirty="0">
                <a:solidFill>
                  <a:schemeClr val="tx1"/>
                </a:solidFill>
              </a:rPr>
              <a:t> het morgen </a:t>
            </a:r>
            <a:r>
              <a:rPr lang="en-US" sz="1700" b="1" i="1" dirty="0">
                <a:solidFill>
                  <a:schemeClr val="tx1"/>
                </a:solidFill>
              </a:rPr>
              <a:t>doen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7946136" y="1554480"/>
            <a:ext cx="3694176" cy="1810512"/>
          </a:xfrm>
          <a:prstGeom prst="roundRect">
            <a:avLst>
              <a:gd name="adj" fmla="val 6061"/>
            </a:avLst>
          </a:prstGeom>
          <a:solidFill>
            <a:srgbClr val="6E4A9E">
              <a:alpha val="8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26" name="Image 1" descr="hot bever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1737360"/>
            <a:ext cx="685800" cy="6858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951976" y="1737360"/>
            <a:ext cx="255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proposition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8174736" y="2468880"/>
            <a:ext cx="3282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chemeClr val="tx1"/>
                </a:solidFill>
              </a:rPr>
              <a:t>Zullen</a:t>
            </a:r>
            <a:r>
              <a:rPr lang="en-US" sz="1700" i="1" dirty="0">
                <a:solidFill>
                  <a:schemeClr val="tx1"/>
                </a:solidFill>
              </a:rPr>
              <a:t> we koffie </a:t>
            </a:r>
            <a:r>
              <a:rPr lang="en-US" sz="1700" b="1" i="1" dirty="0">
                <a:solidFill>
                  <a:schemeClr val="tx1"/>
                </a:solidFill>
              </a:rPr>
              <a:t>drinken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9" name="Shape 24"/>
          <p:cNvSpPr/>
          <p:nvPr/>
        </p:nvSpPr>
        <p:spPr>
          <a:xfrm>
            <a:off x="4069080" y="3520440"/>
            <a:ext cx="3694176" cy="1810512"/>
          </a:xfrm>
          <a:prstGeom prst="roundRect">
            <a:avLst>
              <a:gd name="adj" fmla="val 6061"/>
            </a:avLst>
          </a:prstGeom>
          <a:solidFill>
            <a:srgbClr val="6E4A9E">
              <a:alpha val="8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30" name="Image 2" descr="loudspea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703320"/>
            <a:ext cx="685800" cy="6858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074920" y="3703320"/>
            <a:ext cx="255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annonce officielle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4297680" y="4434840"/>
            <a:ext cx="3282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 vergadering </a:t>
            </a:r>
            <a:r>
              <a:rPr lang="en-US" sz="1700" b="1" i="1" dirty="0">
                <a:solidFill>
                  <a:schemeClr val="tx1"/>
                </a:solidFill>
              </a:rPr>
              <a:t>zal</a:t>
            </a:r>
            <a:r>
              <a:rPr lang="en-US" sz="1700" i="1" dirty="0">
                <a:solidFill>
                  <a:schemeClr val="tx1"/>
                </a:solidFill>
              </a:rPr>
              <a:t> om 10 uur </a:t>
            </a:r>
            <a:r>
              <a:rPr lang="en-US" sz="1700" b="1" i="1" dirty="0">
                <a:solidFill>
                  <a:schemeClr val="tx1"/>
                </a:solidFill>
              </a:rPr>
              <a:t>beginnen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7946136" y="3520440"/>
            <a:ext cx="3694176" cy="1810512"/>
          </a:xfrm>
          <a:prstGeom prst="roundRect">
            <a:avLst>
              <a:gd name="adj" fmla="val 6061"/>
            </a:avLst>
          </a:prstGeom>
          <a:solidFill>
            <a:srgbClr val="6E4A9E">
              <a:alpha val="8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34" name="Image 3" descr="thinking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3703320"/>
            <a:ext cx="685800" cy="6858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951976" y="3703320"/>
            <a:ext cx="2551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E4A9E"/>
                </a:solidFill>
              </a:rPr>
              <a:t>supposition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8174736" y="4434840"/>
            <a:ext cx="3282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Hij </a:t>
            </a:r>
            <a:r>
              <a:rPr lang="en-US" sz="1700" b="1" i="1" dirty="0">
                <a:solidFill>
                  <a:schemeClr val="tx1"/>
                </a:solidFill>
              </a:rPr>
              <a:t>zal</a:t>
            </a:r>
            <a:r>
              <a:rPr lang="en-US" sz="1700" i="1" dirty="0">
                <a:solidFill>
                  <a:schemeClr val="tx1"/>
                </a:solidFill>
              </a:rPr>
              <a:t> wel ziek </a:t>
            </a:r>
            <a:r>
              <a:rPr lang="en-US" sz="1700" b="1" i="1" dirty="0">
                <a:solidFill>
                  <a:schemeClr val="tx1"/>
                </a:solidFill>
              </a:rPr>
              <a:t>zijn</a:t>
            </a:r>
            <a:r>
              <a:rPr lang="en-US" sz="1700" i="1" dirty="0">
                <a:solidFill>
                  <a:schemeClr val="tx1"/>
                </a:solidFill>
              </a:rPr>
              <a:t>. (il doit être malade)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4069080" y="5577840"/>
            <a:ext cx="7571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Rappel M12 · </a:t>
            </a:r>
            <a:r>
              <a:rPr lang="en-US" sz="1500" i="1" dirty="0">
                <a:solidFill>
                  <a:schemeClr val="accent5"/>
                </a:solidFill>
              </a:rPr>
              <a:t>jij zal</a:t>
            </a:r>
            <a:r>
              <a:rPr lang="en-US" sz="1500" i="1" dirty="0">
                <a:solidFill>
                  <a:schemeClr val="accent5"/>
                </a:solidFill>
              </a:rPr>
              <a:t> : très courant en Flandre · </a:t>
            </a:r>
            <a:r>
              <a:rPr lang="en-US" sz="1500" i="1" dirty="0">
                <a:solidFill>
                  <a:schemeClr val="accent5"/>
                </a:solidFill>
              </a:rPr>
              <a:t>zal wel</a:t>
            </a:r>
            <a:r>
              <a:rPr lang="en-US" sz="1500" i="1" dirty="0">
                <a:solidFill>
                  <a:schemeClr val="accent5"/>
                </a:solidFill>
              </a:rPr>
              <a:t> = « sans doute 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marqueurs du futur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2697480"/>
            <a:ext cx="1069848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5786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2971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nu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straks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755648" y="25786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tout à l’heure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60604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vanavond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3218688" y="25786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60604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ce soir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06908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morgen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681728" y="25786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06908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demain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53212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overmorgen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144768" y="25786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53212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après-demain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99516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volgende week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607808" y="25786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9516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la semaine prochaine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45820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over twee weken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9070848" y="25786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45820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dans deux semaines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992124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volgend jaar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10533888" y="25786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92124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l’an prochain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8686800" y="3429000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+ </a:t>
            </a:r>
            <a:r>
              <a:rPr lang="en-US" sz="1400" b="1" i="1" dirty="0">
                <a:solidFill>
                  <a:schemeClr val="accent5"/>
                </a:solidFill>
              </a:rPr>
              <a:t>binnenkort</a:t>
            </a:r>
            <a:r>
              <a:rPr lang="en-US" sz="1400" dirty="0">
                <a:solidFill>
                  <a:schemeClr val="accent5"/>
                </a:solidFill>
              </a:rPr>
              <a:t> = bientôt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LE MIROIR DU M15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548640" y="4114800"/>
            <a:ext cx="3575304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4114800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gisteren</a:t>
            </a:r>
            <a:r>
              <a:rPr lang="en-US" sz="1700" dirty="0">
                <a:solidFill>
                  <a:schemeClr val="tx1"/>
                </a:solidFill>
              </a:rPr>
              <a:t> ⇄ </a:t>
            </a:r>
            <a:r>
              <a:rPr lang="en-US" sz="1700" b="1" i="1" dirty="0">
                <a:solidFill>
                  <a:schemeClr val="accent1"/>
                </a:solidFill>
              </a:rPr>
              <a:t>morgen</a:t>
            </a:r>
            <a:endParaRPr lang="en-US" sz="1700" dirty="0"/>
          </a:p>
        </p:txBody>
      </p:sp>
      <p:sp>
        <p:nvSpPr>
          <p:cNvPr id="34" name="Shape 30"/>
          <p:cNvSpPr/>
          <p:nvPr/>
        </p:nvSpPr>
        <p:spPr>
          <a:xfrm>
            <a:off x="4306824" y="4114800"/>
            <a:ext cx="3575304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306824" y="4114800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vorige week</a:t>
            </a:r>
            <a:r>
              <a:rPr lang="en-US" sz="1700" dirty="0">
                <a:solidFill>
                  <a:schemeClr val="tx1"/>
                </a:solidFill>
              </a:rPr>
              <a:t> ⇄ </a:t>
            </a:r>
            <a:r>
              <a:rPr lang="en-US" sz="1700" b="1" i="1" dirty="0">
                <a:solidFill>
                  <a:schemeClr val="accent1"/>
                </a:solidFill>
              </a:rPr>
              <a:t>volgende week</a:t>
            </a:r>
            <a:endParaRPr lang="en-US" sz="1700" dirty="0"/>
          </a:p>
        </p:txBody>
      </p:sp>
      <p:sp>
        <p:nvSpPr>
          <p:cNvPr id="36" name="Shape 32"/>
          <p:cNvSpPr/>
          <p:nvPr/>
        </p:nvSpPr>
        <p:spPr>
          <a:xfrm>
            <a:off x="8065008" y="4114800"/>
            <a:ext cx="3575304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065008" y="4114800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twee dagen geleden</a:t>
            </a:r>
            <a:r>
              <a:rPr lang="en-US" sz="1700" dirty="0">
                <a:solidFill>
                  <a:schemeClr val="tx1"/>
                </a:solidFill>
              </a:rPr>
              <a:t> ⇄ </a:t>
            </a:r>
            <a:r>
              <a:rPr lang="en-US" sz="1700" b="1" i="1" dirty="0">
                <a:solidFill>
                  <a:schemeClr val="accent1"/>
                </a:solidFill>
              </a:rPr>
              <a:t>over twee dagen</a:t>
            </a:r>
            <a:endParaRPr lang="en-US" sz="1700" dirty="0"/>
          </a:p>
        </p:txBody>
      </p:sp>
      <p:sp>
        <p:nvSpPr>
          <p:cNvPr id="38" name="Shape 34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22960" y="5212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over</a:t>
            </a:r>
            <a:r>
              <a:rPr lang="en-US" sz="1700" dirty="0">
                <a:solidFill>
                  <a:schemeClr val="bg1"/>
                </a:solidFill>
              </a:rPr>
              <a:t> + durée = « dans » (</a:t>
            </a:r>
            <a:r>
              <a:rPr lang="en-US" sz="1700" i="1" dirty="0">
                <a:solidFill>
                  <a:schemeClr val="bg1"/>
                </a:solidFill>
              </a:rPr>
              <a:t>over een uur</a:t>
            </a:r>
            <a:r>
              <a:rPr lang="en-US" sz="1700" dirty="0">
                <a:solidFill>
                  <a:schemeClr val="bg1"/>
                </a:solidFill>
              </a:rPr>
              <a:t>) · </a:t>
            </a:r>
            <a:r>
              <a:rPr lang="en-US" sz="1700" i="1" dirty="0">
                <a:solidFill>
                  <a:schemeClr val="bg1"/>
                </a:solidFill>
              </a:rPr>
              <a:t>in een uur</a:t>
            </a:r>
            <a:r>
              <a:rPr lang="en-US" sz="1700" dirty="0">
                <a:solidFill>
                  <a:schemeClr val="bg1"/>
                </a:solidFill>
              </a:rPr>
              <a:t> = « en une heure » · </a:t>
            </a:r>
            <a:r>
              <a:rPr lang="en-US" sz="1700" i="1" dirty="0">
                <a:solidFill>
                  <a:schemeClr val="bg1"/>
                </a:solidFill>
              </a:rPr>
              <a:t>volgend jaar</a:t>
            </a:r>
            <a:r>
              <a:rPr lang="en-US" sz="1700" dirty="0">
                <a:solidFill>
                  <a:schemeClr val="bg1"/>
                </a:solidFill>
              </a:rPr>
              <a:t> (het) / </a:t>
            </a:r>
            <a:r>
              <a:rPr lang="en-US" sz="1700" i="1" dirty="0">
                <a:solidFill>
                  <a:schemeClr val="bg1"/>
                </a:solidFill>
              </a:rPr>
              <a:t>volgende week</a:t>
            </a:r>
            <a:r>
              <a:rPr lang="en-US" sz="1700" dirty="0">
                <a:solidFill>
                  <a:schemeClr val="bg1"/>
                </a:solidFill>
              </a:rPr>
              <a:t> (de)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Parler de ses projets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52651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VOCABULAIRE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178308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" name="Image 0" descr="delivery tr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84248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554480"/>
            <a:ext cx="2218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tx1"/>
                </a:solidFill>
              </a:rPr>
              <a:t>ga verhuizen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322064" y="1554480"/>
            <a:ext cx="3544824" cy="178308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9" name="Image 1" descr="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944" y="1984248"/>
            <a:ext cx="914400" cy="914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556504" y="1554480"/>
            <a:ext cx="2218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</a:t>
            </a:r>
            <a:r>
              <a:rPr lang="en-US" sz="1800" b="1" i="1" dirty="0">
                <a:solidFill>
                  <a:schemeClr val="tx1"/>
                </a:solidFill>
              </a:rPr>
              <a:t>gaan trouwen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8095488" y="1554480"/>
            <a:ext cx="3544824" cy="178308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2" name="Image 2" descr="briefc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368" y="1984248"/>
            <a:ext cx="914400" cy="9144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329928" y="1554480"/>
            <a:ext cx="2218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tx1"/>
                </a:solidFill>
              </a:rPr>
              <a:t>ga</a:t>
            </a:r>
            <a:r>
              <a:rPr lang="en-US" sz="1800" i="1" dirty="0">
                <a:solidFill>
                  <a:schemeClr val="tx1"/>
                </a:solidFill>
              </a:rPr>
              <a:t> een nieuwe job </a:t>
            </a:r>
            <a:r>
              <a:rPr lang="en-US" sz="1800" b="1" i="1" dirty="0">
                <a:solidFill>
                  <a:schemeClr val="tx1"/>
                </a:solidFill>
              </a:rPr>
              <a:t>zoeken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548640" y="3520440"/>
            <a:ext cx="3544824" cy="178308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5" name="Image 3" descr="boo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50208"/>
            <a:ext cx="914400" cy="9144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783080" y="3520440"/>
            <a:ext cx="2218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Ik </a:t>
            </a:r>
            <a:r>
              <a:rPr lang="en-US" sz="1800" b="1" i="1" dirty="0">
                <a:solidFill>
                  <a:schemeClr val="tx1"/>
                </a:solidFill>
              </a:rPr>
              <a:t>ga</a:t>
            </a:r>
            <a:r>
              <a:rPr lang="en-US" sz="1800" i="1" dirty="0">
                <a:solidFill>
                  <a:schemeClr val="tx1"/>
                </a:solidFill>
              </a:rPr>
              <a:t> een cursus </a:t>
            </a:r>
            <a:r>
              <a:rPr lang="en-US" sz="1800" b="1" i="1" dirty="0">
                <a:solidFill>
                  <a:schemeClr val="tx1"/>
                </a:solidFill>
              </a:rPr>
              <a:t>volgen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17" name="Shape 10"/>
          <p:cNvSpPr/>
          <p:nvPr/>
        </p:nvSpPr>
        <p:spPr>
          <a:xfrm>
            <a:off x="4322064" y="3520440"/>
            <a:ext cx="3544824" cy="178308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8" name="Image 4" descr="lugg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4944" y="3950208"/>
            <a:ext cx="914400" cy="9144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5556504" y="3520440"/>
            <a:ext cx="2218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We </a:t>
            </a:r>
            <a:r>
              <a:rPr lang="en-US" sz="1800" b="1" i="1" dirty="0">
                <a:solidFill>
                  <a:schemeClr val="tx1"/>
                </a:solidFill>
              </a:rPr>
              <a:t>gaan</a:t>
            </a:r>
            <a:r>
              <a:rPr lang="en-US" sz="1800" i="1" dirty="0">
                <a:solidFill>
                  <a:schemeClr val="tx1"/>
                </a:solidFill>
              </a:rPr>
              <a:t> op reis.</a:t>
            </a:r>
            <a:endParaRPr lang="en-US" sz="1800" dirty="0"/>
          </a:p>
        </p:txBody>
      </p:sp>
      <p:sp>
        <p:nvSpPr>
          <p:cNvPr id="20" name="Shape 12"/>
          <p:cNvSpPr/>
          <p:nvPr/>
        </p:nvSpPr>
        <p:spPr>
          <a:xfrm>
            <a:off x="8095488" y="3520440"/>
            <a:ext cx="3544824" cy="178308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21" name="Image 5" descr="beach with umbrell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368" y="3950208"/>
            <a:ext cx="914400" cy="9144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329928" y="3520440"/>
            <a:ext cx="221894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Mijn vader </a:t>
            </a:r>
            <a:r>
              <a:rPr lang="en-US" sz="1800" b="1" i="1" dirty="0">
                <a:solidFill>
                  <a:schemeClr val="tx1"/>
                </a:solidFill>
              </a:rPr>
              <a:t>gaat</a:t>
            </a:r>
            <a:r>
              <a:rPr lang="en-US" sz="1800" i="1" dirty="0">
                <a:solidFill>
                  <a:schemeClr val="tx1"/>
                </a:solidFill>
              </a:rPr>
              <a:t> met pensioen.</a:t>
            </a:r>
            <a:endParaRPr lang="en-US" sz="180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56235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op reis gaan · met pensioen gaan</a:t>
            </a:r>
            <a:r>
              <a:rPr lang="en-US" sz="1600" i="1" dirty="0">
                <a:solidFill>
                  <a:schemeClr val="accent5"/>
                </a:solidFill>
              </a:rPr>
              <a:t> (prendre sa retraite) : expressions, pas de 2e </a:t>
            </a:r>
            <a:r>
              <a:rPr lang="en-US" sz="1600" i="1" dirty="0">
                <a:solidFill>
                  <a:schemeClr val="accent5"/>
                </a:solidFill>
              </a:rPr>
              <a:t>gaan</a:t>
            </a:r>
            <a:r>
              <a:rPr lang="en-US" sz="1600" i="1" dirty="0">
                <a:solidFill>
                  <a:schemeClr val="accent5"/>
                </a:solidFill>
              </a:rPr>
              <a:t> · aperçu : </a:t>
            </a:r>
            <a:r>
              <a:rPr lang="en-US" sz="1600" i="1" dirty="0">
                <a:solidFill>
                  <a:schemeClr val="accent5"/>
                </a:solidFill>
              </a:rPr>
              <a:t>Ik ben </a:t>
            </a:r>
            <a:r>
              <a:rPr lang="en-US" sz="1600" b="1" i="1" dirty="0">
                <a:solidFill>
                  <a:schemeClr val="accent5"/>
                </a:solidFill>
              </a:rPr>
              <a:t>van plan om</a:t>
            </a:r>
            <a:r>
              <a:rPr lang="en-US" sz="1600" i="1" dirty="0">
                <a:solidFill>
                  <a:schemeClr val="accent5"/>
                </a:solidFill>
              </a:rPr>
              <a:t> te verhuizen.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+ APERÇU : le futur antérieur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+ APERÇU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22960" y="2834640"/>
            <a:ext cx="10607040" cy="914"/>
          </a:xfrm>
          <a:prstGeom prst="line">
            <a:avLst/>
          </a:prstGeom>
          <a:noFill/>
          <a:ln w="38100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7157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nu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28800" y="224028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6E4A9E">
              <a:alpha val="25000"/>
            </a:srgbClr>
          </a:solidFill>
          <a:ln w="19050">
            <a:solidFill>
              <a:srgbClr val="6E4A9E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1828800" y="2240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6E4A9E"/>
                </a:solidFill>
              </a:rPr>
              <a:t>het rapport schrijven</a:t>
            </a:r>
            <a:r>
              <a:rPr lang="en-US" sz="1600" b="1" dirty="0">
                <a:solidFill>
                  <a:srgbClr val="6E4A9E"/>
                </a:solidFill>
              </a:rPr>
              <a:t> ✓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315200" y="1691640"/>
            <a:ext cx="914" cy="1463040"/>
          </a:xfrm>
          <a:prstGeom prst="line">
            <a:avLst/>
          </a:prstGeom>
          <a:noFill/>
          <a:ln w="31750">
            <a:solidFill>
              <a:srgbClr val="B83227"/>
            </a:solidFill>
            <a:prstDash val="solid"/>
          </a:ln>
        </p:spPr>
      </p:sp>
      <p:pic>
        <p:nvPicPr>
          <p:cNvPr id="12" name="Image 1" descr="FlagChecke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00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523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6"/>
                </a:solidFill>
              </a:rPr>
              <a:t>vrijdag 17 uur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3566160"/>
            <a:ext cx="110916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900" b="1" i="1" dirty="0">
                <a:solidFill>
                  <a:schemeClr val="tx1"/>
                </a:solidFill>
              </a:rPr>
              <a:t>Tegen</a:t>
            </a:r>
            <a:r>
              <a:rPr lang="en-US" sz="1900" i="1" dirty="0">
                <a:solidFill>
                  <a:schemeClr val="tx1"/>
                </a:solidFill>
              </a:rPr>
              <a:t> vrijdag </a:t>
            </a:r>
            <a:r>
              <a:rPr lang="en-US" sz="1900" b="1" i="1" dirty="0">
                <a:solidFill>
                  <a:schemeClr val="tx1"/>
                </a:solidFill>
              </a:rPr>
              <a:t>zal</a:t>
            </a:r>
            <a:r>
              <a:rPr lang="en-US" sz="1900" i="1" dirty="0">
                <a:solidFill>
                  <a:schemeClr val="tx1"/>
                </a:solidFill>
              </a:rPr>
              <a:t> ik het rapport </a:t>
            </a:r>
            <a:r>
              <a:rPr lang="en-US" sz="1900" b="1" i="1" dirty="0">
                <a:solidFill>
                  <a:schemeClr val="tx1"/>
                </a:solidFill>
              </a:rPr>
              <a:t>geschreven hebben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r>
              <a:rPr lang="en-US" sz="1900" dirty="0">
                <a:solidFill>
                  <a:schemeClr val="tx1"/>
                </a:solidFill>
              </a:rPr>
              <a:t> (d’ici vendredi, j’aurai écrit)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Volgend jaar </a:t>
            </a:r>
            <a:r>
              <a:rPr lang="en-US" sz="1900" b="1" i="1" dirty="0">
                <a:solidFill>
                  <a:schemeClr val="tx1"/>
                </a:solidFill>
              </a:rPr>
              <a:t>zal</a:t>
            </a:r>
            <a:r>
              <a:rPr lang="en-US" sz="1900" i="1" dirty="0">
                <a:solidFill>
                  <a:schemeClr val="tx1"/>
                </a:solidFill>
              </a:rPr>
              <a:t> ik hier tien jaar </a:t>
            </a:r>
            <a:r>
              <a:rPr lang="en-US" sz="1900" b="1" i="1" dirty="0">
                <a:solidFill>
                  <a:schemeClr val="tx1"/>
                </a:solidFill>
              </a:rPr>
              <a:t>gewerkt hebben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À l’oral, souvent : </a:t>
            </a:r>
            <a:r>
              <a:rPr lang="en-US" sz="1900" b="1" i="1" dirty="0">
                <a:solidFill>
                  <a:schemeClr val="tx1"/>
                </a:solidFill>
              </a:rPr>
              <a:t>Tegen</a:t>
            </a:r>
            <a:r>
              <a:rPr lang="en-US" sz="1900" i="1" dirty="0">
                <a:solidFill>
                  <a:schemeClr val="tx1"/>
                </a:solidFill>
              </a:rPr>
              <a:t> vrijdag </a:t>
            </a:r>
            <a:r>
              <a:rPr lang="en-US" sz="1900" b="1" i="1" dirty="0">
                <a:solidFill>
                  <a:schemeClr val="tx1"/>
                </a:solidFill>
              </a:rPr>
              <a:t>heb</a:t>
            </a:r>
            <a:r>
              <a:rPr lang="en-US" sz="1900" i="1" dirty="0">
                <a:solidFill>
                  <a:schemeClr val="tx1"/>
                </a:solidFill>
              </a:rPr>
              <a:t> ik het rapport </a:t>
            </a:r>
            <a:r>
              <a:rPr lang="en-US" sz="1900" b="1" i="1" dirty="0">
                <a:solidFill>
                  <a:schemeClr val="tx1"/>
                </a:solidFill>
              </a:rPr>
              <a:t>geschreven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r>
              <a:rPr lang="en-US" sz="1900" dirty="0">
                <a:solidFill>
                  <a:schemeClr val="tx1"/>
                </a:solidFill>
              </a:rPr>
              <a:t> (passé composé + marqueur)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À reconnaître seulement. Le passé composé + un marqueur futur est la solution la plus simple.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quel futur choisir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4206240" cy="91440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</a:rPr>
              <a:t>Un plan, un horaire, avec un marqueur ?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73168" y="2011680"/>
            <a:ext cx="484632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4754880" y="1664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03520" y="1645920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40680" y="1645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présent : </a:t>
            </a:r>
            <a:r>
              <a:rPr lang="en-US" sz="1600" i="1" dirty="0">
                <a:solidFill>
                  <a:schemeClr val="bg1"/>
                </a:solidFill>
              </a:rPr>
              <a:t>Morgen werk ik thuis.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51760" y="2468880"/>
            <a:ext cx="914" cy="201168"/>
          </a:xfrm>
          <a:prstGeom prst="line">
            <a:avLst/>
          </a:prstGeom>
          <a:noFill/>
          <a:ln w="2222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2743200" y="24505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670048"/>
            <a:ext cx="4206240" cy="91440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</a:rPr>
              <a:t>Une intention, un changement, un signe visible 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73168" y="3127248"/>
            <a:ext cx="484632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4754880" y="2779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03520" y="2761488"/>
            <a:ext cx="352044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40680" y="276148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gaan</a:t>
            </a:r>
            <a:r>
              <a:rPr lang="en-US" sz="1600" dirty="0">
                <a:solidFill>
                  <a:schemeClr val="bg1"/>
                </a:solidFill>
              </a:rPr>
              <a:t> + inf. : </a:t>
            </a:r>
            <a:r>
              <a:rPr lang="en-US" sz="1600" i="1" dirty="0">
                <a:solidFill>
                  <a:schemeClr val="bg1"/>
                </a:solidFill>
              </a:rPr>
              <a:t>Ik ga verhuizen.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651760" y="3584448"/>
            <a:ext cx="914" cy="201168"/>
          </a:xfrm>
          <a:prstGeom prst="line">
            <a:avLst/>
          </a:prstGeom>
          <a:noFill/>
          <a:ln w="2222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2743200" y="35661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785616"/>
            <a:ext cx="4206240" cy="914400"/>
          </a:xfrm>
          <a:prstGeom prst="diamond">
            <a:avLst/>
          </a:prstGeom>
          <a:solidFill>
            <a:srgbClr val="EEF3F8"/>
          </a:solidFill>
          <a:ln w="19050"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33"/>
                </a:solidFill>
              </a:rPr>
              <a:t>Une promesse, une proposition, une annonce 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73168" y="4242816"/>
            <a:ext cx="484632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754880" y="3895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OUI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03520" y="3877056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40680" y="387705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zullen</a:t>
            </a:r>
            <a:r>
              <a:rPr lang="en-US" sz="1600" dirty="0">
                <a:solidFill>
                  <a:schemeClr val="bg1"/>
                </a:solidFill>
              </a:rPr>
              <a:t> + inf. : </a:t>
            </a:r>
            <a:r>
              <a:rPr lang="en-US" sz="1600" i="1" dirty="0">
                <a:solidFill>
                  <a:schemeClr val="bg1"/>
                </a:solidFill>
              </a:rPr>
              <a:t>Ik zal je bellen.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651760" y="4700016"/>
            <a:ext cx="914" cy="201168"/>
          </a:xfrm>
          <a:prstGeom prst="line">
            <a:avLst/>
          </a:prstGeom>
          <a:noFill/>
          <a:ln w="22225">
            <a:solidFill>
              <a:srgbClr val="4A5A70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743200" y="46817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NON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4901184"/>
            <a:ext cx="82753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0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12064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280160" y="4901184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Dans le doute : le </a:t>
            </a:r>
            <a:r>
              <a:rPr lang="en-US" sz="1800" b="1" dirty="0">
                <a:solidFill>
                  <a:schemeClr val="bg1"/>
                </a:solidFill>
              </a:rPr>
              <a:t>présent + un marqueur</a:t>
            </a:r>
            <a:r>
              <a:rPr lang="en-US" sz="1800" dirty="0">
                <a:solidFill>
                  <a:schemeClr val="bg1"/>
                </a:solidFill>
              </a:rPr>
              <a:t>. C’est presque toujours possible.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098280" y="1554480"/>
            <a:ext cx="2542032" cy="4169664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098280" y="164592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LA PINCE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9281160" y="2103120"/>
            <a:ext cx="2176272" cy="548640"/>
          </a:xfrm>
          <a:prstGeom prst="roundRect">
            <a:avLst>
              <a:gd name="adj" fmla="val 13333"/>
            </a:avLst>
          </a:prstGeom>
          <a:solidFill>
            <a:srgbClr val="EAF1F8"/>
          </a:solidFill>
          <a:ln w="31750">
            <a:solidFill>
              <a:srgbClr val="2A6FB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9281160" y="210312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ga / zal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9281160" y="267004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② verbe conjugué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9281160" y="3154680"/>
            <a:ext cx="2176272" cy="548640"/>
          </a:xfrm>
          <a:prstGeom prst="roundRect">
            <a:avLst>
              <a:gd name="adj" fmla="val 13333"/>
            </a:avLst>
          </a:prstGeom>
          <a:solidFill>
            <a:srgbClr val="FBEDEB"/>
          </a:solidFill>
          <a:ln w="25400">
            <a:solidFill>
              <a:srgbClr val="B83227"/>
            </a:solidFill>
            <a:prstDash val="dash"/>
          </a:ln>
        </p:spPr>
      </p:sp>
      <p:sp>
        <p:nvSpPr>
          <p:cNvPr id="35" name="Text 31"/>
          <p:cNvSpPr txBox="1"/>
          <p:nvPr/>
        </p:nvSpPr>
        <p:spPr>
          <a:xfrm>
            <a:off x="9281160" y="315468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infinitif</a:t>
            </a:r>
            <a:endParaRPr lang="en-US" sz="1800" dirty="0"/>
          </a:p>
        </p:txBody>
      </p:sp>
      <p:sp>
        <p:nvSpPr>
          <p:cNvPr id="36" name="Text 32"/>
          <p:cNvSpPr txBox="1"/>
          <p:nvPr/>
        </p:nvSpPr>
        <p:spPr>
          <a:xfrm>
            <a:off x="9281160" y="3721608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⑥ au bout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9235440" y="4206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Ik </a:t>
            </a:r>
            <a:r>
              <a:rPr lang="en-US" sz="1600" b="1" i="1" dirty="0">
                <a:solidFill>
                  <a:schemeClr val="tx1"/>
                </a:solidFill>
              </a:rPr>
              <a:t>zal</a:t>
            </a:r>
            <a:r>
              <a:rPr lang="en-US" sz="1600" i="1" dirty="0">
                <a:solidFill>
                  <a:schemeClr val="tx1"/>
                </a:solidFill>
              </a:rPr>
              <a:t> je morgen </a:t>
            </a:r>
            <a:r>
              <a:rPr lang="en-US" sz="1600" b="1" i="1" dirty="0">
                <a:solidFill>
                  <a:schemeClr val="tx1"/>
                </a:solidFill>
              </a:rPr>
              <a:t>bellen</a:t>
            </a:r>
            <a:r>
              <a:rPr lang="en-US" sz="1600" i="1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870448"/>
            <a:ext cx="827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Ce schéma est la référence pour tous les exercices.</a:t>
            </a:r>
            <a:endParaRPr lang="en-US" sz="1400" dirty="0"/>
          </a:p>
        </p:txBody>
      </p:sp>
      <p:pic>
        <p:nvPicPr>
          <p:cNvPr id="39" name="Image 1" descr="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Calenda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L’agenda de Karim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Qu’est-ce qui va se passer 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Handshak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 vous le promets !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Rando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Quel futur ?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Magi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boule de cristal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Us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journée d’équipe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L’agenda de Karim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Répondez avec le présent. Mettez le jour en tête : attention à l’inversion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4343400" cy="435864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4343400" cy="50292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7296"/>
            <a:ext cx="402336" cy="4023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19324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KARIM · VOLGENDE WEEK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85800" y="262102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85800" y="262102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maandag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011680" y="248107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8.30 tandarts</a:t>
            </a:r>
            <a:endParaRPr lang="en-US" sz="1400" dirty="0"/>
          </a:p>
        </p:txBody>
      </p:sp>
      <p:pic>
        <p:nvPicPr>
          <p:cNvPr id="15" name="Image 2" descr="too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566162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85800" y="310845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85800" y="324840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85800" y="324840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dinsdag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2011680" y="310845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10.00 vergadering met meneer Maes</a:t>
            </a:r>
            <a:endParaRPr lang="en-US" sz="1400" dirty="0"/>
          </a:p>
        </p:txBody>
      </p:sp>
      <p:pic>
        <p:nvPicPr>
          <p:cNvPr id="20" name="Image 3" descr="busts in silhoue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3193542"/>
            <a:ext cx="457200" cy="4572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85800" y="373583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85800" y="387578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85800" y="387578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woensdag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2011680" y="373583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thuiswerken</a:t>
            </a:r>
            <a:endParaRPr lang="en-US" sz="1400" dirty="0"/>
          </a:p>
        </p:txBody>
      </p:sp>
      <p:pic>
        <p:nvPicPr>
          <p:cNvPr id="25" name="Image 4" descr="hou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820922"/>
            <a:ext cx="457200" cy="4572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85800" y="436321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85800" y="450316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685800" y="450316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donderdag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2011680" y="436321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cursus Nederlands</a:t>
            </a:r>
            <a:endParaRPr lang="en-US" sz="1400" dirty="0"/>
          </a:p>
        </p:txBody>
      </p:sp>
      <p:pic>
        <p:nvPicPr>
          <p:cNvPr id="30" name="Image 5" descr="boo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248" y="4448302"/>
            <a:ext cx="457200" cy="45720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85800" y="499059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685800" y="513054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685800" y="513054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vrijdag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2011680" y="499059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12.00 lunch met Sofie</a:t>
            </a:r>
            <a:endParaRPr lang="en-US" sz="1400" dirty="0"/>
          </a:p>
        </p:txBody>
      </p:sp>
      <p:pic>
        <p:nvPicPr>
          <p:cNvPr id="35" name="Image 6" descr="fork and knife with pla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0248" y="5075682"/>
            <a:ext cx="457200" cy="45720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85800" y="561797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85800" y="575792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685800" y="575792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zaterdag</a:t>
            </a:r>
            <a:endParaRPr lang="en-US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2011680" y="561797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verhuizen!</a:t>
            </a:r>
            <a:endParaRPr lang="en-US" sz="1400" dirty="0"/>
          </a:p>
        </p:txBody>
      </p:sp>
      <p:pic>
        <p:nvPicPr>
          <p:cNvPr id="40" name="Image 7" descr="delivery tru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248" y="5703062"/>
            <a:ext cx="457200" cy="457200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5120640" y="197815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5120640" y="1978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3" name="Text 32"/>
          <p:cNvSpPr txBox="1"/>
          <p:nvPr/>
        </p:nvSpPr>
        <p:spPr>
          <a:xfrm>
            <a:off x="5532120" y="193243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Wat doet Karim maandag?</a:t>
            </a:r>
            <a:endParaRPr lang="en-US" sz="1500" dirty="0"/>
          </a:p>
        </p:txBody>
      </p:sp>
      <p:sp>
        <p:nvSpPr>
          <p:cNvPr id="44" name="Shape 33"/>
          <p:cNvSpPr/>
          <p:nvPr/>
        </p:nvSpPr>
        <p:spPr>
          <a:xfrm>
            <a:off x="5532120" y="2270760"/>
            <a:ext cx="6108192" cy="333248"/>
          </a:xfrm>
          <a:prstGeom prst="roundRect">
            <a:avLst>
              <a:gd name="adj" fmla="val 2195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5120640" y="270459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5120640" y="2704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5532120" y="265887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Wanneer heeft hij een vergadering?</a:t>
            </a:r>
            <a:endParaRPr lang="en-US" sz="1500" dirty="0"/>
          </a:p>
        </p:txBody>
      </p:sp>
      <p:sp>
        <p:nvSpPr>
          <p:cNvPr id="48" name="Shape 37"/>
          <p:cNvSpPr/>
          <p:nvPr/>
        </p:nvSpPr>
        <p:spPr>
          <a:xfrm>
            <a:off x="5532120" y="2997200"/>
            <a:ext cx="6108192" cy="333248"/>
          </a:xfrm>
          <a:prstGeom prst="roundRect">
            <a:avLst>
              <a:gd name="adj" fmla="val 2195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5120640" y="343103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5120640" y="3431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51" name="Text 40"/>
          <p:cNvSpPr txBox="1"/>
          <p:nvPr/>
        </p:nvSpPr>
        <p:spPr>
          <a:xfrm>
            <a:off x="5532120" y="338531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Waar werkt hij woensdag?</a:t>
            </a:r>
            <a:endParaRPr lang="en-US" sz="1500" dirty="0"/>
          </a:p>
        </p:txBody>
      </p:sp>
      <p:sp>
        <p:nvSpPr>
          <p:cNvPr id="52" name="Shape 41"/>
          <p:cNvSpPr/>
          <p:nvPr/>
        </p:nvSpPr>
        <p:spPr>
          <a:xfrm>
            <a:off x="5532120" y="3723640"/>
            <a:ext cx="6108192" cy="333248"/>
          </a:xfrm>
          <a:prstGeom prst="roundRect">
            <a:avLst>
              <a:gd name="adj" fmla="val 2195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5120640" y="415747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5120640" y="415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55" name="Text 44"/>
          <p:cNvSpPr txBox="1"/>
          <p:nvPr/>
        </p:nvSpPr>
        <p:spPr>
          <a:xfrm>
            <a:off x="5532120" y="411175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Wat doet hij donderdag?</a:t>
            </a:r>
            <a:endParaRPr lang="en-US" sz="1500" dirty="0"/>
          </a:p>
        </p:txBody>
      </p:sp>
      <p:sp>
        <p:nvSpPr>
          <p:cNvPr id="56" name="Shape 45"/>
          <p:cNvSpPr/>
          <p:nvPr/>
        </p:nvSpPr>
        <p:spPr>
          <a:xfrm>
            <a:off x="5532120" y="4450080"/>
            <a:ext cx="6108192" cy="333248"/>
          </a:xfrm>
          <a:prstGeom prst="roundRect">
            <a:avLst>
              <a:gd name="adj" fmla="val 2195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5120640" y="488391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5120640" y="4883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5532120" y="483819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Met wie luncht hij vrijdag?</a:t>
            </a:r>
            <a:endParaRPr lang="en-US" sz="1500" dirty="0"/>
          </a:p>
        </p:txBody>
      </p:sp>
      <p:sp>
        <p:nvSpPr>
          <p:cNvPr id="60" name="Shape 49"/>
          <p:cNvSpPr/>
          <p:nvPr/>
        </p:nvSpPr>
        <p:spPr>
          <a:xfrm>
            <a:off x="5532120" y="5176520"/>
            <a:ext cx="6108192" cy="333248"/>
          </a:xfrm>
          <a:prstGeom prst="roundRect">
            <a:avLst>
              <a:gd name="adj" fmla="val 2195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5120640" y="561035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5120640" y="5610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63" name="Text 52"/>
          <p:cNvSpPr txBox="1"/>
          <p:nvPr/>
        </p:nvSpPr>
        <p:spPr>
          <a:xfrm>
            <a:off x="5532120" y="556463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Wat gebeurt er zaterdag?</a:t>
            </a:r>
            <a:endParaRPr lang="en-US" sz="1500" dirty="0"/>
          </a:p>
        </p:txBody>
      </p:sp>
      <p:sp>
        <p:nvSpPr>
          <p:cNvPr id="64" name="Shape 53"/>
          <p:cNvSpPr/>
          <p:nvPr/>
        </p:nvSpPr>
        <p:spPr>
          <a:xfrm>
            <a:off x="5532120" y="5902960"/>
            <a:ext cx="6108192" cy="333248"/>
          </a:xfrm>
          <a:prstGeom prst="roundRect">
            <a:avLst>
              <a:gd name="adj" fmla="val 2195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L’agenda de Karim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Répondez avec le présent. Mettez le jour en tête : attention à l’inversion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4343400" cy="4358640"/>
          </a:xfrm>
          <a:prstGeom prst="roundRect">
            <a:avLst>
              <a:gd name="adj" fmla="val 842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4343400" cy="50292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spiral 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87296"/>
            <a:ext cx="402336" cy="4023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19324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KARIM · VOLGENDE WEEK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85800" y="262102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5800" y="262102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maandag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011680" y="248107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8.30 tandarts</a:t>
            </a:r>
            <a:endParaRPr lang="en-US" sz="1400" dirty="0"/>
          </a:p>
        </p:txBody>
      </p:sp>
      <p:pic>
        <p:nvPicPr>
          <p:cNvPr id="16" name="Image 2" descr="too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566162"/>
            <a:ext cx="457200" cy="4572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85800" y="310845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85800" y="324840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85800" y="324840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dinsdag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2011680" y="310845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10.00 vergadering met meneer Maes</a:t>
            </a:r>
            <a:endParaRPr lang="en-US" sz="1400" dirty="0"/>
          </a:p>
        </p:txBody>
      </p:sp>
      <p:pic>
        <p:nvPicPr>
          <p:cNvPr id="21" name="Image 3" descr="busts in silhoue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3193542"/>
            <a:ext cx="457200" cy="457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85800" y="373583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85800" y="387578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85800" y="387578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woensdag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2011680" y="373583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thuiswerken</a:t>
            </a:r>
            <a:endParaRPr lang="en-US" sz="1400" dirty="0"/>
          </a:p>
        </p:txBody>
      </p:sp>
      <p:pic>
        <p:nvPicPr>
          <p:cNvPr id="26" name="Image 4" descr="hou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820922"/>
            <a:ext cx="457200" cy="4572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85800" y="436321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85800" y="450316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85800" y="450316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donderdag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2011680" y="436321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cursus Nederlands</a:t>
            </a:r>
            <a:endParaRPr lang="en-US" sz="1400" dirty="0"/>
          </a:p>
        </p:txBody>
      </p:sp>
      <p:pic>
        <p:nvPicPr>
          <p:cNvPr id="31" name="Image 5" descr="boo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248" y="4448302"/>
            <a:ext cx="457200" cy="45720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85800" y="499059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85800" y="513054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685800" y="513054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vrijdag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2011680" y="499059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12.00 lunch met Sofie</a:t>
            </a:r>
            <a:endParaRPr lang="en-US" sz="1400" dirty="0"/>
          </a:p>
        </p:txBody>
      </p:sp>
      <p:pic>
        <p:nvPicPr>
          <p:cNvPr id="36" name="Image 6" descr="fork and knife with plat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0248" y="5075682"/>
            <a:ext cx="457200" cy="45720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85800" y="5617972"/>
            <a:ext cx="4069080" cy="914"/>
          </a:xfrm>
          <a:prstGeom prst="line">
            <a:avLst/>
          </a:prstGeom>
          <a:noFill/>
          <a:ln w="12700">
            <a:solidFill>
              <a:srgbClr val="E2E6EC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85800" y="5757926"/>
            <a:ext cx="118872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685800" y="575792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zaterdag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011680" y="5617972"/>
            <a:ext cx="2194560" cy="62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verhuizen!</a:t>
            </a:r>
            <a:endParaRPr lang="en-US" sz="1400" dirty="0"/>
          </a:p>
        </p:txBody>
      </p:sp>
      <p:pic>
        <p:nvPicPr>
          <p:cNvPr id="41" name="Image 7" descr="delivery tru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248" y="5703062"/>
            <a:ext cx="457200" cy="45720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5120640" y="197815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5120640" y="1978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5532120" y="193243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Wat doet Karim maandag?</a:t>
            </a:r>
            <a:endParaRPr lang="en-US" sz="1500" dirty="0"/>
          </a:p>
        </p:txBody>
      </p:sp>
      <p:sp>
        <p:nvSpPr>
          <p:cNvPr id="45" name="Shape 34"/>
          <p:cNvSpPr/>
          <p:nvPr/>
        </p:nvSpPr>
        <p:spPr>
          <a:xfrm>
            <a:off x="5532120" y="2270760"/>
            <a:ext cx="6108192" cy="333248"/>
          </a:xfrm>
          <a:prstGeom prst="roundRect">
            <a:avLst>
              <a:gd name="adj" fmla="val 2195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5623560" y="2270760"/>
            <a:ext cx="5943600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Maandag gaat hij om half negen naar de tandarts.</a:t>
            </a:r>
            <a:endParaRPr lang="en-US" sz="1500" dirty="0"/>
          </a:p>
        </p:txBody>
      </p:sp>
      <p:sp>
        <p:nvSpPr>
          <p:cNvPr id="47" name="Shape 36"/>
          <p:cNvSpPr/>
          <p:nvPr/>
        </p:nvSpPr>
        <p:spPr>
          <a:xfrm>
            <a:off x="5120640" y="270459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5120640" y="2704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5532120" y="265887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Wanneer heeft hij een vergadering?</a:t>
            </a:r>
            <a:endParaRPr lang="en-US" sz="1500" dirty="0"/>
          </a:p>
        </p:txBody>
      </p:sp>
      <p:sp>
        <p:nvSpPr>
          <p:cNvPr id="50" name="Shape 39"/>
          <p:cNvSpPr/>
          <p:nvPr/>
        </p:nvSpPr>
        <p:spPr>
          <a:xfrm>
            <a:off x="5532120" y="2997200"/>
            <a:ext cx="6108192" cy="333248"/>
          </a:xfrm>
          <a:prstGeom prst="roundRect">
            <a:avLst>
              <a:gd name="adj" fmla="val 2195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5623560" y="2997200"/>
            <a:ext cx="5943600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Dinsdag om 10 uur.</a:t>
            </a:r>
            <a:endParaRPr lang="en-US" sz="1500" dirty="0"/>
          </a:p>
        </p:txBody>
      </p:sp>
      <p:sp>
        <p:nvSpPr>
          <p:cNvPr id="52" name="Shape 41"/>
          <p:cNvSpPr/>
          <p:nvPr/>
        </p:nvSpPr>
        <p:spPr>
          <a:xfrm>
            <a:off x="5120640" y="343103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5120640" y="3431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54" name="Text 43"/>
          <p:cNvSpPr txBox="1"/>
          <p:nvPr/>
        </p:nvSpPr>
        <p:spPr>
          <a:xfrm>
            <a:off x="5532120" y="338531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Waar werkt hij woensdag?</a:t>
            </a:r>
            <a:endParaRPr lang="en-US" sz="1500" dirty="0"/>
          </a:p>
        </p:txBody>
      </p:sp>
      <p:sp>
        <p:nvSpPr>
          <p:cNvPr id="55" name="Shape 44"/>
          <p:cNvSpPr/>
          <p:nvPr/>
        </p:nvSpPr>
        <p:spPr>
          <a:xfrm>
            <a:off x="5532120" y="3723640"/>
            <a:ext cx="6108192" cy="333248"/>
          </a:xfrm>
          <a:prstGeom prst="roundRect">
            <a:avLst>
              <a:gd name="adj" fmla="val 2195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5623560" y="3723640"/>
            <a:ext cx="5943600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Woensdag werkt hij thuis.</a:t>
            </a:r>
            <a:endParaRPr lang="en-US" sz="1500" dirty="0"/>
          </a:p>
        </p:txBody>
      </p:sp>
      <p:sp>
        <p:nvSpPr>
          <p:cNvPr id="57" name="Shape 46"/>
          <p:cNvSpPr/>
          <p:nvPr/>
        </p:nvSpPr>
        <p:spPr>
          <a:xfrm>
            <a:off x="5120640" y="415747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5120640" y="4157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5532120" y="411175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Wat doet hij donderdag?</a:t>
            </a:r>
            <a:endParaRPr lang="en-US" sz="1500" dirty="0"/>
          </a:p>
        </p:txBody>
      </p:sp>
      <p:sp>
        <p:nvSpPr>
          <p:cNvPr id="60" name="Shape 49"/>
          <p:cNvSpPr/>
          <p:nvPr/>
        </p:nvSpPr>
        <p:spPr>
          <a:xfrm>
            <a:off x="5532120" y="4450080"/>
            <a:ext cx="6108192" cy="333248"/>
          </a:xfrm>
          <a:prstGeom prst="roundRect">
            <a:avLst>
              <a:gd name="adj" fmla="val 2195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5623560" y="4450080"/>
            <a:ext cx="5943600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Donderdag volgt hij een cursus Nederlands.</a:t>
            </a:r>
            <a:endParaRPr lang="en-US" sz="1500" dirty="0"/>
          </a:p>
        </p:txBody>
      </p:sp>
      <p:sp>
        <p:nvSpPr>
          <p:cNvPr id="62" name="Shape 51"/>
          <p:cNvSpPr/>
          <p:nvPr/>
        </p:nvSpPr>
        <p:spPr>
          <a:xfrm>
            <a:off x="5120640" y="488391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2"/>
          <p:cNvSpPr txBox="1"/>
          <p:nvPr/>
        </p:nvSpPr>
        <p:spPr>
          <a:xfrm>
            <a:off x="5120640" y="4883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5532120" y="483819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Met wie luncht hij vrijdag?</a:t>
            </a:r>
            <a:endParaRPr lang="en-US" sz="1500" dirty="0"/>
          </a:p>
        </p:txBody>
      </p:sp>
      <p:sp>
        <p:nvSpPr>
          <p:cNvPr id="65" name="Shape 54"/>
          <p:cNvSpPr/>
          <p:nvPr/>
        </p:nvSpPr>
        <p:spPr>
          <a:xfrm>
            <a:off x="5532120" y="5176520"/>
            <a:ext cx="6108192" cy="333248"/>
          </a:xfrm>
          <a:prstGeom prst="roundRect">
            <a:avLst>
              <a:gd name="adj" fmla="val 2195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6" name="Text 55"/>
          <p:cNvSpPr txBox="1"/>
          <p:nvPr/>
        </p:nvSpPr>
        <p:spPr>
          <a:xfrm>
            <a:off x="5623560" y="5176520"/>
            <a:ext cx="5943600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Vrijdag luncht hij met Sofie.</a:t>
            </a:r>
            <a:endParaRPr lang="en-US" sz="1500" dirty="0"/>
          </a:p>
        </p:txBody>
      </p:sp>
      <p:sp>
        <p:nvSpPr>
          <p:cNvPr id="67" name="Shape 56"/>
          <p:cNvSpPr/>
          <p:nvPr/>
        </p:nvSpPr>
        <p:spPr>
          <a:xfrm>
            <a:off x="5120640" y="5610352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5120640" y="5610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69" name="Text 58"/>
          <p:cNvSpPr txBox="1"/>
          <p:nvPr/>
        </p:nvSpPr>
        <p:spPr>
          <a:xfrm>
            <a:off x="5532120" y="5564632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Wat gebeurt er zaterdag?</a:t>
            </a:r>
            <a:endParaRPr lang="en-US" sz="1500" dirty="0"/>
          </a:p>
        </p:txBody>
      </p:sp>
      <p:sp>
        <p:nvSpPr>
          <p:cNvPr id="70" name="Shape 59"/>
          <p:cNvSpPr/>
          <p:nvPr/>
        </p:nvSpPr>
        <p:spPr>
          <a:xfrm>
            <a:off x="5532120" y="5902960"/>
            <a:ext cx="6108192" cy="333248"/>
          </a:xfrm>
          <a:prstGeom prst="roundRect">
            <a:avLst>
              <a:gd name="adj" fmla="val 21951"/>
            </a:avLst>
          </a:prstGeom>
          <a:solidFill>
            <a:srgbClr val="EDF6F0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5623560" y="5902960"/>
            <a:ext cx="5943600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accent3"/>
                </a:solidFill>
              </a:rPr>
              <a:t>Zaterdag verhuist hij. / Zaterdag gaat hij verhuizen.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Qu’est-ce qui va se passer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Regardez l’image : que va-t-il se passer ? Utilisez gaan + infinitif.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58368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11" name="Image 1" descr="cloud with 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2" y="2069592"/>
            <a:ext cx="1097280" cy="10972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5800" y="316687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</a:t>
            </a:r>
            <a:r>
              <a:rPr lang="en-US" sz="1700" i="1" dirty="0">
                <a:solidFill>
                  <a:schemeClr val="accent5"/>
                </a:solidFill>
              </a:rPr>
              <a:t>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36728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(regenen)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322064" y="193243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31792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431792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17" name="Image 2" descr="yawning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2069592"/>
            <a:ext cx="1097280" cy="10972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459224" y="316687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Hij </a:t>
            </a:r>
            <a:r>
              <a:rPr lang="en-US" sz="1700" i="1" dirty="0">
                <a:solidFill>
                  <a:schemeClr val="accent5"/>
                </a:solidFill>
              </a:rPr>
              <a:t>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4459224" y="36728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(slapen)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095488" y="193243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05216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205216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pic>
        <p:nvPicPr>
          <p:cNvPr id="23" name="Image 3" descr="b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260" y="2069592"/>
            <a:ext cx="1097280" cy="10972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32648" y="316687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Hij </a:t>
            </a:r>
            <a:r>
              <a:rPr lang="en-US" sz="1700" i="1" dirty="0">
                <a:solidFill>
                  <a:schemeClr val="accent5"/>
                </a:solidFill>
              </a:rPr>
              <a:t>…………</a:t>
            </a:r>
            <a:r>
              <a:rPr lang="en-US" sz="1700" i="1" dirty="0">
                <a:solidFill>
                  <a:schemeClr val="tx1"/>
                </a:solidFill>
              </a:rPr>
              <a:t> de bus </a:t>
            </a:r>
            <a:r>
              <a:rPr lang="en-US" sz="1700" i="1" dirty="0">
                <a:solidFill>
                  <a:schemeClr val="accent5"/>
                </a:solidFill>
              </a:rPr>
              <a:t>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8232648" y="36728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(missen)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420319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8368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58368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29" name="Image 4" descr="man c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2412" y="4340352"/>
            <a:ext cx="1097280" cy="109728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85800" y="543763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 </a:t>
            </a:r>
            <a:r>
              <a:rPr lang="en-US" sz="1700" i="1" dirty="0">
                <a:solidFill>
                  <a:schemeClr val="accent5"/>
                </a:solidFill>
              </a:rPr>
              <a:t>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1" name="Text 23"/>
          <p:cNvSpPr txBox="1"/>
          <p:nvPr/>
        </p:nvSpPr>
        <p:spPr>
          <a:xfrm>
            <a:off x="685800" y="594360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(eten)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4322064" y="420319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4431792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431792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35" name="Image 5" descr="airplane departu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5836" y="4340352"/>
            <a:ext cx="1097280" cy="109728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459224" y="543763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vliegtuig </a:t>
            </a:r>
            <a:r>
              <a:rPr lang="en-US" sz="1700" i="1" dirty="0">
                <a:solidFill>
                  <a:schemeClr val="accent5"/>
                </a:solidFill>
              </a:rPr>
              <a:t>………………………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4459224" y="594360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(vertrekken)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8095488" y="420319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8205216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8205216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41" name="Image 6" descr="pregnant woma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9260" y="4340352"/>
            <a:ext cx="1097280" cy="109728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232648" y="543763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Ze </a:t>
            </a:r>
            <a:r>
              <a:rPr lang="en-US" sz="1700" i="1" dirty="0">
                <a:solidFill>
                  <a:schemeClr val="accent5"/>
                </a:solidFill>
              </a:rPr>
              <a:t>…………</a:t>
            </a:r>
            <a:r>
              <a:rPr lang="en-US" sz="1700" i="1" dirty="0">
                <a:solidFill>
                  <a:schemeClr val="tx1"/>
                </a:solidFill>
              </a:rPr>
              <a:t> een baby </a:t>
            </a:r>
            <a:r>
              <a:rPr lang="en-US" sz="1700" i="1" dirty="0">
                <a:solidFill>
                  <a:schemeClr val="accent5"/>
                </a:solidFill>
              </a:rPr>
              <a:t>…………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43" name="Text 33"/>
          <p:cNvSpPr txBox="1"/>
          <p:nvPr/>
        </p:nvSpPr>
        <p:spPr>
          <a:xfrm>
            <a:off x="8232648" y="594360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(krijgen)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Qu’est-ce qui va se passer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Regardez l’image : que va-t-il se passer ? Utilisez gaan + infinitif.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58368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12" name="Image 1" descr="cloud with 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12" y="2069592"/>
            <a:ext cx="1097280" cy="10972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5800" y="316687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</a:t>
            </a:r>
            <a:r>
              <a:rPr lang="en-US" sz="1700" b="1" i="1" dirty="0">
                <a:solidFill>
                  <a:schemeClr val="accent3"/>
                </a:solidFill>
              </a:rPr>
              <a:t>gaat regenen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36728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(regenen)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322064" y="193243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431792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431792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18" name="Image 2" descr="yawning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2069592"/>
            <a:ext cx="1097280" cy="10972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59224" y="316687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Hij </a:t>
            </a:r>
            <a:r>
              <a:rPr lang="en-US" sz="1700" b="1" i="1" dirty="0">
                <a:solidFill>
                  <a:schemeClr val="accent3"/>
                </a:solidFill>
              </a:rPr>
              <a:t>gaat slapen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4459224" y="36728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(slapen)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95488" y="193243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05216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05216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pic>
        <p:nvPicPr>
          <p:cNvPr id="24" name="Image 3" descr="b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9260" y="2069592"/>
            <a:ext cx="1097280" cy="10972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32648" y="316687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Hij </a:t>
            </a:r>
            <a:r>
              <a:rPr lang="en-US" sz="1700" b="1" i="1" dirty="0">
                <a:solidFill>
                  <a:schemeClr val="accent3"/>
                </a:solidFill>
              </a:rPr>
              <a:t>gaat</a:t>
            </a:r>
            <a:r>
              <a:rPr lang="en-US" sz="1700" i="1" dirty="0">
                <a:solidFill>
                  <a:schemeClr val="tx1"/>
                </a:solidFill>
              </a:rPr>
              <a:t> de bus </a:t>
            </a:r>
            <a:r>
              <a:rPr lang="en-US" sz="1700" b="1" i="1" dirty="0">
                <a:solidFill>
                  <a:schemeClr val="accent3"/>
                </a:solidFill>
              </a:rPr>
              <a:t>missen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8232648" y="367284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(missen)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48640" y="420319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58368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58368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30" name="Image 4" descr="man c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2412" y="4340352"/>
            <a:ext cx="1097280" cy="10972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" y="543763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We </a:t>
            </a:r>
            <a:r>
              <a:rPr lang="en-US" sz="1700" b="1" i="1" dirty="0">
                <a:solidFill>
                  <a:schemeClr val="accent3"/>
                </a:solidFill>
              </a:rPr>
              <a:t>gaan eten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685800" y="594360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(eten)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322064" y="420319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431792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4431792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36" name="Image 5" descr="airplane departu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5836" y="4340352"/>
            <a:ext cx="1097280" cy="109728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459224" y="543763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Het vliegtuig </a:t>
            </a:r>
            <a:r>
              <a:rPr lang="en-US" sz="1700" b="1" i="1" dirty="0">
                <a:solidFill>
                  <a:schemeClr val="accent3"/>
                </a:solidFill>
              </a:rPr>
              <a:t>gaat vertrekken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38" name="Text 29"/>
          <p:cNvSpPr txBox="1"/>
          <p:nvPr/>
        </p:nvSpPr>
        <p:spPr>
          <a:xfrm>
            <a:off x="4459224" y="594360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(vertrekken)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8095488" y="4203192"/>
            <a:ext cx="3544824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8205216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8205216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42" name="Image 6" descr="pregnant woma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9260" y="4340352"/>
            <a:ext cx="1097280" cy="1097280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232648" y="5437632"/>
            <a:ext cx="327050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Ze </a:t>
            </a:r>
            <a:r>
              <a:rPr lang="en-US" sz="1700" b="1" i="1" dirty="0">
                <a:solidFill>
                  <a:schemeClr val="accent3"/>
                </a:solidFill>
              </a:rPr>
              <a:t>gaat</a:t>
            </a:r>
            <a:r>
              <a:rPr lang="en-US" sz="1700" i="1" dirty="0">
                <a:solidFill>
                  <a:schemeClr val="tx1"/>
                </a:solidFill>
              </a:rPr>
              <a:t> een baby </a:t>
            </a:r>
            <a:r>
              <a:rPr lang="en-US" sz="1700" b="1" i="1" dirty="0">
                <a:solidFill>
                  <a:schemeClr val="accent3"/>
                </a:solidFill>
              </a:rPr>
              <a:t>krijgen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44" name="Text 34"/>
          <p:cNvSpPr txBox="1"/>
          <p:nvPr/>
        </p:nvSpPr>
        <p:spPr>
          <a:xfrm>
            <a:off x="8232648" y="5943600"/>
            <a:ext cx="3270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(krijgen)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Je vous le promets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Réagissez avec une promesse (Ik zal…) ou une proposition (Zullen we…?).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43000" y="197815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Meneer Maes wacht op een offerte.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577840" y="229565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6400800" y="1978152"/>
            <a:ext cx="52395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05840" y="270459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43000" y="270459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Sofie heeft hulp nodig.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5577840" y="302209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400800" y="2704592"/>
            <a:ext cx="52395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40" y="343103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143000" y="343103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 printer is kapot.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5577840" y="374853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6400800" y="3431032"/>
            <a:ext cx="52395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005840" y="415747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143000" y="415747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An wil het rapport vrijdag.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577840" y="447497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400800" y="4157472"/>
            <a:ext cx="52395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005840" y="488391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143000" y="488391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Een collega is jarig.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5577840" y="520141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400800" y="4883912"/>
            <a:ext cx="52395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005840" y="561035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143000" y="561035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is 12 uur en je hebt honger.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5577840" y="592785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43" name="Shape 39"/>
          <p:cNvSpPr/>
          <p:nvPr/>
        </p:nvSpPr>
        <p:spPr>
          <a:xfrm>
            <a:off x="6400800" y="5610352"/>
            <a:ext cx="523951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Je vous le promets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Réagissez avec une promesse (Ik zal…) ou une proposition (Zullen we…?).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197815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Meneer Maes wacht op een offerte.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577840" y="229565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400800" y="1978152"/>
            <a:ext cx="52395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537960" y="1978152"/>
            <a:ext cx="50292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zal u morgen een offerte sturen.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005840" y="270459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43000" y="270459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Sofie heeft hulp nodig.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5577840" y="302209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400800" y="2704592"/>
            <a:ext cx="52395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537960" y="2704592"/>
            <a:ext cx="50292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zal je helpen.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05840" y="343103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143000" y="343103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De printer is kapot.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577840" y="374853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400800" y="3431032"/>
            <a:ext cx="52395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537960" y="3431032"/>
            <a:ext cx="50292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zal de technicus bellen.</a:t>
            </a:r>
            <a:endParaRPr lang="en-US" sz="1800" dirty="0"/>
          </a:p>
        </p:txBody>
      </p:sp>
      <p:sp>
        <p:nvSpPr>
          <p:cNvPr id="30" name="Shape 26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05840" y="415747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143000" y="415747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An wil het rapport vrijdag.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577840" y="447497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6400800" y="4157472"/>
            <a:ext cx="52395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537960" y="4157472"/>
            <a:ext cx="50292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Ik zal het rapport vrijdag afmaken.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1005840" y="488391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143000" y="488391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Een collega is jarig.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5577840" y="520141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6400800" y="4883912"/>
            <a:ext cx="52395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6537960" y="4883912"/>
            <a:ext cx="50292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Zullen we een taart kopen?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1005840" y="5610352"/>
            <a:ext cx="448056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1143000" y="5610352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Het is 12 uur en je hebt honger.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5577840" y="5927852"/>
            <a:ext cx="731520" cy="914"/>
          </a:xfrm>
          <a:prstGeom prst="line">
            <a:avLst/>
          </a:prstGeom>
          <a:noFill/>
          <a:ln w="38100">
            <a:solidFill>
              <a:srgbClr val="6E4A9E"/>
            </a:solidFill>
            <a:prstDash val="solid"/>
            <a:tailEnd type="triangle"/>
          </a:ln>
        </p:spPr>
      </p:sp>
      <p:sp>
        <p:nvSpPr>
          <p:cNvPr id="49" name="Shape 45"/>
          <p:cNvSpPr/>
          <p:nvPr/>
        </p:nvSpPr>
        <p:spPr>
          <a:xfrm>
            <a:off x="6400800" y="5610352"/>
            <a:ext cx="523951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537960" y="5610352"/>
            <a:ext cx="502920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Zullen we gaan lunchen?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Quel futur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la forme la plus naturelle : présent, gaan ou zullen.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69592"/>
            <a:ext cx="5340096" cy="3553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dirty="0">
                <a:solidFill>
                  <a:schemeClr val="tx1"/>
                </a:solidFill>
              </a:rPr>
              <a:t>Morgen </a:t>
            </a:r>
            <a:r>
              <a:rPr lang="en-US" sz="1900" dirty="0">
                <a:solidFill>
                  <a:schemeClr val="accent5"/>
                </a:solidFill>
              </a:rPr>
              <a:t>…………</a:t>
            </a:r>
            <a:r>
              <a:rPr lang="en-US" sz="1900" dirty="0">
                <a:solidFill>
                  <a:schemeClr val="tx1"/>
                </a:solidFill>
              </a:rPr>
              <a:t> ik thuis. </a:t>
            </a:r>
            <a:r>
              <a:rPr lang="en-US" sz="1900" i="1" dirty="0">
                <a:solidFill>
                  <a:schemeClr val="tx1"/>
                </a:solidFill>
              </a:rPr>
              <a:t>(werken)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dirty="0">
                <a:solidFill>
                  <a:schemeClr val="tx1"/>
                </a:solidFill>
              </a:rPr>
              <a:t>Kijk naar de lucht: het </a:t>
            </a:r>
            <a:r>
              <a:rPr lang="en-US" sz="1900" dirty="0">
                <a:solidFill>
                  <a:schemeClr val="accent5"/>
                </a:solidFill>
              </a:rPr>
              <a:t>…………………</a:t>
            </a:r>
            <a:r>
              <a:rPr lang="en-US" sz="1900" dirty="0">
                <a:solidFill>
                  <a:schemeClr val="tx1"/>
                </a:solidFill>
              </a:rPr>
              <a:t>! </a:t>
            </a:r>
            <a:r>
              <a:rPr lang="en-US" sz="1900" i="1" dirty="0">
                <a:solidFill>
                  <a:schemeClr val="tx1"/>
                </a:solidFill>
              </a:rPr>
              <a:t>(regenen)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dirty="0">
                <a:solidFill>
                  <a:schemeClr val="tx1"/>
                </a:solidFill>
              </a:rPr>
              <a:t>Ik beloof het: ik </a:t>
            </a:r>
            <a:r>
              <a:rPr lang="en-US" sz="1900" dirty="0">
                <a:solidFill>
                  <a:schemeClr val="accent5"/>
                </a:solidFill>
              </a:rPr>
              <a:t>…………</a:t>
            </a:r>
            <a:r>
              <a:rPr lang="en-US" sz="1900" dirty="0">
                <a:solidFill>
                  <a:schemeClr val="tx1"/>
                </a:solidFill>
              </a:rPr>
              <a:t> het niet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. </a:t>
            </a:r>
            <a:r>
              <a:rPr lang="en-US" sz="1900" i="1" dirty="0">
                <a:solidFill>
                  <a:schemeClr val="tx1"/>
                </a:solidFill>
              </a:rPr>
              <a:t>(vergeten)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dirty="0">
                <a:solidFill>
                  <a:schemeClr val="tx1"/>
                </a:solidFill>
              </a:rPr>
              <a:t>Volgend jaar </a:t>
            </a:r>
            <a:r>
              <a:rPr lang="en-US" sz="1900" dirty="0">
                <a:solidFill>
                  <a:schemeClr val="accent5"/>
                </a:solidFill>
              </a:rPr>
              <a:t>…………</a:t>
            </a:r>
            <a:r>
              <a:rPr lang="en-US" sz="1900" dirty="0">
                <a:solidFill>
                  <a:schemeClr val="tx1"/>
                </a:solidFill>
              </a:rPr>
              <a:t> we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. </a:t>
            </a:r>
            <a:r>
              <a:rPr lang="en-US" sz="1900" i="1" dirty="0">
                <a:solidFill>
                  <a:schemeClr val="tx1"/>
                </a:solidFill>
              </a:rPr>
              <a:t>(verhuizen)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069592"/>
            <a:ext cx="5340096" cy="3553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dirty="0">
                <a:solidFill>
                  <a:schemeClr val="accent5"/>
                </a:solidFill>
              </a:rPr>
              <a:t>…………</a:t>
            </a:r>
            <a:r>
              <a:rPr lang="en-US" sz="1900" dirty="0">
                <a:solidFill>
                  <a:schemeClr val="tx1"/>
                </a:solidFill>
              </a:rPr>
              <a:t> we om 12 uur </a:t>
            </a:r>
            <a:r>
              <a:rPr lang="en-US" sz="1900" dirty="0">
                <a:solidFill>
                  <a:schemeClr val="accent5"/>
                </a:solidFill>
              </a:rPr>
              <a:t>…………</a:t>
            </a:r>
            <a:r>
              <a:rPr lang="en-US" sz="1900" dirty="0">
                <a:solidFill>
                  <a:schemeClr val="tx1"/>
                </a:solidFill>
              </a:rPr>
              <a:t> eten? </a:t>
            </a:r>
            <a:r>
              <a:rPr lang="en-US" sz="1900" i="1" dirty="0">
                <a:solidFill>
                  <a:schemeClr val="tx1"/>
                </a:solidFill>
              </a:rPr>
              <a:t>(gaan)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dirty="0">
                <a:solidFill>
                  <a:schemeClr val="tx1"/>
                </a:solidFill>
              </a:rPr>
              <a:t>De trein </a:t>
            </a:r>
            <a:r>
              <a:rPr lang="en-US" sz="1900" dirty="0">
                <a:solidFill>
                  <a:schemeClr val="accent5"/>
                </a:solidFill>
              </a:rPr>
              <a:t>……………</a:t>
            </a:r>
            <a:r>
              <a:rPr lang="en-US" sz="1900" dirty="0">
                <a:solidFill>
                  <a:schemeClr val="tx1"/>
                </a:solidFill>
              </a:rPr>
              <a:t> om 8 uur. </a:t>
            </a:r>
            <a:r>
              <a:rPr lang="en-US" sz="1900" i="1" dirty="0">
                <a:solidFill>
                  <a:schemeClr val="tx1"/>
                </a:solidFill>
              </a:rPr>
              <a:t>(vertrekken)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dirty="0">
                <a:solidFill>
                  <a:schemeClr val="tx1"/>
                </a:solidFill>
              </a:rPr>
              <a:t>Wat </a:t>
            </a:r>
            <a:r>
              <a:rPr lang="en-US" sz="1900" dirty="0">
                <a:solidFill>
                  <a:schemeClr val="accent5"/>
                </a:solidFill>
              </a:rPr>
              <a:t>…………</a:t>
            </a:r>
            <a:r>
              <a:rPr lang="en-US" sz="1900" dirty="0">
                <a:solidFill>
                  <a:schemeClr val="tx1"/>
                </a:solidFill>
              </a:rPr>
              <a:t> je in het weekend </a:t>
            </a:r>
            <a:r>
              <a:rPr lang="en-US" sz="1900" dirty="0">
                <a:solidFill>
                  <a:schemeClr val="accent5"/>
                </a:solidFill>
              </a:rPr>
              <a:t>…………</a:t>
            </a:r>
            <a:r>
              <a:rPr lang="en-US" sz="1900" dirty="0">
                <a:solidFill>
                  <a:schemeClr val="tx1"/>
                </a:solidFill>
              </a:rPr>
              <a:t>? </a:t>
            </a:r>
            <a:r>
              <a:rPr lang="en-US" sz="1900" i="1" dirty="0">
                <a:solidFill>
                  <a:schemeClr val="tx1"/>
                </a:solidFill>
              </a:rPr>
              <a:t>(doen)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dirty="0">
                <a:solidFill>
                  <a:schemeClr val="tx1"/>
                </a:solidFill>
              </a:rPr>
              <a:t>Ik bel je als ik in Brussel </a:t>
            </a:r>
            <a:r>
              <a:rPr lang="en-US" sz="1900" dirty="0">
                <a:solidFill>
                  <a:schemeClr val="accent5"/>
                </a:solidFill>
              </a:rPr>
              <a:t>…………</a:t>
            </a:r>
            <a:r>
              <a:rPr lang="en-US" sz="1900" dirty="0">
                <a:solidFill>
                  <a:schemeClr val="tx1"/>
                </a:solidFill>
              </a:rPr>
              <a:t>. </a:t>
            </a:r>
            <a:r>
              <a:rPr lang="en-US" sz="1900" i="1" dirty="0">
                <a:solidFill>
                  <a:schemeClr val="tx1"/>
                </a:solidFill>
              </a:rPr>
              <a:t>(zijn)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Quel futur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la forme la plus naturelle : présent, gaan ou zullen.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69592"/>
            <a:ext cx="5340096" cy="3553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dirty="0">
                <a:solidFill>
                  <a:schemeClr val="tx1"/>
                </a:solidFill>
              </a:rPr>
              <a:t>Morgen </a:t>
            </a:r>
            <a:r>
              <a:rPr lang="en-US" sz="1900" b="1" dirty="0">
                <a:solidFill>
                  <a:schemeClr val="accent3"/>
                </a:solidFill>
              </a:rPr>
              <a:t>werk</a:t>
            </a:r>
            <a:r>
              <a:rPr lang="en-US" sz="1900" dirty="0">
                <a:solidFill>
                  <a:schemeClr val="tx1"/>
                </a:solidFill>
              </a:rPr>
              <a:t> ik thuis. </a:t>
            </a:r>
            <a:r>
              <a:rPr lang="en-US" sz="1900" i="1" dirty="0">
                <a:solidFill>
                  <a:schemeClr val="tx1"/>
                </a:solidFill>
              </a:rPr>
              <a:t>(werken)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dirty="0">
                <a:solidFill>
                  <a:schemeClr val="tx1"/>
                </a:solidFill>
              </a:rPr>
              <a:t>Kijk naar de lucht: het </a:t>
            </a:r>
            <a:r>
              <a:rPr lang="en-US" sz="1900" b="1" dirty="0">
                <a:solidFill>
                  <a:schemeClr val="accent3"/>
                </a:solidFill>
              </a:rPr>
              <a:t>gaat regenen</a:t>
            </a:r>
            <a:r>
              <a:rPr lang="en-US" sz="1900" dirty="0">
                <a:solidFill>
                  <a:schemeClr val="tx1"/>
                </a:solidFill>
              </a:rPr>
              <a:t>! </a:t>
            </a:r>
            <a:r>
              <a:rPr lang="en-US" sz="1900" i="1" dirty="0">
                <a:solidFill>
                  <a:schemeClr val="tx1"/>
                </a:solidFill>
              </a:rPr>
              <a:t>(regenen)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dirty="0">
                <a:solidFill>
                  <a:schemeClr val="tx1"/>
                </a:solidFill>
              </a:rPr>
              <a:t>Ik beloof het: ik </a:t>
            </a:r>
            <a:r>
              <a:rPr lang="en-US" sz="1900" b="1" dirty="0">
                <a:solidFill>
                  <a:schemeClr val="accent3"/>
                </a:solidFill>
              </a:rPr>
              <a:t>zal</a:t>
            </a:r>
            <a:r>
              <a:rPr lang="en-US" sz="1900" dirty="0">
                <a:solidFill>
                  <a:schemeClr val="tx1"/>
                </a:solidFill>
              </a:rPr>
              <a:t> het niet </a:t>
            </a:r>
            <a:r>
              <a:rPr lang="en-US" sz="1900" b="1" dirty="0">
                <a:solidFill>
                  <a:schemeClr val="accent3"/>
                </a:solidFill>
              </a:rPr>
              <a:t>vergeten</a:t>
            </a:r>
            <a:r>
              <a:rPr lang="en-US" sz="1900" dirty="0">
                <a:solidFill>
                  <a:schemeClr val="tx1"/>
                </a:solidFill>
              </a:rPr>
              <a:t>. </a:t>
            </a:r>
            <a:r>
              <a:rPr lang="en-US" sz="1900" i="1" dirty="0">
                <a:solidFill>
                  <a:schemeClr val="tx1"/>
                </a:solidFill>
              </a:rPr>
              <a:t>(vergeten)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dirty="0">
                <a:solidFill>
                  <a:schemeClr val="tx1"/>
                </a:solidFill>
              </a:rPr>
              <a:t>Volgend jaar </a:t>
            </a:r>
            <a:r>
              <a:rPr lang="en-US" sz="1900" b="1" dirty="0">
                <a:solidFill>
                  <a:schemeClr val="accent3"/>
                </a:solidFill>
              </a:rPr>
              <a:t>gaan</a:t>
            </a:r>
            <a:r>
              <a:rPr lang="en-US" sz="1900" dirty="0">
                <a:solidFill>
                  <a:schemeClr val="tx1"/>
                </a:solidFill>
              </a:rPr>
              <a:t> we </a:t>
            </a:r>
            <a:r>
              <a:rPr lang="en-US" sz="1900" b="1" dirty="0">
                <a:solidFill>
                  <a:schemeClr val="accent3"/>
                </a:solidFill>
              </a:rPr>
              <a:t>verhuizen</a:t>
            </a:r>
            <a:r>
              <a:rPr lang="en-US" sz="1900" dirty="0">
                <a:solidFill>
                  <a:schemeClr val="tx1"/>
                </a:solidFill>
              </a:rPr>
              <a:t>. </a:t>
            </a:r>
            <a:r>
              <a:rPr lang="en-US" sz="1900" i="1" dirty="0">
                <a:solidFill>
                  <a:schemeClr val="tx1"/>
                </a:solidFill>
              </a:rPr>
              <a:t>(verhuizen)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069592"/>
            <a:ext cx="5340096" cy="3553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b="1" dirty="0">
                <a:solidFill>
                  <a:schemeClr val="accent3"/>
                </a:solidFill>
              </a:rPr>
              <a:t>Zullen</a:t>
            </a:r>
            <a:r>
              <a:rPr lang="en-US" sz="1900" dirty="0">
                <a:solidFill>
                  <a:schemeClr val="tx1"/>
                </a:solidFill>
              </a:rPr>
              <a:t> we om 12 uur </a:t>
            </a:r>
            <a:r>
              <a:rPr lang="en-US" sz="1900" b="1" dirty="0">
                <a:solidFill>
                  <a:schemeClr val="accent3"/>
                </a:solidFill>
              </a:rPr>
              <a:t>gaan</a:t>
            </a:r>
            <a:r>
              <a:rPr lang="en-US" sz="1900" dirty="0">
                <a:solidFill>
                  <a:schemeClr val="tx1"/>
                </a:solidFill>
              </a:rPr>
              <a:t> eten? </a:t>
            </a:r>
            <a:r>
              <a:rPr lang="en-US" sz="1900" i="1" dirty="0">
                <a:solidFill>
                  <a:schemeClr val="tx1"/>
                </a:solidFill>
              </a:rPr>
              <a:t>(gaan)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dirty="0">
                <a:solidFill>
                  <a:schemeClr val="tx1"/>
                </a:solidFill>
              </a:rPr>
              <a:t>De trein </a:t>
            </a:r>
            <a:r>
              <a:rPr lang="en-US" sz="1900" b="1" dirty="0">
                <a:solidFill>
                  <a:schemeClr val="accent3"/>
                </a:solidFill>
              </a:rPr>
              <a:t>vertrekt</a:t>
            </a:r>
            <a:r>
              <a:rPr lang="en-US" sz="1900" dirty="0">
                <a:solidFill>
                  <a:schemeClr val="tx1"/>
                </a:solidFill>
              </a:rPr>
              <a:t> om 8 uur. </a:t>
            </a:r>
            <a:r>
              <a:rPr lang="en-US" sz="1900" i="1" dirty="0">
                <a:solidFill>
                  <a:schemeClr val="tx1"/>
                </a:solidFill>
              </a:rPr>
              <a:t>(vertrekken)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dirty="0">
                <a:solidFill>
                  <a:schemeClr val="tx1"/>
                </a:solidFill>
              </a:rPr>
              <a:t>Wat </a:t>
            </a:r>
            <a:r>
              <a:rPr lang="en-US" sz="1900" b="1" dirty="0">
                <a:solidFill>
                  <a:schemeClr val="accent3"/>
                </a:solidFill>
              </a:rPr>
              <a:t>ga</a:t>
            </a:r>
            <a:r>
              <a:rPr lang="en-US" sz="1900" dirty="0">
                <a:solidFill>
                  <a:schemeClr val="tx1"/>
                </a:solidFill>
              </a:rPr>
              <a:t> je in het weekend </a:t>
            </a:r>
            <a:r>
              <a:rPr lang="en-US" sz="1900" b="1" dirty="0">
                <a:solidFill>
                  <a:schemeClr val="accent3"/>
                </a:solidFill>
              </a:rPr>
              <a:t>doen</a:t>
            </a:r>
            <a:r>
              <a:rPr lang="en-US" sz="1900" dirty="0">
                <a:solidFill>
                  <a:schemeClr val="tx1"/>
                </a:solidFill>
              </a:rPr>
              <a:t>? </a:t>
            </a:r>
            <a:r>
              <a:rPr lang="en-US" sz="1900" i="1" dirty="0">
                <a:solidFill>
                  <a:schemeClr val="tx1"/>
                </a:solidFill>
              </a:rPr>
              <a:t>(doen)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dirty="0">
                <a:solidFill>
                  <a:schemeClr val="tx1"/>
                </a:solidFill>
              </a:rPr>
              <a:t>Ik bel je als ik in Brussel </a:t>
            </a:r>
            <a:r>
              <a:rPr lang="en-US" sz="1900" b="1" dirty="0">
                <a:solidFill>
                  <a:schemeClr val="accent3"/>
                </a:solidFill>
              </a:rPr>
              <a:t>ben</a:t>
            </a:r>
            <a:r>
              <a:rPr lang="en-US" sz="1900" dirty="0">
                <a:solidFill>
                  <a:schemeClr val="tx1"/>
                </a:solidFill>
              </a:rPr>
              <a:t>. </a:t>
            </a:r>
            <a:r>
              <a:rPr lang="en-US" sz="1900" i="1" dirty="0">
                <a:solidFill>
                  <a:schemeClr val="tx1"/>
                </a:solidFill>
              </a:rPr>
              <a:t>(zijn)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Aussi possible : n° 4 </a:t>
            </a:r>
            <a:r>
              <a:rPr lang="en-US" sz="1500" i="1" dirty="0">
                <a:solidFill>
                  <a:schemeClr val="accent5"/>
                </a:solidFill>
              </a:rPr>
              <a:t>Volgend jaar verhuizen we.</a:t>
            </a:r>
            <a:r>
              <a:rPr lang="en-US" sz="1500" i="1" dirty="0">
                <a:solidFill>
                  <a:schemeClr val="accent5"/>
                </a:solidFill>
              </a:rPr>
              <a:t> · n° 7 </a:t>
            </a:r>
            <a:r>
              <a:rPr lang="en-US" sz="1500" i="1" dirty="0">
                <a:solidFill>
                  <a:schemeClr val="accent5"/>
                </a:solidFill>
              </a:rPr>
              <a:t>Wat doe je in het weekend?</a:t>
            </a:r>
            <a:r>
              <a:rPr lang="en-US" sz="1500" i="1" dirty="0">
                <a:solidFill>
                  <a:schemeClr val="accent5"/>
                </a:solidFill>
              </a:rPr>
              <a:t> · n° 8 : présent après </a:t>
            </a:r>
            <a:r>
              <a:rPr lang="en-US" sz="1500" i="1" dirty="0">
                <a:solidFill>
                  <a:schemeClr val="accent5"/>
                </a:solidFill>
              </a:rPr>
              <a:t>als</a:t>
            </a:r>
            <a:r>
              <a:rPr lang="en-US" sz="1500" i="1" dirty="0">
                <a:solidFill>
                  <a:schemeClr val="accent5"/>
                </a:solidFill>
              </a:rPr>
              <a:t> (diapo 6)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écrit à An pour annoncer sa semaine.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Karim Benali · Aan: An Janssens · Onderwerp: volgende week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Beste An, </a:t>
            </a:r>
            <a:r>
              <a:rPr lang="en-US" sz="2100" i="1" dirty="0">
                <a:solidFill>
                  <a:schemeClr val="tx1"/>
                </a:solidFill>
              </a:rPr>
              <a:t>volgende week ik ben</a:t>
            </a:r>
            <a:r>
              <a:rPr lang="en-US" sz="2100" i="1" dirty="0">
                <a:solidFill>
                  <a:schemeClr val="tx1"/>
                </a:solidFill>
              </a:rPr>
              <a:t> op cursus in Gent. Ik ga maandag met de trein naar Gent</a:t>
            </a:r>
            <a:r>
              <a:rPr lang="en-US" sz="2100" i="1" dirty="0">
                <a:solidFill>
                  <a:schemeClr val="tx1"/>
                </a:solidFill>
              </a:rPr>
              <a:t> gaan</a:t>
            </a:r>
            <a:r>
              <a:rPr lang="en-US" sz="2100" i="1" dirty="0">
                <a:solidFill>
                  <a:schemeClr val="tx1"/>
                </a:solidFill>
              </a:rPr>
              <a:t>. Dinsdag </a:t>
            </a:r>
            <a:r>
              <a:rPr lang="en-US" sz="2100" i="1" dirty="0">
                <a:solidFill>
                  <a:schemeClr val="tx1"/>
                </a:solidFill>
              </a:rPr>
              <a:t>zal ik werken thuis</a:t>
            </a:r>
            <a:r>
              <a:rPr lang="en-US" sz="2100" i="1" dirty="0">
                <a:solidFill>
                  <a:schemeClr val="tx1"/>
                </a:solidFill>
              </a:rPr>
              <a:t>. Woensdag ga ik meneer Maes opbellen. Als ik terug </a:t>
            </a:r>
            <a:r>
              <a:rPr lang="en-US" sz="2100" i="1" dirty="0">
                <a:solidFill>
                  <a:schemeClr val="tx1"/>
                </a:solidFill>
              </a:rPr>
              <a:t>zal zijn</a:t>
            </a:r>
            <a:r>
              <a:rPr lang="en-US" sz="2100" i="1" dirty="0">
                <a:solidFill>
                  <a:schemeClr val="tx1"/>
                </a:solidFill>
              </a:rPr>
              <a:t>, </a:t>
            </a:r>
            <a:r>
              <a:rPr lang="en-US" sz="2100" i="1" dirty="0">
                <a:solidFill>
                  <a:schemeClr val="tx1"/>
                </a:solidFill>
              </a:rPr>
              <a:t>ik schrijf</a:t>
            </a:r>
            <a:r>
              <a:rPr lang="en-US" sz="2100" i="1" dirty="0">
                <a:solidFill>
                  <a:schemeClr val="tx1"/>
                </a:solidFill>
              </a:rPr>
              <a:t> het rapport. Ik zal het je vrijdag sturen. Groeten, Karim</a:t>
            </a:r>
            <a:endParaRPr lang="en-US" sz="21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écrit à An pour annoncer sa semaine.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Karim Benali · Aan: An Janssens · Onderwerp: volgende week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Beste An, </a:t>
            </a:r>
            <a:r>
              <a:rPr lang="en-US" sz="2100" i="1" strike="sngStrike" dirty="0">
                <a:solidFill>
                  <a:schemeClr val="accent6"/>
                </a:solidFill>
              </a:rPr>
              <a:t>volgende week ik ben</a:t>
            </a:r>
            <a:r>
              <a:rPr lang="en-US" sz="2100" b="1" i="1" dirty="0">
                <a:solidFill>
                  <a:schemeClr val="accent3"/>
                </a:solidFill>
              </a:rPr>
              <a:t> volgende week ben ik</a:t>
            </a:r>
            <a:r>
              <a:rPr lang="en-US" sz="2100" i="1" dirty="0">
                <a:solidFill>
                  <a:schemeClr val="tx1"/>
                </a:solidFill>
              </a:rPr>
              <a:t> op cursus in Gent. Ik ga maandag met de trein naar Gent</a:t>
            </a:r>
            <a:r>
              <a:rPr lang="en-US" sz="2100" i="1" strike="sngStrike" dirty="0">
                <a:solidFill>
                  <a:schemeClr val="accent6"/>
                </a:solidFill>
              </a:rPr>
              <a:t> gaan</a:t>
            </a:r>
            <a:r>
              <a:rPr lang="en-US" sz="2100" i="1" dirty="0">
                <a:solidFill>
                  <a:schemeClr val="tx1"/>
                </a:solidFill>
              </a:rPr>
              <a:t>. Dinsdag </a:t>
            </a:r>
            <a:r>
              <a:rPr lang="en-US" sz="2100" i="1" strike="sngStrike" dirty="0">
                <a:solidFill>
                  <a:schemeClr val="accent6"/>
                </a:solidFill>
              </a:rPr>
              <a:t>zal ik werken thuis</a:t>
            </a:r>
            <a:r>
              <a:rPr lang="en-US" sz="2100" b="1" i="1" dirty="0">
                <a:solidFill>
                  <a:schemeClr val="accent3"/>
                </a:solidFill>
              </a:rPr>
              <a:t> zal ik thuis werken</a:t>
            </a:r>
            <a:r>
              <a:rPr lang="en-US" sz="2100" i="1" dirty="0">
                <a:solidFill>
                  <a:schemeClr val="tx1"/>
                </a:solidFill>
              </a:rPr>
              <a:t>. Woensdag ga ik meneer Maes opbellen. Als ik terug </a:t>
            </a:r>
            <a:r>
              <a:rPr lang="en-US" sz="2100" i="1" strike="sngStrike" dirty="0">
                <a:solidFill>
                  <a:schemeClr val="accent6"/>
                </a:solidFill>
              </a:rPr>
              <a:t>zal zijn</a:t>
            </a:r>
            <a:r>
              <a:rPr lang="en-US" sz="2100" b="1" i="1" dirty="0">
                <a:solidFill>
                  <a:schemeClr val="accent3"/>
                </a:solidFill>
              </a:rPr>
              <a:t> ben</a:t>
            </a:r>
            <a:r>
              <a:rPr lang="en-US" sz="2100" i="1" dirty="0">
                <a:solidFill>
                  <a:schemeClr val="tx1"/>
                </a:solidFill>
              </a:rPr>
              <a:t>, </a:t>
            </a:r>
            <a:r>
              <a:rPr lang="en-US" sz="2100" i="1" strike="sngStrike" dirty="0">
                <a:solidFill>
                  <a:schemeClr val="accent6"/>
                </a:solidFill>
              </a:rPr>
              <a:t>ik schrijf</a:t>
            </a:r>
            <a:r>
              <a:rPr lang="en-US" sz="2100" b="1" i="1" dirty="0">
                <a:solidFill>
                  <a:schemeClr val="accent3"/>
                </a:solidFill>
              </a:rPr>
              <a:t> schrijf ik</a:t>
            </a:r>
            <a:r>
              <a:rPr lang="en-US" sz="2100" i="1" dirty="0">
                <a:solidFill>
                  <a:schemeClr val="tx1"/>
                </a:solidFill>
              </a:rPr>
              <a:t> het rapport. Ik zal het je vrijdag sturen. Groeten, Karim</a:t>
            </a:r>
            <a:endParaRPr lang="en-US" sz="21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Leurres : </a:t>
            </a:r>
            <a:r>
              <a:rPr lang="en-US" sz="1400" i="1" dirty="0">
                <a:solidFill>
                  <a:schemeClr val="accent5"/>
                </a:solidFill>
              </a:rPr>
              <a:t>Woensdag ga ik meneer Maes opbellen · Ik zal het je vrijdag sturen</a:t>
            </a:r>
            <a:r>
              <a:rPr lang="en-US" sz="1400" i="1" dirty="0">
                <a:solidFill>
                  <a:schemeClr val="accent5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La boule de cristal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crystal b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194560" cy="2194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17520" y="164592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6E4A9E">
              <a:alpha val="15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8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719072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017520" y="2240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werk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389120" y="164592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6E4A9E">
              <a:alpha val="15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11" name="Image 2" descr="red hea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19072"/>
            <a:ext cx="502920" cy="5029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389120" y="2240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liefde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5760720" y="164592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6E4A9E">
              <a:alpha val="15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14" name="Image 3" descr="airpla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719072"/>
            <a:ext cx="502920" cy="5029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760720" y="2240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reizen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3017520" y="278892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6E4A9E">
              <a:alpha val="15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17" name="Image 4" descr="money ba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862072"/>
            <a:ext cx="502920" cy="5029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3017520" y="3383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geld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389120" y="278892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6E4A9E">
              <a:alpha val="15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20" name="Image 5" descr="hou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862072"/>
            <a:ext cx="502920" cy="5029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389120" y="3383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wonen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5760720" y="2788920"/>
            <a:ext cx="1234440" cy="1005840"/>
          </a:xfrm>
          <a:prstGeom prst="roundRect">
            <a:avLst>
              <a:gd name="adj" fmla="val 10909"/>
            </a:avLst>
          </a:prstGeom>
          <a:solidFill>
            <a:srgbClr val="6E4A9E">
              <a:alpha val="15000"/>
            </a:srgbClr>
          </a:solidFill>
          <a:ln w="19050">
            <a:solidFill>
              <a:srgbClr val="6E4A9E"/>
            </a:solidFill>
            <a:prstDash val="solid"/>
          </a:ln>
        </p:spPr>
      </p:sp>
      <p:pic>
        <p:nvPicPr>
          <p:cNvPr id="23" name="Image 6" descr="stethoscop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2862072"/>
            <a:ext cx="502920" cy="50292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5760720" y="3383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4A9E"/>
                </a:solidFill>
              </a:rPr>
              <a:t>gezondheid</a:t>
            </a:r>
            <a:endParaRPr lang="en-US" sz="1300" dirty="0"/>
          </a:p>
        </p:txBody>
      </p:sp>
      <p:sp>
        <p:nvSpPr>
          <p:cNvPr id="25" name="Text 15"/>
          <p:cNvSpPr txBox="1"/>
          <p:nvPr/>
        </p:nvSpPr>
        <p:spPr>
          <a:xfrm>
            <a:off x="7315200" y="1645920"/>
            <a:ext cx="43251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</a:t>
            </a:r>
            <a:r>
              <a:rPr lang="en-US" sz="1600" dirty="0">
                <a:solidFill>
                  <a:schemeClr val="tx1"/>
                </a:solidFill>
              </a:rPr>
              <a:t> Par trois : la voyante tire 2 cartes-thèmes.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</a:t>
            </a:r>
            <a:r>
              <a:rPr lang="en-US" sz="1600" dirty="0">
                <a:solidFill>
                  <a:schemeClr val="tx1"/>
                </a:solidFill>
              </a:rPr>
              <a:t> Elle prédit l’avenir d’un camarade, avec </a:t>
            </a:r>
            <a:r>
              <a:rPr lang="en-US" sz="1600" i="1" dirty="0">
                <a:solidFill>
                  <a:schemeClr val="tx1"/>
                </a:solidFill>
              </a:rPr>
              <a:t>gaan</a:t>
            </a:r>
            <a:r>
              <a:rPr lang="en-US" sz="1600" dirty="0">
                <a:solidFill>
                  <a:schemeClr val="tx1"/>
                </a:solidFill>
              </a:rPr>
              <a:t> et </a:t>
            </a:r>
            <a:r>
              <a:rPr lang="en-US" sz="1600" i="1" dirty="0">
                <a:solidFill>
                  <a:schemeClr val="tx1"/>
                </a:solidFill>
              </a:rPr>
              <a:t>zullen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</a:t>
            </a:r>
            <a:r>
              <a:rPr lang="en-US" sz="1600" dirty="0">
                <a:solidFill>
                  <a:schemeClr val="tx1"/>
                </a:solidFill>
              </a:rPr>
              <a:t> Le camarade réagit.</a:t>
            </a:r>
            <a:endParaRPr lang="en-US" sz="1600" dirty="0"/>
          </a:p>
        </p:txBody>
      </p:sp>
      <p:sp>
        <p:nvSpPr>
          <p:cNvPr id="26" name="Shape 16"/>
          <p:cNvSpPr/>
          <p:nvPr/>
        </p:nvSpPr>
        <p:spPr>
          <a:xfrm>
            <a:off x="548640" y="4206240"/>
            <a:ext cx="6400800" cy="914400"/>
          </a:xfrm>
          <a:prstGeom prst="roundRect">
            <a:avLst>
              <a:gd name="adj" fmla="val 18000"/>
            </a:avLst>
          </a:prstGeom>
          <a:solidFill>
            <a:srgbClr val="6E4A9E">
              <a:alpha val="12000"/>
            </a:srgbClr>
          </a:solidFill>
          <a:ln w="15875">
            <a:solidFill>
              <a:srgbClr val="6E4A9E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713232" y="4206240"/>
            <a:ext cx="6071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Jij </a:t>
            </a:r>
            <a:r>
              <a:rPr lang="en-US" sz="1900" b="1" i="1" dirty="0">
                <a:solidFill>
                  <a:schemeClr val="tx1"/>
                </a:solidFill>
              </a:rPr>
              <a:t>gaat</a:t>
            </a:r>
            <a:r>
              <a:rPr lang="en-US" sz="1900" i="1" dirty="0">
                <a:solidFill>
                  <a:schemeClr val="tx1"/>
                </a:solidFill>
              </a:rPr>
              <a:t> een nieuwe job </a:t>
            </a:r>
            <a:r>
              <a:rPr lang="en-US" sz="1900" b="1" i="1" dirty="0">
                <a:solidFill>
                  <a:schemeClr val="tx1"/>
                </a:solidFill>
              </a:rPr>
              <a:t>vinden</a:t>
            </a:r>
            <a:r>
              <a:rPr lang="en-US" sz="1900" i="1" dirty="0">
                <a:solidFill>
                  <a:schemeClr val="tx1"/>
                </a:solidFill>
              </a:rPr>
              <a:t>. Je </a:t>
            </a:r>
            <a:r>
              <a:rPr lang="en-US" sz="1900" b="1" i="1" dirty="0">
                <a:solidFill>
                  <a:schemeClr val="tx1"/>
                </a:solidFill>
              </a:rPr>
              <a:t>zult</a:t>
            </a:r>
            <a:r>
              <a:rPr lang="en-US" sz="1900" i="1" dirty="0">
                <a:solidFill>
                  <a:schemeClr val="tx1"/>
                </a:solidFill>
              </a:rPr>
              <a:t> veel </a:t>
            </a:r>
            <a:r>
              <a:rPr lang="en-US" sz="1900" b="1" i="1" dirty="0">
                <a:solidFill>
                  <a:schemeClr val="tx1"/>
                </a:solidFill>
              </a:rPr>
              <a:t>reizen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8" name="Shape 18"/>
          <p:cNvSpPr/>
          <p:nvPr/>
        </p:nvSpPr>
        <p:spPr>
          <a:xfrm>
            <a:off x="2743200" y="5303520"/>
            <a:ext cx="6400800" cy="868680"/>
          </a:xfrm>
          <a:prstGeom prst="roundRect">
            <a:avLst>
              <a:gd name="adj" fmla="val 18947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2907792" y="5303520"/>
            <a:ext cx="6071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Echt? Fantastisch! · Nee, dat geloof ik niet!</a:t>
            </a:r>
            <a:endParaRPr lang="en-US" sz="1900" dirty="0"/>
          </a:p>
        </p:txBody>
      </p:sp>
      <p:pic>
        <p:nvPicPr>
          <p:cNvPr id="30" name="Image 7" descr="party popp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0" y="4572000"/>
            <a:ext cx="1097280" cy="1097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La journée d’équipe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mois prochain, Peeters &amp; Co organise une journée d’équipe (</a:t>
            </a:r>
            <a:r>
              <a:rPr lang="en-US" sz="1700" i="1" dirty="0">
                <a:solidFill>
                  <a:schemeClr val="tx1"/>
                </a:solidFill>
              </a:rPr>
              <a:t>teamdag</a:t>
            </a:r>
            <a:r>
              <a:rPr lang="en-US" sz="1700" dirty="0">
                <a:solidFill>
                  <a:schemeClr val="tx1"/>
                </a:solidFill>
              </a:rPr>
              <a:t>). An et Sofie préparent le programme.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</a:t>
            </a:r>
            <a:r>
              <a:rPr lang="en-US" sz="1700" dirty="0">
                <a:solidFill>
                  <a:schemeClr val="tx1"/>
                </a:solidFill>
              </a:rPr>
              <a:t> : proposez des activités et un horaire : </a:t>
            </a:r>
            <a:r>
              <a:rPr lang="en-US" sz="1700" i="1" dirty="0">
                <a:solidFill>
                  <a:schemeClr val="tx1"/>
                </a:solidFill>
              </a:rPr>
              <a:t>Om 9 uur… Daarna gaan we…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réagissez, proposez autre chose et promettez d’organiser : </a:t>
            </a:r>
            <a:r>
              <a:rPr lang="en-US" sz="1700" i="1" dirty="0">
                <a:solidFill>
                  <a:schemeClr val="tx1"/>
                </a:solidFill>
              </a:rPr>
              <a:t>Zullen we…? Ik zal…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Om 9 uur beginnen we met koffie. · Daarna gaan we… · Zullen we ’s middags…? · Ik zal de bus reserveren. · Wat gaan we ’s avonds doen? · Goed idee! · Dat is te duur.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02920"/>
          </a:xfrm>
          <a:prstGeom prst="roundRect">
            <a:avLst>
              <a:gd name="adj" fmla="val 727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PROGRAMMA TEAMDAG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57032" y="2167128"/>
            <a:ext cx="73152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57032" y="216712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9.00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125712" y="2441448"/>
            <a:ext cx="233172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5" name="Shape 22"/>
          <p:cNvSpPr/>
          <p:nvPr/>
        </p:nvSpPr>
        <p:spPr>
          <a:xfrm>
            <a:off x="8257032" y="2831592"/>
            <a:ext cx="73152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57032" y="283159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10.30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125712" y="3105912"/>
            <a:ext cx="233172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8" name="Shape 25"/>
          <p:cNvSpPr/>
          <p:nvPr/>
        </p:nvSpPr>
        <p:spPr>
          <a:xfrm>
            <a:off x="8257032" y="3496056"/>
            <a:ext cx="73152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57032" y="349605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12.30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125712" y="3770376"/>
            <a:ext cx="233172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1" name="Shape 28"/>
          <p:cNvSpPr/>
          <p:nvPr/>
        </p:nvSpPr>
        <p:spPr>
          <a:xfrm>
            <a:off x="8257032" y="4160520"/>
            <a:ext cx="73152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57032" y="41605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14.00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125712" y="4434840"/>
            <a:ext cx="233172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4" name="Shape 31"/>
          <p:cNvSpPr/>
          <p:nvPr/>
        </p:nvSpPr>
        <p:spPr>
          <a:xfrm>
            <a:off x="8257032" y="4824984"/>
            <a:ext cx="73152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57032" y="482498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16.00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125712" y="5099304"/>
            <a:ext cx="233172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37" name="Shape 34"/>
          <p:cNvSpPr/>
          <p:nvPr/>
        </p:nvSpPr>
        <p:spPr>
          <a:xfrm>
            <a:off x="8257032" y="5489448"/>
            <a:ext cx="73152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57032" y="54894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18.00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125712" y="5763768"/>
            <a:ext cx="2331720" cy="914"/>
          </a:xfrm>
          <a:prstGeom prst="line">
            <a:avLst/>
          </a:prstGeom>
          <a:noFill/>
          <a:ln w="12700">
            <a:solidFill>
              <a:srgbClr val="B8C2CF"/>
            </a:solidFill>
            <a:prstDash val="sysDot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avec le présent : « Demain, je travaillerai à la maison. »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gaan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zullen</a:t>
            </a:r>
            <a:r>
              <a:rPr lang="en-US" sz="2000" dirty="0">
                <a:solidFill>
                  <a:schemeClr val="tx1"/>
                </a:solidFill>
              </a:rPr>
              <a:t> ? « Promis : je …… t’aider. »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Corrigez : </a:t>
            </a:r>
            <a:r>
              <a:rPr lang="en-US" sz="2000" i="1" dirty="0">
                <a:solidFill>
                  <a:schemeClr val="tx1"/>
                </a:solidFill>
              </a:rPr>
              <a:t>Als ik klaar zal zijn, bel ik je.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Planifier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Annoncer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Promettre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Histor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Het imperfectum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Toen ik klein was…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18 — De toekomst — Parler du futur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2026-10-05T07:24:45Z</dcterms:created>
  <dcterms:modified xsi:type="dcterms:W3CDTF">2026-10-05T07:24:45Z</dcterms:modified>
</cp:coreProperties>
</file>