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slideMasters/slideMaster17.xml" ContentType="application/vnd.openxmlformats-officedocument.presentationml.slideMaster+xml"/>
  <Override PartName="/ppt/slides/slide17.xml" ContentType="application/vnd.openxmlformats-officedocument.presentationml.slide+xml"/>
  <Override PartName="/ppt/slideMasters/slideMaster18.xml" ContentType="application/vnd.openxmlformats-officedocument.presentationml.slideMaster+xml"/>
  <Override PartName="/ppt/slides/slide18.xml" ContentType="application/vnd.openxmlformats-officedocument.presentationml.slide+xml"/>
  <Override PartName="/ppt/slideMasters/slideMaster19.xml" ContentType="application/vnd.openxmlformats-officedocument.presentationml.slideMaster+xml"/>
  <Override PartName="/ppt/slides/slide19.xml" ContentType="application/vnd.openxmlformats-officedocument.presentationml.slide+xml"/>
  <Override PartName="/ppt/slideMasters/slideMaster20.xml" ContentType="application/vnd.openxmlformats-officedocument.presentationml.slideMaster+xml"/>
  <Override PartName="/ppt/slides/slide20.xml" ContentType="application/vnd.openxmlformats-officedocument.presentationml.slide+xml"/>
  <Override PartName="/ppt/slideMasters/slideMaster21.xml" ContentType="application/vnd.openxmlformats-officedocument.presentationml.slideMaster+xml"/>
  <Override PartName="/ppt/slides/slide21.xml" ContentType="application/vnd.openxmlformats-officedocument.presentationml.slide+xml"/>
  <Override PartName="/ppt/slideMasters/slideMaster22.xml" ContentType="application/vnd.openxmlformats-officedocument.presentationml.slideMaster+xml"/>
  <Override PartName="/ppt/slides/slide22.xml" ContentType="application/vnd.openxmlformats-officedocument.presentationml.slide+xml"/>
  <Override PartName="/ppt/slideMasters/slideMaster23.xml" ContentType="application/vnd.openxmlformats-officedocument.presentationml.slideMaster+xml"/>
  <Override PartName="/ppt/slides/slide23.xml" ContentType="application/vnd.openxmlformats-officedocument.presentationml.slide+xml"/>
  <Override PartName="/ppt/slideMasters/slideMaster24.xml" ContentType="application/vnd.openxmlformats-officedocument.presentationml.slideMaster+xml"/>
  <Override PartName="/ppt/slides/slide24.xml" ContentType="application/vnd.openxmlformats-officedocument.presentationml.slide+xml"/>
  <Override PartName="/ppt/slideMasters/slideMaster25.xml" ContentType="application/vnd.openxmlformats-officedocument.presentationml.slideMaster+xml"/>
  <Override PartName="/ppt/slides/slide25.xml" ContentType="application/vnd.openxmlformats-officedocument.presentationml.slide+xml"/>
  <Override PartName="/ppt/slideMasters/slideMaster26.xml" ContentType="application/vnd.openxmlformats-officedocument.presentationml.slideMaster+xml"/>
  <Override PartName="/ppt/slides/slide26.xml" ContentType="application/vnd.openxmlformats-officedocument.presentationml.slide+xml"/>
  <Override PartName="/ppt/slideMasters/slideMaster27.xml" ContentType="application/vnd.openxmlformats-officedocument.presentationml.slideMaster+xml"/>
  <Override PartName="/ppt/slides/slide27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26.xml" ContentType="application/vnd.openxmlformats-officedocument.presentationml.notesSlide+xml"/>
  <Override PartName="/ppt/notesSlides/notesSlide27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  <p:sldId id="278" r:id="rId24"/>
    <p:sldId id="279" r:id="rId25"/>
    <p:sldId id="280" r:id="rId26"/>
    <p:sldId id="281" r:id="rId27"/>
    <p:sldId id="282" r:id="rId28"/>
  </p:sldIdLst>
  <p:notesMasterIdLst>
    <p:notesMasterId r:id="rId29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521415D9-36F7-43E2-AB2F-B90AF26B5E84}">
      <p14:sectionLst xmlns:p14="http://schemas.microsoft.com/office/powerpoint/2010/main">
        <p14:section name="Ouverture" id="{45a6afa0-63aa-61de-18fe-b3ee6d72d410}">
          <p14:sldIdLst>
            <p14:sldId id="256"/>
          </p14:sldIdLst>
        </p14:section>
        <p14:section name="Découvrir" id="{0d337aa3-f907-08cb-ae1f-1bdacde6c6d4}">
          <p14:sldIdLst>
            <p14:sldId id="257"/>
            <p14:sldId id="258"/>
          </p14:sldIdLst>
        </p14:section>
        <p14:section name="Comprendre" id="{6ef7e298-95d0-7e52-dee6-9392e9a1320d}">
          <p14:sldIdLst>
            <p14:sldId id="259"/>
            <p14:sldId id="260"/>
            <p14:sldId id="261"/>
            <p14:sldId id="262"/>
            <p14:sldId id="263"/>
            <p14:sldId id="264"/>
            <p14:sldId id="265"/>
            <p14:sldId id="266"/>
            <p14:sldId id="267"/>
            <p14:sldId id="268"/>
          </p14:sldIdLst>
        </p14:section>
        <p14:section name="JIJ NU ! — Oefeningen" id="{93c2e873-5acd-1b66-ad1c-ca2a97daa400}">
          <p14:sldIdLst>
            <p14:sldId id="269"/>
            <p14:sldId id="270"/>
            <p14:sldId id="271"/>
            <p14:sldId id="272"/>
            <p14:sldId id="273"/>
            <p14:sldId id="274"/>
            <p14:sldId id="275"/>
            <p14:sldId id="276"/>
            <p14:sldId id="277"/>
            <p14:sldId id="278"/>
            <p14:sldId id="279"/>
            <p14:sldId id="280"/>
            <p14:sldId id="281"/>
          </p14:sldIdLst>
        </p14:section>
        <p14:section name="Clôture" id="{0da83fb4-ac2b-ab66-27ef-25e4ec77df8d}">
          <p14:sldIdLst>
            <p14:sldId id="282"/>
          </p14:sldIdLst>
        </p14:section>
      </p14:sectionLst>
    </p:ex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slide" Target="slides/slide18.xml"/><Relationship Id="rId20" Type="http://schemas.openxmlformats.org/officeDocument/2006/relationships/slide" Target="slides/slide19.xml"/><Relationship Id="rId21" Type="http://schemas.openxmlformats.org/officeDocument/2006/relationships/slide" Target="slides/slide20.xml"/><Relationship Id="rId22" Type="http://schemas.openxmlformats.org/officeDocument/2006/relationships/slide" Target="slides/slide21.xml"/><Relationship Id="rId23" Type="http://schemas.openxmlformats.org/officeDocument/2006/relationships/slide" Target="slides/slide22.xml"/><Relationship Id="rId24" Type="http://schemas.openxmlformats.org/officeDocument/2006/relationships/slide" Target="slides/slide23.xml"/><Relationship Id="rId25" Type="http://schemas.openxmlformats.org/officeDocument/2006/relationships/slide" Target="slides/slide24.xml"/><Relationship Id="rId26" Type="http://schemas.openxmlformats.org/officeDocument/2006/relationships/slide" Target="slides/slide25.xml"/><Relationship Id="rId27" Type="http://schemas.openxmlformats.org/officeDocument/2006/relationships/slide" Target="slides/slide26.xml"/><Relationship Id="rId28" Type="http://schemas.openxmlformats.org/officeDocument/2006/relationships/slide" Target="slides/slide27.xml"/><Relationship Id="rId29" Type="http://schemas.openxmlformats.org/officeDocument/2006/relationships/notesMaster" Target="notesMasters/notesMaster1.xml"/><Relationship Id="rId30" Type="http://schemas.openxmlformats.org/officeDocument/2006/relationships/presProps" Target="presProps.xml"/><Relationship Id="rId31" Type="http://schemas.openxmlformats.org/officeDocument/2006/relationships/viewProps" Target="viewProps.xml"/><Relationship Id="rId32" Type="http://schemas.openxmlformats.org/officeDocument/2006/relationships/theme" Target="theme/theme1.xml"/><Relationship Id="rId33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_rels/notesSlide1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7.xml"/>
		</Relationships>
</file>

<file path=ppt/notesSlides/_rels/notesSlide1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8.xml"/>
		</Relationships>
</file>

<file path=ppt/notesSlides/_rels/notesSlide1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9.xml"/>
		</Relationships>
</file>

<file path=ppt/notesSlides/_rels/notesSlide2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0.xml"/>
		</Relationships>
</file>

<file path=ppt/notesSlides/_rels/notesSlide2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1.xml"/>
		</Relationships>
</file>

<file path=ppt/notesSlides/_rels/notesSlide2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2.xml"/>
		</Relationships>
</file>

<file path=ppt/notesSlides/_rels/notesSlide2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3.xml"/>
		</Relationships>
</file>

<file path=ppt/notesSlides/_rels/notesSlide2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4.xml"/>
		</Relationships>
</file>

<file path=ppt/notesSlides/_rels/notesSlide2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5.xml"/>
		</Relationships>
</file>

<file path=ppt/notesSlides/_rels/notesSlide2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6.xml"/>
		</Relationships>
</file>

<file path=ppt/notesSlides/_rels/notesSlide2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7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Objectif : Annoncer le thème : parler de demain, de ses projets.
Question d'entrée, en français puis en néerlandais : « Que faites-vous demain ? » Notez les réponses au tableau : la plupart sont déjà au présent !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Objectif : Rendre les objectifs explicites.
Au bureau, le futur sert à planifier, à s'engager et à proposer. Les trois outils du jour couvrent ces trois besoins.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Objectif : Découvrir que le présent exprime le futur.
Faites relever le temps du verbe : le présent ! Le marqueur (maandag, dinsdag) suffit à situer l'action dans le futur. de afscheidsdrink = le pot de départ.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Objectif : Avoir une vue d'ensemble des trois outils.
Le français a un futur simple (« je travaillerai ») ; le néerlandais n'en a pas vraiment besoin. zullen est plus rare qu'on ne le croit : n'en faites pas l'équivalent automatique de « -rai ».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Objectif : Exprimer un futur planifié avec le présent.
Marqueur en tête → inversion (M3). En fin de phrase, pas d'inversion : Ik werk morgen thuis. straks = tout à l'heure (dans le futur proche).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Objectif : Neutraliser les calques les plus fréquents.
Ik ga naar Gent suffit pour « je vais aller » / « j'irai ». Avec zullen, l'infinitif va au bout (la pince, M3). Après als (M9), le présent suffit : c'est le réflexe du français après « si ».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Objectif : Former et employer gaan + infinitif.
Trois usages : une intention (Ik ga stoppen met roken), un changement (We gaan verhuizen), un signe visible (Het gaat regenen). La particule se recolle (M11) : opbellen. niet avant l'infinitif (M13) : Ik ga niet verhuizen.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Objectif : Distinguer gaan (déplacement) et gaan + infinitif (futur).
En français comme en néerlandais, « aller » sert aux deux. La différence est dans la suite : un lieu (naar…) ou un infinitif au bout.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Objectif : Employer zullen pour promettre, proposer, annoncer et supposer.
Rappel M12 (bonus). jij zult (standard) / jij zal (très courant en Flandre). zal wel = « sans doute ». Les annonces officielles (gare, courriels formels) utilisent zullen ; à l'oral, le présent est plus fréquent.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Objectif : Situer l'action dans le futur ; faire le lien avec les mots du passé (M15).
over + durée = « dans » (over een uur) ; in een uur = « en une heure ». volgend jaar (het jaar) mais volgende week (de week), comme vorig / vorige au M15. binnenkort = bientôt.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Objectif : Acquérir le vocabulaire des projets de vie et de travail.
op reis gaan et met pensioen gaan (prendre sa retraite) sont des expressions : pas de 2e gaan (✗ ~~We gaan op reis gaan~~). van plan zijn om … te + infinitif : construction de Néerlandais 2, à reconnaître. Faites dire à chacun un projet vrai : Volgend jaar ga ik…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Objectif : Reconnaître le futur antérieur (zullen + participe + hebben / zijn).
À reconnaître seulement. En fin de phrase : participe + hebben (ou hebben + participe). Le passé composé avec un marqueur futur est la solution la plus simple.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Objectif : Synthèse à photographier.
Ce schéma est la référence pour tous les exercices. Le présent + marqueur est presque toujours possible ; zullen est réservé à la promesse, à la proposition et à l'écrit formel.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Objectif : Annoncer la séquence d'exercices.
Exercices 1 et 2 en séance 1, les autres en séance 2.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Objectif : Parler d'un agenda avec le présent et l'inversion.
Exigez l'inversion (M3) quand le jour est en tête. half negen = 8 h 30 (M2). N° 6 : les deux réponses sont correctes.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CORRIGÉ — révélez les réponses une à une, en faisant justifier chaque choix.
Objectif : Parler d'un agenda avec le présent et l'inversion.
Exigez l'inversion (M3) quand le jour est en tête. half negen = 8 h 30 (M2). N° 6 : les deux réponses sont correctes.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Objectif : Annoncer un événement proche avec gaan + infinitif.
Ce sont des « signes visibles » (diapo 4) : on voit ce qui va arriver. Faites décrire l'image en une phrase, puis ajoutez un marqueur : Het gaat straks regenen.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CORRIGÉ — révélez les réponses une à une, en faisant justifier chaque choix.
Objectif : Annoncer un événement proche avec gaan + infinitif.
Ce sont des « signes visibles » (diapo 4) : on voit ce qui va arriver. Faites décrire l'image en une phrase, puis ajoutez un marqueur : Het gaat straks regenen.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Objectif : Promettre et proposer avec zullen.
Acceptez toute promesse correcte. N° 1 : u pour un client (M8). N° 4 : afmaken se recolle (M11). N° 5 et 6 : proposition (Zullen we…?). jarig zijn = avoir son anniversaire (c'est son anniversaire).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CORRIGÉ — révélez les réponses une à une, en faisant justifier chaque choix.
Objectif : Promettre et proposer avec zullen.
Acceptez toute promesse correcte. N° 1 : u pour un client (M8). N° 4 : afmaken se recolle (M11). N° 5 et 6 : proposition (Zullen we…?). jarig zijn = avoir son anniversaire (c'est son anniversaire).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Objectif : Choisir la forme la plus naturelle en contexte.
Plusieurs réponses sont possibles aux n° 4 et 7 : faites justifier. N° 8 : le présent après als (diapo 6).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CORRIGÉ — révélez les réponses une à une, en faisant justifier chaque choix.
Objectif : Choisir la forme la plus naturelle en contexte.
Plusieurs réponses sont possibles aux n° 4 et 7 : faites justifier. N° 8 : le présent après als (diapo 6).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Objectif : Corriger les erreurs typiques dans un courriel.
Leurres : Woensdag ga ik meneer Maes opbellen et Ik zal het je vrijdag sturen sont corrects. Erreurs : inversion (M3), gaan + gaan (diapo 6), infinitif au bout (diapo 6), présent après als (diapo 6), « verbe, verbe » (M9).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CORRIGÉ — révélez les réponses une à une, en faisant justifier chaque choix.
Objectif : Corriger les erreurs typiques dans un courriel.
Leurres : Woensdag ga ik meneer Maes opbellen et Ik zal het je vrijdag sturen sont corrects. Erreurs : inversion (M3), gaan + gaan (diapo 6), infinitif au bout (diapo 6), présent après als (diapo 6), « verbe, verbe » (M9).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Objectif : Prédire l'avenir de façon ludique avec gaan et zullen.
Exigez au moins une phrase avec gaan et une avec zullen. Variante écrite : chacun écrit 3 prédictions pour un voisin ; on les lit à la fin du cours.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Objectif : Mise en situation professionnelle : organiser une journée d'équipe.
Chaque paire présente ensuite son programme à la classe avec le présent + marqueur : Om 9 uur beginnen we, om 11 uur gaan we… La classe vote pour le meilleur programme.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Objectif : Vérifier les 3 objectifs.
Réponses :
1. Morgen werk ik thuis.
2. zal : Ik zal je helpen.
3. Als ik klaar ben, bel ik je.
Teaser M19 : Toen ik klein was…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N1_CONTENT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644652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chemeClr val="accent5"/>
                </a:solidFill>
              </a:rPr>
              <a:t>Néerlandais 1 · UE1 · Module 18 · De toekomst</a:t>
            </a:r>
            <a:endParaRPr lang="en-US" sz="1000" dirty="0"/>
          </a:p>
        </p:txBody>
      </p:sp>
      <p:sp>
        <p:nvSpPr>
          <p:cNvPr id="3" name="Text 1"/>
          <p:cNvSpPr/>
          <p:nvPr>
            <p:ph idx="101" type="title" hasCustomPrompt="1"/>
          </p:nvPr>
        </p:nvSpPr>
        <p:spPr>
          <a:xfrm>
            <a:off x="548640" y="621792"/>
            <a:ext cx="11091672" cy="713232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3000" b="1" dirty="0">
                <a:solidFill>
                  <a:schemeClr val="tx2"/>
                </a:solidFill>
              </a:defRPr>
            </a:lvl1pPr>
          </a:lstStyle>
          <a:p>
            <a:pPr algn="l" indent="0" marL="0">
              <a:buNone/>
            </a:pPr>
            <a:endParaRPr lang="en-US" sz="30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1672" y="644652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4A5A70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1002</a:t>
            </a:fld>
            <a:endParaRPr lang="en-US"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N1_DARK">
    <p:bg>
      <p:bgPr>
        <a:solidFill>
          <a:srgbClr val="17375E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644652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chemeClr val="bg2"/>
                </a:solidFill>
              </a:rPr>
              <a:t>Néerlandais 1 · UE1 · Module 18 · De toekomst</a:t>
            </a:r>
            <a:endParaRPr lang="en-US" sz="1000" dirty="0"/>
          </a:p>
        </p:txBody>
      </p:sp>
      <p:sp>
        <p:nvSpPr>
          <p:cNvPr id="3" name="Text 1"/>
          <p:cNvSpPr/>
          <p:nvPr>
            <p:ph idx="101" type="title" hasCustomPrompt="1"/>
          </p:nvPr>
        </p:nvSpPr>
        <p:spPr>
          <a:xfrm>
            <a:off x="548640" y="621792"/>
            <a:ext cx="11091672" cy="713232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3000" b="1" dirty="0">
                <a:solidFill>
                  <a:schemeClr val="bg1"/>
                </a:solidFill>
              </a:defRPr>
            </a:lvl1pPr>
          </a:lstStyle>
          <a:p>
            <a:pPr algn="l" indent="0" marL="0">
              <a:buNone/>
            </a:pPr>
            <a:endParaRPr lang="en-US" sz="30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1672" y="644652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EEF3F8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1003</a:t>
            </a:fld>
            <a:endParaRPr lang="en-US"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N1_COVER">
    <p:bg>
      <p:bgPr>
        <a:solidFill>
          <a:srgbClr val="17375E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6263640"/>
            <a:ext cx="8229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chemeClr val="bg2"/>
                </a:solidFill>
              </a:rPr>
              <a:t>Néerlandais 1 · UE1 · Langue en situation, en milieu professionnel · A. Jouniaux · IRAM</a:t>
            </a:r>
            <a:endParaRPr lang="en-US" sz="1200" dirty="0"/>
          </a:p>
        </p:txBody>
      </p:sp>
      <p:sp>
        <p:nvSpPr>
          <p:cNvPr id="3" name="Text 1"/>
          <p:cNvSpPr/>
          <p:nvPr>
            <p:ph idx="101" type="title" hasCustomPrompt="1"/>
          </p:nvPr>
        </p:nvSpPr>
        <p:spPr>
          <a:xfrm>
            <a:off x="548640" y="1737360"/>
            <a:ext cx="5669280" cy="182880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4200" b="1" dirty="0">
                <a:solidFill>
                  <a:schemeClr val="bg1"/>
                </a:solidFill>
              </a:defRPr>
            </a:lvl1pPr>
          </a:lstStyle>
          <a:p>
            <a:pPr algn="l" indent="0" marL="0">
              <a:buNone/>
            </a:pPr>
            <a:endParaRPr lang="en-US" sz="4200" dirty="0"/>
          </a:p>
        </p:txBody>
      </p:sp>
      <p:sp>
        <p:nvSpPr>
          <p:cNvPr id="4" name="Text 1"/>
          <p:cNvSpPr/>
          <p:nvPr>
            <p:ph idx="102" type="body" hasCustomPrompt="1"/>
          </p:nvPr>
        </p:nvSpPr>
        <p:spPr>
          <a:xfrm>
            <a:off x="548640" y="3749040"/>
            <a:ext cx="5669280" cy="146304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2000" dirty="0">
                <a:solidFill>
                  <a:schemeClr val="bg2"/>
                </a:solidFill>
              </a:defRPr>
            </a:lvl1pPr>
          </a:lstStyle>
          <a:p>
            <a:pPr algn="l" indent="0" marL="0">
              <a:buNone/>
            </a:pPr>
            <a:endParaRPr lang="en-US" sz="2000" dirty="0"/>
          </a:p>
        </p:txBody>
      </p: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1672" y="644652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4A5A70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null</a:t>
            </a:fld>
            <a:endParaRPr 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slideLayout" Target="../slideLayouts/slideLayout4.xml"/><Relationship Id="rId3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-1.png"/><Relationship Id="rId2" Type="http://schemas.openxmlformats.org/officeDocument/2006/relationships/image" Target="../media/image-2-2.png"/><Relationship Id="rId3" Type="http://schemas.openxmlformats.org/officeDocument/2006/relationships/image" Target="../media/image-2-3.png"/><Relationship Id="rId4" Type="http://schemas.openxmlformats.org/officeDocument/2006/relationships/image" Target="../media/image-2-4.png"/><Relationship Id="rId5" Type="http://schemas.openxmlformats.org/officeDocument/2006/relationships/image" Target="../media/image-2-5.png"/><Relationship Id="rId6" Type="http://schemas.openxmlformats.org/officeDocument/2006/relationships/image" Target="../media/image-2-6.png"/><Relationship Id="rId7" Type="http://schemas.openxmlformats.org/officeDocument/2006/relationships/slideLayout" Target="../slideLayouts/slideLayout2.xml"/><Relationship Id="rId8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-1.png"/><Relationship Id="rId2" Type="http://schemas.openxmlformats.org/officeDocument/2006/relationships/image" Target="../media/image-3-2.png"/><Relationship Id="rId3" Type="http://schemas.openxmlformats.org/officeDocument/2006/relationships/image" Target="../media/image-3-3.png"/><Relationship Id="rId4" Type="http://schemas.openxmlformats.org/officeDocument/2006/relationships/image" Target="../media/image-3-4.png"/><Relationship Id="rId5" Type="http://schemas.openxmlformats.org/officeDocument/2006/relationships/image" Target="../media/image-3-5.png"/><Relationship Id="rId6" Type="http://schemas.openxmlformats.org/officeDocument/2006/relationships/image" Target="../media/image-3-6.png"/><Relationship Id="rId7" Type="http://schemas.openxmlformats.org/officeDocument/2006/relationships/image" Target="../media/image-3-7.png"/><Relationship Id="rId8" Type="http://schemas.openxmlformats.org/officeDocument/2006/relationships/slideLayout" Target="../slideLayouts/slideLayout2.xml"/><Relationship Id="rId9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4-1.png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5-1.png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6-1.png"/><Relationship Id="rId2" Type="http://schemas.openxmlformats.org/officeDocument/2006/relationships/image" Target="../media/image-6-2.png"/><Relationship Id="rId3" Type="http://schemas.openxmlformats.org/officeDocument/2006/relationships/image" Target="../media/image-6-3.png"/><Relationship Id="rId4" Type="http://schemas.openxmlformats.org/officeDocument/2006/relationships/slideLayout" Target="../slideLayouts/slideLayout2.xml"/><Relationship Id="rId5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8-1.png"/><Relationship Id="rId2" Type="http://schemas.openxmlformats.org/officeDocument/2006/relationships/image" Target="../media/image-8-2.png"/><Relationship Id="rId3" Type="http://schemas.openxmlformats.org/officeDocument/2006/relationships/slideLayout" Target="../slideLayouts/slideLayout2.xml"/><Relationship Id="rId4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9-1.png"/><Relationship Id="rId2" Type="http://schemas.openxmlformats.org/officeDocument/2006/relationships/image" Target="../media/image-9-2.png"/><Relationship Id="rId3" Type="http://schemas.openxmlformats.org/officeDocument/2006/relationships/image" Target="../media/image-9-3.png"/><Relationship Id="rId4" Type="http://schemas.openxmlformats.org/officeDocument/2006/relationships/image" Target="../media/image-9-4.png"/><Relationship Id="rId5" Type="http://schemas.openxmlformats.org/officeDocument/2006/relationships/slideLayout" Target="../slideLayouts/slideLayout2.xml"/><Relationship Id="rId6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0-1.png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1-1.png"/><Relationship Id="rId2" Type="http://schemas.openxmlformats.org/officeDocument/2006/relationships/image" Target="../media/image-11-2.png"/><Relationship Id="rId3" Type="http://schemas.openxmlformats.org/officeDocument/2006/relationships/image" Target="../media/image-11-3.png"/><Relationship Id="rId4" Type="http://schemas.openxmlformats.org/officeDocument/2006/relationships/image" Target="../media/image-11-4.png"/><Relationship Id="rId5" Type="http://schemas.openxmlformats.org/officeDocument/2006/relationships/image" Target="../media/image-11-5.png"/><Relationship Id="rId6" Type="http://schemas.openxmlformats.org/officeDocument/2006/relationships/image" Target="../media/image-11-6.png"/><Relationship Id="rId7" Type="http://schemas.openxmlformats.org/officeDocument/2006/relationships/slideLayout" Target="../slideLayouts/slideLayout2.xml"/><Relationship Id="rId8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2-1.png"/><Relationship Id="rId2" Type="http://schemas.openxmlformats.org/officeDocument/2006/relationships/image" Target="../media/image-12-2.png"/><Relationship Id="rId3" Type="http://schemas.openxmlformats.org/officeDocument/2006/relationships/slideLayout" Target="../slideLayouts/slideLayout2.xml"/><Relationship Id="rId4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3-1.png"/><Relationship Id="rId2" Type="http://schemas.openxmlformats.org/officeDocument/2006/relationships/image" Target="../media/image-13-2.png"/><Relationship Id="rId3" Type="http://schemas.openxmlformats.org/officeDocument/2006/relationships/slideLayout" Target="../slideLayouts/slideLayout2.xml"/><Relationship Id="rId4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4-1.png"/><Relationship Id="rId2" Type="http://schemas.openxmlformats.org/officeDocument/2006/relationships/image" Target="../media/image-14-2.png"/><Relationship Id="rId3" Type="http://schemas.openxmlformats.org/officeDocument/2006/relationships/image" Target="../media/image-14-3.png"/><Relationship Id="rId4" Type="http://schemas.openxmlformats.org/officeDocument/2006/relationships/image" Target="../media/image-14-4.png"/><Relationship Id="rId5" Type="http://schemas.openxmlformats.org/officeDocument/2006/relationships/image" Target="../media/image-14-5.png"/><Relationship Id="rId6" Type="http://schemas.openxmlformats.org/officeDocument/2006/relationships/image" Target="../media/image-14-6.png"/><Relationship Id="rId7" Type="http://schemas.openxmlformats.org/officeDocument/2006/relationships/image" Target="../media/image-14-7.png"/><Relationship Id="rId8" Type="http://schemas.openxmlformats.org/officeDocument/2006/relationships/image" Target="../media/image-14-8.png"/><Relationship Id="rId9" Type="http://schemas.openxmlformats.org/officeDocument/2006/relationships/slideLayout" Target="../slideLayouts/slideLayout3.xml"/><Relationship Id="rId10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5-1.png"/><Relationship Id="rId2" Type="http://schemas.openxmlformats.org/officeDocument/2006/relationships/image" Target="../media/image-15-2.png"/><Relationship Id="rId3" Type="http://schemas.openxmlformats.org/officeDocument/2006/relationships/image" Target="../media/image-15-3.png"/><Relationship Id="rId4" Type="http://schemas.openxmlformats.org/officeDocument/2006/relationships/image" Target="../media/image-15-4.png"/><Relationship Id="rId5" Type="http://schemas.openxmlformats.org/officeDocument/2006/relationships/image" Target="../media/image-15-5.png"/><Relationship Id="rId6" Type="http://schemas.openxmlformats.org/officeDocument/2006/relationships/image" Target="../media/image-15-6.png"/><Relationship Id="rId7" Type="http://schemas.openxmlformats.org/officeDocument/2006/relationships/image" Target="../media/image-15-7.png"/><Relationship Id="rId8" Type="http://schemas.openxmlformats.org/officeDocument/2006/relationships/image" Target="../media/image-15-8.png"/><Relationship Id="rId9" Type="http://schemas.openxmlformats.org/officeDocument/2006/relationships/slideLayout" Target="../slideLayouts/slideLayout2.xml"/><Relationship Id="rId10" Type="http://schemas.openxmlformats.org/officeDocument/2006/relationships/notesSlide" Target="../notesSlides/notesSlide15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6-1.png"/><Relationship Id="rId2" Type="http://schemas.openxmlformats.org/officeDocument/2006/relationships/image" Target="../media/image-16-2.png"/><Relationship Id="rId3" Type="http://schemas.openxmlformats.org/officeDocument/2006/relationships/image" Target="../media/image-16-3.png"/><Relationship Id="rId4" Type="http://schemas.openxmlformats.org/officeDocument/2006/relationships/image" Target="../media/image-16-4.png"/><Relationship Id="rId5" Type="http://schemas.openxmlformats.org/officeDocument/2006/relationships/image" Target="../media/image-16-5.png"/><Relationship Id="rId6" Type="http://schemas.openxmlformats.org/officeDocument/2006/relationships/image" Target="../media/image-16-6.png"/><Relationship Id="rId7" Type="http://schemas.openxmlformats.org/officeDocument/2006/relationships/image" Target="../media/image-16-7.png"/><Relationship Id="rId8" Type="http://schemas.openxmlformats.org/officeDocument/2006/relationships/image" Target="../media/image-16-8.png"/><Relationship Id="rId9" Type="http://schemas.openxmlformats.org/officeDocument/2006/relationships/slideLayout" Target="../slideLayouts/slideLayout2.xml"/><Relationship Id="rId10" Type="http://schemas.openxmlformats.org/officeDocument/2006/relationships/notesSlide" Target="../notesSlides/notesSlide16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7-1.png"/><Relationship Id="rId2" Type="http://schemas.openxmlformats.org/officeDocument/2006/relationships/image" Target="../media/image-17-2.png"/><Relationship Id="rId3" Type="http://schemas.openxmlformats.org/officeDocument/2006/relationships/image" Target="../media/image-17-3.png"/><Relationship Id="rId4" Type="http://schemas.openxmlformats.org/officeDocument/2006/relationships/image" Target="../media/image-17-4.png"/><Relationship Id="rId5" Type="http://schemas.openxmlformats.org/officeDocument/2006/relationships/image" Target="../media/image-17-5.png"/><Relationship Id="rId6" Type="http://schemas.openxmlformats.org/officeDocument/2006/relationships/image" Target="../media/image-17-6.png"/><Relationship Id="rId7" Type="http://schemas.openxmlformats.org/officeDocument/2006/relationships/image" Target="../media/image-17-7.png"/><Relationship Id="rId8" Type="http://schemas.openxmlformats.org/officeDocument/2006/relationships/slideLayout" Target="../slideLayouts/slideLayout2.xml"/><Relationship Id="rId9" Type="http://schemas.openxmlformats.org/officeDocument/2006/relationships/notesSlide" Target="../notesSlides/notesSlide17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8-1.png"/><Relationship Id="rId2" Type="http://schemas.openxmlformats.org/officeDocument/2006/relationships/image" Target="../media/image-18-2.png"/><Relationship Id="rId3" Type="http://schemas.openxmlformats.org/officeDocument/2006/relationships/image" Target="../media/image-18-3.png"/><Relationship Id="rId4" Type="http://schemas.openxmlformats.org/officeDocument/2006/relationships/image" Target="../media/image-18-4.png"/><Relationship Id="rId5" Type="http://schemas.openxmlformats.org/officeDocument/2006/relationships/image" Target="../media/image-18-5.png"/><Relationship Id="rId6" Type="http://schemas.openxmlformats.org/officeDocument/2006/relationships/image" Target="../media/image-18-6.png"/><Relationship Id="rId7" Type="http://schemas.openxmlformats.org/officeDocument/2006/relationships/image" Target="../media/image-18-7.png"/><Relationship Id="rId8" Type="http://schemas.openxmlformats.org/officeDocument/2006/relationships/slideLayout" Target="../slideLayouts/slideLayout2.xml"/><Relationship Id="rId9" Type="http://schemas.openxmlformats.org/officeDocument/2006/relationships/notesSlide" Target="../notesSlides/notesSlide18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9-1.png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19.xml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0-1.png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20.xml"/></Relationships>
</file>

<file path=ppt/slides/_rels/slide2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1-1.png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21.xml"/></Relationships>
</file>

<file path=ppt/slides/_rels/slide2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2-1.png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22.xml"/></Relationships>
</file>

<file path=ppt/slides/_rels/slide2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3-1.png"/><Relationship Id="rId2" Type="http://schemas.openxmlformats.org/officeDocument/2006/relationships/image" Target="../media/image-23-2.png"/><Relationship Id="rId3" Type="http://schemas.openxmlformats.org/officeDocument/2006/relationships/slideLayout" Target="../slideLayouts/slideLayout2.xml"/><Relationship Id="rId4" Type="http://schemas.openxmlformats.org/officeDocument/2006/relationships/notesSlide" Target="../notesSlides/notesSlide23.xml"/></Relationships>
</file>

<file path=ppt/slides/_rels/slide2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4-1.png"/><Relationship Id="rId2" Type="http://schemas.openxmlformats.org/officeDocument/2006/relationships/image" Target="../media/image-24-2.png"/><Relationship Id="rId3" Type="http://schemas.openxmlformats.org/officeDocument/2006/relationships/slideLayout" Target="../slideLayouts/slideLayout2.xml"/><Relationship Id="rId4" Type="http://schemas.openxmlformats.org/officeDocument/2006/relationships/notesSlide" Target="../notesSlides/notesSlide24.xml"/></Relationships>
</file>

<file path=ppt/slides/_rels/slide2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5-1.png"/><Relationship Id="rId2" Type="http://schemas.openxmlformats.org/officeDocument/2006/relationships/image" Target="../media/image-25-2.png"/><Relationship Id="rId3" Type="http://schemas.openxmlformats.org/officeDocument/2006/relationships/image" Target="../media/image-25-3.png"/><Relationship Id="rId4" Type="http://schemas.openxmlformats.org/officeDocument/2006/relationships/image" Target="../media/image-25-4.png"/><Relationship Id="rId5" Type="http://schemas.openxmlformats.org/officeDocument/2006/relationships/image" Target="../media/image-25-5.png"/><Relationship Id="rId6" Type="http://schemas.openxmlformats.org/officeDocument/2006/relationships/image" Target="../media/image-25-6.png"/><Relationship Id="rId7" Type="http://schemas.openxmlformats.org/officeDocument/2006/relationships/image" Target="../media/image-25-7.png"/><Relationship Id="rId8" Type="http://schemas.openxmlformats.org/officeDocument/2006/relationships/image" Target="../media/image-25-8.png"/><Relationship Id="rId9" Type="http://schemas.openxmlformats.org/officeDocument/2006/relationships/slideLayout" Target="../slideLayouts/slideLayout2.xml"/><Relationship Id="rId10" Type="http://schemas.openxmlformats.org/officeDocument/2006/relationships/notesSlide" Target="../notesSlides/notesSlide25.xml"/></Relationships>
</file>

<file path=ppt/slides/_rels/slide2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6.xml"/></Relationships>
</file>

<file path=ppt/slides/_rels/slide2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7-1.png"/><Relationship Id="rId2" Type="http://schemas.openxmlformats.org/officeDocument/2006/relationships/image" Target="../media/image-27-2.png"/><Relationship Id="rId3" Type="http://schemas.openxmlformats.org/officeDocument/2006/relationships/image" Target="../media/image-27-3.png"/><Relationship Id="rId4" Type="http://schemas.openxmlformats.org/officeDocument/2006/relationships/image" Target="../media/image-27-4.png"/><Relationship Id="rId5" Type="http://schemas.openxmlformats.org/officeDocument/2006/relationships/image" Target="../media/image-27-5.png"/><Relationship Id="rId6" Type="http://schemas.openxmlformats.org/officeDocument/2006/relationships/image" Target="../media/image-27-6.png"/><Relationship Id="rId7" Type="http://schemas.openxmlformats.org/officeDocument/2006/relationships/image" Target="../media/image-27-7.png"/><Relationship Id="rId8" Type="http://schemas.openxmlformats.org/officeDocument/2006/relationships/image" Target="../media/image-27-8.png"/><Relationship Id="rId9" Type="http://schemas.openxmlformats.org/officeDocument/2006/relationships/image" Target="../media/image-27-9.png"/><Relationship Id="rId10" Type="http://schemas.openxmlformats.org/officeDocument/2006/relationships/image" Target="../media/image-27-10.png"/><Relationship Id="rId11" Type="http://schemas.openxmlformats.org/officeDocument/2006/relationships/slideLayout" Target="../slideLayouts/slideLayout2.xml"/><Relationship Id="rId12" Type="http://schemas.openxmlformats.org/officeDocument/2006/relationships/notesSlide" Target="../notesSlides/notesSlide27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ag"/>
          <p:cNvSpPr/>
          <p:nvPr/>
        </p:nvSpPr>
        <p:spPr>
          <a:xfrm>
            <a:off x="548640" y="640080"/>
            <a:ext cx="2128114" cy="384048"/>
          </a:xfrm>
          <a:prstGeom prst="roundRect">
            <a:avLst>
              <a:gd name="adj" fmla="val 11905"/>
            </a:avLst>
          </a:prstGeom>
          <a:solidFill>
            <a:schemeClr val="accent1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spc="100" kern="0" dirty="0">
                <a:solidFill>
                  <a:srgbClr val="FFFFFF"/>
                </a:solidFill>
              </a:rPr>
              <a:t>MODULE 18 / 32</a:t>
            </a:r>
            <a:endParaRPr lang="en-US" sz="1400" dirty="0"/>
          </a:p>
        </p:txBody>
      </p:sp>
      <p:sp>
        <p:nvSpPr>
          <p:cNvPr id="3" name="Text 1"/>
          <p:cNvSpPr/>
          <p:nvPr>
            <p:ph idx="101" type="title" hasCustomPrompt="1"/>
          </p:nvPr>
        </p:nvSpPr>
        <p:spPr>
          <a:xfrm>
            <a:off x="548640" y="1737360"/>
            <a:ext cx="5669280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algn="l" indent="0" marL="0">
              <a:buNone/>
            </a:pPr>
            <a:r>
              <a:rPr lang="en-US" sz="4200" b="1" dirty="0">
                <a:solidFill>
                  <a:schemeClr val="bg1"/>
                </a:solidFill>
              </a:rPr>
              <a:t>De toekomst</a:t>
            </a:r>
            <a:endParaRPr lang="en-US" sz="4200" dirty="0"/>
          </a:p>
        </p:txBody>
      </p:sp>
      <p:sp>
        <p:nvSpPr>
          <p:cNvPr id="4" name="Text 1"/>
          <p:cNvSpPr/>
          <p:nvPr>
            <p:ph idx="102" type="body" hasCustomPrompt="1"/>
          </p:nvPr>
        </p:nvSpPr>
        <p:spPr>
          <a:xfrm>
            <a:off x="548640" y="3749040"/>
            <a:ext cx="5669280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spcAft>
                <a:spcPts val="1200"/>
              </a:spcAft>
              <a:buNone/>
            </a:pPr>
            <a:r>
              <a:rPr lang="en-US" sz="2000" i="1" dirty="0">
                <a:solidFill>
                  <a:schemeClr val="bg2"/>
                </a:solidFill>
              </a:rPr>
              <a:t>Parler du futur</a:t>
            </a:r>
            <a:endParaRPr lang="en-US" sz="2000" dirty="0"/>
          </a:p>
          <a:p>
            <a:pPr algn="l" indent="0" marL="0">
              <a:buNone/>
            </a:pPr>
            <a:r>
              <a:rPr lang="en-US" sz="2000" b="1" dirty="0">
                <a:solidFill>
                  <a:srgbClr val="FFFFFF"/>
                </a:solidFill>
              </a:rPr>
              <a:t>Morgen werk ik thuis.</a:t>
            </a:r>
            <a:endParaRPr lang="en-US" sz="2000" dirty="0"/>
          </a:p>
        </p:txBody>
      </p:sp>
      <p:pic>
        <p:nvPicPr>
          <p:cNvPr id="5" name="Image 0" descr="tear off calendar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400800" y="914400"/>
            <a:ext cx="1645920" cy="1645920"/>
          </a:xfrm>
          <a:prstGeom prst="rect">
            <a:avLst/>
          </a:prstGeom>
        </p:spPr>
      </p:pic>
      <p:sp>
        <p:nvSpPr>
          <p:cNvPr id="6" name="Shape 3"/>
          <p:cNvSpPr/>
          <p:nvPr/>
        </p:nvSpPr>
        <p:spPr>
          <a:xfrm>
            <a:off x="8275320" y="1417320"/>
            <a:ext cx="1005840" cy="731520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7" name="Text 4"/>
          <p:cNvSpPr txBox="1"/>
          <p:nvPr/>
        </p:nvSpPr>
        <p:spPr>
          <a:xfrm>
            <a:off x="8275320" y="1417320"/>
            <a:ext cx="10058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chemeClr val="tx2"/>
                </a:solidFill>
              </a:rPr>
              <a:t>morgen</a:t>
            </a:r>
            <a:endParaRPr lang="en-US" sz="1200" dirty="0"/>
          </a:p>
        </p:txBody>
      </p:sp>
      <p:sp>
        <p:nvSpPr>
          <p:cNvPr id="8" name="Shape 5"/>
          <p:cNvSpPr/>
          <p:nvPr/>
        </p:nvSpPr>
        <p:spPr>
          <a:xfrm>
            <a:off x="9372600" y="1417320"/>
            <a:ext cx="1005840" cy="731520"/>
          </a:xfrm>
          <a:prstGeom prst="roundRect">
            <a:avLst>
              <a:gd name="adj" fmla="val 10000"/>
            </a:avLst>
          </a:prstGeom>
          <a:solidFill>
            <a:srgbClr val="FFFFFF">
              <a:alpha val="70000"/>
            </a:srgbClr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9" name="Text 6"/>
          <p:cNvSpPr txBox="1"/>
          <p:nvPr/>
        </p:nvSpPr>
        <p:spPr>
          <a:xfrm>
            <a:off x="9372600" y="1417320"/>
            <a:ext cx="10058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chemeClr val="tx2"/>
                </a:solidFill>
              </a:rPr>
              <a:t>volgende week</a:t>
            </a:r>
            <a:endParaRPr lang="en-US" sz="1200" dirty="0"/>
          </a:p>
        </p:txBody>
      </p:sp>
      <p:sp>
        <p:nvSpPr>
          <p:cNvPr id="10" name="Shape 7"/>
          <p:cNvSpPr/>
          <p:nvPr/>
        </p:nvSpPr>
        <p:spPr>
          <a:xfrm>
            <a:off x="10607040" y="1417320"/>
            <a:ext cx="1005840" cy="731520"/>
          </a:xfrm>
          <a:prstGeom prst="roundRect">
            <a:avLst>
              <a:gd name="adj" fmla="val 10000"/>
            </a:avLst>
          </a:prstGeom>
          <a:solidFill>
            <a:srgbClr val="FFFFFF">
              <a:alpha val="40000"/>
            </a:srgbClr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11" name="Text 8"/>
          <p:cNvSpPr txBox="1"/>
          <p:nvPr/>
        </p:nvSpPr>
        <p:spPr>
          <a:xfrm>
            <a:off x="10607040" y="1417320"/>
            <a:ext cx="10058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chemeClr val="tx2"/>
                </a:solidFill>
              </a:rPr>
              <a:t>volgend jaar</a:t>
            </a:r>
            <a:endParaRPr lang="en-US" sz="1200" dirty="0"/>
          </a:p>
        </p:txBody>
      </p:sp>
      <p:sp>
        <p:nvSpPr>
          <p:cNvPr id="12" name="Shape 9"/>
          <p:cNvSpPr/>
          <p:nvPr/>
        </p:nvSpPr>
        <p:spPr>
          <a:xfrm>
            <a:off x="8275320" y="2423160"/>
            <a:ext cx="3291840" cy="914"/>
          </a:xfrm>
          <a:prstGeom prst="line">
            <a:avLst/>
          </a:prstGeom>
          <a:noFill/>
          <a:ln w="38100">
            <a:solidFill>
              <a:srgbClr val="F6C27E"/>
            </a:solidFill>
            <a:prstDash val="solid"/>
            <a:tailEnd type="triangle"/>
          </a:ln>
        </p:spPr>
      </p:sp>
      <p:sp>
        <p:nvSpPr>
          <p:cNvPr id="13" name="Text 10"/>
          <p:cNvSpPr txBox="1"/>
          <p:nvPr/>
        </p:nvSpPr>
        <p:spPr>
          <a:xfrm>
            <a:off x="8275320" y="2514600"/>
            <a:ext cx="32918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400" i="1" dirty="0">
                <a:solidFill>
                  <a:srgbClr val="F6C27E"/>
                </a:solidFill>
              </a:rPr>
              <a:t>le futur</a:t>
            </a:r>
            <a:endParaRPr lang="en-US" sz="1400" dirty="0"/>
          </a:p>
        </p:txBody>
      </p:sp>
      <p:sp>
        <p:nvSpPr>
          <p:cNvPr id="14" name="Shape 11"/>
          <p:cNvSpPr/>
          <p:nvPr/>
        </p:nvSpPr>
        <p:spPr>
          <a:xfrm>
            <a:off x="6355080" y="3337560"/>
            <a:ext cx="5303520" cy="1051560"/>
          </a:xfrm>
          <a:prstGeom prst="roundRect">
            <a:avLst>
              <a:gd name="adj" fmla="val 13043"/>
            </a:avLst>
          </a:prstGeom>
          <a:solidFill>
            <a:srgbClr val="FFFFFF"/>
          </a:solidFill>
          <a:ln w="12700">
            <a:solidFill>
              <a:srgbClr val="FFFFFF">
                <a:alpha val="0"/>
              </a:srgbClr>
            </a:solidFill>
            <a:prstDash val="solid"/>
          </a:ln>
          <a:effectLst>
            <a:outerShdw sx="100000" sy="100000" kx="0" ky="0" algn="bl" rotWithShape="0" blurRad="101600" dist="25400" dir="3600000">
              <a:srgbClr val="000000">
                <a:alpha val="16000"/>
              </a:srgbClr>
            </a:outerShdw>
          </a:effectLst>
        </p:spPr>
      </p:sp>
      <p:sp>
        <p:nvSpPr>
          <p:cNvPr id="15" name="Text 12"/>
          <p:cNvSpPr txBox="1"/>
          <p:nvPr/>
        </p:nvSpPr>
        <p:spPr>
          <a:xfrm>
            <a:off x="6355080" y="3337560"/>
            <a:ext cx="5303520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dirty="0">
                <a:solidFill>
                  <a:schemeClr val="tx1"/>
                </a:solidFill>
                <a:latin typeface="+mj-lt" pitchFamily="34" charset="0"/>
                <a:ea typeface="+mj-lt" pitchFamily="34" charset="-122"/>
                <a:cs typeface="+mj-lt" pitchFamily="34" charset="-120"/>
              </a:rPr>
              <a:t>Wat </a:t>
            </a:r>
            <a:r>
              <a:rPr lang="en-US" sz="2800" b="1" dirty="0">
                <a:solidFill>
                  <a:schemeClr val="accent2"/>
                </a:solidFill>
                <a:latin typeface="+mj-lt" pitchFamily="34" charset="0"/>
                <a:ea typeface="+mj-lt" pitchFamily="34" charset="-122"/>
                <a:cs typeface="+mj-lt" pitchFamily="34" charset="-120"/>
              </a:rPr>
              <a:t>ga</a:t>
            </a:r>
            <a:r>
              <a:rPr lang="en-US" sz="2800" dirty="0">
                <a:solidFill>
                  <a:schemeClr val="tx1"/>
                </a:solidFill>
                <a:latin typeface="+mj-lt" pitchFamily="34" charset="0"/>
                <a:ea typeface="+mj-lt" pitchFamily="34" charset="-122"/>
                <a:cs typeface="+mj-lt" pitchFamily="34" charset="-120"/>
              </a:rPr>
              <a:t> je morgen </a:t>
            </a:r>
            <a:r>
              <a:rPr lang="en-US" sz="2800" b="1" dirty="0">
                <a:solidFill>
                  <a:schemeClr val="accent6"/>
                </a:solidFill>
                <a:latin typeface="+mj-lt" pitchFamily="34" charset="0"/>
                <a:ea typeface="+mj-lt" pitchFamily="34" charset="-122"/>
                <a:cs typeface="+mj-lt" pitchFamily="34" charset="-120"/>
              </a:rPr>
              <a:t>doen</a:t>
            </a:r>
            <a:r>
              <a:rPr lang="en-US" sz="2800" dirty="0">
                <a:solidFill>
                  <a:schemeClr val="tx1"/>
                </a:solidFill>
                <a:latin typeface="+mj-lt" pitchFamily="34" charset="0"/>
                <a:ea typeface="+mj-lt" pitchFamily="34" charset="-122"/>
                <a:cs typeface="+mj-lt" pitchFamily="34" charset="-120"/>
              </a:rPr>
              <a:t>?</a:t>
            </a:r>
            <a:endParaRPr lang="en-US" sz="28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548640" y="621792"/>
            <a:ext cx="11091672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chemeClr val="tx2"/>
                </a:solidFill>
              </a:rPr>
              <a:t>Missie van vandaag</a:t>
            </a:r>
            <a:endParaRPr lang="en-US" sz="3000" dirty="0"/>
          </a:p>
        </p:txBody>
      </p:sp>
      <p:sp>
        <p:nvSpPr>
          <p:cNvPr id="3" name="tag"/>
          <p:cNvSpPr/>
          <p:nvPr/>
        </p:nvSpPr>
        <p:spPr>
          <a:xfrm>
            <a:off x="548640" y="237744"/>
            <a:ext cx="1013155" cy="310896"/>
          </a:xfrm>
          <a:prstGeom prst="roundRect">
            <a:avLst>
              <a:gd name="adj" fmla="val 14706"/>
            </a:avLst>
          </a:prstGeom>
          <a:solidFill>
            <a:schemeClr val="tx2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spc="100" kern="0" dirty="0">
                <a:solidFill>
                  <a:srgbClr val="FFFFFF"/>
                </a:solidFill>
              </a:rPr>
              <a:t>MISSIE</a:t>
            </a:r>
            <a:endParaRPr lang="en-US" sz="1200" dirty="0"/>
          </a:p>
        </p:txBody>
      </p:sp>
      <p:sp>
        <p:nvSpPr>
          <p:cNvPr id="5" name="Shape 2"/>
          <p:cNvSpPr/>
          <p:nvPr/>
        </p:nvSpPr>
        <p:spPr>
          <a:xfrm>
            <a:off x="548640" y="1554480"/>
            <a:ext cx="2865120" cy="3931920"/>
          </a:xfrm>
          <a:prstGeom prst="roundRect">
            <a:avLst>
              <a:gd name="adj" fmla="val 2553"/>
            </a:avLst>
          </a:prstGeom>
          <a:solidFill>
            <a:schemeClr val="bg2"/>
          </a:solidFill>
          <a:ln w="12700">
            <a:solidFill>
              <a:srgbClr val="D5DCE6"/>
            </a:solidFill>
            <a:prstDash val="solid"/>
          </a:ln>
        </p:spPr>
      </p:sp>
      <p:sp>
        <p:nvSpPr>
          <p:cNvPr id="6" name="Shape 3"/>
          <p:cNvSpPr/>
          <p:nvPr/>
        </p:nvSpPr>
        <p:spPr>
          <a:xfrm>
            <a:off x="1524000" y="1874520"/>
            <a:ext cx="914400" cy="914400"/>
          </a:xfrm>
          <a:prstGeom prst="ellipse">
            <a:avLst/>
          </a:prstGeom>
          <a:solidFill>
            <a:schemeClr val="accent3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pic>
        <p:nvPicPr>
          <p:cNvPr id="7" name="Image 0" descr="CalendarAlt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743456" y="2093976"/>
            <a:ext cx="475488" cy="475488"/>
          </a:xfrm>
          <a:prstGeom prst="rect">
            <a:avLst/>
          </a:prstGeom>
        </p:spPr>
      </p:pic>
      <p:sp>
        <p:nvSpPr>
          <p:cNvPr id="8" name="Text 4"/>
          <p:cNvSpPr txBox="1"/>
          <p:nvPr/>
        </p:nvSpPr>
        <p:spPr>
          <a:xfrm>
            <a:off x="731520" y="2926080"/>
            <a:ext cx="24993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chemeClr val="accent3"/>
                </a:solidFill>
                <a:latin typeface="+mj-lt" pitchFamily="34" charset="0"/>
                <a:ea typeface="+mj-lt" pitchFamily="34" charset="-122"/>
                <a:cs typeface="+mj-lt" pitchFamily="34" charset="-120"/>
              </a:rPr>
              <a:t>Planifier</a:t>
            </a:r>
            <a:endParaRPr lang="en-US" sz="2400" dirty="0"/>
          </a:p>
        </p:txBody>
      </p:sp>
      <p:sp>
        <p:nvSpPr>
          <p:cNvPr id="9" name="Text 5"/>
          <p:cNvSpPr txBox="1"/>
          <p:nvPr/>
        </p:nvSpPr>
        <p:spPr>
          <a:xfrm>
            <a:off x="777240" y="3566160"/>
            <a:ext cx="240792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2000" dirty="0">
                <a:solidFill>
                  <a:schemeClr val="tx1"/>
                </a:solidFill>
              </a:rPr>
              <a:t>Je parle de mon agenda : </a:t>
            </a:r>
            <a:r>
              <a:rPr lang="en-US" sz="2000" i="1" dirty="0">
                <a:solidFill>
                  <a:schemeClr val="tx1"/>
                </a:solidFill>
              </a:rPr>
              <a:t>Maandag heb ik een vergadering.</a:t>
            </a:r>
            <a:endParaRPr lang="en-US" sz="2000" dirty="0"/>
          </a:p>
        </p:txBody>
      </p:sp>
      <p:sp>
        <p:nvSpPr>
          <p:cNvPr id="10" name="Shape 6"/>
          <p:cNvSpPr/>
          <p:nvPr/>
        </p:nvSpPr>
        <p:spPr>
          <a:xfrm>
            <a:off x="3688080" y="1554480"/>
            <a:ext cx="2865120" cy="3931920"/>
          </a:xfrm>
          <a:prstGeom prst="roundRect">
            <a:avLst>
              <a:gd name="adj" fmla="val 2553"/>
            </a:avLst>
          </a:prstGeom>
          <a:solidFill>
            <a:schemeClr val="bg2"/>
          </a:solidFill>
          <a:ln w="12700">
            <a:solidFill>
              <a:srgbClr val="D5DCE6"/>
            </a:solidFill>
            <a:prstDash val="solid"/>
          </a:ln>
        </p:spPr>
      </p:sp>
      <p:sp>
        <p:nvSpPr>
          <p:cNvPr id="11" name="Shape 7"/>
          <p:cNvSpPr/>
          <p:nvPr/>
        </p:nvSpPr>
        <p:spPr>
          <a:xfrm>
            <a:off x="4663440" y="1874520"/>
            <a:ext cx="914400" cy="914400"/>
          </a:xfrm>
          <a:prstGeom prst="ellipse">
            <a:avLst/>
          </a:prstGeom>
          <a:solidFill>
            <a:schemeClr val="accent2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pic>
        <p:nvPicPr>
          <p:cNvPr id="12" name="Image 1" descr="ArrowRight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882896" y="2093976"/>
            <a:ext cx="475488" cy="475488"/>
          </a:xfrm>
          <a:prstGeom prst="rect">
            <a:avLst/>
          </a:prstGeom>
        </p:spPr>
      </p:pic>
      <p:sp>
        <p:nvSpPr>
          <p:cNvPr id="13" name="Text 8"/>
          <p:cNvSpPr txBox="1"/>
          <p:nvPr/>
        </p:nvSpPr>
        <p:spPr>
          <a:xfrm>
            <a:off x="3870960" y="2926080"/>
            <a:ext cx="24993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chemeClr val="accent2"/>
                </a:solidFill>
                <a:latin typeface="+mj-lt" pitchFamily="34" charset="0"/>
                <a:ea typeface="+mj-lt" pitchFamily="34" charset="-122"/>
                <a:cs typeface="+mj-lt" pitchFamily="34" charset="-120"/>
              </a:rPr>
              <a:t>Annoncer</a:t>
            </a:r>
            <a:endParaRPr lang="en-US" sz="2400" dirty="0"/>
          </a:p>
        </p:txBody>
      </p:sp>
      <p:sp>
        <p:nvSpPr>
          <p:cNvPr id="14" name="Text 9"/>
          <p:cNvSpPr txBox="1"/>
          <p:nvPr/>
        </p:nvSpPr>
        <p:spPr>
          <a:xfrm>
            <a:off x="3916680" y="3566160"/>
            <a:ext cx="240792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2000" dirty="0">
                <a:solidFill>
                  <a:schemeClr val="tx1"/>
                </a:solidFill>
              </a:rPr>
              <a:t>J’annonce un projet : </a:t>
            </a:r>
            <a:r>
              <a:rPr lang="en-US" sz="2000" i="1" dirty="0">
                <a:solidFill>
                  <a:schemeClr val="tx1"/>
                </a:solidFill>
              </a:rPr>
              <a:t>Ik ga verhuizen.</a:t>
            </a:r>
            <a:endParaRPr lang="en-US" sz="2000" dirty="0"/>
          </a:p>
        </p:txBody>
      </p:sp>
      <p:sp>
        <p:nvSpPr>
          <p:cNvPr id="15" name="Shape 10"/>
          <p:cNvSpPr/>
          <p:nvPr/>
        </p:nvSpPr>
        <p:spPr>
          <a:xfrm>
            <a:off x="6827520" y="1554480"/>
            <a:ext cx="2865120" cy="3931920"/>
          </a:xfrm>
          <a:prstGeom prst="roundRect">
            <a:avLst>
              <a:gd name="adj" fmla="val 2553"/>
            </a:avLst>
          </a:prstGeom>
          <a:solidFill>
            <a:schemeClr val="bg2"/>
          </a:solidFill>
          <a:ln w="12700">
            <a:solidFill>
              <a:srgbClr val="D5DCE6"/>
            </a:solidFill>
            <a:prstDash val="solid"/>
          </a:ln>
        </p:spPr>
      </p:sp>
      <p:sp>
        <p:nvSpPr>
          <p:cNvPr id="16" name="Shape 11"/>
          <p:cNvSpPr/>
          <p:nvPr/>
        </p:nvSpPr>
        <p:spPr>
          <a:xfrm>
            <a:off x="7802880" y="1874520"/>
            <a:ext cx="914400" cy="914400"/>
          </a:xfrm>
          <a:prstGeom prst="ellipse">
            <a:avLst/>
          </a:prstGeom>
          <a:solidFill>
            <a:srgbClr val="6E4A9E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pic>
        <p:nvPicPr>
          <p:cNvPr id="17" name="Image 2" descr="Handshake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022336" y="2093976"/>
            <a:ext cx="475488" cy="475488"/>
          </a:xfrm>
          <a:prstGeom prst="rect">
            <a:avLst/>
          </a:prstGeom>
        </p:spPr>
      </p:pic>
      <p:sp>
        <p:nvSpPr>
          <p:cNvPr id="18" name="Text 12"/>
          <p:cNvSpPr txBox="1"/>
          <p:nvPr/>
        </p:nvSpPr>
        <p:spPr>
          <a:xfrm>
            <a:off x="7010400" y="2926080"/>
            <a:ext cx="24993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6E4A9E"/>
                </a:solidFill>
                <a:latin typeface="+mj-lt" pitchFamily="34" charset="0"/>
                <a:ea typeface="+mj-lt" pitchFamily="34" charset="-122"/>
                <a:cs typeface="+mj-lt" pitchFamily="34" charset="-120"/>
              </a:rPr>
              <a:t>Promettre</a:t>
            </a:r>
            <a:endParaRPr lang="en-US" sz="2400" dirty="0"/>
          </a:p>
        </p:txBody>
      </p:sp>
      <p:sp>
        <p:nvSpPr>
          <p:cNvPr id="19" name="Text 13"/>
          <p:cNvSpPr txBox="1"/>
          <p:nvPr/>
        </p:nvSpPr>
        <p:spPr>
          <a:xfrm>
            <a:off x="7056120" y="3566160"/>
            <a:ext cx="240792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2000" dirty="0">
                <a:solidFill>
                  <a:schemeClr val="tx1"/>
                </a:solidFill>
              </a:rPr>
              <a:t>Je promets et je propose : </a:t>
            </a:r>
            <a:r>
              <a:rPr lang="en-US" sz="2000" i="1" dirty="0">
                <a:solidFill>
                  <a:schemeClr val="tx1"/>
                </a:solidFill>
              </a:rPr>
              <a:t>Ik zal je helpen. Zullen we gaan?</a:t>
            </a:r>
            <a:endParaRPr lang="en-US" sz="2000" dirty="0"/>
          </a:p>
        </p:txBody>
      </p:sp>
      <p:pic>
        <p:nvPicPr>
          <p:cNvPr id="20" name="Image 3" descr="man teacher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9921240" y="1737360"/>
            <a:ext cx="1737360" cy="1737360"/>
          </a:xfrm>
          <a:prstGeom prst="rect">
            <a:avLst/>
          </a:prstGeom>
        </p:spPr>
      </p:pic>
      <p:pic>
        <p:nvPicPr>
          <p:cNvPr id="21" name="Image 4" descr="speech balloon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0881360" y="1463040"/>
            <a:ext cx="731520" cy="731520"/>
          </a:xfrm>
          <a:prstGeom prst="rect">
            <a:avLst/>
          </a:prstGeom>
        </p:spPr>
      </p:pic>
      <p:sp>
        <p:nvSpPr>
          <p:cNvPr id="22" name="Shape 14"/>
          <p:cNvSpPr/>
          <p:nvPr/>
        </p:nvSpPr>
        <p:spPr>
          <a:xfrm>
            <a:off x="548640" y="5669280"/>
            <a:ext cx="11091672" cy="566928"/>
          </a:xfrm>
          <a:prstGeom prst="roundRect">
            <a:avLst>
              <a:gd name="adj" fmla="val 12903"/>
            </a:avLst>
          </a:prstGeom>
          <a:solidFill>
            <a:schemeClr val="bg2"/>
          </a:solidFill>
          <a:ln w="9525">
            <a:solidFill>
              <a:srgbClr val="17375E"/>
            </a:solidFill>
            <a:prstDash val="solid"/>
          </a:ln>
        </p:spPr>
      </p:sp>
      <p:pic>
        <p:nvPicPr>
          <p:cNvPr id="23" name="Image 5" descr="Lightbulb">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731520" y="5788152"/>
            <a:ext cx="329184" cy="329184"/>
          </a:xfrm>
          <a:prstGeom prst="rect">
            <a:avLst/>
          </a:prstGeom>
        </p:spPr>
      </p:pic>
      <p:sp>
        <p:nvSpPr>
          <p:cNvPr id="24" name="Text 15"/>
          <p:cNvSpPr txBox="1"/>
          <p:nvPr/>
        </p:nvSpPr>
        <p:spPr>
          <a:xfrm>
            <a:off x="1188720" y="5669280"/>
            <a:ext cx="1024128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700" dirty="0">
                <a:solidFill>
                  <a:schemeClr val="tx1"/>
                </a:solidFill>
              </a:rPr>
              <a:t>Au bureau, on planifie, on s’engage, on propose : trois besoins, trois outils.</a:t>
            </a:r>
            <a:endParaRPr lang="en-US" sz="17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1672" y="644652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4A5A70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2</a:t>
            </a:fld>
            <a:endParaRPr lang="en-US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548640" y="621792"/>
            <a:ext cx="11091672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chemeClr val="tx2"/>
                </a:solidFill>
              </a:rPr>
              <a:t>Échauffement — l’agenda de Sofie</a:t>
            </a:r>
            <a:endParaRPr lang="en-US" sz="3000" dirty="0"/>
          </a:p>
        </p:txBody>
      </p:sp>
      <p:sp>
        <p:nvSpPr>
          <p:cNvPr id="3" name="tag"/>
          <p:cNvSpPr/>
          <p:nvPr/>
        </p:nvSpPr>
        <p:spPr>
          <a:xfrm>
            <a:off x="548640" y="237744"/>
            <a:ext cx="1770278" cy="310896"/>
          </a:xfrm>
          <a:prstGeom prst="roundRect">
            <a:avLst>
              <a:gd name="adj" fmla="val 14706"/>
            </a:avLst>
          </a:prstGeom>
          <a:solidFill>
            <a:schemeClr val="accent2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spc="100" kern="0" dirty="0">
                <a:solidFill>
                  <a:srgbClr val="FFFFFF"/>
                </a:solidFill>
              </a:rPr>
              <a:t>ÉCHAUFFEMENT</a:t>
            </a:r>
            <a:endParaRPr lang="en-US" sz="1200" dirty="0"/>
          </a:p>
        </p:txBody>
      </p:sp>
      <p:sp>
        <p:nvSpPr>
          <p:cNvPr id="5" name="Shape 2"/>
          <p:cNvSpPr/>
          <p:nvPr/>
        </p:nvSpPr>
        <p:spPr>
          <a:xfrm>
            <a:off x="548640" y="1554480"/>
            <a:ext cx="5760720" cy="4709160"/>
          </a:xfrm>
          <a:prstGeom prst="roundRect">
            <a:avLst>
              <a:gd name="adj" fmla="val 777"/>
            </a:avLst>
          </a:prstGeom>
          <a:solidFill>
            <a:srgbClr val="FFFFFF"/>
          </a:solidFill>
          <a:ln w="15875">
            <a:solidFill>
              <a:srgbClr val="4A5A70"/>
            </a:solidFill>
            <a:prstDash val="solid"/>
          </a:ln>
          <a:effectLst>
            <a:outerShdw sx="100000" sy="100000" kx="0" ky="0" algn="bl" rotWithShape="0" blurRad="101600" dist="25400" dir="3600000">
              <a:srgbClr val="000000">
                <a:alpha val="16000"/>
              </a:srgbClr>
            </a:outerShdw>
          </a:effectLst>
        </p:spPr>
      </p:sp>
      <p:sp>
        <p:nvSpPr>
          <p:cNvPr id="6" name="Shape 3"/>
          <p:cNvSpPr/>
          <p:nvPr/>
        </p:nvSpPr>
        <p:spPr>
          <a:xfrm>
            <a:off x="548640" y="1554480"/>
            <a:ext cx="5760720" cy="502920"/>
          </a:xfrm>
          <a:prstGeom prst="roundRect">
            <a:avLst>
              <a:gd name="adj" fmla="val 7273"/>
            </a:avLst>
          </a:prstGeom>
          <a:solidFill>
            <a:schemeClr val="tx2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pic>
        <p:nvPicPr>
          <p:cNvPr id="7" name="Image 0" descr="spiral calendar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85800" y="1609344"/>
            <a:ext cx="402336" cy="402336"/>
          </a:xfrm>
          <a:prstGeom prst="rect">
            <a:avLst/>
          </a:prstGeom>
        </p:spPr>
      </p:pic>
      <p:sp>
        <p:nvSpPr>
          <p:cNvPr id="8" name="Text 4"/>
          <p:cNvSpPr txBox="1"/>
          <p:nvPr/>
        </p:nvSpPr>
        <p:spPr>
          <a:xfrm>
            <a:off x="1188720" y="1554480"/>
            <a:ext cx="49377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00" b="1" spc="100" kern="0" dirty="0">
                <a:solidFill>
                  <a:schemeClr val="bg1"/>
                </a:solidFill>
              </a:rPr>
              <a:t>SOFIE · VOLGENDE WEEK</a:t>
            </a:r>
            <a:endParaRPr lang="en-US" sz="1400" dirty="0"/>
          </a:p>
        </p:txBody>
      </p:sp>
      <p:sp>
        <p:nvSpPr>
          <p:cNvPr id="9" name="Shape 5"/>
          <p:cNvSpPr/>
          <p:nvPr/>
        </p:nvSpPr>
        <p:spPr>
          <a:xfrm>
            <a:off x="685800" y="2340864"/>
            <a:ext cx="1188720" cy="347472"/>
          </a:xfrm>
          <a:prstGeom prst="roundRect">
            <a:avLst>
              <a:gd name="adj" fmla="val 15789"/>
            </a:avLst>
          </a:prstGeom>
          <a:solidFill>
            <a:schemeClr val="accent1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10" name="Text 6"/>
          <p:cNvSpPr txBox="1"/>
          <p:nvPr/>
        </p:nvSpPr>
        <p:spPr>
          <a:xfrm>
            <a:off x="685800" y="2340864"/>
            <a:ext cx="118872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chemeClr val="bg1"/>
                </a:solidFill>
              </a:rPr>
              <a:t>maandag</a:t>
            </a:r>
            <a:endParaRPr lang="en-US" sz="1200" dirty="0"/>
          </a:p>
        </p:txBody>
      </p:sp>
      <p:sp>
        <p:nvSpPr>
          <p:cNvPr id="11" name="Text 7"/>
          <p:cNvSpPr txBox="1"/>
          <p:nvPr/>
        </p:nvSpPr>
        <p:spPr>
          <a:xfrm>
            <a:off x="2011680" y="2103120"/>
            <a:ext cx="361188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i="1" dirty="0">
                <a:solidFill>
                  <a:schemeClr val="tx1"/>
                </a:solidFill>
              </a:rPr>
              <a:t>9.00 vergadering met An</a:t>
            </a:r>
            <a:endParaRPr lang="en-US" sz="1600" dirty="0"/>
          </a:p>
        </p:txBody>
      </p:sp>
      <p:pic>
        <p:nvPicPr>
          <p:cNvPr id="12" name="Image 1" descr="busts in silhouette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687568" y="2286000"/>
            <a:ext cx="457200" cy="457200"/>
          </a:xfrm>
          <a:prstGeom prst="rect">
            <a:avLst/>
          </a:prstGeom>
        </p:spPr>
      </p:pic>
      <p:sp>
        <p:nvSpPr>
          <p:cNvPr id="13" name="Shape 8"/>
          <p:cNvSpPr/>
          <p:nvPr/>
        </p:nvSpPr>
        <p:spPr>
          <a:xfrm>
            <a:off x="685800" y="2926080"/>
            <a:ext cx="5486400" cy="914"/>
          </a:xfrm>
          <a:prstGeom prst="line">
            <a:avLst/>
          </a:prstGeom>
          <a:noFill/>
          <a:ln w="12700">
            <a:solidFill>
              <a:srgbClr val="E2E6EC"/>
            </a:solidFill>
            <a:prstDash val="solid"/>
          </a:ln>
        </p:spPr>
      </p:sp>
      <p:sp>
        <p:nvSpPr>
          <p:cNvPr id="14" name="Shape 9"/>
          <p:cNvSpPr/>
          <p:nvPr/>
        </p:nvSpPr>
        <p:spPr>
          <a:xfrm>
            <a:off x="685800" y="3163824"/>
            <a:ext cx="1188720" cy="347472"/>
          </a:xfrm>
          <a:prstGeom prst="roundRect">
            <a:avLst>
              <a:gd name="adj" fmla="val 15789"/>
            </a:avLst>
          </a:prstGeom>
          <a:solidFill>
            <a:schemeClr val="accent1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15" name="Text 10"/>
          <p:cNvSpPr txBox="1"/>
          <p:nvPr/>
        </p:nvSpPr>
        <p:spPr>
          <a:xfrm>
            <a:off x="685800" y="3163824"/>
            <a:ext cx="118872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chemeClr val="bg1"/>
                </a:solidFill>
              </a:rPr>
              <a:t>dinsdag</a:t>
            </a:r>
            <a:endParaRPr lang="en-US" sz="1200" dirty="0"/>
          </a:p>
        </p:txBody>
      </p:sp>
      <p:sp>
        <p:nvSpPr>
          <p:cNvPr id="16" name="Text 11"/>
          <p:cNvSpPr txBox="1"/>
          <p:nvPr/>
        </p:nvSpPr>
        <p:spPr>
          <a:xfrm>
            <a:off x="2011680" y="2926080"/>
            <a:ext cx="361188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i="1" dirty="0">
                <a:solidFill>
                  <a:schemeClr val="tx1"/>
                </a:solidFill>
              </a:rPr>
              <a:t>thuiswerken</a:t>
            </a:r>
            <a:endParaRPr lang="en-US" sz="1600" dirty="0"/>
          </a:p>
        </p:txBody>
      </p:sp>
      <p:pic>
        <p:nvPicPr>
          <p:cNvPr id="17" name="Image 2" descr="house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687568" y="3108960"/>
            <a:ext cx="457200" cy="457200"/>
          </a:xfrm>
          <a:prstGeom prst="rect">
            <a:avLst/>
          </a:prstGeom>
        </p:spPr>
      </p:pic>
      <p:sp>
        <p:nvSpPr>
          <p:cNvPr id="18" name="Shape 12"/>
          <p:cNvSpPr/>
          <p:nvPr/>
        </p:nvSpPr>
        <p:spPr>
          <a:xfrm>
            <a:off x="685800" y="3749040"/>
            <a:ext cx="5486400" cy="914"/>
          </a:xfrm>
          <a:prstGeom prst="line">
            <a:avLst/>
          </a:prstGeom>
          <a:noFill/>
          <a:ln w="12700">
            <a:solidFill>
              <a:srgbClr val="E2E6EC"/>
            </a:solidFill>
            <a:prstDash val="solid"/>
          </a:ln>
        </p:spPr>
      </p:sp>
      <p:sp>
        <p:nvSpPr>
          <p:cNvPr id="19" name="Shape 13"/>
          <p:cNvSpPr/>
          <p:nvPr/>
        </p:nvSpPr>
        <p:spPr>
          <a:xfrm>
            <a:off x="685800" y="3986784"/>
            <a:ext cx="1188720" cy="347472"/>
          </a:xfrm>
          <a:prstGeom prst="roundRect">
            <a:avLst>
              <a:gd name="adj" fmla="val 15789"/>
            </a:avLst>
          </a:prstGeom>
          <a:solidFill>
            <a:schemeClr val="accent1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20" name="Text 14"/>
          <p:cNvSpPr txBox="1"/>
          <p:nvPr/>
        </p:nvSpPr>
        <p:spPr>
          <a:xfrm>
            <a:off x="685800" y="3986784"/>
            <a:ext cx="118872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chemeClr val="bg1"/>
                </a:solidFill>
              </a:rPr>
              <a:t>woensdag</a:t>
            </a:r>
            <a:endParaRPr lang="en-US" sz="1200" dirty="0"/>
          </a:p>
        </p:txBody>
      </p:sp>
      <p:sp>
        <p:nvSpPr>
          <p:cNvPr id="21" name="Text 15"/>
          <p:cNvSpPr txBox="1"/>
          <p:nvPr/>
        </p:nvSpPr>
        <p:spPr>
          <a:xfrm>
            <a:off x="2011680" y="3749040"/>
            <a:ext cx="361188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i="1" dirty="0">
                <a:solidFill>
                  <a:schemeClr val="tx1"/>
                </a:solidFill>
              </a:rPr>
              <a:t>14.00 gesprek met een kandidaat</a:t>
            </a:r>
            <a:endParaRPr lang="en-US" sz="1600" dirty="0"/>
          </a:p>
        </p:txBody>
      </p:sp>
      <p:pic>
        <p:nvPicPr>
          <p:cNvPr id="22" name="Image 3" descr="handshake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687568" y="3931920"/>
            <a:ext cx="457200" cy="457200"/>
          </a:xfrm>
          <a:prstGeom prst="rect">
            <a:avLst/>
          </a:prstGeom>
        </p:spPr>
      </p:pic>
      <p:sp>
        <p:nvSpPr>
          <p:cNvPr id="23" name="Shape 16"/>
          <p:cNvSpPr/>
          <p:nvPr/>
        </p:nvSpPr>
        <p:spPr>
          <a:xfrm>
            <a:off x="685800" y="4572000"/>
            <a:ext cx="5486400" cy="914"/>
          </a:xfrm>
          <a:prstGeom prst="line">
            <a:avLst/>
          </a:prstGeom>
          <a:noFill/>
          <a:ln w="12700">
            <a:solidFill>
              <a:srgbClr val="E2E6EC"/>
            </a:solidFill>
            <a:prstDash val="solid"/>
          </a:ln>
        </p:spPr>
      </p:sp>
      <p:sp>
        <p:nvSpPr>
          <p:cNvPr id="24" name="Shape 17"/>
          <p:cNvSpPr/>
          <p:nvPr/>
        </p:nvSpPr>
        <p:spPr>
          <a:xfrm>
            <a:off x="685800" y="4809744"/>
            <a:ext cx="1188720" cy="347472"/>
          </a:xfrm>
          <a:prstGeom prst="roundRect">
            <a:avLst>
              <a:gd name="adj" fmla="val 15789"/>
            </a:avLst>
          </a:prstGeom>
          <a:solidFill>
            <a:schemeClr val="accent1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25" name="Text 18"/>
          <p:cNvSpPr txBox="1"/>
          <p:nvPr/>
        </p:nvSpPr>
        <p:spPr>
          <a:xfrm>
            <a:off x="685800" y="4809744"/>
            <a:ext cx="118872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chemeClr val="bg1"/>
                </a:solidFill>
              </a:rPr>
              <a:t>donderdag</a:t>
            </a:r>
            <a:endParaRPr lang="en-US" sz="1200" dirty="0"/>
          </a:p>
        </p:txBody>
      </p:sp>
      <p:sp>
        <p:nvSpPr>
          <p:cNvPr id="26" name="Text 19"/>
          <p:cNvSpPr txBox="1"/>
          <p:nvPr/>
        </p:nvSpPr>
        <p:spPr>
          <a:xfrm>
            <a:off x="2011680" y="4572000"/>
            <a:ext cx="361188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i="1" dirty="0">
                <a:solidFill>
                  <a:schemeClr val="tx1"/>
                </a:solidFill>
              </a:rPr>
              <a:t>klant in Antwerpen</a:t>
            </a:r>
            <a:endParaRPr lang="en-US" sz="1600" dirty="0"/>
          </a:p>
        </p:txBody>
      </p:sp>
      <p:pic>
        <p:nvPicPr>
          <p:cNvPr id="27" name="Image 4" descr="train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5687568" y="4754880"/>
            <a:ext cx="457200" cy="457200"/>
          </a:xfrm>
          <a:prstGeom prst="rect">
            <a:avLst/>
          </a:prstGeom>
        </p:spPr>
      </p:pic>
      <p:sp>
        <p:nvSpPr>
          <p:cNvPr id="28" name="Shape 20"/>
          <p:cNvSpPr/>
          <p:nvPr/>
        </p:nvSpPr>
        <p:spPr>
          <a:xfrm>
            <a:off x="685800" y="5394960"/>
            <a:ext cx="5486400" cy="914"/>
          </a:xfrm>
          <a:prstGeom prst="line">
            <a:avLst/>
          </a:prstGeom>
          <a:noFill/>
          <a:ln w="12700">
            <a:solidFill>
              <a:srgbClr val="E2E6EC"/>
            </a:solidFill>
            <a:prstDash val="solid"/>
          </a:ln>
        </p:spPr>
      </p:sp>
      <p:sp>
        <p:nvSpPr>
          <p:cNvPr id="29" name="Shape 21"/>
          <p:cNvSpPr/>
          <p:nvPr/>
        </p:nvSpPr>
        <p:spPr>
          <a:xfrm>
            <a:off x="685800" y="5632704"/>
            <a:ext cx="1188720" cy="347472"/>
          </a:xfrm>
          <a:prstGeom prst="roundRect">
            <a:avLst>
              <a:gd name="adj" fmla="val 15789"/>
            </a:avLst>
          </a:prstGeom>
          <a:solidFill>
            <a:schemeClr val="accent1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30" name="Text 22"/>
          <p:cNvSpPr txBox="1"/>
          <p:nvPr/>
        </p:nvSpPr>
        <p:spPr>
          <a:xfrm>
            <a:off x="685800" y="5632704"/>
            <a:ext cx="118872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chemeClr val="bg1"/>
                </a:solidFill>
              </a:rPr>
              <a:t>vrijdag</a:t>
            </a:r>
            <a:endParaRPr lang="en-US" sz="1200" dirty="0"/>
          </a:p>
        </p:txBody>
      </p:sp>
      <p:sp>
        <p:nvSpPr>
          <p:cNvPr id="31" name="Text 23"/>
          <p:cNvSpPr txBox="1"/>
          <p:nvPr/>
        </p:nvSpPr>
        <p:spPr>
          <a:xfrm>
            <a:off x="2011680" y="5394960"/>
            <a:ext cx="361188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i="1" dirty="0">
                <a:solidFill>
                  <a:schemeClr val="tx1"/>
                </a:solidFill>
              </a:rPr>
              <a:t>17.00 afscheidsdrink van Jan</a:t>
            </a:r>
            <a:endParaRPr lang="en-US" sz="1600" dirty="0"/>
          </a:p>
        </p:txBody>
      </p:sp>
      <p:pic>
        <p:nvPicPr>
          <p:cNvPr id="32" name="Image 5" descr="clinking glasses">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5687568" y="5577840"/>
            <a:ext cx="457200" cy="457200"/>
          </a:xfrm>
          <a:prstGeom prst="rect">
            <a:avLst/>
          </a:prstGeom>
        </p:spPr>
      </p:pic>
      <p:sp>
        <p:nvSpPr>
          <p:cNvPr id="33" name="Shape 24"/>
          <p:cNvSpPr/>
          <p:nvPr/>
        </p:nvSpPr>
        <p:spPr>
          <a:xfrm>
            <a:off x="6583680" y="1554480"/>
            <a:ext cx="5056632" cy="640080"/>
          </a:xfrm>
          <a:prstGeom prst="roundRect">
            <a:avLst>
              <a:gd name="adj" fmla="val 25714"/>
            </a:avLst>
          </a:prstGeom>
          <a:solidFill>
            <a:schemeClr val="accent2">
              <a:alpha val="12000"/>
            </a:schemeClr>
          </a:solidFill>
          <a:ln w="15875">
            <a:solidFill>
              <a:srgbClr val="2A6FB0"/>
            </a:solidFill>
            <a:prstDash val="solid"/>
          </a:ln>
        </p:spPr>
      </p:sp>
      <p:sp>
        <p:nvSpPr>
          <p:cNvPr id="34" name="Text 25"/>
          <p:cNvSpPr txBox="1"/>
          <p:nvPr/>
        </p:nvSpPr>
        <p:spPr>
          <a:xfrm>
            <a:off x="6748272" y="1554480"/>
            <a:ext cx="4727448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800" i="1" dirty="0">
                <a:solidFill>
                  <a:schemeClr val="tx1"/>
                </a:solidFill>
              </a:rPr>
              <a:t>Wat doet Sofie maandag?</a:t>
            </a:r>
            <a:endParaRPr lang="en-US" sz="1800" dirty="0"/>
          </a:p>
        </p:txBody>
      </p:sp>
      <p:sp>
        <p:nvSpPr>
          <p:cNvPr id="35" name="Shape 26"/>
          <p:cNvSpPr/>
          <p:nvPr/>
        </p:nvSpPr>
        <p:spPr>
          <a:xfrm>
            <a:off x="6949440" y="2286000"/>
            <a:ext cx="4690872" cy="731520"/>
          </a:xfrm>
          <a:prstGeom prst="roundRect">
            <a:avLst>
              <a:gd name="adj" fmla="val 22500"/>
            </a:avLst>
          </a:prstGeom>
          <a:solidFill>
            <a:schemeClr val="accent3">
              <a:alpha val="12000"/>
            </a:schemeClr>
          </a:solidFill>
          <a:ln w="15875">
            <a:solidFill>
              <a:srgbClr val="2E7D4F"/>
            </a:solidFill>
            <a:prstDash val="solid"/>
          </a:ln>
        </p:spPr>
      </p:sp>
      <p:sp>
        <p:nvSpPr>
          <p:cNvPr id="36" name="Text 27"/>
          <p:cNvSpPr txBox="1"/>
          <p:nvPr/>
        </p:nvSpPr>
        <p:spPr>
          <a:xfrm>
            <a:off x="7114032" y="2286000"/>
            <a:ext cx="4361688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800" i="1" dirty="0">
                <a:solidFill>
                  <a:schemeClr val="tx1"/>
                </a:solidFill>
              </a:rPr>
              <a:t>Maandag </a:t>
            </a:r>
            <a:r>
              <a:rPr lang="en-US" sz="1800" b="1" i="1" dirty="0">
                <a:solidFill>
                  <a:schemeClr val="tx1"/>
                </a:solidFill>
              </a:rPr>
              <a:t>heeft</a:t>
            </a:r>
            <a:r>
              <a:rPr lang="en-US" sz="1800" i="1" dirty="0">
                <a:solidFill>
                  <a:schemeClr val="tx1"/>
                </a:solidFill>
              </a:rPr>
              <a:t> ze een vergadering met An.</a:t>
            </a:r>
            <a:endParaRPr lang="en-US" sz="1800" dirty="0"/>
          </a:p>
        </p:txBody>
      </p:sp>
      <p:sp>
        <p:nvSpPr>
          <p:cNvPr id="37" name="Shape 28"/>
          <p:cNvSpPr/>
          <p:nvPr/>
        </p:nvSpPr>
        <p:spPr>
          <a:xfrm>
            <a:off x="6583680" y="3154680"/>
            <a:ext cx="5056632" cy="640080"/>
          </a:xfrm>
          <a:prstGeom prst="roundRect">
            <a:avLst>
              <a:gd name="adj" fmla="val 25714"/>
            </a:avLst>
          </a:prstGeom>
          <a:solidFill>
            <a:schemeClr val="accent2">
              <a:alpha val="12000"/>
            </a:schemeClr>
          </a:solidFill>
          <a:ln w="15875">
            <a:solidFill>
              <a:srgbClr val="2A6FB0"/>
            </a:solidFill>
            <a:prstDash val="solid"/>
          </a:ln>
        </p:spPr>
      </p:sp>
      <p:sp>
        <p:nvSpPr>
          <p:cNvPr id="38" name="Text 29"/>
          <p:cNvSpPr txBox="1"/>
          <p:nvPr/>
        </p:nvSpPr>
        <p:spPr>
          <a:xfrm>
            <a:off x="6748272" y="3154680"/>
            <a:ext cx="4727448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800" i="1" dirty="0">
                <a:solidFill>
                  <a:schemeClr val="tx1"/>
                </a:solidFill>
              </a:rPr>
              <a:t>Wat doet ze dinsdag?</a:t>
            </a:r>
            <a:endParaRPr lang="en-US" sz="1800" dirty="0"/>
          </a:p>
        </p:txBody>
      </p:sp>
      <p:sp>
        <p:nvSpPr>
          <p:cNvPr id="39" name="Shape 30"/>
          <p:cNvSpPr/>
          <p:nvPr/>
        </p:nvSpPr>
        <p:spPr>
          <a:xfrm>
            <a:off x="6949440" y="3886200"/>
            <a:ext cx="4690872" cy="731520"/>
          </a:xfrm>
          <a:prstGeom prst="roundRect">
            <a:avLst>
              <a:gd name="adj" fmla="val 22500"/>
            </a:avLst>
          </a:prstGeom>
          <a:solidFill>
            <a:schemeClr val="accent3">
              <a:alpha val="12000"/>
            </a:schemeClr>
          </a:solidFill>
          <a:ln w="15875">
            <a:solidFill>
              <a:srgbClr val="2E7D4F"/>
            </a:solidFill>
            <a:prstDash val="solid"/>
          </a:ln>
        </p:spPr>
      </p:sp>
      <p:sp>
        <p:nvSpPr>
          <p:cNvPr id="40" name="Text 31"/>
          <p:cNvSpPr txBox="1"/>
          <p:nvPr/>
        </p:nvSpPr>
        <p:spPr>
          <a:xfrm>
            <a:off x="7114032" y="3886200"/>
            <a:ext cx="4361688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800" i="1" dirty="0">
                <a:solidFill>
                  <a:schemeClr val="tx1"/>
                </a:solidFill>
              </a:rPr>
              <a:t>Dinsdag </a:t>
            </a:r>
            <a:r>
              <a:rPr lang="en-US" sz="1800" b="1" i="1" dirty="0">
                <a:solidFill>
                  <a:schemeClr val="tx1"/>
                </a:solidFill>
              </a:rPr>
              <a:t>werkt</a:t>
            </a:r>
            <a:r>
              <a:rPr lang="en-US" sz="1800" i="1" dirty="0">
                <a:solidFill>
                  <a:schemeClr val="tx1"/>
                </a:solidFill>
              </a:rPr>
              <a:t> ze thuis.</a:t>
            </a:r>
            <a:endParaRPr lang="en-US" sz="1800" dirty="0"/>
          </a:p>
        </p:txBody>
      </p:sp>
      <p:sp>
        <p:nvSpPr>
          <p:cNvPr id="41" name="Shape 32"/>
          <p:cNvSpPr/>
          <p:nvPr/>
        </p:nvSpPr>
        <p:spPr>
          <a:xfrm>
            <a:off x="6583680" y="4846320"/>
            <a:ext cx="5056632" cy="1417320"/>
          </a:xfrm>
          <a:prstGeom prst="roundRect">
            <a:avLst>
              <a:gd name="adj" fmla="val 5161"/>
            </a:avLst>
          </a:prstGeom>
          <a:solidFill>
            <a:schemeClr val="accent1">
              <a:alpha val="15000"/>
            </a:schemeClr>
          </a:solidFill>
          <a:ln w="15875">
            <a:solidFill>
              <a:srgbClr val="D9700F"/>
            </a:solidFill>
            <a:prstDash val="solid"/>
          </a:ln>
        </p:spPr>
      </p:sp>
      <p:pic>
        <p:nvPicPr>
          <p:cNvPr id="42" name="Image 6" descr="thinking face">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6766560" y="5120640"/>
            <a:ext cx="822960" cy="822960"/>
          </a:xfrm>
          <a:prstGeom prst="rect">
            <a:avLst/>
          </a:prstGeom>
        </p:spPr>
      </p:pic>
      <p:sp>
        <p:nvSpPr>
          <p:cNvPr id="43" name="Text 33"/>
          <p:cNvSpPr txBox="1"/>
          <p:nvPr/>
        </p:nvSpPr>
        <p:spPr>
          <a:xfrm>
            <a:off x="7726680" y="4846320"/>
            <a:ext cx="3840480" cy="1417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spcAft>
                <a:spcPts val="400"/>
              </a:spcAft>
              <a:buNone/>
            </a:pPr>
            <a:r>
              <a:rPr lang="en-US" sz="1700" dirty="0">
                <a:solidFill>
                  <a:schemeClr val="tx1"/>
                </a:solidFill>
              </a:rPr>
              <a:t>Quel est le temps du verbe ?</a:t>
            </a:r>
            <a:endParaRPr lang="en-US" sz="1700" dirty="0"/>
          </a:p>
          <a:p>
            <a:pPr algn="l" indent="0" marL="0">
              <a:spcAft>
                <a:spcPts val="400"/>
              </a:spcAft>
              <a:buNone/>
            </a:pPr>
            <a:r>
              <a:rPr lang="en-US" sz="1700" dirty="0">
                <a:solidFill>
                  <a:schemeClr val="tx1"/>
                </a:solidFill>
              </a:rPr>
              <a:t>Le </a:t>
            </a:r>
            <a:r>
              <a:rPr lang="en-US" sz="1700" b="1" dirty="0">
                <a:solidFill>
                  <a:schemeClr val="tx1"/>
                </a:solidFill>
              </a:rPr>
              <a:t>présent</a:t>
            </a:r>
            <a:r>
              <a:rPr lang="en-US" sz="1700" dirty="0">
                <a:solidFill>
                  <a:schemeClr val="tx1"/>
                </a:solidFill>
              </a:rPr>
              <a:t> ! Le jour suffit à situer l’action.</a:t>
            </a:r>
            <a:endParaRPr lang="en-US" sz="17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1672" y="644652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4A5A70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3</a:t>
            </a:fld>
            <a:endParaRPr lang="en-US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548640" y="621792"/>
            <a:ext cx="11091672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chemeClr val="tx2"/>
                </a:solidFill>
              </a:rPr>
              <a:t>Trois façons de parler du futur</a:t>
            </a:r>
            <a:endParaRPr lang="en-US" sz="3000" dirty="0"/>
          </a:p>
        </p:txBody>
      </p:sp>
      <p:sp>
        <p:nvSpPr>
          <p:cNvPr id="3" name="tag"/>
          <p:cNvSpPr/>
          <p:nvPr/>
        </p:nvSpPr>
        <p:spPr>
          <a:xfrm>
            <a:off x="548640" y="237744"/>
            <a:ext cx="1336853" cy="310896"/>
          </a:xfrm>
          <a:prstGeom prst="roundRect">
            <a:avLst>
              <a:gd name="adj" fmla="val 14706"/>
            </a:avLst>
          </a:prstGeom>
          <a:solidFill>
            <a:schemeClr val="tx2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spc="100" kern="0" dirty="0">
                <a:solidFill>
                  <a:srgbClr val="FFFFFF"/>
                </a:solidFill>
              </a:rPr>
              <a:t>GRAMMAIRE</a:t>
            </a:r>
            <a:endParaRPr lang="en-US" sz="1200" dirty="0"/>
          </a:p>
        </p:txBody>
      </p:sp>
      <p:sp>
        <p:nvSpPr>
          <p:cNvPr id="5" name="Shape 2"/>
          <p:cNvSpPr/>
          <p:nvPr/>
        </p:nvSpPr>
        <p:spPr>
          <a:xfrm>
            <a:off x="548640" y="3246120"/>
            <a:ext cx="868680" cy="868680"/>
          </a:xfrm>
          <a:prstGeom prst="ellipse">
            <a:avLst/>
          </a:prstGeom>
          <a:solidFill>
            <a:schemeClr val="tx2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6" name="Text 3"/>
          <p:cNvSpPr txBox="1"/>
          <p:nvPr/>
        </p:nvSpPr>
        <p:spPr>
          <a:xfrm>
            <a:off x="548640" y="3246120"/>
            <a:ext cx="86868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chemeClr val="bg1"/>
                </a:solidFill>
              </a:rPr>
              <a:t>NU</a:t>
            </a:r>
            <a:endParaRPr lang="en-US" sz="1800" dirty="0"/>
          </a:p>
        </p:txBody>
      </p:sp>
      <p:sp>
        <p:nvSpPr>
          <p:cNvPr id="7" name="Shape 4"/>
          <p:cNvSpPr/>
          <p:nvPr/>
        </p:nvSpPr>
        <p:spPr>
          <a:xfrm flipV="1">
            <a:off x="1435608" y="2286000"/>
            <a:ext cx="347472" cy="1389888"/>
          </a:xfrm>
          <a:prstGeom prst="line">
            <a:avLst/>
          </a:prstGeom>
          <a:noFill/>
          <a:ln w="31750">
            <a:solidFill>
              <a:srgbClr val="2E7D4F"/>
            </a:solidFill>
            <a:prstDash val="solid"/>
          </a:ln>
        </p:spPr>
      </p:sp>
      <p:sp>
        <p:nvSpPr>
          <p:cNvPr id="8" name="Shape 5"/>
          <p:cNvSpPr/>
          <p:nvPr/>
        </p:nvSpPr>
        <p:spPr>
          <a:xfrm>
            <a:off x="1783080" y="1600200"/>
            <a:ext cx="9006840" cy="1371600"/>
          </a:xfrm>
          <a:prstGeom prst="roundRect">
            <a:avLst>
              <a:gd name="adj" fmla="val 4000"/>
            </a:avLst>
          </a:prstGeom>
          <a:solidFill>
            <a:schemeClr val="accent3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9" name="Shape 6"/>
          <p:cNvSpPr/>
          <p:nvPr/>
        </p:nvSpPr>
        <p:spPr>
          <a:xfrm>
            <a:off x="10789920" y="1600200"/>
            <a:ext cx="502920" cy="1371600"/>
          </a:xfrm>
          <a:custGeom>
            <a:avLst/>
            <a:gdLst/>
            <a:ahLst/>
            <a:cxnLst/>
            <a:rect l="l" t="t" r="r" b="b"/>
            <a:pathLst>
              <a:path w="502920" h="1371600">
                <a:moveTo>
                  <a:pt x="0" y="0"/>
                </a:moveTo>
                <a:lnTo>
                  <a:pt x="502920" y="685800"/>
                </a:lnTo>
                <a:lnTo>
                  <a:pt x="0" y="1371600"/>
                </a:lnTo>
                <a:close/>
              </a:path>
            </a:pathLst>
          </a:custGeom>
          <a:solidFill>
            <a:schemeClr val="accent3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10" name="Text 7"/>
          <p:cNvSpPr txBox="1"/>
          <p:nvPr/>
        </p:nvSpPr>
        <p:spPr>
          <a:xfrm>
            <a:off x="1965960" y="1600200"/>
            <a:ext cx="8778240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spcAft>
                <a:spcPts val="400"/>
              </a:spcAft>
              <a:buNone/>
            </a:pPr>
            <a:r>
              <a:rPr lang="en-US" sz="1900" b="1" dirty="0">
                <a:solidFill>
                  <a:schemeClr val="bg1"/>
                </a:solidFill>
              </a:rPr>
              <a:t>① présent + marqueur</a:t>
            </a:r>
            <a:r>
              <a:rPr lang="en-US" sz="1900" dirty="0">
                <a:solidFill>
                  <a:schemeClr val="bg1"/>
                </a:solidFill>
              </a:rPr>
              <a:t> — un plan, un horaire · </a:t>
            </a:r>
            <a:r>
              <a:rPr lang="en-US" sz="1900" b="1" dirty="0">
                <a:solidFill>
                  <a:schemeClr val="bg1"/>
                </a:solidFill>
              </a:rPr>
              <a:t>le plus fréquent</a:t>
            </a:r>
            <a:endParaRPr lang="en-US" sz="1900" dirty="0"/>
          </a:p>
          <a:p>
            <a:pPr algn="l" indent="0" marL="0">
              <a:spcAft>
                <a:spcPts val="400"/>
              </a:spcAft>
              <a:buNone/>
            </a:pPr>
            <a:r>
              <a:rPr lang="en-US" sz="1900" b="1" i="1" dirty="0">
                <a:solidFill>
                  <a:schemeClr val="bg1"/>
                </a:solidFill>
              </a:rPr>
              <a:t>Morgen</a:t>
            </a:r>
            <a:r>
              <a:rPr lang="en-US" sz="1900" i="1" dirty="0">
                <a:solidFill>
                  <a:schemeClr val="bg1"/>
                </a:solidFill>
              </a:rPr>
              <a:t> werk ik thuis.</a:t>
            </a:r>
            <a:endParaRPr lang="en-US" sz="1900" dirty="0"/>
          </a:p>
        </p:txBody>
      </p:sp>
      <p:sp>
        <p:nvSpPr>
          <p:cNvPr id="11" name="Shape 8"/>
          <p:cNvSpPr/>
          <p:nvPr/>
        </p:nvSpPr>
        <p:spPr>
          <a:xfrm>
            <a:off x="1435608" y="3675888"/>
            <a:ext cx="347472" cy="50292"/>
          </a:xfrm>
          <a:prstGeom prst="line">
            <a:avLst/>
          </a:prstGeom>
          <a:noFill/>
          <a:ln w="31750">
            <a:solidFill>
              <a:srgbClr val="2A6FB0"/>
            </a:solidFill>
            <a:prstDash val="solid"/>
          </a:ln>
        </p:spPr>
      </p:sp>
      <p:sp>
        <p:nvSpPr>
          <p:cNvPr id="12" name="Shape 9"/>
          <p:cNvSpPr/>
          <p:nvPr/>
        </p:nvSpPr>
        <p:spPr>
          <a:xfrm>
            <a:off x="1783080" y="3154680"/>
            <a:ext cx="9006840" cy="1143000"/>
          </a:xfrm>
          <a:prstGeom prst="roundRect">
            <a:avLst>
              <a:gd name="adj" fmla="val 4800"/>
            </a:avLst>
          </a:prstGeom>
          <a:solidFill>
            <a:schemeClr val="accent2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13" name="Shape 10"/>
          <p:cNvSpPr/>
          <p:nvPr/>
        </p:nvSpPr>
        <p:spPr>
          <a:xfrm>
            <a:off x="10789920" y="3154680"/>
            <a:ext cx="502920" cy="1143000"/>
          </a:xfrm>
          <a:custGeom>
            <a:avLst/>
            <a:gdLst/>
            <a:ahLst/>
            <a:cxnLst/>
            <a:rect l="l" t="t" r="r" b="b"/>
            <a:pathLst>
              <a:path w="502920" h="1143000">
                <a:moveTo>
                  <a:pt x="0" y="0"/>
                </a:moveTo>
                <a:lnTo>
                  <a:pt x="502920" y="571500"/>
                </a:lnTo>
                <a:lnTo>
                  <a:pt x="0" y="1143000"/>
                </a:lnTo>
                <a:close/>
              </a:path>
            </a:pathLst>
          </a:custGeom>
          <a:solidFill>
            <a:schemeClr val="accent2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14" name="Text 11"/>
          <p:cNvSpPr txBox="1"/>
          <p:nvPr/>
        </p:nvSpPr>
        <p:spPr>
          <a:xfrm>
            <a:off x="1965960" y="3154680"/>
            <a:ext cx="8778240" cy="1143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spcAft>
                <a:spcPts val="400"/>
              </a:spcAft>
              <a:buNone/>
            </a:pPr>
            <a:r>
              <a:rPr lang="en-US" sz="1900" b="1" dirty="0">
                <a:solidFill>
                  <a:schemeClr val="bg1"/>
                </a:solidFill>
              </a:rPr>
              <a:t>② gaan + infinitif</a:t>
            </a:r>
            <a:r>
              <a:rPr lang="en-US" sz="1900" dirty="0">
                <a:solidFill>
                  <a:schemeClr val="bg1"/>
                </a:solidFill>
              </a:rPr>
              <a:t> — une intention, un changement, un signe visible</a:t>
            </a:r>
            <a:endParaRPr lang="en-US" sz="1900" dirty="0"/>
          </a:p>
          <a:p>
            <a:pPr algn="l" indent="0" marL="0">
              <a:spcAft>
                <a:spcPts val="400"/>
              </a:spcAft>
              <a:buNone/>
            </a:pPr>
            <a:r>
              <a:rPr lang="en-US" sz="1900" i="1" dirty="0">
                <a:solidFill>
                  <a:schemeClr val="bg1"/>
                </a:solidFill>
              </a:rPr>
              <a:t>Ik ga volgend jaar verhuizen. · Het gaat regenen.</a:t>
            </a:r>
            <a:endParaRPr lang="en-US" sz="1900" dirty="0"/>
          </a:p>
        </p:txBody>
      </p:sp>
      <p:sp>
        <p:nvSpPr>
          <p:cNvPr id="15" name="Shape 12"/>
          <p:cNvSpPr/>
          <p:nvPr/>
        </p:nvSpPr>
        <p:spPr>
          <a:xfrm>
            <a:off x="1435608" y="3675888"/>
            <a:ext cx="347472" cy="1284732"/>
          </a:xfrm>
          <a:prstGeom prst="line">
            <a:avLst/>
          </a:prstGeom>
          <a:noFill/>
          <a:ln w="31750">
            <a:solidFill>
              <a:srgbClr val="6E4A9E"/>
            </a:solidFill>
            <a:prstDash val="solid"/>
          </a:ln>
        </p:spPr>
      </p:sp>
      <p:sp>
        <p:nvSpPr>
          <p:cNvPr id="16" name="Shape 13"/>
          <p:cNvSpPr/>
          <p:nvPr/>
        </p:nvSpPr>
        <p:spPr>
          <a:xfrm>
            <a:off x="1783080" y="4480560"/>
            <a:ext cx="9006840" cy="960120"/>
          </a:xfrm>
          <a:prstGeom prst="roundRect">
            <a:avLst>
              <a:gd name="adj" fmla="val 5714"/>
            </a:avLst>
          </a:prstGeom>
          <a:solidFill>
            <a:srgbClr val="6E4A9E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17" name="Shape 14"/>
          <p:cNvSpPr/>
          <p:nvPr/>
        </p:nvSpPr>
        <p:spPr>
          <a:xfrm>
            <a:off x="10789920" y="4480560"/>
            <a:ext cx="502920" cy="960120"/>
          </a:xfrm>
          <a:custGeom>
            <a:avLst/>
            <a:gdLst/>
            <a:ahLst/>
            <a:cxnLst/>
            <a:rect l="l" t="t" r="r" b="b"/>
            <a:pathLst>
              <a:path w="502920" h="960120">
                <a:moveTo>
                  <a:pt x="0" y="0"/>
                </a:moveTo>
                <a:lnTo>
                  <a:pt x="502920" y="480060"/>
                </a:lnTo>
                <a:lnTo>
                  <a:pt x="0" y="960120"/>
                </a:lnTo>
                <a:close/>
              </a:path>
            </a:pathLst>
          </a:custGeom>
          <a:solidFill>
            <a:srgbClr val="6E4A9E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18" name="Text 15"/>
          <p:cNvSpPr txBox="1"/>
          <p:nvPr/>
        </p:nvSpPr>
        <p:spPr>
          <a:xfrm>
            <a:off x="1965960" y="4480560"/>
            <a:ext cx="877824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spcAft>
                <a:spcPts val="400"/>
              </a:spcAft>
              <a:buNone/>
            </a:pPr>
            <a:r>
              <a:rPr lang="en-US" sz="1700" b="1" dirty="0">
                <a:solidFill>
                  <a:schemeClr val="bg1"/>
                </a:solidFill>
              </a:rPr>
              <a:t>③ zullen + infinitif</a:t>
            </a:r>
            <a:r>
              <a:rPr lang="en-US" sz="1700" dirty="0">
                <a:solidFill>
                  <a:schemeClr val="bg1"/>
                </a:solidFill>
              </a:rPr>
              <a:t> — une promesse, une proposition, une annonce officielle</a:t>
            </a:r>
            <a:endParaRPr lang="en-US" sz="1700" dirty="0"/>
          </a:p>
          <a:p>
            <a:pPr algn="l" indent="0" marL="0">
              <a:spcAft>
                <a:spcPts val="400"/>
              </a:spcAft>
              <a:buNone/>
            </a:pPr>
            <a:r>
              <a:rPr lang="en-US" sz="1700" i="1" dirty="0">
                <a:solidFill>
                  <a:schemeClr val="bg1"/>
                </a:solidFill>
              </a:rPr>
              <a:t>Ik zal je helpen. · Zullen we gaan?</a:t>
            </a:r>
            <a:endParaRPr lang="en-US" sz="1700" dirty="0"/>
          </a:p>
        </p:txBody>
      </p:sp>
      <p:pic>
        <p:nvPicPr>
          <p:cNvPr id="19" name="Image 0" descr="FlagCheckered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1247120" y="3474720"/>
            <a:ext cx="411480" cy="411480"/>
          </a:xfrm>
          <a:prstGeom prst="rect">
            <a:avLst/>
          </a:prstGeom>
        </p:spPr>
      </p:pic>
      <p:sp>
        <p:nvSpPr>
          <p:cNvPr id="20" name="Shape 16"/>
          <p:cNvSpPr/>
          <p:nvPr/>
        </p:nvSpPr>
        <p:spPr>
          <a:xfrm>
            <a:off x="548640" y="5623560"/>
            <a:ext cx="11091672" cy="640080"/>
          </a:xfrm>
          <a:prstGeom prst="roundRect">
            <a:avLst>
              <a:gd name="adj" fmla="val 11429"/>
            </a:avLst>
          </a:prstGeom>
          <a:solidFill>
            <a:schemeClr val="tx2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21" name="Text 17"/>
          <p:cNvSpPr txBox="1"/>
          <p:nvPr/>
        </p:nvSpPr>
        <p:spPr>
          <a:xfrm>
            <a:off x="822960" y="5623560"/>
            <a:ext cx="106070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800" dirty="0">
                <a:solidFill>
                  <a:schemeClr val="bg1"/>
                </a:solidFill>
              </a:rPr>
              <a:t>Le français a un futur simple (« je travaillerai ») ; le néerlandais n’en a pas vraiment besoin.</a:t>
            </a:r>
            <a:endParaRPr lang="en-US" sz="18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1672" y="644652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4A5A70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4</a:t>
            </a:fld>
            <a:endParaRPr lang="en-US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548640" y="621792"/>
            <a:ext cx="11091672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chemeClr val="tx2"/>
                </a:solidFill>
              </a:rPr>
              <a:t>Le présent + un marqueur de temps</a:t>
            </a:r>
            <a:endParaRPr lang="en-US" sz="3000" dirty="0"/>
          </a:p>
        </p:txBody>
      </p:sp>
      <p:sp>
        <p:nvSpPr>
          <p:cNvPr id="3" name="tag"/>
          <p:cNvSpPr/>
          <p:nvPr/>
        </p:nvSpPr>
        <p:spPr>
          <a:xfrm>
            <a:off x="548640" y="237744"/>
            <a:ext cx="1336853" cy="310896"/>
          </a:xfrm>
          <a:prstGeom prst="roundRect">
            <a:avLst>
              <a:gd name="adj" fmla="val 14706"/>
            </a:avLst>
          </a:prstGeom>
          <a:solidFill>
            <a:schemeClr val="tx2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spc="100" kern="0" dirty="0">
                <a:solidFill>
                  <a:srgbClr val="FFFFFF"/>
                </a:solidFill>
              </a:rPr>
              <a:t>GRAMMAIRE</a:t>
            </a:r>
            <a:endParaRPr lang="en-US" sz="1200" dirty="0"/>
          </a:p>
        </p:txBody>
      </p:sp>
      <p:sp>
        <p:nvSpPr>
          <p:cNvPr id="5" name="Shape 2"/>
          <p:cNvSpPr/>
          <p:nvPr/>
        </p:nvSpPr>
        <p:spPr>
          <a:xfrm>
            <a:off x="1581912" y="1536192"/>
            <a:ext cx="402336" cy="402336"/>
          </a:xfrm>
          <a:prstGeom prst="ellipse">
            <a:avLst/>
          </a:prstGeom>
          <a:solidFill>
            <a:schemeClr val="accent1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6" name="Text 3"/>
          <p:cNvSpPr txBox="1"/>
          <p:nvPr/>
        </p:nvSpPr>
        <p:spPr>
          <a:xfrm>
            <a:off x="1581912" y="1536192"/>
            <a:ext cx="402336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chemeClr val="bg1"/>
                </a:solidFill>
              </a:rPr>
              <a:t>1</a:t>
            </a:r>
            <a:endParaRPr lang="en-US" sz="1500" dirty="0"/>
          </a:p>
        </p:txBody>
      </p:sp>
      <p:sp>
        <p:nvSpPr>
          <p:cNvPr id="7" name="Text 4"/>
          <p:cNvSpPr txBox="1"/>
          <p:nvPr/>
        </p:nvSpPr>
        <p:spPr>
          <a:xfrm>
            <a:off x="2057400" y="1536192"/>
            <a:ext cx="274320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b="1" dirty="0">
                <a:solidFill>
                  <a:schemeClr val="accent1"/>
                </a:solidFill>
              </a:rPr>
              <a:t>marqueur</a:t>
            </a:r>
            <a:endParaRPr lang="en-US" sz="1300" dirty="0"/>
          </a:p>
        </p:txBody>
      </p:sp>
      <p:sp>
        <p:nvSpPr>
          <p:cNvPr id="8" name="Shape 5"/>
          <p:cNvSpPr/>
          <p:nvPr/>
        </p:nvSpPr>
        <p:spPr>
          <a:xfrm>
            <a:off x="3456432" y="1536192"/>
            <a:ext cx="402336" cy="402336"/>
          </a:xfrm>
          <a:prstGeom prst="ellipse">
            <a:avLst/>
          </a:prstGeom>
          <a:solidFill>
            <a:schemeClr val="accent6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9" name="Text 6"/>
          <p:cNvSpPr txBox="1"/>
          <p:nvPr/>
        </p:nvSpPr>
        <p:spPr>
          <a:xfrm>
            <a:off x="3456432" y="1536192"/>
            <a:ext cx="402336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chemeClr val="bg1"/>
                </a:solidFill>
              </a:rPr>
              <a:t>2</a:t>
            </a:r>
            <a:endParaRPr lang="en-US" sz="1500" dirty="0"/>
          </a:p>
        </p:txBody>
      </p:sp>
      <p:sp>
        <p:nvSpPr>
          <p:cNvPr id="10" name="Text 7"/>
          <p:cNvSpPr txBox="1"/>
          <p:nvPr/>
        </p:nvSpPr>
        <p:spPr>
          <a:xfrm>
            <a:off x="3931920" y="1536192"/>
            <a:ext cx="274320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b="1" dirty="0">
                <a:solidFill>
                  <a:schemeClr val="accent6"/>
                </a:solidFill>
              </a:rPr>
              <a:t>verbe (inversion, M3)</a:t>
            </a:r>
            <a:endParaRPr lang="en-US" sz="1300" dirty="0"/>
          </a:p>
        </p:txBody>
      </p:sp>
      <p:sp>
        <p:nvSpPr>
          <p:cNvPr id="11" name="Shape 8"/>
          <p:cNvSpPr/>
          <p:nvPr/>
        </p:nvSpPr>
        <p:spPr>
          <a:xfrm>
            <a:off x="548640" y="2103120"/>
            <a:ext cx="2468880" cy="640080"/>
          </a:xfrm>
          <a:prstGeom prst="roundRect">
            <a:avLst>
              <a:gd name="adj" fmla="val 11429"/>
            </a:avLst>
          </a:prstGeom>
          <a:solidFill>
            <a:schemeClr val="accent1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12" name="Text 9"/>
          <p:cNvSpPr txBox="1"/>
          <p:nvPr/>
        </p:nvSpPr>
        <p:spPr>
          <a:xfrm>
            <a:off x="548640" y="2103120"/>
            <a:ext cx="24688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100" b="1" dirty="0">
                <a:solidFill>
                  <a:schemeClr val="bg1"/>
                </a:solidFill>
              </a:rPr>
              <a:t>Morgen</a:t>
            </a:r>
            <a:endParaRPr lang="en-US" sz="2100" dirty="0"/>
          </a:p>
        </p:txBody>
      </p:sp>
      <p:sp>
        <p:nvSpPr>
          <p:cNvPr id="13" name="Shape 10"/>
          <p:cNvSpPr/>
          <p:nvPr/>
        </p:nvSpPr>
        <p:spPr>
          <a:xfrm>
            <a:off x="3108960" y="2103120"/>
            <a:ext cx="1097280" cy="640080"/>
          </a:xfrm>
          <a:prstGeom prst="roundRect">
            <a:avLst>
              <a:gd name="adj" fmla="val 11429"/>
            </a:avLst>
          </a:prstGeom>
          <a:solidFill>
            <a:srgbClr val="FBEDEB"/>
          </a:solidFill>
          <a:ln w="31750">
            <a:solidFill>
              <a:srgbClr val="B83227"/>
            </a:solidFill>
            <a:prstDash val="solid"/>
          </a:ln>
        </p:spPr>
      </p:sp>
      <p:sp>
        <p:nvSpPr>
          <p:cNvPr id="14" name="Text 11"/>
          <p:cNvSpPr txBox="1"/>
          <p:nvPr/>
        </p:nvSpPr>
        <p:spPr>
          <a:xfrm>
            <a:off x="3108960" y="2103120"/>
            <a:ext cx="10972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100" b="1" dirty="0">
                <a:solidFill>
                  <a:schemeClr val="accent6"/>
                </a:solidFill>
              </a:rPr>
              <a:t>werk</a:t>
            </a:r>
            <a:endParaRPr lang="en-US" sz="2100" dirty="0"/>
          </a:p>
        </p:txBody>
      </p:sp>
      <p:sp>
        <p:nvSpPr>
          <p:cNvPr id="15" name="Shape 12"/>
          <p:cNvSpPr/>
          <p:nvPr/>
        </p:nvSpPr>
        <p:spPr>
          <a:xfrm>
            <a:off x="4297680" y="2103120"/>
            <a:ext cx="2651760" cy="640080"/>
          </a:xfrm>
          <a:prstGeom prst="roundRect">
            <a:avLst>
              <a:gd name="adj" fmla="val 11429"/>
            </a:avLst>
          </a:prstGeom>
          <a:solidFill>
            <a:schemeClr val="bg1"/>
          </a:solidFill>
          <a:ln w="15875">
            <a:solidFill>
              <a:srgbClr val="D5DCE6"/>
            </a:solidFill>
            <a:prstDash val="solid"/>
          </a:ln>
        </p:spPr>
      </p:sp>
      <p:sp>
        <p:nvSpPr>
          <p:cNvPr id="16" name="Text 13"/>
          <p:cNvSpPr txBox="1"/>
          <p:nvPr/>
        </p:nvSpPr>
        <p:spPr>
          <a:xfrm>
            <a:off x="4297680" y="2103120"/>
            <a:ext cx="265176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100" dirty="0">
                <a:solidFill>
                  <a:schemeClr val="tx1"/>
                </a:solidFill>
              </a:rPr>
              <a:t>ik thuis.</a:t>
            </a:r>
            <a:endParaRPr lang="en-US" sz="2100" dirty="0"/>
          </a:p>
        </p:txBody>
      </p:sp>
      <p:sp>
        <p:nvSpPr>
          <p:cNvPr id="17" name="Shape 14"/>
          <p:cNvSpPr/>
          <p:nvPr/>
        </p:nvSpPr>
        <p:spPr>
          <a:xfrm>
            <a:off x="548640" y="2880360"/>
            <a:ext cx="2468880" cy="640080"/>
          </a:xfrm>
          <a:prstGeom prst="roundRect">
            <a:avLst>
              <a:gd name="adj" fmla="val 11429"/>
            </a:avLst>
          </a:prstGeom>
          <a:solidFill>
            <a:schemeClr val="accent1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18" name="Text 15"/>
          <p:cNvSpPr txBox="1"/>
          <p:nvPr/>
        </p:nvSpPr>
        <p:spPr>
          <a:xfrm>
            <a:off x="548640" y="2880360"/>
            <a:ext cx="24688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100" b="1" dirty="0">
                <a:solidFill>
                  <a:schemeClr val="bg1"/>
                </a:solidFill>
              </a:rPr>
              <a:t>Volgende week</a:t>
            </a:r>
            <a:endParaRPr lang="en-US" sz="2100" dirty="0"/>
          </a:p>
        </p:txBody>
      </p:sp>
      <p:sp>
        <p:nvSpPr>
          <p:cNvPr id="19" name="Shape 16"/>
          <p:cNvSpPr/>
          <p:nvPr/>
        </p:nvSpPr>
        <p:spPr>
          <a:xfrm>
            <a:off x="3108960" y="2880360"/>
            <a:ext cx="1097280" cy="640080"/>
          </a:xfrm>
          <a:prstGeom prst="roundRect">
            <a:avLst>
              <a:gd name="adj" fmla="val 11429"/>
            </a:avLst>
          </a:prstGeom>
          <a:solidFill>
            <a:srgbClr val="FBEDEB"/>
          </a:solidFill>
          <a:ln w="31750">
            <a:solidFill>
              <a:srgbClr val="B83227"/>
            </a:solidFill>
            <a:prstDash val="solid"/>
          </a:ln>
        </p:spPr>
      </p:sp>
      <p:sp>
        <p:nvSpPr>
          <p:cNvPr id="20" name="Text 17"/>
          <p:cNvSpPr txBox="1"/>
          <p:nvPr/>
        </p:nvSpPr>
        <p:spPr>
          <a:xfrm>
            <a:off x="3108960" y="2880360"/>
            <a:ext cx="10972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100" b="1" dirty="0">
                <a:solidFill>
                  <a:schemeClr val="accent6"/>
                </a:solidFill>
              </a:rPr>
              <a:t>gaan</a:t>
            </a:r>
            <a:endParaRPr lang="en-US" sz="2100" dirty="0"/>
          </a:p>
        </p:txBody>
      </p:sp>
      <p:sp>
        <p:nvSpPr>
          <p:cNvPr id="21" name="Shape 18"/>
          <p:cNvSpPr/>
          <p:nvPr/>
        </p:nvSpPr>
        <p:spPr>
          <a:xfrm>
            <a:off x="4297680" y="2880360"/>
            <a:ext cx="2651760" cy="640080"/>
          </a:xfrm>
          <a:prstGeom prst="roundRect">
            <a:avLst>
              <a:gd name="adj" fmla="val 11429"/>
            </a:avLst>
          </a:prstGeom>
          <a:solidFill>
            <a:schemeClr val="bg1"/>
          </a:solidFill>
          <a:ln w="15875">
            <a:solidFill>
              <a:srgbClr val="D5DCE6"/>
            </a:solidFill>
            <a:prstDash val="solid"/>
          </a:ln>
        </p:spPr>
      </p:sp>
      <p:sp>
        <p:nvSpPr>
          <p:cNvPr id="22" name="Text 19"/>
          <p:cNvSpPr txBox="1"/>
          <p:nvPr/>
        </p:nvSpPr>
        <p:spPr>
          <a:xfrm>
            <a:off x="4297680" y="2880360"/>
            <a:ext cx="265176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100" dirty="0">
                <a:solidFill>
                  <a:schemeClr val="tx1"/>
                </a:solidFill>
              </a:rPr>
              <a:t>we naar Gent.</a:t>
            </a:r>
            <a:endParaRPr lang="en-US" sz="2100" dirty="0"/>
          </a:p>
        </p:txBody>
      </p:sp>
      <p:sp>
        <p:nvSpPr>
          <p:cNvPr id="23" name="Shape 20"/>
          <p:cNvSpPr/>
          <p:nvPr/>
        </p:nvSpPr>
        <p:spPr>
          <a:xfrm>
            <a:off x="548640" y="3657600"/>
            <a:ext cx="2468880" cy="640080"/>
          </a:xfrm>
          <a:prstGeom prst="roundRect">
            <a:avLst>
              <a:gd name="adj" fmla="val 11429"/>
            </a:avLst>
          </a:prstGeom>
          <a:solidFill>
            <a:schemeClr val="accent1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24" name="Text 21"/>
          <p:cNvSpPr txBox="1"/>
          <p:nvPr/>
        </p:nvSpPr>
        <p:spPr>
          <a:xfrm>
            <a:off x="548640" y="3657600"/>
            <a:ext cx="24688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100" b="1" dirty="0">
                <a:solidFill>
                  <a:schemeClr val="bg1"/>
                </a:solidFill>
              </a:rPr>
              <a:t>Om 3 uur</a:t>
            </a:r>
            <a:endParaRPr lang="en-US" sz="2100" dirty="0"/>
          </a:p>
        </p:txBody>
      </p:sp>
      <p:sp>
        <p:nvSpPr>
          <p:cNvPr id="25" name="Shape 22"/>
          <p:cNvSpPr/>
          <p:nvPr/>
        </p:nvSpPr>
        <p:spPr>
          <a:xfrm>
            <a:off x="3108960" y="3657600"/>
            <a:ext cx="1097280" cy="640080"/>
          </a:xfrm>
          <a:prstGeom prst="roundRect">
            <a:avLst>
              <a:gd name="adj" fmla="val 11429"/>
            </a:avLst>
          </a:prstGeom>
          <a:solidFill>
            <a:srgbClr val="FBEDEB"/>
          </a:solidFill>
          <a:ln w="31750">
            <a:solidFill>
              <a:srgbClr val="B83227"/>
            </a:solidFill>
            <a:prstDash val="solid"/>
          </a:ln>
        </p:spPr>
      </p:sp>
      <p:sp>
        <p:nvSpPr>
          <p:cNvPr id="26" name="Text 23"/>
          <p:cNvSpPr txBox="1"/>
          <p:nvPr/>
        </p:nvSpPr>
        <p:spPr>
          <a:xfrm>
            <a:off x="3108960" y="3657600"/>
            <a:ext cx="10972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100" b="1" dirty="0">
                <a:solidFill>
                  <a:schemeClr val="accent6"/>
                </a:solidFill>
              </a:rPr>
              <a:t>heb</a:t>
            </a:r>
            <a:endParaRPr lang="en-US" sz="2100" dirty="0"/>
          </a:p>
        </p:txBody>
      </p:sp>
      <p:sp>
        <p:nvSpPr>
          <p:cNvPr id="27" name="Shape 24"/>
          <p:cNvSpPr/>
          <p:nvPr/>
        </p:nvSpPr>
        <p:spPr>
          <a:xfrm>
            <a:off x="4297680" y="3657600"/>
            <a:ext cx="2651760" cy="640080"/>
          </a:xfrm>
          <a:prstGeom prst="roundRect">
            <a:avLst>
              <a:gd name="adj" fmla="val 11429"/>
            </a:avLst>
          </a:prstGeom>
          <a:solidFill>
            <a:schemeClr val="bg1"/>
          </a:solidFill>
          <a:ln w="15875">
            <a:solidFill>
              <a:srgbClr val="D5DCE6"/>
            </a:solidFill>
            <a:prstDash val="solid"/>
          </a:ln>
        </p:spPr>
      </p:sp>
      <p:sp>
        <p:nvSpPr>
          <p:cNvPr id="28" name="Text 25"/>
          <p:cNvSpPr txBox="1"/>
          <p:nvPr/>
        </p:nvSpPr>
        <p:spPr>
          <a:xfrm>
            <a:off x="4297680" y="3657600"/>
            <a:ext cx="265176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100" dirty="0">
                <a:solidFill>
                  <a:schemeClr val="tx1"/>
                </a:solidFill>
              </a:rPr>
              <a:t>ik een vergadering.</a:t>
            </a:r>
            <a:endParaRPr lang="en-US" sz="2100" dirty="0"/>
          </a:p>
        </p:txBody>
      </p:sp>
      <p:sp>
        <p:nvSpPr>
          <p:cNvPr id="29" name="Shape 26"/>
          <p:cNvSpPr/>
          <p:nvPr/>
        </p:nvSpPr>
        <p:spPr>
          <a:xfrm>
            <a:off x="548640" y="4434840"/>
            <a:ext cx="2468880" cy="640080"/>
          </a:xfrm>
          <a:prstGeom prst="roundRect">
            <a:avLst>
              <a:gd name="adj" fmla="val 11429"/>
            </a:avLst>
          </a:prstGeom>
          <a:solidFill>
            <a:schemeClr val="bg1"/>
          </a:solidFill>
          <a:ln w="15875">
            <a:solidFill>
              <a:srgbClr val="D5DCE6"/>
            </a:solidFill>
            <a:prstDash val="solid"/>
          </a:ln>
        </p:spPr>
      </p:sp>
      <p:sp>
        <p:nvSpPr>
          <p:cNvPr id="30" name="Text 27"/>
          <p:cNvSpPr txBox="1"/>
          <p:nvPr/>
        </p:nvSpPr>
        <p:spPr>
          <a:xfrm>
            <a:off x="548640" y="4434840"/>
            <a:ext cx="24688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100" dirty="0">
                <a:solidFill>
                  <a:schemeClr val="tx1"/>
                </a:solidFill>
              </a:rPr>
              <a:t>Ik</a:t>
            </a:r>
            <a:endParaRPr lang="en-US" sz="2100" dirty="0"/>
          </a:p>
        </p:txBody>
      </p:sp>
      <p:sp>
        <p:nvSpPr>
          <p:cNvPr id="31" name="Shape 28"/>
          <p:cNvSpPr/>
          <p:nvPr/>
        </p:nvSpPr>
        <p:spPr>
          <a:xfrm>
            <a:off x="3108960" y="4434840"/>
            <a:ext cx="1097280" cy="640080"/>
          </a:xfrm>
          <a:prstGeom prst="roundRect">
            <a:avLst>
              <a:gd name="adj" fmla="val 11429"/>
            </a:avLst>
          </a:prstGeom>
          <a:solidFill>
            <a:srgbClr val="FBEDEB"/>
          </a:solidFill>
          <a:ln w="31750">
            <a:solidFill>
              <a:srgbClr val="B83227"/>
            </a:solidFill>
            <a:prstDash val="solid"/>
          </a:ln>
        </p:spPr>
      </p:sp>
      <p:sp>
        <p:nvSpPr>
          <p:cNvPr id="32" name="Text 29"/>
          <p:cNvSpPr txBox="1"/>
          <p:nvPr/>
        </p:nvSpPr>
        <p:spPr>
          <a:xfrm>
            <a:off x="3108960" y="4434840"/>
            <a:ext cx="10972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100" b="1" dirty="0">
                <a:solidFill>
                  <a:schemeClr val="accent6"/>
                </a:solidFill>
              </a:rPr>
              <a:t>bel</a:t>
            </a:r>
            <a:endParaRPr lang="en-US" sz="2100" dirty="0"/>
          </a:p>
        </p:txBody>
      </p:sp>
      <p:sp>
        <p:nvSpPr>
          <p:cNvPr id="33" name="Shape 30"/>
          <p:cNvSpPr/>
          <p:nvPr/>
        </p:nvSpPr>
        <p:spPr>
          <a:xfrm>
            <a:off x="4297680" y="4434840"/>
            <a:ext cx="640080" cy="640080"/>
          </a:xfrm>
          <a:prstGeom prst="roundRect">
            <a:avLst>
              <a:gd name="adj" fmla="val 11429"/>
            </a:avLst>
          </a:prstGeom>
          <a:solidFill>
            <a:schemeClr val="bg1"/>
          </a:solidFill>
          <a:ln w="15875">
            <a:solidFill>
              <a:srgbClr val="D5DCE6"/>
            </a:solidFill>
            <a:prstDash val="solid"/>
          </a:ln>
        </p:spPr>
      </p:sp>
      <p:sp>
        <p:nvSpPr>
          <p:cNvPr id="34" name="Text 31"/>
          <p:cNvSpPr txBox="1"/>
          <p:nvPr/>
        </p:nvSpPr>
        <p:spPr>
          <a:xfrm>
            <a:off x="4297680" y="4434840"/>
            <a:ext cx="6400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100" dirty="0">
                <a:solidFill>
                  <a:schemeClr val="tx1"/>
                </a:solidFill>
              </a:rPr>
              <a:t>je</a:t>
            </a:r>
            <a:endParaRPr lang="en-US" sz="2100" dirty="0"/>
          </a:p>
        </p:txBody>
      </p:sp>
      <p:sp>
        <p:nvSpPr>
          <p:cNvPr id="35" name="Shape 32"/>
          <p:cNvSpPr/>
          <p:nvPr/>
        </p:nvSpPr>
        <p:spPr>
          <a:xfrm>
            <a:off x="5029200" y="4434840"/>
            <a:ext cx="1097280" cy="640080"/>
          </a:xfrm>
          <a:prstGeom prst="roundRect">
            <a:avLst>
              <a:gd name="adj" fmla="val 11429"/>
            </a:avLst>
          </a:prstGeom>
          <a:solidFill>
            <a:schemeClr val="accent1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36" name="Text 33"/>
          <p:cNvSpPr txBox="1"/>
          <p:nvPr/>
        </p:nvSpPr>
        <p:spPr>
          <a:xfrm>
            <a:off x="5029200" y="4434840"/>
            <a:ext cx="10972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100" b="1" dirty="0">
                <a:solidFill>
                  <a:schemeClr val="bg1"/>
                </a:solidFill>
              </a:rPr>
              <a:t>straks</a:t>
            </a:r>
            <a:endParaRPr lang="en-US" sz="2100" dirty="0"/>
          </a:p>
        </p:txBody>
      </p:sp>
      <p:sp>
        <p:nvSpPr>
          <p:cNvPr id="37" name="Shape 34"/>
          <p:cNvSpPr/>
          <p:nvPr/>
        </p:nvSpPr>
        <p:spPr>
          <a:xfrm>
            <a:off x="6217920" y="4434840"/>
            <a:ext cx="1005840" cy="640080"/>
          </a:xfrm>
          <a:prstGeom prst="roundRect">
            <a:avLst>
              <a:gd name="adj" fmla="val 11429"/>
            </a:avLst>
          </a:prstGeom>
          <a:solidFill>
            <a:srgbClr val="FDF1E6"/>
          </a:solidFill>
          <a:ln w="25400">
            <a:solidFill>
              <a:srgbClr val="D9700F"/>
            </a:solidFill>
            <a:prstDash val="dash"/>
          </a:ln>
        </p:spPr>
      </p:sp>
      <p:sp>
        <p:nvSpPr>
          <p:cNvPr id="38" name="Text 35"/>
          <p:cNvSpPr txBox="1"/>
          <p:nvPr/>
        </p:nvSpPr>
        <p:spPr>
          <a:xfrm>
            <a:off x="6217920" y="4434840"/>
            <a:ext cx="10058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100" b="1" dirty="0">
                <a:solidFill>
                  <a:schemeClr val="accent1"/>
                </a:solidFill>
              </a:rPr>
              <a:t>terug.</a:t>
            </a:r>
            <a:endParaRPr lang="en-US" sz="2100" dirty="0"/>
          </a:p>
        </p:txBody>
      </p:sp>
      <p:sp>
        <p:nvSpPr>
          <p:cNvPr id="39" name="Shape 36"/>
          <p:cNvSpPr/>
          <p:nvPr/>
        </p:nvSpPr>
        <p:spPr>
          <a:xfrm>
            <a:off x="7269480" y="2103120"/>
            <a:ext cx="4370832" cy="2971800"/>
          </a:xfrm>
          <a:prstGeom prst="roundRect">
            <a:avLst>
              <a:gd name="adj" fmla="val 3077"/>
            </a:avLst>
          </a:prstGeom>
          <a:solidFill>
            <a:schemeClr val="bg1"/>
          </a:solidFill>
          <a:ln w="12700">
            <a:solidFill>
              <a:srgbClr val="D5DCE6"/>
            </a:solidFill>
            <a:prstDash val="solid"/>
          </a:ln>
          <a:effectLst>
            <a:outerShdw sx="100000" sy="100000" kx="0" ky="0" algn="bl" rotWithShape="0" blurRad="101600" dist="25400" dir="3600000">
              <a:srgbClr val="000000">
                <a:alpha val="16000"/>
              </a:srgbClr>
            </a:outerShdw>
          </a:effectLst>
        </p:spPr>
      </p:sp>
      <p:sp>
        <p:nvSpPr>
          <p:cNvPr id="40" name="Shape 37"/>
          <p:cNvSpPr/>
          <p:nvPr/>
        </p:nvSpPr>
        <p:spPr>
          <a:xfrm>
            <a:off x="7452360" y="2267712"/>
            <a:ext cx="566928" cy="566928"/>
          </a:xfrm>
          <a:prstGeom prst="ellipse">
            <a:avLst/>
          </a:prstGeom>
          <a:solidFill>
            <a:schemeClr val="accent1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pic>
        <p:nvPicPr>
          <p:cNvPr id="41" name="Image 0" descr="Lightbulb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588423" y="2403775"/>
            <a:ext cx="294803" cy="294803"/>
          </a:xfrm>
          <a:prstGeom prst="rect">
            <a:avLst/>
          </a:prstGeom>
        </p:spPr>
      </p:pic>
      <p:sp>
        <p:nvSpPr>
          <p:cNvPr id="42" name="Text 38"/>
          <p:cNvSpPr txBox="1"/>
          <p:nvPr/>
        </p:nvSpPr>
        <p:spPr>
          <a:xfrm>
            <a:off x="8165592" y="2249424"/>
            <a:ext cx="333756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900" b="1" dirty="0">
                <a:solidFill>
                  <a:schemeClr val="accent1"/>
                </a:solidFill>
              </a:rPr>
              <a:t>Repères</a:t>
            </a:r>
            <a:endParaRPr lang="en-US" sz="1900" dirty="0"/>
          </a:p>
        </p:txBody>
      </p:sp>
      <p:sp>
        <p:nvSpPr>
          <p:cNvPr id="43" name="Text 39"/>
          <p:cNvSpPr txBox="1"/>
          <p:nvPr/>
        </p:nvSpPr>
        <p:spPr>
          <a:xfrm>
            <a:off x="7470648" y="2971800"/>
            <a:ext cx="3968496" cy="19933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spcAft>
                <a:spcPts val="1000"/>
              </a:spcAft>
              <a:buNone/>
            </a:pPr>
            <a:r>
              <a:rPr lang="en-US" sz="1600" dirty="0">
                <a:solidFill>
                  <a:schemeClr val="tx1"/>
                </a:solidFill>
              </a:rPr>
              <a:t>Marqueur </a:t>
            </a:r>
            <a:r>
              <a:rPr lang="en-US" sz="1600" b="1" dirty="0">
                <a:solidFill>
                  <a:schemeClr val="tx1"/>
                </a:solidFill>
              </a:rPr>
              <a:t>en tête</a:t>
            </a:r>
            <a:r>
              <a:rPr lang="en-US" sz="1600" dirty="0">
                <a:solidFill>
                  <a:schemeClr val="tx1"/>
                </a:solidFill>
              </a:rPr>
              <a:t> → inversion (M3).</a:t>
            </a:r>
            <a:endParaRPr lang="en-US" sz="1600" dirty="0"/>
          </a:p>
          <a:p>
            <a:pPr algn="l" indent="0" marL="0">
              <a:spcAft>
                <a:spcPts val="1000"/>
              </a:spcAft>
              <a:buNone/>
            </a:pPr>
            <a:r>
              <a:rPr lang="en-US" sz="1600" dirty="0">
                <a:solidFill>
                  <a:schemeClr val="tx1"/>
                </a:solidFill>
              </a:rPr>
              <a:t>En fin de phrase, pas d’inversion : </a:t>
            </a:r>
            <a:r>
              <a:rPr lang="en-US" sz="1600" i="1" dirty="0">
                <a:solidFill>
                  <a:schemeClr val="tx1"/>
                </a:solidFill>
              </a:rPr>
              <a:t>Ik werk morgen thuis.</a:t>
            </a:r>
            <a:endParaRPr lang="en-US" sz="1600" dirty="0"/>
          </a:p>
          <a:p>
            <a:pPr algn="l" indent="0" marL="0">
              <a:spcAft>
                <a:spcPts val="1000"/>
              </a:spcAft>
              <a:buNone/>
            </a:pPr>
            <a:r>
              <a:rPr lang="en-US" sz="1600" i="1" dirty="0">
                <a:solidFill>
                  <a:schemeClr val="tx1"/>
                </a:solidFill>
              </a:rPr>
              <a:t>straks</a:t>
            </a:r>
            <a:r>
              <a:rPr lang="en-US" sz="1600" dirty="0">
                <a:solidFill>
                  <a:schemeClr val="tx1"/>
                </a:solidFill>
              </a:rPr>
              <a:t> = tout à l’heure</a:t>
            </a:r>
            <a:endParaRPr lang="en-US" sz="1600" dirty="0"/>
          </a:p>
        </p:txBody>
      </p:sp>
      <p:sp>
        <p:nvSpPr>
          <p:cNvPr id="44" name="Shape 40"/>
          <p:cNvSpPr/>
          <p:nvPr/>
        </p:nvSpPr>
        <p:spPr>
          <a:xfrm>
            <a:off x="548640" y="5623560"/>
            <a:ext cx="11091672" cy="640080"/>
          </a:xfrm>
          <a:prstGeom prst="roundRect">
            <a:avLst>
              <a:gd name="adj" fmla="val 11429"/>
            </a:avLst>
          </a:prstGeom>
          <a:solidFill>
            <a:schemeClr val="tx2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45" name="Text 41"/>
          <p:cNvSpPr txBox="1"/>
          <p:nvPr/>
        </p:nvSpPr>
        <p:spPr>
          <a:xfrm>
            <a:off x="822960" y="5623560"/>
            <a:ext cx="106070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900" dirty="0">
                <a:solidFill>
                  <a:schemeClr val="bg1"/>
                </a:solidFill>
              </a:rPr>
              <a:t>FR : « Je </a:t>
            </a:r>
            <a:r>
              <a:rPr lang="en-US" sz="1900" b="1" dirty="0">
                <a:solidFill>
                  <a:schemeClr val="bg1"/>
                </a:solidFill>
              </a:rPr>
              <a:t>travaillerai</a:t>
            </a:r>
            <a:r>
              <a:rPr lang="en-US" sz="1900" dirty="0">
                <a:solidFill>
                  <a:schemeClr val="bg1"/>
                </a:solidFill>
              </a:rPr>
              <a:t> demain. » → NL : </a:t>
            </a:r>
            <a:r>
              <a:rPr lang="en-US" sz="1900" i="1" dirty="0">
                <a:solidFill>
                  <a:schemeClr val="bg1"/>
                </a:solidFill>
              </a:rPr>
              <a:t>Morgen </a:t>
            </a:r>
            <a:r>
              <a:rPr lang="en-US" sz="1900" b="1" i="1" dirty="0">
                <a:solidFill>
                  <a:schemeClr val="bg1"/>
                </a:solidFill>
              </a:rPr>
              <a:t>werk</a:t>
            </a:r>
            <a:r>
              <a:rPr lang="en-US" sz="1900" i="1" dirty="0">
                <a:solidFill>
                  <a:schemeClr val="bg1"/>
                </a:solidFill>
              </a:rPr>
              <a:t> ik.</a:t>
            </a:r>
            <a:r>
              <a:rPr lang="en-US" sz="1900" dirty="0">
                <a:solidFill>
                  <a:schemeClr val="bg1"/>
                </a:solidFill>
              </a:rPr>
              <a:t> (présent)</a:t>
            </a:r>
            <a:endParaRPr lang="en-US" sz="19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1672" y="644652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4A5A70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5</a:t>
            </a:fld>
            <a:endParaRPr lang="en-US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548640" y="621792"/>
            <a:ext cx="11091672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chemeClr val="tx2"/>
                </a:solidFill>
              </a:rPr>
              <a:t>PIÈGE : trois calques du futur</a:t>
            </a:r>
            <a:endParaRPr lang="en-US" sz="3000" dirty="0"/>
          </a:p>
        </p:txBody>
      </p:sp>
      <p:sp>
        <p:nvSpPr>
          <p:cNvPr id="3" name="tag"/>
          <p:cNvSpPr/>
          <p:nvPr/>
        </p:nvSpPr>
        <p:spPr>
          <a:xfrm>
            <a:off x="548640" y="237744"/>
            <a:ext cx="1878178" cy="310896"/>
          </a:xfrm>
          <a:prstGeom prst="roundRect">
            <a:avLst>
              <a:gd name="adj" fmla="val 14706"/>
            </a:avLst>
          </a:prstGeom>
          <a:solidFill>
            <a:schemeClr val="accent6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spc="100" kern="0" dirty="0">
                <a:solidFill>
                  <a:srgbClr val="FFFFFF"/>
                </a:solidFill>
              </a:rPr>
              <a:t>PIÈGE FR ≠ NL</a:t>
            </a:r>
            <a:endParaRPr lang="en-US" sz="1200" dirty="0"/>
          </a:p>
        </p:txBody>
      </p:sp>
      <p:sp>
        <p:nvSpPr>
          <p:cNvPr id="5" name="Shape 2"/>
          <p:cNvSpPr/>
          <p:nvPr/>
        </p:nvSpPr>
        <p:spPr>
          <a:xfrm>
            <a:off x="548640" y="1554480"/>
            <a:ext cx="11091672" cy="4023360"/>
          </a:xfrm>
          <a:prstGeom prst="roundRect">
            <a:avLst>
              <a:gd name="adj" fmla="val 1818"/>
            </a:avLst>
          </a:prstGeom>
          <a:solidFill>
            <a:schemeClr val="accent6">
              <a:alpha val="6000"/>
            </a:schemeClr>
          </a:solidFill>
          <a:ln w="12700">
            <a:solidFill>
              <a:srgbClr val="B83227">
                <a:alpha val="60000"/>
              </a:srgbClr>
            </a:solidFill>
            <a:prstDash val="solid"/>
          </a:ln>
        </p:spPr>
      </p:sp>
      <p:sp>
        <p:nvSpPr>
          <p:cNvPr id="6" name="tag"/>
          <p:cNvSpPr/>
          <p:nvPr/>
        </p:nvSpPr>
        <p:spPr>
          <a:xfrm>
            <a:off x="731520" y="1691640"/>
            <a:ext cx="1230782" cy="292608"/>
          </a:xfrm>
          <a:prstGeom prst="roundRect">
            <a:avLst>
              <a:gd name="adj" fmla="val 15625"/>
            </a:avLst>
          </a:prstGeom>
          <a:solidFill>
            <a:schemeClr val="accent6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spc="100" kern="0" dirty="0">
                <a:solidFill>
                  <a:srgbClr val="FFFFFF"/>
                </a:solidFill>
              </a:rPr>
              <a:t>⚠ PIÈGE</a:t>
            </a:r>
            <a:endParaRPr lang="en-US" sz="1200" dirty="0"/>
          </a:p>
        </p:txBody>
      </p:sp>
      <p:pic>
        <p:nvPicPr>
          <p:cNvPr id="7" name="Image 0" descr="person walki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77240" y="2212848"/>
            <a:ext cx="685800" cy="685800"/>
          </a:xfrm>
          <a:prstGeom prst="rect">
            <a:avLst/>
          </a:prstGeom>
        </p:spPr>
      </p:pic>
      <p:sp>
        <p:nvSpPr>
          <p:cNvPr id="8" name="Text 4"/>
          <p:cNvSpPr txBox="1"/>
          <p:nvPr/>
        </p:nvSpPr>
        <p:spPr>
          <a:xfrm>
            <a:off x="1600200" y="2103120"/>
            <a:ext cx="310896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dirty="0">
                <a:solidFill>
                  <a:schemeClr val="tx1"/>
                </a:solidFill>
              </a:rPr>
              <a:t>« Je vais aller à Gand. »</a:t>
            </a:r>
            <a:endParaRPr lang="en-US" sz="1600" dirty="0"/>
          </a:p>
        </p:txBody>
      </p:sp>
      <p:sp>
        <p:nvSpPr>
          <p:cNvPr id="9" name="Text 5"/>
          <p:cNvSpPr txBox="1"/>
          <p:nvPr/>
        </p:nvSpPr>
        <p:spPr>
          <a:xfrm>
            <a:off x="4709160" y="2103120"/>
            <a:ext cx="269748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00" dirty="0">
                <a:solidFill>
                  <a:schemeClr val="accent6"/>
                </a:solidFill>
              </a:rPr>
              <a:t>✗ </a:t>
            </a:r>
            <a:r>
              <a:rPr lang="en-US" sz="1400" i="1" strike="sngStrike" dirty="0">
                <a:solidFill>
                  <a:schemeClr val="accent6"/>
                </a:solidFill>
              </a:rPr>
              <a:t>Ik ga naar Gent gaan.</a:t>
            </a:r>
            <a:endParaRPr lang="en-US" sz="1400" dirty="0"/>
          </a:p>
        </p:txBody>
      </p:sp>
      <p:sp>
        <p:nvSpPr>
          <p:cNvPr id="10" name="Shape 6"/>
          <p:cNvSpPr/>
          <p:nvPr/>
        </p:nvSpPr>
        <p:spPr>
          <a:xfrm>
            <a:off x="7406640" y="2560320"/>
            <a:ext cx="274320" cy="914"/>
          </a:xfrm>
          <a:prstGeom prst="line">
            <a:avLst/>
          </a:prstGeom>
          <a:noFill/>
          <a:ln w="25400">
            <a:solidFill>
              <a:srgbClr val="2E7D4F"/>
            </a:solidFill>
            <a:prstDash val="solid"/>
            <a:tailEnd type="triangle"/>
          </a:ln>
        </p:spPr>
      </p:sp>
      <p:sp>
        <p:nvSpPr>
          <p:cNvPr id="11" name="Shape 7"/>
          <p:cNvSpPr/>
          <p:nvPr/>
        </p:nvSpPr>
        <p:spPr>
          <a:xfrm>
            <a:off x="7726680" y="2194560"/>
            <a:ext cx="3749040" cy="731520"/>
          </a:xfrm>
          <a:prstGeom prst="roundRect">
            <a:avLst>
              <a:gd name="adj" fmla="val 12500"/>
            </a:avLst>
          </a:prstGeom>
          <a:solidFill>
            <a:schemeClr val="accent3">
              <a:alpha val="12000"/>
            </a:schemeClr>
          </a:solidFill>
          <a:ln w="19050">
            <a:solidFill>
              <a:srgbClr val="2E7D4F"/>
            </a:solidFill>
            <a:prstDash val="solid"/>
          </a:ln>
        </p:spPr>
      </p:sp>
      <p:sp>
        <p:nvSpPr>
          <p:cNvPr id="12" name="Text 8"/>
          <p:cNvSpPr txBox="1"/>
          <p:nvPr/>
        </p:nvSpPr>
        <p:spPr>
          <a:xfrm>
            <a:off x="7818120" y="2194560"/>
            <a:ext cx="36118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700" dirty="0">
                <a:solidFill>
                  <a:schemeClr val="tx1"/>
                </a:solidFill>
              </a:rPr>
              <a:t>✓ </a:t>
            </a:r>
            <a:r>
              <a:rPr lang="en-US" sz="1700" i="1" dirty="0">
                <a:solidFill>
                  <a:schemeClr val="tx1"/>
                </a:solidFill>
              </a:rPr>
              <a:t>Ik </a:t>
            </a:r>
            <a:r>
              <a:rPr lang="en-US" sz="1700" b="1" i="1" dirty="0">
                <a:solidFill>
                  <a:schemeClr val="tx1"/>
                </a:solidFill>
              </a:rPr>
              <a:t>ga</a:t>
            </a:r>
            <a:r>
              <a:rPr lang="en-US" sz="1700" i="1" dirty="0">
                <a:solidFill>
                  <a:schemeClr val="tx1"/>
                </a:solidFill>
              </a:rPr>
              <a:t> naar Gent.</a:t>
            </a:r>
            <a:endParaRPr lang="en-US" sz="1700" dirty="0"/>
          </a:p>
        </p:txBody>
      </p:sp>
      <p:pic>
        <p:nvPicPr>
          <p:cNvPr id="13" name="Image 1" descr="laptop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77240" y="3328416"/>
            <a:ext cx="685800" cy="685800"/>
          </a:xfrm>
          <a:prstGeom prst="rect">
            <a:avLst/>
          </a:prstGeom>
        </p:spPr>
      </p:pic>
      <p:sp>
        <p:nvSpPr>
          <p:cNvPr id="14" name="Text 9"/>
          <p:cNvSpPr txBox="1"/>
          <p:nvPr/>
        </p:nvSpPr>
        <p:spPr>
          <a:xfrm>
            <a:off x="1600200" y="3218688"/>
            <a:ext cx="310896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dirty="0">
                <a:solidFill>
                  <a:schemeClr val="tx1"/>
                </a:solidFill>
              </a:rPr>
              <a:t>« Je travaillerai demain. »</a:t>
            </a:r>
            <a:endParaRPr lang="en-US" sz="1600" dirty="0"/>
          </a:p>
        </p:txBody>
      </p:sp>
      <p:sp>
        <p:nvSpPr>
          <p:cNvPr id="15" name="Text 10"/>
          <p:cNvSpPr txBox="1"/>
          <p:nvPr/>
        </p:nvSpPr>
        <p:spPr>
          <a:xfrm>
            <a:off x="4709160" y="3218688"/>
            <a:ext cx="269748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00" dirty="0">
                <a:solidFill>
                  <a:schemeClr val="accent6"/>
                </a:solidFill>
              </a:rPr>
              <a:t>✗ </a:t>
            </a:r>
            <a:r>
              <a:rPr lang="en-US" sz="1400" i="1" strike="sngStrike" dirty="0">
                <a:solidFill>
                  <a:schemeClr val="accent6"/>
                </a:solidFill>
              </a:rPr>
              <a:t>Ik zal werken morgen.</a:t>
            </a:r>
            <a:endParaRPr lang="en-US" sz="1400" dirty="0"/>
          </a:p>
        </p:txBody>
      </p:sp>
      <p:sp>
        <p:nvSpPr>
          <p:cNvPr id="16" name="Shape 11"/>
          <p:cNvSpPr/>
          <p:nvPr/>
        </p:nvSpPr>
        <p:spPr>
          <a:xfrm>
            <a:off x="7406640" y="3675888"/>
            <a:ext cx="274320" cy="914"/>
          </a:xfrm>
          <a:prstGeom prst="line">
            <a:avLst/>
          </a:prstGeom>
          <a:noFill/>
          <a:ln w="25400">
            <a:solidFill>
              <a:srgbClr val="2E7D4F"/>
            </a:solidFill>
            <a:prstDash val="solid"/>
            <a:tailEnd type="triangle"/>
          </a:ln>
        </p:spPr>
      </p:sp>
      <p:sp>
        <p:nvSpPr>
          <p:cNvPr id="17" name="Shape 12"/>
          <p:cNvSpPr/>
          <p:nvPr/>
        </p:nvSpPr>
        <p:spPr>
          <a:xfrm>
            <a:off x="7726680" y="3310128"/>
            <a:ext cx="3749040" cy="731520"/>
          </a:xfrm>
          <a:prstGeom prst="roundRect">
            <a:avLst>
              <a:gd name="adj" fmla="val 12500"/>
            </a:avLst>
          </a:prstGeom>
          <a:solidFill>
            <a:schemeClr val="accent3">
              <a:alpha val="12000"/>
            </a:schemeClr>
          </a:solidFill>
          <a:ln w="19050">
            <a:solidFill>
              <a:srgbClr val="2E7D4F"/>
            </a:solidFill>
            <a:prstDash val="solid"/>
          </a:ln>
        </p:spPr>
      </p:sp>
      <p:sp>
        <p:nvSpPr>
          <p:cNvPr id="18" name="Text 13"/>
          <p:cNvSpPr txBox="1"/>
          <p:nvPr/>
        </p:nvSpPr>
        <p:spPr>
          <a:xfrm>
            <a:off x="7818120" y="3310128"/>
            <a:ext cx="36118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700" dirty="0">
                <a:solidFill>
                  <a:schemeClr val="tx1"/>
                </a:solidFill>
              </a:rPr>
              <a:t>✓ </a:t>
            </a:r>
            <a:r>
              <a:rPr lang="en-US" sz="1700" i="1" dirty="0">
                <a:solidFill>
                  <a:schemeClr val="tx1"/>
                </a:solidFill>
              </a:rPr>
              <a:t>Morgen </a:t>
            </a:r>
            <a:r>
              <a:rPr lang="en-US" sz="1700" b="1" i="1" dirty="0">
                <a:solidFill>
                  <a:schemeClr val="tx1"/>
                </a:solidFill>
              </a:rPr>
              <a:t>werk</a:t>
            </a:r>
            <a:r>
              <a:rPr lang="en-US" sz="1700" i="1" dirty="0">
                <a:solidFill>
                  <a:schemeClr val="tx1"/>
                </a:solidFill>
              </a:rPr>
              <a:t> ik. / Ik zal morgen </a:t>
            </a:r>
            <a:r>
              <a:rPr lang="en-US" sz="1700" b="1" i="1" dirty="0">
                <a:solidFill>
                  <a:schemeClr val="tx1"/>
                </a:solidFill>
              </a:rPr>
              <a:t>werken</a:t>
            </a:r>
            <a:r>
              <a:rPr lang="en-US" sz="1700" i="1" dirty="0">
                <a:solidFill>
                  <a:schemeClr val="tx1"/>
                </a:solidFill>
              </a:rPr>
              <a:t>.</a:t>
            </a:r>
            <a:endParaRPr lang="en-US" sz="1700" dirty="0"/>
          </a:p>
        </p:txBody>
      </p:sp>
      <p:pic>
        <p:nvPicPr>
          <p:cNvPr id="19" name="Image 2" descr="cityscape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77240" y="4443984"/>
            <a:ext cx="685800" cy="685800"/>
          </a:xfrm>
          <a:prstGeom prst="rect">
            <a:avLst/>
          </a:prstGeom>
        </p:spPr>
      </p:pic>
      <p:sp>
        <p:nvSpPr>
          <p:cNvPr id="20" name="Text 14"/>
          <p:cNvSpPr txBox="1"/>
          <p:nvPr/>
        </p:nvSpPr>
        <p:spPr>
          <a:xfrm>
            <a:off x="1600200" y="4334256"/>
            <a:ext cx="310896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dirty="0">
                <a:solidFill>
                  <a:schemeClr val="tx1"/>
                </a:solidFill>
              </a:rPr>
              <a:t>« Quand je serai à Bruxelles, je t’appellerai. »</a:t>
            </a:r>
            <a:endParaRPr lang="en-US" sz="1600" dirty="0"/>
          </a:p>
        </p:txBody>
      </p:sp>
      <p:sp>
        <p:nvSpPr>
          <p:cNvPr id="21" name="Text 15"/>
          <p:cNvSpPr txBox="1"/>
          <p:nvPr/>
        </p:nvSpPr>
        <p:spPr>
          <a:xfrm>
            <a:off x="4709160" y="4334256"/>
            <a:ext cx="269748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00" dirty="0">
                <a:solidFill>
                  <a:schemeClr val="accent6"/>
                </a:solidFill>
              </a:rPr>
              <a:t>✗ </a:t>
            </a:r>
            <a:r>
              <a:rPr lang="en-US" sz="1400" i="1" strike="sngStrike" dirty="0">
                <a:solidFill>
                  <a:schemeClr val="accent6"/>
                </a:solidFill>
              </a:rPr>
              <a:t>Als ik in Brussel zal zijn, …</a:t>
            </a:r>
            <a:endParaRPr lang="en-US" sz="1400" dirty="0"/>
          </a:p>
        </p:txBody>
      </p:sp>
      <p:sp>
        <p:nvSpPr>
          <p:cNvPr id="22" name="Shape 16"/>
          <p:cNvSpPr/>
          <p:nvPr/>
        </p:nvSpPr>
        <p:spPr>
          <a:xfrm>
            <a:off x="7406640" y="4791456"/>
            <a:ext cx="274320" cy="914"/>
          </a:xfrm>
          <a:prstGeom prst="line">
            <a:avLst/>
          </a:prstGeom>
          <a:noFill/>
          <a:ln w="25400">
            <a:solidFill>
              <a:srgbClr val="2E7D4F"/>
            </a:solidFill>
            <a:prstDash val="solid"/>
            <a:tailEnd type="triangle"/>
          </a:ln>
        </p:spPr>
      </p:sp>
      <p:sp>
        <p:nvSpPr>
          <p:cNvPr id="23" name="Shape 17"/>
          <p:cNvSpPr/>
          <p:nvPr/>
        </p:nvSpPr>
        <p:spPr>
          <a:xfrm>
            <a:off x="7726680" y="4425696"/>
            <a:ext cx="3749040" cy="731520"/>
          </a:xfrm>
          <a:prstGeom prst="roundRect">
            <a:avLst>
              <a:gd name="adj" fmla="val 12500"/>
            </a:avLst>
          </a:prstGeom>
          <a:solidFill>
            <a:schemeClr val="accent3">
              <a:alpha val="12000"/>
            </a:schemeClr>
          </a:solidFill>
          <a:ln w="19050">
            <a:solidFill>
              <a:srgbClr val="2E7D4F"/>
            </a:solidFill>
            <a:prstDash val="solid"/>
          </a:ln>
        </p:spPr>
      </p:sp>
      <p:sp>
        <p:nvSpPr>
          <p:cNvPr id="24" name="Text 18"/>
          <p:cNvSpPr txBox="1"/>
          <p:nvPr/>
        </p:nvSpPr>
        <p:spPr>
          <a:xfrm>
            <a:off x="7818120" y="4425696"/>
            <a:ext cx="36118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700" dirty="0">
                <a:solidFill>
                  <a:schemeClr val="tx1"/>
                </a:solidFill>
              </a:rPr>
              <a:t>✓ </a:t>
            </a:r>
            <a:r>
              <a:rPr lang="en-US" sz="1700" i="1" dirty="0">
                <a:solidFill>
                  <a:schemeClr val="tx1"/>
                </a:solidFill>
              </a:rPr>
              <a:t>Als ik in Brussel </a:t>
            </a:r>
            <a:r>
              <a:rPr lang="en-US" sz="1700" b="1" i="1" dirty="0">
                <a:solidFill>
                  <a:schemeClr val="tx1"/>
                </a:solidFill>
              </a:rPr>
              <a:t>ben</a:t>
            </a:r>
            <a:r>
              <a:rPr lang="en-US" sz="1700" i="1" dirty="0">
                <a:solidFill>
                  <a:schemeClr val="tx1"/>
                </a:solidFill>
              </a:rPr>
              <a:t>, bel ik je.</a:t>
            </a:r>
            <a:endParaRPr lang="en-US" sz="1700" dirty="0"/>
          </a:p>
        </p:txBody>
      </p:sp>
      <p:sp>
        <p:nvSpPr>
          <p:cNvPr id="25" name="Shape 19"/>
          <p:cNvSpPr/>
          <p:nvPr/>
        </p:nvSpPr>
        <p:spPr>
          <a:xfrm>
            <a:off x="548640" y="5715000"/>
            <a:ext cx="11091672" cy="566928"/>
          </a:xfrm>
          <a:prstGeom prst="roundRect">
            <a:avLst>
              <a:gd name="adj" fmla="val 12903"/>
            </a:avLst>
          </a:prstGeom>
          <a:solidFill>
            <a:schemeClr val="tx2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26" name="Text 20"/>
          <p:cNvSpPr txBox="1"/>
          <p:nvPr/>
        </p:nvSpPr>
        <p:spPr>
          <a:xfrm>
            <a:off x="822960" y="5715000"/>
            <a:ext cx="106070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700" i="1" dirty="0">
                <a:solidFill>
                  <a:schemeClr val="bg1"/>
                </a:solidFill>
              </a:rPr>
              <a:t>Ik ga naar Gent</a:t>
            </a:r>
            <a:r>
              <a:rPr lang="en-US" sz="1700" dirty="0">
                <a:solidFill>
                  <a:schemeClr val="bg1"/>
                </a:solidFill>
              </a:rPr>
              <a:t> = « je vais aller » · avec </a:t>
            </a:r>
            <a:r>
              <a:rPr lang="en-US" sz="1700" i="1" dirty="0">
                <a:solidFill>
                  <a:schemeClr val="bg1"/>
                </a:solidFill>
              </a:rPr>
              <a:t>zullen</a:t>
            </a:r>
            <a:r>
              <a:rPr lang="en-US" sz="1700" dirty="0">
                <a:solidFill>
                  <a:schemeClr val="bg1"/>
                </a:solidFill>
              </a:rPr>
              <a:t>, l’infinitif au bout · après </a:t>
            </a:r>
            <a:r>
              <a:rPr lang="en-US" sz="1700" i="1" dirty="0">
                <a:solidFill>
                  <a:schemeClr val="bg1"/>
                </a:solidFill>
              </a:rPr>
              <a:t>als</a:t>
            </a:r>
            <a:r>
              <a:rPr lang="en-US" sz="1700" dirty="0">
                <a:solidFill>
                  <a:schemeClr val="bg1"/>
                </a:solidFill>
              </a:rPr>
              <a:t>, le </a:t>
            </a:r>
            <a:r>
              <a:rPr lang="en-US" sz="1700" b="1" dirty="0">
                <a:solidFill>
                  <a:schemeClr val="bg1"/>
                </a:solidFill>
              </a:rPr>
              <a:t>présent</a:t>
            </a:r>
            <a:endParaRPr lang="en-US" sz="17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1672" y="644652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4A5A70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6</a:t>
            </a:fld>
            <a:endParaRPr lang="en-US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548640" y="621792"/>
            <a:ext cx="11091672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chemeClr val="tx2"/>
                </a:solidFill>
              </a:rPr>
              <a:t>gaan + infinitif</a:t>
            </a:r>
            <a:endParaRPr lang="en-US" sz="3000" dirty="0"/>
          </a:p>
        </p:txBody>
      </p:sp>
      <p:sp>
        <p:nvSpPr>
          <p:cNvPr id="3" name="tag"/>
          <p:cNvSpPr/>
          <p:nvPr/>
        </p:nvSpPr>
        <p:spPr>
          <a:xfrm>
            <a:off x="548640" y="237744"/>
            <a:ext cx="1336853" cy="310896"/>
          </a:xfrm>
          <a:prstGeom prst="roundRect">
            <a:avLst>
              <a:gd name="adj" fmla="val 14706"/>
            </a:avLst>
          </a:prstGeom>
          <a:solidFill>
            <a:schemeClr val="tx2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spc="100" kern="0" dirty="0">
                <a:solidFill>
                  <a:srgbClr val="FFFFFF"/>
                </a:solidFill>
              </a:rPr>
              <a:t>GRAMMAIRE</a:t>
            </a:r>
            <a:endParaRPr lang="en-US" sz="1200" dirty="0"/>
          </a:p>
        </p:txBody>
      </p:sp>
      <p:sp>
        <p:nvSpPr>
          <p:cNvPr id="5" name="Shape 2"/>
          <p:cNvSpPr/>
          <p:nvPr/>
        </p:nvSpPr>
        <p:spPr>
          <a:xfrm>
            <a:off x="548640" y="1554480"/>
            <a:ext cx="3200400" cy="3886200"/>
          </a:xfrm>
          <a:prstGeom prst="roundRect">
            <a:avLst>
              <a:gd name="adj" fmla="val 2286"/>
            </a:avLst>
          </a:prstGeom>
          <a:solidFill>
            <a:schemeClr val="bg1"/>
          </a:solidFill>
          <a:ln w="25400">
            <a:solidFill>
              <a:srgbClr val="2A6FB0"/>
            </a:solidFill>
            <a:prstDash val="solid"/>
          </a:ln>
          <a:effectLst>
            <a:outerShdw sx="100000" sy="100000" kx="0" ky="0" algn="bl" rotWithShape="0" blurRad="101600" dist="25400" dir="3600000">
              <a:srgbClr val="000000">
                <a:alpha val="16000"/>
              </a:srgbClr>
            </a:outerShdw>
          </a:effectLst>
        </p:spPr>
      </p:sp>
      <p:sp>
        <p:nvSpPr>
          <p:cNvPr id="6" name="Shape 3"/>
          <p:cNvSpPr/>
          <p:nvPr/>
        </p:nvSpPr>
        <p:spPr>
          <a:xfrm>
            <a:off x="548640" y="1554480"/>
            <a:ext cx="3200400" cy="685800"/>
          </a:xfrm>
          <a:prstGeom prst="roundRect">
            <a:avLst>
              <a:gd name="adj" fmla="val 10667"/>
            </a:avLst>
          </a:prstGeom>
          <a:solidFill>
            <a:schemeClr val="accent2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7" name="Text 4"/>
          <p:cNvSpPr txBox="1"/>
          <p:nvPr/>
        </p:nvSpPr>
        <p:spPr>
          <a:xfrm>
            <a:off x="731520" y="1554480"/>
            <a:ext cx="28346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algn="l" indent="0" marL="0">
              <a:buNone/>
            </a:pPr>
            <a:r>
              <a:rPr lang="en-US" sz="2400" b="1" dirty="0">
                <a:solidFill>
                  <a:schemeClr val="bg1"/>
                </a:solidFill>
                <a:latin typeface="+mj-lt" pitchFamily="34" charset="0"/>
                <a:ea typeface="+mj-lt" pitchFamily="34" charset="-122"/>
                <a:cs typeface="+mj-lt" pitchFamily="34" charset="-120"/>
              </a:rPr>
              <a:t>gaan</a:t>
            </a:r>
            <a:endParaRPr lang="en-US" sz="2400" dirty="0"/>
          </a:p>
        </p:txBody>
      </p:sp>
      <p:sp>
        <p:nvSpPr>
          <p:cNvPr id="8" name="Text 5"/>
          <p:cNvSpPr txBox="1"/>
          <p:nvPr/>
        </p:nvSpPr>
        <p:spPr>
          <a:xfrm>
            <a:off x="731520" y="1965960"/>
            <a:ext cx="2834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00" i="1" dirty="0">
                <a:solidFill>
                  <a:schemeClr val="bg1"/>
                </a:solidFill>
              </a:rPr>
              <a:t>aller</a:t>
            </a:r>
            <a:endParaRPr lang="en-US" sz="1200" dirty="0"/>
          </a:p>
        </p:txBody>
      </p:sp>
      <p:sp>
        <p:nvSpPr>
          <p:cNvPr id="9" name="Text 6"/>
          <p:cNvSpPr txBox="1"/>
          <p:nvPr/>
        </p:nvSpPr>
        <p:spPr>
          <a:xfrm>
            <a:off x="731520" y="2331720"/>
            <a:ext cx="1664208" cy="7543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dirty="0">
                <a:solidFill>
                  <a:schemeClr val="accent5"/>
                </a:solidFill>
              </a:rPr>
              <a:t>ik</a:t>
            </a:r>
            <a:endParaRPr lang="en-US" sz="1600" dirty="0"/>
          </a:p>
        </p:txBody>
      </p:sp>
      <p:sp>
        <p:nvSpPr>
          <p:cNvPr id="10" name="Text 7"/>
          <p:cNvSpPr txBox="1"/>
          <p:nvPr/>
        </p:nvSpPr>
        <p:spPr>
          <a:xfrm>
            <a:off x="2212848" y="2331720"/>
            <a:ext cx="1472184" cy="7543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800" b="1" dirty="0">
                <a:solidFill>
                  <a:schemeClr val="accent2"/>
                </a:solidFill>
              </a:rPr>
              <a:t>ga</a:t>
            </a:r>
            <a:endParaRPr lang="en-US" sz="1800" dirty="0"/>
          </a:p>
        </p:txBody>
      </p:sp>
      <p:sp>
        <p:nvSpPr>
          <p:cNvPr id="11" name="Shape 8"/>
          <p:cNvSpPr/>
          <p:nvPr/>
        </p:nvSpPr>
        <p:spPr>
          <a:xfrm>
            <a:off x="621792" y="3086100"/>
            <a:ext cx="3054096" cy="754380"/>
          </a:xfrm>
          <a:prstGeom prst="rect">
            <a:avLst/>
          </a:prstGeom>
          <a:solidFill>
            <a:schemeClr val="bg2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12" name="Text 9"/>
          <p:cNvSpPr txBox="1"/>
          <p:nvPr/>
        </p:nvSpPr>
        <p:spPr>
          <a:xfrm>
            <a:off x="731520" y="3086100"/>
            <a:ext cx="1664208" cy="7543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dirty="0">
                <a:solidFill>
                  <a:schemeClr val="accent5"/>
                </a:solidFill>
              </a:rPr>
              <a:t>jij · u</a:t>
            </a:r>
            <a:endParaRPr lang="en-US" sz="1600" dirty="0"/>
          </a:p>
        </p:txBody>
      </p:sp>
      <p:sp>
        <p:nvSpPr>
          <p:cNvPr id="13" name="Text 10"/>
          <p:cNvSpPr txBox="1"/>
          <p:nvPr/>
        </p:nvSpPr>
        <p:spPr>
          <a:xfrm>
            <a:off x="2212848" y="3086100"/>
            <a:ext cx="1472184" cy="7543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800" b="1" dirty="0">
                <a:solidFill>
                  <a:schemeClr val="accent2"/>
                </a:solidFill>
              </a:rPr>
              <a:t>gaat</a:t>
            </a:r>
            <a:endParaRPr lang="en-US" sz="1800" dirty="0"/>
          </a:p>
        </p:txBody>
      </p:sp>
      <p:sp>
        <p:nvSpPr>
          <p:cNvPr id="14" name="Text 11"/>
          <p:cNvSpPr txBox="1"/>
          <p:nvPr/>
        </p:nvSpPr>
        <p:spPr>
          <a:xfrm>
            <a:off x="731520" y="3840480"/>
            <a:ext cx="1664208" cy="7543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dirty="0">
                <a:solidFill>
                  <a:schemeClr val="accent5"/>
                </a:solidFill>
              </a:rPr>
              <a:t>hij · zij</a:t>
            </a:r>
            <a:endParaRPr lang="en-US" sz="1600" dirty="0"/>
          </a:p>
        </p:txBody>
      </p:sp>
      <p:sp>
        <p:nvSpPr>
          <p:cNvPr id="15" name="Text 12"/>
          <p:cNvSpPr txBox="1"/>
          <p:nvPr/>
        </p:nvSpPr>
        <p:spPr>
          <a:xfrm>
            <a:off x="2212848" y="3840480"/>
            <a:ext cx="1472184" cy="7543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800" b="1" dirty="0">
                <a:solidFill>
                  <a:schemeClr val="accent2"/>
                </a:solidFill>
              </a:rPr>
              <a:t>gaat</a:t>
            </a:r>
            <a:endParaRPr lang="en-US" sz="1800" dirty="0"/>
          </a:p>
        </p:txBody>
      </p:sp>
      <p:sp>
        <p:nvSpPr>
          <p:cNvPr id="16" name="Shape 13"/>
          <p:cNvSpPr/>
          <p:nvPr/>
        </p:nvSpPr>
        <p:spPr>
          <a:xfrm>
            <a:off x="621792" y="4594860"/>
            <a:ext cx="3054096" cy="754380"/>
          </a:xfrm>
          <a:prstGeom prst="rect">
            <a:avLst/>
          </a:prstGeom>
          <a:solidFill>
            <a:schemeClr val="bg2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17" name="Text 14"/>
          <p:cNvSpPr txBox="1"/>
          <p:nvPr/>
        </p:nvSpPr>
        <p:spPr>
          <a:xfrm>
            <a:off x="731520" y="4594860"/>
            <a:ext cx="1664208" cy="7543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dirty="0">
                <a:solidFill>
                  <a:schemeClr val="accent5"/>
                </a:solidFill>
              </a:rPr>
              <a:t>we · jullie · zij</a:t>
            </a:r>
            <a:endParaRPr lang="en-US" sz="1600" dirty="0"/>
          </a:p>
        </p:txBody>
      </p:sp>
      <p:sp>
        <p:nvSpPr>
          <p:cNvPr id="18" name="Text 15"/>
          <p:cNvSpPr txBox="1"/>
          <p:nvPr/>
        </p:nvSpPr>
        <p:spPr>
          <a:xfrm>
            <a:off x="2212848" y="4594860"/>
            <a:ext cx="1472184" cy="7543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800" b="1" dirty="0">
                <a:solidFill>
                  <a:schemeClr val="accent2"/>
                </a:solidFill>
              </a:rPr>
              <a:t>gaan</a:t>
            </a:r>
            <a:endParaRPr lang="en-US" sz="1800" dirty="0"/>
          </a:p>
        </p:txBody>
      </p:sp>
      <p:sp>
        <p:nvSpPr>
          <p:cNvPr id="19" name="Shape 16"/>
          <p:cNvSpPr/>
          <p:nvPr/>
        </p:nvSpPr>
        <p:spPr>
          <a:xfrm>
            <a:off x="4023360" y="1600200"/>
            <a:ext cx="606430" cy="731520"/>
          </a:xfrm>
          <a:prstGeom prst="roundRect">
            <a:avLst>
              <a:gd name="adj" fmla="val 12063"/>
            </a:avLst>
          </a:prstGeom>
          <a:solidFill>
            <a:schemeClr val="bg1"/>
          </a:solidFill>
          <a:ln w="15875">
            <a:solidFill>
              <a:srgbClr val="D5DCE6"/>
            </a:solidFill>
            <a:prstDash val="solid"/>
          </a:ln>
        </p:spPr>
      </p:sp>
      <p:sp>
        <p:nvSpPr>
          <p:cNvPr id="20" name="Text 17"/>
          <p:cNvSpPr txBox="1"/>
          <p:nvPr/>
        </p:nvSpPr>
        <p:spPr>
          <a:xfrm>
            <a:off x="4023360" y="1600200"/>
            <a:ext cx="60643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dirty="0">
                <a:solidFill>
                  <a:schemeClr val="tx1"/>
                </a:solidFill>
              </a:rPr>
              <a:t>Ik</a:t>
            </a:r>
            <a:endParaRPr lang="en-US" sz="2200" dirty="0"/>
          </a:p>
        </p:txBody>
      </p:sp>
      <p:sp>
        <p:nvSpPr>
          <p:cNvPr id="21" name="Shape 18"/>
          <p:cNvSpPr/>
          <p:nvPr/>
        </p:nvSpPr>
        <p:spPr>
          <a:xfrm>
            <a:off x="4721230" y="1600200"/>
            <a:ext cx="606430" cy="731520"/>
          </a:xfrm>
          <a:prstGeom prst="roundRect">
            <a:avLst>
              <a:gd name="adj" fmla="val 12063"/>
            </a:avLst>
          </a:prstGeom>
          <a:solidFill>
            <a:srgbClr val="EAF1F8"/>
          </a:solidFill>
          <a:ln w="31750">
            <a:solidFill>
              <a:srgbClr val="2A6FB0"/>
            </a:solidFill>
            <a:prstDash val="solid"/>
          </a:ln>
        </p:spPr>
      </p:sp>
      <p:sp>
        <p:nvSpPr>
          <p:cNvPr id="22" name="Text 19"/>
          <p:cNvSpPr txBox="1"/>
          <p:nvPr/>
        </p:nvSpPr>
        <p:spPr>
          <a:xfrm>
            <a:off x="4721230" y="1600200"/>
            <a:ext cx="60643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chemeClr val="accent2"/>
                </a:solidFill>
              </a:rPr>
              <a:t>ga</a:t>
            </a:r>
            <a:endParaRPr lang="en-US" sz="2200" dirty="0"/>
          </a:p>
        </p:txBody>
      </p:sp>
      <p:sp>
        <p:nvSpPr>
          <p:cNvPr id="23" name="Shape 20"/>
          <p:cNvSpPr/>
          <p:nvPr/>
        </p:nvSpPr>
        <p:spPr>
          <a:xfrm>
            <a:off x="5419100" y="1600200"/>
            <a:ext cx="2646274" cy="731520"/>
          </a:xfrm>
          <a:prstGeom prst="roundRect">
            <a:avLst>
              <a:gd name="adj" fmla="val 10000"/>
            </a:avLst>
          </a:prstGeom>
          <a:solidFill>
            <a:schemeClr val="bg1"/>
          </a:solidFill>
          <a:ln w="15875">
            <a:solidFill>
              <a:srgbClr val="D5DCE6"/>
            </a:solidFill>
            <a:prstDash val="solid"/>
          </a:ln>
        </p:spPr>
      </p:sp>
      <p:sp>
        <p:nvSpPr>
          <p:cNvPr id="24" name="Text 21"/>
          <p:cNvSpPr txBox="1"/>
          <p:nvPr/>
        </p:nvSpPr>
        <p:spPr>
          <a:xfrm>
            <a:off x="5419100" y="1600200"/>
            <a:ext cx="2646274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dirty="0">
                <a:solidFill>
                  <a:schemeClr val="tx1"/>
                </a:solidFill>
              </a:rPr>
              <a:t>een nieuwe auto</a:t>
            </a:r>
            <a:endParaRPr lang="en-US" sz="2200" dirty="0"/>
          </a:p>
        </p:txBody>
      </p:sp>
      <p:sp>
        <p:nvSpPr>
          <p:cNvPr id="25" name="Shape 22"/>
          <p:cNvSpPr/>
          <p:nvPr/>
        </p:nvSpPr>
        <p:spPr>
          <a:xfrm>
            <a:off x="8156814" y="1600200"/>
            <a:ext cx="1234074" cy="731520"/>
          </a:xfrm>
          <a:prstGeom prst="roundRect">
            <a:avLst>
              <a:gd name="adj" fmla="val 10000"/>
            </a:avLst>
          </a:prstGeom>
          <a:solidFill>
            <a:srgbClr val="FBEDEB"/>
          </a:solidFill>
          <a:ln w="25400">
            <a:solidFill>
              <a:srgbClr val="B83227"/>
            </a:solidFill>
            <a:prstDash val="dash"/>
          </a:ln>
        </p:spPr>
      </p:sp>
      <p:sp>
        <p:nvSpPr>
          <p:cNvPr id="26" name="Text 23"/>
          <p:cNvSpPr txBox="1"/>
          <p:nvPr/>
        </p:nvSpPr>
        <p:spPr>
          <a:xfrm>
            <a:off x="8156814" y="1600200"/>
            <a:ext cx="1234074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chemeClr val="accent6"/>
                </a:solidFill>
              </a:rPr>
              <a:t>kopen.</a:t>
            </a:r>
            <a:endParaRPr lang="en-US" sz="2200" dirty="0"/>
          </a:p>
        </p:txBody>
      </p:sp>
      <p:sp>
        <p:nvSpPr>
          <p:cNvPr id="27" name="Shape 24"/>
          <p:cNvSpPr/>
          <p:nvPr/>
        </p:nvSpPr>
        <p:spPr>
          <a:xfrm>
            <a:off x="4023360" y="2560320"/>
            <a:ext cx="606430" cy="731520"/>
          </a:xfrm>
          <a:prstGeom prst="roundRect">
            <a:avLst>
              <a:gd name="adj" fmla="val 12063"/>
            </a:avLst>
          </a:prstGeom>
          <a:solidFill>
            <a:schemeClr val="bg1"/>
          </a:solidFill>
          <a:ln w="15875">
            <a:solidFill>
              <a:srgbClr val="D5DCE6"/>
            </a:solidFill>
            <a:prstDash val="solid"/>
          </a:ln>
        </p:spPr>
      </p:sp>
      <p:sp>
        <p:nvSpPr>
          <p:cNvPr id="28" name="Text 25"/>
          <p:cNvSpPr txBox="1"/>
          <p:nvPr/>
        </p:nvSpPr>
        <p:spPr>
          <a:xfrm>
            <a:off x="4023360" y="2560320"/>
            <a:ext cx="60643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dirty="0">
                <a:solidFill>
                  <a:schemeClr val="tx1"/>
                </a:solidFill>
              </a:rPr>
              <a:t>We</a:t>
            </a:r>
            <a:endParaRPr lang="en-US" sz="2200" dirty="0"/>
          </a:p>
        </p:txBody>
      </p:sp>
      <p:sp>
        <p:nvSpPr>
          <p:cNvPr id="29" name="Shape 26"/>
          <p:cNvSpPr/>
          <p:nvPr/>
        </p:nvSpPr>
        <p:spPr>
          <a:xfrm>
            <a:off x="4721230" y="2560320"/>
            <a:ext cx="920252" cy="731520"/>
          </a:xfrm>
          <a:prstGeom prst="roundRect">
            <a:avLst>
              <a:gd name="adj" fmla="val 10000"/>
            </a:avLst>
          </a:prstGeom>
          <a:solidFill>
            <a:srgbClr val="EAF1F8"/>
          </a:solidFill>
          <a:ln w="31750">
            <a:solidFill>
              <a:srgbClr val="2A6FB0"/>
            </a:solidFill>
            <a:prstDash val="solid"/>
          </a:ln>
        </p:spPr>
      </p:sp>
      <p:sp>
        <p:nvSpPr>
          <p:cNvPr id="30" name="Text 27"/>
          <p:cNvSpPr txBox="1"/>
          <p:nvPr/>
        </p:nvSpPr>
        <p:spPr>
          <a:xfrm>
            <a:off x="4721230" y="2560320"/>
            <a:ext cx="920252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chemeClr val="accent2"/>
                </a:solidFill>
              </a:rPr>
              <a:t>gaan</a:t>
            </a:r>
            <a:endParaRPr lang="en-US" sz="2200" dirty="0"/>
          </a:p>
        </p:txBody>
      </p:sp>
      <p:sp>
        <p:nvSpPr>
          <p:cNvPr id="31" name="Shape 28"/>
          <p:cNvSpPr/>
          <p:nvPr/>
        </p:nvSpPr>
        <p:spPr>
          <a:xfrm>
            <a:off x="5732922" y="2560320"/>
            <a:ext cx="1861718" cy="731520"/>
          </a:xfrm>
          <a:prstGeom prst="roundRect">
            <a:avLst>
              <a:gd name="adj" fmla="val 10000"/>
            </a:avLst>
          </a:prstGeom>
          <a:solidFill>
            <a:srgbClr val="FBEDEB"/>
          </a:solidFill>
          <a:ln w="25400">
            <a:solidFill>
              <a:srgbClr val="B83227"/>
            </a:solidFill>
            <a:prstDash val="dash"/>
          </a:ln>
        </p:spPr>
      </p:sp>
      <p:sp>
        <p:nvSpPr>
          <p:cNvPr id="32" name="Text 29"/>
          <p:cNvSpPr txBox="1"/>
          <p:nvPr/>
        </p:nvSpPr>
        <p:spPr>
          <a:xfrm>
            <a:off x="5732922" y="2560320"/>
            <a:ext cx="1861718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chemeClr val="accent6"/>
                </a:solidFill>
              </a:rPr>
              <a:t>verhuizen.</a:t>
            </a:r>
            <a:endParaRPr lang="en-US" sz="2200" dirty="0"/>
          </a:p>
        </p:txBody>
      </p:sp>
      <p:sp>
        <p:nvSpPr>
          <p:cNvPr id="33" name="Shape 30"/>
          <p:cNvSpPr/>
          <p:nvPr/>
        </p:nvSpPr>
        <p:spPr>
          <a:xfrm>
            <a:off x="4023360" y="3520440"/>
            <a:ext cx="1704807" cy="731520"/>
          </a:xfrm>
          <a:prstGeom prst="roundRect">
            <a:avLst>
              <a:gd name="adj" fmla="val 10000"/>
            </a:avLst>
          </a:prstGeom>
          <a:solidFill>
            <a:schemeClr val="bg1"/>
          </a:solidFill>
          <a:ln w="15875">
            <a:solidFill>
              <a:srgbClr val="D5DCE6"/>
            </a:solidFill>
            <a:prstDash val="solid"/>
          </a:ln>
        </p:spPr>
      </p:sp>
      <p:sp>
        <p:nvSpPr>
          <p:cNvPr id="34" name="Text 31"/>
          <p:cNvSpPr txBox="1"/>
          <p:nvPr/>
        </p:nvSpPr>
        <p:spPr>
          <a:xfrm>
            <a:off x="4023360" y="3520440"/>
            <a:ext cx="1704807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dirty="0">
                <a:solidFill>
                  <a:schemeClr val="tx1"/>
                </a:solidFill>
              </a:rPr>
              <a:t>Kijk, het</a:t>
            </a:r>
            <a:endParaRPr lang="en-US" sz="2200" dirty="0"/>
          </a:p>
        </p:txBody>
      </p:sp>
      <p:sp>
        <p:nvSpPr>
          <p:cNvPr id="35" name="Shape 32"/>
          <p:cNvSpPr/>
          <p:nvPr/>
        </p:nvSpPr>
        <p:spPr>
          <a:xfrm>
            <a:off x="5819607" y="3520440"/>
            <a:ext cx="920252" cy="731520"/>
          </a:xfrm>
          <a:prstGeom prst="roundRect">
            <a:avLst>
              <a:gd name="adj" fmla="val 10000"/>
            </a:avLst>
          </a:prstGeom>
          <a:solidFill>
            <a:srgbClr val="EAF1F8"/>
          </a:solidFill>
          <a:ln w="31750">
            <a:solidFill>
              <a:srgbClr val="2A6FB0"/>
            </a:solidFill>
            <a:prstDash val="solid"/>
          </a:ln>
        </p:spPr>
      </p:sp>
      <p:sp>
        <p:nvSpPr>
          <p:cNvPr id="36" name="Text 33"/>
          <p:cNvSpPr txBox="1"/>
          <p:nvPr/>
        </p:nvSpPr>
        <p:spPr>
          <a:xfrm>
            <a:off x="5819607" y="3520440"/>
            <a:ext cx="920252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chemeClr val="accent2"/>
                </a:solidFill>
              </a:rPr>
              <a:t>gaat</a:t>
            </a:r>
            <a:endParaRPr lang="en-US" sz="2200" dirty="0"/>
          </a:p>
        </p:txBody>
      </p:sp>
      <p:sp>
        <p:nvSpPr>
          <p:cNvPr id="37" name="Shape 34"/>
          <p:cNvSpPr/>
          <p:nvPr/>
        </p:nvSpPr>
        <p:spPr>
          <a:xfrm>
            <a:off x="6831300" y="3520440"/>
            <a:ext cx="1547896" cy="731520"/>
          </a:xfrm>
          <a:prstGeom prst="roundRect">
            <a:avLst>
              <a:gd name="adj" fmla="val 10000"/>
            </a:avLst>
          </a:prstGeom>
          <a:solidFill>
            <a:srgbClr val="FBEDEB"/>
          </a:solidFill>
          <a:ln w="25400">
            <a:solidFill>
              <a:srgbClr val="B83227"/>
            </a:solidFill>
            <a:prstDash val="dash"/>
          </a:ln>
        </p:spPr>
      </p:sp>
      <p:sp>
        <p:nvSpPr>
          <p:cNvPr id="38" name="Text 35"/>
          <p:cNvSpPr txBox="1"/>
          <p:nvPr/>
        </p:nvSpPr>
        <p:spPr>
          <a:xfrm>
            <a:off x="6831300" y="3520440"/>
            <a:ext cx="1547896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chemeClr val="accent6"/>
                </a:solidFill>
              </a:rPr>
              <a:t>regenen!</a:t>
            </a:r>
            <a:endParaRPr lang="en-US" sz="2200" dirty="0"/>
          </a:p>
        </p:txBody>
      </p:sp>
      <p:sp>
        <p:nvSpPr>
          <p:cNvPr id="39" name="Shape 36"/>
          <p:cNvSpPr/>
          <p:nvPr/>
        </p:nvSpPr>
        <p:spPr>
          <a:xfrm>
            <a:off x="4023360" y="4480560"/>
            <a:ext cx="1077163" cy="731520"/>
          </a:xfrm>
          <a:prstGeom prst="roundRect">
            <a:avLst>
              <a:gd name="adj" fmla="val 10000"/>
            </a:avLst>
          </a:prstGeom>
          <a:solidFill>
            <a:schemeClr val="bg1"/>
          </a:solidFill>
          <a:ln w="15875">
            <a:solidFill>
              <a:srgbClr val="D5DCE6"/>
            </a:solidFill>
            <a:prstDash val="solid"/>
          </a:ln>
        </p:spPr>
      </p:sp>
      <p:sp>
        <p:nvSpPr>
          <p:cNvPr id="40" name="Text 37"/>
          <p:cNvSpPr txBox="1"/>
          <p:nvPr/>
        </p:nvSpPr>
        <p:spPr>
          <a:xfrm>
            <a:off x="4023360" y="4480560"/>
            <a:ext cx="1077163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dirty="0">
                <a:solidFill>
                  <a:schemeClr val="tx1"/>
                </a:solidFill>
              </a:rPr>
              <a:t>Sofie</a:t>
            </a:r>
            <a:endParaRPr lang="en-US" sz="2200" dirty="0"/>
          </a:p>
        </p:txBody>
      </p:sp>
      <p:sp>
        <p:nvSpPr>
          <p:cNvPr id="41" name="Shape 38"/>
          <p:cNvSpPr/>
          <p:nvPr/>
        </p:nvSpPr>
        <p:spPr>
          <a:xfrm>
            <a:off x="5191963" y="4480560"/>
            <a:ext cx="920252" cy="731520"/>
          </a:xfrm>
          <a:prstGeom prst="roundRect">
            <a:avLst>
              <a:gd name="adj" fmla="val 10000"/>
            </a:avLst>
          </a:prstGeom>
          <a:solidFill>
            <a:srgbClr val="EAF1F8"/>
          </a:solidFill>
          <a:ln w="31750">
            <a:solidFill>
              <a:srgbClr val="2A6FB0"/>
            </a:solidFill>
            <a:prstDash val="solid"/>
          </a:ln>
        </p:spPr>
      </p:sp>
      <p:sp>
        <p:nvSpPr>
          <p:cNvPr id="42" name="Text 39"/>
          <p:cNvSpPr txBox="1"/>
          <p:nvPr/>
        </p:nvSpPr>
        <p:spPr>
          <a:xfrm>
            <a:off x="5191963" y="4480560"/>
            <a:ext cx="920252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chemeClr val="accent2"/>
                </a:solidFill>
              </a:rPr>
              <a:t>gaat</a:t>
            </a:r>
            <a:endParaRPr lang="en-US" sz="2200" dirty="0"/>
          </a:p>
        </p:txBody>
      </p:sp>
      <p:sp>
        <p:nvSpPr>
          <p:cNvPr id="43" name="Shape 40"/>
          <p:cNvSpPr/>
          <p:nvPr/>
        </p:nvSpPr>
        <p:spPr>
          <a:xfrm>
            <a:off x="6203655" y="4480560"/>
            <a:ext cx="1547896" cy="731520"/>
          </a:xfrm>
          <a:prstGeom prst="roundRect">
            <a:avLst>
              <a:gd name="adj" fmla="val 10000"/>
            </a:avLst>
          </a:prstGeom>
          <a:solidFill>
            <a:schemeClr val="bg1"/>
          </a:solidFill>
          <a:ln w="15875">
            <a:solidFill>
              <a:srgbClr val="D5DCE6"/>
            </a:solidFill>
            <a:prstDash val="solid"/>
          </a:ln>
        </p:spPr>
      </p:sp>
      <p:sp>
        <p:nvSpPr>
          <p:cNvPr id="44" name="Text 41"/>
          <p:cNvSpPr txBox="1"/>
          <p:nvPr/>
        </p:nvSpPr>
        <p:spPr>
          <a:xfrm>
            <a:off x="6203655" y="4480560"/>
            <a:ext cx="1547896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dirty="0">
                <a:solidFill>
                  <a:schemeClr val="tx1"/>
                </a:solidFill>
              </a:rPr>
              <a:t>de klant</a:t>
            </a:r>
            <a:endParaRPr lang="en-US" sz="2200" dirty="0"/>
          </a:p>
        </p:txBody>
      </p:sp>
      <p:sp>
        <p:nvSpPr>
          <p:cNvPr id="45" name="Shape 42"/>
          <p:cNvSpPr/>
          <p:nvPr/>
        </p:nvSpPr>
        <p:spPr>
          <a:xfrm>
            <a:off x="7842992" y="4480560"/>
            <a:ext cx="1704807" cy="731520"/>
          </a:xfrm>
          <a:prstGeom prst="roundRect">
            <a:avLst>
              <a:gd name="adj" fmla="val 10000"/>
            </a:avLst>
          </a:prstGeom>
          <a:solidFill>
            <a:srgbClr val="FBEDEB"/>
          </a:solidFill>
          <a:ln w="25400">
            <a:solidFill>
              <a:srgbClr val="B83227"/>
            </a:solidFill>
            <a:prstDash val="dash"/>
          </a:ln>
        </p:spPr>
      </p:sp>
      <p:sp>
        <p:nvSpPr>
          <p:cNvPr id="46" name="Text 43"/>
          <p:cNvSpPr txBox="1"/>
          <p:nvPr/>
        </p:nvSpPr>
        <p:spPr>
          <a:xfrm>
            <a:off x="7842992" y="4480560"/>
            <a:ext cx="1704807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chemeClr val="accent6"/>
                </a:solidFill>
              </a:rPr>
              <a:t>opbellen.</a:t>
            </a:r>
            <a:endParaRPr lang="en-US" sz="2200" dirty="0"/>
          </a:p>
        </p:txBody>
      </p:sp>
      <p:sp>
        <p:nvSpPr>
          <p:cNvPr id="47" name="Shape 44"/>
          <p:cNvSpPr/>
          <p:nvPr/>
        </p:nvSpPr>
        <p:spPr>
          <a:xfrm>
            <a:off x="548640" y="5623560"/>
            <a:ext cx="11091672" cy="640080"/>
          </a:xfrm>
          <a:prstGeom prst="roundRect">
            <a:avLst>
              <a:gd name="adj" fmla="val 11429"/>
            </a:avLst>
          </a:prstGeom>
          <a:solidFill>
            <a:schemeClr val="tx2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48" name="Text 45"/>
          <p:cNvSpPr txBox="1"/>
          <p:nvPr/>
        </p:nvSpPr>
        <p:spPr>
          <a:xfrm>
            <a:off x="822960" y="5623560"/>
            <a:ext cx="106070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900" dirty="0">
                <a:solidFill>
                  <a:schemeClr val="bg1"/>
                </a:solidFill>
              </a:rPr>
              <a:t>FR « aller + infinitif » = NL </a:t>
            </a:r>
            <a:r>
              <a:rPr lang="en-US" sz="1900" i="1" dirty="0">
                <a:solidFill>
                  <a:schemeClr val="bg1"/>
                </a:solidFill>
              </a:rPr>
              <a:t>gaan</a:t>
            </a:r>
            <a:r>
              <a:rPr lang="en-US" sz="1900" dirty="0">
                <a:solidFill>
                  <a:schemeClr val="bg1"/>
                </a:solidFill>
              </a:rPr>
              <a:t> + infinitif… mais </a:t>
            </a:r>
            <a:r>
              <a:rPr lang="en-US" sz="1900" b="1" dirty="0">
                <a:solidFill>
                  <a:schemeClr val="bg1"/>
                </a:solidFill>
              </a:rPr>
              <a:t>séparés</a:t>
            </a:r>
            <a:r>
              <a:rPr lang="en-US" sz="1900" dirty="0">
                <a:solidFill>
                  <a:schemeClr val="bg1"/>
                </a:solidFill>
              </a:rPr>
              <a:t> (la pince, M3) !</a:t>
            </a:r>
            <a:endParaRPr lang="en-US" sz="19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1672" y="644652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4A5A70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7</a:t>
            </a:fld>
            <a:endParaRPr lang="en-US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548640" y="621792"/>
            <a:ext cx="11091672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chemeClr val="tx2"/>
                </a:solidFill>
              </a:rPr>
              <a:t>PIÈGE : gaan — aller quelque part ou aller faire ?</a:t>
            </a:r>
            <a:endParaRPr lang="en-US" sz="3000" dirty="0"/>
          </a:p>
        </p:txBody>
      </p:sp>
      <p:sp>
        <p:nvSpPr>
          <p:cNvPr id="3" name="tag"/>
          <p:cNvSpPr/>
          <p:nvPr/>
        </p:nvSpPr>
        <p:spPr>
          <a:xfrm>
            <a:off x="548640" y="237744"/>
            <a:ext cx="1878178" cy="310896"/>
          </a:xfrm>
          <a:prstGeom prst="roundRect">
            <a:avLst>
              <a:gd name="adj" fmla="val 14706"/>
            </a:avLst>
          </a:prstGeom>
          <a:solidFill>
            <a:schemeClr val="accent6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spc="100" kern="0" dirty="0">
                <a:solidFill>
                  <a:srgbClr val="FFFFFF"/>
                </a:solidFill>
              </a:rPr>
              <a:t>PIÈGE FR ≠ NL</a:t>
            </a:r>
            <a:endParaRPr lang="en-US" sz="1200" dirty="0"/>
          </a:p>
        </p:txBody>
      </p:sp>
      <p:sp>
        <p:nvSpPr>
          <p:cNvPr id="5" name="Shape 2"/>
          <p:cNvSpPr/>
          <p:nvPr/>
        </p:nvSpPr>
        <p:spPr>
          <a:xfrm>
            <a:off x="548640" y="1554480"/>
            <a:ext cx="5413248" cy="2697480"/>
          </a:xfrm>
          <a:prstGeom prst="roundRect">
            <a:avLst>
              <a:gd name="adj" fmla="val 2712"/>
            </a:avLst>
          </a:prstGeom>
          <a:solidFill>
            <a:schemeClr val="bg1"/>
          </a:solidFill>
          <a:ln w="25400">
            <a:solidFill>
              <a:srgbClr val="4A5A70"/>
            </a:solidFill>
            <a:prstDash val="solid"/>
          </a:ln>
          <a:effectLst>
            <a:outerShdw sx="100000" sy="100000" kx="0" ky="0" algn="bl" rotWithShape="0" blurRad="101600" dist="25400" dir="3600000">
              <a:srgbClr val="000000">
                <a:alpha val="16000"/>
              </a:srgbClr>
            </a:outerShdw>
          </a:effectLst>
        </p:spPr>
      </p:sp>
      <p:sp>
        <p:nvSpPr>
          <p:cNvPr id="6" name="Shape 3"/>
          <p:cNvSpPr/>
          <p:nvPr/>
        </p:nvSpPr>
        <p:spPr>
          <a:xfrm>
            <a:off x="548640" y="1554480"/>
            <a:ext cx="5413248" cy="502920"/>
          </a:xfrm>
          <a:prstGeom prst="roundRect">
            <a:avLst>
              <a:gd name="adj" fmla="val 14545"/>
            </a:avLst>
          </a:prstGeom>
          <a:solidFill>
            <a:schemeClr val="accent5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7" name="Text 4"/>
          <p:cNvSpPr txBox="1"/>
          <p:nvPr/>
        </p:nvSpPr>
        <p:spPr>
          <a:xfrm>
            <a:off x="548640" y="1554480"/>
            <a:ext cx="5413248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00" b="1" spc="200" kern="0" dirty="0">
                <a:solidFill>
                  <a:schemeClr val="bg1"/>
                </a:solidFill>
              </a:rPr>
              <a:t>DÉPLACEMENT</a:t>
            </a:r>
            <a:endParaRPr lang="en-US" sz="1700" dirty="0"/>
          </a:p>
        </p:txBody>
      </p:sp>
      <p:pic>
        <p:nvPicPr>
          <p:cNvPr id="8" name="Image 0" descr="person walki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822960" y="2286000"/>
            <a:ext cx="1097280" cy="1097280"/>
          </a:xfrm>
          <a:prstGeom prst="rect">
            <a:avLst/>
          </a:prstGeom>
        </p:spPr>
      </p:pic>
      <p:sp>
        <p:nvSpPr>
          <p:cNvPr id="9" name="Text 5"/>
          <p:cNvSpPr txBox="1"/>
          <p:nvPr/>
        </p:nvSpPr>
        <p:spPr>
          <a:xfrm>
            <a:off x="2103120" y="2194560"/>
            <a:ext cx="374904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200" i="1" dirty="0">
                <a:solidFill>
                  <a:schemeClr val="tx1"/>
                </a:solidFill>
              </a:rPr>
              <a:t>Ik ga </a:t>
            </a:r>
            <a:r>
              <a:rPr lang="en-US" sz="2200" b="1" i="1" dirty="0">
                <a:solidFill>
                  <a:schemeClr val="tx1"/>
                </a:solidFill>
              </a:rPr>
              <a:t>naar de bakker</a:t>
            </a:r>
            <a:r>
              <a:rPr lang="en-US" sz="2200" i="1" dirty="0">
                <a:solidFill>
                  <a:schemeClr val="tx1"/>
                </a:solidFill>
              </a:rPr>
              <a:t>.</a:t>
            </a:r>
            <a:endParaRPr lang="en-US" sz="2200" dirty="0"/>
          </a:p>
        </p:txBody>
      </p:sp>
      <p:sp>
        <p:nvSpPr>
          <p:cNvPr id="10" name="Text 6"/>
          <p:cNvSpPr txBox="1"/>
          <p:nvPr/>
        </p:nvSpPr>
        <p:spPr>
          <a:xfrm>
            <a:off x="2103120" y="2834640"/>
            <a:ext cx="37490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500" i="1" dirty="0">
                <a:solidFill>
                  <a:schemeClr val="accent5"/>
                </a:solidFill>
              </a:rPr>
              <a:t>je vais chez le boulanger</a:t>
            </a:r>
            <a:endParaRPr lang="en-US" sz="1500" dirty="0"/>
          </a:p>
        </p:txBody>
      </p:sp>
      <p:sp>
        <p:nvSpPr>
          <p:cNvPr id="11" name="tag"/>
          <p:cNvSpPr/>
          <p:nvPr/>
        </p:nvSpPr>
        <p:spPr>
          <a:xfrm>
            <a:off x="2103120" y="3429000"/>
            <a:ext cx="2002231" cy="329184"/>
          </a:xfrm>
          <a:prstGeom prst="roundRect">
            <a:avLst>
              <a:gd name="adj" fmla="val 13889"/>
            </a:avLst>
          </a:prstGeom>
          <a:solidFill>
            <a:schemeClr val="accent5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spc="100" kern="0" dirty="0">
                <a:solidFill>
                  <a:srgbClr val="FFFFFF"/>
                </a:solidFill>
              </a:rPr>
              <a:t>gaan + un lieu</a:t>
            </a:r>
            <a:endParaRPr lang="en-US" sz="1300" dirty="0"/>
          </a:p>
        </p:txBody>
      </p:sp>
      <p:sp>
        <p:nvSpPr>
          <p:cNvPr id="12" name="Shape 8"/>
          <p:cNvSpPr/>
          <p:nvPr/>
        </p:nvSpPr>
        <p:spPr>
          <a:xfrm>
            <a:off x="6227064" y="1554480"/>
            <a:ext cx="5413248" cy="2697480"/>
          </a:xfrm>
          <a:prstGeom prst="roundRect">
            <a:avLst>
              <a:gd name="adj" fmla="val 2712"/>
            </a:avLst>
          </a:prstGeom>
          <a:solidFill>
            <a:schemeClr val="bg1"/>
          </a:solidFill>
          <a:ln w="25400">
            <a:solidFill>
              <a:srgbClr val="2A6FB0"/>
            </a:solidFill>
            <a:prstDash val="solid"/>
          </a:ln>
          <a:effectLst>
            <a:outerShdw sx="100000" sy="100000" kx="0" ky="0" algn="bl" rotWithShape="0" blurRad="101600" dist="25400" dir="3600000">
              <a:srgbClr val="000000">
                <a:alpha val="16000"/>
              </a:srgbClr>
            </a:outerShdw>
          </a:effectLst>
        </p:spPr>
      </p:sp>
      <p:sp>
        <p:nvSpPr>
          <p:cNvPr id="13" name="Shape 9"/>
          <p:cNvSpPr/>
          <p:nvPr/>
        </p:nvSpPr>
        <p:spPr>
          <a:xfrm>
            <a:off x="6227064" y="1554480"/>
            <a:ext cx="5413248" cy="502920"/>
          </a:xfrm>
          <a:prstGeom prst="roundRect">
            <a:avLst>
              <a:gd name="adj" fmla="val 14545"/>
            </a:avLst>
          </a:prstGeom>
          <a:solidFill>
            <a:schemeClr val="accent2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14" name="Text 10"/>
          <p:cNvSpPr txBox="1"/>
          <p:nvPr/>
        </p:nvSpPr>
        <p:spPr>
          <a:xfrm>
            <a:off x="6227064" y="1554480"/>
            <a:ext cx="5413248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00" b="1" spc="200" kern="0" dirty="0">
                <a:solidFill>
                  <a:schemeClr val="bg1"/>
                </a:solidFill>
              </a:rPr>
              <a:t>FUTUR</a:t>
            </a:r>
            <a:endParaRPr lang="en-US" sz="1700" dirty="0"/>
          </a:p>
        </p:txBody>
      </p:sp>
      <p:pic>
        <p:nvPicPr>
          <p:cNvPr id="15" name="Image 1" descr="bread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501384" y="2286000"/>
            <a:ext cx="1097280" cy="1097280"/>
          </a:xfrm>
          <a:prstGeom prst="rect">
            <a:avLst/>
          </a:prstGeom>
        </p:spPr>
      </p:pic>
      <p:sp>
        <p:nvSpPr>
          <p:cNvPr id="16" name="Text 11"/>
          <p:cNvSpPr txBox="1"/>
          <p:nvPr/>
        </p:nvSpPr>
        <p:spPr>
          <a:xfrm>
            <a:off x="7781544" y="2194560"/>
            <a:ext cx="374904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200" i="1" dirty="0">
                <a:solidFill>
                  <a:schemeClr val="tx1"/>
                </a:solidFill>
              </a:rPr>
              <a:t>Ik ga brood </a:t>
            </a:r>
            <a:r>
              <a:rPr lang="en-US" sz="2200" b="1" i="1" dirty="0">
                <a:solidFill>
                  <a:schemeClr val="tx1"/>
                </a:solidFill>
              </a:rPr>
              <a:t>kopen</a:t>
            </a:r>
            <a:r>
              <a:rPr lang="en-US" sz="2200" i="1" dirty="0">
                <a:solidFill>
                  <a:schemeClr val="tx1"/>
                </a:solidFill>
              </a:rPr>
              <a:t>.</a:t>
            </a:r>
            <a:endParaRPr lang="en-US" sz="2200" dirty="0"/>
          </a:p>
        </p:txBody>
      </p:sp>
      <p:sp>
        <p:nvSpPr>
          <p:cNvPr id="17" name="Text 12"/>
          <p:cNvSpPr txBox="1"/>
          <p:nvPr/>
        </p:nvSpPr>
        <p:spPr>
          <a:xfrm>
            <a:off x="7781544" y="2834640"/>
            <a:ext cx="37490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500" i="1" dirty="0">
                <a:solidFill>
                  <a:schemeClr val="accent5"/>
                </a:solidFill>
              </a:rPr>
              <a:t>je vais acheter du pain</a:t>
            </a:r>
            <a:endParaRPr lang="en-US" sz="1500" dirty="0"/>
          </a:p>
        </p:txBody>
      </p:sp>
      <p:sp>
        <p:nvSpPr>
          <p:cNvPr id="18" name="tag"/>
          <p:cNvSpPr/>
          <p:nvPr/>
        </p:nvSpPr>
        <p:spPr>
          <a:xfrm>
            <a:off x="7781544" y="3429000"/>
            <a:ext cx="3171139" cy="329184"/>
          </a:xfrm>
          <a:prstGeom prst="roundRect">
            <a:avLst>
              <a:gd name="adj" fmla="val 13889"/>
            </a:avLst>
          </a:prstGeom>
          <a:solidFill>
            <a:schemeClr val="accent2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spc="100" kern="0" dirty="0">
                <a:solidFill>
                  <a:srgbClr val="FFFFFF"/>
                </a:solidFill>
              </a:rPr>
              <a:t>gaan + infinitif au bout</a:t>
            </a:r>
            <a:endParaRPr lang="en-US" sz="1300" dirty="0"/>
          </a:p>
        </p:txBody>
      </p:sp>
      <p:sp>
        <p:nvSpPr>
          <p:cNvPr id="19" name="Shape 14"/>
          <p:cNvSpPr/>
          <p:nvPr/>
        </p:nvSpPr>
        <p:spPr>
          <a:xfrm>
            <a:off x="548640" y="4480560"/>
            <a:ext cx="11091672" cy="731520"/>
          </a:xfrm>
          <a:prstGeom prst="roundRect">
            <a:avLst>
              <a:gd name="adj" fmla="val 10000"/>
            </a:avLst>
          </a:prstGeom>
          <a:solidFill>
            <a:schemeClr val="bg2"/>
          </a:solidFill>
          <a:ln w="12700">
            <a:solidFill>
              <a:srgbClr val="D5DCE6"/>
            </a:solidFill>
            <a:prstDash val="solid"/>
          </a:ln>
        </p:spPr>
      </p:sp>
      <p:sp>
        <p:nvSpPr>
          <p:cNvPr id="20" name="Text 15"/>
          <p:cNvSpPr txBox="1"/>
          <p:nvPr/>
        </p:nvSpPr>
        <p:spPr>
          <a:xfrm>
            <a:off x="777240" y="4480560"/>
            <a:ext cx="106984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000" dirty="0">
                <a:solidFill>
                  <a:schemeClr val="tx1"/>
                </a:solidFill>
              </a:rPr>
              <a:t>Les deux : </a:t>
            </a:r>
            <a:r>
              <a:rPr lang="en-US" sz="2000" i="1" dirty="0">
                <a:solidFill>
                  <a:schemeClr val="tx1"/>
                </a:solidFill>
              </a:rPr>
              <a:t>Ik </a:t>
            </a:r>
            <a:r>
              <a:rPr lang="en-US" sz="2000" b="1" i="1" dirty="0">
                <a:solidFill>
                  <a:schemeClr val="tx1"/>
                </a:solidFill>
              </a:rPr>
              <a:t>ga</a:t>
            </a:r>
            <a:r>
              <a:rPr lang="en-US" sz="2000" i="1" dirty="0">
                <a:solidFill>
                  <a:schemeClr val="tx1"/>
                </a:solidFill>
              </a:rPr>
              <a:t> bij de bakker brood </a:t>
            </a:r>
            <a:r>
              <a:rPr lang="en-US" sz="2000" b="1" i="1" dirty="0">
                <a:solidFill>
                  <a:schemeClr val="tx1"/>
                </a:solidFill>
              </a:rPr>
              <a:t>kopen</a:t>
            </a:r>
            <a:r>
              <a:rPr lang="en-US" sz="2000" i="1" dirty="0">
                <a:solidFill>
                  <a:schemeClr val="tx1"/>
                </a:solidFill>
              </a:rPr>
              <a:t>.</a:t>
            </a:r>
            <a:endParaRPr lang="en-US" sz="2000" dirty="0"/>
          </a:p>
        </p:txBody>
      </p:sp>
      <p:sp>
        <p:nvSpPr>
          <p:cNvPr id="21" name="Shape 16"/>
          <p:cNvSpPr/>
          <p:nvPr/>
        </p:nvSpPr>
        <p:spPr>
          <a:xfrm>
            <a:off x="548640" y="5394960"/>
            <a:ext cx="11091672" cy="868680"/>
          </a:xfrm>
          <a:prstGeom prst="roundRect">
            <a:avLst>
              <a:gd name="adj" fmla="val 8421"/>
            </a:avLst>
          </a:prstGeom>
          <a:solidFill>
            <a:schemeClr val="accent6">
              <a:alpha val="8000"/>
            </a:schemeClr>
          </a:solidFill>
          <a:ln w="12700">
            <a:solidFill>
              <a:srgbClr val="B83227"/>
            </a:solidFill>
            <a:prstDash val="solid"/>
          </a:ln>
        </p:spPr>
      </p:sp>
      <p:sp>
        <p:nvSpPr>
          <p:cNvPr id="22" name="Text 17"/>
          <p:cNvSpPr txBox="1"/>
          <p:nvPr/>
        </p:nvSpPr>
        <p:spPr>
          <a:xfrm>
            <a:off x="777240" y="5394960"/>
            <a:ext cx="1069848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900" dirty="0">
                <a:solidFill>
                  <a:schemeClr val="tx1"/>
                </a:solidFill>
              </a:rPr>
              <a:t>⚠ </a:t>
            </a:r>
            <a:r>
              <a:rPr lang="en-US" sz="1900" i="1" dirty="0">
                <a:solidFill>
                  <a:schemeClr val="tx1"/>
                </a:solidFill>
              </a:rPr>
              <a:t>Ik ga eten.</a:t>
            </a:r>
            <a:r>
              <a:rPr lang="en-US" sz="1900" dirty="0">
                <a:solidFill>
                  <a:schemeClr val="tx1"/>
                </a:solidFill>
              </a:rPr>
              <a:t> = je vais manger (maintenant, ou plus tard : le </a:t>
            </a:r>
            <a:r>
              <a:rPr lang="en-US" sz="1900" b="1" dirty="0">
                <a:solidFill>
                  <a:schemeClr val="tx1"/>
                </a:solidFill>
              </a:rPr>
              <a:t>contexte</a:t>
            </a:r>
            <a:r>
              <a:rPr lang="en-US" sz="1900" dirty="0">
                <a:solidFill>
                  <a:schemeClr val="tx1"/>
                </a:solidFill>
              </a:rPr>
              <a:t> décide)</a:t>
            </a:r>
            <a:endParaRPr lang="en-US" sz="19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1672" y="644652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4A5A70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8</a:t>
            </a:fld>
            <a:endParaRPr lang="en-US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548640" y="621792"/>
            <a:ext cx="11091672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chemeClr val="tx2"/>
                </a:solidFill>
              </a:rPr>
              <a:t>zullen + infinitif</a:t>
            </a:r>
            <a:endParaRPr lang="en-US" sz="3000" dirty="0"/>
          </a:p>
        </p:txBody>
      </p:sp>
      <p:sp>
        <p:nvSpPr>
          <p:cNvPr id="3" name="tag"/>
          <p:cNvSpPr/>
          <p:nvPr/>
        </p:nvSpPr>
        <p:spPr>
          <a:xfrm>
            <a:off x="548640" y="237744"/>
            <a:ext cx="1336853" cy="310896"/>
          </a:xfrm>
          <a:prstGeom prst="roundRect">
            <a:avLst>
              <a:gd name="adj" fmla="val 14706"/>
            </a:avLst>
          </a:prstGeom>
          <a:solidFill>
            <a:schemeClr val="tx2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spc="100" kern="0" dirty="0">
                <a:solidFill>
                  <a:srgbClr val="FFFFFF"/>
                </a:solidFill>
              </a:rPr>
              <a:t>GRAMMAIRE</a:t>
            </a:r>
            <a:endParaRPr lang="en-US" sz="1200" dirty="0"/>
          </a:p>
        </p:txBody>
      </p:sp>
      <p:sp>
        <p:nvSpPr>
          <p:cNvPr id="5" name="Shape 2"/>
          <p:cNvSpPr/>
          <p:nvPr/>
        </p:nvSpPr>
        <p:spPr>
          <a:xfrm>
            <a:off x="548640" y="1554480"/>
            <a:ext cx="3291840" cy="4709160"/>
          </a:xfrm>
          <a:prstGeom prst="roundRect">
            <a:avLst>
              <a:gd name="adj" fmla="val 2222"/>
            </a:avLst>
          </a:prstGeom>
          <a:solidFill>
            <a:schemeClr val="bg1"/>
          </a:solidFill>
          <a:ln w="25400">
            <a:solidFill>
              <a:srgbClr val="6E4A9E"/>
            </a:solidFill>
            <a:prstDash val="solid"/>
          </a:ln>
          <a:effectLst>
            <a:outerShdw sx="100000" sy="100000" kx="0" ky="0" algn="bl" rotWithShape="0" blurRad="101600" dist="25400" dir="3600000">
              <a:srgbClr val="000000">
                <a:alpha val="16000"/>
              </a:srgbClr>
            </a:outerShdw>
          </a:effectLst>
        </p:spPr>
      </p:sp>
      <p:sp>
        <p:nvSpPr>
          <p:cNvPr id="6" name="Shape 3"/>
          <p:cNvSpPr/>
          <p:nvPr/>
        </p:nvSpPr>
        <p:spPr>
          <a:xfrm>
            <a:off x="548640" y="1554480"/>
            <a:ext cx="3291840" cy="685800"/>
          </a:xfrm>
          <a:prstGeom prst="roundRect">
            <a:avLst>
              <a:gd name="adj" fmla="val 10667"/>
            </a:avLst>
          </a:prstGeom>
          <a:solidFill>
            <a:srgbClr val="6E4A9E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7" name="Text 4"/>
          <p:cNvSpPr txBox="1"/>
          <p:nvPr/>
        </p:nvSpPr>
        <p:spPr>
          <a:xfrm>
            <a:off x="731520" y="1554480"/>
            <a:ext cx="29260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algn="l" indent="0" marL="0">
              <a:buNone/>
            </a:pPr>
            <a:r>
              <a:rPr lang="en-US" sz="2400" b="1" dirty="0">
                <a:solidFill>
                  <a:schemeClr val="bg1"/>
                </a:solidFill>
                <a:latin typeface="+mj-lt" pitchFamily="34" charset="0"/>
                <a:ea typeface="+mj-lt" pitchFamily="34" charset="-122"/>
                <a:cs typeface="+mj-lt" pitchFamily="34" charset="-120"/>
              </a:rPr>
              <a:t>zullen</a:t>
            </a:r>
            <a:endParaRPr lang="en-US" sz="2400" dirty="0"/>
          </a:p>
        </p:txBody>
      </p:sp>
      <p:sp>
        <p:nvSpPr>
          <p:cNvPr id="8" name="Text 5"/>
          <p:cNvSpPr txBox="1"/>
          <p:nvPr/>
        </p:nvSpPr>
        <p:spPr>
          <a:xfrm>
            <a:off x="731520" y="1965960"/>
            <a:ext cx="29260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00" i="1" dirty="0">
                <a:solidFill>
                  <a:schemeClr val="bg1"/>
                </a:solidFill>
              </a:rPr>
              <a:t>promettre, proposer…</a:t>
            </a:r>
            <a:endParaRPr lang="en-US" sz="1200" dirty="0"/>
          </a:p>
        </p:txBody>
      </p:sp>
      <p:sp>
        <p:nvSpPr>
          <p:cNvPr id="9" name="Text 6"/>
          <p:cNvSpPr txBox="1"/>
          <p:nvPr/>
        </p:nvSpPr>
        <p:spPr>
          <a:xfrm>
            <a:off x="731520" y="2331720"/>
            <a:ext cx="1711757" cy="7680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dirty="0">
                <a:solidFill>
                  <a:schemeClr val="accent5"/>
                </a:solidFill>
              </a:rPr>
              <a:t>ik</a:t>
            </a:r>
            <a:endParaRPr lang="en-US" sz="1600" dirty="0"/>
          </a:p>
        </p:txBody>
      </p:sp>
      <p:sp>
        <p:nvSpPr>
          <p:cNvPr id="10" name="Text 7"/>
          <p:cNvSpPr txBox="1"/>
          <p:nvPr/>
        </p:nvSpPr>
        <p:spPr>
          <a:xfrm>
            <a:off x="2260397" y="2331720"/>
            <a:ext cx="1514246" cy="7680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800" b="1" dirty="0">
                <a:solidFill>
                  <a:srgbClr val="6E4A9E"/>
                </a:solidFill>
              </a:rPr>
              <a:t>zal</a:t>
            </a:r>
            <a:endParaRPr lang="en-US" sz="1800" dirty="0"/>
          </a:p>
        </p:txBody>
      </p:sp>
      <p:sp>
        <p:nvSpPr>
          <p:cNvPr id="11" name="Shape 8"/>
          <p:cNvSpPr/>
          <p:nvPr/>
        </p:nvSpPr>
        <p:spPr>
          <a:xfrm>
            <a:off x="621792" y="3099816"/>
            <a:ext cx="3145536" cy="768096"/>
          </a:xfrm>
          <a:prstGeom prst="rect">
            <a:avLst/>
          </a:prstGeom>
          <a:solidFill>
            <a:schemeClr val="bg2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12" name="Text 9"/>
          <p:cNvSpPr txBox="1"/>
          <p:nvPr/>
        </p:nvSpPr>
        <p:spPr>
          <a:xfrm>
            <a:off x="731520" y="3099816"/>
            <a:ext cx="1711757" cy="7680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dirty="0">
                <a:solidFill>
                  <a:schemeClr val="accent5"/>
                </a:solidFill>
              </a:rPr>
              <a:t>jij</a:t>
            </a:r>
            <a:endParaRPr lang="en-US" sz="1600" dirty="0"/>
          </a:p>
        </p:txBody>
      </p:sp>
      <p:sp>
        <p:nvSpPr>
          <p:cNvPr id="13" name="Text 10"/>
          <p:cNvSpPr txBox="1"/>
          <p:nvPr/>
        </p:nvSpPr>
        <p:spPr>
          <a:xfrm>
            <a:off x="2260397" y="3099816"/>
            <a:ext cx="1514246" cy="7680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800" b="1" dirty="0">
                <a:solidFill>
                  <a:srgbClr val="6E4A9E"/>
                </a:solidFill>
              </a:rPr>
              <a:t>zult · zal</a:t>
            </a:r>
            <a:endParaRPr lang="en-US" sz="1800" dirty="0"/>
          </a:p>
        </p:txBody>
      </p:sp>
      <p:sp>
        <p:nvSpPr>
          <p:cNvPr id="14" name="Text 11"/>
          <p:cNvSpPr txBox="1"/>
          <p:nvPr/>
        </p:nvSpPr>
        <p:spPr>
          <a:xfrm>
            <a:off x="731520" y="3867912"/>
            <a:ext cx="1711757" cy="7680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dirty="0">
                <a:solidFill>
                  <a:schemeClr val="accent5"/>
                </a:solidFill>
              </a:rPr>
              <a:t>u</a:t>
            </a:r>
            <a:endParaRPr lang="en-US" sz="1600" dirty="0"/>
          </a:p>
        </p:txBody>
      </p:sp>
      <p:sp>
        <p:nvSpPr>
          <p:cNvPr id="15" name="Text 12"/>
          <p:cNvSpPr txBox="1"/>
          <p:nvPr/>
        </p:nvSpPr>
        <p:spPr>
          <a:xfrm>
            <a:off x="2260397" y="3867912"/>
            <a:ext cx="1514246" cy="7680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800" b="1" dirty="0">
                <a:solidFill>
                  <a:srgbClr val="6E4A9E"/>
                </a:solidFill>
              </a:rPr>
              <a:t>zult · zal</a:t>
            </a:r>
            <a:endParaRPr lang="en-US" sz="1800" dirty="0"/>
          </a:p>
        </p:txBody>
      </p:sp>
      <p:sp>
        <p:nvSpPr>
          <p:cNvPr id="16" name="Shape 13"/>
          <p:cNvSpPr/>
          <p:nvPr/>
        </p:nvSpPr>
        <p:spPr>
          <a:xfrm>
            <a:off x="621792" y="4636008"/>
            <a:ext cx="3145536" cy="768096"/>
          </a:xfrm>
          <a:prstGeom prst="rect">
            <a:avLst/>
          </a:prstGeom>
          <a:solidFill>
            <a:schemeClr val="bg2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17" name="Text 14"/>
          <p:cNvSpPr txBox="1"/>
          <p:nvPr/>
        </p:nvSpPr>
        <p:spPr>
          <a:xfrm>
            <a:off x="731520" y="4636008"/>
            <a:ext cx="1711757" cy="7680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dirty="0">
                <a:solidFill>
                  <a:schemeClr val="accent5"/>
                </a:solidFill>
              </a:rPr>
              <a:t>hij · zij</a:t>
            </a:r>
            <a:endParaRPr lang="en-US" sz="1600" dirty="0"/>
          </a:p>
        </p:txBody>
      </p:sp>
      <p:sp>
        <p:nvSpPr>
          <p:cNvPr id="18" name="Text 15"/>
          <p:cNvSpPr txBox="1"/>
          <p:nvPr/>
        </p:nvSpPr>
        <p:spPr>
          <a:xfrm>
            <a:off x="2260397" y="4636008"/>
            <a:ext cx="1514246" cy="7680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800" b="1" dirty="0">
                <a:solidFill>
                  <a:srgbClr val="6E4A9E"/>
                </a:solidFill>
              </a:rPr>
              <a:t>zal</a:t>
            </a:r>
            <a:endParaRPr lang="en-US" sz="1800" dirty="0"/>
          </a:p>
        </p:txBody>
      </p:sp>
      <p:sp>
        <p:nvSpPr>
          <p:cNvPr id="19" name="Text 16"/>
          <p:cNvSpPr txBox="1"/>
          <p:nvPr/>
        </p:nvSpPr>
        <p:spPr>
          <a:xfrm>
            <a:off x="731520" y="5404104"/>
            <a:ext cx="1711757" cy="7680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dirty="0">
                <a:solidFill>
                  <a:schemeClr val="accent5"/>
                </a:solidFill>
              </a:rPr>
              <a:t>we · jullie · zij</a:t>
            </a:r>
            <a:endParaRPr lang="en-US" sz="1600" dirty="0"/>
          </a:p>
        </p:txBody>
      </p:sp>
      <p:sp>
        <p:nvSpPr>
          <p:cNvPr id="20" name="Text 17"/>
          <p:cNvSpPr txBox="1"/>
          <p:nvPr/>
        </p:nvSpPr>
        <p:spPr>
          <a:xfrm>
            <a:off x="2260397" y="5404104"/>
            <a:ext cx="1514246" cy="7680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800" b="1" dirty="0">
                <a:solidFill>
                  <a:srgbClr val="6E4A9E"/>
                </a:solidFill>
              </a:rPr>
              <a:t>zullen</a:t>
            </a:r>
            <a:endParaRPr lang="en-US" sz="1800" dirty="0"/>
          </a:p>
        </p:txBody>
      </p:sp>
      <p:sp>
        <p:nvSpPr>
          <p:cNvPr id="21" name="Shape 18"/>
          <p:cNvSpPr/>
          <p:nvPr/>
        </p:nvSpPr>
        <p:spPr>
          <a:xfrm>
            <a:off x="4069080" y="1554480"/>
            <a:ext cx="3694176" cy="1810512"/>
          </a:xfrm>
          <a:prstGeom prst="roundRect">
            <a:avLst>
              <a:gd name="adj" fmla="val 6061"/>
            </a:avLst>
          </a:prstGeom>
          <a:solidFill>
            <a:srgbClr val="6E4A9E">
              <a:alpha val="8000"/>
            </a:srgbClr>
          </a:solidFill>
          <a:ln w="19050">
            <a:solidFill>
              <a:srgbClr val="6E4A9E"/>
            </a:solidFill>
            <a:prstDash val="solid"/>
          </a:ln>
        </p:spPr>
      </p:sp>
      <p:pic>
        <p:nvPicPr>
          <p:cNvPr id="22" name="Image 0" descr="handshake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251960" y="1737360"/>
            <a:ext cx="685800" cy="685800"/>
          </a:xfrm>
          <a:prstGeom prst="rect">
            <a:avLst/>
          </a:prstGeom>
        </p:spPr>
      </p:pic>
      <p:sp>
        <p:nvSpPr>
          <p:cNvPr id="23" name="Text 19"/>
          <p:cNvSpPr txBox="1"/>
          <p:nvPr/>
        </p:nvSpPr>
        <p:spPr>
          <a:xfrm>
            <a:off x="5074920" y="1737360"/>
            <a:ext cx="2551176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800" b="1" dirty="0">
                <a:solidFill>
                  <a:srgbClr val="6E4A9E"/>
                </a:solidFill>
              </a:rPr>
              <a:t>promesse</a:t>
            </a:r>
            <a:endParaRPr lang="en-US" sz="1800" dirty="0"/>
          </a:p>
        </p:txBody>
      </p:sp>
      <p:sp>
        <p:nvSpPr>
          <p:cNvPr id="24" name="Text 20"/>
          <p:cNvSpPr txBox="1"/>
          <p:nvPr/>
        </p:nvSpPr>
        <p:spPr>
          <a:xfrm>
            <a:off x="4297680" y="2468880"/>
            <a:ext cx="3282696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700" i="1" dirty="0">
                <a:solidFill>
                  <a:schemeClr val="tx1"/>
                </a:solidFill>
              </a:rPr>
              <a:t>Ik </a:t>
            </a:r>
            <a:r>
              <a:rPr lang="en-US" sz="1700" b="1" i="1" dirty="0">
                <a:solidFill>
                  <a:schemeClr val="tx1"/>
                </a:solidFill>
              </a:rPr>
              <a:t>zal</a:t>
            </a:r>
            <a:r>
              <a:rPr lang="en-US" sz="1700" i="1" dirty="0">
                <a:solidFill>
                  <a:schemeClr val="tx1"/>
                </a:solidFill>
              </a:rPr>
              <a:t> het morgen </a:t>
            </a:r>
            <a:r>
              <a:rPr lang="en-US" sz="1700" b="1" i="1" dirty="0">
                <a:solidFill>
                  <a:schemeClr val="tx1"/>
                </a:solidFill>
              </a:rPr>
              <a:t>doen</a:t>
            </a:r>
            <a:r>
              <a:rPr lang="en-US" sz="1700" i="1" dirty="0">
                <a:solidFill>
                  <a:schemeClr val="tx1"/>
                </a:solidFill>
              </a:rPr>
              <a:t>.</a:t>
            </a:r>
            <a:endParaRPr lang="en-US" sz="1700" dirty="0"/>
          </a:p>
        </p:txBody>
      </p:sp>
      <p:sp>
        <p:nvSpPr>
          <p:cNvPr id="25" name="Shape 21"/>
          <p:cNvSpPr/>
          <p:nvPr/>
        </p:nvSpPr>
        <p:spPr>
          <a:xfrm>
            <a:off x="7946136" y="1554480"/>
            <a:ext cx="3694176" cy="1810512"/>
          </a:xfrm>
          <a:prstGeom prst="roundRect">
            <a:avLst>
              <a:gd name="adj" fmla="val 6061"/>
            </a:avLst>
          </a:prstGeom>
          <a:solidFill>
            <a:srgbClr val="6E4A9E">
              <a:alpha val="8000"/>
            </a:srgbClr>
          </a:solidFill>
          <a:ln w="19050">
            <a:solidFill>
              <a:srgbClr val="6E4A9E"/>
            </a:solidFill>
            <a:prstDash val="solid"/>
          </a:ln>
        </p:spPr>
      </p:sp>
      <p:pic>
        <p:nvPicPr>
          <p:cNvPr id="26" name="Image 1" descr="hot beverage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129016" y="1737360"/>
            <a:ext cx="685800" cy="685800"/>
          </a:xfrm>
          <a:prstGeom prst="rect">
            <a:avLst/>
          </a:prstGeom>
        </p:spPr>
      </p:pic>
      <p:sp>
        <p:nvSpPr>
          <p:cNvPr id="27" name="Text 22"/>
          <p:cNvSpPr txBox="1"/>
          <p:nvPr/>
        </p:nvSpPr>
        <p:spPr>
          <a:xfrm>
            <a:off x="8951976" y="1737360"/>
            <a:ext cx="2551176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800" b="1" dirty="0">
                <a:solidFill>
                  <a:srgbClr val="6E4A9E"/>
                </a:solidFill>
              </a:rPr>
              <a:t>proposition</a:t>
            </a:r>
            <a:endParaRPr lang="en-US" sz="1800" dirty="0"/>
          </a:p>
        </p:txBody>
      </p:sp>
      <p:sp>
        <p:nvSpPr>
          <p:cNvPr id="28" name="Text 23"/>
          <p:cNvSpPr txBox="1"/>
          <p:nvPr/>
        </p:nvSpPr>
        <p:spPr>
          <a:xfrm>
            <a:off x="8174736" y="2468880"/>
            <a:ext cx="3282696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700" b="1" i="1" dirty="0">
                <a:solidFill>
                  <a:schemeClr val="tx1"/>
                </a:solidFill>
              </a:rPr>
              <a:t>Zullen</a:t>
            </a:r>
            <a:r>
              <a:rPr lang="en-US" sz="1700" i="1" dirty="0">
                <a:solidFill>
                  <a:schemeClr val="tx1"/>
                </a:solidFill>
              </a:rPr>
              <a:t> we koffie </a:t>
            </a:r>
            <a:r>
              <a:rPr lang="en-US" sz="1700" b="1" i="1" dirty="0">
                <a:solidFill>
                  <a:schemeClr val="tx1"/>
                </a:solidFill>
              </a:rPr>
              <a:t>drinken</a:t>
            </a:r>
            <a:r>
              <a:rPr lang="en-US" sz="1700" i="1" dirty="0">
                <a:solidFill>
                  <a:schemeClr val="tx1"/>
                </a:solidFill>
              </a:rPr>
              <a:t>?</a:t>
            </a:r>
            <a:endParaRPr lang="en-US" sz="1700" dirty="0"/>
          </a:p>
        </p:txBody>
      </p:sp>
      <p:sp>
        <p:nvSpPr>
          <p:cNvPr id="29" name="Shape 24"/>
          <p:cNvSpPr/>
          <p:nvPr/>
        </p:nvSpPr>
        <p:spPr>
          <a:xfrm>
            <a:off x="4069080" y="3520440"/>
            <a:ext cx="3694176" cy="1810512"/>
          </a:xfrm>
          <a:prstGeom prst="roundRect">
            <a:avLst>
              <a:gd name="adj" fmla="val 6061"/>
            </a:avLst>
          </a:prstGeom>
          <a:solidFill>
            <a:srgbClr val="6E4A9E">
              <a:alpha val="8000"/>
            </a:srgbClr>
          </a:solidFill>
          <a:ln w="19050">
            <a:solidFill>
              <a:srgbClr val="6E4A9E"/>
            </a:solidFill>
            <a:prstDash val="solid"/>
          </a:ln>
        </p:spPr>
      </p:sp>
      <p:pic>
        <p:nvPicPr>
          <p:cNvPr id="30" name="Image 2" descr="loudspeaker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251960" y="3703320"/>
            <a:ext cx="685800" cy="685800"/>
          </a:xfrm>
          <a:prstGeom prst="rect">
            <a:avLst/>
          </a:prstGeom>
        </p:spPr>
      </p:pic>
      <p:sp>
        <p:nvSpPr>
          <p:cNvPr id="31" name="Text 25"/>
          <p:cNvSpPr txBox="1"/>
          <p:nvPr/>
        </p:nvSpPr>
        <p:spPr>
          <a:xfrm>
            <a:off x="5074920" y="3703320"/>
            <a:ext cx="2551176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800" b="1" dirty="0">
                <a:solidFill>
                  <a:srgbClr val="6E4A9E"/>
                </a:solidFill>
              </a:rPr>
              <a:t>annonce officielle</a:t>
            </a:r>
            <a:endParaRPr lang="en-US" sz="1800" dirty="0"/>
          </a:p>
        </p:txBody>
      </p:sp>
      <p:sp>
        <p:nvSpPr>
          <p:cNvPr id="32" name="Text 26"/>
          <p:cNvSpPr txBox="1"/>
          <p:nvPr/>
        </p:nvSpPr>
        <p:spPr>
          <a:xfrm>
            <a:off x="4297680" y="4434840"/>
            <a:ext cx="3282696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700" i="1" dirty="0">
                <a:solidFill>
                  <a:schemeClr val="tx1"/>
                </a:solidFill>
              </a:rPr>
              <a:t>De vergadering </a:t>
            </a:r>
            <a:r>
              <a:rPr lang="en-US" sz="1700" b="1" i="1" dirty="0">
                <a:solidFill>
                  <a:schemeClr val="tx1"/>
                </a:solidFill>
              </a:rPr>
              <a:t>zal</a:t>
            </a:r>
            <a:r>
              <a:rPr lang="en-US" sz="1700" i="1" dirty="0">
                <a:solidFill>
                  <a:schemeClr val="tx1"/>
                </a:solidFill>
              </a:rPr>
              <a:t> om 10 uur </a:t>
            </a:r>
            <a:r>
              <a:rPr lang="en-US" sz="1700" b="1" i="1" dirty="0">
                <a:solidFill>
                  <a:schemeClr val="tx1"/>
                </a:solidFill>
              </a:rPr>
              <a:t>beginnen</a:t>
            </a:r>
            <a:r>
              <a:rPr lang="en-US" sz="1700" i="1" dirty="0">
                <a:solidFill>
                  <a:schemeClr val="tx1"/>
                </a:solidFill>
              </a:rPr>
              <a:t>.</a:t>
            </a:r>
            <a:endParaRPr lang="en-US" sz="1700" dirty="0"/>
          </a:p>
        </p:txBody>
      </p:sp>
      <p:sp>
        <p:nvSpPr>
          <p:cNvPr id="33" name="Shape 27"/>
          <p:cNvSpPr/>
          <p:nvPr/>
        </p:nvSpPr>
        <p:spPr>
          <a:xfrm>
            <a:off x="7946136" y="3520440"/>
            <a:ext cx="3694176" cy="1810512"/>
          </a:xfrm>
          <a:prstGeom prst="roundRect">
            <a:avLst>
              <a:gd name="adj" fmla="val 6061"/>
            </a:avLst>
          </a:prstGeom>
          <a:solidFill>
            <a:srgbClr val="6E4A9E">
              <a:alpha val="8000"/>
            </a:srgbClr>
          </a:solidFill>
          <a:ln w="19050">
            <a:solidFill>
              <a:srgbClr val="6E4A9E"/>
            </a:solidFill>
            <a:prstDash val="solid"/>
          </a:ln>
        </p:spPr>
      </p:sp>
      <p:pic>
        <p:nvPicPr>
          <p:cNvPr id="34" name="Image 3" descr="thinking face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129016" y="3703320"/>
            <a:ext cx="685800" cy="685800"/>
          </a:xfrm>
          <a:prstGeom prst="rect">
            <a:avLst/>
          </a:prstGeom>
        </p:spPr>
      </p:pic>
      <p:sp>
        <p:nvSpPr>
          <p:cNvPr id="35" name="Text 28"/>
          <p:cNvSpPr txBox="1"/>
          <p:nvPr/>
        </p:nvSpPr>
        <p:spPr>
          <a:xfrm>
            <a:off x="8951976" y="3703320"/>
            <a:ext cx="2551176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800" b="1" dirty="0">
                <a:solidFill>
                  <a:srgbClr val="6E4A9E"/>
                </a:solidFill>
              </a:rPr>
              <a:t>supposition</a:t>
            </a:r>
            <a:endParaRPr lang="en-US" sz="1800" dirty="0"/>
          </a:p>
        </p:txBody>
      </p:sp>
      <p:sp>
        <p:nvSpPr>
          <p:cNvPr id="36" name="Text 29"/>
          <p:cNvSpPr txBox="1"/>
          <p:nvPr/>
        </p:nvSpPr>
        <p:spPr>
          <a:xfrm>
            <a:off x="8174736" y="4434840"/>
            <a:ext cx="3282696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700" i="1" dirty="0">
                <a:solidFill>
                  <a:schemeClr val="tx1"/>
                </a:solidFill>
              </a:rPr>
              <a:t>Hij </a:t>
            </a:r>
            <a:r>
              <a:rPr lang="en-US" sz="1700" b="1" i="1" dirty="0">
                <a:solidFill>
                  <a:schemeClr val="tx1"/>
                </a:solidFill>
              </a:rPr>
              <a:t>zal</a:t>
            </a:r>
            <a:r>
              <a:rPr lang="en-US" sz="1700" i="1" dirty="0">
                <a:solidFill>
                  <a:schemeClr val="tx1"/>
                </a:solidFill>
              </a:rPr>
              <a:t> wel ziek </a:t>
            </a:r>
            <a:r>
              <a:rPr lang="en-US" sz="1700" b="1" i="1" dirty="0">
                <a:solidFill>
                  <a:schemeClr val="tx1"/>
                </a:solidFill>
              </a:rPr>
              <a:t>zijn</a:t>
            </a:r>
            <a:r>
              <a:rPr lang="en-US" sz="1700" i="1" dirty="0">
                <a:solidFill>
                  <a:schemeClr val="tx1"/>
                </a:solidFill>
              </a:rPr>
              <a:t>. (il doit être malade)</a:t>
            </a:r>
            <a:endParaRPr lang="en-US" sz="1700" dirty="0"/>
          </a:p>
        </p:txBody>
      </p:sp>
      <p:sp>
        <p:nvSpPr>
          <p:cNvPr id="37" name="Text 30"/>
          <p:cNvSpPr txBox="1"/>
          <p:nvPr/>
        </p:nvSpPr>
        <p:spPr>
          <a:xfrm>
            <a:off x="4069080" y="5577840"/>
            <a:ext cx="7571232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500" i="1" dirty="0">
                <a:solidFill>
                  <a:schemeClr val="accent5"/>
                </a:solidFill>
              </a:rPr>
              <a:t>Rappel M12 · </a:t>
            </a:r>
            <a:r>
              <a:rPr lang="en-US" sz="1500" i="1" dirty="0">
                <a:solidFill>
                  <a:schemeClr val="accent5"/>
                </a:solidFill>
              </a:rPr>
              <a:t>jij zal</a:t>
            </a:r>
            <a:r>
              <a:rPr lang="en-US" sz="1500" i="1" dirty="0">
                <a:solidFill>
                  <a:schemeClr val="accent5"/>
                </a:solidFill>
              </a:rPr>
              <a:t> : très courant en Flandre · </a:t>
            </a:r>
            <a:r>
              <a:rPr lang="en-US" sz="1500" i="1" dirty="0">
                <a:solidFill>
                  <a:schemeClr val="accent5"/>
                </a:solidFill>
              </a:rPr>
              <a:t>zal wel</a:t>
            </a:r>
            <a:r>
              <a:rPr lang="en-US" sz="1500" i="1" dirty="0">
                <a:solidFill>
                  <a:schemeClr val="accent5"/>
                </a:solidFill>
              </a:rPr>
              <a:t> = « sans doute »</a:t>
            </a:r>
            <a:endParaRPr lang="en-US" sz="15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1672" y="644652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4A5A70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9</a:t>
            </a:fld>
            <a:endParaRPr lang="en-US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548640" y="621792"/>
            <a:ext cx="11091672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chemeClr val="tx2"/>
                </a:solidFill>
              </a:rPr>
              <a:t>Les marqueurs du futur</a:t>
            </a:r>
            <a:endParaRPr lang="en-US" sz="3000" dirty="0"/>
          </a:p>
        </p:txBody>
      </p:sp>
      <p:sp>
        <p:nvSpPr>
          <p:cNvPr id="3" name="tag"/>
          <p:cNvSpPr/>
          <p:nvPr/>
        </p:nvSpPr>
        <p:spPr>
          <a:xfrm>
            <a:off x="548640" y="237744"/>
            <a:ext cx="1552651" cy="310896"/>
          </a:xfrm>
          <a:prstGeom prst="roundRect">
            <a:avLst>
              <a:gd name="adj" fmla="val 14706"/>
            </a:avLst>
          </a:prstGeom>
          <a:solidFill>
            <a:schemeClr val="accent3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spc="100" kern="0" dirty="0">
                <a:solidFill>
                  <a:srgbClr val="FFFFFF"/>
                </a:solidFill>
              </a:rPr>
              <a:t>VOCABULAIRE</a:t>
            </a:r>
            <a:endParaRPr lang="en-US" sz="1200" dirty="0"/>
          </a:p>
        </p:txBody>
      </p:sp>
      <p:sp>
        <p:nvSpPr>
          <p:cNvPr id="5" name="Shape 2"/>
          <p:cNvSpPr/>
          <p:nvPr/>
        </p:nvSpPr>
        <p:spPr>
          <a:xfrm>
            <a:off x="822960" y="2697480"/>
            <a:ext cx="10698480" cy="914"/>
          </a:xfrm>
          <a:prstGeom prst="line">
            <a:avLst/>
          </a:prstGeom>
          <a:noFill/>
          <a:ln w="38100">
            <a:solidFill>
              <a:srgbClr val="4A5A70"/>
            </a:solidFill>
            <a:prstDash val="solid"/>
            <a:tailEnd type="triangle"/>
          </a:ln>
        </p:spPr>
      </p:sp>
      <p:sp>
        <p:nvSpPr>
          <p:cNvPr id="6" name="Shape 3"/>
          <p:cNvSpPr/>
          <p:nvPr/>
        </p:nvSpPr>
        <p:spPr>
          <a:xfrm>
            <a:off x="594360" y="2468880"/>
            <a:ext cx="457200" cy="457200"/>
          </a:xfrm>
          <a:prstGeom prst="ellipse">
            <a:avLst/>
          </a:prstGeom>
          <a:solidFill>
            <a:schemeClr val="tx2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pic>
        <p:nvPicPr>
          <p:cNvPr id="7" name="Image 0" descr="MapMarkerAlt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04088" y="2578608"/>
            <a:ext cx="237744" cy="237744"/>
          </a:xfrm>
          <a:prstGeom prst="rect">
            <a:avLst/>
          </a:prstGeom>
        </p:spPr>
      </p:pic>
      <p:sp>
        <p:nvSpPr>
          <p:cNvPr id="8" name="Text 4"/>
          <p:cNvSpPr txBox="1"/>
          <p:nvPr/>
        </p:nvSpPr>
        <p:spPr>
          <a:xfrm>
            <a:off x="502920" y="2971800"/>
            <a:ext cx="6400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300" b="1" dirty="0">
                <a:solidFill>
                  <a:schemeClr val="tx2"/>
                </a:solidFill>
              </a:rPr>
              <a:t>nu</a:t>
            </a:r>
            <a:endParaRPr lang="en-US" sz="1300" dirty="0"/>
          </a:p>
        </p:txBody>
      </p:sp>
      <p:sp>
        <p:nvSpPr>
          <p:cNvPr id="9" name="Text 5"/>
          <p:cNvSpPr txBox="1"/>
          <p:nvPr/>
        </p:nvSpPr>
        <p:spPr>
          <a:xfrm>
            <a:off x="1143000" y="1600200"/>
            <a:ext cx="14630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algn="ctr" indent="0" marL="0">
              <a:buNone/>
            </a:pPr>
            <a:r>
              <a:rPr lang="en-US" sz="1600" b="1" i="1" dirty="0">
                <a:solidFill>
                  <a:schemeClr val="accent1"/>
                </a:solidFill>
              </a:rPr>
              <a:t>straks</a:t>
            </a:r>
            <a:endParaRPr lang="en-US" sz="1600" dirty="0"/>
          </a:p>
        </p:txBody>
      </p:sp>
      <p:sp>
        <p:nvSpPr>
          <p:cNvPr id="10" name="Shape 6"/>
          <p:cNvSpPr/>
          <p:nvPr/>
        </p:nvSpPr>
        <p:spPr>
          <a:xfrm>
            <a:off x="1755648" y="2578608"/>
            <a:ext cx="237744" cy="237744"/>
          </a:xfrm>
          <a:prstGeom prst="ellipse">
            <a:avLst/>
          </a:prstGeom>
          <a:solidFill>
            <a:schemeClr val="accent1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11" name="Text 7"/>
          <p:cNvSpPr txBox="1"/>
          <p:nvPr/>
        </p:nvSpPr>
        <p:spPr>
          <a:xfrm>
            <a:off x="1143000" y="2926080"/>
            <a:ext cx="14630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200" i="1" dirty="0">
                <a:solidFill>
                  <a:schemeClr val="accent5"/>
                </a:solidFill>
              </a:rPr>
              <a:t>tout à l’heure</a:t>
            </a:r>
            <a:endParaRPr lang="en-US" sz="1200" dirty="0"/>
          </a:p>
        </p:txBody>
      </p:sp>
      <p:sp>
        <p:nvSpPr>
          <p:cNvPr id="12" name="Text 8"/>
          <p:cNvSpPr txBox="1"/>
          <p:nvPr/>
        </p:nvSpPr>
        <p:spPr>
          <a:xfrm>
            <a:off x="2606040" y="1600200"/>
            <a:ext cx="14630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algn="ctr" indent="0" marL="0">
              <a:buNone/>
            </a:pPr>
            <a:r>
              <a:rPr lang="en-US" sz="1600" b="1" i="1" dirty="0">
                <a:solidFill>
                  <a:schemeClr val="accent1"/>
                </a:solidFill>
              </a:rPr>
              <a:t>vanavond</a:t>
            </a:r>
            <a:endParaRPr lang="en-US" sz="1600" dirty="0"/>
          </a:p>
        </p:txBody>
      </p:sp>
      <p:sp>
        <p:nvSpPr>
          <p:cNvPr id="13" name="Shape 9"/>
          <p:cNvSpPr/>
          <p:nvPr/>
        </p:nvSpPr>
        <p:spPr>
          <a:xfrm>
            <a:off x="3218688" y="2578608"/>
            <a:ext cx="237744" cy="237744"/>
          </a:xfrm>
          <a:prstGeom prst="ellipse">
            <a:avLst/>
          </a:prstGeom>
          <a:solidFill>
            <a:schemeClr val="accent1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14" name="Text 10"/>
          <p:cNvSpPr txBox="1"/>
          <p:nvPr/>
        </p:nvSpPr>
        <p:spPr>
          <a:xfrm>
            <a:off x="2606040" y="2926080"/>
            <a:ext cx="14630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200" i="1" dirty="0">
                <a:solidFill>
                  <a:schemeClr val="accent5"/>
                </a:solidFill>
              </a:rPr>
              <a:t>ce soir</a:t>
            </a:r>
            <a:endParaRPr lang="en-US" sz="1200" dirty="0"/>
          </a:p>
        </p:txBody>
      </p:sp>
      <p:sp>
        <p:nvSpPr>
          <p:cNvPr id="15" name="Text 11"/>
          <p:cNvSpPr txBox="1"/>
          <p:nvPr/>
        </p:nvSpPr>
        <p:spPr>
          <a:xfrm>
            <a:off x="4069080" y="1600200"/>
            <a:ext cx="14630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algn="ctr" indent="0" marL="0">
              <a:buNone/>
            </a:pPr>
            <a:r>
              <a:rPr lang="en-US" sz="1600" b="1" i="1" dirty="0">
                <a:solidFill>
                  <a:schemeClr val="accent1"/>
                </a:solidFill>
              </a:rPr>
              <a:t>morgen</a:t>
            </a:r>
            <a:endParaRPr lang="en-US" sz="1600" dirty="0"/>
          </a:p>
        </p:txBody>
      </p:sp>
      <p:sp>
        <p:nvSpPr>
          <p:cNvPr id="16" name="Shape 12"/>
          <p:cNvSpPr/>
          <p:nvPr/>
        </p:nvSpPr>
        <p:spPr>
          <a:xfrm>
            <a:off x="4681728" y="2578608"/>
            <a:ext cx="237744" cy="237744"/>
          </a:xfrm>
          <a:prstGeom prst="ellipse">
            <a:avLst/>
          </a:prstGeom>
          <a:solidFill>
            <a:schemeClr val="accent1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17" name="Text 13"/>
          <p:cNvSpPr txBox="1"/>
          <p:nvPr/>
        </p:nvSpPr>
        <p:spPr>
          <a:xfrm>
            <a:off x="4069080" y="2926080"/>
            <a:ext cx="14630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200" i="1" dirty="0">
                <a:solidFill>
                  <a:schemeClr val="accent5"/>
                </a:solidFill>
              </a:rPr>
              <a:t>demain</a:t>
            </a:r>
            <a:endParaRPr lang="en-US" sz="1200" dirty="0"/>
          </a:p>
        </p:txBody>
      </p:sp>
      <p:sp>
        <p:nvSpPr>
          <p:cNvPr id="18" name="Text 14"/>
          <p:cNvSpPr txBox="1"/>
          <p:nvPr/>
        </p:nvSpPr>
        <p:spPr>
          <a:xfrm>
            <a:off x="5532120" y="1600200"/>
            <a:ext cx="14630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algn="ctr" indent="0" marL="0">
              <a:buNone/>
            </a:pPr>
            <a:r>
              <a:rPr lang="en-US" sz="1600" b="1" i="1" dirty="0">
                <a:solidFill>
                  <a:schemeClr val="accent1"/>
                </a:solidFill>
              </a:rPr>
              <a:t>overmorgen</a:t>
            </a:r>
            <a:endParaRPr lang="en-US" sz="1600" dirty="0"/>
          </a:p>
        </p:txBody>
      </p:sp>
      <p:sp>
        <p:nvSpPr>
          <p:cNvPr id="19" name="Shape 15"/>
          <p:cNvSpPr/>
          <p:nvPr/>
        </p:nvSpPr>
        <p:spPr>
          <a:xfrm>
            <a:off x="6144768" y="2578608"/>
            <a:ext cx="237744" cy="237744"/>
          </a:xfrm>
          <a:prstGeom prst="ellipse">
            <a:avLst/>
          </a:prstGeom>
          <a:solidFill>
            <a:schemeClr val="accent1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20" name="Text 16"/>
          <p:cNvSpPr txBox="1"/>
          <p:nvPr/>
        </p:nvSpPr>
        <p:spPr>
          <a:xfrm>
            <a:off x="5532120" y="2926080"/>
            <a:ext cx="14630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200" i="1" dirty="0">
                <a:solidFill>
                  <a:schemeClr val="accent5"/>
                </a:solidFill>
              </a:rPr>
              <a:t>après-demain</a:t>
            </a:r>
            <a:endParaRPr lang="en-US" sz="1200" dirty="0"/>
          </a:p>
        </p:txBody>
      </p:sp>
      <p:sp>
        <p:nvSpPr>
          <p:cNvPr id="21" name="Text 17"/>
          <p:cNvSpPr txBox="1"/>
          <p:nvPr/>
        </p:nvSpPr>
        <p:spPr>
          <a:xfrm>
            <a:off x="6995160" y="1600200"/>
            <a:ext cx="14630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algn="ctr" indent="0" marL="0">
              <a:buNone/>
            </a:pPr>
            <a:r>
              <a:rPr lang="en-US" sz="1600" b="1" i="1" dirty="0">
                <a:solidFill>
                  <a:schemeClr val="accent1"/>
                </a:solidFill>
              </a:rPr>
              <a:t>volgende week</a:t>
            </a:r>
            <a:endParaRPr lang="en-US" sz="1600" dirty="0"/>
          </a:p>
        </p:txBody>
      </p:sp>
      <p:sp>
        <p:nvSpPr>
          <p:cNvPr id="22" name="Shape 18"/>
          <p:cNvSpPr/>
          <p:nvPr/>
        </p:nvSpPr>
        <p:spPr>
          <a:xfrm>
            <a:off x="7607808" y="2578608"/>
            <a:ext cx="237744" cy="237744"/>
          </a:xfrm>
          <a:prstGeom prst="ellipse">
            <a:avLst/>
          </a:prstGeom>
          <a:solidFill>
            <a:schemeClr val="accent1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23" name="Text 19"/>
          <p:cNvSpPr txBox="1"/>
          <p:nvPr/>
        </p:nvSpPr>
        <p:spPr>
          <a:xfrm>
            <a:off x="6995160" y="2926080"/>
            <a:ext cx="14630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200" i="1" dirty="0">
                <a:solidFill>
                  <a:schemeClr val="accent5"/>
                </a:solidFill>
              </a:rPr>
              <a:t>la semaine prochaine</a:t>
            </a:r>
            <a:endParaRPr lang="en-US" sz="1200" dirty="0"/>
          </a:p>
        </p:txBody>
      </p:sp>
      <p:sp>
        <p:nvSpPr>
          <p:cNvPr id="24" name="Text 20"/>
          <p:cNvSpPr txBox="1"/>
          <p:nvPr/>
        </p:nvSpPr>
        <p:spPr>
          <a:xfrm>
            <a:off x="8458200" y="1600200"/>
            <a:ext cx="14630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algn="ctr" indent="0" marL="0">
              <a:buNone/>
            </a:pPr>
            <a:r>
              <a:rPr lang="en-US" sz="1600" b="1" i="1" dirty="0">
                <a:solidFill>
                  <a:schemeClr val="accent1"/>
                </a:solidFill>
              </a:rPr>
              <a:t>over twee weken</a:t>
            </a:r>
            <a:endParaRPr lang="en-US" sz="1600" dirty="0"/>
          </a:p>
        </p:txBody>
      </p:sp>
      <p:sp>
        <p:nvSpPr>
          <p:cNvPr id="25" name="Shape 21"/>
          <p:cNvSpPr/>
          <p:nvPr/>
        </p:nvSpPr>
        <p:spPr>
          <a:xfrm>
            <a:off x="9070848" y="2578608"/>
            <a:ext cx="237744" cy="237744"/>
          </a:xfrm>
          <a:prstGeom prst="ellipse">
            <a:avLst/>
          </a:prstGeom>
          <a:solidFill>
            <a:schemeClr val="accent1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26" name="Text 22"/>
          <p:cNvSpPr txBox="1"/>
          <p:nvPr/>
        </p:nvSpPr>
        <p:spPr>
          <a:xfrm>
            <a:off x="8458200" y="2926080"/>
            <a:ext cx="14630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200" i="1" dirty="0">
                <a:solidFill>
                  <a:schemeClr val="accent5"/>
                </a:solidFill>
              </a:rPr>
              <a:t>dans deux semaines</a:t>
            </a:r>
            <a:endParaRPr lang="en-US" sz="1200" dirty="0"/>
          </a:p>
        </p:txBody>
      </p:sp>
      <p:sp>
        <p:nvSpPr>
          <p:cNvPr id="27" name="Text 23"/>
          <p:cNvSpPr txBox="1"/>
          <p:nvPr/>
        </p:nvSpPr>
        <p:spPr>
          <a:xfrm>
            <a:off x="9921240" y="1600200"/>
            <a:ext cx="14630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algn="ctr" indent="0" marL="0">
              <a:buNone/>
            </a:pPr>
            <a:r>
              <a:rPr lang="en-US" sz="1600" b="1" i="1" dirty="0">
                <a:solidFill>
                  <a:schemeClr val="accent1"/>
                </a:solidFill>
              </a:rPr>
              <a:t>volgend jaar</a:t>
            </a:r>
            <a:endParaRPr lang="en-US" sz="1600" dirty="0"/>
          </a:p>
        </p:txBody>
      </p:sp>
      <p:sp>
        <p:nvSpPr>
          <p:cNvPr id="28" name="Shape 24"/>
          <p:cNvSpPr/>
          <p:nvPr/>
        </p:nvSpPr>
        <p:spPr>
          <a:xfrm>
            <a:off x="10533888" y="2578608"/>
            <a:ext cx="237744" cy="237744"/>
          </a:xfrm>
          <a:prstGeom prst="ellipse">
            <a:avLst/>
          </a:prstGeom>
          <a:solidFill>
            <a:schemeClr val="accent1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29" name="Text 25"/>
          <p:cNvSpPr txBox="1"/>
          <p:nvPr/>
        </p:nvSpPr>
        <p:spPr>
          <a:xfrm>
            <a:off x="9921240" y="2926080"/>
            <a:ext cx="14630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200" i="1" dirty="0">
                <a:solidFill>
                  <a:schemeClr val="accent5"/>
                </a:solidFill>
              </a:rPr>
              <a:t>l’an prochain</a:t>
            </a:r>
            <a:endParaRPr lang="en-US" sz="1200" dirty="0"/>
          </a:p>
        </p:txBody>
      </p:sp>
      <p:sp>
        <p:nvSpPr>
          <p:cNvPr id="30" name="Text 26"/>
          <p:cNvSpPr txBox="1"/>
          <p:nvPr/>
        </p:nvSpPr>
        <p:spPr>
          <a:xfrm>
            <a:off x="8686800" y="3429000"/>
            <a:ext cx="2953512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1400" dirty="0">
                <a:solidFill>
                  <a:schemeClr val="accent5"/>
                </a:solidFill>
              </a:rPr>
              <a:t>+ </a:t>
            </a:r>
            <a:r>
              <a:rPr lang="en-US" sz="1400" b="1" i="1" dirty="0">
                <a:solidFill>
                  <a:schemeClr val="accent5"/>
                </a:solidFill>
              </a:rPr>
              <a:t>binnenkort</a:t>
            </a:r>
            <a:r>
              <a:rPr lang="en-US" sz="1400" dirty="0">
                <a:solidFill>
                  <a:schemeClr val="accent5"/>
                </a:solidFill>
              </a:rPr>
              <a:t> = bientôt</a:t>
            </a:r>
            <a:endParaRPr lang="en-US" sz="1400" dirty="0"/>
          </a:p>
        </p:txBody>
      </p:sp>
      <p:sp>
        <p:nvSpPr>
          <p:cNvPr id="31" name="Text 27"/>
          <p:cNvSpPr txBox="1"/>
          <p:nvPr/>
        </p:nvSpPr>
        <p:spPr>
          <a:xfrm>
            <a:off x="548640" y="3794760"/>
            <a:ext cx="54864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00" b="1" spc="200" kern="0" dirty="0">
                <a:solidFill>
                  <a:schemeClr val="accent5"/>
                </a:solidFill>
              </a:rPr>
              <a:t>LE MIROIR DU M15</a:t>
            </a:r>
            <a:endParaRPr lang="en-US" sz="1200" dirty="0"/>
          </a:p>
        </p:txBody>
      </p:sp>
      <p:sp>
        <p:nvSpPr>
          <p:cNvPr id="32" name="Shape 28"/>
          <p:cNvSpPr/>
          <p:nvPr/>
        </p:nvSpPr>
        <p:spPr>
          <a:xfrm>
            <a:off x="548640" y="4114800"/>
            <a:ext cx="3575304" cy="777240"/>
          </a:xfrm>
          <a:prstGeom prst="roundRect">
            <a:avLst>
              <a:gd name="adj" fmla="val 9412"/>
            </a:avLst>
          </a:prstGeom>
          <a:solidFill>
            <a:schemeClr val="bg2"/>
          </a:solidFill>
          <a:ln w="12700">
            <a:solidFill>
              <a:srgbClr val="D5DCE6"/>
            </a:solidFill>
            <a:prstDash val="solid"/>
          </a:ln>
        </p:spPr>
      </p:sp>
      <p:sp>
        <p:nvSpPr>
          <p:cNvPr id="33" name="Text 29"/>
          <p:cNvSpPr txBox="1"/>
          <p:nvPr/>
        </p:nvSpPr>
        <p:spPr>
          <a:xfrm>
            <a:off x="548640" y="4114800"/>
            <a:ext cx="3575304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00" i="1" dirty="0">
                <a:solidFill>
                  <a:schemeClr val="tx1"/>
                </a:solidFill>
              </a:rPr>
              <a:t>gisteren</a:t>
            </a:r>
            <a:r>
              <a:rPr lang="en-US" sz="1700" dirty="0">
                <a:solidFill>
                  <a:schemeClr val="tx1"/>
                </a:solidFill>
              </a:rPr>
              <a:t> ⇄ </a:t>
            </a:r>
            <a:r>
              <a:rPr lang="en-US" sz="1700" b="1" i="1" dirty="0">
                <a:solidFill>
                  <a:schemeClr val="accent1"/>
                </a:solidFill>
              </a:rPr>
              <a:t>morgen</a:t>
            </a:r>
            <a:endParaRPr lang="en-US" sz="1700" dirty="0"/>
          </a:p>
        </p:txBody>
      </p:sp>
      <p:sp>
        <p:nvSpPr>
          <p:cNvPr id="34" name="Shape 30"/>
          <p:cNvSpPr/>
          <p:nvPr/>
        </p:nvSpPr>
        <p:spPr>
          <a:xfrm>
            <a:off x="4306824" y="4114800"/>
            <a:ext cx="3575304" cy="777240"/>
          </a:xfrm>
          <a:prstGeom prst="roundRect">
            <a:avLst>
              <a:gd name="adj" fmla="val 9412"/>
            </a:avLst>
          </a:prstGeom>
          <a:solidFill>
            <a:schemeClr val="bg2"/>
          </a:solidFill>
          <a:ln w="12700">
            <a:solidFill>
              <a:srgbClr val="D5DCE6"/>
            </a:solidFill>
            <a:prstDash val="solid"/>
          </a:ln>
        </p:spPr>
      </p:sp>
      <p:sp>
        <p:nvSpPr>
          <p:cNvPr id="35" name="Text 31"/>
          <p:cNvSpPr txBox="1"/>
          <p:nvPr/>
        </p:nvSpPr>
        <p:spPr>
          <a:xfrm>
            <a:off x="4306824" y="4114800"/>
            <a:ext cx="3575304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00" i="1" dirty="0">
                <a:solidFill>
                  <a:schemeClr val="tx1"/>
                </a:solidFill>
              </a:rPr>
              <a:t>vorige week</a:t>
            </a:r>
            <a:r>
              <a:rPr lang="en-US" sz="1700" dirty="0">
                <a:solidFill>
                  <a:schemeClr val="tx1"/>
                </a:solidFill>
              </a:rPr>
              <a:t> ⇄ </a:t>
            </a:r>
            <a:r>
              <a:rPr lang="en-US" sz="1700" b="1" i="1" dirty="0">
                <a:solidFill>
                  <a:schemeClr val="accent1"/>
                </a:solidFill>
              </a:rPr>
              <a:t>volgende week</a:t>
            </a:r>
            <a:endParaRPr lang="en-US" sz="1700" dirty="0"/>
          </a:p>
        </p:txBody>
      </p:sp>
      <p:sp>
        <p:nvSpPr>
          <p:cNvPr id="36" name="Shape 32"/>
          <p:cNvSpPr/>
          <p:nvPr/>
        </p:nvSpPr>
        <p:spPr>
          <a:xfrm>
            <a:off x="8065008" y="4114800"/>
            <a:ext cx="3575304" cy="777240"/>
          </a:xfrm>
          <a:prstGeom prst="roundRect">
            <a:avLst>
              <a:gd name="adj" fmla="val 9412"/>
            </a:avLst>
          </a:prstGeom>
          <a:solidFill>
            <a:schemeClr val="bg2"/>
          </a:solidFill>
          <a:ln w="12700">
            <a:solidFill>
              <a:srgbClr val="D5DCE6"/>
            </a:solidFill>
            <a:prstDash val="solid"/>
          </a:ln>
        </p:spPr>
      </p:sp>
      <p:sp>
        <p:nvSpPr>
          <p:cNvPr id="37" name="Text 33"/>
          <p:cNvSpPr txBox="1"/>
          <p:nvPr/>
        </p:nvSpPr>
        <p:spPr>
          <a:xfrm>
            <a:off x="8065008" y="4114800"/>
            <a:ext cx="3575304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00" i="1" dirty="0">
                <a:solidFill>
                  <a:schemeClr val="tx1"/>
                </a:solidFill>
              </a:rPr>
              <a:t>twee dagen geleden</a:t>
            </a:r>
            <a:r>
              <a:rPr lang="en-US" sz="1700" dirty="0">
                <a:solidFill>
                  <a:schemeClr val="tx1"/>
                </a:solidFill>
              </a:rPr>
              <a:t> ⇄ </a:t>
            </a:r>
            <a:r>
              <a:rPr lang="en-US" sz="1700" b="1" i="1" dirty="0">
                <a:solidFill>
                  <a:schemeClr val="accent1"/>
                </a:solidFill>
              </a:rPr>
              <a:t>over twee dagen</a:t>
            </a:r>
            <a:endParaRPr lang="en-US" sz="1700" dirty="0"/>
          </a:p>
        </p:txBody>
      </p:sp>
      <p:sp>
        <p:nvSpPr>
          <p:cNvPr id="38" name="Shape 34"/>
          <p:cNvSpPr/>
          <p:nvPr/>
        </p:nvSpPr>
        <p:spPr>
          <a:xfrm>
            <a:off x="548640" y="5212080"/>
            <a:ext cx="11091672" cy="868680"/>
          </a:xfrm>
          <a:prstGeom prst="roundRect">
            <a:avLst>
              <a:gd name="adj" fmla="val 8421"/>
            </a:avLst>
          </a:prstGeom>
          <a:solidFill>
            <a:schemeClr val="tx2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39" name="Text 35"/>
          <p:cNvSpPr txBox="1"/>
          <p:nvPr/>
        </p:nvSpPr>
        <p:spPr>
          <a:xfrm>
            <a:off x="822960" y="5212080"/>
            <a:ext cx="106070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700" i="1" dirty="0">
                <a:solidFill>
                  <a:schemeClr val="bg1"/>
                </a:solidFill>
              </a:rPr>
              <a:t>over</a:t>
            </a:r>
            <a:r>
              <a:rPr lang="en-US" sz="1700" dirty="0">
                <a:solidFill>
                  <a:schemeClr val="bg1"/>
                </a:solidFill>
              </a:rPr>
              <a:t> + durée = « dans » (</a:t>
            </a:r>
            <a:r>
              <a:rPr lang="en-US" sz="1700" i="1" dirty="0">
                <a:solidFill>
                  <a:schemeClr val="bg1"/>
                </a:solidFill>
              </a:rPr>
              <a:t>over een uur</a:t>
            </a:r>
            <a:r>
              <a:rPr lang="en-US" sz="1700" dirty="0">
                <a:solidFill>
                  <a:schemeClr val="bg1"/>
                </a:solidFill>
              </a:rPr>
              <a:t>) · </a:t>
            </a:r>
            <a:r>
              <a:rPr lang="en-US" sz="1700" i="1" dirty="0">
                <a:solidFill>
                  <a:schemeClr val="bg1"/>
                </a:solidFill>
              </a:rPr>
              <a:t>in een uur</a:t>
            </a:r>
            <a:r>
              <a:rPr lang="en-US" sz="1700" dirty="0">
                <a:solidFill>
                  <a:schemeClr val="bg1"/>
                </a:solidFill>
              </a:rPr>
              <a:t> = « en une heure » · </a:t>
            </a:r>
            <a:r>
              <a:rPr lang="en-US" sz="1700" i="1" dirty="0">
                <a:solidFill>
                  <a:schemeClr val="bg1"/>
                </a:solidFill>
              </a:rPr>
              <a:t>volgend jaar</a:t>
            </a:r>
            <a:r>
              <a:rPr lang="en-US" sz="1700" dirty="0">
                <a:solidFill>
                  <a:schemeClr val="bg1"/>
                </a:solidFill>
              </a:rPr>
              <a:t> (het) / </a:t>
            </a:r>
            <a:r>
              <a:rPr lang="en-US" sz="1700" i="1" dirty="0">
                <a:solidFill>
                  <a:schemeClr val="bg1"/>
                </a:solidFill>
              </a:rPr>
              <a:t>volgende week</a:t>
            </a:r>
            <a:r>
              <a:rPr lang="en-US" sz="1700" dirty="0">
                <a:solidFill>
                  <a:schemeClr val="bg1"/>
                </a:solidFill>
              </a:rPr>
              <a:t> (de)</a:t>
            </a:r>
            <a:endParaRPr lang="en-US" sz="17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1672" y="644652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4A5A70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10</a:t>
            </a:fld>
            <a:endParaRPr lang="en-US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548640" y="621792"/>
            <a:ext cx="11091672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chemeClr val="tx2"/>
                </a:solidFill>
              </a:rPr>
              <a:t>Parler de ses projets</a:t>
            </a:r>
            <a:endParaRPr lang="en-US" sz="3000" dirty="0"/>
          </a:p>
        </p:txBody>
      </p:sp>
      <p:sp>
        <p:nvSpPr>
          <p:cNvPr id="3" name="tag"/>
          <p:cNvSpPr/>
          <p:nvPr/>
        </p:nvSpPr>
        <p:spPr>
          <a:xfrm>
            <a:off x="548640" y="237744"/>
            <a:ext cx="1552651" cy="310896"/>
          </a:xfrm>
          <a:prstGeom prst="roundRect">
            <a:avLst>
              <a:gd name="adj" fmla="val 14706"/>
            </a:avLst>
          </a:prstGeom>
          <a:solidFill>
            <a:schemeClr val="accent3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spc="100" kern="0" dirty="0">
                <a:solidFill>
                  <a:srgbClr val="FFFFFF"/>
                </a:solidFill>
              </a:rPr>
              <a:t>VOCABULAIRE</a:t>
            </a:r>
            <a:endParaRPr lang="en-US" sz="1200" dirty="0"/>
          </a:p>
        </p:txBody>
      </p:sp>
      <p:sp>
        <p:nvSpPr>
          <p:cNvPr id="5" name="Shape 2"/>
          <p:cNvSpPr/>
          <p:nvPr/>
        </p:nvSpPr>
        <p:spPr>
          <a:xfrm>
            <a:off x="548640" y="1554480"/>
            <a:ext cx="3544824" cy="1783080"/>
          </a:xfrm>
          <a:prstGeom prst="roundRect">
            <a:avLst>
              <a:gd name="adj" fmla="val 7692"/>
            </a:avLst>
          </a:prstGeom>
          <a:solidFill>
            <a:schemeClr val="accent2">
              <a:alpha val="10000"/>
            </a:schemeClr>
          </a:solidFill>
          <a:ln w="19050">
            <a:solidFill>
              <a:srgbClr val="2A6FB0"/>
            </a:solidFill>
            <a:prstDash val="solid"/>
          </a:ln>
        </p:spPr>
      </p:sp>
      <p:pic>
        <p:nvPicPr>
          <p:cNvPr id="6" name="Image 0" descr="delivery truck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31520" y="1984248"/>
            <a:ext cx="914400" cy="914400"/>
          </a:xfrm>
          <a:prstGeom prst="rect">
            <a:avLst/>
          </a:prstGeom>
        </p:spPr>
      </p:pic>
      <p:sp>
        <p:nvSpPr>
          <p:cNvPr id="7" name="Text 3"/>
          <p:cNvSpPr txBox="1"/>
          <p:nvPr/>
        </p:nvSpPr>
        <p:spPr>
          <a:xfrm>
            <a:off x="1783080" y="1554480"/>
            <a:ext cx="2218944" cy="1783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800" i="1" dirty="0">
                <a:solidFill>
                  <a:schemeClr val="tx1"/>
                </a:solidFill>
              </a:rPr>
              <a:t>Ik </a:t>
            </a:r>
            <a:r>
              <a:rPr lang="en-US" sz="1800" b="1" i="1" dirty="0">
                <a:solidFill>
                  <a:schemeClr val="tx1"/>
                </a:solidFill>
              </a:rPr>
              <a:t>ga verhuizen</a:t>
            </a:r>
            <a:r>
              <a:rPr lang="en-US" sz="1800" i="1" dirty="0">
                <a:solidFill>
                  <a:schemeClr val="tx1"/>
                </a:solidFill>
              </a:rPr>
              <a:t>.</a:t>
            </a:r>
            <a:endParaRPr lang="en-US" sz="1800" dirty="0"/>
          </a:p>
        </p:txBody>
      </p:sp>
      <p:sp>
        <p:nvSpPr>
          <p:cNvPr id="8" name="Shape 4"/>
          <p:cNvSpPr/>
          <p:nvPr/>
        </p:nvSpPr>
        <p:spPr>
          <a:xfrm>
            <a:off x="4322064" y="1554480"/>
            <a:ext cx="3544824" cy="1783080"/>
          </a:xfrm>
          <a:prstGeom prst="roundRect">
            <a:avLst>
              <a:gd name="adj" fmla="val 7692"/>
            </a:avLst>
          </a:prstGeom>
          <a:solidFill>
            <a:schemeClr val="accent2">
              <a:alpha val="10000"/>
            </a:schemeClr>
          </a:solidFill>
          <a:ln w="19050">
            <a:solidFill>
              <a:srgbClr val="2A6FB0"/>
            </a:solidFill>
            <a:prstDash val="solid"/>
          </a:ln>
        </p:spPr>
      </p:sp>
      <p:pic>
        <p:nvPicPr>
          <p:cNvPr id="9" name="Image 1" descr="ri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04944" y="1984248"/>
            <a:ext cx="914400" cy="914400"/>
          </a:xfrm>
          <a:prstGeom prst="rect">
            <a:avLst/>
          </a:prstGeom>
        </p:spPr>
      </p:pic>
      <p:sp>
        <p:nvSpPr>
          <p:cNvPr id="10" name="Text 5"/>
          <p:cNvSpPr txBox="1"/>
          <p:nvPr/>
        </p:nvSpPr>
        <p:spPr>
          <a:xfrm>
            <a:off x="5556504" y="1554480"/>
            <a:ext cx="2218944" cy="1783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800" i="1" dirty="0">
                <a:solidFill>
                  <a:schemeClr val="tx1"/>
                </a:solidFill>
              </a:rPr>
              <a:t>We </a:t>
            </a:r>
            <a:r>
              <a:rPr lang="en-US" sz="1800" b="1" i="1" dirty="0">
                <a:solidFill>
                  <a:schemeClr val="tx1"/>
                </a:solidFill>
              </a:rPr>
              <a:t>gaan trouwen</a:t>
            </a:r>
            <a:r>
              <a:rPr lang="en-US" sz="1800" i="1" dirty="0">
                <a:solidFill>
                  <a:schemeClr val="tx1"/>
                </a:solidFill>
              </a:rPr>
              <a:t>.</a:t>
            </a:r>
            <a:endParaRPr lang="en-US" sz="1800" dirty="0"/>
          </a:p>
        </p:txBody>
      </p:sp>
      <p:sp>
        <p:nvSpPr>
          <p:cNvPr id="11" name="Shape 6"/>
          <p:cNvSpPr/>
          <p:nvPr/>
        </p:nvSpPr>
        <p:spPr>
          <a:xfrm>
            <a:off x="8095488" y="1554480"/>
            <a:ext cx="3544824" cy="1783080"/>
          </a:xfrm>
          <a:prstGeom prst="roundRect">
            <a:avLst>
              <a:gd name="adj" fmla="val 7692"/>
            </a:avLst>
          </a:prstGeom>
          <a:solidFill>
            <a:schemeClr val="accent2">
              <a:alpha val="10000"/>
            </a:schemeClr>
          </a:solidFill>
          <a:ln w="19050">
            <a:solidFill>
              <a:srgbClr val="2A6FB0"/>
            </a:solidFill>
            <a:prstDash val="solid"/>
          </a:ln>
        </p:spPr>
      </p:sp>
      <p:pic>
        <p:nvPicPr>
          <p:cNvPr id="12" name="Image 2" descr="briefcase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278368" y="1984248"/>
            <a:ext cx="914400" cy="914400"/>
          </a:xfrm>
          <a:prstGeom prst="rect">
            <a:avLst/>
          </a:prstGeom>
        </p:spPr>
      </p:pic>
      <p:sp>
        <p:nvSpPr>
          <p:cNvPr id="13" name="Text 7"/>
          <p:cNvSpPr txBox="1"/>
          <p:nvPr/>
        </p:nvSpPr>
        <p:spPr>
          <a:xfrm>
            <a:off x="9329928" y="1554480"/>
            <a:ext cx="2218944" cy="1783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800" i="1" dirty="0">
                <a:solidFill>
                  <a:schemeClr val="tx1"/>
                </a:solidFill>
              </a:rPr>
              <a:t>Ik </a:t>
            </a:r>
            <a:r>
              <a:rPr lang="en-US" sz="1800" b="1" i="1" dirty="0">
                <a:solidFill>
                  <a:schemeClr val="tx1"/>
                </a:solidFill>
              </a:rPr>
              <a:t>ga</a:t>
            </a:r>
            <a:r>
              <a:rPr lang="en-US" sz="1800" i="1" dirty="0">
                <a:solidFill>
                  <a:schemeClr val="tx1"/>
                </a:solidFill>
              </a:rPr>
              <a:t> een nieuwe job </a:t>
            </a:r>
            <a:r>
              <a:rPr lang="en-US" sz="1800" b="1" i="1" dirty="0">
                <a:solidFill>
                  <a:schemeClr val="tx1"/>
                </a:solidFill>
              </a:rPr>
              <a:t>zoeken</a:t>
            </a:r>
            <a:r>
              <a:rPr lang="en-US" sz="1800" i="1" dirty="0">
                <a:solidFill>
                  <a:schemeClr val="tx1"/>
                </a:solidFill>
              </a:rPr>
              <a:t>.</a:t>
            </a:r>
            <a:endParaRPr lang="en-US" sz="1800" dirty="0"/>
          </a:p>
        </p:txBody>
      </p:sp>
      <p:sp>
        <p:nvSpPr>
          <p:cNvPr id="14" name="Shape 8"/>
          <p:cNvSpPr/>
          <p:nvPr/>
        </p:nvSpPr>
        <p:spPr>
          <a:xfrm>
            <a:off x="548640" y="3520440"/>
            <a:ext cx="3544824" cy="1783080"/>
          </a:xfrm>
          <a:prstGeom prst="roundRect">
            <a:avLst>
              <a:gd name="adj" fmla="val 7692"/>
            </a:avLst>
          </a:prstGeom>
          <a:solidFill>
            <a:schemeClr val="accent2">
              <a:alpha val="10000"/>
            </a:schemeClr>
          </a:solidFill>
          <a:ln w="19050">
            <a:solidFill>
              <a:srgbClr val="2A6FB0"/>
            </a:solidFill>
            <a:prstDash val="solid"/>
          </a:ln>
        </p:spPr>
      </p:sp>
      <p:pic>
        <p:nvPicPr>
          <p:cNvPr id="15" name="Image 3" descr="books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31520" y="3950208"/>
            <a:ext cx="914400" cy="914400"/>
          </a:xfrm>
          <a:prstGeom prst="rect">
            <a:avLst/>
          </a:prstGeom>
        </p:spPr>
      </p:pic>
      <p:sp>
        <p:nvSpPr>
          <p:cNvPr id="16" name="Text 9"/>
          <p:cNvSpPr txBox="1"/>
          <p:nvPr/>
        </p:nvSpPr>
        <p:spPr>
          <a:xfrm>
            <a:off x="1783080" y="3520440"/>
            <a:ext cx="2218944" cy="1783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800" i="1" dirty="0">
                <a:solidFill>
                  <a:schemeClr val="tx1"/>
                </a:solidFill>
              </a:rPr>
              <a:t>Ik </a:t>
            </a:r>
            <a:r>
              <a:rPr lang="en-US" sz="1800" b="1" i="1" dirty="0">
                <a:solidFill>
                  <a:schemeClr val="tx1"/>
                </a:solidFill>
              </a:rPr>
              <a:t>ga</a:t>
            </a:r>
            <a:r>
              <a:rPr lang="en-US" sz="1800" i="1" dirty="0">
                <a:solidFill>
                  <a:schemeClr val="tx1"/>
                </a:solidFill>
              </a:rPr>
              <a:t> een cursus </a:t>
            </a:r>
            <a:r>
              <a:rPr lang="en-US" sz="1800" b="1" i="1" dirty="0">
                <a:solidFill>
                  <a:schemeClr val="tx1"/>
                </a:solidFill>
              </a:rPr>
              <a:t>volgen</a:t>
            </a:r>
            <a:r>
              <a:rPr lang="en-US" sz="1800" i="1" dirty="0">
                <a:solidFill>
                  <a:schemeClr val="tx1"/>
                </a:solidFill>
              </a:rPr>
              <a:t>.</a:t>
            </a:r>
            <a:endParaRPr lang="en-US" sz="1800" dirty="0"/>
          </a:p>
        </p:txBody>
      </p:sp>
      <p:sp>
        <p:nvSpPr>
          <p:cNvPr id="17" name="Shape 10"/>
          <p:cNvSpPr/>
          <p:nvPr/>
        </p:nvSpPr>
        <p:spPr>
          <a:xfrm>
            <a:off x="4322064" y="3520440"/>
            <a:ext cx="3544824" cy="1783080"/>
          </a:xfrm>
          <a:prstGeom prst="roundRect">
            <a:avLst>
              <a:gd name="adj" fmla="val 7692"/>
            </a:avLst>
          </a:prstGeom>
          <a:solidFill>
            <a:schemeClr val="accent2">
              <a:alpha val="10000"/>
            </a:schemeClr>
          </a:solidFill>
          <a:ln w="19050">
            <a:solidFill>
              <a:srgbClr val="2A6FB0"/>
            </a:solidFill>
            <a:prstDash val="solid"/>
          </a:ln>
        </p:spPr>
      </p:sp>
      <p:pic>
        <p:nvPicPr>
          <p:cNvPr id="18" name="Image 4" descr="luggage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4504944" y="3950208"/>
            <a:ext cx="914400" cy="914400"/>
          </a:xfrm>
          <a:prstGeom prst="rect">
            <a:avLst/>
          </a:prstGeom>
        </p:spPr>
      </p:pic>
      <p:sp>
        <p:nvSpPr>
          <p:cNvPr id="19" name="Text 11"/>
          <p:cNvSpPr txBox="1"/>
          <p:nvPr/>
        </p:nvSpPr>
        <p:spPr>
          <a:xfrm>
            <a:off x="5556504" y="3520440"/>
            <a:ext cx="2218944" cy="1783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800" i="1" dirty="0">
                <a:solidFill>
                  <a:schemeClr val="tx1"/>
                </a:solidFill>
              </a:rPr>
              <a:t>We </a:t>
            </a:r>
            <a:r>
              <a:rPr lang="en-US" sz="1800" b="1" i="1" dirty="0">
                <a:solidFill>
                  <a:schemeClr val="tx1"/>
                </a:solidFill>
              </a:rPr>
              <a:t>gaan</a:t>
            </a:r>
            <a:r>
              <a:rPr lang="en-US" sz="1800" i="1" dirty="0">
                <a:solidFill>
                  <a:schemeClr val="tx1"/>
                </a:solidFill>
              </a:rPr>
              <a:t> op reis.</a:t>
            </a:r>
            <a:endParaRPr lang="en-US" sz="1800" dirty="0"/>
          </a:p>
        </p:txBody>
      </p:sp>
      <p:sp>
        <p:nvSpPr>
          <p:cNvPr id="20" name="Shape 12"/>
          <p:cNvSpPr/>
          <p:nvPr/>
        </p:nvSpPr>
        <p:spPr>
          <a:xfrm>
            <a:off x="8095488" y="3520440"/>
            <a:ext cx="3544824" cy="1783080"/>
          </a:xfrm>
          <a:prstGeom prst="roundRect">
            <a:avLst>
              <a:gd name="adj" fmla="val 7692"/>
            </a:avLst>
          </a:prstGeom>
          <a:solidFill>
            <a:schemeClr val="accent2">
              <a:alpha val="10000"/>
            </a:schemeClr>
          </a:solidFill>
          <a:ln w="19050">
            <a:solidFill>
              <a:srgbClr val="2A6FB0"/>
            </a:solidFill>
            <a:prstDash val="solid"/>
          </a:ln>
        </p:spPr>
      </p:sp>
      <p:pic>
        <p:nvPicPr>
          <p:cNvPr id="21" name="Image 5" descr="beach with umbrella">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8278368" y="3950208"/>
            <a:ext cx="914400" cy="914400"/>
          </a:xfrm>
          <a:prstGeom prst="rect">
            <a:avLst/>
          </a:prstGeom>
        </p:spPr>
      </p:pic>
      <p:sp>
        <p:nvSpPr>
          <p:cNvPr id="22" name="Text 13"/>
          <p:cNvSpPr txBox="1"/>
          <p:nvPr/>
        </p:nvSpPr>
        <p:spPr>
          <a:xfrm>
            <a:off x="9329928" y="3520440"/>
            <a:ext cx="2218944" cy="1783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800" i="1" dirty="0">
                <a:solidFill>
                  <a:schemeClr val="tx1"/>
                </a:solidFill>
              </a:rPr>
              <a:t>Mijn vader </a:t>
            </a:r>
            <a:r>
              <a:rPr lang="en-US" sz="1800" b="1" i="1" dirty="0">
                <a:solidFill>
                  <a:schemeClr val="tx1"/>
                </a:solidFill>
              </a:rPr>
              <a:t>gaat</a:t>
            </a:r>
            <a:r>
              <a:rPr lang="en-US" sz="1800" i="1" dirty="0">
                <a:solidFill>
                  <a:schemeClr val="tx1"/>
                </a:solidFill>
              </a:rPr>
              <a:t> met pensioen.</a:t>
            </a:r>
            <a:endParaRPr lang="en-US" sz="1800" dirty="0"/>
          </a:p>
        </p:txBody>
      </p:sp>
      <p:sp>
        <p:nvSpPr>
          <p:cNvPr id="23" name="Text 14"/>
          <p:cNvSpPr txBox="1"/>
          <p:nvPr/>
        </p:nvSpPr>
        <p:spPr>
          <a:xfrm>
            <a:off x="548640" y="5623560"/>
            <a:ext cx="11091672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i="1" dirty="0">
                <a:solidFill>
                  <a:schemeClr val="accent5"/>
                </a:solidFill>
              </a:rPr>
              <a:t>op reis gaan · met pensioen gaan</a:t>
            </a:r>
            <a:r>
              <a:rPr lang="en-US" sz="1600" i="1" dirty="0">
                <a:solidFill>
                  <a:schemeClr val="accent5"/>
                </a:solidFill>
              </a:rPr>
              <a:t> (prendre sa retraite) : expressions, pas de 2e </a:t>
            </a:r>
            <a:r>
              <a:rPr lang="en-US" sz="1600" i="1" dirty="0">
                <a:solidFill>
                  <a:schemeClr val="accent5"/>
                </a:solidFill>
              </a:rPr>
              <a:t>gaan</a:t>
            </a:r>
            <a:r>
              <a:rPr lang="en-US" sz="1600" i="1" dirty="0">
                <a:solidFill>
                  <a:schemeClr val="accent5"/>
                </a:solidFill>
              </a:rPr>
              <a:t> · aperçu : </a:t>
            </a:r>
            <a:r>
              <a:rPr lang="en-US" sz="1600" i="1" dirty="0">
                <a:solidFill>
                  <a:schemeClr val="accent5"/>
                </a:solidFill>
              </a:rPr>
              <a:t>Ik ben </a:t>
            </a:r>
            <a:r>
              <a:rPr lang="en-US" sz="1600" b="1" i="1" dirty="0">
                <a:solidFill>
                  <a:schemeClr val="accent5"/>
                </a:solidFill>
              </a:rPr>
              <a:t>van plan om</a:t>
            </a:r>
            <a:r>
              <a:rPr lang="en-US" sz="1600" i="1" dirty="0">
                <a:solidFill>
                  <a:schemeClr val="accent5"/>
                </a:solidFill>
              </a:rPr>
              <a:t> te verhuizen.</a:t>
            </a:r>
            <a:endParaRPr lang="en-US" sz="16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1672" y="644652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4A5A70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11</a:t>
            </a:fld>
            <a:endParaRPr lang="en-US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548640" y="621792"/>
            <a:ext cx="11091672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chemeClr val="tx2"/>
                </a:solidFill>
              </a:rPr>
              <a:t>+ APERÇU : le futur antérieur</a:t>
            </a:r>
            <a:endParaRPr lang="en-US" sz="3000" dirty="0"/>
          </a:p>
        </p:txBody>
      </p:sp>
      <p:sp>
        <p:nvSpPr>
          <p:cNvPr id="3" name="tag"/>
          <p:cNvSpPr/>
          <p:nvPr/>
        </p:nvSpPr>
        <p:spPr>
          <a:xfrm>
            <a:off x="548640" y="237744"/>
            <a:ext cx="1338682" cy="310896"/>
          </a:xfrm>
          <a:prstGeom prst="roundRect">
            <a:avLst>
              <a:gd name="adj" fmla="val 14706"/>
            </a:avLst>
          </a:prstGeom>
          <a:solidFill>
            <a:schemeClr val="accent5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spc="100" kern="0" dirty="0">
                <a:solidFill>
                  <a:srgbClr val="FFFFFF"/>
                </a:solidFill>
              </a:rPr>
              <a:t>+ APERÇU</a:t>
            </a:r>
            <a:endParaRPr lang="en-US" sz="1200" dirty="0"/>
          </a:p>
        </p:txBody>
      </p:sp>
      <p:sp>
        <p:nvSpPr>
          <p:cNvPr id="5" name="Shape 2"/>
          <p:cNvSpPr/>
          <p:nvPr/>
        </p:nvSpPr>
        <p:spPr>
          <a:xfrm>
            <a:off x="822960" y="2834640"/>
            <a:ext cx="10607040" cy="914"/>
          </a:xfrm>
          <a:prstGeom prst="line">
            <a:avLst/>
          </a:prstGeom>
          <a:noFill/>
          <a:ln w="38100">
            <a:solidFill>
              <a:srgbClr val="4A5A70"/>
            </a:solidFill>
            <a:prstDash val="solid"/>
            <a:tailEnd type="triangle"/>
          </a:ln>
        </p:spPr>
      </p:sp>
      <p:sp>
        <p:nvSpPr>
          <p:cNvPr id="6" name="Shape 3"/>
          <p:cNvSpPr/>
          <p:nvPr/>
        </p:nvSpPr>
        <p:spPr>
          <a:xfrm>
            <a:off x="594360" y="2606040"/>
            <a:ext cx="457200" cy="457200"/>
          </a:xfrm>
          <a:prstGeom prst="ellipse">
            <a:avLst/>
          </a:prstGeom>
          <a:solidFill>
            <a:schemeClr val="tx2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pic>
        <p:nvPicPr>
          <p:cNvPr id="7" name="Image 0" descr="MapMarkerAlt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04088" y="2715768"/>
            <a:ext cx="237744" cy="237744"/>
          </a:xfrm>
          <a:prstGeom prst="rect">
            <a:avLst/>
          </a:prstGeom>
        </p:spPr>
      </p:pic>
      <p:sp>
        <p:nvSpPr>
          <p:cNvPr id="8" name="Text 4"/>
          <p:cNvSpPr txBox="1"/>
          <p:nvPr/>
        </p:nvSpPr>
        <p:spPr>
          <a:xfrm>
            <a:off x="502920" y="3108960"/>
            <a:ext cx="6400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300" b="1" dirty="0">
                <a:solidFill>
                  <a:schemeClr val="tx2"/>
                </a:solidFill>
              </a:rPr>
              <a:t>nu</a:t>
            </a:r>
            <a:endParaRPr lang="en-US" sz="1300" dirty="0"/>
          </a:p>
        </p:txBody>
      </p:sp>
      <p:sp>
        <p:nvSpPr>
          <p:cNvPr id="9" name="Shape 5"/>
          <p:cNvSpPr/>
          <p:nvPr/>
        </p:nvSpPr>
        <p:spPr>
          <a:xfrm>
            <a:off x="1828800" y="2240280"/>
            <a:ext cx="5486400" cy="502920"/>
          </a:xfrm>
          <a:prstGeom prst="roundRect">
            <a:avLst>
              <a:gd name="adj" fmla="val 10909"/>
            </a:avLst>
          </a:prstGeom>
          <a:solidFill>
            <a:srgbClr val="6E4A9E">
              <a:alpha val="25000"/>
            </a:srgbClr>
          </a:solidFill>
          <a:ln w="19050">
            <a:solidFill>
              <a:srgbClr val="6E4A9E"/>
            </a:solidFill>
            <a:prstDash val="dash"/>
          </a:ln>
        </p:spPr>
      </p:sp>
      <p:sp>
        <p:nvSpPr>
          <p:cNvPr id="10" name="Text 6"/>
          <p:cNvSpPr txBox="1"/>
          <p:nvPr/>
        </p:nvSpPr>
        <p:spPr>
          <a:xfrm>
            <a:off x="1828800" y="2240280"/>
            <a:ext cx="54864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i="1" dirty="0">
                <a:solidFill>
                  <a:srgbClr val="6E4A9E"/>
                </a:solidFill>
              </a:rPr>
              <a:t>het rapport schrijven</a:t>
            </a:r>
            <a:r>
              <a:rPr lang="en-US" sz="1600" b="1" dirty="0">
                <a:solidFill>
                  <a:srgbClr val="6E4A9E"/>
                </a:solidFill>
              </a:rPr>
              <a:t> ✓</a:t>
            </a:r>
            <a:endParaRPr lang="en-US" sz="1600" dirty="0"/>
          </a:p>
        </p:txBody>
      </p:sp>
      <p:sp>
        <p:nvSpPr>
          <p:cNvPr id="11" name="Shape 7"/>
          <p:cNvSpPr/>
          <p:nvPr/>
        </p:nvSpPr>
        <p:spPr>
          <a:xfrm>
            <a:off x="7315200" y="1691640"/>
            <a:ext cx="914" cy="1463040"/>
          </a:xfrm>
          <a:prstGeom prst="line">
            <a:avLst/>
          </a:prstGeom>
          <a:noFill/>
          <a:ln w="31750">
            <a:solidFill>
              <a:srgbClr val="B83227"/>
            </a:solidFill>
            <a:prstDash val="solid"/>
          </a:ln>
        </p:spPr>
      </p:sp>
      <p:pic>
        <p:nvPicPr>
          <p:cNvPr id="12" name="Image 1" descr="FlagCheckered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178040" y="1600200"/>
            <a:ext cx="365760" cy="365760"/>
          </a:xfrm>
          <a:prstGeom prst="rect">
            <a:avLst/>
          </a:prstGeom>
        </p:spPr>
      </p:pic>
      <p:sp>
        <p:nvSpPr>
          <p:cNvPr id="13" name="Text 8"/>
          <p:cNvSpPr txBox="1"/>
          <p:nvPr/>
        </p:nvSpPr>
        <p:spPr>
          <a:xfrm>
            <a:off x="7452360" y="2926080"/>
            <a:ext cx="22860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500" b="1" i="1" dirty="0">
                <a:solidFill>
                  <a:schemeClr val="accent6"/>
                </a:solidFill>
              </a:rPr>
              <a:t>vrijdag 17 uur</a:t>
            </a:r>
            <a:endParaRPr lang="en-US" sz="1500" dirty="0"/>
          </a:p>
        </p:txBody>
      </p:sp>
      <p:sp>
        <p:nvSpPr>
          <p:cNvPr id="14" name="Text 9"/>
          <p:cNvSpPr txBox="1"/>
          <p:nvPr/>
        </p:nvSpPr>
        <p:spPr>
          <a:xfrm>
            <a:off x="548640" y="3566160"/>
            <a:ext cx="11091672" cy="1920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spcAft>
                <a:spcPts val="1000"/>
              </a:spcAft>
              <a:buNone/>
            </a:pPr>
            <a:r>
              <a:rPr lang="en-US" sz="1900" b="1" i="1" dirty="0">
                <a:solidFill>
                  <a:schemeClr val="tx1"/>
                </a:solidFill>
              </a:rPr>
              <a:t>Tegen</a:t>
            </a:r>
            <a:r>
              <a:rPr lang="en-US" sz="1900" i="1" dirty="0">
                <a:solidFill>
                  <a:schemeClr val="tx1"/>
                </a:solidFill>
              </a:rPr>
              <a:t> vrijdag </a:t>
            </a:r>
            <a:r>
              <a:rPr lang="en-US" sz="1900" b="1" i="1" dirty="0">
                <a:solidFill>
                  <a:schemeClr val="tx1"/>
                </a:solidFill>
              </a:rPr>
              <a:t>zal</a:t>
            </a:r>
            <a:r>
              <a:rPr lang="en-US" sz="1900" i="1" dirty="0">
                <a:solidFill>
                  <a:schemeClr val="tx1"/>
                </a:solidFill>
              </a:rPr>
              <a:t> ik het rapport </a:t>
            </a:r>
            <a:r>
              <a:rPr lang="en-US" sz="1900" b="1" i="1" dirty="0">
                <a:solidFill>
                  <a:schemeClr val="tx1"/>
                </a:solidFill>
              </a:rPr>
              <a:t>geschreven hebben</a:t>
            </a:r>
            <a:r>
              <a:rPr lang="en-US" sz="1900" i="1" dirty="0">
                <a:solidFill>
                  <a:schemeClr val="tx1"/>
                </a:solidFill>
              </a:rPr>
              <a:t>.</a:t>
            </a:r>
            <a:r>
              <a:rPr lang="en-US" sz="1900" dirty="0">
                <a:solidFill>
                  <a:schemeClr val="tx1"/>
                </a:solidFill>
              </a:rPr>
              <a:t> (d’ici vendredi, j’aurai écrit)</a:t>
            </a:r>
            <a:endParaRPr lang="en-US" sz="1900" dirty="0"/>
          </a:p>
          <a:p>
            <a:pPr algn="l" indent="0" marL="0">
              <a:spcAft>
                <a:spcPts val="1000"/>
              </a:spcAft>
              <a:buNone/>
            </a:pPr>
            <a:r>
              <a:rPr lang="en-US" sz="1900" i="1" dirty="0">
                <a:solidFill>
                  <a:schemeClr val="tx1"/>
                </a:solidFill>
              </a:rPr>
              <a:t>Volgend jaar </a:t>
            </a:r>
            <a:r>
              <a:rPr lang="en-US" sz="1900" b="1" i="1" dirty="0">
                <a:solidFill>
                  <a:schemeClr val="tx1"/>
                </a:solidFill>
              </a:rPr>
              <a:t>zal</a:t>
            </a:r>
            <a:r>
              <a:rPr lang="en-US" sz="1900" i="1" dirty="0">
                <a:solidFill>
                  <a:schemeClr val="tx1"/>
                </a:solidFill>
              </a:rPr>
              <a:t> ik hier tien jaar </a:t>
            </a:r>
            <a:r>
              <a:rPr lang="en-US" sz="1900" b="1" i="1" dirty="0">
                <a:solidFill>
                  <a:schemeClr val="tx1"/>
                </a:solidFill>
              </a:rPr>
              <a:t>gewerkt hebben</a:t>
            </a:r>
            <a:r>
              <a:rPr lang="en-US" sz="1900" i="1" dirty="0">
                <a:solidFill>
                  <a:schemeClr val="tx1"/>
                </a:solidFill>
              </a:rPr>
              <a:t>.</a:t>
            </a:r>
            <a:endParaRPr lang="en-US" sz="1900" dirty="0"/>
          </a:p>
          <a:p>
            <a:pPr algn="l" indent="0" marL="0">
              <a:spcAft>
                <a:spcPts val="1000"/>
              </a:spcAft>
              <a:buNone/>
            </a:pPr>
            <a:r>
              <a:rPr lang="en-US" sz="1900" dirty="0">
                <a:solidFill>
                  <a:schemeClr val="tx1"/>
                </a:solidFill>
              </a:rPr>
              <a:t>À l’oral, souvent : </a:t>
            </a:r>
            <a:r>
              <a:rPr lang="en-US" sz="1900" b="1" i="1" dirty="0">
                <a:solidFill>
                  <a:schemeClr val="tx1"/>
                </a:solidFill>
              </a:rPr>
              <a:t>Tegen</a:t>
            </a:r>
            <a:r>
              <a:rPr lang="en-US" sz="1900" i="1" dirty="0">
                <a:solidFill>
                  <a:schemeClr val="tx1"/>
                </a:solidFill>
              </a:rPr>
              <a:t> vrijdag </a:t>
            </a:r>
            <a:r>
              <a:rPr lang="en-US" sz="1900" b="1" i="1" dirty="0">
                <a:solidFill>
                  <a:schemeClr val="tx1"/>
                </a:solidFill>
              </a:rPr>
              <a:t>heb</a:t>
            </a:r>
            <a:r>
              <a:rPr lang="en-US" sz="1900" i="1" dirty="0">
                <a:solidFill>
                  <a:schemeClr val="tx1"/>
                </a:solidFill>
              </a:rPr>
              <a:t> ik het rapport </a:t>
            </a:r>
            <a:r>
              <a:rPr lang="en-US" sz="1900" b="1" i="1" dirty="0">
                <a:solidFill>
                  <a:schemeClr val="tx1"/>
                </a:solidFill>
              </a:rPr>
              <a:t>geschreven</a:t>
            </a:r>
            <a:r>
              <a:rPr lang="en-US" sz="1900" i="1" dirty="0">
                <a:solidFill>
                  <a:schemeClr val="tx1"/>
                </a:solidFill>
              </a:rPr>
              <a:t>.</a:t>
            </a:r>
            <a:r>
              <a:rPr lang="en-US" sz="1900" dirty="0">
                <a:solidFill>
                  <a:schemeClr val="tx1"/>
                </a:solidFill>
              </a:rPr>
              <a:t> (passé composé + marqueur)</a:t>
            </a:r>
            <a:endParaRPr lang="en-US" sz="1900" dirty="0"/>
          </a:p>
        </p:txBody>
      </p:sp>
      <p:sp>
        <p:nvSpPr>
          <p:cNvPr id="15" name="Shape 10"/>
          <p:cNvSpPr/>
          <p:nvPr/>
        </p:nvSpPr>
        <p:spPr>
          <a:xfrm>
            <a:off x="548640" y="5669280"/>
            <a:ext cx="11091672" cy="594360"/>
          </a:xfrm>
          <a:prstGeom prst="roundRect">
            <a:avLst>
              <a:gd name="adj" fmla="val 12308"/>
            </a:avLst>
          </a:prstGeom>
          <a:solidFill>
            <a:schemeClr val="accent5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16" name="Text 11"/>
          <p:cNvSpPr txBox="1"/>
          <p:nvPr/>
        </p:nvSpPr>
        <p:spPr>
          <a:xfrm>
            <a:off x="822960" y="5669280"/>
            <a:ext cx="1060704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700" dirty="0">
                <a:solidFill>
                  <a:schemeClr val="bg1"/>
                </a:solidFill>
              </a:rPr>
              <a:t>À reconnaître seulement. Le passé composé + un marqueur futur est la solution la plus simple.</a:t>
            </a:r>
            <a:endParaRPr lang="en-US" sz="17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1672" y="644652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4A5A70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12</a:t>
            </a:fld>
            <a:endParaRPr lang="en-US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548640" y="621792"/>
            <a:ext cx="11091672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chemeClr val="tx2"/>
                </a:solidFill>
              </a:rPr>
              <a:t>À retenir : quel futur choisir ?</a:t>
            </a:r>
            <a:endParaRPr lang="en-US" sz="3000" dirty="0"/>
          </a:p>
        </p:txBody>
      </p:sp>
      <p:sp>
        <p:nvSpPr>
          <p:cNvPr id="3" name="tag"/>
          <p:cNvSpPr/>
          <p:nvPr/>
        </p:nvSpPr>
        <p:spPr>
          <a:xfrm>
            <a:off x="548640" y="237744"/>
            <a:ext cx="1446581" cy="310896"/>
          </a:xfrm>
          <a:prstGeom prst="roundRect">
            <a:avLst>
              <a:gd name="adj" fmla="val 14706"/>
            </a:avLst>
          </a:prstGeom>
          <a:solidFill>
            <a:schemeClr val="tx2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spc="100" kern="0" dirty="0">
                <a:solidFill>
                  <a:srgbClr val="FFFFFF"/>
                </a:solidFill>
              </a:rPr>
              <a:t>À RETENIR</a:t>
            </a:r>
            <a:endParaRPr lang="en-US" sz="1200" dirty="0"/>
          </a:p>
        </p:txBody>
      </p:sp>
      <p:sp>
        <p:nvSpPr>
          <p:cNvPr id="5" name="Text 2"/>
          <p:cNvSpPr/>
          <p:nvPr/>
        </p:nvSpPr>
        <p:spPr>
          <a:xfrm>
            <a:off x="548640" y="1554480"/>
            <a:ext cx="4206240" cy="914400"/>
          </a:xfrm>
          <a:prstGeom prst="diamond">
            <a:avLst/>
          </a:prstGeom>
          <a:solidFill>
            <a:srgbClr val="EEF3F8"/>
          </a:solidFill>
          <a:ln w="19050">
            <a:solidFill>
              <a:srgbClr val="17375E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1B2333"/>
                </a:solidFill>
              </a:rPr>
              <a:t>Un plan, un horaire, avec un marqueur ?</a:t>
            </a:r>
            <a:endParaRPr lang="en-US" sz="1300" dirty="0"/>
          </a:p>
        </p:txBody>
      </p:sp>
      <p:sp>
        <p:nvSpPr>
          <p:cNvPr id="6" name="Shape 3"/>
          <p:cNvSpPr/>
          <p:nvPr/>
        </p:nvSpPr>
        <p:spPr>
          <a:xfrm>
            <a:off x="4773168" y="2011680"/>
            <a:ext cx="484632" cy="914"/>
          </a:xfrm>
          <a:prstGeom prst="line">
            <a:avLst/>
          </a:prstGeom>
          <a:noFill/>
          <a:ln w="25400">
            <a:solidFill>
              <a:srgbClr val="2E7D4F"/>
            </a:solidFill>
            <a:prstDash val="solid"/>
            <a:tailEnd type="triangle"/>
          </a:ln>
        </p:spPr>
      </p:sp>
      <p:sp>
        <p:nvSpPr>
          <p:cNvPr id="7" name="Text 4"/>
          <p:cNvSpPr txBox="1"/>
          <p:nvPr/>
        </p:nvSpPr>
        <p:spPr>
          <a:xfrm>
            <a:off x="4754880" y="1664208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200" b="1" dirty="0">
                <a:solidFill>
                  <a:schemeClr val="accent3"/>
                </a:solidFill>
              </a:rPr>
              <a:t>OUI</a:t>
            </a:r>
            <a:endParaRPr lang="en-US" sz="1200" dirty="0"/>
          </a:p>
        </p:txBody>
      </p:sp>
      <p:sp>
        <p:nvSpPr>
          <p:cNvPr id="8" name="Shape 5"/>
          <p:cNvSpPr/>
          <p:nvPr/>
        </p:nvSpPr>
        <p:spPr>
          <a:xfrm>
            <a:off x="5303520" y="1645920"/>
            <a:ext cx="3520440" cy="731520"/>
          </a:xfrm>
          <a:prstGeom prst="roundRect">
            <a:avLst>
              <a:gd name="adj" fmla="val 10000"/>
            </a:avLst>
          </a:prstGeom>
          <a:solidFill>
            <a:schemeClr val="accent3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9" name="Text 6"/>
          <p:cNvSpPr txBox="1"/>
          <p:nvPr/>
        </p:nvSpPr>
        <p:spPr>
          <a:xfrm>
            <a:off x="5440680" y="1645920"/>
            <a:ext cx="32918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dirty="0">
                <a:solidFill>
                  <a:schemeClr val="bg1"/>
                </a:solidFill>
              </a:rPr>
              <a:t>présent : </a:t>
            </a:r>
            <a:r>
              <a:rPr lang="en-US" sz="1600" i="1" dirty="0">
                <a:solidFill>
                  <a:schemeClr val="bg1"/>
                </a:solidFill>
              </a:rPr>
              <a:t>Morgen werk ik thuis.</a:t>
            </a:r>
            <a:endParaRPr lang="en-US" sz="1600" dirty="0"/>
          </a:p>
        </p:txBody>
      </p:sp>
      <p:sp>
        <p:nvSpPr>
          <p:cNvPr id="10" name="Shape 7"/>
          <p:cNvSpPr/>
          <p:nvPr/>
        </p:nvSpPr>
        <p:spPr>
          <a:xfrm>
            <a:off x="2651760" y="2468880"/>
            <a:ext cx="914" cy="201168"/>
          </a:xfrm>
          <a:prstGeom prst="line">
            <a:avLst/>
          </a:prstGeom>
          <a:noFill/>
          <a:ln w="22225">
            <a:solidFill>
              <a:srgbClr val="4A5A70"/>
            </a:solidFill>
            <a:prstDash val="solid"/>
            <a:tailEnd type="triangle"/>
          </a:ln>
        </p:spPr>
      </p:sp>
      <p:sp>
        <p:nvSpPr>
          <p:cNvPr id="11" name="Text 8"/>
          <p:cNvSpPr txBox="1"/>
          <p:nvPr/>
        </p:nvSpPr>
        <p:spPr>
          <a:xfrm>
            <a:off x="2743200" y="2450592"/>
            <a:ext cx="64008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100" b="1" dirty="0">
                <a:solidFill>
                  <a:schemeClr val="accent5"/>
                </a:solidFill>
              </a:rPr>
              <a:t>NON</a:t>
            </a:r>
            <a:endParaRPr lang="en-US" sz="1100" dirty="0"/>
          </a:p>
        </p:txBody>
      </p:sp>
      <p:sp>
        <p:nvSpPr>
          <p:cNvPr id="12" name="Text 9"/>
          <p:cNvSpPr/>
          <p:nvPr/>
        </p:nvSpPr>
        <p:spPr>
          <a:xfrm>
            <a:off x="548640" y="2670048"/>
            <a:ext cx="4206240" cy="914400"/>
          </a:xfrm>
          <a:prstGeom prst="diamond">
            <a:avLst/>
          </a:prstGeom>
          <a:solidFill>
            <a:srgbClr val="EEF3F8"/>
          </a:solidFill>
          <a:ln w="19050">
            <a:solidFill>
              <a:srgbClr val="17375E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1B2333"/>
                </a:solidFill>
              </a:rPr>
              <a:t>Une intention, un changement, un signe visible ?</a:t>
            </a:r>
            <a:endParaRPr lang="en-US" sz="1300" dirty="0"/>
          </a:p>
        </p:txBody>
      </p:sp>
      <p:sp>
        <p:nvSpPr>
          <p:cNvPr id="13" name="Shape 10"/>
          <p:cNvSpPr/>
          <p:nvPr/>
        </p:nvSpPr>
        <p:spPr>
          <a:xfrm>
            <a:off x="4773168" y="3127248"/>
            <a:ext cx="484632" cy="914"/>
          </a:xfrm>
          <a:prstGeom prst="line">
            <a:avLst/>
          </a:prstGeom>
          <a:noFill/>
          <a:ln w="25400">
            <a:solidFill>
              <a:srgbClr val="2E7D4F"/>
            </a:solidFill>
            <a:prstDash val="solid"/>
            <a:tailEnd type="triangle"/>
          </a:ln>
        </p:spPr>
      </p:sp>
      <p:sp>
        <p:nvSpPr>
          <p:cNvPr id="14" name="Text 11"/>
          <p:cNvSpPr txBox="1"/>
          <p:nvPr/>
        </p:nvSpPr>
        <p:spPr>
          <a:xfrm>
            <a:off x="4754880" y="2779776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200" b="1" dirty="0">
                <a:solidFill>
                  <a:schemeClr val="accent3"/>
                </a:solidFill>
              </a:rPr>
              <a:t>OUI</a:t>
            </a:r>
            <a:endParaRPr lang="en-US" sz="1200" dirty="0"/>
          </a:p>
        </p:txBody>
      </p:sp>
      <p:sp>
        <p:nvSpPr>
          <p:cNvPr id="15" name="Shape 12"/>
          <p:cNvSpPr/>
          <p:nvPr/>
        </p:nvSpPr>
        <p:spPr>
          <a:xfrm>
            <a:off x="5303520" y="2761488"/>
            <a:ext cx="3520440" cy="731520"/>
          </a:xfrm>
          <a:prstGeom prst="roundRect">
            <a:avLst>
              <a:gd name="adj" fmla="val 10000"/>
            </a:avLst>
          </a:prstGeom>
          <a:solidFill>
            <a:schemeClr val="accent2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16" name="Text 13"/>
          <p:cNvSpPr txBox="1"/>
          <p:nvPr/>
        </p:nvSpPr>
        <p:spPr>
          <a:xfrm>
            <a:off x="5440680" y="2761488"/>
            <a:ext cx="32918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i="1" dirty="0">
                <a:solidFill>
                  <a:schemeClr val="bg1"/>
                </a:solidFill>
              </a:rPr>
              <a:t>gaan</a:t>
            </a:r>
            <a:r>
              <a:rPr lang="en-US" sz="1600" dirty="0">
                <a:solidFill>
                  <a:schemeClr val="bg1"/>
                </a:solidFill>
              </a:rPr>
              <a:t> + inf. : </a:t>
            </a:r>
            <a:r>
              <a:rPr lang="en-US" sz="1600" i="1" dirty="0">
                <a:solidFill>
                  <a:schemeClr val="bg1"/>
                </a:solidFill>
              </a:rPr>
              <a:t>Ik ga verhuizen.</a:t>
            </a:r>
            <a:endParaRPr lang="en-US" sz="1600" dirty="0"/>
          </a:p>
        </p:txBody>
      </p:sp>
      <p:sp>
        <p:nvSpPr>
          <p:cNvPr id="17" name="Shape 14"/>
          <p:cNvSpPr/>
          <p:nvPr/>
        </p:nvSpPr>
        <p:spPr>
          <a:xfrm>
            <a:off x="2651760" y="3584448"/>
            <a:ext cx="914" cy="201168"/>
          </a:xfrm>
          <a:prstGeom prst="line">
            <a:avLst/>
          </a:prstGeom>
          <a:noFill/>
          <a:ln w="22225">
            <a:solidFill>
              <a:srgbClr val="4A5A70"/>
            </a:solidFill>
            <a:prstDash val="solid"/>
            <a:tailEnd type="triangle"/>
          </a:ln>
        </p:spPr>
      </p:sp>
      <p:sp>
        <p:nvSpPr>
          <p:cNvPr id="18" name="Text 15"/>
          <p:cNvSpPr txBox="1"/>
          <p:nvPr/>
        </p:nvSpPr>
        <p:spPr>
          <a:xfrm>
            <a:off x="2743200" y="3566160"/>
            <a:ext cx="64008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100" b="1" dirty="0">
                <a:solidFill>
                  <a:schemeClr val="accent5"/>
                </a:solidFill>
              </a:rPr>
              <a:t>NON</a:t>
            </a:r>
            <a:endParaRPr lang="en-US" sz="1100" dirty="0"/>
          </a:p>
        </p:txBody>
      </p:sp>
      <p:sp>
        <p:nvSpPr>
          <p:cNvPr id="19" name="Text 16"/>
          <p:cNvSpPr/>
          <p:nvPr/>
        </p:nvSpPr>
        <p:spPr>
          <a:xfrm>
            <a:off x="548640" y="3785616"/>
            <a:ext cx="4206240" cy="914400"/>
          </a:xfrm>
          <a:prstGeom prst="diamond">
            <a:avLst/>
          </a:prstGeom>
          <a:solidFill>
            <a:srgbClr val="EEF3F8"/>
          </a:solidFill>
          <a:ln w="19050">
            <a:solidFill>
              <a:srgbClr val="17375E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1B2333"/>
                </a:solidFill>
              </a:rPr>
              <a:t>Une promesse, une proposition, une annonce ?</a:t>
            </a:r>
            <a:endParaRPr lang="en-US" sz="1300" dirty="0"/>
          </a:p>
        </p:txBody>
      </p:sp>
      <p:sp>
        <p:nvSpPr>
          <p:cNvPr id="20" name="Shape 17"/>
          <p:cNvSpPr/>
          <p:nvPr/>
        </p:nvSpPr>
        <p:spPr>
          <a:xfrm>
            <a:off x="4773168" y="4242816"/>
            <a:ext cx="484632" cy="914"/>
          </a:xfrm>
          <a:prstGeom prst="line">
            <a:avLst/>
          </a:prstGeom>
          <a:noFill/>
          <a:ln w="25400">
            <a:solidFill>
              <a:srgbClr val="2E7D4F"/>
            </a:solidFill>
            <a:prstDash val="solid"/>
            <a:tailEnd type="triangle"/>
          </a:ln>
        </p:spPr>
      </p:sp>
      <p:sp>
        <p:nvSpPr>
          <p:cNvPr id="21" name="Text 18"/>
          <p:cNvSpPr txBox="1"/>
          <p:nvPr/>
        </p:nvSpPr>
        <p:spPr>
          <a:xfrm>
            <a:off x="4754880" y="3895344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200" b="1" dirty="0">
                <a:solidFill>
                  <a:schemeClr val="accent3"/>
                </a:solidFill>
              </a:rPr>
              <a:t>OUI</a:t>
            </a:r>
            <a:endParaRPr lang="en-US" sz="1200" dirty="0"/>
          </a:p>
        </p:txBody>
      </p:sp>
      <p:sp>
        <p:nvSpPr>
          <p:cNvPr id="22" name="Shape 19"/>
          <p:cNvSpPr/>
          <p:nvPr/>
        </p:nvSpPr>
        <p:spPr>
          <a:xfrm>
            <a:off x="5303520" y="3877056"/>
            <a:ext cx="3520440" cy="731520"/>
          </a:xfrm>
          <a:prstGeom prst="roundRect">
            <a:avLst>
              <a:gd name="adj" fmla="val 10000"/>
            </a:avLst>
          </a:prstGeom>
          <a:solidFill>
            <a:srgbClr val="6E4A9E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23" name="Text 20"/>
          <p:cNvSpPr txBox="1"/>
          <p:nvPr/>
        </p:nvSpPr>
        <p:spPr>
          <a:xfrm>
            <a:off x="5440680" y="3877056"/>
            <a:ext cx="32918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i="1" dirty="0">
                <a:solidFill>
                  <a:schemeClr val="bg1"/>
                </a:solidFill>
              </a:rPr>
              <a:t>zullen</a:t>
            </a:r>
            <a:r>
              <a:rPr lang="en-US" sz="1600" dirty="0">
                <a:solidFill>
                  <a:schemeClr val="bg1"/>
                </a:solidFill>
              </a:rPr>
              <a:t> + inf. : </a:t>
            </a:r>
            <a:r>
              <a:rPr lang="en-US" sz="1600" i="1" dirty="0">
                <a:solidFill>
                  <a:schemeClr val="bg1"/>
                </a:solidFill>
              </a:rPr>
              <a:t>Ik zal je bellen.</a:t>
            </a:r>
            <a:endParaRPr lang="en-US" sz="1600" dirty="0"/>
          </a:p>
        </p:txBody>
      </p:sp>
      <p:sp>
        <p:nvSpPr>
          <p:cNvPr id="24" name="Shape 21"/>
          <p:cNvSpPr/>
          <p:nvPr/>
        </p:nvSpPr>
        <p:spPr>
          <a:xfrm>
            <a:off x="2651760" y="4700016"/>
            <a:ext cx="914" cy="201168"/>
          </a:xfrm>
          <a:prstGeom prst="line">
            <a:avLst/>
          </a:prstGeom>
          <a:noFill/>
          <a:ln w="22225">
            <a:solidFill>
              <a:srgbClr val="4A5A70"/>
            </a:solidFill>
            <a:prstDash val="solid"/>
            <a:tailEnd type="triangle"/>
          </a:ln>
        </p:spPr>
      </p:sp>
      <p:sp>
        <p:nvSpPr>
          <p:cNvPr id="25" name="Text 22"/>
          <p:cNvSpPr txBox="1"/>
          <p:nvPr/>
        </p:nvSpPr>
        <p:spPr>
          <a:xfrm>
            <a:off x="2743200" y="4681728"/>
            <a:ext cx="64008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100" b="1" dirty="0">
                <a:solidFill>
                  <a:schemeClr val="accent5"/>
                </a:solidFill>
              </a:rPr>
              <a:t>NON</a:t>
            </a:r>
            <a:endParaRPr lang="en-US" sz="1100" dirty="0"/>
          </a:p>
        </p:txBody>
      </p:sp>
      <p:sp>
        <p:nvSpPr>
          <p:cNvPr id="26" name="Shape 23"/>
          <p:cNvSpPr/>
          <p:nvPr/>
        </p:nvSpPr>
        <p:spPr>
          <a:xfrm>
            <a:off x="548640" y="4901184"/>
            <a:ext cx="8275320" cy="822960"/>
          </a:xfrm>
          <a:prstGeom prst="roundRect">
            <a:avLst>
              <a:gd name="adj" fmla="val 8889"/>
            </a:avLst>
          </a:prstGeom>
          <a:solidFill>
            <a:schemeClr val="tx2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pic>
        <p:nvPicPr>
          <p:cNvPr id="27" name="Image 0" descr="Lightbulb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31520" y="5120640"/>
            <a:ext cx="365760" cy="365760"/>
          </a:xfrm>
          <a:prstGeom prst="rect">
            <a:avLst/>
          </a:prstGeom>
        </p:spPr>
      </p:pic>
      <p:sp>
        <p:nvSpPr>
          <p:cNvPr id="28" name="Text 24"/>
          <p:cNvSpPr txBox="1"/>
          <p:nvPr/>
        </p:nvSpPr>
        <p:spPr>
          <a:xfrm>
            <a:off x="1280160" y="4901184"/>
            <a:ext cx="74066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800" dirty="0">
                <a:solidFill>
                  <a:schemeClr val="bg1"/>
                </a:solidFill>
              </a:rPr>
              <a:t>Dans le doute : le </a:t>
            </a:r>
            <a:r>
              <a:rPr lang="en-US" sz="1800" b="1" dirty="0">
                <a:solidFill>
                  <a:schemeClr val="bg1"/>
                </a:solidFill>
              </a:rPr>
              <a:t>présent + un marqueur</a:t>
            </a:r>
            <a:r>
              <a:rPr lang="en-US" sz="1800" dirty="0">
                <a:solidFill>
                  <a:schemeClr val="bg1"/>
                </a:solidFill>
              </a:rPr>
              <a:t>. C’est presque toujours possible.</a:t>
            </a:r>
            <a:endParaRPr lang="en-US" sz="1800" dirty="0"/>
          </a:p>
        </p:txBody>
      </p:sp>
      <p:sp>
        <p:nvSpPr>
          <p:cNvPr id="29" name="Shape 25"/>
          <p:cNvSpPr/>
          <p:nvPr/>
        </p:nvSpPr>
        <p:spPr>
          <a:xfrm>
            <a:off x="9098280" y="1554480"/>
            <a:ext cx="2542032" cy="4169664"/>
          </a:xfrm>
          <a:prstGeom prst="roundRect">
            <a:avLst>
              <a:gd name="adj" fmla="val 2878"/>
            </a:avLst>
          </a:prstGeom>
          <a:solidFill>
            <a:schemeClr val="bg2"/>
          </a:solidFill>
          <a:ln w="12700">
            <a:solidFill>
              <a:srgbClr val="D5DCE6"/>
            </a:solidFill>
            <a:prstDash val="solid"/>
          </a:ln>
        </p:spPr>
      </p:sp>
      <p:sp>
        <p:nvSpPr>
          <p:cNvPr id="30" name="Text 26"/>
          <p:cNvSpPr txBox="1"/>
          <p:nvPr/>
        </p:nvSpPr>
        <p:spPr>
          <a:xfrm>
            <a:off x="9098280" y="1645920"/>
            <a:ext cx="254203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200" b="1" spc="200" kern="0" dirty="0">
                <a:solidFill>
                  <a:schemeClr val="accent5"/>
                </a:solidFill>
              </a:rPr>
              <a:t>LA PINCE</a:t>
            </a:r>
            <a:endParaRPr lang="en-US" sz="1200" dirty="0"/>
          </a:p>
        </p:txBody>
      </p:sp>
      <p:sp>
        <p:nvSpPr>
          <p:cNvPr id="31" name="Shape 27"/>
          <p:cNvSpPr/>
          <p:nvPr/>
        </p:nvSpPr>
        <p:spPr>
          <a:xfrm>
            <a:off x="9281160" y="2103120"/>
            <a:ext cx="2176272" cy="548640"/>
          </a:xfrm>
          <a:prstGeom prst="roundRect">
            <a:avLst>
              <a:gd name="adj" fmla="val 13333"/>
            </a:avLst>
          </a:prstGeom>
          <a:solidFill>
            <a:srgbClr val="EAF1F8"/>
          </a:solidFill>
          <a:ln w="31750">
            <a:solidFill>
              <a:srgbClr val="2A6FB0"/>
            </a:solidFill>
            <a:prstDash val="solid"/>
          </a:ln>
        </p:spPr>
      </p:sp>
      <p:sp>
        <p:nvSpPr>
          <p:cNvPr id="32" name="Text 28"/>
          <p:cNvSpPr txBox="1"/>
          <p:nvPr/>
        </p:nvSpPr>
        <p:spPr>
          <a:xfrm>
            <a:off x="9281160" y="2103120"/>
            <a:ext cx="2176272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chemeClr val="accent2"/>
                </a:solidFill>
              </a:rPr>
              <a:t>ga / zal</a:t>
            </a:r>
            <a:endParaRPr lang="en-US" sz="1800" dirty="0"/>
          </a:p>
        </p:txBody>
      </p:sp>
      <p:sp>
        <p:nvSpPr>
          <p:cNvPr id="33" name="Text 29"/>
          <p:cNvSpPr txBox="1"/>
          <p:nvPr/>
        </p:nvSpPr>
        <p:spPr>
          <a:xfrm>
            <a:off x="9281160" y="2670048"/>
            <a:ext cx="2176272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300" dirty="0">
                <a:solidFill>
                  <a:schemeClr val="accent5"/>
                </a:solidFill>
              </a:rPr>
              <a:t>② verbe conjugué</a:t>
            </a:r>
            <a:endParaRPr lang="en-US" sz="1300" dirty="0"/>
          </a:p>
        </p:txBody>
      </p:sp>
      <p:sp>
        <p:nvSpPr>
          <p:cNvPr id="34" name="Shape 30"/>
          <p:cNvSpPr/>
          <p:nvPr/>
        </p:nvSpPr>
        <p:spPr>
          <a:xfrm>
            <a:off x="9281160" y="3154680"/>
            <a:ext cx="2176272" cy="548640"/>
          </a:xfrm>
          <a:prstGeom prst="roundRect">
            <a:avLst>
              <a:gd name="adj" fmla="val 13333"/>
            </a:avLst>
          </a:prstGeom>
          <a:solidFill>
            <a:srgbClr val="FBEDEB"/>
          </a:solidFill>
          <a:ln w="25400">
            <a:solidFill>
              <a:srgbClr val="B83227"/>
            </a:solidFill>
            <a:prstDash val="dash"/>
          </a:ln>
        </p:spPr>
      </p:sp>
      <p:sp>
        <p:nvSpPr>
          <p:cNvPr id="35" name="Text 31"/>
          <p:cNvSpPr txBox="1"/>
          <p:nvPr/>
        </p:nvSpPr>
        <p:spPr>
          <a:xfrm>
            <a:off x="9281160" y="3154680"/>
            <a:ext cx="2176272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chemeClr val="accent6"/>
                </a:solidFill>
              </a:rPr>
              <a:t>infinitif</a:t>
            </a:r>
            <a:endParaRPr lang="en-US" sz="1800" dirty="0"/>
          </a:p>
        </p:txBody>
      </p:sp>
      <p:sp>
        <p:nvSpPr>
          <p:cNvPr id="36" name="Text 32"/>
          <p:cNvSpPr txBox="1"/>
          <p:nvPr/>
        </p:nvSpPr>
        <p:spPr>
          <a:xfrm>
            <a:off x="9281160" y="3721608"/>
            <a:ext cx="2176272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300" dirty="0">
                <a:solidFill>
                  <a:schemeClr val="accent5"/>
                </a:solidFill>
              </a:rPr>
              <a:t>⑥ au bout</a:t>
            </a:r>
            <a:endParaRPr lang="en-US" sz="1300" dirty="0"/>
          </a:p>
        </p:txBody>
      </p:sp>
      <p:sp>
        <p:nvSpPr>
          <p:cNvPr id="37" name="Text 33"/>
          <p:cNvSpPr txBox="1"/>
          <p:nvPr/>
        </p:nvSpPr>
        <p:spPr>
          <a:xfrm>
            <a:off x="9235440" y="4206240"/>
            <a:ext cx="2286000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i="1" dirty="0">
                <a:solidFill>
                  <a:schemeClr val="tx1"/>
                </a:solidFill>
              </a:rPr>
              <a:t>Ik </a:t>
            </a:r>
            <a:r>
              <a:rPr lang="en-US" sz="1600" b="1" i="1" dirty="0">
                <a:solidFill>
                  <a:schemeClr val="tx1"/>
                </a:solidFill>
              </a:rPr>
              <a:t>zal</a:t>
            </a:r>
            <a:r>
              <a:rPr lang="en-US" sz="1600" i="1" dirty="0">
                <a:solidFill>
                  <a:schemeClr val="tx1"/>
                </a:solidFill>
              </a:rPr>
              <a:t> je morgen </a:t>
            </a:r>
            <a:r>
              <a:rPr lang="en-US" sz="1600" b="1" i="1" dirty="0">
                <a:solidFill>
                  <a:schemeClr val="tx1"/>
                </a:solidFill>
              </a:rPr>
              <a:t>bellen</a:t>
            </a:r>
            <a:r>
              <a:rPr lang="en-US" sz="1600" i="1" dirty="0">
                <a:solidFill>
                  <a:schemeClr val="tx1"/>
                </a:solidFill>
              </a:rPr>
              <a:t>.</a:t>
            </a:r>
            <a:endParaRPr lang="en-US" sz="1600" dirty="0"/>
          </a:p>
        </p:txBody>
      </p:sp>
      <p:sp>
        <p:nvSpPr>
          <p:cNvPr id="38" name="Text 34"/>
          <p:cNvSpPr txBox="1"/>
          <p:nvPr/>
        </p:nvSpPr>
        <p:spPr>
          <a:xfrm>
            <a:off x="548640" y="5870448"/>
            <a:ext cx="82753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400" i="1" dirty="0">
                <a:solidFill>
                  <a:schemeClr val="accent5"/>
                </a:solidFill>
              </a:rPr>
              <a:t>Ce schéma est la référence pour tous les exercices.</a:t>
            </a:r>
            <a:endParaRPr lang="en-US" sz="1400" dirty="0"/>
          </a:p>
        </p:txBody>
      </p:sp>
      <p:pic>
        <p:nvPicPr>
          <p:cNvPr id="39" name="Image 1" descr="Camera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1247120" y="960120"/>
            <a:ext cx="347472" cy="347472"/>
          </a:xfrm>
          <a:prstGeom prst="rect">
            <a:avLst/>
          </a:prstGeom>
        </p:spPr>
      </p:pic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1672" y="644652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4A5A70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13</a:t>
            </a:fld>
            <a:endParaRPr lang="en-US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548640" y="621792"/>
            <a:ext cx="11091672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chemeClr val="bg1"/>
                </a:solidFill>
              </a:rPr>
              <a:t>Oefeningen</a:t>
            </a:r>
            <a:endParaRPr lang="en-US" sz="3000" dirty="0"/>
          </a:p>
        </p:txBody>
      </p:sp>
      <p:sp>
        <p:nvSpPr>
          <p:cNvPr id="3" name="tag"/>
          <p:cNvSpPr/>
          <p:nvPr/>
        </p:nvSpPr>
        <p:spPr>
          <a:xfrm>
            <a:off x="548640" y="237744"/>
            <a:ext cx="1228954" cy="310896"/>
          </a:xfrm>
          <a:prstGeom prst="roundRect">
            <a:avLst>
              <a:gd name="adj" fmla="val 14706"/>
            </a:avLst>
          </a:prstGeom>
          <a:solidFill>
            <a:schemeClr val="accent1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spc="100" kern="0" dirty="0">
                <a:solidFill>
                  <a:srgbClr val="FFFFFF"/>
                </a:solidFill>
              </a:rPr>
              <a:t>JIJ NU !</a:t>
            </a:r>
            <a:endParaRPr lang="en-US" sz="1200" dirty="0"/>
          </a:p>
        </p:txBody>
      </p:sp>
      <p:sp>
        <p:nvSpPr>
          <p:cNvPr id="5" name="Text 2"/>
          <p:cNvSpPr txBox="1"/>
          <p:nvPr/>
        </p:nvSpPr>
        <p:spPr>
          <a:xfrm>
            <a:off x="548640" y="1417320"/>
            <a:ext cx="731520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5400" b="1" dirty="0">
                <a:solidFill>
                  <a:schemeClr val="accent1"/>
                </a:solidFill>
                <a:latin typeface="+mj-lt" pitchFamily="34" charset="0"/>
                <a:ea typeface="+mj-lt" pitchFamily="34" charset="-122"/>
                <a:cs typeface="+mj-lt" pitchFamily="34" charset="-120"/>
              </a:rPr>
              <a:t>JIJ NU !</a:t>
            </a:r>
            <a:endParaRPr lang="en-US" sz="5400" dirty="0"/>
          </a:p>
        </p:txBody>
      </p:sp>
      <p:sp>
        <p:nvSpPr>
          <p:cNvPr id="6" name="Shape 3"/>
          <p:cNvSpPr/>
          <p:nvPr/>
        </p:nvSpPr>
        <p:spPr>
          <a:xfrm>
            <a:off x="548640" y="2606040"/>
            <a:ext cx="2183130" cy="1600200"/>
          </a:xfrm>
          <a:prstGeom prst="roundRect">
            <a:avLst>
              <a:gd name="adj" fmla="val 4571"/>
            </a:avLst>
          </a:prstGeom>
          <a:solidFill>
            <a:srgbClr val="FFFFFF">
              <a:alpha val="12000"/>
            </a:srgbClr>
          </a:solidFill>
          <a:ln w="12700">
            <a:solidFill>
              <a:srgbClr val="FFFFFF">
                <a:alpha val="50000"/>
              </a:srgbClr>
            </a:solidFill>
            <a:prstDash val="solid"/>
          </a:ln>
        </p:spPr>
      </p:sp>
      <p:sp>
        <p:nvSpPr>
          <p:cNvPr id="7" name="Shape 4"/>
          <p:cNvSpPr/>
          <p:nvPr/>
        </p:nvSpPr>
        <p:spPr>
          <a:xfrm>
            <a:off x="685800" y="2743200"/>
            <a:ext cx="438912" cy="438912"/>
          </a:xfrm>
          <a:prstGeom prst="ellipse">
            <a:avLst/>
          </a:prstGeom>
          <a:solidFill>
            <a:schemeClr val="accent1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8" name="Text 5"/>
          <p:cNvSpPr txBox="1"/>
          <p:nvPr/>
        </p:nvSpPr>
        <p:spPr>
          <a:xfrm>
            <a:off x="685800" y="2743200"/>
            <a:ext cx="438912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chemeClr val="bg1"/>
                </a:solidFill>
              </a:rPr>
              <a:t>1</a:t>
            </a:r>
            <a:endParaRPr lang="en-US" sz="1600" dirty="0"/>
          </a:p>
        </p:txBody>
      </p:sp>
      <p:pic>
        <p:nvPicPr>
          <p:cNvPr id="9" name="Image 0" descr="CalendarAlt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2183130" y="2770632"/>
            <a:ext cx="384048" cy="384048"/>
          </a:xfrm>
          <a:prstGeom prst="rect">
            <a:avLst/>
          </a:prstGeom>
        </p:spPr>
      </p:pic>
      <p:sp>
        <p:nvSpPr>
          <p:cNvPr id="10" name="Text 6"/>
          <p:cNvSpPr txBox="1"/>
          <p:nvPr/>
        </p:nvSpPr>
        <p:spPr>
          <a:xfrm>
            <a:off x="685800" y="3264408"/>
            <a:ext cx="1908810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00" b="1" dirty="0">
                <a:solidFill>
                  <a:schemeClr val="bg1"/>
                </a:solidFill>
              </a:rPr>
              <a:t>L’agenda de Karim</a:t>
            </a:r>
            <a:endParaRPr lang="en-US" sz="1600" dirty="0"/>
          </a:p>
        </p:txBody>
      </p:sp>
      <p:sp>
        <p:nvSpPr>
          <p:cNvPr id="11" name="Text 7"/>
          <p:cNvSpPr txBox="1"/>
          <p:nvPr/>
        </p:nvSpPr>
        <p:spPr>
          <a:xfrm>
            <a:off x="685800" y="3840480"/>
            <a:ext cx="190881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400" b="1" dirty="0">
                <a:solidFill>
                  <a:schemeClr val="accent1"/>
                </a:solidFill>
              </a:rPr>
              <a:t>★</a:t>
            </a:r>
            <a:endParaRPr lang="en-US" sz="1400" dirty="0"/>
          </a:p>
        </p:txBody>
      </p:sp>
      <p:sp>
        <p:nvSpPr>
          <p:cNvPr id="12" name="Shape 8"/>
          <p:cNvSpPr/>
          <p:nvPr/>
        </p:nvSpPr>
        <p:spPr>
          <a:xfrm>
            <a:off x="2960370" y="2606040"/>
            <a:ext cx="2183130" cy="1600200"/>
          </a:xfrm>
          <a:prstGeom prst="roundRect">
            <a:avLst>
              <a:gd name="adj" fmla="val 4571"/>
            </a:avLst>
          </a:prstGeom>
          <a:solidFill>
            <a:srgbClr val="FFFFFF">
              <a:alpha val="12000"/>
            </a:srgbClr>
          </a:solidFill>
          <a:ln w="12700">
            <a:solidFill>
              <a:srgbClr val="FFFFFF">
                <a:alpha val="50000"/>
              </a:srgbClr>
            </a:solidFill>
            <a:prstDash val="solid"/>
          </a:ln>
        </p:spPr>
      </p:sp>
      <p:sp>
        <p:nvSpPr>
          <p:cNvPr id="13" name="Shape 9"/>
          <p:cNvSpPr/>
          <p:nvPr/>
        </p:nvSpPr>
        <p:spPr>
          <a:xfrm>
            <a:off x="3097530" y="2743200"/>
            <a:ext cx="438912" cy="438912"/>
          </a:xfrm>
          <a:prstGeom prst="ellipse">
            <a:avLst/>
          </a:prstGeom>
          <a:solidFill>
            <a:schemeClr val="accent1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14" name="Text 10"/>
          <p:cNvSpPr txBox="1"/>
          <p:nvPr/>
        </p:nvSpPr>
        <p:spPr>
          <a:xfrm>
            <a:off x="3097530" y="2743200"/>
            <a:ext cx="438912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chemeClr val="bg1"/>
                </a:solidFill>
              </a:rPr>
              <a:t>2</a:t>
            </a:r>
            <a:endParaRPr lang="en-US" sz="1600" dirty="0"/>
          </a:p>
        </p:txBody>
      </p:sp>
      <p:pic>
        <p:nvPicPr>
          <p:cNvPr id="15" name="Image 1" descr="Eye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94860" y="2770632"/>
            <a:ext cx="384048" cy="384048"/>
          </a:xfrm>
          <a:prstGeom prst="rect">
            <a:avLst/>
          </a:prstGeom>
        </p:spPr>
      </p:pic>
      <p:sp>
        <p:nvSpPr>
          <p:cNvPr id="16" name="Text 11"/>
          <p:cNvSpPr txBox="1"/>
          <p:nvPr/>
        </p:nvSpPr>
        <p:spPr>
          <a:xfrm>
            <a:off x="3097530" y="3264408"/>
            <a:ext cx="1908810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00" b="1" dirty="0">
                <a:solidFill>
                  <a:schemeClr val="bg1"/>
                </a:solidFill>
              </a:rPr>
              <a:t>Qu’est-ce qui va se passer ?</a:t>
            </a:r>
            <a:endParaRPr lang="en-US" sz="1600" dirty="0"/>
          </a:p>
        </p:txBody>
      </p:sp>
      <p:sp>
        <p:nvSpPr>
          <p:cNvPr id="17" name="Text 12"/>
          <p:cNvSpPr txBox="1"/>
          <p:nvPr/>
        </p:nvSpPr>
        <p:spPr>
          <a:xfrm>
            <a:off x="3097530" y="3840480"/>
            <a:ext cx="190881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400" b="1" dirty="0">
                <a:solidFill>
                  <a:schemeClr val="accent1"/>
                </a:solidFill>
              </a:rPr>
              <a:t>★</a:t>
            </a:r>
            <a:endParaRPr lang="en-US" sz="1400" dirty="0"/>
          </a:p>
        </p:txBody>
      </p:sp>
      <p:sp>
        <p:nvSpPr>
          <p:cNvPr id="18" name="Shape 13"/>
          <p:cNvSpPr/>
          <p:nvPr/>
        </p:nvSpPr>
        <p:spPr>
          <a:xfrm>
            <a:off x="5372100" y="2606040"/>
            <a:ext cx="2183130" cy="1600200"/>
          </a:xfrm>
          <a:prstGeom prst="roundRect">
            <a:avLst>
              <a:gd name="adj" fmla="val 4571"/>
            </a:avLst>
          </a:prstGeom>
          <a:solidFill>
            <a:srgbClr val="FFFFFF">
              <a:alpha val="12000"/>
            </a:srgbClr>
          </a:solidFill>
          <a:ln w="12700">
            <a:solidFill>
              <a:srgbClr val="FFFFFF">
                <a:alpha val="50000"/>
              </a:srgbClr>
            </a:solidFill>
            <a:prstDash val="solid"/>
          </a:ln>
        </p:spPr>
      </p:sp>
      <p:sp>
        <p:nvSpPr>
          <p:cNvPr id="19" name="Shape 14"/>
          <p:cNvSpPr/>
          <p:nvPr/>
        </p:nvSpPr>
        <p:spPr>
          <a:xfrm>
            <a:off x="5509260" y="2743200"/>
            <a:ext cx="438912" cy="438912"/>
          </a:xfrm>
          <a:prstGeom prst="ellipse">
            <a:avLst/>
          </a:prstGeom>
          <a:solidFill>
            <a:schemeClr val="accent1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20" name="Text 15"/>
          <p:cNvSpPr txBox="1"/>
          <p:nvPr/>
        </p:nvSpPr>
        <p:spPr>
          <a:xfrm>
            <a:off x="5509260" y="2743200"/>
            <a:ext cx="438912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chemeClr val="bg1"/>
                </a:solidFill>
              </a:rPr>
              <a:t>3</a:t>
            </a:r>
            <a:endParaRPr lang="en-US" sz="1600" dirty="0"/>
          </a:p>
        </p:txBody>
      </p:sp>
      <p:pic>
        <p:nvPicPr>
          <p:cNvPr id="21" name="Image 2" descr="Handshake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006590" y="2770632"/>
            <a:ext cx="384048" cy="384048"/>
          </a:xfrm>
          <a:prstGeom prst="rect">
            <a:avLst/>
          </a:prstGeom>
        </p:spPr>
      </p:pic>
      <p:sp>
        <p:nvSpPr>
          <p:cNvPr id="22" name="Text 16"/>
          <p:cNvSpPr txBox="1"/>
          <p:nvPr/>
        </p:nvSpPr>
        <p:spPr>
          <a:xfrm>
            <a:off x="5509260" y="3264408"/>
            <a:ext cx="1908810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00" b="1" dirty="0">
                <a:solidFill>
                  <a:schemeClr val="bg1"/>
                </a:solidFill>
              </a:rPr>
              <a:t>Je vous le promets !</a:t>
            </a:r>
            <a:endParaRPr lang="en-US" sz="1600" dirty="0"/>
          </a:p>
        </p:txBody>
      </p:sp>
      <p:sp>
        <p:nvSpPr>
          <p:cNvPr id="23" name="Text 17"/>
          <p:cNvSpPr txBox="1"/>
          <p:nvPr/>
        </p:nvSpPr>
        <p:spPr>
          <a:xfrm>
            <a:off x="5509260" y="3840480"/>
            <a:ext cx="190881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400" b="1" dirty="0">
                <a:solidFill>
                  <a:schemeClr val="accent1"/>
                </a:solidFill>
              </a:rPr>
              <a:t>★★</a:t>
            </a:r>
            <a:endParaRPr lang="en-US" sz="1400" dirty="0"/>
          </a:p>
        </p:txBody>
      </p:sp>
      <p:sp>
        <p:nvSpPr>
          <p:cNvPr id="24" name="Shape 18"/>
          <p:cNvSpPr/>
          <p:nvPr/>
        </p:nvSpPr>
        <p:spPr>
          <a:xfrm>
            <a:off x="7783830" y="2606040"/>
            <a:ext cx="2183130" cy="1600200"/>
          </a:xfrm>
          <a:prstGeom prst="roundRect">
            <a:avLst>
              <a:gd name="adj" fmla="val 4571"/>
            </a:avLst>
          </a:prstGeom>
          <a:solidFill>
            <a:srgbClr val="FFFFFF">
              <a:alpha val="12000"/>
            </a:srgbClr>
          </a:solidFill>
          <a:ln w="12700">
            <a:solidFill>
              <a:srgbClr val="FFFFFF">
                <a:alpha val="50000"/>
              </a:srgbClr>
            </a:solidFill>
            <a:prstDash val="solid"/>
          </a:ln>
        </p:spPr>
      </p:sp>
      <p:sp>
        <p:nvSpPr>
          <p:cNvPr id="25" name="Shape 19"/>
          <p:cNvSpPr/>
          <p:nvPr/>
        </p:nvSpPr>
        <p:spPr>
          <a:xfrm>
            <a:off x="7920990" y="2743200"/>
            <a:ext cx="438912" cy="438912"/>
          </a:xfrm>
          <a:prstGeom prst="ellipse">
            <a:avLst/>
          </a:prstGeom>
          <a:solidFill>
            <a:schemeClr val="accent1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26" name="Text 20"/>
          <p:cNvSpPr txBox="1"/>
          <p:nvPr/>
        </p:nvSpPr>
        <p:spPr>
          <a:xfrm>
            <a:off x="7920990" y="2743200"/>
            <a:ext cx="438912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chemeClr val="bg1"/>
                </a:solidFill>
              </a:rPr>
              <a:t>4</a:t>
            </a:r>
            <a:endParaRPr lang="en-US" sz="1600" dirty="0"/>
          </a:p>
        </p:txBody>
      </p:sp>
      <p:pic>
        <p:nvPicPr>
          <p:cNvPr id="27" name="Image 3" descr="Random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9418320" y="2770632"/>
            <a:ext cx="384048" cy="384048"/>
          </a:xfrm>
          <a:prstGeom prst="rect">
            <a:avLst/>
          </a:prstGeom>
        </p:spPr>
      </p:pic>
      <p:sp>
        <p:nvSpPr>
          <p:cNvPr id="28" name="Text 21"/>
          <p:cNvSpPr txBox="1"/>
          <p:nvPr/>
        </p:nvSpPr>
        <p:spPr>
          <a:xfrm>
            <a:off x="7920990" y="3264408"/>
            <a:ext cx="1908810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00" b="1" dirty="0">
                <a:solidFill>
                  <a:schemeClr val="bg1"/>
                </a:solidFill>
              </a:rPr>
              <a:t>Quel futur ?</a:t>
            </a:r>
            <a:endParaRPr lang="en-US" sz="1600" dirty="0"/>
          </a:p>
        </p:txBody>
      </p:sp>
      <p:sp>
        <p:nvSpPr>
          <p:cNvPr id="29" name="Text 22"/>
          <p:cNvSpPr txBox="1"/>
          <p:nvPr/>
        </p:nvSpPr>
        <p:spPr>
          <a:xfrm>
            <a:off x="7920990" y="3840480"/>
            <a:ext cx="190881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400" b="1" dirty="0">
                <a:solidFill>
                  <a:schemeClr val="accent1"/>
                </a:solidFill>
              </a:rPr>
              <a:t>★★</a:t>
            </a:r>
            <a:endParaRPr lang="en-US" sz="1400" dirty="0"/>
          </a:p>
        </p:txBody>
      </p:sp>
      <p:sp>
        <p:nvSpPr>
          <p:cNvPr id="30" name="Shape 23"/>
          <p:cNvSpPr/>
          <p:nvPr/>
        </p:nvSpPr>
        <p:spPr>
          <a:xfrm>
            <a:off x="548640" y="4434840"/>
            <a:ext cx="2183130" cy="1600200"/>
          </a:xfrm>
          <a:prstGeom prst="roundRect">
            <a:avLst>
              <a:gd name="adj" fmla="val 4571"/>
            </a:avLst>
          </a:prstGeom>
          <a:solidFill>
            <a:srgbClr val="FFFFFF">
              <a:alpha val="12000"/>
            </a:srgbClr>
          </a:solidFill>
          <a:ln w="12700">
            <a:solidFill>
              <a:srgbClr val="FFFFFF">
                <a:alpha val="50000"/>
              </a:srgbClr>
            </a:solidFill>
            <a:prstDash val="solid"/>
          </a:ln>
        </p:spPr>
      </p:sp>
      <p:sp>
        <p:nvSpPr>
          <p:cNvPr id="31" name="Shape 24"/>
          <p:cNvSpPr/>
          <p:nvPr/>
        </p:nvSpPr>
        <p:spPr>
          <a:xfrm>
            <a:off x="685800" y="4572000"/>
            <a:ext cx="438912" cy="438912"/>
          </a:xfrm>
          <a:prstGeom prst="ellipse">
            <a:avLst/>
          </a:prstGeom>
          <a:solidFill>
            <a:schemeClr val="accent1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32" name="Text 25"/>
          <p:cNvSpPr txBox="1"/>
          <p:nvPr/>
        </p:nvSpPr>
        <p:spPr>
          <a:xfrm>
            <a:off x="685800" y="4572000"/>
            <a:ext cx="438912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chemeClr val="bg1"/>
                </a:solidFill>
              </a:rPr>
              <a:t>5</a:t>
            </a:r>
            <a:endParaRPr lang="en-US" sz="1600" dirty="0"/>
          </a:p>
        </p:txBody>
      </p:sp>
      <p:pic>
        <p:nvPicPr>
          <p:cNvPr id="33" name="Image 4" descr="Search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2183130" y="4599432"/>
            <a:ext cx="384048" cy="384048"/>
          </a:xfrm>
          <a:prstGeom prst="rect">
            <a:avLst/>
          </a:prstGeom>
        </p:spPr>
      </p:pic>
      <p:sp>
        <p:nvSpPr>
          <p:cNvPr id="34" name="Text 26"/>
          <p:cNvSpPr txBox="1"/>
          <p:nvPr/>
        </p:nvSpPr>
        <p:spPr>
          <a:xfrm>
            <a:off x="685800" y="5093208"/>
            <a:ext cx="1908810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00" b="1" dirty="0">
                <a:solidFill>
                  <a:schemeClr val="bg1"/>
                </a:solidFill>
              </a:rPr>
              <a:t>Le détective</a:t>
            </a:r>
            <a:endParaRPr lang="en-US" sz="1600" dirty="0"/>
          </a:p>
        </p:txBody>
      </p:sp>
      <p:sp>
        <p:nvSpPr>
          <p:cNvPr id="35" name="Text 27"/>
          <p:cNvSpPr txBox="1"/>
          <p:nvPr/>
        </p:nvSpPr>
        <p:spPr>
          <a:xfrm>
            <a:off x="685800" y="5669280"/>
            <a:ext cx="190881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400" b="1" dirty="0">
                <a:solidFill>
                  <a:schemeClr val="accent1"/>
                </a:solidFill>
              </a:rPr>
              <a:t>★★</a:t>
            </a:r>
            <a:endParaRPr lang="en-US" sz="1400" dirty="0"/>
          </a:p>
        </p:txBody>
      </p:sp>
      <p:sp>
        <p:nvSpPr>
          <p:cNvPr id="36" name="Shape 28"/>
          <p:cNvSpPr/>
          <p:nvPr/>
        </p:nvSpPr>
        <p:spPr>
          <a:xfrm>
            <a:off x="2960370" y="4434840"/>
            <a:ext cx="2183130" cy="1600200"/>
          </a:xfrm>
          <a:prstGeom prst="roundRect">
            <a:avLst>
              <a:gd name="adj" fmla="val 4571"/>
            </a:avLst>
          </a:prstGeom>
          <a:solidFill>
            <a:srgbClr val="FFFFFF">
              <a:alpha val="12000"/>
            </a:srgbClr>
          </a:solidFill>
          <a:ln w="12700">
            <a:solidFill>
              <a:srgbClr val="FFFFFF">
                <a:alpha val="50000"/>
              </a:srgbClr>
            </a:solidFill>
            <a:prstDash val="solid"/>
          </a:ln>
        </p:spPr>
      </p:sp>
      <p:sp>
        <p:nvSpPr>
          <p:cNvPr id="37" name="Shape 29"/>
          <p:cNvSpPr/>
          <p:nvPr/>
        </p:nvSpPr>
        <p:spPr>
          <a:xfrm>
            <a:off x="3097530" y="4572000"/>
            <a:ext cx="438912" cy="438912"/>
          </a:xfrm>
          <a:prstGeom prst="ellipse">
            <a:avLst/>
          </a:prstGeom>
          <a:solidFill>
            <a:schemeClr val="accent1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38" name="Text 30"/>
          <p:cNvSpPr txBox="1"/>
          <p:nvPr/>
        </p:nvSpPr>
        <p:spPr>
          <a:xfrm>
            <a:off x="3097530" y="4572000"/>
            <a:ext cx="438912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chemeClr val="bg1"/>
                </a:solidFill>
              </a:rPr>
              <a:t>6</a:t>
            </a:r>
            <a:endParaRPr lang="en-US" sz="1600" dirty="0"/>
          </a:p>
        </p:txBody>
      </p:sp>
      <p:pic>
        <p:nvPicPr>
          <p:cNvPr id="39" name="Image 5" descr="Magic">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4594860" y="4599432"/>
            <a:ext cx="384048" cy="384048"/>
          </a:xfrm>
          <a:prstGeom prst="rect">
            <a:avLst/>
          </a:prstGeom>
        </p:spPr>
      </p:pic>
      <p:sp>
        <p:nvSpPr>
          <p:cNvPr id="40" name="Text 31"/>
          <p:cNvSpPr txBox="1"/>
          <p:nvPr/>
        </p:nvSpPr>
        <p:spPr>
          <a:xfrm>
            <a:off x="3097530" y="5093208"/>
            <a:ext cx="1908810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00" b="1" dirty="0">
                <a:solidFill>
                  <a:schemeClr val="bg1"/>
                </a:solidFill>
              </a:rPr>
              <a:t>La boule de cristal</a:t>
            </a:r>
            <a:endParaRPr lang="en-US" sz="1600" dirty="0"/>
          </a:p>
        </p:txBody>
      </p:sp>
      <p:sp>
        <p:nvSpPr>
          <p:cNvPr id="41" name="Text 32"/>
          <p:cNvSpPr txBox="1"/>
          <p:nvPr/>
        </p:nvSpPr>
        <p:spPr>
          <a:xfrm>
            <a:off x="3097530" y="5669280"/>
            <a:ext cx="190881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400" b="1" dirty="0">
                <a:solidFill>
                  <a:schemeClr val="accent1"/>
                </a:solidFill>
              </a:rPr>
              <a:t>★</a:t>
            </a:r>
            <a:endParaRPr lang="en-US" sz="1400" dirty="0"/>
          </a:p>
        </p:txBody>
      </p:sp>
      <p:sp>
        <p:nvSpPr>
          <p:cNvPr id="42" name="Shape 33"/>
          <p:cNvSpPr/>
          <p:nvPr/>
        </p:nvSpPr>
        <p:spPr>
          <a:xfrm>
            <a:off x="5372100" y="4434840"/>
            <a:ext cx="2183130" cy="1600200"/>
          </a:xfrm>
          <a:prstGeom prst="roundRect">
            <a:avLst>
              <a:gd name="adj" fmla="val 4571"/>
            </a:avLst>
          </a:prstGeom>
          <a:solidFill>
            <a:srgbClr val="FFFFFF">
              <a:alpha val="12000"/>
            </a:srgbClr>
          </a:solidFill>
          <a:ln w="12700">
            <a:solidFill>
              <a:srgbClr val="FFFFFF">
                <a:alpha val="50000"/>
              </a:srgbClr>
            </a:solidFill>
            <a:prstDash val="solid"/>
          </a:ln>
        </p:spPr>
      </p:sp>
      <p:sp>
        <p:nvSpPr>
          <p:cNvPr id="43" name="Shape 34"/>
          <p:cNvSpPr/>
          <p:nvPr/>
        </p:nvSpPr>
        <p:spPr>
          <a:xfrm>
            <a:off x="5509260" y="4572000"/>
            <a:ext cx="438912" cy="438912"/>
          </a:xfrm>
          <a:prstGeom prst="ellipse">
            <a:avLst/>
          </a:prstGeom>
          <a:solidFill>
            <a:schemeClr val="accent1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44" name="Text 35"/>
          <p:cNvSpPr txBox="1"/>
          <p:nvPr/>
        </p:nvSpPr>
        <p:spPr>
          <a:xfrm>
            <a:off x="5509260" y="4572000"/>
            <a:ext cx="438912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chemeClr val="bg1"/>
                </a:solidFill>
              </a:rPr>
              <a:t>7</a:t>
            </a:r>
            <a:endParaRPr lang="en-US" sz="1600" dirty="0"/>
          </a:p>
        </p:txBody>
      </p:sp>
      <p:pic>
        <p:nvPicPr>
          <p:cNvPr id="45" name="Image 6" descr="Users">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7006590" y="4599432"/>
            <a:ext cx="384048" cy="384048"/>
          </a:xfrm>
          <a:prstGeom prst="rect">
            <a:avLst/>
          </a:prstGeom>
        </p:spPr>
      </p:pic>
      <p:sp>
        <p:nvSpPr>
          <p:cNvPr id="46" name="Text 36"/>
          <p:cNvSpPr txBox="1"/>
          <p:nvPr/>
        </p:nvSpPr>
        <p:spPr>
          <a:xfrm>
            <a:off x="5509260" y="5093208"/>
            <a:ext cx="1908810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00" b="1" dirty="0">
                <a:solidFill>
                  <a:schemeClr val="bg1"/>
                </a:solidFill>
              </a:rPr>
              <a:t>La journée d’équipe</a:t>
            </a:r>
            <a:endParaRPr lang="en-US" sz="1600" dirty="0"/>
          </a:p>
        </p:txBody>
      </p:sp>
      <p:sp>
        <p:nvSpPr>
          <p:cNvPr id="47" name="Text 37"/>
          <p:cNvSpPr txBox="1"/>
          <p:nvPr/>
        </p:nvSpPr>
        <p:spPr>
          <a:xfrm>
            <a:off x="5509260" y="5669280"/>
            <a:ext cx="190881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400" b="1" dirty="0">
                <a:solidFill>
                  <a:schemeClr val="accent1"/>
                </a:solidFill>
              </a:rPr>
              <a:t>★★★</a:t>
            </a:r>
            <a:endParaRPr lang="en-US" sz="1400" dirty="0"/>
          </a:p>
        </p:txBody>
      </p:sp>
      <p:pic>
        <p:nvPicPr>
          <p:cNvPr id="48" name="Image 7" descr="man teacher">    </p:cNvPr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10058400" y="3657600"/>
            <a:ext cx="1645920" cy="1645920"/>
          </a:xfrm>
          <a:prstGeom prst="rect">
            <a:avLst/>
          </a:prstGeom>
        </p:spPr>
      </p:pic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1672" y="644652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EEF3F8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14</a:t>
            </a:fld>
            <a:endParaRPr lang="en-US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548640" y="621792"/>
            <a:ext cx="11091672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chemeClr val="tx2"/>
                </a:solidFill>
              </a:rPr>
              <a:t>Exercice 1 — L’agenda de Karim</a:t>
            </a:r>
            <a:endParaRPr lang="en-US" sz="3000" dirty="0"/>
          </a:p>
        </p:txBody>
      </p:sp>
      <p:sp>
        <p:nvSpPr>
          <p:cNvPr id="3" name="tag"/>
          <p:cNvSpPr/>
          <p:nvPr/>
        </p:nvSpPr>
        <p:spPr>
          <a:xfrm>
            <a:off x="548640" y="237744"/>
            <a:ext cx="1228954" cy="310896"/>
          </a:xfrm>
          <a:prstGeom prst="roundRect">
            <a:avLst>
              <a:gd name="adj" fmla="val 14706"/>
            </a:avLst>
          </a:prstGeom>
          <a:solidFill>
            <a:schemeClr val="accent1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spc="100" kern="0" dirty="0">
                <a:solidFill>
                  <a:srgbClr val="FFFFFF"/>
                </a:solidFill>
              </a:rPr>
              <a:t>JIJ NU !</a:t>
            </a:r>
            <a:endParaRPr lang="en-US" sz="1200" dirty="0"/>
          </a:p>
        </p:txBody>
      </p:sp>
      <p:sp>
        <p:nvSpPr>
          <p:cNvPr id="4" name="Text 2"/>
          <p:cNvSpPr txBox="1"/>
          <p:nvPr/>
        </p:nvSpPr>
        <p:spPr>
          <a:xfrm>
            <a:off x="10177272" y="219456"/>
            <a:ext cx="146304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600" b="1" dirty="0">
                <a:solidFill>
                  <a:schemeClr val="accent1"/>
                </a:solidFill>
              </a:rPr>
              <a:t>★</a:t>
            </a:r>
            <a:endParaRPr lang="en-US" sz="1600" dirty="0"/>
          </a:p>
        </p:txBody>
      </p:sp>
      <p:pic>
        <p:nvPicPr>
          <p:cNvPr id="6" name="Image 0" descr="HandPointRight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48640" y="1517904"/>
            <a:ext cx="274320" cy="274320"/>
          </a:xfrm>
          <a:prstGeom prst="rect">
            <a:avLst/>
          </a:prstGeom>
        </p:spPr>
      </p:pic>
      <p:sp>
        <p:nvSpPr>
          <p:cNvPr id="7" name="Text 3"/>
          <p:cNvSpPr txBox="1"/>
          <p:nvPr/>
        </p:nvSpPr>
        <p:spPr>
          <a:xfrm>
            <a:off x="960120" y="1481328"/>
            <a:ext cx="10680192" cy="3139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700" i="1" dirty="0">
                <a:solidFill>
                  <a:schemeClr val="accent5"/>
                </a:solidFill>
              </a:rPr>
              <a:t>Répondez avec le présent. Mettez le jour en tête : attention à l’inversion !</a:t>
            </a:r>
            <a:endParaRPr lang="en-US" sz="1700" dirty="0"/>
          </a:p>
        </p:txBody>
      </p:sp>
      <p:sp>
        <p:nvSpPr>
          <p:cNvPr id="8" name="Shape 4"/>
          <p:cNvSpPr/>
          <p:nvPr/>
        </p:nvSpPr>
        <p:spPr>
          <a:xfrm>
            <a:off x="548640" y="1932432"/>
            <a:ext cx="4343400" cy="4358640"/>
          </a:xfrm>
          <a:prstGeom prst="roundRect">
            <a:avLst>
              <a:gd name="adj" fmla="val 842"/>
            </a:avLst>
          </a:prstGeom>
          <a:solidFill>
            <a:srgbClr val="FFFFFF"/>
          </a:solidFill>
          <a:ln w="15875">
            <a:solidFill>
              <a:srgbClr val="4A5A70"/>
            </a:solidFill>
            <a:prstDash val="solid"/>
          </a:ln>
          <a:effectLst>
            <a:outerShdw sx="100000" sy="100000" kx="0" ky="0" algn="bl" rotWithShape="0" blurRad="101600" dist="25400" dir="3600000">
              <a:srgbClr val="000000">
                <a:alpha val="16000"/>
              </a:srgbClr>
            </a:outerShdw>
          </a:effectLst>
        </p:spPr>
      </p:sp>
      <p:sp>
        <p:nvSpPr>
          <p:cNvPr id="9" name="Shape 5"/>
          <p:cNvSpPr/>
          <p:nvPr/>
        </p:nvSpPr>
        <p:spPr>
          <a:xfrm>
            <a:off x="548640" y="1932432"/>
            <a:ext cx="4343400" cy="502920"/>
          </a:xfrm>
          <a:prstGeom prst="roundRect">
            <a:avLst>
              <a:gd name="adj" fmla="val 7273"/>
            </a:avLst>
          </a:prstGeom>
          <a:solidFill>
            <a:schemeClr val="tx2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pic>
        <p:nvPicPr>
          <p:cNvPr id="10" name="Image 1" descr="spiral calendar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85800" y="1987296"/>
            <a:ext cx="402336" cy="402336"/>
          </a:xfrm>
          <a:prstGeom prst="rect">
            <a:avLst/>
          </a:prstGeom>
        </p:spPr>
      </p:pic>
      <p:sp>
        <p:nvSpPr>
          <p:cNvPr id="11" name="Text 6"/>
          <p:cNvSpPr txBox="1"/>
          <p:nvPr/>
        </p:nvSpPr>
        <p:spPr>
          <a:xfrm>
            <a:off x="1188720" y="1932432"/>
            <a:ext cx="35204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00" b="1" spc="100" kern="0" dirty="0">
                <a:solidFill>
                  <a:schemeClr val="bg1"/>
                </a:solidFill>
              </a:rPr>
              <a:t>KARIM · VOLGENDE WEEK</a:t>
            </a:r>
            <a:endParaRPr lang="en-US" sz="1400" dirty="0"/>
          </a:p>
        </p:txBody>
      </p:sp>
      <p:sp>
        <p:nvSpPr>
          <p:cNvPr id="12" name="Shape 7"/>
          <p:cNvSpPr/>
          <p:nvPr/>
        </p:nvSpPr>
        <p:spPr>
          <a:xfrm>
            <a:off x="685800" y="2621026"/>
            <a:ext cx="1188720" cy="347472"/>
          </a:xfrm>
          <a:prstGeom prst="roundRect">
            <a:avLst>
              <a:gd name="adj" fmla="val 15789"/>
            </a:avLst>
          </a:prstGeom>
          <a:solidFill>
            <a:schemeClr val="accent1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13" name="Text 8"/>
          <p:cNvSpPr txBox="1"/>
          <p:nvPr/>
        </p:nvSpPr>
        <p:spPr>
          <a:xfrm>
            <a:off x="685800" y="2621026"/>
            <a:ext cx="118872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chemeClr val="bg1"/>
                </a:solidFill>
              </a:rPr>
              <a:t>maandag</a:t>
            </a:r>
            <a:endParaRPr lang="en-US" sz="1200" dirty="0"/>
          </a:p>
        </p:txBody>
      </p:sp>
      <p:sp>
        <p:nvSpPr>
          <p:cNvPr id="14" name="Text 9"/>
          <p:cNvSpPr txBox="1"/>
          <p:nvPr/>
        </p:nvSpPr>
        <p:spPr>
          <a:xfrm>
            <a:off x="2011680" y="2481072"/>
            <a:ext cx="2194560" cy="6273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00" i="1" dirty="0">
                <a:solidFill>
                  <a:schemeClr val="tx1"/>
                </a:solidFill>
              </a:rPr>
              <a:t>8.30 tandarts</a:t>
            </a:r>
            <a:endParaRPr lang="en-US" sz="1400" dirty="0"/>
          </a:p>
        </p:txBody>
      </p:sp>
      <p:pic>
        <p:nvPicPr>
          <p:cNvPr id="15" name="Image 2" descr="tooth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270248" y="2566162"/>
            <a:ext cx="457200" cy="457200"/>
          </a:xfrm>
          <a:prstGeom prst="rect">
            <a:avLst/>
          </a:prstGeom>
        </p:spPr>
      </p:pic>
      <p:sp>
        <p:nvSpPr>
          <p:cNvPr id="16" name="Shape 10"/>
          <p:cNvSpPr/>
          <p:nvPr/>
        </p:nvSpPr>
        <p:spPr>
          <a:xfrm>
            <a:off x="685800" y="3108452"/>
            <a:ext cx="4069080" cy="914"/>
          </a:xfrm>
          <a:prstGeom prst="line">
            <a:avLst/>
          </a:prstGeom>
          <a:noFill/>
          <a:ln w="12700">
            <a:solidFill>
              <a:srgbClr val="E2E6EC"/>
            </a:solidFill>
            <a:prstDash val="solid"/>
          </a:ln>
        </p:spPr>
      </p:sp>
      <p:sp>
        <p:nvSpPr>
          <p:cNvPr id="17" name="Shape 11"/>
          <p:cNvSpPr/>
          <p:nvPr/>
        </p:nvSpPr>
        <p:spPr>
          <a:xfrm>
            <a:off x="685800" y="3248406"/>
            <a:ext cx="1188720" cy="347472"/>
          </a:xfrm>
          <a:prstGeom prst="roundRect">
            <a:avLst>
              <a:gd name="adj" fmla="val 15789"/>
            </a:avLst>
          </a:prstGeom>
          <a:solidFill>
            <a:schemeClr val="accent1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18" name="Text 12"/>
          <p:cNvSpPr txBox="1"/>
          <p:nvPr/>
        </p:nvSpPr>
        <p:spPr>
          <a:xfrm>
            <a:off x="685800" y="3248406"/>
            <a:ext cx="118872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chemeClr val="bg1"/>
                </a:solidFill>
              </a:rPr>
              <a:t>dinsdag</a:t>
            </a:r>
            <a:endParaRPr lang="en-US" sz="1200" dirty="0"/>
          </a:p>
        </p:txBody>
      </p:sp>
      <p:sp>
        <p:nvSpPr>
          <p:cNvPr id="19" name="Text 13"/>
          <p:cNvSpPr txBox="1"/>
          <p:nvPr/>
        </p:nvSpPr>
        <p:spPr>
          <a:xfrm>
            <a:off x="2011680" y="3108452"/>
            <a:ext cx="2194560" cy="6273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00" i="1" dirty="0">
                <a:solidFill>
                  <a:schemeClr val="tx1"/>
                </a:solidFill>
              </a:rPr>
              <a:t>10.00 vergadering met meneer Maes</a:t>
            </a:r>
            <a:endParaRPr lang="en-US" sz="1400" dirty="0"/>
          </a:p>
        </p:txBody>
      </p:sp>
      <p:pic>
        <p:nvPicPr>
          <p:cNvPr id="20" name="Image 3" descr="busts in silhouette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270248" y="3193542"/>
            <a:ext cx="457200" cy="457200"/>
          </a:xfrm>
          <a:prstGeom prst="rect">
            <a:avLst/>
          </a:prstGeom>
        </p:spPr>
      </p:pic>
      <p:sp>
        <p:nvSpPr>
          <p:cNvPr id="21" name="Shape 14"/>
          <p:cNvSpPr/>
          <p:nvPr/>
        </p:nvSpPr>
        <p:spPr>
          <a:xfrm>
            <a:off x="685800" y="3735832"/>
            <a:ext cx="4069080" cy="914"/>
          </a:xfrm>
          <a:prstGeom prst="line">
            <a:avLst/>
          </a:prstGeom>
          <a:noFill/>
          <a:ln w="12700">
            <a:solidFill>
              <a:srgbClr val="E2E6EC"/>
            </a:solidFill>
            <a:prstDash val="solid"/>
          </a:ln>
        </p:spPr>
      </p:sp>
      <p:sp>
        <p:nvSpPr>
          <p:cNvPr id="22" name="Shape 15"/>
          <p:cNvSpPr/>
          <p:nvPr/>
        </p:nvSpPr>
        <p:spPr>
          <a:xfrm>
            <a:off x="685800" y="3875786"/>
            <a:ext cx="1188720" cy="347472"/>
          </a:xfrm>
          <a:prstGeom prst="roundRect">
            <a:avLst>
              <a:gd name="adj" fmla="val 15789"/>
            </a:avLst>
          </a:prstGeom>
          <a:solidFill>
            <a:schemeClr val="accent1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23" name="Text 16"/>
          <p:cNvSpPr txBox="1"/>
          <p:nvPr/>
        </p:nvSpPr>
        <p:spPr>
          <a:xfrm>
            <a:off x="685800" y="3875786"/>
            <a:ext cx="118872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chemeClr val="bg1"/>
                </a:solidFill>
              </a:rPr>
              <a:t>woensdag</a:t>
            </a:r>
            <a:endParaRPr lang="en-US" sz="1200" dirty="0"/>
          </a:p>
        </p:txBody>
      </p:sp>
      <p:sp>
        <p:nvSpPr>
          <p:cNvPr id="24" name="Text 17"/>
          <p:cNvSpPr txBox="1"/>
          <p:nvPr/>
        </p:nvSpPr>
        <p:spPr>
          <a:xfrm>
            <a:off x="2011680" y="3735832"/>
            <a:ext cx="2194560" cy="6273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00" i="1" dirty="0">
                <a:solidFill>
                  <a:schemeClr val="tx1"/>
                </a:solidFill>
              </a:rPr>
              <a:t>thuiswerken</a:t>
            </a:r>
            <a:endParaRPr lang="en-US" sz="1400" dirty="0"/>
          </a:p>
        </p:txBody>
      </p:sp>
      <p:pic>
        <p:nvPicPr>
          <p:cNvPr id="25" name="Image 4" descr="house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4270248" y="3820922"/>
            <a:ext cx="457200" cy="457200"/>
          </a:xfrm>
          <a:prstGeom prst="rect">
            <a:avLst/>
          </a:prstGeom>
        </p:spPr>
      </p:pic>
      <p:sp>
        <p:nvSpPr>
          <p:cNvPr id="26" name="Shape 18"/>
          <p:cNvSpPr/>
          <p:nvPr/>
        </p:nvSpPr>
        <p:spPr>
          <a:xfrm>
            <a:off x="685800" y="4363212"/>
            <a:ext cx="4069080" cy="914"/>
          </a:xfrm>
          <a:prstGeom prst="line">
            <a:avLst/>
          </a:prstGeom>
          <a:noFill/>
          <a:ln w="12700">
            <a:solidFill>
              <a:srgbClr val="E2E6EC"/>
            </a:solidFill>
            <a:prstDash val="solid"/>
          </a:ln>
        </p:spPr>
      </p:sp>
      <p:sp>
        <p:nvSpPr>
          <p:cNvPr id="27" name="Shape 19"/>
          <p:cNvSpPr/>
          <p:nvPr/>
        </p:nvSpPr>
        <p:spPr>
          <a:xfrm>
            <a:off x="685800" y="4503166"/>
            <a:ext cx="1188720" cy="347472"/>
          </a:xfrm>
          <a:prstGeom prst="roundRect">
            <a:avLst>
              <a:gd name="adj" fmla="val 15789"/>
            </a:avLst>
          </a:prstGeom>
          <a:solidFill>
            <a:schemeClr val="accent1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28" name="Text 20"/>
          <p:cNvSpPr txBox="1"/>
          <p:nvPr/>
        </p:nvSpPr>
        <p:spPr>
          <a:xfrm>
            <a:off x="685800" y="4503166"/>
            <a:ext cx="118872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chemeClr val="bg1"/>
                </a:solidFill>
              </a:rPr>
              <a:t>donderdag</a:t>
            </a:r>
            <a:endParaRPr lang="en-US" sz="1200" dirty="0"/>
          </a:p>
        </p:txBody>
      </p:sp>
      <p:sp>
        <p:nvSpPr>
          <p:cNvPr id="29" name="Text 21"/>
          <p:cNvSpPr txBox="1"/>
          <p:nvPr/>
        </p:nvSpPr>
        <p:spPr>
          <a:xfrm>
            <a:off x="2011680" y="4363212"/>
            <a:ext cx="2194560" cy="6273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00" i="1" dirty="0">
                <a:solidFill>
                  <a:schemeClr val="tx1"/>
                </a:solidFill>
              </a:rPr>
              <a:t>cursus Nederlands</a:t>
            </a:r>
            <a:endParaRPr lang="en-US" sz="1400" dirty="0"/>
          </a:p>
        </p:txBody>
      </p:sp>
      <p:pic>
        <p:nvPicPr>
          <p:cNvPr id="30" name="Image 5" descr="books">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4270248" y="4448302"/>
            <a:ext cx="457200" cy="457200"/>
          </a:xfrm>
          <a:prstGeom prst="rect">
            <a:avLst/>
          </a:prstGeom>
        </p:spPr>
      </p:pic>
      <p:sp>
        <p:nvSpPr>
          <p:cNvPr id="31" name="Shape 22"/>
          <p:cNvSpPr/>
          <p:nvPr/>
        </p:nvSpPr>
        <p:spPr>
          <a:xfrm>
            <a:off x="685800" y="4990592"/>
            <a:ext cx="4069080" cy="914"/>
          </a:xfrm>
          <a:prstGeom prst="line">
            <a:avLst/>
          </a:prstGeom>
          <a:noFill/>
          <a:ln w="12700">
            <a:solidFill>
              <a:srgbClr val="E2E6EC"/>
            </a:solidFill>
            <a:prstDash val="solid"/>
          </a:ln>
        </p:spPr>
      </p:sp>
      <p:sp>
        <p:nvSpPr>
          <p:cNvPr id="32" name="Shape 23"/>
          <p:cNvSpPr/>
          <p:nvPr/>
        </p:nvSpPr>
        <p:spPr>
          <a:xfrm>
            <a:off x="685800" y="5130546"/>
            <a:ext cx="1188720" cy="347472"/>
          </a:xfrm>
          <a:prstGeom prst="roundRect">
            <a:avLst>
              <a:gd name="adj" fmla="val 15789"/>
            </a:avLst>
          </a:prstGeom>
          <a:solidFill>
            <a:schemeClr val="accent1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33" name="Text 24"/>
          <p:cNvSpPr txBox="1"/>
          <p:nvPr/>
        </p:nvSpPr>
        <p:spPr>
          <a:xfrm>
            <a:off x="685800" y="5130546"/>
            <a:ext cx="118872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chemeClr val="bg1"/>
                </a:solidFill>
              </a:rPr>
              <a:t>vrijdag</a:t>
            </a:r>
            <a:endParaRPr lang="en-US" sz="1200" dirty="0"/>
          </a:p>
        </p:txBody>
      </p:sp>
      <p:sp>
        <p:nvSpPr>
          <p:cNvPr id="34" name="Text 25"/>
          <p:cNvSpPr txBox="1"/>
          <p:nvPr/>
        </p:nvSpPr>
        <p:spPr>
          <a:xfrm>
            <a:off x="2011680" y="4990592"/>
            <a:ext cx="2194560" cy="6273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00" i="1" dirty="0">
                <a:solidFill>
                  <a:schemeClr val="tx1"/>
                </a:solidFill>
              </a:rPr>
              <a:t>12.00 lunch met Sofie</a:t>
            </a:r>
            <a:endParaRPr lang="en-US" sz="1400" dirty="0"/>
          </a:p>
        </p:txBody>
      </p:sp>
      <p:pic>
        <p:nvPicPr>
          <p:cNvPr id="35" name="Image 6" descr="fork and knife with plate">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4270248" y="5075682"/>
            <a:ext cx="457200" cy="457200"/>
          </a:xfrm>
          <a:prstGeom prst="rect">
            <a:avLst/>
          </a:prstGeom>
        </p:spPr>
      </p:pic>
      <p:sp>
        <p:nvSpPr>
          <p:cNvPr id="36" name="Shape 26"/>
          <p:cNvSpPr/>
          <p:nvPr/>
        </p:nvSpPr>
        <p:spPr>
          <a:xfrm>
            <a:off x="685800" y="5617972"/>
            <a:ext cx="4069080" cy="914"/>
          </a:xfrm>
          <a:prstGeom prst="line">
            <a:avLst/>
          </a:prstGeom>
          <a:noFill/>
          <a:ln w="12700">
            <a:solidFill>
              <a:srgbClr val="E2E6EC"/>
            </a:solidFill>
            <a:prstDash val="solid"/>
          </a:ln>
        </p:spPr>
      </p:sp>
      <p:sp>
        <p:nvSpPr>
          <p:cNvPr id="37" name="Shape 27"/>
          <p:cNvSpPr/>
          <p:nvPr/>
        </p:nvSpPr>
        <p:spPr>
          <a:xfrm>
            <a:off x="685800" y="5757926"/>
            <a:ext cx="1188720" cy="347472"/>
          </a:xfrm>
          <a:prstGeom prst="roundRect">
            <a:avLst>
              <a:gd name="adj" fmla="val 15789"/>
            </a:avLst>
          </a:prstGeom>
          <a:solidFill>
            <a:schemeClr val="accent1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38" name="Text 28"/>
          <p:cNvSpPr txBox="1"/>
          <p:nvPr/>
        </p:nvSpPr>
        <p:spPr>
          <a:xfrm>
            <a:off x="685800" y="5757926"/>
            <a:ext cx="118872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chemeClr val="bg1"/>
                </a:solidFill>
              </a:rPr>
              <a:t>zaterdag</a:t>
            </a:r>
            <a:endParaRPr lang="en-US" sz="1200" dirty="0"/>
          </a:p>
        </p:txBody>
      </p:sp>
      <p:sp>
        <p:nvSpPr>
          <p:cNvPr id="39" name="Text 29"/>
          <p:cNvSpPr txBox="1"/>
          <p:nvPr/>
        </p:nvSpPr>
        <p:spPr>
          <a:xfrm>
            <a:off x="2011680" y="5617972"/>
            <a:ext cx="2194560" cy="6273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00" i="1" dirty="0">
                <a:solidFill>
                  <a:schemeClr val="tx1"/>
                </a:solidFill>
              </a:rPr>
              <a:t>verhuizen!</a:t>
            </a:r>
            <a:endParaRPr lang="en-US" sz="1400" dirty="0"/>
          </a:p>
        </p:txBody>
      </p:sp>
      <p:pic>
        <p:nvPicPr>
          <p:cNvPr id="40" name="Image 7" descr="delivery truck">    </p:cNvPr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4270248" y="5703062"/>
            <a:ext cx="457200" cy="457200"/>
          </a:xfrm>
          <a:prstGeom prst="rect">
            <a:avLst/>
          </a:prstGeom>
        </p:spPr>
      </p:pic>
      <p:sp>
        <p:nvSpPr>
          <p:cNvPr id="41" name="Shape 30"/>
          <p:cNvSpPr/>
          <p:nvPr/>
        </p:nvSpPr>
        <p:spPr>
          <a:xfrm>
            <a:off x="5120640" y="1978152"/>
            <a:ext cx="329184" cy="329184"/>
          </a:xfrm>
          <a:prstGeom prst="ellipse">
            <a:avLst/>
          </a:prstGeom>
          <a:solidFill>
            <a:schemeClr val="tx2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42" name="Text 31"/>
          <p:cNvSpPr txBox="1"/>
          <p:nvPr/>
        </p:nvSpPr>
        <p:spPr>
          <a:xfrm>
            <a:off x="5120640" y="1978152"/>
            <a:ext cx="32918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chemeClr val="bg1"/>
                </a:solidFill>
              </a:rPr>
              <a:t>1</a:t>
            </a:r>
            <a:endParaRPr lang="en-US" sz="1200" dirty="0"/>
          </a:p>
        </p:txBody>
      </p:sp>
      <p:sp>
        <p:nvSpPr>
          <p:cNvPr id="43" name="Text 32"/>
          <p:cNvSpPr txBox="1"/>
          <p:nvPr/>
        </p:nvSpPr>
        <p:spPr>
          <a:xfrm>
            <a:off x="5532120" y="1932432"/>
            <a:ext cx="6108192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500" b="1" i="1" dirty="0">
                <a:solidFill>
                  <a:schemeClr val="tx1"/>
                </a:solidFill>
              </a:rPr>
              <a:t>Wat doet Karim maandag?</a:t>
            </a:r>
            <a:endParaRPr lang="en-US" sz="1500" dirty="0"/>
          </a:p>
        </p:txBody>
      </p:sp>
      <p:sp>
        <p:nvSpPr>
          <p:cNvPr id="44" name="Shape 33"/>
          <p:cNvSpPr/>
          <p:nvPr/>
        </p:nvSpPr>
        <p:spPr>
          <a:xfrm>
            <a:off x="5532120" y="2270760"/>
            <a:ext cx="6108192" cy="333248"/>
          </a:xfrm>
          <a:prstGeom prst="roundRect">
            <a:avLst>
              <a:gd name="adj" fmla="val 21951"/>
            </a:avLst>
          </a:prstGeom>
          <a:solidFill>
            <a:schemeClr val="bg1"/>
          </a:solidFill>
          <a:ln w="12700">
            <a:solidFill>
              <a:srgbClr val="D5DCE6"/>
            </a:solidFill>
            <a:prstDash val="solid"/>
          </a:ln>
        </p:spPr>
      </p:sp>
      <p:sp>
        <p:nvSpPr>
          <p:cNvPr id="45" name="Shape 34"/>
          <p:cNvSpPr/>
          <p:nvPr/>
        </p:nvSpPr>
        <p:spPr>
          <a:xfrm>
            <a:off x="5120640" y="2704592"/>
            <a:ext cx="329184" cy="329184"/>
          </a:xfrm>
          <a:prstGeom prst="ellipse">
            <a:avLst/>
          </a:prstGeom>
          <a:solidFill>
            <a:schemeClr val="tx2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46" name="Text 35"/>
          <p:cNvSpPr txBox="1"/>
          <p:nvPr/>
        </p:nvSpPr>
        <p:spPr>
          <a:xfrm>
            <a:off x="5120640" y="2704592"/>
            <a:ext cx="32918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chemeClr val="bg1"/>
                </a:solidFill>
              </a:rPr>
              <a:t>2</a:t>
            </a:r>
            <a:endParaRPr lang="en-US" sz="1200" dirty="0"/>
          </a:p>
        </p:txBody>
      </p:sp>
      <p:sp>
        <p:nvSpPr>
          <p:cNvPr id="47" name="Text 36"/>
          <p:cNvSpPr txBox="1"/>
          <p:nvPr/>
        </p:nvSpPr>
        <p:spPr>
          <a:xfrm>
            <a:off x="5532120" y="2658872"/>
            <a:ext cx="6108192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500" b="1" i="1" dirty="0">
                <a:solidFill>
                  <a:schemeClr val="tx1"/>
                </a:solidFill>
              </a:rPr>
              <a:t>Wanneer heeft hij een vergadering?</a:t>
            </a:r>
            <a:endParaRPr lang="en-US" sz="1500" dirty="0"/>
          </a:p>
        </p:txBody>
      </p:sp>
      <p:sp>
        <p:nvSpPr>
          <p:cNvPr id="48" name="Shape 37"/>
          <p:cNvSpPr/>
          <p:nvPr/>
        </p:nvSpPr>
        <p:spPr>
          <a:xfrm>
            <a:off x="5532120" y="2997200"/>
            <a:ext cx="6108192" cy="333248"/>
          </a:xfrm>
          <a:prstGeom prst="roundRect">
            <a:avLst>
              <a:gd name="adj" fmla="val 21951"/>
            </a:avLst>
          </a:prstGeom>
          <a:solidFill>
            <a:schemeClr val="bg1"/>
          </a:solidFill>
          <a:ln w="12700">
            <a:solidFill>
              <a:srgbClr val="D5DCE6"/>
            </a:solidFill>
            <a:prstDash val="solid"/>
          </a:ln>
        </p:spPr>
      </p:sp>
      <p:sp>
        <p:nvSpPr>
          <p:cNvPr id="49" name="Shape 38"/>
          <p:cNvSpPr/>
          <p:nvPr/>
        </p:nvSpPr>
        <p:spPr>
          <a:xfrm>
            <a:off x="5120640" y="3431032"/>
            <a:ext cx="329184" cy="329184"/>
          </a:xfrm>
          <a:prstGeom prst="ellipse">
            <a:avLst/>
          </a:prstGeom>
          <a:solidFill>
            <a:schemeClr val="tx2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50" name="Text 39"/>
          <p:cNvSpPr txBox="1"/>
          <p:nvPr/>
        </p:nvSpPr>
        <p:spPr>
          <a:xfrm>
            <a:off x="5120640" y="3431032"/>
            <a:ext cx="32918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chemeClr val="bg1"/>
                </a:solidFill>
              </a:rPr>
              <a:t>3</a:t>
            </a:r>
            <a:endParaRPr lang="en-US" sz="1200" dirty="0"/>
          </a:p>
        </p:txBody>
      </p:sp>
      <p:sp>
        <p:nvSpPr>
          <p:cNvPr id="51" name="Text 40"/>
          <p:cNvSpPr txBox="1"/>
          <p:nvPr/>
        </p:nvSpPr>
        <p:spPr>
          <a:xfrm>
            <a:off x="5532120" y="3385312"/>
            <a:ext cx="6108192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500" b="1" i="1" dirty="0">
                <a:solidFill>
                  <a:schemeClr val="tx1"/>
                </a:solidFill>
              </a:rPr>
              <a:t>Waar werkt hij woensdag?</a:t>
            </a:r>
            <a:endParaRPr lang="en-US" sz="1500" dirty="0"/>
          </a:p>
        </p:txBody>
      </p:sp>
      <p:sp>
        <p:nvSpPr>
          <p:cNvPr id="52" name="Shape 41"/>
          <p:cNvSpPr/>
          <p:nvPr/>
        </p:nvSpPr>
        <p:spPr>
          <a:xfrm>
            <a:off x="5532120" y="3723640"/>
            <a:ext cx="6108192" cy="333248"/>
          </a:xfrm>
          <a:prstGeom prst="roundRect">
            <a:avLst>
              <a:gd name="adj" fmla="val 21951"/>
            </a:avLst>
          </a:prstGeom>
          <a:solidFill>
            <a:schemeClr val="bg1"/>
          </a:solidFill>
          <a:ln w="12700">
            <a:solidFill>
              <a:srgbClr val="D5DCE6"/>
            </a:solidFill>
            <a:prstDash val="solid"/>
          </a:ln>
        </p:spPr>
      </p:sp>
      <p:sp>
        <p:nvSpPr>
          <p:cNvPr id="53" name="Shape 42"/>
          <p:cNvSpPr/>
          <p:nvPr/>
        </p:nvSpPr>
        <p:spPr>
          <a:xfrm>
            <a:off x="5120640" y="4157472"/>
            <a:ext cx="329184" cy="329184"/>
          </a:xfrm>
          <a:prstGeom prst="ellipse">
            <a:avLst/>
          </a:prstGeom>
          <a:solidFill>
            <a:schemeClr val="tx2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54" name="Text 43"/>
          <p:cNvSpPr txBox="1"/>
          <p:nvPr/>
        </p:nvSpPr>
        <p:spPr>
          <a:xfrm>
            <a:off x="5120640" y="4157472"/>
            <a:ext cx="32918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chemeClr val="bg1"/>
                </a:solidFill>
              </a:rPr>
              <a:t>4</a:t>
            </a:r>
            <a:endParaRPr lang="en-US" sz="1200" dirty="0"/>
          </a:p>
        </p:txBody>
      </p:sp>
      <p:sp>
        <p:nvSpPr>
          <p:cNvPr id="55" name="Text 44"/>
          <p:cNvSpPr txBox="1"/>
          <p:nvPr/>
        </p:nvSpPr>
        <p:spPr>
          <a:xfrm>
            <a:off x="5532120" y="4111752"/>
            <a:ext cx="6108192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500" b="1" i="1" dirty="0">
                <a:solidFill>
                  <a:schemeClr val="tx1"/>
                </a:solidFill>
              </a:rPr>
              <a:t>Wat doet hij donderdag?</a:t>
            </a:r>
            <a:endParaRPr lang="en-US" sz="1500" dirty="0"/>
          </a:p>
        </p:txBody>
      </p:sp>
      <p:sp>
        <p:nvSpPr>
          <p:cNvPr id="56" name="Shape 45"/>
          <p:cNvSpPr/>
          <p:nvPr/>
        </p:nvSpPr>
        <p:spPr>
          <a:xfrm>
            <a:off x="5532120" y="4450080"/>
            <a:ext cx="6108192" cy="333248"/>
          </a:xfrm>
          <a:prstGeom prst="roundRect">
            <a:avLst>
              <a:gd name="adj" fmla="val 21951"/>
            </a:avLst>
          </a:prstGeom>
          <a:solidFill>
            <a:schemeClr val="bg1"/>
          </a:solidFill>
          <a:ln w="12700">
            <a:solidFill>
              <a:srgbClr val="D5DCE6"/>
            </a:solidFill>
            <a:prstDash val="solid"/>
          </a:ln>
        </p:spPr>
      </p:sp>
      <p:sp>
        <p:nvSpPr>
          <p:cNvPr id="57" name="Shape 46"/>
          <p:cNvSpPr/>
          <p:nvPr/>
        </p:nvSpPr>
        <p:spPr>
          <a:xfrm>
            <a:off x="5120640" y="4883912"/>
            <a:ext cx="329184" cy="329184"/>
          </a:xfrm>
          <a:prstGeom prst="ellipse">
            <a:avLst/>
          </a:prstGeom>
          <a:solidFill>
            <a:schemeClr val="tx2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58" name="Text 47"/>
          <p:cNvSpPr txBox="1"/>
          <p:nvPr/>
        </p:nvSpPr>
        <p:spPr>
          <a:xfrm>
            <a:off x="5120640" y="4883912"/>
            <a:ext cx="32918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chemeClr val="bg1"/>
                </a:solidFill>
              </a:rPr>
              <a:t>5</a:t>
            </a:r>
            <a:endParaRPr lang="en-US" sz="1200" dirty="0"/>
          </a:p>
        </p:txBody>
      </p:sp>
      <p:sp>
        <p:nvSpPr>
          <p:cNvPr id="59" name="Text 48"/>
          <p:cNvSpPr txBox="1"/>
          <p:nvPr/>
        </p:nvSpPr>
        <p:spPr>
          <a:xfrm>
            <a:off x="5532120" y="4838192"/>
            <a:ext cx="6108192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500" b="1" i="1" dirty="0">
                <a:solidFill>
                  <a:schemeClr val="tx1"/>
                </a:solidFill>
              </a:rPr>
              <a:t>Met wie luncht hij vrijdag?</a:t>
            </a:r>
            <a:endParaRPr lang="en-US" sz="1500" dirty="0"/>
          </a:p>
        </p:txBody>
      </p:sp>
      <p:sp>
        <p:nvSpPr>
          <p:cNvPr id="60" name="Shape 49"/>
          <p:cNvSpPr/>
          <p:nvPr/>
        </p:nvSpPr>
        <p:spPr>
          <a:xfrm>
            <a:off x="5532120" y="5176520"/>
            <a:ext cx="6108192" cy="333248"/>
          </a:xfrm>
          <a:prstGeom prst="roundRect">
            <a:avLst>
              <a:gd name="adj" fmla="val 21951"/>
            </a:avLst>
          </a:prstGeom>
          <a:solidFill>
            <a:schemeClr val="bg1"/>
          </a:solidFill>
          <a:ln w="12700">
            <a:solidFill>
              <a:srgbClr val="D5DCE6"/>
            </a:solidFill>
            <a:prstDash val="solid"/>
          </a:ln>
        </p:spPr>
      </p:sp>
      <p:sp>
        <p:nvSpPr>
          <p:cNvPr id="61" name="Shape 50"/>
          <p:cNvSpPr/>
          <p:nvPr/>
        </p:nvSpPr>
        <p:spPr>
          <a:xfrm>
            <a:off x="5120640" y="5610352"/>
            <a:ext cx="329184" cy="329184"/>
          </a:xfrm>
          <a:prstGeom prst="ellipse">
            <a:avLst/>
          </a:prstGeom>
          <a:solidFill>
            <a:schemeClr val="tx2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62" name="Text 51"/>
          <p:cNvSpPr txBox="1"/>
          <p:nvPr/>
        </p:nvSpPr>
        <p:spPr>
          <a:xfrm>
            <a:off x="5120640" y="5610352"/>
            <a:ext cx="32918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chemeClr val="bg1"/>
                </a:solidFill>
              </a:rPr>
              <a:t>6</a:t>
            </a:r>
            <a:endParaRPr lang="en-US" sz="1200" dirty="0"/>
          </a:p>
        </p:txBody>
      </p:sp>
      <p:sp>
        <p:nvSpPr>
          <p:cNvPr id="63" name="Text 52"/>
          <p:cNvSpPr txBox="1"/>
          <p:nvPr/>
        </p:nvSpPr>
        <p:spPr>
          <a:xfrm>
            <a:off x="5532120" y="5564632"/>
            <a:ext cx="6108192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500" b="1" i="1" dirty="0">
                <a:solidFill>
                  <a:schemeClr val="tx1"/>
                </a:solidFill>
              </a:rPr>
              <a:t>Wat gebeurt er zaterdag?</a:t>
            </a:r>
            <a:endParaRPr lang="en-US" sz="1500" dirty="0"/>
          </a:p>
        </p:txBody>
      </p:sp>
      <p:sp>
        <p:nvSpPr>
          <p:cNvPr id="64" name="Shape 53"/>
          <p:cNvSpPr/>
          <p:nvPr/>
        </p:nvSpPr>
        <p:spPr>
          <a:xfrm>
            <a:off x="5532120" y="5902960"/>
            <a:ext cx="6108192" cy="333248"/>
          </a:xfrm>
          <a:prstGeom prst="roundRect">
            <a:avLst>
              <a:gd name="adj" fmla="val 21951"/>
            </a:avLst>
          </a:prstGeom>
          <a:solidFill>
            <a:schemeClr val="bg1"/>
          </a:solidFill>
          <a:ln w="12700">
            <a:solidFill>
              <a:srgbClr val="D5DCE6"/>
            </a:solidFill>
            <a:prstDash val="solid"/>
          </a:ln>
        </p:spPr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1672" y="644652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4A5A70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15</a:t>
            </a:fld>
            <a:endParaRPr lang="en-US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548640" y="621792"/>
            <a:ext cx="11091672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chemeClr val="tx2"/>
                </a:solidFill>
              </a:rPr>
              <a:t>Exercice 1 — L’agenda de Karim</a:t>
            </a:r>
            <a:endParaRPr lang="en-US" sz="3000" dirty="0"/>
          </a:p>
        </p:txBody>
      </p:sp>
      <p:sp>
        <p:nvSpPr>
          <p:cNvPr id="3" name="tag"/>
          <p:cNvSpPr/>
          <p:nvPr/>
        </p:nvSpPr>
        <p:spPr>
          <a:xfrm>
            <a:off x="548640" y="237744"/>
            <a:ext cx="1228954" cy="310896"/>
          </a:xfrm>
          <a:prstGeom prst="roundRect">
            <a:avLst>
              <a:gd name="adj" fmla="val 14706"/>
            </a:avLst>
          </a:prstGeom>
          <a:solidFill>
            <a:schemeClr val="accent1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spc="100" kern="0" dirty="0">
                <a:solidFill>
                  <a:srgbClr val="FFFFFF"/>
                </a:solidFill>
              </a:rPr>
              <a:t>JIJ NU !</a:t>
            </a:r>
            <a:endParaRPr lang="en-US" sz="1200" dirty="0"/>
          </a:p>
        </p:txBody>
      </p:sp>
      <p:sp>
        <p:nvSpPr>
          <p:cNvPr id="4" name="tag"/>
          <p:cNvSpPr/>
          <p:nvPr/>
        </p:nvSpPr>
        <p:spPr>
          <a:xfrm>
            <a:off x="1887322" y="237744"/>
            <a:ext cx="1662379" cy="310896"/>
          </a:xfrm>
          <a:prstGeom prst="roundRect">
            <a:avLst>
              <a:gd name="adj" fmla="val 14706"/>
            </a:avLst>
          </a:prstGeom>
          <a:solidFill>
            <a:schemeClr val="accent3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spc="100" kern="0" dirty="0">
                <a:solidFill>
                  <a:srgbClr val="FFFFFF"/>
                </a:solidFill>
              </a:rPr>
              <a:t>✓ CORRECTIE</a:t>
            </a:r>
            <a:endParaRPr lang="en-US" sz="1200" dirty="0"/>
          </a:p>
        </p:txBody>
      </p:sp>
      <p:sp>
        <p:nvSpPr>
          <p:cNvPr id="5" name="Text 3"/>
          <p:cNvSpPr txBox="1"/>
          <p:nvPr/>
        </p:nvSpPr>
        <p:spPr>
          <a:xfrm>
            <a:off x="10177272" y="219456"/>
            <a:ext cx="146304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600" b="1" dirty="0">
                <a:solidFill>
                  <a:schemeClr val="accent1"/>
                </a:solidFill>
              </a:rPr>
              <a:t>★</a:t>
            </a:r>
            <a:endParaRPr lang="en-US" sz="1600" dirty="0"/>
          </a:p>
        </p:txBody>
      </p:sp>
      <p:pic>
        <p:nvPicPr>
          <p:cNvPr id="7" name="Image 0" descr="HandPointRight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48640" y="1517904"/>
            <a:ext cx="274320" cy="274320"/>
          </a:xfrm>
          <a:prstGeom prst="rect">
            <a:avLst/>
          </a:prstGeom>
        </p:spPr>
      </p:pic>
      <p:sp>
        <p:nvSpPr>
          <p:cNvPr id="8" name="Text 4"/>
          <p:cNvSpPr txBox="1"/>
          <p:nvPr/>
        </p:nvSpPr>
        <p:spPr>
          <a:xfrm>
            <a:off x="960120" y="1481328"/>
            <a:ext cx="10680192" cy="3139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700" i="1" dirty="0">
                <a:solidFill>
                  <a:schemeClr val="accent5"/>
                </a:solidFill>
              </a:rPr>
              <a:t>Répondez avec le présent. Mettez le jour en tête : attention à l’inversion !</a:t>
            </a:r>
            <a:endParaRPr lang="en-US" sz="1700" dirty="0"/>
          </a:p>
        </p:txBody>
      </p:sp>
      <p:sp>
        <p:nvSpPr>
          <p:cNvPr id="9" name="Shape 5"/>
          <p:cNvSpPr/>
          <p:nvPr/>
        </p:nvSpPr>
        <p:spPr>
          <a:xfrm>
            <a:off x="548640" y="1932432"/>
            <a:ext cx="4343400" cy="4358640"/>
          </a:xfrm>
          <a:prstGeom prst="roundRect">
            <a:avLst>
              <a:gd name="adj" fmla="val 842"/>
            </a:avLst>
          </a:prstGeom>
          <a:solidFill>
            <a:srgbClr val="FFFFFF"/>
          </a:solidFill>
          <a:ln w="15875">
            <a:solidFill>
              <a:srgbClr val="4A5A70"/>
            </a:solidFill>
            <a:prstDash val="solid"/>
          </a:ln>
          <a:effectLst>
            <a:outerShdw sx="100000" sy="100000" kx="0" ky="0" algn="bl" rotWithShape="0" blurRad="101600" dist="25400" dir="3600000">
              <a:srgbClr val="000000">
                <a:alpha val="16000"/>
              </a:srgbClr>
            </a:outerShdw>
          </a:effectLst>
        </p:spPr>
      </p:sp>
      <p:sp>
        <p:nvSpPr>
          <p:cNvPr id="10" name="Shape 6"/>
          <p:cNvSpPr/>
          <p:nvPr/>
        </p:nvSpPr>
        <p:spPr>
          <a:xfrm>
            <a:off x="548640" y="1932432"/>
            <a:ext cx="4343400" cy="502920"/>
          </a:xfrm>
          <a:prstGeom prst="roundRect">
            <a:avLst>
              <a:gd name="adj" fmla="val 7273"/>
            </a:avLst>
          </a:prstGeom>
          <a:solidFill>
            <a:schemeClr val="tx2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pic>
        <p:nvPicPr>
          <p:cNvPr id="11" name="Image 1" descr="spiral calendar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85800" y="1987296"/>
            <a:ext cx="402336" cy="402336"/>
          </a:xfrm>
          <a:prstGeom prst="rect">
            <a:avLst/>
          </a:prstGeom>
        </p:spPr>
      </p:pic>
      <p:sp>
        <p:nvSpPr>
          <p:cNvPr id="12" name="Text 7"/>
          <p:cNvSpPr txBox="1"/>
          <p:nvPr/>
        </p:nvSpPr>
        <p:spPr>
          <a:xfrm>
            <a:off x="1188720" y="1932432"/>
            <a:ext cx="35204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00" b="1" spc="100" kern="0" dirty="0">
                <a:solidFill>
                  <a:schemeClr val="bg1"/>
                </a:solidFill>
              </a:rPr>
              <a:t>KARIM · VOLGENDE WEEK</a:t>
            </a:r>
            <a:endParaRPr lang="en-US" sz="1400" dirty="0"/>
          </a:p>
        </p:txBody>
      </p:sp>
      <p:sp>
        <p:nvSpPr>
          <p:cNvPr id="13" name="Shape 8"/>
          <p:cNvSpPr/>
          <p:nvPr/>
        </p:nvSpPr>
        <p:spPr>
          <a:xfrm>
            <a:off x="685800" y="2621026"/>
            <a:ext cx="1188720" cy="347472"/>
          </a:xfrm>
          <a:prstGeom prst="roundRect">
            <a:avLst>
              <a:gd name="adj" fmla="val 15789"/>
            </a:avLst>
          </a:prstGeom>
          <a:solidFill>
            <a:schemeClr val="accent1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14" name="Text 9"/>
          <p:cNvSpPr txBox="1"/>
          <p:nvPr/>
        </p:nvSpPr>
        <p:spPr>
          <a:xfrm>
            <a:off x="685800" y="2621026"/>
            <a:ext cx="118872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chemeClr val="bg1"/>
                </a:solidFill>
              </a:rPr>
              <a:t>maandag</a:t>
            </a:r>
            <a:endParaRPr lang="en-US" sz="1200" dirty="0"/>
          </a:p>
        </p:txBody>
      </p:sp>
      <p:sp>
        <p:nvSpPr>
          <p:cNvPr id="15" name="Text 10"/>
          <p:cNvSpPr txBox="1"/>
          <p:nvPr/>
        </p:nvSpPr>
        <p:spPr>
          <a:xfrm>
            <a:off x="2011680" y="2481072"/>
            <a:ext cx="2194560" cy="6273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00" i="1" dirty="0">
                <a:solidFill>
                  <a:schemeClr val="tx1"/>
                </a:solidFill>
              </a:rPr>
              <a:t>8.30 tandarts</a:t>
            </a:r>
            <a:endParaRPr lang="en-US" sz="1400" dirty="0"/>
          </a:p>
        </p:txBody>
      </p:sp>
      <p:pic>
        <p:nvPicPr>
          <p:cNvPr id="16" name="Image 2" descr="tooth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270248" y="2566162"/>
            <a:ext cx="457200" cy="457200"/>
          </a:xfrm>
          <a:prstGeom prst="rect">
            <a:avLst/>
          </a:prstGeom>
        </p:spPr>
      </p:pic>
      <p:sp>
        <p:nvSpPr>
          <p:cNvPr id="17" name="Shape 11"/>
          <p:cNvSpPr/>
          <p:nvPr/>
        </p:nvSpPr>
        <p:spPr>
          <a:xfrm>
            <a:off x="685800" y="3108452"/>
            <a:ext cx="4069080" cy="914"/>
          </a:xfrm>
          <a:prstGeom prst="line">
            <a:avLst/>
          </a:prstGeom>
          <a:noFill/>
          <a:ln w="12700">
            <a:solidFill>
              <a:srgbClr val="E2E6EC"/>
            </a:solidFill>
            <a:prstDash val="solid"/>
          </a:ln>
        </p:spPr>
      </p:sp>
      <p:sp>
        <p:nvSpPr>
          <p:cNvPr id="18" name="Shape 12"/>
          <p:cNvSpPr/>
          <p:nvPr/>
        </p:nvSpPr>
        <p:spPr>
          <a:xfrm>
            <a:off x="685800" y="3248406"/>
            <a:ext cx="1188720" cy="347472"/>
          </a:xfrm>
          <a:prstGeom prst="roundRect">
            <a:avLst>
              <a:gd name="adj" fmla="val 15789"/>
            </a:avLst>
          </a:prstGeom>
          <a:solidFill>
            <a:schemeClr val="accent1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19" name="Text 13"/>
          <p:cNvSpPr txBox="1"/>
          <p:nvPr/>
        </p:nvSpPr>
        <p:spPr>
          <a:xfrm>
            <a:off x="685800" y="3248406"/>
            <a:ext cx="118872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chemeClr val="bg1"/>
                </a:solidFill>
              </a:rPr>
              <a:t>dinsdag</a:t>
            </a:r>
            <a:endParaRPr lang="en-US" sz="1200" dirty="0"/>
          </a:p>
        </p:txBody>
      </p:sp>
      <p:sp>
        <p:nvSpPr>
          <p:cNvPr id="20" name="Text 14"/>
          <p:cNvSpPr txBox="1"/>
          <p:nvPr/>
        </p:nvSpPr>
        <p:spPr>
          <a:xfrm>
            <a:off x="2011680" y="3108452"/>
            <a:ext cx="2194560" cy="6273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00" i="1" dirty="0">
                <a:solidFill>
                  <a:schemeClr val="tx1"/>
                </a:solidFill>
              </a:rPr>
              <a:t>10.00 vergadering met meneer Maes</a:t>
            </a:r>
            <a:endParaRPr lang="en-US" sz="1400" dirty="0"/>
          </a:p>
        </p:txBody>
      </p:sp>
      <p:pic>
        <p:nvPicPr>
          <p:cNvPr id="21" name="Image 3" descr="busts in silhouette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270248" y="3193542"/>
            <a:ext cx="457200" cy="457200"/>
          </a:xfrm>
          <a:prstGeom prst="rect">
            <a:avLst/>
          </a:prstGeom>
        </p:spPr>
      </p:pic>
      <p:sp>
        <p:nvSpPr>
          <p:cNvPr id="22" name="Shape 15"/>
          <p:cNvSpPr/>
          <p:nvPr/>
        </p:nvSpPr>
        <p:spPr>
          <a:xfrm>
            <a:off x="685800" y="3735832"/>
            <a:ext cx="4069080" cy="914"/>
          </a:xfrm>
          <a:prstGeom prst="line">
            <a:avLst/>
          </a:prstGeom>
          <a:noFill/>
          <a:ln w="12700">
            <a:solidFill>
              <a:srgbClr val="E2E6EC"/>
            </a:solidFill>
            <a:prstDash val="solid"/>
          </a:ln>
        </p:spPr>
      </p:sp>
      <p:sp>
        <p:nvSpPr>
          <p:cNvPr id="23" name="Shape 16"/>
          <p:cNvSpPr/>
          <p:nvPr/>
        </p:nvSpPr>
        <p:spPr>
          <a:xfrm>
            <a:off x="685800" y="3875786"/>
            <a:ext cx="1188720" cy="347472"/>
          </a:xfrm>
          <a:prstGeom prst="roundRect">
            <a:avLst>
              <a:gd name="adj" fmla="val 15789"/>
            </a:avLst>
          </a:prstGeom>
          <a:solidFill>
            <a:schemeClr val="accent1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24" name="Text 17"/>
          <p:cNvSpPr txBox="1"/>
          <p:nvPr/>
        </p:nvSpPr>
        <p:spPr>
          <a:xfrm>
            <a:off x="685800" y="3875786"/>
            <a:ext cx="118872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chemeClr val="bg1"/>
                </a:solidFill>
              </a:rPr>
              <a:t>woensdag</a:t>
            </a:r>
            <a:endParaRPr lang="en-US" sz="1200" dirty="0"/>
          </a:p>
        </p:txBody>
      </p:sp>
      <p:sp>
        <p:nvSpPr>
          <p:cNvPr id="25" name="Text 18"/>
          <p:cNvSpPr txBox="1"/>
          <p:nvPr/>
        </p:nvSpPr>
        <p:spPr>
          <a:xfrm>
            <a:off x="2011680" y="3735832"/>
            <a:ext cx="2194560" cy="6273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00" i="1" dirty="0">
                <a:solidFill>
                  <a:schemeClr val="tx1"/>
                </a:solidFill>
              </a:rPr>
              <a:t>thuiswerken</a:t>
            </a:r>
            <a:endParaRPr lang="en-US" sz="1400" dirty="0"/>
          </a:p>
        </p:txBody>
      </p:sp>
      <p:pic>
        <p:nvPicPr>
          <p:cNvPr id="26" name="Image 4" descr="house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4270248" y="3820922"/>
            <a:ext cx="457200" cy="457200"/>
          </a:xfrm>
          <a:prstGeom prst="rect">
            <a:avLst/>
          </a:prstGeom>
        </p:spPr>
      </p:pic>
      <p:sp>
        <p:nvSpPr>
          <p:cNvPr id="27" name="Shape 19"/>
          <p:cNvSpPr/>
          <p:nvPr/>
        </p:nvSpPr>
        <p:spPr>
          <a:xfrm>
            <a:off x="685800" y="4363212"/>
            <a:ext cx="4069080" cy="914"/>
          </a:xfrm>
          <a:prstGeom prst="line">
            <a:avLst/>
          </a:prstGeom>
          <a:noFill/>
          <a:ln w="12700">
            <a:solidFill>
              <a:srgbClr val="E2E6EC"/>
            </a:solidFill>
            <a:prstDash val="solid"/>
          </a:ln>
        </p:spPr>
      </p:sp>
      <p:sp>
        <p:nvSpPr>
          <p:cNvPr id="28" name="Shape 20"/>
          <p:cNvSpPr/>
          <p:nvPr/>
        </p:nvSpPr>
        <p:spPr>
          <a:xfrm>
            <a:off x="685800" y="4503166"/>
            <a:ext cx="1188720" cy="347472"/>
          </a:xfrm>
          <a:prstGeom prst="roundRect">
            <a:avLst>
              <a:gd name="adj" fmla="val 15789"/>
            </a:avLst>
          </a:prstGeom>
          <a:solidFill>
            <a:schemeClr val="accent1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29" name="Text 21"/>
          <p:cNvSpPr txBox="1"/>
          <p:nvPr/>
        </p:nvSpPr>
        <p:spPr>
          <a:xfrm>
            <a:off x="685800" y="4503166"/>
            <a:ext cx="118872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chemeClr val="bg1"/>
                </a:solidFill>
              </a:rPr>
              <a:t>donderdag</a:t>
            </a:r>
            <a:endParaRPr lang="en-US" sz="1200" dirty="0"/>
          </a:p>
        </p:txBody>
      </p:sp>
      <p:sp>
        <p:nvSpPr>
          <p:cNvPr id="30" name="Text 22"/>
          <p:cNvSpPr txBox="1"/>
          <p:nvPr/>
        </p:nvSpPr>
        <p:spPr>
          <a:xfrm>
            <a:off x="2011680" y="4363212"/>
            <a:ext cx="2194560" cy="6273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00" i="1" dirty="0">
                <a:solidFill>
                  <a:schemeClr val="tx1"/>
                </a:solidFill>
              </a:rPr>
              <a:t>cursus Nederlands</a:t>
            </a:r>
            <a:endParaRPr lang="en-US" sz="1400" dirty="0"/>
          </a:p>
        </p:txBody>
      </p:sp>
      <p:pic>
        <p:nvPicPr>
          <p:cNvPr id="31" name="Image 5" descr="books">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4270248" y="4448302"/>
            <a:ext cx="457200" cy="457200"/>
          </a:xfrm>
          <a:prstGeom prst="rect">
            <a:avLst/>
          </a:prstGeom>
        </p:spPr>
      </p:pic>
      <p:sp>
        <p:nvSpPr>
          <p:cNvPr id="32" name="Shape 23"/>
          <p:cNvSpPr/>
          <p:nvPr/>
        </p:nvSpPr>
        <p:spPr>
          <a:xfrm>
            <a:off x="685800" y="4990592"/>
            <a:ext cx="4069080" cy="914"/>
          </a:xfrm>
          <a:prstGeom prst="line">
            <a:avLst/>
          </a:prstGeom>
          <a:noFill/>
          <a:ln w="12700">
            <a:solidFill>
              <a:srgbClr val="E2E6EC"/>
            </a:solidFill>
            <a:prstDash val="solid"/>
          </a:ln>
        </p:spPr>
      </p:sp>
      <p:sp>
        <p:nvSpPr>
          <p:cNvPr id="33" name="Shape 24"/>
          <p:cNvSpPr/>
          <p:nvPr/>
        </p:nvSpPr>
        <p:spPr>
          <a:xfrm>
            <a:off x="685800" y="5130546"/>
            <a:ext cx="1188720" cy="347472"/>
          </a:xfrm>
          <a:prstGeom prst="roundRect">
            <a:avLst>
              <a:gd name="adj" fmla="val 15789"/>
            </a:avLst>
          </a:prstGeom>
          <a:solidFill>
            <a:schemeClr val="accent1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34" name="Text 25"/>
          <p:cNvSpPr txBox="1"/>
          <p:nvPr/>
        </p:nvSpPr>
        <p:spPr>
          <a:xfrm>
            <a:off x="685800" y="5130546"/>
            <a:ext cx="118872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chemeClr val="bg1"/>
                </a:solidFill>
              </a:rPr>
              <a:t>vrijdag</a:t>
            </a:r>
            <a:endParaRPr lang="en-US" sz="1200" dirty="0"/>
          </a:p>
        </p:txBody>
      </p:sp>
      <p:sp>
        <p:nvSpPr>
          <p:cNvPr id="35" name="Text 26"/>
          <p:cNvSpPr txBox="1"/>
          <p:nvPr/>
        </p:nvSpPr>
        <p:spPr>
          <a:xfrm>
            <a:off x="2011680" y="4990592"/>
            <a:ext cx="2194560" cy="6273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00" i="1" dirty="0">
                <a:solidFill>
                  <a:schemeClr val="tx1"/>
                </a:solidFill>
              </a:rPr>
              <a:t>12.00 lunch met Sofie</a:t>
            </a:r>
            <a:endParaRPr lang="en-US" sz="1400" dirty="0"/>
          </a:p>
        </p:txBody>
      </p:sp>
      <p:pic>
        <p:nvPicPr>
          <p:cNvPr id="36" name="Image 6" descr="fork and knife with plate">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4270248" y="5075682"/>
            <a:ext cx="457200" cy="457200"/>
          </a:xfrm>
          <a:prstGeom prst="rect">
            <a:avLst/>
          </a:prstGeom>
        </p:spPr>
      </p:pic>
      <p:sp>
        <p:nvSpPr>
          <p:cNvPr id="37" name="Shape 27"/>
          <p:cNvSpPr/>
          <p:nvPr/>
        </p:nvSpPr>
        <p:spPr>
          <a:xfrm>
            <a:off x="685800" y="5617972"/>
            <a:ext cx="4069080" cy="914"/>
          </a:xfrm>
          <a:prstGeom prst="line">
            <a:avLst/>
          </a:prstGeom>
          <a:noFill/>
          <a:ln w="12700">
            <a:solidFill>
              <a:srgbClr val="E2E6EC"/>
            </a:solidFill>
            <a:prstDash val="solid"/>
          </a:ln>
        </p:spPr>
      </p:sp>
      <p:sp>
        <p:nvSpPr>
          <p:cNvPr id="38" name="Shape 28"/>
          <p:cNvSpPr/>
          <p:nvPr/>
        </p:nvSpPr>
        <p:spPr>
          <a:xfrm>
            <a:off x="685800" y="5757926"/>
            <a:ext cx="1188720" cy="347472"/>
          </a:xfrm>
          <a:prstGeom prst="roundRect">
            <a:avLst>
              <a:gd name="adj" fmla="val 15789"/>
            </a:avLst>
          </a:prstGeom>
          <a:solidFill>
            <a:schemeClr val="accent1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39" name="Text 29"/>
          <p:cNvSpPr txBox="1"/>
          <p:nvPr/>
        </p:nvSpPr>
        <p:spPr>
          <a:xfrm>
            <a:off x="685800" y="5757926"/>
            <a:ext cx="118872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chemeClr val="bg1"/>
                </a:solidFill>
              </a:rPr>
              <a:t>zaterdag</a:t>
            </a:r>
            <a:endParaRPr lang="en-US" sz="1200" dirty="0"/>
          </a:p>
        </p:txBody>
      </p:sp>
      <p:sp>
        <p:nvSpPr>
          <p:cNvPr id="40" name="Text 30"/>
          <p:cNvSpPr txBox="1"/>
          <p:nvPr/>
        </p:nvSpPr>
        <p:spPr>
          <a:xfrm>
            <a:off x="2011680" y="5617972"/>
            <a:ext cx="2194560" cy="6273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00" i="1" dirty="0">
                <a:solidFill>
                  <a:schemeClr val="tx1"/>
                </a:solidFill>
              </a:rPr>
              <a:t>verhuizen!</a:t>
            </a:r>
            <a:endParaRPr lang="en-US" sz="1400" dirty="0"/>
          </a:p>
        </p:txBody>
      </p:sp>
      <p:pic>
        <p:nvPicPr>
          <p:cNvPr id="41" name="Image 7" descr="delivery truck">    </p:cNvPr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4270248" y="5703062"/>
            <a:ext cx="457200" cy="457200"/>
          </a:xfrm>
          <a:prstGeom prst="rect">
            <a:avLst/>
          </a:prstGeom>
        </p:spPr>
      </p:pic>
      <p:sp>
        <p:nvSpPr>
          <p:cNvPr id="42" name="Shape 31"/>
          <p:cNvSpPr/>
          <p:nvPr/>
        </p:nvSpPr>
        <p:spPr>
          <a:xfrm>
            <a:off x="5120640" y="1978152"/>
            <a:ext cx="329184" cy="329184"/>
          </a:xfrm>
          <a:prstGeom prst="ellipse">
            <a:avLst/>
          </a:prstGeom>
          <a:solidFill>
            <a:schemeClr val="tx2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43" name="Text 32"/>
          <p:cNvSpPr txBox="1"/>
          <p:nvPr/>
        </p:nvSpPr>
        <p:spPr>
          <a:xfrm>
            <a:off x="5120640" y="1978152"/>
            <a:ext cx="32918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chemeClr val="bg1"/>
                </a:solidFill>
              </a:rPr>
              <a:t>1</a:t>
            </a:r>
            <a:endParaRPr lang="en-US" sz="1200" dirty="0"/>
          </a:p>
        </p:txBody>
      </p:sp>
      <p:sp>
        <p:nvSpPr>
          <p:cNvPr id="44" name="Text 33"/>
          <p:cNvSpPr txBox="1"/>
          <p:nvPr/>
        </p:nvSpPr>
        <p:spPr>
          <a:xfrm>
            <a:off x="5532120" y="1932432"/>
            <a:ext cx="6108192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500" b="1" i="1" dirty="0">
                <a:solidFill>
                  <a:schemeClr val="tx1"/>
                </a:solidFill>
              </a:rPr>
              <a:t>Wat doet Karim maandag?</a:t>
            </a:r>
            <a:endParaRPr lang="en-US" sz="1500" dirty="0"/>
          </a:p>
        </p:txBody>
      </p:sp>
      <p:sp>
        <p:nvSpPr>
          <p:cNvPr id="45" name="Shape 34"/>
          <p:cNvSpPr/>
          <p:nvPr/>
        </p:nvSpPr>
        <p:spPr>
          <a:xfrm>
            <a:off x="5532120" y="2270760"/>
            <a:ext cx="6108192" cy="333248"/>
          </a:xfrm>
          <a:prstGeom prst="roundRect">
            <a:avLst>
              <a:gd name="adj" fmla="val 21951"/>
            </a:avLst>
          </a:prstGeom>
          <a:solidFill>
            <a:srgbClr val="EDF6F0"/>
          </a:solidFill>
          <a:ln w="12700">
            <a:solidFill>
              <a:srgbClr val="2E7D4F"/>
            </a:solidFill>
            <a:prstDash val="solid"/>
          </a:ln>
        </p:spPr>
      </p:sp>
      <p:sp>
        <p:nvSpPr>
          <p:cNvPr id="46" name="Text 35"/>
          <p:cNvSpPr txBox="1"/>
          <p:nvPr/>
        </p:nvSpPr>
        <p:spPr>
          <a:xfrm>
            <a:off x="5623560" y="2270760"/>
            <a:ext cx="5943600" cy="333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500" b="1" i="1" dirty="0">
                <a:solidFill>
                  <a:schemeClr val="accent3"/>
                </a:solidFill>
              </a:rPr>
              <a:t>Maandag gaat hij om half negen naar de tandarts.</a:t>
            </a:r>
            <a:endParaRPr lang="en-US" sz="1500" dirty="0"/>
          </a:p>
        </p:txBody>
      </p:sp>
      <p:sp>
        <p:nvSpPr>
          <p:cNvPr id="47" name="Shape 36"/>
          <p:cNvSpPr/>
          <p:nvPr/>
        </p:nvSpPr>
        <p:spPr>
          <a:xfrm>
            <a:off x="5120640" y="2704592"/>
            <a:ext cx="329184" cy="329184"/>
          </a:xfrm>
          <a:prstGeom prst="ellipse">
            <a:avLst/>
          </a:prstGeom>
          <a:solidFill>
            <a:schemeClr val="tx2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48" name="Text 37"/>
          <p:cNvSpPr txBox="1"/>
          <p:nvPr/>
        </p:nvSpPr>
        <p:spPr>
          <a:xfrm>
            <a:off x="5120640" y="2704592"/>
            <a:ext cx="32918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chemeClr val="bg1"/>
                </a:solidFill>
              </a:rPr>
              <a:t>2</a:t>
            </a:r>
            <a:endParaRPr lang="en-US" sz="1200" dirty="0"/>
          </a:p>
        </p:txBody>
      </p:sp>
      <p:sp>
        <p:nvSpPr>
          <p:cNvPr id="49" name="Text 38"/>
          <p:cNvSpPr txBox="1"/>
          <p:nvPr/>
        </p:nvSpPr>
        <p:spPr>
          <a:xfrm>
            <a:off x="5532120" y="2658872"/>
            <a:ext cx="6108192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500" b="1" i="1" dirty="0">
                <a:solidFill>
                  <a:schemeClr val="tx1"/>
                </a:solidFill>
              </a:rPr>
              <a:t>Wanneer heeft hij een vergadering?</a:t>
            </a:r>
            <a:endParaRPr lang="en-US" sz="1500" dirty="0"/>
          </a:p>
        </p:txBody>
      </p:sp>
      <p:sp>
        <p:nvSpPr>
          <p:cNvPr id="50" name="Shape 39"/>
          <p:cNvSpPr/>
          <p:nvPr/>
        </p:nvSpPr>
        <p:spPr>
          <a:xfrm>
            <a:off x="5532120" y="2997200"/>
            <a:ext cx="6108192" cy="333248"/>
          </a:xfrm>
          <a:prstGeom prst="roundRect">
            <a:avLst>
              <a:gd name="adj" fmla="val 21951"/>
            </a:avLst>
          </a:prstGeom>
          <a:solidFill>
            <a:srgbClr val="EDF6F0"/>
          </a:solidFill>
          <a:ln w="12700">
            <a:solidFill>
              <a:srgbClr val="2E7D4F"/>
            </a:solidFill>
            <a:prstDash val="solid"/>
          </a:ln>
        </p:spPr>
      </p:sp>
      <p:sp>
        <p:nvSpPr>
          <p:cNvPr id="51" name="Text 40"/>
          <p:cNvSpPr txBox="1"/>
          <p:nvPr/>
        </p:nvSpPr>
        <p:spPr>
          <a:xfrm>
            <a:off x="5623560" y="2997200"/>
            <a:ext cx="5943600" cy="333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500" b="1" i="1" dirty="0">
                <a:solidFill>
                  <a:schemeClr val="accent3"/>
                </a:solidFill>
              </a:rPr>
              <a:t>Dinsdag om 10 uur.</a:t>
            </a:r>
            <a:endParaRPr lang="en-US" sz="1500" dirty="0"/>
          </a:p>
        </p:txBody>
      </p:sp>
      <p:sp>
        <p:nvSpPr>
          <p:cNvPr id="52" name="Shape 41"/>
          <p:cNvSpPr/>
          <p:nvPr/>
        </p:nvSpPr>
        <p:spPr>
          <a:xfrm>
            <a:off x="5120640" y="3431032"/>
            <a:ext cx="329184" cy="329184"/>
          </a:xfrm>
          <a:prstGeom prst="ellipse">
            <a:avLst/>
          </a:prstGeom>
          <a:solidFill>
            <a:schemeClr val="tx2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53" name="Text 42"/>
          <p:cNvSpPr txBox="1"/>
          <p:nvPr/>
        </p:nvSpPr>
        <p:spPr>
          <a:xfrm>
            <a:off x="5120640" y="3431032"/>
            <a:ext cx="32918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chemeClr val="bg1"/>
                </a:solidFill>
              </a:rPr>
              <a:t>3</a:t>
            </a:r>
            <a:endParaRPr lang="en-US" sz="1200" dirty="0"/>
          </a:p>
        </p:txBody>
      </p:sp>
      <p:sp>
        <p:nvSpPr>
          <p:cNvPr id="54" name="Text 43"/>
          <p:cNvSpPr txBox="1"/>
          <p:nvPr/>
        </p:nvSpPr>
        <p:spPr>
          <a:xfrm>
            <a:off x="5532120" y="3385312"/>
            <a:ext cx="6108192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500" b="1" i="1" dirty="0">
                <a:solidFill>
                  <a:schemeClr val="tx1"/>
                </a:solidFill>
              </a:rPr>
              <a:t>Waar werkt hij woensdag?</a:t>
            </a:r>
            <a:endParaRPr lang="en-US" sz="1500" dirty="0"/>
          </a:p>
        </p:txBody>
      </p:sp>
      <p:sp>
        <p:nvSpPr>
          <p:cNvPr id="55" name="Shape 44"/>
          <p:cNvSpPr/>
          <p:nvPr/>
        </p:nvSpPr>
        <p:spPr>
          <a:xfrm>
            <a:off x="5532120" y="3723640"/>
            <a:ext cx="6108192" cy="333248"/>
          </a:xfrm>
          <a:prstGeom prst="roundRect">
            <a:avLst>
              <a:gd name="adj" fmla="val 21951"/>
            </a:avLst>
          </a:prstGeom>
          <a:solidFill>
            <a:srgbClr val="EDF6F0"/>
          </a:solidFill>
          <a:ln w="12700">
            <a:solidFill>
              <a:srgbClr val="2E7D4F"/>
            </a:solidFill>
            <a:prstDash val="solid"/>
          </a:ln>
        </p:spPr>
      </p:sp>
      <p:sp>
        <p:nvSpPr>
          <p:cNvPr id="56" name="Text 45"/>
          <p:cNvSpPr txBox="1"/>
          <p:nvPr/>
        </p:nvSpPr>
        <p:spPr>
          <a:xfrm>
            <a:off x="5623560" y="3723640"/>
            <a:ext cx="5943600" cy="333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500" b="1" i="1" dirty="0">
                <a:solidFill>
                  <a:schemeClr val="accent3"/>
                </a:solidFill>
              </a:rPr>
              <a:t>Woensdag werkt hij thuis.</a:t>
            </a:r>
            <a:endParaRPr lang="en-US" sz="1500" dirty="0"/>
          </a:p>
        </p:txBody>
      </p:sp>
      <p:sp>
        <p:nvSpPr>
          <p:cNvPr id="57" name="Shape 46"/>
          <p:cNvSpPr/>
          <p:nvPr/>
        </p:nvSpPr>
        <p:spPr>
          <a:xfrm>
            <a:off x="5120640" y="4157472"/>
            <a:ext cx="329184" cy="329184"/>
          </a:xfrm>
          <a:prstGeom prst="ellipse">
            <a:avLst/>
          </a:prstGeom>
          <a:solidFill>
            <a:schemeClr val="tx2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58" name="Text 47"/>
          <p:cNvSpPr txBox="1"/>
          <p:nvPr/>
        </p:nvSpPr>
        <p:spPr>
          <a:xfrm>
            <a:off x="5120640" y="4157472"/>
            <a:ext cx="32918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chemeClr val="bg1"/>
                </a:solidFill>
              </a:rPr>
              <a:t>4</a:t>
            </a:r>
            <a:endParaRPr lang="en-US" sz="1200" dirty="0"/>
          </a:p>
        </p:txBody>
      </p:sp>
      <p:sp>
        <p:nvSpPr>
          <p:cNvPr id="59" name="Text 48"/>
          <p:cNvSpPr txBox="1"/>
          <p:nvPr/>
        </p:nvSpPr>
        <p:spPr>
          <a:xfrm>
            <a:off x="5532120" y="4111752"/>
            <a:ext cx="6108192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500" b="1" i="1" dirty="0">
                <a:solidFill>
                  <a:schemeClr val="tx1"/>
                </a:solidFill>
              </a:rPr>
              <a:t>Wat doet hij donderdag?</a:t>
            </a:r>
            <a:endParaRPr lang="en-US" sz="1500" dirty="0"/>
          </a:p>
        </p:txBody>
      </p:sp>
      <p:sp>
        <p:nvSpPr>
          <p:cNvPr id="60" name="Shape 49"/>
          <p:cNvSpPr/>
          <p:nvPr/>
        </p:nvSpPr>
        <p:spPr>
          <a:xfrm>
            <a:off x="5532120" y="4450080"/>
            <a:ext cx="6108192" cy="333248"/>
          </a:xfrm>
          <a:prstGeom prst="roundRect">
            <a:avLst>
              <a:gd name="adj" fmla="val 21951"/>
            </a:avLst>
          </a:prstGeom>
          <a:solidFill>
            <a:srgbClr val="EDF6F0"/>
          </a:solidFill>
          <a:ln w="12700">
            <a:solidFill>
              <a:srgbClr val="2E7D4F"/>
            </a:solidFill>
            <a:prstDash val="solid"/>
          </a:ln>
        </p:spPr>
      </p:sp>
      <p:sp>
        <p:nvSpPr>
          <p:cNvPr id="61" name="Text 50"/>
          <p:cNvSpPr txBox="1"/>
          <p:nvPr/>
        </p:nvSpPr>
        <p:spPr>
          <a:xfrm>
            <a:off x="5623560" y="4450080"/>
            <a:ext cx="5943600" cy="333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500" b="1" i="1" dirty="0">
                <a:solidFill>
                  <a:schemeClr val="accent3"/>
                </a:solidFill>
              </a:rPr>
              <a:t>Donderdag volgt hij een cursus Nederlands.</a:t>
            </a:r>
            <a:endParaRPr lang="en-US" sz="1500" dirty="0"/>
          </a:p>
        </p:txBody>
      </p:sp>
      <p:sp>
        <p:nvSpPr>
          <p:cNvPr id="62" name="Shape 51"/>
          <p:cNvSpPr/>
          <p:nvPr/>
        </p:nvSpPr>
        <p:spPr>
          <a:xfrm>
            <a:off x="5120640" y="4883912"/>
            <a:ext cx="329184" cy="329184"/>
          </a:xfrm>
          <a:prstGeom prst="ellipse">
            <a:avLst/>
          </a:prstGeom>
          <a:solidFill>
            <a:schemeClr val="tx2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63" name="Text 52"/>
          <p:cNvSpPr txBox="1"/>
          <p:nvPr/>
        </p:nvSpPr>
        <p:spPr>
          <a:xfrm>
            <a:off x="5120640" y="4883912"/>
            <a:ext cx="32918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chemeClr val="bg1"/>
                </a:solidFill>
              </a:rPr>
              <a:t>5</a:t>
            </a:r>
            <a:endParaRPr lang="en-US" sz="1200" dirty="0"/>
          </a:p>
        </p:txBody>
      </p:sp>
      <p:sp>
        <p:nvSpPr>
          <p:cNvPr id="64" name="Text 53"/>
          <p:cNvSpPr txBox="1"/>
          <p:nvPr/>
        </p:nvSpPr>
        <p:spPr>
          <a:xfrm>
            <a:off x="5532120" y="4838192"/>
            <a:ext cx="6108192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500" b="1" i="1" dirty="0">
                <a:solidFill>
                  <a:schemeClr val="tx1"/>
                </a:solidFill>
              </a:rPr>
              <a:t>Met wie luncht hij vrijdag?</a:t>
            </a:r>
            <a:endParaRPr lang="en-US" sz="1500" dirty="0"/>
          </a:p>
        </p:txBody>
      </p:sp>
      <p:sp>
        <p:nvSpPr>
          <p:cNvPr id="65" name="Shape 54"/>
          <p:cNvSpPr/>
          <p:nvPr/>
        </p:nvSpPr>
        <p:spPr>
          <a:xfrm>
            <a:off x="5532120" y="5176520"/>
            <a:ext cx="6108192" cy="333248"/>
          </a:xfrm>
          <a:prstGeom prst="roundRect">
            <a:avLst>
              <a:gd name="adj" fmla="val 21951"/>
            </a:avLst>
          </a:prstGeom>
          <a:solidFill>
            <a:srgbClr val="EDF6F0"/>
          </a:solidFill>
          <a:ln w="12700">
            <a:solidFill>
              <a:srgbClr val="2E7D4F"/>
            </a:solidFill>
            <a:prstDash val="solid"/>
          </a:ln>
        </p:spPr>
      </p:sp>
      <p:sp>
        <p:nvSpPr>
          <p:cNvPr id="66" name="Text 55"/>
          <p:cNvSpPr txBox="1"/>
          <p:nvPr/>
        </p:nvSpPr>
        <p:spPr>
          <a:xfrm>
            <a:off x="5623560" y="5176520"/>
            <a:ext cx="5943600" cy="333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500" b="1" i="1" dirty="0">
                <a:solidFill>
                  <a:schemeClr val="accent3"/>
                </a:solidFill>
              </a:rPr>
              <a:t>Vrijdag luncht hij met Sofie.</a:t>
            </a:r>
            <a:endParaRPr lang="en-US" sz="1500" dirty="0"/>
          </a:p>
        </p:txBody>
      </p:sp>
      <p:sp>
        <p:nvSpPr>
          <p:cNvPr id="67" name="Shape 56"/>
          <p:cNvSpPr/>
          <p:nvPr/>
        </p:nvSpPr>
        <p:spPr>
          <a:xfrm>
            <a:off x="5120640" y="5610352"/>
            <a:ext cx="329184" cy="329184"/>
          </a:xfrm>
          <a:prstGeom prst="ellipse">
            <a:avLst/>
          </a:prstGeom>
          <a:solidFill>
            <a:schemeClr val="tx2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68" name="Text 57"/>
          <p:cNvSpPr txBox="1"/>
          <p:nvPr/>
        </p:nvSpPr>
        <p:spPr>
          <a:xfrm>
            <a:off x="5120640" y="5610352"/>
            <a:ext cx="32918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chemeClr val="bg1"/>
                </a:solidFill>
              </a:rPr>
              <a:t>6</a:t>
            </a:r>
            <a:endParaRPr lang="en-US" sz="1200" dirty="0"/>
          </a:p>
        </p:txBody>
      </p:sp>
      <p:sp>
        <p:nvSpPr>
          <p:cNvPr id="69" name="Text 58"/>
          <p:cNvSpPr txBox="1"/>
          <p:nvPr/>
        </p:nvSpPr>
        <p:spPr>
          <a:xfrm>
            <a:off x="5532120" y="5564632"/>
            <a:ext cx="6108192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500" b="1" i="1" dirty="0">
                <a:solidFill>
                  <a:schemeClr val="tx1"/>
                </a:solidFill>
              </a:rPr>
              <a:t>Wat gebeurt er zaterdag?</a:t>
            </a:r>
            <a:endParaRPr lang="en-US" sz="1500" dirty="0"/>
          </a:p>
        </p:txBody>
      </p:sp>
      <p:sp>
        <p:nvSpPr>
          <p:cNvPr id="70" name="Shape 59"/>
          <p:cNvSpPr/>
          <p:nvPr/>
        </p:nvSpPr>
        <p:spPr>
          <a:xfrm>
            <a:off x="5532120" y="5902960"/>
            <a:ext cx="6108192" cy="333248"/>
          </a:xfrm>
          <a:prstGeom prst="roundRect">
            <a:avLst>
              <a:gd name="adj" fmla="val 21951"/>
            </a:avLst>
          </a:prstGeom>
          <a:solidFill>
            <a:srgbClr val="EDF6F0"/>
          </a:solidFill>
          <a:ln w="12700">
            <a:solidFill>
              <a:srgbClr val="2E7D4F"/>
            </a:solidFill>
            <a:prstDash val="solid"/>
          </a:ln>
        </p:spPr>
      </p:sp>
      <p:sp>
        <p:nvSpPr>
          <p:cNvPr id="71" name="Text 60"/>
          <p:cNvSpPr txBox="1"/>
          <p:nvPr/>
        </p:nvSpPr>
        <p:spPr>
          <a:xfrm>
            <a:off x="5623560" y="5902960"/>
            <a:ext cx="5943600" cy="333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500" b="1" i="1" dirty="0">
                <a:solidFill>
                  <a:schemeClr val="accent3"/>
                </a:solidFill>
              </a:rPr>
              <a:t>Zaterdag verhuist hij. / Zaterdag gaat hij verhuizen.</a:t>
            </a:r>
            <a:endParaRPr lang="en-US" sz="15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1672" y="644652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4A5A70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16</a:t>
            </a:fld>
            <a:endParaRPr lang="en-US"/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548640" y="621792"/>
            <a:ext cx="11091672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chemeClr val="tx2"/>
                </a:solidFill>
              </a:rPr>
              <a:t>Exercice 2 — Qu’est-ce qui va se passer ?</a:t>
            </a:r>
            <a:endParaRPr lang="en-US" sz="3000" dirty="0"/>
          </a:p>
        </p:txBody>
      </p:sp>
      <p:sp>
        <p:nvSpPr>
          <p:cNvPr id="3" name="tag"/>
          <p:cNvSpPr/>
          <p:nvPr/>
        </p:nvSpPr>
        <p:spPr>
          <a:xfrm>
            <a:off x="548640" y="237744"/>
            <a:ext cx="1228954" cy="310896"/>
          </a:xfrm>
          <a:prstGeom prst="roundRect">
            <a:avLst>
              <a:gd name="adj" fmla="val 14706"/>
            </a:avLst>
          </a:prstGeom>
          <a:solidFill>
            <a:schemeClr val="accent1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spc="100" kern="0" dirty="0">
                <a:solidFill>
                  <a:srgbClr val="FFFFFF"/>
                </a:solidFill>
              </a:rPr>
              <a:t>JIJ NU !</a:t>
            </a:r>
            <a:endParaRPr lang="en-US" sz="1200" dirty="0"/>
          </a:p>
        </p:txBody>
      </p:sp>
      <p:sp>
        <p:nvSpPr>
          <p:cNvPr id="4" name="Text 2"/>
          <p:cNvSpPr txBox="1"/>
          <p:nvPr/>
        </p:nvSpPr>
        <p:spPr>
          <a:xfrm>
            <a:off x="10177272" y="219456"/>
            <a:ext cx="146304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600" b="1" dirty="0">
                <a:solidFill>
                  <a:schemeClr val="accent1"/>
                </a:solidFill>
              </a:rPr>
              <a:t>★</a:t>
            </a:r>
            <a:endParaRPr lang="en-US" sz="1600" dirty="0"/>
          </a:p>
        </p:txBody>
      </p:sp>
      <p:pic>
        <p:nvPicPr>
          <p:cNvPr id="6" name="Image 0" descr="HandPointRight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48640" y="1517904"/>
            <a:ext cx="274320" cy="274320"/>
          </a:xfrm>
          <a:prstGeom prst="rect">
            <a:avLst/>
          </a:prstGeom>
        </p:spPr>
      </p:pic>
      <p:sp>
        <p:nvSpPr>
          <p:cNvPr id="7" name="Text 3"/>
          <p:cNvSpPr txBox="1"/>
          <p:nvPr/>
        </p:nvSpPr>
        <p:spPr>
          <a:xfrm>
            <a:off x="960120" y="1481328"/>
            <a:ext cx="10680192" cy="3139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700" i="1" dirty="0">
                <a:solidFill>
                  <a:schemeClr val="accent5"/>
                </a:solidFill>
              </a:rPr>
              <a:t>Regardez l’image : que va-t-il se passer ? Utilisez gaan + infinitif.</a:t>
            </a:r>
            <a:endParaRPr lang="en-US" sz="1700" dirty="0"/>
          </a:p>
        </p:txBody>
      </p:sp>
      <p:sp>
        <p:nvSpPr>
          <p:cNvPr id="8" name="Shape 4"/>
          <p:cNvSpPr/>
          <p:nvPr/>
        </p:nvSpPr>
        <p:spPr>
          <a:xfrm>
            <a:off x="548640" y="1932432"/>
            <a:ext cx="3544824" cy="2087880"/>
          </a:xfrm>
          <a:prstGeom prst="roundRect">
            <a:avLst>
              <a:gd name="adj" fmla="val 3504"/>
            </a:avLst>
          </a:prstGeom>
          <a:solidFill>
            <a:schemeClr val="bg1"/>
          </a:solidFill>
          <a:ln w="12700">
            <a:solidFill>
              <a:srgbClr val="D5DCE6"/>
            </a:solidFill>
            <a:prstDash val="solid"/>
          </a:ln>
          <a:effectLst>
            <a:outerShdw sx="100000" sy="100000" kx="0" ky="0" algn="bl" rotWithShape="0" blurRad="101600" dist="25400" dir="3600000">
              <a:srgbClr val="000000">
                <a:alpha val="16000"/>
              </a:srgbClr>
            </a:outerShdw>
          </a:effectLst>
        </p:spPr>
      </p:sp>
      <p:sp>
        <p:nvSpPr>
          <p:cNvPr id="9" name="Shape 5"/>
          <p:cNvSpPr/>
          <p:nvPr/>
        </p:nvSpPr>
        <p:spPr>
          <a:xfrm>
            <a:off x="658368" y="2042160"/>
            <a:ext cx="365760" cy="365760"/>
          </a:xfrm>
          <a:prstGeom prst="ellipse">
            <a:avLst/>
          </a:prstGeom>
          <a:solidFill>
            <a:schemeClr val="tx2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10" name="Text 6"/>
          <p:cNvSpPr txBox="1"/>
          <p:nvPr/>
        </p:nvSpPr>
        <p:spPr>
          <a:xfrm>
            <a:off x="658368" y="2042160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chemeClr val="bg1"/>
                </a:solidFill>
              </a:rPr>
              <a:t>1</a:t>
            </a:r>
            <a:endParaRPr lang="en-US" sz="1300" dirty="0"/>
          </a:p>
        </p:txBody>
      </p:sp>
      <p:pic>
        <p:nvPicPr>
          <p:cNvPr id="11" name="Image 1" descr="cloud with rain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772412" y="2069592"/>
            <a:ext cx="1097280" cy="1097280"/>
          </a:xfrm>
          <a:prstGeom prst="rect">
            <a:avLst/>
          </a:prstGeom>
        </p:spPr>
      </p:pic>
      <p:sp>
        <p:nvSpPr>
          <p:cNvPr id="12" name="Text 7"/>
          <p:cNvSpPr txBox="1"/>
          <p:nvPr/>
        </p:nvSpPr>
        <p:spPr>
          <a:xfrm>
            <a:off x="685800" y="3166872"/>
            <a:ext cx="3270504" cy="487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00" i="1" dirty="0">
                <a:solidFill>
                  <a:schemeClr val="tx1"/>
                </a:solidFill>
              </a:rPr>
              <a:t>Het </a:t>
            </a:r>
            <a:r>
              <a:rPr lang="en-US" sz="1700" i="1" dirty="0">
                <a:solidFill>
                  <a:schemeClr val="accent5"/>
                </a:solidFill>
              </a:rPr>
              <a:t>…………………</a:t>
            </a:r>
            <a:r>
              <a:rPr lang="en-US" sz="1700" i="1" dirty="0">
                <a:solidFill>
                  <a:schemeClr val="tx1"/>
                </a:solidFill>
              </a:rPr>
              <a:t>.</a:t>
            </a:r>
            <a:endParaRPr lang="en-US" sz="1700" dirty="0"/>
          </a:p>
        </p:txBody>
      </p:sp>
      <p:sp>
        <p:nvSpPr>
          <p:cNvPr id="13" name="Text 8"/>
          <p:cNvSpPr txBox="1"/>
          <p:nvPr/>
        </p:nvSpPr>
        <p:spPr>
          <a:xfrm>
            <a:off x="685800" y="3672840"/>
            <a:ext cx="3270504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300" i="1" dirty="0">
                <a:solidFill>
                  <a:schemeClr val="accent5"/>
                </a:solidFill>
              </a:rPr>
              <a:t>(regenen)</a:t>
            </a:r>
            <a:endParaRPr lang="en-US" sz="1300" dirty="0"/>
          </a:p>
        </p:txBody>
      </p:sp>
      <p:sp>
        <p:nvSpPr>
          <p:cNvPr id="14" name="Shape 9"/>
          <p:cNvSpPr/>
          <p:nvPr/>
        </p:nvSpPr>
        <p:spPr>
          <a:xfrm>
            <a:off x="4322064" y="1932432"/>
            <a:ext cx="3544824" cy="2087880"/>
          </a:xfrm>
          <a:prstGeom prst="roundRect">
            <a:avLst>
              <a:gd name="adj" fmla="val 3504"/>
            </a:avLst>
          </a:prstGeom>
          <a:solidFill>
            <a:schemeClr val="bg1"/>
          </a:solidFill>
          <a:ln w="12700">
            <a:solidFill>
              <a:srgbClr val="D5DCE6"/>
            </a:solidFill>
            <a:prstDash val="solid"/>
          </a:ln>
          <a:effectLst>
            <a:outerShdw sx="100000" sy="100000" kx="0" ky="0" algn="bl" rotWithShape="0" blurRad="101600" dist="25400" dir="3600000">
              <a:srgbClr val="000000">
                <a:alpha val="16000"/>
              </a:srgbClr>
            </a:outerShdw>
          </a:effectLst>
        </p:spPr>
      </p:sp>
      <p:sp>
        <p:nvSpPr>
          <p:cNvPr id="15" name="Shape 10"/>
          <p:cNvSpPr/>
          <p:nvPr/>
        </p:nvSpPr>
        <p:spPr>
          <a:xfrm>
            <a:off x="4431792" y="2042160"/>
            <a:ext cx="365760" cy="365760"/>
          </a:xfrm>
          <a:prstGeom prst="ellipse">
            <a:avLst/>
          </a:prstGeom>
          <a:solidFill>
            <a:schemeClr val="tx2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16" name="Text 11"/>
          <p:cNvSpPr txBox="1"/>
          <p:nvPr/>
        </p:nvSpPr>
        <p:spPr>
          <a:xfrm>
            <a:off x="4431792" y="2042160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chemeClr val="bg1"/>
                </a:solidFill>
              </a:rPr>
              <a:t>2</a:t>
            </a:r>
            <a:endParaRPr lang="en-US" sz="1300" dirty="0"/>
          </a:p>
        </p:txBody>
      </p:sp>
      <p:pic>
        <p:nvPicPr>
          <p:cNvPr id="17" name="Image 2" descr="yawning face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545836" y="2069592"/>
            <a:ext cx="1097280" cy="1097280"/>
          </a:xfrm>
          <a:prstGeom prst="rect">
            <a:avLst/>
          </a:prstGeom>
        </p:spPr>
      </p:pic>
      <p:sp>
        <p:nvSpPr>
          <p:cNvPr id="18" name="Text 12"/>
          <p:cNvSpPr txBox="1"/>
          <p:nvPr/>
        </p:nvSpPr>
        <p:spPr>
          <a:xfrm>
            <a:off x="4459224" y="3166872"/>
            <a:ext cx="3270504" cy="487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00" i="1" dirty="0">
                <a:solidFill>
                  <a:schemeClr val="tx1"/>
                </a:solidFill>
              </a:rPr>
              <a:t>Hij </a:t>
            </a:r>
            <a:r>
              <a:rPr lang="en-US" sz="1700" i="1" dirty="0">
                <a:solidFill>
                  <a:schemeClr val="accent5"/>
                </a:solidFill>
              </a:rPr>
              <a:t>…………………</a:t>
            </a:r>
            <a:r>
              <a:rPr lang="en-US" sz="1700" i="1" dirty="0">
                <a:solidFill>
                  <a:schemeClr val="tx1"/>
                </a:solidFill>
              </a:rPr>
              <a:t>.</a:t>
            </a:r>
            <a:endParaRPr lang="en-US" sz="1700" dirty="0"/>
          </a:p>
        </p:txBody>
      </p:sp>
      <p:sp>
        <p:nvSpPr>
          <p:cNvPr id="19" name="Text 13"/>
          <p:cNvSpPr txBox="1"/>
          <p:nvPr/>
        </p:nvSpPr>
        <p:spPr>
          <a:xfrm>
            <a:off x="4459224" y="3672840"/>
            <a:ext cx="3270504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300" i="1" dirty="0">
                <a:solidFill>
                  <a:schemeClr val="accent5"/>
                </a:solidFill>
              </a:rPr>
              <a:t>(slapen)</a:t>
            </a:r>
            <a:endParaRPr lang="en-US" sz="1300" dirty="0"/>
          </a:p>
        </p:txBody>
      </p:sp>
      <p:sp>
        <p:nvSpPr>
          <p:cNvPr id="20" name="Shape 14"/>
          <p:cNvSpPr/>
          <p:nvPr/>
        </p:nvSpPr>
        <p:spPr>
          <a:xfrm>
            <a:off x="8095488" y="1932432"/>
            <a:ext cx="3544824" cy="2087880"/>
          </a:xfrm>
          <a:prstGeom prst="roundRect">
            <a:avLst>
              <a:gd name="adj" fmla="val 3504"/>
            </a:avLst>
          </a:prstGeom>
          <a:solidFill>
            <a:schemeClr val="bg1"/>
          </a:solidFill>
          <a:ln w="12700">
            <a:solidFill>
              <a:srgbClr val="D5DCE6"/>
            </a:solidFill>
            <a:prstDash val="solid"/>
          </a:ln>
          <a:effectLst>
            <a:outerShdw sx="100000" sy="100000" kx="0" ky="0" algn="bl" rotWithShape="0" blurRad="101600" dist="25400" dir="3600000">
              <a:srgbClr val="000000">
                <a:alpha val="16000"/>
              </a:srgbClr>
            </a:outerShdw>
          </a:effectLst>
        </p:spPr>
      </p:sp>
      <p:sp>
        <p:nvSpPr>
          <p:cNvPr id="21" name="Shape 15"/>
          <p:cNvSpPr/>
          <p:nvPr/>
        </p:nvSpPr>
        <p:spPr>
          <a:xfrm>
            <a:off x="8205216" y="2042160"/>
            <a:ext cx="365760" cy="365760"/>
          </a:xfrm>
          <a:prstGeom prst="ellipse">
            <a:avLst/>
          </a:prstGeom>
          <a:solidFill>
            <a:schemeClr val="tx2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22" name="Text 16"/>
          <p:cNvSpPr txBox="1"/>
          <p:nvPr/>
        </p:nvSpPr>
        <p:spPr>
          <a:xfrm>
            <a:off x="8205216" y="2042160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chemeClr val="bg1"/>
                </a:solidFill>
              </a:rPr>
              <a:t>3</a:t>
            </a:r>
            <a:endParaRPr lang="en-US" sz="1300" dirty="0"/>
          </a:p>
        </p:txBody>
      </p:sp>
      <p:pic>
        <p:nvPicPr>
          <p:cNvPr id="23" name="Image 3" descr="bus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9319260" y="2069592"/>
            <a:ext cx="1097280" cy="1097280"/>
          </a:xfrm>
          <a:prstGeom prst="rect">
            <a:avLst/>
          </a:prstGeom>
        </p:spPr>
      </p:pic>
      <p:sp>
        <p:nvSpPr>
          <p:cNvPr id="24" name="Text 17"/>
          <p:cNvSpPr txBox="1"/>
          <p:nvPr/>
        </p:nvSpPr>
        <p:spPr>
          <a:xfrm>
            <a:off x="8232648" y="3166872"/>
            <a:ext cx="3270504" cy="487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00" i="1" dirty="0">
                <a:solidFill>
                  <a:schemeClr val="tx1"/>
                </a:solidFill>
              </a:rPr>
              <a:t>Hij </a:t>
            </a:r>
            <a:r>
              <a:rPr lang="en-US" sz="1700" i="1" dirty="0">
                <a:solidFill>
                  <a:schemeClr val="accent5"/>
                </a:solidFill>
              </a:rPr>
              <a:t>…………</a:t>
            </a:r>
            <a:r>
              <a:rPr lang="en-US" sz="1700" i="1" dirty="0">
                <a:solidFill>
                  <a:schemeClr val="tx1"/>
                </a:solidFill>
              </a:rPr>
              <a:t> de bus </a:t>
            </a:r>
            <a:r>
              <a:rPr lang="en-US" sz="1700" i="1" dirty="0">
                <a:solidFill>
                  <a:schemeClr val="accent5"/>
                </a:solidFill>
              </a:rPr>
              <a:t>…………</a:t>
            </a:r>
            <a:r>
              <a:rPr lang="en-US" sz="1700" i="1" dirty="0">
                <a:solidFill>
                  <a:schemeClr val="tx1"/>
                </a:solidFill>
              </a:rPr>
              <a:t>.</a:t>
            </a:r>
            <a:endParaRPr lang="en-US" sz="1700" dirty="0"/>
          </a:p>
        </p:txBody>
      </p:sp>
      <p:sp>
        <p:nvSpPr>
          <p:cNvPr id="25" name="Text 18"/>
          <p:cNvSpPr txBox="1"/>
          <p:nvPr/>
        </p:nvSpPr>
        <p:spPr>
          <a:xfrm>
            <a:off x="8232648" y="3672840"/>
            <a:ext cx="3270504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300" i="1" dirty="0">
                <a:solidFill>
                  <a:schemeClr val="accent5"/>
                </a:solidFill>
              </a:rPr>
              <a:t>(missen)</a:t>
            </a:r>
            <a:endParaRPr lang="en-US" sz="1300" dirty="0"/>
          </a:p>
        </p:txBody>
      </p:sp>
      <p:sp>
        <p:nvSpPr>
          <p:cNvPr id="26" name="Shape 19"/>
          <p:cNvSpPr/>
          <p:nvPr/>
        </p:nvSpPr>
        <p:spPr>
          <a:xfrm>
            <a:off x="548640" y="4203192"/>
            <a:ext cx="3544824" cy="2087880"/>
          </a:xfrm>
          <a:prstGeom prst="roundRect">
            <a:avLst>
              <a:gd name="adj" fmla="val 3504"/>
            </a:avLst>
          </a:prstGeom>
          <a:solidFill>
            <a:schemeClr val="bg1"/>
          </a:solidFill>
          <a:ln w="12700">
            <a:solidFill>
              <a:srgbClr val="D5DCE6"/>
            </a:solidFill>
            <a:prstDash val="solid"/>
          </a:ln>
          <a:effectLst>
            <a:outerShdw sx="100000" sy="100000" kx="0" ky="0" algn="bl" rotWithShape="0" blurRad="101600" dist="25400" dir="3600000">
              <a:srgbClr val="000000">
                <a:alpha val="16000"/>
              </a:srgbClr>
            </a:outerShdw>
          </a:effectLst>
        </p:spPr>
      </p:sp>
      <p:sp>
        <p:nvSpPr>
          <p:cNvPr id="27" name="Shape 20"/>
          <p:cNvSpPr/>
          <p:nvPr/>
        </p:nvSpPr>
        <p:spPr>
          <a:xfrm>
            <a:off x="658368" y="4312920"/>
            <a:ext cx="365760" cy="365760"/>
          </a:xfrm>
          <a:prstGeom prst="ellipse">
            <a:avLst/>
          </a:prstGeom>
          <a:solidFill>
            <a:schemeClr val="tx2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28" name="Text 21"/>
          <p:cNvSpPr txBox="1"/>
          <p:nvPr/>
        </p:nvSpPr>
        <p:spPr>
          <a:xfrm>
            <a:off x="658368" y="4312920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chemeClr val="bg1"/>
                </a:solidFill>
              </a:rPr>
              <a:t>4</a:t>
            </a:r>
            <a:endParaRPr lang="en-US" sz="1300" dirty="0"/>
          </a:p>
        </p:txBody>
      </p:sp>
      <p:pic>
        <p:nvPicPr>
          <p:cNvPr id="29" name="Image 4" descr="man cook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772412" y="4340352"/>
            <a:ext cx="1097280" cy="1097280"/>
          </a:xfrm>
          <a:prstGeom prst="rect">
            <a:avLst/>
          </a:prstGeom>
        </p:spPr>
      </p:pic>
      <p:sp>
        <p:nvSpPr>
          <p:cNvPr id="30" name="Text 22"/>
          <p:cNvSpPr txBox="1"/>
          <p:nvPr/>
        </p:nvSpPr>
        <p:spPr>
          <a:xfrm>
            <a:off x="685800" y="5437632"/>
            <a:ext cx="3270504" cy="487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00" i="1" dirty="0">
                <a:solidFill>
                  <a:schemeClr val="tx1"/>
                </a:solidFill>
              </a:rPr>
              <a:t>We </a:t>
            </a:r>
            <a:r>
              <a:rPr lang="en-US" sz="1700" i="1" dirty="0">
                <a:solidFill>
                  <a:schemeClr val="accent5"/>
                </a:solidFill>
              </a:rPr>
              <a:t>……………</a:t>
            </a:r>
            <a:r>
              <a:rPr lang="en-US" sz="1700" i="1" dirty="0">
                <a:solidFill>
                  <a:schemeClr val="tx1"/>
                </a:solidFill>
              </a:rPr>
              <a:t>.</a:t>
            </a:r>
            <a:endParaRPr lang="en-US" sz="1700" dirty="0"/>
          </a:p>
        </p:txBody>
      </p:sp>
      <p:sp>
        <p:nvSpPr>
          <p:cNvPr id="31" name="Text 23"/>
          <p:cNvSpPr txBox="1"/>
          <p:nvPr/>
        </p:nvSpPr>
        <p:spPr>
          <a:xfrm>
            <a:off x="685800" y="5943600"/>
            <a:ext cx="3270504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300" i="1" dirty="0">
                <a:solidFill>
                  <a:schemeClr val="accent5"/>
                </a:solidFill>
              </a:rPr>
              <a:t>(eten)</a:t>
            </a:r>
            <a:endParaRPr lang="en-US" sz="1300" dirty="0"/>
          </a:p>
        </p:txBody>
      </p:sp>
      <p:sp>
        <p:nvSpPr>
          <p:cNvPr id="32" name="Shape 24"/>
          <p:cNvSpPr/>
          <p:nvPr/>
        </p:nvSpPr>
        <p:spPr>
          <a:xfrm>
            <a:off x="4322064" y="4203192"/>
            <a:ext cx="3544824" cy="2087880"/>
          </a:xfrm>
          <a:prstGeom prst="roundRect">
            <a:avLst>
              <a:gd name="adj" fmla="val 3504"/>
            </a:avLst>
          </a:prstGeom>
          <a:solidFill>
            <a:schemeClr val="bg1"/>
          </a:solidFill>
          <a:ln w="12700">
            <a:solidFill>
              <a:srgbClr val="D5DCE6"/>
            </a:solidFill>
            <a:prstDash val="solid"/>
          </a:ln>
          <a:effectLst>
            <a:outerShdw sx="100000" sy="100000" kx="0" ky="0" algn="bl" rotWithShape="0" blurRad="101600" dist="25400" dir="3600000">
              <a:srgbClr val="000000">
                <a:alpha val="16000"/>
              </a:srgbClr>
            </a:outerShdw>
          </a:effectLst>
        </p:spPr>
      </p:sp>
      <p:sp>
        <p:nvSpPr>
          <p:cNvPr id="33" name="Shape 25"/>
          <p:cNvSpPr/>
          <p:nvPr/>
        </p:nvSpPr>
        <p:spPr>
          <a:xfrm>
            <a:off x="4431792" y="4312920"/>
            <a:ext cx="365760" cy="365760"/>
          </a:xfrm>
          <a:prstGeom prst="ellipse">
            <a:avLst/>
          </a:prstGeom>
          <a:solidFill>
            <a:schemeClr val="tx2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34" name="Text 26"/>
          <p:cNvSpPr txBox="1"/>
          <p:nvPr/>
        </p:nvSpPr>
        <p:spPr>
          <a:xfrm>
            <a:off x="4431792" y="4312920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chemeClr val="bg1"/>
                </a:solidFill>
              </a:rPr>
              <a:t>5</a:t>
            </a:r>
            <a:endParaRPr lang="en-US" sz="1300" dirty="0"/>
          </a:p>
        </p:txBody>
      </p:sp>
      <p:pic>
        <p:nvPicPr>
          <p:cNvPr id="35" name="Image 5" descr="airplane departure">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5545836" y="4340352"/>
            <a:ext cx="1097280" cy="1097280"/>
          </a:xfrm>
          <a:prstGeom prst="rect">
            <a:avLst/>
          </a:prstGeom>
        </p:spPr>
      </p:pic>
      <p:sp>
        <p:nvSpPr>
          <p:cNvPr id="36" name="Text 27"/>
          <p:cNvSpPr txBox="1"/>
          <p:nvPr/>
        </p:nvSpPr>
        <p:spPr>
          <a:xfrm>
            <a:off x="4459224" y="5437632"/>
            <a:ext cx="3270504" cy="487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00" i="1" dirty="0">
                <a:solidFill>
                  <a:schemeClr val="tx1"/>
                </a:solidFill>
              </a:rPr>
              <a:t>Het vliegtuig </a:t>
            </a:r>
            <a:r>
              <a:rPr lang="en-US" sz="1700" i="1" dirty="0">
                <a:solidFill>
                  <a:schemeClr val="accent5"/>
                </a:solidFill>
              </a:rPr>
              <a:t>………………………</a:t>
            </a:r>
            <a:r>
              <a:rPr lang="en-US" sz="1700" i="1" dirty="0">
                <a:solidFill>
                  <a:schemeClr val="tx1"/>
                </a:solidFill>
              </a:rPr>
              <a:t>.</a:t>
            </a:r>
            <a:endParaRPr lang="en-US" sz="1700" dirty="0"/>
          </a:p>
        </p:txBody>
      </p:sp>
      <p:sp>
        <p:nvSpPr>
          <p:cNvPr id="37" name="Text 28"/>
          <p:cNvSpPr txBox="1"/>
          <p:nvPr/>
        </p:nvSpPr>
        <p:spPr>
          <a:xfrm>
            <a:off x="4459224" y="5943600"/>
            <a:ext cx="3270504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300" i="1" dirty="0">
                <a:solidFill>
                  <a:schemeClr val="accent5"/>
                </a:solidFill>
              </a:rPr>
              <a:t>(vertrekken)</a:t>
            </a:r>
            <a:endParaRPr lang="en-US" sz="1300" dirty="0"/>
          </a:p>
        </p:txBody>
      </p:sp>
      <p:sp>
        <p:nvSpPr>
          <p:cNvPr id="38" name="Shape 29"/>
          <p:cNvSpPr/>
          <p:nvPr/>
        </p:nvSpPr>
        <p:spPr>
          <a:xfrm>
            <a:off x="8095488" y="4203192"/>
            <a:ext cx="3544824" cy="2087880"/>
          </a:xfrm>
          <a:prstGeom prst="roundRect">
            <a:avLst>
              <a:gd name="adj" fmla="val 3504"/>
            </a:avLst>
          </a:prstGeom>
          <a:solidFill>
            <a:schemeClr val="bg1"/>
          </a:solidFill>
          <a:ln w="12700">
            <a:solidFill>
              <a:srgbClr val="D5DCE6"/>
            </a:solidFill>
            <a:prstDash val="solid"/>
          </a:ln>
          <a:effectLst>
            <a:outerShdw sx="100000" sy="100000" kx="0" ky="0" algn="bl" rotWithShape="0" blurRad="101600" dist="25400" dir="3600000">
              <a:srgbClr val="000000">
                <a:alpha val="16000"/>
              </a:srgbClr>
            </a:outerShdw>
          </a:effectLst>
        </p:spPr>
      </p:sp>
      <p:sp>
        <p:nvSpPr>
          <p:cNvPr id="39" name="Shape 30"/>
          <p:cNvSpPr/>
          <p:nvPr/>
        </p:nvSpPr>
        <p:spPr>
          <a:xfrm>
            <a:off x="8205216" y="4312920"/>
            <a:ext cx="365760" cy="365760"/>
          </a:xfrm>
          <a:prstGeom prst="ellipse">
            <a:avLst/>
          </a:prstGeom>
          <a:solidFill>
            <a:schemeClr val="tx2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40" name="Text 31"/>
          <p:cNvSpPr txBox="1"/>
          <p:nvPr/>
        </p:nvSpPr>
        <p:spPr>
          <a:xfrm>
            <a:off x="8205216" y="4312920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chemeClr val="bg1"/>
                </a:solidFill>
              </a:rPr>
              <a:t>6</a:t>
            </a:r>
            <a:endParaRPr lang="en-US" sz="1300" dirty="0"/>
          </a:p>
        </p:txBody>
      </p:sp>
      <p:pic>
        <p:nvPicPr>
          <p:cNvPr id="41" name="Image 6" descr="pregnant woman">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9319260" y="4340352"/>
            <a:ext cx="1097280" cy="1097280"/>
          </a:xfrm>
          <a:prstGeom prst="rect">
            <a:avLst/>
          </a:prstGeom>
        </p:spPr>
      </p:pic>
      <p:sp>
        <p:nvSpPr>
          <p:cNvPr id="42" name="Text 32"/>
          <p:cNvSpPr txBox="1"/>
          <p:nvPr/>
        </p:nvSpPr>
        <p:spPr>
          <a:xfrm>
            <a:off x="8232648" y="5437632"/>
            <a:ext cx="3270504" cy="487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00" i="1" dirty="0">
                <a:solidFill>
                  <a:schemeClr val="tx1"/>
                </a:solidFill>
              </a:rPr>
              <a:t>Ze </a:t>
            </a:r>
            <a:r>
              <a:rPr lang="en-US" sz="1700" i="1" dirty="0">
                <a:solidFill>
                  <a:schemeClr val="accent5"/>
                </a:solidFill>
              </a:rPr>
              <a:t>…………</a:t>
            </a:r>
            <a:r>
              <a:rPr lang="en-US" sz="1700" i="1" dirty="0">
                <a:solidFill>
                  <a:schemeClr val="tx1"/>
                </a:solidFill>
              </a:rPr>
              <a:t> een baby </a:t>
            </a:r>
            <a:r>
              <a:rPr lang="en-US" sz="1700" i="1" dirty="0">
                <a:solidFill>
                  <a:schemeClr val="accent5"/>
                </a:solidFill>
              </a:rPr>
              <a:t>…………</a:t>
            </a:r>
            <a:r>
              <a:rPr lang="en-US" sz="1700" i="1" dirty="0">
                <a:solidFill>
                  <a:schemeClr val="tx1"/>
                </a:solidFill>
              </a:rPr>
              <a:t>.</a:t>
            </a:r>
            <a:endParaRPr lang="en-US" sz="1700" dirty="0"/>
          </a:p>
        </p:txBody>
      </p:sp>
      <p:sp>
        <p:nvSpPr>
          <p:cNvPr id="43" name="Text 33"/>
          <p:cNvSpPr txBox="1"/>
          <p:nvPr/>
        </p:nvSpPr>
        <p:spPr>
          <a:xfrm>
            <a:off x="8232648" y="5943600"/>
            <a:ext cx="3270504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300" i="1" dirty="0">
                <a:solidFill>
                  <a:schemeClr val="accent5"/>
                </a:solidFill>
              </a:rPr>
              <a:t>(krijgen)</a:t>
            </a:r>
            <a:endParaRPr lang="en-US" sz="13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1672" y="644652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4A5A70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17</a:t>
            </a:fld>
            <a:endParaRPr lang="en-US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548640" y="621792"/>
            <a:ext cx="11091672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chemeClr val="tx2"/>
                </a:solidFill>
              </a:rPr>
              <a:t>Exercice 2 — Qu’est-ce qui va se passer ?</a:t>
            </a:r>
            <a:endParaRPr lang="en-US" sz="3000" dirty="0"/>
          </a:p>
        </p:txBody>
      </p:sp>
      <p:sp>
        <p:nvSpPr>
          <p:cNvPr id="3" name="tag"/>
          <p:cNvSpPr/>
          <p:nvPr/>
        </p:nvSpPr>
        <p:spPr>
          <a:xfrm>
            <a:off x="548640" y="237744"/>
            <a:ext cx="1228954" cy="310896"/>
          </a:xfrm>
          <a:prstGeom prst="roundRect">
            <a:avLst>
              <a:gd name="adj" fmla="val 14706"/>
            </a:avLst>
          </a:prstGeom>
          <a:solidFill>
            <a:schemeClr val="accent1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spc="100" kern="0" dirty="0">
                <a:solidFill>
                  <a:srgbClr val="FFFFFF"/>
                </a:solidFill>
              </a:rPr>
              <a:t>JIJ NU !</a:t>
            </a:r>
            <a:endParaRPr lang="en-US" sz="1200" dirty="0"/>
          </a:p>
        </p:txBody>
      </p:sp>
      <p:sp>
        <p:nvSpPr>
          <p:cNvPr id="4" name="tag"/>
          <p:cNvSpPr/>
          <p:nvPr/>
        </p:nvSpPr>
        <p:spPr>
          <a:xfrm>
            <a:off x="1887322" y="237744"/>
            <a:ext cx="1662379" cy="310896"/>
          </a:xfrm>
          <a:prstGeom prst="roundRect">
            <a:avLst>
              <a:gd name="adj" fmla="val 14706"/>
            </a:avLst>
          </a:prstGeom>
          <a:solidFill>
            <a:schemeClr val="accent3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spc="100" kern="0" dirty="0">
                <a:solidFill>
                  <a:srgbClr val="FFFFFF"/>
                </a:solidFill>
              </a:rPr>
              <a:t>✓ CORRECTIE</a:t>
            </a:r>
            <a:endParaRPr lang="en-US" sz="1200" dirty="0"/>
          </a:p>
        </p:txBody>
      </p:sp>
      <p:sp>
        <p:nvSpPr>
          <p:cNvPr id="5" name="Text 3"/>
          <p:cNvSpPr txBox="1"/>
          <p:nvPr/>
        </p:nvSpPr>
        <p:spPr>
          <a:xfrm>
            <a:off x="10177272" y="219456"/>
            <a:ext cx="146304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600" b="1" dirty="0">
                <a:solidFill>
                  <a:schemeClr val="accent1"/>
                </a:solidFill>
              </a:rPr>
              <a:t>★</a:t>
            </a:r>
            <a:endParaRPr lang="en-US" sz="1600" dirty="0"/>
          </a:p>
        </p:txBody>
      </p:sp>
      <p:pic>
        <p:nvPicPr>
          <p:cNvPr id="7" name="Image 0" descr="HandPointRight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48640" y="1517904"/>
            <a:ext cx="274320" cy="274320"/>
          </a:xfrm>
          <a:prstGeom prst="rect">
            <a:avLst/>
          </a:prstGeom>
        </p:spPr>
      </p:pic>
      <p:sp>
        <p:nvSpPr>
          <p:cNvPr id="8" name="Text 4"/>
          <p:cNvSpPr txBox="1"/>
          <p:nvPr/>
        </p:nvSpPr>
        <p:spPr>
          <a:xfrm>
            <a:off x="960120" y="1481328"/>
            <a:ext cx="10680192" cy="3139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700" i="1" dirty="0">
                <a:solidFill>
                  <a:schemeClr val="accent5"/>
                </a:solidFill>
              </a:rPr>
              <a:t>Regardez l’image : que va-t-il se passer ? Utilisez gaan + infinitif.</a:t>
            </a:r>
            <a:endParaRPr lang="en-US" sz="1700" dirty="0"/>
          </a:p>
        </p:txBody>
      </p:sp>
      <p:sp>
        <p:nvSpPr>
          <p:cNvPr id="9" name="Shape 5"/>
          <p:cNvSpPr/>
          <p:nvPr/>
        </p:nvSpPr>
        <p:spPr>
          <a:xfrm>
            <a:off x="548640" y="1932432"/>
            <a:ext cx="3544824" cy="2087880"/>
          </a:xfrm>
          <a:prstGeom prst="roundRect">
            <a:avLst>
              <a:gd name="adj" fmla="val 3504"/>
            </a:avLst>
          </a:prstGeom>
          <a:solidFill>
            <a:schemeClr val="bg1"/>
          </a:solidFill>
          <a:ln w="12700">
            <a:solidFill>
              <a:srgbClr val="D5DCE6"/>
            </a:solidFill>
            <a:prstDash val="solid"/>
          </a:ln>
          <a:effectLst>
            <a:outerShdw sx="100000" sy="100000" kx="0" ky="0" algn="bl" rotWithShape="0" blurRad="101600" dist="25400" dir="3600000">
              <a:srgbClr val="000000">
                <a:alpha val="16000"/>
              </a:srgbClr>
            </a:outerShdw>
          </a:effectLst>
        </p:spPr>
      </p:sp>
      <p:sp>
        <p:nvSpPr>
          <p:cNvPr id="10" name="Shape 6"/>
          <p:cNvSpPr/>
          <p:nvPr/>
        </p:nvSpPr>
        <p:spPr>
          <a:xfrm>
            <a:off x="658368" y="2042160"/>
            <a:ext cx="365760" cy="365760"/>
          </a:xfrm>
          <a:prstGeom prst="ellipse">
            <a:avLst/>
          </a:prstGeom>
          <a:solidFill>
            <a:schemeClr val="tx2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11" name="Text 7"/>
          <p:cNvSpPr txBox="1"/>
          <p:nvPr/>
        </p:nvSpPr>
        <p:spPr>
          <a:xfrm>
            <a:off x="658368" y="2042160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chemeClr val="bg1"/>
                </a:solidFill>
              </a:rPr>
              <a:t>1</a:t>
            </a:r>
            <a:endParaRPr lang="en-US" sz="1300" dirty="0"/>
          </a:p>
        </p:txBody>
      </p:sp>
      <p:pic>
        <p:nvPicPr>
          <p:cNvPr id="12" name="Image 1" descr="cloud with rain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772412" y="2069592"/>
            <a:ext cx="1097280" cy="1097280"/>
          </a:xfrm>
          <a:prstGeom prst="rect">
            <a:avLst/>
          </a:prstGeom>
        </p:spPr>
      </p:pic>
      <p:sp>
        <p:nvSpPr>
          <p:cNvPr id="13" name="Text 8"/>
          <p:cNvSpPr txBox="1"/>
          <p:nvPr/>
        </p:nvSpPr>
        <p:spPr>
          <a:xfrm>
            <a:off x="685800" y="3166872"/>
            <a:ext cx="3270504" cy="487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00" i="1" dirty="0">
                <a:solidFill>
                  <a:schemeClr val="tx1"/>
                </a:solidFill>
              </a:rPr>
              <a:t>Het </a:t>
            </a:r>
            <a:r>
              <a:rPr lang="en-US" sz="1700" b="1" i="1" dirty="0">
                <a:solidFill>
                  <a:schemeClr val="accent3"/>
                </a:solidFill>
              </a:rPr>
              <a:t>gaat regenen</a:t>
            </a:r>
            <a:r>
              <a:rPr lang="en-US" sz="1700" i="1" dirty="0">
                <a:solidFill>
                  <a:schemeClr val="tx1"/>
                </a:solidFill>
              </a:rPr>
              <a:t>.</a:t>
            </a:r>
            <a:endParaRPr lang="en-US" sz="1700" dirty="0"/>
          </a:p>
        </p:txBody>
      </p:sp>
      <p:sp>
        <p:nvSpPr>
          <p:cNvPr id="14" name="Text 9"/>
          <p:cNvSpPr txBox="1"/>
          <p:nvPr/>
        </p:nvSpPr>
        <p:spPr>
          <a:xfrm>
            <a:off x="685800" y="3672840"/>
            <a:ext cx="3270504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300" i="1" dirty="0">
                <a:solidFill>
                  <a:schemeClr val="accent5"/>
                </a:solidFill>
              </a:rPr>
              <a:t>(regenen)</a:t>
            </a:r>
            <a:endParaRPr lang="en-US" sz="1300" dirty="0"/>
          </a:p>
        </p:txBody>
      </p:sp>
      <p:sp>
        <p:nvSpPr>
          <p:cNvPr id="15" name="Shape 10"/>
          <p:cNvSpPr/>
          <p:nvPr/>
        </p:nvSpPr>
        <p:spPr>
          <a:xfrm>
            <a:off x="4322064" y="1932432"/>
            <a:ext cx="3544824" cy="2087880"/>
          </a:xfrm>
          <a:prstGeom prst="roundRect">
            <a:avLst>
              <a:gd name="adj" fmla="val 3504"/>
            </a:avLst>
          </a:prstGeom>
          <a:solidFill>
            <a:schemeClr val="bg1"/>
          </a:solidFill>
          <a:ln w="12700">
            <a:solidFill>
              <a:srgbClr val="D5DCE6"/>
            </a:solidFill>
            <a:prstDash val="solid"/>
          </a:ln>
          <a:effectLst>
            <a:outerShdw sx="100000" sy="100000" kx="0" ky="0" algn="bl" rotWithShape="0" blurRad="101600" dist="25400" dir="3600000">
              <a:srgbClr val="000000">
                <a:alpha val="16000"/>
              </a:srgbClr>
            </a:outerShdw>
          </a:effectLst>
        </p:spPr>
      </p:sp>
      <p:sp>
        <p:nvSpPr>
          <p:cNvPr id="16" name="Shape 11"/>
          <p:cNvSpPr/>
          <p:nvPr/>
        </p:nvSpPr>
        <p:spPr>
          <a:xfrm>
            <a:off x="4431792" y="2042160"/>
            <a:ext cx="365760" cy="365760"/>
          </a:xfrm>
          <a:prstGeom prst="ellipse">
            <a:avLst/>
          </a:prstGeom>
          <a:solidFill>
            <a:schemeClr val="tx2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17" name="Text 12"/>
          <p:cNvSpPr txBox="1"/>
          <p:nvPr/>
        </p:nvSpPr>
        <p:spPr>
          <a:xfrm>
            <a:off x="4431792" y="2042160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chemeClr val="bg1"/>
                </a:solidFill>
              </a:rPr>
              <a:t>2</a:t>
            </a:r>
            <a:endParaRPr lang="en-US" sz="1300" dirty="0"/>
          </a:p>
        </p:txBody>
      </p:sp>
      <p:pic>
        <p:nvPicPr>
          <p:cNvPr id="18" name="Image 2" descr="yawning face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545836" y="2069592"/>
            <a:ext cx="1097280" cy="1097280"/>
          </a:xfrm>
          <a:prstGeom prst="rect">
            <a:avLst/>
          </a:prstGeom>
        </p:spPr>
      </p:pic>
      <p:sp>
        <p:nvSpPr>
          <p:cNvPr id="19" name="Text 13"/>
          <p:cNvSpPr txBox="1"/>
          <p:nvPr/>
        </p:nvSpPr>
        <p:spPr>
          <a:xfrm>
            <a:off x="4459224" y="3166872"/>
            <a:ext cx="3270504" cy="487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00" i="1" dirty="0">
                <a:solidFill>
                  <a:schemeClr val="tx1"/>
                </a:solidFill>
              </a:rPr>
              <a:t>Hij </a:t>
            </a:r>
            <a:r>
              <a:rPr lang="en-US" sz="1700" b="1" i="1" dirty="0">
                <a:solidFill>
                  <a:schemeClr val="accent3"/>
                </a:solidFill>
              </a:rPr>
              <a:t>gaat slapen</a:t>
            </a:r>
            <a:r>
              <a:rPr lang="en-US" sz="1700" i="1" dirty="0">
                <a:solidFill>
                  <a:schemeClr val="tx1"/>
                </a:solidFill>
              </a:rPr>
              <a:t>.</a:t>
            </a:r>
            <a:endParaRPr lang="en-US" sz="1700" dirty="0"/>
          </a:p>
        </p:txBody>
      </p:sp>
      <p:sp>
        <p:nvSpPr>
          <p:cNvPr id="20" name="Text 14"/>
          <p:cNvSpPr txBox="1"/>
          <p:nvPr/>
        </p:nvSpPr>
        <p:spPr>
          <a:xfrm>
            <a:off x="4459224" y="3672840"/>
            <a:ext cx="3270504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300" i="1" dirty="0">
                <a:solidFill>
                  <a:schemeClr val="accent5"/>
                </a:solidFill>
              </a:rPr>
              <a:t>(slapen)</a:t>
            </a:r>
            <a:endParaRPr lang="en-US" sz="1300" dirty="0"/>
          </a:p>
        </p:txBody>
      </p:sp>
      <p:sp>
        <p:nvSpPr>
          <p:cNvPr id="21" name="Shape 15"/>
          <p:cNvSpPr/>
          <p:nvPr/>
        </p:nvSpPr>
        <p:spPr>
          <a:xfrm>
            <a:off x="8095488" y="1932432"/>
            <a:ext cx="3544824" cy="2087880"/>
          </a:xfrm>
          <a:prstGeom prst="roundRect">
            <a:avLst>
              <a:gd name="adj" fmla="val 3504"/>
            </a:avLst>
          </a:prstGeom>
          <a:solidFill>
            <a:schemeClr val="bg1"/>
          </a:solidFill>
          <a:ln w="12700">
            <a:solidFill>
              <a:srgbClr val="D5DCE6"/>
            </a:solidFill>
            <a:prstDash val="solid"/>
          </a:ln>
          <a:effectLst>
            <a:outerShdw sx="100000" sy="100000" kx="0" ky="0" algn="bl" rotWithShape="0" blurRad="101600" dist="25400" dir="3600000">
              <a:srgbClr val="000000">
                <a:alpha val="16000"/>
              </a:srgbClr>
            </a:outerShdw>
          </a:effectLst>
        </p:spPr>
      </p:sp>
      <p:sp>
        <p:nvSpPr>
          <p:cNvPr id="22" name="Shape 16"/>
          <p:cNvSpPr/>
          <p:nvPr/>
        </p:nvSpPr>
        <p:spPr>
          <a:xfrm>
            <a:off x="8205216" y="2042160"/>
            <a:ext cx="365760" cy="365760"/>
          </a:xfrm>
          <a:prstGeom prst="ellipse">
            <a:avLst/>
          </a:prstGeom>
          <a:solidFill>
            <a:schemeClr val="tx2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23" name="Text 17"/>
          <p:cNvSpPr txBox="1"/>
          <p:nvPr/>
        </p:nvSpPr>
        <p:spPr>
          <a:xfrm>
            <a:off x="8205216" y="2042160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chemeClr val="bg1"/>
                </a:solidFill>
              </a:rPr>
              <a:t>3</a:t>
            </a:r>
            <a:endParaRPr lang="en-US" sz="1300" dirty="0"/>
          </a:p>
        </p:txBody>
      </p:sp>
      <p:pic>
        <p:nvPicPr>
          <p:cNvPr id="24" name="Image 3" descr="bus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9319260" y="2069592"/>
            <a:ext cx="1097280" cy="1097280"/>
          </a:xfrm>
          <a:prstGeom prst="rect">
            <a:avLst/>
          </a:prstGeom>
        </p:spPr>
      </p:pic>
      <p:sp>
        <p:nvSpPr>
          <p:cNvPr id="25" name="Text 18"/>
          <p:cNvSpPr txBox="1"/>
          <p:nvPr/>
        </p:nvSpPr>
        <p:spPr>
          <a:xfrm>
            <a:off x="8232648" y="3166872"/>
            <a:ext cx="3270504" cy="487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00" i="1" dirty="0">
                <a:solidFill>
                  <a:schemeClr val="tx1"/>
                </a:solidFill>
              </a:rPr>
              <a:t>Hij </a:t>
            </a:r>
            <a:r>
              <a:rPr lang="en-US" sz="1700" b="1" i="1" dirty="0">
                <a:solidFill>
                  <a:schemeClr val="accent3"/>
                </a:solidFill>
              </a:rPr>
              <a:t>gaat</a:t>
            </a:r>
            <a:r>
              <a:rPr lang="en-US" sz="1700" i="1" dirty="0">
                <a:solidFill>
                  <a:schemeClr val="tx1"/>
                </a:solidFill>
              </a:rPr>
              <a:t> de bus </a:t>
            </a:r>
            <a:r>
              <a:rPr lang="en-US" sz="1700" b="1" i="1" dirty="0">
                <a:solidFill>
                  <a:schemeClr val="accent3"/>
                </a:solidFill>
              </a:rPr>
              <a:t>missen</a:t>
            </a:r>
            <a:r>
              <a:rPr lang="en-US" sz="1700" i="1" dirty="0">
                <a:solidFill>
                  <a:schemeClr val="tx1"/>
                </a:solidFill>
              </a:rPr>
              <a:t>.</a:t>
            </a:r>
            <a:endParaRPr lang="en-US" sz="1700" dirty="0"/>
          </a:p>
        </p:txBody>
      </p:sp>
      <p:sp>
        <p:nvSpPr>
          <p:cNvPr id="26" name="Text 19"/>
          <p:cNvSpPr txBox="1"/>
          <p:nvPr/>
        </p:nvSpPr>
        <p:spPr>
          <a:xfrm>
            <a:off x="8232648" y="3672840"/>
            <a:ext cx="3270504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300" i="1" dirty="0">
                <a:solidFill>
                  <a:schemeClr val="accent5"/>
                </a:solidFill>
              </a:rPr>
              <a:t>(missen)</a:t>
            </a:r>
            <a:endParaRPr lang="en-US" sz="1300" dirty="0"/>
          </a:p>
        </p:txBody>
      </p:sp>
      <p:sp>
        <p:nvSpPr>
          <p:cNvPr id="27" name="Shape 20"/>
          <p:cNvSpPr/>
          <p:nvPr/>
        </p:nvSpPr>
        <p:spPr>
          <a:xfrm>
            <a:off x="548640" y="4203192"/>
            <a:ext cx="3544824" cy="2087880"/>
          </a:xfrm>
          <a:prstGeom prst="roundRect">
            <a:avLst>
              <a:gd name="adj" fmla="val 3504"/>
            </a:avLst>
          </a:prstGeom>
          <a:solidFill>
            <a:schemeClr val="bg1"/>
          </a:solidFill>
          <a:ln w="12700">
            <a:solidFill>
              <a:srgbClr val="D5DCE6"/>
            </a:solidFill>
            <a:prstDash val="solid"/>
          </a:ln>
          <a:effectLst>
            <a:outerShdw sx="100000" sy="100000" kx="0" ky="0" algn="bl" rotWithShape="0" blurRad="101600" dist="25400" dir="3600000">
              <a:srgbClr val="000000">
                <a:alpha val="16000"/>
              </a:srgbClr>
            </a:outerShdw>
          </a:effectLst>
        </p:spPr>
      </p:sp>
      <p:sp>
        <p:nvSpPr>
          <p:cNvPr id="28" name="Shape 21"/>
          <p:cNvSpPr/>
          <p:nvPr/>
        </p:nvSpPr>
        <p:spPr>
          <a:xfrm>
            <a:off x="658368" y="4312920"/>
            <a:ext cx="365760" cy="365760"/>
          </a:xfrm>
          <a:prstGeom prst="ellipse">
            <a:avLst/>
          </a:prstGeom>
          <a:solidFill>
            <a:schemeClr val="tx2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29" name="Text 22"/>
          <p:cNvSpPr txBox="1"/>
          <p:nvPr/>
        </p:nvSpPr>
        <p:spPr>
          <a:xfrm>
            <a:off x="658368" y="4312920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chemeClr val="bg1"/>
                </a:solidFill>
              </a:rPr>
              <a:t>4</a:t>
            </a:r>
            <a:endParaRPr lang="en-US" sz="1300" dirty="0"/>
          </a:p>
        </p:txBody>
      </p:sp>
      <p:pic>
        <p:nvPicPr>
          <p:cNvPr id="30" name="Image 4" descr="man cook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772412" y="4340352"/>
            <a:ext cx="1097280" cy="1097280"/>
          </a:xfrm>
          <a:prstGeom prst="rect">
            <a:avLst/>
          </a:prstGeom>
        </p:spPr>
      </p:pic>
      <p:sp>
        <p:nvSpPr>
          <p:cNvPr id="31" name="Text 23"/>
          <p:cNvSpPr txBox="1"/>
          <p:nvPr/>
        </p:nvSpPr>
        <p:spPr>
          <a:xfrm>
            <a:off x="685800" y="5437632"/>
            <a:ext cx="3270504" cy="487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00" i="1" dirty="0">
                <a:solidFill>
                  <a:schemeClr val="tx1"/>
                </a:solidFill>
              </a:rPr>
              <a:t>We </a:t>
            </a:r>
            <a:r>
              <a:rPr lang="en-US" sz="1700" b="1" i="1" dirty="0">
                <a:solidFill>
                  <a:schemeClr val="accent3"/>
                </a:solidFill>
              </a:rPr>
              <a:t>gaan eten</a:t>
            </a:r>
            <a:r>
              <a:rPr lang="en-US" sz="1700" i="1" dirty="0">
                <a:solidFill>
                  <a:schemeClr val="tx1"/>
                </a:solidFill>
              </a:rPr>
              <a:t>.</a:t>
            </a:r>
            <a:endParaRPr lang="en-US" sz="1700" dirty="0"/>
          </a:p>
        </p:txBody>
      </p:sp>
      <p:sp>
        <p:nvSpPr>
          <p:cNvPr id="32" name="Text 24"/>
          <p:cNvSpPr txBox="1"/>
          <p:nvPr/>
        </p:nvSpPr>
        <p:spPr>
          <a:xfrm>
            <a:off x="685800" y="5943600"/>
            <a:ext cx="3270504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300" i="1" dirty="0">
                <a:solidFill>
                  <a:schemeClr val="accent5"/>
                </a:solidFill>
              </a:rPr>
              <a:t>(eten)</a:t>
            </a:r>
            <a:endParaRPr lang="en-US" sz="1300" dirty="0"/>
          </a:p>
        </p:txBody>
      </p:sp>
      <p:sp>
        <p:nvSpPr>
          <p:cNvPr id="33" name="Shape 25"/>
          <p:cNvSpPr/>
          <p:nvPr/>
        </p:nvSpPr>
        <p:spPr>
          <a:xfrm>
            <a:off x="4322064" y="4203192"/>
            <a:ext cx="3544824" cy="2087880"/>
          </a:xfrm>
          <a:prstGeom prst="roundRect">
            <a:avLst>
              <a:gd name="adj" fmla="val 3504"/>
            </a:avLst>
          </a:prstGeom>
          <a:solidFill>
            <a:schemeClr val="bg1"/>
          </a:solidFill>
          <a:ln w="12700">
            <a:solidFill>
              <a:srgbClr val="D5DCE6"/>
            </a:solidFill>
            <a:prstDash val="solid"/>
          </a:ln>
          <a:effectLst>
            <a:outerShdw sx="100000" sy="100000" kx="0" ky="0" algn="bl" rotWithShape="0" blurRad="101600" dist="25400" dir="3600000">
              <a:srgbClr val="000000">
                <a:alpha val="16000"/>
              </a:srgbClr>
            </a:outerShdw>
          </a:effectLst>
        </p:spPr>
      </p:sp>
      <p:sp>
        <p:nvSpPr>
          <p:cNvPr id="34" name="Shape 26"/>
          <p:cNvSpPr/>
          <p:nvPr/>
        </p:nvSpPr>
        <p:spPr>
          <a:xfrm>
            <a:off x="4431792" y="4312920"/>
            <a:ext cx="365760" cy="365760"/>
          </a:xfrm>
          <a:prstGeom prst="ellipse">
            <a:avLst/>
          </a:prstGeom>
          <a:solidFill>
            <a:schemeClr val="tx2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35" name="Text 27"/>
          <p:cNvSpPr txBox="1"/>
          <p:nvPr/>
        </p:nvSpPr>
        <p:spPr>
          <a:xfrm>
            <a:off x="4431792" y="4312920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chemeClr val="bg1"/>
                </a:solidFill>
              </a:rPr>
              <a:t>5</a:t>
            </a:r>
            <a:endParaRPr lang="en-US" sz="1300" dirty="0"/>
          </a:p>
        </p:txBody>
      </p:sp>
      <p:pic>
        <p:nvPicPr>
          <p:cNvPr id="36" name="Image 5" descr="airplane departure">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5545836" y="4340352"/>
            <a:ext cx="1097280" cy="1097280"/>
          </a:xfrm>
          <a:prstGeom prst="rect">
            <a:avLst/>
          </a:prstGeom>
        </p:spPr>
      </p:pic>
      <p:sp>
        <p:nvSpPr>
          <p:cNvPr id="37" name="Text 28"/>
          <p:cNvSpPr txBox="1"/>
          <p:nvPr/>
        </p:nvSpPr>
        <p:spPr>
          <a:xfrm>
            <a:off x="4459224" y="5437632"/>
            <a:ext cx="3270504" cy="487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00" i="1" dirty="0">
                <a:solidFill>
                  <a:schemeClr val="tx1"/>
                </a:solidFill>
              </a:rPr>
              <a:t>Het vliegtuig </a:t>
            </a:r>
            <a:r>
              <a:rPr lang="en-US" sz="1700" b="1" i="1" dirty="0">
                <a:solidFill>
                  <a:schemeClr val="accent3"/>
                </a:solidFill>
              </a:rPr>
              <a:t>gaat vertrekken</a:t>
            </a:r>
            <a:r>
              <a:rPr lang="en-US" sz="1700" i="1" dirty="0">
                <a:solidFill>
                  <a:schemeClr val="tx1"/>
                </a:solidFill>
              </a:rPr>
              <a:t>.</a:t>
            </a:r>
            <a:endParaRPr lang="en-US" sz="1700" dirty="0"/>
          </a:p>
        </p:txBody>
      </p:sp>
      <p:sp>
        <p:nvSpPr>
          <p:cNvPr id="38" name="Text 29"/>
          <p:cNvSpPr txBox="1"/>
          <p:nvPr/>
        </p:nvSpPr>
        <p:spPr>
          <a:xfrm>
            <a:off x="4459224" y="5943600"/>
            <a:ext cx="3270504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300" i="1" dirty="0">
                <a:solidFill>
                  <a:schemeClr val="accent5"/>
                </a:solidFill>
              </a:rPr>
              <a:t>(vertrekken)</a:t>
            </a:r>
            <a:endParaRPr lang="en-US" sz="1300" dirty="0"/>
          </a:p>
        </p:txBody>
      </p:sp>
      <p:sp>
        <p:nvSpPr>
          <p:cNvPr id="39" name="Shape 30"/>
          <p:cNvSpPr/>
          <p:nvPr/>
        </p:nvSpPr>
        <p:spPr>
          <a:xfrm>
            <a:off x="8095488" y="4203192"/>
            <a:ext cx="3544824" cy="2087880"/>
          </a:xfrm>
          <a:prstGeom prst="roundRect">
            <a:avLst>
              <a:gd name="adj" fmla="val 3504"/>
            </a:avLst>
          </a:prstGeom>
          <a:solidFill>
            <a:schemeClr val="bg1"/>
          </a:solidFill>
          <a:ln w="12700">
            <a:solidFill>
              <a:srgbClr val="D5DCE6"/>
            </a:solidFill>
            <a:prstDash val="solid"/>
          </a:ln>
          <a:effectLst>
            <a:outerShdw sx="100000" sy="100000" kx="0" ky="0" algn="bl" rotWithShape="0" blurRad="101600" dist="25400" dir="3600000">
              <a:srgbClr val="000000">
                <a:alpha val="16000"/>
              </a:srgbClr>
            </a:outerShdw>
          </a:effectLst>
        </p:spPr>
      </p:sp>
      <p:sp>
        <p:nvSpPr>
          <p:cNvPr id="40" name="Shape 31"/>
          <p:cNvSpPr/>
          <p:nvPr/>
        </p:nvSpPr>
        <p:spPr>
          <a:xfrm>
            <a:off x="8205216" y="4312920"/>
            <a:ext cx="365760" cy="365760"/>
          </a:xfrm>
          <a:prstGeom prst="ellipse">
            <a:avLst/>
          </a:prstGeom>
          <a:solidFill>
            <a:schemeClr val="tx2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41" name="Text 32"/>
          <p:cNvSpPr txBox="1"/>
          <p:nvPr/>
        </p:nvSpPr>
        <p:spPr>
          <a:xfrm>
            <a:off x="8205216" y="4312920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chemeClr val="bg1"/>
                </a:solidFill>
              </a:rPr>
              <a:t>6</a:t>
            </a:r>
            <a:endParaRPr lang="en-US" sz="1300" dirty="0"/>
          </a:p>
        </p:txBody>
      </p:sp>
      <p:pic>
        <p:nvPicPr>
          <p:cNvPr id="42" name="Image 6" descr="pregnant woman">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9319260" y="4340352"/>
            <a:ext cx="1097280" cy="1097280"/>
          </a:xfrm>
          <a:prstGeom prst="rect">
            <a:avLst/>
          </a:prstGeom>
        </p:spPr>
      </p:pic>
      <p:sp>
        <p:nvSpPr>
          <p:cNvPr id="43" name="Text 33"/>
          <p:cNvSpPr txBox="1"/>
          <p:nvPr/>
        </p:nvSpPr>
        <p:spPr>
          <a:xfrm>
            <a:off x="8232648" y="5437632"/>
            <a:ext cx="3270504" cy="487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00" i="1" dirty="0">
                <a:solidFill>
                  <a:schemeClr val="tx1"/>
                </a:solidFill>
              </a:rPr>
              <a:t>Ze </a:t>
            </a:r>
            <a:r>
              <a:rPr lang="en-US" sz="1700" b="1" i="1" dirty="0">
                <a:solidFill>
                  <a:schemeClr val="accent3"/>
                </a:solidFill>
              </a:rPr>
              <a:t>gaat</a:t>
            </a:r>
            <a:r>
              <a:rPr lang="en-US" sz="1700" i="1" dirty="0">
                <a:solidFill>
                  <a:schemeClr val="tx1"/>
                </a:solidFill>
              </a:rPr>
              <a:t> een baby </a:t>
            </a:r>
            <a:r>
              <a:rPr lang="en-US" sz="1700" b="1" i="1" dirty="0">
                <a:solidFill>
                  <a:schemeClr val="accent3"/>
                </a:solidFill>
              </a:rPr>
              <a:t>krijgen</a:t>
            </a:r>
            <a:r>
              <a:rPr lang="en-US" sz="1700" i="1" dirty="0">
                <a:solidFill>
                  <a:schemeClr val="tx1"/>
                </a:solidFill>
              </a:rPr>
              <a:t>.</a:t>
            </a:r>
            <a:endParaRPr lang="en-US" sz="1700" dirty="0"/>
          </a:p>
        </p:txBody>
      </p:sp>
      <p:sp>
        <p:nvSpPr>
          <p:cNvPr id="44" name="Text 34"/>
          <p:cNvSpPr txBox="1"/>
          <p:nvPr/>
        </p:nvSpPr>
        <p:spPr>
          <a:xfrm>
            <a:off x="8232648" y="5943600"/>
            <a:ext cx="3270504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300" i="1" dirty="0">
                <a:solidFill>
                  <a:schemeClr val="accent5"/>
                </a:solidFill>
              </a:rPr>
              <a:t>(krijgen)</a:t>
            </a:r>
            <a:endParaRPr lang="en-US" sz="13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1672" y="644652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4A5A70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18</a:t>
            </a:fld>
            <a:endParaRPr lang="en-US"/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548640" y="621792"/>
            <a:ext cx="11091672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chemeClr val="tx2"/>
                </a:solidFill>
              </a:rPr>
              <a:t>Exercice 3 — Je vous le promets !</a:t>
            </a:r>
            <a:endParaRPr lang="en-US" sz="3000" dirty="0"/>
          </a:p>
        </p:txBody>
      </p:sp>
      <p:sp>
        <p:nvSpPr>
          <p:cNvPr id="3" name="tag"/>
          <p:cNvSpPr/>
          <p:nvPr/>
        </p:nvSpPr>
        <p:spPr>
          <a:xfrm>
            <a:off x="548640" y="237744"/>
            <a:ext cx="1228954" cy="310896"/>
          </a:xfrm>
          <a:prstGeom prst="roundRect">
            <a:avLst>
              <a:gd name="adj" fmla="val 14706"/>
            </a:avLst>
          </a:prstGeom>
          <a:solidFill>
            <a:schemeClr val="accent1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spc="100" kern="0" dirty="0">
                <a:solidFill>
                  <a:srgbClr val="FFFFFF"/>
                </a:solidFill>
              </a:rPr>
              <a:t>JIJ NU !</a:t>
            </a:r>
            <a:endParaRPr lang="en-US" sz="1200" dirty="0"/>
          </a:p>
        </p:txBody>
      </p:sp>
      <p:sp>
        <p:nvSpPr>
          <p:cNvPr id="4" name="Text 2"/>
          <p:cNvSpPr txBox="1"/>
          <p:nvPr/>
        </p:nvSpPr>
        <p:spPr>
          <a:xfrm>
            <a:off x="10177272" y="219456"/>
            <a:ext cx="146304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600" b="1" dirty="0">
                <a:solidFill>
                  <a:schemeClr val="accent1"/>
                </a:solidFill>
              </a:rPr>
              <a:t>★★</a:t>
            </a:r>
            <a:endParaRPr lang="en-US" sz="1600" dirty="0"/>
          </a:p>
        </p:txBody>
      </p:sp>
      <p:pic>
        <p:nvPicPr>
          <p:cNvPr id="6" name="Image 0" descr="HandPointRight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48640" y="1517904"/>
            <a:ext cx="274320" cy="274320"/>
          </a:xfrm>
          <a:prstGeom prst="rect">
            <a:avLst/>
          </a:prstGeom>
        </p:spPr>
      </p:pic>
      <p:sp>
        <p:nvSpPr>
          <p:cNvPr id="7" name="Text 3"/>
          <p:cNvSpPr txBox="1"/>
          <p:nvPr/>
        </p:nvSpPr>
        <p:spPr>
          <a:xfrm>
            <a:off x="960120" y="1481328"/>
            <a:ext cx="10680192" cy="3139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700" i="1" dirty="0">
                <a:solidFill>
                  <a:schemeClr val="accent5"/>
                </a:solidFill>
              </a:rPr>
              <a:t>Réagissez avec une promesse (Ik zal…) ou une proposition (Zullen we…?).</a:t>
            </a:r>
            <a:endParaRPr lang="en-US" sz="1700" dirty="0"/>
          </a:p>
        </p:txBody>
      </p:sp>
      <p:sp>
        <p:nvSpPr>
          <p:cNvPr id="8" name="Shape 4"/>
          <p:cNvSpPr/>
          <p:nvPr/>
        </p:nvSpPr>
        <p:spPr>
          <a:xfrm>
            <a:off x="548640" y="2112772"/>
            <a:ext cx="365760" cy="365760"/>
          </a:xfrm>
          <a:prstGeom prst="ellipse">
            <a:avLst/>
          </a:prstGeom>
          <a:solidFill>
            <a:schemeClr val="tx2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9" name="Text 5"/>
          <p:cNvSpPr txBox="1"/>
          <p:nvPr/>
        </p:nvSpPr>
        <p:spPr>
          <a:xfrm>
            <a:off x="548640" y="2112772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chemeClr val="bg1"/>
                </a:solidFill>
              </a:rPr>
              <a:t>1</a:t>
            </a:r>
            <a:endParaRPr lang="en-US" sz="1300" dirty="0"/>
          </a:p>
        </p:txBody>
      </p:sp>
      <p:sp>
        <p:nvSpPr>
          <p:cNvPr id="10" name="Shape 6"/>
          <p:cNvSpPr/>
          <p:nvPr/>
        </p:nvSpPr>
        <p:spPr>
          <a:xfrm>
            <a:off x="1005840" y="1978152"/>
            <a:ext cx="4480560" cy="616712"/>
          </a:xfrm>
          <a:prstGeom prst="roundRect">
            <a:avLst>
              <a:gd name="adj" fmla="val 11862"/>
            </a:avLst>
          </a:prstGeom>
          <a:solidFill>
            <a:schemeClr val="bg2"/>
          </a:solidFill>
          <a:ln w="12700">
            <a:solidFill>
              <a:srgbClr val="D5DCE6"/>
            </a:solidFill>
            <a:prstDash val="solid"/>
          </a:ln>
        </p:spPr>
      </p:sp>
      <p:sp>
        <p:nvSpPr>
          <p:cNvPr id="11" name="Text 7"/>
          <p:cNvSpPr txBox="1"/>
          <p:nvPr/>
        </p:nvSpPr>
        <p:spPr>
          <a:xfrm>
            <a:off x="1143000" y="1978152"/>
            <a:ext cx="4297680" cy="6167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800" i="1" dirty="0">
                <a:solidFill>
                  <a:schemeClr val="tx1"/>
                </a:solidFill>
              </a:rPr>
              <a:t>Meneer Maes wacht op een offerte.</a:t>
            </a:r>
            <a:endParaRPr lang="en-US" sz="1800" dirty="0"/>
          </a:p>
        </p:txBody>
      </p:sp>
      <p:sp>
        <p:nvSpPr>
          <p:cNvPr id="12" name="Shape 8"/>
          <p:cNvSpPr/>
          <p:nvPr/>
        </p:nvSpPr>
        <p:spPr>
          <a:xfrm>
            <a:off x="5577840" y="2295652"/>
            <a:ext cx="731520" cy="914"/>
          </a:xfrm>
          <a:prstGeom prst="line">
            <a:avLst/>
          </a:prstGeom>
          <a:noFill/>
          <a:ln w="38100">
            <a:solidFill>
              <a:srgbClr val="6E4A9E"/>
            </a:solidFill>
            <a:prstDash val="solid"/>
            <a:tailEnd type="triangle"/>
          </a:ln>
        </p:spPr>
      </p:sp>
      <p:sp>
        <p:nvSpPr>
          <p:cNvPr id="13" name="Shape 9"/>
          <p:cNvSpPr/>
          <p:nvPr/>
        </p:nvSpPr>
        <p:spPr>
          <a:xfrm>
            <a:off x="6400800" y="1978152"/>
            <a:ext cx="5239512" cy="616712"/>
          </a:xfrm>
          <a:prstGeom prst="roundRect">
            <a:avLst>
              <a:gd name="adj" fmla="val 11862"/>
            </a:avLst>
          </a:prstGeom>
          <a:solidFill>
            <a:schemeClr val="bg1"/>
          </a:solidFill>
          <a:ln w="15875">
            <a:solidFill>
              <a:srgbClr val="D5DCE6"/>
            </a:solidFill>
            <a:prstDash val="solid"/>
          </a:ln>
        </p:spPr>
      </p:sp>
      <p:sp>
        <p:nvSpPr>
          <p:cNvPr id="14" name="Shape 10"/>
          <p:cNvSpPr/>
          <p:nvPr/>
        </p:nvSpPr>
        <p:spPr>
          <a:xfrm>
            <a:off x="548640" y="2839212"/>
            <a:ext cx="365760" cy="365760"/>
          </a:xfrm>
          <a:prstGeom prst="ellipse">
            <a:avLst/>
          </a:prstGeom>
          <a:solidFill>
            <a:schemeClr val="tx2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15" name="Text 11"/>
          <p:cNvSpPr txBox="1"/>
          <p:nvPr/>
        </p:nvSpPr>
        <p:spPr>
          <a:xfrm>
            <a:off x="548640" y="2839212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chemeClr val="bg1"/>
                </a:solidFill>
              </a:rPr>
              <a:t>2</a:t>
            </a:r>
            <a:endParaRPr lang="en-US" sz="1300" dirty="0"/>
          </a:p>
        </p:txBody>
      </p:sp>
      <p:sp>
        <p:nvSpPr>
          <p:cNvPr id="16" name="Shape 12"/>
          <p:cNvSpPr/>
          <p:nvPr/>
        </p:nvSpPr>
        <p:spPr>
          <a:xfrm>
            <a:off x="1005840" y="2704592"/>
            <a:ext cx="4480560" cy="616712"/>
          </a:xfrm>
          <a:prstGeom prst="roundRect">
            <a:avLst>
              <a:gd name="adj" fmla="val 11862"/>
            </a:avLst>
          </a:prstGeom>
          <a:solidFill>
            <a:schemeClr val="bg2"/>
          </a:solidFill>
          <a:ln w="12700">
            <a:solidFill>
              <a:srgbClr val="D5DCE6"/>
            </a:solidFill>
            <a:prstDash val="solid"/>
          </a:ln>
        </p:spPr>
      </p:sp>
      <p:sp>
        <p:nvSpPr>
          <p:cNvPr id="17" name="Text 13"/>
          <p:cNvSpPr txBox="1"/>
          <p:nvPr/>
        </p:nvSpPr>
        <p:spPr>
          <a:xfrm>
            <a:off x="1143000" y="2704592"/>
            <a:ext cx="4297680" cy="6167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800" i="1" dirty="0">
                <a:solidFill>
                  <a:schemeClr val="tx1"/>
                </a:solidFill>
              </a:rPr>
              <a:t>Sofie heeft hulp nodig.</a:t>
            </a:r>
            <a:endParaRPr lang="en-US" sz="1800" dirty="0"/>
          </a:p>
        </p:txBody>
      </p:sp>
      <p:sp>
        <p:nvSpPr>
          <p:cNvPr id="18" name="Shape 14"/>
          <p:cNvSpPr/>
          <p:nvPr/>
        </p:nvSpPr>
        <p:spPr>
          <a:xfrm>
            <a:off x="5577840" y="3022092"/>
            <a:ext cx="731520" cy="914"/>
          </a:xfrm>
          <a:prstGeom prst="line">
            <a:avLst/>
          </a:prstGeom>
          <a:noFill/>
          <a:ln w="38100">
            <a:solidFill>
              <a:srgbClr val="6E4A9E"/>
            </a:solidFill>
            <a:prstDash val="solid"/>
            <a:tailEnd type="triangle"/>
          </a:ln>
        </p:spPr>
      </p:sp>
      <p:sp>
        <p:nvSpPr>
          <p:cNvPr id="19" name="Shape 15"/>
          <p:cNvSpPr/>
          <p:nvPr/>
        </p:nvSpPr>
        <p:spPr>
          <a:xfrm>
            <a:off x="6400800" y="2704592"/>
            <a:ext cx="5239512" cy="616712"/>
          </a:xfrm>
          <a:prstGeom prst="roundRect">
            <a:avLst>
              <a:gd name="adj" fmla="val 11862"/>
            </a:avLst>
          </a:prstGeom>
          <a:solidFill>
            <a:schemeClr val="bg1"/>
          </a:solidFill>
          <a:ln w="15875">
            <a:solidFill>
              <a:srgbClr val="D5DCE6"/>
            </a:solidFill>
            <a:prstDash val="solid"/>
          </a:ln>
        </p:spPr>
      </p:sp>
      <p:sp>
        <p:nvSpPr>
          <p:cNvPr id="20" name="Shape 16"/>
          <p:cNvSpPr/>
          <p:nvPr/>
        </p:nvSpPr>
        <p:spPr>
          <a:xfrm>
            <a:off x="548640" y="3565652"/>
            <a:ext cx="365760" cy="365760"/>
          </a:xfrm>
          <a:prstGeom prst="ellipse">
            <a:avLst/>
          </a:prstGeom>
          <a:solidFill>
            <a:schemeClr val="tx2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21" name="Text 17"/>
          <p:cNvSpPr txBox="1"/>
          <p:nvPr/>
        </p:nvSpPr>
        <p:spPr>
          <a:xfrm>
            <a:off x="548640" y="3565652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chemeClr val="bg1"/>
                </a:solidFill>
              </a:rPr>
              <a:t>3</a:t>
            </a:r>
            <a:endParaRPr lang="en-US" sz="1300" dirty="0"/>
          </a:p>
        </p:txBody>
      </p:sp>
      <p:sp>
        <p:nvSpPr>
          <p:cNvPr id="22" name="Shape 18"/>
          <p:cNvSpPr/>
          <p:nvPr/>
        </p:nvSpPr>
        <p:spPr>
          <a:xfrm>
            <a:off x="1005840" y="3431032"/>
            <a:ext cx="4480560" cy="616712"/>
          </a:xfrm>
          <a:prstGeom prst="roundRect">
            <a:avLst>
              <a:gd name="adj" fmla="val 11862"/>
            </a:avLst>
          </a:prstGeom>
          <a:solidFill>
            <a:schemeClr val="bg2"/>
          </a:solidFill>
          <a:ln w="12700">
            <a:solidFill>
              <a:srgbClr val="D5DCE6"/>
            </a:solidFill>
            <a:prstDash val="solid"/>
          </a:ln>
        </p:spPr>
      </p:sp>
      <p:sp>
        <p:nvSpPr>
          <p:cNvPr id="23" name="Text 19"/>
          <p:cNvSpPr txBox="1"/>
          <p:nvPr/>
        </p:nvSpPr>
        <p:spPr>
          <a:xfrm>
            <a:off x="1143000" y="3431032"/>
            <a:ext cx="4297680" cy="6167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800" i="1" dirty="0">
                <a:solidFill>
                  <a:schemeClr val="tx1"/>
                </a:solidFill>
              </a:rPr>
              <a:t>De printer is kapot.</a:t>
            </a:r>
            <a:endParaRPr lang="en-US" sz="1800" dirty="0"/>
          </a:p>
        </p:txBody>
      </p:sp>
      <p:sp>
        <p:nvSpPr>
          <p:cNvPr id="24" name="Shape 20"/>
          <p:cNvSpPr/>
          <p:nvPr/>
        </p:nvSpPr>
        <p:spPr>
          <a:xfrm>
            <a:off x="5577840" y="3748532"/>
            <a:ext cx="731520" cy="914"/>
          </a:xfrm>
          <a:prstGeom prst="line">
            <a:avLst/>
          </a:prstGeom>
          <a:noFill/>
          <a:ln w="38100">
            <a:solidFill>
              <a:srgbClr val="6E4A9E"/>
            </a:solidFill>
            <a:prstDash val="solid"/>
            <a:tailEnd type="triangle"/>
          </a:ln>
        </p:spPr>
      </p:sp>
      <p:sp>
        <p:nvSpPr>
          <p:cNvPr id="25" name="Shape 21"/>
          <p:cNvSpPr/>
          <p:nvPr/>
        </p:nvSpPr>
        <p:spPr>
          <a:xfrm>
            <a:off x="6400800" y="3431032"/>
            <a:ext cx="5239512" cy="616712"/>
          </a:xfrm>
          <a:prstGeom prst="roundRect">
            <a:avLst>
              <a:gd name="adj" fmla="val 11862"/>
            </a:avLst>
          </a:prstGeom>
          <a:solidFill>
            <a:schemeClr val="bg1"/>
          </a:solidFill>
          <a:ln w="15875">
            <a:solidFill>
              <a:srgbClr val="D5DCE6"/>
            </a:solidFill>
            <a:prstDash val="solid"/>
          </a:ln>
        </p:spPr>
      </p:sp>
      <p:sp>
        <p:nvSpPr>
          <p:cNvPr id="26" name="Shape 22"/>
          <p:cNvSpPr/>
          <p:nvPr/>
        </p:nvSpPr>
        <p:spPr>
          <a:xfrm>
            <a:off x="548640" y="4292092"/>
            <a:ext cx="365760" cy="365760"/>
          </a:xfrm>
          <a:prstGeom prst="ellipse">
            <a:avLst/>
          </a:prstGeom>
          <a:solidFill>
            <a:schemeClr val="tx2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27" name="Text 23"/>
          <p:cNvSpPr txBox="1"/>
          <p:nvPr/>
        </p:nvSpPr>
        <p:spPr>
          <a:xfrm>
            <a:off x="548640" y="4292092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chemeClr val="bg1"/>
                </a:solidFill>
              </a:rPr>
              <a:t>4</a:t>
            </a:r>
            <a:endParaRPr lang="en-US" sz="1300" dirty="0"/>
          </a:p>
        </p:txBody>
      </p:sp>
      <p:sp>
        <p:nvSpPr>
          <p:cNvPr id="28" name="Shape 24"/>
          <p:cNvSpPr/>
          <p:nvPr/>
        </p:nvSpPr>
        <p:spPr>
          <a:xfrm>
            <a:off x="1005840" y="4157472"/>
            <a:ext cx="4480560" cy="616712"/>
          </a:xfrm>
          <a:prstGeom prst="roundRect">
            <a:avLst>
              <a:gd name="adj" fmla="val 11862"/>
            </a:avLst>
          </a:prstGeom>
          <a:solidFill>
            <a:schemeClr val="bg2"/>
          </a:solidFill>
          <a:ln w="12700">
            <a:solidFill>
              <a:srgbClr val="D5DCE6"/>
            </a:solidFill>
            <a:prstDash val="solid"/>
          </a:ln>
        </p:spPr>
      </p:sp>
      <p:sp>
        <p:nvSpPr>
          <p:cNvPr id="29" name="Text 25"/>
          <p:cNvSpPr txBox="1"/>
          <p:nvPr/>
        </p:nvSpPr>
        <p:spPr>
          <a:xfrm>
            <a:off x="1143000" y="4157472"/>
            <a:ext cx="4297680" cy="6167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800" i="1" dirty="0">
                <a:solidFill>
                  <a:schemeClr val="tx1"/>
                </a:solidFill>
              </a:rPr>
              <a:t>An wil het rapport vrijdag.</a:t>
            </a:r>
            <a:endParaRPr lang="en-US" sz="1800" dirty="0"/>
          </a:p>
        </p:txBody>
      </p:sp>
      <p:sp>
        <p:nvSpPr>
          <p:cNvPr id="30" name="Shape 26"/>
          <p:cNvSpPr/>
          <p:nvPr/>
        </p:nvSpPr>
        <p:spPr>
          <a:xfrm>
            <a:off x="5577840" y="4474972"/>
            <a:ext cx="731520" cy="914"/>
          </a:xfrm>
          <a:prstGeom prst="line">
            <a:avLst/>
          </a:prstGeom>
          <a:noFill/>
          <a:ln w="38100">
            <a:solidFill>
              <a:srgbClr val="6E4A9E"/>
            </a:solidFill>
            <a:prstDash val="solid"/>
            <a:tailEnd type="triangle"/>
          </a:ln>
        </p:spPr>
      </p:sp>
      <p:sp>
        <p:nvSpPr>
          <p:cNvPr id="31" name="Shape 27"/>
          <p:cNvSpPr/>
          <p:nvPr/>
        </p:nvSpPr>
        <p:spPr>
          <a:xfrm>
            <a:off x="6400800" y="4157472"/>
            <a:ext cx="5239512" cy="616712"/>
          </a:xfrm>
          <a:prstGeom prst="roundRect">
            <a:avLst>
              <a:gd name="adj" fmla="val 11862"/>
            </a:avLst>
          </a:prstGeom>
          <a:solidFill>
            <a:schemeClr val="bg1"/>
          </a:solidFill>
          <a:ln w="15875">
            <a:solidFill>
              <a:srgbClr val="D5DCE6"/>
            </a:solidFill>
            <a:prstDash val="solid"/>
          </a:ln>
        </p:spPr>
      </p:sp>
      <p:sp>
        <p:nvSpPr>
          <p:cNvPr id="32" name="Shape 28"/>
          <p:cNvSpPr/>
          <p:nvPr/>
        </p:nvSpPr>
        <p:spPr>
          <a:xfrm>
            <a:off x="548640" y="5018532"/>
            <a:ext cx="365760" cy="365760"/>
          </a:xfrm>
          <a:prstGeom prst="ellipse">
            <a:avLst/>
          </a:prstGeom>
          <a:solidFill>
            <a:schemeClr val="tx2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33" name="Text 29"/>
          <p:cNvSpPr txBox="1"/>
          <p:nvPr/>
        </p:nvSpPr>
        <p:spPr>
          <a:xfrm>
            <a:off x="548640" y="5018532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chemeClr val="bg1"/>
                </a:solidFill>
              </a:rPr>
              <a:t>5</a:t>
            </a:r>
            <a:endParaRPr lang="en-US" sz="1300" dirty="0"/>
          </a:p>
        </p:txBody>
      </p:sp>
      <p:sp>
        <p:nvSpPr>
          <p:cNvPr id="34" name="Shape 30"/>
          <p:cNvSpPr/>
          <p:nvPr/>
        </p:nvSpPr>
        <p:spPr>
          <a:xfrm>
            <a:off x="1005840" y="4883912"/>
            <a:ext cx="4480560" cy="616712"/>
          </a:xfrm>
          <a:prstGeom prst="roundRect">
            <a:avLst>
              <a:gd name="adj" fmla="val 11862"/>
            </a:avLst>
          </a:prstGeom>
          <a:solidFill>
            <a:schemeClr val="bg2"/>
          </a:solidFill>
          <a:ln w="12700">
            <a:solidFill>
              <a:srgbClr val="D5DCE6"/>
            </a:solidFill>
            <a:prstDash val="solid"/>
          </a:ln>
        </p:spPr>
      </p:sp>
      <p:sp>
        <p:nvSpPr>
          <p:cNvPr id="35" name="Text 31"/>
          <p:cNvSpPr txBox="1"/>
          <p:nvPr/>
        </p:nvSpPr>
        <p:spPr>
          <a:xfrm>
            <a:off x="1143000" y="4883912"/>
            <a:ext cx="4297680" cy="6167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800" i="1" dirty="0">
                <a:solidFill>
                  <a:schemeClr val="tx1"/>
                </a:solidFill>
              </a:rPr>
              <a:t>Een collega is jarig.</a:t>
            </a:r>
            <a:endParaRPr lang="en-US" sz="1800" dirty="0"/>
          </a:p>
        </p:txBody>
      </p:sp>
      <p:sp>
        <p:nvSpPr>
          <p:cNvPr id="36" name="Shape 32"/>
          <p:cNvSpPr/>
          <p:nvPr/>
        </p:nvSpPr>
        <p:spPr>
          <a:xfrm>
            <a:off x="5577840" y="5201412"/>
            <a:ext cx="731520" cy="914"/>
          </a:xfrm>
          <a:prstGeom prst="line">
            <a:avLst/>
          </a:prstGeom>
          <a:noFill/>
          <a:ln w="38100">
            <a:solidFill>
              <a:srgbClr val="6E4A9E"/>
            </a:solidFill>
            <a:prstDash val="solid"/>
            <a:tailEnd type="triangle"/>
          </a:ln>
        </p:spPr>
      </p:sp>
      <p:sp>
        <p:nvSpPr>
          <p:cNvPr id="37" name="Shape 33"/>
          <p:cNvSpPr/>
          <p:nvPr/>
        </p:nvSpPr>
        <p:spPr>
          <a:xfrm>
            <a:off x="6400800" y="4883912"/>
            <a:ext cx="5239512" cy="616712"/>
          </a:xfrm>
          <a:prstGeom prst="roundRect">
            <a:avLst>
              <a:gd name="adj" fmla="val 11862"/>
            </a:avLst>
          </a:prstGeom>
          <a:solidFill>
            <a:schemeClr val="bg1"/>
          </a:solidFill>
          <a:ln w="15875">
            <a:solidFill>
              <a:srgbClr val="D5DCE6"/>
            </a:solidFill>
            <a:prstDash val="solid"/>
          </a:ln>
        </p:spPr>
      </p:sp>
      <p:sp>
        <p:nvSpPr>
          <p:cNvPr id="38" name="Shape 34"/>
          <p:cNvSpPr/>
          <p:nvPr/>
        </p:nvSpPr>
        <p:spPr>
          <a:xfrm>
            <a:off x="548640" y="5744972"/>
            <a:ext cx="365760" cy="365760"/>
          </a:xfrm>
          <a:prstGeom prst="ellipse">
            <a:avLst/>
          </a:prstGeom>
          <a:solidFill>
            <a:schemeClr val="tx2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39" name="Text 35"/>
          <p:cNvSpPr txBox="1"/>
          <p:nvPr/>
        </p:nvSpPr>
        <p:spPr>
          <a:xfrm>
            <a:off x="548640" y="5744972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chemeClr val="bg1"/>
                </a:solidFill>
              </a:rPr>
              <a:t>6</a:t>
            </a:r>
            <a:endParaRPr lang="en-US" sz="1300" dirty="0"/>
          </a:p>
        </p:txBody>
      </p:sp>
      <p:sp>
        <p:nvSpPr>
          <p:cNvPr id="40" name="Shape 36"/>
          <p:cNvSpPr/>
          <p:nvPr/>
        </p:nvSpPr>
        <p:spPr>
          <a:xfrm>
            <a:off x="1005840" y="5610352"/>
            <a:ext cx="4480560" cy="616712"/>
          </a:xfrm>
          <a:prstGeom prst="roundRect">
            <a:avLst>
              <a:gd name="adj" fmla="val 11862"/>
            </a:avLst>
          </a:prstGeom>
          <a:solidFill>
            <a:schemeClr val="bg2"/>
          </a:solidFill>
          <a:ln w="12700">
            <a:solidFill>
              <a:srgbClr val="D5DCE6"/>
            </a:solidFill>
            <a:prstDash val="solid"/>
          </a:ln>
        </p:spPr>
      </p:sp>
      <p:sp>
        <p:nvSpPr>
          <p:cNvPr id="41" name="Text 37"/>
          <p:cNvSpPr txBox="1"/>
          <p:nvPr/>
        </p:nvSpPr>
        <p:spPr>
          <a:xfrm>
            <a:off x="1143000" y="5610352"/>
            <a:ext cx="4297680" cy="6167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800" i="1" dirty="0">
                <a:solidFill>
                  <a:schemeClr val="tx1"/>
                </a:solidFill>
              </a:rPr>
              <a:t>Het is 12 uur en je hebt honger.</a:t>
            </a:r>
            <a:endParaRPr lang="en-US" sz="1800" dirty="0"/>
          </a:p>
        </p:txBody>
      </p:sp>
      <p:sp>
        <p:nvSpPr>
          <p:cNvPr id="42" name="Shape 38"/>
          <p:cNvSpPr/>
          <p:nvPr/>
        </p:nvSpPr>
        <p:spPr>
          <a:xfrm>
            <a:off x="5577840" y="5927852"/>
            <a:ext cx="731520" cy="914"/>
          </a:xfrm>
          <a:prstGeom prst="line">
            <a:avLst/>
          </a:prstGeom>
          <a:noFill/>
          <a:ln w="38100">
            <a:solidFill>
              <a:srgbClr val="6E4A9E"/>
            </a:solidFill>
            <a:prstDash val="solid"/>
            <a:tailEnd type="triangle"/>
          </a:ln>
        </p:spPr>
      </p:sp>
      <p:sp>
        <p:nvSpPr>
          <p:cNvPr id="43" name="Shape 39"/>
          <p:cNvSpPr/>
          <p:nvPr/>
        </p:nvSpPr>
        <p:spPr>
          <a:xfrm>
            <a:off x="6400800" y="5610352"/>
            <a:ext cx="5239512" cy="616712"/>
          </a:xfrm>
          <a:prstGeom prst="roundRect">
            <a:avLst>
              <a:gd name="adj" fmla="val 11862"/>
            </a:avLst>
          </a:prstGeom>
          <a:solidFill>
            <a:schemeClr val="bg1"/>
          </a:solidFill>
          <a:ln w="15875">
            <a:solidFill>
              <a:srgbClr val="D5DCE6"/>
            </a:solidFill>
            <a:prstDash val="solid"/>
          </a:ln>
        </p:spPr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1672" y="644652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4A5A70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19</a:t>
            </a:fld>
            <a:endParaRPr lang="en-US"/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548640" y="621792"/>
            <a:ext cx="11091672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chemeClr val="tx2"/>
                </a:solidFill>
              </a:rPr>
              <a:t>Exercice 3 — Je vous le promets !</a:t>
            </a:r>
            <a:endParaRPr lang="en-US" sz="3000" dirty="0"/>
          </a:p>
        </p:txBody>
      </p:sp>
      <p:sp>
        <p:nvSpPr>
          <p:cNvPr id="3" name="tag"/>
          <p:cNvSpPr/>
          <p:nvPr/>
        </p:nvSpPr>
        <p:spPr>
          <a:xfrm>
            <a:off x="548640" y="237744"/>
            <a:ext cx="1228954" cy="310896"/>
          </a:xfrm>
          <a:prstGeom prst="roundRect">
            <a:avLst>
              <a:gd name="adj" fmla="val 14706"/>
            </a:avLst>
          </a:prstGeom>
          <a:solidFill>
            <a:schemeClr val="accent1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spc="100" kern="0" dirty="0">
                <a:solidFill>
                  <a:srgbClr val="FFFFFF"/>
                </a:solidFill>
              </a:rPr>
              <a:t>JIJ NU !</a:t>
            </a:r>
            <a:endParaRPr lang="en-US" sz="1200" dirty="0"/>
          </a:p>
        </p:txBody>
      </p:sp>
      <p:sp>
        <p:nvSpPr>
          <p:cNvPr id="4" name="tag"/>
          <p:cNvSpPr/>
          <p:nvPr/>
        </p:nvSpPr>
        <p:spPr>
          <a:xfrm>
            <a:off x="1887322" y="237744"/>
            <a:ext cx="1662379" cy="310896"/>
          </a:xfrm>
          <a:prstGeom prst="roundRect">
            <a:avLst>
              <a:gd name="adj" fmla="val 14706"/>
            </a:avLst>
          </a:prstGeom>
          <a:solidFill>
            <a:schemeClr val="accent3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spc="100" kern="0" dirty="0">
                <a:solidFill>
                  <a:srgbClr val="FFFFFF"/>
                </a:solidFill>
              </a:rPr>
              <a:t>✓ CORRECTIE</a:t>
            </a:r>
            <a:endParaRPr lang="en-US" sz="1200" dirty="0"/>
          </a:p>
        </p:txBody>
      </p:sp>
      <p:sp>
        <p:nvSpPr>
          <p:cNvPr id="5" name="Text 3"/>
          <p:cNvSpPr txBox="1"/>
          <p:nvPr/>
        </p:nvSpPr>
        <p:spPr>
          <a:xfrm>
            <a:off x="10177272" y="219456"/>
            <a:ext cx="146304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600" b="1" dirty="0">
                <a:solidFill>
                  <a:schemeClr val="accent1"/>
                </a:solidFill>
              </a:rPr>
              <a:t>★★</a:t>
            </a:r>
            <a:endParaRPr lang="en-US" sz="1600" dirty="0"/>
          </a:p>
        </p:txBody>
      </p:sp>
      <p:pic>
        <p:nvPicPr>
          <p:cNvPr id="7" name="Image 0" descr="HandPointRight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48640" y="1517904"/>
            <a:ext cx="274320" cy="274320"/>
          </a:xfrm>
          <a:prstGeom prst="rect">
            <a:avLst/>
          </a:prstGeom>
        </p:spPr>
      </p:pic>
      <p:sp>
        <p:nvSpPr>
          <p:cNvPr id="8" name="Text 4"/>
          <p:cNvSpPr txBox="1"/>
          <p:nvPr/>
        </p:nvSpPr>
        <p:spPr>
          <a:xfrm>
            <a:off x="960120" y="1481328"/>
            <a:ext cx="10680192" cy="3139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700" i="1" dirty="0">
                <a:solidFill>
                  <a:schemeClr val="accent5"/>
                </a:solidFill>
              </a:rPr>
              <a:t>Réagissez avec une promesse (Ik zal…) ou une proposition (Zullen we…?).</a:t>
            </a:r>
            <a:endParaRPr lang="en-US" sz="1700" dirty="0"/>
          </a:p>
        </p:txBody>
      </p:sp>
      <p:sp>
        <p:nvSpPr>
          <p:cNvPr id="9" name="Shape 5"/>
          <p:cNvSpPr/>
          <p:nvPr/>
        </p:nvSpPr>
        <p:spPr>
          <a:xfrm>
            <a:off x="548640" y="2112772"/>
            <a:ext cx="365760" cy="365760"/>
          </a:xfrm>
          <a:prstGeom prst="ellipse">
            <a:avLst/>
          </a:prstGeom>
          <a:solidFill>
            <a:schemeClr val="tx2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10" name="Text 6"/>
          <p:cNvSpPr txBox="1"/>
          <p:nvPr/>
        </p:nvSpPr>
        <p:spPr>
          <a:xfrm>
            <a:off x="548640" y="2112772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chemeClr val="bg1"/>
                </a:solidFill>
              </a:rPr>
              <a:t>1</a:t>
            </a:r>
            <a:endParaRPr lang="en-US" sz="1300" dirty="0"/>
          </a:p>
        </p:txBody>
      </p:sp>
      <p:sp>
        <p:nvSpPr>
          <p:cNvPr id="11" name="Shape 7"/>
          <p:cNvSpPr/>
          <p:nvPr/>
        </p:nvSpPr>
        <p:spPr>
          <a:xfrm>
            <a:off x="1005840" y="1978152"/>
            <a:ext cx="4480560" cy="616712"/>
          </a:xfrm>
          <a:prstGeom prst="roundRect">
            <a:avLst>
              <a:gd name="adj" fmla="val 11862"/>
            </a:avLst>
          </a:prstGeom>
          <a:solidFill>
            <a:schemeClr val="bg2"/>
          </a:solidFill>
          <a:ln w="12700">
            <a:solidFill>
              <a:srgbClr val="D5DCE6"/>
            </a:solidFill>
            <a:prstDash val="solid"/>
          </a:ln>
        </p:spPr>
      </p:sp>
      <p:sp>
        <p:nvSpPr>
          <p:cNvPr id="12" name="Text 8"/>
          <p:cNvSpPr txBox="1"/>
          <p:nvPr/>
        </p:nvSpPr>
        <p:spPr>
          <a:xfrm>
            <a:off x="1143000" y="1978152"/>
            <a:ext cx="4297680" cy="6167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800" i="1" dirty="0">
                <a:solidFill>
                  <a:schemeClr val="tx1"/>
                </a:solidFill>
              </a:rPr>
              <a:t>Meneer Maes wacht op een offerte.</a:t>
            </a:r>
            <a:endParaRPr lang="en-US" sz="1800" dirty="0"/>
          </a:p>
        </p:txBody>
      </p:sp>
      <p:sp>
        <p:nvSpPr>
          <p:cNvPr id="13" name="Shape 9"/>
          <p:cNvSpPr/>
          <p:nvPr/>
        </p:nvSpPr>
        <p:spPr>
          <a:xfrm>
            <a:off x="5577840" y="2295652"/>
            <a:ext cx="731520" cy="914"/>
          </a:xfrm>
          <a:prstGeom prst="line">
            <a:avLst/>
          </a:prstGeom>
          <a:noFill/>
          <a:ln w="38100">
            <a:solidFill>
              <a:srgbClr val="6E4A9E"/>
            </a:solidFill>
            <a:prstDash val="solid"/>
            <a:tailEnd type="triangle"/>
          </a:ln>
        </p:spPr>
      </p:sp>
      <p:sp>
        <p:nvSpPr>
          <p:cNvPr id="14" name="Shape 10"/>
          <p:cNvSpPr/>
          <p:nvPr/>
        </p:nvSpPr>
        <p:spPr>
          <a:xfrm>
            <a:off x="6400800" y="1978152"/>
            <a:ext cx="5239512" cy="616712"/>
          </a:xfrm>
          <a:prstGeom prst="roundRect">
            <a:avLst>
              <a:gd name="adj" fmla="val 11862"/>
            </a:avLst>
          </a:prstGeom>
          <a:solidFill>
            <a:srgbClr val="EDF6F0"/>
          </a:solidFill>
          <a:ln w="15875">
            <a:solidFill>
              <a:srgbClr val="2E7D4F"/>
            </a:solidFill>
            <a:prstDash val="solid"/>
          </a:ln>
        </p:spPr>
      </p:sp>
      <p:sp>
        <p:nvSpPr>
          <p:cNvPr id="15" name="Text 11"/>
          <p:cNvSpPr txBox="1"/>
          <p:nvPr/>
        </p:nvSpPr>
        <p:spPr>
          <a:xfrm>
            <a:off x="6537960" y="1978152"/>
            <a:ext cx="5029200" cy="6167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800" b="1" i="1" dirty="0">
                <a:solidFill>
                  <a:schemeClr val="accent3"/>
                </a:solidFill>
              </a:rPr>
              <a:t>Ik zal u morgen een offerte sturen.</a:t>
            </a:r>
            <a:endParaRPr lang="en-US" sz="1800" dirty="0"/>
          </a:p>
        </p:txBody>
      </p:sp>
      <p:sp>
        <p:nvSpPr>
          <p:cNvPr id="16" name="Shape 12"/>
          <p:cNvSpPr/>
          <p:nvPr/>
        </p:nvSpPr>
        <p:spPr>
          <a:xfrm>
            <a:off x="548640" y="2839212"/>
            <a:ext cx="365760" cy="365760"/>
          </a:xfrm>
          <a:prstGeom prst="ellipse">
            <a:avLst/>
          </a:prstGeom>
          <a:solidFill>
            <a:schemeClr val="tx2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17" name="Text 13"/>
          <p:cNvSpPr txBox="1"/>
          <p:nvPr/>
        </p:nvSpPr>
        <p:spPr>
          <a:xfrm>
            <a:off x="548640" y="2839212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chemeClr val="bg1"/>
                </a:solidFill>
              </a:rPr>
              <a:t>2</a:t>
            </a:r>
            <a:endParaRPr lang="en-US" sz="1300" dirty="0"/>
          </a:p>
        </p:txBody>
      </p:sp>
      <p:sp>
        <p:nvSpPr>
          <p:cNvPr id="18" name="Shape 14"/>
          <p:cNvSpPr/>
          <p:nvPr/>
        </p:nvSpPr>
        <p:spPr>
          <a:xfrm>
            <a:off x="1005840" y="2704592"/>
            <a:ext cx="4480560" cy="616712"/>
          </a:xfrm>
          <a:prstGeom prst="roundRect">
            <a:avLst>
              <a:gd name="adj" fmla="val 11862"/>
            </a:avLst>
          </a:prstGeom>
          <a:solidFill>
            <a:schemeClr val="bg2"/>
          </a:solidFill>
          <a:ln w="12700">
            <a:solidFill>
              <a:srgbClr val="D5DCE6"/>
            </a:solidFill>
            <a:prstDash val="solid"/>
          </a:ln>
        </p:spPr>
      </p:sp>
      <p:sp>
        <p:nvSpPr>
          <p:cNvPr id="19" name="Text 15"/>
          <p:cNvSpPr txBox="1"/>
          <p:nvPr/>
        </p:nvSpPr>
        <p:spPr>
          <a:xfrm>
            <a:off x="1143000" y="2704592"/>
            <a:ext cx="4297680" cy="6167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800" i="1" dirty="0">
                <a:solidFill>
                  <a:schemeClr val="tx1"/>
                </a:solidFill>
              </a:rPr>
              <a:t>Sofie heeft hulp nodig.</a:t>
            </a:r>
            <a:endParaRPr lang="en-US" sz="1800" dirty="0"/>
          </a:p>
        </p:txBody>
      </p:sp>
      <p:sp>
        <p:nvSpPr>
          <p:cNvPr id="20" name="Shape 16"/>
          <p:cNvSpPr/>
          <p:nvPr/>
        </p:nvSpPr>
        <p:spPr>
          <a:xfrm>
            <a:off x="5577840" y="3022092"/>
            <a:ext cx="731520" cy="914"/>
          </a:xfrm>
          <a:prstGeom prst="line">
            <a:avLst/>
          </a:prstGeom>
          <a:noFill/>
          <a:ln w="38100">
            <a:solidFill>
              <a:srgbClr val="6E4A9E"/>
            </a:solidFill>
            <a:prstDash val="solid"/>
            <a:tailEnd type="triangle"/>
          </a:ln>
        </p:spPr>
      </p:sp>
      <p:sp>
        <p:nvSpPr>
          <p:cNvPr id="21" name="Shape 17"/>
          <p:cNvSpPr/>
          <p:nvPr/>
        </p:nvSpPr>
        <p:spPr>
          <a:xfrm>
            <a:off x="6400800" y="2704592"/>
            <a:ext cx="5239512" cy="616712"/>
          </a:xfrm>
          <a:prstGeom prst="roundRect">
            <a:avLst>
              <a:gd name="adj" fmla="val 11862"/>
            </a:avLst>
          </a:prstGeom>
          <a:solidFill>
            <a:srgbClr val="EDF6F0"/>
          </a:solidFill>
          <a:ln w="15875">
            <a:solidFill>
              <a:srgbClr val="2E7D4F"/>
            </a:solidFill>
            <a:prstDash val="solid"/>
          </a:ln>
        </p:spPr>
      </p:sp>
      <p:sp>
        <p:nvSpPr>
          <p:cNvPr id="22" name="Text 18"/>
          <p:cNvSpPr txBox="1"/>
          <p:nvPr/>
        </p:nvSpPr>
        <p:spPr>
          <a:xfrm>
            <a:off x="6537960" y="2704592"/>
            <a:ext cx="5029200" cy="6167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800" b="1" i="1" dirty="0">
                <a:solidFill>
                  <a:schemeClr val="accent3"/>
                </a:solidFill>
              </a:rPr>
              <a:t>Ik zal je helpen.</a:t>
            </a:r>
            <a:endParaRPr lang="en-US" sz="1800" dirty="0"/>
          </a:p>
        </p:txBody>
      </p:sp>
      <p:sp>
        <p:nvSpPr>
          <p:cNvPr id="23" name="Shape 19"/>
          <p:cNvSpPr/>
          <p:nvPr/>
        </p:nvSpPr>
        <p:spPr>
          <a:xfrm>
            <a:off x="548640" y="3565652"/>
            <a:ext cx="365760" cy="365760"/>
          </a:xfrm>
          <a:prstGeom prst="ellipse">
            <a:avLst/>
          </a:prstGeom>
          <a:solidFill>
            <a:schemeClr val="tx2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24" name="Text 20"/>
          <p:cNvSpPr txBox="1"/>
          <p:nvPr/>
        </p:nvSpPr>
        <p:spPr>
          <a:xfrm>
            <a:off x="548640" y="3565652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chemeClr val="bg1"/>
                </a:solidFill>
              </a:rPr>
              <a:t>3</a:t>
            </a:r>
            <a:endParaRPr lang="en-US" sz="1300" dirty="0"/>
          </a:p>
        </p:txBody>
      </p:sp>
      <p:sp>
        <p:nvSpPr>
          <p:cNvPr id="25" name="Shape 21"/>
          <p:cNvSpPr/>
          <p:nvPr/>
        </p:nvSpPr>
        <p:spPr>
          <a:xfrm>
            <a:off x="1005840" y="3431032"/>
            <a:ext cx="4480560" cy="616712"/>
          </a:xfrm>
          <a:prstGeom prst="roundRect">
            <a:avLst>
              <a:gd name="adj" fmla="val 11862"/>
            </a:avLst>
          </a:prstGeom>
          <a:solidFill>
            <a:schemeClr val="bg2"/>
          </a:solidFill>
          <a:ln w="12700">
            <a:solidFill>
              <a:srgbClr val="D5DCE6"/>
            </a:solidFill>
            <a:prstDash val="solid"/>
          </a:ln>
        </p:spPr>
      </p:sp>
      <p:sp>
        <p:nvSpPr>
          <p:cNvPr id="26" name="Text 22"/>
          <p:cNvSpPr txBox="1"/>
          <p:nvPr/>
        </p:nvSpPr>
        <p:spPr>
          <a:xfrm>
            <a:off x="1143000" y="3431032"/>
            <a:ext cx="4297680" cy="6167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800" i="1" dirty="0">
                <a:solidFill>
                  <a:schemeClr val="tx1"/>
                </a:solidFill>
              </a:rPr>
              <a:t>De printer is kapot.</a:t>
            </a:r>
            <a:endParaRPr lang="en-US" sz="1800" dirty="0"/>
          </a:p>
        </p:txBody>
      </p:sp>
      <p:sp>
        <p:nvSpPr>
          <p:cNvPr id="27" name="Shape 23"/>
          <p:cNvSpPr/>
          <p:nvPr/>
        </p:nvSpPr>
        <p:spPr>
          <a:xfrm>
            <a:off x="5577840" y="3748532"/>
            <a:ext cx="731520" cy="914"/>
          </a:xfrm>
          <a:prstGeom prst="line">
            <a:avLst/>
          </a:prstGeom>
          <a:noFill/>
          <a:ln w="38100">
            <a:solidFill>
              <a:srgbClr val="6E4A9E"/>
            </a:solidFill>
            <a:prstDash val="solid"/>
            <a:tailEnd type="triangle"/>
          </a:ln>
        </p:spPr>
      </p:sp>
      <p:sp>
        <p:nvSpPr>
          <p:cNvPr id="28" name="Shape 24"/>
          <p:cNvSpPr/>
          <p:nvPr/>
        </p:nvSpPr>
        <p:spPr>
          <a:xfrm>
            <a:off x="6400800" y="3431032"/>
            <a:ext cx="5239512" cy="616712"/>
          </a:xfrm>
          <a:prstGeom prst="roundRect">
            <a:avLst>
              <a:gd name="adj" fmla="val 11862"/>
            </a:avLst>
          </a:prstGeom>
          <a:solidFill>
            <a:srgbClr val="EDF6F0"/>
          </a:solidFill>
          <a:ln w="15875">
            <a:solidFill>
              <a:srgbClr val="2E7D4F"/>
            </a:solidFill>
            <a:prstDash val="solid"/>
          </a:ln>
        </p:spPr>
      </p:sp>
      <p:sp>
        <p:nvSpPr>
          <p:cNvPr id="29" name="Text 25"/>
          <p:cNvSpPr txBox="1"/>
          <p:nvPr/>
        </p:nvSpPr>
        <p:spPr>
          <a:xfrm>
            <a:off x="6537960" y="3431032"/>
            <a:ext cx="5029200" cy="6167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800" b="1" i="1" dirty="0">
                <a:solidFill>
                  <a:schemeClr val="accent3"/>
                </a:solidFill>
              </a:rPr>
              <a:t>Ik zal de technicus bellen.</a:t>
            </a:r>
            <a:endParaRPr lang="en-US" sz="1800" dirty="0"/>
          </a:p>
        </p:txBody>
      </p:sp>
      <p:sp>
        <p:nvSpPr>
          <p:cNvPr id="30" name="Shape 26"/>
          <p:cNvSpPr/>
          <p:nvPr/>
        </p:nvSpPr>
        <p:spPr>
          <a:xfrm>
            <a:off x="548640" y="4292092"/>
            <a:ext cx="365760" cy="365760"/>
          </a:xfrm>
          <a:prstGeom prst="ellipse">
            <a:avLst/>
          </a:prstGeom>
          <a:solidFill>
            <a:schemeClr val="tx2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31" name="Text 27"/>
          <p:cNvSpPr txBox="1"/>
          <p:nvPr/>
        </p:nvSpPr>
        <p:spPr>
          <a:xfrm>
            <a:off x="548640" y="4292092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chemeClr val="bg1"/>
                </a:solidFill>
              </a:rPr>
              <a:t>4</a:t>
            </a:r>
            <a:endParaRPr lang="en-US" sz="1300" dirty="0"/>
          </a:p>
        </p:txBody>
      </p:sp>
      <p:sp>
        <p:nvSpPr>
          <p:cNvPr id="32" name="Shape 28"/>
          <p:cNvSpPr/>
          <p:nvPr/>
        </p:nvSpPr>
        <p:spPr>
          <a:xfrm>
            <a:off x="1005840" y="4157472"/>
            <a:ext cx="4480560" cy="616712"/>
          </a:xfrm>
          <a:prstGeom prst="roundRect">
            <a:avLst>
              <a:gd name="adj" fmla="val 11862"/>
            </a:avLst>
          </a:prstGeom>
          <a:solidFill>
            <a:schemeClr val="bg2"/>
          </a:solidFill>
          <a:ln w="12700">
            <a:solidFill>
              <a:srgbClr val="D5DCE6"/>
            </a:solidFill>
            <a:prstDash val="solid"/>
          </a:ln>
        </p:spPr>
      </p:sp>
      <p:sp>
        <p:nvSpPr>
          <p:cNvPr id="33" name="Text 29"/>
          <p:cNvSpPr txBox="1"/>
          <p:nvPr/>
        </p:nvSpPr>
        <p:spPr>
          <a:xfrm>
            <a:off x="1143000" y="4157472"/>
            <a:ext cx="4297680" cy="6167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800" i="1" dirty="0">
                <a:solidFill>
                  <a:schemeClr val="tx1"/>
                </a:solidFill>
              </a:rPr>
              <a:t>An wil het rapport vrijdag.</a:t>
            </a:r>
            <a:endParaRPr lang="en-US" sz="1800" dirty="0"/>
          </a:p>
        </p:txBody>
      </p:sp>
      <p:sp>
        <p:nvSpPr>
          <p:cNvPr id="34" name="Shape 30"/>
          <p:cNvSpPr/>
          <p:nvPr/>
        </p:nvSpPr>
        <p:spPr>
          <a:xfrm>
            <a:off x="5577840" y="4474972"/>
            <a:ext cx="731520" cy="914"/>
          </a:xfrm>
          <a:prstGeom prst="line">
            <a:avLst/>
          </a:prstGeom>
          <a:noFill/>
          <a:ln w="38100">
            <a:solidFill>
              <a:srgbClr val="6E4A9E"/>
            </a:solidFill>
            <a:prstDash val="solid"/>
            <a:tailEnd type="triangle"/>
          </a:ln>
        </p:spPr>
      </p:sp>
      <p:sp>
        <p:nvSpPr>
          <p:cNvPr id="35" name="Shape 31"/>
          <p:cNvSpPr/>
          <p:nvPr/>
        </p:nvSpPr>
        <p:spPr>
          <a:xfrm>
            <a:off x="6400800" y="4157472"/>
            <a:ext cx="5239512" cy="616712"/>
          </a:xfrm>
          <a:prstGeom prst="roundRect">
            <a:avLst>
              <a:gd name="adj" fmla="val 11862"/>
            </a:avLst>
          </a:prstGeom>
          <a:solidFill>
            <a:srgbClr val="EDF6F0"/>
          </a:solidFill>
          <a:ln w="15875">
            <a:solidFill>
              <a:srgbClr val="2E7D4F"/>
            </a:solidFill>
            <a:prstDash val="solid"/>
          </a:ln>
        </p:spPr>
      </p:sp>
      <p:sp>
        <p:nvSpPr>
          <p:cNvPr id="36" name="Text 32"/>
          <p:cNvSpPr txBox="1"/>
          <p:nvPr/>
        </p:nvSpPr>
        <p:spPr>
          <a:xfrm>
            <a:off x="6537960" y="4157472"/>
            <a:ext cx="5029200" cy="6167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800" b="1" i="1" dirty="0">
                <a:solidFill>
                  <a:schemeClr val="accent3"/>
                </a:solidFill>
              </a:rPr>
              <a:t>Ik zal het rapport vrijdag afmaken.</a:t>
            </a:r>
            <a:endParaRPr lang="en-US" sz="1800" dirty="0"/>
          </a:p>
        </p:txBody>
      </p:sp>
      <p:sp>
        <p:nvSpPr>
          <p:cNvPr id="37" name="Shape 33"/>
          <p:cNvSpPr/>
          <p:nvPr/>
        </p:nvSpPr>
        <p:spPr>
          <a:xfrm>
            <a:off x="548640" y="5018532"/>
            <a:ext cx="365760" cy="365760"/>
          </a:xfrm>
          <a:prstGeom prst="ellipse">
            <a:avLst/>
          </a:prstGeom>
          <a:solidFill>
            <a:schemeClr val="tx2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38" name="Text 34"/>
          <p:cNvSpPr txBox="1"/>
          <p:nvPr/>
        </p:nvSpPr>
        <p:spPr>
          <a:xfrm>
            <a:off x="548640" y="5018532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chemeClr val="bg1"/>
                </a:solidFill>
              </a:rPr>
              <a:t>5</a:t>
            </a:r>
            <a:endParaRPr lang="en-US" sz="1300" dirty="0"/>
          </a:p>
        </p:txBody>
      </p:sp>
      <p:sp>
        <p:nvSpPr>
          <p:cNvPr id="39" name="Shape 35"/>
          <p:cNvSpPr/>
          <p:nvPr/>
        </p:nvSpPr>
        <p:spPr>
          <a:xfrm>
            <a:off x="1005840" y="4883912"/>
            <a:ext cx="4480560" cy="616712"/>
          </a:xfrm>
          <a:prstGeom prst="roundRect">
            <a:avLst>
              <a:gd name="adj" fmla="val 11862"/>
            </a:avLst>
          </a:prstGeom>
          <a:solidFill>
            <a:schemeClr val="bg2"/>
          </a:solidFill>
          <a:ln w="12700">
            <a:solidFill>
              <a:srgbClr val="D5DCE6"/>
            </a:solidFill>
            <a:prstDash val="solid"/>
          </a:ln>
        </p:spPr>
      </p:sp>
      <p:sp>
        <p:nvSpPr>
          <p:cNvPr id="40" name="Text 36"/>
          <p:cNvSpPr txBox="1"/>
          <p:nvPr/>
        </p:nvSpPr>
        <p:spPr>
          <a:xfrm>
            <a:off x="1143000" y="4883912"/>
            <a:ext cx="4297680" cy="6167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800" i="1" dirty="0">
                <a:solidFill>
                  <a:schemeClr val="tx1"/>
                </a:solidFill>
              </a:rPr>
              <a:t>Een collega is jarig.</a:t>
            </a:r>
            <a:endParaRPr lang="en-US" sz="1800" dirty="0"/>
          </a:p>
        </p:txBody>
      </p:sp>
      <p:sp>
        <p:nvSpPr>
          <p:cNvPr id="41" name="Shape 37"/>
          <p:cNvSpPr/>
          <p:nvPr/>
        </p:nvSpPr>
        <p:spPr>
          <a:xfrm>
            <a:off x="5577840" y="5201412"/>
            <a:ext cx="731520" cy="914"/>
          </a:xfrm>
          <a:prstGeom prst="line">
            <a:avLst/>
          </a:prstGeom>
          <a:noFill/>
          <a:ln w="38100">
            <a:solidFill>
              <a:srgbClr val="6E4A9E"/>
            </a:solidFill>
            <a:prstDash val="solid"/>
            <a:tailEnd type="triangle"/>
          </a:ln>
        </p:spPr>
      </p:sp>
      <p:sp>
        <p:nvSpPr>
          <p:cNvPr id="42" name="Shape 38"/>
          <p:cNvSpPr/>
          <p:nvPr/>
        </p:nvSpPr>
        <p:spPr>
          <a:xfrm>
            <a:off x="6400800" y="4883912"/>
            <a:ext cx="5239512" cy="616712"/>
          </a:xfrm>
          <a:prstGeom prst="roundRect">
            <a:avLst>
              <a:gd name="adj" fmla="val 11862"/>
            </a:avLst>
          </a:prstGeom>
          <a:solidFill>
            <a:srgbClr val="EDF6F0"/>
          </a:solidFill>
          <a:ln w="15875">
            <a:solidFill>
              <a:srgbClr val="2E7D4F"/>
            </a:solidFill>
            <a:prstDash val="solid"/>
          </a:ln>
        </p:spPr>
      </p:sp>
      <p:sp>
        <p:nvSpPr>
          <p:cNvPr id="43" name="Text 39"/>
          <p:cNvSpPr txBox="1"/>
          <p:nvPr/>
        </p:nvSpPr>
        <p:spPr>
          <a:xfrm>
            <a:off x="6537960" y="4883912"/>
            <a:ext cx="5029200" cy="6167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800" b="1" i="1" dirty="0">
                <a:solidFill>
                  <a:schemeClr val="accent3"/>
                </a:solidFill>
              </a:rPr>
              <a:t>Zullen we een taart kopen?</a:t>
            </a:r>
            <a:endParaRPr lang="en-US" sz="1800" dirty="0"/>
          </a:p>
        </p:txBody>
      </p:sp>
      <p:sp>
        <p:nvSpPr>
          <p:cNvPr id="44" name="Shape 40"/>
          <p:cNvSpPr/>
          <p:nvPr/>
        </p:nvSpPr>
        <p:spPr>
          <a:xfrm>
            <a:off x="548640" y="5744972"/>
            <a:ext cx="365760" cy="365760"/>
          </a:xfrm>
          <a:prstGeom prst="ellipse">
            <a:avLst/>
          </a:prstGeom>
          <a:solidFill>
            <a:schemeClr val="tx2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45" name="Text 41"/>
          <p:cNvSpPr txBox="1"/>
          <p:nvPr/>
        </p:nvSpPr>
        <p:spPr>
          <a:xfrm>
            <a:off x="548640" y="5744972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chemeClr val="bg1"/>
                </a:solidFill>
              </a:rPr>
              <a:t>6</a:t>
            </a:r>
            <a:endParaRPr lang="en-US" sz="1300" dirty="0"/>
          </a:p>
        </p:txBody>
      </p:sp>
      <p:sp>
        <p:nvSpPr>
          <p:cNvPr id="46" name="Shape 42"/>
          <p:cNvSpPr/>
          <p:nvPr/>
        </p:nvSpPr>
        <p:spPr>
          <a:xfrm>
            <a:off x="1005840" y="5610352"/>
            <a:ext cx="4480560" cy="616712"/>
          </a:xfrm>
          <a:prstGeom prst="roundRect">
            <a:avLst>
              <a:gd name="adj" fmla="val 11862"/>
            </a:avLst>
          </a:prstGeom>
          <a:solidFill>
            <a:schemeClr val="bg2"/>
          </a:solidFill>
          <a:ln w="12700">
            <a:solidFill>
              <a:srgbClr val="D5DCE6"/>
            </a:solidFill>
            <a:prstDash val="solid"/>
          </a:ln>
        </p:spPr>
      </p:sp>
      <p:sp>
        <p:nvSpPr>
          <p:cNvPr id="47" name="Text 43"/>
          <p:cNvSpPr txBox="1"/>
          <p:nvPr/>
        </p:nvSpPr>
        <p:spPr>
          <a:xfrm>
            <a:off x="1143000" y="5610352"/>
            <a:ext cx="4297680" cy="6167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800" i="1" dirty="0">
                <a:solidFill>
                  <a:schemeClr val="tx1"/>
                </a:solidFill>
              </a:rPr>
              <a:t>Het is 12 uur en je hebt honger.</a:t>
            </a:r>
            <a:endParaRPr lang="en-US" sz="1800" dirty="0"/>
          </a:p>
        </p:txBody>
      </p:sp>
      <p:sp>
        <p:nvSpPr>
          <p:cNvPr id="48" name="Shape 44"/>
          <p:cNvSpPr/>
          <p:nvPr/>
        </p:nvSpPr>
        <p:spPr>
          <a:xfrm>
            <a:off x="5577840" y="5927852"/>
            <a:ext cx="731520" cy="914"/>
          </a:xfrm>
          <a:prstGeom prst="line">
            <a:avLst/>
          </a:prstGeom>
          <a:noFill/>
          <a:ln w="38100">
            <a:solidFill>
              <a:srgbClr val="6E4A9E"/>
            </a:solidFill>
            <a:prstDash val="solid"/>
            <a:tailEnd type="triangle"/>
          </a:ln>
        </p:spPr>
      </p:sp>
      <p:sp>
        <p:nvSpPr>
          <p:cNvPr id="49" name="Shape 45"/>
          <p:cNvSpPr/>
          <p:nvPr/>
        </p:nvSpPr>
        <p:spPr>
          <a:xfrm>
            <a:off x="6400800" y="5610352"/>
            <a:ext cx="5239512" cy="616712"/>
          </a:xfrm>
          <a:prstGeom prst="roundRect">
            <a:avLst>
              <a:gd name="adj" fmla="val 11862"/>
            </a:avLst>
          </a:prstGeom>
          <a:solidFill>
            <a:srgbClr val="EDF6F0"/>
          </a:solidFill>
          <a:ln w="15875">
            <a:solidFill>
              <a:srgbClr val="2E7D4F"/>
            </a:solidFill>
            <a:prstDash val="solid"/>
          </a:ln>
        </p:spPr>
      </p:sp>
      <p:sp>
        <p:nvSpPr>
          <p:cNvPr id="50" name="Text 46"/>
          <p:cNvSpPr txBox="1"/>
          <p:nvPr/>
        </p:nvSpPr>
        <p:spPr>
          <a:xfrm>
            <a:off x="6537960" y="5610352"/>
            <a:ext cx="5029200" cy="6167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800" b="1" i="1" dirty="0">
                <a:solidFill>
                  <a:schemeClr val="accent3"/>
                </a:solidFill>
              </a:rPr>
              <a:t>Zullen we gaan lunchen?</a:t>
            </a:r>
            <a:endParaRPr lang="en-US" sz="18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1672" y="644652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4A5A70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20</a:t>
            </a:fld>
            <a:endParaRPr lang="en-US"/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548640" y="621792"/>
            <a:ext cx="11091672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chemeClr val="tx2"/>
                </a:solidFill>
              </a:rPr>
              <a:t>Exercice 4 — Quel futur ?</a:t>
            </a:r>
            <a:endParaRPr lang="en-US" sz="3000" dirty="0"/>
          </a:p>
        </p:txBody>
      </p:sp>
      <p:sp>
        <p:nvSpPr>
          <p:cNvPr id="3" name="tag"/>
          <p:cNvSpPr/>
          <p:nvPr/>
        </p:nvSpPr>
        <p:spPr>
          <a:xfrm>
            <a:off x="548640" y="237744"/>
            <a:ext cx="1228954" cy="310896"/>
          </a:xfrm>
          <a:prstGeom prst="roundRect">
            <a:avLst>
              <a:gd name="adj" fmla="val 14706"/>
            </a:avLst>
          </a:prstGeom>
          <a:solidFill>
            <a:schemeClr val="accent1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spc="100" kern="0" dirty="0">
                <a:solidFill>
                  <a:srgbClr val="FFFFFF"/>
                </a:solidFill>
              </a:rPr>
              <a:t>JIJ NU !</a:t>
            </a:r>
            <a:endParaRPr lang="en-US" sz="1200" dirty="0"/>
          </a:p>
        </p:txBody>
      </p:sp>
      <p:sp>
        <p:nvSpPr>
          <p:cNvPr id="4" name="Text 2"/>
          <p:cNvSpPr txBox="1"/>
          <p:nvPr/>
        </p:nvSpPr>
        <p:spPr>
          <a:xfrm>
            <a:off x="10177272" y="219456"/>
            <a:ext cx="146304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600" b="1" dirty="0">
                <a:solidFill>
                  <a:schemeClr val="accent1"/>
                </a:solidFill>
              </a:rPr>
              <a:t>★★</a:t>
            </a:r>
            <a:endParaRPr lang="en-US" sz="1600" dirty="0"/>
          </a:p>
        </p:txBody>
      </p:sp>
      <p:pic>
        <p:nvPicPr>
          <p:cNvPr id="6" name="Image 0" descr="HandPointRight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48640" y="1517904"/>
            <a:ext cx="274320" cy="274320"/>
          </a:xfrm>
          <a:prstGeom prst="rect">
            <a:avLst/>
          </a:prstGeom>
        </p:spPr>
      </p:pic>
      <p:sp>
        <p:nvSpPr>
          <p:cNvPr id="7" name="Text 3"/>
          <p:cNvSpPr txBox="1"/>
          <p:nvPr/>
        </p:nvSpPr>
        <p:spPr>
          <a:xfrm>
            <a:off x="960120" y="1481328"/>
            <a:ext cx="10680192" cy="3139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700" i="1" dirty="0">
                <a:solidFill>
                  <a:schemeClr val="accent5"/>
                </a:solidFill>
              </a:rPr>
              <a:t>Complétez avec la forme la plus naturelle : présent, gaan ou zullen.</a:t>
            </a:r>
            <a:endParaRPr lang="en-US" sz="1700" dirty="0"/>
          </a:p>
        </p:txBody>
      </p:sp>
      <p:sp>
        <p:nvSpPr>
          <p:cNvPr id="8" name="Text 4"/>
          <p:cNvSpPr txBox="1"/>
          <p:nvPr/>
        </p:nvSpPr>
        <p:spPr>
          <a:xfrm>
            <a:off x="548640" y="2069592"/>
            <a:ext cx="5340096" cy="35539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1800"/>
              </a:spcAft>
              <a:buNone/>
            </a:pPr>
            <a:r>
              <a:rPr lang="en-US" sz="1900" b="1" dirty="0">
                <a:solidFill>
                  <a:schemeClr val="tx2"/>
                </a:solidFill>
              </a:rPr>
              <a:t>1  </a:t>
            </a:r>
            <a:r>
              <a:rPr lang="en-US" sz="1900" dirty="0">
                <a:solidFill>
                  <a:schemeClr val="tx1"/>
                </a:solidFill>
              </a:rPr>
              <a:t>Morgen </a:t>
            </a:r>
            <a:r>
              <a:rPr lang="en-US" sz="1900" dirty="0">
                <a:solidFill>
                  <a:schemeClr val="accent5"/>
                </a:solidFill>
              </a:rPr>
              <a:t>…………</a:t>
            </a:r>
            <a:r>
              <a:rPr lang="en-US" sz="1900" dirty="0">
                <a:solidFill>
                  <a:schemeClr val="tx1"/>
                </a:solidFill>
              </a:rPr>
              <a:t> ik thuis. </a:t>
            </a:r>
            <a:r>
              <a:rPr lang="en-US" sz="1900" i="1" dirty="0">
                <a:solidFill>
                  <a:schemeClr val="tx1"/>
                </a:solidFill>
              </a:rPr>
              <a:t>(werken)</a:t>
            </a:r>
            <a:endParaRPr lang="en-US" sz="1900" dirty="0"/>
          </a:p>
          <a:p>
            <a:pPr indent="0" marL="0">
              <a:spcAft>
                <a:spcPts val="1800"/>
              </a:spcAft>
              <a:buNone/>
            </a:pPr>
            <a:r>
              <a:rPr lang="en-US" sz="1900" b="1" dirty="0">
                <a:solidFill>
                  <a:schemeClr val="tx2"/>
                </a:solidFill>
              </a:rPr>
              <a:t>2  </a:t>
            </a:r>
            <a:r>
              <a:rPr lang="en-US" sz="1900" dirty="0">
                <a:solidFill>
                  <a:schemeClr val="tx1"/>
                </a:solidFill>
              </a:rPr>
              <a:t>Kijk naar de lucht: het </a:t>
            </a:r>
            <a:r>
              <a:rPr lang="en-US" sz="1900" dirty="0">
                <a:solidFill>
                  <a:schemeClr val="accent5"/>
                </a:solidFill>
              </a:rPr>
              <a:t>…………………</a:t>
            </a:r>
            <a:r>
              <a:rPr lang="en-US" sz="1900" dirty="0">
                <a:solidFill>
                  <a:schemeClr val="tx1"/>
                </a:solidFill>
              </a:rPr>
              <a:t>! </a:t>
            </a:r>
            <a:r>
              <a:rPr lang="en-US" sz="1900" i="1" dirty="0">
                <a:solidFill>
                  <a:schemeClr val="tx1"/>
                </a:solidFill>
              </a:rPr>
              <a:t>(regenen)</a:t>
            </a:r>
            <a:endParaRPr lang="en-US" sz="1900" dirty="0"/>
          </a:p>
          <a:p>
            <a:pPr indent="0" marL="0">
              <a:spcAft>
                <a:spcPts val="1800"/>
              </a:spcAft>
              <a:buNone/>
            </a:pPr>
            <a:r>
              <a:rPr lang="en-US" sz="1900" b="1" dirty="0">
                <a:solidFill>
                  <a:schemeClr val="tx2"/>
                </a:solidFill>
              </a:rPr>
              <a:t>3  </a:t>
            </a:r>
            <a:r>
              <a:rPr lang="en-US" sz="1900" dirty="0">
                <a:solidFill>
                  <a:schemeClr val="tx1"/>
                </a:solidFill>
              </a:rPr>
              <a:t>Ik beloof het: ik </a:t>
            </a:r>
            <a:r>
              <a:rPr lang="en-US" sz="1900" dirty="0">
                <a:solidFill>
                  <a:schemeClr val="accent5"/>
                </a:solidFill>
              </a:rPr>
              <a:t>…………</a:t>
            </a:r>
            <a:r>
              <a:rPr lang="en-US" sz="1900" dirty="0">
                <a:solidFill>
                  <a:schemeClr val="tx1"/>
                </a:solidFill>
              </a:rPr>
              <a:t> het niet </a:t>
            </a:r>
            <a:r>
              <a:rPr lang="en-US" sz="1900" dirty="0">
                <a:solidFill>
                  <a:schemeClr val="accent5"/>
                </a:solidFill>
              </a:rPr>
              <a:t>……………</a:t>
            </a:r>
            <a:r>
              <a:rPr lang="en-US" sz="1900" dirty="0">
                <a:solidFill>
                  <a:schemeClr val="tx1"/>
                </a:solidFill>
              </a:rPr>
              <a:t>. </a:t>
            </a:r>
            <a:r>
              <a:rPr lang="en-US" sz="1900" i="1" dirty="0">
                <a:solidFill>
                  <a:schemeClr val="tx1"/>
                </a:solidFill>
              </a:rPr>
              <a:t>(vergeten)</a:t>
            </a:r>
            <a:endParaRPr lang="en-US" sz="1900" dirty="0"/>
          </a:p>
          <a:p>
            <a:pPr indent="0" marL="0">
              <a:spcAft>
                <a:spcPts val="1800"/>
              </a:spcAft>
              <a:buNone/>
            </a:pPr>
            <a:r>
              <a:rPr lang="en-US" sz="1900" b="1" dirty="0">
                <a:solidFill>
                  <a:schemeClr val="tx2"/>
                </a:solidFill>
              </a:rPr>
              <a:t>4  </a:t>
            </a:r>
            <a:r>
              <a:rPr lang="en-US" sz="1900" dirty="0">
                <a:solidFill>
                  <a:schemeClr val="tx1"/>
                </a:solidFill>
              </a:rPr>
              <a:t>Volgend jaar </a:t>
            </a:r>
            <a:r>
              <a:rPr lang="en-US" sz="1900" dirty="0">
                <a:solidFill>
                  <a:schemeClr val="accent5"/>
                </a:solidFill>
              </a:rPr>
              <a:t>…………</a:t>
            </a:r>
            <a:r>
              <a:rPr lang="en-US" sz="1900" dirty="0">
                <a:solidFill>
                  <a:schemeClr val="tx1"/>
                </a:solidFill>
              </a:rPr>
              <a:t> we </a:t>
            </a:r>
            <a:r>
              <a:rPr lang="en-US" sz="1900" dirty="0">
                <a:solidFill>
                  <a:schemeClr val="accent5"/>
                </a:solidFill>
              </a:rPr>
              <a:t>……………</a:t>
            </a:r>
            <a:r>
              <a:rPr lang="en-US" sz="1900" dirty="0">
                <a:solidFill>
                  <a:schemeClr val="tx1"/>
                </a:solidFill>
              </a:rPr>
              <a:t>. </a:t>
            </a:r>
            <a:r>
              <a:rPr lang="en-US" sz="1900" i="1" dirty="0">
                <a:solidFill>
                  <a:schemeClr val="tx1"/>
                </a:solidFill>
              </a:rPr>
              <a:t>(verhuizen)</a:t>
            </a:r>
            <a:endParaRPr lang="en-US" sz="1900" dirty="0"/>
          </a:p>
        </p:txBody>
      </p:sp>
      <p:sp>
        <p:nvSpPr>
          <p:cNvPr id="9" name="Text 5"/>
          <p:cNvSpPr txBox="1"/>
          <p:nvPr/>
        </p:nvSpPr>
        <p:spPr>
          <a:xfrm>
            <a:off x="6300216" y="2069592"/>
            <a:ext cx="5340096" cy="35539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1800"/>
              </a:spcAft>
              <a:buNone/>
            </a:pPr>
            <a:r>
              <a:rPr lang="en-US" sz="1900" b="1" dirty="0">
                <a:solidFill>
                  <a:schemeClr val="tx2"/>
                </a:solidFill>
              </a:rPr>
              <a:t>5  </a:t>
            </a:r>
            <a:r>
              <a:rPr lang="en-US" sz="1900" dirty="0">
                <a:solidFill>
                  <a:schemeClr val="accent5"/>
                </a:solidFill>
              </a:rPr>
              <a:t>…………</a:t>
            </a:r>
            <a:r>
              <a:rPr lang="en-US" sz="1900" dirty="0">
                <a:solidFill>
                  <a:schemeClr val="tx1"/>
                </a:solidFill>
              </a:rPr>
              <a:t> we om 12 uur </a:t>
            </a:r>
            <a:r>
              <a:rPr lang="en-US" sz="1900" dirty="0">
                <a:solidFill>
                  <a:schemeClr val="accent5"/>
                </a:solidFill>
              </a:rPr>
              <a:t>…………</a:t>
            </a:r>
            <a:r>
              <a:rPr lang="en-US" sz="1900" dirty="0">
                <a:solidFill>
                  <a:schemeClr val="tx1"/>
                </a:solidFill>
              </a:rPr>
              <a:t> eten? </a:t>
            </a:r>
            <a:r>
              <a:rPr lang="en-US" sz="1900" i="1" dirty="0">
                <a:solidFill>
                  <a:schemeClr val="tx1"/>
                </a:solidFill>
              </a:rPr>
              <a:t>(gaan)</a:t>
            </a:r>
            <a:endParaRPr lang="en-US" sz="1900" dirty="0"/>
          </a:p>
          <a:p>
            <a:pPr indent="0" marL="0">
              <a:spcAft>
                <a:spcPts val="1800"/>
              </a:spcAft>
              <a:buNone/>
            </a:pPr>
            <a:r>
              <a:rPr lang="en-US" sz="1900" b="1" dirty="0">
                <a:solidFill>
                  <a:schemeClr val="tx2"/>
                </a:solidFill>
              </a:rPr>
              <a:t>6  </a:t>
            </a:r>
            <a:r>
              <a:rPr lang="en-US" sz="1900" dirty="0">
                <a:solidFill>
                  <a:schemeClr val="tx1"/>
                </a:solidFill>
              </a:rPr>
              <a:t>De trein </a:t>
            </a:r>
            <a:r>
              <a:rPr lang="en-US" sz="1900" dirty="0">
                <a:solidFill>
                  <a:schemeClr val="accent5"/>
                </a:solidFill>
              </a:rPr>
              <a:t>……………</a:t>
            </a:r>
            <a:r>
              <a:rPr lang="en-US" sz="1900" dirty="0">
                <a:solidFill>
                  <a:schemeClr val="tx1"/>
                </a:solidFill>
              </a:rPr>
              <a:t> om 8 uur. </a:t>
            </a:r>
            <a:r>
              <a:rPr lang="en-US" sz="1900" i="1" dirty="0">
                <a:solidFill>
                  <a:schemeClr val="tx1"/>
                </a:solidFill>
              </a:rPr>
              <a:t>(vertrekken)</a:t>
            </a:r>
            <a:endParaRPr lang="en-US" sz="1900" dirty="0"/>
          </a:p>
          <a:p>
            <a:pPr indent="0" marL="0">
              <a:spcAft>
                <a:spcPts val="1800"/>
              </a:spcAft>
              <a:buNone/>
            </a:pPr>
            <a:r>
              <a:rPr lang="en-US" sz="1900" b="1" dirty="0">
                <a:solidFill>
                  <a:schemeClr val="tx2"/>
                </a:solidFill>
              </a:rPr>
              <a:t>7  </a:t>
            </a:r>
            <a:r>
              <a:rPr lang="en-US" sz="1900" dirty="0">
                <a:solidFill>
                  <a:schemeClr val="tx1"/>
                </a:solidFill>
              </a:rPr>
              <a:t>Wat </a:t>
            </a:r>
            <a:r>
              <a:rPr lang="en-US" sz="1900" dirty="0">
                <a:solidFill>
                  <a:schemeClr val="accent5"/>
                </a:solidFill>
              </a:rPr>
              <a:t>…………</a:t>
            </a:r>
            <a:r>
              <a:rPr lang="en-US" sz="1900" dirty="0">
                <a:solidFill>
                  <a:schemeClr val="tx1"/>
                </a:solidFill>
              </a:rPr>
              <a:t> je in het weekend </a:t>
            </a:r>
            <a:r>
              <a:rPr lang="en-US" sz="1900" dirty="0">
                <a:solidFill>
                  <a:schemeClr val="accent5"/>
                </a:solidFill>
              </a:rPr>
              <a:t>…………</a:t>
            </a:r>
            <a:r>
              <a:rPr lang="en-US" sz="1900" dirty="0">
                <a:solidFill>
                  <a:schemeClr val="tx1"/>
                </a:solidFill>
              </a:rPr>
              <a:t>? </a:t>
            </a:r>
            <a:r>
              <a:rPr lang="en-US" sz="1900" i="1" dirty="0">
                <a:solidFill>
                  <a:schemeClr val="tx1"/>
                </a:solidFill>
              </a:rPr>
              <a:t>(doen)</a:t>
            </a:r>
            <a:endParaRPr lang="en-US" sz="1900" dirty="0"/>
          </a:p>
          <a:p>
            <a:pPr indent="0" marL="0">
              <a:spcAft>
                <a:spcPts val="1800"/>
              </a:spcAft>
              <a:buNone/>
            </a:pPr>
            <a:r>
              <a:rPr lang="en-US" sz="1900" b="1" dirty="0">
                <a:solidFill>
                  <a:schemeClr val="tx2"/>
                </a:solidFill>
              </a:rPr>
              <a:t>8  </a:t>
            </a:r>
            <a:r>
              <a:rPr lang="en-US" sz="1900" dirty="0">
                <a:solidFill>
                  <a:schemeClr val="tx1"/>
                </a:solidFill>
              </a:rPr>
              <a:t>Ik bel je als ik in Brussel </a:t>
            </a:r>
            <a:r>
              <a:rPr lang="en-US" sz="1900" dirty="0">
                <a:solidFill>
                  <a:schemeClr val="accent5"/>
                </a:solidFill>
              </a:rPr>
              <a:t>…………</a:t>
            </a:r>
            <a:r>
              <a:rPr lang="en-US" sz="1900" dirty="0">
                <a:solidFill>
                  <a:schemeClr val="tx1"/>
                </a:solidFill>
              </a:rPr>
              <a:t>. </a:t>
            </a:r>
            <a:r>
              <a:rPr lang="en-US" sz="1900" i="1" dirty="0">
                <a:solidFill>
                  <a:schemeClr val="tx1"/>
                </a:solidFill>
              </a:rPr>
              <a:t>(zijn)</a:t>
            </a:r>
            <a:endParaRPr lang="en-US" sz="19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1672" y="644652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4A5A70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21</a:t>
            </a:fld>
            <a:endParaRPr lang="en-US"/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548640" y="621792"/>
            <a:ext cx="11091672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chemeClr val="tx2"/>
                </a:solidFill>
              </a:rPr>
              <a:t>Exercice 4 — Quel futur ?</a:t>
            </a:r>
            <a:endParaRPr lang="en-US" sz="3000" dirty="0"/>
          </a:p>
        </p:txBody>
      </p:sp>
      <p:sp>
        <p:nvSpPr>
          <p:cNvPr id="3" name="tag"/>
          <p:cNvSpPr/>
          <p:nvPr/>
        </p:nvSpPr>
        <p:spPr>
          <a:xfrm>
            <a:off x="548640" y="237744"/>
            <a:ext cx="1228954" cy="310896"/>
          </a:xfrm>
          <a:prstGeom prst="roundRect">
            <a:avLst>
              <a:gd name="adj" fmla="val 14706"/>
            </a:avLst>
          </a:prstGeom>
          <a:solidFill>
            <a:schemeClr val="accent1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spc="100" kern="0" dirty="0">
                <a:solidFill>
                  <a:srgbClr val="FFFFFF"/>
                </a:solidFill>
              </a:rPr>
              <a:t>JIJ NU !</a:t>
            </a:r>
            <a:endParaRPr lang="en-US" sz="1200" dirty="0"/>
          </a:p>
        </p:txBody>
      </p:sp>
      <p:sp>
        <p:nvSpPr>
          <p:cNvPr id="4" name="tag"/>
          <p:cNvSpPr/>
          <p:nvPr/>
        </p:nvSpPr>
        <p:spPr>
          <a:xfrm>
            <a:off x="1887322" y="237744"/>
            <a:ext cx="1662379" cy="310896"/>
          </a:xfrm>
          <a:prstGeom prst="roundRect">
            <a:avLst>
              <a:gd name="adj" fmla="val 14706"/>
            </a:avLst>
          </a:prstGeom>
          <a:solidFill>
            <a:schemeClr val="accent3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spc="100" kern="0" dirty="0">
                <a:solidFill>
                  <a:srgbClr val="FFFFFF"/>
                </a:solidFill>
              </a:rPr>
              <a:t>✓ CORRECTIE</a:t>
            </a:r>
            <a:endParaRPr lang="en-US" sz="1200" dirty="0"/>
          </a:p>
        </p:txBody>
      </p:sp>
      <p:sp>
        <p:nvSpPr>
          <p:cNvPr id="5" name="Text 3"/>
          <p:cNvSpPr txBox="1"/>
          <p:nvPr/>
        </p:nvSpPr>
        <p:spPr>
          <a:xfrm>
            <a:off x="10177272" y="219456"/>
            <a:ext cx="146304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600" b="1" dirty="0">
                <a:solidFill>
                  <a:schemeClr val="accent1"/>
                </a:solidFill>
              </a:rPr>
              <a:t>★★</a:t>
            </a:r>
            <a:endParaRPr lang="en-US" sz="1600" dirty="0"/>
          </a:p>
        </p:txBody>
      </p:sp>
      <p:pic>
        <p:nvPicPr>
          <p:cNvPr id="7" name="Image 0" descr="HandPointRight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48640" y="1517904"/>
            <a:ext cx="274320" cy="274320"/>
          </a:xfrm>
          <a:prstGeom prst="rect">
            <a:avLst/>
          </a:prstGeom>
        </p:spPr>
      </p:pic>
      <p:sp>
        <p:nvSpPr>
          <p:cNvPr id="8" name="Text 4"/>
          <p:cNvSpPr txBox="1"/>
          <p:nvPr/>
        </p:nvSpPr>
        <p:spPr>
          <a:xfrm>
            <a:off x="960120" y="1481328"/>
            <a:ext cx="10680192" cy="3139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700" i="1" dirty="0">
                <a:solidFill>
                  <a:schemeClr val="accent5"/>
                </a:solidFill>
              </a:rPr>
              <a:t>Complétez avec la forme la plus naturelle : présent, gaan ou zullen.</a:t>
            </a:r>
            <a:endParaRPr lang="en-US" sz="1700" dirty="0"/>
          </a:p>
        </p:txBody>
      </p:sp>
      <p:sp>
        <p:nvSpPr>
          <p:cNvPr id="9" name="Text 5"/>
          <p:cNvSpPr txBox="1"/>
          <p:nvPr/>
        </p:nvSpPr>
        <p:spPr>
          <a:xfrm>
            <a:off x="548640" y="2069592"/>
            <a:ext cx="5340096" cy="35539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1800"/>
              </a:spcAft>
              <a:buNone/>
            </a:pPr>
            <a:r>
              <a:rPr lang="en-US" sz="1900" b="1" dirty="0">
                <a:solidFill>
                  <a:schemeClr val="tx2"/>
                </a:solidFill>
              </a:rPr>
              <a:t>1  </a:t>
            </a:r>
            <a:r>
              <a:rPr lang="en-US" sz="1900" dirty="0">
                <a:solidFill>
                  <a:schemeClr val="tx1"/>
                </a:solidFill>
              </a:rPr>
              <a:t>Morgen </a:t>
            </a:r>
            <a:r>
              <a:rPr lang="en-US" sz="1900" b="1" dirty="0">
                <a:solidFill>
                  <a:schemeClr val="accent3"/>
                </a:solidFill>
              </a:rPr>
              <a:t>werk</a:t>
            </a:r>
            <a:r>
              <a:rPr lang="en-US" sz="1900" dirty="0">
                <a:solidFill>
                  <a:schemeClr val="tx1"/>
                </a:solidFill>
              </a:rPr>
              <a:t> ik thuis. </a:t>
            </a:r>
            <a:r>
              <a:rPr lang="en-US" sz="1900" i="1" dirty="0">
                <a:solidFill>
                  <a:schemeClr val="tx1"/>
                </a:solidFill>
              </a:rPr>
              <a:t>(werken)</a:t>
            </a:r>
            <a:endParaRPr lang="en-US" sz="1900" dirty="0"/>
          </a:p>
          <a:p>
            <a:pPr indent="0" marL="0">
              <a:spcAft>
                <a:spcPts val="1800"/>
              </a:spcAft>
              <a:buNone/>
            </a:pPr>
            <a:r>
              <a:rPr lang="en-US" sz="1900" b="1" dirty="0">
                <a:solidFill>
                  <a:schemeClr val="tx2"/>
                </a:solidFill>
              </a:rPr>
              <a:t>2  </a:t>
            </a:r>
            <a:r>
              <a:rPr lang="en-US" sz="1900" dirty="0">
                <a:solidFill>
                  <a:schemeClr val="tx1"/>
                </a:solidFill>
              </a:rPr>
              <a:t>Kijk naar de lucht: het </a:t>
            </a:r>
            <a:r>
              <a:rPr lang="en-US" sz="1900" b="1" dirty="0">
                <a:solidFill>
                  <a:schemeClr val="accent3"/>
                </a:solidFill>
              </a:rPr>
              <a:t>gaat regenen</a:t>
            </a:r>
            <a:r>
              <a:rPr lang="en-US" sz="1900" dirty="0">
                <a:solidFill>
                  <a:schemeClr val="tx1"/>
                </a:solidFill>
              </a:rPr>
              <a:t>! </a:t>
            </a:r>
            <a:r>
              <a:rPr lang="en-US" sz="1900" i="1" dirty="0">
                <a:solidFill>
                  <a:schemeClr val="tx1"/>
                </a:solidFill>
              </a:rPr>
              <a:t>(regenen)</a:t>
            </a:r>
            <a:endParaRPr lang="en-US" sz="1900" dirty="0"/>
          </a:p>
          <a:p>
            <a:pPr indent="0" marL="0">
              <a:spcAft>
                <a:spcPts val="1800"/>
              </a:spcAft>
              <a:buNone/>
            </a:pPr>
            <a:r>
              <a:rPr lang="en-US" sz="1900" b="1" dirty="0">
                <a:solidFill>
                  <a:schemeClr val="tx2"/>
                </a:solidFill>
              </a:rPr>
              <a:t>3  </a:t>
            </a:r>
            <a:r>
              <a:rPr lang="en-US" sz="1900" dirty="0">
                <a:solidFill>
                  <a:schemeClr val="tx1"/>
                </a:solidFill>
              </a:rPr>
              <a:t>Ik beloof het: ik </a:t>
            </a:r>
            <a:r>
              <a:rPr lang="en-US" sz="1900" b="1" dirty="0">
                <a:solidFill>
                  <a:schemeClr val="accent3"/>
                </a:solidFill>
              </a:rPr>
              <a:t>zal</a:t>
            </a:r>
            <a:r>
              <a:rPr lang="en-US" sz="1900" dirty="0">
                <a:solidFill>
                  <a:schemeClr val="tx1"/>
                </a:solidFill>
              </a:rPr>
              <a:t> het niet </a:t>
            </a:r>
            <a:r>
              <a:rPr lang="en-US" sz="1900" b="1" dirty="0">
                <a:solidFill>
                  <a:schemeClr val="accent3"/>
                </a:solidFill>
              </a:rPr>
              <a:t>vergeten</a:t>
            </a:r>
            <a:r>
              <a:rPr lang="en-US" sz="1900" dirty="0">
                <a:solidFill>
                  <a:schemeClr val="tx1"/>
                </a:solidFill>
              </a:rPr>
              <a:t>. </a:t>
            </a:r>
            <a:r>
              <a:rPr lang="en-US" sz="1900" i="1" dirty="0">
                <a:solidFill>
                  <a:schemeClr val="tx1"/>
                </a:solidFill>
              </a:rPr>
              <a:t>(vergeten)</a:t>
            </a:r>
            <a:endParaRPr lang="en-US" sz="1900" dirty="0"/>
          </a:p>
          <a:p>
            <a:pPr indent="0" marL="0">
              <a:spcAft>
                <a:spcPts val="1800"/>
              </a:spcAft>
              <a:buNone/>
            </a:pPr>
            <a:r>
              <a:rPr lang="en-US" sz="1900" b="1" dirty="0">
                <a:solidFill>
                  <a:schemeClr val="tx2"/>
                </a:solidFill>
              </a:rPr>
              <a:t>4  </a:t>
            </a:r>
            <a:r>
              <a:rPr lang="en-US" sz="1900" dirty="0">
                <a:solidFill>
                  <a:schemeClr val="tx1"/>
                </a:solidFill>
              </a:rPr>
              <a:t>Volgend jaar </a:t>
            </a:r>
            <a:r>
              <a:rPr lang="en-US" sz="1900" b="1" dirty="0">
                <a:solidFill>
                  <a:schemeClr val="accent3"/>
                </a:solidFill>
              </a:rPr>
              <a:t>gaan</a:t>
            </a:r>
            <a:r>
              <a:rPr lang="en-US" sz="1900" dirty="0">
                <a:solidFill>
                  <a:schemeClr val="tx1"/>
                </a:solidFill>
              </a:rPr>
              <a:t> we </a:t>
            </a:r>
            <a:r>
              <a:rPr lang="en-US" sz="1900" b="1" dirty="0">
                <a:solidFill>
                  <a:schemeClr val="accent3"/>
                </a:solidFill>
              </a:rPr>
              <a:t>verhuizen</a:t>
            </a:r>
            <a:r>
              <a:rPr lang="en-US" sz="1900" dirty="0">
                <a:solidFill>
                  <a:schemeClr val="tx1"/>
                </a:solidFill>
              </a:rPr>
              <a:t>. </a:t>
            </a:r>
            <a:r>
              <a:rPr lang="en-US" sz="1900" i="1" dirty="0">
                <a:solidFill>
                  <a:schemeClr val="tx1"/>
                </a:solidFill>
              </a:rPr>
              <a:t>(verhuizen)</a:t>
            </a:r>
            <a:endParaRPr lang="en-US" sz="1900" dirty="0"/>
          </a:p>
        </p:txBody>
      </p:sp>
      <p:sp>
        <p:nvSpPr>
          <p:cNvPr id="10" name="Text 6"/>
          <p:cNvSpPr txBox="1"/>
          <p:nvPr/>
        </p:nvSpPr>
        <p:spPr>
          <a:xfrm>
            <a:off x="6300216" y="2069592"/>
            <a:ext cx="5340096" cy="35539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1800"/>
              </a:spcAft>
              <a:buNone/>
            </a:pPr>
            <a:r>
              <a:rPr lang="en-US" sz="1900" b="1" dirty="0">
                <a:solidFill>
                  <a:schemeClr val="tx2"/>
                </a:solidFill>
              </a:rPr>
              <a:t>5  </a:t>
            </a:r>
            <a:r>
              <a:rPr lang="en-US" sz="1900" b="1" dirty="0">
                <a:solidFill>
                  <a:schemeClr val="accent3"/>
                </a:solidFill>
              </a:rPr>
              <a:t>Zullen</a:t>
            </a:r>
            <a:r>
              <a:rPr lang="en-US" sz="1900" dirty="0">
                <a:solidFill>
                  <a:schemeClr val="tx1"/>
                </a:solidFill>
              </a:rPr>
              <a:t> we om 12 uur </a:t>
            </a:r>
            <a:r>
              <a:rPr lang="en-US" sz="1900" b="1" dirty="0">
                <a:solidFill>
                  <a:schemeClr val="accent3"/>
                </a:solidFill>
              </a:rPr>
              <a:t>gaan</a:t>
            </a:r>
            <a:r>
              <a:rPr lang="en-US" sz="1900" dirty="0">
                <a:solidFill>
                  <a:schemeClr val="tx1"/>
                </a:solidFill>
              </a:rPr>
              <a:t> eten? </a:t>
            </a:r>
            <a:r>
              <a:rPr lang="en-US" sz="1900" i="1" dirty="0">
                <a:solidFill>
                  <a:schemeClr val="tx1"/>
                </a:solidFill>
              </a:rPr>
              <a:t>(gaan)</a:t>
            </a:r>
            <a:endParaRPr lang="en-US" sz="1900" dirty="0"/>
          </a:p>
          <a:p>
            <a:pPr indent="0" marL="0">
              <a:spcAft>
                <a:spcPts val="1800"/>
              </a:spcAft>
              <a:buNone/>
            </a:pPr>
            <a:r>
              <a:rPr lang="en-US" sz="1900" b="1" dirty="0">
                <a:solidFill>
                  <a:schemeClr val="tx2"/>
                </a:solidFill>
              </a:rPr>
              <a:t>6  </a:t>
            </a:r>
            <a:r>
              <a:rPr lang="en-US" sz="1900" dirty="0">
                <a:solidFill>
                  <a:schemeClr val="tx1"/>
                </a:solidFill>
              </a:rPr>
              <a:t>De trein </a:t>
            </a:r>
            <a:r>
              <a:rPr lang="en-US" sz="1900" b="1" dirty="0">
                <a:solidFill>
                  <a:schemeClr val="accent3"/>
                </a:solidFill>
              </a:rPr>
              <a:t>vertrekt</a:t>
            </a:r>
            <a:r>
              <a:rPr lang="en-US" sz="1900" dirty="0">
                <a:solidFill>
                  <a:schemeClr val="tx1"/>
                </a:solidFill>
              </a:rPr>
              <a:t> om 8 uur. </a:t>
            </a:r>
            <a:r>
              <a:rPr lang="en-US" sz="1900" i="1" dirty="0">
                <a:solidFill>
                  <a:schemeClr val="tx1"/>
                </a:solidFill>
              </a:rPr>
              <a:t>(vertrekken)</a:t>
            </a:r>
            <a:endParaRPr lang="en-US" sz="1900" dirty="0"/>
          </a:p>
          <a:p>
            <a:pPr indent="0" marL="0">
              <a:spcAft>
                <a:spcPts val="1800"/>
              </a:spcAft>
              <a:buNone/>
            </a:pPr>
            <a:r>
              <a:rPr lang="en-US" sz="1900" b="1" dirty="0">
                <a:solidFill>
                  <a:schemeClr val="tx2"/>
                </a:solidFill>
              </a:rPr>
              <a:t>7  </a:t>
            </a:r>
            <a:r>
              <a:rPr lang="en-US" sz="1900" dirty="0">
                <a:solidFill>
                  <a:schemeClr val="tx1"/>
                </a:solidFill>
              </a:rPr>
              <a:t>Wat </a:t>
            </a:r>
            <a:r>
              <a:rPr lang="en-US" sz="1900" b="1" dirty="0">
                <a:solidFill>
                  <a:schemeClr val="accent3"/>
                </a:solidFill>
              </a:rPr>
              <a:t>ga</a:t>
            </a:r>
            <a:r>
              <a:rPr lang="en-US" sz="1900" dirty="0">
                <a:solidFill>
                  <a:schemeClr val="tx1"/>
                </a:solidFill>
              </a:rPr>
              <a:t> je in het weekend </a:t>
            </a:r>
            <a:r>
              <a:rPr lang="en-US" sz="1900" b="1" dirty="0">
                <a:solidFill>
                  <a:schemeClr val="accent3"/>
                </a:solidFill>
              </a:rPr>
              <a:t>doen</a:t>
            </a:r>
            <a:r>
              <a:rPr lang="en-US" sz="1900" dirty="0">
                <a:solidFill>
                  <a:schemeClr val="tx1"/>
                </a:solidFill>
              </a:rPr>
              <a:t>? </a:t>
            </a:r>
            <a:r>
              <a:rPr lang="en-US" sz="1900" i="1" dirty="0">
                <a:solidFill>
                  <a:schemeClr val="tx1"/>
                </a:solidFill>
              </a:rPr>
              <a:t>(doen)</a:t>
            </a:r>
            <a:endParaRPr lang="en-US" sz="1900" dirty="0"/>
          </a:p>
          <a:p>
            <a:pPr indent="0" marL="0">
              <a:spcAft>
                <a:spcPts val="1800"/>
              </a:spcAft>
              <a:buNone/>
            </a:pPr>
            <a:r>
              <a:rPr lang="en-US" sz="1900" b="1" dirty="0">
                <a:solidFill>
                  <a:schemeClr val="tx2"/>
                </a:solidFill>
              </a:rPr>
              <a:t>8  </a:t>
            </a:r>
            <a:r>
              <a:rPr lang="en-US" sz="1900" dirty="0">
                <a:solidFill>
                  <a:schemeClr val="tx1"/>
                </a:solidFill>
              </a:rPr>
              <a:t>Ik bel je als ik in Brussel </a:t>
            </a:r>
            <a:r>
              <a:rPr lang="en-US" sz="1900" b="1" dirty="0">
                <a:solidFill>
                  <a:schemeClr val="accent3"/>
                </a:solidFill>
              </a:rPr>
              <a:t>ben</a:t>
            </a:r>
            <a:r>
              <a:rPr lang="en-US" sz="1900" dirty="0">
                <a:solidFill>
                  <a:schemeClr val="tx1"/>
                </a:solidFill>
              </a:rPr>
              <a:t>. </a:t>
            </a:r>
            <a:r>
              <a:rPr lang="en-US" sz="1900" i="1" dirty="0">
                <a:solidFill>
                  <a:schemeClr val="tx1"/>
                </a:solidFill>
              </a:rPr>
              <a:t>(zijn)</a:t>
            </a:r>
            <a:endParaRPr lang="en-US" sz="1900" dirty="0"/>
          </a:p>
        </p:txBody>
      </p:sp>
      <p:sp>
        <p:nvSpPr>
          <p:cNvPr id="11" name="Text 7"/>
          <p:cNvSpPr txBox="1"/>
          <p:nvPr/>
        </p:nvSpPr>
        <p:spPr>
          <a:xfrm>
            <a:off x="548640" y="5715000"/>
            <a:ext cx="11091672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i="1" dirty="0">
                <a:solidFill>
                  <a:schemeClr val="accent5"/>
                </a:solidFill>
              </a:rPr>
              <a:t>Aussi possible : n° 4 </a:t>
            </a:r>
            <a:r>
              <a:rPr lang="en-US" sz="1500" i="1" dirty="0">
                <a:solidFill>
                  <a:schemeClr val="accent5"/>
                </a:solidFill>
              </a:rPr>
              <a:t>Volgend jaar verhuizen we.</a:t>
            </a:r>
            <a:r>
              <a:rPr lang="en-US" sz="1500" i="1" dirty="0">
                <a:solidFill>
                  <a:schemeClr val="accent5"/>
                </a:solidFill>
              </a:rPr>
              <a:t> · n° 7 </a:t>
            </a:r>
            <a:r>
              <a:rPr lang="en-US" sz="1500" i="1" dirty="0">
                <a:solidFill>
                  <a:schemeClr val="accent5"/>
                </a:solidFill>
              </a:rPr>
              <a:t>Wat doe je in het weekend?</a:t>
            </a:r>
            <a:r>
              <a:rPr lang="en-US" sz="1500" i="1" dirty="0">
                <a:solidFill>
                  <a:schemeClr val="accent5"/>
                </a:solidFill>
              </a:rPr>
              <a:t> · n° 8 : présent après </a:t>
            </a:r>
            <a:r>
              <a:rPr lang="en-US" sz="1500" i="1" dirty="0">
                <a:solidFill>
                  <a:schemeClr val="accent5"/>
                </a:solidFill>
              </a:rPr>
              <a:t>als</a:t>
            </a:r>
            <a:r>
              <a:rPr lang="en-US" sz="1500" i="1" dirty="0">
                <a:solidFill>
                  <a:schemeClr val="accent5"/>
                </a:solidFill>
              </a:rPr>
              <a:t> (diapo 6)</a:t>
            </a:r>
            <a:endParaRPr lang="en-US" sz="15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1672" y="644652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4A5A70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22</a:t>
            </a:fld>
            <a:endParaRPr lang="en-US"/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548640" y="621792"/>
            <a:ext cx="11091672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chemeClr val="tx2"/>
                </a:solidFill>
              </a:rPr>
              <a:t>Exercice 5 — Le détective</a:t>
            </a:r>
            <a:endParaRPr lang="en-US" sz="3000" dirty="0"/>
          </a:p>
        </p:txBody>
      </p:sp>
      <p:sp>
        <p:nvSpPr>
          <p:cNvPr id="3" name="tag"/>
          <p:cNvSpPr/>
          <p:nvPr/>
        </p:nvSpPr>
        <p:spPr>
          <a:xfrm>
            <a:off x="548640" y="237744"/>
            <a:ext cx="1228954" cy="310896"/>
          </a:xfrm>
          <a:prstGeom prst="roundRect">
            <a:avLst>
              <a:gd name="adj" fmla="val 14706"/>
            </a:avLst>
          </a:prstGeom>
          <a:solidFill>
            <a:schemeClr val="accent1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spc="100" kern="0" dirty="0">
                <a:solidFill>
                  <a:srgbClr val="FFFFFF"/>
                </a:solidFill>
              </a:rPr>
              <a:t>JIJ NU !</a:t>
            </a:r>
            <a:endParaRPr lang="en-US" sz="1200" dirty="0"/>
          </a:p>
        </p:txBody>
      </p:sp>
      <p:sp>
        <p:nvSpPr>
          <p:cNvPr id="4" name="Text 2"/>
          <p:cNvSpPr txBox="1"/>
          <p:nvPr/>
        </p:nvSpPr>
        <p:spPr>
          <a:xfrm>
            <a:off x="10177272" y="219456"/>
            <a:ext cx="146304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600" b="1" dirty="0">
                <a:solidFill>
                  <a:schemeClr val="accent1"/>
                </a:solidFill>
              </a:rPr>
              <a:t>★★</a:t>
            </a:r>
            <a:endParaRPr lang="en-US" sz="1600" dirty="0"/>
          </a:p>
        </p:txBody>
      </p:sp>
      <p:pic>
        <p:nvPicPr>
          <p:cNvPr id="6" name="Image 0" descr="HandPointRight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48640" y="1517904"/>
            <a:ext cx="274320" cy="274320"/>
          </a:xfrm>
          <a:prstGeom prst="rect">
            <a:avLst/>
          </a:prstGeom>
        </p:spPr>
      </p:pic>
      <p:sp>
        <p:nvSpPr>
          <p:cNvPr id="7" name="Text 3"/>
          <p:cNvSpPr txBox="1"/>
          <p:nvPr/>
        </p:nvSpPr>
        <p:spPr>
          <a:xfrm>
            <a:off x="960120" y="1481328"/>
            <a:ext cx="10680192" cy="3139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700" i="1" dirty="0">
                <a:solidFill>
                  <a:schemeClr val="accent5"/>
                </a:solidFill>
              </a:rPr>
              <a:t>Karim écrit à An pour annoncer sa semaine. Trouvez les 5 erreurs.</a:t>
            </a:r>
            <a:endParaRPr lang="en-US" sz="1700" dirty="0"/>
          </a:p>
        </p:txBody>
      </p:sp>
      <p:sp>
        <p:nvSpPr>
          <p:cNvPr id="8" name="Shape 4"/>
          <p:cNvSpPr/>
          <p:nvPr/>
        </p:nvSpPr>
        <p:spPr>
          <a:xfrm>
            <a:off x="548640" y="1932432"/>
            <a:ext cx="8229600" cy="4358640"/>
          </a:xfrm>
          <a:prstGeom prst="roundRect">
            <a:avLst>
              <a:gd name="adj" fmla="val 1678"/>
            </a:avLst>
          </a:prstGeom>
          <a:solidFill>
            <a:srgbClr val="FFFFFF"/>
          </a:solidFill>
          <a:ln w="15875">
            <a:solidFill>
              <a:srgbClr val="4A5A70"/>
            </a:solidFill>
            <a:prstDash val="solid"/>
          </a:ln>
          <a:effectLst>
            <a:outerShdw sx="100000" sy="100000" kx="0" ky="0" algn="bl" rotWithShape="0" blurRad="101600" dist="25400" dir="3600000">
              <a:srgbClr val="000000">
                <a:alpha val="16000"/>
              </a:srgbClr>
            </a:outerShdw>
          </a:effectLst>
        </p:spPr>
      </p:sp>
      <p:sp>
        <p:nvSpPr>
          <p:cNvPr id="9" name="Shape 5"/>
          <p:cNvSpPr/>
          <p:nvPr/>
        </p:nvSpPr>
        <p:spPr>
          <a:xfrm>
            <a:off x="548640" y="1932432"/>
            <a:ext cx="8229600" cy="457200"/>
          </a:xfrm>
          <a:prstGeom prst="roundRect">
            <a:avLst>
              <a:gd name="adj" fmla="val 8000"/>
            </a:avLst>
          </a:prstGeom>
          <a:solidFill>
            <a:srgbClr val="E6EBF2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10" name="Text 6"/>
          <p:cNvSpPr txBox="1"/>
          <p:nvPr/>
        </p:nvSpPr>
        <p:spPr>
          <a:xfrm>
            <a:off x="777240" y="1932432"/>
            <a:ext cx="77724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chemeClr val="accent5"/>
                </a:solidFill>
              </a:rPr>
              <a:t>Van: Karim Benali · Aan: An Janssens · Onderwerp: volgende week</a:t>
            </a:r>
            <a:endParaRPr lang="en-US" sz="1300" dirty="0"/>
          </a:p>
        </p:txBody>
      </p:sp>
      <p:sp>
        <p:nvSpPr>
          <p:cNvPr id="11" name="Text 7"/>
          <p:cNvSpPr txBox="1"/>
          <p:nvPr/>
        </p:nvSpPr>
        <p:spPr>
          <a:xfrm>
            <a:off x="868680" y="2572512"/>
            <a:ext cx="7589520" cy="3535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25000"/>
              </a:lnSpc>
              <a:buNone/>
            </a:pPr>
            <a:r>
              <a:rPr lang="en-US" sz="2100" i="1" dirty="0">
                <a:solidFill>
                  <a:schemeClr val="tx1"/>
                </a:solidFill>
              </a:rPr>
              <a:t>Beste An, </a:t>
            </a:r>
            <a:r>
              <a:rPr lang="en-US" sz="2100" i="1" dirty="0">
                <a:solidFill>
                  <a:schemeClr val="tx1"/>
                </a:solidFill>
              </a:rPr>
              <a:t>volgende week ik ben</a:t>
            </a:r>
            <a:r>
              <a:rPr lang="en-US" sz="2100" i="1" dirty="0">
                <a:solidFill>
                  <a:schemeClr val="tx1"/>
                </a:solidFill>
              </a:rPr>
              <a:t> op cursus in Gent. Ik ga maandag met de trein naar Gent</a:t>
            </a:r>
            <a:r>
              <a:rPr lang="en-US" sz="2100" i="1" dirty="0">
                <a:solidFill>
                  <a:schemeClr val="tx1"/>
                </a:solidFill>
              </a:rPr>
              <a:t> gaan</a:t>
            </a:r>
            <a:r>
              <a:rPr lang="en-US" sz="2100" i="1" dirty="0">
                <a:solidFill>
                  <a:schemeClr val="tx1"/>
                </a:solidFill>
              </a:rPr>
              <a:t>. Dinsdag </a:t>
            </a:r>
            <a:r>
              <a:rPr lang="en-US" sz="2100" i="1" dirty="0">
                <a:solidFill>
                  <a:schemeClr val="tx1"/>
                </a:solidFill>
              </a:rPr>
              <a:t>zal ik werken thuis</a:t>
            </a:r>
            <a:r>
              <a:rPr lang="en-US" sz="2100" i="1" dirty="0">
                <a:solidFill>
                  <a:schemeClr val="tx1"/>
                </a:solidFill>
              </a:rPr>
              <a:t>. Woensdag ga ik meneer Maes opbellen. Als ik terug </a:t>
            </a:r>
            <a:r>
              <a:rPr lang="en-US" sz="2100" i="1" dirty="0">
                <a:solidFill>
                  <a:schemeClr val="tx1"/>
                </a:solidFill>
              </a:rPr>
              <a:t>zal zijn</a:t>
            </a:r>
            <a:r>
              <a:rPr lang="en-US" sz="2100" i="1" dirty="0">
                <a:solidFill>
                  <a:schemeClr val="tx1"/>
                </a:solidFill>
              </a:rPr>
              <a:t>, </a:t>
            </a:r>
            <a:r>
              <a:rPr lang="en-US" sz="2100" i="1" dirty="0">
                <a:solidFill>
                  <a:schemeClr val="tx1"/>
                </a:solidFill>
              </a:rPr>
              <a:t>ik schrijf</a:t>
            </a:r>
            <a:r>
              <a:rPr lang="en-US" sz="2100" i="1" dirty="0">
                <a:solidFill>
                  <a:schemeClr val="tx1"/>
                </a:solidFill>
              </a:rPr>
              <a:t> het rapport. Ik zal het je vrijdag sturen. Groeten, Karim</a:t>
            </a:r>
            <a:endParaRPr lang="en-US" sz="2100" dirty="0"/>
          </a:p>
        </p:txBody>
      </p:sp>
      <p:pic>
        <p:nvPicPr>
          <p:cNvPr id="12" name="Image 1" descr="magnifying glass tilted left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509760" y="2023872"/>
            <a:ext cx="1463040" cy="1463040"/>
          </a:xfrm>
          <a:prstGeom prst="rect">
            <a:avLst/>
          </a:prstGeom>
        </p:spPr>
      </p:pic>
      <p:sp>
        <p:nvSpPr>
          <p:cNvPr id="13" name="Shape 8"/>
          <p:cNvSpPr/>
          <p:nvPr/>
        </p:nvSpPr>
        <p:spPr>
          <a:xfrm>
            <a:off x="9052560" y="3715512"/>
            <a:ext cx="2587752" cy="822960"/>
          </a:xfrm>
          <a:prstGeom prst="roundRect">
            <a:avLst>
              <a:gd name="adj" fmla="val 8889"/>
            </a:avLst>
          </a:prstGeom>
          <a:solidFill>
            <a:schemeClr val="accent6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14" name="Text 9"/>
          <p:cNvSpPr txBox="1"/>
          <p:nvPr/>
        </p:nvSpPr>
        <p:spPr>
          <a:xfrm>
            <a:off x="9052560" y="3715512"/>
            <a:ext cx="2587752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chemeClr val="bg1"/>
                </a:solidFill>
              </a:rPr>
              <a:t>5 erreurs ?</a:t>
            </a:r>
            <a:endParaRPr lang="en-US" sz="2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1672" y="644652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4A5A70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23</a:t>
            </a:fld>
            <a:endParaRPr lang="en-US"/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548640" y="621792"/>
            <a:ext cx="11091672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chemeClr val="tx2"/>
                </a:solidFill>
              </a:rPr>
              <a:t>Exercice 5 — Le détective</a:t>
            </a:r>
            <a:endParaRPr lang="en-US" sz="3000" dirty="0"/>
          </a:p>
        </p:txBody>
      </p:sp>
      <p:sp>
        <p:nvSpPr>
          <p:cNvPr id="3" name="tag"/>
          <p:cNvSpPr/>
          <p:nvPr/>
        </p:nvSpPr>
        <p:spPr>
          <a:xfrm>
            <a:off x="548640" y="237744"/>
            <a:ext cx="1228954" cy="310896"/>
          </a:xfrm>
          <a:prstGeom prst="roundRect">
            <a:avLst>
              <a:gd name="adj" fmla="val 14706"/>
            </a:avLst>
          </a:prstGeom>
          <a:solidFill>
            <a:schemeClr val="accent1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spc="100" kern="0" dirty="0">
                <a:solidFill>
                  <a:srgbClr val="FFFFFF"/>
                </a:solidFill>
              </a:rPr>
              <a:t>JIJ NU !</a:t>
            </a:r>
            <a:endParaRPr lang="en-US" sz="1200" dirty="0"/>
          </a:p>
        </p:txBody>
      </p:sp>
      <p:sp>
        <p:nvSpPr>
          <p:cNvPr id="4" name="tag"/>
          <p:cNvSpPr/>
          <p:nvPr/>
        </p:nvSpPr>
        <p:spPr>
          <a:xfrm>
            <a:off x="1887322" y="237744"/>
            <a:ext cx="1662379" cy="310896"/>
          </a:xfrm>
          <a:prstGeom prst="roundRect">
            <a:avLst>
              <a:gd name="adj" fmla="val 14706"/>
            </a:avLst>
          </a:prstGeom>
          <a:solidFill>
            <a:schemeClr val="accent3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spc="100" kern="0" dirty="0">
                <a:solidFill>
                  <a:srgbClr val="FFFFFF"/>
                </a:solidFill>
              </a:rPr>
              <a:t>✓ CORRECTIE</a:t>
            </a:r>
            <a:endParaRPr lang="en-US" sz="1200" dirty="0"/>
          </a:p>
        </p:txBody>
      </p:sp>
      <p:sp>
        <p:nvSpPr>
          <p:cNvPr id="5" name="Text 3"/>
          <p:cNvSpPr txBox="1"/>
          <p:nvPr/>
        </p:nvSpPr>
        <p:spPr>
          <a:xfrm>
            <a:off x="10177272" y="219456"/>
            <a:ext cx="146304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600" b="1" dirty="0">
                <a:solidFill>
                  <a:schemeClr val="accent1"/>
                </a:solidFill>
              </a:rPr>
              <a:t>★★</a:t>
            </a:r>
            <a:endParaRPr lang="en-US" sz="1600" dirty="0"/>
          </a:p>
        </p:txBody>
      </p:sp>
      <p:pic>
        <p:nvPicPr>
          <p:cNvPr id="7" name="Image 0" descr="HandPointRight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48640" y="1517904"/>
            <a:ext cx="274320" cy="274320"/>
          </a:xfrm>
          <a:prstGeom prst="rect">
            <a:avLst/>
          </a:prstGeom>
        </p:spPr>
      </p:pic>
      <p:sp>
        <p:nvSpPr>
          <p:cNvPr id="8" name="Text 4"/>
          <p:cNvSpPr txBox="1"/>
          <p:nvPr/>
        </p:nvSpPr>
        <p:spPr>
          <a:xfrm>
            <a:off x="960120" y="1481328"/>
            <a:ext cx="10680192" cy="3139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700" i="1" dirty="0">
                <a:solidFill>
                  <a:schemeClr val="accent5"/>
                </a:solidFill>
              </a:rPr>
              <a:t>Karim écrit à An pour annoncer sa semaine. Trouvez les 5 erreurs.</a:t>
            </a:r>
            <a:endParaRPr lang="en-US" sz="1700" dirty="0"/>
          </a:p>
        </p:txBody>
      </p:sp>
      <p:sp>
        <p:nvSpPr>
          <p:cNvPr id="9" name="Shape 5"/>
          <p:cNvSpPr/>
          <p:nvPr/>
        </p:nvSpPr>
        <p:spPr>
          <a:xfrm>
            <a:off x="548640" y="1932432"/>
            <a:ext cx="8229600" cy="4358640"/>
          </a:xfrm>
          <a:prstGeom prst="roundRect">
            <a:avLst>
              <a:gd name="adj" fmla="val 1678"/>
            </a:avLst>
          </a:prstGeom>
          <a:solidFill>
            <a:srgbClr val="FFFFFF"/>
          </a:solidFill>
          <a:ln w="15875">
            <a:solidFill>
              <a:srgbClr val="4A5A70"/>
            </a:solidFill>
            <a:prstDash val="solid"/>
          </a:ln>
          <a:effectLst>
            <a:outerShdw sx="100000" sy="100000" kx="0" ky="0" algn="bl" rotWithShape="0" blurRad="101600" dist="25400" dir="3600000">
              <a:srgbClr val="000000">
                <a:alpha val="16000"/>
              </a:srgbClr>
            </a:outerShdw>
          </a:effectLst>
        </p:spPr>
      </p:sp>
      <p:sp>
        <p:nvSpPr>
          <p:cNvPr id="10" name="Shape 6"/>
          <p:cNvSpPr/>
          <p:nvPr/>
        </p:nvSpPr>
        <p:spPr>
          <a:xfrm>
            <a:off x="548640" y="1932432"/>
            <a:ext cx="8229600" cy="457200"/>
          </a:xfrm>
          <a:prstGeom prst="roundRect">
            <a:avLst>
              <a:gd name="adj" fmla="val 8000"/>
            </a:avLst>
          </a:prstGeom>
          <a:solidFill>
            <a:srgbClr val="E6EBF2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11" name="Text 7"/>
          <p:cNvSpPr txBox="1"/>
          <p:nvPr/>
        </p:nvSpPr>
        <p:spPr>
          <a:xfrm>
            <a:off x="777240" y="1932432"/>
            <a:ext cx="77724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chemeClr val="accent5"/>
                </a:solidFill>
              </a:rPr>
              <a:t>Van: Karim Benali · Aan: An Janssens · Onderwerp: volgende week</a:t>
            </a:r>
            <a:endParaRPr lang="en-US" sz="1300" dirty="0"/>
          </a:p>
        </p:txBody>
      </p:sp>
      <p:sp>
        <p:nvSpPr>
          <p:cNvPr id="12" name="Text 8"/>
          <p:cNvSpPr txBox="1"/>
          <p:nvPr/>
        </p:nvSpPr>
        <p:spPr>
          <a:xfrm>
            <a:off x="868680" y="2572512"/>
            <a:ext cx="7589520" cy="3535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25000"/>
              </a:lnSpc>
              <a:buNone/>
            </a:pPr>
            <a:r>
              <a:rPr lang="en-US" sz="2100" i="1" dirty="0">
                <a:solidFill>
                  <a:schemeClr val="tx1"/>
                </a:solidFill>
              </a:rPr>
              <a:t>Beste An, </a:t>
            </a:r>
            <a:r>
              <a:rPr lang="en-US" sz="2100" i="1" strike="sngStrike" dirty="0">
                <a:solidFill>
                  <a:schemeClr val="accent6"/>
                </a:solidFill>
              </a:rPr>
              <a:t>volgende week ik ben</a:t>
            </a:r>
            <a:r>
              <a:rPr lang="en-US" sz="2100" b="1" i="1" dirty="0">
                <a:solidFill>
                  <a:schemeClr val="accent3"/>
                </a:solidFill>
              </a:rPr>
              <a:t> volgende week ben ik</a:t>
            </a:r>
            <a:r>
              <a:rPr lang="en-US" sz="2100" i="1" dirty="0">
                <a:solidFill>
                  <a:schemeClr val="tx1"/>
                </a:solidFill>
              </a:rPr>
              <a:t> op cursus in Gent. Ik ga maandag met de trein naar Gent</a:t>
            </a:r>
            <a:r>
              <a:rPr lang="en-US" sz="2100" i="1" strike="sngStrike" dirty="0">
                <a:solidFill>
                  <a:schemeClr val="accent6"/>
                </a:solidFill>
              </a:rPr>
              <a:t> gaan</a:t>
            </a:r>
            <a:r>
              <a:rPr lang="en-US" sz="2100" i="1" dirty="0">
                <a:solidFill>
                  <a:schemeClr val="tx1"/>
                </a:solidFill>
              </a:rPr>
              <a:t>. Dinsdag </a:t>
            </a:r>
            <a:r>
              <a:rPr lang="en-US" sz="2100" i="1" strike="sngStrike" dirty="0">
                <a:solidFill>
                  <a:schemeClr val="accent6"/>
                </a:solidFill>
              </a:rPr>
              <a:t>zal ik werken thuis</a:t>
            </a:r>
            <a:r>
              <a:rPr lang="en-US" sz="2100" b="1" i="1" dirty="0">
                <a:solidFill>
                  <a:schemeClr val="accent3"/>
                </a:solidFill>
              </a:rPr>
              <a:t> zal ik thuis werken</a:t>
            </a:r>
            <a:r>
              <a:rPr lang="en-US" sz="2100" i="1" dirty="0">
                <a:solidFill>
                  <a:schemeClr val="tx1"/>
                </a:solidFill>
              </a:rPr>
              <a:t>. Woensdag ga ik meneer Maes opbellen. Als ik terug </a:t>
            </a:r>
            <a:r>
              <a:rPr lang="en-US" sz="2100" i="1" strike="sngStrike" dirty="0">
                <a:solidFill>
                  <a:schemeClr val="accent6"/>
                </a:solidFill>
              </a:rPr>
              <a:t>zal zijn</a:t>
            </a:r>
            <a:r>
              <a:rPr lang="en-US" sz="2100" b="1" i="1" dirty="0">
                <a:solidFill>
                  <a:schemeClr val="accent3"/>
                </a:solidFill>
              </a:rPr>
              <a:t> ben</a:t>
            </a:r>
            <a:r>
              <a:rPr lang="en-US" sz="2100" i="1" dirty="0">
                <a:solidFill>
                  <a:schemeClr val="tx1"/>
                </a:solidFill>
              </a:rPr>
              <a:t>, </a:t>
            </a:r>
            <a:r>
              <a:rPr lang="en-US" sz="2100" i="1" strike="sngStrike" dirty="0">
                <a:solidFill>
                  <a:schemeClr val="accent6"/>
                </a:solidFill>
              </a:rPr>
              <a:t>ik schrijf</a:t>
            </a:r>
            <a:r>
              <a:rPr lang="en-US" sz="2100" b="1" i="1" dirty="0">
                <a:solidFill>
                  <a:schemeClr val="accent3"/>
                </a:solidFill>
              </a:rPr>
              <a:t> schrijf ik</a:t>
            </a:r>
            <a:r>
              <a:rPr lang="en-US" sz="2100" i="1" dirty="0">
                <a:solidFill>
                  <a:schemeClr val="tx1"/>
                </a:solidFill>
              </a:rPr>
              <a:t> het rapport. Ik zal het je vrijdag sturen. Groeten, Karim</a:t>
            </a:r>
            <a:endParaRPr lang="en-US" sz="2100" dirty="0"/>
          </a:p>
        </p:txBody>
      </p:sp>
      <p:pic>
        <p:nvPicPr>
          <p:cNvPr id="13" name="Image 1" descr="magnifying glass tilted left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509760" y="2023872"/>
            <a:ext cx="1463040" cy="1463040"/>
          </a:xfrm>
          <a:prstGeom prst="rect">
            <a:avLst/>
          </a:prstGeom>
        </p:spPr>
      </p:pic>
      <p:sp>
        <p:nvSpPr>
          <p:cNvPr id="14" name="Shape 9"/>
          <p:cNvSpPr/>
          <p:nvPr/>
        </p:nvSpPr>
        <p:spPr>
          <a:xfrm>
            <a:off x="9052560" y="3715512"/>
            <a:ext cx="2587752" cy="822960"/>
          </a:xfrm>
          <a:prstGeom prst="roundRect">
            <a:avLst>
              <a:gd name="adj" fmla="val 8889"/>
            </a:avLst>
          </a:prstGeom>
          <a:solidFill>
            <a:schemeClr val="accent6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15" name="Text 10"/>
          <p:cNvSpPr txBox="1"/>
          <p:nvPr/>
        </p:nvSpPr>
        <p:spPr>
          <a:xfrm>
            <a:off x="9052560" y="3715512"/>
            <a:ext cx="2587752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chemeClr val="bg1"/>
                </a:solidFill>
              </a:rPr>
              <a:t>5 erreurs ✓</a:t>
            </a:r>
            <a:endParaRPr lang="en-US" sz="2200" dirty="0"/>
          </a:p>
        </p:txBody>
      </p:sp>
      <p:sp>
        <p:nvSpPr>
          <p:cNvPr id="16" name="Text 11"/>
          <p:cNvSpPr txBox="1"/>
          <p:nvPr/>
        </p:nvSpPr>
        <p:spPr>
          <a:xfrm>
            <a:off x="9052560" y="4721352"/>
            <a:ext cx="2587752" cy="1645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400" i="1" dirty="0">
                <a:solidFill>
                  <a:schemeClr val="accent5"/>
                </a:solidFill>
              </a:rPr>
              <a:t>Leurres : </a:t>
            </a:r>
            <a:r>
              <a:rPr lang="en-US" sz="1400" i="1" dirty="0">
                <a:solidFill>
                  <a:schemeClr val="accent5"/>
                </a:solidFill>
              </a:rPr>
              <a:t>Woensdag ga ik meneer Maes opbellen · Ik zal het je vrijdag sturen</a:t>
            </a:r>
            <a:r>
              <a:rPr lang="en-US" sz="1400" i="1" dirty="0">
                <a:solidFill>
                  <a:schemeClr val="accent5"/>
                </a:solidFill>
              </a:rPr>
              <a:t>.</a:t>
            </a:r>
            <a:endParaRPr lang="en-US" sz="14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1672" y="644652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4A5A70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24</a:t>
            </a:fld>
            <a:endParaRPr lang="en-US"/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548640" y="621792"/>
            <a:ext cx="11091672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chemeClr val="tx2"/>
                </a:solidFill>
              </a:rPr>
              <a:t>Exercice 6 — La boule de cristal</a:t>
            </a:r>
            <a:endParaRPr lang="en-US" sz="3000" dirty="0"/>
          </a:p>
        </p:txBody>
      </p:sp>
      <p:sp>
        <p:nvSpPr>
          <p:cNvPr id="3" name="tag"/>
          <p:cNvSpPr/>
          <p:nvPr/>
        </p:nvSpPr>
        <p:spPr>
          <a:xfrm>
            <a:off x="548640" y="237744"/>
            <a:ext cx="1228954" cy="310896"/>
          </a:xfrm>
          <a:prstGeom prst="roundRect">
            <a:avLst>
              <a:gd name="adj" fmla="val 14706"/>
            </a:avLst>
          </a:prstGeom>
          <a:solidFill>
            <a:schemeClr val="accent1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spc="100" kern="0" dirty="0">
                <a:solidFill>
                  <a:srgbClr val="FFFFFF"/>
                </a:solidFill>
              </a:rPr>
              <a:t>JIJ NU !</a:t>
            </a:r>
            <a:endParaRPr lang="en-US" sz="1200" dirty="0"/>
          </a:p>
        </p:txBody>
      </p:sp>
      <p:sp>
        <p:nvSpPr>
          <p:cNvPr id="4" name="Text 2"/>
          <p:cNvSpPr txBox="1"/>
          <p:nvPr/>
        </p:nvSpPr>
        <p:spPr>
          <a:xfrm>
            <a:off x="10177272" y="219456"/>
            <a:ext cx="146304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600" b="1" dirty="0">
                <a:solidFill>
                  <a:schemeClr val="accent1"/>
                </a:solidFill>
              </a:rPr>
              <a:t>★</a:t>
            </a:r>
            <a:endParaRPr lang="en-US" sz="1600" dirty="0"/>
          </a:p>
        </p:txBody>
      </p:sp>
      <p:pic>
        <p:nvPicPr>
          <p:cNvPr id="6" name="Image 0" descr="crystal ball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48640" y="1645920"/>
            <a:ext cx="2194560" cy="2194560"/>
          </a:xfrm>
          <a:prstGeom prst="rect">
            <a:avLst/>
          </a:prstGeom>
        </p:spPr>
      </p:pic>
      <p:sp>
        <p:nvSpPr>
          <p:cNvPr id="7" name="Shape 3"/>
          <p:cNvSpPr/>
          <p:nvPr/>
        </p:nvSpPr>
        <p:spPr>
          <a:xfrm>
            <a:off x="3017520" y="1645920"/>
            <a:ext cx="1234440" cy="1005840"/>
          </a:xfrm>
          <a:prstGeom prst="roundRect">
            <a:avLst>
              <a:gd name="adj" fmla="val 10909"/>
            </a:avLst>
          </a:prstGeom>
          <a:solidFill>
            <a:srgbClr val="6E4A9E">
              <a:alpha val="15000"/>
            </a:srgbClr>
          </a:solidFill>
          <a:ln w="19050">
            <a:solidFill>
              <a:srgbClr val="6E4A9E"/>
            </a:solidFill>
            <a:prstDash val="solid"/>
          </a:ln>
        </p:spPr>
      </p:sp>
      <p:pic>
        <p:nvPicPr>
          <p:cNvPr id="8" name="Image 1" descr="briefcase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383280" y="1719072"/>
            <a:ext cx="502920" cy="502920"/>
          </a:xfrm>
          <a:prstGeom prst="rect">
            <a:avLst/>
          </a:prstGeom>
        </p:spPr>
      </p:pic>
      <p:sp>
        <p:nvSpPr>
          <p:cNvPr id="9" name="Text 4"/>
          <p:cNvSpPr txBox="1"/>
          <p:nvPr/>
        </p:nvSpPr>
        <p:spPr>
          <a:xfrm>
            <a:off x="3017520" y="2240280"/>
            <a:ext cx="12344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6E4A9E"/>
                </a:solidFill>
              </a:rPr>
              <a:t>werk</a:t>
            </a:r>
            <a:endParaRPr lang="en-US" sz="1300" dirty="0"/>
          </a:p>
        </p:txBody>
      </p:sp>
      <p:sp>
        <p:nvSpPr>
          <p:cNvPr id="10" name="Shape 5"/>
          <p:cNvSpPr/>
          <p:nvPr/>
        </p:nvSpPr>
        <p:spPr>
          <a:xfrm>
            <a:off x="4389120" y="1645920"/>
            <a:ext cx="1234440" cy="1005840"/>
          </a:xfrm>
          <a:prstGeom prst="roundRect">
            <a:avLst>
              <a:gd name="adj" fmla="val 10909"/>
            </a:avLst>
          </a:prstGeom>
          <a:solidFill>
            <a:srgbClr val="6E4A9E">
              <a:alpha val="15000"/>
            </a:srgbClr>
          </a:solidFill>
          <a:ln w="19050">
            <a:solidFill>
              <a:srgbClr val="6E4A9E"/>
            </a:solidFill>
            <a:prstDash val="solid"/>
          </a:ln>
        </p:spPr>
      </p:sp>
      <p:pic>
        <p:nvPicPr>
          <p:cNvPr id="11" name="Image 2" descr="red heart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754880" y="1719072"/>
            <a:ext cx="502920" cy="502920"/>
          </a:xfrm>
          <a:prstGeom prst="rect">
            <a:avLst/>
          </a:prstGeom>
        </p:spPr>
      </p:pic>
      <p:sp>
        <p:nvSpPr>
          <p:cNvPr id="12" name="Text 6"/>
          <p:cNvSpPr txBox="1"/>
          <p:nvPr/>
        </p:nvSpPr>
        <p:spPr>
          <a:xfrm>
            <a:off x="4389120" y="2240280"/>
            <a:ext cx="12344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6E4A9E"/>
                </a:solidFill>
              </a:rPr>
              <a:t>liefde</a:t>
            </a:r>
            <a:endParaRPr lang="en-US" sz="1300" dirty="0"/>
          </a:p>
        </p:txBody>
      </p:sp>
      <p:sp>
        <p:nvSpPr>
          <p:cNvPr id="13" name="Shape 7"/>
          <p:cNvSpPr/>
          <p:nvPr/>
        </p:nvSpPr>
        <p:spPr>
          <a:xfrm>
            <a:off x="5760720" y="1645920"/>
            <a:ext cx="1234440" cy="1005840"/>
          </a:xfrm>
          <a:prstGeom prst="roundRect">
            <a:avLst>
              <a:gd name="adj" fmla="val 10909"/>
            </a:avLst>
          </a:prstGeom>
          <a:solidFill>
            <a:srgbClr val="6E4A9E">
              <a:alpha val="15000"/>
            </a:srgbClr>
          </a:solidFill>
          <a:ln w="19050">
            <a:solidFill>
              <a:srgbClr val="6E4A9E"/>
            </a:solidFill>
            <a:prstDash val="solid"/>
          </a:ln>
        </p:spPr>
      </p:sp>
      <p:pic>
        <p:nvPicPr>
          <p:cNvPr id="14" name="Image 3" descr="airplane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126480" y="1719072"/>
            <a:ext cx="502920" cy="502920"/>
          </a:xfrm>
          <a:prstGeom prst="rect">
            <a:avLst/>
          </a:prstGeom>
        </p:spPr>
      </p:pic>
      <p:sp>
        <p:nvSpPr>
          <p:cNvPr id="15" name="Text 8"/>
          <p:cNvSpPr txBox="1"/>
          <p:nvPr/>
        </p:nvSpPr>
        <p:spPr>
          <a:xfrm>
            <a:off x="5760720" y="2240280"/>
            <a:ext cx="12344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6E4A9E"/>
                </a:solidFill>
              </a:rPr>
              <a:t>reizen</a:t>
            </a:r>
            <a:endParaRPr lang="en-US" sz="1300" dirty="0"/>
          </a:p>
        </p:txBody>
      </p:sp>
      <p:sp>
        <p:nvSpPr>
          <p:cNvPr id="16" name="Shape 9"/>
          <p:cNvSpPr/>
          <p:nvPr/>
        </p:nvSpPr>
        <p:spPr>
          <a:xfrm>
            <a:off x="3017520" y="2788920"/>
            <a:ext cx="1234440" cy="1005840"/>
          </a:xfrm>
          <a:prstGeom prst="roundRect">
            <a:avLst>
              <a:gd name="adj" fmla="val 10909"/>
            </a:avLst>
          </a:prstGeom>
          <a:solidFill>
            <a:srgbClr val="6E4A9E">
              <a:alpha val="15000"/>
            </a:srgbClr>
          </a:solidFill>
          <a:ln w="19050">
            <a:solidFill>
              <a:srgbClr val="6E4A9E"/>
            </a:solidFill>
            <a:prstDash val="solid"/>
          </a:ln>
        </p:spPr>
      </p:sp>
      <p:pic>
        <p:nvPicPr>
          <p:cNvPr id="17" name="Image 4" descr="money ba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3383280" y="2862072"/>
            <a:ext cx="502920" cy="502920"/>
          </a:xfrm>
          <a:prstGeom prst="rect">
            <a:avLst/>
          </a:prstGeom>
        </p:spPr>
      </p:pic>
      <p:sp>
        <p:nvSpPr>
          <p:cNvPr id="18" name="Text 10"/>
          <p:cNvSpPr txBox="1"/>
          <p:nvPr/>
        </p:nvSpPr>
        <p:spPr>
          <a:xfrm>
            <a:off x="3017520" y="3383280"/>
            <a:ext cx="12344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6E4A9E"/>
                </a:solidFill>
              </a:rPr>
              <a:t>geld</a:t>
            </a:r>
            <a:endParaRPr lang="en-US" sz="1300" dirty="0"/>
          </a:p>
        </p:txBody>
      </p:sp>
      <p:sp>
        <p:nvSpPr>
          <p:cNvPr id="19" name="Shape 11"/>
          <p:cNvSpPr/>
          <p:nvPr/>
        </p:nvSpPr>
        <p:spPr>
          <a:xfrm>
            <a:off x="4389120" y="2788920"/>
            <a:ext cx="1234440" cy="1005840"/>
          </a:xfrm>
          <a:prstGeom prst="roundRect">
            <a:avLst>
              <a:gd name="adj" fmla="val 10909"/>
            </a:avLst>
          </a:prstGeom>
          <a:solidFill>
            <a:srgbClr val="6E4A9E">
              <a:alpha val="15000"/>
            </a:srgbClr>
          </a:solidFill>
          <a:ln w="19050">
            <a:solidFill>
              <a:srgbClr val="6E4A9E"/>
            </a:solidFill>
            <a:prstDash val="solid"/>
          </a:ln>
        </p:spPr>
      </p:sp>
      <p:pic>
        <p:nvPicPr>
          <p:cNvPr id="20" name="Image 5" descr="house">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4754880" y="2862072"/>
            <a:ext cx="502920" cy="502920"/>
          </a:xfrm>
          <a:prstGeom prst="rect">
            <a:avLst/>
          </a:prstGeom>
        </p:spPr>
      </p:pic>
      <p:sp>
        <p:nvSpPr>
          <p:cNvPr id="21" name="Text 12"/>
          <p:cNvSpPr txBox="1"/>
          <p:nvPr/>
        </p:nvSpPr>
        <p:spPr>
          <a:xfrm>
            <a:off x="4389120" y="3383280"/>
            <a:ext cx="12344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6E4A9E"/>
                </a:solidFill>
              </a:rPr>
              <a:t>wonen</a:t>
            </a:r>
            <a:endParaRPr lang="en-US" sz="1300" dirty="0"/>
          </a:p>
        </p:txBody>
      </p:sp>
      <p:sp>
        <p:nvSpPr>
          <p:cNvPr id="22" name="Shape 13"/>
          <p:cNvSpPr/>
          <p:nvPr/>
        </p:nvSpPr>
        <p:spPr>
          <a:xfrm>
            <a:off x="5760720" y="2788920"/>
            <a:ext cx="1234440" cy="1005840"/>
          </a:xfrm>
          <a:prstGeom prst="roundRect">
            <a:avLst>
              <a:gd name="adj" fmla="val 10909"/>
            </a:avLst>
          </a:prstGeom>
          <a:solidFill>
            <a:srgbClr val="6E4A9E">
              <a:alpha val="15000"/>
            </a:srgbClr>
          </a:solidFill>
          <a:ln w="19050">
            <a:solidFill>
              <a:srgbClr val="6E4A9E"/>
            </a:solidFill>
            <a:prstDash val="solid"/>
          </a:ln>
        </p:spPr>
      </p:sp>
      <p:pic>
        <p:nvPicPr>
          <p:cNvPr id="23" name="Image 6" descr="stethoscope">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6126480" y="2862072"/>
            <a:ext cx="502920" cy="502920"/>
          </a:xfrm>
          <a:prstGeom prst="rect">
            <a:avLst/>
          </a:prstGeom>
        </p:spPr>
      </p:pic>
      <p:sp>
        <p:nvSpPr>
          <p:cNvPr id="24" name="Text 14"/>
          <p:cNvSpPr txBox="1"/>
          <p:nvPr/>
        </p:nvSpPr>
        <p:spPr>
          <a:xfrm>
            <a:off x="5760720" y="3383280"/>
            <a:ext cx="12344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6E4A9E"/>
                </a:solidFill>
              </a:rPr>
              <a:t>gezondheid</a:t>
            </a:r>
            <a:endParaRPr lang="en-US" sz="1300" dirty="0"/>
          </a:p>
        </p:txBody>
      </p:sp>
      <p:sp>
        <p:nvSpPr>
          <p:cNvPr id="25" name="Text 15"/>
          <p:cNvSpPr txBox="1"/>
          <p:nvPr/>
        </p:nvSpPr>
        <p:spPr>
          <a:xfrm>
            <a:off x="7315200" y="1645920"/>
            <a:ext cx="4325112" cy="21945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spcAft>
                <a:spcPts val="1000"/>
              </a:spcAft>
              <a:buNone/>
            </a:pPr>
            <a:r>
              <a:rPr lang="en-US" sz="1600" b="1" dirty="0">
                <a:solidFill>
                  <a:schemeClr val="tx1"/>
                </a:solidFill>
              </a:rPr>
              <a:t>1.</a:t>
            </a:r>
            <a:r>
              <a:rPr lang="en-US" sz="1600" dirty="0">
                <a:solidFill>
                  <a:schemeClr val="tx1"/>
                </a:solidFill>
              </a:rPr>
              <a:t> Par trois : la voyante tire 2 cartes-thèmes.</a:t>
            </a:r>
            <a:endParaRPr lang="en-US" sz="1600" dirty="0"/>
          </a:p>
          <a:p>
            <a:pPr algn="l" indent="0" marL="0">
              <a:spcAft>
                <a:spcPts val="1000"/>
              </a:spcAft>
              <a:buNone/>
            </a:pPr>
            <a:r>
              <a:rPr lang="en-US" sz="1600" b="1" dirty="0">
                <a:solidFill>
                  <a:schemeClr val="tx1"/>
                </a:solidFill>
              </a:rPr>
              <a:t>2.</a:t>
            </a:r>
            <a:r>
              <a:rPr lang="en-US" sz="1600" dirty="0">
                <a:solidFill>
                  <a:schemeClr val="tx1"/>
                </a:solidFill>
              </a:rPr>
              <a:t> Elle prédit l’avenir d’un camarade, avec </a:t>
            </a:r>
            <a:r>
              <a:rPr lang="en-US" sz="1600" i="1" dirty="0">
                <a:solidFill>
                  <a:schemeClr val="tx1"/>
                </a:solidFill>
              </a:rPr>
              <a:t>gaan</a:t>
            </a:r>
            <a:r>
              <a:rPr lang="en-US" sz="1600" dirty="0">
                <a:solidFill>
                  <a:schemeClr val="tx1"/>
                </a:solidFill>
              </a:rPr>
              <a:t> et </a:t>
            </a:r>
            <a:r>
              <a:rPr lang="en-US" sz="1600" i="1" dirty="0">
                <a:solidFill>
                  <a:schemeClr val="tx1"/>
                </a:solidFill>
              </a:rPr>
              <a:t>zullen</a:t>
            </a:r>
            <a:r>
              <a:rPr lang="en-US" sz="1600" dirty="0">
                <a:solidFill>
                  <a:schemeClr val="tx1"/>
                </a:solidFill>
              </a:rPr>
              <a:t>.</a:t>
            </a:r>
            <a:endParaRPr lang="en-US" sz="1600" dirty="0"/>
          </a:p>
          <a:p>
            <a:pPr algn="l" indent="0" marL="0">
              <a:spcAft>
                <a:spcPts val="1000"/>
              </a:spcAft>
              <a:buNone/>
            </a:pPr>
            <a:r>
              <a:rPr lang="en-US" sz="1600" b="1" dirty="0">
                <a:solidFill>
                  <a:schemeClr val="tx1"/>
                </a:solidFill>
              </a:rPr>
              <a:t>3.</a:t>
            </a:r>
            <a:r>
              <a:rPr lang="en-US" sz="1600" dirty="0">
                <a:solidFill>
                  <a:schemeClr val="tx1"/>
                </a:solidFill>
              </a:rPr>
              <a:t> Le camarade réagit.</a:t>
            </a:r>
            <a:endParaRPr lang="en-US" sz="1600" dirty="0"/>
          </a:p>
        </p:txBody>
      </p:sp>
      <p:sp>
        <p:nvSpPr>
          <p:cNvPr id="26" name="Shape 16"/>
          <p:cNvSpPr/>
          <p:nvPr/>
        </p:nvSpPr>
        <p:spPr>
          <a:xfrm>
            <a:off x="548640" y="4206240"/>
            <a:ext cx="6400800" cy="914400"/>
          </a:xfrm>
          <a:prstGeom prst="roundRect">
            <a:avLst>
              <a:gd name="adj" fmla="val 18000"/>
            </a:avLst>
          </a:prstGeom>
          <a:solidFill>
            <a:srgbClr val="6E4A9E">
              <a:alpha val="12000"/>
            </a:srgbClr>
          </a:solidFill>
          <a:ln w="15875">
            <a:solidFill>
              <a:srgbClr val="6E4A9E"/>
            </a:solidFill>
            <a:prstDash val="solid"/>
          </a:ln>
        </p:spPr>
      </p:sp>
      <p:sp>
        <p:nvSpPr>
          <p:cNvPr id="27" name="Text 17"/>
          <p:cNvSpPr txBox="1"/>
          <p:nvPr/>
        </p:nvSpPr>
        <p:spPr>
          <a:xfrm>
            <a:off x="713232" y="4206240"/>
            <a:ext cx="6071616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900" i="1" dirty="0">
                <a:solidFill>
                  <a:schemeClr val="tx1"/>
                </a:solidFill>
              </a:rPr>
              <a:t>Jij </a:t>
            </a:r>
            <a:r>
              <a:rPr lang="en-US" sz="1900" b="1" i="1" dirty="0">
                <a:solidFill>
                  <a:schemeClr val="tx1"/>
                </a:solidFill>
              </a:rPr>
              <a:t>gaat</a:t>
            </a:r>
            <a:r>
              <a:rPr lang="en-US" sz="1900" i="1" dirty="0">
                <a:solidFill>
                  <a:schemeClr val="tx1"/>
                </a:solidFill>
              </a:rPr>
              <a:t> een nieuwe job </a:t>
            </a:r>
            <a:r>
              <a:rPr lang="en-US" sz="1900" b="1" i="1" dirty="0">
                <a:solidFill>
                  <a:schemeClr val="tx1"/>
                </a:solidFill>
              </a:rPr>
              <a:t>vinden</a:t>
            </a:r>
            <a:r>
              <a:rPr lang="en-US" sz="1900" i="1" dirty="0">
                <a:solidFill>
                  <a:schemeClr val="tx1"/>
                </a:solidFill>
              </a:rPr>
              <a:t>. Je </a:t>
            </a:r>
            <a:r>
              <a:rPr lang="en-US" sz="1900" b="1" i="1" dirty="0">
                <a:solidFill>
                  <a:schemeClr val="tx1"/>
                </a:solidFill>
              </a:rPr>
              <a:t>zult</a:t>
            </a:r>
            <a:r>
              <a:rPr lang="en-US" sz="1900" i="1" dirty="0">
                <a:solidFill>
                  <a:schemeClr val="tx1"/>
                </a:solidFill>
              </a:rPr>
              <a:t> veel </a:t>
            </a:r>
            <a:r>
              <a:rPr lang="en-US" sz="1900" b="1" i="1" dirty="0">
                <a:solidFill>
                  <a:schemeClr val="tx1"/>
                </a:solidFill>
              </a:rPr>
              <a:t>reizen</a:t>
            </a:r>
            <a:r>
              <a:rPr lang="en-US" sz="1900" i="1" dirty="0">
                <a:solidFill>
                  <a:schemeClr val="tx1"/>
                </a:solidFill>
              </a:rPr>
              <a:t>.</a:t>
            </a:r>
            <a:endParaRPr lang="en-US" sz="1900" dirty="0"/>
          </a:p>
        </p:txBody>
      </p:sp>
      <p:sp>
        <p:nvSpPr>
          <p:cNvPr id="28" name="Shape 18"/>
          <p:cNvSpPr/>
          <p:nvPr/>
        </p:nvSpPr>
        <p:spPr>
          <a:xfrm>
            <a:off x="2743200" y="5303520"/>
            <a:ext cx="6400800" cy="868680"/>
          </a:xfrm>
          <a:prstGeom prst="roundRect">
            <a:avLst>
              <a:gd name="adj" fmla="val 18947"/>
            </a:avLst>
          </a:prstGeom>
          <a:solidFill>
            <a:schemeClr val="accent2">
              <a:alpha val="12000"/>
            </a:schemeClr>
          </a:solidFill>
          <a:ln w="15875">
            <a:solidFill>
              <a:srgbClr val="2A6FB0"/>
            </a:solidFill>
            <a:prstDash val="solid"/>
          </a:ln>
        </p:spPr>
      </p:sp>
      <p:sp>
        <p:nvSpPr>
          <p:cNvPr id="29" name="Text 19"/>
          <p:cNvSpPr txBox="1"/>
          <p:nvPr/>
        </p:nvSpPr>
        <p:spPr>
          <a:xfrm>
            <a:off x="2907792" y="5303520"/>
            <a:ext cx="6071616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900" i="1" dirty="0">
                <a:solidFill>
                  <a:schemeClr val="tx1"/>
                </a:solidFill>
              </a:rPr>
              <a:t>Echt? Fantastisch! · Nee, dat geloof ik niet!</a:t>
            </a:r>
            <a:endParaRPr lang="en-US" sz="1900" dirty="0"/>
          </a:p>
        </p:txBody>
      </p:sp>
      <p:pic>
        <p:nvPicPr>
          <p:cNvPr id="30" name="Image 7" descr="party popper">    </p:cNvPr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9509760" y="4572000"/>
            <a:ext cx="1097280" cy="1097280"/>
          </a:xfrm>
          <a:prstGeom prst="rect">
            <a:avLst/>
          </a:prstGeom>
        </p:spPr>
      </p:pic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1672" y="644652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4A5A70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25</a:t>
            </a:fld>
            <a:endParaRPr lang="en-US"/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548640" y="621792"/>
            <a:ext cx="11091672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chemeClr val="tx2"/>
                </a:solidFill>
              </a:rPr>
              <a:t>Exercice 7 — La journée d’équipe</a:t>
            </a:r>
            <a:endParaRPr lang="en-US" sz="3000" dirty="0"/>
          </a:p>
        </p:txBody>
      </p:sp>
      <p:sp>
        <p:nvSpPr>
          <p:cNvPr id="3" name="tag"/>
          <p:cNvSpPr/>
          <p:nvPr/>
        </p:nvSpPr>
        <p:spPr>
          <a:xfrm>
            <a:off x="548640" y="237744"/>
            <a:ext cx="2200046" cy="310896"/>
          </a:xfrm>
          <a:prstGeom prst="roundRect">
            <a:avLst>
              <a:gd name="adj" fmla="val 14706"/>
            </a:avLst>
          </a:prstGeom>
          <a:solidFill>
            <a:srgbClr val="6E4A9E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spc="100" kern="0" dirty="0">
                <a:solidFill>
                  <a:srgbClr val="FFFFFF"/>
                </a:solidFill>
              </a:rPr>
              <a:t>MISE EN SITUATION</a:t>
            </a:r>
            <a:endParaRPr lang="en-US" sz="1200" dirty="0"/>
          </a:p>
        </p:txBody>
      </p:sp>
      <p:sp>
        <p:nvSpPr>
          <p:cNvPr id="4" name="Text 2"/>
          <p:cNvSpPr txBox="1"/>
          <p:nvPr/>
        </p:nvSpPr>
        <p:spPr>
          <a:xfrm>
            <a:off x="10177272" y="219456"/>
            <a:ext cx="146304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600" b="1" dirty="0">
                <a:solidFill>
                  <a:schemeClr val="accent1"/>
                </a:solidFill>
              </a:rPr>
              <a:t>★★★</a:t>
            </a:r>
            <a:endParaRPr lang="en-US" sz="1600" dirty="0"/>
          </a:p>
        </p:txBody>
      </p:sp>
      <p:sp>
        <p:nvSpPr>
          <p:cNvPr id="6" name="Shape 3"/>
          <p:cNvSpPr/>
          <p:nvPr/>
        </p:nvSpPr>
        <p:spPr>
          <a:xfrm>
            <a:off x="548640" y="1481328"/>
            <a:ext cx="7251192" cy="755904"/>
          </a:xfrm>
          <a:prstGeom prst="roundRect">
            <a:avLst>
              <a:gd name="adj" fmla="val 9677"/>
            </a:avLst>
          </a:prstGeom>
          <a:solidFill>
            <a:srgbClr val="6E4A9E">
              <a:alpha val="10000"/>
            </a:srgbClr>
          </a:solidFill>
          <a:ln w="12700">
            <a:solidFill>
              <a:srgbClr val="6E4A9E"/>
            </a:solidFill>
            <a:prstDash val="solid"/>
          </a:ln>
        </p:spPr>
      </p:sp>
      <p:sp>
        <p:nvSpPr>
          <p:cNvPr id="7" name="Text 4"/>
          <p:cNvSpPr txBox="1"/>
          <p:nvPr/>
        </p:nvSpPr>
        <p:spPr>
          <a:xfrm>
            <a:off x="777240" y="1481328"/>
            <a:ext cx="6793992" cy="7559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700" dirty="0">
                <a:solidFill>
                  <a:schemeClr val="tx1"/>
                </a:solidFill>
              </a:rPr>
              <a:t>Le mois prochain, Peeters &amp; Co organise une journée d’équipe (</a:t>
            </a:r>
            <a:r>
              <a:rPr lang="en-US" sz="1700" i="1" dirty="0">
                <a:solidFill>
                  <a:schemeClr val="tx1"/>
                </a:solidFill>
              </a:rPr>
              <a:t>teamdag</a:t>
            </a:r>
            <a:r>
              <a:rPr lang="en-US" sz="1700" dirty="0">
                <a:solidFill>
                  <a:schemeClr val="tx1"/>
                </a:solidFill>
              </a:rPr>
              <a:t>). An et Sofie préparent le programme.</a:t>
            </a:r>
            <a:endParaRPr lang="en-US" sz="1700" dirty="0"/>
          </a:p>
        </p:txBody>
      </p:sp>
      <p:sp>
        <p:nvSpPr>
          <p:cNvPr id="8" name="Shape 5"/>
          <p:cNvSpPr/>
          <p:nvPr/>
        </p:nvSpPr>
        <p:spPr>
          <a:xfrm>
            <a:off x="548640" y="2420112"/>
            <a:ext cx="3488436" cy="2087880"/>
          </a:xfrm>
          <a:prstGeom prst="roundRect">
            <a:avLst>
              <a:gd name="adj" fmla="val 3504"/>
            </a:avLst>
          </a:prstGeom>
          <a:solidFill>
            <a:schemeClr val="bg1"/>
          </a:solidFill>
          <a:ln w="19050">
            <a:solidFill>
              <a:srgbClr val="2A6FB0"/>
            </a:solidFill>
            <a:prstDash val="solid"/>
          </a:ln>
          <a:effectLst>
            <a:outerShdw sx="100000" sy="100000" kx="0" ky="0" algn="bl" rotWithShape="0" blurRad="101600" dist="25400" dir="3600000">
              <a:srgbClr val="000000">
                <a:alpha val="16000"/>
              </a:srgbClr>
            </a:outerShdw>
          </a:effectLst>
        </p:spPr>
      </p:sp>
      <p:sp>
        <p:nvSpPr>
          <p:cNvPr id="9" name="Shape 6"/>
          <p:cNvSpPr/>
          <p:nvPr/>
        </p:nvSpPr>
        <p:spPr>
          <a:xfrm>
            <a:off x="713232" y="2557272"/>
            <a:ext cx="457200" cy="457200"/>
          </a:xfrm>
          <a:prstGeom prst="ellipse">
            <a:avLst/>
          </a:prstGeom>
          <a:solidFill>
            <a:schemeClr val="accent2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10" name="Text 7"/>
          <p:cNvSpPr txBox="1"/>
          <p:nvPr/>
        </p:nvSpPr>
        <p:spPr>
          <a:xfrm>
            <a:off x="713232" y="2557272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chemeClr val="bg1"/>
                </a:solidFill>
              </a:rPr>
              <a:t>A</a:t>
            </a:r>
            <a:endParaRPr lang="en-US" sz="1800" dirty="0"/>
          </a:p>
        </p:txBody>
      </p:sp>
      <p:sp>
        <p:nvSpPr>
          <p:cNvPr id="11" name="Text 8"/>
          <p:cNvSpPr txBox="1"/>
          <p:nvPr/>
        </p:nvSpPr>
        <p:spPr>
          <a:xfrm>
            <a:off x="1325880" y="2511552"/>
            <a:ext cx="2574036" cy="1905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700" b="1" dirty="0">
                <a:solidFill>
                  <a:schemeClr val="tx1"/>
                </a:solidFill>
              </a:rPr>
              <a:t>An</a:t>
            </a:r>
            <a:r>
              <a:rPr lang="en-US" sz="1700" dirty="0">
                <a:solidFill>
                  <a:schemeClr val="tx1"/>
                </a:solidFill>
              </a:rPr>
              <a:t> : proposez des activités et un horaire : </a:t>
            </a:r>
            <a:r>
              <a:rPr lang="en-US" sz="1700" i="1" dirty="0">
                <a:solidFill>
                  <a:schemeClr val="tx1"/>
                </a:solidFill>
              </a:rPr>
              <a:t>Om 9 uur… Daarna gaan we…</a:t>
            </a:r>
            <a:endParaRPr lang="en-US" sz="1700" dirty="0"/>
          </a:p>
        </p:txBody>
      </p:sp>
      <p:sp>
        <p:nvSpPr>
          <p:cNvPr id="12" name="Shape 9"/>
          <p:cNvSpPr/>
          <p:nvPr/>
        </p:nvSpPr>
        <p:spPr>
          <a:xfrm>
            <a:off x="4311396" y="2420112"/>
            <a:ext cx="3488436" cy="2087880"/>
          </a:xfrm>
          <a:prstGeom prst="roundRect">
            <a:avLst>
              <a:gd name="adj" fmla="val 3504"/>
            </a:avLst>
          </a:prstGeom>
          <a:solidFill>
            <a:schemeClr val="bg1"/>
          </a:solidFill>
          <a:ln w="19050">
            <a:solidFill>
              <a:srgbClr val="6E4A9E"/>
            </a:solidFill>
            <a:prstDash val="solid"/>
          </a:ln>
          <a:effectLst>
            <a:outerShdw sx="100000" sy="100000" kx="0" ky="0" algn="bl" rotWithShape="0" blurRad="101600" dist="25400" dir="3600000">
              <a:srgbClr val="000000">
                <a:alpha val="16000"/>
              </a:srgbClr>
            </a:outerShdw>
          </a:effectLst>
        </p:spPr>
      </p:sp>
      <p:sp>
        <p:nvSpPr>
          <p:cNvPr id="13" name="Shape 10"/>
          <p:cNvSpPr/>
          <p:nvPr/>
        </p:nvSpPr>
        <p:spPr>
          <a:xfrm>
            <a:off x="4475988" y="2557272"/>
            <a:ext cx="457200" cy="457200"/>
          </a:xfrm>
          <a:prstGeom prst="ellipse">
            <a:avLst/>
          </a:prstGeom>
          <a:solidFill>
            <a:srgbClr val="6E4A9E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14" name="Text 11"/>
          <p:cNvSpPr txBox="1"/>
          <p:nvPr/>
        </p:nvSpPr>
        <p:spPr>
          <a:xfrm>
            <a:off x="4475988" y="2557272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chemeClr val="bg1"/>
                </a:solidFill>
              </a:rPr>
              <a:t>B</a:t>
            </a:r>
            <a:endParaRPr lang="en-US" sz="1800" dirty="0"/>
          </a:p>
        </p:txBody>
      </p:sp>
      <p:sp>
        <p:nvSpPr>
          <p:cNvPr id="15" name="Text 12"/>
          <p:cNvSpPr txBox="1"/>
          <p:nvPr/>
        </p:nvSpPr>
        <p:spPr>
          <a:xfrm>
            <a:off x="5088636" y="2511552"/>
            <a:ext cx="2574036" cy="1905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700" b="1" dirty="0">
                <a:solidFill>
                  <a:schemeClr val="tx1"/>
                </a:solidFill>
              </a:rPr>
              <a:t>Sofie</a:t>
            </a:r>
            <a:r>
              <a:rPr lang="en-US" sz="1700" dirty="0">
                <a:solidFill>
                  <a:schemeClr val="tx1"/>
                </a:solidFill>
              </a:rPr>
              <a:t> : réagissez, proposez autre chose et promettez d’organiser : </a:t>
            </a:r>
            <a:r>
              <a:rPr lang="en-US" sz="1700" i="1" dirty="0">
                <a:solidFill>
                  <a:schemeClr val="tx1"/>
                </a:solidFill>
              </a:rPr>
              <a:t>Zullen we…? Ik zal…</a:t>
            </a:r>
            <a:endParaRPr lang="en-US" sz="1700" dirty="0"/>
          </a:p>
        </p:txBody>
      </p:sp>
      <p:sp>
        <p:nvSpPr>
          <p:cNvPr id="16" name="Shape 13"/>
          <p:cNvSpPr/>
          <p:nvPr/>
        </p:nvSpPr>
        <p:spPr>
          <a:xfrm>
            <a:off x="548640" y="4690872"/>
            <a:ext cx="7251192" cy="1600200"/>
          </a:xfrm>
          <a:prstGeom prst="roundRect">
            <a:avLst>
              <a:gd name="adj" fmla="val 4571"/>
            </a:avLst>
          </a:prstGeom>
          <a:solidFill>
            <a:schemeClr val="bg2"/>
          </a:solidFill>
          <a:ln w="12700">
            <a:solidFill>
              <a:srgbClr val="D5DCE6"/>
            </a:solidFill>
            <a:prstDash val="solid"/>
          </a:ln>
        </p:spPr>
      </p:sp>
      <p:sp>
        <p:nvSpPr>
          <p:cNvPr id="17" name="Text 14"/>
          <p:cNvSpPr txBox="1"/>
          <p:nvPr/>
        </p:nvSpPr>
        <p:spPr>
          <a:xfrm>
            <a:off x="731520" y="4764024"/>
            <a:ext cx="3657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00" b="1" spc="200" kern="0" dirty="0">
                <a:solidFill>
                  <a:schemeClr val="accent5"/>
                </a:solidFill>
              </a:rPr>
              <a:t>BANQUE DE PHRASES</a:t>
            </a:r>
            <a:endParaRPr lang="en-US" sz="1200" dirty="0"/>
          </a:p>
        </p:txBody>
      </p:sp>
      <p:sp>
        <p:nvSpPr>
          <p:cNvPr id="18" name="Text 15"/>
          <p:cNvSpPr txBox="1"/>
          <p:nvPr/>
        </p:nvSpPr>
        <p:spPr>
          <a:xfrm>
            <a:off x="731520" y="5056632"/>
            <a:ext cx="6885432" cy="116128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00" i="1" dirty="0">
                <a:solidFill>
                  <a:schemeClr val="tx1"/>
                </a:solidFill>
              </a:rPr>
              <a:t>Om 9 uur beginnen we met koffie. · Daarna gaan we… · Zullen we ’s middags…? · Ik zal de bus reserveren. · Wat gaan we ’s avonds doen? · Goed idee! · Dat is te duur.</a:t>
            </a:r>
            <a:endParaRPr lang="en-US" sz="1600" dirty="0"/>
          </a:p>
        </p:txBody>
      </p:sp>
      <p:sp>
        <p:nvSpPr>
          <p:cNvPr id="19" name="Shape 16"/>
          <p:cNvSpPr/>
          <p:nvPr/>
        </p:nvSpPr>
        <p:spPr>
          <a:xfrm>
            <a:off x="8074152" y="1481328"/>
            <a:ext cx="3566160" cy="4809744"/>
          </a:xfrm>
          <a:prstGeom prst="roundRect">
            <a:avLst>
              <a:gd name="adj" fmla="val 1026"/>
            </a:avLst>
          </a:prstGeom>
          <a:solidFill>
            <a:srgbClr val="FFFFFF"/>
          </a:solidFill>
          <a:ln w="12700">
            <a:solidFill>
              <a:srgbClr val="4A5A70"/>
            </a:solidFill>
            <a:prstDash val="solid"/>
          </a:ln>
          <a:effectLst>
            <a:outerShdw sx="100000" sy="100000" kx="0" ky="0" algn="bl" rotWithShape="0" blurRad="101600" dist="25400" dir="3600000">
              <a:srgbClr val="000000">
                <a:alpha val="16000"/>
              </a:srgbClr>
            </a:outerShdw>
          </a:effectLst>
        </p:spPr>
      </p:sp>
      <p:sp>
        <p:nvSpPr>
          <p:cNvPr id="20" name="Shape 17"/>
          <p:cNvSpPr/>
          <p:nvPr/>
        </p:nvSpPr>
        <p:spPr>
          <a:xfrm>
            <a:off x="8074152" y="1481328"/>
            <a:ext cx="3566160" cy="502920"/>
          </a:xfrm>
          <a:prstGeom prst="roundRect">
            <a:avLst>
              <a:gd name="adj" fmla="val 7273"/>
            </a:avLst>
          </a:prstGeom>
          <a:solidFill>
            <a:srgbClr val="6E4A9E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21" name="Text 18"/>
          <p:cNvSpPr txBox="1"/>
          <p:nvPr/>
        </p:nvSpPr>
        <p:spPr>
          <a:xfrm>
            <a:off x="8211312" y="1481328"/>
            <a:ext cx="32918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b="1" spc="100" kern="0" dirty="0">
                <a:solidFill>
                  <a:schemeClr val="bg1"/>
                </a:solidFill>
              </a:rPr>
              <a:t>PROGRAMMA TEAMDAG</a:t>
            </a:r>
            <a:endParaRPr lang="en-US" sz="1300" dirty="0"/>
          </a:p>
        </p:txBody>
      </p:sp>
      <p:sp>
        <p:nvSpPr>
          <p:cNvPr id="22" name="Shape 19"/>
          <p:cNvSpPr/>
          <p:nvPr/>
        </p:nvSpPr>
        <p:spPr>
          <a:xfrm>
            <a:off x="8257032" y="2167128"/>
            <a:ext cx="731520" cy="329184"/>
          </a:xfrm>
          <a:prstGeom prst="roundRect">
            <a:avLst>
              <a:gd name="adj" fmla="val 16667"/>
            </a:avLst>
          </a:prstGeom>
          <a:solidFill>
            <a:schemeClr val="accent1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23" name="Text 20"/>
          <p:cNvSpPr txBox="1"/>
          <p:nvPr/>
        </p:nvSpPr>
        <p:spPr>
          <a:xfrm>
            <a:off x="8257032" y="2167128"/>
            <a:ext cx="73152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chemeClr val="bg1"/>
                </a:solidFill>
              </a:rPr>
              <a:t>9.00</a:t>
            </a:r>
            <a:endParaRPr lang="en-US" sz="1200" dirty="0"/>
          </a:p>
        </p:txBody>
      </p:sp>
      <p:sp>
        <p:nvSpPr>
          <p:cNvPr id="24" name="Shape 21"/>
          <p:cNvSpPr/>
          <p:nvPr/>
        </p:nvSpPr>
        <p:spPr>
          <a:xfrm>
            <a:off x="9125712" y="2441448"/>
            <a:ext cx="2331720" cy="914"/>
          </a:xfrm>
          <a:prstGeom prst="line">
            <a:avLst/>
          </a:prstGeom>
          <a:noFill/>
          <a:ln w="12700">
            <a:solidFill>
              <a:srgbClr val="B8C2CF"/>
            </a:solidFill>
            <a:prstDash val="sysDot"/>
          </a:ln>
        </p:spPr>
      </p:sp>
      <p:sp>
        <p:nvSpPr>
          <p:cNvPr id="25" name="Shape 22"/>
          <p:cNvSpPr/>
          <p:nvPr/>
        </p:nvSpPr>
        <p:spPr>
          <a:xfrm>
            <a:off x="8257032" y="2831592"/>
            <a:ext cx="731520" cy="329184"/>
          </a:xfrm>
          <a:prstGeom prst="roundRect">
            <a:avLst>
              <a:gd name="adj" fmla="val 16667"/>
            </a:avLst>
          </a:prstGeom>
          <a:solidFill>
            <a:schemeClr val="accent1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26" name="Text 23"/>
          <p:cNvSpPr txBox="1"/>
          <p:nvPr/>
        </p:nvSpPr>
        <p:spPr>
          <a:xfrm>
            <a:off x="8257032" y="2831592"/>
            <a:ext cx="73152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chemeClr val="bg1"/>
                </a:solidFill>
              </a:rPr>
              <a:t>10.30</a:t>
            </a:r>
            <a:endParaRPr lang="en-US" sz="1200" dirty="0"/>
          </a:p>
        </p:txBody>
      </p:sp>
      <p:sp>
        <p:nvSpPr>
          <p:cNvPr id="27" name="Shape 24"/>
          <p:cNvSpPr/>
          <p:nvPr/>
        </p:nvSpPr>
        <p:spPr>
          <a:xfrm>
            <a:off x="9125712" y="3105912"/>
            <a:ext cx="2331720" cy="914"/>
          </a:xfrm>
          <a:prstGeom prst="line">
            <a:avLst/>
          </a:prstGeom>
          <a:noFill/>
          <a:ln w="12700">
            <a:solidFill>
              <a:srgbClr val="B8C2CF"/>
            </a:solidFill>
            <a:prstDash val="sysDot"/>
          </a:ln>
        </p:spPr>
      </p:sp>
      <p:sp>
        <p:nvSpPr>
          <p:cNvPr id="28" name="Shape 25"/>
          <p:cNvSpPr/>
          <p:nvPr/>
        </p:nvSpPr>
        <p:spPr>
          <a:xfrm>
            <a:off x="8257032" y="3496056"/>
            <a:ext cx="731520" cy="329184"/>
          </a:xfrm>
          <a:prstGeom prst="roundRect">
            <a:avLst>
              <a:gd name="adj" fmla="val 16667"/>
            </a:avLst>
          </a:prstGeom>
          <a:solidFill>
            <a:schemeClr val="accent1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29" name="Text 26"/>
          <p:cNvSpPr txBox="1"/>
          <p:nvPr/>
        </p:nvSpPr>
        <p:spPr>
          <a:xfrm>
            <a:off x="8257032" y="3496056"/>
            <a:ext cx="73152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chemeClr val="bg1"/>
                </a:solidFill>
              </a:rPr>
              <a:t>12.30</a:t>
            </a:r>
            <a:endParaRPr lang="en-US" sz="1200" dirty="0"/>
          </a:p>
        </p:txBody>
      </p:sp>
      <p:sp>
        <p:nvSpPr>
          <p:cNvPr id="30" name="Shape 27"/>
          <p:cNvSpPr/>
          <p:nvPr/>
        </p:nvSpPr>
        <p:spPr>
          <a:xfrm>
            <a:off x="9125712" y="3770376"/>
            <a:ext cx="2331720" cy="914"/>
          </a:xfrm>
          <a:prstGeom prst="line">
            <a:avLst/>
          </a:prstGeom>
          <a:noFill/>
          <a:ln w="12700">
            <a:solidFill>
              <a:srgbClr val="B8C2CF"/>
            </a:solidFill>
            <a:prstDash val="sysDot"/>
          </a:ln>
        </p:spPr>
      </p:sp>
      <p:sp>
        <p:nvSpPr>
          <p:cNvPr id="31" name="Shape 28"/>
          <p:cNvSpPr/>
          <p:nvPr/>
        </p:nvSpPr>
        <p:spPr>
          <a:xfrm>
            <a:off x="8257032" y="4160520"/>
            <a:ext cx="731520" cy="329184"/>
          </a:xfrm>
          <a:prstGeom prst="roundRect">
            <a:avLst>
              <a:gd name="adj" fmla="val 16667"/>
            </a:avLst>
          </a:prstGeom>
          <a:solidFill>
            <a:schemeClr val="accent1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32" name="Text 29"/>
          <p:cNvSpPr txBox="1"/>
          <p:nvPr/>
        </p:nvSpPr>
        <p:spPr>
          <a:xfrm>
            <a:off x="8257032" y="4160520"/>
            <a:ext cx="73152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chemeClr val="bg1"/>
                </a:solidFill>
              </a:rPr>
              <a:t>14.00</a:t>
            </a:r>
            <a:endParaRPr lang="en-US" sz="1200" dirty="0"/>
          </a:p>
        </p:txBody>
      </p:sp>
      <p:sp>
        <p:nvSpPr>
          <p:cNvPr id="33" name="Shape 30"/>
          <p:cNvSpPr/>
          <p:nvPr/>
        </p:nvSpPr>
        <p:spPr>
          <a:xfrm>
            <a:off x="9125712" y="4434840"/>
            <a:ext cx="2331720" cy="914"/>
          </a:xfrm>
          <a:prstGeom prst="line">
            <a:avLst/>
          </a:prstGeom>
          <a:noFill/>
          <a:ln w="12700">
            <a:solidFill>
              <a:srgbClr val="B8C2CF"/>
            </a:solidFill>
            <a:prstDash val="sysDot"/>
          </a:ln>
        </p:spPr>
      </p:sp>
      <p:sp>
        <p:nvSpPr>
          <p:cNvPr id="34" name="Shape 31"/>
          <p:cNvSpPr/>
          <p:nvPr/>
        </p:nvSpPr>
        <p:spPr>
          <a:xfrm>
            <a:off x="8257032" y="4824984"/>
            <a:ext cx="731520" cy="329184"/>
          </a:xfrm>
          <a:prstGeom prst="roundRect">
            <a:avLst>
              <a:gd name="adj" fmla="val 16667"/>
            </a:avLst>
          </a:prstGeom>
          <a:solidFill>
            <a:schemeClr val="accent1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35" name="Text 32"/>
          <p:cNvSpPr txBox="1"/>
          <p:nvPr/>
        </p:nvSpPr>
        <p:spPr>
          <a:xfrm>
            <a:off x="8257032" y="4824984"/>
            <a:ext cx="73152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chemeClr val="bg1"/>
                </a:solidFill>
              </a:rPr>
              <a:t>16.00</a:t>
            </a:r>
            <a:endParaRPr lang="en-US" sz="1200" dirty="0"/>
          </a:p>
        </p:txBody>
      </p:sp>
      <p:sp>
        <p:nvSpPr>
          <p:cNvPr id="36" name="Shape 33"/>
          <p:cNvSpPr/>
          <p:nvPr/>
        </p:nvSpPr>
        <p:spPr>
          <a:xfrm>
            <a:off x="9125712" y="5099304"/>
            <a:ext cx="2331720" cy="914"/>
          </a:xfrm>
          <a:prstGeom prst="line">
            <a:avLst/>
          </a:prstGeom>
          <a:noFill/>
          <a:ln w="12700">
            <a:solidFill>
              <a:srgbClr val="B8C2CF"/>
            </a:solidFill>
            <a:prstDash val="sysDot"/>
          </a:ln>
        </p:spPr>
      </p:sp>
      <p:sp>
        <p:nvSpPr>
          <p:cNvPr id="37" name="Shape 34"/>
          <p:cNvSpPr/>
          <p:nvPr/>
        </p:nvSpPr>
        <p:spPr>
          <a:xfrm>
            <a:off x="8257032" y="5489448"/>
            <a:ext cx="731520" cy="329184"/>
          </a:xfrm>
          <a:prstGeom prst="roundRect">
            <a:avLst>
              <a:gd name="adj" fmla="val 16667"/>
            </a:avLst>
          </a:prstGeom>
          <a:solidFill>
            <a:schemeClr val="accent1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38" name="Text 35"/>
          <p:cNvSpPr txBox="1"/>
          <p:nvPr/>
        </p:nvSpPr>
        <p:spPr>
          <a:xfrm>
            <a:off x="8257032" y="5489448"/>
            <a:ext cx="73152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chemeClr val="bg1"/>
                </a:solidFill>
              </a:rPr>
              <a:t>18.00</a:t>
            </a:r>
            <a:endParaRPr lang="en-US" sz="1200" dirty="0"/>
          </a:p>
        </p:txBody>
      </p:sp>
      <p:sp>
        <p:nvSpPr>
          <p:cNvPr id="39" name="Shape 36"/>
          <p:cNvSpPr/>
          <p:nvPr/>
        </p:nvSpPr>
        <p:spPr>
          <a:xfrm>
            <a:off x="9125712" y="5763768"/>
            <a:ext cx="2331720" cy="914"/>
          </a:xfrm>
          <a:prstGeom prst="line">
            <a:avLst/>
          </a:prstGeom>
          <a:noFill/>
          <a:ln w="12700">
            <a:solidFill>
              <a:srgbClr val="B8C2CF"/>
            </a:solidFill>
            <a:prstDash val="sysDot"/>
          </a:ln>
        </p:spPr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1672" y="644652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4A5A70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26</a:t>
            </a:fld>
            <a:endParaRPr lang="en-US"/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548640" y="621792"/>
            <a:ext cx="11091672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chemeClr val="tx2"/>
                </a:solidFill>
              </a:rPr>
              <a:t>Ticket de sortie</a:t>
            </a:r>
            <a:endParaRPr lang="en-US" sz="3000" dirty="0"/>
          </a:p>
        </p:txBody>
      </p:sp>
      <p:sp>
        <p:nvSpPr>
          <p:cNvPr id="3" name="tag"/>
          <p:cNvSpPr/>
          <p:nvPr/>
        </p:nvSpPr>
        <p:spPr>
          <a:xfrm>
            <a:off x="548640" y="237744"/>
            <a:ext cx="2092147" cy="310896"/>
          </a:xfrm>
          <a:prstGeom prst="roundRect">
            <a:avLst>
              <a:gd name="adj" fmla="val 14706"/>
            </a:avLst>
          </a:prstGeom>
          <a:solidFill>
            <a:schemeClr val="accent5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spc="100" kern="0" dirty="0">
                <a:solidFill>
                  <a:srgbClr val="FFFFFF"/>
                </a:solidFill>
              </a:rPr>
              <a:t>TICKET DE SORTIE</a:t>
            </a:r>
            <a:endParaRPr lang="en-US" sz="1200" dirty="0"/>
          </a:p>
        </p:txBody>
      </p:sp>
      <p:sp>
        <p:nvSpPr>
          <p:cNvPr id="5" name="Shape 2"/>
          <p:cNvSpPr/>
          <p:nvPr/>
        </p:nvSpPr>
        <p:spPr>
          <a:xfrm>
            <a:off x="548640" y="1554480"/>
            <a:ext cx="6035040" cy="1127760"/>
          </a:xfrm>
          <a:prstGeom prst="roundRect">
            <a:avLst>
              <a:gd name="adj" fmla="val 6486"/>
            </a:avLst>
          </a:prstGeom>
          <a:solidFill>
            <a:schemeClr val="bg2"/>
          </a:solidFill>
          <a:ln w="12700">
            <a:solidFill>
              <a:srgbClr val="D5DCE6"/>
            </a:solidFill>
            <a:prstDash val="solid"/>
          </a:ln>
        </p:spPr>
      </p:sp>
      <p:sp>
        <p:nvSpPr>
          <p:cNvPr id="6" name="Shape 3"/>
          <p:cNvSpPr/>
          <p:nvPr/>
        </p:nvSpPr>
        <p:spPr>
          <a:xfrm>
            <a:off x="731520" y="1889760"/>
            <a:ext cx="457200" cy="457200"/>
          </a:xfrm>
          <a:prstGeom prst="ellipse">
            <a:avLst/>
          </a:prstGeom>
          <a:solidFill>
            <a:schemeClr val="accent1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7" name="Text 4"/>
          <p:cNvSpPr txBox="1"/>
          <p:nvPr/>
        </p:nvSpPr>
        <p:spPr>
          <a:xfrm>
            <a:off x="731520" y="188976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chemeClr val="bg1"/>
                </a:solidFill>
              </a:rPr>
              <a:t>1</a:t>
            </a:r>
            <a:endParaRPr lang="en-US" sz="1800" dirty="0"/>
          </a:p>
        </p:txBody>
      </p:sp>
      <p:sp>
        <p:nvSpPr>
          <p:cNvPr id="8" name="Text 5"/>
          <p:cNvSpPr txBox="1"/>
          <p:nvPr/>
        </p:nvSpPr>
        <p:spPr>
          <a:xfrm>
            <a:off x="1371600" y="1627632"/>
            <a:ext cx="5074920" cy="981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000" dirty="0">
                <a:solidFill>
                  <a:schemeClr val="tx1"/>
                </a:solidFill>
              </a:rPr>
              <a:t>Traduisez avec le présent : « Demain, je travaillerai à la maison. »</a:t>
            </a:r>
            <a:endParaRPr lang="en-US" sz="2000" dirty="0"/>
          </a:p>
        </p:txBody>
      </p:sp>
      <p:sp>
        <p:nvSpPr>
          <p:cNvPr id="9" name="Shape 6"/>
          <p:cNvSpPr/>
          <p:nvPr/>
        </p:nvSpPr>
        <p:spPr>
          <a:xfrm>
            <a:off x="548640" y="2865120"/>
            <a:ext cx="6035040" cy="1127760"/>
          </a:xfrm>
          <a:prstGeom prst="roundRect">
            <a:avLst>
              <a:gd name="adj" fmla="val 6486"/>
            </a:avLst>
          </a:prstGeom>
          <a:solidFill>
            <a:schemeClr val="bg2"/>
          </a:solidFill>
          <a:ln w="12700">
            <a:solidFill>
              <a:srgbClr val="D5DCE6"/>
            </a:solidFill>
            <a:prstDash val="solid"/>
          </a:ln>
        </p:spPr>
      </p:sp>
      <p:sp>
        <p:nvSpPr>
          <p:cNvPr id="10" name="Shape 7"/>
          <p:cNvSpPr/>
          <p:nvPr/>
        </p:nvSpPr>
        <p:spPr>
          <a:xfrm>
            <a:off x="731520" y="3200400"/>
            <a:ext cx="457200" cy="457200"/>
          </a:xfrm>
          <a:prstGeom prst="ellipse">
            <a:avLst/>
          </a:prstGeom>
          <a:solidFill>
            <a:schemeClr val="accent1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11" name="Text 8"/>
          <p:cNvSpPr txBox="1"/>
          <p:nvPr/>
        </p:nvSpPr>
        <p:spPr>
          <a:xfrm>
            <a:off x="731520" y="320040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chemeClr val="bg1"/>
                </a:solidFill>
              </a:rPr>
              <a:t>2</a:t>
            </a:r>
            <a:endParaRPr lang="en-US" sz="1800" dirty="0"/>
          </a:p>
        </p:txBody>
      </p:sp>
      <p:sp>
        <p:nvSpPr>
          <p:cNvPr id="12" name="Text 9"/>
          <p:cNvSpPr txBox="1"/>
          <p:nvPr/>
        </p:nvSpPr>
        <p:spPr>
          <a:xfrm>
            <a:off x="1371600" y="2938272"/>
            <a:ext cx="5074920" cy="981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000" i="1" dirty="0">
                <a:solidFill>
                  <a:schemeClr val="tx1"/>
                </a:solidFill>
              </a:rPr>
              <a:t>gaan</a:t>
            </a:r>
            <a:r>
              <a:rPr lang="en-US" sz="2000" dirty="0">
                <a:solidFill>
                  <a:schemeClr val="tx1"/>
                </a:solidFill>
              </a:rPr>
              <a:t> ou </a:t>
            </a:r>
            <a:r>
              <a:rPr lang="en-US" sz="2000" i="1" dirty="0">
                <a:solidFill>
                  <a:schemeClr val="tx1"/>
                </a:solidFill>
              </a:rPr>
              <a:t>zullen</a:t>
            </a:r>
            <a:r>
              <a:rPr lang="en-US" sz="2000" dirty="0">
                <a:solidFill>
                  <a:schemeClr val="tx1"/>
                </a:solidFill>
              </a:rPr>
              <a:t> ? « Promis : je …… t’aider. »</a:t>
            </a:r>
            <a:endParaRPr lang="en-US" sz="2000" dirty="0"/>
          </a:p>
        </p:txBody>
      </p:sp>
      <p:sp>
        <p:nvSpPr>
          <p:cNvPr id="13" name="Shape 10"/>
          <p:cNvSpPr/>
          <p:nvPr/>
        </p:nvSpPr>
        <p:spPr>
          <a:xfrm>
            <a:off x="548640" y="4175760"/>
            <a:ext cx="6035040" cy="1127760"/>
          </a:xfrm>
          <a:prstGeom prst="roundRect">
            <a:avLst>
              <a:gd name="adj" fmla="val 6486"/>
            </a:avLst>
          </a:prstGeom>
          <a:solidFill>
            <a:schemeClr val="bg2"/>
          </a:solidFill>
          <a:ln w="12700">
            <a:solidFill>
              <a:srgbClr val="D5DCE6"/>
            </a:solidFill>
            <a:prstDash val="solid"/>
          </a:ln>
        </p:spPr>
      </p:sp>
      <p:sp>
        <p:nvSpPr>
          <p:cNvPr id="14" name="Shape 11"/>
          <p:cNvSpPr/>
          <p:nvPr/>
        </p:nvSpPr>
        <p:spPr>
          <a:xfrm>
            <a:off x="731520" y="4511040"/>
            <a:ext cx="457200" cy="457200"/>
          </a:xfrm>
          <a:prstGeom prst="ellipse">
            <a:avLst/>
          </a:prstGeom>
          <a:solidFill>
            <a:schemeClr val="accent1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15" name="Text 12"/>
          <p:cNvSpPr txBox="1"/>
          <p:nvPr/>
        </p:nvSpPr>
        <p:spPr>
          <a:xfrm>
            <a:off x="731520" y="451104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chemeClr val="bg1"/>
                </a:solidFill>
              </a:rPr>
              <a:t>3</a:t>
            </a:r>
            <a:endParaRPr lang="en-US" sz="1800" dirty="0"/>
          </a:p>
        </p:txBody>
      </p:sp>
      <p:sp>
        <p:nvSpPr>
          <p:cNvPr id="16" name="Text 13"/>
          <p:cNvSpPr txBox="1"/>
          <p:nvPr/>
        </p:nvSpPr>
        <p:spPr>
          <a:xfrm>
            <a:off x="1371600" y="4248912"/>
            <a:ext cx="5074920" cy="981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000" dirty="0">
                <a:solidFill>
                  <a:schemeClr val="tx1"/>
                </a:solidFill>
              </a:rPr>
              <a:t>Corrigez : </a:t>
            </a:r>
            <a:r>
              <a:rPr lang="en-US" sz="2000" i="1" dirty="0">
                <a:solidFill>
                  <a:schemeClr val="tx1"/>
                </a:solidFill>
              </a:rPr>
              <a:t>Als ik klaar zal zijn, bel ik je.</a:t>
            </a:r>
            <a:endParaRPr lang="en-US" sz="2000" dirty="0"/>
          </a:p>
        </p:txBody>
      </p:sp>
      <p:sp>
        <p:nvSpPr>
          <p:cNvPr id="17" name="Text 14"/>
          <p:cNvSpPr txBox="1"/>
          <p:nvPr/>
        </p:nvSpPr>
        <p:spPr>
          <a:xfrm>
            <a:off x="6949440" y="1554480"/>
            <a:ext cx="46634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400" b="1" spc="200" kern="0" dirty="0">
                <a:solidFill>
                  <a:schemeClr val="accent5"/>
                </a:solidFill>
              </a:rPr>
              <a:t>AUTO-ÉVALUATION</a:t>
            </a:r>
            <a:endParaRPr lang="en-US" sz="1400" dirty="0"/>
          </a:p>
        </p:txBody>
      </p:sp>
      <p:sp>
        <p:nvSpPr>
          <p:cNvPr id="18" name="Shape 15"/>
          <p:cNvSpPr/>
          <p:nvPr/>
        </p:nvSpPr>
        <p:spPr>
          <a:xfrm>
            <a:off x="6949440" y="2011680"/>
            <a:ext cx="4690872" cy="758952"/>
          </a:xfrm>
          <a:prstGeom prst="roundRect">
            <a:avLst>
              <a:gd name="adj" fmla="val 9639"/>
            </a:avLst>
          </a:prstGeom>
          <a:solidFill>
            <a:schemeClr val="bg2"/>
          </a:solidFill>
          <a:ln w="6350">
            <a:solidFill>
              <a:srgbClr val="D5DCE6"/>
            </a:solidFill>
            <a:prstDash val="solid"/>
          </a:ln>
        </p:spPr>
      </p:sp>
      <p:sp>
        <p:nvSpPr>
          <p:cNvPr id="19" name="Text 16"/>
          <p:cNvSpPr txBox="1"/>
          <p:nvPr/>
        </p:nvSpPr>
        <p:spPr>
          <a:xfrm>
            <a:off x="7132320" y="2011680"/>
            <a:ext cx="2331720" cy="7589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chemeClr val="tx2"/>
                </a:solidFill>
              </a:rPr>
              <a:t>Planifier</a:t>
            </a:r>
            <a:endParaRPr lang="en-US" sz="1600" dirty="0"/>
          </a:p>
        </p:txBody>
      </p:sp>
      <p:pic>
        <p:nvPicPr>
          <p:cNvPr id="20" name="Image 0" descr="RegFrown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555480" y="2162556"/>
            <a:ext cx="457200" cy="457200"/>
          </a:xfrm>
          <a:prstGeom prst="rect">
            <a:avLst/>
          </a:prstGeom>
        </p:spPr>
      </p:pic>
      <p:pic>
        <p:nvPicPr>
          <p:cNvPr id="21" name="Image 1" descr="RegMeh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241280" y="2162556"/>
            <a:ext cx="457200" cy="457200"/>
          </a:xfrm>
          <a:prstGeom prst="rect">
            <a:avLst/>
          </a:prstGeom>
        </p:spPr>
      </p:pic>
      <p:pic>
        <p:nvPicPr>
          <p:cNvPr id="22" name="Image 2" descr="RegSmile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0927080" y="2162556"/>
            <a:ext cx="457200" cy="457200"/>
          </a:xfrm>
          <a:prstGeom prst="rect">
            <a:avLst/>
          </a:prstGeom>
        </p:spPr>
      </p:pic>
      <p:sp>
        <p:nvSpPr>
          <p:cNvPr id="23" name="Shape 17"/>
          <p:cNvSpPr/>
          <p:nvPr/>
        </p:nvSpPr>
        <p:spPr>
          <a:xfrm>
            <a:off x="6949440" y="2880360"/>
            <a:ext cx="4690872" cy="758952"/>
          </a:xfrm>
          <a:prstGeom prst="roundRect">
            <a:avLst>
              <a:gd name="adj" fmla="val 9639"/>
            </a:avLst>
          </a:prstGeom>
          <a:solidFill>
            <a:schemeClr val="bg1"/>
          </a:solidFill>
          <a:ln w="6350">
            <a:solidFill>
              <a:srgbClr val="D5DCE6"/>
            </a:solidFill>
            <a:prstDash val="solid"/>
          </a:ln>
        </p:spPr>
      </p:sp>
      <p:sp>
        <p:nvSpPr>
          <p:cNvPr id="24" name="Text 18"/>
          <p:cNvSpPr txBox="1"/>
          <p:nvPr/>
        </p:nvSpPr>
        <p:spPr>
          <a:xfrm>
            <a:off x="7132320" y="2880360"/>
            <a:ext cx="2331720" cy="7589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chemeClr val="tx2"/>
                </a:solidFill>
              </a:rPr>
              <a:t>Annoncer</a:t>
            </a:r>
            <a:endParaRPr lang="en-US" sz="1600" dirty="0"/>
          </a:p>
        </p:txBody>
      </p:sp>
      <p:pic>
        <p:nvPicPr>
          <p:cNvPr id="25" name="Image 3" descr="RegFrown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9555480" y="3031236"/>
            <a:ext cx="457200" cy="457200"/>
          </a:xfrm>
          <a:prstGeom prst="rect">
            <a:avLst/>
          </a:prstGeom>
        </p:spPr>
      </p:pic>
      <p:pic>
        <p:nvPicPr>
          <p:cNvPr id="26" name="Image 4" descr="RegMeh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0241280" y="3031236"/>
            <a:ext cx="457200" cy="457200"/>
          </a:xfrm>
          <a:prstGeom prst="rect">
            <a:avLst/>
          </a:prstGeom>
        </p:spPr>
      </p:pic>
      <p:pic>
        <p:nvPicPr>
          <p:cNvPr id="27" name="Image 5" descr="RegSmile">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10927080" y="3031236"/>
            <a:ext cx="457200" cy="457200"/>
          </a:xfrm>
          <a:prstGeom prst="rect">
            <a:avLst/>
          </a:prstGeom>
        </p:spPr>
      </p:pic>
      <p:sp>
        <p:nvSpPr>
          <p:cNvPr id="28" name="Shape 19"/>
          <p:cNvSpPr/>
          <p:nvPr/>
        </p:nvSpPr>
        <p:spPr>
          <a:xfrm>
            <a:off x="6949440" y="3749040"/>
            <a:ext cx="4690872" cy="758952"/>
          </a:xfrm>
          <a:prstGeom prst="roundRect">
            <a:avLst>
              <a:gd name="adj" fmla="val 9639"/>
            </a:avLst>
          </a:prstGeom>
          <a:solidFill>
            <a:schemeClr val="bg2"/>
          </a:solidFill>
          <a:ln w="6350">
            <a:solidFill>
              <a:srgbClr val="D5DCE6"/>
            </a:solidFill>
            <a:prstDash val="solid"/>
          </a:ln>
        </p:spPr>
      </p:sp>
      <p:sp>
        <p:nvSpPr>
          <p:cNvPr id="29" name="Text 20"/>
          <p:cNvSpPr txBox="1"/>
          <p:nvPr/>
        </p:nvSpPr>
        <p:spPr>
          <a:xfrm>
            <a:off x="7132320" y="3749040"/>
            <a:ext cx="2331720" cy="7589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chemeClr val="tx2"/>
                </a:solidFill>
              </a:rPr>
              <a:t>Promettre</a:t>
            </a:r>
            <a:endParaRPr lang="en-US" sz="1600" dirty="0"/>
          </a:p>
        </p:txBody>
      </p:sp>
      <p:pic>
        <p:nvPicPr>
          <p:cNvPr id="30" name="Image 6" descr="RegFrown">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9555480" y="3899916"/>
            <a:ext cx="457200" cy="457200"/>
          </a:xfrm>
          <a:prstGeom prst="rect">
            <a:avLst/>
          </a:prstGeom>
        </p:spPr>
      </p:pic>
      <p:pic>
        <p:nvPicPr>
          <p:cNvPr id="31" name="Image 7" descr="RegMeh">    </p:cNvPr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10241280" y="3899916"/>
            <a:ext cx="457200" cy="457200"/>
          </a:xfrm>
          <a:prstGeom prst="rect">
            <a:avLst/>
          </a:prstGeom>
        </p:spPr>
      </p:pic>
      <p:pic>
        <p:nvPicPr>
          <p:cNvPr id="32" name="Image 8" descr="RegSmile">    </p:cNvPr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10927080" y="3899916"/>
            <a:ext cx="457200" cy="457200"/>
          </a:xfrm>
          <a:prstGeom prst="rect">
            <a:avLst/>
          </a:prstGeom>
        </p:spPr>
      </p:pic>
      <p:sp>
        <p:nvSpPr>
          <p:cNvPr id="33" name="Shape 21"/>
          <p:cNvSpPr/>
          <p:nvPr/>
        </p:nvSpPr>
        <p:spPr>
          <a:xfrm>
            <a:off x="548640" y="5532120"/>
            <a:ext cx="11091672" cy="731520"/>
          </a:xfrm>
          <a:prstGeom prst="roundRect">
            <a:avLst>
              <a:gd name="adj" fmla="val 10000"/>
            </a:avLst>
          </a:prstGeom>
          <a:solidFill>
            <a:schemeClr val="tx2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pic>
        <p:nvPicPr>
          <p:cNvPr id="34" name="Image 9" descr="History">    </p:cNvPr>
          <p:cNvPicPr>
            <a:picLocks noChangeAspect="1"/>
          </p:cNvPicPr>
          <p:nvPr/>
        </p:nvPicPr>
        <p:blipFill>
          <a:blip r:embed="rId10"/>
          <a:stretch>
            <a:fillRect/>
          </a:stretch>
        </p:blipFill>
        <p:spPr>
          <a:xfrm>
            <a:off x="777240" y="5715000"/>
            <a:ext cx="365760" cy="365760"/>
          </a:xfrm>
          <a:prstGeom prst="rect">
            <a:avLst/>
          </a:prstGeom>
        </p:spPr>
      </p:pic>
      <p:sp>
        <p:nvSpPr>
          <p:cNvPr id="35" name="Text 22"/>
          <p:cNvSpPr txBox="1"/>
          <p:nvPr/>
        </p:nvSpPr>
        <p:spPr>
          <a:xfrm>
            <a:off x="1325880" y="5532120"/>
            <a:ext cx="101498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800" b="1" dirty="0">
                <a:solidFill>
                  <a:schemeClr val="bg1"/>
                </a:solidFill>
              </a:rPr>
              <a:t>Volgende keer : Het imperfectum</a:t>
            </a:r>
            <a:r>
              <a:rPr lang="en-US" sz="1800" dirty="0">
                <a:solidFill>
                  <a:schemeClr val="bg1"/>
                </a:solidFill>
              </a:rPr>
              <a:t> — </a:t>
            </a:r>
            <a:r>
              <a:rPr lang="en-US" sz="1800" i="1" dirty="0">
                <a:solidFill>
                  <a:schemeClr val="bg1"/>
                </a:solidFill>
              </a:rPr>
              <a:t>Toen ik klein was…</a:t>
            </a:r>
            <a:endParaRPr lang="en-US" sz="18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1672" y="644652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4A5A70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27</a:t>
            </a:fld>
            <a:endParaRPr lang="en-US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Nederlands 1">
  <a:themeElements>
    <a:clrScheme name="Nederlands 1">
      <a:dk1>
        <a:srgbClr val="1B2333"/>
      </a:dk1>
      <a:lt1>
        <a:srgbClr val="FFFFFF"/>
      </a:lt1>
      <a:dk2>
        <a:srgbClr val="17375E"/>
      </a:dk2>
      <a:lt2>
        <a:srgbClr val="EEF3F8"/>
      </a:lt2>
      <a:accent1>
        <a:srgbClr val="D9700F"/>
      </a:accent1>
      <a:accent2>
        <a:srgbClr val="2A6FB0"/>
      </a:accent2>
      <a:accent3>
        <a:srgbClr val="2E7D4F"/>
      </a:accent3>
      <a:accent4>
        <a:srgbClr val="B4236A"/>
      </a:accent4>
      <a:accent5>
        <a:srgbClr val="4A5A70"/>
      </a:accent5>
      <a:accent6>
        <a:srgbClr val="B83227"/>
      </a:accent6>
      <a:hlink>
        <a:srgbClr val="2A6FB0"/>
      </a:hlink>
      <a:folHlink>
        <a:srgbClr val="B4236A"/>
      </a:folHlink>
    </a:clrScheme>
    <a:fontScheme name="Nederlands 1">
      <a:majorFont>
        <a:latin typeface="Cambria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27</Slides>
  <Notes>27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27</vt:i4>
      </vt:variant>
    </vt:vector>
  </HeadingPairs>
  <TitlesOfParts>
    <vt:vector size="30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  <vt:lpstr>Slide 17</vt:lpstr>
      <vt:lpstr>Slide 18</vt:lpstr>
      <vt:lpstr>Slide 19</vt:lpstr>
      <vt:lpstr>Slide 20</vt:lpstr>
      <vt:lpstr>Slide 21</vt:lpstr>
      <vt:lpstr>Slide 22</vt:lpstr>
      <vt:lpstr>Slide 23</vt:lpstr>
      <vt:lpstr>Slide 24</vt:lpstr>
      <vt:lpstr>Slide 25</vt:lpstr>
      <vt:lpstr>Slide 26</vt:lpstr>
      <vt:lpstr>Slide 27</vt:lpstr>
    </vt:vector>
  </TitlesOfParts>
  <Company>IRAM — Néerlandais 1 (UE1)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Module 18 — De toekomst — Parler du futur</dc:title>
  <dc:subject>Néerlandais 1 — Langue en situation, en milieu professionnel</dc:subject>
  <dc:creator>A. Jouniaux</dc:creator>
  <cp:lastModifiedBy>A. Jouniaux</cp:lastModifiedBy>
  <cp:revision>1</cp:revision>
  <dcterms:created xsi:type="dcterms:W3CDTF">2026-10-06T11:50:05Z</dcterms:created>
  <dcterms:modified xsi:type="dcterms:W3CDTF">2026-10-06T11:50:05Z</dcterms:modified>
</cp:coreProperties>
</file>