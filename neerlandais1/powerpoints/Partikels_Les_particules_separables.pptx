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38dd9dfd-1f73-aebc-920a-6e5ced6dc980}">
          <p14:sldIdLst>
            <p14:sldId id="256"/>
          </p14:sldIdLst>
        </p14:section>
        <p14:section name="Découvrir" id="{4a6914f5-a415-1e34-bdd7-d3af739462e6}">
          <p14:sldIdLst>
            <p14:sldId id="257"/>
            <p14:sldId id="258"/>
            <p14:sldId id="259"/>
            <p14:sldId id="260"/>
          </p14:sldIdLst>
        </p14:section>
        <p14:section name="Les particules" id="{56e79313-a2d4-4078-bb2a-5a5d787595b5}">
          <p14:sldIdLst>
            <p14:sldId id="261"/>
            <p14:sldId id="262"/>
            <p14:sldId id="263"/>
            <p14:sldId id="264"/>
            <p14:sldId id="265"/>
            <p14:sldId id="266"/>
            <p14:sldId id="267"/>
            <p14:sldId id="268"/>
            <p14:sldId id="269"/>
          </p14:sldIdLst>
        </p14:section>
        <p14:section name="Aller plus loin" id="{e1324d77-c3e7-4f95-a0fc-f98d2e483d26}">
          <p14:sldIdLst>
            <p14:sldId id="270"/>
            <p14:sldId id="271"/>
            <p14:sldId id="272"/>
            <p14:sldId id="273"/>
            <p14:sldId id="274"/>
            <p14:sldId id="275"/>
            <p14:sldId id="276"/>
          </p14:sldIdLst>
        </p14:section>
        <p14:section name="JIJ NU ! — Oefeningen" id="{3fe373ca-c6a1-ab48-c3d9-1055efb7a25b}">
          <p14:sldIdLst>
            <p14:sldId id="277"/>
            <p14:sldId id="278"/>
            <p14:sldId id="279"/>
            <p14:sldId id="280"/>
            <p14:sldId id="281"/>
            <p14:sldId id="282"/>
            <p14:sldId id="283"/>
            <p14:sldId id="284"/>
            <p14:sldId id="285"/>
            <p14:sldId id="286"/>
            <p14:sldId id="287"/>
            <p14:sldId id="288"/>
            <p14:sldId id="289"/>
          </p14:sldIdLst>
        </p14:section>
        <p14:section name="Clôture" id="{d2650ef4-8b8e-1d8b-8c92-5d0adc2f5cc6}">
          <p14:sldIdLst>
            <p14:sldId id="29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 la particule donne au verbe une direction, puis un sens.
Rappel : au M11, on a appris où placer la particule. Aujourd'hui, on apprend ce qu'elle veut dire, pour deviner le sens de centaines de verbes.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Beaucoup de verbes à particule se devinent à partir de la particule et du verbe de base. Les autres s'apprennent comme des blocs, avec leur contexte.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Découvrir qu'une particule change le sens du verbe de façon logique.
Réponses : aan- = acquérir quelque chose de nouveau ; bij- = en plus, en complément ; af- = enlever, perdre (une habitude). vertalen : non ! ver- est un préfixe inséparable (ik vertaal, ik heb vertaald) : voir diapo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Réactiver les règles de place (M11) avant de travailler le sens.
Six positions, une règle : la particule part au bout dans la phrase simple, reste collée ailleurs ; ge- et te se glissent entre la particule et le verbe.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comment le sens d'une particule passe du concret à l'abstrait.
uitleggen : « étaler dehors » → déplier → expliquer. Montrez qu'il y a souvent une logique, même à l'étage ③, mais qu'il ne faut pas traduire mot à mot. Les fiches suivantes donnent, pour chaque particule, les sens dans cet ordre.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Connaître les sens de aan- et af-.
aankomen a trois sens : arriver, toucher (Niet aankomen!) et grossir (Ik ben twee kilo aangekomen). afspreken (convenir, prendre rendez-vous) est à apprendre en bloc (étage 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Connaître les sens de op- et uit-.
Laat me uitspreken! = laisse-moi finir (ma phrase). opbouwen = construire, développer (« reconstruire » = heropbouwen). uitkijken = faire attention ; uitkijken naar = attendre avec impatience (diapo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Connaître les sens de in- et bij-.
bijleren est très courant en Belgique (Ik heb veel bijgeleerd). bijkomen = reprendre ses esprits, ou s'ajouter (Er komt nog een kost bij).</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Connaître les sens de toe- et na-.
toedoen et toe = fermé sont surtout belges ; dichtdoen est le mot standard, en Belgique comme aux Pays-Bas. na- « vérifier » est très utile au bureau : Kun je de cijfers nog even nakijken?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Connaître les sens de door- et over-.
De vergadering gaat niet door = la réunion n'a pas lieu (piège fréquent : ce n'est pas « ne continue pas »). Au téléphone : Ik verbind u door. Attention : door- et over- ont des doublets inséparables (diapo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Connaître les sens de mee- et tegen-, et la paire meevallen / tegenvallen.
meevallen / tegenvallen n'ont pas d'équivalent direct en français : on compare la réalité à ce qu'on attendait. Très fréquent à l'oral : Dat valt mee! (ce n'est pas si grave).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Connaître les sens de om- et voor-.
Hoe ga je om met stress? = comment gères-tu le stress ? voorstellen : Ik stel voor dat… (je propose que…) · Mag ik me even voorstellen? (M28). om- et voor- ont aussi des doublets inséparables (voorKOmen = éviter, diapo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Élargir avec les autres particules fréquentes et les particules-adjectifs ou noms.
Ils se comportent comme les autres : We vatten de tekst samen. · De vergadering vindt plaats in zaal 2. · Ik ben mijn sleutels kwijtgeraakt. Ils s'écrivent en un mot à l'infinitif (schoonmaken, goedkeuren).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les verbes par paires de sens opposés.
Apprendre par paires aide à mémoriser. Jeu rapide : l'enseignant·e dit un verbe, la classe répond le contraire. aandoen / uitdoen = mettre / enlever (un vêtement) ; au sens d'allumer / éteindre, c'est surtout belge et familier.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Voir comment un même verbe change de sens avec chaque particule.
Faites construire en groupe l'étoile de komen (aankomen, meekomen, terugkomen, voorkomen, uitkomen, overkomen, tegenkomen) ou de zetten (aanzetten, uitzetten, afzetten, opzetten, omzetten, voortzetten).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Accepter la polysémie : le contexte choisit le sens.
Stratégie : ne pas chercher « le » sens, mais le sens qui va avec le complément (verlof opnemen, de telefoon opnemen). Faites noter les verbes avec leur complément typique.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les verbes à particule qui demandent une préposition, avec er (M23).
Ordre à retenir : la particule va au bout : Ik kijk ernaar uit. Dans la subordonnée : …, omdat ik ernaar uitkijk. er et la préposition se séparent dès qu'un adverbe s'intercale : Het hangt er nog van af · Ik kijk er echt naar uit · Ik heb er lang over nagedacht. Ces formules sont typiques du B2 écrit (e-mails, réunions).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Distinguer particules séparables, préfixes inséparables et doublets.
Dans le tableau de départ, ver- figurait parmi les particules : c'est un piège fréquent, puisque ver- a bien un sens. Mais il ne se détache jamais. Test rapide : faites dire le verbe à voix haute ; si l'accent tombe sur le préfixe (VOORkomen), il est séparable.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la particule avec plusieurs verbes, avec te et après om.
Dans le groupe verbal final, la particule peut rester collée à son verbe ou se placer devant les autres verbes : les deux ordres sont corrects (ANS). Avec te, toujours particule + te + verbe, en trois mots.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une démarche en 3 questions pour deviner le sens.
Réponses : uitprinten = imprimer (sortir sur papier) ; bijbestellen = commander en plus ; nabellen = rappeler (pour relancer, vérifier) ; opfrissen = rafraîchir ; doorbellen = transmettre par téléphone. Insistez : le contexte confirme ou corrige l'hypothèse.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 le tableau de référence, corrigé et complété.
Ce tableau reprend celui de départ, corrigé (ver- sorti, sens unifiés) et complété (mee-, tegen-, om-, voor-). Il est la référence de tous les exercices.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 1 en séance 1, les autres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 particule d'après le sens.
Faites justifier par le sens de la particule (diapo 21). À accepter aussi : n° 1 af (BE : afzetten) · n° 4 over ou door (overlezen, doorlezen) · n° 7 af (afleveren).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la particule d'après le sens.
Faites justifier par le sens de la particule (diapo 21). À accepter aussi : n° 1 af (BE : afzetten) · n° 4 over ou door (overlezen, doorlezen) · n° 7 af (afleveren).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le bon verbe de la famille nemen et le conjuguer à la bonne place.
N° 2 : après vergeten, te + infinitif : mee te nemen (diapo 19). N° 7 : ordre le plus courant nemen deel aan de opleiding (le groupe prépositionnel suit la particule) ; nemen aan de opleiding deel est aussi correct. N° 8 : nemen seul est aussi correct (très courant en Belgique) ; innemen figure sur l'étoile (diapo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le bon verbe de la famille nemen et le conjuguer à la bonne place.
N° 2 : après vergeten, te + infinitif : mee te nemen (diapo 19). N° 7 : ordre le plus courant nemen deel aan de opleiding (le groupe prépositionnel suit la particule) ; nemen aan de opleiding deel est aussi correct. N° 8 : nemen seul est aussi correct (très courant en Belgique) ; innemen figure sur l'étoile (diapo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Conjuguer au présent et au passé composé en appliquant le test de l'accent.
Faites d'abord dire chaque verbe à voix haute pour placer l'accent. voorkomen (se produire) prend zijn ; voorkomen (éviter) prend hebben.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Conjuguer au présent et au passé composé en appliquant le test de l'accent.
Faites d'abord dire chaque verbe à voix haute pour placer l'accent. voorkomen (se produire) prend zijn ; voorkomen (éviter) prend hebben.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les erreurs de forme et de sens dans un e-mail professionnel.
Leurres : gaat niet door (n'a pas lieu) et We overleggen (inséparable : se concerter) sont corrects. N° 5 est une erreur de sens : la phrase est grammaticale, mais contredit goed nieuws!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Corriger les erreurs de forme et de sens dans un e-mail professionnel.
Leurres : gaat niet door (n'a pas lieu) et We overleggen (inséparable : se concerter) sont corrects. N° 5 est une erreur de sens : la phrase est grammaticale, mais contredit goed nieuws!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Réutiliser les paires de contraires.
N° 7 : afvallen prend zijn comme aankomen. Variante orale : en binômes, l'un dit la phrase, l'autre répond immédiatement le contraire.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Réutiliser les paires de contraires.
N° 7 : afvallen prend zijn comme aankomen. Variante orale : en binômes, l'un dit la phrase, l'autre répond immédiatement le contraire.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Combiner particules et verbes de base, vérifier qu'un verbe existe et l'employer.
Exemples de combinaisons valables : aangaan, afgaan (sonner : alarme), doorgaan, meegaan, nagaan, uitgaan, opgaan ; afnemen, opnemen, toenemen, meenemen ; aankomen, meekomen, uitkomen (se réaliser ; sortir : livre), voorkomen ; aanzetten, afzetten, opzetten (monter : projet), uitzetten ; aanleggen (aménager), afleggen (passer : examen ; parcourir), uitleggen, opleggen (imposer), voorleggen (soumettre) ; meevallen, uitvallen, opvallen, afvallen, invallen (remplacer qn) ; bijhouden, ophouden (arrêter), aanhouden (arrêter qn ; persister) ; opkijken, uitkijken, nakijken, toekijken, inkijken (jeter un œil) ; bijleggen, bijkomen, voorgaan (passer devant). Gardez un dictionnaire (ou Van Dale) comme arbitre.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B1–B2 : préparer un événement en réunion, puis rédiger le compte rendu, avec au moins 8 verbes à particule.
Comptez les verbes à particule utilisés (objectif : 8). Le compte rendu écrit vérifie la place de la particule (Lotte stuurt de uitnodigingen vrijdag door. We spreken af dat…). inplannen (planifier) et opvolgen (BE : suivre un dossier) sont très courants au bureau.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décrocher (le téléphone), enregistrer, prendre (un congé)…
2. De prijzen nemen af.
3. Ik heb de tekst vertaald. · Ik heb de tekst nagekeken.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 B1–B2 · Les significations des particules séparables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 B1–B2 · Les significations des particules séparables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2.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image" Target="../media/image-22-8.png"/><Relationship Id="rId9" Type="http://schemas.openxmlformats.org/officeDocument/2006/relationships/slideLayout" Target="../slideLayouts/slideLayout3.xml"/><Relationship Id="rId10"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2.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2.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image" Target="../media/image-35-6.png"/><Relationship Id="rId7" Type="http://schemas.openxmlformats.org/officeDocument/2006/relationships/image" Target="../media/image-35-7.png"/><Relationship Id="rId8" Type="http://schemas.openxmlformats.org/officeDocument/2006/relationships/image" Target="../media/image-35-8.png"/><Relationship Id="rId9" Type="http://schemas.openxmlformats.org/officeDocument/2006/relationships/image" Target="../media/image-35-9.png"/><Relationship Id="rId10" Type="http://schemas.openxmlformats.org/officeDocument/2006/relationships/image" Target="../media/image-35-10.png"/><Relationship Id="rId11" Type="http://schemas.openxmlformats.org/officeDocument/2006/relationships/slideLayout" Target="../slideLayouts/slideLayout2.xml"/><Relationship Id="rId1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74137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COMPLÉMENT · B1–B2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Aan, af, op, uit…</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Les significations des particules séparables</a:t>
            </a:r>
            <a:endParaRPr lang="en-US" sz="2000" dirty="0"/>
          </a:p>
          <a:p>
            <a:pPr algn="l" indent="0" marL="0">
              <a:buNone/>
            </a:pPr>
            <a:r>
              <a:rPr lang="en-US" sz="2000" b="1" dirty="0">
                <a:solidFill>
                  <a:srgbClr val="FFFFFF"/>
                </a:solidFill>
              </a:rPr>
              <a:t>aanleren · bijleren · afleren</a:t>
            </a:r>
            <a:endParaRPr lang="en-US" sz="2000" dirty="0"/>
          </a:p>
        </p:txBody>
      </p:sp>
      <p:sp>
        <p:nvSpPr>
          <p:cNvPr id="5" name="Shape 3"/>
          <p:cNvSpPr/>
          <p:nvPr/>
        </p:nvSpPr>
        <p:spPr>
          <a:xfrm flipV="1">
            <a:off x="9281160" y="1234440"/>
            <a:ext cx="914" cy="1280160"/>
          </a:xfrm>
          <a:prstGeom prst="line">
            <a:avLst/>
          </a:prstGeom>
          <a:noFill/>
          <a:ln w="38100">
            <a:solidFill>
              <a:srgbClr val="2A6FB0"/>
            </a:solidFill>
            <a:prstDash val="solid"/>
          </a:ln>
        </p:spPr>
      </p:sp>
      <p:sp>
        <p:nvSpPr>
          <p:cNvPr id="6" name="Shape 4"/>
          <p:cNvSpPr/>
          <p:nvPr/>
        </p:nvSpPr>
        <p:spPr>
          <a:xfrm>
            <a:off x="8321040" y="914400"/>
            <a:ext cx="1920240" cy="640080"/>
          </a:xfrm>
          <a:prstGeom prst="roundRect">
            <a:avLst>
              <a:gd name="adj" fmla="val 21429"/>
            </a:avLst>
          </a:prstGeom>
          <a:solidFill>
            <a:schemeClr val="accent2"/>
          </a:solidFill>
          <a:ln w="12700">
            <a:solidFill>
              <a:srgbClr val="FFFFFF">
                <a:alpha val="0"/>
              </a:srgbClr>
            </a:solidFill>
            <a:prstDash val="solid"/>
          </a:ln>
        </p:spPr>
      </p:sp>
      <p:sp>
        <p:nvSpPr>
          <p:cNvPr id="7" name="Text 5"/>
          <p:cNvSpPr txBox="1"/>
          <p:nvPr/>
        </p:nvSpPr>
        <p:spPr>
          <a:xfrm>
            <a:off x="8321040" y="914400"/>
            <a:ext cx="1920240" cy="640080"/>
          </a:xfrm>
          <a:prstGeom prst="rect">
            <a:avLst/>
          </a:prstGeom>
          <a:noFill/>
          <a:ln/>
        </p:spPr>
        <p:txBody>
          <a:bodyPr wrap="square" lIns="0" tIns="0" rIns="0" bIns="0" rtlCol="0" anchor="ctr"/>
          <a:lstStyle/>
          <a:p>
            <a:pPr algn="ctr" indent="0" marL="0">
              <a:buNone/>
            </a:pPr>
            <a:r>
              <a:rPr lang="en-US" sz="2000" b="1" i="1" dirty="0">
                <a:solidFill>
                  <a:schemeClr val="bg1"/>
                </a:solidFill>
              </a:rPr>
              <a:t>aan</a:t>
            </a:r>
            <a:r>
              <a:rPr lang="en-US" sz="2000" i="1" dirty="0">
                <a:solidFill>
                  <a:schemeClr val="bg1"/>
                </a:solidFill>
              </a:rPr>
              <a:t>leren</a:t>
            </a:r>
            <a:endParaRPr lang="en-US" sz="2000" dirty="0"/>
          </a:p>
        </p:txBody>
      </p:sp>
      <p:sp>
        <p:nvSpPr>
          <p:cNvPr id="8" name="Shape 6"/>
          <p:cNvSpPr/>
          <p:nvPr/>
        </p:nvSpPr>
        <p:spPr>
          <a:xfrm>
            <a:off x="9281160" y="2514600"/>
            <a:ext cx="1691640" cy="1143000"/>
          </a:xfrm>
          <a:prstGeom prst="line">
            <a:avLst/>
          </a:prstGeom>
          <a:noFill/>
          <a:ln w="38100">
            <a:solidFill>
              <a:srgbClr val="B4236A"/>
            </a:solidFill>
            <a:prstDash val="solid"/>
          </a:ln>
        </p:spPr>
      </p:sp>
      <p:sp>
        <p:nvSpPr>
          <p:cNvPr id="9" name="Shape 7"/>
          <p:cNvSpPr/>
          <p:nvPr/>
        </p:nvSpPr>
        <p:spPr>
          <a:xfrm>
            <a:off x="10012680" y="3337560"/>
            <a:ext cx="1920240" cy="640080"/>
          </a:xfrm>
          <a:prstGeom prst="roundRect">
            <a:avLst>
              <a:gd name="adj" fmla="val 21429"/>
            </a:avLst>
          </a:prstGeom>
          <a:solidFill>
            <a:schemeClr val="accent4"/>
          </a:solidFill>
          <a:ln w="12700">
            <a:solidFill>
              <a:srgbClr val="FFFFFF">
                <a:alpha val="0"/>
              </a:srgbClr>
            </a:solidFill>
            <a:prstDash val="solid"/>
          </a:ln>
        </p:spPr>
      </p:sp>
      <p:sp>
        <p:nvSpPr>
          <p:cNvPr id="10" name="Text 8"/>
          <p:cNvSpPr txBox="1"/>
          <p:nvPr/>
        </p:nvSpPr>
        <p:spPr>
          <a:xfrm>
            <a:off x="10012680" y="3337560"/>
            <a:ext cx="1920240" cy="640080"/>
          </a:xfrm>
          <a:prstGeom prst="rect">
            <a:avLst/>
          </a:prstGeom>
          <a:noFill/>
          <a:ln/>
        </p:spPr>
        <p:txBody>
          <a:bodyPr wrap="square" lIns="0" tIns="0" rIns="0" bIns="0" rtlCol="0" anchor="ctr"/>
          <a:lstStyle/>
          <a:p>
            <a:pPr algn="ctr" indent="0" marL="0">
              <a:buNone/>
            </a:pPr>
            <a:r>
              <a:rPr lang="en-US" sz="2000" b="1" i="1" dirty="0">
                <a:solidFill>
                  <a:schemeClr val="bg1"/>
                </a:solidFill>
              </a:rPr>
              <a:t>bij</a:t>
            </a:r>
            <a:r>
              <a:rPr lang="en-US" sz="2000" i="1" dirty="0">
                <a:solidFill>
                  <a:schemeClr val="bg1"/>
                </a:solidFill>
              </a:rPr>
              <a:t>leren</a:t>
            </a:r>
            <a:endParaRPr lang="en-US" sz="2000" dirty="0"/>
          </a:p>
        </p:txBody>
      </p:sp>
      <p:sp>
        <p:nvSpPr>
          <p:cNvPr id="11" name="Shape 9"/>
          <p:cNvSpPr/>
          <p:nvPr/>
        </p:nvSpPr>
        <p:spPr>
          <a:xfrm flipH="1">
            <a:off x="7589520" y="2514600"/>
            <a:ext cx="1691640" cy="1143000"/>
          </a:xfrm>
          <a:prstGeom prst="line">
            <a:avLst/>
          </a:prstGeom>
          <a:noFill/>
          <a:ln w="38100">
            <a:solidFill>
              <a:srgbClr val="B83227"/>
            </a:solidFill>
            <a:prstDash val="solid"/>
          </a:ln>
        </p:spPr>
      </p:sp>
      <p:sp>
        <p:nvSpPr>
          <p:cNvPr id="12" name="Shape 10"/>
          <p:cNvSpPr/>
          <p:nvPr/>
        </p:nvSpPr>
        <p:spPr>
          <a:xfrm>
            <a:off x="6629400" y="3337560"/>
            <a:ext cx="1920240" cy="640080"/>
          </a:xfrm>
          <a:prstGeom prst="roundRect">
            <a:avLst>
              <a:gd name="adj" fmla="val 21429"/>
            </a:avLst>
          </a:prstGeom>
          <a:solidFill>
            <a:schemeClr val="accent6"/>
          </a:solidFill>
          <a:ln w="12700">
            <a:solidFill>
              <a:srgbClr val="FFFFFF">
                <a:alpha val="0"/>
              </a:srgbClr>
            </a:solidFill>
            <a:prstDash val="solid"/>
          </a:ln>
        </p:spPr>
      </p:sp>
      <p:sp>
        <p:nvSpPr>
          <p:cNvPr id="13" name="Text 11"/>
          <p:cNvSpPr txBox="1"/>
          <p:nvPr/>
        </p:nvSpPr>
        <p:spPr>
          <a:xfrm>
            <a:off x="6629400" y="3337560"/>
            <a:ext cx="1920240" cy="640080"/>
          </a:xfrm>
          <a:prstGeom prst="rect">
            <a:avLst/>
          </a:prstGeom>
          <a:noFill/>
          <a:ln/>
        </p:spPr>
        <p:txBody>
          <a:bodyPr wrap="square" lIns="0" tIns="0" rIns="0" bIns="0" rtlCol="0" anchor="ctr"/>
          <a:lstStyle/>
          <a:p>
            <a:pPr algn="ctr" indent="0" marL="0">
              <a:buNone/>
            </a:pPr>
            <a:r>
              <a:rPr lang="en-US" sz="2000" b="1" i="1" dirty="0">
                <a:solidFill>
                  <a:schemeClr val="bg1"/>
                </a:solidFill>
              </a:rPr>
              <a:t>af</a:t>
            </a:r>
            <a:r>
              <a:rPr lang="en-US" sz="2000" i="1" dirty="0">
                <a:solidFill>
                  <a:schemeClr val="bg1"/>
                </a:solidFill>
              </a:rPr>
              <a:t>leren</a:t>
            </a:r>
            <a:endParaRPr lang="en-US" sz="2000" dirty="0"/>
          </a:p>
        </p:txBody>
      </p:sp>
      <p:sp>
        <p:nvSpPr>
          <p:cNvPr id="14" name="Shape 12"/>
          <p:cNvSpPr/>
          <p:nvPr/>
        </p:nvSpPr>
        <p:spPr>
          <a:xfrm>
            <a:off x="8458200" y="2057400"/>
            <a:ext cx="1645920" cy="914400"/>
          </a:xfrm>
          <a:prstGeom prst="ellipse">
            <a:avLst/>
          </a:prstGeom>
          <a:solidFill>
            <a:srgbClr val="FFFFFF"/>
          </a:solidFill>
          <a:ln w="12700">
            <a:solidFill>
              <a:srgbClr val="FFFFFF">
                <a:alpha val="0"/>
              </a:srgbClr>
            </a:solidFill>
            <a:prstDash val="solid"/>
          </a:ln>
        </p:spPr>
      </p:sp>
      <p:sp>
        <p:nvSpPr>
          <p:cNvPr id="15" name="Text 13"/>
          <p:cNvSpPr txBox="1"/>
          <p:nvPr/>
        </p:nvSpPr>
        <p:spPr>
          <a:xfrm>
            <a:off x="8458200" y="2057400"/>
            <a:ext cx="1645920" cy="914400"/>
          </a:xfrm>
          <a:prstGeom prst="rect">
            <a:avLst/>
          </a:prstGeom>
          <a:noFill/>
          <a:ln/>
        </p:spPr>
        <p:txBody>
          <a:bodyPr wrap="square" lIns="0" tIns="0" rIns="0" bIns="0" rtlCol="0" anchor="ctr"/>
          <a:lstStyle/>
          <a:p>
            <a:pPr algn="ctr" indent="0" marL="0">
              <a:buNone/>
            </a:pPr>
            <a:r>
              <a:rPr lang="en-US" sz="2600" b="1" dirty="0">
                <a:solidFill>
                  <a:schemeClr val="tx2"/>
                </a:solidFill>
                <a:latin typeface="+mj-lt" pitchFamily="34" charset="0"/>
                <a:ea typeface="+mj-lt" pitchFamily="34" charset="-122"/>
                <a:cs typeface="+mj-lt" pitchFamily="34" charset="-120"/>
              </a:rPr>
              <a:t>leren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Compass">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Comprendre</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connais les sens principaux de 14 particules.</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1"/>
          </a:solidFill>
          <a:ln w="12700">
            <a:solidFill>
              <a:srgbClr val="FFFFFF">
                <a:alpha val="0"/>
              </a:srgbClr>
            </a:solidFill>
            <a:prstDash val="solid"/>
          </a:ln>
        </p:spPr>
      </p:sp>
      <p:pic>
        <p:nvPicPr>
          <p:cNvPr id="12" name="Image 1" descr="Search">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Deviner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devine le sens d’un verbe à particule inconnu.</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Cogs">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Utiliser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J’utilise les verbes à particule avec le bon sens, à la bonne place.</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Beaucoup de verbes à particule se devinent. Les autres s’apprennent comme des blocs, avec leur contexte.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leren, aanleren, bijleren, afleren</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54480"/>
            <a:ext cx="3544824" cy="2926080"/>
          </a:xfrm>
          <a:prstGeom prst="roundRect">
            <a:avLst>
              <a:gd name="adj" fmla="val 3750"/>
            </a:avLst>
          </a:prstGeom>
          <a:solidFill>
            <a:srgbClr val="FFFFFF"/>
          </a:solidFill>
          <a:ln w="25400">
            <a:solidFill>
              <a:srgbClr val="2A6FB0"/>
            </a:solidFill>
            <a:prstDash val="solid"/>
          </a:ln>
          <a:effectLst>
            <a:outerShdw sx="100000" sy="100000" kx="0" ky="0" algn="bl" rotWithShape="0" blurRad="101600" dist="25400" dir="3600000">
              <a:srgbClr val="000000">
                <a:alpha val="16000"/>
              </a:srgbClr>
            </a:outerShdw>
          </a:effectLst>
        </p:spPr>
      </p:sp>
      <p:pic>
        <p:nvPicPr>
          <p:cNvPr id="6" name="Image 0" descr="student">    </p:cNvPr>
          <p:cNvPicPr>
            <a:picLocks noChangeAspect="1"/>
          </p:cNvPicPr>
          <p:nvPr/>
        </p:nvPicPr>
        <p:blipFill>
          <a:blip r:embed="rId1"/>
          <a:stretch>
            <a:fillRect/>
          </a:stretch>
        </p:blipFill>
        <p:spPr>
          <a:xfrm>
            <a:off x="1909572" y="1691640"/>
            <a:ext cx="822960" cy="822960"/>
          </a:xfrm>
          <a:prstGeom prst="rect">
            <a:avLst/>
          </a:prstGeom>
        </p:spPr>
      </p:pic>
      <p:sp>
        <p:nvSpPr>
          <p:cNvPr id="7" name="Text 3"/>
          <p:cNvSpPr txBox="1"/>
          <p:nvPr/>
        </p:nvSpPr>
        <p:spPr>
          <a:xfrm>
            <a:off x="731520" y="2606040"/>
            <a:ext cx="3179064" cy="1005840"/>
          </a:xfrm>
          <a:prstGeom prst="rect">
            <a:avLst/>
          </a:prstGeom>
          <a:noFill/>
          <a:ln/>
        </p:spPr>
        <p:txBody>
          <a:bodyPr wrap="square" lIns="0" tIns="0" rIns="0" bIns="0" rtlCol="0" anchor="ctr"/>
          <a:lstStyle/>
          <a:p>
            <a:pPr algn="ctr" indent="0" marL="0">
              <a:buNone/>
            </a:pPr>
            <a:r>
              <a:rPr lang="en-US" sz="1900" i="1" dirty="0">
                <a:solidFill>
                  <a:schemeClr val="tx1"/>
                </a:solidFill>
              </a:rPr>
              <a:t>Kinderen leren snel een taal </a:t>
            </a:r>
            <a:r>
              <a:rPr lang="en-US" sz="1900" b="1" i="1" dirty="0">
                <a:solidFill>
                  <a:schemeClr val="accent1"/>
                </a:solidFill>
              </a:rPr>
              <a:t>aan</a:t>
            </a:r>
            <a:r>
              <a:rPr lang="en-US" sz="1900" i="1" dirty="0">
                <a:solidFill>
                  <a:schemeClr val="tx1"/>
                </a:solidFill>
              </a:rPr>
              <a:t>.</a:t>
            </a:r>
            <a:endParaRPr lang="en-US" sz="1900" dirty="0"/>
          </a:p>
        </p:txBody>
      </p:sp>
      <p:sp>
        <p:nvSpPr>
          <p:cNvPr id="8" name="Shape 4"/>
          <p:cNvSpPr/>
          <p:nvPr/>
        </p:nvSpPr>
        <p:spPr>
          <a:xfrm>
            <a:off x="1498092" y="3703320"/>
            <a:ext cx="1645920" cy="548640"/>
          </a:xfrm>
          <a:prstGeom prst="roundRect">
            <a:avLst>
              <a:gd name="adj" fmla="val 16667"/>
            </a:avLst>
          </a:prstGeom>
          <a:solidFill>
            <a:schemeClr val="accent2">
              <a:alpha val="15000"/>
            </a:schemeClr>
          </a:solidFill>
          <a:ln w="19050">
            <a:solidFill>
              <a:srgbClr val="2A6FB0"/>
            </a:solidFill>
            <a:prstDash val="dash"/>
          </a:ln>
        </p:spPr>
      </p:sp>
      <p:sp>
        <p:nvSpPr>
          <p:cNvPr id="9" name="Text 5"/>
          <p:cNvSpPr txBox="1"/>
          <p:nvPr/>
        </p:nvSpPr>
        <p:spPr>
          <a:xfrm>
            <a:off x="1498092" y="3703320"/>
            <a:ext cx="1645920" cy="548640"/>
          </a:xfrm>
          <a:prstGeom prst="rect">
            <a:avLst/>
          </a:prstGeom>
          <a:noFill/>
          <a:ln/>
        </p:spPr>
        <p:txBody>
          <a:bodyPr wrap="square" lIns="0" tIns="0" rIns="0" bIns="0" rtlCol="0" anchor="ctr"/>
          <a:lstStyle/>
          <a:p>
            <a:pPr algn="ctr" indent="0" marL="0">
              <a:buNone/>
            </a:pPr>
            <a:r>
              <a:rPr lang="en-US" sz="1800" b="1" dirty="0">
                <a:solidFill>
                  <a:schemeClr val="accent2"/>
                </a:solidFill>
              </a:rPr>
              <a:t>aan- = ?</a:t>
            </a:r>
            <a:endParaRPr lang="en-US" sz="1800" dirty="0"/>
          </a:p>
        </p:txBody>
      </p:sp>
      <p:sp>
        <p:nvSpPr>
          <p:cNvPr id="10" name="Shape 6"/>
          <p:cNvSpPr/>
          <p:nvPr/>
        </p:nvSpPr>
        <p:spPr>
          <a:xfrm>
            <a:off x="4322064" y="1554480"/>
            <a:ext cx="3544824" cy="2926080"/>
          </a:xfrm>
          <a:prstGeom prst="roundRect">
            <a:avLst>
              <a:gd name="adj" fmla="val 3750"/>
            </a:avLst>
          </a:prstGeom>
          <a:solidFill>
            <a:srgbClr val="FFFFFF"/>
          </a:solidFill>
          <a:ln w="25400">
            <a:solidFill>
              <a:srgbClr val="B4236A"/>
            </a:solidFill>
            <a:prstDash val="solid"/>
          </a:ln>
          <a:effectLst>
            <a:outerShdw sx="100000" sy="100000" kx="0" ky="0" algn="bl" rotWithShape="0" blurRad="101600" dist="25400" dir="3600000">
              <a:srgbClr val="000000">
                <a:alpha val="16000"/>
              </a:srgbClr>
            </a:outerShdw>
          </a:effectLst>
        </p:spPr>
      </p:sp>
      <p:pic>
        <p:nvPicPr>
          <p:cNvPr id="11" name="Image 1" descr="books">    </p:cNvPr>
          <p:cNvPicPr>
            <a:picLocks noChangeAspect="1"/>
          </p:cNvPicPr>
          <p:nvPr/>
        </p:nvPicPr>
        <p:blipFill>
          <a:blip r:embed="rId2"/>
          <a:stretch>
            <a:fillRect/>
          </a:stretch>
        </p:blipFill>
        <p:spPr>
          <a:xfrm>
            <a:off x="5682996" y="1691640"/>
            <a:ext cx="822960" cy="822960"/>
          </a:xfrm>
          <a:prstGeom prst="rect">
            <a:avLst/>
          </a:prstGeom>
        </p:spPr>
      </p:pic>
      <p:sp>
        <p:nvSpPr>
          <p:cNvPr id="12" name="Text 7"/>
          <p:cNvSpPr txBox="1"/>
          <p:nvPr/>
        </p:nvSpPr>
        <p:spPr>
          <a:xfrm>
            <a:off x="4504944" y="2606040"/>
            <a:ext cx="3179064" cy="1005840"/>
          </a:xfrm>
          <a:prstGeom prst="rect">
            <a:avLst/>
          </a:prstGeom>
          <a:noFill/>
          <a:ln/>
        </p:spPr>
        <p:txBody>
          <a:bodyPr wrap="square" lIns="0" tIns="0" rIns="0" bIns="0" rtlCol="0" anchor="ctr"/>
          <a:lstStyle/>
          <a:p>
            <a:pPr algn="ctr" indent="0" marL="0">
              <a:buNone/>
            </a:pPr>
            <a:r>
              <a:rPr lang="en-US" sz="1900" i="1" dirty="0">
                <a:solidFill>
                  <a:schemeClr val="tx1"/>
                </a:solidFill>
              </a:rPr>
              <a:t>In die cursus heb ik veel </a:t>
            </a:r>
            <a:r>
              <a:rPr lang="en-US" sz="1900" b="1" i="1" dirty="0">
                <a:solidFill>
                  <a:schemeClr val="accent4"/>
                </a:solidFill>
              </a:rPr>
              <a:t>bij</a:t>
            </a:r>
            <a:r>
              <a:rPr lang="en-US" sz="1900" i="1" dirty="0">
                <a:solidFill>
                  <a:schemeClr val="tx1"/>
                </a:solidFill>
              </a:rPr>
              <a:t>geleerd.</a:t>
            </a:r>
            <a:endParaRPr lang="en-US" sz="1900" dirty="0"/>
          </a:p>
        </p:txBody>
      </p:sp>
      <p:sp>
        <p:nvSpPr>
          <p:cNvPr id="13" name="Shape 8"/>
          <p:cNvSpPr/>
          <p:nvPr/>
        </p:nvSpPr>
        <p:spPr>
          <a:xfrm>
            <a:off x="5271516" y="3703320"/>
            <a:ext cx="1645920" cy="548640"/>
          </a:xfrm>
          <a:prstGeom prst="roundRect">
            <a:avLst>
              <a:gd name="adj" fmla="val 16667"/>
            </a:avLst>
          </a:prstGeom>
          <a:solidFill>
            <a:schemeClr val="accent4">
              <a:alpha val="15000"/>
            </a:schemeClr>
          </a:solidFill>
          <a:ln w="19050">
            <a:solidFill>
              <a:srgbClr val="B4236A"/>
            </a:solidFill>
            <a:prstDash val="dash"/>
          </a:ln>
        </p:spPr>
      </p:sp>
      <p:sp>
        <p:nvSpPr>
          <p:cNvPr id="14" name="Text 9"/>
          <p:cNvSpPr txBox="1"/>
          <p:nvPr/>
        </p:nvSpPr>
        <p:spPr>
          <a:xfrm>
            <a:off x="5271516" y="3703320"/>
            <a:ext cx="1645920" cy="548640"/>
          </a:xfrm>
          <a:prstGeom prst="rect">
            <a:avLst/>
          </a:prstGeom>
          <a:noFill/>
          <a:ln/>
        </p:spPr>
        <p:txBody>
          <a:bodyPr wrap="square" lIns="0" tIns="0" rIns="0" bIns="0" rtlCol="0" anchor="ctr"/>
          <a:lstStyle/>
          <a:p>
            <a:pPr algn="ctr" indent="0" marL="0">
              <a:buNone/>
            </a:pPr>
            <a:r>
              <a:rPr lang="en-US" sz="1800" b="1" dirty="0">
                <a:solidFill>
                  <a:schemeClr val="accent4"/>
                </a:solidFill>
              </a:rPr>
              <a:t>bij- = ?</a:t>
            </a:r>
            <a:endParaRPr lang="en-US" sz="1800" dirty="0"/>
          </a:p>
        </p:txBody>
      </p:sp>
      <p:sp>
        <p:nvSpPr>
          <p:cNvPr id="15" name="Shape 10"/>
          <p:cNvSpPr/>
          <p:nvPr/>
        </p:nvSpPr>
        <p:spPr>
          <a:xfrm>
            <a:off x="8095488" y="1554480"/>
            <a:ext cx="3544824" cy="2926080"/>
          </a:xfrm>
          <a:prstGeom prst="roundRect">
            <a:avLst>
              <a:gd name="adj" fmla="val 3750"/>
            </a:avLst>
          </a:prstGeom>
          <a:solidFill>
            <a:srgbClr val="FFFFFF"/>
          </a:solidFill>
          <a:ln w="25400">
            <a:solidFill>
              <a:srgbClr val="B83227"/>
            </a:solidFill>
            <a:prstDash val="solid"/>
          </a:ln>
          <a:effectLst>
            <a:outerShdw sx="100000" sy="100000" kx="0" ky="0" algn="bl" rotWithShape="0" blurRad="101600" dist="25400" dir="3600000">
              <a:srgbClr val="000000">
                <a:alpha val="16000"/>
              </a:srgbClr>
            </a:outerShdw>
          </a:effectLst>
        </p:spPr>
      </p:sp>
      <p:pic>
        <p:nvPicPr>
          <p:cNvPr id="16" name="Image 2" descr="no smoking">    </p:cNvPr>
          <p:cNvPicPr>
            <a:picLocks noChangeAspect="1"/>
          </p:cNvPicPr>
          <p:nvPr/>
        </p:nvPicPr>
        <p:blipFill>
          <a:blip r:embed="rId3"/>
          <a:stretch>
            <a:fillRect/>
          </a:stretch>
        </p:blipFill>
        <p:spPr>
          <a:xfrm>
            <a:off x="9456420" y="1691640"/>
            <a:ext cx="822960" cy="822960"/>
          </a:xfrm>
          <a:prstGeom prst="rect">
            <a:avLst/>
          </a:prstGeom>
        </p:spPr>
      </p:pic>
      <p:sp>
        <p:nvSpPr>
          <p:cNvPr id="17" name="Text 11"/>
          <p:cNvSpPr txBox="1"/>
          <p:nvPr/>
        </p:nvSpPr>
        <p:spPr>
          <a:xfrm>
            <a:off x="8278368" y="2606040"/>
            <a:ext cx="3179064" cy="1005840"/>
          </a:xfrm>
          <a:prstGeom prst="rect">
            <a:avLst/>
          </a:prstGeom>
          <a:noFill/>
          <a:ln/>
        </p:spPr>
        <p:txBody>
          <a:bodyPr wrap="square" lIns="0" tIns="0" rIns="0" bIns="0" rtlCol="0" anchor="ctr"/>
          <a:lstStyle/>
          <a:p>
            <a:pPr algn="ctr" indent="0" marL="0">
              <a:buNone/>
            </a:pPr>
            <a:r>
              <a:rPr lang="en-US" sz="1900" i="1" dirty="0">
                <a:solidFill>
                  <a:schemeClr val="tx1"/>
                </a:solidFill>
              </a:rPr>
              <a:t>Ik wil die slechte gewoonte </a:t>
            </a:r>
            <a:r>
              <a:rPr lang="en-US" sz="1900" b="1" i="1" dirty="0">
                <a:solidFill>
                  <a:schemeClr val="accent6"/>
                </a:solidFill>
              </a:rPr>
              <a:t>af</a:t>
            </a:r>
            <a:r>
              <a:rPr lang="en-US" sz="1900" i="1" dirty="0">
                <a:solidFill>
                  <a:schemeClr val="tx1"/>
                </a:solidFill>
              </a:rPr>
              <a:t>leren.</a:t>
            </a:r>
            <a:endParaRPr lang="en-US" sz="1900" dirty="0"/>
          </a:p>
        </p:txBody>
      </p:sp>
      <p:sp>
        <p:nvSpPr>
          <p:cNvPr id="18" name="Shape 12"/>
          <p:cNvSpPr/>
          <p:nvPr/>
        </p:nvSpPr>
        <p:spPr>
          <a:xfrm>
            <a:off x="9044940" y="3703320"/>
            <a:ext cx="1645920" cy="548640"/>
          </a:xfrm>
          <a:prstGeom prst="roundRect">
            <a:avLst>
              <a:gd name="adj" fmla="val 16667"/>
            </a:avLst>
          </a:prstGeom>
          <a:solidFill>
            <a:schemeClr val="accent6">
              <a:alpha val="15000"/>
            </a:schemeClr>
          </a:solidFill>
          <a:ln w="19050">
            <a:solidFill>
              <a:srgbClr val="B83227"/>
            </a:solidFill>
            <a:prstDash val="dash"/>
          </a:ln>
        </p:spPr>
      </p:sp>
      <p:sp>
        <p:nvSpPr>
          <p:cNvPr id="19" name="Text 13"/>
          <p:cNvSpPr txBox="1"/>
          <p:nvPr/>
        </p:nvSpPr>
        <p:spPr>
          <a:xfrm>
            <a:off x="9044940" y="3703320"/>
            <a:ext cx="1645920" cy="548640"/>
          </a:xfrm>
          <a:prstGeom prst="rect">
            <a:avLst/>
          </a:prstGeom>
          <a:noFill/>
          <a:ln/>
        </p:spPr>
        <p:txBody>
          <a:bodyPr wrap="square" lIns="0" tIns="0" rIns="0" bIns="0" rtlCol="0" anchor="ctr"/>
          <a:lstStyle/>
          <a:p>
            <a:pPr algn="ctr" indent="0" marL="0">
              <a:buNone/>
            </a:pPr>
            <a:r>
              <a:rPr lang="en-US" sz="1800" b="1" dirty="0">
                <a:solidFill>
                  <a:schemeClr val="accent6"/>
                </a:solidFill>
              </a:rPr>
              <a:t>af- = ?</a:t>
            </a:r>
            <a:endParaRPr lang="en-US" sz="1800" dirty="0"/>
          </a:p>
        </p:txBody>
      </p:sp>
      <p:sp>
        <p:nvSpPr>
          <p:cNvPr id="20" name="Shape 14"/>
          <p:cNvSpPr/>
          <p:nvPr/>
        </p:nvSpPr>
        <p:spPr>
          <a:xfrm>
            <a:off x="548640" y="4709160"/>
            <a:ext cx="11091672" cy="1463040"/>
          </a:xfrm>
          <a:prstGeom prst="roundRect">
            <a:avLst>
              <a:gd name="adj" fmla="val 5000"/>
            </a:avLst>
          </a:prstGeom>
          <a:solidFill>
            <a:schemeClr val="accent1">
              <a:alpha val="15000"/>
            </a:schemeClr>
          </a:solidFill>
          <a:ln w="15875">
            <a:solidFill>
              <a:srgbClr val="D9700F"/>
            </a:solidFill>
            <a:prstDash val="solid"/>
          </a:ln>
        </p:spPr>
      </p:sp>
      <p:pic>
        <p:nvPicPr>
          <p:cNvPr id="21" name="Image 3" descr="thinking face">    </p:cNvPr>
          <p:cNvPicPr>
            <a:picLocks noChangeAspect="1"/>
          </p:cNvPicPr>
          <p:nvPr/>
        </p:nvPicPr>
        <p:blipFill>
          <a:blip r:embed="rId4"/>
          <a:stretch>
            <a:fillRect/>
          </a:stretch>
        </p:blipFill>
        <p:spPr>
          <a:xfrm>
            <a:off x="777240" y="4983480"/>
            <a:ext cx="914400" cy="914400"/>
          </a:xfrm>
          <a:prstGeom prst="rect">
            <a:avLst/>
          </a:prstGeom>
        </p:spPr>
      </p:pic>
      <p:sp>
        <p:nvSpPr>
          <p:cNvPr id="22" name="Text 15"/>
          <p:cNvSpPr txBox="1"/>
          <p:nvPr/>
        </p:nvSpPr>
        <p:spPr>
          <a:xfrm>
            <a:off x="1920240" y="4709160"/>
            <a:ext cx="9509760" cy="1463040"/>
          </a:xfrm>
          <a:prstGeom prst="rect">
            <a:avLst/>
          </a:prstGeom>
          <a:noFill/>
          <a:ln/>
        </p:spPr>
        <p:txBody>
          <a:bodyPr wrap="square" lIns="0" tIns="0" rIns="0" bIns="0" rtlCol="0" anchor="ctr"/>
          <a:lstStyle/>
          <a:p>
            <a:pPr algn="l" indent="0" marL="0">
              <a:spcAft>
                <a:spcPts val="600"/>
              </a:spcAft>
              <a:buNone/>
            </a:pPr>
            <a:r>
              <a:rPr lang="en-US" sz="2000" dirty="0">
                <a:solidFill>
                  <a:schemeClr val="tx1"/>
                </a:solidFill>
              </a:rPr>
              <a:t>Quel sens apporte chaque particule ?</a:t>
            </a:r>
            <a:endParaRPr lang="en-US" sz="2000" dirty="0"/>
          </a:p>
          <a:p>
            <a:pPr algn="l" indent="0" marL="0">
              <a:spcAft>
                <a:spcPts val="600"/>
              </a:spcAft>
              <a:buNone/>
            </a:pPr>
            <a:r>
              <a:rPr lang="en-US" sz="2000" dirty="0">
                <a:solidFill>
                  <a:schemeClr val="tx1"/>
                </a:solidFill>
              </a:rPr>
              <a:t>Et </a:t>
            </a:r>
            <a:r>
              <a:rPr lang="en-US" sz="2000" b="1" i="1" dirty="0">
                <a:solidFill>
                  <a:schemeClr val="tx1"/>
                </a:solidFill>
              </a:rPr>
              <a:t>ver</a:t>
            </a:r>
            <a:r>
              <a:rPr lang="en-US" sz="2000" i="1" dirty="0">
                <a:solidFill>
                  <a:schemeClr val="tx1"/>
                </a:solidFill>
              </a:rPr>
              <a:t>talen</a:t>
            </a:r>
            <a:r>
              <a:rPr lang="en-US" sz="2000" dirty="0">
                <a:solidFill>
                  <a:schemeClr val="tx1"/>
                </a:solidFill>
              </a:rPr>
              <a:t> : </a:t>
            </a:r>
            <a:r>
              <a:rPr lang="en-US" sz="2000" i="1" dirty="0">
                <a:solidFill>
                  <a:schemeClr val="tx1"/>
                </a:solidFill>
              </a:rPr>
              <a:t>ver-</a:t>
            </a:r>
            <a:r>
              <a:rPr lang="en-US" sz="2000" dirty="0">
                <a:solidFill>
                  <a:schemeClr val="tx1"/>
                </a:solidFill>
              </a:rPr>
              <a:t> est-il aussi une particule séparable ?</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Rappel express : la place de la particule</a:t>
            </a:r>
            <a:endParaRPr lang="en-US" sz="3000" dirty="0"/>
          </a:p>
        </p:txBody>
      </p:sp>
      <p:sp>
        <p:nvSpPr>
          <p:cNvPr id="3" name="tag"/>
          <p:cNvSpPr/>
          <p:nvPr/>
        </p:nvSpPr>
        <p:spPr>
          <a:xfrm>
            <a:off x="548640" y="237744"/>
            <a:ext cx="1444752"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RAPPEL M11</a:t>
            </a:r>
            <a:endParaRPr lang="en-US" sz="1200" dirty="0"/>
          </a:p>
        </p:txBody>
      </p:sp>
      <p:sp>
        <p:nvSpPr>
          <p:cNvPr id="5" name="Text 2"/>
          <p:cNvSpPr txBox="1"/>
          <p:nvPr/>
        </p:nvSpPr>
        <p:spPr>
          <a:xfrm>
            <a:off x="548640" y="1572768"/>
            <a:ext cx="1828800" cy="548640"/>
          </a:xfrm>
          <a:prstGeom prst="rect">
            <a:avLst/>
          </a:prstGeom>
          <a:noFill/>
          <a:ln/>
        </p:spPr>
        <p:txBody>
          <a:bodyPr wrap="square" lIns="0" tIns="0" rIns="0" bIns="0" rtlCol="0" anchor="ctr"/>
          <a:lstStyle/>
          <a:p>
            <a:pPr algn="l" indent="0" marL="0">
              <a:buNone/>
            </a:pPr>
            <a:r>
              <a:rPr lang="en-US" sz="1300" i="1" dirty="0">
                <a:solidFill>
                  <a:schemeClr val="accent5"/>
                </a:solidFill>
              </a:rPr>
              <a:t>phrase simple</a:t>
            </a:r>
            <a:endParaRPr lang="en-US" sz="1300" dirty="0"/>
          </a:p>
        </p:txBody>
      </p:sp>
      <p:sp>
        <p:nvSpPr>
          <p:cNvPr id="6" name="Shape 3"/>
          <p:cNvSpPr/>
          <p:nvPr/>
        </p:nvSpPr>
        <p:spPr>
          <a:xfrm>
            <a:off x="2286000" y="1572768"/>
            <a:ext cx="535107" cy="530352"/>
          </a:xfrm>
          <a:prstGeom prst="roundRect">
            <a:avLst>
              <a:gd name="adj" fmla="val 13793"/>
            </a:avLst>
          </a:prstGeom>
          <a:solidFill>
            <a:schemeClr val="bg1"/>
          </a:solidFill>
          <a:ln w="15875">
            <a:solidFill>
              <a:srgbClr val="D5DCE6"/>
            </a:solidFill>
            <a:prstDash val="solid"/>
          </a:ln>
        </p:spPr>
      </p:sp>
      <p:sp>
        <p:nvSpPr>
          <p:cNvPr id="7" name="Text 4"/>
          <p:cNvSpPr txBox="1"/>
          <p:nvPr/>
        </p:nvSpPr>
        <p:spPr>
          <a:xfrm>
            <a:off x="2286000" y="1572768"/>
            <a:ext cx="535107" cy="530352"/>
          </a:xfrm>
          <a:prstGeom prst="rect">
            <a:avLst/>
          </a:prstGeom>
          <a:noFill/>
          <a:ln/>
        </p:spPr>
        <p:txBody>
          <a:bodyPr wrap="square" lIns="0" tIns="0" rIns="0" bIns="0" rtlCol="0" anchor="ctr"/>
          <a:lstStyle/>
          <a:p>
            <a:pPr algn="ctr" indent="0" marL="0">
              <a:buNone/>
            </a:pPr>
            <a:r>
              <a:rPr lang="en-US" sz="1700" dirty="0">
                <a:solidFill>
                  <a:schemeClr val="tx1"/>
                </a:solidFill>
              </a:rPr>
              <a:t>Ik</a:t>
            </a:r>
            <a:endParaRPr lang="en-US" sz="1700" dirty="0"/>
          </a:p>
        </p:txBody>
      </p:sp>
      <p:sp>
        <p:nvSpPr>
          <p:cNvPr id="8" name="Shape 5"/>
          <p:cNvSpPr/>
          <p:nvPr/>
        </p:nvSpPr>
        <p:spPr>
          <a:xfrm>
            <a:off x="2903403" y="1572768"/>
            <a:ext cx="944070" cy="530352"/>
          </a:xfrm>
          <a:prstGeom prst="roundRect">
            <a:avLst>
              <a:gd name="adj" fmla="val 13793"/>
            </a:avLst>
          </a:prstGeom>
          <a:solidFill>
            <a:srgbClr val="FBEDEB"/>
          </a:solidFill>
          <a:ln w="31750">
            <a:solidFill>
              <a:srgbClr val="B83227"/>
            </a:solidFill>
            <a:prstDash val="solid"/>
          </a:ln>
        </p:spPr>
      </p:sp>
      <p:sp>
        <p:nvSpPr>
          <p:cNvPr id="9" name="Text 6"/>
          <p:cNvSpPr txBox="1"/>
          <p:nvPr/>
        </p:nvSpPr>
        <p:spPr>
          <a:xfrm>
            <a:off x="2903403" y="1572768"/>
            <a:ext cx="944070" cy="530352"/>
          </a:xfrm>
          <a:prstGeom prst="rect">
            <a:avLst/>
          </a:prstGeom>
          <a:noFill/>
          <a:ln/>
        </p:spPr>
        <p:txBody>
          <a:bodyPr wrap="square" lIns="0" tIns="0" rIns="0" bIns="0" rtlCol="0" anchor="ctr"/>
          <a:lstStyle/>
          <a:p>
            <a:pPr algn="ctr" indent="0" marL="0">
              <a:buNone/>
            </a:pPr>
            <a:r>
              <a:rPr lang="en-US" sz="1700" b="1" dirty="0">
                <a:solidFill>
                  <a:schemeClr val="accent6"/>
                </a:solidFill>
              </a:rPr>
              <a:t>lees</a:t>
            </a:r>
            <a:endParaRPr lang="en-US" sz="1700" dirty="0"/>
          </a:p>
        </p:txBody>
      </p:sp>
      <p:sp>
        <p:nvSpPr>
          <p:cNvPr id="10" name="Shape 7"/>
          <p:cNvSpPr/>
          <p:nvPr/>
        </p:nvSpPr>
        <p:spPr>
          <a:xfrm>
            <a:off x="3929769" y="1572768"/>
            <a:ext cx="1262604" cy="530352"/>
          </a:xfrm>
          <a:prstGeom prst="roundRect">
            <a:avLst>
              <a:gd name="adj" fmla="val 13793"/>
            </a:avLst>
          </a:prstGeom>
          <a:solidFill>
            <a:schemeClr val="bg1"/>
          </a:solidFill>
          <a:ln w="15875">
            <a:solidFill>
              <a:srgbClr val="D5DCE6"/>
            </a:solidFill>
            <a:prstDash val="solid"/>
          </a:ln>
        </p:spPr>
      </p:sp>
      <p:sp>
        <p:nvSpPr>
          <p:cNvPr id="11" name="Text 8"/>
          <p:cNvSpPr txBox="1"/>
          <p:nvPr/>
        </p:nvSpPr>
        <p:spPr>
          <a:xfrm>
            <a:off x="3929769" y="1572768"/>
            <a:ext cx="1262604" cy="530352"/>
          </a:xfrm>
          <a:prstGeom prst="rect">
            <a:avLst/>
          </a:prstGeom>
          <a:noFill/>
          <a:ln/>
        </p:spPr>
        <p:txBody>
          <a:bodyPr wrap="square" lIns="0" tIns="0" rIns="0" bIns="0" rtlCol="0" anchor="ctr"/>
          <a:lstStyle/>
          <a:p>
            <a:pPr algn="ctr" indent="0" marL="0">
              <a:buNone/>
            </a:pPr>
            <a:r>
              <a:rPr lang="en-US" sz="1700" dirty="0">
                <a:solidFill>
                  <a:schemeClr val="tx1"/>
                </a:solidFill>
              </a:rPr>
              <a:t>de tekst</a:t>
            </a:r>
            <a:endParaRPr lang="en-US" sz="1700" dirty="0"/>
          </a:p>
        </p:txBody>
      </p:sp>
      <p:sp>
        <p:nvSpPr>
          <p:cNvPr id="12" name="Shape 9"/>
          <p:cNvSpPr/>
          <p:nvPr/>
        </p:nvSpPr>
        <p:spPr>
          <a:xfrm>
            <a:off x="5274669" y="1572768"/>
            <a:ext cx="808271" cy="530352"/>
          </a:xfrm>
          <a:prstGeom prst="roundRect">
            <a:avLst>
              <a:gd name="adj" fmla="val 13793"/>
            </a:avLst>
          </a:prstGeom>
          <a:solidFill>
            <a:schemeClr val="accent1"/>
          </a:solidFill>
          <a:ln w="12700">
            <a:solidFill>
              <a:srgbClr val="FFFFFF">
                <a:alpha val="0"/>
              </a:srgbClr>
            </a:solidFill>
            <a:prstDash val="solid"/>
          </a:ln>
        </p:spPr>
      </p:sp>
      <p:sp>
        <p:nvSpPr>
          <p:cNvPr id="13" name="Text 10"/>
          <p:cNvSpPr txBox="1"/>
          <p:nvPr/>
        </p:nvSpPr>
        <p:spPr>
          <a:xfrm>
            <a:off x="5274669" y="1572768"/>
            <a:ext cx="808271" cy="530352"/>
          </a:xfrm>
          <a:prstGeom prst="rect">
            <a:avLst/>
          </a:prstGeom>
          <a:noFill/>
          <a:ln/>
        </p:spPr>
        <p:txBody>
          <a:bodyPr wrap="square" lIns="0" tIns="0" rIns="0" bIns="0" rtlCol="0" anchor="ctr"/>
          <a:lstStyle/>
          <a:p>
            <a:pPr algn="ctr" indent="0" marL="0">
              <a:buNone/>
            </a:pPr>
            <a:r>
              <a:rPr lang="en-US" sz="1700" b="1" dirty="0">
                <a:solidFill>
                  <a:schemeClr val="bg1"/>
                </a:solidFill>
              </a:rPr>
              <a:t>na.</a:t>
            </a:r>
            <a:endParaRPr lang="en-US" sz="1700" dirty="0"/>
          </a:p>
        </p:txBody>
      </p:sp>
      <p:sp>
        <p:nvSpPr>
          <p:cNvPr id="14" name="Text 11"/>
          <p:cNvSpPr txBox="1"/>
          <p:nvPr/>
        </p:nvSpPr>
        <p:spPr>
          <a:xfrm>
            <a:off x="548640" y="2231136"/>
            <a:ext cx="1828800" cy="548640"/>
          </a:xfrm>
          <a:prstGeom prst="rect">
            <a:avLst/>
          </a:prstGeom>
          <a:noFill/>
          <a:ln/>
        </p:spPr>
        <p:txBody>
          <a:bodyPr wrap="square" lIns="0" tIns="0" rIns="0" bIns="0" rtlCol="0" anchor="ctr"/>
          <a:lstStyle/>
          <a:p>
            <a:pPr algn="l" indent="0" marL="0">
              <a:buNone/>
            </a:pPr>
            <a:r>
              <a:rPr lang="en-US" sz="1300" i="1" dirty="0">
                <a:solidFill>
                  <a:schemeClr val="accent5"/>
                </a:solidFill>
              </a:rPr>
              <a:t>modal</a:t>
            </a:r>
            <a:endParaRPr lang="en-US" sz="1300" dirty="0"/>
          </a:p>
        </p:txBody>
      </p:sp>
      <p:sp>
        <p:nvSpPr>
          <p:cNvPr id="15" name="Shape 12"/>
          <p:cNvSpPr/>
          <p:nvPr/>
        </p:nvSpPr>
        <p:spPr>
          <a:xfrm>
            <a:off x="2286000" y="2231136"/>
            <a:ext cx="535107" cy="530352"/>
          </a:xfrm>
          <a:prstGeom prst="roundRect">
            <a:avLst>
              <a:gd name="adj" fmla="val 13793"/>
            </a:avLst>
          </a:prstGeom>
          <a:solidFill>
            <a:schemeClr val="bg1"/>
          </a:solidFill>
          <a:ln w="15875">
            <a:solidFill>
              <a:srgbClr val="D5DCE6"/>
            </a:solidFill>
            <a:prstDash val="solid"/>
          </a:ln>
        </p:spPr>
      </p:sp>
      <p:sp>
        <p:nvSpPr>
          <p:cNvPr id="16" name="Text 13"/>
          <p:cNvSpPr txBox="1"/>
          <p:nvPr/>
        </p:nvSpPr>
        <p:spPr>
          <a:xfrm>
            <a:off x="2286000" y="2231136"/>
            <a:ext cx="535107" cy="530352"/>
          </a:xfrm>
          <a:prstGeom prst="rect">
            <a:avLst/>
          </a:prstGeom>
          <a:noFill/>
          <a:ln/>
        </p:spPr>
        <p:txBody>
          <a:bodyPr wrap="square" lIns="0" tIns="0" rIns="0" bIns="0" rtlCol="0" anchor="ctr"/>
          <a:lstStyle/>
          <a:p>
            <a:pPr algn="ctr" indent="0" marL="0">
              <a:buNone/>
            </a:pPr>
            <a:r>
              <a:rPr lang="en-US" sz="1700" dirty="0">
                <a:solidFill>
                  <a:schemeClr val="tx1"/>
                </a:solidFill>
              </a:rPr>
              <a:t>Ik</a:t>
            </a:r>
            <a:endParaRPr lang="en-US" sz="1700" dirty="0"/>
          </a:p>
        </p:txBody>
      </p:sp>
      <p:sp>
        <p:nvSpPr>
          <p:cNvPr id="17" name="Shape 14"/>
          <p:cNvSpPr/>
          <p:nvPr/>
        </p:nvSpPr>
        <p:spPr>
          <a:xfrm>
            <a:off x="2903403" y="2231136"/>
            <a:ext cx="808271" cy="530352"/>
          </a:xfrm>
          <a:prstGeom prst="roundRect">
            <a:avLst>
              <a:gd name="adj" fmla="val 13793"/>
            </a:avLst>
          </a:prstGeom>
          <a:solidFill>
            <a:srgbClr val="FBEDEB"/>
          </a:solidFill>
          <a:ln w="31750">
            <a:solidFill>
              <a:srgbClr val="B83227"/>
            </a:solidFill>
            <a:prstDash val="solid"/>
          </a:ln>
        </p:spPr>
      </p:sp>
      <p:sp>
        <p:nvSpPr>
          <p:cNvPr id="18" name="Text 15"/>
          <p:cNvSpPr txBox="1"/>
          <p:nvPr/>
        </p:nvSpPr>
        <p:spPr>
          <a:xfrm>
            <a:off x="2903403" y="2231136"/>
            <a:ext cx="808271" cy="530352"/>
          </a:xfrm>
          <a:prstGeom prst="rect">
            <a:avLst/>
          </a:prstGeom>
          <a:noFill/>
          <a:ln/>
        </p:spPr>
        <p:txBody>
          <a:bodyPr wrap="square" lIns="0" tIns="0" rIns="0" bIns="0" rtlCol="0" anchor="ctr"/>
          <a:lstStyle/>
          <a:p>
            <a:pPr algn="ctr" indent="0" marL="0">
              <a:buNone/>
            </a:pPr>
            <a:r>
              <a:rPr lang="en-US" sz="1700" b="1" dirty="0">
                <a:solidFill>
                  <a:schemeClr val="accent6"/>
                </a:solidFill>
              </a:rPr>
              <a:t>wil</a:t>
            </a:r>
            <a:endParaRPr lang="en-US" sz="1700" dirty="0"/>
          </a:p>
        </p:txBody>
      </p:sp>
      <p:sp>
        <p:nvSpPr>
          <p:cNvPr id="19" name="Shape 16"/>
          <p:cNvSpPr/>
          <p:nvPr/>
        </p:nvSpPr>
        <p:spPr>
          <a:xfrm>
            <a:off x="3793970" y="2231136"/>
            <a:ext cx="1262604" cy="530352"/>
          </a:xfrm>
          <a:prstGeom prst="roundRect">
            <a:avLst>
              <a:gd name="adj" fmla="val 13793"/>
            </a:avLst>
          </a:prstGeom>
          <a:solidFill>
            <a:schemeClr val="bg1"/>
          </a:solidFill>
          <a:ln w="15875">
            <a:solidFill>
              <a:srgbClr val="D5DCE6"/>
            </a:solidFill>
            <a:prstDash val="solid"/>
          </a:ln>
        </p:spPr>
      </p:sp>
      <p:sp>
        <p:nvSpPr>
          <p:cNvPr id="20" name="Text 17"/>
          <p:cNvSpPr txBox="1"/>
          <p:nvPr/>
        </p:nvSpPr>
        <p:spPr>
          <a:xfrm>
            <a:off x="3793970" y="2231136"/>
            <a:ext cx="1262604" cy="530352"/>
          </a:xfrm>
          <a:prstGeom prst="rect">
            <a:avLst/>
          </a:prstGeom>
          <a:noFill/>
          <a:ln/>
        </p:spPr>
        <p:txBody>
          <a:bodyPr wrap="square" lIns="0" tIns="0" rIns="0" bIns="0" rtlCol="0" anchor="ctr"/>
          <a:lstStyle/>
          <a:p>
            <a:pPr algn="ctr" indent="0" marL="0">
              <a:buNone/>
            </a:pPr>
            <a:r>
              <a:rPr lang="en-US" sz="1700" dirty="0">
                <a:solidFill>
                  <a:schemeClr val="tx1"/>
                </a:solidFill>
              </a:rPr>
              <a:t>de tekst</a:t>
            </a:r>
            <a:endParaRPr lang="en-US" sz="1700" dirty="0"/>
          </a:p>
        </p:txBody>
      </p:sp>
      <p:sp>
        <p:nvSpPr>
          <p:cNvPr id="21" name="Shape 18"/>
          <p:cNvSpPr/>
          <p:nvPr/>
        </p:nvSpPr>
        <p:spPr>
          <a:xfrm>
            <a:off x="5138869" y="2231136"/>
            <a:ext cx="1487268" cy="530352"/>
          </a:xfrm>
          <a:prstGeom prst="roundRect">
            <a:avLst>
              <a:gd name="adj" fmla="val 13793"/>
            </a:avLst>
          </a:prstGeom>
          <a:solidFill>
            <a:srgbClr val="FFFFFF"/>
          </a:solidFill>
          <a:ln w="25400">
            <a:solidFill>
              <a:srgbClr val="B83227"/>
            </a:solidFill>
            <a:prstDash val="dash"/>
          </a:ln>
        </p:spPr>
      </p:sp>
      <p:sp>
        <p:nvSpPr>
          <p:cNvPr id="22" name="Text 19"/>
          <p:cNvSpPr txBox="1"/>
          <p:nvPr/>
        </p:nvSpPr>
        <p:spPr>
          <a:xfrm>
            <a:off x="5138869" y="2231136"/>
            <a:ext cx="1487268" cy="530352"/>
          </a:xfrm>
          <a:prstGeom prst="rect">
            <a:avLst/>
          </a:prstGeom>
          <a:noFill/>
          <a:ln/>
        </p:spPr>
        <p:txBody>
          <a:bodyPr wrap="square" lIns="0" tIns="0" rIns="0" bIns="0" rtlCol="0" anchor="ctr"/>
          <a:lstStyle/>
          <a:p>
            <a:pPr algn="ctr" indent="0" marL="0">
              <a:buNone/>
            </a:pPr>
            <a:r>
              <a:rPr lang="en-US" sz="1700" b="1" dirty="0">
                <a:solidFill>
                  <a:schemeClr val="accent6"/>
                </a:solidFill>
              </a:rPr>
              <a:t>nalezen.</a:t>
            </a:r>
            <a:endParaRPr lang="en-US" sz="1700" dirty="0"/>
          </a:p>
        </p:txBody>
      </p:sp>
      <p:sp>
        <p:nvSpPr>
          <p:cNvPr id="23" name="Text 20"/>
          <p:cNvSpPr txBox="1"/>
          <p:nvPr/>
        </p:nvSpPr>
        <p:spPr>
          <a:xfrm>
            <a:off x="548640" y="2889504"/>
            <a:ext cx="1828800" cy="548640"/>
          </a:xfrm>
          <a:prstGeom prst="rect">
            <a:avLst/>
          </a:prstGeom>
          <a:noFill/>
          <a:ln/>
        </p:spPr>
        <p:txBody>
          <a:bodyPr wrap="square" lIns="0" tIns="0" rIns="0" bIns="0" rtlCol="0" anchor="ctr"/>
          <a:lstStyle/>
          <a:p>
            <a:pPr algn="l" indent="0" marL="0">
              <a:buNone/>
            </a:pPr>
            <a:r>
              <a:rPr lang="en-US" sz="1300" i="1" dirty="0">
                <a:solidFill>
                  <a:schemeClr val="accent5"/>
                </a:solidFill>
              </a:rPr>
              <a:t>subordonnée</a:t>
            </a:r>
            <a:endParaRPr lang="en-US" sz="1300" dirty="0"/>
          </a:p>
        </p:txBody>
      </p:sp>
      <p:sp>
        <p:nvSpPr>
          <p:cNvPr id="24" name="Shape 21"/>
          <p:cNvSpPr/>
          <p:nvPr/>
        </p:nvSpPr>
        <p:spPr>
          <a:xfrm>
            <a:off x="2286000" y="2889504"/>
            <a:ext cx="1262604" cy="530352"/>
          </a:xfrm>
          <a:prstGeom prst="roundRect">
            <a:avLst>
              <a:gd name="adj" fmla="val 13793"/>
            </a:avLst>
          </a:prstGeom>
          <a:solidFill>
            <a:schemeClr val="bg1"/>
          </a:solidFill>
          <a:ln w="15875">
            <a:solidFill>
              <a:srgbClr val="D5DCE6"/>
            </a:solidFill>
            <a:prstDash val="solid"/>
          </a:ln>
        </p:spPr>
      </p:sp>
      <p:sp>
        <p:nvSpPr>
          <p:cNvPr id="25" name="Text 22"/>
          <p:cNvSpPr txBox="1"/>
          <p:nvPr/>
        </p:nvSpPr>
        <p:spPr>
          <a:xfrm>
            <a:off x="2286000" y="2889504"/>
            <a:ext cx="1262604" cy="530352"/>
          </a:xfrm>
          <a:prstGeom prst="rect">
            <a:avLst/>
          </a:prstGeom>
          <a:noFill/>
          <a:ln/>
        </p:spPr>
        <p:txBody>
          <a:bodyPr wrap="square" lIns="0" tIns="0" rIns="0" bIns="0" rtlCol="0" anchor="ctr"/>
          <a:lstStyle/>
          <a:p>
            <a:pPr algn="ctr" indent="0" marL="0">
              <a:buNone/>
            </a:pPr>
            <a:r>
              <a:rPr lang="en-US" sz="1700" dirty="0">
                <a:solidFill>
                  <a:schemeClr val="tx1"/>
                </a:solidFill>
              </a:rPr>
              <a:t>…, omdat</a:t>
            </a:r>
            <a:endParaRPr lang="en-US" sz="1700" dirty="0"/>
          </a:p>
        </p:txBody>
      </p:sp>
      <p:sp>
        <p:nvSpPr>
          <p:cNvPr id="26" name="Shape 23"/>
          <p:cNvSpPr/>
          <p:nvPr/>
        </p:nvSpPr>
        <p:spPr>
          <a:xfrm>
            <a:off x="3630900" y="2889504"/>
            <a:ext cx="535107" cy="530352"/>
          </a:xfrm>
          <a:prstGeom prst="roundRect">
            <a:avLst>
              <a:gd name="adj" fmla="val 13793"/>
            </a:avLst>
          </a:prstGeom>
          <a:solidFill>
            <a:schemeClr val="bg1"/>
          </a:solidFill>
          <a:ln w="15875">
            <a:solidFill>
              <a:srgbClr val="D5DCE6"/>
            </a:solidFill>
            <a:prstDash val="solid"/>
          </a:ln>
        </p:spPr>
      </p:sp>
      <p:sp>
        <p:nvSpPr>
          <p:cNvPr id="27" name="Text 24"/>
          <p:cNvSpPr txBox="1"/>
          <p:nvPr/>
        </p:nvSpPr>
        <p:spPr>
          <a:xfrm>
            <a:off x="3630900" y="2889504"/>
            <a:ext cx="535107" cy="530352"/>
          </a:xfrm>
          <a:prstGeom prst="rect">
            <a:avLst/>
          </a:prstGeom>
          <a:noFill/>
          <a:ln/>
        </p:spPr>
        <p:txBody>
          <a:bodyPr wrap="square" lIns="0" tIns="0" rIns="0" bIns="0" rtlCol="0" anchor="ctr"/>
          <a:lstStyle/>
          <a:p>
            <a:pPr algn="ctr" indent="0" marL="0">
              <a:buNone/>
            </a:pPr>
            <a:r>
              <a:rPr lang="en-US" sz="1700" dirty="0">
                <a:solidFill>
                  <a:schemeClr val="tx1"/>
                </a:solidFill>
              </a:rPr>
              <a:t>ik</a:t>
            </a:r>
            <a:endParaRPr lang="en-US" sz="1700" dirty="0"/>
          </a:p>
        </p:txBody>
      </p:sp>
      <p:sp>
        <p:nvSpPr>
          <p:cNvPr id="28" name="Shape 25"/>
          <p:cNvSpPr/>
          <p:nvPr/>
        </p:nvSpPr>
        <p:spPr>
          <a:xfrm>
            <a:off x="4248302" y="2889504"/>
            <a:ext cx="1262604" cy="530352"/>
          </a:xfrm>
          <a:prstGeom prst="roundRect">
            <a:avLst>
              <a:gd name="adj" fmla="val 13793"/>
            </a:avLst>
          </a:prstGeom>
          <a:solidFill>
            <a:schemeClr val="bg1"/>
          </a:solidFill>
          <a:ln w="15875">
            <a:solidFill>
              <a:srgbClr val="D5DCE6"/>
            </a:solidFill>
            <a:prstDash val="solid"/>
          </a:ln>
        </p:spPr>
      </p:sp>
      <p:sp>
        <p:nvSpPr>
          <p:cNvPr id="29" name="Text 26"/>
          <p:cNvSpPr txBox="1"/>
          <p:nvPr/>
        </p:nvSpPr>
        <p:spPr>
          <a:xfrm>
            <a:off x="4248302" y="2889504"/>
            <a:ext cx="1262604" cy="530352"/>
          </a:xfrm>
          <a:prstGeom prst="rect">
            <a:avLst/>
          </a:prstGeom>
          <a:noFill/>
          <a:ln/>
        </p:spPr>
        <p:txBody>
          <a:bodyPr wrap="square" lIns="0" tIns="0" rIns="0" bIns="0" rtlCol="0" anchor="ctr"/>
          <a:lstStyle/>
          <a:p>
            <a:pPr algn="ctr" indent="0" marL="0">
              <a:buNone/>
            </a:pPr>
            <a:r>
              <a:rPr lang="en-US" sz="1700" dirty="0">
                <a:solidFill>
                  <a:schemeClr val="tx1"/>
                </a:solidFill>
              </a:rPr>
              <a:t>de tekst</a:t>
            </a:r>
            <a:endParaRPr lang="en-US" sz="1700" dirty="0"/>
          </a:p>
        </p:txBody>
      </p:sp>
      <p:sp>
        <p:nvSpPr>
          <p:cNvPr id="30" name="Shape 27"/>
          <p:cNvSpPr/>
          <p:nvPr/>
        </p:nvSpPr>
        <p:spPr>
          <a:xfrm>
            <a:off x="5593202" y="2889504"/>
            <a:ext cx="1351469" cy="530352"/>
          </a:xfrm>
          <a:prstGeom prst="roundRect">
            <a:avLst>
              <a:gd name="adj" fmla="val 13793"/>
            </a:avLst>
          </a:prstGeom>
          <a:solidFill>
            <a:srgbClr val="FBEDEB"/>
          </a:solidFill>
          <a:ln w="31750">
            <a:solidFill>
              <a:srgbClr val="B83227"/>
            </a:solidFill>
            <a:prstDash val="solid"/>
          </a:ln>
        </p:spPr>
      </p:sp>
      <p:sp>
        <p:nvSpPr>
          <p:cNvPr id="31" name="Text 28"/>
          <p:cNvSpPr txBox="1"/>
          <p:nvPr/>
        </p:nvSpPr>
        <p:spPr>
          <a:xfrm>
            <a:off x="5593202" y="2889504"/>
            <a:ext cx="1351469" cy="530352"/>
          </a:xfrm>
          <a:prstGeom prst="rect">
            <a:avLst/>
          </a:prstGeom>
          <a:noFill/>
          <a:ln/>
        </p:spPr>
        <p:txBody>
          <a:bodyPr wrap="square" lIns="0" tIns="0" rIns="0" bIns="0" rtlCol="0" anchor="ctr"/>
          <a:lstStyle/>
          <a:p>
            <a:pPr algn="ctr" indent="0" marL="0">
              <a:buNone/>
            </a:pPr>
            <a:r>
              <a:rPr lang="en-US" sz="1700" b="1" dirty="0">
                <a:solidFill>
                  <a:schemeClr val="accent6"/>
                </a:solidFill>
              </a:rPr>
              <a:t>nalees.</a:t>
            </a:r>
            <a:endParaRPr lang="en-US" sz="1700" dirty="0"/>
          </a:p>
        </p:txBody>
      </p:sp>
      <p:sp>
        <p:nvSpPr>
          <p:cNvPr id="32" name="Text 29"/>
          <p:cNvSpPr txBox="1"/>
          <p:nvPr/>
        </p:nvSpPr>
        <p:spPr>
          <a:xfrm>
            <a:off x="548640" y="3547872"/>
            <a:ext cx="1828800" cy="548640"/>
          </a:xfrm>
          <a:prstGeom prst="rect">
            <a:avLst/>
          </a:prstGeom>
          <a:noFill/>
          <a:ln/>
        </p:spPr>
        <p:txBody>
          <a:bodyPr wrap="square" lIns="0" tIns="0" rIns="0" bIns="0" rtlCol="0" anchor="ctr"/>
          <a:lstStyle/>
          <a:p>
            <a:pPr algn="l" indent="0" marL="0">
              <a:buNone/>
            </a:pPr>
            <a:r>
              <a:rPr lang="en-US" sz="1300" i="1" dirty="0">
                <a:solidFill>
                  <a:schemeClr val="accent5"/>
                </a:solidFill>
              </a:rPr>
              <a:t>passé composé</a:t>
            </a:r>
            <a:endParaRPr lang="en-US" sz="1300" dirty="0"/>
          </a:p>
        </p:txBody>
      </p:sp>
      <p:sp>
        <p:nvSpPr>
          <p:cNvPr id="33" name="Shape 30"/>
          <p:cNvSpPr/>
          <p:nvPr/>
        </p:nvSpPr>
        <p:spPr>
          <a:xfrm>
            <a:off x="2286000" y="3547872"/>
            <a:ext cx="535107" cy="530352"/>
          </a:xfrm>
          <a:prstGeom prst="roundRect">
            <a:avLst>
              <a:gd name="adj" fmla="val 13793"/>
            </a:avLst>
          </a:prstGeom>
          <a:solidFill>
            <a:schemeClr val="bg1"/>
          </a:solidFill>
          <a:ln w="15875">
            <a:solidFill>
              <a:srgbClr val="D5DCE6"/>
            </a:solidFill>
            <a:prstDash val="solid"/>
          </a:ln>
        </p:spPr>
      </p:sp>
      <p:sp>
        <p:nvSpPr>
          <p:cNvPr id="34" name="Text 31"/>
          <p:cNvSpPr txBox="1"/>
          <p:nvPr/>
        </p:nvSpPr>
        <p:spPr>
          <a:xfrm>
            <a:off x="2286000" y="3547872"/>
            <a:ext cx="535107" cy="530352"/>
          </a:xfrm>
          <a:prstGeom prst="rect">
            <a:avLst/>
          </a:prstGeom>
          <a:noFill/>
          <a:ln/>
        </p:spPr>
        <p:txBody>
          <a:bodyPr wrap="square" lIns="0" tIns="0" rIns="0" bIns="0" rtlCol="0" anchor="ctr"/>
          <a:lstStyle/>
          <a:p>
            <a:pPr algn="ctr" indent="0" marL="0">
              <a:buNone/>
            </a:pPr>
            <a:r>
              <a:rPr lang="en-US" sz="1700" dirty="0">
                <a:solidFill>
                  <a:schemeClr val="tx1"/>
                </a:solidFill>
              </a:rPr>
              <a:t>Ik</a:t>
            </a:r>
            <a:endParaRPr lang="en-US" sz="1700" dirty="0"/>
          </a:p>
        </p:txBody>
      </p:sp>
      <p:sp>
        <p:nvSpPr>
          <p:cNvPr id="35" name="Shape 32"/>
          <p:cNvSpPr/>
          <p:nvPr/>
        </p:nvSpPr>
        <p:spPr>
          <a:xfrm>
            <a:off x="2903403" y="3547872"/>
            <a:ext cx="808271" cy="530352"/>
          </a:xfrm>
          <a:prstGeom prst="roundRect">
            <a:avLst>
              <a:gd name="adj" fmla="val 13793"/>
            </a:avLst>
          </a:prstGeom>
          <a:solidFill>
            <a:srgbClr val="FBEDEB"/>
          </a:solidFill>
          <a:ln w="31750">
            <a:solidFill>
              <a:srgbClr val="B83227"/>
            </a:solidFill>
            <a:prstDash val="solid"/>
          </a:ln>
        </p:spPr>
      </p:sp>
      <p:sp>
        <p:nvSpPr>
          <p:cNvPr id="36" name="Text 33"/>
          <p:cNvSpPr txBox="1"/>
          <p:nvPr/>
        </p:nvSpPr>
        <p:spPr>
          <a:xfrm>
            <a:off x="2903403" y="3547872"/>
            <a:ext cx="808271" cy="530352"/>
          </a:xfrm>
          <a:prstGeom prst="rect">
            <a:avLst/>
          </a:prstGeom>
          <a:noFill/>
          <a:ln/>
        </p:spPr>
        <p:txBody>
          <a:bodyPr wrap="square" lIns="0" tIns="0" rIns="0" bIns="0" rtlCol="0" anchor="ctr"/>
          <a:lstStyle/>
          <a:p>
            <a:pPr algn="ctr" indent="0" marL="0">
              <a:buNone/>
            </a:pPr>
            <a:r>
              <a:rPr lang="en-US" sz="1700" b="1" dirty="0">
                <a:solidFill>
                  <a:schemeClr val="accent6"/>
                </a:solidFill>
              </a:rPr>
              <a:t>heb</a:t>
            </a:r>
            <a:endParaRPr lang="en-US" sz="1700" dirty="0"/>
          </a:p>
        </p:txBody>
      </p:sp>
      <p:sp>
        <p:nvSpPr>
          <p:cNvPr id="37" name="Shape 34"/>
          <p:cNvSpPr/>
          <p:nvPr/>
        </p:nvSpPr>
        <p:spPr>
          <a:xfrm>
            <a:off x="3793970" y="3547872"/>
            <a:ext cx="1262604" cy="530352"/>
          </a:xfrm>
          <a:prstGeom prst="roundRect">
            <a:avLst>
              <a:gd name="adj" fmla="val 13793"/>
            </a:avLst>
          </a:prstGeom>
          <a:solidFill>
            <a:schemeClr val="bg1"/>
          </a:solidFill>
          <a:ln w="15875">
            <a:solidFill>
              <a:srgbClr val="D5DCE6"/>
            </a:solidFill>
            <a:prstDash val="solid"/>
          </a:ln>
        </p:spPr>
      </p:sp>
      <p:sp>
        <p:nvSpPr>
          <p:cNvPr id="38" name="Text 35"/>
          <p:cNvSpPr txBox="1"/>
          <p:nvPr/>
        </p:nvSpPr>
        <p:spPr>
          <a:xfrm>
            <a:off x="3793970" y="3547872"/>
            <a:ext cx="1262604" cy="530352"/>
          </a:xfrm>
          <a:prstGeom prst="rect">
            <a:avLst/>
          </a:prstGeom>
          <a:noFill/>
          <a:ln/>
        </p:spPr>
        <p:txBody>
          <a:bodyPr wrap="square" lIns="0" tIns="0" rIns="0" bIns="0" rtlCol="0" anchor="ctr"/>
          <a:lstStyle/>
          <a:p>
            <a:pPr algn="ctr" indent="0" marL="0">
              <a:buNone/>
            </a:pPr>
            <a:r>
              <a:rPr lang="en-US" sz="1700" dirty="0">
                <a:solidFill>
                  <a:schemeClr val="tx1"/>
                </a:solidFill>
              </a:rPr>
              <a:t>de tekst</a:t>
            </a:r>
            <a:endParaRPr lang="en-US" sz="1700" dirty="0"/>
          </a:p>
        </p:txBody>
      </p:sp>
      <p:sp>
        <p:nvSpPr>
          <p:cNvPr id="39" name="Shape 36"/>
          <p:cNvSpPr/>
          <p:nvPr/>
        </p:nvSpPr>
        <p:spPr>
          <a:xfrm>
            <a:off x="5138869" y="3547872"/>
            <a:ext cx="672472" cy="530352"/>
          </a:xfrm>
          <a:prstGeom prst="roundRect">
            <a:avLst>
              <a:gd name="adj" fmla="val 13793"/>
            </a:avLst>
          </a:prstGeom>
          <a:solidFill>
            <a:schemeClr val="accent1"/>
          </a:solidFill>
          <a:ln w="12700">
            <a:solidFill>
              <a:srgbClr val="FFFFFF">
                <a:alpha val="0"/>
              </a:srgbClr>
            </a:solidFill>
            <a:prstDash val="solid"/>
          </a:ln>
        </p:spPr>
      </p:sp>
      <p:sp>
        <p:nvSpPr>
          <p:cNvPr id="40" name="Text 37"/>
          <p:cNvSpPr txBox="1"/>
          <p:nvPr/>
        </p:nvSpPr>
        <p:spPr>
          <a:xfrm>
            <a:off x="5138869" y="3547872"/>
            <a:ext cx="672472" cy="530352"/>
          </a:xfrm>
          <a:prstGeom prst="rect">
            <a:avLst/>
          </a:prstGeom>
          <a:noFill/>
          <a:ln/>
        </p:spPr>
        <p:txBody>
          <a:bodyPr wrap="square" lIns="0" tIns="0" rIns="0" bIns="0" rtlCol="0" anchor="ctr"/>
          <a:lstStyle/>
          <a:p>
            <a:pPr algn="ctr" indent="0" marL="0">
              <a:buNone/>
            </a:pPr>
            <a:r>
              <a:rPr lang="en-US" sz="1700" b="1" dirty="0">
                <a:solidFill>
                  <a:schemeClr val="bg1"/>
                </a:solidFill>
              </a:rPr>
              <a:t>na</a:t>
            </a:r>
            <a:endParaRPr lang="en-US" sz="1700" dirty="0"/>
          </a:p>
        </p:txBody>
      </p:sp>
      <p:sp>
        <p:nvSpPr>
          <p:cNvPr id="41" name="Text 38"/>
          <p:cNvSpPr txBox="1"/>
          <p:nvPr/>
        </p:nvSpPr>
        <p:spPr>
          <a:xfrm>
            <a:off x="5893637" y="3547872"/>
            <a:ext cx="672472" cy="530352"/>
          </a:xfrm>
          <a:prstGeom prst="rect">
            <a:avLst/>
          </a:prstGeom>
          <a:noFill/>
          <a:ln/>
        </p:spPr>
        <p:txBody>
          <a:bodyPr wrap="square" lIns="0" tIns="0" rIns="0" bIns="0" rtlCol="0" anchor="ctr"/>
          <a:lstStyle/>
          <a:p>
            <a:pPr algn="ctr" indent="0" marL="0">
              <a:buNone/>
            </a:pPr>
            <a:r>
              <a:rPr lang="en-US" sz="1700" b="1" dirty="0">
                <a:solidFill>
                  <a:schemeClr val="accent5"/>
                </a:solidFill>
              </a:rPr>
              <a:t>ge</a:t>
            </a:r>
            <a:endParaRPr lang="en-US" sz="1700" dirty="0"/>
          </a:p>
        </p:txBody>
      </p:sp>
      <p:sp>
        <p:nvSpPr>
          <p:cNvPr id="42" name="Shape 39"/>
          <p:cNvSpPr/>
          <p:nvPr/>
        </p:nvSpPr>
        <p:spPr>
          <a:xfrm>
            <a:off x="6648405" y="3547872"/>
            <a:ext cx="1215669" cy="530352"/>
          </a:xfrm>
          <a:prstGeom prst="roundRect">
            <a:avLst>
              <a:gd name="adj" fmla="val 13793"/>
            </a:avLst>
          </a:prstGeom>
          <a:solidFill>
            <a:srgbClr val="FFFFFF"/>
          </a:solidFill>
          <a:ln w="25400">
            <a:solidFill>
              <a:srgbClr val="B83227"/>
            </a:solidFill>
            <a:prstDash val="dash"/>
          </a:ln>
        </p:spPr>
      </p:sp>
      <p:sp>
        <p:nvSpPr>
          <p:cNvPr id="43" name="Text 40"/>
          <p:cNvSpPr txBox="1"/>
          <p:nvPr/>
        </p:nvSpPr>
        <p:spPr>
          <a:xfrm>
            <a:off x="6648405" y="3547872"/>
            <a:ext cx="1215669" cy="530352"/>
          </a:xfrm>
          <a:prstGeom prst="rect">
            <a:avLst/>
          </a:prstGeom>
          <a:noFill/>
          <a:ln/>
        </p:spPr>
        <p:txBody>
          <a:bodyPr wrap="square" lIns="0" tIns="0" rIns="0" bIns="0" rtlCol="0" anchor="ctr"/>
          <a:lstStyle/>
          <a:p>
            <a:pPr algn="ctr" indent="0" marL="0">
              <a:buNone/>
            </a:pPr>
            <a:r>
              <a:rPr lang="en-US" sz="1700" b="1" dirty="0">
                <a:solidFill>
                  <a:schemeClr val="accent6"/>
                </a:solidFill>
              </a:rPr>
              <a:t>lezen.</a:t>
            </a:r>
            <a:endParaRPr lang="en-US" sz="1700" dirty="0"/>
          </a:p>
        </p:txBody>
      </p:sp>
      <p:sp>
        <p:nvSpPr>
          <p:cNvPr id="44" name="Text 41"/>
          <p:cNvSpPr txBox="1"/>
          <p:nvPr/>
        </p:nvSpPr>
        <p:spPr>
          <a:xfrm>
            <a:off x="548640" y="4206240"/>
            <a:ext cx="1828800" cy="548640"/>
          </a:xfrm>
          <a:prstGeom prst="rect">
            <a:avLst/>
          </a:prstGeom>
          <a:noFill/>
          <a:ln/>
        </p:spPr>
        <p:txBody>
          <a:bodyPr wrap="square" lIns="0" tIns="0" rIns="0" bIns="0" rtlCol="0" anchor="ctr"/>
          <a:lstStyle/>
          <a:p>
            <a:pPr algn="l" indent="0" marL="0">
              <a:buNone/>
            </a:pPr>
            <a:r>
              <a:rPr lang="en-US" sz="1300" i="1" dirty="0">
                <a:solidFill>
                  <a:schemeClr val="accent5"/>
                </a:solidFill>
              </a:rPr>
              <a:t>te + infinitif</a:t>
            </a:r>
            <a:endParaRPr lang="en-US" sz="1300" dirty="0"/>
          </a:p>
        </p:txBody>
      </p:sp>
      <p:sp>
        <p:nvSpPr>
          <p:cNvPr id="45" name="Shape 42"/>
          <p:cNvSpPr/>
          <p:nvPr/>
        </p:nvSpPr>
        <p:spPr>
          <a:xfrm>
            <a:off x="2286000" y="4206240"/>
            <a:ext cx="535107" cy="530352"/>
          </a:xfrm>
          <a:prstGeom prst="roundRect">
            <a:avLst>
              <a:gd name="adj" fmla="val 13793"/>
            </a:avLst>
          </a:prstGeom>
          <a:solidFill>
            <a:schemeClr val="bg1"/>
          </a:solidFill>
          <a:ln w="15875">
            <a:solidFill>
              <a:srgbClr val="D5DCE6"/>
            </a:solidFill>
            <a:prstDash val="solid"/>
          </a:ln>
        </p:spPr>
      </p:sp>
      <p:sp>
        <p:nvSpPr>
          <p:cNvPr id="46" name="Text 43"/>
          <p:cNvSpPr txBox="1"/>
          <p:nvPr/>
        </p:nvSpPr>
        <p:spPr>
          <a:xfrm>
            <a:off x="2286000" y="4206240"/>
            <a:ext cx="535107" cy="530352"/>
          </a:xfrm>
          <a:prstGeom prst="rect">
            <a:avLst/>
          </a:prstGeom>
          <a:noFill/>
          <a:ln/>
        </p:spPr>
        <p:txBody>
          <a:bodyPr wrap="square" lIns="0" tIns="0" rIns="0" bIns="0" rtlCol="0" anchor="ctr"/>
          <a:lstStyle/>
          <a:p>
            <a:pPr algn="ctr" indent="0" marL="0">
              <a:buNone/>
            </a:pPr>
            <a:r>
              <a:rPr lang="en-US" sz="1700" dirty="0">
                <a:solidFill>
                  <a:schemeClr val="tx1"/>
                </a:solidFill>
              </a:rPr>
              <a:t>Ik</a:t>
            </a:r>
            <a:endParaRPr lang="en-US" sz="1700" dirty="0"/>
          </a:p>
        </p:txBody>
      </p:sp>
      <p:sp>
        <p:nvSpPr>
          <p:cNvPr id="47" name="Shape 44"/>
          <p:cNvSpPr/>
          <p:nvPr/>
        </p:nvSpPr>
        <p:spPr>
          <a:xfrm>
            <a:off x="2903403" y="4206240"/>
            <a:ext cx="1351469" cy="530352"/>
          </a:xfrm>
          <a:prstGeom prst="roundRect">
            <a:avLst>
              <a:gd name="adj" fmla="val 13793"/>
            </a:avLst>
          </a:prstGeom>
          <a:solidFill>
            <a:srgbClr val="FBEDEB"/>
          </a:solidFill>
          <a:ln w="31750">
            <a:solidFill>
              <a:srgbClr val="B83227"/>
            </a:solidFill>
            <a:prstDash val="solid"/>
          </a:ln>
        </p:spPr>
      </p:sp>
      <p:sp>
        <p:nvSpPr>
          <p:cNvPr id="48" name="Text 45"/>
          <p:cNvSpPr txBox="1"/>
          <p:nvPr/>
        </p:nvSpPr>
        <p:spPr>
          <a:xfrm>
            <a:off x="2903403" y="4206240"/>
            <a:ext cx="1351469" cy="530352"/>
          </a:xfrm>
          <a:prstGeom prst="rect">
            <a:avLst/>
          </a:prstGeom>
          <a:noFill/>
          <a:ln/>
        </p:spPr>
        <p:txBody>
          <a:bodyPr wrap="square" lIns="0" tIns="0" rIns="0" bIns="0" rtlCol="0" anchor="ctr"/>
          <a:lstStyle/>
          <a:p>
            <a:pPr algn="ctr" indent="0" marL="0">
              <a:buNone/>
            </a:pPr>
            <a:r>
              <a:rPr lang="en-US" sz="1700" b="1" dirty="0">
                <a:solidFill>
                  <a:schemeClr val="accent6"/>
                </a:solidFill>
              </a:rPr>
              <a:t>probeer</a:t>
            </a:r>
            <a:endParaRPr lang="en-US" sz="1700" dirty="0"/>
          </a:p>
        </p:txBody>
      </p:sp>
      <p:sp>
        <p:nvSpPr>
          <p:cNvPr id="49" name="Shape 46"/>
          <p:cNvSpPr/>
          <p:nvPr/>
        </p:nvSpPr>
        <p:spPr>
          <a:xfrm>
            <a:off x="4337167" y="4206240"/>
            <a:ext cx="1262604" cy="530352"/>
          </a:xfrm>
          <a:prstGeom prst="roundRect">
            <a:avLst>
              <a:gd name="adj" fmla="val 13793"/>
            </a:avLst>
          </a:prstGeom>
          <a:solidFill>
            <a:schemeClr val="bg1"/>
          </a:solidFill>
          <a:ln w="15875">
            <a:solidFill>
              <a:srgbClr val="D5DCE6"/>
            </a:solidFill>
            <a:prstDash val="solid"/>
          </a:ln>
        </p:spPr>
      </p:sp>
      <p:sp>
        <p:nvSpPr>
          <p:cNvPr id="50" name="Text 47"/>
          <p:cNvSpPr txBox="1"/>
          <p:nvPr/>
        </p:nvSpPr>
        <p:spPr>
          <a:xfrm>
            <a:off x="4337167" y="4206240"/>
            <a:ext cx="1262604" cy="530352"/>
          </a:xfrm>
          <a:prstGeom prst="rect">
            <a:avLst/>
          </a:prstGeom>
          <a:noFill/>
          <a:ln/>
        </p:spPr>
        <p:txBody>
          <a:bodyPr wrap="square" lIns="0" tIns="0" rIns="0" bIns="0" rtlCol="0" anchor="ctr"/>
          <a:lstStyle/>
          <a:p>
            <a:pPr algn="ctr" indent="0" marL="0">
              <a:buNone/>
            </a:pPr>
            <a:r>
              <a:rPr lang="en-US" sz="1700" dirty="0">
                <a:solidFill>
                  <a:schemeClr val="tx1"/>
                </a:solidFill>
              </a:rPr>
              <a:t>de tekst</a:t>
            </a:r>
            <a:endParaRPr lang="en-US" sz="1700" dirty="0"/>
          </a:p>
        </p:txBody>
      </p:sp>
      <p:sp>
        <p:nvSpPr>
          <p:cNvPr id="51" name="Shape 48"/>
          <p:cNvSpPr/>
          <p:nvPr/>
        </p:nvSpPr>
        <p:spPr>
          <a:xfrm>
            <a:off x="5682067" y="4206240"/>
            <a:ext cx="672472" cy="530352"/>
          </a:xfrm>
          <a:prstGeom prst="roundRect">
            <a:avLst>
              <a:gd name="adj" fmla="val 13793"/>
            </a:avLst>
          </a:prstGeom>
          <a:solidFill>
            <a:schemeClr val="accent1"/>
          </a:solidFill>
          <a:ln w="12700">
            <a:solidFill>
              <a:srgbClr val="FFFFFF">
                <a:alpha val="0"/>
              </a:srgbClr>
            </a:solidFill>
            <a:prstDash val="solid"/>
          </a:ln>
        </p:spPr>
      </p:sp>
      <p:sp>
        <p:nvSpPr>
          <p:cNvPr id="52" name="Text 49"/>
          <p:cNvSpPr txBox="1"/>
          <p:nvPr/>
        </p:nvSpPr>
        <p:spPr>
          <a:xfrm>
            <a:off x="5682067" y="4206240"/>
            <a:ext cx="672472" cy="530352"/>
          </a:xfrm>
          <a:prstGeom prst="rect">
            <a:avLst/>
          </a:prstGeom>
          <a:noFill/>
          <a:ln/>
        </p:spPr>
        <p:txBody>
          <a:bodyPr wrap="square" lIns="0" tIns="0" rIns="0" bIns="0" rtlCol="0" anchor="ctr"/>
          <a:lstStyle/>
          <a:p>
            <a:pPr algn="ctr" indent="0" marL="0">
              <a:buNone/>
            </a:pPr>
            <a:r>
              <a:rPr lang="en-US" sz="1700" b="1" dirty="0">
                <a:solidFill>
                  <a:schemeClr val="bg1"/>
                </a:solidFill>
              </a:rPr>
              <a:t>na</a:t>
            </a:r>
            <a:endParaRPr lang="en-US" sz="1700" dirty="0"/>
          </a:p>
        </p:txBody>
      </p:sp>
      <p:sp>
        <p:nvSpPr>
          <p:cNvPr id="53" name="Text 50"/>
          <p:cNvSpPr txBox="1"/>
          <p:nvPr/>
        </p:nvSpPr>
        <p:spPr>
          <a:xfrm>
            <a:off x="6436835" y="4206240"/>
            <a:ext cx="672472" cy="530352"/>
          </a:xfrm>
          <a:prstGeom prst="rect">
            <a:avLst/>
          </a:prstGeom>
          <a:noFill/>
          <a:ln/>
        </p:spPr>
        <p:txBody>
          <a:bodyPr wrap="square" lIns="0" tIns="0" rIns="0" bIns="0" rtlCol="0" anchor="ctr"/>
          <a:lstStyle/>
          <a:p>
            <a:pPr algn="ctr" indent="0" marL="0">
              <a:buNone/>
            </a:pPr>
            <a:r>
              <a:rPr lang="en-US" sz="1700" b="1" dirty="0">
                <a:solidFill>
                  <a:schemeClr val="accent5"/>
                </a:solidFill>
              </a:rPr>
              <a:t>te</a:t>
            </a:r>
            <a:endParaRPr lang="en-US" sz="1700" dirty="0"/>
          </a:p>
        </p:txBody>
      </p:sp>
      <p:sp>
        <p:nvSpPr>
          <p:cNvPr id="54" name="Shape 51"/>
          <p:cNvSpPr/>
          <p:nvPr/>
        </p:nvSpPr>
        <p:spPr>
          <a:xfrm>
            <a:off x="7191602" y="4206240"/>
            <a:ext cx="1215669" cy="530352"/>
          </a:xfrm>
          <a:prstGeom prst="roundRect">
            <a:avLst>
              <a:gd name="adj" fmla="val 13793"/>
            </a:avLst>
          </a:prstGeom>
          <a:solidFill>
            <a:srgbClr val="FFFFFF"/>
          </a:solidFill>
          <a:ln w="25400">
            <a:solidFill>
              <a:srgbClr val="B83227"/>
            </a:solidFill>
            <a:prstDash val="dash"/>
          </a:ln>
        </p:spPr>
      </p:sp>
      <p:sp>
        <p:nvSpPr>
          <p:cNvPr id="55" name="Text 52"/>
          <p:cNvSpPr txBox="1"/>
          <p:nvPr/>
        </p:nvSpPr>
        <p:spPr>
          <a:xfrm>
            <a:off x="7191602" y="4206240"/>
            <a:ext cx="1215669" cy="530352"/>
          </a:xfrm>
          <a:prstGeom prst="rect">
            <a:avLst/>
          </a:prstGeom>
          <a:noFill/>
          <a:ln/>
        </p:spPr>
        <p:txBody>
          <a:bodyPr wrap="square" lIns="0" tIns="0" rIns="0" bIns="0" rtlCol="0" anchor="ctr"/>
          <a:lstStyle/>
          <a:p>
            <a:pPr algn="ctr" indent="0" marL="0">
              <a:buNone/>
            </a:pPr>
            <a:r>
              <a:rPr lang="en-US" sz="1700" b="1" dirty="0">
                <a:solidFill>
                  <a:schemeClr val="accent6"/>
                </a:solidFill>
              </a:rPr>
              <a:t>lezen.</a:t>
            </a:r>
            <a:endParaRPr lang="en-US" sz="1700" dirty="0"/>
          </a:p>
        </p:txBody>
      </p:sp>
      <p:sp>
        <p:nvSpPr>
          <p:cNvPr id="56" name="Text 53"/>
          <p:cNvSpPr txBox="1"/>
          <p:nvPr/>
        </p:nvSpPr>
        <p:spPr>
          <a:xfrm>
            <a:off x="548640" y="4864608"/>
            <a:ext cx="1828800" cy="548640"/>
          </a:xfrm>
          <a:prstGeom prst="rect">
            <a:avLst/>
          </a:prstGeom>
          <a:noFill/>
          <a:ln/>
        </p:spPr>
        <p:txBody>
          <a:bodyPr wrap="square" lIns="0" tIns="0" rIns="0" bIns="0" rtlCol="0" anchor="ctr"/>
          <a:lstStyle/>
          <a:p>
            <a:pPr algn="l" indent="0" marL="0">
              <a:buNone/>
            </a:pPr>
            <a:r>
              <a:rPr lang="en-US" sz="1300" i="1" dirty="0">
                <a:solidFill>
                  <a:schemeClr val="accent5"/>
                </a:solidFill>
              </a:rPr>
              <a:t>impératif</a:t>
            </a:r>
            <a:endParaRPr lang="en-US" sz="1300" dirty="0"/>
          </a:p>
        </p:txBody>
      </p:sp>
      <p:sp>
        <p:nvSpPr>
          <p:cNvPr id="57" name="Shape 54"/>
          <p:cNvSpPr/>
          <p:nvPr/>
        </p:nvSpPr>
        <p:spPr>
          <a:xfrm>
            <a:off x="2286000" y="4864608"/>
            <a:ext cx="944070" cy="530352"/>
          </a:xfrm>
          <a:prstGeom prst="roundRect">
            <a:avLst>
              <a:gd name="adj" fmla="val 13793"/>
            </a:avLst>
          </a:prstGeom>
          <a:solidFill>
            <a:srgbClr val="FBEDEB"/>
          </a:solidFill>
          <a:ln w="31750">
            <a:solidFill>
              <a:srgbClr val="B83227"/>
            </a:solidFill>
            <a:prstDash val="solid"/>
          </a:ln>
        </p:spPr>
      </p:sp>
      <p:sp>
        <p:nvSpPr>
          <p:cNvPr id="58" name="Text 55"/>
          <p:cNvSpPr txBox="1"/>
          <p:nvPr/>
        </p:nvSpPr>
        <p:spPr>
          <a:xfrm>
            <a:off x="2286000" y="4864608"/>
            <a:ext cx="944070" cy="530352"/>
          </a:xfrm>
          <a:prstGeom prst="rect">
            <a:avLst/>
          </a:prstGeom>
          <a:noFill/>
          <a:ln/>
        </p:spPr>
        <p:txBody>
          <a:bodyPr wrap="square" lIns="0" tIns="0" rIns="0" bIns="0" rtlCol="0" anchor="ctr"/>
          <a:lstStyle/>
          <a:p>
            <a:pPr algn="ctr" indent="0" marL="0">
              <a:buNone/>
            </a:pPr>
            <a:r>
              <a:rPr lang="en-US" sz="1700" b="1" dirty="0">
                <a:solidFill>
                  <a:schemeClr val="accent6"/>
                </a:solidFill>
              </a:rPr>
              <a:t>Lees</a:t>
            </a:r>
            <a:endParaRPr lang="en-US" sz="1700" dirty="0"/>
          </a:p>
        </p:txBody>
      </p:sp>
      <p:sp>
        <p:nvSpPr>
          <p:cNvPr id="59" name="Shape 56"/>
          <p:cNvSpPr/>
          <p:nvPr/>
        </p:nvSpPr>
        <p:spPr>
          <a:xfrm>
            <a:off x="3312366" y="4864608"/>
            <a:ext cx="1262604" cy="530352"/>
          </a:xfrm>
          <a:prstGeom prst="roundRect">
            <a:avLst>
              <a:gd name="adj" fmla="val 13793"/>
            </a:avLst>
          </a:prstGeom>
          <a:solidFill>
            <a:schemeClr val="bg1"/>
          </a:solidFill>
          <a:ln w="15875">
            <a:solidFill>
              <a:srgbClr val="D5DCE6"/>
            </a:solidFill>
            <a:prstDash val="solid"/>
          </a:ln>
        </p:spPr>
      </p:sp>
      <p:sp>
        <p:nvSpPr>
          <p:cNvPr id="60" name="Text 57"/>
          <p:cNvSpPr txBox="1"/>
          <p:nvPr/>
        </p:nvSpPr>
        <p:spPr>
          <a:xfrm>
            <a:off x="3312366" y="4864608"/>
            <a:ext cx="1262604" cy="530352"/>
          </a:xfrm>
          <a:prstGeom prst="rect">
            <a:avLst/>
          </a:prstGeom>
          <a:noFill/>
          <a:ln/>
        </p:spPr>
        <p:txBody>
          <a:bodyPr wrap="square" lIns="0" tIns="0" rIns="0" bIns="0" rtlCol="0" anchor="ctr"/>
          <a:lstStyle/>
          <a:p>
            <a:pPr algn="ctr" indent="0" marL="0">
              <a:buNone/>
            </a:pPr>
            <a:r>
              <a:rPr lang="en-US" sz="1700" dirty="0">
                <a:solidFill>
                  <a:schemeClr val="tx1"/>
                </a:solidFill>
              </a:rPr>
              <a:t>de tekst</a:t>
            </a:r>
            <a:endParaRPr lang="en-US" sz="1700" dirty="0"/>
          </a:p>
        </p:txBody>
      </p:sp>
      <p:sp>
        <p:nvSpPr>
          <p:cNvPr id="61" name="Shape 58"/>
          <p:cNvSpPr/>
          <p:nvPr/>
        </p:nvSpPr>
        <p:spPr>
          <a:xfrm>
            <a:off x="4657266" y="4864608"/>
            <a:ext cx="808271" cy="530352"/>
          </a:xfrm>
          <a:prstGeom prst="roundRect">
            <a:avLst>
              <a:gd name="adj" fmla="val 13793"/>
            </a:avLst>
          </a:prstGeom>
          <a:solidFill>
            <a:schemeClr val="accent1"/>
          </a:solidFill>
          <a:ln w="12700">
            <a:solidFill>
              <a:srgbClr val="FFFFFF">
                <a:alpha val="0"/>
              </a:srgbClr>
            </a:solidFill>
            <a:prstDash val="solid"/>
          </a:ln>
        </p:spPr>
      </p:sp>
      <p:sp>
        <p:nvSpPr>
          <p:cNvPr id="62" name="Text 59"/>
          <p:cNvSpPr txBox="1"/>
          <p:nvPr/>
        </p:nvSpPr>
        <p:spPr>
          <a:xfrm>
            <a:off x="4657266" y="4864608"/>
            <a:ext cx="808271" cy="530352"/>
          </a:xfrm>
          <a:prstGeom prst="rect">
            <a:avLst/>
          </a:prstGeom>
          <a:noFill/>
          <a:ln/>
        </p:spPr>
        <p:txBody>
          <a:bodyPr wrap="square" lIns="0" tIns="0" rIns="0" bIns="0" rtlCol="0" anchor="ctr"/>
          <a:lstStyle/>
          <a:p>
            <a:pPr algn="ctr" indent="0" marL="0">
              <a:buNone/>
            </a:pPr>
            <a:r>
              <a:rPr lang="en-US" sz="1700" b="1" dirty="0">
                <a:solidFill>
                  <a:schemeClr val="bg1"/>
                </a:solidFill>
              </a:rPr>
              <a:t>na!</a:t>
            </a:r>
            <a:endParaRPr lang="en-US" sz="1700" dirty="0"/>
          </a:p>
        </p:txBody>
      </p:sp>
      <p:sp>
        <p:nvSpPr>
          <p:cNvPr id="63" name="Shape 60"/>
          <p:cNvSpPr/>
          <p:nvPr/>
        </p:nvSpPr>
        <p:spPr>
          <a:xfrm>
            <a:off x="8412480" y="1572768"/>
            <a:ext cx="3227832" cy="3840480"/>
          </a:xfrm>
          <a:prstGeom prst="roundRect">
            <a:avLst>
              <a:gd name="adj" fmla="val 2833"/>
            </a:avLst>
          </a:prstGeom>
          <a:solidFill>
            <a:srgbClr val="FDF1E6"/>
          </a:solidFill>
          <a:ln w="19050">
            <a:solidFill>
              <a:srgbClr val="D9700F"/>
            </a:solidFill>
            <a:prstDash val="solid"/>
          </a:ln>
        </p:spPr>
      </p:sp>
      <p:sp>
        <p:nvSpPr>
          <p:cNvPr id="64" name="Text 61"/>
          <p:cNvSpPr txBox="1"/>
          <p:nvPr/>
        </p:nvSpPr>
        <p:spPr>
          <a:xfrm>
            <a:off x="8549640" y="1645920"/>
            <a:ext cx="2971800" cy="3703320"/>
          </a:xfrm>
          <a:prstGeom prst="rect">
            <a:avLst/>
          </a:prstGeom>
          <a:noFill/>
          <a:ln/>
        </p:spPr>
        <p:txBody>
          <a:bodyPr wrap="square" lIns="0" tIns="0" rIns="0" bIns="0" rtlCol="0" anchor="ctr"/>
          <a:lstStyle/>
          <a:p>
            <a:pPr algn="l" indent="0" marL="0">
              <a:spcAft>
                <a:spcPts val="400"/>
              </a:spcAft>
              <a:buNone/>
            </a:pPr>
            <a:r>
              <a:rPr lang="en-US" sz="1500" b="1" dirty="0">
                <a:solidFill>
                  <a:schemeClr val="tx1"/>
                </a:solidFill>
              </a:rPr>
              <a:t>Le test de l’accent</a:t>
            </a:r>
            <a:endParaRPr lang="en-US" sz="1500" dirty="0"/>
          </a:p>
          <a:p>
            <a:pPr algn="l" indent="0" marL="0">
              <a:spcAft>
                <a:spcPts val="400"/>
              </a:spcAft>
              <a:buNone/>
            </a:pPr>
            <a:r>
              <a:rPr lang="en-US" sz="1500" dirty="0">
                <a:solidFill>
                  <a:schemeClr val="tx1"/>
                </a:solidFill>
              </a:rPr>
              <a:t>Il tombe sur la particule :</a:t>
            </a:r>
            <a:endParaRPr lang="en-US" sz="1500" dirty="0"/>
          </a:p>
          <a:p>
            <a:pPr algn="l" indent="0" marL="0">
              <a:spcAft>
                <a:spcPts val="400"/>
              </a:spcAft>
              <a:buNone/>
            </a:pPr>
            <a:r>
              <a:rPr lang="en-US" sz="1500" b="1" i="1" dirty="0">
                <a:solidFill>
                  <a:schemeClr val="tx1"/>
                </a:solidFill>
              </a:rPr>
              <a:t>NA</a:t>
            </a:r>
            <a:r>
              <a:rPr lang="en-US" sz="1500" i="1" dirty="0">
                <a:solidFill>
                  <a:schemeClr val="tx1"/>
                </a:solidFill>
              </a:rPr>
              <a:t>lezen · </a:t>
            </a:r>
            <a:r>
              <a:rPr lang="en-US" sz="1500" b="1" i="1" dirty="0">
                <a:solidFill>
                  <a:schemeClr val="tx1"/>
                </a:solidFill>
              </a:rPr>
              <a:t>OP</a:t>
            </a:r>
            <a:r>
              <a:rPr lang="en-US" sz="1500" i="1" dirty="0">
                <a:solidFill>
                  <a:schemeClr val="tx1"/>
                </a:solidFill>
              </a:rPr>
              <a:t>bellen · </a:t>
            </a:r>
            <a:r>
              <a:rPr lang="en-US" sz="1500" b="1" i="1" dirty="0">
                <a:solidFill>
                  <a:schemeClr val="tx1"/>
                </a:solidFill>
              </a:rPr>
              <a:t>UIT</a:t>
            </a:r>
            <a:r>
              <a:rPr lang="en-US" sz="1500" i="1" dirty="0">
                <a:solidFill>
                  <a:schemeClr val="tx1"/>
                </a:solidFill>
              </a:rPr>
              <a:t>leggen</a:t>
            </a:r>
            <a:endParaRPr lang="en-US" sz="1500" dirty="0"/>
          </a:p>
          <a:p>
            <a:pPr algn="l" indent="0" marL="0">
              <a:spcAft>
                <a:spcPts val="400"/>
              </a:spcAft>
              <a:buNone/>
            </a:pPr>
            <a:endParaRPr lang="en-US" sz="1500" dirty="0"/>
          </a:p>
          <a:p>
            <a:pPr algn="l" indent="0" marL="0">
              <a:spcAft>
                <a:spcPts val="400"/>
              </a:spcAft>
              <a:buNone/>
            </a:pPr>
            <a:r>
              <a:rPr lang="en-US" sz="1500" i="1" dirty="0">
                <a:solidFill>
                  <a:schemeClr val="tx1"/>
                </a:solidFill>
              </a:rPr>
              <a:t>ge-</a:t>
            </a:r>
            <a:r>
              <a:rPr lang="en-US" sz="1500" dirty="0">
                <a:solidFill>
                  <a:schemeClr val="tx1"/>
                </a:solidFill>
              </a:rPr>
              <a:t> et </a:t>
            </a:r>
            <a:r>
              <a:rPr lang="en-US" sz="1500" i="1" dirty="0">
                <a:solidFill>
                  <a:schemeClr val="tx1"/>
                </a:solidFill>
              </a:rPr>
              <a:t>te</a:t>
            </a:r>
            <a:r>
              <a:rPr lang="en-US" sz="1500" dirty="0">
                <a:solidFill>
                  <a:schemeClr val="tx1"/>
                </a:solidFill>
              </a:rPr>
              <a:t> se glissent </a:t>
            </a:r>
            <a:r>
              <a:rPr lang="en-US" sz="1500" b="1" dirty="0">
                <a:solidFill>
                  <a:schemeClr val="tx1"/>
                </a:solidFill>
              </a:rPr>
              <a:t>entre</a:t>
            </a:r>
            <a:r>
              <a:rPr lang="en-US" sz="1500" dirty="0">
                <a:solidFill>
                  <a:schemeClr val="tx1"/>
                </a:solidFill>
              </a:rPr>
              <a:t> la particule et le verbe : </a:t>
            </a:r>
            <a:r>
              <a:rPr lang="en-US" sz="1500" i="1" dirty="0">
                <a:solidFill>
                  <a:schemeClr val="tx1"/>
                </a:solidFill>
              </a:rPr>
              <a:t>na</a:t>
            </a:r>
            <a:r>
              <a:rPr lang="en-US" sz="1500" b="1" i="1" dirty="0">
                <a:solidFill>
                  <a:schemeClr val="tx1"/>
                </a:solidFill>
              </a:rPr>
              <a:t>ge</a:t>
            </a:r>
            <a:r>
              <a:rPr lang="en-US" sz="1500" i="1" dirty="0">
                <a:solidFill>
                  <a:schemeClr val="tx1"/>
                </a:solidFill>
              </a:rPr>
              <a:t>lezen · na </a:t>
            </a:r>
            <a:r>
              <a:rPr lang="en-US" sz="1500" b="1" i="1" dirty="0">
                <a:solidFill>
                  <a:schemeClr val="tx1"/>
                </a:solidFill>
              </a:rPr>
              <a:t>te</a:t>
            </a:r>
            <a:r>
              <a:rPr lang="en-US" sz="1500" i="1" dirty="0">
                <a:solidFill>
                  <a:schemeClr val="tx1"/>
                </a:solidFill>
              </a:rPr>
              <a:t> lezen</a:t>
            </a:r>
            <a:endParaRPr lang="en-US" sz="1500" dirty="0"/>
          </a:p>
        </p:txBody>
      </p:sp>
      <p:sp>
        <p:nvSpPr>
          <p:cNvPr id="65" name="Shape 62"/>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66" name="Text 63"/>
          <p:cNvSpPr txBox="1"/>
          <p:nvPr/>
        </p:nvSpPr>
        <p:spPr>
          <a:xfrm>
            <a:off x="822960" y="562356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Au M11, on a appris </a:t>
            </a:r>
            <a:r>
              <a:rPr lang="en-US" sz="1800" b="1" dirty="0">
                <a:solidFill>
                  <a:schemeClr val="bg1"/>
                </a:solidFill>
              </a:rPr>
              <a:t>où</a:t>
            </a:r>
            <a:r>
              <a:rPr lang="en-US" sz="1800" dirty="0">
                <a:solidFill>
                  <a:schemeClr val="bg1"/>
                </a:solidFill>
              </a:rPr>
              <a:t> placer la particule. Aujourd’hui : </a:t>
            </a:r>
            <a:r>
              <a:rPr lang="en-US" sz="1800" b="1" dirty="0">
                <a:solidFill>
                  <a:schemeClr val="bg1"/>
                </a:solidFill>
              </a:rPr>
              <a:t>ce qu’elle veut dire</a:t>
            </a:r>
            <a:r>
              <a:rPr lang="en-US" sz="1800" dirty="0">
                <a:solidFill>
                  <a:schemeClr val="bg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principe : les trois étages du sens</a:t>
            </a:r>
            <a:endParaRPr lang="en-US" sz="3000" dirty="0"/>
          </a:p>
        </p:txBody>
      </p:sp>
      <p:sp>
        <p:nvSpPr>
          <p:cNvPr id="3" name="tag"/>
          <p:cNvSpPr/>
          <p:nvPr/>
        </p:nvSpPr>
        <p:spPr>
          <a:xfrm>
            <a:off x="548640" y="237744"/>
            <a:ext cx="1230782"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MÉTHODE</a:t>
            </a:r>
            <a:endParaRPr lang="en-US" sz="1200" dirty="0"/>
          </a:p>
        </p:txBody>
      </p:sp>
      <p:sp>
        <p:nvSpPr>
          <p:cNvPr id="5" name="Shape 2"/>
          <p:cNvSpPr/>
          <p:nvPr/>
        </p:nvSpPr>
        <p:spPr>
          <a:xfrm>
            <a:off x="640080" y="4343400"/>
            <a:ext cx="3566160" cy="1051560"/>
          </a:xfrm>
          <a:prstGeom prst="roundRect">
            <a:avLst>
              <a:gd name="adj" fmla="val 5217"/>
            </a:avLst>
          </a:prstGeom>
          <a:solidFill>
            <a:schemeClr val="accent2">
              <a:alpha val="20000"/>
            </a:schemeClr>
          </a:solidFill>
          <a:ln w="25400">
            <a:solidFill>
              <a:srgbClr val="2A6FB0"/>
            </a:solidFill>
            <a:prstDash val="solid"/>
          </a:ln>
        </p:spPr>
      </p:sp>
      <p:sp>
        <p:nvSpPr>
          <p:cNvPr id="6" name="Text 3"/>
          <p:cNvSpPr txBox="1"/>
          <p:nvPr/>
        </p:nvSpPr>
        <p:spPr>
          <a:xfrm>
            <a:off x="777240" y="4416552"/>
            <a:ext cx="2651760" cy="685800"/>
          </a:xfrm>
          <a:prstGeom prst="rect">
            <a:avLst/>
          </a:prstGeom>
          <a:noFill/>
          <a:ln/>
        </p:spPr>
        <p:txBody>
          <a:bodyPr wrap="square" lIns="0" tIns="0" rIns="0" bIns="0" rtlCol="0" anchor="t"/>
          <a:lstStyle/>
          <a:p>
            <a:pPr algn="l" indent="0" marL="0">
              <a:buNone/>
            </a:pPr>
            <a:r>
              <a:rPr lang="en-US" sz="1500" b="1" dirty="0">
                <a:solidFill>
                  <a:schemeClr val="tx2"/>
                </a:solidFill>
              </a:rPr>
              <a:t>① LA DIRECTION</a:t>
            </a:r>
            <a:endParaRPr lang="en-US" sz="1500" dirty="0"/>
          </a:p>
          <a:p>
            <a:pPr algn="l" indent="0" marL="0">
              <a:buNone/>
            </a:pPr>
            <a:r>
              <a:rPr lang="en-US" sz="1500" dirty="0">
                <a:solidFill>
                  <a:schemeClr val="tx2"/>
                </a:solidFill>
              </a:rPr>
              <a:t>sens propre, spatial</a:t>
            </a:r>
            <a:endParaRPr lang="en-US" sz="1500" dirty="0"/>
          </a:p>
        </p:txBody>
      </p:sp>
      <p:pic>
        <p:nvPicPr>
          <p:cNvPr id="7" name="Image 0" descr="door">    </p:cNvPr>
          <p:cNvPicPr>
            <a:picLocks noChangeAspect="1"/>
          </p:cNvPicPr>
          <p:nvPr/>
        </p:nvPicPr>
        <p:blipFill>
          <a:blip r:embed="rId1"/>
          <a:stretch>
            <a:fillRect/>
          </a:stretch>
        </p:blipFill>
        <p:spPr>
          <a:xfrm>
            <a:off x="3474720" y="4480560"/>
            <a:ext cx="566928" cy="566928"/>
          </a:xfrm>
          <a:prstGeom prst="rect">
            <a:avLst/>
          </a:prstGeom>
        </p:spPr>
      </p:pic>
      <p:sp>
        <p:nvSpPr>
          <p:cNvPr id="8" name="Shape 4"/>
          <p:cNvSpPr/>
          <p:nvPr/>
        </p:nvSpPr>
        <p:spPr>
          <a:xfrm>
            <a:off x="777240" y="3090672"/>
            <a:ext cx="3291840" cy="1143000"/>
          </a:xfrm>
          <a:prstGeom prst="roundRect">
            <a:avLst>
              <a:gd name="adj" fmla="val 8000"/>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Text 5"/>
          <p:cNvSpPr txBox="1"/>
          <p:nvPr/>
        </p:nvSpPr>
        <p:spPr>
          <a:xfrm>
            <a:off x="868680" y="3090672"/>
            <a:ext cx="3108960" cy="1143000"/>
          </a:xfrm>
          <a:prstGeom prst="rect">
            <a:avLst/>
          </a:prstGeom>
          <a:noFill/>
          <a:ln/>
        </p:spPr>
        <p:txBody>
          <a:bodyPr wrap="square" lIns="0" tIns="0" rIns="0" bIns="0" rtlCol="0" anchor="ctr"/>
          <a:lstStyle/>
          <a:p>
            <a:pPr algn="ctr" indent="0" marL="0">
              <a:spcAft>
                <a:spcPts val="600"/>
              </a:spcAft>
              <a:buNone/>
            </a:pPr>
            <a:r>
              <a:rPr lang="en-US" sz="1600" b="1" i="1" dirty="0">
                <a:solidFill>
                  <a:schemeClr val="tx1"/>
                </a:solidFill>
              </a:rPr>
              <a:t>uitgaan</a:t>
            </a:r>
            <a:r>
              <a:rPr lang="en-US" sz="1600" dirty="0">
                <a:solidFill>
                  <a:schemeClr val="tx1"/>
                </a:solidFill>
              </a:rPr>
              <a:t> · sortir</a:t>
            </a:r>
            <a:endParaRPr lang="en-US" sz="1600" dirty="0"/>
          </a:p>
          <a:p>
            <a:pPr algn="ctr" indent="0" marL="0">
              <a:spcAft>
                <a:spcPts val="600"/>
              </a:spcAft>
              <a:buNone/>
            </a:pPr>
            <a:r>
              <a:rPr lang="en-US" sz="1600" i="1" dirty="0">
                <a:solidFill>
                  <a:schemeClr val="tx1"/>
                </a:solidFill>
              </a:rPr>
              <a:t>Ik ga vanavond </a:t>
            </a:r>
            <a:r>
              <a:rPr lang="en-US" sz="1600" b="1" i="1" dirty="0">
                <a:solidFill>
                  <a:schemeClr val="tx1"/>
                </a:solidFill>
              </a:rPr>
              <a:t>uit</a:t>
            </a:r>
            <a:r>
              <a:rPr lang="en-US" sz="1600" i="1" dirty="0">
                <a:solidFill>
                  <a:schemeClr val="tx1"/>
                </a:solidFill>
              </a:rPr>
              <a:t>.</a:t>
            </a:r>
            <a:endParaRPr lang="en-US" sz="1600" dirty="0"/>
          </a:p>
        </p:txBody>
      </p:sp>
      <p:sp>
        <p:nvSpPr>
          <p:cNvPr id="10" name="Shape 6"/>
          <p:cNvSpPr/>
          <p:nvPr/>
        </p:nvSpPr>
        <p:spPr>
          <a:xfrm>
            <a:off x="4343400" y="3703320"/>
            <a:ext cx="3566160" cy="1691640"/>
          </a:xfrm>
          <a:prstGeom prst="roundRect">
            <a:avLst>
              <a:gd name="adj" fmla="val 3243"/>
            </a:avLst>
          </a:prstGeom>
          <a:solidFill>
            <a:schemeClr val="accent1">
              <a:alpha val="20000"/>
            </a:schemeClr>
          </a:solidFill>
          <a:ln w="25400">
            <a:solidFill>
              <a:srgbClr val="D9700F"/>
            </a:solidFill>
            <a:prstDash val="solid"/>
          </a:ln>
        </p:spPr>
      </p:sp>
      <p:sp>
        <p:nvSpPr>
          <p:cNvPr id="11" name="Text 7"/>
          <p:cNvSpPr txBox="1"/>
          <p:nvPr/>
        </p:nvSpPr>
        <p:spPr>
          <a:xfrm>
            <a:off x="4480560" y="3776472"/>
            <a:ext cx="2651760" cy="685800"/>
          </a:xfrm>
          <a:prstGeom prst="rect">
            <a:avLst/>
          </a:prstGeom>
          <a:noFill/>
          <a:ln/>
        </p:spPr>
        <p:txBody>
          <a:bodyPr wrap="square" lIns="0" tIns="0" rIns="0" bIns="0" rtlCol="0" anchor="t"/>
          <a:lstStyle/>
          <a:p>
            <a:pPr algn="l" indent="0" marL="0">
              <a:buNone/>
            </a:pPr>
            <a:r>
              <a:rPr lang="en-US" sz="1500" b="1" dirty="0">
                <a:solidFill>
                  <a:schemeClr val="tx2"/>
                </a:solidFill>
              </a:rPr>
              <a:t>② LE RÉSULTAT</a:t>
            </a:r>
            <a:endParaRPr lang="en-US" sz="1500" dirty="0"/>
          </a:p>
          <a:p>
            <a:pPr algn="l" indent="0" marL="0">
              <a:buNone/>
            </a:pPr>
            <a:r>
              <a:rPr lang="en-US" sz="1500" dirty="0">
                <a:solidFill>
                  <a:schemeClr val="tx2"/>
                </a:solidFill>
              </a:rPr>
              <a:t>jusqu’au bout, fin, début</a:t>
            </a:r>
            <a:endParaRPr lang="en-US" sz="1500" dirty="0"/>
          </a:p>
        </p:txBody>
      </p:sp>
      <p:pic>
        <p:nvPicPr>
          <p:cNvPr id="12" name="Image 1" descr="chequered flag">    </p:cNvPr>
          <p:cNvPicPr>
            <a:picLocks noChangeAspect="1"/>
          </p:cNvPicPr>
          <p:nvPr/>
        </p:nvPicPr>
        <p:blipFill>
          <a:blip r:embed="rId2"/>
          <a:stretch>
            <a:fillRect/>
          </a:stretch>
        </p:blipFill>
        <p:spPr>
          <a:xfrm>
            <a:off x="7178040" y="3840480"/>
            <a:ext cx="566928" cy="566928"/>
          </a:xfrm>
          <a:prstGeom prst="rect">
            <a:avLst/>
          </a:prstGeom>
        </p:spPr>
      </p:pic>
      <p:sp>
        <p:nvSpPr>
          <p:cNvPr id="13" name="Shape 8"/>
          <p:cNvSpPr/>
          <p:nvPr/>
        </p:nvSpPr>
        <p:spPr>
          <a:xfrm>
            <a:off x="4480560" y="2450592"/>
            <a:ext cx="3291840" cy="1143000"/>
          </a:xfrm>
          <a:prstGeom prst="roundRect">
            <a:avLst>
              <a:gd name="adj" fmla="val 8000"/>
            </a:avLst>
          </a:prstGeom>
          <a:solidFill>
            <a:srgbClr val="FFFFFF"/>
          </a:solidFill>
          <a:ln w="19050">
            <a:solidFill>
              <a:srgbClr val="D9700F"/>
            </a:solidFill>
            <a:prstDash val="solid"/>
          </a:ln>
          <a:effectLst>
            <a:outerShdw sx="100000" sy="100000" kx="0" ky="0" algn="bl" rotWithShape="0" blurRad="101600" dist="25400" dir="3600000">
              <a:srgbClr val="000000">
                <a:alpha val="16000"/>
              </a:srgbClr>
            </a:outerShdw>
          </a:effectLst>
        </p:spPr>
      </p:sp>
      <p:sp>
        <p:nvSpPr>
          <p:cNvPr id="14" name="Text 9"/>
          <p:cNvSpPr txBox="1"/>
          <p:nvPr/>
        </p:nvSpPr>
        <p:spPr>
          <a:xfrm>
            <a:off x="4572000" y="2450592"/>
            <a:ext cx="3108960" cy="1143000"/>
          </a:xfrm>
          <a:prstGeom prst="rect">
            <a:avLst/>
          </a:prstGeom>
          <a:noFill/>
          <a:ln/>
        </p:spPr>
        <p:txBody>
          <a:bodyPr wrap="square" lIns="0" tIns="0" rIns="0" bIns="0" rtlCol="0" anchor="ctr"/>
          <a:lstStyle/>
          <a:p>
            <a:pPr algn="ctr" indent="0" marL="0">
              <a:spcAft>
                <a:spcPts val="600"/>
              </a:spcAft>
              <a:buNone/>
            </a:pPr>
            <a:r>
              <a:rPr lang="en-US" sz="1600" b="1" i="1" dirty="0">
                <a:solidFill>
                  <a:schemeClr val="tx1"/>
                </a:solidFill>
              </a:rPr>
              <a:t>uitlezen</a:t>
            </a:r>
            <a:r>
              <a:rPr lang="en-US" sz="1600" dirty="0">
                <a:solidFill>
                  <a:schemeClr val="tx1"/>
                </a:solidFill>
              </a:rPr>
              <a:t> · finir un livre</a:t>
            </a:r>
            <a:endParaRPr lang="en-US" sz="1600" dirty="0"/>
          </a:p>
          <a:p>
            <a:pPr algn="ctr" indent="0" marL="0">
              <a:spcAft>
                <a:spcPts val="600"/>
              </a:spcAft>
              <a:buNone/>
            </a:pPr>
            <a:r>
              <a:rPr lang="en-US" sz="1600" i="1" dirty="0">
                <a:solidFill>
                  <a:schemeClr val="tx1"/>
                </a:solidFill>
              </a:rPr>
              <a:t>Ik heb het boek </a:t>
            </a:r>
            <a:r>
              <a:rPr lang="en-US" sz="1600" b="1" i="1" dirty="0">
                <a:solidFill>
                  <a:schemeClr val="tx1"/>
                </a:solidFill>
              </a:rPr>
              <a:t>uit</a:t>
            </a:r>
            <a:r>
              <a:rPr lang="en-US" sz="1600" i="1" dirty="0">
                <a:solidFill>
                  <a:schemeClr val="tx1"/>
                </a:solidFill>
              </a:rPr>
              <a:t>gelezen.</a:t>
            </a:r>
            <a:endParaRPr lang="en-US" sz="1600" dirty="0"/>
          </a:p>
        </p:txBody>
      </p:sp>
      <p:sp>
        <p:nvSpPr>
          <p:cNvPr id="15" name="Shape 10"/>
          <p:cNvSpPr/>
          <p:nvPr/>
        </p:nvSpPr>
        <p:spPr>
          <a:xfrm>
            <a:off x="8046720" y="3063240"/>
            <a:ext cx="3566160" cy="2331720"/>
          </a:xfrm>
          <a:prstGeom prst="roundRect">
            <a:avLst>
              <a:gd name="adj" fmla="val 2353"/>
            </a:avLst>
          </a:prstGeom>
          <a:solidFill>
            <a:srgbClr val="6E4A9E">
              <a:alpha val="20000"/>
            </a:srgbClr>
          </a:solidFill>
          <a:ln w="25400">
            <a:solidFill>
              <a:srgbClr val="6E4A9E"/>
            </a:solidFill>
            <a:prstDash val="solid"/>
          </a:ln>
        </p:spPr>
      </p:sp>
      <p:sp>
        <p:nvSpPr>
          <p:cNvPr id="16" name="Text 11"/>
          <p:cNvSpPr txBox="1"/>
          <p:nvPr/>
        </p:nvSpPr>
        <p:spPr>
          <a:xfrm>
            <a:off x="8183880" y="3136392"/>
            <a:ext cx="2651760" cy="685800"/>
          </a:xfrm>
          <a:prstGeom prst="rect">
            <a:avLst/>
          </a:prstGeom>
          <a:noFill/>
          <a:ln/>
        </p:spPr>
        <p:txBody>
          <a:bodyPr wrap="square" lIns="0" tIns="0" rIns="0" bIns="0" rtlCol="0" anchor="t"/>
          <a:lstStyle/>
          <a:p>
            <a:pPr algn="l" indent="0" marL="0">
              <a:buNone/>
            </a:pPr>
            <a:r>
              <a:rPr lang="en-US" sz="1500" b="1" dirty="0">
                <a:solidFill>
                  <a:schemeClr val="tx2"/>
                </a:solidFill>
              </a:rPr>
              <a:t>③ LE SENS FIGURÉ</a:t>
            </a:r>
            <a:endParaRPr lang="en-US" sz="1500" dirty="0"/>
          </a:p>
          <a:p>
            <a:pPr algn="l" indent="0" marL="0">
              <a:buNone/>
            </a:pPr>
            <a:r>
              <a:rPr lang="en-US" sz="1500" dirty="0">
                <a:solidFill>
                  <a:schemeClr val="tx2"/>
                </a:solidFill>
              </a:rPr>
              <a:t>à apprendre en bloc</a:t>
            </a:r>
            <a:endParaRPr lang="en-US" sz="1500" dirty="0"/>
          </a:p>
        </p:txBody>
      </p:sp>
      <p:pic>
        <p:nvPicPr>
          <p:cNvPr id="17" name="Image 2" descr="light bulb">    </p:cNvPr>
          <p:cNvPicPr>
            <a:picLocks noChangeAspect="1"/>
          </p:cNvPicPr>
          <p:nvPr/>
        </p:nvPicPr>
        <p:blipFill>
          <a:blip r:embed="rId3"/>
          <a:stretch>
            <a:fillRect/>
          </a:stretch>
        </p:blipFill>
        <p:spPr>
          <a:xfrm>
            <a:off x="10881360" y="3200400"/>
            <a:ext cx="566928" cy="566928"/>
          </a:xfrm>
          <a:prstGeom prst="rect">
            <a:avLst/>
          </a:prstGeom>
        </p:spPr>
      </p:pic>
      <p:sp>
        <p:nvSpPr>
          <p:cNvPr id="18" name="Shape 12"/>
          <p:cNvSpPr/>
          <p:nvPr/>
        </p:nvSpPr>
        <p:spPr>
          <a:xfrm>
            <a:off x="8183880" y="1810512"/>
            <a:ext cx="3291840" cy="1143000"/>
          </a:xfrm>
          <a:prstGeom prst="roundRect">
            <a:avLst>
              <a:gd name="adj" fmla="val 8000"/>
            </a:avLst>
          </a:prstGeom>
          <a:solidFill>
            <a:srgbClr val="FFFFFF"/>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9" name="Text 13"/>
          <p:cNvSpPr txBox="1"/>
          <p:nvPr/>
        </p:nvSpPr>
        <p:spPr>
          <a:xfrm>
            <a:off x="8275320" y="1810512"/>
            <a:ext cx="3108960" cy="1143000"/>
          </a:xfrm>
          <a:prstGeom prst="rect">
            <a:avLst/>
          </a:prstGeom>
          <a:noFill/>
          <a:ln/>
        </p:spPr>
        <p:txBody>
          <a:bodyPr wrap="square" lIns="0" tIns="0" rIns="0" bIns="0" rtlCol="0" anchor="ctr"/>
          <a:lstStyle/>
          <a:p>
            <a:pPr algn="ctr" indent="0" marL="0">
              <a:spcAft>
                <a:spcPts val="600"/>
              </a:spcAft>
              <a:buNone/>
            </a:pPr>
            <a:r>
              <a:rPr lang="en-US" sz="1600" b="1" i="1" dirty="0">
                <a:solidFill>
                  <a:schemeClr val="tx1"/>
                </a:solidFill>
              </a:rPr>
              <a:t>uitleggen</a:t>
            </a:r>
            <a:r>
              <a:rPr lang="en-US" sz="1600" dirty="0">
                <a:solidFill>
                  <a:schemeClr val="tx1"/>
                </a:solidFill>
              </a:rPr>
              <a:t> · expliquer</a:t>
            </a:r>
            <a:endParaRPr lang="en-US" sz="1600" dirty="0"/>
          </a:p>
          <a:p>
            <a:pPr algn="ctr" indent="0" marL="0">
              <a:spcAft>
                <a:spcPts val="600"/>
              </a:spcAft>
              <a:buNone/>
            </a:pPr>
            <a:r>
              <a:rPr lang="en-US" sz="1600" i="1" dirty="0">
                <a:solidFill>
                  <a:schemeClr val="tx1"/>
                </a:solidFill>
              </a:rPr>
              <a:t>Kun je dat </a:t>
            </a:r>
            <a:r>
              <a:rPr lang="en-US" sz="1600" b="1" i="1" dirty="0">
                <a:solidFill>
                  <a:schemeClr val="tx1"/>
                </a:solidFill>
              </a:rPr>
              <a:t>uit</a:t>
            </a:r>
            <a:r>
              <a:rPr lang="en-US" sz="1600" i="1" dirty="0">
                <a:solidFill>
                  <a:schemeClr val="tx1"/>
                </a:solidFill>
              </a:rPr>
              <a:t>leggen?</a:t>
            </a:r>
            <a:endParaRPr lang="en-US" sz="1600" dirty="0"/>
          </a:p>
        </p:txBody>
      </p:sp>
      <p:sp>
        <p:nvSpPr>
          <p:cNvPr id="20" name="Shape 14"/>
          <p:cNvSpPr/>
          <p:nvPr/>
        </p:nvSpPr>
        <p:spPr>
          <a:xfrm flipV="1">
            <a:off x="822960" y="1810512"/>
            <a:ext cx="6949440" cy="1207008"/>
          </a:xfrm>
          <a:prstGeom prst="line">
            <a:avLst/>
          </a:prstGeom>
          <a:noFill/>
          <a:ln w="19050">
            <a:solidFill>
              <a:srgbClr val="4A5A70"/>
            </a:solidFill>
            <a:prstDash val="dash"/>
            <a:tailEnd type="triangle"/>
          </a:ln>
        </p:spPr>
      </p:sp>
      <p:sp>
        <p:nvSpPr>
          <p:cNvPr id="21" name="Text 15"/>
          <p:cNvSpPr txBox="1"/>
          <p:nvPr/>
        </p:nvSpPr>
        <p:spPr>
          <a:xfrm>
            <a:off x="640080" y="1463040"/>
            <a:ext cx="6766560" cy="347472"/>
          </a:xfrm>
          <a:prstGeom prst="rect">
            <a:avLst/>
          </a:prstGeom>
          <a:noFill/>
          <a:ln/>
        </p:spPr>
        <p:txBody>
          <a:bodyPr wrap="square" lIns="0" tIns="0" rIns="0" bIns="0" rtlCol="0" anchor="t"/>
          <a:lstStyle/>
          <a:p>
            <a:pPr algn="l" indent="0" marL="0">
              <a:buNone/>
            </a:pPr>
            <a:r>
              <a:rPr lang="en-US" sz="1400" i="1" dirty="0">
                <a:solidFill>
                  <a:schemeClr val="accent5"/>
                </a:solidFill>
              </a:rPr>
              <a:t>du concret à l’abstrait : plus on monte, moins le sens se devine</a:t>
            </a:r>
            <a:endParaRPr lang="en-US" sz="1400" dirty="0"/>
          </a:p>
        </p:txBody>
      </p:sp>
      <p:sp>
        <p:nvSpPr>
          <p:cNvPr id="22" name="Shape 16"/>
          <p:cNvSpPr/>
          <p:nvPr/>
        </p:nvSpPr>
        <p:spPr>
          <a:xfrm>
            <a:off x="548640" y="5577840"/>
            <a:ext cx="11091672" cy="685800"/>
          </a:xfrm>
          <a:prstGeom prst="roundRect">
            <a:avLst>
              <a:gd name="adj" fmla="val 10667"/>
            </a:avLst>
          </a:prstGeom>
          <a:solidFill>
            <a:schemeClr val="tx2"/>
          </a:solidFill>
          <a:ln w="12700">
            <a:solidFill>
              <a:srgbClr val="FFFFFF">
                <a:alpha val="0"/>
              </a:srgbClr>
            </a:solidFill>
            <a:prstDash val="solid"/>
          </a:ln>
        </p:spPr>
      </p:sp>
      <p:sp>
        <p:nvSpPr>
          <p:cNvPr id="23" name="Text 17"/>
          <p:cNvSpPr txBox="1"/>
          <p:nvPr/>
        </p:nvSpPr>
        <p:spPr>
          <a:xfrm>
            <a:off x="822960" y="5577840"/>
            <a:ext cx="10607040" cy="685800"/>
          </a:xfrm>
          <a:prstGeom prst="rect">
            <a:avLst/>
          </a:prstGeom>
          <a:noFill/>
          <a:ln/>
        </p:spPr>
        <p:txBody>
          <a:bodyPr wrap="square" lIns="0" tIns="0" rIns="0" bIns="0" rtlCol="0" anchor="ctr"/>
          <a:lstStyle/>
          <a:p>
            <a:pPr algn="l" indent="0" marL="0">
              <a:buNone/>
            </a:pPr>
            <a:r>
              <a:rPr lang="en-US" sz="1600" i="1" dirty="0">
                <a:solidFill>
                  <a:schemeClr val="bg1"/>
                </a:solidFill>
              </a:rPr>
              <a:t>uitleggen</a:t>
            </a:r>
            <a:r>
              <a:rPr lang="en-US" sz="1600" dirty="0">
                <a:solidFill>
                  <a:schemeClr val="bg1"/>
                </a:solidFill>
              </a:rPr>
              <a:t> : « étaler dehors » → déplier → expliquer. Il y a souvent une logique, mais on ne traduit pas mot à mot.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AAN- et AF-</a:t>
            </a:r>
            <a:endParaRPr lang="en-US" sz="3000" dirty="0"/>
          </a:p>
        </p:txBody>
      </p:sp>
      <p:sp>
        <p:nvSpPr>
          <p:cNvPr id="3" name="tag"/>
          <p:cNvSpPr/>
          <p:nvPr/>
        </p:nvSpPr>
        <p:spPr>
          <a:xfrm>
            <a:off x="548640" y="237744"/>
            <a:ext cx="1876349"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LES PARTICULES</a:t>
            </a:r>
            <a:endParaRPr lang="en-US" sz="1200" dirty="0"/>
          </a:p>
        </p:txBody>
      </p:sp>
      <p:sp>
        <p:nvSpPr>
          <p:cNvPr id="5" name="Shape 2"/>
          <p:cNvSpPr/>
          <p:nvPr/>
        </p:nvSpPr>
        <p:spPr>
          <a:xfrm>
            <a:off x="548640" y="1508760"/>
            <a:ext cx="5431536" cy="4709160"/>
          </a:xfrm>
          <a:prstGeom prst="roundRect">
            <a:avLst>
              <a:gd name="adj" fmla="val 1942"/>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08760"/>
            <a:ext cx="5431536" cy="868680"/>
          </a:xfrm>
          <a:prstGeom prst="roundRect">
            <a:avLst>
              <a:gd name="adj" fmla="val 10526"/>
            </a:avLst>
          </a:prstGeom>
          <a:solidFill>
            <a:schemeClr val="accent2">
              <a:alpha val="12000"/>
            </a:schemeClr>
          </a:solidFill>
          <a:ln w="12700">
            <a:solidFill>
              <a:srgbClr val="FFFFFF">
                <a:alpha val="0"/>
              </a:srgbClr>
            </a:solidFill>
            <a:prstDash val="solid"/>
          </a:ln>
        </p:spPr>
      </p:sp>
      <p:sp>
        <p:nvSpPr>
          <p:cNvPr id="7" name="Shape 4"/>
          <p:cNvSpPr/>
          <p:nvPr/>
        </p:nvSpPr>
        <p:spPr>
          <a:xfrm>
            <a:off x="685800" y="1600200"/>
            <a:ext cx="685800" cy="685800"/>
          </a:xfrm>
          <a:prstGeom prst="roundRect">
            <a:avLst>
              <a:gd name="adj" fmla="val 10667"/>
            </a:avLst>
          </a:prstGeom>
          <a:solidFill>
            <a:srgbClr val="FFFFFF"/>
          </a:solidFill>
          <a:ln w="12700">
            <a:solidFill>
              <a:srgbClr val="FFFFFF">
                <a:alpha val="0"/>
              </a:srgbClr>
            </a:solidFill>
            <a:prstDash val="solid"/>
          </a:ln>
        </p:spPr>
      </p:sp>
      <p:sp>
        <p:nvSpPr>
          <p:cNvPr id="8" name="Shape 5"/>
          <p:cNvSpPr/>
          <p:nvPr/>
        </p:nvSpPr>
        <p:spPr>
          <a:xfrm>
            <a:off x="1171529" y="1683410"/>
            <a:ext cx="77907" cy="519379"/>
          </a:xfrm>
          <a:prstGeom prst="rect">
            <a:avLst/>
          </a:prstGeom>
          <a:solidFill>
            <a:srgbClr val="8A96A8"/>
          </a:solidFill>
          <a:ln w="12700">
            <a:solidFill>
              <a:srgbClr val="FFFFFF">
                <a:alpha val="0"/>
              </a:srgbClr>
            </a:solidFill>
            <a:prstDash val="solid"/>
          </a:ln>
        </p:spPr>
      </p:sp>
      <p:sp>
        <p:nvSpPr>
          <p:cNvPr id="9" name="Shape 6"/>
          <p:cNvSpPr/>
          <p:nvPr/>
        </p:nvSpPr>
        <p:spPr>
          <a:xfrm>
            <a:off x="743041" y="1943100"/>
            <a:ext cx="415503" cy="914"/>
          </a:xfrm>
          <a:prstGeom prst="line">
            <a:avLst/>
          </a:prstGeom>
          <a:noFill/>
          <a:ln w="44450">
            <a:solidFill>
              <a:srgbClr val="2A6FB0"/>
            </a:solidFill>
            <a:prstDash val="solid"/>
            <a:tailEnd type="triangle"/>
          </a:ln>
        </p:spPr>
      </p:sp>
      <p:sp>
        <p:nvSpPr>
          <p:cNvPr id="10" name="Text 7"/>
          <p:cNvSpPr txBox="1"/>
          <p:nvPr/>
        </p:nvSpPr>
        <p:spPr>
          <a:xfrm>
            <a:off x="1508760" y="1600200"/>
            <a:ext cx="4334256" cy="685800"/>
          </a:xfrm>
          <a:prstGeom prst="rect">
            <a:avLst/>
          </a:prstGeom>
          <a:noFill/>
          <a:ln/>
        </p:spPr>
        <p:txBody>
          <a:bodyPr wrap="square" lIns="0" tIns="0" rIns="0" bIns="0" rtlCol="0" anchor="ctr"/>
          <a:lstStyle/>
          <a:p>
            <a:pPr algn="l" indent="0" marL="0">
              <a:buNone/>
            </a:pPr>
            <a:r>
              <a:rPr lang="en-US" sz="3000" b="1" dirty="0">
                <a:solidFill>
                  <a:schemeClr val="accent2"/>
                </a:solidFill>
                <a:latin typeface="+mj-lt" pitchFamily="34" charset="0"/>
                <a:ea typeface="+mj-lt" pitchFamily="34" charset="-122"/>
                <a:cs typeface="+mj-lt" pitchFamily="34" charset="-120"/>
              </a:rPr>
              <a:t>AAN-</a:t>
            </a:r>
            <a:endParaRPr lang="en-US" sz="3000" dirty="0"/>
          </a:p>
        </p:txBody>
      </p:sp>
      <p:sp>
        <p:nvSpPr>
          <p:cNvPr id="11" name="Text 8"/>
          <p:cNvSpPr txBox="1"/>
          <p:nvPr/>
        </p:nvSpPr>
        <p:spPr>
          <a:xfrm>
            <a:off x="731520" y="2441448"/>
            <a:ext cx="5111496" cy="1283260"/>
          </a:xfrm>
          <a:prstGeom prst="rect">
            <a:avLst/>
          </a:prstGeom>
          <a:noFill/>
          <a:ln/>
        </p:spPr>
        <p:txBody>
          <a:bodyPr wrap="square" lIns="0" tIns="0" rIns="0" bIns="0" rtlCol="0" anchor="ctr"/>
          <a:lstStyle/>
          <a:p>
            <a:pPr algn="l" indent="0" marL="0">
              <a:buNone/>
            </a:pPr>
            <a:r>
              <a:rPr lang="en-US" sz="1500" b="1" dirty="0">
                <a:solidFill>
                  <a:schemeClr val="tx1"/>
                </a:solidFill>
              </a:rPr>
              <a:t>① contact, vers</a:t>
            </a:r>
            <a:endParaRPr lang="en-US" sz="1500" dirty="0"/>
          </a:p>
          <a:p>
            <a:pPr algn="l" indent="0" marL="0">
              <a:buNone/>
            </a:pPr>
            <a:r>
              <a:rPr lang="en-US" sz="1500" b="1" i="1" dirty="0">
                <a:solidFill>
                  <a:schemeClr val="tx1"/>
                </a:solidFill>
              </a:rPr>
              <a:t>aanraken</a:t>
            </a:r>
            <a:r>
              <a:rPr lang="en-US" sz="1500" dirty="0">
                <a:solidFill>
                  <a:schemeClr val="tx1"/>
                </a:solidFill>
              </a:rPr>
              <a:t> toucher</a:t>
            </a:r>
            <a:endParaRPr lang="en-US" sz="1500" dirty="0"/>
          </a:p>
          <a:p>
            <a:pPr algn="l" indent="0" marL="0">
              <a:buNone/>
            </a:pPr>
            <a:r>
              <a:rPr lang="en-US" sz="1500" b="1" i="1" dirty="0">
                <a:solidFill>
                  <a:schemeClr val="tx1"/>
                </a:solidFill>
              </a:rPr>
              <a:t>aanspreken</a:t>
            </a:r>
            <a:r>
              <a:rPr lang="en-US" sz="1500" dirty="0">
                <a:solidFill>
                  <a:schemeClr val="tx1"/>
                </a:solidFill>
              </a:rPr>
              <a:t> adresser la parole</a:t>
            </a:r>
            <a:endParaRPr lang="en-US" sz="1500" dirty="0"/>
          </a:p>
          <a:p>
            <a:pPr algn="l" indent="0" marL="0">
              <a:buNone/>
            </a:pPr>
            <a:r>
              <a:rPr lang="en-US" sz="1500" b="1" i="1" dirty="0">
                <a:solidFill>
                  <a:schemeClr val="tx1"/>
                </a:solidFill>
              </a:rPr>
              <a:t>aankomen</a:t>
            </a:r>
            <a:r>
              <a:rPr lang="en-US" sz="1500" dirty="0">
                <a:solidFill>
                  <a:schemeClr val="tx1"/>
                </a:solidFill>
              </a:rPr>
              <a:t> arriver</a:t>
            </a:r>
            <a:endParaRPr lang="en-US" sz="1500" dirty="0"/>
          </a:p>
        </p:txBody>
      </p:sp>
      <p:sp>
        <p:nvSpPr>
          <p:cNvPr id="12" name="Shape 9"/>
          <p:cNvSpPr/>
          <p:nvPr/>
        </p:nvSpPr>
        <p:spPr>
          <a:xfrm>
            <a:off x="731520" y="3724708"/>
            <a:ext cx="5065776" cy="914"/>
          </a:xfrm>
          <a:prstGeom prst="line">
            <a:avLst/>
          </a:prstGeom>
          <a:noFill/>
          <a:ln w="9525">
            <a:solidFill>
              <a:srgbClr val="D5DCE6"/>
            </a:solidFill>
            <a:prstDash val="solid"/>
          </a:ln>
        </p:spPr>
      </p:sp>
      <p:sp>
        <p:nvSpPr>
          <p:cNvPr id="13" name="Text 10"/>
          <p:cNvSpPr txBox="1"/>
          <p:nvPr/>
        </p:nvSpPr>
        <p:spPr>
          <a:xfrm>
            <a:off x="731520" y="3724708"/>
            <a:ext cx="5111496" cy="1004290"/>
          </a:xfrm>
          <a:prstGeom prst="rect">
            <a:avLst/>
          </a:prstGeom>
          <a:noFill/>
          <a:ln/>
        </p:spPr>
        <p:txBody>
          <a:bodyPr wrap="square" lIns="0" tIns="0" rIns="0" bIns="0" rtlCol="0" anchor="ctr"/>
          <a:lstStyle/>
          <a:p>
            <a:pPr algn="l" indent="0" marL="0">
              <a:buNone/>
            </a:pPr>
            <a:r>
              <a:rPr lang="en-US" sz="1500" b="1" dirty="0">
                <a:solidFill>
                  <a:schemeClr val="tx1"/>
                </a:solidFill>
              </a:rPr>
              <a:t>② début, mise en marche</a:t>
            </a:r>
            <a:endParaRPr lang="en-US" sz="1500" dirty="0"/>
          </a:p>
          <a:p>
            <a:pPr algn="l" indent="0" marL="0">
              <a:buNone/>
            </a:pPr>
            <a:r>
              <a:rPr lang="en-US" sz="1500" b="1" i="1" dirty="0">
                <a:solidFill>
                  <a:schemeClr val="tx1"/>
                </a:solidFill>
              </a:rPr>
              <a:t>aanzetten</a:t>
            </a:r>
            <a:r>
              <a:rPr lang="en-US" sz="1500" dirty="0">
                <a:solidFill>
                  <a:schemeClr val="tx1"/>
                </a:solidFill>
              </a:rPr>
              <a:t> allumer</a:t>
            </a:r>
            <a:endParaRPr lang="en-US" sz="1500" dirty="0"/>
          </a:p>
          <a:p>
            <a:pPr algn="l" indent="0" marL="0">
              <a:buNone/>
            </a:pPr>
            <a:r>
              <a:rPr lang="en-US" sz="1500" b="1" i="1" dirty="0">
                <a:solidFill>
                  <a:schemeClr val="tx1"/>
                </a:solidFill>
              </a:rPr>
              <a:t>aangaan</a:t>
            </a:r>
            <a:r>
              <a:rPr lang="en-US" sz="1500" dirty="0">
                <a:solidFill>
                  <a:schemeClr val="tx1"/>
                </a:solidFill>
              </a:rPr>
              <a:t> s’allumer ; conclure (un contrat)</a:t>
            </a:r>
            <a:endParaRPr lang="en-US" sz="1500" dirty="0"/>
          </a:p>
        </p:txBody>
      </p:sp>
      <p:sp>
        <p:nvSpPr>
          <p:cNvPr id="14" name="Shape 11"/>
          <p:cNvSpPr/>
          <p:nvPr/>
        </p:nvSpPr>
        <p:spPr>
          <a:xfrm>
            <a:off x="731520" y="4728998"/>
            <a:ext cx="5065776" cy="914"/>
          </a:xfrm>
          <a:prstGeom prst="line">
            <a:avLst/>
          </a:prstGeom>
          <a:noFill/>
          <a:ln w="9525">
            <a:solidFill>
              <a:srgbClr val="D5DCE6"/>
            </a:solidFill>
            <a:prstDash val="solid"/>
          </a:ln>
        </p:spPr>
      </p:sp>
      <p:sp>
        <p:nvSpPr>
          <p:cNvPr id="15" name="Text 12"/>
          <p:cNvSpPr txBox="1"/>
          <p:nvPr/>
        </p:nvSpPr>
        <p:spPr>
          <a:xfrm>
            <a:off x="731520" y="4728998"/>
            <a:ext cx="5111496" cy="1004290"/>
          </a:xfrm>
          <a:prstGeom prst="rect">
            <a:avLst/>
          </a:prstGeom>
          <a:noFill/>
          <a:ln/>
        </p:spPr>
        <p:txBody>
          <a:bodyPr wrap="square" lIns="0" tIns="0" rIns="0" bIns="0" rtlCol="0" anchor="ctr"/>
          <a:lstStyle/>
          <a:p>
            <a:pPr algn="l" indent="0" marL="0">
              <a:buNone/>
            </a:pPr>
            <a:r>
              <a:rPr lang="en-US" sz="1500" b="1" dirty="0">
                <a:solidFill>
                  <a:schemeClr val="tx1"/>
                </a:solidFill>
              </a:rPr>
              <a:t>③ acquérir, ajuster</a:t>
            </a:r>
            <a:endParaRPr lang="en-US" sz="1500" dirty="0"/>
          </a:p>
          <a:p>
            <a:pPr algn="l" indent="0" marL="0">
              <a:buNone/>
            </a:pPr>
            <a:r>
              <a:rPr lang="en-US" sz="1500" b="1" i="1" dirty="0">
                <a:solidFill>
                  <a:schemeClr val="tx1"/>
                </a:solidFill>
              </a:rPr>
              <a:t>aanleren</a:t>
            </a:r>
            <a:r>
              <a:rPr lang="en-US" sz="1500" dirty="0">
                <a:solidFill>
                  <a:schemeClr val="tx1"/>
                </a:solidFill>
              </a:rPr>
              <a:t> apprendre (à qn) ; acquérir</a:t>
            </a:r>
            <a:endParaRPr lang="en-US" sz="1500" dirty="0"/>
          </a:p>
          <a:p>
            <a:pPr algn="l" indent="0" marL="0">
              <a:buNone/>
            </a:pPr>
            <a:r>
              <a:rPr lang="en-US" sz="1500" b="1" i="1" dirty="0">
                <a:solidFill>
                  <a:schemeClr val="tx1"/>
                </a:solidFill>
              </a:rPr>
              <a:t>aanpassen</a:t>
            </a:r>
            <a:r>
              <a:rPr lang="en-US" sz="1500" dirty="0">
                <a:solidFill>
                  <a:schemeClr val="tx1"/>
                </a:solidFill>
              </a:rPr>
              <a:t> adapter</a:t>
            </a:r>
            <a:endParaRPr lang="en-US" sz="1500" dirty="0"/>
          </a:p>
        </p:txBody>
      </p:sp>
      <p:sp>
        <p:nvSpPr>
          <p:cNvPr id="16" name="Shape 13"/>
          <p:cNvSpPr/>
          <p:nvPr/>
        </p:nvSpPr>
        <p:spPr>
          <a:xfrm>
            <a:off x="658368" y="5715000"/>
            <a:ext cx="5212080" cy="411480"/>
          </a:xfrm>
          <a:prstGeom prst="roundRect">
            <a:avLst>
              <a:gd name="adj" fmla="val 17778"/>
            </a:avLst>
          </a:prstGeom>
          <a:solidFill>
            <a:schemeClr val="accent2">
              <a:alpha val="10000"/>
            </a:schemeClr>
          </a:solidFill>
          <a:ln w="12700">
            <a:solidFill>
              <a:srgbClr val="FFFFFF">
                <a:alpha val="0"/>
              </a:srgbClr>
            </a:solidFill>
            <a:prstDash val="solid"/>
          </a:ln>
        </p:spPr>
      </p:sp>
      <p:sp>
        <p:nvSpPr>
          <p:cNvPr id="17" name="Text 14"/>
          <p:cNvSpPr txBox="1"/>
          <p:nvPr/>
        </p:nvSpPr>
        <p:spPr>
          <a:xfrm>
            <a:off x="731520" y="5715000"/>
            <a:ext cx="5065776" cy="411480"/>
          </a:xfrm>
          <a:prstGeom prst="rect">
            <a:avLst/>
          </a:prstGeom>
          <a:noFill/>
          <a:ln/>
        </p:spPr>
        <p:txBody>
          <a:bodyPr wrap="square" lIns="0" tIns="0" rIns="0" bIns="0" rtlCol="0" anchor="ctr"/>
          <a:lstStyle/>
          <a:p>
            <a:pPr algn="l" indent="0" marL="0">
              <a:buNone/>
            </a:pPr>
            <a:r>
              <a:rPr lang="en-US" sz="1300" i="1" dirty="0">
                <a:solidFill>
                  <a:schemeClr val="tx1"/>
                </a:solidFill>
              </a:rPr>
              <a:t>aankomen</a:t>
            </a:r>
            <a:r>
              <a:rPr lang="en-US" sz="1300" dirty="0">
                <a:solidFill>
                  <a:schemeClr val="tx1"/>
                </a:solidFill>
              </a:rPr>
              <a:t> : arriver · toucher · grossir !</a:t>
            </a:r>
            <a:endParaRPr lang="en-US" sz="1300" dirty="0"/>
          </a:p>
        </p:txBody>
      </p:sp>
      <p:sp>
        <p:nvSpPr>
          <p:cNvPr id="18" name="Shape 15"/>
          <p:cNvSpPr/>
          <p:nvPr/>
        </p:nvSpPr>
        <p:spPr>
          <a:xfrm>
            <a:off x="6208776" y="1508760"/>
            <a:ext cx="5431536" cy="4709160"/>
          </a:xfrm>
          <a:prstGeom prst="roundRect">
            <a:avLst>
              <a:gd name="adj" fmla="val 1942"/>
            </a:avLst>
          </a:prstGeom>
          <a:solidFill>
            <a:schemeClr val="bg1"/>
          </a:solidFill>
          <a:ln w="25400">
            <a:solidFill>
              <a:srgbClr val="B83227"/>
            </a:solidFill>
            <a:prstDash val="solid"/>
          </a:ln>
          <a:effectLst>
            <a:outerShdw sx="100000" sy="100000" kx="0" ky="0" algn="bl" rotWithShape="0" blurRad="101600" dist="25400" dir="3600000">
              <a:srgbClr val="000000">
                <a:alpha val="16000"/>
              </a:srgbClr>
            </a:outerShdw>
          </a:effectLst>
        </p:spPr>
      </p:sp>
      <p:sp>
        <p:nvSpPr>
          <p:cNvPr id="19" name="Shape 16"/>
          <p:cNvSpPr/>
          <p:nvPr/>
        </p:nvSpPr>
        <p:spPr>
          <a:xfrm>
            <a:off x="6208776" y="1508760"/>
            <a:ext cx="5431536" cy="868680"/>
          </a:xfrm>
          <a:prstGeom prst="roundRect">
            <a:avLst>
              <a:gd name="adj" fmla="val 10526"/>
            </a:avLst>
          </a:prstGeom>
          <a:solidFill>
            <a:schemeClr val="accent6">
              <a:alpha val="12000"/>
            </a:schemeClr>
          </a:solidFill>
          <a:ln w="12700">
            <a:solidFill>
              <a:srgbClr val="FFFFFF">
                <a:alpha val="0"/>
              </a:srgbClr>
            </a:solidFill>
            <a:prstDash val="solid"/>
          </a:ln>
        </p:spPr>
      </p:sp>
      <p:sp>
        <p:nvSpPr>
          <p:cNvPr id="20" name="Shape 17"/>
          <p:cNvSpPr/>
          <p:nvPr/>
        </p:nvSpPr>
        <p:spPr>
          <a:xfrm>
            <a:off x="6345936" y="1600200"/>
            <a:ext cx="685800" cy="685800"/>
          </a:xfrm>
          <a:prstGeom prst="roundRect">
            <a:avLst>
              <a:gd name="adj" fmla="val 10667"/>
            </a:avLst>
          </a:prstGeom>
          <a:solidFill>
            <a:srgbClr val="FFFFFF"/>
          </a:solidFill>
          <a:ln w="12700">
            <a:solidFill>
              <a:srgbClr val="FFFFFF">
                <a:alpha val="0"/>
              </a:srgbClr>
            </a:solidFill>
            <a:prstDash val="solid"/>
          </a:ln>
        </p:spPr>
      </p:sp>
      <p:sp>
        <p:nvSpPr>
          <p:cNvPr id="21" name="Shape 18"/>
          <p:cNvSpPr/>
          <p:nvPr/>
        </p:nvSpPr>
        <p:spPr>
          <a:xfrm>
            <a:off x="6396685" y="1696395"/>
            <a:ext cx="272674" cy="77907"/>
          </a:xfrm>
          <a:prstGeom prst="rect">
            <a:avLst/>
          </a:prstGeom>
          <a:solidFill>
            <a:srgbClr val="8A96A8"/>
          </a:solidFill>
          <a:ln w="12700">
            <a:solidFill>
              <a:srgbClr val="FFFFFF">
                <a:alpha val="0"/>
              </a:srgbClr>
            </a:solidFill>
            <a:prstDash val="solid"/>
          </a:ln>
        </p:spPr>
      </p:sp>
      <p:sp>
        <p:nvSpPr>
          <p:cNvPr id="22" name="Shape 19"/>
          <p:cNvSpPr/>
          <p:nvPr/>
        </p:nvSpPr>
        <p:spPr>
          <a:xfrm>
            <a:off x="6546007" y="1813255"/>
            <a:ext cx="402519" cy="389534"/>
          </a:xfrm>
          <a:prstGeom prst="line">
            <a:avLst/>
          </a:prstGeom>
          <a:noFill/>
          <a:ln w="44450">
            <a:solidFill>
              <a:srgbClr val="B83227"/>
            </a:solidFill>
            <a:prstDash val="solid"/>
            <a:tailEnd type="triangle"/>
          </a:ln>
        </p:spPr>
      </p:sp>
      <p:sp>
        <p:nvSpPr>
          <p:cNvPr id="23" name="Text 20"/>
          <p:cNvSpPr txBox="1"/>
          <p:nvPr/>
        </p:nvSpPr>
        <p:spPr>
          <a:xfrm>
            <a:off x="7168896" y="1600200"/>
            <a:ext cx="4334256" cy="685800"/>
          </a:xfrm>
          <a:prstGeom prst="rect">
            <a:avLst/>
          </a:prstGeom>
          <a:noFill/>
          <a:ln/>
        </p:spPr>
        <p:txBody>
          <a:bodyPr wrap="square" lIns="0" tIns="0" rIns="0" bIns="0" rtlCol="0" anchor="ctr"/>
          <a:lstStyle/>
          <a:p>
            <a:pPr algn="l" indent="0" marL="0">
              <a:buNone/>
            </a:pPr>
            <a:r>
              <a:rPr lang="en-US" sz="3000" b="1" dirty="0">
                <a:solidFill>
                  <a:schemeClr val="accent6"/>
                </a:solidFill>
                <a:latin typeface="+mj-lt" pitchFamily="34" charset="0"/>
                <a:ea typeface="+mj-lt" pitchFamily="34" charset="-122"/>
                <a:cs typeface="+mj-lt" pitchFamily="34" charset="-120"/>
              </a:rPr>
              <a:t>AF-</a:t>
            </a:r>
            <a:endParaRPr lang="en-US" sz="3000" dirty="0"/>
          </a:p>
        </p:txBody>
      </p:sp>
      <p:sp>
        <p:nvSpPr>
          <p:cNvPr id="24" name="Text 21"/>
          <p:cNvSpPr txBox="1"/>
          <p:nvPr/>
        </p:nvSpPr>
        <p:spPr>
          <a:xfrm>
            <a:off x="6391656" y="2441448"/>
            <a:ext cx="5111496" cy="925830"/>
          </a:xfrm>
          <a:prstGeom prst="rect">
            <a:avLst/>
          </a:prstGeom>
          <a:noFill/>
          <a:ln/>
        </p:spPr>
        <p:txBody>
          <a:bodyPr wrap="square" lIns="0" tIns="0" rIns="0" bIns="0" rtlCol="0" anchor="ctr"/>
          <a:lstStyle/>
          <a:p>
            <a:pPr algn="l" indent="0" marL="0">
              <a:buNone/>
            </a:pPr>
            <a:r>
              <a:rPr lang="en-US" sz="1500" b="1" dirty="0">
                <a:solidFill>
                  <a:schemeClr val="tx1"/>
                </a:solidFill>
              </a:rPr>
              <a:t>① vers le bas, s’éloigner</a:t>
            </a:r>
            <a:endParaRPr lang="en-US" sz="1500" dirty="0"/>
          </a:p>
          <a:p>
            <a:pPr algn="l" indent="0" marL="0">
              <a:buNone/>
            </a:pPr>
            <a:r>
              <a:rPr lang="en-US" sz="1500" b="1" i="1" dirty="0">
                <a:solidFill>
                  <a:schemeClr val="tx1"/>
                </a:solidFill>
              </a:rPr>
              <a:t>afdalen</a:t>
            </a:r>
            <a:r>
              <a:rPr lang="en-US" sz="1500" dirty="0">
                <a:solidFill>
                  <a:schemeClr val="tx1"/>
                </a:solidFill>
              </a:rPr>
              <a:t> descendre</a:t>
            </a:r>
            <a:endParaRPr lang="en-US" sz="1500" dirty="0"/>
          </a:p>
          <a:p>
            <a:pPr algn="l" indent="0" marL="0">
              <a:buNone/>
            </a:pPr>
            <a:r>
              <a:rPr lang="en-US" sz="1500" b="1" i="1" dirty="0">
                <a:solidFill>
                  <a:schemeClr val="tx1"/>
                </a:solidFill>
              </a:rPr>
              <a:t>afstappen</a:t>
            </a:r>
            <a:r>
              <a:rPr lang="en-US" sz="1500" dirty="0">
                <a:solidFill>
                  <a:schemeClr val="tx1"/>
                </a:solidFill>
              </a:rPr>
              <a:t> descendre (du vélo ; BE : du bus)</a:t>
            </a:r>
            <a:endParaRPr lang="en-US" sz="1500" dirty="0"/>
          </a:p>
        </p:txBody>
      </p:sp>
      <p:sp>
        <p:nvSpPr>
          <p:cNvPr id="25" name="Shape 22"/>
          <p:cNvSpPr/>
          <p:nvPr/>
        </p:nvSpPr>
        <p:spPr>
          <a:xfrm>
            <a:off x="6391656" y="3367278"/>
            <a:ext cx="5065776" cy="914"/>
          </a:xfrm>
          <a:prstGeom prst="line">
            <a:avLst/>
          </a:prstGeom>
          <a:noFill/>
          <a:ln w="9525">
            <a:solidFill>
              <a:srgbClr val="D5DCE6"/>
            </a:solidFill>
            <a:prstDash val="solid"/>
          </a:ln>
        </p:spPr>
      </p:sp>
      <p:sp>
        <p:nvSpPr>
          <p:cNvPr id="26" name="Text 23"/>
          <p:cNvSpPr txBox="1"/>
          <p:nvPr/>
        </p:nvSpPr>
        <p:spPr>
          <a:xfrm>
            <a:off x="6391656" y="3367278"/>
            <a:ext cx="5111496" cy="1183005"/>
          </a:xfrm>
          <a:prstGeom prst="rect">
            <a:avLst/>
          </a:prstGeom>
          <a:noFill/>
          <a:ln/>
        </p:spPr>
        <p:txBody>
          <a:bodyPr wrap="square" lIns="0" tIns="0" rIns="0" bIns="0" rtlCol="0" anchor="ctr"/>
          <a:lstStyle/>
          <a:p>
            <a:pPr algn="l" indent="0" marL="0">
              <a:buNone/>
            </a:pPr>
            <a:r>
              <a:rPr lang="en-US" sz="1500" b="1" dirty="0">
                <a:solidFill>
                  <a:schemeClr val="tx1"/>
                </a:solidFill>
              </a:rPr>
              <a:t>② enlever, diminuer</a:t>
            </a:r>
            <a:endParaRPr lang="en-US" sz="1500" dirty="0"/>
          </a:p>
          <a:p>
            <a:pPr algn="l" indent="0" marL="0">
              <a:buNone/>
            </a:pPr>
            <a:r>
              <a:rPr lang="en-US" sz="1500" b="1" i="1" dirty="0">
                <a:solidFill>
                  <a:schemeClr val="tx1"/>
                </a:solidFill>
              </a:rPr>
              <a:t>afnemen</a:t>
            </a:r>
            <a:r>
              <a:rPr lang="en-US" sz="1500" dirty="0">
                <a:solidFill>
                  <a:schemeClr val="tx1"/>
                </a:solidFill>
              </a:rPr>
              <a:t> enlever ; diminuer</a:t>
            </a:r>
            <a:endParaRPr lang="en-US" sz="1500" dirty="0"/>
          </a:p>
          <a:p>
            <a:pPr algn="l" indent="0" marL="0">
              <a:buNone/>
            </a:pPr>
            <a:r>
              <a:rPr lang="en-US" sz="1500" b="1" i="1" dirty="0">
                <a:solidFill>
                  <a:schemeClr val="tx1"/>
                </a:solidFill>
              </a:rPr>
              <a:t>afleren</a:t>
            </a:r>
            <a:r>
              <a:rPr lang="en-US" sz="1500" dirty="0">
                <a:solidFill>
                  <a:schemeClr val="tx1"/>
                </a:solidFill>
              </a:rPr>
              <a:t> perdre (une habitude)</a:t>
            </a:r>
            <a:endParaRPr lang="en-US" sz="1500" dirty="0"/>
          </a:p>
          <a:p>
            <a:pPr algn="l" indent="0" marL="0">
              <a:buNone/>
            </a:pPr>
            <a:r>
              <a:rPr lang="en-US" sz="1500" b="1" i="1" dirty="0">
                <a:solidFill>
                  <a:schemeClr val="tx1"/>
                </a:solidFill>
              </a:rPr>
              <a:t>afvallen</a:t>
            </a:r>
            <a:r>
              <a:rPr lang="en-US" sz="1500" dirty="0">
                <a:solidFill>
                  <a:schemeClr val="tx1"/>
                </a:solidFill>
              </a:rPr>
              <a:t> maigrir</a:t>
            </a:r>
            <a:endParaRPr lang="en-US" sz="1500" dirty="0"/>
          </a:p>
        </p:txBody>
      </p:sp>
      <p:sp>
        <p:nvSpPr>
          <p:cNvPr id="27" name="Shape 24"/>
          <p:cNvSpPr/>
          <p:nvPr/>
        </p:nvSpPr>
        <p:spPr>
          <a:xfrm>
            <a:off x="6391656" y="4550283"/>
            <a:ext cx="5065776" cy="914"/>
          </a:xfrm>
          <a:prstGeom prst="line">
            <a:avLst/>
          </a:prstGeom>
          <a:noFill/>
          <a:ln w="9525">
            <a:solidFill>
              <a:srgbClr val="D5DCE6"/>
            </a:solidFill>
            <a:prstDash val="solid"/>
          </a:ln>
        </p:spPr>
      </p:sp>
      <p:sp>
        <p:nvSpPr>
          <p:cNvPr id="28" name="Text 25"/>
          <p:cNvSpPr txBox="1"/>
          <p:nvPr/>
        </p:nvSpPr>
        <p:spPr>
          <a:xfrm>
            <a:off x="6391656" y="4550283"/>
            <a:ext cx="5111496" cy="1183005"/>
          </a:xfrm>
          <a:prstGeom prst="rect">
            <a:avLst/>
          </a:prstGeom>
          <a:noFill/>
          <a:ln/>
        </p:spPr>
        <p:txBody>
          <a:bodyPr wrap="square" lIns="0" tIns="0" rIns="0" bIns="0" rtlCol="0" anchor="ctr"/>
          <a:lstStyle/>
          <a:p>
            <a:pPr algn="l" indent="0" marL="0">
              <a:buNone/>
            </a:pPr>
            <a:r>
              <a:rPr lang="en-US" sz="1500" b="1" dirty="0">
                <a:solidFill>
                  <a:schemeClr val="tx1"/>
                </a:solidFill>
              </a:rPr>
              <a:t>③ finir</a:t>
            </a:r>
            <a:endParaRPr lang="en-US" sz="1500" dirty="0"/>
          </a:p>
          <a:p>
            <a:pPr algn="l" indent="0" marL="0">
              <a:buNone/>
            </a:pPr>
            <a:r>
              <a:rPr lang="en-US" sz="1500" b="1" i="1" dirty="0">
                <a:solidFill>
                  <a:schemeClr val="tx1"/>
                </a:solidFill>
              </a:rPr>
              <a:t>afmaken</a:t>
            </a:r>
            <a:r>
              <a:rPr lang="en-US" sz="1500" dirty="0">
                <a:solidFill>
                  <a:schemeClr val="tx1"/>
                </a:solidFill>
              </a:rPr>
              <a:t> terminer</a:t>
            </a:r>
            <a:endParaRPr lang="en-US" sz="1500" dirty="0"/>
          </a:p>
          <a:p>
            <a:pPr algn="l" indent="0" marL="0">
              <a:buNone/>
            </a:pPr>
            <a:r>
              <a:rPr lang="en-US" sz="1500" b="1" i="1" dirty="0">
                <a:solidFill>
                  <a:schemeClr val="tx1"/>
                </a:solidFill>
              </a:rPr>
              <a:t>afronden</a:t>
            </a:r>
            <a:r>
              <a:rPr lang="en-US" sz="1500" dirty="0">
                <a:solidFill>
                  <a:schemeClr val="tx1"/>
                </a:solidFill>
              </a:rPr>
              <a:t> finaliser ; arrondir</a:t>
            </a:r>
            <a:endParaRPr lang="en-US" sz="1500" dirty="0"/>
          </a:p>
          <a:p>
            <a:pPr algn="l" indent="0" marL="0">
              <a:buNone/>
            </a:pPr>
            <a:r>
              <a:rPr lang="en-US" sz="1500" b="1" i="1" dirty="0">
                <a:solidFill>
                  <a:schemeClr val="tx1"/>
                </a:solidFill>
              </a:rPr>
              <a:t>afsluiten</a:t>
            </a:r>
            <a:r>
              <a:rPr lang="en-US" sz="1500" dirty="0">
                <a:solidFill>
                  <a:schemeClr val="tx1"/>
                </a:solidFill>
              </a:rPr>
              <a:t> clôturer</a:t>
            </a:r>
            <a:endParaRPr lang="en-US" sz="1500" dirty="0"/>
          </a:p>
        </p:txBody>
      </p:sp>
      <p:sp>
        <p:nvSpPr>
          <p:cNvPr id="29" name="Shape 26"/>
          <p:cNvSpPr/>
          <p:nvPr/>
        </p:nvSpPr>
        <p:spPr>
          <a:xfrm>
            <a:off x="6318504" y="5715000"/>
            <a:ext cx="5212080" cy="411480"/>
          </a:xfrm>
          <a:prstGeom prst="roundRect">
            <a:avLst>
              <a:gd name="adj" fmla="val 17778"/>
            </a:avLst>
          </a:prstGeom>
          <a:solidFill>
            <a:schemeClr val="accent6">
              <a:alpha val="10000"/>
            </a:schemeClr>
          </a:solidFill>
          <a:ln w="12700">
            <a:solidFill>
              <a:srgbClr val="FFFFFF">
                <a:alpha val="0"/>
              </a:srgbClr>
            </a:solidFill>
            <a:prstDash val="solid"/>
          </a:ln>
        </p:spPr>
      </p:sp>
      <p:sp>
        <p:nvSpPr>
          <p:cNvPr id="30" name="Text 27"/>
          <p:cNvSpPr txBox="1"/>
          <p:nvPr/>
        </p:nvSpPr>
        <p:spPr>
          <a:xfrm>
            <a:off x="6391656" y="5715000"/>
            <a:ext cx="5065776" cy="411480"/>
          </a:xfrm>
          <a:prstGeom prst="rect">
            <a:avLst/>
          </a:prstGeom>
          <a:noFill/>
          <a:ln/>
        </p:spPr>
        <p:txBody>
          <a:bodyPr wrap="square" lIns="0" tIns="0" rIns="0" bIns="0" rtlCol="0" anchor="ctr"/>
          <a:lstStyle/>
          <a:p>
            <a:pPr algn="l" indent="0" marL="0">
              <a:buNone/>
            </a:pPr>
            <a:r>
              <a:rPr lang="en-US" sz="1300" dirty="0">
                <a:solidFill>
                  <a:schemeClr val="tx1"/>
                </a:solidFill>
              </a:rPr>
              <a:t>à apprendre en bloc : </a:t>
            </a:r>
            <a:r>
              <a:rPr lang="en-US" sz="1300" i="1" dirty="0">
                <a:solidFill>
                  <a:schemeClr val="tx1"/>
                </a:solidFill>
              </a:rPr>
              <a:t>afspreken</a:t>
            </a:r>
            <a:r>
              <a:rPr lang="en-US" sz="1300" dirty="0">
                <a:solidFill>
                  <a:schemeClr val="tx1"/>
                </a:solidFill>
              </a:rPr>
              <a:t> (convenir)</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OP- et UIT-</a:t>
            </a:r>
            <a:endParaRPr lang="en-US" sz="3000" dirty="0"/>
          </a:p>
        </p:txBody>
      </p:sp>
      <p:sp>
        <p:nvSpPr>
          <p:cNvPr id="3" name="tag"/>
          <p:cNvSpPr/>
          <p:nvPr/>
        </p:nvSpPr>
        <p:spPr>
          <a:xfrm>
            <a:off x="548640" y="237744"/>
            <a:ext cx="1876349"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LES PARTICULES</a:t>
            </a:r>
            <a:endParaRPr lang="en-US" sz="1200" dirty="0"/>
          </a:p>
        </p:txBody>
      </p:sp>
      <p:sp>
        <p:nvSpPr>
          <p:cNvPr id="5" name="Shape 2"/>
          <p:cNvSpPr/>
          <p:nvPr/>
        </p:nvSpPr>
        <p:spPr>
          <a:xfrm>
            <a:off x="548640" y="1508760"/>
            <a:ext cx="5431536" cy="4709160"/>
          </a:xfrm>
          <a:prstGeom prst="roundRect">
            <a:avLst>
              <a:gd name="adj" fmla="val 1942"/>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08760"/>
            <a:ext cx="5431536" cy="868680"/>
          </a:xfrm>
          <a:prstGeom prst="roundRect">
            <a:avLst>
              <a:gd name="adj" fmla="val 10526"/>
            </a:avLst>
          </a:prstGeom>
          <a:solidFill>
            <a:schemeClr val="accent3">
              <a:alpha val="12000"/>
            </a:schemeClr>
          </a:solidFill>
          <a:ln w="12700">
            <a:solidFill>
              <a:srgbClr val="FFFFFF">
                <a:alpha val="0"/>
              </a:srgbClr>
            </a:solidFill>
            <a:prstDash val="solid"/>
          </a:ln>
        </p:spPr>
      </p:sp>
      <p:sp>
        <p:nvSpPr>
          <p:cNvPr id="7" name="Shape 4"/>
          <p:cNvSpPr/>
          <p:nvPr/>
        </p:nvSpPr>
        <p:spPr>
          <a:xfrm>
            <a:off x="685800" y="1600200"/>
            <a:ext cx="685800" cy="685800"/>
          </a:xfrm>
          <a:prstGeom prst="roundRect">
            <a:avLst>
              <a:gd name="adj" fmla="val 10667"/>
            </a:avLst>
          </a:prstGeom>
          <a:solidFill>
            <a:srgbClr val="FFFFFF"/>
          </a:solidFill>
          <a:ln w="12700">
            <a:solidFill>
              <a:srgbClr val="FFFFFF">
                <a:alpha val="0"/>
              </a:srgbClr>
            </a:solidFill>
            <a:prstDash val="solid"/>
          </a:ln>
        </p:spPr>
      </p:sp>
      <p:sp>
        <p:nvSpPr>
          <p:cNvPr id="8" name="Shape 5"/>
          <p:cNvSpPr/>
          <p:nvPr/>
        </p:nvSpPr>
        <p:spPr>
          <a:xfrm>
            <a:off x="769010" y="2150852"/>
            <a:ext cx="519379" cy="51938"/>
          </a:xfrm>
          <a:prstGeom prst="rect">
            <a:avLst/>
          </a:prstGeom>
          <a:solidFill>
            <a:srgbClr val="8A96A8"/>
          </a:solidFill>
          <a:ln w="12700">
            <a:solidFill>
              <a:srgbClr val="FFFFFF">
                <a:alpha val="0"/>
              </a:srgbClr>
            </a:solidFill>
            <a:prstDash val="solid"/>
          </a:ln>
        </p:spPr>
      </p:sp>
      <p:sp>
        <p:nvSpPr>
          <p:cNvPr id="9" name="Shape 6"/>
          <p:cNvSpPr/>
          <p:nvPr/>
        </p:nvSpPr>
        <p:spPr>
          <a:xfrm flipV="1">
            <a:off x="1028700" y="1670426"/>
            <a:ext cx="914" cy="454457"/>
          </a:xfrm>
          <a:prstGeom prst="line">
            <a:avLst/>
          </a:prstGeom>
          <a:noFill/>
          <a:ln w="44450">
            <a:solidFill>
              <a:srgbClr val="2E7D4F"/>
            </a:solidFill>
            <a:prstDash val="solid"/>
            <a:tailEnd type="triangle"/>
          </a:ln>
        </p:spPr>
      </p:sp>
      <p:sp>
        <p:nvSpPr>
          <p:cNvPr id="10" name="Text 7"/>
          <p:cNvSpPr txBox="1"/>
          <p:nvPr/>
        </p:nvSpPr>
        <p:spPr>
          <a:xfrm>
            <a:off x="1508760" y="1600200"/>
            <a:ext cx="4334256" cy="685800"/>
          </a:xfrm>
          <a:prstGeom prst="rect">
            <a:avLst/>
          </a:prstGeom>
          <a:noFill/>
          <a:ln/>
        </p:spPr>
        <p:txBody>
          <a:bodyPr wrap="square" lIns="0" tIns="0" rIns="0" bIns="0" rtlCol="0" anchor="ctr"/>
          <a:lstStyle/>
          <a:p>
            <a:pPr algn="l" indent="0" marL="0">
              <a:buNone/>
            </a:pPr>
            <a:r>
              <a:rPr lang="en-US" sz="3000" b="1" dirty="0">
                <a:solidFill>
                  <a:schemeClr val="accent3"/>
                </a:solidFill>
                <a:latin typeface="+mj-lt" pitchFamily="34" charset="0"/>
                <a:ea typeface="+mj-lt" pitchFamily="34" charset="-122"/>
                <a:cs typeface="+mj-lt" pitchFamily="34" charset="-120"/>
              </a:rPr>
              <a:t>OP-</a:t>
            </a:r>
            <a:endParaRPr lang="en-US" sz="3000" dirty="0"/>
          </a:p>
        </p:txBody>
      </p:sp>
      <p:sp>
        <p:nvSpPr>
          <p:cNvPr id="11" name="Text 8"/>
          <p:cNvSpPr txBox="1"/>
          <p:nvPr/>
        </p:nvSpPr>
        <p:spPr>
          <a:xfrm>
            <a:off x="731520" y="2441448"/>
            <a:ext cx="5111496" cy="1004290"/>
          </a:xfrm>
          <a:prstGeom prst="rect">
            <a:avLst/>
          </a:prstGeom>
          <a:noFill/>
          <a:ln/>
        </p:spPr>
        <p:txBody>
          <a:bodyPr wrap="square" lIns="0" tIns="0" rIns="0" bIns="0" rtlCol="0" anchor="ctr"/>
          <a:lstStyle/>
          <a:p>
            <a:pPr algn="l" indent="0" marL="0">
              <a:buNone/>
            </a:pPr>
            <a:r>
              <a:rPr lang="en-US" sz="1500" b="1" dirty="0">
                <a:solidFill>
                  <a:schemeClr val="tx1"/>
                </a:solidFill>
              </a:rPr>
              <a:t>① vers le haut</a:t>
            </a:r>
            <a:endParaRPr lang="en-US" sz="1500" dirty="0"/>
          </a:p>
          <a:p>
            <a:pPr algn="l" indent="0" marL="0">
              <a:buNone/>
            </a:pPr>
            <a:r>
              <a:rPr lang="en-US" sz="1500" b="1" i="1" dirty="0">
                <a:solidFill>
                  <a:schemeClr val="tx1"/>
                </a:solidFill>
              </a:rPr>
              <a:t>opstaan</a:t>
            </a:r>
            <a:r>
              <a:rPr lang="en-US" sz="1500" dirty="0">
                <a:solidFill>
                  <a:schemeClr val="tx1"/>
                </a:solidFill>
              </a:rPr>
              <a:t> se lever</a:t>
            </a:r>
            <a:endParaRPr lang="en-US" sz="1500" dirty="0"/>
          </a:p>
          <a:p>
            <a:pPr algn="l" indent="0" marL="0">
              <a:buNone/>
            </a:pPr>
            <a:r>
              <a:rPr lang="en-US" sz="1500" b="1" i="1" dirty="0">
                <a:solidFill>
                  <a:schemeClr val="tx1"/>
                </a:solidFill>
              </a:rPr>
              <a:t>optillen</a:t>
            </a:r>
            <a:r>
              <a:rPr lang="en-US" sz="1500" dirty="0">
                <a:solidFill>
                  <a:schemeClr val="tx1"/>
                </a:solidFill>
              </a:rPr>
              <a:t> soulever</a:t>
            </a:r>
            <a:endParaRPr lang="en-US" sz="1500" dirty="0"/>
          </a:p>
        </p:txBody>
      </p:sp>
      <p:sp>
        <p:nvSpPr>
          <p:cNvPr id="12" name="Shape 9"/>
          <p:cNvSpPr/>
          <p:nvPr/>
        </p:nvSpPr>
        <p:spPr>
          <a:xfrm>
            <a:off x="731520" y="3445738"/>
            <a:ext cx="5065776" cy="914"/>
          </a:xfrm>
          <a:prstGeom prst="line">
            <a:avLst/>
          </a:prstGeom>
          <a:noFill/>
          <a:ln w="9525">
            <a:solidFill>
              <a:srgbClr val="D5DCE6"/>
            </a:solidFill>
            <a:prstDash val="solid"/>
          </a:ln>
        </p:spPr>
      </p:sp>
      <p:sp>
        <p:nvSpPr>
          <p:cNvPr id="13" name="Text 10"/>
          <p:cNvSpPr txBox="1"/>
          <p:nvPr/>
        </p:nvSpPr>
        <p:spPr>
          <a:xfrm>
            <a:off x="731520" y="3445738"/>
            <a:ext cx="5111496" cy="1004290"/>
          </a:xfrm>
          <a:prstGeom prst="rect">
            <a:avLst/>
          </a:prstGeom>
          <a:noFill/>
          <a:ln/>
        </p:spPr>
        <p:txBody>
          <a:bodyPr wrap="square" lIns="0" tIns="0" rIns="0" bIns="0" rtlCol="0" anchor="ctr"/>
          <a:lstStyle/>
          <a:p>
            <a:pPr algn="l" indent="0" marL="0">
              <a:buNone/>
            </a:pPr>
            <a:r>
              <a:rPr lang="en-US" sz="1500" b="1" dirty="0">
                <a:solidFill>
                  <a:schemeClr val="tx1"/>
                </a:solidFill>
              </a:rPr>
              <a:t>② entièrement, jusqu’à épuisement</a:t>
            </a:r>
            <a:endParaRPr lang="en-US" sz="1500" dirty="0"/>
          </a:p>
          <a:p>
            <a:pPr algn="l" indent="0" marL="0">
              <a:buNone/>
            </a:pPr>
            <a:r>
              <a:rPr lang="en-US" sz="1500" b="1" i="1" dirty="0">
                <a:solidFill>
                  <a:schemeClr val="tx1"/>
                </a:solidFill>
              </a:rPr>
              <a:t>opeten</a:t>
            </a:r>
            <a:r>
              <a:rPr lang="en-US" sz="1500" dirty="0">
                <a:solidFill>
                  <a:schemeClr val="tx1"/>
                </a:solidFill>
              </a:rPr>
              <a:t> tout manger</a:t>
            </a:r>
            <a:endParaRPr lang="en-US" sz="1500" dirty="0"/>
          </a:p>
          <a:p>
            <a:pPr algn="l" indent="0" marL="0">
              <a:buNone/>
            </a:pPr>
            <a:r>
              <a:rPr lang="en-US" sz="1500" b="1" i="1" dirty="0">
                <a:solidFill>
                  <a:schemeClr val="tx1"/>
                </a:solidFill>
              </a:rPr>
              <a:t>opruimen</a:t>
            </a:r>
            <a:r>
              <a:rPr lang="en-US" sz="1500" dirty="0">
                <a:solidFill>
                  <a:schemeClr val="tx1"/>
                </a:solidFill>
              </a:rPr>
              <a:t> ranger</a:t>
            </a:r>
            <a:endParaRPr lang="en-US" sz="1500" dirty="0"/>
          </a:p>
        </p:txBody>
      </p:sp>
      <p:sp>
        <p:nvSpPr>
          <p:cNvPr id="14" name="Shape 11"/>
          <p:cNvSpPr/>
          <p:nvPr/>
        </p:nvSpPr>
        <p:spPr>
          <a:xfrm>
            <a:off x="731520" y="4450028"/>
            <a:ext cx="5065776" cy="914"/>
          </a:xfrm>
          <a:prstGeom prst="line">
            <a:avLst/>
          </a:prstGeom>
          <a:noFill/>
          <a:ln w="9525">
            <a:solidFill>
              <a:srgbClr val="D5DCE6"/>
            </a:solidFill>
            <a:prstDash val="solid"/>
          </a:ln>
        </p:spPr>
      </p:sp>
      <p:sp>
        <p:nvSpPr>
          <p:cNvPr id="15" name="Text 12"/>
          <p:cNvSpPr txBox="1"/>
          <p:nvPr/>
        </p:nvSpPr>
        <p:spPr>
          <a:xfrm>
            <a:off x="731520" y="4450028"/>
            <a:ext cx="5111496" cy="1283260"/>
          </a:xfrm>
          <a:prstGeom prst="rect">
            <a:avLst/>
          </a:prstGeom>
          <a:noFill/>
          <a:ln/>
        </p:spPr>
        <p:txBody>
          <a:bodyPr wrap="square" lIns="0" tIns="0" rIns="0" bIns="0" rtlCol="0" anchor="ctr"/>
          <a:lstStyle/>
          <a:p>
            <a:pPr algn="l" indent="0" marL="0">
              <a:buNone/>
            </a:pPr>
            <a:r>
              <a:rPr lang="en-US" sz="1500" b="1" dirty="0">
                <a:solidFill>
                  <a:schemeClr val="tx1"/>
                </a:solidFill>
              </a:rPr>
              <a:t>③ noter, contacter, chercher</a:t>
            </a:r>
            <a:endParaRPr lang="en-US" sz="1500" dirty="0"/>
          </a:p>
          <a:p>
            <a:pPr algn="l" indent="0" marL="0">
              <a:buNone/>
            </a:pPr>
            <a:r>
              <a:rPr lang="en-US" sz="1500" b="1" i="1" dirty="0">
                <a:solidFill>
                  <a:schemeClr val="tx1"/>
                </a:solidFill>
              </a:rPr>
              <a:t>opschrijven</a:t>
            </a:r>
            <a:r>
              <a:rPr lang="en-US" sz="1500" dirty="0">
                <a:solidFill>
                  <a:schemeClr val="tx1"/>
                </a:solidFill>
              </a:rPr>
              <a:t> noter</a:t>
            </a:r>
            <a:endParaRPr lang="en-US" sz="1500" dirty="0"/>
          </a:p>
          <a:p>
            <a:pPr algn="l" indent="0" marL="0">
              <a:buNone/>
            </a:pPr>
            <a:r>
              <a:rPr lang="en-US" sz="1500" b="1" i="1" dirty="0">
                <a:solidFill>
                  <a:schemeClr val="tx1"/>
                </a:solidFill>
              </a:rPr>
              <a:t>opbellen</a:t>
            </a:r>
            <a:r>
              <a:rPr lang="en-US" sz="1500" dirty="0">
                <a:solidFill>
                  <a:schemeClr val="tx1"/>
                </a:solidFill>
              </a:rPr>
              <a:t> téléphoner</a:t>
            </a:r>
            <a:endParaRPr lang="en-US" sz="1500" dirty="0"/>
          </a:p>
          <a:p>
            <a:pPr algn="l" indent="0" marL="0">
              <a:buNone/>
            </a:pPr>
            <a:r>
              <a:rPr lang="en-US" sz="1500" b="1" i="1" dirty="0">
                <a:solidFill>
                  <a:schemeClr val="tx1"/>
                </a:solidFill>
              </a:rPr>
              <a:t>opzoeken</a:t>
            </a:r>
            <a:r>
              <a:rPr lang="en-US" sz="1500" dirty="0">
                <a:solidFill>
                  <a:schemeClr val="tx1"/>
                </a:solidFill>
              </a:rPr>
              <a:t> chercher ; rendre visite</a:t>
            </a:r>
            <a:endParaRPr lang="en-US" sz="1500" dirty="0"/>
          </a:p>
        </p:txBody>
      </p:sp>
      <p:sp>
        <p:nvSpPr>
          <p:cNvPr id="16" name="Shape 13"/>
          <p:cNvSpPr/>
          <p:nvPr/>
        </p:nvSpPr>
        <p:spPr>
          <a:xfrm>
            <a:off x="658368" y="5715000"/>
            <a:ext cx="5212080" cy="411480"/>
          </a:xfrm>
          <a:prstGeom prst="roundRect">
            <a:avLst>
              <a:gd name="adj" fmla="val 17778"/>
            </a:avLst>
          </a:prstGeom>
          <a:solidFill>
            <a:schemeClr val="accent3">
              <a:alpha val="10000"/>
            </a:schemeClr>
          </a:solidFill>
          <a:ln w="12700">
            <a:solidFill>
              <a:srgbClr val="FFFFFF">
                <a:alpha val="0"/>
              </a:srgbClr>
            </a:solidFill>
            <a:prstDash val="solid"/>
          </a:ln>
        </p:spPr>
      </p:sp>
      <p:sp>
        <p:nvSpPr>
          <p:cNvPr id="17" name="Text 14"/>
          <p:cNvSpPr txBox="1"/>
          <p:nvPr/>
        </p:nvSpPr>
        <p:spPr>
          <a:xfrm>
            <a:off x="731520" y="5715000"/>
            <a:ext cx="5065776" cy="411480"/>
          </a:xfrm>
          <a:prstGeom prst="rect">
            <a:avLst/>
          </a:prstGeom>
          <a:noFill/>
          <a:ln/>
        </p:spPr>
        <p:txBody>
          <a:bodyPr wrap="square" lIns="0" tIns="0" rIns="0" bIns="0" rtlCol="0" anchor="ctr"/>
          <a:lstStyle/>
          <a:p>
            <a:pPr algn="l" indent="0" marL="0">
              <a:buNone/>
            </a:pPr>
            <a:r>
              <a:rPr lang="en-US" sz="1300" dirty="0">
                <a:solidFill>
                  <a:schemeClr val="tx1"/>
                </a:solidFill>
              </a:rPr>
              <a:t>et : </a:t>
            </a:r>
            <a:r>
              <a:rPr lang="en-US" sz="1300" i="1" dirty="0">
                <a:solidFill>
                  <a:schemeClr val="tx1"/>
                </a:solidFill>
              </a:rPr>
              <a:t>opvallen</a:t>
            </a:r>
            <a:r>
              <a:rPr lang="en-US" sz="1300" dirty="0">
                <a:solidFill>
                  <a:schemeClr val="tx1"/>
                </a:solidFill>
              </a:rPr>
              <a:t> (attirer l’attention), </a:t>
            </a:r>
            <a:r>
              <a:rPr lang="en-US" sz="1300" i="1" dirty="0">
                <a:solidFill>
                  <a:schemeClr val="tx1"/>
                </a:solidFill>
              </a:rPr>
              <a:t>opbouwen</a:t>
            </a:r>
            <a:r>
              <a:rPr lang="en-US" sz="1300" dirty="0">
                <a:solidFill>
                  <a:schemeClr val="tx1"/>
                </a:solidFill>
              </a:rPr>
              <a:t> (construire)</a:t>
            </a:r>
            <a:endParaRPr lang="en-US" sz="1300" dirty="0"/>
          </a:p>
        </p:txBody>
      </p:sp>
      <p:sp>
        <p:nvSpPr>
          <p:cNvPr id="18" name="Shape 15"/>
          <p:cNvSpPr/>
          <p:nvPr/>
        </p:nvSpPr>
        <p:spPr>
          <a:xfrm>
            <a:off x="6208776" y="1508760"/>
            <a:ext cx="5431536" cy="4709160"/>
          </a:xfrm>
          <a:prstGeom prst="roundRect">
            <a:avLst>
              <a:gd name="adj" fmla="val 1942"/>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9" name="Shape 16"/>
          <p:cNvSpPr/>
          <p:nvPr/>
        </p:nvSpPr>
        <p:spPr>
          <a:xfrm>
            <a:off x="6208776" y="1508760"/>
            <a:ext cx="5431536" cy="868680"/>
          </a:xfrm>
          <a:prstGeom prst="roundRect">
            <a:avLst>
              <a:gd name="adj" fmla="val 10526"/>
            </a:avLst>
          </a:prstGeom>
          <a:solidFill>
            <a:schemeClr val="accent1">
              <a:alpha val="12000"/>
            </a:schemeClr>
          </a:solidFill>
          <a:ln w="12700">
            <a:solidFill>
              <a:srgbClr val="FFFFFF">
                <a:alpha val="0"/>
              </a:srgbClr>
            </a:solidFill>
            <a:prstDash val="solid"/>
          </a:ln>
        </p:spPr>
      </p:sp>
      <p:sp>
        <p:nvSpPr>
          <p:cNvPr id="20" name="Shape 17"/>
          <p:cNvSpPr/>
          <p:nvPr/>
        </p:nvSpPr>
        <p:spPr>
          <a:xfrm>
            <a:off x="6345936" y="1600200"/>
            <a:ext cx="685800" cy="685800"/>
          </a:xfrm>
          <a:prstGeom prst="roundRect">
            <a:avLst>
              <a:gd name="adj" fmla="val 10667"/>
            </a:avLst>
          </a:prstGeom>
          <a:solidFill>
            <a:srgbClr val="FFFFFF"/>
          </a:solidFill>
          <a:ln w="12700">
            <a:solidFill>
              <a:srgbClr val="FFFFFF">
                <a:alpha val="0"/>
              </a:srgbClr>
            </a:solidFill>
            <a:prstDash val="solid"/>
          </a:ln>
        </p:spPr>
      </p:sp>
      <p:sp>
        <p:nvSpPr>
          <p:cNvPr id="21" name="Shape 18"/>
          <p:cNvSpPr/>
          <p:nvPr/>
        </p:nvSpPr>
        <p:spPr>
          <a:xfrm>
            <a:off x="6656375" y="1748333"/>
            <a:ext cx="311628" cy="389534"/>
          </a:xfrm>
          <a:prstGeom prst="rect">
            <a:avLst/>
          </a:prstGeom>
          <a:solidFill>
            <a:srgbClr val="FFFFFF"/>
          </a:solidFill>
          <a:ln w="25400">
            <a:solidFill>
              <a:srgbClr val="17375E"/>
            </a:solidFill>
            <a:prstDash val="solid"/>
          </a:ln>
        </p:spPr>
      </p:sp>
      <p:sp>
        <p:nvSpPr>
          <p:cNvPr id="22" name="Shape 19"/>
          <p:cNvSpPr/>
          <p:nvPr/>
        </p:nvSpPr>
        <p:spPr>
          <a:xfrm>
            <a:off x="6619799" y="1876879"/>
            <a:ext cx="73152" cy="132442"/>
          </a:xfrm>
          <a:prstGeom prst="rect">
            <a:avLst/>
          </a:prstGeom>
          <a:solidFill>
            <a:srgbClr val="FFFFFF"/>
          </a:solidFill>
          <a:ln w="12700">
            <a:solidFill>
              <a:srgbClr val="FFFFFF">
                <a:alpha val="0"/>
              </a:srgbClr>
            </a:solidFill>
            <a:prstDash val="solid"/>
          </a:ln>
        </p:spPr>
      </p:sp>
      <p:sp>
        <p:nvSpPr>
          <p:cNvPr id="23" name="Shape 20"/>
          <p:cNvSpPr/>
          <p:nvPr/>
        </p:nvSpPr>
        <p:spPr>
          <a:xfrm flipH="1">
            <a:off x="6390193" y="1943100"/>
            <a:ext cx="441472" cy="914"/>
          </a:xfrm>
          <a:prstGeom prst="line">
            <a:avLst/>
          </a:prstGeom>
          <a:noFill/>
          <a:ln w="44450">
            <a:solidFill>
              <a:srgbClr val="D9700F"/>
            </a:solidFill>
            <a:prstDash val="solid"/>
            <a:tailEnd type="triangle"/>
          </a:ln>
        </p:spPr>
      </p:sp>
      <p:sp>
        <p:nvSpPr>
          <p:cNvPr id="24" name="Text 21"/>
          <p:cNvSpPr txBox="1"/>
          <p:nvPr/>
        </p:nvSpPr>
        <p:spPr>
          <a:xfrm>
            <a:off x="7168896" y="1600200"/>
            <a:ext cx="4334256" cy="685800"/>
          </a:xfrm>
          <a:prstGeom prst="rect">
            <a:avLst/>
          </a:prstGeom>
          <a:noFill/>
          <a:ln/>
        </p:spPr>
        <p:txBody>
          <a:bodyPr wrap="square" lIns="0" tIns="0" rIns="0" bIns="0" rtlCol="0" anchor="ctr"/>
          <a:lstStyle/>
          <a:p>
            <a:pPr algn="l" indent="0" marL="0">
              <a:buNone/>
            </a:pPr>
            <a:r>
              <a:rPr lang="en-US" sz="3000" b="1" dirty="0">
                <a:solidFill>
                  <a:schemeClr val="accent1"/>
                </a:solidFill>
                <a:latin typeface="+mj-lt" pitchFamily="34" charset="0"/>
                <a:ea typeface="+mj-lt" pitchFamily="34" charset="-122"/>
                <a:cs typeface="+mj-lt" pitchFamily="34" charset="-120"/>
              </a:rPr>
              <a:t>UIT-</a:t>
            </a:r>
            <a:endParaRPr lang="en-US" sz="3000" dirty="0"/>
          </a:p>
        </p:txBody>
      </p:sp>
      <p:sp>
        <p:nvSpPr>
          <p:cNvPr id="25" name="Text 22"/>
          <p:cNvSpPr txBox="1"/>
          <p:nvPr/>
        </p:nvSpPr>
        <p:spPr>
          <a:xfrm>
            <a:off x="6391656" y="2441448"/>
            <a:ext cx="5111496" cy="925830"/>
          </a:xfrm>
          <a:prstGeom prst="rect">
            <a:avLst/>
          </a:prstGeom>
          <a:noFill/>
          <a:ln/>
        </p:spPr>
        <p:txBody>
          <a:bodyPr wrap="square" lIns="0" tIns="0" rIns="0" bIns="0" rtlCol="0" anchor="ctr"/>
          <a:lstStyle/>
          <a:p>
            <a:pPr algn="l" indent="0" marL="0">
              <a:buNone/>
            </a:pPr>
            <a:r>
              <a:rPr lang="en-US" sz="1500" b="1" dirty="0">
                <a:solidFill>
                  <a:schemeClr val="tx1"/>
                </a:solidFill>
              </a:rPr>
              <a:t>① vers l’extérieur</a:t>
            </a:r>
            <a:endParaRPr lang="en-US" sz="1500" dirty="0"/>
          </a:p>
          <a:p>
            <a:pPr algn="l" indent="0" marL="0">
              <a:buNone/>
            </a:pPr>
            <a:r>
              <a:rPr lang="en-US" sz="1500" b="1" i="1" dirty="0">
                <a:solidFill>
                  <a:schemeClr val="tx1"/>
                </a:solidFill>
              </a:rPr>
              <a:t>uitgaan</a:t>
            </a:r>
            <a:r>
              <a:rPr lang="en-US" sz="1500" dirty="0">
                <a:solidFill>
                  <a:schemeClr val="tx1"/>
                </a:solidFill>
              </a:rPr>
              <a:t> sortir</a:t>
            </a:r>
            <a:endParaRPr lang="en-US" sz="1500" dirty="0"/>
          </a:p>
          <a:p>
            <a:pPr algn="l" indent="0" marL="0">
              <a:buNone/>
            </a:pPr>
            <a:r>
              <a:rPr lang="en-US" sz="1500" b="1" i="1" dirty="0">
                <a:solidFill>
                  <a:schemeClr val="tx1"/>
                </a:solidFill>
              </a:rPr>
              <a:t>uitstappen</a:t>
            </a:r>
            <a:r>
              <a:rPr lang="en-US" sz="1500" dirty="0">
                <a:solidFill>
                  <a:schemeClr val="tx1"/>
                </a:solidFill>
              </a:rPr>
              <a:t> descendre (d’un véhicule)</a:t>
            </a:r>
            <a:endParaRPr lang="en-US" sz="1500" dirty="0"/>
          </a:p>
        </p:txBody>
      </p:sp>
      <p:sp>
        <p:nvSpPr>
          <p:cNvPr id="26" name="Shape 23"/>
          <p:cNvSpPr/>
          <p:nvPr/>
        </p:nvSpPr>
        <p:spPr>
          <a:xfrm>
            <a:off x="6391656" y="3367278"/>
            <a:ext cx="5065776" cy="914"/>
          </a:xfrm>
          <a:prstGeom prst="line">
            <a:avLst/>
          </a:prstGeom>
          <a:noFill/>
          <a:ln w="9525">
            <a:solidFill>
              <a:srgbClr val="D5DCE6"/>
            </a:solidFill>
            <a:prstDash val="solid"/>
          </a:ln>
        </p:spPr>
      </p:sp>
      <p:sp>
        <p:nvSpPr>
          <p:cNvPr id="27" name="Text 24"/>
          <p:cNvSpPr txBox="1"/>
          <p:nvPr/>
        </p:nvSpPr>
        <p:spPr>
          <a:xfrm>
            <a:off x="6391656" y="3367278"/>
            <a:ext cx="5111496" cy="1183005"/>
          </a:xfrm>
          <a:prstGeom prst="rect">
            <a:avLst/>
          </a:prstGeom>
          <a:noFill/>
          <a:ln/>
        </p:spPr>
        <p:txBody>
          <a:bodyPr wrap="square" lIns="0" tIns="0" rIns="0" bIns="0" rtlCol="0" anchor="ctr"/>
          <a:lstStyle/>
          <a:p>
            <a:pPr algn="l" indent="0" marL="0">
              <a:buNone/>
            </a:pPr>
            <a:r>
              <a:rPr lang="en-US" sz="1500" b="1" dirty="0">
                <a:solidFill>
                  <a:schemeClr val="tx1"/>
                </a:solidFill>
              </a:rPr>
              <a:t>② jusqu’au bout, arrêt</a:t>
            </a:r>
            <a:endParaRPr lang="en-US" sz="1500" dirty="0"/>
          </a:p>
          <a:p>
            <a:pPr algn="l" indent="0" marL="0">
              <a:buNone/>
            </a:pPr>
            <a:r>
              <a:rPr lang="en-US" sz="1500" b="1" i="1" dirty="0">
                <a:solidFill>
                  <a:schemeClr val="tx1"/>
                </a:solidFill>
              </a:rPr>
              <a:t>uitlezen</a:t>
            </a:r>
            <a:r>
              <a:rPr lang="en-US" sz="1500" dirty="0">
                <a:solidFill>
                  <a:schemeClr val="tx1"/>
                </a:solidFill>
              </a:rPr>
              <a:t> finir de lire</a:t>
            </a:r>
            <a:endParaRPr lang="en-US" sz="1500" dirty="0"/>
          </a:p>
          <a:p>
            <a:pPr algn="l" indent="0" marL="0">
              <a:buNone/>
            </a:pPr>
            <a:r>
              <a:rPr lang="en-US" sz="1500" b="1" i="1" dirty="0">
                <a:solidFill>
                  <a:schemeClr val="tx1"/>
                </a:solidFill>
              </a:rPr>
              <a:t>uitspreken</a:t>
            </a:r>
            <a:r>
              <a:rPr lang="en-US" sz="1500" dirty="0">
                <a:solidFill>
                  <a:schemeClr val="tx1"/>
                </a:solidFill>
              </a:rPr>
              <a:t> prononcer ; finir de parler</a:t>
            </a:r>
            <a:endParaRPr lang="en-US" sz="1500" dirty="0"/>
          </a:p>
          <a:p>
            <a:pPr algn="l" indent="0" marL="0">
              <a:buNone/>
            </a:pPr>
            <a:r>
              <a:rPr lang="en-US" sz="1500" b="1" i="1" dirty="0">
                <a:solidFill>
                  <a:schemeClr val="tx1"/>
                </a:solidFill>
              </a:rPr>
              <a:t>uitzetten</a:t>
            </a:r>
            <a:r>
              <a:rPr lang="en-US" sz="1500" dirty="0">
                <a:solidFill>
                  <a:schemeClr val="tx1"/>
                </a:solidFill>
              </a:rPr>
              <a:t> éteindre</a:t>
            </a:r>
            <a:endParaRPr lang="en-US" sz="1500" dirty="0"/>
          </a:p>
        </p:txBody>
      </p:sp>
      <p:sp>
        <p:nvSpPr>
          <p:cNvPr id="28" name="Shape 25"/>
          <p:cNvSpPr/>
          <p:nvPr/>
        </p:nvSpPr>
        <p:spPr>
          <a:xfrm>
            <a:off x="6391656" y="4550283"/>
            <a:ext cx="5065776" cy="914"/>
          </a:xfrm>
          <a:prstGeom prst="line">
            <a:avLst/>
          </a:prstGeom>
          <a:noFill/>
          <a:ln w="9525">
            <a:solidFill>
              <a:srgbClr val="D5DCE6"/>
            </a:solidFill>
            <a:prstDash val="solid"/>
          </a:ln>
        </p:spPr>
      </p:sp>
      <p:sp>
        <p:nvSpPr>
          <p:cNvPr id="29" name="Text 26"/>
          <p:cNvSpPr txBox="1"/>
          <p:nvPr/>
        </p:nvSpPr>
        <p:spPr>
          <a:xfrm>
            <a:off x="6391656" y="4550283"/>
            <a:ext cx="5111496" cy="1183005"/>
          </a:xfrm>
          <a:prstGeom prst="rect">
            <a:avLst/>
          </a:prstGeom>
          <a:noFill/>
          <a:ln/>
        </p:spPr>
        <p:txBody>
          <a:bodyPr wrap="square" lIns="0" tIns="0" rIns="0" bIns="0" rtlCol="0" anchor="ctr"/>
          <a:lstStyle/>
          <a:p>
            <a:pPr algn="l" indent="0" marL="0">
              <a:buNone/>
            </a:pPr>
            <a:r>
              <a:rPr lang="en-US" sz="1500" b="1" dirty="0">
                <a:solidFill>
                  <a:schemeClr val="tx1"/>
                </a:solidFill>
              </a:rPr>
              <a:t>③ figuré</a:t>
            </a:r>
            <a:endParaRPr lang="en-US" sz="1500" dirty="0"/>
          </a:p>
          <a:p>
            <a:pPr algn="l" indent="0" marL="0">
              <a:buNone/>
            </a:pPr>
            <a:r>
              <a:rPr lang="en-US" sz="1500" b="1" i="1" dirty="0">
                <a:solidFill>
                  <a:schemeClr val="tx1"/>
                </a:solidFill>
              </a:rPr>
              <a:t>uitleggen</a:t>
            </a:r>
            <a:r>
              <a:rPr lang="en-US" sz="1500" dirty="0">
                <a:solidFill>
                  <a:schemeClr val="tx1"/>
                </a:solidFill>
              </a:rPr>
              <a:t> expliquer</a:t>
            </a:r>
            <a:endParaRPr lang="en-US" sz="1500" dirty="0"/>
          </a:p>
          <a:p>
            <a:pPr algn="l" indent="0" marL="0">
              <a:buNone/>
            </a:pPr>
            <a:r>
              <a:rPr lang="en-US" sz="1500" b="1" i="1" dirty="0">
                <a:solidFill>
                  <a:schemeClr val="tx1"/>
                </a:solidFill>
              </a:rPr>
              <a:t>uitnodigen</a:t>
            </a:r>
            <a:r>
              <a:rPr lang="en-US" sz="1500" dirty="0">
                <a:solidFill>
                  <a:schemeClr val="tx1"/>
                </a:solidFill>
              </a:rPr>
              <a:t> inviter</a:t>
            </a:r>
            <a:endParaRPr lang="en-US" sz="1500" dirty="0"/>
          </a:p>
          <a:p>
            <a:pPr algn="l" indent="0" marL="0">
              <a:buNone/>
            </a:pPr>
            <a:r>
              <a:rPr lang="en-US" sz="1500" b="1" i="1" dirty="0">
                <a:solidFill>
                  <a:schemeClr val="tx1"/>
                </a:solidFill>
              </a:rPr>
              <a:t>uitstellen</a:t>
            </a:r>
            <a:r>
              <a:rPr lang="en-US" sz="1500" dirty="0">
                <a:solidFill>
                  <a:schemeClr val="tx1"/>
                </a:solidFill>
              </a:rPr>
              <a:t> reporter</a:t>
            </a:r>
            <a:endParaRPr lang="en-US" sz="1500" dirty="0"/>
          </a:p>
        </p:txBody>
      </p:sp>
      <p:sp>
        <p:nvSpPr>
          <p:cNvPr id="30" name="Shape 27"/>
          <p:cNvSpPr/>
          <p:nvPr/>
        </p:nvSpPr>
        <p:spPr>
          <a:xfrm>
            <a:off x="6318504" y="5715000"/>
            <a:ext cx="5212080" cy="411480"/>
          </a:xfrm>
          <a:prstGeom prst="roundRect">
            <a:avLst>
              <a:gd name="adj" fmla="val 17778"/>
            </a:avLst>
          </a:prstGeom>
          <a:solidFill>
            <a:schemeClr val="accent1">
              <a:alpha val="10000"/>
            </a:schemeClr>
          </a:solidFill>
          <a:ln w="12700">
            <a:solidFill>
              <a:srgbClr val="FFFFFF">
                <a:alpha val="0"/>
              </a:srgbClr>
            </a:solidFill>
            <a:prstDash val="solid"/>
          </a:ln>
        </p:spPr>
      </p:sp>
      <p:sp>
        <p:nvSpPr>
          <p:cNvPr id="31" name="Text 28"/>
          <p:cNvSpPr txBox="1"/>
          <p:nvPr/>
        </p:nvSpPr>
        <p:spPr>
          <a:xfrm>
            <a:off x="6391656" y="5715000"/>
            <a:ext cx="5065776" cy="411480"/>
          </a:xfrm>
          <a:prstGeom prst="rect">
            <a:avLst/>
          </a:prstGeom>
          <a:noFill/>
          <a:ln/>
        </p:spPr>
        <p:txBody>
          <a:bodyPr wrap="square" lIns="0" tIns="0" rIns="0" bIns="0" rtlCol="0" anchor="ctr"/>
          <a:lstStyle/>
          <a:p>
            <a:pPr algn="l" indent="0" marL="0">
              <a:buNone/>
            </a:pPr>
            <a:r>
              <a:rPr lang="en-US" sz="1300" i="1" dirty="0">
                <a:solidFill>
                  <a:schemeClr val="tx1"/>
                </a:solidFill>
              </a:rPr>
              <a:t>Laat me uitspreken!</a:t>
            </a:r>
            <a:r>
              <a:rPr lang="en-US" sz="1300" dirty="0">
                <a:solidFill>
                  <a:schemeClr val="tx1"/>
                </a:solidFill>
              </a:rPr>
              <a:t> = laisse-moi finir</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IN- et BIJ-</a:t>
            </a:r>
            <a:endParaRPr lang="en-US" sz="3000" dirty="0"/>
          </a:p>
        </p:txBody>
      </p:sp>
      <p:sp>
        <p:nvSpPr>
          <p:cNvPr id="3" name="tag"/>
          <p:cNvSpPr/>
          <p:nvPr/>
        </p:nvSpPr>
        <p:spPr>
          <a:xfrm>
            <a:off x="548640" y="237744"/>
            <a:ext cx="1876349"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LES PARTICULES</a:t>
            </a:r>
            <a:endParaRPr lang="en-US" sz="1200" dirty="0"/>
          </a:p>
        </p:txBody>
      </p:sp>
      <p:sp>
        <p:nvSpPr>
          <p:cNvPr id="5" name="Shape 2"/>
          <p:cNvSpPr/>
          <p:nvPr/>
        </p:nvSpPr>
        <p:spPr>
          <a:xfrm>
            <a:off x="548640" y="1508760"/>
            <a:ext cx="5431536" cy="4709160"/>
          </a:xfrm>
          <a:prstGeom prst="roundRect">
            <a:avLst>
              <a:gd name="adj" fmla="val 1942"/>
            </a:avLst>
          </a:prstGeom>
          <a:solidFill>
            <a:schemeClr val="bg1"/>
          </a:solidFill>
          <a:ln w="25400">
            <a:solidFill>
              <a:srgbClr val="6E4A9E"/>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08760"/>
            <a:ext cx="5431536" cy="868680"/>
          </a:xfrm>
          <a:prstGeom prst="roundRect">
            <a:avLst>
              <a:gd name="adj" fmla="val 10526"/>
            </a:avLst>
          </a:prstGeom>
          <a:solidFill>
            <a:srgbClr val="6E4A9E">
              <a:alpha val="12000"/>
            </a:srgbClr>
          </a:solidFill>
          <a:ln w="12700">
            <a:solidFill>
              <a:srgbClr val="FFFFFF">
                <a:alpha val="0"/>
              </a:srgbClr>
            </a:solidFill>
            <a:prstDash val="solid"/>
          </a:ln>
        </p:spPr>
      </p:sp>
      <p:sp>
        <p:nvSpPr>
          <p:cNvPr id="7" name="Shape 4"/>
          <p:cNvSpPr/>
          <p:nvPr/>
        </p:nvSpPr>
        <p:spPr>
          <a:xfrm>
            <a:off x="685800" y="1600200"/>
            <a:ext cx="685800" cy="685800"/>
          </a:xfrm>
          <a:prstGeom prst="roundRect">
            <a:avLst>
              <a:gd name="adj" fmla="val 10667"/>
            </a:avLst>
          </a:prstGeom>
          <a:solidFill>
            <a:srgbClr val="FFFFFF"/>
          </a:solidFill>
          <a:ln w="12700">
            <a:solidFill>
              <a:srgbClr val="FFFFFF">
                <a:alpha val="0"/>
              </a:srgbClr>
            </a:solidFill>
            <a:prstDash val="solid"/>
          </a:ln>
        </p:spPr>
      </p:sp>
      <p:sp>
        <p:nvSpPr>
          <p:cNvPr id="8" name="Shape 5"/>
          <p:cNvSpPr/>
          <p:nvPr/>
        </p:nvSpPr>
        <p:spPr>
          <a:xfrm>
            <a:off x="996239" y="1748333"/>
            <a:ext cx="311628" cy="389534"/>
          </a:xfrm>
          <a:prstGeom prst="rect">
            <a:avLst/>
          </a:prstGeom>
          <a:solidFill>
            <a:srgbClr val="FFFFFF"/>
          </a:solidFill>
          <a:ln w="25400">
            <a:solidFill>
              <a:srgbClr val="17375E"/>
            </a:solidFill>
            <a:prstDash val="solid"/>
          </a:ln>
        </p:spPr>
      </p:sp>
      <p:sp>
        <p:nvSpPr>
          <p:cNvPr id="9" name="Shape 6"/>
          <p:cNvSpPr/>
          <p:nvPr/>
        </p:nvSpPr>
        <p:spPr>
          <a:xfrm>
            <a:off x="959663" y="1876879"/>
            <a:ext cx="73152" cy="132442"/>
          </a:xfrm>
          <a:prstGeom prst="rect">
            <a:avLst/>
          </a:prstGeom>
          <a:solidFill>
            <a:srgbClr val="FFFFFF"/>
          </a:solidFill>
          <a:ln w="12700">
            <a:solidFill>
              <a:srgbClr val="FFFFFF">
                <a:alpha val="0"/>
              </a:srgbClr>
            </a:solidFill>
            <a:prstDash val="solid"/>
          </a:ln>
        </p:spPr>
      </p:sp>
      <p:sp>
        <p:nvSpPr>
          <p:cNvPr id="10" name="Shape 7"/>
          <p:cNvSpPr/>
          <p:nvPr/>
        </p:nvSpPr>
        <p:spPr>
          <a:xfrm>
            <a:off x="730057" y="1943100"/>
            <a:ext cx="441472" cy="914"/>
          </a:xfrm>
          <a:prstGeom prst="line">
            <a:avLst/>
          </a:prstGeom>
          <a:noFill/>
          <a:ln w="44450">
            <a:solidFill>
              <a:srgbClr val="6E4A9E"/>
            </a:solidFill>
            <a:prstDash val="solid"/>
            <a:tailEnd type="triangle"/>
          </a:ln>
        </p:spPr>
      </p:sp>
      <p:sp>
        <p:nvSpPr>
          <p:cNvPr id="11" name="Text 8"/>
          <p:cNvSpPr txBox="1"/>
          <p:nvPr/>
        </p:nvSpPr>
        <p:spPr>
          <a:xfrm>
            <a:off x="1508760" y="1600200"/>
            <a:ext cx="4334256" cy="685800"/>
          </a:xfrm>
          <a:prstGeom prst="rect">
            <a:avLst/>
          </a:prstGeom>
          <a:noFill/>
          <a:ln/>
        </p:spPr>
        <p:txBody>
          <a:bodyPr wrap="square" lIns="0" tIns="0" rIns="0" bIns="0" rtlCol="0" anchor="ctr"/>
          <a:lstStyle/>
          <a:p>
            <a:pPr algn="l" indent="0" marL="0">
              <a:buNone/>
            </a:pPr>
            <a:r>
              <a:rPr lang="en-US" sz="3000" b="1" dirty="0">
                <a:solidFill>
                  <a:srgbClr val="6E4A9E"/>
                </a:solidFill>
                <a:latin typeface="+mj-lt" pitchFamily="34" charset="0"/>
                <a:ea typeface="+mj-lt" pitchFamily="34" charset="-122"/>
                <a:cs typeface="+mj-lt" pitchFamily="34" charset="-120"/>
              </a:rPr>
              <a:t>IN-</a:t>
            </a:r>
            <a:endParaRPr lang="en-US" sz="3000" dirty="0"/>
          </a:p>
        </p:txBody>
      </p:sp>
      <p:sp>
        <p:nvSpPr>
          <p:cNvPr id="12" name="Text 9"/>
          <p:cNvSpPr txBox="1"/>
          <p:nvPr/>
        </p:nvSpPr>
        <p:spPr>
          <a:xfrm>
            <a:off x="731520" y="2441448"/>
            <a:ext cx="5111496" cy="1097280"/>
          </a:xfrm>
          <a:prstGeom prst="rect">
            <a:avLst/>
          </a:prstGeom>
          <a:noFill/>
          <a:ln/>
        </p:spPr>
        <p:txBody>
          <a:bodyPr wrap="square" lIns="0" tIns="0" rIns="0" bIns="0" rtlCol="0" anchor="ctr"/>
          <a:lstStyle/>
          <a:p>
            <a:pPr algn="l" indent="0" marL="0">
              <a:buNone/>
            </a:pPr>
            <a:r>
              <a:rPr lang="en-US" sz="1500" b="1" dirty="0">
                <a:solidFill>
                  <a:schemeClr val="tx1"/>
                </a:solidFill>
              </a:rPr>
              <a:t>① vers l’intérieur</a:t>
            </a:r>
            <a:endParaRPr lang="en-US" sz="1500" dirty="0"/>
          </a:p>
          <a:p>
            <a:pPr algn="l" indent="0" marL="0">
              <a:buNone/>
            </a:pPr>
            <a:r>
              <a:rPr lang="en-US" sz="1500" b="1" i="1" dirty="0">
                <a:solidFill>
                  <a:schemeClr val="tx1"/>
                </a:solidFill>
              </a:rPr>
              <a:t>instappen</a:t>
            </a:r>
            <a:r>
              <a:rPr lang="en-US" sz="1500" dirty="0">
                <a:solidFill>
                  <a:schemeClr val="tx1"/>
                </a:solidFill>
              </a:rPr>
              <a:t> monter (véhicule)</a:t>
            </a:r>
            <a:endParaRPr lang="en-US" sz="1500" dirty="0"/>
          </a:p>
          <a:p>
            <a:pPr algn="l" indent="0" marL="0">
              <a:buNone/>
            </a:pPr>
            <a:r>
              <a:rPr lang="en-US" sz="1500" b="1" i="1" dirty="0">
                <a:solidFill>
                  <a:schemeClr val="tx1"/>
                </a:solidFill>
              </a:rPr>
              <a:t>inademen</a:t>
            </a:r>
            <a:r>
              <a:rPr lang="en-US" sz="1500" dirty="0">
                <a:solidFill>
                  <a:schemeClr val="tx1"/>
                </a:solidFill>
              </a:rPr>
              <a:t> inspirer</a:t>
            </a:r>
            <a:endParaRPr lang="en-US" sz="1500" dirty="0"/>
          </a:p>
          <a:p>
            <a:pPr algn="l" indent="0" marL="0">
              <a:buNone/>
            </a:pPr>
            <a:r>
              <a:rPr lang="en-US" sz="1500" b="1" i="1" dirty="0">
                <a:solidFill>
                  <a:schemeClr val="tx1"/>
                </a:solidFill>
              </a:rPr>
              <a:t>inloggen</a:t>
            </a:r>
            <a:r>
              <a:rPr lang="en-US" sz="1500" dirty="0">
                <a:solidFill>
                  <a:schemeClr val="tx1"/>
                </a:solidFill>
              </a:rPr>
              <a:t> se connecter</a:t>
            </a:r>
            <a:endParaRPr lang="en-US" sz="1500" dirty="0"/>
          </a:p>
        </p:txBody>
      </p:sp>
      <p:sp>
        <p:nvSpPr>
          <p:cNvPr id="13" name="Shape 10"/>
          <p:cNvSpPr/>
          <p:nvPr/>
        </p:nvSpPr>
        <p:spPr>
          <a:xfrm>
            <a:off x="731520" y="3538728"/>
            <a:ext cx="5065776" cy="914"/>
          </a:xfrm>
          <a:prstGeom prst="line">
            <a:avLst/>
          </a:prstGeom>
          <a:noFill/>
          <a:ln w="9525">
            <a:solidFill>
              <a:srgbClr val="D5DCE6"/>
            </a:solidFill>
            <a:prstDash val="solid"/>
          </a:ln>
        </p:spPr>
      </p:sp>
      <p:sp>
        <p:nvSpPr>
          <p:cNvPr id="14" name="Text 11"/>
          <p:cNvSpPr txBox="1"/>
          <p:nvPr/>
        </p:nvSpPr>
        <p:spPr>
          <a:xfrm>
            <a:off x="731520" y="3538728"/>
            <a:ext cx="5111496" cy="1097280"/>
          </a:xfrm>
          <a:prstGeom prst="rect">
            <a:avLst/>
          </a:prstGeom>
          <a:noFill/>
          <a:ln/>
        </p:spPr>
        <p:txBody>
          <a:bodyPr wrap="square" lIns="0" tIns="0" rIns="0" bIns="0" rtlCol="0" anchor="ctr"/>
          <a:lstStyle/>
          <a:p>
            <a:pPr algn="l" indent="0" marL="0">
              <a:buNone/>
            </a:pPr>
            <a:r>
              <a:rPr lang="en-US" sz="1500" b="1" dirty="0">
                <a:solidFill>
                  <a:schemeClr val="tx1"/>
                </a:solidFill>
              </a:rPr>
              <a:t>② remettre, remplir</a:t>
            </a:r>
            <a:endParaRPr lang="en-US" sz="1500" dirty="0"/>
          </a:p>
          <a:p>
            <a:pPr algn="l" indent="0" marL="0">
              <a:buNone/>
            </a:pPr>
            <a:r>
              <a:rPr lang="en-US" sz="1500" b="1" i="1" dirty="0">
                <a:solidFill>
                  <a:schemeClr val="tx1"/>
                </a:solidFill>
              </a:rPr>
              <a:t>inleveren</a:t>
            </a:r>
            <a:r>
              <a:rPr lang="en-US" sz="1500" dirty="0">
                <a:solidFill>
                  <a:schemeClr val="tx1"/>
                </a:solidFill>
              </a:rPr>
              <a:t> remettre, rendre</a:t>
            </a:r>
            <a:endParaRPr lang="en-US" sz="1500" dirty="0"/>
          </a:p>
          <a:p>
            <a:pPr algn="l" indent="0" marL="0">
              <a:buNone/>
            </a:pPr>
            <a:r>
              <a:rPr lang="en-US" sz="1500" b="1" i="1" dirty="0">
                <a:solidFill>
                  <a:schemeClr val="tx1"/>
                </a:solidFill>
              </a:rPr>
              <a:t>indienen</a:t>
            </a:r>
            <a:r>
              <a:rPr lang="en-US" sz="1500" dirty="0">
                <a:solidFill>
                  <a:schemeClr val="tx1"/>
                </a:solidFill>
              </a:rPr>
              <a:t> introduire (une demande)</a:t>
            </a:r>
            <a:endParaRPr lang="en-US" sz="1500" dirty="0"/>
          </a:p>
          <a:p>
            <a:pPr algn="l" indent="0" marL="0">
              <a:buNone/>
            </a:pPr>
            <a:r>
              <a:rPr lang="en-US" sz="1500" b="1" i="1" dirty="0">
                <a:solidFill>
                  <a:schemeClr val="tx1"/>
                </a:solidFill>
              </a:rPr>
              <a:t>invullen</a:t>
            </a:r>
            <a:r>
              <a:rPr lang="en-US" sz="1500" dirty="0">
                <a:solidFill>
                  <a:schemeClr val="tx1"/>
                </a:solidFill>
              </a:rPr>
              <a:t> remplir</a:t>
            </a:r>
            <a:endParaRPr lang="en-US" sz="1500" dirty="0"/>
          </a:p>
        </p:txBody>
      </p:sp>
      <p:sp>
        <p:nvSpPr>
          <p:cNvPr id="15" name="Shape 12"/>
          <p:cNvSpPr/>
          <p:nvPr/>
        </p:nvSpPr>
        <p:spPr>
          <a:xfrm>
            <a:off x="731520" y="4636008"/>
            <a:ext cx="5065776" cy="914"/>
          </a:xfrm>
          <a:prstGeom prst="line">
            <a:avLst/>
          </a:prstGeom>
          <a:noFill/>
          <a:ln w="9525">
            <a:solidFill>
              <a:srgbClr val="D5DCE6"/>
            </a:solidFill>
            <a:prstDash val="solid"/>
          </a:ln>
        </p:spPr>
      </p:sp>
      <p:sp>
        <p:nvSpPr>
          <p:cNvPr id="16" name="Text 13"/>
          <p:cNvSpPr txBox="1"/>
          <p:nvPr/>
        </p:nvSpPr>
        <p:spPr>
          <a:xfrm>
            <a:off x="731520" y="4636008"/>
            <a:ext cx="5111496" cy="1097280"/>
          </a:xfrm>
          <a:prstGeom prst="rect">
            <a:avLst/>
          </a:prstGeom>
          <a:noFill/>
          <a:ln/>
        </p:spPr>
        <p:txBody>
          <a:bodyPr wrap="square" lIns="0" tIns="0" rIns="0" bIns="0" rtlCol="0" anchor="ctr"/>
          <a:lstStyle/>
          <a:p>
            <a:pPr algn="l" indent="0" marL="0">
              <a:buNone/>
            </a:pPr>
            <a:r>
              <a:rPr lang="en-US" sz="1500" b="1" dirty="0">
                <a:solidFill>
                  <a:schemeClr val="tx1"/>
                </a:solidFill>
              </a:rPr>
              <a:t>③ s’approprier, se familiariser</a:t>
            </a:r>
            <a:endParaRPr lang="en-US" sz="1500" dirty="0"/>
          </a:p>
          <a:p>
            <a:pPr algn="l" indent="0" marL="0">
              <a:buNone/>
            </a:pPr>
            <a:r>
              <a:rPr lang="en-US" sz="1500" b="1" i="1" dirty="0">
                <a:solidFill>
                  <a:schemeClr val="tx1"/>
                </a:solidFill>
              </a:rPr>
              <a:t>instuderen</a:t>
            </a:r>
            <a:r>
              <a:rPr lang="en-US" sz="1500" dirty="0">
                <a:solidFill>
                  <a:schemeClr val="tx1"/>
                </a:solidFill>
              </a:rPr>
              <a:t> apprendre, répéter (un rôle)</a:t>
            </a:r>
            <a:endParaRPr lang="en-US" sz="1500" dirty="0"/>
          </a:p>
          <a:p>
            <a:pPr algn="l" indent="0" marL="0">
              <a:buNone/>
            </a:pPr>
            <a:r>
              <a:rPr lang="en-US" sz="1500" b="1" i="1" dirty="0">
                <a:solidFill>
                  <a:schemeClr val="tx1"/>
                </a:solidFill>
              </a:rPr>
              <a:t>inwerken</a:t>
            </a:r>
            <a:r>
              <a:rPr lang="en-US" sz="1500" dirty="0">
                <a:solidFill>
                  <a:schemeClr val="tx1"/>
                </a:solidFill>
              </a:rPr>
              <a:t> former (un·e nouveau·elle)</a:t>
            </a:r>
            <a:endParaRPr lang="en-US" sz="1500" dirty="0"/>
          </a:p>
          <a:p>
            <a:pPr algn="l" indent="0" marL="0">
              <a:buNone/>
            </a:pPr>
            <a:r>
              <a:rPr lang="en-US" sz="1500" b="1" i="1" dirty="0">
                <a:solidFill>
                  <a:schemeClr val="tx1"/>
                </a:solidFill>
              </a:rPr>
              <a:t>zich inlezen</a:t>
            </a:r>
            <a:r>
              <a:rPr lang="en-US" sz="1500" dirty="0">
                <a:solidFill>
                  <a:schemeClr val="tx1"/>
                </a:solidFill>
              </a:rPr>
              <a:t> se documenter</a:t>
            </a:r>
            <a:endParaRPr lang="en-US" sz="1500" dirty="0"/>
          </a:p>
        </p:txBody>
      </p:sp>
      <p:sp>
        <p:nvSpPr>
          <p:cNvPr id="17" name="Shape 14"/>
          <p:cNvSpPr/>
          <p:nvPr/>
        </p:nvSpPr>
        <p:spPr>
          <a:xfrm>
            <a:off x="658368" y="5715000"/>
            <a:ext cx="5212080" cy="411480"/>
          </a:xfrm>
          <a:prstGeom prst="roundRect">
            <a:avLst>
              <a:gd name="adj" fmla="val 17778"/>
            </a:avLst>
          </a:prstGeom>
          <a:solidFill>
            <a:srgbClr val="6E4A9E">
              <a:alpha val="10000"/>
            </a:srgbClr>
          </a:solidFill>
          <a:ln w="12700">
            <a:solidFill>
              <a:srgbClr val="FFFFFF">
                <a:alpha val="0"/>
              </a:srgbClr>
            </a:solidFill>
            <a:prstDash val="solid"/>
          </a:ln>
        </p:spPr>
      </p:sp>
      <p:sp>
        <p:nvSpPr>
          <p:cNvPr id="18" name="Text 15"/>
          <p:cNvSpPr txBox="1"/>
          <p:nvPr/>
        </p:nvSpPr>
        <p:spPr>
          <a:xfrm>
            <a:off x="731520" y="5715000"/>
            <a:ext cx="5065776" cy="411480"/>
          </a:xfrm>
          <a:prstGeom prst="rect">
            <a:avLst/>
          </a:prstGeom>
          <a:noFill/>
          <a:ln/>
        </p:spPr>
        <p:txBody>
          <a:bodyPr wrap="square" lIns="0" tIns="0" rIns="0" bIns="0" rtlCol="0" anchor="ctr"/>
          <a:lstStyle/>
          <a:p>
            <a:pPr algn="l" indent="0" marL="0">
              <a:buNone/>
            </a:pPr>
            <a:r>
              <a:rPr lang="en-US" sz="1300" i="1" dirty="0">
                <a:solidFill>
                  <a:schemeClr val="tx1"/>
                </a:solidFill>
              </a:rPr>
              <a:t>invoeren</a:t>
            </a:r>
            <a:r>
              <a:rPr lang="en-US" sz="1300" dirty="0">
                <a:solidFill>
                  <a:schemeClr val="tx1"/>
                </a:solidFill>
              </a:rPr>
              <a:t> : introduire ; importer ; encoder</a:t>
            </a:r>
            <a:endParaRPr lang="en-US" sz="1300" dirty="0"/>
          </a:p>
        </p:txBody>
      </p:sp>
      <p:sp>
        <p:nvSpPr>
          <p:cNvPr id="19" name="Shape 16"/>
          <p:cNvSpPr/>
          <p:nvPr/>
        </p:nvSpPr>
        <p:spPr>
          <a:xfrm>
            <a:off x="6208776" y="1508760"/>
            <a:ext cx="5431536" cy="4709160"/>
          </a:xfrm>
          <a:prstGeom prst="roundRect">
            <a:avLst>
              <a:gd name="adj" fmla="val 1942"/>
            </a:avLst>
          </a:prstGeom>
          <a:solidFill>
            <a:schemeClr val="bg1"/>
          </a:solidFill>
          <a:ln w="25400">
            <a:solidFill>
              <a:srgbClr val="B4236A"/>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6208776" y="1508760"/>
            <a:ext cx="5431536" cy="868680"/>
          </a:xfrm>
          <a:prstGeom prst="roundRect">
            <a:avLst>
              <a:gd name="adj" fmla="val 10526"/>
            </a:avLst>
          </a:prstGeom>
          <a:solidFill>
            <a:schemeClr val="accent4">
              <a:alpha val="12000"/>
            </a:schemeClr>
          </a:solidFill>
          <a:ln w="12700">
            <a:solidFill>
              <a:srgbClr val="FFFFFF">
                <a:alpha val="0"/>
              </a:srgbClr>
            </a:solidFill>
            <a:prstDash val="solid"/>
          </a:ln>
        </p:spPr>
      </p:sp>
      <p:sp>
        <p:nvSpPr>
          <p:cNvPr id="21" name="Shape 18"/>
          <p:cNvSpPr/>
          <p:nvPr/>
        </p:nvSpPr>
        <p:spPr>
          <a:xfrm>
            <a:off x="6345936" y="1600200"/>
            <a:ext cx="685800" cy="685800"/>
          </a:xfrm>
          <a:prstGeom prst="roundRect">
            <a:avLst>
              <a:gd name="adj" fmla="val 10667"/>
            </a:avLst>
          </a:prstGeom>
          <a:solidFill>
            <a:srgbClr val="FFFFFF"/>
          </a:solidFill>
          <a:ln w="12700">
            <a:solidFill>
              <a:srgbClr val="FFFFFF">
                <a:alpha val="0"/>
              </a:srgbClr>
            </a:solidFill>
            <a:prstDash val="solid"/>
          </a:ln>
        </p:spPr>
      </p:sp>
      <p:sp>
        <p:nvSpPr>
          <p:cNvPr id="22" name="Shape 19"/>
          <p:cNvSpPr/>
          <p:nvPr/>
        </p:nvSpPr>
        <p:spPr>
          <a:xfrm>
            <a:off x="6416162" y="1813255"/>
            <a:ext cx="233721" cy="259690"/>
          </a:xfrm>
          <a:prstGeom prst="roundRect">
            <a:avLst>
              <a:gd name="adj" fmla="val 15649"/>
            </a:avLst>
          </a:prstGeom>
          <a:solidFill>
            <a:srgbClr val="D5DCE6"/>
          </a:solidFill>
          <a:ln w="12700">
            <a:solidFill>
              <a:srgbClr val="FFFFFF">
                <a:alpha val="0"/>
              </a:srgbClr>
            </a:solidFill>
            <a:prstDash val="solid"/>
          </a:ln>
        </p:spPr>
      </p:sp>
      <p:sp>
        <p:nvSpPr>
          <p:cNvPr id="23" name="Shape 20"/>
          <p:cNvSpPr/>
          <p:nvPr/>
        </p:nvSpPr>
        <p:spPr>
          <a:xfrm>
            <a:off x="6701820" y="1943100"/>
            <a:ext cx="259690" cy="914"/>
          </a:xfrm>
          <a:prstGeom prst="line">
            <a:avLst/>
          </a:prstGeom>
          <a:noFill/>
          <a:ln w="63500">
            <a:solidFill>
              <a:srgbClr val="B4236A"/>
            </a:solidFill>
            <a:prstDash val="solid"/>
          </a:ln>
        </p:spPr>
      </p:sp>
      <p:sp>
        <p:nvSpPr>
          <p:cNvPr id="24" name="Shape 21"/>
          <p:cNvSpPr/>
          <p:nvPr/>
        </p:nvSpPr>
        <p:spPr>
          <a:xfrm>
            <a:off x="6831665" y="1813255"/>
            <a:ext cx="914" cy="259690"/>
          </a:xfrm>
          <a:prstGeom prst="line">
            <a:avLst/>
          </a:prstGeom>
          <a:noFill/>
          <a:ln w="63500">
            <a:solidFill>
              <a:srgbClr val="B4236A"/>
            </a:solidFill>
            <a:prstDash val="solid"/>
          </a:ln>
        </p:spPr>
      </p:sp>
      <p:sp>
        <p:nvSpPr>
          <p:cNvPr id="25" name="Text 22"/>
          <p:cNvSpPr txBox="1"/>
          <p:nvPr/>
        </p:nvSpPr>
        <p:spPr>
          <a:xfrm>
            <a:off x="7168896" y="1600200"/>
            <a:ext cx="4334256" cy="685800"/>
          </a:xfrm>
          <a:prstGeom prst="rect">
            <a:avLst/>
          </a:prstGeom>
          <a:noFill/>
          <a:ln/>
        </p:spPr>
        <p:txBody>
          <a:bodyPr wrap="square" lIns="0" tIns="0" rIns="0" bIns="0" rtlCol="0" anchor="ctr"/>
          <a:lstStyle/>
          <a:p>
            <a:pPr algn="l" indent="0" marL="0">
              <a:buNone/>
            </a:pPr>
            <a:r>
              <a:rPr lang="en-US" sz="3000" b="1" dirty="0">
                <a:solidFill>
                  <a:schemeClr val="accent4"/>
                </a:solidFill>
                <a:latin typeface="+mj-lt" pitchFamily="34" charset="0"/>
                <a:ea typeface="+mj-lt" pitchFamily="34" charset="-122"/>
                <a:cs typeface="+mj-lt" pitchFamily="34" charset="-120"/>
              </a:rPr>
              <a:t>BIJ-</a:t>
            </a:r>
            <a:endParaRPr lang="en-US" sz="3000" dirty="0"/>
          </a:p>
        </p:txBody>
      </p:sp>
      <p:sp>
        <p:nvSpPr>
          <p:cNvPr id="26" name="Text 23"/>
          <p:cNvSpPr txBox="1"/>
          <p:nvPr/>
        </p:nvSpPr>
        <p:spPr>
          <a:xfrm>
            <a:off x="6391656" y="2441448"/>
            <a:ext cx="5111496" cy="1097280"/>
          </a:xfrm>
          <a:prstGeom prst="rect">
            <a:avLst/>
          </a:prstGeom>
          <a:noFill/>
          <a:ln/>
        </p:spPr>
        <p:txBody>
          <a:bodyPr wrap="square" lIns="0" tIns="0" rIns="0" bIns="0" rtlCol="0" anchor="ctr"/>
          <a:lstStyle/>
          <a:p>
            <a:pPr algn="l" indent="0" marL="0">
              <a:buNone/>
            </a:pPr>
            <a:r>
              <a:rPr lang="en-US" sz="1500" b="1" dirty="0">
                <a:solidFill>
                  <a:schemeClr val="tx1"/>
                </a:solidFill>
              </a:rPr>
              <a:t>① en plus</a:t>
            </a:r>
            <a:endParaRPr lang="en-US" sz="1500" dirty="0"/>
          </a:p>
          <a:p>
            <a:pPr algn="l" indent="0" marL="0">
              <a:buNone/>
            </a:pPr>
            <a:r>
              <a:rPr lang="en-US" sz="1500" b="1" i="1" dirty="0">
                <a:solidFill>
                  <a:schemeClr val="tx1"/>
                </a:solidFill>
              </a:rPr>
              <a:t>bijleren</a:t>
            </a:r>
            <a:r>
              <a:rPr lang="en-US" sz="1500" dirty="0">
                <a:solidFill>
                  <a:schemeClr val="tx1"/>
                </a:solidFill>
              </a:rPr>
              <a:t> apprendre en plus</a:t>
            </a:r>
            <a:endParaRPr lang="en-US" sz="1500" dirty="0"/>
          </a:p>
          <a:p>
            <a:pPr algn="l" indent="0" marL="0">
              <a:buNone/>
            </a:pPr>
            <a:r>
              <a:rPr lang="en-US" sz="1500" b="1" i="1" dirty="0">
                <a:solidFill>
                  <a:schemeClr val="tx1"/>
                </a:solidFill>
              </a:rPr>
              <a:t>bijverdienen</a:t>
            </a:r>
            <a:r>
              <a:rPr lang="en-US" sz="1500" dirty="0">
                <a:solidFill>
                  <a:schemeClr val="tx1"/>
                </a:solidFill>
              </a:rPr>
              <a:t> gagner en plus</a:t>
            </a:r>
            <a:endParaRPr lang="en-US" sz="1500" dirty="0"/>
          </a:p>
          <a:p>
            <a:pPr algn="l" indent="0" marL="0">
              <a:buNone/>
            </a:pPr>
            <a:r>
              <a:rPr lang="en-US" sz="1500" b="1" i="1" dirty="0">
                <a:solidFill>
                  <a:schemeClr val="tx1"/>
                </a:solidFill>
              </a:rPr>
              <a:t>bijleggen</a:t>
            </a:r>
            <a:r>
              <a:rPr lang="en-US" sz="1500" dirty="0">
                <a:solidFill>
                  <a:schemeClr val="tx1"/>
                </a:solidFill>
              </a:rPr>
              <a:t> ajouter (de l’argent) ; régler (un conflit)</a:t>
            </a:r>
            <a:endParaRPr lang="en-US" sz="1500" dirty="0"/>
          </a:p>
        </p:txBody>
      </p:sp>
      <p:sp>
        <p:nvSpPr>
          <p:cNvPr id="27" name="Shape 24"/>
          <p:cNvSpPr/>
          <p:nvPr/>
        </p:nvSpPr>
        <p:spPr>
          <a:xfrm>
            <a:off x="6391656" y="3538728"/>
            <a:ext cx="5065776" cy="914"/>
          </a:xfrm>
          <a:prstGeom prst="line">
            <a:avLst/>
          </a:prstGeom>
          <a:noFill/>
          <a:ln w="9525">
            <a:solidFill>
              <a:srgbClr val="D5DCE6"/>
            </a:solidFill>
            <a:prstDash val="solid"/>
          </a:ln>
        </p:spPr>
      </p:sp>
      <p:sp>
        <p:nvSpPr>
          <p:cNvPr id="28" name="Text 25"/>
          <p:cNvSpPr txBox="1"/>
          <p:nvPr/>
        </p:nvSpPr>
        <p:spPr>
          <a:xfrm>
            <a:off x="6391656" y="3538728"/>
            <a:ext cx="5111496" cy="1097280"/>
          </a:xfrm>
          <a:prstGeom prst="rect">
            <a:avLst/>
          </a:prstGeom>
          <a:noFill/>
          <a:ln/>
        </p:spPr>
        <p:txBody>
          <a:bodyPr wrap="square" lIns="0" tIns="0" rIns="0" bIns="0" rtlCol="0" anchor="ctr"/>
          <a:lstStyle/>
          <a:p>
            <a:pPr algn="l" indent="0" marL="0">
              <a:buNone/>
            </a:pPr>
            <a:r>
              <a:rPr lang="en-US" sz="1500" b="1" dirty="0">
                <a:solidFill>
                  <a:schemeClr val="tx1"/>
                </a:solidFill>
              </a:rPr>
              <a:t>② être présent, aider</a:t>
            </a:r>
            <a:endParaRPr lang="en-US" sz="1500" dirty="0"/>
          </a:p>
          <a:p>
            <a:pPr algn="l" indent="0" marL="0">
              <a:buNone/>
            </a:pPr>
            <a:r>
              <a:rPr lang="en-US" sz="1500" b="1" i="1" dirty="0">
                <a:solidFill>
                  <a:schemeClr val="tx1"/>
                </a:solidFill>
              </a:rPr>
              <a:t>bijwonen</a:t>
            </a:r>
            <a:r>
              <a:rPr lang="en-US" sz="1500" dirty="0">
                <a:solidFill>
                  <a:schemeClr val="tx1"/>
                </a:solidFill>
              </a:rPr>
              <a:t> assister à</a:t>
            </a:r>
            <a:endParaRPr lang="en-US" sz="1500" dirty="0"/>
          </a:p>
          <a:p>
            <a:pPr algn="l" indent="0" marL="0">
              <a:buNone/>
            </a:pPr>
            <a:r>
              <a:rPr lang="en-US" sz="1500" b="1" i="1" dirty="0">
                <a:solidFill>
                  <a:schemeClr val="tx1"/>
                </a:solidFill>
              </a:rPr>
              <a:t>bijdragen</a:t>
            </a:r>
            <a:r>
              <a:rPr lang="en-US" sz="1500" dirty="0">
                <a:solidFill>
                  <a:schemeClr val="tx1"/>
                </a:solidFill>
              </a:rPr>
              <a:t> contribuer</a:t>
            </a:r>
            <a:endParaRPr lang="en-US" sz="1500" dirty="0"/>
          </a:p>
          <a:p>
            <a:pPr algn="l" indent="0" marL="0">
              <a:buNone/>
            </a:pPr>
            <a:r>
              <a:rPr lang="en-US" sz="1500" b="1" i="1" dirty="0">
                <a:solidFill>
                  <a:schemeClr val="tx1"/>
                </a:solidFill>
              </a:rPr>
              <a:t>bijstaan</a:t>
            </a:r>
            <a:r>
              <a:rPr lang="en-US" sz="1500" dirty="0">
                <a:solidFill>
                  <a:schemeClr val="tx1"/>
                </a:solidFill>
              </a:rPr>
              <a:t> assister qn</a:t>
            </a:r>
            <a:endParaRPr lang="en-US" sz="1500" dirty="0"/>
          </a:p>
        </p:txBody>
      </p:sp>
      <p:sp>
        <p:nvSpPr>
          <p:cNvPr id="29" name="Shape 26"/>
          <p:cNvSpPr/>
          <p:nvPr/>
        </p:nvSpPr>
        <p:spPr>
          <a:xfrm>
            <a:off x="6391656" y="4636008"/>
            <a:ext cx="5065776" cy="914"/>
          </a:xfrm>
          <a:prstGeom prst="line">
            <a:avLst/>
          </a:prstGeom>
          <a:noFill/>
          <a:ln w="9525">
            <a:solidFill>
              <a:srgbClr val="D5DCE6"/>
            </a:solidFill>
            <a:prstDash val="solid"/>
          </a:ln>
        </p:spPr>
      </p:sp>
      <p:sp>
        <p:nvSpPr>
          <p:cNvPr id="30" name="Text 27"/>
          <p:cNvSpPr txBox="1"/>
          <p:nvPr/>
        </p:nvSpPr>
        <p:spPr>
          <a:xfrm>
            <a:off x="6391656" y="4636008"/>
            <a:ext cx="5111496" cy="1097280"/>
          </a:xfrm>
          <a:prstGeom prst="rect">
            <a:avLst/>
          </a:prstGeom>
          <a:noFill/>
          <a:ln/>
        </p:spPr>
        <p:txBody>
          <a:bodyPr wrap="square" lIns="0" tIns="0" rIns="0" bIns="0" rtlCol="0" anchor="ctr"/>
          <a:lstStyle/>
          <a:p>
            <a:pPr algn="l" indent="0" marL="0">
              <a:buNone/>
            </a:pPr>
            <a:r>
              <a:rPr lang="en-US" sz="1500" b="1" dirty="0">
                <a:solidFill>
                  <a:schemeClr val="tx1"/>
                </a:solidFill>
              </a:rPr>
              <a:t>③ mettre à jour</a:t>
            </a:r>
            <a:endParaRPr lang="en-US" sz="1500" dirty="0"/>
          </a:p>
          <a:p>
            <a:pPr algn="l" indent="0" marL="0">
              <a:buNone/>
            </a:pPr>
            <a:r>
              <a:rPr lang="en-US" sz="1500" b="1" i="1" dirty="0">
                <a:solidFill>
                  <a:schemeClr val="tx1"/>
                </a:solidFill>
              </a:rPr>
              <a:t>bijhouden</a:t>
            </a:r>
            <a:r>
              <a:rPr lang="en-US" sz="1500" dirty="0">
                <a:solidFill>
                  <a:schemeClr val="tx1"/>
                </a:solidFill>
              </a:rPr>
              <a:t> tenir à jour</a:t>
            </a:r>
            <a:endParaRPr lang="en-US" sz="1500" dirty="0"/>
          </a:p>
          <a:p>
            <a:pPr algn="l" indent="0" marL="0">
              <a:buNone/>
            </a:pPr>
            <a:r>
              <a:rPr lang="en-US" sz="1500" b="1" i="1" dirty="0">
                <a:solidFill>
                  <a:schemeClr val="tx1"/>
                </a:solidFill>
              </a:rPr>
              <a:t>bijwerken</a:t>
            </a:r>
            <a:r>
              <a:rPr lang="en-US" sz="1500" dirty="0">
                <a:solidFill>
                  <a:schemeClr val="tx1"/>
                </a:solidFill>
              </a:rPr>
              <a:t> mettre à jour</a:t>
            </a:r>
            <a:endParaRPr lang="en-US" sz="1500" dirty="0"/>
          </a:p>
          <a:p>
            <a:pPr algn="l" indent="0" marL="0">
              <a:buNone/>
            </a:pPr>
            <a:r>
              <a:rPr lang="en-US" sz="1500" b="1" i="1" dirty="0">
                <a:solidFill>
                  <a:schemeClr val="tx1"/>
                </a:solidFill>
              </a:rPr>
              <a:t>bijsturen</a:t>
            </a:r>
            <a:r>
              <a:rPr lang="en-US" sz="1500" dirty="0">
                <a:solidFill>
                  <a:schemeClr val="tx1"/>
                </a:solidFill>
              </a:rPr>
              <a:t> corriger le tir</a:t>
            </a:r>
            <a:endParaRPr lang="en-US" sz="1500" dirty="0"/>
          </a:p>
        </p:txBody>
      </p:sp>
      <p:sp>
        <p:nvSpPr>
          <p:cNvPr id="31" name="Shape 28"/>
          <p:cNvSpPr/>
          <p:nvPr/>
        </p:nvSpPr>
        <p:spPr>
          <a:xfrm>
            <a:off x="6318504" y="5715000"/>
            <a:ext cx="5212080" cy="411480"/>
          </a:xfrm>
          <a:prstGeom prst="roundRect">
            <a:avLst>
              <a:gd name="adj" fmla="val 17778"/>
            </a:avLst>
          </a:prstGeom>
          <a:solidFill>
            <a:schemeClr val="accent4">
              <a:alpha val="10000"/>
            </a:schemeClr>
          </a:solidFill>
          <a:ln w="12700">
            <a:solidFill>
              <a:srgbClr val="FFFFFF">
                <a:alpha val="0"/>
              </a:srgbClr>
            </a:solidFill>
            <a:prstDash val="solid"/>
          </a:ln>
        </p:spPr>
      </p:sp>
      <p:sp>
        <p:nvSpPr>
          <p:cNvPr id="32" name="Text 29"/>
          <p:cNvSpPr txBox="1"/>
          <p:nvPr/>
        </p:nvSpPr>
        <p:spPr>
          <a:xfrm>
            <a:off x="6391656" y="5715000"/>
            <a:ext cx="5065776" cy="411480"/>
          </a:xfrm>
          <a:prstGeom prst="rect">
            <a:avLst/>
          </a:prstGeom>
          <a:noFill/>
          <a:ln/>
        </p:spPr>
        <p:txBody>
          <a:bodyPr wrap="square" lIns="0" tIns="0" rIns="0" bIns="0" rtlCol="0" anchor="ctr"/>
          <a:lstStyle/>
          <a:p>
            <a:pPr algn="l" indent="0" marL="0">
              <a:buNone/>
            </a:pPr>
            <a:r>
              <a:rPr lang="en-US" sz="1300" i="1" dirty="0">
                <a:solidFill>
                  <a:schemeClr val="tx1"/>
                </a:solidFill>
              </a:rPr>
              <a:t>Ik heb veel bijgeleerd.</a:t>
            </a:r>
            <a:r>
              <a:rPr lang="en-US" sz="1300" dirty="0">
                <a:solidFill>
                  <a:schemeClr val="tx1"/>
                </a:solidFill>
              </a:rPr>
              <a:t> (très courant en BE)</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TOE- et NA-</a:t>
            </a:r>
            <a:endParaRPr lang="en-US" sz="3000" dirty="0"/>
          </a:p>
        </p:txBody>
      </p:sp>
      <p:sp>
        <p:nvSpPr>
          <p:cNvPr id="3" name="tag"/>
          <p:cNvSpPr/>
          <p:nvPr/>
        </p:nvSpPr>
        <p:spPr>
          <a:xfrm>
            <a:off x="548640" y="237744"/>
            <a:ext cx="1876349"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LES PARTICULES</a:t>
            </a:r>
            <a:endParaRPr lang="en-US" sz="1200" dirty="0"/>
          </a:p>
        </p:txBody>
      </p:sp>
      <p:sp>
        <p:nvSpPr>
          <p:cNvPr id="5" name="Shape 2"/>
          <p:cNvSpPr/>
          <p:nvPr/>
        </p:nvSpPr>
        <p:spPr>
          <a:xfrm>
            <a:off x="548640" y="1508760"/>
            <a:ext cx="5431536" cy="4709160"/>
          </a:xfrm>
          <a:prstGeom prst="roundRect">
            <a:avLst>
              <a:gd name="adj" fmla="val 1942"/>
            </a:avLst>
          </a:prstGeom>
          <a:solidFill>
            <a:schemeClr val="bg1"/>
          </a:solidFill>
          <a:ln w="25400">
            <a:solidFill>
              <a:srgbClr val="0E7C8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08760"/>
            <a:ext cx="5431536" cy="868680"/>
          </a:xfrm>
          <a:prstGeom prst="roundRect">
            <a:avLst>
              <a:gd name="adj" fmla="val 10526"/>
            </a:avLst>
          </a:prstGeom>
          <a:solidFill>
            <a:srgbClr val="0E7C86">
              <a:alpha val="12000"/>
            </a:srgbClr>
          </a:solidFill>
          <a:ln w="12700">
            <a:solidFill>
              <a:srgbClr val="FFFFFF">
                <a:alpha val="0"/>
              </a:srgbClr>
            </a:solidFill>
            <a:prstDash val="solid"/>
          </a:ln>
        </p:spPr>
      </p:sp>
      <p:sp>
        <p:nvSpPr>
          <p:cNvPr id="7" name="Shape 4"/>
          <p:cNvSpPr/>
          <p:nvPr/>
        </p:nvSpPr>
        <p:spPr>
          <a:xfrm>
            <a:off x="685800" y="1600200"/>
            <a:ext cx="685800" cy="685800"/>
          </a:xfrm>
          <a:prstGeom prst="roundRect">
            <a:avLst>
              <a:gd name="adj" fmla="val 10667"/>
            </a:avLst>
          </a:prstGeom>
          <a:solidFill>
            <a:srgbClr val="FFFFFF"/>
          </a:solidFill>
          <a:ln w="12700">
            <a:solidFill>
              <a:srgbClr val="FFFFFF">
                <a:alpha val="0"/>
              </a:srgbClr>
            </a:solidFill>
            <a:prstDash val="solid"/>
          </a:ln>
        </p:spPr>
      </p:sp>
      <p:sp>
        <p:nvSpPr>
          <p:cNvPr id="8" name="Shape 5"/>
          <p:cNvSpPr/>
          <p:nvPr/>
        </p:nvSpPr>
        <p:spPr>
          <a:xfrm>
            <a:off x="1132576" y="1813255"/>
            <a:ext cx="194767" cy="259690"/>
          </a:xfrm>
          <a:prstGeom prst="ellipse">
            <a:avLst/>
          </a:prstGeom>
          <a:noFill/>
          <a:ln w="25400">
            <a:solidFill>
              <a:srgbClr val="17375E"/>
            </a:solidFill>
            <a:prstDash val="solid"/>
          </a:ln>
        </p:spPr>
      </p:sp>
      <p:sp>
        <p:nvSpPr>
          <p:cNvPr id="9" name="Shape 6"/>
          <p:cNvSpPr/>
          <p:nvPr/>
        </p:nvSpPr>
        <p:spPr>
          <a:xfrm>
            <a:off x="1197498" y="1904147"/>
            <a:ext cx="64922" cy="77907"/>
          </a:xfrm>
          <a:prstGeom prst="ellipse">
            <a:avLst/>
          </a:prstGeom>
          <a:solidFill>
            <a:schemeClr val="tx2"/>
          </a:solidFill>
          <a:ln w="12700">
            <a:solidFill>
              <a:srgbClr val="FFFFFF">
                <a:alpha val="0"/>
              </a:srgbClr>
            </a:solidFill>
            <a:prstDash val="solid"/>
          </a:ln>
        </p:spPr>
      </p:sp>
      <p:sp>
        <p:nvSpPr>
          <p:cNvPr id="10" name="Shape 7"/>
          <p:cNvSpPr/>
          <p:nvPr/>
        </p:nvSpPr>
        <p:spPr>
          <a:xfrm>
            <a:off x="730057" y="1943100"/>
            <a:ext cx="428488" cy="914"/>
          </a:xfrm>
          <a:prstGeom prst="line">
            <a:avLst/>
          </a:prstGeom>
          <a:noFill/>
          <a:ln w="44450">
            <a:solidFill>
              <a:srgbClr val="0E7C86"/>
            </a:solidFill>
            <a:prstDash val="solid"/>
            <a:tailEnd type="triangle"/>
          </a:ln>
        </p:spPr>
      </p:sp>
      <p:sp>
        <p:nvSpPr>
          <p:cNvPr id="11" name="Text 8"/>
          <p:cNvSpPr txBox="1"/>
          <p:nvPr/>
        </p:nvSpPr>
        <p:spPr>
          <a:xfrm>
            <a:off x="1508760" y="1600200"/>
            <a:ext cx="4334256" cy="685800"/>
          </a:xfrm>
          <a:prstGeom prst="rect">
            <a:avLst/>
          </a:prstGeom>
          <a:noFill/>
          <a:ln/>
        </p:spPr>
        <p:txBody>
          <a:bodyPr wrap="square" lIns="0" tIns="0" rIns="0" bIns="0" rtlCol="0" anchor="ctr"/>
          <a:lstStyle/>
          <a:p>
            <a:pPr algn="l" indent="0" marL="0">
              <a:buNone/>
            </a:pPr>
            <a:r>
              <a:rPr lang="en-US" sz="3000" b="1" dirty="0">
                <a:solidFill>
                  <a:srgbClr val="0E7C86"/>
                </a:solidFill>
                <a:latin typeface="+mj-lt" pitchFamily="34" charset="0"/>
                <a:ea typeface="+mj-lt" pitchFamily="34" charset="-122"/>
                <a:cs typeface="+mj-lt" pitchFamily="34" charset="-120"/>
              </a:rPr>
              <a:t>TOE-</a:t>
            </a:r>
            <a:endParaRPr lang="en-US" sz="3000" dirty="0"/>
          </a:p>
        </p:txBody>
      </p:sp>
      <p:sp>
        <p:nvSpPr>
          <p:cNvPr id="12" name="Text 9"/>
          <p:cNvSpPr txBox="1"/>
          <p:nvPr/>
        </p:nvSpPr>
        <p:spPr>
          <a:xfrm>
            <a:off x="731520" y="2441448"/>
            <a:ext cx="5111496" cy="1097280"/>
          </a:xfrm>
          <a:prstGeom prst="rect">
            <a:avLst/>
          </a:prstGeom>
          <a:noFill/>
          <a:ln/>
        </p:spPr>
        <p:txBody>
          <a:bodyPr wrap="square" lIns="0" tIns="0" rIns="0" bIns="0" rtlCol="0" anchor="ctr"/>
          <a:lstStyle/>
          <a:p>
            <a:pPr algn="l" indent="0" marL="0">
              <a:buNone/>
            </a:pPr>
            <a:r>
              <a:rPr lang="en-US" sz="1500" b="1" dirty="0">
                <a:solidFill>
                  <a:schemeClr val="tx1"/>
                </a:solidFill>
              </a:rPr>
              <a:t>① vers</a:t>
            </a:r>
            <a:endParaRPr lang="en-US" sz="1500" dirty="0"/>
          </a:p>
          <a:p>
            <a:pPr algn="l" indent="0" marL="0">
              <a:buNone/>
            </a:pPr>
            <a:r>
              <a:rPr lang="en-US" sz="1500" b="1" i="1" dirty="0">
                <a:solidFill>
                  <a:schemeClr val="tx1"/>
                </a:solidFill>
              </a:rPr>
              <a:t>toekijken</a:t>
            </a:r>
            <a:r>
              <a:rPr lang="en-US" sz="1500" dirty="0">
                <a:solidFill>
                  <a:schemeClr val="tx1"/>
                </a:solidFill>
              </a:rPr>
              <a:t> regarder sans agir</a:t>
            </a:r>
            <a:endParaRPr lang="en-US" sz="1500" dirty="0"/>
          </a:p>
          <a:p>
            <a:pPr algn="l" indent="0" marL="0">
              <a:buNone/>
            </a:pPr>
            <a:r>
              <a:rPr lang="en-US" sz="1500" b="1" i="1" dirty="0">
                <a:solidFill>
                  <a:schemeClr val="tx1"/>
                </a:solidFill>
              </a:rPr>
              <a:t>toespreken</a:t>
            </a:r>
            <a:r>
              <a:rPr lang="en-US" sz="1500" dirty="0">
                <a:solidFill>
                  <a:schemeClr val="tx1"/>
                </a:solidFill>
              </a:rPr>
              <a:t> s’adresser à (un public)</a:t>
            </a:r>
            <a:endParaRPr lang="en-US" sz="1500" dirty="0"/>
          </a:p>
          <a:p>
            <a:pPr algn="l" indent="0" marL="0">
              <a:buNone/>
            </a:pPr>
            <a:r>
              <a:rPr lang="en-US" sz="1500" b="1" i="1" dirty="0">
                <a:solidFill>
                  <a:schemeClr val="tx1"/>
                </a:solidFill>
              </a:rPr>
              <a:t>toelichten</a:t>
            </a:r>
            <a:r>
              <a:rPr lang="en-US" sz="1500" dirty="0">
                <a:solidFill>
                  <a:schemeClr val="tx1"/>
                </a:solidFill>
              </a:rPr>
              <a:t> commenter, expliquer</a:t>
            </a:r>
            <a:endParaRPr lang="en-US" sz="1500" dirty="0"/>
          </a:p>
        </p:txBody>
      </p:sp>
      <p:sp>
        <p:nvSpPr>
          <p:cNvPr id="13" name="Shape 10"/>
          <p:cNvSpPr/>
          <p:nvPr/>
        </p:nvSpPr>
        <p:spPr>
          <a:xfrm>
            <a:off x="731520" y="3538728"/>
            <a:ext cx="5065776" cy="914"/>
          </a:xfrm>
          <a:prstGeom prst="line">
            <a:avLst/>
          </a:prstGeom>
          <a:noFill/>
          <a:ln w="9525">
            <a:solidFill>
              <a:srgbClr val="D5DCE6"/>
            </a:solidFill>
            <a:prstDash val="solid"/>
          </a:ln>
        </p:spPr>
      </p:sp>
      <p:sp>
        <p:nvSpPr>
          <p:cNvPr id="14" name="Text 11"/>
          <p:cNvSpPr txBox="1"/>
          <p:nvPr/>
        </p:nvSpPr>
        <p:spPr>
          <a:xfrm>
            <a:off x="731520" y="3538728"/>
            <a:ext cx="5111496" cy="1335819"/>
          </a:xfrm>
          <a:prstGeom prst="rect">
            <a:avLst/>
          </a:prstGeom>
          <a:noFill/>
          <a:ln/>
        </p:spPr>
        <p:txBody>
          <a:bodyPr wrap="square" lIns="0" tIns="0" rIns="0" bIns="0" rtlCol="0" anchor="ctr"/>
          <a:lstStyle/>
          <a:p>
            <a:pPr algn="l" indent="0" marL="0">
              <a:buNone/>
            </a:pPr>
            <a:r>
              <a:rPr lang="en-US" sz="1500" b="1" dirty="0">
                <a:solidFill>
                  <a:schemeClr val="tx1"/>
                </a:solidFill>
              </a:rPr>
              <a:t>② en plus, permettre</a:t>
            </a:r>
            <a:endParaRPr lang="en-US" sz="1500" dirty="0"/>
          </a:p>
          <a:p>
            <a:pPr algn="l" indent="0" marL="0">
              <a:buNone/>
            </a:pPr>
            <a:r>
              <a:rPr lang="en-US" sz="1500" b="1" i="1" dirty="0">
                <a:solidFill>
                  <a:schemeClr val="tx1"/>
                </a:solidFill>
              </a:rPr>
              <a:t>toevoegen</a:t>
            </a:r>
            <a:r>
              <a:rPr lang="en-US" sz="1500" dirty="0">
                <a:solidFill>
                  <a:schemeClr val="tx1"/>
                </a:solidFill>
              </a:rPr>
              <a:t> ajouter</a:t>
            </a:r>
            <a:endParaRPr lang="en-US" sz="1500" dirty="0"/>
          </a:p>
          <a:p>
            <a:pPr algn="l" indent="0" marL="0">
              <a:buNone/>
            </a:pPr>
            <a:r>
              <a:rPr lang="en-US" sz="1500" b="1" i="1" dirty="0">
                <a:solidFill>
                  <a:schemeClr val="tx1"/>
                </a:solidFill>
              </a:rPr>
              <a:t>toenemen</a:t>
            </a:r>
            <a:r>
              <a:rPr lang="en-US" sz="1500" dirty="0">
                <a:solidFill>
                  <a:schemeClr val="tx1"/>
                </a:solidFill>
              </a:rPr>
              <a:t> augmenter</a:t>
            </a:r>
            <a:endParaRPr lang="en-US" sz="1500" dirty="0"/>
          </a:p>
          <a:p>
            <a:pPr algn="l" indent="0" marL="0">
              <a:buNone/>
            </a:pPr>
            <a:r>
              <a:rPr lang="en-US" sz="1500" b="1" i="1" dirty="0">
                <a:solidFill>
                  <a:schemeClr val="tx1"/>
                </a:solidFill>
              </a:rPr>
              <a:t>toegeven</a:t>
            </a:r>
            <a:r>
              <a:rPr lang="en-US" sz="1500" dirty="0">
                <a:solidFill>
                  <a:schemeClr val="tx1"/>
                </a:solidFill>
              </a:rPr>
              <a:t> avouer ; céder</a:t>
            </a:r>
            <a:endParaRPr lang="en-US" sz="1500" dirty="0"/>
          </a:p>
          <a:p>
            <a:pPr algn="l" indent="0" marL="0">
              <a:buNone/>
            </a:pPr>
            <a:r>
              <a:rPr lang="en-US" sz="1500" b="1" i="1" dirty="0">
                <a:solidFill>
                  <a:schemeClr val="tx1"/>
                </a:solidFill>
              </a:rPr>
              <a:t>toestaan</a:t>
            </a:r>
            <a:r>
              <a:rPr lang="en-US" sz="1500" dirty="0">
                <a:solidFill>
                  <a:schemeClr val="tx1"/>
                </a:solidFill>
              </a:rPr>
              <a:t> permettre</a:t>
            </a:r>
            <a:endParaRPr lang="en-US" sz="1500" dirty="0"/>
          </a:p>
        </p:txBody>
      </p:sp>
      <p:sp>
        <p:nvSpPr>
          <p:cNvPr id="15" name="Shape 12"/>
          <p:cNvSpPr/>
          <p:nvPr/>
        </p:nvSpPr>
        <p:spPr>
          <a:xfrm>
            <a:off x="731520" y="4874547"/>
            <a:ext cx="5065776" cy="914"/>
          </a:xfrm>
          <a:prstGeom prst="line">
            <a:avLst/>
          </a:prstGeom>
          <a:noFill/>
          <a:ln w="9525">
            <a:solidFill>
              <a:srgbClr val="D5DCE6"/>
            </a:solidFill>
            <a:prstDash val="solid"/>
          </a:ln>
        </p:spPr>
      </p:sp>
      <p:sp>
        <p:nvSpPr>
          <p:cNvPr id="16" name="Text 13"/>
          <p:cNvSpPr txBox="1"/>
          <p:nvPr/>
        </p:nvSpPr>
        <p:spPr>
          <a:xfrm>
            <a:off x="731520" y="4874547"/>
            <a:ext cx="5111496" cy="858741"/>
          </a:xfrm>
          <a:prstGeom prst="rect">
            <a:avLst/>
          </a:prstGeom>
          <a:noFill/>
          <a:ln/>
        </p:spPr>
        <p:txBody>
          <a:bodyPr wrap="square" lIns="0" tIns="0" rIns="0" bIns="0" rtlCol="0" anchor="ctr"/>
          <a:lstStyle/>
          <a:p>
            <a:pPr algn="l" indent="0" marL="0">
              <a:buNone/>
            </a:pPr>
            <a:r>
              <a:rPr lang="en-US" sz="1500" b="1" dirty="0">
                <a:solidFill>
                  <a:schemeClr val="tx1"/>
                </a:solidFill>
              </a:rPr>
              <a:t>③ fermé (surtout BE)</a:t>
            </a:r>
            <a:endParaRPr lang="en-US" sz="1500" dirty="0"/>
          </a:p>
          <a:p>
            <a:pPr algn="l" indent="0" marL="0">
              <a:buNone/>
            </a:pPr>
            <a:r>
              <a:rPr lang="en-US" sz="1500" b="1" i="1" dirty="0">
                <a:solidFill>
                  <a:schemeClr val="tx1"/>
                </a:solidFill>
              </a:rPr>
              <a:t>toedoen</a:t>
            </a:r>
            <a:r>
              <a:rPr lang="en-US" sz="1500" dirty="0">
                <a:solidFill>
                  <a:schemeClr val="tx1"/>
                </a:solidFill>
              </a:rPr>
              <a:t> fermer</a:t>
            </a:r>
            <a:endParaRPr lang="en-US" sz="1500" dirty="0"/>
          </a:p>
          <a:p>
            <a:pPr algn="l" indent="0" marL="0">
              <a:buNone/>
            </a:pPr>
            <a:r>
              <a:rPr lang="en-US" sz="1500" b="1" i="1" dirty="0">
                <a:solidFill>
                  <a:schemeClr val="tx1"/>
                </a:solidFill>
              </a:rPr>
              <a:t>toeknopen</a:t>
            </a:r>
            <a:r>
              <a:rPr lang="en-US" sz="1500" dirty="0">
                <a:solidFill>
                  <a:schemeClr val="tx1"/>
                </a:solidFill>
              </a:rPr>
              <a:t> boutonner</a:t>
            </a:r>
            <a:endParaRPr lang="en-US" sz="1500" dirty="0"/>
          </a:p>
        </p:txBody>
      </p:sp>
      <p:sp>
        <p:nvSpPr>
          <p:cNvPr id="17" name="Shape 14"/>
          <p:cNvSpPr/>
          <p:nvPr/>
        </p:nvSpPr>
        <p:spPr>
          <a:xfrm>
            <a:off x="658368" y="5715000"/>
            <a:ext cx="5212080" cy="411480"/>
          </a:xfrm>
          <a:prstGeom prst="roundRect">
            <a:avLst>
              <a:gd name="adj" fmla="val 17778"/>
            </a:avLst>
          </a:prstGeom>
          <a:solidFill>
            <a:srgbClr val="0E7C86">
              <a:alpha val="10000"/>
            </a:srgbClr>
          </a:solidFill>
          <a:ln w="12700">
            <a:solidFill>
              <a:srgbClr val="FFFFFF">
                <a:alpha val="0"/>
              </a:srgbClr>
            </a:solidFill>
            <a:prstDash val="solid"/>
          </a:ln>
        </p:spPr>
      </p:sp>
      <p:sp>
        <p:nvSpPr>
          <p:cNvPr id="18" name="Text 15"/>
          <p:cNvSpPr txBox="1"/>
          <p:nvPr/>
        </p:nvSpPr>
        <p:spPr>
          <a:xfrm>
            <a:off x="731520" y="5715000"/>
            <a:ext cx="5065776" cy="411480"/>
          </a:xfrm>
          <a:prstGeom prst="rect">
            <a:avLst/>
          </a:prstGeom>
          <a:noFill/>
          <a:ln/>
        </p:spPr>
        <p:txBody>
          <a:bodyPr wrap="square" lIns="0" tIns="0" rIns="0" bIns="0" rtlCol="0" anchor="ctr"/>
          <a:lstStyle/>
          <a:p>
            <a:pPr algn="l" indent="0" marL="0">
              <a:buNone/>
            </a:pPr>
            <a:r>
              <a:rPr lang="en-US" sz="1300" dirty="0">
                <a:solidFill>
                  <a:schemeClr val="tx1"/>
                </a:solidFill>
              </a:rPr>
              <a:t>standard (BE + NL) : </a:t>
            </a:r>
            <a:r>
              <a:rPr lang="en-US" sz="1300" i="1" dirty="0">
                <a:solidFill>
                  <a:schemeClr val="tx1"/>
                </a:solidFill>
              </a:rPr>
              <a:t>dichtdoen</a:t>
            </a:r>
            <a:r>
              <a:rPr lang="en-US" sz="1300" dirty="0">
                <a:solidFill>
                  <a:schemeClr val="tx1"/>
                </a:solidFill>
              </a:rPr>
              <a:t> · </a:t>
            </a:r>
            <a:r>
              <a:rPr lang="en-US" sz="1300" i="1" dirty="0">
                <a:solidFill>
                  <a:schemeClr val="tx1"/>
                </a:solidFill>
              </a:rPr>
              <a:t>toepassen</a:t>
            </a:r>
            <a:r>
              <a:rPr lang="en-US" sz="1300" dirty="0">
                <a:solidFill>
                  <a:schemeClr val="tx1"/>
                </a:solidFill>
              </a:rPr>
              <a:t> : appliquer</a:t>
            </a:r>
            <a:endParaRPr lang="en-US" sz="1300" dirty="0"/>
          </a:p>
        </p:txBody>
      </p:sp>
      <p:sp>
        <p:nvSpPr>
          <p:cNvPr id="19" name="Shape 16"/>
          <p:cNvSpPr/>
          <p:nvPr/>
        </p:nvSpPr>
        <p:spPr>
          <a:xfrm>
            <a:off x="6208776" y="1508760"/>
            <a:ext cx="5431536" cy="4709160"/>
          </a:xfrm>
          <a:prstGeom prst="roundRect">
            <a:avLst>
              <a:gd name="adj" fmla="val 1942"/>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6208776" y="1508760"/>
            <a:ext cx="5431536" cy="868680"/>
          </a:xfrm>
          <a:prstGeom prst="roundRect">
            <a:avLst>
              <a:gd name="adj" fmla="val 10526"/>
            </a:avLst>
          </a:prstGeom>
          <a:solidFill>
            <a:schemeClr val="tx2">
              <a:alpha val="12000"/>
            </a:schemeClr>
          </a:solidFill>
          <a:ln w="12700">
            <a:solidFill>
              <a:srgbClr val="FFFFFF">
                <a:alpha val="0"/>
              </a:srgbClr>
            </a:solidFill>
            <a:prstDash val="solid"/>
          </a:ln>
        </p:spPr>
      </p:sp>
      <p:sp>
        <p:nvSpPr>
          <p:cNvPr id="21" name="Shape 18"/>
          <p:cNvSpPr/>
          <p:nvPr/>
        </p:nvSpPr>
        <p:spPr>
          <a:xfrm>
            <a:off x="6345936" y="1600200"/>
            <a:ext cx="685800" cy="685800"/>
          </a:xfrm>
          <a:prstGeom prst="roundRect">
            <a:avLst>
              <a:gd name="adj" fmla="val 10667"/>
            </a:avLst>
          </a:prstGeom>
          <a:solidFill>
            <a:srgbClr val="FFFFFF"/>
          </a:solidFill>
          <a:ln w="12700">
            <a:solidFill>
              <a:srgbClr val="FFFFFF">
                <a:alpha val="0"/>
              </a:srgbClr>
            </a:solidFill>
            <a:prstDash val="solid"/>
          </a:ln>
        </p:spPr>
      </p:sp>
      <p:sp>
        <p:nvSpPr>
          <p:cNvPr id="22" name="Shape 19"/>
          <p:cNvSpPr/>
          <p:nvPr/>
        </p:nvSpPr>
        <p:spPr>
          <a:xfrm>
            <a:off x="6675852" y="1845716"/>
            <a:ext cx="305135" cy="914"/>
          </a:xfrm>
          <a:prstGeom prst="line">
            <a:avLst/>
          </a:prstGeom>
          <a:noFill/>
          <a:ln w="38100">
            <a:solidFill>
              <a:srgbClr val="8A96A8"/>
            </a:solidFill>
            <a:prstDash val="solid"/>
            <a:tailEnd type="triangle"/>
          </a:ln>
        </p:spPr>
      </p:sp>
      <p:sp>
        <p:nvSpPr>
          <p:cNvPr id="23" name="Shape 20"/>
          <p:cNvSpPr/>
          <p:nvPr/>
        </p:nvSpPr>
        <p:spPr>
          <a:xfrm>
            <a:off x="6396685" y="2040484"/>
            <a:ext cx="305135" cy="914"/>
          </a:xfrm>
          <a:prstGeom prst="line">
            <a:avLst/>
          </a:prstGeom>
          <a:noFill/>
          <a:ln w="44450">
            <a:solidFill>
              <a:srgbClr val="17375E"/>
            </a:solidFill>
            <a:prstDash val="solid"/>
            <a:tailEnd type="triangle"/>
          </a:ln>
        </p:spPr>
      </p:sp>
      <p:sp>
        <p:nvSpPr>
          <p:cNvPr id="24" name="Text 21"/>
          <p:cNvSpPr txBox="1"/>
          <p:nvPr/>
        </p:nvSpPr>
        <p:spPr>
          <a:xfrm>
            <a:off x="7168896" y="1600200"/>
            <a:ext cx="4334256" cy="685800"/>
          </a:xfrm>
          <a:prstGeom prst="rect">
            <a:avLst/>
          </a:prstGeom>
          <a:noFill/>
          <a:ln/>
        </p:spPr>
        <p:txBody>
          <a:bodyPr wrap="square" lIns="0" tIns="0" rIns="0" bIns="0" rtlCol="0" anchor="ctr"/>
          <a:lstStyle/>
          <a:p>
            <a:pPr algn="l" indent="0" marL="0">
              <a:buNone/>
            </a:pPr>
            <a:r>
              <a:rPr lang="en-US" sz="3000" b="1" dirty="0">
                <a:solidFill>
                  <a:schemeClr val="tx2"/>
                </a:solidFill>
                <a:latin typeface="+mj-lt" pitchFamily="34" charset="0"/>
                <a:ea typeface="+mj-lt" pitchFamily="34" charset="-122"/>
                <a:cs typeface="+mj-lt" pitchFamily="34" charset="-120"/>
              </a:rPr>
              <a:t>NA-</a:t>
            </a:r>
            <a:endParaRPr lang="en-US" sz="3000" dirty="0"/>
          </a:p>
        </p:txBody>
      </p:sp>
      <p:sp>
        <p:nvSpPr>
          <p:cNvPr id="25" name="Text 22"/>
          <p:cNvSpPr txBox="1"/>
          <p:nvPr/>
        </p:nvSpPr>
        <p:spPr>
          <a:xfrm>
            <a:off x="6391656" y="2441448"/>
            <a:ext cx="5111496" cy="1023139"/>
          </a:xfrm>
          <a:prstGeom prst="rect">
            <a:avLst/>
          </a:prstGeom>
          <a:noFill/>
          <a:ln/>
        </p:spPr>
        <p:txBody>
          <a:bodyPr wrap="square" lIns="0" tIns="0" rIns="0" bIns="0" rtlCol="0" anchor="ctr"/>
          <a:lstStyle/>
          <a:p>
            <a:pPr algn="l" indent="0" marL="0">
              <a:buNone/>
            </a:pPr>
            <a:r>
              <a:rPr lang="en-US" sz="1500" b="1" dirty="0">
                <a:solidFill>
                  <a:schemeClr val="tx1"/>
                </a:solidFill>
              </a:rPr>
              <a:t>① après</a:t>
            </a:r>
            <a:endParaRPr lang="en-US" sz="1500" dirty="0"/>
          </a:p>
          <a:p>
            <a:pPr algn="l" indent="0" marL="0">
              <a:buNone/>
            </a:pPr>
            <a:r>
              <a:rPr lang="en-US" sz="1500" b="1" i="1" dirty="0">
                <a:solidFill>
                  <a:schemeClr val="tx1"/>
                </a:solidFill>
              </a:rPr>
              <a:t>nadenken</a:t>
            </a:r>
            <a:r>
              <a:rPr lang="en-US" sz="1500" dirty="0">
                <a:solidFill>
                  <a:schemeClr val="tx1"/>
                </a:solidFill>
              </a:rPr>
              <a:t> réfléchir</a:t>
            </a:r>
            <a:endParaRPr lang="en-US" sz="1500" dirty="0"/>
          </a:p>
          <a:p>
            <a:pPr algn="l" indent="0" marL="0">
              <a:buNone/>
            </a:pPr>
            <a:r>
              <a:rPr lang="en-US" sz="1500" b="1" i="1" dirty="0">
                <a:solidFill>
                  <a:schemeClr val="tx1"/>
                </a:solidFill>
              </a:rPr>
              <a:t>nakomen</a:t>
            </a:r>
            <a:r>
              <a:rPr lang="en-US" sz="1500" dirty="0">
                <a:solidFill>
                  <a:schemeClr val="tx1"/>
                </a:solidFill>
              </a:rPr>
              <a:t> rejoindre plus tard ; tenir (une promesse)</a:t>
            </a:r>
            <a:endParaRPr lang="en-US" sz="1500" dirty="0"/>
          </a:p>
          <a:p>
            <a:pPr algn="l" indent="0" marL="0">
              <a:buNone/>
            </a:pPr>
            <a:r>
              <a:rPr lang="en-US" sz="1500" b="1" i="1" dirty="0">
                <a:solidFill>
                  <a:schemeClr val="tx1"/>
                </a:solidFill>
              </a:rPr>
              <a:t>nasturen</a:t>
            </a:r>
            <a:r>
              <a:rPr lang="en-US" sz="1500" dirty="0">
                <a:solidFill>
                  <a:schemeClr val="tx1"/>
                </a:solidFill>
              </a:rPr>
              <a:t> faire suivre</a:t>
            </a:r>
            <a:endParaRPr lang="en-US" sz="1500" dirty="0"/>
          </a:p>
        </p:txBody>
      </p:sp>
      <p:sp>
        <p:nvSpPr>
          <p:cNvPr id="26" name="Shape 23"/>
          <p:cNvSpPr/>
          <p:nvPr/>
        </p:nvSpPr>
        <p:spPr>
          <a:xfrm>
            <a:off x="6391656" y="3464587"/>
            <a:ext cx="5065776" cy="914"/>
          </a:xfrm>
          <a:prstGeom prst="line">
            <a:avLst/>
          </a:prstGeom>
          <a:noFill/>
          <a:ln w="9525">
            <a:solidFill>
              <a:srgbClr val="D5DCE6"/>
            </a:solidFill>
            <a:prstDash val="solid"/>
          </a:ln>
        </p:spPr>
      </p:sp>
      <p:sp>
        <p:nvSpPr>
          <p:cNvPr id="27" name="Text 24"/>
          <p:cNvSpPr txBox="1"/>
          <p:nvPr/>
        </p:nvSpPr>
        <p:spPr>
          <a:xfrm>
            <a:off x="6391656" y="3464587"/>
            <a:ext cx="5111496" cy="1023139"/>
          </a:xfrm>
          <a:prstGeom prst="rect">
            <a:avLst/>
          </a:prstGeom>
          <a:noFill/>
          <a:ln/>
        </p:spPr>
        <p:txBody>
          <a:bodyPr wrap="square" lIns="0" tIns="0" rIns="0" bIns="0" rtlCol="0" anchor="ctr"/>
          <a:lstStyle/>
          <a:p>
            <a:pPr algn="l" indent="0" marL="0">
              <a:buNone/>
            </a:pPr>
            <a:r>
              <a:rPr lang="en-US" sz="1500" b="1" dirty="0">
                <a:solidFill>
                  <a:schemeClr val="tx1"/>
                </a:solidFill>
              </a:rPr>
              <a:t>② imiter</a:t>
            </a:r>
            <a:endParaRPr lang="en-US" sz="1500" dirty="0"/>
          </a:p>
          <a:p>
            <a:pPr algn="l" indent="0" marL="0">
              <a:buNone/>
            </a:pPr>
            <a:r>
              <a:rPr lang="en-US" sz="1500" b="1" i="1" dirty="0">
                <a:solidFill>
                  <a:schemeClr val="tx1"/>
                </a:solidFill>
              </a:rPr>
              <a:t>nadoen</a:t>
            </a:r>
            <a:r>
              <a:rPr lang="en-US" sz="1500" dirty="0">
                <a:solidFill>
                  <a:schemeClr val="tx1"/>
                </a:solidFill>
              </a:rPr>
              <a:t> imiter</a:t>
            </a:r>
            <a:endParaRPr lang="en-US" sz="1500" dirty="0"/>
          </a:p>
          <a:p>
            <a:pPr algn="l" indent="0" marL="0">
              <a:buNone/>
            </a:pPr>
            <a:r>
              <a:rPr lang="en-US" sz="1500" b="1" i="1" dirty="0">
                <a:solidFill>
                  <a:schemeClr val="tx1"/>
                </a:solidFill>
              </a:rPr>
              <a:t>nazeggen</a:t>
            </a:r>
            <a:r>
              <a:rPr lang="en-US" sz="1500" dirty="0">
                <a:solidFill>
                  <a:schemeClr val="tx1"/>
                </a:solidFill>
              </a:rPr>
              <a:t> répéter après qn</a:t>
            </a:r>
            <a:endParaRPr lang="en-US" sz="1500" dirty="0"/>
          </a:p>
          <a:p>
            <a:pPr algn="l" indent="0" marL="0">
              <a:buNone/>
            </a:pPr>
            <a:r>
              <a:rPr lang="en-US" sz="1500" b="1" i="1" dirty="0">
                <a:solidFill>
                  <a:schemeClr val="tx1"/>
                </a:solidFill>
              </a:rPr>
              <a:t>nabootsen</a:t>
            </a:r>
            <a:r>
              <a:rPr lang="en-US" sz="1500" dirty="0">
                <a:solidFill>
                  <a:schemeClr val="tx1"/>
                </a:solidFill>
              </a:rPr>
              <a:t> imiter</a:t>
            </a:r>
            <a:endParaRPr lang="en-US" sz="1500" dirty="0"/>
          </a:p>
        </p:txBody>
      </p:sp>
      <p:sp>
        <p:nvSpPr>
          <p:cNvPr id="28" name="Shape 25"/>
          <p:cNvSpPr/>
          <p:nvPr/>
        </p:nvSpPr>
        <p:spPr>
          <a:xfrm>
            <a:off x="6391656" y="4487727"/>
            <a:ext cx="5065776" cy="914"/>
          </a:xfrm>
          <a:prstGeom prst="line">
            <a:avLst/>
          </a:prstGeom>
          <a:noFill/>
          <a:ln w="9525">
            <a:solidFill>
              <a:srgbClr val="D5DCE6"/>
            </a:solidFill>
            <a:prstDash val="solid"/>
          </a:ln>
        </p:spPr>
      </p:sp>
      <p:sp>
        <p:nvSpPr>
          <p:cNvPr id="29" name="Text 26"/>
          <p:cNvSpPr txBox="1"/>
          <p:nvPr/>
        </p:nvSpPr>
        <p:spPr>
          <a:xfrm>
            <a:off x="6391656" y="4487727"/>
            <a:ext cx="5111496" cy="1245561"/>
          </a:xfrm>
          <a:prstGeom prst="rect">
            <a:avLst/>
          </a:prstGeom>
          <a:noFill/>
          <a:ln/>
        </p:spPr>
        <p:txBody>
          <a:bodyPr wrap="square" lIns="0" tIns="0" rIns="0" bIns="0" rtlCol="0" anchor="ctr"/>
          <a:lstStyle/>
          <a:p>
            <a:pPr algn="l" indent="0" marL="0">
              <a:buNone/>
            </a:pPr>
            <a:r>
              <a:rPr lang="en-US" sz="1500" b="1" dirty="0">
                <a:solidFill>
                  <a:schemeClr val="tx1"/>
                </a:solidFill>
              </a:rPr>
              <a:t>③ vérifier</a:t>
            </a:r>
            <a:endParaRPr lang="en-US" sz="1500" dirty="0"/>
          </a:p>
          <a:p>
            <a:pPr algn="l" indent="0" marL="0">
              <a:buNone/>
            </a:pPr>
            <a:r>
              <a:rPr lang="en-US" sz="1500" b="1" i="1" dirty="0">
                <a:solidFill>
                  <a:schemeClr val="tx1"/>
                </a:solidFill>
              </a:rPr>
              <a:t>nakijken</a:t>
            </a:r>
            <a:r>
              <a:rPr lang="en-US" sz="1500" dirty="0">
                <a:solidFill>
                  <a:schemeClr val="tx1"/>
                </a:solidFill>
              </a:rPr>
              <a:t> vérifier, corriger</a:t>
            </a:r>
            <a:endParaRPr lang="en-US" sz="1500" dirty="0"/>
          </a:p>
          <a:p>
            <a:pPr algn="l" indent="0" marL="0">
              <a:buNone/>
            </a:pPr>
            <a:r>
              <a:rPr lang="en-US" sz="1500" b="1" i="1" dirty="0">
                <a:solidFill>
                  <a:schemeClr val="tx1"/>
                </a:solidFill>
              </a:rPr>
              <a:t>nalezen</a:t>
            </a:r>
            <a:r>
              <a:rPr lang="en-US" sz="1500" dirty="0">
                <a:solidFill>
                  <a:schemeClr val="tx1"/>
                </a:solidFill>
              </a:rPr>
              <a:t> relire</a:t>
            </a:r>
            <a:endParaRPr lang="en-US" sz="1500" dirty="0"/>
          </a:p>
          <a:p>
            <a:pPr algn="l" indent="0" marL="0">
              <a:buNone/>
            </a:pPr>
            <a:r>
              <a:rPr lang="en-US" sz="1500" b="1" i="1" dirty="0">
                <a:solidFill>
                  <a:schemeClr val="tx1"/>
                </a:solidFill>
              </a:rPr>
              <a:t>nagaan</a:t>
            </a:r>
            <a:r>
              <a:rPr lang="en-US" sz="1500" dirty="0">
                <a:solidFill>
                  <a:schemeClr val="tx1"/>
                </a:solidFill>
              </a:rPr>
              <a:t> vérifier</a:t>
            </a:r>
            <a:endParaRPr lang="en-US" sz="1500" dirty="0"/>
          </a:p>
          <a:p>
            <a:pPr algn="l" indent="0" marL="0">
              <a:buNone/>
            </a:pPr>
            <a:r>
              <a:rPr lang="en-US" sz="1500" b="1" i="1" dirty="0">
                <a:solidFill>
                  <a:schemeClr val="tx1"/>
                </a:solidFill>
              </a:rPr>
              <a:t>navragen</a:t>
            </a:r>
            <a:r>
              <a:rPr lang="en-US" sz="1500" dirty="0">
                <a:solidFill>
                  <a:schemeClr val="tx1"/>
                </a:solidFill>
              </a:rPr>
              <a:t> se renseigner</a:t>
            </a:r>
            <a:endParaRPr lang="en-US" sz="1500" dirty="0"/>
          </a:p>
        </p:txBody>
      </p:sp>
      <p:sp>
        <p:nvSpPr>
          <p:cNvPr id="30" name="Shape 27"/>
          <p:cNvSpPr/>
          <p:nvPr/>
        </p:nvSpPr>
        <p:spPr>
          <a:xfrm>
            <a:off x="6318504" y="5715000"/>
            <a:ext cx="5212080" cy="411480"/>
          </a:xfrm>
          <a:prstGeom prst="roundRect">
            <a:avLst>
              <a:gd name="adj" fmla="val 17778"/>
            </a:avLst>
          </a:prstGeom>
          <a:solidFill>
            <a:schemeClr val="tx2">
              <a:alpha val="10000"/>
            </a:schemeClr>
          </a:solidFill>
          <a:ln w="12700">
            <a:solidFill>
              <a:srgbClr val="FFFFFF">
                <a:alpha val="0"/>
              </a:srgbClr>
            </a:solidFill>
            <a:prstDash val="solid"/>
          </a:ln>
        </p:spPr>
      </p:sp>
      <p:sp>
        <p:nvSpPr>
          <p:cNvPr id="31" name="Text 28"/>
          <p:cNvSpPr txBox="1"/>
          <p:nvPr/>
        </p:nvSpPr>
        <p:spPr>
          <a:xfrm>
            <a:off x="6391656" y="5715000"/>
            <a:ext cx="5065776" cy="411480"/>
          </a:xfrm>
          <a:prstGeom prst="rect">
            <a:avLst/>
          </a:prstGeom>
          <a:noFill/>
          <a:ln/>
        </p:spPr>
        <p:txBody>
          <a:bodyPr wrap="square" lIns="0" tIns="0" rIns="0" bIns="0" rtlCol="0" anchor="ctr"/>
          <a:lstStyle/>
          <a:p>
            <a:pPr algn="l" indent="0" marL="0">
              <a:buNone/>
            </a:pPr>
            <a:r>
              <a:rPr lang="en-US" sz="1300" i="1" dirty="0">
                <a:solidFill>
                  <a:schemeClr val="tx1"/>
                </a:solidFill>
              </a:rPr>
              <a:t>Kun je de cijfers nog even nakijken?</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DOOR- et OVER-</a:t>
            </a:r>
            <a:endParaRPr lang="en-US" sz="3000" dirty="0"/>
          </a:p>
        </p:txBody>
      </p:sp>
      <p:sp>
        <p:nvSpPr>
          <p:cNvPr id="3" name="tag"/>
          <p:cNvSpPr/>
          <p:nvPr/>
        </p:nvSpPr>
        <p:spPr>
          <a:xfrm>
            <a:off x="548640" y="237744"/>
            <a:ext cx="1876349"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LES PARTICULES</a:t>
            </a:r>
            <a:endParaRPr lang="en-US" sz="1200" dirty="0"/>
          </a:p>
        </p:txBody>
      </p:sp>
      <p:sp>
        <p:nvSpPr>
          <p:cNvPr id="5" name="Shape 2"/>
          <p:cNvSpPr/>
          <p:nvPr/>
        </p:nvSpPr>
        <p:spPr>
          <a:xfrm>
            <a:off x="548640" y="1508760"/>
            <a:ext cx="5431536" cy="4709160"/>
          </a:xfrm>
          <a:prstGeom prst="roundRect">
            <a:avLst>
              <a:gd name="adj" fmla="val 1942"/>
            </a:avLst>
          </a:prstGeom>
          <a:solidFill>
            <a:schemeClr val="bg1"/>
          </a:solidFill>
          <a:ln w="25400">
            <a:solidFill>
              <a:srgbClr val="7A523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08760"/>
            <a:ext cx="5431536" cy="868680"/>
          </a:xfrm>
          <a:prstGeom prst="roundRect">
            <a:avLst>
              <a:gd name="adj" fmla="val 10526"/>
            </a:avLst>
          </a:prstGeom>
          <a:solidFill>
            <a:srgbClr val="7A5230">
              <a:alpha val="12000"/>
            </a:srgbClr>
          </a:solidFill>
          <a:ln w="12700">
            <a:solidFill>
              <a:srgbClr val="FFFFFF">
                <a:alpha val="0"/>
              </a:srgbClr>
            </a:solidFill>
            <a:prstDash val="solid"/>
          </a:ln>
        </p:spPr>
      </p:sp>
      <p:sp>
        <p:nvSpPr>
          <p:cNvPr id="7" name="Shape 4"/>
          <p:cNvSpPr/>
          <p:nvPr/>
        </p:nvSpPr>
        <p:spPr>
          <a:xfrm>
            <a:off x="685800" y="1600200"/>
            <a:ext cx="685800" cy="685800"/>
          </a:xfrm>
          <a:prstGeom prst="roundRect">
            <a:avLst>
              <a:gd name="adj" fmla="val 10667"/>
            </a:avLst>
          </a:prstGeom>
          <a:solidFill>
            <a:srgbClr val="FFFFFF"/>
          </a:solidFill>
          <a:ln w="12700">
            <a:solidFill>
              <a:srgbClr val="FFFFFF">
                <a:alpha val="0"/>
              </a:srgbClr>
            </a:solidFill>
            <a:prstDash val="solid"/>
          </a:ln>
        </p:spPr>
      </p:sp>
      <p:sp>
        <p:nvSpPr>
          <p:cNvPr id="8" name="Shape 5"/>
          <p:cNvSpPr/>
          <p:nvPr/>
        </p:nvSpPr>
        <p:spPr>
          <a:xfrm>
            <a:off x="898855" y="1813255"/>
            <a:ext cx="259690" cy="259690"/>
          </a:xfrm>
          <a:prstGeom prst="roundRect">
            <a:avLst>
              <a:gd name="adj" fmla="val 42253"/>
            </a:avLst>
          </a:prstGeom>
          <a:solidFill>
            <a:srgbClr val="4A5A70"/>
          </a:solidFill>
          <a:ln w="12700">
            <a:solidFill>
              <a:srgbClr val="FFFFFF">
                <a:alpha val="0"/>
              </a:srgbClr>
            </a:solidFill>
            <a:prstDash val="solid"/>
          </a:ln>
        </p:spPr>
      </p:sp>
      <p:sp>
        <p:nvSpPr>
          <p:cNvPr id="9" name="Shape 6"/>
          <p:cNvSpPr/>
          <p:nvPr/>
        </p:nvSpPr>
        <p:spPr>
          <a:xfrm>
            <a:off x="937809" y="1865193"/>
            <a:ext cx="181783" cy="155814"/>
          </a:xfrm>
          <a:prstGeom prst="roundRect">
            <a:avLst>
              <a:gd name="adj" fmla="val 46948"/>
            </a:avLst>
          </a:prstGeom>
          <a:solidFill>
            <a:srgbClr val="1B2333"/>
          </a:solidFill>
          <a:ln w="12700">
            <a:solidFill>
              <a:srgbClr val="FFFFFF">
                <a:alpha val="0"/>
              </a:srgbClr>
            </a:solidFill>
            <a:prstDash val="solid"/>
          </a:ln>
        </p:spPr>
      </p:sp>
      <p:sp>
        <p:nvSpPr>
          <p:cNvPr id="10" name="Shape 7"/>
          <p:cNvSpPr/>
          <p:nvPr/>
        </p:nvSpPr>
        <p:spPr>
          <a:xfrm>
            <a:off x="730057" y="1943100"/>
            <a:ext cx="597286" cy="914"/>
          </a:xfrm>
          <a:prstGeom prst="line">
            <a:avLst/>
          </a:prstGeom>
          <a:noFill/>
          <a:ln w="44450">
            <a:solidFill>
              <a:srgbClr val="7A5230"/>
            </a:solidFill>
            <a:prstDash val="solid"/>
            <a:tailEnd type="triangle"/>
          </a:ln>
        </p:spPr>
      </p:sp>
      <p:sp>
        <p:nvSpPr>
          <p:cNvPr id="11" name="Text 8"/>
          <p:cNvSpPr txBox="1"/>
          <p:nvPr/>
        </p:nvSpPr>
        <p:spPr>
          <a:xfrm>
            <a:off x="1508760" y="1600200"/>
            <a:ext cx="4334256" cy="685800"/>
          </a:xfrm>
          <a:prstGeom prst="rect">
            <a:avLst/>
          </a:prstGeom>
          <a:noFill/>
          <a:ln/>
        </p:spPr>
        <p:txBody>
          <a:bodyPr wrap="square" lIns="0" tIns="0" rIns="0" bIns="0" rtlCol="0" anchor="ctr"/>
          <a:lstStyle/>
          <a:p>
            <a:pPr algn="l" indent="0" marL="0">
              <a:buNone/>
            </a:pPr>
            <a:r>
              <a:rPr lang="en-US" sz="3000" b="1" dirty="0">
                <a:solidFill>
                  <a:srgbClr val="7A5230"/>
                </a:solidFill>
                <a:latin typeface="+mj-lt" pitchFamily="34" charset="0"/>
                <a:ea typeface="+mj-lt" pitchFamily="34" charset="-122"/>
                <a:cs typeface="+mj-lt" pitchFamily="34" charset="-120"/>
              </a:rPr>
              <a:t>DOOR-</a:t>
            </a:r>
            <a:endParaRPr lang="en-US" sz="3000" dirty="0"/>
          </a:p>
        </p:txBody>
      </p:sp>
      <p:sp>
        <p:nvSpPr>
          <p:cNvPr id="12" name="Text 9"/>
          <p:cNvSpPr txBox="1"/>
          <p:nvPr/>
        </p:nvSpPr>
        <p:spPr>
          <a:xfrm>
            <a:off x="731520" y="2441448"/>
            <a:ext cx="5111496" cy="725321"/>
          </a:xfrm>
          <a:prstGeom prst="rect">
            <a:avLst/>
          </a:prstGeom>
          <a:noFill/>
          <a:ln/>
        </p:spPr>
        <p:txBody>
          <a:bodyPr wrap="square" lIns="0" tIns="0" rIns="0" bIns="0" rtlCol="0" anchor="ctr"/>
          <a:lstStyle/>
          <a:p>
            <a:pPr algn="l" indent="0" marL="0">
              <a:buNone/>
            </a:pPr>
            <a:r>
              <a:rPr lang="en-US" sz="1500" b="1" dirty="0">
                <a:solidFill>
                  <a:schemeClr val="tx1"/>
                </a:solidFill>
              </a:rPr>
              <a:t>① à travers</a:t>
            </a:r>
            <a:endParaRPr lang="en-US" sz="1500" dirty="0"/>
          </a:p>
          <a:p>
            <a:pPr algn="l" indent="0" marL="0">
              <a:buNone/>
            </a:pPr>
            <a:r>
              <a:rPr lang="en-US" sz="1500" b="1" i="1" dirty="0">
                <a:solidFill>
                  <a:schemeClr val="tx1"/>
                </a:solidFill>
              </a:rPr>
              <a:t>doorsnijden</a:t>
            </a:r>
            <a:r>
              <a:rPr lang="en-US" sz="1500" dirty="0">
                <a:solidFill>
                  <a:schemeClr val="tx1"/>
                </a:solidFill>
              </a:rPr>
              <a:t> couper en deux</a:t>
            </a:r>
            <a:endParaRPr lang="en-US" sz="1500" dirty="0"/>
          </a:p>
        </p:txBody>
      </p:sp>
      <p:sp>
        <p:nvSpPr>
          <p:cNvPr id="13" name="Shape 10"/>
          <p:cNvSpPr/>
          <p:nvPr/>
        </p:nvSpPr>
        <p:spPr>
          <a:xfrm>
            <a:off x="731520" y="3166769"/>
            <a:ext cx="5065776" cy="914"/>
          </a:xfrm>
          <a:prstGeom prst="line">
            <a:avLst/>
          </a:prstGeom>
          <a:noFill/>
          <a:ln w="9525">
            <a:solidFill>
              <a:srgbClr val="D5DCE6"/>
            </a:solidFill>
            <a:prstDash val="solid"/>
          </a:ln>
        </p:spPr>
      </p:sp>
      <p:sp>
        <p:nvSpPr>
          <p:cNvPr id="14" name="Text 11"/>
          <p:cNvSpPr txBox="1"/>
          <p:nvPr/>
        </p:nvSpPr>
        <p:spPr>
          <a:xfrm>
            <a:off x="731520" y="3166769"/>
            <a:ext cx="5111496" cy="1283260"/>
          </a:xfrm>
          <a:prstGeom prst="rect">
            <a:avLst/>
          </a:prstGeom>
          <a:noFill/>
          <a:ln/>
        </p:spPr>
        <p:txBody>
          <a:bodyPr wrap="square" lIns="0" tIns="0" rIns="0" bIns="0" rtlCol="0" anchor="ctr"/>
          <a:lstStyle/>
          <a:p>
            <a:pPr algn="l" indent="0" marL="0">
              <a:buNone/>
            </a:pPr>
            <a:r>
              <a:rPr lang="en-US" sz="1500" b="1" dirty="0">
                <a:solidFill>
                  <a:schemeClr val="tx1"/>
                </a:solidFill>
              </a:rPr>
              <a:t>② continuer</a:t>
            </a:r>
            <a:endParaRPr lang="en-US" sz="1500" dirty="0"/>
          </a:p>
          <a:p>
            <a:pPr algn="l" indent="0" marL="0">
              <a:buNone/>
            </a:pPr>
            <a:r>
              <a:rPr lang="en-US" sz="1500" b="1" i="1" dirty="0">
                <a:solidFill>
                  <a:schemeClr val="tx1"/>
                </a:solidFill>
              </a:rPr>
              <a:t>doorgaan</a:t>
            </a:r>
            <a:r>
              <a:rPr lang="en-US" sz="1500" dirty="0">
                <a:solidFill>
                  <a:schemeClr val="tx1"/>
                </a:solidFill>
              </a:rPr>
              <a:t> continuer ; avoir lieu</a:t>
            </a:r>
            <a:endParaRPr lang="en-US" sz="1500" dirty="0"/>
          </a:p>
          <a:p>
            <a:pPr algn="l" indent="0" marL="0">
              <a:buNone/>
            </a:pPr>
            <a:r>
              <a:rPr lang="en-US" sz="1500" b="1" i="1" dirty="0">
                <a:solidFill>
                  <a:schemeClr val="tx1"/>
                </a:solidFill>
              </a:rPr>
              <a:t>doorwerken</a:t>
            </a:r>
            <a:r>
              <a:rPr lang="en-US" sz="1500" dirty="0">
                <a:solidFill>
                  <a:schemeClr val="tx1"/>
                </a:solidFill>
              </a:rPr>
              <a:t> continuer à travailler</a:t>
            </a:r>
            <a:endParaRPr lang="en-US" sz="1500" dirty="0"/>
          </a:p>
          <a:p>
            <a:pPr algn="l" indent="0" marL="0">
              <a:buNone/>
            </a:pPr>
            <a:r>
              <a:rPr lang="en-US" sz="1500" b="1" i="1" dirty="0">
                <a:solidFill>
                  <a:schemeClr val="tx1"/>
                </a:solidFill>
              </a:rPr>
              <a:t>doorlezen</a:t>
            </a:r>
            <a:r>
              <a:rPr lang="en-US" sz="1500" dirty="0">
                <a:solidFill>
                  <a:schemeClr val="tx1"/>
                </a:solidFill>
              </a:rPr>
              <a:t> lire jusqu’au bout</a:t>
            </a:r>
            <a:endParaRPr lang="en-US" sz="1500" dirty="0"/>
          </a:p>
        </p:txBody>
      </p:sp>
      <p:sp>
        <p:nvSpPr>
          <p:cNvPr id="15" name="Shape 12"/>
          <p:cNvSpPr/>
          <p:nvPr/>
        </p:nvSpPr>
        <p:spPr>
          <a:xfrm>
            <a:off x="731520" y="4450028"/>
            <a:ext cx="5065776" cy="914"/>
          </a:xfrm>
          <a:prstGeom prst="line">
            <a:avLst/>
          </a:prstGeom>
          <a:noFill/>
          <a:ln w="9525">
            <a:solidFill>
              <a:srgbClr val="D5DCE6"/>
            </a:solidFill>
            <a:prstDash val="solid"/>
          </a:ln>
        </p:spPr>
      </p:sp>
      <p:sp>
        <p:nvSpPr>
          <p:cNvPr id="16" name="Text 13"/>
          <p:cNvSpPr txBox="1"/>
          <p:nvPr/>
        </p:nvSpPr>
        <p:spPr>
          <a:xfrm>
            <a:off x="731520" y="4450028"/>
            <a:ext cx="5111496" cy="1283260"/>
          </a:xfrm>
          <a:prstGeom prst="rect">
            <a:avLst/>
          </a:prstGeom>
          <a:noFill/>
          <a:ln/>
        </p:spPr>
        <p:txBody>
          <a:bodyPr wrap="square" lIns="0" tIns="0" rIns="0" bIns="0" rtlCol="0" anchor="ctr"/>
          <a:lstStyle/>
          <a:p>
            <a:pPr algn="l" indent="0" marL="0">
              <a:buNone/>
            </a:pPr>
            <a:r>
              <a:rPr lang="en-US" sz="1500" b="1" dirty="0">
                <a:solidFill>
                  <a:schemeClr val="tx1"/>
                </a:solidFill>
              </a:rPr>
              <a:t>③ transmettre</a:t>
            </a:r>
            <a:endParaRPr lang="en-US" sz="1500" dirty="0"/>
          </a:p>
          <a:p>
            <a:pPr algn="l" indent="0" marL="0">
              <a:buNone/>
            </a:pPr>
            <a:r>
              <a:rPr lang="en-US" sz="1500" b="1" i="1" dirty="0">
                <a:solidFill>
                  <a:schemeClr val="tx1"/>
                </a:solidFill>
              </a:rPr>
              <a:t>doorsturen</a:t>
            </a:r>
            <a:r>
              <a:rPr lang="en-US" sz="1500" dirty="0">
                <a:solidFill>
                  <a:schemeClr val="tx1"/>
                </a:solidFill>
              </a:rPr>
              <a:t> transférer</a:t>
            </a:r>
            <a:endParaRPr lang="en-US" sz="1500" dirty="0"/>
          </a:p>
          <a:p>
            <a:pPr algn="l" indent="0" marL="0">
              <a:buNone/>
            </a:pPr>
            <a:r>
              <a:rPr lang="en-US" sz="1500" b="1" i="1" dirty="0">
                <a:solidFill>
                  <a:schemeClr val="tx1"/>
                </a:solidFill>
              </a:rPr>
              <a:t>doorgeven</a:t>
            </a:r>
            <a:r>
              <a:rPr lang="en-US" sz="1500" dirty="0">
                <a:solidFill>
                  <a:schemeClr val="tx1"/>
                </a:solidFill>
              </a:rPr>
              <a:t> transmettre</a:t>
            </a:r>
            <a:endParaRPr lang="en-US" sz="1500" dirty="0"/>
          </a:p>
          <a:p>
            <a:pPr algn="l" indent="0" marL="0">
              <a:buNone/>
            </a:pPr>
            <a:r>
              <a:rPr lang="en-US" sz="1500" b="1" i="1" dirty="0">
                <a:solidFill>
                  <a:schemeClr val="tx1"/>
                </a:solidFill>
              </a:rPr>
              <a:t>doorverbinden</a:t>
            </a:r>
            <a:r>
              <a:rPr lang="en-US" sz="1500" dirty="0">
                <a:solidFill>
                  <a:schemeClr val="tx1"/>
                </a:solidFill>
              </a:rPr>
              <a:t> transférer (un appel)</a:t>
            </a:r>
            <a:endParaRPr lang="en-US" sz="1500" dirty="0"/>
          </a:p>
        </p:txBody>
      </p:sp>
      <p:sp>
        <p:nvSpPr>
          <p:cNvPr id="17" name="Shape 14"/>
          <p:cNvSpPr/>
          <p:nvPr/>
        </p:nvSpPr>
        <p:spPr>
          <a:xfrm>
            <a:off x="658368" y="5715000"/>
            <a:ext cx="5212080" cy="411480"/>
          </a:xfrm>
          <a:prstGeom prst="roundRect">
            <a:avLst>
              <a:gd name="adj" fmla="val 17778"/>
            </a:avLst>
          </a:prstGeom>
          <a:solidFill>
            <a:srgbClr val="7A5230">
              <a:alpha val="10000"/>
            </a:srgbClr>
          </a:solidFill>
          <a:ln w="12700">
            <a:solidFill>
              <a:srgbClr val="FFFFFF">
                <a:alpha val="0"/>
              </a:srgbClr>
            </a:solidFill>
            <a:prstDash val="solid"/>
          </a:ln>
        </p:spPr>
      </p:sp>
      <p:sp>
        <p:nvSpPr>
          <p:cNvPr id="18" name="Text 15"/>
          <p:cNvSpPr txBox="1"/>
          <p:nvPr/>
        </p:nvSpPr>
        <p:spPr>
          <a:xfrm>
            <a:off x="731520" y="5715000"/>
            <a:ext cx="5065776" cy="411480"/>
          </a:xfrm>
          <a:prstGeom prst="rect">
            <a:avLst/>
          </a:prstGeom>
          <a:noFill/>
          <a:ln/>
        </p:spPr>
        <p:txBody>
          <a:bodyPr wrap="square" lIns="0" tIns="0" rIns="0" bIns="0" rtlCol="0" anchor="ctr"/>
          <a:lstStyle/>
          <a:p>
            <a:pPr algn="l" indent="0" marL="0">
              <a:buNone/>
            </a:pPr>
            <a:r>
              <a:rPr lang="en-US" sz="1300" i="1" dirty="0">
                <a:solidFill>
                  <a:schemeClr val="tx1"/>
                </a:solidFill>
              </a:rPr>
              <a:t>De vergadering gaat niet door.</a:t>
            </a:r>
            <a:r>
              <a:rPr lang="en-US" sz="1300" dirty="0">
                <a:solidFill>
                  <a:schemeClr val="tx1"/>
                </a:solidFill>
              </a:rPr>
              <a:t> = n’a pas lieu !</a:t>
            </a:r>
            <a:endParaRPr lang="en-US" sz="1300" dirty="0"/>
          </a:p>
        </p:txBody>
      </p:sp>
      <p:sp>
        <p:nvSpPr>
          <p:cNvPr id="19" name="Shape 16"/>
          <p:cNvSpPr/>
          <p:nvPr/>
        </p:nvSpPr>
        <p:spPr>
          <a:xfrm>
            <a:off x="6208776" y="1508760"/>
            <a:ext cx="5431536" cy="4709160"/>
          </a:xfrm>
          <a:prstGeom prst="roundRect">
            <a:avLst>
              <a:gd name="adj" fmla="val 1942"/>
            </a:avLst>
          </a:prstGeom>
          <a:solidFill>
            <a:schemeClr val="bg1"/>
          </a:solidFill>
          <a:ln w="25400">
            <a:solidFill>
              <a:srgbClr val="4352C9"/>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6208776" y="1508760"/>
            <a:ext cx="5431536" cy="868680"/>
          </a:xfrm>
          <a:prstGeom prst="roundRect">
            <a:avLst>
              <a:gd name="adj" fmla="val 10526"/>
            </a:avLst>
          </a:prstGeom>
          <a:solidFill>
            <a:srgbClr val="4352C9">
              <a:alpha val="12000"/>
            </a:srgbClr>
          </a:solidFill>
          <a:ln w="12700">
            <a:solidFill>
              <a:srgbClr val="FFFFFF">
                <a:alpha val="0"/>
              </a:srgbClr>
            </a:solidFill>
            <a:prstDash val="solid"/>
          </a:ln>
        </p:spPr>
      </p:sp>
      <p:sp>
        <p:nvSpPr>
          <p:cNvPr id="21" name="Shape 18"/>
          <p:cNvSpPr/>
          <p:nvPr/>
        </p:nvSpPr>
        <p:spPr>
          <a:xfrm>
            <a:off x="6345936" y="1600200"/>
            <a:ext cx="685800" cy="685800"/>
          </a:xfrm>
          <a:prstGeom prst="roundRect">
            <a:avLst>
              <a:gd name="adj" fmla="val 10667"/>
            </a:avLst>
          </a:prstGeom>
          <a:solidFill>
            <a:srgbClr val="FFFFFF"/>
          </a:solidFill>
          <a:ln w="12700">
            <a:solidFill>
              <a:srgbClr val="FFFFFF">
                <a:alpha val="0"/>
              </a:srgbClr>
            </a:solidFill>
            <a:prstDash val="solid"/>
          </a:ln>
        </p:spPr>
      </p:sp>
      <p:sp>
        <p:nvSpPr>
          <p:cNvPr id="22" name="Shape 19"/>
          <p:cNvSpPr/>
          <p:nvPr/>
        </p:nvSpPr>
        <p:spPr>
          <a:xfrm>
            <a:off x="6636898" y="1975561"/>
            <a:ext cx="103876" cy="240213"/>
          </a:xfrm>
          <a:prstGeom prst="rect">
            <a:avLst/>
          </a:prstGeom>
          <a:solidFill>
            <a:srgbClr val="8A96A8"/>
          </a:solidFill>
          <a:ln w="12700">
            <a:solidFill>
              <a:srgbClr val="FFFFFF">
                <a:alpha val="0"/>
              </a:srgbClr>
            </a:solidFill>
            <a:prstDash val="solid"/>
          </a:ln>
        </p:spPr>
      </p:sp>
      <p:sp>
        <p:nvSpPr>
          <p:cNvPr id="23" name="Shape 20"/>
          <p:cNvSpPr/>
          <p:nvPr/>
        </p:nvSpPr>
        <p:spPr>
          <a:xfrm>
            <a:off x="6416162" y="1780794"/>
            <a:ext cx="545348" cy="779069"/>
          </a:xfrm>
          <a:prstGeom prst="arc">
            <a:avLst>
              <a:gd name="adj1" fmla="val 10800000"/>
              <a:gd name="adj2" fmla="val 21600000"/>
            </a:avLst>
          </a:prstGeom>
          <a:solidFill>
            <a:srgbClr val="FFFFFF">
              <a:alpha val="0"/>
            </a:srgbClr>
          </a:solidFill>
          <a:ln w="38100">
            <a:solidFill>
              <a:srgbClr val="4352C9"/>
            </a:solidFill>
            <a:prstDash val="solid"/>
            <a:tailEnd type="triangle"/>
          </a:ln>
        </p:spPr>
      </p:sp>
      <p:sp>
        <p:nvSpPr>
          <p:cNvPr id="24" name="Text 21"/>
          <p:cNvSpPr txBox="1"/>
          <p:nvPr/>
        </p:nvSpPr>
        <p:spPr>
          <a:xfrm>
            <a:off x="7168896" y="1600200"/>
            <a:ext cx="4334256" cy="685800"/>
          </a:xfrm>
          <a:prstGeom prst="rect">
            <a:avLst/>
          </a:prstGeom>
          <a:noFill/>
          <a:ln/>
        </p:spPr>
        <p:txBody>
          <a:bodyPr wrap="square" lIns="0" tIns="0" rIns="0" bIns="0" rtlCol="0" anchor="ctr"/>
          <a:lstStyle/>
          <a:p>
            <a:pPr algn="l" indent="0" marL="0">
              <a:buNone/>
            </a:pPr>
            <a:r>
              <a:rPr lang="en-US" sz="3000" b="1" dirty="0">
                <a:solidFill>
                  <a:srgbClr val="4352C9"/>
                </a:solidFill>
                <a:latin typeface="+mj-lt" pitchFamily="34" charset="0"/>
                <a:ea typeface="+mj-lt" pitchFamily="34" charset="-122"/>
                <a:cs typeface="+mj-lt" pitchFamily="34" charset="-120"/>
              </a:rPr>
              <a:t>OVER-</a:t>
            </a:r>
            <a:endParaRPr lang="en-US" sz="3000" dirty="0"/>
          </a:p>
        </p:txBody>
      </p:sp>
      <p:sp>
        <p:nvSpPr>
          <p:cNvPr id="25" name="Text 22"/>
          <p:cNvSpPr txBox="1"/>
          <p:nvPr/>
        </p:nvSpPr>
        <p:spPr>
          <a:xfrm>
            <a:off x="6391656" y="2441448"/>
            <a:ext cx="5111496" cy="1283260"/>
          </a:xfrm>
          <a:prstGeom prst="rect">
            <a:avLst/>
          </a:prstGeom>
          <a:noFill/>
          <a:ln/>
        </p:spPr>
        <p:txBody>
          <a:bodyPr wrap="square" lIns="0" tIns="0" rIns="0" bIns="0" rtlCol="0" anchor="ctr"/>
          <a:lstStyle/>
          <a:p>
            <a:pPr algn="l" indent="0" marL="0">
              <a:buNone/>
            </a:pPr>
            <a:r>
              <a:rPr lang="en-US" sz="1500" b="1" dirty="0">
                <a:solidFill>
                  <a:schemeClr val="tx1"/>
                </a:solidFill>
              </a:rPr>
              <a:t>① d’un côté à l’autre</a:t>
            </a:r>
            <a:endParaRPr lang="en-US" sz="1500" dirty="0"/>
          </a:p>
          <a:p>
            <a:pPr algn="l" indent="0" marL="0">
              <a:buNone/>
            </a:pPr>
            <a:r>
              <a:rPr lang="en-US" sz="1500" b="1" i="1" dirty="0">
                <a:solidFill>
                  <a:schemeClr val="tx1"/>
                </a:solidFill>
              </a:rPr>
              <a:t>oversteken</a:t>
            </a:r>
            <a:r>
              <a:rPr lang="en-US" sz="1500" dirty="0">
                <a:solidFill>
                  <a:schemeClr val="tx1"/>
                </a:solidFill>
              </a:rPr>
              <a:t> traverser</a:t>
            </a:r>
            <a:endParaRPr lang="en-US" sz="1500" dirty="0"/>
          </a:p>
          <a:p>
            <a:pPr algn="l" indent="0" marL="0">
              <a:buNone/>
            </a:pPr>
            <a:r>
              <a:rPr lang="en-US" sz="1500" b="1" i="1" dirty="0">
                <a:solidFill>
                  <a:schemeClr val="tx1"/>
                </a:solidFill>
              </a:rPr>
              <a:t>overstappen</a:t>
            </a:r>
            <a:r>
              <a:rPr lang="en-US" sz="1500" dirty="0">
                <a:solidFill>
                  <a:schemeClr val="tx1"/>
                </a:solidFill>
              </a:rPr>
              <a:t> changer (de train)</a:t>
            </a:r>
            <a:endParaRPr lang="en-US" sz="1500" dirty="0"/>
          </a:p>
          <a:p>
            <a:pPr algn="l" indent="0" marL="0">
              <a:buNone/>
            </a:pPr>
            <a:r>
              <a:rPr lang="en-US" sz="1500" b="1" i="1" dirty="0">
                <a:solidFill>
                  <a:schemeClr val="tx1"/>
                </a:solidFill>
              </a:rPr>
              <a:t>overschrijven</a:t>
            </a:r>
            <a:r>
              <a:rPr lang="en-US" sz="1500" dirty="0">
                <a:solidFill>
                  <a:schemeClr val="tx1"/>
                </a:solidFill>
              </a:rPr>
              <a:t> virer (BE ; NL : overmaken)</a:t>
            </a:r>
            <a:endParaRPr lang="en-US" sz="1500" dirty="0"/>
          </a:p>
        </p:txBody>
      </p:sp>
      <p:sp>
        <p:nvSpPr>
          <p:cNvPr id="26" name="Shape 23"/>
          <p:cNvSpPr/>
          <p:nvPr/>
        </p:nvSpPr>
        <p:spPr>
          <a:xfrm>
            <a:off x="6391656" y="3724708"/>
            <a:ext cx="5065776" cy="914"/>
          </a:xfrm>
          <a:prstGeom prst="line">
            <a:avLst/>
          </a:prstGeom>
          <a:noFill/>
          <a:ln w="9525">
            <a:solidFill>
              <a:srgbClr val="D5DCE6"/>
            </a:solidFill>
            <a:prstDash val="solid"/>
          </a:ln>
        </p:spPr>
      </p:sp>
      <p:sp>
        <p:nvSpPr>
          <p:cNvPr id="27" name="Text 24"/>
          <p:cNvSpPr txBox="1"/>
          <p:nvPr/>
        </p:nvSpPr>
        <p:spPr>
          <a:xfrm>
            <a:off x="6391656" y="3724708"/>
            <a:ext cx="5111496" cy="1004290"/>
          </a:xfrm>
          <a:prstGeom prst="rect">
            <a:avLst/>
          </a:prstGeom>
          <a:noFill/>
          <a:ln/>
        </p:spPr>
        <p:txBody>
          <a:bodyPr wrap="square" lIns="0" tIns="0" rIns="0" bIns="0" rtlCol="0" anchor="ctr"/>
          <a:lstStyle/>
          <a:p>
            <a:pPr algn="l" indent="0" marL="0">
              <a:buNone/>
            </a:pPr>
            <a:r>
              <a:rPr lang="en-US" sz="1500" b="1" dirty="0">
                <a:solidFill>
                  <a:schemeClr val="tx1"/>
                </a:solidFill>
              </a:rPr>
              <a:t>② de nouveau</a:t>
            </a:r>
            <a:endParaRPr lang="en-US" sz="1500" dirty="0"/>
          </a:p>
          <a:p>
            <a:pPr algn="l" indent="0" marL="0">
              <a:buNone/>
            </a:pPr>
            <a:r>
              <a:rPr lang="en-US" sz="1500" b="1" i="1" dirty="0">
                <a:solidFill>
                  <a:schemeClr val="tx1"/>
                </a:solidFill>
              </a:rPr>
              <a:t>overdoen</a:t>
            </a:r>
            <a:r>
              <a:rPr lang="en-US" sz="1500" dirty="0">
                <a:solidFill>
                  <a:schemeClr val="tx1"/>
                </a:solidFill>
              </a:rPr>
              <a:t> refaire</a:t>
            </a:r>
            <a:endParaRPr lang="en-US" sz="1500" dirty="0"/>
          </a:p>
          <a:p>
            <a:pPr algn="l" indent="0" marL="0">
              <a:buNone/>
            </a:pPr>
            <a:r>
              <a:rPr lang="en-US" sz="1500" b="1" i="1" dirty="0">
                <a:solidFill>
                  <a:schemeClr val="tx1"/>
                </a:solidFill>
              </a:rPr>
              <a:t>overlezen</a:t>
            </a:r>
            <a:r>
              <a:rPr lang="en-US" sz="1500" dirty="0">
                <a:solidFill>
                  <a:schemeClr val="tx1"/>
                </a:solidFill>
              </a:rPr>
              <a:t> relire</a:t>
            </a:r>
            <a:endParaRPr lang="en-US" sz="1500" dirty="0"/>
          </a:p>
        </p:txBody>
      </p:sp>
      <p:sp>
        <p:nvSpPr>
          <p:cNvPr id="28" name="Shape 25"/>
          <p:cNvSpPr/>
          <p:nvPr/>
        </p:nvSpPr>
        <p:spPr>
          <a:xfrm>
            <a:off x="6391656" y="4728998"/>
            <a:ext cx="5065776" cy="914"/>
          </a:xfrm>
          <a:prstGeom prst="line">
            <a:avLst/>
          </a:prstGeom>
          <a:noFill/>
          <a:ln w="9525">
            <a:solidFill>
              <a:srgbClr val="D5DCE6"/>
            </a:solidFill>
            <a:prstDash val="solid"/>
          </a:ln>
        </p:spPr>
      </p:sp>
      <p:sp>
        <p:nvSpPr>
          <p:cNvPr id="29" name="Text 26"/>
          <p:cNvSpPr txBox="1"/>
          <p:nvPr/>
        </p:nvSpPr>
        <p:spPr>
          <a:xfrm>
            <a:off x="6391656" y="4728998"/>
            <a:ext cx="5111496" cy="1004290"/>
          </a:xfrm>
          <a:prstGeom prst="rect">
            <a:avLst/>
          </a:prstGeom>
          <a:noFill/>
          <a:ln/>
        </p:spPr>
        <p:txBody>
          <a:bodyPr wrap="square" lIns="0" tIns="0" rIns="0" bIns="0" rtlCol="0" anchor="ctr"/>
          <a:lstStyle/>
          <a:p>
            <a:pPr algn="l" indent="0" marL="0">
              <a:buNone/>
            </a:pPr>
            <a:r>
              <a:rPr lang="en-US" sz="1500" b="1" dirty="0">
                <a:solidFill>
                  <a:schemeClr val="tx1"/>
                </a:solidFill>
              </a:rPr>
              <a:t>③ passer à qn</a:t>
            </a:r>
            <a:endParaRPr lang="en-US" sz="1500" dirty="0"/>
          </a:p>
          <a:p>
            <a:pPr algn="l" indent="0" marL="0">
              <a:buNone/>
            </a:pPr>
            <a:r>
              <a:rPr lang="en-US" sz="1500" b="1" i="1" dirty="0">
                <a:solidFill>
                  <a:schemeClr val="tx1"/>
                </a:solidFill>
              </a:rPr>
              <a:t>overnemen</a:t>
            </a:r>
            <a:r>
              <a:rPr lang="en-US" sz="1500" dirty="0">
                <a:solidFill>
                  <a:schemeClr val="tx1"/>
                </a:solidFill>
              </a:rPr>
              <a:t> reprendre</a:t>
            </a:r>
            <a:endParaRPr lang="en-US" sz="1500" dirty="0"/>
          </a:p>
          <a:p>
            <a:pPr algn="l" indent="0" marL="0">
              <a:buNone/>
            </a:pPr>
            <a:r>
              <a:rPr lang="en-US" sz="1500" b="1" i="1" dirty="0">
                <a:solidFill>
                  <a:schemeClr val="tx1"/>
                </a:solidFill>
              </a:rPr>
              <a:t>overdragen</a:t>
            </a:r>
            <a:r>
              <a:rPr lang="en-US" sz="1500" dirty="0">
                <a:solidFill>
                  <a:schemeClr val="tx1"/>
                </a:solidFill>
              </a:rPr>
              <a:t> transmettre (un dossier)</a:t>
            </a:r>
            <a:endParaRPr lang="en-US" sz="1500" dirty="0"/>
          </a:p>
        </p:txBody>
      </p:sp>
      <p:sp>
        <p:nvSpPr>
          <p:cNvPr id="30" name="Shape 27"/>
          <p:cNvSpPr/>
          <p:nvPr/>
        </p:nvSpPr>
        <p:spPr>
          <a:xfrm>
            <a:off x="6318504" y="5715000"/>
            <a:ext cx="5212080" cy="411480"/>
          </a:xfrm>
          <a:prstGeom prst="roundRect">
            <a:avLst>
              <a:gd name="adj" fmla="val 17778"/>
            </a:avLst>
          </a:prstGeom>
          <a:solidFill>
            <a:srgbClr val="4352C9">
              <a:alpha val="10000"/>
            </a:srgbClr>
          </a:solidFill>
          <a:ln w="12700">
            <a:solidFill>
              <a:srgbClr val="FFFFFF">
                <a:alpha val="0"/>
              </a:srgbClr>
            </a:solidFill>
            <a:prstDash val="solid"/>
          </a:ln>
        </p:spPr>
      </p:sp>
      <p:sp>
        <p:nvSpPr>
          <p:cNvPr id="31" name="Text 28"/>
          <p:cNvSpPr txBox="1"/>
          <p:nvPr/>
        </p:nvSpPr>
        <p:spPr>
          <a:xfrm>
            <a:off x="6391656" y="5715000"/>
            <a:ext cx="5065776" cy="411480"/>
          </a:xfrm>
          <a:prstGeom prst="rect">
            <a:avLst/>
          </a:prstGeom>
          <a:noFill/>
          <a:ln/>
        </p:spPr>
        <p:txBody>
          <a:bodyPr wrap="square" lIns="0" tIns="0" rIns="0" bIns="0" rtlCol="0" anchor="ctr"/>
          <a:lstStyle/>
          <a:p>
            <a:pPr algn="l" indent="0" marL="0">
              <a:buNone/>
            </a:pPr>
            <a:r>
              <a:rPr lang="en-US" sz="1300" dirty="0">
                <a:solidFill>
                  <a:schemeClr val="tx1"/>
                </a:solidFill>
              </a:rPr>
              <a:t>BE : </a:t>
            </a:r>
            <a:r>
              <a:rPr lang="en-US" sz="1300" i="1" dirty="0">
                <a:solidFill>
                  <a:schemeClr val="tx1"/>
                </a:solidFill>
              </a:rPr>
              <a:t>de agenda overlopen</a:t>
            </a:r>
            <a:r>
              <a:rPr lang="en-US" sz="1300" dirty="0">
                <a:solidFill>
                  <a:schemeClr val="tx1"/>
                </a:solidFill>
              </a:rPr>
              <a:t> (passer en revue)</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MEE- et TEGEN-</a:t>
            </a:r>
            <a:endParaRPr lang="en-US" sz="3000" dirty="0"/>
          </a:p>
        </p:txBody>
      </p:sp>
      <p:sp>
        <p:nvSpPr>
          <p:cNvPr id="3" name="tag"/>
          <p:cNvSpPr/>
          <p:nvPr/>
        </p:nvSpPr>
        <p:spPr>
          <a:xfrm>
            <a:off x="548640" y="237744"/>
            <a:ext cx="1876349"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LES PARTICULES</a:t>
            </a:r>
            <a:endParaRPr lang="en-US" sz="1200" dirty="0"/>
          </a:p>
        </p:txBody>
      </p:sp>
      <p:sp>
        <p:nvSpPr>
          <p:cNvPr id="5" name="Shape 2"/>
          <p:cNvSpPr/>
          <p:nvPr/>
        </p:nvSpPr>
        <p:spPr>
          <a:xfrm>
            <a:off x="548640" y="1508760"/>
            <a:ext cx="5431536" cy="2971800"/>
          </a:xfrm>
          <a:prstGeom prst="roundRect">
            <a:avLst>
              <a:gd name="adj" fmla="val 3077"/>
            </a:avLst>
          </a:prstGeom>
          <a:solidFill>
            <a:schemeClr val="bg1"/>
          </a:solidFill>
          <a:ln w="25400">
            <a:solidFill>
              <a:srgbClr val="7C9A1E"/>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08760"/>
            <a:ext cx="5431536" cy="868680"/>
          </a:xfrm>
          <a:prstGeom prst="roundRect">
            <a:avLst>
              <a:gd name="adj" fmla="val 10526"/>
            </a:avLst>
          </a:prstGeom>
          <a:solidFill>
            <a:srgbClr val="7C9A1E">
              <a:alpha val="12000"/>
            </a:srgbClr>
          </a:solidFill>
          <a:ln w="12700">
            <a:solidFill>
              <a:srgbClr val="FFFFFF">
                <a:alpha val="0"/>
              </a:srgbClr>
            </a:solidFill>
            <a:prstDash val="solid"/>
          </a:ln>
        </p:spPr>
      </p:sp>
      <p:sp>
        <p:nvSpPr>
          <p:cNvPr id="7" name="Shape 4"/>
          <p:cNvSpPr/>
          <p:nvPr/>
        </p:nvSpPr>
        <p:spPr>
          <a:xfrm>
            <a:off x="685800" y="1600200"/>
            <a:ext cx="685800" cy="685800"/>
          </a:xfrm>
          <a:prstGeom prst="roundRect">
            <a:avLst>
              <a:gd name="adj" fmla="val 10667"/>
            </a:avLst>
          </a:prstGeom>
          <a:solidFill>
            <a:srgbClr val="FFFFFF"/>
          </a:solidFill>
          <a:ln w="12700">
            <a:solidFill>
              <a:srgbClr val="FFFFFF">
                <a:alpha val="0"/>
              </a:srgbClr>
            </a:solidFill>
            <a:prstDash val="solid"/>
          </a:ln>
        </p:spPr>
      </p:sp>
      <p:sp>
        <p:nvSpPr>
          <p:cNvPr id="8" name="Shape 5"/>
          <p:cNvSpPr/>
          <p:nvPr/>
        </p:nvSpPr>
        <p:spPr>
          <a:xfrm>
            <a:off x="756026" y="1845716"/>
            <a:ext cx="545348" cy="914"/>
          </a:xfrm>
          <a:prstGeom prst="line">
            <a:avLst/>
          </a:prstGeom>
          <a:noFill/>
          <a:ln w="44450">
            <a:solidFill>
              <a:srgbClr val="7C9A1E"/>
            </a:solidFill>
            <a:prstDash val="solid"/>
            <a:tailEnd type="triangle"/>
          </a:ln>
        </p:spPr>
      </p:sp>
      <p:sp>
        <p:nvSpPr>
          <p:cNvPr id="9" name="Shape 6"/>
          <p:cNvSpPr/>
          <p:nvPr/>
        </p:nvSpPr>
        <p:spPr>
          <a:xfrm>
            <a:off x="756026" y="2040484"/>
            <a:ext cx="545348" cy="914"/>
          </a:xfrm>
          <a:prstGeom prst="line">
            <a:avLst/>
          </a:prstGeom>
          <a:noFill/>
          <a:ln w="44450">
            <a:solidFill>
              <a:srgbClr val="7C9A1E"/>
            </a:solidFill>
            <a:prstDash val="solid"/>
            <a:tailEnd type="triangle"/>
          </a:ln>
        </p:spPr>
      </p:sp>
      <p:sp>
        <p:nvSpPr>
          <p:cNvPr id="10" name="Text 7"/>
          <p:cNvSpPr txBox="1"/>
          <p:nvPr/>
        </p:nvSpPr>
        <p:spPr>
          <a:xfrm>
            <a:off x="1508760" y="1600200"/>
            <a:ext cx="4334256" cy="685800"/>
          </a:xfrm>
          <a:prstGeom prst="rect">
            <a:avLst/>
          </a:prstGeom>
          <a:noFill/>
          <a:ln/>
        </p:spPr>
        <p:txBody>
          <a:bodyPr wrap="square" lIns="0" tIns="0" rIns="0" bIns="0" rtlCol="0" anchor="ctr"/>
          <a:lstStyle/>
          <a:p>
            <a:pPr algn="l" indent="0" marL="0">
              <a:buNone/>
            </a:pPr>
            <a:r>
              <a:rPr lang="en-US" sz="3000" b="1" dirty="0">
                <a:solidFill>
                  <a:srgbClr val="7C9A1E"/>
                </a:solidFill>
                <a:latin typeface="+mj-lt" pitchFamily="34" charset="0"/>
                <a:ea typeface="+mj-lt" pitchFamily="34" charset="-122"/>
                <a:cs typeface="+mj-lt" pitchFamily="34" charset="-120"/>
              </a:rPr>
              <a:t>MEE-</a:t>
            </a:r>
            <a:endParaRPr lang="en-US" sz="3000" dirty="0"/>
          </a:p>
        </p:txBody>
      </p:sp>
      <p:sp>
        <p:nvSpPr>
          <p:cNvPr id="11" name="Text 8"/>
          <p:cNvSpPr txBox="1"/>
          <p:nvPr/>
        </p:nvSpPr>
        <p:spPr>
          <a:xfrm>
            <a:off x="731520" y="2441448"/>
            <a:ext cx="5111496" cy="2011680"/>
          </a:xfrm>
          <a:prstGeom prst="rect">
            <a:avLst/>
          </a:prstGeom>
          <a:noFill/>
          <a:ln/>
        </p:spPr>
        <p:txBody>
          <a:bodyPr wrap="square" lIns="0" tIns="0" rIns="0" bIns="0" rtlCol="0" anchor="ctr"/>
          <a:lstStyle/>
          <a:p>
            <a:pPr algn="l" indent="0" marL="0">
              <a:buNone/>
            </a:pPr>
            <a:r>
              <a:rPr lang="en-US" sz="1700" b="1" dirty="0">
                <a:solidFill>
                  <a:schemeClr val="tx1"/>
                </a:solidFill>
              </a:rPr>
              <a:t>avec, participer</a:t>
            </a:r>
            <a:endParaRPr lang="en-US" sz="1700" dirty="0"/>
          </a:p>
          <a:p>
            <a:pPr algn="l" indent="0" marL="0">
              <a:buNone/>
            </a:pPr>
            <a:r>
              <a:rPr lang="en-US" sz="1700" b="1" i="1" dirty="0">
                <a:solidFill>
                  <a:schemeClr val="tx1"/>
                </a:solidFill>
              </a:rPr>
              <a:t>meegaan</a:t>
            </a:r>
            <a:r>
              <a:rPr lang="en-US" sz="1700" dirty="0">
                <a:solidFill>
                  <a:schemeClr val="tx1"/>
                </a:solidFill>
              </a:rPr>
              <a:t> accompagner</a:t>
            </a:r>
            <a:endParaRPr lang="en-US" sz="1700" dirty="0"/>
          </a:p>
          <a:p>
            <a:pPr algn="l" indent="0" marL="0">
              <a:buNone/>
            </a:pPr>
            <a:r>
              <a:rPr lang="en-US" sz="1700" b="1" i="1" dirty="0">
                <a:solidFill>
                  <a:schemeClr val="tx1"/>
                </a:solidFill>
              </a:rPr>
              <a:t>meenemen</a:t>
            </a:r>
            <a:r>
              <a:rPr lang="en-US" sz="1700" dirty="0">
                <a:solidFill>
                  <a:schemeClr val="tx1"/>
                </a:solidFill>
              </a:rPr>
              <a:t> emporter</a:t>
            </a:r>
            <a:endParaRPr lang="en-US" sz="1700" dirty="0"/>
          </a:p>
          <a:p>
            <a:pPr algn="l" indent="0" marL="0">
              <a:buNone/>
            </a:pPr>
            <a:r>
              <a:rPr lang="en-US" sz="1700" b="1" i="1" dirty="0">
                <a:solidFill>
                  <a:schemeClr val="tx1"/>
                </a:solidFill>
              </a:rPr>
              <a:t>meedoen</a:t>
            </a:r>
            <a:r>
              <a:rPr lang="en-US" sz="1700" dirty="0">
                <a:solidFill>
                  <a:schemeClr val="tx1"/>
                </a:solidFill>
              </a:rPr>
              <a:t> participer</a:t>
            </a:r>
            <a:endParaRPr lang="en-US" sz="1700" dirty="0"/>
          </a:p>
          <a:p>
            <a:pPr algn="l" indent="0" marL="0">
              <a:buNone/>
            </a:pPr>
            <a:r>
              <a:rPr lang="en-US" sz="1700" b="1" i="1" dirty="0">
                <a:solidFill>
                  <a:schemeClr val="tx1"/>
                </a:solidFill>
              </a:rPr>
              <a:t>meewerken</a:t>
            </a:r>
            <a:r>
              <a:rPr lang="en-US" sz="1700" dirty="0">
                <a:solidFill>
                  <a:schemeClr val="tx1"/>
                </a:solidFill>
              </a:rPr>
              <a:t> collaborer</a:t>
            </a:r>
            <a:endParaRPr lang="en-US" sz="1700" dirty="0"/>
          </a:p>
          <a:p>
            <a:pPr algn="l" indent="0" marL="0">
              <a:buNone/>
            </a:pPr>
            <a:r>
              <a:rPr lang="en-US" sz="1700" b="1" i="1" dirty="0">
                <a:solidFill>
                  <a:schemeClr val="tx1"/>
                </a:solidFill>
              </a:rPr>
              <a:t>meedenken</a:t>
            </a:r>
            <a:r>
              <a:rPr lang="en-US" sz="1700" dirty="0">
                <a:solidFill>
                  <a:schemeClr val="tx1"/>
                </a:solidFill>
              </a:rPr>
              <a:t> réfléchir avec</a:t>
            </a:r>
            <a:endParaRPr lang="en-US" sz="1700" dirty="0"/>
          </a:p>
        </p:txBody>
      </p:sp>
      <p:sp>
        <p:nvSpPr>
          <p:cNvPr id="12" name="Shape 9"/>
          <p:cNvSpPr/>
          <p:nvPr/>
        </p:nvSpPr>
        <p:spPr>
          <a:xfrm>
            <a:off x="6208776" y="1508760"/>
            <a:ext cx="5431536" cy="2971800"/>
          </a:xfrm>
          <a:prstGeom prst="roundRect">
            <a:avLst>
              <a:gd name="adj" fmla="val 3077"/>
            </a:avLst>
          </a:prstGeom>
          <a:solidFill>
            <a:schemeClr val="bg1"/>
          </a:solidFill>
          <a:ln w="25400">
            <a:solidFill>
              <a:srgbClr val="8B1E3F"/>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6208776" y="1508760"/>
            <a:ext cx="5431536" cy="868680"/>
          </a:xfrm>
          <a:prstGeom prst="roundRect">
            <a:avLst>
              <a:gd name="adj" fmla="val 10526"/>
            </a:avLst>
          </a:prstGeom>
          <a:solidFill>
            <a:srgbClr val="8B1E3F">
              <a:alpha val="12000"/>
            </a:srgbClr>
          </a:solidFill>
          <a:ln w="12700">
            <a:solidFill>
              <a:srgbClr val="FFFFFF">
                <a:alpha val="0"/>
              </a:srgbClr>
            </a:solidFill>
            <a:prstDash val="solid"/>
          </a:ln>
        </p:spPr>
      </p:sp>
      <p:sp>
        <p:nvSpPr>
          <p:cNvPr id="14" name="Shape 11"/>
          <p:cNvSpPr/>
          <p:nvPr/>
        </p:nvSpPr>
        <p:spPr>
          <a:xfrm>
            <a:off x="6345936" y="1600200"/>
            <a:ext cx="685800" cy="685800"/>
          </a:xfrm>
          <a:prstGeom prst="roundRect">
            <a:avLst>
              <a:gd name="adj" fmla="val 10667"/>
            </a:avLst>
          </a:prstGeom>
          <a:solidFill>
            <a:srgbClr val="FFFFFF"/>
          </a:solidFill>
          <a:ln w="12700">
            <a:solidFill>
              <a:srgbClr val="FFFFFF">
                <a:alpha val="0"/>
              </a:srgbClr>
            </a:solidFill>
            <a:prstDash val="solid"/>
          </a:ln>
        </p:spPr>
      </p:sp>
      <p:sp>
        <p:nvSpPr>
          <p:cNvPr id="15" name="Shape 12"/>
          <p:cNvSpPr/>
          <p:nvPr/>
        </p:nvSpPr>
        <p:spPr>
          <a:xfrm>
            <a:off x="6390193" y="1943100"/>
            <a:ext cx="272674" cy="914"/>
          </a:xfrm>
          <a:prstGeom prst="line">
            <a:avLst/>
          </a:prstGeom>
          <a:noFill/>
          <a:ln w="44450">
            <a:solidFill>
              <a:srgbClr val="8B1E3F"/>
            </a:solidFill>
            <a:prstDash val="solid"/>
            <a:tailEnd type="triangle"/>
          </a:ln>
        </p:spPr>
      </p:sp>
      <p:sp>
        <p:nvSpPr>
          <p:cNvPr id="16" name="Shape 13"/>
          <p:cNvSpPr/>
          <p:nvPr/>
        </p:nvSpPr>
        <p:spPr>
          <a:xfrm flipH="1">
            <a:off x="6714805" y="1943100"/>
            <a:ext cx="272674" cy="914"/>
          </a:xfrm>
          <a:prstGeom prst="line">
            <a:avLst/>
          </a:prstGeom>
          <a:noFill/>
          <a:ln w="38100">
            <a:solidFill>
              <a:srgbClr val="8A96A8"/>
            </a:solidFill>
            <a:prstDash val="solid"/>
            <a:tailEnd type="triangle"/>
          </a:ln>
        </p:spPr>
      </p:sp>
      <p:sp>
        <p:nvSpPr>
          <p:cNvPr id="17" name="Text 14"/>
          <p:cNvSpPr txBox="1"/>
          <p:nvPr/>
        </p:nvSpPr>
        <p:spPr>
          <a:xfrm>
            <a:off x="7168896" y="1600200"/>
            <a:ext cx="4334256" cy="685800"/>
          </a:xfrm>
          <a:prstGeom prst="rect">
            <a:avLst/>
          </a:prstGeom>
          <a:noFill/>
          <a:ln/>
        </p:spPr>
        <p:txBody>
          <a:bodyPr wrap="square" lIns="0" tIns="0" rIns="0" bIns="0" rtlCol="0" anchor="ctr"/>
          <a:lstStyle/>
          <a:p>
            <a:pPr algn="l" indent="0" marL="0">
              <a:buNone/>
            </a:pPr>
            <a:r>
              <a:rPr lang="en-US" sz="3000" b="1" dirty="0">
                <a:solidFill>
                  <a:srgbClr val="8B1E3F"/>
                </a:solidFill>
                <a:latin typeface="+mj-lt" pitchFamily="34" charset="0"/>
                <a:ea typeface="+mj-lt" pitchFamily="34" charset="-122"/>
                <a:cs typeface="+mj-lt" pitchFamily="34" charset="-120"/>
              </a:rPr>
              <a:t>TEGEN-</a:t>
            </a:r>
            <a:endParaRPr lang="en-US" sz="3000" dirty="0"/>
          </a:p>
        </p:txBody>
      </p:sp>
      <p:sp>
        <p:nvSpPr>
          <p:cNvPr id="18" name="Text 15"/>
          <p:cNvSpPr txBox="1"/>
          <p:nvPr/>
        </p:nvSpPr>
        <p:spPr>
          <a:xfrm>
            <a:off x="6391656" y="2441448"/>
            <a:ext cx="5111496" cy="2011680"/>
          </a:xfrm>
          <a:prstGeom prst="rect">
            <a:avLst/>
          </a:prstGeom>
          <a:noFill/>
          <a:ln/>
        </p:spPr>
        <p:txBody>
          <a:bodyPr wrap="square" lIns="0" tIns="0" rIns="0" bIns="0" rtlCol="0" anchor="ctr"/>
          <a:lstStyle/>
          <a:p>
            <a:pPr algn="l" indent="0" marL="0">
              <a:buNone/>
            </a:pPr>
            <a:r>
              <a:rPr lang="en-US" sz="1700" b="1" dirty="0">
                <a:solidFill>
                  <a:schemeClr val="tx1"/>
                </a:solidFill>
              </a:rPr>
              <a:t>contre, à l’encontre</a:t>
            </a:r>
            <a:endParaRPr lang="en-US" sz="1700" dirty="0"/>
          </a:p>
          <a:p>
            <a:pPr algn="l" indent="0" marL="0">
              <a:buNone/>
            </a:pPr>
            <a:r>
              <a:rPr lang="en-US" sz="1700" b="1" i="1" dirty="0">
                <a:solidFill>
                  <a:schemeClr val="tx1"/>
                </a:solidFill>
              </a:rPr>
              <a:t>tegenkomen</a:t>
            </a:r>
            <a:r>
              <a:rPr lang="en-US" sz="1700" dirty="0">
                <a:solidFill>
                  <a:schemeClr val="tx1"/>
                </a:solidFill>
              </a:rPr>
              <a:t> rencontrer par hasard</a:t>
            </a:r>
            <a:endParaRPr lang="en-US" sz="1700" dirty="0"/>
          </a:p>
          <a:p>
            <a:pPr algn="l" indent="0" marL="0">
              <a:buNone/>
            </a:pPr>
            <a:r>
              <a:rPr lang="en-US" sz="1700" b="1" i="1" dirty="0">
                <a:solidFill>
                  <a:schemeClr val="tx1"/>
                </a:solidFill>
              </a:rPr>
              <a:t>tegenhouden</a:t>
            </a:r>
            <a:r>
              <a:rPr lang="en-US" sz="1700" dirty="0">
                <a:solidFill>
                  <a:schemeClr val="tx1"/>
                </a:solidFill>
              </a:rPr>
              <a:t> retenir, arrêter</a:t>
            </a:r>
            <a:endParaRPr lang="en-US" sz="1700" dirty="0"/>
          </a:p>
          <a:p>
            <a:pPr algn="l" indent="0" marL="0">
              <a:buNone/>
            </a:pPr>
            <a:r>
              <a:rPr lang="en-US" sz="1700" b="1" i="1" dirty="0">
                <a:solidFill>
                  <a:schemeClr val="tx1"/>
                </a:solidFill>
              </a:rPr>
              <a:t>tegenspreken</a:t>
            </a:r>
            <a:r>
              <a:rPr lang="en-US" sz="1700" dirty="0">
                <a:solidFill>
                  <a:schemeClr val="tx1"/>
                </a:solidFill>
              </a:rPr>
              <a:t> contredire</a:t>
            </a:r>
            <a:endParaRPr lang="en-US" sz="1700" dirty="0"/>
          </a:p>
        </p:txBody>
      </p:sp>
      <p:sp>
        <p:nvSpPr>
          <p:cNvPr id="19" name="Shape 16"/>
          <p:cNvSpPr/>
          <p:nvPr/>
        </p:nvSpPr>
        <p:spPr>
          <a:xfrm>
            <a:off x="548640" y="4663440"/>
            <a:ext cx="11091672" cy="1554480"/>
          </a:xfrm>
          <a:prstGeom prst="roundRect">
            <a:avLst>
              <a:gd name="adj" fmla="val 5882"/>
            </a:avLst>
          </a:prstGeom>
          <a:solidFill>
            <a:schemeClr val="bg2"/>
          </a:solidFill>
          <a:ln w="12700">
            <a:solidFill>
              <a:srgbClr val="D5DCE6"/>
            </a:solidFill>
            <a:prstDash val="solid"/>
          </a:ln>
        </p:spPr>
      </p:sp>
      <p:pic>
        <p:nvPicPr>
          <p:cNvPr id="20" name="Image 0" descr="grinning face">    </p:cNvPr>
          <p:cNvPicPr>
            <a:picLocks noChangeAspect="1"/>
          </p:cNvPicPr>
          <p:nvPr/>
        </p:nvPicPr>
        <p:blipFill>
          <a:blip r:embed="rId1"/>
          <a:stretch>
            <a:fillRect/>
          </a:stretch>
        </p:blipFill>
        <p:spPr>
          <a:xfrm>
            <a:off x="777240" y="4846320"/>
            <a:ext cx="548640" cy="548640"/>
          </a:xfrm>
          <a:prstGeom prst="rect">
            <a:avLst/>
          </a:prstGeom>
        </p:spPr>
      </p:pic>
      <p:sp>
        <p:nvSpPr>
          <p:cNvPr id="21" name="Text 17"/>
          <p:cNvSpPr txBox="1"/>
          <p:nvPr/>
        </p:nvSpPr>
        <p:spPr>
          <a:xfrm>
            <a:off x="1463040" y="4800600"/>
            <a:ext cx="10058400" cy="640080"/>
          </a:xfrm>
          <a:prstGeom prst="rect">
            <a:avLst/>
          </a:prstGeom>
          <a:noFill/>
          <a:ln/>
        </p:spPr>
        <p:txBody>
          <a:bodyPr wrap="square" lIns="0" tIns="0" rIns="0" bIns="0" rtlCol="0" anchor="ctr"/>
          <a:lstStyle/>
          <a:p>
            <a:pPr algn="l" indent="0" marL="0">
              <a:buNone/>
            </a:pPr>
            <a:r>
              <a:rPr lang="en-US" sz="1900" i="1" dirty="0">
                <a:solidFill>
                  <a:schemeClr val="tx1"/>
                </a:solidFill>
              </a:rPr>
              <a:t>Het examen viel </a:t>
            </a:r>
            <a:r>
              <a:rPr lang="en-US" sz="1900" b="1" i="1" dirty="0">
                <a:solidFill>
                  <a:schemeClr val="tx1"/>
                </a:solidFill>
              </a:rPr>
              <a:t>mee</a:t>
            </a:r>
            <a:r>
              <a:rPr lang="en-US" sz="1900" i="1" dirty="0">
                <a:solidFill>
                  <a:schemeClr val="tx1"/>
                </a:solidFill>
              </a:rPr>
              <a:t>.</a:t>
            </a:r>
            <a:r>
              <a:rPr lang="en-US" sz="1900" dirty="0">
                <a:solidFill>
                  <a:schemeClr val="tx1"/>
                </a:solidFill>
              </a:rPr>
              <a:t> → c’était plus facile que prévu</a:t>
            </a:r>
            <a:endParaRPr lang="en-US" sz="1900" dirty="0"/>
          </a:p>
        </p:txBody>
      </p:sp>
      <p:pic>
        <p:nvPicPr>
          <p:cNvPr id="22" name="Image 1" descr="disappointed face">    </p:cNvPr>
          <p:cNvPicPr>
            <a:picLocks noChangeAspect="1"/>
          </p:cNvPicPr>
          <p:nvPr/>
        </p:nvPicPr>
        <p:blipFill>
          <a:blip r:embed="rId2"/>
          <a:stretch>
            <a:fillRect/>
          </a:stretch>
        </p:blipFill>
        <p:spPr>
          <a:xfrm>
            <a:off x="777240" y="5532120"/>
            <a:ext cx="548640" cy="548640"/>
          </a:xfrm>
          <a:prstGeom prst="rect">
            <a:avLst/>
          </a:prstGeom>
        </p:spPr>
      </p:pic>
      <p:sp>
        <p:nvSpPr>
          <p:cNvPr id="23" name="Text 18"/>
          <p:cNvSpPr txBox="1"/>
          <p:nvPr/>
        </p:nvSpPr>
        <p:spPr>
          <a:xfrm>
            <a:off x="1463040" y="5486400"/>
            <a:ext cx="10058400" cy="640080"/>
          </a:xfrm>
          <a:prstGeom prst="rect">
            <a:avLst/>
          </a:prstGeom>
          <a:noFill/>
          <a:ln/>
        </p:spPr>
        <p:txBody>
          <a:bodyPr wrap="square" lIns="0" tIns="0" rIns="0" bIns="0" rtlCol="0" anchor="ctr"/>
          <a:lstStyle/>
          <a:p>
            <a:pPr algn="l" indent="0" marL="0">
              <a:buNone/>
            </a:pPr>
            <a:r>
              <a:rPr lang="en-US" sz="1900" i="1" dirty="0">
                <a:solidFill>
                  <a:schemeClr val="tx1"/>
                </a:solidFill>
              </a:rPr>
              <a:t>Het examen viel </a:t>
            </a:r>
            <a:r>
              <a:rPr lang="en-US" sz="1900" b="1" i="1" dirty="0">
                <a:solidFill>
                  <a:schemeClr val="tx1"/>
                </a:solidFill>
              </a:rPr>
              <a:t>tegen</a:t>
            </a:r>
            <a:r>
              <a:rPr lang="en-US" sz="1900" i="1" dirty="0">
                <a:solidFill>
                  <a:schemeClr val="tx1"/>
                </a:solidFill>
              </a:rPr>
              <a:t>.</a:t>
            </a:r>
            <a:r>
              <a:rPr lang="en-US" sz="1900" dirty="0">
                <a:solidFill>
                  <a:schemeClr val="tx1"/>
                </a:solidFill>
              </a:rPr>
              <a:t> → c’était décevant, plus difficile que prévu</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OM- et VOOR-</a:t>
            </a:r>
            <a:endParaRPr lang="en-US" sz="3000" dirty="0"/>
          </a:p>
        </p:txBody>
      </p:sp>
      <p:sp>
        <p:nvSpPr>
          <p:cNvPr id="3" name="tag"/>
          <p:cNvSpPr/>
          <p:nvPr/>
        </p:nvSpPr>
        <p:spPr>
          <a:xfrm>
            <a:off x="548640" y="237744"/>
            <a:ext cx="1876349"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LES PARTICULES</a:t>
            </a:r>
            <a:endParaRPr lang="en-US" sz="1200" dirty="0"/>
          </a:p>
        </p:txBody>
      </p:sp>
      <p:sp>
        <p:nvSpPr>
          <p:cNvPr id="5" name="Shape 2"/>
          <p:cNvSpPr/>
          <p:nvPr/>
        </p:nvSpPr>
        <p:spPr>
          <a:xfrm>
            <a:off x="548640" y="1508760"/>
            <a:ext cx="5431536" cy="4709160"/>
          </a:xfrm>
          <a:prstGeom prst="roundRect">
            <a:avLst>
              <a:gd name="adj" fmla="val 1942"/>
            </a:avLst>
          </a:prstGeom>
          <a:solidFill>
            <a:schemeClr val="bg1"/>
          </a:solidFill>
          <a:ln w="25400">
            <a:solidFill>
              <a:srgbClr val="546E7A"/>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08760"/>
            <a:ext cx="5431536" cy="868680"/>
          </a:xfrm>
          <a:prstGeom prst="roundRect">
            <a:avLst>
              <a:gd name="adj" fmla="val 10526"/>
            </a:avLst>
          </a:prstGeom>
          <a:solidFill>
            <a:srgbClr val="546E7A">
              <a:alpha val="12000"/>
            </a:srgbClr>
          </a:solidFill>
          <a:ln w="12700">
            <a:solidFill>
              <a:srgbClr val="FFFFFF">
                <a:alpha val="0"/>
              </a:srgbClr>
            </a:solidFill>
            <a:prstDash val="solid"/>
          </a:ln>
        </p:spPr>
      </p:sp>
      <p:sp>
        <p:nvSpPr>
          <p:cNvPr id="7" name="Shape 4"/>
          <p:cNvSpPr/>
          <p:nvPr/>
        </p:nvSpPr>
        <p:spPr>
          <a:xfrm>
            <a:off x="685800" y="1600200"/>
            <a:ext cx="685800" cy="685800"/>
          </a:xfrm>
          <a:prstGeom prst="roundRect">
            <a:avLst>
              <a:gd name="adj" fmla="val 10667"/>
            </a:avLst>
          </a:prstGeom>
          <a:solidFill>
            <a:srgbClr val="FFFFFF"/>
          </a:solidFill>
          <a:ln w="12700">
            <a:solidFill>
              <a:srgbClr val="FFFFFF">
                <a:alpha val="0"/>
              </a:srgbClr>
            </a:solidFill>
            <a:prstDash val="solid"/>
          </a:ln>
        </p:spPr>
      </p:sp>
      <p:sp>
        <p:nvSpPr>
          <p:cNvPr id="8" name="Shape 5"/>
          <p:cNvSpPr/>
          <p:nvPr/>
        </p:nvSpPr>
        <p:spPr>
          <a:xfrm>
            <a:off x="781995" y="1623060"/>
            <a:ext cx="493410" cy="640080"/>
          </a:xfrm>
          <a:prstGeom prst="arc">
            <a:avLst>
              <a:gd name="adj1" fmla="val 10800000"/>
              <a:gd name="adj2" fmla="val 21600000"/>
            </a:avLst>
          </a:prstGeom>
          <a:solidFill>
            <a:srgbClr val="FFFFFF">
              <a:alpha val="0"/>
            </a:srgbClr>
          </a:solidFill>
          <a:ln w="38100">
            <a:solidFill>
              <a:srgbClr val="546E7A"/>
            </a:solidFill>
            <a:prstDash val="solid"/>
            <a:tailEnd type="triangle"/>
          </a:ln>
        </p:spPr>
      </p:sp>
      <p:sp>
        <p:nvSpPr>
          <p:cNvPr id="9" name="Shape 6"/>
          <p:cNvSpPr/>
          <p:nvPr/>
        </p:nvSpPr>
        <p:spPr>
          <a:xfrm>
            <a:off x="963778" y="1891162"/>
            <a:ext cx="129845" cy="129845"/>
          </a:xfrm>
          <a:prstGeom prst="ellipse">
            <a:avLst/>
          </a:prstGeom>
          <a:solidFill>
            <a:srgbClr val="D5DCE6"/>
          </a:solidFill>
          <a:ln w="12700">
            <a:solidFill>
              <a:srgbClr val="FFFFFF">
                <a:alpha val="0"/>
              </a:srgbClr>
            </a:solidFill>
            <a:prstDash val="solid"/>
          </a:ln>
        </p:spPr>
      </p:sp>
      <p:sp>
        <p:nvSpPr>
          <p:cNvPr id="10" name="Text 7"/>
          <p:cNvSpPr txBox="1"/>
          <p:nvPr/>
        </p:nvSpPr>
        <p:spPr>
          <a:xfrm>
            <a:off x="1508760" y="1600200"/>
            <a:ext cx="4334256" cy="685800"/>
          </a:xfrm>
          <a:prstGeom prst="rect">
            <a:avLst/>
          </a:prstGeom>
          <a:noFill/>
          <a:ln/>
        </p:spPr>
        <p:txBody>
          <a:bodyPr wrap="square" lIns="0" tIns="0" rIns="0" bIns="0" rtlCol="0" anchor="ctr"/>
          <a:lstStyle/>
          <a:p>
            <a:pPr algn="l" indent="0" marL="0">
              <a:buNone/>
            </a:pPr>
            <a:r>
              <a:rPr lang="en-US" sz="3000" b="1" dirty="0">
                <a:solidFill>
                  <a:srgbClr val="546E7A"/>
                </a:solidFill>
                <a:latin typeface="+mj-lt" pitchFamily="34" charset="0"/>
                <a:ea typeface="+mj-lt" pitchFamily="34" charset="-122"/>
                <a:cs typeface="+mj-lt" pitchFamily="34" charset="-120"/>
              </a:rPr>
              <a:t>OM-</a:t>
            </a:r>
            <a:endParaRPr lang="en-US" sz="3000" dirty="0"/>
          </a:p>
        </p:txBody>
      </p:sp>
      <p:sp>
        <p:nvSpPr>
          <p:cNvPr id="11" name="Text 8"/>
          <p:cNvSpPr txBox="1"/>
          <p:nvPr/>
        </p:nvSpPr>
        <p:spPr>
          <a:xfrm>
            <a:off x="731520" y="2441448"/>
            <a:ext cx="5111496" cy="1004290"/>
          </a:xfrm>
          <a:prstGeom prst="rect">
            <a:avLst/>
          </a:prstGeom>
          <a:noFill/>
          <a:ln/>
        </p:spPr>
        <p:txBody>
          <a:bodyPr wrap="square" lIns="0" tIns="0" rIns="0" bIns="0" rtlCol="0" anchor="ctr"/>
          <a:lstStyle/>
          <a:p>
            <a:pPr algn="l" indent="0" marL="0">
              <a:buNone/>
            </a:pPr>
            <a:r>
              <a:rPr lang="en-US" sz="1500" b="1" dirty="0">
                <a:solidFill>
                  <a:schemeClr val="tx1"/>
                </a:solidFill>
              </a:rPr>
              <a:t>① autour, détour</a:t>
            </a:r>
            <a:endParaRPr lang="en-US" sz="1500" dirty="0"/>
          </a:p>
          <a:p>
            <a:pPr algn="l" indent="0" marL="0">
              <a:buNone/>
            </a:pPr>
            <a:r>
              <a:rPr lang="en-US" sz="1500" b="1" i="1" dirty="0">
                <a:solidFill>
                  <a:schemeClr val="tx1"/>
                </a:solidFill>
              </a:rPr>
              <a:t>omrijden</a:t>
            </a:r>
            <a:r>
              <a:rPr lang="en-US" sz="1500" dirty="0">
                <a:solidFill>
                  <a:schemeClr val="tx1"/>
                </a:solidFill>
              </a:rPr>
              <a:t> faire un détour</a:t>
            </a:r>
            <a:endParaRPr lang="en-US" sz="1500" dirty="0"/>
          </a:p>
          <a:p>
            <a:pPr algn="l" indent="0" marL="0">
              <a:buNone/>
            </a:pPr>
            <a:r>
              <a:rPr lang="en-US" sz="1500" b="1" i="1" dirty="0">
                <a:solidFill>
                  <a:schemeClr val="tx1"/>
                </a:solidFill>
              </a:rPr>
              <a:t>omkijken</a:t>
            </a:r>
            <a:r>
              <a:rPr lang="en-US" sz="1500" dirty="0">
                <a:solidFill>
                  <a:schemeClr val="tx1"/>
                </a:solidFill>
              </a:rPr>
              <a:t> se retourner</a:t>
            </a:r>
            <a:endParaRPr lang="en-US" sz="1500" dirty="0"/>
          </a:p>
        </p:txBody>
      </p:sp>
      <p:sp>
        <p:nvSpPr>
          <p:cNvPr id="12" name="Shape 9"/>
          <p:cNvSpPr/>
          <p:nvPr/>
        </p:nvSpPr>
        <p:spPr>
          <a:xfrm>
            <a:off x="731520" y="3445738"/>
            <a:ext cx="5065776" cy="914"/>
          </a:xfrm>
          <a:prstGeom prst="line">
            <a:avLst/>
          </a:prstGeom>
          <a:noFill/>
          <a:ln w="9525">
            <a:solidFill>
              <a:srgbClr val="D5DCE6"/>
            </a:solidFill>
            <a:prstDash val="solid"/>
          </a:ln>
        </p:spPr>
      </p:sp>
      <p:sp>
        <p:nvSpPr>
          <p:cNvPr id="13" name="Text 10"/>
          <p:cNvSpPr txBox="1"/>
          <p:nvPr/>
        </p:nvSpPr>
        <p:spPr>
          <a:xfrm>
            <a:off x="731520" y="3445738"/>
            <a:ext cx="5111496" cy="1562229"/>
          </a:xfrm>
          <a:prstGeom prst="rect">
            <a:avLst/>
          </a:prstGeom>
          <a:noFill/>
          <a:ln/>
        </p:spPr>
        <p:txBody>
          <a:bodyPr wrap="square" lIns="0" tIns="0" rIns="0" bIns="0" rtlCol="0" anchor="ctr"/>
          <a:lstStyle/>
          <a:p>
            <a:pPr algn="l" indent="0" marL="0">
              <a:buNone/>
            </a:pPr>
            <a:r>
              <a:rPr lang="en-US" sz="1500" b="1" dirty="0">
                <a:solidFill>
                  <a:schemeClr val="tx1"/>
                </a:solidFill>
              </a:rPr>
              <a:t>② retourner, changer</a:t>
            </a:r>
            <a:endParaRPr lang="en-US" sz="1500" dirty="0"/>
          </a:p>
          <a:p>
            <a:pPr algn="l" indent="0" marL="0">
              <a:buNone/>
            </a:pPr>
            <a:r>
              <a:rPr lang="en-US" sz="1500" b="1" i="1" dirty="0">
                <a:solidFill>
                  <a:schemeClr val="tx1"/>
                </a:solidFill>
              </a:rPr>
              <a:t>omdraaien</a:t>
            </a:r>
            <a:r>
              <a:rPr lang="en-US" sz="1500" dirty="0">
                <a:solidFill>
                  <a:schemeClr val="tx1"/>
                </a:solidFill>
              </a:rPr>
              <a:t> retourner</a:t>
            </a:r>
            <a:endParaRPr lang="en-US" sz="1500" dirty="0"/>
          </a:p>
          <a:p>
            <a:pPr algn="l" indent="0" marL="0">
              <a:buNone/>
            </a:pPr>
            <a:r>
              <a:rPr lang="en-US" sz="1500" b="1" i="1" dirty="0">
                <a:solidFill>
                  <a:schemeClr val="tx1"/>
                </a:solidFill>
              </a:rPr>
              <a:t>omzetten</a:t>
            </a:r>
            <a:r>
              <a:rPr lang="en-US" sz="1500" dirty="0">
                <a:solidFill>
                  <a:schemeClr val="tx1"/>
                </a:solidFill>
              </a:rPr>
              <a:t> convertir</a:t>
            </a:r>
            <a:endParaRPr lang="en-US" sz="1500" dirty="0"/>
          </a:p>
          <a:p>
            <a:pPr algn="l" indent="0" marL="0">
              <a:buNone/>
            </a:pPr>
            <a:r>
              <a:rPr lang="en-US" sz="1500" b="1" i="1" dirty="0">
                <a:solidFill>
                  <a:schemeClr val="tx1"/>
                </a:solidFill>
              </a:rPr>
              <a:t>omrekenen</a:t>
            </a:r>
            <a:r>
              <a:rPr lang="en-US" sz="1500" dirty="0">
                <a:solidFill>
                  <a:schemeClr val="tx1"/>
                </a:solidFill>
              </a:rPr>
              <a:t> convertir (un montant)</a:t>
            </a:r>
            <a:endParaRPr lang="en-US" sz="1500" dirty="0"/>
          </a:p>
          <a:p>
            <a:pPr algn="l" indent="0" marL="0">
              <a:buNone/>
            </a:pPr>
            <a:r>
              <a:rPr lang="en-US" sz="1500" b="1" i="1" dirty="0">
                <a:solidFill>
                  <a:schemeClr val="tx1"/>
                </a:solidFill>
              </a:rPr>
              <a:t>zich omkleden</a:t>
            </a:r>
            <a:r>
              <a:rPr lang="en-US" sz="1500" dirty="0">
                <a:solidFill>
                  <a:schemeClr val="tx1"/>
                </a:solidFill>
              </a:rPr>
              <a:t> se changer</a:t>
            </a:r>
            <a:endParaRPr lang="en-US" sz="1500" dirty="0"/>
          </a:p>
        </p:txBody>
      </p:sp>
      <p:sp>
        <p:nvSpPr>
          <p:cNvPr id="14" name="Shape 11"/>
          <p:cNvSpPr/>
          <p:nvPr/>
        </p:nvSpPr>
        <p:spPr>
          <a:xfrm>
            <a:off x="731520" y="5007967"/>
            <a:ext cx="5065776" cy="914"/>
          </a:xfrm>
          <a:prstGeom prst="line">
            <a:avLst/>
          </a:prstGeom>
          <a:noFill/>
          <a:ln w="9525">
            <a:solidFill>
              <a:srgbClr val="D5DCE6"/>
            </a:solidFill>
            <a:prstDash val="solid"/>
          </a:ln>
        </p:spPr>
      </p:sp>
      <p:sp>
        <p:nvSpPr>
          <p:cNvPr id="15" name="Text 12"/>
          <p:cNvSpPr txBox="1"/>
          <p:nvPr/>
        </p:nvSpPr>
        <p:spPr>
          <a:xfrm>
            <a:off x="731520" y="5007967"/>
            <a:ext cx="5111496" cy="725321"/>
          </a:xfrm>
          <a:prstGeom prst="rect">
            <a:avLst/>
          </a:prstGeom>
          <a:noFill/>
          <a:ln/>
        </p:spPr>
        <p:txBody>
          <a:bodyPr wrap="square" lIns="0" tIns="0" rIns="0" bIns="0" rtlCol="0" anchor="ctr"/>
          <a:lstStyle/>
          <a:p>
            <a:pPr algn="l" indent="0" marL="0">
              <a:buNone/>
            </a:pPr>
            <a:r>
              <a:rPr lang="en-US" sz="1500" b="1" dirty="0">
                <a:solidFill>
                  <a:schemeClr val="tx1"/>
                </a:solidFill>
              </a:rPr>
              <a:t>③ figuré</a:t>
            </a:r>
            <a:endParaRPr lang="en-US" sz="1500" dirty="0"/>
          </a:p>
          <a:p>
            <a:pPr algn="l" indent="0" marL="0">
              <a:buNone/>
            </a:pPr>
            <a:r>
              <a:rPr lang="en-US" sz="1500" b="1" i="1" dirty="0">
                <a:solidFill>
                  <a:schemeClr val="tx1"/>
                </a:solidFill>
              </a:rPr>
              <a:t>omgaan met</a:t>
            </a:r>
            <a:r>
              <a:rPr lang="en-US" sz="1500" dirty="0">
                <a:solidFill>
                  <a:schemeClr val="tx1"/>
                </a:solidFill>
              </a:rPr>
              <a:t> gérer ; fréquenter</a:t>
            </a:r>
            <a:endParaRPr lang="en-US" sz="1500" dirty="0"/>
          </a:p>
        </p:txBody>
      </p:sp>
      <p:sp>
        <p:nvSpPr>
          <p:cNvPr id="16" name="Shape 13"/>
          <p:cNvSpPr/>
          <p:nvPr/>
        </p:nvSpPr>
        <p:spPr>
          <a:xfrm>
            <a:off x="658368" y="5715000"/>
            <a:ext cx="5212080" cy="411480"/>
          </a:xfrm>
          <a:prstGeom prst="roundRect">
            <a:avLst>
              <a:gd name="adj" fmla="val 17778"/>
            </a:avLst>
          </a:prstGeom>
          <a:solidFill>
            <a:srgbClr val="546E7A">
              <a:alpha val="10000"/>
            </a:srgbClr>
          </a:solidFill>
          <a:ln w="12700">
            <a:solidFill>
              <a:srgbClr val="FFFFFF">
                <a:alpha val="0"/>
              </a:srgbClr>
            </a:solidFill>
            <a:prstDash val="solid"/>
          </a:ln>
        </p:spPr>
      </p:sp>
      <p:sp>
        <p:nvSpPr>
          <p:cNvPr id="17" name="Text 14"/>
          <p:cNvSpPr txBox="1"/>
          <p:nvPr/>
        </p:nvSpPr>
        <p:spPr>
          <a:xfrm>
            <a:off x="731520" y="5715000"/>
            <a:ext cx="5065776" cy="411480"/>
          </a:xfrm>
          <a:prstGeom prst="rect">
            <a:avLst/>
          </a:prstGeom>
          <a:noFill/>
          <a:ln/>
        </p:spPr>
        <p:txBody>
          <a:bodyPr wrap="square" lIns="0" tIns="0" rIns="0" bIns="0" rtlCol="0" anchor="ctr"/>
          <a:lstStyle/>
          <a:p>
            <a:pPr algn="l" indent="0" marL="0">
              <a:buNone/>
            </a:pPr>
            <a:r>
              <a:rPr lang="en-US" sz="1300" i="1" dirty="0">
                <a:solidFill>
                  <a:schemeClr val="tx1"/>
                </a:solidFill>
              </a:rPr>
              <a:t>Hoe ga je om met stress?</a:t>
            </a:r>
            <a:endParaRPr lang="en-US" sz="1300" dirty="0"/>
          </a:p>
        </p:txBody>
      </p:sp>
      <p:sp>
        <p:nvSpPr>
          <p:cNvPr id="18" name="Shape 15"/>
          <p:cNvSpPr/>
          <p:nvPr/>
        </p:nvSpPr>
        <p:spPr>
          <a:xfrm>
            <a:off x="6208776" y="1508760"/>
            <a:ext cx="5431536" cy="4709160"/>
          </a:xfrm>
          <a:prstGeom prst="roundRect">
            <a:avLst>
              <a:gd name="adj" fmla="val 1942"/>
            </a:avLst>
          </a:prstGeom>
          <a:solidFill>
            <a:schemeClr val="bg1"/>
          </a:solidFill>
          <a:ln w="25400">
            <a:solidFill>
              <a:srgbClr val="B8860B"/>
            </a:solidFill>
            <a:prstDash val="solid"/>
          </a:ln>
          <a:effectLst>
            <a:outerShdw sx="100000" sy="100000" kx="0" ky="0" algn="bl" rotWithShape="0" blurRad="101600" dist="25400" dir="3600000">
              <a:srgbClr val="000000">
                <a:alpha val="16000"/>
              </a:srgbClr>
            </a:outerShdw>
          </a:effectLst>
        </p:spPr>
      </p:sp>
      <p:sp>
        <p:nvSpPr>
          <p:cNvPr id="19" name="Shape 16"/>
          <p:cNvSpPr/>
          <p:nvPr/>
        </p:nvSpPr>
        <p:spPr>
          <a:xfrm>
            <a:off x="6208776" y="1508760"/>
            <a:ext cx="5431536" cy="868680"/>
          </a:xfrm>
          <a:prstGeom prst="roundRect">
            <a:avLst>
              <a:gd name="adj" fmla="val 10526"/>
            </a:avLst>
          </a:prstGeom>
          <a:solidFill>
            <a:srgbClr val="B8860B">
              <a:alpha val="12000"/>
            </a:srgbClr>
          </a:solidFill>
          <a:ln w="12700">
            <a:solidFill>
              <a:srgbClr val="FFFFFF">
                <a:alpha val="0"/>
              </a:srgbClr>
            </a:solidFill>
            <a:prstDash val="solid"/>
          </a:ln>
        </p:spPr>
      </p:sp>
      <p:sp>
        <p:nvSpPr>
          <p:cNvPr id="20" name="Shape 17"/>
          <p:cNvSpPr/>
          <p:nvPr/>
        </p:nvSpPr>
        <p:spPr>
          <a:xfrm>
            <a:off x="6345936" y="1600200"/>
            <a:ext cx="685800" cy="685800"/>
          </a:xfrm>
          <a:prstGeom prst="roundRect">
            <a:avLst>
              <a:gd name="adj" fmla="val 10667"/>
            </a:avLst>
          </a:prstGeom>
          <a:solidFill>
            <a:srgbClr val="FFFFFF"/>
          </a:solidFill>
          <a:ln w="12700">
            <a:solidFill>
              <a:srgbClr val="FFFFFF">
                <a:alpha val="0"/>
              </a:srgbClr>
            </a:solidFill>
            <a:prstDash val="solid"/>
          </a:ln>
        </p:spPr>
      </p:sp>
      <p:pic>
        <p:nvPicPr>
          <p:cNvPr id="21" name="Image 0" descr="bust in silhouette">    </p:cNvPr>
          <p:cNvPicPr>
            <a:picLocks noChangeAspect="1"/>
          </p:cNvPicPr>
          <p:nvPr/>
        </p:nvPicPr>
        <p:blipFill>
          <a:blip r:embed="rId1"/>
          <a:stretch>
            <a:fillRect/>
          </a:stretch>
        </p:blipFill>
        <p:spPr>
          <a:xfrm>
            <a:off x="6688836" y="1683410"/>
            <a:ext cx="292151" cy="292151"/>
          </a:xfrm>
          <a:prstGeom prst="rect">
            <a:avLst/>
          </a:prstGeom>
        </p:spPr>
      </p:pic>
      <p:sp>
        <p:nvSpPr>
          <p:cNvPr id="22" name="Shape 18"/>
          <p:cNvSpPr/>
          <p:nvPr/>
        </p:nvSpPr>
        <p:spPr>
          <a:xfrm>
            <a:off x="6403177" y="2085929"/>
            <a:ext cx="571317" cy="914"/>
          </a:xfrm>
          <a:prstGeom prst="line">
            <a:avLst/>
          </a:prstGeom>
          <a:noFill/>
          <a:ln w="44450">
            <a:solidFill>
              <a:srgbClr val="B8860B"/>
            </a:solidFill>
            <a:prstDash val="solid"/>
            <a:tailEnd type="triangle"/>
          </a:ln>
        </p:spPr>
      </p:sp>
      <p:sp>
        <p:nvSpPr>
          <p:cNvPr id="23" name="Text 19"/>
          <p:cNvSpPr txBox="1"/>
          <p:nvPr/>
        </p:nvSpPr>
        <p:spPr>
          <a:xfrm>
            <a:off x="7168896" y="1600200"/>
            <a:ext cx="4334256" cy="685800"/>
          </a:xfrm>
          <a:prstGeom prst="rect">
            <a:avLst/>
          </a:prstGeom>
          <a:noFill/>
          <a:ln/>
        </p:spPr>
        <p:txBody>
          <a:bodyPr wrap="square" lIns="0" tIns="0" rIns="0" bIns="0" rtlCol="0" anchor="ctr"/>
          <a:lstStyle/>
          <a:p>
            <a:pPr algn="l" indent="0" marL="0">
              <a:buNone/>
            </a:pPr>
            <a:r>
              <a:rPr lang="en-US" sz="3000" b="1" dirty="0">
                <a:solidFill>
                  <a:srgbClr val="B8860B"/>
                </a:solidFill>
                <a:latin typeface="+mj-lt" pitchFamily="34" charset="0"/>
                <a:ea typeface="+mj-lt" pitchFamily="34" charset="-122"/>
                <a:cs typeface="+mj-lt" pitchFamily="34" charset="-120"/>
              </a:rPr>
              <a:t>VOOR-</a:t>
            </a:r>
            <a:endParaRPr lang="en-US" sz="3000" dirty="0"/>
          </a:p>
        </p:txBody>
      </p:sp>
      <p:sp>
        <p:nvSpPr>
          <p:cNvPr id="24" name="Text 20"/>
          <p:cNvSpPr txBox="1"/>
          <p:nvPr/>
        </p:nvSpPr>
        <p:spPr>
          <a:xfrm>
            <a:off x="6391656" y="2441448"/>
            <a:ext cx="5111496" cy="1097280"/>
          </a:xfrm>
          <a:prstGeom prst="rect">
            <a:avLst/>
          </a:prstGeom>
          <a:noFill/>
          <a:ln/>
        </p:spPr>
        <p:txBody>
          <a:bodyPr wrap="square" lIns="0" tIns="0" rIns="0" bIns="0" rtlCol="0" anchor="ctr"/>
          <a:lstStyle/>
          <a:p>
            <a:pPr algn="l" indent="0" marL="0">
              <a:buNone/>
            </a:pPr>
            <a:r>
              <a:rPr lang="en-US" sz="1500" b="1" dirty="0">
                <a:solidFill>
                  <a:schemeClr val="tx1"/>
                </a:solidFill>
              </a:rPr>
              <a:t>① devant, avant</a:t>
            </a:r>
            <a:endParaRPr lang="en-US" sz="1500" dirty="0"/>
          </a:p>
          <a:p>
            <a:pPr algn="l" indent="0" marL="0">
              <a:buNone/>
            </a:pPr>
            <a:r>
              <a:rPr lang="en-US" sz="1500" b="1" i="1" dirty="0">
                <a:solidFill>
                  <a:schemeClr val="tx1"/>
                </a:solidFill>
              </a:rPr>
              <a:t>voorbereiden</a:t>
            </a:r>
            <a:r>
              <a:rPr lang="en-US" sz="1500" dirty="0">
                <a:solidFill>
                  <a:schemeClr val="tx1"/>
                </a:solidFill>
              </a:rPr>
              <a:t> préparer</a:t>
            </a:r>
            <a:endParaRPr lang="en-US" sz="1500" dirty="0"/>
          </a:p>
          <a:p>
            <a:pPr algn="l" indent="0" marL="0">
              <a:buNone/>
            </a:pPr>
            <a:r>
              <a:rPr lang="en-US" sz="1500" b="1" i="1" dirty="0">
                <a:solidFill>
                  <a:schemeClr val="tx1"/>
                </a:solidFill>
              </a:rPr>
              <a:t>voorlezen</a:t>
            </a:r>
            <a:r>
              <a:rPr lang="en-US" sz="1500" dirty="0">
                <a:solidFill>
                  <a:schemeClr val="tx1"/>
                </a:solidFill>
              </a:rPr>
              <a:t> lire à voix haute</a:t>
            </a:r>
            <a:endParaRPr lang="en-US" sz="1500" dirty="0"/>
          </a:p>
        </p:txBody>
      </p:sp>
      <p:sp>
        <p:nvSpPr>
          <p:cNvPr id="25" name="Shape 21"/>
          <p:cNvSpPr/>
          <p:nvPr/>
        </p:nvSpPr>
        <p:spPr>
          <a:xfrm>
            <a:off x="6391656" y="3538728"/>
            <a:ext cx="5065776" cy="914"/>
          </a:xfrm>
          <a:prstGeom prst="line">
            <a:avLst/>
          </a:prstGeom>
          <a:noFill/>
          <a:ln w="9525">
            <a:solidFill>
              <a:srgbClr val="D5DCE6"/>
            </a:solidFill>
            <a:prstDash val="solid"/>
          </a:ln>
        </p:spPr>
      </p:sp>
      <p:sp>
        <p:nvSpPr>
          <p:cNvPr id="26" name="Text 22"/>
          <p:cNvSpPr txBox="1"/>
          <p:nvPr/>
        </p:nvSpPr>
        <p:spPr>
          <a:xfrm>
            <a:off x="6391656" y="3538728"/>
            <a:ext cx="5111496" cy="1402080"/>
          </a:xfrm>
          <a:prstGeom prst="rect">
            <a:avLst/>
          </a:prstGeom>
          <a:noFill/>
          <a:ln/>
        </p:spPr>
        <p:txBody>
          <a:bodyPr wrap="square" lIns="0" tIns="0" rIns="0" bIns="0" rtlCol="0" anchor="ctr"/>
          <a:lstStyle/>
          <a:p>
            <a:pPr algn="l" indent="0" marL="0">
              <a:buNone/>
            </a:pPr>
            <a:r>
              <a:rPr lang="en-US" sz="1500" b="1" dirty="0">
                <a:solidFill>
                  <a:schemeClr val="tx1"/>
                </a:solidFill>
              </a:rPr>
              <a:t>② montrer, proposer</a:t>
            </a:r>
            <a:endParaRPr lang="en-US" sz="1500" dirty="0"/>
          </a:p>
          <a:p>
            <a:pPr algn="l" indent="0" marL="0">
              <a:buNone/>
            </a:pPr>
            <a:r>
              <a:rPr lang="en-US" sz="1500" b="1" i="1" dirty="0">
                <a:solidFill>
                  <a:schemeClr val="tx1"/>
                </a:solidFill>
              </a:rPr>
              <a:t>voorstellen</a:t>
            </a:r>
            <a:r>
              <a:rPr lang="en-US" sz="1500" dirty="0">
                <a:solidFill>
                  <a:schemeClr val="tx1"/>
                </a:solidFill>
              </a:rPr>
              <a:t> proposer ; présenter</a:t>
            </a:r>
            <a:endParaRPr lang="en-US" sz="1500" dirty="0"/>
          </a:p>
          <a:p>
            <a:pPr algn="l" indent="0" marL="0">
              <a:buNone/>
            </a:pPr>
            <a:r>
              <a:rPr lang="en-US" sz="1500" b="1" i="1" dirty="0">
                <a:solidFill>
                  <a:schemeClr val="tx1"/>
                </a:solidFill>
              </a:rPr>
              <a:t>voordoen</a:t>
            </a:r>
            <a:r>
              <a:rPr lang="en-US" sz="1500" dirty="0">
                <a:solidFill>
                  <a:schemeClr val="tx1"/>
                </a:solidFill>
              </a:rPr>
              <a:t> montrer comment faire</a:t>
            </a:r>
            <a:endParaRPr lang="en-US" sz="1500" dirty="0"/>
          </a:p>
          <a:p>
            <a:pPr algn="l" indent="0" marL="0">
              <a:buNone/>
            </a:pPr>
            <a:r>
              <a:rPr lang="en-US" sz="1500" b="1" i="1" dirty="0">
                <a:solidFill>
                  <a:schemeClr val="tx1"/>
                </a:solidFill>
              </a:rPr>
              <a:t>voorzeggen</a:t>
            </a:r>
            <a:r>
              <a:rPr lang="en-US" sz="1500" dirty="0">
                <a:solidFill>
                  <a:schemeClr val="tx1"/>
                </a:solidFill>
              </a:rPr>
              <a:t> souffler (la réponse)</a:t>
            </a:r>
            <a:endParaRPr lang="en-US" sz="1500" dirty="0"/>
          </a:p>
        </p:txBody>
      </p:sp>
      <p:sp>
        <p:nvSpPr>
          <p:cNvPr id="27" name="Shape 23"/>
          <p:cNvSpPr/>
          <p:nvPr/>
        </p:nvSpPr>
        <p:spPr>
          <a:xfrm>
            <a:off x="6391656" y="4940808"/>
            <a:ext cx="5065776" cy="914"/>
          </a:xfrm>
          <a:prstGeom prst="line">
            <a:avLst/>
          </a:prstGeom>
          <a:noFill/>
          <a:ln w="9525">
            <a:solidFill>
              <a:srgbClr val="D5DCE6"/>
            </a:solidFill>
            <a:prstDash val="solid"/>
          </a:ln>
        </p:spPr>
      </p:sp>
      <p:sp>
        <p:nvSpPr>
          <p:cNvPr id="28" name="Text 24"/>
          <p:cNvSpPr txBox="1"/>
          <p:nvPr/>
        </p:nvSpPr>
        <p:spPr>
          <a:xfrm>
            <a:off x="6391656" y="4940808"/>
            <a:ext cx="5111496" cy="792480"/>
          </a:xfrm>
          <a:prstGeom prst="rect">
            <a:avLst/>
          </a:prstGeom>
          <a:noFill/>
          <a:ln/>
        </p:spPr>
        <p:txBody>
          <a:bodyPr wrap="square" lIns="0" tIns="0" rIns="0" bIns="0" rtlCol="0" anchor="ctr"/>
          <a:lstStyle/>
          <a:p>
            <a:pPr algn="l" indent="0" marL="0">
              <a:buNone/>
            </a:pPr>
            <a:r>
              <a:rPr lang="en-US" sz="1500" b="1" dirty="0">
                <a:solidFill>
                  <a:schemeClr val="tx1"/>
                </a:solidFill>
              </a:rPr>
              <a:t>③ figuré</a:t>
            </a:r>
            <a:endParaRPr lang="en-US" sz="1500" dirty="0"/>
          </a:p>
          <a:p>
            <a:pPr algn="l" indent="0" marL="0">
              <a:buNone/>
            </a:pPr>
            <a:r>
              <a:rPr lang="en-US" sz="1500" b="1" i="1" dirty="0">
                <a:solidFill>
                  <a:schemeClr val="tx1"/>
                </a:solidFill>
              </a:rPr>
              <a:t>voorkomen</a:t>
            </a:r>
            <a:r>
              <a:rPr lang="en-US" sz="1500" dirty="0">
                <a:solidFill>
                  <a:schemeClr val="tx1"/>
                </a:solidFill>
              </a:rPr>
              <a:t> se produire</a:t>
            </a:r>
            <a:endParaRPr lang="en-US" sz="1500" dirty="0"/>
          </a:p>
        </p:txBody>
      </p:sp>
      <p:sp>
        <p:nvSpPr>
          <p:cNvPr id="29" name="Shape 25"/>
          <p:cNvSpPr/>
          <p:nvPr/>
        </p:nvSpPr>
        <p:spPr>
          <a:xfrm>
            <a:off x="6318504" y="5715000"/>
            <a:ext cx="5212080" cy="411480"/>
          </a:xfrm>
          <a:prstGeom prst="roundRect">
            <a:avLst>
              <a:gd name="adj" fmla="val 17778"/>
            </a:avLst>
          </a:prstGeom>
          <a:solidFill>
            <a:srgbClr val="B8860B">
              <a:alpha val="10000"/>
            </a:srgbClr>
          </a:solidFill>
          <a:ln w="12700">
            <a:solidFill>
              <a:srgbClr val="FFFFFF">
                <a:alpha val="0"/>
              </a:srgbClr>
            </a:solidFill>
            <a:prstDash val="solid"/>
          </a:ln>
        </p:spPr>
      </p:sp>
      <p:sp>
        <p:nvSpPr>
          <p:cNvPr id="30" name="Text 26"/>
          <p:cNvSpPr txBox="1"/>
          <p:nvPr/>
        </p:nvSpPr>
        <p:spPr>
          <a:xfrm>
            <a:off x="6391656" y="5715000"/>
            <a:ext cx="5065776" cy="411480"/>
          </a:xfrm>
          <a:prstGeom prst="rect">
            <a:avLst/>
          </a:prstGeom>
          <a:noFill/>
          <a:ln/>
        </p:spPr>
        <p:txBody>
          <a:bodyPr wrap="square" lIns="0" tIns="0" rIns="0" bIns="0" rtlCol="0" anchor="ctr"/>
          <a:lstStyle/>
          <a:p>
            <a:pPr algn="l" indent="0" marL="0">
              <a:buNone/>
            </a:pPr>
            <a:r>
              <a:rPr lang="en-US" sz="1300" dirty="0">
                <a:solidFill>
                  <a:schemeClr val="tx1"/>
                </a:solidFill>
              </a:rPr>
              <a:t>doublet : </a:t>
            </a:r>
            <a:r>
              <a:rPr lang="en-US" sz="1300" i="1" dirty="0">
                <a:solidFill>
                  <a:schemeClr val="tx1"/>
                </a:solidFill>
              </a:rPr>
              <a:t>voorKOmen</a:t>
            </a:r>
            <a:r>
              <a:rPr lang="en-US" sz="1300" dirty="0">
                <a:solidFill>
                  <a:schemeClr val="tx1"/>
                </a:solidFill>
              </a:rPr>
              <a:t> = éviter (diapo 18)</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Et aussi…</a:t>
            </a:r>
            <a:endParaRPr lang="en-US" sz="3000" dirty="0"/>
          </a:p>
        </p:txBody>
      </p:sp>
      <p:sp>
        <p:nvSpPr>
          <p:cNvPr id="3" name="tag"/>
          <p:cNvSpPr/>
          <p:nvPr/>
        </p:nvSpPr>
        <p:spPr>
          <a:xfrm>
            <a:off x="548640" y="237744"/>
            <a:ext cx="1876349"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LES PARTICULES</a:t>
            </a:r>
            <a:endParaRPr lang="en-US" sz="1200" dirty="0"/>
          </a:p>
        </p:txBody>
      </p:sp>
      <p:sp>
        <p:nvSpPr>
          <p:cNvPr id="5" name="Shape 2"/>
          <p:cNvSpPr/>
          <p:nvPr/>
        </p:nvSpPr>
        <p:spPr>
          <a:xfrm>
            <a:off x="548640" y="1554480"/>
            <a:ext cx="2108606" cy="2011680"/>
          </a:xfrm>
          <a:prstGeom prst="roundRect">
            <a:avLst>
              <a:gd name="adj" fmla="val 4545"/>
            </a:avLst>
          </a:prstGeom>
          <a:solidFill>
            <a:srgbClr val="FFFFFF"/>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548640" y="1627632"/>
            <a:ext cx="2108606" cy="457200"/>
          </a:xfrm>
          <a:prstGeom prst="rect">
            <a:avLst/>
          </a:prstGeom>
          <a:noFill/>
          <a:ln/>
        </p:spPr>
        <p:txBody>
          <a:bodyPr wrap="square" lIns="0" tIns="0" rIns="0" bIns="0" rtlCol="0" anchor="ctr"/>
          <a:lstStyle/>
          <a:p>
            <a:pPr algn="ctr" indent="0" marL="0">
              <a:buNone/>
            </a:pPr>
            <a:r>
              <a:rPr lang="en-US" sz="2000" b="1" dirty="0">
                <a:solidFill>
                  <a:schemeClr val="accent2"/>
                </a:solidFill>
                <a:latin typeface="+mj-lt" pitchFamily="34" charset="0"/>
                <a:ea typeface="+mj-lt" pitchFamily="34" charset="-122"/>
                <a:cs typeface="+mj-lt" pitchFamily="34" charset="-120"/>
              </a:rPr>
              <a:t>TERUG-</a:t>
            </a:r>
            <a:endParaRPr lang="en-US" sz="2000" dirty="0"/>
          </a:p>
        </p:txBody>
      </p:sp>
      <p:sp>
        <p:nvSpPr>
          <p:cNvPr id="7" name="Text 4"/>
          <p:cNvSpPr txBox="1"/>
          <p:nvPr/>
        </p:nvSpPr>
        <p:spPr>
          <a:xfrm>
            <a:off x="548640" y="2057400"/>
            <a:ext cx="2108606" cy="320040"/>
          </a:xfrm>
          <a:prstGeom prst="rect">
            <a:avLst/>
          </a:prstGeom>
          <a:noFill/>
          <a:ln/>
        </p:spPr>
        <p:txBody>
          <a:bodyPr wrap="square" lIns="0" tIns="0" rIns="0" bIns="0" rtlCol="0" anchor="t"/>
          <a:lstStyle/>
          <a:p>
            <a:pPr algn="ctr" indent="0" marL="0">
              <a:buNone/>
            </a:pPr>
            <a:r>
              <a:rPr lang="en-US" sz="1300" i="1" dirty="0">
                <a:solidFill>
                  <a:schemeClr val="accent5"/>
                </a:solidFill>
              </a:rPr>
              <a:t>retour</a:t>
            </a:r>
            <a:endParaRPr lang="en-US" sz="1300" dirty="0"/>
          </a:p>
        </p:txBody>
      </p:sp>
      <p:sp>
        <p:nvSpPr>
          <p:cNvPr id="8" name="Text 5"/>
          <p:cNvSpPr txBox="1"/>
          <p:nvPr/>
        </p:nvSpPr>
        <p:spPr>
          <a:xfrm>
            <a:off x="621792" y="2423160"/>
            <a:ext cx="1962302" cy="1051560"/>
          </a:xfrm>
          <a:prstGeom prst="rect">
            <a:avLst/>
          </a:prstGeom>
          <a:noFill/>
          <a:ln/>
        </p:spPr>
        <p:txBody>
          <a:bodyPr wrap="square" lIns="0" tIns="0" rIns="0" bIns="0" rtlCol="0" anchor="ctr"/>
          <a:lstStyle/>
          <a:p>
            <a:pPr algn="ctr" indent="0" marL="0">
              <a:spcAft>
                <a:spcPts val="300"/>
              </a:spcAft>
              <a:buNone/>
            </a:pPr>
            <a:r>
              <a:rPr lang="en-US" sz="1300" b="1" i="1" dirty="0">
                <a:solidFill>
                  <a:schemeClr val="tx1"/>
                </a:solidFill>
              </a:rPr>
              <a:t>terugbellen · terugbetalen</a:t>
            </a:r>
            <a:endParaRPr lang="en-US" sz="1300" dirty="0"/>
          </a:p>
          <a:p>
            <a:pPr algn="ctr" indent="0" marL="0">
              <a:spcAft>
                <a:spcPts val="300"/>
              </a:spcAft>
              <a:buNone/>
            </a:pPr>
            <a:r>
              <a:rPr lang="en-US" sz="1300" dirty="0">
                <a:solidFill>
                  <a:schemeClr val="tx1"/>
                </a:solidFill>
              </a:rPr>
              <a:t>rappeler · rembourser</a:t>
            </a:r>
            <a:endParaRPr lang="en-US" sz="1300" dirty="0"/>
          </a:p>
        </p:txBody>
      </p:sp>
      <p:sp>
        <p:nvSpPr>
          <p:cNvPr id="9" name="Shape 6"/>
          <p:cNvSpPr/>
          <p:nvPr/>
        </p:nvSpPr>
        <p:spPr>
          <a:xfrm>
            <a:off x="2794406" y="1554480"/>
            <a:ext cx="2108606" cy="2011680"/>
          </a:xfrm>
          <a:prstGeom prst="roundRect">
            <a:avLst>
              <a:gd name="adj" fmla="val 4545"/>
            </a:avLst>
          </a:prstGeom>
          <a:solidFill>
            <a:srgbClr val="FFFFFF"/>
          </a:solidFill>
          <a:ln w="25400">
            <a:solidFill>
              <a:srgbClr val="B83227"/>
            </a:solidFill>
            <a:prstDash val="solid"/>
          </a:ln>
          <a:effectLst>
            <a:outerShdw sx="100000" sy="100000" kx="0" ky="0" algn="bl" rotWithShape="0" blurRad="101600" dist="25400" dir="3600000">
              <a:srgbClr val="000000">
                <a:alpha val="16000"/>
              </a:srgbClr>
            </a:outerShdw>
          </a:effectLst>
        </p:spPr>
      </p:sp>
      <p:sp>
        <p:nvSpPr>
          <p:cNvPr id="10" name="Text 7"/>
          <p:cNvSpPr txBox="1"/>
          <p:nvPr/>
        </p:nvSpPr>
        <p:spPr>
          <a:xfrm>
            <a:off x="2794406" y="1627632"/>
            <a:ext cx="2108606" cy="457200"/>
          </a:xfrm>
          <a:prstGeom prst="rect">
            <a:avLst/>
          </a:prstGeom>
          <a:noFill/>
          <a:ln/>
        </p:spPr>
        <p:txBody>
          <a:bodyPr wrap="square" lIns="0" tIns="0" rIns="0" bIns="0" rtlCol="0" anchor="ctr"/>
          <a:lstStyle/>
          <a:p>
            <a:pPr algn="ctr" indent="0" marL="0">
              <a:buNone/>
            </a:pPr>
            <a:r>
              <a:rPr lang="en-US" sz="2000" b="1" dirty="0">
                <a:solidFill>
                  <a:schemeClr val="accent6"/>
                </a:solidFill>
                <a:latin typeface="+mj-lt" pitchFamily="34" charset="0"/>
                <a:ea typeface="+mj-lt" pitchFamily="34" charset="-122"/>
                <a:cs typeface="+mj-lt" pitchFamily="34" charset="-120"/>
              </a:rPr>
              <a:t>WEG-</a:t>
            </a:r>
            <a:endParaRPr lang="en-US" sz="2000" dirty="0"/>
          </a:p>
        </p:txBody>
      </p:sp>
      <p:sp>
        <p:nvSpPr>
          <p:cNvPr id="11" name="Text 8"/>
          <p:cNvSpPr txBox="1"/>
          <p:nvPr/>
        </p:nvSpPr>
        <p:spPr>
          <a:xfrm>
            <a:off x="2794406" y="2057400"/>
            <a:ext cx="2108606" cy="320040"/>
          </a:xfrm>
          <a:prstGeom prst="rect">
            <a:avLst/>
          </a:prstGeom>
          <a:noFill/>
          <a:ln/>
        </p:spPr>
        <p:txBody>
          <a:bodyPr wrap="square" lIns="0" tIns="0" rIns="0" bIns="0" rtlCol="0" anchor="t"/>
          <a:lstStyle/>
          <a:p>
            <a:pPr algn="ctr" indent="0" marL="0">
              <a:buNone/>
            </a:pPr>
            <a:r>
              <a:rPr lang="en-US" sz="1300" i="1" dirty="0">
                <a:solidFill>
                  <a:schemeClr val="accent5"/>
                </a:solidFill>
              </a:rPr>
              <a:t>départ, disparition</a:t>
            </a:r>
            <a:endParaRPr lang="en-US" sz="1300" dirty="0"/>
          </a:p>
        </p:txBody>
      </p:sp>
      <p:sp>
        <p:nvSpPr>
          <p:cNvPr id="12" name="Text 9"/>
          <p:cNvSpPr txBox="1"/>
          <p:nvPr/>
        </p:nvSpPr>
        <p:spPr>
          <a:xfrm>
            <a:off x="2867558" y="2423160"/>
            <a:ext cx="1962302" cy="1051560"/>
          </a:xfrm>
          <a:prstGeom prst="rect">
            <a:avLst/>
          </a:prstGeom>
          <a:noFill/>
          <a:ln/>
        </p:spPr>
        <p:txBody>
          <a:bodyPr wrap="square" lIns="0" tIns="0" rIns="0" bIns="0" rtlCol="0" anchor="ctr"/>
          <a:lstStyle/>
          <a:p>
            <a:pPr algn="ctr" indent="0" marL="0">
              <a:spcAft>
                <a:spcPts val="300"/>
              </a:spcAft>
              <a:buNone/>
            </a:pPr>
            <a:r>
              <a:rPr lang="en-US" sz="1300" b="1" i="1" dirty="0">
                <a:solidFill>
                  <a:schemeClr val="tx1"/>
                </a:solidFill>
              </a:rPr>
              <a:t>weggaan · weggooien</a:t>
            </a:r>
            <a:endParaRPr lang="en-US" sz="1300" dirty="0"/>
          </a:p>
          <a:p>
            <a:pPr algn="ctr" indent="0" marL="0">
              <a:spcAft>
                <a:spcPts val="300"/>
              </a:spcAft>
              <a:buNone/>
            </a:pPr>
            <a:r>
              <a:rPr lang="en-US" sz="1300" dirty="0">
                <a:solidFill>
                  <a:schemeClr val="tx1"/>
                </a:solidFill>
              </a:rPr>
              <a:t>partir · jeter</a:t>
            </a:r>
            <a:endParaRPr lang="en-US" sz="1300" dirty="0"/>
          </a:p>
        </p:txBody>
      </p:sp>
      <p:sp>
        <p:nvSpPr>
          <p:cNvPr id="13" name="Shape 10"/>
          <p:cNvSpPr/>
          <p:nvPr/>
        </p:nvSpPr>
        <p:spPr>
          <a:xfrm>
            <a:off x="5040173" y="1554480"/>
            <a:ext cx="2108606" cy="2011680"/>
          </a:xfrm>
          <a:prstGeom prst="roundRect">
            <a:avLst>
              <a:gd name="adj" fmla="val 4545"/>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14" name="Text 11"/>
          <p:cNvSpPr txBox="1"/>
          <p:nvPr/>
        </p:nvSpPr>
        <p:spPr>
          <a:xfrm>
            <a:off x="5040173" y="1627632"/>
            <a:ext cx="2108606" cy="457200"/>
          </a:xfrm>
          <a:prstGeom prst="rect">
            <a:avLst/>
          </a:prstGeom>
          <a:noFill/>
          <a:ln/>
        </p:spPr>
        <p:txBody>
          <a:bodyPr wrap="square" lIns="0" tIns="0" rIns="0" bIns="0" rtlCol="0" anchor="ctr"/>
          <a:lstStyle/>
          <a:p>
            <a:pPr algn="ctr" indent="0" marL="0">
              <a:buNone/>
            </a:pPr>
            <a:r>
              <a:rPr lang="en-US" sz="2000" b="1" dirty="0">
                <a:solidFill>
                  <a:schemeClr val="accent3"/>
                </a:solidFill>
                <a:latin typeface="+mj-lt" pitchFamily="34" charset="0"/>
                <a:ea typeface="+mj-lt" pitchFamily="34" charset="-122"/>
                <a:cs typeface="+mj-lt" pitchFamily="34" charset="-120"/>
              </a:rPr>
              <a:t>SAMEN-</a:t>
            </a:r>
            <a:endParaRPr lang="en-US" sz="2000" dirty="0"/>
          </a:p>
        </p:txBody>
      </p:sp>
      <p:sp>
        <p:nvSpPr>
          <p:cNvPr id="15" name="Text 12"/>
          <p:cNvSpPr txBox="1"/>
          <p:nvPr/>
        </p:nvSpPr>
        <p:spPr>
          <a:xfrm>
            <a:off x="5040173" y="2057400"/>
            <a:ext cx="2108606" cy="320040"/>
          </a:xfrm>
          <a:prstGeom prst="rect">
            <a:avLst/>
          </a:prstGeom>
          <a:noFill/>
          <a:ln/>
        </p:spPr>
        <p:txBody>
          <a:bodyPr wrap="square" lIns="0" tIns="0" rIns="0" bIns="0" rtlCol="0" anchor="t"/>
          <a:lstStyle/>
          <a:p>
            <a:pPr algn="ctr" indent="0" marL="0">
              <a:buNone/>
            </a:pPr>
            <a:r>
              <a:rPr lang="en-US" sz="1300" i="1" dirty="0">
                <a:solidFill>
                  <a:schemeClr val="accent5"/>
                </a:solidFill>
              </a:rPr>
              <a:t>ensemble</a:t>
            </a:r>
            <a:endParaRPr lang="en-US" sz="1300" dirty="0"/>
          </a:p>
        </p:txBody>
      </p:sp>
      <p:sp>
        <p:nvSpPr>
          <p:cNvPr id="16" name="Text 13"/>
          <p:cNvSpPr txBox="1"/>
          <p:nvPr/>
        </p:nvSpPr>
        <p:spPr>
          <a:xfrm>
            <a:off x="5113325" y="2423160"/>
            <a:ext cx="1962302" cy="1051560"/>
          </a:xfrm>
          <a:prstGeom prst="rect">
            <a:avLst/>
          </a:prstGeom>
          <a:noFill/>
          <a:ln/>
        </p:spPr>
        <p:txBody>
          <a:bodyPr wrap="square" lIns="0" tIns="0" rIns="0" bIns="0" rtlCol="0" anchor="ctr"/>
          <a:lstStyle/>
          <a:p>
            <a:pPr algn="ctr" indent="0" marL="0">
              <a:spcAft>
                <a:spcPts val="300"/>
              </a:spcAft>
              <a:buNone/>
            </a:pPr>
            <a:r>
              <a:rPr lang="en-US" sz="1300" b="1" i="1" dirty="0">
                <a:solidFill>
                  <a:schemeClr val="tx1"/>
                </a:solidFill>
              </a:rPr>
              <a:t>samenwerken · samenvatten</a:t>
            </a:r>
            <a:endParaRPr lang="en-US" sz="1300" dirty="0"/>
          </a:p>
          <a:p>
            <a:pPr algn="ctr" indent="0" marL="0">
              <a:spcAft>
                <a:spcPts val="300"/>
              </a:spcAft>
              <a:buNone/>
            </a:pPr>
            <a:r>
              <a:rPr lang="en-US" sz="1300" dirty="0">
                <a:solidFill>
                  <a:schemeClr val="tx1"/>
                </a:solidFill>
              </a:rPr>
              <a:t>collaborer · résumer</a:t>
            </a:r>
            <a:endParaRPr lang="en-US" sz="1300" dirty="0"/>
          </a:p>
        </p:txBody>
      </p:sp>
      <p:sp>
        <p:nvSpPr>
          <p:cNvPr id="17" name="Shape 14"/>
          <p:cNvSpPr/>
          <p:nvPr/>
        </p:nvSpPr>
        <p:spPr>
          <a:xfrm>
            <a:off x="7285939" y="1554480"/>
            <a:ext cx="2108606" cy="2011680"/>
          </a:xfrm>
          <a:prstGeom prst="roundRect">
            <a:avLst>
              <a:gd name="adj" fmla="val 4545"/>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8" name="Text 15"/>
          <p:cNvSpPr txBox="1"/>
          <p:nvPr/>
        </p:nvSpPr>
        <p:spPr>
          <a:xfrm>
            <a:off x="7285939" y="1627632"/>
            <a:ext cx="2108606" cy="457200"/>
          </a:xfrm>
          <a:prstGeom prst="rect">
            <a:avLst/>
          </a:prstGeom>
          <a:noFill/>
          <a:ln/>
        </p:spPr>
        <p:txBody>
          <a:bodyPr wrap="square" lIns="0" tIns="0" rIns="0" bIns="0" rtlCol="0" anchor="ctr"/>
          <a:lstStyle/>
          <a:p>
            <a:pPr algn="ctr" indent="0" marL="0">
              <a:buNone/>
            </a:pPr>
            <a:r>
              <a:rPr lang="en-US" sz="2000" b="1" dirty="0">
                <a:solidFill>
                  <a:schemeClr val="tx2"/>
                </a:solidFill>
                <a:latin typeface="+mj-lt" pitchFamily="34" charset="0"/>
                <a:ea typeface="+mj-lt" pitchFamily="34" charset="-122"/>
                <a:cs typeface="+mj-lt" pitchFamily="34" charset="-120"/>
              </a:rPr>
              <a:t>VAST-</a:t>
            </a:r>
            <a:endParaRPr lang="en-US" sz="2000" dirty="0"/>
          </a:p>
        </p:txBody>
      </p:sp>
      <p:sp>
        <p:nvSpPr>
          <p:cNvPr id="19" name="Text 16"/>
          <p:cNvSpPr txBox="1"/>
          <p:nvPr/>
        </p:nvSpPr>
        <p:spPr>
          <a:xfrm>
            <a:off x="7285939" y="2057400"/>
            <a:ext cx="2108606" cy="320040"/>
          </a:xfrm>
          <a:prstGeom prst="rect">
            <a:avLst/>
          </a:prstGeom>
          <a:noFill/>
          <a:ln/>
        </p:spPr>
        <p:txBody>
          <a:bodyPr wrap="square" lIns="0" tIns="0" rIns="0" bIns="0" rtlCol="0" anchor="t"/>
          <a:lstStyle/>
          <a:p>
            <a:pPr algn="ctr" indent="0" marL="0">
              <a:buNone/>
            </a:pPr>
            <a:r>
              <a:rPr lang="en-US" sz="1300" i="1" dirty="0">
                <a:solidFill>
                  <a:schemeClr val="accent5"/>
                </a:solidFill>
              </a:rPr>
              <a:t>fixé</a:t>
            </a:r>
            <a:endParaRPr lang="en-US" sz="1300" dirty="0"/>
          </a:p>
        </p:txBody>
      </p:sp>
      <p:sp>
        <p:nvSpPr>
          <p:cNvPr id="20" name="Text 17"/>
          <p:cNvSpPr txBox="1"/>
          <p:nvPr/>
        </p:nvSpPr>
        <p:spPr>
          <a:xfrm>
            <a:off x="7359091" y="2423160"/>
            <a:ext cx="1962302" cy="1051560"/>
          </a:xfrm>
          <a:prstGeom prst="rect">
            <a:avLst/>
          </a:prstGeom>
          <a:noFill/>
          <a:ln/>
        </p:spPr>
        <p:txBody>
          <a:bodyPr wrap="square" lIns="0" tIns="0" rIns="0" bIns="0" rtlCol="0" anchor="ctr"/>
          <a:lstStyle/>
          <a:p>
            <a:pPr algn="ctr" indent="0" marL="0">
              <a:spcAft>
                <a:spcPts val="300"/>
              </a:spcAft>
              <a:buNone/>
            </a:pPr>
            <a:r>
              <a:rPr lang="en-US" sz="1300" b="1" i="1" dirty="0">
                <a:solidFill>
                  <a:schemeClr val="tx1"/>
                </a:solidFill>
              </a:rPr>
              <a:t>vastleggen · vaststellen</a:t>
            </a:r>
            <a:endParaRPr lang="en-US" sz="1300" dirty="0"/>
          </a:p>
          <a:p>
            <a:pPr algn="ctr" indent="0" marL="0">
              <a:spcAft>
                <a:spcPts val="300"/>
              </a:spcAft>
              <a:buNone/>
            </a:pPr>
            <a:r>
              <a:rPr lang="en-US" sz="1300" dirty="0">
                <a:solidFill>
                  <a:schemeClr val="tx1"/>
                </a:solidFill>
              </a:rPr>
              <a:t>fixer · constater</a:t>
            </a:r>
            <a:endParaRPr lang="en-US" sz="1300" dirty="0"/>
          </a:p>
        </p:txBody>
      </p:sp>
      <p:sp>
        <p:nvSpPr>
          <p:cNvPr id="21" name="Shape 18"/>
          <p:cNvSpPr/>
          <p:nvPr/>
        </p:nvSpPr>
        <p:spPr>
          <a:xfrm>
            <a:off x="9531706" y="1554480"/>
            <a:ext cx="2108606" cy="2011680"/>
          </a:xfrm>
          <a:prstGeom prst="roundRect">
            <a:avLst>
              <a:gd name="adj" fmla="val 4545"/>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2" name="Text 19"/>
          <p:cNvSpPr txBox="1"/>
          <p:nvPr/>
        </p:nvSpPr>
        <p:spPr>
          <a:xfrm>
            <a:off x="9531706" y="1627632"/>
            <a:ext cx="2108606" cy="457200"/>
          </a:xfrm>
          <a:prstGeom prst="rect">
            <a:avLst/>
          </a:prstGeom>
          <a:noFill/>
          <a:ln/>
        </p:spPr>
        <p:txBody>
          <a:bodyPr wrap="square" lIns="0" tIns="0" rIns="0" bIns="0" rtlCol="0" anchor="ctr"/>
          <a:lstStyle/>
          <a:p>
            <a:pPr algn="ctr" indent="0" marL="0">
              <a:buNone/>
            </a:pPr>
            <a:r>
              <a:rPr lang="en-US" sz="2000" b="1" dirty="0">
                <a:solidFill>
                  <a:schemeClr val="accent1"/>
                </a:solidFill>
                <a:latin typeface="+mj-lt" pitchFamily="34" charset="0"/>
                <a:ea typeface="+mj-lt" pitchFamily="34" charset="-122"/>
                <a:cs typeface="+mj-lt" pitchFamily="34" charset="-120"/>
              </a:rPr>
              <a:t>LOS-</a:t>
            </a:r>
            <a:endParaRPr lang="en-US" sz="2000" dirty="0"/>
          </a:p>
        </p:txBody>
      </p:sp>
      <p:sp>
        <p:nvSpPr>
          <p:cNvPr id="23" name="Text 20"/>
          <p:cNvSpPr txBox="1"/>
          <p:nvPr/>
        </p:nvSpPr>
        <p:spPr>
          <a:xfrm>
            <a:off x="9531706" y="2057400"/>
            <a:ext cx="2108606" cy="320040"/>
          </a:xfrm>
          <a:prstGeom prst="rect">
            <a:avLst/>
          </a:prstGeom>
          <a:noFill/>
          <a:ln/>
        </p:spPr>
        <p:txBody>
          <a:bodyPr wrap="square" lIns="0" tIns="0" rIns="0" bIns="0" rtlCol="0" anchor="t"/>
          <a:lstStyle/>
          <a:p>
            <a:pPr algn="ctr" indent="0" marL="0">
              <a:buNone/>
            </a:pPr>
            <a:r>
              <a:rPr lang="en-US" sz="1300" i="1" dirty="0">
                <a:solidFill>
                  <a:schemeClr val="accent5"/>
                </a:solidFill>
              </a:rPr>
              <a:t>détaché</a:t>
            </a:r>
            <a:endParaRPr lang="en-US" sz="1300" dirty="0"/>
          </a:p>
        </p:txBody>
      </p:sp>
      <p:sp>
        <p:nvSpPr>
          <p:cNvPr id="24" name="Text 21"/>
          <p:cNvSpPr txBox="1"/>
          <p:nvPr/>
        </p:nvSpPr>
        <p:spPr>
          <a:xfrm>
            <a:off x="9604858" y="2423160"/>
            <a:ext cx="1962302" cy="1051560"/>
          </a:xfrm>
          <a:prstGeom prst="rect">
            <a:avLst/>
          </a:prstGeom>
          <a:noFill/>
          <a:ln/>
        </p:spPr>
        <p:txBody>
          <a:bodyPr wrap="square" lIns="0" tIns="0" rIns="0" bIns="0" rtlCol="0" anchor="ctr"/>
          <a:lstStyle/>
          <a:p>
            <a:pPr algn="ctr" indent="0" marL="0">
              <a:spcAft>
                <a:spcPts val="300"/>
              </a:spcAft>
              <a:buNone/>
            </a:pPr>
            <a:r>
              <a:rPr lang="en-US" sz="1300" b="1" i="1" dirty="0">
                <a:solidFill>
                  <a:schemeClr val="tx1"/>
                </a:solidFill>
              </a:rPr>
              <a:t>loslaten · losmaken</a:t>
            </a:r>
            <a:endParaRPr lang="en-US" sz="1300" dirty="0"/>
          </a:p>
          <a:p>
            <a:pPr algn="ctr" indent="0" marL="0">
              <a:spcAft>
                <a:spcPts val="300"/>
              </a:spcAft>
              <a:buNone/>
            </a:pPr>
            <a:r>
              <a:rPr lang="en-US" sz="1300" dirty="0">
                <a:solidFill>
                  <a:schemeClr val="tx1"/>
                </a:solidFill>
              </a:rPr>
              <a:t>lâcher · détacher</a:t>
            </a:r>
            <a:endParaRPr lang="en-US" sz="1300" dirty="0"/>
          </a:p>
        </p:txBody>
      </p:sp>
      <p:sp>
        <p:nvSpPr>
          <p:cNvPr id="25" name="Text 22"/>
          <p:cNvSpPr txBox="1"/>
          <p:nvPr/>
        </p:nvSpPr>
        <p:spPr>
          <a:xfrm>
            <a:off x="548640" y="3749040"/>
            <a:ext cx="7315200" cy="347472"/>
          </a:xfrm>
          <a:prstGeom prst="rect">
            <a:avLst/>
          </a:prstGeom>
          <a:noFill/>
          <a:ln/>
        </p:spPr>
        <p:txBody>
          <a:bodyPr wrap="square" lIns="0" tIns="0" rIns="0" bIns="0" rtlCol="0" anchor="t"/>
          <a:lstStyle/>
          <a:p>
            <a:pPr algn="l" indent="0" marL="0">
              <a:buNone/>
            </a:pPr>
            <a:r>
              <a:rPr lang="en-US" sz="1300" b="1" spc="200" kern="0" dirty="0">
                <a:solidFill>
                  <a:schemeClr val="accent5"/>
                </a:solidFill>
              </a:rPr>
              <a:t>ADJECTIF OU NOM + VERBE</a:t>
            </a:r>
            <a:endParaRPr lang="en-US" sz="1300" dirty="0"/>
          </a:p>
        </p:txBody>
      </p:sp>
      <p:sp>
        <p:nvSpPr>
          <p:cNvPr id="26" name="Shape 23"/>
          <p:cNvSpPr/>
          <p:nvPr/>
        </p:nvSpPr>
        <p:spPr>
          <a:xfrm>
            <a:off x="548640" y="4206240"/>
            <a:ext cx="2697480" cy="548640"/>
          </a:xfrm>
          <a:prstGeom prst="roundRect">
            <a:avLst>
              <a:gd name="adj" fmla="val 16667"/>
            </a:avLst>
          </a:prstGeom>
          <a:solidFill>
            <a:schemeClr val="bg2"/>
          </a:solidFill>
          <a:ln w="12700">
            <a:solidFill>
              <a:srgbClr val="D5DCE6"/>
            </a:solidFill>
            <a:prstDash val="solid"/>
          </a:ln>
        </p:spPr>
      </p:sp>
      <p:sp>
        <p:nvSpPr>
          <p:cNvPr id="27" name="Text 24"/>
          <p:cNvSpPr txBox="1"/>
          <p:nvPr/>
        </p:nvSpPr>
        <p:spPr>
          <a:xfrm>
            <a:off x="640080" y="4206240"/>
            <a:ext cx="2560320" cy="548640"/>
          </a:xfrm>
          <a:prstGeom prst="rect">
            <a:avLst/>
          </a:prstGeom>
          <a:noFill/>
          <a:ln/>
        </p:spPr>
        <p:txBody>
          <a:bodyPr wrap="square" lIns="0" tIns="0" rIns="0" bIns="0" rtlCol="0" anchor="ctr"/>
          <a:lstStyle/>
          <a:p>
            <a:pPr algn="l" indent="0" marL="0">
              <a:buNone/>
            </a:pPr>
            <a:r>
              <a:rPr lang="en-US" sz="1400" b="1" i="1" dirty="0">
                <a:solidFill>
                  <a:schemeClr val="tx1"/>
                </a:solidFill>
              </a:rPr>
              <a:t>schoonmaken</a:t>
            </a:r>
            <a:r>
              <a:rPr lang="en-US" sz="1400" dirty="0">
                <a:solidFill>
                  <a:schemeClr val="tx1"/>
                </a:solidFill>
              </a:rPr>
              <a:t> nettoyer</a:t>
            </a:r>
            <a:endParaRPr lang="en-US" sz="1400" dirty="0"/>
          </a:p>
        </p:txBody>
      </p:sp>
      <p:sp>
        <p:nvSpPr>
          <p:cNvPr id="28" name="Shape 25"/>
          <p:cNvSpPr/>
          <p:nvPr/>
        </p:nvSpPr>
        <p:spPr>
          <a:xfrm>
            <a:off x="3355848" y="4206240"/>
            <a:ext cx="2697480" cy="548640"/>
          </a:xfrm>
          <a:prstGeom prst="roundRect">
            <a:avLst>
              <a:gd name="adj" fmla="val 16667"/>
            </a:avLst>
          </a:prstGeom>
          <a:solidFill>
            <a:schemeClr val="bg2"/>
          </a:solidFill>
          <a:ln w="12700">
            <a:solidFill>
              <a:srgbClr val="D5DCE6"/>
            </a:solidFill>
            <a:prstDash val="solid"/>
          </a:ln>
        </p:spPr>
      </p:sp>
      <p:sp>
        <p:nvSpPr>
          <p:cNvPr id="29" name="Text 26"/>
          <p:cNvSpPr txBox="1"/>
          <p:nvPr/>
        </p:nvSpPr>
        <p:spPr>
          <a:xfrm>
            <a:off x="3447288" y="4206240"/>
            <a:ext cx="2560320" cy="548640"/>
          </a:xfrm>
          <a:prstGeom prst="rect">
            <a:avLst/>
          </a:prstGeom>
          <a:noFill/>
          <a:ln/>
        </p:spPr>
        <p:txBody>
          <a:bodyPr wrap="square" lIns="0" tIns="0" rIns="0" bIns="0" rtlCol="0" anchor="ctr"/>
          <a:lstStyle/>
          <a:p>
            <a:pPr algn="l" indent="0" marL="0">
              <a:buNone/>
            </a:pPr>
            <a:r>
              <a:rPr lang="en-US" sz="1400" b="1" i="1" dirty="0">
                <a:solidFill>
                  <a:schemeClr val="tx1"/>
                </a:solidFill>
              </a:rPr>
              <a:t>kapotmaken</a:t>
            </a:r>
            <a:r>
              <a:rPr lang="en-US" sz="1400" dirty="0">
                <a:solidFill>
                  <a:schemeClr val="tx1"/>
                </a:solidFill>
              </a:rPr>
              <a:t> casser</a:t>
            </a:r>
            <a:endParaRPr lang="en-US" sz="1400" dirty="0"/>
          </a:p>
        </p:txBody>
      </p:sp>
      <p:sp>
        <p:nvSpPr>
          <p:cNvPr id="30" name="Shape 27"/>
          <p:cNvSpPr/>
          <p:nvPr/>
        </p:nvSpPr>
        <p:spPr>
          <a:xfrm>
            <a:off x="6163056" y="4206240"/>
            <a:ext cx="2697480" cy="548640"/>
          </a:xfrm>
          <a:prstGeom prst="roundRect">
            <a:avLst>
              <a:gd name="adj" fmla="val 16667"/>
            </a:avLst>
          </a:prstGeom>
          <a:solidFill>
            <a:schemeClr val="bg2"/>
          </a:solidFill>
          <a:ln w="12700">
            <a:solidFill>
              <a:srgbClr val="D5DCE6"/>
            </a:solidFill>
            <a:prstDash val="solid"/>
          </a:ln>
        </p:spPr>
      </p:sp>
      <p:sp>
        <p:nvSpPr>
          <p:cNvPr id="31" name="Text 28"/>
          <p:cNvSpPr txBox="1"/>
          <p:nvPr/>
        </p:nvSpPr>
        <p:spPr>
          <a:xfrm>
            <a:off x="6254496" y="4206240"/>
            <a:ext cx="2560320" cy="548640"/>
          </a:xfrm>
          <a:prstGeom prst="rect">
            <a:avLst/>
          </a:prstGeom>
          <a:noFill/>
          <a:ln/>
        </p:spPr>
        <p:txBody>
          <a:bodyPr wrap="square" lIns="0" tIns="0" rIns="0" bIns="0" rtlCol="0" anchor="ctr"/>
          <a:lstStyle/>
          <a:p>
            <a:pPr algn="l" indent="0" marL="0">
              <a:buNone/>
            </a:pPr>
            <a:r>
              <a:rPr lang="en-US" sz="1400" b="1" i="1" dirty="0">
                <a:solidFill>
                  <a:schemeClr val="tx1"/>
                </a:solidFill>
              </a:rPr>
              <a:t>bekendmaken</a:t>
            </a:r>
            <a:r>
              <a:rPr lang="en-US" sz="1400" dirty="0">
                <a:solidFill>
                  <a:schemeClr val="tx1"/>
                </a:solidFill>
              </a:rPr>
              <a:t> annoncer</a:t>
            </a:r>
            <a:endParaRPr lang="en-US" sz="1400" dirty="0"/>
          </a:p>
        </p:txBody>
      </p:sp>
      <p:sp>
        <p:nvSpPr>
          <p:cNvPr id="32" name="Shape 29"/>
          <p:cNvSpPr/>
          <p:nvPr/>
        </p:nvSpPr>
        <p:spPr>
          <a:xfrm>
            <a:off x="8970264" y="4206240"/>
            <a:ext cx="2697480" cy="548640"/>
          </a:xfrm>
          <a:prstGeom prst="roundRect">
            <a:avLst>
              <a:gd name="adj" fmla="val 16667"/>
            </a:avLst>
          </a:prstGeom>
          <a:solidFill>
            <a:schemeClr val="bg2"/>
          </a:solidFill>
          <a:ln w="12700">
            <a:solidFill>
              <a:srgbClr val="D5DCE6"/>
            </a:solidFill>
            <a:prstDash val="solid"/>
          </a:ln>
        </p:spPr>
      </p:sp>
      <p:sp>
        <p:nvSpPr>
          <p:cNvPr id="33" name="Text 30"/>
          <p:cNvSpPr txBox="1"/>
          <p:nvPr/>
        </p:nvSpPr>
        <p:spPr>
          <a:xfrm>
            <a:off x="9061704" y="4206240"/>
            <a:ext cx="2560320" cy="548640"/>
          </a:xfrm>
          <a:prstGeom prst="rect">
            <a:avLst/>
          </a:prstGeom>
          <a:noFill/>
          <a:ln/>
        </p:spPr>
        <p:txBody>
          <a:bodyPr wrap="square" lIns="0" tIns="0" rIns="0" bIns="0" rtlCol="0" anchor="ctr"/>
          <a:lstStyle/>
          <a:p>
            <a:pPr algn="l" indent="0" marL="0">
              <a:buNone/>
            </a:pPr>
            <a:r>
              <a:rPr lang="en-US" sz="1400" b="1" i="1" dirty="0">
                <a:solidFill>
                  <a:schemeClr val="tx1"/>
                </a:solidFill>
              </a:rPr>
              <a:t>goedkeuren</a:t>
            </a:r>
            <a:r>
              <a:rPr lang="en-US" sz="1400" dirty="0">
                <a:solidFill>
                  <a:schemeClr val="tx1"/>
                </a:solidFill>
              </a:rPr>
              <a:t> approuver</a:t>
            </a:r>
            <a:endParaRPr lang="en-US" sz="1400" dirty="0"/>
          </a:p>
        </p:txBody>
      </p:sp>
      <p:sp>
        <p:nvSpPr>
          <p:cNvPr id="34" name="Shape 31"/>
          <p:cNvSpPr/>
          <p:nvPr/>
        </p:nvSpPr>
        <p:spPr>
          <a:xfrm>
            <a:off x="548640" y="4864608"/>
            <a:ext cx="2697480" cy="548640"/>
          </a:xfrm>
          <a:prstGeom prst="roundRect">
            <a:avLst>
              <a:gd name="adj" fmla="val 16667"/>
            </a:avLst>
          </a:prstGeom>
          <a:solidFill>
            <a:schemeClr val="bg2"/>
          </a:solidFill>
          <a:ln w="12700">
            <a:solidFill>
              <a:srgbClr val="D5DCE6"/>
            </a:solidFill>
            <a:prstDash val="solid"/>
          </a:ln>
        </p:spPr>
      </p:sp>
      <p:sp>
        <p:nvSpPr>
          <p:cNvPr id="35" name="Text 32"/>
          <p:cNvSpPr txBox="1"/>
          <p:nvPr/>
        </p:nvSpPr>
        <p:spPr>
          <a:xfrm>
            <a:off x="640080" y="4864608"/>
            <a:ext cx="2560320" cy="548640"/>
          </a:xfrm>
          <a:prstGeom prst="rect">
            <a:avLst/>
          </a:prstGeom>
          <a:noFill/>
          <a:ln/>
        </p:spPr>
        <p:txBody>
          <a:bodyPr wrap="square" lIns="0" tIns="0" rIns="0" bIns="0" rtlCol="0" anchor="ctr"/>
          <a:lstStyle/>
          <a:p>
            <a:pPr algn="l" indent="0" marL="0">
              <a:buNone/>
            </a:pPr>
            <a:r>
              <a:rPr lang="en-US" sz="1400" b="1" i="1" dirty="0">
                <a:solidFill>
                  <a:schemeClr val="tx1"/>
                </a:solidFill>
              </a:rPr>
              <a:t>kwijtraken</a:t>
            </a:r>
            <a:r>
              <a:rPr lang="en-US" sz="1400" dirty="0">
                <a:solidFill>
                  <a:schemeClr val="tx1"/>
                </a:solidFill>
              </a:rPr>
              <a:t> perdre</a:t>
            </a:r>
            <a:endParaRPr lang="en-US" sz="1400" dirty="0"/>
          </a:p>
        </p:txBody>
      </p:sp>
      <p:sp>
        <p:nvSpPr>
          <p:cNvPr id="36" name="Shape 33"/>
          <p:cNvSpPr/>
          <p:nvPr/>
        </p:nvSpPr>
        <p:spPr>
          <a:xfrm>
            <a:off x="3355848" y="4864608"/>
            <a:ext cx="2697480" cy="548640"/>
          </a:xfrm>
          <a:prstGeom prst="roundRect">
            <a:avLst>
              <a:gd name="adj" fmla="val 16667"/>
            </a:avLst>
          </a:prstGeom>
          <a:solidFill>
            <a:schemeClr val="bg2"/>
          </a:solidFill>
          <a:ln w="12700">
            <a:solidFill>
              <a:srgbClr val="D5DCE6"/>
            </a:solidFill>
            <a:prstDash val="solid"/>
          </a:ln>
        </p:spPr>
      </p:sp>
      <p:sp>
        <p:nvSpPr>
          <p:cNvPr id="37" name="Text 34"/>
          <p:cNvSpPr txBox="1"/>
          <p:nvPr/>
        </p:nvSpPr>
        <p:spPr>
          <a:xfrm>
            <a:off x="3447288" y="4864608"/>
            <a:ext cx="2560320" cy="548640"/>
          </a:xfrm>
          <a:prstGeom prst="rect">
            <a:avLst/>
          </a:prstGeom>
          <a:noFill/>
          <a:ln/>
        </p:spPr>
        <p:txBody>
          <a:bodyPr wrap="square" lIns="0" tIns="0" rIns="0" bIns="0" rtlCol="0" anchor="ctr"/>
          <a:lstStyle/>
          <a:p>
            <a:pPr algn="l" indent="0" marL="0">
              <a:buNone/>
            </a:pPr>
            <a:r>
              <a:rPr lang="en-US" sz="1400" b="1" i="1" dirty="0">
                <a:solidFill>
                  <a:schemeClr val="tx1"/>
                </a:solidFill>
              </a:rPr>
              <a:t>deelnemen</a:t>
            </a:r>
            <a:r>
              <a:rPr lang="en-US" sz="1400" dirty="0">
                <a:solidFill>
                  <a:schemeClr val="tx1"/>
                </a:solidFill>
              </a:rPr>
              <a:t> participer</a:t>
            </a:r>
            <a:endParaRPr lang="en-US" sz="1400" dirty="0"/>
          </a:p>
        </p:txBody>
      </p:sp>
      <p:sp>
        <p:nvSpPr>
          <p:cNvPr id="38" name="Shape 35"/>
          <p:cNvSpPr/>
          <p:nvPr/>
        </p:nvSpPr>
        <p:spPr>
          <a:xfrm>
            <a:off x="6163056" y="4864608"/>
            <a:ext cx="2697480" cy="548640"/>
          </a:xfrm>
          <a:prstGeom prst="roundRect">
            <a:avLst>
              <a:gd name="adj" fmla="val 16667"/>
            </a:avLst>
          </a:prstGeom>
          <a:solidFill>
            <a:schemeClr val="bg2"/>
          </a:solidFill>
          <a:ln w="12700">
            <a:solidFill>
              <a:srgbClr val="D5DCE6"/>
            </a:solidFill>
            <a:prstDash val="solid"/>
          </a:ln>
        </p:spPr>
      </p:sp>
      <p:sp>
        <p:nvSpPr>
          <p:cNvPr id="39" name="Text 36"/>
          <p:cNvSpPr txBox="1"/>
          <p:nvPr/>
        </p:nvSpPr>
        <p:spPr>
          <a:xfrm>
            <a:off x="6254496" y="4864608"/>
            <a:ext cx="2560320" cy="548640"/>
          </a:xfrm>
          <a:prstGeom prst="rect">
            <a:avLst/>
          </a:prstGeom>
          <a:noFill/>
          <a:ln/>
        </p:spPr>
        <p:txBody>
          <a:bodyPr wrap="square" lIns="0" tIns="0" rIns="0" bIns="0" rtlCol="0" anchor="ctr"/>
          <a:lstStyle/>
          <a:p>
            <a:pPr algn="l" indent="0" marL="0">
              <a:buNone/>
            </a:pPr>
            <a:r>
              <a:rPr lang="en-US" sz="1400" b="1" i="1" dirty="0">
                <a:solidFill>
                  <a:schemeClr val="tx1"/>
                </a:solidFill>
              </a:rPr>
              <a:t>plaatsvinden</a:t>
            </a:r>
            <a:r>
              <a:rPr lang="en-US" sz="1400" dirty="0">
                <a:solidFill>
                  <a:schemeClr val="tx1"/>
                </a:solidFill>
              </a:rPr>
              <a:t> avoir lieu</a:t>
            </a:r>
            <a:endParaRPr lang="en-US" sz="1400" dirty="0"/>
          </a:p>
        </p:txBody>
      </p:sp>
      <p:sp>
        <p:nvSpPr>
          <p:cNvPr id="40" name="Shape 37"/>
          <p:cNvSpPr/>
          <p:nvPr/>
        </p:nvSpPr>
        <p:spPr>
          <a:xfrm>
            <a:off x="548640" y="5669280"/>
            <a:ext cx="11091672" cy="566928"/>
          </a:xfrm>
          <a:prstGeom prst="roundRect">
            <a:avLst>
              <a:gd name="adj" fmla="val 12903"/>
            </a:avLst>
          </a:prstGeom>
          <a:solidFill>
            <a:schemeClr val="tx2"/>
          </a:solidFill>
          <a:ln w="12700">
            <a:solidFill>
              <a:srgbClr val="FFFFFF">
                <a:alpha val="0"/>
              </a:srgbClr>
            </a:solidFill>
            <a:prstDash val="solid"/>
          </a:ln>
        </p:spPr>
      </p:sp>
      <p:sp>
        <p:nvSpPr>
          <p:cNvPr id="41" name="Text 38"/>
          <p:cNvSpPr txBox="1"/>
          <p:nvPr/>
        </p:nvSpPr>
        <p:spPr>
          <a:xfrm>
            <a:off x="822960" y="5669280"/>
            <a:ext cx="10607040" cy="566928"/>
          </a:xfrm>
          <a:prstGeom prst="rect">
            <a:avLst/>
          </a:prstGeom>
          <a:noFill/>
          <a:ln/>
        </p:spPr>
        <p:txBody>
          <a:bodyPr wrap="square" lIns="0" tIns="0" rIns="0" bIns="0" rtlCol="0" anchor="ctr"/>
          <a:lstStyle/>
          <a:p>
            <a:pPr algn="l" indent="0" marL="0">
              <a:buNone/>
            </a:pPr>
            <a:r>
              <a:rPr lang="en-US" sz="1500" i="1" dirty="0">
                <a:solidFill>
                  <a:schemeClr val="bg1"/>
                </a:solidFill>
              </a:rPr>
              <a:t>We vatten de tekst </a:t>
            </a:r>
            <a:r>
              <a:rPr lang="en-US" sz="1500" b="1" i="1" dirty="0">
                <a:solidFill>
                  <a:schemeClr val="bg1"/>
                </a:solidFill>
              </a:rPr>
              <a:t>samen</a:t>
            </a:r>
            <a:r>
              <a:rPr lang="en-US" sz="1500" i="1" dirty="0">
                <a:solidFill>
                  <a:schemeClr val="bg1"/>
                </a:solidFill>
              </a:rPr>
              <a:t>. · De vergadering vindt in zaal 2 </a:t>
            </a:r>
            <a:r>
              <a:rPr lang="en-US" sz="1500" b="1" i="1" dirty="0">
                <a:solidFill>
                  <a:schemeClr val="bg1"/>
                </a:solidFill>
              </a:rPr>
              <a:t>plaats</a:t>
            </a:r>
            <a:r>
              <a:rPr lang="en-US" sz="1500" i="1" dirty="0">
                <a:solidFill>
                  <a:schemeClr val="bg1"/>
                </a:solidFill>
              </a:rPr>
              <a:t>. · Ik ben mijn sleutels </a:t>
            </a:r>
            <a:r>
              <a:rPr lang="en-US" sz="1500" b="1" i="1" dirty="0">
                <a:solidFill>
                  <a:schemeClr val="bg1"/>
                </a:solidFill>
              </a:rPr>
              <a:t>kwijt</a:t>
            </a:r>
            <a:r>
              <a:rPr lang="en-US" sz="1500" i="1" dirty="0">
                <a:solidFill>
                  <a:schemeClr val="bg1"/>
                </a:solidFill>
              </a:rPr>
              <a:t>geraakt.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paires de contraires</a:t>
            </a:r>
            <a:endParaRPr lang="en-US" sz="3000" dirty="0"/>
          </a:p>
        </p:txBody>
      </p:sp>
      <p:sp>
        <p:nvSpPr>
          <p:cNvPr id="3" name="tag"/>
          <p:cNvSpPr/>
          <p:nvPr/>
        </p:nvSpPr>
        <p:spPr>
          <a:xfrm>
            <a:off x="548640" y="237744"/>
            <a:ext cx="1876349"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LES PARTICULES</a:t>
            </a:r>
            <a:endParaRPr lang="en-US" sz="1200" dirty="0"/>
          </a:p>
        </p:txBody>
      </p:sp>
      <p:sp>
        <p:nvSpPr>
          <p:cNvPr id="5" name="Shape 2"/>
          <p:cNvSpPr/>
          <p:nvPr/>
        </p:nvSpPr>
        <p:spPr>
          <a:xfrm>
            <a:off x="548640" y="1554480"/>
            <a:ext cx="5408676" cy="877824"/>
          </a:xfrm>
          <a:prstGeom prst="roundRect">
            <a:avLst>
              <a:gd name="adj" fmla="val 10417"/>
            </a:avLst>
          </a:prstGeom>
          <a:solidFill>
            <a:schemeClr val="bg2"/>
          </a:solidFill>
          <a:ln w="9525">
            <a:solidFill>
              <a:srgbClr val="D5DCE6"/>
            </a:solidFill>
            <a:prstDash val="solid"/>
          </a:ln>
        </p:spPr>
      </p:sp>
      <p:sp>
        <p:nvSpPr>
          <p:cNvPr id="6" name="Shape 3"/>
          <p:cNvSpPr/>
          <p:nvPr/>
        </p:nvSpPr>
        <p:spPr>
          <a:xfrm>
            <a:off x="685800" y="1664208"/>
            <a:ext cx="2103120" cy="457200"/>
          </a:xfrm>
          <a:prstGeom prst="roundRect">
            <a:avLst>
              <a:gd name="adj" fmla="val 24000"/>
            </a:avLst>
          </a:prstGeom>
          <a:solidFill>
            <a:schemeClr val="accent2"/>
          </a:solidFill>
          <a:ln w="12700">
            <a:solidFill>
              <a:srgbClr val="FFFFFF">
                <a:alpha val="0"/>
              </a:srgbClr>
            </a:solidFill>
            <a:prstDash val="solid"/>
          </a:ln>
        </p:spPr>
      </p:sp>
      <p:sp>
        <p:nvSpPr>
          <p:cNvPr id="7" name="Text 4"/>
          <p:cNvSpPr txBox="1"/>
          <p:nvPr/>
        </p:nvSpPr>
        <p:spPr>
          <a:xfrm>
            <a:off x="685800" y="1664208"/>
            <a:ext cx="2103120" cy="457200"/>
          </a:xfrm>
          <a:prstGeom prst="rect">
            <a:avLst/>
          </a:prstGeom>
          <a:noFill/>
          <a:ln/>
        </p:spPr>
        <p:txBody>
          <a:bodyPr wrap="square" lIns="0" tIns="0" rIns="0" bIns="0" rtlCol="0" anchor="ctr"/>
          <a:lstStyle/>
          <a:p>
            <a:pPr algn="ctr" indent="0" marL="0">
              <a:buNone/>
            </a:pPr>
            <a:r>
              <a:rPr lang="en-US" sz="1600" b="1" i="1" dirty="0">
                <a:solidFill>
                  <a:schemeClr val="bg1"/>
                </a:solidFill>
              </a:rPr>
              <a:t>aanzetten</a:t>
            </a:r>
            <a:endParaRPr lang="en-US" sz="1600" dirty="0"/>
          </a:p>
        </p:txBody>
      </p:sp>
      <p:sp>
        <p:nvSpPr>
          <p:cNvPr id="8" name="Text 5"/>
          <p:cNvSpPr txBox="1"/>
          <p:nvPr/>
        </p:nvSpPr>
        <p:spPr>
          <a:xfrm>
            <a:off x="2834640" y="1664208"/>
            <a:ext cx="45720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9" name="Shape 6"/>
          <p:cNvSpPr/>
          <p:nvPr/>
        </p:nvSpPr>
        <p:spPr>
          <a:xfrm>
            <a:off x="3337560" y="1664208"/>
            <a:ext cx="2103120" cy="457200"/>
          </a:xfrm>
          <a:prstGeom prst="roundRect">
            <a:avLst>
              <a:gd name="adj" fmla="val 24000"/>
            </a:avLst>
          </a:prstGeom>
          <a:solidFill>
            <a:schemeClr val="accent1"/>
          </a:solidFill>
          <a:ln w="12700">
            <a:solidFill>
              <a:srgbClr val="FFFFFF">
                <a:alpha val="0"/>
              </a:srgbClr>
            </a:solidFill>
            <a:prstDash val="solid"/>
          </a:ln>
        </p:spPr>
      </p:sp>
      <p:sp>
        <p:nvSpPr>
          <p:cNvPr id="10" name="Text 7"/>
          <p:cNvSpPr txBox="1"/>
          <p:nvPr/>
        </p:nvSpPr>
        <p:spPr>
          <a:xfrm>
            <a:off x="3337560" y="1664208"/>
            <a:ext cx="2103120" cy="457200"/>
          </a:xfrm>
          <a:prstGeom prst="rect">
            <a:avLst/>
          </a:prstGeom>
          <a:noFill/>
          <a:ln/>
        </p:spPr>
        <p:txBody>
          <a:bodyPr wrap="square" lIns="0" tIns="0" rIns="0" bIns="0" rtlCol="0" anchor="ctr"/>
          <a:lstStyle/>
          <a:p>
            <a:pPr algn="ctr" indent="0" marL="0">
              <a:buNone/>
            </a:pPr>
            <a:r>
              <a:rPr lang="en-US" sz="1600" b="1" i="1" dirty="0">
                <a:solidFill>
                  <a:schemeClr val="bg1"/>
                </a:solidFill>
              </a:rPr>
              <a:t>uitzetten</a:t>
            </a:r>
            <a:endParaRPr lang="en-US" sz="1600" dirty="0"/>
          </a:p>
        </p:txBody>
      </p:sp>
      <p:sp>
        <p:nvSpPr>
          <p:cNvPr id="11" name="Text 8"/>
          <p:cNvSpPr txBox="1"/>
          <p:nvPr/>
        </p:nvSpPr>
        <p:spPr>
          <a:xfrm>
            <a:off x="685800" y="2121408"/>
            <a:ext cx="5134356" cy="292608"/>
          </a:xfrm>
          <a:prstGeom prst="rect">
            <a:avLst/>
          </a:prstGeom>
          <a:noFill/>
          <a:ln/>
        </p:spPr>
        <p:txBody>
          <a:bodyPr wrap="square" lIns="0" tIns="0" rIns="0" bIns="0" rtlCol="0" anchor="t"/>
          <a:lstStyle/>
          <a:p>
            <a:pPr algn="ctr" indent="0" marL="0">
              <a:buNone/>
            </a:pPr>
            <a:r>
              <a:rPr lang="en-US" sz="1200" i="1" dirty="0">
                <a:solidFill>
                  <a:schemeClr val="accent5"/>
                </a:solidFill>
              </a:rPr>
              <a:t>allumer / éteindre</a:t>
            </a:r>
            <a:endParaRPr lang="en-US" sz="1200" dirty="0"/>
          </a:p>
        </p:txBody>
      </p:sp>
      <p:sp>
        <p:nvSpPr>
          <p:cNvPr id="12" name="Shape 9"/>
          <p:cNvSpPr/>
          <p:nvPr/>
        </p:nvSpPr>
        <p:spPr>
          <a:xfrm>
            <a:off x="548640" y="2542032"/>
            <a:ext cx="5408676" cy="877824"/>
          </a:xfrm>
          <a:prstGeom prst="roundRect">
            <a:avLst>
              <a:gd name="adj" fmla="val 10417"/>
            </a:avLst>
          </a:prstGeom>
          <a:solidFill>
            <a:srgbClr val="FFFFFF"/>
          </a:solidFill>
          <a:ln w="9525">
            <a:solidFill>
              <a:srgbClr val="D5DCE6"/>
            </a:solidFill>
            <a:prstDash val="solid"/>
          </a:ln>
        </p:spPr>
      </p:sp>
      <p:sp>
        <p:nvSpPr>
          <p:cNvPr id="13" name="Shape 10"/>
          <p:cNvSpPr/>
          <p:nvPr/>
        </p:nvSpPr>
        <p:spPr>
          <a:xfrm>
            <a:off x="685800" y="2651760"/>
            <a:ext cx="2103120" cy="457200"/>
          </a:xfrm>
          <a:prstGeom prst="roundRect">
            <a:avLst>
              <a:gd name="adj" fmla="val 24000"/>
            </a:avLst>
          </a:prstGeom>
          <a:solidFill>
            <a:srgbClr val="6E4A9E"/>
          </a:solidFill>
          <a:ln w="12700">
            <a:solidFill>
              <a:srgbClr val="FFFFFF">
                <a:alpha val="0"/>
              </a:srgbClr>
            </a:solidFill>
            <a:prstDash val="solid"/>
          </a:ln>
        </p:spPr>
      </p:sp>
      <p:sp>
        <p:nvSpPr>
          <p:cNvPr id="14" name="Text 11"/>
          <p:cNvSpPr txBox="1"/>
          <p:nvPr/>
        </p:nvSpPr>
        <p:spPr>
          <a:xfrm>
            <a:off x="685800" y="2651760"/>
            <a:ext cx="2103120" cy="457200"/>
          </a:xfrm>
          <a:prstGeom prst="rect">
            <a:avLst/>
          </a:prstGeom>
          <a:noFill/>
          <a:ln/>
        </p:spPr>
        <p:txBody>
          <a:bodyPr wrap="square" lIns="0" tIns="0" rIns="0" bIns="0" rtlCol="0" anchor="ctr"/>
          <a:lstStyle/>
          <a:p>
            <a:pPr algn="ctr" indent="0" marL="0">
              <a:buNone/>
            </a:pPr>
            <a:r>
              <a:rPr lang="en-US" sz="1600" b="1" i="1" dirty="0">
                <a:solidFill>
                  <a:schemeClr val="bg1"/>
                </a:solidFill>
              </a:rPr>
              <a:t>inloggen</a:t>
            </a:r>
            <a:endParaRPr lang="en-US" sz="1600" dirty="0"/>
          </a:p>
        </p:txBody>
      </p:sp>
      <p:sp>
        <p:nvSpPr>
          <p:cNvPr id="15" name="Text 12"/>
          <p:cNvSpPr txBox="1"/>
          <p:nvPr/>
        </p:nvSpPr>
        <p:spPr>
          <a:xfrm>
            <a:off x="2834640" y="2651760"/>
            <a:ext cx="45720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16" name="Shape 13"/>
          <p:cNvSpPr/>
          <p:nvPr/>
        </p:nvSpPr>
        <p:spPr>
          <a:xfrm>
            <a:off x="3337560" y="2651760"/>
            <a:ext cx="2103120" cy="457200"/>
          </a:xfrm>
          <a:prstGeom prst="roundRect">
            <a:avLst>
              <a:gd name="adj" fmla="val 24000"/>
            </a:avLst>
          </a:prstGeom>
          <a:solidFill>
            <a:schemeClr val="accent1"/>
          </a:solidFill>
          <a:ln w="12700">
            <a:solidFill>
              <a:srgbClr val="FFFFFF">
                <a:alpha val="0"/>
              </a:srgbClr>
            </a:solidFill>
            <a:prstDash val="solid"/>
          </a:ln>
        </p:spPr>
      </p:sp>
      <p:sp>
        <p:nvSpPr>
          <p:cNvPr id="17" name="Text 14"/>
          <p:cNvSpPr txBox="1"/>
          <p:nvPr/>
        </p:nvSpPr>
        <p:spPr>
          <a:xfrm>
            <a:off x="3337560" y="2651760"/>
            <a:ext cx="2103120" cy="457200"/>
          </a:xfrm>
          <a:prstGeom prst="rect">
            <a:avLst/>
          </a:prstGeom>
          <a:noFill/>
          <a:ln/>
        </p:spPr>
        <p:txBody>
          <a:bodyPr wrap="square" lIns="0" tIns="0" rIns="0" bIns="0" rtlCol="0" anchor="ctr"/>
          <a:lstStyle/>
          <a:p>
            <a:pPr algn="ctr" indent="0" marL="0">
              <a:buNone/>
            </a:pPr>
            <a:r>
              <a:rPr lang="en-US" sz="1600" b="1" i="1" dirty="0">
                <a:solidFill>
                  <a:schemeClr val="bg1"/>
                </a:solidFill>
              </a:rPr>
              <a:t>uitloggen</a:t>
            </a:r>
            <a:endParaRPr lang="en-US" sz="1600" dirty="0"/>
          </a:p>
        </p:txBody>
      </p:sp>
      <p:sp>
        <p:nvSpPr>
          <p:cNvPr id="18" name="Text 15"/>
          <p:cNvSpPr txBox="1"/>
          <p:nvPr/>
        </p:nvSpPr>
        <p:spPr>
          <a:xfrm>
            <a:off x="685800" y="3108960"/>
            <a:ext cx="5134356" cy="292608"/>
          </a:xfrm>
          <a:prstGeom prst="rect">
            <a:avLst/>
          </a:prstGeom>
          <a:noFill/>
          <a:ln/>
        </p:spPr>
        <p:txBody>
          <a:bodyPr wrap="square" lIns="0" tIns="0" rIns="0" bIns="0" rtlCol="0" anchor="t"/>
          <a:lstStyle/>
          <a:p>
            <a:pPr algn="ctr" indent="0" marL="0">
              <a:buNone/>
            </a:pPr>
            <a:r>
              <a:rPr lang="en-US" sz="1200" i="1" dirty="0">
                <a:solidFill>
                  <a:schemeClr val="accent5"/>
                </a:solidFill>
              </a:rPr>
              <a:t>se connecter / se déconnecter</a:t>
            </a:r>
            <a:endParaRPr lang="en-US" sz="1200" dirty="0"/>
          </a:p>
        </p:txBody>
      </p:sp>
      <p:sp>
        <p:nvSpPr>
          <p:cNvPr id="19" name="Shape 16"/>
          <p:cNvSpPr/>
          <p:nvPr/>
        </p:nvSpPr>
        <p:spPr>
          <a:xfrm>
            <a:off x="548640" y="3529584"/>
            <a:ext cx="5408676" cy="877824"/>
          </a:xfrm>
          <a:prstGeom prst="roundRect">
            <a:avLst>
              <a:gd name="adj" fmla="val 10417"/>
            </a:avLst>
          </a:prstGeom>
          <a:solidFill>
            <a:schemeClr val="bg2"/>
          </a:solidFill>
          <a:ln w="9525">
            <a:solidFill>
              <a:srgbClr val="D5DCE6"/>
            </a:solidFill>
            <a:prstDash val="solid"/>
          </a:ln>
        </p:spPr>
      </p:sp>
      <p:sp>
        <p:nvSpPr>
          <p:cNvPr id="20" name="Shape 17"/>
          <p:cNvSpPr/>
          <p:nvPr/>
        </p:nvSpPr>
        <p:spPr>
          <a:xfrm>
            <a:off x="685800" y="3639312"/>
            <a:ext cx="2103120" cy="457200"/>
          </a:xfrm>
          <a:prstGeom prst="roundRect">
            <a:avLst>
              <a:gd name="adj" fmla="val 24000"/>
            </a:avLst>
          </a:prstGeom>
          <a:solidFill>
            <a:srgbClr val="6E4A9E"/>
          </a:solidFill>
          <a:ln w="12700">
            <a:solidFill>
              <a:srgbClr val="FFFFFF">
                <a:alpha val="0"/>
              </a:srgbClr>
            </a:solidFill>
            <a:prstDash val="solid"/>
          </a:ln>
        </p:spPr>
      </p:sp>
      <p:sp>
        <p:nvSpPr>
          <p:cNvPr id="21" name="Text 18"/>
          <p:cNvSpPr txBox="1"/>
          <p:nvPr/>
        </p:nvSpPr>
        <p:spPr>
          <a:xfrm>
            <a:off x="685800" y="3639312"/>
            <a:ext cx="2103120" cy="457200"/>
          </a:xfrm>
          <a:prstGeom prst="rect">
            <a:avLst/>
          </a:prstGeom>
          <a:noFill/>
          <a:ln/>
        </p:spPr>
        <p:txBody>
          <a:bodyPr wrap="square" lIns="0" tIns="0" rIns="0" bIns="0" rtlCol="0" anchor="ctr"/>
          <a:lstStyle/>
          <a:p>
            <a:pPr algn="ctr" indent="0" marL="0">
              <a:buNone/>
            </a:pPr>
            <a:r>
              <a:rPr lang="en-US" sz="1600" b="1" i="1" dirty="0">
                <a:solidFill>
                  <a:schemeClr val="bg1"/>
                </a:solidFill>
              </a:rPr>
              <a:t>instappen</a:t>
            </a:r>
            <a:endParaRPr lang="en-US" sz="1600" dirty="0"/>
          </a:p>
        </p:txBody>
      </p:sp>
      <p:sp>
        <p:nvSpPr>
          <p:cNvPr id="22" name="Text 19"/>
          <p:cNvSpPr txBox="1"/>
          <p:nvPr/>
        </p:nvSpPr>
        <p:spPr>
          <a:xfrm>
            <a:off x="2834640" y="3639312"/>
            <a:ext cx="45720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23" name="Shape 20"/>
          <p:cNvSpPr/>
          <p:nvPr/>
        </p:nvSpPr>
        <p:spPr>
          <a:xfrm>
            <a:off x="3337560" y="3639312"/>
            <a:ext cx="2103120" cy="457200"/>
          </a:xfrm>
          <a:prstGeom prst="roundRect">
            <a:avLst>
              <a:gd name="adj" fmla="val 24000"/>
            </a:avLst>
          </a:prstGeom>
          <a:solidFill>
            <a:schemeClr val="accent1"/>
          </a:solidFill>
          <a:ln w="12700">
            <a:solidFill>
              <a:srgbClr val="FFFFFF">
                <a:alpha val="0"/>
              </a:srgbClr>
            </a:solidFill>
            <a:prstDash val="solid"/>
          </a:ln>
        </p:spPr>
      </p:sp>
      <p:sp>
        <p:nvSpPr>
          <p:cNvPr id="24" name="Text 21"/>
          <p:cNvSpPr txBox="1"/>
          <p:nvPr/>
        </p:nvSpPr>
        <p:spPr>
          <a:xfrm>
            <a:off x="3337560" y="3639312"/>
            <a:ext cx="2103120" cy="457200"/>
          </a:xfrm>
          <a:prstGeom prst="rect">
            <a:avLst/>
          </a:prstGeom>
          <a:noFill/>
          <a:ln/>
        </p:spPr>
        <p:txBody>
          <a:bodyPr wrap="square" lIns="0" tIns="0" rIns="0" bIns="0" rtlCol="0" anchor="ctr"/>
          <a:lstStyle/>
          <a:p>
            <a:pPr algn="ctr" indent="0" marL="0">
              <a:buNone/>
            </a:pPr>
            <a:r>
              <a:rPr lang="en-US" sz="1600" b="1" i="1" dirty="0">
                <a:solidFill>
                  <a:schemeClr val="bg1"/>
                </a:solidFill>
              </a:rPr>
              <a:t>uitstappen</a:t>
            </a:r>
            <a:endParaRPr lang="en-US" sz="1600" dirty="0"/>
          </a:p>
        </p:txBody>
      </p:sp>
      <p:sp>
        <p:nvSpPr>
          <p:cNvPr id="25" name="Text 22"/>
          <p:cNvSpPr txBox="1"/>
          <p:nvPr/>
        </p:nvSpPr>
        <p:spPr>
          <a:xfrm>
            <a:off x="685800" y="4096512"/>
            <a:ext cx="5134356" cy="292608"/>
          </a:xfrm>
          <a:prstGeom prst="rect">
            <a:avLst/>
          </a:prstGeom>
          <a:noFill/>
          <a:ln/>
        </p:spPr>
        <p:txBody>
          <a:bodyPr wrap="square" lIns="0" tIns="0" rIns="0" bIns="0" rtlCol="0" anchor="t"/>
          <a:lstStyle/>
          <a:p>
            <a:pPr algn="ctr" indent="0" marL="0">
              <a:buNone/>
            </a:pPr>
            <a:r>
              <a:rPr lang="en-US" sz="1200" i="1" dirty="0">
                <a:solidFill>
                  <a:schemeClr val="accent5"/>
                </a:solidFill>
              </a:rPr>
              <a:t>monter / descendre</a:t>
            </a:r>
            <a:endParaRPr lang="en-US" sz="1200" dirty="0"/>
          </a:p>
        </p:txBody>
      </p:sp>
      <p:sp>
        <p:nvSpPr>
          <p:cNvPr id="26" name="Shape 23"/>
          <p:cNvSpPr/>
          <p:nvPr/>
        </p:nvSpPr>
        <p:spPr>
          <a:xfrm>
            <a:off x="548640" y="4517136"/>
            <a:ext cx="5408676" cy="877824"/>
          </a:xfrm>
          <a:prstGeom prst="roundRect">
            <a:avLst>
              <a:gd name="adj" fmla="val 10417"/>
            </a:avLst>
          </a:prstGeom>
          <a:solidFill>
            <a:srgbClr val="FFFFFF"/>
          </a:solidFill>
          <a:ln w="9525">
            <a:solidFill>
              <a:srgbClr val="D5DCE6"/>
            </a:solidFill>
            <a:prstDash val="solid"/>
          </a:ln>
        </p:spPr>
      </p:sp>
      <p:sp>
        <p:nvSpPr>
          <p:cNvPr id="27" name="Shape 24"/>
          <p:cNvSpPr/>
          <p:nvPr/>
        </p:nvSpPr>
        <p:spPr>
          <a:xfrm>
            <a:off x="685800" y="4626864"/>
            <a:ext cx="2103120" cy="457200"/>
          </a:xfrm>
          <a:prstGeom prst="roundRect">
            <a:avLst>
              <a:gd name="adj" fmla="val 24000"/>
            </a:avLst>
          </a:prstGeom>
          <a:solidFill>
            <a:srgbClr val="6E4A9E"/>
          </a:solidFill>
          <a:ln w="12700">
            <a:solidFill>
              <a:srgbClr val="FFFFFF">
                <a:alpha val="0"/>
              </a:srgbClr>
            </a:solidFill>
            <a:prstDash val="solid"/>
          </a:ln>
        </p:spPr>
      </p:sp>
      <p:sp>
        <p:nvSpPr>
          <p:cNvPr id="28" name="Text 25"/>
          <p:cNvSpPr txBox="1"/>
          <p:nvPr/>
        </p:nvSpPr>
        <p:spPr>
          <a:xfrm>
            <a:off x="685800" y="4626864"/>
            <a:ext cx="2103120" cy="457200"/>
          </a:xfrm>
          <a:prstGeom prst="rect">
            <a:avLst/>
          </a:prstGeom>
          <a:noFill/>
          <a:ln/>
        </p:spPr>
        <p:txBody>
          <a:bodyPr wrap="square" lIns="0" tIns="0" rIns="0" bIns="0" rtlCol="0" anchor="ctr"/>
          <a:lstStyle/>
          <a:p>
            <a:pPr algn="ctr" indent="0" marL="0">
              <a:buNone/>
            </a:pPr>
            <a:r>
              <a:rPr lang="en-US" sz="1600" b="1" i="1" dirty="0">
                <a:solidFill>
                  <a:schemeClr val="bg1"/>
                </a:solidFill>
              </a:rPr>
              <a:t>inademen</a:t>
            </a:r>
            <a:endParaRPr lang="en-US" sz="1600" dirty="0"/>
          </a:p>
        </p:txBody>
      </p:sp>
      <p:sp>
        <p:nvSpPr>
          <p:cNvPr id="29" name="Text 26"/>
          <p:cNvSpPr txBox="1"/>
          <p:nvPr/>
        </p:nvSpPr>
        <p:spPr>
          <a:xfrm>
            <a:off x="2834640" y="4626864"/>
            <a:ext cx="45720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30" name="Shape 27"/>
          <p:cNvSpPr/>
          <p:nvPr/>
        </p:nvSpPr>
        <p:spPr>
          <a:xfrm>
            <a:off x="3337560" y="4626864"/>
            <a:ext cx="2103120" cy="457200"/>
          </a:xfrm>
          <a:prstGeom prst="roundRect">
            <a:avLst>
              <a:gd name="adj" fmla="val 24000"/>
            </a:avLst>
          </a:prstGeom>
          <a:solidFill>
            <a:schemeClr val="accent1"/>
          </a:solidFill>
          <a:ln w="12700">
            <a:solidFill>
              <a:srgbClr val="FFFFFF">
                <a:alpha val="0"/>
              </a:srgbClr>
            </a:solidFill>
            <a:prstDash val="solid"/>
          </a:ln>
        </p:spPr>
      </p:sp>
      <p:sp>
        <p:nvSpPr>
          <p:cNvPr id="31" name="Text 28"/>
          <p:cNvSpPr txBox="1"/>
          <p:nvPr/>
        </p:nvSpPr>
        <p:spPr>
          <a:xfrm>
            <a:off x="3337560" y="4626864"/>
            <a:ext cx="2103120" cy="457200"/>
          </a:xfrm>
          <a:prstGeom prst="rect">
            <a:avLst/>
          </a:prstGeom>
          <a:noFill/>
          <a:ln/>
        </p:spPr>
        <p:txBody>
          <a:bodyPr wrap="square" lIns="0" tIns="0" rIns="0" bIns="0" rtlCol="0" anchor="ctr"/>
          <a:lstStyle/>
          <a:p>
            <a:pPr algn="ctr" indent="0" marL="0">
              <a:buNone/>
            </a:pPr>
            <a:r>
              <a:rPr lang="en-US" sz="1600" b="1" i="1" dirty="0">
                <a:solidFill>
                  <a:schemeClr val="bg1"/>
                </a:solidFill>
              </a:rPr>
              <a:t>uitademen</a:t>
            </a:r>
            <a:endParaRPr lang="en-US" sz="1600" dirty="0"/>
          </a:p>
        </p:txBody>
      </p:sp>
      <p:sp>
        <p:nvSpPr>
          <p:cNvPr id="32" name="Text 29"/>
          <p:cNvSpPr txBox="1"/>
          <p:nvPr/>
        </p:nvSpPr>
        <p:spPr>
          <a:xfrm>
            <a:off x="685800" y="5084064"/>
            <a:ext cx="5134356" cy="292608"/>
          </a:xfrm>
          <a:prstGeom prst="rect">
            <a:avLst/>
          </a:prstGeom>
          <a:noFill/>
          <a:ln/>
        </p:spPr>
        <p:txBody>
          <a:bodyPr wrap="square" lIns="0" tIns="0" rIns="0" bIns="0" rtlCol="0" anchor="t"/>
          <a:lstStyle/>
          <a:p>
            <a:pPr algn="ctr" indent="0" marL="0">
              <a:buNone/>
            </a:pPr>
            <a:r>
              <a:rPr lang="en-US" sz="1200" i="1" dirty="0">
                <a:solidFill>
                  <a:schemeClr val="accent5"/>
                </a:solidFill>
              </a:rPr>
              <a:t>inspirer / expirer</a:t>
            </a:r>
            <a:endParaRPr lang="en-US" sz="1200" dirty="0"/>
          </a:p>
        </p:txBody>
      </p:sp>
      <p:sp>
        <p:nvSpPr>
          <p:cNvPr id="33" name="Shape 30"/>
          <p:cNvSpPr/>
          <p:nvPr/>
        </p:nvSpPr>
        <p:spPr>
          <a:xfrm>
            <a:off x="6231636" y="1554480"/>
            <a:ext cx="5408676" cy="877824"/>
          </a:xfrm>
          <a:prstGeom prst="roundRect">
            <a:avLst>
              <a:gd name="adj" fmla="val 10417"/>
            </a:avLst>
          </a:prstGeom>
          <a:solidFill>
            <a:schemeClr val="bg2"/>
          </a:solidFill>
          <a:ln w="9525">
            <a:solidFill>
              <a:srgbClr val="D5DCE6"/>
            </a:solidFill>
            <a:prstDash val="solid"/>
          </a:ln>
        </p:spPr>
      </p:sp>
      <p:sp>
        <p:nvSpPr>
          <p:cNvPr id="34" name="Shape 31"/>
          <p:cNvSpPr/>
          <p:nvPr/>
        </p:nvSpPr>
        <p:spPr>
          <a:xfrm>
            <a:off x="6368796" y="1664208"/>
            <a:ext cx="2103120" cy="457200"/>
          </a:xfrm>
          <a:prstGeom prst="roundRect">
            <a:avLst>
              <a:gd name="adj" fmla="val 24000"/>
            </a:avLst>
          </a:prstGeom>
          <a:solidFill>
            <a:srgbClr val="0E7C86"/>
          </a:solidFill>
          <a:ln w="12700">
            <a:solidFill>
              <a:srgbClr val="FFFFFF">
                <a:alpha val="0"/>
              </a:srgbClr>
            </a:solidFill>
            <a:prstDash val="solid"/>
          </a:ln>
        </p:spPr>
      </p:sp>
      <p:sp>
        <p:nvSpPr>
          <p:cNvPr id="35" name="Text 32"/>
          <p:cNvSpPr txBox="1"/>
          <p:nvPr/>
        </p:nvSpPr>
        <p:spPr>
          <a:xfrm>
            <a:off x="6368796" y="1664208"/>
            <a:ext cx="2103120" cy="457200"/>
          </a:xfrm>
          <a:prstGeom prst="rect">
            <a:avLst/>
          </a:prstGeom>
          <a:noFill/>
          <a:ln/>
        </p:spPr>
        <p:txBody>
          <a:bodyPr wrap="square" lIns="0" tIns="0" rIns="0" bIns="0" rtlCol="0" anchor="ctr"/>
          <a:lstStyle/>
          <a:p>
            <a:pPr algn="ctr" indent="0" marL="0">
              <a:buNone/>
            </a:pPr>
            <a:r>
              <a:rPr lang="en-US" sz="1600" b="1" i="1" dirty="0">
                <a:solidFill>
                  <a:schemeClr val="bg1"/>
                </a:solidFill>
              </a:rPr>
              <a:t>toenemen</a:t>
            </a:r>
            <a:endParaRPr lang="en-US" sz="1600" dirty="0"/>
          </a:p>
        </p:txBody>
      </p:sp>
      <p:sp>
        <p:nvSpPr>
          <p:cNvPr id="36" name="Text 33"/>
          <p:cNvSpPr txBox="1"/>
          <p:nvPr/>
        </p:nvSpPr>
        <p:spPr>
          <a:xfrm>
            <a:off x="8517636" y="1664208"/>
            <a:ext cx="45720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37" name="Shape 34"/>
          <p:cNvSpPr/>
          <p:nvPr/>
        </p:nvSpPr>
        <p:spPr>
          <a:xfrm>
            <a:off x="9020556" y="1664208"/>
            <a:ext cx="2103120" cy="457200"/>
          </a:xfrm>
          <a:prstGeom prst="roundRect">
            <a:avLst>
              <a:gd name="adj" fmla="val 24000"/>
            </a:avLst>
          </a:prstGeom>
          <a:solidFill>
            <a:schemeClr val="accent6"/>
          </a:solidFill>
          <a:ln w="12700">
            <a:solidFill>
              <a:srgbClr val="FFFFFF">
                <a:alpha val="0"/>
              </a:srgbClr>
            </a:solidFill>
            <a:prstDash val="solid"/>
          </a:ln>
        </p:spPr>
      </p:sp>
      <p:sp>
        <p:nvSpPr>
          <p:cNvPr id="38" name="Text 35"/>
          <p:cNvSpPr txBox="1"/>
          <p:nvPr/>
        </p:nvSpPr>
        <p:spPr>
          <a:xfrm>
            <a:off x="9020556" y="1664208"/>
            <a:ext cx="2103120" cy="457200"/>
          </a:xfrm>
          <a:prstGeom prst="rect">
            <a:avLst/>
          </a:prstGeom>
          <a:noFill/>
          <a:ln/>
        </p:spPr>
        <p:txBody>
          <a:bodyPr wrap="square" lIns="0" tIns="0" rIns="0" bIns="0" rtlCol="0" anchor="ctr"/>
          <a:lstStyle/>
          <a:p>
            <a:pPr algn="ctr" indent="0" marL="0">
              <a:buNone/>
            </a:pPr>
            <a:r>
              <a:rPr lang="en-US" sz="1600" b="1" i="1" dirty="0">
                <a:solidFill>
                  <a:schemeClr val="bg1"/>
                </a:solidFill>
              </a:rPr>
              <a:t>afnemen</a:t>
            </a:r>
            <a:endParaRPr lang="en-US" sz="1600" dirty="0"/>
          </a:p>
        </p:txBody>
      </p:sp>
      <p:sp>
        <p:nvSpPr>
          <p:cNvPr id="39" name="Text 36"/>
          <p:cNvSpPr txBox="1"/>
          <p:nvPr/>
        </p:nvSpPr>
        <p:spPr>
          <a:xfrm>
            <a:off x="6368796" y="2121408"/>
            <a:ext cx="5134356" cy="292608"/>
          </a:xfrm>
          <a:prstGeom prst="rect">
            <a:avLst/>
          </a:prstGeom>
          <a:noFill/>
          <a:ln/>
        </p:spPr>
        <p:txBody>
          <a:bodyPr wrap="square" lIns="0" tIns="0" rIns="0" bIns="0" rtlCol="0" anchor="t"/>
          <a:lstStyle/>
          <a:p>
            <a:pPr algn="ctr" indent="0" marL="0">
              <a:buNone/>
            </a:pPr>
            <a:r>
              <a:rPr lang="en-US" sz="1200" i="1" dirty="0">
                <a:solidFill>
                  <a:schemeClr val="accent5"/>
                </a:solidFill>
              </a:rPr>
              <a:t>augmenter / diminuer</a:t>
            </a:r>
            <a:endParaRPr lang="en-US" sz="1200" dirty="0"/>
          </a:p>
        </p:txBody>
      </p:sp>
      <p:sp>
        <p:nvSpPr>
          <p:cNvPr id="40" name="Shape 37"/>
          <p:cNvSpPr/>
          <p:nvPr/>
        </p:nvSpPr>
        <p:spPr>
          <a:xfrm>
            <a:off x="6231636" y="2542032"/>
            <a:ext cx="5408676" cy="877824"/>
          </a:xfrm>
          <a:prstGeom prst="roundRect">
            <a:avLst>
              <a:gd name="adj" fmla="val 10417"/>
            </a:avLst>
          </a:prstGeom>
          <a:solidFill>
            <a:srgbClr val="FFFFFF"/>
          </a:solidFill>
          <a:ln w="9525">
            <a:solidFill>
              <a:srgbClr val="D5DCE6"/>
            </a:solidFill>
            <a:prstDash val="solid"/>
          </a:ln>
        </p:spPr>
      </p:sp>
      <p:sp>
        <p:nvSpPr>
          <p:cNvPr id="41" name="Shape 38"/>
          <p:cNvSpPr/>
          <p:nvPr/>
        </p:nvSpPr>
        <p:spPr>
          <a:xfrm>
            <a:off x="6368796" y="2651760"/>
            <a:ext cx="2103120" cy="457200"/>
          </a:xfrm>
          <a:prstGeom prst="roundRect">
            <a:avLst>
              <a:gd name="adj" fmla="val 24000"/>
            </a:avLst>
          </a:prstGeom>
          <a:solidFill>
            <a:srgbClr val="7C9A1E"/>
          </a:solidFill>
          <a:ln w="12700">
            <a:solidFill>
              <a:srgbClr val="FFFFFF">
                <a:alpha val="0"/>
              </a:srgbClr>
            </a:solidFill>
            <a:prstDash val="solid"/>
          </a:ln>
        </p:spPr>
      </p:sp>
      <p:sp>
        <p:nvSpPr>
          <p:cNvPr id="42" name="Text 39"/>
          <p:cNvSpPr txBox="1"/>
          <p:nvPr/>
        </p:nvSpPr>
        <p:spPr>
          <a:xfrm>
            <a:off x="6368796" y="2651760"/>
            <a:ext cx="2103120" cy="457200"/>
          </a:xfrm>
          <a:prstGeom prst="rect">
            <a:avLst/>
          </a:prstGeom>
          <a:noFill/>
          <a:ln/>
        </p:spPr>
        <p:txBody>
          <a:bodyPr wrap="square" lIns="0" tIns="0" rIns="0" bIns="0" rtlCol="0" anchor="ctr"/>
          <a:lstStyle/>
          <a:p>
            <a:pPr algn="ctr" indent="0" marL="0">
              <a:buNone/>
            </a:pPr>
            <a:r>
              <a:rPr lang="en-US" sz="1600" b="1" i="1" dirty="0">
                <a:solidFill>
                  <a:schemeClr val="bg1"/>
                </a:solidFill>
              </a:rPr>
              <a:t>meevallen</a:t>
            </a:r>
            <a:endParaRPr lang="en-US" sz="1600" dirty="0"/>
          </a:p>
        </p:txBody>
      </p:sp>
      <p:sp>
        <p:nvSpPr>
          <p:cNvPr id="43" name="Text 40"/>
          <p:cNvSpPr txBox="1"/>
          <p:nvPr/>
        </p:nvSpPr>
        <p:spPr>
          <a:xfrm>
            <a:off x="8517636" y="2651760"/>
            <a:ext cx="45720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44" name="Shape 41"/>
          <p:cNvSpPr/>
          <p:nvPr/>
        </p:nvSpPr>
        <p:spPr>
          <a:xfrm>
            <a:off x="9020556" y="2651760"/>
            <a:ext cx="2103120" cy="457200"/>
          </a:xfrm>
          <a:prstGeom prst="roundRect">
            <a:avLst>
              <a:gd name="adj" fmla="val 24000"/>
            </a:avLst>
          </a:prstGeom>
          <a:solidFill>
            <a:srgbClr val="8B1E3F"/>
          </a:solidFill>
          <a:ln w="12700">
            <a:solidFill>
              <a:srgbClr val="FFFFFF">
                <a:alpha val="0"/>
              </a:srgbClr>
            </a:solidFill>
            <a:prstDash val="solid"/>
          </a:ln>
        </p:spPr>
      </p:sp>
      <p:sp>
        <p:nvSpPr>
          <p:cNvPr id="45" name="Text 42"/>
          <p:cNvSpPr txBox="1"/>
          <p:nvPr/>
        </p:nvSpPr>
        <p:spPr>
          <a:xfrm>
            <a:off x="9020556" y="2651760"/>
            <a:ext cx="2103120" cy="457200"/>
          </a:xfrm>
          <a:prstGeom prst="rect">
            <a:avLst/>
          </a:prstGeom>
          <a:noFill/>
          <a:ln/>
        </p:spPr>
        <p:txBody>
          <a:bodyPr wrap="square" lIns="0" tIns="0" rIns="0" bIns="0" rtlCol="0" anchor="ctr"/>
          <a:lstStyle/>
          <a:p>
            <a:pPr algn="ctr" indent="0" marL="0">
              <a:buNone/>
            </a:pPr>
            <a:r>
              <a:rPr lang="en-US" sz="1600" b="1" i="1" dirty="0">
                <a:solidFill>
                  <a:schemeClr val="bg1"/>
                </a:solidFill>
              </a:rPr>
              <a:t>tegenvallen</a:t>
            </a:r>
            <a:endParaRPr lang="en-US" sz="1600" dirty="0"/>
          </a:p>
        </p:txBody>
      </p:sp>
      <p:sp>
        <p:nvSpPr>
          <p:cNvPr id="46" name="Text 43"/>
          <p:cNvSpPr txBox="1"/>
          <p:nvPr/>
        </p:nvSpPr>
        <p:spPr>
          <a:xfrm>
            <a:off x="6368796" y="3108960"/>
            <a:ext cx="5134356" cy="292608"/>
          </a:xfrm>
          <a:prstGeom prst="rect">
            <a:avLst/>
          </a:prstGeom>
          <a:noFill/>
          <a:ln/>
        </p:spPr>
        <p:txBody>
          <a:bodyPr wrap="square" lIns="0" tIns="0" rIns="0" bIns="0" rtlCol="0" anchor="t"/>
          <a:lstStyle/>
          <a:p>
            <a:pPr algn="ctr" indent="0" marL="0">
              <a:buNone/>
            </a:pPr>
            <a:r>
              <a:rPr lang="en-US" sz="1200" i="1" dirty="0">
                <a:solidFill>
                  <a:schemeClr val="accent5"/>
                </a:solidFill>
              </a:rPr>
              <a:t>mieux / moins bien que prévu</a:t>
            </a:r>
            <a:endParaRPr lang="en-US" sz="1200" dirty="0"/>
          </a:p>
        </p:txBody>
      </p:sp>
      <p:sp>
        <p:nvSpPr>
          <p:cNvPr id="47" name="Shape 44"/>
          <p:cNvSpPr/>
          <p:nvPr/>
        </p:nvSpPr>
        <p:spPr>
          <a:xfrm>
            <a:off x="6231636" y="3529584"/>
            <a:ext cx="5408676" cy="877824"/>
          </a:xfrm>
          <a:prstGeom prst="roundRect">
            <a:avLst>
              <a:gd name="adj" fmla="val 10417"/>
            </a:avLst>
          </a:prstGeom>
          <a:solidFill>
            <a:schemeClr val="bg2"/>
          </a:solidFill>
          <a:ln w="9525">
            <a:solidFill>
              <a:srgbClr val="D5DCE6"/>
            </a:solidFill>
            <a:prstDash val="solid"/>
          </a:ln>
        </p:spPr>
      </p:sp>
      <p:sp>
        <p:nvSpPr>
          <p:cNvPr id="48" name="Shape 45"/>
          <p:cNvSpPr/>
          <p:nvPr/>
        </p:nvSpPr>
        <p:spPr>
          <a:xfrm>
            <a:off x="6368796" y="3639312"/>
            <a:ext cx="2103120" cy="457200"/>
          </a:xfrm>
          <a:prstGeom prst="roundRect">
            <a:avLst>
              <a:gd name="adj" fmla="val 24000"/>
            </a:avLst>
          </a:prstGeom>
          <a:solidFill>
            <a:schemeClr val="accent2"/>
          </a:solidFill>
          <a:ln w="12700">
            <a:solidFill>
              <a:srgbClr val="FFFFFF">
                <a:alpha val="0"/>
              </a:srgbClr>
            </a:solidFill>
            <a:prstDash val="solid"/>
          </a:ln>
        </p:spPr>
      </p:sp>
      <p:sp>
        <p:nvSpPr>
          <p:cNvPr id="49" name="Text 46"/>
          <p:cNvSpPr txBox="1"/>
          <p:nvPr/>
        </p:nvSpPr>
        <p:spPr>
          <a:xfrm>
            <a:off x="6368796" y="3639312"/>
            <a:ext cx="2103120" cy="457200"/>
          </a:xfrm>
          <a:prstGeom prst="rect">
            <a:avLst/>
          </a:prstGeom>
          <a:noFill/>
          <a:ln/>
        </p:spPr>
        <p:txBody>
          <a:bodyPr wrap="square" lIns="0" tIns="0" rIns="0" bIns="0" rtlCol="0" anchor="ctr"/>
          <a:lstStyle/>
          <a:p>
            <a:pPr algn="ctr" indent="0" marL="0">
              <a:buNone/>
            </a:pPr>
            <a:r>
              <a:rPr lang="en-US" sz="1600" b="1" i="1" dirty="0">
                <a:solidFill>
                  <a:schemeClr val="bg1"/>
                </a:solidFill>
              </a:rPr>
              <a:t>aankomen</a:t>
            </a:r>
            <a:endParaRPr lang="en-US" sz="1600" dirty="0"/>
          </a:p>
        </p:txBody>
      </p:sp>
      <p:sp>
        <p:nvSpPr>
          <p:cNvPr id="50" name="Text 47"/>
          <p:cNvSpPr txBox="1"/>
          <p:nvPr/>
        </p:nvSpPr>
        <p:spPr>
          <a:xfrm>
            <a:off x="8517636" y="3639312"/>
            <a:ext cx="45720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51" name="Shape 48"/>
          <p:cNvSpPr/>
          <p:nvPr/>
        </p:nvSpPr>
        <p:spPr>
          <a:xfrm>
            <a:off x="9020556" y="3639312"/>
            <a:ext cx="2103120" cy="457200"/>
          </a:xfrm>
          <a:prstGeom prst="roundRect">
            <a:avLst>
              <a:gd name="adj" fmla="val 24000"/>
            </a:avLst>
          </a:prstGeom>
          <a:solidFill>
            <a:schemeClr val="accent6"/>
          </a:solidFill>
          <a:ln w="12700">
            <a:solidFill>
              <a:srgbClr val="FFFFFF">
                <a:alpha val="0"/>
              </a:srgbClr>
            </a:solidFill>
            <a:prstDash val="solid"/>
          </a:ln>
        </p:spPr>
      </p:sp>
      <p:sp>
        <p:nvSpPr>
          <p:cNvPr id="52" name="Text 49"/>
          <p:cNvSpPr txBox="1"/>
          <p:nvPr/>
        </p:nvSpPr>
        <p:spPr>
          <a:xfrm>
            <a:off x="9020556" y="3639312"/>
            <a:ext cx="2103120" cy="457200"/>
          </a:xfrm>
          <a:prstGeom prst="rect">
            <a:avLst/>
          </a:prstGeom>
          <a:noFill/>
          <a:ln/>
        </p:spPr>
        <p:txBody>
          <a:bodyPr wrap="square" lIns="0" tIns="0" rIns="0" bIns="0" rtlCol="0" anchor="ctr"/>
          <a:lstStyle/>
          <a:p>
            <a:pPr algn="ctr" indent="0" marL="0">
              <a:buNone/>
            </a:pPr>
            <a:r>
              <a:rPr lang="en-US" sz="1600" b="1" i="1" dirty="0">
                <a:solidFill>
                  <a:schemeClr val="bg1"/>
                </a:solidFill>
              </a:rPr>
              <a:t>afvallen</a:t>
            </a:r>
            <a:endParaRPr lang="en-US" sz="1600" dirty="0"/>
          </a:p>
        </p:txBody>
      </p:sp>
      <p:sp>
        <p:nvSpPr>
          <p:cNvPr id="53" name="Text 50"/>
          <p:cNvSpPr txBox="1"/>
          <p:nvPr/>
        </p:nvSpPr>
        <p:spPr>
          <a:xfrm>
            <a:off x="6368796" y="4096512"/>
            <a:ext cx="5134356" cy="292608"/>
          </a:xfrm>
          <a:prstGeom prst="rect">
            <a:avLst/>
          </a:prstGeom>
          <a:noFill/>
          <a:ln/>
        </p:spPr>
        <p:txBody>
          <a:bodyPr wrap="square" lIns="0" tIns="0" rIns="0" bIns="0" rtlCol="0" anchor="t"/>
          <a:lstStyle/>
          <a:p>
            <a:pPr algn="ctr" indent="0" marL="0">
              <a:buNone/>
            </a:pPr>
            <a:r>
              <a:rPr lang="en-US" sz="1200" i="1" dirty="0">
                <a:solidFill>
                  <a:schemeClr val="accent5"/>
                </a:solidFill>
              </a:rPr>
              <a:t>grossir / maigrir</a:t>
            </a:r>
            <a:endParaRPr lang="en-US" sz="1200" dirty="0"/>
          </a:p>
        </p:txBody>
      </p:sp>
      <p:sp>
        <p:nvSpPr>
          <p:cNvPr id="54" name="Shape 51"/>
          <p:cNvSpPr/>
          <p:nvPr/>
        </p:nvSpPr>
        <p:spPr>
          <a:xfrm>
            <a:off x="6231636" y="4517136"/>
            <a:ext cx="5408676" cy="877824"/>
          </a:xfrm>
          <a:prstGeom prst="roundRect">
            <a:avLst>
              <a:gd name="adj" fmla="val 10417"/>
            </a:avLst>
          </a:prstGeom>
          <a:solidFill>
            <a:srgbClr val="FFFFFF"/>
          </a:solidFill>
          <a:ln w="9525">
            <a:solidFill>
              <a:srgbClr val="D5DCE6"/>
            </a:solidFill>
            <a:prstDash val="solid"/>
          </a:ln>
        </p:spPr>
      </p:sp>
      <p:sp>
        <p:nvSpPr>
          <p:cNvPr id="55" name="Shape 52"/>
          <p:cNvSpPr/>
          <p:nvPr/>
        </p:nvSpPr>
        <p:spPr>
          <a:xfrm>
            <a:off x="6368796" y="4626864"/>
            <a:ext cx="2103120" cy="457200"/>
          </a:xfrm>
          <a:prstGeom prst="roundRect">
            <a:avLst>
              <a:gd name="adj" fmla="val 24000"/>
            </a:avLst>
          </a:prstGeom>
          <a:solidFill>
            <a:schemeClr val="accent5"/>
          </a:solidFill>
          <a:ln w="12700">
            <a:solidFill>
              <a:srgbClr val="FFFFFF">
                <a:alpha val="0"/>
              </a:srgbClr>
            </a:solidFill>
            <a:prstDash val="solid"/>
          </a:ln>
        </p:spPr>
      </p:sp>
      <p:sp>
        <p:nvSpPr>
          <p:cNvPr id="56" name="Text 53"/>
          <p:cNvSpPr txBox="1"/>
          <p:nvPr/>
        </p:nvSpPr>
        <p:spPr>
          <a:xfrm>
            <a:off x="6368796" y="4626864"/>
            <a:ext cx="2103120" cy="457200"/>
          </a:xfrm>
          <a:prstGeom prst="rect">
            <a:avLst/>
          </a:prstGeom>
          <a:noFill/>
          <a:ln/>
        </p:spPr>
        <p:txBody>
          <a:bodyPr wrap="square" lIns="0" tIns="0" rIns="0" bIns="0" rtlCol="0" anchor="ctr"/>
          <a:lstStyle/>
          <a:p>
            <a:pPr algn="ctr" indent="0" marL="0">
              <a:buNone/>
            </a:pPr>
            <a:r>
              <a:rPr lang="en-US" sz="1600" b="1" i="1" dirty="0">
                <a:solidFill>
                  <a:schemeClr val="bg1"/>
                </a:solidFill>
              </a:rPr>
              <a:t>opendoen</a:t>
            </a:r>
            <a:endParaRPr lang="en-US" sz="1600" dirty="0"/>
          </a:p>
        </p:txBody>
      </p:sp>
      <p:sp>
        <p:nvSpPr>
          <p:cNvPr id="57" name="Text 54"/>
          <p:cNvSpPr txBox="1"/>
          <p:nvPr/>
        </p:nvSpPr>
        <p:spPr>
          <a:xfrm>
            <a:off x="8517636" y="4626864"/>
            <a:ext cx="457200" cy="457200"/>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58" name="Shape 55"/>
          <p:cNvSpPr/>
          <p:nvPr/>
        </p:nvSpPr>
        <p:spPr>
          <a:xfrm>
            <a:off x="9020556" y="4626864"/>
            <a:ext cx="2103120" cy="457200"/>
          </a:xfrm>
          <a:prstGeom prst="roundRect">
            <a:avLst>
              <a:gd name="adj" fmla="val 24000"/>
            </a:avLst>
          </a:prstGeom>
          <a:solidFill>
            <a:schemeClr val="accent5"/>
          </a:solidFill>
          <a:ln w="12700">
            <a:solidFill>
              <a:srgbClr val="FFFFFF">
                <a:alpha val="0"/>
              </a:srgbClr>
            </a:solidFill>
            <a:prstDash val="solid"/>
          </a:ln>
        </p:spPr>
      </p:sp>
      <p:sp>
        <p:nvSpPr>
          <p:cNvPr id="59" name="Text 56"/>
          <p:cNvSpPr txBox="1"/>
          <p:nvPr/>
        </p:nvSpPr>
        <p:spPr>
          <a:xfrm>
            <a:off x="9020556" y="4626864"/>
            <a:ext cx="2103120" cy="457200"/>
          </a:xfrm>
          <a:prstGeom prst="rect">
            <a:avLst/>
          </a:prstGeom>
          <a:noFill/>
          <a:ln/>
        </p:spPr>
        <p:txBody>
          <a:bodyPr wrap="square" lIns="0" tIns="0" rIns="0" bIns="0" rtlCol="0" anchor="ctr"/>
          <a:lstStyle/>
          <a:p>
            <a:pPr algn="ctr" indent="0" marL="0">
              <a:buNone/>
            </a:pPr>
            <a:r>
              <a:rPr lang="en-US" sz="1600" b="1" i="1" dirty="0">
                <a:solidFill>
                  <a:schemeClr val="bg1"/>
                </a:solidFill>
              </a:rPr>
              <a:t>dichtdoen</a:t>
            </a:r>
            <a:endParaRPr lang="en-US" sz="1600" dirty="0"/>
          </a:p>
        </p:txBody>
      </p:sp>
      <p:sp>
        <p:nvSpPr>
          <p:cNvPr id="60" name="Text 57"/>
          <p:cNvSpPr txBox="1"/>
          <p:nvPr/>
        </p:nvSpPr>
        <p:spPr>
          <a:xfrm>
            <a:off x="6368796" y="5084064"/>
            <a:ext cx="5134356" cy="292608"/>
          </a:xfrm>
          <a:prstGeom prst="rect">
            <a:avLst/>
          </a:prstGeom>
          <a:noFill/>
          <a:ln/>
        </p:spPr>
        <p:txBody>
          <a:bodyPr wrap="square" lIns="0" tIns="0" rIns="0" bIns="0" rtlCol="0" anchor="t"/>
          <a:lstStyle/>
          <a:p>
            <a:pPr algn="ctr" indent="0" marL="0">
              <a:buNone/>
            </a:pPr>
            <a:r>
              <a:rPr lang="en-US" sz="1200" i="1" dirty="0">
                <a:solidFill>
                  <a:schemeClr val="accent5"/>
                </a:solidFill>
              </a:rPr>
              <a:t>ouvrir / fermer (BE : toedoen)</a:t>
            </a:r>
            <a:endParaRPr lang="en-US" sz="1200" dirty="0"/>
          </a:p>
        </p:txBody>
      </p:sp>
      <p:sp>
        <p:nvSpPr>
          <p:cNvPr id="61" name="Shape 58"/>
          <p:cNvSpPr/>
          <p:nvPr/>
        </p:nvSpPr>
        <p:spPr>
          <a:xfrm>
            <a:off x="548640" y="5623560"/>
            <a:ext cx="11091672" cy="621792"/>
          </a:xfrm>
          <a:prstGeom prst="roundRect">
            <a:avLst>
              <a:gd name="adj" fmla="val 11765"/>
            </a:avLst>
          </a:prstGeom>
          <a:solidFill>
            <a:schemeClr val="tx2"/>
          </a:solidFill>
          <a:ln w="12700">
            <a:solidFill>
              <a:srgbClr val="FFFFFF">
                <a:alpha val="0"/>
              </a:srgbClr>
            </a:solidFill>
            <a:prstDash val="solid"/>
          </a:ln>
        </p:spPr>
      </p:sp>
      <p:sp>
        <p:nvSpPr>
          <p:cNvPr id="62" name="Text 59"/>
          <p:cNvSpPr txBox="1"/>
          <p:nvPr/>
        </p:nvSpPr>
        <p:spPr>
          <a:xfrm>
            <a:off x="822960" y="5623560"/>
            <a:ext cx="10607040" cy="621792"/>
          </a:xfrm>
          <a:prstGeom prst="rect">
            <a:avLst/>
          </a:prstGeom>
          <a:noFill/>
          <a:ln/>
        </p:spPr>
        <p:txBody>
          <a:bodyPr wrap="square" lIns="0" tIns="0" rIns="0" bIns="0" rtlCol="0" anchor="ctr"/>
          <a:lstStyle/>
          <a:p>
            <a:pPr algn="l" indent="0" marL="0">
              <a:buNone/>
            </a:pPr>
            <a:r>
              <a:rPr lang="en-US" sz="1600" dirty="0">
                <a:solidFill>
                  <a:schemeClr val="bg1"/>
                </a:solidFill>
              </a:rPr>
              <a:t>Apprendre par paires aide à mémoriser. </a:t>
            </a:r>
            <a:r>
              <a:rPr lang="en-US" sz="1600" i="1" dirty="0">
                <a:solidFill>
                  <a:schemeClr val="bg1"/>
                </a:solidFill>
              </a:rPr>
              <a:t>aandoen / uitdoen</a:t>
            </a:r>
            <a:r>
              <a:rPr lang="en-US" sz="1600" dirty="0">
                <a:solidFill>
                  <a:schemeClr val="bg1"/>
                </a:solidFill>
              </a:rPr>
              <a:t> = mettre / enlever (un vêtement) ; BE (familier) : allumer / éteindre.</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L’étoile du verbe : nemen et gaan</a:t>
            </a:r>
            <a:endParaRPr lang="en-US" sz="3000" dirty="0"/>
          </a:p>
        </p:txBody>
      </p:sp>
      <p:sp>
        <p:nvSpPr>
          <p:cNvPr id="3" name="tag"/>
          <p:cNvSpPr/>
          <p:nvPr/>
        </p:nvSpPr>
        <p:spPr>
          <a:xfrm>
            <a:off x="548640" y="237744"/>
            <a:ext cx="1230782"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MÉTHODE</a:t>
            </a:r>
            <a:endParaRPr lang="en-US" sz="1200" dirty="0"/>
          </a:p>
        </p:txBody>
      </p:sp>
      <p:sp>
        <p:nvSpPr>
          <p:cNvPr id="5" name="Shape 2"/>
          <p:cNvSpPr/>
          <p:nvPr/>
        </p:nvSpPr>
        <p:spPr>
          <a:xfrm flipV="1">
            <a:off x="3273552" y="2029968"/>
            <a:ext cx="914" cy="1828800"/>
          </a:xfrm>
          <a:prstGeom prst="line">
            <a:avLst/>
          </a:prstGeom>
          <a:noFill/>
          <a:ln w="19050">
            <a:solidFill>
              <a:srgbClr val="D5DCE6"/>
            </a:solidFill>
            <a:prstDash val="solid"/>
          </a:ln>
        </p:spPr>
      </p:sp>
      <p:sp>
        <p:nvSpPr>
          <p:cNvPr id="6" name="Shape 3"/>
          <p:cNvSpPr/>
          <p:nvPr/>
        </p:nvSpPr>
        <p:spPr>
          <a:xfrm>
            <a:off x="2459736" y="1691640"/>
            <a:ext cx="1627632" cy="676656"/>
          </a:xfrm>
          <a:prstGeom prst="roundRect">
            <a:avLst>
              <a:gd name="adj" fmla="val 16216"/>
            </a:avLst>
          </a:prstGeom>
          <a:solidFill>
            <a:srgbClr val="FFFFFF"/>
          </a:solidFill>
          <a:ln w="22225">
            <a:solidFill>
              <a:srgbClr val="2A6FB0"/>
            </a:solidFill>
            <a:prstDash val="solid"/>
          </a:ln>
        </p:spPr>
      </p:sp>
      <p:sp>
        <p:nvSpPr>
          <p:cNvPr id="7" name="Text 4"/>
          <p:cNvSpPr txBox="1"/>
          <p:nvPr/>
        </p:nvSpPr>
        <p:spPr>
          <a:xfrm>
            <a:off x="2496312" y="1691640"/>
            <a:ext cx="1554480" cy="676656"/>
          </a:xfrm>
          <a:prstGeom prst="rect">
            <a:avLst/>
          </a:prstGeom>
          <a:noFill/>
          <a:ln/>
        </p:spPr>
        <p:txBody>
          <a:bodyPr wrap="square" lIns="0" tIns="0" rIns="0" bIns="0" rtlCol="0" anchor="ctr"/>
          <a:lstStyle/>
          <a:p>
            <a:pPr algn="ctr" indent="0" marL="0">
              <a:buNone/>
            </a:pPr>
            <a:r>
              <a:rPr lang="en-US" sz="1200" b="1" i="1" dirty="0">
                <a:solidFill>
                  <a:schemeClr val="tx1"/>
                </a:solidFill>
              </a:rPr>
              <a:t>aannemen</a:t>
            </a:r>
            <a:endParaRPr lang="en-US" sz="1200" dirty="0"/>
          </a:p>
          <a:p>
            <a:pPr algn="ctr" indent="0" marL="0">
              <a:buNone/>
            </a:pPr>
            <a:r>
              <a:rPr lang="en-US" sz="1200" dirty="0">
                <a:solidFill>
                  <a:schemeClr val="tx1"/>
                </a:solidFill>
              </a:rPr>
              <a:t>accepter ; embaucher</a:t>
            </a:r>
            <a:endParaRPr lang="en-US" sz="1200" dirty="0"/>
          </a:p>
        </p:txBody>
      </p:sp>
      <p:sp>
        <p:nvSpPr>
          <p:cNvPr id="8" name="Shape 5"/>
          <p:cNvSpPr/>
          <p:nvPr/>
        </p:nvSpPr>
        <p:spPr>
          <a:xfrm flipV="1">
            <a:off x="3273552" y="2718530"/>
            <a:ext cx="1537049" cy="1140238"/>
          </a:xfrm>
          <a:prstGeom prst="line">
            <a:avLst/>
          </a:prstGeom>
          <a:noFill/>
          <a:ln w="19050">
            <a:solidFill>
              <a:srgbClr val="D5DCE6"/>
            </a:solidFill>
            <a:prstDash val="solid"/>
          </a:ln>
        </p:spPr>
      </p:sp>
      <p:sp>
        <p:nvSpPr>
          <p:cNvPr id="9" name="Shape 6"/>
          <p:cNvSpPr/>
          <p:nvPr/>
        </p:nvSpPr>
        <p:spPr>
          <a:xfrm>
            <a:off x="3996785" y="2380202"/>
            <a:ext cx="1627632" cy="676656"/>
          </a:xfrm>
          <a:prstGeom prst="roundRect">
            <a:avLst>
              <a:gd name="adj" fmla="val 16216"/>
            </a:avLst>
          </a:prstGeom>
          <a:solidFill>
            <a:srgbClr val="FFFFFF"/>
          </a:solidFill>
          <a:ln w="22225">
            <a:solidFill>
              <a:srgbClr val="B83227"/>
            </a:solidFill>
            <a:prstDash val="solid"/>
          </a:ln>
        </p:spPr>
      </p:sp>
      <p:sp>
        <p:nvSpPr>
          <p:cNvPr id="10" name="Text 7"/>
          <p:cNvSpPr txBox="1"/>
          <p:nvPr/>
        </p:nvSpPr>
        <p:spPr>
          <a:xfrm>
            <a:off x="4033361" y="2380202"/>
            <a:ext cx="1554480" cy="676656"/>
          </a:xfrm>
          <a:prstGeom prst="rect">
            <a:avLst/>
          </a:prstGeom>
          <a:noFill/>
          <a:ln/>
        </p:spPr>
        <p:txBody>
          <a:bodyPr wrap="square" lIns="0" tIns="0" rIns="0" bIns="0" rtlCol="0" anchor="ctr"/>
          <a:lstStyle/>
          <a:p>
            <a:pPr algn="ctr" indent="0" marL="0">
              <a:buNone/>
            </a:pPr>
            <a:r>
              <a:rPr lang="en-US" sz="1200" b="1" i="1" dirty="0">
                <a:solidFill>
                  <a:schemeClr val="tx1"/>
                </a:solidFill>
              </a:rPr>
              <a:t>afnemen</a:t>
            </a:r>
            <a:endParaRPr lang="en-US" sz="1200" dirty="0"/>
          </a:p>
          <a:p>
            <a:pPr algn="ctr" indent="0" marL="0">
              <a:buNone/>
            </a:pPr>
            <a:r>
              <a:rPr lang="en-US" sz="1200" dirty="0">
                <a:solidFill>
                  <a:schemeClr val="tx1"/>
                </a:solidFill>
              </a:rPr>
              <a:t>diminuer ; enlever</a:t>
            </a:r>
            <a:endParaRPr lang="en-US" sz="1200" dirty="0"/>
          </a:p>
        </p:txBody>
      </p:sp>
      <p:sp>
        <p:nvSpPr>
          <p:cNvPr id="11" name="Shape 8"/>
          <p:cNvSpPr/>
          <p:nvPr/>
        </p:nvSpPr>
        <p:spPr>
          <a:xfrm>
            <a:off x="3273552" y="3858768"/>
            <a:ext cx="1916669" cy="406946"/>
          </a:xfrm>
          <a:prstGeom prst="line">
            <a:avLst/>
          </a:prstGeom>
          <a:noFill/>
          <a:ln w="19050">
            <a:solidFill>
              <a:srgbClr val="D5DCE6"/>
            </a:solidFill>
            <a:prstDash val="solid"/>
          </a:ln>
        </p:spPr>
      </p:sp>
      <p:sp>
        <p:nvSpPr>
          <p:cNvPr id="12" name="Shape 9"/>
          <p:cNvSpPr/>
          <p:nvPr/>
        </p:nvSpPr>
        <p:spPr>
          <a:xfrm>
            <a:off x="4376405" y="3927386"/>
            <a:ext cx="1627632" cy="676656"/>
          </a:xfrm>
          <a:prstGeom prst="roundRect">
            <a:avLst>
              <a:gd name="adj" fmla="val 16216"/>
            </a:avLst>
          </a:prstGeom>
          <a:solidFill>
            <a:srgbClr val="FFFFFF"/>
          </a:solidFill>
          <a:ln w="22225">
            <a:solidFill>
              <a:srgbClr val="2E7D4F"/>
            </a:solidFill>
            <a:prstDash val="solid"/>
          </a:ln>
        </p:spPr>
      </p:sp>
      <p:sp>
        <p:nvSpPr>
          <p:cNvPr id="13" name="Text 10"/>
          <p:cNvSpPr txBox="1"/>
          <p:nvPr/>
        </p:nvSpPr>
        <p:spPr>
          <a:xfrm>
            <a:off x="4412981" y="3927386"/>
            <a:ext cx="1554480" cy="676656"/>
          </a:xfrm>
          <a:prstGeom prst="rect">
            <a:avLst/>
          </a:prstGeom>
          <a:noFill/>
          <a:ln/>
        </p:spPr>
        <p:txBody>
          <a:bodyPr wrap="square" lIns="0" tIns="0" rIns="0" bIns="0" rtlCol="0" anchor="ctr"/>
          <a:lstStyle/>
          <a:p>
            <a:pPr algn="ctr" indent="0" marL="0">
              <a:buNone/>
            </a:pPr>
            <a:r>
              <a:rPr lang="en-US" sz="1200" b="1" i="1" dirty="0">
                <a:solidFill>
                  <a:schemeClr val="tx1"/>
                </a:solidFill>
              </a:rPr>
              <a:t>opnemen</a:t>
            </a:r>
            <a:endParaRPr lang="en-US" sz="1200" dirty="0"/>
          </a:p>
          <a:p>
            <a:pPr algn="ctr" indent="0" marL="0">
              <a:buNone/>
            </a:pPr>
            <a:r>
              <a:rPr lang="en-US" sz="1200" dirty="0">
                <a:solidFill>
                  <a:schemeClr val="tx1"/>
                </a:solidFill>
              </a:rPr>
              <a:t>enregistrer ; décrocher</a:t>
            </a:r>
            <a:endParaRPr lang="en-US" sz="1200" dirty="0"/>
          </a:p>
        </p:txBody>
      </p:sp>
      <p:sp>
        <p:nvSpPr>
          <p:cNvPr id="14" name="Shape 11"/>
          <p:cNvSpPr/>
          <p:nvPr/>
        </p:nvSpPr>
        <p:spPr>
          <a:xfrm>
            <a:off x="3273552" y="3858768"/>
            <a:ext cx="852998" cy="1647692"/>
          </a:xfrm>
          <a:prstGeom prst="line">
            <a:avLst/>
          </a:prstGeom>
          <a:noFill/>
          <a:ln w="19050">
            <a:solidFill>
              <a:srgbClr val="D5DCE6"/>
            </a:solidFill>
            <a:prstDash val="solid"/>
          </a:ln>
        </p:spPr>
      </p:sp>
      <p:sp>
        <p:nvSpPr>
          <p:cNvPr id="15" name="Shape 12"/>
          <p:cNvSpPr/>
          <p:nvPr/>
        </p:nvSpPr>
        <p:spPr>
          <a:xfrm>
            <a:off x="3312734" y="5168132"/>
            <a:ext cx="1627632" cy="676656"/>
          </a:xfrm>
          <a:prstGeom prst="roundRect">
            <a:avLst>
              <a:gd name="adj" fmla="val 16216"/>
            </a:avLst>
          </a:prstGeom>
          <a:solidFill>
            <a:srgbClr val="FFFFFF"/>
          </a:solidFill>
          <a:ln w="22225">
            <a:solidFill>
              <a:srgbClr val="4352C9"/>
            </a:solidFill>
            <a:prstDash val="solid"/>
          </a:ln>
        </p:spPr>
      </p:sp>
      <p:sp>
        <p:nvSpPr>
          <p:cNvPr id="16" name="Text 13"/>
          <p:cNvSpPr txBox="1"/>
          <p:nvPr/>
        </p:nvSpPr>
        <p:spPr>
          <a:xfrm>
            <a:off x="3349310" y="5168132"/>
            <a:ext cx="1554480" cy="676656"/>
          </a:xfrm>
          <a:prstGeom prst="rect">
            <a:avLst/>
          </a:prstGeom>
          <a:noFill/>
          <a:ln/>
        </p:spPr>
        <p:txBody>
          <a:bodyPr wrap="square" lIns="0" tIns="0" rIns="0" bIns="0" rtlCol="0" anchor="ctr"/>
          <a:lstStyle/>
          <a:p>
            <a:pPr algn="ctr" indent="0" marL="0">
              <a:buNone/>
            </a:pPr>
            <a:r>
              <a:rPr lang="en-US" sz="1200" b="1" i="1" dirty="0">
                <a:solidFill>
                  <a:schemeClr val="tx1"/>
                </a:solidFill>
              </a:rPr>
              <a:t>overnemen</a:t>
            </a:r>
            <a:endParaRPr lang="en-US" sz="1200" dirty="0"/>
          </a:p>
          <a:p>
            <a:pPr algn="ctr" indent="0" marL="0">
              <a:buNone/>
            </a:pPr>
            <a:r>
              <a:rPr lang="en-US" sz="1200" dirty="0">
                <a:solidFill>
                  <a:schemeClr val="tx1"/>
                </a:solidFill>
              </a:rPr>
              <a:t>reprendre</a:t>
            </a:r>
            <a:endParaRPr lang="en-US" sz="1200" dirty="0"/>
          </a:p>
        </p:txBody>
      </p:sp>
      <p:sp>
        <p:nvSpPr>
          <p:cNvPr id="17" name="Shape 14"/>
          <p:cNvSpPr/>
          <p:nvPr/>
        </p:nvSpPr>
        <p:spPr>
          <a:xfrm flipH="1">
            <a:off x="2420554" y="3858768"/>
            <a:ext cx="852998" cy="1647692"/>
          </a:xfrm>
          <a:prstGeom prst="line">
            <a:avLst/>
          </a:prstGeom>
          <a:noFill/>
          <a:ln w="19050">
            <a:solidFill>
              <a:srgbClr val="D5DCE6"/>
            </a:solidFill>
            <a:prstDash val="solid"/>
          </a:ln>
        </p:spPr>
      </p:sp>
      <p:sp>
        <p:nvSpPr>
          <p:cNvPr id="18" name="Shape 15"/>
          <p:cNvSpPr/>
          <p:nvPr/>
        </p:nvSpPr>
        <p:spPr>
          <a:xfrm>
            <a:off x="1606738" y="5168132"/>
            <a:ext cx="1627632" cy="676656"/>
          </a:xfrm>
          <a:prstGeom prst="roundRect">
            <a:avLst>
              <a:gd name="adj" fmla="val 16216"/>
            </a:avLst>
          </a:prstGeom>
          <a:solidFill>
            <a:srgbClr val="FFFFFF"/>
          </a:solidFill>
          <a:ln w="22225">
            <a:solidFill>
              <a:srgbClr val="0E7C86"/>
            </a:solidFill>
            <a:prstDash val="solid"/>
          </a:ln>
        </p:spPr>
      </p:sp>
      <p:sp>
        <p:nvSpPr>
          <p:cNvPr id="19" name="Text 16"/>
          <p:cNvSpPr txBox="1"/>
          <p:nvPr/>
        </p:nvSpPr>
        <p:spPr>
          <a:xfrm>
            <a:off x="1643314" y="5168132"/>
            <a:ext cx="1554480" cy="676656"/>
          </a:xfrm>
          <a:prstGeom prst="rect">
            <a:avLst/>
          </a:prstGeom>
          <a:noFill/>
          <a:ln/>
        </p:spPr>
        <p:txBody>
          <a:bodyPr wrap="square" lIns="0" tIns="0" rIns="0" bIns="0" rtlCol="0" anchor="ctr"/>
          <a:lstStyle/>
          <a:p>
            <a:pPr algn="ctr" indent="0" marL="0">
              <a:buNone/>
            </a:pPr>
            <a:r>
              <a:rPr lang="en-US" sz="1200" b="1" i="1" dirty="0">
                <a:solidFill>
                  <a:schemeClr val="tx1"/>
                </a:solidFill>
              </a:rPr>
              <a:t>toenemen</a:t>
            </a:r>
            <a:endParaRPr lang="en-US" sz="1200" dirty="0"/>
          </a:p>
          <a:p>
            <a:pPr algn="ctr" indent="0" marL="0">
              <a:buNone/>
            </a:pPr>
            <a:r>
              <a:rPr lang="en-US" sz="1200" dirty="0">
                <a:solidFill>
                  <a:schemeClr val="tx1"/>
                </a:solidFill>
              </a:rPr>
              <a:t>augmenter</a:t>
            </a:r>
            <a:endParaRPr lang="en-US" sz="1200" dirty="0"/>
          </a:p>
        </p:txBody>
      </p:sp>
      <p:sp>
        <p:nvSpPr>
          <p:cNvPr id="20" name="Shape 17"/>
          <p:cNvSpPr/>
          <p:nvPr/>
        </p:nvSpPr>
        <p:spPr>
          <a:xfrm flipH="1">
            <a:off x="1356883" y="3858768"/>
            <a:ext cx="1916669" cy="406946"/>
          </a:xfrm>
          <a:prstGeom prst="line">
            <a:avLst/>
          </a:prstGeom>
          <a:noFill/>
          <a:ln w="19050">
            <a:solidFill>
              <a:srgbClr val="D5DCE6"/>
            </a:solidFill>
            <a:prstDash val="solid"/>
          </a:ln>
        </p:spPr>
      </p:sp>
      <p:sp>
        <p:nvSpPr>
          <p:cNvPr id="21" name="Shape 18"/>
          <p:cNvSpPr/>
          <p:nvPr/>
        </p:nvSpPr>
        <p:spPr>
          <a:xfrm>
            <a:off x="543067" y="3927386"/>
            <a:ext cx="1627632" cy="676656"/>
          </a:xfrm>
          <a:prstGeom prst="roundRect">
            <a:avLst>
              <a:gd name="adj" fmla="val 16216"/>
            </a:avLst>
          </a:prstGeom>
          <a:solidFill>
            <a:srgbClr val="FFFFFF"/>
          </a:solidFill>
          <a:ln w="22225">
            <a:solidFill>
              <a:srgbClr val="7C9A1E"/>
            </a:solidFill>
            <a:prstDash val="solid"/>
          </a:ln>
        </p:spPr>
      </p:sp>
      <p:sp>
        <p:nvSpPr>
          <p:cNvPr id="22" name="Text 19"/>
          <p:cNvSpPr txBox="1"/>
          <p:nvPr/>
        </p:nvSpPr>
        <p:spPr>
          <a:xfrm>
            <a:off x="579643" y="3927386"/>
            <a:ext cx="1554480" cy="676656"/>
          </a:xfrm>
          <a:prstGeom prst="rect">
            <a:avLst/>
          </a:prstGeom>
          <a:noFill/>
          <a:ln/>
        </p:spPr>
        <p:txBody>
          <a:bodyPr wrap="square" lIns="0" tIns="0" rIns="0" bIns="0" rtlCol="0" anchor="ctr"/>
          <a:lstStyle/>
          <a:p>
            <a:pPr algn="ctr" indent="0" marL="0">
              <a:buNone/>
            </a:pPr>
            <a:r>
              <a:rPr lang="en-US" sz="1200" b="1" i="1" dirty="0">
                <a:solidFill>
                  <a:schemeClr val="tx1"/>
                </a:solidFill>
              </a:rPr>
              <a:t>meenemen</a:t>
            </a:r>
            <a:endParaRPr lang="en-US" sz="1200" dirty="0"/>
          </a:p>
          <a:p>
            <a:pPr algn="ctr" indent="0" marL="0">
              <a:buNone/>
            </a:pPr>
            <a:r>
              <a:rPr lang="en-US" sz="1200" dirty="0">
                <a:solidFill>
                  <a:schemeClr val="tx1"/>
                </a:solidFill>
              </a:rPr>
              <a:t>emporter</a:t>
            </a:r>
            <a:endParaRPr lang="en-US" sz="1200" dirty="0"/>
          </a:p>
        </p:txBody>
      </p:sp>
      <p:sp>
        <p:nvSpPr>
          <p:cNvPr id="23" name="Shape 20"/>
          <p:cNvSpPr/>
          <p:nvPr/>
        </p:nvSpPr>
        <p:spPr>
          <a:xfrm flipH="1" flipV="1">
            <a:off x="1736503" y="2718530"/>
            <a:ext cx="1537049" cy="1140238"/>
          </a:xfrm>
          <a:prstGeom prst="line">
            <a:avLst/>
          </a:prstGeom>
          <a:noFill/>
          <a:ln w="19050">
            <a:solidFill>
              <a:srgbClr val="D5DCE6"/>
            </a:solidFill>
            <a:prstDash val="solid"/>
          </a:ln>
        </p:spPr>
      </p:sp>
      <p:sp>
        <p:nvSpPr>
          <p:cNvPr id="24" name="Shape 21"/>
          <p:cNvSpPr/>
          <p:nvPr/>
        </p:nvSpPr>
        <p:spPr>
          <a:xfrm>
            <a:off x="922687" y="2380202"/>
            <a:ext cx="1627632" cy="676656"/>
          </a:xfrm>
          <a:prstGeom prst="roundRect">
            <a:avLst>
              <a:gd name="adj" fmla="val 16216"/>
            </a:avLst>
          </a:prstGeom>
          <a:solidFill>
            <a:srgbClr val="FFFFFF"/>
          </a:solidFill>
          <a:ln w="22225">
            <a:solidFill>
              <a:srgbClr val="6E4A9E"/>
            </a:solidFill>
            <a:prstDash val="solid"/>
          </a:ln>
        </p:spPr>
      </p:sp>
      <p:sp>
        <p:nvSpPr>
          <p:cNvPr id="25" name="Text 22"/>
          <p:cNvSpPr txBox="1"/>
          <p:nvPr/>
        </p:nvSpPr>
        <p:spPr>
          <a:xfrm>
            <a:off x="959263" y="2380202"/>
            <a:ext cx="1554480" cy="676656"/>
          </a:xfrm>
          <a:prstGeom prst="rect">
            <a:avLst/>
          </a:prstGeom>
          <a:noFill/>
          <a:ln/>
        </p:spPr>
        <p:txBody>
          <a:bodyPr wrap="square" lIns="0" tIns="0" rIns="0" bIns="0" rtlCol="0" anchor="ctr"/>
          <a:lstStyle/>
          <a:p>
            <a:pPr algn="ctr" indent="0" marL="0">
              <a:buNone/>
            </a:pPr>
            <a:r>
              <a:rPr lang="en-US" sz="1200" b="1" i="1" dirty="0">
                <a:solidFill>
                  <a:schemeClr val="tx1"/>
                </a:solidFill>
              </a:rPr>
              <a:t>innemen</a:t>
            </a:r>
            <a:endParaRPr lang="en-US" sz="1200" dirty="0"/>
          </a:p>
          <a:p>
            <a:pPr algn="ctr" indent="0" marL="0">
              <a:buNone/>
            </a:pPr>
            <a:r>
              <a:rPr lang="en-US" sz="1200" dirty="0">
                <a:solidFill>
                  <a:schemeClr val="tx1"/>
                </a:solidFill>
              </a:rPr>
              <a:t>prendre (un médicament)</a:t>
            </a:r>
            <a:endParaRPr lang="en-US" sz="1200" dirty="0"/>
          </a:p>
        </p:txBody>
      </p:sp>
      <p:sp>
        <p:nvSpPr>
          <p:cNvPr id="26" name="Shape 23"/>
          <p:cNvSpPr/>
          <p:nvPr/>
        </p:nvSpPr>
        <p:spPr>
          <a:xfrm>
            <a:off x="2587752" y="3447288"/>
            <a:ext cx="1371600" cy="822960"/>
          </a:xfrm>
          <a:prstGeom prst="ellipse">
            <a:avLst/>
          </a:prstGeom>
          <a:solidFill>
            <a:schemeClr val="tx2"/>
          </a:solidFill>
          <a:ln w="12700">
            <a:solidFill>
              <a:srgbClr val="FFFFFF">
                <a:alpha val="0"/>
              </a:srgbClr>
            </a:solidFill>
            <a:prstDash val="solid"/>
          </a:ln>
        </p:spPr>
      </p:sp>
      <p:sp>
        <p:nvSpPr>
          <p:cNvPr id="27" name="Text 24"/>
          <p:cNvSpPr txBox="1"/>
          <p:nvPr/>
        </p:nvSpPr>
        <p:spPr>
          <a:xfrm>
            <a:off x="2587752" y="3447288"/>
            <a:ext cx="1371600" cy="822960"/>
          </a:xfrm>
          <a:prstGeom prst="rect">
            <a:avLst/>
          </a:prstGeom>
          <a:noFill/>
          <a:ln/>
        </p:spPr>
        <p:txBody>
          <a:bodyPr wrap="square" lIns="0" tIns="0" rIns="0" bIns="0" rtlCol="0" anchor="ctr"/>
          <a:lstStyle/>
          <a:p>
            <a:pPr algn="ctr" indent="0" marL="0">
              <a:buNone/>
            </a:pPr>
            <a:r>
              <a:rPr lang="en-US" sz="2000" b="1" dirty="0">
                <a:solidFill>
                  <a:schemeClr val="bg1"/>
                </a:solidFill>
              </a:rPr>
              <a:t>NEMEN</a:t>
            </a:r>
            <a:endParaRPr lang="en-US" sz="2000" dirty="0"/>
          </a:p>
        </p:txBody>
      </p:sp>
      <p:sp>
        <p:nvSpPr>
          <p:cNvPr id="28" name="Shape 25"/>
          <p:cNvSpPr/>
          <p:nvPr/>
        </p:nvSpPr>
        <p:spPr>
          <a:xfrm flipV="1">
            <a:off x="8915400" y="2029968"/>
            <a:ext cx="914" cy="1828800"/>
          </a:xfrm>
          <a:prstGeom prst="line">
            <a:avLst/>
          </a:prstGeom>
          <a:noFill/>
          <a:ln w="19050">
            <a:solidFill>
              <a:srgbClr val="D5DCE6"/>
            </a:solidFill>
            <a:prstDash val="solid"/>
          </a:ln>
        </p:spPr>
      </p:sp>
      <p:sp>
        <p:nvSpPr>
          <p:cNvPr id="29" name="Shape 26"/>
          <p:cNvSpPr/>
          <p:nvPr/>
        </p:nvSpPr>
        <p:spPr>
          <a:xfrm>
            <a:off x="8101584" y="1691640"/>
            <a:ext cx="1627632" cy="676656"/>
          </a:xfrm>
          <a:prstGeom prst="roundRect">
            <a:avLst>
              <a:gd name="adj" fmla="val 16216"/>
            </a:avLst>
          </a:prstGeom>
          <a:solidFill>
            <a:srgbClr val="FFFFFF"/>
          </a:solidFill>
          <a:ln w="22225">
            <a:solidFill>
              <a:srgbClr val="7A5230"/>
            </a:solidFill>
            <a:prstDash val="solid"/>
          </a:ln>
        </p:spPr>
      </p:sp>
      <p:sp>
        <p:nvSpPr>
          <p:cNvPr id="30" name="Text 27"/>
          <p:cNvSpPr txBox="1"/>
          <p:nvPr/>
        </p:nvSpPr>
        <p:spPr>
          <a:xfrm>
            <a:off x="8138160" y="1691640"/>
            <a:ext cx="1554480" cy="676656"/>
          </a:xfrm>
          <a:prstGeom prst="rect">
            <a:avLst/>
          </a:prstGeom>
          <a:noFill/>
          <a:ln/>
        </p:spPr>
        <p:txBody>
          <a:bodyPr wrap="square" lIns="0" tIns="0" rIns="0" bIns="0" rtlCol="0" anchor="ctr"/>
          <a:lstStyle/>
          <a:p>
            <a:pPr algn="ctr" indent="0" marL="0">
              <a:buNone/>
            </a:pPr>
            <a:r>
              <a:rPr lang="en-US" sz="1200" b="1" i="1" dirty="0">
                <a:solidFill>
                  <a:schemeClr val="tx1"/>
                </a:solidFill>
              </a:rPr>
              <a:t>doorgaan</a:t>
            </a:r>
            <a:endParaRPr lang="en-US" sz="1200" dirty="0"/>
          </a:p>
          <a:p>
            <a:pPr algn="ctr" indent="0" marL="0">
              <a:buNone/>
            </a:pPr>
            <a:r>
              <a:rPr lang="en-US" sz="1200" dirty="0">
                <a:solidFill>
                  <a:schemeClr val="tx1"/>
                </a:solidFill>
              </a:rPr>
              <a:t>continuer ; avoir lieu</a:t>
            </a:r>
            <a:endParaRPr lang="en-US" sz="1200" dirty="0"/>
          </a:p>
        </p:txBody>
      </p:sp>
      <p:sp>
        <p:nvSpPr>
          <p:cNvPr id="31" name="Shape 28"/>
          <p:cNvSpPr/>
          <p:nvPr/>
        </p:nvSpPr>
        <p:spPr>
          <a:xfrm flipV="1">
            <a:off x="8915400" y="2718530"/>
            <a:ext cx="1537049" cy="1140238"/>
          </a:xfrm>
          <a:prstGeom prst="line">
            <a:avLst/>
          </a:prstGeom>
          <a:noFill/>
          <a:ln w="19050">
            <a:solidFill>
              <a:srgbClr val="D5DCE6"/>
            </a:solidFill>
            <a:prstDash val="solid"/>
          </a:ln>
        </p:spPr>
      </p:sp>
      <p:sp>
        <p:nvSpPr>
          <p:cNvPr id="32" name="Shape 29"/>
          <p:cNvSpPr/>
          <p:nvPr/>
        </p:nvSpPr>
        <p:spPr>
          <a:xfrm>
            <a:off x="9638633" y="2380202"/>
            <a:ext cx="1627632" cy="676656"/>
          </a:xfrm>
          <a:prstGeom prst="roundRect">
            <a:avLst>
              <a:gd name="adj" fmla="val 16216"/>
            </a:avLst>
          </a:prstGeom>
          <a:solidFill>
            <a:srgbClr val="FFFFFF"/>
          </a:solidFill>
          <a:ln w="22225">
            <a:solidFill>
              <a:srgbClr val="17375E"/>
            </a:solidFill>
            <a:prstDash val="solid"/>
          </a:ln>
        </p:spPr>
      </p:sp>
      <p:sp>
        <p:nvSpPr>
          <p:cNvPr id="33" name="Text 30"/>
          <p:cNvSpPr txBox="1"/>
          <p:nvPr/>
        </p:nvSpPr>
        <p:spPr>
          <a:xfrm>
            <a:off x="9675209" y="2380202"/>
            <a:ext cx="1554480" cy="676656"/>
          </a:xfrm>
          <a:prstGeom prst="rect">
            <a:avLst/>
          </a:prstGeom>
          <a:noFill/>
          <a:ln/>
        </p:spPr>
        <p:txBody>
          <a:bodyPr wrap="square" lIns="0" tIns="0" rIns="0" bIns="0" rtlCol="0" anchor="ctr"/>
          <a:lstStyle/>
          <a:p>
            <a:pPr algn="ctr" indent="0" marL="0">
              <a:buNone/>
            </a:pPr>
            <a:r>
              <a:rPr lang="en-US" sz="1200" b="1" i="1" dirty="0">
                <a:solidFill>
                  <a:schemeClr val="tx1"/>
                </a:solidFill>
              </a:rPr>
              <a:t>nagaan</a:t>
            </a:r>
            <a:endParaRPr lang="en-US" sz="1200" dirty="0"/>
          </a:p>
          <a:p>
            <a:pPr algn="ctr" indent="0" marL="0">
              <a:buNone/>
            </a:pPr>
            <a:r>
              <a:rPr lang="en-US" sz="1200" dirty="0">
                <a:solidFill>
                  <a:schemeClr val="tx1"/>
                </a:solidFill>
              </a:rPr>
              <a:t>vérifier</a:t>
            </a:r>
            <a:endParaRPr lang="en-US" sz="1200" dirty="0"/>
          </a:p>
        </p:txBody>
      </p:sp>
      <p:sp>
        <p:nvSpPr>
          <p:cNvPr id="34" name="Shape 31"/>
          <p:cNvSpPr/>
          <p:nvPr/>
        </p:nvSpPr>
        <p:spPr>
          <a:xfrm>
            <a:off x="8915400" y="3858768"/>
            <a:ext cx="1916669" cy="406946"/>
          </a:xfrm>
          <a:prstGeom prst="line">
            <a:avLst/>
          </a:prstGeom>
          <a:noFill/>
          <a:ln w="19050">
            <a:solidFill>
              <a:srgbClr val="D5DCE6"/>
            </a:solidFill>
            <a:prstDash val="solid"/>
          </a:ln>
        </p:spPr>
      </p:sp>
      <p:sp>
        <p:nvSpPr>
          <p:cNvPr id="35" name="Shape 32"/>
          <p:cNvSpPr/>
          <p:nvPr/>
        </p:nvSpPr>
        <p:spPr>
          <a:xfrm>
            <a:off x="10018253" y="3927386"/>
            <a:ext cx="1627632" cy="676656"/>
          </a:xfrm>
          <a:prstGeom prst="roundRect">
            <a:avLst>
              <a:gd name="adj" fmla="val 16216"/>
            </a:avLst>
          </a:prstGeom>
          <a:solidFill>
            <a:srgbClr val="FFFFFF"/>
          </a:solidFill>
          <a:ln w="22225">
            <a:solidFill>
              <a:srgbClr val="D9700F"/>
            </a:solidFill>
            <a:prstDash val="solid"/>
          </a:ln>
        </p:spPr>
      </p:sp>
      <p:sp>
        <p:nvSpPr>
          <p:cNvPr id="36" name="Text 33"/>
          <p:cNvSpPr txBox="1"/>
          <p:nvPr/>
        </p:nvSpPr>
        <p:spPr>
          <a:xfrm>
            <a:off x="10054829" y="3927386"/>
            <a:ext cx="1554480" cy="676656"/>
          </a:xfrm>
          <a:prstGeom prst="rect">
            <a:avLst/>
          </a:prstGeom>
          <a:noFill/>
          <a:ln/>
        </p:spPr>
        <p:txBody>
          <a:bodyPr wrap="square" lIns="0" tIns="0" rIns="0" bIns="0" rtlCol="0" anchor="ctr"/>
          <a:lstStyle/>
          <a:p>
            <a:pPr algn="ctr" indent="0" marL="0">
              <a:buNone/>
            </a:pPr>
            <a:r>
              <a:rPr lang="en-US" sz="1200" b="1" i="1" dirty="0">
                <a:solidFill>
                  <a:schemeClr val="tx1"/>
                </a:solidFill>
              </a:rPr>
              <a:t>uitgaan</a:t>
            </a:r>
            <a:endParaRPr lang="en-US" sz="1200" dirty="0"/>
          </a:p>
          <a:p>
            <a:pPr algn="ctr" indent="0" marL="0">
              <a:buNone/>
            </a:pPr>
            <a:r>
              <a:rPr lang="en-US" sz="1200" dirty="0">
                <a:solidFill>
                  <a:schemeClr val="tx1"/>
                </a:solidFill>
              </a:rPr>
              <a:t>sortir</a:t>
            </a:r>
            <a:endParaRPr lang="en-US" sz="1200" dirty="0"/>
          </a:p>
        </p:txBody>
      </p:sp>
      <p:sp>
        <p:nvSpPr>
          <p:cNvPr id="37" name="Shape 34"/>
          <p:cNvSpPr/>
          <p:nvPr/>
        </p:nvSpPr>
        <p:spPr>
          <a:xfrm>
            <a:off x="8915400" y="3858768"/>
            <a:ext cx="852998" cy="1647692"/>
          </a:xfrm>
          <a:prstGeom prst="line">
            <a:avLst/>
          </a:prstGeom>
          <a:noFill/>
          <a:ln w="19050">
            <a:solidFill>
              <a:srgbClr val="D5DCE6"/>
            </a:solidFill>
            <a:prstDash val="solid"/>
          </a:ln>
        </p:spPr>
      </p:sp>
      <p:sp>
        <p:nvSpPr>
          <p:cNvPr id="38" name="Shape 35"/>
          <p:cNvSpPr/>
          <p:nvPr/>
        </p:nvSpPr>
        <p:spPr>
          <a:xfrm>
            <a:off x="8954582" y="5168132"/>
            <a:ext cx="1627632" cy="676656"/>
          </a:xfrm>
          <a:prstGeom prst="roundRect">
            <a:avLst>
              <a:gd name="adj" fmla="val 16216"/>
            </a:avLst>
          </a:prstGeom>
          <a:solidFill>
            <a:srgbClr val="FFFFFF"/>
          </a:solidFill>
          <a:ln w="22225">
            <a:solidFill>
              <a:srgbClr val="7C9A1E"/>
            </a:solidFill>
            <a:prstDash val="solid"/>
          </a:ln>
        </p:spPr>
      </p:sp>
      <p:sp>
        <p:nvSpPr>
          <p:cNvPr id="39" name="Text 36"/>
          <p:cNvSpPr txBox="1"/>
          <p:nvPr/>
        </p:nvSpPr>
        <p:spPr>
          <a:xfrm>
            <a:off x="8991158" y="5168132"/>
            <a:ext cx="1554480" cy="676656"/>
          </a:xfrm>
          <a:prstGeom prst="rect">
            <a:avLst/>
          </a:prstGeom>
          <a:noFill/>
          <a:ln/>
        </p:spPr>
        <p:txBody>
          <a:bodyPr wrap="square" lIns="0" tIns="0" rIns="0" bIns="0" rtlCol="0" anchor="ctr"/>
          <a:lstStyle/>
          <a:p>
            <a:pPr algn="ctr" indent="0" marL="0">
              <a:buNone/>
            </a:pPr>
            <a:r>
              <a:rPr lang="en-US" sz="1200" b="1" i="1" dirty="0">
                <a:solidFill>
                  <a:schemeClr val="tx1"/>
                </a:solidFill>
              </a:rPr>
              <a:t>meegaan</a:t>
            </a:r>
            <a:endParaRPr lang="en-US" sz="1200" dirty="0"/>
          </a:p>
          <a:p>
            <a:pPr algn="ctr" indent="0" marL="0">
              <a:buNone/>
            </a:pPr>
            <a:r>
              <a:rPr lang="en-US" sz="1200" dirty="0">
                <a:solidFill>
                  <a:schemeClr val="tx1"/>
                </a:solidFill>
              </a:rPr>
              <a:t>accompagner</a:t>
            </a:r>
            <a:endParaRPr lang="en-US" sz="1200" dirty="0"/>
          </a:p>
        </p:txBody>
      </p:sp>
      <p:sp>
        <p:nvSpPr>
          <p:cNvPr id="40" name="Shape 37"/>
          <p:cNvSpPr/>
          <p:nvPr/>
        </p:nvSpPr>
        <p:spPr>
          <a:xfrm flipH="1">
            <a:off x="8062402" y="3858768"/>
            <a:ext cx="852998" cy="1647692"/>
          </a:xfrm>
          <a:prstGeom prst="line">
            <a:avLst/>
          </a:prstGeom>
          <a:noFill/>
          <a:ln w="19050">
            <a:solidFill>
              <a:srgbClr val="D5DCE6"/>
            </a:solidFill>
            <a:prstDash val="solid"/>
          </a:ln>
        </p:spPr>
      </p:sp>
      <p:sp>
        <p:nvSpPr>
          <p:cNvPr id="41" name="Shape 38"/>
          <p:cNvSpPr/>
          <p:nvPr/>
        </p:nvSpPr>
        <p:spPr>
          <a:xfrm>
            <a:off x="7248586" y="5168132"/>
            <a:ext cx="1627632" cy="676656"/>
          </a:xfrm>
          <a:prstGeom prst="roundRect">
            <a:avLst>
              <a:gd name="adj" fmla="val 16216"/>
            </a:avLst>
          </a:prstGeom>
          <a:solidFill>
            <a:srgbClr val="FFFFFF"/>
          </a:solidFill>
          <a:ln w="22225">
            <a:solidFill>
              <a:srgbClr val="6E4A9E"/>
            </a:solidFill>
            <a:prstDash val="solid"/>
          </a:ln>
        </p:spPr>
      </p:sp>
      <p:sp>
        <p:nvSpPr>
          <p:cNvPr id="42" name="Text 39"/>
          <p:cNvSpPr txBox="1"/>
          <p:nvPr/>
        </p:nvSpPr>
        <p:spPr>
          <a:xfrm>
            <a:off x="7285162" y="5168132"/>
            <a:ext cx="1554480" cy="676656"/>
          </a:xfrm>
          <a:prstGeom prst="rect">
            <a:avLst/>
          </a:prstGeom>
          <a:noFill/>
          <a:ln/>
        </p:spPr>
        <p:txBody>
          <a:bodyPr wrap="square" lIns="0" tIns="0" rIns="0" bIns="0" rtlCol="0" anchor="ctr"/>
          <a:lstStyle/>
          <a:p>
            <a:pPr algn="ctr" indent="0" marL="0">
              <a:buNone/>
            </a:pPr>
            <a:r>
              <a:rPr lang="en-US" sz="1200" b="1" i="1" dirty="0">
                <a:solidFill>
                  <a:schemeClr val="tx1"/>
                </a:solidFill>
              </a:rPr>
              <a:t>ingaan op</a:t>
            </a:r>
            <a:endParaRPr lang="en-US" sz="1200" dirty="0"/>
          </a:p>
          <a:p>
            <a:pPr algn="ctr" indent="0" marL="0">
              <a:buNone/>
            </a:pPr>
            <a:r>
              <a:rPr lang="en-US" sz="1200" dirty="0">
                <a:solidFill>
                  <a:schemeClr val="tx1"/>
                </a:solidFill>
              </a:rPr>
              <a:t>répondre à</a:t>
            </a:r>
            <a:endParaRPr lang="en-US" sz="1200" dirty="0"/>
          </a:p>
        </p:txBody>
      </p:sp>
      <p:sp>
        <p:nvSpPr>
          <p:cNvPr id="43" name="Shape 40"/>
          <p:cNvSpPr/>
          <p:nvPr/>
        </p:nvSpPr>
        <p:spPr>
          <a:xfrm flipH="1">
            <a:off x="6998731" y="3858768"/>
            <a:ext cx="1916669" cy="406946"/>
          </a:xfrm>
          <a:prstGeom prst="line">
            <a:avLst/>
          </a:prstGeom>
          <a:noFill/>
          <a:ln w="19050">
            <a:solidFill>
              <a:srgbClr val="D5DCE6"/>
            </a:solidFill>
            <a:prstDash val="solid"/>
          </a:ln>
        </p:spPr>
      </p:sp>
      <p:sp>
        <p:nvSpPr>
          <p:cNvPr id="44" name="Shape 41"/>
          <p:cNvSpPr/>
          <p:nvPr/>
        </p:nvSpPr>
        <p:spPr>
          <a:xfrm>
            <a:off x="6184915" y="3927386"/>
            <a:ext cx="1627632" cy="676656"/>
          </a:xfrm>
          <a:prstGeom prst="roundRect">
            <a:avLst>
              <a:gd name="adj" fmla="val 16216"/>
            </a:avLst>
          </a:prstGeom>
          <a:solidFill>
            <a:srgbClr val="FFFFFF"/>
          </a:solidFill>
          <a:ln w="22225">
            <a:solidFill>
              <a:srgbClr val="8B1E3F"/>
            </a:solidFill>
            <a:prstDash val="solid"/>
          </a:ln>
        </p:spPr>
      </p:sp>
      <p:sp>
        <p:nvSpPr>
          <p:cNvPr id="45" name="Text 42"/>
          <p:cNvSpPr txBox="1"/>
          <p:nvPr/>
        </p:nvSpPr>
        <p:spPr>
          <a:xfrm>
            <a:off x="6221491" y="3927386"/>
            <a:ext cx="1554480" cy="676656"/>
          </a:xfrm>
          <a:prstGeom prst="rect">
            <a:avLst/>
          </a:prstGeom>
          <a:noFill/>
          <a:ln/>
        </p:spPr>
        <p:txBody>
          <a:bodyPr wrap="square" lIns="0" tIns="0" rIns="0" bIns="0" rtlCol="0" anchor="ctr"/>
          <a:lstStyle/>
          <a:p>
            <a:pPr algn="ctr" indent="0" marL="0">
              <a:buNone/>
            </a:pPr>
            <a:r>
              <a:rPr lang="en-US" sz="1200" b="1" i="1" dirty="0">
                <a:solidFill>
                  <a:schemeClr val="tx1"/>
                </a:solidFill>
              </a:rPr>
              <a:t>tegengaan</a:t>
            </a:r>
            <a:endParaRPr lang="en-US" sz="1200" dirty="0"/>
          </a:p>
          <a:p>
            <a:pPr algn="ctr" indent="0" marL="0">
              <a:buNone/>
            </a:pPr>
            <a:r>
              <a:rPr lang="en-US" sz="1200" dirty="0">
                <a:solidFill>
                  <a:schemeClr val="tx1"/>
                </a:solidFill>
              </a:rPr>
              <a:t>combattre</a:t>
            </a:r>
            <a:endParaRPr lang="en-US" sz="1200" dirty="0"/>
          </a:p>
        </p:txBody>
      </p:sp>
      <p:sp>
        <p:nvSpPr>
          <p:cNvPr id="46" name="Shape 43"/>
          <p:cNvSpPr/>
          <p:nvPr/>
        </p:nvSpPr>
        <p:spPr>
          <a:xfrm flipH="1" flipV="1">
            <a:off x="7378351" y="2718530"/>
            <a:ext cx="1537049" cy="1140238"/>
          </a:xfrm>
          <a:prstGeom prst="line">
            <a:avLst/>
          </a:prstGeom>
          <a:noFill/>
          <a:ln w="19050">
            <a:solidFill>
              <a:srgbClr val="D5DCE6"/>
            </a:solidFill>
            <a:prstDash val="solid"/>
          </a:ln>
        </p:spPr>
      </p:sp>
      <p:sp>
        <p:nvSpPr>
          <p:cNvPr id="47" name="Shape 44"/>
          <p:cNvSpPr/>
          <p:nvPr/>
        </p:nvSpPr>
        <p:spPr>
          <a:xfrm>
            <a:off x="6564535" y="2380202"/>
            <a:ext cx="1627632" cy="676656"/>
          </a:xfrm>
          <a:prstGeom prst="roundRect">
            <a:avLst>
              <a:gd name="adj" fmla="val 16216"/>
            </a:avLst>
          </a:prstGeom>
          <a:solidFill>
            <a:srgbClr val="FFFFFF"/>
          </a:solidFill>
          <a:ln w="22225">
            <a:solidFill>
              <a:srgbClr val="546E7A"/>
            </a:solidFill>
            <a:prstDash val="solid"/>
          </a:ln>
        </p:spPr>
      </p:sp>
      <p:sp>
        <p:nvSpPr>
          <p:cNvPr id="48" name="Text 45"/>
          <p:cNvSpPr txBox="1"/>
          <p:nvPr/>
        </p:nvSpPr>
        <p:spPr>
          <a:xfrm>
            <a:off x="6601111" y="2380202"/>
            <a:ext cx="1554480" cy="676656"/>
          </a:xfrm>
          <a:prstGeom prst="rect">
            <a:avLst/>
          </a:prstGeom>
          <a:noFill/>
          <a:ln/>
        </p:spPr>
        <p:txBody>
          <a:bodyPr wrap="square" lIns="0" tIns="0" rIns="0" bIns="0" rtlCol="0" anchor="ctr"/>
          <a:lstStyle/>
          <a:p>
            <a:pPr algn="ctr" indent="0" marL="0">
              <a:buNone/>
            </a:pPr>
            <a:r>
              <a:rPr lang="en-US" sz="1200" b="1" i="1" dirty="0">
                <a:solidFill>
                  <a:schemeClr val="tx1"/>
                </a:solidFill>
              </a:rPr>
              <a:t>omgaan met</a:t>
            </a:r>
            <a:endParaRPr lang="en-US" sz="1200" dirty="0"/>
          </a:p>
          <a:p>
            <a:pPr algn="ctr" indent="0" marL="0">
              <a:buNone/>
            </a:pPr>
            <a:r>
              <a:rPr lang="en-US" sz="1200" dirty="0">
                <a:solidFill>
                  <a:schemeClr val="tx1"/>
                </a:solidFill>
              </a:rPr>
              <a:t>gérer</a:t>
            </a:r>
            <a:endParaRPr lang="en-US" sz="1200" dirty="0"/>
          </a:p>
        </p:txBody>
      </p:sp>
      <p:sp>
        <p:nvSpPr>
          <p:cNvPr id="49" name="Shape 46"/>
          <p:cNvSpPr/>
          <p:nvPr/>
        </p:nvSpPr>
        <p:spPr>
          <a:xfrm>
            <a:off x="8229600" y="3447288"/>
            <a:ext cx="1371600" cy="822960"/>
          </a:xfrm>
          <a:prstGeom prst="ellipse">
            <a:avLst/>
          </a:prstGeom>
          <a:solidFill>
            <a:schemeClr val="tx2"/>
          </a:solidFill>
          <a:ln w="12700">
            <a:solidFill>
              <a:srgbClr val="FFFFFF">
                <a:alpha val="0"/>
              </a:srgbClr>
            </a:solidFill>
            <a:prstDash val="solid"/>
          </a:ln>
        </p:spPr>
      </p:sp>
      <p:sp>
        <p:nvSpPr>
          <p:cNvPr id="50" name="Text 47"/>
          <p:cNvSpPr txBox="1"/>
          <p:nvPr/>
        </p:nvSpPr>
        <p:spPr>
          <a:xfrm>
            <a:off x="8229600" y="3447288"/>
            <a:ext cx="1371600" cy="822960"/>
          </a:xfrm>
          <a:prstGeom prst="rect">
            <a:avLst/>
          </a:prstGeom>
          <a:noFill/>
          <a:ln/>
        </p:spPr>
        <p:txBody>
          <a:bodyPr wrap="square" lIns="0" tIns="0" rIns="0" bIns="0" rtlCol="0" anchor="ctr"/>
          <a:lstStyle/>
          <a:p>
            <a:pPr algn="ctr" indent="0" marL="0">
              <a:buNone/>
            </a:pPr>
            <a:r>
              <a:rPr lang="en-US" sz="2000" b="1" dirty="0">
                <a:solidFill>
                  <a:schemeClr val="bg1"/>
                </a:solidFill>
              </a:rPr>
              <a:t>GAAN</a:t>
            </a:r>
            <a:endParaRPr lang="en-US" sz="2000" dirty="0"/>
          </a:p>
        </p:txBody>
      </p:sp>
      <p:sp>
        <p:nvSpPr>
          <p:cNvPr id="51" name="Text 48"/>
          <p:cNvSpPr txBox="1"/>
          <p:nvPr/>
        </p:nvSpPr>
        <p:spPr>
          <a:xfrm>
            <a:off x="548640" y="6053328"/>
            <a:ext cx="11091672" cy="365760"/>
          </a:xfrm>
          <a:prstGeom prst="rect">
            <a:avLst/>
          </a:prstGeom>
          <a:noFill/>
          <a:ln/>
        </p:spPr>
        <p:txBody>
          <a:bodyPr wrap="square" lIns="0" tIns="0" rIns="0" bIns="0" rtlCol="0" anchor="t"/>
          <a:lstStyle/>
          <a:p>
            <a:pPr algn="ctr" indent="0" marL="0">
              <a:buNone/>
            </a:pPr>
            <a:r>
              <a:rPr lang="en-US" sz="1500" i="1" dirty="0">
                <a:solidFill>
                  <a:schemeClr val="accent5"/>
                </a:solidFill>
              </a:rPr>
              <a:t>À vous : l’étoile de </a:t>
            </a:r>
            <a:r>
              <a:rPr lang="en-US" sz="1500" i="1" dirty="0">
                <a:solidFill>
                  <a:schemeClr val="accent5"/>
                </a:solidFill>
              </a:rPr>
              <a:t>komen</a:t>
            </a:r>
            <a:r>
              <a:rPr lang="en-US" sz="1500" i="1" dirty="0">
                <a:solidFill>
                  <a:schemeClr val="accent5"/>
                </a:solidFill>
              </a:rPr>
              <a:t> ou de </a:t>
            </a:r>
            <a:r>
              <a:rPr lang="en-US" sz="1500" i="1" dirty="0">
                <a:solidFill>
                  <a:schemeClr val="accent5"/>
                </a:solidFill>
              </a:rPr>
              <a:t>zetten</a:t>
            </a:r>
            <a:r>
              <a:rPr lang="en-US" sz="1500" i="1" dirty="0">
                <a:solidFill>
                  <a:schemeClr val="accent5"/>
                </a:solidFill>
              </a:rPr>
              <a:t> !</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Un verbe, plusieurs sens</a:t>
            </a:r>
            <a:endParaRPr lang="en-US" sz="3000" dirty="0"/>
          </a:p>
        </p:txBody>
      </p:sp>
      <p:sp>
        <p:nvSpPr>
          <p:cNvPr id="3" name="tag"/>
          <p:cNvSpPr/>
          <p:nvPr/>
        </p:nvSpPr>
        <p:spPr>
          <a:xfrm>
            <a:off x="548640" y="237744"/>
            <a:ext cx="1230782"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MÉTHODE</a:t>
            </a:r>
            <a:endParaRPr lang="en-US" sz="1200" dirty="0"/>
          </a:p>
        </p:txBody>
      </p:sp>
      <p:sp>
        <p:nvSpPr>
          <p:cNvPr id="5" name="Shape 2"/>
          <p:cNvSpPr/>
          <p:nvPr/>
        </p:nvSpPr>
        <p:spPr>
          <a:xfrm>
            <a:off x="548640" y="1508760"/>
            <a:ext cx="5431536" cy="1965960"/>
          </a:xfrm>
          <a:prstGeom prst="roundRect">
            <a:avLst>
              <a:gd name="adj" fmla="val 4651"/>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08760"/>
            <a:ext cx="5431536" cy="457200"/>
          </a:xfrm>
          <a:prstGeom prst="roundRect">
            <a:avLst>
              <a:gd name="adj" fmla="val 20000"/>
            </a:avLst>
          </a:prstGeom>
          <a:solidFill>
            <a:schemeClr val="accent3"/>
          </a:solidFill>
          <a:ln w="12700">
            <a:solidFill>
              <a:srgbClr val="FFFFFF">
                <a:alpha val="0"/>
              </a:srgbClr>
            </a:solidFill>
            <a:prstDash val="solid"/>
          </a:ln>
        </p:spPr>
      </p:sp>
      <p:sp>
        <p:nvSpPr>
          <p:cNvPr id="7" name="Text 4"/>
          <p:cNvSpPr txBox="1"/>
          <p:nvPr/>
        </p:nvSpPr>
        <p:spPr>
          <a:xfrm>
            <a:off x="731520" y="1508760"/>
            <a:ext cx="5065776" cy="457200"/>
          </a:xfrm>
          <a:prstGeom prst="rect">
            <a:avLst/>
          </a:prstGeom>
          <a:noFill/>
          <a:ln/>
        </p:spPr>
        <p:txBody>
          <a:bodyPr wrap="square" lIns="0" tIns="0" rIns="0" bIns="0" rtlCol="0" anchor="ctr"/>
          <a:lstStyle/>
          <a:p>
            <a:pPr algn="l" indent="0" marL="0">
              <a:buNone/>
            </a:pPr>
            <a:r>
              <a:rPr lang="en-US" sz="1800" b="1" i="1" dirty="0">
                <a:solidFill>
                  <a:schemeClr val="bg1"/>
                </a:solidFill>
              </a:rPr>
              <a:t>opnemen</a:t>
            </a:r>
            <a:endParaRPr lang="en-US" sz="1800" dirty="0"/>
          </a:p>
        </p:txBody>
      </p:sp>
      <p:sp>
        <p:nvSpPr>
          <p:cNvPr id="8" name="Text 5"/>
          <p:cNvSpPr txBox="1"/>
          <p:nvPr/>
        </p:nvSpPr>
        <p:spPr>
          <a:xfrm>
            <a:off x="777240" y="2057400"/>
            <a:ext cx="5065776" cy="438912"/>
          </a:xfrm>
          <a:prstGeom prst="rect">
            <a:avLst/>
          </a:prstGeom>
          <a:noFill/>
          <a:ln/>
        </p:spPr>
        <p:txBody>
          <a:bodyPr wrap="square" lIns="0" tIns="0" rIns="0" bIns="0" rtlCol="0" anchor="ctr"/>
          <a:lstStyle/>
          <a:p>
            <a:pPr algn="l" indent="0" marL="0">
              <a:buNone/>
            </a:pPr>
            <a:r>
              <a:rPr lang="en-US" sz="1500" i="1" dirty="0">
                <a:solidFill>
                  <a:schemeClr val="tx1"/>
                </a:solidFill>
              </a:rPr>
              <a:t>Neem de telefoon op!</a:t>
            </a:r>
            <a:r>
              <a:rPr lang="en-US" sz="1500" dirty="0">
                <a:solidFill>
                  <a:schemeClr val="tx1"/>
                </a:solidFill>
              </a:rPr>
              <a:t> → </a:t>
            </a:r>
            <a:r>
              <a:rPr lang="en-US" sz="1500" b="1" dirty="0">
                <a:solidFill>
                  <a:schemeClr val="tx1"/>
                </a:solidFill>
              </a:rPr>
              <a:t>décroche</a:t>
            </a:r>
            <a:endParaRPr lang="en-US" sz="1500" dirty="0"/>
          </a:p>
        </p:txBody>
      </p:sp>
      <p:sp>
        <p:nvSpPr>
          <p:cNvPr id="9" name="Text 6"/>
          <p:cNvSpPr txBox="1"/>
          <p:nvPr/>
        </p:nvSpPr>
        <p:spPr>
          <a:xfrm>
            <a:off x="777240" y="2514600"/>
            <a:ext cx="5065776" cy="438912"/>
          </a:xfrm>
          <a:prstGeom prst="rect">
            <a:avLst/>
          </a:prstGeom>
          <a:noFill/>
          <a:ln/>
        </p:spPr>
        <p:txBody>
          <a:bodyPr wrap="square" lIns="0" tIns="0" rIns="0" bIns="0" rtlCol="0" anchor="ctr"/>
          <a:lstStyle/>
          <a:p>
            <a:pPr algn="l" indent="0" marL="0">
              <a:buNone/>
            </a:pPr>
            <a:r>
              <a:rPr lang="en-US" sz="1500" i="1" dirty="0">
                <a:solidFill>
                  <a:schemeClr val="tx1"/>
                </a:solidFill>
              </a:rPr>
              <a:t>We nemen het gesprek op.</a:t>
            </a:r>
            <a:r>
              <a:rPr lang="en-US" sz="1500" dirty="0">
                <a:solidFill>
                  <a:schemeClr val="tx1"/>
                </a:solidFill>
              </a:rPr>
              <a:t> → </a:t>
            </a:r>
            <a:r>
              <a:rPr lang="en-US" sz="1500" b="1" dirty="0">
                <a:solidFill>
                  <a:schemeClr val="tx1"/>
                </a:solidFill>
              </a:rPr>
              <a:t>enregistrons</a:t>
            </a:r>
            <a:endParaRPr lang="en-US" sz="1500" dirty="0"/>
          </a:p>
        </p:txBody>
      </p:sp>
      <p:sp>
        <p:nvSpPr>
          <p:cNvPr id="10" name="Text 7"/>
          <p:cNvSpPr txBox="1"/>
          <p:nvPr/>
        </p:nvSpPr>
        <p:spPr>
          <a:xfrm>
            <a:off x="777240" y="2971800"/>
            <a:ext cx="5065776" cy="438912"/>
          </a:xfrm>
          <a:prstGeom prst="rect">
            <a:avLst/>
          </a:prstGeom>
          <a:noFill/>
          <a:ln/>
        </p:spPr>
        <p:txBody>
          <a:bodyPr wrap="square" lIns="0" tIns="0" rIns="0" bIns="0" rtlCol="0" anchor="ctr"/>
          <a:lstStyle/>
          <a:p>
            <a:pPr algn="l" indent="0" marL="0">
              <a:buNone/>
            </a:pPr>
            <a:r>
              <a:rPr lang="en-US" sz="1500" i="1" dirty="0">
                <a:solidFill>
                  <a:schemeClr val="tx1"/>
                </a:solidFill>
              </a:rPr>
              <a:t>Ik neem morgen verlof op.</a:t>
            </a:r>
            <a:r>
              <a:rPr lang="en-US" sz="1500" dirty="0">
                <a:solidFill>
                  <a:schemeClr val="tx1"/>
                </a:solidFill>
              </a:rPr>
              <a:t> → </a:t>
            </a:r>
            <a:r>
              <a:rPr lang="en-US" sz="1500" b="1" dirty="0">
                <a:solidFill>
                  <a:schemeClr val="tx1"/>
                </a:solidFill>
              </a:rPr>
              <a:t>prends (un congé)</a:t>
            </a:r>
            <a:endParaRPr lang="en-US" sz="1500" dirty="0"/>
          </a:p>
        </p:txBody>
      </p:sp>
      <p:sp>
        <p:nvSpPr>
          <p:cNvPr id="11" name="Shape 8"/>
          <p:cNvSpPr/>
          <p:nvPr/>
        </p:nvSpPr>
        <p:spPr>
          <a:xfrm>
            <a:off x="6208776" y="1508760"/>
            <a:ext cx="5431536" cy="1965960"/>
          </a:xfrm>
          <a:prstGeom prst="roundRect">
            <a:avLst>
              <a:gd name="adj" fmla="val 4651"/>
            </a:avLst>
          </a:prstGeom>
          <a:solidFill>
            <a:schemeClr val="bg1"/>
          </a:solidFill>
          <a:ln w="25400">
            <a:solidFill>
              <a:srgbClr val="B83227"/>
            </a:solidFill>
            <a:prstDash val="solid"/>
          </a:ln>
          <a:effectLst>
            <a:outerShdw sx="100000" sy="100000" kx="0" ky="0" algn="bl" rotWithShape="0" blurRad="101600" dist="25400" dir="3600000">
              <a:srgbClr val="000000">
                <a:alpha val="16000"/>
              </a:srgbClr>
            </a:outerShdw>
          </a:effectLst>
        </p:spPr>
      </p:sp>
      <p:sp>
        <p:nvSpPr>
          <p:cNvPr id="12" name="Shape 9"/>
          <p:cNvSpPr/>
          <p:nvPr/>
        </p:nvSpPr>
        <p:spPr>
          <a:xfrm>
            <a:off x="6208776" y="1508760"/>
            <a:ext cx="5431536" cy="457200"/>
          </a:xfrm>
          <a:prstGeom prst="roundRect">
            <a:avLst>
              <a:gd name="adj" fmla="val 20000"/>
            </a:avLst>
          </a:prstGeom>
          <a:solidFill>
            <a:schemeClr val="accent6"/>
          </a:solidFill>
          <a:ln w="12700">
            <a:solidFill>
              <a:srgbClr val="FFFFFF">
                <a:alpha val="0"/>
              </a:srgbClr>
            </a:solidFill>
            <a:prstDash val="solid"/>
          </a:ln>
        </p:spPr>
      </p:sp>
      <p:sp>
        <p:nvSpPr>
          <p:cNvPr id="13" name="Text 10"/>
          <p:cNvSpPr txBox="1"/>
          <p:nvPr/>
        </p:nvSpPr>
        <p:spPr>
          <a:xfrm>
            <a:off x="6391656" y="1508760"/>
            <a:ext cx="5065776" cy="457200"/>
          </a:xfrm>
          <a:prstGeom prst="rect">
            <a:avLst/>
          </a:prstGeom>
          <a:noFill/>
          <a:ln/>
        </p:spPr>
        <p:txBody>
          <a:bodyPr wrap="square" lIns="0" tIns="0" rIns="0" bIns="0" rtlCol="0" anchor="ctr"/>
          <a:lstStyle/>
          <a:p>
            <a:pPr algn="l" indent="0" marL="0">
              <a:buNone/>
            </a:pPr>
            <a:r>
              <a:rPr lang="en-US" sz="1800" b="1" i="1" dirty="0">
                <a:solidFill>
                  <a:schemeClr val="bg1"/>
                </a:solidFill>
              </a:rPr>
              <a:t>afnemen</a:t>
            </a:r>
            <a:endParaRPr lang="en-US" sz="1800" dirty="0"/>
          </a:p>
        </p:txBody>
      </p:sp>
      <p:sp>
        <p:nvSpPr>
          <p:cNvPr id="14" name="Text 11"/>
          <p:cNvSpPr txBox="1"/>
          <p:nvPr/>
        </p:nvSpPr>
        <p:spPr>
          <a:xfrm>
            <a:off x="6437376" y="2057400"/>
            <a:ext cx="5065776" cy="438912"/>
          </a:xfrm>
          <a:prstGeom prst="rect">
            <a:avLst/>
          </a:prstGeom>
          <a:noFill/>
          <a:ln/>
        </p:spPr>
        <p:txBody>
          <a:bodyPr wrap="square" lIns="0" tIns="0" rIns="0" bIns="0" rtlCol="0" anchor="ctr"/>
          <a:lstStyle/>
          <a:p>
            <a:pPr algn="l" indent="0" marL="0">
              <a:buNone/>
            </a:pPr>
            <a:r>
              <a:rPr lang="en-US" sz="1500" i="1" dirty="0">
                <a:solidFill>
                  <a:schemeClr val="tx1"/>
                </a:solidFill>
              </a:rPr>
              <a:t>De werkloosheid neemt af.</a:t>
            </a:r>
            <a:r>
              <a:rPr lang="en-US" sz="1500" dirty="0">
                <a:solidFill>
                  <a:schemeClr val="tx1"/>
                </a:solidFill>
              </a:rPr>
              <a:t> → </a:t>
            </a:r>
            <a:r>
              <a:rPr lang="en-US" sz="1500" b="1" dirty="0">
                <a:solidFill>
                  <a:schemeClr val="tx1"/>
                </a:solidFill>
              </a:rPr>
              <a:t>diminue</a:t>
            </a:r>
            <a:endParaRPr lang="en-US" sz="1500" dirty="0"/>
          </a:p>
        </p:txBody>
      </p:sp>
      <p:sp>
        <p:nvSpPr>
          <p:cNvPr id="15" name="Text 12"/>
          <p:cNvSpPr txBox="1"/>
          <p:nvPr/>
        </p:nvSpPr>
        <p:spPr>
          <a:xfrm>
            <a:off x="6437376" y="2514600"/>
            <a:ext cx="5065776" cy="438912"/>
          </a:xfrm>
          <a:prstGeom prst="rect">
            <a:avLst/>
          </a:prstGeom>
          <a:noFill/>
          <a:ln/>
        </p:spPr>
        <p:txBody>
          <a:bodyPr wrap="square" lIns="0" tIns="0" rIns="0" bIns="0" rtlCol="0" anchor="ctr"/>
          <a:lstStyle/>
          <a:p>
            <a:pPr algn="l" indent="0" marL="0">
              <a:buNone/>
            </a:pPr>
            <a:r>
              <a:rPr lang="en-US" sz="1500" i="1" dirty="0">
                <a:solidFill>
                  <a:schemeClr val="tx1"/>
                </a:solidFill>
              </a:rPr>
              <a:t>Hij neemt een examen af.</a:t>
            </a:r>
            <a:r>
              <a:rPr lang="en-US" sz="1500" dirty="0">
                <a:solidFill>
                  <a:schemeClr val="tx1"/>
                </a:solidFill>
              </a:rPr>
              <a:t> → </a:t>
            </a:r>
            <a:r>
              <a:rPr lang="en-US" sz="1500" b="1" dirty="0">
                <a:solidFill>
                  <a:schemeClr val="tx1"/>
                </a:solidFill>
              </a:rPr>
              <a:t>fait passer</a:t>
            </a:r>
            <a:endParaRPr lang="en-US" sz="1500" dirty="0"/>
          </a:p>
        </p:txBody>
      </p:sp>
      <p:sp>
        <p:nvSpPr>
          <p:cNvPr id="16" name="Text 13"/>
          <p:cNvSpPr txBox="1"/>
          <p:nvPr/>
        </p:nvSpPr>
        <p:spPr>
          <a:xfrm>
            <a:off x="6437376" y="2971800"/>
            <a:ext cx="5065776" cy="438912"/>
          </a:xfrm>
          <a:prstGeom prst="rect">
            <a:avLst/>
          </a:prstGeom>
          <a:noFill/>
          <a:ln/>
        </p:spPr>
        <p:txBody>
          <a:bodyPr wrap="square" lIns="0" tIns="0" rIns="0" bIns="0" rtlCol="0" anchor="ctr"/>
          <a:lstStyle/>
          <a:p>
            <a:pPr algn="l" indent="0" marL="0">
              <a:buNone/>
            </a:pPr>
            <a:r>
              <a:rPr lang="en-US" sz="1500" i="1" dirty="0">
                <a:solidFill>
                  <a:schemeClr val="tx1"/>
                </a:solidFill>
              </a:rPr>
              <a:t>Neem de tafel even af.</a:t>
            </a:r>
            <a:r>
              <a:rPr lang="en-US" sz="1500" dirty="0">
                <a:solidFill>
                  <a:schemeClr val="tx1"/>
                </a:solidFill>
              </a:rPr>
              <a:t> → </a:t>
            </a:r>
            <a:r>
              <a:rPr lang="en-US" sz="1500" b="1" dirty="0">
                <a:solidFill>
                  <a:schemeClr val="tx1"/>
                </a:solidFill>
              </a:rPr>
              <a:t>essuie</a:t>
            </a:r>
            <a:endParaRPr lang="en-US" sz="1500" dirty="0"/>
          </a:p>
        </p:txBody>
      </p:sp>
      <p:sp>
        <p:nvSpPr>
          <p:cNvPr id="17" name="Shape 14"/>
          <p:cNvSpPr/>
          <p:nvPr/>
        </p:nvSpPr>
        <p:spPr>
          <a:xfrm>
            <a:off x="548640" y="3611880"/>
            <a:ext cx="5431536" cy="1965960"/>
          </a:xfrm>
          <a:prstGeom prst="roundRect">
            <a:avLst>
              <a:gd name="adj" fmla="val 4651"/>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8" name="Shape 15"/>
          <p:cNvSpPr/>
          <p:nvPr/>
        </p:nvSpPr>
        <p:spPr>
          <a:xfrm>
            <a:off x="548640" y="3611880"/>
            <a:ext cx="5431536" cy="457200"/>
          </a:xfrm>
          <a:prstGeom prst="roundRect">
            <a:avLst>
              <a:gd name="adj" fmla="val 20000"/>
            </a:avLst>
          </a:prstGeom>
          <a:solidFill>
            <a:schemeClr val="accent2"/>
          </a:solidFill>
          <a:ln w="12700">
            <a:solidFill>
              <a:srgbClr val="FFFFFF">
                <a:alpha val="0"/>
              </a:srgbClr>
            </a:solidFill>
            <a:prstDash val="solid"/>
          </a:ln>
        </p:spPr>
      </p:sp>
      <p:sp>
        <p:nvSpPr>
          <p:cNvPr id="19" name="Text 16"/>
          <p:cNvSpPr txBox="1"/>
          <p:nvPr/>
        </p:nvSpPr>
        <p:spPr>
          <a:xfrm>
            <a:off x="731520" y="3611880"/>
            <a:ext cx="5065776" cy="457200"/>
          </a:xfrm>
          <a:prstGeom prst="rect">
            <a:avLst/>
          </a:prstGeom>
          <a:noFill/>
          <a:ln/>
        </p:spPr>
        <p:txBody>
          <a:bodyPr wrap="square" lIns="0" tIns="0" rIns="0" bIns="0" rtlCol="0" anchor="ctr"/>
          <a:lstStyle/>
          <a:p>
            <a:pPr algn="l" indent="0" marL="0">
              <a:buNone/>
            </a:pPr>
            <a:r>
              <a:rPr lang="en-US" sz="1800" b="1" i="1" dirty="0">
                <a:solidFill>
                  <a:schemeClr val="bg1"/>
                </a:solidFill>
              </a:rPr>
              <a:t>aannemen</a:t>
            </a:r>
            <a:endParaRPr lang="en-US" sz="1800" dirty="0"/>
          </a:p>
        </p:txBody>
      </p:sp>
      <p:sp>
        <p:nvSpPr>
          <p:cNvPr id="20" name="Text 17"/>
          <p:cNvSpPr txBox="1"/>
          <p:nvPr/>
        </p:nvSpPr>
        <p:spPr>
          <a:xfrm>
            <a:off x="777240" y="4160520"/>
            <a:ext cx="5065776" cy="438912"/>
          </a:xfrm>
          <a:prstGeom prst="rect">
            <a:avLst/>
          </a:prstGeom>
          <a:noFill/>
          <a:ln/>
        </p:spPr>
        <p:txBody>
          <a:bodyPr wrap="square" lIns="0" tIns="0" rIns="0" bIns="0" rtlCol="0" anchor="ctr"/>
          <a:lstStyle/>
          <a:p>
            <a:pPr algn="l" indent="0" marL="0">
              <a:buNone/>
            </a:pPr>
            <a:r>
              <a:rPr lang="en-US" sz="1500" i="1" dirty="0">
                <a:solidFill>
                  <a:schemeClr val="tx1"/>
                </a:solidFill>
              </a:rPr>
              <a:t>Ik neem het voorstel aan.</a:t>
            </a:r>
            <a:r>
              <a:rPr lang="en-US" sz="1500" dirty="0">
                <a:solidFill>
                  <a:schemeClr val="tx1"/>
                </a:solidFill>
              </a:rPr>
              <a:t> → </a:t>
            </a:r>
            <a:r>
              <a:rPr lang="en-US" sz="1500" b="1" dirty="0">
                <a:solidFill>
                  <a:schemeClr val="tx1"/>
                </a:solidFill>
              </a:rPr>
              <a:t>accepte</a:t>
            </a:r>
            <a:endParaRPr lang="en-US" sz="1500" dirty="0"/>
          </a:p>
        </p:txBody>
      </p:sp>
      <p:sp>
        <p:nvSpPr>
          <p:cNvPr id="21" name="Text 18"/>
          <p:cNvSpPr txBox="1"/>
          <p:nvPr/>
        </p:nvSpPr>
        <p:spPr>
          <a:xfrm>
            <a:off x="777240" y="4617720"/>
            <a:ext cx="5065776" cy="438912"/>
          </a:xfrm>
          <a:prstGeom prst="rect">
            <a:avLst/>
          </a:prstGeom>
          <a:noFill/>
          <a:ln/>
        </p:spPr>
        <p:txBody>
          <a:bodyPr wrap="square" lIns="0" tIns="0" rIns="0" bIns="0" rtlCol="0" anchor="ctr"/>
          <a:lstStyle/>
          <a:p>
            <a:pPr algn="l" indent="0" marL="0">
              <a:buNone/>
            </a:pPr>
            <a:r>
              <a:rPr lang="en-US" sz="1500" i="1" dirty="0">
                <a:solidFill>
                  <a:schemeClr val="tx1"/>
                </a:solidFill>
              </a:rPr>
              <a:t>Het bedrijf neemt twee mensen aan.</a:t>
            </a:r>
            <a:r>
              <a:rPr lang="en-US" sz="1500" dirty="0">
                <a:solidFill>
                  <a:schemeClr val="tx1"/>
                </a:solidFill>
              </a:rPr>
              <a:t> → </a:t>
            </a:r>
            <a:r>
              <a:rPr lang="en-US" sz="1500" b="1" dirty="0">
                <a:solidFill>
                  <a:schemeClr val="tx1"/>
                </a:solidFill>
              </a:rPr>
              <a:t>embauche</a:t>
            </a:r>
            <a:endParaRPr lang="en-US" sz="1500" dirty="0"/>
          </a:p>
        </p:txBody>
      </p:sp>
      <p:sp>
        <p:nvSpPr>
          <p:cNvPr id="22" name="Text 19"/>
          <p:cNvSpPr txBox="1"/>
          <p:nvPr/>
        </p:nvSpPr>
        <p:spPr>
          <a:xfrm>
            <a:off x="777240" y="5074920"/>
            <a:ext cx="5065776" cy="438912"/>
          </a:xfrm>
          <a:prstGeom prst="rect">
            <a:avLst/>
          </a:prstGeom>
          <a:noFill/>
          <a:ln/>
        </p:spPr>
        <p:txBody>
          <a:bodyPr wrap="square" lIns="0" tIns="0" rIns="0" bIns="0" rtlCol="0" anchor="ctr"/>
          <a:lstStyle/>
          <a:p>
            <a:pPr algn="l" indent="0" marL="0">
              <a:buNone/>
            </a:pPr>
            <a:r>
              <a:rPr lang="en-US" sz="1500" i="1" dirty="0">
                <a:solidFill>
                  <a:schemeClr val="tx1"/>
                </a:solidFill>
              </a:rPr>
              <a:t>Ik neem aan dat je komt.</a:t>
            </a:r>
            <a:r>
              <a:rPr lang="en-US" sz="1500" dirty="0">
                <a:solidFill>
                  <a:schemeClr val="tx1"/>
                </a:solidFill>
              </a:rPr>
              <a:t> → </a:t>
            </a:r>
            <a:r>
              <a:rPr lang="en-US" sz="1500" b="1" dirty="0">
                <a:solidFill>
                  <a:schemeClr val="tx1"/>
                </a:solidFill>
              </a:rPr>
              <a:t>suppose</a:t>
            </a:r>
            <a:endParaRPr lang="en-US" sz="1500" dirty="0"/>
          </a:p>
        </p:txBody>
      </p:sp>
      <p:sp>
        <p:nvSpPr>
          <p:cNvPr id="23" name="Shape 20"/>
          <p:cNvSpPr/>
          <p:nvPr/>
        </p:nvSpPr>
        <p:spPr>
          <a:xfrm>
            <a:off x="6208776" y="3611880"/>
            <a:ext cx="5431536" cy="1965960"/>
          </a:xfrm>
          <a:prstGeom prst="roundRect">
            <a:avLst>
              <a:gd name="adj" fmla="val 465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4" name="Shape 21"/>
          <p:cNvSpPr/>
          <p:nvPr/>
        </p:nvSpPr>
        <p:spPr>
          <a:xfrm>
            <a:off x="6208776" y="3611880"/>
            <a:ext cx="5431536" cy="457200"/>
          </a:xfrm>
          <a:prstGeom prst="roundRect">
            <a:avLst>
              <a:gd name="adj" fmla="val 20000"/>
            </a:avLst>
          </a:prstGeom>
          <a:solidFill>
            <a:schemeClr val="accent1"/>
          </a:solidFill>
          <a:ln w="12700">
            <a:solidFill>
              <a:srgbClr val="FFFFFF">
                <a:alpha val="0"/>
              </a:srgbClr>
            </a:solidFill>
            <a:prstDash val="solid"/>
          </a:ln>
        </p:spPr>
      </p:sp>
      <p:sp>
        <p:nvSpPr>
          <p:cNvPr id="25" name="Text 22"/>
          <p:cNvSpPr txBox="1"/>
          <p:nvPr/>
        </p:nvSpPr>
        <p:spPr>
          <a:xfrm>
            <a:off x="6391656" y="3611880"/>
            <a:ext cx="5065776" cy="457200"/>
          </a:xfrm>
          <a:prstGeom prst="rect">
            <a:avLst/>
          </a:prstGeom>
          <a:noFill/>
          <a:ln/>
        </p:spPr>
        <p:txBody>
          <a:bodyPr wrap="square" lIns="0" tIns="0" rIns="0" bIns="0" rtlCol="0" anchor="ctr"/>
          <a:lstStyle/>
          <a:p>
            <a:pPr algn="l" indent="0" marL="0">
              <a:buNone/>
            </a:pPr>
            <a:r>
              <a:rPr lang="en-US" sz="1800" b="1" i="1" dirty="0">
                <a:solidFill>
                  <a:schemeClr val="bg1"/>
                </a:solidFill>
              </a:rPr>
              <a:t>uitvallen</a:t>
            </a:r>
            <a:endParaRPr lang="en-US" sz="1800" dirty="0"/>
          </a:p>
        </p:txBody>
      </p:sp>
      <p:sp>
        <p:nvSpPr>
          <p:cNvPr id="26" name="Text 23"/>
          <p:cNvSpPr txBox="1"/>
          <p:nvPr/>
        </p:nvSpPr>
        <p:spPr>
          <a:xfrm>
            <a:off x="6437376" y="4160520"/>
            <a:ext cx="5065776" cy="438912"/>
          </a:xfrm>
          <a:prstGeom prst="rect">
            <a:avLst/>
          </a:prstGeom>
          <a:noFill/>
          <a:ln/>
        </p:spPr>
        <p:txBody>
          <a:bodyPr wrap="square" lIns="0" tIns="0" rIns="0" bIns="0" rtlCol="0" anchor="ctr"/>
          <a:lstStyle/>
          <a:p>
            <a:pPr algn="l" indent="0" marL="0">
              <a:buNone/>
            </a:pPr>
            <a:r>
              <a:rPr lang="en-US" sz="1500" i="1" dirty="0">
                <a:solidFill>
                  <a:schemeClr val="tx1"/>
                </a:solidFill>
              </a:rPr>
              <a:t>De stroom valt uit.</a:t>
            </a:r>
            <a:r>
              <a:rPr lang="en-US" sz="1500" dirty="0">
                <a:solidFill>
                  <a:schemeClr val="tx1"/>
                </a:solidFill>
              </a:rPr>
              <a:t> → </a:t>
            </a:r>
            <a:r>
              <a:rPr lang="en-US" sz="1500" b="1" dirty="0">
                <a:solidFill>
                  <a:schemeClr val="tx1"/>
                </a:solidFill>
              </a:rPr>
              <a:t>tombe en panne</a:t>
            </a:r>
            <a:endParaRPr lang="en-US" sz="1500" dirty="0"/>
          </a:p>
        </p:txBody>
      </p:sp>
      <p:sp>
        <p:nvSpPr>
          <p:cNvPr id="27" name="Text 24"/>
          <p:cNvSpPr txBox="1"/>
          <p:nvPr/>
        </p:nvSpPr>
        <p:spPr>
          <a:xfrm>
            <a:off x="6437376" y="4617720"/>
            <a:ext cx="5065776" cy="438912"/>
          </a:xfrm>
          <a:prstGeom prst="rect">
            <a:avLst/>
          </a:prstGeom>
          <a:noFill/>
          <a:ln/>
        </p:spPr>
        <p:txBody>
          <a:bodyPr wrap="square" lIns="0" tIns="0" rIns="0" bIns="0" rtlCol="0" anchor="ctr"/>
          <a:lstStyle/>
          <a:p>
            <a:pPr algn="l" indent="0" marL="0">
              <a:buNone/>
            </a:pPr>
            <a:r>
              <a:rPr lang="en-US" sz="1500" i="1" dirty="0">
                <a:solidFill>
                  <a:schemeClr val="tx1"/>
                </a:solidFill>
              </a:rPr>
              <a:t>De les valt uit.</a:t>
            </a:r>
            <a:r>
              <a:rPr lang="en-US" sz="1500" dirty="0">
                <a:solidFill>
                  <a:schemeClr val="tx1"/>
                </a:solidFill>
              </a:rPr>
              <a:t> → </a:t>
            </a:r>
            <a:r>
              <a:rPr lang="en-US" sz="1500" b="1" dirty="0">
                <a:solidFill>
                  <a:schemeClr val="tx1"/>
                </a:solidFill>
              </a:rPr>
              <a:t>est annulée</a:t>
            </a:r>
            <a:endParaRPr lang="en-US" sz="1500" dirty="0"/>
          </a:p>
        </p:txBody>
      </p:sp>
      <p:sp>
        <p:nvSpPr>
          <p:cNvPr id="28" name="Text 25"/>
          <p:cNvSpPr txBox="1"/>
          <p:nvPr/>
        </p:nvSpPr>
        <p:spPr>
          <a:xfrm>
            <a:off x="6437376" y="5074920"/>
            <a:ext cx="5065776" cy="438912"/>
          </a:xfrm>
          <a:prstGeom prst="rect">
            <a:avLst/>
          </a:prstGeom>
          <a:noFill/>
          <a:ln/>
        </p:spPr>
        <p:txBody>
          <a:bodyPr wrap="square" lIns="0" tIns="0" rIns="0" bIns="0" rtlCol="0" anchor="ctr"/>
          <a:lstStyle/>
          <a:p>
            <a:pPr algn="l" indent="0" marL="0">
              <a:buNone/>
            </a:pPr>
            <a:r>
              <a:rPr lang="en-US" sz="1500" i="1" dirty="0">
                <a:solidFill>
                  <a:schemeClr val="tx1"/>
                </a:solidFill>
              </a:rPr>
              <a:t>Hij valt uit.</a:t>
            </a:r>
            <a:r>
              <a:rPr lang="en-US" sz="1500" dirty="0">
                <a:solidFill>
                  <a:schemeClr val="tx1"/>
                </a:solidFill>
              </a:rPr>
              <a:t> → </a:t>
            </a:r>
            <a:r>
              <a:rPr lang="en-US" sz="1500" b="1" dirty="0">
                <a:solidFill>
                  <a:schemeClr val="tx1"/>
                </a:solidFill>
              </a:rPr>
              <a:t>abandonne</a:t>
            </a:r>
            <a:endParaRPr lang="en-US" sz="1500" dirty="0"/>
          </a:p>
        </p:txBody>
      </p:sp>
      <p:sp>
        <p:nvSpPr>
          <p:cNvPr id="29" name="Shape 26"/>
          <p:cNvSpPr/>
          <p:nvPr/>
        </p:nvSpPr>
        <p:spPr>
          <a:xfrm>
            <a:off x="548640" y="5760720"/>
            <a:ext cx="11091672" cy="530352"/>
          </a:xfrm>
          <a:prstGeom prst="roundRect">
            <a:avLst>
              <a:gd name="adj" fmla="val 13793"/>
            </a:avLst>
          </a:prstGeom>
          <a:solidFill>
            <a:schemeClr val="tx2"/>
          </a:solidFill>
          <a:ln w="12700">
            <a:solidFill>
              <a:srgbClr val="FFFFFF">
                <a:alpha val="0"/>
              </a:srgbClr>
            </a:solidFill>
            <a:prstDash val="solid"/>
          </a:ln>
        </p:spPr>
      </p:sp>
      <p:sp>
        <p:nvSpPr>
          <p:cNvPr id="30" name="Text 27"/>
          <p:cNvSpPr txBox="1"/>
          <p:nvPr/>
        </p:nvSpPr>
        <p:spPr>
          <a:xfrm>
            <a:off x="822960" y="5760720"/>
            <a:ext cx="10607040" cy="530352"/>
          </a:xfrm>
          <a:prstGeom prst="rect">
            <a:avLst/>
          </a:prstGeom>
          <a:noFill/>
          <a:ln/>
        </p:spPr>
        <p:txBody>
          <a:bodyPr wrap="square" lIns="0" tIns="0" rIns="0" bIns="0" rtlCol="0" anchor="ctr"/>
          <a:lstStyle/>
          <a:p>
            <a:pPr algn="l" indent="0" marL="0">
              <a:buNone/>
            </a:pPr>
            <a:r>
              <a:rPr lang="en-US" sz="1600" dirty="0">
                <a:solidFill>
                  <a:schemeClr val="bg1"/>
                </a:solidFill>
              </a:rPr>
              <a:t>Le </a:t>
            </a:r>
            <a:r>
              <a:rPr lang="en-US" sz="1600" b="1" dirty="0">
                <a:solidFill>
                  <a:schemeClr val="bg1"/>
                </a:solidFill>
              </a:rPr>
              <a:t>complément</a:t>
            </a:r>
            <a:r>
              <a:rPr lang="en-US" sz="1600" dirty="0">
                <a:solidFill>
                  <a:schemeClr val="bg1"/>
                </a:solidFill>
              </a:rPr>
              <a:t> choisit le sens : </a:t>
            </a:r>
            <a:r>
              <a:rPr lang="en-US" sz="1600" i="1" dirty="0">
                <a:solidFill>
                  <a:schemeClr val="bg1"/>
                </a:solidFill>
              </a:rPr>
              <a:t>de telefoon opnemen · verlof opnemen · een gesprek opnemen</a:t>
            </a:r>
            <a:r>
              <a:rPr lang="en-US" sz="1600" dirty="0">
                <a:solidFill>
                  <a:schemeClr val="bg1"/>
                </a:solidFill>
              </a:rPr>
              <a:t>. Notez le verbe </a:t>
            </a:r>
            <a:r>
              <a:rPr lang="en-US" sz="1600" b="1" dirty="0">
                <a:solidFill>
                  <a:schemeClr val="bg1"/>
                </a:solidFill>
              </a:rPr>
              <a:t>avec</a:t>
            </a:r>
            <a:r>
              <a:rPr lang="en-US" sz="1600" dirty="0">
                <a:solidFill>
                  <a:schemeClr val="bg1"/>
                </a:solidFill>
              </a:rPr>
              <a:t> son complément.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Particule + préposition fixe</a:t>
            </a:r>
            <a:endParaRPr lang="en-US" sz="3000" dirty="0"/>
          </a:p>
        </p:txBody>
      </p:sp>
      <p:sp>
        <p:nvSpPr>
          <p:cNvPr id="3" name="tag"/>
          <p:cNvSpPr/>
          <p:nvPr/>
        </p:nvSpPr>
        <p:spPr>
          <a:xfrm>
            <a:off x="548640" y="237744"/>
            <a:ext cx="581558"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B2</a:t>
            </a:r>
            <a:endParaRPr lang="en-US" sz="1200" dirty="0"/>
          </a:p>
        </p:txBody>
      </p:sp>
      <p:sp>
        <p:nvSpPr>
          <p:cNvPr id="5" name="Text 2"/>
          <p:cNvSpPr txBox="1"/>
          <p:nvPr/>
        </p:nvSpPr>
        <p:spPr>
          <a:xfrm>
            <a:off x="685800" y="1463040"/>
            <a:ext cx="2743200" cy="320040"/>
          </a:xfrm>
          <a:prstGeom prst="rect">
            <a:avLst/>
          </a:prstGeom>
          <a:noFill/>
          <a:ln/>
        </p:spPr>
        <p:txBody>
          <a:bodyPr wrap="square" lIns="0" tIns="0" rIns="0" bIns="0" rtlCol="0" anchor="t"/>
          <a:lstStyle/>
          <a:p>
            <a:pPr algn="l" indent="0" marL="0">
              <a:buNone/>
            </a:pPr>
            <a:r>
              <a:rPr lang="en-US" sz="1200" b="1" spc="200" kern="0" dirty="0">
                <a:solidFill>
                  <a:schemeClr val="accent5"/>
                </a:solidFill>
              </a:rPr>
              <a:t>LE VERBE</a:t>
            </a:r>
            <a:endParaRPr lang="en-US" sz="1200" dirty="0"/>
          </a:p>
        </p:txBody>
      </p:sp>
      <p:sp>
        <p:nvSpPr>
          <p:cNvPr id="6" name="Text 3"/>
          <p:cNvSpPr txBox="1"/>
          <p:nvPr/>
        </p:nvSpPr>
        <p:spPr>
          <a:xfrm>
            <a:off x="6400800" y="1463040"/>
            <a:ext cx="3657600" cy="320040"/>
          </a:xfrm>
          <a:prstGeom prst="rect">
            <a:avLst/>
          </a:prstGeom>
          <a:noFill/>
          <a:ln/>
        </p:spPr>
        <p:txBody>
          <a:bodyPr wrap="square" lIns="0" tIns="0" rIns="0" bIns="0" rtlCol="0" anchor="t"/>
          <a:lstStyle/>
          <a:p>
            <a:pPr algn="l" indent="0" marL="0">
              <a:buNone/>
            </a:pPr>
            <a:r>
              <a:rPr lang="en-US" sz="1200" b="1" spc="200" kern="0" dirty="0">
                <a:solidFill>
                  <a:schemeClr val="accent5"/>
                </a:solidFill>
              </a:rPr>
              <a:t>AVEC ER (M23)</a:t>
            </a:r>
            <a:endParaRPr lang="en-US" sz="1200" dirty="0"/>
          </a:p>
        </p:txBody>
      </p:sp>
      <p:sp>
        <p:nvSpPr>
          <p:cNvPr id="7" name="Shape 4"/>
          <p:cNvSpPr/>
          <p:nvPr/>
        </p:nvSpPr>
        <p:spPr>
          <a:xfrm>
            <a:off x="548640" y="1810512"/>
            <a:ext cx="11091672" cy="530352"/>
          </a:xfrm>
          <a:prstGeom prst="roundRect">
            <a:avLst>
              <a:gd name="adj" fmla="val 10345"/>
            </a:avLst>
          </a:prstGeom>
          <a:solidFill>
            <a:schemeClr val="bg2"/>
          </a:solidFill>
          <a:ln w="12700">
            <a:solidFill>
              <a:srgbClr val="FFFFFF">
                <a:alpha val="0"/>
              </a:srgbClr>
            </a:solidFill>
            <a:prstDash val="solid"/>
          </a:ln>
        </p:spPr>
      </p:sp>
      <p:sp>
        <p:nvSpPr>
          <p:cNvPr id="8" name="Text 5"/>
          <p:cNvSpPr txBox="1"/>
          <p:nvPr/>
        </p:nvSpPr>
        <p:spPr>
          <a:xfrm>
            <a:off x="685800" y="1810512"/>
            <a:ext cx="2651760" cy="530352"/>
          </a:xfrm>
          <a:prstGeom prst="rect">
            <a:avLst/>
          </a:prstGeom>
          <a:noFill/>
          <a:ln/>
        </p:spPr>
        <p:txBody>
          <a:bodyPr wrap="square" lIns="0" tIns="0" rIns="0" bIns="0" rtlCol="0" anchor="ctr"/>
          <a:lstStyle/>
          <a:p>
            <a:pPr algn="l" indent="0" marL="0">
              <a:buNone/>
            </a:pPr>
            <a:r>
              <a:rPr lang="en-US" sz="1700" b="1" i="1" dirty="0">
                <a:solidFill>
                  <a:srgbClr val="6E4A9E"/>
                </a:solidFill>
              </a:rPr>
              <a:t>afhangen van</a:t>
            </a:r>
            <a:endParaRPr lang="en-US" sz="1700" dirty="0"/>
          </a:p>
        </p:txBody>
      </p:sp>
      <p:sp>
        <p:nvSpPr>
          <p:cNvPr id="9" name="Text 6"/>
          <p:cNvSpPr txBox="1"/>
          <p:nvPr/>
        </p:nvSpPr>
        <p:spPr>
          <a:xfrm>
            <a:off x="3337560" y="1810512"/>
            <a:ext cx="2926080" cy="530352"/>
          </a:xfrm>
          <a:prstGeom prst="rect">
            <a:avLst/>
          </a:prstGeom>
          <a:noFill/>
          <a:ln/>
        </p:spPr>
        <p:txBody>
          <a:bodyPr wrap="square" lIns="0" tIns="0" rIns="0" bIns="0" rtlCol="0" anchor="ctr"/>
          <a:lstStyle/>
          <a:p>
            <a:pPr algn="l" indent="0" marL="0">
              <a:buNone/>
            </a:pPr>
            <a:r>
              <a:rPr lang="en-US" sz="1400" i="1" dirty="0">
                <a:solidFill>
                  <a:schemeClr val="accent5"/>
                </a:solidFill>
              </a:rPr>
              <a:t>dépendre de</a:t>
            </a:r>
            <a:endParaRPr lang="en-US" sz="1400" dirty="0"/>
          </a:p>
        </p:txBody>
      </p:sp>
      <p:sp>
        <p:nvSpPr>
          <p:cNvPr id="10" name="Text 7"/>
          <p:cNvSpPr txBox="1"/>
          <p:nvPr/>
        </p:nvSpPr>
        <p:spPr>
          <a:xfrm>
            <a:off x="6400800" y="1810512"/>
            <a:ext cx="5120640" cy="530352"/>
          </a:xfrm>
          <a:prstGeom prst="rect">
            <a:avLst/>
          </a:prstGeom>
          <a:noFill/>
          <a:ln/>
        </p:spPr>
        <p:txBody>
          <a:bodyPr wrap="square" lIns="0" tIns="0" rIns="0" bIns="0" rtlCol="0" anchor="ctr"/>
          <a:lstStyle/>
          <a:p>
            <a:pPr algn="l" indent="0" marL="0">
              <a:buNone/>
            </a:pPr>
            <a:r>
              <a:rPr lang="en-US" sz="1700" i="1" dirty="0">
                <a:solidFill>
                  <a:schemeClr val="tx1"/>
                </a:solidFill>
              </a:rPr>
              <a:t>Het hangt </a:t>
            </a:r>
            <a:r>
              <a:rPr lang="en-US" sz="1700" b="1" i="1" dirty="0">
                <a:solidFill>
                  <a:schemeClr val="tx1"/>
                </a:solidFill>
              </a:rPr>
              <a:t>ervan</a:t>
            </a:r>
            <a:r>
              <a:rPr lang="en-US" sz="1700" i="1" dirty="0">
                <a:solidFill>
                  <a:schemeClr val="tx1"/>
                </a:solidFill>
              </a:rPr>
              <a:t> </a:t>
            </a:r>
            <a:r>
              <a:rPr lang="en-US" sz="1700" b="1" i="1" dirty="0">
                <a:solidFill>
                  <a:schemeClr val="tx1"/>
                </a:solidFill>
              </a:rPr>
              <a:t>af</a:t>
            </a:r>
            <a:r>
              <a:rPr lang="en-US" sz="1700" i="1" dirty="0">
                <a:solidFill>
                  <a:schemeClr val="tx1"/>
                </a:solidFill>
              </a:rPr>
              <a:t>.</a:t>
            </a:r>
            <a:endParaRPr lang="en-US" sz="1700" dirty="0"/>
          </a:p>
        </p:txBody>
      </p:sp>
      <p:sp>
        <p:nvSpPr>
          <p:cNvPr id="11" name="Shape 8"/>
          <p:cNvSpPr/>
          <p:nvPr/>
        </p:nvSpPr>
        <p:spPr>
          <a:xfrm>
            <a:off x="548640" y="2414016"/>
            <a:ext cx="11091672" cy="530352"/>
          </a:xfrm>
          <a:prstGeom prst="roundRect">
            <a:avLst>
              <a:gd name="adj" fmla="val 10345"/>
            </a:avLst>
          </a:prstGeom>
          <a:solidFill>
            <a:srgbClr val="FFFFFF"/>
          </a:solidFill>
          <a:ln w="12700">
            <a:solidFill>
              <a:srgbClr val="FFFFFF">
                <a:alpha val="0"/>
              </a:srgbClr>
            </a:solidFill>
            <a:prstDash val="solid"/>
          </a:ln>
        </p:spPr>
      </p:sp>
      <p:sp>
        <p:nvSpPr>
          <p:cNvPr id="12" name="Text 9"/>
          <p:cNvSpPr txBox="1"/>
          <p:nvPr/>
        </p:nvSpPr>
        <p:spPr>
          <a:xfrm>
            <a:off x="685800" y="2414016"/>
            <a:ext cx="2651760" cy="530352"/>
          </a:xfrm>
          <a:prstGeom prst="rect">
            <a:avLst/>
          </a:prstGeom>
          <a:noFill/>
          <a:ln/>
        </p:spPr>
        <p:txBody>
          <a:bodyPr wrap="square" lIns="0" tIns="0" rIns="0" bIns="0" rtlCol="0" anchor="ctr"/>
          <a:lstStyle/>
          <a:p>
            <a:pPr algn="l" indent="0" marL="0">
              <a:buNone/>
            </a:pPr>
            <a:r>
              <a:rPr lang="en-US" sz="1700" b="1" i="1" dirty="0">
                <a:solidFill>
                  <a:srgbClr val="6E4A9E"/>
                </a:solidFill>
              </a:rPr>
              <a:t>uitkijken naar</a:t>
            </a:r>
            <a:endParaRPr lang="en-US" sz="1700" dirty="0"/>
          </a:p>
        </p:txBody>
      </p:sp>
      <p:sp>
        <p:nvSpPr>
          <p:cNvPr id="13" name="Text 10"/>
          <p:cNvSpPr txBox="1"/>
          <p:nvPr/>
        </p:nvSpPr>
        <p:spPr>
          <a:xfrm>
            <a:off x="3337560" y="2414016"/>
            <a:ext cx="2926080" cy="530352"/>
          </a:xfrm>
          <a:prstGeom prst="rect">
            <a:avLst/>
          </a:prstGeom>
          <a:noFill/>
          <a:ln/>
        </p:spPr>
        <p:txBody>
          <a:bodyPr wrap="square" lIns="0" tIns="0" rIns="0" bIns="0" rtlCol="0" anchor="ctr"/>
          <a:lstStyle/>
          <a:p>
            <a:pPr algn="l" indent="0" marL="0">
              <a:buNone/>
            </a:pPr>
            <a:r>
              <a:rPr lang="en-US" sz="1400" i="1" dirty="0">
                <a:solidFill>
                  <a:schemeClr val="accent5"/>
                </a:solidFill>
              </a:rPr>
              <a:t>attendre avec impatience</a:t>
            </a:r>
            <a:endParaRPr lang="en-US" sz="1400" dirty="0"/>
          </a:p>
        </p:txBody>
      </p:sp>
      <p:sp>
        <p:nvSpPr>
          <p:cNvPr id="14" name="Text 11"/>
          <p:cNvSpPr txBox="1"/>
          <p:nvPr/>
        </p:nvSpPr>
        <p:spPr>
          <a:xfrm>
            <a:off x="6400800" y="2414016"/>
            <a:ext cx="5120640" cy="530352"/>
          </a:xfrm>
          <a:prstGeom prst="rect">
            <a:avLst/>
          </a:prstGeom>
          <a:noFill/>
          <a:ln/>
        </p:spPr>
        <p:txBody>
          <a:bodyPr wrap="square" lIns="0" tIns="0" rIns="0" bIns="0" rtlCol="0" anchor="ctr"/>
          <a:lstStyle/>
          <a:p>
            <a:pPr algn="l" indent="0" marL="0">
              <a:buNone/>
            </a:pPr>
            <a:r>
              <a:rPr lang="en-US" sz="1700" i="1" dirty="0">
                <a:solidFill>
                  <a:schemeClr val="tx1"/>
                </a:solidFill>
              </a:rPr>
              <a:t>Ik kijk </a:t>
            </a:r>
            <a:r>
              <a:rPr lang="en-US" sz="1700" b="1" i="1" dirty="0">
                <a:solidFill>
                  <a:schemeClr val="tx1"/>
                </a:solidFill>
              </a:rPr>
              <a:t>ernaar</a:t>
            </a:r>
            <a:r>
              <a:rPr lang="en-US" sz="1700" i="1" dirty="0">
                <a:solidFill>
                  <a:schemeClr val="tx1"/>
                </a:solidFill>
              </a:rPr>
              <a:t> </a:t>
            </a:r>
            <a:r>
              <a:rPr lang="en-US" sz="1700" b="1" i="1" dirty="0">
                <a:solidFill>
                  <a:schemeClr val="tx1"/>
                </a:solidFill>
              </a:rPr>
              <a:t>uit</a:t>
            </a:r>
            <a:r>
              <a:rPr lang="en-US" sz="1700" i="1" dirty="0">
                <a:solidFill>
                  <a:schemeClr val="tx1"/>
                </a:solidFill>
              </a:rPr>
              <a:t>.</a:t>
            </a:r>
            <a:endParaRPr lang="en-US" sz="1700" dirty="0"/>
          </a:p>
        </p:txBody>
      </p:sp>
      <p:sp>
        <p:nvSpPr>
          <p:cNvPr id="15" name="Shape 12"/>
          <p:cNvSpPr/>
          <p:nvPr/>
        </p:nvSpPr>
        <p:spPr>
          <a:xfrm>
            <a:off x="548640" y="3017520"/>
            <a:ext cx="11091672" cy="530352"/>
          </a:xfrm>
          <a:prstGeom prst="roundRect">
            <a:avLst>
              <a:gd name="adj" fmla="val 10345"/>
            </a:avLst>
          </a:prstGeom>
          <a:solidFill>
            <a:schemeClr val="bg2"/>
          </a:solidFill>
          <a:ln w="12700">
            <a:solidFill>
              <a:srgbClr val="FFFFFF">
                <a:alpha val="0"/>
              </a:srgbClr>
            </a:solidFill>
            <a:prstDash val="solid"/>
          </a:ln>
        </p:spPr>
      </p:sp>
      <p:sp>
        <p:nvSpPr>
          <p:cNvPr id="16" name="Text 13"/>
          <p:cNvSpPr txBox="1"/>
          <p:nvPr/>
        </p:nvSpPr>
        <p:spPr>
          <a:xfrm>
            <a:off x="685800" y="3017520"/>
            <a:ext cx="2651760" cy="530352"/>
          </a:xfrm>
          <a:prstGeom prst="rect">
            <a:avLst/>
          </a:prstGeom>
          <a:noFill/>
          <a:ln/>
        </p:spPr>
        <p:txBody>
          <a:bodyPr wrap="square" lIns="0" tIns="0" rIns="0" bIns="0" rtlCol="0" anchor="ctr"/>
          <a:lstStyle/>
          <a:p>
            <a:pPr algn="l" indent="0" marL="0">
              <a:buNone/>
            </a:pPr>
            <a:r>
              <a:rPr lang="en-US" sz="1700" b="1" i="1" dirty="0">
                <a:solidFill>
                  <a:srgbClr val="6E4A9E"/>
                </a:solidFill>
              </a:rPr>
              <a:t>uitgaan van</a:t>
            </a:r>
            <a:endParaRPr lang="en-US" sz="1700" dirty="0"/>
          </a:p>
        </p:txBody>
      </p:sp>
      <p:sp>
        <p:nvSpPr>
          <p:cNvPr id="17" name="Text 14"/>
          <p:cNvSpPr txBox="1"/>
          <p:nvPr/>
        </p:nvSpPr>
        <p:spPr>
          <a:xfrm>
            <a:off x="3337560" y="3017520"/>
            <a:ext cx="2926080" cy="530352"/>
          </a:xfrm>
          <a:prstGeom prst="rect">
            <a:avLst/>
          </a:prstGeom>
          <a:noFill/>
          <a:ln/>
        </p:spPr>
        <p:txBody>
          <a:bodyPr wrap="square" lIns="0" tIns="0" rIns="0" bIns="0" rtlCol="0" anchor="ctr"/>
          <a:lstStyle/>
          <a:p>
            <a:pPr algn="l" indent="0" marL="0">
              <a:buNone/>
            </a:pPr>
            <a:r>
              <a:rPr lang="en-US" sz="1400" i="1" dirty="0">
                <a:solidFill>
                  <a:schemeClr val="accent5"/>
                </a:solidFill>
              </a:rPr>
              <a:t>partir du principe que</a:t>
            </a:r>
            <a:endParaRPr lang="en-US" sz="1400" dirty="0"/>
          </a:p>
        </p:txBody>
      </p:sp>
      <p:sp>
        <p:nvSpPr>
          <p:cNvPr id="18" name="Text 15"/>
          <p:cNvSpPr txBox="1"/>
          <p:nvPr/>
        </p:nvSpPr>
        <p:spPr>
          <a:xfrm>
            <a:off x="6400800" y="3017520"/>
            <a:ext cx="5120640" cy="530352"/>
          </a:xfrm>
          <a:prstGeom prst="rect">
            <a:avLst/>
          </a:prstGeom>
          <a:noFill/>
          <a:ln/>
        </p:spPr>
        <p:txBody>
          <a:bodyPr wrap="square" lIns="0" tIns="0" rIns="0" bIns="0" rtlCol="0" anchor="ctr"/>
          <a:lstStyle/>
          <a:p>
            <a:pPr algn="l" indent="0" marL="0">
              <a:buNone/>
            </a:pPr>
            <a:r>
              <a:rPr lang="en-US" sz="1700" i="1" dirty="0">
                <a:solidFill>
                  <a:schemeClr val="tx1"/>
                </a:solidFill>
              </a:rPr>
              <a:t>Ik ga </a:t>
            </a:r>
            <a:r>
              <a:rPr lang="en-US" sz="1700" b="1" i="1" dirty="0">
                <a:solidFill>
                  <a:schemeClr val="tx1"/>
                </a:solidFill>
              </a:rPr>
              <a:t>ervan</a:t>
            </a:r>
            <a:r>
              <a:rPr lang="en-US" sz="1700" i="1" dirty="0">
                <a:solidFill>
                  <a:schemeClr val="tx1"/>
                </a:solidFill>
              </a:rPr>
              <a:t> </a:t>
            </a:r>
            <a:r>
              <a:rPr lang="en-US" sz="1700" b="1" i="1" dirty="0">
                <a:solidFill>
                  <a:schemeClr val="tx1"/>
                </a:solidFill>
              </a:rPr>
              <a:t>uit</a:t>
            </a:r>
            <a:r>
              <a:rPr lang="en-US" sz="1700" i="1" dirty="0">
                <a:solidFill>
                  <a:schemeClr val="tx1"/>
                </a:solidFill>
              </a:rPr>
              <a:t> dat je komt.</a:t>
            </a:r>
            <a:endParaRPr lang="en-US" sz="1700" dirty="0"/>
          </a:p>
        </p:txBody>
      </p:sp>
      <p:sp>
        <p:nvSpPr>
          <p:cNvPr id="19" name="Shape 16"/>
          <p:cNvSpPr/>
          <p:nvPr/>
        </p:nvSpPr>
        <p:spPr>
          <a:xfrm>
            <a:off x="548640" y="3621024"/>
            <a:ext cx="11091672" cy="530352"/>
          </a:xfrm>
          <a:prstGeom prst="roundRect">
            <a:avLst>
              <a:gd name="adj" fmla="val 10345"/>
            </a:avLst>
          </a:prstGeom>
          <a:solidFill>
            <a:srgbClr val="FFFFFF"/>
          </a:solidFill>
          <a:ln w="12700">
            <a:solidFill>
              <a:srgbClr val="FFFFFF">
                <a:alpha val="0"/>
              </a:srgbClr>
            </a:solidFill>
            <a:prstDash val="solid"/>
          </a:ln>
        </p:spPr>
      </p:sp>
      <p:sp>
        <p:nvSpPr>
          <p:cNvPr id="20" name="Text 17"/>
          <p:cNvSpPr txBox="1"/>
          <p:nvPr/>
        </p:nvSpPr>
        <p:spPr>
          <a:xfrm>
            <a:off x="685800" y="3621024"/>
            <a:ext cx="2651760" cy="530352"/>
          </a:xfrm>
          <a:prstGeom prst="rect">
            <a:avLst/>
          </a:prstGeom>
          <a:noFill/>
          <a:ln/>
        </p:spPr>
        <p:txBody>
          <a:bodyPr wrap="square" lIns="0" tIns="0" rIns="0" bIns="0" rtlCol="0" anchor="ctr"/>
          <a:lstStyle/>
          <a:p>
            <a:pPr algn="l" indent="0" marL="0">
              <a:buNone/>
            </a:pPr>
            <a:r>
              <a:rPr lang="en-US" sz="1700" b="1" i="1" dirty="0">
                <a:solidFill>
                  <a:srgbClr val="6E4A9E"/>
                </a:solidFill>
              </a:rPr>
              <a:t>nadenken over</a:t>
            </a:r>
            <a:endParaRPr lang="en-US" sz="1700" dirty="0"/>
          </a:p>
        </p:txBody>
      </p:sp>
      <p:sp>
        <p:nvSpPr>
          <p:cNvPr id="21" name="Text 18"/>
          <p:cNvSpPr txBox="1"/>
          <p:nvPr/>
        </p:nvSpPr>
        <p:spPr>
          <a:xfrm>
            <a:off x="3337560" y="3621024"/>
            <a:ext cx="2926080" cy="530352"/>
          </a:xfrm>
          <a:prstGeom prst="rect">
            <a:avLst/>
          </a:prstGeom>
          <a:noFill/>
          <a:ln/>
        </p:spPr>
        <p:txBody>
          <a:bodyPr wrap="square" lIns="0" tIns="0" rIns="0" bIns="0" rtlCol="0" anchor="ctr"/>
          <a:lstStyle/>
          <a:p>
            <a:pPr algn="l" indent="0" marL="0">
              <a:buNone/>
            </a:pPr>
            <a:r>
              <a:rPr lang="en-US" sz="1400" i="1" dirty="0">
                <a:solidFill>
                  <a:schemeClr val="accent5"/>
                </a:solidFill>
              </a:rPr>
              <a:t>réfléchir à</a:t>
            </a:r>
            <a:endParaRPr lang="en-US" sz="1400" dirty="0"/>
          </a:p>
        </p:txBody>
      </p:sp>
      <p:sp>
        <p:nvSpPr>
          <p:cNvPr id="22" name="Text 19"/>
          <p:cNvSpPr txBox="1"/>
          <p:nvPr/>
        </p:nvSpPr>
        <p:spPr>
          <a:xfrm>
            <a:off x="6400800" y="3621024"/>
            <a:ext cx="5120640" cy="530352"/>
          </a:xfrm>
          <a:prstGeom prst="rect">
            <a:avLst/>
          </a:prstGeom>
          <a:noFill/>
          <a:ln/>
        </p:spPr>
        <p:txBody>
          <a:bodyPr wrap="square" lIns="0" tIns="0" rIns="0" bIns="0" rtlCol="0" anchor="ctr"/>
          <a:lstStyle/>
          <a:p>
            <a:pPr algn="l" indent="0" marL="0">
              <a:buNone/>
            </a:pPr>
            <a:r>
              <a:rPr lang="en-US" sz="1700" i="1" dirty="0">
                <a:solidFill>
                  <a:schemeClr val="tx1"/>
                </a:solidFill>
              </a:rPr>
              <a:t>Ik denk </a:t>
            </a:r>
            <a:r>
              <a:rPr lang="en-US" sz="1700" b="1" i="1" dirty="0">
                <a:solidFill>
                  <a:schemeClr val="tx1"/>
                </a:solidFill>
              </a:rPr>
              <a:t>erover</a:t>
            </a:r>
            <a:r>
              <a:rPr lang="en-US" sz="1700" i="1" dirty="0">
                <a:solidFill>
                  <a:schemeClr val="tx1"/>
                </a:solidFill>
              </a:rPr>
              <a:t> </a:t>
            </a:r>
            <a:r>
              <a:rPr lang="en-US" sz="1700" b="1" i="1" dirty="0">
                <a:solidFill>
                  <a:schemeClr val="tx1"/>
                </a:solidFill>
              </a:rPr>
              <a:t>na</a:t>
            </a:r>
            <a:r>
              <a:rPr lang="en-US" sz="1700" i="1" dirty="0">
                <a:solidFill>
                  <a:schemeClr val="tx1"/>
                </a:solidFill>
              </a:rPr>
              <a:t>.</a:t>
            </a:r>
            <a:endParaRPr lang="en-US" sz="1700" dirty="0"/>
          </a:p>
        </p:txBody>
      </p:sp>
      <p:sp>
        <p:nvSpPr>
          <p:cNvPr id="23" name="Shape 20"/>
          <p:cNvSpPr/>
          <p:nvPr/>
        </p:nvSpPr>
        <p:spPr>
          <a:xfrm>
            <a:off x="548640" y="4224528"/>
            <a:ext cx="11091672" cy="530352"/>
          </a:xfrm>
          <a:prstGeom prst="roundRect">
            <a:avLst>
              <a:gd name="adj" fmla="val 10345"/>
            </a:avLst>
          </a:prstGeom>
          <a:solidFill>
            <a:schemeClr val="bg2"/>
          </a:solidFill>
          <a:ln w="12700">
            <a:solidFill>
              <a:srgbClr val="FFFFFF">
                <a:alpha val="0"/>
              </a:srgbClr>
            </a:solidFill>
            <a:prstDash val="solid"/>
          </a:ln>
        </p:spPr>
      </p:sp>
      <p:sp>
        <p:nvSpPr>
          <p:cNvPr id="24" name="Text 21"/>
          <p:cNvSpPr txBox="1"/>
          <p:nvPr/>
        </p:nvSpPr>
        <p:spPr>
          <a:xfrm>
            <a:off x="685800" y="4224528"/>
            <a:ext cx="2651760" cy="530352"/>
          </a:xfrm>
          <a:prstGeom prst="rect">
            <a:avLst/>
          </a:prstGeom>
          <a:noFill/>
          <a:ln/>
        </p:spPr>
        <p:txBody>
          <a:bodyPr wrap="square" lIns="0" tIns="0" rIns="0" bIns="0" rtlCol="0" anchor="ctr"/>
          <a:lstStyle/>
          <a:p>
            <a:pPr algn="l" indent="0" marL="0">
              <a:buNone/>
            </a:pPr>
            <a:r>
              <a:rPr lang="en-US" sz="1700" b="1" i="1" dirty="0">
                <a:solidFill>
                  <a:srgbClr val="6E4A9E"/>
                </a:solidFill>
              </a:rPr>
              <a:t>deelnemen aan</a:t>
            </a:r>
            <a:endParaRPr lang="en-US" sz="1700" dirty="0"/>
          </a:p>
        </p:txBody>
      </p:sp>
      <p:sp>
        <p:nvSpPr>
          <p:cNvPr id="25" name="Text 22"/>
          <p:cNvSpPr txBox="1"/>
          <p:nvPr/>
        </p:nvSpPr>
        <p:spPr>
          <a:xfrm>
            <a:off x="3337560" y="4224528"/>
            <a:ext cx="2926080" cy="530352"/>
          </a:xfrm>
          <a:prstGeom prst="rect">
            <a:avLst/>
          </a:prstGeom>
          <a:noFill/>
          <a:ln/>
        </p:spPr>
        <p:txBody>
          <a:bodyPr wrap="square" lIns="0" tIns="0" rIns="0" bIns="0" rtlCol="0" anchor="ctr"/>
          <a:lstStyle/>
          <a:p>
            <a:pPr algn="l" indent="0" marL="0">
              <a:buNone/>
            </a:pPr>
            <a:r>
              <a:rPr lang="en-US" sz="1400" i="1" dirty="0">
                <a:solidFill>
                  <a:schemeClr val="accent5"/>
                </a:solidFill>
              </a:rPr>
              <a:t>participer à</a:t>
            </a:r>
            <a:endParaRPr lang="en-US" sz="1400" dirty="0"/>
          </a:p>
        </p:txBody>
      </p:sp>
      <p:sp>
        <p:nvSpPr>
          <p:cNvPr id="26" name="Text 23"/>
          <p:cNvSpPr txBox="1"/>
          <p:nvPr/>
        </p:nvSpPr>
        <p:spPr>
          <a:xfrm>
            <a:off x="6400800" y="4224528"/>
            <a:ext cx="5120640" cy="530352"/>
          </a:xfrm>
          <a:prstGeom prst="rect">
            <a:avLst/>
          </a:prstGeom>
          <a:noFill/>
          <a:ln/>
        </p:spPr>
        <p:txBody>
          <a:bodyPr wrap="square" lIns="0" tIns="0" rIns="0" bIns="0" rtlCol="0" anchor="ctr"/>
          <a:lstStyle/>
          <a:p>
            <a:pPr algn="l" indent="0" marL="0">
              <a:buNone/>
            </a:pPr>
            <a:r>
              <a:rPr lang="en-US" sz="1700" i="1" dirty="0">
                <a:solidFill>
                  <a:schemeClr val="tx1"/>
                </a:solidFill>
              </a:rPr>
              <a:t>Ik neem </a:t>
            </a:r>
            <a:r>
              <a:rPr lang="en-US" sz="1700" b="1" i="1" dirty="0">
                <a:solidFill>
                  <a:schemeClr val="tx1"/>
                </a:solidFill>
              </a:rPr>
              <a:t>eraan</a:t>
            </a:r>
            <a:r>
              <a:rPr lang="en-US" sz="1700" i="1" dirty="0">
                <a:solidFill>
                  <a:schemeClr val="tx1"/>
                </a:solidFill>
              </a:rPr>
              <a:t> </a:t>
            </a:r>
            <a:r>
              <a:rPr lang="en-US" sz="1700" b="1" i="1" dirty="0">
                <a:solidFill>
                  <a:schemeClr val="tx1"/>
                </a:solidFill>
              </a:rPr>
              <a:t>deel</a:t>
            </a:r>
            <a:r>
              <a:rPr lang="en-US" sz="1700" i="1" dirty="0">
                <a:solidFill>
                  <a:schemeClr val="tx1"/>
                </a:solidFill>
              </a:rPr>
              <a:t>.</a:t>
            </a:r>
            <a:endParaRPr lang="en-US" sz="1700" dirty="0"/>
          </a:p>
        </p:txBody>
      </p:sp>
      <p:sp>
        <p:nvSpPr>
          <p:cNvPr id="27" name="Shape 24"/>
          <p:cNvSpPr/>
          <p:nvPr/>
        </p:nvSpPr>
        <p:spPr>
          <a:xfrm>
            <a:off x="548640" y="4828032"/>
            <a:ext cx="11091672" cy="530352"/>
          </a:xfrm>
          <a:prstGeom prst="roundRect">
            <a:avLst>
              <a:gd name="adj" fmla="val 10345"/>
            </a:avLst>
          </a:prstGeom>
          <a:solidFill>
            <a:srgbClr val="FFFFFF"/>
          </a:solidFill>
          <a:ln w="12700">
            <a:solidFill>
              <a:srgbClr val="FFFFFF">
                <a:alpha val="0"/>
              </a:srgbClr>
            </a:solidFill>
            <a:prstDash val="solid"/>
          </a:ln>
        </p:spPr>
      </p:sp>
      <p:sp>
        <p:nvSpPr>
          <p:cNvPr id="28" name="Text 25"/>
          <p:cNvSpPr txBox="1"/>
          <p:nvPr/>
        </p:nvSpPr>
        <p:spPr>
          <a:xfrm>
            <a:off x="685800" y="4828032"/>
            <a:ext cx="2651760" cy="530352"/>
          </a:xfrm>
          <a:prstGeom prst="rect">
            <a:avLst/>
          </a:prstGeom>
          <a:noFill/>
          <a:ln/>
        </p:spPr>
        <p:txBody>
          <a:bodyPr wrap="square" lIns="0" tIns="0" rIns="0" bIns="0" rtlCol="0" anchor="ctr"/>
          <a:lstStyle/>
          <a:p>
            <a:pPr algn="l" indent="0" marL="0">
              <a:buNone/>
            </a:pPr>
            <a:r>
              <a:rPr lang="en-US" sz="1700" b="1" i="1" dirty="0">
                <a:solidFill>
                  <a:srgbClr val="6E4A9E"/>
                </a:solidFill>
              </a:rPr>
              <a:t>ingaan op</a:t>
            </a:r>
            <a:endParaRPr lang="en-US" sz="1700" dirty="0"/>
          </a:p>
        </p:txBody>
      </p:sp>
      <p:sp>
        <p:nvSpPr>
          <p:cNvPr id="29" name="Text 26"/>
          <p:cNvSpPr txBox="1"/>
          <p:nvPr/>
        </p:nvSpPr>
        <p:spPr>
          <a:xfrm>
            <a:off x="3337560" y="4828032"/>
            <a:ext cx="2926080" cy="530352"/>
          </a:xfrm>
          <a:prstGeom prst="rect">
            <a:avLst/>
          </a:prstGeom>
          <a:noFill/>
          <a:ln/>
        </p:spPr>
        <p:txBody>
          <a:bodyPr wrap="square" lIns="0" tIns="0" rIns="0" bIns="0" rtlCol="0" anchor="ctr"/>
          <a:lstStyle/>
          <a:p>
            <a:pPr algn="l" indent="0" marL="0">
              <a:buNone/>
            </a:pPr>
            <a:r>
              <a:rPr lang="en-US" sz="1400" i="1" dirty="0">
                <a:solidFill>
                  <a:schemeClr val="accent5"/>
                </a:solidFill>
              </a:rPr>
              <a:t>répondre à, réagir à</a:t>
            </a:r>
            <a:endParaRPr lang="en-US" sz="1400" dirty="0"/>
          </a:p>
        </p:txBody>
      </p:sp>
      <p:sp>
        <p:nvSpPr>
          <p:cNvPr id="30" name="Text 27"/>
          <p:cNvSpPr txBox="1"/>
          <p:nvPr/>
        </p:nvSpPr>
        <p:spPr>
          <a:xfrm>
            <a:off x="6400800" y="4828032"/>
            <a:ext cx="5120640" cy="530352"/>
          </a:xfrm>
          <a:prstGeom prst="rect">
            <a:avLst/>
          </a:prstGeom>
          <a:noFill/>
          <a:ln/>
        </p:spPr>
        <p:txBody>
          <a:bodyPr wrap="square" lIns="0" tIns="0" rIns="0" bIns="0" rtlCol="0" anchor="ctr"/>
          <a:lstStyle/>
          <a:p>
            <a:pPr algn="l" indent="0" marL="0">
              <a:buNone/>
            </a:pPr>
            <a:r>
              <a:rPr lang="en-US" sz="1700" i="1" dirty="0">
                <a:solidFill>
                  <a:schemeClr val="tx1"/>
                </a:solidFill>
              </a:rPr>
              <a:t>Ik ga </a:t>
            </a:r>
            <a:r>
              <a:rPr lang="en-US" sz="1700" b="1" i="1" dirty="0">
                <a:solidFill>
                  <a:schemeClr val="tx1"/>
                </a:solidFill>
              </a:rPr>
              <a:t>erop</a:t>
            </a:r>
            <a:r>
              <a:rPr lang="en-US" sz="1700" i="1" dirty="0">
                <a:solidFill>
                  <a:schemeClr val="tx1"/>
                </a:solidFill>
              </a:rPr>
              <a:t> </a:t>
            </a:r>
            <a:r>
              <a:rPr lang="en-US" sz="1700" b="1" i="1" dirty="0">
                <a:solidFill>
                  <a:schemeClr val="tx1"/>
                </a:solidFill>
              </a:rPr>
              <a:t>in</a:t>
            </a:r>
            <a:r>
              <a:rPr lang="en-US" sz="1700" i="1" dirty="0">
                <a:solidFill>
                  <a:schemeClr val="tx1"/>
                </a:solidFill>
              </a:rPr>
              <a:t>.</a:t>
            </a:r>
            <a:endParaRPr lang="en-US" sz="1700" dirty="0"/>
          </a:p>
        </p:txBody>
      </p:sp>
      <p:sp>
        <p:nvSpPr>
          <p:cNvPr id="31" name="Text 28"/>
          <p:cNvSpPr txBox="1"/>
          <p:nvPr/>
        </p:nvSpPr>
        <p:spPr>
          <a:xfrm>
            <a:off x="548640" y="5468112"/>
            <a:ext cx="11091672" cy="365760"/>
          </a:xfrm>
          <a:prstGeom prst="rect">
            <a:avLst/>
          </a:prstGeom>
          <a:noFill/>
          <a:ln/>
        </p:spPr>
        <p:txBody>
          <a:bodyPr wrap="square" lIns="0" tIns="0" rIns="0" bIns="0" rtlCol="0" anchor="t"/>
          <a:lstStyle/>
          <a:p>
            <a:pPr algn="ctr" indent="0" marL="0">
              <a:buNone/>
            </a:pPr>
            <a:r>
              <a:rPr lang="en-US" sz="1500" dirty="0">
                <a:solidFill>
                  <a:schemeClr val="tx1"/>
                </a:solidFill>
              </a:rPr>
              <a:t>Aussi : </a:t>
            </a:r>
            <a:r>
              <a:rPr lang="en-US" sz="1500" i="1" dirty="0">
                <a:solidFill>
                  <a:schemeClr val="tx1"/>
                </a:solidFill>
              </a:rPr>
              <a:t>opkomen voor</a:t>
            </a:r>
            <a:r>
              <a:rPr lang="en-US" sz="1500" dirty="0">
                <a:solidFill>
                  <a:schemeClr val="tx1"/>
                </a:solidFill>
              </a:rPr>
              <a:t> (défendre) · </a:t>
            </a:r>
            <a:r>
              <a:rPr lang="en-US" sz="1500" i="1" dirty="0">
                <a:solidFill>
                  <a:schemeClr val="tx1"/>
                </a:solidFill>
              </a:rPr>
              <a:t>omgaan met</a:t>
            </a:r>
            <a:r>
              <a:rPr lang="en-US" sz="1500" dirty="0">
                <a:solidFill>
                  <a:schemeClr val="tx1"/>
                </a:solidFill>
              </a:rPr>
              <a:t> (gérer) · </a:t>
            </a:r>
            <a:r>
              <a:rPr lang="en-US" sz="1500" i="1" dirty="0">
                <a:solidFill>
                  <a:schemeClr val="tx1"/>
                </a:solidFill>
              </a:rPr>
              <a:t>meedoen aan</a:t>
            </a:r>
            <a:r>
              <a:rPr lang="en-US" sz="1500" dirty="0">
                <a:solidFill>
                  <a:schemeClr val="tx1"/>
                </a:solidFill>
              </a:rPr>
              <a:t> (participer à)</a:t>
            </a:r>
            <a:endParaRPr lang="en-US" sz="1500" dirty="0"/>
          </a:p>
        </p:txBody>
      </p:sp>
      <p:sp>
        <p:nvSpPr>
          <p:cNvPr id="32" name="Shape 29"/>
          <p:cNvSpPr/>
          <p:nvPr/>
        </p:nvSpPr>
        <p:spPr>
          <a:xfrm>
            <a:off x="548640" y="5870448"/>
            <a:ext cx="11091672" cy="475488"/>
          </a:xfrm>
          <a:prstGeom prst="roundRect">
            <a:avLst>
              <a:gd name="adj" fmla="val 15385"/>
            </a:avLst>
          </a:prstGeom>
          <a:solidFill>
            <a:schemeClr val="tx2"/>
          </a:solidFill>
          <a:ln w="12700">
            <a:solidFill>
              <a:srgbClr val="FFFFFF">
                <a:alpha val="0"/>
              </a:srgbClr>
            </a:solidFill>
            <a:prstDash val="solid"/>
          </a:ln>
        </p:spPr>
      </p:sp>
      <p:sp>
        <p:nvSpPr>
          <p:cNvPr id="33" name="Text 30"/>
          <p:cNvSpPr txBox="1"/>
          <p:nvPr/>
        </p:nvSpPr>
        <p:spPr>
          <a:xfrm>
            <a:off x="822960" y="5870448"/>
            <a:ext cx="10607040" cy="475488"/>
          </a:xfrm>
          <a:prstGeom prst="rect">
            <a:avLst/>
          </a:prstGeom>
          <a:noFill/>
          <a:ln/>
        </p:spPr>
        <p:txBody>
          <a:bodyPr wrap="square" lIns="0" tIns="0" rIns="0" bIns="0" rtlCol="0" anchor="ctr"/>
          <a:lstStyle/>
          <a:p>
            <a:pPr algn="l" indent="0" marL="0">
              <a:buNone/>
            </a:pPr>
            <a:r>
              <a:rPr lang="en-US" sz="1500" dirty="0">
                <a:solidFill>
                  <a:schemeClr val="bg1"/>
                </a:solidFill>
              </a:rPr>
              <a:t>La particule va </a:t>
            </a:r>
            <a:r>
              <a:rPr lang="en-US" sz="1500" b="1" dirty="0">
                <a:solidFill>
                  <a:schemeClr val="bg1"/>
                </a:solidFill>
              </a:rPr>
              <a:t>au bout</a:t>
            </a:r>
            <a:r>
              <a:rPr lang="en-US" sz="1500" dirty="0">
                <a:solidFill>
                  <a:schemeClr val="bg1"/>
                </a:solidFill>
              </a:rPr>
              <a:t> : </a:t>
            </a:r>
            <a:r>
              <a:rPr lang="en-US" sz="1500" i="1" dirty="0">
                <a:solidFill>
                  <a:schemeClr val="bg1"/>
                </a:solidFill>
              </a:rPr>
              <a:t>Ik kijk ernaar </a:t>
            </a:r>
            <a:r>
              <a:rPr lang="en-US" sz="1500" b="1" i="1" dirty="0">
                <a:solidFill>
                  <a:schemeClr val="bg1"/>
                </a:solidFill>
              </a:rPr>
              <a:t>uit</a:t>
            </a:r>
            <a:r>
              <a:rPr lang="en-US" sz="1500" i="1" dirty="0">
                <a:solidFill>
                  <a:schemeClr val="bg1"/>
                </a:solidFill>
              </a:rPr>
              <a:t>.</a:t>
            </a:r>
            <a:r>
              <a:rPr lang="en-US" sz="1500" dirty="0">
                <a:solidFill>
                  <a:schemeClr val="bg1"/>
                </a:solidFill>
              </a:rPr>
              <a:t> · </a:t>
            </a:r>
            <a:r>
              <a:rPr lang="en-US" sz="1500" i="1" dirty="0">
                <a:solidFill>
                  <a:schemeClr val="bg1"/>
                </a:solidFill>
              </a:rPr>
              <a:t>er</a:t>
            </a:r>
            <a:r>
              <a:rPr lang="en-US" sz="1500" dirty="0">
                <a:solidFill>
                  <a:schemeClr val="bg1"/>
                </a:solidFill>
              </a:rPr>
              <a:t> et la préposition peuvent se séparer : </a:t>
            </a:r>
            <a:r>
              <a:rPr lang="en-US" sz="1500" i="1" dirty="0">
                <a:solidFill>
                  <a:schemeClr val="bg1"/>
                </a:solidFill>
              </a:rPr>
              <a:t>Ik kijk er </a:t>
            </a:r>
            <a:r>
              <a:rPr lang="en-US" sz="1500" b="1" i="1" dirty="0">
                <a:solidFill>
                  <a:schemeClr val="bg1"/>
                </a:solidFill>
              </a:rPr>
              <a:t>echt</a:t>
            </a:r>
            <a:r>
              <a:rPr lang="en-US" sz="1500" i="1" dirty="0">
                <a:solidFill>
                  <a:schemeClr val="bg1"/>
                </a:solidFill>
              </a:rPr>
              <a:t> naar uit.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séparable ou inséparable ?</a:t>
            </a:r>
            <a:endParaRPr lang="en-US" sz="3000" dirty="0"/>
          </a:p>
        </p:txBody>
      </p:sp>
      <p:sp>
        <p:nvSpPr>
          <p:cNvPr id="3" name="tag"/>
          <p:cNvSpPr/>
          <p:nvPr/>
        </p:nvSpPr>
        <p:spPr>
          <a:xfrm>
            <a:off x="548640" y="237744"/>
            <a:ext cx="1014984"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PIÈGE</a:t>
            </a:r>
            <a:endParaRPr lang="en-US" sz="1200" dirty="0"/>
          </a:p>
        </p:txBody>
      </p:sp>
      <p:sp>
        <p:nvSpPr>
          <p:cNvPr id="5" name="Shape 2"/>
          <p:cNvSpPr/>
          <p:nvPr/>
        </p:nvSpPr>
        <p:spPr>
          <a:xfrm>
            <a:off x="548640" y="1508760"/>
            <a:ext cx="4206240" cy="4114800"/>
          </a:xfrm>
          <a:prstGeom prst="roundRect">
            <a:avLst>
              <a:gd name="adj" fmla="val 2222"/>
            </a:avLst>
          </a:prstGeom>
          <a:solidFill>
            <a:srgbClr val="FBEDEB"/>
          </a:solidFill>
          <a:ln w="19050">
            <a:solidFill>
              <a:srgbClr val="B83227"/>
            </a:solidFill>
            <a:prstDash val="solid"/>
          </a:ln>
        </p:spPr>
      </p:sp>
      <p:sp>
        <p:nvSpPr>
          <p:cNvPr id="6" name="Text 3"/>
          <p:cNvSpPr txBox="1"/>
          <p:nvPr/>
        </p:nvSpPr>
        <p:spPr>
          <a:xfrm>
            <a:off x="731520" y="1600200"/>
            <a:ext cx="3840480" cy="365760"/>
          </a:xfrm>
          <a:prstGeom prst="rect">
            <a:avLst/>
          </a:prstGeom>
          <a:noFill/>
          <a:ln/>
        </p:spPr>
        <p:txBody>
          <a:bodyPr wrap="square" lIns="0" tIns="0" rIns="0" bIns="0" rtlCol="0" anchor="t"/>
          <a:lstStyle/>
          <a:p>
            <a:pPr algn="l" indent="0" marL="0">
              <a:buNone/>
            </a:pPr>
            <a:r>
              <a:rPr lang="en-US" sz="1400" b="1" spc="100" kern="0" dirty="0">
                <a:solidFill>
                  <a:schemeClr val="accent6"/>
                </a:solidFill>
              </a:rPr>
              <a:t>JAMAIS SÉPARABLES</a:t>
            </a:r>
            <a:endParaRPr lang="en-US" sz="1400" dirty="0"/>
          </a:p>
        </p:txBody>
      </p:sp>
      <p:sp>
        <p:nvSpPr>
          <p:cNvPr id="7" name="Shape 4"/>
          <p:cNvSpPr/>
          <p:nvPr/>
        </p:nvSpPr>
        <p:spPr>
          <a:xfrm>
            <a:off x="777240" y="2057400"/>
            <a:ext cx="1143000" cy="457200"/>
          </a:xfrm>
          <a:prstGeom prst="roundRect">
            <a:avLst>
              <a:gd name="adj" fmla="val 24000"/>
            </a:avLst>
          </a:prstGeom>
          <a:solidFill>
            <a:schemeClr val="accent6"/>
          </a:solidFill>
          <a:ln w="12700">
            <a:solidFill>
              <a:srgbClr val="FFFFFF">
                <a:alpha val="0"/>
              </a:srgbClr>
            </a:solidFill>
            <a:prstDash val="solid"/>
          </a:ln>
        </p:spPr>
      </p:sp>
      <p:sp>
        <p:nvSpPr>
          <p:cNvPr id="8" name="Text 5"/>
          <p:cNvSpPr txBox="1"/>
          <p:nvPr/>
        </p:nvSpPr>
        <p:spPr>
          <a:xfrm>
            <a:off x="777240" y="2057400"/>
            <a:ext cx="1143000" cy="457200"/>
          </a:xfrm>
          <a:prstGeom prst="rect">
            <a:avLst/>
          </a:prstGeom>
          <a:noFill/>
          <a:ln/>
        </p:spPr>
        <p:txBody>
          <a:bodyPr wrap="square" lIns="0" tIns="0" rIns="0" bIns="0" rtlCol="0" anchor="ctr"/>
          <a:lstStyle/>
          <a:p>
            <a:pPr algn="ctr" indent="0" marL="0">
              <a:buNone/>
            </a:pPr>
            <a:r>
              <a:rPr lang="en-US" sz="1700" b="1" dirty="0">
                <a:solidFill>
                  <a:schemeClr val="bg1"/>
                </a:solidFill>
              </a:rPr>
              <a:t>be-</a:t>
            </a:r>
            <a:endParaRPr lang="en-US" sz="1700" dirty="0"/>
          </a:p>
        </p:txBody>
      </p:sp>
      <p:sp>
        <p:nvSpPr>
          <p:cNvPr id="9" name="Shape 6"/>
          <p:cNvSpPr/>
          <p:nvPr/>
        </p:nvSpPr>
        <p:spPr>
          <a:xfrm>
            <a:off x="2057400" y="2057400"/>
            <a:ext cx="1143000" cy="457200"/>
          </a:xfrm>
          <a:prstGeom prst="roundRect">
            <a:avLst>
              <a:gd name="adj" fmla="val 24000"/>
            </a:avLst>
          </a:prstGeom>
          <a:solidFill>
            <a:schemeClr val="accent6"/>
          </a:solidFill>
          <a:ln w="12700">
            <a:solidFill>
              <a:srgbClr val="FFFFFF">
                <a:alpha val="0"/>
              </a:srgbClr>
            </a:solidFill>
            <a:prstDash val="solid"/>
          </a:ln>
        </p:spPr>
      </p:sp>
      <p:sp>
        <p:nvSpPr>
          <p:cNvPr id="10" name="Text 7"/>
          <p:cNvSpPr txBox="1"/>
          <p:nvPr/>
        </p:nvSpPr>
        <p:spPr>
          <a:xfrm>
            <a:off x="2057400" y="2057400"/>
            <a:ext cx="1143000" cy="457200"/>
          </a:xfrm>
          <a:prstGeom prst="rect">
            <a:avLst/>
          </a:prstGeom>
          <a:noFill/>
          <a:ln/>
        </p:spPr>
        <p:txBody>
          <a:bodyPr wrap="square" lIns="0" tIns="0" rIns="0" bIns="0" rtlCol="0" anchor="ctr"/>
          <a:lstStyle/>
          <a:p>
            <a:pPr algn="ctr" indent="0" marL="0">
              <a:buNone/>
            </a:pPr>
            <a:r>
              <a:rPr lang="en-US" sz="1700" b="1" dirty="0">
                <a:solidFill>
                  <a:schemeClr val="bg1"/>
                </a:solidFill>
              </a:rPr>
              <a:t>ge-</a:t>
            </a:r>
            <a:endParaRPr lang="en-US" sz="1700" dirty="0"/>
          </a:p>
        </p:txBody>
      </p:sp>
      <p:sp>
        <p:nvSpPr>
          <p:cNvPr id="11" name="Shape 8"/>
          <p:cNvSpPr/>
          <p:nvPr/>
        </p:nvSpPr>
        <p:spPr>
          <a:xfrm>
            <a:off x="3337560" y="2057400"/>
            <a:ext cx="1143000" cy="457200"/>
          </a:xfrm>
          <a:prstGeom prst="roundRect">
            <a:avLst>
              <a:gd name="adj" fmla="val 24000"/>
            </a:avLst>
          </a:prstGeom>
          <a:solidFill>
            <a:schemeClr val="accent6"/>
          </a:solidFill>
          <a:ln w="12700">
            <a:solidFill>
              <a:srgbClr val="FFFFFF">
                <a:alpha val="0"/>
              </a:srgbClr>
            </a:solidFill>
            <a:prstDash val="solid"/>
          </a:ln>
        </p:spPr>
      </p:sp>
      <p:sp>
        <p:nvSpPr>
          <p:cNvPr id="12" name="Text 9"/>
          <p:cNvSpPr txBox="1"/>
          <p:nvPr/>
        </p:nvSpPr>
        <p:spPr>
          <a:xfrm>
            <a:off x="3337560" y="2057400"/>
            <a:ext cx="1143000" cy="457200"/>
          </a:xfrm>
          <a:prstGeom prst="rect">
            <a:avLst/>
          </a:prstGeom>
          <a:noFill/>
          <a:ln/>
        </p:spPr>
        <p:txBody>
          <a:bodyPr wrap="square" lIns="0" tIns="0" rIns="0" bIns="0" rtlCol="0" anchor="ctr"/>
          <a:lstStyle/>
          <a:p>
            <a:pPr algn="ctr" indent="0" marL="0">
              <a:buNone/>
            </a:pPr>
            <a:r>
              <a:rPr lang="en-US" sz="1700" b="1" dirty="0">
                <a:solidFill>
                  <a:schemeClr val="bg1"/>
                </a:solidFill>
              </a:rPr>
              <a:t>her-</a:t>
            </a:r>
            <a:endParaRPr lang="en-US" sz="1700" dirty="0"/>
          </a:p>
        </p:txBody>
      </p:sp>
      <p:sp>
        <p:nvSpPr>
          <p:cNvPr id="13" name="Shape 10"/>
          <p:cNvSpPr/>
          <p:nvPr/>
        </p:nvSpPr>
        <p:spPr>
          <a:xfrm>
            <a:off x="777240" y="2624328"/>
            <a:ext cx="1143000" cy="457200"/>
          </a:xfrm>
          <a:prstGeom prst="roundRect">
            <a:avLst>
              <a:gd name="adj" fmla="val 24000"/>
            </a:avLst>
          </a:prstGeom>
          <a:solidFill>
            <a:schemeClr val="accent6"/>
          </a:solidFill>
          <a:ln w="12700">
            <a:solidFill>
              <a:srgbClr val="FFFFFF">
                <a:alpha val="0"/>
              </a:srgbClr>
            </a:solidFill>
            <a:prstDash val="solid"/>
          </a:ln>
        </p:spPr>
      </p:sp>
      <p:sp>
        <p:nvSpPr>
          <p:cNvPr id="14" name="Text 11"/>
          <p:cNvSpPr txBox="1"/>
          <p:nvPr/>
        </p:nvSpPr>
        <p:spPr>
          <a:xfrm>
            <a:off x="777240" y="2624328"/>
            <a:ext cx="1143000" cy="457200"/>
          </a:xfrm>
          <a:prstGeom prst="rect">
            <a:avLst/>
          </a:prstGeom>
          <a:noFill/>
          <a:ln/>
        </p:spPr>
        <p:txBody>
          <a:bodyPr wrap="square" lIns="0" tIns="0" rIns="0" bIns="0" rtlCol="0" anchor="ctr"/>
          <a:lstStyle/>
          <a:p>
            <a:pPr algn="ctr" indent="0" marL="0">
              <a:buNone/>
            </a:pPr>
            <a:r>
              <a:rPr lang="en-US" sz="1700" b="1" dirty="0">
                <a:solidFill>
                  <a:schemeClr val="bg1"/>
                </a:solidFill>
              </a:rPr>
              <a:t>ont-</a:t>
            </a:r>
            <a:endParaRPr lang="en-US" sz="1700" dirty="0"/>
          </a:p>
        </p:txBody>
      </p:sp>
      <p:sp>
        <p:nvSpPr>
          <p:cNvPr id="15" name="Shape 12"/>
          <p:cNvSpPr/>
          <p:nvPr/>
        </p:nvSpPr>
        <p:spPr>
          <a:xfrm>
            <a:off x="2057400" y="2624328"/>
            <a:ext cx="1143000" cy="457200"/>
          </a:xfrm>
          <a:prstGeom prst="roundRect">
            <a:avLst>
              <a:gd name="adj" fmla="val 24000"/>
            </a:avLst>
          </a:prstGeom>
          <a:solidFill>
            <a:schemeClr val="accent6"/>
          </a:solidFill>
          <a:ln w="12700">
            <a:solidFill>
              <a:srgbClr val="FFFFFF">
                <a:alpha val="0"/>
              </a:srgbClr>
            </a:solidFill>
            <a:prstDash val="solid"/>
          </a:ln>
        </p:spPr>
      </p:sp>
      <p:sp>
        <p:nvSpPr>
          <p:cNvPr id="16" name="Text 13"/>
          <p:cNvSpPr txBox="1"/>
          <p:nvPr/>
        </p:nvSpPr>
        <p:spPr>
          <a:xfrm>
            <a:off x="2057400" y="2624328"/>
            <a:ext cx="1143000" cy="457200"/>
          </a:xfrm>
          <a:prstGeom prst="rect">
            <a:avLst/>
          </a:prstGeom>
          <a:noFill/>
          <a:ln/>
        </p:spPr>
        <p:txBody>
          <a:bodyPr wrap="square" lIns="0" tIns="0" rIns="0" bIns="0" rtlCol="0" anchor="ctr"/>
          <a:lstStyle/>
          <a:p>
            <a:pPr algn="ctr" indent="0" marL="0">
              <a:buNone/>
            </a:pPr>
            <a:r>
              <a:rPr lang="en-US" sz="1700" b="1" dirty="0">
                <a:solidFill>
                  <a:schemeClr val="bg1"/>
                </a:solidFill>
              </a:rPr>
              <a:t>er-</a:t>
            </a:r>
            <a:endParaRPr lang="en-US" sz="1700" dirty="0"/>
          </a:p>
        </p:txBody>
      </p:sp>
      <p:sp>
        <p:nvSpPr>
          <p:cNvPr id="17" name="Shape 14"/>
          <p:cNvSpPr/>
          <p:nvPr/>
        </p:nvSpPr>
        <p:spPr>
          <a:xfrm>
            <a:off x="3337560" y="2624328"/>
            <a:ext cx="1143000" cy="457200"/>
          </a:xfrm>
          <a:prstGeom prst="roundRect">
            <a:avLst>
              <a:gd name="adj" fmla="val 24000"/>
            </a:avLst>
          </a:prstGeom>
          <a:solidFill>
            <a:schemeClr val="accent6"/>
          </a:solidFill>
          <a:ln w="12700">
            <a:solidFill>
              <a:srgbClr val="FFFFFF">
                <a:alpha val="0"/>
              </a:srgbClr>
            </a:solidFill>
            <a:prstDash val="solid"/>
          </a:ln>
        </p:spPr>
      </p:sp>
      <p:sp>
        <p:nvSpPr>
          <p:cNvPr id="18" name="Text 15"/>
          <p:cNvSpPr txBox="1"/>
          <p:nvPr/>
        </p:nvSpPr>
        <p:spPr>
          <a:xfrm>
            <a:off x="3337560" y="2624328"/>
            <a:ext cx="1143000" cy="457200"/>
          </a:xfrm>
          <a:prstGeom prst="rect">
            <a:avLst/>
          </a:prstGeom>
          <a:noFill/>
          <a:ln/>
        </p:spPr>
        <p:txBody>
          <a:bodyPr wrap="square" lIns="0" tIns="0" rIns="0" bIns="0" rtlCol="0" anchor="ctr"/>
          <a:lstStyle/>
          <a:p>
            <a:pPr algn="ctr" indent="0" marL="0">
              <a:buNone/>
            </a:pPr>
            <a:r>
              <a:rPr lang="en-US" sz="1700" b="1" dirty="0">
                <a:solidFill>
                  <a:schemeClr val="bg1"/>
                </a:solidFill>
              </a:rPr>
              <a:t>ver-</a:t>
            </a:r>
            <a:endParaRPr lang="en-US" sz="1700" dirty="0"/>
          </a:p>
        </p:txBody>
      </p:sp>
      <p:sp>
        <p:nvSpPr>
          <p:cNvPr id="19" name="Text 16"/>
          <p:cNvSpPr txBox="1"/>
          <p:nvPr/>
        </p:nvSpPr>
        <p:spPr>
          <a:xfrm>
            <a:off x="731520" y="3291840"/>
            <a:ext cx="3886200" cy="1600200"/>
          </a:xfrm>
          <a:prstGeom prst="rect">
            <a:avLst/>
          </a:prstGeom>
          <a:noFill/>
          <a:ln/>
        </p:spPr>
        <p:txBody>
          <a:bodyPr wrap="square" lIns="0" tIns="0" rIns="0" bIns="0" rtlCol="0" anchor="t"/>
          <a:lstStyle/>
          <a:p>
            <a:pPr algn="l" indent="0" marL="0">
              <a:spcAft>
                <a:spcPts val="300"/>
              </a:spcAft>
              <a:buNone/>
            </a:pPr>
            <a:r>
              <a:rPr lang="en-US" sz="1400" i="1" dirty="0">
                <a:solidFill>
                  <a:schemeClr val="tx1"/>
                </a:solidFill>
              </a:rPr>
              <a:t>ik ver</a:t>
            </a:r>
            <a:r>
              <a:rPr lang="en-US" sz="1400" b="1" i="1" dirty="0">
                <a:solidFill>
                  <a:schemeClr val="tx1"/>
                </a:solidFill>
              </a:rPr>
              <a:t>taal</a:t>
            </a:r>
            <a:r>
              <a:rPr lang="en-US" sz="1400" i="1" dirty="0">
                <a:solidFill>
                  <a:schemeClr val="tx1"/>
                </a:solidFill>
              </a:rPr>
              <a:t> · ik heb </a:t>
            </a:r>
            <a:r>
              <a:rPr lang="en-US" sz="1400" b="1" i="1" dirty="0">
                <a:solidFill>
                  <a:schemeClr val="tx1"/>
                </a:solidFill>
              </a:rPr>
              <a:t>vertaald</a:t>
            </a:r>
            <a:r>
              <a:rPr lang="en-US" sz="1400" dirty="0">
                <a:solidFill>
                  <a:schemeClr val="tx1"/>
                </a:solidFill>
              </a:rPr>
              <a:t> (pas de </a:t>
            </a:r>
            <a:r>
              <a:rPr lang="en-US" sz="1400" i="1" dirty="0">
                <a:solidFill>
                  <a:schemeClr val="tx1"/>
                </a:solidFill>
              </a:rPr>
              <a:t>ge-</a:t>
            </a:r>
            <a:r>
              <a:rPr lang="en-US" sz="1400" dirty="0">
                <a:solidFill>
                  <a:schemeClr val="tx1"/>
                </a:solidFill>
              </a:rPr>
              <a:t>)</a:t>
            </a:r>
            <a:endParaRPr lang="en-US" sz="1400" dirty="0"/>
          </a:p>
          <a:p>
            <a:pPr algn="l" indent="0" marL="0">
              <a:spcAft>
                <a:spcPts val="300"/>
              </a:spcAft>
              <a:buNone/>
            </a:pPr>
            <a:endParaRPr lang="en-US" sz="1400" dirty="0"/>
          </a:p>
          <a:p>
            <a:pPr algn="l" indent="0" marL="0">
              <a:spcAft>
                <a:spcPts val="300"/>
              </a:spcAft>
              <a:buNone/>
            </a:pPr>
            <a:r>
              <a:rPr lang="en-US" sz="1400" b="1" dirty="0">
                <a:solidFill>
                  <a:schemeClr val="tx1"/>
                </a:solidFill>
              </a:rPr>
              <a:t>ver-</a:t>
            </a:r>
            <a:r>
              <a:rPr lang="en-US" sz="1400" dirty="0">
                <a:solidFill>
                  <a:schemeClr val="tx1"/>
                </a:solidFill>
              </a:rPr>
              <a:t> = changement (</a:t>
            </a:r>
            <a:r>
              <a:rPr lang="en-US" sz="1400" i="1" dirty="0">
                <a:solidFill>
                  <a:schemeClr val="tx1"/>
                </a:solidFill>
              </a:rPr>
              <a:t>verbeteren</a:t>
            </a:r>
            <a:r>
              <a:rPr lang="en-US" sz="1400" dirty="0">
                <a:solidFill>
                  <a:schemeClr val="tx1"/>
                </a:solidFill>
              </a:rPr>
              <a:t>), erreur (</a:t>
            </a:r>
            <a:r>
              <a:rPr lang="en-US" sz="1400" i="1" dirty="0">
                <a:solidFill>
                  <a:schemeClr val="tx1"/>
                </a:solidFill>
              </a:rPr>
              <a:t>zich verspreken</a:t>
            </a:r>
            <a:r>
              <a:rPr lang="en-US" sz="1400" dirty="0">
                <a:solidFill>
                  <a:schemeClr val="tx1"/>
                </a:solidFill>
              </a:rPr>
              <a:t>), perte (</a:t>
            </a:r>
            <a:r>
              <a:rPr lang="en-US" sz="1400" i="1" dirty="0">
                <a:solidFill>
                  <a:schemeClr val="tx1"/>
                </a:solidFill>
              </a:rPr>
              <a:t>verdwijnen, verliezen</a:t>
            </a:r>
            <a:r>
              <a:rPr lang="en-US" sz="1400" dirty="0">
                <a:solidFill>
                  <a:schemeClr val="tx1"/>
                </a:solidFill>
              </a:rPr>
              <a:t>)</a:t>
            </a:r>
            <a:endParaRPr lang="en-US" sz="1400" dirty="0"/>
          </a:p>
        </p:txBody>
      </p:sp>
      <p:pic>
        <p:nvPicPr>
          <p:cNvPr id="20" name="Image 0" descr="locked">    </p:cNvPr>
          <p:cNvPicPr>
            <a:picLocks noChangeAspect="1"/>
          </p:cNvPicPr>
          <p:nvPr/>
        </p:nvPicPr>
        <p:blipFill>
          <a:blip r:embed="rId1"/>
          <a:stretch>
            <a:fillRect/>
          </a:stretch>
        </p:blipFill>
        <p:spPr>
          <a:xfrm>
            <a:off x="3886200" y="4754880"/>
            <a:ext cx="685800" cy="685800"/>
          </a:xfrm>
          <a:prstGeom prst="rect">
            <a:avLst/>
          </a:prstGeom>
        </p:spPr>
      </p:pic>
      <p:sp>
        <p:nvSpPr>
          <p:cNvPr id="21" name="Text 17"/>
          <p:cNvSpPr txBox="1"/>
          <p:nvPr/>
        </p:nvSpPr>
        <p:spPr>
          <a:xfrm>
            <a:off x="4983480" y="1508760"/>
            <a:ext cx="6675120" cy="365760"/>
          </a:xfrm>
          <a:prstGeom prst="rect">
            <a:avLst/>
          </a:prstGeom>
          <a:noFill/>
          <a:ln/>
        </p:spPr>
        <p:txBody>
          <a:bodyPr wrap="square" lIns="0" tIns="0" rIns="0" bIns="0" rtlCol="0" anchor="t"/>
          <a:lstStyle/>
          <a:p>
            <a:pPr algn="l" indent="0" marL="0">
              <a:buNone/>
            </a:pPr>
            <a:r>
              <a:rPr lang="en-US" sz="1400" b="1" spc="100" kern="0" dirty="0">
                <a:solidFill>
                  <a:schemeClr val="tx2"/>
                </a:solidFill>
              </a:rPr>
              <a:t>L’ACCENT QUI DÉCIDE (P3)</a:t>
            </a:r>
            <a:endParaRPr lang="en-US" sz="1400" dirty="0"/>
          </a:p>
        </p:txBody>
      </p:sp>
      <p:sp>
        <p:nvSpPr>
          <p:cNvPr id="22" name="Shape 18"/>
          <p:cNvSpPr/>
          <p:nvPr/>
        </p:nvSpPr>
        <p:spPr>
          <a:xfrm>
            <a:off x="4983480" y="1874520"/>
            <a:ext cx="3291840" cy="411480"/>
          </a:xfrm>
          <a:prstGeom prst="roundRect">
            <a:avLst>
              <a:gd name="adj" fmla="val 17778"/>
            </a:avLst>
          </a:prstGeom>
          <a:solidFill>
            <a:schemeClr val="accent1"/>
          </a:solidFill>
          <a:ln w="12700">
            <a:solidFill>
              <a:srgbClr val="FFFFFF">
                <a:alpha val="0"/>
              </a:srgbClr>
            </a:solidFill>
            <a:prstDash val="solid"/>
          </a:ln>
        </p:spPr>
      </p:sp>
      <p:sp>
        <p:nvSpPr>
          <p:cNvPr id="23" name="Text 19"/>
          <p:cNvSpPr txBox="1"/>
          <p:nvPr/>
        </p:nvSpPr>
        <p:spPr>
          <a:xfrm>
            <a:off x="4983480" y="1874520"/>
            <a:ext cx="3291840" cy="411480"/>
          </a:xfrm>
          <a:prstGeom prst="rect">
            <a:avLst/>
          </a:prstGeom>
          <a:noFill/>
          <a:ln/>
        </p:spPr>
        <p:txBody>
          <a:bodyPr wrap="square" lIns="0" tIns="0" rIns="0" bIns="0" rtlCol="0" anchor="ctr"/>
          <a:lstStyle/>
          <a:p>
            <a:pPr algn="ctr" indent="0" marL="0">
              <a:buNone/>
            </a:pPr>
            <a:r>
              <a:rPr lang="en-US" sz="1200" b="1" dirty="0">
                <a:solidFill>
                  <a:schemeClr val="bg1"/>
                </a:solidFill>
              </a:rPr>
              <a:t>accent sur la particule → séparable</a:t>
            </a:r>
            <a:endParaRPr lang="en-US" sz="1200" dirty="0"/>
          </a:p>
        </p:txBody>
      </p:sp>
      <p:sp>
        <p:nvSpPr>
          <p:cNvPr id="24" name="Shape 20"/>
          <p:cNvSpPr/>
          <p:nvPr/>
        </p:nvSpPr>
        <p:spPr>
          <a:xfrm>
            <a:off x="8348472" y="1874520"/>
            <a:ext cx="3291840" cy="411480"/>
          </a:xfrm>
          <a:prstGeom prst="roundRect">
            <a:avLst>
              <a:gd name="adj" fmla="val 17778"/>
            </a:avLst>
          </a:prstGeom>
          <a:solidFill>
            <a:schemeClr val="tx2"/>
          </a:solidFill>
          <a:ln w="12700">
            <a:solidFill>
              <a:srgbClr val="FFFFFF">
                <a:alpha val="0"/>
              </a:srgbClr>
            </a:solidFill>
            <a:prstDash val="solid"/>
          </a:ln>
        </p:spPr>
      </p:sp>
      <p:sp>
        <p:nvSpPr>
          <p:cNvPr id="25" name="Text 21"/>
          <p:cNvSpPr txBox="1"/>
          <p:nvPr/>
        </p:nvSpPr>
        <p:spPr>
          <a:xfrm>
            <a:off x="8348472" y="1874520"/>
            <a:ext cx="3291840" cy="411480"/>
          </a:xfrm>
          <a:prstGeom prst="rect">
            <a:avLst/>
          </a:prstGeom>
          <a:noFill/>
          <a:ln/>
        </p:spPr>
        <p:txBody>
          <a:bodyPr wrap="square" lIns="0" tIns="0" rIns="0" bIns="0" rtlCol="0" anchor="ctr"/>
          <a:lstStyle/>
          <a:p>
            <a:pPr algn="ctr" indent="0" marL="0">
              <a:buNone/>
            </a:pPr>
            <a:r>
              <a:rPr lang="en-US" sz="1200" b="1" dirty="0">
                <a:solidFill>
                  <a:schemeClr val="bg1"/>
                </a:solidFill>
              </a:rPr>
              <a:t>accent sur le verbe → inséparable</a:t>
            </a:r>
            <a:endParaRPr lang="en-US" sz="1200" dirty="0"/>
          </a:p>
        </p:txBody>
      </p:sp>
      <p:sp>
        <p:nvSpPr>
          <p:cNvPr id="26" name="Shape 22"/>
          <p:cNvSpPr/>
          <p:nvPr/>
        </p:nvSpPr>
        <p:spPr>
          <a:xfrm>
            <a:off x="4983480" y="2377440"/>
            <a:ext cx="3291840" cy="566928"/>
          </a:xfrm>
          <a:prstGeom prst="roundRect">
            <a:avLst>
              <a:gd name="adj" fmla="val 9677"/>
            </a:avLst>
          </a:prstGeom>
          <a:solidFill>
            <a:srgbClr val="FDF1E6"/>
          </a:solidFill>
          <a:ln w="12700">
            <a:solidFill>
              <a:srgbClr val="FFFFFF">
                <a:alpha val="0"/>
              </a:srgbClr>
            </a:solidFill>
            <a:prstDash val="solid"/>
          </a:ln>
        </p:spPr>
      </p:sp>
      <p:sp>
        <p:nvSpPr>
          <p:cNvPr id="27" name="Text 23"/>
          <p:cNvSpPr txBox="1"/>
          <p:nvPr/>
        </p:nvSpPr>
        <p:spPr>
          <a:xfrm>
            <a:off x="5074920" y="2377440"/>
            <a:ext cx="3154680" cy="566928"/>
          </a:xfrm>
          <a:prstGeom prst="rect">
            <a:avLst/>
          </a:prstGeom>
          <a:noFill/>
          <a:ln/>
        </p:spPr>
        <p:txBody>
          <a:bodyPr wrap="square" lIns="0" tIns="0" rIns="0" bIns="0" rtlCol="0" anchor="ctr"/>
          <a:lstStyle/>
          <a:p>
            <a:pPr algn="l" indent="0" marL="0">
              <a:buNone/>
            </a:pPr>
            <a:r>
              <a:rPr lang="en-US" sz="1300" b="1" i="1" dirty="0">
                <a:solidFill>
                  <a:schemeClr val="tx1"/>
                </a:solidFill>
              </a:rPr>
              <a:t>DOORlopen</a:t>
            </a:r>
            <a:endParaRPr lang="en-US" sz="1300" dirty="0"/>
          </a:p>
          <a:p>
            <a:pPr algn="l" indent="0" marL="0">
              <a:buNone/>
            </a:pPr>
            <a:r>
              <a:rPr lang="en-US" sz="1300" dirty="0">
                <a:solidFill>
                  <a:schemeClr val="tx1"/>
                </a:solidFill>
              </a:rPr>
              <a:t>continuer à marcher</a:t>
            </a:r>
            <a:endParaRPr lang="en-US" sz="1300" dirty="0"/>
          </a:p>
        </p:txBody>
      </p:sp>
      <p:sp>
        <p:nvSpPr>
          <p:cNvPr id="28" name="Shape 24"/>
          <p:cNvSpPr/>
          <p:nvPr/>
        </p:nvSpPr>
        <p:spPr>
          <a:xfrm>
            <a:off x="8348472" y="2377440"/>
            <a:ext cx="3291840" cy="566928"/>
          </a:xfrm>
          <a:prstGeom prst="roundRect">
            <a:avLst>
              <a:gd name="adj" fmla="val 9677"/>
            </a:avLst>
          </a:prstGeom>
          <a:solidFill>
            <a:srgbClr val="E6EBF2"/>
          </a:solidFill>
          <a:ln w="12700">
            <a:solidFill>
              <a:srgbClr val="FFFFFF">
                <a:alpha val="0"/>
              </a:srgbClr>
            </a:solidFill>
            <a:prstDash val="solid"/>
          </a:ln>
        </p:spPr>
      </p:sp>
      <p:sp>
        <p:nvSpPr>
          <p:cNvPr id="29" name="Text 25"/>
          <p:cNvSpPr txBox="1"/>
          <p:nvPr/>
        </p:nvSpPr>
        <p:spPr>
          <a:xfrm>
            <a:off x="8439912" y="2377440"/>
            <a:ext cx="3154680" cy="566928"/>
          </a:xfrm>
          <a:prstGeom prst="rect">
            <a:avLst/>
          </a:prstGeom>
          <a:noFill/>
          <a:ln/>
        </p:spPr>
        <p:txBody>
          <a:bodyPr wrap="square" lIns="0" tIns="0" rIns="0" bIns="0" rtlCol="0" anchor="ctr"/>
          <a:lstStyle/>
          <a:p>
            <a:pPr algn="l" indent="0" marL="0">
              <a:buNone/>
            </a:pPr>
            <a:r>
              <a:rPr lang="en-US" sz="1300" b="1" i="1" dirty="0">
                <a:solidFill>
                  <a:schemeClr val="tx1"/>
                </a:solidFill>
              </a:rPr>
              <a:t>doorLOpen</a:t>
            </a:r>
            <a:endParaRPr lang="en-US" sz="1300" dirty="0"/>
          </a:p>
          <a:p>
            <a:pPr algn="l" indent="0" marL="0">
              <a:buNone/>
            </a:pPr>
            <a:r>
              <a:rPr lang="en-US" sz="1300" dirty="0">
                <a:solidFill>
                  <a:schemeClr val="tx1"/>
                </a:solidFill>
              </a:rPr>
              <a:t>parcourir, suivre (une formation)</a:t>
            </a:r>
            <a:endParaRPr lang="en-US" sz="1300" dirty="0"/>
          </a:p>
        </p:txBody>
      </p:sp>
      <p:sp>
        <p:nvSpPr>
          <p:cNvPr id="30" name="Shape 26"/>
          <p:cNvSpPr/>
          <p:nvPr/>
        </p:nvSpPr>
        <p:spPr>
          <a:xfrm>
            <a:off x="4983480" y="3017520"/>
            <a:ext cx="3291840" cy="566928"/>
          </a:xfrm>
          <a:prstGeom prst="roundRect">
            <a:avLst>
              <a:gd name="adj" fmla="val 9677"/>
            </a:avLst>
          </a:prstGeom>
          <a:solidFill>
            <a:srgbClr val="FFFFFF"/>
          </a:solidFill>
          <a:ln w="12700">
            <a:solidFill>
              <a:srgbClr val="FFFFFF">
                <a:alpha val="0"/>
              </a:srgbClr>
            </a:solidFill>
            <a:prstDash val="solid"/>
          </a:ln>
        </p:spPr>
      </p:sp>
      <p:sp>
        <p:nvSpPr>
          <p:cNvPr id="31" name="Text 27"/>
          <p:cNvSpPr txBox="1"/>
          <p:nvPr/>
        </p:nvSpPr>
        <p:spPr>
          <a:xfrm>
            <a:off x="5074920" y="3017520"/>
            <a:ext cx="3154680" cy="566928"/>
          </a:xfrm>
          <a:prstGeom prst="rect">
            <a:avLst/>
          </a:prstGeom>
          <a:noFill/>
          <a:ln/>
        </p:spPr>
        <p:txBody>
          <a:bodyPr wrap="square" lIns="0" tIns="0" rIns="0" bIns="0" rtlCol="0" anchor="ctr"/>
          <a:lstStyle/>
          <a:p>
            <a:pPr algn="l" indent="0" marL="0">
              <a:buNone/>
            </a:pPr>
            <a:r>
              <a:rPr lang="en-US" sz="1300" b="1" i="1" dirty="0">
                <a:solidFill>
                  <a:schemeClr val="tx1"/>
                </a:solidFill>
              </a:rPr>
              <a:t>VOORkomen</a:t>
            </a:r>
            <a:endParaRPr lang="en-US" sz="1300" dirty="0"/>
          </a:p>
          <a:p>
            <a:pPr algn="l" indent="0" marL="0">
              <a:buNone/>
            </a:pPr>
            <a:r>
              <a:rPr lang="en-US" sz="1300" dirty="0">
                <a:solidFill>
                  <a:schemeClr val="tx1"/>
                </a:solidFill>
              </a:rPr>
              <a:t>se produire</a:t>
            </a:r>
            <a:endParaRPr lang="en-US" sz="1300" dirty="0"/>
          </a:p>
        </p:txBody>
      </p:sp>
      <p:sp>
        <p:nvSpPr>
          <p:cNvPr id="32" name="Shape 28"/>
          <p:cNvSpPr/>
          <p:nvPr/>
        </p:nvSpPr>
        <p:spPr>
          <a:xfrm>
            <a:off x="8348472" y="3017520"/>
            <a:ext cx="3291840" cy="566928"/>
          </a:xfrm>
          <a:prstGeom prst="roundRect">
            <a:avLst>
              <a:gd name="adj" fmla="val 9677"/>
            </a:avLst>
          </a:prstGeom>
          <a:solidFill>
            <a:srgbClr val="FFFFFF"/>
          </a:solidFill>
          <a:ln w="12700">
            <a:solidFill>
              <a:srgbClr val="FFFFFF">
                <a:alpha val="0"/>
              </a:srgbClr>
            </a:solidFill>
            <a:prstDash val="solid"/>
          </a:ln>
        </p:spPr>
      </p:sp>
      <p:sp>
        <p:nvSpPr>
          <p:cNvPr id="33" name="Text 29"/>
          <p:cNvSpPr txBox="1"/>
          <p:nvPr/>
        </p:nvSpPr>
        <p:spPr>
          <a:xfrm>
            <a:off x="8439912" y="3017520"/>
            <a:ext cx="3154680" cy="566928"/>
          </a:xfrm>
          <a:prstGeom prst="rect">
            <a:avLst/>
          </a:prstGeom>
          <a:noFill/>
          <a:ln/>
        </p:spPr>
        <p:txBody>
          <a:bodyPr wrap="square" lIns="0" tIns="0" rIns="0" bIns="0" rtlCol="0" anchor="ctr"/>
          <a:lstStyle/>
          <a:p>
            <a:pPr algn="l" indent="0" marL="0">
              <a:buNone/>
            </a:pPr>
            <a:r>
              <a:rPr lang="en-US" sz="1300" b="1" i="1" dirty="0">
                <a:solidFill>
                  <a:schemeClr val="tx1"/>
                </a:solidFill>
              </a:rPr>
              <a:t>voorKOmen</a:t>
            </a:r>
            <a:endParaRPr lang="en-US" sz="1300" dirty="0"/>
          </a:p>
          <a:p>
            <a:pPr algn="l" indent="0" marL="0">
              <a:buNone/>
            </a:pPr>
            <a:r>
              <a:rPr lang="en-US" sz="1300" dirty="0">
                <a:solidFill>
                  <a:schemeClr val="tx1"/>
                </a:solidFill>
              </a:rPr>
              <a:t>éviter</a:t>
            </a:r>
            <a:endParaRPr lang="en-US" sz="1300" dirty="0"/>
          </a:p>
        </p:txBody>
      </p:sp>
      <p:sp>
        <p:nvSpPr>
          <p:cNvPr id="34" name="Shape 30"/>
          <p:cNvSpPr/>
          <p:nvPr/>
        </p:nvSpPr>
        <p:spPr>
          <a:xfrm>
            <a:off x="4983480" y="3657600"/>
            <a:ext cx="3291840" cy="566928"/>
          </a:xfrm>
          <a:prstGeom prst="roundRect">
            <a:avLst>
              <a:gd name="adj" fmla="val 9677"/>
            </a:avLst>
          </a:prstGeom>
          <a:solidFill>
            <a:srgbClr val="FDF1E6"/>
          </a:solidFill>
          <a:ln w="12700">
            <a:solidFill>
              <a:srgbClr val="FFFFFF">
                <a:alpha val="0"/>
              </a:srgbClr>
            </a:solidFill>
            <a:prstDash val="solid"/>
          </a:ln>
        </p:spPr>
      </p:sp>
      <p:sp>
        <p:nvSpPr>
          <p:cNvPr id="35" name="Text 31"/>
          <p:cNvSpPr txBox="1"/>
          <p:nvPr/>
        </p:nvSpPr>
        <p:spPr>
          <a:xfrm>
            <a:off x="5074920" y="3657600"/>
            <a:ext cx="3154680" cy="566928"/>
          </a:xfrm>
          <a:prstGeom prst="rect">
            <a:avLst/>
          </a:prstGeom>
          <a:noFill/>
          <a:ln/>
        </p:spPr>
        <p:txBody>
          <a:bodyPr wrap="square" lIns="0" tIns="0" rIns="0" bIns="0" rtlCol="0" anchor="ctr"/>
          <a:lstStyle/>
          <a:p>
            <a:pPr algn="l" indent="0" marL="0">
              <a:buNone/>
            </a:pPr>
            <a:r>
              <a:rPr lang="en-US" sz="1300" b="1" i="1" dirty="0">
                <a:solidFill>
                  <a:schemeClr val="tx1"/>
                </a:solidFill>
              </a:rPr>
              <a:t>OVERkomen</a:t>
            </a:r>
            <a:endParaRPr lang="en-US" sz="1300" dirty="0"/>
          </a:p>
          <a:p>
            <a:pPr algn="l" indent="0" marL="0">
              <a:buNone/>
            </a:pPr>
            <a:r>
              <a:rPr lang="en-US" sz="1300" dirty="0">
                <a:solidFill>
                  <a:schemeClr val="tx1"/>
                </a:solidFill>
              </a:rPr>
              <a:t>venir ; paraître, sembler</a:t>
            </a:r>
            <a:endParaRPr lang="en-US" sz="1300" dirty="0"/>
          </a:p>
        </p:txBody>
      </p:sp>
      <p:sp>
        <p:nvSpPr>
          <p:cNvPr id="36" name="Shape 32"/>
          <p:cNvSpPr/>
          <p:nvPr/>
        </p:nvSpPr>
        <p:spPr>
          <a:xfrm>
            <a:off x="8348472" y="3657600"/>
            <a:ext cx="3291840" cy="566928"/>
          </a:xfrm>
          <a:prstGeom prst="roundRect">
            <a:avLst>
              <a:gd name="adj" fmla="val 9677"/>
            </a:avLst>
          </a:prstGeom>
          <a:solidFill>
            <a:srgbClr val="E6EBF2"/>
          </a:solidFill>
          <a:ln w="12700">
            <a:solidFill>
              <a:srgbClr val="FFFFFF">
                <a:alpha val="0"/>
              </a:srgbClr>
            </a:solidFill>
            <a:prstDash val="solid"/>
          </a:ln>
        </p:spPr>
      </p:sp>
      <p:sp>
        <p:nvSpPr>
          <p:cNvPr id="37" name="Text 33"/>
          <p:cNvSpPr txBox="1"/>
          <p:nvPr/>
        </p:nvSpPr>
        <p:spPr>
          <a:xfrm>
            <a:off x="8439912" y="3657600"/>
            <a:ext cx="3154680" cy="566928"/>
          </a:xfrm>
          <a:prstGeom prst="rect">
            <a:avLst/>
          </a:prstGeom>
          <a:noFill/>
          <a:ln/>
        </p:spPr>
        <p:txBody>
          <a:bodyPr wrap="square" lIns="0" tIns="0" rIns="0" bIns="0" rtlCol="0" anchor="ctr"/>
          <a:lstStyle/>
          <a:p>
            <a:pPr algn="l" indent="0" marL="0">
              <a:buNone/>
            </a:pPr>
            <a:r>
              <a:rPr lang="en-US" sz="1300" b="1" i="1" dirty="0">
                <a:solidFill>
                  <a:schemeClr val="tx1"/>
                </a:solidFill>
              </a:rPr>
              <a:t>overKOmen</a:t>
            </a:r>
            <a:endParaRPr lang="en-US" sz="1300" dirty="0"/>
          </a:p>
          <a:p>
            <a:pPr algn="l" indent="0" marL="0">
              <a:buNone/>
            </a:pPr>
            <a:r>
              <a:rPr lang="en-US" sz="1300" dirty="0">
                <a:solidFill>
                  <a:schemeClr val="tx1"/>
                </a:solidFill>
              </a:rPr>
              <a:t>arriver à qn</a:t>
            </a:r>
            <a:endParaRPr lang="en-US" sz="1300" dirty="0"/>
          </a:p>
        </p:txBody>
      </p:sp>
      <p:sp>
        <p:nvSpPr>
          <p:cNvPr id="38" name="Shape 34"/>
          <p:cNvSpPr/>
          <p:nvPr/>
        </p:nvSpPr>
        <p:spPr>
          <a:xfrm>
            <a:off x="4983480" y="4297680"/>
            <a:ext cx="3291840" cy="566928"/>
          </a:xfrm>
          <a:prstGeom prst="roundRect">
            <a:avLst>
              <a:gd name="adj" fmla="val 9677"/>
            </a:avLst>
          </a:prstGeom>
          <a:solidFill>
            <a:srgbClr val="FFFFFF"/>
          </a:solidFill>
          <a:ln w="12700">
            <a:solidFill>
              <a:srgbClr val="FFFFFF">
                <a:alpha val="0"/>
              </a:srgbClr>
            </a:solidFill>
            <a:prstDash val="solid"/>
          </a:ln>
        </p:spPr>
      </p:sp>
      <p:sp>
        <p:nvSpPr>
          <p:cNvPr id="39" name="Text 35"/>
          <p:cNvSpPr txBox="1"/>
          <p:nvPr/>
        </p:nvSpPr>
        <p:spPr>
          <a:xfrm>
            <a:off x="5074920" y="4297680"/>
            <a:ext cx="3154680" cy="566928"/>
          </a:xfrm>
          <a:prstGeom prst="rect">
            <a:avLst/>
          </a:prstGeom>
          <a:noFill/>
          <a:ln/>
        </p:spPr>
        <p:txBody>
          <a:bodyPr wrap="square" lIns="0" tIns="0" rIns="0" bIns="0" rtlCol="0" anchor="ctr"/>
          <a:lstStyle/>
          <a:p>
            <a:pPr algn="l" indent="0" marL="0">
              <a:buNone/>
            </a:pPr>
            <a:r>
              <a:rPr lang="en-US" sz="1300" b="1" i="1" dirty="0">
                <a:solidFill>
                  <a:schemeClr val="tx1"/>
                </a:solidFill>
              </a:rPr>
              <a:t>ONDERgaan</a:t>
            </a:r>
            <a:endParaRPr lang="en-US" sz="1300" dirty="0"/>
          </a:p>
          <a:p>
            <a:pPr algn="l" indent="0" marL="0">
              <a:buNone/>
            </a:pPr>
            <a:r>
              <a:rPr lang="en-US" sz="1300" dirty="0">
                <a:solidFill>
                  <a:schemeClr val="tx1"/>
                </a:solidFill>
              </a:rPr>
              <a:t>se coucher (le soleil)</a:t>
            </a:r>
            <a:endParaRPr lang="en-US" sz="1300" dirty="0"/>
          </a:p>
        </p:txBody>
      </p:sp>
      <p:sp>
        <p:nvSpPr>
          <p:cNvPr id="40" name="Shape 36"/>
          <p:cNvSpPr/>
          <p:nvPr/>
        </p:nvSpPr>
        <p:spPr>
          <a:xfrm>
            <a:off x="8348472" y="4297680"/>
            <a:ext cx="3291840" cy="566928"/>
          </a:xfrm>
          <a:prstGeom prst="roundRect">
            <a:avLst>
              <a:gd name="adj" fmla="val 9677"/>
            </a:avLst>
          </a:prstGeom>
          <a:solidFill>
            <a:srgbClr val="FFFFFF"/>
          </a:solidFill>
          <a:ln w="12700">
            <a:solidFill>
              <a:srgbClr val="FFFFFF">
                <a:alpha val="0"/>
              </a:srgbClr>
            </a:solidFill>
            <a:prstDash val="solid"/>
          </a:ln>
        </p:spPr>
      </p:sp>
      <p:sp>
        <p:nvSpPr>
          <p:cNvPr id="41" name="Text 37"/>
          <p:cNvSpPr txBox="1"/>
          <p:nvPr/>
        </p:nvSpPr>
        <p:spPr>
          <a:xfrm>
            <a:off x="8439912" y="4297680"/>
            <a:ext cx="3154680" cy="566928"/>
          </a:xfrm>
          <a:prstGeom prst="rect">
            <a:avLst/>
          </a:prstGeom>
          <a:noFill/>
          <a:ln/>
        </p:spPr>
        <p:txBody>
          <a:bodyPr wrap="square" lIns="0" tIns="0" rIns="0" bIns="0" rtlCol="0" anchor="ctr"/>
          <a:lstStyle/>
          <a:p>
            <a:pPr algn="l" indent="0" marL="0">
              <a:buNone/>
            </a:pPr>
            <a:r>
              <a:rPr lang="en-US" sz="1300" b="1" i="1" dirty="0">
                <a:solidFill>
                  <a:schemeClr val="tx1"/>
                </a:solidFill>
              </a:rPr>
              <a:t>onderGAAN</a:t>
            </a:r>
            <a:endParaRPr lang="en-US" sz="1300" dirty="0"/>
          </a:p>
          <a:p>
            <a:pPr algn="l" indent="0" marL="0">
              <a:buNone/>
            </a:pPr>
            <a:r>
              <a:rPr lang="en-US" sz="1300" dirty="0">
                <a:solidFill>
                  <a:schemeClr val="tx1"/>
                </a:solidFill>
              </a:rPr>
              <a:t>subir</a:t>
            </a:r>
            <a:endParaRPr lang="en-US" sz="1300" dirty="0"/>
          </a:p>
        </p:txBody>
      </p:sp>
      <p:sp>
        <p:nvSpPr>
          <p:cNvPr id="42" name="Shape 38"/>
          <p:cNvSpPr/>
          <p:nvPr/>
        </p:nvSpPr>
        <p:spPr>
          <a:xfrm>
            <a:off x="4983480" y="4937760"/>
            <a:ext cx="3291840" cy="566928"/>
          </a:xfrm>
          <a:prstGeom prst="roundRect">
            <a:avLst>
              <a:gd name="adj" fmla="val 9677"/>
            </a:avLst>
          </a:prstGeom>
          <a:solidFill>
            <a:srgbClr val="FDF1E6"/>
          </a:solidFill>
          <a:ln w="12700">
            <a:solidFill>
              <a:srgbClr val="FFFFFF">
                <a:alpha val="0"/>
              </a:srgbClr>
            </a:solidFill>
            <a:prstDash val="solid"/>
          </a:ln>
        </p:spPr>
      </p:sp>
      <p:sp>
        <p:nvSpPr>
          <p:cNvPr id="43" name="Text 39"/>
          <p:cNvSpPr txBox="1"/>
          <p:nvPr/>
        </p:nvSpPr>
        <p:spPr>
          <a:xfrm>
            <a:off x="5074920" y="4937760"/>
            <a:ext cx="3154680" cy="566928"/>
          </a:xfrm>
          <a:prstGeom prst="rect">
            <a:avLst/>
          </a:prstGeom>
          <a:noFill/>
          <a:ln/>
        </p:spPr>
        <p:txBody>
          <a:bodyPr wrap="square" lIns="0" tIns="0" rIns="0" bIns="0" rtlCol="0" anchor="ctr"/>
          <a:lstStyle/>
          <a:p>
            <a:pPr algn="l" indent="0" marL="0">
              <a:buNone/>
            </a:pPr>
            <a:r>
              <a:rPr lang="en-US" sz="1300" b="1" i="1" dirty="0">
                <a:solidFill>
                  <a:schemeClr val="tx1"/>
                </a:solidFill>
              </a:rPr>
              <a:t>OVERleggen</a:t>
            </a:r>
            <a:endParaRPr lang="en-US" sz="1300" dirty="0"/>
          </a:p>
          <a:p>
            <a:pPr algn="l" indent="0" marL="0">
              <a:buNone/>
            </a:pPr>
            <a:r>
              <a:rPr lang="en-US" sz="1300" dirty="0">
                <a:solidFill>
                  <a:schemeClr val="tx1"/>
                </a:solidFill>
              </a:rPr>
              <a:t>présenter (un document)</a:t>
            </a:r>
            <a:endParaRPr lang="en-US" sz="1300" dirty="0"/>
          </a:p>
        </p:txBody>
      </p:sp>
      <p:sp>
        <p:nvSpPr>
          <p:cNvPr id="44" name="Shape 40"/>
          <p:cNvSpPr/>
          <p:nvPr/>
        </p:nvSpPr>
        <p:spPr>
          <a:xfrm>
            <a:off x="8348472" y="4937760"/>
            <a:ext cx="3291840" cy="566928"/>
          </a:xfrm>
          <a:prstGeom prst="roundRect">
            <a:avLst>
              <a:gd name="adj" fmla="val 9677"/>
            </a:avLst>
          </a:prstGeom>
          <a:solidFill>
            <a:srgbClr val="E6EBF2"/>
          </a:solidFill>
          <a:ln w="12700">
            <a:solidFill>
              <a:srgbClr val="FFFFFF">
                <a:alpha val="0"/>
              </a:srgbClr>
            </a:solidFill>
            <a:prstDash val="solid"/>
          </a:ln>
        </p:spPr>
      </p:sp>
      <p:sp>
        <p:nvSpPr>
          <p:cNvPr id="45" name="Text 41"/>
          <p:cNvSpPr txBox="1"/>
          <p:nvPr/>
        </p:nvSpPr>
        <p:spPr>
          <a:xfrm>
            <a:off x="8439912" y="4937760"/>
            <a:ext cx="3154680" cy="566928"/>
          </a:xfrm>
          <a:prstGeom prst="rect">
            <a:avLst/>
          </a:prstGeom>
          <a:noFill/>
          <a:ln/>
        </p:spPr>
        <p:txBody>
          <a:bodyPr wrap="square" lIns="0" tIns="0" rIns="0" bIns="0" rtlCol="0" anchor="ctr"/>
          <a:lstStyle/>
          <a:p>
            <a:pPr algn="l" indent="0" marL="0">
              <a:buNone/>
            </a:pPr>
            <a:r>
              <a:rPr lang="en-US" sz="1300" b="1" i="1" dirty="0">
                <a:solidFill>
                  <a:schemeClr val="tx1"/>
                </a:solidFill>
              </a:rPr>
              <a:t>overLEGgen</a:t>
            </a:r>
            <a:endParaRPr lang="en-US" sz="1300" dirty="0"/>
          </a:p>
          <a:p>
            <a:pPr algn="l" indent="0" marL="0">
              <a:buNone/>
            </a:pPr>
            <a:r>
              <a:rPr lang="en-US" sz="1300" dirty="0">
                <a:solidFill>
                  <a:schemeClr val="tx1"/>
                </a:solidFill>
              </a:rPr>
              <a:t>se concerter</a:t>
            </a:r>
            <a:endParaRPr lang="en-US" sz="1300" dirty="0"/>
          </a:p>
        </p:txBody>
      </p:sp>
      <p:sp>
        <p:nvSpPr>
          <p:cNvPr id="46" name="Shape 42"/>
          <p:cNvSpPr/>
          <p:nvPr/>
        </p:nvSpPr>
        <p:spPr>
          <a:xfrm>
            <a:off x="548640" y="5760720"/>
            <a:ext cx="11091672" cy="530352"/>
          </a:xfrm>
          <a:prstGeom prst="roundRect">
            <a:avLst>
              <a:gd name="adj" fmla="val 13793"/>
            </a:avLst>
          </a:prstGeom>
          <a:solidFill>
            <a:schemeClr val="tx2"/>
          </a:solidFill>
          <a:ln w="12700">
            <a:solidFill>
              <a:srgbClr val="FFFFFF">
                <a:alpha val="0"/>
              </a:srgbClr>
            </a:solidFill>
            <a:prstDash val="solid"/>
          </a:ln>
        </p:spPr>
      </p:sp>
      <p:sp>
        <p:nvSpPr>
          <p:cNvPr id="47" name="Text 43"/>
          <p:cNvSpPr txBox="1"/>
          <p:nvPr/>
        </p:nvSpPr>
        <p:spPr>
          <a:xfrm>
            <a:off x="822960" y="5760720"/>
            <a:ext cx="10607040" cy="530352"/>
          </a:xfrm>
          <a:prstGeom prst="rect">
            <a:avLst/>
          </a:prstGeom>
          <a:noFill/>
          <a:ln/>
        </p:spPr>
        <p:txBody>
          <a:bodyPr wrap="square" lIns="0" tIns="0" rIns="0" bIns="0" rtlCol="0" anchor="ctr"/>
          <a:lstStyle/>
          <a:p>
            <a:pPr algn="l" indent="0" marL="0">
              <a:buNone/>
            </a:pPr>
            <a:r>
              <a:rPr lang="en-US" sz="1500" i="1" dirty="0">
                <a:solidFill>
                  <a:schemeClr val="bg1"/>
                </a:solidFill>
              </a:rPr>
              <a:t>Het is vaak </a:t>
            </a:r>
            <a:r>
              <a:rPr lang="en-US" sz="1500" b="1" i="1" dirty="0">
                <a:solidFill>
                  <a:schemeClr val="bg1"/>
                </a:solidFill>
              </a:rPr>
              <a:t>voorgekomen</a:t>
            </a:r>
            <a:r>
              <a:rPr lang="en-US" sz="1500" i="1" dirty="0">
                <a:solidFill>
                  <a:schemeClr val="bg1"/>
                </a:solidFill>
              </a:rPr>
              <a:t>.</a:t>
            </a:r>
            <a:r>
              <a:rPr lang="en-US" sz="1500" dirty="0">
                <a:solidFill>
                  <a:schemeClr val="bg1"/>
                </a:solidFill>
              </a:rPr>
              <a:t> (se produire : </a:t>
            </a:r>
            <a:r>
              <a:rPr lang="en-US" sz="1500" i="1" dirty="0">
                <a:solidFill>
                  <a:schemeClr val="bg1"/>
                </a:solidFill>
              </a:rPr>
              <a:t>ge-</a:t>
            </a:r>
            <a:r>
              <a:rPr lang="en-US" sz="1500" dirty="0">
                <a:solidFill>
                  <a:schemeClr val="bg1"/>
                </a:solidFill>
              </a:rPr>
              <a:t>) · </a:t>
            </a:r>
            <a:r>
              <a:rPr lang="en-US" sz="1500" i="1" dirty="0">
                <a:solidFill>
                  <a:schemeClr val="bg1"/>
                </a:solidFill>
              </a:rPr>
              <a:t>We hebben een ongeluk </a:t>
            </a:r>
            <a:r>
              <a:rPr lang="en-US" sz="1500" b="1" i="1" dirty="0">
                <a:solidFill>
                  <a:schemeClr val="bg1"/>
                </a:solidFill>
              </a:rPr>
              <a:t>voorkomen</a:t>
            </a:r>
            <a:r>
              <a:rPr lang="en-US" sz="1500" i="1" dirty="0">
                <a:solidFill>
                  <a:schemeClr val="bg1"/>
                </a:solidFill>
              </a:rPr>
              <a:t>.</a:t>
            </a:r>
            <a:r>
              <a:rPr lang="en-US" sz="1500" dirty="0">
                <a:solidFill>
                  <a:schemeClr val="bg1"/>
                </a:solidFill>
              </a:rPr>
              <a:t> (éviter : sans </a:t>
            </a:r>
            <a:r>
              <a:rPr lang="en-US" sz="1500" i="1" dirty="0">
                <a:solidFill>
                  <a:schemeClr val="bg1"/>
                </a:solidFill>
              </a:rPr>
              <a:t>ge-</a:t>
            </a:r>
            <a:r>
              <a:rPr lang="en-US" sz="1500" dirty="0">
                <a:solidFill>
                  <a:schemeClr val="bg1"/>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place dans les groupes verbaux</a:t>
            </a:r>
            <a:endParaRPr lang="en-US" sz="3000" dirty="0"/>
          </a:p>
        </p:txBody>
      </p:sp>
      <p:sp>
        <p:nvSpPr>
          <p:cNvPr id="3" name="tag"/>
          <p:cNvSpPr/>
          <p:nvPr/>
        </p:nvSpPr>
        <p:spPr>
          <a:xfrm>
            <a:off x="548640" y="237744"/>
            <a:ext cx="581558"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B2</a:t>
            </a:r>
            <a:endParaRPr lang="en-US" sz="1200" dirty="0"/>
          </a:p>
        </p:txBody>
      </p:sp>
      <p:sp>
        <p:nvSpPr>
          <p:cNvPr id="5" name="Shape 2"/>
          <p:cNvSpPr/>
          <p:nvPr/>
        </p:nvSpPr>
        <p:spPr>
          <a:xfrm>
            <a:off x="548640" y="1600200"/>
            <a:ext cx="1833189" cy="512064"/>
          </a:xfrm>
          <a:prstGeom prst="roundRect">
            <a:avLst>
              <a:gd name="adj" fmla="val 14286"/>
            </a:avLst>
          </a:prstGeom>
          <a:solidFill>
            <a:schemeClr val="bg1"/>
          </a:solidFill>
          <a:ln w="15875">
            <a:solidFill>
              <a:srgbClr val="D5DCE6"/>
            </a:solidFill>
            <a:prstDash val="solid"/>
          </a:ln>
        </p:spPr>
      </p:sp>
      <p:sp>
        <p:nvSpPr>
          <p:cNvPr id="6" name="Text 3"/>
          <p:cNvSpPr txBox="1"/>
          <p:nvPr/>
        </p:nvSpPr>
        <p:spPr>
          <a:xfrm>
            <a:off x="548640" y="1600200"/>
            <a:ext cx="1833189" cy="512064"/>
          </a:xfrm>
          <a:prstGeom prst="rect">
            <a:avLst/>
          </a:prstGeom>
          <a:noFill/>
          <a:ln/>
        </p:spPr>
        <p:txBody>
          <a:bodyPr wrap="square" lIns="0" tIns="0" rIns="0" bIns="0" rtlCol="0" anchor="ctr"/>
          <a:lstStyle/>
          <a:p>
            <a:pPr algn="ctr" indent="0" marL="0">
              <a:buNone/>
            </a:pPr>
            <a:r>
              <a:rPr lang="en-US" sz="1800" dirty="0">
                <a:solidFill>
                  <a:schemeClr val="tx1"/>
                </a:solidFill>
              </a:rPr>
              <a:t>…, dat ik je</a:t>
            </a:r>
            <a:endParaRPr lang="en-US" sz="1800" dirty="0"/>
          </a:p>
        </p:txBody>
      </p:sp>
      <p:sp>
        <p:nvSpPr>
          <p:cNvPr id="7" name="Shape 4"/>
          <p:cNvSpPr/>
          <p:nvPr/>
        </p:nvSpPr>
        <p:spPr>
          <a:xfrm>
            <a:off x="2464125" y="1600200"/>
            <a:ext cx="832236" cy="512064"/>
          </a:xfrm>
          <a:prstGeom prst="roundRect">
            <a:avLst>
              <a:gd name="adj" fmla="val 14286"/>
            </a:avLst>
          </a:prstGeom>
          <a:solidFill>
            <a:srgbClr val="FBEDEB"/>
          </a:solidFill>
          <a:ln w="31750">
            <a:solidFill>
              <a:srgbClr val="B83227"/>
            </a:solidFill>
            <a:prstDash val="solid"/>
          </a:ln>
        </p:spPr>
      </p:sp>
      <p:sp>
        <p:nvSpPr>
          <p:cNvPr id="8" name="Text 5"/>
          <p:cNvSpPr txBox="1"/>
          <p:nvPr/>
        </p:nvSpPr>
        <p:spPr>
          <a:xfrm>
            <a:off x="2464125" y="1600200"/>
            <a:ext cx="832236" cy="512064"/>
          </a:xfrm>
          <a:prstGeom prst="rect">
            <a:avLst/>
          </a:prstGeom>
          <a:noFill/>
          <a:ln/>
        </p:spPr>
        <p:txBody>
          <a:bodyPr wrap="square" lIns="0" tIns="0" rIns="0" bIns="0" rtlCol="0" anchor="ctr"/>
          <a:lstStyle/>
          <a:p>
            <a:pPr algn="ctr" indent="0" marL="0">
              <a:buNone/>
            </a:pPr>
            <a:r>
              <a:rPr lang="en-US" sz="1800" b="1" dirty="0">
                <a:solidFill>
                  <a:schemeClr val="accent6"/>
                </a:solidFill>
              </a:rPr>
              <a:t>zal</a:t>
            </a:r>
            <a:endParaRPr lang="en-US" sz="1800" dirty="0"/>
          </a:p>
        </p:txBody>
      </p:sp>
      <p:sp>
        <p:nvSpPr>
          <p:cNvPr id="9" name="Shape 6"/>
          <p:cNvSpPr/>
          <p:nvPr/>
        </p:nvSpPr>
        <p:spPr>
          <a:xfrm>
            <a:off x="3378657" y="1600200"/>
            <a:ext cx="1694961" cy="512064"/>
          </a:xfrm>
          <a:prstGeom prst="roundRect">
            <a:avLst>
              <a:gd name="adj" fmla="val 14286"/>
            </a:avLst>
          </a:prstGeom>
          <a:solidFill>
            <a:srgbClr val="FFFFFF"/>
          </a:solidFill>
          <a:ln w="25400">
            <a:solidFill>
              <a:srgbClr val="B83227"/>
            </a:solidFill>
            <a:prstDash val="dash"/>
          </a:ln>
        </p:spPr>
      </p:sp>
      <p:sp>
        <p:nvSpPr>
          <p:cNvPr id="10" name="Text 7"/>
          <p:cNvSpPr txBox="1"/>
          <p:nvPr/>
        </p:nvSpPr>
        <p:spPr>
          <a:xfrm>
            <a:off x="3378657" y="1600200"/>
            <a:ext cx="1694961" cy="512064"/>
          </a:xfrm>
          <a:prstGeom prst="rect">
            <a:avLst/>
          </a:prstGeom>
          <a:noFill/>
          <a:ln/>
        </p:spPr>
        <p:txBody>
          <a:bodyPr wrap="square" lIns="0" tIns="0" rIns="0" bIns="0" rtlCol="0" anchor="ctr"/>
          <a:lstStyle/>
          <a:p>
            <a:pPr algn="ctr" indent="0" marL="0">
              <a:buNone/>
            </a:pPr>
            <a:r>
              <a:rPr lang="en-US" sz="1800" b="1" dirty="0">
                <a:solidFill>
                  <a:schemeClr val="accent6"/>
                </a:solidFill>
              </a:rPr>
              <a:t>opbellen.</a:t>
            </a:r>
            <a:endParaRPr lang="en-US" sz="1800" dirty="0"/>
          </a:p>
        </p:txBody>
      </p:sp>
      <p:sp>
        <p:nvSpPr>
          <p:cNvPr id="11" name="Text 8"/>
          <p:cNvSpPr txBox="1"/>
          <p:nvPr/>
        </p:nvSpPr>
        <p:spPr>
          <a:xfrm>
            <a:off x="5165058" y="1600200"/>
            <a:ext cx="365760" cy="512064"/>
          </a:xfrm>
          <a:prstGeom prst="rect">
            <a:avLst/>
          </a:prstGeom>
          <a:noFill/>
          <a:ln/>
        </p:spPr>
        <p:txBody>
          <a:bodyPr wrap="square" lIns="0" tIns="0" rIns="0" bIns="0" rtlCol="0" anchor="ctr"/>
          <a:lstStyle/>
          <a:p>
            <a:pPr algn="ctr" indent="0" marL="0">
              <a:buNone/>
            </a:pPr>
            <a:r>
              <a:rPr lang="en-US" sz="2200" b="1" dirty="0">
                <a:solidFill>
                  <a:schemeClr val="accent3"/>
                </a:solidFill>
              </a:rPr>
              <a:t>=</a:t>
            </a:r>
            <a:endParaRPr lang="en-US" sz="2200" dirty="0"/>
          </a:p>
        </p:txBody>
      </p:sp>
      <p:sp>
        <p:nvSpPr>
          <p:cNvPr id="12" name="Shape 9"/>
          <p:cNvSpPr/>
          <p:nvPr/>
        </p:nvSpPr>
        <p:spPr>
          <a:xfrm>
            <a:off x="5622258" y="1600200"/>
            <a:ext cx="1833189" cy="512064"/>
          </a:xfrm>
          <a:prstGeom prst="roundRect">
            <a:avLst>
              <a:gd name="adj" fmla="val 14286"/>
            </a:avLst>
          </a:prstGeom>
          <a:solidFill>
            <a:schemeClr val="bg1"/>
          </a:solidFill>
          <a:ln w="15875">
            <a:solidFill>
              <a:srgbClr val="D5DCE6"/>
            </a:solidFill>
            <a:prstDash val="solid"/>
          </a:ln>
        </p:spPr>
      </p:sp>
      <p:sp>
        <p:nvSpPr>
          <p:cNvPr id="13" name="Text 10"/>
          <p:cNvSpPr txBox="1"/>
          <p:nvPr/>
        </p:nvSpPr>
        <p:spPr>
          <a:xfrm>
            <a:off x="5622258" y="1600200"/>
            <a:ext cx="1833189" cy="512064"/>
          </a:xfrm>
          <a:prstGeom prst="rect">
            <a:avLst/>
          </a:prstGeom>
          <a:noFill/>
          <a:ln/>
        </p:spPr>
        <p:txBody>
          <a:bodyPr wrap="square" lIns="0" tIns="0" rIns="0" bIns="0" rtlCol="0" anchor="ctr"/>
          <a:lstStyle/>
          <a:p>
            <a:pPr algn="ctr" indent="0" marL="0">
              <a:buNone/>
            </a:pPr>
            <a:r>
              <a:rPr lang="en-US" sz="1800" dirty="0">
                <a:solidFill>
                  <a:schemeClr val="tx1"/>
                </a:solidFill>
              </a:rPr>
              <a:t>…, dat ik je</a:t>
            </a:r>
            <a:endParaRPr lang="en-US" sz="1800" dirty="0"/>
          </a:p>
        </p:txBody>
      </p:sp>
      <p:sp>
        <p:nvSpPr>
          <p:cNvPr id="14" name="Shape 11"/>
          <p:cNvSpPr/>
          <p:nvPr/>
        </p:nvSpPr>
        <p:spPr>
          <a:xfrm>
            <a:off x="7537743" y="1600200"/>
            <a:ext cx="688448" cy="512064"/>
          </a:xfrm>
          <a:prstGeom prst="roundRect">
            <a:avLst>
              <a:gd name="adj" fmla="val 14286"/>
            </a:avLst>
          </a:prstGeom>
          <a:solidFill>
            <a:schemeClr val="accent1"/>
          </a:solidFill>
          <a:ln w="12700">
            <a:solidFill>
              <a:srgbClr val="FFFFFF">
                <a:alpha val="0"/>
              </a:srgbClr>
            </a:solidFill>
            <a:prstDash val="solid"/>
          </a:ln>
        </p:spPr>
      </p:sp>
      <p:sp>
        <p:nvSpPr>
          <p:cNvPr id="15" name="Text 12"/>
          <p:cNvSpPr txBox="1"/>
          <p:nvPr/>
        </p:nvSpPr>
        <p:spPr>
          <a:xfrm>
            <a:off x="7537743" y="1600200"/>
            <a:ext cx="688448" cy="512064"/>
          </a:xfrm>
          <a:prstGeom prst="rect">
            <a:avLst/>
          </a:prstGeom>
          <a:noFill/>
          <a:ln/>
        </p:spPr>
        <p:txBody>
          <a:bodyPr wrap="square" lIns="0" tIns="0" rIns="0" bIns="0" rtlCol="0" anchor="ctr"/>
          <a:lstStyle/>
          <a:p>
            <a:pPr algn="ctr" indent="0" marL="0">
              <a:buNone/>
            </a:pPr>
            <a:r>
              <a:rPr lang="en-US" sz="1800" b="1" dirty="0">
                <a:solidFill>
                  <a:schemeClr val="bg1"/>
                </a:solidFill>
              </a:rPr>
              <a:t>op</a:t>
            </a:r>
            <a:endParaRPr lang="en-US" sz="1800" dirty="0"/>
          </a:p>
        </p:txBody>
      </p:sp>
      <p:sp>
        <p:nvSpPr>
          <p:cNvPr id="16" name="Shape 13"/>
          <p:cNvSpPr/>
          <p:nvPr/>
        </p:nvSpPr>
        <p:spPr>
          <a:xfrm>
            <a:off x="8308487" y="1600200"/>
            <a:ext cx="832236" cy="512064"/>
          </a:xfrm>
          <a:prstGeom prst="roundRect">
            <a:avLst>
              <a:gd name="adj" fmla="val 14286"/>
            </a:avLst>
          </a:prstGeom>
          <a:solidFill>
            <a:srgbClr val="FBEDEB"/>
          </a:solidFill>
          <a:ln w="31750">
            <a:solidFill>
              <a:srgbClr val="B83227"/>
            </a:solidFill>
            <a:prstDash val="solid"/>
          </a:ln>
        </p:spPr>
      </p:sp>
      <p:sp>
        <p:nvSpPr>
          <p:cNvPr id="17" name="Text 14"/>
          <p:cNvSpPr txBox="1"/>
          <p:nvPr/>
        </p:nvSpPr>
        <p:spPr>
          <a:xfrm>
            <a:off x="8308487" y="1600200"/>
            <a:ext cx="832236" cy="512064"/>
          </a:xfrm>
          <a:prstGeom prst="rect">
            <a:avLst/>
          </a:prstGeom>
          <a:noFill/>
          <a:ln/>
        </p:spPr>
        <p:txBody>
          <a:bodyPr wrap="square" lIns="0" tIns="0" rIns="0" bIns="0" rtlCol="0" anchor="ctr"/>
          <a:lstStyle/>
          <a:p>
            <a:pPr algn="ctr" indent="0" marL="0">
              <a:buNone/>
            </a:pPr>
            <a:r>
              <a:rPr lang="en-US" sz="1800" b="1" dirty="0">
                <a:solidFill>
                  <a:schemeClr val="accent6"/>
                </a:solidFill>
              </a:rPr>
              <a:t>zal</a:t>
            </a:r>
            <a:endParaRPr lang="en-US" sz="1800" dirty="0"/>
          </a:p>
        </p:txBody>
      </p:sp>
      <p:sp>
        <p:nvSpPr>
          <p:cNvPr id="18" name="Shape 15"/>
          <p:cNvSpPr/>
          <p:nvPr/>
        </p:nvSpPr>
        <p:spPr>
          <a:xfrm>
            <a:off x="9223019" y="1600200"/>
            <a:ext cx="1407386" cy="512064"/>
          </a:xfrm>
          <a:prstGeom prst="roundRect">
            <a:avLst>
              <a:gd name="adj" fmla="val 14286"/>
            </a:avLst>
          </a:prstGeom>
          <a:solidFill>
            <a:srgbClr val="FFFFFF"/>
          </a:solidFill>
          <a:ln w="25400">
            <a:solidFill>
              <a:srgbClr val="B83227"/>
            </a:solidFill>
            <a:prstDash val="dash"/>
          </a:ln>
        </p:spPr>
      </p:sp>
      <p:sp>
        <p:nvSpPr>
          <p:cNvPr id="19" name="Text 16"/>
          <p:cNvSpPr txBox="1"/>
          <p:nvPr/>
        </p:nvSpPr>
        <p:spPr>
          <a:xfrm>
            <a:off x="9223019" y="1600200"/>
            <a:ext cx="1407386" cy="512064"/>
          </a:xfrm>
          <a:prstGeom prst="rect">
            <a:avLst/>
          </a:prstGeom>
          <a:noFill/>
          <a:ln/>
        </p:spPr>
        <p:txBody>
          <a:bodyPr wrap="square" lIns="0" tIns="0" rIns="0" bIns="0" rtlCol="0" anchor="ctr"/>
          <a:lstStyle/>
          <a:p>
            <a:pPr algn="ctr" indent="0" marL="0">
              <a:buNone/>
            </a:pPr>
            <a:r>
              <a:rPr lang="en-US" sz="1800" b="1" dirty="0">
                <a:solidFill>
                  <a:schemeClr val="accent6"/>
                </a:solidFill>
              </a:rPr>
              <a:t>bellen.</a:t>
            </a:r>
            <a:endParaRPr lang="en-US" sz="1800" dirty="0"/>
          </a:p>
        </p:txBody>
      </p:sp>
      <p:sp>
        <p:nvSpPr>
          <p:cNvPr id="20" name="Shape 17"/>
          <p:cNvSpPr/>
          <p:nvPr/>
        </p:nvSpPr>
        <p:spPr>
          <a:xfrm>
            <a:off x="548640" y="2514600"/>
            <a:ext cx="2218334" cy="512064"/>
          </a:xfrm>
          <a:prstGeom prst="roundRect">
            <a:avLst>
              <a:gd name="adj" fmla="val 14286"/>
            </a:avLst>
          </a:prstGeom>
          <a:solidFill>
            <a:schemeClr val="bg1"/>
          </a:solidFill>
          <a:ln w="15875">
            <a:solidFill>
              <a:srgbClr val="D5DCE6"/>
            </a:solidFill>
            <a:prstDash val="solid"/>
          </a:ln>
        </p:spPr>
      </p:sp>
      <p:sp>
        <p:nvSpPr>
          <p:cNvPr id="21" name="Text 18"/>
          <p:cNvSpPr txBox="1"/>
          <p:nvPr/>
        </p:nvSpPr>
        <p:spPr>
          <a:xfrm>
            <a:off x="548640" y="2514600"/>
            <a:ext cx="2218334" cy="512064"/>
          </a:xfrm>
          <a:prstGeom prst="rect">
            <a:avLst/>
          </a:prstGeom>
          <a:noFill/>
          <a:ln/>
        </p:spPr>
        <p:txBody>
          <a:bodyPr wrap="square" lIns="0" tIns="0" rIns="0" bIns="0" rtlCol="0" anchor="ctr"/>
          <a:lstStyle/>
          <a:p>
            <a:pPr algn="ctr" indent="0" marL="0">
              <a:buNone/>
            </a:pPr>
            <a:r>
              <a:rPr lang="en-US" sz="1800" dirty="0">
                <a:solidFill>
                  <a:schemeClr val="tx1"/>
                </a:solidFill>
              </a:rPr>
              <a:t>Ik heb het niet</a:t>
            </a:r>
            <a:endParaRPr lang="en-US" sz="1800" dirty="0"/>
          </a:p>
        </p:txBody>
      </p:sp>
      <p:sp>
        <p:nvSpPr>
          <p:cNvPr id="22" name="Shape 19"/>
          <p:cNvSpPr/>
          <p:nvPr/>
        </p:nvSpPr>
        <p:spPr>
          <a:xfrm>
            <a:off x="2849270" y="2514600"/>
            <a:ext cx="1263598" cy="512064"/>
          </a:xfrm>
          <a:prstGeom prst="roundRect">
            <a:avLst>
              <a:gd name="adj" fmla="val 14286"/>
            </a:avLst>
          </a:prstGeom>
          <a:solidFill>
            <a:srgbClr val="FFFFFF"/>
          </a:solidFill>
          <a:ln w="25400">
            <a:solidFill>
              <a:srgbClr val="B83227"/>
            </a:solidFill>
            <a:prstDash val="dash"/>
          </a:ln>
        </p:spPr>
      </p:sp>
      <p:sp>
        <p:nvSpPr>
          <p:cNvPr id="23" name="Text 20"/>
          <p:cNvSpPr txBox="1"/>
          <p:nvPr/>
        </p:nvSpPr>
        <p:spPr>
          <a:xfrm>
            <a:off x="2849270" y="2514600"/>
            <a:ext cx="1263598" cy="512064"/>
          </a:xfrm>
          <a:prstGeom prst="rect">
            <a:avLst/>
          </a:prstGeom>
          <a:noFill/>
          <a:ln/>
        </p:spPr>
        <p:txBody>
          <a:bodyPr wrap="square" lIns="0" tIns="0" rIns="0" bIns="0" rtlCol="0" anchor="ctr"/>
          <a:lstStyle/>
          <a:p>
            <a:pPr algn="ctr" indent="0" marL="0">
              <a:buNone/>
            </a:pPr>
            <a:r>
              <a:rPr lang="en-US" sz="1800" b="1" dirty="0">
                <a:solidFill>
                  <a:schemeClr val="accent6"/>
                </a:solidFill>
              </a:rPr>
              <a:t>kunnen</a:t>
            </a:r>
            <a:endParaRPr lang="en-US" sz="1800" dirty="0"/>
          </a:p>
        </p:txBody>
      </p:sp>
      <p:sp>
        <p:nvSpPr>
          <p:cNvPr id="24" name="Shape 21"/>
          <p:cNvSpPr/>
          <p:nvPr/>
        </p:nvSpPr>
        <p:spPr>
          <a:xfrm>
            <a:off x="4195165" y="2514600"/>
            <a:ext cx="1551174" cy="512064"/>
          </a:xfrm>
          <a:prstGeom prst="roundRect">
            <a:avLst>
              <a:gd name="adj" fmla="val 14286"/>
            </a:avLst>
          </a:prstGeom>
          <a:solidFill>
            <a:srgbClr val="FFFFFF"/>
          </a:solidFill>
          <a:ln w="25400">
            <a:solidFill>
              <a:srgbClr val="B83227"/>
            </a:solidFill>
            <a:prstDash val="dash"/>
          </a:ln>
        </p:spPr>
      </p:sp>
      <p:sp>
        <p:nvSpPr>
          <p:cNvPr id="25" name="Text 22"/>
          <p:cNvSpPr txBox="1"/>
          <p:nvPr/>
        </p:nvSpPr>
        <p:spPr>
          <a:xfrm>
            <a:off x="4195165" y="2514600"/>
            <a:ext cx="1551174" cy="512064"/>
          </a:xfrm>
          <a:prstGeom prst="rect">
            <a:avLst/>
          </a:prstGeom>
          <a:noFill/>
          <a:ln/>
        </p:spPr>
        <p:txBody>
          <a:bodyPr wrap="square" lIns="0" tIns="0" rIns="0" bIns="0" rtlCol="0" anchor="ctr"/>
          <a:lstStyle/>
          <a:p>
            <a:pPr algn="ctr" indent="0" marL="0">
              <a:buNone/>
            </a:pPr>
            <a:r>
              <a:rPr lang="en-US" sz="1800" b="1" dirty="0">
                <a:solidFill>
                  <a:schemeClr val="accent6"/>
                </a:solidFill>
              </a:rPr>
              <a:t>afmaken.</a:t>
            </a:r>
            <a:endParaRPr lang="en-US" sz="1800" dirty="0"/>
          </a:p>
        </p:txBody>
      </p:sp>
      <p:sp>
        <p:nvSpPr>
          <p:cNvPr id="26" name="Text 23"/>
          <p:cNvSpPr txBox="1"/>
          <p:nvPr/>
        </p:nvSpPr>
        <p:spPr>
          <a:xfrm>
            <a:off x="5837778" y="2514600"/>
            <a:ext cx="365760" cy="512064"/>
          </a:xfrm>
          <a:prstGeom prst="rect">
            <a:avLst/>
          </a:prstGeom>
          <a:noFill/>
          <a:ln/>
        </p:spPr>
        <p:txBody>
          <a:bodyPr wrap="square" lIns="0" tIns="0" rIns="0" bIns="0" rtlCol="0" anchor="ctr"/>
          <a:lstStyle/>
          <a:p>
            <a:pPr algn="ctr" indent="0" marL="0">
              <a:buNone/>
            </a:pPr>
            <a:r>
              <a:rPr lang="en-US" sz="2200" b="1" dirty="0">
                <a:solidFill>
                  <a:schemeClr val="accent3"/>
                </a:solidFill>
              </a:rPr>
              <a:t>=</a:t>
            </a:r>
            <a:endParaRPr lang="en-US" sz="2200" dirty="0"/>
          </a:p>
        </p:txBody>
      </p:sp>
      <p:sp>
        <p:nvSpPr>
          <p:cNvPr id="27" name="Shape 24"/>
          <p:cNvSpPr/>
          <p:nvPr/>
        </p:nvSpPr>
        <p:spPr>
          <a:xfrm>
            <a:off x="6294978" y="2514600"/>
            <a:ext cx="2218334" cy="512064"/>
          </a:xfrm>
          <a:prstGeom prst="roundRect">
            <a:avLst>
              <a:gd name="adj" fmla="val 14286"/>
            </a:avLst>
          </a:prstGeom>
          <a:solidFill>
            <a:schemeClr val="bg1"/>
          </a:solidFill>
          <a:ln w="15875">
            <a:solidFill>
              <a:srgbClr val="D5DCE6"/>
            </a:solidFill>
            <a:prstDash val="solid"/>
          </a:ln>
        </p:spPr>
      </p:sp>
      <p:sp>
        <p:nvSpPr>
          <p:cNvPr id="28" name="Text 25"/>
          <p:cNvSpPr txBox="1"/>
          <p:nvPr/>
        </p:nvSpPr>
        <p:spPr>
          <a:xfrm>
            <a:off x="6294978" y="2514600"/>
            <a:ext cx="2218334" cy="512064"/>
          </a:xfrm>
          <a:prstGeom prst="rect">
            <a:avLst/>
          </a:prstGeom>
          <a:noFill/>
          <a:ln/>
        </p:spPr>
        <p:txBody>
          <a:bodyPr wrap="square" lIns="0" tIns="0" rIns="0" bIns="0" rtlCol="0" anchor="ctr"/>
          <a:lstStyle/>
          <a:p>
            <a:pPr algn="ctr" indent="0" marL="0">
              <a:buNone/>
            </a:pPr>
            <a:r>
              <a:rPr lang="en-US" sz="1800" dirty="0">
                <a:solidFill>
                  <a:schemeClr val="tx1"/>
                </a:solidFill>
              </a:rPr>
              <a:t>Ik heb het niet</a:t>
            </a:r>
            <a:endParaRPr lang="en-US" sz="1800" dirty="0"/>
          </a:p>
        </p:txBody>
      </p:sp>
      <p:sp>
        <p:nvSpPr>
          <p:cNvPr id="29" name="Shape 26"/>
          <p:cNvSpPr/>
          <p:nvPr/>
        </p:nvSpPr>
        <p:spPr>
          <a:xfrm>
            <a:off x="8595609" y="2514600"/>
            <a:ext cx="688448" cy="512064"/>
          </a:xfrm>
          <a:prstGeom prst="roundRect">
            <a:avLst>
              <a:gd name="adj" fmla="val 14286"/>
            </a:avLst>
          </a:prstGeom>
          <a:solidFill>
            <a:schemeClr val="accent1"/>
          </a:solidFill>
          <a:ln w="12700">
            <a:solidFill>
              <a:srgbClr val="FFFFFF">
                <a:alpha val="0"/>
              </a:srgbClr>
            </a:solidFill>
            <a:prstDash val="solid"/>
          </a:ln>
        </p:spPr>
      </p:sp>
      <p:sp>
        <p:nvSpPr>
          <p:cNvPr id="30" name="Text 27"/>
          <p:cNvSpPr txBox="1"/>
          <p:nvPr/>
        </p:nvSpPr>
        <p:spPr>
          <a:xfrm>
            <a:off x="8595609" y="2514600"/>
            <a:ext cx="688448" cy="512064"/>
          </a:xfrm>
          <a:prstGeom prst="rect">
            <a:avLst/>
          </a:prstGeom>
          <a:noFill/>
          <a:ln/>
        </p:spPr>
        <p:txBody>
          <a:bodyPr wrap="square" lIns="0" tIns="0" rIns="0" bIns="0" rtlCol="0" anchor="ctr"/>
          <a:lstStyle/>
          <a:p>
            <a:pPr algn="ctr" indent="0" marL="0">
              <a:buNone/>
            </a:pPr>
            <a:r>
              <a:rPr lang="en-US" sz="1800" b="1" dirty="0">
                <a:solidFill>
                  <a:schemeClr val="bg1"/>
                </a:solidFill>
              </a:rPr>
              <a:t>af</a:t>
            </a:r>
            <a:endParaRPr lang="en-US" sz="1800" dirty="0"/>
          </a:p>
        </p:txBody>
      </p:sp>
      <p:sp>
        <p:nvSpPr>
          <p:cNvPr id="31" name="Shape 28"/>
          <p:cNvSpPr/>
          <p:nvPr/>
        </p:nvSpPr>
        <p:spPr>
          <a:xfrm>
            <a:off x="9366353" y="2514600"/>
            <a:ext cx="1263598" cy="512064"/>
          </a:xfrm>
          <a:prstGeom prst="roundRect">
            <a:avLst>
              <a:gd name="adj" fmla="val 14286"/>
            </a:avLst>
          </a:prstGeom>
          <a:solidFill>
            <a:srgbClr val="FFFFFF"/>
          </a:solidFill>
          <a:ln w="25400">
            <a:solidFill>
              <a:srgbClr val="B83227"/>
            </a:solidFill>
            <a:prstDash val="dash"/>
          </a:ln>
        </p:spPr>
      </p:sp>
      <p:sp>
        <p:nvSpPr>
          <p:cNvPr id="32" name="Text 29"/>
          <p:cNvSpPr txBox="1"/>
          <p:nvPr/>
        </p:nvSpPr>
        <p:spPr>
          <a:xfrm>
            <a:off x="9366353" y="2514600"/>
            <a:ext cx="1263598" cy="512064"/>
          </a:xfrm>
          <a:prstGeom prst="rect">
            <a:avLst/>
          </a:prstGeom>
          <a:noFill/>
          <a:ln/>
        </p:spPr>
        <p:txBody>
          <a:bodyPr wrap="square" lIns="0" tIns="0" rIns="0" bIns="0" rtlCol="0" anchor="ctr"/>
          <a:lstStyle/>
          <a:p>
            <a:pPr algn="ctr" indent="0" marL="0">
              <a:buNone/>
            </a:pPr>
            <a:r>
              <a:rPr lang="en-US" sz="1800" b="1" dirty="0">
                <a:solidFill>
                  <a:schemeClr val="accent6"/>
                </a:solidFill>
              </a:rPr>
              <a:t>kunnen</a:t>
            </a:r>
            <a:endParaRPr lang="en-US" sz="1800" dirty="0"/>
          </a:p>
        </p:txBody>
      </p:sp>
      <p:sp>
        <p:nvSpPr>
          <p:cNvPr id="33" name="Shape 30"/>
          <p:cNvSpPr/>
          <p:nvPr/>
        </p:nvSpPr>
        <p:spPr>
          <a:xfrm>
            <a:off x="10712247" y="2514600"/>
            <a:ext cx="1263598" cy="512064"/>
          </a:xfrm>
          <a:prstGeom prst="roundRect">
            <a:avLst>
              <a:gd name="adj" fmla="val 14286"/>
            </a:avLst>
          </a:prstGeom>
          <a:solidFill>
            <a:srgbClr val="FFFFFF"/>
          </a:solidFill>
          <a:ln w="25400">
            <a:solidFill>
              <a:srgbClr val="B83227"/>
            </a:solidFill>
            <a:prstDash val="dash"/>
          </a:ln>
        </p:spPr>
      </p:sp>
      <p:sp>
        <p:nvSpPr>
          <p:cNvPr id="34" name="Text 31"/>
          <p:cNvSpPr txBox="1"/>
          <p:nvPr/>
        </p:nvSpPr>
        <p:spPr>
          <a:xfrm>
            <a:off x="10712247" y="2514600"/>
            <a:ext cx="1263598" cy="512064"/>
          </a:xfrm>
          <a:prstGeom prst="rect">
            <a:avLst/>
          </a:prstGeom>
          <a:noFill/>
          <a:ln/>
        </p:spPr>
        <p:txBody>
          <a:bodyPr wrap="square" lIns="0" tIns="0" rIns="0" bIns="0" rtlCol="0" anchor="ctr"/>
          <a:lstStyle/>
          <a:p>
            <a:pPr algn="ctr" indent="0" marL="0">
              <a:buNone/>
            </a:pPr>
            <a:r>
              <a:rPr lang="en-US" sz="1800" b="1" dirty="0">
                <a:solidFill>
                  <a:schemeClr val="accent6"/>
                </a:solidFill>
              </a:rPr>
              <a:t>maken.</a:t>
            </a:r>
            <a:endParaRPr lang="en-US" sz="1800" dirty="0"/>
          </a:p>
        </p:txBody>
      </p:sp>
      <p:sp>
        <p:nvSpPr>
          <p:cNvPr id="35" name="Text 32"/>
          <p:cNvSpPr txBox="1"/>
          <p:nvPr/>
        </p:nvSpPr>
        <p:spPr>
          <a:xfrm>
            <a:off x="548640" y="3429000"/>
            <a:ext cx="11091672" cy="411480"/>
          </a:xfrm>
          <a:prstGeom prst="rect">
            <a:avLst/>
          </a:prstGeom>
          <a:noFill/>
          <a:ln/>
        </p:spPr>
        <p:txBody>
          <a:bodyPr wrap="square" lIns="0" tIns="0" rIns="0" bIns="0" rtlCol="0" anchor="t"/>
          <a:lstStyle/>
          <a:p>
            <a:pPr algn="l" indent="0" marL="0">
              <a:buNone/>
            </a:pPr>
            <a:r>
              <a:rPr lang="en-US" sz="1600" dirty="0">
                <a:solidFill>
                  <a:schemeClr val="tx1"/>
                </a:solidFill>
              </a:rPr>
              <a:t>Dans le groupe verbal final, la particule peut rester collée ou passer devant : </a:t>
            </a:r>
            <a:r>
              <a:rPr lang="en-US" sz="1600" b="1" dirty="0">
                <a:solidFill>
                  <a:schemeClr val="tx1"/>
                </a:solidFill>
              </a:rPr>
              <a:t>les deux ordres sont corrects</a:t>
            </a:r>
            <a:r>
              <a:rPr lang="en-US" sz="1600" dirty="0">
                <a:solidFill>
                  <a:schemeClr val="tx1"/>
                </a:solidFill>
              </a:rPr>
              <a:t>.</a:t>
            </a:r>
            <a:endParaRPr lang="en-US" sz="1600" dirty="0"/>
          </a:p>
        </p:txBody>
      </p:sp>
      <p:sp>
        <p:nvSpPr>
          <p:cNvPr id="36" name="Text 33"/>
          <p:cNvSpPr txBox="1"/>
          <p:nvPr/>
        </p:nvSpPr>
        <p:spPr>
          <a:xfrm>
            <a:off x="548640" y="3977640"/>
            <a:ext cx="5486400" cy="347472"/>
          </a:xfrm>
          <a:prstGeom prst="rect">
            <a:avLst/>
          </a:prstGeom>
          <a:noFill/>
          <a:ln/>
        </p:spPr>
        <p:txBody>
          <a:bodyPr wrap="square" lIns="0" tIns="0" rIns="0" bIns="0" rtlCol="0" anchor="t"/>
          <a:lstStyle/>
          <a:p>
            <a:pPr algn="l" indent="0" marL="0">
              <a:buNone/>
            </a:pPr>
            <a:r>
              <a:rPr lang="en-US" sz="1300" b="1" spc="200" kern="0" dirty="0">
                <a:solidFill>
                  <a:schemeClr val="accent5"/>
                </a:solidFill>
              </a:rPr>
              <a:t>(OM / ZONDER) … TE + INFINITIF</a:t>
            </a:r>
            <a:endParaRPr lang="en-US" sz="1300" dirty="0"/>
          </a:p>
        </p:txBody>
      </p:sp>
      <p:sp>
        <p:nvSpPr>
          <p:cNvPr id="37" name="Shape 34"/>
          <p:cNvSpPr/>
          <p:nvPr/>
        </p:nvSpPr>
        <p:spPr>
          <a:xfrm>
            <a:off x="548640" y="4389120"/>
            <a:ext cx="2353848" cy="475488"/>
          </a:xfrm>
          <a:prstGeom prst="roundRect">
            <a:avLst>
              <a:gd name="adj" fmla="val 15385"/>
            </a:avLst>
          </a:prstGeom>
          <a:solidFill>
            <a:schemeClr val="bg1"/>
          </a:solidFill>
          <a:ln w="15875">
            <a:solidFill>
              <a:srgbClr val="D5DCE6"/>
            </a:solidFill>
            <a:prstDash val="solid"/>
          </a:ln>
        </p:spPr>
      </p:sp>
      <p:sp>
        <p:nvSpPr>
          <p:cNvPr id="38" name="Text 35"/>
          <p:cNvSpPr txBox="1"/>
          <p:nvPr/>
        </p:nvSpPr>
        <p:spPr>
          <a:xfrm>
            <a:off x="548640" y="4389120"/>
            <a:ext cx="2353848" cy="475488"/>
          </a:xfrm>
          <a:prstGeom prst="rect">
            <a:avLst/>
          </a:prstGeom>
          <a:noFill/>
          <a:ln/>
        </p:spPr>
        <p:txBody>
          <a:bodyPr wrap="square" lIns="0" tIns="0" rIns="0" bIns="0" rtlCol="0" anchor="ctr"/>
          <a:lstStyle/>
          <a:p>
            <a:pPr algn="ctr" indent="0" marL="0">
              <a:buNone/>
            </a:pPr>
            <a:r>
              <a:rPr lang="en-US" sz="1700" dirty="0">
                <a:solidFill>
                  <a:schemeClr val="tx1"/>
                </a:solidFill>
              </a:rPr>
              <a:t>Ik heb tijd nodig</a:t>
            </a:r>
            <a:endParaRPr lang="en-US" sz="1700" dirty="0"/>
          </a:p>
        </p:txBody>
      </p:sp>
      <p:sp>
        <p:nvSpPr>
          <p:cNvPr id="39" name="Shape 36"/>
          <p:cNvSpPr/>
          <p:nvPr/>
        </p:nvSpPr>
        <p:spPr>
          <a:xfrm>
            <a:off x="2984784" y="4389120"/>
            <a:ext cx="535107" cy="475488"/>
          </a:xfrm>
          <a:prstGeom prst="roundRect">
            <a:avLst>
              <a:gd name="adj" fmla="val 15385"/>
            </a:avLst>
          </a:prstGeom>
          <a:solidFill>
            <a:schemeClr val="bg1"/>
          </a:solidFill>
          <a:ln w="15875">
            <a:solidFill>
              <a:srgbClr val="D5DCE6"/>
            </a:solidFill>
            <a:prstDash val="solid"/>
          </a:ln>
        </p:spPr>
      </p:sp>
      <p:sp>
        <p:nvSpPr>
          <p:cNvPr id="40" name="Text 37"/>
          <p:cNvSpPr txBox="1"/>
          <p:nvPr/>
        </p:nvSpPr>
        <p:spPr>
          <a:xfrm>
            <a:off x="2984784" y="4389120"/>
            <a:ext cx="535107" cy="475488"/>
          </a:xfrm>
          <a:prstGeom prst="rect">
            <a:avLst/>
          </a:prstGeom>
          <a:noFill/>
          <a:ln/>
        </p:spPr>
        <p:txBody>
          <a:bodyPr wrap="square" lIns="0" tIns="0" rIns="0" bIns="0" rtlCol="0" anchor="ctr"/>
          <a:lstStyle/>
          <a:p>
            <a:pPr algn="ctr" indent="0" marL="0">
              <a:buNone/>
            </a:pPr>
            <a:r>
              <a:rPr lang="en-US" sz="1700" dirty="0">
                <a:solidFill>
                  <a:schemeClr val="tx1"/>
                </a:solidFill>
              </a:rPr>
              <a:t>om</a:t>
            </a:r>
            <a:endParaRPr lang="en-US" sz="1700" dirty="0"/>
          </a:p>
        </p:txBody>
      </p:sp>
      <p:sp>
        <p:nvSpPr>
          <p:cNvPr id="41" name="Shape 38"/>
          <p:cNvSpPr/>
          <p:nvPr/>
        </p:nvSpPr>
        <p:spPr>
          <a:xfrm>
            <a:off x="3602187" y="4389120"/>
            <a:ext cx="1262604" cy="475488"/>
          </a:xfrm>
          <a:prstGeom prst="roundRect">
            <a:avLst>
              <a:gd name="adj" fmla="val 15385"/>
            </a:avLst>
          </a:prstGeom>
          <a:solidFill>
            <a:schemeClr val="bg1"/>
          </a:solidFill>
          <a:ln w="15875">
            <a:solidFill>
              <a:srgbClr val="D5DCE6"/>
            </a:solidFill>
            <a:prstDash val="solid"/>
          </a:ln>
        </p:spPr>
      </p:sp>
      <p:sp>
        <p:nvSpPr>
          <p:cNvPr id="42" name="Text 39"/>
          <p:cNvSpPr txBox="1"/>
          <p:nvPr/>
        </p:nvSpPr>
        <p:spPr>
          <a:xfrm>
            <a:off x="3602187" y="4389120"/>
            <a:ext cx="1262604" cy="475488"/>
          </a:xfrm>
          <a:prstGeom prst="rect">
            <a:avLst/>
          </a:prstGeom>
          <a:noFill/>
          <a:ln/>
        </p:spPr>
        <p:txBody>
          <a:bodyPr wrap="square" lIns="0" tIns="0" rIns="0" bIns="0" rtlCol="0" anchor="ctr"/>
          <a:lstStyle/>
          <a:p>
            <a:pPr algn="ctr" indent="0" marL="0">
              <a:buNone/>
            </a:pPr>
            <a:r>
              <a:rPr lang="en-US" sz="1700" dirty="0">
                <a:solidFill>
                  <a:schemeClr val="tx1"/>
                </a:solidFill>
              </a:rPr>
              <a:t>de tekst</a:t>
            </a:r>
            <a:endParaRPr lang="en-US" sz="1700" dirty="0"/>
          </a:p>
        </p:txBody>
      </p:sp>
      <p:sp>
        <p:nvSpPr>
          <p:cNvPr id="43" name="Shape 40"/>
          <p:cNvSpPr/>
          <p:nvPr/>
        </p:nvSpPr>
        <p:spPr>
          <a:xfrm>
            <a:off x="4947087" y="4389120"/>
            <a:ext cx="672472" cy="475488"/>
          </a:xfrm>
          <a:prstGeom prst="roundRect">
            <a:avLst>
              <a:gd name="adj" fmla="val 15385"/>
            </a:avLst>
          </a:prstGeom>
          <a:solidFill>
            <a:schemeClr val="accent1"/>
          </a:solidFill>
          <a:ln w="12700">
            <a:solidFill>
              <a:srgbClr val="FFFFFF">
                <a:alpha val="0"/>
              </a:srgbClr>
            </a:solidFill>
            <a:prstDash val="solid"/>
          </a:ln>
        </p:spPr>
      </p:sp>
      <p:sp>
        <p:nvSpPr>
          <p:cNvPr id="44" name="Text 41"/>
          <p:cNvSpPr txBox="1"/>
          <p:nvPr/>
        </p:nvSpPr>
        <p:spPr>
          <a:xfrm>
            <a:off x="4947087" y="4389120"/>
            <a:ext cx="672472" cy="475488"/>
          </a:xfrm>
          <a:prstGeom prst="rect">
            <a:avLst/>
          </a:prstGeom>
          <a:noFill/>
          <a:ln/>
        </p:spPr>
        <p:txBody>
          <a:bodyPr wrap="square" lIns="0" tIns="0" rIns="0" bIns="0" rtlCol="0" anchor="ctr"/>
          <a:lstStyle/>
          <a:p>
            <a:pPr algn="ctr" indent="0" marL="0">
              <a:buNone/>
            </a:pPr>
            <a:r>
              <a:rPr lang="en-US" sz="1700" b="1" dirty="0">
                <a:solidFill>
                  <a:schemeClr val="bg1"/>
                </a:solidFill>
              </a:rPr>
              <a:t>na</a:t>
            </a:r>
            <a:endParaRPr lang="en-US" sz="1700" dirty="0"/>
          </a:p>
        </p:txBody>
      </p:sp>
      <p:sp>
        <p:nvSpPr>
          <p:cNvPr id="45" name="Text 42"/>
          <p:cNvSpPr txBox="1"/>
          <p:nvPr/>
        </p:nvSpPr>
        <p:spPr>
          <a:xfrm>
            <a:off x="5701855" y="4389120"/>
            <a:ext cx="672472" cy="475488"/>
          </a:xfrm>
          <a:prstGeom prst="rect">
            <a:avLst/>
          </a:prstGeom>
          <a:noFill/>
          <a:ln/>
        </p:spPr>
        <p:txBody>
          <a:bodyPr wrap="square" lIns="0" tIns="0" rIns="0" bIns="0" rtlCol="0" anchor="ctr"/>
          <a:lstStyle/>
          <a:p>
            <a:pPr algn="ctr" indent="0" marL="0">
              <a:buNone/>
            </a:pPr>
            <a:r>
              <a:rPr lang="en-US" sz="1700" b="1" dirty="0">
                <a:solidFill>
                  <a:schemeClr val="accent5"/>
                </a:solidFill>
              </a:rPr>
              <a:t>te</a:t>
            </a:r>
            <a:endParaRPr lang="en-US" sz="1700" dirty="0"/>
          </a:p>
        </p:txBody>
      </p:sp>
      <p:sp>
        <p:nvSpPr>
          <p:cNvPr id="46" name="Shape 43"/>
          <p:cNvSpPr/>
          <p:nvPr/>
        </p:nvSpPr>
        <p:spPr>
          <a:xfrm>
            <a:off x="6456622" y="4389120"/>
            <a:ext cx="1215669" cy="475488"/>
          </a:xfrm>
          <a:prstGeom prst="roundRect">
            <a:avLst>
              <a:gd name="adj" fmla="val 15385"/>
            </a:avLst>
          </a:prstGeom>
          <a:solidFill>
            <a:srgbClr val="FFFFFF"/>
          </a:solidFill>
          <a:ln w="25400">
            <a:solidFill>
              <a:srgbClr val="B83227"/>
            </a:solidFill>
            <a:prstDash val="dash"/>
          </a:ln>
        </p:spPr>
      </p:sp>
      <p:sp>
        <p:nvSpPr>
          <p:cNvPr id="47" name="Text 44"/>
          <p:cNvSpPr txBox="1"/>
          <p:nvPr/>
        </p:nvSpPr>
        <p:spPr>
          <a:xfrm>
            <a:off x="6456622" y="4389120"/>
            <a:ext cx="1215669" cy="475488"/>
          </a:xfrm>
          <a:prstGeom prst="rect">
            <a:avLst/>
          </a:prstGeom>
          <a:noFill/>
          <a:ln/>
        </p:spPr>
        <p:txBody>
          <a:bodyPr wrap="square" lIns="0" tIns="0" rIns="0" bIns="0" rtlCol="0" anchor="ctr"/>
          <a:lstStyle/>
          <a:p>
            <a:pPr algn="ctr" indent="0" marL="0">
              <a:buNone/>
            </a:pPr>
            <a:r>
              <a:rPr lang="en-US" sz="1700" b="1" dirty="0">
                <a:solidFill>
                  <a:schemeClr val="accent6"/>
                </a:solidFill>
              </a:rPr>
              <a:t>lezen.</a:t>
            </a:r>
            <a:endParaRPr lang="en-US" sz="1700" dirty="0"/>
          </a:p>
        </p:txBody>
      </p:sp>
      <p:sp>
        <p:nvSpPr>
          <p:cNvPr id="48" name="Shape 45"/>
          <p:cNvSpPr/>
          <p:nvPr/>
        </p:nvSpPr>
        <p:spPr>
          <a:xfrm>
            <a:off x="548640" y="5010912"/>
            <a:ext cx="1990100" cy="475488"/>
          </a:xfrm>
          <a:prstGeom prst="roundRect">
            <a:avLst>
              <a:gd name="adj" fmla="val 15385"/>
            </a:avLst>
          </a:prstGeom>
          <a:solidFill>
            <a:schemeClr val="bg1"/>
          </a:solidFill>
          <a:ln w="15875">
            <a:solidFill>
              <a:srgbClr val="D5DCE6"/>
            </a:solidFill>
            <a:prstDash val="solid"/>
          </a:ln>
        </p:spPr>
      </p:sp>
      <p:sp>
        <p:nvSpPr>
          <p:cNvPr id="49" name="Text 46"/>
          <p:cNvSpPr txBox="1"/>
          <p:nvPr/>
        </p:nvSpPr>
        <p:spPr>
          <a:xfrm>
            <a:off x="548640" y="5010912"/>
            <a:ext cx="1990100" cy="475488"/>
          </a:xfrm>
          <a:prstGeom prst="rect">
            <a:avLst/>
          </a:prstGeom>
          <a:noFill/>
          <a:ln/>
        </p:spPr>
        <p:txBody>
          <a:bodyPr wrap="square" lIns="0" tIns="0" rIns="0" bIns="0" rtlCol="0" anchor="ctr"/>
          <a:lstStyle/>
          <a:p>
            <a:pPr algn="ctr" indent="0" marL="0">
              <a:buNone/>
            </a:pPr>
            <a:r>
              <a:rPr lang="en-US" sz="1700" dirty="0">
                <a:solidFill>
                  <a:schemeClr val="tx1"/>
                </a:solidFill>
              </a:rPr>
              <a:t>Ik probeer het</a:t>
            </a:r>
            <a:endParaRPr lang="en-US" sz="1700" dirty="0"/>
          </a:p>
        </p:txBody>
      </p:sp>
      <p:sp>
        <p:nvSpPr>
          <p:cNvPr id="50" name="Shape 47"/>
          <p:cNvSpPr/>
          <p:nvPr/>
        </p:nvSpPr>
        <p:spPr>
          <a:xfrm>
            <a:off x="2621036" y="5010912"/>
            <a:ext cx="672472" cy="475488"/>
          </a:xfrm>
          <a:prstGeom prst="roundRect">
            <a:avLst>
              <a:gd name="adj" fmla="val 15385"/>
            </a:avLst>
          </a:prstGeom>
          <a:solidFill>
            <a:schemeClr val="accent1"/>
          </a:solidFill>
          <a:ln w="12700">
            <a:solidFill>
              <a:srgbClr val="FFFFFF">
                <a:alpha val="0"/>
              </a:srgbClr>
            </a:solidFill>
            <a:prstDash val="solid"/>
          </a:ln>
        </p:spPr>
      </p:sp>
      <p:sp>
        <p:nvSpPr>
          <p:cNvPr id="51" name="Text 48"/>
          <p:cNvSpPr txBox="1"/>
          <p:nvPr/>
        </p:nvSpPr>
        <p:spPr>
          <a:xfrm>
            <a:off x="2621036" y="5010912"/>
            <a:ext cx="672472" cy="475488"/>
          </a:xfrm>
          <a:prstGeom prst="rect">
            <a:avLst/>
          </a:prstGeom>
          <a:noFill/>
          <a:ln/>
        </p:spPr>
        <p:txBody>
          <a:bodyPr wrap="square" lIns="0" tIns="0" rIns="0" bIns="0" rtlCol="0" anchor="ctr"/>
          <a:lstStyle/>
          <a:p>
            <a:pPr algn="ctr" indent="0" marL="0">
              <a:buNone/>
            </a:pPr>
            <a:r>
              <a:rPr lang="en-US" sz="1700" b="1" dirty="0">
                <a:solidFill>
                  <a:schemeClr val="bg1"/>
                </a:solidFill>
              </a:rPr>
              <a:t>af</a:t>
            </a:r>
            <a:endParaRPr lang="en-US" sz="1700" dirty="0"/>
          </a:p>
        </p:txBody>
      </p:sp>
      <p:sp>
        <p:nvSpPr>
          <p:cNvPr id="52" name="Text 49"/>
          <p:cNvSpPr txBox="1"/>
          <p:nvPr/>
        </p:nvSpPr>
        <p:spPr>
          <a:xfrm>
            <a:off x="3375804" y="5010912"/>
            <a:ext cx="672472" cy="475488"/>
          </a:xfrm>
          <a:prstGeom prst="rect">
            <a:avLst/>
          </a:prstGeom>
          <a:noFill/>
          <a:ln/>
        </p:spPr>
        <p:txBody>
          <a:bodyPr wrap="square" lIns="0" tIns="0" rIns="0" bIns="0" rtlCol="0" anchor="ctr"/>
          <a:lstStyle/>
          <a:p>
            <a:pPr algn="ctr" indent="0" marL="0">
              <a:buNone/>
            </a:pPr>
            <a:r>
              <a:rPr lang="en-US" sz="1700" b="1" dirty="0">
                <a:solidFill>
                  <a:schemeClr val="accent5"/>
                </a:solidFill>
              </a:rPr>
              <a:t>te</a:t>
            </a:r>
            <a:endParaRPr lang="en-US" sz="1700" dirty="0"/>
          </a:p>
        </p:txBody>
      </p:sp>
      <p:sp>
        <p:nvSpPr>
          <p:cNvPr id="53" name="Shape 50"/>
          <p:cNvSpPr/>
          <p:nvPr/>
        </p:nvSpPr>
        <p:spPr>
          <a:xfrm>
            <a:off x="4130572" y="5010912"/>
            <a:ext cx="1215669" cy="475488"/>
          </a:xfrm>
          <a:prstGeom prst="roundRect">
            <a:avLst>
              <a:gd name="adj" fmla="val 15385"/>
            </a:avLst>
          </a:prstGeom>
          <a:solidFill>
            <a:srgbClr val="FFFFFF"/>
          </a:solidFill>
          <a:ln w="25400">
            <a:solidFill>
              <a:srgbClr val="B83227"/>
            </a:solidFill>
            <a:prstDash val="dash"/>
          </a:ln>
        </p:spPr>
      </p:sp>
      <p:sp>
        <p:nvSpPr>
          <p:cNvPr id="54" name="Text 51"/>
          <p:cNvSpPr txBox="1"/>
          <p:nvPr/>
        </p:nvSpPr>
        <p:spPr>
          <a:xfrm>
            <a:off x="4130572" y="5010912"/>
            <a:ext cx="1215669" cy="475488"/>
          </a:xfrm>
          <a:prstGeom prst="rect">
            <a:avLst/>
          </a:prstGeom>
          <a:noFill/>
          <a:ln/>
        </p:spPr>
        <p:txBody>
          <a:bodyPr wrap="square" lIns="0" tIns="0" rIns="0" bIns="0" rtlCol="0" anchor="ctr"/>
          <a:lstStyle/>
          <a:p>
            <a:pPr algn="ctr" indent="0" marL="0">
              <a:buNone/>
            </a:pPr>
            <a:r>
              <a:rPr lang="en-US" sz="1700" b="1" dirty="0">
                <a:solidFill>
                  <a:schemeClr val="accent6"/>
                </a:solidFill>
              </a:rPr>
              <a:t>maken.</a:t>
            </a:r>
            <a:endParaRPr lang="en-US" sz="1700" dirty="0"/>
          </a:p>
        </p:txBody>
      </p:sp>
      <p:sp>
        <p:nvSpPr>
          <p:cNvPr id="55" name="Shape 52"/>
          <p:cNvSpPr/>
          <p:nvPr/>
        </p:nvSpPr>
        <p:spPr>
          <a:xfrm>
            <a:off x="6309360" y="5010912"/>
            <a:ext cx="1262604" cy="475488"/>
          </a:xfrm>
          <a:prstGeom prst="roundRect">
            <a:avLst>
              <a:gd name="adj" fmla="val 15385"/>
            </a:avLst>
          </a:prstGeom>
          <a:solidFill>
            <a:schemeClr val="bg1"/>
          </a:solidFill>
          <a:ln w="15875">
            <a:solidFill>
              <a:srgbClr val="D5DCE6"/>
            </a:solidFill>
            <a:prstDash val="solid"/>
          </a:ln>
        </p:spPr>
      </p:sp>
      <p:sp>
        <p:nvSpPr>
          <p:cNvPr id="56" name="Text 53"/>
          <p:cNvSpPr txBox="1"/>
          <p:nvPr/>
        </p:nvSpPr>
        <p:spPr>
          <a:xfrm>
            <a:off x="6309360" y="5010912"/>
            <a:ext cx="1262604" cy="475488"/>
          </a:xfrm>
          <a:prstGeom prst="rect">
            <a:avLst/>
          </a:prstGeom>
          <a:noFill/>
          <a:ln/>
        </p:spPr>
        <p:txBody>
          <a:bodyPr wrap="square" lIns="0" tIns="0" rIns="0" bIns="0" rtlCol="0" anchor="ctr"/>
          <a:lstStyle/>
          <a:p>
            <a:pPr algn="ctr" indent="0" marL="0">
              <a:buNone/>
            </a:pPr>
            <a:r>
              <a:rPr lang="en-US" sz="1700" dirty="0">
                <a:solidFill>
                  <a:schemeClr val="tx1"/>
                </a:solidFill>
              </a:rPr>
              <a:t>… zonder</a:t>
            </a:r>
            <a:endParaRPr lang="en-US" sz="1700" dirty="0"/>
          </a:p>
        </p:txBody>
      </p:sp>
      <p:sp>
        <p:nvSpPr>
          <p:cNvPr id="57" name="Shape 54"/>
          <p:cNvSpPr/>
          <p:nvPr/>
        </p:nvSpPr>
        <p:spPr>
          <a:xfrm>
            <a:off x="7654260" y="5010912"/>
            <a:ext cx="672472" cy="475488"/>
          </a:xfrm>
          <a:prstGeom prst="roundRect">
            <a:avLst>
              <a:gd name="adj" fmla="val 15385"/>
            </a:avLst>
          </a:prstGeom>
          <a:solidFill>
            <a:schemeClr val="accent1"/>
          </a:solidFill>
          <a:ln w="12700">
            <a:solidFill>
              <a:srgbClr val="FFFFFF">
                <a:alpha val="0"/>
              </a:srgbClr>
            </a:solidFill>
            <a:prstDash val="solid"/>
          </a:ln>
        </p:spPr>
      </p:sp>
      <p:sp>
        <p:nvSpPr>
          <p:cNvPr id="58" name="Text 55"/>
          <p:cNvSpPr txBox="1"/>
          <p:nvPr/>
        </p:nvSpPr>
        <p:spPr>
          <a:xfrm>
            <a:off x="7654260" y="5010912"/>
            <a:ext cx="672472" cy="475488"/>
          </a:xfrm>
          <a:prstGeom prst="rect">
            <a:avLst/>
          </a:prstGeom>
          <a:noFill/>
          <a:ln/>
        </p:spPr>
        <p:txBody>
          <a:bodyPr wrap="square" lIns="0" tIns="0" rIns="0" bIns="0" rtlCol="0" anchor="ctr"/>
          <a:lstStyle/>
          <a:p>
            <a:pPr algn="ctr" indent="0" marL="0">
              <a:buNone/>
            </a:pPr>
            <a:r>
              <a:rPr lang="en-US" sz="1700" b="1" dirty="0">
                <a:solidFill>
                  <a:schemeClr val="bg1"/>
                </a:solidFill>
              </a:rPr>
              <a:t>op</a:t>
            </a:r>
            <a:endParaRPr lang="en-US" sz="1700" dirty="0"/>
          </a:p>
        </p:txBody>
      </p:sp>
      <p:sp>
        <p:nvSpPr>
          <p:cNvPr id="59" name="Text 56"/>
          <p:cNvSpPr txBox="1"/>
          <p:nvPr/>
        </p:nvSpPr>
        <p:spPr>
          <a:xfrm>
            <a:off x="8409027" y="5010912"/>
            <a:ext cx="672472" cy="475488"/>
          </a:xfrm>
          <a:prstGeom prst="rect">
            <a:avLst/>
          </a:prstGeom>
          <a:noFill/>
          <a:ln/>
        </p:spPr>
        <p:txBody>
          <a:bodyPr wrap="square" lIns="0" tIns="0" rIns="0" bIns="0" rtlCol="0" anchor="ctr"/>
          <a:lstStyle/>
          <a:p>
            <a:pPr algn="ctr" indent="0" marL="0">
              <a:buNone/>
            </a:pPr>
            <a:r>
              <a:rPr lang="en-US" sz="1700" b="1" dirty="0">
                <a:solidFill>
                  <a:schemeClr val="accent5"/>
                </a:solidFill>
              </a:rPr>
              <a:t>te</a:t>
            </a:r>
            <a:endParaRPr lang="en-US" sz="1700" dirty="0"/>
          </a:p>
        </p:txBody>
      </p:sp>
      <p:sp>
        <p:nvSpPr>
          <p:cNvPr id="60" name="Shape 57"/>
          <p:cNvSpPr/>
          <p:nvPr/>
        </p:nvSpPr>
        <p:spPr>
          <a:xfrm>
            <a:off x="9163795" y="5010912"/>
            <a:ext cx="1351469" cy="475488"/>
          </a:xfrm>
          <a:prstGeom prst="roundRect">
            <a:avLst>
              <a:gd name="adj" fmla="val 15385"/>
            </a:avLst>
          </a:prstGeom>
          <a:solidFill>
            <a:srgbClr val="FFFFFF"/>
          </a:solidFill>
          <a:ln w="25400">
            <a:solidFill>
              <a:srgbClr val="B83227"/>
            </a:solidFill>
            <a:prstDash val="dash"/>
          </a:ln>
        </p:spPr>
      </p:sp>
      <p:sp>
        <p:nvSpPr>
          <p:cNvPr id="61" name="Text 58"/>
          <p:cNvSpPr txBox="1"/>
          <p:nvPr/>
        </p:nvSpPr>
        <p:spPr>
          <a:xfrm>
            <a:off x="9163795" y="5010912"/>
            <a:ext cx="1351469" cy="475488"/>
          </a:xfrm>
          <a:prstGeom prst="rect">
            <a:avLst/>
          </a:prstGeom>
          <a:noFill/>
          <a:ln/>
        </p:spPr>
        <p:txBody>
          <a:bodyPr wrap="square" lIns="0" tIns="0" rIns="0" bIns="0" rtlCol="0" anchor="ctr"/>
          <a:lstStyle/>
          <a:p>
            <a:pPr algn="ctr" indent="0" marL="0">
              <a:buNone/>
            </a:pPr>
            <a:r>
              <a:rPr lang="en-US" sz="1700" b="1" dirty="0">
                <a:solidFill>
                  <a:schemeClr val="accent6"/>
                </a:solidFill>
              </a:rPr>
              <a:t>letten.</a:t>
            </a:r>
            <a:endParaRPr lang="en-US" sz="1700" dirty="0"/>
          </a:p>
        </p:txBody>
      </p:sp>
      <p:sp>
        <p:nvSpPr>
          <p:cNvPr id="62" name="Shape 59"/>
          <p:cNvSpPr/>
          <p:nvPr/>
        </p:nvSpPr>
        <p:spPr>
          <a:xfrm>
            <a:off x="548640" y="5596128"/>
            <a:ext cx="11091672" cy="658368"/>
          </a:xfrm>
          <a:prstGeom prst="roundRect">
            <a:avLst>
              <a:gd name="adj" fmla="val 11111"/>
            </a:avLst>
          </a:prstGeom>
          <a:solidFill>
            <a:schemeClr val="tx2"/>
          </a:solidFill>
          <a:ln w="12700">
            <a:solidFill>
              <a:srgbClr val="FFFFFF">
                <a:alpha val="0"/>
              </a:srgbClr>
            </a:solidFill>
            <a:prstDash val="solid"/>
          </a:ln>
        </p:spPr>
      </p:sp>
      <p:sp>
        <p:nvSpPr>
          <p:cNvPr id="63" name="Text 60"/>
          <p:cNvSpPr txBox="1"/>
          <p:nvPr/>
        </p:nvSpPr>
        <p:spPr>
          <a:xfrm>
            <a:off x="822960" y="5596128"/>
            <a:ext cx="10607040" cy="658368"/>
          </a:xfrm>
          <a:prstGeom prst="rect">
            <a:avLst/>
          </a:prstGeom>
          <a:noFill/>
          <a:ln/>
        </p:spPr>
        <p:txBody>
          <a:bodyPr wrap="square" lIns="0" tIns="0" rIns="0" bIns="0" rtlCol="0" anchor="ctr"/>
          <a:lstStyle/>
          <a:p>
            <a:pPr algn="l" indent="0" marL="0">
              <a:buNone/>
            </a:pPr>
            <a:r>
              <a:rPr lang="en-US" sz="1500" dirty="0">
                <a:solidFill>
                  <a:schemeClr val="bg1"/>
                </a:solidFill>
              </a:rPr>
              <a:t>Avec </a:t>
            </a:r>
            <a:r>
              <a:rPr lang="en-US" sz="1500" i="1" dirty="0">
                <a:solidFill>
                  <a:schemeClr val="bg1"/>
                </a:solidFill>
              </a:rPr>
              <a:t>te</a:t>
            </a:r>
            <a:r>
              <a:rPr lang="en-US" sz="1500" dirty="0">
                <a:solidFill>
                  <a:schemeClr val="bg1"/>
                </a:solidFill>
              </a:rPr>
              <a:t> : </a:t>
            </a:r>
            <a:r>
              <a:rPr lang="en-US" sz="1500" b="1" dirty="0">
                <a:solidFill>
                  <a:schemeClr val="bg1"/>
                </a:solidFill>
              </a:rPr>
              <a:t>particule + te + verbe</a:t>
            </a:r>
            <a:r>
              <a:rPr lang="en-US" sz="1500" dirty="0">
                <a:solidFill>
                  <a:schemeClr val="bg1"/>
                </a:solidFill>
              </a:rPr>
              <a:t> (</a:t>
            </a:r>
            <a:r>
              <a:rPr lang="en-US" sz="1500" i="1" dirty="0">
                <a:solidFill>
                  <a:schemeClr val="bg1"/>
                </a:solidFill>
              </a:rPr>
              <a:t>na te lezen · af te maken</a:t>
            </a:r>
            <a:r>
              <a:rPr lang="en-US" sz="1500" dirty="0">
                <a:solidFill>
                  <a:schemeClr val="bg1"/>
                </a:solidFill>
              </a:rPr>
              <a:t>). Avec un modal, deux ordres : </a:t>
            </a:r>
            <a:r>
              <a:rPr lang="en-US" sz="1500" i="1" dirty="0">
                <a:solidFill>
                  <a:schemeClr val="bg1"/>
                </a:solidFill>
              </a:rPr>
              <a:t>om het af te kunnen maken = om het te kunnen afmaken</a:t>
            </a:r>
            <a:r>
              <a:rPr lang="en-US" sz="1500" dirty="0">
                <a:solidFill>
                  <a:schemeClr val="bg1"/>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Stratégie : deviner un verbe inconnu</a:t>
            </a:r>
            <a:endParaRPr lang="en-US" sz="3000" dirty="0"/>
          </a:p>
        </p:txBody>
      </p:sp>
      <p:sp>
        <p:nvSpPr>
          <p:cNvPr id="3" name="tag"/>
          <p:cNvSpPr/>
          <p:nvPr/>
        </p:nvSpPr>
        <p:spPr>
          <a:xfrm>
            <a:off x="548640" y="237744"/>
            <a:ext cx="1230782"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MÉTHODE</a:t>
            </a:r>
            <a:endParaRPr lang="en-US" sz="1200" dirty="0"/>
          </a:p>
        </p:txBody>
      </p:sp>
      <p:sp>
        <p:nvSpPr>
          <p:cNvPr id="5" name="Shape 2"/>
          <p:cNvSpPr/>
          <p:nvPr/>
        </p:nvSpPr>
        <p:spPr>
          <a:xfrm>
            <a:off x="548640" y="1554480"/>
            <a:ext cx="3593592" cy="1097280"/>
          </a:xfrm>
          <a:prstGeom prst="roundRect">
            <a:avLst>
              <a:gd name="adj" fmla="val 8333"/>
            </a:avLst>
          </a:prstGeom>
          <a:solidFill>
            <a:srgbClr val="EAF2FB"/>
          </a:solidFill>
          <a:ln w="19050">
            <a:solidFill>
              <a:srgbClr val="2A6FB0"/>
            </a:solidFill>
            <a:prstDash val="solid"/>
          </a:ln>
        </p:spPr>
      </p:sp>
      <p:sp>
        <p:nvSpPr>
          <p:cNvPr id="6" name="Shape 3"/>
          <p:cNvSpPr/>
          <p:nvPr/>
        </p:nvSpPr>
        <p:spPr>
          <a:xfrm>
            <a:off x="685800" y="1783080"/>
            <a:ext cx="548640" cy="548640"/>
          </a:xfrm>
          <a:prstGeom prst="ellipse">
            <a:avLst/>
          </a:prstGeom>
          <a:solidFill>
            <a:schemeClr val="accent2"/>
          </a:solidFill>
          <a:ln w="12700">
            <a:solidFill>
              <a:srgbClr val="FFFFFF">
                <a:alpha val="0"/>
              </a:srgbClr>
            </a:solidFill>
            <a:prstDash val="solid"/>
          </a:ln>
        </p:spPr>
      </p:sp>
      <p:sp>
        <p:nvSpPr>
          <p:cNvPr id="7" name="Text 4"/>
          <p:cNvSpPr txBox="1"/>
          <p:nvPr/>
        </p:nvSpPr>
        <p:spPr>
          <a:xfrm>
            <a:off x="685800" y="178308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pic>
        <p:nvPicPr>
          <p:cNvPr id="8" name="Image 0" descr="green book">    </p:cNvPr>
          <p:cNvPicPr>
            <a:picLocks noChangeAspect="1"/>
          </p:cNvPicPr>
          <p:nvPr/>
        </p:nvPicPr>
        <p:blipFill>
          <a:blip r:embed="rId1"/>
          <a:stretch>
            <a:fillRect/>
          </a:stretch>
        </p:blipFill>
        <p:spPr>
          <a:xfrm>
            <a:off x="1371600" y="1874520"/>
            <a:ext cx="411480" cy="411480"/>
          </a:xfrm>
          <a:prstGeom prst="rect">
            <a:avLst/>
          </a:prstGeom>
        </p:spPr>
      </p:pic>
      <p:sp>
        <p:nvSpPr>
          <p:cNvPr id="9" name="Text 5"/>
          <p:cNvSpPr txBox="1"/>
          <p:nvPr/>
        </p:nvSpPr>
        <p:spPr>
          <a:xfrm>
            <a:off x="1920240" y="1554480"/>
            <a:ext cx="2148840" cy="1097280"/>
          </a:xfrm>
          <a:prstGeom prst="rect">
            <a:avLst/>
          </a:prstGeom>
          <a:noFill/>
          <a:ln/>
        </p:spPr>
        <p:txBody>
          <a:bodyPr wrap="square" lIns="0" tIns="0" rIns="0" bIns="0" rtlCol="0" anchor="ctr"/>
          <a:lstStyle/>
          <a:p>
            <a:pPr algn="l" indent="0" marL="0">
              <a:buNone/>
            </a:pPr>
            <a:r>
              <a:rPr lang="en-US" sz="1500" dirty="0">
                <a:solidFill>
                  <a:schemeClr val="tx1"/>
                </a:solidFill>
              </a:rPr>
              <a:t>Que veut dire le </a:t>
            </a:r>
            <a:r>
              <a:rPr lang="en-US" sz="1500" b="1" dirty="0">
                <a:solidFill>
                  <a:schemeClr val="tx1"/>
                </a:solidFill>
              </a:rPr>
              <a:t>verbe de base</a:t>
            </a:r>
            <a:r>
              <a:rPr lang="en-US" sz="1500" dirty="0">
                <a:solidFill>
                  <a:schemeClr val="tx1"/>
                </a:solidFill>
              </a:rPr>
              <a:t> ?</a:t>
            </a:r>
            <a:endParaRPr lang="en-US" sz="1500" dirty="0"/>
          </a:p>
        </p:txBody>
      </p:sp>
      <p:sp>
        <p:nvSpPr>
          <p:cNvPr id="10" name="Shape 6"/>
          <p:cNvSpPr/>
          <p:nvPr/>
        </p:nvSpPr>
        <p:spPr>
          <a:xfrm>
            <a:off x="4297680" y="1554480"/>
            <a:ext cx="3593592" cy="1097280"/>
          </a:xfrm>
          <a:prstGeom prst="roundRect">
            <a:avLst>
              <a:gd name="adj" fmla="val 8333"/>
            </a:avLst>
          </a:prstGeom>
          <a:solidFill>
            <a:srgbClr val="EAF2FB"/>
          </a:solidFill>
          <a:ln w="19050">
            <a:solidFill>
              <a:srgbClr val="2A6FB0"/>
            </a:solidFill>
            <a:prstDash val="solid"/>
          </a:ln>
        </p:spPr>
      </p:sp>
      <p:sp>
        <p:nvSpPr>
          <p:cNvPr id="11" name="Shape 7"/>
          <p:cNvSpPr/>
          <p:nvPr/>
        </p:nvSpPr>
        <p:spPr>
          <a:xfrm>
            <a:off x="4434840" y="1783080"/>
            <a:ext cx="548640" cy="548640"/>
          </a:xfrm>
          <a:prstGeom prst="ellipse">
            <a:avLst/>
          </a:prstGeom>
          <a:solidFill>
            <a:schemeClr val="accent2"/>
          </a:solidFill>
          <a:ln w="12700">
            <a:solidFill>
              <a:srgbClr val="FFFFFF">
                <a:alpha val="0"/>
              </a:srgbClr>
            </a:solidFill>
            <a:prstDash val="solid"/>
          </a:ln>
        </p:spPr>
      </p:sp>
      <p:sp>
        <p:nvSpPr>
          <p:cNvPr id="12" name="Text 8"/>
          <p:cNvSpPr txBox="1"/>
          <p:nvPr/>
        </p:nvSpPr>
        <p:spPr>
          <a:xfrm>
            <a:off x="4434840" y="178308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pic>
        <p:nvPicPr>
          <p:cNvPr id="13" name="Image 1" descr="compass">    </p:cNvPr>
          <p:cNvPicPr>
            <a:picLocks noChangeAspect="1"/>
          </p:cNvPicPr>
          <p:nvPr/>
        </p:nvPicPr>
        <p:blipFill>
          <a:blip r:embed="rId2"/>
          <a:stretch>
            <a:fillRect/>
          </a:stretch>
        </p:blipFill>
        <p:spPr>
          <a:xfrm>
            <a:off x="5120640" y="1874520"/>
            <a:ext cx="411480" cy="411480"/>
          </a:xfrm>
          <a:prstGeom prst="rect">
            <a:avLst/>
          </a:prstGeom>
        </p:spPr>
      </p:pic>
      <p:sp>
        <p:nvSpPr>
          <p:cNvPr id="14" name="Text 9"/>
          <p:cNvSpPr txBox="1"/>
          <p:nvPr/>
        </p:nvSpPr>
        <p:spPr>
          <a:xfrm>
            <a:off x="5669280" y="1554480"/>
            <a:ext cx="2148840" cy="1097280"/>
          </a:xfrm>
          <a:prstGeom prst="rect">
            <a:avLst/>
          </a:prstGeom>
          <a:noFill/>
          <a:ln/>
        </p:spPr>
        <p:txBody>
          <a:bodyPr wrap="square" lIns="0" tIns="0" rIns="0" bIns="0" rtlCol="0" anchor="ctr"/>
          <a:lstStyle/>
          <a:p>
            <a:pPr algn="l" indent="0" marL="0">
              <a:buNone/>
            </a:pPr>
            <a:r>
              <a:rPr lang="en-US" sz="1500" dirty="0">
                <a:solidFill>
                  <a:schemeClr val="tx1"/>
                </a:solidFill>
              </a:rPr>
              <a:t>Quel sens apporte la </a:t>
            </a:r>
            <a:r>
              <a:rPr lang="en-US" sz="1500" b="1" dirty="0">
                <a:solidFill>
                  <a:schemeClr val="tx1"/>
                </a:solidFill>
              </a:rPr>
              <a:t>particule</a:t>
            </a:r>
            <a:r>
              <a:rPr lang="en-US" sz="1500" dirty="0">
                <a:solidFill>
                  <a:schemeClr val="tx1"/>
                </a:solidFill>
              </a:rPr>
              <a:t> (diapos 6 à 13) ?</a:t>
            </a:r>
            <a:endParaRPr lang="en-US" sz="1500" dirty="0"/>
          </a:p>
        </p:txBody>
      </p:sp>
      <p:sp>
        <p:nvSpPr>
          <p:cNvPr id="15" name="Shape 10"/>
          <p:cNvSpPr/>
          <p:nvPr/>
        </p:nvSpPr>
        <p:spPr>
          <a:xfrm>
            <a:off x="8046720" y="1554480"/>
            <a:ext cx="3593592" cy="1097280"/>
          </a:xfrm>
          <a:prstGeom prst="roundRect">
            <a:avLst>
              <a:gd name="adj" fmla="val 8333"/>
            </a:avLst>
          </a:prstGeom>
          <a:solidFill>
            <a:srgbClr val="EAF2FB"/>
          </a:solidFill>
          <a:ln w="19050">
            <a:solidFill>
              <a:srgbClr val="2A6FB0"/>
            </a:solidFill>
            <a:prstDash val="solid"/>
          </a:ln>
        </p:spPr>
      </p:sp>
      <p:sp>
        <p:nvSpPr>
          <p:cNvPr id="16" name="Shape 11"/>
          <p:cNvSpPr/>
          <p:nvPr/>
        </p:nvSpPr>
        <p:spPr>
          <a:xfrm>
            <a:off x="8183880" y="1783080"/>
            <a:ext cx="548640" cy="548640"/>
          </a:xfrm>
          <a:prstGeom prst="ellipse">
            <a:avLst/>
          </a:prstGeom>
          <a:solidFill>
            <a:schemeClr val="accent2"/>
          </a:solidFill>
          <a:ln w="12700">
            <a:solidFill>
              <a:srgbClr val="FFFFFF">
                <a:alpha val="0"/>
              </a:srgbClr>
            </a:solidFill>
            <a:prstDash val="solid"/>
          </a:ln>
        </p:spPr>
      </p:sp>
      <p:sp>
        <p:nvSpPr>
          <p:cNvPr id="17" name="Text 12"/>
          <p:cNvSpPr txBox="1"/>
          <p:nvPr/>
        </p:nvSpPr>
        <p:spPr>
          <a:xfrm>
            <a:off x="8183880" y="178308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pic>
        <p:nvPicPr>
          <p:cNvPr id="18" name="Image 2" descr="Search">    </p:cNvPr>
          <p:cNvPicPr>
            <a:picLocks noChangeAspect="1"/>
          </p:cNvPicPr>
          <p:nvPr/>
        </p:nvPicPr>
        <p:blipFill>
          <a:blip r:embed="rId3"/>
          <a:stretch>
            <a:fillRect/>
          </a:stretch>
        </p:blipFill>
        <p:spPr>
          <a:xfrm>
            <a:off x="8869680" y="1874520"/>
            <a:ext cx="411480" cy="411480"/>
          </a:xfrm>
          <a:prstGeom prst="rect">
            <a:avLst/>
          </a:prstGeom>
        </p:spPr>
      </p:pic>
      <p:sp>
        <p:nvSpPr>
          <p:cNvPr id="19" name="Text 13"/>
          <p:cNvSpPr txBox="1"/>
          <p:nvPr/>
        </p:nvSpPr>
        <p:spPr>
          <a:xfrm>
            <a:off x="9418320" y="1554480"/>
            <a:ext cx="2148840" cy="1097280"/>
          </a:xfrm>
          <a:prstGeom prst="rect">
            <a:avLst/>
          </a:prstGeom>
          <a:noFill/>
          <a:ln/>
        </p:spPr>
        <p:txBody>
          <a:bodyPr wrap="square" lIns="0" tIns="0" rIns="0" bIns="0" rtlCol="0" anchor="ctr"/>
          <a:lstStyle/>
          <a:p>
            <a:pPr algn="l" indent="0" marL="0">
              <a:buNone/>
            </a:pPr>
            <a:r>
              <a:rPr lang="en-US" sz="1500" dirty="0">
                <a:solidFill>
                  <a:schemeClr val="tx1"/>
                </a:solidFill>
              </a:rPr>
              <a:t>Que dit le </a:t>
            </a:r>
            <a:r>
              <a:rPr lang="en-US" sz="1500" b="1" dirty="0">
                <a:solidFill>
                  <a:schemeClr val="tx1"/>
                </a:solidFill>
              </a:rPr>
              <a:t>contexte</a:t>
            </a:r>
            <a:r>
              <a:rPr lang="en-US" sz="1500" dirty="0">
                <a:solidFill>
                  <a:schemeClr val="tx1"/>
                </a:solidFill>
              </a:rPr>
              <a:t> ?</a:t>
            </a:r>
            <a:endParaRPr lang="en-US" sz="1500" dirty="0"/>
          </a:p>
        </p:txBody>
      </p:sp>
      <p:sp>
        <p:nvSpPr>
          <p:cNvPr id="20" name="Shape 14"/>
          <p:cNvSpPr/>
          <p:nvPr/>
        </p:nvSpPr>
        <p:spPr>
          <a:xfrm>
            <a:off x="548640" y="2880360"/>
            <a:ext cx="8229600" cy="475488"/>
          </a:xfrm>
          <a:prstGeom prst="roundRect">
            <a:avLst>
              <a:gd name="adj" fmla="val 15385"/>
            </a:avLst>
          </a:prstGeom>
          <a:solidFill>
            <a:schemeClr val="bg2"/>
          </a:solidFill>
          <a:ln w="9525">
            <a:solidFill>
              <a:srgbClr val="D5DCE6"/>
            </a:solidFill>
            <a:prstDash val="solid"/>
          </a:ln>
        </p:spPr>
      </p:sp>
      <p:sp>
        <p:nvSpPr>
          <p:cNvPr id="21" name="Shape 15"/>
          <p:cNvSpPr/>
          <p:nvPr/>
        </p:nvSpPr>
        <p:spPr>
          <a:xfrm>
            <a:off x="548640" y="2880360"/>
            <a:ext cx="164592" cy="475488"/>
          </a:xfrm>
          <a:prstGeom prst="rect">
            <a:avLst/>
          </a:prstGeom>
          <a:solidFill>
            <a:schemeClr val="accent1"/>
          </a:solidFill>
          <a:ln w="12700">
            <a:solidFill>
              <a:srgbClr val="FFFFFF">
                <a:alpha val="0"/>
              </a:srgbClr>
            </a:solidFill>
            <a:prstDash val="solid"/>
          </a:ln>
        </p:spPr>
      </p:sp>
      <p:sp>
        <p:nvSpPr>
          <p:cNvPr id="22" name="Text 16"/>
          <p:cNvSpPr txBox="1"/>
          <p:nvPr/>
        </p:nvSpPr>
        <p:spPr>
          <a:xfrm>
            <a:off x="868680" y="2880360"/>
            <a:ext cx="7772400" cy="475488"/>
          </a:xfrm>
          <a:prstGeom prst="rect">
            <a:avLst/>
          </a:prstGeom>
          <a:noFill/>
          <a:ln/>
        </p:spPr>
        <p:txBody>
          <a:bodyPr wrap="square" lIns="0" tIns="0" rIns="0" bIns="0" rtlCol="0" anchor="ctr"/>
          <a:lstStyle/>
          <a:p>
            <a:pPr algn="l" indent="0" marL="0">
              <a:buNone/>
            </a:pPr>
            <a:r>
              <a:rPr lang="en-US" sz="1700" i="1" dirty="0">
                <a:solidFill>
                  <a:schemeClr val="tx1"/>
                </a:solidFill>
              </a:rPr>
              <a:t>Kun je dat even </a:t>
            </a:r>
            <a:r>
              <a:rPr lang="en-US" sz="1700" b="1" i="1" dirty="0">
                <a:solidFill>
                  <a:schemeClr val="tx1"/>
                </a:solidFill>
              </a:rPr>
              <a:t>uit</a:t>
            </a:r>
            <a:r>
              <a:rPr lang="en-US" sz="1700" i="1" dirty="0">
                <a:solidFill>
                  <a:schemeClr val="tx1"/>
                </a:solidFill>
              </a:rPr>
              <a:t>printen?</a:t>
            </a:r>
            <a:endParaRPr lang="en-US" sz="1700" dirty="0"/>
          </a:p>
        </p:txBody>
      </p:sp>
      <p:sp>
        <p:nvSpPr>
          <p:cNvPr id="23" name="Shape 17"/>
          <p:cNvSpPr/>
          <p:nvPr/>
        </p:nvSpPr>
        <p:spPr>
          <a:xfrm>
            <a:off x="8915400" y="2880360"/>
            <a:ext cx="2724912" cy="475488"/>
          </a:xfrm>
          <a:prstGeom prst="roundRect">
            <a:avLst>
              <a:gd name="adj" fmla="val 15385"/>
            </a:avLst>
          </a:prstGeom>
          <a:solidFill>
            <a:srgbClr val="FFFFFF"/>
          </a:solidFill>
          <a:ln w="12700">
            <a:solidFill>
              <a:srgbClr val="D5DCE6"/>
            </a:solidFill>
            <a:prstDash val="dash"/>
          </a:ln>
        </p:spPr>
      </p:sp>
      <p:sp>
        <p:nvSpPr>
          <p:cNvPr id="24" name="Text 18"/>
          <p:cNvSpPr txBox="1"/>
          <p:nvPr/>
        </p:nvSpPr>
        <p:spPr>
          <a:xfrm>
            <a:off x="8915400" y="2880360"/>
            <a:ext cx="2724912" cy="475488"/>
          </a:xfrm>
          <a:prstGeom prst="rect">
            <a:avLst/>
          </a:prstGeom>
          <a:noFill/>
          <a:ln/>
        </p:spPr>
        <p:txBody>
          <a:bodyPr wrap="square" lIns="0" tIns="0" rIns="0" bIns="0" rtlCol="0" anchor="ctr"/>
          <a:lstStyle/>
          <a:p>
            <a:pPr algn="ctr" indent="0" marL="0">
              <a:buNone/>
            </a:pPr>
            <a:r>
              <a:rPr lang="en-US" sz="1600" dirty="0">
                <a:solidFill>
                  <a:schemeClr val="accent5"/>
                </a:solidFill>
              </a:rPr>
              <a:t>= ?</a:t>
            </a:r>
            <a:endParaRPr lang="en-US" sz="1600" dirty="0"/>
          </a:p>
        </p:txBody>
      </p:sp>
      <p:sp>
        <p:nvSpPr>
          <p:cNvPr id="25" name="Shape 19"/>
          <p:cNvSpPr/>
          <p:nvPr/>
        </p:nvSpPr>
        <p:spPr>
          <a:xfrm>
            <a:off x="548640" y="3429000"/>
            <a:ext cx="8229600" cy="475488"/>
          </a:xfrm>
          <a:prstGeom prst="roundRect">
            <a:avLst>
              <a:gd name="adj" fmla="val 15385"/>
            </a:avLst>
          </a:prstGeom>
          <a:solidFill>
            <a:srgbClr val="FFFFFF"/>
          </a:solidFill>
          <a:ln w="9525">
            <a:solidFill>
              <a:srgbClr val="D5DCE6"/>
            </a:solidFill>
            <a:prstDash val="solid"/>
          </a:ln>
        </p:spPr>
      </p:sp>
      <p:sp>
        <p:nvSpPr>
          <p:cNvPr id="26" name="Shape 20"/>
          <p:cNvSpPr/>
          <p:nvPr/>
        </p:nvSpPr>
        <p:spPr>
          <a:xfrm>
            <a:off x="548640" y="3429000"/>
            <a:ext cx="164592" cy="475488"/>
          </a:xfrm>
          <a:prstGeom prst="rect">
            <a:avLst/>
          </a:prstGeom>
          <a:solidFill>
            <a:schemeClr val="accent4"/>
          </a:solidFill>
          <a:ln w="12700">
            <a:solidFill>
              <a:srgbClr val="FFFFFF">
                <a:alpha val="0"/>
              </a:srgbClr>
            </a:solidFill>
            <a:prstDash val="solid"/>
          </a:ln>
        </p:spPr>
      </p:sp>
      <p:sp>
        <p:nvSpPr>
          <p:cNvPr id="27" name="Text 21"/>
          <p:cNvSpPr txBox="1"/>
          <p:nvPr/>
        </p:nvSpPr>
        <p:spPr>
          <a:xfrm>
            <a:off x="868680" y="3429000"/>
            <a:ext cx="7772400" cy="475488"/>
          </a:xfrm>
          <a:prstGeom prst="rect">
            <a:avLst/>
          </a:prstGeom>
          <a:noFill/>
          <a:ln/>
        </p:spPr>
        <p:txBody>
          <a:bodyPr wrap="square" lIns="0" tIns="0" rIns="0" bIns="0" rtlCol="0" anchor="ctr"/>
          <a:lstStyle/>
          <a:p>
            <a:pPr algn="l" indent="0" marL="0">
              <a:buNone/>
            </a:pPr>
            <a:r>
              <a:rPr lang="en-US" sz="1700" i="1" dirty="0">
                <a:solidFill>
                  <a:schemeClr val="tx1"/>
                </a:solidFill>
              </a:rPr>
              <a:t>We moeten papier </a:t>
            </a:r>
            <a:r>
              <a:rPr lang="en-US" sz="1700" b="1" i="1" dirty="0">
                <a:solidFill>
                  <a:schemeClr val="tx1"/>
                </a:solidFill>
              </a:rPr>
              <a:t>bij</a:t>
            </a:r>
            <a:r>
              <a:rPr lang="en-US" sz="1700" i="1" dirty="0">
                <a:solidFill>
                  <a:schemeClr val="tx1"/>
                </a:solidFill>
              </a:rPr>
              <a:t>bestellen.</a:t>
            </a:r>
            <a:endParaRPr lang="en-US" sz="1700" dirty="0"/>
          </a:p>
        </p:txBody>
      </p:sp>
      <p:sp>
        <p:nvSpPr>
          <p:cNvPr id="28" name="Shape 22"/>
          <p:cNvSpPr/>
          <p:nvPr/>
        </p:nvSpPr>
        <p:spPr>
          <a:xfrm>
            <a:off x="8915400" y="3429000"/>
            <a:ext cx="2724912" cy="475488"/>
          </a:xfrm>
          <a:prstGeom prst="roundRect">
            <a:avLst>
              <a:gd name="adj" fmla="val 15385"/>
            </a:avLst>
          </a:prstGeom>
          <a:solidFill>
            <a:srgbClr val="FFFFFF"/>
          </a:solidFill>
          <a:ln w="12700">
            <a:solidFill>
              <a:srgbClr val="D5DCE6"/>
            </a:solidFill>
            <a:prstDash val="dash"/>
          </a:ln>
        </p:spPr>
      </p:sp>
      <p:sp>
        <p:nvSpPr>
          <p:cNvPr id="29" name="Text 23"/>
          <p:cNvSpPr txBox="1"/>
          <p:nvPr/>
        </p:nvSpPr>
        <p:spPr>
          <a:xfrm>
            <a:off x="8915400" y="3429000"/>
            <a:ext cx="2724912" cy="475488"/>
          </a:xfrm>
          <a:prstGeom prst="rect">
            <a:avLst/>
          </a:prstGeom>
          <a:noFill/>
          <a:ln/>
        </p:spPr>
        <p:txBody>
          <a:bodyPr wrap="square" lIns="0" tIns="0" rIns="0" bIns="0" rtlCol="0" anchor="ctr"/>
          <a:lstStyle/>
          <a:p>
            <a:pPr algn="ctr" indent="0" marL="0">
              <a:buNone/>
            </a:pPr>
            <a:r>
              <a:rPr lang="en-US" sz="1600" dirty="0">
                <a:solidFill>
                  <a:schemeClr val="accent5"/>
                </a:solidFill>
              </a:rPr>
              <a:t>= ?</a:t>
            </a:r>
            <a:endParaRPr lang="en-US" sz="1600" dirty="0"/>
          </a:p>
        </p:txBody>
      </p:sp>
      <p:sp>
        <p:nvSpPr>
          <p:cNvPr id="30" name="Shape 24"/>
          <p:cNvSpPr/>
          <p:nvPr/>
        </p:nvSpPr>
        <p:spPr>
          <a:xfrm>
            <a:off x="548640" y="3977640"/>
            <a:ext cx="8229600" cy="475488"/>
          </a:xfrm>
          <a:prstGeom prst="roundRect">
            <a:avLst>
              <a:gd name="adj" fmla="val 15385"/>
            </a:avLst>
          </a:prstGeom>
          <a:solidFill>
            <a:schemeClr val="bg2"/>
          </a:solidFill>
          <a:ln w="9525">
            <a:solidFill>
              <a:srgbClr val="D5DCE6"/>
            </a:solidFill>
            <a:prstDash val="solid"/>
          </a:ln>
        </p:spPr>
      </p:sp>
      <p:sp>
        <p:nvSpPr>
          <p:cNvPr id="31" name="Shape 25"/>
          <p:cNvSpPr/>
          <p:nvPr/>
        </p:nvSpPr>
        <p:spPr>
          <a:xfrm>
            <a:off x="548640" y="3977640"/>
            <a:ext cx="164592" cy="475488"/>
          </a:xfrm>
          <a:prstGeom prst="rect">
            <a:avLst/>
          </a:prstGeom>
          <a:solidFill>
            <a:schemeClr val="tx2"/>
          </a:solidFill>
          <a:ln w="12700">
            <a:solidFill>
              <a:srgbClr val="FFFFFF">
                <a:alpha val="0"/>
              </a:srgbClr>
            </a:solidFill>
            <a:prstDash val="solid"/>
          </a:ln>
        </p:spPr>
      </p:sp>
      <p:sp>
        <p:nvSpPr>
          <p:cNvPr id="32" name="Text 26"/>
          <p:cNvSpPr txBox="1"/>
          <p:nvPr/>
        </p:nvSpPr>
        <p:spPr>
          <a:xfrm>
            <a:off x="868680" y="3977640"/>
            <a:ext cx="7772400" cy="475488"/>
          </a:xfrm>
          <a:prstGeom prst="rect">
            <a:avLst/>
          </a:prstGeom>
          <a:noFill/>
          <a:ln/>
        </p:spPr>
        <p:txBody>
          <a:bodyPr wrap="square" lIns="0" tIns="0" rIns="0" bIns="0" rtlCol="0" anchor="ctr"/>
          <a:lstStyle/>
          <a:p>
            <a:pPr algn="l" indent="0" marL="0">
              <a:buNone/>
            </a:pPr>
            <a:r>
              <a:rPr lang="en-US" sz="1700" i="1" dirty="0">
                <a:solidFill>
                  <a:schemeClr val="tx1"/>
                </a:solidFill>
              </a:rPr>
              <a:t>Wil je de klant </a:t>
            </a:r>
            <a:r>
              <a:rPr lang="en-US" sz="1700" b="1" i="1" dirty="0">
                <a:solidFill>
                  <a:schemeClr val="tx1"/>
                </a:solidFill>
              </a:rPr>
              <a:t>na</a:t>
            </a:r>
            <a:r>
              <a:rPr lang="en-US" sz="1700" i="1" dirty="0">
                <a:solidFill>
                  <a:schemeClr val="tx1"/>
                </a:solidFill>
              </a:rPr>
              <a:t>bellen?</a:t>
            </a:r>
            <a:endParaRPr lang="en-US" sz="1700" dirty="0"/>
          </a:p>
        </p:txBody>
      </p:sp>
      <p:sp>
        <p:nvSpPr>
          <p:cNvPr id="33" name="Shape 27"/>
          <p:cNvSpPr/>
          <p:nvPr/>
        </p:nvSpPr>
        <p:spPr>
          <a:xfrm>
            <a:off x="8915400" y="3977640"/>
            <a:ext cx="2724912" cy="475488"/>
          </a:xfrm>
          <a:prstGeom prst="roundRect">
            <a:avLst>
              <a:gd name="adj" fmla="val 15385"/>
            </a:avLst>
          </a:prstGeom>
          <a:solidFill>
            <a:srgbClr val="FFFFFF"/>
          </a:solidFill>
          <a:ln w="12700">
            <a:solidFill>
              <a:srgbClr val="D5DCE6"/>
            </a:solidFill>
            <a:prstDash val="dash"/>
          </a:ln>
        </p:spPr>
      </p:sp>
      <p:sp>
        <p:nvSpPr>
          <p:cNvPr id="34" name="Text 28"/>
          <p:cNvSpPr txBox="1"/>
          <p:nvPr/>
        </p:nvSpPr>
        <p:spPr>
          <a:xfrm>
            <a:off x="8915400" y="3977640"/>
            <a:ext cx="2724912" cy="475488"/>
          </a:xfrm>
          <a:prstGeom prst="rect">
            <a:avLst/>
          </a:prstGeom>
          <a:noFill/>
          <a:ln/>
        </p:spPr>
        <p:txBody>
          <a:bodyPr wrap="square" lIns="0" tIns="0" rIns="0" bIns="0" rtlCol="0" anchor="ctr"/>
          <a:lstStyle/>
          <a:p>
            <a:pPr algn="ctr" indent="0" marL="0">
              <a:buNone/>
            </a:pPr>
            <a:r>
              <a:rPr lang="en-US" sz="1600" dirty="0">
                <a:solidFill>
                  <a:schemeClr val="accent5"/>
                </a:solidFill>
              </a:rPr>
              <a:t>= ?</a:t>
            </a:r>
            <a:endParaRPr lang="en-US" sz="1600" dirty="0"/>
          </a:p>
        </p:txBody>
      </p:sp>
      <p:sp>
        <p:nvSpPr>
          <p:cNvPr id="35" name="Shape 29"/>
          <p:cNvSpPr/>
          <p:nvPr/>
        </p:nvSpPr>
        <p:spPr>
          <a:xfrm>
            <a:off x="548640" y="4526280"/>
            <a:ext cx="8229600" cy="475488"/>
          </a:xfrm>
          <a:prstGeom prst="roundRect">
            <a:avLst>
              <a:gd name="adj" fmla="val 15385"/>
            </a:avLst>
          </a:prstGeom>
          <a:solidFill>
            <a:srgbClr val="FFFFFF"/>
          </a:solidFill>
          <a:ln w="9525">
            <a:solidFill>
              <a:srgbClr val="D5DCE6"/>
            </a:solidFill>
            <a:prstDash val="solid"/>
          </a:ln>
        </p:spPr>
      </p:sp>
      <p:sp>
        <p:nvSpPr>
          <p:cNvPr id="36" name="Shape 30"/>
          <p:cNvSpPr/>
          <p:nvPr/>
        </p:nvSpPr>
        <p:spPr>
          <a:xfrm>
            <a:off x="548640" y="4526280"/>
            <a:ext cx="164592" cy="475488"/>
          </a:xfrm>
          <a:prstGeom prst="rect">
            <a:avLst/>
          </a:prstGeom>
          <a:solidFill>
            <a:schemeClr val="accent3"/>
          </a:solidFill>
          <a:ln w="12700">
            <a:solidFill>
              <a:srgbClr val="FFFFFF">
                <a:alpha val="0"/>
              </a:srgbClr>
            </a:solidFill>
            <a:prstDash val="solid"/>
          </a:ln>
        </p:spPr>
      </p:sp>
      <p:sp>
        <p:nvSpPr>
          <p:cNvPr id="37" name="Text 31"/>
          <p:cNvSpPr txBox="1"/>
          <p:nvPr/>
        </p:nvSpPr>
        <p:spPr>
          <a:xfrm>
            <a:off x="868680" y="4526280"/>
            <a:ext cx="7772400" cy="475488"/>
          </a:xfrm>
          <a:prstGeom prst="rect">
            <a:avLst/>
          </a:prstGeom>
          <a:noFill/>
          <a:ln/>
        </p:spPr>
        <p:txBody>
          <a:bodyPr wrap="square" lIns="0" tIns="0" rIns="0" bIns="0" rtlCol="0" anchor="ctr"/>
          <a:lstStyle/>
          <a:p>
            <a:pPr algn="l" indent="0" marL="0">
              <a:buNone/>
            </a:pPr>
            <a:r>
              <a:rPr lang="en-US" sz="1700" i="1" dirty="0">
                <a:solidFill>
                  <a:schemeClr val="tx1"/>
                </a:solidFill>
              </a:rPr>
              <a:t>Ik wil mijn Nederlands </a:t>
            </a:r>
            <a:r>
              <a:rPr lang="en-US" sz="1700" b="1" i="1" dirty="0">
                <a:solidFill>
                  <a:schemeClr val="tx1"/>
                </a:solidFill>
              </a:rPr>
              <a:t>op</a:t>
            </a:r>
            <a:r>
              <a:rPr lang="en-US" sz="1700" i="1" dirty="0">
                <a:solidFill>
                  <a:schemeClr val="tx1"/>
                </a:solidFill>
              </a:rPr>
              <a:t>frissen.</a:t>
            </a:r>
            <a:endParaRPr lang="en-US" sz="1700" dirty="0"/>
          </a:p>
        </p:txBody>
      </p:sp>
      <p:sp>
        <p:nvSpPr>
          <p:cNvPr id="38" name="Shape 32"/>
          <p:cNvSpPr/>
          <p:nvPr/>
        </p:nvSpPr>
        <p:spPr>
          <a:xfrm>
            <a:off x="8915400" y="4526280"/>
            <a:ext cx="2724912" cy="475488"/>
          </a:xfrm>
          <a:prstGeom prst="roundRect">
            <a:avLst>
              <a:gd name="adj" fmla="val 15385"/>
            </a:avLst>
          </a:prstGeom>
          <a:solidFill>
            <a:srgbClr val="FFFFFF"/>
          </a:solidFill>
          <a:ln w="12700">
            <a:solidFill>
              <a:srgbClr val="D5DCE6"/>
            </a:solidFill>
            <a:prstDash val="dash"/>
          </a:ln>
        </p:spPr>
      </p:sp>
      <p:sp>
        <p:nvSpPr>
          <p:cNvPr id="39" name="Text 33"/>
          <p:cNvSpPr txBox="1"/>
          <p:nvPr/>
        </p:nvSpPr>
        <p:spPr>
          <a:xfrm>
            <a:off x="8915400" y="4526280"/>
            <a:ext cx="2724912" cy="475488"/>
          </a:xfrm>
          <a:prstGeom prst="rect">
            <a:avLst/>
          </a:prstGeom>
          <a:noFill/>
          <a:ln/>
        </p:spPr>
        <p:txBody>
          <a:bodyPr wrap="square" lIns="0" tIns="0" rIns="0" bIns="0" rtlCol="0" anchor="ctr"/>
          <a:lstStyle/>
          <a:p>
            <a:pPr algn="ctr" indent="0" marL="0">
              <a:buNone/>
            </a:pPr>
            <a:r>
              <a:rPr lang="en-US" sz="1600" dirty="0">
                <a:solidFill>
                  <a:schemeClr val="accent5"/>
                </a:solidFill>
              </a:rPr>
              <a:t>= ?</a:t>
            </a:r>
            <a:endParaRPr lang="en-US" sz="1600" dirty="0"/>
          </a:p>
        </p:txBody>
      </p:sp>
      <p:sp>
        <p:nvSpPr>
          <p:cNvPr id="40" name="Shape 34"/>
          <p:cNvSpPr/>
          <p:nvPr/>
        </p:nvSpPr>
        <p:spPr>
          <a:xfrm>
            <a:off x="548640" y="5074920"/>
            <a:ext cx="8229600" cy="475488"/>
          </a:xfrm>
          <a:prstGeom prst="roundRect">
            <a:avLst>
              <a:gd name="adj" fmla="val 15385"/>
            </a:avLst>
          </a:prstGeom>
          <a:solidFill>
            <a:schemeClr val="bg2"/>
          </a:solidFill>
          <a:ln w="9525">
            <a:solidFill>
              <a:srgbClr val="D5DCE6"/>
            </a:solidFill>
            <a:prstDash val="solid"/>
          </a:ln>
        </p:spPr>
      </p:sp>
      <p:sp>
        <p:nvSpPr>
          <p:cNvPr id="41" name="Shape 35"/>
          <p:cNvSpPr/>
          <p:nvPr/>
        </p:nvSpPr>
        <p:spPr>
          <a:xfrm>
            <a:off x="548640" y="5074920"/>
            <a:ext cx="164592" cy="475488"/>
          </a:xfrm>
          <a:prstGeom prst="rect">
            <a:avLst/>
          </a:prstGeom>
          <a:solidFill>
            <a:srgbClr val="7A5230"/>
          </a:solidFill>
          <a:ln w="12700">
            <a:solidFill>
              <a:srgbClr val="FFFFFF">
                <a:alpha val="0"/>
              </a:srgbClr>
            </a:solidFill>
            <a:prstDash val="solid"/>
          </a:ln>
        </p:spPr>
      </p:sp>
      <p:sp>
        <p:nvSpPr>
          <p:cNvPr id="42" name="Text 36"/>
          <p:cNvSpPr txBox="1"/>
          <p:nvPr/>
        </p:nvSpPr>
        <p:spPr>
          <a:xfrm>
            <a:off x="868680" y="5074920"/>
            <a:ext cx="7772400" cy="475488"/>
          </a:xfrm>
          <a:prstGeom prst="rect">
            <a:avLst/>
          </a:prstGeom>
          <a:noFill/>
          <a:ln/>
        </p:spPr>
        <p:txBody>
          <a:bodyPr wrap="square" lIns="0" tIns="0" rIns="0" bIns="0" rtlCol="0" anchor="ctr"/>
          <a:lstStyle/>
          <a:p>
            <a:pPr algn="l" indent="0" marL="0">
              <a:buNone/>
            </a:pPr>
            <a:r>
              <a:rPr lang="en-US" sz="1700" i="1" dirty="0">
                <a:solidFill>
                  <a:schemeClr val="tx1"/>
                </a:solidFill>
              </a:rPr>
              <a:t>Je kunt je bestelling </a:t>
            </a:r>
            <a:r>
              <a:rPr lang="en-US" sz="1700" b="1" i="1" dirty="0">
                <a:solidFill>
                  <a:schemeClr val="tx1"/>
                </a:solidFill>
              </a:rPr>
              <a:t>door</a:t>
            </a:r>
            <a:r>
              <a:rPr lang="en-US" sz="1700" i="1" dirty="0">
                <a:solidFill>
                  <a:schemeClr val="tx1"/>
                </a:solidFill>
              </a:rPr>
              <a:t>bellen.</a:t>
            </a:r>
            <a:endParaRPr lang="en-US" sz="1700" dirty="0"/>
          </a:p>
        </p:txBody>
      </p:sp>
      <p:sp>
        <p:nvSpPr>
          <p:cNvPr id="43" name="Shape 37"/>
          <p:cNvSpPr/>
          <p:nvPr/>
        </p:nvSpPr>
        <p:spPr>
          <a:xfrm>
            <a:off x="8915400" y="5074920"/>
            <a:ext cx="2724912" cy="475488"/>
          </a:xfrm>
          <a:prstGeom prst="roundRect">
            <a:avLst>
              <a:gd name="adj" fmla="val 15385"/>
            </a:avLst>
          </a:prstGeom>
          <a:solidFill>
            <a:srgbClr val="FFFFFF"/>
          </a:solidFill>
          <a:ln w="12700">
            <a:solidFill>
              <a:srgbClr val="D5DCE6"/>
            </a:solidFill>
            <a:prstDash val="dash"/>
          </a:ln>
        </p:spPr>
      </p:sp>
      <p:sp>
        <p:nvSpPr>
          <p:cNvPr id="44" name="Text 38"/>
          <p:cNvSpPr txBox="1"/>
          <p:nvPr/>
        </p:nvSpPr>
        <p:spPr>
          <a:xfrm>
            <a:off x="8915400" y="5074920"/>
            <a:ext cx="2724912" cy="475488"/>
          </a:xfrm>
          <a:prstGeom prst="rect">
            <a:avLst/>
          </a:prstGeom>
          <a:noFill/>
          <a:ln/>
        </p:spPr>
        <p:txBody>
          <a:bodyPr wrap="square" lIns="0" tIns="0" rIns="0" bIns="0" rtlCol="0" anchor="ctr"/>
          <a:lstStyle/>
          <a:p>
            <a:pPr algn="ctr" indent="0" marL="0">
              <a:buNone/>
            </a:pPr>
            <a:r>
              <a:rPr lang="en-US" sz="1600" dirty="0">
                <a:solidFill>
                  <a:schemeClr val="accent5"/>
                </a:solidFill>
              </a:rPr>
              <a:t>= ?</a:t>
            </a:r>
            <a:endParaRPr lang="en-US" sz="1600" dirty="0"/>
          </a:p>
        </p:txBody>
      </p:sp>
      <p:sp>
        <p:nvSpPr>
          <p:cNvPr id="45" name="Shape 39"/>
          <p:cNvSpPr/>
          <p:nvPr/>
        </p:nvSpPr>
        <p:spPr>
          <a:xfrm>
            <a:off x="548640" y="5760720"/>
            <a:ext cx="11091672" cy="530352"/>
          </a:xfrm>
          <a:prstGeom prst="roundRect">
            <a:avLst>
              <a:gd name="adj" fmla="val 13793"/>
            </a:avLst>
          </a:prstGeom>
          <a:solidFill>
            <a:schemeClr val="tx2"/>
          </a:solidFill>
          <a:ln w="12700">
            <a:solidFill>
              <a:srgbClr val="FFFFFF">
                <a:alpha val="0"/>
              </a:srgbClr>
            </a:solidFill>
            <a:prstDash val="solid"/>
          </a:ln>
        </p:spPr>
      </p:sp>
      <p:sp>
        <p:nvSpPr>
          <p:cNvPr id="46" name="Text 40"/>
          <p:cNvSpPr txBox="1"/>
          <p:nvPr/>
        </p:nvSpPr>
        <p:spPr>
          <a:xfrm>
            <a:off x="822960" y="5760720"/>
            <a:ext cx="10607040" cy="530352"/>
          </a:xfrm>
          <a:prstGeom prst="rect">
            <a:avLst/>
          </a:prstGeom>
          <a:noFill/>
          <a:ln/>
        </p:spPr>
        <p:txBody>
          <a:bodyPr wrap="square" lIns="0" tIns="0" rIns="0" bIns="0" rtlCol="0" anchor="ctr"/>
          <a:lstStyle/>
          <a:p>
            <a:pPr algn="l" indent="0" marL="0">
              <a:buNone/>
            </a:pPr>
            <a:r>
              <a:rPr lang="en-US" sz="1700" dirty="0">
                <a:solidFill>
                  <a:schemeClr val="bg1"/>
                </a:solidFill>
              </a:rPr>
              <a:t>Le contexte </a:t>
            </a:r>
            <a:r>
              <a:rPr lang="en-US" sz="1700" b="1" dirty="0">
                <a:solidFill>
                  <a:schemeClr val="bg1"/>
                </a:solidFill>
              </a:rPr>
              <a:t>confirme</a:t>
            </a:r>
            <a:r>
              <a:rPr lang="en-US" sz="1700" dirty="0">
                <a:solidFill>
                  <a:schemeClr val="bg1"/>
                </a:solidFill>
              </a:rPr>
              <a:t> ou </a:t>
            </a:r>
            <a:r>
              <a:rPr lang="en-US" sz="1700" b="1" dirty="0">
                <a:solidFill>
                  <a:schemeClr val="bg1"/>
                </a:solidFill>
              </a:rPr>
              <a:t>corrige</a:t>
            </a:r>
            <a:r>
              <a:rPr lang="en-US" sz="1700" dirty="0">
                <a:solidFill>
                  <a:schemeClr val="bg1"/>
                </a:solidFill>
              </a:rPr>
              <a:t> votre hypothèse. En cas de doute : le dictionnaire (Van Dale).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le tableau des particules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463040"/>
            <a:ext cx="5431536" cy="493776"/>
          </a:xfrm>
          <a:prstGeom prst="roundRect">
            <a:avLst>
              <a:gd name="adj" fmla="val 11111"/>
            </a:avLst>
          </a:prstGeom>
          <a:solidFill>
            <a:schemeClr val="bg2"/>
          </a:solidFill>
          <a:ln w="12700">
            <a:solidFill>
              <a:srgbClr val="FFFFFF">
                <a:alpha val="0"/>
              </a:srgbClr>
            </a:solidFill>
            <a:prstDash val="solid"/>
          </a:ln>
        </p:spPr>
      </p:sp>
      <p:sp>
        <p:nvSpPr>
          <p:cNvPr id="6" name="Shape 3"/>
          <p:cNvSpPr/>
          <p:nvPr/>
        </p:nvSpPr>
        <p:spPr>
          <a:xfrm>
            <a:off x="603504" y="1527048"/>
            <a:ext cx="914400" cy="365760"/>
          </a:xfrm>
          <a:prstGeom prst="roundRect">
            <a:avLst>
              <a:gd name="adj" fmla="val 25000"/>
            </a:avLst>
          </a:prstGeom>
          <a:solidFill>
            <a:schemeClr val="accent2"/>
          </a:solidFill>
          <a:ln w="12700">
            <a:solidFill>
              <a:srgbClr val="FFFFFF">
                <a:alpha val="0"/>
              </a:srgbClr>
            </a:solidFill>
            <a:prstDash val="solid"/>
          </a:ln>
        </p:spPr>
      </p:sp>
      <p:sp>
        <p:nvSpPr>
          <p:cNvPr id="7" name="Text 4"/>
          <p:cNvSpPr txBox="1"/>
          <p:nvPr/>
        </p:nvSpPr>
        <p:spPr>
          <a:xfrm>
            <a:off x="603504" y="1527048"/>
            <a:ext cx="914400" cy="365760"/>
          </a:xfrm>
          <a:prstGeom prst="rect">
            <a:avLst/>
          </a:prstGeom>
          <a:noFill/>
          <a:ln/>
        </p:spPr>
        <p:txBody>
          <a:bodyPr wrap="square" lIns="0" tIns="0" rIns="0" bIns="0" rtlCol="0" anchor="ctr"/>
          <a:lstStyle/>
          <a:p>
            <a:pPr algn="ctr" indent="0" marL="0">
              <a:buNone/>
            </a:pPr>
            <a:r>
              <a:rPr lang="en-US" sz="1300" b="1" dirty="0">
                <a:solidFill>
                  <a:schemeClr val="bg1"/>
                </a:solidFill>
              </a:rPr>
              <a:t>AAN</a:t>
            </a:r>
            <a:endParaRPr lang="en-US" sz="1300" dirty="0"/>
          </a:p>
        </p:txBody>
      </p:sp>
      <p:sp>
        <p:nvSpPr>
          <p:cNvPr id="8" name="Text 5"/>
          <p:cNvSpPr txBox="1"/>
          <p:nvPr/>
        </p:nvSpPr>
        <p:spPr>
          <a:xfrm>
            <a:off x="1600200" y="1463040"/>
            <a:ext cx="2423160" cy="493776"/>
          </a:xfrm>
          <a:prstGeom prst="rect">
            <a:avLst/>
          </a:prstGeom>
          <a:noFill/>
          <a:ln/>
        </p:spPr>
        <p:txBody>
          <a:bodyPr wrap="square" lIns="0" tIns="0" rIns="0" bIns="0" rtlCol="0" anchor="ctr"/>
          <a:lstStyle/>
          <a:p>
            <a:pPr algn="l" indent="0" marL="0">
              <a:buNone/>
            </a:pPr>
            <a:r>
              <a:rPr lang="en-US" sz="1200" dirty="0">
                <a:solidFill>
                  <a:schemeClr val="tx1"/>
                </a:solidFill>
              </a:rPr>
              <a:t>contact, début, acquérir</a:t>
            </a:r>
            <a:endParaRPr lang="en-US" sz="1200" dirty="0"/>
          </a:p>
        </p:txBody>
      </p:sp>
      <p:sp>
        <p:nvSpPr>
          <p:cNvPr id="9" name="Text 6"/>
          <p:cNvSpPr txBox="1"/>
          <p:nvPr/>
        </p:nvSpPr>
        <p:spPr>
          <a:xfrm>
            <a:off x="4023360" y="1463040"/>
            <a:ext cx="1911096" cy="493776"/>
          </a:xfrm>
          <a:prstGeom prst="rect">
            <a:avLst/>
          </a:prstGeom>
          <a:noFill/>
          <a:ln/>
        </p:spPr>
        <p:txBody>
          <a:bodyPr wrap="square" lIns="0" tIns="0" rIns="0" bIns="0" rtlCol="0" anchor="ctr"/>
          <a:lstStyle/>
          <a:p>
            <a:pPr algn="l" indent="0" marL="0">
              <a:buNone/>
            </a:pPr>
            <a:r>
              <a:rPr lang="en-US" sz="1200" b="1" i="1" dirty="0">
                <a:solidFill>
                  <a:schemeClr val="tx2"/>
                </a:solidFill>
              </a:rPr>
              <a:t>aanzetten · aanleren</a:t>
            </a:r>
            <a:endParaRPr lang="en-US" sz="1200" dirty="0"/>
          </a:p>
        </p:txBody>
      </p:sp>
      <p:sp>
        <p:nvSpPr>
          <p:cNvPr id="10" name="Shape 7"/>
          <p:cNvSpPr/>
          <p:nvPr/>
        </p:nvSpPr>
        <p:spPr>
          <a:xfrm>
            <a:off x="548640" y="2011680"/>
            <a:ext cx="5431536" cy="493776"/>
          </a:xfrm>
          <a:prstGeom prst="roundRect">
            <a:avLst>
              <a:gd name="adj" fmla="val 11111"/>
            </a:avLst>
          </a:prstGeom>
          <a:solidFill>
            <a:srgbClr val="FFFFFF"/>
          </a:solidFill>
          <a:ln w="12700">
            <a:solidFill>
              <a:srgbClr val="FFFFFF">
                <a:alpha val="0"/>
              </a:srgbClr>
            </a:solidFill>
            <a:prstDash val="solid"/>
          </a:ln>
        </p:spPr>
      </p:sp>
      <p:sp>
        <p:nvSpPr>
          <p:cNvPr id="11" name="Shape 8"/>
          <p:cNvSpPr/>
          <p:nvPr/>
        </p:nvSpPr>
        <p:spPr>
          <a:xfrm>
            <a:off x="603504" y="2075688"/>
            <a:ext cx="914400" cy="365760"/>
          </a:xfrm>
          <a:prstGeom prst="roundRect">
            <a:avLst>
              <a:gd name="adj" fmla="val 25000"/>
            </a:avLst>
          </a:prstGeom>
          <a:solidFill>
            <a:schemeClr val="accent6"/>
          </a:solidFill>
          <a:ln w="12700">
            <a:solidFill>
              <a:srgbClr val="FFFFFF">
                <a:alpha val="0"/>
              </a:srgbClr>
            </a:solidFill>
            <a:prstDash val="solid"/>
          </a:ln>
        </p:spPr>
      </p:sp>
      <p:sp>
        <p:nvSpPr>
          <p:cNvPr id="12" name="Text 9"/>
          <p:cNvSpPr txBox="1"/>
          <p:nvPr/>
        </p:nvSpPr>
        <p:spPr>
          <a:xfrm>
            <a:off x="603504" y="2075688"/>
            <a:ext cx="914400" cy="365760"/>
          </a:xfrm>
          <a:prstGeom prst="rect">
            <a:avLst/>
          </a:prstGeom>
          <a:noFill/>
          <a:ln/>
        </p:spPr>
        <p:txBody>
          <a:bodyPr wrap="square" lIns="0" tIns="0" rIns="0" bIns="0" rtlCol="0" anchor="ctr"/>
          <a:lstStyle/>
          <a:p>
            <a:pPr algn="ctr" indent="0" marL="0">
              <a:buNone/>
            </a:pPr>
            <a:r>
              <a:rPr lang="en-US" sz="1300" b="1" dirty="0">
                <a:solidFill>
                  <a:schemeClr val="bg1"/>
                </a:solidFill>
              </a:rPr>
              <a:t>AF</a:t>
            </a:r>
            <a:endParaRPr lang="en-US" sz="1300" dirty="0"/>
          </a:p>
        </p:txBody>
      </p:sp>
      <p:sp>
        <p:nvSpPr>
          <p:cNvPr id="13" name="Text 10"/>
          <p:cNvSpPr txBox="1"/>
          <p:nvPr/>
        </p:nvSpPr>
        <p:spPr>
          <a:xfrm>
            <a:off x="1600200" y="2011680"/>
            <a:ext cx="2423160" cy="493776"/>
          </a:xfrm>
          <a:prstGeom prst="rect">
            <a:avLst/>
          </a:prstGeom>
          <a:noFill/>
          <a:ln/>
        </p:spPr>
        <p:txBody>
          <a:bodyPr wrap="square" lIns="0" tIns="0" rIns="0" bIns="0" rtlCol="0" anchor="ctr"/>
          <a:lstStyle/>
          <a:p>
            <a:pPr algn="l" indent="0" marL="0">
              <a:buNone/>
            </a:pPr>
            <a:r>
              <a:rPr lang="en-US" sz="1200" dirty="0">
                <a:solidFill>
                  <a:schemeClr val="tx1"/>
                </a:solidFill>
              </a:rPr>
              <a:t>enlever, finir, diminuer</a:t>
            </a:r>
            <a:endParaRPr lang="en-US" sz="1200" dirty="0"/>
          </a:p>
        </p:txBody>
      </p:sp>
      <p:sp>
        <p:nvSpPr>
          <p:cNvPr id="14" name="Text 11"/>
          <p:cNvSpPr txBox="1"/>
          <p:nvPr/>
        </p:nvSpPr>
        <p:spPr>
          <a:xfrm>
            <a:off x="4023360" y="2011680"/>
            <a:ext cx="1911096" cy="493776"/>
          </a:xfrm>
          <a:prstGeom prst="rect">
            <a:avLst/>
          </a:prstGeom>
          <a:noFill/>
          <a:ln/>
        </p:spPr>
        <p:txBody>
          <a:bodyPr wrap="square" lIns="0" tIns="0" rIns="0" bIns="0" rtlCol="0" anchor="ctr"/>
          <a:lstStyle/>
          <a:p>
            <a:pPr algn="l" indent="0" marL="0">
              <a:buNone/>
            </a:pPr>
            <a:r>
              <a:rPr lang="en-US" sz="1200" b="1" i="1" dirty="0">
                <a:solidFill>
                  <a:schemeClr val="tx2"/>
                </a:solidFill>
              </a:rPr>
              <a:t>afmaken · afnemen</a:t>
            </a:r>
            <a:endParaRPr lang="en-US" sz="1200" dirty="0"/>
          </a:p>
        </p:txBody>
      </p:sp>
      <p:sp>
        <p:nvSpPr>
          <p:cNvPr id="15" name="Shape 12"/>
          <p:cNvSpPr/>
          <p:nvPr/>
        </p:nvSpPr>
        <p:spPr>
          <a:xfrm>
            <a:off x="548640" y="2560320"/>
            <a:ext cx="5431536" cy="493776"/>
          </a:xfrm>
          <a:prstGeom prst="roundRect">
            <a:avLst>
              <a:gd name="adj" fmla="val 11111"/>
            </a:avLst>
          </a:prstGeom>
          <a:solidFill>
            <a:schemeClr val="bg2"/>
          </a:solidFill>
          <a:ln w="12700">
            <a:solidFill>
              <a:srgbClr val="FFFFFF">
                <a:alpha val="0"/>
              </a:srgbClr>
            </a:solidFill>
            <a:prstDash val="solid"/>
          </a:ln>
        </p:spPr>
      </p:sp>
      <p:sp>
        <p:nvSpPr>
          <p:cNvPr id="16" name="Shape 13"/>
          <p:cNvSpPr/>
          <p:nvPr/>
        </p:nvSpPr>
        <p:spPr>
          <a:xfrm>
            <a:off x="603504" y="2624328"/>
            <a:ext cx="914400" cy="365760"/>
          </a:xfrm>
          <a:prstGeom prst="roundRect">
            <a:avLst>
              <a:gd name="adj" fmla="val 25000"/>
            </a:avLst>
          </a:prstGeom>
          <a:solidFill>
            <a:schemeClr val="accent3"/>
          </a:solidFill>
          <a:ln w="12700">
            <a:solidFill>
              <a:srgbClr val="FFFFFF">
                <a:alpha val="0"/>
              </a:srgbClr>
            </a:solidFill>
            <a:prstDash val="solid"/>
          </a:ln>
        </p:spPr>
      </p:sp>
      <p:sp>
        <p:nvSpPr>
          <p:cNvPr id="17" name="Text 14"/>
          <p:cNvSpPr txBox="1"/>
          <p:nvPr/>
        </p:nvSpPr>
        <p:spPr>
          <a:xfrm>
            <a:off x="603504" y="2624328"/>
            <a:ext cx="914400" cy="365760"/>
          </a:xfrm>
          <a:prstGeom prst="rect">
            <a:avLst/>
          </a:prstGeom>
          <a:noFill/>
          <a:ln/>
        </p:spPr>
        <p:txBody>
          <a:bodyPr wrap="square" lIns="0" tIns="0" rIns="0" bIns="0" rtlCol="0" anchor="ctr"/>
          <a:lstStyle/>
          <a:p>
            <a:pPr algn="ctr" indent="0" marL="0">
              <a:buNone/>
            </a:pPr>
            <a:r>
              <a:rPr lang="en-US" sz="1300" b="1" dirty="0">
                <a:solidFill>
                  <a:schemeClr val="bg1"/>
                </a:solidFill>
              </a:rPr>
              <a:t>OP</a:t>
            </a:r>
            <a:endParaRPr lang="en-US" sz="1300" dirty="0"/>
          </a:p>
        </p:txBody>
      </p:sp>
      <p:sp>
        <p:nvSpPr>
          <p:cNvPr id="18" name="Text 15"/>
          <p:cNvSpPr txBox="1"/>
          <p:nvPr/>
        </p:nvSpPr>
        <p:spPr>
          <a:xfrm>
            <a:off x="1600200" y="2560320"/>
            <a:ext cx="2423160" cy="493776"/>
          </a:xfrm>
          <a:prstGeom prst="rect">
            <a:avLst/>
          </a:prstGeom>
          <a:noFill/>
          <a:ln/>
        </p:spPr>
        <p:txBody>
          <a:bodyPr wrap="square" lIns="0" tIns="0" rIns="0" bIns="0" rtlCol="0" anchor="ctr"/>
          <a:lstStyle/>
          <a:p>
            <a:pPr algn="l" indent="0" marL="0">
              <a:buNone/>
            </a:pPr>
            <a:r>
              <a:rPr lang="en-US" sz="1200" dirty="0">
                <a:solidFill>
                  <a:schemeClr val="tx1"/>
                </a:solidFill>
              </a:rPr>
              <a:t>haut, entièrement, noter</a:t>
            </a:r>
            <a:endParaRPr lang="en-US" sz="1200" dirty="0"/>
          </a:p>
        </p:txBody>
      </p:sp>
      <p:sp>
        <p:nvSpPr>
          <p:cNvPr id="19" name="Text 16"/>
          <p:cNvSpPr txBox="1"/>
          <p:nvPr/>
        </p:nvSpPr>
        <p:spPr>
          <a:xfrm>
            <a:off x="4023360" y="2560320"/>
            <a:ext cx="1911096" cy="493776"/>
          </a:xfrm>
          <a:prstGeom prst="rect">
            <a:avLst/>
          </a:prstGeom>
          <a:noFill/>
          <a:ln/>
        </p:spPr>
        <p:txBody>
          <a:bodyPr wrap="square" lIns="0" tIns="0" rIns="0" bIns="0" rtlCol="0" anchor="ctr"/>
          <a:lstStyle/>
          <a:p>
            <a:pPr algn="l" indent="0" marL="0">
              <a:buNone/>
            </a:pPr>
            <a:r>
              <a:rPr lang="en-US" sz="1200" b="1" i="1" dirty="0">
                <a:solidFill>
                  <a:schemeClr val="tx2"/>
                </a:solidFill>
              </a:rPr>
              <a:t>opstaan · opschrijven</a:t>
            </a:r>
            <a:endParaRPr lang="en-US" sz="1200" dirty="0"/>
          </a:p>
        </p:txBody>
      </p:sp>
      <p:sp>
        <p:nvSpPr>
          <p:cNvPr id="20" name="Shape 17"/>
          <p:cNvSpPr/>
          <p:nvPr/>
        </p:nvSpPr>
        <p:spPr>
          <a:xfrm>
            <a:off x="548640" y="3108960"/>
            <a:ext cx="5431536" cy="493776"/>
          </a:xfrm>
          <a:prstGeom prst="roundRect">
            <a:avLst>
              <a:gd name="adj" fmla="val 11111"/>
            </a:avLst>
          </a:prstGeom>
          <a:solidFill>
            <a:srgbClr val="FFFFFF"/>
          </a:solidFill>
          <a:ln w="12700">
            <a:solidFill>
              <a:srgbClr val="FFFFFF">
                <a:alpha val="0"/>
              </a:srgbClr>
            </a:solidFill>
            <a:prstDash val="solid"/>
          </a:ln>
        </p:spPr>
      </p:sp>
      <p:sp>
        <p:nvSpPr>
          <p:cNvPr id="21" name="Shape 18"/>
          <p:cNvSpPr/>
          <p:nvPr/>
        </p:nvSpPr>
        <p:spPr>
          <a:xfrm>
            <a:off x="603504" y="3172968"/>
            <a:ext cx="914400" cy="365760"/>
          </a:xfrm>
          <a:prstGeom prst="roundRect">
            <a:avLst>
              <a:gd name="adj" fmla="val 25000"/>
            </a:avLst>
          </a:prstGeom>
          <a:solidFill>
            <a:schemeClr val="accent1"/>
          </a:solidFill>
          <a:ln w="12700">
            <a:solidFill>
              <a:srgbClr val="FFFFFF">
                <a:alpha val="0"/>
              </a:srgbClr>
            </a:solidFill>
            <a:prstDash val="solid"/>
          </a:ln>
        </p:spPr>
      </p:sp>
      <p:sp>
        <p:nvSpPr>
          <p:cNvPr id="22" name="Text 19"/>
          <p:cNvSpPr txBox="1"/>
          <p:nvPr/>
        </p:nvSpPr>
        <p:spPr>
          <a:xfrm>
            <a:off x="603504" y="3172968"/>
            <a:ext cx="914400" cy="365760"/>
          </a:xfrm>
          <a:prstGeom prst="rect">
            <a:avLst/>
          </a:prstGeom>
          <a:noFill/>
          <a:ln/>
        </p:spPr>
        <p:txBody>
          <a:bodyPr wrap="square" lIns="0" tIns="0" rIns="0" bIns="0" rtlCol="0" anchor="ctr"/>
          <a:lstStyle/>
          <a:p>
            <a:pPr algn="ctr" indent="0" marL="0">
              <a:buNone/>
            </a:pPr>
            <a:r>
              <a:rPr lang="en-US" sz="1300" b="1" dirty="0">
                <a:solidFill>
                  <a:schemeClr val="bg1"/>
                </a:solidFill>
              </a:rPr>
              <a:t>UIT</a:t>
            </a:r>
            <a:endParaRPr lang="en-US" sz="1300" dirty="0"/>
          </a:p>
        </p:txBody>
      </p:sp>
      <p:sp>
        <p:nvSpPr>
          <p:cNvPr id="23" name="Text 20"/>
          <p:cNvSpPr txBox="1"/>
          <p:nvPr/>
        </p:nvSpPr>
        <p:spPr>
          <a:xfrm>
            <a:off x="1600200" y="3108960"/>
            <a:ext cx="2423160" cy="493776"/>
          </a:xfrm>
          <a:prstGeom prst="rect">
            <a:avLst/>
          </a:prstGeom>
          <a:noFill/>
          <a:ln/>
        </p:spPr>
        <p:txBody>
          <a:bodyPr wrap="square" lIns="0" tIns="0" rIns="0" bIns="0" rtlCol="0" anchor="ctr"/>
          <a:lstStyle/>
          <a:p>
            <a:pPr algn="l" indent="0" marL="0">
              <a:buNone/>
            </a:pPr>
            <a:r>
              <a:rPr lang="en-US" sz="1200" dirty="0">
                <a:solidFill>
                  <a:schemeClr val="tx1"/>
                </a:solidFill>
              </a:rPr>
              <a:t>dehors, jusqu’au bout, arrêt</a:t>
            </a:r>
            <a:endParaRPr lang="en-US" sz="1200" dirty="0"/>
          </a:p>
        </p:txBody>
      </p:sp>
      <p:sp>
        <p:nvSpPr>
          <p:cNvPr id="24" name="Text 21"/>
          <p:cNvSpPr txBox="1"/>
          <p:nvPr/>
        </p:nvSpPr>
        <p:spPr>
          <a:xfrm>
            <a:off x="4023360" y="3108960"/>
            <a:ext cx="1911096" cy="493776"/>
          </a:xfrm>
          <a:prstGeom prst="rect">
            <a:avLst/>
          </a:prstGeom>
          <a:noFill/>
          <a:ln/>
        </p:spPr>
        <p:txBody>
          <a:bodyPr wrap="square" lIns="0" tIns="0" rIns="0" bIns="0" rtlCol="0" anchor="ctr"/>
          <a:lstStyle/>
          <a:p>
            <a:pPr algn="l" indent="0" marL="0">
              <a:buNone/>
            </a:pPr>
            <a:r>
              <a:rPr lang="en-US" sz="1200" b="1" i="1" dirty="0">
                <a:solidFill>
                  <a:schemeClr val="tx2"/>
                </a:solidFill>
              </a:rPr>
              <a:t>uitgaan · uitleggen</a:t>
            </a:r>
            <a:endParaRPr lang="en-US" sz="1200" dirty="0"/>
          </a:p>
        </p:txBody>
      </p:sp>
      <p:sp>
        <p:nvSpPr>
          <p:cNvPr id="25" name="Shape 22"/>
          <p:cNvSpPr/>
          <p:nvPr/>
        </p:nvSpPr>
        <p:spPr>
          <a:xfrm>
            <a:off x="548640" y="3657600"/>
            <a:ext cx="5431536" cy="493776"/>
          </a:xfrm>
          <a:prstGeom prst="roundRect">
            <a:avLst>
              <a:gd name="adj" fmla="val 11111"/>
            </a:avLst>
          </a:prstGeom>
          <a:solidFill>
            <a:schemeClr val="bg2"/>
          </a:solidFill>
          <a:ln w="12700">
            <a:solidFill>
              <a:srgbClr val="FFFFFF">
                <a:alpha val="0"/>
              </a:srgbClr>
            </a:solidFill>
            <a:prstDash val="solid"/>
          </a:ln>
        </p:spPr>
      </p:sp>
      <p:sp>
        <p:nvSpPr>
          <p:cNvPr id="26" name="Shape 23"/>
          <p:cNvSpPr/>
          <p:nvPr/>
        </p:nvSpPr>
        <p:spPr>
          <a:xfrm>
            <a:off x="603504" y="3721608"/>
            <a:ext cx="914400" cy="365760"/>
          </a:xfrm>
          <a:prstGeom prst="roundRect">
            <a:avLst>
              <a:gd name="adj" fmla="val 25000"/>
            </a:avLst>
          </a:prstGeom>
          <a:solidFill>
            <a:srgbClr val="6E4A9E"/>
          </a:solidFill>
          <a:ln w="12700">
            <a:solidFill>
              <a:srgbClr val="FFFFFF">
                <a:alpha val="0"/>
              </a:srgbClr>
            </a:solidFill>
            <a:prstDash val="solid"/>
          </a:ln>
        </p:spPr>
      </p:sp>
      <p:sp>
        <p:nvSpPr>
          <p:cNvPr id="27" name="Text 24"/>
          <p:cNvSpPr txBox="1"/>
          <p:nvPr/>
        </p:nvSpPr>
        <p:spPr>
          <a:xfrm>
            <a:off x="603504" y="3721608"/>
            <a:ext cx="914400" cy="365760"/>
          </a:xfrm>
          <a:prstGeom prst="rect">
            <a:avLst/>
          </a:prstGeom>
          <a:noFill/>
          <a:ln/>
        </p:spPr>
        <p:txBody>
          <a:bodyPr wrap="square" lIns="0" tIns="0" rIns="0" bIns="0" rtlCol="0" anchor="ctr"/>
          <a:lstStyle/>
          <a:p>
            <a:pPr algn="ctr" indent="0" marL="0">
              <a:buNone/>
            </a:pPr>
            <a:r>
              <a:rPr lang="en-US" sz="1300" b="1" dirty="0">
                <a:solidFill>
                  <a:schemeClr val="bg1"/>
                </a:solidFill>
              </a:rPr>
              <a:t>IN</a:t>
            </a:r>
            <a:endParaRPr lang="en-US" sz="1300" dirty="0"/>
          </a:p>
        </p:txBody>
      </p:sp>
      <p:sp>
        <p:nvSpPr>
          <p:cNvPr id="28" name="Text 25"/>
          <p:cNvSpPr txBox="1"/>
          <p:nvPr/>
        </p:nvSpPr>
        <p:spPr>
          <a:xfrm>
            <a:off x="1600200" y="3657600"/>
            <a:ext cx="2423160" cy="493776"/>
          </a:xfrm>
          <a:prstGeom prst="rect">
            <a:avLst/>
          </a:prstGeom>
          <a:noFill/>
          <a:ln/>
        </p:spPr>
        <p:txBody>
          <a:bodyPr wrap="square" lIns="0" tIns="0" rIns="0" bIns="0" rtlCol="0" anchor="ctr"/>
          <a:lstStyle/>
          <a:p>
            <a:pPr algn="l" indent="0" marL="0">
              <a:buNone/>
            </a:pPr>
            <a:r>
              <a:rPr lang="en-US" sz="1200" dirty="0">
                <a:solidFill>
                  <a:schemeClr val="tx1"/>
                </a:solidFill>
              </a:rPr>
              <a:t>dedans, remettre</a:t>
            </a:r>
            <a:endParaRPr lang="en-US" sz="1200" dirty="0"/>
          </a:p>
        </p:txBody>
      </p:sp>
      <p:sp>
        <p:nvSpPr>
          <p:cNvPr id="29" name="Text 26"/>
          <p:cNvSpPr txBox="1"/>
          <p:nvPr/>
        </p:nvSpPr>
        <p:spPr>
          <a:xfrm>
            <a:off x="4023360" y="3657600"/>
            <a:ext cx="1911096" cy="493776"/>
          </a:xfrm>
          <a:prstGeom prst="rect">
            <a:avLst/>
          </a:prstGeom>
          <a:noFill/>
          <a:ln/>
        </p:spPr>
        <p:txBody>
          <a:bodyPr wrap="square" lIns="0" tIns="0" rIns="0" bIns="0" rtlCol="0" anchor="ctr"/>
          <a:lstStyle/>
          <a:p>
            <a:pPr algn="l" indent="0" marL="0">
              <a:buNone/>
            </a:pPr>
            <a:r>
              <a:rPr lang="en-US" sz="1200" b="1" i="1" dirty="0">
                <a:solidFill>
                  <a:schemeClr val="tx2"/>
                </a:solidFill>
              </a:rPr>
              <a:t>inloggen · inleveren</a:t>
            </a:r>
            <a:endParaRPr lang="en-US" sz="1200" dirty="0"/>
          </a:p>
        </p:txBody>
      </p:sp>
      <p:sp>
        <p:nvSpPr>
          <p:cNvPr id="30" name="Shape 27"/>
          <p:cNvSpPr/>
          <p:nvPr/>
        </p:nvSpPr>
        <p:spPr>
          <a:xfrm>
            <a:off x="548640" y="4206240"/>
            <a:ext cx="5431536" cy="493776"/>
          </a:xfrm>
          <a:prstGeom prst="roundRect">
            <a:avLst>
              <a:gd name="adj" fmla="val 11111"/>
            </a:avLst>
          </a:prstGeom>
          <a:solidFill>
            <a:srgbClr val="FFFFFF"/>
          </a:solidFill>
          <a:ln w="12700">
            <a:solidFill>
              <a:srgbClr val="FFFFFF">
                <a:alpha val="0"/>
              </a:srgbClr>
            </a:solidFill>
            <a:prstDash val="solid"/>
          </a:ln>
        </p:spPr>
      </p:sp>
      <p:sp>
        <p:nvSpPr>
          <p:cNvPr id="31" name="Shape 28"/>
          <p:cNvSpPr/>
          <p:nvPr/>
        </p:nvSpPr>
        <p:spPr>
          <a:xfrm>
            <a:off x="603504" y="4270248"/>
            <a:ext cx="914400" cy="365760"/>
          </a:xfrm>
          <a:prstGeom prst="roundRect">
            <a:avLst>
              <a:gd name="adj" fmla="val 25000"/>
            </a:avLst>
          </a:prstGeom>
          <a:solidFill>
            <a:schemeClr val="accent4"/>
          </a:solidFill>
          <a:ln w="12700">
            <a:solidFill>
              <a:srgbClr val="FFFFFF">
                <a:alpha val="0"/>
              </a:srgbClr>
            </a:solidFill>
            <a:prstDash val="solid"/>
          </a:ln>
        </p:spPr>
      </p:sp>
      <p:sp>
        <p:nvSpPr>
          <p:cNvPr id="32" name="Text 29"/>
          <p:cNvSpPr txBox="1"/>
          <p:nvPr/>
        </p:nvSpPr>
        <p:spPr>
          <a:xfrm>
            <a:off x="603504" y="4270248"/>
            <a:ext cx="914400" cy="365760"/>
          </a:xfrm>
          <a:prstGeom prst="rect">
            <a:avLst/>
          </a:prstGeom>
          <a:noFill/>
          <a:ln/>
        </p:spPr>
        <p:txBody>
          <a:bodyPr wrap="square" lIns="0" tIns="0" rIns="0" bIns="0" rtlCol="0" anchor="ctr"/>
          <a:lstStyle/>
          <a:p>
            <a:pPr algn="ctr" indent="0" marL="0">
              <a:buNone/>
            </a:pPr>
            <a:r>
              <a:rPr lang="en-US" sz="1300" b="1" dirty="0">
                <a:solidFill>
                  <a:schemeClr val="bg1"/>
                </a:solidFill>
              </a:rPr>
              <a:t>BIJ</a:t>
            </a:r>
            <a:endParaRPr lang="en-US" sz="1300" dirty="0"/>
          </a:p>
        </p:txBody>
      </p:sp>
      <p:sp>
        <p:nvSpPr>
          <p:cNvPr id="33" name="Text 30"/>
          <p:cNvSpPr txBox="1"/>
          <p:nvPr/>
        </p:nvSpPr>
        <p:spPr>
          <a:xfrm>
            <a:off x="1600200" y="4206240"/>
            <a:ext cx="2423160" cy="493776"/>
          </a:xfrm>
          <a:prstGeom prst="rect">
            <a:avLst/>
          </a:prstGeom>
          <a:noFill/>
          <a:ln/>
        </p:spPr>
        <p:txBody>
          <a:bodyPr wrap="square" lIns="0" tIns="0" rIns="0" bIns="0" rtlCol="0" anchor="ctr"/>
          <a:lstStyle/>
          <a:p>
            <a:pPr algn="l" indent="0" marL="0">
              <a:buNone/>
            </a:pPr>
            <a:r>
              <a:rPr lang="en-US" sz="1200" dirty="0">
                <a:solidFill>
                  <a:schemeClr val="tx1"/>
                </a:solidFill>
              </a:rPr>
              <a:t>en plus, mettre à jour</a:t>
            </a:r>
            <a:endParaRPr lang="en-US" sz="1200" dirty="0"/>
          </a:p>
        </p:txBody>
      </p:sp>
      <p:sp>
        <p:nvSpPr>
          <p:cNvPr id="34" name="Text 31"/>
          <p:cNvSpPr txBox="1"/>
          <p:nvPr/>
        </p:nvSpPr>
        <p:spPr>
          <a:xfrm>
            <a:off x="4023360" y="4206240"/>
            <a:ext cx="1911096" cy="493776"/>
          </a:xfrm>
          <a:prstGeom prst="rect">
            <a:avLst/>
          </a:prstGeom>
          <a:noFill/>
          <a:ln/>
        </p:spPr>
        <p:txBody>
          <a:bodyPr wrap="square" lIns="0" tIns="0" rIns="0" bIns="0" rtlCol="0" anchor="ctr"/>
          <a:lstStyle/>
          <a:p>
            <a:pPr algn="l" indent="0" marL="0">
              <a:buNone/>
            </a:pPr>
            <a:r>
              <a:rPr lang="en-US" sz="1200" b="1" i="1" dirty="0">
                <a:solidFill>
                  <a:schemeClr val="tx2"/>
                </a:solidFill>
              </a:rPr>
              <a:t>bijleren · bijhouden</a:t>
            </a:r>
            <a:endParaRPr lang="en-US" sz="1200" dirty="0"/>
          </a:p>
        </p:txBody>
      </p:sp>
      <p:sp>
        <p:nvSpPr>
          <p:cNvPr id="35" name="Shape 32"/>
          <p:cNvSpPr/>
          <p:nvPr/>
        </p:nvSpPr>
        <p:spPr>
          <a:xfrm>
            <a:off x="548640" y="4754880"/>
            <a:ext cx="5431536" cy="493776"/>
          </a:xfrm>
          <a:prstGeom prst="roundRect">
            <a:avLst>
              <a:gd name="adj" fmla="val 11111"/>
            </a:avLst>
          </a:prstGeom>
          <a:solidFill>
            <a:schemeClr val="bg2"/>
          </a:solidFill>
          <a:ln w="12700">
            <a:solidFill>
              <a:srgbClr val="FFFFFF">
                <a:alpha val="0"/>
              </a:srgbClr>
            </a:solidFill>
            <a:prstDash val="solid"/>
          </a:ln>
        </p:spPr>
      </p:sp>
      <p:sp>
        <p:nvSpPr>
          <p:cNvPr id="36" name="Shape 33"/>
          <p:cNvSpPr/>
          <p:nvPr/>
        </p:nvSpPr>
        <p:spPr>
          <a:xfrm>
            <a:off x="603504" y="4818888"/>
            <a:ext cx="914400" cy="365760"/>
          </a:xfrm>
          <a:prstGeom prst="roundRect">
            <a:avLst>
              <a:gd name="adj" fmla="val 25000"/>
            </a:avLst>
          </a:prstGeom>
          <a:solidFill>
            <a:srgbClr val="0E7C86"/>
          </a:solidFill>
          <a:ln w="12700">
            <a:solidFill>
              <a:srgbClr val="FFFFFF">
                <a:alpha val="0"/>
              </a:srgbClr>
            </a:solidFill>
            <a:prstDash val="solid"/>
          </a:ln>
        </p:spPr>
      </p:sp>
      <p:sp>
        <p:nvSpPr>
          <p:cNvPr id="37" name="Text 34"/>
          <p:cNvSpPr txBox="1"/>
          <p:nvPr/>
        </p:nvSpPr>
        <p:spPr>
          <a:xfrm>
            <a:off x="603504" y="4818888"/>
            <a:ext cx="914400" cy="365760"/>
          </a:xfrm>
          <a:prstGeom prst="rect">
            <a:avLst/>
          </a:prstGeom>
          <a:noFill/>
          <a:ln/>
        </p:spPr>
        <p:txBody>
          <a:bodyPr wrap="square" lIns="0" tIns="0" rIns="0" bIns="0" rtlCol="0" anchor="ctr"/>
          <a:lstStyle/>
          <a:p>
            <a:pPr algn="ctr" indent="0" marL="0">
              <a:buNone/>
            </a:pPr>
            <a:r>
              <a:rPr lang="en-US" sz="1300" b="1" dirty="0">
                <a:solidFill>
                  <a:schemeClr val="bg1"/>
                </a:solidFill>
              </a:rPr>
              <a:t>TOE</a:t>
            </a:r>
            <a:endParaRPr lang="en-US" sz="1300" dirty="0"/>
          </a:p>
        </p:txBody>
      </p:sp>
      <p:sp>
        <p:nvSpPr>
          <p:cNvPr id="38" name="Text 35"/>
          <p:cNvSpPr txBox="1"/>
          <p:nvPr/>
        </p:nvSpPr>
        <p:spPr>
          <a:xfrm>
            <a:off x="1600200" y="4754880"/>
            <a:ext cx="2423160" cy="493776"/>
          </a:xfrm>
          <a:prstGeom prst="rect">
            <a:avLst/>
          </a:prstGeom>
          <a:noFill/>
          <a:ln/>
        </p:spPr>
        <p:txBody>
          <a:bodyPr wrap="square" lIns="0" tIns="0" rIns="0" bIns="0" rtlCol="0" anchor="ctr"/>
          <a:lstStyle/>
          <a:p>
            <a:pPr algn="l" indent="0" marL="0">
              <a:buNone/>
            </a:pPr>
            <a:r>
              <a:rPr lang="en-US" sz="1200" dirty="0">
                <a:solidFill>
                  <a:schemeClr val="tx1"/>
                </a:solidFill>
              </a:rPr>
              <a:t>vers, en plus, fermé (BE)</a:t>
            </a:r>
            <a:endParaRPr lang="en-US" sz="1200" dirty="0"/>
          </a:p>
        </p:txBody>
      </p:sp>
      <p:sp>
        <p:nvSpPr>
          <p:cNvPr id="39" name="Text 36"/>
          <p:cNvSpPr txBox="1"/>
          <p:nvPr/>
        </p:nvSpPr>
        <p:spPr>
          <a:xfrm>
            <a:off x="4023360" y="4754880"/>
            <a:ext cx="1911096" cy="493776"/>
          </a:xfrm>
          <a:prstGeom prst="rect">
            <a:avLst/>
          </a:prstGeom>
          <a:noFill/>
          <a:ln/>
        </p:spPr>
        <p:txBody>
          <a:bodyPr wrap="square" lIns="0" tIns="0" rIns="0" bIns="0" rtlCol="0" anchor="ctr"/>
          <a:lstStyle/>
          <a:p>
            <a:pPr algn="l" indent="0" marL="0">
              <a:buNone/>
            </a:pPr>
            <a:r>
              <a:rPr lang="en-US" sz="1200" b="1" i="1" dirty="0">
                <a:solidFill>
                  <a:schemeClr val="tx2"/>
                </a:solidFill>
              </a:rPr>
              <a:t>toevoegen · toenemen</a:t>
            </a:r>
            <a:endParaRPr lang="en-US" sz="1200" dirty="0"/>
          </a:p>
        </p:txBody>
      </p:sp>
      <p:sp>
        <p:nvSpPr>
          <p:cNvPr id="40" name="Shape 37"/>
          <p:cNvSpPr/>
          <p:nvPr/>
        </p:nvSpPr>
        <p:spPr>
          <a:xfrm>
            <a:off x="6208776" y="1463040"/>
            <a:ext cx="5431536" cy="493776"/>
          </a:xfrm>
          <a:prstGeom prst="roundRect">
            <a:avLst>
              <a:gd name="adj" fmla="val 11111"/>
            </a:avLst>
          </a:prstGeom>
          <a:solidFill>
            <a:srgbClr val="FFFFFF"/>
          </a:solidFill>
          <a:ln w="12700">
            <a:solidFill>
              <a:srgbClr val="FFFFFF">
                <a:alpha val="0"/>
              </a:srgbClr>
            </a:solidFill>
            <a:prstDash val="solid"/>
          </a:ln>
        </p:spPr>
      </p:sp>
      <p:sp>
        <p:nvSpPr>
          <p:cNvPr id="41" name="Shape 38"/>
          <p:cNvSpPr/>
          <p:nvPr/>
        </p:nvSpPr>
        <p:spPr>
          <a:xfrm>
            <a:off x="6263640" y="1527048"/>
            <a:ext cx="914400" cy="365760"/>
          </a:xfrm>
          <a:prstGeom prst="roundRect">
            <a:avLst>
              <a:gd name="adj" fmla="val 25000"/>
            </a:avLst>
          </a:prstGeom>
          <a:solidFill>
            <a:schemeClr val="tx2"/>
          </a:solidFill>
          <a:ln w="12700">
            <a:solidFill>
              <a:srgbClr val="FFFFFF">
                <a:alpha val="0"/>
              </a:srgbClr>
            </a:solidFill>
            <a:prstDash val="solid"/>
          </a:ln>
        </p:spPr>
      </p:sp>
      <p:sp>
        <p:nvSpPr>
          <p:cNvPr id="42" name="Text 39"/>
          <p:cNvSpPr txBox="1"/>
          <p:nvPr/>
        </p:nvSpPr>
        <p:spPr>
          <a:xfrm>
            <a:off x="6263640" y="1527048"/>
            <a:ext cx="914400" cy="365760"/>
          </a:xfrm>
          <a:prstGeom prst="rect">
            <a:avLst/>
          </a:prstGeom>
          <a:noFill/>
          <a:ln/>
        </p:spPr>
        <p:txBody>
          <a:bodyPr wrap="square" lIns="0" tIns="0" rIns="0" bIns="0" rtlCol="0" anchor="ctr"/>
          <a:lstStyle/>
          <a:p>
            <a:pPr algn="ctr" indent="0" marL="0">
              <a:buNone/>
            </a:pPr>
            <a:r>
              <a:rPr lang="en-US" sz="1300" b="1" dirty="0">
                <a:solidFill>
                  <a:schemeClr val="bg1"/>
                </a:solidFill>
              </a:rPr>
              <a:t>NA</a:t>
            </a:r>
            <a:endParaRPr lang="en-US" sz="1300" dirty="0"/>
          </a:p>
        </p:txBody>
      </p:sp>
      <p:sp>
        <p:nvSpPr>
          <p:cNvPr id="43" name="Text 40"/>
          <p:cNvSpPr txBox="1"/>
          <p:nvPr/>
        </p:nvSpPr>
        <p:spPr>
          <a:xfrm>
            <a:off x="7260336" y="1463040"/>
            <a:ext cx="2423160" cy="493776"/>
          </a:xfrm>
          <a:prstGeom prst="rect">
            <a:avLst/>
          </a:prstGeom>
          <a:noFill/>
          <a:ln/>
        </p:spPr>
        <p:txBody>
          <a:bodyPr wrap="square" lIns="0" tIns="0" rIns="0" bIns="0" rtlCol="0" anchor="ctr"/>
          <a:lstStyle/>
          <a:p>
            <a:pPr algn="l" indent="0" marL="0">
              <a:buNone/>
            </a:pPr>
            <a:r>
              <a:rPr lang="en-US" sz="1200" dirty="0">
                <a:solidFill>
                  <a:schemeClr val="tx1"/>
                </a:solidFill>
              </a:rPr>
              <a:t>après, imiter, vérifier</a:t>
            </a:r>
            <a:endParaRPr lang="en-US" sz="1200" dirty="0"/>
          </a:p>
        </p:txBody>
      </p:sp>
      <p:sp>
        <p:nvSpPr>
          <p:cNvPr id="44" name="Text 41"/>
          <p:cNvSpPr txBox="1"/>
          <p:nvPr/>
        </p:nvSpPr>
        <p:spPr>
          <a:xfrm>
            <a:off x="9683496" y="1463040"/>
            <a:ext cx="1911096" cy="493776"/>
          </a:xfrm>
          <a:prstGeom prst="rect">
            <a:avLst/>
          </a:prstGeom>
          <a:noFill/>
          <a:ln/>
        </p:spPr>
        <p:txBody>
          <a:bodyPr wrap="square" lIns="0" tIns="0" rIns="0" bIns="0" rtlCol="0" anchor="ctr"/>
          <a:lstStyle/>
          <a:p>
            <a:pPr algn="l" indent="0" marL="0">
              <a:buNone/>
            </a:pPr>
            <a:r>
              <a:rPr lang="en-US" sz="1200" b="1" i="1" dirty="0">
                <a:solidFill>
                  <a:schemeClr val="tx2"/>
                </a:solidFill>
              </a:rPr>
              <a:t>nadenken · nakijken</a:t>
            </a:r>
            <a:endParaRPr lang="en-US" sz="1200" dirty="0"/>
          </a:p>
        </p:txBody>
      </p:sp>
      <p:sp>
        <p:nvSpPr>
          <p:cNvPr id="45" name="Shape 42"/>
          <p:cNvSpPr/>
          <p:nvPr/>
        </p:nvSpPr>
        <p:spPr>
          <a:xfrm>
            <a:off x="6208776" y="2011680"/>
            <a:ext cx="5431536" cy="493776"/>
          </a:xfrm>
          <a:prstGeom prst="roundRect">
            <a:avLst>
              <a:gd name="adj" fmla="val 11111"/>
            </a:avLst>
          </a:prstGeom>
          <a:solidFill>
            <a:schemeClr val="bg2"/>
          </a:solidFill>
          <a:ln w="12700">
            <a:solidFill>
              <a:srgbClr val="FFFFFF">
                <a:alpha val="0"/>
              </a:srgbClr>
            </a:solidFill>
            <a:prstDash val="solid"/>
          </a:ln>
        </p:spPr>
      </p:sp>
      <p:sp>
        <p:nvSpPr>
          <p:cNvPr id="46" name="Shape 43"/>
          <p:cNvSpPr/>
          <p:nvPr/>
        </p:nvSpPr>
        <p:spPr>
          <a:xfrm>
            <a:off x="6263640" y="2075688"/>
            <a:ext cx="914400" cy="365760"/>
          </a:xfrm>
          <a:prstGeom prst="roundRect">
            <a:avLst>
              <a:gd name="adj" fmla="val 25000"/>
            </a:avLst>
          </a:prstGeom>
          <a:solidFill>
            <a:srgbClr val="7A5230"/>
          </a:solidFill>
          <a:ln w="12700">
            <a:solidFill>
              <a:srgbClr val="FFFFFF">
                <a:alpha val="0"/>
              </a:srgbClr>
            </a:solidFill>
            <a:prstDash val="solid"/>
          </a:ln>
        </p:spPr>
      </p:sp>
      <p:sp>
        <p:nvSpPr>
          <p:cNvPr id="47" name="Text 44"/>
          <p:cNvSpPr txBox="1"/>
          <p:nvPr/>
        </p:nvSpPr>
        <p:spPr>
          <a:xfrm>
            <a:off x="6263640" y="2075688"/>
            <a:ext cx="914400" cy="365760"/>
          </a:xfrm>
          <a:prstGeom prst="rect">
            <a:avLst/>
          </a:prstGeom>
          <a:noFill/>
          <a:ln/>
        </p:spPr>
        <p:txBody>
          <a:bodyPr wrap="square" lIns="0" tIns="0" rIns="0" bIns="0" rtlCol="0" anchor="ctr"/>
          <a:lstStyle/>
          <a:p>
            <a:pPr algn="ctr" indent="0" marL="0">
              <a:buNone/>
            </a:pPr>
            <a:r>
              <a:rPr lang="en-US" sz="1300" b="1" dirty="0">
                <a:solidFill>
                  <a:schemeClr val="bg1"/>
                </a:solidFill>
              </a:rPr>
              <a:t>DOOR</a:t>
            </a:r>
            <a:endParaRPr lang="en-US" sz="1300" dirty="0"/>
          </a:p>
        </p:txBody>
      </p:sp>
      <p:sp>
        <p:nvSpPr>
          <p:cNvPr id="48" name="Text 45"/>
          <p:cNvSpPr txBox="1"/>
          <p:nvPr/>
        </p:nvSpPr>
        <p:spPr>
          <a:xfrm>
            <a:off x="7260336" y="2011680"/>
            <a:ext cx="2423160" cy="493776"/>
          </a:xfrm>
          <a:prstGeom prst="rect">
            <a:avLst/>
          </a:prstGeom>
          <a:noFill/>
          <a:ln/>
        </p:spPr>
        <p:txBody>
          <a:bodyPr wrap="square" lIns="0" tIns="0" rIns="0" bIns="0" rtlCol="0" anchor="ctr"/>
          <a:lstStyle/>
          <a:p>
            <a:pPr algn="l" indent="0" marL="0">
              <a:buNone/>
            </a:pPr>
            <a:r>
              <a:rPr lang="en-US" sz="1200" dirty="0">
                <a:solidFill>
                  <a:schemeClr val="tx1"/>
                </a:solidFill>
              </a:rPr>
              <a:t>à travers, continuer, transmettre</a:t>
            </a:r>
            <a:endParaRPr lang="en-US" sz="1200" dirty="0"/>
          </a:p>
        </p:txBody>
      </p:sp>
      <p:sp>
        <p:nvSpPr>
          <p:cNvPr id="49" name="Text 46"/>
          <p:cNvSpPr txBox="1"/>
          <p:nvPr/>
        </p:nvSpPr>
        <p:spPr>
          <a:xfrm>
            <a:off x="9683496" y="2011680"/>
            <a:ext cx="1911096" cy="493776"/>
          </a:xfrm>
          <a:prstGeom prst="rect">
            <a:avLst/>
          </a:prstGeom>
          <a:noFill/>
          <a:ln/>
        </p:spPr>
        <p:txBody>
          <a:bodyPr wrap="square" lIns="0" tIns="0" rIns="0" bIns="0" rtlCol="0" anchor="ctr"/>
          <a:lstStyle/>
          <a:p>
            <a:pPr algn="l" indent="0" marL="0">
              <a:buNone/>
            </a:pPr>
            <a:r>
              <a:rPr lang="en-US" sz="1200" b="1" i="1" dirty="0">
                <a:solidFill>
                  <a:schemeClr val="tx2"/>
                </a:solidFill>
              </a:rPr>
              <a:t>doorgaan · doorsturen</a:t>
            </a:r>
            <a:endParaRPr lang="en-US" sz="1200" dirty="0"/>
          </a:p>
        </p:txBody>
      </p:sp>
      <p:sp>
        <p:nvSpPr>
          <p:cNvPr id="50" name="Shape 47"/>
          <p:cNvSpPr/>
          <p:nvPr/>
        </p:nvSpPr>
        <p:spPr>
          <a:xfrm>
            <a:off x="6208776" y="2560320"/>
            <a:ext cx="5431536" cy="493776"/>
          </a:xfrm>
          <a:prstGeom prst="roundRect">
            <a:avLst>
              <a:gd name="adj" fmla="val 11111"/>
            </a:avLst>
          </a:prstGeom>
          <a:solidFill>
            <a:srgbClr val="FFFFFF"/>
          </a:solidFill>
          <a:ln w="12700">
            <a:solidFill>
              <a:srgbClr val="FFFFFF">
                <a:alpha val="0"/>
              </a:srgbClr>
            </a:solidFill>
            <a:prstDash val="solid"/>
          </a:ln>
        </p:spPr>
      </p:sp>
      <p:sp>
        <p:nvSpPr>
          <p:cNvPr id="51" name="Shape 48"/>
          <p:cNvSpPr/>
          <p:nvPr/>
        </p:nvSpPr>
        <p:spPr>
          <a:xfrm>
            <a:off x="6263640" y="2624328"/>
            <a:ext cx="914400" cy="365760"/>
          </a:xfrm>
          <a:prstGeom prst="roundRect">
            <a:avLst>
              <a:gd name="adj" fmla="val 25000"/>
            </a:avLst>
          </a:prstGeom>
          <a:solidFill>
            <a:srgbClr val="4352C9"/>
          </a:solidFill>
          <a:ln w="12700">
            <a:solidFill>
              <a:srgbClr val="FFFFFF">
                <a:alpha val="0"/>
              </a:srgbClr>
            </a:solidFill>
            <a:prstDash val="solid"/>
          </a:ln>
        </p:spPr>
      </p:sp>
      <p:sp>
        <p:nvSpPr>
          <p:cNvPr id="52" name="Text 49"/>
          <p:cNvSpPr txBox="1"/>
          <p:nvPr/>
        </p:nvSpPr>
        <p:spPr>
          <a:xfrm>
            <a:off x="6263640" y="2624328"/>
            <a:ext cx="914400" cy="365760"/>
          </a:xfrm>
          <a:prstGeom prst="rect">
            <a:avLst/>
          </a:prstGeom>
          <a:noFill/>
          <a:ln/>
        </p:spPr>
        <p:txBody>
          <a:bodyPr wrap="square" lIns="0" tIns="0" rIns="0" bIns="0" rtlCol="0" anchor="ctr"/>
          <a:lstStyle/>
          <a:p>
            <a:pPr algn="ctr" indent="0" marL="0">
              <a:buNone/>
            </a:pPr>
            <a:r>
              <a:rPr lang="en-US" sz="1300" b="1" dirty="0">
                <a:solidFill>
                  <a:schemeClr val="bg1"/>
                </a:solidFill>
              </a:rPr>
              <a:t>OVER</a:t>
            </a:r>
            <a:endParaRPr lang="en-US" sz="1300" dirty="0"/>
          </a:p>
        </p:txBody>
      </p:sp>
      <p:sp>
        <p:nvSpPr>
          <p:cNvPr id="53" name="Text 50"/>
          <p:cNvSpPr txBox="1"/>
          <p:nvPr/>
        </p:nvSpPr>
        <p:spPr>
          <a:xfrm>
            <a:off x="7260336" y="2560320"/>
            <a:ext cx="2423160" cy="493776"/>
          </a:xfrm>
          <a:prstGeom prst="rect">
            <a:avLst/>
          </a:prstGeom>
          <a:noFill/>
          <a:ln/>
        </p:spPr>
        <p:txBody>
          <a:bodyPr wrap="square" lIns="0" tIns="0" rIns="0" bIns="0" rtlCol="0" anchor="ctr"/>
          <a:lstStyle/>
          <a:p>
            <a:pPr algn="l" indent="0" marL="0">
              <a:buNone/>
            </a:pPr>
            <a:r>
              <a:rPr lang="en-US" sz="1200" dirty="0">
                <a:solidFill>
                  <a:schemeClr val="tx1"/>
                </a:solidFill>
              </a:rPr>
              <a:t>d’un côté à l’autre, de nouveau, passer à qn</a:t>
            </a:r>
            <a:endParaRPr lang="en-US" sz="1200" dirty="0"/>
          </a:p>
        </p:txBody>
      </p:sp>
      <p:sp>
        <p:nvSpPr>
          <p:cNvPr id="54" name="Text 51"/>
          <p:cNvSpPr txBox="1"/>
          <p:nvPr/>
        </p:nvSpPr>
        <p:spPr>
          <a:xfrm>
            <a:off x="9683496" y="2560320"/>
            <a:ext cx="1911096" cy="493776"/>
          </a:xfrm>
          <a:prstGeom prst="rect">
            <a:avLst/>
          </a:prstGeom>
          <a:noFill/>
          <a:ln/>
        </p:spPr>
        <p:txBody>
          <a:bodyPr wrap="square" lIns="0" tIns="0" rIns="0" bIns="0" rtlCol="0" anchor="ctr"/>
          <a:lstStyle/>
          <a:p>
            <a:pPr algn="l" indent="0" marL="0">
              <a:buNone/>
            </a:pPr>
            <a:r>
              <a:rPr lang="en-US" sz="1200" b="1" i="1" dirty="0">
                <a:solidFill>
                  <a:schemeClr val="tx2"/>
                </a:solidFill>
              </a:rPr>
              <a:t>overstappen · overnemen</a:t>
            </a:r>
            <a:endParaRPr lang="en-US" sz="1200" dirty="0"/>
          </a:p>
        </p:txBody>
      </p:sp>
      <p:sp>
        <p:nvSpPr>
          <p:cNvPr id="55" name="Shape 52"/>
          <p:cNvSpPr/>
          <p:nvPr/>
        </p:nvSpPr>
        <p:spPr>
          <a:xfrm>
            <a:off x="6208776" y="3108960"/>
            <a:ext cx="5431536" cy="493776"/>
          </a:xfrm>
          <a:prstGeom prst="roundRect">
            <a:avLst>
              <a:gd name="adj" fmla="val 11111"/>
            </a:avLst>
          </a:prstGeom>
          <a:solidFill>
            <a:schemeClr val="bg2"/>
          </a:solidFill>
          <a:ln w="12700">
            <a:solidFill>
              <a:srgbClr val="FFFFFF">
                <a:alpha val="0"/>
              </a:srgbClr>
            </a:solidFill>
            <a:prstDash val="solid"/>
          </a:ln>
        </p:spPr>
      </p:sp>
      <p:sp>
        <p:nvSpPr>
          <p:cNvPr id="56" name="Shape 53"/>
          <p:cNvSpPr/>
          <p:nvPr/>
        </p:nvSpPr>
        <p:spPr>
          <a:xfrm>
            <a:off x="6263640" y="3172968"/>
            <a:ext cx="914400" cy="365760"/>
          </a:xfrm>
          <a:prstGeom prst="roundRect">
            <a:avLst>
              <a:gd name="adj" fmla="val 25000"/>
            </a:avLst>
          </a:prstGeom>
          <a:solidFill>
            <a:srgbClr val="7C9A1E"/>
          </a:solidFill>
          <a:ln w="12700">
            <a:solidFill>
              <a:srgbClr val="FFFFFF">
                <a:alpha val="0"/>
              </a:srgbClr>
            </a:solidFill>
            <a:prstDash val="solid"/>
          </a:ln>
        </p:spPr>
      </p:sp>
      <p:sp>
        <p:nvSpPr>
          <p:cNvPr id="57" name="Text 54"/>
          <p:cNvSpPr txBox="1"/>
          <p:nvPr/>
        </p:nvSpPr>
        <p:spPr>
          <a:xfrm>
            <a:off x="6263640" y="3172968"/>
            <a:ext cx="914400" cy="365760"/>
          </a:xfrm>
          <a:prstGeom prst="rect">
            <a:avLst/>
          </a:prstGeom>
          <a:noFill/>
          <a:ln/>
        </p:spPr>
        <p:txBody>
          <a:bodyPr wrap="square" lIns="0" tIns="0" rIns="0" bIns="0" rtlCol="0" anchor="ctr"/>
          <a:lstStyle/>
          <a:p>
            <a:pPr algn="ctr" indent="0" marL="0">
              <a:buNone/>
            </a:pPr>
            <a:r>
              <a:rPr lang="en-US" sz="1300" b="1" dirty="0">
                <a:solidFill>
                  <a:schemeClr val="bg1"/>
                </a:solidFill>
              </a:rPr>
              <a:t>MEE</a:t>
            </a:r>
            <a:endParaRPr lang="en-US" sz="1300" dirty="0"/>
          </a:p>
        </p:txBody>
      </p:sp>
      <p:sp>
        <p:nvSpPr>
          <p:cNvPr id="58" name="Text 55"/>
          <p:cNvSpPr txBox="1"/>
          <p:nvPr/>
        </p:nvSpPr>
        <p:spPr>
          <a:xfrm>
            <a:off x="7260336" y="3108960"/>
            <a:ext cx="2423160" cy="493776"/>
          </a:xfrm>
          <a:prstGeom prst="rect">
            <a:avLst/>
          </a:prstGeom>
          <a:noFill/>
          <a:ln/>
        </p:spPr>
        <p:txBody>
          <a:bodyPr wrap="square" lIns="0" tIns="0" rIns="0" bIns="0" rtlCol="0" anchor="ctr"/>
          <a:lstStyle/>
          <a:p>
            <a:pPr algn="l" indent="0" marL="0">
              <a:buNone/>
            </a:pPr>
            <a:r>
              <a:rPr lang="en-US" sz="1200" dirty="0">
                <a:solidFill>
                  <a:schemeClr val="tx1"/>
                </a:solidFill>
              </a:rPr>
              <a:t>avec, participer</a:t>
            </a:r>
            <a:endParaRPr lang="en-US" sz="1200" dirty="0"/>
          </a:p>
        </p:txBody>
      </p:sp>
      <p:sp>
        <p:nvSpPr>
          <p:cNvPr id="59" name="Text 56"/>
          <p:cNvSpPr txBox="1"/>
          <p:nvPr/>
        </p:nvSpPr>
        <p:spPr>
          <a:xfrm>
            <a:off x="9683496" y="3108960"/>
            <a:ext cx="1911096" cy="493776"/>
          </a:xfrm>
          <a:prstGeom prst="rect">
            <a:avLst/>
          </a:prstGeom>
          <a:noFill/>
          <a:ln/>
        </p:spPr>
        <p:txBody>
          <a:bodyPr wrap="square" lIns="0" tIns="0" rIns="0" bIns="0" rtlCol="0" anchor="ctr"/>
          <a:lstStyle/>
          <a:p>
            <a:pPr algn="l" indent="0" marL="0">
              <a:buNone/>
            </a:pPr>
            <a:r>
              <a:rPr lang="en-US" sz="1200" b="1" i="1" dirty="0">
                <a:solidFill>
                  <a:schemeClr val="tx2"/>
                </a:solidFill>
              </a:rPr>
              <a:t>meenemen · meedoen</a:t>
            </a:r>
            <a:endParaRPr lang="en-US" sz="1200" dirty="0"/>
          </a:p>
        </p:txBody>
      </p:sp>
      <p:sp>
        <p:nvSpPr>
          <p:cNvPr id="60" name="Shape 57"/>
          <p:cNvSpPr/>
          <p:nvPr/>
        </p:nvSpPr>
        <p:spPr>
          <a:xfrm>
            <a:off x="6208776" y="3657600"/>
            <a:ext cx="5431536" cy="493776"/>
          </a:xfrm>
          <a:prstGeom prst="roundRect">
            <a:avLst>
              <a:gd name="adj" fmla="val 11111"/>
            </a:avLst>
          </a:prstGeom>
          <a:solidFill>
            <a:srgbClr val="FFFFFF"/>
          </a:solidFill>
          <a:ln w="12700">
            <a:solidFill>
              <a:srgbClr val="FFFFFF">
                <a:alpha val="0"/>
              </a:srgbClr>
            </a:solidFill>
            <a:prstDash val="solid"/>
          </a:ln>
        </p:spPr>
      </p:sp>
      <p:sp>
        <p:nvSpPr>
          <p:cNvPr id="61" name="Shape 58"/>
          <p:cNvSpPr/>
          <p:nvPr/>
        </p:nvSpPr>
        <p:spPr>
          <a:xfrm>
            <a:off x="6263640" y="3721608"/>
            <a:ext cx="914400" cy="365760"/>
          </a:xfrm>
          <a:prstGeom prst="roundRect">
            <a:avLst>
              <a:gd name="adj" fmla="val 25000"/>
            </a:avLst>
          </a:prstGeom>
          <a:solidFill>
            <a:srgbClr val="8B1E3F"/>
          </a:solidFill>
          <a:ln w="12700">
            <a:solidFill>
              <a:srgbClr val="FFFFFF">
                <a:alpha val="0"/>
              </a:srgbClr>
            </a:solidFill>
            <a:prstDash val="solid"/>
          </a:ln>
        </p:spPr>
      </p:sp>
      <p:sp>
        <p:nvSpPr>
          <p:cNvPr id="62" name="Text 59"/>
          <p:cNvSpPr txBox="1"/>
          <p:nvPr/>
        </p:nvSpPr>
        <p:spPr>
          <a:xfrm>
            <a:off x="6263640" y="3721608"/>
            <a:ext cx="914400" cy="365760"/>
          </a:xfrm>
          <a:prstGeom prst="rect">
            <a:avLst/>
          </a:prstGeom>
          <a:noFill/>
          <a:ln/>
        </p:spPr>
        <p:txBody>
          <a:bodyPr wrap="square" lIns="0" tIns="0" rIns="0" bIns="0" rtlCol="0" anchor="ctr"/>
          <a:lstStyle/>
          <a:p>
            <a:pPr algn="ctr" indent="0" marL="0">
              <a:buNone/>
            </a:pPr>
            <a:r>
              <a:rPr lang="en-US" sz="1300" b="1" dirty="0">
                <a:solidFill>
                  <a:schemeClr val="bg1"/>
                </a:solidFill>
              </a:rPr>
              <a:t>TEGEN</a:t>
            </a:r>
            <a:endParaRPr lang="en-US" sz="1300" dirty="0"/>
          </a:p>
        </p:txBody>
      </p:sp>
      <p:sp>
        <p:nvSpPr>
          <p:cNvPr id="63" name="Text 60"/>
          <p:cNvSpPr txBox="1"/>
          <p:nvPr/>
        </p:nvSpPr>
        <p:spPr>
          <a:xfrm>
            <a:off x="7260336" y="3657600"/>
            <a:ext cx="2423160" cy="493776"/>
          </a:xfrm>
          <a:prstGeom prst="rect">
            <a:avLst/>
          </a:prstGeom>
          <a:noFill/>
          <a:ln/>
        </p:spPr>
        <p:txBody>
          <a:bodyPr wrap="square" lIns="0" tIns="0" rIns="0" bIns="0" rtlCol="0" anchor="ctr"/>
          <a:lstStyle/>
          <a:p>
            <a:pPr algn="l" indent="0" marL="0">
              <a:buNone/>
            </a:pPr>
            <a:r>
              <a:rPr lang="en-US" sz="1200" dirty="0">
                <a:solidFill>
                  <a:schemeClr val="tx1"/>
                </a:solidFill>
              </a:rPr>
              <a:t>contre</a:t>
            </a:r>
            <a:endParaRPr lang="en-US" sz="1200" dirty="0"/>
          </a:p>
        </p:txBody>
      </p:sp>
      <p:sp>
        <p:nvSpPr>
          <p:cNvPr id="64" name="Text 61"/>
          <p:cNvSpPr txBox="1"/>
          <p:nvPr/>
        </p:nvSpPr>
        <p:spPr>
          <a:xfrm>
            <a:off x="9683496" y="3657600"/>
            <a:ext cx="1911096" cy="493776"/>
          </a:xfrm>
          <a:prstGeom prst="rect">
            <a:avLst/>
          </a:prstGeom>
          <a:noFill/>
          <a:ln/>
        </p:spPr>
        <p:txBody>
          <a:bodyPr wrap="square" lIns="0" tIns="0" rIns="0" bIns="0" rtlCol="0" anchor="ctr"/>
          <a:lstStyle/>
          <a:p>
            <a:pPr algn="l" indent="0" marL="0">
              <a:buNone/>
            </a:pPr>
            <a:r>
              <a:rPr lang="en-US" sz="1200" b="1" i="1" dirty="0">
                <a:solidFill>
                  <a:schemeClr val="tx2"/>
                </a:solidFill>
              </a:rPr>
              <a:t>tegenkomen · tegenhouden</a:t>
            </a:r>
            <a:endParaRPr lang="en-US" sz="1200" dirty="0"/>
          </a:p>
        </p:txBody>
      </p:sp>
      <p:sp>
        <p:nvSpPr>
          <p:cNvPr id="65" name="Shape 62"/>
          <p:cNvSpPr/>
          <p:nvPr/>
        </p:nvSpPr>
        <p:spPr>
          <a:xfrm>
            <a:off x="6208776" y="4206240"/>
            <a:ext cx="5431536" cy="493776"/>
          </a:xfrm>
          <a:prstGeom prst="roundRect">
            <a:avLst>
              <a:gd name="adj" fmla="val 11111"/>
            </a:avLst>
          </a:prstGeom>
          <a:solidFill>
            <a:schemeClr val="bg2"/>
          </a:solidFill>
          <a:ln w="12700">
            <a:solidFill>
              <a:srgbClr val="FFFFFF">
                <a:alpha val="0"/>
              </a:srgbClr>
            </a:solidFill>
            <a:prstDash val="solid"/>
          </a:ln>
        </p:spPr>
      </p:sp>
      <p:sp>
        <p:nvSpPr>
          <p:cNvPr id="66" name="Shape 63"/>
          <p:cNvSpPr/>
          <p:nvPr/>
        </p:nvSpPr>
        <p:spPr>
          <a:xfrm>
            <a:off x="6263640" y="4270248"/>
            <a:ext cx="914400" cy="365760"/>
          </a:xfrm>
          <a:prstGeom prst="roundRect">
            <a:avLst>
              <a:gd name="adj" fmla="val 25000"/>
            </a:avLst>
          </a:prstGeom>
          <a:solidFill>
            <a:srgbClr val="546E7A"/>
          </a:solidFill>
          <a:ln w="12700">
            <a:solidFill>
              <a:srgbClr val="FFFFFF">
                <a:alpha val="0"/>
              </a:srgbClr>
            </a:solidFill>
            <a:prstDash val="solid"/>
          </a:ln>
        </p:spPr>
      </p:sp>
      <p:sp>
        <p:nvSpPr>
          <p:cNvPr id="67" name="Text 64"/>
          <p:cNvSpPr txBox="1"/>
          <p:nvPr/>
        </p:nvSpPr>
        <p:spPr>
          <a:xfrm>
            <a:off x="6263640" y="4270248"/>
            <a:ext cx="914400" cy="365760"/>
          </a:xfrm>
          <a:prstGeom prst="rect">
            <a:avLst/>
          </a:prstGeom>
          <a:noFill/>
          <a:ln/>
        </p:spPr>
        <p:txBody>
          <a:bodyPr wrap="square" lIns="0" tIns="0" rIns="0" bIns="0" rtlCol="0" anchor="ctr"/>
          <a:lstStyle/>
          <a:p>
            <a:pPr algn="ctr" indent="0" marL="0">
              <a:buNone/>
            </a:pPr>
            <a:r>
              <a:rPr lang="en-US" sz="1300" b="1" dirty="0">
                <a:solidFill>
                  <a:schemeClr val="bg1"/>
                </a:solidFill>
              </a:rPr>
              <a:t>OM</a:t>
            </a:r>
            <a:endParaRPr lang="en-US" sz="1300" dirty="0"/>
          </a:p>
        </p:txBody>
      </p:sp>
      <p:sp>
        <p:nvSpPr>
          <p:cNvPr id="68" name="Text 65"/>
          <p:cNvSpPr txBox="1"/>
          <p:nvPr/>
        </p:nvSpPr>
        <p:spPr>
          <a:xfrm>
            <a:off x="7260336" y="4206240"/>
            <a:ext cx="2423160" cy="493776"/>
          </a:xfrm>
          <a:prstGeom prst="rect">
            <a:avLst/>
          </a:prstGeom>
          <a:noFill/>
          <a:ln/>
        </p:spPr>
        <p:txBody>
          <a:bodyPr wrap="square" lIns="0" tIns="0" rIns="0" bIns="0" rtlCol="0" anchor="ctr"/>
          <a:lstStyle/>
          <a:p>
            <a:pPr algn="l" indent="0" marL="0">
              <a:buNone/>
            </a:pPr>
            <a:r>
              <a:rPr lang="en-US" sz="1200" dirty="0">
                <a:solidFill>
                  <a:schemeClr val="tx1"/>
                </a:solidFill>
              </a:rPr>
              <a:t>autour, changer</a:t>
            </a:r>
            <a:endParaRPr lang="en-US" sz="1200" dirty="0"/>
          </a:p>
        </p:txBody>
      </p:sp>
      <p:sp>
        <p:nvSpPr>
          <p:cNvPr id="69" name="Text 66"/>
          <p:cNvSpPr txBox="1"/>
          <p:nvPr/>
        </p:nvSpPr>
        <p:spPr>
          <a:xfrm>
            <a:off x="9683496" y="4206240"/>
            <a:ext cx="1911096" cy="493776"/>
          </a:xfrm>
          <a:prstGeom prst="rect">
            <a:avLst/>
          </a:prstGeom>
          <a:noFill/>
          <a:ln/>
        </p:spPr>
        <p:txBody>
          <a:bodyPr wrap="square" lIns="0" tIns="0" rIns="0" bIns="0" rtlCol="0" anchor="ctr"/>
          <a:lstStyle/>
          <a:p>
            <a:pPr algn="l" indent="0" marL="0">
              <a:buNone/>
            </a:pPr>
            <a:r>
              <a:rPr lang="en-US" sz="1200" b="1" i="1" dirty="0">
                <a:solidFill>
                  <a:schemeClr val="tx2"/>
                </a:solidFill>
              </a:rPr>
              <a:t>omrijden · omzetten</a:t>
            </a:r>
            <a:endParaRPr lang="en-US" sz="1200" dirty="0"/>
          </a:p>
        </p:txBody>
      </p:sp>
      <p:sp>
        <p:nvSpPr>
          <p:cNvPr id="70" name="Shape 67"/>
          <p:cNvSpPr/>
          <p:nvPr/>
        </p:nvSpPr>
        <p:spPr>
          <a:xfrm>
            <a:off x="6208776" y="4754880"/>
            <a:ext cx="5431536" cy="493776"/>
          </a:xfrm>
          <a:prstGeom prst="roundRect">
            <a:avLst>
              <a:gd name="adj" fmla="val 11111"/>
            </a:avLst>
          </a:prstGeom>
          <a:solidFill>
            <a:srgbClr val="FFFFFF"/>
          </a:solidFill>
          <a:ln w="12700">
            <a:solidFill>
              <a:srgbClr val="FFFFFF">
                <a:alpha val="0"/>
              </a:srgbClr>
            </a:solidFill>
            <a:prstDash val="solid"/>
          </a:ln>
        </p:spPr>
      </p:sp>
      <p:sp>
        <p:nvSpPr>
          <p:cNvPr id="71" name="Shape 68"/>
          <p:cNvSpPr/>
          <p:nvPr/>
        </p:nvSpPr>
        <p:spPr>
          <a:xfrm>
            <a:off x="6263640" y="4818888"/>
            <a:ext cx="914400" cy="365760"/>
          </a:xfrm>
          <a:prstGeom prst="roundRect">
            <a:avLst>
              <a:gd name="adj" fmla="val 25000"/>
            </a:avLst>
          </a:prstGeom>
          <a:solidFill>
            <a:srgbClr val="B8860B"/>
          </a:solidFill>
          <a:ln w="12700">
            <a:solidFill>
              <a:srgbClr val="FFFFFF">
                <a:alpha val="0"/>
              </a:srgbClr>
            </a:solidFill>
            <a:prstDash val="solid"/>
          </a:ln>
        </p:spPr>
      </p:sp>
      <p:sp>
        <p:nvSpPr>
          <p:cNvPr id="72" name="Text 69"/>
          <p:cNvSpPr txBox="1"/>
          <p:nvPr/>
        </p:nvSpPr>
        <p:spPr>
          <a:xfrm>
            <a:off x="6263640" y="4818888"/>
            <a:ext cx="914400" cy="365760"/>
          </a:xfrm>
          <a:prstGeom prst="rect">
            <a:avLst/>
          </a:prstGeom>
          <a:noFill/>
          <a:ln/>
        </p:spPr>
        <p:txBody>
          <a:bodyPr wrap="square" lIns="0" tIns="0" rIns="0" bIns="0" rtlCol="0" anchor="ctr"/>
          <a:lstStyle/>
          <a:p>
            <a:pPr algn="ctr" indent="0" marL="0">
              <a:buNone/>
            </a:pPr>
            <a:r>
              <a:rPr lang="en-US" sz="1300" b="1" dirty="0">
                <a:solidFill>
                  <a:schemeClr val="bg1"/>
                </a:solidFill>
              </a:rPr>
              <a:t>VOOR</a:t>
            </a:r>
            <a:endParaRPr lang="en-US" sz="1300" dirty="0"/>
          </a:p>
        </p:txBody>
      </p:sp>
      <p:sp>
        <p:nvSpPr>
          <p:cNvPr id="73" name="Text 70"/>
          <p:cNvSpPr txBox="1"/>
          <p:nvPr/>
        </p:nvSpPr>
        <p:spPr>
          <a:xfrm>
            <a:off x="7260336" y="4754880"/>
            <a:ext cx="2423160" cy="493776"/>
          </a:xfrm>
          <a:prstGeom prst="rect">
            <a:avLst/>
          </a:prstGeom>
          <a:noFill/>
          <a:ln/>
        </p:spPr>
        <p:txBody>
          <a:bodyPr wrap="square" lIns="0" tIns="0" rIns="0" bIns="0" rtlCol="0" anchor="ctr"/>
          <a:lstStyle/>
          <a:p>
            <a:pPr algn="l" indent="0" marL="0">
              <a:buNone/>
            </a:pPr>
            <a:r>
              <a:rPr lang="en-US" sz="1200" dirty="0">
                <a:solidFill>
                  <a:schemeClr val="tx1"/>
                </a:solidFill>
              </a:rPr>
              <a:t>devant, proposer</a:t>
            </a:r>
            <a:endParaRPr lang="en-US" sz="1200" dirty="0"/>
          </a:p>
        </p:txBody>
      </p:sp>
      <p:sp>
        <p:nvSpPr>
          <p:cNvPr id="74" name="Text 71"/>
          <p:cNvSpPr txBox="1"/>
          <p:nvPr/>
        </p:nvSpPr>
        <p:spPr>
          <a:xfrm>
            <a:off x="9683496" y="4754880"/>
            <a:ext cx="1911096" cy="493776"/>
          </a:xfrm>
          <a:prstGeom prst="rect">
            <a:avLst/>
          </a:prstGeom>
          <a:noFill/>
          <a:ln/>
        </p:spPr>
        <p:txBody>
          <a:bodyPr wrap="square" lIns="0" tIns="0" rIns="0" bIns="0" rtlCol="0" anchor="ctr"/>
          <a:lstStyle/>
          <a:p>
            <a:pPr algn="l" indent="0" marL="0">
              <a:buNone/>
            </a:pPr>
            <a:r>
              <a:rPr lang="en-US" sz="1200" b="1" i="1" dirty="0">
                <a:solidFill>
                  <a:schemeClr val="tx2"/>
                </a:solidFill>
              </a:rPr>
              <a:t>voorbereiden · voorstellen</a:t>
            </a:r>
            <a:endParaRPr lang="en-US" sz="1200" dirty="0"/>
          </a:p>
        </p:txBody>
      </p:sp>
      <p:sp>
        <p:nvSpPr>
          <p:cNvPr id="75" name="Shape 72"/>
          <p:cNvSpPr/>
          <p:nvPr/>
        </p:nvSpPr>
        <p:spPr>
          <a:xfrm>
            <a:off x="548640" y="5394960"/>
            <a:ext cx="11091672" cy="822960"/>
          </a:xfrm>
          <a:prstGeom prst="roundRect">
            <a:avLst>
              <a:gd name="adj" fmla="val 11111"/>
            </a:avLst>
          </a:prstGeom>
          <a:solidFill>
            <a:srgbClr val="FBEDEB"/>
          </a:solidFill>
          <a:ln w="15875">
            <a:solidFill>
              <a:srgbClr val="B83227"/>
            </a:solidFill>
            <a:prstDash val="solid"/>
          </a:ln>
        </p:spPr>
      </p:sp>
      <p:sp>
        <p:nvSpPr>
          <p:cNvPr id="76" name="Text 73"/>
          <p:cNvSpPr txBox="1"/>
          <p:nvPr/>
        </p:nvSpPr>
        <p:spPr>
          <a:xfrm>
            <a:off x="777240" y="5394960"/>
            <a:ext cx="10698480" cy="822960"/>
          </a:xfrm>
          <a:prstGeom prst="rect">
            <a:avLst/>
          </a:prstGeom>
          <a:noFill/>
          <a:ln/>
        </p:spPr>
        <p:txBody>
          <a:bodyPr wrap="square" lIns="0" tIns="0" rIns="0" bIns="0" rtlCol="0" anchor="ctr"/>
          <a:lstStyle/>
          <a:p>
            <a:pPr algn="l" indent="0" marL="0">
              <a:spcAft>
                <a:spcPts val="200"/>
              </a:spcAft>
              <a:buNone/>
            </a:pPr>
            <a:r>
              <a:rPr lang="en-US" sz="1500" b="1" dirty="0">
                <a:solidFill>
                  <a:schemeClr val="tx1"/>
                </a:solidFill>
              </a:rPr>
              <a:t>3 réflexes</a:t>
            </a:r>
            <a:r>
              <a:rPr lang="en-US" sz="1500" dirty="0">
                <a:solidFill>
                  <a:schemeClr val="tx1"/>
                </a:solidFill>
              </a:rPr>
              <a:t> : direction → résultat → figuré · l’accent décide (séparable ou non) · le complément choisit le sens</a:t>
            </a:r>
            <a:endParaRPr lang="en-US" sz="1500" dirty="0"/>
          </a:p>
          <a:p>
            <a:pPr algn="l" indent="0" marL="0">
              <a:spcAft>
                <a:spcPts val="200"/>
              </a:spcAft>
              <a:buNone/>
            </a:pPr>
            <a:r>
              <a:rPr lang="en-US" sz="1500" i="1" dirty="0">
                <a:solidFill>
                  <a:schemeClr val="tx1"/>
                </a:solidFill>
              </a:rPr>
              <a:t>ver-, be-, ont-, her-, ge-, er-</a:t>
            </a:r>
            <a:r>
              <a:rPr lang="en-US" sz="1500" dirty="0">
                <a:solidFill>
                  <a:schemeClr val="tx1"/>
                </a:solidFill>
              </a:rPr>
              <a:t> : </a:t>
            </a:r>
            <a:r>
              <a:rPr lang="en-US" sz="1500" b="1" dirty="0">
                <a:solidFill>
                  <a:schemeClr val="tx1"/>
                </a:solidFill>
              </a:rPr>
              <a:t>jamais séparables</a:t>
            </a:r>
            <a:endParaRPr lang="en-US" sz="1500" dirty="0"/>
          </a:p>
        </p:txBody>
      </p:sp>
      <p:pic>
        <p:nvPicPr>
          <p:cNvPr id="77" name="Image 0" descr="Camera">    </p:cNvPr>
          <p:cNvPicPr>
            <a:picLocks noChangeAspect="1"/>
          </p:cNvPicPr>
          <p:nvPr/>
        </p:nvPicPr>
        <p:blipFill>
          <a:blip r:embed="rId1"/>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Question">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Quelle particule ?</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Star">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L’étoile de nemen</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Cut">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Séparable ou inséparable ?</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Search">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ExchangeAlt">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bon contraire</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Dharmachakra">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La roulette des particules</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Users">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La réunion d’équipe</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Quelle particule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la particule qui donne le sens entre parenthèses.</a:t>
            </a:r>
            <a:endParaRPr lang="en-US" sz="1700" dirty="0"/>
          </a:p>
        </p:txBody>
      </p:sp>
      <p:sp>
        <p:nvSpPr>
          <p:cNvPr id="8" name="Text 4"/>
          <p:cNvSpPr txBox="1"/>
          <p:nvPr/>
        </p:nvSpPr>
        <p:spPr>
          <a:xfrm>
            <a:off x="548640" y="2115312"/>
            <a:ext cx="5340096" cy="4114800"/>
          </a:xfrm>
          <a:prstGeom prst="rect">
            <a:avLst/>
          </a:prstGeom>
          <a:noFill/>
          <a:ln/>
        </p:spPr>
        <p:txBody>
          <a:bodyPr wrap="square" lIns="0" tIns="0" rIns="0" bIns="0" rtlCol="0" anchor="t"/>
          <a:lstStyle/>
          <a:p>
            <a:pPr indent="0" marL="0">
              <a:spcAft>
                <a:spcPts val="2200"/>
              </a:spcAft>
              <a:buNone/>
            </a:pPr>
            <a:r>
              <a:rPr lang="en-US" sz="1900" b="1" dirty="0">
                <a:solidFill>
                  <a:schemeClr val="tx2"/>
                </a:solidFill>
              </a:rPr>
              <a:t>1  </a:t>
            </a:r>
            <a:r>
              <a:rPr lang="en-US" sz="1900" i="1" dirty="0">
                <a:solidFill>
                  <a:schemeClr val="tx1"/>
                </a:solidFill>
              </a:rPr>
              <a:t>Kun je de radio </a:t>
            </a:r>
            <a:r>
              <a:rPr lang="en-US" sz="1900" i="1" dirty="0">
                <a:solidFill>
                  <a:schemeClr val="accent5"/>
                </a:solidFill>
              </a:rPr>
              <a:t>…………</a:t>
            </a:r>
            <a:r>
              <a:rPr lang="en-US" sz="1900" i="1" dirty="0">
                <a:solidFill>
                  <a:schemeClr val="tx1"/>
                </a:solidFill>
              </a:rPr>
              <a:t>zetten?</a:t>
            </a:r>
            <a:r>
              <a:rPr lang="en-US" sz="1900" dirty="0">
                <a:solidFill>
                  <a:schemeClr val="tx1"/>
                </a:solidFill>
              </a:rPr>
              <a:t> (éteindre)</a:t>
            </a:r>
            <a:endParaRPr lang="en-US" sz="1900" dirty="0"/>
          </a:p>
          <a:p>
            <a:pPr indent="0" marL="0">
              <a:spcAft>
                <a:spcPts val="2200"/>
              </a:spcAft>
              <a:buNone/>
            </a:pPr>
            <a:r>
              <a:rPr lang="en-US" sz="1900" b="1" dirty="0">
                <a:solidFill>
                  <a:schemeClr val="tx2"/>
                </a:solidFill>
              </a:rPr>
              <a:t>2  </a:t>
            </a:r>
            <a:r>
              <a:rPr lang="en-US" sz="1900" i="1" dirty="0">
                <a:solidFill>
                  <a:schemeClr val="tx1"/>
                </a:solidFill>
              </a:rPr>
              <a:t>De prijzen nemen elk jaar </a:t>
            </a:r>
            <a:r>
              <a:rPr lang="en-US" sz="1900" i="1" dirty="0">
                <a:solidFill>
                  <a:schemeClr val="accent5"/>
                </a:solidFill>
              </a:rPr>
              <a:t>…………</a:t>
            </a:r>
            <a:r>
              <a:rPr lang="en-US" sz="1900" i="1" dirty="0">
                <a:solidFill>
                  <a:schemeClr val="tx1"/>
                </a:solidFill>
              </a:rPr>
              <a:t>.</a:t>
            </a:r>
            <a:r>
              <a:rPr lang="en-US" sz="1900" dirty="0">
                <a:solidFill>
                  <a:schemeClr val="tx1"/>
                </a:solidFill>
              </a:rPr>
              <a:t> (augmenter)</a:t>
            </a:r>
            <a:endParaRPr lang="en-US" sz="1900" dirty="0"/>
          </a:p>
          <a:p>
            <a:pPr indent="0" marL="0">
              <a:spcAft>
                <a:spcPts val="2200"/>
              </a:spcAft>
              <a:buNone/>
            </a:pPr>
            <a:r>
              <a:rPr lang="en-US" sz="1900" b="1" dirty="0">
                <a:solidFill>
                  <a:schemeClr val="tx2"/>
                </a:solidFill>
              </a:rPr>
              <a:t>3  </a:t>
            </a:r>
            <a:r>
              <a:rPr lang="en-US" sz="1900" i="1" dirty="0">
                <a:solidFill>
                  <a:schemeClr val="tx1"/>
                </a:solidFill>
              </a:rPr>
              <a:t>Ik moet dit woord even </a:t>
            </a:r>
            <a:r>
              <a:rPr lang="en-US" sz="1900" i="1" dirty="0">
                <a:solidFill>
                  <a:schemeClr val="accent5"/>
                </a:solidFill>
              </a:rPr>
              <a:t>…………</a:t>
            </a:r>
            <a:r>
              <a:rPr lang="en-US" sz="1900" i="1" dirty="0">
                <a:solidFill>
                  <a:schemeClr val="tx1"/>
                </a:solidFill>
              </a:rPr>
              <a:t>zoeken.</a:t>
            </a:r>
            <a:r>
              <a:rPr lang="en-US" sz="1900" dirty="0">
                <a:solidFill>
                  <a:schemeClr val="tx1"/>
                </a:solidFill>
              </a:rPr>
              <a:t> (chercher dans le dictionnaire)</a:t>
            </a:r>
            <a:endParaRPr lang="en-US" sz="1900" dirty="0"/>
          </a:p>
          <a:p>
            <a:pPr indent="0" marL="0">
              <a:spcAft>
                <a:spcPts val="2200"/>
              </a:spcAft>
              <a:buNone/>
            </a:pPr>
            <a:r>
              <a:rPr lang="en-US" sz="1900" b="1" dirty="0">
                <a:solidFill>
                  <a:schemeClr val="tx2"/>
                </a:solidFill>
              </a:rPr>
              <a:t>4  </a:t>
            </a:r>
            <a:r>
              <a:rPr lang="en-US" sz="1900" i="1" dirty="0">
                <a:solidFill>
                  <a:schemeClr val="tx1"/>
                </a:solidFill>
              </a:rPr>
              <a:t>Lees je tekst nog eens </a:t>
            </a:r>
            <a:r>
              <a:rPr lang="en-US" sz="1900" i="1" dirty="0">
                <a:solidFill>
                  <a:schemeClr val="accent5"/>
                </a:solidFill>
              </a:rPr>
              <a:t>…………</a:t>
            </a:r>
            <a:r>
              <a:rPr lang="en-US" sz="1900" i="1" dirty="0">
                <a:solidFill>
                  <a:schemeClr val="tx1"/>
                </a:solidFill>
              </a:rPr>
              <a:t> voor je hem verstuurt.</a:t>
            </a:r>
            <a:r>
              <a:rPr lang="en-US" sz="1900" dirty="0">
                <a:solidFill>
                  <a:schemeClr val="tx1"/>
                </a:solidFill>
              </a:rPr>
              <a:t> (relire)</a:t>
            </a:r>
            <a:endParaRPr lang="en-US" sz="1900" dirty="0"/>
          </a:p>
        </p:txBody>
      </p:sp>
      <p:sp>
        <p:nvSpPr>
          <p:cNvPr id="9" name="Text 5"/>
          <p:cNvSpPr txBox="1"/>
          <p:nvPr/>
        </p:nvSpPr>
        <p:spPr>
          <a:xfrm>
            <a:off x="6300216" y="2115312"/>
            <a:ext cx="5340096" cy="4114800"/>
          </a:xfrm>
          <a:prstGeom prst="rect">
            <a:avLst/>
          </a:prstGeom>
          <a:noFill/>
          <a:ln/>
        </p:spPr>
        <p:txBody>
          <a:bodyPr wrap="square" lIns="0" tIns="0" rIns="0" bIns="0" rtlCol="0" anchor="t"/>
          <a:lstStyle/>
          <a:p>
            <a:pPr indent="0" marL="0">
              <a:spcAft>
                <a:spcPts val="2200"/>
              </a:spcAft>
              <a:buNone/>
            </a:pPr>
            <a:r>
              <a:rPr lang="en-US" sz="1900" b="1" dirty="0">
                <a:solidFill>
                  <a:schemeClr val="tx2"/>
                </a:solidFill>
              </a:rPr>
              <a:t>5  </a:t>
            </a:r>
            <a:r>
              <a:rPr lang="en-US" sz="1900" i="1" dirty="0">
                <a:solidFill>
                  <a:schemeClr val="tx1"/>
                </a:solidFill>
              </a:rPr>
              <a:t>Wil je deze mail naar Sofie </a:t>
            </a:r>
            <a:r>
              <a:rPr lang="en-US" sz="1900" i="1" dirty="0">
                <a:solidFill>
                  <a:schemeClr val="accent5"/>
                </a:solidFill>
              </a:rPr>
              <a:t>…………</a:t>
            </a:r>
            <a:r>
              <a:rPr lang="en-US" sz="1900" i="1" dirty="0">
                <a:solidFill>
                  <a:schemeClr val="tx1"/>
                </a:solidFill>
              </a:rPr>
              <a:t>sturen?</a:t>
            </a:r>
            <a:r>
              <a:rPr lang="en-US" sz="1900" dirty="0">
                <a:solidFill>
                  <a:schemeClr val="tx1"/>
                </a:solidFill>
              </a:rPr>
              <a:t> (transférer)</a:t>
            </a:r>
            <a:endParaRPr lang="en-US" sz="1900" dirty="0"/>
          </a:p>
          <a:p>
            <a:pPr indent="0" marL="0">
              <a:spcAft>
                <a:spcPts val="2200"/>
              </a:spcAft>
              <a:buNone/>
            </a:pPr>
            <a:r>
              <a:rPr lang="en-US" sz="1900" b="1" dirty="0">
                <a:solidFill>
                  <a:schemeClr val="tx2"/>
                </a:solidFill>
              </a:rPr>
              <a:t>6  </a:t>
            </a:r>
            <a:r>
              <a:rPr lang="en-US" sz="1900" i="1" dirty="0">
                <a:solidFill>
                  <a:schemeClr val="tx1"/>
                </a:solidFill>
              </a:rPr>
              <a:t>Lotte heeft de taak van An </a:t>
            </a:r>
            <a:r>
              <a:rPr lang="en-US" sz="1900" i="1" dirty="0">
                <a:solidFill>
                  <a:schemeClr val="accent5"/>
                </a:solidFill>
              </a:rPr>
              <a:t>…………</a:t>
            </a:r>
            <a:r>
              <a:rPr lang="en-US" sz="1900" i="1" dirty="0">
                <a:solidFill>
                  <a:schemeClr val="tx1"/>
                </a:solidFill>
              </a:rPr>
              <a:t>genomen.</a:t>
            </a:r>
            <a:r>
              <a:rPr lang="en-US" sz="1900" dirty="0">
                <a:solidFill>
                  <a:schemeClr val="tx1"/>
                </a:solidFill>
              </a:rPr>
              <a:t> (reprendre)</a:t>
            </a:r>
            <a:endParaRPr lang="en-US" sz="1900" dirty="0"/>
          </a:p>
          <a:p>
            <a:pPr indent="0" marL="0">
              <a:spcAft>
                <a:spcPts val="2200"/>
              </a:spcAft>
              <a:buNone/>
            </a:pPr>
            <a:r>
              <a:rPr lang="en-US" sz="1900" b="1" dirty="0">
                <a:solidFill>
                  <a:schemeClr val="tx2"/>
                </a:solidFill>
              </a:rPr>
              <a:t>7  </a:t>
            </a:r>
            <a:r>
              <a:rPr lang="en-US" sz="1900" i="1" dirty="0">
                <a:solidFill>
                  <a:schemeClr val="tx1"/>
                </a:solidFill>
              </a:rPr>
              <a:t>Je moet je rapport vrijdag </a:t>
            </a:r>
            <a:r>
              <a:rPr lang="en-US" sz="1900" i="1" dirty="0">
                <a:solidFill>
                  <a:schemeClr val="accent5"/>
                </a:solidFill>
              </a:rPr>
              <a:t>…………</a:t>
            </a:r>
            <a:r>
              <a:rPr lang="en-US" sz="1900" i="1" dirty="0">
                <a:solidFill>
                  <a:schemeClr val="tx1"/>
                </a:solidFill>
              </a:rPr>
              <a:t>leveren.</a:t>
            </a:r>
            <a:r>
              <a:rPr lang="en-US" sz="1900" dirty="0">
                <a:solidFill>
                  <a:schemeClr val="tx1"/>
                </a:solidFill>
              </a:rPr>
              <a:t> (remettre)</a:t>
            </a:r>
            <a:endParaRPr lang="en-US" sz="1900" dirty="0"/>
          </a:p>
          <a:p>
            <a:pPr indent="0" marL="0">
              <a:spcAft>
                <a:spcPts val="2200"/>
              </a:spcAft>
              <a:buNone/>
            </a:pPr>
            <a:r>
              <a:rPr lang="en-US" sz="1900" b="1" dirty="0">
                <a:solidFill>
                  <a:schemeClr val="tx2"/>
                </a:solidFill>
              </a:rPr>
              <a:t>8  </a:t>
            </a:r>
            <a:r>
              <a:rPr lang="en-US" sz="1900" i="1" dirty="0">
                <a:solidFill>
                  <a:schemeClr val="tx1"/>
                </a:solidFill>
              </a:rPr>
              <a:t>Ik wil nog wat Nederlands </a:t>
            </a:r>
            <a:r>
              <a:rPr lang="en-US" sz="1900" i="1" dirty="0">
                <a:solidFill>
                  <a:schemeClr val="accent5"/>
                </a:solidFill>
              </a:rPr>
              <a:t>…………</a:t>
            </a:r>
            <a:r>
              <a:rPr lang="en-US" sz="1900" i="1" dirty="0">
                <a:solidFill>
                  <a:schemeClr val="tx1"/>
                </a:solidFill>
              </a:rPr>
              <a:t>leren.</a:t>
            </a:r>
            <a:r>
              <a:rPr lang="en-US" sz="1900" dirty="0">
                <a:solidFill>
                  <a:schemeClr val="tx1"/>
                </a:solidFill>
              </a:rPr>
              <a:t> (apprendre en plus)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Quelle particule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la particule qui donne le sens entre parenthèses.</a:t>
            </a:r>
            <a:endParaRPr lang="en-US" sz="1700" dirty="0"/>
          </a:p>
        </p:txBody>
      </p:sp>
      <p:sp>
        <p:nvSpPr>
          <p:cNvPr id="9" name="Text 5"/>
          <p:cNvSpPr txBox="1"/>
          <p:nvPr/>
        </p:nvSpPr>
        <p:spPr>
          <a:xfrm>
            <a:off x="548640" y="2115312"/>
            <a:ext cx="5340096" cy="4114800"/>
          </a:xfrm>
          <a:prstGeom prst="rect">
            <a:avLst/>
          </a:prstGeom>
          <a:noFill/>
          <a:ln/>
        </p:spPr>
        <p:txBody>
          <a:bodyPr wrap="square" lIns="0" tIns="0" rIns="0" bIns="0" rtlCol="0" anchor="t"/>
          <a:lstStyle/>
          <a:p>
            <a:pPr indent="0" marL="0">
              <a:spcAft>
                <a:spcPts val="2200"/>
              </a:spcAft>
              <a:buNone/>
            </a:pPr>
            <a:r>
              <a:rPr lang="en-US" sz="1900" b="1" dirty="0">
                <a:solidFill>
                  <a:schemeClr val="tx2"/>
                </a:solidFill>
              </a:rPr>
              <a:t>1  </a:t>
            </a:r>
            <a:r>
              <a:rPr lang="en-US" sz="1900" i="1" dirty="0">
                <a:solidFill>
                  <a:schemeClr val="tx1"/>
                </a:solidFill>
              </a:rPr>
              <a:t>Kun je de radio </a:t>
            </a:r>
            <a:r>
              <a:rPr lang="en-US" sz="1900" b="1" i="1" dirty="0">
                <a:solidFill>
                  <a:schemeClr val="accent3"/>
                </a:solidFill>
              </a:rPr>
              <a:t>uit</a:t>
            </a:r>
            <a:r>
              <a:rPr lang="en-US" sz="1900" i="1" dirty="0">
                <a:solidFill>
                  <a:schemeClr val="tx1"/>
                </a:solidFill>
              </a:rPr>
              <a:t>zetten?</a:t>
            </a:r>
            <a:r>
              <a:rPr lang="en-US" sz="1900" dirty="0">
                <a:solidFill>
                  <a:schemeClr val="tx1"/>
                </a:solidFill>
              </a:rPr>
              <a:t> (éteindre)</a:t>
            </a:r>
            <a:endParaRPr lang="en-US" sz="1900" dirty="0"/>
          </a:p>
          <a:p>
            <a:pPr indent="0" marL="0">
              <a:spcAft>
                <a:spcPts val="2200"/>
              </a:spcAft>
              <a:buNone/>
            </a:pPr>
            <a:r>
              <a:rPr lang="en-US" sz="1900" b="1" dirty="0">
                <a:solidFill>
                  <a:schemeClr val="tx2"/>
                </a:solidFill>
              </a:rPr>
              <a:t>2  </a:t>
            </a:r>
            <a:r>
              <a:rPr lang="en-US" sz="1900" i="1" dirty="0">
                <a:solidFill>
                  <a:schemeClr val="tx1"/>
                </a:solidFill>
              </a:rPr>
              <a:t>De prijzen nemen elk jaar </a:t>
            </a:r>
            <a:r>
              <a:rPr lang="en-US" sz="1900" b="1" i="1" dirty="0">
                <a:solidFill>
                  <a:schemeClr val="accent3"/>
                </a:solidFill>
              </a:rPr>
              <a:t>toe</a:t>
            </a:r>
            <a:r>
              <a:rPr lang="en-US" sz="1900" i="1" dirty="0">
                <a:solidFill>
                  <a:schemeClr val="tx1"/>
                </a:solidFill>
              </a:rPr>
              <a:t>.</a:t>
            </a:r>
            <a:r>
              <a:rPr lang="en-US" sz="1900" dirty="0">
                <a:solidFill>
                  <a:schemeClr val="tx1"/>
                </a:solidFill>
              </a:rPr>
              <a:t> (augmenter)</a:t>
            </a:r>
            <a:endParaRPr lang="en-US" sz="1900" dirty="0"/>
          </a:p>
          <a:p>
            <a:pPr indent="0" marL="0">
              <a:spcAft>
                <a:spcPts val="2200"/>
              </a:spcAft>
              <a:buNone/>
            </a:pPr>
            <a:r>
              <a:rPr lang="en-US" sz="1900" b="1" dirty="0">
                <a:solidFill>
                  <a:schemeClr val="tx2"/>
                </a:solidFill>
              </a:rPr>
              <a:t>3  </a:t>
            </a:r>
            <a:r>
              <a:rPr lang="en-US" sz="1900" i="1" dirty="0">
                <a:solidFill>
                  <a:schemeClr val="tx1"/>
                </a:solidFill>
              </a:rPr>
              <a:t>Ik moet dit woord even </a:t>
            </a:r>
            <a:r>
              <a:rPr lang="en-US" sz="1900" b="1" i="1" dirty="0">
                <a:solidFill>
                  <a:schemeClr val="accent3"/>
                </a:solidFill>
              </a:rPr>
              <a:t>op</a:t>
            </a:r>
            <a:r>
              <a:rPr lang="en-US" sz="1900" i="1" dirty="0">
                <a:solidFill>
                  <a:schemeClr val="tx1"/>
                </a:solidFill>
              </a:rPr>
              <a:t>zoeken.</a:t>
            </a:r>
            <a:r>
              <a:rPr lang="en-US" sz="1900" dirty="0">
                <a:solidFill>
                  <a:schemeClr val="tx1"/>
                </a:solidFill>
              </a:rPr>
              <a:t> (chercher dans le dictionnaire)</a:t>
            </a:r>
            <a:endParaRPr lang="en-US" sz="1900" dirty="0"/>
          </a:p>
          <a:p>
            <a:pPr indent="0" marL="0">
              <a:spcAft>
                <a:spcPts val="2200"/>
              </a:spcAft>
              <a:buNone/>
            </a:pPr>
            <a:r>
              <a:rPr lang="en-US" sz="1900" b="1" dirty="0">
                <a:solidFill>
                  <a:schemeClr val="tx2"/>
                </a:solidFill>
              </a:rPr>
              <a:t>4  </a:t>
            </a:r>
            <a:r>
              <a:rPr lang="en-US" sz="1900" i="1" dirty="0">
                <a:solidFill>
                  <a:schemeClr val="tx1"/>
                </a:solidFill>
              </a:rPr>
              <a:t>Lees je tekst nog eens </a:t>
            </a:r>
            <a:r>
              <a:rPr lang="en-US" sz="1900" b="1" i="1" dirty="0">
                <a:solidFill>
                  <a:schemeClr val="accent3"/>
                </a:solidFill>
              </a:rPr>
              <a:t>na</a:t>
            </a:r>
            <a:r>
              <a:rPr lang="en-US" sz="1900" i="1" dirty="0">
                <a:solidFill>
                  <a:schemeClr val="tx1"/>
                </a:solidFill>
              </a:rPr>
              <a:t> voor je hem verstuurt.</a:t>
            </a:r>
            <a:r>
              <a:rPr lang="en-US" sz="1900" dirty="0">
                <a:solidFill>
                  <a:schemeClr val="tx1"/>
                </a:solidFill>
              </a:rPr>
              <a:t> (relire)</a:t>
            </a:r>
            <a:endParaRPr lang="en-US" sz="1900" dirty="0"/>
          </a:p>
        </p:txBody>
      </p:sp>
      <p:sp>
        <p:nvSpPr>
          <p:cNvPr id="10" name="Text 6"/>
          <p:cNvSpPr txBox="1"/>
          <p:nvPr/>
        </p:nvSpPr>
        <p:spPr>
          <a:xfrm>
            <a:off x="6300216" y="2115312"/>
            <a:ext cx="5340096" cy="4114800"/>
          </a:xfrm>
          <a:prstGeom prst="rect">
            <a:avLst/>
          </a:prstGeom>
          <a:noFill/>
          <a:ln/>
        </p:spPr>
        <p:txBody>
          <a:bodyPr wrap="square" lIns="0" tIns="0" rIns="0" bIns="0" rtlCol="0" anchor="t"/>
          <a:lstStyle/>
          <a:p>
            <a:pPr indent="0" marL="0">
              <a:spcAft>
                <a:spcPts val="2200"/>
              </a:spcAft>
              <a:buNone/>
            </a:pPr>
            <a:r>
              <a:rPr lang="en-US" sz="1900" b="1" dirty="0">
                <a:solidFill>
                  <a:schemeClr val="tx2"/>
                </a:solidFill>
              </a:rPr>
              <a:t>5  </a:t>
            </a:r>
            <a:r>
              <a:rPr lang="en-US" sz="1900" i="1" dirty="0">
                <a:solidFill>
                  <a:schemeClr val="tx1"/>
                </a:solidFill>
              </a:rPr>
              <a:t>Wil je deze mail naar Sofie </a:t>
            </a:r>
            <a:r>
              <a:rPr lang="en-US" sz="1900" b="1" i="1" dirty="0">
                <a:solidFill>
                  <a:schemeClr val="accent3"/>
                </a:solidFill>
              </a:rPr>
              <a:t>door</a:t>
            </a:r>
            <a:r>
              <a:rPr lang="en-US" sz="1900" i="1" dirty="0">
                <a:solidFill>
                  <a:schemeClr val="tx1"/>
                </a:solidFill>
              </a:rPr>
              <a:t>sturen?</a:t>
            </a:r>
            <a:r>
              <a:rPr lang="en-US" sz="1900" dirty="0">
                <a:solidFill>
                  <a:schemeClr val="tx1"/>
                </a:solidFill>
              </a:rPr>
              <a:t> (transférer)</a:t>
            </a:r>
            <a:endParaRPr lang="en-US" sz="1900" dirty="0"/>
          </a:p>
          <a:p>
            <a:pPr indent="0" marL="0">
              <a:spcAft>
                <a:spcPts val="2200"/>
              </a:spcAft>
              <a:buNone/>
            </a:pPr>
            <a:r>
              <a:rPr lang="en-US" sz="1900" b="1" dirty="0">
                <a:solidFill>
                  <a:schemeClr val="tx2"/>
                </a:solidFill>
              </a:rPr>
              <a:t>6  </a:t>
            </a:r>
            <a:r>
              <a:rPr lang="en-US" sz="1900" i="1" dirty="0">
                <a:solidFill>
                  <a:schemeClr val="tx1"/>
                </a:solidFill>
              </a:rPr>
              <a:t>Lotte heeft de taak van An </a:t>
            </a:r>
            <a:r>
              <a:rPr lang="en-US" sz="1900" b="1" i="1" dirty="0">
                <a:solidFill>
                  <a:schemeClr val="accent3"/>
                </a:solidFill>
              </a:rPr>
              <a:t>over</a:t>
            </a:r>
            <a:r>
              <a:rPr lang="en-US" sz="1900" i="1" dirty="0">
                <a:solidFill>
                  <a:schemeClr val="tx1"/>
                </a:solidFill>
              </a:rPr>
              <a:t>genomen.</a:t>
            </a:r>
            <a:r>
              <a:rPr lang="en-US" sz="1900" dirty="0">
                <a:solidFill>
                  <a:schemeClr val="tx1"/>
                </a:solidFill>
              </a:rPr>
              <a:t> (reprendre)</a:t>
            </a:r>
            <a:endParaRPr lang="en-US" sz="1900" dirty="0"/>
          </a:p>
          <a:p>
            <a:pPr indent="0" marL="0">
              <a:spcAft>
                <a:spcPts val="2200"/>
              </a:spcAft>
              <a:buNone/>
            </a:pPr>
            <a:r>
              <a:rPr lang="en-US" sz="1900" b="1" dirty="0">
                <a:solidFill>
                  <a:schemeClr val="tx2"/>
                </a:solidFill>
              </a:rPr>
              <a:t>7  </a:t>
            </a:r>
            <a:r>
              <a:rPr lang="en-US" sz="1900" i="1" dirty="0">
                <a:solidFill>
                  <a:schemeClr val="tx1"/>
                </a:solidFill>
              </a:rPr>
              <a:t>Je moet je rapport vrijdag </a:t>
            </a:r>
            <a:r>
              <a:rPr lang="en-US" sz="1900" b="1" i="1" dirty="0">
                <a:solidFill>
                  <a:schemeClr val="accent3"/>
                </a:solidFill>
              </a:rPr>
              <a:t>in</a:t>
            </a:r>
            <a:r>
              <a:rPr lang="en-US" sz="1900" i="1" dirty="0">
                <a:solidFill>
                  <a:schemeClr val="tx1"/>
                </a:solidFill>
              </a:rPr>
              <a:t>leveren.</a:t>
            </a:r>
            <a:r>
              <a:rPr lang="en-US" sz="1900" dirty="0">
                <a:solidFill>
                  <a:schemeClr val="tx1"/>
                </a:solidFill>
              </a:rPr>
              <a:t> (remettre)</a:t>
            </a:r>
            <a:endParaRPr lang="en-US" sz="1900" dirty="0"/>
          </a:p>
          <a:p>
            <a:pPr indent="0" marL="0">
              <a:spcAft>
                <a:spcPts val="2200"/>
              </a:spcAft>
              <a:buNone/>
            </a:pPr>
            <a:r>
              <a:rPr lang="en-US" sz="1900" b="1" dirty="0">
                <a:solidFill>
                  <a:schemeClr val="tx2"/>
                </a:solidFill>
              </a:rPr>
              <a:t>8  </a:t>
            </a:r>
            <a:r>
              <a:rPr lang="en-US" sz="1900" i="1" dirty="0">
                <a:solidFill>
                  <a:schemeClr val="tx1"/>
                </a:solidFill>
              </a:rPr>
              <a:t>Ik wil nog wat Nederlands </a:t>
            </a:r>
            <a:r>
              <a:rPr lang="en-US" sz="1900" b="1" i="1" dirty="0">
                <a:solidFill>
                  <a:schemeClr val="accent3"/>
                </a:solidFill>
              </a:rPr>
              <a:t>bij</a:t>
            </a:r>
            <a:r>
              <a:rPr lang="en-US" sz="1900" i="1" dirty="0">
                <a:solidFill>
                  <a:schemeClr val="tx1"/>
                </a:solidFill>
              </a:rPr>
              <a:t>leren.</a:t>
            </a:r>
            <a:r>
              <a:rPr lang="en-US" sz="1900" dirty="0">
                <a:solidFill>
                  <a:schemeClr val="tx1"/>
                </a:solidFill>
              </a:rPr>
              <a:t> (apprendre en plus)</a:t>
            </a:r>
            <a:endParaRPr lang="en-US" sz="1900" dirty="0"/>
          </a:p>
        </p:txBody>
      </p:sp>
      <p:sp>
        <p:nvSpPr>
          <p:cNvPr id="11" name="Text 7"/>
          <p:cNvSpPr txBox="1"/>
          <p:nvPr/>
        </p:nvSpPr>
        <p:spPr>
          <a:xfrm>
            <a:off x="548640" y="5806440"/>
            <a:ext cx="11091672" cy="365760"/>
          </a:xfrm>
          <a:prstGeom prst="rect">
            <a:avLst/>
          </a:prstGeom>
          <a:noFill/>
          <a:ln/>
        </p:spPr>
        <p:txBody>
          <a:bodyPr wrap="square" lIns="0" tIns="0" rIns="0" bIns="0" rtlCol="0" anchor="t"/>
          <a:lstStyle/>
          <a:p>
            <a:pPr algn="ctr" indent="0" marL="0">
              <a:buNone/>
            </a:pPr>
            <a:r>
              <a:rPr lang="en-US" sz="1400" i="1" dirty="0">
                <a:solidFill>
                  <a:schemeClr val="accent5"/>
                </a:solidFill>
              </a:rPr>
              <a:t>Aussi acceptés : n° 1 </a:t>
            </a:r>
            <a:r>
              <a:rPr lang="en-US" sz="1400" i="1" dirty="0">
                <a:solidFill>
                  <a:schemeClr val="accent5"/>
                </a:solidFill>
              </a:rPr>
              <a:t>af</a:t>
            </a:r>
            <a:r>
              <a:rPr lang="en-US" sz="1400" i="1" dirty="0">
                <a:solidFill>
                  <a:schemeClr val="accent5"/>
                </a:solidFill>
              </a:rPr>
              <a:t> (BE : </a:t>
            </a:r>
            <a:r>
              <a:rPr lang="en-US" sz="1400" i="1" dirty="0">
                <a:solidFill>
                  <a:schemeClr val="accent5"/>
                </a:solidFill>
              </a:rPr>
              <a:t>afzetten</a:t>
            </a:r>
            <a:r>
              <a:rPr lang="en-US" sz="1400" i="1" dirty="0">
                <a:solidFill>
                  <a:schemeClr val="accent5"/>
                </a:solidFill>
              </a:rPr>
              <a:t>) · n° 4 </a:t>
            </a:r>
            <a:r>
              <a:rPr lang="en-US" sz="1400" i="1" dirty="0">
                <a:solidFill>
                  <a:schemeClr val="accent5"/>
                </a:solidFill>
              </a:rPr>
              <a:t>over</a:t>
            </a:r>
            <a:r>
              <a:rPr lang="en-US" sz="1400" i="1" dirty="0">
                <a:solidFill>
                  <a:schemeClr val="accent5"/>
                </a:solidFill>
              </a:rPr>
              <a:t> ou </a:t>
            </a:r>
            <a:r>
              <a:rPr lang="en-US" sz="1400" i="1" dirty="0">
                <a:solidFill>
                  <a:schemeClr val="accent5"/>
                </a:solidFill>
              </a:rPr>
              <a:t>door</a:t>
            </a:r>
            <a:r>
              <a:rPr lang="en-US" sz="1400" i="1" dirty="0">
                <a:solidFill>
                  <a:schemeClr val="accent5"/>
                </a:solidFill>
              </a:rPr>
              <a:t> (</a:t>
            </a:r>
            <a:r>
              <a:rPr lang="en-US" sz="1400" i="1" dirty="0">
                <a:solidFill>
                  <a:schemeClr val="accent5"/>
                </a:solidFill>
              </a:rPr>
              <a:t>overlezen, doorlezen</a:t>
            </a:r>
            <a:r>
              <a:rPr lang="en-US" sz="1400" i="1" dirty="0">
                <a:solidFill>
                  <a:schemeClr val="accent5"/>
                </a:solidFill>
              </a:rPr>
              <a:t>) · n° 7 </a:t>
            </a:r>
            <a:r>
              <a:rPr lang="en-US" sz="1400" i="1" dirty="0">
                <a:solidFill>
                  <a:schemeClr val="accent5"/>
                </a:solidFill>
              </a:rPr>
              <a:t>af</a:t>
            </a:r>
            <a:r>
              <a:rPr lang="en-US" sz="1400" i="1" dirty="0">
                <a:solidFill>
                  <a:schemeClr val="accent5"/>
                </a:solidFill>
              </a:rPr>
              <a:t> (</a:t>
            </a:r>
            <a:r>
              <a:rPr lang="en-US" sz="1400" i="1" dirty="0">
                <a:solidFill>
                  <a:schemeClr val="accent5"/>
                </a:solidFill>
              </a:rPr>
              <a:t>afleveren</a:t>
            </a:r>
            <a:r>
              <a:rPr lang="en-US" sz="1400" i="1" dirty="0">
                <a:solidFill>
                  <a:schemeClr val="accent5"/>
                </a:solidFill>
              </a:rPr>
              <a: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L’étoile de nemen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le bon verbe de la famille </a:t>
            </a:r>
            <a:r>
              <a:rPr lang="en-US" sz="1700" i="1" dirty="0">
                <a:solidFill>
                  <a:schemeClr val="accent5"/>
                </a:solidFill>
              </a:rPr>
              <a:t>nemen</a:t>
            </a:r>
            <a:r>
              <a:rPr lang="en-US" sz="1700" i="1" dirty="0">
                <a:solidFill>
                  <a:schemeClr val="accent5"/>
                </a:solidFill>
              </a:rPr>
              <a:t>, à la bonne place.</a:t>
            </a:r>
            <a:endParaRPr lang="en-US" sz="1700" dirty="0"/>
          </a:p>
        </p:txBody>
      </p:sp>
      <p:sp>
        <p:nvSpPr>
          <p:cNvPr id="8" name="Text 4"/>
          <p:cNvSpPr txBox="1"/>
          <p:nvPr/>
        </p:nvSpPr>
        <p:spPr>
          <a:xfrm>
            <a:off x="548640" y="2069592"/>
            <a:ext cx="5340096" cy="4206240"/>
          </a:xfrm>
          <a:prstGeom prst="rect">
            <a:avLst/>
          </a:prstGeom>
          <a:noFill/>
          <a:ln/>
        </p:spPr>
        <p:txBody>
          <a:bodyPr wrap="square" lIns="0" tIns="0" rIns="0" bIns="0" rtlCol="0" anchor="t"/>
          <a:lstStyle/>
          <a:p>
            <a:pPr indent="0" marL="0">
              <a:spcAft>
                <a:spcPts val="2000"/>
              </a:spcAft>
              <a:buNone/>
            </a:pPr>
            <a:r>
              <a:rPr lang="en-US" sz="1800" b="1" dirty="0">
                <a:solidFill>
                  <a:schemeClr val="tx2"/>
                </a:solidFill>
              </a:rPr>
              <a:t>1  </a:t>
            </a:r>
            <a:r>
              <a:rPr lang="en-US" sz="1800" i="1" dirty="0">
                <a:solidFill>
                  <a:schemeClr val="tx1"/>
                </a:solidFill>
              </a:rPr>
              <a:t>Het bedrijf wil drie nieuwe medewerkers </a:t>
            </a:r>
            <a:r>
              <a:rPr lang="en-US" sz="1800" i="1" dirty="0">
                <a:solidFill>
                  <a:schemeClr val="accent5"/>
                </a:solidFill>
              </a:rPr>
              <a:t>……………</a:t>
            </a:r>
            <a:r>
              <a:rPr lang="en-US" sz="1800" i="1" dirty="0">
                <a:solidFill>
                  <a:schemeClr val="tx1"/>
                </a:solidFill>
              </a:rPr>
              <a:t>.</a:t>
            </a:r>
            <a:r>
              <a:rPr lang="en-US" sz="1800" dirty="0">
                <a:solidFill>
                  <a:schemeClr val="tx1"/>
                </a:solidFill>
              </a:rPr>
              <a:t> (embaucher)</a:t>
            </a:r>
            <a:endParaRPr lang="en-US" sz="1800" dirty="0"/>
          </a:p>
          <a:p>
            <a:pPr indent="0" marL="0">
              <a:spcAft>
                <a:spcPts val="2000"/>
              </a:spcAft>
              <a:buNone/>
            </a:pPr>
            <a:r>
              <a:rPr lang="en-US" sz="1800" b="1" dirty="0">
                <a:solidFill>
                  <a:schemeClr val="tx2"/>
                </a:solidFill>
              </a:rPr>
              <a:t>2  </a:t>
            </a:r>
            <a:r>
              <a:rPr lang="en-US" sz="1800" i="1" dirty="0">
                <a:solidFill>
                  <a:schemeClr val="tx1"/>
                </a:solidFill>
              </a:rPr>
              <a:t>Vergeet niet een paraplu </a:t>
            </a:r>
            <a:r>
              <a:rPr lang="en-US" sz="1800" i="1" dirty="0">
                <a:solidFill>
                  <a:schemeClr val="accent5"/>
                </a:solidFill>
              </a:rPr>
              <a:t>…………………</a:t>
            </a:r>
            <a:r>
              <a:rPr lang="en-US" sz="1800" i="1" dirty="0">
                <a:solidFill>
                  <a:schemeClr val="tx1"/>
                </a:solidFill>
              </a:rPr>
              <a:t>.</a:t>
            </a:r>
            <a:r>
              <a:rPr lang="en-US" sz="1800" dirty="0">
                <a:solidFill>
                  <a:schemeClr val="tx1"/>
                </a:solidFill>
              </a:rPr>
              <a:t> (emporter)</a:t>
            </a:r>
            <a:endParaRPr lang="en-US" sz="1800" dirty="0"/>
          </a:p>
          <a:p>
            <a:pPr indent="0" marL="0">
              <a:spcAft>
                <a:spcPts val="2000"/>
              </a:spcAft>
              <a:buNone/>
            </a:pPr>
            <a:r>
              <a:rPr lang="en-US" sz="1800" b="1" dirty="0">
                <a:solidFill>
                  <a:schemeClr val="tx2"/>
                </a:solidFill>
              </a:rPr>
              <a:t>3  </a:t>
            </a:r>
            <a:r>
              <a:rPr lang="en-US" sz="1800" i="1" dirty="0">
                <a:solidFill>
                  <a:schemeClr val="tx1"/>
                </a:solidFill>
              </a:rPr>
              <a:t>Het aantal klanten </a:t>
            </a:r>
            <a:r>
              <a:rPr lang="en-US" sz="1800" i="1" dirty="0">
                <a:solidFill>
                  <a:schemeClr val="accent5"/>
                </a:solidFill>
              </a:rPr>
              <a:t>…………</a:t>
            </a:r>
            <a:r>
              <a:rPr lang="en-US" sz="1800" i="1" dirty="0">
                <a:solidFill>
                  <a:schemeClr val="tx1"/>
                </a:solidFill>
              </a:rPr>
              <a:t> elk jaar </a:t>
            </a:r>
            <a:r>
              <a:rPr lang="en-US" sz="1800" i="1" dirty="0">
                <a:solidFill>
                  <a:schemeClr val="accent5"/>
                </a:solidFill>
              </a:rPr>
              <a:t>…………</a:t>
            </a:r>
            <a:r>
              <a:rPr lang="en-US" sz="1800" i="1" dirty="0">
                <a:solidFill>
                  <a:schemeClr val="tx1"/>
                </a:solidFill>
              </a:rPr>
              <a:t>.</a:t>
            </a:r>
            <a:r>
              <a:rPr lang="en-US" sz="1800" dirty="0">
                <a:solidFill>
                  <a:schemeClr val="tx1"/>
                </a:solidFill>
              </a:rPr>
              <a:t> (augmenter)</a:t>
            </a:r>
            <a:endParaRPr lang="en-US" sz="1800" dirty="0"/>
          </a:p>
          <a:p>
            <a:pPr indent="0" marL="0">
              <a:spcAft>
                <a:spcPts val="2000"/>
              </a:spcAft>
              <a:buNone/>
            </a:pPr>
            <a:r>
              <a:rPr lang="en-US" sz="1800" b="1" dirty="0">
                <a:solidFill>
                  <a:schemeClr val="tx2"/>
                </a:solidFill>
              </a:rPr>
              <a:t>4  </a:t>
            </a:r>
            <a:r>
              <a:rPr lang="en-US" sz="1800" i="1" dirty="0">
                <a:solidFill>
                  <a:schemeClr val="tx1"/>
                </a:solidFill>
              </a:rPr>
              <a:t>De werkloosheid </a:t>
            </a:r>
            <a:r>
              <a:rPr lang="en-US" sz="1800" i="1" dirty="0">
                <a:solidFill>
                  <a:schemeClr val="accent5"/>
                </a:solidFill>
              </a:rPr>
              <a:t>……………</a:t>
            </a:r>
            <a:r>
              <a:rPr lang="en-US" sz="1800" i="1" dirty="0">
                <a:solidFill>
                  <a:schemeClr val="tx1"/>
                </a:solidFill>
              </a:rPr>
              <a:t>.</a:t>
            </a:r>
            <a:r>
              <a:rPr lang="en-US" sz="1800" dirty="0">
                <a:solidFill>
                  <a:schemeClr val="tx1"/>
                </a:solidFill>
              </a:rPr>
              <a:t> (diminuer)</a:t>
            </a:r>
            <a:endParaRPr lang="en-US" sz="1800" dirty="0"/>
          </a:p>
        </p:txBody>
      </p:sp>
      <p:sp>
        <p:nvSpPr>
          <p:cNvPr id="9" name="Text 5"/>
          <p:cNvSpPr txBox="1"/>
          <p:nvPr/>
        </p:nvSpPr>
        <p:spPr>
          <a:xfrm>
            <a:off x="6300216" y="2069592"/>
            <a:ext cx="5340096" cy="4206240"/>
          </a:xfrm>
          <a:prstGeom prst="rect">
            <a:avLst/>
          </a:prstGeom>
          <a:noFill/>
          <a:ln/>
        </p:spPr>
        <p:txBody>
          <a:bodyPr wrap="square" lIns="0" tIns="0" rIns="0" bIns="0" rtlCol="0" anchor="t"/>
          <a:lstStyle/>
          <a:p>
            <a:pPr indent="0" marL="0">
              <a:spcAft>
                <a:spcPts val="2000"/>
              </a:spcAft>
              <a:buNone/>
            </a:pPr>
            <a:r>
              <a:rPr lang="en-US" sz="1800" b="1" dirty="0">
                <a:solidFill>
                  <a:schemeClr val="tx2"/>
                </a:solidFill>
              </a:rPr>
              <a:t>5  </a:t>
            </a:r>
            <a:r>
              <a:rPr lang="en-US" sz="1800" i="1" dirty="0">
                <a:solidFill>
                  <a:schemeClr val="tx1"/>
                </a:solidFill>
              </a:rPr>
              <a:t>Kun je even de telefoon </a:t>
            </a:r>
            <a:r>
              <a:rPr lang="en-US" sz="1800" i="1" dirty="0">
                <a:solidFill>
                  <a:schemeClr val="accent5"/>
                </a:solidFill>
              </a:rPr>
              <a:t>…………</a:t>
            </a:r>
            <a:r>
              <a:rPr lang="en-US" sz="1800" i="1" dirty="0">
                <a:solidFill>
                  <a:schemeClr val="tx1"/>
                </a:solidFill>
              </a:rPr>
              <a:t>?</a:t>
            </a:r>
            <a:r>
              <a:rPr lang="en-US" sz="1800" dirty="0">
                <a:solidFill>
                  <a:schemeClr val="tx1"/>
                </a:solidFill>
              </a:rPr>
              <a:t> (décrocher)</a:t>
            </a:r>
            <a:endParaRPr lang="en-US" sz="1800" dirty="0"/>
          </a:p>
          <a:p>
            <a:pPr indent="0" marL="0">
              <a:spcAft>
                <a:spcPts val="2000"/>
              </a:spcAft>
              <a:buNone/>
            </a:pPr>
            <a:r>
              <a:rPr lang="en-US" sz="1800" b="1" dirty="0">
                <a:solidFill>
                  <a:schemeClr val="tx2"/>
                </a:solidFill>
              </a:rPr>
              <a:t>6  </a:t>
            </a:r>
            <a:r>
              <a:rPr lang="en-US" sz="1800" i="1" dirty="0">
                <a:solidFill>
                  <a:schemeClr val="tx1"/>
                </a:solidFill>
              </a:rPr>
              <a:t>Wie </a:t>
            </a:r>
            <a:r>
              <a:rPr lang="en-US" sz="1800" i="1" dirty="0">
                <a:solidFill>
                  <a:schemeClr val="accent5"/>
                </a:solidFill>
              </a:rPr>
              <a:t>…………</a:t>
            </a:r>
            <a:r>
              <a:rPr lang="en-US" sz="1800" i="1" dirty="0">
                <a:solidFill>
                  <a:schemeClr val="tx1"/>
                </a:solidFill>
              </a:rPr>
              <a:t> het project van An </a:t>
            </a:r>
            <a:r>
              <a:rPr lang="en-US" sz="1800" i="1" dirty="0">
                <a:solidFill>
                  <a:schemeClr val="accent5"/>
                </a:solidFill>
              </a:rPr>
              <a:t>…………</a:t>
            </a:r>
            <a:r>
              <a:rPr lang="en-US" sz="1800" i="1" dirty="0">
                <a:solidFill>
                  <a:schemeClr val="tx1"/>
                </a:solidFill>
              </a:rPr>
              <a:t>?</a:t>
            </a:r>
            <a:r>
              <a:rPr lang="en-US" sz="1800" dirty="0">
                <a:solidFill>
                  <a:schemeClr val="tx1"/>
                </a:solidFill>
              </a:rPr>
              <a:t> (reprendre)</a:t>
            </a:r>
            <a:endParaRPr lang="en-US" sz="1800" dirty="0"/>
          </a:p>
          <a:p>
            <a:pPr indent="0" marL="0">
              <a:spcAft>
                <a:spcPts val="2000"/>
              </a:spcAft>
              <a:buNone/>
            </a:pPr>
            <a:r>
              <a:rPr lang="en-US" sz="1800" b="1" dirty="0">
                <a:solidFill>
                  <a:schemeClr val="tx2"/>
                </a:solidFill>
              </a:rPr>
              <a:t>7  </a:t>
            </a:r>
            <a:r>
              <a:rPr lang="en-US" sz="1800" i="1" dirty="0">
                <a:solidFill>
                  <a:schemeClr val="tx1"/>
                </a:solidFill>
              </a:rPr>
              <a:t>Tien collega’s </a:t>
            </a:r>
            <a:r>
              <a:rPr lang="en-US" sz="1800" i="1" dirty="0">
                <a:solidFill>
                  <a:schemeClr val="accent5"/>
                </a:solidFill>
              </a:rPr>
              <a:t>………………</a:t>
            </a:r>
            <a:r>
              <a:rPr lang="en-US" sz="1800" i="1" dirty="0">
                <a:solidFill>
                  <a:schemeClr val="tx1"/>
                </a:solidFill>
              </a:rPr>
              <a:t> aan de opleiding.</a:t>
            </a:r>
            <a:r>
              <a:rPr lang="en-US" sz="1800" dirty="0">
                <a:solidFill>
                  <a:schemeClr val="tx1"/>
                </a:solidFill>
              </a:rPr>
              <a:t> (participer)</a:t>
            </a:r>
            <a:endParaRPr lang="en-US" sz="1800" dirty="0"/>
          </a:p>
          <a:p>
            <a:pPr indent="0" marL="0">
              <a:spcAft>
                <a:spcPts val="2000"/>
              </a:spcAft>
              <a:buNone/>
            </a:pPr>
            <a:r>
              <a:rPr lang="en-US" sz="1800" b="1" dirty="0">
                <a:solidFill>
                  <a:schemeClr val="tx2"/>
                </a:solidFill>
              </a:rPr>
              <a:t>8  </a:t>
            </a:r>
            <a:r>
              <a:rPr lang="en-US" sz="1800" i="1" dirty="0">
                <a:solidFill>
                  <a:schemeClr val="tx1"/>
                </a:solidFill>
              </a:rPr>
              <a:t>Je moet dit medicijn drie keer per dag </a:t>
            </a:r>
            <a:r>
              <a:rPr lang="en-US" sz="1800" i="1" dirty="0">
                <a:solidFill>
                  <a:schemeClr val="accent5"/>
                </a:solidFill>
              </a:rPr>
              <a:t>…………</a:t>
            </a:r>
            <a:r>
              <a:rPr lang="en-US" sz="1800" i="1" dirty="0">
                <a:solidFill>
                  <a:schemeClr val="tx1"/>
                </a:solidFill>
              </a:rPr>
              <a:t>.</a:t>
            </a:r>
            <a:r>
              <a:rPr lang="en-US" sz="1800" dirty="0">
                <a:solidFill>
                  <a:schemeClr val="tx1"/>
                </a:solidFill>
              </a:rPr>
              <a:t> (prendre)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L’étoile de nemen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le bon verbe de la famille </a:t>
            </a:r>
            <a:r>
              <a:rPr lang="en-US" sz="1700" i="1" dirty="0">
                <a:solidFill>
                  <a:schemeClr val="accent5"/>
                </a:solidFill>
              </a:rPr>
              <a:t>nemen</a:t>
            </a:r>
            <a:r>
              <a:rPr lang="en-US" sz="1700" i="1" dirty="0">
                <a:solidFill>
                  <a:schemeClr val="accent5"/>
                </a:solidFill>
              </a:rPr>
              <a:t>, à la bonne place.</a:t>
            </a:r>
            <a:endParaRPr lang="en-US" sz="1700" dirty="0"/>
          </a:p>
        </p:txBody>
      </p:sp>
      <p:sp>
        <p:nvSpPr>
          <p:cNvPr id="9" name="Text 5"/>
          <p:cNvSpPr txBox="1"/>
          <p:nvPr/>
        </p:nvSpPr>
        <p:spPr>
          <a:xfrm>
            <a:off x="548640" y="2069592"/>
            <a:ext cx="5340096" cy="4206240"/>
          </a:xfrm>
          <a:prstGeom prst="rect">
            <a:avLst/>
          </a:prstGeom>
          <a:noFill/>
          <a:ln/>
        </p:spPr>
        <p:txBody>
          <a:bodyPr wrap="square" lIns="0" tIns="0" rIns="0" bIns="0" rtlCol="0" anchor="t"/>
          <a:lstStyle/>
          <a:p>
            <a:pPr indent="0" marL="0">
              <a:spcAft>
                <a:spcPts val="2000"/>
              </a:spcAft>
              <a:buNone/>
            </a:pPr>
            <a:r>
              <a:rPr lang="en-US" sz="1800" b="1" dirty="0">
                <a:solidFill>
                  <a:schemeClr val="tx2"/>
                </a:solidFill>
              </a:rPr>
              <a:t>1  </a:t>
            </a:r>
            <a:r>
              <a:rPr lang="en-US" sz="1800" i="1" dirty="0">
                <a:solidFill>
                  <a:schemeClr val="tx1"/>
                </a:solidFill>
              </a:rPr>
              <a:t>Het bedrijf wil drie nieuwe medewerkers </a:t>
            </a:r>
            <a:r>
              <a:rPr lang="en-US" sz="1800" b="1" i="1" dirty="0">
                <a:solidFill>
                  <a:schemeClr val="accent3"/>
                </a:solidFill>
              </a:rPr>
              <a:t>aannemen</a:t>
            </a:r>
            <a:r>
              <a:rPr lang="en-US" sz="1800" i="1" dirty="0">
                <a:solidFill>
                  <a:schemeClr val="tx1"/>
                </a:solidFill>
              </a:rPr>
              <a:t>.</a:t>
            </a:r>
            <a:r>
              <a:rPr lang="en-US" sz="1800" dirty="0">
                <a:solidFill>
                  <a:schemeClr val="tx1"/>
                </a:solidFill>
              </a:rPr>
              <a:t> (embaucher)</a:t>
            </a:r>
            <a:endParaRPr lang="en-US" sz="1800" dirty="0"/>
          </a:p>
          <a:p>
            <a:pPr indent="0" marL="0">
              <a:spcAft>
                <a:spcPts val="2000"/>
              </a:spcAft>
              <a:buNone/>
            </a:pPr>
            <a:r>
              <a:rPr lang="en-US" sz="1800" b="1" dirty="0">
                <a:solidFill>
                  <a:schemeClr val="tx2"/>
                </a:solidFill>
              </a:rPr>
              <a:t>2  </a:t>
            </a:r>
            <a:r>
              <a:rPr lang="en-US" sz="1800" i="1" dirty="0">
                <a:solidFill>
                  <a:schemeClr val="tx1"/>
                </a:solidFill>
              </a:rPr>
              <a:t>Vergeet niet een paraplu </a:t>
            </a:r>
            <a:r>
              <a:rPr lang="en-US" sz="1800" b="1" i="1" dirty="0">
                <a:solidFill>
                  <a:schemeClr val="accent3"/>
                </a:solidFill>
              </a:rPr>
              <a:t>mee te nemen</a:t>
            </a:r>
            <a:r>
              <a:rPr lang="en-US" sz="1800" i="1" dirty="0">
                <a:solidFill>
                  <a:schemeClr val="tx1"/>
                </a:solidFill>
              </a:rPr>
              <a:t>.</a:t>
            </a:r>
            <a:r>
              <a:rPr lang="en-US" sz="1800" dirty="0">
                <a:solidFill>
                  <a:schemeClr val="tx1"/>
                </a:solidFill>
              </a:rPr>
              <a:t> (emporter)</a:t>
            </a:r>
            <a:endParaRPr lang="en-US" sz="1800" dirty="0"/>
          </a:p>
          <a:p>
            <a:pPr indent="0" marL="0">
              <a:spcAft>
                <a:spcPts val="2000"/>
              </a:spcAft>
              <a:buNone/>
            </a:pPr>
            <a:r>
              <a:rPr lang="en-US" sz="1800" b="1" dirty="0">
                <a:solidFill>
                  <a:schemeClr val="tx2"/>
                </a:solidFill>
              </a:rPr>
              <a:t>3  </a:t>
            </a:r>
            <a:r>
              <a:rPr lang="en-US" sz="1800" i="1" dirty="0">
                <a:solidFill>
                  <a:schemeClr val="tx1"/>
                </a:solidFill>
              </a:rPr>
              <a:t>Het aantal klanten </a:t>
            </a:r>
            <a:r>
              <a:rPr lang="en-US" sz="1800" b="1" i="1" dirty="0">
                <a:solidFill>
                  <a:schemeClr val="accent3"/>
                </a:solidFill>
              </a:rPr>
              <a:t>neemt</a:t>
            </a:r>
            <a:r>
              <a:rPr lang="en-US" sz="1800" i="1" dirty="0">
                <a:solidFill>
                  <a:schemeClr val="tx1"/>
                </a:solidFill>
              </a:rPr>
              <a:t> elk jaar </a:t>
            </a:r>
            <a:r>
              <a:rPr lang="en-US" sz="1800" b="1" i="1" dirty="0">
                <a:solidFill>
                  <a:schemeClr val="accent3"/>
                </a:solidFill>
              </a:rPr>
              <a:t>toe</a:t>
            </a:r>
            <a:r>
              <a:rPr lang="en-US" sz="1800" i="1" dirty="0">
                <a:solidFill>
                  <a:schemeClr val="tx1"/>
                </a:solidFill>
              </a:rPr>
              <a:t>.</a:t>
            </a:r>
            <a:r>
              <a:rPr lang="en-US" sz="1800" dirty="0">
                <a:solidFill>
                  <a:schemeClr val="tx1"/>
                </a:solidFill>
              </a:rPr>
              <a:t> (augmenter)</a:t>
            </a:r>
            <a:endParaRPr lang="en-US" sz="1800" dirty="0"/>
          </a:p>
          <a:p>
            <a:pPr indent="0" marL="0">
              <a:spcAft>
                <a:spcPts val="2000"/>
              </a:spcAft>
              <a:buNone/>
            </a:pPr>
            <a:r>
              <a:rPr lang="en-US" sz="1800" b="1" dirty="0">
                <a:solidFill>
                  <a:schemeClr val="tx2"/>
                </a:solidFill>
              </a:rPr>
              <a:t>4  </a:t>
            </a:r>
            <a:r>
              <a:rPr lang="en-US" sz="1800" i="1" dirty="0">
                <a:solidFill>
                  <a:schemeClr val="tx1"/>
                </a:solidFill>
              </a:rPr>
              <a:t>De werkloosheid </a:t>
            </a:r>
            <a:r>
              <a:rPr lang="en-US" sz="1800" b="1" i="1" dirty="0">
                <a:solidFill>
                  <a:schemeClr val="accent3"/>
                </a:solidFill>
              </a:rPr>
              <a:t>neemt af</a:t>
            </a:r>
            <a:r>
              <a:rPr lang="en-US" sz="1800" i="1" dirty="0">
                <a:solidFill>
                  <a:schemeClr val="tx1"/>
                </a:solidFill>
              </a:rPr>
              <a:t>.</a:t>
            </a:r>
            <a:r>
              <a:rPr lang="en-US" sz="1800" dirty="0">
                <a:solidFill>
                  <a:schemeClr val="tx1"/>
                </a:solidFill>
              </a:rPr>
              <a:t> (diminuer)</a:t>
            </a:r>
            <a:endParaRPr lang="en-US" sz="1800" dirty="0"/>
          </a:p>
        </p:txBody>
      </p:sp>
      <p:sp>
        <p:nvSpPr>
          <p:cNvPr id="10" name="Text 6"/>
          <p:cNvSpPr txBox="1"/>
          <p:nvPr/>
        </p:nvSpPr>
        <p:spPr>
          <a:xfrm>
            <a:off x="6300216" y="2069592"/>
            <a:ext cx="5340096" cy="4206240"/>
          </a:xfrm>
          <a:prstGeom prst="rect">
            <a:avLst/>
          </a:prstGeom>
          <a:noFill/>
          <a:ln/>
        </p:spPr>
        <p:txBody>
          <a:bodyPr wrap="square" lIns="0" tIns="0" rIns="0" bIns="0" rtlCol="0" anchor="t"/>
          <a:lstStyle/>
          <a:p>
            <a:pPr indent="0" marL="0">
              <a:spcAft>
                <a:spcPts val="2000"/>
              </a:spcAft>
              <a:buNone/>
            </a:pPr>
            <a:r>
              <a:rPr lang="en-US" sz="1800" b="1" dirty="0">
                <a:solidFill>
                  <a:schemeClr val="tx2"/>
                </a:solidFill>
              </a:rPr>
              <a:t>5  </a:t>
            </a:r>
            <a:r>
              <a:rPr lang="en-US" sz="1800" i="1" dirty="0">
                <a:solidFill>
                  <a:schemeClr val="tx1"/>
                </a:solidFill>
              </a:rPr>
              <a:t>Kun je even de telefoon </a:t>
            </a:r>
            <a:r>
              <a:rPr lang="en-US" sz="1800" b="1" i="1" dirty="0">
                <a:solidFill>
                  <a:schemeClr val="accent3"/>
                </a:solidFill>
              </a:rPr>
              <a:t>opnemen</a:t>
            </a:r>
            <a:r>
              <a:rPr lang="en-US" sz="1800" i="1" dirty="0">
                <a:solidFill>
                  <a:schemeClr val="tx1"/>
                </a:solidFill>
              </a:rPr>
              <a:t>?</a:t>
            </a:r>
            <a:r>
              <a:rPr lang="en-US" sz="1800" dirty="0">
                <a:solidFill>
                  <a:schemeClr val="tx1"/>
                </a:solidFill>
              </a:rPr>
              <a:t> (décrocher)</a:t>
            </a:r>
            <a:endParaRPr lang="en-US" sz="1800" dirty="0"/>
          </a:p>
          <a:p>
            <a:pPr indent="0" marL="0">
              <a:spcAft>
                <a:spcPts val="2000"/>
              </a:spcAft>
              <a:buNone/>
            </a:pPr>
            <a:r>
              <a:rPr lang="en-US" sz="1800" b="1" dirty="0">
                <a:solidFill>
                  <a:schemeClr val="tx2"/>
                </a:solidFill>
              </a:rPr>
              <a:t>6  </a:t>
            </a:r>
            <a:r>
              <a:rPr lang="en-US" sz="1800" i="1" dirty="0">
                <a:solidFill>
                  <a:schemeClr val="tx1"/>
                </a:solidFill>
              </a:rPr>
              <a:t>Wie </a:t>
            </a:r>
            <a:r>
              <a:rPr lang="en-US" sz="1800" b="1" i="1" dirty="0">
                <a:solidFill>
                  <a:schemeClr val="accent3"/>
                </a:solidFill>
              </a:rPr>
              <a:t>neemt</a:t>
            </a:r>
            <a:r>
              <a:rPr lang="en-US" sz="1800" i="1" dirty="0">
                <a:solidFill>
                  <a:schemeClr val="tx1"/>
                </a:solidFill>
              </a:rPr>
              <a:t> het project van An </a:t>
            </a:r>
            <a:r>
              <a:rPr lang="en-US" sz="1800" b="1" i="1" dirty="0">
                <a:solidFill>
                  <a:schemeClr val="accent3"/>
                </a:solidFill>
              </a:rPr>
              <a:t>over</a:t>
            </a:r>
            <a:r>
              <a:rPr lang="en-US" sz="1800" i="1" dirty="0">
                <a:solidFill>
                  <a:schemeClr val="tx1"/>
                </a:solidFill>
              </a:rPr>
              <a:t>?</a:t>
            </a:r>
            <a:r>
              <a:rPr lang="en-US" sz="1800" dirty="0">
                <a:solidFill>
                  <a:schemeClr val="tx1"/>
                </a:solidFill>
              </a:rPr>
              <a:t> (reprendre)</a:t>
            </a:r>
            <a:endParaRPr lang="en-US" sz="1800" dirty="0"/>
          </a:p>
          <a:p>
            <a:pPr indent="0" marL="0">
              <a:spcAft>
                <a:spcPts val="2000"/>
              </a:spcAft>
              <a:buNone/>
            </a:pPr>
            <a:r>
              <a:rPr lang="en-US" sz="1800" b="1" dirty="0">
                <a:solidFill>
                  <a:schemeClr val="tx2"/>
                </a:solidFill>
              </a:rPr>
              <a:t>7  </a:t>
            </a:r>
            <a:r>
              <a:rPr lang="en-US" sz="1800" i="1" dirty="0">
                <a:solidFill>
                  <a:schemeClr val="tx1"/>
                </a:solidFill>
              </a:rPr>
              <a:t>Tien collega’s </a:t>
            </a:r>
            <a:r>
              <a:rPr lang="en-US" sz="1800" b="1" i="1" dirty="0">
                <a:solidFill>
                  <a:schemeClr val="accent3"/>
                </a:solidFill>
              </a:rPr>
              <a:t>nemen deel</a:t>
            </a:r>
            <a:r>
              <a:rPr lang="en-US" sz="1800" i="1" dirty="0">
                <a:solidFill>
                  <a:schemeClr val="tx1"/>
                </a:solidFill>
              </a:rPr>
              <a:t> aan de opleiding.</a:t>
            </a:r>
            <a:r>
              <a:rPr lang="en-US" sz="1800" dirty="0">
                <a:solidFill>
                  <a:schemeClr val="tx1"/>
                </a:solidFill>
              </a:rPr>
              <a:t> (participer)</a:t>
            </a:r>
            <a:endParaRPr lang="en-US" sz="1800" dirty="0"/>
          </a:p>
          <a:p>
            <a:pPr indent="0" marL="0">
              <a:spcAft>
                <a:spcPts val="2000"/>
              </a:spcAft>
              <a:buNone/>
            </a:pPr>
            <a:r>
              <a:rPr lang="en-US" sz="1800" b="1" dirty="0">
                <a:solidFill>
                  <a:schemeClr val="tx2"/>
                </a:solidFill>
              </a:rPr>
              <a:t>8  </a:t>
            </a:r>
            <a:r>
              <a:rPr lang="en-US" sz="1800" i="1" dirty="0">
                <a:solidFill>
                  <a:schemeClr val="tx1"/>
                </a:solidFill>
              </a:rPr>
              <a:t>Je moet dit medicijn drie keer per dag </a:t>
            </a:r>
            <a:r>
              <a:rPr lang="en-US" sz="1800" b="1" i="1" dirty="0">
                <a:solidFill>
                  <a:schemeClr val="accent3"/>
                </a:solidFill>
              </a:rPr>
              <a:t>innemen</a:t>
            </a:r>
            <a:r>
              <a:rPr lang="en-US" sz="1800" i="1" dirty="0">
                <a:solidFill>
                  <a:schemeClr val="tx1"/>
                </a:solidFill>
              </a:rPr>
              <a:t>.</a:t>
            </a:r>
            <a:r>
              <a:rPr lang="en-US" sz="1800" dirty="0">
                <a:solidFill>
                  <a:schemeClr val="tx1"/>
                </a:solidFill>
              </a:rPr>
              <a:t> (prendre)</a:t>
            </a:r>
            <a:endParaRPr lang="en-US" sz="1800" dirty="0"/>
          </a:p>
        </p:txBody>
      </p:sp>
      <p:sp>
        <p:nvSpPr>
          <p:cNvPr id="11" name="Text 7"/>
          <p:cNvSpPr txBox="1"/>
          <p:nvPr/>
        </p:nvSpPr>
        <p:spPr>
          <a:xfrm>
            <a:off x="548640" y="5806440"/>
            <a:ext cx="11091672" cy="365760"/>
          </a:xfrm>
          <a:prstGeom prst="rect">
            <a:avLst/>
          </a:prstGeom>
          <a:noFill/>
          <a:ln/>
        </p:spPr>
        <p:txBody>
          <a:bodyPr wrap="square" lIns="0" tIns="0" rIns="0" bIns="0" rtlCol="0" anchor="t"/>
          <a:lstStyle/>
          <a:p>
            <a:pPr algn="ctr" indent="0" marL="0">
              <a:buNone/>
            </a:pPr>
            <a:r>
              <a:rPr lang="en-US" sz="1400" i="1" dirty="0">
                <a:solidFill>
                  <a:schemeClr val="accent5"/>
                </a:solidFill>
              </a:rPr>
              <a:t>N° 2 : </a:t>
            </a:r>
            <a:r>
              <a:rPr lang="en-US" sz="1400" i="1" dirty="0">
                <a:solidFill>
                  <a:schemeClr val="accent5"/>
                </a:solidFill>
              </a:rPr>
              <a:t>vergeten</a:t>
            </a:r>
            <a:r>
              <a:rPr lang="en-US" sz="1400" i="1" dirty="0">
                <a:solidFill>
                  <a:schemeClr val="accent5"/>
                </a:solidFill>
              </a:rPr>
              <a:t> + </a:t>
            </a:r>
            <a:r>
              <a:rPr lang="en-US" sz="1400" i="1" dirty="0">
                <a:solidFill>
                  <a:schemeClr val="accent5"/>
                </a:solidFill>
              </a:rPr>
              <a:t>te</a:t>
            </a:r>
            <a:r>
              <a:rPr lang="en-US" sz="1400" i="1" dirty="0">
                <a:solidFill>
                  <a:schemeClr val="accent5"/>
                </a:solidFill>
              </a:rPr>
              <a:t> + infinitif · n° 7 : aussi </a:t>
            </a:r>
            <a:r>
              <a:rPr lang="en-US" sz="1400" i="1" dirty="0">
                <a:solidFill>
                  <a:schemeClr val="accent5"/>
                </a:solidFill>
              </a:rPr>
              <a:t>nemen aan de opleiding deel</a:t>
            </a:r>
            <a:r>
              <a:rPr lang="en-US" sz="1400" i="1" dirty="0">
                <a:solidFill>
                  <a:schemeClr val="accent5"/>
                </a:solidFill>
              </a:rPr>
              <a:t> · n° 8 : </a:t>
            </a:r>
            <a:r>
              <a:rPr lang="en-US" sz="1400" i="1" dirty="0">
                <a:solidFill>
                  <a:schemeClr val="accent5"/>
                </a:solidFill>
              </a:rPr>
              <a:t>nemen</a:t>
            </a:r>
            <a:r>
              <a:rPr lang="en-US" sz="1400" i="1" dirty="0">
                <a:solidFill>
                  <a:schemeClr val="accent5"/>
                </a:solidFill>
              </a:rPr>
              <a:t> seul est aussi correct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Séparable ou inséparable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Dites le verbe à voix haute (accent !), puis conjuguez : présent et passé composé.</a:t>
            </a:r>
            <a:endParaRPr lang="en-US" sz="1700" dirty="0"/>
          </a:p>
        </p:txBody>
      </p:sp>
      <p:sp>
        <p:nvSpPr>
          <p:cNvPr id="8" name="Text 4"/>
          <p:cNvSpPr txBox="1"/>
          <p:nvPr/>
        </p:nvSpPr>
        <p:spPr>
          <a:xfrm>
            <a:off x="548640" y="1932432"/>
            <a:ext cx="3291840" cy="365760"/>
          </a:xfrm>
          <a:prstGeom prst="rect">
            <a:avLst/>
          </a:prstGeom>
          <a:noFill/>
          <a:ln/>
        </p:spPr>
        <p:txBody>
          <a:bodyPr wrap="square" lIns="0" tIns="0" rIns="0" bIns="0" rtlCol="0" anchor="t"/>
          <a:lstStyle/>
          <a:p>
            <a:pPr algn="l" indent="0" marL="0">
              <a:buNone/>
            </a:pPr>
            <a:r>
              <a:rPr lang="en-US" sz="1200" b="1" spc="200" kern="0" dirty="0">
                <a:solidFill>
                  <a:schemeClr val="accent5"/>
                </a:solidFill>
              </a:rPr>
              <a:t>VERBE (SENS)</a:t>
            </a:r>
            <a:endParaRPr lang="en-US" sz="1200" dirty="0"/>
          </a:p>
        </p:txBody>
      </p:sp>
      <p:sp>
        <p:nvSpPr>
          <p:cNvPr id="9" name="Text 5"/>
          <p:cNvSpPr txBox="1"/>
          <p:nvPr/>
        </p:nvSpPr>
        <p:spPr>
          <a:xfrm>
            <a:off x="3977640" y="1932432"/>
            <a:ext cx="3291840" cy="365760"/>
          </a:xfrm>
          <a:prstGeom prst="rect">
            <a:avLst/>
          </a:prstGeom>
          <a:noFill/>
          <a:ln/>
        </p:spPr>
        <p:txBody>
          <a:bodyPr wrap="square" lIns="0" tIns="0" rIns="0" bIns="0" rtlCol="0" anchor="t"/>
          <a:lstStyle/>
          <a:p>
            <a:pPr algn="l" indent="0" marL="0">
              <a:buNone/>
            </a:pPr>
            <a:r>
              <a:rPr lang="en-US" sz="1200" b="1" spc="200" kern="0" dirty="0">
                <a:solidFill>
                  <a:schemeClr val="accent5"/>
                </a:solidFill>
              </a:rPr>
              <a:t>PRÉSENT</a:t>
            </a:r>
            <a:endParaRPr lang="en-US" sz="1200" dirty="0"/>
          </a:p>
        </p:txBody>
      </p:sp>
      <p:sp>
        <p:nvSpPr>
          <p:cNvPr id="10" name="Text 6"/>
          <p:cNvSpPr txBox="1"/>
          <p:nvPr/>
        </p:nvSpPr>
        <p:spPr>
          <a:xfrm>
            <a:off x="7406640" y="1932432"/>
            <a:ext cx="4233672" cy="365760"/>
          </a:xfrm>
          <a:prstGeom prst="rect">
            <a:avLst/>
          </a:prstGeom>
          <a:noFill/>
          <a:ln/>
        </p:spPr>
        <p:txBody>
          <a:bodyPr wrap="square" lIns="0" tIns="0" rIns="0" bIns="0" rtlCol="0" anchor="t"/>
          <a:lstStyle/>
          <a:p>
            <a:pPr algn="l" indent="0" marL="0">
              <a:buNone/>
            </a:pPr>
            <a:r>
              <a:rPr lang="en-US" sz="1200" b="1" spc="200" kern="0" dirty="0">
                <a:solidFill>
                  <a:schemeClr val="accent5"/>
                </a:solidFill>
              </a:rPr>
              <a:t>PASSÉ COMPOSÉ</a:t>
            </a:r>
            <a:endParaRPr lang="en-US" sz="1200" dirty="0"/>
          </a:p>
        </p:txBody>
      </p:sp>
      <p:sp>
        <p:nvSpPr>
          <p:cNvPr id="11" name="Shape 7"/>
          <p:cNvSpPr/>
          <p:nvPr/>
        </p:nvSpPr>
        <p:spPr>
          <a:xfrm>
            <a:off x="548640" y="2380488"/>
            <a:ext cx="3291840" cy="420243"/>
          </a:xfrm>
          <a:prstGeom prst="roundRect">
            <a:avLst>
              <a:gd name="adj" fmla="val 13055"/>
            </a:avLst>
          </a:prstGeom>
          <a:solidFill>
            <a:schemeClr val="bg2"/>
          </a:solidFill>
          <a:ln w="12700">
            <a:solidFill>
              <a:srgbClr val="D5DCE6"/>
            </a:solidFill>
            <a:prstDash val="solid"/>
          </a:ln>
        </p:spPr>
      </p:sp>
      <p:sp>
        <p:nvSpPr>
          <p:cNvPr id="12" name="Text 8"/>
          <p:cNvSpPr txBox="1"/>
          <p:nvPr/>
        </p:nvSpPr>
        <p:spPr>
          <a:xfrm>
            <a:off x="685800" y="2380488"/>
            <a:ext cx="3108960" cy="420243"/>
          </a:xfrm>
          <a:prstGeom prst="rect">
            <a:avLst/>
          </a:prstGeom>
          <a:noFill/>
          <a:ln/>
        </p:spPr>
        <p:txBody>
          <a:bodyPr wrap="square" lIns="0" tIns="0" rIns="0" bIns="0" rtlCol="0" anchor="ctr"/>
          <a:lstStyle/>
          <a:p>
            <a:pPr algn="l" indent="0" marL="0">
              <a:buNone/>
            </a:pPr>
            <a:r>
              <a:rPr lang="en-US" sz="1600" b="1" i="1" dirty="0">
                <a:solidFill>
                  <a:schemeClr val="tx1"/>
                </a:solidFill>
              </a:rPr>
              <a:t>vertalen</a:t>
            </a:r>
            <a:endParaRPr lang="en-US" sz="1600" dirty="0"/>
          </a:p>
        </p:txBody>
      </p:sp>
      <p:sp>
        <p:nvSpPr>
          <p:cNvPr id="13" name="Shape 9"/>
          <p:cNvSpPr/>
          <p:nvPr/>
        </p:nvSpPr>
        <p:spPr>
          <a:xfrm>
            <a:off x="3977640" y="2380488"/>
            <a:ext cx="3291840" cy="420243"/>
          </a:xfrm>
          <a:prstGeom prst="roundRect">
            <a:avLst>
              <a:gd name="adj" fmla="val 13055"/>
            </a:avLst>
          </a:prstGeom>
          <a:solidFill>
            <a:srgbClr val="FFFFFF"/>
          </a:solidFill>
          <a:ln w="12700">
            <a:solidFill>
              <a:srgbClr val="D5DCE6"/>
            </a:solidFill>
            <a:prstDash val="solid"/>
          </a:ln>
        </p:spPr>
      </p:sp>
      <p:sp>
        <p:nvSpPr>
          <p:cNvPr id="14" name="Shape 10"/>
          <p:cNvSpPr/>
          <p:nvPr/>
        </p:nvSpPr>
        <p:spPr>
          <a:xfrm>
            <a:off x="7406640" y="2380488"/>
            <a:ext cx="4233672" cy="420243"/>
          </a:xfrm>
          <a:prstGeom prst="roundRect">
            <a:avLst>
              <a:gd name="adj" fmla="val 13055"/>
            </a:avLst>
          </a:prstGeom>
          <a:solidFill>
            <a:srgbClr val="FFFFFF"/>
          </a:solidFill>
          <a:ln w="12700">
            <a:solidFill>
              <a:srgbClr val="D5DCE6"/>
            </a:solidFill>
            <a:prstDash val="solid"/>
          </a:ln>
        </p:spPr>
      </p:sp>
      <p:sp>
        <p:nvSpPr>
          <p:cNvPr id="15" name="Shape 11"/>
          <p:cNvSpPr/>
          <p:nvPr/>
        </p:nvSpPr>
        <p:spPr>
          <a:xfrm>
            <a:off x="548640" y="2873883"/>
            <a:ext cx="3291840" cy="420243"/>
          </a:xfrm>
          <a:prstGeom prst="roundRect">
            <a:avLst>
              <a:gd name="adj" fmla="val 13055"/>
            </a:avLst>
          </a:prstGeom>
          <a:solidFill>
            <a:schemeClr val="bg2"/>
          </a:solidFill>
          <a:ln w="12700">
            <a:solidFill>
              <a:srgbClr val="D5DCE6"/>
            </a:solidFill>
            <a:prstDash val="solid"/>
          </a:ln>
        </p:spPr>
      </p:sp>
      <p:sp>
        <p:nvSpPr>
          <p:cNvPr id="16" name="Text 12"/>
          <p:cNvSpPr txBox="1"/>
          <p:nvPr/>
        </p:nvSpPr>
        <p:spPr>
          <a:xfrm>
            <a:off x="685800" y="2873883"/>
            <a:ext cx="3108960" cy="420243"/>
          </a:xfrm>
          <a:prstGeom prst="rect">
            <a:avLst/>
          </a:prstGeom>
          <a:noFill/>
          <a:ln/>
        </p:spPr>
        <p:txBody>
          <a:bodyPr wrap="square" lIns="0" tIns="0" rIns="0" bIns="0" rtlCol="0" anchor="ctr"/>
          <a:lstStyle/>
          <a:p>
            <a:pPr algn="l" indent="0" marL="0">
              <a:buNone/>
            </a:pPr>
            <a:r>
              <a:rPr lang="en-US" sz="1600" b="1" i="1" dirty="0">
                <a:solidFill>
                  <a:schemeClr val="tx1"/>
                </a:solidFill>
              </a:rPr>
              <a:t>nakijken</a:t>
            </a:r>
            <a:endParaRPr lang="en-US" sz="1600" dirty="0"/>
          </a:p>
        </p:txBody>
      </p:sp>
      <p:sp>
        <p:nvSpPr>
          <p:cNvPr id="17" name="Shape 13"/>
          <p:cNvSpPr/>
          <p:nvPr/>
        </p:nvSpPr>
        <p:spPr>
          <a:xfrm>
            <a:off x="3977640" y="2873883"/>
            <a:ext cx="3291840" cy="420243"/>
          </a:xfrm>
          <a:prstGeom prst="roundRect">
            <a:avLst>
              <a:gd name="adj" fmla="val 13055"/>
            </a:avLst>
          </a:prstGeom>
          <a:solidFill>
            <a:srgbClr val="FFFFFF"/>
          </a:solidFill>
          <a:ln w="12700">
            <a:solidFill>
              <a:srgbClr val="D5DCE6"/>
            </a:solidFill>
            <a:prstDash val="solid"/>
          </a:ln>
        </p:spPr>
      </p:sp>
      <p:sp>
        <p:nvSpPr>
          <p:cNvPr id="18" name="Shape 14"/>
          <p:cNvSpPr/>
          <p:nvPr/>
        </p:nvSpPr>
        <p:spPr>
          <a:xfrm>
            <a:off x="7406640" y="2873883"/>
            <a:ext cx="4233672" cy="420243"/>
          </a:xfrm>
          <a:prstGeom prst="roundRect">
            <a:avLst>
              <a:gd name="adj" fmla="val 13055"/>
            </a:avLst>
          </a:prstGeom>
          <a:solidFill>
            <a:srgbClr val="FFFFFF"/>
          </a:solidFill>
          <a:ln w="12700">
            <a:solidFill>
              <a:srgbClr val="D5DCE6"/>
            </a:solidFill>
            <a:prstDash val="solid"/>
          </a:ln>
        </p:spPr>
      </p:sp>
      <p:sp>
        <p:nvSpPr>
          <p:cNvPr id="19" name="Shape 15"/>
          <p:cNvSpPr/>
          <p:nvPr/>
        </p:nvSpPr>
        <p:spPr>
          <a:xfrm>
            <a:off x="548640" y="3367278"/>
            <a:ext cx="3291840" cy="420243"/>
          </a:xfrm>
          <a:prstGeom prst="roundRect">
            <a:avLst>
              <a:gd name="adj" fmla="val 13055"/>
            </a:avLst>
          </a:prstGeom>
          <a:solidFill>
            <a:schemeClr val="bg2"/>
          </a:solidFill>
          <a:ln w="12700">
            <a:solidFill>
              <a:srgbClr val="D5DCE6"/>
            </a:solidFill>
            <a:prstDash val="solid"/>
          </a:ln>
        </p:spPr>
      </p:sp>
      <p:sp>
        <p:nvSpPr>
          <p:cNvPr id="20" name="Text 16"/>
          <p:cNvSpPr txBox="1"/>
          <p:nvPr/>
        </p:nvSpPr>
        <p:spPr>
          <a:xfrm>
            <a:off x="685800" y="3367278"/>
            <a:ext cx="3108960" cy="420243"/>
          </a:xfrm>
          <a:prstGeom prst="rect">
            <a:avLst/>
          </a:prstGeom>
          <a:noFill/>
          <a:ln/>
        </p:spPr>
        <p:txBody>
          <a:bodyPr wrap="square" lIns="0" tIns="0" rIns="0" bIns="0" rtlCol="0" anchor="ctr"/>
          <a:lstStyle/>
          <a:p>
            <a:pPr algn="l" indent="0" marL="0">
              <a:buNone/>
            </a:pPr>
            <a:r>
              <a:rPr lang="en-US" sz="1600" b="1" i="1" dirty="0">
                <a:solidFill>
                  <a:schemeClr val="tx1"/>
                </a:solidFill>
              </a:rPr>
              <a:t>herhalen</a:t>
            </a:r>
            <a:endParaRPr lang="en-US" sz="1600" dirty="0"/>
          </a:p>
        </p:txBody>
      </p:sp>
      <p:sp>
        <p:nvSpPr>
          <p:cNvPr id="21" name="Shape 17"/>
          <p:cNvSpPr/>
          <p:nvPr/>
        </p:nvSpPr>
        <p:spPr>
          <a:xfrm>
            <a:off x="3977640" y="3367278"/>
            <a:ext cx="3291840" cy="420243"/>
          </a:xfrm>
          <a:prstGeom prst="roundRect">
            <a:avLst>
              <a:gd name="adj" fmla="val 13055"/>
            </a:avLst>
          </a:prstGeom>
          <a:solidFill>
            <a:srgbClr val="FFFFFF"/>
          </a:solidFill>
          <a:ln w="12700">
            <a:solidFill>
              <a:srgbClr val="D5DCE6"/>
            </a:solidFill>
            <a:prstDash val="solid"/>
          </a:ln>
        </p:spPr>
      </p:sp>
      <p:sp>
        <p:nvSpPr>
          <p:cNvPr id="22" name="Shape 18"/>
          <p:cNvSpPr/>
          <p:nvPr/>
        </p:nvSpPr>
        <p:spPr>
          <a:xfrm>
            <a:off x="7406640" y="3367278"/>
            <a:ext cx="4233672" cy="420243"/>
          </a:xfrm>
          <a:prstGeom prst="roundRect">
            <a:avLst>
              <a:gd name="adj" fmla="val 13055"/>
            </a:avLst>
          </a:prstGeom>
          <a:solidFill>
            <a:srgbClr val="FFFFFF"/>
          </a:solidFill>
          <a:ln w="12700">
            <a:solidFill>
              <a:srgbClr val="D5DCE6"/>
            </a:solidFill>
            <a:prstDash val="solid"/>
          </a:ln>
        </p:spPr>
      </p:sp>
      <p:sp>
        <p:nvSpPr>
          <p:cNvPr id="23" name="Shape 19"/>
          <p:cNvSpPr/>
          <p:nvPr/>
        </p:nvSpPr>
        <p:spPr>
          <a:xfrm>
            <a:off x="548640" y="3860673"/>
            <a:ext cx="3291840" cy="420243"/>
          </a:xfrm>
          <a:prstGeom prst="roundRect">
            <a:avLst>
              <a:gd name="adj" fmla="val 13055"/>
            </a:avLst>
          </a:prstGeom>
          <a:solidFill>
            <a:schemeClr val="bg2"/>
          </a:solidFill>
          <a:ln w="12700">
            <a:solidFill>
              <a:srgbClr val="D5DCE6"/>
            </a:solidFill>
            <a:prstDash val="solid"/>
          </a:ln>
        </p:spPr>
      </p:sp>
      <p:sp>
        <p:nvSpPr>
          <p:cNvPr id="24" name="Text 20"/>
          <p:cNvSpPr txBox="1"/>
          <p:nvPr/>
        </p:nvSpPr>
        <p:spPr>
          <a:xfrm>
            <a:off x="685800" y="3860673"/>
            <a:ext cx="3108960" cy="420243"/>
          </a:xfrm>
          <a:prstGeom prst="rect">
            <a:avLst/>
          </a:prstGeom>
          <a:noFill/>
          <a:ln/>
        </p:spPr>
        <p:txBody>
          <a:bodyPr wrap="square" lIns="0" tIns="0" rIns="0" bIns="0" rtlCol="0" anchor="ctr"/>
          <a:lstStyle/>
          <a:p>
            <a:pPr algn="l" indent="0" marL="0">
              <a:buNone/>
            </a:pPr>
            <a:r>
              <a:rPr lang="en-US" sz="1600" b="1" i="1" dirty="0">
                <a:solidFill>
                  <a:schemeClr val="tx1"/>
                </a:solidFill>
              </a:rPr>
              <a:t>opbellen</a:t>
            </a:r>
            <a:endParaRPr lang="en-US" sz="1600" dirty="0"/>
          </a:p>
        </p:txBody>
      </p:sp>
      <p:sp>
        <p:nvSpPr>
          <p:cNvPr id="25" name="Shape 21"/>
          <p:cNvSpPr/>
          <p:nvPr/>
        </p:nvSpPr>
        <p:spPr>
          <a:xfrm>
            <a:off x="3977640" y="3860673"/>
            <a:ext cx="3291840" cy="420243"/>
          </a:xfrm>
          <a:prstGeom prst="roundRect">
            <a:avLst>
              <a:gd name="adj" fmla="val 13055"/>
            </a:avLst>
          </a:prstGeom>
          <a:solidFill>
            <a:srgbClr val="FFFFFF"/>
          </a:solidFill>
          <a:ln w="12700">
            <a:solidFill>
              <a:srgbClr val="D5DCE6"/>
            </a:solidFill>
            <a:prstDash val="solid"/>
          </a:ln>
        </p:spPr>
      </p:sp>
      <p:sp>
        <p:nvSpPr>
          <p:cNvPr id="26" name="Shape 22"/>
          <p:cNvSpPr/>
          <p:nvPr/>
        </p:nvSpPr>
        <p:spPr>
          <a:xfrm>
            <a:off x="7406640" y="3860673"/>
            <a:ext cx="4233672" cy="420243"/>
          </a:xfrm>
          <a:prstGeom prst="roundRect">
            <a:avLst>
              <a:gd name="adj" fmla="val 13055"/>
            </a:avLst>
          </a:prstGeom>
          <a:solidFill>
            <a:srgbClr val="FFFFFF"/>
          </a:solidFill>
          <a:ln w="12700">
            <a:solidFill>
              <a:srgbClr val="D5DCE6"/>
            </a:solidFill>
            <a:prstDash val="solid"/>
          </a:ln>
        </p:spPr>
      </p:sp>
      <p:sp>
        <p:nvSpPr>
          <p:cNvPr id="27" name="Shape 23"/>
          <p:cNvSpPr/>
          <p:nvPr/>
        </p:nvSpPr>
        <p:spPr>
          <a:xfrm>
            <a:off x="548640" y="4354068"/>
            <a:ext cx="3291840" cy="420243"/>
          </a:xfrm>
          <a:prstGeom prst="roundRect">
            <a:avLst>
              <a:gd name="adj" fmla="val 13055"/>
            </a:avLst>
          </a:prstGeom>
          <a:solidFill>
            <a:schemeClr val="bg2"/>
          </a:solidFill>
          <a:ln w="12700">
            <a:solidFill>
              <a:srgbClr val="D5DCE6"/>
            </a:solidFill>
            <a:prstDash val="solid"/>
          </a:ln>
        </p:spPr>
      </p:sp>
      <p:sp>
        <p:nvSpPr>
          <p:cNvPr id="28" name="Text 24"/>
          <p:cNvSpPr txBox="1"/>
          <p:nvPr/>
        </p:nvSpPr>
        <p:spPr>
          <a:xfrm>
            <a:off x="685800" y="4354068"/>
            <a:ext cx="3108960" cy="420243"/>
          </a:xfrm>
          <a:prstGeom prst="rect">
            <a:avLst/>
          </a:prstGeom>
          <a:noFill/>
          <a:ln/>
        </p:spPr>
        <p:txBody>
          <a:bodyPr wrap="square" lIns="0" tIns="0" rIns="0" bIns="0" rtlCol="0" anchor="ctr"/>
          <a:lstStyle/>
          <a:p>
            <a:pPr algn="l" indent="0" marL="0">
              <a:buNone/>
            </a:pPr>
            <a:r>
              <a:rPr lang="en-US" sz="1600" b="1" i="1" dirty="0">
                <a:solidFill>
                  <a:schemeClr val="tx1"/>
                </a:solidFill>
              </a:rPr>
              <a:t>voorkomen</a:t>
            </a:r>
            <a:r>
              <a:rPr lang="en-US" sz="1600" dirty="0">
                <a:solidFill>
                  <a:schemeClr val="tx1"/>
                </a:solidFill>
              </a:rPr>
              <a:t> (se produire)</a:t>
            </a:r>
            <a:endParaRPr lang="en-US" sz="1600" dirty="0"/>
          </a:p>
        </p:txBody>
      </p:sp>
      <p:sp>
        <p:nvSpPr>
          <p:cNvPr id="29" name="Shape 25"/>
          <p:cNvSpPr/>
          <p:nvPr/>
        </p:nvSpPr>
        <p:spPr>
          <a:xfrm>
            <a:off x="3977640" y="4354068"/>
            <a:ext cx="3291840" cy="420243"/>
          </a:xfrm>
          <a:prstGeom prst="roundRect">
            <a:avLst>
              <a:gd name="adj" fmla="val 13055"/>
            </a:avLst>
          </a:prstGeom>
          <a:solidFill>
            <a:srgbClr val="FFFFFF"/>
          </a:solidFill>
          <a:ln w="12700">
            <a:solidFill>
              <a:srgbClr val="D5DCE6"/>
            </a:solidFill>
            <a:prstDash val="solid"/>
          </a:ln>
        </p:spPr>
      </p:sp>
      <p:sp>
        <p:nvSpPr>
          <p:cNvPr id="30" name="Shape 26"/>
          <p:cNvSpPr/>
          <p:nvPr/>
        </p:nvSpPr>
        <p:spPr>
          <a:xfrm>
            <a:off x="7406640" y="4354068"/>
            <a:ext cx="4233672" cy="420243"/>
          </a:xfrm>
          <a:prstGeom prst="roundRect">
            <a:avLst>
              <a:gd name="adj" fmla="val 13055"/>
            </a:avLst>
          </a:prstGeom>
          <a:solidFill>
            <a:srgbClr val="FFFFFF"/>
          </a:solidFill>
          <a:ln w="12700">
            <a:solidFill>
              <a:srgbClr val="D5DCE6"/>
            </a:solidFill>
            <a:prstDash val="solid"/>
          </a:ln>
        </p:spPr>
      </p:sp>
      <p:sp>
        <p:nvSpPr>
          <p:cNvPr id="31" name="Shape 27"/>
          <p:cNvSpPr/>
          <p:nvPr/>
        </p:nvSpPr>
        <p:spPr>
          <a:xfrm>
            <a:off x="548640" y="4847463"/>
            <a:ext cx="3291840" cy="420243"/>
          </a:xfrm>
          <a:prstGeom prst="roundRect">
            <a:avLst>
              <a:gd name="adj" fmla="val 13055"/>
            </a:avLst>
          </a:prstGeom>
          <a:solidFill>
            <a:schemeClr val="bg2"/>
          </a:solidFill>
          <a:ln w="12700">
            <a:solidFill>
              <a:srgbClr val="D5DCE6"/>
            </a:solidFill>
            <a:prstDash val="solid"/>
          </a:ln>
        </p:spPr>
      </p:sp>
      <p:sp>
        <p:nvSpPr>
          <p:cNvPr id="32" name="Text 28"/>
          <p:cNvSpPr txBox="1"/>
          <p:nvPr/>
        </p:nvSpPr>
        <p:spPr>
          <a:xfrm>
            <a:off x="685800" y="4847463"/>
            <a:ext cx="3108960" cy="420243"/>
          </a:xfrm>
          <a:prstGeom prst="rect">
            <a:avLst/>
          </a:prstGeom>
          <a:noFill/>
          <a:ln/>
        </p:spPr>
        <p:txBody>
          <a:bodyPr wrap="square" lIns="0" tIns="0" rIns="0" bIns="0" rtlCol="0" anchor="ctr"/>
          <a:lstStyle/>
          <a:p>
            <a:pPr algn="l" indent="0" marL="0">
              <a:buNone/>
            </a:pPr>
            <a:r>
              <a:rPr lang="en-US" sz="1600" b="1" i="1" dirty="0">
                <a:solidFill>
                  <a:schemeClr val="tx1"/>
                </a:solidFill>
              </a:rPr>
              <a:t>voorkomen</a:t>
            </a:r>
            <a:r>
              <a:rPr lang="en-US" sz="1600" dirty="0">
                <a:solidFill>
                  <a:schemeClr val="tx1"/>
                </a:solidFill>
              </a:rPr>
              <a:t> (éviter)</a:t>
            </a:r>
            <a:endParaRPr lang="en-US" sz="1600" dirty="0"/>
          </a:p>
        </p:txBody>
      </p:sp>
      <p:sp>
        <p:nvSpPr>
          <p:cNvPr id="33" name="Shape 29"/>
          <p:cNvSpPr/>
          <p:nvPr/>
        </p:nvSpPr>
        <p:spPr>
          <a:xfrm>
            <a:off x="3977640" y="4847463"/>
            <a:ext cx="3291840" cy="420243"/>
          </a:xfrm>
          <a:prstGeom prst="roundRect">
            <a:avLst>
              <a:gd name="adj" fmla="val 13055"/>
            </a:avLst>
          </a:prstGeom>
          <a:solidFill>
            <a:srgbClr val="FFFFFF"/>
          </a:solidFill>
          <a:ln w="12700">
            <a:solidFill>
              <a:srgbClr val="D5DCE6"/>
            </a:solidFill>
            <a:prstDash val="solid"/>
          </a:ln>
        </p:spPr>
      </p:sp>
      <p:sp>
        <p:nvSpPr>
          <p:cNvPr id="34" name="Shape 30"/>
          <p:cNvSpPr/>
          <p:nvPr/>
        </p:nvSpPr>
        <p:spPr>
          <a:xfrm>
            <a:off x="7406640" y="4847463"/>
            <a:ext cx="4233672" cy="420243"/>
          </a:xfrm>
          <a:prstGeom prst="roundRect">
            <a:avLst>
              <a:gd name="adj" fmla="val 13055"/>
            </a:avLst>
          </a:prstGeom>
          <a:solidFill>
            <a:srgbClr val="FFFFFF"/>
          </a:solidFill>
          <a:ln w="12700">
            <a:solidFill>
              <a:srgbClr val="D5DCE6"/>
            </a:solidFill>
            <a:prstDash val="solid"/>
          </a:ln>
        </p:spPr>
      </p:sp>
      <p:sp>
        <p:nvSpPr>
          <p:cNvPr id="35" name="Shape 31"/>
          <p:cNvSpPr/>
          <p:nvPr/>
        </p:nvSpPr>
        <p:spPr>
          <a:xfrm>
            <a:off x="548640" y="5340858"/>
            <a:ext cx="3291840" cy="420243"/>
          </a:xfrm>
          <a:prstGeom prst="roundRect">
            <a:avLst>
              <a:gd name="adj" fmla="val 13055"/>
            </a:avLst>
          </a:prstGeom>
          <a:solidFill>
            <a:schemeClr val="bg2"/>
          </a:solidFill>
          <a:ln w="12700">
            <a:solidFill>
              <a:srgbClr val="D5DCE6"/>
            </a:solidFill>
            <a:prstDash val="solid"/>
          </a:ln>
        </p:spPr>
      </p:sp>
      <p:sp>
        <p:nvSpPr>
          <p:cNvPr id="36" name="Text 32"/>
          <p:cNvSpPr txBox="1"/>
          <p:nvPr/>
        </p:nvSpPr>
        <p:spPr>
          <a:xfrm>
            <a:off x="685800" y="5340858"/>
            <a:ext cx="3108960" cy="420243"/>
          </a:xfrm>
          <a:prstGeom prst="rect">
            <a:avLst/>
          </a:prstGeom>
          <a:noFill/>
          <a:ln/>
        </p:spPr>
        <p:txBody>
          <a:bodyPr wrap="square" lIns="0" tIns="0" rIns="0" bIns="0" rtlCol="0" anchor="ctr"/>
          <a:lstStyle/>
          <a:p>
            <a:pPr algn="l" indent="0" marL="0">
              <a:buNone/>
            </a:pPr>
            <a:r>
              <a:rPr lang="en-US" sz="1600" b="1" i="1" dirty="0">
                <a:solidFill>
                  <a:schemeClr val="tx1"/>
                </a:solidFill>
              </a:rPr>
              <a:t>overleggen</a:t>
            </a:r>
            <a:r>
              <a:rPr lang="en-US" sz="1600" dirty="0">
                <a:solidFill>
                  <a:schemeClr val="tx1"/>
                </a:solidFill>
              </a:rPr>
              <a:t> (se concerter)</a:t>
            </a:r>
            <a:endParaRPr lang="en-US" sz="1600" dirty="0"/>
          </a:p>
        </p:txBody>
      </p:sp>
      <p:sp>
        <p:nvSpPr>
          <p:cNvPr id="37" name="Shape 33"/>
          <p:cNvSpPr/>
          <p:nvPr/>
        </p:nvSpPr>
        <p:spPr>
          <a:xfrm>
            <a:off x="3977640" y="5340858"/>
            <a:ext cx="3291840" cy="420243"/>
          </a:xfrm>
          <a:prstGeom prst="roundRect">
            <a:avLst>
              <a:gd name="adj" fmla="val 13055"/>
            </a:avLst>
          </a:prstGeom>
          <a:solidFill>
            <a:srgbClr val="FFFFFF"/>
          </a:solidFill>
          <a:ln w="12700">
            <a:solidFill>
              <a:srgbClr val="D5DCE6"/>
            </a:solidFill>
            <a:prstDash val="solid"/>
          </a:ln>
        </p:spPr>
      </p:sp>
      <p:sp>
        <p:nvSpPr>
          <p:cNvPr id="38" name="Shape 34"/>
          <p:cNvSpPr/>
          <p:nvPr/>
        </p:nvSpPr>
        <p:spPr>
          <a:xfrm>
            <a:off x="7406640" y="5340858"/>
            <a:ext cx="4233672" cy="420243"/>
          </a:xfrm>
          <a:prstGeom prst="roundRect">
            <a:avLst>
              <a:gd name="adj" fmla="val 13055"/>
            </a:avLst>
          </a:prstGeom>
          <a:solidFill>
            <a:srgbClr val="FFFFFF"/>
          </a:solidFill>
          <a:ln w="12700">
            <a:solidFill>
              <a:srgbClr val="D5DCE6"/>
            </a:solidFill>
            <a:prstDash val="solid"/>
          </a:ln>
        </p:spPr>
      </p:sp>
      <p:sp>
        <p:nvSpPr>
          <p:cNvPr id="39" name="Shape 35"/>
          <p:cNvSpPr/>
          <p:nvPr/>
        </p:nvSpPr>
        <p:spPr>
          <a:xfrm>
            <a:off x="548640" y="5834253"/>
            <a:ext cx="3291840" cy="420243"/>
          </a:xfrm>
          <a:prstGeom prst="roundRect">
            <a:avLst>
              <a:gd name="adj" fmla="val 13055"/>
            </a:avLst>
          </a:prstGeom>
          <a:solidFill>
            <a:schemeClr val="bg2"/>
          </a:solidFill>
          <a:ln w="12700">
            <a:solidFill>
              <a:srgbClr val="D5DCE6"/>
            </a:solidFill>
            <a:prstDash val="solid"/>
          </a:ln>
        </p:spPr>
      </p:sp>
      <p:sp>
        <p:nvSpPr>
          <p:cNvPr id="40" name="Text 36"/>
          <p:cNvSpPr txBox="1"/>
          <p:nvPr/>
        </p:nvSpPr>
        <p:spPr>
          <a:xfrm>
            <a:off x="685800" y="5834253"/>
            <a:ext cx="3108960" cy="420243"/>
          </a:xfrm>
          <a:prstGeom prst="rect">
            <a:avLst/>
          </a:prstGeom>
          <a:noFill/>
          <a:ln/>
        </p:spPr>
        <p:txBody>
          <a:bodyPr wrap="square" lIns="0" tIns="0" rIns="0" bIns="0" rtlCol="0" anchor="ctr"/>
          <a:lstStyle/>
          <a:p>
            <a:pPr algn="l" indent="0" marL="0">
              <a:buNone/>
            </a:pPr>
            <a:r>
              <a:rPr lang="en-US" sz="1600" b="1" i="1" dirty="0">
                <a:solidFill>
                  <a:schemeClr val="tx1"/>
                </a:solidFill>
              </a:rPr>
              <a:t>doorlopen</a:t>
            </a:r>
            <a:r>
              <a:rPr lang="en-US" sz="1600" dirty="0">
                <a:solidFill>
                  <a:schemeClr val="tx1"/>
                </a:solidFill>
              </a:rPr>
              <a:t> (parcourir)</a:t>
            </a:r>
            <a:endParaRPr lang="en-US" sz="1600" dirty="0"/>
          </a:p>
        </p:txBody>
      </p:sp>
      <p:sp>
        <p:nvSpPr>
          <p:cNvPr id="41" name="Shape 37"/>
          <p:cNvSpPr/>
          <p:nvPr/>
        </p:nvSpPr>
        <p:spPr>
          <a:xfrm>
            <a:off x="3977640" y="5834253"/>
            <a:ext cx="3291840" cy="420243"/>
          </a:xfrm>
          <a:prstGeom prst="roundRect">
            <a:avLst>
              <a:gd name="adj" fmla="val 13055"/>
            </a:avLst>
          </a:prstGeom>
          <a:solidFill>
            <a:srgbClr val="FFFFFF"/>
          </a:solidFill>
          <a:ln w="12700">
            <a:solidFill>
              <a:srgbClr val="D5DCE6"/>
            </a:solidFill>
            <a:prstDash val="solid"/>
          </a:ln>
        </p:spPr>
      </p:sp>
      <p:sp>
        <p:nvSpPr>
          <p:cNvPr id="42" name="Shape 38"/>
          <p:cNvSpPr/>
          <p:nvPr/>
        </p:nvSpPr>
        <p:spPr>
          <a:xfrm>
            <a:off x="7406640" y="5834253"/>
            <a:ext cx="4233672" cy="420243"/>
          </a:xfrm>
          <a:prstGeom prst="roundRect">
            <a:avLst>
              <a:gd name="adj" fmla="val 13055"/>
            </a:avLst>
          </a:prstGeom>
          <a:solidFill>
            <a:srgbClr val="FFFFFF"/>
          </a:solidFill>
          <a:ln w="12700">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Séparable ou inséparable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Dites le verbe à voix haute (accent !), puis conjuguez : présent et passé composé.</a:t>
            </a:r>
            <a:endParaRPr lang="en-US" sz="1700" dirty="0"/>
          </a:p>
        </p:txBody>
      </p:sp>
      <p:sp>
        <p:nvSpPr>
          <p:cNvPr id="9" name="Text 5"/>
          <p:cNvSpPr txBox="1"/>
          <p:nvPr/>
        </p:nvSpPr>
        <p:spPr>
          <a:xfrm>
            <a:off x="548640" y="1932432"/>
            <a:ext cx="3291840" cy="365760"/>
          </a:xfrm>
          <a:prstGeom prst="rect">
            <a:avLst/>
          </a:prstGeom>
          <a:noFill/>
          <a:ln/>
        </p:spPr>
        <p:txBody>
          <a:bodyPr wrap="square" lIns="0" tIns="0" rIns="0" bIns="0" rtlCol="0" anchor="t"/>
          <a:lstStyle/>
          <a:p>
            <a:pPr algn="l" indent="0" marL="0">
              <a:buNone/>
            </a:pPr>
            <a:r>
              <a:rPr lang="en-US" sz="1200" b="1" spc="200" kern="0" dirty="0">
                <a:solidFill>
                  <a:schemeClr val="accent5"/>
                </a:solidFill>
              </a:rPr>
              <a:t>VERBE (SENS)</a:t>
            </a:r>
            <a:endParaRPr lang="en-US" sz="1200" dirty="0"/>
          </a:p>
        </p:txBody>
      </p:sp>
      <p:sp>
        <p:nvSpPr>
          <p:cNvPr id="10" name="Text 6"/>
          <p:cNvSpPr txBox="1"/>
          <p:nvPr/>
        </p:nvSpPr>
        <p:spPr>
          <a:xfrm>
            <a:off x="3977640" y="1932432"/>
            <a:ext cx="3291840" cy="365760"/>
          </a:xfrm>
          <a:prstGeom prst="rect">
            <a:avLst/>
          </a:prstGeom>
          <a:noFill/>
          <a:ln/>
        </p:spPr>
        <p:txBody>
          <a:bodyPr wrap="square" lIns="0" tIns="0" rIns="0" bIns="0" rtlCol="0" anchor="t"/>
          <a:lstStyle/>
          <a:p>
            <a:pPr algn="l" indent="0" marL="0">
              <a:buNone/>
            </a:pPr>
            <a:r>
              <a:rPr lang="en-US" sz="1200" b="1" spc="200" kern="0" dirty="0">
                <a:solidFill>
                  <a:schemeClr val="accent5"/>
                </a:solidFill>
              </a:rPr>
              <a:t>PRÉSENT</a:t>
            </a:r>
            <a:endParaRPr lang="en-US" sz="1200" dirty="0"/>
          </a:p>
        </p:txBody>
      </p:sp>
      <p:sp>
        <p:nvSpPr>
          <p:cNvPr id="11" name="Text 7"/>
          <p:cNvSpPr txBox="1"/>
          <p:nvPr/>
        </p:nvSpPr>
        <p:spPr>
          <a:xfrm>
            <a:off x="7406640" y="1932432"/>
            <a:ext cx="4233672" cy="365760"/>
          </a:xfrm>
          <a:prstGeom prst="rect">
            <a:avLst/>
          </a:prstGeom>
          <a:noFill/>
          <a:ln/>
        </p:spPr>
        <p:txBody>
          <a:bodyPr wrap="square" lIns="0" tIns="0" rIns="0" bIns="0" rtlCol="0" anchor="t"/>
          <a:lstStyle/>
          <a:p>
            <a:pPr algn="l" indent="0" marL="0">
              <a:buNone/>
            </a:pPr>
            <a:r>
              <a:rPr lang="en-US" sz="1200" b="1" spc="200" kern="0" dirty="0">
                <a:solidFill>
                  <a:schemeClr val="accent5"/>
                </a:solidFill>
              </a:rPr>
              <a:t>PASSÉ COMPOSÉ</a:t>
            </a:r>
            <a:endParaRPr lang="en-US" sz="1200" dirty="0"/>
          </a:p>
        </p:txBody>
      </p:sp>
      <p:sp>
        <p:nvSpPr>
          <p:cNvPr id="12" name="Shape 8"/>
          <p:cNvSpPr/>
          <p:nvPr/>
        </p:nvSpPr>
        <p:spPr>
          <a:xfrm>
            <a:off x="548640" y="2380488"/>
            <a:ext cx="3291840" cy="420243"/>
          </a:xfrm>
          <a:prstGeom prst="roundRect">
            <a:avLst>
              <a:gd name="adj" fmla="val 13055"/>
            </a:avLst>
          </a:prstGeom>
          <a:solidFill>
            <a:schemeClr val="bg2"/>
          </a:solidFill>
          <a:ln w="12700">
            <a:solidFill>
              <a:srgbClr val="D5DCE6"/>
            </a:solidFill>
            <a:prstDash val="solid"/>
          </a:ln>
        </p:spPr>
      </p:sp>
      <p:sp>
        <p:nvSpPr>
          <p:cNvPr id="13" name="Text 9"/>
          <p:cNvSpPr txBox="1"/>
          <p:nvPr/>
        </p:nvSpPr>
        <p:spPr>
          <a:xfrm>
            <a:off x="685800" y="2380488"/>
            <a:ext cx="3108960" cy="420243"/>
          </a:xfrm>
          <a:prstGeom prst="rect">
            <a:avLst/>
          </a:prstGeom>
          <a:noFill/>
          <a:ln/>
        </p:spPr>
        <p:txBody>
          <a:bodyPr wrap="square" lIns="0" tIns="0" rIns="0" bIns="0" rtlCol="0" anchor="ctr"/>
          <a:lstStyle/>
          <a:p>
            <a:pPr algn="l" indent="0" marL="0">
              <a:buNone/>
            </a:pPr>
            <a:r>
              <a:rPr lang="en-US" sz="1600" b="1" i="1" dirty="0">
                <a:solidFill>
                  <a:schemeClr val="tx1"/>
                </a:solidFill>
              </a:rPr>
              <a:t>vertalen</a:t>
            </a:r>
            <a:endParaRPr lang="en-US" sz="1600" dirty="0"/>
          </a:p>
        </p:txBody>
      </p:sp>
      <p:sp>
        <p:nvSpPr>
          <p:cNvPr id="14" name="Shape 10"/>
          <p:cNvSpPr/>
          <p:nvPr/>
        </p:nvSpPr>
        <p:spPr>
          <a:xfrm>
            <a:off x="3977640" y="2380488"/>
            <a:ext cx="3291840" cy="420243"/>
          </a:xfrm>
          <a:prstGeom prst="roundRect">
            <a:avLst>
              <a:gd name="adj" fmla="val 13055"/>
            </a:avLst>
          </a:prstGeom>
          <a:solidFill>
            <a:srgbClr val="EDF6F0"/>
          </a:solidFill>
          <a:ln w="12700">
            <a:solidFill>
              <a:srgbClr val="2E7D4F"/>
            </a:solidFill>
            <a:prstDash val="solid"/>
          </a:ln>
        </p:spPr>
      </p:sp>
      <p:sp>
        <p:nvSpPr>
          <p:cNvPr id="15" name="Text 11"/>
          <p:cNvSpPr txBox="1"/>
          <p:nvPr/>
        </p:nvSpPr>
        <p:spPr>
          <a:xfrm>
            <a:off x="4114800" y="2380488"/>
            <a:ext cx="3017520" cy="420243"/>
          </a:xfrm>
          <a:prstGeom prst="rect">
            <a:avLst/>
          </a:prstGeom>
          <a:noFill/>
          <a:ln/>
        </p:spPr>
        <p:txBody>
          <a:bodyPr wrap="square" lIns="0" tIns="0" rIns="0" bIns="0" rtlCol="0" anchor="ctr"/>
          <a:lstStyle/>
          <a:p>
            <a:pPr algn="l" indent="0" marL="0">
              <a:buNone/>
            </a:pPr>
            <a:r>
              <a:rPr lang="en-US" sz="1600" b="1" i="1" dirty="0">
                <a:solidFill>
                  <a:schemeClr val="accent3"/>
                </a:solidFill>
              </a:rPr>
              <a:t>ik vertaal</a:t>
            </a:r>
            <a:endParaRPr lang="en-US" sz="1600" dirty="0"/>
          </a:p>
        </p:txBody>
      </p:sp>
      <p:sp>
        <p:nvSpPr>
          <p:cNvPr id="16" name="Shape 12"/>
          <p:cNvSpPr/>
          <p:nvPr/>
        </p:nvSpPr>
        <p:spPr>
          <a:xfrm>
            <a:off x="7406640" y="2380488"/>
            <a:ext cx="4233672" cy="420243"/>
          </a:xfrm>
          <a:prstGeom prst="roundRect">
            <a:avLst>
              <a:gd name="adj" fmla="val 13055"/>
            </a:avLst>
          </a:prstGeom>
          <a:solidFill>
            <a:srgbClr val="EDF6F0"/>
          </a:solidFill>
          <a:ln w="12700">
            <a:solidFill>
              <a:srgbClr val="2E7D4F"/>
            </a:solidFill>
            <a:prstDash val="solid"/>
          </a:ln>
        </p:spPr>
      </p:sp>
      <p:sp>
        <p:nvSpPr>
          <p:cNvPr id="17" name="Text 13"/>
          <p:cNvSpPr txBox="1"/>
          <p:nvPr/>
        </p:nvSpPr>
        <p:spPr>
          <a:xfrm>
            <a:off x="7543800" y="2380488"/>
            <a:ext cx="3959352" cy="420243"/>
          </a:xfrm>
          <a:prstGeom prst="rect">
            <a:avLst/>
          </a:prstGeom>
          <a:noFill/>
          <a:ln/>
        </p:spPr>
        <p:txBody>
          <a:bodyPr wrap="square" lIns="0" tIns="0" rIns="0" bIns="0" rtlCol="0" anchor="ctr"/>
          <a:lstStyle/>
          <a:p>
            <a:pPr algn="l" indent="0" marL="0">
              <a:buNone/>
            </a:pPr>
            <a:r>
              <a:rPr lang="en-US" sz="1600" b="1" i="1" dirty="0">
                <a:solidFill>
                  <a:schemeClr val="accent3"/>
                </a:solidFill>
              </a:rPr>
              <a:t>ik heb vertaald</a:t>
            </a:r>
            <a:endParaRPr lang="en-US" sz="1600" dirty="0"/>
          </a:p>
        </p:txBody>
      </p:sp>
      <p:sp>
        <p:nvSpPr>
          <p:cNvPr id="18" name="Shape 14"/>
          <p:cNvSpPr/>
          <p:nvPr/>
        </p:nvSpPr>
        <p:spPr>
          <a:xfrm>
            <a:off x="548640" y="2873883"/>
            <a:ext cx="3291840" cy="420243"/>
          </a:xfrm>
          <a:prstGeom prst="roundRect">
            <a:avLst>
              <a:gd name="adj" fmla="val 13055"/>
            </a:avLst>
          </a:prstGeom>
          <a:solidFill>
            <a:schemeClr val="bg2"/>
          </a:solidFill>
          <a:ln w="12700">
            <a:solidFill>
              <a:srgbClr val="D5DCE6"/>
            </a:solidFill>
            <a:prstDash val="solid"/>
          </a:ln>
        </p:spPr>
      </p:sp>
      <p:sp>
        <p:nvSpPr>
          <p:cNvPr id="19" name="Text 15"/>
          <p:cNvSpPr txBox="1"/>
          <p:nvPr/>
        </p:nvSpPr>
        <p:spPr>
          <a:xfrm>
            <a:off x="685800" y="2873883"/>
            <a:ext cx="3108960" cy="420243"/>
          </a:xfrm>
          <a:prstGeom prst="rect">
            <a:avLst/>
          </a:prstGeom>
          <a:noFill/>
          <a:ln/>
        </p:spPr>
        <p:txBody>
          <a:bodyPr wrap="square" lIns="0" tIns="0" rIns="0" bIns="0" rtlCol="0" anchor="ctr"/>
          <a:lstStyle/>
          <a:p>
            <a:pPr algn="l" indent="0" marL="0">
              <a:buNone/>
            </a:pPr>
            <a:r>
              <a:rPr lang="en-US" sz="1600" b="1" i="1" dirty="0">
                <a:solidFill>
                  <a:schemeClr val="tx1"/>
                </a:solidFill>
              </a:rPr>
              <a:t>nakijken</a:t>
            </a:r>
            <a:endParaRPr lang="en-US" sz="1600" dirty="0"/>
          </a:p>
        </p:txBody>
      </p:sp>
      <p:sp>
        <p:nvSpPr>
          <p:cNvPr id="20" name="Shape 16"/>
          <p:cNvSpPr/>
          <p:nvPr/>
        </p:nvSpPr>
        <p:spPr>
          <a:xfrm>
            <a:off x="3977640" y="2873883"/>
            <a:ext cx="3291840" cy="420243"/>
          </a:xfrm>
          <a:prstGeom prst="roundRect">
            <a:avLst>
              <a:gd name="adj" fmla="val 13055"/>
            </a:avLst>
          </a:prstGeom>
          <a:solidFill>
            <a:srgbClr val="EDF6F0"/>
          </a:solidFill>
          <a:ln w="12700">
            <a:solidFill>
              <a:srgbClr val="2E7D4F"/>
            </a:solidFill>
            <a:prstDash val="solid"/>
          </a:ln>
        </p:spPr>
      </p:sp>
      <p:sp>
        <p:nvSpPr>
          <p:cNvPr id="21" name="Text 17"/>
          <p:cNvSpPr txBox="1"/>
          <p:nvPr/>
        </p:nvSpPr>
        <p:spPr>
          <a:xfrm>
            <a:off x="4114800" y="2873883"/>
            <a:ext cx="3017520" cy="420243"/>
          </a:xfrm>
          <a:prstGeom prst="rect">
            <a:avLst/>
          </a:prstGeom>
          <a:noFill/>
          <a:ln/>
        </p:spPr>
        <p:txBody>
          <a:bodyPr wrap="square" lIns="0" tIns="0" rIns="0" bIns="0" rtlCol="0" anchor="ctr"/>
          <a:lstStyle/>
          <a:p>
            <a:pPr algn="l" indent="0" marL="0">
              <a:buNone/>
            </a:pPr>
            <a:r>
              <a:rPr lang="en-US" sz="1600" b="1" i="1" dirty="0">
                <a:solidFill>
                  <a:schemeClr val="accent3"/>
                </a:solidFill>
              </a:rPr>
              <a:t>ik kijk na</a:t>
            </a:r>
            <a:endParaRPr lang="en-US" sz="1600" dirty="0"/>
          </a:p>
        </p:txBody>
      </p:sp>
      <p:sp>
        <p:nvSpPr>
          <p:cNvPr id="22" name="Shape 18"/>
          <p:cNvSpPr/>
          <p:nvPr/>
        </p:nvSpPr>
        <p:spPr>
          <a:xfrm>
            <a:off x="7406640" y="2873883"/>
            <a:ext cx="4233672" cy="420243"/>
          </a:xfrm>
          <a:prstGeom prst="roundRect">
            <a:avLst>
              <a:gd name="adj" fmla="val 13055"/>
            </a:avLst>
          </a:prstGeom>
          <a:solidFill>
            <a:srgbClr val="EDF6F0"/>
          </a:solidFill>
          <a:ln w="12700">
            <a:solidFill>
              <a:srgbClr val="2E7D4F"/>
            </a:solidFill>
            <a:prstDash val="solid"/>
          </a:ln>
        </p:spPr>
      </p:sp>
      <p:sp>
        <p:nvSpPr>
          <p:cNvPr id="23" name="Text 19"/>
          <p:cNvSpPr txBox="1"/>
          <p:nvPr/>
        </p:nvSpPr>
        <p:spPr>
          <a:xfrm>
            <a:off x="7543800" y="2873883"/>
            <a:ext cx="3959352" cy="420243"/>
          </a:xfrm>
          <a:prstGeom prst="rect">
            <a:avLst/>
          </a:prstGeom>
          <a:noFill/>
          <a:ln/>
        </p:spPr>
        <p:txBody>
          <a:bodyPr wrap="square" lIns="0" tIns="0" rIns="0" bIns="0" rtlCol="0" anchor="ctr"/>
          <a:lstStyle/>
          <a:p>
            <a:pPr algn="l" indent="0" marL="0">
              <a:buNone/>
            </a:pPr>
            <a:r>
              <a:rPr lang="en-US" sz="1600" b="1" i="1" dirty="0">
                <a:solidFill>
                  <a:schemeClr val="accent3"/>
                </a:solidFill>
              </a:rPr>
              <a:t>ik heb nagekeken</a:t>
            </a:r>
            <a:endParaRPr lang="en-US" sz="1600" dirty="0"/>
          </a:p>
        </p:txBody>
      </p:sp>
      <p:sp>
        <p:nvSpPr>
          <p:cNvPr id="24" name="Shape 20"/>
          <p:cNvSpPr/>
          <p:nvPr/>
        </p:nvSpPr>
        <p:spPr>
          <a:xfrm>
            <a:off x="548640" y="3367278"/>
            <a:ext cx="3291840" cy="420243"/>
          </a:xfrm>
          <a:prstGeom prst="roundRect">
            <a:avLst>
              <a:gd name="adj" fmla="val 13055"/>
            </a:avLst>
          </a:prstGeom>
          <a:solidFill>
            <a:schemeClr val="bg2"/>
          </a:solidFill>
          <a:ln w="12700">
            <a:solidFill>
              <a:srgbClr val="D5DCE6"/>
            </a:solidFill>
            <a:prstDash val="solid"/>
          </a:ln>
        </p:spPr>
      </p:sp>
      <p:sp>
        <p:nvSpPr>
          <p:cNvPr id="25" name="Text 21"/>
          <p:cNvSpPr txBox="1"/>
          <p:nvPr/>
        </p:nvSpPr>
        <p:spPr>
          <a:xfrm>
            <a:off x="685800" y="3367278"/>
            <a:ext cx="3108960" cy="420243"/>
          </a:xfrm>
          <a:prstGeom prst="rect">
            <a:avLst/>
          </a:prstGeom>
          <a:noFill/>
          <a:ln/>
        </p:spPr>
        <p:txBody>
          <a:bodyPr wrap="square" lIns="0" tIns="0" rIns="0" bIns="0" rtlCol="0" anchor="ctr"/>
          <a:lstStyle/>
          <a:p>
            <a:pPr algn="l" indent="0" marL="0">
              <a:buNone/>
            </a:pPr>
            <a:r>
              <a:rPr lang="en-US" sz="1600" b="1" i="1" dirty="0">
                <a:solidFill>
                  <a:schemeClr val="tx1"/>
                </a:solidFill>
              </a:rPr>
              <a:t>herhalen</a:t>
            </a:r>
            <a:endParaRPr lang="en-US" sz="1600" dirty="0"/>
          </a:p>
        </p:txBody>
      </p:sp>
      <p:sp>
        <p:nvSpPr>
          <p:cNvPr id="26" name="Shape 22"/>
          <p:cNvSpPr/>
          <p:nvPr/>
        </p:nvSpPr>
        <p:spPr>
          <a:xfrm>
            <a:off x="3977640" y="3367278"/>
            <a:ext cx="3291840" cy="420243"/>
          </a:xfrm>
          <a:prstGeom prst="roundRect">
            <a:avLst>
              <a:gd name="adj" fmla="val 13055"/>
            </a:avLst>
          </a:prstGeom>
          <a:solidFill>
            <a:srgbClr val="EDF6F0"/>
          </a:solidFill>
          <a:ln w="12700">
            <a:solidFill>
              <a:srgbClr val="2E7D4F"/>
            </a:solidFill>
            <a:prstDash val="solid"/>
          </a:ln>
        </p:spPr>
      </p:sp>
      <p:sp>
        <p:nvSpPr>
          <p:cNvPr id="27" name="Text 23"/>
          <p:cNvSpPr txBox="1"/>
          <p:nvPr/>
        </p:nvSpPr>
        <p:spPr>
          <a:xfrm>
            <a:off x="4114800" y="3367278"/>
            <a:ext cx="3017520" cy="420243"/>
          </a:xfrm>
          <a:prstGeom prst="rect">
            <a:avLst/>
          </a:prstGeom>
          <a:noFill/>
          <a:ln/>
        </p:spPr>
        <p:txBody>
          <a:bodyPr wrap="square" lIns="0" tIns="0" rIns="0" bIns="0" rtlCol="0" anchor="ctr"/>
          <a:lstStyle/>
          <a:p>
            <a:pPr algn="l" indent="0" marL="0">
              <a:buNone/>
            </a:pPr>
            <a:r>
              <a:rPr lang="en-US" sz="1600" b="1" i="1" dirty="0">
                <a:solidFill>
                  <a:schemeClr val="accent3"/>
                </a:solidFill>
              </a:rPr>
              <a:t>ik herhaal</a:t>
            </a:r>
            <a:endParaRPr lang="en-US" sz="1600" dirty="0"/>
          </a:p>
        </p:txBody>
      </p:sp>
      <p:sp>
        <p:nvSpPr>
          <p:cNvPr id="28" name="Shape 24"/>
          <p:cNvSpPr/>
          <p:nvPr/>
        </p:nvSpPr>
        <p:spPr>
          <a:xfrm>
            <a:off x="7406640" y="3367278"/>
            <a:ext cx="4233672" cy="420243"/>
          </a:xfrm>
          <a:prstGeom prst="roundRect">
            <a:avLst>
              <a:gd name="adj" fmla="val 13055"/>
            </a:avLst>
          </a:prstGeom>
          <a:solidFill>
            <a:srgbClr val="EDF6F0"/>
          </a:solidFill>
          <a:ln w="12700">
            <a:solidFill>
              <a:srgbClr val="2E7D4F"/>
            </a:solidFill>
            <a:prstDash val="solid"/>
          </a:ln>
        </p:spPr>
      </p:sp>
      <p:sp>
        <p:nvSpPr>
          <p:cNvPr id="29" name="Text 25"/>
          <p:cNvSpPr txBox="1"/>
          <p:nvPr/>
        </p:nvSpPr>
        <p:spPr>
          <a:xfrm>
            <a:off x="7543800" y="3367278"/>
            <a:ext cx="3959352" cy="420243"/>
          </a:xfrm>
          <a:prstGeom prst="rect">
            <a:avLst/>
          </a:prstGeom>
          <a:noFill/>
          <a:ln/>
        </p:spPr>
        <p:txBody>
          <a:bodyPr wrap="square" lIns="0" tIns="0" rIns="0" bIns="0" rtlCol="0" anchor="ctr"/>
          <a:lstStyle/>
          <a:p>
            <a:pPr algn="l" indent="0" marL="0">
              <a:buNone/>
            </a:pPr>
            <a:r>
              <a:rPr lang="en-US" sz="1600" b="1" i="1" dirty="0">
                <a:solidFill>
                  <a:schemeClr val="accent3"/>
                </a:solidFill>
              </a:rPr>
              <a:t>ik heb herhaald</a:t>
            </a:r>
            <a:endParaRPr lang="en-US" sz="1600" dirty="0"/>
          </a:p>
        </p:txBody>
      </p:sp>
      <p:sp>
        <p:nvSpPr>
          <p:cNvPr id="30" name="Shape 26"/>
          <p:cNvSpPr/>
          <p:nvPr/>
        </p:nvSpPr>
        <p:spPr>
          <a:xfrm>
            <a:off x="548640" y="3860673"/>
            <a:ext cx="3291840" cy="420243"/>
          </a:xfrm>
          <a:prstGeom prst="roundRect">
            <a:avLst>
              <a:gd name="adj" fmla="val 13055"/>
            </a:avLst>
          </a:prstGeom>
          <a:solidFill>
            <a:schemeClr val="bg2"/>
          </a:solidFill>
          <a:ln w="12700">
            <a:solidFill>
              <a:srgbClr val="D5DCE6"/>
            </a:solidFill>
            <a:prstDash val="solid"/>
          </a:ln>
        </p:spPr>
      </p:sp>
      <p:sp>
        <p:nvSpPr>
          <p:cNvPr id="31" name="Text 27"/>
          <p:cNvSpPr txBox="1"/>
          <p:nvPr/>
        </p:nvSpPr>
        <p:spPr>
          <a:xfrm>
            <a:off x="685800" y="3860673"/>
            <a:ext cx="3108960" cy="420243"/>
          </a:xfrm>
          <a:prstGeom prst="rect">
            <a:avLst/>
          </a:prstGeom>
          <a:noFill/>
          <a:ln/>
        </p:spPr>
        <p:txBody>
          <a:bodyPr wrap="square" lIns="0" tIns="0" rIns="0" bIns="0" rtlCol="0" anchor="ctr"/>
          <a:lstStyle/>
          <a:p>
            <a:pPr algn="l" indent="0" marL="0">
              <a:buNone/>
            </a:pPr>
            <a:r>
              <a:rPr lang="en-US" sz="1600" b="1" i="1" dirty="0">
                <a:solidFill>
                  <a:schemeClr val="tx1"/>
                </a:solidFill>
              </a:rPr>
              <a:t>opbellen</a:t>
            </a:r>
            <a:endParaRPr lang="en-US" sz="1600" dirty="0"/>
          </a:p>
        </p:txBody>
      </p:sp>
      <p:sp>
        <p:nvSpPr>
          <p:cNvPr id="32" name="Shape 28"/>
          <p:cNvSpPr/>
          <p:nvPr/>
        </p:nvSpPr>
        <p:spPr>
          <a:xfrm>
            <a:off x="3977640" y="3860673"/>
            <a:ext cx="3291840" cy="420243"/>
          </a:xfrm>
          <a:prstGeom prst="roundRect">
            <a:avLst>
              <a:gd name="adj" fmla="val 13055"/>
            </a:avLst>
          </a:prstGeom>
          <a:solidFill>
            <a:srgbClr val="EDF6F0"/>
          </a:solidFill>
          <a:ln w="12700">
            <a:solidFill>
              <a:srgbClr val="2E7D4F"/>
            </a:solidFill>
            <a:prstDash val="solid"/>
          </a:ln>
        </p:spPr>
      </p:sp>
      <p:sp>
        <p:nvSpPr>
          <p:cNvPr id="33" name="Text 29"/>
          <p:cNvSpPr txBox="1"/>
          <p:nvPr/>
        </p:nvSpPr>
        <p:spPr>
          <a:xfrm>
            <a:off x="4114800" y="3860673"/>
            <a:ext cx="3017520" cy="420243"/>
          </a:xfrm>
          <a:prstGeom prst="rect">
            <a:avLst/>
          </a:prstGeom>
          <a:noFill/>
          <a:ln/>
        </p:spPr>
        <p:txBody>
          <a:bodyPr wrap="square" lIns="0" tIns="0" rIns="0" bIns="0" rtlCol="0" anchor="ctr"/>
          <a:lstStyle/>
          <a:p>
            <a:pPr algn="l" indent="0" marL="0">
              <a:buNone/>
            </a:pPr>
            <a:r>
              <a:rPr lang="en-US" sz="1600" b="1" i="1" dirty="0">
                <a:solidFill>
                  <a:schemeClr val="accent3"/>
                </a:solidFill>
              </a:rPr>
              <a:t>ik bel op</a:t>
            </a:r>
            <a:endParaRPr lang="en-US" sz="1600" dirty="0"/>
          </a:p>
        </p:txBody>
      </p:sp>
      <p:sp>
        <p:nvSpPr>
          <p:cNvPr id="34" name="Shape 30"/>
          <p:cNvSpPr/>
          <p:nvPr/>
        </p:nvSpPr>
        <p:spPr>
          <a:xfrm>
            <a:off x="7406640" y="3860673"/>
            <a:ext cx="4233672" cy="420243"/>
          </a:xfrm>
          <a:prstGeom prst="roundRect">
            <a:avLst>
              <a:gd name="adj" fmla="val 13055"/>
            </a:avLst>
          </a:prstGeom>
          <a:solidFill>
            <a:srgbClr val="EDF6F0"/>
          </a:solidFill>
          <a:ln w="12700">
            <a:solidFill>
              <a:srgbClr val="2E7D4F"/>
            </a:solidFill>
            <a:prstDash val="solid"/>
          </a:ln>
        </p:spPr>
      </p:sp>
      <p:sp>
        <p:nvSpPr>
          <p:cNvPr id="35" name="Text 31"/>
          <p:cNvSpPr txBox="1"/>
          <p:nvPr/>
        </p:nvSpPr>
        <p:spPr>
          <a:xfrm>
            <a:off x="7543800" y="3860673"/>
            <a:ext cx="3959352" cy="420243"/>
          </a:xfrm>
          <a:prstGeom prst="rect">
            <a:avLst/>
          </a:prstGeom>
          <a:noFill/>
          <a:ln/>
        </p:spPr>
        <p:txBody>
          <a:bodyPr wrap="square" lIns="0" tIns="0" rIns="0" bIns="0" rtlCol="0" anchor="ctr"/>
          <a:lstStyle/>
          <a:p>
            <a:pPr algn="l" indent="0" marL="0">
              <a:buNone/>
            </a:pPr>
            <a:r>
              <a:rPr lang="en-US" sz="1600" b="1" i="1" dirty="0">
                <a:solidFill>
                  <a:schemeClr val="accent3"/>
                </a:solidFill>
              </a:rPr>
              <a:t>ik heb opgebeld</a:t>
            </a:r>
            <a:endParaRPr lang="en-US" sz="1600" dirty="0"/>
          </a:p>
        </p:txBody>
      </p:sp>
      <p:sp>
        <p:nvSpPr>
          <p:cNvPr id="36" name="Shape 32"/>
          <p:cNvSpPr/>
          <p:nvPr/>
        </p:nvSpPr>
        <p:spPr>
          <a:xfrm>
            <a:off x="548640" y="4354068"/>
            <a:ext cx="3291840" cy="420243"/>
          </a:xfrm>
          <a:prstGeom prst="roundRect">
            <a:avLst>
              <a:gd name="adj" fmla="val 13055"/>
            </a:avLst>
          </a:prstGeom>
          <a:solidFill>
            <a:schemeClr val="bg2"/>
          </a:solidFill>
          <a:ln w="12700">
            <a:solidFill>
              <a:srgbClr val="D5DCE6"/>
            </a:solidFill>
            <a:prstDash val="solid"/>
          </a:ln>
        </p:spPr>
      </p:sp>
      <p:sp>
        <p:nvSpPr>
          <p:cNvPr id="37" name="Text 33"/>
          <p:cNvSpPr txBox="1"/>
          <p:nvPr/>
        </p:nvSpPr>
        <p:spPr>
          <a:xfrm>
            <a:off x="685800" y="4354068"/>
            <a:ext cx="3108960" cy="420243"/>
          </a:xfrm>
          <a:prstGeom prst="rect">
            <a:avLst/>
          </a:prstGeom>
          <a:noFill/>
          <a:ln/>
        </p:spPr>
        <p:txBody>
          <a:bodyPr wrap="square" lIns="0" tIns="0" rIns="0" bIns="0" rtlCol="0" anchor="ctr"/>
          <a:lstStyle/>
          <a:p>
            <a:pPr algn="l" indent="0" marL="0">
              <a:buNone/>
            </a:pPr>
            <a:r>
              <a:rPr lang="en-US" sz="1600" b="1" i="1" dirty="0">
                <a:solidFill>
                  <a:schemeClr val="tx1"/>
                </a:solidFill>
              </a:rPr>
              <a:t>voorkomen</a:t>
            </a:r>
            <a:r>
              <a:rPr lang="en-US" sz="1600" dirty="0">
                <a:solidFill>
                  <a:schemeClr val="tx1"/>
                </a:solidFill>
              </a:rPr>
              <a:t> (se produire)</a:t>
            </a:r>
            <a:endParaRPr lang="en-US" sz="1600" dirty="0"/>
          </a:p>
        </p:txBody>
      </p:sp>
      <p:sp>
        <p:nvSpPr>
          <p:cNvPr id="38" name="Shape 34"/>
          <p:cNvSpPr/>
          <p:nvPr/>
        </p:nvSpPr>
        <p:spPr>
          <a:xfrm>
            <a:off x="3977640" y="4354068"/>
            <a:ext cx="3291840" cy="420243"/>
          </a:xfrm>
          <a:prstGeom prst="roundRect">
            <a:avLst>
              <a:gd name="adj" fmla="val 13055"/>
            </a:avLst>
          </a:prstGeom>
          <a:solidFill>
            <a:srgbClr val="EDF6F0"/>
          </a:solidFill>
          <a:ln w="12700">
            <a:solidFill>
              <a:srgbClr val="2E7D4F"/>
            </a:solidFill>
            <a:prstDash val="solid"/>
          </a:ln>
        </p:spPr>
      </p:sp>
      <p:sp>
        <p:nvSpPr>
          <p:cNvPr id="39" name="Text 35"/>
          <p:cNvSpPr txBox="1"/>
          <p:nvPr/>
        </p:nvSpPr>
        <p:spPr>
          <a:xfrm>
            <a:off x="4114800" y="4354068"/>
            <a:ext cx="3017520" cy="420243"/>
          </a:xfrm>
          <a:prstGeom prst="rect">
            <a:avLst/>
          </a:prstGeom>
          <a:noFill/>
          <a:ln/>
        </p:spPr>
        <p:txBody>
          <a:bodyPr wrap="square" lIns="0" tIns="0" rIns="0" bIns="0" rtlCol="0" anchor="ctr"/>
          <a:lstStyle/>
          <a:p>
            <a:pPr algn="l" indent="0" marL="0">
              <a:buNone/>
            </a:pPr>
            <a:r>
              <a:rPr lang="en-US" sz="1600" b="1" i="1" dirty="0">
                <a:solidFill>
                  <a:schemeClr val="accent3"/>
                </a:solidFill>
              </a:rPr>
              <a:t>het komt voor</a:t>
            </a:r>
            <a:endParaRPr lang="en-US" sz="1600" dirty="0"/>
          </a:p>
        </p:txBody>
      </p:sp>
      <p:sp>
        <p:nvSpPr>
          <p:cNvPr id="40" name="Shape 36"/>
          <p:cNvSpPr/>
          <p:nvPr/>
        </p:nvSpPr>
        <p:spPr>
          <a:xfrm>
            <a:off x="7406640" y="4354068"/>
            <a:ext cx="4233672" cy="420243"/>
          </a:xfrm>
          <a:prstGeom prst="roundRect">
            <a:avLst>
              <a:gd name="adj" fmla="val 13055"/>
            </a:avLst>
          </a:prstGeom>
          <a:solidFill>
            <a:srgbClr val="EDF6F0"/>
          </a:solidFill>
          <a:ln w="12700">
            <a:solidFill>
              <a:srgbClr val="2E7D4F"/>
            </a:solidFill>
            <a:prstDash val="solid"/>
          </a:ln>
        </p:spPr>
      </p:sp>
      <p:sp>
        <p:nvSpPr>
          <p:cNvPr id="41" name="Text 37"/>
          <p:cNvSpPr txBox="1"/>
          <p:nvPr/>
        </p:nvSpPr>
        <p:spPr>
          <a:xfrm>
            <a:off x="7543800" y="4354068"/>
            <a:ext cx="3959352" cy="420243"/>
          </a:xfrm>
          <a:prstGeom prst="rect">
            <a:avLst/>
          </a:prstGeom>
          <a:noFill/>
          <a:ln/>
        </p:spPr>
        <p:txBody>
          <a:bodyPr wrap="square" lIns="0" tIns="0" rIns="0" bIns="0" rtlCol="0" anchor="ctr"/>
          <a:lstStyle/>
          <a:p>
            <a:pPr algn="l" indent="0" marL="0">
              <a:buNone/>
            </a:pPr>
            <a:r>
              <a:rPr lang="en-US" sz="1600" b="1" i="1" dirty="0">
                <a:solidFill>
                  <a:schemeClr val="accent3"/>
                </a:solidFill>
              </a:rPr>
              <a:t>het is voorgekomen</a:t>
            </a:r>
            <a:endParaRPr lang="en-US" sz="1600" dirty="0"/>
          </a:p>
        </p:txBody>
      </p:sp>
      <p:sp>
        <p:nvSpPr>
          <p:cNvPr id="42" name="Shape 38"/>
          <p:cNvSpPr/>
          <p:nvPr/>
        </p:nvSpPr>
        <p:spPr>
          <a:xfrm>
            <a:off x="548640" y="4847463"/>
            <a:ext cx="3291840" cy="420243"/>
          </a:xfrm>
          <a:prstGeom prst="roundRect">
            <a:avLst>
              <a:gd name="adj" fmla="val 13055"/>
            </a:avLst>
          </a:prstGeom>
          <a:solidFill>
            <a:schemeClr val="bg2"/>
          </a:solidFill>
          <a:ln w="12700">
            <a:solidFill>
              <a:srgbClr val="D5DCE6"/>
            </a:solidFill>
            <a:prstDash val="solid"/>
          </a:ln>
        </p:spPr>
      </p:sp>
      <p:sp>
        <p:nvSpPr>
          <p:cNvPr id="43" name="Text 39"/>
          <p:cNvSpPr txBox="1"/>
          <p:nvPr/>
        </p:nvSpPr>
        <p:spPr>
          <a:xfrm>
            <a:off x="685800" y="4847463"/>
            <a:ext cx="3108960" cy="420243"/>
          </a:xfrm>
          <a:prstGeom prst="rect">
            <a:avLst/>
          </a:prstGeom>
          <a:noFill/>
          <a:ln/>
        </p:spPr>
        <p:txBody>
          <a:bodyPr wrap="square" lIns="0" tIns="0" rIns="0" bIns="0" rtlCol="0" anchor="ctr"/>
          <a:lstStyle/>
          <a:p>
            <a:pPr algn="l" indent="0" marL="0">
              <a:buNone/>
            </a:pPr>
            <a:r>
              <a:rPr lang="en-US" sz="1600" b="1" i="1" dirty="0">
                <a:solidFill>
                  <a:schemeClr val="tx1"/>
                </a:solidFill>
              </a:rPr>
              <a:t>voorkomen</a:t>
            </a:r>
            <a:r>
              <a:rPr lang="en-US" sz="1600" dirty="0">
                <a:solidFill>
                  <a:schemeClr val="tx1"/>
                </a:solidFill>
              </a:rPr>
              <a:t> (éviter)</a:t>
            </a:r>
            <a:endParaRPr lang="en-US" sz="1600" dirty="0"/>
          </a:p>
        </p:txBody>
      </p:sp>
      <p:sp>
        <p:nvSpPr>
          <p:cNvPr id="44" name="Shape 40"/>
          <p:cNvSpPr/>
          <p:nvPr/>
        </p:nvSpPr>
        <p:spPr>
          <a:xfrm>
            <a:off x="3977640" y="4847463"/>
            <a:ext cx="3291840" cy="420243"/>
          </a:xfrm>
          <a:prstGeom prst="roundRect">
            <a:avLst>
              <a:gd name="adj" fmla="val 13055"/>
            </a:avLst>
          </a:prstGeom>
          <a:solidFill>
            <a:srgbClr val="EDF6F0"/>
          </a:solidFill>
          <a:ln w="12700">
            <a:solidFill>
              <a:srgbClr val="2E7D4F"/>
            </a:solidFill>
            <a:prstDash val="solid"/>
          </a:ln>
        </p:spPr>
      </p:sp>
      <p:sp>
        <p:nvSpPr>
          <p:cNvPr id="45" name="Text 41"/>
          <p:cNvSpPr txBox="1"/>
          <p:nvPr/>
        </p:nvSpPr>
        <p:spPr>
          <a:xfrm>
            <a:off x="4114800" y="4847463"/>
            <a:ext cx="3017520" cy="420243"/>
          </a:xfrm>
          <a:prstGeom prst="rect">
            <a:avLst/>
          </a:prstGeom>
          <a:noFill/>
          <a:ln/>
        </p:spPr>
        <p:txBody>
          <a:bodyPr wrap="square" lIns="0" tIns="0" rIns="0" bIns="0" rtlCol="0" anchor="ctr"/>
          <a:lstStyle/>
          <a:p>
            <a:pPr algn="l" indent="0" marL="0">
              <a:buNone/>
            </a:pPr>
            <a:r>
              <a:rPr lang="en-US" sz="1600" b="1" i="1" dirty="0">
                <a:solidFill>
                  <a:schemeClr val="accent3"/>
                </a:solidFill>
              </a:rPr>
              <a:t>ik voorkom</a:t>
            </a:r>
            <a:endParaRPr lang="en-US" sz="1600" dirty="0"/>
          </a:p>
        </p:txBody>
      </p:sp>
      <p:sp>
        <p:nvSpPr>
          <p:cNvPr id="46" name="Shape 42"/>
          <p:cNvSpPr/>
          <p:nvPr/>
        </p:nvSpPr>
        <p:spPr>
          <a:xfrm>
            <a:off x="7406640" y="4847463"/>
            <a:ext cx="4233672" cy="420243"/>
          </a:xfrm>
          <a:prstGeom prst="roundRect">
            <a:avLst>
              <a:gd name="adj" fmla="val 13055"/>
            </a:avLst>
          </a:prstGeom>
          <a:solidFill>
            <a:srgbClr val="EDF6F0"/>
          </a:solidFill>
          <a:ln w="12700">
            <a:solidFill>
              <a:srgbClr val="2E7D4F"/>
            </a:solidFill>
            <a:prstDash val="solid"/>
          </a:ln>
        </p:spPr>
      </p:sp>
      <p:sp>
        <p:nvSpPr>
          <p:cNvPr id="47" name="Text 43"/>
          <p:cNvSpPr txBox="1"/>
          <p:nvPr/>
        </p:nvSpPr>
        <p:spPr>
          <a:xfrm>
            <a:off x="7543800" y="4847463"/>
            <a:ext cx="3959352" cy="420243"/>
          </a:xfrm>
          <a:prstGeom prst="rect">
            <a:avLst/>
          </a:prstGeom>
          <a:noFill/>
          <a:ln/>
        </p:spPr>
        <p:txBody>
          <a:bodyPr wrap="square" lIns="0" tIns="0" rIns="0" bIns="0" rtlCol="0" anchor="ctr"/>
          <a:lstStyle/>
          <a:p>
            <a:pPr algn="l" indent="0" marL="0">
              <a:buNone/>
            </a:pPr>
            <a:r>
              <a:rPr lang="en-US" sz="1600" b="1" i="1" dirty="0">
                <a:solidFill>
                  <a:schemeClr val="accent3"/>
                </a:solidFill>
              </a:rPr>
              <a:t>ik heb voorkomen</a:t>
            </a:r>
            <a:endParaRPr lang="en-US" sz="1600" dirty="0"/>
          </a:p>
        </p:txBody>
      </p:sp>
      <p:sp>
        <p:nvSpPr>
          <p:cNvPr id="48" name="Shape 44"/>
          <p:cNvSpPr/>
          <p:nvPr/>
        </p:nvSpPr>
        <p:spPr>
          <a:xfrm>
            <a:off x="548640" y="5340858"/>
            <a:ext cx="3291840" cy="420243"/>
          </a:xfrm>
          <a:prstGeom prst="roundRect">
            <a:avLst>
              <a:gd name="adj" fmla="val 13055"/>
            </a:avLst>
          </a:prstGeom>
          <a:solidFill>
            <a:schemeClr val="bg2"/>
          </a:solidFill>
          <a:ln w="12700">
            <a:solidFill>
              <a:srgbClr val="D5DCE6"/>
            </a:solidFill>
            <a:prstDash val="solid"/>
          </a:ln>
        </p:spPr>
      </p:sp>
      <p:sp>
        <p:nvSpPr>
          <p:cNvPr id="49" name="Text 45"/>
          <p:cNvSpPr txBox="1"/>
          <p:nvPr/>
        </p:nvSpPr>
        <p:spPr>
          <a:xfrm>
            <a:off x="685800" y="5340858"/>
            <a:ext cx="3108960" cy="420243"/>
          </a:xfrm>
          <a:prstGeom prst="rect">
            <a:avLst/>
          </a:prstGeom>
          <a:noFill/>
          <a:ln/>
        </p:spPr>
        <p:txBody>
          <a:bodyPr wrap="square" lIns="0" tIns="0" rIns="0" bIns="0" rtlCol="0" anchor="ctr"/>
          <a:lstStyle/>
          <a:p>
            <a:pPr algn="l" indent="0" marL="0">
              <a:buNone/>
            </a:pPr>
            <a:r>
              <a:rPr lang="en-US" sz="1600" b="1" i="1" dirty="0">
                <a:solidFill>
                  <a:schemeClr val="tx1"/>
                </a:solidFill>
              </a:rPr>
              <a:t>overleggen</a:t>
            </a:r>
            <a:r>
              <a:rPr lang="en-US" sz="1600" dirty="0">
                <a:solidFill>
                  <a:schemeClr val="tx1"/>
                </a:solidFill>
              </a:rPr>
              <a:t> (se concerter)</a:t>
            </a:r>
            <a:endParaRPr lang="en-US" sz="1600" dirty="0"/>
          </a:p>
        </p:txBody>
      </p:sp>
      <p:sp>
        <p:nvSpPr>
          <p:cNvPr id="50" name="Shape 46"/>
          <p:cNvSpPr/>
          <p:nvPr/>
        </p:nvSpPr>
        <p:spPr>
          <a:xfrm>
            <a:off x="3977640" y="5340858"/>
            <a:ext cx="3291840" cy="420243"/>
          </a:xfrm>
          <a:prstGeom prst="roundRect">
            <a:avLst>
              <a:gd name="adj" fmla="val 13055"/>
            </a:avLst>
          </a:prstGeom>
          <a:solidFill>
            <a:srgbClr val="EDF6F0"/>
          </a:solidFill>
          <a:ln w="12700">
            <a:solidFill>
              <a:srgbClr val="2E7D4F"/>
            </a:solidFill>
            <a:prstDash val="solid"/>
          </a:ln>
        </p:spPr>
      </p:sp>
      <p:sp>
        <p:nvSpPr>
          <p:cNvPr id="51" name="Text 47"/>
          <p:cNvSpPr txBox="1"/>
          <p:nvPr/>
        </p:nvSpPr>
        <p:spPr>
          <a:xfrm>
            <a:off x="4114800" y="5340858"/>
            <a:ext cx="3017520" cy="420243"/>
          </a:xfrm>
          <a:prstGeom prst="rect">
            <a:avLst/>
          </a:prstGeom>
          <a:noFill/>
          <a:ln/>
        </p:spPr>
        <p:txBody>
          <a:bodyPr wrap="square" lIns="0" tIns="0" rIns="0" bIns="0" rtlCol="0" anchor="ctr"/>
          <a:lstStyle/>
          <a:p>
            <a:pPr algn="l" indent="0" marL="0">
              <a:buNone/>
            </a:pPr>
            <a:r>
              <a:rPr lang="en-US" sz="1600" b="1" i="1" dirty="0">
                <a:solidFill>
                  <a:schemeClr val="accent3"/>
                </a:solidFill>
              </a:rPr>
              <a:t>we overleggen</a:t>
            </a:r>
            <a:endParaRPr lang="en-US" sz="1600" dirty="0"/>
          </a:p>
        </p:txBody>
      </p:sp>
      <p:sp>
        <p:nvSpPr>
          <p:cNvPr id="52" name="Shape 48"/>
          <p:cNvSpPr/>
          <p:nvPr/>
        </p:nvSpPr>
        <p:spPr>
          <a:xfrm>
            <a:off x="7406640" y="5340858"/>
            <a:ext cx="4233672" cy="420243"/>
          </a:xfrm>
          <a:prstGeom prst="roundRect">
            <a:avLst>
              <a:gd name="adj" fmla="val 13055"/>
            </a:avLst>
          </a:prstGeom>
          <a:solidFill>
            <a:srgbClr val="EDF6F0"/>
          </a:solidFill>
          <a:ln w="12700">
            <a:solidFill>
              <a:srgbClr val="2E7D4F"/>
            </a:solidFill>
            <a:prstDash val="solid"/>
          </a:ln>
        </p:spPr>
      </p:sp>
      <p:sp>
        <p:nvSpPr>
          <p:cNvPr id="53" name="Text 49"/>
          <p:cNvSpPr txBox="1"/>
          <p:nvPr/>
        </p:nvSpPr>
        <p:spPr>
          <a:xfrm>
            <a:off x="7543800" y="5340858"/>
            <a:ext cx="3959352" cy="420243"/>
          </a:xfrm>
          <a:prstGeom prst="rect">
            <a:avLst/>
          </a:prstGeom>
          <a:noFill/>
          <a:ln/>
        </p:spPr>
        <p:txBody>
          <a:bodyPr wrap="square" lIns="0" tIns="0" rIns="0" bIns="0" rtlCol="0" anchor="ctr"/>
          <a:lstStyle/>
          <a:p>
            <a:pPr algn="l" indent="0" marL="0">
              <a:buNone/>
            </a:pPr>
            <a:r>
              <a:rPr lang="en-US" sz="1600" b="1" i="1" dirty="0">
                <a:solidFill>
                  <a:schemeClr val="accent3"/>
                </a:solidFill>
              </a:rPr>
              <a:t>we hebben overlegd</a:t>
            </a:r>
            <a:endParaRPr lang="en-US" sz="1600" dirty="0"/>
          </a:p>
        </p:txBody>
      </p:sp>
      <p:sp>
        <p:nvSpPr>
          <p:cNvPr id="54" name="Shape 50"/>
          <p:cNvSpPr/>
          <p:nvPr/>
        </p:nvSpPr>
        <p:spPr>
          <a:xfrm>
            <a:off x="548640" y="5834253"/>
            <a:ext cx="3291840" cy="420243"/>
          </a:xfrm>
          <a:prstGeom prst="roundRect">
            <a:avLst>
              <a:gd name="adj" fmla="val 13055"/>
            </a:avLst>
          </a:prstGeom>
          <a:solidFill>
            <a:schemeClr val="bg2"/>
          </a:solidFill>
          <a:ln w="12700">
            <a:solidFill>
              <a:srgbClr val="D5DCE6"/>
            </a:solidFill>
            <a:prstDash val="solid"/>
          </a:ln>
        </p:spPr>
      </p:sp>
      <p:sp>
        <p:nvSpPr>
          <p:cNvPr id="55" name="Text 51"/>
          <p:cNvSpPr txBox="1"/>
          <p:nvPr/>
        </p:nvSpPr>
        <p:spPr>
          <a:xfrm>
            <a:off x="685800" y="5834253"/>
            <a:ext cx="3108960" cy="420243"/>
          </a:xfrm>
          <a:prstGeom prst="rect">
            <a:avLst/>
          </a:prstGeom>
          <a:noFill/>
          <a:ln/>
        </p:spPr>
        <p:txBody>
          <a:bodyPr wrap="square" lIns="0" tIns="0" rIns="0" bIns="0" rtlCol="0" anchor="ctr"/>
          <a:lstStyle/>
          <a:p>
            <a:pPr algn="l" indent="0" marL="0">
              <a:buNone/>
            </a:pPr>
            <a:r>
              <a:rPr lang="en-US" sz="1600" b="1" i="1" dirty="0">
                <a:solidFill>
                  <a:schemeClr val="tx1"/>
                </a:solidFill>
              </a:rPr>
              <a:t>doorlopen</a:t>
            </a:r>
            <a:r>
              <a:rPr lang="en-US" sz="1600" dirty="0">
                <a:solidFill>
                  <a:schemeClr val="tx1"/>
                </a:solidFill>
              </a:rPr>
              <a:t> (parcourir)</a:t>
            </a:r>
            <a:endParaRPr lang="en-US" sz="1600" dirty="0"/>
          </a:p>
        </p:txBody>
      </p:sp>
      <p:sp>
        <p:nvSpPr>
          <p:cNvPr id="56" name="Shape 52"/>
          <p:cNvSpPr/>
          <p:nvPr/>
        </p:nvSpPr>
        <p:spPr>
          <a:xfrm>
            <a:off x="3977640" y="5834253"/>
            <a:ext cx="3291840" cy="420243"/>
          </a:xfrm>
          <a:prstGeom prst="roundRect">
            <a:avLst>
              <a:gd name="adj" fmla="val 13055"/>
            </a:avLst>
          </a:prstGeom>
          <a:solidFill>
            <a:srgbClr val="EDF6F0"/>
          </a:solidFill>
          <a:ln w="12700">
            <a:solidFill>
              <a:srgbClr val="2E7D4F"/>
            </a:solidFill>
            <a:prstDash val="solid"/>
          </a:ln>
        </p:spPr>
      </p:sp>
      <p:sp>
        <p:nvSpPr>
          <p:cNvPr id="57" name="Text 53"/>
          <p:cNvSpPr txBox="1"/>
          <p:nvPr/>
        </p:nvSpPr>
        <p:spPr>
          <a:xfrm>
            <a:off x="4114800" y="5834253"/>
            <a:ext cx="3017520" cy="420243"/>
          </a:xfrm>
          <a:prstGeom prst="rect">
            <a:avLst/>
          </a:prstGeom>
          <a:noFill/>
          <a:ln/>
        </p:spPr>
        <p:txBody>
          <a:bodyPr wrap="square" lIns="0" tIns="0" rIns="0" bIns="0" rtlCol="0" anchor="ctr"/>
          <a:lstStyle/>
          <a:p>
            <a:pPr algn="l" indent="0" marL="0">
              <a:buNone/>
            </a:pPr>
            <a:r>
              <a:rPr lang="en-US" sz="1600" b="1" i="1" dirty="0">
                <a:solidFill>
                  <a:schemeClr val="accent3"/>
                </a:solidFill>
              </a:rPr>
              <a:t>ik doorloop</a:t>
            </a:r>
            <a:endParaRPr lang="en-US" sz="1600" dirty="0"/>
          </a:p>
        </p:txBody>
      </p:sp>
      <p:sp>
        <p:nvSpPr>
          <p:cNvPr id="58" name="Shape 54"/>
          <p:cNvSpPr/>
          <p:nvPr/>
        </p:nvSpPr>
        <p:spPr>
          <a:xfrm>
            <a:off x="7406640" y="5834253"/>
            <a:ext cx="4233672" cy="420243"/>
          </a:xfrm>
          <a:prstGeom prst="roundRect">
            <a:avLst>
              <a:gd name="adj" fmla="val 13055"/>
            </a:avLst>
          </a:prstGeom>
          <a:solidFill>
            <a:srgbClr val="EDF6F0"/>
          </a:solidFill>
          <a:ln w="12700">
            <a:solidFill>
              <a:srgbClr val="2E7D4F"/>
            </a:solidFill>
            <a:prstDash val="solid"/>
          </a:ln>
        </p:spPr>
      </p:sp>
      <p:sp>
        <p:nvSpPr>
          <p:cNvPr id="59" name="Text 55"/>
          <p:cNvSpPr txBox="1"/>
          <p:nvPr/>
        </p:nvSpPr>
        <p:spPr>
          <a:xfrm>
            <a:off x="7543800" y="5834253"/>
            <a:ext cx="3959352" cy="420243"/>
          </a:xfrm>
          <a:prstGeom prst="rect">
            <a:avLst/>
          </a:prstGeom>
          <a:noFill/>
          <a:ln/>
        </p:spPr>
        <p:txBody>
          <a:bodyPr wrap="square" lIns="0" tIns="0" rIns="0" bIns="0" rtlCol="0" anchor="ctr"/>
          <a:lstStyle/>
          <a:p>
            <a:pPr algn="l" indent="0" marL="0">
              <a:buNone/>
            </a:pPr>
            <a:r>
              <a:rPr lang="en-US" sz="1600" b="1" i="1" dirty="0">
                <a:solidFill>
                  <a:schemeClr val="accent3"/>
                </a:solidFill>
              </a:rPr>
              <a:t>ik heb doorlopen</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son équipe. Trouvez les 5 erreurs (forme ou sens).</a:t>
            </a:r>
            <a:endParaRPr lang="en-US" sz="1700" dirty="0"/>
          </a:p>
        </p:txBody>
      </p:sp>
      <p:sp>
        <p:nvSpPr>
          <p:cNvPr id="8" name="Shape 4"/>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0" name="Text 6"/>
          <p:cNvSpPr txBox="1"/>
          <p:nvPr/>
        </p:nvSpPr>
        <p:spPr>
          <a:xfrm>
            <a:off x="777240" y="1932432"/>
            <a:ext cx="7772400" cy="457200"/>
          </a:xfrm>
          <a:prstGeom prst="rect">
            <a:avLst/>
          </a:prstGeom>
          <a:noFill/>
          <a:ln/>
        </p:spPr>
        <p:txBody>
          <a:bodyPr wrap="square" lIns="0" tIns="0" rIns="0" bIns="0" rtlCol="0" anchor="ctr"/>
          <a:lstStyle/>
          <a:p>
            <a:pPr algn="l" indent="0" marL="0">
              <a:buNone/>
            </a:pPr>
            <a:r>
              <a:rPr lang="en-US" sz="1300" dirty="0">
                <a:solidFill>
                  <a:schemeClr val="accent5"/>
                </a:solidFill>
              </a:rPr>
              <a:t>Van: Karim Benali · Aan: team verkoop · Onderwerp: stand van zaken</a:t>
            </a:r>
            <a:endParaRPr lang="en-US" sz="1300" dirty="0"/>
          </a:p>
        </p:txBody>
      </p:sp>
      <p:sp>
        <p:nvSpPr>
          <p:cNvPr id="11" name="Text 7"/>
          <p:cNvSpPr txBox="1"/>
          <p:nvPr/>
        </p:nvSpPr>
        <p:spPr>
          <a:xfrm>
            <a:off x="868680" y="2526792"/>
            <a:ext cx="7589520" cy="3627120"/>
          </a:xfrm>
          <a:prstGeom prst="rect">
            <a:avLst/>
          </a:prstGeom>
          <a:noFill/>
          <a:ln/>
        </p:spPr>
        <p:txBody>
          <a:bodyPr wrap="square" lIns="0" tIns="0" rIns="0" bIns="0" rtlCol="0" anchor="t"/>
          <a:lstStyle/>
          <a:p>
            <a:pPr algn="l" indent="0" marL="0">
              <a:lnSpc>
                <a:spcPct val="115000"/>
              </a:lnSpc>
              <a:spcAft>
                <a:spcPts val="600"/>
              </a:spcAft>
              <a:buNone/>
            </a:pPr>
            <a:r>
              <a:rPr lang="en-US" sz="1800" i="1" dirty="0">
                <a:solidFill>
                  <a:schemeClr val="tx1"/>
                </a:solidFill>
              </a:rPr>
              <a:t>Beste collega’s,</a:t>
            </a:r>
            <a:endParaRPr lang="en-US" sz="1800" dirty="0"/>
          </a:p>
          <a:p>
            <a:pPr algn="l" indent="0" marL="0">
              <a:lnSpc>
                <a:spcPct val="115000"/>
              </a:lnSpc>
              <a:spcAft>
                <a:spcPts val="600"/>
              </a:spcAft>
              <a:buNone/>
            </a:pPr>
            <a:r>
              <a:rPr lang="en-US" sz="1800" i="1" dirty="0">
                <a:solidFill>
                  <a:schemeClr val="tx1"/>
                </a:solidFill>
              </a:rPr>
              <a:t>De vergadering van vrijdag gaat niet door. Ik heb de offerte gisteren </a:t>
            </a:r>
            <a:r>
              <a:rPr lang="en-US" sz="1800" i="1" dirty="0">
                <a:solidFill>
                  <a:schemeClr val="tx1"/>
                </a:solidFill>
              </a:rPr>
              <a:t>gevertaald</a:t>
            </a:r>
            <a:r>
              <a:rPr lang="en-US" sz="1800" i="1" dirty="0">
                <a:solidFill>
                  <a:schemeClr val="tx1"/>
                </a:solidFill>
              </a:rPr>
              <a:t>. Ik stuur jullie de tekst </a:t>
            </a:r>
            <a:r>
              <a:rPr lang="en-US" sz="1800" i="1" dirty="0">
                <a:solidFill>
                  <a:schemeClr val="tx1"/>
                </a:solidFill>
              </a:rPr>
              <a:t>door morgen</a:t>
            </a:r>
            <a:r>
              <a:rPr lang="en-US" sz="1800" i="1" dirty="0">
                <a:solidFill>
                  <a:schemeClr val="tx1"/>
                </a:solidFill>
              </a:rPr>
              <a:t>, met de vraag om de cijfers nog eens </a:t>
            </a:r>
            <a:r>
              <a:rPr lang="en-US" sz="1800" i="1" dirty="0">
                <a:solidFill>
                  <a:schemeClr val="tx1"/>
                </a:solidFill>
              </a:rPr>
              <a:t>te nakijken</a:t>
            </a:r>
            <a:r>
              <a:rPr lang="en-US" sz="1800" i="1" dirty="0">
                <a:solidFill>
                  <a:schemeClr val="tx1"/>
                </a:solidFill>
              </a:rPr>
              <a:t>. Lotte heeft de taak van Sofie </a:t>
            </a:r>
            <a:r>
              <a:rPr lang="en-US" sz="1800" i="1" dirty="0">
                <a:solidFill>
                  <a:schemeClr val="tx1"/>
                </a:solidFill>
              </a:rPr>
              <a:t>overgenomt</a:t>
            </a:r>
            <a:r>
              <a:rPr lang="en-US" sz="1800" i="1" dirty="0">
                <a:solidFill>
                  <a:schemeClr val="tx1"/>
                </a:solidFill>
              </a:rPr>
              <a:t>. Goed nieuws: het aantal klanten </a:t>
            </a:r>
            <a:r>
              <a:rPr lang="en-US" sz="1800" i="1" dirty="0">
                <a:solidFill>
                  <a:schemeClr val="tx1"/>
                </a:solidFill>
              </a:rPr>
              <a:t>neemt af</a:t>
            </a:r>
            <a:r>
              <a:rPr lang="en-US" sz="1800" i="1" dirty="0">
                <a:solidFill>
                  <a:schemeClr val="tx1"/>
                </a:solidFill>
              </a:rPr>
              <a:t>! We overleggen maandag verder.</a:t>
            </a:r>
            <a:endParaRPr lang="en-US" sz="1800" dirty="0"/>
          </a:p>
          <a:p>
            <a:pPr algn="l" indent="0" marL="0">
              <a:lnSpc>
                <a:spcPct val="115000"/>
              </a:lnSpc>
              <a:spcAft>
                <a:spcPts val="600"/>
              </a:spcAft>
              <a:buNone/>
            </a:pPr>
            <a:r>
              <a:rPr lang="en-US" sz="1800" i="1" dirty="0">
                <a:solidFill>
                  <a:schemeClr val="tx1"/>
                </a:solidFill>
              </a:rPr>
              <a:t>Groeten</a:t>
            </a:r>
            <a:endParaRPr lang="en-US" sz="1800" dirty="0"/>
          </a:p>
          <a:p>
            <a:pPr algn="l" indent="0" marL="0">
              <a:lnSpc>
                <a:spcPct val="115000"/>
              </a:lnSpc>
              <a:spcAft>
                <a:spcPts val="600"/>
              </a:spcAft>
              <a:buNone/>
            </a:pPr>
            <a:r>
              <a:rPr lang="en-US" sz="1800" i="1" dirty="0">
                <a:solidFill>
                  <a:schemeClr val="tx1"/>
                </a:solidFill>
              </a:rPr>
              <a:t>Karim</a:t>
            </a:r>
            <a:endParaRPr lang="en-US" sz="1800" dirty="0"/>
          </a:p>
        </p:txBody>
      </p:sp>
      <p:pic>
        <p:nvPicPr>
          <p:cNvPr id="12"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3" name="Shape 8"/>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4" name="Text 9"/>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son équipe. Trouvez les 5 erreurs (forme ou sens).</a:t>
            </a:r>
            <a:endParaRPr lang="en-US" sz="1700" dirty="0"/>
          </a:p>
        </p:txBody>
      </p:sp>
      <p:sp>
        <p:nvSpPr>
          <p:cNvPr id="9" name="Shape 5"/>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1" name="Text 7"/>
          <p:cNvSpPr txBox="1"/>
          <p:nvPr/>
        </p:nvSpPr>
        <p:spPr>
          <a:xfrm>
            <a:off x="777240" y="1932432"/>
            <a:ext cx="7772400" cy="457200"/>
          </a:xfrm>
          <a:prstGeom prst="rect">
            <a:avLst/>
          </a:prstGeom>
          <a:noFill/>
          <a:ln/>
        </p:spPr>
        <p:txBody>
          <a:bodyPr wrap="square" lIns="0" tIns="0" rIns="0" bIns="0" rtlCol="0" anchor="ctr"/>
          <a:lstStyle/>
          <a:p>
            <a:pPr algn="l" indent="0" marL="0">
              <a:buNone/>
            </a:pPr>
            <a:r>
              <a:rPr lang="en-US" sz="1300" dirty="0">
                <a:solidFill>
                  <a:schemeClr val="accent5"/>
                </a:solidFill>
              </a:rPr>
              <a:t>Van: Karim Benali · Aan: team verkoop · Onderwerp: stand van zaken</a:t>
            </a:r>
            <a:endParaRPr lang="en-US" sz="1300" dirty="0"/>
          </a:p>
        </p:txBody>
      </p:sp>
      <p:sp>
        <p:nvSpPr>
          <p:cNvPr id="12" name="Text 8"/>
          <p:cNvSpPr txBox="1"/>
          <p:nvPr/>
        </p:nvSpPr>
        <p:spPr>
          <a:xfrm>
            <a:off x="868680" y="2526792"/>
            <a:ext cx="7589520" cy="3627120"/>
          </a:xfrm>
          <a:prstGeom prst="rect">
            <a:avLst/>
          </a:prstGeom>
          <a:noFill/>
          <a:ln/>
        </p:spPr>
        <p:txBody>
          <a:bodyPr wrap="square" lIns="0" tIns="0" rIns="0" bIns="0" rtlCol="0" anchor="t"/>
          <a:lstStyle/>
          <a:p>
            <a:pPr algn="l" indent="0" marL="0">
              <a:lnSpc>
                <a:spcPct val="115000"/>
              </a:lnSpc>
              <a:spcAft>
                <a:spcPts val="600"/>
              </a:spcAft>
              <a:buNone/>
            </a:pPr>
            <a:r>
              <a:rPr lang="en-US" sz="1800" i="1" dirty="0">
                <a:solidFill>
                  <a:schemeClr val="tx1"/>
                </a:solidFill>
              </a:rPr>
              <a:t>Beste collega’s,</a:t>
            </a:r>
            <a:endParaRPr lang="en-US" sz="1800" dirty="0"/>
          </a:p>
          <a:p>
            <a:pPr algn="l" indent="0" marL="0">
              <a:lnSpc>
                <a:spcPct val="115000"/>
              </a:lnSpc>
              <a:spcAft>
                <a:spcPts val="600"/>
              </a:spcAft>
              <a:buNone/>
            </a:pPr>
            <a:r>
              <a:rPr lang="en-US" sz="1800" i="1" dirty="0">
                <a:solidFill>
                  <a:schemeClr val="tx1"/>
                </a:solidFill>
              </a:rPr>
              <a:t>De vergadering van vrijdag gaat niet door. Ik heb de offerte gisteren </a:t>
            </a:r>
            <a:r>
              <a:rPr lang="en-US" sz="1800" i="1" strike="sngStrike" dirty="0">
                <a:solidFill>
                  <a:schemeClr val="accent6"/>
                </a:solidFill>
              </a:rPr>
              <a:t>gevertaald</a:t>
            </a:r>
            <a:r>
              <a:rPr lang="en-US" sz="1800" b="1" i="1" dirty="0">
                <a:solidFill>
                  <a:schemeClr val="accent3"/>
                </a:solidFill>
              </a:rPr>
              <a:t> vertaald</a:t>
            </a:r>
            <a:r>
              <a:rPr lang="en-US" sz="1800" i="1" dirty="0">
                <a:solidFill>
                  <a:schemeClr val="tx1"/>
                </a:solidFill>
              </a:rPr>
              <a:t>. Ik stuur jullie de tekst </a:t>
            </a:r>
            <a:r>
              <a:rPr lang="en-US" sz="1800" i="1" strike="sngStrike" dirty="0">
                <a:solidFill>
                  <a:schemeClr val="accent6"/>
                </a:solidFill>
              </a:rPr>
              <a:t>door morgen</a:t>
            </a:r>
            <a:r>
              <a:rPr lang="en-US" sz="1800" b="1" i="1" dirty="0">
                <a:solidFill>
                  <a:schemeClr val="accent3"/>
                </a:solidFill>
              </a:rPr>
              <a:t> morgen door</a:t>
            </a:r>
            <a:r>
              <a:rPr lang="en-US" sz="1800" i="1" dirty="0">
                <a:solidFill>
                  <a:schemeClr val="tx1"/>
                </a:solidFill>
              </a:rPr>
              <a:t>, met de vraag om de cijfers nog eens </a:t>
            </a:r>
            <a:r>
              <a:rPr lang="en-US" sz="1800" i="1" strike="sngStrike" dirty="0">
                <a:solidFill>
                  <a:schemeClr val="accent6"/>
                </a:solidFill>
              </a:rPr>
              <a:t>te nakijken</a:t>
            </a:r>
            <a:r>
              <a:rPr lang="en-US" sz="1800" b="1" i="1" dirty="0">
                <a:solidFill>
                  <a:schemeClr val="accent3"/>
                </a:solidFill>
              </a:rPr>
              <a:t> na te kijken</a:t>
            </a:r>
            <a:r>
              <a:rPr lang="en-US" sz="1800" i="1" dirty="0">
                <a:solidFill>
                  <a:schemeClr val="tx1"/>
                </a:solidFill>
              </a:rPr>
              <a:t>. Lotte heeft de taak van Sofie </a:t>
            </a:r>
            <a:r>
              <a:rPr lang="en-US" sz="1800" i="1" strike="sngStrike" dirty="0">
                <a:solidFill>
                  <a:schemeClr val="accent6"/>
                </a:solidFill>
              </a:rPr>
              <a:t>overgenomt</a:t>
            </a:r>
            <a:r>
              <a:rPr lang="en-US" sz="1800" b="1" i="1" dirty="0">
                <a:solidFill>
                  <a:schemeClr val="accent3"/>
                </a:solidFill>
              </a:rPr>
              <a:t> overgenomen</a:t>
            </a:r>
            <a:r>
              <a:rPr lang="en-US" sz="1800" i="1" dirty="0">
                <a:solidFill>
                  <a:schemeClr val="tx1"/>
                </a:solidFill>
              </a:rPr>
              <a:t>. Goed nieuws: het aantal klanten </a:t>
            </a:r>
            <a:r>
              <a:rPr lang="en-US" sz="1800" i="1" strike="sngStrike" dirty="0">
                <a:solidFill>
                  <a:schemeClr val="accent6"/>
                </a:solidFill>
              </a:rPr>
              <a:t>neemt af</a:t>
            </a:r>
            <a:r>
              <a:rPr lang="en-US" sz="1800" b="1" i="1" dirty="0">
                <a:solidFill>
                  <a:schemeClr val="accent3"/>
                </a:solidFill>
              </a:rPr>
              <a:t> neemt toe</a:t>
            </a:r>
            <a:r>
              <a:rPr lang="en-US" sz="1800" i="1" dirty="0">
                <a:solidFill>
                  <a:schemeClr val="tx1"/>
                </a:solidFill>
              </a:rPr>
              <a:t>! We overleggen maandag verder.</a:t>
            </a:r>
            <a:endParaRPr lang="en-US" sz="1800" dirty="0"/>
          </a:p>
          <a:p>
            <a:pPr algn="l" indent="0" marL="0">
              <a:lnSpc>
                <a:spcPct val="115000"/>
              </a:lnSpc>
              <a:spcAft>
                <a:spcPts val="600"/>
              </a:spcAft>
              <a:buNone/>
            </a:pPr>
            <a:r>
              <a:rPr lang="en-US" sz="1800" i="1" dirty="0">
                <a:solidFill>
                  <a:schemeClr val="tx1"/>
                </a:solidFill>
              </a:rPr>
              <a:t>Groeten</a:t>
            </a:r>
            <a:endParaRPr lang="en-US" sz="1800" dirty="0"/>
          </a:p>
          <a:p>
            <a:pPr algn="l" indent="0" marL="0">
              <a:lnSpc>
                <a:spcPct val="115000"/>
              </a:lnSpc>
              <a:spcAft>
                <a:spcPts val="600"/>
              </a:spcAft>
              <a:buNone/>
            </a:pPr>
            <a:r>
              <a:rPr lang="en-US" sz="1800" i="1" dirty="0">
                <a:solidFill>
                  <a:schemeClr val="tx1"/>
                </a:solidFill>
              </a:rPr>
              <a:t>Karim</a:t>
            </a:r>
            <a:endParaRPr lang="en-US" sz="1800" dirty="0"/>
          </a:p>
        </p:txBody>
      </p:sp>
      <p:pic>
        <p:nvPicPr>
          <p:cNvPr id="13"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4" name="Shape 9"/>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5" name="Text 10"/>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16" name="Text 11"/>
          <p:cNvSpPr txBox="1"/>
          <p:nvPr/>
        </p:nvSpPr>
        <p:spPr>
          <a:xfrm>
            <a:off x="9052560" y="4721352"/>
            <a:ext cx="2587752" cy="2011680"/>
          </a:xfrm>
          <a:prstGeom prst="rect">
            <a:avLst/>
          </a:prstGeom>
          <a:noFill/>
          <a:ln/>
        </p:spPr>
        <p:txBody>
          <a:bodyPr wrap="square" lIns="0" tIns="0" rIns="0" bIns="0" rtlCol="0" anchor="t"/>
          <a:lstStyle/>
          <a:p>
            <a:pPr algn="l" indent="0" marL="0">
              <a:buNone/>
            </a:pPr>
            <a:r>
              <a:rPr lang="en-US" sz="1400" i="1" dirty="0">
                <a:solidFill>
                  <a:schemeClr val="accent5"/>
                </a:solidFill>
              </a:rPr>
              <a:t>Leurres : </a:t>
            </a:r>
            <a:r>
              <a:rPr lang="en-US" sz="1400" i="1" dirty="0">
                <a:solidFill>
                  <a:schemeClr val="accent5"/>
                </a:solidFill>
              </a:rPr>
              <a:t>gaat niet door</a:t>
            </a:r>
            <a:r>
              <a:rPr lang="en-US" sz="1400" i="1" dirty="0">
                <a:solidFill>
                  <a:schemeClr val="accent5"/>
                </a:solidFill>
              </a:rPr>
              <a:t> (n’a pas lieu) et </a:t>
            </a:r>
            <a:r>
              <a:rPr lang="en-US" sz="1400" i="1" dirty="0">
                <a:solidFill>
                  <a:schemeClr val="accent5"/>
                </a:solidFill>
              </a:rPr>
              <a:t>We overleggen</a:t>
            </a:r>
            <a:r>
              <a:rPr lang="en-US" sz="1400" i="1" dirty="0">
                <a:solidFill>
                  <a:schemeClr val="accent5"/>
                </a:solidFill>
              </a:rPr>
              <a:t> (inséparable) sont corrects. N° 5 : erreur de </a:t>
            </a:r>
            <a:r>
              <a:rPr lang="en-US" sz="1400" b="1" i="1" dirty="0">
                <a:solidFill>
                  <a:schemeClr val="accent5"/>
                </a:solidFill>
              </a:rPr>
              <a:t>sens</a:t>
            </a:r>
            <a:r>
              <a:rPr lang="en-US" sz="1400" i="1" dirty="0">
                <a:solidFill>
                  <a:schemeClr val="accent5"/>
                </a:solidFill>
              </a:rPr>
              <a:t> (</a:t>
            </a:r>
            <a:r>
              <a:rPr lang="en-US" sz="1400" i="1" dirty="0">
                <a:solidFill>
                  <a:schemeClr val="accent5"/>
                </a:solidFill>
              </a:rPr>
              <a:t>goed nieuws!</a:t>
            </a:r>
            <a:r>
              <a:rPr lang="en-US" sz="1400" i="1" dirty="0">
                <a:solidFill>
                  <a:schemeClr val="accent5"/>
                </a:solidFill>
              </a:rPr>
              <a: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bon contraire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Écrivez la phrase contraire en changeant la particule (ou le verbe).</a:t>
            </a:r>
            <a:endParaRPr lang="en-US" sz="1700" dirty="0"/>
          </a:p>
        </p:txBody>
      </p:sp>
      <p:sp>
        <p:nvSpPr>
          <p:cNvPr id="8" name="Shape 4"/>
          <p:cNvSpPr/>
          <p:nvPr/>
        </p:nvSpPr>
        <p:spPr>
          <a:xfrm>
            <a:off x="548640" y="2294382"/>
            <a:ext cx="365760" cy="365760"/>
          </a:xfrm>
          <a:prstGeom prst="ellipse">
            <a:avLst/>
          </a:prstGeom>
          <a:solidFill>
            <a:schemeClr val="accent5"/>
          </a:solidFill>
          <a:ln w="12700">
            <a:solidFill>
              <a:srgbClr val="FFFFFF">
                <a:alpha val="0"/>
              </a:srgbClr>
            </a:solidFill>
            <a:prstDash val="solid"/>
          </a:ln>
        </p:spPr>
      </p:sp>
      <p:sp>
        <p:nvSpPr>
          <p:cNvPr id="9" name="Text 5"/>
          <p:cNvSpPr txBox="1"/>
          <p:nvPr/>
        </p:nvSpPr>
        <p:spPr>
          <a:xfrm>
            <a:off x="548640" y="229438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Text 6"/>
          <p:cNvSpPr txBox="1"/>
          <p:nvPr/>
        </p:nvSpPr>
        <p:spPr>
          <a:xfrm>
            <a:off x="1005840" y="1978152"/>
            <a:ext cx="4905756" cy="499110"/>
          </a:xfrm>
          <a:prstGeom prst="rect">
            <a:avLst/>
          </a:prstGeom>
          <a:noFill/>
          <a:ln/>
        </p:spPr>
        <p:txBody>
          <a:bodyPr wrap="square" lIns="0" tIns="0" rIns="0" bIns="0" rtlCol="0" anchor="ctr"/>
          <a:lstStyle/>
          <a:p>
            <a:pPr algn="l" indent="0" marL="0">
              <a:buNone/>
            </a:pPr>
            <a:r>
              <a:rPr lang="en-US" sz="1700" i="1" dirty="0">
                <a:solidFill>
                  <a:schemeClr val="tx1"/>
                </a:solidFill>
              </a:rPr>
              <a:t>Zet de computer aan.</a:t>
            </a:r>
            <a:endParaRPr lang="en-US" sz="1700" dirty="0"/>
          </a:p>
        </p:txBody>
      </p:sp>
      <p:sp>
        <p:nvSpPr>
          <p:cNvPr id="11" name="Shape 7"/>
          <p:cNvSpPr/>
          <p:nvPr/>
        </p:nvSpPr>
        <p:spPr>
          <a:xfrm>
            <a:off x="1005840" y="2477262"/>
            <a:ext cx="4905756" cy="435102"/>
          </a:xfrm>
          <a:prstGeom prst="roundRect">
            <a:avLst>
              <a:gd name="adj" fmla="val 16813"/>
            </a:avLst>
          </a:prstGeom>
          <a:solidFill>
            <a:srgbClr val="FFFFFF"/>
          </a:solidFill>
          <a:ln w="12700">
            <a:solidFill>
              <a:srgbClr val="D5DCE6"/>
            </a:solidFill>
            <a:prstDash val="dash"/>
          </a:ln>
        </p:spPr>
      </p:sp>
      <p:sp>
        <p:nvSpPr>
          <p:cNvPr id="12" name="Shape 8"/>
          <p:cNvSpPr/>
          <p:nvPr/>
        </p:nvSpPr>
        <p:spPr>
          <a:xfrm>
            <a:off x="548640" y="3384042"/>
            <a:ext cx="365760" cy="365760"/>
          </a:xfrm>
          <a:prstGeom prst="ellipse">
            <a:avLst/>
          </a:prstGeom>
          <a:solidFill>
            <a:schemeClr val="accent5"/>
          </a:solidFill>
          <a:ln w="12700">
            <a:solidFill>
              <a:srgbClr val="FFFFFF">
                <a:alpha val="0"/>
              </a:srgbClr>
            </a:solidFill>
            <a:prstDash val="solid"/>
          </a:ln>
        </p:spPr>
      </p:sp>
      <p:sp>
        <p:nvSpPr>
          <p:cNvPr id="13" name="Text 9"/>
          <p:cNvSpPr txBox="1"/>
          <p:nvPr/>
        </p:nvSpPr>
        <p:spPr>
          <a:xfrm>
            <a:off x="548640" y="338404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4" name="Text 10"/>
          <p:cNvSpPr txBox="1"/>
          <p:nvPr/>
        </p:nvSpPr>
        <p:spPr>
          <a:xfrm>
            <a:off x="1005840" y="3067812"/>
            <a:ext cx="4905756" cy="499110"/>
          </a:xfrm>
          <a:prstGeom prst="rect">
            <a:avLst/>
          </a:prstGeom>
          <a:noFill/>
          <a:ln/>
        </p:spPr>
        <p:txBody>
          <a:bodyPr wrap="square" lIns="0" tIns="0" rIns="0" bIns="0" rtlCol="0" anchor="ctr"/>
          <a:lstStyle/>
          <a:p>
            <a:pPr algn="l" indent="0" marL="0">
              <a:buNone/>
            </a:pPr>
            <a:r>
              <a:rPr lang="en-US" sz="1700" i="1" dirty="0">
                <a:solidFill>
                  <a:schemeClr val="tx1"/>
                </a:solidFill>
              </a:rPr>
              <a:t>Ik log in.</a:t>
            </a:r>
            <a:endParaRPr lang="en-US" sz="1700" dirty="0"/>
          </a:p>
        </p:txBody>
      </p:sp>
      <p:sp>
        <p:nvSpPr>
          <p:cNvPr id="15" name="Shape 11"/>
          <p:cNvSpPr/>
          <p:nvPr/>
        </p:nvSpPr>
        <p:spPr>
          <a:xfrm>
            <a:off x="1005840" y="3566922"/>
            <a:ext cx="4905756" cy="435102"/>
          </a:xfrm>
          <a:prstGeom prst="roundRect">
            <a:avLst>
              <a:gd name="adj" fmla="val 16813"/>
            </a:avLst>
          </a:prstGeom>
          <a:solidFill>
            <a:srgbClr val="FFFFFF"/>
          </a:solidFill>
          <a:ln w="12700">
            <a:solidFill>
              <a:srgbClr val="D5DCE6"/>
            </a:solidFill>
            <a:prstDash val="dash"/>
          </a:ln>
        </p:spPr>
      </p:sp>
      <p:sp>
        <p:nvSpPr>
          <p:cNvPr id="16" name="Shape 12"/>
          <p:cNvSpPr/>
          <p:nvPr/>
        </p:nvSpPr>
        <p:spPr>
          <a:xfrm>
            <a:off x="548640" y="4473702"/>
            <a:ext cx="365760" cy="365760"/>
          </a:xfrm>
          <a:prstGeom prst="ellipse">
            <a:avLst/>
          </a:prstGeom>
          <a:solidFill>
            <a:schemeClr val="accent5"/>
          </a:solidFill>
          <a:ln w="12700">
            <a:solidFill>
              <a:srgbClr val="FFFFFF">
                <a:alpha val="0"/>
              </a:srgbClr>
            </a:solidFill>
            <a:prstDash val="solid"/>
          </a:ln>
        </p:spPr>
      </p:sp>
      <p:sp>
        <p:nvSpPr>
          <p:cNvPr id="17" name="Text 13"/>
          <p:cNvSpPr txBox="1"/>
          <p:nvPr/>
        </p:nvSpPr>
        <p:spPr>
          <a:xfrm>
            <a:off x="548640" y="447370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8" name="Text 14"/>
          <p:cNvSpPr txBox="1"/>
          <p:nvPr/>
        </p:nvSpPr>
        <p:spPr>
          <a:xfrm>
            <a:off x="1005840" y="4157472"/>
            <a:ext cx="4905756" cy="499110"/>
          </a:xfrm>
          <a:prstGeom prst="rect">
            <a:avLst/>
          </a:prstGeom>
          <a:noFill/>
          <a:ln/>
        </p:spPr>
        <p:txBody>
          <a:bodyPr wrap="square" lIns="0" tIns="0" rIns="0" bIns="0" rtlCol="0" anchor="ctr"/>
          <a:lstStyle/>
          <a:p>
            <a:pPr algn="l" indent="0" marL="0">
              <a:buNone/>
            </a:pPr>
            <a:r>
              <a:rPr lang="en-US" sz="1700" i="1" dirty="0">
                <a:solidFill>
                  <a:schemeClr val="tx1"/>
                </a:solidFill>
              </a:rPr>
              <a:t>De prijzen nemen toe.</a:t>
            </a:r>
            <a:endParaRPr lang="en-US" sz="1700" dirty="0"/>
          </a:p>
        </p:txBody>
      </p:sp>
      <p:sp>
        <p:nvSpPr>
          <p:cNvPr id="19" name="Shape 15"/>
          <p:cNvSpPr/>
          <p:nvPr/>
        </p:nvSpPr>
        <p:spPr>
          <a:xfrm>
            <a:off x="1005840" y="4656582"/>
            <a:ext cx="4905756" cy="435102"/>
          </a:xfrm>
          <a:prstGeom prst="roundRect">
            <a:avLst>
              <a:gd name="adj" fmla="val 16813"/>
            </a:avLst>
          </a:prstGeom>
          <a:solidFill>
            <a:srgbClr val="FFFFFF"/>
          </a:solidFill>
          <a:ln w="12700">
            <a:solidFill>
              <a:srgbClr val="D5DCE6"/>
            </a:solidFill>
            <a:prstDash val="dash"/>
          </a:ln>
        </p:spPr>
      </p:sp>
      <p:sp>
        <p:nvSpPr>
          <p:cNvPr id="20" name="Shape 16"/>
          <p:cNvSpPr/>
          <p:nvPr/>
        </p:nvSpPr>
        <p:spPr>
          <a:xfrm>
            <a:off x="548640" y="5563362"/>
            <a:ext cx="365760" cy="365760"/>
          </a:xfrm>
          <a:prstGeom prst="ellipse">
            <a:avLst/>
          </a:prstGeom>
          <a:solidFill>
            <a:schemeClr val="accent5"/>
          </a:solidFill>
          <a:ln w="12700">
            <a:solidFill>
              <a:srgbClr val="FFFFFF">
                <a:alpha val="0"/>
              </a:srgbClr>
            </a:solidFill>
            <a:prstDash val="solid"/>
          </a:ln>
        </p:spPr>
      </p:sp>
      <p:sp>
        <p:nvSpPr>
          <p:cNvPr id="21" name="Text 17"/>
          <p:cNvSpPr txBox="1"/>
          <p:nvPr/>
        </p:nvSpPr>
        <p:spPr>
          <a:xfrm>
            <a:off x="548640" y="556336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2" name="Text 18"/>
          <p:cNvSpPr txBox="1"/>
          <p:nvPr/>
        </p:nvSpPr>
        <p:spPr>
          <a:xfrm>
            <a:off x="1005840" y="5247132"/>
            <a:ext cx="4905756" cy="499110"/>
          </a:xfrm>
          <a:prstGeom prst="rect">
            <a:avLst/>
          </a:prstGeom>
          <a:noFill/>
          <a:ln/>
        </p:spPr>
        <p:txBody>
          <a:bodyPr wrap="square" lIns="0" tIns="0" rIns="0" bIns="0" rtlCol="0" anchor="ctr"/>
          <a:lstStyle/>
          <a:p>
            <a:pPr algn="l" indent="0" marL="0">
              <a:buNone/>
            </a:pPr>
            <a:r>
              <a:rPr lang="en-US" sz="1700" i="1" dirty="0">
                <a:solidFill>
                  <a:schemeClr val="tx1"/>
                </a:solidFill>
              </a:rPr>
              <a:t>Het examen viel tegen.</a:t>
            </a:r>
            <a:endParaRPr lang="en-US" sz="1700" dirty="0"/>
          </a:p>
        </p:txBody>
      </p:sp>
      <p:sp>
        <p:nvSpPr>
          <p:cNvPr id="23" name="Shape 19"/>
          <p:cNvSpPr/>
          <p:nvPr/>
        </p:nvSpPr>
        <p:spPr>
          <a:xfrm>
            <a:off x="1005840" y="5746242"/>
            <a:ext cx="4905756" cy="435102"/>
          </a:xfrm>
          <a:prstGeom prst="roundRect">
            <a:avLst>
              <a:gd name="adj" fmla="val 16813"/>
            </a:avLst>
          </a:prstGeom>
          <a:solidFill>
            <a:srgbClr val="FFFFFF"/>
          </a:solidFill>
          <a:ln w="12700">
            <a:solidFill>
              <a:srgbClr val="D5DCE6"/>
            </a:solidFill>
            <a:prstDash val="dash"/>
          </a:ln>
        </p:spPr>
      </p:sp>
      <p:sp>
        <p:nvSpPr>
          <p:cNvPr id="24" name="Shape 20"/>
          <p:cNvSpPr/>
          <p:nvPr/>
        </p:nvSpPr>
        <p:spPr>
          <a:xfrm>
            <a:off x="6231636" y="2294382"/>
            <a:ext cx="365760" cy="365760"/>
          </a:xfrm>
          <a:prstGeom prst="ellipse">
            <a:avLst/>
          </a:prstGeom>
          <a:solidFill>
            <a:schemeClr val="accent5"/>
          </a:solidFill>
          <a:ln w="12700">
            <a:solidFill>
              <a:srgbClr val="FFFFFF">
                <a:alpha val="0"/>
              </a:srgbClr>
            </a:solidFill>
            <a:prstDash val="solid"/>
          </a:ln>
        </p:spPr>
      </p:sp>
      <p:sp>
        <p:nvSpPr>
          <p:cNvPr id="25" name="Text 21"/>
          <p:cNvSpPr txBox="1"/>
          <p:nvPr/>
        </p:nvSpPr>
        <p:spPr>
          <a:xfrm>
            <a:off x="6231636" y="229438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26" name="Text 22"/>
          <p:cNvSpPr txBox="1"/>
          <p:nvPr/>
        </p:nvSpPr>
        <p:spPr>
          <a:xfrm>
            <a:off x="6688836" y="1978152"/>
            <a:ext cx="4905756" cy="499110"/>
          </a:xfrm>
          <a:prstGeom prst="rect">
            <a:avLst/>
          </a:prstGeom>
          <a:noFill/>
          <a:ln/>
        </p:spPr>
        <p:txBody>
          <a:bodyPr wrap="square" lIns="0" tIns="0" rIns="0" bIns="0" rtlCol="0" anchor="ctr"/>
          <a:lstStyle/>
          <a:p>
            <a:pPr algn="l" indent="0" marL="0">
              <a:buNone/>
            </a:pPr>
            <a:r>
              <a:rPr lang="en-US" sz="1700" i="1" dirty="0">
                <a:solidFill>
                  <a:schemeClr val="tx1"/>
                </a:solidFill>
              </a:rPr>
              <a:t>We stappen in.</a:t>
            </a:r>
            <a:endParaRPr lang="en-US" sz="1700" dirty="0"/>
          </a:p>
        </p:txBody>
      </p:sp>
      <p:sp>
        <p:nvSpPr>
          <p:cNvPr id="27" name="Shape 23"/>
          <p:cNvSpPr/>
          <p:nvPr/>
        </p:nvSpPr>
        <p:spPr>
          <a:xfrm>
            <a:off x="6688836" y="2477262"/>
            <a:ext cx="4905756" cy="435102"/>
          </a:xfrm>
          <a:prstGeom prst="roundRect">
            <a:avLst>
              <a:gd name="adj" fmla="val 16813"/>
            </a:avLst>
          </a:prstGeom>
          <a:solidFill>
            <a:srgbClr val="FFFFFF"/>
          </a:solidFill>
          <a:ln w="12700">
            <a:solidFill>
              <a:srgbClr val="D5DCE6"/>
            </a:solidFill>
            <a:prstDash val="dash"/>
          </a:ln>
        </p:spPr>
      </p:sp>
      <p:sp>
        <p:nvSpPr>
          <p:cNvPr id="28" name="Shape 24"/>
          <p:cNvSpPr/>
          <p:nvPr/>
        </p:nvSpPr>
        <p:spPr>
          <a:xfrm>
            <a:off x="6231636" y="3384042"/>
            <a:ext cx="365760" cy="365760"/>
          </a:xfrm>
          <a:prstGeom prst="ellipse">
            <a:avLst/>
          </a:prstGeom>
          <a:solidFill>
            <a:schemeClr val="accent5"/>
          </a:solidFill>
          <a:ln w="12700">
            <a:solidFill>
              <a:srgbClr val="FFFFFF">
                <a:alpha val="0"/>
              </a:srgbClr>
            </a:solidFill>
            <a:prstDash val="solid"/>
          </a:ln>
        </p:spPr>
      </p:sp>
      <p:sp>
        <p:nvSpPr>
          <p:cNvPr id="29" name="Text 25"/>
          <p:cNvSpPr txBox="1"/>
          <p:nvPr/>
        </p:nvSpPr>
        <p:spPr>
          <a:xfrm>
            <a:off x="6231636" y="338404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30" name="Text 26"/>
          <p:cNvSpPr txBox="1"/>
          <p:nvPr/>
        </p:nvSpPr>
        <p:spPr>
          <a:xfrm>
            <a:off x="6688836" y="3067812"/>
            <a:ext cx="4905756" cy="499110"/>
          </a:xfrm>
          <a:prstGeom prst="rect">
            <a:avLst/>
          </a:prstGeom>
          <a:noFill/>
          <a:ln/>
        </p:spPr>
        <p:txBody>
          <a:bodyPr wrap="square" lIns="0" tIns="0" rIns="0" bIns="0" rtlCol="0" anchor="ctr"/>
          <a:lstStyle/>
          <a:p>
            <a:pPr algn="l" indent="0" marL="0">
              <a:buNone/>
            </a:pPr>
            <a:r>
              <a:rPr lang="en-US" sz="1700" i="1" dirty="0">
                <a:solidFill>
                  <a:schemeClr val="tx1"/>
                </a:solidFill>
              </a:rPr>
              <a:t>Doe de deur open.</a:t>
            </a:r>
            <a:endParaRPr lang="en-US" sz="1700" dirty="0"/>
          </a:p>
        </p:txBody>
      </p:sp>
      <p:sp>
        <p:nvSpPr>
          <p:cNvPr id="31" name="Shape 27"/>
          <p:cNvSpPr/>
          <p:nvPr/>
        </p:nvSpPr>
        <p:spPr>
          <a:xfrm>
            <a:off x="6688836" y="3566922"/>
            <a:ext cx="4905756" cy="435102"/>
          </a:xfrm>
          <a:prstGeom prst="roundRect">
            <a:avLst>
              <a:gd name="adj" fmla="val 16813"/>
            </a:avLst>
          </a:prstGeom>
          <a:solidFill>
            <a:srgbClr val="FFFFFF"/>
          </a:solidFill>
          <a:ln w="12700">
            <a:solidFill>
              <a:srgbClr val="D5DCE6"/>
            </a:solidFill>
            <a:prstDash val="dash"/>
          </a:ln>
        </p:spPr>
      </p:sp>
      <p:sp>
        <p:nvSpPr>
          <p:cNvPr id="32" name="Shape 28"/>
          <p:cNvSpPr/>
          <p:nvPr/>
        </p:nvSpPr>
        <p:spPr>
          <a:xfrm>
            <a:off x="6231636" y="4473702"/>
            <a:ext cx="365760" cy="365760"/>
          </a:xfrm>
          <a:prstGeom prst="ellipse">
            <a:avLst/>
          </a:prstGeom>
          <a:solidFill>
            <a:schemeClr val="accent5"/>
          </a:solidFill>
          <a:ln w="12700">
            <a:solidFill>
              <a:srgbClr val="FFFFFF">
                <a:alpha val="0"/>
              </a:srgbClr>
            </a:solidFill>
            <a:prstDash val="solid"/>
          </a:ln>
        </p:spPr>
      </p:sp>
      <p:sp>
        <p:nvSpPr>
          <p:cNvPr id="33" name="Text 29"/>
          <p:cNvSpPr txBox="1"/>
          <p:nvPr/>
        </p:nvSpPr>
        <p:spPr>
          <a:xfrm>
            <a:off x="6231636" y="447370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34" name="Text 30"/>
          <p:cNvSpPr txBox="1"/>
          <p:nvPr/>
        </p:nvSpPr>
        <p:spPr>
          <a:xfrm>
            <a:off x="6688836" y="4157472"/>
            <a:ext cx="4905756" cy="499110"/>
          </a:xfrm>
          <a:prstGeom prst="rect">
            <a:avLst/>
          </a:prstGeom>
          <a:noFill/>
          <a:ln/>
        </p:spPr>
        <p:txBody>
          <a:bodyPr wrap="square" lIns="0" tIns="0" rIns="0" bIns="0" rtlCol="0" anchor="ctr"/>
          <a:lstStyle/>
          <a:p>
            <a:pPr algn="l" indent="0" marL="0">
              <a:buNone/>
            </a:pPr>
            <a:r>
              <a:rPr lang="en-US" sz="1700" i="1" dirty="0">
                <a:solidFill>
                  <a:schemeClr val="tx1"/>
                </a:solidFill>
              </a:rPr>
              <a:t>Ik ben drie kilo aangekomen.</a:t>
            </a:r>
            <a:endParaRPr lang="en-US" sz="1700" dirty="0"/>
          </a:p>
        </p:txBody>
      </p:sp>
      <p:sp>
        <p:nvSpPr>
          <p:cNvPr id="35" name="Shape 31"/>
          <p:cNvSpPr/>
          <p:nvPr/>
        </p:nvSpPr>
        <p:spPr>
          <a:xfrm>
            <a:off x="6688836" y="4656582"/>
            <a:ext cx="4905756" cy="435102"/>
          </a:xfrm>
          <a:prstGeom prst="roundRect">
            <a:avLst>
              <a:gd name="adj" fmla="val 16813"/>
            </a:avLst>
          </a:prstGeom>
          <a:solidFill>
            <a:srgbClr val="FFFFFF"/>
          </a:solidFill>
          <a:ln w="12700">
            <a:solidFill>
              <a:srgbClr val="D5DCE6"/>
            </a:solidFill>
            <a:prstDash val="dash"/>
          </a:ln>
        </p:spPr>
      </p:sp>
      <p:sp>
        <p:nvSpPr>
          <p:cNvPr id="36" name="Shape 32"/>
          <p:cNvSpPr/>
          <p:nvPr/>
        </p:nvSpPr>
        <p:spPr>
          <a:xfrm>
            <a:off x="6231636" y="5563362"/>
            <a:ext cx="365760" cy="365760"/>
          </a:xfrm>
          <a:prstGeom prst="ellipse">
            <a:avLst/>
          </a:prstGeom>
          <a:solidFill>
            <a:schemeClr val="accent5"/>
          </a:solidFill>
          <a:ln w="12700">
            <a:solidFill>
              <a:srgbClr val="FFFFFF">
                <a:alpha val="0"/>
              </a:srgbClr>
            </a:solidFill>
            <a:prstDash val="solid"/>
          </a:ln>
        </p:spPr>
      </p:sp>
      <p:sp>
        <p:nvSpPr>
          <p:cNvPr id="37" name="Text 33"/>
          <p:cNvSpPr txBox="1"/>
          <p:nvPr/>
        </p:nvSpPr>
        <p:spPr>
          <a:xfrm>
            <a:off x="6231636" y="556336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38" name="Text 34"/>
          <p:cNvSpPr txBox="1"/>
          <p:nvPr/>
        </p:nvSpPr>
        <p:spPr>
          <a:xfrm>
            <a:off x="6688836" y="5247132"/>
            <a:ext cx="4905756" cy="499110"/>
          </a:xfrm>
          <a:prstGeom prst="rect">
            <a:avLst/>
          </a:prstGeom>
          <a:noFill/>
          <a:ln/>
        </p:spPr>
        <p:txBody>
          <a:bodyPr wrap="square" lIns="0" tIns="0" rIns="0" bIns="0" rtlCol="0" anchor="ctr"/>
          <a:lstStyle/>
          <a:p>
            <a:pPr algn="l" indent="0" marL="0">
              <a:buNone/>
            </a:pPr>
            <a:r>
              <a:rPr lang="en-US" sz="1700" i="1" dirty="0">
                <a:solidFill>
                  <a:schemeClr val="tx1"/>
                </a:solidFill>
              </a:rPr>
              <a:t>Adem diep in.</a:t>
            </a:r>
            <a:endParaRPr lang="en-US" sz="1700" dirty="0"/>
          </a:p>
        </p:txBody>
      </p:sp>
      <p:sp>
        <p:nvSpPr>
          <p:cNvPr id="39" name="Shape 35"/>
          <p:cNvSpPr/>
          <p:nvPr/>
        </p:nvSpPr>
        <p:spPr>
          <a:xfrm>
            <a:off x="6688836" y="5746242"/>
            <a:ext cx="4905756" cy="435102"/>
          </a:xfrm>
          <a:prstGeom prst="roundRect">
            <a:avLst>
              <a:gd name="adj" fmla="val 16813"/>
            </a:avLst>
          </a:prstGeom>
          <a:solidFill>
            <a:srgbClr val="FFFFFF"/>
          </a:solidFill>
          <a:ln w="12700">
            <a:solidFill>
              <a:srgbClr val="D5DCE6"/>
            </a:solidFill>
            <a:prstDash val="dash"/>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bon contraire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Écrivez la phrase contraire en changeant la particule (ou le verbe).</a:t>
            </a:r>
            <a:endParaRPr lang="en-US" sz="1700" dirty="0"/>
          </a:p>
        </p:txBody>
      </p:sp>
      <p:sp>
        <p:nvSpPr>
          <p:cNvPr id="9" name="Shape 5"/>
          <p:cNvSpPr/>
          <p:nvPr/>
        </p:nvSpPr>
        <p:spPr>
          <a:xfrm>
            <a:off x="548640" y="2294382"/>
            <a:ext cx="365760" cy="365760"/>
          </a:xfrm>
          <a:prstGeom prst="ellipse">
            <a:avLst/>
          </a:prstGeom>
          <a:solidFill>
            <a:schemeClr val="accent5"/>
          </a:solidFill>
          <a:ln w="12700">
            <a:solidFill>
              <a:srgbClr val="FFFFFF">
                <a:alpha val="0"/>
              </a:srgbClr>
            </a:solidFill>
            <a:prstDash val="solid"/>
          </a:ln>
        </p:spPr>
      </p:sp>
      <p:sp>
        <p:nvSpPr>
          <p:cNvPr id="10" name="Text 6"/>
          <p:cNvSpPr txBox="1"/>
          <p:nvPr/>
        </p:nvSpPr>
        <p:spPr>
          <a:xfrm>
            <a:off x="548640" y="229438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Text 7"/>
          <p:cNvSpPr txBox="1"/>
          <p:nvPr/>
        </p:nvSpPr>
        <p:spPr>
          <a:xfrm>
            <a:off x="1005840" y="1978152"/>
            <a:ext cx="4905756" cy="499110"/>
          </a:xfrm>
          <a:prstGeom prst="rect">
            <a:avLst/>
          </a:prstGeom>
          <a:noFill/>
          <a:ln/>
        </p:spPr>
        <p:txBody>
          <a:bodyPr wrap="square" lIns="0" tIns="0" rIns="0" bIns="0" rtlCol="0" anchor="ctr"/>
          <a:lstStyle/>
          <a:p>
            <a:pPr algn="l" indent="0" marL="0">
              <a:buNone/>
            </a:pPr>
            <a:r>
              <a:rPr lang="en-US" sz="1700" i="1" dirty="0">
                <a:solidFill>
                  <a:schemeClr val="tx1"/>
                </a:solidFill>
              </a:rPr>
              <a:t>Zet de computer aan.</a:t>
            </a:r>
            <a:endParaRPr lang="en-US" sz="1700" dirty="0"/>
          </a:p>
        </p:txBody>
      </p:sp>
      <p:sp>
        <p:nvSpPr>
          <p:cNvPr id="12" name="Shape 8"/>
          <p:cNvSpPr/>
          <p:nvPr/>
        </p:nvSpPr>
        <p:spPr>
          <a:xfrm>
            <a:off x="1005840" y="2477262"/>
            <a:ext cx="4905756" cy="435102"/>
          </a:xfrm>
          <a:prstGeom prst="roundRect">
            <a:avLst>
              <a:gd name="adj" fmla="val 16813"/>
            </a:avLst>
          </a:prstGeom>
          <a:solidFill>
            <a:srgbClr val="EDF6F0"/>
          </a:solidFill>
          <a:ln w="12700">
            <a:solidFill>
              <a:srgbClr val="2E7D4F"/>
            </a:solidFill>
            <a:prstDash val="solid"/>
          </a:ln>
        </p:spPr>
      </p:sp>
      <p:sp>
        <p:nvSpPr>
          <p:cNvPr id="13" name="Text 9"/>
          <p:cNvSpPr txBox="1"/>
          <p:nvPr/>
        </p:nvSpPr>
        <p:spPr>
          <a:xfrm>
            <a:off x="1143000" y="2477262"/>
            <a:ext cx="4677156" cy="435102"/>
          </a:xfrm>
          <a:prstGeom prst="rect">
            <a:avLst/>
          </a:prstGeom>
          <a:noFill/>
          <a:ln/>
        </p:spPr>
        <p:txBody>
          <a:bodyPr wrap="square" lIns="0" tIns="0" rIns="0" bIns="0" rtlCol="0" anchor="ctr"/>
          <a:lstStyle/>
          <a:p>
            <a:pPr algn="l" indent="0" marL="0">
              <a:buNone/>
            </a:pPr>
            <a:r>
              <a:rPr lang="en-US" sz="1600" b="1" i="1" dirty="0">
                <a:solidFill>
                  <a:schemeClr val="accent3"/>
                </a:solidFill>
              </a:rPr>
              <a:t>Zet de computer uit. (BE : af)</a:t>
            </a:r>
            <a:endParaRPr lang="en-US" sz="1600" dirty="0"/>
          </a:p>
        </p:txBody>
      </p:sp>
      <p:sp>
        <p:nvSpPr>
          <p:cNvPr id="14" name="Shape 10"/>
          <p:cNvSpPr/>
          <p:nvPr/>
        </p:nvSpPr>
        <p:spPr>
          <a:xfrm>
            <a:off x="548640" y="3384042"/>
            <a:ext cx="365760" cy="365760"/>
          </a:xfrm>
          <a:prstGeom prst="ellipse">
            <a:avLst/>
          </a:prstGeom>
          <a:solidFill>
            <a:schemeClr val="accent5"/>
          </a:solidFill>
          <a:ln w="12700">
            <a:solidFill>
              <a:srgbClr val="FFFFFF">
                <a:alpha val="0"/>
              </a:srgbClr>
            </a:solidFill>
            <a:prstDash val="solid"/>
          </a:ln>
        </p:spPr>
      </p:sp>
      <p:sp>
        <p:nvSpPr>
          <p:cNvPr id="15" name="Text 11"/>
          <p:cNvSpPr txBox="1"/>
          <p:nvPr/>
        </p:nvSpPr>
        <p:spPr>
          <a:xfrm>
            <a:off x="548640" y="338404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6" name="Text 12"/>
          <p:cNvSpPr txBox="1"/>
          <p:nvPr/>
        </p:nvSpPr>
        <p:spPr>
          <a:xfrm>
            <a:off x="1005840" y="3067812"/>
            <a:ext cx="4905756" cy="499110"/>
          </a:xfrm>
          <a:prstGeom prst="rect">
            <a:avLst/>
          </a:prstGeom>
          <a:noFill/>
          <a:ln/>
        </p:spPr>
        <p:txBody>
          <a:bodyPr wrap="square" lIns="0" tIns="0" rIns="0" bIns="0" rtlCol="0" anchor="ctr"/>
          <a:lstStyle/>
          <a:p>
            <a:pPr algn="l" indent="0" marL="0">
              <a:buNone/>
            </a:pPr>
            <a:r>
              <a:rPr lang="en-US" sz="1700" i="1" dirty="0">
                <a:solidFill>
                  <a:schemeClr val="tx1"/>
                </a:solidFill>
              </a:rPr>
              <a:t>Ik log in.</a:t>
            </a:r>
            <a:endParaRPr lang="en-US" sz="1700" dirty="0"/>
          </a:p>
        </p:txBody>
      </p:sp>
      <p:sp>
        <p:nvSpPr>
          <p:cNvPr id="17" name="Shape 13"/>
          <p:cNvSpPr/>
          <p:nvPr/>
        </p:nvSpPr>
        <p:spPr>
          <a:xfrm>
            <a:off x="1005840" y="3566922"/>
            <a:ext cx="4905756" cy="435102"/>
          </a:xfrm>
          <a:prstGeom prst="roundRect">
            <a:avLst>
              <a:gd name="adj" fmla="val 16813"/>
            </a:avLst>
          </a:prstGeom>
          <a:solidFill>
            <a:srgbClr val="EDF6F0"/>
          </a:solidFill>
          <a:ln w="12700">
            <a:solidFill>
              <a:srgbClr val="2E7D4F"/>
            </a:solidFill>
            <a:prstDash val="solid"/>
          </a:ln>
        </p:spPr>
      </p:sp>
      <p:sp>
        <p:nvSpPr>
          <p:cNvPr id="18" name="Text 14"/>
          <p:cNvSpPr txBox="1"/>
          <p:nvPr/>
        </p:nvSpPr>
        <p:spPr>
          <a:xfrm>
            <a:off x="1143000" y="3566922"/>
            <a:ext cx="4677156" cy="435102"/>
          </a:xfrm>
          <a:prstGeom prst="rect">
            <a:avLst/>
          </a:prstGeom>
          <a:noFill/>
          <a:ln/>
        </p:spPr>
        <p:txBody>
          <a:bodyPr wrap="square" lIns="0" tIns="0" rIns="0" bIns="0" rtlCol="0" anchor="ctr"/>
          <a:lstStyle/>
          <a:p>
            <a:pPr algn="l" indent="0" marL="0">
              <a:buNone/>
            </a:pPr>
            <a:r>
              <a:rPr lang="en-US" sz="1600" b="1" i="1" dirty="0">
                <a:solidFill>
                  <a:schemeClr val="accent3"/>
                </a:solidFill>
              </a:rPr>
              <a:t>Ik log uit.</a:t>
            </a:r>
            <a:endParaRPr lang="en-US" sz="1600" dirty="0"/>
          </a:p>
        </p:txBody>
      </p:sp>
      <p:sp>
        <p:nvSpPr>
          <p:cNvPr id="19" name="Shape 15"/>
          <p:cNvSpPr/>
          <p:nvPr/>
        </p:nvSpPr>
        <p:spPr>
          <a:xfrm>
            <a:off x="548640" y="4473702"/>
            <a:ext cx="365760" cy="365760"/>
          </a:xfrm>
          <a:prstGeom prst="ellipse">
            <a:avLst/>
          </a:prstGeom>
          <a:solidFill>
            <a:schemeClr val="accent5"/>
          </a:solidFill>
          <a:ln w="12700">
            <a:solidFill>
              <a:srgbClr val="FFFFFF">
                <a:alpha val="0"/>
              </a:srgbClr>
            </a:solidFill>
            <a:prstDash val="solid"/>
          </a:ln>
        </p:spPr>
      </p:sp>
      <p:sp>
        <p:nvSpPr>
          <p:cNvPr id="20" name="Text 16"/>
          <p:cNvSpPr txBox="1"/>
          <p:nvPr/>
        </p:nvSpPr>
        <p:spPr>
          <a:xfrm>
            <a:off x="548640" y="447370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1" name="Text 17"/>
          <p:cNvSpPr txBox="1"/>
          <p:nvPr/>
        </p:nvSpPr>
        <p:spPr>
          <a:xfrm>
            <a:off x="1005840" y="4157472"/>
            <a:ext cx="4905756" cy="499110"/>
          </a:xfrm>
          <a:prstGeom prst="rect">
            <a:avLst/>
          </a:prstGeom>
          <a:noFill/>
          <a:ln/>
        </p:spPr>
        <p:txBody>
          <a:bodyPr wrap="square" lIns="0" tIns="0" rIns="0" bIns="0" rtlCol="0" anchor="ctr"/>
          <a:lstStyle/>
          <a:p>
            <a:pPr algn="l" indent="0" marL="0">
              <a:buNone/>
            </a:pPr>
            <a:r>
              <a:rPr lang="en-US" sz="1700" i="1" dirty="0">
                <a:solidFill>
                  <a:schemeClr val="tx1"/>
                </a:solidFill>
              </a:rPr>
              <a:t>De prijzen nemen toe.</a:t>
            </a:r>
            <a:endParaRPr lang="en-US" sz="1700" dirty="0"/>
          </a:p>
        </p:txBody>
      </p:sp>
      <p:sp>
        <p:nvSpPr>
          <p:cNvPr id="22" name="Shape 18"/>
          <p:cNvSpPr/>
          <p:nvPr/>
        </p:nvSpPr>
        <p:spPr>
          <a:xfrm>
            <a:off x="1005840" y="4656582"/>
            <a:ext cx="4905756" cy="435102"/>
          </a:xfrm>
          <a:prstGeom prst="roundRect">
            <a:avLst>
              <a:gd name="adj" fmla="val 16813"/>
            </a:avLst>
          </a:prstGeom>
          <a:solidFill>
            <a:srgbClr val="EDF6F0"/>
          </a:solidFill>
          <a:ln w="12700">
            <a:solidFill>
              <a:srgbClr val="2E7D4F"/>
            </a:solidFill>
            <a:prstDash val="solid"/>
          </a:ln>
        </p:spPr>
      </p:sp>
      <p:sp>
        <p:nvSpPr>
          <p:cNvPr id="23" name="Text 19"/>
          <p:cNvSpPr txBox="1"/>
          <p:nvPr/>
        </p:nvSpPr>
        <p:spPr>
          <a:xfrm>
            <a:off x="1143000" y="4656582"/>
            <a:ext cx="4677156" cy="435102"/>
          </a:xfrm>
          <a:prstGeom prst="rect">
            <a:avLst/>
          </a:prstGeom>
          <a:noFill/>
          <a:ln/>
        </p:spPr>
        <p:txBody>
          <a:bodyPr wrap="square" lIns="0" tIns="0" rIns="0" bIns="0" rtlCol="0" anchor="ctr"/>
          <a:lstStyle/>
          <a:p>
            <a:pPr algn="l" indent="0" marL="0">
              <a:buNone/>
            </a:pPr>
            <a:r>
              <a:rPr lang="en-US" sz="1600" b="1" i="1" dirty="0">
                <a:solidFill>
                  <a:schemeClr val="accent3"/>
                </a:solidFill>
              </a:rPr>
              <a:t>De prijzen nemen af.</a:t>
            </a:r>
            <a:endParaRPr lang="en-US" sz="1600" dirty="0"/>
          </a:p>
        </p:txBody>
      </p:sp>
      <p:sp>
        <p:nvSpPr>
          <p:cNvPr id="24" name="Shape 20"/>
          <p:cNvSpPr/>
          <p:nvPr/>
        </p:nvSpPr>
        <p:spPr>
          <a:xfrm>
            <a:off x="548640" y="5563362"/>
            <a:ext cx="365760" cy="365760"/>
          </a:xfrm>
          <a:prstGeom prst="ellipse">
            <a:avLst/>
          </a:prstGeom>
          <a:solidFill>
            <a:schemeClr val="accent5"/>
          </a:solidFill>
          <a:ln w="12700">
            <a:solidFill>
              <a:srgbClr val="FFFFFF">
                <a:alpha val="0"/>
              </a:srgbClr>
            </a:solidFill>
            <a:prstDash val="solid"/>
          </a:ln>
        </p:spPr>
      </p:sp>
      <p:sp>
        <p:nvSpPr>
          <p:cNvPr id="25" name="Text 21"/>
          <p:cNvSpPr txBox="1"/>
          <p:nvPr/>
        </p:nvSpPr>
        <p:spPr>
          <a:xfrm>
            <a:off x="548640" y="556336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6" name="Text 22"/>
          <p:cNvSpPr txBox="1"/>
          <p:nvPr/>
        </p:nvSpPr>
        <p:spPr>
          <a:xfrm>
            <a:off x="1005840" y="5247132"/>
            <a:ext cx="4905756" cy="499110"/>
          </a:xfrm>
          <a:prstGeom prst="rect">
            <a:avLst/>
          </a:prstGeom>
          <a:noFill/>
          <a:ln/>
        </p:spPr>
        <p:txBody>
          <a:bodyPr wrap="square" lIns="0" tIns="0" rIns="0" bIns="0" rtlCol="0" anchor="ctr"/>
          <a:lstStyle/>
          <a:p>
            <a:pPr algn="l" indent="0" marL="0">
              <a:buNone/>
            </a:pPr>
            <a:r>
              <a:rPr lang="en-US" sz="1700" i="1" dirty="0">
                <a:solidFill>
                  <a:schemeClr val="tx1"/>
                </a:solidFill>
              </a:rPr>
              <a:t>Het examen viel tegen.</a:t>
            </a:r>
            <a:endParaRPr lang="en-US" sz="1700" dirty="0"/>
          </a:p>
        </p:txBody>
      </p:sp>
      <p:sp>
        <p:nvSpPr>
          <p:cNvPr id="27" name="Shape 23"/>
          <p:cNvSpPr/>
          <p:nvPr/>
        </p:nvSpPr>
        <p:spPr>
          <a:xfrm>
            <a:off x="1005840" y="5746242"/>
            <a:ext cx="4905756" cy="435102"/>
          </a:xfrm>
          <a:prstGeom prst="roundRect">
            <a:avLst>
              <a:gd name="adj" fmla="val 16813"/>
            </a:avLst>
          </a:prstGeom>
          <a:solidFill>
            <a:srgbClr val="EDF6F0"/>
          </a:solidFill>
          <a:ln w="12700">
            <a:solidFill>
              <a:srgbClr val="2E7D4F"/>
            </a:solidFill>
            <a:prstDash val="solid"/>
          </a:ln>
        </p:spPr>
      </p:sp>
      <p:sp>
        <p:nvSpPr>
          <p:cNvPr id="28" name="Text 24"/>
          <p:cNvSpPr txBox="1"/>
          <p:nvPr/>
        </p:nvSpPr>
        <p:spPr>
          <a:xfrm>
            <a:off x="1143000" y="5746242"/>
            <a:ext cx="4677156" cy="435102"/>
          </a:xfrm>
          <a:prstGeom prst="rect">
            <a:avLst/>
          </a:prstGeom>
          <a:noFill/>
          <a:ln/>
        </p:spPr>
        <p:txBody>
          <a:bodyPr wrap="square" lIns="0" tIns="0" rIns="0" bIns="0" rtlCol="0" anchor="ctr"/>
          <a:lstStyle/>
          <a:p>
            <a:pPr algn="l" indent="0" marL="0">
              <a:buNone/>
            </a:pPr>
            <a:r>
              <a:rPr lang="en-US" sz="1600" b="1" i="1" dirty="0">
                <a:solidFill>
                  <a:schemeClr val="accent3"/>
                </a:solidFill>
              </a:rPr>
              <a:t>Het examen viel mee.</a:t>
            </a:r>
            <a:endParaRPr lang="en-US" sz="1600" dirty="0"/>
          </a:p>
        </p:txBody>
      </p:sp>
      <p:sp>
        <p:nvSpPr>
          <p:cNvPr id="29" name="Shape 25"/>
          <p:cNvSpPr/>
          <p:nvPr/>
        </p:nvSpPr>
        <p:spPr>
          <a:xfrm>
            <a:off x="6231636" y="2294382"/>
            <a:ext cx="365760" cy="365760"/>
          </a:xfrm>
          <a:prstGeom prst="ellipse">
            <a:avLst/>
          </a:prstGeom>
          <a:solidFill>
            <a:schemeClr val="accent5"/>
          </a:solidFill>
          <a:ln w="12700">
            <a:solidFill>
              <a:srgbClr val="FFFFFF">
                <a:alpha val="0"/>
              </a:srgbClr>
            </a:solidFill>
            <a:prstDash val="solid"/>
          </a:ln>
        </p:spPr>
      </p:sp>
      <p:sp>
        <p:nvSpPr>
          <p:cNvPr id="30" name="Text 26"/>
          <p:cNvSpPr txBox="1"/>
          <p:nvPr/>
        </p:nvSpPr>
        <p:spPr>
          <a:xfrm>
            <a:off x="6231636" y="229438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1" name="Text 27"/>
          <p:cNvSpPr txBox="1"/>
          <p:nvPr/>
        </p:nvSpPr>
        <p:spPr>
          <a:xfrm>
            <a:off x="6688836" y="1978152"/>
            <a:ext cx="4905756" cy="499110"/>
          </a:xfrm>
          <a:prstGeom prst="rect">
            <a:avLst/>
          </a:prstGeom>
          <a:noFill/>
          <a:ln/>
        </p:spPr>
        <p:txBody>
          <a:bodyPr wrap="square" lIns="0" tIns="0" rIns="0" bIns="0" rtlCol="0" anchor="ctr"/>
          <a:lstStyle/>
          <a:p>
            <a:pPr algn="l" indent="0" marL="0">
              <a:buNone/>
            </a:pPr>
            <a:r>
              <a:rPr lang="en-US" sz="1700" i="1" dirty="0">
                <a:solidFill>
                  <a:schemeClr val="tx1"/>
                </a:solidFill>
              </a:rPr>
              <a:t>We stappen in.</a:t>
            </a:r>
            <a:endParaRPr lang="en-US" sz="1700" dirty="0"/>
          </a:p>
        </p:txBody>
      </p:sp>
      <p:sp>
        <p:nvSpPr>
          <p:cNvPr id="32" name="Shape 28"/>
          <p:cNvSpPr/>
          <p:nvPr/>
        </p:nvSpPr>
        <p:spPr>
          <a:xfrm>
            <a:off x="6688836" y="2477262"/>
            <a:ext cx="4905756" cy="435102"/>
          </a:xfrm>
          <a:prstGeom prst="roundRect">
            <a:avLst>
              <a:gd name="adj" fmla="val 16813"/>
            </a:avLst>
          </a:prstGeom>
          <a:solidFill>
            <a:srgbClr val="EDF6F0"/>
          </a:solidFill>
          <a:ln w="12700">
            <a:solidFill>
              <a:srgbClr val="2E7D4F"/>
            </a:solidFill>
            <a:prstDash val="solid"/>
          </a:ln>
        </p:spPr>
      </p:sp>
      <p:sp>
        <p:nvSpPr>
          <p:cNvPr id="33" name="Text 29"/>
          <p:cNvSpPr txBox="1"/>
          <p:nvPr/>
        </p:nvSpPr>
        <p:spPr>
          <a:xfrm>
            <a:off x="6825996" y="2477262"/>
            <a:ext cx="4677156" cy="435102"/>
          </a:xfrm>
          <a:prstGeom prst="rect">
            <a:avLst/>
          </a:prstGeom>
          <a:noFill/>
          <a:ln/>
        </p:spPr>
        <p:txBody>
          <a:bodyPr wrap="square" lIns="0" tIns="0" rIns="0" bIns="0" rtlCol="0" anchor="ctr"/>
          <a:lstStyle/>
          <a:p>
            <a:pPr algn="l" indent="0" marL="0">
              <a:buNone/>
            </a:pPr>
            <a:r>
              <a:rPr lang="en-US" sz="1600" b="1" i="1" dirty="0">
                <a:solidFill>
                  <a:schemeClr val="accent3"/>
                </a:solidFill>
              </a:rPr>
              <a:t>We stappen uit.</a:t>
            </a:r>
            <a:endParaRPr lang="en-US" sz="1600" dirty="0"/>
          </a:p>
        </p:txBody>
      </p:sp>
      <p:sp>
        <p:nvSpPr>
          <p:cNvPr id="34" name="Shape 30"/>
          <p:cNvSpPr/>
          <p:nvPr/>
        </p:nvSpPr>
        <p:spPr>
          <a:xfrm>
            <a:off x="6231636" y="3384042"/>
            <a:ext cx="365760" cy="365760"/>
          </a:xfrm>
          <a:prstGeom prst="ellipse">
            <a:avLst/>
          </a:prstGeom>
          <a:solidFill>
            <a:schemeClr val="accent5"/>
          </a:solidFill>
          <a:ln w="12700">
            <a:solidFill>
              <a:srgbClr val="FFFFFF">
                <a:alpha val="0"/>
              </a:srgbClr>
            </a:solidFill>
            <a:prstDash val="solid"/>
          </a:ln>
        </p:spPr>
      </p:sp>
      <p:sp>
        <p:nvSpPr>
          <p:cNvPr id="35" name="Text 31"/>
          <p:cNvSpPr txBox="1"/>
          <p:nvPr/>
        </p:nvSpPr>
        <p:spPr>
          <a:xfrm>
            <a:off x="6231636" y="338404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36" name="Text 32"/>
          <p:cNvSpPr txBox="1"/>
          <p:nvPr/>
        </p:nvSpPr>
        <p:spPr>
          <a:xfrm>
            <a:off x="6688836" y="3067812"/>
            <a:ext cx="4905756" cy="499110"/>
          </a:xfrm>
          <a:prstGeom prst="rect">
            <a:avLst/>
          </a:prstGeom>
          <a:noFill/>
          <a:ln/>
        </p:spPr>
        <p:txBody>
          <a:bodyPr wrap="square" lIns="0" tIns="0" rIns="0" bIns="0" rtlCol="0" anchor="ctr"/>
          <a:lstStyle/>
          <a:p>
            <a:pPr algn="l" indent="0" marL="0">
              <a:buNone/>
            </a:pPr>
            <a:r>
              <a:rPr lang="en-US" sz="1700" i="1" dirty="0">
                <a:solidFill>
                  <a:schemeClr val="tx1"/>
                </a:solidFill>
              </a:rPr>
              <a:t>Doe de deur open.</a:t>
            </a:r>
            <a:endParaRPr lang="en-US" sz="1700" dirty="0"/>
          </a:p>
        </p:txBody>
      </p:sp>
      <p:sp>
        <p:nvSpPr>
          <p:cNvPr id="37" name="Shape 33"/>
          <p:cNvSpPr/>
          <p:nvPr/>
        </p:nvSpPr>
        <p:spPr>
          <a:xfrm>
            <a:off x="6688836" y="3566922"/>
            <a:ext cx="4905756" cy="435102"/>
          </a:xfrm>
          <a:prstGeom prst="roundRect">
            <a:avLst>
              <a:gd name="adj" fmla="val 16813"/>
            </a:avLst>
          </a:prstGeom>
          <a:solidFill>
            <a:srgbClr val="EDF6F0"/>
          </a:solidFill>
          <a:ln w="12700">
            <a:solidFill>
              <a:srgbClr val="2E7D4F"/>
            </a:solidFill>
            <a:prstDash val="solid"/>
          </a:ln>
        </p:spPr>
      </p:sp>
      <p:sp>
        <p:nvSpPr>
          <p:cNvPr id="38" name="Text 34"/>
          <p:cNvSpPr txBox="1"/>
          <p:nvPr/>
        </p:nvSpPr>
        <p:spPr>
          <a:xfrm>
            <a:off x="6825996" y="3566922"/>
            <a:ext cx="4677156" cy="435102"/>
          </a:xfrm>
          <a:prstGeom prst="rect">
            <a:avLst/>
          </a:prstGeom>
          <a:noFill/>
          <a:ln/>
        </p:spPr>
        <p:txBody>
          <a:bodyPr wrap="square" lIns="0" tIns="0" rIns="0" bIns="0" rtlCol="0" anchor="ctr"/>
          <a:lstStyle/>
          <a:p>
            <a:pPr algn="l" indent="0" marL="0">
              <a:buNone/>
            </a:pPr>
            <a:r>
              <a:rPr lang="en-US" sz="1600" b="1" i="1" dirty="0">
                <a:solidFill>
                  <a:schemeClr val="accent3"/>
                </a:solidFill>
              </a:rPr>
              <a:t>Doe de deur dicht. (BE : toe)</a:t>
            </a:r>
            <a:endParaRPr lang="en-US" sz="1600" dirty="0"/>
          </a:p>
        </p:txBody>
      </p:sp>
      <p:sp>
        <p:nvSpPr>
          <p:cNvPr id="39" name="Shape 35"/>
          <p:cNvSpPr/>
          <p:nvPr/>
        </p:nvSpPr>
        <p:spPr>
          <a:xfrm>
            <a:off x="6231636" y="4473702"/>
            <a:ext cx="365760" cy="365760"/>
          </a:xfrm>
          <a:prstGeom prst="ellipse">
            <a:avLst/>
          </a:prstGeom>
          <a:solidFill>
            <a:schemeClr val="accent5"/>
          </a:solidFill>
          <a:ln w="12700">
            <a:solidFill>
              <a:srgbClr val="FFFFFF">
                <a:alpha val="0"/>
              </a:srgbClr>
            </a:solidFill>
            <a:prstDash val="solid"/>
          </a:ln>
        </p:spPr>
      </p:sp>
      <p:sp>
        <p:nvSpPr>
          <p:cNvPr id="40" name="Text 36"/>
          <p:cNvSpPr txBox="1"/>
          <p:nvPr/>
        </p:nvSpPr>
        <p:spPr>
          <a:xfrm>
            <a:off x="6231636" y="447370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41" name="Text 37"/>
          <p:cNvSpPr txBox="1"/>
          <p:nvPr/>
        </p:nvSpPr>
        <p:spPr>
          <a:xfrm>
            <a:off x="6688836" y="4157472"/>
            <a:ext cx="4905756" cy="499110"/>
          </a:xfrm>
          <a:prstGeom prst="rect">
            <a:avLst/>
          </a:prstGeom>
          <a:noFill/>
          <a:ln/>
        </p:spPr>
        <p:txBody>
          <a:bodyPr wrap="square" lIns="0" tIns="0" rIns="0" bIns="0" rtlCol="0" anchor="ctr"/>
          <a:lstStyle/>
          <a:p>
            <a:pPr algn="l" indent="0" marL="0">
              <a:buNone/>
            </a:pPr>
            <a:r>
              <a:rPr lang="en-US" sz="1700" i="1" dirty="0">
                <a:solidFill>
                  <a:schemeClr val="tx1"/>
                </a:solidFill>
              </a:rPr>
              <a:t>Ik ben drie kilo aangekomen.</a:t>
            </a:r>
            <a:endParaRPr lang="en-US" sz="1700" dirty="0"/>
          </a:p>
        </p:txBody>
      </p:sp>
      <p:sp>
        <p:nvSpPr>
          <p:cNvPr id="42" name="Shape 38"/>
          <p:cNvSpPr/>
          <p:nvPr/>
        </p:nvSpPr>
        <p:spPr>
          <a:xfrm>
            <a:off x="6688836" y="4656582"/>
            <a:ext cx="4905756" cy="435102"/>
          </a:xfrm>
          <a:prstGeom prst="roundRect">
            <a:avLst>
              <a:gd name="adj" fmla="val 16813"/>
            </a:avLst>
          </a:prstGeom>
          <a:solidFill>
            <a:srgbClr val="EDF6F0"/>
          </a:solidFill>
          <a:ln w="12700">
            <a:solidFill>
              <a:srgbClr val="2E7D4F"/>
            </a:solidFill>
            <a:prstDash val="solid"/>
          </a:ln>
        </p:spPr>
      </p:sp>
      <p:sp>
        <p:nvSpPr>
          <p:cNvPr id="43" name="Text 39"/>
          <p:cNvSpPr txBox="1"/>
          <p:nvPr/>
        </p:nvSpPr>
        <p:spPr>
          <a:xfrm>
            <a:off x="6825996" y="4656582"/>
            <a:ext cx="4677156" cy="435102"/>
          </a:xfrm>
          <a:prstGeom prst="rect">
            <a:avLst/>
          </a:prstGeom>
          <a:noFill/>
          <a:ln/>
        </p:spPr>
        <p:txBody>
          <a:bodyPr wrap="square" lIns="0" tIns="0" rIns="0" bIns="0" rtlCol="0" anchor="ctr"/>
          <a:lstStyle/>
          <a:p>
            <a:pPr algn="l" indent="0" marL="0">
              <a:buNone/>
            </a:pPr>
            <a:r>
              <a:rPr lang="en-US" sz="1600" b="1" i="1" dirty="0">
                <a:solidFill>
                  <a:schemeClr val="accent3"/>
                </a:solidFill>
              </a:rPr>
              <a:t>Ik ben drie kilo afgevallen.</a:t>
            </a:r>
            <a:endParaRPr lang="en-US" sz="1600" dirty="0"/>
          </a:p>
        </p:txBody>
      </p:sp>
      <p:sp>
        <p:nvSpPr>
          <p:cNvPr id="44" name="Shape 40"/>
          <p:cNvSpPr/>
          <p:nvPr/>
        </p:nvSpPr>
        <p:spPr>
          <a:xfrm>
            <a:off x="6231636" y="5563362"/>
            <a:ext cx="365760" cy="365760"/>
          </a:xfrm>
          <a:prstGeom prst="ellipse">
            <a:avLst/>
          </a:prstGeom>
          <a:solidFill>
            <a:schemeClr val="accent5"/>
          </a:solidFill>
          <a:ln w="12700">
            <a:solidFill>
              <a:srgbClr val="FFFFFF">
                <a:alpha val="0"/>
              </a:srgbClr>
            </a:solidFill>
            <a:prstDash val="solid"/>
          </a:ln>
        </p:spPr>
      </p:sp>
      <p:sp>
        <p:nvSpPr>
          <p:cNvPr id="45" name="Text 41"/>
          <p:cNvSpPr txBox="1"/>
          <p:nvPr/>
        </p:nvSpPr>
        <p:spPr>
          <a:xfrm>
            <a:off x="6231636" y="556336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46" name="Text 42"/>
          <p:cNvSpPr txBox="1"/>
          <p:nvPr/>
        </p:nvSpPr>
        <p:spPr>
          <a:xfrm>
            <a:off x="6688836" y="5247132"/>
            <a:ext cx="4905756" cy="499110"/>
          </a:xfrm>
          <a:prstGeom prst="rect">
            <a:avLst/>
          </a:prstGeom>
          <a:noFill/>
          <a:ln/>
        </p:spPr>
        <p:txBody>
          <a:bodyPr wrap="square" lIns="0" tIns="0" rIns="0" bIns="0" rtlCol="0" anchor="ctr"/>
          <a:lstStyle/>
          <a:p>
            <a:pPr algn="l" indent="0" marL="0">
              <a:buNone/>
            </a:pPr>
            <a:r>
              <a:rPr lang="en-US" sz="1700" i="1" dirty="0">
                <a:solidFill>
                  <a:schemeClr val="tx1"/>
                </a:solidFill>
              </a:rPr>
              <a:t>Adem diep in.</a:t>
            </a:r>
            <a:endParaRPr lang="en-US" sz="1700" dirty="0"/>
          </a:p>
        </p:txBody>
      </p:sp>
      <p:sp>
        <p:nvSpPr>
          <p:cNvPr id="47" name="Shape 43"/>
          <p:cNvSpPr/>
          <p:nvPr/>
        </p:nvSpPr>
        <p:spPr>
          <a:xfrm>
            <a:off x="6688836" y="5746242"/>
            <a:ext cx="4905756" cy="435102"/>
          </a:xfrm>
          <a:prstGeom prst="roundRect">
            <a:avLst>
              <a:gd name="adj" fmla="val 16813"/>
            </a:avLst>
          </a:prstGeom>
          <a:solidFill>
            <a:srgbClr val="EDF6F0"/>
          </a:solidFill>
          <a:ln w="12700">
            <a:solidFill>
              <a:srgbClr val="2E7D4F"/>
            </a:solidFill>
            <a:prstDash val="solid"/>
          </a:ln>
        </p:spPr>
      </p:sp>
      <p:sp>
        <p:nvSpPr>
          <p:cNvPr id="48" name="Text 44"/>
          <p:cNvSpPr txBox="1"/>
          <p:nvPr/>
        </p:nvSpPr>
        <p:spPr>
          <a:xfrm>
            <a:off x="6825996" y="5746242"/>
            <a:ext cx="4677156" cy="435102"/>
          </a:xfrm>
          <a:prstGeom prst="rect">
            <a:avLst/>
          </a:prstGeom>
          <a:noFill/>
          <a:ln/>
        </p:spPr>
        <p:txBody>
          <a:bodyPr wrap="square" lIns="0" tIns="0" rIns="0" bIns="0" rtlCol="0" anchor="ctr"/>
          <a:lstStyle/>
          <a:p>
            <a:pPr algn="l" indent="0" marL="0">
              <a:buNone/>
            </a:pPr>
            <a:r>
              <a:rPr lang="en-US" sz="1600" b="1" i="1" dirty="0">
                <a:solidFill>
                  <a:schemeClr val="accent3"/>
                </a:solidFill>
              </a:rPr>
              <a:t>Adem diep uit.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La roulette des particules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640080" y="1737360"/>
            <a:ext cx="4114800" cy="4114800"/>
          </a:xfrm>
          <a:prstGeom prst="pie">
            <a:avLst>
              <a:gd name="adj1" fmla="val 16200000"/>
              <a:gd name="adj2" fmla="val 18000000"/>
            </a:avLst>
          </a:prstGeom>
          <a:solidFill>
            <a:srgbClr val="2A6FB0"/>
          </a:solidFill>
          <a:ln w="25400">
            <a:solidFill>
              <a:srgbClr val="FFFFFF"/>
            </a:solidFill>
            <a:prstDash val="solid"/>
          </a:ln>
        </p:spPr>
      </p:sp>
      <p:sp>
        <p:nvSpPr>
          <p:cNvPr id="7" name="Text 4"/>
          <p:cNvSpPr txBox="1"/>
          <p:nvPr/>
        </p:nvSpPr>
        <p:spPr>
          <a:xfrm>
            <a:off x="2602376" y="2242231"/>
            <a:ext cx="914400" cy="402336"/>
          </a:xfrm>
          <a:prstGeom prst="rect">
            <a:avLst/>
          </a:prstGeom>
          <a:noFill/>
          <a:ln/>
        </p:spPr>
        <p:txBody>
          <a:bodyPr wrap="square" lIns="0" tIns="0" rIns="0" bIns="0" rtlCol="0" anchor="ctr"/>
          <a:lstStyle/>
          <a:p>
            <a:pPr algn="ctr" indent="0" marL="0">
              <a:buNone/>
            </a:pPr>
            <a:r>
              <a:rPr lang="en-US" sz="1500" b="1" dirty="0">
                <a:solidFill>
                  <a:schemeClr val="bg1"/>
                </a:solidFill>
              </a:rPr>
              <a:t>aan</a:t>
            </a:r>
            <a:endParaRPr lang="en-US" sz="1500" dirty="0"/>
          </a:p>
        </p:txBody>
      </p:sp>
      <p:sp>
        <p:nvSpPr>
          <p:cNvPr id="8" name="Shape 5"/>
          <p:cNvSpPr/>
          <p:nvPr/>
        </p:nvSpPr>
        <p:spPr>
          <a:xfrm>
            <a:off x="640080" y="1737360"/>
            <a:ext cx="4114800" cy="4114800"/>
          </a:xfrm>
          <a:prstGeom prst="pie">
            <a:avLst>
              <a:gd name="adj1" fmla="val 18000000"/>
              <a:gd name="adj2" fmla="val 19800000"/>
            </a:avLst>
          </a:prstGeom>
          <a:solidFill>
            <a:srgbClr val="B83227"/>
          </a:solidFill>
          <a:ln w="25400">
            <a:solidFill>
              <a:srgbClr val="FFFFFF"/>
            </a:solidFill>
            <a:prstDash val="solid"/>
          </a:ln>
        </p:spPr>
      </p:sp>
      <p:sp>
        <p:nvSpPr>
          <p:cNvPr id="9" name="Text 6"/>
          <p:cNvSpPr txBox="1"/>
          <p:nvPr/>
        </p:nvSpPr>
        <p:spPr>
          <a:xfrm>
            <a:off x="3229545" y="2604327"/>
            <a:ext cx="914400" cy="402336"/>
          </a:xfrm>
          <a:prstGeom prst="rect">
            <a:avLst/>
          </a:prstGeom>
          <a:noFill/>
          <a:ln/>
        </p:spPr>
        <p:txBody>
          <a:bodyPr wrap="square" lIns="0" tIns="0" rIns="0" bIns="0" rtlCol="0" anchor="ctr"/>
          <a:lstStyle/>
          <a:p>
            <a:pPr algn="ctr" indent="0" marL="0">
              <a:buNone/>
            </a:pPr>
            <a:r>
              <a:rPr lang="en-US" sz="1500" b="1" dirty="0">
                <a:solidFill>
                  <a:schemeClr val="bg1"/>
                </a:solidFill>
              </a:rPr>
              <a:t>af</a:t>
            </a:r>
            <a:endParaRPr lang="en-US" sz="1500" dirty="0"/>
          </a:p>
        </p:txBody>
      </p:sp>
      <p:sp>
        <p:nvSpPr>
          <p:cNvPr id="10" name="Shape 7"/>
          <p:cNvSpPr/>
          <p:nvPr/>
        </p:nvSpPr>
        <p:spPr>
          <a:xfrm>
            <a:off x="640080" y="1737360"/>
            <a:ext cx="4114800" cy="4114800"/>
          </a:xfrm>
          <a:prstGeom prst="pie">
            <a:avLst>
              <a:gd name="adj1" fmla="val 19800000"/>
              <a:gd name="adj2" fmla="val 0"/>
            </a:avLst>
          </a:prstGeom>
          <a:solidFill>
            <a:srgbClr val="2E7D4F"/>
          </a:solidFill>
          <a:ln w="25400">
            <a:solidFill>
              <a:srgbClr val="FFFFFF"/>
            </a:solidFill>
            <a:prstDash val="solid"/>
          </a:ln>
        </p:spPr>
      </p:sp>
      <p:sp>
        <p:nvSpPr>
          <p:cNvPr id="11" name="Text 8"/>
          <p:cNvSpPr txBox="1"/>
          <p:nvPr/>
        </p:nvSpPr>
        <p:spPr>
          <a:xfrm>
            <a:off x="3591641" y="3231496"/>
            <a:ext cx="914400" cy="402336"/>
          </a:xfrm>
          <a:prstGeom prst="rect">
            <a:avLst/>
          </a:prstGeom>
          <a:noFill/>
          <a:ln/>
        </p:spPr>
        <p:txBody>
          <a:bodyPr wrap="square" lIns="0" tIns="0" rIns="0" bIns="0" rtlCol="0" anchor="ctr"/>
          <a:lstStyle/>
          <a:p>
            <a:pPr algn="ctr" indent="0" marL="0">
              <a:buNone/>
            </a:pPr>
            <a:r>
              <a:rPr lang="en-US" sz="1500" b="1" dirty="0">
                <a:solidFill>
                  <a:schemeClr val="bg1"/>
                </a:solidFill>
              </a:rPr>
              <a:t>op</a:t>
            </a:r>
            <a:endParaRPr lang="en-US" sz="1500" dirty="0"/>
          </a:p>
        </p:txBody>
      </p:sp>
      <p:sp>
        <p:nvSpPr>
          <p:cNvPr id="12" name="Shape 9"/>
          <p:cNvSpPr/>
          <p:nvPr/>
        </p:nvSpPr>
        <p:spPr>
          <a:xfrm>
            <a:off x="640080" y="1737360"/>
            <a:ext cx="4114800" cy="4114800"/>
          </a:xfrm>
          <a:prstGeom prst="pie">
            <a:avLst>
              <a:gd name="adj1" fmla="val 0"/>
              <a:gd name="adj2" fmla="val 1800000"/>
            </a:avLst>
          </a:prstGeom>
          <a:solidFill>
            <a:srgbClr val="D9700F"/>
          </a:solidFill>
          <a:ln w="25400">
            <a:solidFill>
              <a:srgbClr val="FFFFFF"/>
            </a:solidFill>
            <a:prstDash val="solid"/>
          </a:ln>
        </p:spPr>
      </p:sp>
      <p:sp>
        <p:nvSpPr>
          <p:cNvPr id="13" name="Text 10"/>
          <p:cNvSpPr txBox="1"/>
          <p:nvPr/>
        </p:nvSpPr>
        <p:spPr>
          <a:xfrm>
            <a:off x="3591641" y="3955688"/>
            <a:ext cx="914400" cy="402336"/>
          </a:xfrm>
          <a:prstGeom prst="rect">
            <a:avLst/>
          </a:prstGeom>
          <a:noFill/>
          <a:ln/>
        </p:spPr>
        <p:txBody>
          <a:bodyPr wrap="square" lIns="0" tIns="0" rIns="0" bIns="0" rtlCol="0" anchor="ctr"/>
          <a:lstStyle/>
          <a:p>
            <a:pPr algn="ctr" indent="0" marL="0">
              <a:buNone/>
            </a:pPr>
            <a:r>
              <a:rPr lang="en-US" sz="1500" b="1" dirty="0">
                <a:solidFill>
                  <a:schemeClr val="bg1"/>
                </a:solidFill>
              </a:rPr>
              <a:t>uit</a:t>
            </a:r>
            <a:endParaRPr lang="en-US" sz="1500" dirty="0"/>
          </a:p>
        </p:txBody>
      </p:sp>
      <p:sp>
        <p:nvSpPr>
          <p:cNvPr id="14" name="Shape 11"/>
          <p:cNvSpPr/>
          <p:nvPr/>
        </p:nvSpPr>
        <p:spPr>
          <a:xfrm>
            <a:off x="640080" y="1737360"/>
            <a:ext cx="4114800" cy="4114800"/>
          </a:xfrm>
          <a:prstGeom prst="pie">
            <a:avLst>
              <a:gd name="adj1" fmla="val 1800000"/>
              <a:gd name="adj2" fmla="val 3600000"/>
            </a:avLst>
          </a:prstGeom>
          <a:solidFill>
            <a:srgbClr val="6E4A9E"/>
          </a:solidFill>
          <a:ln w="25400">
            <a:solidFill>
              <a:srgbClr val="FFFFFF"/>
            </a:solidFill>
            <a:prstDash val="solid"/>
          </a:ln>
        </p:spPr>
      </p:sp>
      <p:sp>
        <p:nvSpPr>
          <p:cNvPr id="15" name="Text 12"/>
          <p:cNvSpPr txBox="1"/>
          <p:nvPr/>
        </p:nvSpPr>
        <p:spPr>
          <a:xfrm>
            <a:off x="3229545" y="4582857"/>
            <a:ext cx="914400" cy="402336"/>
          </a:xfrm>
          <a:prstGeom prst="rect">
            <a:avLst/>
          </a:prstGeom>
          <a:noFill/>
          <a:ln/>
        </p:spPr>
        <p:txBody>
          <a:bodyPr wrap="square" lIns="0" tIns="0" rIns="0" bIns="0" rtlCol="0" anchor="ctr"/>
          <a:lstStyle/>
          <a:p>
            <a:pPr algn="ctr" indent="0" marL="0">
              <a:buNone/>
            </a:pPr>
            <a:r>
              <a:rPr lang="en-US" sz="1500" b="1" dirty="0">
                <a:solidFill>
                  <a:schemeClr val="bg1"/>
                </a:solidFill>
              </a:rPr>
              <a:t>in</a:t>
            </a:r>
            <a:endParaRPr lang="en-US" sz="1500" dirty="0"/>
          </a:p>
        </p:txBody>
      </p:sp>
      <p:sp>
        <p:nvSpPr>
          <p:cNvPr id="16" name="Shape 13"/>
          <p:cNvSpPr/>
          <p:nvPr/>
        </p:nvSpPr>
        <p:spPr>
          <a:xfrm>
            <a:off x="640080" y="1737360"/>
            <a:ext cx="4114800" cy="4114800"/>
          </a:xfrm>
          <a:prstGeom prst="pie">
            <a:avLst>
              <a:gd name="adj1" fmla="val 3600000"/>
              <a:gd name="adj2" fmla="val 5400000"/>
            </a:avLst>
          </a:prstGeom>
          <a:solidFill>
            <a:srgbClr val="B4236A"/>
          </a:solidFill>
          <a:ln w="25400">
            <a:solidFill>
              <a:srgbClr val="FFFFFF"/>
            </a:solidFill>
            <a:prstDash val="solid"/>
          </a:ln>
        </p:spPr>
      </p:sp>
      <p:sp>
        <p:nvSpPr>
          <p:cNvPr id="17" name="Text 14"/>
          <p:cNvSpPr txBox="1"/>
          <p:nvPr/>
        </p:nvSpPr>
        <p:spPr>
          <a:xfrm>
            <a:off x="2602376" y="4944953"/>
            <a:ext cx="914400" cy="402336"/>
          </a:xfrm>
          <a:prstGeom prst="rect">
            <a:avLst/>
          </a:prstGeom>
          <a:noFill/>
          <a:ln/>
        </p:spPr>
        <p:txBody>
          <a:bodyPr wrap="square" lIns="0" tIns="0" rIns="0" bIns="0" rtlCol="0" anchor="ctr"/>
          <a:lstStyle/>
          <a:p>
            <a:pPr algn="ctr" indent="0" marL="0">
              <a:buNone/>
            </a:pPr>
            <a:r>
              <a:rPr lang="en-US" sz="1500" b="1" dirty="0">
                <a:solidFill>
                  <a:schemeClr val="bg1"/>
                </a:solidFill>
              </a:rPr>
              <a:t>bij</a:t>
            </a:r>
            <a:endParaRPr lang="en-US" sz="1500" dirty="0"/>
          </a:p>
        </p:txBody>
      </p:sp>
      <p:sp>
        <p:nvSpPr>
          <p:cNvPr id="18" name="Shape 15"/>
          <p:cNvSpPr/>
          <p:nvPr/>
        </p:nvSpPr>
        <p:spPr>
          <a:xfrm>
            <a:off x="640080" y="1737360"/>
            <a:ext cx="4114800" cy="4114800"/>
          </a:xfrm>
          <a:prstGeom prst="pie">
            <a:avLst>
              <a:gd name="adj1" fmla="val 5400000"/>
              <a:gd name="adj2" fmla="val 7200000"/>
            </a:avLst>
          </a:prstGeom>
          <a:solidFill>
            <a:srgbClr val="0E7C86"/>
          </a:solidFill>
          <a:ln w="25400">
            <a:solidFill>
              <a:srgbClr val="FFFFFF"/>
            </a:solidFill>
            <a:prstDash val="solid"/>
          </a:ln>
        </p:spPr>
      </p:sp>
      <p:sp>
        <p:nvSpPr>
          <p:cNvPr id="19" name="Text 16"/>
          <p:cNvSpPr txBox="1"/>
          <p:nvPr/>
        </p:nvSpPr>
        <p:spPr>
          <a:xfrm>
            <a:off x="1878184" y="4944953"/>
            <a:ext cx="914400" cy="402336"/>
          </a:xfrm>
          <a:prstGeom prst="rect">
            <a:avLst/>
          </a:prstGeom>
          <a:noFill/>
          <a:ln/>
        </p:spPr>
        <p:txBody>
          <a:bodyPr wrap="square" lIns="0" tIns="0" rIns="0" bIns="0" rtlCol="0" anchor="ctr"/>
          <a:lstStyle/>
          <a:p>
            <a:pPr algn="ctr" indent="0" marL="0">
              <a:buNone/>
            </a:pPr>
            <a:r>
              <a:rPr lang="en-US" sz="1500" b="1" dirty="0">
                <a:solidFill>
                  <a:schemeClr val="bg1"/>
                </a:solidFill>
              </a:rPr>
              <a:t>toe</a:t>
            </a:r>
            <a:endParaRPr lang="en-US" sz="1500" dirty="0"/>
          </a:p>
        </p:txBody>
      </p:sp>
      <p:sp>
        <p:nvSpPr>
          <p:cNvPr id="20" name="Shape 17"/>
          <p:cNvSpPr/>
          <p:nvPr/>
        </p:nvSpPr>
        <p:spPr>
          <a:xfrm>
            <a:off x="640080" y="1737360"/>
            <a:ext cx="4114800" cy="4114800"/>
          </a:xfrm>
          <a:prstGeom prst="pie">
            <a:avLst>
              <a:gd name="adj1" fmla="val 7200000"/>
              <a:gd name="adj2" fmla="val 9000000"/>
            </a:avLst>
          </a:prstGeom>
          <a:solidFill>
            <a:schemeClr val="tx2"/>
          </a:solidFill>
          <a:ln w="25400">
            <a:solidFill>
              <a:srgbClr val="FFFFFF"/>
            </a:solidFill>
            <a:prstDash val="solid"/>
          </a:ln>
        </p:spPr>
      </p:sp>
      <p:sp>
        <p:nvSpPr>
          <p:cNvPr id="21" name="Text 18"/>
          <p:cNvSpPr txBox="1"/>
          <p:nvPr/>
        </p:nvSpPr>
        <p:spPr>
          <a:xfrm>
            <a:off x="1251015" y="4582857"/>
            <a:ext cx="914400" cy="402336"/>
          </a:xfrm>
          <a:prstGeom prst="rect">
            <a:avLst/>
          </a:prstGeom>
          <a:noFill/>
          <a:ln/>
        </p:spPr>
        <p:txBody>
          <a:bodyPr wrap="square" lIns="0" tIns="0" rIns="0" bIns="0" rtlCol="0" anchor="ctr"/>
          <a:lstStyle/>
          <a:p>
            <a:pPr algn="ctr" indent="0" marL="0">
              <a:buNone/>
            </a:pPr>
            <a:r>
              <a:rPr lang="en-US" sz="1500" b="1" dirty="0">
                <a:solidFill>
                  <a:schemeClr val="bg1"/>
                </a:solidFill>
              </a:rPr>
              <a:t>na</a:t>
            </a:r>
            <a:endParaRPr lang="en-US" sz="1500" dirty="0"/>
          </a:p>
        </p:txBody>
      </p:sp>
      <p:sp>
        <p:nvSpPr>
          <p:cNvPr id="22" name="Shape 19"/>
          <p:cNvSpPr/>
          <p:nvPr/>
        </p:nvSpPr>
        <p:spPr>
          <a:xfrm>
            <a:off x="640080" y="1737360"/>
            <a:ext cx="4114800" cy="4114800"/>
          </a:xfrm>
          <a:prstGeom prst="pie">
            <a:avLst>
              <a:gd name="adj1" fmla="val 9000000"/>
              <a:gd name="adj2" fmla="val 10800000"/>
            </a:avLst>
          </a:prstGeom>
          <a:solidFill>
            <a:srgbClr val="7A5230"/>
          </a:solidFill>
          <a:ln w="25400">
            <a:solidFill>
              <a:srgbClr val="FFFFFF"/>
            </a:solidFill>
            <a:prstDash val="solid"/>
          </a:ln>
        </p:spPr>
      </p:sp>
      <p:sp>
        <p:nvSpPr>
          <p:cNvPr id="23" name="Text 20"/>
          <p:cNvSpPr txBox="1"/>
          <p:nvPr/>
        </p:nvSpPr>
        <p:spPr>
          <a:xfrm>
            <a:off x="888919" y="3955688"/>
            <a:ext cx="914400" cy="402336"/>
          </a:xfrm>
          <a:prstGeom prst="rect">
            <a:avLst/>
          </a:prstGeom>
          <a:noFill/>
          <a:ln/>
        </p:spPr>
        <p:txBody>
          <a:bodyPr wrap="square" lIns="0" tIns="0" rIns="0" bIns="0" rtlCol="0" anchor="ctr"/>
          <a:lstStyle/>
          <a:p>
            <a:pPr algn="ctr" indent="0" marL="0">
              <a:buNone/>
            </a:pPr>
            <a:r>
              <a:rPr lang="en-US" sz="1500" b="1" dirty="0">
                <a:solidFill>
                  <a:schemeClr val="bg1"/>
                </a:solidFill>
              </a:rPr>
              <a:t>door</a:t>
            </a:r>
            <a:endParaRPr lang="en-US" sz="1500" dirty="0"/>
          </a:p>
        </p:txBody>
      </p:sp>
      <p:sp>
        <p:nvSpPr>
          <p:cNvPr id="24" name="Shape 21"/>
          <p:cNvSpPr/>
          <p:nvPr/>
        </p:nvSpPr>
        <p:spPr>
          <a:xfrm>
            <a:off x="640080" y="1737360"/>
            <a:ext cx="4114800" cy="4114800"/>
          </a:xfrm>
          <a:prstGeom prst="pie">
            <a:avLst>
              <a:gd name="adj1" fmla="val 10800000"/>
              <a:gd name="adj2" fmla="val 12600000"/>
            </a:avLst>
          </a:prstGeom>
          <a:solidFill>
            <a:srgbClr val="4352C9"/>
          </a:solidFill>
          <a:ln w="25400">
            <a:solidFill>
              <a:srgbClr val="FFFFFF"/>
            </a:solidFill>
            <a:prstDash val="solid"/>
          </a:ln>
        </p:spPr>
      </p:sp>
      <p:sp>
        <p:nvSpPr>
          <p:cNvPr id="25" name="Text 22"/>
          <p:cNvSpPr txBox="1"/>
          <p:nvPr/>
        </p:nvSpPr>
        <p:spPr>
          <a:xfrm>
            <a:off x="888919" y="3231496"/>
            <a:ext cx="914400" cy="402336"/>
          </a:xfrm>
          <a:prstGeom prst="rect">
            <a:avLst/>
          </a:prstGeom>
          <a:noFill/>
          <a:ln/>
        </p:spPr>
        <p:txBody>
          <a:bodyPr wrap="square" lIns="0" tIns="0" rIns="0" bIns="0" rtlCol="0" anchor="ctr"/>
          <a:lstStyle/>
          <a:p>
            <a:pPr algn="ctr" indent="0" marL="0">
              <a:buNone/>
            </a:pPr>
            <a:r>
              <a:rPr lang="en-US" sz="1500" b="1" dirty="0">
                <a:solidFill>
                  <a:schemeClr val="bg1"/>
                </a:solidFill>
              </a:rPr>
              <a:t>over</a:t>
            </a:r>
            <a:endParaRPr lang="en-US" sz="1500" dirty="0"/>
          </a:p>
        </p:txBody>
      </p:sp>
      <p:sp>
        <p:nvSpPr>
          <p:cNvPr id="26" name="Shape 23"/>
          <p:cNvSpPr/>
          <p:nvPr/>
        </p:nvSpPr>
        <p:spPr>
          <a:xfrm>
            <a:off x="640080" y="1737360"/>
            <a:ext cx="4114800" cy="4114800"/>
          </a:xfrm>
          <a:prstGeom prst="pie">
            <a:avLst>
              <a:gd name="adj1" fmla="val 12600000"/>
              <a:gd name="adj2" fmla="val 14400000"/>
            </a:avLst>
          </a:prstGeom>
          <a:solidFill>
            <a:srgbClr val="7C9A1E"/>
          </a:solidFill>
          <a:ln w="25400">
            <a:solidFill>
              <a:srgbClr val="FFFFFF"/>
            </a:solidFill>
            <a:prstDash val="solid"/>
          </a:ln>
        </p:spPr>
      </p:sp>
      <p:sp>
        <p:nvSpPr>
          <p:cNvPr id="27" name="Text 24"/>
          <p:cNvSpPr txBox="1"/>
          <p:nvPr/>
        </p:nvSpPr>
        <p:spPr>
          <a:xfrm>
            <a:off x="1251015" y="2604327"/>
            <a:ext cx="914400" cy="402336"/>
          </a:xfrm>
          <a:prstGeom prst="rect">
            <a:avLst/>
          </a:prstGeom>
          <a:noFill/>
          <a:ln/>
        </p:spPr>
        <p:txBody>
          <a:bodyPr wrap="square" lIns="0" tIns="0" rIns="0" bIns="0" rtlCol="0" anchor="ctr"/>
          <a:lstStyle/>
          <a:p>
            <a:pPr algn="ctr" indent="0" marL="0">
              <a:buNone/>
            </a:pPr>
            <a:r>
              <a:rPr lang="en-US" sz="1500" b="1" dirty="0">
                <a:solidFill>
                  <a:schemeClr val="bg1"/>
                </a:solidFill>
              </a:rPr>
              <a:t>mee</a:t>
            </a:r>
            <a:endParaRPr lang="en-US" sz="1500" dirty="0"/>
          </a:p>
        </p:txBody>
      </p:sp>
      <p:sp>
        <p:nvSpPr>
          <p:cNvPr id="28" name="Shape 25"/>
          <p:cNvSpPr/>
          <p:nvPr/>
        </p:nvSpPr>
        <p:spPr>
          <a:xfrm>
            <a:off x="640080" y="1737360"/>
            <a:ext cx="4114800" cy="4114800"/>
          </a:xfrm>
          <a:prstGeom prst="pie">
            <a:avLst>
              <a:gd name="adj1" fmla="val 14400000"/>
              <a:gd name="adj2" fmla="val 16200000"/>
            </a:avLst>
          </a:prstGeom>
          <a:solidFill>
            <a:srgbClr val="B8860B"/>
          </a:solidFill>
          <a:ln w="25400">
            <a:solidFill>
              <a:srgbClr val="FFFFFF"/>
            </a:solidFill>
            <a:prstDash val="solid"/>
          </a:ln>
        </p:spPr>
      </p:sp>
      <p:sp>
        <p:nvSpPr>
          <p:cNvPr id="29" name="Text 26"/>
          <p:cNvSpPr txBox="1"/>
          <p:nvPr/>
        </p:nvSpPr>
        <p:spPr>
          <a:xfrm>
            <a:off x="1878184" y="2242231"/>
            <a:ext cx="914400" cy="402336"/>
          </a:xfrm>
          <a:prstGeom prst="rect">
            <a:avLst/>
          </a:prstGeom>
          <a:noFill/>
          <a:ln/>
        </p:spPr>
        <p:txBody>
          <a:bodyPr wrap="square" lIns="0" tIns="0" rIns="0" bIns="0" rtlCol="0" anchor="ctr"/>
          <a:lstStyle/>
          <a:p>
            <a:pPr algn="ctr" indent="0" marL="0">
              <a:buNone/>
            </a:pPr>
            <a:r>
              <a:rPr lang="en-US" sz="1500" b="1" dirty="0">
                <a:solidFill>
                  <a:schemeClr val="bg1"/>
                </a:solidFill>
              </a:rPr>
              <a:t>voor</a:t>
            </a:r>
            <a:endParaRPr lang="en-US" sz="1500" dirty="0"/>
          </a:p>
        </p:txBody>
      </p:sp>
      <p:sp>
        <p:nvSpPr>
          <p:cNvPr id="30" name="Shape 27"/>
          <p:cNvSpPr/>
          <p:nvPr/>
        </p:nvSpPr>
        <p:spPr>
          <a:xfrm>
            <a:off x="2331720" y="3429000"/>
            <a:ext cx="731520" cy="731520"/>
          </a:xfrm>
          <a:prstGeom prst="ellipse">
            <a:avLst/>
          </a:prstGeom>
          <a:solidFill>
            <a:srgbClr val="FFFFFF"/>
          </a:solidFill>
          <a:ln w="12700">
            <a:solidFill>
              <a:srgbClr val="FFFFFF">
                <a:alpha val="0"/>
              </a:srgbClr>
            </a:solidFill>
            <a:prstDash val="solid"/>
          </a:ln>
        </p:spPr>
      </p:sp>
      <p:sp>
        <p:nvSpPr>
          <p:cNvPr id="31" name="Shape 28"/>
          <p:cNvSpPr/>
          <p:nvPr/>
        </p:nvSpPr>
        <p:spPr>
          <a:xfrm>
            <a:off x="2532888" y="1417320"/>
            <a:ext cx="329184" cy="365760"/>
          </a:xfrm>
          <a:custGeom>
            <a:avLst/>
            <a:gdLst/>
            <a:ahLst/>
            <a:cxnLst/>
            <a:rect l="l" t="t" r="r" b="b"/>
            <a:pathLst>
              <a:path w="329184" h="365760">
                <a:moveTo>
                  <a:pt x="0" y="0"/>
                </a:moveTo>
                <a:lnTo>
                  <a:pt x="329184" y="0"/>
                </a:lnTo>
                <a:lnTo>
                  <a:pt x="164592" y="365760"/>
                </a:lnTo>
                <a:close/>
              </a:path>
            </a:pathLst>
          </a:custGeom>
          <a:solidFill>
            <a:schemeClr val="tx2"/>
          </a:solidFill>
          <a:ln w="12700">
            <a:solidFill>
              <a:srgbClr val="FFFFFF">
                <a:alpha val="0"/>
              </a:srgbClr>
            </a:solidFill>
            <a:prstDash val="solid"/>
          </a:ln>
        </p:spPr>
      </p:sp>
      <p:sp>
        <p:nvSpPr>
          <p:cNvPr id="32" name="Shape 29"/>
          <p:cNvSpPr/>
          <p:nvPr/>
        </p:nvSpPr>
        <p:spPr>
          <a:xfrm rot="-180000">
            <a:off x="5257800" y="1600200"/>
            <a:ext cx="1463040" cy="640080"/>
          </a:xfrm>
          <a:prstGeom prst="roundRect">
            <a:avLst>
              <a:gd name="adj" fmla="val 14286"/>
            </a:avLst>
          </a:prstGeom>
          <a:solidFill>
            <a:srgbClr val="FBEDEB"/>
          </a:solidFill>
          <a:ln w="22225">
            <a:solidFill>
              <a:srgbClr val="B83227"/>
            </a:solidFill>
            <a:prstDash val="solid"/>
          </a:ln>
        </p:spPr>
      </p:sp>
      <p:sp>
        <p:nvSpPr>
          <p:cNvPr id="33" name="Text 30"/>
          <p:cNvSpPr txBox="1"/>
          <p:nvPr/>
        </p:nvSpPr>
        <p:spPr>
          <a:xfrm rot="-180000">
            <a:off x="5257800" y="1600200"/>
            <a:ext cx="1463040" cy="640080"/>
          </a:xfrm>
          <a:prstGeom prst="rect">
            <a:avLst/>
          </a:prstGeom>
          <a:noFill/>
          <a:ln/>
        </p:spPr>
        <p:txBody>
          <a:bodyPr wrap="square" lIns="0" tIns="0" rIns="0" bIns="0" rtlCol="0" anchor="ctr"/>
          <a:lstStyle/>
          <a:p>
            <a:pPr algn="ctr" indent="0" marL="0">
              <a:buNone/>
            </a:pPr>
            <a:r>
              <a:rPr lang="en-US" sz="1800" b="1" i="1" dirty="0">
                <a:solidFill>
                  <a:schemeClr val="accent6"/>
                </a:solidFill>
              </a:rPr>
              <a:t>gaan</a:t>
            </a:r>
            <a:endParaRPr lang="en-US" sz="1800" dirty="0"/>
          </a:p>
        </p:txBody>
      </p:sp>
      <p:sp>
        <p:nvSpPr>
          <p:cNvPr id="34" name="Shape 31"/>
          <p:cNvSpPr/>
          <p:nvPr/>
        </p:nvSpPr>
        <p:spPr>
          <a:xfrm rot="120000">
            <a:off x="6858000" y="1600200"/>
            <a:ext cx="1463040" cy="640080"/>
          </a:xfrm>
          <a:prstGeom prst="roundRect">
            <a:avLst>
              <a:gd name="adj" fmla="val 14286"/>
            </a:avLst>
          </a:prstGeom>
          <a:solidFill>
            <a:srgbClr val="FBEDEB"/>
          </a:solidFill>
          <a:ln w="22225">
            <a:solidFill>
              <a:srgbClr val="B83227"/>
            </a:solidFill>
            <a:prstDash val="solid"/>
          </a:ln>
        </p:spPr>
      </p:sp>
      <p:sp>
        <p:nvSpPr>
          <p:cNvPr id="35" name="Text 32"/>
          <p:cNvSpPr txBox="1"/>
          <p:nvPr/>
        </p:nvSpPr>
        <p:spPr>
          <a:xfrm rot="120000">
            <a:off x="6858000" y="1600200"/>
            <a:ext cx="1463040" cy="640080"/>
          </a:xfrm>
          <a:prstGeom prst="rect">
            <a:avLst/>
          </a:prstGeom>
          <a:noFill/>
          <a:ln/>
        </p:spPr>
        <p:txBody>
          <a:bodyPr wrap="square" lIns="0" tIns="0" rIns="0" bIns="0" rtlCol="0" anchor="ctr"/>
          <a:lstStyle/>
          <a:p>
            <a:pPr algn="ctr" indent="0" marL="0">
              <a:buNone/>
            </a:pPr>
            <a:r>
              <a:rPr lang="en-US" sz="1800" b="1" i="1" dirty="0">
                <a:solidFill>
                  <a:schemeClr val="accent6"/>
                </a:solidFill>
              </a:rPr>
              <a:t>nemen</a:t>
            </a:r>
            <a:endParaRPr lang="en-US" sz="1800" dirty="0"/>
          </a:p>
        </p:txBody>
      </p:sp>
      <p:sp>
        <p:nvSpPr>
          <p:cNvPr id="36" name="Shape 33"/>
          <p:cNvSpPr/>
          <p:nvPr/>
        </p:nvSpPr>
        <p:spPr>
          <a:xfrm rot="-60000">
            <a:off x="8458200" y="1600200"/>
            <a:ext cx="1463040" cy="640080"/>
          </a:xfrm>
          <a:prstGeom prst="roundRect">
            <a:avLst>
              <a:gd name="adj" fmla="val 14286"/>
            </a:avLst>
          </a:prstGeom>
          <a:solidFill>
            <a:srgbClr val="FBEDEB"/>
          </a:solidFill>
          <a:ln w="22225">
            <a:solidFill>
              <a:srgbClr val="B83227"/>
            </a:solidFill>
            <a:prstDash val="solid"/>
          </a:ln>
        </p:spPr>
      </p:sp>
      <p:sp>
        <p:nvSpPr>
          <p:cNvPr id="37" name="Text 34"/>
          <p:cNvSpPr txBox="1"/>
          <p:nvPr/>
        </p:nvSpPr>
        <p:spPr>
          <a:xfrm rot="-60000">
            <a:off x="8458200" y="1600200"/>
            <a:ext cx="1463040" cy="640080"/>
          </a:xfrm>
          <a:prstGeom prst="rect">
            <a:avLst/>
          </a:prstGeom>
          <a:noFill/>
          <a:ln/>
        </p:spPr>
        <p:txBody>
          <a:bodyPr wrap="square" lIns="0" tIns="0" rIns="0" bIns="0" rtlCol="0" anchor="ctr"/>
          <a:lstStyle/>
          <a:p>
            <a:pPr algn="ctr" indent="0" marL="0">
              <a:buNone/>
            </a:pPr>
            <a:r>
              <a:rPr lang="en-US" sz="1800" b="1" i="1" dirty="0">
                <a:solidFill>
                  <a:schemeClr val="accent6"/>
                </a:solidFill>
              </a:rPr>
              <a:t>komen</a:t>
            </a:r>
            <a:endParaRPr lang="en-US" sz="1800" dirty="0"/>
          </a:p>
        </p:txBody>
      </p:sp>
      <p:sp>
        <p:nvSpPr>
          <p:cNvPr id="38" name="Shape 35"/>
          <p:cNvSpPr/>
          <p:nvPr/>
        </p:nvSpPr>
        <p:spPr>
          <a:xfrm rot="180000">
            <a:off x="10058400" y="1600200"/>
            <a:ext cx="1463040" cy="640080"/>
          </a:xfrm>
          <a:prstGeom prst="roundRect">
            <a:avLst>
              <a:gd name="adj" fmla="val 14286"/>
            </a:avLst>
          </a:prstGeom>
          <a:solidFill>
            <a:srgbClr val="FBEDEB"/>
          </a:solidFill>
          <a:ln w="22225">
            <a:solidFill>
              <a:srgbClr val="B83227"/>
            </a:solidFill>
            <a:prstDash val="solid"/>
          </a:ln>
        </p:spPr>
      </p:sp>
      <p:sp>
        <p:nvSpPr>
          <p:cNvPr id="39" name="Text 36"/>
          <p:cNvSpPr txBox="1"/>
          <p:nvPr/>
        </p:nvSpPr>
        <p:spPr>
          <a:xfrm rot="180000">
            <a:off x="10058400" y="1600200"/>
            <a:ext cx="1463040" cy="640080"/>
          </a:xfrm>
          <a:prstGeom prst="rect">
            <a:avLst/>
          </a:prstGeom>
          <a:noFill/>
          <a:ln/>
        </p:spPr>
        <p:txBody>
          <a:bodyPr wrap="square" lIns="0" tIns="0" rIns="0" bIns="0" rtlCol="0" anchor="ctr"/>
          <a:lstStyle/>
          <a:p>
            <a:pPr algn="ctr" indent="0" marL="0">
              <a:buNone/>
            </a:pPr>
            <a:r>
              <a:rPr lang="en-US" sz="1800" b="1" i="1" dirty="0">
                <a:solidFill>
                  <a:schemeClr val="accent6"/>
                </a:solidFill>
              </a:rPr>
              <a:t>zetten</a:t>
            </a:r>
            <a:endParaRPr lang="en-US" sz="1800" dirty="0"/>
          </a:p>
        </p:txBody>
      </p:sp>
      <p:sp>
        <p:nvSpPr>
          <p:cNvPr id="40" name="Shape 37"/>
          <p:cNvSpPr/>
          <p:nvPr/>
        </p:nvSpPr>
        <p:spPr>
          <a:xfrm rot="-180000">
            <a:off x="5257800" y="2377440"/>
            <a:ext cx="1463040" cy="640080"/>
          </a:xfrm>
          <a:prstGeom prst="roundRect">
            <a:avLst>
              <a:gd name="adj" fmla="val 14286"/>
            </a:avLst>
          </a:prstGeom>
          <a:solidFill>
            <a:srgbClr val="FBEDEB"/>
          </a:solidFill>
          <a:ln w="22225">
            <a:solidFill>
              <a:srgbClr val="B83227"/>
            </a:solidFill>
            <a:prstDash val="solid"/>
          </a:ln>
        </p:spPr>
      </p:sp>
      <p:sp>
        <p:nvSpPr>
          <p:cNvPr id="41" name="Text 38"/>
          <p:cNvSpPr txBox="1"/>
          <p:nvPr/>
        </p:nvSpPr>
        <p:spPr>
          <a:xfrm rot="-180000">
            <a:off x="5257800" y="2377440"/>
            <a:ext cx="1463040" cy="640080"/>
          </a:xfrm>
          <a:prstGeom prst="rect">
            <a:avLst/>
          </a:prstGeom>
          <a:noFill/>
          <a:ln/>
        </p:spPr>
        <p:txBody>
          <a:bodyPr wrap="square" lIns="0" tIns="0" rIns="0" bIns="0" rtlCol="0" anchor="ctr"/>
          <a:lstStyle/>
          <a:p>
            <a:pPr algn="ctr" indent="0" marL="0">
              <a:buNone/>
            </a:pPr>
            <a:r>
              <a:rPr lang="en-US" sz="1800" b="1" i="1" dirty="0">
                <a:solidFill>
                  <a:schemeClr val="accent6"/>
                </a:solidFill>
              </a:rPr>
              <a:t>leggen</a:t>
            </a:r>
            <a:endParaRPr lang="en-US" sz="1800" dirty="0"/>
          </a:p>
        </p:txBody>
      </p:sp>
      <p:sp>
        <p:nvSpPr>
          <p:cNvPr id="42" name="Shape 39"/>
          <p:cNvSpPr/>
          <p:nvPr/>
        </p:nvSpPr>
        <p:spPr>
          <a:xfrm rot="120000">
            <a:off x="6858000" y="2377440"/>
            <a:ext cx="1463040" cy="640080"/>
          </a:xfrm>
          <a:prstGeom prst="roundRect">
            <a:avLst>
              <a:gd name="adj" fmla="val 14286"/>
            </a:avLst>
          </a:prstGeom>
          <a:solidFill>
            <a:srgbClr val="FBEDEB"/>
          </a:solidFill>
          <a:ln w="22225">
            <a:solidFill>
              <a:srgbClr val="B83227"/>
            </a:solidFill>
            <a:prstDash val="solid"/>
          </a:ln>
        </p:spPr>
      </p:sp>
      <p:sp>
        <p:nvSpPr>
          <p:cNvPr id="43" name="Text 40"/>
          <p:cNvSpPr txBox="1"/>
          <p:nvPr/>
        </p:nvSpPr>
        <p:spPr>
          <a:xfrm rot="120000">
            <a:off x="6858000" y="2377440"/>
            <a:ext cx="1463040" cy="640080"/>
          </a:xfrm>
          <a:prstGeom prst="rect">
            <a:avLst/>
          </a:prstGeom>
          <a:noFill/>
          <a:ln/>
        </p:spPr>
        <p:txBody>
          <a:bodyPr wrap="square" lIns="0" tIns="0" rIns="0" bIns="0" rtlCol="0" anchor="ctr"/>
          <a:lstStyle/>
          <a:p>
            <a:pPr algn="ctr" indent="0" marL="0">
              <a:buNone/>
            </a:pPr>
            <a:r>
              <a:rPr lang="en-US" sz="1800" b="1" i="1" dirty="0">
                <a:solidFill>
                  <a:schemeClr val="accent6"/>
                </a:solidFill>
              </a:rPr>
              <a:t>vallen</a:t>
            </a:r>
            <a:endParaRPr lang="en-US" sz="1800" dirty="0"/>
          </a:p>
        </p:txBody>
      </p:sp>
      <p:sp>
        <p:nvSpPr>
          <p:cNvPr id="44" name="Shape 41"/>
          <p:cNvSpPr/>
          <p:nvPr/>
        </p:nvSpPr>
        <p:spPr>
          <a:xfrm rot="-60000">
            <a:off x="8458200" y="2377440"/>
            <a:ext cx="1463040" cy="640080"/>
          </a:xfrm>
          <a:prstGeom prst="roundRect">
            <a:avLst>
              <a:gd name="adj" fmla="val 14286"/>
            </a:avLst>
          </a:prstGeom>
          <a:solidFill>
            <a:srgbClr val="FBEDEB"/>
          </a:solidFill>
          <a:ln w="22225">
            <a:solidFill>
              <a:srgbClr val="B83227"/>
            </a:solidFill>
            <a:prstDash val="solid"/>
          </a:ln>
        </p:spPr>
      </p:sp>
      <p:sp>
        <p:nvSpPr>
          <p:cNvPr id="45" name="Text 42"/>
          <p:cNvSpPr txBox="1"/>
          <p:nvPr/>
        </p:nvSpPr>
        <p:spPr>
          <a:xfrm rot="-60000">
            <a:off x="8458200" y="2377440"/>
            <a:ext cx="1463040" cy="640080"/>
          </a:xfrm>
          <a:prstGeom prst="rect">
            <a:avLst/>
          </a:prstGeom>
          <a:noFill/>
          <a:ln/>
        </p:spPr>
        <p:txBody>
          <a:bodyPr wrap="square" lIns="0" tIns="0" rIns="0" bIns="0" rtlCol="0" anchor="ctr"/>
          <a:lstStyle/>
          <a:p>
            <a:pPr algn="ctr" indent="0" marL="0">
              <a:buNone/>
            </a:pPr>
            <a:r>
              <a:rPr lang="en-US" sz="1800" b="1" i="1" dirty="0">
                <a:solidFill>
                  <a:schemeClr val="accent6"/>
                </a:solidFill>
              </a:rPr>
              <a:t>houden</a:t>
            </a:r>
            <a:endParaRPr lang="en-US" sz="1800" dirty="0"/>
          </a:p>
        </p:txBody>
      </p:sp>
      <p:sp>
        <p:nvSpPr>
          <p:cNvPr id="46" name="Shape 43"/>
          <p:cNvSpPr/>
          <p:nvPr/>
        </p:nvSpPr>
        <p:spPr>
          <a:xfrm rot="180000">
            <a:off x="10058400" y="2377440"/>
            <a:ext cx="1463040" cy="640080"/>
          </a:xfrm>
          <a:prstGeom prst="roundRect">
            <a:avLst>
              <a:gd name="adj" fmla="val 14286"/>
            </a:avLst>
          </a:prstGeom>
          <a:solidFill>
            <a:srgbClr val="FBEDEB"/>
          </a:solidFill>
          <a:ln w="22225">
            <a:solidFill>
              <a:srgbClr val="B83227"/>
            </a:solidFill>
            <a:prstDash val="solid"/>
          </a:ln>
        </p:spPr>
      </p:sp>
      <p:sp>
        <p:nvSpPr>
          <p:cNvPr id="47" name="Text 44"/>
          <p:cNvSpPr txBox="1"/>
          <p:nvPr/>
        </p:nvSpPr>
        <p:spPr>
          <a:xfrm rot="180000">
            <a:off x="10058400" y="2377440"/>
            <a:ext cx="1463040" cy="640080"/>
          </a:xfrm>
          <a:prstGeom prst="rect">
            <a:avLst/>
          </a:prstGeom>
          <a:noFill/>
          <a:ln/>
        </p:spPr>
        <p:txBody>
          <a:bodyPr wrap="square" lIns="0" tIns="0" rIns="0" bIns="0" rtlCol="0" anchor="ctr"/>
          <a:lstStyle/>
          <a:p>
            <a:pPr algn="ctr" indent="0" marL="0">
              <a:buNone/>
            </a:pPr>
            <a:r>
              <a:rPr lang="en-US" sz="1800" b="1" i="1" dirty="0">
                <a:solidFill>
                  <a:schemeClr val="accent6"/>
                </a:solidFill>
              </a:rPr>
              <a:t>kijken</a:t>
            </a:r>
            <a:endParaRPr lang="en-US" sz="1800" dirty="0"/>
          </a:p>
        </p:txBody>
      </p:sp>
      <p:sp>
        <p:nvSpPr>
          <p:cNvPr id="48" name="Text 45"/>
          <p:cNvSpPr txBox="1"/>
          <p:nvPr/>
        </p:nvSpPr>
        <p:spPr>
          <a:xfrm>
            <a:off x="5257800" y="3291840"/>
            <a:ext cx="6382512" cy="2194560"/>
          </a:xfrm>
          <a:prstGeom prst="rect">
            <a:avLst/>
          </a:prstGeom>
          <a:noFill/>
          <a:ln/>
        </p:spPr>
        <p:txBody>
          <a:bodyPr wrap="square" lIns="0" tIns="0" rIns="0" bIns="0" rtlCol="0" anchor="t"/>
          <a:lstStyle/>
          <a:p>
            <a:pPr algn="l" indent="0" marL="0">
              <a:spcAft>
                <a:spcPts val="800"/>
              </a:spcAft>
              <a:buNone/>
            </a:pPr>
            <a:r>
              <a:rPr lang="en-US" sz="1600" b="1" dirty="0">
                <a:solidFill>
                  <a:schemeClr val="tx1"/>
                </a:solidFill>
              </a:rPr>
              <a:t>1.</a:t>
            </a:r>
            <a:r>
              <a:rPr lang="en-US" sz="1600" dirty="0">
                <a:solidFill>
                  <a:schemeClr val="tx1"/>
                </a:solidFill>
              </a:rPr>
              <a:t> Tournez la roue (une particule) et tirez une carte-verbe.</a:t>
            </a:r>
            <a:endParaRPr lang="en-US" sz="1600" dirty="0"/>
          </a:p>
          <a:p>
            <a:pPr algn="l" indent="0" marL="0">
              <a:spcAft>
                <a:spcPts val="800"/>
              </a:spcAft>
              <a:buNone/>
            </a:pPr>
            <a:r>
              <a:rPr lang="en-US" sz="1600" b="1" dirty="0">
                <a:solidFill>
                  <a:schemeClr val="tx1"/>
                </a:solidFill>
              </a:rPr>
              <a:t>2.</a:t>
            </a:r>
            <a:r>
              <a:rPr lang="en-US" sz="1600" dirty="0">
                <a:solidFill>
                  <a:schemeClr val="tx1"/>
                </a:solidFill>
              </a:rPr>
              <a:t> Le verbe existe ? Donnez son sens et une phrase.</a:t>
            </a:r>
            <a:endParaRPr lang="en-US" sz="1600" dirty="0"/>
          </a:p>
          <a:p>
            <a:pPr algn="l" indent="0" marL="0">
              <a:spcAft>
                <a:spcPts val="800"/>
              </a:spcAft>
              <a:buNone/>
            </a:pPr>
            <a:r>
              <a:rPr lang="en-US" sz="1600" b="1" dirty="0">
                <a:solidFill>
                  <a:schemeClr val="tx1"/>
                </a:solidFill>
              </a:rPr>
              <a:t>3.</a:t>
            </a:r>
            <a:r>
              <a:rPr lang="en-US" sz="1600" dirty="0">
                <a:solidFill>
                  <a:schemeClr val="tx1"/>
                </a:solidFill>
              </a:rPr>
              <a:t> 1 point par verbe juste, </a:t>
            </a:r>
            <a:r>
              <a:rPr lang="en-US" sz="1600" b="1" dirty="0">
                <a:solidFill>
                  <a:schemeClr val="tx1"/>
                </a:solidFill>
              </a:rPr>
              <a:t>2 points</a:t>
            </a:r>
            <a:r>
              <a:rPr lang="en-US" sz="1600" dirty="0">
                <a:solidFill>
                  <a:schemeClr val="tx1"/>
                </a:solidFill>
              </a:rPr>
              <a:t> si vous donnez deux sens. Le verbe n’existe pas ? Dites-le : 1 point aussi !</a:t>
            </a:r>
            <a:endParaRPr lang="en-US" sz="1600" dirty="0"/>
          </a:p>
        </p:txBody>
      </p:sp>
      <p:sp>
        <p:nvSpPr>
          <p:cNvPr id="49" name="Text 46"/>
          <p:cNvSpPr txBox="1"/>
          <p:nvPr/>
        </p:nvSpPr>
        <p:spPr>
          <a:xfrm>
            <a:off x="5257800" y="5669280"/>
            <a:ext cx="6382512" cy="365760"/>
          </a:xfrm>
          <a:prstGeom prst="rect">
            <a:avLst/>
          </a:prstGeom>
          <a:noFill/>
          <a:ln/>
        </p:spPr>
        <p:txBody>
          <a:bodyPr wrap="square" lIns="0" tIns="0" rIns="0" bIns="0" rtlCol="0" anchor="t"/>
          <a:lstStyle/>
          <a:p>
            <a:pPr algn="l" indent="0" marL="0">
              <a:buNone/>
            </a:pPr>
            <a:r>
              <a:rPr lang="en-US" sz="1400" i="1" dirty="0">
                <a:solidFill>
                  <a:schemeClr val="accent5"/>
                </a:solidFill>
              </a:rPr>
              <a:t>Arbitre : le dictionnaire (Van Dale).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La réunion d’équipe</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dirty="0">
                <a:solidFill>
                  <a:schemeClr val="tx1"/>
                </a:solidFill>
              </a:rPr>
              <a:t>Portes ouvertes chez Peeters &amp; Co : répartissez les tâches. Objectif : 8 verbes à particule.</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A — chef·fe de projet</a:t>
            </a:r>
            <a:endParaRPr lang="en-US" sz="1700" dirty="0"/>
          </a:p>
          <a:p>
            <a:pPr algn="l" indent="0" marL="0">
              <a:spcAft>
                <a:spcPts val="600"/>
              </a:spcAft>
              <a:buNone/>
            </a:pPr>
            <a:r>
              <a:rPr lang="en-US" sz="1700" dirty="0">
                <a:solidFill>
                  <a:schemeClr val="tx1"/>
                </a:solidFill>
              </a:rPr>
              <a:t>Proposez, répartissez les tâches, fixez les délais.</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B — collègue</a:t>
            </a:r>
            <a:endParaRPr lang="en-US" sz="1700" dirty="0"/>
          </a:p>
          <a:p>
            <a:pPr algn="l" indent="0" marL="0">
              <a:spcAft>
                <a:spcPts val="600"/>
              </a:spcAft>
              <a:buNone/>
            </a:pPr>
            <a:r>
              <a:rPr lang="en-US" sz="1700" dirty="0">
                <a:solidFill>
                  <a:schemeClr val="tx1"/>
                </a:solidFill>
              </a:rPr>
              <a:t>Réagissez, acceptez ou reportez, prenez des tâches. Puis rédigez le compte rendu (5 lignes).</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voorstellen · afspreken · vastleggen · nakijken · doorsturen · overnemen · uitstellen · afmaken · bijhouden · toelichten · meedenken · nagaan · invullen · inplannen · Het hangt ervan af. · Ik ga ervan uit dat… · Dat valt mee.</a:t>
            </a:r>
            <a:endParaRPr lang="en-US" sz="1600" dirty="0"/>
          </a:p>
        </p:txBody>
      </p:sp>
      <p:sp>
        <p:nvSpPr>
          <p:cNvPr id="19" name="Shape 16"/>
          <p:cNvSpPr/>
          <p:nvPr/>
        </p:nvSpPr>
        <p:spPr>
          <a:xfrm>
            <a:off x="8074152" y="1481328"/>
            <a:ext cx="3566160" cy="4809744"/>
          </a:xfrm>
          <a:prstGeom prst="roundRect">
            <a:avLst>
              <a:gd name="adj" fmla="val 1026"/>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074152" y="1481328"/>
            <a:ext cx="3566160" cy="548640"/>
          </a:xfrm>
          <a:prstGeom prst="roundRect">
            <a:avLst>
              <a:gd name="adj" fmla="val 6667"/>
            </a:avLst>
          </a:prstGeom>
          <a:solidFill>
            <a:schemeClr val="tx2"/>
          </a:solidFill>
          <a:ln w="12700">
            <a:solidFill>
              <a:srgbClr val="FFFFFF">
                <a:alpha val="0"/>
              </a:srgbClr>
            </a:solidFill>
            <a:prstDash val="solid"/>
          </a:ln>
        </p:spPr>
      </p:sp>
      <p:sp>
        <p:nvSpPr>
          <p:cNvPr id="21" name="Text 18"/>
          <p:cNvSpPr txBox="1"/>
          <p:nvPr/>
        </p:nvSpPr>
        <p:spPr>
          <a:xfrm>
            <a:off x="8211312" y="1481328"/>
            <a:ext cx="3291840" cy="548640"/>
          </a:xfrm>
          <a:prstGeom prst="rect">
            <a:avLst/>
          </a:prstGeom>
          <a:noFill/>
          <a:ln/>
        </p:spPr>
        <p:txBody>
          <a:bodyPr wrap="square" lIns="0" tIns="0" rIns="0" bIns="0" rtlCol="0" anchor="ctr"/>
          <a:lstStyle/>
          <a:p>
            <a:pPr algn="l" indent="0" marL="0">
              <a:buNone/>
            </a:pPr>
            <a:r>
              <a:rPr lang="en-US" sz="1300" b="1" spc="100" kern="0" dirty="0">
                <a:solidFill>
                  <a:schemeClr val="bg1"/>
                </a:solidFill>
              </a:rPr>
              <a:t>AGENDA · OPENDEURDAG</a:t>
            </a:r>
            <a:endParaRPr lang="en-US" sz="1300" dirty="0"/>
          </a:p>
        </p:txBody>
      </p:sp>
      <p:sp>
        <p:nvSpPr>
          <p:cNvPr id="22" name="Shape 19"/>
          <p:cNvSpPr/>
          <p:nvPr/>
        </p:nvSpPr>
        <p:spPr>
          <a:xfrm>
            <a:off x="8257032" y="2258568"/>
            <a:ext cx="365760" cy="365760"/>
          </a:xfrm>
          <a:prstGeom prst="ellipse">
            <a:avLst/>
          </a:prstGeom>
          <a:solidFill>
            <a:schemeClr val="accent1"/>
          </a:solidFill>
          <a:ln w="12700">
            <a:solidFill>
              <a:srgbClr val="FFFFFF">
                <a:alpha val="0"/>
              </a:srgbClr>
            </a:solidFill>
            <a:prstDash val="solid"/>
          </a:ln>
        </p:spPr>
      </p:sp>
      <p:sp>
        <p:nvSpPr>
          <p:cNvPr id="23" name="Text 20"/>
          <p:cNvSpPr txBox="1"/>
          <p:nvPr/>
        </p:nvSpPr>
        <p:spPr>
          <a:xfrm>
            <a:off x="8257032" y="2258568"/>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24" name="Text 21"/>
          <p:cNvSpPr txBox="1"/>
          <p:nvPr/>
        </p:nvSpPr>
        <p:spPr>
          <a:xfrm>
            <a:off x="8759952" y="2194560"/>
            <a:ext cx="2743200" cy="502920"/>
          </a:xfrm>
          <a:prstGeom prst="rect">
            <a:avLst/>
          </a:prstGeom>
          <a:noFill/>
          <a:ln/>
        </p:spPr>
        <p:txBody>
          <a:bodyPr wrap="square" lIns="0" tIns="0" rIns="0" bIns="0" rtlCol="0" anchor="ctr"/>
          <a:lstStyle/>
          <a:p>
            <a:pPr algn="l" indent="0" marL="0">
              <a:buNone/>
            </a:pPr>
            <a:r>
              <a:rPr lang="en-US" sz="1400" i="1" dirty="0">
                <a:solidFill>
                  <a:schemeClr val="tx1"/>
                </a:solidFill>
              </a:rPr>
              <a:t>datum </a:t>
            </a:r>
            <a:r>
              <a:rPr lang="en-US" sz="1400" b="1" i="1" dirty="0">
                <a:solidFill>
                  <a:schemeClr val="tx1"/>
                </a:solidFill>
              </a:rPr>
              <a:t>vastleggen</a:t>
            </a:r>
            <a:endParaRPr lang="en-US" sz="1400" dirty="0"/>
          </a:p>
        </p:txBody>
      </p:sp>
      <p:sp>
        <p:nvSpPr>
          <p:cNvPr id="25" name="Shape 22"/>
          <p:cNvSpPr/>
          <p:nvPr/>
        </p:nvSpPr>
        <p:spPr>
          <a:xfrm>
            <a:off x="8257032" y="2898648"/>
            <a:ext cx="365760" cy="365760"/>
          </a:xfrm>
          <a:prstGeom prst="ellipse">
            <a:avLst/>
          </a:prstGeom>
          <a:solidFill>
            <a:schemeClr val="accent1"/>
          </a:solidFill>
          <a:ln w="12700">
            <a:solidFill>
              <a:srgbClr val="FFFFFF">
                <a:alpha val="0"/>
              </a:srgbClr>
            </a:solidFill>
            <a:prstDash val="solid"/>
          </a:ln>
        </p:spPr>
      </p:sp>
      <p:sp>
        <p:nvSpPr>
          <p:cNvPr id="26" name="Text 23"/>
          <p:cNvSpPr txBox="1"/>
          <p:nvPr/>
        </p:nvSpPr>
        <p:spPr>
          <a:xfrm>
            <a:off x="8257032" y="2898648"/>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27" name="Text 24"/>
          <p:cNvSpPr txBox="1"/>
          <p:nvPr/>
        </p:nvSpPr>
        <p:spPr>
          <a:xfrm>
            <a:off x="8759952" y="2834640"/>
            <a:ext cx="2743200" cy="502920"/>
          </a:xfrm>
          <a:prstGeom prst="rect">
            <a:avLst/>
          </a:prstGeom>
          <a:noFill/>
          <a:ln/>
        </p:spPr>
        <p:txBody>
          <a:bodyPr wrap="square" lIns="0" tIns="0" rIns="0" bIns="0" rtlCol="0" anchor="ctr"/>
          <a:lstStyle/>
          <a:p>
            <a:pPr algn="l" indent="0" marL="0">
              <a:buNone/>
            </a:pPr>
            <a:r>
              <a:rPr lang="en-US" sz="1400" i="1" dirty="0">
                <a:solidFill>
                  <a:schemeClr val="tx1"/>
                </a:solidFill>
              </a:rPr>
              <a:t>uitnodigingen opstellen en </a:t>
            </a:r>
            <a:r>
              <a:rPr lang="en-US" sz="1400" b="1" i="1" dirty="0">
                <a:solidFill>
                  <a:schemeClr val="tx1"/>
                </a:solidFill>
              </a:rPr>
              <a:t>doorsturen</a:t>
            </a:r>
            <a:endParaRPr lang="en-US" sz="1400" dirty="0"/>
          </a:p>
        </p:txBody>
      </p:sp>
      <p:sp>
        <p:nvSpPr>
          <p:cNvPr id="28" name="Shape 25"/>
          <p:cNvSpPr/>
          <p:nvPr/>
        </p:nvSpPr>
        <p:spPr>
          <a:xfrm>
            <a:off x="8257032" y="3538728"/>
            <a:ext cx="365760" cy="365760"/>
          </a:xfrm>
          <a:prstGeom prst="ellipse">
            <a:avLst/>
          </a:prstGeom>
          <a:solidFill>
            <a:schemeClr val="accent1"/>
          </a:solidFill>
          <a:ln w="12700">
            <a:solidFill>
              <a:srgbClr val="FFFFFF">
                <a:alpha val="0"/>
              </a:srgbClr>
            </a:solidFill>
            <a:prstDash val="solid"/>
          </a:ln>
        </p:spPr>
      </p:sp>
      <p:sp>
        <p:nvSpPr>
          <p:cNvPr id="29" name="Text 26"/>
          <p:cNvSpPr txBox="1"/>
          <p:nvPr/>
        </p:nvSpPr>
        <p:spPr>
          <a:xfrm>
            <a:off x="8257032" y="3538728"/>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30" name="Text 27"/>
          <p:cNvSpPr txBox="1"/>
          <p:nvPr/>
        </p:nvSpPr>
        <p:spPr>
          <a:xfrm>
            <a:off x="8759952" y="3474720"/>
            <a:ext cx="2743200" cy="502920"/>
          </a:xfrm>
          <a:prstGeom prst="rect">
            <a:avLst/>
          </a:prstGeom>
          <a:noFill/>
          <a:ln/>
        </p:spPr>
        <p:txBody>
          <a:bodyPr wrap="square" lIns="0" tIns="0" rIns="0" bIns="0" rtlCol="0" anchor="ctr"/>
          <a:lstStyle/>
          <a:p>
            <a:pPr algn="l" indent="0" marL="0">
              <a:buNone/>
            </a:pPr>
            <a:r>
              <a:rPr lang="en-US" sz="1400" i="1" dirty="0">
                <a:solidFill>
                  <a:schemeClr val="tx1"/>
                </a:solidFill>
              </a:rPr>
              <a:t>budget </a:t>
            </a:r>
            <a:r>
              <a:rPr lang="en-US" sz="1400" b="1" i="1" dirty="0">
                <a:solidFill>
                  <a:schemeClr val="tx1"/>
                </a:solidFill>
              </a:rPr>
              <a:t>nakijken</a:t>
            </a:r>
            <a:endParaRPr lang="en-US" sz="1400" dirty="0"/>
          </a:p>
        </p:txBody>
      </p:sp>
      <p:sp>
        <p:nvSpPr>
          <p:cNvPr id="31" name="Shape 28"/>
          <p:cNvSpPr/>
          <p:nvPr/>
        </p:nvSpPr>
        <p:spPr>
          <a:xfrm>
            <a:off x="8257032" y="4178808"/>
            <a:ext cx="365760" cy="365760"/>
          </a:xfrm>
          <a:prstGeom prst="ellipse">
            <a:avLst/>
          </a:prstGeom>
          <a:solidFill>
            <a:schemeClr val="accent1"/>
          </a:solidFill>
          <a:ln w="12700">
            <a:solidFill>
              <a:srgbClr val="FFFFFF">
                <a:alpha val="0"/>
              </a:srgbClr>
            </a:solidFill>
            <a:prstDash val="solid"/>
          </a:ln>
        </p:spPr>
      </p:sp>
      <p:sp>
        <p:nvSpPr>
          <p:cNvPr id="32" name="Text 29"/>
          <p:cNvSpPr txBox="1"/>
          <p:nvPr/>
        </p:nvSpPr>
        <p:spPr>
          <a:xfrm>
            <a:off x="8257032" y="4178808"/>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33" name="Text 30"/>
          <p:cNvSpPr txBox="1"/>
          <p:nvPr/>
        </p:nvSpPr>
        <p:spPr>
          <a:xfrm>
            <a:off x="8759952" y="4114800"/>
            <a:ext cx="2743200" cy="502920"/>
          </a:xfrm>
          <a:prstGeom prst="rect">
            <a:avLst/>
          </a:prstGeom>
          <a:noFill/>
          <a:ln/>
        </p:spPr>
        <p:txBody>
          <a:bodyPr wrap="square" lIns="0" tIns="0" rIns="0" bIns="0" rtlCol="0" anchor="ctr"/>
          <a:lstStyle/>
          <a:p>
            <a:pPr algn="l" indent="0" marL="0">
              <a:buNone/>
            </a:pPr>
            <a:r>
              <a:rPr lang="en-US" sz="1400" i="1" dirty="0">
                <a:solidFill>
                  <a:schemeClr val="tx1"/>
                </a:solidFill>
              </a:rPr>
              <a:t>taken verdelen</a:t>
            </a:r>
            <a:endParaRPr lang="en-US" sz="1400" dirty="0"/>
          </a:p>
        </p:txBody>
      </p:sp>
      <p:sp>
        <p:nvSpPr>
          <p:cNvPr id="34" name="Shape 31"/>
          <p:cNvSpPr/>
          <p:nvPr/>
        </p:nvSpPr>
        <p:spPr>
          <a:xfrm>
            <a:off x="8257032" y="4818888"/>
            <a:ext cx="365760" cy="365760"/>
          </a:xfrm>
          <a:prstGeom prst="ellipse">
            <a:avLst/>
          </a:prstGeom>
          <a:solidFill>
            <a:schemeClr val="accent1"/>
          </a:solidFill>
          <a:ln w="12700">
            <a:solidFill>
              <a:srgbClr val="FFFFFF">
                <a:alpha val="0"/>
              </a:srgbClr>
            </a:solidFill>
            <a:prstDash val="solid"/>
          </a:ln>
        </p:spPr>
      </p:sp>
      <p:sp>
        <p:nvSpPr>
          <p:cNvPr id="35" name="Text 32"/>
          <p:cNvSpPr txBox="1"/>
          <p:nvPr/>
        </p:nvSpPr>
        <p:spPr>
          <a:xfrm>
            <a:off x="8257032" y="4818888"/>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6" name="Text 33"/>
          <p:cNvSpPr txBox="1"/>
          <p:nvPr/>
        </p:nvSpPr>
        <p:spPr>
          <a:xfrm>
            <a:off x="8759952" y="4754880"/>
            <a:ext cx="2743200" cy="502920"/>
          </a:xfrm>
          <a:prstGeom prst="rect">
            <a:avLst/>
          </a:prstGeom>
          <a:noFill/>
          <a:ln/>
        </p:spPr>
        <p:txBody>
          <a:bodyPr wrap="square" lIns="0" tIns="0" rIns="0" bIns="0" rtlCol="0" anchor="ctr"/>
          <a:lstStyle/>
          <a:p>
            <a:pPr algn="l" indent="0" marL="0">
              <a:buNone/>
            </a:pPr>
            <a:r>
              <a:rPr lang="en-US" sz="1400" i="1" dirty="0">
                <a:solidFill>
                  <a:schemeClr val="tx1"/>
                </a:solidFill>
              </a:rPr>
              <a:t>volgende vergadering </a:t>
            </a:r>
            <a:r>
              <a:rPr lang="en-US" sz="1400" b="1" i="1" dirty="0">
                <a:solidFill>
                  <a:schemeClr val="tx1"/>
                </a:solidFill>
              </a:rPr>
              <a:t>afspreken</a:t>
            </a:r>
            <a:endParaRPr lang="en-US" sz="1400" dirty="0"/>
          </a:p>
        </p:txBody>
      </p:sp>
      <p:pic>
        <p:nvPicPr>
          <p:cNvPr id="37" name="Image 0" descr="spiral calendar">    </p:cNvPr>
          <p:cNvPicPr>
            <a:picLocks noChangeAspect="1"/>
          </p:cNvPicPr>
          <p:nvPr/>
        </p:nvPicPr>
        <p:blipFill>
          <a:blip r:embed="rId1"/>
          <a:stretch>
            <a:fillRect/>
          </a:stretch>
        </p:blipFill>
        <p:spPr>
          <a:xfrm>
            <a:off x="9537192" y="5468112"/>
            <a:ext cx="640080" cy="64008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Donnez deux sens de </a:t>
            </a:r>
            <a:r>
              <a:rPr lang="en-US" sz="2000" i="1" dirty="0">
                <a:solidFill>
                  <a:schemeClr val="tx1"/>
                </a:solidFill>
              </a:rPr>
              <a:t>opnemen</a:t>
            </a:r>
            <a:r>
              <a:rPr lang="en-US" sz="2000" dirty="0">
                <a:solidFill>
                  <a:schemeClr val="tx1"/>
                </a:solidFill>
              </a:rPr>
              <a:t>.</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Le contraire de </a:t>
            </a:r>
            <a:r>
              <a:rPr lang="en-US" sz="2000" i="1" dirty="0">
                <a:solidFill>
                  <a:schemeClr val="tx1"/>
                </a:solidFill>
              </a:rPr>
              <a:t>De prijzen nemen toe</a:t>
            </a:r>
            <a:r>
              <a:rPr lang="en-US" sz="2000" dirty="0">
                <a:solidFill>
                  <a:schemeClr val="tx1"/>
                </a:solidFill>
              </a:rPr>
              <a:t>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Passé composé : </a:t>
            </a:r>
            <a:r>
              <a:rPr lang="en-US" sz="2000" i="1" dirty="0">
                <a:solidFill>
                  <a:schemeClr val="tx1"/>
                </a:solidFill>
              </a:rPr>
              <a:t>Ik vertaal de tekst. · Ik kijk de tekst na.</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Comprendre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Deviner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Utiliser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Book">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Défi de la semaine</a:t>
            </a:r>
            <a:r>
              <a:rPr lang="en-US" sz="1800" dirty="0">
                <a:solidFill>
                  <a:schemeClr val="bg1"/>
                </a:solidFill>
              </a:rPr>
              <a:t> : notez 10 verbes à particule rencontrés (journal, travail, séries), avec leur phrase.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35</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Aan, af, op, uit… — Les significations des particules séparables</dc:title>
  <dc:subject>Néerlandais 1 — Langue en situation, en milieu professionnel</dc:subject>
  <dc:creator>A. Jouniaux</dc:creator>
  <cp:lastModifiedBy>A. Jouniaux</cp:lastModifiedBy>
  <cp:revision>1</cp:revision>
  <dcterms:created xsi:type="dcterms:W3CDTF">2026-10-05T10:51:24Z</dcterms:created>
  <dcterms:modified xsi:type="dcterms:W3CDTF">2026-10-05T10:51:24Z</dcterms:modified>
</cp:coreProperties>
</file>