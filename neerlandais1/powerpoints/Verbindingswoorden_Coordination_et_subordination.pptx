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2c6d38c-76b2-621a-45b4-ce6779ab1304}">
          <p14:sldIdLst>
            <p14:sldId id="256"/>
          </p14:sldIdLst>
        </p14:section>
        <p14:section name="Découvrir" id="{349a5eab-ee3f-5efe-40b0-751392d284d5}">
          <p14:sldIdLst>
            <p14:sldId id="257"/>
            <p14:sldId id="258"/>
            <p14:sldId id="259"/>
            <p14:sldId id="260"/>
          </p14:sldIdLst>
        </p14:section>
        <p14:section name="Pont, tremplin, wagon" id="{902ea10a-35b4-0dfa-5b21-d19cbccee744}">
          <p14:sldIdLst>
            <p14:sldId id="261"/>
            <p14:sldId id="262"/>
            <p14:sldId id="263"/>
            <p14:sldId id="264"/>
          </p14:sldIdLst>
        </p14:section>
        <p14:section name="Les sens" id="{c15c8fcd-5404-a227-53fd-549ba8bec431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omposer" id="{0bae67c3-44e1-38db-7382-43bad2c54ce8}">
          <p14:sldIdLst>
            <p14:sldId id="271"/>
            <p14:sldId id="272"/>
            <p14:sldId id="273"/>
            <p14:sldId id="274"/>
            <p14:sldId id="275"/>
          </p14:sldIdLst>
        </p14:section>
        <p14:section name="JIJ NU ! — Oefeningen" id="{f5c7d4d5-97a9-251d-c54a-86077bff7758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Clôture" id="{61af24de-aa28-bc8e-1ad0-cc4f01e78e5a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relier les phrases, et le verbe qui bouge.
Lisez les trois phrases à voix haute : même sens, mais le verbe rouge n'est jamais au même endroit. C'est le fil rouge du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3 objectifs.
Rappelez que want / omdat ont été vus en M9 : on généralise.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observer, sans règle, que le verbe conjugué change de place.
Par deux, 3 minutes : classer les phrases selon la place du verbe rouge. Laissez formuler des hypothèses ; la réponse arrive diapo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Réactiver la règle V2 et l'inversion (M3).
Faites déplacer morgen en case ① à l'oral avec d'autres phrases (Vandaag…, In Gent…).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Poser le principe (schéma K1) : pont, tremplin, wagon.
Revenez à la diapo 3 : a et b = pont, c = tremplin, d et e = wagon. Le pont relie deux phrases complètes ; le tremplin est un adverbe qui « saute » en tête ; le wagon accroche une phrase qui dépend de l'autre.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les cinq mots de coordination.
Moyen mnémotechnique : en, maar, want, of, dus tiennent sur les cinq doigts d'une main. Seul dus hésite entre pont et tremplin.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les adverbes de liaison et l'inversion qu'ils provoquent.
Geste : bras qui « sautent » en tête de phrase, le sujet recule d'un pas. ten slotte (en deux mots) = enfin ; tenslotte (un mot) = après tout. echter (« cependant », écrit, B2) se place plutôt après le verbe : Het is echter duur.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la place de tous les verbes dans la subordonnée.
L'ordre des verbes à la fin varie : ziek ben geweest et ziek geweest ben sont tous deux corrects ; en Belgique, geweest ben est fréquent. Avec un double infinitif, le verbe conjugué est en tête du groupe (heb moeten werken). Lien avec le module « double infinitif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les mots par sens et par syntaxe (schéma K3).
Invitez à photographier la carte. Faites remarquer que la cause a un pont (want) et un wagon (omdat), mais pas de tremplin ; la conséquence a les trois.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toen, als, wanneer (schéma K4).
Le piège francophone : « quand » + un moment ou une période unique du passé = toen, jamais als. En langue soignée, wanneer peut aussi exprimer une condition (Wanneer u vragen heeft…), mais jamais le « si » d'une question indirecte (of). Toen en tête suivi du verbe (Toen ging ik…) = « puis » (tremplin) : voir diapo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Situer deux actions dans le temps avec six wagons.
voordat / voor et totdat / tot : les formes courtes sont fréquentes à l'oral (Ik bel je voor ik vertrek). nadat demande une action terminée (passé composé ou plus-que-parfait).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cause et conséquence avec les trois syntaxes.
Une proposition avec want ne se place jamais avant la principale (✗ Want het regent, ik neem de bus) et ne répond pas seule à Waarom? : c'est un pont, il lui faut une rive de chaque côté. doordat ne convient pas à un choix volontaire (prendre le bus) : d'où un exemple à part. om … te (le but avec un infinitif) : voir le module te / om … 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l'opposition et la concession avec les trois syntaxes.
Différence avec le français : hoewel + indicatif (pas de subjonctif). terwijl a deux sens : « pendant que » (diapo 11) et « alors que ». Ook al est une exception à retenir comme une formule.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une condition ; distinguer als (si = condition) et of (si = question).
Als …, dan … : dan (facultatif) reprend la condition en case ① → inversion (Als je tijd hebt, dan kom je mee). indien se lit dans les courriers officiels.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des questions indirectes polies.
Tous les mots interrogatifs (wie, wat, waar, wanneer, waarom, hoe, hoeveel) deviennent des wagons. Le point d'interrogation dépend de la première partie (Weet je…? / Ik vraag me af…).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l'ordre quand la subordonnée commence la phrase (schéma K2).
Faites dire « verbe, virgule, verbe » en tapant deux fois dans les mains. C'est l'erreur la plus fréquente des francophones : prévoyez des répétitions orales rapides (l'enseignant·e donne le wagon, le groupe complète).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conjonctions en deux parties.
À l'oral, noch … noch est rare : on dit Ik drink geen koffie en ook geen thee. Hoe … hoe : ordre accepté à l'oral aussi avec inversion dans la 2e partie (hoe beter word je), mais la forme avec le verbe à la fin est la plus sûre.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Composer une phrase complexe en enchaînant pont et wagons.
Jeu oral : un·e apprenant·e dit une phrase simple, le·la suivant·e ajoute une brique (pont, tremplin ou wagon), etc. On s'arrête quand la phrase devient illogique.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Anticiper les erreurs typiques.
Piège 1 : à l'oral, en Flandre, on entend parfois want ik ziek ben ; c'est fautif en néerlandais standard. Piège 5 : en français, « que » ne s'omet jamais ; c'est plutôt l'anglais (I think he comes) qui influence certain·es apprenant·es.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Invitez à photographier la diapo.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Ex. 1 à 3 en séance 1, ex. 4 à 6 en séance 2, ex. 7 à 11 en séance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15 mots de liaison selon leur effet sur le verbe.
Version kinesthésique : imprimez les étiquettes et faites-les déposer dans trois boîtes. Pour chaque mot, demandez une phrase-exemple à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Classer 15 mots de liaison selon leur effet sur le verbe.
Version kinesthésique : imprimez les étiquettes et faites-les déposer dans trois boîtes. Pour chaque mot, demandez une phrase-exemple à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Relier deux phrases en appliquant la bonne syntaxe.
Faites lire 1 et 2 à la suite : même sens, ordre différent. N° 7 : la question devient un wagon avec of (diapo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Relier deux phrases en appliquant la bonne syntaxe.
Faites lire 1 et 2 à la suite : même sens, ordre différent. N° 7 : la question devient un wagon avec of (diapo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une même relation cause-conséquence de quatre façons.
Attention au sens : want / omdat introduisent la cause, dus / daarom la conséquence ; l'ordre des deux idées s'inverse. Prolongez : chacun·e invente sa propre situation et la décline.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Exprimer une même relation cause-conséquence de quatre façons.
Attention au sens : want / omdat introduisent la cause, dus / daarom la conséquence ; l'ordre des deux idées s'inverse. Prolongez : chacun·e invente sa propre situation et la décline.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toen, als ou wanneer selon le temps et le sens.
N° 6 : vroeger + habitude → als / wanneer, pas toen. Faites justifier avec la ligne du temps (diapo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toen, als ou wanneer selon le temps et le sens.
N° 6 : vroeger + habitude → als / wanneer, pas toen. Faites justifier avec la ligne du temps (diapo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wagon selon le sens.
Faites repérer le « verbe, verbe » dans les n° 2, 5 et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le wagon selon le sens.
Faites repérer le « verbe, verbe » dans les n° 2, 5 et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des questions directes en questions indirectes.
Variante orale : au guichet de la gare ou de la commune, les apprenant·es posent des questions polies (Weet u misschien…? Kunt u me zeggen…?).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des questions directes en questions indirectes.
Variante orale : au guichet de la gare ou de la commune, les apprenant·es posent des questions polies (Weet u misschien…? Kunt u me zeggen…?).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Reconstruire des phrases dont les pièces sont mélangées.
Version manipulable : imprimez les pièces (avec les couleurs) et faites-les assembler par deux. Défi : trouver une deuxième phrase correcte avec les mêmes pièces (n° 1 : Ik blijf thuis, omdat het regent).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Reconstruire des phrases dont les pièces sont mélangées.
Version manipulable : imprimez les pièces (avec les couleurs) et faites-les assembler par deux. Défi : trouver une deuxième phrase correcte avec les mêmes pièces (n° 1 : Ik blijf thuis, omdat het regent).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Employer les conjonctions en deux parties.
N° 1 : niet alleen … maar ook est aussi possible. N° 6 : faites remarquer l'inversion (is het) dans les deux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Employer les conjonctions en deux parties.
N° 1 : niet alleen … maar ook est aussi possible. N° 6 : faites remarquer l'inversion (is het) dans les deux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l'ordre des mots dans un message réaliste.
Faites nommer la règle pour chaque erreur : tremplin, wagon, verbe-verbe, question indirecte, piège « si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l'ordre des mots dans un message réaliste.
Faites nommer la règle pour chaque erreur : tremplin, wagon, verbe-verbe, question indirecte, piège « si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à l'oral des phrases reliées, de façon ludique.
En groupes de 4, cartes imprimées face cachée. Le groupe vérifie l'ordre ; l'enseignant·e arbitre. Variante écrite : chaque groupe rédige l'histoire complète et la lit à la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argumenter en reliant ses idées (8 mots de liaison différents).
Un·e troisième apprenant·e compte les mots de liaison et note les erreurs d'ordre. Inversez ensuite les rôles. Débriefing : la meilleure phrase « longue » de chaque groupe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Ik blijf thuis, omdat ik ziek ben.
2. Als ik tijd heb, bel ik je.
3. Toen (une période unique du passé).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· A2–B1 · Relier les phrases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· A2–B1 · Relier les phrases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image" Target="../media/image-42-9.png"/><Relationship Id="rId10" Type="http://schemas.openxmlformats.org/officeDocument/2006/relationships/image" Target="../media/image-4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741371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COMPLÉMENT · A2–B1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Want, daarom, omdat…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Relier les phrases : coordination et subordination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 pont · le tremplin · le wagon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89320" y="1097280"/>
            <a:ext cx="59436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bridg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132588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1389888"/>
            <a:ext cx="179039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389888"/>
            <a:ext cx="1790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 blijf thuis,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94115" y="1389888"/>
            <a:ext cx="848212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94115" y="1389888"/>
            <a:ext cx="848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588047" y="1389888"/>
            <a:ext cx="492313" cy="548640"/>
          </a:xfrm>
          <a:prstGeom prst="roundRect">
            <a:avLst>
              <a:gd name="adj" fmla="val 1857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88047" y="1389888"/>
            <a:ext cx="4923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126080" y="1389888"/>
            <a:ext cx="736377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126080" y="1389888"/>
            <a:ext cx="736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908178" y="1389888"/>
            <a:ext cx="79187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08178" y="1389888"/>
            <a:ext cx="791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ziek.</a:t>
            </a:r>
            <a:endParaRPr lang="en-US" sz="1400" dirty="0"/>
          </a:p>
        </p:txBody>
      </p:sp>
      <p:pic>
        <p:nvPicPr>
          <p:cNvPr id="17" name="Image 1" descr="person cartwhe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2514600"/>
            <a:ext cx="685800" cy="685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58000" y="2578608"/>
            <a:ext cx="1490838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2578608"/>
            <a:ext cx="1490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 ben ziek.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394558" y="2578608"/>
            <a:ext cx="1071882" cy="548640"/>
          </a:xfrm>
          <a:prstGeom prst="roundRect">
            <a:avLst>
              <a:gd name="adj" fmla="val 16667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394558" y="2578608"/>
            <a:ext cx="1071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Daarom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512159" y="2578608"/>
            <a:ext cx="960047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512159" y="2578608"/>
            <a:ext cx="960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blijf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0517926" y="2578608"/>
            <a:ext cx="492313" cy="548640"/>
          </a:xfrm>
          <a:prstGeom prst="roundRect">
            <a:avLst>
              <a:gd name="adj" fmla="val 1857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517926" y="2578608"/>
            <a:ext cx="4923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1055959" y="2578608"/>
            <a:ext cx="891723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055959" y="2578608"/>
            <a:ext cx="8917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thuis.</a:t>
            </a:r>
            <a:endParaRPr lang="en-US" sz="1400" dirty="0"/>
          </a:p>
        </p:txBody>
      </p:sp>
      <p:pic>
        <p:nvPicPr>
          <p:cNvPr id="28" name="Image 2" descr="railway 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703320"/>
            <a:ext cx="685800" cy="6858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858000" y="3767328"/>
            <a:ext cx="179039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0" y="3767328"/>
            <a:ext cx="1790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 blijf thuis,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694115" y="3767328"/>
            <a:ext cx="960047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694115" y="3767328"/>
            <a:ext cx="960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omdat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9699882" y="3767328"/>
            <a:ext cx="99157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699882" y="3767328"/>
            <a:ext cx="99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 ziek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10737177" y="3767328"/>
            <a:ext cx="848212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737177" y="3767328"/>
            <a:ext cx="848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Relier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relie deux phrases avec un pont, un tremplin ou un wagon.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al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Nuancer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J’exprime le temps, la cause, l’opposition, la condition.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Composer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construis des phrases longues, dans le bon ordre.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mot de liaison décide de la place du verbe : c’est tout le secret.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Une idée, cinq phrases : où est le verbe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pic>
        <p:nvPicPr>
          <p:cNvPr id="5" name="Image 0" descr="face with thermo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371600"/>
            <a:ext cx="1051560" cy="1051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630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960120" y="1463040"/>
            <a:ext cx="26462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1463040"/>
            <a:ext cx="26462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blijf thuis,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679546" y="1463040"/>
            <a:ext cx="1103834" cy="603504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79546" y="1463040"/>
            <a:ext cx="11038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want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856532" y="1463040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56532" y="1463040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536114" y="146304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36114" y="146304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537360" y="1463040"/>
            <a:ext cx="107716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37360" y="1463040"/>
            <a:ext cx="10771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ziek.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230428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60120" y="2304288"/>
            <a:ext cx="217554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0120" y="2304288"/>
            <a:ext cx="21755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ben ziek,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208812" y="2304288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208812" y="2304288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dus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210059" y="2304288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10059" y="2304288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4889641" y="2304288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89641" y="2304288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blijf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242367" y="2304288"/>
            <a:ext cx="12340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2367" y="2304288"/>
            <a:ext cx="12340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thuis.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31455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60120" y="3145536"/>
            <a:ext cx="217554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60120" y="3145536"/>
            <a:ext cx="21755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ben ziek.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3208812" y="3145536"/>
            <a:ext cx="1455315" cy="603504"/>
          </a:xfrm>
          <a:prstGeom prst="roundRect">
            <a:avLst>
              <a:gd name="adj" fmla="val 15152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208812" y="3145536"/>
            <a:ext cx="14553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Daarom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4737280" y="3145536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37280" y="3145536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blijf</a:t>
            </a:r>
            <a:endParaRPr lang="en-US" sz="2200" dirty="0"/>
          </a:p>
        </p:txBody>
      </p:sp>
      <p:sp>
        <p:nvSpPr>
          <p:cNvPr id="35" name="Shape 31"/>
          <p:cNvSpPr/>
          <p:nvPr/>
        </p:nvSpPr>
        <p:spPr>
          <a:xfrm>
            <a:off x="6090006" y="3145536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0006" y="3145536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6769588" y="3145536"/>
            <a:ext cx="12340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769588" y="3145536"/>
            <a:ext cx="12340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thuis.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398678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60120" y="3986784"/>
            <a:ext cx="26462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60120" y="3986784"/>
            <a:ext cx="26462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blijf thuis,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3679546" y="3986784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679546" y="3986784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omdat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5032272" y="3986784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032272" y="3986784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46" name="Shape 42"/>
          <p:cNvSpPr/>
          <p:nvPr/>
        </p:nvSpPr>
        <p:spPr>
          <a:xfrm>
            <a:off x="5711854" y="3986784"/>
            <a:ext cx="920252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711854" y="3986784"/>
            <a:ext cx="9202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ziek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6705259" y="3986784"/>
            <a:ext cx="1103834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705259" y="3986784"/>
            <a:ext cx="11038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ben.</a:t>
            </a:r>
            <a:endParaRPr lang="en-US" sz="2200" dirty="0"/>
          </a:p>
        </p:txBody>
      </p:sp>
      <p:sp>
        <p:nvSpPr>
          <p:cNvPr id="50" name="Text 46"/>
          <p:cNvSpPr txBox="1"/>
          <p:nvPr/>
        </p:nvSpPr>
        <p:spPr>
          <a:xfrm>
            <a:off x="548640" y="482803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960120" y="4828032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960120" y="4828032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Omdat</a:t>
            </a:r>
            <a:endParaRPr lang="en-US" sz="2200" dirty="0"/>
          </a:p>
        </p:txBody>
      </p:sp>
      <p:sp>
        <p:nvSpPr>
          <p:cNvPr id="53" name="Shape 49"/>
          <p:cNvSpPr/>
          <p:nvPr/>
        </p:nvSpPr>
        <p:spPr>
          <a:xfrm>
            <a:off x="2312847" y="4828032"/>
            <a:ext cx="1390985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2312847" y="4828032"/>
            <a:ext cx="13909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ziek</a:t>
            </a:r>
            <a:endParaRPr lang="en-US" sz="2200" dirty="0"/>
          </a:p>
        </p:txBody>
      </p:sp>
      <p:sp>
        <p:nvSpPr>
          <p:cNvPr id="55" name="Shape 51"/>
          <p:cNvSpPr/>
          <p:nvPr/>
        </p:nvSpPr>
        <p:spPr>
          <a:xfrm>
            <a:off x="3776984" y="4828032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3776984" y="4828032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</a:t>
            </a:r>
            <a:endParaRPr lang="en-US" sz="2200" dirty="0"/>
          </a:p>
        </p:txBody>
      </p:sp>
      <p:sp>
        <p:nvSpPr>
          <p:cNvPr id="57" name="Text 53"/>
          <p:cNvSpPr txBox="1"/>
          <p:nvPr/>
        </p:nvSpPr>
        <p:spPr>
          <a:xfrm>
            <a:off x="4778230" y="4828032"/>
            <a:ext cx="2670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,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5118387" y="4828032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5118387" y="4828032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blijf</a:t>
            </a:r>
            <a:endParaRPr lang="en-US" sz="2200" dirty="0"/>
          </a:p>
        </p:txBody>
      </p:sp>
      <p:sp>
        <p:nvSpPr>
          <p:cNvPr id="60" name="Shape 56"/>
          <p:cNvSpPr/>
          <p:nvPr/>
        </p:nvSpPr>
        <p:spPr>
          <a:xfrm>
            <a:off x="6471114" y="4828032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471114" y="4828032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62" name="Shape 58"/>
          <p:cNvSpPr/>
          <p:nvPr/>
        </p:nvSpPr>
        <p:spPr>
          <a:xfrm>
            <a:off x="7150696" y="4828032"/>
            <a:ext cx="12340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150696" y="4828032"/>
            <a:ext cx="12340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thuis.</a:t>
            </a:r>
            <a:endParaRPr lang="en-US" sz="2200" dirty="0"/>
          </a:p>
        </p:txBody>
      </p:sp>
      <p:sp>
        <p:nvSpPr>
          <p:cNvPr id="64" name="Shape 60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 </a:t>
            </a:r>
            <a:r>
              <a:rPr lang="en-US" sz="1700" b="1" dirty="0">
                <a:solidFill>
                  <a:schemeClr val="bg1"/>
                </a:solidFill>
              </a:rPr>
              <a:t>verbe conjugué</a:t>
            </a:r>
            <a:r>
              <a:rPr lang="en-US" sz="1700" dirty="0">
                <a:solidFill>
                  <a:schemeClr val="bg1"/>
                </a:solidFill>
              </a:rPr>
              <a:t> est en rouge. Il ne bouge pas toujours de la même façon : pourquoi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base : le verbe en 2e position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RAPPEL M3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097280" y="1508760"/>
            <a:ext cx="128016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1508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une case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8880" y="150876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68880" y="1508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 VERBE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23360" y="1508760"/>
            <a:ext cx="384048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③ 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 reste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1508760"/>
            <a:ext cx="22860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508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infinitif · participe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0" y="2468880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2468880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776862" y="246888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76862" y="246888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602368" y="2468880"/>
            <a:ext cx="29600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02368" y="2468880"/>
            <a:ext cx="2960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morgen naar Gent.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097280" y="3337560"/>
            <a:ext cx="1234074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7280" y="3337560"/>
            <a:ext cx="1234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Morgen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404506" y="333756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04506" y="333756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ga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230012" y="3337560"/>
            <a:ext cx="2332452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30012" y="3337560"/>
            <a:ext cx="2332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naar Gent.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097280" y="4206240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97280" y="4206240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1776862" y="4206240"/>
            <a:ext cx="928094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776862" y="4206240"/>
            <a:ext cx="928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2778108" y="4206240"/>
            <a:ext cx="3117007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78108" y="4206240"/>
            <a:ext cx="31170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gisteren naar Gent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968267" y="4206240"/>
            <a:ext cx="1631056" cy="640080"/>
          </a:xfrm>
          <a:prstGeom prst="roundRect">
            <a:avLst>
              <a:gd name="adj" fmla="val 14286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68267" y="4206240"/>
            <a:ext cx="163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gegaan.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5120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Si un autre mot prend la case ①, le sujet passe </a:t>
            </a:r>
            <a:r>
              <a:rPr lang="en-US" sz="1700" b="1" dirty="0">
                <a:solidFill>
                  <a:schemeClr val="tx2"/>
                </a:solidFill>
              </a:rPr>
              <a:t>après</a:t>
            </a:r>
            <a:r>
              <a:rPr lang="en-US" sz="1700" dirty="0">
                <a:solidFill>
                  <a:schemeClr val="tx2"/>
                </a:solidFill>
              </a:rPr>
              <a:t> le verbe : c’est </a:t>
            </a:r>
            <a:r>
              <a:rPr lang="en-US" sz="1700" b="1" dirty="0">
                <a:solidFill>
                  <a:schemeClr val="tx2"/>
                </a:solidFill>
              </a:rPr>
              <a:t>l’inversion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Les mots de liaison respectent cette règle… ou la changent. Il y en a trois sortes.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Trois sortes de mots de liaison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PRINCIPE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" name="Image 0" descr="bridg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5361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 PONT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ordre normal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en · maar · want · of · dus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26280" y="1627632"/>
            <a:ext cx="243230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26280" y="16276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blijf thuis,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031736" y="1627632"/>
            <a:ext cx="1039929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31736" y="1627632"/>
            <a:ext cx="1039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want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144817" y="1627632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44817" y="1627632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795870" y="1627632"/>
            <a:ext cx="880165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95870" y="1627632"/>
            <a:ext cx="880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ben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9749186" y="1627632"/>
            <a:ext cx="10058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749186" y="16276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ziek.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2494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rien ne bouge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288036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6E4A9E">
              <a:alpha val="10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21" name="Image 1" descr="person cartwhe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914400" cy="914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37360" y="2953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4A9E"/>
                </a:solidFill>
              </a:rPr>
              <a:t>LE TREMPLIN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E4A9E"/>
                </a:solidFill>
              </a:rPr>
              <a:t>inversion : verbe, puis sujet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737360" y="3630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daarom · toch · daarna · dan · anders · bovendien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26280" y="3044952"/>
            <a:ext cx="2004365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26280" y="3044952"/>
            <a:ext cx="20043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ben ziek.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603797" y="3044952"/>
            <a:ext cx="1359457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603797" y="3044952"/>
            <a:ext cx="1359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Daarom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036406" y="3044952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036406" y="3044952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blijf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309250" y="3044952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309250" y="3044952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9960303" y="3044952"/>
            <a:ext cx="1148486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960303" y="3044952"/>
            <a:ext cx="11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thuis.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4526280" y="36667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 mot prend la case ① → verbe, puis sujet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548640" y="42976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1">
              <a:alpha val="10000"/>
            </a:schemeClr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6" name="Image 2" descr="railway 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80560"/>
            <a:ext cx="914400" cy="9144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737360" y="4370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 WAGON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verbe à la fin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737360" y="5047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omdat · dat · als · of · toen · hoewel · terwijl…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526280" y="4462272"/>
            <a:ext cx="243230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526280" y="446227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blijf thuis,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7031736" y="4462272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031736" y="4462272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8304581" y="4462272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304581" y="4462272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45" name="Shape 39"/>
          <p:cNvSpPr/>
          <p:nvPr/>
        </p:nvSpPr>
        <p:spPr>
          <a:xfrm>
            <a:off x="8955634" y="4462272"/>
            <a:ext cx="86319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8955634" y="4462272"/>
            <a:ext cx="86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ziek</a:t>
            </a:r>
            <a:endParaRPr lang="en-US" sz="2000" dirty="0"/>
          </a:p>
        </p:txBody>
      </p:sp>
      <p:sp>
        <p:nvSpPr>
          <p:cNvPr id="47" name="Shape 41"/>
          <p:cNvSpPr/>
          <p:nvPr/>
        </p:nvSpPr>
        <p:spPr>
          <a:xfrm>
            <a:off x="9891979" y="4462272"/>
            <a:ext cx="1039929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9891979" y="4462272"/>
            <a:ext cx="1039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ben.</a:t>
            </a:r>
            <a:endParaRPr lang="en-US" sz="2000" dirty="0"/>
          </a:p>
        </p:txBody>
      </p:sp>
      <p:sp>
        <p:nvSpPr>
          <p:cNvPr id="49" name="Text 43"/>
          <p:cNvSpPr txBox="1"/>
          <p:nvPr/>
        </p:nvSpPr>
        <p:spPr>
          <a:xfrm>
            <a:off x="4526280" y="50840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 verbe file au dernier wagon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2296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Avant d’écrire, demandez-vous : </a:t>
            </a:r>
            <a:r>
              <a:rPr lang="en-US" sz="1700" b="1" dirty="0">
                <a:solidFill>
                  <a:schemeClr val="bg1"/>
                </a:solidFill>
              </a:rPr>
              <a:t>pont, tremplin ou wagon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pont : en, maar, want, of, dus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PONT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914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57276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727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1517904"/>
            <a:ext cx="60350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741018"/>
            <a:ext cx="603504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werk in Gent </a:t>
            </a:r>
            <a:r>
              <a:rPr lang="en-US" sz="1700" b="1" i="1" dirty="0">
                <a:solidFill>
                  <a:srgbClr val="2A6FB0"/>
                </a:solidFill>
              </a:rPr>
              <a:t>en</a:t>
            </a:r>
            <a:r>
              <a:rPr lang="en-US" sz="1700" i="1" dirty="0">
                <a:solidFill>
                  <a:schemeClr val="tx1"/>
                </a:solidFill>
              </a:rPr>
              <a:t> mijn partner </a:t>
            </a:r>
            <a:r>
              <a:rPr lang="en-US" sz="1700" b="1" i="1" dirty="0">
                <a:solidFill>
                  <a:srgbClr val="B83227"/>
                </a:solidFill>
              </a:rPr>
              <a:t>werkt</a:t>
            </a:r>
            <a:r>
              <a:rPr lang="en-US" sz="1700" i="1" dirty="0">
                <a:solidFill>
                  <a:schemeClr val="tx1"/>
                </a:solidFill>
              </a:rPr>
              <a:t> in Brussel.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286000"/>
            <a:ext cx="914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39572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3957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maar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2340864"/>
            <a:ext cx="60350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mais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2563978"/>
            <a:ext cx="603504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wil komen, </a:t>
            </a:r>
            <a:r>
              <a:rPr lang="en-US" sz="1700" b="1" i="1" dirty="0">
                <a:solidFill>
                  <a:srgbClr val="2A6FB0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ik </a:t>
            </a:r>
            <a:r>
              <a:rPr lang="en-US" sz="1700" b="1" i="1" dirty="0">
                <a:solidFill>
                  <a:srgbClr val="B83227"/>
                </a:solidFill>
              </a:rPr>
              <a:t>heb</a:t>
            </a:r>
            <a:r>
              <a:rPr lang="en-US" sz="1700" i="1" dirty="0">
                <a:solidFill>
                  <a:schemeClr val="tx1"/>
                </a:solidFill>
              </a:rPr>
              <a:t> geen tijd.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1089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108960"/>
            <a:ext cx="914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21868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2186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want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3163824"/>
            <a:ext cx="60350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car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3386938"/>
            <a:ext cx="603504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blijf thuis, </a:t>
            </a:r>
            <a:r>
              <a:rPr lang="en-US" sz="1700" b="1" i="1" dirty="0">
                <a:solidFill>
                  <a:srgbClr val="2A6FB0"/>
                </a:solidFill>
              </a:rPr>
              <a:t>want</a:t>
            </a:r>
            <a:r>
              <a:rPr lang="en-US" sz="1700" i="1" dirty="0">
                <a:solidFill>
                  <a:schemeClr val="tx1"/>
                </a:solidFill>
              </a:rPr>
              <a:t> ik </a:t>
            </a:r>
            <a:r>
              <a:rPr lang="en-US" sz="1700" b="1" i="1" dirty="0">
                <a:solidFill>
                  <a:srgbClr val="B83227"/>
                </a:solidFill>
              </a:rPr>
              <a:t>ben</a:t>
            </a:r>
            <a:r>
              <a:rPr lang="en-US" sz="1700" i="1" dirty="0">
                <a:solidFill>
                  <a:schemeClr val="tx1"/>
                </a:solidFill>
              </a:rPr>
              <a:t> ziek.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3931920"/>
            <a:ext cx="914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04164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04164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2103120" y="3986784"/>
            <a:ext cx="60350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ou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4209898"/>
            <a:ext cx="603504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Kom je mee, </a:t>
            </a:r>
            <a:r>
              <a:rPr lang="en-US" sz="1700" b="1" i="1" dirty="0">
                <a:solidFill>
                  <a:srgbClr val="2A6FB0"/>
                </a:solidFill>
              </a:rPr>
              <a:t>of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rgbClr val="B83227"/>
                </a:solidFill>
              </a:rPr>
              <a:t>blijf</a:t>
            </a:r>
            <a:r>
              <a:rPr lang="en-US" sz="1700" i="1" dirty="0">
                <a:solidFill>
                  <a:schemeClr val="tx1"/>
                </a:solidFill>
              </a:rPr>
              <a:t> je thuis?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47548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" y="4754880"/>
            <a:ext cx="914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486460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8646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dus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2103120" y="4809744"/>
            <a:ext cx="60350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donc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5032858"/>
            <a:ext cx="603504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regent, </a:t>
            </a:r>
            <a:r>
              <a:rPr lang="en-US" sz="1700" b="1" i="1" dirty="0">
                <a:solidFill>
                  <a:srgbClr val="2A6FB0"/>
                </a:solidFill>
              </a:rPr>
              <a:t>dus</a:t>
            </a:r>
            <a:r>
              <a:rPr lang="en-US" sz="1700" i="1" dirty="0">
                <a:solidFill>
                  <a:schemeClr val="tx1"/>
                </a:solidFill>
              </a:rPr>
              <a:t> ik </a:t>
            </a:r>
            <a:r>
              <a:rPr lang="en-US" sz="1700" b="1" i="1" dirty="0">
                <a:solidFill>
                  <a:srgbClr val="B83227"/>
                </a:solidFill>
              </a:rPr>
              <a:t>neem</a:t>
            </a:r>
            <a:r>
              <a:rPr lang="en-US" sz="1700" i="1" dirty="0">
                <a:solidFill>
                  <a:schemeClr val="tx1"/>
                </a:solidFill>
              </a:rPr>
              <a:t> de bus.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8458200" y="1463040"/>
            <a:ext cx="3182112" cy="40233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6" name="Image 0" descr="bridg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00200"/>
            <a:ext cx="1005840" cy="100584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8595360" y="26974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Rien ne bouge</a:t>
            </a:r>
            <a:r>
              <a:rPr lang="en-US" sz="1400" dirty="0">
                <a:solidFill>
                  <a:schemeClr val="tx1"/>
                </a:solidFill>
              </a:rPr>
              <a:t> : après le pont, la phrase garde l’ordre normal.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Même sujet ? On peut l’omettre après </a:t>
            </a:r>
            <a:r>
              <a:rPr lang="en-US" sz="1400" i="1" dirty="0">
                <a:solidFill>
                  <a:schemeClr val="tx1"/>
                </a:solidFill>
              </a:rPr>
              <a:t>en, maar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i="1" dirty="0">
                <a:solidFill>
                  <a:schemeClr val="tx1"/>
                </a:solidFill>
              </a:rPr>
              <a:t>Ik sta op </a:t>
            </a:r>
            <a:r>
              <a:rPr lang="en-US" sz="1400" b="1" i="1" dirty="0">
                <a:solidFill>
                  <a:schemeClr val="tx1"/>
                </a:solidFill>
              </a:rPr>
              <a:t>en</a:t>
            </a:r>
            <a:r>
              <a:rPr lang="en-US" sz="1400" i="1" dirty="0">
                <a:solidFill>
                  <a:schemeClr val="tx1"/>
                </a:solidFill>
              </a:rPr>
              <a:t> ga naar het werk.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dus</a:t>
            </a:r>
            <a:r>
              <a:rPr lang="en-US" sz="1600" dirty="0">
                <a:solidFill>
                  <a:schemeClr val="bg1"/>
                </a:solidFill>
              </a:rPr>
              <a:t> peut aussi être un tremplin : </a:t>
            </a:r>
            <a:r>
              <a:rPr lang="en-US" sz="1600" i="1" dirty="0">
                <a:solidFill>
                  <a:schemeClr val="bg1"/>
                </a:solidFill>
              </a:rPr>
              <a:t>Het regent, </a:t>
            </a:r>
            <a:r>
              <a:rPr lang="en-US" sz="1600" b="1" i="1" dirty="0">
                <a:solidFill>
                  <a:schemeClr val="bg1"/>
                </a:solidFill>
              </a:rPr>
              <a:t>dus neem ik</a:t>
            </a:r>
            <a:r>
              <a:rPr lang="en-US" sz="1600" i="1" dirty="0">
                <a:solidFill>
                  <a:schemeClr val="bg1"/>
                </a:solidFill>
              </a:rPr>
              <a:t> de bus.</a:t>
            </a:r>
            <a:r>
              <a:rPr lang="en-US" sz="1600" dirty="0">
                <a:solidFill>
                  <a:schemeClr val="bg1"/>
                </a:solidFill>
              </a:rPr>
              <a:t> Les deux ordres sont corrects.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tremplin : daarom, toch, daarna… + inversion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TREMPLIN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91440" cy="7315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572768"/>
            <a:ext cx="155448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727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daarom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517904"/>
            <a:ext cx="5669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c’est pourquoi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1741018"/>
            <a:ext cx="56692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ben ziek. </a:t>
            </a:r>
            <a:r>
              <a:rPr lang="en-US" sz="1600" b="1" i="1" dirty="0">
                <a:solidFill>
                  <a:srgbClr val="6E4A9E"/>
                </a:solidFill>
              </a:rPr>
              <a:t>Daarom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blijf</a:t>
            </a:r>
            <a:r>
              <a:rPr lang="en-US" sz="1600" i="1" dirty="0">
                <a:solidFill>
                  <a:schemeClr val="tx1"/>
                </a:solidFill>
              </a:rPr>
              <a:t> ik thuis.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286000"/>
            <a:ext cx="91440" cy="7315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395728"/>
            <a:ext cx="155448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3957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toch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2340864"/>
            <a:ext cx="5669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quand même, pourtant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2563978"/>
            <a:ext cx="56692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Het regent. </a:t>
            </a:r>
            <a:r>
              <a:rPr lang="en-US" sz="1600" b="1" i="1" dirty="0">
                <a:solidFill>
                  <a:srgbClr val="6E4A9E"/>
                </a:solidFill>
              </a:rPr>
              <a:t>Toch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gaan</a:t>
            </a:r>
            <a:r>
              <a:rPr lang="en-US" sz="1600" i="1" dirty="0">
                <a:solidFill>
                  <a:schemeClr val="tx1"/>
                </a:solidFill>
              </a:rPr>
              <a:t> we wandelen.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1089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108960"/>
            <a:ext cx="91440" cy="7315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218688"/>
            <a:ext cx="155448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2186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daarna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3163824"/>
            <a:ext cx="5669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ensuite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6938"/>
            <a:ext cx="56692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Eerst werk ik, </a:t>
            </a:r>
            <a:r>
              <a:rPr lang="en-US" sz="1600" b="1" i="1" dirty="0">
                <a:solidFill>
                  <a:srgbClr val="6E4A9E"/>
                </a:solidFill>
              </a:rPr>
              <a:t>daarna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ga</a:t>
            </a:r>
            <a:r>
              <a:rPr lang="en-US" sz="1600" i="1" dirty="0">
                <a:solidFill>
                  <a:schemeClr val="tx1"/>
                </a:solidFill>
              </a:rPr>
              <a:t> ik sporten.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3931920"/>
            <a:ext cx="91440" cy="7315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041648"/>
            <a:ext cx="155448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0416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anders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2468880" y="3986784"/>
            <a:ext cx="5669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sinon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468880" y="4209898"/>
            <a:ext cx="56692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Neem een jas mee, </a:t>
            </a:r>
            <a:r>
              <a:rPr lang="en-US" sz="1600" b="1" i="1" dirty="0">
                <a:solidFill>
                  <a:srgbClr val="6E4A9E"/>
                </a:solidFill>
              </a:rPr>
              <a:t>anders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heb</a:t>
            </a:r>
            <a:r>
              <a:rPr lang="en-US" sz="1600" i="1" dirty="0">
                <a:solidFill>
                  <a:schemeClr val="tx1"/>
                </a:solidFill>
              </a:rPr>
              <a:t> je het koud.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47548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" y="4754880"/>
            <a:ext cx="91440" cy="7315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4864608"/>
            <a:ext cx="155448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8646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bovendien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2468880" y="4809744"/>
            <a:ext cx="5669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 plus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468880" y="5032858"/>
            <a:ext cx="56692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Het is goedkoop. </a:t>
            </a:r>
            <a:r>
              <a:rPr lang="en-US" sz="1600" b="1" i="1" dirty="0">
                <a:solidFill>
                  <a:srgbClr val="6E4A9E"/>
                </a:solidFill>
              </a:rPr>
              <a:t>Bovendien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ligt</a:t>
            </a:r>
            <a:r>
              <a:rPr lang="en-US" sz="1600" i="1" dirty="0">
                <a:solidFill>
                  <a:schemeClr val="tx1"/>
                </a:solidFill>
              </a:rPr>
              <a:t> het centraal.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8458200" y="1463040"/>
            <a:ext cx="3182112" cy="4023360"/>
          </a:xfrm>
          <a:prstGeom prst="roundRect">
            <a:avLst>
              <a:gd name="adj" fmla="val 3448"/>
            </a:avLst>
          </a:prstGeom>
          <a:solidFill>
            <a:srgbClr val="F1ECF7"/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36" name="Image 0" descr="person cartwhee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00200"/>
            <a:ext cx="1005840" cy="100584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8595360" y="26974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 mot </a:t>
            </a:r>
            <a:r>
              <a:rPr lang="en-US" sz="1400" b="1" dirty="0">
                <a:solidFill>
                  <a:schemeClr val="tx1"/>
                </a:solidFill>
              </a:rPr>
              <a:t>saute</a:t>
            </a:r>
            <a:r>
              <a:rPr lang="en-US" sz="1400" dirty="0">
                <a:solidFill>
                  <a:schemeClr val="tx1"/>
                </a:solidFill>
              </a:rPr>
              <a:t> dans la case ① : le verbe reste ②, le sujet passe </a:t>
            </a:r>
            <a:r>
              <a:rPr lang="en-US" sz="1400" b="1" dirty="0">
                <a:solidFill>
                  <a:schemeClr val="tx1"/>
                </a:solidFill>
              </a:rPr>
              <a:t>derrière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Aussi : </a:t>
            </a:r>
            <a:r>
              <a:rPr lang="en-US" sz="1400" i="1" dirty="0">
                <a:solidFill>
                  <a:schemeClr val="tx1"/>
                </a:solidFill>
              </a:rPr>
              <a:t>dan, eerst, vervolgens, ten slotte, dus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tremplin peut aussi aller au milieu : </a:t>
            </a:r>
            <a:r>
              <a:rPr lang="en-US" sz="1600" i="1" dirty="0">
                <a:solidFill>
                  <a:schemeClr val="bg1"/>
                </a:solidFill>
              </a:rPr>
              <a:t>Ik blijf </a:t>
            </a:r>
            <a:r>
              <a:rPr lang="en-US" sz="1600" b="1" i="1" dirty="0">
                <a:solidFill>
                  <a:schemeClr val="bg1"/>
                </a:solidFill>
              </a:rPr>
              <a:t>daarom</a:t>
            </a:r>
            <a:r>
              <a:rPr lang="en-US" sz="1600" i="1" dirty="0">
                <a:solidFill>
                  <a:schemeClr val="bg1"/>
                </a:solidFill>
              </a:rPr>
              <a:t> thuis.</a:t>
            </a:r>
            <a:r>
              <a:rPr lang="en-US" sz="1600" dirty="0">
                <a:solidFill>
                  <a:schemeClr val="bg1"/>
                </a:solidFill>
              </a:rPr>
              <a:t> (après le verbe, sans inversion)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wagon : le verbe file au bout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WAGON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Ik blijf thuis,</a:t>
            </a:r>
            <a:r>
              <a:rPr lang="en-US" sz="1800" dirty="0">
                <a:solidFill>
                  <a:schemeClr val="tx2"/>
                </a:solidFill>
              </a:rPr>
              <a:t> …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verbe simple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0" y="1920240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920240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16045" y="1920240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16045" y="1920240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667098" y="1920240"/>
            <a:ext cx="86319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7098" y="1920240"/>
            <a:ext cx="86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ziek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03443" y="1920240"/>
            <a:ext cx="1039929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03443" y="1920240"/>
            <a:ext cx="1039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ben.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6517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avec un modal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43200" y="2651760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0" y="2651760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016045" y="2651760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16045" y="2651760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67098" y="2651760"/>
            <a:ext cx="10058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7098" y="2651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thuis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746090" y="2651760"/>
            <a:ext cx="1039929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46090" y="2651760"/>
            <a:ext cx="1039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moet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859170" y="2651760"/>
            <a:ext cx="1519221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9170" y="2651760"/>
            <a:ext cx="1519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werken.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 passé composé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743200" y="3383280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743200" y="3383280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4016045" y="3383280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16045" y="3383280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4667098" y="3383280"/>
            <a:ext cx="86319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67098" y="3383280"/>
            <a:ext cx="86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ziek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603443" y="3383280"/>
            <a:ext cx="880165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03443" y="3383280"/>
            <a:ext cx="880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ben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6556760" y="3383280"/>
            <a:ext cx="1678985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56760" y="3383280"/>
            <a:ext cx="16789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geweest.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14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verbe séparable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743200" y="4114800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743200" y="4114800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016045" y="4114800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016045" y="4114800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4667098" y="4114800"/>
            <a:ext cx="1576426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67098" y="4114800"/>
            <a:ext cx="15764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 dokter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316675" y="4114800"/>
            <a:ext cx="1359457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16675" y="4114800"/>
            <a:ext cx="1359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opbel.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846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double infinitif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743200" y="4846320"/>
            <a:ext cx="1199693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743200" y="4846320"/>
            <a:ext cx="11996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omdat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4016045" y="4846320"/>
            <a:ext cx="57790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016045" y="4846320"/>
            <a:ext cx="577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4667098" y="4846320"/>
            <a:ext cx="86319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67098" y="4846320"/>
            <a:ext cx="86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lang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5603443" y="4846320"/>
            <a:ext cx="880165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03443" y="4846320"/>
            <a:ext cx="880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heb</a:t>
            </a:r>
            <a:endParaRPr lang="en-US" sz="2000" dirty="0"/>
          </a:p>
        </p:txBody>
      </p:sp>
      <p:sp>
        <p:nvSpPr>
          <p:cNvPr id="55" name="Shape 52"/>
          <p:cNvSpPr/>
          <p:nvPr/>
        </p:nvSpPr>
        <p:spPr>
          <a:xfrm>
            <a:off x="6556760" y="4846320"/>
            <a:ext cx="1359457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56760" y="4846320"/>
            <a:ext cx="1359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moeten</a:t>
            </a:r>
            <a:endParaRPr lang="en-US" sz="2000" dirty="0"/>
          </a:p>
        </p:txBody>
      </p:sp>
      <p:sp>
        <p:nvSpPr>
          <p:cNvPr id="57" name="Shape 54"/>
          <p:cNvSpPr/>
          <p:nvPr/>
        </p:nvSpPr>
        <p:spPr>
          <a:xfrm>
            <a:off x="7989369" y="4846320"/>
            <a:ext cx="1519221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989369" y="4846320"/>
            <a:ext cx="1519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werken.</a:t>
            </a:r>
            <a:endParaRPr lang="en-US" sz="2000" dirty="0"/>
          </a:p>
        </p:txBody>
      </p:sp>
      <p:pic>
        <p:nvPicPr>
          <p:cNvPr id="59" name="Image 0" descr="railway c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417320"/>
            <a:ext cx="1188720" cy="1188720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Dans le wagon, </a:t>
            </a:r>
            <a:r>
              <a:rPr lang="en-US" sz="1600" b="1" dirty="0">
                <a:solidFill>
                  <a:schemeClr val="bg1"/>
                </a:solidFill>
              </a:rPr>
              <a:t>tous les verbes</a:t>
            </a:r>
            <a:r>
              <a:rPr lang="en-US" sz="1600" dirty="0">
                <a:solidFill>
                  <a:schemeClr val="bg1"/>
                </a:solidFill>
              </a:rPr>
              <a:t> vont au bout. Le verbe séparable se recolle : </a:t>
            </a:r>
            <a:r>
              <a:rPr lang="en-US" sz="1600" i="1" dirty="0">
                <a:solidFill>
                  <a:schemeClr val="bg1"/>
                </a:solidFill>
              </a:rPr>
              <a:t>opbel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carte des sens : un sens, trois syntaxes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LA CARTE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743200" y="1417320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7432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LE PONT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ordre normal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4173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LE TREMPLIN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inversion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1417320"/>
            <a:ext cx="3776472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141732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LE WAGON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verbe à la fin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665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79576" y="2011680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ajout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0" y="2011680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16352" y="2011680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en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46320" y="2011680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19472" y="2011680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4A9E"/>
                </a:solidFill>
              </a:rPr>
              <a:t>bovendien · ook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863840" y="2011680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936992" y="2011680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2642616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hourglass 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97480"/>
            <a:ext cx="448056" cy="4480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79576" y="2642616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temps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2743200" y="2642616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816352" y="2642616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846320" y="2642616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919472" y="2642616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4A9E"/>
                </a:solidFill>
              </a:rPr>
              <a:t>eerst · dan · daarna · toen (puis)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863840" y="2642616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936992" y="2642616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chemeClr val="accent1"/>
                </a:solidFill>
              </a:rPr>
              <a:t>toen · als · wanneer · terwijl · voordat · nadat · zodra · sinds · totdat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3273552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2" descr="red question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28416"/>
            <a:ext cx="448056" cy="4480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79576" y="3273552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cause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2743200" y="3273552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816352" y="3273552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want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846320" y="3273552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919472" y="3273552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863840" y="3273552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936992" y="3273552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omdat · doordat · aangezien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548640" y="3904488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3" descr="fast forward butt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959352"/>
            <a:ext cx="448056" cy="4480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179576" y="3904488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conséquence · but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2743200" y="3904488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2816352" y="3904488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dus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4846320" y="3904488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4919472" y="3904488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4A9E"/>
                </a:solidFill>
              </a:rPr>
              <a:t>daarom · dus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7863840" y="3904488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936992" y="3904488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zodat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548640" y="4535424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4" descr="balance 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590288"/>
            <a:ext cx="448056" cy="4480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179576" y="4535424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opposition</a:t>
            </a:r>
            <a:endParaRPr lang="en-US" sz="1300" dirty="0"/>
          </a:p>
        </p:txBody>
      </p:sp>
      <p:sp>
        <p:nvSpPr>
          <p:cNvPr id="50" name="Shape 42"/>
          <p:cNvSpPr/>
          <p:nvPr/>
        </p:nvSpPr>
        <p:spPr>
          <a:xfrm>
            <a:off x="2743200" y="4535424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816352" y="4535424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maar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4846320" y="4535424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4919472" y="4535424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4A9E"/>
                </a:solidFill>
              </a:rPr>
              <a:t>toch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7863840" y="4535424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7936992" y="4535424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hoewel · terwijl · ook al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548640" y="5166360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5" descr="l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221224"/>
            <a:ext cx="448056" cy="448056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179576" y="5166360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condition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2743200" y="5166360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2816352" y="5166360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61" name="Shape 52"/>
          <p:cNvSpPr/>
          <p:nvPr/>
        </p:nvSpPr>
        <p:spPr>
          <a:xfrm>
            <a:off x="4846320" y="5166360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4919472" y="5166360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4A9E"/>
                </a:solidFill>
              </a:rPr>
              <a:t>anders</a:t>
            </a:r>
            <a:endParaRPr lang="en-US" sz="1300" dirty="0"/>
          </a:p>
        </p:txBody>
      </p:sp>
      <p:sp>
        <p:nvSpPr>
          <p:cNvPr id="63" name="Shape 54"/>
          <p:cNvSpPr/>
          <p:nvPr/>
        </p:nvSpPr>
        <p:spPr>
          <a:xfrm>
            <a:off x="7863840" y="5166360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7936992" y="5166360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als · tenzij · indien</a:t>
            </a:r>
            <a:endParaRPr lang="en-US" sz="1300" dirty="0"/>
          </a:p>
        </p:txBody>
      </p:sp>
      <p:sp>
        <p:nvSpPr>
          <p:cNvPr id="65" name="Shape 56"/>
          <p:cNvSpPr/>
          <p:nvPr/>
        </p:nvSpPr>
        <p:spPr>
          <a:xfrm>
            <a:off x="548640" y="5797296"/>
            <a:ext cx="2103120" cy="557784"/>
          </a:xfrm>
          <a:prstGeom prst="roundRect">
            <a:avLst>
              <a:gd name="adj" fmla="val 1311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6" descr="left right 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852160"/>
            <a:ext cx="448056" cy="448056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1179576" y="5797296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comparaison</a:t>
            </a:r>
            <a:endParaRPr lang="en-US" sz="1300" dirty="0"/>
          </a:p>
        </p:txBody>
      </p:sp>
      <p:sp>
        <p:nvSpPr>
          <p:cNvPr id="68" name="Shape 58"/>
          <p:cNvSpPr/>
          <p:nvPr/>
        </p:nvSpPr>
        <p:spPr>
          <a:xfrm>
            <a:off x="2743200" y="5797296"/>
            <a:ext cx="2011680" cy="557784"/>
          </a:xfrm>
          <a:prstGeom prst="roundRect">
            <a:avLst>
              <a:gd name="adj" fmla="val 13115"/>
            </a:avLst>
          </a:prstGeom>
          <a:solidFill>
            <a:schemeClr val="accent2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9"/>
          <p:cNvSpPr txBox="1"/>
          <p:nvPr/>
        </p:nvSpPr>
        <p:spPr>
          <a:xfrm>
            <a:off x="2816352" y="5797296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70" name="Shape 60"/>
          <p:cNvSpPr/>
          <p:nvPr/>
        </p:nvSpPr>
        <p:spPr>
          <a:xfrm>
            <a:off x="4846320" y="5797296"/>
            <a:ext cx="2926080" cy="557784"/>
          </a:xfrm>
          <a:prstGeom prst="roundRect">
            <a:avLst>
              <a:gd name="adj" fmla="val 13115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4919472" y="5797296"/>
            <a:ext cx="2779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5"/>
                </a:solidFill>
              </a:rPr>
              <a:t>—</a:t>
            </a:r>
            <a:endParaRPr lang="en-US" sz="1300" dirty="0"/>
          </a:p>
        </p:txBody>
      </p:sp>
      <p:sp>
        <p:nvSpPr>
          <p:cNvPr id="72" name="Shape 62"/>
          <p:cNvSpPr/>
          <p:nvPr/>
        </p:nvSpPr>
        <p:spPr>
          <a:xfrm>
            <a:off x="7863840" y="5797296"/>
            <a:ext cx="3776472" cy="557784"/>
          </a:xfrm>
          <a:prstGeom prst="roundRect">
            <a:avLst>
              <a:gd name="adj" fmla="val 1311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7936992" y="5797296"/>
            <a:ext cx="3630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zoals · alsof · dan</a:t>
            </a:r>
            <a:endParaRPr lang="en-US" sz="1300" dirty="0"/>
          </a:p>
        </p:txBody>
      </p:sp>
      <p:pic>
        <p:nvPicPr>
          <p:cNvPr id="74" name="Image 7" descr="Camer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Quand ? toen, als ou wanneer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TEMPS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0515600" cy="914"/>
          </a:xfrm>
          <a:prstGeom prst="line">
            <a:avLst/>
          </a:prstGeom>
          <a:noFill/>
          <a:ln w="508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6720840" y="1965960"/>
            <a:ext cx="91440" cy="7315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NU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passé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présent · futur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0" y="21488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toen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749040" y="2203704"/>
            <a:ext cx="256032" cy="256032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203704"/>
            <a:ext cx="256032" cy="256032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203704"/>
            <a:ext cx="256032" cy="256032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2203704"/>
            <a:ext cx="256032" cy="256032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661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4A9E"/>
                </a:solidFill>
              </a:rPr>
              <a:t>als / wanneer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80960" y="22037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5360" y="22037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0" y="22037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als / wanneer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324612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0080" y="33101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TOEN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703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une seule fois : un moment, une période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406908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Toen ik in Gent woonde, fietste ik veel. · Toen ik thuiskwam, was iedereen weg.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355848" y="324612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3447288" y="33101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ALS / WANNEER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3447288" y="3703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chaque fois, dans le passé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493008" y="406908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Als het regende, bleven we binnen.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163056" y="324612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254496" y="33101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ALS / WANNEER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254496" y="3703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présent et futur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300216" y="406908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Als ik thuiskom, eet ik. · Wanneer je klaar bent, bel me.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970264" y="324612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061704" y="33101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WANNEER?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9061704" y="3703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la question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107424" y="406908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Wanneer kom je? · Weet je wanneer hij komt?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als</a:t>
            </a:r>
            <a:r>
              <a:rPr lang="en-US" sz="1600" dirty="0">
                <a:solidFill>
                  <a:schemeClr val="bg1"/>
                </a:solidFill>
              </a:rPr>
              <a:t> = « quand » (habitude, futur) </a:t>
            </a:r>
            <a:r>
              <a:rPr lang="en-US" sz="1600" b="1" dirty="0">
                <a:solidFill>
                  <a:schemeClr val="bg1"/>
                </a:solidFill>
              </a:rPr>
              <a:t>et</a:t>
            </a:r>
            <a:r>
              <a:rPr lang="en-US" sz="1600" dirty="0">
                <a:solidFill>
                  <a:schemeClr val="bg1"/>
                </a:solidFill>
              </a:rPr>
              <a:t> « si ». </a:t>
            </a:r>
            <a:r>
              <a:rPr lang="en-US" sz="1600" i="1" dirty="0">
                <a:solidFill>
                  <a:schemeClr val="bg1"/>
                </a:solidFill>
              </a:rPr>
              <a:t>wanneer</a:t>
            </a:r>
            <a:r>
              <a:rPr lang="en-US" sz="1600" dirty="0">
                <a:solidFill>
                  <a:schemeClr val="bg1"/>
                </a:solidFill>
              </a:rPr>
              <a:t> = « quand », jamais le « si » des questions (</a:t>
            </a:r>
            <a:r>
              <a:rPr lang="en-US" sz="1600" i="1" dirty="0">
                <a:solidFill>
                  <a:schemeClr val="bg1"/>
                </a:solidFill>
              </a:rPr>
              <a:t>of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Avant, pendant, après : voordat, terwijl, nadat…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TEMPS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72768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5727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voordat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848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avant que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1984248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340864" y="2057400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9232" y="1673352"/>
            <a:ext cx="512064" cy="219456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94760" y="1536192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bel je </a:t>
            </a:r>
            <a:r>
              <a:rPr lang="en-US" sz="1500" b="1" i="1" dirty="0">
                <a:solidFill>
                  <a:srgbClr val="D9700F"/>
                </a:solidFill>
              </a:rPr>
              <a:t>voordat</a:t>
            </a:r>
            <a:r>
              <a:rPr lang="en-US" sz="1500" i="1" dirty="0">
                <a:solidFill>
                  <a:schemeClr val="tx1"/>
                </a:solidFill>
              </a:rPr>
              <a:t> ik </a:t>
            </a:r>
            <a:r>
              <a:rPr lang="en-US" sz="1500" b="1" i="1" dirty="0">
                <a:solidFill>
                  <a:srgbClr val="B83227"/>
                </a:solidFill>
              </a:rPr>
              <a:t>vertrek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463040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45936" y="1572768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45936" y="15727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nadat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45936" y="20848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après que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54696" y="1984248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01000" y="1673352"/>
            <a:ext cx="512064" cy="219456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59368" y="2057400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54896" y="1536192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Nadat</a:t>
            </a:r>
            <a:r>
              <a:rPr lang="en-US" sz="1500" i="1" dirty="0">
                <a:solidFill>
                  <a:schemeClr val="tx1"/>
                </a:solidFill>
              </a:rPr>
              <a:t> ik gegeten </a:t>
            </a:r>
            <a:r>
              <a:rPr lang="en-US" sz="1500" b="1" i="1" dirty="0">
                <a:solidFill>
                  <a:srgbClr val="B83227"/>
                </a:solidFill>
              </a:rPr>
              <a:t>heb</a:t>
            </a:r>
            <a:r>
              <a:rPr lang="en-US" sz="1500" i="1" dirty="0">
                <a:solidFill>
                  <a:schemeClr val="tx1"/>
                </a:solidFill>
              </a:rPr>
              <a:t>, ga ik wandelen.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2779776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2889504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28895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terwijl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4015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pendant que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94560" y="3300984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340864" y="2990088"/>
            <a:ext cx="1170432" cy="219456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3374136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94760" y="2852928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Terwijl</a:t>
            </a:r>
            <a:r>
              <a:rPr lang="en-US" sz="1500" i="1" dirty="0">
                <a:solidFill>
                  <a:schemeClr val="tx1"/>
                </a:solidFill>
              </a:rPr>
              <a:t> ik </a:t>
            </a:r>
            <a:r>
              <a:rPr lang="en-US" sz="1500" b="1" i="1" dirty="0">
                <a:solidFill>
                  <a:srgbClr val="B83227"/>
                </a:solidFill>
              </a:rPr>
              <a:t>kook</a:t>
            </a:r>
            <a:r>
              <a:rPr lang="en-US" sz="1500" i="1" dirty="0">
                <a:solidFill>
                  <a:schemeClr val="tx1"/>
                </a:solidFill>
              </a:rPr>
              <a:t>, luister ik naar de radio.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208776" y="2779776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45936" y="2889504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45936" y="28895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zodra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345936" y="34015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dès que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54696" y="3300984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001000" y="2990088"/>
            <a:ext cx="438912" cy="219456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69173" y="3374136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454896" y="2852928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Zodra</a:t>
            </a:r>
            <a:r>
              <a:rPr lang="en-US" sz="1500" i="1" dirty="0">
                <a:solidFill>
                  <a:schemeClr val="tx1"/>
                </a:solidFill>
              </a:rPr>
              <a:t> ik thuis </a:t>
            </a:r>
            <a:r>
              <a:rPr lang="en-US" sz="1500" b="1" i="1" dirty="0">
                <a:solidFill>
                  <a:srgbClr val="B83227"/>
                </a:solidFill>
              </a:rPr>
              <a:t>ben</a:t>
            </a:r>
            <a:r>
              <a:rPr lang="en-US" sz="1500" i="1" dirty="0">
                <a:solidFill>
                  <a:schemeClr val="tx1"/>
                </a:solidFill>
              </a:rPr>
              <a:t>, stuur ik je een berichtje.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548640" y="4096512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800" y="4206240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4206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totdat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47183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jusqu’à ce que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194560" y="4617720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2267712" y="4690872"/>
            <a:ext cx="877824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160166" y="4306824"/>
            <a:ext cx="87782" cy="219456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94760" y="4169664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wacht </a:t>
            </a:r>
            <a:r>
              <a:rPr lang="en-US" sz="1500" b="1" i="1" dirty="0">
                <a:solidFill>
                  <a:srgbClr val="D9700F"/>
                </a:solidFill>
              </a:rPr>
              <a:t>totdat</a:t>
            </a:r>
            <a:r>
              <a:rPr lang="en-US" sz="1500" i="1" dirty="0">
                <a:solidFill>
                  <a:schemeClr val="tx1"/>
                </a:solidFill>
              </a:rPr>
              <a:t> je </a:t>
            </a:r>
            <a:r>
              <a:rPr lang="en-US" sz="1500" b="1" i="1" dirty="0">
                <a:solidFill>
                  <a:srgbClr val="B83227"/>
                </a:solidFill>
              </a:rPr>
              <a:t>komt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6208776" y="4096512"/>
            <a:ext cx="54315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345936" y="4206240"/>
            <a:ext cx="1325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45936" y="4206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sinds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6345936" y="47183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depuis que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854696" y="4617720"/>
            <a:ext cx="1463040" cy="914"/>
          </a:xfrm>
          <a:prstGeom prst="line">
            <a:avLst/>
          </a:prstGeom>
          <a:noFill/>
          <a:ln w="1905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001000" y="4306824"/>
            <a:ext cx="87782" cy="219456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118043" y="4690872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454896" y="4169664"/>
            <a:ext cx="20939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Sinds</a:t>
            </a:r>
            <a:r>
              <a:rPr lang="en-US" sz="1500" i="1" dirty="0">
                <a:solidFill>
                  <a:schemeClr val="tx1"/>
                </a:solidFill>
              </a:rPr>
              <a:t> ik in Gent </a:t>
            </a:r>
            <a:r>
              <a:rPr lang="en-US" sz="1500" b="1" i="1" dirty="0">
                <a:solidFill>
                  <a:srgbClr val="B83227"/>
                </a:solidFill>
              </a:rPr>
              <a:t>woon</a:t>
            </a:r>
            <a:r>
              <a:rPr lang="en-US" sz="1500" i="1" dirty="0">
                <a:solidFill>
                  <a:schemeClr val="tx1"/>
                </a:solidFill>
              </a:rPr>
              <a:t>, fiets ik elke dag.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548640" y="5468112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68680" y="5413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action principale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926080" y="5468112"/>
            <a:ext cx="274320" cy="18288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246120" y="5413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action du wagon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296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Wagon en tête → </a:t>
            </a:r>
            <a:r>
              <a:rPr lang="en-US" sz="1500" b="1" dirty="0">
                <a:solidFill>
                  <a:schemeClr val="bg1"/>
                </a:solidFill>
              </a:rPr>
              <a:t>verbe, verbe</a:t>
            </a:r>
            <a:r>
              <a:rPr lang="en-US" sz="1500" dirty="0">
                <a:solidFill>
                  <a:schemeClr val="bg1"/>
                </a:solidFill>
              </a:rPr>
              <a:t> : </a:t>
            </a:r>
            <a:r>
              <a:rPr lang="en-US" sz="1500" i="1" dirty="0">
                <a:solidFill>
                  <a:schemeClr val="bg1"/>
                </a:solidFill>
              </a:rPr>
              <a:t>Nadat ik gegeten </a:t>
            </a:r>
            <a:r>
              <a:rPr lang="en-US" sz="1500" b="1" i="1" dirty="0">
                <a:solidFill>
                  <a:schemeClr val="bg1"/>
                </a:solidFill>
              </a:rPr>
              <a:t>heb</a:t>
            </a:r>
            <a:r>
              <a:rPr lang="en-US" sz="1500" i="1" dirty="0">
                <a:solidFill>
                  <a:schemeClr val="bg1"/>
                </a:solidFill>
              </a:rPr>
              <a:t>, </a:t>
            </a:r>
            <a:r>
              <a:rPr lang="en-US" sz="1500" b="1" i="1" dirty="0">
                <a:solidFill>
                  <a:schemeClr val="bg1"/>
                </a:solidFill>
              </a:rPr>
              <a:t>ga</a:t>
            </a:r>
            <a:r>
              <a:rPr lang="en-US" sz="1500" i="1" dirty="0">
                <a:solidFill>
                  <a:schemeClr val="bg1"/>
                </a:solidFill>
              </a:rPr>
              <a:t> ik wandelen.</a:t>
            </a:r>
            <a:r>
              <a:rPr lang="en-US" sz="1500" dirty="0">
                <a:solidFill>
                  <a:schemeClr val="bg1"/>
                </a:solidFill>
              </a:rPr>
              <a:t> (diapo 16)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Cause et conséquence : une idée, six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05256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CAUSE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" name="Image 0" descr="cloud with 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36192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regent.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297180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➜</a:t>
            </a:r>
            <a:endParaRPr lang="en-US" sz="3400" dirty="0"/>
          </a:p>
        </p:txBody>
      </p:sp>
      <p:sp>
        <p:nvSpPr>
          <p:cNvPr id="9" name="Shape 5"/>
          <p:cNvSpPr/>
          <p:nvPr/>
        </p:nvSpPr>
        <p:spPr>
          <a:xfrm>
            <a:off x="3657600" y="14630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1ECF7"/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0" name="Image 1" descr="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36192"/>
            <a:ext cx="914400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5760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neem de bus.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cause → conséquence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309360" y="1463040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09360" y="1463040"/>
            <a:ext cx="1143000" cy="585216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309360" y="146304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want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543800" y="146304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neem de bus, </a:t>
            </a:r>
            <a:r>
              <a:rPr lang="en-US" sz="1400" b="1" i="1" dirty="0">
                <a:solidFill>
                  <a:srgbClr val="2A6FB0"/>
                </a:solidFill>
              </a:rPr>
              <a:t>want</a:t>
            </a:r>
            <a:r>
              <a:rPr lang="en-US" sz="1400" i="1" dirty="0">
                <a:solidFill>
                  <a:schemeClr val="tx1"/>
                </a:solidFill>
              </a:rPr>
              <a:t> het </a:t>
            </a:r>
            <a:r>
              <a:rPr lang="en-US" sz="1400" b="1" i="1" dirty="0">
                <a:solidFill>
                  <a:srgbClr val="B83227"/>
                </a:solidFill>
              </a:rPr>
              <a:t>regent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309360" y="2121408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9360" y="2121408"/>
            <a:ext cx="114300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09360" y="212140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omdat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543800" y="212140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neem de bus, </a:t>
            </a:r>
            <a:r>
              <a:rPr lang="en-US" sz="1400" b="1" i="1" dirty="0">
                <a:solidFill>
                  <a:srgbClr val="D9700F"/>
                </a:solidFill>
              </a:rPr>
              <a:t>omdat</a:t>
            </a:r>
            <a:r>
              <a:rPr lang="en-US" sz="1400" i="1" dirty="0">
                <a:solidFill>
                  <a:schemeClr val="tx1"/>
                </a:solidFill>
              </a:rPr>
              <a:t> het </a:t>
            </a:r>
            <a:r>
              <a:rPr lang="en-US" sz="1400" b="1" i="1" dirty="0">
                <a:solidFill>
                  <a:srgbClr val="B83227"/>
                </a:solidFill>
              </a:rPr>
              <a:t>regent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309360" y="2779776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2779776"/>
            <a:ext cx="1143000" cy="585216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09360" y="277977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dus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543800" y="277977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Het regent, </a:t>
            </a:r>
            <a:r>
              <a:rPr lang="en-US" sz="1400" b="1" i="1" dirty="0">
                <a:solidFill>
                  <a:srgbClr val="2A6FB0"/>
                </a:solidFill>
              </a:rPr>
              <a:t>dus</a:t>
            </a:r>
            <a:r>
              <a:rPr lang="en-US" sz="1400" i="1" dirty="0">
                <a:solidFill>
                  <a:schemeClr val="tx1"/>
                </a:solidFill>
              </a:rPr>
              <a:t> ik </a:t>
            </a:r>
            <a:r>
              <a:rPr lang="en-US" sz="1400" b="1" i="1" dirty="0">
                <a:solidFill>
                  <a:srgbClr val="B83227"/>
                </a:solidFill>
              </a:rPr>
              <a:t>neem</a:t>
            </a:r>
            <a:r>
              <a:rPr lang="en-US" sz="1400" i="1" dirty="0">
                <a:solidFill>
                  <a:schemeClr val="tx1"/>
                </a:solidFill>
              </a:rPr>
              <a:t> de bus.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309360" y="3438144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09360" y="3438144"/>
            <a:ext cx="1143000" cy="585216"/>
          </a:xfrm>
          <a:prstGeom prst="roundRect">
            <a:avLst>
              <a:gd name="adj" fmla="val 1562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09360" y="343814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daarom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543800" y="343814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Het regent. </a:t>
            </a:r>
            <a:r>
              <a:rPr lang="en-US" sz="1400" b="1" i="1" dirty="0">
                <a:solidFill>
                  <a:srgbClr val="6E4A9E"/>
                </a:solidFill>
              </a:rPr>
              <a:t>Daarom</a:t>
            </a:r>
            <a:r>
              <a:rPr lang="en-US" sz="1400" i="1" dirty="0">
                <a:solidFill>
                  <a:schemeClr val="tx1"/>
                </a:solidFill>
              </a:rPr>
              <a:t> </a:t>
            </a:r>
            <a:r>
              <a:rPr lang="en-US" sz="1400" b="1" i="1" dirty="0">
                <a:solidFill>
                  <a:srgbClr val="B83227"/>
                </a:solidFill>
              </a:rPr>
              <a:t>neem</a:t>
            </a:r>
            <a:r>
              <a:rPr lang="en-US" sz="1400" i="1" dirty="0">
                <a:solidFill>
                  <a:schemeClr val="tx1"/>
                </a:solidFill>
              </a:rPr>
              <a:t> ik de bus.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309360" y="4096512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309360" y="4096512"/>
            <a:ext cx="114300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09360" y="40965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zodat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7543800" y="409651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Het regent, </a:t>
            </a:r>
            <a:r>
              <a:rPr lang="en-US" sz="1400" b="1" i="1" dirty="0">
                <a:solidFill>
                  <a:srgbClr val="D9700F"/>
                </a:solidFill>
              </a:rPr>
              <a:t>zodat</a:t>
            </a:r>
            <a:r>
              <a:rPr lang="en-US" sz="1400" i="1" dirty="0">
                <a:solidFill>
                  <a:schemeClr val="tx1"/>
                </a:solidFill>
              </a:rPr>
              <a:t> ik de bus </a:t>
            </a:r>
            <a:r>
              <a:rPr lang="en-US" sz="1400" b="1" i="1" dirty="0">
                <a:solidFill>
                  <a:srgbClr val="B83227"/>
                </a:solidFill>
              </a:rPr>
              <a:t>neem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6309360" y="4754880"/>
            <a:ext cx="53309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09360" y="4754880"/>
            <a:ext cx="114300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309360" y="475488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Omdat …,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543800" y="475488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D9700F"/>
                </a:solidFill>
              </a:rPr>
              <a:t>Omdat</a:t>
            </a:r>
            <a:r>
              <a:rPr lang="en-US" sz="1400" i="1" dirty="0">
                <a:solidFill>
                  <a:schemeClr val="tx1"/>
                </a:solidFill>
              </a:rPr>
              <a:t> het </a:t>
            </a:r>
            <a:r>
              <a:rPr lang="en-US" sz="1400" b="1" i="1" dirty="0">
                <a:solidFill>
                  <a:srgbClr val="B83227"/>
                </a:solidFill>
              </a:rPr>
              <a:t>regent</a:t>
            </a:r>
            <a:r>
              <a:rPr lang="en-US" sz="1400" i="1" dirty="0">
                <a:solidFill>
                  <a:schemeClr val="tx1"/>
                </a:solidFill>
              </a:rPr>
              <a:t>, </a:t>
            </a:r>
            <a:r>
              <a:rPr lang="en-US" sz="1400" b="1" i="1" dirty="0">
                <a:solidFill>
                  <a:srgbClr val="B83227"/>
                </a:solidFill>
              </a:rPr>
              <a:t>neem</a:t>
            </a:r>
            <a:r>
              <a:rPr lang="en-US" sz="1400" i="1" dirty="0">
                <a:solidFill>
                  <a:schemeClr val="tx1"/>
                </a:solidFill>
              </a:rPr>
              <a:t> ik de bus.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548640" y="34290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want</a:t>
            </a:r>
            <a:r>
              <a:rPr lang="en-US" sz="1500" dirty="0">
                <a:solidFill>
                  <a:schemeClr val="tx1"/>
                </a:solidFill>
              </a:rPr>
              <a:t> et </a:t>
            </a:r>
            <a:r>
              <a:rPr lang="en-US" sz="1500" i="1" dirty="0">
                <a:solidFill>
                  <a:schemeClr val="tx1"/>
                </a:solidFill>
              </a:rPr>
              <a:t>omdat</a:t>
            </a:r>
            <a:r>
              <a:rPr lang="en-US" sz="1500" dirty="0">
                <a:solidFill>
                  <a:schemeClr val="tx1"/>
                </a:solidFill>
              </a:rPr>
              <a:t> = même sens (car, parce que), </a:t>
            </a:r>
            <a:r>
              <a:rPr lang="en-US" sz="1500" b="1" dirty="0">
                <a:solidFill>
                  <a:schemeClr val="tx1"/>
                </a:solidFill>
              </a:rPr>
              <a:t>ordre différent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zodat</a:t>
            </a:r>
            <a:r>
              <a:rPr lang="en-US" sz="1500" dirty="0">
                <a:solidFill>
                  <a:schemeClr val="tx1"/>
                </a:solidFill>
              </a:rPr>
              <a:t> = si bien que, pour que (le résultat, le but).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doordat</a:t>
            </a:r>
            <a:r>
              <a:rPr lang="en-US" sz="1500" dirty="0">
                <a:solidFill>
                  <a:schemeClr val="tx1"/>
                </a:solidFill>
              </a:rPr>
              <a:t> (B2) = du fait que, une cause non voulue : </a:t>
            </a:r>
            <a:r>
              <a:rPr lang="en-US" sz="1500" i="1" dirty="0">
                <a:solidFill>
                  <a:schemeClr val="tx1"/>
                </a:solidFill>
              </a:rPr>
              <a:t>Doordat het regende, was er file.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Réponse à </a:t>
            </a:r>
            <a:r>
              <a:rPr lang="en-US" sz="1600" i="1" dirty="0">
                <a:solidFill>
                  <a:schemeClr val="bg1"/>
                </a:solidFill>
              </a:rPr>
              <a:t>Waarom?</a:t>
            </a:r>
            <a:r>
              <a:rPr lang="en-US" sz="1600" dirty="0">
                <a:solidFill>
                  <a:schemeClr val="bg1"/>
                </a:solidFill>
              </a:rPr>
              <a:t> : </a:t>
            </a:r>
            <a:r>
              <a:rPr lang="en-US" sz="1600" b="1" i="1" dirty="0">
                <a:solidFill>
                  <a:schemeClr val="bg1"/>
                </a:solidFill>
              </a:rPr>
              <a:t>Omdat</a:t>
            </a:r>
            <a:r>
              <a:rPr lang="en-US" sz="1600" i="1" dirty="0">
                <a:solidFill>
                  <a:schemeClr val="bg1"/>
                </a:solidFill>
              </a:rPr>
              <a:t> het regent.</a:t>
            </a:r>
            <a:r>
              <a:rPr lang="en-US" sz="1600" dirty="0">
                <a:solidFill>
                  <a:schemeClr val="bg1"/>
                </a:solidFill>
              </a:rPr>
              <a:t> (jamais </a:t>
            </a:r>
            <a:r>
              <a:rPr lang="en-US" sz="1600" i="1" dirty="0">
                <a:solidFill>
                  <a:schemeClr val="bg1"/>
                </a:solidFill>
              </a:rPr>
              <a:t>Want…</a:t>
            </a:r>
            <a:r>
              <a:rPr lang="en-US" sz="1600" dirty="0">
                <a:solidFill>
                  <a:schemeClr val="bg1"/>
                </a:solidFill>
              </a:rPr>
              <a:t> seul en réponse)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L’opposition : maar, toch, hoewel…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OPPOSITION</a:t>
            </a:r>
            <a:endParaRPr lang="en-US" sz="1200" dirty="0"/>
          </a:p>
        </p:txBody>
      </p:sp>
      <p:pic>
        <p:nvPicPr>
          <p:cNvPr id="5" name="Image 0" descr="balance 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7830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Het regent… we gaan wandelen!</a:t>
            </a:r>
            <a:r>
              <a:rPr lang="en-US" sz="1800" dirty="0">
                <a:solidFill>
                  <a:schemeClr val="tx2"/>
                </a:solidFill>
              </a:rPr>
              <a:t> — trois syntaxes, un même sens</a:t>
            </a:r>
            <a:endParaRPr lang="en-US" sz="1800" dirty="0"/>
          </a:p>
        </p:txBody>
      </p:sp>
      <p:pic>
        <p:nvPicPr>
          <p:cNvPr id="7" name="Image 1" descr="bridge at n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594360" cy="5943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2606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maar</a:t>
            </a:r>
            <a:r>
              <a:rPr lang="en-US" sz="1400" dirty="0">
                <a:solidFill>
                  <a:schemeClr val="accent2"/>
                </a:solidFill>
              </a:rPr>
              <a:t>  mais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3657600" y="2606040"/>
            <a:ext cx="1861718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657600" y="2606040"/>
            <a:ext cx="18617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 regent,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592470" y="2606040"/>
            <a:ext cx="1039929" cy="603504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592470" y="2606040"/>
            <a:ext cx="10399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maar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705551" y="2606040"/>
            <a:ext cx="577901" cy="603504"/>
          </a:xfrm>
          <a:prstGeom prst="roundRect">
            <a:avLst>
              <a:gd name="adj" fmla="val 158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05551" y="2606040"/>
            <a:ext cx="5779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7356604" y="2606040"/>
            <a:ext cx="1039929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56604" y="2606040"/>
            <a:ext cx="10399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gaan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8469685" y="2606040"/>
            <a:ext cx="1838749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469685" y="2606040"/>
            <a:ext cx="1838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wandelen.</a:t>
            </a:r>
            <a:endParaRPr lang="en-US" sz="2000" dirty="0"/>
          </a:p>
        </p:txBody>
      </p:sp>
      <p:pic>
        <p:nvPicPr>
          <p:cNvPr id="19" name="Image 2" descr="person cartwhee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34747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4A9E"/>
                </a:solidFill>
              </a:rPr>
              <a:t>toch</a:t>
            </a:r>
            <a:r>
              <a:rPr lang="en-US" sz="1400" dirty="0">
                <a:solidFill>
                  <a:srgbClr val="6E4A9E"/>
                </a:solidFill>
              </a:rPr>
              <a:t>  pourtant, quand même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657600" y="3474720"/>
            <a:ext cx="1861718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657600" y="3474720"/>
            <a:ext cx="18617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 regent.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5592470" y="3474720"/>
            <a:ext cx="1039929" cy="603504"/>
          </a:xfrm>
          <a:prstGeom prst="roundRect">
            <a:avLst>
              <a:gd name="adj" fmla="val 15152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592470" y="3474720"/>
            <a:ext cx="10399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Toch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6705551" y="3474720"/>
            <a:ext cx="1039929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705551" y="3474720"/>
            <a:ext cx="10399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gaan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818632" y="3474720"/>
            <a:ext cx="577901" cy="603504"/>
          </a:xfrm>
          <a:prstGeom prst="roundRect">
            <a:avLst>
              <a:gd name="adj" fmla="val 158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818632" y="3474720"/>
            <a:ext cx="5779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8469685" y="3474720"/>
            <a:ext cx="1838749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69685" y="3474720"/>
            <a:ext cx="1838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wandelen.</a:t>
            </a:r>
            <a:endParaRPr lang="en-US" sz="2000" dirty="0"/>
          </a:p>
        </p:txBody>
      </p:sp>
      <p:pic>
        <p:nvPicPr>
          <p:cNvPr id="31" name="Image 3" descr="railway c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43434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hoewel</a:t>
            </a:r>
            <a:r>
              <a:rPr lang="en-US" sz="1400" dirty="0">
                <a:solidFill>
                  <a:schemeClr val="accent1"/>
                </a:solidFill>
              </a:rPr>
              <a:t>  bien que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3657600" y="4343400"/>
            <a:ext cx="1359457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657600" y="4343400"/>
            <a:ext cx="135945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Hoewel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5090209" y="4343400"/>
            <a:ext cx="720547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90209" y="4343400"/>
            <a:ext cx="720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</a:t>
            </a:r>
            <a:endParaRPr lang="en-US" sz="2000" dirty="0"/>
          </a:p>
        </p:txBody>
      </p:sp>
      <p:sp>
        <p:nvSpPr>
          <p:cNvPr id="37" name="Shape 30"/>
          <p:cNvSpPr/>
          <p:nvPr/>
        </p:nvSpPr>
        <p:spPr>
          <a:xfrm>
            <a:off x="5883908" y="4343400"/>
            <a:ext cx="1359457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883908" y="4343400"/>
            <a:ext cx="135945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regent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7316517" y="4343400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,</a:t>
            </a:r>
            <a:endParaRPr lang="en-US" sz="2000" dirty="0"/>
          </a:p>
        </p:txBody>
      </p:sp>
      <p:sp>
        <p:nvSpPr>
          <p:cNvPr id="40" name="Shape 33"/>
          <p:cNvSpPr/>
          <p:nvPr/>
        </p:nvSpPr>
        <p:spPr>
          <a:xfrm>
            <a:off x="7645701" y="4343400"/>
            <a:ext cx="1039929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645701" y="4343400"/>
            <a:ext cx="10399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gaan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8758782" y="4343400"/>
            <a:ext cx="577901" cy="603504"/>
          </a:xfrm>
          <a:prstGeom prst="roundRect">
            <a:avLst>
              <a:gd name="adj" fmla="val 158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758782" y="4343400"/>
            <a:ext cx="5779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</a:t>
            </a:r>
            <a:endParaRPr lang="en-US" sz="2000" dirty="0"/>
          </a:p>
        </p:txBody>
      </p:sp>
      <p:sp>
        <p:nvSpPr>
          <p:cNvPr id="44" name="Shape 37"/>
          <p:cNvSpPr/>
          <p:nvPr/>
        </p:nvSpPr>
        <p:spPr>
          <a:xfrm>
            <a:off x="9409834" y="4343400"/>
            <a:ext cx="1838749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409834" y="4343400"/>
            <a:ext cx="1838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wandelen.</a:t>
            </a:r>
            <a:endParaRPr lang="en-US" sz="2000" dirty="0"/>
          </a:p>
        </p:txBody>
      </p:sp>
      <p:sp>
        <p:nvSpPr>
          <p:cNvPr id="46" name="Shape 39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77240" y="5230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terwijl</a:t>
            </a:r>
            <a:r>
              <a:rPr lang="en-US" sz="1400" dirty="0">
                <a:solidFill>
                  <a:schemeClr val="tx1"/>
                </a:solidFill>
              </a:rPr>
              <a:t> = alors que (opposition) : </a:t>
            </a:r>
            <a:r>
              <a:rPr lang="en-US" sz="1400" i="1" dirty="0">
                <a:solidFill>
                  <a:schemeClr val="tx1"/>
                </a:solidFill>
              </a:rPr>
              <a:t>Ik werk hard, </a:t>
            </a:r>
            <a:r>
              <a:rPr lang="en-US" sz="1400" b="1" i="1" dirty="0">
                <a:solidFill>
                  <a:schemeClr val="tx1"/>
                </a:solidFill>
              </a:rPr>
              <a:t>terwijl</a:t>
            </a:r>
            <a:r>
              <a:rPr lang="en-US" sz="1400" i="1" dirty="0">
                <a:solidFill>
                  <a:schemeClr val="tx1"/>
                </a:solidFill>
              </a:rPr>
              <a:t> jij niets doet!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ook al</a:t>
            </a:r>
            <a:r>
              <a:rPr lang="en-US" sz="1400" dirty="0">
                <a:solidFill>
                  <a:schemeClr val="tx1"/>
                </a:solidFill>
              </a:rPr>
              <a:t> (B2) = même si : </a:t>
            </a:r>
            <a:r>
              <a:rPr lang="en-US" sz="1400" b="1" i="1" dirty="0">
                <a:solidFill>
                  <a:schemeClr val="tx1"/>
                </a:solidFill>
              </a:rPr>
              <a:t>Ook al regent</a:t>
            </a:r>
            <a:r>
              <a:rPr lang="en-US" sz="1400" i="1" dirty="0">
                <a:solidFill>
                  <a:schemeClr val="tx1"/>
                </a:solidFill>
              </a:rPr>
              <a:t> het, we gaan wandelen.</a:t>
            </a:r>
            <a:r>
              <a:rPr lang="en-US" sz="1400" dirty="0">
                <a:solidFill>
                  <a:schemeClr val="tx1"/>
                </a:solidFill>
              </a:rPr>
              <a:t> (inversion dans la subordonnée, ordre normal après)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condition et le piège « si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CONDITION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9144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59562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956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1517904"/>
            <a:ext cx="420624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si (condition)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758391"/>
            <a:ext cx="420624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Als</a:t>
            </a:r>
            <a:r>
              <a:rPr lang="en-US" sz="1500" i="1" dirty="0">
                <a:solidFill>
                  <a:schemeClr val="tx1"/>
                </a:solidFill>
              </a:rPr>
              <a:t> het mooi weer </a:t>
            </a:r>
            <a:r>
              <a:rPr lang="en-US" sz="1500" b="1" i="1" dirty="0">
                <a:solidFill>
                  <a:srgbClr val="B83227"/>
                </a:solidFill>
              </a:rPr>
              <a:t>is</a:t>
            </a:r>
            <a:r>
              <a:rPr lang="en-US" sz="1500" i="1" dirty="0">
                <a:solidFill>
                  <a:schemeClr val="tx1"/>
                </a:solidFill>
              </a:rPr>
              <a:t>, gaan we naar zee.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331720"/>
            <a:ext cx="9144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46430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43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tenzij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2386584"/>
            <a:ext cx="420624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à moins que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2627071"/>
            <a:ext cx="420624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We gaan naar zee, </a:t>
            </a:r>
            <a:r>
              <a:rPr lang="en-US" sz="1500" b="1" i="1" dirty="0">
                <a:solidFill>
                  <a:srgbClr val="D9700F"/>
                </a:solidFill>
              </a:rPr>
              <a:t>tenzij</a:t>
            </a:r>
            <a:r>
              <a:rPr lang="en-US" sz="1500" i="1" dirty="0">
                <a:solidFill>
                  <a:schemeClr val="tx1"/>
                </a:solidFill>
              </a:rPr>
              <a:t> het </a:t>
            </a:r>
            <a:r>
              <a:rPr lang="en-US" sz="1500" b="1" i="1" dirty="0">
                <a:solidFill>
                  <a:srgbClr val="B83227"/>
                </a:solidFill>
              </a:rPr>
              <a:t>regent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200400"/>
            <a:ext cx="9144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332988"/>
            <a:ext cx="1188720" cy="512064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3329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indien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3255264"/>
            <a:ext cx="420624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si (formel)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3495751"/>
            <a:ext cx="420624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9700F"/>
                </a:solidFill>
              </a:rPr>
              <a:t>Indien</a:t>
            </a:r>
            <a:r>
              <a:rPr lang="en-US" sz="1500" i="1" dirty="0">
                <a:solidFill>
                  <a:schemeClr val="tx1"/>
                </a:solidFill>
              </a:rPr>
              <a:t> u vragen </a:t>
            </a:r>
            <a:r>
              <a:rPr lang="en-US" sz="1500" b="1" i="1" dirty="0">
                <a:solidFill>
                  <a:srgbClr val="B83227"/>
                </a:solidFill>
              </a:rPr>
              <a:t>heeft</a:t>
            </a:r>
            <a:r>
              <a:rPr lang="en-US" sz="1500" i="1" dirty="0">
                <a:solidFill>
                  <a:schemeClr val="tx1"/>
                </a:solidFill>
              </a:rPr>
              <a:t>, kunt u ons bellen.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069080"/>
            <a:ext cx="91440" cy="77724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201668"/>
            <a:ext cx="1188720" cy="512064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2016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anders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2103120" y="4123944"/>
            <a:ext cx="420624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sinon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4364431"/>
            <a:ext cx="420624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Neem een jas, </a:t>
            </a:r>
            <a:r>
              <a:rPr lang="en-US" sz="1500" b="1" i="1" dirty="0">
                <a:solidFill>
                  <a:srgbClr val="6E4A9E"/>
                </a:solidFill>
              </a:rPr>
              <a:t>anders</a:t>
            </a:r>
            <a:r>
              <a:rPr lang="en-US" sz="1500" i="1" dirty="0">
                <a:solidFill>
                  <a:schemeClr val="tx1"/>
                </a:solidFill>
              </a:rPr>
              <a:t> </a:t>
            </a:r>
            <a:r>
              <a:rPr lang="en-US" sz="1500" b="1" i="1" dirty="0">
                <a:solidFill>
                  <a:srgbClr val="B83227"/>
                </a:solidFill>
              </a:rPr>
              <a:t>word</a:t>
            </a:r>
            <a:r>
              <a:rPr lang="en-US" sz="1500" i="1" dirty="0">
                <a:solidFill>
                  <a:schemeClr val="tx1"/>
                </a:solidFill>
              </a:rPr>
              <a:t> je ziek.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629400" y="1463040"/>
            <a:ext cx="5010912" cy="3383280"/>
          </a:xfrm>
          <a:prstGeom prst="roundRect">
            <a:avLst>
              <a:gd name="adj" fmla="val 3243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1228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LE PIÈGE « SI »</a:t>
            </a:r>
            <a:endParaRPr lang="en-US" sz="1700" dirty="0"/>
          </a:p>
        </p:txBody>
      </p:sp>
      <p:pic>
        <p:nvPicPr>
          <p:cNvPr id="31" name="Image 0" descr="red questi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1554480"/>
            <a:ext cx="777240" cy="77724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812280" y="21031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si = condition → als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Als</a:t>
            </a:r>
            <a:r>
              <a:rPr lang="en-US" sz="1600" i="1" dirty="0">
                <a:solidFill>
                  <a:schemeClr val="tx1"/>
                </a:solidFill>
              </a:rPr>
              <a:t> je tijd hebt, kom dan.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si = question → of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Ik weet niet </a:t>
            </a:r>
            <a:r>
              <a:rPr lang="en-US" sz="1600" b="1" i="1" dirty="0">
                <a:solidFill>
                  <a:schemeClr val="tx1"/>
                </a:solidFill>
              </a:rPr>
              <a:t>of</a:t>
            </a:r>
            <a:r>
              <a:rPr lang="en-US" sz="1600" i="1" dirty="0">
                <a:solidFill>
                  <a:schemeClr val="tx1"/>
                </a:solidFill>
              </a:rPr>
              <a:t> hij tijd heeft.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Ze vraagt </a:t>
            </a:r>
            <a:r>
              <a:rPr lang="en-US" sz="1600" b="1" i="1" dirty="0">
                <a:solidFill>
                  <a:schemeClr val="tx1"/>
                </a:solidFill>
              </a:rPr>
              <a:t>of</a:t>
            </a:r>
            <a:r>
              <a:rPr lang="en-US" sz="1600" i="1" dirty="0">
                <a:solidFill>
                  <a:schemeClr val="tx1"/>
                </a:solidFill>
              </a:rPr>
              <a:t> je komt.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6629400" y="493776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: peut-on dire « est-ce que » ? Oui → </a:t>
            </a:r>
            <a:r>
              <a:rPr lang="en-US" sz="1400" i="1" dirty="0">
                <a:solidFill>
                  <a:schemeClr val="tx2"/>
                </a:solidFill>
              </a:rPr>
              <a:t>of</a:t>
            </a:r>
            <a:r>
              <a:rPr lang="en-US" sz="1400" dirty="0">
                <a:solidFill>
                  <a:schemeClr val="tx2"/>
                </a:solidFill>
              </a:rPr>
              <a:t>. Non → </a:t>
            </a:r>
            <a:r>
              <a:rPr lang="en-US" sz="1400" i="1" dirty="0">
                <a:solidFill>
                  <a:schemeClr val="tx2"/>
                </a:solidFill>
              </a:rPr>
              <a:t>als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of</a:t>
            </a:r>
            <a:r>
              <a:rPr lang="en-US" sz="1600" dirty="0">
                <a:solidFill>
                  <a:schemeClr val="bg1"/>
                </a:solidFill>
              </a:rPr>
              <a:t> = « ou » (le pont) </a:t>
            </a:r>
            <a:r>
              <a:rPr lang="en-US" sz="1600" b="1" dirty="0">
                <a:solidFill>
                  <a:schemeClr val="bg1"/>
                </a:solidFill>
              </a:rPr>
              <a:t>ou</a:t>
            </a:r>
            <a:r>
              <a:rPr lang="en-US" sz="1600" dirty="0">
                <a:solidFill>
                  <a:schemeClr val="bg1"/>
                </a:solidFill>
              </a:rPr>
              <a:t> « si » (le wagon) : </a:t>
            </a:r>
            <a:r>
              <a:rPr lang="en-US" sz="1600" i="1" dirty="0">
                <a:solidFill>
                  <a:schemeClr val="bg1"/>
                </a:solidFill>
              </a:rPr>
              <a:t>Ik weet niet of hij </a:t>
            </a:r>
            <a:r>
              <a:rPr lang="en-US" sz="1600" b="1" i="1" dirty="0">
                <a:solidFill>
                  <a:schemeClr val="bg1"/>
                </a:solidFill>
              </a:rPr>
              <a:t>komt</a:t>
            </a:r>
            <a:r>
              <a:rPr lang="en-US" sz="1600" i="1" dirty="0">
                <a:solidFill>
                  <a:schemeClr val="bg1"/>
                </a:solidFill>
              </a:rPr>
              <a:t>.</a:t>
            </a:r>
            <a:r>
              <a:rPr lang="en-US" sz="1600" dirty="0">
                <a:solidFill>
                  <a:schemeClr val="bg1"/>
                </a:solidFill>
              </a:rPr>
              <a:t> (verbe à la fin)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mots interrogatifs deviennent des wagons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QUESTIONS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976023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Waar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7815" y="1508760"/>
            <a:ext cx="1119811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97815" y="1508760"/>
            <a:ext cx="1119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woont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90778" y="1508760"/>
            <a:ext cx="80613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90778" y="150876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hij?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➜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892040" y="1508760"/>
            <a:ext cx="11912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508760"/>
            <a:ext cx="119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Weet je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56472" y="1508760"/>
            <a:ext cx="976023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56472" y="1508760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waar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205648" y="1508760"/>
            <a:ext cx="677753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05648" y="1508760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hij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956553" y="1508760"/>
            <a:ext cx="1263598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6553" y="1508760"/>
            <a:ext cx="1263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woont?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2468880"/>
            <a:ext cx="1551174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468880"/>
            <a:ext cx="1551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Hoe laat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172966" y="2468880"/>
            <a:ext cx="688448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172966" y="2468880"/>
            <a:ext cx="68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2934566" y="2468880"/>
            <a:ext cx="80613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34566" y="246888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het?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251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➜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4892040" y="2468880"/>
            <a:ext cx="2346716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92040" y="2468880"/>
            <a:ext cx="234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Kunt u me zeggen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311908" y="2468880"/>
            <a:ext cx="1551174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1908" y="2468880"/>
            <a:ext cx="1551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hoe laat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936234" y="2468880"/>
            <a:ext cx="677753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36234" y="2468880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het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687139" y="2468880"/>
            <a:ext cx="832236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87139" y="2468880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is?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3429000"/>
            <a:ext cx="976023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3429000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Komt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597815" y="3429000"/>
            <a:ext cx="549372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597815" y="3429000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ze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220339" y="3429000"/>
            <a:ext cx="119128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20339" y="3429000"/>
            <a:ext cx="119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morgen?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2519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➜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4892040" y="3429000"/>
            <a:ext cx="2089953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92040" y="3429000"/>
            <a:ext cx="20899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 vraag me af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7055145" y="3429000"/>
            <a:ext cx="688448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055145" y="3429000"/>
            <a:ext cx="68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7816745" y="3429000"/>
            <a:ext cx="549372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16745" y="3429000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ze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8439268" y="3429000"/>
            <a:ext cx="1062899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39268" y="3429000"/>
            <a:ext cx="10628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morgen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9575319" y="3429000"/>
            <a:ext cx="1119811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575319" y="3429000"/>
            <a:ext cx="1119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komt.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548640" y="4389120"/>
            <a:ext cx="1407386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48640" y="4389120"/>
            <a:ext cx="1407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Wanneer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2029178" y="4389120"/>
            <a:ext cx="1263598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029178" y="4389120"/>
            <a:ext cx="1263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begint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3365928" y="4389120"/>
            <a:ext cx="80613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365928" y="438912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het?</a:t>
            </a:r>
            <a:endParaRPr lang="en-US" sz="1800" dirty="0"/>
          </a:p>
        </p:txBody>
      </p:sp>
      <p:sp>
        <p:nvSpPr>
          <p:cNvPr id="58" name="Text 55"/>
          <p:cNvSpPr txBox="1"/>
          <p:nvPr/>
        </p:nvSpPr>
        <p:spPr>
          <a:xfrm>
            <a:off x="4251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➜</a:t>
            </a:r>
            <a:endParaRPr lang="en-US" sz="2400" dirty="0"/>
          </a:p>
        </p:txBody>
      </p:sp>
      <p:sp>
        <p:nvSpPr>
          <p:cNvPr id="59" name="Shape 56"/>
          <p:cNvSpPr/>
          <p:nvPr/>
        </p:nvSpPr>
        <p:spPr>
          <a:xfrm>
            <a:off x="4892040" y="4389120"/>
            <a:ext cx="1062899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892040" y="4389120"/>
            <a:ext cx="10628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Weet u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028091" y="4389120"/>
            <a:ext cx="1407386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028091" y="4389120"/>
            <a:ext cx="1407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wanneer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7508629" y="4389120"/>
            <a:ext cx="677753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508629" y="4389120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het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8259534" y="4389120"/>
            <a:ext cx="1407386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59534" y="4389120"/>
            <a:ext cx="1407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begint?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68" name="Image 0" descr="person tipping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4960"/>
            <a:ext cx="685800" cy="685800"/>
          </a:xfrm>
          <a:prstGeom prst="rect">
            <a:avLst/>
          </a:prstGeom>
        </p:spPr>
      </p:pic>
      <p:sp>
        <p:nvSpPr>
          <p:cNvPr id="69" name="Text 65"/>
          <p:cNvSpPr txBox="1"/>
          <p:nvPr/>
        </p:nvSpPr>
        <p:spPr>
          <a:xfrm>
            <a:off x="15087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C’est la façon </a:t>
            </a:r>
            <a:r>
              <a:rPr lang="en-US" sz="1500" b="1" dirty="0">
                <a:solidFill>
                  <a:schemeClr val="tx1"/>
                </a:solidFill>
              </a:rPr>
              <a:t>polie</a:t>
            </a:r>
            <a:r>
              <a:rPr lang="en-US" sz="1500" dirty="0">
                <a:solidFill>
                  <a:schemeClr val="tx1"/>
                </a:solidFill>
              </a:rPr>
              <a:t> de poser une question : </a:t>
            </a:r>
            <a:r>
              <a:rPr lang="en-US" sz="1500" i="1" dirty="0">
                <a:solidFill>
                  <a:schemeClr val="tx1"/>
                </a:solidFill>
              </a:rPr>
              <a:t>Weet u misschien waar het station is?</a:t>
            </a:r>
            <a:r>
              <a:rPr lang="en-US" sz="1500" dirty="0">
                <a:solidFill>
                  <a:schemeClr val="tx1"/>
                </a:solidFill>
              </a:rPr>
              <a:t>  Sans mot interrogatif → </a:t>
            </a:r>
            <a:r>
              <a:rPr lang="en-US" sz="1500" i="1" dirty="0">
                <a:solidFill>
                  <a:schemeClr val="tx1"/>
                </a:solidFill>
              </a:rPr>
              <a:t>of</a:t>
            </a:r>
            <a:r>
              <a:rPr lang="en-US" sz="1500" dirty="0">
                <a:solidFill>
                  <a:schemeClr val="tx1"/>
                </a:solidFill>
              </a:rPr>
              <a:t> (si).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wagon en tête : verbe, verbe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VERBE, VERBE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279575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2795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Omdat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901367" y="1554480"/>
            <a:ext cx="763341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01367" y="1554480"/>
            <a:ext cx="76334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het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37860" y="1554480"/>
            <a:ext cx="1455315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37860" y="1554480"/>
            <a:ext cx="14553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regent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266327" y="1554480"/>
            <a:ext cx="2670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,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606484" y="1554480"/>
            <a:ext cx="1279575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06484" y="1554480"/>
            <a:ext cx="12795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blijf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959211" y="1554480"/>
            <a:ext cx="606430" cy="621792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59211" y="1554480"/>
            <a:ext cx="6064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638793" y="1554480"/>
            <a:ext cx="1234074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38793" y="1554480"/>
            <a:ext cx="12340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thuis.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2682996" y="1481328"/>
            <a:ext cx="3257927" cy="768096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055747" y="15544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← verbe, verbe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2423160"/>
            <a:ext cx="928094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423160"/>
            <a:ext cx="9280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Als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1549886" y="2423160"/>
            <a:ext cx="1390985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49886" y="2423160"/>
            <a:ext cx="139098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 tijd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3014023" y="2423160"/>
            <a:ext cx="1103834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14023" y="2423160"/>
            <a:ext cx="110383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hebt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4191010" y="2423160"/>
            <a:ext cx="2670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,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4531167" y="2423160"/>
            <a:ext cx="928094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31167" y="2423160"/>
            <a:ext cx="9280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bel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532413" y="2423160"/>
            <a:ext cx="606430" cy="621792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32413" y="2423160"/>
            <a:ext cx="6064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6211995" y="2423160"/>
            <a:ext cx="763341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11995" y="2423160"/>
            <a:ext cx="76334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je.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2959159" y="2350008"/>
            <a:ext cx="2554965" cy="768096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548640" y="3291840"/>
            <a:ext cx="1103834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3291840"/>
            <a:ext cx="110383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Toen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1725626" y="3291840"/>
            <a:ext cx="606430" cy="621792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725626" y="3291840"/>
            <a:ext cx="6064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2405208" y="3291840"/>
            <a:ext cx="1982536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405208" y="3291840"/>
            <a:ext cx="198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thuiskwam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4460897" y="3291840"/>
            <a:ext cx="2670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,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4801054" y="3291840"/>
            <a:ext cx="928094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801054" y="3291840"/>
            <a:ext cx="9280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was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5802300" y="3291840"/>
            <a:ext cx="233245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02300" y="3291840"/>
            <a:ext cx="23324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iedereen weg.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2350344" y="3218688"/>
            <a:ext cx="3433667" cy="768096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548640" y="4160520"/>
            <a:ext cx="1455315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48640" y="4160520"/>
            <a:ext cx="14553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Hoewel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2077107" y="4160520"/>
            <a:ext cx="1390985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077107" y="4160520"/>
            <a:ext cx="139098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hij moe</a:t>
            </a:r>
            <a:endParaRPr lang="en-US" sz="2200" dirty="0"/>
          </a:p>
        </p:txBody>
      </p:sp>
      <p:sp>
        <p:nvSpPr>
          <p:cNvPr id="50" name="Shape 47"/>
          <p:cNvSpPr/>
          <p:nvPr/>
        </p:nvSpPr>
        <p:spPr>
          <a:xfrm>
            <a:off x="3541244" y="4160520"/>
            <a:ext cx="752354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541244" y="4160520"/>
            <a:ext cx="7523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is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4366750" y="4160520"/>
            <a:ext cx="2670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,</a:t>
            </a:r>
            <a:endParaRPr lang="en-US" sz="2200" dirty="0"/>
          </a:p>
        </p:txBody>
      </p:sp>
      <p:sp>
        <p:nvSpPr>
          <p:cNvPr id="53" name="Shape 50"/>
          <p:cNvSpPr/>
          <p:nvPr/>
        </p:nvSpPr>
        <p:spPr>
          <a:xfrm>
            <a:off x="4706907" y="4160520"/>
            <a:ext cx="1279575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706907" y="4160520"/>
            <a:ext cx="12795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werkt</a:t>
            </a:r>
            <a:endParaRPr lang="en-US" sz="2200" dirty="0"/>
          </a:p>
        </p:txBody>
      </p:sp>
      <p:sp>
        <p:nvSpPr>
          <p:cNvPr id="55" name="Shape 52"/>
          <p:cNvSpPr/>
          <p:nvPr/>
        </p:nvSpPr>
        <p:spPr>
          <a:xfrm>
            <a:off x="6059634" y="4160520"/>
            <a:ext cx="1704807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059634" y="4160520"/>
            <a:ext cx="17048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hij door.</a:t>
            </a:r>
            <a:endParaRPr lang="en-US" sz="2200" dirty="0"/>
          </a:p>
        </p:txBody>
      </p:sp>
      <p:sp>
        <p:nvSpPr>
          <p:cNvPr id="57" name="Shape 54"/>
          <p:cNvSpPr/>
          <p:nvPr/>
        </p:nvSpPr>
        <p:spPr>
          <a:xfrm>
            <a:off x="3486380" y="4087368"/>
            <a:ext cx="2554965" cy="768096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58" name="Text 55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Le wagon entier occupe la </a:t>
            </a:r>
            <a:r>
              <a:rPr lang="en-US" sz="1700" b="1" dirty="0">
                <a:solidFill>
                  <a:schemeClr val="tx2"/>
                </a:solidFill>
              </a:rPr>
              <a:t>case ①</a:t>
            </a:r>
            <a:r>
              <a:rPr lang="en-US" sz="1700" dirty="0">
                <a:solidFill>
                  <a:schemeClr val="tx2"/>
                </a:solidFill>
              </a:rPr>
              <a:t> : le verbe principal vient </a:t>
            </a:r>
            <a:r>
              <a:rPr lang="en-US" sz="1700" b="1" dirty="0">
                <a:solidFill>
                  <a:schemeClr val="tx2"/>
                </a:solidFill>
              </a:rPr>
              <a:t>juste après</a:t>
            </a:r>
            <a:r>
              <a:rPr lang="en-US" sz="1700" dirty="0">
                <a:solidFill>
                  <a:schemeClr val="tx2"/>
                </a:solidFill>
              </a:rPr>
              <a:t> (case ②), puis le sujet.</a:t>
            </a:r>
            <a:endParaRPr lang="en-US" sz="1700" dirty="0"/>
          </a:p>
        </p:txBody>
      </p:sp>
      <p:sp>
        <p:nvSpPr>
          <p:cNvPr id="59" name="Shape 56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Erreur classique : ✗ </a:t>
            </a:r>
            <a:r>
              <a:rPr lang="en-US" sz="1600" i="1" dirty="0">
                <a:solidFill>
                  <a:schemeClr val="bg1"/>
                </a:solidFill>
              </a:rPr>
              <a:t>Omdat het regent, ik blijf thuis.</a:t>
            </a:r>
            <a:r>
              <a:rPr lang="en-US" sz="1600" dirty="0">
                <a:solidFill>
                  <a:schemeClr val="bg1"/>
                </a:solidFill>
              </a:rPr>
              <a:t>   ✓ </a:t>
            </a:r>
            <a:r>
              <a:rPr lang="en-US" sz="1600" i="1" dirty="0">
                <a:solidFill>
                  <a:schemeClr val="bg1"/>
                </a:solidFill>
              </a:rPr>
              <a:t>Omdat het regent, </a:t>
            </a:r>
            <a:r>
              <a:rPr lang="en-US" sz="1600" b="1" i="1" dirty="0">
                <a:solidFill>
                  <a:schemeClr val="bg1"/>
                </a:solidFill>
              </a:rPr>
              <a:t>blijf ik</a:t>
            </a:r>
            <a:r>
              <a:rPr lang="en-US" sz="1600" i="1" dirty="0">
                <a:solidFill>
                  <a:schemeClr val="bg1"/>
                </a:solidFill>
              </a:rPr>
              <a:t> thuis.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mots en paires : zowel … als, hoe … hoe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LES PAIRES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51790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zowel … als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6537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aussi bien … que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3969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spreek </a:t>
            </a:r>
            <a:r>
              <a:rPr lang="en-US" sz="1400" b="1" i="1" dirty="0">
                <a:solidFill>
                  <a:srgbClr val="B4236A"/>
                </a:solidFill>
              </a:rPr>
              <a:t>zowel</a:t>
            </a:r>
            <a:r>
              <a:rPr lang="en-US" sz="1400" i="1" dirty="0">
                <a:solidFill>
                  <a:schemeClr val="tx1"/>
                </a:solidFill>
              </a:rPr>
              <a:t> Frans </a:t>
            </a:r>
            <a:r>
              <a:rPr lang="en-US" sz="1400" b="1" i="1" dirty="0">
                <a:solidFill>
                  <a:srgbClr val="B4236A"/>
                </a:solidFill>
              </a:rPr>
              <a:t>als</a:t>
            </a:r>
            <a:r>
              <a:rPr lang="en-US" sz="1400" i="1" dirty="0">
                <a:solidFill>
                  <a:schemeClr val="tx1"/>
                </a:solidFill>
              </a:rPr>
              <a:t> Nederlands.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08776" y="1463040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91656" y="151790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niet alleen … maar ook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186537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non seulement … mais aussi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91656" y="2139696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Ze spreekt </a:t>
            </a:r>
            <a:r>
              <a:rPr lang="en-US" sz="1400" b="1" i="1" dirty="0">
                <a:solidFill>
                  <a:srgbClr val="B4236A"/>
                </a:solidFill>
              </a:rPr>
              <a:t>niet alleen</a:t>
            </a:r>
            <a:r>
              <a:rPr lang="en-US" sz="1400" i="1" dirty="0">
                <a:solidFill>
                  <a:schemeClr val="tx1"/>
                </a:solidFill>
              </a:rPr>
              <a:t> Nederlands, </a:t>
            </a:r>
            <a:r>
              <a:rPr lang="en-US" sz="1400" b="1" i="1" dirty="0">
                <a:solidFill>
                  <a:srgbClr val="B4236A"/>
                </a:solidFill>
              </a:rPr>
              <a:t>maar ook</a:t>
            </a:r>
            <a:r>
              <a:rPr lang="en-US" sz="1400" i="1" dirty="0">
                <a:solidFill>
                  <a:schemeClr val="tx1"/>
                </a:solidFill>
              </a:rPr>
              <a:t> Duits.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761488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2816352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ofwel … ofwel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16382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soit … soit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438144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We gaan </a:t>
            </a:r>
            <a:r>
              <a:rPr lang="en-US" sz="1400" b="1" i="1" dirty="0">
                <a:solidFill>
                  <a:srgbClr val="B4236A"/>
                </a:solidFill>
              </a:rPr>
              <a:t>ofwel</a:t>
            </a:r>
            <a:r>
              <a:rPr lang="en-US" sz="1400" i="1" dirty="0">
                <a:solidFill>
                  <a:schemeClr val="tx1"/>
                </a:solidFill>
              </a:rPr>
              <a:t> naar zee, </a:t>
            </a:r>
            <a:r>
              <a:rPr lang="en-US" sz="1400" b="1" i="1" dirty="0">
                <a:solidFill>
                  <a:srgbClr val="B4236A"/>
                </a:solidFill>
              </a:rPr>
              <a:t>ofwel</a:t>
            </a:r>
            <a:r>
              <a:rPr lang="en-US" sz="1400" i="1" dirty="0">
                <a:solidFill>
                  <a:schemeClr val="tx1"/>
                </a:solidFill>
              </a:rPr>
              <a:t> naar de Ardennen.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08776" y="2761488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391656" y="2816352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noch … noch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316382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ni … ni (soutenu)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438144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drink </a:t>
            </a:r>
            <a:r>
              <a:rPr lang="en-US" sz="1400" b="1" i="1" dirty="0">
                <a:solidFill>
                  <a:srgbClr val="B4236A"/>
                </a:solidFill>
              </a:rPr>
              <a:t>noch</a:t>
            </a:r>
            <a:r>
              <a:rPr lang="en-US" sz="1400" i="1" dirty="0">
                <a:solidFill>
                  <a:schemeClr val="tx1"/>
                </a:solidFill>
              </a:rPr>
              <a:t> koffie, </a:t>
            </a:r>
            <a:r>
              <a:rPr lang="en-US" sz="1400" b="1" i="1" dirty="0">
                <a:solidFill>
                  <a:srgbClr val="B4236A"/>
                </a:solidFill>
              </a:rPr>
              <a:t>noch</a:t>
            </a:r>
            <a:r>
              <a:rPr lang="en-US" sz="1400" i="1" dirty="0">
                <a:solidFill>
                  <a:schemeClr val="tx1"/>
                </a:solidFill>
              </a:rPr>
              <a:t> thee.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" y="41148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hoe … hoe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46227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plus … plus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4236A"/>
                </a:solidFill>
              </a:rPr>
              <a:t>Hoe</a:t>
            </a:r>
            <a:r>
              <a:rPr lang="en-US" sz="1400" i="1" dirty="0">
                <a:solidFill>
                  <a:schemeClr val="tx1"/>
                </a:solidFill>
              </a:rPr>
              <a:t> meer je </a:t>
            </a:r>
            <a:r>
              <a:rPr lang="en-US" sz="1400" b="1" i="1" dirty="0">
                <a:solidFill>
                  <a:srgbClr val="B83227"/>
                </a:solidFill>
              </a:rPr>
              <a:t>oefent</a:t>
            </a:r>
            <a:r>
              <a:rPr lang="en-US" sz="1400" i="1" dirty="0">
                <a:solidFill>
                  <a:schemeClr val="tx1"/>
                </a:solidFill>
              </a:rPr>
              <a:t>, </a:t>
            </a:r>
            <a:r>
              <a:rPr lang="en-US" sz="1400" b="1" i="1" dirty="0">
                <a:solidFill>
                  <a:srgbClr val="B4236A"/>
                </a:solidFill>
              </a:rPr>
              <a:t>hoe</a:t>
            </a:r>
            <a:r>
              <a:rPr lang="en-US" sz="1400" i="1" dirty="0">
                <a:solidFill>
                  <a:schemeClr val="tx1"/>
                </a:solidFill>
              </a:rPr>
              <a:t> beter je </a:t>
            </a:r>
            <a:r>
              <a:rPr lang="en-US" sz="1400" b="1" i="1" dirty="0">
                <a:solidFill>
                  <a:srgbClr val="B83227"/>
                </a:solidFill>
              </a:rPr>
              <a:t>wordt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08776" y="4059936"/>
            <a:ext cx="543153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391656" y="41148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enerzijds … anderzijds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391656" y="446227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d’un côté … de l’autre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473659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4236A"/>
                </a:solidFill>
              </a:rPr>
              <a:t>Enerzijds</a:t>
            </a:r>
            <a:r>
              <a:rPr lang="en-US" sz="1400" i="1" dirty="0">
                <a:solidFill>
                  <a:schemeClr val="tx1"/>
                </a:solidFill>
              </a:rPr>
              <a:t> </a:t>
            </a:r>
            <a:r>
              <a:rPr lang="en-US" sz="1400" b="1" i="1" dirty="0">
                <a:solidFill>
                  <a:srgbClr val="B83227"/>
                </a:solidFill>
              </a:rPr>
              <a:t>is</a:t>
            </a:r>
            <a:r>
              <a:rPr lang="en-US" sz="1400" i="1" dirty="0">
                <a:solidFill>
                  <a:schemeClr val="tx1"/>
                </a:solidFill>
              </a:rPr>
              <a:t> het duur, </a:t>
            </a:r>
            <a:r>
              <a:rPr lang="en-US" sz="1400" b="1" i="1" dirty="0">
                <a:solidFill>
                  <a:srgbClr val="B4236A"/>
                </a:solidFill>
              </a:rPr>
              <a:t>anderzijds</a:t>
            </a:r>
            <a:r>
              <a:rPr lang="en-US" sz="1400" i="1" dirty="0">
                <a:solidFill>
                  <a:schemeClr val="tx1"/>
                </a:solidFill>
              </a:rPr>
              <a:t> </a:t>
            </a:r>
            <a:r>
              <a:rPr lang="en-US" sz="1400" b="1" i="1" dirty="0">
                <a:solidFill>
                  <a:srgbClr val="B83227"/>
                </a:solidFill>
              </a:rPr>
              <a:t>is</a:t>
            </a:r>
            <a:r>
              <a:rPr lang="en-US" sz="1400" i="1" dirty="0">
                <a:solidFill>
                  <a:schemeClr val="tx1"/>
                </a:solidFill>
              </a:rPr>
              <a:t> het praktisch.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hoe … hoe</a:t>
            </a:r>
            <a:r>
              <a:rPr lang="en-US" sz="1600" dirty="0">
                <a:solidFill>
                  <a:schemeClr val="bg1"/>
                </a:solidFill>
              </a:rPr>
              <a:t> : verbe </a:t>
            </a:r>
            <a:r>
              <a:rPr lang="en-US" sz="1600" b="1" dirty="0">
                <a:solidFill>
                  <a:schemeClr val="bg1"/>
                </a:solidFill>
              </a:rPr>
              <a:t>à la fin</a:t>
            </a:r>
            <a:r>
              <a:rPr lang="en-US" sz="1600" dirty="0">
                <a:solidFill>
                  <a:schemeClr val="bg1"/>
                </a:solidFill>
              </a:rPr>
              <a:t> dans les deux parties. </a:t>
            </a:r>
            <a:r>
              <a:rPr lang="en-US" sz="1600" i="1" dirty="0">
                <a:solidFill>
                  <a:schemeClr val="bg1"/>
                </a:solidFill>
              </a:rPr>
              <a:t>enerzijds … anderzijds</a:t>
            </a:r>
            <a:r>
              <a:rPr lang="en-US" sz="1600" dirty="0">
                <a:solidFill>
                  <a:schemeClr val="bg1"/>
                </a:solidFill>
              </a:rPr>
              <a:t> : </a:t>
            </a:r>
            <a:r>
              <a:rPr lang="en-US" sz="1600" b="1" dirty="0">
                <a:solidFill>
                  <a:schemeClr val="bg1"/>
                </a:solidFill>
              </a:rPr>
              <a:t>inversion</a:t>
            </a:r>
            <a:r>
              <a:rPr lang="en-US" sz="1600" dirty="0">
                <a:solidFill>
                  <a:schemeClr val="bg1"/>
                </a:solidFill>
              </a:rPr>
              <a:t> dans les deux parties.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Construire une longue phrase, brique par brique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COMPOSER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60120" y="146304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46304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596908" y="146304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96908" y="146304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bel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26260" y="1463040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26260" y="1463040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240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60120" y="224028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224028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596908" y="224028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96908" y="224028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bel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2526260" y="224028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26260" y="224028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3163049" y="224028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63049" y="224028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als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092401" y="2240280"/>
            <a:ext cx="137672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92401" y="2240280"/>
            <a:ext cx="1376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thuis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5542273" y="2240280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42273" y="2240280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ben,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60120" y="301752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" y="301752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1596908" y="301752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96908" y="301752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bel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2526260" y="301752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526260" y="301752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3163049" y="301752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163049" y="301752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als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4092401" y="3017520"/>
            <a:ext cx="1376721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092401" y="3017520"/>
            <a:ext cx="1376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thuis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5542273" y="3017520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42273" y="3017520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ben,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6623402" y="3017520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23402" y="3017520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maar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7704530" y="301752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04530" y="301752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42" name="Shape 39"/>
          <p:cNvSpPr/>
          <p:nvPr/>
        </p:nvSpPr>
        <p:spPr>
          <a:xfrm>
            <a:off x="8341318" y="3017520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41318" y="3017520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weet</a:t>
            </a:r>
            <a:endParaRPr lang="en-US" sz="1900" dirty="0"/>
          </a:p>
        </p:txBody>
      </p:sp>
      <p:sp>
        <p:nvSpPr>
          <p:cNvPr id="44" name="Shape 41"/>
          <p:cNvSpPr/>
          <p:nvPr/>
        </p:nvSpPr>
        <p:spPr>
          <a:xfrm>
            <a:off x="9422446" y="3017520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422446" y="3017520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niet</a:t>
            </a:r>
            <a:endParaRPr lang="en-US" sz="19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37947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960120" y="3794760"/>
            <a:ext cx="300289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60120" y="379476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…, maar ik weet niet</a:t>
            </a:r>
            <a:endParaRPr lang="en-US" sz="1900" dirty="0"/>
          </a:p>
        </p:txBody>
      </p:sp>
      <p:sp>
        <p:nvSpPr>
          <p:cNvPr id="49" name="Shape 46"/>
          <p:cNvSpPr/>
          <p:nvPr/>
        </p:nvSpPr>
        <p:spPr>
          <a:xfrm>
            <a:off x="4036162" y="3794760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036162" y="3794760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</a:t>
            </a:r>
            <a:endParaRPr lang="en-US" sz="1900" dirty="0"/>
          </a:p>
        </p:txBody>
      </p:sp>
      <p:sp>
        <p:nvSpPr>
          <p:cNvPr id="51" name="Shape 48"/>
          <p:cNvSpPr/>
          <p:nvPr/>
        </p:nvSpPr>
        <p:spPr>
          <a:xfrm>
            <a:off x="4813738" y="379476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813738" y="379476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53" name="Shape 50"/>
          <p:cNvSpPr/>
          <p:nvPr/>
        </p:nvSpPr>
        <p:spPr>
          <a:xfrm>
            <a:off x="5450526" y="3794760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50526" y="3794760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tijd</a:t>
            </a:r>
            <a:endParaRPr lang="en-US" sz="1900" dirty="0"/>
          </a:p>
        </p:txBody>
      </p:sp>
      <p:sp>
        <p:nvSpPr>
          <p:cNvPr id="55" name="Shape 52"/>
          <p:cNvSpPr/>
          <p:nvPr/>
        </p:nvSpPr>
        <p:spPr>
          <a:xfrm>
            <a:off x="6358343" y="3794760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58343" y="3794760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heb.</a:t>
            </a:r>
            <a:endParaRPr lang="en-US" sz="1900" dirty="0"/>
          </a:p>
        </p:txBody>
      </p:sp>
      <p:pic>
        <p:nvPicPr>
          <p:cNvPr id="57" name="Image 0" descr="building constru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417320"/>
            <a:ext cx="1097280" cy="1097280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548640" y="46634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777240" y="46634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Variante : </a:t>
            </a:r>
            <a:r>
              <a:rPr lang="en-US" sz="1600" b="1" i="1" dirty="0">
                <a:solidFill>
                  <a:srgbClr val="D9700F"/>
                </a:solidFill>
              </a:rPr>
              <a:t>Als</a:t>
            </a:r>
            <a:r>
              <a:rPr lang="en-US" sz="1600" i="1" dirty="0">
                <a:solidFill>
                  <a:schemeClr val="tx1"/>
                </a:solidFill>
              </a:rPr>
              <a:t> ik thuis </a:t>
            </a:r>
            <a:r>
              <a:rPr lang="en-US" sz="1600" b="1" i="1" dirty="0">
                <a:solidFill>
                  <a:srgbClr val="B83227"/>
                </a:solidFill>
              </a:rPr>
              <a:t>ben, bel</a:t>
            </a:r>
            <a:r>
              <a:rPr lang="en-US" sz="1600" i="1" dirty="0">
                <a:solidFill>
                  <a:schemeClr val="tx1"/>
                </a:solidFill>
              </a:rPr>
              <a:t> ik je, </a:t>
            </a:r>
            <a:r>
              <a:rPr lang="en-US" sz="1600" b="1" i="1" dirty="0">
                <a:solidFill>
                  <a:srgbClr val="2A6FB0"/>
                </a:solidFill>
              </a:rPr>
              <a:t>maar</a:t>
            </a:r>
            <a:r>
              <a:rPr lang="en-US" sz="1600" i="1" dirty="0">
                <a:solidFill>
                  <a:schemeClr val="tx1"/>
                </a:solidFill>
              </a:rPr>
              <a:t> ik weet niet </a:t>
            </a:r>
            <a:r>
              <a:rPr lang="en-US" sz="1600" b="1" i="1" dirty="0">
                <a:solidFill>
                  <a:srgbClr val="D9700F"/>
                </a:solidFill>
              </a:rPr>
              <a:t>of</a:t>
            </a:r>
            <a:r>
              <a:rPr lang="en-US" sz="1600" i="1" dirty="0">
                <a:solidFill>
                  <a:schemeClr val="tx1"/>
                </a:solidFill>
              </a:rPr>
              <a:t> ik tijd </a:t>
            </a:r>
            <a:r>
              <a:rPr lang="en-US" sz="1600" b="1" i="1" dirty="0">
                <a:solidFill>
                  <a:srgbClr val="B83227"/>
                </a:solidFill>
              </a:rPr>
              <a:t>heb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Chaque brique garde </a:t>
            </a:r>
            <a:r>
              <a:rPr lang="en-US" sz="1600" b="1" dirty="0">
                <a:solidFill>
                  <a:schemeClr val="bg1"/>
                </a:solidFill>
              </a:rPr>
              <a:t>son</a:t>
            </a:r>
            <a:r>
              <a:rPr lang="en-US" sz="1600" dirty="0">
                <a:solidFill>
                  <a:schemeClr val="bg1"/>
                </a:solidFill>
              </a:rPr>
              <a:t> ordre : le pont ne change rien, le wagon envoie son verbe au bout.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Six pièges à éviter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288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53619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want + verbe à la fin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want ik ziek ben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5176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want ik ben ziek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06824" y="146304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43984" y="153619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omdat + verbe en 2e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43984" y="205740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omdat ik ben ziek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43984" y="265176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omdat ik ziek ben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65008" y="146304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02168" y="153619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tremplin sans inversion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02168" y="205740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Daarom ik blijf thuis.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02168" y="265176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Daarom blijf ik thuis.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5800" y="368503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wagon en tête sans inversion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2062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Omdat het regent, ik blijf thuis.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80060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Omdat het regent, blijf ik thuis.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06824" y="361188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443984" y="368503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5. dat oublié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443984" y="42062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Ik denk hij komt.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443984" y="480060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Ik denk dat hij komt.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65008" y="3611880"/>
            <a:ext cx="35753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02168" y="368503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6. toen « puis » ou « quand » ?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42062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 </a:t>
            </a:r>
            <a:r>
              <a:rPr lang="en-US" sz="1500" strike="sngStrike" dirty="0">
                <a:solidFill>
                  <a:schemeClr val="accent6"/>
                </a:solidFill>
              </a:rPr>
              <a:t>Toen ik ging naar huis.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02168" y="4800600"/>
            <a:ext cx="3300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✓  </a:t>
            </a:r>
            <a:r>
              <a:rPr lang="en-US" sz="1500" b="1" i="1" dirty="0">
                <a:solidFill>
                  <a:schemeClr val="accent3"/>
                </a:solidFill>
              </a:rPr>
              <a:t>Toen ging ik naar huis. / Toen ik thuiskwam, 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pont, tremplin, wagon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bridg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361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 PONT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ordre normal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15361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en · maar · want · of · dus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15361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blijf thuis, want ik ben ziek.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erson cartwhe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27249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4A9E"/>
                </a:solidFill>
              </a:rPr>
              <a:t>LE TREMPLIN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E4A9E"/>
                </a:solidFill>
              </a:rPr>
              <a:t>inversion : verbe, puis sujet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023360" y="27249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daarom · toch · daarna · dan · anders · bovendien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27249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ben ziek. Daarom blijf ik thuis.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railway 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913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 WAGON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verbe à la fin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39136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omdat · dat · als · of · toen · wanneer · terwijl · voordat · nadat · zodra · hoewel · tenzij · zodat + waar, wie, hoe…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39136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blijf thuis, omdat ik ziek ben.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51023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Wagon en tête → verbe, verbe</a:t>
            </a:r>
            <a:r>
              <a:rPr lang="en-US" sz="1500" dirty="0">
                <a:solidFill>
                  <a:schemeClr val="tx1"/>
                </a:solidFill>
              </a:rPr>
              <a:t> : </a:t>
            </a:r>
            <a:r>
              <a:rPr lang="en-US" sz="1500" i="1" dirty="0">
                <a:solidFill>
                  <a:schemeClr val="tx1"/>
                </a:solidFill>
              </a:rPr>
              <a:t>Omdat het regent, blijf ik thuis.</a:t>
            </a:r>
            <a:r>
              <a:rPr lang="en-US" sz="1500" dirty="0">
                <a:solidFill>
                  <a:schemeClr val="tx1"/>
                </a:solidFill>
              </a:rPr>
              <a:t> · </a:t>
            </a:r>
            <a:r>
              <a:rPr lang="en-US" sz="1500" b="1" dirty="0">
                <a:solidFill>
                  <a:schemeClr val="tx1"/>
                </a:solidFill>
              </a:rPr>
              <a:t>si</a:t>
            </a:r>
            <a:r>
              <a:rPr lang="en-US" sz="1500" dirty="0">
                <a:solidFill>
                  <a:schemeClr val="tx1"/>
                </a:solidFill>
              </a:rPr>
              <a:t> : condition = </a:t>
            </a:r>
            <a:r>
              <a:rPr lang="en-US" sz="1500" i="1" dirty="0">
                <a:solidFill>
                  <a:schemeClr val="tx1"/>
                </a:solidFill>
              </a:rPr>
              <a:t>als</a:t>
            </a:r>
            <a:r>
              <a:rPr lang="en-US" sz="1500" dirty="0">
                <a:solidFill>
                  <a:schemeClr val="tx1"/>
                </a:solidFill>
              </a:rPr>
              <a:t>, question = </a:t>
            </a:r>
            <a:r>
              <a:rPr lang="en-US" sz="1500" i="1" dirty="0">
                <a:solidFill>
                  <a:schemeClr val="tx1"/>
                </a:solidFill>
              </a:rPr>
              <a:t>of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quand</a:t>
            </a:r>
            <a:r>
              <a:rPr lang="en-US" sz="1500" dirty="0">
                <a:solidFill>
                  <a:schemeClr val="tx1"/>
                </a:solidFill>
              </a:rPr>
              <a:t> : un moment ou une période unique du passé = </a:t>
            </a:r>
            <a:r>
              <a:rPr lang="en-US" sz="1500" i="1" dirty="0">
                <a:solidFill>
                  <a:schemeClr val="tx1"/>
                </a:solidFill>
              </a:rPr>
              <a:t>toen</a:t>
            </a:r>
            <a:r>
              <a:rPr lang="en-US" sz="1500" dirty="0">
                <a:solidFill>
                  <a:schemeClr val="tx1"/>
                </a:solidFill>
              </a:rPr>
              <a:t> · habitude, futur = </a:t>
            </a:r>
            <a:r>
              <a:rPr lang="en-US" sz="1500" i="1" dirty="0">
                <a:solidFill>
                  <a:schemeClr val="tx1"/>
                </a:solidFill>
              </a:rPr>
              <a:t>als / wanneer</a:t>
            </a:r>
            <a:r>
              <a:rPr lang="en-US" sz="1500" dirty="0">
                <a:solidFill>
                  <a:schemeClr val="tx1"/>
                </a:solidFill>
              </a:rPr>
              <a:t> · question = </a:t>
            </a:r>
            <a:r>
              <a:rPr lang="en-US" sz="1500" i="1" dirty="0">
                <a:solidFill>
                  <a:schemeClr val="tx1"/>
                </a:solidFill>
              </a:rPr>
              <a:t>wanneer</a:t>
            </a:r>
            <a:endParaRPr lang="en-US" sz="1500" dirty="0"/>
          </a:p>
        </p:txBody>
      </p:sp>
      <p:pic>
        <p:nvPicPr>
          <p:cNvPr id="22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22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grand tri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15646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9362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29362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29362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Reliez les phrases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29362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76428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Rand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90144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Une idée ×4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90144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37210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0926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Toen of als?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50926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97992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Palet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0" y="27706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1708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Quel mot ?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711708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587740" y="26060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7249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7249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Ques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724900" y="32644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Weet je …?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8724900" y="38404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48640" y="44348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PuzzlePie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22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85800" y="50932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puzzle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685800" y="56692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2156460" y="44348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229362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229362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pic>
        <p:nvPicPr>
          <p:cNvPr id="51" name="Image 7" descr="Cub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2293620" y="50932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paires</a:t>
            </a:r>
            <a:endParaRPr lang="en-US" sz="1600" dirty="0"/>
          </a:p>
        </p:txBody>
      </p:sp>
      <p:sp>
        <p:nvSpPr>
          <p:cNvPr id="53" name="Text 42"/>
          <p:cNvSpPr txBox="1"/>
          <p:nvPr/>
        </p:nvSpPr>
        <p:spPr>
          <a:xfrm>
            <a:off x="2293620" y="56692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sp>
        <p:nvSpPr>
          <p:cNvPr id="54" name="Shape 43"/>
          <p:cNvSpPr/>
          <p:nvPr/>
        </p:nvSpPr>
        <p:spPr>
          <a:xfrm>
            <a:off x="3764280" y="44348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pic>
        <p:nvPicPr>
          <p:cNvPr id="57" name="Image 8" descr="Sear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3901440" y="50932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59" name="Text 47"/>
          <p:cNvSpPr txBox="1"/>
          <p:nvPr/>
        </p:nvSpPr>
        <p:spPr>
          <a:xfrm>
            <a:off x="3901440" y="56692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60" name="Shape 48"/>
          <p:cNvSpPr/>
          <p:nvPr/>
        </p:nvSpPr>
        <p:spPr>
          <a:xfrm>
            <a:off x="5372100" y="44348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pic>
        <p:nvPicPr>
          <p:cNvPr id="63" name="Image 9" descr="Dic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5509260" y="50932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L’histoire en chaîne</a:t>
            </a:r>
            <a:endParaRPr lang="en-US" sz="1600" dirty="0"/>
          </a:p>
        </p:txBody>
      </p:sp>
      <p:sp>
        <p:nvSpPr>
          <p:cNvPr id="65" name="Text 52"/>
          <p:cNvSpPr txBox="1"/>
          <p:nvPr/>
        </p:nvSpPr>
        <p:spPr>
          <a:xfrm>
            <a:off x="5509260" y="56692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66" name="Shape 53"/>
          <p:cNvSpPr/>
          <p:nvPr/>
        </p:nvSpPr>
        <p:spPr>
          <a:xfrm>
            <a:off x="6979920" y="4434840"/>
            <a:ext cx="1379220" cy="1600200"/>
          </a:xfrm>
          <a:prstGeom prst="roundRect">
            <a:avLst>
              <a:gd name="adj" fmla="val 53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5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pic>
        <p:nvPicPr>
          <p:cNvPr id="69" name="Image 10" descr="User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0" y="4599432"/>
            <a:ext cx="384048" cy="384048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7117080" y="5093208"/>
            <a:ext cx="1104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Pour ou contre ?</a:t>
            </a:r>
            <a:endParaRPr lang="en-US" sz="1600" dirty="0"/>
          </a:p>
        </p:txBody>
      </p:sp>
      <p:sp>
        <p:nvSpPr>
          <p:cNvPr id="71" name="Text 57"/>
          <p:cNvSpPr txBox="1"/>
          <p:nvPr/>
        </p:nvSpPr>
        <p:spPr>
          <a:xfrm>
            <a:off x="7117080" y="566928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72" name="Image 11" descr="man teach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Pont, tremplin ou wagon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 : que devient le verbe après chacun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 rot="-120000">
            <a:off x="548640" y="1932432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 rot="-120000">
            <a:off x="548640" y="1932432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en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 rot="60000">
            <a:off x="2794406" y="1932432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 rot="60000">
            <a:off x="2794406" y="1932432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omdat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 rot="120000">
            <a:off x="5040173" y="1932432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 rot="120000">
            <a:off x="5040173" y="1932432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daarom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 rot="-60000">
            <a:off x="7285939" y="1932432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 rot="-60000">
            <a:off x="7285939" y="1932432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maar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 rot="60000">
            <a:off x="9531706" y="1932432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 rot="60000">
            <a:off x="9531706" y="1932432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als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 rot="-120000">
            <a:off x="548640" y="2462784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 rot="-120000">
            <a:off x="548640" y="2462784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toch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 rot="60000">
            <a:off x="2794406" y="2462784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 rot="60000">
            <a:off x="2794406" y="2462784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want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 rot="120000">
            <a:off x="5040173" y="2462784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 rot="120000">
            <a:off x="5040173" y="2462784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hoewel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 rot="-60000">
            <a:off x="7285939" y="2462784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 rot="-60000">
            <a:off x="7285939" y="2462784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daarna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 rot="60000">
            <a:off x="9531706" y="2462784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 rot="60000">
            <a:off x="9531706" y="2462784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of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 rot="-120000">
            <a:off x="548640" y="2993136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 rot="-120000">
            <a:off x="548640" y="2993136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terwijl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 rot="60000">
            <a:off x="2794406" y="2993136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 rot="60000">
            <a:off x="2794406" y="2993136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bovendien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 rot="120000">
            <a:off x="5040173" y="2993136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 rot="120000">
            <a:off x="5040173" y="2993136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dat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 rot="-60000">
            <a:off x="7285939" y="2993136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 rot="-60000">
            <a:off x="7285939" y="2993136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anders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 rot="60000">
            <a:off x="9531706" y="2993136"/>
            <a:ext cx="210860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 rot="60000">
            <a:off x="9531706" y="2993136"/>
            <a:ext cx="2108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zodat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548640" y="3624072"/>
            <a:ext cx="3575304" cy="2639568"/>
          </a:xfrm>
          <a:prstGeom prst="roundRect">
            <a:avLst>
              <a:gd name="adj" fmla="val 4157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dash"/>
          </a:ln>
        </p:spPr>
      </p:sp>
      <p:pic>
        <p:nvPicPr>
          <p:cNvPr id="39" name="Image 1" descr="bridge at n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15512"/>
            <a:ext cx="548640" cy="54864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325880" y="369722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LE PONT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ordre normal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4306824" y="3624072"/>
            <a:ext cx="3575304" cy="2639568"/>
          </a:xfrm>
          <a:prstGeom prst="roundRect">
            <a:avLst>
              <a:gd name="adj" fmla="val 4157"/>
            </a:avLst>
          </a:prstGeom>
          <a:solidFill>
            <a:srgbClr val="6E4A9E">
              <a:alpha val="10000"/>
            </a:srgbClr>
          </a:solidFill>
          <a:ln w="25400">
            <a:solidFill>
              <a:srgbClr val="6E4A9E"/>
            </a:solidFill>
            <a:prstDash val="dash"/>
          </a:ln>
        </p:spPr>
      </p:sp>
      <p:pic>
        <p:nvPicPr>
          <p:cNvPr id="42" name="Image 2" descr="person cartwhee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715512"/>
            <a:ext cx="548640" cy="54864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5084064" y="369722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LE TREMPLIN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E4A9E"/>
                </a:solidFill>
              </a:rPr>
              <a:t>inversion : verbe, puis sujet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8065008" y="3624072"/>
            <a:ext cx="3575304" cy="2639568"/>
          </a:xfrm>
          <a:prstGeom prst="roundRect">
            <a:avLst>
              <a:gd name="adj" fmla="val 4157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dash"/>
          </a:ln>
        </p:spPr>
      </p:sp>
      <p:pic>
        <p:nvPicPr>
          <p:cNvPr id="45" name="Image 3" descr="railway c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3715512"/>
            <a:ext cx="548640" cy="54864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842248" y="369722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 WAGON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verbe à la fin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Pont, tremplin ou wagon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 : que devient le verbe après chacun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3575304" cy="3919728"/>
          </a:xfrm>
          <a:prstGeom prst="roundRect">
            <a:avLst>
              <a:gd name="adj" fmla="val 3069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solid"/>
          </a:ln>
        </p:spPr>
      </p:sp>
      <p:pic>
        <p:nvPicPr>
          <p:cNvPr id="10" name="Image 1" descr="bridge at n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3872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00558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LE PONT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ordre normal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2709672"/>
            <a:ext cx="3209544" cy="3005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2"/>
                </a:solidFill>
              </a:rPr>
              <a:t>en · maar · want · of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4306824" y="1932432"/>
            <a:ext cx="3575304" cy="3919728"/>
          </a:xfrm>
          <a:prstGeom prst="roundRect">
            <a:avLst>
              <a:gd name="adj" fmla="val 3069"/>
            </a:avLst>
          </a:prstGeom>
          <a:solidFill>
            <a:srgbClr val="6E4A9E">
              <a:alpha val="10000"/>
            </a:srgbClr>
          </a:solidFill>
          <a:ln w="25400">
            <a:solidFill>
              <a:srgbClr val="6E4A9E"/>
            </a:solidFill>
            <a:prstDash val="solid"/>
          </a:ln>
        </p:spPr>
      </p:sp>
      <p:pic>
        <p:nvPicPr>
          <p:cNvPr id="14" name="Image 2" descr="person cartwhee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023872"/>
            <a:ext cx="548640" cy="548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84064" y="200558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LE TREMPLIN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E4A9E"/>
                </a:solidFill>
              </a:rPr>
              <a:t>inversion : verbe, puis sujet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489704" y="2709672"/>
            <a:ext cx="3209544" cy="3005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6E4A9E"/>
                </a:solidFill>
              </a:rPr>
              <a:t>daarom · toch · daarna · bovendien · anders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8065008" y="1932432"/>
            <a:ext cx="3575304" cy="3919728"/>
          </a:xfrm>
          <a:prstGeom prst="roundRect">
            <a:avLst>
              <a:gd name="adj" fmla="val 3069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pic>
        <p:nvPicPr>
          <p:cNvPr id="18" name="Image 3" descr="railway c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23872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42248" y="2005584"/>
            <a:ext cx="2660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 WAGON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verbe à la fin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8247888" y="2709672"/>
            <a:ext cx="3209544" cy="3005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omdat · als · hoewel · terwijl · dat · zodat · (of)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of</a:t>
            </a:r>
            <a:r>
              <a:rPr lang="en-US" sz="1300" i="1" dirty="0">
                <a:solidFill>
                  <a:schemeClr val="accent5"/>
                </a:solidFill>
              </a:rPr>
              <a:t> : pont (ou) ou wagon (si). Hors liste : </a:t>
            </a:r>
            <a:r>
              <a:rPr lang="en-US" sz="1300" i="1" dirty="0">
                <a:solidFill>
                  <a:schemeClr val="accent5"/>
                </a:solidFill>
              </a:rPr>
              <a:t>dus</a:t>
            </a:r>
            <a:r>
              <a:rPr lang="en-US" sz="1300" i="1" dirty="0">
                <a:solidFill>
                  <a:schemeClr val="accent5"/>
                </a:solidFill>
              </a:rPr>
              <a:t> = pont ou tremplin, </a:t>
            </a:r>
            <a:r>
              <a:rPr lang="en-US" sz="1300" i="1" dirty="0">
                <a:solidFill>
                  <a:schemeClr val="accent5"/>
                </a:solidFill>
              </a:rPr>
              <a:t>toen</a:t>
            </a:r>
            <a:r>
              <a:rPr lang="en-US" sz="1300" i="1" dirty="0">
                <a:solidFill>
                  <a:schemeClr val="accent5"/>
                </a:solidFill>
              </a:rPr>
              <a:t> = wagon (quand) ou tremplin (puis).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Reliez les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les deux phrases avec le mot donné. Attention à la place du verbe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69008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87296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1  </a:t>
            </a:r>
            <a:r>
              <a:rPr lang="en-US" sz="1400" i="1" dirty="0">
                <a:solidFill>
                  <a:schemeClr val="tx1"/>
                </a:solidFill>
              </a:rPr>
              <a:t>Ik ga slapen. </a:t>
            </a:r>
            <a:r>
              <a:rPr lang="en-US" sz="1400" b="1" dirty="0">
                <a:solidFill>
                  <a:srgbClr val="2A6FB0"/>
                </a:solidFill>
              </a:rPr>
              <a:t>+ want +</a:t>
            </a:r>
            <a:r>
              <a:rPr lang="en-US" sz="1400" i="1" dirty="0">
                <a:solidFill>
                  <a:schemeClr val="tx1"/>
                </a:solidFill>
              </a:rPr>
              <a:t> Ik ben moe.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370064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slapen, want </a:t>
            </a:r>
            <a:r>
              <a:rPr lang="en-US" sz="1700" i="1" dirty="0">
                <a:solidFill>
                  <a:schemeClr val="accent5"/>
                </a:solidFill>
              </a:rPr>
              <a:t>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2990088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2  </a:t>
            </a:r>
            <a:r>
              <a:rPr lang="en-US" sz="1400" i="1" dirty="0">
                <a:solidFill>
                  <a:schemeClr val="tx1"/>
                </a:solidFill>
              </a:rPr>
              <a:t>Ik ga slapen. </a:t>
            </a:r>
            <a:r>
              <a:rPr lang="en-US" sz="1400" b="1" dirty="0">
                <a:solidFill>
                  <a:srgbClr val="D9700F"/>
                </a:solidFill>
              </a:rPr>
              <a:t>+ omdat +</a:t>
            </a:r>
            <a:r>
              <a:rPr lang="en-US" sz="1400" i="1" dirty="0">
                <a:solidFill>
                  <a:schemeClr val="tx1"/>
                </a:solidFill>
              </a:rPr>
              <a:t> Ik ben moe.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372856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slapen, omdat </a:t>
            </a:r>
            <a:r>
              <a:rPr lang="en-US" sz="1700" i="1" dirty="0">
                <a:solidFill>
                  <a:schemeClr val="accent5"/>
                </a:solidFill>
              </a:rPr>
              <a:t>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974592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2880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3  </a:t>
            </a:r>
            <a:r>
              <a:rPr lang="en-US" sz="1400" i="1" dirty="0">
                <a:solidFill>
                  <a:schemeClr val="tx1"/>
                </a:solidFill>
              </a:rPr>
              <a:t>Ik ben moe. </a:t>
            </a:r>
            <a:r>
              <a:rPr lang="en-US" sz="1400" b="1" dirty="0">
                <a:solidFill>
                  <a:srgbClr val="6E4A9E"/>
                </a:solidFill>
              </a:rPr>
              <a:t>+ daarom +</a:t>
            </a:r>
            <a:r>
              <a:rPr lang="en-US" sz="1400" i="1" dirty="0">
                <a:solidFill>
                  <a:schemeClr val="tx1"/>
                </a:solidFill>
              </a:rPr>
              <a:t> Ik ga slapen.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75648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moe. Daarom </a:t>
            </a:r>
            <a:r>
              <a:rPr lang="en-US" sz="1700" i="1" dirty="0">
                <a:solidFill>
                  <a:schemeClr val="accent5"/>
                </a:solidFill>
              </a:rPr>
              <a:t>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4977384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4995672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4  </a:t>
            </a:r>
            <a:r>
              <a:rPr lang="en-US" sz="1400" i="1" dirty="0">
                <a:solidFill>
                  <a:schemeClr val="tx1"/>
                </a:solidFill>
              </a:rPr>
              <a:t>Ik bel je. </a:t>
            </a:r>
            <a:r>
              <a:rPr lang="en-US" sz="1400" b="1" dirty="0">
                <a:solidFill>
                  <a:srgbClr val="D9700F"/>
                </a:solidFill>
              </a:rPr>
              <a:t>+ als +</a:t>
            </a:r>
            <a:r>
              <a:rPr lang="en-US" sz="1400" i="1" dirty="0">
                <a:solidFill>
                  <a:schemeClr val="tx1"/>
                </a:solidFill>
              </a:rPr>
              <a:t> Ik ben thuis.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5378440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bel je als </a:t>
            </a:r>
            <a:r>
              <a:rPr lang="en-US" sz="1700" i="1" dirty="0">
                <a:solidFill>
                  <a:schemeClr val="accent5"/>
                </a:solidFill>
              </a:rPr>
              <a:t>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231636" y="1969008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368796" y="1987296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5  </a:t>
            </a:r>
            <a:r>
              <a:rPr lang="en-US" sz="1400" i="1" dirty="0">
                <a:solidFill>
                  <a:schemeClr val="tx1"/>
                </a:solidFill>
              </a:rPr>
              <a:t>Het is koud. </a:t>
            </a:r>
            <a:r>
              <a:rPr lang="en-US" sz="1400" b="1" dirty="0">
                <a:solidFill>
                  <a:srgbClr val="6E4A9E"/>
                </a:solidFill>
              </a:rPr>
              <a:t>+ toch +</a:t>
            </a:r>
            <a:r>
              <a:rPr lang="en-US" sz="1400" i="1" dirty="0">
                <a:solidFill>
                  <a:schemeClr val="tx1"/>
                </a:solidFill>
              </a:rPr>
              <a:t> We gaan wandelen.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6368796" y="2370064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is koud. Toch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6231636" y="2971800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68796" y="2990088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6  </a:t>
            </a:r>
            <a:r>
              <a:rPr lang="en-US" sz="1400" i="1" dirty="0">
                <a:solidFill>
                  <a:schemeClr val="tx1"/>
                </a:solidFill>
              </a:rPr>
              <a:t>Ze werkt. </a:t>
            </a:r>
            <a:r>
              <a:rPr lang="en-US" sz="1400" b="1" dirty="0">
                <a:solidFill>
                  <a:srgbClr val="D9700F"/>
                </a:solidFill>
              </a:rPr>
              <a:t>+ terwijl +</a:t>
            </a:r>
            <a:r>
              <a:rPr lang="en-US" sz="1400" i="1" dirty="0">
                <a:solidFill>
                  <a:schemeClr val="tx1"/>
                </a:solidFill>
              </a:rPr>
              <a:t> De kinderen slapen.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368796" y="3372856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Ze werkt terwijl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231636" y="3974592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68796" y="3992880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7  </a:t>
            </a:r>
            <a:r>
              <a:rPr lang="en-US" sz="1400" i="1" dirty="0">
                <a:solidFill>
                  <a:schemeClr val="tx1"/>
                </a:solidFill>
              </a:rPr>
              <a:t>Ik weet niet. </a:t>
            </a:r>
            <a:r>
              <a:rPr lang="en-US" sz="1400" b="1" dirty="0">
                <a:solidFill>
                  <a:srgbClr val="D9700F"/>
                </a:solidFill>
              </a:rPr>
              <a:t>+ of +</a:t>
            </a:r>
            <a:r>
              <a:rPr lang="en-US" sz="1400" i="1" dirty="0">
                <a:solidFill>
                  <a:schemeClr val="tx1"/>
                </a:solidFill>
              </a:rPr>
              <a:t> Komt hij morgen?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6368796" y="4375648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weet niet of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6231636" y="4977384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68796" y="4995672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8  </a:t>
            </a:r>
            <a:r>
              <a:rPr lang="en-US" sz="1400" i="1" dirty="0">
                <a:solidFill>
                  <a:schemeClr val="tx1"/>
                </a:solidFill>
              </a:rPr>
              <a:t>Hij is geslaagd. </a:t>
            </a:r>
            <a:r>
              <a:rPr lang="en-US" sz="1400" b="1" dirty="0">
                <a:solidFill>
                  <a:srgbClr val="D9700F"/>
                </a:solidFill>
              </a:rPr>
              <a:t>+ hoewel +</a:t>
            </a:r>
            <a:r>
              <a:rPr lang="en-US" sz="1400" i="1" dirty="0">
                <a:solidFill>
                  <a:schemeClr val="tx1"/>
                </a:solidFill>
              </a:rPr>
              <a:t> Hij heeft niet gestudeerd.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6368796" y="5378440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is geslaagd, hoewel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Reliez les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les deux phrases avec le mot donné. Attention à la place du verbe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69008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987296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1  </a:t>
            </a:r>
            <a:r>
              <a:rPr lang="en-US" sz="1400" i="1" dirty="0">
                <a:solidFill>
                  <a:schemeClr val="tx1"/>
                </a:solidFill>
              </a:rPr>
              <a:t>Ik ga slapen. </a:t>
            </a:r>
            <a:r>
              <a:rPr lang="en-US" sz="1400" b="1" dirty="0">
                <a:solidFill>
                  <a:srgbClr val="2A6FB0"/>
                </a:solidFill>
              </a:rPr>
              <a:t>+ want +</a:t>
            </a:r>
            <a:r>
              <a:rPr lang="en-US" sz="1400" i="1" dirty="0">
                <a:solidFill>
                  <a:schemeClr val="tx1"/>
                </a:solidFill>
              </a:rPr>
              <a:t> Ik ben moe.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70064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slapen, want </a:t>
            </a:r>
            <a:r>
              <a:rPr lang="en-US" sz="1700" b="1" i="1" dirty="0">
                <a:solidFill>
                  <a:schemeClr val="accent3"/>
                </a:solidFill>
              </a:rPr>
              <a:t>ik ben moe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990088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2  </a:t>
            </a:r>
            <a:r>
              <a:rPr lang="en-US" sz="1400" i="1" dirty="0">
                <a:solidFill>
                  <a:schemeClr val="tx1"/>
                </a:solidFill>
              </a:rPr>
              <a:t>Ik ga slapen. </a:t>
            </a:r>
            <a:r>
              <a:rPr lang="en-US" sz="1400" b="1" dirty="0">
                <a:solidFill>
                  <a:srgbClr val="D9700F"/>
                </a:solidFill>
              </a:rPr>
              <a:t>+ omdat +</a:t>
            </a:r>
            <a:r>
              <a:rPr lang="en-US" sz="1400" i="1" dirty="0">
                <a:solidFill>
                  <a:schemeClr val="tx1"/>
                </a:solidFill>
              </a:rPr>
              <a:t> Ik ben moe.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72856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slapen, omdat </a:t>
            </a:r>
            <a:r>
              <a:rPr lang="en-US" sz="1700" b="1" i="1" dirty="0">
                <a:solidFill>
                  <a:schemeClr val="accent3"/>
                </a:solidFill>
              </a:rPr>
              <a:t>ik moe ben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3974592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3992880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3  </a:t>
            </a:r>
            <a:r>
              <a:rPr lang="en-US" sz="1400" i="1" dirty="0">
                <a:solidFill>
                  <a:schemeClr val="tx1"/>
                </a:solidFill>
              </a:rPr>
              <a:t>Ik ben moe. </a:t>
            </a:r>
            <a:r>
              <a:rPr lang="en-US" sz="1400" b="1" dirty="0">
                <a:solidFill>
                  <a:srgbClr val="6E4A9E"/>
                </a:solidFill>
              </a:rPr>
              <a:t>+ daarom +</a:t>
            </a:r>
            <a:r>
              <a:rPr lang="en-US" sz="1400" i="1" dirty="0">
                <a:solidFill>
                  <a:schemeClr val="tx1"/>
                </a:solidFill>
              </a:rPr>
              <a:t> Ik ga slapen.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375648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moe. Daarom </a:t>
            </a:r>
            <a:r>
              <a:rPr lang="en-US" sz="1700" b="1" i="1" dirty="0">
                <a:solidFill>
                  <a:schemeClr val="accent3"/>
                </a:solidFill>
              </a:rPr>
              <a:t>ga ik slapen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4977384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995672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4  </a:t>
            </a:r>
            <a:r>
              <a:rPr lang="en-US" sz="1400" i="1" dirty="0">
                <a:solidFill>
                  <a:schemeClr val="tx1"/>
                </a:solidFill>
              </a:rPr>
              <a:t>Ik bel je. </a:t>
            </a:r>
            <a:r>
              <a:rPr lang="en-US" sz="1400" b="1" dirty="0">
                <a:solidFill>
                  <a:srgbClr val="D9700F"/>
                </a:solidFill>
              </a:rPr>
              <a:t>+ als +</a:t>
            </a:r>
            <a:r>
              <a:rPr lang="en-US" sz="1400" i="1" dirty="0">
                <a:solidFill>
                  <a:schemeClr val="tx1"/>
                </a:solidFill>
              </a:rPr>
              <a:t> Ik ben thuis.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5378440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bel je als </a:t>
            </a:r>
            <a:r>
              <a:rPr lang="en-US" sz="1700" b="1" i="1" dirty="0">
                <a:solidFill>
                  <a:schemeClr val="accent3"/>
                </a:solidFill>
              </a:rPr>
              <a:t>ik thuis ben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231636" y="1969008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68796" y="1987296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5  </a:t>
            </a:r>
            <a:r>
              <a:rPr lang="en-US" sz="1400" i="1" dirty="0">
                <a:solidFill>
                  <a:schemeClr val="tx1"/>
                </a:solidFill>
              </a:rPr>
              <a:t>Het is koud. </a:t>
            </a:r>
            <a:r>
              <a:rPr lang="en-US" sz="1400" b="1" dirty="0">
                <a:solidFill>
                  <a:srgbClr val="6E4A9E"/>
                </a:solidFill>
              </a:rPr>
              <a:t>+ toch +</a:t>
            </a:r>
            <a:r>
              <a:rPr lang="en-US" sz="1400" i="1" dirty="0">
                <a:solidFill>
                  <a:schemeClr val="tx1"/>
                </a:solidFill>
              </a:rPr>
              <a:t> We gaan wandelen.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368796" y="2370064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is koud. Toch </a:t>
            </a:r>
            <a:r>
              <a:rPr lang="en-US" sz="1700" b="1" i="1" dirty="0">
                <a:solidFill>
                  <a:schemeClr val="accent3"/>
                </a:solidFill>
              </a:rPr>
              <a:t>gaan we wandelen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231636" y="2971800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68796" y="2990088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6  </a:t>
            </a:r>
            <a:r>
              <a:rPr lang="en-US" sz="1400" i="1" dirty="0">
                <a:solidFill>
                  <a:schemeClr val="tx1"/>
                </a:solidFill>
              </a:rPr>
              <a:t>Ze werkt. </a:t>
            </a:r>
            <a:r>
              <a:rPr lang="en-US" sz="1400" b="1" dirty="0">
                <a:solidFill>
                  <a:srgbClr val="D9700F"/>
                </a:solidFill>
              </a:rPr>
              <a:t>+ terwijl +</a:t>
            </a:r>
            <a:r>
              <a:rPr lang="en-US" sz="1400" i="1" dirty="0">
                <a:solidFill>
                  <a:schemeClr val="tx1"/>
                </a:solidFill>
              </a:rPr>
              <a:t> De kinderen slapen.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368796" y="3372856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Ze werkt terwijl </a:t>
            </a:r>
            <a:r>
              <a:rPr lang="en-US" sz="1700" b="1" i="1" dirty="0">
                <a:solidFill>
                  <a:schemeClr val="accent3"/>
                </a:solidFill>
              </a:rPr>
              <a:t>de kinderen slapen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6231636" y="3974592"/>
            <a:ext cx="5408676" cy="911352"/>
          </a:xfrm>
          <a:prstGeom prst="roundRect">
            <a:avLst>
              <a:gd name="adj" fmla="val 1003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68796" y="3992880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7  </a:t>
            </a:r>
            <a:r>
              <a:rPr lang="en-US" sz="1400" i="1" dirty="0">
                <a:solidFill>
                  <a:schemeClr val="tx1"/>
                </a:solidFill>
              </a:rPr>
              <a:t>Ik weet niet. </a:t>
            </a:r>
            <a:r>
              <a:rPr lang="en-US" sz="1400" b="1" dirty="0">
                <a:solidFill>
                  <a:srgbClr val="D9700F"/>
                </a:solidFill>
              </a:rPr>
              <a:t>+ of +</a:t>
            </a:r>
            <a:r>
              <a:rPr lang="en-US" sz="1400" i="1" dirty="0">
                <a:solidFill>
                  <a:schemeClr val="tx1"/>
                </a:solidFill>
              </a:rPr>
              <a:t> Komt hij morgen?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6368796" y="4375648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weet niet of </a:t>
            </a:r>
            <a:r>
              <a:rPr lang="en-US" sz="1700" b="1" i="1" dirty="0">
                <a:solidFill>
                  <a:schemeClr val="accent3"/>
                </a:solidFill>
              </a:rPr>
              <a:t>hij morgen komt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231636" y="4977384"/>
            <a:ext cx="5408676" cy="911352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68796" y="4995672"/>
            <a:ext cx="5134356" cy="38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A70"/>
                </a:solidFill>
              </a:rPr>
              <a:t>8  </a:t>
            </a:r>
            <a:r>
              <a:rPr lang="en-US" sz="1400" i="1" dirty="0">
                <a:solidFill>
                  <a:schemeClr val="tx1"/>
                </a:solidFill>
              </a:rPr>
              <a:t>Hij is geslaagd. </a:t>
            </a:r>
            <a:r>
              <a:rPr lang="en-US" sz="1400" b="1" dirty="0">
                <a:solidFill>
                  <a:srgbClr val="D9700F"/>
                </a:solidFill>
              </a:rPr>
              <a:t>+ hoewel +</a:t>
            </a:r>
            <a:r>
              <a:rPr lang="en-US" sz="1400" i="1" dirty="0">
                <a:solidFill>
                  <a:schemeClr val="tx1"/>
                </a:solidFill>
              </a:rPr>
              <a:t> Hij heeft niet gestudeerd.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6368796" y="5378440"/>
            <a:ext cx="5134356" cy="50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is geslaagd, hoewel </a:t>
            </a:r>
            <a:r>
              <a:rPr lang="en-US" sz="1700" b="1" i="1" dirty="0">
                <a:solidFill>
                  <a:schemeClr val="accent3"/>
                </a:solidFill>
              </a:rPr>
              <a:t>hij niet gestudeerd heeft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N° 8 : aussi </a:t>
            </a:r>
            <a:r>
              <a:rPr lang="en-US" sz="1300" i="1" dirty="0">
                <a:solidFill>
                  <a:schemeClr val="accent5"/>
                </a:solidFill>
              </a:rPr>
              <a:t>hoewel hij niet heeft gestudeerd</a:t>
            </a:r>
            <a:r>
              <a:rPr lang="en-US" sz="1300" i="1" dirty="0">
                <a:solidFill>
                  <a:schemeClr val="accent5"/>
                </a:solidFill>
              </a:rPr>
              <a:t>. Le verbe de la principale ne bouge pas.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Une idée, plusieurs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la même idée avec chaque mot de liaison.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5408676" cy="4331208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cloud with 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216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204216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regent. → Ik neem de bus.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85800" y="2874264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2874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want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011680" y="2801112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neem de bus, want </a:t>
            </a:r>
            <a:r>
              <a:rPr lang="en-US" sz="1500" i="1" dirty="0">
                <a:solidFill>
                  <a:schemeClr val="accent5"/>
                </a:solidFill>
              </a:rPr>
              <a:t>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85800" y="3728466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372846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011680" y="3655314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neem de bus, omdat </a:t>
            </a:r>
            <a:r>
              <a:rPr lang="en-US" sz="1500" i="1" dirty="0">
                <a:solidFill>
                  <a:schemeClr val="accent5"/>
                </a:solidFill>
              </a:rPr>
              <a:t>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4582668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" y="45826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daarom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011680" y="4509516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Het regent. Daarom </a:t>
            </a:r>
            <a:r>
              <a:rPr lang="en-US" sz="1500" i="1" dirty="0">
                <a:solidFill>
                  <a:schemeClr val="accent5"/>
                </a:solidFill>
              </a:rPr>
              <a:t>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85800" y="5436870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43687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 …,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011680" y="5363718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231636" y="1932432"/>
            <a:ext cx="5408676" cy="4331208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20421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00316" y="204216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heb veel werk. → Ik kan niet komen.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368796" y="2874264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368796" y="2874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dus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694676" y="2801112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veel werk, dus </a:t>
            </a:r>
            <a:r>
              <a:rPr lang="en-US" sz="15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368796" y="3728466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368796" y="372846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daarom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694676" y="3655314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veel werk. Daarom </a:t>
            </a:r>
            <a:r>
              <a:rPr lang="en-US" sz="15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368796" y="4582668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368796" y="45826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694676" y="4509516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kan niet komen, omdat </a:t>
            </a:r>
            <a:r>
              <a:rPr lang="en-US" sz="15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368796" y="5436870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368796" y="543687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 …,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7694676" y="5363718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Une idée, plusieurs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la même idée avec chaque mot de liaison.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08676" cy="4331208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cloud with 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216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04216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regent. → Ik neem de bus.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85800" y="2874264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2874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want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011680" y="2801112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neem de bus, want </a:t>
            </a:r>
            <a:r>
              <a:rPr lang="en-US" sz="1500" b="1" i="1" dirty="0">
                <a:solidFill>
                  <a:schemeClr val="accent3"/>
                </a:solidFill>
              </a:rPr>
              <a:t>het regent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5800" y="3728466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372846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3655314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neem de bus, omdat </a:t>
            </a:r>
            <a:r>
              <a:rPr lang="en-US" sz="1500" b="1" i="1" dirty="0">
                <a:solidFill>
                  <a:schemeClr val="accent3"/>
                </a:solidFill>
              </a:rPr>
              <a:t>het regent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85800" y="4582668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45826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daarom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4509516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Het regent. Daarom </a:t>
            </a:r>
            <a:r>
              <a:rPr lang="en-US" sz="1500" b="1" i="1" dirty="0">
                <a:solidFill>
                  <a:schemeClr val="accent3"/>
                </a:solidFill>
              </a:rPr>
              <a:t>neem ik de bus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85800" y="5436870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543687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 …,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2011680" y="5363718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Omdat het regent, neem ik de bus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231636" y="1932432"/>
            <a:ext cx="5408676" cy="4331208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204216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00316" y="204216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heb veel werk. → Ik kan niet komen.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368796" y="2874264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368796" y="2874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dus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694676" y="2801112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veel werk, dus </a:t>
            </a:r>
            <a:r>
              <a:rPr lang="en-US" sz="1500" b="1" i="1" dirty="0">
                <a:solidFill>
                  <a:schemeClr val="accent3"/>
                </a:solidFill>
              </a:rPr>
              <a:t>ik kan niet komen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368796" y="3728466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368796" y="372846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daarom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694676" y="3655314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veel werk. Daarom </a:t>
            </a:r>
            <a:r>
              <a:rPr lang="en-US" sz="1500" b="1" i="1" dirty="0">
                <a:solidFill>
                  <a:schemeClr val="accent3"/>
                </a:solidFill>
              </a:rPr>
              <a:t>kan ik niet komen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6368796" y="4582668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368796" y="45826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694676" y="4509516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kan niet komen, omdat </a:t>
            </a:r>
            <a:r>
              <a:rPr lang="en-US" sz="1500" b="1" i="1" dirty="0">
                <a:solidFill>
                  <a:schemeClr val="accent3"/>
                </a:solidFill>
              </a:rPr>
              <a:t>ik veel werk heb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6368796" y="5436870"/>
            <a:ext cx="1234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368796" y="543687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Omdat …,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694676" y="5363718"/>
            <a:ext cx="3808476" cy="8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Omdat ik veel werk heb, kan ik niet komen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Toen, als of wanneer?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toen</a:t>
            </a:r>
            <a:r>
              <a:rPr lang="en-US" sz="1700" i="1" dirty="0">
                <a:solidFill>
                  <a:schemeClr val="accent5"/>
                </a:solidFill>
              </a:rPr>
              <a:t>, </a:t>
            </a:r>
            <a:r>
              <a:rPr lang="en-US" sz="1700" i="1" dirty="0">
                <a:solidFill>
                  <a:schemeClr val="accent5"/>
                </a:solidFill>
              </a:rPr>
              <a:t>als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wanneer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klein was, woonde ik in Namen.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het regent, neem ik de bus.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begint de cursus?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thuiskwam, was iedereen al weg.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tijd heb, bel ik je.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we vroeger op vakantie gingen, namen we de trein.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Weet je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de trein vertrekt?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hij de brief las, begon hij te lachen.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Toen, als of wanneer?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toen</a:t>
            </a:r>
            <a:r>
              <a:rPr lang="en-US" sz="1700" i="1" dirty="0">
                <a:solidFill>
                  <a:schemeClr val="accent5"/>
                </a:solidFill>
              </a:rPr>
              <a:t>, </a:t>
            </a:r>
            <a:r>
              <a:rPr lang="en-US" sz="1700" i="1" dirty="0">
                <a:solidFill>
                  <a:schemeClr val="accent5"/>
                </a:solidFill>
              </a:rPr>
              <a:t>als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wanneer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b="1" i="1" dirty="0">
                <a:solidFill>
                  <a:schemeClr val="accent3"/>
                </a:solidFill>
              </a:rPr>
              <a:t>Toen</a:t>
            </a:r>
            <a:r>
              <a:rPr lang="en-US" sz="1900" i="1" dirty="0">
                <a:solidFill>
                  <a:schemeClr val="tx1"/>
                </a:solidFill>
              </a:rPr>
              <a:t> ik klein was, woonde ik in Namen.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b="1" i="1" dirty="0">
                <a:solidFill>
                  <a:schemeClr val="accent3"/>
                </a:solidFill>
              </a:rPr>
              <a:t>Als</a:t>
            </a:r>
            <a:r>
              <a:rPr lang="en-US" sz="1900" i="1" dirty="0">
                <a:solidFill>
                  <a:schemeClr val="tx1"/>
                </a:solidFill>
              </a:rPr>
              <a:t> het regent, neem ik de bus.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b="1" i="1" dirty="0">
                <a:solidFill>
                  <a:schemeClr val="accent3"/>
                </a:solidFill>
              </a:rPr>
              <a:t>Wanneer</a:t>
            </a:r>
            <a:r>
              <a:rPr lang="en-US" sz="1900" i="1" dirty="0">
                <a:solidFill>
                  <a:schemeClr val="tx1"/>
                </a:solidFill>
              </a:rPr>
              <a:t> begint de cursus?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b="1" i="1" dirty="0">
                <a:solidFill>
                  <a:schemeClr val="accent3"/>
                </a:solidFill>
              </a:rPr>
              <a:t>Toen</a:t>
            </a:r>
            <a:r>
              <a:rPr lang="en-US" sz="1900" i="1" dirty="0">
                <a:solidFill>
                  <a:schemeClr val="tx1"/>
                </a:solidFill>
              </a:rPr>
              <a:t> ik thuiskwam, was iedereen al weg.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b="1" i="1" dirty="0">
                <a:solidFill>
                  <a:schemeClr val="accent3"/>
                </a:solidFill>
              </a:rPr>
              <a:t>Als</a:t>
            </a:r>
            <a:r>
              <a:rPr lang="en-US" sz="1900" i="1" dirty="0">
                <a:solidFill>
                  <a:schemeClr val="tx1"/>
                </a:solidFill>
              </a:rPr>
              <a:t> ik tijd heb, bel ik je.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b="1" i="1" dirty="0">
                <a:solidFill>
                  <a:schemeClr val="accent3"/>
                </a:solidFill>
              </a:rPr>
              <a:t>Als</a:t>
            </a:r>
            <a:r>
              <a:rPr lang="en-US" sz="1900" i="1" dirty="0">
                <a:solidFill>
                  <a:schemeClr val="tx1"/>
                </a:solidFill>
              </a:rPr>
              <a:t> we vroeger op vakantie gingen, namen we de trein.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Weet je </a:t>
            </a:r>
            <a:r>
              <a:rPr lang="en-US" sz="1900" b="1" i="1" dirty="0">
                <a:solidFill>
                  <a:schemeClr val="accent3"/>
                </a:solidFill>
              </a:rPr>
              <a:t>wanneer</a:t>
            </a:r>
            <a:r>
              <a:rPr lang="en-US" sz="1900" i="1" dirty="0">
                <a:solidFill>
                  <a:schemeClr val="tx1"/>
                </a:solidFill>
              </a:rPr>
              <a:t> de trein vertrekt?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b="1" i="1" dirty="0">
                <a:solidFill>
                  <a:schemeClr val="accent3"/>
                </a:solidFill>
              </a:rPr>
              <a:t>Toen</a:t>
            </a:r>
            <a:r>
              <a:rPr lang="en-US" sz="1900" i="1" dirty="0">
                <a:solidFill>
                  <a:schemeClr val="tx1"/>
                </a:solidFill>
              </a:rPr>
              <a:t> hij de brief las, begon hij te lachen.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N° 2, 5 et 6 : </a:t>
            </a:r>
            <a:r>
              <a:rPr lang="en-US" sz="1400" i="1" dirty="0">
                <a:solidFill>
                  <a:schemeClr val="accent5"/>
                </a:solidFill>
              </a:rPr>
              <a:t>wanneer</a:t>
            </a:r>
            <a:r>
              <a:rPr lang="en-US" sz="1400" i="1" dirty="0">
                <a:solidFill>
                  <a:schemeClr val="accent5"/>
                </a:solidFill>
              </a:rPr>
              <a:t> est aussi possible. </a:t>
            </a:r>
            <a:r>
              <a:rPr lang="en-US" sz="1400" i="1" dirty="0">
                <a:solidFill>
                  <a:schemeClr val="accent5"/>
                </a:solidFill>
              </a:rPr>
              <a:t>toen</a:t>
            </a:r>
            <a:r>
              <a:rPr lang="en-US" sz="1400" i="1" dirty="0">
                <a:solidFill>
                  <a:schemeClr val="accent5"/>
                </a:solidFill>
              </a:rPr>
              <a:t> = un moment ou une période unique du passé.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Quel mot de liaison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dans la banque (chaque mot une fois) : </a:t>
            </a:r>
            <a:r>
              <a:rPr lang="en-US" sz="1700" i="1" dirty="0">
                <a:solidFill>
                  <a:schemeClr val="accent5"/>
                </a:solidFill>
              </a:rPr>
              <a:t>voordat · nadat · terwijl · zodra · zodat · hoewel · tenzij · omdat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32867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Ik bel je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iets weet.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het duur is, koop ik het.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We vertrekken om 8 uur,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het sneeuwt.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Lees de tekst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je de vragen beantwoordt.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32867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hij gegeten had, ging hij slapen.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Ik spreek langzaam,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iedereen me begrijpt.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kook, luister ik naar podcasts.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Ik kom niet,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ik ziek ben.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Quel mot de liaison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dans la banque (chaque mot une fois) : </a:t>
            </a:r>
            <a:r>
              <a:rPr lang="en-US" sz="1700" i="1" dirty="0">
                <a:solidFill>
                  <a:schemeClr val="accent5"/>
                </a:solidFill>
              </a:rPr>
              <a:t>voordat · nadat · terwijl · zodra · zodat · hoewel · tenzij · omdat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32867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Ik bel je </a:t>
            </a:r>
            <a:r>
              <a:rPr lang="en-US" sz="1900" b="1" i="1" dirty="0">
                <a:solidFill>
                  <a:schemeClr val="accent3"/>
                </a:solidFill>
              </a:rPr>
              <a:t>zodra</a:t>
            </a:r>
            <a:r>
              <a:rPr lang="en-US" sz="1900" i="1" dirty="0">
                <a:solidFill>
                  <a:schemeClr val="tx1"/>
                </a:solidFill>
              </a:rPr>
              <a:t> ik iets weet.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b="1" i="1" dirty="0">
                <a:solidFill>
                  <a:schemeClr val="accent3"/>
                </a:solidFill>
              </a:rPr>
              <a:t>Hoewel</a:t>
            </a:r>
            <a:r>
              <a:rPr lang="en-US" sz="1900" i="1" dirty="0">
                <a:solidFill>
                  <a:schemeClr val="tx1"/>
                </a:solidFill>
              </a:rPr>
              <a:t> het duur is, koop ik het.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We vertrekken om 8 uur, </a:t>
            </a:r>
            <a:r>
              <a:rPr lang="en-US" sz="1900" b="1" i="1" dirty="0">
                <a:solidFill>
                  <a:schemeClr val="accent3"/>
                </a:solidFill>
              </a:rPr>
              <a:t>tenzij</a:t>
            </a:r>
            <a:r>
              <a:rPr lang="en-US" sz="1900" i="1" dirty="0">
                <a:solidFill>
                  <a:schemeClr val="tx1"/>
                </a:solidFill>
              </a:rPr>
              <a:t> het sneeuwt.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Lees de tekst </a:t>
            </a:r>
            <a:r>
              <a:rPr lang="en-US" sz="1900" b="1" i="1" dirty="0">
                <a:solidFill>
                  <a:schemeClr val="accent3"/>
                </a:solidFill>
              </a:rPr>
              <a:t>voordat</a:t>
            </a:r>
            <a:r>
              <a:rPr lang="en-US" sz="1900" i="1" dirty="0">
                <a:solidFill>
                  <a:schemeClr val="tx1"/>
                </a:solidFill>
              </a:rPr>
              <a:t> je de vragen beantwoordt.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32867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b="1" i="1" dirty="0">
                <a:solidFill>
                  <a:schemeClr val="accent3"/>
                </a:solidFill>
              </a:rPr>
              <a:t>Nadat</a:t>
            </a:r>
            <a:r>
              <a:rPr lang="en-US" sz="1900" i="1" dirty="0">
                <a:solidFill>
                  <a:schemeClr val="tx1"/>
                </a:solidFill>
              </a:rPr>
              <a:t> hij gegeten had, ging hij slapen.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Ik spreek langzaam, </a:t>
            </a:r>
            <a:r>
              <a:rPr lang="en-US" sz="1900" b="1" i="1" dirty="0">
                <a:solidFill>
                  <a:schemeClr val="accent3"/>
                </a:solidFill>
              </a:rPr>
              <a:t>zodat</a:t>
            </a:r>
            <a:r>
              <a:rPr lang="en-US" sz="1900" i="1" dirty="0">
                <a:solidFill>
                  <a:schemeClr val="tx1"/>
                </a:solidFill>
              </a:rPr>
              <a:t> iedereen me begrijpt.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b="1" i="1" dirty="0">
                <a:solidFill>
                  <a:schemeClr val="accent3"/>
                </a:solidFill>
              </a:rPr>
              <a:t>Terwijl</a:t>
            </a:r>
            <a:r>
              <a:rPr lang="en-US" sz="1900" i="1" dirty="0">
                <a:solidFill>
                  <a:schemeClr val="tx1"/>
                </a:solidFill>
              </a:rPr>
              <a:t> ik kook, luister ik naar podcasts.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Ik kom niet, </a:t>
            </a:r>
            <a:r>
              <a:rPr lang="en-US" sz="1900" b="1" i="1" dirty="0">
                <a:solidFill>
                  <a:schemeClr val="accent3"/>
                </a:solidFill>
              </a:rPr>
              <a:t>omdat</a:t>
            </a:r>
            <a:r>
              <a:rPr lang="en-US" sz="1900" i="1" dirty="0">
                <a:solidFill>
                  <a:schemeClr val="tx1"/>
                </a:solidFill>
              </a:rPr>
              <a:t> ik ziek ben.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N° 1 : aussi </a:t>
            </a:r>
            <a:r>
              <a:rPr lang="en-US" sz="1400" i="1" dirty="0">
                <a:solidFill>
                  <a:schemeClr val="accent5"/>
                </a:solidFill>
              </a:rPr>
              <a:t>als</a:t>
            </a:r>
            <a:r>
              <a:rPr lang="en-US" sz="1400" i="1" dirty="0">
                <a:solidFill>
                  <a:schemeClr val="accent5"/>
                </a:solidFill>
              </a:rPr>
              <a:t>. N° 5 : aussi </a:t>
            </a:r>
            <a:r>
              <a:rPr lang="en-US" sz="1400" i="1" dirty="0">
                <a:solidFill>
                  <a:schemeClr val="accent5"/>
                </a:solidFill>
              </a:rPr>
              <a:t>Zodra</a:t>
            </a:r>
            <a:r>
              <a:rPr lang="en-US" sz="1400" i="1" dirty="0">
                <a:solidFill>
                  <a:schemeClr val="accent5"/>
                </a:solidFill>
              </a:rPr>
              <a:t>. N° 7 : aussi </a:t>
            </a:r>
            <a:r>
              <a:rPr lang="en-US" sz="1400" i="1" dirty="0">
                <a:solidFill>
                  <a:schemeClr val="accent5"/>
                </a:solidFill>
              </a:rPr>
              <a:t>als</a:t>
            </a:r>
            <a:r>
              <a:rPr lang="en-US" sz="1400" i="1" dirty="0">
                <a:solidFill>
                  <a:schemeClr val="accent5"/>
                </a:solidFill>
              </a:rPr>
              <a:t>, </a:t>
            </a:r>
            <a:r>
              <a:rPr lang="en-US" sz="1400" i="1" dirty="0">
                <a:solidFill>
                  <a:schemeClr val="accent5"/>
                </a:solidFill>
              </a:rPr>
              <a:t>wanneer</a:t>
            </a:r>
            <a:r>
              <a:rPr lang="en-US" sz="1400" i="1" dirty="0">
                <a:solidFill>
                  <a:schemeClr val="accent5"/>
                </a:solidFill>
              </a:rPr>
              <a:t> (habitude).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Questions indirectes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Posez la question poliment : le mot interrogatif (ou </a:t>
            </a:r>
            <a:r>
              <a:rPr lang="en-US" sz="1700" i="1" dirty="0">
                <a:solidFill>
                  <a:schemeClr val="accent5"/>
                </a:solidFill>
              </a:rPr>
              <a:t>of</a:t>
            </a:r>
            <a:r>
              <a:rPr lang="en-US" sz="1700" i="1" dirty="0">
                <a:solidFill>
                  <a:schemeClr val="accent5"/>
                </a:solidFill>
              </a:rPr>
              <a:t>) devient un wagon.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69008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69008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Waar woont Sofie?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617720" y="1969008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1969008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Weet je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2629916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629916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Hoe laat begint de film?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29916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2629916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Weet je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3290824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290824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Komt Karim morgen?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290824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5120640" y="3290824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vraag me af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48640" y="3951732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951732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Wat kost dat?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3951732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5120640" y="3951732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Kunt u me zeggen </a:t>
            </a:r>
            <a:r>
              <a:rPr lang="en-US" sz="1700" i="1" dirty="0">
                <a:solidFill>
                  <a:schemeClr val="accent5"/>
                </a:solidFill>
              </a:rPr>
              <a:t>…………………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48640" y="4612640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4612640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Heeft hij het rapport gelezen?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4612640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5120640" y="4612640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weet niet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48640" y="5273548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5273548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Waarom is ze boos?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4617720" y="5273548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5120640" y="5273548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begrijp niet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Questions indirectes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Posez la question poliment : le mot interrogatif (ou </a:t>
            </a:r>
            <a:r>
              <a:rPr lang="en-US" sz="1700" i="1" dirty="0">
                <a:solidFill>
                  <a:schemeClr val="accent5"/>
                </a:solidFill>
              </a:rPr>
              <a:t>of</a:t>
            </a:r>
            <a:r>
              <a:rPr lang="en-US" sz="1700" i="1" dirty="0">
                <a:solidFill>
                  <a:schemeClr val="accent5"/>
                </a:solidFill>
              </a:rPr>
              <a:t>) devient un wagon.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69008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969008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Waar woont Sofie?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1969008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1969008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Weet je </a:t>
            </a:r>
            <a:r>
              <a:rPr lang="en-US" sz="1700" b="1" i="1" dirty="0">
                <a:solidFill>
                  <a:schemeClr val="accent3"/>
                </a:solidFill>
              </a:rPr>
              <a:t>waar Sofie woont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2629916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2629916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Hoe laat begint de film?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629916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120640" y="2629916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Weet je </a:t>
            </a:r>
            <a:r>
              <a:rPr lang="en-US" sz="1700" b="1" i="1" dirty="0">
                <a:solidFill>
                  <a:schemeClr val="accent3"/>
                </a:solidFill>
              </a:rPr>
              <a:t>hoe laat de film begint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3290824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3290824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Komt Karim morgen?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3290824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120640" y="3290824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vraag me af </a:t>
            </a:r>
            <a:r>
              <a:rPr lang="en-US" sz="1700" b="1" i="1" dirty="0">
                <a:solidFill>
                  <a:schemeClr val="accent3"/>
                </a:solidFill>
              </a:rPr>
              <a:t>of Karim morgen komt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8640" y="3951732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3951732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Wat kost dat?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3951732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5120640" y="3951732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Kunt u me zeggen </a:t>
            </a:r>
            <a:r>
              <a:rPr lang="en-US" sz="1700" b="1" i="1" dirty="0">
                <a:solidFill>
                  <a:schemeClr val="accent3"/>
                </a:solidFill>
              </a:rPr>
              <a:t>wat dat kost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48640" y="4612640"/>
            <a:ext cx="11091672" cy="569468"/>
          </a:xfrm>
          <a:prstGeom prst="roundRect">
            <a:avLst>
              <a:gd name="adj" fmla="val 16057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4612640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Heeft hij het rapport gelezen?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617720" y="4612640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5120640" y="4612640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weet niet </a:t>
            </a:r>
            <a:r>
              <a:rPr lang="en-US" sz="1700" b="1" i="1" dirty="0">
                <a:solidFill>
                  <a:schemeClr val="accent3"/>
                </a:solidFill>
              </a:rPr>
              <a:t>of hij het rapport gelezen heeft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48640" y="5273548"/>
            <a:ext cx="11091672" cy="569468"/>
          </a:xfrm>
          <a:prstGeom prst="roundRect">
            <a:avLst>
              <a:gd name="adj" fmla="val 160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" y="5273548"/>
            <a:ext cx="393192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r>
              <a:rPr lang="en-US" sz="1600" dirty="0">
                <a:solidFill>
                  <a:schemeClr val="tx2"/>
                </a:solidFill>
              </a:rPr>
              <a:t>  </a:t>
            </a:r>
            <a:r>
              <a:rPr lang="en-US" sz="1600" i="1" dirty="0">
                <a:solidFill>
                  <a:schemeClr val="tx2"/>
                </a:solidFill>
              </a:rPr>
              <a:t>Waarom is ze boos?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617720" y="5273548"/>
            <a:ext cx="4572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➜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5120640" y="5273548"/>
            <a:ext cx="6400800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begrijp niet </a:t>
            </a:r>
            <a:r>
              <a:rPr lang="en-US" sz="1700" b="1" i="1" dirty="0">
                <a:solidFill>
                  <a:schemeClr val="accent3"/>
                </a:solidFill>
              </a:rPr>
              <a:t>waarom ze boos is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59253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N° 5 : aussi </a:t>
            </a:r>
            <a:r>
              <a:rPr lang="en-US" sz="1300" i="1" dirty="0">
                <a:solidFill>
                  <a:schemeClr val="accent5"/>
                </a:solidFill>
              </a:rPr>
              <a:t>of hij het rapport heeft gelezen</a:t>
            </a:r>
            <a:r>
              <a:rPr lang="en-US" sz="1300" i="1" dirty="0">
                <a:solidFill>
                  <a:schemeClr val="accent5"/>
                </a:solidFill>
              </a:rPr>
              <a:t>. Sans mot interrogatif → </a:t>
            </a:r>
            <a:r>
              <a:rPr lang="en-US" sz="1300" i="1" dirty="0">
                <a:solidFill>
                  <a:schemeClr val="accent5"/>
                </a:solidFill>
              </a:rPr>
              <a:t>of</a:t>
            </a:r>
            <a:r>
              <a:rPr lang="en-US" sz="1300" i="1" dirty="0">
                <a:solidFill>
                  <a:schemeClr val="accent5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puzzle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pièces dans l’ordre.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60120" y="2023872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0120" y="2023872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blijf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2348472" y="2023872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348472" y="2023872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Omdat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3736824" y="2023872"/>
            <a:ext cx="1105692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36824" y="2023872"/>
            <a:ext cx="1105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thuis.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071116" y="2023872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1116" y="2023872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het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998866" y="2023872"/>
            <a:ext cx="1463303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98866" y="2023872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regent,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7690770" y="2023872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690770" y="2023872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0495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960120" y="3049524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0120" y="3049524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ga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1893144" y="3049524"/>
            <a:ext cx="1783263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893144" y="3049524"/>
            <a:ext cx="17832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ben moe.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3905007" y="3049524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905007" y="3049524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slapen.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5596911" y="3049524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596911" y="3049524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Daarom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7137038" y="3049524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137038" y="3049524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40751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960120" y="4075176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60120" y="4075176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komt.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2348472" y="4075176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348472" y="407517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3281496" y="4075176"/>
            <a:ext cx="191877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281496" y="4075176"/>
            <a:ext cx="19187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weet niet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5428873" y="4075176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428873" y="4075176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hij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6356624" y="4075176"/>
            <a:ext cx="1105692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56624" y="4075176"/>
            <a:ext cx="1105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morgen</a:t>
            </a:r>
            <a:endParaRPr lang="en-US" sz="19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1008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960120" y="5100828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60120" y="5100828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je.</a:t>
            </a:r>
            <a:endParaRPr lang="en-US" sz="1900" dirty="0"/>
          </a:p>
        </p:txBody>
      </p:sp>
      <p:sp>
        <p:nvSpPr>
          <p:cNvPr id="46" name="Shape 42"/>
          <p:cNvSpPr/>
          <p:nvPr/>
        </p:nvSpPr>
        <p:spPr>
          <a:xfrm>
            <a:off x="1887870" y="5100828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887870" y="5100828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hebt,</a:t>
            </a:r>
            <a:endParaRPr lang="en-US" sz="1900" dirty="0"/>
          </a:p>
        </p:txBody>
      </p:sp>
      <p:sp>
        <p:nvSpPr>
          <p:cNvPr id="48" name="Shape 44"/>
          <p:cNvSpPr/>
          <p:nvPr/>
        </p:nvSpPr>
        <p:spPr>
          <a:xfrm>
            <a:off x="3276222" y="5100828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276222" y="5100828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50" name="Shape 46"/>
          <p:cNvSpPr/>
          <p:nvPr/>
        </p:nvSpPr>
        <p:spPr>
          <a:xfrm>
            <a:off x="4068458" y="5100828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068458" y="5100828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Als</a:t>
            </a:r>
            <a:endParaRPr lang="en-US" sz="1900" dirty="0"/>
          </a:p>
        </p:txBody>
      </p:sp>
      <p:sp>
        <p:nvSpPr>
          <p:cNvPr id="52" name="Shape 48"/>
          <p:cNvSpPr/>
          <p:nvPr/>
        </p:nvSpPr>
        <p:spPr>
          <a:xfrm>
            <a:off x="5153258" y="5100828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5153258" y="5100828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bel</a:t>
            </a:r>
            <a:endParaRPr lang="en-US" sz="1900" dirty="0"/>
          </a:p>
        </p:txBody>
      </p:sp>
      <p:sp>
        <p:nvSpPr>
          <p:cNvPr id="54" name="Shape 50"/>
          <p:cNvSpPr/>
          <p:nvPr/>
        </p:nvSpPr>
        <p:spPr>
          <a:xfrm>
            <a:off x="6238059" y="5100828"/>
            <a:ext cx="124120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238059" y="5100828"/>
            <a:ext cx="1241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 tijd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puzzle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pièces dans l’ordre.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60120" y="2023872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2023872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Omdat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2193024" y="2023872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193024" y="2023872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het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965326" y="2023872"/>
            <a:ext cx="1311528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65326" y="2023872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regent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350006" y="2023872"/>
            <a:ext cx="25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,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4673703" y="2023872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73703" y="2023872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blijf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5906607" y="2023872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06607" y="2023872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543395" y="2023872"/>
            <a:ext cx="1105692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43395" y="2023872"/>
            <a:ext cx="1105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thuis.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30495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60120" y="3049524"/>
            <a:ext cx="1783263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0120" y="3049524"/>
            <a:ext cx="17832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ben moe.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2816535" y="3049524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816535" y="3049524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Daarom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4201214" y="3049524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201214" y="3049524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ga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4978791" y="3049524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978791" y="3049524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5615579" y="3049524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615579" y="3049524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slapen.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40751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960120" y="4075176"/>
            <a:ext cx="191877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60120" y="4075176"/>
            <a:ext cx="19187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 weet niet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2952049" y="4075176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2952049" y="407517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3729625" y="4075176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729625" y="4075176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hij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4501928" y="4075176"/>
            <a:ext cx="1105692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501928" y="4075176"/>
            <a:ext cx="1105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morgen</a:t>
            </a:r>
            <a:endParaRPr lang="en-US" sz="1900" dirty="0"/>
          </a:p>
        </p:txBody>
      </p:sp>
      <p:sp>
        <p:nvSpPr>
          <p:cNvPr id="43" name="Shape 39"/>
          <p:cNvSpPr/>
          <p:nvPr/>
        </p:nvSpPr>
        <p:spPr>
          <a:xfrm>
            <a:off x="5680772" y="4075176"/>
            <a:ext cx="115975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680772" y="4075176"/>
            <a:ext cx="1159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komt.</a:t>
            </a:r>
            <a:endParaRPr lang="en-US" sz="1900" dirty="0"/>
          </a:p>
        </p:txBody>
      </p:sp>
      <p:sp>
        <p:nvSpPr>
          <p:cNvPr id="45" name="Text 41"/>
          <p:cNvSpPr txBox="1"/>
          <p:nvPr/>
        </p:nvSpPr>
        <p:spPr>
          <a:xfrm>
            <a:off x="548640" y="51008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960120" y="5100828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60120" y="5100828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Als</a:t>
            </a:r>
            <a:endParaRPr lang="en-US" sz="1900" dirty="0"/>
          </a:p>
        </p:txBody>
      </p:sp>
      <p:sp>
        <p:nvSpPr>
          <p:cNvPr id="48" name="Shape 44"/>
          <p:cNvSpPr/>
          <p:nvPr/>
        </p:nvSpPr>
        <p:spPr>
          <a:xfrm>
            <a:off x="1889472" y="5100828"/>
            <a:ext cx="124120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889472" y="5100828"/>
            <a:ext cx="1241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 tijd</a:t>
            </a:r>
            <a:endParaRPr lang="en-US" sz="1900" dirty="0"/>
          </a:p>
        </p:txBody>
      </p:sp>
      <p:sp>
        <p:nvSpPr>
          <p:cNvPr id="50" name="Shape 46"/>
          <p:cNvSpPr/>
          <p:nvPr/>
        </p:nvSpPr>
        <p:spPr>
          <a:xfrm>
            <a:off x="3203831" y="5100828"/>
            <a:ext cx="1007976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203831" y="5100828"/>
            <a:ext cx="1007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hebt</a:t>
            </a:r>
            <a:endParaRPr lang="en-US" sz="1900" dirty="0"/>
          </a:p>
        </p:txBody>
      </p:sp>
      <p:sp>
        <p:nvSpPr>
          <p:cNvPr id="52" name="Text 48"/>
          <p:cNvSpPr txBox="1"/>
          <p:nvPr/>
        </p:nvSpPr>
        <p:spPr>
          <a:xfrm>
            <a:off x="4284959" y="5100828"/>
            <a:ext cx="25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,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4608656" y="5100828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608656" y="5100828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bel</a:t>
            </a:r>
            <a:endParaRPr lang="en-US" sz="1900" dirty="0"/>
          </a:p>
        </p:txBody>
      </p:sp>
      <p:sp>
        <p:nvSpPr>
          <p:cNvPr id="55" name="Shape 51"/>
          <p:cNvSpPr/>
          <p:nvPr/>
        </p:nvSpPr>
        <p:spPr>
          <a:xfrm>
            <a:off x="5538009" y="5100828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5538009" y="5100828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57" name="Shape 53"/>
          <p:cNvSpPr/>
          <p:nvPr/>
        </p:nvSpPr>
        <p:spPr>
          <a:xfrm>
            <a:off x="6174797" y="5100828"/>
            <a:ext cx="69915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174797" y="5100828"/>
            <a:ext cx="69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8 — Les paires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paire qui convient (chaque paire une fois) : </a:t>
            </a:r>
            <a:r>
              <a:rPr lang="en-US" sz="1700" i="1" dirty="0">
                <a:solidFill>
                  <a:schemeClr val="accent5"/>
                </a:solidFill>
              </a:rPr>
              <a:t>zowel … als · niet alleen … maar ook · hoe … hoe · noch … noch · ofwel … ofwel · enerzijds … anderzijds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374392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Ik spreek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Frans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Nederlands.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tx1"/>
                </a:solidFill>
              </a:rPr>
              <a:t>Ze is </a:t>
            </a:r>
            <a:r>
              <a:rPr lang="en-US" sz="2000" i="1" dirty="0">
                <a:solidFill>
                  <a:schemeClr val="accent5"/>
                </a:solidFill>
              </a:rPr>
              <a:t>…………………</a:t>
            </a:r>
            <a:r>
              <a:rPr lang="en-US" sz="2000" i="1" dirty="0">
                <a:solidFill>
                  <a:schemeClr val="tx1"/>
                </a:solidFill>
              </a:rPr>
              <a:t> slim, </a:t>
            </a:r>
            <a:r>
              <a:rPr lang="en-US" sz="2000" i="1" dirty="0">
                <a:solidFill>
                  <a:schemeClr val="accent5"/>
                </a:solidFill>
              </a:rPr>
              <a:t>……………</a:t>
            </a:r>
            <a:r>
              <a:rPr lang="en-US" sz="2000" i="1" dirty="0">
                <a:solidFill>
                  <a:schemeClr val="tx1"/>
                </a:solidFill>
              </a:rPr>
              <a:t> grappig.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meer je leest,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beter je schrijft.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koffie,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thee.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We gaan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naar zee,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naar de Ardennen.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accent5"/>
                </a:solidFill>
              </a:rPr>
              <a:t>……………</a:t>
            </a:r>
            <a:r>
              <a:rPr lang="en-US" sz="2000" i="1" dirty="0">
                <a:solidFill>
                  <a:schemeClr val="tx1"/>
                </a:solidFill>
              </a:rPr>
              <a:t> is het duur, </a:t>
            </a:r>
            <a:r>
              <a:rPr lang="en-US" sz="2000" i="1" dirty="0">
                <a:solidFill>
                  <a:schemeClr val="accent5"/>
                </a:solidFill>
              </a:rPr>
              <a:t>………………</a:t>
            </a:r>
            <a:r>
              <a:rPr lang="en-US" sz="2000" i="1" dirty="0">
                <a:solidFill>
                  <a:schemeClr val="tx1"/>
                </a:solidFill>
              </a:rPr>
              <a:t> is het heel praktisch.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8 — Les paires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paire qui convient (chaque paire une fois) : </a:t>
            </a:r>
            <a:r>
              <a:rPr lang="en-US" sz="1700" i="1" dirty="0">
                <a:solidFill>
                  <a:schemeClr val="accent5"/>
                </a:solidFill>
              </a:rPr>
              <a:t>zowel … als · niet alleen … maar ook · hoe … hoe · noch … noch · ofwel … ofwel · enerzijds … anderzijds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374392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Ik spreek </a:t>
            </a:r>
            <a:r>
              <a:rPr lang="en-US" sz="2000" b="1" i="1" dirty="0">
                <a:solidFill>
                  <a:schemeClr val="accent3"/>
                </a:solidFill>
              </a:rPr>
              <a:t>zowel</a:t>
            </a:r>
            <a:r>
              <a:rPr lang="en-US" sz="2000" i="1" dirty="0">
                <a:solidFill>
                  <a:schemeClr val="tx1"/>
                </a:solidFill>
              </a:rPr>
              <a:t> Frans </a:t>
            </a:r>
            <a:r>
              <a:rPr lang="en-US" sz="2000" b="1" i="1" dirty="0">
                <a:solidFill>
                  <a:schemeClr val="accent3"/>
                </a:solidFill>
              </a:rPr>
              <a:t>als</a:t>
            </a:r>
            <a:r>
              <a:rPr lang="en-US" sz="2000" i="1" dirty="0">
                <a:solidFill>
                  <a:schemeClr val="tx1"/>
                </a:solidFill>
              </a:rPr>
              <a:t> Nederlands.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tx1"/>
                </a:solidFill>
              </a:rPr>
              <a:t>Ze is </a:t>
            </a:r>
            <a:r>
              <a:rPr lang="en-US" sz="2000" b="1" i="1" dirty="0">
                <a:solidFill>
                  <a:schemeClr val="accent3"/>
                </a:solidFill>
              </a:rPr>
              <a:t>niet alleen</a:t>
            </a:r>
            <a:r>
              <a:rPr lang="en-US" sz="2000" i="1" dirty="0">
                <a:solidFill>
                  <a:schemeClr val="tx1"/>
                </a:solidFill>
              </a:rPr>
              <a:t> slim, </a:t>
            </a:r>
            <a:r>
              <a:rPr lang="en-US" sz="2000" b="1" i="1" dirty="0">
                <a:solidFill>
                  <a:schemeClr val="accent3"/>
                </a:solidFill>
              </a:rPr>
              <a:t>maar ook</a:t>
            </a:r>
            <a:r>
              <a:rPr lang="en-US" sz="2000" i="1" dirty="0">
                <a:solidFill>
                  <a:schemeClr val="tx1"/>
                </a:solidFill>
              </a:rPr>
              <a:t> grappig.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b="1" i="1" dirty="0">
                <a:solidFill>
                  <a:schemeClr val="accent3"/>
                </a:solidFill>
              </a:rPr>
              <a:t>Hoe</a:t>
            </a:r>
            <a:r>
              <a:rPr lang="en-US" sz="2000" i="1" dirty="0">
                <a:solidFill>
                  <a:schemeClr val="tx1"/>
                </a:solidFill>
              </a:rPr>
              <a:t> meer je leest, </a:t>
            </a:r>
            <a:r>
              <a:rPr lang="en-US" sz="2000" b="1" i="1" dirty="0">
                <a:solidFill>
                  <a:schemeClr val="accent3"/>
                </a:solidFill>
              </a:rPr>
              <a:t>hoe</a:t>
            </a:r>
            <a:r>
              <a:rPr lang="en-US" sz="2000" i="1" dirty="0">
                <a:solidFill>
                  <a:schemeClr val="tx1"/>
                </a:solidFill>
              </a:rPr>
              <a:t> beter je schrijft.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b="1" i="1" dirty="0">
                <a:solidFill>
                  <a:schemeClr val="accent3"/>
                </a:solidFill>
              </a:rPr>
              <a:t>noch</a:t>
            </a:r>
            <a:r>
              <a:rPr lang="en-US" sz="2000" i="1" dirty="0">
                <a:solidFill>
                  <a:schemeClr val="tx1"/>
                </a:solidFill>
              </a:rPr>
              <a:t> koffie, </a:t>
            </a:r>
            <a:r>
              <a:rPr lang="en-US" sz="2000" b="1" i="1" dirty="0">
                <a:solidFill>
                  <a:schemeClr val="accent3"/>
                </a:solidFill>
              </a:rPr>
              <a:t>noch</a:t>
            </a:r>
            <a:r>
              <a:rPr lang="en-US" sz="2000" i="1" dirty="0">
                <a:solidFill>
                  <a:schemeClr val="tx1"/>
                </a:solidFill>
              </a:rPr>
              <a:t> thee.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We gaan </a:t>
            </a:r>
            <a:r>
              <a:rPr lang="en-US" sz="2000" b="1" i="1" dirty="0">
                <a:solidFill>
                  <a:schemeClr val="accent3"/>
                </a:solidFill>
              </a:rPr>
              <a:t>ofwel</a:t>
            </a:r>
            <a:r>
              <a:rPr lang="en-US" sz="2000" i="1" dirty="0">
                <a:solidFill>
                  <a:schemeClr val="tx1"/>
                </a:solidFill>
              </a:rPr>
              <a:t> naar zee, </a:t>
            </a:r>
            <a:r>
              <a:rPr lang="en-US" sz="2000" b="1" i="1" dirty="0">
                <a:solidFill>
                  <a:schemeClr val="accent3"/>
                </a:solidFill>
              </a:rPr>
              <a:t>ofwel</a:t>
            </a:r>
            <a:r>
              <a:rPr lang="en-US" sz="2000" i="1" dirty="0">
                <a:solidFill>
                  <a:schemeClr val="tx1"/>
                </a:solidFill>
              </a:rPr>
              <a:t> naar de Ardennen.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b="1" i="1" dirty="0">
                <a:solidFill>
                  <a:schemeClr val="accent3"/>
                </a:solidFill>
              </a:rPr>
              <a:t>Enerzijds</a:t>
            </a:r>
            <a:r>
              <a:rPr lang="en-US" sz="2000" i="1" dirty="0">
                <a:solidFill>
                  <a:schemeClr val="tx1"/>
                </a:solidFill>
              </a:rPr>
              <a:t> is het duur, </a:t>
            </a:r>
            <a:r>
              <a:rPr lang="en-US" sz="2000" b="1" i="1" dirty="0">
                <a:solidFill>
                  <a:schemeClr val="accent3"/>
                </a:solidFill>
              </a:rPr>
              <a:t>anderzijds</a:t>
            </a:r>
            <a:r>
              <a:rPr lang="en-US" sz="2000" i="1" dirty="0">
                <a:solidFill>
                  <a:schemeClr val="tx1"/>
                </a:solidFill>
              </a:rPr>
              <a:t> is het heel praktisch.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9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Tom écrit à sa cheffe. Trouvez les 5 erreurs d’ordre des mots.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Tom Wouters · Aan: Lotte Maes · Onderwerp: ziek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Beste Lotte,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Sorry, ik kan morgen niet komen, want ik ben ziek. </a:t>
            </a:r>
            <a:r>
              <a:rPr lang="en-US" sz="1700" i="1" dirty="0">
                <a:solidFill>
                  <a:schemeClr val="tx1"/>
                </a:solidFill>
              </a:rPr>
              <a:t>Daarom ik blijf</a:t>
            </a:r>
            <a:r>
              <a:rPr lang="en-US" sz="1700" i="1" dirty="0">
                <a:solidFill>
                  <a:schemeClr val="tx1"/>
                </a:solidFill>
              </a:rPr>
              <a:t> de hele week thuis. </a:t>
            </a:r>
            <a:r>
              <a:rPr lang="en-US" sz="1700" i="1" dirty="0">
                <a:solidFill>
                  <a:schemeClr val="tx1"/>
                </a:solidFill>
              </a:rPr>
              <a:t>Als ik ben beter</a:t>
            </a:r>
            <a:r>
              <a:rPr lang="en-US" sz="1700" i="1" dirty="0">
                <a:solidFill>
                  <a:schemeClr val="tx1"/>
                </a:solidFill>
              </a:rPr>
              <a:t>, </a:t>
            </a:r>
            <a:r>
              <a:rPr lang="en-US" sz="1700" i="1" dirty="0">
                <a:solidFill>
                  <a:schemeClr val="tx1"/>
                </a:solidFill>
              </a:rPr>
              <a:t>ik stuur</a:t>
            </a:r>
            <a:r>
              <a:rPr lang="en-US" sz="1700" i="1" dirty="0">
                <a:solidFill>
                  <a:schemeClr val="tx1"/>
                </a:solidFill>
              </a:rPr>
              <a:t> je meteen een berichtje. Kun je me zeggen </a:t>
            </a:r>
            <a:r>
              <a:rPr lang="en-US" sz="1700" i="1" dirty="0">
                <a:solidFill>
                  <a:schemeClr val="tx1"/>
                </a:solidFill>
              </a:rPr>
              <a:t>wanneer is de volgende vergadering</a:t>
            </a:r>
            <a:r>
              <a:rPr lang="en-US" sz="1700" i="1" dirty="0">
                <a:solidFill>
                  <a:schemeClr val="tx1"/>
                </a:solidFill>
              </a:rPr>
              <a:t>? Ik weet ook niet </a:t>
            </a:r>
            <a:r>
              <a:rPr lang="en-US" sz="1700" i="1" dirty="0">
                <a:solidFill>
                  <a:schemeClr val="tx1"/>
                </a:solidFill>
              </a:rPr>
              <a:t>als</a:t>
            </a:r>
            <a:r>
              <a:rPr lang="en-US" sz="1700" i="1" dirty="0">
                <a:solidFill>
                  <a:schemeClr val="tx1"/>
                </a:solidFill>
              </a:rPr>
              <a:t> het rapport al klaar is. Hoewel ik thuis ben, kan ik mijn mails lezen.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Groetjes,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Tom</a:t>
            </a:r>
            <a:endParaRPr lang="en-US" sz="17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9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Tom écrit à sa cheffe. Trouvez les 5 erreurs d’ordre des mots.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Tom Wouters · Aan: Lotte Maes · Onderwerp: ziek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Beste Lotte,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Sorry, ik kan morgen niet komen, want ik ben ziek. </a:t>
            </a:r>
            <a:r>
              <a:rPr lang="en-US" sz="1700" i="1" strike="sngStrike" dirty="0">
                <a:solidFill>
                  <a:schemeClr val="accent6"/>
                </a:solidFill>
              </a:rPr>
              <a:t>Daarom ik blijf</a:t>
            </a:r>
            <a:r>
              <a:rPr lang="en-US" sz="1700" b="1" i="1" dirty="0">
                <a:solidFill>
                  <a:schemeClr val="accent3"/>
                </a:solidFill>
              </a:rPr>
              <a:t> Daarom blijf ik</a:t>
            </a:r>
            <a:r>
              <a:rPr lang="en-US" sz="1700" i="1" dirty="0">
                <a:solidFill>
                  <a:schemeClr val="tx1"/>
                </a:solidFill>
              </a:rPr>
              <a:t> de hele week thuis. </a:t>
            </a:r>
            <a:r>
              <a:rPr lang="en-US" sz="1700" i="1" strike="sngStrike" dirty="0">
                <a:solidFill>
                  <a:schemeClr val="accent6"/>
                </a:solidFill>
              </a:rPr>
              <a:t>Als ik ben beter</a:t>
            </a:r>
            <a:r>
              <a:rPr lang="en-US" sz="1700" b="1" i="1" dirty="0">
                <a:solidFill>
                  <a:schemeClr val="accent3"/>
                </a:solidFill>
              </a:rPr>
              <a:t> Als ik beter ben</a:t>
            </a:r>
            <a:r>
              <a:rPr lang="en-US" sz="1700" i="1" dirty="0">
                <a:solidFill>
                  <a:schemeClr val="tx1"/>
                </a:solidFill>
              </a:rPr>
              <a:t>, </a:t>
            </a:r>
            <a:r>
              <a:rPr lang="en-US" sz="1700" i="1" strike="sngStrike" dirty="0">
                <a:solidFill>
                  <a:schemeClr val="accent6"/>
                </a:solidFill>
              </a:rPr>
              <a:t>ik stuur</a:t>
            </a:r>
            <a:r>
              <a:rPr lang="en-US" sz="1700" b="1" i="1" dirty="0">
                <a:solidFill>
                  <a:schemeClr val="accent3"/>
                </a:solidFill>
              </a:rPr>
              <a:t> stuur ik</a:t>
            </a:r>
            <a:r>
              <a:rPr lang="en-US" sz="1700" i="1" dirty="0">
                <a:solidFill>
                  <a:schemeClr val="tx1"/>
                </a:solidFill>
              </a:rPr>
              <a:t> je meteen een berichtje. Kun je me zeggen </a:t>
            </a:r>
            <a:r>
              <a:rPr lang="en-US" sz="1700" i="1" strike="sngStrike" dirty="0">
                <a:solidFill>
                  <a:schemeClr val="accent6"/>
                </a:solidFill>
              </a:rPr>
              <a:t>wanneer is de volgende vergadering</a:t>
            </a:r>
            <a:r>
              <a:rPr lang="en-US" sz="1700" b="1" i="1" dirty="0">
                <a:solidFill>
                  <a:schemeClr val="accent3"/>
                </a:solidFill>
              </a:rPr>
              <a:t> wanneer de volgende vergadering is</a:t>
            </a:r>
            <a:r>
              <a:rPr lang="en-US" sz="1700" i="1" dirty="0">
                <a:solidFill>
                  <a:schemeClr val="tx1"/>
                </a:solidFill>
              </a:rPr>
              <a:t>? Ik weet ook niet </a:t>
            </a:r>
            <a:r>
              <a:rPr lang="en-US" sz="1700" i="1" strike="sngStrike" dirty="0">
                <a:solidFill>
                  <a:schemeClr val="accent6"/>
                </a:solidFill>
              </a:rPr>
              <a:t>als</a:t>
            </a:r>
            <a:r>
              <a:rPr lang="en-US" sz="1700" b="1" i="1" dirty="0">
                <a:solidFill>
                  <a:schemeClr val="accent3"/>
                </a:solidFill>
              </a:rPr>
              <a:t> of</a:t>
            </a:r>
            <a:r>
              <a:rPr lang="en-US" sz="1700" i="1" dirty="0">
                <a:solidFill>
                  <a:schemeClr val="tx1"/>
                </a:solidFill>
              </a:rPr>
              <a:t> het rapport al klaar is. Hoewel ik thuis ben, kan ik mijn mails lezen.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Groetjes,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Tom</a:t>
            </a:r>
            <a:endParaRPr lang="en-US" sz="17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Corrects : </a:t>
            </a:r>
            <a:r>
              <a:rPr lang="en-US" sz="1400" i="1" dirty="0">
                <a:solidFill>
                  <a:schemeClr val="accent5"/>
                </a:solidFill>
              </a:rPr>
              <a:t>want ik ben ziek</a:t>
            </a:r>
            <a:r>
              <a:rPr lang="en-US" sz="1400" i="1" dirty="0">
                <a:solidFill>
                  <a:schemeClr val="accent5"/>
                </a:solidFill>
              </a:rPr>
              <a:t> (pont) et </a:t>
            </a:r>
            <a:r>
              <a:rPr lang="en-US" sz="1400" i="1" dirty="0">
                <a:solidFill>
                  <a:schemeClr val="accent5"/>
                </a:solidFill>
              </a:rPr>
              <a:t>Hoewel ik thuis ben, kan ik…</a:t>
            </a:r>
            <a:r>
              <a:rPr lang="en-US" sz="1400" i="1" dirty="0">
                <a:solidFill>
                  <a:schemeClr val="accent5"/>
                </a:solidFill>
              </a:rPr>
              <a:t> (verbe, verbe).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10 — L’histoire en chaîne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7" name="Image 0" descr="speech ballo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463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Début : </a:t>
            </a:r>
            <a:r>
              <a:rPr lang="en-US" sz="1700" i="1" dirty="0">
                <a:solidFill>
                  <a:schemeClr val="tx1"/>
                </a:solidFill>
              </a:rPr>
              <a:t>Karim wil vandaag naar Gent gaan…</a:t>
            </a:r>
            <a:r>
              <a:rPr lang="en-US" sz="1700" dirty="0">
                <a:solidFill>
                  <a:schemeClr val="tx1"/>
                </a:solidFill>
              </a:rPr>
              <a:t> Chacun·e tire une carte et continue l’histoire avec ce mot.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 rot="-180000">
            <a:off x="548640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 rot="-180000">
            <a:off x="548640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want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 rot="120000">
            <a:off x="1938528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 rot="120000">
            <a:off x="1938528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maar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 rot="-60000">
            <a:off x="3328416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 rot="-60000">
            <a:off x="3328416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dus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 rot="180000">
            <a:off x="4718304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 rot="180000">
            <a:off x="4718304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en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 rot="-180000">
            <a:off x="6108192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 rot="-180000">
            <a:off x="6108192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daarom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 rot="120000">
            <a:off x="7498080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 rot="120000">
            <a:off x="7498080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toch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 rot="-60000">
            <a:off x="8887968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 rot="-60000">
            <a:off x="8887968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daarna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 rot="180000">
            <a:off x="10277856" y="2468880"/>
            <a:ext cx="1298448" cy="749808"/>
          </a:xfrm>
          <a:prstGeom prst="roundRect">
            <a:avLst>
              <a:gd name="adj" fmla="val 1463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 rot="180000">
            <a:off x="10277856" y="2468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anders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 rot="-180000">
            <a:off x="548640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 rot="-180000">
            <a:off x="548640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omdat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 rot="120000">
            <a:off x="1938528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 rot="120000">
            <a:off x="1938528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als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 rot="-60000">
            <a:off x="3328416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 rot="-60000">
            <a:off x="3328416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hoewel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 rot="180000">
            <a:off x="4718304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 rot="180000">
            <a:off x="4718304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terwijl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 rot="-180000">
            <a:off x="6108192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 rot="-180000">
            <a:off x="6108192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zodra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 rot="120000">
            <a:off x="7498080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 rot="120000">
            <a:off x="7498080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voordat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 rot="-60000">
            <a:off x="8887968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 rot="-60000">
            <a:off x="8887968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tenzij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 rot="180000">
            <a:off x="10277856" y="3383280"/>
            <a:ext cx="1298448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 rot="180000">
            <a:off x="10277856" y="33832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zodat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448056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 point</a:t>
            </a:r>
            <a:r>
              <a:rPr lang="en-US" sz="1600" dirty="0">
                <a:solidFill>
                  <a:schemeClr val="tx1"/>
                </a:solidFill>
              </a:rPr>
              <a:t> si l’ordre des mots est juste (pont, tremplin ou wagon) · </a:t>
            </a:r>
            <a:r>
              <a:rPr lang="en-US" sz="1600" b="1" dirty="0">
                <a:solidFill>
                  <a:schemeClr val="tx1"/>
                </a:solidFill>
              </a:rPr>
              <a:t>1 point</a:t>
            </a:r>
            <a:r>
              <a:rPr lang="en-US" sz="1600" dirty="0">
                <a:solidFill>
                  <a:schemeClr val="tx1"/>
                </a:solidFill>
              </a:rPr>
              <a:t> si l’histoire reste logique.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Exemple : </a:t>
            </a:r>
            <a:r>
              <a:rPr lang="en-US" sz="1600" i="1" dirty="0">
                <a:solidFill>
                  <a:schemeClr val="tx1"/>
                </a:solidFill>
              </a:rPr>
              <a:t>…, </a:t>
            </a:r>
            <a:r>
              <a:rPr lang="en-US" sz="1600" b="1" i="1" dirty="0">
                <a:solidFill>
                  <a:schemeClr val="tx1"/>
                </a:solidFill>
              </a:rPr>
              <a:t>maar</a:t>
            </a:r>
            <a:r>
              <a:rPr lang="en-US" sz="1600" i="1" dirty="0">
                <a:solidFill>
                  <a:schemeClr val="tx1"/>
                </a:solidFill>
              </a:rPr>
              <a:t> de trein heeft vertraging. </a:t>
            </a:r>
            <a:r>
              <a:rPr lang="en-US" sz="1600" b="1" i="1" dirty="0">
                <a:solidFill>
                  <a:schemeClr val="tx1"/>
                </a:solidFill>
              </a:rPr>
              <a:t>Daarom</a:t>
            </a:r>
            <a:r>
              <a:rPr lang="en-US" sz="1600" i="1" dirty="0">
                <a:solidFill>
                  <a:schemeClr val="tx1"/>
                </a:solidFill>
              </a:rPr>
              <a:t> neemt hij de bus. </a:t>
            </a:r>
            <a:r>
              <a:rPr lang="en-US" sz="1600" b="1" i="1" dirty="0">
                <a:solidFill>
                  <a:schemeClr val="tx1"/>
                </a:solidFill>
              </a:rPr>
              <a:t>Terwijl</a:t>
            </a:r>
            <a:r>
              <a:rPr lang="en-US" sz="1600" i="1" dirty="0">
                <a:solidFill>
                  <a:schemeClr val="tx1"/>
                </a:solidFill>
              </a:rPr>
              <a:t> hij wacht, belt hij zijn baas.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11 — Pour ou contre le télétravail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Réunion chez Peeters &amp; Co : faut-il passer à trois jours de télétravail ? Objectif : 8 mots de liaison différents.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— pour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Défendez le télétravail : 3 arguments, avec une cause et une conséquence.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 — contre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Répondez : opposez-vous, posez une condition, proposez un compromis.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want · omdat · daarom · dus · bovendien · maar · toch · hoewel · als … dan · tenzij · zodat · enerzijds … anderzijds · Ik denk dat … · Ik weet niet of … · Ik ben het (niet) eens met …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486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ARGUMENTEN</a:t>
            </a:r>
            <a:endParaRPr lang="en-US" sz="1300" dirty="0"/>
          </a:p>
        </p:txBody>
      </p:sp>
      <p:pic>
        <p:nvPicPr>
          <p:cNvPr id="22" name="Image 0" descr="thumbs 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1945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851392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geen file, meer tijd</a:t>
            </a:r>
            <a:endParaRPr lang="en-US" sz="1400" dirty="0"/>
          </a:p>
        </p:txBody>
      </p:sp>
      <p:pic>
        <p:nvPicPr>
          <p:cNvPr id="24" name="Image 1" descr="thumbs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85292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851392" y="2807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rustiger werken</a:t>
            </a:r>
            <a:endParaRPr lang="en-US" sz="1400" dirty="0"/>
          </a:p>
        </p:txBody>
      </p:sp>
      <p:pic>
        <p:nvPicPr>
          <p:cNvPr id="26" name="Image 2" descr="thumbs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51129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51392" y="3465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minder kosten</a:t>
            </a:r>
            <a:endParaRPr lang="en-US" sz="1400" dirty="0"/>
          </a:p>
        </p:txBody>
      </p:sp>
      <p:pic>
        <p:nvPicPr>
          <p:cNvPr id="28" name="Image 3" descr="thumbs d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416966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51392" y="41239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minder contact met collega’s</a:t>
            </a:r>
            <a:endParaRPr lang="en-US" sz="1400" dirty="0"/>
          </a:p>
        </p:txBody>
      </p:sp>
      <p:pic>
        <p:nvPicPr>
          <p:cNvPr id="30" name="Image 4" descr="thumbs dow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482803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51392" y="4782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thuis afgeleid zijn</a:t>
            </a:r>
            <a:endParaRPr lang="en-US" sz="1400" dirty="0"/>
          </a:p>
        </p:txBody>
      </p:sp>
      <p:pic>
        <p:nvPicPr>
          <p:cNvPr id="32" name="Image 5" descr="thumbs dow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548640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851392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vergaderingen zijn moeilijker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Reliez avec </a:t>
            </a:r>
            <a:r>
              <a:rPr lang="en-US" sz="2000" i="1" dirty="0">
                <a:solidFill>
                  <a:schemeClr val="tx1"/>
                </a:solidFill>
              </a:rPr>
              <a:t>omdat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Ik blijf thuis. Ik ben ziek.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Commencez par </a:t>
            </a:r>
            <a:r>
              <a:rPr lang="en-US" sz="2000" i="1" dirty="0">
                <a:solidFill>
                  <a:schemeClr val="tx1"/>
                </a:solidFill>
              </a:rPr>
              <a:t>Als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Ik bel je als ik tijd heb.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toen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tx1"/>
                </a:solidFill>
              </a:rPr>
              <a:t>als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wanneer</a:t>
            </a:r>
            <a:r>
              <a:rPr lang="en-US" sz="2000" dirty="0">
                <a:solidFill>
                  <a:schemeClr val="tx1"/>
                </a:solidFill>
              </a:rPr>
              <a:t> ? </a:t>
            </a:r>
            <a:r>
              <a:rPr lang="en-US" sz="2000" i="1" dirty="0">
                <a:solidFill>
                  <a:schemeClr val="tx1"/>
                </a:solidFill>
              </a:rPr>
              <a:t>… ik klein was, woonde ik in Namen.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Relier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Nuancer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Composer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Boo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Défi de la semaine</a:t>
            </a:r>
            <a:r>
              <a:rPr lang="en-US" sz="1800" dirty="0">
                <a:solidFill>
                  <a:schemeClr val="bg1"/>
                </a:solidFill>
              </a:rPr>
              <a:t> : racontez votre semaine en 6 phrases, avec un pont, un tremplin et un wagon dans chaque phrase.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Want, daarom, omdat… — Coordination et subordination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2026-10-06T11:50:14Z</dcterms:created>
  <dcterms:modified xsi:type="dcterms:W3CDTF">2026-10-06T11:50:14Z</dcterms:modified>
</cp:coreProperties>
</file>